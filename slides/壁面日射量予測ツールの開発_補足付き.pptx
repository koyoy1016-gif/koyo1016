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6" autoAdjust="0"/>
    <p:restoredTop sz="94610"/>
  </p:normalViewPr>
  <p:slideViewPr>
    <p:cSldViewPr snapToGrid="0" snapToObjects="1">
      <p:cViewPr>
        <p:scale>
          <a:sx n="73" d="100"/>
          <a:sy n="73" d="100"/>
        </p:scale>
        <p:origin x="796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MAE (kWh/m²)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4C8C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7E-4BA0-B52A-F49865E1B146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7E-4BA0-B52A-F49865E1B146}"/>
              </c:ext>
            </c:extLst>
          </c:dPt>
          <c:dPt>
            <c:idx val="2"/>
            <c:invertIfNegative val="0"/>
            <c:bubble3D val="0"/>
            <c:spPr>
              <a:solidFill>
                <a:srgbClr val="1B2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7E-4BA0-B52A-F49865E1B14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線形補間</c:v>
                </c:pt>
                <c:pt idx="1">
                  <c:v>RF</c:v>
                </c:pt>
                <c:pt idx="2">
                  <c:v>RF＋比率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19.989999999999998</c:v>
                </c:pt>
                <c:pt idx="1">
                  <c:v>50.94</c:v>
                </c:pt>
                <c:pt idx="2">
                  <c:v>27.52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7E-4BA0-B52A-F49865E1B1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平均誤差率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誤差率</c:v>
                </c:pt>
              </c:strCache>
            </c:strRef>
          </c:tx>
          <c:spPr>
            <a:solidFill>
              <a:srgbClr val="4C8C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D3-442B-B184-9BBAB1F22BE6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D3-442B-B184-9BBAB1F22BE6}"/>
              </c:ext>
            </c:extLst>
          </c:dPt>
          <c:dPt>
            <c:idx val="2"/>
            <c:invertIfNegative val="0"/>
            <c:bubble3D val="0"/>
            <c:spPr>
              <a:solidFill>
                <a:srgbClr val="1B2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D3-442B-B184-9BBAB1F22BE6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線形補間</c:v>
                </c:pt>
                <c:pt idx="1">
                  <c:v>RF</c:v>
                </c:pt>
                <c:pt idx="2">
                  <c:v>RF＋比率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2.67</c:v>
                </c:pt>
                <c:pt idx="1">
                  <c:v>7.33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D3-442B-B184-9BBAB1F22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検証とテストの比較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検証8</c:v>
                </c:pt>
              </c:strCache>
            </c:strRef>
          </c:tx>
          <c:spPr>
            <a:solidFill>
              <a:srgbClr val="9AA9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 (kWh/m²)</c:v>
                </c:pt>
                <c:pt idx="1">
                  <c:v>平均誤差率 (%)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19.989999999999998</c:v>
                </c:pt>
                <c:pt idx="1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54-4367-BF86-F033EC9FFF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テスト12</c:v>
                </c:pt>
              </c:strCache>
            </c:strRef>
          </c:tx>
          <c:spPr>
            <a:solidFill>
              <a:srgbClr val="4C8C6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MAE (kWh/m²)</c:v>
                </c:pt>
                <c:pt idx="1">
                  <c:v>平均誤差率 (%)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18.399999999999999</c:v>
                </c:pt>
                <c:pt idx="1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54-4367-BF86-F033EC9FFF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MAE (kWh/m²)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B2A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73-4D5E-8776-185843A2C26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B73-4D5E-8776-185843A2C26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B73-4D5E-8776-185843A2C265}"/>
              </c:ext>
            </c:extLst>
          </c:dPt>
          <c:dPt>
            <c:idx val="3"/>
            <c:invertIfNegative val="0"/>
            <c:bubble3D val="0"/>
            <c:spPr>
              <a:solidFill>
                <a:srgbClr val="B04A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73-4D5E-8776-185843A2C26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B73-4D5E-8776-185843A2C26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0〜10m</c:v>
                </c:pt>
                <c:pt idx="1">
                  <c:v>10〜20m</c:v>
                </c:pt>
                <c:pt idx="2">
                  <c:v>20〜30m</c:v>
                </c:pt>
                <c:pt idx="3">
                  <c:v>30〜40m</c:v>
                </c:pt>
                <c:pt idx="4">
                  <c:v>40〜50m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15.07</c:v>
                </c:pt>
                <c:pt idx="1">
                  <c:v>24.23</c:v>
                </c:pt>
                <c:pt idx="2">
                  <c:v>20.100000000000001</c:v>
                </c:pt>
                <c:pt idx="3">
                  <c:v>38.56</c:v>
                </c:pt>
                <c:pt idx="4">
                  <c:v>27.09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B73-4D5E-8776-185843A2C2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最大誤差率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最大誤差率</c:v>
                </c:pt>
              </c:strCache>
            </c:strRef>
          </c:tx>
          <c:spPr>
            <a:solidFill>
              <a:srgbClr val="1B2A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A9-4DBC-B6F7-BB5DD590BD8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FA9-4DBC-B6F7-BB5DD590BD8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FA9-4DBC-B6F7-BB5DD590BD82}"/>
              </c:ext>
            </c:extLst>
          </c:dPt>
          <c:dPt>
            <c:idx val="3"/>
            <c:invertIfNegative val="0"/>
            <c:bubble3D val="0"/>
            <c:spPr>
              <a:solidFill>
                <a:srgbClr val="B04A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A9-4DBC-B6F7-BB5DD590BD8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FA9-4DBC-B6F7-BB5DD590BD8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0〜10m</c:v>
                </c:pt>
                <c:pt idx="1">
                  <c:v>10〜20m</c:v>
                </c:pt>
                <c:pt idx="2">
                  <c:v>20〜30m</c:v>
                </c:pt>
                <c:pt idx="3">
                  <c:v>30〜40m</c:v>
                </c:pt>
                <c:pt idx="4">
                  <c:v>40〜50m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3.41</c:v>
                </c:pt>
                <c:pt idx="1">
                  <c:v>11.85</c:v>
                </c:pt>
                <c:pt idx="2">
                  <c:v>6.7</c:v>
                </c:pt>
                <c:pt idx="3">
                  <c:v>15.08</c:v>
                </c:pt>
                <c:pt idx="4">
                  <c:v>14.37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FA9-4DBC-B6F7-BB5DD590BD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高さ帯別の MAE（kWh/m²）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広範囲版</c:v>
                </c:pt>
              </c:strCache>
            </c:strRef>
          </c:tx>
          <c:spPr>
            <a:solidFill>
              <a:srgbClr val="9AA9B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0〜10m</c:v>
                </c:pt>
                <c:pt idx="1">
                  <c:v>10〜20m</c:v>
                </c:pt>
                <c:pt idx="2">
                  <c:v>20〜30m</c:v>
                </c:pt>
                <c:pt idx="3">
                  <c:v>30〜40m</c:v>
                </c:pt>
                <c:pt idx="4">
                  <c:v>40〜50m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12.91</c:v>
                </c:pt>
                <c:pt idx="1">
                  <c:v>35.630000000000003</c:v>
                </c:pt>
                <c:pt idx="2">
                  <c:v>38.35</c:v>
                </c:pt>
                <c:pt idx="3">
                  <c:v>85.41</c:v>
                </c:pt>
                <c:pt idx="4">
                  <c:v>45.22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8-4731-BC0B-CAD6170846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局所改良版</c:v>
                </c:pt>
              </c:strCache>
            </c:strRef>
          </c:tx>
          <c:spPr>
            <a:solidFill>
              <a:srgbClr val="4C8C6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0〜10m</c:v>
                </c:pt>
                <c:pt idx="1">
                  <c:v>10〜20m</c:v>
                </c:pt>
                <c:pt idx="2">
                  <c:v>20〜30m</c:v>
                </c:pt>
                <c:pt idx="3">
                  <c:v>30〜40m</c:v>
                </c:pt>
                <c:pt idx="4">
                  <c:v>40〜50m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3.92</c:v>
                </c:pt>
                <c:pt idx="1">
                  <c:v>14.59</c:v>
                </c:pt>
                <c:pt idx="2">
                  <c:v>28.14</c:v>
                </c:pt>
                <c:pt idx="3">
                  <c:v>22.36</c:v>
                </c:pt>
                <c:pt idx="4">
                  <c:v>20.03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68-4731-BC0B-CAD6170846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4"/>
                </a:solidFill>
                <a:latin typeface="Yu Gothic"/>
              </a:defRPr>
            </a:pPr>
            <a:r>
              <a:rPr sz="1150" b="0" i="0" u="none" strike="noStrike">
                <a:solidFill>
                  <a:srgbClr val="1B2A44"/>
                </a:solidFill>
                <a:latin typeface="Yu Gothic"/>
              </a:rPr>
              <a:t>季節ボタンの代表日と 12:00 の太陽高度（計算値）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太陽高度</c:v>
                </c:pt>
              </c:strCache>
            </c:strRef>
          </c:tx>
          <c:spPr>
            <a:solidFill>
              <a:srgbClr val="4C8C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59-4B2B-8833-C33AEBFD7CC4}"/>
              </c:ext>
            </c:extLst>
          </c:dPt>
          <c:dPt>
            <c:idx val="1"/>
            <c:invertIfNegative val="0"/>
            <c:bubble3D val="0"/>
            <c:spPr>
              <a:solidFill>
                <a:srgbClr val="E89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59-4B2B-8833-C33AEBFD7CC4}"/>
              </c:ext>
            </c:extLst>
          </c:dPt>
          <c:dPt>
            <c:idx val="2"/>
            <c:invertIfNegative val="0"/>
            <c:bubble3D val="0"/>
            <c:spPr>
              <a:solidFill>
                <a:srgbClr val="C56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59-4B2B-8833-C33AEBFD7CC4}"/>
              </c:ext>
            </c:extLst>
          </c:dPt>
          <c:dPt>
            <c:idx val="3"/>
            <c:invertIfNegative val="0"/>
            <c:bubble3D val="0"/>
            <c:spPr>
              <a:solidFill>
                <a:srgbClr val="1F6F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59-4B2B-8833-C33AEBFD7CC4}"/>
              </c:ext>
            </c:extLst>
          </c:dPt>
          <c:dLbls>
            <c:numFmt formatCode="0.00&quot;°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4"/>
                    </a:solidFill>
                    <a:latin typeface="Yu 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春 3/20</c:v>
                </c:pt>
                <c:pt idx="1">
                  <c:v>夏 6/21</c:v>
                </c:pt>
                <c:pt idx="2">
                  <c:v>秋 9/22</c:v>
                </c:pt>
                <c:pt idx="3">
                  <c:v>冬 12/21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53.75</c:v>
                </c:pt>
                <c:pt idx="1">
                  <c:v>77.19</c:v>
                </c:pt>
                <c:pt idx="2">
                  <c:v>54.42</c:v>
                </c:pt>
                <c:pt idx="3">
                  <c:v>30.67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59-4B2B-8833-C33AEBFD7C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BE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4E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36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こからは、前回の発表でいただいた3つのご指摘への回答と、次の段階の計画をお話しします。1つ目は、入力データ・学習データ・テストデータの違いと、予測を作る計算の過程が分かりにくいというご指摘で、PART 5で説明します。2つ目は、最終的なツールでどの変数をどこで変えるのかというご指摘で、PART 6で説明します。3つ目は、「2つの変数を9点で予測できたのなら、4方向でも線形補間でできるのではないか」というご質問です。これはPART 7で、線形補間で4方向のツールを作る場合の計算と計算時間を具体的に示し、PART 8で代わりの方法を紹介します。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まず、データの呼び方を整理します。どのデータも、1つの配置について「入力」と「正解値」の組になっています。入力は南側建物の高さAと隙間D、正解値はSEBEで計算した南面5帯の年間日射量です。同じ形のデータでも、何に使ったかで呼び方が変わります。予測を作るために保存した16配置が学習用データ、3つの手法を比べた8配置が検証データ、方法を決めた後に性能を確認した12配置がテストデータです。さらに、弱点を補強するために5配置を追加し、その効果を別の6配置で確かめました。重複を除くと全部で47配置で、右の図がその位置です。なお、線形補間は係数を学習するわけではないので、学習用データは正確には「補間の基準として保存した計算データ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次に、1つの配置から5つの値を作る方法です。SEBEは、中央建物の南面を1m四方の区画に分けて、区画ごとに年間日射量Gを出します。南面は幅50m・高さ50mなので、区画は2,500個です。これを高さ10mごとに5つの帯に分け、帯ごとに500個の区画を平均します。式の「y_k ＝ 500分の1 × Σ G」は、Σ（シグマ）の下に書いた「帯kに入る区画」の値を全部足して、500で割るという意味です。例えばA 50m・D 10mの配置では、帯1の500区画の合計が約168,670なので、500で割って337.34になります。南面全体の平均は、5つの帯の値を足して5で割り、484.76です。16配置あれば帯の値は80個になりますが、配置としては16件なので、96件の学習データがあるわけ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次に、A 55.9m・D 14mを入力したときの補間の計算を、順番に説明します。ステップ1では、入力を囲む計算済みの4配置を探します。55.9mは50mと75mの間、14mは10mと25mの間なので、この組み合わせの4つが4隅です。ステップ2では、区間の中のどこにいるかを割合で表します。高さは50mから75mへ23.6%進んだ位置なので u＝0.236、距離は10mから25mへ26.7%進んだ位置なので v＝0.267です。ステップ3では、4隅それぞれの重み、つまり何割ずつ使うかを、高さ方向の割合と距離方向の割合の掛け算で求めます。例えば(50,10)は、高さは低い側を76.4%、距離は近い側を73.3%使うので、0.764×0.733で0.560です。入力に一番近い隅なので重みが一番大きく、4つの重みの合計は必ず1になります。ステップ4では、右の式のように、4隅の保存値に重みを掛けて足します。Σの下の「c＝1」から上の「4」までは、4隅を1つずつ順に入れて足すという意味です。帯1は398.18になり、ステップ5で5帯を平均した521.29が南面全体の平均です。この条件ではSEBEを実行していないので、この値の誤差は分か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予測の精度は、予測値とSEBEの計算値の差で確かめます。上の流れのとおり、検証データで方法を決めてから、テストデータで確認しました。テストの結果を見て方法を変えることはしていません。例として、検証で一番外れたA 35m・D 15mの30〜40m帯を式に入れます。誤差は、予測の861.26からSEBEの1,014.20を引いて−152.94、誤差率は152.94を1,014.20で割って15.08%です。MAEは、N件の誤差の大きさを全部足してNで割った平均です。Σの下の「j＝1」から上の「N」までは、1件目からN件目までを順に足すという意味です。検証8配置では、誤差の合計159.92を8で割って19.99になります。右の表のとおり、テスト12配置ではMAEが18.40、誤差率が2.42%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高さ帯別に見ると、A 35m・D 15mの30〜40m帯で誤差が最大になりました。そこで、この点を囲む格子、つまり高さ25〜50m・距離10〜25mの範囲を細かくしました。高さに35m、距離に17mの区切りを1本ずつ追加すると、3×3＝9点の格子になります。そのうち4点は計算済みなので、足りない5点を新しく計算しました。5という数は、3×3の格子を作るのに足りなかった点の数です。改善の効果は使っていない6配置で確かめ、MAEは43.50から17.81に下がりました。ただし、17mという区切りや5点が最適かどうかは検証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こからは最終目標のツールです。中央建物の周りに0〜4棟の建物を置き、中央建物の北・東・南・西の壁の日射量を予測します。変える変数は、中央建物の高さと、周囲の建物ごとに「有るか無いか（s）」「高さ（A）」「隙間（D）」「置く方位（θ）」の4つです。1＋4棟×4個で17個になります。θは建物を回す角度ではなく、中央から見て建物を置く方向で、北を0度として時計回りに測ります。Dは図の赤い線のように、建物の外形どうしの一番短い距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立体で見ると、中央建物の高さH_Cと、周囲建物の高さAの位置が分かりやすくなります。出力は、中央建物の4つの面をそれぞれ5つの高さ帯に分けた、合計20個の年間日射量です。中央建物の高さを変えた場合は、10m刻みではなく高さを5等分するので、1つの帯の高さも変わります。南1棟の段階では南面の5個だった出力が、4面の20個に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周囲の建物ごとに、有るか無いかを0と1で表す変数sを使う理由です。建物がある場合は、高さと距離を入力すれば計算できます。しかし建物がない場合は、高さにも距離にも入れる数字がありません。高さ0mと入れて代わりにすると、計算済みの表の範囲である25〜100mの外になり、周りの4点がないので補間できません。そこで、有るか無いかだけを表すsを用意します。式の中では、各建物で減る量にsを掛けるだけで、s＝0の建物は0になって消えます。ただしsは0か1だけで、0.5の建物はないので、sの方向には補間できません。そのため、有無の組み合わせ16通りを別々に扱う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終目標の17変数に一度に進むのではなく、まず方位を北・東・南・西に固定し、中央建物の高さも50mに固定した「4方向版」で考えます。変える変数は4方向それぞれの有無s、高さA、隙間Dの12個で、そのうち連続して変わるのは高さと隙間の8個、有無は0か1の4個です。4方向というのは、必ず4棟置くという意味ではなく、各方向に0棟か1棟置けるという意味です。この4方向版で、線形補間でツールを作るとどれだけの計算が必要かを見積もれば、17変数に広げたときの見通しが立ち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生の「2変数を9点でできたなら、4方向でもできるのでは」というご質問にお答えします。南1棟では、高さ3通り×距離3通りの9通りで表を作れました。4方向では、北の建物の9通りのそれぞれについて東の9通りがあり、さらに南、西と選び方が重なるので、9×9×9×9＝6,561通りになります。4桁の暗証番号が10×10×10×10で1万通りあるのと同じ考え方で、建物がない場合も1通りと数えると、ちょうど1万通りです。全部をSEBEで計算できれば、南1棟と同じように補間でツールが作れるので、数学的には可能です。しかしSEBEは1回30秒〜1分かかるので、6,561回で約55〜109時間、1万回では約83〜167時間、休まず計算しても3.5〜7日か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線形補間で4方向のツールを作る場合の考え方を、変数の数を増やしながら説明します。変数が1つなら、入力の両側にある2つの点を使います。t＝0.4の位置なら、下側を0.6、上側を0.4の割合で混ぜ、近い方を多く使います。変数が2つ、つまり今回の南1棟では、四角形の4隅を使います。変数が3つなら立方体の8つの角になり、変数が1つ増えるごとに使う点は2倍になります。4棟の高さと隙間の8変数では、2を8回掛けた256点です。次に、建物がない場合も数えると1万通りになる理由です。1つの方向には、建物がない場合が1通り、建物がある場合が高さ3通り×隙間3通りの9通りで、合わせて10通りの選び方があります。これが北・東・南・西の4方向なので、10×10×10×10＝1万通りです。右の表のように棟数ごとに分けると、建物なしの0棟が1通り、1棟が4方向×9で36通り、2棟が486通り、3棟が2,916通り、4棟が6,561通りで、合計がちょうど1万になります。6,561通りは、この中の4棟すべてある場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具体的な配置で、どの壁をどう計算するかを追います。左上の平面図のように、東に高さ40m・隙間20m、南に高さ35m・隙間15mの建物があり、北と西には建物がないとします。計算するのは、赤で示した中央建物の南面の一番下、0〜10mの帯1です。まず①、有無sを見ると東と南だけに建物があるので、16通りある表のうち『東と南がある表』を使います。補間する変数は東の高さ・隙間と南の高さ・隙間の4つなので、使う点は2の4乗で16点です。②で、それぞれの位置tを求めます。南は高さ0.4・隙間3分の1、東は高さ0.6・隙間3分の2です。③の表は16点の重みで、縦が南の4隅、横が東の4隅、各マスは南の重みと東の重みの掛け算です。1つのマスは『東と南を同時に置いた1つの配置』で、SEBEでその南面・帯1の値が計算済みです。例えば赤枠のマスは0.4×0.4で0.16なので、その配置の保存値が仮に600なら、96が寄与します。④で、16マスの重み×保存値を全部足すと、南面・帯1の予測になります。重みは20個の出力で共通で、面や帯が変わると保存値yだけが変わります。4棟あると、この表が4×4×4×4の256マ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棟すべてある場合も同じです。4方向すべてに、高さ35m・隙間15mの建物があるとします。説明のため、各方向の格子を高さ25mと50m、隙間10mと25mとします。高さの位置は(35−25)÷(50−25)で0.4、隙間の位置は(15−10)÷(25−10)で3分の1です。1方向の4隅の重みは、例えば(25,10)は0.6×3分の2で0.4、(50,25)は0.4×3分の1で約0.133で、合計は1です。4方向それぞれがこの4通りを選ぶので、4×4×4×4＝256配置になります。右の図は256配置の重みで、濃い色ほど重みが大きい配置です。例えば、4方向すべてが(25,10)の配置の重みは0.4の4乗で0.0256です。その配置の南面0〜10m帯の保存値が仮に600なら、寄与は0.0256×600＝15.36です。残りの255配置も同じように重み×保存値を求めて全部足すと、予測値になります。保存値は4棟を同時に置いたSEBEの結果なので影の重なりも含まれますが、256個すべてが計算済みでないと使え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全部の組み合わせをSEBEで計算する時間を見積もります。SEBEは1回30秒〜1分かかります。南1棟の9配置なら5〜9分です。4棟ありの6,561配置では約55〜109時間、建物なしも含めた1万配置では約83〜167時間、格子を4段階に細かくした83,521配置では約29〜58日かかります。さらに最終目標の17変数では、各建物が「なし＋高さ3×距離3×方位3」の28通り、それが4棟分で、中央の高さが4通りなので、約246万配置になり、約2.3〜4.7年かかります。しかもこれは連続で計算した時間だけで、入力の作成や保存、失敗したときの再計算、検証用の配置は含んでいません。格子がそろえば補間の計算自体は簡単ですが、問題は格子をそろえるための計算時間とデータ量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をまとめると、南1棟では補間する変数が2個で9配置、数分で表が作れました。4方向版では8個になり、1万配置、1回の予測で256頂点、計算に3.5〜7日かかります。最終目標の17変数では、連続して変わる変数が13個になり、約246万配置、1回の予測で8,192頂点、計算に数年かかります。4方向だけで6,561通りになってしまうので、17変数を考えると、線形補間で全部の組み合わせを表にする方式は成立しません。そこで、別の学習方法として「空の遮られ方」を考えます。これは、建物の配置をそのまま使わず、壁の点から見てどの方向の空がふさがれているかという「空の地図」に変えてから、機械学習で日射量を予測する方法です。どんな配置でも同じ大きさの地図になるので、格子をそろえる必要がありません。ただし、必要な配置の数や精度はまだ分からないので、来週詳しく検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その別の方法が「空の遮られ方」を使う方法です。壁の点から空を見上げて、どの方向の空が建物でふさがれているかを数えます。例えば、高さ20mの点Pから、25m先にある高さ35mの建物を見ると、tan h＝(35−20)÷25＝0.6で、約31度より低い方向がふさがれます。右の図のように空を72のマスに分け、ふさがれたマスを数えると、南側の建物で12マス、別の低い建物で3マス、そのうち1マスは両方がふさいでいるので、合計14マスです。割合は14÷72で約19%です。同じマスは1回しか数えないので、2棟が同じ方向をふさいでも二重には数えません。また、棟数や方位が変わっても、いつも同じ72マスの地図になるのが特徴です。低い建物の値は説明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の遮られ方の計算の流れです。入力は配置の変数で、線形補間と同じです。違うのは、配置をそのまま表にするのではなく、方向ごとの遮蔽高度角hや、ふさがれた割合Oという数値に変えてから、機械学習のモデルFで日射量を予測する点です。hの式のmaxは、有る建物の中で一番高く見える角度を選ぶという意味、Oの式のΣは、J個のマスの0と1を全部足して、ふさがれたマスの数を数えるという意味です。右の表のように、線形補間は格子の全配置、4方向で1万配置が必要で、変数が増えると3倍ずつ増えますが、この方法は格子をそろえる必要がなく、変数が増えても入力の大きさは変わりません。方向の分け方、距離の正確な求め方、モデルの種類、必要な配置の数はまだ決まっていないので、来週詰めます。また、線形補間より必ず良いとは言えないので、同じテスト配置で比べて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まとめです。今回は、データの役割と計算の過程、最終ツールの変数と、有無を0と1で表す理由を整理しました。また、線形補間で4方向のツールを作る場合の計算を具体的に示しました。4方向だけでも6,561〜1万配置、1回の予測で256頂点が必要で、SEBEが1回30秒〜1分でも3.5〜7日かかります。17変数では約246万配置、数年かかるので、線形補間で全組み合わせを表にする方式は成立しません。来週は、代わりの方法である空の遮られ方について、計算方法や学習に使う配置の数、モデルを詰めます。まずは南1棟の既存データで試し、線形補間と精度を比べたいと考えてい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258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卒業研究  ｜  WALL SOLAR RADIATION PREDICTION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0" y="17373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0" y="260604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0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第一段階：南に1棟設置した場合のモデル構築・検証とツール化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84648" y="3200400"/>
            <a:ext cx="1828800" cy="0"/>
          </a:xfrm>
          <a:prstGeom prst="line">
            <a:avLst/>
          </a:prstGeom>
          <a:noFill/>
          <a:ln w="254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0" y="33375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SEBEによる日射解析結果をもとに、入力から瞬時に壁面日射量を返す予測ツールを作る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84180" y="644652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2700000">
            <a:off x="10912319" y="780571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5400000">
            <a:off x="11048238" y="1108710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8100000">
            <a:off x="10912319" y="1436849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0800000">
            <a:off x="10584180" y="1572768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13500000">
            <a:off x="10256041" y="1436849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rot="16200000">
            <a:off x="10120122" y="1108710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8900000">
            <a:off x="10256041" y="780571"/>
            <a:ext cx="45720" cy="1600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287000" y="868680"/>
            <a:ext cx="640080" cy="64008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5806440"/>
            <a:ext cx="777240" cy="105156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91640" y="5257800"/>
            <a:ext cx="960120" cy="1600200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43200" y="5943600"/>
            <a:ext cx="685800" cy="91440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20440" y="4526280"/>
            <a:ext cx="1188720" cy="2331720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17720" y="4526280"/>
            <a:ext cx="91440" cy="233172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46320" y="5577840"/>
            <a:ext cx="777240" cy="128016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760720" y="5120640"/>
            <a:ext cx="868680" cy="1737360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20840" y="5852160"/>
            <a:ext cx="621792" cy="100584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452360" y="4983480"/>
            <a:ext cx="1051560" cy="1874520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41080" y="5486400"/>
            <a:ext cx="777240" cy="137160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09760" y="5166360"/>
            <a:ext cx="960120" cy="1691640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1320" y="5760720"/>
            <a:ext cx="731520" cy="1097280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37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発表の流れ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37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234440"/>
            <a:ext cx="2679192" cy="86868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1307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64792" y="1307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p.3–5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6002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目標と研究条件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40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68880"/>
            <a:ext cx="2313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何を作り、どこから始めるか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2313432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2313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最終目標／第一段階の条件／出力データの作り方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3154680" y="2514600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91840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291840" y="1234440"/>
            <a:ext cx="2679192" cy="86868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474720" y="1307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1307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p.6–9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16002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予測手法の選定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2240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2468880"/>
            <a:ext cx="2313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どの方法で予測するか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0" y="3108960"/>
            <a:ext cx="2313432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474720" y="3200400"/>
            <a:ext cx="2313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学習16パターン／3手法の比較／線形補間のしくみ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9320" y="2514600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26480" y="1234440"/>
            <a:ext cx="2679192" cy="86868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309360" y="1307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1307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p.10–13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16002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精度の確認と改善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2240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2468880"/>
            <a:ext cx="2313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どれくらい正確か、弱点をどう直したか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3108960"/>
            <a:ext cx="2313432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309360" y="3200400"/>
            <a:ext cx="2313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テスト12パターン／高さ別の精度／局所補強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rot="5400000">
            <a:off x="8823960" y="2514600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961120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961120" y="1234440"/>
            <a:ext cx="2679192" cy="868680"/>
          </a:xfrm>
          <a:prstGeom prst="rect">
            <a:avLst/>
          </a:prstGeom>
          <a:solidFill>
            <a:srgbClr val="4C8C6B"/>
          </a:solidFill>
          <a:ln/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9144000" y="1307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268712" y="1307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p.14–17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16002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完成したツール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2240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2468880"/>
            <a:ext cx="2313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何ができて、どこまで確認できたか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144000" y="3108960"/>
            <a:ext cx="2313432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9144000" y="3200400"/>
            <a:ext cx="2313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ツールの全体像／太陽と影の計算／確認できた範囲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研究の要点（数字でみる流れ）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46177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548640" y="4709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16配置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166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SEBEで計算し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お手本にする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 rot="5400000">
            <a:off x="2569464" y="5330952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743200" y="46177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2834640" y="4709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線形補間を採用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834640" y="5166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検証8配置で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19.99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 rot="5400000">
            <a:off x="4855464" y="5330952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5029200" y="46177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 txBox="1"/>
          <p:nvPr/>
        </p:nvSpPr>
        <p:spPr>
          <a:xfrm>
            <a:off x="5120640" y="4709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テスト12配置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120640" y="5166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18.40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誤差率 2.42%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 rot="5400000">
            <a:off x="7141464" y="5330952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7315200" y="46177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 txBox="1"/>
          <p:nvPr/>
        </p:nvSpPr>
        <p:spPr>
          <a:xfrm>
            <a:off x="7406640" y="4709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局所補強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7406640" y="5166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43.50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17.81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 rot="5400000">
            <a:off x="9427464" y="5330952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9601200" y="4617720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9692640" y="4709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3Dツール完成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9692640" y="5166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年間日射量＋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日時の影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目標と条件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最終目標と、第一段階で絞り込んだ条件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2 手法の選定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39496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188720"/>
            <a:ext cx="5394960" cy="420624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1216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737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周囲に0〜4棟の建物を自由に置いたとき、中央建物の壁面が受ける年間日射量を短時間で予測するツールを作る。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SEBE（日射解析ソフト）をそのつど実行する代わりに、事前に計算した結果から瞬時に推定する。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ツールが扱う条件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2395728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11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8736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中央建物と周囲建物の壁どうしの隙間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182112" y="3429000"/>
            <a:ext cx="2395728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319272" y="3566160"/>
            <a:ext cx="457200" cy="457200"/>
          </a:xfrm>
          <a:prstGeom prst="ellipse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31927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67912" y="3611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方角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319272" y="408736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周囲建物を置く方位（南・東など）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395728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983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45896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周囲に置く建物それぞれの高さ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182112" y="4800600"/>
            <a:ext cx="2395728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319272" y="4937760"/>
            <a:ext cx="457200" cy="457200"/>
          </a:xfrm>
          <a:prstGeom prst="ellipse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3319272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867912" y="4983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棟数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319272" y="545896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周囲に置く建物の数（0〜4棟）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961888" y="3474720"/>
            <a:ext cx="411480" cy="457200"/>
          </a:xfrm>
          <a:prstGeom prst="rightArrow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492240" y="1188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第一段階：条件を大きく絞って始める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239512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最終目標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第一段階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周囲の棟数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0〜4棟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置く方角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自由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真南のみ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変える条件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距離・方角・高さ・棟数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 A・隙間 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中央建物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50m角・高さ50mで固定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予測する壁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中央建物の壁面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6492240" y="4160520"/>
            <a:ext cx="5239512" cy="2148840"/>
          </a:xfrm>
          <a:prstGeom prst="roundRect">
            <a:avLst>
              <a:gd name="adj" fmla="val 2553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6675120" y="423367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なぜ絞るのか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526280"/>
            <a:ext cx="48737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条件を2つ（A と D）に絞ると、組み合わせを全部計算しても16通りで済む。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まずこの範囲で「どの予測方法が良いか」「どれくらい正確か」「どこが弱いか」を確かめてから、方角や棟数を広げる。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目標と条件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第一段階の条件：入力は A と D の2つだけ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2 手法の選定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4434840"/>
            <a:ext cx="548640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994660"/>
            <a:ext cx="2057400" cy="144018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8680" y="33147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（高さ A）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54780" y="2377440"/>
            <a:ext cx="2057400" cy="205740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954780" y="2377440"/>
            <a:ext cx="82296" cy="205740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046220" y="2834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50m角・高さ50m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9194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南面（予測する壁）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2994660"/>
            <a:ext cx="0" cy="1440180"/>
          </a:xfrm>
          <a:prstGeom prst="line">
            <a:avLst/>
          </a:prstGeom>
          <a:noFill/>
          <a:ln w="15875">
            <a:solidFill>
              <a:srgbClr val="1B2A44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218688" y="356844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26080" y="4599432"/>
            <a:ext cx="1028700" cy="0"/>
          </a:xfrm>
          <a:prstGeom prst="line">
            <a:avLst/>
          </a:prstGeom>
          <a:noFill/>
          <a:ln w="15875">
            <a:solidFill>
              <a:srgbClr val="1B2A44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926080" y="4617720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20140" y="1441094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rot="2700000">
            <a:off x="1326399" y="1526529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rot="5400000">
            <a:off x="1411834" y="1732788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8100000">
            <a:off x="1326399" y="1939047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rot="10800000">
            <a:off x="1120140" y="2024482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13500000">
            <a:off x="913881" y="1939047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rot="16200000">
            <a:off x="828446" y="1732788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rot="18900000">
            <a:off x="913881" y="1526529"/>
            <a:ext cx="45720" cy="10058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41832" y="1581912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66928" y="4160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4160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12618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横から見た図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固定した条件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1554480"/>
            <a:ext cx="5193792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675120" y="15544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15544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50m角・高さ50mで固定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37960" y="2212848"/>
            <a:ext cx="5193792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675120" y="22128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周囲建物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221284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真南に1棟だけ置く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37960" y="2871216"/>
            <a:ext cx="5193792" cy="566928"/>
          </a:xfrm>
          <a:prstGeom prst="roundRect">
            <a:avLst>
              <a:gd name="adj" fmla="val 9677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6675120" y="28712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287121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全パターン共通。東京地区の標準年データ（1時間ごと×8,760時間）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変える条件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37960" y="397764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6647688" y="4069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726948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269480" y="4480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25〜100m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89720" y="3977640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9299448" y="4069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3000" dirty="0"/>
          </a:p>
        </p:txBody>
      </p:sp>
      <p:sp>
        <p:nvSpPr>
          <p:cNvPr id="50" name="Text 48"/>
          <p:cNvSpPr txBox="1"/>
          <p:nvPr/>
        </p:nvSpPr>
        <p:spPr>
          <a:xfrm>
            <a:off x="992124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建物間の隙間（壁と壁）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9921240" y="4480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10〜100m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120640"/>
            <a:ext cx="11274552" cy="1188720"/>
          </a:xfrm>
          <a:prstGeom prst="roundRect">
            <a:avLst>
              <a:gd name="adj" fmla="val 4615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777240" y="5230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入力データ  INPUT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77240" y="551383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A（南側建物の高さ）・D（建物間の隙間）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577840" y="5577840"/>
            <a:ext cx="548640" cy="411480"/>
          </a:xfrm>
          <a:prstGeom prst="rightArrow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355080" y="5230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出力データ  OUTPUT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355080" y="54864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中央建物・南面の年間日射量（kWh/m²）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南面全体の平均、および高さ10mごとの5つの帯の値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目標と条件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出力データの作り方：SEBEの2,500個を5つの高さ帯にまとめる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2 手法の選定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1887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入力データ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DCEAEC"/>
          </a:solidFill>
          <a:ln w="12700">
            <a:solidFill>
              <a:srgbClr val="1F6F7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25〜100m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DCEAEC"/>
          </a:solidFill>
          <a:ln w="12700">
            <a:solidFill>
              <a:srgbClr val="1F6F7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壁と壁の隙間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10〜100m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2651760"/>
            <a:ext cx="384048" cy="365760"/>
          </a:xfrm>
          <a:prstGeom prst="rightArrow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63240" y="11887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30632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118872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SEBEで計算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63240" y="1645920"/>
            <a:ext cx="1920240" cy="2423160"/>
          </a:xfrm>
          <a:prstGeom prst="roundRect">
            <a:avLst>
              <a:gd name="adj" fmla="val 2857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06324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2286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0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建物の形（1mのマス目）と1年分の気象から、壁の1m区画ごとに年間日射量を計算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1配置につき1回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74920" y="2651760"/>
            <a:ext cx="384048" cy="365760"/>
          </a:xfrm>
          <a:prstGeom prst="rightArrow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577840" y="11887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5778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961888" y="11887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SEBEの出力（南面）</a:t>
            </a:r>
            <a:endParaRPr lang="en-US" sz="1200" dirty="0"/>
          </a:p>
        </p:txBody>
      </p:sp>
      <p:pic>
        <p:nvPicPr>
          <p:cNvPr id="32" name="Image 0" descr="/home/claude/interp/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2423160" cy="24231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486400" y="26289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50m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989320" y="40965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 50m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0" y="43708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 × 50 ＝ 2,500個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1マス＝壁の1m四方の年間日射量（色は説明用）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595360" y="2651760"/>
            <a:ext cx="384048" cy="365760"/>
          </a:xfrm>
          <a:prstGeom prst="rightArrow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098280" y="11887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909828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9482328" y="1188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5つの高さ帯に平均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098280" y="1673352"/>
            <a:ext cx="2633472" cy="429768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9189720" y="1673352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地上40〜50m：500個の平均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098280" y="2157984"/>
            <a:ext cx="2633472" cy="429768"/>
          </a:xfrm>
          <a:prstGeom prst="rect">
            <a:avLst/>
          </a:prstGeom>
          <a:solidFill>
            <a:srgbClr val="E8D26E"/>
          </a:solidFill>
          <a:ln/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9189720" y="215798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地上30〜40m：500個の平均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9098280" y="2642616"/>
            <a:ext cx="2633472" cy="429768"/>
          </a:xfrm>
          <a:prstGeom prst="rect">
            <a:avLst/>
          </a:prstGeom>
          <a:solidFill>
            <a:srgbClr val="7FC8A0"/>
          </a:solidFill>
          <a:ln/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9189720" y="264261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地上20〜30m：500個の平均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9098280" y="3127248"/>
            <a:ext cx="2633472" cy="42976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9189720" y="312724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地上10〜20m：500個の平均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098280" y="3611880"/>
            <a:ext cx="2633472" cy="429768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9189720" y="361188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地上 0〜10m：500個の平均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9098280" y="437083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5個 ＋ 南面全体の平均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各帯＝10段×幅50マス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7200" y="50749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640080" y="514807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5440680"/>
            <a:ext cx="516636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SEBEは1配置ごとに2,500個を出すが、予測するのは5つの高さ帯の値と全体平均。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高さによる違いを少ない数で表せる（幅方向の違いは区別しない）。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199632" y="50749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6382512" y="514807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事前に用意するデータ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6382512" y="5440680"/>
            <a:ext cx="516636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16配置（A 25・50・75・100m × D 10・25・50・100m）でSEBEを実行し、16 × 2,500個 → 16 × 5個 に平均して保存する（次ページ）。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手法の選定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学習データ：A と D の全組み合わせ16パターン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手法の選定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 A（4水準）× 建物間の隙間 D（4水準）をすべて組み合わせ、SEBEで計算してお手本とした。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＼ D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 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E893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7548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</a:t>
            </a: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既存7通り（高さだけ・距離だけを変えた実験）　　</a:t>
            </a:r>
            <a:r>
              <a:rPr lang="en-US" sz="105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</a:t>
            </a: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追加9通り（組み合わせを補って16通りに）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0" y="1600200"/>
            <a:ext cx="4416552" cy="1463040"/>
          </a:xfrm>
          <a:prstGeom prst="roundRect">
            <a:avLst>
              <a:gd name="adj" fmla="val 3750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9808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FE0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4（高さ）× 4（距離）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148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16 通り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7315200" y="3246120"/>
            <a:ext cx="4416552" cy="1737360"/>
          </a:xfrm>
          <a:prstGeom prst="roundRect">
            <a:avLst>
              <a:gd name="adj" fmla="val 3158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498080" y="3319272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保存する値（1配置あたり）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3611880"/>
            <a:ext cx="405079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・南面全体の平均年間日射量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・高さ10mごと5つの帯の平均（5個）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中央建物・方角・気象は固定し、A と D だけを変えた。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525780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DCEAEC"/>
          </a:solidFill>
          <a:ln w="12700">
            <a:solidFill>
              <a:srgbClr val="1F6F7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40080" y="533095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このあとの使い方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623560"/>
            <a:ext cx="1090879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この16配置の値を使って「線形補間」「ランダムフォレスト」などの予測方法をつくり、学習に使っていない別の条件（検証8パターン）で精度を比べる。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手法の選定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比較した3つの手法と、比率 A/D を試した理由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手法の選定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630168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188720"/>
            <a:ext cx="3630168" cy="73152"/>
          </a:xfrm>
          <a:prstGeom prst="rect">
            <a:avLst/>
          </a:prstGeom>
          <a:solidFill>
            <a:srgbClr val="4C8C6B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1353312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700784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Linear Interpolation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93392"/>
            <a:ext cx="32644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計算済みの近い条件の値から、その間の条件の値を直線的に見積もる。追加の学習は不要で、値がなめらかに変わる範囲に向く。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737360" cy="301752"/>
          </a:xfrm>
          <a:prstGeom prst="roundRect">
            <a:avLst>
              <a:gd name="adj" fmla="val 18182"/>
            </a:avLst>
          </a:prstGeom>
          <a:solidFill>
            <a:srgbClr val="EAEEF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入力：A, 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88536" y="1188720"/>
            <a:ext cx="3630168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88536" y="1188720"/>
            <a:ext cx="3630168" cy="7315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471416" y="1353312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ランダムフォレスト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1700784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1993392"/>
            <a:ext cx="32644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条件で枝分かれする決定木を多数（300本）学習し、予測を平均する。非線形な関係も学べるが、学習データが少ないと不安定になりやすい。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71416" y="3246120"/>
            <a:ext cx="1737360" cy="301752"/>
          </a:xfrm>
          <a:prstGeom prst="roundRect">
            <a:avLst>
              <a:gd name="adj" fmla="val 18182"/>
            </a:avLst>
          </a:prstGeom>
          <a:solidFill>
            <a:srgbClr val="EAEEF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471416" y="32461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入力：A, 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19872" y="1188720"/>
            <a:ext cx="3630168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19872" y="1188720"/>
            <a:ext cx="3630168" cy="73152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302752" y="1353312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ランダムフォレスト＋比率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1700784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Random Forest with A/D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1993392"/>
            <a:ext cx="32644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上のランダムフォレストに、高さを距離で割った比率 A/D を3つ目の入力として加えたもの。設定は同じ（乱数シード20260911）。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02752" y="3246120"/>
            <a:ext cx="1737360" cy="301752"/>
          </a:xfrm>
          <a:prstGeom prst="roundRect">
            <a:avLst>
              <a:gd name="adj" fmla="val 18182"/>
            </a:avLst>
          </a:prstGeom>
          <a:solidFill>
            <a:srgbClr val="EAEEF2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302752" y="324612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入力：A, D, A/D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9319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と D から計算できる A/D を、なぜあえて入力に加えたのか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315968"/>
            <a:ext cx="3630168" cy="1993392"/>
          </a:xfrm>
          <a:prstGeom prst="roundRect">
            <a:avLst>
              <a:gd name="adj" fmla="val 2752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1792" y="4434840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21792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78992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873752"/>
            <a:ext cx="3264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A/D は新しい情報ではない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3949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教授の指摘のとおり、A と D から計算できるので、観測情報そのものは増えない。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 rot="5400000">
            <a:off x="4119372" y="5212080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288536" y="4315968"/>
            <a:ext cx="3630168" cy="1993392"/>
          </a:xfrm>
          <a:prstGeom prst="roundRect">
            <a:avLst>
              <a:gd name="adj" fmla="val 2752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453128" y="4434840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4453128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910328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471416" y="4873752"/>
            <a:ext cx="3264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関係を見つけやすくなるかもしれない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471416" y="53949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学習データが少ないとき、比率を明示するとモデルが関係を見つけやすくなる場合がある。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 rot="5400000">
            <a:off x="7950708" y="5212080"/>
            <a:ext cx="118872" cy="182880"/>
          </a:xfrm>
          <a:prstGeom prst="triangl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119872" y="4315968"/>
            <a:ext cx="3630168" cy="1993392"/>
          </a:xfrm>
          <a:prstGeom prst="roundRect">
            <a:avLst>
              <a:gd name="adj" fmla="val 2752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284464" y="4434840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8284464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741664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302752" y="4873752"/>
            <a:ext cx="3264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実際に比べて確かめる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302752" y="5394960"/>
            <a:ext cx="3264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検証8パターンで「A・D」と「A・D・A/D」のランダムフォレストを比較（次ページ）。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手法の選定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検証8パターンで比較した結果、線形補間を採用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手法の選定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43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検証データ：学習に使っていない8パターン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34440" y="1554480"/>
            <a:ext cx="4297680" cy="2926080"/>
          </a:xfrm>
          <a:prstGeom prst="rect">
            <a:avLst/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234440" y="1554480"/>
            <a:ext cx="0" cy="292608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45171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57697" y="1554480"/>
            <a:ext cx="0" cy="292608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846217" y="45171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0954" y="1554480"/>
            <a:ext cx="0" cy="292608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869474" y="45171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04211" y="1554480"/>
            <a:ext cx="0" cy="292608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892731" y="45171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27469" y="1554480"/>
            <a:ext cx="0" cy="292608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915989" y="45171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0560"/>
            <a:ext cx="429768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67512" y="43616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3783874"/>
            <a:ext cx="429768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67512" y="366500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34440" y="3087189"/>
            <a:ext cx="429768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67512" y="2968317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34440" y="2390503"/>
            <a:ext cx="429768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67512" y="2271631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34440" y="1693817"/>
            <a:ext cx="429768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67512" y="1574945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754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建物間の隙間 D (m)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 rot="16200000">
            <a:off x="-61264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 A (m)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79735" y="3719866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193689" y="3719866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216946" y="3719866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263461" y="3719866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579735" y="3023181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3689" y="3023181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16946" y="3023181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263461" y="3023181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579735" y="2326495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193689" y="2326495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216946" y="2326495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263461" y="2326495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579735" y="1629809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2193689" y="1629809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216946" y="1629809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263461" y="1629809"/>
            <a:ext cx="128016" cy="128016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766098" y="3422904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017264" y="3422904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2584704" y="3144230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766098" y="2726218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017264" y="2726218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2584704" y="2029533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766098" y="1890195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631218" y="1890195"/>
            <a:ext cx="164592" cy="164592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234440" y="5166360"/>
            <a:ext cx="146304" cy="146304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1453896" y="5074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学習16点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05456" y="5166360"/>
            <a:ext cx="146304" cy="146304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2724912" y="5074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検証8点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5486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（A, D）＝ (35,15) (35,70) (45,35) (60,15) (60,70) (85,35) (90,15) (90,85)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すべて学習範囲の内側で、学習16点とは異なる中間の条件。</a:t>
            </a:r>
            <a:endParaRPr lang="en-US" sz="98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188720"/>
          <a:ext cx="5742432" cy="914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 (kWh/m²)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平均誤差率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線形補間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入力：A, 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19.99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2.67%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 採用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ランダムフォレスト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入力：A, 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50.94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7.33%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EB4B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ランダムフォレスト＋比率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入力：A, D, A/D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27.52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4.30%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AEB4B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3" name="Chart 0"/>
          <p:cNvGraphicFramePr/>
          <p:nvPr/>
        </p:nvGraphicFramePr>
        <p:xfrm>
          <a:off x="5989320" y="3063240"/>
          <a:ext cx="27889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4" name="Chart 1"/>
          <p:cNvGraphicFramePr/>
          <p:nvPr/>
        </p:nvGraphicFramePr>
        <p:xfrm>
          <a:off x="8942832" y="3063240"/>
          <a:ext cx="27889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5" name="Shape 60"/>
          <p:cNvSpPr/>
          <p:nvPr/>
        </p:nvSpPr>
        <p:spPr>
          <a:xfrm>
            <a:off x="5989320" y="5212080"/>
            <a:ext cx="5742432" cy="109728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66" name="Text 61"/>
          <p:cNvSpPr txBox="1"/>
          <p:nvPr/>
        </p:nvSpPr>
        <p:spPr>
          <a:xfrm>
            <a:off x="6172200" y="52852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A/D の効果</a:t>
            </a:r>
            <a:endParaRPr lang="en-US" sz="1200" dirty="0"/>
          </a:p>
        </p:txBody>
      </p:sp>
      <p:sp>
        <p:nvSpPr>
          <p:cNvPr id="67" name="Text 62"/>
          <p:cNvSpPr txBox="1"/>
          <p:nvPr/>
        </p:nvSpPr>
        <p:spPr>
          <a:xfrm>
            <a:off x="6172200" y="5577840"/>
            <a:ext cx="53766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A/D を加えるとRFのMAEは約46%改善（50.94→27.52）したが、線形補間には届かなかった。比率ありRFの最大誤差は A=85m・D=35m（SEBE 679.85 → 予測 786.68、差106.83 kWh/m²）。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手法の選定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採用した線形補間のしくみ：近くの4配置の値から間を埋める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手法の選定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3 精度と改善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669280" cy="5120640"/>
          </a:xfrm>
          <a:prstGeom prst="roundRect">
            <a:avLst>
              <a:gd name="adj" fmla="val 1071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1261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保存してある16配置（格子点）と、入力した条件の例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25880" y="1783080"/>
            <a:ext cx="4526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756954" y="1783080"/>
            <a:ext cx="0" cy="361188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482634" y="5440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03566" y="1783080"/>
            <a:ext cx="0" cy="361188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129246" y="5440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81251" y="1783080"/>
            <a:ext cx="0" cy="361188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206931" y="5440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36623" y="1783080"/>
            <a:ext cx="0" cy="361188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362303" y="5440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25880" y="4993640"/>
            <a:ext cx="4526280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68680" y="48839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25880" y="3990340"/>
            <a:ext cx="4526280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68680" y="38806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25880" y="2987040"/>
            <a:ext cx="4526280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68680" y="28773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25880" y="1983740"/>
            <a:ext cx="4526280" cy="0"/>
          </a:xfrm>
          <a:prstGeom prst="line">
            <a:avLst/>
          </a:prstGeom>
          <a:noFill/>
          <a:ln w="12700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68680" y="18740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669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隙間 D（m）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 rot="16200000">
            <a:off x="274320" y="34701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A（m）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56954" y="2987040"/>
            <a:ext cx="646611" cy="1003300"/>
          </a:xfrm>
          <a:prstGeom prst="rect">
            <a:avLst/>
          </a:prstGeom>
          <a:solidFill>
            <a:srgbClr val="FBEBDA"/>
          </a:solidFill>
          <a:ln w="1905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688374" y="49250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665514" y="3898900"/>
            <a:ext cx="182880" cy="182880"/>
          </a:xfrm>
          <a:prstGeom prst="rect">
            <a:avLst/>
          </a:prstGeom>
          <a:solidFill>
            <a:srgbClr val="C56A2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665514" y="2895600"/>
            <a:ext cx="182880" cy="182880"/>
          </a:xfrm>
          <a:prstGeom prst="rect">
            <a:avLst/>
          </a:prstGeom>
          <a:solidFill>
            <a:srgbClr val="C56A2C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688374" y="19151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334986" y="49250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312126" y="3898900"/>
            <a:ext cx="182880" cy="182880"/>
          </a:xfrm>
          <a:prstGeom prst="rect">
            <a:avLst/>
          </a:prstGeom>
          <a:solidFill>
            <a:srgbClr val="C56A2C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312126" y="2895600"/>
            <a:ext cx="182880" cy="182880"/>
          </a:xfrm>
          <a:prstGeom prst="rect">
            <a:avLst/>
          </a:prstGeom>
          <a:solidFill>
            <a:srgbClr val="C56A2C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334986" y="19151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412671" y="49250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412671" y="39217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412671" y="29184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412671" y="19151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568043" y="49250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568043" y="39217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5568043" y="29184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568043" y="1915160"/>
            <a:ext cx="137160" cy="13716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792224" y="3616401"/>
            <a:ext cx="274320" cy="274320"/>
          </a:xfrm>
          <a:prstGeom prst="star5">
            <a:avLst/>
          </a:prstGeom>
          <a:solidFill>
            <a:srgbClr val="B04A3F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084832" y="3753561"/>
            <a:ext cx="685800" cy="0"/>
          </a:xfrm>
          <a:prstGeom prst="line">
            <a:avLst/>
          </a:prstGeom>
          <a:noFill/>
          <a:ln w="12700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2798064" y="3634689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A 55.9m・D 14m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5989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保存した16配置　</a:t>
            </a:r>
            <a:r>
              <a:rPr lang="en-US" sz="95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入力を囲む4配置　</a:t>
            </a:r>
            <a:r>
              <a:rPr lang="en-US" sz="95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</a:t>
            </a: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55080" y="11887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35508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739128" y="118872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入力を囲む4つの格子点を探す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739128" y="1517904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は50〜75mの間、D は10〜25mの間 → 周りの4配置を使う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55080" y="192024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3550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6739128" y="19202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近さに応じた重みを計算する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739128" y="2249424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A方向：(55.9−50)÷25＝0.236　　D方向：(14−10)÷15＝0.267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9128" y="2578608"/>
          <a:ext cx="4992624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格子点 (A, D)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重みの計算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(50, 10)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(1−0.236) × (1−0.267)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0.560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(75, 10)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0.236 × (1−0.267)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0.173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(50, 25)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(1−0.236) × 0.267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0.204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(75, 25)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0.236 × 0.267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0.063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Text 57"/>
          <p:cNvSpPr txBox="1"/>
          <p:nvPr/>
        </p:nvSpPr>
        <p:spPr>
          <a:xfrm>
            <a:off x="6739128" y="3886200"/>
            <a:ext cx="49926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近い格子点ほど重みが大きく、4つの合計は1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355080" y="420624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62" name="Text 59"/>
          <p:cNvSpPr txBox="1"/>
          <p:nvPr/>
        </p:nvSpPr>
        <p:spPr>
          <a:xfrm>
            <a:off x="63550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63" name="Text 60"/>
          <p:cNvSpPr txBox="1"/>
          <p:nvPr/>
        </p:nvSpPr>
        <p:spPr>
          <a:xfrm>
            <a:off x="6739128" y="42062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高さ帯ごとに重み付き平均する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739128" y="4544568"/>
            <a:ext cx="4992624" cy="566928"/>
          </a:xfrm>
          <a:prstGeom prst="roundRect">
            <a:avLst>
              <a:gd name="adj" fmla="val 9677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65" name="Text 62"/>
          <p:cNvSpPr txBox="1"/>
          <p:nvPr/>
        </p:nvSpPr>
        <p:spPr>
          <a:xfrm>
            <a:off x="6812280" y="45445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予測値 ＝ 0.560×V(50,10) ＋ 0.173×V(75,10) ＋ 0.204×V(50,25) ＋ 0.063×V(75,25)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6739128" y="5148072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 ＝ その格子点の保存値。5つの高さ帯で別々に計算し、5つの予測値を出す。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355080" y="5486400"/>
            <a:ext cx="5376672" cy="822960"/>
          </a:xfrm>
          <a:prstGeom prst="roundRect">
            <a:avLst>
              <a:gd name="adj" fmla="val 6667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68" name="Text 65"/>
          <p:cNvSpPr txBox="1"/>
          <p:nvPr/>
        </p:nvSpPr>
        <p:spPr>
          <a:xfrm>
            <a:off x="6519672" y="5532120"/>
            <a:ext cx="5102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「学習」との違い：</a:t>
            </a: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係数を学習するのではなく、16配置の値を表として保存し、入力のたびに近い4点から計算する。2,500個を1つずつ学習するわけでもない。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精度と改善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テスト12パターン：未使用の条件でも同程度の精度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精度と改善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手法と設定を固定したうえで、学習にも検証にも使っていない12条件で最終確認を行った。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943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 ＼ 距離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近い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遠い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やや低い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61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やや高い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73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64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99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98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98</a:t>
                      </a:r>
                      <a:r>
                        <a:rPr lang="en-US" sz="900" dirty="0">
                          <a:solidFill>
                            <a:srgbClr val="6B74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 D </a:t>
                      </a:r>
                      <a:r>
                        <a:rPr lang="en-US" sz="12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457200" y="37947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単位：m　／　高さ4区分 × 距離3区分の各マスから1点ずつ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75120" y="155448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812280" y="1627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19019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18.40</a:t>
            </a: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kWh/m²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155448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372600" y="1627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平均誤差率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19019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2.42</a:t>
            </a: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2724912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812280" y="27980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最大誤差率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307238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5.36</a:t>
            </a: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235440" y="2724912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372600" y="27980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SEBEより低く予測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307238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11/12</a:t>
            </a: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選び方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572000"/>
            <a:ext cx="32918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マスから1点ずつ無作為に選び（乱数シード20260912）、低い〜高い・近い〜遠いを偏りなくカバーした。学習16点・検証8点とは重複しない。手法と係数はテスト前に固定し、結果を見た後の変更はしていない。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297680" y="4114800"/>
          <a:ext cx="37033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4"/>
          <p:cNvSpPr/>
          <p:nvPr/>
        </p:nvSpPr>
        <p:spPr>
          <a:xfrm>
            <a:off x="8183880" y="4206240"/>
            <a:ext cx="3547872" cy="2103120"/>
          </a:xfrm>
          <a:prstGeom prst="roundRect">
            <a:avLst>
              <a:gd name="adj" fmla="val 2609"/>
            </a:avLst>
          </a:prstGeom>
          <a:solidFill>
            <a:srgbClr val="E1EEE7"/>
          </a:solidFill>
          <a:ln w="12700">
            <a:solidFill>
              <a:srgbClr val="4C8C6B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8366760" y="427939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8366760" y="4572000"/>
            <a:ext cx="3182112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検証時（MAE 19.99・2.67%）と同じ水準の精度を、一度も使っていない12条件で確認できた。一方、12件中11件でSEBEより低めに予測しており、やや過小評価の傾向がある。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精度と改善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高さ別にみた精度：屋根付近の30〜40mで誤差が大きい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精度と改善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中央建物の南面を高さ10mごと（0〜50m）に分け、検証8パターンの誤差を高さ帯別に集計した。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壁の高さ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 (kWh/m²)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最大誤差率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0〜10m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15.07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10〜20m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24.23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11.85%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20〜30m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20.10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6.70%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30〜40m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38.56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15.08%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40〜50m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27.09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14.37%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4800600" y="1508760"/>
          <a:ext cx="34290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8302752" y="1508760"/>
          <a:ext cx="34290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4526280"/>
            <a:ext cx="7406640" cy="1554480"/>
          </a:xfrm>
          <a:prstGeom prst="roundRect">
            <a:avLst>
              <a:gd name="adj" fmla="val 3529"/>
            </a:avLst>
          </a:prstGeom>
          <a:solidFill>
            <a:srgbClr val="F5E2DF"/>
          </a:solidFill>
          <a:ln w="12700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640080" y="45994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最もずれた条件：A＝35m・D＝15m（高さ30〜40m帯）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892040"/>
            <a:ext cx="70408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SEBE計算値 1,014.20 → 予測 861.26 kWh/m²（差 152.94）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この高さ帯は南側建物の屋根（35m）付近にあたる。屋根より下と上で空の見え方が大きく変わるため、補間では捉えにくいと考えられる（要因を分解した検証は未実施）。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4526280"/>
            <a:ext cx="3685032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8229600" y="4599432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集計上の注意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892040"/>
            <a:ext cx="331927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新たに40通りをテストしたのではなく、検証8パターンの結果を高さ帯ごとに集計し直したもの。→ 次ページでこの弱点を補強する。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精度と改善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局所補強：最大誤差点の周りに学習点を追加する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精度と改善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最大誤差となった A=35m・D=15m の周辺に5パターンを追加し、その範囲だけ細かい格子で補間する（局所改良版）。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1856232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943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6642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周辺に5パターンを追加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965960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(A,D)＝(25,17)(35,10)(35,17)(35,25)(50,17) をSEBEで計算。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2843784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9436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6517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3×3＝9点の局所格子を作る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95351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既存の4隅 (25,10)(25,25)(50,10)(50,25) と合わせ、A 25・35・50m × D 10・17・25m の格子にした。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357530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3831336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9436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6393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問題点そのものは答えに加えない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941064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A=35・D=15 は学習に入れず、周辺点からの補間で改善するかを確かめる。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57200" y="4562856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4360" y="4818888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9436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6268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新しい6パターンで効果を確認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928616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(28,13)(31,21)(38,14)(41,23)(46,12)(48,19) で改善前後を比較（次ページ）。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577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 ）内は（高さ A, 隙間 D）、単位 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40880" y="1645920"/>
            <a:ext cx="4480560" cy="3337560"/>
          </a:xfrm>
          <a:prstGeom prst="rect">
            <a:avLst/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936992" y="1645920"/>
            <a:ext cx="0" cy="333756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7525512" y="50200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91549" y="1645920"/>
            <a:ext cx="0" cy="333756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8780069" y="50200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25328" y="1645920"/>
            <a:ext cx="0" cy="333756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213848" y="50200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4506686"/>
            <a:ext cx="448056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6473952" y="438781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3553097"/>
            <a:ext cx="448056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6473952" y="3434225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2122714"/>
            <a:ext cx="4480560" cy="0"/>
          </a:xfrm>
          <a:prstGeom prst="line">
            <a:avLst/>
          </a:prstGeom>
          <a:noFill/>
          <a:ln w="9525">
            <a:solidFill>
              <a:srgbClr val="DBE0E6"/>
            </a:solidFill>
            <a:prstDash val="dash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473952" y="200384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5257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建物間の隙間 D (m)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 rot="16200000">
            <a:off x="5102352" y="31775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 A (m)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45552" y="4415246"/>
            <a:ext cx="182880" cy="182880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533888" y="4415246"/>
            <a:ext cx="182880" cy="182880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845552" y="2031274"/>
            <a:ext cx="182880" cy="182880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533888" y="2031274"/>
            <a:ext cx="182880" cy="182880"/>
          </a:xfrm>
          <a:prstGeom prst="rect">
            <a:avLst/>
          </a:prstGeom>
          <a:solidFill>
            <a:srgbClr val="1B2A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9090965" y="4406102"/>
            <a:ext cx="201168" cy="201168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836408" y="3452513"/>
            <a:ext cx="201168" cy="201168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9090965" y="3452513"/>
            <a:ext cx="201168" cy="201168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0524744" y="3452513"/>
            <a:ext cx="201168" cy="201168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090965" y="2022130"/>
            <a:ext cx="201168" cy="201168"/>
          </a:xfrm>
          <a:prstGeom prst="ellipse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392363" y="4138313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9826142" y="3852237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8571586" y="3184725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0184587" y="2898648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213141" y="2421854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67698" y="2231136"/>
            <a:ext cx="164592" cy="164592"/>
          </a:xfrm>
          <a:prstGeom prst="diamond">
            <a:avLst/>
          </a:prstGeom>
          <a:solidFill>
            <a:srgbClr val="1F6F7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723376" y="3443369"/>
            <a:ext cx="219456" cy="219456"/>
          </a:xfrm>
          <a:prstGeom prst="line">
            <a:avLst/>
          </a:prstGeom>
          <a:noFill/>
          <a:ln w="31750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723376" y="3662825"/>
            <a:ext cx="219456" cy="0"/>
          </a:xfrm>
          <a:prstGeom prst="line">
            <a:avLst/>
          </a:prstGeom>
          <a:noFill/>
          <a:ln w="31750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8330184" y="368111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最大誤差点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40880" y="5669280"/>
            <a:ext cx="146304" cy="146304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7260336" y="55778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既存の4隅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357616" y="5669280"/>
            <a:ext cx="146304" cy="146304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67" name="Text 65"/>
          <p:cNvSpPr txBox="1"/>
          <p:nvPr/>
        </p:nvSpPr>
        <p:spPr>
          <a:xfrm>
            <a:off x="8577072" y="55778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追加した5点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040880" y="5952744"/>
            <a:ext cx="155448" cy="155448"/>
          </a:xfrm>
          <a:prstGeom prst="line">
            <a:avLst/>
          </a:prstGeom>
          <a:noFill/>
          <a:ln w="28575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7040880" y="6108192"/>
            <a:ext cx="155448" cy="0"/>
          </a:xfrm>
          <a:prstGeom prst="line">
            <a:avLst/>
          </a:prstGeom>
          <a:noFill/>
          <a:ln w="28575">
            <a:solidFill>
              <a:srgbClr val="B04A3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 txBox="1"/>
          <p:nvPr/>
        </p:nvSpPr>
        <p:spPr>
          <a:xfrm>
            <a:off x="7260336" y="58704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最大誤差点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357616" y="5952744"/>
            <a:ext cx="155448" cy="155448"/>
          </a:xfrm>
          <a:prstGeom prst="diamond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72" name="Text 70"/>
          <p:cNvSpPr txBox="1"/>
          <p:nvPr/>
        </p:nvSpPr>
        <p:spPr>
          <a:xfrm>
            <a:off x="8577072" y="58704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確認用の6点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精度と改善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補強の効果：同じ6配置で MAE が 59.1% 減少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精度と改善</a:t>
            </a: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確認用の6配置 × 南面5高さ帯 ＝ 30個の値をSEBEと比べ、広範囲版（16配置）と局所改良版（9配置）を比較した。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広範囲版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局所改良版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平均絶対誤差 MAE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43.50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17.81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−59.1%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最大絶対誤差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184.32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71.49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−61.2%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平均誤差率 MAPE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5.58%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2.31%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−3.27pt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最大誤差率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18.75%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7.11%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−11.64pt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675888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誤差の単位は kWh/m²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5760720" cy="1234440"/>
          </a:xfrm>
          <a:prstGeom prst="roundRect">
            <a:avLst>
              <a:gd name="adj" fmla="val 4444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の削減率</a:t>
            </a:r>
            <a:endParaRPr lang="en-US" sz="1200" dirty="0"/>
          </a:p>
        </p:txBody>
      </p:sp>
      <p:sp>
        <p:nvSpPr>
          <p:cNvPr id="10" name="Text 11"/>
          <p:cNvSpPr txBox="1"/>
          <p:nvPr/>
        </p:nvSpPr>
        <p:spPr>
          <a:xfrm>
            <a:off x="731520" y="43708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59.1%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434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43.50 → 17.81 kWh/m²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0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最大誤差率も 18.75% → 7.11%</a:t>
            </a:r>
            <a:endParaRPr lang="en-US" sz="11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46520" y="1508760"/>
          <a:ext cx="5285232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640080" y="551383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効果を確認できた範囲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5806440"/>
            <a:ext cx="1090879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改善は A 25〜50m・D 10〜25m の局所範囲の6配置で確認したもの。すべての高さ帯で平均誤差は下がったが、個々の予測がすべて改善したわけではない。範囲外は広範囲版を使う。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完成したツール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完成したツール：2つの計算を別々に行っている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3 精度と改善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37</a:t>
            </a:r>
            <a:endParaRPr lang="en-US" sz="1100" dirty="0"/>
          </a:p>
        </p:txBody>
      </p:sp>
      <p:pic>
        <p:nvPicPr>
          <p:cNvPr id="9" name="Image 0" descr="/home/claude/tool/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440680" cy="301844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1188720"/>
            <a:ext cx="5440680" cy="3018442"/>
          </a:xfrm>
          <a:prstGeom prst="rect">
            <a:avLst/>
          </a:prstGeom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57200" y="423459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ツールの画面（例：A 50m・D 14m、局所改良版、2026/9/22 16:06）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457200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0080" y="46451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日付を冬→夏に変えると？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937760"/>
            <a:ext cx="50749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太陽の位置と影は変わる／年間日射量の予測値は変わらない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年間値は同じ配置の1年間の結果のため。時刻はスライダーで1分単位、「日中を再生」で4分ずつ進む（6:00〜18:00）。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1188720"/>
            <a:ext cx="555955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172200" y="1188720"/>
            <a:ext cx="5559552" cy="420624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355080" y="1234440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年間日射量の予測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175564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EAEC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355080" y="17556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1719072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南側建物の高さ A、壁間の隙間 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55080" y="222199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EAEC"/>
          </a:solidFill>
          <a:ln/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6355080" y="2221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もとの値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342632" y="2185416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SEBEで計算済みの年間日射量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55080" y="268833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EAEC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355080" y="26883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342632" y="265176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双線形補間（広範囲版16配置／局所改良版9配置を手動で切替）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55080" y="31546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CEAEC"/>
          </a:solidFill>
          <a:ln/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6355080" y="3154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342632" y="3118104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南面5つの高さ帯と全体平均（kWh/m²・1年間の積算）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840480"/>
            <a:ext cx="555955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172200" y="3840480"/>
            <a:ext cx="5559552" cy="4206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3886200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指定日時の影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55080" y="440740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BEBDA"/>
          </a:solidFill>
          <a:ln/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6355080" y="4407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342632" y="4370832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日付・時刻（日本標準時）・緯度・経度・建物の形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55080" y="487375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BEBDA"/>
          </a:solidFill>
          <a:ln/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355080" y="4873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342632" y="4837176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NOAAの近似式で太陽の位置 → 光線と建物の交差判定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355080" y="534009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BEBDA"/>
          </a:solidFill>
          <a:ln/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6355080" y="53400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342632" y="530352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その時刻の太陽の向き・影・直達日光が当たる割合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355080" y="58064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BEBDA"/>
          </a:solidFill>
          <a:ln/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6355080" y="5806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省略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342632" y="5769864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雲などの気象条件は考慮しない（幾何学的な影）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完成したツール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太陽の位置は「場所」と「日時」から計算できる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3 精度と改善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37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曇っていても雲の向こうの太陽の方向は決まっている。NOAAが公開する太陽位置の近似式（既存ツールの実装を再利用）で求める。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今回の設定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例：2026年12月21日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例：12:00（日本標準時）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緯度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35.70274°N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 139.66225°E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42900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1792" y="3657600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2179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4930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1年の中のどの時期かを求める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947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季節によって太陽の通り道（高さ）が変わる</a:t>
            </a:r>
            <a:endParaRPr lang="en-US" sz="1020" dirty="0"/>
          </a:p>
        </p:txBody>
      </p:sp>
      <p:sp>
        <p:nvSpPr>
          <p:cNvPr id="10" name="Shape 13"/>
          <p:cNvSpPr/>
          <p:nvPr/>
        </p:nvSpPr>
        <p:spPr>
          <a:xfrm>
            <a:off x="457200" y="438912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21792" y="4617720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21792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4531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その場所の「太陽の時刻」を求める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47548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時計の12時と太陽が真南に来る時刻のずれを、経度・時期から補正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57200" y="534924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EAEEF2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21792" y="5577840"/>
            <a:ext cx="402336" cy="402336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21792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4132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太陽の高さと方向を求める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571500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太陽高度：地平線0°〜真上90°／方位角：北0°・東90°・南180°・西270°</a:t>
            </a:r>
            <a:endParaRPr lang="en-US" sz="102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943600" y="1508760"/>
          <a:ext cx="578815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3"/>
          <p:cNvSpPr/>
          <p:nvPr/>
        </p:nvSpPr>
        <p:spPr>
          <a:xfrm>
            <a:off x="5943600" y="4663440"/>
            <a:ext cx="2788920" cy="1645920"/>
          </a:xfrm>
          <a:prstGeom prst="roundRect">
            <a:avLst>
              <a:gd name="adj" fmla="val 3333"/>
            </a:avLst>
          </a:prstGeom>
          <a:solidFill>
            <a:srgbClr val="E1EEE7"/>
          </a:solidFill>
          <a:ln w="12700">
            <a:solidFill>
              <a:srgbClr val="4C8C6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6126480" y="4736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代表日の考え方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126480" y="5029200"/>
            <a:ext cx="24231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春分・夏至・秋分・冬至の頃の1日を選び、季節による影の違いを見やすくしている（季節の気象を平均したものではない）。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942832" y="4663440"/>
            <a:ext cx="2788920" cy="1645920"/>
          </a:xfrm>
          <a:prstGeom prst="roundRect">
            <a:avLst>
              <a:gd name="adj" fmla="val 3333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 txBox="1"/>
          <p:nvPr/>
        </p:nvSpPr>
        <p:spPr>
          <a:xfrm>
            <a:off x="9125712" y="4736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9125712" y="5029200"/>
            <a:ext cx="24231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高度は計算値で、実測との誤差は未評価。季節ボタンは2026年固定。自動再生は6:00〜18:00の固定範囲。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完成したツール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影の付け方：壁の点から太陽へ線を伸ばして調べる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3 精度と改善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4800600"/>
            <a:ext cx="544068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2788920"/>
            <a:ext cx="2011680" cy="201168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6012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A＝50m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2788920"/>
            <a:ext cx="2011680" cy="201168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114800" y="3931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77640" y="2788920"/>
            <a:ext cx="91440" cy="57936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977640" y="3368284"/>
            <a:ext cx="91440" cy="1432316"/>
          </a:xfrm>
          <a:prstGeom prst="rect">
            <a:avLst/>
          </a:prstGeom>
          <a:solidFill>
            <a:srgbClr val="5A627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5820" y="1225732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rot="2700000">
            <a:off x="1005202" y="1291750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5400000">
            <a:off x="1071220" y="1451131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8100000">
            <a:off x="1005202" y="1610513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10800000">
            <a:off x="845820" y="1676531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rot="13500000">
            <a:off x="686438" y="1610513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rot="16200000">
            <a:off x="620420" y="1451131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18900000">
            <a:off x="686438" y="1291750"/>
            <a:ext cx="45720" cy="77724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1334545"/>
            <a:ext cx="310896" cy="31089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234440" y="1784497"/>
            <a:ext cx="2743200" cy="1583787"/>
          </a:xfrm>
          <a:prstGeom prst="line">
            <a:avLst/>
          </a:prstGeom>
          <a:noFill/>
          <a:ln w="22225">
            <a:solidFill>
              <a:srgbClr val="C56A2C"/>
            </a:solidFill>
            <a:prstDash val="dash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3017520" y="19509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太陽高度 30°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34231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影の上端 約35.6m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69080" y="3368284"/>
            <a:ext cx="2011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ys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377440" y="2066212"/>
            <a:ext cx="1600200" cy="923876"/>
          </a:xfrm>
          <a:prstGeom prst="line">
            <a:avLst/>
          </a:prstGeom>
          <a:noFill/>
          <a:ln w="19050">
            <a:solidFill>
              <a:srgbClr val="4C8C6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913632" y="2926080"/>
            <a:ext cx="128016" cy="128016"/>
          </a:xfrm>
          <a:prstGeom prst="ellipse">
            <a:avLst/>
          </a:prstGeom>
          <a:solidFill>
            <a:srgbClr val="4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971800" y="3415206"/>
            <a:ext cx="1005840" cy="580722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913632" y="3931920"/>
            <a:ext cx="128016" cy="128016"/>
          </a:xfrm>
          <a:prstGeom prst="ellipse">
            <a:avLst/>
          </a:prstGeom>
          <a:solidFill>
            <a:srgbClr val="B04A3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600200" y="17918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届く ✓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081528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ぶつかる 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71800" y="4965192"/>
            <a:ext cx="1005840" cy="0"/>
          </a:xfrm>
          <a:prstGeom prst="line">
            <a:avLst/>
          </a:prstGeom>
          <a:noFill/>
          <a:ln w="12700">
            <a:solidFill>
              <a:srgbClr val="1B2A44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2788920" y="49834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D＝25m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5262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897880" y="45262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54406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光線と建物の交差判定：</a:t>
            </a: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壁の各点から太陽の方向へ線を伸ばし、建物にぶつかれば影、ぶつからなければ直達日光が届くと判定する。太陽が地平線の下や、壁が太陽と反対向きのときも「当たらない」とする。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0" y="1188720"/>
            <a:ext cx="514807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784848" y="1280160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地面にできる影の長さ（高さ50mの建物）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784848" y="1600200"/>
            <a:ext cx="4745736" cy="411480"/>
          </a:xfrm>
          <a:prstGeom prst="roundRect">
            <a:avLst>
              <a:gd name="adj" fmla="val 13333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784848" y="160020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影の長さ ＝ 建物の高さ ÷ tan（太陽高度）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784848" y="2084832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45° → 50 ÷ tan45° ＝ 50m　／　30° → 50 ÷ tan30° ≈ 86.6m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太陽が低いほど影は長くなる。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83680" y="2788920"/>
            <a:ext cx="514807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6784848" y="2880360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中央建物の南壁にかかる影の上端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784848" y="3200400"/>
            <a:ext cx="4745736" cy="411480"/>
          </a:xfrm>
          <a:prstGeom prst="roundRect">
            <a:avLst>
              <a:gd name="adj" fmla="val 13333"/>
            </a:avLst>
          </a:prstGeom>
          <a:solidFill>
            <a:srgbClr val="1B2A44"/>
          </a:solidFill>
          <a:ln/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6784848" y="3200400"/>
            <a:ext cx="4745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影の上端 ＝ A − D × tan（太陽高度）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784848" y="3685032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A＝50m、D＝25m、30° → 50 − 25 × tan30° ≈ 35.6m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（太陽が真南・東西のずれなしの単純化。実際は3次元で判定）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583680" y="4389120"/>
            <a:ext cx="5148072" cy="1920240"/>
          </a:xfrm>
          <a:prstGeom prst="roundRect">
            <a:avLst>
              <a:gd name="adj" fmla="val 2857"/>
            </a:avLst>
          </a:prstGeom>
          <a:solidFill>
            <a:srgbClr val="E1EEE7"/>
          </a:solidFill>
          <a:ln w="12700">
            <a:solidFill>
              <a:srgbClr val="4C8C6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766560" y="4462272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直達日光が当たる割合（画面の表示）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0" y="4754880"/>
            <a:ext cx="478231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壁（50m×50m）に10×10＝100点の確認点を置き（各5m区画の中央）、光が届いた点の割合を表示する。例：60点なら60%。面積割合の概算で、日射エネルギーや発電効率の割合ではない。画面の明るさも見やすさのための描画設定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完成したツール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どこまで確認できたか：精度と適用範囲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目標と条件　›　2 手法の選定　›　3 精度と改善　›　</a:t>
            </a: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完成したツール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37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確認した対象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内容と結果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年間日射量（広範囲版）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未使用のテスト12配置：MAE 18.40 kWh/m²・誤差率 2.42%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年間日射量（局所改良版）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局所範囲の6配置：MAE 17.81 kWh/m²・誤差率 2.31%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保存済み予測の再現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ツールと元の計算の差は約 1.14×10⁻¹³ kWh/m² 以下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太陽位置の近似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実装は確認済み。角度の誤差は未評価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影の位置・形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実測や別の基準計算との比較は未実施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100点の受光割合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より細かい点数との比較は未実施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754880"/>
            <a:ext cx="6766560" cy="155448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12700">
            <a:solidFill>
              <a:srgbClr val="DBE0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精度を読むときの注意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120640"/>
            <a:ext cx="64008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・数値はSEBEの計算結果との比較で、実測日射量や発電量の精度ではない。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・年間予測の誤差（2.31%など）を、太陽位置や影の精度として使うことはできない。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・保存済み予測の再現誤差が小さいことは、実際の日射量との誤差が小さいこととは別。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1234440"/>
            <a:ext cx="4279392" cy="2423160"/>
          </a:xfrm>
          <a:prstGeom prst="roundRect">
            <a:avLst>
              <a:gd name="adj" fmla="val 2264"/>
            </a:avLst>
          </a:prstGeom>
          <a:solidFill>
            <a:srgbClr val="DCEAEC"/>
          </a:solidFill>
          <a:ln w="12700">
            <a:solidFill>
              <a:srgbClr val="1F6F7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635240" y="130759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この段階で使える範囲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1600200"/>
            <a:ext cx="3913632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検証済み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南に1棟・中央建物50m角・南面の年間日射量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6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東側など他の方角への配置、複数棟の同時配置、中央建物の高さ違い、南面以外の壁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3840480"/>
            <a:ext cx="4279392" cy="246888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 w="12700">
            <a:solidFill>
              <a:srgbClr val="E8934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635240" y="391363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設計上の工夫</a:t>
            </a:r>
            <a:endParaRPr lang="en-US" sz="1200" dirty="0"/>
          </a:p>
        </p:txBody>
      </p:sp>
      <p:sp>
        <p:nvSpPr>
          <p:cNvPr id="9" name="Text 15"/>
          <p:cNvSpPr txBox="1"/>
          <p:nvPr/>
        </p:nvSpPr>
        <p:spPr>
          <a:xfrm>
            <a:off x="7635240" y="4206240"/>
            <a:ext cx="3913632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・広範囲版と局所改良版は手動で切り替える。範囲の境界で自動的に混ぜると、予測が不連続になるおそれがあるため。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・入力範囲の外や空欄のときは予測を止める（範囲外の値を推測しない）。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まとめ：南1棟モデルの予測ツールが完成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49940" y="448056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2700000">
            <a:off x="11231202" y="564558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5400000">
            <a:off x="11347704" y="845820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8100000">
            <a:off x="11231202" y="1127082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10800000">
            <a:off x="10949940" y="1243584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13500000">
            <a:off x="10668678" y="1127082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16200000">
            <a:off x="10552176" y="845820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8900000">
            <a:off x="10668678" y="564558"/>
            <a:ext cx="45720" cy="137160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698480" y="640080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609344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1554480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A・D の2つの入力から、南面の年間日射量を予測する方法を作った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186537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SEBEを毎回実行せず、保存した16配置の値から瞬時に推定する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322576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267712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3手法を比較し、線形補間を採用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257860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検証8パターンで MAE 19.99 kWh/m²・誤差率 2.67% と最も高精度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35808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3152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2980944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未使用の12条件でも同程度の精度を確認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29184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18.40 kWh/m²・平均誤差率 2.42%・最大誤差率 5.36%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3152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694176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誤差が最大だった屋根付近を局所補強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005072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周辺5点の追加で MAE 43.50 → 17.81 kWh/m²（−59.1%）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462272"/>
            <a:ext cx="402336" cy="402336"/>
          </a:xfrm>
          <a:prstGeom prst="ellipse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3152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407408"/>
            <a:ext cx="9875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年間日射量と日時の影を見られる3Dツールを作成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71830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太陽位置はNOAAの近似式、影は光線と建物の交差判定で計算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166360"/>
            <a:ext cx="10725912" cy="566928"/>
          </a:xfrm>
          <a:prstGeom prst="roundRect">
            <a:avLst>
              <a:gd name="adj" fmla="val 9677"/>
            </a:avLst>
          </a:prstGeom>
          <a:solidFill>
            <a:srgbClr val="24365A"/>
          </a:solidFill>
          <a:ln w="12700">
            <a:solidFill>
              <a:srgbClr val="35507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05840" y="516636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　</a:t>
            </a: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方角・棟数の条件を広げ、最終目標である「周囲0〜4棟」への対応を目指す。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22960" y="6416345"/>
            <a:ext cx="777240" cy="441655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691640" y="6185916"/>
            <a:ext cx="960120" cy="672084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743200" y="6473952"/>
            <a:ext cx="685800" cy="384048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3520440" y="5878678"/>
            <a:ext cx="1188720" cy="979322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617720" y="5878678"/>
            <a:ext cx="91440" cy="979322"/>
          </a:xfrm>
          <a:prstGeom prst="rect">
            <a:avLst/>
          </a:prstGeom>
          <a:solidFill>
            <a:srgbClr val="E8934D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846320" y="6320333"/>
            <a:ext cx="777240" cy="537667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760720" y="6128309"/>
            <a:ext cx="868680" cy="729691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720840" y="6435547"/>
            <a:ext cx="621792" cy="422453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452360" y="6070702"/>
            <a:ext cx="1051560" cy="787298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641080" y="6281928"/>
            <a:ext cx="777240" cy="576072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509760" y="6147511"/>
            <a:ext cx="960120" cy="710489"/>
          </a:xfrm>
          <a:prstGeom prst="rect">
            <a:avLst/>
          </a:prstGeom>
          <a:solidFill>
            <a:srgbClr val="24365A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561320" y="6397142"/>
            <a:ext cx="731520" cy="460858"/>
          </a:xfrm>
          <a:prstGeom prst="rect">
            <a:avLst/>
          </a:prstGeom>
          <a:solidFill>
            <a:srgbClr val="35507D"/>
          </a:solidFill>
          <a:ln/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37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4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ADDITIONAL EXPLANATION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補足：指摘への回答と、次の段階の計画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前回の発表で受けた3つの指摘に答え、4方向へ広げるための検証計画を示す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243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受けた指摘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502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入力・学習・テストデータの違いと、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モデルを作る計算過程が分かりにくい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31720"/>
            <a:ext cx="502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最終的に作るツールでは、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どの変数を、どこで変えるのか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331720"/>
            <a:ext cx="502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2変数を9点で予測できたのなら、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4方向でも線形補間でできるのでは？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258775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93392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Q1への回答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31920"/>
            <a:ext cx="2221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データと計算過程の整理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22199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学習16・検証8・テスト12などの役割と、Σを使った計算式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68112"/>
            <a:ext cx="2221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p.20–24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0712" y="3429000"/>
            <a:ext cx="258775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93592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64024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Q2への回答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931920"/>
            <a:ext cx="2221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最終目標ツールの変数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4572000"/>
            <a:ext cx="222199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平面図・立体図で17個の変数の位置と、0/1変数を使う理由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5468112"/>
            <a:ext cx="2221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p.25–28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3429000"/>
            <a:ext cx="258775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64224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34656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Q3への回答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64224" y="3931920"/>
            <a:ext cx="2221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4方向での線形補間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64224" y="4572000"/>
            <a:ext cx="222199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なぜ6,561通り？ → 補間の計算の流れと例 → 計算時間 → 17変数では別の方法へ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64224" y="5468112"/>
            <a:ext cx="2221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p.29–34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51976" y="3429000"/>
            <a:ext cx="258775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34856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305288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Q3への回答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3931920"/>
            <a:ext cx="2221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代案：空の遮られ方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134856" y="4572000"/>
            <a:ext cx="222199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線形補間でうまくいかない場合の方法の概要（詳細は来週）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34856" y="5468112"/>
            <a:ext cx="2221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p.35–36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37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データと計算過程の整理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データの役割：1件のデータは「入力」と「正解値」の組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南側1棟の段階で使ったデータは47配置。それぞれ「何に使ったか」で名前が変わる。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989320" cy="109728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17904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1配置ぶんのデータ（どの種類でも形は同じ）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847088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BEBD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874520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A, D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例：A＝55.9m, D＝14m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1901952"/>
            <a:ext cx="365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DCEA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1874520"/>
            <a:ext cx="2926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正解値（SEBEの計算値）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南面5帯の年間日射量 y</a:t>
            </a:r>
            <a:pPr indent="0" marL="0">
              <a:buNone/>
            </a:pPr>
            <a:r>
              <a:rPr lang="en-US" sz="95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〜y</a:t>
            </a:r>
            <a:pPr indent="0" marL="0">
              <a:buNone/>
            </a:pPr>
            <a:r>
              <a:rPr lang="en-US" sz="95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24912"/>
          <a:ext cx="5989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呼び方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何に使うか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配置数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学習用（補間用）データ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予測方法を作るために保存する計算データ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3手法の比較・弱点（高さ帯別）の確認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テストデータ（全体平均）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方法を固定した後、未使用の配置で性能確認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局所改良の追加データ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既存4点と合わせて3×3の局所格子を作る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局所改良のテストデータ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改良前後を同じ配置で比較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合計（重複なし）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937760"/>
            <a:ext cx="5989320" cy="1371600"/>
          </a:xfrm>
          <a:prstGeom prst="roundRect">
            <a:avLst>
              <a:gd name="adj" fmla="val 4000"/>
            </a:avLst>
          </a:prstGeom>
          <a:solidFill>
            <a:srgbClr val="FBEBD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5029200"/>
            <a:ext cx="5715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「学習」の注意：線形補間は係数を学習しない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5303520"/>
            <a:ext cx="5760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16配置の値を表として保存し、入力のたびに近い4点から計算する →「補間の基準として保存した計算データ」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テストデータは方法を決めた後にだけ使う（結果を見て方法を変えない）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局所格子の9点のうち4点は元の16点なので、47に重ねて数えない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0" y="1417320"/>
            <a:ext cx="5074920" cy="4892040"/>
          </a:xfrm>
          <a:prstGeom prst="roundRect">
            <a:avLst>
              <a:gd name="adj" fmla="val 1121"/>
            </a:avLst>
          </a:prstGeom>
          <a:solidFill>
            <a:srgbClr val="F3F5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1228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47配置の位置（A：高さ・D：隙間）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1965960"/>
            <a:ext cx="402336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7653528" y="1965960"/>
            <a:ext cx="91" cy="329184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24928" y="528523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257032" y="1965960"/>
            <a:ext cx="91" cy="329184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28432" y="528523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262872" y="1965960"/>
            <a:ext cx="91" cy="329184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34272" y="528523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1274552" y="1965960"/>
            <a:ext cx="91" cy="3291840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045952" y="528523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52360" y="5064162"/>
            <a:ext cx="4023360" cy="91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40880" y="4963578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452360" y="4095974"/>
            <a:ext cx="4023360" cy="91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40880" y="3995390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452360" y="3127786"/>
            <a:ext cx="4023360" cy="91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040880" y="3027202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452360" y="2159598"/>
            <a:ext cx="4023360" cy="91"/>
          </a:xfrm>
          <a:prstGeom prst="line">
            <a:avLst/>
          </a:prstGeom>
          <a:noFill/>
          <a:ln w="6350">
            <a:solidFill>
              <a:srgbClr val="DDE2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40880" y="2059014"/>
            <a:ext cx="365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452360" y="5468112"/>
            <a:ext cx="4023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隙間 D（m）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1691640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A（m）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594092" y="5004726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97596" y="5004726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03436" y="5004726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215116" y="5004726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594092" y="4036538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97596" y="4036538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203436" y="4036538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215116" y="4036538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594092" y="3068350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197596" y="3068350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203436" y="3068350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215116" y="3068350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594092" y="2100162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197596" y="2100162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203436" y="2100162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1215116" y="2100162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86116" y="4608307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998964" y="4608307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590788" y="4221032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786116" y="3640119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998964" y="3640119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590788" y="2671931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786116" y="2478293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602468" y="2478293"/>
            <a:ext cx="137160" cy="137160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875727" y="4268903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887407" y="4694906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732313" y="4733634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760866" y="3765445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841334" y="3610535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008108" y="3842900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634326" y="3300715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525305" y="3145805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571378" y="3494353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680399" y="2138889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726473" y="2177617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933481" y="2177617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871155" y="5000154"/>
            <a:ext cx="128016" cy="128016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589520" y="4612879"/>
            <a:ext cx="128016" cy="128016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871155" y="4612879"/>
            <a:ext cx="128016" cy="128016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193024" y="4612879"/>
            <a:ext cx="128016" cy="128016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71155" y="4031966"/>
            <a:ext cx="128016" cy="128016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28509" y="4902260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050378" y="4786077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768742" y="4514984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130845" y="4398802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688275" y="4205164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969910" y="4127709"/>
            <a:ext cx="91440" cy="91440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871716" y="5811012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40880" y="576072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学習16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8471916" y="5811012"/>
            <a:ext cx="118872" cy="118872"/>
          </a:xfrm>
          <a:prstGeom prst="diamond">
            <a:avLst/>
          </a:pr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641080" y="576072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10072116" y="5811012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0241280" y="576072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テスト12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6871716" y="6057900"/>
            <a:ext cx="118872" cy="118872"/>
          </a:xfrm>
          <a:prstGeom prst="triangle">
            <a:avLst/>
          </a:pr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7040880" y="6007608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追加5</a:t>
            </a:r>
            <a:endParaRPr lang="en-US" sz="950" dirty="0"/>
          </a:p>
        </p:txBody>
      </p:sp>
      <p:sp>
        <p:nvSpPr>
          <p:cNvPr id="97" name="Shape 94"/>
          <p:cNvSpPr/>
          <p:nvPr/>
        </p:nvSpPr>
        <p:spPr>
          <a:xfrm>
            <a:off x="8471916" y="6057900"/>
            <a:ext cx="118872" cy="118872"/>
          </a:xfrm>
          <a:prstGeom prst="ellipse">
            <a:avLst/>
          </a:prstGeom>
          <a:solidFill>
            <a:srgbClr val="4C8C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641080" y="6007608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局所テスト6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データと計算過程の整理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データの数え方：2,500区画を高さ10mごとに平均して5つの値にする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例：(A, D)＝(50m, 10m) の配置。SEBEの壁出力から中央建物の南面（50m×50m）だけを取り出して計算する。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669280" cy="4828032"/>
          </a:xfrm>
          <a:prstGeom prst="roundRect">
            <a:avLst>
              <a:gd name="adj" fmla="val 1136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36192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1配置（A 50m・D 10m）の南面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25880" y="3666744"/>
            <a:ext cx="2103120" cy="448056"/>
          </a:xfrm>
          <a:prstGeom prst="rect">
            <a:avLst/>
          </a:prstGeom>
          <a:solidFill>
            <a:srgbClr val="F6D2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666744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帯1：y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＝337.34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76472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0〜10m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25880" y="3218688"/>
            <a:ext cx="2103120" cy="448056"/>
          </a:xfrm>
          <a:prstGeom prst="rect">
            <a:avLst/>
          </a:prstGeom>
          <a:solidFill>
            <a:srgbClr val="F2BE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218688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帯2：y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＝351.22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28416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10〜20m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25880" y="2770632"/>
            <a:ext cx="2103120" cy="448056"/>
          </a:xfrm>
          <a:prstGeom prst="rect">
            <a:avLst/>
          </a:prstGeom>
          <a:solidFill>
            <a:srgbClr val="EEA8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2770632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帯3：y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＝382.57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20〜30m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25880" y="2322576"/>
            <a:ext cx="2103120" cy="448056"/>
          </a:xfrm>
          <a:prstGeom prst="rect">
            <a:avLst/>
          </a:prstGeom>
          <a:solidFill>
            <a:srgbClr val="E893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25880" y="2322576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帯4：y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＝485.55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432304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30〜40m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25880" y="1874520"/>
            <a:ext cx="2103120" cy="448056"/>
          </a:xfrm>
          <a:prstGeom prst="rect">
            <a:avLst/>
          </a:prstGeom>
          <a:solidFill>
            <a:srgbClr val="D77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25880" y="187452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帯5：y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＝867.14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1984248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40〜50m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133088"/>
            <a:ext cx="2103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幅50m（50区画）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1874520"/>
            <a:ext cx="23774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1マス＝1m四方の区画 (p, q)。p は横、q は縦の番号。SEBEが年間日射量 G を出す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1つの帯＝幅50×高さ10＝500区画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南面全体＝50×50＝2,500区画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5帯とも面積が同じ → 全体平均は5帯の平均と同じ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31596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B2A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370832"/>
            <a:ext cx="516636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帯の平均：y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(1/500) Σ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(p,q)∈帯k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G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p,q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Σ</a:t>
            </a:r>
            <a:pPr indent="0" marL="0">
              <a:lnSpc>
                <a:spcPct val="115000"/>
              </a:lnSpc>
              <a:buNone/>
            </a:pPr>
            <a:r>
              <a:rPr lang="en-US" sz="950" b="1" baseline="-40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(p,q)∈帯k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：帯kに入る500区画の G を全部足す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帯1に代入：y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168,670.31 ÷ 500 ＝ 337.34 kWh/m²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全体平均：ȳ ＝ (1/5) Σ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k=1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3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y</a:t>
            </a:r>
            <a:pPr indent="0" marL="0">
              <a:lnSpc>
                <a:spcPct val="115000"/>
              </a:lnSpc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（帯1〜5を足して5で割る）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(337.34＋351.22＋382.57＋485.55＋867.14) / 5 ＝ 484.76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961888"/>
            <a:ext cx="5166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500区画の合計（168,670.31）は、保存した帯平均×500 で逆算した値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1481328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16配置ぶんでは、何を何個数えているか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数えているもの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建物配置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A・Dの組み合わせ（学習例の数）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入力の数値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16×2＝32個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各配置のAとD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南面の元の区画値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16×2,500＝40,000個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集計前の日射量 G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5帯の平均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16×5＝80個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予測に使う値（16行×5列の表）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全体平均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5帯から計算できる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5帯＋全体平均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16×6＝96個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表示・保存する数値の数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355080" y="434340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BEBD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537960" y="4416552"/>
            <a:ext cx="5029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96件の学習データではない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537960" y="4773168"/>
            <a:ext cx="50292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96は「数値の個数」。異なる配置（学習例）は16件のまま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同じ配置から取った5帯の値は、別々の条件ではない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全体平均は5帯の平均なので、加えても情報は増えない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データと計算過程の整理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補間の計算：入力を囲む4配置の値を、近さの割合（重み）で混ぜる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例：A＝55.9m・D＝14m を入力した場合。重みは学習した係数ではなく、入力の位置から毎回計算する割合。中央建物は高さ50mのまま。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486400" cy="4828032"/>
          </a:xfrm>
          <a:prstGeom prst="roundRect">
            <a:avLst>
              <a:gd name="adj" fmla="val 1136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36192"/>
            <a:ext cx="5212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ステップ1〜3：重みを決める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1901952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1883664"/>
            <a:ext cx="4892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入力を囲む計算済みの4配置（4隅）を探す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157984"/>
            <a:ext cx="4892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 ≤ 55.9 &lt; 75，10 ≤ 14 &lt; 25 → (50,10)(75,10)(50,25)(75,25)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542032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523744"/>
            <a:ext cx="4892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区間の中のどこにいるかを割合で表す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788920"/>
            <a:ext cx="48920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 ＝ (A − A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/ (A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− A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＝ (55.9 − 50) / 25 ＝ 0.236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 ＝ (D − D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/ (D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− D</a:t>
            </a:r>
            <a:pPr indent="0" marL="0">
              <a:buNone/>
            </a:pPr>
            <a:r>
              <a:rPr lang="en-US" sz="10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＝ (14 − 10) / 15 ＝ 0.267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246120"/>
            <a:ext cx="48920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u：50m→75m へ23.6%進んだ位置　v：10m→25m へ26.7%進んだ位置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584448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566160"/>
            <a:ext cx="4892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 ＝ 高さ方向の割合 × 距離方向の割合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858768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重み：隅 (A, D)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高さ方向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距離方向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</a:t>
                      </a:r>
                      <a:pPr algn="l" indent="0" marL="0">
                        <a:buNone/>
                      </a:pPr>
                      <a:r>
                        <a:rPr lang="en-US" sz="95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：(50, 10)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1−u ＝ 0.764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1−v ＝ 0.733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0.560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</a:t>
                      </a:r>
                      <a:pPr algn="l" indent="0" marL="0">
                        <a:buNone/>
                      </a:pPr>
                      <a:r>
                        <a:rPr lang="en-US" sz="95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：(75, 10)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 ＝ 0.236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1−v ＝ 0.733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0.173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</a:t>
                      </a:r>
                      <a:pPr algn="l" indent="0" marL="0">
                        <a:buNone/>
                      </a:pPr>
                      <a:r>
                        <a:rPr lang="en-US" sz="95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：(50, 25)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1−u ＝ 0.764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 ＝ 0.267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0.204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</a:t>
                      </a:r>
                      <a:pPr algn="l" indent="0" marL="0">
                        <a:buNone/>
                      </a:pPr>
                      <a:r>
                        <a:rPr lang="en-US" sz="95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：(75, 25)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 ＝ 0.236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 ＝ 0.267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0.063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94360" y="5577840"/>
            <a:ext cx="52578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入力に一番近い (50,10) の重みが最大。入力が隅にぴったり重なると、その隅の重みが1になり、保存値そのものになる。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72200" y="1481328"/>
            <a:ext cx="5577840" cy="4828032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ステップ4〜5：重みで混ぜる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1874520"/>
            <a:ext cx="5303520" cy="868680"/>
          </a:xfrm>
          <a:prstGeom prst="roundRect">
            <a:avLst>
              <a:gd name="adj" fmla="val 5263"/>
            </a:avLst>
          </a:prstGeom>
          <a:solidFill>
            <a:srgbClr val="1B2A4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00800" y="1901952"/>
            <a:ext cx="51206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Σ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c=1</a:t>
            </a:r>
            <a:pPr algn="ctr" indent="0" marL="0">
              <a:buNone/>
            </a:pPr>
            <a:r>
              <a:rPr lang="en-US" sz="1400" b="1" baseline="3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w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× y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D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2304288"/>
            <a:ext cx="5120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Σ</a:t>
            </a:r>
            <a:pPr algn="ctr" indent="0" marL="0">
              <a:buNone/>
            </a:pPr>
            <a:r>
              <a:rPr lang="en-US" sz="950" baseline="-40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c=1</a:t>
            </a:r>
            <a:pPr algn="ctr" indent="0" marL="0">
              <a:buNone/>
            </a:pPr>
            <a:r>
              <a:rPr lang="en-US" sz="950" baseline="30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：c に 1, 2, 3, 4 を順に入れて足す（4隅の「重み×保存値」の合計）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2816352"/>
            <a:ext cx="5303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帯1：ŷ</a:t>
            </a:r>
            <a:pPr indent="0" marL="0">
              <a:buNone/>
            </a:pPr>
            <a:r>
              <a:rPr lang="en-US" sz="10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0.560×337.34 ＋ 0.173×319.89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　　 ＋ 0.204×589.57 ＋ 0.063×535.49 ＝ 398.18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401568"/>
          <a:ext cx="5303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868680"/>
                <a:gridCol w="868680"/>
                <a:gridCol w="8686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帯 k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(50,10)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(75,10)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(50,25)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(75,25)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0.560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0.173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0.204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0.063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6F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0〜10m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337.34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319.89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589.57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535.49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398.18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10〜20m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351.22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320.20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631.33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561.20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416.13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20〜30m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382.57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323.60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697.92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585.75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449.40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30〜40m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485.55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348.50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873.24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603.63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548.25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40〜50m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867.14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357.95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1006.93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660.25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794.48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521.29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 txBox="1"/>
          <p:nvPr/>
        </p:nvSpPr>
        <p:spPr>
          <a:xfrm>
            <a:off x="6309360" y="5669280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南面全体の平均 ＝ 5帯の平均 ＝ 521.29 kWh/m²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6309360" y="5925312"/>
            <a:ext cx="5303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この条件ではSEBEを実行していないので、この値の誤差は分からない。局所改良版は A 25〜50m 用なので使えない。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データと計算過程の整理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精度の確かめ方：予測とSEBEの差を、使っていない配置で数える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代表値：検証で最も外れた A 35m・D 15m・30〜40m帯（SEBE 1,014.20，予測 861.26 kWh/m²）で式に代入する。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1828800" cy="731520"/>
          </a:xfrm>
          <a:prstGeom prst="chevron">
            <a:avLst/>
          </a:prstGeom>
          <a:solidFill>
            <a:srgbClr val="1B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学習16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表を作る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0008" y="1481328"/>
            <a:ext cx="1828800" cy="731520"/>
          </a:xfrm>
          <a:prstGeom prst="chevron">
            <a:avLst/>
          </a:prstGeom>
          <a:solidFill>
            <a:srgbClr val="1F6F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24328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3手法を比較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42816" y="1481328"/>
            <a:ext cx="1828800" cy="731520"/>
          </a:xfrm>
          <a:prstGeom prst="chevron">
            <a:avLst/>
          </a:prstGeom>
          <a:solidFill>
            <a:srgbClr val="35507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7136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方法を固定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ここで決定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1481328"/>
            <a:ext cx="1828800" cy="731520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9944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テスト12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最終確認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28432" y="1481328"/>
            <a:ext cx="1828800" cy="731520"/>
          </a:xfrm>
          <a:prstGeom prst="chevron">
            <a:avLst/>
          </a:prstGeom>
          <a:solidFill>
            <a:srgbClr val="C56A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2752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追加5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弱点を補強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1481328"/>
            <a:ext cx="1828800" cy="731520"/>
          </a:xfrm>
          <a:prstGeom prst="chevron">
            <a:avLst/>
          </a:prstGeom>
          <a:solidFill>
            <a:srgbClr val="4C8C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95560" y="1490472"/>
            <a:ext cx="13258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局所テスト6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改良前後を比較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423160"/>
            <a:ext cx="1737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2414016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＝ ŷ − 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2715768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861.26 − 1,014.20 ＝ −152.94（マイナス＝低く予測）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90672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136392"/>
            <a:ext cx="1737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絶対誤差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|e| ＝ |ŷ − y|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33172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|−152.94| ＝ 152.94 kWh/m²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03904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3849624"/>
            <a:ext cx="1737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誤差率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331720" y="384048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|ŷ − y| ÷ y × 100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331720" y="4142232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152.94 ÷ 1,014.20 × 100 ＝ 15.08 %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17136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4562856"/>
            <a:ext cx="1737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MAE（平均絶対誤差）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331720" y="4553712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(1/N) Σ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j=1</a:t>
            </a:r>
            <a:pPr indent="0" marL="0">
              <a:buNone/>
            </a:pPr>
            <a:r>
              <a:rPr lang="en-US" sz="1150" b="1" baseline="3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|ŷ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− y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331720" y="4855464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検証8配置：(|e</a:t>
            </a:r>
            <a:pPr indent="0" marL="0">
              <a:buNone/>
            </a:pPr>
            <a:r>
              <a:rPr lang="en-US" sz="10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|＋…＋|e</a:t>
            </a:r>
            <a:pPr indent="0" marL="0">
              <a:buNone/>
            </a:pPr>
            <a:r>
              <a:rPr lang="en-US" sz="10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|) ÷ 8 ＝ 159.92 ÷ 8 ＝ 19.99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230368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F3F5F8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5276088"/>
            <a:ext cx="1737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平均誤差率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2331720" y="5266944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(100/N) Σ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j=1</a:t>
            </a:r>
            <a:pPr indent="0" marL="0">
              <a:buNone/>
            </a:pPr>
            <a:r>
              <a:rPr lang="en-US" sz="1150" b="1" baseline="3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|ŷ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− y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 / y</a:t>
            </a:r>
            <a:pPr indent="0" marL="0">
              <a:buNone/>
            </a:pPr>
            <a:r>
              <a:rPr lang="en-US" sz="11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2331720" y="5568696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検証8配置：2.67 %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916168"/>
            <a:ext cx="6400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Σ</a:t>
            </a:r>
            <a:pPr indent="0" marL="0">
              <a:buNone/>
            </a:pPr>
            <a:r>
              <a:rPr lang="en-US" sz="95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j=1</a:t>
            </a:r>
            <a:pPr indent="0" marL="0">
              <a:buNone/>
            </a:pPr>
            <a:r>
              <a:rPr lang="en-US" sz="950" b="1" baseline="3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：1件目から N 件目までを順に足す記号（N＝比べた値の数）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153912"/>
            <a:ext cx="6400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8件の絶対誤差の合計 159.92 は MAE 19.99 × 8 で逆算した値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37744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00200"/>
                <a:gridCol w="36576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評価の目的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使ったデータ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手法の比較（検証）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検証8配置・全体平均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 19.99・2.67%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最終確認（テスト）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テスト12配置・全体平均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 18.40・2.42%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高さ帯別の弱点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検証8配置 × 5帯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30〜40m帯 MAE 38.56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局所改良の確認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局所テスト6配置 × 5帯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 43.50→17.81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7086600" y="4434840"/>
            <a:ext cx="4663440" cy="1874520"/>
          </a:xfrm>
          <a:prstGeom prst="roundRect">
            <a:avLst>
              <a:gd name="adj" fmla="val 2927"/>
            </a:avLst>
          </a:prstGeom>
          <a:solidFill>
            <a:srgbClr val="FBEBD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22376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読み方の注意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7223760" y="4782312"/>
            <a:ext cx="44348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テストデータは方法を決めた後にだけ使った（結果を見て方法を変えていない）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 5帯」の N は値の数で、配置の数ではない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数値はSEBEとの比較。実測日射量や発電量の精度ではない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データと計算過程の整理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追加した5配置の決め方：誤差の大きい格子を3×3に細かくした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追加は計算前に計画していた（sebe_refinement/README.txt に追加5配置・局所格子・確認用6配置を記載）。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394960" cy="841248"/>
          </a:xfrm>
          <a:prstGeom prst="roundRect">
            <a:avLst>
              <a:gd name="adj" fmla="val 5435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91056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554480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誤差が大きい場所を見つける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1828800"/>
            <a:ext cx="4754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検証8配置のうち A＝35m・D＝15m の30〜40m帯で最大誤差（SEBE 1,014.20 → 予測 861.26、差152.94・15.08%）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5394960" cy="841248"/>
          </a:xfrm>
          <a:prstGeom prst="roundRect">
            <a:avLst>
              <a:gd name="adj" fmla="val 5435"/>
            </a:avLst>
          </a:prstGeom>
          <a:solidFill>
            <a:srgbClr val="F3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3744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その点を囲む既存の格子を選ぶ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761488"/>
            <a:ext cx="4754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≤ A ≤ 50，10 ≤ D ≤ 25 → 既存の4隅 (25,10)(25,25)(50,10)(50,25) を再利用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5394960" cy="841248"/>
          </a:xfrm>
          <a:prstGeom prst="roundRect">
            <a:avLst>
              <a:gd name="adj" fmla="val 5435"/>
            </a:avLst>
          </a:prstGeom>
          <a:solidFill>
            <a:srgbClr val="F3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456432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419856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区切りを1本ずつ追加する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694176"/>
            <a:ext cx="4754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 に 35m、隙間 D に 17m を追加 → A 25・35・50 × D 10・17・25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5394960" cy="841248"/>
          </a:xfrm>
          <a:prstGeom prst="roundRect">
            <a:avLst>
              <a:gd name="adj" fmla="val 5435"/>
            </a:avLst>
          </a:prstGeom>
          <a:solidFill>
            <a:srgbClr val="F3F5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389120"/>
            <a:ext cx="310896" cy="310896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352544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足りない点を計算する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626864"/>
            <a:ext cx="4754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3×3＝9点 − 既存4点 ＝ 追加5点（無作為に5と決めたのではない）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257800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1つの補間領域が4つに分かれ、短い区間ごとに補間できる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577840"/>
            <a:ext cx="5394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A＝35・D＝15は答えを直接入れていないが、改良方針を決めるのに使ったので、改良後の独立テストには使えない → 新しい6配置で確認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1481328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3F5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629400" y="1737360"/>
            <a:ext cx="2377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38872" y="1737360"/>
            <a:ext cx="91" cy="2377440"/>
          </a:xfrm>
          <a:prstGeom prst="line">
            <a:avLst/>
          </a:prstGeom>
          <a:noFill/>
          <a:ln w="12700">
            <a:solidFill>
              <a:srgbClr val="E8934D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629400" y="3163824"/>
            <a:ext cx="2377440" cy="91"/>
          </a:xfrm>
          <a:prstGeom prst="line">
            <a:avLst/>
          </a:prstGeom>
          <a:noFill/>
          <a:ln w="12700">
            <a:solidFill>
              <a:srgbClr val="E8934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551676" y="4037076"/>
            <a:ext cx="155448" cy="155448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29116" y="4037076"/>
            <a:ext cx="155448" cy="155448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51676" y="1659636"/>
            <a:ext cx="155448" cy="155448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29116" y="1659636"/>
            <a:ext cx="155448" cy="155448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56576" y="4032504"/>
            <a:ext cx="164592" cy="16459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47104" y="3081528"/>
            <a:ext cx="164592" cy="16459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56576" y="3081528"/>
            <a:ext cx="164592" cy="16459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24544" y="3081528"/>
            <a:ext cx="164592" cy="16459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56576" y="1655064"/>
            <a:ext cx="164592" cy="16459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30440" y="3072384"/>
            <a:ext cx="182880" cy="182880"/>
          </a:xfrm>
          <a:prstGeom prst="star5">
            <a:avLst/>
          </a:prstGeom>
          <a:solidFill>
            <a:srgbClr val="B04A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36080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最大誤差点 (35,15)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510272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778240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172200" y="4014216"/>
            <a:ext cx="3474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172200" y="3063240"/>
            <a:ext cx="3474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172200" y="1636776"/>
            <a:ext cx="3474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629400" y="4389120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隙間 D (m)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126480" y="1517904"/>
            <a:ext cx="548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(m)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95644" y="4585716"/>
            <a:ext cx="118872" cy="118872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73952" y="454456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既存の4隅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30084" y="4585716"/>
            <a:ext cx="118872" cy="118872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08392" y="4544568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追加した5点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646920" y="1481328"/>
            <a:ext cx="2103120" cy="3520440"/>
          </a:xfrm>
          <a:prstGeom prst="roundRect">
            <a:avLst>
              <a:gd name="adj" fmla="val 2609"/>
            </a:avLst>
          </a:prstGeom>
          <a:solidFill>
            <a:srgbClr val="E1EEE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78408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言えること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738360" y="1828800"/>
            <a:ext cx="19659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改善する場所の選び方には理由がある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5は3×3格子に不足する点の数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確認用6配置も事前に記載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局所範囲のMAE 43.50→17.81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80760" y="5166360"/>
            <a:ext cx="5669280" cy="1143000"/>
          </a:xfrm>
          <a:prstGeom prst="roundRect">
            <a:avLst>
              <a:gd name="adj" fmla="val 4800"/>
            </a:avLst>
          </a:prstGeom>
          <a:solidFill>
            <a:srgbClr val="F5E2D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217920" y="5230368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まだ言えないこと（検証していない）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17920" y="5504688"/>
            <a:ext cx="5394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17mが誤差を最小にする区切りか ／ 5配置が必要十分な最小数か ／ 他の候補と比べてこの5配置が最良か。17mは設計上の選択であり、最適な区切りや点数を求めた実験ではない。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6  最終目標ツールの変数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最終目標ツール：周囲の建物ごとに4つの変数を変える（平面図）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中央建物 C の周囲に0〜4棟を置き、C の北・東・南・西の壁面日射量を高さ帯ごとに予測する。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1132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17904"/>
            <a:ext cx="5029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上から見た図（例：3棟あり・1棟なし）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3063240" y="2308860"/>
            <a:ext cx="91" cy="1623060"/>
          </a:xfrm>
          <a:prstGeom prst="line">
            <a:avLst/>
          </a:prstGeom>
          <a:noFill/>
          <a:ln w="9525">
            <a:solidFill>
              <a:srgbClr val="AEB4BC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108960" y="2263140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 0°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41825" y="3822192"/>
            <a:ext cx="640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 90°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5704027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 180°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822192"/>
            <a:ext cx="685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 270°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38628" y="3607308"/>
            <a:ext cx="649224" cy="64922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38628" y="3607308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 C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H</a:t>
            </a:r>
            <a:pPr algn="ctr" indent="0" marL="0">
              <a:buNone/>
            </a:pPr>
            <a:r>
              <a:rPr lang="en-US" sz="850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3063240" y="2711778"/>
            <a:ext cx="444095" cy="1220142"/>
          </a:xfrm>
          <a:prstGeom prst="line">
            <a:avLst/>
          </a:prstGeom>
          <a:noFill/>
          <a:ln w="9525">
            <a:solidFill>
              <a:srgbClr val="C56A2C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3182723" y="2387166"/>
            <a:ext cx="649224" cy="64922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82723" y="2478606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A₁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182723" y="3054678"/>
            <a:ext cx="6492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868278" y="3152851"/>
            <a:ext cx="868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θ</a:t>
            </a:r>
            <a:pPr indent="0" marL="0">
              <a:buNone/>
            </a:pPr>
            <a:r>
              <a:rPr lang="en-US" sz="9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＝20°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V="1">
            <a:off x="3285288" y="3036390"/>
            <a:ext cx="91" cy="570918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331008" y="3212121"/>
            <a:ext cx="365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00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3931920"/>
            <a:ext cx="1159135" cy="421891"/>
          </a:xfrm>
          <a:prstGeom prst="line">
            <a:avLst/>
          </a:prstGeom>
          <a:noFill/>
          <a:ln w="9525">
            <a:solidFill>
              <a:srgbClr val="C56A2C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3897763" y="4029199"/>
            <a:ext cx="649224" cy="64922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97763" y="4120639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A₂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897763" y="4696711"/>
            <a:ext cx="6492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95409" y="4217579"/>
            <a:ext cx="868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θ</a:t>
            </a:r>
            <a:pPr indent="0" marL="0">
              <a:buNone/>
            </a:pPr>
            <a:r>
              <a:rPr lang="en-US" sz="9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＝110°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7852" y="4142865"/>
            <a:ext cx="509911" cy="91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459927" y="4161153"/>
            <a:ext cx="365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00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19145" y="3931920"/>
            <a:ext cx="444095" cy="1220142"/>
          </a:xfrm>
          <a:prstGeom prst="line">
            <a:avLst/>
          </a:prstGeom>
          <a:noFill/>
          <a:ln w="9525">
            <a:solidFill>
              <a:srgbClr val="C56A2C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2294533" y="4827450"/>
            <a:ext cx="649224" cy="64922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294533" y="4918890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A₃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294533" y="5494962"/>
            <a:ext cx="6492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401227" y="5035601"/>
            <a:ext cx="868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θ</a:t>
            </a:r>
            <a:pPr indent="0" marL="0">
              <a:buNone/>
            </a:pPr>
            <a:r>
              <a:rPr lang="en-US" sz="9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＝200°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41192" y="4256532"/>
            <a:ext cx="91" cy="570918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886912" y="4432263"/>
            <a:ext cx="365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00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1904105" y="3510029"/>
            <a:ext cx="1159135" cy="421891"/>
          </a:xfrm>
          <a:prstGeom prst="line">
            <a:avLst/>
          </a:prstGeom>
          <a:noFill/>
          <a:ln w="9525">
            <a:solidFill>
              <a:srgbClr val="AEB4BC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1579493" y="3185417"/>
            <a:ext cx="649224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C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1579493" y="3276857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579493" y="3852929"/>
            <a:ext cx="6492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401227" y="3023006"/>
            <a:ext cx="868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θ</a:t>
            </a:r>
            <a:pPr indent="0" marL="0">
              <a:buNone/>
            </a:pPr>
            <a:r>
              <a:rPr lang="en-US" sz="900" b="1" baseline="-400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＝290°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5897880"/>
            <a:ext cx="5212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θ：北から時計回り。建物の向き（回転）ではなく「置く方向」。建物の辺は東西・南北に固定。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変える変数：1 ＋ 4棟 × 4個 ＝ 17個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47088"/>
          <a:ext cx="55321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21031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記号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どこの値か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範囲（設計）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中央建物の高さ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Cの地面〜屋根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25・50・75・100m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建物iの有無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置く＝1，置かない＝0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 または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周囲建物iの高さ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建物iの地面〜屋根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25〜100m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Cとの隙間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外形どうしの最短距離（赤線）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θ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置く方位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Cの中心→建物iの中心の向き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0〜360°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 45"/>
          <p:cNvSpPr txBox="1"/>
          <p:nvPr/>
        </p:nvSpPr>
        <p:spPr>
          <a:xfrm>
            <a:off x="6217920" y="4251960"/>
            <a:ext cx="55321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i＝1, 2, 3, 4（周囲建物の番号）。棟数 n ＝ Σ</a:t>
            </a:r>
            <a:pPr indent="0" marL="0">
              <a:buNone/>
            </a:pPr>
            <a:r>
              <a:rPr lang="en-US" sz="100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i=1</a:t>
            </a:r>
            <a:pPr indent="0" marL="0">
              <a:buNone/>
            </a:pPr>
            <a:r>
              <a:rPr lang="en-US" sz="1000" baseline="3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s</a:t>
            </a:r>
            <a:pPr indent="0" marL="0">
              <a:buNone/>
            </a:pPr>
            <a:r>
              <a:rPr lang="en-US" sz="100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 s から計算できるので、別の入力にはしない。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217920" y="4800600"/>
            <a:ext cx="5532120" cy="1508760"/>
          </a:xfrm>
          <a:prstGeom prst="roundRect">
            <a:avLst>
              <a:gd name="adj" fmla="val 3636"/>
            </a:avLst>
          </a:prstGeom>
          <a:solidFill>
            <a:srgbClr val="1B2A44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40080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17個の内訳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400800" y="5193792"/>
            <a:ext cx="658368" cy="502920"/>
          </a:xfrm>
          <a:prstGeom prst="roundRect">
            <a:avLst>
              <a:gd name="adj" fmla="val 9091"/>
            </a:avLst>
          </a:prstGeom>
          <a:solidFill>
            <a:srgbClr val="E8934D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6400800" y="51937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150608" y="5193792"/>
            <a:ext cx="1069848" cy="502920"/>
          </a:xfrm>
          <a:prstGeom prst="roundRect">
            <a:avLst>
              <a:gd name="adj" fmla="val 9091"/>
            </a:avLst>
          </a:prstGeom>
          <a:solidFill>
            <a:srgbClr val="35507D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150608" y="5193792"/>
            <a:ext cx="106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A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D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θ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284464" y="5193792"/>
            <a:ext cx="1069848" cy="502920"/>
          </a:xfrm>
          <a:prstGeom prst="roundRect">
            <a:avLst>
              <a:gd name="adj" fmla="val 9091"/>
            </a:avLst>
          </a:prstGeom>
          <a:solidFill>
            <a:srgbClr val="35507D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284464" y="5193792"/>
            <a:ext cx="106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A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D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θ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9418320" y="5193792"/>
            <a:ext cx="1069848" cy="502920"/>
          </a:xfrm>
          <a:prstGeom prst="roundRect">
            <a:avLst>
              <a:gd name="adj" fmla="val 9091"/>
            </a:avLst>
          </a:prstGeom>
          <a:solidFill>
            <a:srgbClr val="35507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418320" y="5193792"/>
            <a:ext cx="106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A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D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θ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10552176" y="5193792"/>
            <a:ext cx="1069848" cy="502920"/>
          </a:xfrm>
          <a:prstGeom prst="roundRect">
            <a:avLst>
              <a:gd name="adj" fmla="val 9091"/>
            </a:avLst>
          </a:prstGeom>
          <a:solidFill>
            <a:srgbClr val="35507D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10552176" y="5193792"/>
            <a:ext cx="106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A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D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θ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6400800" y="5760720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中央の高さ 1個 ＋ 建物1〜4 それぞれ4個 ＝ 17個。建物がない棟（s＝0）の A・D・θ は使わない。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6  最終目標ツールの変数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最終目標ツール：立体で見た変数と、出力する20個の値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高さの変数（中央の高さ・周囲建物の高さ）は立体図で見ると分かりやすい。出力は中央建物の4面 × 5つの高さ帯。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斜め上（南東）から見た図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-706303" y="1955397"/>
            <a:ext cx="9019683" cy="4510479"/>
          </a:xfrm>
          <a:custGeom>
            <a:avLst/>
            <a:gdLst/>
            <a:ahLst/>
            <a:cxnLst/>
            <a:rect l="l" t="t" r="r" b="b"/>
            <a:pathLst>
              <a:path w="9019683" h="4510479">
                <a:moveTo>
                  <a:pt x="0" y="2205123"/>
                </a:moveTo>
                <a:lnTo>
                  <a:pt x="4610060" y="4510479"/>
                </a:lnTo>
                <a:lnTo>
                  <a:pt x="9019683" y="2305356"/>
                </a:lnTo>
                <a:lnTo>
                  <a:pt x="4409623" y="0"/>
                </a:lnTo>
                <a:close/>
              </a:path>
            </a:pathLst>
          </a:custGeom>
          <a:solidFill>
            <a:srgbClr val="E6EA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04195" y="2957726"/>
            <a:ext cx="2004374" cy="1002329"/>
          </a:xfrm>
          <a:custGeom>
            <a:avLst/>
            <a:gdLst/>
            <a:ahLst/>
            <a:cxnLst/>
            <a:rect l="l" t="t" r="r" b="b"/>
            <a:pathLst>
              <a:path w="2004374" h="1002329">
                <a:moveTo>
                  <a:pt x="0" y="501164"/>
                </a:moveTo>
                <a:lnTo>
                  <a:pt x="1002187" y="1002329"/>
                </a:lnTo>
                <a:lnTo>
                  <a:pt x="2004374" y="501164"/>
                </a:lnTo>
                <a:lnTo>
                  <a:pt x="1002187" y="0"/>
                </a:lnTo>
                <a:close/>
              </a:path>
            </a:pathLst>
          </a:custGeom>
          <a:ln w="12700">
            <a:solidFill>
              <a:srgbClr val="6B74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298071" y="1745917"/>
            <a:ext cx="2004374" cy="1002329"/>
          </a:xfrm>
          <a:custGeom>
            <a:avLst/>
            <a:gdLst/>
            <a:ahLst/>
            <a:cxnLst/>
            <a:rect l="l" t="t" r="r" b="b"/>
            <a:pathLst>
              <a:path w="2004374" h="1002329">
                <a:moveTo>
                  <a:pt x="0" y="501164"/>
                </a:moveTo>
                <a:lnTo>
                  <a:pt x="1002187" y="1002329"/>
                </a:lnTo>
                <a:lnTo>
                  <a:pt x="2004374" y="501164"/>
                </a:lnTo>
                <a:lnTo>
                  <a:pt x="1002187" y="0"/>
                </a:lnTo>
                <a:close/>
              </a:path>
            </a:pathLst>
          </a:custGeom>
          <a:solidFill>
            <a:srgbClr val="9CC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8071" y="2247081"/>
            <a:ext cx="1002187" cy="1712973"/>
          </a:xfrm>
          <a:custGeom>
            <a:avLst/>
            <a:gdLst/>
            <a:ahLst/>
            <a:cxnLst/>
            <a:rect l="l" t="t" r="r" b="b"/>
            <a:pathLst>
              <a:path w="1002187" h="1712973">
                <a:moveTo>
                  <a:pt x="0" y="1211809"/>
                </a:moveTo>
                <a:lnTo>
                  <a:pt x="1002187" y="1712973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2C87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0258" y="2247081"/>
            <a:ext cx="1002187" cy="1712973"/>
          </a:xfrm>
          <a:custGeom>
            <a:avLst/>
            <a:gdLst/>
            <a:ahLst/>
            <a:cxnLst/>
            <a:rect l="l" t="t" r="r" b="b"/>
            <a:pathLst>
              <a:path w="1002187" h="1712973">
                <a:moveTo>
                  <a:pt x="0" y="1712973"/>
                </a:moveTo>
                <a:lnTo>
                  <a:pt x="1002187" y="1211809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1133" y="2312902"/>
            <a:ext cx="2004374" cy="1002329"/>
          </a:xfrm>
          <a:custGeom>
            <a:avLst/>
            <a:gdLst/>
            <a:ahLst/>
            <a:cxnLst/>
            <a:rect l="l" t="t" r="r" b="b"/>
            <a:pathLst>
              <a:path w="2004374" h="1002329">
                <a:moveTo>
                  <a:pt x="0" y="501164"/>
                </a:moveTo>
                <a:lnTo>
                  <a:pt x="1002187" y="1002329"/>
                </a:lnTo>
                <a:lnTo>
                  <a:pt x="2004374" y="501164"/>
                </a:lnTo>
                <a:lnTo>
                  <a:pt x="1002187" y="0"/>
                </a:lnTo>
                <a:close/>
              </a:path>
            </a:pathLst>
          </a:custGeom>
          <a:solidFill>
            <a:srgbClr val="4A5F8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1133" y="3891229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269291"/>
                </a:moveTo>
                <a:lnTo>
                  <a:pt x="1002187" y="770455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F6D2B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3891229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770455"/>
                </a:moveTo>
                <a:lnTo>
                  <a:pt x="1002187" y="269291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C9DC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01133" y="3621938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269291"/>
                </a:moveTo>
                <a:lnTo>
                  <a:pt x="1002187" y="770455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F2BE9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3621938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770455"/>
                </a:moveTo>
                <a:lnTo>
                  <a:pt x="1002187" y="269291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B5CFD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01133" y="3352648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269291"/>
                </a:moveTo>
                <a:lnTo>
                  <a:pt x="1002187" y="770455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EEA87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3352648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770455"/>
                </a:moveTo>
                <a:lnTo>
                  <a:pt x="1002187" y="269291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A0C2C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01133" y="3083357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269291"/>
                </a:moveTo>
                <a:lnTo>
                  <a:pt x="1002187" y="770455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E8934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3083357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770455"/>
                </a:moveTo>
                <a:lnTo>
                  <a:pt x="1002187" y="269291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8BB5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01133" y="2814066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269291"/>
                </a:moveTo>
                <a:lnTo>
                  <a:pt x="1002187" y="770455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D77B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2814066"/>
            <a:ext cx="1002187" cy="770455"/>
          </a:xfrm>
          <a:custGeom>
            <a:avLst/>
            <a:gdLst/>
            <a:ahLst/>
            <a:cxnLst/>
            <a:rect l="l" t="t" r="r" b="b"/>
            <a:pathLst>
              <a:path w="1002187" h="770455">
                <a:moveTo>
                  <a:pt x="0" y="770455"/>
                </a:moveTo>
                <a:lnTo>
                  <a:pt x="1002187" y="269291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76A8B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97853" y="3468584"/>
            <a:ext cx="2004374" cy="1002329"/>
          </a:xfrm>
          <a:custGeom>
            <a:avLst/>
            <a:gdLst/>
            <a:ahLst/>
            <a:cxnLst/>
            <a:rect l="l" t="t" r="r" b="b"/>
            <a:pathLst>
              <a:path w="2004374" h="1002329">
                <a:moveTo>
                  <a:pt x="0" y="501164"/>
                </a:moveTo>
                <a:lnTo>
                  <a:pt x="1002187" y="1002329"/>
                </a:lnTo>
                <a:lnTo>
                  <a:pt x="2004374" y="501164"/>
                </a:lnTo>
                <a:lnTo>
                  <a:pt x="1002187" y="0"/>
                </a:lnTo>
                <a:close/>
              </a:path>
            </a:pathLst>
          </a:custGeom>
          <a:solidFill>
            <a:srgbClr val="9CC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97853" y="3969749"/>
            <a:ext cx="1002187" cy="1443682"/>
          </a:xfrm>
          <a:custGeom>
            <a:avLst/>
            <a:gdLst/>
            <a:ahLst/>
            <a:cxnLst/>
            <a:rect l="l" t="t" r="r" b="b"/>
            <a:pathLst>
              <a:path w="1002187" h="1443682">
                <a:moveTo>
                  <a:pt x="0" y="942518"/>
                </a:moveTo>
                <a:lnTo>
                  <a:pt x="1002187" y="1443682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2C87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00040" y="3969749"/>
            <a:ext cx="1002187" cy="1443682"/>
          </a:xfrm>
          <a:custGeom>
            <a:avLst/>
            <a:gdLst/>
            <a:ahLst/>
            <a:cxnLst/>
            <a:rect l="l" t="t" r="r" b="b"/>
            <a:pathLst>
              <a:path w="1002187" h="1443682">
                <a:moveTo>
                  <a:pt x="0" y="1443682"/>
                </a:moveTo>
                <a:lnTo>
                  <a:pt x="1002187" y="942518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04632" y="2845474"/>
            <a:ext cx="2004374" cy="1002329"/>
          </a:xfrm>
          <a:custGeom>
            <a:avLst/>
            <a:gdLst/>
            <a:ahLst/>
            <a:cxnLst/>
            <a:rect l="l" t="t" r="r" b="b"/>
            <a:pathLst>
              <a:path w="2004374" h="1002329">
                <a:moveTo>
                  <a:pt x="0" y="501164"/>
                </a:moveTo>
                <a:lnTo>
                  <a:pt x="1002187" y="1002329"/>
                </a:lnTo>
                <a:lnTo>
                  <a:pt x="2004374" y="501164"/>
                </a:lnTo>
                <a:lnTo>
                  <a:pt x="1002187" y="0"/>
                </a:lnTo>
                <a:close/>
              </a:path>
            </a:pathLst>
          </a:custGeom>
          <a:solidFill>
            <a:srgbClr val="9CC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04632" y="3346638"/>
            <a:ext cx="1002187" cy="2116909"/>
          </a:xfrm>
          <a:custGeom>
            <a:avLst/>
            <a:gdLst/>
            <a:ahLst/>
            <a:cxnLst/>
            <a:rect l="l" t="t" r="r" b="b"/>
            <a:pathLst>
              <a:path w="1002187" h="2116909">
                <a:moveTo>
                  <a:pt x="0" y="1615745"/>
                </a:moveTo>
                <a:lnTo>
                  <a:pt x="1002187" y="2116909"/>
                </a:lnTo>
                <a:lnTo>
                  <a:pt x="1002187" y="501164"/>
                </a:lnTo>
                <a:lnTo>
                  <a:pt x="0" y="0"/>
                </a:lnTo>
                <a:close/>
              </a:path>
            </a:pathLst>
          </a:custGeom>
          <a:solidFill>
            <a:srgbClr val="2C87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6819" y="3346638"/>
            <a:ext cx="1002187" cy="2116909"/>
          </a:xfrm>
          <a:custGeom>
            <a:avLst/>
            <a:gdLst/>
            <a:ahLst/>
            <a:cxnLst/>
            <a:rect l="l" t="t" r="r" b="b"/>
            <a:pathLst>
              <a:path w="1002187" h="2116909">
                <a:moveTo>
                  <a:pt x="0" y="2116909"/>
                </a:moveTo>
                <a:lnTo>
                  <a:pt x="1002187" y="1615745"/>
                </a:lnTo>
                <a:lnTo>
                  <a:pt x="1002187" y="0"/>
                </a:lnTo>
                <a:lnTo>
                  <a:pt x="0" y="501164"/>
                </a:lnTo>
                <a:close/>
              </a:path>
            </a:pathLst>
          </a:custGeom>
          <a:solidFill>
            <a:srgbClr val="1F6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518253" y="2814066"/>
            <a:ext cx="91" cy="1346454"/>
          </a:xfrm>
          <a:prstGeom prst="line">
            <a:avLst/>
          </a:prstGeom>
          <a:noFill/>
          <a:ln w="15875">
            <a:solidFill>
              <a:srgbClr val="C56A2C"/>
            </a:solidFill>
            <a:prstDash val="solid"/>
            <a:headEnd type="triangl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134205" y="3359277"/>
            <a:ext cx="384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</a:t>
            </a:r>
            <a:pPr indent="0" marL="0">
              <a:buNone/>
            </a:pPr>
            <a:r>
              <a:rPr lang="en-US" sz="12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1060693" y="3969749"/>
            <a:ext cx="91" cy="942518"/>
          </a:xfrm>
          <a:prstGeom prst="line">
            <a:avLst/>
          </a:prstGeom>
          <a:noFill/>
          <a:ln w="15875">
            <a:solidFill>
              <a:srgbClr val="C56A2C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30925" y="4312992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pPr indent="0" marL="0">
              <a:buNone/>
            </a:pPr>
            <a:r>
              <a:rPr lang="en-US" sz="12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flipV="1">
            <a:off x="3257091" y="4716548"/>
            <a:ext cx="501093" cy="250582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544213" y="4805263"/>
            <a:ext cx="457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10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21608" y="4734836"/>
            <a:ext cx="601312" cy="300699"/>
          </a:xfrm>
          <a:prstGeom prst="line">
            <a:avLst/>
          </a:prstGeom>
          <a:noFill/>
          <a:ln w="1905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912536" y="4921762"/>
            <a:ext cx="457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10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flipV="1">
            <a:off x="6418734" y="3346638"/>
            <a:ext cx="91" cy="1615745"/>
          </a:xfrm>
          <a:prstGeom prst="line">
            <a:avLst/>
          </a:prstGeom>
          <a:noFill/>
          <a:ln w="15875">
            <a:solidFill>
              <a:srgbClr val="C56A2C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455310" y="4026495"/>
            <a:ext cx="457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pPr indent="0" marL="0">
              <a:buNone/>
            </a:pPr>
            <a:r>
              <a:rPr lang="en-US" sz="120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836467" y="349350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838653" y="349350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東面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西の建物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900" dirty="0"/>
          </a:p>
          <a:p>
            <a:pPr indent="0" marL="0">
              <a:buNone/>
            </a:pPr>
            <a:r>
              <a:rPr lang="en-US" sz="90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pPr indent="0" marL="0">
              <a:buNone/>
            </a:pPr>
            <a:r>
              <a:rPr lang="en-US" sz="9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</a:t>
            </a:r>
            <a:pPr indent="0" marL="0">
              <a:buNone/>
            </a:pPr>
            <a:r>
              <a:rPr lang="en-US" sz="900" b="1" baseline="-40000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5262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北は建物なし：s</a:t>
            </a:r>
            <a:pPr indent="0" marL="0">
              <a:buNone/>
            </a:pPr>
            <a:r>
              <a:rPr lang="en-US" sz="900" b="1" baseline="-400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（点線は置く場合の位置）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 flipV="1">
            <a:off x="5943600" y="5690494"/>
            <a:ext cx="323286" cy="161666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285174" y="5507614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5943600"/>
            <a:ext cx="5120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色の段＝高さ帯（下から帯1〜帯5）。北面・西面は裏側で見えないが、同じく5帯ずつ出力する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出力：4面 × 5帯 ＝ 20個の年間日射量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01000" y="1874520"/>
            <a:ext cx="841248" cy="32918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001000" y="1874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北面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87968" y="1874520"/>
            <a:ext cx="841248" cy="32918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887968" y="1874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東面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774936" y="1874520"/>
            <a:ext cx="841248" cy="32918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774936" y="1874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661904" y="1874520"/>
            <a:ext cx="841248" cy="32918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661904" y="1874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西面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178040" y="2240280"/>
            <a:ext cx="731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01000" y="224028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001000" y="224028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北,5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887968" y="224028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887968" y="224028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東,5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774936" y="2240280"/>
            <a:ext cx="841248" cy="329184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774936" y="224028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南,5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661904" y="224028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661904" y="224028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西,5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178040" y="2606040"/>
            <a:ext cx="731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01000" y="260604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001000" y="2606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北,4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887968" y="260604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887968" y="2606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東,4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774936" y="2606040"/>
            <a:ext cx="841248" cy="329184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774936" y="2606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南,4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661904" y="260604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10661904" y="26060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西,4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178040" y="2971800"/>
            <a:ext cx="731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001000" y="297180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001000" y="2971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北,3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887968" y="297180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8887968" y="2971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東,3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774936" y="2971800"/>
            <a:ext cx="841248" cy="329184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774936" y="2971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南,3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661904" y="297180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661904" y="2971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西,3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7178040" y="3337560"/>
            <a:ext cx="731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帯2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01000" y="333756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001000" y="33375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北,2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887968" y="333756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8887968" y="33375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東,2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774936" y="3337560"/>
            <a:ext cx="841248" cy="329184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9774936" y="33375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南,2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0661904" y="333756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661904" y="33375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西,2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7178040" y="3703320"/>
            <a:ext cx="7315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001000" y="370332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8001000" y="37033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北,1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887968" y="370332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8887968" y="37033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東,1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9774936" y="3703320"/>
            <a:ext cx="841248" cy="329184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9774936" y="37033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南,1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0661904" y="3703320"/>
            <a:ext cx="841248" cy="329184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661904" y="37033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algn="ctr" indent="0" marL="0">
              <a:buNone/>
            </a:pPr>
            <a:r>
              <a:rPr lang="en-US" sz="1000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西,1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7132320" y="4114800"/>
            <a:ext cx="4617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面の平均：Ŷ</a:t>
            </a:r>
            <a:pPr indent="0" marL="0">
              <a:buNone/>
            </a:pPr>
            <a:r>
              <a:rPr lang="en-US" sz="105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f,平均</a:t>
            </a:r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(1/5) Σ</a:t>
            </a:r>
            <a:pPr indent="0" marL="0">
              <a:buNone/>
            </a:pPr>
            <a:r>
              <a:rPr lang="en-US" sz="105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k=1</a:t>
            </a:r>
            <a:pPr indent="0" marL="0">
              <a:buNone/>
            </a:pPr>
            <a:r>
              <a:rPr lang="en-US" sz="1050" b="1" baseline="3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Ŷ</a:t>
            </a:r>
            <a:pPr indent="0" marL="0">
              <a:buNone/>
            </a:pPr>
            <a:r>
              <a:rPr lang="en-US" sz="1050" b="1" baseline="-4000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f,k</a:t>
            </a:r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（f＝北・東・南・西）</a:t>
            </a:r>
            <a:endParaRPr lang="en-US" sz="1050" dirty="0"/>
          </a:p>
        </p:txBody>
      </p:sp>
      <p:sp>
        <p:nvSpPr>
          <p:cNvPr id="106" name="Text 104"/>
          <p:cNvSpPr txBox="1"/>
          <p:nvPr/>
        </p:nvSpPr>
        <p:spPr>
          <a:xfrm>
            <a:off x="7132320" y="4526280"/>
            <a:ext cx="4617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中央の高さを変えると、帯の高さも変わる（高さを5等分）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4846320"/>
          <a:ext cx="4617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</a:t>
                      </a:r>
                      <a:pPr algn="l" indent="0" marL="0">
                        <a:buNone/>
                      </a:pPr>
                      <a:r>
                        <a:rPr lang="en-US" sz="950" b="1" baseline="-400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100m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1帯の高さ（H</a:t>
                      </a:r>
                      <a:pPr algn="l" indent="0" marL="0">
                        <a:buNone/>
                      </a:pPr>
                      <a:r>
                        <a:rPr lang="en-US" sz="1000" b="1" baseline="-40000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/5）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8" name="Text 105"/>
          <p:cNvSpPr txBox="1"/>
          <p:nvPr/>
        </p:nvSpPr>
        <p:spPr>
          <a:xfrm>
            <a:off x="7132320" y="5760720"/>
            <a:ext cx="4617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南1棟の段階では「南面×5帯＝5個」だった出力が、4面に増える。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6  最終目標ツールの変数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有無の変数 s が必要な理由：「建物がない」は A・D の数字では表せない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 は「その方向に建物があるか」だけを表す 0/1 のスイッチ。s＝0 の建物は計算から自動的に外れる。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3639312" cy="219456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81328"/>
            <a:ext cx="3639312" cy="384048"/>
          </a:xfrm>
          <a:prstGeom prst="roundRect">
            <a:avLst>
              <a:gd name="adj" fmla="val 14286"/>
            </a:avLst>
          </a:prstGeom>
          <a:solidFill>
            <a:srgbClr val="4C8C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建物がある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0976" y="2011680"/>
            <a:ext cx="384048" cy="384048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2596896"/>
            <a:ext cx="384048" cy="384048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1984248"/>
            <a:ext cx="21945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＝ 50 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＝ 25 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035808"/>
            <a:ext cx="32735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表（A 25〜100m・D 10〜100m）の中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91840"/>
            <a:ext cx="3273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計算できる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1481328"/>
            <a:ext cx="3639312" cy="219456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279392" y="1481328"/>
            <a:ext cx="3639312" cy="384048"/>
          </a:xfrm>
          <a:prstGeom prst="roundRect">
            <a:avLst>
              <a:gd name="adj" fmla="val 14286"/>
            </a:avLst>
          </a:prstGeom>
          <a:solidFill>
            <a:srgbClr val="B04A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16552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b. 建物がない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011680"/>
            <a:ext cx="384048" cy="384048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773168" y="259689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7731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773168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1984248"/>
            <a:ext cx="21945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＝ ？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＝ ？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3035808"/>
            <a:ext cx="32735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高さも距離も存在しない → 空欄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3291840"/>
            <a:ext cx="3273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入れる数字がない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1584" y="1481328"/>
            <a:ext cx="3639312" cy="219456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1584" y="1481328"/>
            <a:ext cx="3639312" cy="384048"/>
          </a:xfrm>
          <a:prstGeom prst="roundRect">
            <a:avLst>
              <a:gd name="adj" fmla="val 14286"/>
            </a:avLst>
          </a:prstGeom>
          <a:solidFill>
            <a:srgbClr val="B04A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38744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c. A＝0 で代用する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95360" y="2011680"/>
            <a:ext cx="384048" cy="384048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5360" y="2596896"/>
            <a:ext cx="384048" cy="384048"/>
          </a:xfrm>
          <a:prstGeom prst="rect">
            <a:avLst/>
          </a:prstGeom>
          <a:solidFill>
            <a:srgbClr val="9CC3C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9381744" y="1984248"/>
            <a:ext cx="21945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＝ 0 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＝ 25 m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284464" y="3035808"/>
            <a:ext cx="32735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表は A 25m から → 囲む4点がない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3291840"/>
            <a:ext cx="3273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表の外（外挿）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3F5F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4360" y="3895344"/>
            <a:ext cx="5212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そこで s を使う（入力の例）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606040" y="41605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 A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429000" y="41605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隙間 D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343400" y="416052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計算に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440740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EF0F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0080" y="4407408"/>
            <a:ext cx="5486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54480" y="44897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AEB4BC"/>
          </a:solidFill>
          <a:ln/>
        </p:spPr>
      </p:sp>
      <p:sp>
        <p:nvSpPr>
          <p:cNvPr id="50" name="Shape 48"/>
          <p:cNvSpPr/>
          <p:nvPr/>
        </p:nvSpPr>
        <p:spPr>
          <a:xfrm>
            <a:off x="1572768" y="450799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14884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2606040" y="44074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429000" y="44074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4343400" y="440740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入れない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486460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0080" y="4864608"/>
            <a:ext cx="5486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554480" y="49469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58" name="Shape 56"/>
          <p:cNvSpPr/>
          <p:nvPr/>
        </p:nvSpPr>
        <p:spPr>
          <a:xfrm>
            <a:off x="1883664" y="496519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148840" y="4864608"/>
            <a:ext cx="274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2606040" y="48646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 m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3429000" y="48646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m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4343400" y="486460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48640" y="532180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40080" y="5321808"/>
            <a:ext cx="5486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554480" y="54041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66" name="Shape 64"/>
          <p:cNvSpPr/>
          <p:nvPr/>
        </p:nvSpPr>
        <p:spPr>
          <a:xfrm>
            <a:off x="1883664" y="542239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148840" y="5321808"/>
            <a:ext cx="274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2606040" y="53218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55.9 m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3429000" y="53218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m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4343400" y="532180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48640" y="577900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EF0F3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40080" y="5779008"/>
            <a:ext cx="5486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554480" y="5861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AEB4BC"/>
          </a:solidFill>
          <a:ln/>
        </p:spPr>
      </p:sp>
      <p:sp>
        <p:nvSpPr>
          <p:cNvPr id="74" name="Shape 72"/>
          <p:cNvSpPr/>
          <p:nvPr/>
        </p:nvSpPr>
        <p:spPr>
          <a:xfrm>
            <a:off x="1572768" y="587959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2148840" y="5779008"/>
            <a:ext cx="274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2606040" y="57790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3429000" y="5779008"/>
            <a:ext cx="7772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4343400" y="577900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入れない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172200" y="384048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1B2A44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355080" y="3904488"/>
            <a:ext cx="5212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式の中では「s を掛ける」だけ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6355080" y="4206240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 ＝ 建物なしの値 − Σ（s × その建物で減る量）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6355080" y="4526280"/>
            <a:ext cx="5303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建物なし </a:t>
            </a:r>
            <a:pPr indent="0" marL="0">
              <a:buNone/>
            </a:pPr>
            <a:r>
              <a:rPr lang="en-US" sz="1150" b="1" dirty="0">
                <a:solidFill>
                  <a:srgbClr val="6F7F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− 0×北 </a:t>
            </a:r>
            <a:pPr indent="0" marL="0">
              <a:buNone/>
            </a:pPr>
            <a:r>
              <a:rPr lang="en-US" sz="11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− 1×東 − 1×南 </a:t>
            </a:r>
            <a:pPr indent="0" marL="0">
              <a:buNone/>
            </a:pPr>
            <a:r>
              <a:rPr lang="en-US" sz="1150" b="1" dirty="0">
                <a:solidFill>
                  <a:srgbClr val="6F7F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− 0×西</a:t>
            </a:r>
            <a:endParaRPr lang="en-US" sz="1150" dirty="0"/>
          </a:p>
        </p:txBody>
      </p:sp>
      <p:sp>
        <p:nvSpPr>
          <p:cNvPr id="83" name="Text 81"/>
          <p:cNvSpPr txBox="1"/>
          <p:nvPr/>
        </p:nvSpPr>
        <p:spPr>
          <a:xfrm>
            <a:off x="6355080" y="4892040"/>
            <a:ext cx="5257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建物なし − 東で減る量 − 南で減る量。0 を掛けた項（灰色）は消えるので、無い建物は結果に影響しない。棟数も n ＝ s の合計 ＝ 0＋1＋1＋0 ＝ 2 と数えられる。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55080" y="5532120"/>
            <a:ext cx="5212080" cy="658368"/>
          </a:xfrm>
          <a:prstGeom prst="roundRect">
            <a:avLst>
              <a:gd name="adj" fmla="val 6944"/>
            </a:avLst>
          </a:prstGeom>
          <a:solidFill>
            <a:srgbClr val="24365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446520" y="5550408"/>
            <a:ext cx="50292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注意：s は 0 か 1 だけ（0.5 の建物はない）ので、s の方向には補間できない。有無の組み合わせ 2⁴＝16通りを別々に扱う。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6  最終目標ツールの変数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まず考える対象：方位を北・東・南・西に固定した「4方向版」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最終目標（17変数）へ一度に進まず、方位 θ と中央の高さを固定した場合で、線形補間に必要な計算量を見積もる。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4480560" cy="4846320"/>
          </a:xfrm>
          <a:prstGeom prst="roundRect">
            <a:avLst>
              <a:gd name="adj" fmla="val 1224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17904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4方向版の平面図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17420" y="3406140"/>
            <a:ext cx="960120" cy="960120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17420" y="34061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 C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50m・高さ50m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17420" y="2034540"/>
            <a:ext cx="960120" cy="9601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17420" y="20345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北の建物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 s・高さ 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2926080" y="2994660"/>
            <a:ext cx="91" cy="411480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953512" y="3081528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95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89020" y="3406140"/>
            <a:ext cx="960120" cy="9601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89020" y="34061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東の建物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 s・高さ 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7540" y="4114800"/>
            <a:ext cx="411480" cy="91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200400" y="4133088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95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17420" y="4777740"/>
            <a:ext cx="960120" cy="9601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17420" y="47777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南の建物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 s・高さ 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4366260"/>
            <a:ext cx="91" cy="411480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953512" y="4453128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95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5820" y="3406140"/>
            <a:ext cx="960120" cy="9601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5820" y="34061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西の建物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 s・高さ 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1805940" y="4114800"/>
            <a:ext cx="411480" cy="91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828800" y="4133088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950" b="1" baseline="-40000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806440"/>
            <a:ext cx="4206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各方向に「0棟か1棟」。4方向＝必ず4棟ではない。方位は固定なので θ は変数にしない。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81328"/>
          <a:ext cx="6583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00200"/>
                <a:gridCol w="196596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第一段階（完成）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4方向版（検討）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最終目標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周囲の棟数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0〜4棟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0〜4棟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置く方位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南のみ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北・東・南・西に固定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任意（0〜360°）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中央建物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50m角・高さ50m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50m角・高さ50m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 25〜100m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変える変数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A, D（2個）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s, A, D × 4方向（12個）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連続8＋有無4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中央高さ＋(s, A, D, θ)×4（17個）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南面 × 5帯 ＝ 5個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4面 × 5帯 ＝ 20個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4面 × 5帯 ＝ 20個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予測方法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線形補間（完成）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線形補間の計算量を見積もる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空の遮られ方（代案）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166360" y="4526280"/>
            <a:ext cx="6583680" cy="1783080"/>
          </a:xfrm>
          <a:prstGeom prst="roundRect">
            <a:avLst>
              <a:gd name="adj" fmla="val 3077"/>
            </a:avLst>
          </a:prstGeom>
          <a:solidFill>
            <a:srgbClr val="FBEBD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303520" y="4617720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段階を分ける理由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303520" y="4873752"/>
            <a:ext cx="63093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4方向版で線形補間に必要な配置数・計算時間を見積もれば、17変数に広げたときの見通しが立つ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方位を固定すると、1方向ずつ見れば南と同じ「A・Dの2変数の格子」になり、南の方法の延長で考えられる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4方向版でも負担が大きいと分かれば、17変数では別の方法（空の遮られ方）が必要だと言える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なぜ4方向だと6,561通り？：各方向の選び方を掛け算するから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E893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5577840" cy="4754880"/>
          </a:xfrm>
          <a:prstGeom prst="roundRect">
            <a:avLst>
              <a:gd name="adj" fmla="val 1154"/>
            </a:avLst>
          </a:prstGeom>
          <a:solidFill>
            <a:srgbClr val="F3F5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1609344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組み合わせの数え方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196596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" y="25100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" y="22814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" y="20528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2708" y="25100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708" y="22814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2708" y="20528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1308" y="25100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1308" y="22814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1308" y="2052828"/>
            <a:ext cx="100584" cy="100584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45920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1方向の選び方 ＝ </a:t>
            </a:r>
            <a:pPr indent="0" marL="0">
              <a:buNone/>
            </a:pPr>
            <a:r>
              <a:rPr lang="en-US" sz="13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9通り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2231136"/>
            <a:ext cx="4297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高さ3通り（25・50・100m）× 距離3通り（10・25・100m）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645920" y="2468880"/>
            <a:ext cx="4297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南1棟で表を作ったときと同じ考え方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2880360"/>
            <a:ext cx="1097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9284" y="3150108"/>
            <a:ext cx="118872" cy="118872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38" name="Shape 36"/>
          <p:cNvSpPr/>
          <p:nvPr/>
        </p:nvSpPr>
        <p:spPr>
          <a:xfrm>
            <a:off x="1129284" y="2999232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9" name="Shape 37"/>
          <p:cNvSpPr/>
          <p:nvPr/>
        </p:nvSpPr>
        <p:spPr>
          <a:xfrm>
            <a:off x="1280160" y="315010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129284" y="3300984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978408" y="315010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40080" y="35021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北だけ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72821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×9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84248" y="2880360"/>
            <a:ext cx="1097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73452" y="3150108"/>
            <a:ext cx="118872" cy="118872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47" name="Shape 45"/>
          <p:cNvSpPr/>
          <p:nvPr/>
        </p:nvSpPr>
        <p:spPr>
          <a:xfrm>
            <a:off x="2473452" y="2999232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48" name="Shape 46"/>
          <p:cNvSpPr/>
          <p:nvPr/>
        </p:nvSpPr>
        <p:spPr>
          <a:xfrm>
            <a:off x="2624328" y="3150108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49" name="Shape 47"/>
          <p:cNvSpPr/>
          <p:nvPr/>
        </p:nvSpPr>
        <p:spPr>
          <a:xfrm>
            <a:off x="2473452" y="3300984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322576" y="315010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1984248" y="35021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北＋東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984248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81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307238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×9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328416" y="2880360"/>
            <a:ext cx="1097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17620" y="3150108"/>
            <a:ext cx="118872" cy="118872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56" name="Shape 54"/>
          <p:cNvSpPr/>
          <p:nvPr/>
        </p:nvSpPr>
        <p:spPr>
          <a:xfrm>
            <a:off x="3817620" y="2999232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57" name="Shape 55"/>
          <p:cNvSpPr/>
          <p:nvPr/>
        </p:nvSpPr>
        <p:spPr>
          <a:xfrm>
            <a:off x="3968496" y="3150108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58" name="Shape 56"/>
          <p:cNvSpPr/>
          <p:nvPr/>
        </p:nvSpPr>
        <p:spPr>
          <a:xfrm>
            <a:off x="3817620" y="3300984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59" name="Shape 57"/>
          <p:cNvSpPr/>
          <p:nvPr/>
        </p:nvSpPr>
        <p:spPr>
          <a:xfrm>
            <a:off x="3666744" y="315010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3328416" y="35021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北＋東＋南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328416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729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441655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72584" y="2880360"/>
            <a:ext cx="10972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61788" y="3150108"/>
            <a:ext cx="118872" cy="118872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65" name="Shape 63"/>
          <p:cNvSpPr/>
          <p:nvPr/>
        </p:nvSpPr>
        <p:spPr>
          <a:xfrm>
            <a:off x="5161788" y="2999232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66" name="Shape 64"/>
          <p:cNvSpPr/>
          <p:nvPr/>
        </p:nvSpPr>
        <p:spPr>
          <a:xfrm>
            <a:off x="5312664" y="3150108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67" name="Shape 65"/>
          <p:cNvSpPr/>
          <p:nvPr/>
        </p:nvSpPr>
        <p:spPr>
          <a:xfrm>
            <a:off x="5161788" y="3300984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68" name="Shape 66"/>
          <p:cNvSpPr/>
          <p:nvPr/>
        </p:nvSpPr>
        <p:spPr>
          <a:xfrm>
            <a:off x="5010912" y="3150108"/>
            <a:ext cx="118872" cy="118872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672584" y="3502152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4方向すべて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672584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6,561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4178808"/>
            <a:ext cx="5303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1方向増えるごとに9倍：9 → 81 → 729 → 6,561（＝9×9×9×9＝3⁸）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40080" y="4443984"/>
            <a:ext cx="5303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例：北（高さ50m・距離25m）＋東（25m・10m）＋南（100m・100m）＋西（50m・10m）で、やっと「1通り」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94360" y="4956048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BEBDA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731520" y="5001768"/>
            <a:ext cx="5029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たとえると：4桁の暗証番号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731520" y="5276088"/>
            <a:ext cx="5074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各桁が0〜9の10通り → 10×10×10×10＝10,000通り。4方向＝4桁。各方向は「建物なし＋9通り＝10通り」なので、建物なしも含めると 10⁴＝10,000配置になる。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626364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では、全部をSEBEで計算したら？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263640" y="1920240"/>
            <a:ext cx="5486400" cy="1005840"/>
          </a:xfrm>
          <a:prstGeom prst="roundRect">
            <a:avLst>
              <a:gd name="adj" fmla="val 5455"/>
            </a:avLst>
          </a:prstGeom>
          <a:solidFill>
            <a:srgbClr val="E1EEE7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400800" y="1965960"/>
            <a:ext cx="5212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できること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6400800" y="2240280"/>
            <a:ext cx="5212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南1棟と同じく、どこに入力しても周りに計算済みの点がそろうので、線形補間でツールが作れる（数学的には可能）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263640" y="306324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5E2D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400800" y="3108960"/>
            <a:ext cx="5212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かかる手間（SEBE 1回 30秒〜1分）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6400800" y="3364992"/>
            <a:ext cx="52120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6,561回 → </a:t>
            </a:r>
            <a:pPr indent="0" marL="0">
              <a:buNone/>
            </a:pPr>
            <a:r>
              <a:rPr lang="en-US" sz="2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約55〜109時間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6400800" y="3840480"/>
            <a:ext cx="5212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休まず計算しても 約2.3〜4.6日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建物なしも含めた10,000回なら 約83〜167時間（3.5〜6.9日）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入力作成・保存・失敗時の再計算・検証配置は含まない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263640" y="50749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1B2A44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400800" y="5120640"/>
            <a:ext cx="52120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4方向だけで、全部の組み合わせに数日かかる。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次のページから、線形補間でツールを作る場合の計算を具体的に見る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補間の考え方と、建物なしも数えると1万通りになる理由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F6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536192"/>
            <a:ext cx="2697480" cy="2487168"/>
          </a:xfrm>
          <a:prstGeom prst="roundRect">
            <a:avLst>
              <a:gd name="adj" fmla="val 2206"/>
            </a:avLst>
          </a:prstGeom>
          <a:solidFill>
            <a:srgbClr val="F3F5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1変数（高さAだけ）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2点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346704"/>
            <a:ext cx="2514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下側×0.6 ＋ 上側×0.4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84448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t＝0.4 なら (1−t) と 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1536192"/>
            <a:ext cx="2697480" cy="2487168"/>
          </a:xfrm>
          <a:prstGeom prst="roundRect">
            <a:avLst>
              <a:gd name="adj" fmla="val 2206"/>
            </a:avLst>
          </a:prstGeom>
          <a:solidFill>
            <a:srgbClr val="F3F5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2変数（南1棟：A・D）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4隅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346704"/>
            <a:ext cx="2514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隅の重み＝2つの割合の掛け算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584448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今回のツール（p.22）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1536192"/>
            <a:ext cx="2697480" cy="2487168"/>
          </a:xfrm>
          <a:prstGeom prst="roundRect">
            <a:avLst>
              <a:gd name="adj" fmla="val 2206"/>
            </a:avLst>
          </a:prstGeom>
          <a:solidFill>
            <a:srgbClr val="F3F5F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3変数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8隅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346704"/>
            <a:ext cx="2514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隅の重み＝3つの割合の掛け算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584448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立方体の角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61120" y="1536192"/>
            <a:ext cx="2697480" cy="2487168"/>
          </a:xfrm>
          <a:prstGeom prst="roundRect">
            <a:avLst>
              <a:gd name="adj" fmla="val 2206"/>
            </a:avLst>
          </a:prstGeom>
          <a:solidFill>
            <a:srgbClr val="FBEBD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05256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8変数（4棟：A・D×4）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2⁸＝256点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52560" y="3346704"/>
            <a:ext cx="2514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点の重み＝8つの割合の掛け算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3584448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2×2×…×2（8回）：図に描けない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" y="2423160"/>
            <a:ext cx="1874520" cy="91"/>
          </a:xfrm>
          <a:prstGeom prst="line">
            <a:avLst/>
          </a:prstGeom>
          <a:noFill/>
          <a:ln w="25400">
            <a:solidFill>
              <a:srgbClr val="AEB4B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2331720"/>
            <a:ext cx="182880" cy="182880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51760" y="2331720"/>
            <a:ext cx="182880" cy="182880"/>
          </a:xfrm>
          <a:prstGeom prst="rect">
            <a:avLst/>
          </a:prstGeom>
          <a:solidFill>
            <a:srgbClr val="1B2A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08760" y="2313432"/>
            <a:ext cx="219456" cy="219456"/>
          </a:xfrm>
          <a:prstGeom prst="star5">
            <a:avLst/>
          </a:prstGeom>
          <a:solidFill>
            <a:srgbClr val="B04A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" y="2551176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下側 L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2377440" y="2551176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上側 U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2039112"/>
            <a:ext cx="548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0.6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2468880" y="2039112"/>
            <a:ext cx="548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0.4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69848" y="2551176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入力（t＝0.4）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2743200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近い方を多く使う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24528" y="1984248"/>
            <a:ext cx="822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42232" y="1901952"/>
            <a:ext cx="164592" cy="164592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65192" y="1901952"/>
            <a:ext cx="164592" cy="164592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42232" y="2724912"/>
            <a:ext cx="164592" cy="164592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65192" y="2724912"/>
            <a:ext cx="164592" cy="164592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25696" y="2404872"/>
            <a:ext cx="201168" cy="201168"/>
          </a:xfrm>
          <a:prstGeom prst="star5">
            <a:avLst/>
          </a:prstGeom>
          <a:solidFill>
            <a:srgbClr val="B04A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04488" y="2286000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4407408" y="1737360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→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2880360"/>
            <a:ext cx="731520" cy="9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7132320" y="2148840"/>
            <a:ext cx="91" cy="7315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7132320" y="2606040"/>
            <a:ext cx="320040" cy="2743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7863840" y="2148840"/>
            <a:ext cx="91" cy="7315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7863840" y="2606040"/>
            <a:ext cx="320040" cy="2743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32320" y="2148840"/>
            <a:ext cx="731520" cy="9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7132320" y="1874520"/>
            <a:ext cx="320040" cy="2743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52360" y="2606040"/>
            <a:ext cx="731520" cy="9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452360" y="1874520"/>
            <a:ext cx="91" cy="7315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7863840" y="1874520"/>
            <a:ext cx="320040" cy="2743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8183880" y="1874520"/>
            <a:ext cx="91" cy="7315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52360" y="1874520"/>
            <a:ext cx="731520" cy="9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59168" y="280720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79208" y="253288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59168" y="207568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79208" y="180136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90688" y="280720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10728" y="253288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90688" y="207568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10728" y="1801368"/>
            <a:ext cx="146304" cy="146304"/>
          </a:xfrm>
          <a:prstGeom prst="rect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20940" y="2350008"/>
            <a:ext cx="201168" cy="201168"/>
          </a:xfrm>
          <a:prstGeom prst="star5">
            <a:avLst/>
          </a:prstGeom>
          <a:solidFill>
            <a:srgbClr val="B04A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46920" y="18745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84" name="Shape 82"/>
          <p:cNvSpPr/>
          <p:nvPr/>
        </p:nvSpPr>
        <p:spPr>
          <a:xfrm>
            <a:off x="971550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85" name="Shape 83"/>
          <p:cNvSpPr/>
          <p:nvPr/>
        </p:nvSpPr>
        <p:spPr>
          <a:xfrm>
            <a:off x="978408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86" name="Shape 84"/>
          <p:cNvSpPr/>
          <p:nvPr/>
        </p:nvSpPr>
        <p:spPr>
          <a:xfrm>
            <a:off x="985266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87" name="Shape 85"/>
          <p:cNvSpPr/>
          <p:nvPr/>
        </p:nvSpPr>
        <p:spPr>
          <a:xfrm>
            <a:off x="992124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88" name="Shape 86"/>
          <p:cNvSpPr/>
          <p:nvPr/>
        </p:nvSpPr>
        <p:spPr>
          <a:xfrm>
            <a:off x="9989820" y="18745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89" name="Shape 87"/>
          <p:cNvSpPr/>
          <p:nvPr/>
        </p:nvSpPr>
        <p:spPr>
          <a:xfrm>
            <a:off x="1005840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0" name="Shape 88"/>
          <p:cNvSpPr/>
          <p:nvPr/>
        </p:nvSpPr>
        <p:spPr>
          <a:xfrm>
            <a:off x="1012698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1" name="Shape 89"/>
          <p:cNvSpPr/>
          <p:nvPr/>
        </p:nvSpPr>
        <p:spPr>
          <a:xfrm>
            <a:off x="1019556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6414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3" name="Shape 91"/>
          <p:cNvSpPr/>
          <p:nvPr/>
        </p:nvSpPr>
        <p:spPr>
          <a:xfrm>
            <a:off x="10332720" y="18745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94" name="Shape 92"/>
          <p:cNvSpPr/>
          <p:nvPr/>
        </p:nvSpPr>
        <p:spPr>
          <a:xfrm>
            <a:off x="1040130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6988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3846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7" name="Shape 95"/>
          <p:cNvSpPr/>
          <p:nvPr/>
        </p:nvSpPr>
        <p:spPr>
          <a:xfrm>
            <a:off x="10607040" y="18745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98" name="Shape 96"/>
          <p:cNvSpPr/>
          <p:nvPr/>
        </p:nvSpPr>
        <p:spPr>
          <a:xfrm>
            <a:off x="10675620" y="18745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99" name="Shape 97"/>
          <p:cNvSpPr/>
          <p:nvPr/>
        </p:nvSpPr>
        <p:spPr>
          <a:xfrm>
            <a:off x="964692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0" name="Shape 98"/>
          <p:cNvSpPr/>
          <p:nvPr/>
        </p:nvSpPr>
        <p:spPr>
          <a:xfrm>
            <a:off x="971550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1" name="Shape 99"/>
          <p:cNvSpPr/>
          <p:nvPr/>
        </p:nvSpPr>
        <p:spPr>
          <a:xfrm>
            <a:off x="978408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85266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921240" y="19431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98982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05840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12698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19556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264140" y="19431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33272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40130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6988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53846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607040" y="19431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675620" y="19431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64692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71550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78408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852660" y="20116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92124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8982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05840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12698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195560" y="20116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26414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33272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040130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046988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538460" y="20116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60704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675620" y="20116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64692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71550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3" name="Shape 131"/>
          <p:cNvSpPr/>
          <p:nvPr/>
        </p:nvSpPr>
        <p:spPr>
          <a:xfrm>
            <a:off x="9784080" y="20802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85266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92124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98982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05840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0126980" y="20802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19556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6414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33272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40130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469880" y="20802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53846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60704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0675620" y="20802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64692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715500" y="21488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978408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85266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92124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98982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058400" y="21488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012698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019556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26414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33272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401300" y="21488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46988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53846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60704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675620" y="21488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646920" y="22174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971550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78408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85266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92124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989820" y="22174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05840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12698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19556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26414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332720" y="22174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040130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46988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53846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607040" y="22174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0675620" y="22174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64692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71550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78408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85266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3" name="Shape 181"/>
          <p:cNvSpPr/>
          <p:nvPr/>
        </p:nvSpPr>
        <p:spPr>
          <a:xfrm>
            <a:off x="9921240" y="22860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84" name="Shape 182"/>
          <p:cNvSpPr/>
          <p:nvPr/>
        </p:nvSpPr>
        <p:spPr>
          <a:xfrm>
            <a:off x="998982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005840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012698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19556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0264140" y="22860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33272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040130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046988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053846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607040" y="22860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675620" y="22860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64692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71550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7" name="Shape 195"/>
          <p:cNvSpPr/>
          <p:nvPr/>
        </p:nvSpPr>
        <p:spPr>
          <a:xfrm>
            <a:off x="978408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198" name="Shape 196"/>
          <p:cNvSpPr/>
          <p:nvPr/>
        </p:nvSpPr>
        <p:spPr>
          <a:xfrm>
            <a:off x="9852660" y="23545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92124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98982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05840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012698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0195560" y="23545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026414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33272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040130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046988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0538460" y="23545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60704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0" name="Shape 208"/>
          <p:cNvSpPr/>
          <p:nvPr/>
        </p:nvSpPr>
        <p:spPr>
          <a:xfrm>
            <a:off x="10675620" y="23545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64692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71550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3" name="Shape 211"/>
          <p:cNvSpPr/>
          <p:nvPr/>
        </p:nvSpPr>
        <p:spPr>
          <a:xfrm>
            <a:off x="9784080" y="24231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85266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92124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98982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005840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18" name="Shape 216"/>
          <p:cNvSpPr/>
          <p:nvPr/>
        </p:nvSpPr>
        <p:spPr>
          <a:xfrm>
            <a:off x="10126980" y="24231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019556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26414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033272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040130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0469880" y="24231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053846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60704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0675620" y="24231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64692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28" name="Shape 226"/>
          <p:cNvSpPr/>
          <p:nvPr/>
        </p:nvSpPr>
        <p:spPr>
          <a:xfrm>
            <a:off x="9715500" y="24917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29" name="Shape 227"/>
          <p:cNvSpPr/>
          <p:nvPr/>
        </p:nvSpPr>
        <p:spPr>
          <a:xfrm>
            <a:off x="978408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0" name="Shape 228"/>
          <p:cNvSpPr/>
          <p:nvPr/>
        </p:nvSpPr>
        <p:spPr>
          <a:xfrm>
            <a:off x="985266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1" name="Shape 229"/>
          <p:cNvSpPr/>
          <p:nvPr/>
        </p:nvSpPr>
        <p:spPr>
          <a:xfrm>
            <a:off x="992124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2" name="Shape 230"/>
          <p:cNvSpPr/>
          <p:nvPr/>
        </p:nvSpPr>
        <p:spPr>
          <a:xfrm>
            <a:off x="998982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0058400" y="24917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012698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019556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026414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033272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38" name="Shape 236"/>
          <p:cNvSpPr/>
          <p:nvPr/>
        </p:nvSpPr>
        <p:spPr>
          <a:xfrm>
            <a:off x="10401300" y="24917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39" name="Shape 237"/>
          <p:cNvSpPr/>
          <p:nvPr/>
        </p:nvSpPr>
        <p:spPr>
          <a:xfrm>
            <a:off x="1046988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053846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060704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2" name="Shape 240"/>
          <p:cNvSpPr/>
          <p:nvPr/>
        </p:nvSpPr>
        <p:spPr>
          <a:xfrm>
            <a:off x="10675620" y="24917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3" name="Shape 241"/>
          <p:cNvSpPr/>
          <p:nvPr/>
        </p:nvSpPr>
        <p:spPr>
          <a:xfrm>
            <a:off x="9646920" y="25603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71550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5" name="Shape 243"/>
          <p:cNvSpPr/>
          <p:nvPr/>
        </p:nvSpPr>
        <p:spPr>
          <a:xfrm>
            <a:off x="978408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6" name="Shape 244"/>
          <p:cNvSpPr/>
          <p:nvPr/>
        </p:nvSpPr>
        <p:spPr>
          <a:xfrm>
            <a:off x="985266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7" name="Shape 245"/>
          <p:cNvSpPr/>
          <p:nvPr/>
        </p:nvSpPr>
        <p:spPr>
          <a:xfrm>
            <a:off x="992124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989820" y="25603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005840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012698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1" name="Shape 249"/>
          <p:cNvSpPr/>
          <p:nvPr/>
        </p:nvSpPr>
        <p:spPr>
          <a:xfrm>
            <a:off x="1019556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026414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0332720" y="25603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54" name="Shape 252"/>
          <p:cNvSpPr/>
          <p:nvPr/>
        </p:nvSpPr>
        <p:spPr>
          <a:xfrm>
            <a:off x="1040130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5" name="Shape 253"/>
          <p:cNvSpPr/>
          <p:nvPr/>
        </p:nvSpPr>
        <p:spPr>
          <a:xfrm>
            <a:off x="1046988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6" name="Shape 254"/>
          <p:cNvSpPr/>
          <p:nvPr/>
        </p:nvSpPr>
        <p:spPr>
          <a:xfrm>
            <a:off x="1053846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0607040" y="25603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0675620" y="25603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64692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71550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1" name="Shape 259"/>
          <p:cNvSpPr/>
          <p:nvPr/>
        </p:nvSpPr>
        <p:spPr>
          <a:xfrm>
            <a:off x="978408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2" name="Shape 260"/>
          <p:cNvSpPr/>
          <p:nvPr/>
        </p:nvSpPr>
        <p:spPr>
          <a:xfrm>
            <a:off x="985266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3" name="Shape 261"/>
          <p:cNvSpPr/>
          <p:nvPr/>
        </p:nvSpPr>
        <p:spPr>
          <a:xfrm>
            <a:off x="9921240" y="26289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98982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5" name="Shape 263"/>
          <p:cNvSpPr/>
          <p:nvPr/>
        </p:nvSpPr>
        <p:spPr>
          <a:xfrm>
            <a:off x="1005840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6" name="Shape 264"/>
          <p:cNvSpPr/>
          <p:nvPr/>
        </p:nvSpPr>
        <p:spPr>
          <a:xfrm>
            <a:off x="1012698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7" name="Shape 265"/>
          <p:cNvSpPr/>
          <p:nvPr/>
        </p:nvSpPr>
        <p:spPr>
          <a:xfrm>
            <a:off x="1019556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0264140" y="26289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33272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0" name="Shape 268"/>
          <p:cNvSpPr/>
          <p:nvPr/>
        </p:nvSpPr>
        <p:spPr>
          <a:xfrm>
            <a:off x="1040130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1" name="Shape 269"/>
          <p:cNvSpPr/>
          <p:nvPr/>
        </p:nvSpPr>
        <p:spPr>
          <a:xfrm>
            <a:off x="1046988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2" name="Shape 270"/>
          <p:cNvSpPr/>
          <p:nvPr/>
        </p:nvSpPr>
        <p:spPr>
          <a:xfrm>
            <a:off x="1053846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0607040" y="262890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74" name="Shape 272"/>
          <p:cNvSpPr/>
          <p:nvPr/>
        </p:nvSpPr>
        <p:spPr>
          <a:xfrm>
            <a:off x="10675620" y="262890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64692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71550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7" name="Shape 275"/>
          <p:cNvSpPr/>
          <p:nvPr/>
        </p:nvSpPr>
        <p:spPr>
          <a:xfrm>
            <a:off x="978408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852660" y="26974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92124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0" name="Shape 278"/>
          <p:cNvSpPr/>
          <p:nvPr/>
        </p:nvSpPr>
        <p:spPr>
          <a:xfrm>
            <a:off x="998982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1" name="Shape 279"/>
          <p:cNvSpPr/>
          <p:nvPr/>
        </p:nvSpPr>
        <p:spPr>
          <a:xfrm>
            <a:off x="1005840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2" name="Shape 280"/>
          <p:cNvSpPr/>
          <p:nvPr/>
        </p:nvSpPr>
        <p:spPr>
          <a:xfrm>
            <a:off x="1012698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3" name="Shape 281"/>
          <p:cNvSpPr/>
          <p:nvPr/>
        </p:nvSpPr>
        <p:spPr>
          <a:xfrm>
            <a:off x="10195560" y="26974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84" name="Shape 282"/>
          <p:cNvSpPr/>
          <p:nvPr/>
        </p:nvSpPr>
        <p:spPr>
          <a:xfrm>
            <a:off x="1026414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5" name="Shape 283"/>
          <p:cNvSpPr/>
          <p:nvPr/>
        </p:nvSpPr>
        <p:spPr>
          <a:xfrm>
            <a:off x="1033272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6" name="Shape 284"/>
          <p:cNvSpPr/>
          <p:nvPr/>
        </p:nvSpPr>
        <p:spPr>
          <a:xfrm>
            <a:off x="1040130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7" name="Shape 285"/>
          <p:cNvSpPr/>
          <p:nvPr/>
        </p:nvSpPr>
        <p:spPr>
          <a:xfrm>
            <a:off x="1046988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538460" y="269748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89" name="Shape 287"/>
          <p:cNvSpPr/>
          <p:nvPr/>
        </p:nvSpPr>
        <p:spPr>
          <a:xfrm>
            <a:off x="1060704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0" name="Shape 288"/>
          <p:cNvSpPr/>
          <p:nvPr/>
        </p:nvSpPr>
        <p:spPr>
          <a:xfrm>
            <a:off x="10675620" y="269748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64692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2" name="Shape 290"/>
          <p:cNvSpPr/>
          <p:nvPr/>
        </p:nvSpPr>
        <p:spPr>
          <a:xfrm>
            <a:off x="971550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3" name="Shape 291"/>
          <p:cNvSpPr/>
          <p:nvPr/>
        </p:nvSpPr>
        <p:spPr>
          <a:xfrm>
            <a:off x="9784080" y="27660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94" name="Shape 292"/>
          <p:cNvSpPr/>
          <p:nvPr/>
        </p:nvSpPr>
        <p:spPr>
          <a:xfrm>
            <a:off x="985266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5" name="Shape 293"/>
          <p:cNvSpPr/>
          <p:nvPr/>
        </p:nvSpPr>
        <p:spPr>
          <a:xfrm>
            <a:off x="992124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6" name="Shape 294"/>
          <p:cNvSpPr/>
          <p:nvPr/>
        </p:nvSpPr>
        <p:spPr>
          <a:xfrm>
            <a:off x="998982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7" name="Shape 295"/>
          <p:cNvSpPr/>
          <p:nvPr/>
        </p:nvSpPr>
        <p:spPr>
          <a:xfrm>
            <a:off x="1005840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298" name="Shape 296"/>
          <p:cNvSpPr/>
          <p:nvPr/>
        </p:nvSpPr>
        <p:spPr>
          <a:xfrm>
            <a:off x="10126980" y="27660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99" name="Shape 297"/>
          <p:cNvSpPr/>
          <p:nvPr/>
        </p:nvSpPr>
        <p:spPr>
          <a:xfrm>
            <a:off x="1019556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0" name="Shape 298"/>
          <p:cNvSpPr/>
          <p:nvPr/>
        </p:nvSpPr>
        <p:spPr>
          <a:xfrm>
            <a:off x="1026414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1" name="Shape 299"/>
          <p:cNvSpPr/>
          <p:nvPr/>
        </p:nvSpPr>
        <p:spPr>
          <a:xfrm>
            <a:off x="1033272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2" name="Shape 300"/>
          <p:cNvSpPr/>
          <p:nvPr/>
        </p:nvSpPr>
        <p:spPr>
          <a:xfrm>
            <a:off x="1040130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3" name="Shape 301"/>
          <p:cNvSpPr/>
          <p:nvPr/>
        </p:nvSpPr>
        <p:spPr>
          <a:xfrm>
            <a:off x="10469880" y="276606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04" name="Shape 302"/>
          <p:cNvSpPr/>
          <p:nvPr/>
        </p:nvSpPr>
        <p:spPr>
          <a:xfrm>
            <a:off x="1053846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5" name="Shape 303"/>
          <p:cNvSpPr/>
          <p:nvPr/>
        </p:nvSpPr>
        <p:spPr>
          <a:xfrm>
            <a:off x="1060704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6" name="Shape 304"/>
          <p:cNvSpPr/>
          <p:nvPr/>
        </p:nvSpPr>
        <p:spPr>
          <a:xfrm>
            <a:off x="10675620" y="276606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7" name="Shape 305"/>
          <p:cNvSpPr/>
          <p:nvPr/>
        </p:nvSpPr>
        <p:spPr>
          <a:xfrm>
            <a:off x="964692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08" name="Shape 306"/>
          <p:cNvSpPr/>
          <p:nvPr/>
        </p:nvSpPr>
        <p:spPr>
          <a:xfrm>
            <a:off x="9715500" y="28346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09" name="Shape 307"/>
          <p:cNvSpPr/>
          <p:nvPr/>
        </p:nvSpPr>
        <p:spPr>
          <a:xfrm>
            <a:off x="978408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0" name="Shape 308"/>
          <p:cNvSpPr/>
          <p:nvPr/>
        </p:nvSpPr>
        <p:spPr>
          <a:xfrm>
            <a:off x="985266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1" name="Shape 309"/>
          <p:cNvSpPr/>
          <p:nvPr/>
        </p:nvSpPr>
        <p:spPr>
          <a:xfrm>
            <a:off x="992124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2" name="Shape 310"/>
          <p:cNvSpPr/>
          <p:nvPr/>
        </p:nvSpPr>
        <p:spPr>
          <a:xfrm>
            <a:off x="998982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3" name="Shape 311"/>
          <p:cNvSpPr/>
          <p:nvPr/>
        </p:nvSpPr>
        <p:spPr>
          <a:xfrm>
            <a:off x="10058400" y="28346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14" name="Shape 312"/>
          <p:cNvSpPr/>
          <p:nvPr/>
        </p:nvSpPr>
        <p:spPr>
          <a:xfrm>
            <a:off x="1012698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5" name="Shape 313"/>
          <p:cNvSpPr/>
          <p:nvPr/>
        </p:nvSpPr>
        <p:spPr>
          <a:xfrm>
            <a:off x="1019556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6" name="Shape 314"/>
          <p:cNvSpPr/>
          <p:nvPr/>
        </p:nvSpPr>
        <p:spPr>
          <a:xfrm>
            <a:off x="1026414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7" name="Shape 315"/>
          <p:cNvSpPr/>
          <p:nvPr/>
        </p:nvSpPr>
        <p:spPr>
          <a:xfrm>
            <a:off x="1033272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0401300" y="283464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046988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053846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1" name="Shape 319"/>
          <p:cNvSpPr/>
          <p:nvPr/>
        </p:nvSpPr>
        <p:spPr>
          <a:xfrm>
            <a:off x="1060704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2" name="Shape 320"/>
          <p:cNvSpPr/>
          <p:nvPr/>
        </p:nvSpPr>
        <p:spPr>
          <a:xfrm>
            <a:off x="10675620" y="283464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3" name="Shape 321"/>
          <p:cNvSpPr/>
          <p:nvPr/>
        </p:nvSpPr>
        <p:spPr>
          <a:xfrm>
            <a:off x="9646920" y="29032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971550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5" name="Shape 323"/>
          <p:cNvSpPr/>
          <p:nvPr/>
        </p:nvSpPr>
        <p:spPr>
          <a:xfrm>
            <a:off x="978408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85266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92124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989820" y="29032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05840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012698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1" name="Shape 329"/>
          <p:cNvSpPr/>
          <p:nvPr/>
        </p:nvSpPr>
        <p:spPr>
          <a:xfrm>
            <a:off x="1019556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2" name="Shape 330"/>
          <p:cNvSpPr/>
          <p:nvPr/>
        </p:nvSpPr>
        <p:spPr>
          <a:xfrm>
            <a:off x="1026414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3" name="Shape 331"/>
          <p:cNvSpPr/>
          <p:nvPr/>
        </p:nvSpPr>
        <p:spPr>
          <a:xfrm>
            <a:off x="10332720" y="29032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34" name="Shape 332"/>
          <p:cNvSpPr/>
          <p:nvPr/>
        </p:nvSpPr>
        <p:spPr>
          <a:xfrm>
            <a:off x="1040130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46988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53846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7" name="Shape 335"/>
          <p:cNvSpPr/>
          <p:nvPr/>
        </p:nvSpPr>
        <p:spPr>
          <a:xfrm>
            <a:off x="10607040" y="2903220"/>
            <a:ext cx="57607" cy="57607"/>
          </a:xfrm>
          <a:prstGeom prst="rect">
            <a:avLst/>
          </a:prstGeom>
          <a:solidFill>
            <a:srgbClr val="F2BE92"/>
          </a:solidFill>
          <a:ln/>
        </p:spPr>
      </p:sp>
      <p:sp>
        <p:nvSpPr>
          <p:cNvPr id="338" name="Shape 336"/>
          <p:cNvSpPr/>
          <p:nvPr/>
        </p:nvSpPr>
        <p:spPr>
          <a:xfrm>
            <a:off x="10675620" y="2903220"/>
            <a:ext cx="57607" cy="57607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39" name="Shape 337"/>
          <p:cNvSpPr/>
          <p:nvPr/>
        </p:nvSpPr>
        <p:spPr>
          <a:xfrm>
            <a:off x="457200" y="4160520"/>
            <a:ext cx="5760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340" name="Text 338"/>
          <p:cNvSpPr txBox="1"/>
          <p:nvPr/>
        </p:nvSpPr>
        <p:spPr>
          <a:xfrm>
            <a:off x="59436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建物なしも数えると、1方向の選び方は10通り</a:t>
            </a:r>
            <a:endParaRPr lang="en-US" sz="1100" dirty="0"/>
          </a:p>
        </p:txBody>
      </p:sp>
      <p:sp>
        <p:nvSpPr>
          <p:cNvPr id="341" name="Shape 339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C"/>
            </a:solidFill>
            <a:prstDash val="dash"/>
          </a:ln>
        </p:spPr>
      </p:sp>
      <p:sp>
        <p:nvSpPr>
          <p:cNvPr id="342" name="Text 340"/>
          <p:cNvSpPr txBox="1"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s＝0</a:t>
            </a:r>
            <a:endParaRPr lang="en-US" sz="900" dirty="0"/>
          </a:p>
        </p:txBody>
      </p:sp>
      <p:sp>
        <p:nvSpPr>
          <p:cNvPr id="343" name="Text 341"/>
          <p:cNvSpPr txBox="1"/>
          <p:nvPr/>
        </p:nvSpPr>
        <p:spPr>
          <a:xfrm>
            <a:off x="640080" y="534924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1通り</a:t>
            </a:r>
            <a:endParaRPr lang="en-US" sz="950" dirty="0"/>
          </a:p>
        </p:txBody>
      </p:sp>
      <p:sp>
        <p:nvSpPr>
          <p:cNvPr id="344" name="Text 342"/>
          <p:cNvSpPr txBox="1"/>
          <p:nvPr/>
        </p:nvSpPr>
        <p:spPr>
          <a:xfrm>
            <a:off x="141732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1600" dirty="0"/>
          </a:p>
        </p:txBody>
      </p:sp>
      <p:sp>
        <p:nvSpPr>
          <p:cNvPr id="345" name="Shape 343"/>
          <p:cNvSpPr/>
          <p:nvPr/>
        </p:nvSpPr>
        <p:spPr>
          <a:xfrm>
            <a:off x="2148840" y="510235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46" name="Shape 344"/>
          <p:cNvSpPr/>
          <p:nvPr/>
        </p:nvSpPr>
        <p:spPr>
          <a:xfrm>
            <a:off x="2459736" y="510235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47" name="Shape 345"/>
          <p:cNvSpPr/>
          <p:nvPr/>
        </p:nvSpPr>
        <p:spPr>
          <a:xfrm>
            <a:off x="2770632" y="510235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48" name="Shape 346"/>
          <p:cNvSpPr/>
          <p:nvPr/>
        </p:nvSpPr>
        <p:spPr>
          <a:xfrm>
            <a:off x="2148840" y="482803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49" name="Shape 347"/>
          <p:cNvSpPr/>
          <p:nvPr/>
        </p:nvSpPr>
        <p:spPr>
          <a:xfrm>
            <a:off x="2459736" y="482803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0" name="Shape 348"/>
          <p:cNvSpPr/>
          <p:nvPr/>
        </p:nvSpPr>
        <p:spPr>
          <a:xfrm>
            <a:off x="2770632" y="482803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1" name="Shape 349"/>
          <p:cNvSpPr/>
          <p:nvPr/>
        </p:nvSpPr>
        <p:spPr>
          <a:xfrm>
            <a:off x="2148840" y="455371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2" name="Shape 350"/>
          <p:cNvSpPr/>
          <p:nvPr/>
        </p:nvSpPr>
        <p:spPr>
          <a:xfrm>
            <a:off x="2459736" y="455371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3" name="Shape 351"/>
          <p:cNvSpPr/>
          <p:nvPr/>
        </p:nvSpPr>
        <p:spPr>
          <a:xfrm>
            <a:off x="2770632" y="4553712"/>
            <a:ext cx="274320" cy="23774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354" name="Text 352"/>
          <p:cNvSpPr txBox="1"/>
          <p:nvPr/>
        </p:nvSpPr>
        <p:spPr>
          <a:xfrm>
            <a:off x="1737360" y="51023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800" dirty="0"/>
          </a:p>
        </p:txBody>
      </p:sp>
      <p:sp>
        <p:nvSpPr>
          <p:cNvPr id="355" name="Text 353"/>
          <p:cNvSpPr txBox="1"/>
          <p:nvPr/>
        </p:nvSpPr>
        <p:spPr>
          <a:xfrm>
            <a:off x="1737360" y="482803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800" dirty="0"/>
          </a:p>
        </p:txBody>
      </p:sp>
      <p:sp>
        <p:nvSpPr>
          <p:cNvPr id="356" name="Text 354"/>
          <p:cNvSpPr txBox="1"/>
          <p:nvPr/>
        </p:nvSpPr>
        <p:spPr>
          <a:xfrm>
            <a:off x="1737360" y="45537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357" name="Text 355"/>
          <p:cNvSpPr txBox="1"/>
          <p:nvPr/>
        </p:nvSpPr>
        <p:spPr>
          <a:xfrm>
            <a:off x="2148840" y="5376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58" name="Text 356"/>
          <p:cNvSpPr txBox="1"/>
          <p:nvPr/>
        </p:nvSpPr>
        <p:spPr>
          <a:xfrm>
            <a:off x="2459736" y="5376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800" dirty="0"/>
          </a:p>
        </p:txBody>
      </p:sp>
      <p:sp>
        <p:nvSpPr>
          <p:cNvPr id="359" name="Text 357"/>
          <p:cNvSpPr txBox="1"/>
          <p:nvPr/>
        </p:nvSpPr>
        <p:spPr>
          <a:xfrm>
            <a:off x="2770632" y="5376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360" name="Text 358"/>
          <p:cNvSpPr txBox="1"/>
          <p:nvPr/>
        </p:nvSpPr>
        <p:spPr>
          <a:xfrm>
            <a:off x="1737360" y="5559552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高さA↑ 隙間D→</a:t>
            </a:r>
            <a:endParaRPr lang="en-US" sz="750" dirty="0"/>
          </a:p>
        </p:txBody>
      </p:sp>
      <p:sp>
        <p:nvSpPr>
          <p:cNvPr id="361" name="Text 359"/>
          <p:cNvSpPr txBox="1"/>
          <p:nvPr/>
        </p:nvSpPr>
        <p:spPr>
          <a:xfrm>
            <a:off x="306324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 9通り</a:t>
            </a:r>
            <a:endParaRPr lang="en-US" sz="950" dirty="0"/>
          </a:p>
        </p:txBody>
      </p:sp>
      <p:sp>
        <p:nvSpPr>
          <p:cNvPr id="362" name="Text 360"/>
          <p:cNvSpPr txBox="1"/>
          <p:nvPr/>
        </p:nvSpPr>
        <p:spPr>
          <a:xfrm>
            <a:off x="3840480" y="4754880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10通り</a:t>
            </a:r>
            <a:endParaRPr lang="en-US" sz="1400" dirty="0"/>
          </a:p>
        </p:txBody>
      </p:sp>
      <p:sp>
        <p:nvSpPr>
          <p:cNvPr id="363" name="Shape 361"/>
          <p:cNvSpPr/>
          <p:nvPr/>
        </p:nvSpPr>
        <p:spPr>
          <a:xfrm>
            <a:off x="640080" y="577900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BEBDA"/>
          </a:solidFill>
          <a:ln/>
        </p:spPr>
      </p:sp>
      <p:sp>
        <p:nvSpPr>
          <p:cNvPr id="364" name="Text 362"/>
          <p:cNvSpPr txBox="1"/>
          <p:nvPr/>
        </p:nvSpPr>
        <p:spPr>
          <a:xfrm>
            <a:off x="731520" y="5779008"/>
            <a:ext cx="5212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北10 × 東10 × 南10 × 西10 ＝ 10,000配置（4桁の暗証番号と同じ）</a:t>
            </a:r>
            <a:endParaRPr lang="en-US" sz="1050" dirty="0"/>
          </a:p>
        </p:txBody>
      </p:sp>
      <p:sp>
        <p:nvSpPr>
          <p:cNvPr id="365" name="Text 363"/>
          <p:cNvSpPr txBox="1"/>
          <p:nvPr/>
        </p:nvSpPr>
        <p:spPr>
          <a:xfrm>
            <a:off x="6400800" y="4160520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10,000配置の内訳（棟数ごと）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462272"/>
          <a:ext cx="5349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08760"/>
                <a:gridCol w="146304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置く棟数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方向の選び方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高さ・距離の選び方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配置数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1通り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4通り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4×9＝36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6通り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9×9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6×81＝486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4通り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9×9×9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4×729＝2,916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4棟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1通り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9⁴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6,561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16通り（有無の組）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具体例：東と南に建物があるとき、南面・帯1をどう計算するか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F6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4206240" cy="2331720"/>
          </a:xfrm>
          <a:prstGeom prst="roundRect">
            <a:avLst>
              <a:gd name="adj" fmla="val 2353"/>
            </a:avLst>
          </a:prstGeom>
          <a:solidFill>
            <a:srgbClr val="F3F5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1600200"/>
            <a:ext cx="27432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上から見た図（入力）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84248" y="2560320"/>
            <a:ext cx="512064" cy="512064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984248" y="3226003"/>
            <a:ext cx="512064" cy="512064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01138" y="2560320"/>
            <a:ext cx="512064" cy="512064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84248" y="1894637"/>
            <a:ext cx="512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AEB4B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18565" y="2560320"/>
            <a:ext cx="512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AEB4B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984248" y="3044952"/>
            <a:ext cx="512064" cy="54864"/>
          </a:xfrm>
          <a:prstGeom prst="rect">
            <a:avLst/>
          </a:prstGeom>
          <a:solidFill>
            <a:srgbClr val="B04A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98424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984248" y="322600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A35m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D15m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70113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A40m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D20m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2542032" y="1986077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北：なし s＝0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318565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西：なし s＝0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━ 計算する壁：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南面・帯1（0〜10m）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4206240" cy="2331720"/>
          </a:xfrm>
          <a:prstGeom prst="roundRect">
            <a:avLst>
              <a:gd name="adj" fmla="val 2353"/>
            </a:avLst>
          </a:prstGeom>
          <a:solidFill>
            <a:srgbClr val="F3F5F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4360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斜めから見た図（どの壁の値か）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54292" y="4697017"/>
            <a:ext cx="1293144" cy="646664"/>
          </a:xfrm>
          <a:custGeom>
            <a:avLst/>
            <a:gdLst/>
            <a:ahLst/>
            <a:cxnLst/>
            <a:rect l="l" t="t" r="r" b="b"/>
            <a:pathLst>
              <a:path w="1293144" h="646664">
                <a:moveTo>
                  <a:pt x="0" y="323332"/>
                </a:moveTo>
                <a:lnTo>
                  <a:pt x="646572" y="646664"/>
                </a:lnTo>
                <a:lnTo>
                  <a:pt x="1293144" y="323332"/>
                </a:lnTo>
                <a:lnTo>
                  <a:pt x="646572" y="0"/>
                </a:lnTo>
                <a:close/>
              </a:path>
            </a:pathLst>
          </a:custGeom>
          <a:ln w="9525">
            <a:solidFill>
              <a:srgbClr val="6B748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73204" y="4697017"/>
            <a:ext cx="1293144" cy="646664"/>
          </a:xfrm>
          <a:custGeom>
            <a:avLst/>
            <a:gdLst/>
            <a:ahLst/>
            <a:cxnLst/>
            <a:rect l="l" t="t" r="r" b="b"/>
            <a:pathLst>
              <a:path w="1293144" h="646664">
                <a:moveTo>
                  <a:pt x="0" y="323332"/>
                </a:moveTo>
                <a:lnTo>
                  <a:pt x="646572" y="646664"/>
                </a:lnTo>
                <a:lnTo>
                  <a:pt x="1293144" y="323332"/>
                </a:lnTo>
                <a:lnTo>
                  <a:pt x="646572" y="0"/>
                </a:lnTo>
                <a:close/>
              </a:path>
            </a:pathLst>
          </a:custGeom>
          <a:ln w="9525">
            <a:solidFill>
              <a:srgbClr val="6B748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913748" y="4248668"/>
            <a:ext cx="1293144" cy="646664"/>
          </a:xfrm>
          <a:custGeom>
            <a:avLst/>
            <a:gdLst/>
            <a:ahLst/>
            <a:cxnLst/>
            <a:rect l="l" t="t" r="r" b="b"/>
            <a:pathLst>
              <a:path w="1293144" h="646664">
                <a:moveTo>
                  <a:pt x="0" y="323332"/>
                </a:moveTo>
                <a:lnTo>
                  <a:pt x="646572" y="646664"/>
                </a:lnTo>
                <a:lnTo>
                  <a:pt x="1293144" y="323332"/>
                </a:lnTo>
                <a:lnTo>
                  <a:pt x="646572" y="0"/>
                </a:lnTo>
                <a:close/>
              </a:path>
            </a:pathLst>
          </a:custGeom>
          <a:solidFill>
            <a:srgbClr val="4A5F8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13748" y="5266944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173736"/>
                </a:moveTo>
                <a:lnTo>
                  <a:pt x="646572" y="49706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B04A3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5266944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497068"/>
                </a:moveTo>
                <a:lnTo>
                  <a:pt x="646572" y="17373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8FA0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13748" y="5093208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173736"/>
                </a:moveTo>
                <a:lnTo>
                  <a:pt x="646572" y="49706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B8C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5093208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497068"/>
                </a:moveTo>
                <a:lnTo>
                  <a:pt x="646572" y="17373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8FA0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13748" y="4919472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173736"/>
                </a:moveTo>
                <a:lnTo>
                  <a:pt x="646572" y="49706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B8C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0" y="4919472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497068"/>
                </a:moveTo>
                <a:lnTo>
                  <a:pt x="646572" y="17373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8FA0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13748" y="4745736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173736"/>
                </a:moveTo>
                <a:lnTo>
                  <a:pt x="646572" y="49706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B8C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4745736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497068"/>
                </a:moveTo>
                <a:lnTo>
                  <a:pt x="646572" y="17373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8FA0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13748" y="4572000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173736"/>
                </a:moveTo>
                <a:lnTo>
                  <a:pt x="646572" y="49706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B8C3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4572000"/>
            <a:ext cx="646572" cy="497068"/>
          </a:xfrm>
          <a:custGeom>
            <a:avLst/>
            <a:gdLst/>
            <a:ahLst/>
            <a:cxnLst/>
            <a:rect l="l" t="t" r="r" b="b"/>
            <a:pathLst>
              <a:path w="646572" h="497068">
                <a:moveTo>
                  <a:pt x="0" y="497068"/>
                </a:moveTo>
                <a:lnTo>
                  <a:pt x="646572" y="17373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8FA0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3204" y="4929604"/>
            <a:ext cx="1293144" cy="646664"/>
          </a:xfrm>
          <a:custGeom>
            <a:avLst/>
            <a:gdLst/>
            <a:ahLst/>
            <a:cxnLst/>
            <a:rect l="l" t="t" r="r" b="b"/>
            <a:pathLst>
              <a:path w="1293144" h="646664">
                <a:moveTo>
                  <a:pt x="0" y="323332"/>
                </a:moveTo>
                <a:lnTo>
                  <a:pt x="646572" y="646664"/>
                </a:lnTo>
                <a:lnTo>
                  <a:pt x="1293144" y="323332"/>
                </a:lnTo>
                <a:lnTo>
                  <a:pt x="646572" y="0"/>
                </a:lnTo>
                <a:close/>
              </a:path>
            </a:pathLst>
          </a:custGeom>
          <a:solidFill>
            <a:srgbClr val="1F6F78">
              <a:alpha val="30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3204" y="5252935"/>
            <a:ext cx="646572" cy="931408"/>
          </a:xfrm>
          <a:custGeom>
            <a:avLst/>
            <a:gdLst/>
            <a:ahLst/>
            <a:cxnLst/>
            <a:rect l="l" t="t" r="r" b="b"/>
            <a:pathLst>
              <a:path w="646572" h="931408">
                <a:moveTo>
                  <a:pt x="0" y="608076"/>
                </a:moveTo>
                <a:lnTo>
                  <a:pt x="646572" y="931408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1F6F78">
              <a:alpha val="30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19776" y="5252935"/>
            <a:ext cx="646572" cy="931408"/>
          </a:xfrm>
          <a:custGeom>
            <a:avLst/>
            <a:gdLst/>
            <a:ahLst/>
            <a:cxnLst/>
            <a:rect l="l" t="t" r="r" b="b"/>
            <a:pathLst>
              <a:path w="646572" h="931408">
                <a:moveTo>
                  <a:pt x="0" y="931408"/>
                </a:moveTo>
                <a:lnTo>
                  <a:pt x="646572" y="608076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1F6F78">
              <a:alpha val="30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18949" y="4875069"/>
            <a:ext cx="1293144" cy="646664"/>
          </a:xfrm>
          <a:custGeom>
            <a:avLst/>
            <a:gdLst/>
            <a:ahLst/>
            <a:cxnLst/>
            <a:rect l="l" t="t" r="r" b="b"/>
            <a:pathLst>
              <a:path w="1293144" h="646664">
                <a:moveTo>
                  <a:pt x="0" y="323332"/>
                </a:moveTo>
                <a:lnTo>
                  <a:pt x="646572" y="646664"/>
                </a:lnTo>
                <a:lnTo>
                  <a:pt x="1293144" y="323332"/>
                </a:lnTo>
                <a:lnTo>
                  <a:pt x="646572" y="0"/>
                </a:lnTo>
                <a:close/>
              </a:path>
            </a:pathLst>
          </a:custGeom>
          <a:solidFill>
            <a:srgbClr val="F2C4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18949" y="5198401"/>
            <a:ext cx="646572" cy="1018276"/>
          </a:xfrm>
          <a:custGeom>
            <a:avLst/>
            <a:gdLst/>
            <a:ahLst/>
            <a:cxnLst/>
            <a:rect l="l" t="t" r="r" b="b"/>
            <a:pathLst>
              <a:path w="646572" h="1018276">
                <a:moveTo>
                  <a:pt x="0" y="694944"/>
                </a:moveTo>
                <a:lnTo>
                  <a:pt x="646572" y="1018276"/>
                </a:lnTo>
                <a:lnTo>
                  <a:pt x="646572" y="323332"/>
                </a:lnTo>
                <a:lnTo>
                  <a:pt x="0" y="0"/>
                </a:lnTo>
                <a:close/>
              </a:path>
            </a:pathLst>
          </a:cu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65521" y="5198401"/>
            <a:ext cx="646572" cy="1018276"/>
          </a:xfrm>
          <a:custGeom>
            <a:avLst/>
            <a:gdLst/>
            <a:ahLst/>
            <a:cxnLst/>
            <a:rect l="l" t="t" r="r" b="b"/>
            <a:pathLst>
              <a:path w="646572" h="1018276">
                <a:moveTo>
                  <a:pt x="0" y="1018276"/>
                </a:moveTo>
                <a:lnTo>
                  <a:pt x="646572" y="694944"/>
                </a:lnTo>
                <a:lnTo>
                  <a:pt x="646572" y="0"/>
                </a:lnTo>
                <a:lnTo>
                  <a:pt x="0" y="323332"/>
                </a:lnTo>
                <a:close/>
              </a:path>
            </a:pathLst>
          </a:custGeom>
          <a:solidFill>
            <a:srgbClr val="C56A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90324" y="5879299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南の建物（透かして表示）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725028" y="4668012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南面・帯1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547988" y="4850892"/>
            <a:ext cx="411480" cy="457200"/>
          </a:xfrm>
          <a:prstGeom prst="line">
            <a:avLst/>
          </a:prstGeom>
          <a:noFill/>
          <a:ln w="9525">
            <a:solidFill>
              <a:srgbClr val="B04A3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651760" y="605332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他の19個（4面×5帯）も同じ手順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48920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有無 </a:t>
            </a:r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s＝(北0, 東1, 南1, 西0) → 16個の表のうち「東と南がある表」を使う。補間する変数は A東・D東・A南・D南 の4つ → 使う点は 2⁴＝16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89204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位置 t </a:t>
            </a:r>
            <a:pPr indent="0" marL="0">
              <a:buNone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（格子：高さ 25・50m，隙間 10・25m）南：高さ (35−25)÷25＝0.4，隙間 (15−10)÷15＝1/3 ／ 東：高さ 0.6，隙間 2/3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92040" y="2487168"/>
            <a:ext cx="6858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16点の重み ＝ 南の隅の重み × 東の隅の重み（1マス＝東と南を同時に置いた1配置）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92040" y="2761488"/>
            <a:ext cx="1417320" cy="548640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892040" y="27614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南の隅 ＼ 東の隅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09360" y="2761488"/>
            <a:ext cx="1078992" cy="54864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309360" y="27614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(25,10)</a:t>
            </a:r>
            <a:endParaRPr lang="en-US" sz="9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×0.133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06640" y="2761488"/>
            <a:ext cx="1078992" cy="54864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406640" y="27614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(25,25)</a:t>
            </a:r>
            <a:endParaRPr lang="en-US" sz="9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×0.267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503920" y="2761488"/>
            <a:ext cx="1078992" cy="54864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503920" y="27614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(50,10)</a:t>
            </a:r>
            <a:endParaRPr lang="en-US" sz="9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×0.200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601200" y="2761488"/>
            <a:ext cx="1078992" cy="54864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601200" y="2761488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(50,25)</a:t>
            </a:r>
            <a:endParaRPr lang="en-US" sz="9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×0.400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892040" y="3328416"/>
            <a:ext cx="1417320" cy="2743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9204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(25,10) ×0.400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9360" y="3328416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309360" y="3328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0.053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406640" y="3328416"/>
            <a:ext cx="1078992" cy="274320"/>
          </a:xfrm>
          <a:prstGeom prst="rect">
            <a:avLst/>
          </a:prstGeom>
          <a:solidFill>
            <a:srgbClr val="F6E3D2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7406640" y="3328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0.107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03920" y="3328416"/>
            <a:ext cx="1078992" cy="274320"/>
          </a:xfrm>
          <a:prstGeom prst="rect">
            <a:avLst/>
          </a:prstGeom>
          <a:solidFill>
            <a:srgbClr val="F6E3D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503920" y="3328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0.080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601200" y="3328416"/>
            <a:ext cx="1078992" cy="274320"/>
          </a:xfrm>
          <a:prstGeom prst="rect">
            <a:avLst/>
          </a:prstGeom>
          <a:solidFill>
            <a:srgbClr val="FBEBDA"/>
          </a:solidFill>
          <a:ln w="15875">
            <a:solidFill>
              <a:srgbClr val="B04A3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601200" y="3328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0.160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892040" y="3621024"/>
            <a:ext cx="1417320" cy="2743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4892040" y="3621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(25,25) ×0.200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09360" y="3621024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309360" y="3621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0.027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406640" y="3621024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406640" y="3621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0.053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503920" y="3621024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8503920" y="3621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0.040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9601200" y="3621024"/>
            <a:ext cx="1078992" cy="274320"/>
          </a:xfrm>
          <a:prstGeom prst="rect">
            <a:avLst/>
          </a:prstGeom>
          <a:solidFill>
            <a:srgbClr val="F6E3D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9601200" y="36210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0.080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892040" y="3913632"/>
            <a:ext cx="1417320" cy="2743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489204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(50,10) ×0.267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09360" y="3913632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6309360" y="39136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0.036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406640" y="3913632"/>
            <a:ext cx="1078992" cy="274320"/>
          </a:xfrm>
          <a:prstGeom prst="rect">
            <a:avLst/>
          </a:prstGeom>
          <a:solidFill>
            <a:srgbClr val="F6E3D2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7406640" y="39136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0.071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503920" y="3913632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8503920" y="39136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0.053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9601200" y="3913632"/>
            <a:ext cx="1078992" cy="274320"/>
          </a:xfrm>
          <a:prstGeom prst="rect">
            <a:avLst/>
          </a:prstGeom>
          <a:solidFill>
            <a:srgbClr val="F6E3D2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9601200" y="39136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0.107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4892040" y="4206240"/>
            <a:ext cx="1417320" cy="27432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4892040" y="4206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(50,25) ×0.133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309360" y="4206240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6309360" y="42062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0.018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406640" y="4206240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7406640" y="42062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0.036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503920" y="4206240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8503920" y="42062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0.027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9601200" y="4206240"/>
            <a:ext cx="1078992" cy="2743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9601200" y="420624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0.053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10058400" y="4517136"/>
            <a:ext cx="1691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16マスの重みの合計 ＝ 1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892040" y="4754880"/>
            <a:ext cx="6858000" cy="155448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5029200" y="4791456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南面・帯1 ＝ 16マスの「重み × そのマスの配置の保存値」を全部足す</a:t>
            </a:r>
            <a:endParaRPr lang="en-US" sz="1050" dirty="0"/>
          </a:p>
        </p:txBody>
      </p:sp>
      <p:sp>
        <p:nvSpPr>
          <p:cNvPr id="116" name="Text 114"/>
          <p:cNvSpPr txBox="1"/>
          <p:nvPr/>
        </p:nvSpPr>
        <p:spPr>
          <a:xfrm>
            <a:off x="5029200" y="5047488"/>
            <a:ext cx="6583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indent="0" marL="0">
              <a:buNone/>
            </a:pPr>
            <a:r>
              <a:rPr lang="en-US" sz="120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南面,1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</a:t>
            </a:r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Σ</a:t>
            </a:r>
            <a:pPr indent="0" marL="0">
              <a:buNone/>
            </a:pPr>
            <a:r>
              <a:rPr lang="en-US" sz="1200" b="1" baseline="-40000" dirty="0">
                <a:solidFill>
                  <a:srgbClr val="F2A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b∈｛0,1｝⁴</a:t>
            </a:r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[ Π</a:t>
            </a:r>
            <a:pPr indent="0" marL="0">
              <a:buNone/>
            </a:pPr>
            <a:r>
              <a:rPr lang="en-US" sz="1200" b="1" baseline="-40000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i=1</a:t>
            </a:r>
            <a:pPr indent="0" marL="0">
              <a:buNone/>
            </a:pPr>
            <a:r>
              <a:rPr lang="en-US" sz="1200" b="1" baseline="30000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q</a:t>
            </a:r>
            <a:pPr indent="0" marL="0">
              <a:buNone/>
            </a:pPr>
            <a:r>
              <a:rPr lang="en-US" sz="1200" b="1" baseline="-40000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(b</a:t>
            </a:r>
            <a:pPr indent="0" marL="0">
              <a:buNone/>
            </a:pPr>
            <a:r>
              <a:rPr lang="en-US" sz="1200" b="1" baseline="-40000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] </a:t>
            </a:r>
            <a:pPr indent="0" marL="0">
              <a:buNone/>
            </a:pPr>
            <a:r>
              <a:rPr lang="en-US" sz="1200" b="1" dirty="0">
                <a:solidFill>
                  <a:srgbClr val="F2D1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y</a:t>
            </a:r>
            <a:pPr indent="0" marL="0">
              <a:buNone/>
            </a:pPr>
            <a:r>
              <a:rPr lang="en-US" sz="1200" b="1" baseline="-40000" dirty="0">
                <a:solidFill>
                  <a:srgbClr val="F2D1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5029200" y="5340096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　 ＝ 0.053×y</a:t>
            </a:r>
            <a:pPr indent="0" marL="0"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＋ 0.107×y</a:t>
            </a:r>
            <a:pPr indent="0" marL="0"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＋ 0.080×y</a:t>
            </a:r>
            <a:pPr indent="0" marL="0"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＋ … ＋ 0.053×y</a:t>
            </a:r>
            <a:pPr indent="0" marL="0">
              <a:buNone/>
            </a:pPr>
            <a:r>
              <a:rPr lang="en-US" sz="1050" b="1" baseline="-40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118" name="Text 116"/>
          <p:cNvSpPr txBox="1"/>
          <p:nvPr/>
        </p:nvSpPr>
        <p:spPr>
          <a:xfrm>
            <a:off x="5029200" y="5614416"/>
            <a:ext cx="66294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2D1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例：赤枠のマス（南(25,10)・東(50,25)）の重み 0.400×0.400＝0.160。保存値が仮に600なら 0.160×600＝96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 は「東と南を同時に置いた配置」のSEBE値。重みは20個の出力で共通で、面・帯ごとに y だけ変わる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4棟あると、この表が 4×4×4×4＝256マス（次のページ）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4棟なら：4方向すべて高さ35m・隙間15mで、256配置を平均する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F6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5394960" cy="4754880"/>
          </a:xfrm>
          <a:prstGeom prst="roundRect">
            <a:avLst>
              <a:gd name="adj" fmla="val 1154"/>
            </a:avLst>
          </a:prstGeom>
          <a:solidFill>
            <a:srgbClr val="F3F5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1609344"/>
            <a:ext cx="5120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1方向あたりの計算（説明用の格子）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下側 L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 x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上側 U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 t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高さ 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隙間 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 m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1/3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94360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pPr indent="0" marL="0">
              <a:buNone/>
            </a:pPr>
            <a:r>
              <a:rPr lang="en-US" sz="10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(35 − 25) ÷ (50 − 25) ＝ 0.4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pPr indent="0" marL="0">
              <a:buNone/>
            </a:pPr>
            <a:r>
              <a:rPr lang="en-US" sz="105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pPr indent="0" marL="0">
              <a:buNone/>
            </a:pPr>
            <a:r>
              <a:rPr lang="en-US" sz="10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(15 − 10) ÷ (25 − 10) ＝ 1/3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隅（高さ, 隙間）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(25, 10)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(1−0.4) × (1−1/3) ＝ 0.6 × 2/3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(25, 25)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 × 1/3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(50, 10)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 × 2/3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(50, 25)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 × 1/3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0.133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9436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1方向で4通りの隅があり、4方向それぞれが4通りを選ぶ → 4 × 4 × 4 × 4 ＝ 256配置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94360" y="5760720"/>
            <a:ext cx="5120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格子の値（25・50m，10・25m）は説明用。実際は計算済みの格子の値を使う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6080760" y="1572768"/>
            <a:ext cx="5669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256配置の重み（行：北×東の16通り，列：南×西の16通り）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37960" y="1920240"/>
            <a:ext cx="132588" cy="132588"/>
          </a:xfrm>
          <a:prstGeom prst="rect">
            <a:avLst/>
          </a:prstGeom>
          <a:solidFill>
            <a:srgbClr val="B04A3F"/>
          </a:solidFill>
          <a:ln/>
        </p:spPr>
      </p:sp>
      <p:sp>
        <p:nvSpPr>
          <p:cNvPr id="30" name="Shape 26"/>
          <p:cNvSpPr/>
          <p:nvPr/>
        </p:nvSpPr>
        <p:spPr>
          <a:xfrm>
            <a:off x="6688836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1" name="Shape 27"/>
          <p:cNvSpPr/>
          <p:nvPr/>
        </p:nvSpPr>
        <p:spPr>
          <a:xfrm>
            <a:off x="6839712" y="1920240"/>
            <a:ext cx="132588" cy="132588"/>
          </a:xfrm>
          <a:prstGeom prst="rect">
            <a:avLst/>
          </a:prstGeom>
          <a:solidFill>
            <a:srgbClr val="D77B35"/>
          </a:solidFill>
          <a:ln/>
        </p:spPr>
      </p:sp>
      <p:sp>
        <p:nvSpPr>
          <p:cNvPr id="32" name="Shape 28"/>
          <p:cNvSpPr/>
          <p:nvPr/>
        </p:nvSpPr>
        <p:spPr>
          <a:xfrm>
            <a:off x="6990588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3" name="Shape 29"/>
          <p:cNvSpPr/>
          <p:nvPr/>
        </p:nvSpPr>
        <p:spPr>
          <a:xfrm>
            <a:off x="7141464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4" name="Shape 30"/>
          <p:cNvSpPr/>
          <p:nvPr/>
        </p:nvSpPr>
        <p:spPr>
          <a:xfrm>
            <a:off x="7292340" y="192024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35" name="Shape 31"/>
          <p:cNvSpPr/>
          <p:nvPr/>
        </p:nvSpPr>
        <p:spPr>
          <a:xfrm>
            <a:off x="7443216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6" name="Shape 32"/>
          <p:cNvSpPr/>
          <p:nvPr/>
        </p:nvSpPr>
        <p:spPr>
          <a:xfrm>
            <a:off x="7594092" y="192024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37" name="Shape 33"/>
          <p:cNvSpPr/>
          <p:nvPr/>
        </p:nvSpPr>
        <p:spPr>
          <a:xfrm>
            <a:off x="7744968" y="1920240"/>
            <a:ext cx="132588" cy="132588"/>
          </a:xfrm>
          <a:prstGeom prst="rect">
            <a:avLst/>
          </a:prstGeom>
          <a:solidFill>
            <a:srgbClr val="D77B35"/>
          </a:solidFill>
          <a:ln/>
        </p:spPr>
      </p:sp>
      <p:sp>
        <p:nvSpPr>
          <p:cNvPr id="38" name="Shape 34"/>
          <p:cNvSpPr/>
          <p:nvPr/>
        </p:nvSpPr>
        <p:spPr>
          <a:xfrm>
            <a:off x="7895844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39" name="Shape 35"/>
          <p:cNvSpPr/>
          <p:nvPr/>
        </p:nvSpPr>
        <p:spPr>
          <a:xfrm>
            <a:off x="8046720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40" name="Shape 36"/>
          <p:cNvSpPr/>
          <p:nvPr/>
        </p:nvSpPr>
        <p:spPr>
          <a:xfrm>
            <a:off x="8197596" y="192024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41" name="Shape 37"/>
          <p:cNvSpPr/>
          <p:nvPr/>
        </p:nvSpPr>
        <p:spPr>
          <a:xfrm>
            <a:off x="8348472" y="192024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42" name="Shape 38"/>
          <p:cNvSpPr/>
          <p:nvPr/>
        </p:nvSpPr>
        <p:spPr>
          <a:xfrm>
            <a:off x="8499348" y="192024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43" name="Shape 39"/>
          <p:cNvSpPr/>
          <p:nvPr/>
        </p:nvSpPr>
        <p:spPr>
          <a:xfrm>
            <a:off x="8650224" y="192024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44" name="Shape 40"/>
          <p:cNvSpPr/>
          <p:nvPr/>
        </p:nvSpPr>
        <p:spPr>
          <a:xfrm>
            <a:off x="8801100" y="192024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45" name="Shape 41"/>
          <p:cNvSpPr/>
          <p:nvPr/>
        </p:nvSpPr>
        <p:spPr>
          <a:xfrm>
            <a:off x="6537960" y="2071116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46" name="Shape 42"/>
          <p:cNvSpPr/>
          <p:nvPr/>
        </p:nvSpPr>
        <p:spPr>
          <a:xfrm>
            <a:off x="6688836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47" name="Shape 43"/>
          <p:cNvSpPr/>
          <p:nvPr/>
        </p:nvSpPr>
        <p:spPr>
          <a:xfrm>
            <a:off x="6839712" y="2071116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48" name="Shape 44"/>
          <p:cNvSpPr/>
          <p:nvPr/>
        </p:nvSpPr>
        <p:spPr>
          <a:xfrm>
            <a:off x="6990588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49" name="Shape 45"/>
          <p:cNvSpPr/>
          <p:nvPr/>
        </p:nvSpPr>
        <p:spPr>
          <a:xfrm>
            <a:off x="7141464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0" name="Shape 46"/>
          <p:cNvSpPr/>
          <p:nvPr/>
        </p:nvSpPr>
        <p:spPr>
          <a:xfrm>
            <a:off x="7292340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1" name="Shape 47"/>
          <p:cNvSpPr/>
          <p:nvPr/>
        </p:nvSpPr>
        <p:spPr>
          <a:xfrm>
            <a:off x="7443216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2" name="Shape 48"/>
          <p:cNvSpPr/>
          <p:nvPr/>
        </p:nvSpPr>
        <p:spPr>
          <a:xfrm>
            <a:off x="7594092" y="207111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53" name="Shape 49"/>
          <p:cNvSpPr/>
          <p:nvPr/>
        </p:nvSpPr>
        <p:spPr>
          <a:xfrm>
            <a:off x="7744968" y="2071116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54" name="Shape 50"/>
          <p:cNvSpPr/>
          <p:nvPr/>
        </p:nvSpPr>
        <p:spPr>
          <a:xfrm>
            <a:off x="7895844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5" name="Shape 51"/>
          <p:cNvSpPr/>
          <p:nvPr/>
        </p:nvSpPr>
        <p:spPr>
          <a:xfrm>
            <a:off x="8046720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6" name="Shape 52"/>
          <p:cNvSpPr/>
          <p:nvPr/>
        </p:nvSpPr>
        <p:spPr>
          <a:xfrm>
            <a:off x="8197596" y="207111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57" name="Shape 53"/>
          <p:cNvSpPr/>
          <p:nvPr/>
        </p:nvSpPr>
        <p:spPr>
          <a:xfrm>
            <a:off x="8348472" y="207111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58" name="Shape 54"/>
          <p:cNvSpPr/>
          <p:nvPr/>
        </p:nvSpPr>
        <p:spPr>
          <a:xfrm>
            <a:off x="8499348" y="207111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59" name="Shape 55"/>
          <p:cNvSpPr/>
          <p:nvPr/>
        </p:nvSpPr>
        <p:spPr>
          <a:xfrm>
            <a:off x="8650224" y="207111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60" name="Shape 56"/>
          <p:cNvSpPr/>
          <p:nvPr/>
        </p:nvSpPr>
        <p:spPr>
          <a:xfrm>
            <a:off x="8801100" y="207111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61" name="Shape 57"/>
          <p:cNvSpPr/>
          <p:nvPr/>
        </p:nvSpPr>
        <p:spPr>
          <a:xfrm>
            <a:off x="6537960" y="2221992"/>
            <a:ext cx="132588" cy="132588"/>
          </a:xfrm>
          <a:prstGeom prst="rect">
            <a:avLst/>
          </a:prstGeom>
          <a:solidFill>
            <a:srgbClr val="D77B35"/>
          </a:solidFill>
          <a:ln/>
        </p:spPr>
      </p:sp>
      <p:sp>
        <p:nvSpPr>
          <p:cNvPr id="62" name="Shape 58"/>
          <p:cNvSpPr/>
          <p:nvPr/>
        </p:nvSpPr>
        <p:spPr>
          <a:xfrm>
            <a:off x="6688836" y="2221992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63" name="Shape 59"/>
          <p:cNvSpPr/>
          <p:nvPr/>
        </p:nvSpPr>
        <p:spPr>
          <a:xfrm>
            <a:off x="6839712" y="2221992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64" name="Shape 60"/>
          <p:cNvSpPr/>
          <p:nvPr/>
        </p:nvSpPr>
        <p:spPr>
          <a:xfrm>
            <a:off x="6990588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65" name="Shape 61"/>
          <p:cNvSpPr/>
          <p:nvPr/>
        </p:nvSpPr>
        <p:spPr>
          <a:xfrm>
            <a:off x="7141464" y="2221992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66" name="Shape 62"/>
          <p:cNvSpPr/>
          <p:nvPr/>
        </p:nvSpPr>
        <p:spPr>
          <a:xfrm>
            <a:off x="7292340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67" name="Shape 63"/>
          <p:cNvSpPr/>
          <p:nvPr/>
        </p:nvSpPr>
        <p:spPr>
          <a:xfrm>
            <a:off x="7443216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68" name="Shape 64"/>
          <p:cNvSpPr/>
          <p:nvPr/>
        </p:nvSpPr>
        <p:spPr>
          <a:xfrm>
            <a:off x="7594092" y="222199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69" name="Shape 65"/>
          <p:cNvSpPr/>
          <p:nvPr/>
        </p:nvSpPr>
        <p:spPr>
          <a:xfrm>
            <a:off x="7744968" y="2221992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70" name="Shape 66"/>
          <p:cNvSpPr/>
          <p:nvPr/>
        </p:nvSpPr>
        <p:spPr>
          <a:xfrm>
            <a:off x="7895844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1" name="Shape 67"/>
          <p:cNvSpPr/>
          <p:nvPr/>
        </p:nvSpPr>
        <p:spPr>
          <a:xfrm>
            <a:off x="8046720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2" name="Shape 68"/>
          <p:cNvSpPr/>
          <p:nvPr/>
        </p:nvSpPr>
        <p:spPr>
          <a:xfrm>
            <a:off x="8197596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3" name="Shape 69"/>
          <p:cNvSpPr/>
          <p:nvPr/>
        </p:nvSpPr>
        <p:spPr>
          <a:xfrm>
            <a:off x="8348472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4" name="Shape 70"/>
          <p:cNvSpPr/>
          <p:nvPr/>
        </p:nvSpPr>
        <p:spPr>
          <a:xfrm>
            <a:off x="8499348" y="222199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75" name="Shape 71"/>
          <p:cNvSpPr/>
          <p:nvPr/>
        </p:nvSpPr>
        <p:spPr>
          <a:xfrm>
            <a:off x="8650224" y="222199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6" name="Shape 72"/>
          <p:cNvSpPr/>
          <p:nvPr/>
        </p:nvSpPr>
        <p:spPr>
          <a:xfrm>
            <a:off x="8801100" y="222199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77" name="Shape 73"/>
          <p:cNvSpPr/>
          <p:nvPr/>
        </p:nvSpPr>
        <p:spPr>
          <a:xfrm>
            <a:off x="6537960" y="2372868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78" name="Shape 74"/>
          <p:cNvSpPr/>
          <p:nvPr/>
        </p:nvSpPr>
        <p:spPr>
          <a:xfrm>
            <a:off x="6688836" y="237286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79" name="Shape 75"/>
          <p:cNvSpPr/>
          <p:nvPr/>
        </p:nvSpPr>
        <p:spPr>
          <a:xfrm>
            <a:off x="6839712" y="237286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80" name="Shape 76"/>
          <p:cNvSpPr/>
          <p:nvPr/>
        </p:nvSpPr>
        <p:spPr>
          <a:xfrm>
            <a:off x="6990588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1" name="Shape 77"/>
          <p:cNvSpPr/>
          <p:nvPr/>
        </p:nvSpPr>
        <p:spPr>
          <a:xfrm>
            <a:off x="7141464" y="237286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82" name="Shape 78"/>
          <p:cNvSpPr/>
          <p:nvPr/>
        </p:nvSpPr>
        <p:spPr>
          <a:xfrm>
            <a:off x="7292340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3" name="Shape 79"/>
          <p:cNvSpPr/>
          <p:nvPr/>
        </p:nvSpPr>
        <p:spPr>
          <a:xfrm>
            <a:off x="7443216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4" name="Shape 80"/>
          <p:cNvSpPr/>
          <p:nvPr/>
        </p:nvSpPr>
        <p:spPr>
          <a:xfrm>
            <a:off x="7594092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5" name="Shape 81"/>
          <p:cNvSpPr/>
          <p:nvPr/>
        </p:nvSpPr>
        <p:spPr>
          <a:xfrm>
            <a:off x="7744968" y="237286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86" name="Shape 82"/>
          <p:cNvSpPr/>
          <p:nvPr/>
        </p:nvSpPr>
        <p:spPr>
          <a:xfrm>
            <a:off x="7895844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7" name="Shape 83"/>
          <p:cNvSpPr/>
          <p:nvPr/>
        </p:nvSpPr>
        <p:spPr>
          <a:xfrm>
            <a:off x="8046720" y="237286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88" name="Shape 84"/>
          <p:cNvSpPr/>
          <p:nvPr/>
        </p:nvSpPr>
        <p:spPr>
          <a:xfrm>
            <a:off x="8197596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89" name="Shape 85"/>
          <p:cNvSpPr/>
          <p:nvPr/>
        </p:nvSpPr>
        <p:spPr>
          <a:xfrm>
            <a:off x="8348472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90" name="Shape 86"/>
          <p:cNvSpPr/>
          <p:nvPr/>
        </p:nvSpPr>
        <p:spPr>
          <a:xfrm>
            <a:off x="8499348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91" name="Shape 87"/>
          <p:cNvSpPr/>
          <p:nvPr/>
        </p:nvSpPr>
        <p:spPr>
          <a:xfrm>
            <a:off x="8650224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92" name="Shape 88"/>
          <p:cNvSpPr/>
          <p:nvPr/>
        </p:nvSpPr>
        <p:spPr>
          <a:xfrm>
            <a:off x="8801100" y="237286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93" name="Shape 89"/>
          <p:cNvSpPr/>
          <p:nvPr/>
        </p:nvSpPr>
        <p:spPr>
          <a:xfrm>
            <a:off x="6537960" y="2523744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94" name="Shape 90"/>
          <p:cNvSpPr/>
          <p:nvPr/>
        </p:nvSpPr>
        <p:spPr>
          <a:xfrm>
            <a:off x="6688836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95" name="Shape 91"/>
          <p:cNvSpPr/>
          <p:nvPr/>
        </p:nvSpPr>
        <p:spPr>
          <a:xfrm>
            <a:off x="6839712" y="2523744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96" name="Shape 92"/>
          <p:cNvSpPr/>
          <p:nvPr/>
        </p:nvSpPr>
        <p:spPr>
          <a:xfrm>
            <a:off x="6990588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97" name="Shape 93"/>
          <p:cNvSpPr/>
          <p:nvPr/>
        </p:nvSpPr>
        <p:spPr>
          <a:xfrm>
            <a:off x="7141464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98" name="Shape 94"/>
          <p:cNvSpPr/>
          <p:nvPr/>
        </p:nvSpPr>
        <p:spPr>
          <a:xfrm>
            <a:off x="7292340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99" name="Shape 95"/>
          <p:cNvSpPr/>
          <p:nvPr/>
        </p:nvSpPr>
        <p:spPr>
          <a:xfrm>
            <a:off x="7443216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00" name="Shape 96"/>
          <p:cNvSpPr/>
          <p:nvPr/>
        </p:nvSpPr>
        <p:spPr>
          <a:xfrm>
            <a:off x="7594092" y="252374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1" name="Shape 97"/>
          <p:cNvSpPr/>
          <p:nvPr/>
        </p:nvSpPr>
        <p:spPr>
          <a:xfrm>
            <a:off x="7744968" y="2523744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02" name="Shape 98"/>
          <p:cNvSpPr/>
          <p:nvPr/>
        </p:nvSpPr>
        <p:spPr>
          <a:xfrm>
            <a:off x="7895844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03" name="Shape 99"/>
          <p:cNvSpPr/>
          <p:nvPr/>
        </p:nvSpPr>
        <p:spPr>
          <a:xfrm>
            <a:off x="8046720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04" name="Shape 100"/>
          <p:cNvSpPr/>
          <p:nvPr/>
        </p:nvSpPr>
        <p:spPr>
          <a:xfrm>
            <a:off x="8197596" y="252374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5" name="Shape 101"/>
          <p:cNvSpPr/>
          <p:nvPr/>
        </p:nvSpPr>
        <p:spPr>
          <a:xfrm>
            <a:off x="8348472" y="252374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06" name="Shape 102"/>
          <p:cNvSpPr/>
          <p:nvPr/>
        </p:nvSpPr>
        <p:spPr>
          <a:xfrm>
            <a:off x="8499348" y="252374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7" name="Shape 103"/>
          <p:cNvSpPr/>
          <p:nvPr/>
        </p:nvSpPr>
        <p:spPr>
          <a:xfrm>
            <a:off x="8650224" y="252374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8" name="Shape 104"/>
          <p:cNvSpPr/>
          <p:nvPr/>
        </p:nvSpPr>
        <p:spPr>
          <a:xfrm>
            <a:off x="8801100" y="252374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09" name="Shape 105"/>
          <p:cNvSpPr/>
          <p:nvPr/>
        </p:nvSpPr>
        <p:spPr>
          <a:xfrm>
            <a:off x="6537960" y="267462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10" name="Shape 106"/>
          <p:cNvSpPr/>
          <p:nvPr/>
        </p:nvSpPr>
        <p:spPr>
          <a:xfrm>
            <a:off x="6688836" y="267462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11" name="Shape 107"/>
          <p:cNvSpPr/>
          <p:nvPr/>
        </p:nvSpPr>
        <p:spPr>
          <a:xfrm>
            <a:off x="6839712" y="267462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12" name="Shape 108"/>
          <p:cNvSpPr/>
          <p:nvPr/>
        </p:nvSpPr>
        <p:spPr>
          <a:xfrm>
            <a:off x="6990588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13" name="Shape 109"/>
          <p:cNvSpPr/>
          <p:nvPr/>
        </p:nvSpPr>
        <p:spPr>
          <a:xfrm>
            <a:off x="7141464" y="267462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14" name="Shape 110"/>
          <p:cNvSpPr/>
          <p:nvPr/>
        </p:nvSpPr>
        <p:spPr>
          <a:xfrm>
            <a:off x="7292340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15" name="Shape 111"/>
          <p:cNvSpPr/>
          <p:nvPr/>
        </p:nvSpPr>
        <p:spPr>
          <a:xfrm>
            <a:off x="7443216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16" name="Shape 112"/>
          <p:cNvSpPr/>
          <p:nvPr/>
        </p:nvSpPr>
        <p:spPr>
          <a:xfrm>
            <a:off x="7594092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17" name="Shape 113"/>
          <p:cNvSpPr/>
          <p:nvPr/>
        </p:nvSpPr>
        <p:spPr>
          <a:xfrm>
            <a:off x="7744968" y="267462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18" name="Shape 114"/>
          <p:cNvSpPr/>
          <p:nvPr/>
        </p:nvSpPr>
        <p:spPr>
          <a:xfrm>
            <a:off x="7895844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19" name="Shape 115"/>
          <p:cNvSpPr/>
          <p:nvPr/>
        </p:nvSpPr>
        <p:spPr>
          <a:xfrm>
            <a:off x="8046720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0" name="Shape 116"/>
          <p:cNvSpPr/>
          <p:nvPr/>
        </p:nvSpPr>
        <p:spPr>
          <a:xfrm>
            <a:off x="8197596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1" name="Shape 117"/>
          <p:cNvSpPr/>
          <p:nvPr/>
        </p:nvSpPr>
        <p:spPr>
          <a:xfrm>
            <a:off x="8348472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2" name="Shape 118"/>
          <p:cNvSpPr/>
          <p:nvPr/>
        </p:nvSpPr>
        <p:spPr>
          <a:xfrm>
            <a:off x="8499348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3" name="Shape 119"/>
          <p:cNvSpPr/>
          <p:nvPr/>
        </p:nvSpPr>
        <p:spPr>
          <a:xfrm>
            <a:off x="8650224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4" name="Shape 120"/>
          <p:cNvSpPr/>
          <p:nvPr/>
        </p:nvSpPr>
        <p:spPr>
          <a:xfrm>
            <a:off x="8801100" y="267462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5" name="Shape 121"/>
          <p:cNvSpPr/>
          <p:nvPr/>
        </p:nvSpPr>
        <p:spPr>
          <a:xfrm>
            <a:off x="6537960" y="2825496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26" name="Shape 122"/>
          <p:cNvSpPr/>
          <p:nvPr/>
        </p:nvSpPr>
        <p:spPr>
          <a:xfrm>
            <a:off x="6688836" y="282549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27" name="Shape 123"/>
          <p:cNvSpPr/>
          <p:nvPr/>
        </p:nvSpPr>
        <p:spPr>
          <a:xfrm>
            <a:off x="6839712" y="282549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28" name="Shape 124"/>
          <p:cNvSpPr/>
          <p:nvPr/>
        </p:nvSpPr>
        <p:spPr>
          <a:xfrm>
            <a:off x="6990588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29" name="Shape 125"/>
          <p:cNvSpPr/>
          <p:nvPr/>
        </p:nvSpPr>
        <p:spPr>
          <a:xfrm>
            <a:off x="7141464" y="282549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30" name="Shape 126"/>
          <p:cNvSpPr/>
          <p:nvPr/>
        </p:nvSpPr>
        <p:spPr>
          <a:xfrm>
            <a:off x="7292340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1" name="Shape 127"/>
          <p:cNvSpPr/>
          <p:nvPr/>
        </p:nvSpPr>
        <p:spPr>
          <a:xfrm>
            <a:off x="7443216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2" name="Shape 128"/>
          <p:cNvSpPr/>
          <p:nvPr/>
        </p:nvSpPr>
        <p:spPr>
          <a:xfrm>
            <a:off x="7594092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3" name="Shape 129"/>
          <p:cNvSpPr/>
          <p:nvPr/>
        </p:nvSpPr>
        <p:spPr>
          <a:xfrm>
            <a:off x="7744968" y="282549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34" name="Shape 130"/>
          <p:cNvSpPr/>
          <p:nvPr/>
        </p:nvSpPr>
        <p:spPr>
          <a:xfrm>
            <a:off x="7895844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5" name="Shape 131"/>
          <p:cNvSpPr/>
          <p:nvPr/>
        </p:nvSpPr>
        <p:spPr>
          <a:xfrm>
            <a:off x="8046720" y="282549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36" name="Shape 132"/>
          <p:cNvSpPr/>
          <p:nvPr/>
        </p:nvSpPr>
        <p:spPr>
          <a:xfrm>
            <a:off x="8197596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7" name="Shape 133"/>
          <p:cNvSpPr/>
          <p:nvPr/>
        </p:nvSpPr>
        <p:spPr>
          <a:xfrm>
            <a:off x="8348472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8" name="Shape 134"/>
          <p:cNvSpPr/>
          <p:nvPr/>
        </p:nvSpPr>
        <p:spPr>
          <a:xfrm>
            <a:off x="8499348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39" name="Shape 135"/>
          <p:cNvSpPr/>
          <p:nvPr/>
        </p:nvSpPr>
        <p:spPr>
          <a:xfrm>
            <a:off x="8650224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0" name="Shape 136"/>
          <p:cNvSpPr/>
          <p:nvPr/>
        </p:nvSpPr>
        <p:spPr>
          <a:xfrm>
            <a:off x="8801100" y="282549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1" name="Shape 137"/>
          <p:cNvSpPr/>
          <p:nvPr/>
        </p:nvSpPr>
        <p:spPr>
          <a:xfrm>
            <a:off x="6537960" y="297637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42" name="Shape 138"/>
          <p:cNvSpPr/>
          <p:nvPr/>
        </p:nvSpPr>
        <p:spPr>
          <a:xfrm>
            <a:off x="6688836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3" name="Shape 139"/>
          <p:cNvSpPr/>
          <p:nvPr/>
        </p:nvSpPr>
        <p:spPr>
          <a:xfrm>
            <a:off x="6839712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4" name="Shape 140"/>
          <p:cNvSpPr/>
          <p:nvPr/>
        </p:nvSpPr>
        <p:spPr>
          <a:xfrm>
            <a:off x="6990588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5" name="Shape 141"/>
          <p:cNvSpPr/>
          <p:nvPr/>
        </p:nvSpPr>
        <p:spPr>
          <a:xfrm>
            <a:off x="7141464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6" name="Shape 142"/>
          <p:cNvSpPr/>
          <p:nvPr/>
        </p:nvSpPr>
        <p:spPr>
          <a:xfrm>
            <a:off x="7292340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7" name="Shape 143"/>
          <p:cNvSpPr/>
          <p:nvPr/>
        </p:nvSpPr>
        <p:spPr>
          <a:xfrm>
            <a:off x="7443216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8" name="Shape 144"/>
          <p:cNvSpPr/>
          <p:nvPr/>
        </p:nvSpPr>
        <p:spPr>
          <a:xfrm>
            <a:off x="7594092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49" name="Shape 145"/>
          <p:cNvSpPr/>
          <p:nvPr/>
        </p:nvSpPr>
        <p:spPr>
          <a:xfrm>
            <a:off x="7744968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0" name="Shape 146"/>
          <p:cNvSpPr/>
          <p:nvPr/>
        </p:nvSpPr>
        <p:spPr>
          <a:xfrm>
            <a:off x="7895844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1" name="Shape 147"/>
          <p:cNvSpPr/>
          <p:nvPr/>
        </p:nvSpPr>
        <p:spPr>
          <a:xfrm>
            <a:off x="8046720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2" name="Shape 148"/>
          <p:cNvSpPr/>
          <p:nvPr/>
        </p:nvSpPr>
        <p:spPr>
          <a:xfrm>
            <a:off x="8197596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3" name="Shape 149"/>
          <p:cNvSpPr/>
          <p:nvPr/>
        </p:nvSpPr>
        <p:spPr>
          <a:xfrm>
            <a:off x="8348472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4" name="Shape 150"/>
          <p:cNvSpPr/>
          <p:nvPr/>
        </p:nvSpPr>
        <p:spPr>
          <a:xfrm>
            <a:off x="8499348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5" name="Shape 151"/>
          <p:cNvSpPr/>
          <p:nvPr/>
        </p:nvSpPr>
        <p:spPr>
          <a:xfrm>
            <a:off x="8650224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6" name="Shape 152"/>
          <p:cNvSpPr/>
          <p:nvPr/>
        </p:nvSpPr>
        <p:spPr>
          <a:xfrm>
            <a:off x="8801100" y="297637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57" name="Shape 153"/>
          <p:cNvSpPr/>
          <p:nvPr/>
        </p:nvSpPr>
        <p:spPr>
          <a:xfrm>
            <a:off x="6537960" y="3127248"/>
            <a:ext cx="132588" cy="132588"/>
          </a:xfrm>
          <a:prstGeom prst="rect">
            <a:avLst/>
          </a:prstGeom>
          <a:solidFill>
            <a:srgbClr val="D77B35"/>
          </a:solidFill>
          <a:ln/>
        </p:spPr>
      </p:sp>
      <p:sp>
        <p:nvSpPr>
          <p:cNvPr id="158" name="Shape 154"/>
          <p:cNvSpPr/>
          <p:nvPr/>
        </p:nvSpPr>
        <p:spPr>
          <a:xfrm>
            <a:off x="6688836" y="3127248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59" name="Shape 155"/>
          <p:cNvSpPr/>
          <p:nvPr/>
        </p:nvSpPr>
        <p:spPr>
          <a:xfrm>
            <a:off x="6839712" y="3127248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60" name="Shape 156"/>
          <p:cNvSpPr/>
          <p:nvPr/>
        </p:nvSpPr>
        <p:spPr>
          <a:xfrm>
            <a:off x="6990588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1" name="Shape 157"/>
          <p:cNvSpPr/>
          <p:nvPr/>
        </p:nvSpPr>
        <p:spPr>
          <a:xfrm>
            <a:off x="7141464" y="3127248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62" name="Shape 158"/>
          <p:cNvSpPr/>
          <p:nvPr/>
        </p:nvSpPr>
        <p:spPr>
          <a:xfrm>
            <a:off x="7292340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3" name="Shape 159"/>
          <p:cNvSpPr/>
          <p:nvPr/>
        </p:nvSpPr>
        <p:spPr>
          <a:xfrm>
            <a:off x="7443216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4" name="Shape 160"/>
          <p:cNvSpPr/>
          <p:nvPr/>
        </p:nvSpPr>
        <p:spPr>
          <a:xfrm>
            <a:off x="7594092" y="312724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65" name="Shape 161"/>
          <p:cNvSpPr/>
          <p:nvPr/>
        </p:nvSpPr>
        <p:spPr>
          <a:xfrm>
            <a:off x="7744968" y="3127248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66" name="Shape 162"/>
          <p:cNvSpPr/>
          <p:nvPr/>
        </p:nvSpPr>
        <p:spPr>
          <a:xfrm>
            <a:off x="7895844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7" name="Shape 163"/>
          <p:cNvSpPr/>
          <p:nvPr/>
        </p:nvSpPr>
        <p:spPr>
          <a:xfrm>
            <a:off x="8046720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8" name="Shape 164"/>
          <p:cNvSpPr/>
          <p:nvPr/>
        </p:nvSpPr>
        <p:spPr>
          <a:xfrm>
            <a:off x="8197596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69" name="Shape 165"/>
          <p:cNvSpPr/>
          <p:nvPr/>
        </p:nvSpPr>
        <p:spPr>
          <a:xfrm>
            <a:off x="8348472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70" name="Shape 166"/>
          <p:cNvSpPr/>
          <p:nvPr/>
        </p:nvSpPr>
        <p:spPr>
          <a:xfrm>
            <a:off x="8499348" y="312724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71" name="Shape 167"/>
          <p:cNvSpPr/>
          <p:nvPr/>
        </p:nvSpPr>
        <p:spPr>
          <a:xfrm>
            <a:off x="8650224" y="312724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72" name="Shape 168"/>
          <p:cNvSpPr/>
          <p:nvPr/>
        </p:nvSpPr>
        <p:spPr>
          <a:xfrm>
            <a:off x="8801100" y="312724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73" name="Shape 169"/>
          <p:cNvSpPr/>
          <p:nvPr/>
        </p:nvSpPr>
        <p:spPr>
          <a:xfrm>
            <a:off x="6537960" y="3278124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74" name="Shape 170"/>
          <p:cNvSpPr/>
          <p:nvPr/>
        </p:nvSpPr>
        <p:spPr>
          <a:xfrm>
            <a:off x="6688836" y="327812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75" name="Shape 171"/>
          <p:cNvSpPr/>
          <p:nvPr/>
        </p:nvSpPr>
        <p:spPr>
          <a:xfrm>
            <a:off x="6839712" y="327812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76" name="Shape 172"/>
          <p:cNvSpPr/>
          <p:nvPr/>
        </p:nvSpPr>
        <p:spPr>
          <a:xfrm>
            <a:off x="6990588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77" name="Shape 173"/>
          <p:cNvSpPr/>
          <p:nvPr/>
        </p:nvSpPr>
        <p:spPr>
          <a:xfrm>
            <a:off x="7141464" y="327812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78" name="Shape 174"/>
          <p:cNvSpPr/>
          <p:nvPr/>
        </p:nvSpPr>
        <p:spPr>
          <a:xfrm>
            <a:off x="7292340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79" name="Shape 175"/>
          <p:cNvSpPr/>
          <p:nvPr/>
        </p:nvSpPr>
        <p:spPr>
          <a:xfrm>
            <a:off x="7443216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0" name="Shape 176"/>
          <p:cNvSpPr/>
          <p:nvPr/>
        </p:nvSpPr>
        <p:spPr>
          <a:xfrm>
            <a:off x="7594092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1" name="Shape 177"/>
          <p:cNvSpPr/>
          <p:nvPr/>
        </p:nvSpPr>
        <p:spPr>
          <a:xfrm>
            <a:off x="7744968" y="327812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82" name="Shape 178"/>
          <p:cNvSpPr/>
          <p:nvPr/>
        </p:nvSpPr>
        <p:spPr>
          <a:xfrm>
            <a:off x="7895844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3" name="Shape 179"/>
          <p:cNvSpPr/>
          <p:nvPr/>
        </p:nvSpPr>
        <p:spPr>
          <a:xfrm>
            <a:off x="8046720" y="327812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84" name="Shape 180"/>
          <p:cNvSpPr/>
          <p:nvPr/>
        </p:nvSpPr>
        <p:spPr>
          <a:xfrm>
            <a:off x="8197596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5" name="Shape 181"/>
          <p:cNvSpPr/>
          <p:nvPr/>
        </p:nvSpPr>
        <p:spPr>
          <a:xfrm>
            <a:off x="8348472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6" name="Shape 182"/>
          <p:cNvSpPr/>
          <p:nvPr/>
        </p:nvSpPr>
        <p:spPr>
          <a:xfrm>
            <a:off x="8499348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7" name="Shape 183"/>
          <p:cNvSpPr/>
          <p:nvPr/>
        </p:nvSpPr>
        <p:spPr>
          <a:xfrm>
            <a:off x="8650224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8" name="Shape 184"/>
          <p:cNvSpPr/>
          <p:nvPr/>
        </p:nvSpPr>
        <p:spPr>
          <a:xfrm>
            <a:off x="8801100" y="327812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89" name="Shape 185"/>
          <p:cNvSpPr/>
          <p:nvPr/>
        </p:nvSpPr>
        <p:spPr>
          <a:xfrm>
            <a:off x="6537960" y="3429000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190" name="Shape 186"/>
          <p:cNvSpPr/>
          <p:nvPr/>
        </p:nvSpPr>
        <p:spPr>
          <a:xfrm>
            <a:off x="6688836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1" name="Shape 187"/>
          <p:cNvSpPr/>
          <p:nvPr/>
        </p:nvSpPr>
        <p:spPr>
          <a:xfrm>
            <a:off x="6839712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2" name="Shape 188"/>
          <p:cNvSpPr/>
          <p:nvPr/>
        </p:nvSpPr>
        <p:spPr>
          <a:xfrm>
            <a:off x="6990588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3" name="Shape 189"/>
          <p:cNvSpPr/>
          <p:nvPr/>
        </p:nvSpPr>
        <p:spPr>
          <a:xfrm>
            <a:off x="7141464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4" name="Shape 190"/>
          <p:cNvSpPr/>
          <p:nvPr/>
        </p:nvSpPr>
        <p:spPr>
          <a:xfrm>
            <a:off x="7292340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95" name="Shape 191"/>
          <p:cNvSpPr/>
          <p:nvPr/>
        </p:nvSpPr>
        <p:spPr>
          <a:xfrm>
            <a:off x="7443216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6" name="Shape 192"/>
          <p:cNvSpPr/>
          <p:nvPr/>
        </p:nvSpPr>
        <p:spPr>
          <a:xfrm>
            <a:off x="7594092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197" name="Shape 193"/>
          <p:cNvSpPr/>
          <p:nvPr/>
        </p:nvSpPr>
        <p:spPr>
          <a:xfrm>
            <a:off x="7744968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8" name="Shape 194"/>
          <p:cNvSpPr/>
          <p:nvPr/>
        </p:nvSpPr>
        <p:spPr>
          <a:xfrm>
            <a:off x="7895844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199" name="Shape 195"/>
          <p:cNvSpPr/>
          <p:nvPr/>
        </p:nvSpPr>
        <p:spPr>
          <a:xfrm>
            <a:off x="8046720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00" name="Shape 196"/>
          <p:cNvSpPr/>
          <p:nvPr/>
        </p:nvSpPr>
        <p:spPr>
          <a:xfrm>
            <a:off x="8197596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1" name="Shape 197"/>
          <p:cNvSpPr/>
          <p:nvPr/>
        </p:nvSpPr>
        <p:spPr>
          <a:xfrm>
            <a:off x="8348472" y="3429000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02" name="Shape 198"/>
          <p:cNvSpPr/>
          <p:nvPr/>
        </p:nvSpPr>
        <p:spPr>
          <a:xfrm>
            <a:off x="8499348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3" name="Shape 199"/>
          <p:cNvSpPr/>
          <p:nvPr/>
        </p:nvSpPr>
        <p:spPr>
          <a:xfrm>
            <a:off x="8650224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4" name="Shape 200"/>
          <p:cNvSpPr/>
          <p:nvPr/>
        </p:nvSpPr>
        <p:spPr>
          <a:xfrm>
            <a:off x="8801100" y="342900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5" name="Shape 201"/>
          <p:cNvSpPr/>
          <p:nvPr/>
        </p:nvSpPr>
        <p:spPr>
          <a:xfrm>
            <a:off x="6537960" y="357987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06" name="Shape 202"/>
          <p:cNvSpPr/>
          <p:nvPr/>
        </p:nvSpPr>
        <p:spPr>
          <a:xfrm>
            <a:off x="6688836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7" name="Shape 203"/>
          <p:cNvSpPr/>
          <p:nvPr/>
        </p:nvSpPr>
        <p:spPr>
          <a:xfrm>
            <a:off x="6839712" y="357987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08" name="Shape 204"/>
          <p:cNvSpPr/>
          <p:nvPr/>
        </p:nvSpPr>
        <p:spPr>
          <a:xfrm>
            <a:off x="6990588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09" name="Shape 205"/>
          <p:cNvSpPr/>
          <p:nvPr/>
        </p:nvSpPr>
        <p:spPr>
          <a:xfrm>
            <a:off x="7141464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0" name="Shape 206"/>
          <p:cNvSpPr/>
          <p:nvPr/>
        </p:nvSpPr>
        <p:spPr>
          <a:xfrm>
            <a:off x="7292340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1" name="Shape 207"/>
          <p:cNvSpPr/>
          <p:nvPr/>
        </p:nvSpPr>
        <p:spPr>
          <a:xfrm>
            <a:off x="7443216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2" name="Shape 208"/>
          <p:cNvSpPr/>
          <p:nvPr/>
        </p:nvSpPr>
        <p:spPr>
          <a:xfrm>
            <a:off x="7594092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3" name="Shape 209"/>
          <p:cNvSpPr/>
          <p:nvPr/>
        </p:nvSpPr>
        <p:spPr>
          <a:xfrm>
            <a:off x="7744968" y="3579876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14" name="Shape 210"/>
          <p:cNvSpPr/>
          <p:nvPr/>
        </p:nvSpPr>
        <p:spPr>
          <a:xfrm>
            <a:off x="7895844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5" name="Shape 211"/>
          <p:cNvSpPr/>
          <p:nvPr/>
        </p:nvSpPr>
        <p:spPr>
          <a:xfrm>
            <a:off x="8046720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6" name="Shape 212"/>
          <p:cNvSpPr/>
          <p:nvPr/>
        </p:nvSpPr>
        <p:spPr>
          <a:xfrm>
            <a:off x="8197596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7" name="Shape 213"/>
          <p:cNvSpPr/>
          <p:nvPr/>
        </p:nvSpPr>
        <p:spPr>
          <a:xfrm>
            <a:off x="8348472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8" name="Shape 214"/>
          <p:cNvSpPr/>
          <p:nvPr/>
        </p:nvSpPr>
        <p:spPr>
          <a:xfrm>
            <a:off x="8499348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19" name="Shape 215"/>
          <p:cNvSpPr/>
          <p:nvPr/>
        </p:nvSpPr>
        <p:spPr>
          <a:xfrm>
            <a:off x="8650224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0" name="Shape 216"/>
          <p:cNvSpPr/>
          <p:nvPr/>
        </p:nvSpPr>
        <p:spPr>
          <a:xfrm>
            <a:off x="8801100" y="3579876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1" name="Shape 217"/>
          <p:cNvSpPr/>
          <p:nvPr/>
        </p:nvSpPr>
        <p:spPr>
          <a:xfrm>
            <a:off x="6537960" y="3730752"/>
            <a:ext cx="132588" cy="132588"/>
          </a:xfrm>
          <a:prstGeom prst="rect">
            <a:avLst/>
          </a:prstGeom>
          <a:solidFill>
            <a:srgbClr val="EEA870"/>
          </a:solidFill>
          <a:ln/>
        </p:spPr>
      </p:sp>
      <p:sp>
        <p:nvSpPr>
          <p:cNvPr id="222" name="Shape 218"/>
          <p:cNvSpPr/>
          <p:nvPr/>
        </p:nvSpPr>
        <p:spPr>
          <a:xfrm>
            <a:off x="6688836" y="373075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23" name="Shape 219"/>
          <p:cNvSpPr/>
          <p:nvPr/>
        </p:nvSpPr>
        <p:spPr>
          <a:xfrm>
            <a:off x="6839712" y="373075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24" name="Shape 220"/>
          <p:cNvSpPr/>
          <p:nvPr/>
        </p:nvSpPr>
        <p:spPr>
          <a:xfrm>
            <a:off x="6990588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5" name="Shape 221"/>
          <p:cNvSpPr/>
          <p:nvPr/>
        </p:nvSpPr>
        <p:spPr>
          <a:xfrm>
            <a:off x="7141464" y="373075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26" name="Shape 222"/>
          <p:cNvSpPr/>
          <p:nvPr/>
        </p:nvSpPr>
        <p:spPr>
          <a:xfrm>
            <a:off x="7292340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7" name="Shape 223"/>
          <p:cNvSpPr/>
          <p:nvPr/>
        </p:nvSpPr>
        <p:spPr>
          <a:xfrm>
            <a:off x="7443216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8" name="Shape 224"/>
          <p:cNvSpPr/>
          <p:nvPr/>
        </p:nvSpPr>
        <p:spPr>
          <a:xfrm>
            <a:off x="7594092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29" name="Shape 225"/>
          <p:cNvSpPr/>
          <p:nvPr/>
        </p:nvSpPr>
        <p:spPr>
          <a:xfrm>
            <a:off x="7744968" y="373075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30" name="Shape 226"/>
          <p:cNvSpPr/>
          <p:nvPr/>
        </p:nvSpPr>
        <p:spPr>
          <a:xfrm>
            <a:off x="7895844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1" name="Shape 227"/>
          <p:cNvSpPr/>
          <p:nvPr/>
        </p:nvSpPr>
        <p:spPr>
          <a:xfrm>
            <a:off x="8046720" y="3730752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32" name="Shape 228"/>
          <p:cNvSpPr/>
          <p:nvPr/>
        </p:nvSpPr>
        <p:spPr>
          <a:xfrm>
            <a:off x="8197596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3" name="Shape 229"/>
          <p:cNvSpPr/>
          <p:nvPr/>
        </p:nvSpPr>
        <p:spPr>
          <a:xfrm>
            <a:off x="8348472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4" name="Shape 230"/>
          <p:cNvSpPr/>
          <p:nvPr/>
        </p:nvSpPr>
        <p:spPr>
          <a:xfrm>
            <a:off x="8499348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5" name="Shape 231"/>
          <p:cNvSpPr/>
          <p:nvPr/>
        </p:nvSpPr>
        <p:spPr>
          <a:xfrm>
            <a:off x="8650224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6" name="Shape 232"/>
          <p:cNvSpPr/>
          <p:nvPr/>
        </p:nvSpPr>
        <p:spPr>
          <a:xfrm>
            <a:off x="8801100" y="3730752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7" name="Shape 233"/>
          <p:cNvSpPr/>
          <p:nvPr/>
        </p:nvSpPr>
        <p:spPr>
          <a:xfrm>
            <a:off x="6537960" y="3881628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38" name="Shape 234"/>
          <p:cNvSpPr/>
          <p:nvPr/>
        </p:nvSpPr>
        <p:spPr>
          <a:xfrm>
            <a:off x="6688836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39" name="Shape 235"/>
          <p:cNvSpPr/>
          <p:nvPr/>
        </p:nvSpPr>
        <p:spPr>
          <a:xfrm>
            <a:off x="6839712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0" name="Shape 236"/>
          <p:cNvSpPr/>
          <p:nvPr/>
        </p:nvSpPr>
        <p:spPr>
          <a:xfrm>
            <a:off x="6990588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1" name="Shape 237"/>
          <p:cNvSpPr/>
          <p:nvPr/>
        </p:nvSpPr>
        <p:spPr>
          <a:xfrm>
            <a:off x="7141464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2" name="Shape 238"/>
          <p:cNvSpPr/>
          <p:nvPr/>
        </p:nvSpPr>
        <p:spPr>
          <a:xfrm>
            <a:off x="7292340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3" name="Shape 239"/>
          <p:cNvSpPr/>
          <p:nvPr/>
        </p:nvSpPr>
        <p:spPr>
          <a:xfrm>
            <a:off x="7443216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4" name="Shape 240"/>
          <p:cNvSpPr/>
          <p:nvPr/>
        </p:nvSpPr>
        <p:spPr>
          <a:xfrm>
            <a:off x="7594092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5" name="Shape 241"/>
          <p:cNvSpPr/>
          <p:nvPr/>
        </p:nvSpPr>
        <p:spPr>
          <a:xfrm>
            <a:off x="7744968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6" name="Shape 242"/>
          <p:cNvSpPr/>
          <p:nvPr/>
        </p:nvSpPr>
        <p:spPr>
          <a:xfrm>
            <a:off x="7895844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7" name="Shape 243"/>
          <p:cNvSpPr/>
          <p:nvPr/>
        </p:nvSpPr>
        <p:spPr>
          <a:xfrm>
            <a:off x="8046720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8" name="Shape 244"/>
          <p:cNvSpPr/>
          <p:nvPr/>
        </p:nvSpPr>
        <p:spPr>
          <a:xfrm>
            <a:off x="8197596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49" name="Shape 245"/>
          <p:cNvSpPr/>
          <p:nvPr/>
        </p:nvSpPr>
        <p:spPr>
          <a:xfrm>
            <a:off x="8348472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0" name="Shape 246"/>
          <p:cNvSpPr/>
          <p:nvPr/>
        </p:nvSpPr>
        <p:spPr>
          <a:xfrm>
            <a:off x="8499348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1" name="Shape 247"/>
          <p:cNvSpPr/>
          <p:nvPr/>
        </p:nvSpPr>
        <p:spPr>
          <a:xfrm>
            <a:off x="8650224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2" name="Shape 248"/>
          <p:cNvSpPr/>
          <p:nvPr/>
        </p:nvSpPr>
        <p:spPr>
          <a:xfrm>
            <a:off x="8801100" y="3881628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3" name="Shape 249"/>
          <p:cNvSpPr/>
          <p:nvPr/>
        </p:nvSpPr>
        <p:spPr>
          <a:xfrm>
            <a:off x="6537960" y="403250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54" name="Shape 250"/>
          <p:cNvSpPr/>
          <p:nvPr/>
        </p:nvSpPr>
        <p:spPr>
          <a:xfrm>
            <a:off x="6688836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5" name="Shape 251"/>
          <p:cNvSpPr/>
          <p:nvPr/>
        </p:nvSpPr>
        <p:spPr>
          <a:xfrm>
            <a:off x="6839712" y="403250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56" name="Shape 252"/>
          <p:cNvSpPr/>
          <p:nvPr/>
        </p:nvSpPr>
        <p:spPr>
          <a:xfrm>
            <a:off x="6990588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7" name="Shape 253"/>
          <p:cNvSpPr/>
          <p:nvPr/>
        </p:nvSpPr>
        <p:spPr>
          <a:xfrm>
            <a:off x="7141464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8" name="Shape 254"/>
          <p:cNvSpPr/>
          <p:nvPr/>
        </p:nvSpPr>
        <p:spPr>
          <a:xfrm>
            <a:off x="7292340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59" name="Shape 255"/>
          <p:cNvSpPr/>
          <p:nvPr/>
        </p:nvSpPr>
        <p:spPr>
          <a:xfrm>
            <a:off x="7443216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0" name="Shape 256"/>
          <p:cNvSpPr/>
          <p:nvPr/>
        </p:nvSpPr>
        <p:spPr>
          <a:xfrm>
            <a:off x="7594092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1" name="Shape 257"/>
          <p:cNvSpPr/>
          <p:nvPr/>
        </p:nvSpPr>
        <p:spPr>
          <a:xfrm>
            <a:off x="7744968" y="4032504"/>
            <a:ext cx="132588" cy="132588"/>
          </a:xfrm>
          <a:prstGeom prst="rect">
            <a:avLst/>
          </a:prstGeom>
          <a:solidFill>
            <a:srgbClr val="F6D2B4"/>
          </a:solidFill>
          <a:ln/>
        </p:spPr>
      </p:sp>
      <p:sp>
        <p:nvSpPr>
          <p:cNvPr id="262" name="Shape 258"/>
          <p:cNvSpPr/>
          <p:nvPr/>
        </p:nvSpPr>
        <p:spPr>
          <a:xfrm>
            <a:off x="7895844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3" name="Shape 259"/>
          <p:cNvSpPr/>
          <p:nvPr/>
        </p:nvSpPr>
        <p:spPr>
          <a:xfrm>
            <a:off x="8046720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4" name="Shape 260"/>
          <p:cNvSpPr/>
          <p:nvPr/>
        </p:nvSpPr>
        <p:spPr>
          <a:xfrm>
            <a:off x="8197596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5" name="Shape 261"/>
          <p:cNvSpPr/>
          <p:nvPr/>
        </p:nvSpPr>
        <p:spPr>
          <a:xfrm>
            <a:off x="8348472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6" name="Shape 262"/>
          <p:cNvSpPr/>
          <p:nvPr/>
        </p:nvSpPr>
        <p:spPr>
          <a:xfrm>
            <a:off x="8499348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7" name="Shape 263"/>
          <p:cNvSpPr/>
          <p:nvPr/>
        </p:nvSpPr>
        <p:spPr>
          <a:xfrm>
            <a:off x="8650224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8" name="Shape 264"/>
          <p:cNvSpPr/>
          <p:nvPr/>
        </p:nvSpPr>
        <p:spPr>
          <a:xfrm>
            <a:off x="8801100" y="4032504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69" name="Shape 265"/>
          <p:cNvSpPr/>
          <p:nvPr/>
        </p:nvSpPr>
        <p:spPr>
          <a:xfrm>
            <a:off x="6537960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0" name="Shape 266"/>
          <p:cNvSpPr/>
          <p:nvPr/>
        </p:nvSpPr>
        <p:spPr>
          <a:xfrm>
            <a:off x="6688836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1" name="Shape 267"/>
          <p:cNvSpPr/>
          <p:nvPr/>
        </p:nvSpPr>
        <p:spPr>
          <a:xfrm>
            <a:off x="6839712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2" name="Shape 268"/>
          <p:cNvSpPr/>
          <p:nvPr/>
        </p:nvSpPr>
        <p:spPr>
          <a:xfrm>
            <a:off x="6990588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3" name="Shape 269"/>
          <p:cNvSpPr/>
          <p:nvPr/>
        </p:nvSpPr>
        <p:spPr>
          <a:xfrm>
            <a:off x="7141464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4" name="Shape 270"/>
          <p:cNvSpPr/>
          <p:nvPr/>
        </p:nvSpPr>
        <p:spPr>
          <a:xfrm>
            <a:off x="7292340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5" name="Shape 271"/>
          <p:cNvSpPr/>
          <p:nvPr/>
        </p:nvSpPr>
        <p:spPr>
          <a:xfrm>
            <a:off x="7443216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6" name="Shape 272"/>
          <p:cNvSpPr/>
          <p:nvPr/>
        </p:nvSpPr>
        <p:spPr>
          <a:xfrm>
            <a:off x="7594092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7" name="Shape 273"/>
          <p:cNvSpPr/>
          <p:nvPr/>
        </p:nvSpPr>
        <p:spPr>
          <a:xfrm>
            <a:off x="7744968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8" name="Shape 274"/>
          <p:cNvSpPr/>
          <p:nvPr/>
        </p:nvSpPr>
        <p:spPr>
          <a:xfrm>
            <a:off x="7895844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79" name="Shape 275"/>
          <p:cNvSpPr/>
          <p:nvPr/>
        </p:nvSpPr>
        <p:spPr>
          <a:xfrm>
            <a:off x="8046720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0" name="Shape 276"/>
          <p:cNvSpPr/>
          <p:nvPr/>
        </p:nvSpPr>
        <p:spPr>
          <a:xfrm>
            <a:off x="8197596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1" name="Shape 277"/>
          <p:cNvSpPr/>
          <p:nvPr/>
        </p:nvSpPr>
        <p:spPr>
          <a:xfrm>
            <a:off x="8348472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2" name="Shape 278"/>
          <p:cNvSpPr/>
          <p:nvPr/>
        </p:nvSpPr>
        <p:spPr>
          <a:xfrm>
            <a:off x="8499348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3" name="Shape 279"/>
          <p:cNvSpPr/>
          <p:nvPr/>
        </p:nvSpPr>
        <p:spPr>
          <a:xfrm>
            <a:off x="8650224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4" name="Shape 280"/>
          <p:cNvSpPr/>
          <p:nvPr/>
        </p:nvSpPr>
        <p:spPr>
          <a:xfrm>
            <a:off x="8801100" y="4183380"/>
            <a:ext cx="132588" cy="132588"/>
          </a:xfrm>
          <a:prstGeom prst="rect">
            <a:avLst/>
          </a:prstGeom>
          <a:solidFill>
            <a:srgbClr val="FBEBDA"/>
          </a:solidFill>
          <a:ln/>
        </p:spPr>
      </p:sp>
      <p:sp>
        <p:nvSpPr>
          <p:cNvPr id="285" name="Text 281"/>
          <p:cNvSpPr txBox="1"/>
          <p:nvPr/>
        </p:nvSpPr>
        <p:spPr>
          <a:xfrm>
            <a:off x="6080760" y="2976372"/>
            <a:ext cx="457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北東の組 →</a:t>
            </a:r>
            <a:endParaRPr lang="en-US" sz="800" dirty="0"/>
          </a:p>
        </p:txBody>
      </p:sp>
      <p:sp>
        <p:nvSpPr>
          <p:cNvPr id="286" name="Text 282"/>
          <p:cNvSpPr txBox="1"/>
          <p:nvPr/>
        </p:nvSpPr>
        <p:spPr>
          <a:xfrm>
            <a:off x="6537960" y="4361688"/>
            <a:ext cx="24140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濃い色ほど重みが大きい（入力に近い配置）</a:t>
            </a:r>
            <a:endParaRPr lang="en-US" sz="850" dirty="0"/>
          </a:p>
        </p:txBody>
      </p:sp>
      <p:sp>
        <p:nvSpPr>
          <p:cNvPr id="287" name="Shape 283"/>
          <p:cNvSpPr/>
          <p:nvPr/>
        </p:nvSpPr>
        <p:spPr>
          <a:xfrm>
            <a:off x="9144000" y="1920240"/>
            <a:ext cx="2606040" cy="2404872"/>
          </a:xfrm>
          <a:prstGeom prst="roundRect">
            <a:avLst>
              <a:gd name="adj" fmla="val 2281"/>
            </a:avLst>
          </a:prstGeom>
          <a:solidFill>
            <a:srgbClr val="1B2A44"/>
          </a:solidFill>
          <a:ln/>
        </p:spPr>
      </p:sp>
      <p:sp>
        <p:nvSpPr>
          <p:cNvPr id="288" name="Text 284"/>
          <p:cNvSpPr txBox="1"/>
          <p:nvPr/>
        </p:nvSpPr>
        <p:spPr>
          <a:xfrm>
            <a:off x="923544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赤いマス：4方向すべて (25,10)</a:t>
            </a:r>
            <a:endParaRPr lang="en-US" sz="950" dirty="0"/>
          </a:p>
        </p:txBody>
      </p:sp>
      <p:sp>
        <p:nvSpPr>
          <p:cNvPr id="289" name="Text 285"/>
          <p:cNvSpPr txBox="1"/>
          <p:nvPr/>
        </p:nvSpPr>
        <p:spPr>
          <a:xfrm>
            <a:off x="9235440" y="2377440"/>
            <a:ext cx="246888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 ＝ 0.4×0.4×0.4×0.4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 ＝ 0.4⁴ ＝ 0.0256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保存値（南面0〜10m）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600 kWh/m²（仮）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寄与 ＝ 0.0256 × 600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 ＝ 15.36 kWh/m²</a:t>
            </a:r>
            <a:endParaRPr lang="en-US" sz="1000" dirty="0"/>
          </a:p>
        </p:txBody>
      </p:sp>
      <p:sp>
        <p:nvSpPr>
          <p:cNvPr id="290" name="Shape 286"/>
          <p:cNvSpPr/>
          <p:nvPr/>
        </p:nvSpPr>
        <p:spPr>
          <a:xfrm>
            <a:off x="6080760" y="4572000"/>
            <a:ext cx="5669280" cy="1737360"/>
          </a:xfrm>
          <a:prstGeom prst="roundRect">
            <a:avLst>
              <a:gd name="adj" fmla="val 3158"/>
            </a:avLst>
          </a:prstGeom>
          <a:solidFill>
            <a:srgbClr val="FBEBDA"/>
          </a:solidFill>
          <a:ln/>
        </p:spPr>
      </p:sp>
      <p:sp>
        <p:nvSpPr>
          <p:cNvPr id="291" name="Text 287"/>
          <p:cNvSpPr txBox="1"/>
          <p:nvPr/>
        </p:nvSpPr>
        <p:spPr>
          <a:xfrm>
            <a:off x="6217920" y="4617720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予測値の出し方</a:t>
            </a:r>
            <a:endParaRPr lang="en-US" sz="1100" dirty="0"/>
          </a:p>
        </p:txBody>
      </p:sp>
      <p:sp>
        <p:nvSpPr>
          <p:cNvPr id="292" name="Text 288"/>
          <p:cNvSpPr txBox="1"/>
          <p:nvPr/>
        </p:nvSpPr>
        <p:spPr>
          <a:xfrm>
            <a:off x="6217920" y="4892040"/>
            <a:ext cx="54406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残り255配置も「重み × 保存値」を求め、256個を全部足すと南面0〜10m帯の予測になる（重みの合計は (0.4＋0.2＋0.267＋0.133)⁴ ＝ 1）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保存値は4棟を同時に置いた配置のSEBE結果なので、影の重なりも含まれる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 256個すべてが計算済みでないと使えない → 表全体をそろえる必要がある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計算時間：1回30秒〜1分でも、全組み合わせは現実的でない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F6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AEE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全組み合わせをSEBEで事前計算する場合（1配置ずつ連続で実行）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928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286000"/>
                <a:gridCol w="210312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計算対象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各方向の条件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配置数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30秒／配置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1分／配置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南1棟（各3段階）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4.5分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4棟あり（各3段階）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9⁴＝6,561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約55時間（2.3日）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約109時間（4.6日）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0〜4棟（各3段階）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なし1＋9＝10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10⁴＝10,000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約83時間（3.5日）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約167時間（6.9日）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0〜4棟（各4段階）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なし1＋16＝17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17⁴＝83,521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約29日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約58日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最終目標17変数（各3段階）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なし1＋27＝28，中央高さ4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28⁴×4 ≒ 246万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約2.3年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約4.7年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279392"/>
            <a:ext cx="6583680" cy="2029968"/>
          </a:xfrm>
          <a:prstGeom prst="roundRect">
            <a:avLst>
              <a:gd name="adj" fmla="val 2703"/>
            </a:avLst>
          </a:prstGeom>
          <a:solidFill>
            <a:srgbClr val="F3F5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4360" y="4315968"/>
            <a:ext cx="6309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1分／配置のときの計算時間（棒は対数目盛）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4590288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南1棟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011680" y="4654296"/>
            <a:ext cx="600758" cy="18288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658158" y="4590288"/>
            <a:ext cx="822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4919472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4棟あり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011680" y="4983480"/>
            <a:ext cx="2403033" cy="18288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460433" y="4919472"/>
            <a:ext cx="822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4.6日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5248656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0〜4棟 3段階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011680" y="5312664"/>
            <a:ext cx="2518262" cy="18288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5662" y="5248656"/>
            <a:ext cx="822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6.9日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94360" y="55778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0〜4棟 4段階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011680" y="5641848"/>
            <a:ext cx="3098593" cy="182880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155993" y="5577840"/>
            <a:ext cx="822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58日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94360" y="5907024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17変数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11680" y="5971032"/>
            <a:ext cx="4023360" cy="182880"/>
          </a:xfrm>
          <a:prstGeom prst="rect">
            <a:avLst/>
          </a:prstGeom>
          <a:solidFill>
            <a:srgbClr val="B04A3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080760" y="5907024"/>
            <a:ext cx="822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4.7年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269480" y="4279392"/>
            <a:ext cx="4480560" cy="2029968"/>
          </a:xfrm>
          <a:prstGeom prst="roundRect">
            <a:avLst>
              <a:gd name="adj" fmla="val 2703"/>
            </a:avLst>
          </a:prstGeom>
          <a:solidFill>
            <a:srgbClr val="1B2A4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45236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読み取れること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452360" y="4590288"/>
            <a:ext cx="4160520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4方向版だけでも、全組み合わせに数日〜約2か月かかる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17変数では数年 → この方式ではツールが作れない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これに入力作成・保存・再計算・検証用の配置が加わる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格子がそろえば点を探すのは簡単。問題は、そろえるための計算時間とデータ量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4005072"/>
            <a:ext cx="112928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17変数の行：各建物「なし＋高さ3×距離3×方位3＝28通り」の4棟分 × 中央高さ4通り。方位3段階は粗すぎるので、実際はさらに多い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7  4方向での線形補間（計算量の見積もり）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4方向で6,561通り → 17変数では別の学習方法が必要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/ 37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1955292" cy="329184"/>
          </a:xfrm>
          <a:prstGeom prst="homePlate">
            <a:avLst/>
          </a:prstGeom>
          <a:solidFill>
            <a:srgbClr val="F6D9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なぜ6,561通り？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934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2222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補間の考え方・1万通り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2148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0436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具体例（2棟・16点）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362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650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4棟なら256点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060704"/>
            <a:ext cx="1955292" cy="329184"/>
          </a:xfrm>
          <a:prstGeom prst="chevron">
            <a:avLst/>
          </a:prstGeom>
          <a:solidFill>
            <a:srgbClr val="F6D9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6864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計算時間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67900" y="1060704"/>
            <a:ext cx="1955292" cy="329184"/>
          </a:xfrm>
          <a:prstGeom prst="chevron">
            <a:avLst/>
          </a:prstGeom>
          <a:solidFill>
            <a:srgbClr val="E893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0780" y="1060704"/>
            <a:ext cx="1653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17変数では別の方法へ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46304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南1棟（完成）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4方向版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最終目標（17変数）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補間する連続変数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2（A, D）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8（A, D × 4）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13（中央高さ＋A, D, θ × 4）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有無の組み合わせ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2⁴＝16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2⁴＝16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必要な配置（各3段階）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約246万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1回の予測で使う頂点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2²＝4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2⁸＝256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2¹³＝8,192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SEBEの計算時間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数分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約3.5〜7日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約2.3〜4.7年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8C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作れた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6A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 負担が大きい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 成立しない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297680"/>
            <a:ext cx="6675120" cy="2011680"/>
          </a:xfrm>
          <a:prstGeom prst="roundRect">
            <a:avLst>
              <a:gd name="adj" fmla="val 2727"/>
            </a:avLst>
          </a:prstGeom>
          <a:solidFill>
            <a:srgbClr val="FBEBD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4352544"/>
            <a:ext cx="6400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線形補間（全組み合わせを表にする方式）の限界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4663440"/>
            <a:ext cx="64008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変数が1つ増えるごとに、必要な配置が3倍以上に増える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表の点が1つでも欠けると、その周りでは補間できない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方位 θ や中央の高さは「格子の間」が広いと精度が落ちるので、段階を増やすとさらに急増する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数学的には使えるが、研究期間と計算資源の中では、17変数のツールは作れない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360920" y="1554480"/>
            <a:ext cx="4389120" cy="4754880"/>
          </a:xfrm>
          <a:prstGeom prst="roundRect">
            <a:avLst>
              <a:gd name="adj" fmla="val 1250"/>
            </a:avLst>
          </a:prstGeom>
          <a:solidFill>
            <a:srgbClr val="1B2A4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543800" y="1627632"/>
            <a:ext cx="4023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そこで：空の遮られ方を使う学習方法へ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543800" y="2194560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35507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635240" y="2221992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建物の配置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8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棟数・方位・高さがばらばら（変数17個）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27980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543800" y="2980944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1F6F7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63524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空の地図に変換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635240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8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壁の点から見て、どの方向の空がふさがれているか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372600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543800" y="3767328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35507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63524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同じ大きさの入力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635240" y="4059936"/>
            <a:ext cx="3840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8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どんな配置でも、例えば72マスの地図になる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372600" y="4370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543800" y="4553712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35507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635240" y="4581144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機械学習で予測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7635240" y="4846320"/>
            <a:ext cx="3840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8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4面×5帯＝20個の日射量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7543800" y="5349240"/>
            <a:ext cx="40690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表の格子をそろえなくてよい（ばらばらな配置で学習できる）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変数が増えても、入力の大きさは変わらない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必要な配置の数・精度はまだ分からない → 来週詳しく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8  代案：空の遮られ方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代案：空の遮られ方 ― どの方向の空がふさがれているかを数える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配置を「空の地図」に変えてから予測する。棟数や方位が変わっても同じ大きさの地図になるので、組み合わせを全部計算しなくてよい。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577840" cy="4828032"/>
          </a:xfrm>
          <a:prstGeom prst="roundRect">
            <a:avLst>
              <a:gd name="adj" fmla="val 1136"/>
            </a:avLst>
          </a:prstGeom>
          <a:solidFill>
            <a:srgbClr val="F3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横から見た図：壁の点Pから空を見上げる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5212080" cy="91"/>
          </a:xfrm>
          <a:prstGeom prst="line">
            <a:avLst/>
          </a:prstGeom>
          <a:noFill/>
          <a:ln w="12700">
            <a:solidFill>
              <a:srgbClr val="6B74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11880"/>
            <a:ext cx="2286000" cy="1600200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高さ35m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926080"/>
            <a:ext cx="777240" cy="2286000"/>
          </a:xfrm>
          <a:prstGeom prst="rect">
            <a:avLst/>
          </a:prstGeom>
          <a:solidFill>
            <a:srgbClr val="1B2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24528" y="4224528"/>
            <a:ext cx="146304" cy="146304"/>
          </a:xfrm>
          <a:prstGeom prst="ellipse">
            <a:avLst/>
          </a:prstGeom>
          <a:solidFill>
            <a:srgbClr val="E89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4114800"/>
            <a:ext cx="822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点P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高さ20m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3154680" y="4137042"/>
            <a:ext cx="1143000" cy="160638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tailEnd type="oval"/>
          </a:ln>
        </p:spPr>
      </p:sp>
      <p:sp>
        <p:nvSpPr>
          <p:cNvPr id="20" name="Shape 18"/>
          <p:cNvSpPr/>
          <p:nvPr/>
        </p:nvSpPr>
        <p:spPr>
          <a:xfrm flipH="1" flipV="1">
            <a:off x="3154680" y="3881662"/>
            <a:ext cx="1143000" cy="416018"/>
          </a:xfrm>
          <a:prstGeom prst="line">
            <a:avLst/>
          </a:prstGeom>
          <a:noFill/>
          <a:ln w="15875">
            <a:solidFill>
              <a:srgbClr val="B04A3F"/>
            </a:solidFill>
            <a:prstDash val="solid"/>
            <a:tailEnd type="oval"/>
          </a:ln>
        </p:spPr>
      </p:sp>
      <p:sp>
        <p:nvSpPr>
          <p:cNvPr id="21" name="Shape 19"/>
          <p:cNvSpPr/>
          <p:nvPr/>
        </p:nvSpPr>
        <p:spPr>
          <a:xfrm flipH="1" flipV="1">
            <a:off x="2939865" y="2939865"/>
            <a:ext cx="1357815" cy="1357815"/>
          </a:xfrm>
          <a:prstGeom prst="line">
            <a:avLst/>
          </a:prstGeom>
          <a:noFill/>
          <a:ln w="15875">
            <a:solidFill>
              <a:srgbClr val="4C8C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 flipV="1">
            <a:off x="3396182" y="2602209"/>
            <a:ext cx="901498" cy="1695471"/>
          </a:xfrm>
          <a:prstGeom prst="line">
            <a:avLst/>
          </a:prstGeom>
          <a:noFill/>
          <a:ln w="15875">
            <a:solidFill>
              <a:srgbClr val="4C8C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 flipV="1">
            <a:off x="3898440" y="2419402"/>
            <a:ext cx="399240" cy="1878278"/>
          </a:xfrm>
          <a:prstGeom prst="line">
            <a:avLst/>
          </a:prstGeom>
          <a:noFill/>
          <a:ln w="15875">
            <a:solidFill>
              <a:srgbClr val="4C8C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 flipV="1">
            <a:off x="2729497" y="3356770"/>
            <a:ext cx="1568183" cy="940910"/>
          </a:xfrm>
          <a:prstGeom prst="line">
            <a:avLst/>
          </a:prstGeom>
          <a:noFill/>
          <a:ln w="12700">
            <a:solidFill>
              <a:srgbClr val="1B2A4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154680" y="5321808"/>
            <a:ext cx="1143000" cy="91"/>
          </a:xfrm>
          <a:prstGeom prst="line">
            <a:avLst/>
          </a:prstGeom>
          <a:noFill/>
          <a:ln w="12700">
            <a:solidFill>
              <a:srgbClr val="B04A3F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154680" y="5340096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隙間 25m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C8C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━ 空が見える　</a:t>
            </a:r>
            <a:pPr indent="0" marL="0">
              <a:buNone/>
            </a:pPr>
            <a:r>
              <a:rPr lang="en-US" sz="850" b="1" dirty="0">
                <a:solidFill>
                  <a:srgbClr val="B0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━ 建物でふさがれる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623560"/>
            <a:ext cx="5029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遮蔽高度角 h：tan h ＝ (35 − 20) / 25 ＝ 0.6 → h ≒ 31°（これより低い方向はふさがれる）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1481328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3F5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点Pから見た「空の地図」（12方位 × 6高度 ＝ 72マス）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338328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6912" y="338328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96912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96912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96912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96912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96912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44384" y="338328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44384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44384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44384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44384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91856" y="3383280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91856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91856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91856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91856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91856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9328" y="3383280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39328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39328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39328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39328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39328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383280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86800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86800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34272" y="3383280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34272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34272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34272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34272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34272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81744" y="3383280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381744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81744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81744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81744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81744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29216" y="3383280"/>
            <a:ext cx="329184" cy="283464"/>
          </a:xfrm>
          <a:prstGeom prst="rect">
            <a:avLst/>
          </a:prstGeom>
          <a:solidFill>
            <a:srgbClr val="B04A3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29216" y="3081528"/>
            <a:ext cx="329184" cy="283464"/>
          </a:xfrm>
          <a:prstGeom prst="rect">
            <a:avLst/>
          </a:prstGeom>
          <a:solidFill>
            <a:srgbClr val="E8934D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729216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29216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29216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29216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076688" y="3383280"/>
            <a:ext cx="329184" cy="283464"/>
          </a:xfrm>
          <a:prstGeom prst="rect">
            <a:avLst/>
          </a:prstGeom>
          <a:solidFill>
            <a:srgbClr val="1F6F78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76688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76688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76688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76688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76688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424160" y="3383280"/>
            <a:ext cx="329184" cy="283464"/>
          </a:xfrm>
          <a:prstGeom prst="rect">
            <a:avLst/>
          </a:prstGeom>
          <a:solidFill>
            <a:srgbClr val="1F6F78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424160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24160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424160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424160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424160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771632" y="338328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771632" y="3081528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771632" y="2779776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71632" y="2478024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71632" y="2176272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71632" y="1874520"/>
            <a:ext cx="3291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1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309360" y="1874520"/>
            <a:ext cx="621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高度90°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6309360" y="3465576"/>
            <a:ext cx="621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高度0°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6949440" y="3703320"/>
            <a:ext cx="41696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−90°（左）　　　　　0°（壁の正面）　　　　　＋90°（右）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6446520" y="4114800"/>
            <a:ext cx="155448" cy="155448"/>
          </a:xfrm>
          <a:prstGeom prst="rect">
            <a:avLst/>
          </a:prstGeom>
          <a:solidFill>
            <a:srgbClr val="E8934D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6638544" y="4069080"/>
            <a:ext cx="10058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680960" y="4114800"/>
            <a:ext cx="155448" cy="155448"/>
          </a:xfrm>
          <a:prstGeom prst="rect">
            <a:avLst/>
          </a:prstGeom>
          <a:solidFill>
            <a:srgbClr val="1F6F78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7872984" y="4069080"/>
            <a:ext cx="20116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別の低い建物（説明用）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738360" y="4114800"/>
            <a:ext cx="155448" cy="155448"/>
          </a:xfrm>
          <a:prstGeom prst="rect">
            <a:avLst/>
          </a:prstGeom>
          <a:solidFill>
            <a:srgbClr val="B04A3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9930384" y="4069080"/>
            <a:ext cx="13716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両方がふさぐ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263640" y="4617720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1B2A44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446520" y="466344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ふさがれた割合 O を数える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6446520" y="4956048"/>
            <a:ext cx="51663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南側建物 12マス ＋ 低い建物 3マス − 重なり 1マス ＝ 14マス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 ＝ 14 / 72 ＝ 0.194（19.4%）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単純に足すと 15マス（20.8%）＝ 重なりを二重に数えてしまう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29184"/>
            <a:ext cx="548640" cy="548640"/>
          </a:xfrm>
          <a:prstGeom prst="ellipse">
            <a:avLst/>
          </a:prstGeom>
          <a:solidFill>
            <a:srgbClr val="E893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292608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8  代案：空の遮られ方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12064"/>
            <a:ext cx="10561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空の遮られ方：計算の流れと、線形補間との違い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SEBEで計算する配置とテスト配置は共通。違うのは「配置をどんな数値に変えて予測するか」。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6519672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データの整理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最終目標の変数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4方向の線形補間</a:t>
            </a:r>
            <a:pPr algn="ctr" indent="0" marL="0">
              <a:buNone/>
            </a:pPr>
            <a:r>
              <a:rPr lang="en-US" sz="900" dirty="0">
                <a:solidFill>
                  <a:srgbClr val="AEB4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›　</a:t>
            </a:r>
            <a:pPr algn="ctr"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代案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 / 37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1B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52704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801368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配置の変数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中央高さ, s, A, D, 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514600" y="2011680"/>
            <a:ext cx="237744" cy="146304"/>
          </a:xfrm>
          <a:prstGeom prst="triangle">
            <a:avLst/>
          </a:prstGeom>
          <a:solidFill>
            <a:srgbClr val="AEB4BC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481328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1F6F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34640" y="152704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遮られ方を調べる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801368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各面・各帯の点から、方向ごとに建物でふさがれるか判定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800600" y="2011680"/>
            <a:ext cx="237744" cy="146304"/>
          </a:xfrm>
          <a:prstGeom prst="triangle">
            <a:avLst/>
          </a:prstGeom>
          <a:solidFill>
            <a:srgbClr val="AEB4B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481328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1F6F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0640" y="152704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数値にまとめる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801368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方向ごとの遮蔽高度角 h、ふさがれた割合 O など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86600" y="2011680"/>
            <a:ext cx="237744" cy="146304"/>
          </a:xfrm>
          <a:prstGeom prst="triangle">
            <a:avLst/>
          </a:prstGeom>
          <a:solidFill>
            <a:srgbClr val="AEB4B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1481328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C56A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6640" y="152704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機械学習モデル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801368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②の数値 → 年間日射量（モデルは未定）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9372600" y="2011680"/>
            <a:ext cx="237744" cy="146304"/>
          </a:xfrm>
          <a:prstGeom prst="triangle">
            <a:avLst/>
          </a:prstGeom>
          <a:solidFill>
            <a:srgbClr val="AEB4BC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0" y="1481328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1B2A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52704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1801368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4面 × 5帯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20個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5669280" cy="3474720"/>
          </a:xfrm>
          <a:prstGeom prst="roundRect">
            <a:avLst>
              <a:gd name="adj" fmla="val 1579"/>
            </a:avLst>
          </a:prstGeom>
          <a:solidFill>
            <a:srgbClr val="F3F5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2889504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想定している計算（前ページの点Pの値）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遮蔽高度角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737360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max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arctan( (A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− z) / d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737360" y="345643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max</a:t>
            </a:r>
            <a:pPr indent="0" marL="0">
              <a:buNone/>
            </a:pPr>
            <a:r>
              <a:rPr lang="en-US" sz="90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：有る建物 i の中で一番高く見える角度を選ぶ（重なっても1回）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737360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例：正面 arctan(15/25) ＝ 31°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ふさがれているか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3959352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1（マスの高度 ＜ h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）／ 0（それ以外）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423367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そのマスが建物より低い方向なら「ふさがれている」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445312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例：正面の高度0〜15°のマスは 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4754880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ふさがれた割合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737360" y="4736592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 ＝ (1/J) Σ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j=1</a:t>
            </a:r>
            <a:pPr indent="0" marL="0">
              <a:buNone/>
            </a:pPr>
            <a:r>
              <a:rPr lang="en-US" sz="1100" b="1" baseline="3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b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501091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Σ</a:t>
            </a:r>
            <a:pPr indent="0" marL="0">
              <a:buNone/>
            </a:pPr>
            <a:r>
              <a:rPr lang="en-US" sz="900" baseline="-4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j=1</a:t>
            </a:r>
            <a:pPr indent="0" marL="0">
              <a:buNone/>
            </a:pPr>
            <a:r>
              <a:rPr lang="en-US" sz="900" baseline="300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：J 個のマスの b を全部足す＝ふさがれたマスの数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737360" y="523036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例：14 / 72 ＝ 0.194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5532120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5513832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f,k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＝ F( h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…, h</a:t>
            </a:r>
            <a:pPr indent="0" marL="0">
              <a:buNone/>
            </a:pPr>
            <a:r>
              <a:rPr lang="en-US" sz="1100" b="1" baseline="-40000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</a:t>
            </a:r>
            <a:pPr indent="0" marL="0">
              <a:buNone/>
            </a:pPr>
            <a:r>
              <a:rPr lang="en-US" sz="1100" b="1" dirty="0">
                <a:solidFill>
                  <a:srgbClr val="1B2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 O, z, 面の向き 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737360" y="578815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F：SEBEの結果から学習して作る関数（機械学習モデル）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737360" y="600760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例：F の種類は来週決める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83464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線形補間（全組み合わせ）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空の遮られ方（代案）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入力データ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配置の変数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同じ（内部で②の数値に変換）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学習データ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格子の全配置（4方向で1万）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格子をそろえなくてよい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変数が増えると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配置が3倍ずつ増える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入力の大きさは同じ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影の重なり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全配置のSEBE値に含む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max・マス数で1回だけ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4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計算の重さ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予測は軽い・準備が重い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F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②の計算＋モデル学習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6355080" y="493776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BEBDA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492240" y="498348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6A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まだ決めていないこと（来週詰める）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257800"/>
            <a:ext cx="51206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方向の分け方（何マスにするか）と距離 d の正確な求め方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機械学習モデルの種類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3F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線形補間より必ず良いとは言えない → 同じテスト配置で比べる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4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まとめ：今回整理したことと、来週やること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4434840"/>
          </a:xfrm>
          <a:prstGeom prst="roundRect">
            <a:avLst>
              <a:gd name="adj" fmla="val 1579"/>
            </a:avLst>
          </a:prstGeom>
          <a:solidFill>
            <a:srgbClr val="24365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F6F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今回整理したこと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データの役割（47配置）と、2,500区画→5帯→4隅の重み付き平均（Σ）の計算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最終ツールの変数17個と、有無を0/1の s で表す理由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線形補間は4方向で 6,561〜10,000配置・256頂点が必要。SEBE 1回30秒〜1分でも約3.5〜7日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17変数では約246万配置・数年 → 別の学習方法が必要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474720" cy="4434840"/>
          </a:xfrm>
          <a:prstGeom prst="roundRect">
            <a:avLst>
              <a:gd name="adj" fmla="val 1579"/>
            </a:avLst>
          </a:prstGeom>
          <a:solidFill>
            <a:srgbClr val="24365A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554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E893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来週やること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空の遮られ方の計算方法（方向の分け方・距離の扱い）を決める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学習に使う配置の数と選び方、機械学習モデルを決める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まず南1棟の既存データで特徴量を計算し、線形補間と精度を比べる（案）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474720" cy="4434840"/>
          </a:xfrm>
          <a:prstGeom prst="roundRect">
            <a:avLst>
              <a:gd name="adj" fmla="val 1579"/>
            </a:avLst>
          </a:prstGeom>
          <a:solidFill>
            <a:srgbClr val="24365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554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8FA0B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まだ決めていないこと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240280"/>
            <a:ext cx="310896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判断の基準（誤差率何%以内なら採用するか）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空の遮られ方で必要な配置の数</a:t>
            </a:r>
            <a:endParaRPr lang="en-US" sz="11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中央の高さ・任意方位への広げ方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9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線形補間で全組み合わせを事前計算する方式は、17変数では成立しない。次は「空の遮られ方」の詳細を詰める。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壁面日射量予測ツールの開発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360152" y="6492240"/>
            <a:ext cx="1371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 / 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Microsoft Office PowerPoint</Application>
  <PresentationFormat>ワイド画面</PresentationFormat>
  <Paragraphs>639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1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光陽 吉野</cp:lastModifiedBy>
  <cp:revision>2</cp:revision>
  <dcterms:created xsi:type="dcterms:W3CDTF">2026-09-23T13:40:34Z</dcterms:created>
  <dcterms:modified xsi:type="dcterms:W3CDTF">2026-09-23T13:41:50Z</dcterms:modified>
</cp:coreProperties>
</file>