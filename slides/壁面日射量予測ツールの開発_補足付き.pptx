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6" autoAdjust="0"/>
    <p:restoredTop sz="94610"/>
  </p:normalViewPr>
  <p:slideViewPr>
    <p:cSldViewPr snapToGrid="0" snapToObjects="1">
      <p:cViewPr>
        <p:scale>
          <a:sx n="73" d="100"/>
          <a:sy n="73" d="100"/>
        </p:scale>
        <p:origin x="796" y="6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187E-4BA0-B52A-F49865E1B146}"/>
              </c:ext>
            </c:extLst>
          </c:dPt>
          <c:dPt>
            <c:idx val="1"/>
            <c:invertIfNegative val="0"/>
            <c:bubble3D val="0"/>
            <c:spPr>
              <a:solidFill>
                <a:srgbClr val="1B2A44"/>
              </a:solidFill>
              <a:effectLst/>
            </c:spPr>
            <c:extLst>
              <c:ext xmlns:c16="http://schemas.microsoft.com/office/drawing/2014/chart" uri="{C3380CC4-5D6E-409C-BE32-E72D297353CC}">
                <c16:uniqueId val="{00000003-187E-4BA0-B52A-F49865E1B146}"/>
              </c:ext>
            </c:extLst>
          </c:dPt>
          <c:dPt>
            <c:idx val="2"/>
            <c:invertIfNegative val="0"/>
            <c:bubble3D val="0"/>
            <c:spPr>
              <a:solidFill>
                <a:srgbClr val="1B2A44"/>
              </a:solidFill>
              <a:effectLst/>
            </c:spPr>
            <c:extLst>
              <c:ext xmlns:c16="http://schemas.microsoft.com/office/drawing/2014/chart" uri="{C3380CC4-5D6E-409C-BE32-E72D297353CC}">
                <c16:uniqueId val="{00000005-187E-4BA0-B52A-F49865E1B146}"/>
              </c:ext>
            </c:extLst>
          </c:dPt>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19.989999999999998</c:v>
                </c:pt>
                <c:pt idx="1">
                  <c:v>50.94</c:v>
                </c:pt>
                <c:pt idx="2">
                  <c:v>27.52</c:v>
                </c:pt>
              </c:numCache>
            </c:numRef>
          </c:val>
          <c:extLst>
            <c:ext xmlns:c16="http://schemas.microsoft.com/office/drawing/2014/chart" uri="{C3380CC4-5D6E-409C-BE32-E72D297353CC}">
              <c16:uniqueId val="{00000006-187E-4BA0-B52A-F49865E1B14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6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平均誤差率 (%)</a:t>
            </a:r>
          </a:p>
        </c:rich>
      </c:tx>
      <c:overlay val="0"/>
    </c:title>
    <c:autoTitleDeleted val="0"/>
    <c:plotArea>
      <c:layout/>
      <c:barChart>
        <c:barDir val="col"/>
        <c:grouping val="clustered"/>
        <c:varyColors val="0"/>
        <c:ser>
          <c:idx val="0"/>
          <c:order val="0"/>
          <c:tx>
            <c:strRef>
              <c:f>Sheet1!$B$1</c:f>
              <c:strCache>
                <c:ptCount val="1"/>
                <c:pt idx="0">
                  <c:v>誤差率</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24D3-442B-B184-9BBAB1F22BE6}"/>
              </c:ext>
            </c:extLst>
          </c:dPt>
          <c:dPt>
            <c:idx val="1"/>
            <c:invertIfNegative val="0"/>
            <c:bubble3D val="0"/>
            <c:spPr>
              <a:solidFill>
                <a:srgbClr val="1B2A44"/>
              </a:solidFill>
              <a:effectLst/>
            </c:spPr>
            <c:extLst>
              <c:ext xmlns:c16="http://schemas.microsoft.com/office/drawing/2014/chart" uri="{C3380CC4-5D6E-409C-BE32-E72D297353CC}">
                <c16:uniqueId val="{00000003-24D3-442B-B184-9BBAB1F22BE6}"/>
              </c:ext>
            </c:extLst>
          </c:dPt>
          <c:dPt>
            <c:idx val="2"/>
            <c:invertIfNegative val="0"/>
            <c:bubble3D val="0"/>
            <c:spPr>
              <a:solidFill>
                <a:srgbClr val="1B2A44"/>
              </a:solidFill>
              <a:effectLst/>
            </c:spPr>
            <c:extLst>
              <c:ext xmlns:c16="http://schemas.microsoft.com/office/drawing/2014/chart" uri="{C3380CC4-5D6E-409C-BE32-E72D297353CC}">
                <c16:uniqueId val="{00000005-24D3-442B-B184-9BBAB1F22BE6}"/>
              </c:ext>
            </c:extLst>
          </c:dPt>
          <c:dLbls>
            <c:numFmt formatCode="0.00&quot;%&quot;"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2.67</c:v>
                </c:pt>
                <c:pt idx="1">
                  <c:v>7.33</c:v>
                </c:pt>
                <c:pt idx="2">
                  <c:v>4.3</c:v>
                </c:pt>
              </c:numCache>
            </c:numRef>
          </c:val>
          <c:extLst>
            <c:ext xmlns:c16="http://schemas.microsoft.com/office/drawing/2014/chart" uri="{C3380CC4-5D6E-409C-BE32-E72D297353CC}">
              <c16:uniqueId val="{00000006-24D3-442B-B184-9BBAB1F22BE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検証とテストの比較</a:t>
            </a:r>
          </a:p>
        </c:rich>
      </c:tx>
      <c:overlay val="0"/>
    </c:title>
    <c:autoTitleDeleted val="0"/>
    <c:plotArea>
      <c:layout/>
      <c:barChart>
        <c:barDir val="col"/>
        <c:grouping val="clustered"/>
        <c:varyColors val="0"/>
        <c:ser>
          <c:idx val="0"/>
          <c:order val="0"/>
          <c:tx>
            <c:strRef>
              <c:f>Sheet1!$B$1</c:f>
              <c:strCache>
                <c:ptCount val="1"/>
                <c:pt idx="0">
                  <c:v>検証8</c:v>
                </c:pt>
              </c:strCache>
            </c:strRef>
          </c:tx>
          <c:spPr>
            <a:solidFill>
              <a:srgbClr val="9AA9B6"/>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Sheet1!$B$2:$B$3</c:f>
              <c:numCache>
                <c:formatCode>General</c:formatCode>
                <c:ptCount val="2"/>
                <c:pt idx="0">
                  <c:v>19.989999999999998</c:v>
                </c:pt>
                <c:pt idx="1">
                  <c:v>2.67</c:v>
                </c:pt>
              </c:numCache>
            </c:numRef>
          </c:val>
          <c:extLst>
            <c:ext xmlns:c16="http://schemas.microsoft.com/office/drawing/2014/chart" uri="{C3380CC4-5D6E-409C-BE32-E72D297353CC}">
              <c16:uniqueId val="{00000000-2A54-4367-BF86-F033EC9FFF95}"/>
            </c:ext>
          </c:extLst>
        </c:ser>
        <c:ser>
          <c:idx val="1"/>
          <c:order val="1"/>
          <c:tx>
            <c:strRef>
              <c:f>Sheet1!$C$1</c:f>
              <c:strCache>
                <c:ptCount val="1"/>
                <c:pt idx="0">
                  <c:v>テスト12</c:v>
                </c:pt>
              </c:strCache>
            </c:strRef>
          </c:tx>
          <c:spPr>
            <a:solidFill>
              <a:srgbClr val="4C8C6B"/>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Sheet1!$C$2:$C$3</c:f>
              <c:numCache>
                <c:formatCode>General</c:formatCode>
                <c:ptCount val="2"/>
                <c:pt idx="0">
                  <c:v>18.399999999999999</c:v>
                </c:pt>
                <c:pt idx="1">
                  <c:v>2.42</c:v>
                </c:pt>
              </c:numCache>
            </c:numRef>
          </c:val>
          <c:extLst>
            <c:ext xmlns:c16="http://schemas.microsoft.com/office/drawing/2014/chart" uri="{C3380CC4-5D6E-409C-BE32-E72D297353CC}">
              <c16:uniqueId val="{00000001-2A54-4367-BF86-F033EC9FFF9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2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95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4B73-4D5E-8776-185843A2C265}"/>
              </c:ext>
            </c:extLst>
          </c:dPt>
          <c:dPt>
            <c:idx val="1"/>
            <c:invertIfNegative val="0"/>
            <c:bubble3D val="0"/>
            <c:extLst>
              <c:ext xmlns:c16="http://schemas.microsoft.com/office/drawing/2014/chart" uri="{C3380CC4-5D6E-409C-BE32-E72D297353CC}">
                <c16:uniqueId val="{00000003-4B73-4D5E-8776-185843A2C265}"/>
              </c:ext>
            </c:extLst>
          </c:dPt>
          <c:dPt>
            <c:idx val="2"/>
            <c:invertIfNegative val="0"/>
            <c:bubble3D val="0"/>
            <c:extLst>
              <c:ext xmlns:c16="http://schemas.microsoft.com/office/drawing/2014/chart" uri="{C3380CC4-5D6E-409C-BE32-E72D297353CC}">
                <c16:uniqueId val="{00000005-4B73-4D5E-8776-185843A2C265}"/>
              </c:ext>
            </c:extLst>
          </c:dPt>
          <c:dPt>
            <c:idx val="3"/>
            <c:invertIfNegative val="0"/>
            <c:bubble3D val="0"/>
            <c:spPr>
              <a:solidFill>
                <a:srgbClr val="B04A3F"/>
              </a:solidFill>
              <a:effectLst/>
            </c:spPr>
            <c:extLst>
              <c:ext xmlns:c16="http://schemas.microsoft.com/office/drawing/2014/chart" uri="{C3380CC4-5D6E-409C-BE32-E72D297353CC}">
                <c16:uniqueId val="{00000007-4B73-4D5E-8776-185843A2C265}"/>
              </c:ext>
            </c:extLst>
          </c:dPt>
          <c:dPt>
            <c:idx val="4"/>
            <c:invertIfNegative val="0"/>
            <c:bubble3D val="0"/>
            <c:extLst>
              <c:ext xmlns:c16="http://schemas.microsoft.com/office/drawing/2014/chart" uri="{C3380CC4-5D6E-409C-BE32-E72D297353CC}">
                <c16:uniqueId val="{00000009-4B73-4D5E-8776-185843A2C265}"/>
              </c:ext>
            </c:extLst>
          </c:dPt>
          <c:dLbls>
            <c:numFmt formatCode="0.00"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15.07</c:v>
                </c:pt>
                <c:pt idx="1">
                  <c:v>24.23</c:v>
                </c:pt>
                <c:pt idx="2">
                  <c:v>20.100000000000001</c:v>
                </c:pt>
                <c:pt idx="3">
                  <c:v>38.56</c:v>
                </c:pt>
                <c:pt idx="4">
                  <c:v>27.09</c:v>
                </c:pt>
              </c:numCache>
            </c:numRef>
          </c:val>
          <c:extLst>
            <c:ext xmlns:c16="http://schemas.microsoft.com/office/drawing/2014/chart" uri="{C3380CC4-5D6E-409C-BE32-E72D297353CC}">
              <c16:uniqueId val="{0000000A-4B73-4D5E-8776-185843A2C2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最大誤差率 (%)</a:t>
            </a:r>
          </a:p>
        </c:rich>
      </c:tx>
      <c:overlay val="0"/>
    </c:title>
    <c:autoTitleDeleted val="0"/>
    <c:plotArea>
      <c:layout/>
      <c:barChart>
        <c:barDir val="col"/>
        <c:grouping val="clustered"/>
        <c:varyColors val="0"/>
        <c:ser>
          <c:idx val="0"/>
          <c:order val="0"/>
          <c:tx>
            <c:strRef>
              <c:f>Sheet1!$B$1</c:f>
              <c:strCache>
                <c:ptCount val="1"/>
                <c:pt idx="0">
                  <c:v>最大誤差率</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2FA9-4DBC-B6F7-BB5DD590BD82}"/>
              </c:ext>
            </c:extLst>
          </c:dPt>
          <c:dPt>
            <c:idx val="1"/>
            <c:invertIfNegative val="0"/>
            <c:bubble3D val="0"/>
            <c:extLst>
              <c:ext xmlns:c16="http://schemas.microsoft.com/office/drawing/2014/chart" uri="{C3380CC4-5D6E-409C-BE32-E72D297353CC}">
                <c16:uniqueId val="{00000003-2FA9-4DBC-B6F7-BB5DD590BD82}"/>
              </c:ext>
            </c:extLst>
          </c:dPt>
          <c:dPt>
            <c:idx val="2"/>
            <c:invertIfNegative val="0"/>
            <c:bubble3D val="0"/>
            <c:extLst>
              <c:ext xmlns:c16="http://schemas.microsoft.com/office/drawing/2014/chart" uri="{C3380CC4-5D6E-409C-BE32-E72D297353CC}">
                <c16:uniqueId val="{00000005-2FA9-4DBC-B6F7-BB5DD590BD82}"/>
              </c:ext>
            </c:extLst>
          </c:dPt>
          <c:dPt>
            <c:idx val="3"/>
            <c:invertIfNegative val="0"/>
            <c:bubble3D val="0"/>
            <c:spPr>
              <a:solidFill>
                <a:srgbClr val="B04A3F"/>
              </a:solidFill>
              <a:effectLst/>
            </c:spPr>
            <c:extLst>
              <c:ext xmlns:c16="http://schemas.microsoft.com/office/drawing/2014/chart" uri="{C3380CC4-5D6E-409C-BE32-E72D297353CC}">
                <c16:uniqueId val="{00000007-2FA9-4DBC-B6F7-BB5DD590BD82}"/>
              </c:ext>
            </c:extLst>
          </c:dPt>
          <c:dPt>
            <c:idx val="4"/>
            <c:invertIfNegative val="0"/>
            <c:bubble3D val="0"/>
            <c:extLst>
              <c:ext xmlns:c16="http://schemas.microsoft.com/office/drawing/2014/chart" uri="{C3380CC4-5D6E-409C-BE32-E72D297353CC}">
                <c16:uniqueId val="{00000009-2FA9-4DBC-B6F7-BB5DD590BD82}"/>
              </c:ext>
            </c:extLst>
          </c:dPt>
          <c:dLbls>
            <c:numFmt formatCode="0.0&quot;%&quot;"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3.41</c:v>
                </c:pt>
                <c:pt idx="1">
                  <c:v>11.85</c:v>
                </c:pt>
                <c:pt idx="2">
                  <c:v>6.7</c:v>
                </c:pt>
                <c:pt idx="3">
                  <c:v>15.08</c:v>
                </c:pt>
                <c:pt idx="4">
                  <c:v>14.37</c:v>
                </c:pt>
              </c:numCache>
            </c:numRef>
          </c:val>
          <c:extLst>
            <c:ext xmlns:c16="http://schemas.microsoft.com/office/drawing/2014/chart" uri="{C3380CC4-5D6E-409C-BE32-E72D297353CC}">
              <c16:uniqueId val="{0000000A-2FA9-4DBC-B6F7-BB5DD590BD8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1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高さ帯別の MAE（kWh/m²）</a:t>
            </a:r>
          </a:p>
        </c:rich>
      </c:tx>
      <c:overlay val="0"/>
    </c:title>
    <c:autoTitleDeleted val="0"/>
    <c:plotArea>
      <c:layout/>
      <c:barChart>
        <c:barDir val="col"/>
        <c:grouping val="clustered"/>
        <c:varyColors val="0"/>
        <c:ser>
          <c:idx val="0"/>
          <c:order val="0"/>
          <c:tx>
            <c:strRef>
              <c:f>Sheet1!$B$1</c:f>
              <c:strCache>
                <c:ptCount val="1"/>
                <c:pt idx="0">
                  <c:v>広範囲版</c:v>
                </c:pt>
              </c:strCache>
            </c:strRef>
          </c:tx>
          <c:spPr>
            <a:solidFill>
              <a:srgbClr val="9AA9B6"/>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12.91</c:v>
                </c:pt>
                <c:pt idx="1">
                  <c:v>35.630000000000003</c:v>
                </c:pt>
                <c:pt idx="2">
                  <c:v>38.35</c:v>
                </c:pt>
                <c:pt idx="3">
                  <c:v>85.41</c:v>
                </c:pt>
                <c:pt idx="4">
                  <c:v>45.22</c:v>
                </c:pt>
              </c:numCache>
            </c:numRef>
          </c:val>
          <c:extLst>
            <c:ext xmlns:c16="http://schemas.microsoft.com/office/drawing/2014/chart" uri="{C3380CC4-5D6E-409C-BE32-E72D297353CC}">
              <c16:uniqueId val="{00000000-0568-4731-BC0B-CAD6170846FE}"/>
            </c:ext>
          </c:extLst>
        </c:ser>
        <c:ser>
          <c:idx val="1"/>
          <c:order val="1"/>
          <c:tx>
            <c:strRef>
              <c:f>Sheet1!$C$1</c:f>
              <c:strCache>
                <c:ptCount val="1"/>
                <c:pt idx="0">
                  <c:v>局所改良版</c:v>
                </c:pt>
              </c:strCache>
            </c:strRef>
          </c:tx>
          <c:spPr>
            <a:solidFill>
              <a:srgbClr val="4C8C6B"/>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Sheet1!$C$2:$C$6</c:f>
              <c:numCache>
                <c:formatCode>General</c:formatCode>
                <c:ptCount val="5"/>
                <c:pt idx="0">
                  <c:v>3.92</c:v>
                </c:pt>
                <c:pt idx="1">
                  <c:v>14.59</c:v>
                </c:pt>
                <c:pt idx="2">
                  <c:v>28.14</c:v>
                </c:pt>
                <c:pt idx="3">
                  <c:v>22.36</c:v>
                </c:pt>
                <c:pt idx="4">
                  <c:v>20.03</c:v>
                </c:pt>
              </c:numCache>
            </c:numRef>
          </c:val>
          <c:extLst>
            <c:ext xmlns:c16="http://schemas.microsoft.com/office/drawing/2014/chart" uri="{C3380CC4-5D6E-409C-BE32-E72D297353CC}">
              <c16:uniqueId val="{00000001-0568-4731-BC0B-CAD6170846F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00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季節ボタンの代表日と 12:00 の太陽高度（計算値）</a:t>
            </a:r>
          </a:p>
        </c:rich>
      </c:tx>
      <c:overlay val="0"/>
    </c:title>
    <c:autoTitleDeleted val="0"/>
    <c:plotArea>
      <c:layout/>
      <c:barChart>
        <c:barDir val="col"/>
        <c:grouping val="clustered"/>
        <c:varyColors val="0"/>
        <c:ser>
          <c:idx val="0"/>
          <c:order val="0"/>
          <c:tx>
            <c:strRef>
              <c:f>Sheet1!$B$1</c:f>
              <c:strCache>
                <c:ptCount val="1"/>
                <c:pt idx="0">
                  <c:v>太陽高度</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BC59-4B2B-8833-C33AEBFD7CC4}"/>
              </c:ext>
            </c:extLst>
          </c:dPt>
          <c:dPt>
            <c:idx val="1"/>
            <c:invertIfNegative val="0"/>
            <c:bubble3D val="0"/>
            <c:spPr>
              <a:solidFill>
                <a:srgbClr val="E8934D"/>
              </a:solidFill>
              <a:effectLst/>
            </c:spPr>
            <c:extLst>
              <c:ext xmlns:c16="http://schemas.microsoft.com/office/drawing/2014/chart" uri="{C3380CC4-5D6E-409C-BE32-E72D297353CC}">
                <c16:uniqueId val="{00000003-BC59-4B2B-8833-C33AEBFD7CC4}"/>
              </c:ext>
            </c:extLst>
          </c:dPt>
          <c:dPt>
            <c:idx val="2"/>
            <c:invertIfNegative val="0"/>
            <c:bubble3D val="0"/>
            <c:spPr>
              <a:solidFill>
                <a:srgbClr val="C56A2C"/>
              </a:solidFill>
              <a:effectLst/>
            </c:spPr>
            <c:extLst>
              <c:ext xmlns:c16="http://schemas.microsoft.com/office/drawing/2014/chart" uri="{C3380CC4-5D6E-409C-BE32-E72D297353CC}">
                <c16:uniqueId val="{00000005-BC59-4B2B-8833-C33AEBFD7CC4}"/>
              </c:ext>
            </c:extLst>
          </c:dPt>
          <c:dPt>
            <c:idx val="3"/>
            <c:invertIfNegative val="0"/>
            <c:bubble3D val="0"/>
            <c:spPr>
              <a:solidFill>
                <a:srgbClr val="1F6F78"/>
              </a:solidFill>
              <a:effectLst/>
            </c:spPr>
            <c:extLst>
              <c:ext xmlns:c16="http://schemas.microsoft.com/office/drawing/2014/chart" uri="{C3380CC4-5D6E-409C-BE32-E72D297353CC}">
                <c16:uniqueId val="{00000007-BC59-4B2B-8833-C33AEBFD7CC4}"/>
              </c:ext>
            </c:extLst>
          </c:dPt>
          <c:dLbls>
            <c:numFmt formatCode="0.00&quot;°&quot;" sourceLinked="0"/>
            <c:spPr>
              <a:noFill/>
              <a:ln>
                <a:noFill/>
              </a:ln>
              <a:effectLst/>
            </c:spPr>
            <c:txPr>
              <a:bodyPr/>
              <a:lstStyle/>
              <a:p>
                <a:pPr>
                  <a:defRPr sz="11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春 3/20</c:v>
                </c:pt>
                <c:pt idx="1">
                  <c:v>夏 6/21</c:v>
                </c:pt>
                <c:pt idx="2">
                  <c:v>秋 9/22</c:v>
                </c:pt>
                <c:pt idx="3">
                  <c:v>冬 12/21</c:v>
                </c:pt>
              </c:strCache>
            </c:strRef>
          </c:cat>
          <c:val>
            <c:numRef>
              <c:f>Sheet1!$B$2:$B$5</c:f>
              <c:numCache>
                <c:formatCode>General</c:formatCode>
                <c:ptCount val="4"/>
                <c:pt idx="0">
                  <c:v>53.75</c:v>
                </c:pt>
                <c:pt idx="1">
                  <c:v>77.19</c:v>
                </c:pt>
                <c:pt idx="2">
                  <c:v>54.42</c:v>
                </c:pt>
                <c:pt idx="3">
                  <c:v>30.67</c:v>
                </c:pt>
              </c:numCache>
            </c:numRef>
          </c:val>
          <c:extLst>
            <c:ext xmlns:c16="http://schemas.microsoft.com/office/drawing/2014/chart" uri="{C3380CC4-5D6E-409C-BE32-E72D297353CC}">
              <c16:uniqueId val="{00000008-BC59-4B2B-8833-C33AEBFD7CC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1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13607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ここからは前回の指摘への回答です。Q1のデータの区別と計算過程、Q2の最終ツールの変数、Q3の4方向で線形補間が使えるかを順に説明し、最後に代案と来週の予定を示します。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件のデータは、入力（AとD）と正解値（SEBEの計算値）の組です。同じ形のデータでも、何に使ったかで学習用・検証・テストと呼び分けています。線形補間は係数を学習しないので、学習用データは「補間の基準として保存した計算データ」と言う方が正確です。合計は重複なしで47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配置につきSEBEが出す南面の区画値は2,500個です。これを高さ10mごとに500個ずつ平均して5つの値にします。16配置なら80個の帯平均になりますが、学習に使った配置は16件です。全体平均は5帯の平均なので、足しても独立した情報は増え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D)=(50, 10)の配置で、帯1の500区画の年間日射量を合計すると約168,670、500で割ると337.34になります。5帯を同じように計算し、その平均484.76は2,500区画をまとめて平均した値と一致します。この5個が、補間に使う16行×5列の表の1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計算は5段階です。入力を囲む4つの格子点を探し、区間の中での位置uとvを求め、4隅の重みを掛け算で求めます。重みの合計は1です。高さ帯ごとに、保存値と重みを掛けて足すと予測値になります。右の図のように、ある隅の重みはその反対側の長方形の面積になるため、近い隅ほど重みが大き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のページの式に実際の保存値を入れた例です。0〜10m帯では、4つの保存値に重みを掛けて足すと398.18になります。残りの帯も同じ重みを使います。5帯の平均521.29が南面全体の平均です。この値はSEBEを新たに実行した結果ではないので、この条件での誤差は分か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精度はMAE、平均誤差率、最大誤差率で評価しました。どれも予測値とSEBE計算値の差から計算します。上の流れのように、検証データで方法を決めてからテストデータを使い、テスト結果を見て方法を変え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誤差の式に代表値を入れた例です。A=35m・D=15mの30〜40m帯では、SEBEが1,014.20、予測が861.26なので、誤差は−152.94、誤差率は15.08%です。MAEはこの絶対誤差をN件分平均したもので、検証8配置では合計159.92を8で割って19.99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適当に増やしたのか」という質問への回答です。誤差が最大だった配置を含む格子に着目し、既存の4隅を再利用して、高さと距離に区切りを1本ずつ追加して3×3にしました。足りない5点を計算し、未使用の6配置で改善を確認しました。ただし17mや5点が最適かどうかは検証し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ツールでは、中央建物の高さH_Cと、周囲建物ごとの有無s、高さA、隙間D、方位θを変えます。1＋4×4で17個です。θは建物を回転させる角度ではなく、中央から見て建物を置く方向です。Dは外形どうしの最短距離で、図の赤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立体で見ると、中央建物の高さH_Cと、周囲建物の高さAの位置が分かります。隙間Dは地面上の壁と壁の距離です。出力は中央建物の北・東・南・西の4面をそれぞれ5帯に分けた20個です。中央の高さを変えた場合は、10m刻みではなく高さを5等分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建物がない場合、AやDには入れるべき値がありません。A=0やDを大きな値にすると範囲外の値を扱うことになるので、有無を0と1の変数sで分けます。これで0〜4棟のどれでも同じ17個の変数で表せ、式でもsを掛ければない建物の項が消えます。ただし0と1の間は補間できないため、有無の組み合わせごとに分ける必要があり、これが線形補間の難しさの一つ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17変数へ一度に進むのではなく、方位を北・東・南・西に固定し、中央の高さも50mに固定した4方向版で試します。変数は各方向のs、A、Dの12個です。4方向は4棟を必ず置くという意味ではなく、各方向に0か1棟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生からの「2変数で9点ならば4方向でもできるのでは」という質問への回答です。9点は狭い局所範囲だけで、全体は16点です。また、各方向9点ずつ計算しても、組み合わせの条件は埋まりません。4棟それぞれの高さと距離を変えると8変数になり、3段階ずつでも完全格子は6,561配置、1区間の隅は256点になります。ここでは棟の有無は固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さらに3つの理由があります。1つ目は、有無のsは0か1なので補間できず、有無の組み合わせ16通りごとに格子が必要になることです。3段階ずつなら合計10,000配置です。2つ目は、影が重なるので1棟ずつの効果を単純に足せないことです。3つ目は、屋根付近のように急に変わる場所では直線の補間が合わないことです。ただし、これらが実際にどれくらい誤差になるかはまだ計算していないので、来週数値で確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来週試す方法です。4方向ではまだ線形補間を行っていません。建物なしの値から、置いた建物それぞれの減る量を引くという重ね合わせを仮定します。各方向の1棟だけの効果は、南と同じAとDの格子で補間できます。学習用に建物なし1配置と各方向16配置、合計65配置を使い、南の16配置は再利用するので新規は49配置です。テストは1棟だけの6配置と、2〜4棟を同時に置く12配置で、補間の誤差と足し合わせの誤差を分けて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している計算式です。まず1棟だけの効果を、建物なしの値との差としてSEBEで求めます。格子の間は南と同じ双線形補間で求め、有る建物の分だけ引きます。例として南と東に建物がある場合、南の重みは前と同じ、東は40mと30mなので0.32、0.48、0.08、0.12になります。北と西はs=0なので項が消えます。実際の値はSEBE計算後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式に代表値を入れた想定の例です。南の効果は、重みの合計が1なので、建物なしの値Y0から、今の南1棟の予測398.18を引いた形になります。東の効果は重み0.32、0.48、0.08、0.12で東だけの配置の値を補間します。まとめると、南面・帯1の予測は398.18から東の建物で減る量を引いた値になります。東の値は来週SEBEで計算するので、ここでは□に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来週示す数値の一覧です。1棟だけのテストで補間そのものの誤差を、2〜4棟のテストで足し合わせの誤差を見ます。棟数ごとに誤差を並べることで、重なりが問題になっているかが分かります。判断の基準は結果を見る前に決めたいので、ご意見をいただき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線形補間でうまくいかない場合の代案です。壁の点から空を見上げ、どの方向が建物でふさがれているかを調べます。右の空の地図のように、方向をマスに分けて、ふさがれたマスを数えます。2棟が同じ方向をふさいでも1回しか数えないので、影の重なりを自然に扱えると考えています。ただし、まだ詳細は決まっ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空の遮られ方の計算の流れです。入力、学習、テストのデータは線形補間と同じものを使えます。違うのは、配置を方向ごとの遮蔽高度角やふさがれた割合という特徴量に変換し、機械学習モデルで日射量を予測する点です。方向の分け方、距離の正確な扱い、モデルの種類はまだ決まっていないので、来週詰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空の遮られ方の式に代表値を入れた例です。点Pの高さは20m、南側建物は高さ35m、距離25mなので、正面ではtan h = 15/25 = 0.6、h = 31°です。斜め30°では距離が28.87mになるのでh = 27.5°、60°では建物の横を通るので0°です。2棟目がある方向ではmaxを取るので、重なった方向は大きい方の角度だけが残ります。ふさがれたマスは14個で、Oは14/72=0.194です。単純に足すと15個になり、重なりを二重に数えてしまいます。建物2の10°は説明用の仮の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今回はデータの役割と計算過程、最終ツールの変数、線形補間が難しい理由を整理しました。来週は4方向版で線形補間を試し、棟数ごとの誤差を数値で示します。判断の基準についてご意見をいただき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0" y="1325880"/>
            <a:ext cx="12191695" cy="320040"/>
          </a:xfrm>
          <a:prstGeom prst="rect">
            <a:avLst/>
          </a:prstGeom>
          <a:noFill/>
          <a:ln/>
        </p:spPr>
        <p:txBody>
          <a:bodyPr wrap="square" rtlCol="0" anchor="t"/>
          <a:lstStyle/>
          <a:p>
            <a:pPr marL="0" indent="0" algn="ctr">
              <a:buNone/>
            </a:pPr>
            <a:r>
              <a:rPr lang="en-US" sz="1300" b="1" kern="0" spc="200" dirty="0">
                <a:solidFill>
                  <a:srgbClr val="E8934D"/>
                </a:solidFill>
                <a:latin typeface="Yu Gothic" pitchFamily="34" charset="0"/>
                <a:ea typeface="Yu Gothic" pitchFamily="34" charset="-122"/>
                <a:cs typeface="Yu Gothic" pitchFamily="34" charset="-120"/>
              </a:rPr>
              <a:t>卒業研究  ｜  WALL SOLAR RADIATION PREDICTION</a:t>
            </a:r>
            <a:endParaRPr lang="en-US" sz="1300" dirty="0"/>
          </a:p>
        </p:txBody>
      </p:sp>
      <p:sp>
        <p:nvSpPr>
          <p:cNvPr id="3" name="Text 1"/>
          <p:cNvSpPr txBox="1"/>
          <p:nvPr/>
        </p:nvSpPr>
        <p:spPr>
          <a:xfrm>
            <a:off x="0" y="1737360"/>
            <a:ext cx="12191695" cy="822960"/>
          </a:xfrm>
          <a:prstGeom prst="rect">
            <a:avLst/>
          </a:prstGeom>
          <a:noFill/>
          <a:ln/>
        </p:spPr>
        <p:txBody>
          <a:bodyPr wrap="square" rtlCol="0" anchor="ctr"/>
          <a:lstStyle/>
          <a:p>
            <a:pPr marL="0" indent="0" algn="ctr">
              <a:buNone/>
            </a:pPr>
            <a:r>
              <a:rPr lang="en-US" sz="4000" b="1" dirty="0">
                <a:solidFill>
                  <a:srgbClr val="FFFFFF"/>
                </a:solidFill>
                <a:latin typeface="Yu Gothic" pitchFamily="34" charset="0"/>
                <a:ea typeface="Yu Gothic" pitchFamily="34" charset="-122"/>
                <a:cs typeface="Yu Gothic" pitchFamily="34" charset="-120"/>
              </a:rPr>
              <a:t>壁面日射量予測ツールの開発</a:t>
            </a:r>
            <a:endParaRPr lang="en-US" sz="4000" dirty="0"/>
          </a:p>
        </p:txBody>
      </p:sp>
      <p:sp>
        <p:nvSpPr>
          <p:cNvPr id="4" name="Text 2"/>
          <p:cNvSpPr txBox="1"/>
          <p:nvPr/>
        </p:nvSpPr>
        <p:spPr>
          <a:xfrm>
            <a:off x="0" y="2606040"/>
            <a:ext cx="12191695" cy="411480"/>
          </a:xfrm>
          <a:prstGeom prst="rect">
            <a:avLst/>
          </a:prstGeom>
          <a:noFill/>
          <a:ln/>
        </p:spPr>
        <p:txBody>
          <a:bodyPr wrap="square" rtlCol="0" anchor="t"/>
          <a:lstStyle/>
          <a:p>
            <a:pPr marL="0" indent="0" algn="ctr">
              <a:buNone/>
            </a:pPr>
            <a:r>
              <a:rPr lang="en-US" sz="1800" dirty="0">
                <a:solidFill>
                  <a:srgbClr val="CFE0EE"/>
                </a:solidFill>
                <a:latin typeface="Yu Gothic" pitchFamily="34" charset="0"/>
                <a:ea typeface="Yu Gothic" pitchFamily="34" charset="-122"/>
                <a:cs typeface="Yu Gothic" pitchFamily="34" charset="-120"/>
              </a:rPr>
              <a:t>第一段階：南に1棟設置した場合のモデル構築・検証とツール化</a:t>
            </a:r>
            <a:endParaRPr lang="en-US" sz="1800" dirty="0"/>
          </a:p>
        </p:txBody>
      </p:sp>
      <p:sp>
        <p:nvSpPr>
          <p:cNvPr id="5" name="Shape 3"/>
          <p:cNvSpPr/>
          <p:nvPr/>
        </p:nvSpPr>
        <p:spPr>
          <a:xfrm>
            <a:off x="5184648" y="3200400"/>
            <a:ext cx="1828800" cy="0"/>
          </a:xfrm>
          <a:prstGeom prst="line">
            <a:avLst/>
          </a:prstGeom>
          <a:noFill/>
          <a:ln w="25400">
            <a:solidFill>
              <a:srgbClr val="E8934D"/>
            </a:solidFill>
            <a:prstDash val="solid"/>
          </a:ln>
        </p:spPr>
        <p:txBody>
          <a:bodyPr/>
          <a:p/>
        </p:txBody>
      </p:sp>
      <p:sp>
        <p:nvSpPr>
          <p:cNvPr id="6" name="Text 4"/>
          <p:cNvSpPr txBox="1"/>
          <p:nvPr/>
        </p:nvSpPr>
        <p:spPr>
          <a:xfrm>
            <a:off x="0" y="3337560"/>
            <a:ext cx="12191695" cy="320040"/>
          </a:xfrm>
          <a:prstGeom prst="rect">
            <a:avLst/>
          </a:prstGeom>
          <a:noFill/>
          <a:ln/>
        </p:spPr>
        <p:txBody>
          <a:bodyPr wrap="square" rtlCol="0" anchor="t"/>
          <a:lstStyle/>
          <a:p>
            <a:pPr marL="0" indent="0" algn="ctr">
              <a:buNone/>
            </a:pPr>
            <a:r>
              <a:rPr lang="en-US" sz="1200" dirty="0">
                <a:solidFill>
                  <a:srgbClr val="9FB3C8"/>
                </a:solidFill>
                <a:latin typeface="Yu Gothic" pitchFamily="34" charset="0"/>
                <a:ea typeface="Yu Gothic" pitchFamily="34" charset="-122"/>
                <a:cs typeface="Yu Gothic" pitchFamily="34" charset="-120"/>
              </a:rPr>
              <a:t>SEBEによる日射解析結果をもとに、入力から瞬時に壁面日射量を返す予測ツールを作る</a:t>
            </a:r>
            <a:endParaRPr lang="en-US" sz="1200" dirty="0"/>
          </a:p>
        </p:txBody>
      </p:sp>
      <p:sp>
        <p:nvSpPr>
          <p:cNvPr id="7" name="Shape 5"/>
          <p:cNvSpPr/>
          <p:nvPr/>
        </p:nvSpPr>
        <p:spPr>
          <a:xfrm>
            <a:off x="10584180" y="644652"/>
            <a:ext cx="45720" cy="160020"/>
          </a:xfrm>
          <a:prstGeom prst="rect">
            <a:avLst/>
          </a:prstGeom>
          <a:solidFill>
            <a:srgbClr val="E8934D"/>
          </a:solidFill>
          <a:ln/>
        </p:spPr>
        <p:txBody>
          <a:bodyPr/>
          <a:p/>
        </p:txBody>
      </p:sp>
      <p:sp>
        <p:nvSpPr>
          <p:cNvPr id="8" name="Shape 6"/>
          <p:cNvSpPr/>
          <p:nvPr/>
        </p:nvSpPr>
        <p:spPr>
          <a:xfrm rot="2700000">
            <a:off x="10912319" y="780571"/>
            <a:ext cx="45720" cy="160020"/>
          </a:xfrm>
          <a:prstGeom prst="rect">
            <a:avLst/>
          </a:prstGeom>
          <a:solidFill>
            <a:srgbClr val="E8934D"/>
          </a:solidFill>
          <a:ln/>
        </p:spPr>
        <p:txBody>
          <a:bodyPr/>
          <a:p/>
        </p:txBody>
      </p:sp>
      <p:sp>
        <p:nvSpPr>
          <p:cNvPr id="9" name="Shape 7"/>
          <p:cNvSpPr/>
          <p:nvPr/>
        </p:nvSpPr>
        <p:spPr>
          <a:xfrm rot="5400000">
            <a:off x="11048238" y="1108710"/>
            <a:ext cx="45720" cy="160020"/>
          </a:xfrm>
          <a:prstGeom prst="rect">
            <a:avLst/>
          </a:prstGeom>
          <a:solidFill>
            <a:srgbClr val="E8934D"/>
          </a:solidFill>
          <a:ln/>
        </p:spPr>
        <p:txBody>
          <a:bodyPr/>
          <a:p/>
        </p:txBody>
      </p:sp>
      <p:sp>
        <p:nvSpPr>
          <p:cNvPr id="10" name="Shape 8"/>
          <p:cNvSpPr/>
          <p:nvPr/>
        </p:nvSpPr>
        <p:spPr>
          <a:xfrm rot="8100000">
            <a:off x="10912319" y="1436849"/>
            <a:ext cx="45720" cy="160020"/>
          </a:xfrm>
          <a:prstGeom prst="rect">
            <a:avLst/>
          </a:prstGeom>
          <a:solidFill>
            <a:srgbClr val="E8934D"/>
          </a:solidFill>
          <a:ln/>
        </p:spPr>
        <p:txBody>
          <a:bodyPr/>
          <a:p/>
        </p:txBody>
      </p:sp>
      <p:sp>
        <p:nvSpPr>
          <p:cNvPr id="11" name="Shape 9"/>
          <p:cNvSpPr/>
          <p:nvPr/>
        </p:nvSpPr>
        <p:spPr>
          <a:xfrm rot="10800000">
            <a:off x="10584180" y="1572768"/>
            <a:ext cx="45720" cy="160020"/>
          </a:xfrm>
          <a:prstGeom prst="rect">
            <a:avLst/>
          </a:prstGeom>
          <a:solidFill>
            <a:srgbClr val="E8934D"/>
          </a:solidFill>
          <a:ln/>
        </p:spPr>
        <p:txBody>
          <a:bodyPr/>
          <a:p/>
        </p:txBody>
      </p:sp>
      <p:sp>
        <p:nvSpPr>
          <p:cNvPr id="12" name="Shape 10"/>
          <p:cNvSpPr/>
          <p:nvPr/>
        </p:nvSpPr>
        <p:spPr>
          <a:xfrm rot="13500000">
            <a:off x="10256041" y="1436849"/>
            <a:ext cx="45720" cy="160020"/>
          </a:xfrm>
          <a:prstGeom prst="rect">
            <a:avLst/>
          </a:prstGeom>
          <a:solidFill>
            <a:srgbClr val="E8934D"/>
          </a:solidFill>
          <a:ln/>
        </p:spPr>
        <p:txBody>
          <a:bodyPr/>
          <a:p/>
        </p:txBody>
      </p:sp>
      <p:sp>
        <p:nvSpPr>
          <p:cNvPr id="13" name="Shape 11"/>
          <p:cNvSpPr/>
          <p:nvPr/>
        </p:nvSpPr>
        <p:spPr>
          <a:xfrm rot="16200000">
            <a:off x="10120122" y="1108710"/>
            <a:ext cx="45720" cy="160020"/>
          </a:xfrm>
          <a:prstGeom prst="rect">
            <a:avLst/>
          </a:prstGeom>
          <a:solidFill>
            <a:srgbClr val="E8934D"/>
          </a:solidFill>
          <a:ln/>
        </p:spPr>
        <p:txBody>
          <a:bodyPr/>
          <a:p/>
        </p:txBody>
      </p:sp>
      <p:sp>
        <p:nvSpPr>
          <p:cNvPr id="14" name="Shape 12"/>
          <p:cNvSpPr/>
          <p:nvPr/>
        </p:nvSpPr>
        <p:spPr>
          <a:xfrm rot="18900000">
            <a:off x="10256041" y="780571"/>
            <a:ext cx="45720" cy="160020"/>
          </a:xfrm>
          <a:prstGeom prst="rect">
            <a:avLst/>
          </a:prstGeom>
          <a:solidFill>
            <a:srgbClr val="E8934D"/>
          </a:solidFill>
          <a:ln/>
        </p:spPr>
        <p:txBody>
          <a:bodyPr/>
          <a:p/>
        </p:txBody>
      </p:sp>
      <p:sp>
        <p:nvSpPr>
          <p:cNvPr id="15" name="Shape 13"/>
          <p:cNvSpPr/>
          <p:nvPr/>
        </p:nvSpPr>
        <p:spPr>
          <a:xfrm>
            <a:off x="10287000" y="868680"/>
            <a:ext cx="640080" cy="640080"/>
          </a:xfrm>
          <a:prstGeom prst="ellipse">
            <a:avLst/>
          </a:prstGeom>
          <a:solidFill>
            <a:srgbClr val="E8934D"/>
          </a:solidFill>
          <a:ln/>
        </p:spPr>
        <p:txBody>
          <a:bodyPr/>
          <a:p/>
        </p:txBody>
      </p:sp>
      <p:sp>
        <p:nvSpPr>
          <p:cNvPr id="16" name="Shape 14"/>
          <p:cNvSpPr/>
          <p:nvPr/>
        </p:nvSpPr>
        <p:spPr>
          <a:xfrm>
            <a:off x="822960" y="5806440"/>
            <a:ext cx="777240" cy="1051560"/>
          </a:xfrm>
          <a:prstGeom prst="rect">
            <a:avLst/>
          </a:prstGeom>
          <a:solidFill>
            <a:srgbClr val="35507D"/>
          </a:solidFill>
          <a:ln/>
        </p:spPr>
        <p:txBody>
          <a:bodyPr/>
          <a:p/>
        </p:txBody>
      </p:sp>
      <p:sp>
        <p:nvSpPr>
          <p:cNvPr id="17" name="Shape 15"/>
          <p:cNvSpPr/>
          <p:nvPr/>
        </p:nvSpPr>
        <p:spPr>
          <a:xfrm>
            <a:off x="1691640" y="5257800"/>
            <a:ext cx="960120" cy="1600200"/>
          </a:xfrm>
          <a:prstGeom prst="rect">
            <a:avLst/>
          </a:prstGeom>
          <a:solidFill>
            <a:srgbClr val="24365A"/>
          </a:solidFill>
          <a:ln/>
        </p:spPr>
        <p:txBody>
          <a:bodyPr/>
          <a:p/>
        </p:txBody>
      </p:sp>
      <p:sp>
        <p:nvSpPr>
          <p:cNvPr id="18" name="Shape 16"/>
          <p:cNvSpPr/>
          <p:nvPr/>
        </p:nvSpPr>
        <p:spPr>
          <a:xfrm>
            <a:off x="2743200" y="5943600"/>
            <a:ext cx="685800" cy="914400"/>
          </a:xfrm>
          <a:prstGeom prst="rect">
            <a:avLst/>
          </a:prstGeom>
          <a:solidFill>
            <a:srgbClr val="35507D"/>
          </a:solidFill>
          <a:ln/>
        </p:spPr>
        <p:txBody>
          <a:bodyPr/>
          <a:p/>
        </p:txBody>
      </p:sp>
      <p:sp>
        <p:nvSpPr>
          <p:cNvPr id="19" name="Shape 17"/>
          <p:cNvSpPr/>
          <p:nvPr/>
        </p:nvSpPr>
        <p:spPr>
          <a:xfrm>
            <a:off x="3520440" y="4526280"/>
            <a:ext cx="1188720" cy="2331720"/>
          </a:xfrm>
          <a:prstGeom prst="rect">
            <a:avLst/>
          </a:prstGeom>
          <a:solidFill>
            <a:srgbClr val="24365A"/>
          </a:solidFill>
          <a:ln/>
        </p:spPr>
        <p:txBody>
          <a:bodyPr/>
          <a:p/>
        </p:txBody>
      </p:sp>
      <p:sp>
        <p:nvSpPr>
          <p:cNvPr id="20" name="Shape 18"/>
          <p:cNvSpPr/>
          <p:nvPr/>
        </p:nvSpPr>
        <p:spPr>
          <a:xfrm>
            <a:off x="4617720" y="4526280"/>
            <a:ext cx="91440" cy="2331720"/>
          </a:xfrm>
          <a:prstGeom prst="rect">
            <a:avLst/>
          </a:prstGeom>
          <a:solidFill>
            <a:srgbClr val="E8934D"/>
          </a:solidFill>
          <a:ln/>
        </p:spPr>
        <p:txBody>
          <a:bodyPr/>
          <a:p/>
        </p:txBody>
      </p:sp>
      <p:sp>
        <p:nvSpPr>
          <p:cNvPr id="21" name="Shape 19"/>
          <p:cNvSpPr/>
          <p:nvPr/>
        </p:nvSpPr>
        <p:spPr>
          <a:xfrm>
            <a:off x="4846320" y="5577840"/>
            <a:ext cx="777240" cy="1280160"/>
          </a:xfrm>
          <a:prstGeom prst="rect">
            <a:avLst/>
          </a:prstGeom>
          <a:solidFill>
            <a:srgbClr val="35507D"/>
          </a:solidFill>
          <a:ln/>
        </p:spPr>
        <p:txBody>
          <a:bodyPr/>
          <a:p/>
        </p:txBody>
      </p:sp>
      <p:sp>
        <p:nvSpPr>
          <p:cNvPr id="22" name="Shape 20"/>
          <p:cNvSpPr/>
          <p:nvPr/>
        </p:nvSpPr>
        <p:spPr>
          <a:xfrm>
            <a:off x="5760720" y="5120640"/>
            <a:ext cx="868680" cy="1737360"/>
          </a:xfrm>
          <a:prstGeom prst="rect">
            <a:avLst/>
          </a:prstGeom>
          <a:solidFill>
            <a:srgbClr val="24365A"/>
          </a:solidFill>
          <a:ln/>
        </p:spPr>
        <p:txBody>
          <a:bodyPr/>
          <a:p/>
        </p:txBody>
      </p:sp>
      <p:sp>
        <p:nvSpPr>
          <p:cNvPr id="23" name="Shape 21"/>
          <p:cNvSpPr/>
          <p:nvPr/>
        </p:nvSpPr>
        <p:spPr>
          <a:xfrm>
            <a:off x="6720840" y="5852160"/>
            <a:ext cx="621792" cy="1005840"/>
          </a:xfrm>
          <a:prstGeom prst="rect">
            <a:avLst/>
          </a:prstGeom>
          <a:solidFill>
            <a:srgbClr val="35507D"/>
          </a:solidFill>
          <a:ln/>
        </p:spPr>
        <p:txBody>
          <a:bodyPr/>
          <a:p/>
        </p:txBody>
      </p:sp>
      <p:sp>
        <p:nvSpPr>
          <p:cNvPr id="24" name="Shape 22"/>
          <p:cNvSpPr/>
          <p:nvPr/>
        </p:nvSpPr>
        <p:spPr>
          <a:xfrm>
            <a:off x="7452360" y="4983480"/>
            <a:ext cx="1051560" cy="1874520"/>
          </a:xfrm>
          <a:prstGeom prst="rect">
            <a:avLst/>
          </a:prstGeom>
          <a:solidFill>
            <a:srgbClr val="24365A"/>
          </a:solidFill>
          <a:ln/>
        </p:spPr>
        <p:txBody>
          <a:bodyPr/>
          <a:p/>
        </p:txBody>
      </p:sp>
      <p:sp>
        <p:nvSpPr>
          <p:cNvPr id="25" name="Shape 23"/>
          <p:cNvSpPr/>
          <p:nvPr/>
        </p:nvSpPr>
        <p:spPr>
          <a:xfrm>
            <a:off x="8641080" y="5486400"/>
            <a:ext cx="777240" cy="1371600"/>
          </a:xfrm>
          <a:prstGeom prst="rect">
            <a:avLst/>
          </a:prstGeom>
          <a:solidFill>
            <a:srgbClr val="35507D"/>
          </a:solidFill>
          <a:ln/>
        </p:spPr>
        <p:txBody>
          <a:bodyPr/>
          <a:p/>
        </p:txBody>
      </p:sp>
      <p:sp>
        <p:nvSpPr>
          <p:cNvPr id="26" name="Shape 24"/>
          <p:cNvSpPr/>
          <p:nvPr/>
        </p:nvSpPr>
        <p:spPr>
          <a:xfrm>
            <a:off x="9509760" y="5166360"/>
            <a:ext cx="960120" cy="1691640"/>
          </a:xfrm>
          <a:prstGeom prst="rect">
            <a:avLst/>
          </a:prstGeom>
          <a:solidFill>
            <a:srgbClr val="24365A"/>
          </a:solidFill>
          <a:ln/>
        </p:spPr>
        <p:txBody>
          <a:bodyPr/>
          <a:p/>
        </p:txBody>
      </p:sp>
      <p:sp>
        <p:nvSpPr>
          <p:cNvPr id="27" name="Shape 25"/>
          <p:cNvSpPr/>
          <p:nvPr/>
        </p:nvSpPr>
        <p:spPr>
          <a:xfrm>
            <a:off x="10561320" y="5760720"/>
            <a:ext cx="731520" cy="1097280"/>
          </a:xfrm>
          <a:prstGeom prst="rect">
            <a:avLst/>
          </a:prstGeom>
          <a:solidFill>
            <a:srgbClr val="35507D"/>
          </a:solidFill>
          <a:ln/>
        </p:spPr>
        <p:txBody>
          <a:bodyPr/>
          <a:p/>
        </p:txBody>
      </p:sp>
      <p:sp>
        <p:nvSpPr>
          <p:cNvPr id="28" name="Text 26"/>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29" name="Text 27"/>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01 / 41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発表の流れ</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02 / 41</a:t>
            </a:r>
            <a:endParaRPr lang="en-US" sz="1100" dirty="0"/>
          </a:p>
        </p:txBody>
      </p:sp>
      <p:sp>
        <p:nvSpPr>
          <p:cNvPr id="8" name="Shape 6"/>
          <p:cNvSpPr/>
          <p:nvPr/>
        </p:nvSpPr>
        <p:spPr>
          <a:xfrm>
            <a:off x="45720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9" name="Shape 7"/>
          <p:cNvSpPr/>
          <p:nvPr/>
        </p:nvSpPr>
        <p:spPr>
          <a:xfrm>
            <a:off x="457200" y="1234440"/>
            <a:ext cx="2679192" cy="868680"/>
          </a:xfrm>
          <a:prstGeom prst="rect">
            <a:avLst/>
          </a:prstGeom>
          <a:solidFill>
            <a:srgbClr val="1B2A44"/>
          </a:solidFill>
          <a:ln/>
        </p:spPr>
        <p:txBody>
          <a:bodyPr/>
          <a:p/>
        </p:txBody>
      </p:sp>
      <p:sp>
        <p:nvSpPr>
          <p:cNvPr id="10" name="Text 8"/>
          <p:cNvSpPr txBox="1"/>
          <p:nvPr/>
        </p:nvSpPr>
        <p:spPr>
          <a:xfrm>
            <a:off x="64008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1</a:t>
            </a:r>
            <a:endParaRPr lang="en-US" sz="1100" dirty="0"/>
          </a:p>
        </p:txBody>
      </p:sp>
      <p:sp>
        <p:nvSpPr>
          <p:cNvPr id="11" name="Text 9"/>
          <p:cNvSpPr txBox="1"/>
          <p:nvPr/>
        </p:nvSpPr>
        <p:spPr>
          <a:xfrm>
            <a:off x="176479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p.3–5</a:t>
            </a:r>
            <a:endParaRPr lang="en-US" sz="1100" dirty="0"/>
          </a:p>
        </p:txBody>
      </p:sp>
      <p:sp>
        <p:nvSpPr>
          <p:cNvPr id="12" name="Text 10"/>
          <p:cNvSpPr txBox="1"/>
          <p:nvPr/>
        </p:nvSpPr>
        <p:spPr>
          <a:xfrm>
            <a:off x="64008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目標と研究条件</a:t>
            </a:r>
            <a:endParaRPr lang="en-US" sz="1600" dirty="0"/>
          </a:p>
        </p:txBody>
      </p:sp>
      <p:sp>
        <p:nvSpPr>
          <p:cNvPr id="13" name="Text 11"/>
          <p:cNvSpPr txBox="1"/>
          <p:nvPr/>
        </p:nvSpPr>
        <p:spPr>
          <a:xfrm>
            <a:off x="64008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14" name="Text 12"/>
          <p:cNvSpPr txBox="1"/>
          <p:nvPr/>
        </p:nvSpPr>
        <p:spPr>
          <a:xfrm>
            <a:off x="64008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何を作り、どこから始めるか</a:t>
            </a:r>
            <a:endParaRPr lang="en-US" sz="1250" dirty="0"/>
          </a:p>
        </p:txBody>
      </p:sp>
      <p:sp>
        <p:nvSpPr>
          <p:cNvPr id="15" name="Shape 13"/>
          <p:cNvSpPr/>
          <p:nvPr/>
        </p:nvSpPr>
        <p:spPr>
          <a:xfrm>
            <a:off x="640080" y="3108960"/>
            <a:ext cx="2313432" cy="0"/>
          </a:xfrm>
          <a:prstGeom prst="line">
            <a:avLst/>
          </a:prstGeom>
          <a:noFill/>
          <a:ln w="12700">
            <a:solidFill>
              <a:srgbClr val="DBE0E6"/>
            </a:solidFill>
            <a:prstDash val="solid"/>
          </a:ln>
        </p:spPr>
        <p:txBody>
          <a:bodyPr/>
          <a:p/>
        </p:txBody>
      </p:sp>
      <p:sp>
        <p:nvSpPr>
          <p:cNvPr id="16" name="Text 14"/>
          <p:cNvSpPr txBox="1"/>
          <p:nvPr/>
        </p:nvSpPr>
        <p:spPr>
          <a:xfrm>
            <a:off x="64008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最終目標／第一段階の条件／出力データの作り方</a:t>
            </a:r>
            <a:endParaRPr lang="en-US" sz="1050" dirty="0"/>
          </a:p>
        </p:txBody>
      </p:sp>
      <p:sp>
        <p:nvSpPr>
          <p:cNvPr id="17" name="Shape 15"/>
          <p:cNvSpPr/>
          <p:nvPr/>
        </p:nvSpPr>
        <p:spPr>
          <a:xfrm rot="5400000">
            <a:off x="3154680" y="2514600"/>
            <a:ext cx="118872" cy="182880"/>
          </a:xfrm>
          <a:prstGeom prst="triangle">
            <a:avLst/>
          </a:prstGeom>
          <a:solidFill>
            <a:srgbClr val="AEB4BC"/>
          </a:solidFill>
          <a:ln/>
        </p:spPr>
        <p:txBody>
          <a:bodyPr/>
          <a:p/>
        </p:txBody>
      </p:sp>
      <p:sp>
        <p:nvSpPr>
          <p:cNvPr id="18" name="Shape 16"/>
          <p:cNvSpPr/>
          <p:nvPr/>
        </p:nvSpPr>
        <p:spPr>
          <a:xfrm>
            <a:off x="329184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19" name="Shape 17"/>
          <p:cNvSpPr/>
          <p:nvPr/>
        </p:nvSpPr>
        <p:spPr>
          <a:xfrm>
            <a:off x="3291840" y="1234440"/>
            <a:ext cx="2679192" cy="868680"/>
          </a:xfrm>
          <a:prstGeom prst="rect">
            <a:avLst/>
          </a:prstGeom>
          <a:solidFill>
            <a:srgbClr val="1F6F78"/>
          </a:solidFill>
          <a:ln/>
        </p:spPr>
        <p:txBody>
          <a:bodyPr/>
          <a:p/>
        </p:txBody>
      </p:sp>
      <p:sp>
        <p:nvSpPr>
          <p:cNvPr id="20" name="Text 18"/>
          <p:cNvSpPr txBox="1"/>
          <p:nvPr/>
        </p:nvSpPr>
        <p:spPr>
          <a:xfrm>
            <a:off x="347472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2</a:t>
            </a:r>
            <a:endParaRPr lang="en-US" sz="1100" dirty="0"/>
          </a:p>
        </p:txBody>
      </p:sp>
      <p:sp>
        <p:nvSpPr>
          <p:cNvPr id="21" name="Text 19"/>
          <p:cNvSpPr txBox="1"/>
          <p:nvPr/>
        </p:nvSpPr>
        <p:spPr>
          <a:xfrm>
            <a:off x="459943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p.6–9</a:t>
            </a:r>
            <a:endParaRPr lang="en-US" sz="1100" dirty="0"/>
          </a:p>
        </p:txBody>
      </p:sp>
      <p:sp>
        <p:nvSpPr>
          <p:cNvPr id="22" name="Text 20"/>
          <p:cNvSpPr txBox="1"/>
          <p:nvPr/>
        </p:nvSpPr>
        <p:spPr>
          <a:xfrm>
            <a:off x="347472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予測手法の選定</a:t>
            </a:r>
            <a:endParaRPr lang="en-US" sz="1600" dirty="0"/>
          </a:p>
        </p:txBody>
      </p:sp>
      <p:sp>
        <p:nvSpPr>
          <p:cNvPr id="23" name="Text 21"/>
          <p:cNvSpPr txBox="1"/>
          <p:nvPr/>
        </p:nvSpPr>
        <p:spPr>
          <a:xfrm>
            <a:off x="347472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24" name="Text 22"/>
          <p:cNvSpPr txBox="1"/>
          <p:nvPr/>
        </p:nvSpPr>
        <p:spPr>
          <a:xfrm>
            <a:off x="347472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どの方法で予測するか</a:t>
            </a:r>
            <a:endParaRPr lang="en-US" sz="1250" dirty="0"/>
          </a:p>
        </p:txBody>
      </p:sp>
      <p:sp>
        <p:nvSpPr>
          <p:cNvPr id="25" name="Shape 23"/>
          <p:cNvSpPr/>
          <p:nvPr/>
        </p:nvSpPr>
        <p:spPr>
          <a:xfrm>
            <a:off x="3474720" y="3108960"/>
            <a:ext cx="2313432" cy="0"/>
          </a:xfrm>
          <a:prstGeom prst="line">
            <a:avLst/>
          </a:prstGeom>
          <a:noFill/>
          <a:ln w="12700">
            <a:solidFill>
              <a:srgbClr val="DBE0E6"/>
            </a:solidFill>
            <a:prstDash val="solid"/>
          </a:ln>
        </p:spPr>
        <p:txBody>
          <a:bodyPr/>
          <a:p/>
        </p:txBody>
      </p:sp>
      <p:sp>
        <p:nvSpPr>
          <p:cNvPr id="26" name="Text 24"/>
          <p:cNvSpPr txBox="1"/>
          <p:nvPr/>
        </p:nvSpPr>
        <p:spPr>
          <a:xfrm>
            <a:off x="347472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学習16パターン／3手法の比較／線形補間のしくみ</a:t>
            </a:r>
            <a:endParaRPr lang="en-US" sz="1050" dirty="0"/>
          </a:p>
        </p:txBody>
      </p:sp>
      <p:sp>
        <p:nvSpPr>
          <p:cNvPr id="27" name="Shape 25"/>
          <p:cNvSpPr/>
          <p:nvPr/>
        </p:nvSpPr>
        <p:spPr>
          <a:xfrm rot="5400000">
            <a:off x="5989320" y="2514600"/>
            <a:ext cx="118872" cy="182880"/>
          </a:xfrm>
          <a:prstGeom prst="triangle">
            <a:avLst/>
          </a:prstGeom>
          <a:solidFill>
            <a:srgbClr val="AEB4BC"/>
          </a:solidFill>
          <a:ln/>
        </p:spPr>
        <p:txBody>
          <a:bodyPr/>
          <a:p/>
        </p:txBody>
      </p:sp>
      <p:sp>
        <p:nvSpPr>
          <p:cNvPr id="28" name="Shape 26"/>
          <p:cNvSpPr/>
          <p:nvPr/>
        </p:nvSpPr>
        <p:spPr>
          <a:xfrm>
            <a:off x="612648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29" name="Shape 27"/>
          <p:cNvSpPr/>
          <p:nvPr/>
        </p:nvSpPr>
        <p:spPr>
          <a:xfrm>
            <a:off x="6126480" y="1234440"/>
            <a:ext cx="2679192" cy="868680"/>
          </a:xfrm>
          <a:prstGeom prst="rect">
            <a:avLst/>
          </a:prstGeom>
          <a:solidFill>
            <a:srgbClr val="E8934D"/>
          </a:solidFill>
          <a:ln/>
        </p:spPr>
        <p:txBody>
          <a:bodyPr/>
          <a:p/>
        </p:txBody>
      </p:sp>
      <p:sp>
        <p:nvSpPr>
          <p:cNvPr id="30" name="Text 28"/>
          <p:cNvSpPr txBox="1"/>
          <p:nvPr/>
        </p:nvSpPr>
        <p:spPr>
          <a:xfrm>
            <a:off x="630936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3</a:t>
            </a:r>
            <a:endParaRPr lang="en-US" sz="1100" dirty="0"/>
          </a:p>
        </p:txBody>
      </p:sp>
      <p:sp>
        <p:nvSpPr>
          <p:cNvPr id="31" name="Text 29"/>
          <p:cNvSpPr txBox="1"/>
          <p:nvPr/>
        </p:nvSpPr>
        <p:spPr>
          <a:xfrm>
            <a:off x="743407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p.10–13</a:t>
            </a:r>
            <a:endParaRPr lang="en-US" sz="1100" dirty="0"/>
          </a:p>
        </p:txBody>
      </p:sp>
      <p:sp>
        <p:nvSpPr>
          <p:cNvPr id="32" name="Text 30"/>
          <p:cNvSpPr txBox="1"/>
          <p:nvPr/>
        </p:nvSpPr>
        <p:spPr>
          <a:xfrm>
            <a:off x="630936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精度の確認と改善</a:t>
            </a:r>
            <a:endParaRPr lang="en-US" sz="1600" dirty="0"/>
          </a:p>
        </p:txBody>
      </p:sp>
      <p:sp>
        <p:nvSpPr>
          <p:cNvPr id="33" name="Text 31"/>
          <p:cNvSpPr txBox="1"/>
          <p:nvPr/>
        </p:nvSpPr>
        <p:spPr>
          <a:xfrm>
            <a:off x="630936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34" name="Text 32"/>
          <p:cNvSpPr txBox="1"/>
          <p:nvPr/>
        </p:nvSpPr>
        <p:spPr>
          <a:xfrm>
            <a:off x="630936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どれくらい正確か、弱点をどう直したか</a:t>
            </a:r>
            <a:endParaRPr lang="en-US" sz="1250" dirty="0"/>
          </a:p>
        </p:txBody>
      </p:sp>
      <p:sp>
        <p:nvSpPr>
          <p:cNvPr id="35" name="Shape 33"/>
          <p:cNvSpPr/>
          <p:nvPr/>
        </p:nvSpPr>
        <p:spPr>
          <a:xfrm>
            <a:off x="6309360" y="3108960"/>
            <a:ext cx="2313432" cy="0"/>
          </a:xfrm>
          <a:prstGeom prst="line">
            <a:avLst/>
          </a:prstGeom>
          <a:noFill/>
          <a:ln w="12700">
            <a:solidFill>
              <a:srgbClr val="DBE0E6"/>
            </a:solidFill>
            <a:prstDash val="solid"/>
          </a:ln>
        </p:spPr>
        <p:txBody>
          <a:bodyPr/>
          <a:p/>
        </p:txBody>
      </p:sp>
      <p:sp>
        <p:nvSpPr>
          <p:cNvPr id="36" name="Text 34"/>
          <p:cNvSpPr txBox="1"/>
          <p:nvPr/>
        </p:nvSpPr>
        <p:spPr>
          <a:xfrm>
            <a:off x="630936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テスト12パターン／高さ別の精度／局所補強</a:t>
            </a:r>
            <a:endParaRPr lang="en-US" sz="1050" dirty="0"/>
          </a:p>
        </p:txBody>
      </p:sp>
      <p:sp>
        <p:nvSpPr>
          <p:cNvPr id="37" name="Shape 35"/>
          <p:cNvSpPr/>
          <p:nvPr/>
        </p:nvSpPr>
        <p:spPr>
          <a:xfrm rot="5400000">
            <a:off x="8823960" y="2514600"/>
            <a:ext cx="118872" cy="182880"/>
          </a:xfrm>
          <a:prstGeom prst="triangle">
            <a:avLst/>
          </a:prstGeom>
          <a:solidFill>
            <a:srgbClr val="AEB4BC"/>
          </a:solidFill>
          <a:ln/>
        </p:spPr>
        <p:txBody>
          <a:bodyPr/>
          <a:p/>
        </p:txBody>
      </p:sp>
      <p:sp>
        <p:nvSpPr>
          <p:cNvPr id="38" name="Shape 36"/>
          <p:cNvSpPr/>
          <p:nvPr/>
        </p:nvSpPr>
        <p:spPr>
          <a:xfrm>
            <a:off x="896112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39" name="Shape 37"/>
          <p:cNvSpPr/>
          <p:nvPr/>
        </p:nvSpPr>
        <p:spPr>
          <a:xfrm>
            <a:off x="8961120" y="1234440"/>
            <a:ext cx="2679192" cy="868680"/>
          </a:xfrm>
          <a:prstGeom prst="rect">
            <a:avLst/>
          </a:prstGeom>
          <a:solidFill>
            <a:srgbClr val="4C8C6B"/>
          </a:solidFill>
          <a:ln/>
        </p:spPr>
        <p:txBody>
          <a:bodyPr/>
          <a:p/>
        </p:txBody>
      </p:sp>
      <p:sp>
        <p:nvSpPr>
          <p:cNvPr id="40" name="Text 38"/>
          <p:cNvSpPr txBox="1"/>
          <p:nvPr/>
        </p:nvSpPr>
        <p:spPr>
          <a:xfrm>
            <a:off x="914400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4</a:t>
            </a:r>
            <a:endParaRPr lang="en-US" sz="1100" dirty="0"/>
          </a:p>
        </p:txBody>
      </p:sp>
      <p:sp>
        <p:nvSpPr>
          <p:cNvPr id="41" name="Text 39"/>
          <p:cNvSpPr txBox="1"/>
          <p:nvPr/>
        </p:nvSpPr>
        <p:spPr>
          <a:xfrm>
            <a:off x="1026871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p.14–17</a:t>
            </a:r>
            <a:endParaRPr lang="en-US" sz="1100" dirty="0"/>
          </a:p>
        </p:txBody>
      </p:sp>
      <p:sp>
        <p:nvSpPr>
          <p:cNvPr id="42" name="Text 40"/>
          <p:cNvSpPr txBox="1"/>
          <p:nvPr/>
        </p:nvSpPr>
        <p:spPr>
          <a:xfrm>
            <a:off x="914400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完成したツール</a:t>
            </a:r>
            <a:endParaRPr lang="en-US" sz="1600" dirty="0"/>
          </a:p>
        </p:txBody>
      </p:sp>
      <p:sp>
        <p:nvSpPr>
          <p:cNvPr id="43" name="Text 41"/>
          <p:cNvSpPr txBox="1"/>
          <p:nvPr/>
        </p:nvSpPr>
        <p:spPr>
          <a:xfrm>
            <a:off x="914400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44" name="Text 42"/>
          <p:cNvSpPr txBox="1"/>
          <p:nvPr/>
        </p:nvSpPr>
        <p:spPr>
          <a:xfrm>
            <a:off x="914400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何ができて、どこまで確認できたか</a:t>
            </a:r>
            <a:endParaRPr lang="en-US" sz="1250" dirty="0"/>
          </a:p>
        </p:txBody>
      </p:sp>
      <p:sp>
        <p:nvSpPr>
          <p:cNvPr id="45" name="Shape 43"/>
          <p:cNvSpPr/>
          <p:nvPr/>
        </p:nvSpPr>
        <p:spPr>
          <a:xfrm>
            <a:off x="9144000" y="3108960"/>
            <a:ext cx="2313432" cy="0"/>
          </a:xfrm>
          <a:prstGeom prst="line">
            <a:avLst/>
          </a:prstGeom>
          <a:noFill/>
          <a:ln w="12700">
            <a:solidFill>
              <a:srgbClr val="DBE0E6"/>
            </a:solidFill>
            <a:prstDash val="solid"/>
          </a:ln>
        </p:spPr>
        <p:txBody>
          <a:bodyPr/>
          <a:p/>
        </p:txBody>
      </p:sp>
      <p:sp>
        <p:nvSpPr>
          <p:cNvPr id="46" name="Text 44"/>
          <p:cNvSpPr txBox="1"/>
          <p:nvPr/>
        </p:nvSpPr>
        <p:spPr>
          <a:xfrm>
            <a:off x="914400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ツールの全体像／太陽と影の計算／確認できた範囲</a:t>
            </a:r>
            <a:endParaRPr lang="en-US" sz="1050" dirty="0"/>
          </a:p>
        </p:txBody>
      </p:sp>
      <p:sp>
        <p:nvSpPr>
          <p:cNvPr id="47" name="Text 45"/>
          <p:cNvSpPr txBox="1"/>
          <p:nvPr/>
        </p:nvSpPr>
        <p:spPr>
          <a:xfrm>
            <a:off x="457200" y="4251960"/>
            <a:ext cx="54864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研究の要点（数字でみる流れ）</a:t>
            </a:r>
            <a:endParaRPr lang="en-US" sz="1300" dirty="0"/>
          </a:p>
        </p:txBody>
      </p:sp>
      <p:sp>
        <p:nvSpPr>
          <p:cNvPr id="48" name="Shape 46"/>
          <p:cNvSpPr/>
          <p:nvPr/>
        </p:nvSpPr>
        <p:spPr>
          <a:xfrm>
            <a:off x="457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49" name="Text 47"/>
          <p:cNvSpPr txBox="1"/>
          <p:nvPr/>
        </p:nvSpPr>
        <p:spPr>
          <a:xfrm>
            <a:off x="548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16配置</a:t>
            </a:r>
            <a:endParaRPr lang="en-US" sz="1400" dirty="0"/>
          </a:p>
        </p:txBody>
      </p:sp>
      <p:sp>
        <p:nvSpPr>
          <p:cNvPr id="50" name="Text 48"/>
          <p:cNvSpPr txBox="1"/>
          <p:nvPr/>
        </p:nvSpPr>
        <p:spPr>
          <a:xfrm>
            <a:off x="548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SEBEで計算し</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お手本にする</a:t>
            </a:r>
            <a:endParaRPr lang="en-US" sz="1100" dirty="0"/>
          </a:p>
        </p:txBody>
      </p:sp>
      <p:sp>
        <p:nvSpPr>
          <p:cNvPr id="51" name="Shape 49"/>
          <p:cNvSpPr/>
          <p:nvPr/>
        </p:nvSpPr>
        <p:spPr>
          <a:xfrm rot="5400000">
            <a:off x="2569464" y="5330952"/>
            <a:ext cx="118872" cy="182880"/>
          </a:xfrm>
          <a:prstGeom prst="triangle">
            <a:avLst/>
          </a:prstGeom>
          <a:solidFill>
            <a:srgbClr val="AEB4BC"/>
          </a:solidFill>
          <a:ln/>
        </p:spPr>
        <p:txBody>
          <a:bodyPr/>
          <a:p/>
        </p:txBody>
      </p:sp>
      <p:sp>
        <p:nvSpPr>
          <p:cNvPr id="52" name="Shape 50"/>
          <p:cNvSpPr/>
          <p:nvPr/>
        </p:nvSpPr>
        <p:spPr>
          <a:xfrm>
            <a:off x="2743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3" name="Text 51"/>
          <p:cNvSpPr txBox="1"/>
          <p:nvPr/>
        </p:nvSpPr>
        <p:spPr>
          <a:xfrm>
            <a:off x="2834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線形補間を採用</a:t>
            </a:r>
            <a:endParaRPr lang="en-US" sz="1400" dirty="0"/>
          </a:p>
        </p:txBody>
      </p:sp>
      <p:sp>
        <p:nvSpPr>
          <p:cNvPr id="54" name="Text 52"/>
          <p:cNvSpPr txBox="1"/>
          <p:nvPr/>
        </p:nvSpPr>
        <p:spPr>
          <a:xfrm>
            <a:off x="2834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検証8配置で</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MAE 19.99</a:t>
            </a:r>
            <a:endParaRPr lang="en-US" sz="1100" dirty="0"/>
          </a:p>
        </p:txBody>
      </p:sp>
      <p:sp>
        <p:nvSpPr>
          <p:cNvPr id="55" name="Shape 53"/>
          <p:cNvSpPr/>
          <p:nvPr/>
        </p:nvSpPr>
        <p:spPr>
          <a:xfrm rot="5400000">
            <a:off x="4855464" y="5330952"/>
            <a:ext cx="118872" cy="182880"/>
          </a:xfrm>
          <a:prstGeom prst="triangle">
            <a:avLst/>
          </a:prstGeom>
          <a:solidFill>
            <a:srgbClr val="AEB4BC"/>
          </a:solidFill>
          <a:ln/>
        </p:spPr>
        <p:txBody>
          <a:bodyPr/>
          <a:p/>
        </p:txBody>
      </p:sp>
      <p:sp>
        <p:nvSpPr>
          <p:cNvPr id="56" name="Shape 54"/>
          <p:cNvSpPr/>
          <p:nvPr/>
        </p:nvSpPr>
        <p:spPr>
          <a:xfrm>
            <a:off x="5029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7" name="Text 55"/>
          <p:cNvSpPr txBox="1"/>
          <p:nvPr/>
        </p:nvSpPr>
        <p:spPr>
          <a:xfrm>
            <a:off x="5120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テスト12配置</a:t>
            </a:r>
            <a:endParaRPr lang="en-US" sz="1400" dirty="0"/>
          </a:p>
        </p:txBody>
      </p:sp>
      <p:sp>
        <p:nvSpPr>
          <p:cNvPr id="58" name="Text 56"/>
          <p:cNvSpPr txBox="1"/>
          <p:nvPr/>
        </p:nvSpPr>
        <p:spPr>
          <a:xfrm>
            <a:off x="5120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18.40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誤差率 2.42%</a:t>
            </a:r>
            <a:endParaRPr lang="en-US" sz="1100" dirty="0"/>
          </a:p>
        </p:txBody>
      </p:sp>
      <p:sp>
        <p:nvSpPr>
          <p:cNvPr id="59" name="Shape 57"/>
          <p:cNvSpPr/>
          <p:nvPr/>
        </p:nvSpPr>
        <p:spPr>
          <a:xfrm rot="5400000">
            <a:off x="7141464" y="5330952"/>
            <a:ext cx="118872" cy="182880"/>
          </a:xfrm>
          <a:prstGeom prst="triangle">
            <a:avLst/>
          </a:prstGeom>
          <a:solidFill>
            <a:srgbClr val="AEB4BC"/>
          </a:solidFill>
          <a:ln/>
        </p:spPr>
        <p:txBody>
          <a:bodyPr/>
          <a:p/>
        </p:txBody>
      </p:sp>
      <p:sp>
        <p:nvSpPr>
          <p:cNvPr id="60" name="Shape 58"/>
          <p:cNvSpPr/>
          <p:nvPr/>
        </p:nvSpPr>
        <p:spPr>
          <a:xfrm>
            <a:off x="7315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61" name="Text 59"/>
          <p:cNvSpPr txBox="1"/>
          <p:nvPr/>
        </p:nvSpPr>
        <p:spPr>
          <a:xfrm>
            <a:off x="7406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局所補強</a:t>
            </a:r>
            <a:endParaRPr lang="en-US" sz="1400" dirty="0"/>
          </a:p>
        </p:txBody>
      </p:sp>
      <p:sp>
        <p:nvSpPr>
          <p:cNvPr id="62" name="Text 60"/>
          <p:cNvSpPr txBox="1"/>
          <p:nvPr/>
        </p:nvSpPr>
        <p:spPr>
          <a:xfrm>
            <a:off x="7406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43.50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 17.81</a:t>
            </a:r>
            <a:endParaRPr lang="en-US" sz="1100" dirty="0"/>
          </a:p>
        </p:txBody>
      </p:sp>
      <p:sp>
        <p:nvSpPr>
          <p:cNvPr id="63" name="Shape 61"/>
          <p:cNvSpPr/>
          <p:nvPr/>
        </p:nvSpPr>
        <p:spPr>
          <a:xfrm rot="5400000">
            <a:off x="9427464" y="5330952"/>
            <a:ext cx="118872" cy="182880"/>
          </a:xfrm>
          <a:prstGeom prst="triangle">
            <a:avLst/>
          </a:prstGeom>
          <a:solidFill>
            <a:srgbClr val="AEB4BC"/>
          </a:solidFill>
          <a:ln/>
        </p:spPr>
        <p:txBody>
          <a:bodyPr/>
          <a:p/>
        </p:txBody>
      </p:sp>
      <p:sp>
        <p:nvSpPr>
          <p:cNvPr id="64" name="Shape 62"/>
          <p:cNvSpPr/>
          <p:nvPr/>
        </p:nvSpPr>
        <p:spPr>
          <a:xfrm>
            <a:off x="9601200" y="4617720"/>
            <a:ext cx="2057400" cy="1600200"/>
          </a:xfrm>
          <a:prstGeom prst="roundRect">
            <a:avLst>
              <a:gd name="adj" fmla="val 3429"/>
            </a:avLst>
          </a:prstGeom>
          <a:solidFill>
            <a:srgbClr val="FBEBDA"/>
          </a:solidFill>
          <a:ln w="12700">
            <a:solidFill>
              <a:srgbClr val="E8934D"/>
            </a:solidFill>
            <a:prstDash val="solid"/>
          </a:ln>
        </p:spPr>
        <p:txBody>
          <a:bodyPr/>
          <a:p/>
        </p:txBody>
      </p:sp>
      <p:sp>
        <p:nvSpPr>
          <p:cNvPr id="65" name="Text 63"/>
          <p:cNvSpPr txBox="1"/>
          <p:nvPr/>
        </p:nvSpPr>
        <p:spPr>
          <a:xfrm>
            <a:off x="9692640" y="4709160"/>
            <a:ext cx="1874520" cy="384048"/>
          </a:xfrm>
          <a:prstGeom prst="rect">
            <a:avLst/>
          </a:prstGeom>
          <a:noFill/>
          <a:ln/>
        </p:spPr>
        <p:txBody>
          <a:bodyPr wrap="square" rtlCol="0" anchor="ctr"/>
          <a:lstStyle/>
          <a:p>
            <a:pPr marL="0" indent="0" algn="ctr">
              <a:buNone/>
            </a:pPr>
            <a:r>
              <a:rPr lang="en-US" sz="1400" b="1" dirty="0">
                <a:solidFill>
                  <a:srgbClr val="C56A2C"/>
                </a:solidFill>
                <a:latin typeface="Yu Gothic" pitchFamily="34" charset="0"/>
                <a:ea typeface="Yu Gothic" pitchFamily="34" charset="-122"/>
                <a:cs typeface="Yu Gothic" pitchFamily="34" charset="-120"/>
              </a:rPr>
              <a:t>3Dツール完成</a:t>
            </a:r>
            <a:endParaRPr lang="en-US" sz="1400" dirty="0"/>
          </a:p>
        </p:txBody>
      </p:sp>
      <p:sp>
        <p:nvSpPr>
          <p:cNvPr id="66" name="Text 64"/>
          <p:cNvSpPr txBox="1"/>
          <p:nvPr/>
        </p:nvSpPr>
        <p:spPr>
          <a:xfrm>
            <a:off x="9692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年間日射量＋</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日時の影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最終目標と、第一段階で絞り込んだ条件</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03 / 41</a:t>
            </a:r>
            <a:endParaRPr lang="en-US" sz="1100" dirty="0"/>
          </a:p>
        </p:txBody>
      </p:sp>
      <p:sp>
        <p:nvSpPr>
          <p:cNvPr id="9" name="Shape 7"/>
          <p:cNvSpPr/>
          <p:nvPr/>
        </p:nvSpPr>
        <p:spPr>
          <a:xfrm>
            <a:off x="457200" y="1188720"/>
            <a:ext cx="5394960" cy="5120640"/>
          </a:xfrm>
          <a:prstGeom prst="roundRect">
            <a:avLst>
              <a:gd name="adj" fmla="val 1071"/>
            </a:avLst>
          </a:prstGeom>
          <a:solidFill>
            <a:srgbClr val="FFFFFF"/>
          </a:solidFill>
          <a:ln w="12700">
            <a:solidFill>
              <a:srgbClr val="DBE0E6"/>
            </a:solidFill>
            <a:prstDash val="solid"/>
          </a:ln>
        </p:spPr>
        <p:txBody>
          <a:bodyPr/>
          <a:p/>
        </p:txBody>
      </p:sp>
      <p:sp>
        <p:nvSpPr>
          <p:cNvPr id="10" name="Shape 8"/>
          <p:cNvSpPr/>
          <p:nvPr/>
        </p:nvSpPr>
        <p:spPr>
          <a:xfrm>
            <a:off x="457200" y="1188720"/>
            <a:ext cx="5394960" cy="420624"/>
          </a:xfrm>
          <a:prstGeom prst="rect">
            <a:avLst/>
          </a:prstGeom>
          <a:solidFill>
            <a:srgbClr val="1B2A44"/>
          </a:solidFill>
          <a:ln/>
        </p:spPr>
        <p:txBody>
          <a:bodyPr/>
          <a:p/>
        </p:txBody>
      </p:sp>
      <p:sp>
        <p:nvSpPr>
          <p:cNvPr id="11" name="Text 9"/>
          <p:cNvSpPr txBox="1"/>
          <p:nvPr/>
        </p:nvSpPr>
        <p:spPr>
          <a:xfrm>
            <a:off x="640080" y="1216152"/>
            <a:ext cx="4572000" cy="365760"/>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最終目標</a:t>
            </a:r>
            <a:endParaRPr lang="en-US" sz="1400" dirty="0"/>
          </a:p>
        </p:txBody>
      </p:sp>
      <p:sp>
        <p:nvSpPr>
          <p:cNvPr id="12" name="Text 10"/>
          <p:cNvSpPr txBox="1"/>
          <p:nvPr/>
        </p:nvSpPr>
        <p:spPr>
          <a:xfrm>
            <a:off x="640080" y="1737360"/>
            <a:ext cx="5029200" cy="68580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周囲に0〜4棟の建物を自由に置いたとき、中央建物の壁面が受ける年間日射量を短時間で予測するツールを作る。</a:t>
            </a:r>
            <a:endParaRPr lang="en-US" sz="1200" dirty="0"/>
          </a:p>
        </p:txBody>
      </p:sp>
      <p:sp>
        <p:nvSpPr>
          <p:cNvPr id="13" name="Text 11"/>
          <p:cNvSpPr txBox="1"/>
          <p:nvPr/>
        </p:nvSpPr>
        <p:spPr>
          <a:xfrm>
            <a:off x="640080" y="2468880"/>
            <a:ext cx="5029200" cy="548640"/>
          </a:xfrm>
          <a:prstGeom prst="rect">
            <a:avLst/>
          </a:prstGeom>
          <a:noFill/>
          <a:ln/>
        </p:spPr>
        <p:txBody>
          <a:bodyPr wrap="square" rtlCol="0" anchor="t"/>
          <a:lstStyle/>
          <a:p>
            <a:pPr marL="0" indent="0">
              <a:buNone/>
            </a:pPr>
            <a:r>
              <a:rPr lang="en-US" sz="1050" dirty="0">
                <a:solidFill>
                  <a:srgbClr val="6B7480"/>
                </a:solidFill>
                <a:latin typeface="Yu Gothic" pitchFamily="34" charset="0"/>
                <a:ea typeface="Yu Gothic" pitchFamily="34" charset="-122"/>
                <a:cs typeface="Yu Gothic" pitchFamily="34" charset="-120"/>
              </a:rPr>
              <a:t>SEBE（日射解析ソフト）をそのつど実行する代わりに、事前に計算した結果から瞬時に推定する。</a:t>
            </a:r>
            <a:endParaRPr lang="en-US" sz="1050" dirty="0"/>
          </a:p>
        </p:txBody>
      </p:sp>
      <p:sp>
        <p:nvSpPr>
          <p:cNvPr id="14" name="Text 12"/>
          <p:cNvSpPr txBox="1"/>
          <p:nvPr/>
        </p:nvSpPr>
        <p:spPr>
          <a:xfrm>
            <a:off x="640080" y="3063240"/>
            <a:ext cx="4572000" cy="274320"/>
          </a:xfrm>
          <a:prstGeom prst="rect">
            <a:avLst/>
          </a:prstGeom>
          <a:noFill/>
          <a:ln/>
        </p:spPr>
        <p:txBody>
          <a:bodyPr wrap="square" rtlCol="0" anchor="t"/>
          <a:lstStyle/>
          <a:p>
            <a:pPr marL="0" indent="0">
              <a:buNone/>
            </a:pPr>
            <a:r>
              <a:rPr lang="en-US" sz="1150" b="1" dirty="0">
                <a:solidFill>
                  <a:srgbClr val="C56A2C"/>
                </a:solidFill>
                <a:latin typeface="Yu Gothic" pitchFamily="34" charset="0"/>
                <a:ea typeface="Yu Gothic" pitchFamily="34" charset="-122"/>
                <a:cs typeface="Yu Gothic" pitchFamily="34" charset="-120"/>
              </a:rPr>
              <a:t>ツールが扱う条件</a:t>
            </a:r>
            <a:endParaRPr lang="en-US" sz="1150" dirty="0"/>
          </a:p>
        </p:txBody>
      </p:sp>
      <p:sp>
        <p:nvSpPr>
          <p:cNvPr id="15" name="Shape 13"/>
          <p:cNvSpPr/>
          <p:nvPr/>
        </p:nvSpPr>
        <p:spPr>
          <a:xfrm>
            <a:off x="640080"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16" name="Shape 14"/>
          <p:cNvSpPr/>
          <p:nvPr/>
        </p:nvSpPr>
        <p:spPr>
          <a:xfrm>
            <a:off x="777240" y="3566160"/>
            <a:ext cx="457200" cy="457200"/>
          </a:xfrm>
          <a:prstGeom prst="ellipse">
            <a:avLst/>
          </a:prstGeom>
          <a:solidFill>
            <a:srgbClr val="1B2A44"/>
          </a:solidFill>
          <a:ln/>
        </p:spPr>
        <p:txBody>
          <a:bodyPr/>
          <a:p/>
        </p:txBody>
      </p:sp>
      <p:sp>
        <p:nvSpPr>
          <p:cNvPr id="17" name="Text 15"/>
          <p:cNvSpPr txBox="1"/>
          <p:nvPr/>
        </p:nvSpPr>
        <p:spPr>
          <a:xfrm>
            <a:off x="777240"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距</a:t>
            </a:r>
            <a:endParaRPr lang="en-US" sz="1400" dirty="0"/>
          </a:p>
        </p:txBody>
      </p:sp>
      <p:sp>
        <p:nvSpPr>
          <p:cNvPr id="18" name="Text 16"/>
          <p:cNvSpPr txBox="1"/>
          <p:nvPr/>
        </p:nvSpPr>
        <p:spPr>
          <a:xfrm>
            <a:off x="1325880"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距離</a:t>
            </a:r>
            <a:endParaRPr lang="en-US" sz="1300" dirty="0"/>
          </a:p>
        </p:txBody>
      </p:sp>
      <p:sp>
        <p:nvSpPr>
          <p:cNvPr id="19" name="Text 17"/>
          <p:cNvSpPr txBox="1"/>
          <p:nvPr/>
        </p:nvSpPr>
        <p:spPr>
          <a:xfrm>
            <a:off x="777240"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中央建物と周囲建物の壁どうしの隙間</a:t>
            </a:r>
            <a:endParaRPr lang="en-US" sz="980" dirty="0"/>
          </a:p>
        </p:txBody>
      </p:sp>
      <p:sp>
        <p:nvSpPr>
          <p:cNvPr id="20" name="Shape 18"/>
          <p:cNvSpPr/>
          <p:nvPr/>
        </p:nvSpPr>
        <p:spPr>
          <a:xfrm>
            <a:off x="3182112"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1" name="Shape 19"/>
          <p:cNvSpPr/>
          <p:nvPr/>
        </p:nvSpPr>
        <p:spPr>
          <a:xfrm>
            <a:off x="3319272" y="3566160"/>
            <a:ext cx="457200" cy="457200"/>
          </a:xfrm>
          <a:prstGeom prst="ellipse">
            <a:avLst/>
          </a:prstGeom>
          <a:solidFill>
            <a:srgbClr val="1B2A44"/>
          </a:solidFill>
          <a:ln/>
        </p:spPr>
        <p:txBody>
          <a:bodyPr/>
          <a:p/>
        </p:txBody>
      </p:sp>
      <p:sp>
        <p:nvSpPr>
          <p:cNvPr id="22" name="Text 20"/>
          <p:cNvSpPr txBox="1"/>
          <p:nvPr/>
        </p:nvSpPr>
        <p:spPr>
          <a:xfrm>
            <a:off x="3319272"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方</a:t>
            </a:r>
            <a:endParaRPr lang="en-US" sz="1400" dirty="0"/>
          </a:p>
        </p:txBody>
      </p:sp>
      <p:sp>
        <p:nvSpPr>
          <p:cNvPr id="23" name="Text 21"/>
          <p:cNvSpPr txBox="1"/>
          <p:nvPr/>
        </p:nvSpPr>
        <p:spPr>
          <a:xfrm>
            <a:off x="3867912"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方角</a:t>
            </a:r>
            <a:endParaRPr lang="en-US" sz="1300" dirty="0"/>
          </a:p>
        </p:txBody>
      </p:sp>
      <p:sp>
        <p:nvSpPr>
          <p:cNvPr id="24" name="Text 22"/>
          <p:cNvSpPr txBox="1"/>
          <p:nvPr/>
        </p:nvSpPr>
        <p:spPr>
          <a:xfrm>
            <a:off x="3319272"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周囲建物を置く方位（南・東など）</a:t>
            </a:r>
            <a:endParaRPr lang="en-US" sz="980" dirty="0"/>
          </a:p>
        </p:txBody>
      </p:sp>
      <p:sp>
        <p:nvSpPr>
          <p:cNvPr id="25" name="Shape 23"/>
          <p:cNvSpPr/>
          <p:nvPr/>
        </p:nvSpPr>
        <p:spPr>
          <a:xfrm>
            <a:off x="640080"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6" name="Shape 24"/>
          <p:cNvSpPr/>
          <p:nvPr/>
        </p:nvSpPr>
        <p:spPr>
          <a:xfrm>
            <a:off x="777240" y="4937760"/>
            <a:ext cx="457200" cy="457200"/>
          </a:xfrm>
          <a:prstGeom prst="ellipse">
            <a:avLst/>
          </a:prstGeom>
          <a:solidFill>
            <a:srgbClr val="1B2A44"/>
          </a:solidFill>
          <a:ln/>
        </p:spPr>
        <p:txBody>
          <a:bodyPr/>
          <a:p/>
        </p:txBody>
      </p:sp>
      <p:sp>
        <p:nvSpPr>
          <p:cNvPr id="27" name="Text 25"/>
          <p:cNvSpPr txBox="1"/>
          <p:nvPr/>
        </p:nvSpPr>
        <p:spPr>
          <a:xfrm>
            <a:off x="777240"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高</a:t>
            </a:r>
            <a:endParaRPr lang="en-US" sz="1400" dirty="0"/>
          </a:p>
        </p:txBody>
      </p:sp>
      <p:sp>
        <p:nvSpPr>
          <p:cNvPr id="28" name="Text 26"/>
          <p:cNvSpPr txBox="1"/>
          <p:nvPr/>
        </p:nvSpPr>
        <p:spPr>
          <a:xfrm>
            <a:off x="1325880"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高さ</a:t>
            </a:r>
            <a:endParaRPr lang="en-US" sz="1300" dirty="0"/>
          </a:p>
        </p:txBody>
      </p:sp>
      <p:sp>
        <p:nvSpPr>
          <p:cNvPr id="29" name="Text 27"/>
          <p:cNvSpPr txBox="1"/>
          <p:nvPr/>
        </p:nvSpPr>
        <p:spPr>
          <a:xfrm>
            <a:off x="777240"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周囲に置く建物それぞれの高さ</a:t>
            </a:r>
            <a:endParaRPr lang="en-US" sz="980" dirty="0"/>
          </a:p>
        </p:txBody>
      </p:sp>
      <p:sp>
        <p:nvSpPr>
          <p:cNvPr id="30" name="Shape 28"/>
          <p:cNvSpPr/>
          <p:nvPr/>
        </p:nvSpPr>
        <p:spPr>
          <a:xfrm>
            <a:off x="3182112"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31" name="Shape 29"/>
          <p:cNvSpPr/>
          <p:nvPr/>
        </p:nvSpPr>
        <p:spPr>
          <a:xfrm>
            <a:off x="3319272" y="4937760"/>
            <a:ext cx="457200" cy="457200"/>
          </a:xfrm>
          <a:prstGeom prst="ellipse">
            <a:avLst/>
          </a:prstGeom>
          <a:solidFill>
            <a:srgbClr val="1B2A44"/>
          </a:solidFill>
          <a:ln/>
        </p:spPr>
        <p:txBody>
          <a:bodyPr/>
          <a:p/>
        </p:txBody>
      </p:sp>
      <p:sp>
        <p:nvSpPr>
          <p:cNvPr id="32" name="Text 30"/>
          <p:cNvSpPr txBox="1"/>
          <p:nvPr/>
        </p:nvSpPr>
        <p:spPr>
          <a:xfrm>
            <a:off x="3319272"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数</a:t>
            </a:r>
            <a:endParaRPr lang="en-US" sz="1400" dirty="0"/>
          </a:p>
        </p:txBody>
      </p:sp>
      <p:sp>
        <p:nvSpPr>
          <p:cNvPr id="33" name="Text 31"/>
          <p:cNvSpPr txBox="1"/>
          <p:nvPr/>
        </p:nvSpPr>
        <p:spPr>
          <a:xfrm>
            <a:off x="3867912"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棟数</a:t>
            </a:r>
            <a:endParaRPr lang="en-US" sz="1300" dirty="0"/>
          </a:p>
        </p:txBody>
      </p:sp>
      <p:sp>
        <p:nvSpPr>
          <p:cNvPr id="34" name="Text 32"/>
          <p:cNvSpPr txBox="1"/>
          <p:nvPr/>
        </p:nvSpPr>
        <p:spPr>
          <a:xfrm>
            <a:off x="3319272"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周囲に置く建物の数（0〜4棟）</a:t>
            </a:r>
            <a:endParaRPr lang="en-US" sz="980" dirty="0"/>
          </a:p>
        </p:txBody>
      </p:sp>
      <p:sp>
        <p:nvSpPr>
          <p:cNvPr id="35" name="Shape 33"/>
          <p:cNvSpPr/>
          <p:nvPr/>
        </p:nvSpPr>
        <p:spPr>
          <a:xfrm>
            <a:off x="5961888" y="3474720"/>
            <a:ext cx="411480" cy="457200"/>
          </a:xfrm>
          <a:prstGeom prst="rightArrow">
            <a:avLst/>
          </a:prstGeom>
          <a:solidFill>
            <a:srgbClr val="E8934D"/>
          </a:solidFill>
          <a:ln/>
        </p:spPr>
        <p:txBody>
          <a:bodyPr/>
          <a:p/>
        </p:txBody>
      </p:sp>
      <p:sp>
        <p:nvSpPr>
          <p:cNvPr id="36" name="Text 34"/>
          <p:cNvSpPr txBox="1"/>
          <p:nvPr/>
        </p:nvSpPr>
        <p:spPr>
          <a:xfrm>
            <a:off x="6492240" y="1188720"/>
            <a:ext cx="5212080" cy="320040"/>
          </a:xfrm>
          <a:prstGeom prst="rect">
            <a:avLst/>
          </a:prstGeom>
          <a:noFill/>
          <a:ln/>
        </p:spPr>
        <p:txBody>
          <a:bodyPr wrap="square" rtlCol="0" anchor="t"/>
          <a:lstStyle/>
          <a:p>
            <a:pPr marL="0" indent="0">
              <a:buNone/>
            </a:pPr>
            <a:r>
              <a:rPr lang="en-US" sz="1400" b="1" dirty="0">
                <a:solidFill>
                  <a:srgbClr val="1B2A44"/>
                </a:solidFill>
                <a:latin typeface="Yu Gothic" pitchFamily="34" charset="0"/>
                <a:ea typeface="Yu Gothic" pitchFamily="34" charset="-122"/>
                <a:cs typeface="Yu Gothic" pitchFamily="34" charset="-120"/>
              </a:rPr>
              <a:t>第一段階：条件を大きく絞って始める</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23951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最終目標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第一段階</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置く方角</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自由</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真南のみ</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変える条件</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距離・方角・高さ・棟数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高さ A・隙間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50m角・高さ50mで固定</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予測する壁</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中央建物の壁面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南面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bl>
          </a:graphicData>
        </a:graphic>
      </p:graphicFrame>
      <p:sp>
        <p:nvSpPr>
          <p:cNvPr id="38" name="Shape 35"/>
          <p:cNvSpPr/>
          <p:nvPr/>
        </p:nvSpPr>
        <p:spPr>
          <a:xfrm>
            <a:off x="6492240" y="4160520"/>
            <a:ext cx="5239512" cy="2148840"/>
          </a:xfrm>
          <a:prstGeom prst="roundRect">
            <a:avLst>
              <a:gd name="adj" fmla="val 2553"/>
            </a:avLst>
          </a:prstGeom>
          <a:solidFill>
            <a:srgbClr val="FBEBDA"/>
          </a:solidFill>
          <a:ln w="12700">
            <a:solidFill>
              <a:srgbClr val="E8934D"/>
            </a:solidFill>
            <a:prstDash val="solid"/>
          </a:ln>
        </p:spPr>
        <p:txBody>
          <a:bodyPr/>
          <a:p/>
        </p:txBody>
      </p:sp>
      <p:sp>
        <p:nvSpPr>
          <p:cNvPr id="39" name="Text 36"/>
          <p:cNvSpPr txBox="1"/>
          <p:nvPr/>
        </p:nvSpPr>
        <p:spPr>
          <a:xfrm>
            <a:off x="6675120" y="4233672"/>
            <a:ext cx="487375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なぜ絞るのか</a:t>
            </a:r>
            <a:endParaRPr lang="en-US" sz="1200" dirty="0"/>
          </a:p>
        </p:txBody>
      </p:sp>
      <p:sp>
        <p:nvSpPr>
          <p:cNvPr id="40" name="Text 37"/>
          <p:cNvSpPr txBox="1"/>
          <p:nvPr/>
        </p:nvSpPr>
        <p:spPr>
          <a:xfrm>
            <a:off x="6675120" y="4526280"/>
            <a:ext cx="4873752" cy="172821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条件を2つ（A と D）に絞ると、組み合わせを全部計算しても16通りで済む。</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まずこの範囲で「どの予測方法が良いか」「どれくらい正確か」「どこが弱いか」を確かめてから、方角や棟数を広げる。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第一段階の条件：入力は A と D の2つだけ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04 / 41</a:t>
            </a:r>
            <a:endParaRPr lang="en-US" sz="1100" dirty="0"/>
          </a:p>
        </p:txBody>
      </p:sp>
      <p:sp>
        <p:nvSpPr>
          <p:cNvPr id="9" name="Shape 7"/>
          <p:cNvSpPr/>
          <p:nvPr/>
        </p:nvSpPr>
        <p:spPr>
          <a:xfrm>
            <a:off x="457200" y="1188720"/>
            <a:ext cx="5852160" cy="3749040"/>
          </a:xfrm>
          <a:prstGeom prst="roundRect">
            <a:avLst>
              <a:gd name="adj" fmla="val 1463"/>
            </a:avLst>
          </a:prstGeom>
          <a:solidFill>
            <a:srgbClr val="F3F5F8"/>
          </a:solidFill>
          <a:ln w="12700">
            <a:solidFill>
              <a:srgbClr val="DBE0E6"/>
            </a:solidFill>
            <a:prstDash val="solid"/>
          </a:ln>
        </p:spPr>
        <p:txBody>
          <a:bodyPr/>
          <a:p/>
        </p:txBody>
      </p:sp>
      <p:sp>
        <p:nvSpPr>
          <p:cNvPr id="10" name="Shape 8"/>
          <p:cNvSpPr/>
          <p:nvPr/>
        </p:nvSpPr>
        <p:spPr>
          <a:xfrm>
            <a:off x="640080" y="4434840"/>
            <a:ext cx="5486400" cy="0"/>
          </a:xfrm>
          <a:prstGeom prst="line">
            <a:avLst/>
          </a:prstGeom>
          <a:noFill/>
          <a:ln w="19050">
            <a:solidFill>
              <a:srgbClr val="6B7480"/>
            </a:solidFill>
            <a:prstDash val="solid"/>
          </a:ln>
        </p:spPr>
        <p:txBody>
          <a:bodyPr/>
          <a:p/>
        </p:txBody>
      </p:sp>
      <p:sp>
        <p:nvSpPr>
          <p:cNvPr id="11" name="Shape 9"/>
          <p:cNvSpPr/>
          <p:nvPr/>
        </p:nvSpPr>
        <p:spPr>
          <a:xfrm>
            <a:off x="868680" y="2994660"/>
            <a:ext cx="2057400" cy="1440180"/>
          </a:xfrm>
          <a:prstGeom prst="rect">
            <a:avLst/>
          </a:prstGeom>
          <a:solidFill>
            <a:srgbClr val="1F6F78"/>
          </a:solidFill>
          <a:ln/>
        </p:spPr>
        <p:txBody>
          <a:bodyPr/>
          <a:p/>
        </p:txBody>
      </p:sp>
      <p:sp>
        <p:nvSpPr>
          <p:cNvPr id="12" name="Text 10"/>
          <p:cNvSpPr txBox="1"/>
          <p:nvPr/>
        </p:nvSpPr>
        <p:spPr>
          <a:xfrm>
            <a:off x="868680" y="3314700"/>
            <a:ext cx="205740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（高さ A）</a:t>
            </a:r>
            <a:endParaRPr lang="en-US" sz="1050" dirty="0"/>
          </a:p>
        </p:txBody>
      </p:sp>
      <p:sp>
        <p:nvSpPr>
          <p:cNvPr id="13" name="Shape 11"/>
          <p:cNvSpPr/>
          <p:nvPr/>
        </p:nvSpPr>
        <p:spPr>
          <a:xfrm>
            <a:off x="3954780" y="2377440"/>
            <a:ext cx="2057400" cy="2057400"/>
          </a:xfrm>
          <a:prstGeom prst="rect">
            <a:avLst/>
          </a:prstGeom>
          <a:solidFill>
            <a:srgbClr val="1B2A44"/>
          </a:solidFill>
          <a:ln/>
        </p:spPr>
        <p:txBody>
          <a:bodyPr/>
          <a:p/>
        </p:txBody>
      </p:sp>
      <p:sp>
        <p:nvSpPr>
          <p:cNvPr id="14" name="Shape 12"/>
          <p:cNvSpPr/>
          <p:nvPr/>
        </p:nvSpPr>
        <p:spPr>
          <a:xfrm>
            <a:off x="3954780" y="2377440"/>
            <a:ext cx="82296" cy="2057400"/>
          </a:xfrm>
          <a:prstGeom prst="rect">
            <a:avLst/>
          </a:prstGeom>
          <a:solidFill>
            <a:srgbClr val="E8934D"/>
          </a:solidFill>
          <a:ln/>
        </p:spPr>
        <p:txBody>
          <a:bodyPr/>
          <a:p/>
        </p:txBody>
      </p:sp>
      <p:sp>
        <p:nvSpPr>
          <p:cNvPr id="15" name="Text 13"/>
          <p:cNvSpPr txBox="1"/>
          <p:nvPr/>
        </p:nvSpPr>
        <p:spPr>
          <a:xfrm>
            <a:off x="4046220" y="2834640"/>
            <a:ext cx="196596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50m角・高さ50m</a:t>
            </a:r>
            <a:endParaRPr lang="en-US" sz="1050" dirty="0"/>
          </a:p>
        </p:txBody>
      </p:sp>
      <p:sp>
        <p:nvSpPr>
          <p:cNvPr id="16" name="Text 14"/>
          <p:cNvSpPr txBox="1"/>
          <p:nvPr/>
        </p:nvSpPr>
        <p:spPr>
          <a:xfrm>
            <a:off x="4091940" y="2450592"/>
            <a:ext cx="1828800" cy="237744"/>
          </a:xfrm>
          <a:prstGeom prst="rect">
            <a:avLst/>
          </a:prstGeom>
          <a:noFill/>
          <a:ln/>
        </p:spPr>
        <p:txBody>
          <a:bodyPr wrap="square" lIns="0" tIns="0" rIns="0" bIns="0" rtlCol="0" anchor="t"/>
          <a:lstStyle/>
          <a:p>
            <a:pPr marL="0" indent="0">
              <a:buNone/>
            </a:pPr>
            <a:r>
              <a:rPr lang="en-US" sz="900" b="1" dirty="0">
                <a:solidFill>
                  <a:srgbClr val="E8934D"/>
                </a:solidFill>
                <a:latin typeface="Yu Gothic" pitchFamily="34" charset="0"/>
                <a:ea typeface="Yu Gothic" pitchFamily="34" charset="-122"/>
                <a:cs typeface="Yu Gothic" pitchFamily="34" charset="-120"/>
              </a:rPr>
              <a:t>← 南面（予測する壁）</a:t>
            </a:r>
            <a:endParaRPr lang="en-US" sz="900" dirty="0"/>
          </a:p>
        </p:txBody>
      </p:sp>
      <p:sp>
        <p:nvSpPr>
          <p:cNvPr id="17" name="Shape 15"/>
          <p:cNvSpPr/>
          <p:nvPr/>
        </p:nvSpPr>
        <p:spPr>
          <a:xfrm>
            <a:off x="3154680" y="2994660"/>
            <a:ext cx="0" cy="1440180"/>
          </a:xfrm>
          <a:prstGeom prst="line">
            <a:avLst/>
          </a:prstGeom>
          <a:noFill/>
          <a:ln w="15875">
            <a:solidFill>
              <a:srgbClr val="1B2A44"/>
            </a:solidFill>
            <a:prstDash val="solid"/>
            <a:headEnd type="triangle"/>
            <a:tailEnd type="triangle"/>
          </a:ln>
        </p:spPr>
        <p:txBody>
          <a:bodyPr/>
          <a:p/>
        </p:txBody>
      </p:sp>
      <p:sp>
        <p:nvSpPr>
          <p:cNvPr id="18" name="Text 16"/>
          <p:cNvSpPr txBox="1"/>
          <p:nvPr/>
        </p:nvSpPr>
        <p:spPr>
          <a:xfrm>
            <a:off x="3218688" y="3568446"/>
            <a:ext cx="365760" cy="292608"/>
          </a:xfrm>
          <a:prstGeom prst="rect">
            <a:avLst/>
          </a:prstGeom>
          <a:noFill/>
          <a:ln/>
        </p:spPr>
        <p:txBody>
          <a:bodyPr wrap="square" lIns="0" tIns="0" rIns="0" bIns="0" rtlCol="0" anchor="t"/>
          <a:lstStyle/>
          <a:p>
            <a:pPr marL="0" indent="0">
              <a:buNone/>
            </a:pPr>
            <a:r>
              <a:rPr lang="en-US" sz="1600" b="1" dirty="0">
                <a:solidFill>
                  <a:srgbClr val="1B2A44"/>
                </a:solidFill>
                <a:latin typeface="Yu Gothic" pitchFamily="34" charset="0"/>
                <a:ea typeface="Yu Gothic" pitchFamily="34" charset="-122"/>
                <a:cs typeface="Yu Gothic" pitchFamily="34" charset="-120"/>
              </a:rPr>
              <a:t>A</a:t>
            </a:r>
            <a:endParaRPr lang="en-US" sz="1600" dirty="0"/>
          </a:p>
        </p:txBody>
      </p:sp>
      <p:sp>
        <p:nvSpPr>
          <p:cNvPr id="19" name="Shape 17"/>
          <p:cNvSpPr/>
          <p:nvPr/>
        </p:nvSpPr>
        <p:spPr>
          <a:xfrm>
            <a:off x="2926080" y="4599432"/>
            <a:ext cx="1028700" cy="0"/>
          </a:xfrm>
          <a:prstGeom prst="line">
            <a:avLst/>
          </a:prstGeom>
          <a:noFill/>
          <a:ln w="15875">
            <a:solidFill>
              <a:srgbClr val="1B2A44"/>
            </a:solidFill>
            <a:prstDash val="solid"/>
            <a:headEnd type="triangle"/>
            <a:tailEnd type="triangle"/>
          </a:ln>
        </p:spPr>
        <p:txBody>
          <a:bodyPr/>
          <a:p/>
        </p:txBody>
      </p:sp>
      <p:sp>
        <p:nvSpPr>
          <p:cNvPr id="20" name="Text 18"/>
          <p:cNvSpPr txBox="1"/>
          <p:nvPr/>
        </p:nvSpPr>
        <p:spPr>
          <a:xfrm>
            <a:off x="2926080" y="4617720"/>
            <a:ext cx="1028700" cy="274320"/>
          </a:xfrm>
          <a:prstGeom prst="rect">
            <a:avLst/>
          </a:prstGeom>
          <a:noFill/>
          <a:ln/>
        </p:spPr>
        <p:txBody>
          <a:bodyPr wrap="square" lIns="0" tIns="0" rIns="0" bIns="0" rtlCol="0" anchor="t"/>
          <a:lstStyle/>
          <a:p>
            <a:pPr marL="0" indent="0" algn="ctr">
              <a:buNone/>
            </a:pPr>
            <a:r>
              <a:rPr lang="en-US" sz="1600" b="1" dirty="0">
                <a:solidFill>
                  <a:srgbClr val="1B2A44"/>
                </a:solidFill>
                <a:latin typeface="Yu Gothic" pitchFamily="34" charset="0"/>
                <a:ea typeface="Yu Gothic" pitchFamily="34" charset="-122"/>
                <a:cs typeface="Yu Gothic" pitchFamily="34" charset="-120"/>
              </a:rPr>
              <a:t>D</a:t>
            </a:r>
            <a:endParaRPr lang="en-US" sz="1600" dirty="0"/>
          </a:p>
        </p:txBody>
      </p:sp>
      <p:sp>
        <p:nvSpPr>
          <p:cNvPr id="21" name="Shape 19"/>
          <p:cNvSpPr/>
          <p:nvPr/>
        </p:nvSpPr>
        <p:spPr>
          <a:xfrm>
            <a:off x="1120140" y="1441094"/>
            <a:ext cx="45720" cy="100584"/>
          </a:xfrm>
          <a:prstGeom prst="rect">
            <a:avLst/>
          </a:prstGeom>
          <a:solidFill>
            <a:srgbClr val="E8934D"/>
          </a:solidFill>
          <a:ln/>
        </p:spPr>
        <p:txBody>
          <a:bodyPr/>
          <a:p/>
        </p:txBody>
      </p:sp>
      <p:sp>
        <p:nvSpPr>
          <p:cNvPr id="22" name="Shape 20"/>
          <p:cNvSpPr/>
          <p:nvPr/>
        </p:nvSpPr>
        <p:spPr>
          <a:xfrm rot="2700000">
            <a:off x="1326399" y="1526529"/>
            <a:ext cx="45720" cy="100584"/>
          </a:xfrm>
          <a:prstGeom prst="rect">
            <a:avLst/>
          </a:prstGeom>
          <a:solidFill>
            <a:srgbClr val="E8934D"/>
          </a:solidFill>
          <a:ln/>
        </p:spPr>
        <p:txBody>
          <a:bodyPr/>
          <a:p/>
        </p:txBody>
      </p:sp>
      <p:sp>
        <p:nvSpPr>
          <p:cNvPr id="23" name="Shape 21"/>
          <p:cNvSpPr/>
          <p:nvPr/>
        </p:nvSpPr>
        <p:spPr>
          <a:xfrm rot="5400000">
            <a:off x="1411834" y="1732788"/>
            <a:ext cx="45720" cy="100584"/>
          </a:xfrm>
          <a:prstGeom prst="rect">
            <a:avLst/>
          </a:prstGeom>
          <a:solidFill>
            <a:srgbClr val="E8934D"/>
          </a:solidFill>
          <a:ln/>
        </p:spPr>
        <p:txBody>
          <a:bodyPr/>
          <a:p/>
        </p:txBody>
      </p:sp>
      <p:sp>
        <p:nvSpPr>
          <p:cNvPr id="24" name="Shape 22"/>
          <p:cNvSpPr/>
          <p:nvPr/>
        </p:nvSpPr>
        <p:spPr>
          <a:xfrm rot="8100000">
            <a:off x="1326399" y="1939047"/>
            <a:ext cx="45720" cy="100584"/>
          </a:xfrm>
          <a:prstGeom prst="rect">
            <a:avLst/>
          </a:prstGeom>
          <a:solidFill>
            <a:srgbClr val="E8934D"/>
          </a:solidFill>
          <a:ln/>
        </p:spPr>
        <p:txBody>
          <a:bodyPr/>
          <a:p/>
        </p:txBody>
      </p:sp>
      <p:sp>
        <p:nvSpPr>
          <p:cNvPr id="25" name="Shape 23"/>
          <p:cNvSpPr/>
          <p:nvPr/>
        </p:nvSpPr>
        <p:spPr>
          <a:xfrm rot="10800000">
            <a:off x="1120140" y="2024482"/>
            <a:ext cx="45720" cy="100584"/>
          </a:xfrm>
          <a:prstGeom prst="rect">
            <a:avLst/>
          </a:prstGeom>
          <a:solidFill>
            <a:srgbClr val="E8934D"/>
          </a:solidFill>
          <a:ln/>
        </p:spPr>
        <p:txBody>
          <a:bodyPr/>
          <a:p/>
        </p:txBody>
      </p:sp>
      <p:sp>
        <p:nvSpPr>
          <p:cNvPr id="26" name="Shape 24"/>
          <p:cNvSpPr/>
          <p:nvPr/>
        </p:nvSpPr>
        <p:spPr>
          <a:xfrm rot="13500000">
            <a:off x="913881" y="1939047"/>
            <a:ext cx="45720" cy="100584"/>
          </a:xfrm>
          <a:prstGeom prst="rect">
            <a:avLst/>
          </a:prstGeom>
          <a:solidFill>
            <a:srgbClr val="E8934D"/>
          </a:solidFill>
          <a:ln/>
        </p:spPr>
        <p:txBody>
          <a:bodyPr/>
          <a:p/>
        </p:txBody>
      </p:sp>
      <p:sp>
        <p:nvSpPr>
          <p:cNvPr id="27" name="Shape 25"/>
          <p:cNvSpPr/>
          <p:nvPr/>
        </p:nvSpPr>
        <p:spPr>
          <a:xfrm rot="16200000">
            <a:off x="828446" y="1732788"/>
            <a:ext cx="45720" cy="100584"/>
          </a:xfrm>
          <a:prstGeom prst="rect">
            <a:avLst/>
          </a:prstGeom>
          <a:solidFill>
            <a:srgbClr val="E8934D"/>
          </a:solidFill>
          <a:ln/>
        </p:spPr>
        <p:txBody>
          <a:bodyPr/>
          <a:p/>
        </p:txBody>
      </p:sp>
      <p:sp>
        <p:nvSpPr>
          <p:cNvPr id="28" name="Shape 26"/>
          <p:cNvSpPr/>
          <p:nvPr/>
        </p:nvSpPr>
        <p:spPr>
          <a:xfrm rot="18900000">
            <a:off x="913881" y="1526529"/>
            <a:ext cx="45720" cy="100584"/>
          </a:xfrm>
          <a:prstGeom prst="rect">
            <a:avLst/>
          </a:prstGeom>
          <a:solidFill>
            <a:srgbClr val="E8934D"/>
          </a:solidFill>
          <a:ln/>
        </p:spPr>
        <p:txBody>
          <a:bodyPr/>
          <a:p/>
        </p:txBody>
      </p:sp>
      <p:sp>
        <p:nvSpPr>
          <p:cNvPr id="29" name="Shape 27"/>
          <p:cNvSpPr/>
          <p:nvPr/>
        </p:nvSpPr>
        <p:spPr>
          <a:xfrm>
            <a:off x="941832" y="1581912"/>
            <a:ext cx="402336" cy="402336"/>
          </a:xfrm>
          <a:prstGeom prst="ellipse">
            <a:avLst/>
          </a:prstGeom>
          <a:solidFill>
            <a:srgbClr val="E8934D"/>
          </a:solidFill>
          <a:ln/>
        </p:spPr>
        <p:txBody>
          <a:bodyPr/>
          <a:p/>
        </p:txBody>
      </p:sp>
      <p:sp>
        <p:nvSpPr>
          <p:cNvPr id="30" name="Text 28"/>
          <p:cNvSpPr txBox="1"/>
          <p:nvPr/>
        </p:nvSpPr>
        <p:spPr>
          <a:xfrm>
            <a:off x="566928"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1" name="Text 29"/>
          <p:cNvSpPr txBox="1"/>
          <p:nvPr/>
        </p:nvSpPr>
        <p:spPr>
          <a:xfrm>
            <a:off x="5897880"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32" name="Text 30"/>
          <p:cNvSpPr txBox="1"/>
          <p:nvPr/>
        </p:nvSpPr>
        <p:spPr>
          <a:xfrm>
            <a:off x="4480560" y="1261872"/>
            <a:ext cx="1737360" cy="237744"/>
          </a:xfrm>
          <a:prstGeom prst="rect">
            <a:avLst/>
          </a:prstGeom>
          <a:noFill/>
          <a:ln/>
        </p:spPr>
        <p:txBody>
          <a:bodyPr wrap="square" rtlCol="0" anchor="t"/>
          <a:lstStyle/>
          <a:p>
            <a:pPr marL="0" indent="0" algn="r">
              <a:buNone/>
            </a:pPr>
            <a:r>
              <a:rPr lang="en-US" sz="900" dirty="0">
                <a:solidFill>
                  <a:srgbClr val="6B7480"/>
                </a:solidFill>
                <a:latin typeface="Yu Gothic" pitchFamily="34" charset="0"/>
                <a:ea typeface="Yu Gothic" pitchFamily="34" charset="-122"/>
                <a:cs typeface="Yu Gothic" pitchFamily="34" charset="-120"/>
              </a:rPr>
              <a:t>横から見た図</a:t>
            </a:r>
            <a:endParaRPr lang="en-US" sz="900" dirty="0"/>
          </a:p>
        </p:txBody>
      </p:sp>
      <p:sp>
        <p:nvSpPr>
          <p:cNvPr id="33" name="Text 31"/>
          <p:cNvSpPr txBox="1"/>
          <p:nvPr/>
        </p:nvSpPr>
        <p:spPr>
          <a:xfrm>
            <a:off x="6537960" y="118872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固定した条件</a:t>
            </a:r>
            <a:endParaRPr lang="en-US" sz="1300" dirty="0"/>
          </a:p>
        </p:txBody>
      </p:sp>
      <p:sp>
        <p:nvSpPr>
          <p:cNvPr id="34" name="Shape 32"/>
          <p:cNvSpPr/>
          <p:nvPr/>
        </p:nvSpPr>
        <p:spPr>
          <a:xfrm>
            <a:off x="6537960" y="1554480"/>
            <a:ext cx="5193792" cy="566928"/>
          </a:xfrm>
          <a:prstGeom prst="roundRect">
            <a:avLst>
              <a:gd name="adj" fmla="val 9677"/>
            </a:avLst>
          </a:prstGeom>
          <a:solidFill>
            <a:srgbClr val="F3F5F8"/>
          </a:solidFill>
          <a:ln w="12700">
            <a:solidFill>
              <a:srgbClr val="DBE0E6"/>
            </a:solidFill>
            <a:prstDash val="solid"/>
          </a:ln>
        </p:spPr>
        <p:txBody>
          <a:bodyPr/>
          <a:p/>
        </p:txBody>
      </p:sp>
      <p:sp>
        <p:nvSpPr>
          <p:cNvPr id="35" name="Text 33"/>
          <p:cNvSpPr txBox="1"/>
          <p:nvPr/>
        </p:nvSpPr>
        <p:spPr>
          <a:xfrm>
            <a:off x="6675120" y="1554480"/>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中央建物</a:t>
            </a:r>
            <a:endParaRPr lang="en-US" sz="1100" dirty="0"/>
          </a:p>
        </p:txBody>
      </p:sp>
      <p:sp>
        <p:nvSpPr>
          <p:cNvPr id="36" name="Text 34"/>
          <p:cNvSpPr txBox="1"/>
          <p:nvPr/>
        </p:nvSpPr>
        <p:spPr>
          <a:xfrm>
            <a:off x="7772400" y="1554480"/>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50m角・高さ50mで固定</a:t>
            </a:r>
            <a:endParaRPr lang="en-US" sz="1050" dirty="0"/>
          </a:p>
        </p:txBody>
      </p:sp>
      <p:sp>
        <p:nvSpPr>
          <p:cNvPr id="37" name="Shape 35"/>
          <p:cNvSpPr/>
          <p:nvPr/>
        </p:nvSpPr>
        <p:spPr>
          <a:xfrm>
            <a:off x="6537960" y="2212848"/>
            <a:ext cx="5193792" cy="566928"/>
          </a:xfrm>
          <a:prstGeom prst="roundRect">
            <a:avLst>
              <a:gd name="adj" fmla="val 9677"/>
            </a:avLst>
          </a:prstGeom>
          <a:solidFill>
            <a:srgbClr val="F3F5F8"/>
          </a:solidFill>
          <a:ln w="12700">
            <a:solidFill>
              <a:srgbClr val="DBE0E6"/>
            </a:solidFill>
            <a:prstDash val="solid"/>
          </a:ln>
        </p:spPr>
        <p:txBody>
          <a:bodyPr/>
          <a:p/>
        </p:txBody>
      </p:sp>
      <p:sp>
        <p:nvSpPr>
          <p:cNvPr id="38" name="Text 36"/>
          <p:cNvSpPr txBox="1"/>
          <p:nvPr/>
        </p:nvSpPr>
        <p:spPr>
          <a:xfrm>
            <a:off x="6675120" y="2212848"/>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周囲建物</a:t>
            </a:r>
            <a:endParaRPr lang="en-US" sz="1100" dirty="0"/>
          </a:p>
        </p:txBody>
      </p:sp>
      <p:sp>
        <p:nvSpPr>
          <p:cNvPr id="39" name="Text 37"/>
          <p:cNvSpPr txBox="1"/>
          <p:nvPr/>
        </p:nvSpPr>
        <p:spPr>
          <a:xfrm>
            <a:off x="7772400" y="2212848"/>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真南に1棟だけ置く</a:t>
            </a:r>
            <a:endParaRPr lang="en-US" sz="1050" dirty="0"/>
          </a:p>
        </p:txBody>
      </p:sp>
      <p:sp>
        <p:nvSpPr>
          <p:cNvPr id="40" name="Shape 38"/>
          <p:cNvSpPr/>
          <p:nvPr/>
        </p:nvSpPr>
        <p:spPr>
          <a:xfrm>
            <a:off x="6537960" y="2871216"/>
            <a:ext cx="5193792" cy="566928"/>
          </a:xfrm>
          <a:prstGeom prst="roundRect">
            <a:avLst>
              <a:gd name="adj" fmla="val 9677"/>
            </a:avLst>
          </a:prstGeom>
          <a:solidFill>
            <a:srgbClr val="F3F5F8"/>
          </a:solidFill>
          <a:ln w="12700">
            <a:solidFill>
              <a:srgbClr val="DBE0E6"/>
            </a:solidFill>
            <a:prstDash val="solid"/>
          </a:ln>
        </p:spPr>
        <p:txBody>
          <a:bodyPr/>
          <a:p/>
        </p:txBody>
      </p:sp>
      <p:sp>
        <p:nvSpPr>
          <p:cNvPr id="41" name="Text 39"/>
          <p:cNvSpPr txBox="1"/>
          <p:nvPr/>
        </p:nvSpPr>
        <p:spPr>
          <a:xfrm>
            <a:off x="6675120" y="2871216"/>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気象</a:t>
            </a:r>
            <a:endParaRPr lang="en-US" sz="1100" dirty="0"/>
          </a:p>
        </p:txBody>
      </p:sp>
      <p:sp>
        <p:nvSpPr>
          <p:cNvPr id="42" name="Text 40"/>
          <p:cNvSpPr txBox="1"/>
          <p:nvPr/>
        </p:nvSpPr>
        <p:spPr>
          <a:xfrm>
            <a:off x="7772400" y="2871216"/>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全パターン共通。東京地区の標準年データ（1時間ごと×8,760時間）</a:t>
            </a:r>
            <a:endParaRPr lang="en-US" sz="1050" dirty="0"/>
          </a:p>
        </p:txBody>
      </p:sp>
      <p:sp>
        <p:nvSpPr>
          <p:cNvPr id="43" name="Text 41"/>
          <p:cNvSpPr txBox="1"/>
          <p:nvPr/>
        </p:nvSpPr>
        <p:spPr>
          <a:xfrm>
            <a:off x="6537960" y="361188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変える条件</a:t>
            </a:r>
            <a:endParaRPr lang="en-US" sz="1300" dirty="0"/>
          </a:p>
        </p:txBody>
      </p:sp>
      <p:sp>
        <p:nvSpPr>
          <p:cNvPr id="44" name="Shape 42"/>
          <p:cNvSpPr/>
          <p:nvPr/>
        </p:nvSpPr>
        <p:spPr>
          <a:xfrm>
            <a:off x="653796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5" name="Text 43"/>
          <p:cNvSpPr txBox="1"/>
          <p:nvPr/>
        </p:nvSpPr>
        <p:spPr>
          <a:xfrm>
            <a:off x="664768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A</a:t>
            </a:r>
            <a:endParaRPr lang="en-US" sz="3000" dirty="0"/>
          </a:p>
        </p:txBody>
      </p:sp>
      <p:sp>
        <p:nvSpPr>
          <p:cNvPr id="46" name="Text 44"/>
          <p:cNvSpPr txBox="1"/>
          <p:nvPr/>
        </p:nvSpPr>
        <p:spPr>
          <a:xfrm>
            <a:off x="726948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47" name="Text 45"/>
          <p:cNvSpPr txBox="1"/>
          <p:nvPr/>
        </p:nvSpPr>
        <p:spPr>
          <a:xfrm>
            <a:off x="726948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48" name="Shape 46"/>
          <p:cNvSpPr/>
          <p:nvPr/>
        </p:nvSpPr>
        <p:spPr>
          <a:xfrm>
            <a:off x="918972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9" name="Text 47"/>
          <p:cNvSpPr txBox="1"/>
          <p:nvPr/>
        </p:nvSpPr>
        <p:spPr>
          <a:xfrm>
            <a:off x="929944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D</a:t>
            </a:r>
            <a:endParaRPr lang="en-US" sz="3000" dirty="0"/>
          </a:p>
        </p:txBody>
      </p:sp>
      <p:sp>
        <p:nvSpPr>
          <p:cNvPr id="50" name="Text 48"/>
          <p:cNvSpPr txBox="1"/>
          <p:nvPr/>
        </p:nvSpPr>
        <p:spPr>
          <a:xfrm>
            <a:off x="992124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建物間の隙間（壁と壁）</a:t>
            </a:r>
            <a:endParaRPr lang="en-US" sz="1050" dirty="0"/>
          </a:p>
        </p:txBody>
      </p:sp>
      <p:sp>
        <p:nvSpPr>
          <p:cNvPr id="51" name="Text 49"/>
          <p:cNvSpPr txBox="1"/>
          <p:nvPr/>
        </p:nvSpPr>
        <p:spPr>
          <a:xfrm>
            <a:off x="992124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52" name="Shape 50"/>
          <p:cNvSpPr/>
          <p:nvPr/>
        </p:nvSpPr>
        <p:spPr>
          <a:xfrm>
            <a:off x="457200" y="5120640"/>
            <a:ext cx="11274552" cy="1188720"/>
          </a:xfrm>
          <a:prstGeom prst="roundRect">
            <a:avLst>
              <a:gd name="adj" fmla="val 4615"/>
            </a:avLst>
          </a:prstGeom>
          <a:solidFill>
            <a:srgbClr val="1B2A44"/>
          </a:solidFill>
          <a:ln/>
        </p:spPr>
        <p:txBody>
          <a:bodyPr/>
          <a:p/>
        </p:txBody>
      </p:sp>
      <p:sp>
        <p:nvSpPr>
          <p:cNvPr id="53" name="Text 51"/>
          <p:cNvSpPr txBox="1"/>
          <p:nvPr/>
        </p:nvSpPr>
        <p:spPr>
          <a:xfrm>
            <a:off x="77724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入力データ  INPUT</a:t>
            </a:r>
            <a:endParaRPr lang="en-US" sz="1050" dirty="0"/>
          </a:p>
        </p:txBody>
      </p:sp>
      <p:sp>
        <p:nvSpPr>
          <p:cNvPr id="54" name="Text 52"/>
          <p:cNvSpPr txBox="1"/>
          <p:nvPr/>
        </p:nvSpPr>
        <p:spPr>
          <a:xfrm>
            <a:off x="777240" y="5513832"/>
            <a:ext cx="4754880" cy="548640"/>
          </a:xfrm>
          <a:prstGeom prst="rect">
            <a:avLst/>
          </a:prstGeom>
          <a:noFill/>
          <a:ln/>
        </p:spPr>
        <p:txBody>
          <a:bodyPr wrap="square" rtlCol="0" anchor="ctr"/>
          <a:lstStyle/>
          <a:p>
            <a:pPr marL="0" indent="0">
              <a:buNone/>
            </a:pPr>
            <a:r>
              <a:rPr lang="en-US" sz="1500" b="1" dirty="0">
                <a:solidFill>
                  <a:srgbClr val="FFFFFF"/>
                </a:solidFill>
                <a:latin typeface="Yu Gothic" pitchFamily="34" charset="0"/>
                <a:ea typeface="Yu Gothic" pitchFamily="34" charset="-122"/>
                <a:cs typeface="Yu Gothic" pitchFamily="34" charset="-120"/>
              </a:rPr>
              <a:t>A（南側建物の高さ）・D（建物間の隙間）</a:t>
            </a:r>
            <a:endParaRPr lang="en-US" sz="1500" dirty="0"/>
          </a:p>
        </p:txBody>
      </p:sp>
      <p:sp>
        <p:nvSpPr>
          <p:cNvPr id="55" name="Shape 53"/>
          <p:cNvSpPr/>
          <p:nvPr/>
        </p:nvSpPr>
        <p:spPr>
          <a:xfrm>
            <a:off x="5577840" y="5577840"/>
            <a:ext cx="548640" cy="411480"/>
          </a:xfrm>
          <a:prstGeom prst="rightArrow">
            <a:avLst/>
          </a:prstGeom>
          <a:solidFill>
            <a:srgbClr val="E8934D"/>
          </a:solidFill>
          <a:ln/>
        </p:spPr>
        <p:txBody>
          <a:bodyPr/>
          <a:p/>
        </p:txBody>
      </p:sp>
      <p:sp>
        <p:nvSpPr>
          <p:cNvPr id="56" name="Text 54"/>
          <p:cNvSpPr txBox="1"/>
          <p:nvPr/>
        </p:nvSpPr>
        <p:spPr>
          <a:xfrm>
            <a:off x="635508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出力データ  OUTPUT</a:t>
            </a:r>
            <a:endParaRPr lang="en-US" sz="1050" dirty="0"/>
          </a:p>
        </p:txBody>
      </p:sp>
      <p:sp>
        <p:nvSpPr>
          <p:cNvPr id="57" name="Text 55"/>
          <p:cNvSpPr txBox="1"/>
          <p:nvPr/>
        </p:nvSpPr>
        <p:spPr>
          <a:xfrm>
            <a:off x="6355080" y="5486400"/>
            <a:ext cx="5303520" cy="685800"/>
          </a:xfrm>
          <a:prstGeom prst="rect">
            <a:avLst/>
          </a:prstGeom>
          <a:noFill/>
          <a:ln/>
        </p:spPr>
        <p:txBody>
          <a:bodyPr wrap="square" rtlCol="0" anchor="ctr"/>
          <a:lstStyle/>
          <a:p>
            <a:pPr marL="0" indent="0">
              <a:buNone/>
            </a:pPr>
            <a:r>
              <a:rPr lang="en-US" sz="1250" b="1" dirty="0">
                <a:solidFill>
                  <a:srgbClr val="FFFFFF"/>
                </a:solidFill>
                <a:latin typeface="Yu Gothic" pitchFamily="34" charset="0"/>
                <a:ea typeface="Yu Gothic" pitchFamily="34" charset="-122"/>
                <a:cs typeface="Yu Gothic" pitchFamily="34" charset="-120"/>
              </a:rPr>
              <a:t>中央建物・南面の年間日射量（kWh/m²）</a:t>
            </a:r>
            <a:endParaRPr lang="en-US" sz="1250" dirty="0"/>
          </a:p>
          <a:p>
            <a:pPr marL="0" indent="0">
              <a:buNone/>
            </a:pPr>
            <a:r>
              <a:rPr lang="en-US" sz="1250" b="1" dirty="0">
                <a:solidFill>
                  <a:srgbClr val="FFFFFF"/>
                </a:solidFill>
                <a:latin typeface="Yu Gothic" pitchFamily="34" charset="0"/>
                <a:ea typeface="Yu Gothic" pitchFamily="34" charset="-122"/>
                <a:cs typeface="Yu Gothic" pitchFamily="34" charset="-120"/>
              </a:rPr>
              <a:t>南面全体の平均、および高さ10mごとの5つの帯の値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出力データの作り方：SEBEの2,500個を5つの高さ帯にまとめる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05 / 41</a:t>
            </a:r>
            <a:endParaRPr lang="en-US" sz="1100" dirty="0"/>
          </a:p>
        </p:txBody>
      </p:sp>
      <p:sp>
        <p:nvSpPr>
          <p:cNvPr id="9" name="Shape 7"/>
          <p:cNvSpPr/>
          <p:nvPr/>
        </p:nvSpPr>
        <p:spPr>
          <a:xfrm>
            <a:off x="457200" y="1188720"/>
            <a:ext cx="310896" cy="310896"/>
          </a:xfrm>
          <a:prstGeom prst="ellipse">
            <a:avLst/>
          </a:prstGeom>
          <a:solidFill>
            <a:srgbClr val="1F6F78"/>
          </a:solidFill>
          <a:ln/>
        </p:spPr>
        <p:txBody>
          <a:bodyPr/>
          <a:p/>
        </p:txBody>
      </p:sp>
      <p:sp>
        <p:nvSpPr>
          <p:cNvPr id="10" name="Text 8"/>
          <p:cNvSpPr txBox="1"/>
          <p:nvPr/>
        </p:nvSpPr>
        <p:spPr>
          <a:xfrm>
            <a:off x="45720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1" name="Text 9"/>
          <p:cNvSpPr txBox="1"/>
          <p:nvPr/>
        </p:nvSpPr>
        <p:spPr>
          <a:xfrm>
            <a:off x="841248" y="1188720"/>
            <a:ext cx="18105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入力データ</a:t>
            </a:r>
            <a:endParaRPr lang="en-US" sz="1200" dirty="0"/>
          </a:p>
        </p:txBody>
      </p:sp>
      <p:sp>
        <p:nvSpPr>
          <p:cNvPr id="12" name="Shape 10"/>
          <p:cNvSpPr/>
          <p:nvPr/>
        </p:nvSpPr>
        <p:spPr>
          <a:xfrm>
            <a:off x="457200" y="164592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3" name="Text 11"/>
          <p:cNvSpPr txBox="1"/>
          <p:nvPr/>
        </p:nvSpPr>
        <p:spPr>
          <a:xfrm>
            <a:off x="548640" y="175564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A</a:t>
            </a:r>
            <a:endParaRPr lang="en-US" sz="3200" dirty="0"/>
          </a:p>
        </p:txBody>
      </p:sp>
      <p:sp>
        <p:nvSpPr>
          <p:cNvPr id="14" name="Text 12"/>
          <p:cNvSpPr txBox="1"/>
          <p:nvPr/>
        </p:nvSpPr>
        <p:spPr>
          <a:xfrm>
            <a:off x="1188720" y="182880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15" name="Text 13"/>
          <p:cNvSpPr txBox="1"/>
          <p:nvPr/>
        </p:nvSpPr>
        <p:spPr>
          <a:xfrm>
            <a:off x="1188720" y="212140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16" name="Shape 14"/>
          <p:cNvSpPr/>
          <p:nvPr/>
        </p:nvSpPr>
        <p:spPr>
          <a:xfrm>
            <a:off x="457200" y="292608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7" name="Text 15"/>
          <p:cNvSpPr txBox="1"/>
          <p:nvPr/>
        </p:nvSpPr>
        <p:spPr>
          <a:xfrm>
            <a:off x="548640" y="303580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D</a:t>
            </a:r>
            <a:endParaRPr lang="en-US" sz="3200" dirty="0"/>
          </a:p>
        </p:txBody>
      </p:sp>
      <p:sp>
        <p:nvSpPr>
          <p:cNvPr id="18" name="Text 16"/>
          <p:cNvSpPr txBox="1"/>
          <p:nvPr/>
        </p:nvSpPr>
        <p:spPr>
          <a:xfrm>
            <a:off x="1188720" y="310896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壁と壁の隙間</a:t>
            </a:r>
            <a:endParaRPr lang="en-US" sz="1050" dirty="0"/>
          </a:p>
        </p:txBody>
      </p:sp>
      <p:sp>
        <p:nvSpPr>
          <p:cNvPr id="19" name="Text 17"/>
          <p:cNvSpPr txBox="1"/>
          <p:nvPr/>
        </p:nvSpPr>
        <p:spPr>
          <a:xfrm>
            <a:off x="1188720" y="340156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20" name="Shape 18"/>
          <p:cNvSpPr/>
          <p:nvPr/>
        </p:nvSpPr>
        <p:spPr>
          <a:xfrm>
            <a:off x="2587752" y="2651760"/>
            <a:ext cx="384048" cy="365760"/>
          </a:xfrm>
          <a:prstGeom prst="rightArrow">
            <a:avLst/>
          </a:prstGeom>
          <a:solidFill>
            <a:srgbClr val="E8934D"/>
          </a:solidFill>
          <a:ln/>
        </p:spPr>
        <p:txBody>
          <a:bodyPr/>
          <a:p/>
        </p:txBody>
      </p:sp>
      <p:sp>
        <p:nvSpPr>
          <p:cNvPr id="21" name="Shape 19"/>
          <p:cNvSpPr/>
          <p:nvPr/>
        </p:nvSpPr>
        <p:spPr>
          <a:xfrm>
            <a:off x="3063240" y="1188720"/>
            <a:ext cx="310896" cy="310896"/>
          </a:xfrm>
          <a:prstGeom prst="ellipse">
            <a:avLst/>
          </a:prstGeom>
          <a:solidFill>
            <a:srgbClr val="1F6F78"/>
          </a:solidFill>
          <a:ln/>
        </p:spPr>
        <p:txBody>
          <a:bodyPr/>
          <a:p/>
        </p:txBody>
      </p:sp>
      <p:sp>
        <p:nvSpPr>
          <p:cNvPr id="22" name="Text 20"/>
          <p:cNvSpPr txBox="1"/>
          <p:nvPr/>
        </p:nvSpPr>
        <p:spPr>
          <a:xfrm>
            <a:off x="30632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23" name="Text 21"/>
          <p:cNvSpPr txBox="1"/>
          <p:nvPr/>
        </p:nvSpPr>
        <p:spPr>
          <a:xfrm>
            <a:off x="3447288" y="1188720"/>
            <a:ext cx="16276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SEBEで計算</a:t>
            </a:r>
            <a:endParaRPr lang="en-US" sz="1200" dirty="0"/>
          </a:p>
        </p:txBody>
      </p:sp>
      <p:sp>
        <p:nvSpPr>
          <p:cNvPr id="24" name="Shape 22"/>
          <p:cNvSpPr/>
          <p:nvPr/>
        </p:nvSpPr>
        <p:spPr>
          <a:xfrm>
            <a:off x="3063240" y="1645920"/>
            <a:ext cx="1920240" cy="2423160"/>
          </a:xfrm>
          <a:prstGeom prst="roundRect">
            <a:avLst>
              <a:gd name="adj" fmla="val 2857"/>
            </a:avLst>
          </a:prstGeom>
          <a:solidFill>
            <a:srgbClr val="1B2A44"/>
          </a:solidFill>
          <a:ln/>
        </p:spPr>
        <p:txBody>
          <a:bodyPr/>
          <a:p/>
        </p:txBody>
      </p:sp>
      <p:sp>
        <p:nvSpPr>
          <p:cNvPr id="25" name="Text 23"/>
          <p:cNvSpPr txBox="1"/>
          <p:nvPr/>
        </p:nvSpPr>
        <p:spPr>
          <a:xfrm>
            <a:off x="3063240" y="1783080"/>
            <a:ext cx="192024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Yu Gothic" pitchFamily="34" charset="0"/>
                <a:ea typeface="Yu Gothic" pitchFamily="34" charset="-122"/>
                <a:cs typeface="Yu Gothic" pitchFamily="34" charset="-120"/>
              </a:rPr>
              <a:t>SEBE</a:t>
            </a:r>
            <a:endParaRPr lang="en-US" sz="2000" dirty="0"/>
          </a:p>
        </p:txBody>
      </p:sp>
      <p:sp>
        <p:nvSpPr>
          <p:cNvPr id="26" name="Text 24"/>
          <p:cNvSpPr txBox="1"/>
          <p:nvPr/>
        </p:nvSpPr>
        <p:spPr>
          <a:xfrm>
            <a:off x="3154680" y="2286000"/>
            <a:ext cx="1737360" cy="1188720"/>
          </a:xfrm>
          <a:prstGeom prst="rect">
            <a:avLst/>
          </a:prstGeom>
          <a:noFill/>
          <a:ln/>
        </p:spPr>
        <p:txBody>
          <a:bodyPr wrap="square" rtlCol="0" anchor="t"/>
          <a:lstStyle/>
          <a:p>
            <a:pPr marL="0" indent="0" algn="ctr">
              <a:buNone/>
            </a:pPr>
            <a:r>
              <a:rPr lang="en-US" sz="1000" dirty="0">
                <a:solidFill>
                  <a:srgbClr val="CFE0EE"/>
                </a:solidFill>
                <a:latin typeface="Yu Gothic" pitchFamily="34" charset="0"/>
                <a:ea typeface="Yu Gothic" pitchFamily="34" charset="-122"/>
                <a:cs typeface="Yu Gothic" pitchFamily="34" charset="-120"/>
              </a:rPr>
              <a:t>建物の形（1mのマス目）と1年分の気象から、壁の1m区画ごとに年間日射量を計算</a:t>
            </a:r>
            <a:endParaRPr lang="en-US" sz="1000" dirty="0"/>
          </a:p>
        </p:txBody>
      </p:sp>
      <p:sp>
        <p:nvSpPr>
          <p:cNvPr id="27" name="Text 25"/>
          <p:cNvSpPr txBox="1"/>
          <p:nvPr/>
        </p:nvSpPr>
        <p:spPr>
          <a:xfrm>
            <a:off x="3154680" y="3566160"/>
            <a:ext cx="1737360" cy="320040"/>
          </a:xfrm>
          <a:prstGeom prst="rect">
            <a:avLst/>
          </a:prstGeom>
          <a:noFill/>
          <a:ln/>
        </p:spPr>
        <p:txBody>
          <a:bodyPr wrap="square" rtlCol="0" anchor="t"/>
          <a:lstStyle/>
          <a:p>
            <a:pPr marL="0" indent="0" algn="ctr">
              <a:buNone/>
            </a:pPr>
            <a:r>
              <a:rPr lang="en-US" sz="1050" b="1" dirty="0">
                <a:solidFill>
                  <a:srgbClr val="E8934D"/>
                </a:solidFill>
                <a:latin typeface="Yu Gothic" pitchFamily="34" charset="0"/>
                <a:ea typeface="Yu Gothic" pitchFamily="34" charset="-122"/>
                <a:cs typeface="Yu Gothic" pitchFamily="34" charset="-120"/>
              </a:rPr>
              <a:t>1配置につき1回</a:t>
            </a:r>
            <a:endParaRPr lang="en-US" sz="1050" dirty="0"/>
          </a:p>
        </p:txBody>
      </p:sp>
      <p:sp>
        <p:nvSpPr>
          <p:cNvPr id="28" name="Shape 26"/>
          <p:cNvSpPr/>
          <p:nvPr/>
        </p:nvSpPr>
        <p:spPr>
          <a:xfrm>
            <a:off x="5074920" y="2651760"/>
            <a:ext cx="384048" cy="365760"/>
          </a:xfrm>
          <a:prstGeom prst="rightArrow">
            <a:avLst/>
          </a:prstGeom>
          <a:solidFill>
            <a:srgbClr val="E8934D"/>
          </a:solidFill>
          <a:ln/>
        </p:spPr>
        <p:txBody>
          <a:bodyPr/>
          <a:p/>
        </p:txBody>
      </p:sp>
      <p:sp>
        <p:nvSpPr>
          <p:cNvPr id="29" name="Shape 27"/>
          <p:cNvSpPr/>
          <p:nvPr/>
        </p:nvSpPr>
        <p:spPr>
          <a:xfrm>
            <a:off x="5577840" y="1188720"/>
            <a:ext cx="310896" cy="310896"/>
          </a:xfrm>
          <a:prstGeom prst="ellipse">
            <a:avLst/>
          </a:prstGeom>
          <a:solidFill>
            <a:srgbClr val="1F6F78"/>
          </a:solidFill>
          <a:ln/>
        </p:spPr>
        <p:txBody>
          <a:bodyPr/>
          <a:p/>
        </p:txBody>
      </p:sp>
      <p:sp>
        <p:nvSpPr>
          <p:cNvPr id="30" name="Text 28"/>
          <p:cNvSpPr txBox="1"/>
          <p:nvPr/>
        </p:nvSpPr>
        <p:spPr>
          <a:xfrm>
            <a:off x="55778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31" name="Text 29"/>
          <p:cNvSpPr txBox="1"/>
          <p:nvPr/>
        </p:nvSpPr>
        <p:spPr>
          <a:xfrm>
            <a:off x="5961888" y="1188720"/>
            <a:ext cx="25420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SEBEの出力（南面）</a:t>
            </a:r>
            <a:endParaRPr lang="en-US" sz="1200" dirty="0"/>
          </a:p>
        </p:txBody>
      </p:sp>
      <p:pic>
        <p:nvPicPr>
          <p:cNvPr id="32" name="Image 0" descr="/home/claude/interp/wall.png"/>
          <p:cNvPicPr>
            <a:picLocks noChangeAspect="1"/>
          </p:cNvPicPr>
          <p:nvPr/>
        </p:nvPicPr>
        <p:blipFill>
          <a:blip r:embed="rId3"/>
          <a:stretch>
            <a:fillRect/>
          </a:stretch>
        </p:blipFill>
        <p:spPr>
          <a:xfrm>
            <a:off x="5989320" y="1645920"/>
            <a:ext cx="2423160" cy="2423160"/>
          </a:xfrm>
          <a:prstGeom prst="rect">
            <a:avLst/>
          </a:prstGeom>
        </p:spPr>
      </p:pic>
      <p:sp>
        <p:nvSpPr>
          <p:cNvPr id="33" name="Text 30"/>
          <p:cNvSpPr txBox="1"/>
          <p:nvPr/>
        </p:nvSpPr>
        <p:spPr>
          <a:xfrm>
            <a:off x="5486400" y="2628900"/>
            <a:ext cx="502920" cy="4572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p>
          <a:p>
            <a:pPr marL="0" indent="0" algn="ctr">
              <a:buNone/>
            </a:pPr>
            <a:r>
              <a:rPr lang="en-US" sz="950" b="1" dirty="0">
                <a:solidFill>
                  <a:srgbClr val="1B2A44"/>
                </a:solidFill>
                <a:latin typeface="Yu Gothic" pitchFamily="34" charset="0"/>
                <a:ea typeface="Yu Gothic" pitchFamily="34" charset="-122"/>
                <a:cs typeface="Yu Gothic" pitchFamily="34" charset="-120"/>
              </a:rPr>
              <a:t>50m</a:t>
            </a:r>
            <a:endParaRPr lang="en-US" sz="950" dirty="0"/>
          </a:p>
        </p:txBody>
      </p:sp>
      <p:sp>
        <p:nvSpPr>
          <p:cNvPr id="34" name="Text 31"/>
          <p:cNvSpPr txBox="1"/>
          <p:nvPr/>
        </p:nvSpPr>
        <p:spPr>
          <a:xfrm>
            <a:off x="5989320" y="4096512"/>
            <a:ext cx="2423160" cy="2286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幅 50m</a:t>
            </a:r>
            <a:endParaRPr lang="en-US" sz="950" dirty="0"/>
          </a:p>
        </p:txBody>
      </p:sp>
      <p:sp>
        <p:nvSpPr>
          <p:cNvPr id="35" name="Text 32"/>
          <p:cNvSpPr txBox="1"/>
          <p:nvPr/>
        </p:nvSpPr>
        <p:spPr>
          <a:xfrm>
            <a:off x="5486400" y="4370832"/>
            <a:ext cx="3108960"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50 × 50 ＝ 2,500個</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1マス＝壁の1m四方の年間日射量（色は説明用）</a:t>
            </a:r>
            <a:endParaRPr lang="en-US" sz="1100" dirty="0"/>
          </a:p>
        </p:txBody>
      </p:sp>
      <p:sp>
        <p:nvSpPr>
          <p:cNvPr id="36" name="Shape 33"/>
          <p:cNvSpPr/>
          <p:nvPr/>
        </p:nvSpPr>
        <p:spPr>
          <a:xfrm>
            <a:off x="8595360" y="2651760"/>
            <a:ext cx="384048" cy="365760"/>
          </a:xfrm>
          <a:prstGeom prst="rightArrow">
            <a:avLst/>
          </a:prstGeom>
          <a:solidFill>
            <a:srgbClr val="E8934D"/>
          </a:solidFill>
          <a:ln/>
        </p:spPr>
        <p:txBody>
          <a:bodyPr/>
          <a:p/>
        </p:txBody>
      </p:sp>
      <p:sp>
        <p:nvSpPr>
          <p:cNvPr id="37" name="Shape 34"/>
          <p:cNvSpPr/>
          <p:nvPr/>
        </p:nvSpPr>
        <p:spPr>
          <a:xfrm>
            <a:off x="9098280" y="1188720"/>
            <a:ext cx="310896" cy="310896"/>
          </a:xfrm>
          <a:prstGeom prst="ellipse">
            <a:avLst/>
          </a:prstGeom>
          <a:solidFill>
            <a:srgbClr val="1F6F78"/>
          </a:solidFill>
          <a:ln/>
        </p:spPr>
        <p:txBody>
          <a:bodyPr/>
          <a:p/>
        </p:txBody>
      </p:sp>
      <p:sp>
        <p:nvSpPr>
          <p:cNvPr id="38" name="Text 35"/>
          <p:cNvSpPr txBox="1"/>
          <p:nvPr/>
        </p:nvSpPr>
        <p:spPr>
          <a:xfrm>
            <a:off x="90982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39" name="Text 36"/>
          <p:cNvSpPr txBox="1"/>
          <p:nvPr/>
        </p:nvSpPr>
        <p:spPr>
          <a:xfrm>
            <a:off x="9482328" y="1188720"/>
            <a:ext cx="22677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5つの高さ帯に平均</a:t>
            </a:r>
            <a:endParaRPr lang="en-US" sz="1200" dirty="0"/>
          </a:p>
        </p:txBody>
      </p:sp>
      <p:sp>
        <p:nvSpPr>
          <p:cNvPr id="40" name="Shape 37"/>
          <p:cNvSpPr/>
          <p:nvPr/>
        </p:nvSpPr>
        <p:spPr>
          <a:xfrm>
            <a:off x="9098280" y="1673352"/>
            <a:ext cx="2633472" cy="429768"/>
          </a:xfrm>
          <a:prstGeom prst="rect">
            <a:avLst/>
          </a:prstGeom>
          <a:solidFill>
            <a:srgbClr val="E8934D"/>
          </a:solidFill>
          <a:ln/>
        </p:spPr>
        <p:txBody>
          <a:bodyPr/>
          <a:p/>
        </p:txBody>
      </p:sp>
      <p:sp>
        <p:nvSpPr>
          <p:cNvPr id="41" name="Text 38"/>
          <p:cNvSpPr txBox="1"/>
          <p:nvPr/>
        </p:nvSpPr>
        <p:spPr>
          <a:xfrm>
            <a:off x="9189720" y="1673352"/>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地上40〜50m：500個の平均</a:t>
            </a:r>
            <a:endParaRPr lang="en-US" sz="1050" dirty="0"/>
          </a:p>
        </p:txBody>
      </p:sp>
      <p:sp>
        <p:nvSpPr>
          <p:cNvPr id="42" name="Shape 39"/>
          <p:cNvSpPr/>
          <p:nvPr/>
        </p:nvSpPr>
        <p:spPr>
          <a:xfrm>
            <a:off x="9098280" y="2157984"/>
            <a:ext cx="2633472" cy="429768"/>
          </a:xfrm>
          <a:prstGeom prst="rect">
            <a:avLst/>
          </a:prstGeom>
          <a:solidFill>
            <a:srgbClr val="E8D26E"/>
          </a:solidFill>
          <a:ln/>
        </p:spPr>
        <p:txBody>
          <a:bodyPr/>
          <a:p/>
        </p:txBody>
      </p:sp>
      <p:sp>
        <p:nvSpPr>
          <p:cNvPr id="43" name="Text 40"/>
          <p:cNvSpPr txBox="1"/>
          <p:nvPr/>
        </p:nvSpPr>
        <p:spPr>
          <a:xfrm>
            <a:off x="9189720" y="2157984"/>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地上30〜40m：500個の平均</a:t>
            </a:r>
            <a:endParaRPr lang="en-US" sz="1050" dirty="0"/>
          </a:p>
        </p:txBody>
      </p:sp>
      <p:sp>
        <p:nvSpPr>
          <p:cNvPr id="44" name="Shape 41"/>
          <p:cNvSpPr/>
          <p:nvPr/>
        </p:nvSpPr>
        <p:spPr>
          <a:xfrm>
            <a:off x="9098280" y="2642616"/>
            <a:ext cx="2633472" cy="429768"/>
          </a:xfrm>
          <a:prstGeom prst="rect">
            <a:avLst/>
          </a:prstGeom>
          <a:solidFill>
            <a:srgbClr val="7FC8A0"/>
          </a:solidFill>
          <a:ln/>
        </p:spPr>
        <p:txBody>
          <a:bodyPr/>
          <a:p/>
        </p:txBody>
      </p:sp>
      <p:sp>
        <p:nvSpPr>
          <p:cNvPr id="45" name="Text 42"/>
          <p:cNvSpPr txBox="1"/>
          <p:nvPr/>
        </p:nvSpPr>
        <p:spPr>
          <a:xfrm>
            <a:off x="9189720" y="2642616"/>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地上20〜30m：500個の平均</a:t>
            </a:r>
            <a:endParaRPr lang="en-US" sz="1050" dirty="0"/>
          </a:p>
        </p:txBody>
      </p:sp>
      <p:sp>
        <p:nvSpPr>
          <p:cNvPr id="46" name="Shape 43"/>
          <p:cNvSpPr/>
          <p:nvPr/>
        </p:nvSpPr>
        <p:spPr>
          <a:xfrm>
            <a:off x="9098280" y="3127248"/>
            <a:ext cx="2633472" cy="429768"/>
          </a:xfrm>
          <a:prstGeom prst="rect">
            <a:avLst/>
          </a:prstGeom>
          <a:solidFill>
            <a:srgbClr val="1F6F78"/>
          </a:solidFill>
          <a:ln/>
        </p:spPr>
        <p:txBody>
          <a:bodyPr/>
          <a:p/>
        </p:txBody>
      </p:sp>
      <p:sp>
        <p:nvSpPr>
          <p:cNvPr id="47" name="Text 44"/>
          <p:cNvSpPr txBox="1"/>
          <p:nvPr/>
        </p:nvSpPr>
        <p:spPr>
          <a:xfrm>
            <a:off x="9189720" y="3127248"/>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地上10〜20m：500個の平均</a:t>
            </a:r>
            <a:endParaRPr lang="en-US" sz="1050" dirty="0"/>
          </a:p>
        </p:txBody>
      </p:sp>
      <p:sp>
        <p:nvSpPr>
          <p:cNvPr id="48" name="Shape 45"/>
          <p:cNvSpPr/>
          <p:nvPr/>
        </p:nvSpPr>
        <p:spPr>
          <a:xfrm>
            <a:off x="9098280" y="3611880"/>
            <a:ext cx="2633472" cy="429768"/>
          </a:xfrm>
          <a:prstGeom prst="rect">
            <a:avLst/>
          </a:prstGeom>
          <a:solidFill>
            <a:srgbClr val="1B2A44"/>
          </a:solidFill>
          <a:ln/>
        </p:spPr>
        <p:txBody>
          <a:bodyPr/>
          <a:p/>
        </p:txBody>
      </p:sp>
      <p:sp>
        <p:nvSpPr>
          <p:cNvPr id="49" name="Text 46"/>
          <p:cNvSpPr txBox="1"/>
          <p:nvPr/>
        </p:nvSpPr>
        <p:spPr>
          <a:xfrm>
            <a:off x="9189720" y="3611880"/>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 0〜10m：500個の平均</a:t>
            </a:r>
            <a:endParaRPr lang="en-US" sz="1050" dirty="0"/>
          </a:p>
        </p:txBody>
      </p:sp>
      <p:sp>
        <p:nvSpPr>
          <p:cNvPr id="50" name="Text 47"/>
          <p:cNvSpPr txBox="1"/>
          <p:nvPr/>
        </p:nvSpPr>
        <p:spPr>
          <a:xfrm>
            <a:off x="9098280" y="4370832"/>
            <a:ext cx="2633472"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5個 ＋ 南面全体の平均</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各帯＝10段×幅50マス</a:t>
            </a:r>
            <a:endParaRPr lang="en-US" sz="1100" dirty="0"/>
          </a:p>
        </p:txBody>
      </p:sp>
      <p:sp>
        <p:nvSpPr>
          <p:cNvPr id="51" name="Shape 48"/>
          <p:cNvSpPr/>
          <p:nvPr/>
        </p:nvSpPr>
        <p:spPr>
          <a:xfrm>
            <a:off x="457200" y="5074920"/>
            <a:ext cx="5532120" cy="1234440"/>
          </a:xfrm>
          <a:prstGeom prst="roundRect">
            <a:avLst>
              <a:gd name="adj" fmla="val 4444"/>
            </a:avLst>
          </a:prstGeom>
          <a:solidFill>
            <a:srgbClr val="F3F5F8"/>
          </a:solidFill>
          <a:ln w="12700">
            <a:solidFill>
              <a:srgbClr val="DBE0E6"/>
            </a:solidFill>
            <a:prstDash val="solid"/>
          </a:ln>
        </p:spPr>
        <p:txBody>
          <a:bodyPr/>
          <a:p/>
        </p:txBody>
      </p:sp>
      <p:sp>
        <p:nvSpPr>
          <p:cNvPr id="52" name="Text 49"/>
          <p:cNvSpPr txBox="1"/>
          <p:nvPr/>
        </p:nvSpPr>
        <p:spPr>
          <a:xfrm>
            <a:off x="640080" y="5148072"/>
            <a:ext cx="516636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ポイント</a:t>
            </a:r>
            <a:endParaRPr lang="en-US" sz="1200" dirty="0"/>
          </a:p>
        </p:txBody>
      </p:sp>
      <p:sp>
        <p:nvSpPr>
          <p:cNvPr id="53" name="Text 50"/>
          <p:cNvSpPr txBox="1"/>
          <p:nvPr/>
        </p:nvSpPr>
        <p:spPr>
          <a:xfrm>
            <a:off x="640080"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SEBEは1配置ごとに2,500個を出すが、予測するのは5つの高さ帯の値と全体平均。</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高さによる違いを少ない数で表せる（幅方向の違いは区別しない）。</a:t>
            </a:r>
            <a:endParaRPr lang="en-US" sz="1050" dirty="0"/>
          </a:p>
        </p:txBody>
      </p:sp>
      <p:sp>
        <p:nvSpPr>
          <p:cNvPr id="54" name="Shape 51"/>
          <p:cNvSpPr/>
          <p:nvPr/>
        </p:nvSpPr>
        <p:spPr>
          <a:xfrm>
            <a:off x="6199632" y="5074920"/>
            <a:ext cx="5532120" cy="1234440"/>
          </a:xfrm>
          <a:prstGeom prst="roundRect">
            <a:avLst>
              <a:gd name="adj" fmla="val 4444"/>
            </a:avLst>
          </a:prstGeom>
          <a:solidFill>
            <a:srgbClr val="FBEBDA"/>
          </a:solidFill>
          <a:ln w="12700">
            <a:solidFill>
              <a:srgbClr val="E8934D"/>
            </a:solidFill>
            <a:prstDash val="solid"/>
          </a:ln>
        </p:spPr>
        <p:txBody>
          <a:bodyPr/>
          <a:p/>
        </p:txBody>
      </p:sp>
      <p:sp>
        <p:nvSpPr>
          <p:cNvPr id="55" name="Text 52"/>
          <p:cNvSpPr txBox="1"/>
          <p:nvPr/>
        </p:nvSpPr>
        <p:spPr>
          <a:xfrm>
            <a:off x="6382512" y="5148072"/>
            <a:ext cx="51663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事前に用意するデータ</a:t>
            </a:r>
            <a:endParaRPr lang="en-US" sz="1200" dirty="0"/>
          </a:p>
        </p:txBody>
      </p:sp>
      <p:sp>
        <p:nvSpPr>
          <p:cNvPr id="56" name="Text 53"/>
          <p:cNvSpPr txBox="1"/>
          <p:nvPr/>
        </p:nvSpPr>
        <p:spPr>
          <a:xfrm>
            <a:off x="6382512"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16配置（A 25・50・75・100m × D 10・25・50・100m）でSEBEを実行し、16 × 2,500個 → 16 × 5個 に平均して保存する（次ページ）。</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学習データ：A と D の全組み合わせ16パターン</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06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南側建物の高さ A（4水準）× 建物間の隙間 D（4水準）をすべて組み合わせ、SEBEで計算してお手本とした。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583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 ＼ D</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extLst>
                  <a:ext uri="{0D108BD9-81ED-4DB2-BD59-A6C34878D82A}">
                    <a16:rowId xmlns:a16="http://schemas.microsoft.com/office/drawing/2014/main" val="10002"/>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75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4754880"/>
            <a:ext cx="6583680" cy="274320"/>
          </a:xfrm>
          <a:prstGeom prst="rect">
            <a:avLst/>
          </a:prstGeom>
          <a:noFill/>
          <a:ln/>
        </p:spPr>
        <p:txBody>
          <a:bodyPr wrap="square" rtlCol="0" anchor="t"/>
          <a:lstStyle/>
          <a:p>
            <a:pPr marL="0" indent="0">
              <a:buNone/>
            </a:pPr>
            <a:r>
              <a:rPr lang="en-US" sz="1050" dirty="0">
                <a:solidFill>
                  <a:srgbClr val="1F6F78"/>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既存7通り（高さだけ・距離だけを変えた実験）　　</a:t>
            </a:r>
            <a:r>
              <a:rPr lang="en-US" sz="1050" dirty="0">
                <a:solidFill>
                  <a:srgbClr val="E8934D"/>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追加9通り（組み合わせを補って16通りに）</a:t>
            </a:r>
            <a:endParaRPr lang="en-US" sz="1050" dirty="0"/>
          </a:p>
        </p:txBody>
      </p:sp>
      <p:sp>
        <p:nvSpPr>
          <p:cNvPr id="12" name="Shape 9"/>
          <p:cNvSpPr/>
          <p:nvPr/>
        </p:nvSpPr>
        <p:spPr>
          <a:xfrm>
            <a:off x="7315200" y="1600200"/>
            <a:ext cx="4416552" cy="1463040"/>
          </a:xfrm>
          <a:prstGeom prst="roundRect">
            <a:avLst>
              <a:gd name="adj" fmla="val 3750"/>
            </a:avLst>
          </a:prstGeom>
          <a:solidFill>
            <a:srgbClr val="1B2A44"/>
          </a:solidFill>
          <a:ln/>
        </p:spPr>
        <p:txBody>
          <a:bodyPr/>
          <a:p/>
        </p:txBody>
      </p:sp>
      <p:sp>
        <p:nvSpPr>
          <p:cNvPr id="13" name="Text 10"/>
          <p:cNvSpPr txBox="1"/>
          <p:nvPr/>
        </p:nvSpPr>
        <p:spPr>
          <a:xfrm>
            <a:off x="7498080" y="1737360"/>
            <a:ext cx="4023360" cy="365760"/>
          </a:xfrm>
          <a:prstGeom prst="rect">
            <a:avLst/>
          </a:prstGeom>
          <a:noFill/>
          <a:ln/>
        </p:spPr>
        <p:txBody>
          <a:bodyPr wrap="square" rtlCol="0" anchor="t"/>
          <a:lstStyle/>
          <a:p>
            <a:pPr marL="0" indent="0" algn="ctr">
              <a:buNone/>
            </a:pPr>
            <a:r>
              <a:rPr lang="en-US" sz="1400" b="1" dirty="0">
                <a:solidFill>
                  <a:srgbClr val="CFE0EE"/>
                </a:solidFill>
                <a:latin typeface="Yu Gothic" pitchFamily="34" charset="0"/>
                <a:ea typeface="Yu Gothic" pitchFamily="34" charset="-122"/>
                <a:cs typeface="Yu Gothic" pitchFamily="34" charset="-120"/>
              </a:rPr>
              <a:t>4（高さ）× 4（距離）</a:t>
            </a:r>
            <a:endParaRPr lang="en-US" sz="1400" dirty="0"/>
          </a:p>
        </p:txBody>
      </p:sp>
      <p:sp>
        <p:nvSpPr>
          <p:cNvPr id="14" name="Text 11"/>
          <p:cNvSpPr txBox="1"/>
          <p:nvPr/>
        </p:nvSpPr>
        <p:spPr>
          <a:xfrm>
            <a:off x="7498080" y="2148840"/>
            <a:ext cx="4023360" cy="685800"/>
          </a:xfrm>
          <a:prstGeom prst="rect">
            <a:avLst/>
          </a:prstGeom>
          <a:noFill/>
          <a:ln/>
        </p:spPr>
        <p:txBody>
          <a:bodyPr wrap="square" rtlCol="0" anchor="ctr"/>
          <a:lstStyle/>
          <a:p>
            <a:pPr marL="0" indent="0" algn="ctr">
              <a:buNone/>
            </a:pPr>
            <a:r>
              <a:rPr lang="en-US" sz="3400" b="1" dirty="0">
                <a:solidFill>
                  <a:srgbClr val="E8934D"/>
                </a:solidFill>
                <a:latin typeface="Yu Gothic" pitchFamily="34" charset="0"/>
                <a:ea typeface="Yu Gothic" pitchFamily="34" charset="-122"/>
                <a:cs typeface="Yu Gothic" pitchFamily="34" charset="-120"/>
              </a:rPr>
              <a:t>＝ 16 通り</a:t>
            </a:r>
            <a:endParaRPr lang="en-US" sz="3400" dirty="0"/>
          </a:p>
        </p:txBody>
      </p:sp>
      <p:sp>
        <p:nvSpPr>
          <p:cNvPr id="15" name="Shape 12"/>
          <p:cNvSpPr/>
          <p:nvPr/>
        </p:nvSpPr>
        <p:spPr>
          <a:xfrm>
            <a:off x="7315200" y="3246120"/>
            <a:ext cx="4416552" cy="1737360"/>
          </a:xfrm>
          <a:prstGeom prst="roundRect">
            <a:avLst>
              <a:gd name="adj" fmla="val 3158"/>
            </a:avLst>
          </a:prstGeom>
          <a:solidFill>
            <a:srgbClr val="F3F5F8"/>
          </a:solidFill>
          <a:ln w="12700">
            <a:solidFill>
              <a:srgbClr val="DBE0E6"/>
            </a:solidFill>
            <a:prstDash val="solid"/>
          </a:ln>
        </p:spPr>
        <p:txBody>
          <a:bodyPr/>
          <a:p/>
        </p:txBody>
      </p:sp>
      <p:sp>
        <p:nvSpPr>
          <p:cNvPr id="16" name="Text 13"/>
          <p:cNvSpPr txBox="1"/>
          <p:nvPr/>
        </p:nvSpPr>
        <p:spPr>
          <a:xfrm>
            <a:off x="7498080" y="3319272"/>
            <a:ext cx="405079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保存する値（1配置あたり）</a:t>
            </a:r>
            <a:endParaRPr lang="en-US" sz="1200" dirty="0"/>
          </a:p>
        </p:txBody>
      </p:sp>
      <p:sp>
        <p:nvSpPr>
          <p:cNvPr id="17" name="Text 14"/>
          <p:cNvSpPr txBox="1"/>
          <p:nvPr/>
        </p:nvSpPr>
        <p:spPr>
          <a:xfrm>
            <a:off x="7498080" y="3611880"/>
            <a:ext cx="4050792" cy="131673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・南面全体の平均年間日射量</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・高さ10mごと5つの帯の平均（5個）</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中央建物・方角・気象は固定し、A と D だけを変えた。</a:t>
            </a:r>
            <a:endParaRPr lang="en-US" sz="1050" dirty="0"/>
          </a:p>
        </p:txBody>
      </p:sp>
      <p:sp>
        <p:nvSpPr>
          <p:cNvPr id="18" name="Shape 15"/>
          <p:cNvSpPr/>
          <p:nvPr/>
        </p:nvSpPr>
        <p:spPr>
          <a:xfrm>
            <a:off x="457200" y="5257800"/>
            <a:ext cx="11274552" cy="868680"/>
          </a:xfrm>
          <a:prstGeom prst="roundRect">
            <a:avLst>
              <a:gd name="adj" fmla="val 6316"/>
            </a:avLst>
          </a:prstGeom>
          <a:solidFill>
            <a:srgbClr val="DCEAEC"/>
          </a:solidFill>
          <a:ln w="12700">
            <a:solidFill>
              <a:srgbClr val="1F6F78"/>
            </a:solidFill>
            <a:prstDash val="solid"/>
          </a:ln>
        </p:spPr>
        <p:txBody>
          <a:bodyPr/>
          <a:p/>
        </p:txBody>
      </p:sp>
      <p:sp>
        <p:nvSpPr>
          <p:cNvPr id="19" name="Text 16"/>
          <p:cNvSpPr txBox="1"/>
          <p:nvPr/>
        </p:nvSpPr>
        <p:spPr>
          <a:xfrm>
            <a:off x="640080" y="5330952"/>
            <a:ext cx="1090879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このあとの使い方</a:t>
            </a:r>
            <a:endParaRPr lang="en-US" sz="1200" dirty="0"/>
          </a:p>
        </p:txBody>
      </p:sp>
      <p:sp>
        <p:nvSpPr>
          <p:cNvPr id="20" name="Text 17"/>
          <p:cNvSpPr txBox="1"/>
          <p:nvPr/>
        </p:nvSpPr>
        <p:spPr>
          <a:xfrm>
            <a:off x="640080" y="5623560"/>
            <a:ext cx="10908792" cy="4480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この16配置の値を使って「線形補間」「ランダムフォレスト」などの予測方法をつくり、学習に使っていない別の条件（検証8パターン）で精度を比べる。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比較した3つの手法と、比率 A/D を試した理由</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07 / 41</a:t>
            </a:r>
            <a:endParaRPr lang="en-US" sz="1100" dirty="0"/>
          </a:p>
        </p:txBody>
      </p:sp>
      <p:sp>
        <p:nvSpPr>
          <p:cNvPr id="9" name="Shape 7"/>
          <p:cNvSpPr/>
          <p:nvPr/>
        </p:nvSpPr>
        <p:spPr>
          <a:xfrm>
            <a:off x="457200"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0" name="Shape 8"/>
          <p:cNvSpPr/>
          <p:nvPr/>
        </p:nvSpPr>
        <p:spPr>
          <a:xfrm>
            <a:off x="457200" y="1188720"/>
            <a:ext cx="3630168" cy="73152"/>
          </a:xfrm>
          <a:prstGeom prst="rect">
            <a:avLst/>
          </a:prstGeom>
          <a:solidFill>
            <a:srgbClr val="4C8C6B"/>
          </a:solidFill>
          <a:ln/>
        </p:spPr>
        <p:txBody>
          <a:bodyPr/>
          <a:p/>
        </p:txBody>
      </p:sp>
      <p:sp>
        <p:nvSpPr>
          <p:cNvPr id="11" name="Text 9"/>
          <p:cNvSpPr txBox="1"/>
          <p:nvPr/>
        </p:nvSpPr>
        <p:spPr>
          <a:xfrm>
            <a:off x="640080" y="1353312"/>
            <a:ext cx="3264408" cy="347472"/>
          </a:xfrm>
          <a:prstGeom prst="rect">
            <a:avLst/>
          </a:prstGeom>
          <a:noFill/>
          <a:ln/>
        </p:spPr>
        <p:txBody>
          <a:bodyPr wrap="square" rtlCol="0" anchor="t"/>
          <a:lstStyle/>
          <a:p>
            <a:pPr marL="0" indent="0">
              <a:buNone/>
            </a:pPr>
            <a:r>
              <a:rPr lang="en-US" sz="1500" b="1" dirty="0">
                <a:solidFill>
                  <a:srgbClr val="4C8C6B"/>
                </a:solidFill>
                <a:latin typeface="Yu Gothic" pitchFamily="34" charset="0"/>
                <a:ea typeface="Yu Gothic" pitchFamily="34" charset="-122"/>
                <a:cs typeface="Yu Gothic" pitchFamily="34" charset="-120"/>
              </a:rPr>
              <a:t>線形補間</a:t>
            </a:r>
            <a:endParaRPr lang="en-US" sz="1500" dirty="0"/>
          </a:p>
        </p:txBody>
      </p:sp>
      <p:sp>
        <p:nvSpPr>
          <p:cNvPr id="12" name="Text 10"/>
          <p:cNvSpPr txBox="1"/>
          <p:nvPr/>
        </p:nvSpPr>
        <p:spPr>
          <a:xfrm>
            <a:off x="640080"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Linear Interpolation</a:t>
            </a:r>
            <a:endParaRPr lang="en-US" sz="950" dirty="0"/>
          </a:p>
        </p:txBody>
      </p:sp>
      <p:sp>
        <p:nvSpPr>
          <p:cNvPr id="13" name="Text 11"/>
          <p:cNvSpPr txBox="1"/>
          <p:nvPr/>
        </p:nvSpPr>
        <p:spPr>
          <a:xfrm>
            <a:off x="640080"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計算済みの近い条件の値から、その間の条件の値を直線的に見積もる。追加の学習は不要で、値がなめらかに変わる範囲に向く。</a:t>
            </a:r>
            <a:endParaRPr lang="en-US" sz="1050" dirty="0"/>
          </a:p>
        </p:txBody>
      </p:sp>
      <p:sp>
        <p:nvSpPr>
          <p:cNvPr id="14" name="Shape 12"/>
          <p:cNvSpPr/>
          <p:nvPr/>
        </p:nvSpPr>
        <p:spPr>
          <a:xfrm>
            <a:off x="640080" y="3246120"/>
            <a:ext cx="1737360" cy="301752"/>
          </a:xfrm>
          <a:prstGeom prst="roundRect">
            <a:avLst>
              <a:gd name="adj" fmla="val 18182"/>
            </a:avLst>
          </a:prstGeom>
          <a:solidFill>
            <a:srgbClr val="EAEEF2"/>
          </a:solidFill>
          <a:ln/>
        </p:spPr>
        <p:txBody>
          <a:bodyPr/>
          <a:p/>
        </p:txBody>
      </p:sp>
      <p:sp>
        <p:nvSpPr>
          <p:cNvPr id="15" name="Text 13"/>
          <p:cNvSpPr txBox="1"/>
          <p:nvPr/>
        </p:nvSpPr>
        <p:spPr>
          <a:xfrm>
            <a:off x="640080"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16" name="Shape 14"/>
          <p:cNvSpPr/>
          <p:nvPr/>
        </p:nvSpPr>
        <p:spPr>
          <a:xfrm>
            <a:off x="4288536"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7" name="Shape 15"/>
          <p:cNvSpPr/>
          <p:nvPr/>
        </p:nvSpPr>
        <p:spPr>
          <a:xfrm>
            <a:off x="4288536" y="1188720"/>
            <a:ext cx="3630168" cy="73152"/>
          </a:xfrm>
          <a:prstGeom prst="rect">
            <a:avLst/>
          </a:prstGeom>
          <a:solidFill>
            <a:srgbClr val="1B2A44"/>
          </a:solidFill>
          <a:ln/>
        </p:spPr>
        <p:txBody>
          <a:bodyPr/>
          <a:p/>
        </p:txBody>
      </p:sp>
      <p:sp>
        <p:nvSpPr>
          <p:cNvPr id="18" name="Text 16"/>
          <p:cNvSpPr txBox="1"/>
          <p:nvPr/>
        </p:nvSpPr>
        <p:spPr>
          <a:xfrm>
            <a:off x="4471416" y="1353312"/>
            <a:ext cx="3264408" cy="347472"/>
          </a:xfrm>
          <a:prstGeom prst="rect">
            <a:avLst/>
          </a:prstGeom>
          <a:noFill/>
          <a:ln/>
        </p:spPr>
        <p:txBody>
          <a:bodyPr wrap="square" rtlCol="0" anchor="t"/>
          <a:lstStyle/>
          <a:p>
            <a:pPr marL="0" indent="0">
              <a:buNone/>
            </a:pPr>
            <a:r>
              <a:rPr lang="en-US" sz="1500" b="1" dirty="0">
                <a:solidFill>
                  <a:srgbClr val="1B2A44"/>
                </a:solidFill>
                <a:latin typeface="Yu Gothic" pitchFamily="34" charset="0"/>
                <a:ea typeface="Yu Gothic" pitchFamily="34" charset="-122"/>
                <a:cs typeface="Yu Gothic" pitchFamily="34" charset="-120"/>
              </a:rPr>
              <a:t>ランダムフォレスト</a:t>
            </a:r>
            <a:endParaRPr lang="en-US" sz="1500" dirty="0"/>
          </a:p>
        </p:txBody>
      </p:sp>
      <p:sp>
        <p:nvSpPr>
          <p:cNvPr id="19" name="Text 17"/>
          <p:cNvSpPr txBox="1"/>
          <p:nvPr/>
        </p:nvSpPr>
        <p:spPr>
          <a:xfrm>
            <a:off x="4471416"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a:t>
            </a:r>
            <a:endParaRPr lang="en-US" sz="950" dirty="0"/>
          </a:p>
        </p:txBody>
      </p:sp>
      <p:sp>
        <p:nvSpPr>
          <p:cNvPr id="20" name="Text 18"/>
          <p:cNvSpPr txBox="1"/>
          <p:nvPr/>
        </p:nvSpPr>
        <p:spPr>
          <a:xfrm>
            <a:off x="4471416"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条件で枝分かれする決定木を多数（300本）学習し、予測を平均する。非線形な関係も学べるが、学習データが少ないと不安定になりやすい。</a:t>
            </a:r>
            <a:endParaRPr lang="en-US" sz="1050" dirty="0"/>
          </a:p>
        </p:txBody>
      </p:sp>
      <p:sp>
        <p:nvSpPr>
          <p:cNvPr id="21" name="Shape 19"/>
          <p:cNvSpPr/>
          <p:nvPr/>
        </p:nvSpPr>
        <p:spPr>
          <a:xfrm>
            <a:off x="4471416" y="3246120"/>
            <a:ext cx="1737360" cy="301752"/>
          </a:xfrm>
          <a:prstGeom prst="roundRect">
            <a:avLst>
              <a:gd name="adj" fmla="val 18182"/>
            </a:avLst>
          </a:prstGeom>
          <a:solidFill>
            <a:srgbClr val="EAEEF2"/>
          </a:solidFill>
          <a:ln/>
        </p:spPr>
        <p:txBody>
          <a:bodyPr/>
          <a:p/>
        </p:txBody>
      </p:sp>
      <p:sp>
        <p:nvSpPr>
          <p:cNvPr id="22" name="Text 20"/>
          <p:cNvSpPr txBox="1"/>
          <p:nvPr/>
        </p:nvSpPr>
        <p:spPr>
          <a:xfrm>
            <a:off x="4471416"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23" name="Shape 21"/>
          <p:cNvSpPr/>
          <p:nvPr/>
        </p:nvSpPr>
        <p:spPr>
          <a:xfrm>
            <a:off x="8119872"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24" name="Shape 22"/>
          <p:cNvSpPr/>
          <p:nvPr/>
        </p:nvSpPr>
        <p:spPr>
          <a:xfrm>
            <a:off x="8119872" y="1188720"/>
            <a:ext cx="3630168" cy="73152"/>
          </a:xfrm>
          <a:prstGeom prst="rect">
            <a:avLst/>
          </a:prstGeom>
          <a:solidFill>
            <a:srgbClr val="1F6F78"/>
          </a:solidFill>
          <a:ln/>
        </p:spPr>
        <p:txBody>
          <a:bodyPr/>
          <a:p/>
        </p:txBody>
      </p:sp>
      <p:sp>
        <p:nvSpPr>
          <p:cNvPr id="25" name="Text 23"/>
          <p:cNvSpPr txBox="1"/>
          <p:nvPr/>
        </p:nvSpPr>
        <p:spPr>
          <a:xfrm>
            <a:off x="8302752" y="1353312"/>
            <a:ext cx="3264408" cy="347472"/>
          </a:xfrm>
          <a:prstGeom prst="rect">
            <a:avLst/>
          </a:prstGeom>
          <a:noFill/>
          <a:ln/>
        </p:spPr>
        <p:txBody>
          <a:bodyPr wrap="square" rtlCol="0" anchor="t"/>
          <a:lstStyle/>
          <a:p>
            <a:pPr marL="0" indent="0">
              <a:buNone/>
            </a:pPr>
            <a:r>
              <a:rPr lang="en-US" sz="1500" b="1" dirty="0">
                <a:solidFill>
                  <a:srgbClr val="1F6F78"/>
                </a:solidFill>
                <a:latin typeface="Yu Gothic" pitchFamily="34" charset="0"/>
                <a:ea typeface="Yu Gothic" pitchFamily="34" charset="-122"/>
                <a:cs typeface="Yu Gothic" pitchFamily="34" charset="-120"/>
              </a:rPr>
              <a:t>ランダムフォレスト＋比率</a:t>
            </a:r>
            <a:endParaRPr lang="en-US" sz="1500" dirty="0"/>
          </a:p>
        </p:txBody>
      </p:sp>
      <p:sp>
        <p:nvSpPr>
          <p:cNvPr id="26" name="Text 24"/>
          <p:cNvSpPr txBox="1"/>
          <p:nvPr/>
        </p:nvSpPr>
        <p:spPr>
          <a:xfrm>
            <a:off x="8302752"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 with A/D</a:t>
            </a:r>
            <a:endParaRPr lang="en-US" sz="950" dirty="0"/>
          </a:p>
        </p:txBody>
      </p:sp>
      <p:sp>
        <p:nvSpPr>
          <p:cNvPr id="27" name="Text 25"/>
          <p:cNvSpPr txBox="1"/>
          <p:nvPr/>
        </p:nvSpPr>
        <p:spPr>
          <a:xfrm>
            <a:off x="8302752"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上のランダムフォレストに、高さを距離で割った比率 A/D を3つ目の入力として加えたもの。設定は同じ（乱数シード20260911）。</a:t>
            </a:r>
            <a:endParaRPr lang="en-US" sz="1050" dirty="0"/>
          </a:p>
        </p:txBody>
      </p:sp>
      <p:sp>
        <p:nvSpPr>
          <p:cNvPr id="28" name="Shape 26"/>
          <p:cNvSpPr/>
          <p:nvPr/>
        </p:nvSpPr>
        <p:spPr>
          <a:xfrm>
            <a:off x="8302752" y="3246120"/>
            <a:ext cx="1737360" cy="301752"/>
          </a:xfrm>
          <a:prstGeom prst="roundRect">
            <a:avLst>
              <a:gd name="adj" fmla="val 18182"/>
            </a:avLst>
          </a:prstGeom>
          <a:solidFill>
            <a:srgbClr val="EAEEF2"/>
          </a:solidFill>
          <a:ln/>
        </p:spPr>
        <p:txBody>
          <a:bodyPr/>
          <a:p/>
        </p:txBody>
      </p:sp>
      <p:sp>
        <p:nvSpPr>
          <p:cNvPr id="29" name="Text 27"/>
          <p:cNvSpPr txBox="1"/>
          <p:nvPr/>
        </p:nvSpPr>
        <p:spPr>
          <a:xfrm>
            <a:off x="8302752"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 A/D</a:t>
            </a:r>
            <a:endParaRPr lang="en-US" sz="1000" dirty="0"/>
          </a:p>
        </p:txBody>
      </p:sp>
      <p:sp>
        <p:nvSpPr>
          <p:cNvPr id="30" name="Text 28"/>
          <p:cNvSpPr txBox="1"/>
          <p:nvPr/>
        </p:nvSpPr>
        <p:spPr>
          <a:xfrm>
            <a:off x="457200" y="3931920"/>
            <a:ext cx="10972800" cy="292608"/>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A と D から計算できる A/D を、なぜあえて入力に加えたのか</a:t>
            </a:r>
            <a:endParaRPr lang="en-US" sz="1300" dirty="0"/>
          </a:p>
        </p:txBody>
      </p:sp>
      <p:sp>
        <p:nvSpPr>
          <p:cNvPr id="31" name="Shape 29"/>
          <p:cNvSpPr/>
          <p:nvPr/>
        </p:nvSpPr>
        <p:spPr>
          <a:xfrm>
            <a:off x="457200"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2" name="Shape 30"/>
          <p:cNvSpPr/>
          <p:nvPr/>
        </p:nvSpPr>
        <p:spPr>
          <a:xfrm>
            <a:off x="621792" y="4434840"/>
            <a:ext cx="365760" cy="365760"/>
          </a:xfrm>
          <a:prstGeom prst="ellipse">
            <a:avLst/>
          </a:prstGeom>
          <a:solidFill>
            <a:srgbClr val="1F6F78"/>
          </a:solidFill>
          <a:ln/>
        </p:spPr>
        <p:txBody>
          <a:bodyPr/>
          <a:p/>
        </p:txBody>
      </p:sp>
      <p:sp>
        <p:nvSpPr>
          <p:cNvPr id="33" name="Text 31"/>
          <p:cNvSpPr txBox="1"/>
          <p:nvPr/>
        </p:nvSpPr>
        <p:spPr>
          <a:xfrm>
            <a:off x="621792"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34" name="Text 32"/>
          <p:cNvSpPr txBox="1"/>
          <p:nvPr/>
        </p:nvSpPr>
        <p:spPr>
          <a:xfrm>
            <a:off x="1078992"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指摘</a:t>
            </a:r>
            <a:endParaRPr lang="en-US" sz="1100" dirty="0"/>
          </a:p>
        </p:txBody>
      </p:sp>
      <p:sp>
        <p:nvSpPr>
          <p:cNvPr id="35" name="Text 33"/>
          <p:cNvSpPr txBox="1"/>
          <p:nvPr/>
        </p:nvSpPr>
        <p:spPr>
          <a:xfrm>
            <a:off x="640080"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は新しい情報ではない</a:t>
            </a:r>
            <a:endParaRPr lang="en-US" sz="1200" dirty="0"/>
          </a:p>
        </p:txBody>
      </p:sp>
      <p:sp>
        <p:nvSpPr>
          <p:cNvPr id="36" name="Text 34"/>
          <p:cNvSpPr txBox="1"/>
          <p:nvPr/>
        </p:nvSpPr>
        <p:spPr>
          <a:xfrm>
            <a:off x="640080"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教授の指摘のとおり、A と D から計算できるので、観測情報そのものは増えない。</a:t>
            </a:r>
            <a:endParaRPr lang="en-US" sz="1030" dirty="0"/>
          </a:p>
        </p:txBody>
      </p:sp>
      <p:sp>
        <p:nvSpPr>
          <p:cNvPr id="37" name="Shape 35"/>
          <p:cNvSpPr/>
          <p:nvPr/>
        </p:nvSpPr>
        <p:spPr>
          <a:xfrm rot="5400000">
            <a:off x="4119372" y="5212080"/>
            <a:ext cx="118872" cy="182880"/>
          </a:xfrm>
          <a:prstGeom prst="triangle">
            <a:avLst/>
          </a:prstGeom>
          <a:solidFill>
            <a:srgbClr val="AEB4BC"/>
          </a:solidFill>
          <a:ln/>
        </p:spPr>
        <p:txBody>
          <a:bodyPr/>
          <a:p/>
        </p:txBody>
      </p:sp>
      <p:sp>
        <p:nvSpPr>
          <p:cNvPr id="38" name="Shape 36"/>
          <p:cNvSpPr/>
          <p:nvPr/>
        </p:nvSpPr>
        <p:spPr>
          <a:xfrm>
            <a:off x="4288536"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9" name="Shape 37"/>
          <p:cNvSpPr/>
          <p:nvPr/>
        </p:nvSpPr>
        <p:spPr>
          <a:xfrm>
            <a:off x="4453128" y="4434840"/>
            <a:ext cx="365760" cy="365760"/>
          </a:xfrm>
          <a:prstGeom prst="ellipse">
            <a:avLst/>
          </a:prstGeom>
          <a:solidFill>
            <a:srgbClr val="1F6F78"/>
          </a:solidFill>
          <a:ln/>
        </p:spPr>
        <p:txBody>
          <a:bodyPr/>
          <a:p/>
        </p:txBody>
      </p:sp>
      <p:sp>
        <p:nvSpPr>
          <p:cNvPr id="40" name="Text 38"/>
          <p:cNvSpPr txBox="1"/>
          <p:nvPr/>
        </p:nvSpPr>
        <p:spPr>
          <a:xfrm>
            <a:off x="4453128"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41" name="Text 39"/>
          <p:cNvSpPr txBox="1"/>
          <p:nvPr/>
        </p:nvSpPr>
        <p:spPr>
          <a:xfrm>
            <a:off x="4910328"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仮説</a:t>
            </a:r>
            <a:endParaRPr lang="en-US" sz="1100" dirty="0"/>
          </a:p>
        </p:txBody>
      </p:sp>
      <p:sp>
        <p:nvSpPr>
          <p:cNvPr id="42" name="Text 40"/>
          <p:cNvSpPr txBox="1"/>
          <p:nvPr/>
        </p:nvSpPr>
        <p:spPr>
          <a:xfrm>
            <a:off x="4471416"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関係を見つけやすくなるかもしれない</a:t>
            </a:r>
            <a:endParaRPr lang="en-US" sz="1200" dirty="0"/>
          </a:p>
        </p:txBody>
      </p:sp>
      <p:sp>
        <p:nvSpPr>
          <p:cNvPr id="43" name="Text 41"/>
          <p:cNvSpPr txBox="1"/>
          <p:nvPr/>
        </p:nvSpPr>
        <p:spPr>
          <a:xfrm>
            <a:off x="4471416"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学習データが少ないとき、比率を明示するとモデルが関係を見つけやすくなる場合がある。</a:t>
            </a:r>
            <a:endParaRPr lang="en-US" sz="1030" dirty="0"/>
          </a:p>
        </p:txBody>
      </p:sp>
      <p:sp>
        <p:nvSpPr>
          <p:cNvPr id="44" name="Shape 42"/>
          <p:cNvSpPr/>
          <p:nvPr/>
        </p:nvSpPr>
        <p:spPr>
          <a:xfrm rot="5400000">
            <a:off x="7950708" y="5212080"/>
            <a:ext cx="118872" cy="182880"/>
          </a:xfrm>
          <a:prstGeom prst="triangle">
            <a:avLst/>
          </a:prstGeom>
          <a:solidFill>
            <a:srgbClr val="AEB4BC"/>
          </a:solidFill>
          <a:ln/>
        </p:spPr>
        <p:txBody>
          <a:bodyPr/>
          <a:p/>
        </p:txBody>
      </p:sp>
      <p:sp>
        <p:nvSpPr>
          <p:cNvPr id="45" name="Shape 43"/>
          <p:cNvSpPr/>
          <p:nvPr/>
        </p:nvSpPr>
        <p:spPr>
          <a:xfrm>
            <a:off x="8119872"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46" name="Shape 44"/>
          <p:cNvSpPr/>
          <p:nvPr/>
        </p:nvSpPr>
        <p:spPr>
          <a:xfrm>
            <a:off x="8284464" y="4434840"/>
            <a:ext cx="365760" cy="365760"/>
          </a:xfrm>
          <a:prstGeom prst="ellipse">
            <a:avLst/>
          </a:prstGeom>
          <a:solidFill>
            <a:srgbClr val="1F6F78"/>
          </a:solidFill>
          <a:ln/>
        </p:spPr>
        <p:txBody>
          <a:bodyPr/>
          <a:p/>
        </p:txBody>
      </p:sp>
      <p:sp>
        <p:nvSpPr>
          <p:cNvPr id="47" name="Text 45"/>
          <p:cNvSpPr txBox="1"/>
          <p:nvPr/>
        </p:nvSpPr>
        <p:spPr>
          <a:xfrm>
            <a:off x="8284464"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48" name="Text 46"/>
          <p:cNvSpPr txBox="1"/>
          <p:nvPr/>
        </p:nvSpPr>
        <p:spPr>
          <a:xfrm>
            <a:off x="8741664"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検証</a:t>
            </a:r>
            <a:endParaRPr lang="en-US" sz="1100" dirty="0"/>
          </a:p>
        </p:txBody>
      </p:sp>
      <p:sp>
        <p:nvSpPr>
          <p:cNvPr id="49" name="Text 47"/>
          <p:cNvSpPr txBox="1"/>
          <p:nvPr/>
        </p:nvSpPr>
        <p:spPr>
          <a:xfrm>
            <a:off x="8302752"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実際に比べて確かめる</a:t>
            </a:r>
            <a:endParaRPr lang="en-US" sz="1200" dirty="0"/>
          </a:p>
        </p:txBody>
      </p:sp>
      <p:sp>
        <p:nvSpPr>
          <p:cNvPr id="50" name="Text 48"/>
          <p:cNvSpPr txBox="1"/>
          <p:nvPr/>
        </p:nvSpPr>
        <p:spPr>
          <a:xfrm>
            <a:off x="8302752"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検証8パターンで「A・D」と「A・D・A/D」のランダムフォレストを比較（次ページ）。</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08</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検証8パターンで比較した結果、線形補間を採用</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08 / 41</a:t>
            </a:r>
            <a:endParaRPr lang="en-US" sz="1100" dirty="0"/>
          </a:p>
        </p:txBody>
      </p:sp>
      <p:sp>
        <p:nvSpPr>
          <p:cNvPr id="9" name="Text 7"/>
          <p:cNvSpPr txBox="1"/>
          <p:nvPr/>
        </p:nvSpPr>
        <p:spPr>
          <a:xfrm>
            <a:off x="457200" y="1143000"/>
            <a:ext cx="5303520"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検証データ：学習に使っていない8パターン</a:t>
            </a:r>
            <a:endParaRPr lang="en-US" sz="1250" dirty="0"/>
          </a:p>
        </p:txBody>
      </p:sp>
      <p:sp>
        <p:nvSpPr>
          <p:cNvPr id="10" name="Shape 8"/>
          <p:cNvSpPr/>
          <p:nvPr/>
        </p:nvSpPr>
        <p:spPr>
          <a:xfrm>
            <a:off x="1234440" y="1554480"/>
            <a:ext cx="4297680" cy="2926080"/>
          </a:xfrm>
          <a:prstGeom prst="rect">
            <a:avLst/>
          </a:prstGeom>
          <a:solidFill>
            <a:srgbClr val="F3F5F8"/>
          </a:solidFill>
          <a:ln w="12700">
            <a:solidFill>
              <a:srgbClr val="DBE0E6"/>
            </a:solidFill>
            <a:prstDash val="solid"/>
          </a:ln>
        </p:spPr>
        <p:txBody>
          <a:bodyPr/>
          <a:p/>
        </p:txBody>
      </p:sp>
      <p:sp>
        <p:nvSpPr>
          <p:cNvPr id="11" name="Shape 9"/>
          <p:cNvSpPr/>
          <p:nvPr/>
        </p:nvSpPr>
        <p:spPr>
          <a:xfrm>
            <a:off x="1234440" y="1554480"/>
            <a:ext cx="0" cy="2926080"/>
          </a:xfrm>
          <a:prstGeom prst="line">
            <a:avLst/>
          </a:prstGeom>
          <a:noFill/>
          <a:ln w="9525">
            <a:solidFill>
              <a:srgbClr val="DBE0E6"/>
            </a:solidFill>
            <a:prstDash val="dash"/>
          </a:ln>
        </p:spPr>
        <p:txBody>
          <a:bodyPr/>
          <a:p/>
        </p:txBody>
      </p:sp>
      <p:sp>
        <p:nvSpPr>
          <p:cNvPr id="12" name="Text 10"/>
          <p:cNvSpPr txBox="1"/>
          <p:nvPr/>
        </p:nvSpPr>
        <p:spPr>
          <a:xfrm>
            <a:off x="822960"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13" name="Shape 11"/>
          <p:cNvSpPr/>
          <p:nvPr/>
        </p:nvSpPr>
        <p:spPr>
          <a:xfrm>
            <a:off x="2257697" y="1554480"/>
            <a:ext cx="0" cy="2926080"/>
          </a:xfrm>
          <a:prstGeom prst="line">
            <a:avLst/>
          </a:prstGeom>
          <a:noFill/>
          <a:ln w="9525">
            <a:solidFill>
              <a:srgbClr val="DBE0E6"/>
            </a:solidFill>
            <a:prstDash val="dash"/>
          </a:ln>
        </p:spPr>
        <p:txBody>
          <a:bodyPr/>
          <a:p/>
        </p:txBody>
      </p:sp>
      <p:sp>
        <p:nvSpPr>
          <p:cNvPr id="14" name="Text 12"/>
          <p:cNvSpPr txBox="1"/>
          <p:nvPr/>
        </p:nvSpPr>
        <p:spPr>
          <a:xfrm>
            <a:off x="1846217"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15" name="Shape 13"/>
          <p:cNvSpPr/>
          <p:nvPr/>
        </p:nvSpPr>
        <p:spPr>
          <a:xfrm>
            <a:off x="3280954" y="1554480"/>
            <a:ext cx="0" cy="2926080"/>
          </a:xfrm>
          <a:prstGeom prst="line">
            <a:avLst/>
          </a:prstGeom>
          <a:noFill/>
          <a:ln w="9525">
            <a:solidFill>
              <a:srgbClr val="DBE0E6"/>
            </a:solidFill>
            <a:prstDash val="dash"/>
          </a:ln>
        </p:spPr>
        <p:txBody>
          <a:bodyPr/>
          <a:p/>
        </p:txBody>
      </p:sp>
      <p:sp>
        <p:nvSpPr>
          <p:cNvPr id="16" name="Text 14"/>
          <p:cNvSpPr txBox="1"/>
          <p:nvPr/>
        </p:nvSpPr>
        <p:spPr>
          <a:xfrm>
            <a:off x="2869474"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17" name="Shape 15"/>
          <p:cNvSpPr/>
          <p:nvPr/>
        </p:nvSpPr>
        <p:spPr>
          <a:xfrm>
            <a:off x="4304211" y="1554480"/>
            <a:ext cx="0" cy="2926080"/>
          </a:xfrm>
          <a:prstGeom prst="line">
            <a:avLst/>
          </a:prstGeom>
          <a:noFill/>
          <a:ln w="9525">
            <a:solidFill>
              <a:srgbClr val="DBE0E6"/>
            </a:solidFill>
            <a:prstDash val="dash"/>
          </a:ln>
        </p:spPr>
        <p:txBody>
          <a:bodyPr/>
          <a:p/>
        </p:txBody>
      </p:sp>
      <p:sp>
        <p:nvSpPr>
          <p:cNvPr id="18" name="Text 16"/>
          <p:cNvSpPr txBox="1"/>
          <p:nvPr/>
        </p:nvSpPr>
        <p:spPr>
          <a:xfrm>
            <a:off x="3892731"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19" name="Shape 17"/>
          <p:cNvSpPr/>
          <p:nvPr/>
        </p:nvSpPr>
        <p:spPr>
          <a:xfrm>
            <a:off x="5327469" y="1554480"/>
            <a:ext cx="0" cy="2926080"/>
          </a:xfrm>
          <a:prstGeom prst="line">
            <a:avLst/>
          </a:prstGeom>
          <a:noFill/>
          <a:ln w="9525">
            <a:solidFill>
              <a:srgbClr val="DBE0E6"/>
            </a:solidFill>
            <a:prstDash val="dash"/>
          </a:ln>
        </p:spPr>
        <p:txBody>
          <a:bodyPr/>
          <a:p/>
        </p:txBody>
      </p:sp>
      <p:sp>
        <p:nvSpPr>
          <p:cNvPr id="20" name="Text 18"/>
          <p:cNvSpPr txBox="1"/>
          <p:nvPr/>
        </p:nvSpPr>
        <p:spPr>
          <a:xfrm>
            <a:off x="4915989"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21" name="Shape 19"/>
          <p:cNvSpPr/>
          <p:nvPr/>
        </p:nvSpPr>
        <p:spPr>
          <a:xfrm>
            <a:off x="1234440" y="4480560"/>
            <a:ext cx="4297680" cy="0"/>
          </a:xfrm>
          <a:prstGeom prst="line">
            <a:avLst/>
          </a:prstGeom>
          <a:noFill/>
          <a:ln w="9525">
            <a:solidFill>
              <a:srgbClr val="DBE0E6"/>
            </a:solidFill>
            <a:prstDash val="dash"/>
          </a:ln>
        </p:spPr>
        <p:txBody>
          <a:bodyPr/>
          <a:p/>
        </p:txBody>
      </p:sp>
      <p:sp>
        <p:nvSpPr>
          <p:cNvPr id="22" name="Text 20"/>
          <p:cNvSpPr txBox="1"/>
          <p:nvPr/>
        </p:nvSpPr>
        <p:spPr>
          <a:xfrm>
            <a:off x="667512" y="4361688"/>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23" name="Shape 21"/>
          <p:cNvSpPr/>
          <p:nvPr/>
        </p:nvSpPr>
        <p:spPr>
          <a:xfrm>
            <a:off x="1234440" y="3783874"/>
            <a:ext cx="4297680" cy="0"/>
          </a:xfrm>
          <a:prstGeom prst="line">
            <a:avLst/>
          </a:prstGeom>
          <a:noFill/>
          <a:ln w="9525">
            <a:solidFill>
              <a:srgbClr val="DBE0E6"/>
            </a:solidFill>
            <a:prstDash val="dash"/>
          </a:ln>
        </p:spPr>
        <p:txBody>
          <a:bodyPr/>
          <a:p/>
        </p:txBody>
      </p:sp>
      <p:sp>
        <p:nvSpPr>
          <p:cNvPr id="24" name="Text 22"/>
          <p:cNvSpPr txBox="1"/>
          <p:nvPr/>
        </p:nvSpPr>
        <p:spPr>
          <a:xfrm>
            <a:off x="667512" y="366500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25" name="Shape 23"/>
          <p:cNvSpPr/>
          <p:nvPr/>
        </p:nvSpPr>
        <p:spPr>
          <a:xfrm>
            <a:off x="1234440" y="3087189"/>
            <a:ext cx="4297680" cy="0"/>
          </a:xfrm>
          <a:prstGeom prst="line">
            <a:avLst/>
          </a:prstGeom>
          <a:noFill/>
          <a:ln w="9525">
            <a:solidFill>
              <a:srgbClr val="DBE0E6"/>
            </a:solidFill>
            <a:prstDash val="dash"/>
          </a:ln>
        </p:spPr>
        <p:txBody>
          <a:bodyPr/>
          <a:p/>
        </p:txBody>
      </p:sp>
      <p:sp>
        <p:nvSpPr>
          <p:cNvPr id="26" name="Text 24"/>
          <p:cNvSpPr txBox="1"/>
          <p:nvPr/>
        </p:nvSpPr>
        <p:spPr>
          <a:xfrm>
            <a:off x="667512" y="2968317"/>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27" name="Shape 25"/>
          <p:cNvSpPr/>
          <p:nvPr/>
        </p:nvSpPr>
        <p:spPr>
          <a:xfrm>
            <a:off x="1234440" y="2390503"/>
            <a:ext cx="4297680" cy="0"/>
          </a:xfrm>
          <a:prstGeom prst="line">
            <a:avLst/>
          </a:prstGeom>
          <a:noFill/>
          <a:ln w="9525">
            <a:solidFill>
              <a:srgbClr val="DBE0E6"/>
            </a:solidFill>
            <a:prstDash val="dash"/>
          </a:ln>
        </p:spPr>
        <p:txBody>
          <a:bodyPr/>
          <a:p/>
        </p:txBody>
      </p:sp>
      <p:sp>
        <p:nvSpPr>
          <p:cNvPr id="28" name="Text 26"/>
          <p:cNvSpPr txBox="1"/>
          <p:nvPr/>
        </p:nvSpPr>
        <p:spPr>
          <a:xfrm>
            <a:off x="667512" y="2271631"/>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29" name="Shape 27"/>
          <p:cNvSpPr/>
          <p:nvPr/>
        </p:nvSpPr>
        <p:spPr>
          <a:xfrm>
            <a:off x="1234440" y="1693817"/>
            <a:ext cx="4297680" cy="0"/>
          </a:xfrm>
          <a:prstGeom prst="line">
            <a:avLst/>
          </a:prstGeom>
          <a:noFill/>
          <a:ln w="9525">
            <a:solidFill>
              <a:srgbClr val="DBE0E6"/>
            </a:solidFill>
            <a:prstDash val="dash"/>
          </a:ln>
        </p:spPr>
        <p:txBody>
          <a:bodyPr/>
          <a:p/>
        </p:txBody>
      </p:sp>
      <p:sp>
        <p:nvSpPr>
          <p:cNvPr id="30" name="Text 28"/>
          <p:cNvSpPr txBox="1"/>
          <p:nvPr/>
        </p:nvSpPr>
        <p:spPr>
          <a:xfrm>
            <a:off x="667512" y="157494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31" name="Text 29"/>
          <p:cNvSpPr txBox="1"/>
          <p:nvPr/>
        </p:nvSpPr>
        <p:spPr>
          <a:xfrm>
            <a:off x="1234440" y="4754880"/>
            <a:ext cx="429768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32" name="Text 30"/>
          <p:cNvSpPr txBox="1"/>
          <p:nvPr/>
        </p:nvSpPr>
        <p:spPr>
          <a:xfrm rot="16200000">
            <a:off x="-612648" y="2880360"/>
            <a:ext cx="219456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33" name="Shape 31"/>
          <p:cNvSpPr/>
          <p:nvPr/>
        </p:nvSpPr>
        <p:spPr>
          <a:xfrm>
            <a:off x="1579735" y="3719866"/>
            <a:ext cx="128016" cy="128016"/>
          </a:xfrm>
          <a:prstGeom prst="rect">
            <a:avLst/>
          </a:prstGeom>
          <a:solidFill>
            <a:srgbClr val="1B2A44"/>
          </a:solidFill>
          <a:ln w="12700">
            <a:solidFill>
              <a:srgbClr val="FFFFFF"/>
            </a:solidFill>
            <a:prstDash val="solid"/>
          </a:ln>
        </p:spPr>
        <p:txBody>
          <a:bodyPr/>
          <a:p/>
        </p:txBody>
      </p:sp>
      <p:sp>
        <p:nvSpPr>
          <p:cNvPr id="34" name="Shape 32"/>
          <p:cNvSpPr/>
          <p:nvPr/>
        </p:nvSpPr>
        <p:spPr>
          <a:xfrm>
            <a:off x="2193689" y="3719866"/>
            <a:ext cx="128016" cy="128016"/>
          </a:xfrm>
          <a:prstGeom prst="rect">
            <a:avLst/>
          </a:prstGeom>
          <a:solidFill>
            <a:srgbClr val="1B2A44"/>
          </a:solidFill>
          <a:ln w="12700">
            <a:solidFill>
              <a:srgbClr val="FFFFFF"/>
            </a:solidFill>
            <a:prstDash val="solid"/>
          </a:ln>
        </p:spPr>
        <p:txBody>
          <a:bodyPr/>
          <a:p/>
        </p:txBody>
      </p:sp>
      <p:sp>
        <p:nvSpPr>
          <p:cNvPr id="35" name="Shape 33"/>
          <p:cNvSpPr/>
          <p:nvPr/>
        </p:nvSpPr>
        <p:spPr>
          <a:xfrm>
            <a:off x="3216946" y="3719866"/>
            <a:ext cx="128016" cy="128016"/>
          </a:xfrm>
          <a:prstGeom prst="rect">
            <a:avLst/>
          </a:prstGeom>
          <a:solidFill>
            <a:srgbClr val="1B2A44"/>
          </a:solidFill>
          <a:ln w="12700">
            <a:solidFill>
              <a:srgbClr val="FFFFFF"/>
            </a:solidFill>
            <a:prstDash val="solid"/>
          </a:ln>
        </p:spPr>
        <p:txBody>
          <a:bodyPr/>
          <a:p/>
        </p:txBody>
      </p:sp>
      <p:sp>
        <p:nvSpPr>
          <p:cNvPr id="36" name="Shape 34"/>
          <p:cNvSpPr/>
          <p:nvPr/>
        </p:nvSpPr>
        <p:spPr>
          <a:xfrm>
            <a:off x="5263461" y="3719866"/>
            <a:ext cx="128016" cy="128016"/>
          </a:xfrm>
          <a:prstGeom prst="rect">
            <a:avLst/>
          </a:prstGeom>
          <a:solidFill>
            <a:srgbClr val="1B2A44"/>
          </a:solidFill>
          <a:ln w="12700">
            <a:solidFill>
              <a:srgbClr val="FFFFFF"/>
            </a:solidFill>
            <a:prstDash val="solid"/>
          </a:ln>
        </p:spPr>
        <p:txBody>
          <a:bodyPr/>
          <a:p/>
        </p:txBody>
      </p:sp>
      <p:sp>
        <p:nvSpPr>
          <p:cNvPr id="37" name="Shape 35"/>
          <p:cNvSpPr/>
          <p:nvPr/>
        </p:nvSpPr>
        <p:spPr>
          <a:xfrm>
            <a:off x="1579735" y="3023181"/>
            <a:ext cx="128016" cy="128016"/>
          </a:xfrm>
          <a:prstGeom prst="rect">
            <a:avLst/>
          </a:prstGeom>
          <a:solidFill>
            <a:srgbClr val="1B2A44"/>
          </a:solidFill>
          <a:ln w="12700">
            <a:solidFill>
              <a:srgbClr val="FFFFFF"/>
            </a:solidFill>
            <a:prstDash val="solid"/>
          </a:ln>
        </p:spPr>
        <p:txBody>
          <a:bodyPr/>
          <a:p/>
        </p:txBody>
      </p:sp>
      <p:sp>
        <p:nvSpPr>
          <p:cNvPr id="38" name="Shape 36"/>
          <p:cNvSpPr/>
          <p:nvPr/>
        </p:nvSpPr>
        <p:spPr>
          <a:xfrm>
            <a:off x="2193689" y="3023181"/>
            <a:ext cx="128016" cy="128016"/>
          </a:xfrm>
          <a:prstGeom prst="rect">
            <a:avLst/>
          </a:prstGeom>
          <a:solidFill>
            <a:srgbClr val="1B2A44"/>
          </a:solidFill>
          <a:ln w="12700">
            <a:solidFill>
              <a:srgbClr val="FFFFFF"/>
            </a:solidFill>
            <a:prstDash val="solid"/>
          </a:ln>
        </p:spPr>
        <p:txBody>
          <a:bodyPr/>
          <a:p/>
        </p:txBody>
      </p:sp>
      <p:sp>
        <p:nvSpPr>
          <p:cNvPr id="39" name="Shape 37"/>
          <p:cNvSpPr/>
          <p:nvPr/>
        </p:nvSpPr>
        <p:spPr>
          <a:xfrm>
            <a:off x="3216946" y="3023181"/>
            <a:ext cx="128016" cy="128016"/>
          </a:xfrm>
          <a:prstGeom prst="rect">
            <a:avLst/>
          </a:prstGeom>
          <a:solidFill>
            <a:srgbClr val="1B2A44"/>
          </a:solidFill>
          <a:ln w="12700">
            <a:solidFill>
              <a:srgbClr val="FFFFFF"/>
            </a:solidFill>
            <a:prstDash val="solid"/>
          </a:ln>
        </p:spPr>
        <p:txBody>
          <a:bodyPr/>
          <a:p/>
        </p:txBody>
      </p:sp>
      <p:sp>
        <p:nvSpPr>
          <p:cNvPr id="40" name="Shape 38"/>
          <p:cNvSpPr/>
          <p:nvPr/>
        </p:nvSpPr>
        <p:spPr>
          <a:xfrm>
            <a:off x="5263461" y="3023181"/>
            <a:ext cx="128016" cy="128016"/>
          </a:xfrm>
          <a:prstGeom prst="rect">
            <a:avLst/>
          </a:prstGeom>
          <a:solidFill>
            <a:srgbClr val="1B2A44"/>
          </a:solidFill>
          <a:ln w="12700">
            <a:solidFill>
              <a:srgbClr val="FFFFFF"/>
            </a:solidFill>
            <a:prstDash val="solid"/>
          </a:ln>
        </p:spPr>
        <p:txBody>
          <a:bodyPr/>
          <a:p/>
        </p:txBody>
      </p:sp>
      <p:sp>
        <p:nvSpPr>
          <p:cNvPr id="41" name="Shape 39"/>
          <p:cNvSpPr/>
          <p:nvPr/>
        </p:nvSpPr>
        <p:spPr>
          <a:xfrm>
            <a:off x="1579735" y="2326495"/>
            <a:ext cx="128016" cy="128016"/>
          </a:xfrm>
          <a:prstGeom prst="rect">
            <a:avLst/>
          </a:prstGeom>
          <a:solidFill>
            <a:srgbClr val="1B2A44"/>
          </a:solidFill>
          <a:ln w="12700">
            <a:solidFill>
              <a:srgbClr val="FFFFFF"/>
            </a:solidFill>
            <a:prstDash val="solid"/>
          </a:ln>
        </p:spPr>
        <p:txBody>
          <a:bodyPr/>
          <a:p/>
        </p:txBody>
      </p:sp>
      <p:sp>
        <p:nvSpPr>
          <p:cNvPr id="42" name="Shape 40"/>
          <p:cNvSpPr/>
          <p:nvPr/>
        </p:nvSpPr>
        <p:spPr>
          <a:xfrm>
            <a:off x="2193689" y="2326495"/>
            <a:ext cx="128016" cy="128016"/>
          </a:xfrm>
          <a:prstGeom prst="rect">
            <a:avLst/>
          </a:prstGeom>
          <a:solidFill>
            <a:srgbClr val="1B2A44"/>
          </a:solidFill>
          <a:ln w="12700">
            <a:solidFill>
              <a:srgbClr val="FFFFFF"/>
            </a:solidFill>
            <a:prstDash val="solid"/>
          </a:ln>
        </p:spPr>
        <p:txBody>
          <a:bodyPr/>
          <a:p/>
        </p:txBody>
      </p:sp>
      <p:sp>
        <p:nvSpPr>
          <p:cNvPr id="43" name="Shape 41"/>
          <p:cNvSpPr/>
          <p:nvPr/>
        </p:nvSpPr>
        <p:spPr>
          <a:xfrm>
            <a:off x="3216946" y="2326495"/>
            <a:ext cx="128016" cy="128016"/>
          </a:xfrm>
          <a:prstGeom prst="rect">
            <a:avLst/>
          </a:prstGeom>
          <a:solidFill>
            <a:srgbClr val="1B2A44"/>
          </a:solidFill>
          <a:ln w="12700">
            <a:solidFill>
              <a:srgbClr val="FFFFFF"/>
            </a:solidFill>
            <a:prstDash val="solid"/>
          </a:ln>
        </p:spPr>
        <p:txBody>
          <a:bodyPr/>
          <a:p/>
        </p:txBody>
      </p:sp>
      <p:sp>
        <p:nvSpPr>
          <p:cNvPr id="44" name="Shape 42"/>
          <p:cNvSpPr/>
          <p:nvPr/>
        </p:nvSpPr>
        <p:spPr>
          <a:xfrm>
            <a:off x="5263461" y="2326495"/>
            <a:ext cx="128016" cy="128016"/>
          </a:xfrm>
          <a:prstGeom prst="rect">
            <a:avLst/>
          </a:prstGeom>
          <a:solidFill>
            <a:srgbClr val="1B2A44"/>
          </a:solidFill>
          <a:ln w="12700">
            <a:solidFill>
              <a:srgbClr val="FFFFFF"/>
            </a:solidFill>
            <a:prstDash val="solid"/>
          </a:ln>
        </p:spPr>
        <p:txBody>
          <a:bodyPr/>
          <a:p/>
        </p:txBody>
      </p:sp>
      <p:sp>
        <p:nvSpPr>
          <p:cNvPr id="45" name="Shape 43"/>
          <p:cNvSpPr/>
          <p:nvPr/>
        </p:nvSpPr>
        <p:spPr>
          <a:xfrm>
            <a:off x="1579735" y="1629809"/>
            <a:ext cx="128016" cy="128016"/>
          </a:xfrm>
          <a:prstGeom prst="rect">
            <a:avLst/>
          </a:prstGeom>
          <a:solidFill>
            <a:srgbClr val="1B2A44"/>
          </a:solidFill>
          <a:ln w="12700">
            <a:solidFill>
              <a:srgbClr val="FFFFFF"/>
            </a:solidFill>
            <a:prstDash val="solid"/>
          </a:ln>
        </p:spPr>
        <p:txBody>
          <a:bodyPr/>
          <a:p/>
        </p:txBody>
      </p:sp>
      <p:sp>
        <p:nvSpPr>
          <p:cNvPr id="46" name="Shape 44"/>
          <p:cNvSpPr/>
          <p:nvPr/>
        </p:nvSpPr>
        <p:spPr>
          <a:xfrm>
            <a:off x="2193689" y="1629809"/>
            <a:ext cx="128016" cy="128016"/>
          </a:xfrm>
          <a:prstGeom prst="rect">
            <a:avLst/>
          </a:prstGeom>
          <a:solidFill>
            <a:srgbClr val="1B2A44"/>
          </a:solidFill>
          <a:ln w="12700">
            <a:solidFill>
              <a:srgbClr val="FFFFFF"/>
            </a:solidFill>
            <a:prstDash val="solid"/>
          </a:ln>
        </p:spPr>
        <p:txBody>
          <a:bodyPr/>
          <a:p/>
        </p:txBody>
      </p:sp>
      <p:sp>
        <p:nvSpPr>
          <p:cNvPr id="47" name="Shape 45"/>
          <p:cNvSpPr/>
          <p:nvPr/>
        </p:nvSpPr>
        <p:spPr>
          <a:xfrm>
            <a:off x="3216946" y="1629809"/>
            <a:ext cx="128016" cy="128016"/>
          </a:xfrm>
          <a:prstGeom prst="rect">
            <a:avLst/>
          </a:prstGeom>
          <a:solidFill>
            <a:srgbClr val="1B2A44"/>
          </a:solidFill>
          <a:ln w="12700">
            <a:solidFill>
              <a:srgbClr val="FFFFFF"/>
            </a:solidFill>
            <a:prstDash val="solid"/>
          </a:ln>
        </p:spPr>
        <p:txBody>
          <a:bodyPr/>
          <a:p/>
        </p:txBody>
      </p:sp>
      <p:sp>
        <p:nvSpPr>
          <p:cNvPr id="48" name="Shape 46"/>
          <p:cNvSpPr/>
          <p:nvPr/>
        </p:nvSpPr>
        <p:spPr>
          <a:xfrm>
            <a:off x="5263461" y="1629809"/>
            <a:ext cx="128016" cy="128016"/>
          </a:xfrm>
          <a:prstGeom prst="rect">
            <a:avLst/>
          </a:prstGeom>
          <a:solidFill>
            <a:srgbClr val="1B2A44"/>
          </a:solidFill>
          <a:ln w="12700">
            <a:solidFill>
              <a:srgbClr val="FFFFFF"/>
            </a:solidFill>
            <a:prstDash val="solid"/>
          </a:ln>
        </p:spPr>
        <p:txBody>
          <a:bodyPr/>
          <a:p/>
        </p:txBody>
      </p:sp>
      <p:sp>
        <p:nvSpPr>
          <p:cNvPr id="49" name="Shape 47"/>
          <p:cNvSpPr/>
          <p:nvPr/>
        </p:nvSpPr>
        <p:spPr>
          <a:xfrm>
            <a:off x="1766098" y="3422904"/>
            <a:ext cx="164592" cy="164592"/>
          </a:xfrm>
          <a:prstGeom prst="ellipse">
            <a:avLst/>
          </a:prstGeom>
          <a:solidFill>
            <a:srgbClr val="E8934D"/>
          </a:solidFill>
          <a:ln w="12700">
            <a:solidFill>
              <a:srgbClr val="FFFFFF"/>
            </a:solidFill>
            <a:prstDash val="solid"/>
          </a:ln>
        </p:spPr>
        <p:txBody>
          <a:bodyPr/>
          <a:p/>
        </p:txBody>
      </p:sp>
      <p:sp>
        <p:nvSpPr>
          <p:cNvPr id="50" name="Shape 48"/>
          <p:cNvSpPr/>
          <p:nvPr/>
        </p:nvSpPr>
        <p:spPr>
          <a:xfrm>
            <a:off x="4017264" y="3422904"/>
            <a:ext cx="164592" cy="164592"/>
          </a:xfrm>
          <a:prstGeom prst="ellipse">
            <a:avLst/>
          </a:prstGeom>
          <a:solidFill>
            <a:srgbClr val="E8934D"/>
          </a:solidFill>
          <a:ln w="12700">
            <a:solidFill>
              <a:srgbClr val="FFFFFF"/>
            </a:solidFill>
            <a:prstDash val="solid"/>
          </a:ln>
        </p:spPr>
        <p:txBody>
          <a:bodyPr/>
          <a:p/>
        </p:txBody>
      </p:sp>
      <p:sp>
        <p:nvSpPr>
          <p:cNvPr id="51" name="Shape 49"/>
          <p:cNvSpPr/>
          <p:nvPr/>
        </p:nvSpPr>
        <p:spPr>
          <a:xfrm>
            <a:off x="2584704" y="3144230"/>
            <a:ext cx="164592" cy="164592"/>
          </a:xfrm>
          <a:prstGeom prst="ellipse">
            <a:avLst/>
          </a:prstGeom>
          <a:solidFill>
            <a:srgbClr val="E8934D"/>
          </a:solidFill>
          <a:ln w="12700">
            <a:solidFill>
              <a:srgbClr val="FFFFFF"/>
            </a:solidFill>
            <a:prstDash val="solid"/>
          </a:ln>
        </p:spPr>
        <p:txBody>
          <a:bodyPr/>
          <a:p/>
        </p:txBody>
      </p:sp>
      <p:sp>
        <p:nvSpPr>
          <p:cNvPr id="52" name="Shape 50"/>
          <p:cNvSpPr/>
          <p:nvPr/>
        </p:nvSpPr>
        <p:spPr>
          <a:xfrm>
            <a:off x="1766098" y="2726218"/>
            <a:ext cx="164592" cy="164592"/>
          </a:xfrm>
          <a:prstGeom prst="ellipse">
            <a:avLst/>
          </a:prstGeom>
          <a:solidFill>
            <a:srgbClr val="E8934D"/>
          </a:solidFill>
          <a:ln w="12700">
            <a:solidFill>
              <a:srgbClr val="FFFFFF"/>
            </a:solidFill>
            <a:prstDash val="solid"/>
          </a:ln>
        </p:spPr>
        <p:txBody>
          <a:bodyPr/>
          <a:p/>
        </p:txBody>
      </p:sp>
      <p:sp>
        <p:nvSpPr>
          <p:cNvPr id="53" name="Shape 51"/>
          <p:cNvSpPr/>
          <p:nvPr/>
        </p:nvSpPr>
        <p:spPr>
          <a:xfrm>
            <a:off x="4017264" y="2726218"/>
            <a:ext cx="164592" cy="164592"/>
          </a:xfrm>
          <a:prstGeom prst="ellipse">
            <a:avLst/>
          </a:prstGeom>
          <a:solidFill>
            <a:srgbClr val="E8934D"/>
          </a:solidFill>
          <a:ln w="12700">
            <a:solidFill>
              <a:srgbClr val="FFFFFF"/>
            </a:solidFill>
            <a:prstDash val="solid"/>
          </a:ln>
        </p:spPr>
        <p:txBody>
          <a:bodyPr/>
          <a:p/>
        </p:txBody>
      </p:sp>
      <p:sp>
        <p:nvSpPr>
          <p:cNvPr id="54" name="Shape 52"/>
          <p:cNvSpPr/>
          <p:nvPr/>
        </p:nvSpPr>
        <p:spPr>
          <a:xfrm>
            <a:off x="2584704" y="2029533"/>
            <a:ext cx="164592" cy="164592"/>
          </a:xfrm>
          <a:prstGeom prst="ellipse">
            <a:avLst/>
          </a:prstGeom>
          <a:solidFill>
            <a:srgbClr val="E8934D"/>
          </a:solidFill>
          <a:ln w="12700">
            <a:solidFill>
              <a:srgbClr val="FFFFFF"/>
            </a:solidFill>
            <a:prstDash val="solid"/>
          </a:ln>
        </p:spPr>
        <p:txBody>
          <a:bodyPr/>
          <a:p/>
        </p:txBody>
      </p:sp>
      <p:sp>
        <p:nvSpPr>
          <p:cNvPr id="55" name="Shape 53"/>
          <p:cNvSpPr/>
          <p:nvPr/>
        </p:nvSpPr>
        <p:spPr>
          <a:xfrm>
            <a:off x="1766098" y="1890195"/>
            <a:ext cx="164592" cy="164592"/>
          </a:xfrm>
          <a:prstGeom prst="ellipse">
            <a:avLst/>
          </a:prstGeom>
          <a:solidFill>
            <a:srgbClr val="E8934D"/>
          </a:solidFill>
          <a:ln w="12700">
            <a:solidFill>
              <a:srgbClr val="FFFFFF"/>
            </a:solidFill>
            <a:prstDash val="solid"/>
          </a:ln>
        </p:spPr>
        <p:txBody>
          <a:bodyPr/>
          <a:p/>
        </p:txBody>
      </p:sp>
      <p:sp>
        <p:nvSpPr>
          <p:cNvPr id="56" name="Shape 54"/>
          <p:cNvSpPr/>
          <p:nvPr/>
        </p:nvSpPr>
        <p:spPr>
          <a:xfrm>
            <a:off x="4631218" y="1890195"/>
            <a:ext cx="164592" cy="164592"/>
          </a:xfrm>
          <a:prstGeom prst="ellipse">
            <a:avLst/>
          </a:prstGeom>
          <a:solidFill>
            <a:srgbClr val="E8934D"/>
          </a:solidFill>
          <a:ln w="12700">
            <a:solidFill>
              <a:srgbClr val="FFFFFF"/>
            </a:solidFill>
            <a:prstDash val="solid"/>
          </a:ln>
        </p:spPr>
        <p:txBody>
          <a:bodyPr/>
          <a:p/>
        </p:txBody>
      </p:sp>
      <p:sp>
        <p:nvSpPr>
          <p:cNvPr id="57" name="Shape 55"/>
          <p:cNvSpPr/>
          <p:nvPr/>
        </p:nvSpPr>
        <p:spPr>
          <a:xfrm>
            <a:off x="1234440" y="5166360"/>
            <a:ext cx="146304" cy="146304"/>
          </a:xfrm>
          <a:prstGeom prst="rect">
            <a:avLst/>
          </a:prstGeom>
          <a:solidFill>
            <a:srgbClr val="1B2A44"/>
          </a:solidFill>
          <a:ln/>
        </p:spPr>
        <p:txBody>
          <a:bodyPr/>
          <a:p/>
        </p:txBody>
      </p:sp>
      <p:sp>
        <p:nvSpPr>
          <p:cNvPr id="58" name="Text 56"/>
          <p:cNvSpPr txBox="1"/>
          <p:nvPr/>
        </p:nvSpPr>
        <p:spPr>
          <a:xfrm>
            <a:off x="1453896"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学習16点</a:t>
            </a:r>
            <a:endParaRPr lang="en-US" sz="1050" dirty="0"/>
          </a:p>
        </p:txBody>
      </p:sp>
      <p:sp>
        <p:nvSpPr>
          <p:cNvPr id="59" name="Shape 57"/>
          <p:cNvSpPr/>
          <p:nvPr/>
        </p:nvSpPr>
        <p:spPr>
          <a:xfrm>
            <a:off x="2505456" y="5166360"/>
            <a:ext cx="146304" cy="146304"/>
          </a:xfrm>
          <a:prstGeom prst="ellipse">
            <a:avLst/>
          </a:prstGeom>
          <a:solidFill>
            <a:srgbClr val="E8934D"/>
          </a:solidFill>
          <a:ln/>
        </p:spPr>
        <p:txBody>
          <a:bodyPr/>
          <a:p/>
        </p:txBody>
      </p:sp>
      <p:sp>
        <p:nvSpPr>
          <p:cNvPr id="60" name="Text 58"/>
          <p:cNvSpPr txBox="1"/>
          <p:nvPr/>
        </p:nvSpPr>
        <p:spPr>
          <a:xfrm>
            <a:off x="2724912"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検証8点</a:t>
            </a:r>
            <a:endParaRPr lang="en-US" sz="1050" dirty="0"/>
          </a:p>
        </p:txBody>
      </p:sp>
      <p:sp>
        <p:nvSpPr>
          <p:cNvPr id="61" name="Text 59"/>
          <p:cNvSpPr txBox="1"/>
          <p:nvPr/>
        </p:nvSpPr>
        <p:spPr>
          <a:xfrm>
            <a:off x="457200" y="5486400"/>
            <a:ext cx="5303520" cy="777240"/>
          </a:xfrm>
          <a:prstGeom prst="rect">
            <a:avLst/>
          </a:prstGeom>
          <a:noFill/>
          <a:ln/>
        </p:spPr>
        <p:txBody>
          <a:bodyPr wrap="square" rtlCol="0" anchor="t"/>
          <a:lstStyle/>
          <a:p>
            <a:pPr marL="0" indent="0">
              <a:buNone/>
            </a:pPr>
            <a:r>
              <a:rPr lang="en-US" sz="980" dirty="0">
                <a:solidFill>
                  <a:srgbClr val="6B7480"/>
                </a:solidFill>
                <a:latin typeface="Yu Gothic" pitchFamily="34" charset="0"/>
                <a:ea typeface="Yu Gothic" pitchFamily="34" charset="-122"/>
                <a:cs typeface="Yu Gothic" pitchFamily="34" charset="-120"/>
              </a:rPr>
              <a:t>（A, D）＝ (35,15) (35,70) (45,35) (60,15) (60,70) (85,35) (90,15) (90,85)</a:t>
            </a:r>
            <a:endParaRPr lang="en-US" sz="980" dirty="0"/>
          </a:p>
          <a:p>
            <a:pPr marL="0" indent="0">
              <a:buNone/>
            </a:pPr>
            <a:r>
              <a:rPr lang="en-US" sz="980" dirty="0">
                <a:solidFill>
                  <a:srgbClr val="6B7480"/>
                </a:solidFill>
                <a:latin typeface="Yu Gothic" pitchFamily="34" charset="0"/>
                <a:ea typeface="Yu Gothic" pitchFamily="34" charset="-122"/>
                <a:cs typeface="Yu Gothic" pitchFamily="34" charset="-120"/>
              </a:rPr>
              <a:t>すべて学習範囲の内側で、学習16点とは異なる中間の条件。</a:t>
            </a:r>
            <a:endParaRPr lang="en-US" sz="98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424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310896">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手法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平均誤差率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線形補間</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19.99</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2.67%</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050" b="1" dirty="0">
                          <a:solidFill>
                            <a:srgbClr val="4C8C6B"/>
                          </a:solidFill>
                          <a:latin typeface="Yu Gothic" pitchFamily="34" charset="0"/>
                          <a:ea typeface="Yu Gothic" pitchFamily="34" charset="-122"/>
                          <a:cs typeface="Yu Gothic" pitchFamily="34" charset="-120"/>
                        </a:rPr>
                        <a:t>✓ 採用</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50.94</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7.33%</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ランダムフォレスト＋比率</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 A/D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27.52</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4.30%</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3" name="Chart 0"/>
          <p:cNvGraphicFramePr/>
          <p:nvPr/>
        </p:nvGraphicFramePr>
        <p:xfrm>
          <a:off x="5989320" y="3063240"/>
          <a:ext cx="278892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4" name="Chart 1"/>
          <p:cNvGraphicFramePr/>
          <p:nvPr/>
        </p:nvGraphicFramePr>
        <p:xfrm>
          <a:off x="8942832" y="3063240"/>
          <a:ext cx="278892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65" name="Shape 60"/>
          <p:cNvSpPr/>
          <p:nvPr/>
        </p:nvSpPr>
        <p:spPr>
          <a:xfrm>
            <a:off x="5989320" y="5212080"/>
            <a:ext cx="5742432" cy="1097280"/>
          </a:xfrm>
          <a:prstGeom prst="roundRect">
            <a:avLst>
              <a:gd name="adj" fmla="val 5000"/>
            </a:avLst>
          </a:prstGeom>
          <a:solidFill>
            <a:srgbClr val="F3F5F8"/>
          </a:solidFill>
          <a:ln w="12700">
            <a:solidFill>
              <a:srgbClr val="DBE0E6"/>
            </a:solidFill>
            <a:prstDash val="solid"/>
          </a:ln>
        </p:spPr>
        <p:txBody>
          <a:bodyPr/>
          <a:p/>
        </p:txBody>
      </p:sp>
      <p:sp>
        <p:nvSpPr>
          <p:cNvPr id="66" name="Text 61"/>
          <p:cNvSpPr txBox="1"/>
          <p:nvPr/>
        </p:nvSpPr>
        <p:spPr>
          <a:xfrm>
            <a:off x="6172200" y="5285232"/>
            <a:ext cx="53766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の効果</a:t>
            </a:r>
            <a:endParaRPr lang="en-US" sz="1200" dirty="0"/>
          </a:p>
        </p:txBody>
      </p:sp>
      <p:sp>
        <p:nvSpPr>
          <p:cNvPr id="67" name="Text 62"/>
          <p:cNvSpPr txBox="1"/>
          <p:nvPr/>
        </p:nvSpPr>
        <p:spPr>
          <a:xfrm>
            <a:off x="6172200" y="5577840"/>
            <a:ext cx="5376672" cy="676656"/>
          </a:xfrm>
          <a:prstGeom prst="rect">
            <a:avLst/>
          </a:prstGeom>
          <a:noFill/>
          <a:ln/>
        </p:spPr>
        <p:txBody>
          <a:bodyPr wrap="square" rtlCol="0" anchor="t"/>
          <a:lstStyle/>
          <a:p>
            <a:pPr marL="0" indent="0">
              <a:lnSpc>
                <a:spcPct val="108000"/>
              </a:lnSpc>
              <a:buNone/>
            </a:pPr>
            <a:r>
              <a:rPr lang="en-US" sz="980" dirty="0">
                <a:solidFill>
                  <a:srgbClr val="333F4E"/>
                </a:solidFill>
                <a:latin typeface="Yu Gothic" pitchFamily="34" charset="0"/>
                <a:ea typeface="Yu Gothic" pitchFamily="34" charset="-122"/>
                <a:cs typeface="Yu Gothic" pitchFamily="34" charset="-120"/>
              </a:rPr>
              <a:t>A/D を加えるとRFのMAEは約46%改善（50.94→27.52）したが、線形補間には届かなかった。比率ありRFの最大誤差は A=85m・D=35m（SEBE 679.85 → 予測 786.68、差106.83 kWh/m²）。</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09</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採用した線形補間のしくみ：近くの4配置の値から間を埋める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09 / 41</a:t>
            </a:r>
            <a:endParaRPr lang="en-US" sz="1100" dirty="0"/>
          </a:p>
        </p:txBody>
      </p:sp>
      <p:sp>
        <p:nvSpPr>
          <p:cNvPr id="9" name="Shape 7"/>
          <p:cNvSpPr/>
          <p:nvPr/>
        </p:nvSpPr>
        <p:spPr>
          <a:xfrm>
            <a:off x="457200" y="1188720"/>
            <a:ext cx="5669280" cy="5120640"/>
          </a:xfrm>
          <a:prstGeom prst="roundRect">
            <a:avLst>
              <a:gd name="adj" fmla="val 1071"/>
            </a:avLst>
          </a:prstGeom>
          <a:solidFill>
            <a:srgbClr val="F3F5F8"/>
          </a:solidFill>
          <a:ln w="12700">
            <a:solidFill>
              <a:srgbClr val="DBE0E6"/>
            </a:solidFill>
            <a:prstDash val="solid"/>
          </a:ln>
        </p:spPr>
        <p:txBody>
          <a:bodyPr/>
          <a:p/>
        </p:txBody>
      </p:sp>
      <p:sp>
        <p:nvSpPr>
          <p:cNvPr id="10" name="Text 8"/>
          <p:cNvSpPr txBox="1"/>
          <p:nvPr/>
        </p:nvSpPr>
        <p:spPr>
          <a:xfrm>
            <a:off x="640080" y="1261872"/>
            <a:ext cx="5303520" cy="274320"/>
          </a:xfrm>
          <a:prstGeom prst="rect">
            <a:avLst/>
          </a:prstGeom>
          <a:noFill/>
          <a:ln/>
        </p:spPr>
        <p:txBody>
          <a:bodyPr wrap="square" rtlCol="0" anchor="t"/>
          <a:lstStyle/>
          <a:p>
            <a:pPr marL="0" indent="0">
              <a:buNone/>
            </a:pPr>
            <a:r>
              <a:rPr lang="en-US" sz="1150" b="1" dirty="0">
                <a:solidFill>
                  <a:srgbClr val="1B2A44"/>
                </a:solidFill>
                <a:latin typeface="Yu Gothic" pitchFamily="34" charset="0"/>
                <a:ea typeface="Yu Gothic" pitchFamily="34" charset="-122"/>
                <a:cs typeface="Yu Gothic" pitchFamily="34" charset="-120"/>
              </a:rPr>
              <a:t>保存してある16配置（格子点）と、入力した条件の例</a:t>
            </a:r>
            <a:endParaRPr lang="en-US" sz="1150" dirty="0"/>
          </a:p>
        </p:txBody>
      </p:sp>
      <p:sp>
        <p:nvSpPr>
          <p:cNvPr id="11" name="Shape 9"/>
          <p:cNvSpPr/>
          <p:nvPr/>
        </p:nvSpPr>
        <p:spPr>
          <a:xfrm>
            <a:off x="1325880" y="1783080"/>
            <a:ext cx="4526280" cy="3611880"/>
          </a:xfrm>
          <a:prstGeom prst="rect">
            <a:avLst/>
          </a:prstGeom>
          <a:solidFill>
            <a:srgbClr val="FFFFFF"/>
          </a:solidFill>
          <a:ln w="12700">
            <a:solidFill>
              <a:srgbClr val="DBE0E6"/>
            </a:solidFill>
            <a:prstDash val="solid"/>
          </a:ln>
        </p:spPr>
        <p:txBody>
          <a:bodyPr/>
          <a:p/>
        </p:txBody>
      </p:sp>
      <p:sp>
        <p:nvSpPr>
          <p:cNvPr id="12" name="Shape 10"/>
          <p:cNvSpPr/>
          <p:nvPr/>
        </p:nvSpPr>
        <p:spPr>
          <a:xfrm>
            <a:off x="1756954" y="1783080"/>
            <a:ext cx="0" cy="3611880"/>
          </a:xfrm>
          <a:prstGeom prst="line">
            <a:avLst/>
          </a:prstGeom>
          <a:noFill/>
          <a:ln w="12700">
            <a:solidFill>
              <a:srgbClr val="DBE0E6"/>
            </a:solidFill>
            <a:prstDash val="dash"/>
          </a:ln>
        </p:spPr>
        <p:txBody>
          <a:bodyPr/>
          <a:p/>
        </p:txBody>
      </p:sp>
      <p:sp>
        <p:nvSpPr>
          <p:cNvPr id="13" name="Text 11"/>
          <p:cNvSpPr txBox="1"/>
          <p:nvPr/>
        </p:nvSpPr>
        <p:spPr>
          <a:xfrm>
            <a:off x="1482634"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14" name="Shape 12"/>
          <p:cNvSpPr/>
          <p:nvPr/>
        </p:nvSpPr>
        <p:spPr>
          <a:xfrm>
            <a:off x="2403566" y="1783080"/>
            <a:ext cx="0" cy="3611880"/>
          </a:xfrm>
          <a:prstGeom prst="line">
            <a:avLst/>
          </a:prstGeom>
          <a:noFill/>
          <a:ln w="12700">
            <a:solidFill>
              <a:srgbClr val="DBE0E6"/>
            </a:solidFill>
            <a:prstDash val="dash"/>
          </a:ln>
        </p:spPr>
        <p:txBody>
          <a:bodyPr/>
          <a:p/>
        </p:txBody>
      </p:sp>
      <p:sp>
        <p:nvSpPr>
          <p:cNvPr id="15" name="Text 13"/>
          <p:cNvSpPr txBox="1"/>
          <p:nvPr/>
        </p:nvSpPr>
        <p:spPr>
          <a:xfrm>
            <a:off x="2129246"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16" name="Shape 14"/>
          <p:cNvSpPr/>
          <p:nvPr/>
        </p:nvSpPr>
        <p:spPr>
          <a:xfrm>
            <a:off x="3481251" y="1783080"/>
            <a:ext cx="0" cy="3611880"/>
          </a:xfrm>
          <a:prstGeom prst="line">
            <a:avLst/>
          </a:prstGeom>
          <a:noFill/>
          <a:ln w="12700">
            <a:solidFill>
              <a:srgbClr val="DBE0E6"/>
            </a:solidFill>
            <a:prstDash val="dash"/>
          </a:ln>
        </p:spPr>
        <p:txBody>
          <a:bodyPr/>
          <a:p/>
        </p:txBody>
      </p:sp>
      <p:sp>
        <p:nvSpPr>
          <p:cNvPr id="17" name="Text 15"/>
          <p:cNvSpPr txBox="1"/>
          <p:nvPr/>
        </p:nvSpPr>
        <p:spPr>
          <a:xfrm>
            <a:off x="3206931"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18" name="Shape 16"/>
          <p:cNvSpPr/>
          <p:nvPr/>
        </p:nvSpPr>
        <p:spPr>
          <a:xfrm>
            <a:off x="5636623" y="1783080"/>
            <a:ext cx="0" cy="3611880"/>
          </a:xfrm>
          <a:prstGeom prst="line">
            <a:avLst/>
          </a:prstGeom>
          <a:noFill/>
          <a:ln w="12700">
            <a:solidFill>
              <a:srgbClr val="DBE0E6"/>
            </a:solidFill>
            <a:prstDash val="dash"/>
          </a:ln>
        </p:spPr>
        <p:txBody>
          <a:bodyPr/>
          <a:p/>
        </p:txBody>
      </p:sp>
      <p:sp>
        <p:nvSpPr>
          <p:cNvPr id="19" name="Text 17"/>
          <p:cNvSpPr txBox="1"/>
          <p:nvPr/>
        </p:nvSpPr>
        <p:spPr>
          <a:xfrm>
            <a:off x="5362303"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0" name="Shape 18"/>
          <p:cNvSpPr/>
          <p:nvPr/>
        </p:nvSpPr>
        <p:spPr>
          <a:xfrm>
            <a:off x="1325880" y="4993640"/>
            <a:ext cx="4526280" cy="0"/>
          </a:xfrm>
          <a:prstGeom prst="line">
            <a:avLst/>
          </a:prstGeom>
          <a:noFill/>
          <a:ln w="12700">
            <a:solidFill>
              <a:srgbClr val="DBE0E6"/>
            </a:solidFill>
            <a:prstDash val="dash"/>
          </a:ln>
        </p:spPr>
        <p:txBody>
          <a:bodyPr/>
          <a:p/>
        </p:txBody>
      </p:sp>
      <p:sp>
        <p:nvSpPr>
          <p:cNvPr id="21" name="Text 19"/>
          <p:cNvSpPr txBox="1"/>
          <p:nvPr/>
        </p:nvSpPr>
        <p:spPr>
          <a:xfrm>
            <a:off x="868680" y="48839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2" name="Shape 20"/>
          <p:cNvSpPr/>
          <p:nvPr/>
        </p:nvSpPr>
        <p:spPr>
          <a:xfrm>
            <a:off x="1325880" y="3990340"/>
            <a:ext cx="4526280" cy="0"/>
          </a:xfrm>
          <a:prstGeom prst="line">
            <a:avLst/>
          </a:prstGeom>
          <a:noFill/>
          <a:ln w="12700">
            <a:solidFill>
              <a:srgbClr val="DBE0E6"/>
            </a:solidFill>
            <a:prstDash val="dash"/>
          </a:ln>
        </p:spPr>
        <p:txBody>
          <a:bodyPr/>
          <a:p/>
        </p:txBody>
      </p:sp>
      <p:sp>
        <p:nvSpPr>
          <p:cNvPr id="23" name="Text 21"/>
          <p:cNvSpPr txBox="1"/>
          <p:nvPr/>
        </p:nvSpPr>
        <p:spPr>
          <a:xfrm>
            <a:off x="868680" y="38806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24" name="Shape 22"/>
          <p:cNvSpPr/>
          <p:nvPr/>
        </p:nvSpPr>
        <p:spPr>
          <a:xfrm>
            <a:off x="1325880" y="2987040"/>
            <a:ext cx="4526280" cy="0"/>
          </a:xfrm>
          <a:prstGeom prst="line">
            <a:avLst/>
          </a:prstGeom>
          <a:noFill/>
          <a:ln w="12700">
            <a:solidFill>
              <a:srgbClr val="DBE0E6"/>
            </a:solidFill>
            <a:prstDash val="dash"/>
          </a:ln>
        </p:spPr>
        <p:txBody>
          <a:bodyPr/>
          <a:p/>
        </p:txBody>
      </p:sp>
      <p:sp>
        <p:nvSpPr>
          <p:cNvPr id="25" name="Text 23"/>
          <p:cNvSpPr txBox="1"/>
          <p:nvPr/>
        </p:nvSpPr>
        <p:spPr>
          <a:xfrm>
            <a:off x="868680" y="28773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26" name="Shape 24"/>
          <p:cNvSpPr/>
          <p:nvPr/>
        </p:nvSpPr>
        <p:spPr>
          <a:xfrm>
            <a:off x="1325880" y="1983740"/>
            <a:ext cx="4526280" cy="0"/>
          </a:xfrm>
          <a:prstGeom prst="line">
            <a:avLst/>
          </a:prstGeom>
          <a:noFill/>
          <a:ln w="12700">
            <a:solidFill>
              <a:srgbClr val="DBE0E6"/>
            </a:solidFill>
            <a:prstDash val="dash"/>
          </a:ln>
        </p:spPr>
        <p:txBody>
          <a:bodyPr/>
          <a:p/>
        </p:txBody>
      </p:sp>
      <p:sp>
        <p:nvSpPr>
          <p:cNvPr id="27" name="Text 25"/>
          <p:cNvSpPr txBox="1"/>
          <p:nvPr/>
        </p:nvSpPr>
        <p:spPr>
          <a:xfrm>
            <a:off x="868680" y="18740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8" name="Text 26"/>
          <p:cNvSpPr txBox="1"/>
          <p:nvPr/>
        </p:nvSpPr>
        <p:spPr>
          <a:xfrm>
            <a:off x="1325880" y="5669280"/>
            <a:ext cx="452628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29" name="Text 27"/>
          <p:cNvSpPr txBox="1"/>
          <p:nvPr/>
        </p:nvSpPr>
        <p:spPr>
          <a:xfrm rot="16200000">
            <a:off x="274320" y="3470148"/>
            <a:ext cx="128016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30" name="Shape 28"/>
          <p:cNvSpPr/>
          <p:nvPr/>
        </p:nvSpPr>
        <p:spPr>
          <a:xfrm>
            <a:off x="1756954" y="2987040"/>
            <a:ext cx="646611" cy="1003300"/>
          </a:xfrm>
          <a:prstGeom prst="rect">
            <a:avLst/>
          </a:prstGeom>
          <a:solidFill>
            <a:srgbClr val="FBEBDA"/>
          </a:solidFill>
          <a:ln w="19050">
            <a:solidFill>
              <a:srgbClr val="E8934D"/>
            </a:solidFill>
            <a:prstDash val="solid"/>
          </a:ln>
        </p:spPr>
        <p:txBody>
          <a:bodyPr/>
          <a:p/>
        </p:txBody>
      </p:sp>
      <p:sp>
        <p:nvSpPr>
          <p:cNvPr id="31" name="Shape 29"/>
          <p:cNvSpPr/>
          <p:nvPr/>
        </p:nvSpPr>
        <p:spPr>
          <a:xfrm>
            <a:off x="1688374" y="4925060"/>
            <a:ext cx="137160" cy="137160"/>
          </a:xfrm>
          <a:prstGeom prst="rect">
            <a:avLst/>
          </a:prstGeom>
          <a:solidFill>
            <a:srgbClr val="1B2A44"/>
          </a:solidFill>
          <a:ln/>
        </p:spPr>
        <p:txBody>
          <a:bodyPr/>
          <a:p/>
        </p:txBody>
      </p:sp>
      <p:sp>
        <p:nvSpPr>
          <p:cNvPr id="32" name="Shape 30"/>
          <p:cNvSpPr/>
          <p:nvPr/>
        </p:nvSpPr>
        <p:spPr>
          <a:xfrm>
            <a:off x="1665514" y="3898900"/>
            <a:ext cx="182880" cy="182880"/>
          </a:xfrm>
          <a:prstGeom prst="rect">
            <a:avLst/>
          </a:prstGeom>
          <a:solidFill>
            <a:srgbClr val="C56A2C"/>
          </a:solidFill>
          <a:ln/>
        </p:spPr>
        <p:txBody>
          <a:bodyPr/>
          <a:p/>
        </p:txBody>
      </p:sp>
      <p:sp>
        <p:nvSpPr>
          <p:cNvPr id="33" name="Shape 31"/>
          <p:cNvSpPr/>
          <p:nvPr/>
        </p:nvSpPr>
        <p:spPr>
          <a:xfrm>
            <a:off x="1665514" y="2895600"/>
            <a:ext cx="182880" cy="182880"/>
          </a:xfrm>
          <a:prstGeom prst="rect">
            <a:avLst/>
          </a:prstGeom>
          <a:solidFill>
            <a:srgbClr val="C56A2C"/>
          </a:solidFill>
          <a:ln/>
        </p:spPr>
        <p:txBody>
          <a:bodyPr/>
          <a:p/>
        </p:txBody>
      </p:sp>
      <p:sp>
        <p:nvSpPr>
          <p:cNvPr id="34" name="Shape 32"/>
          <p:cNvSpPr/>
          <p:nvPr/>
        </p:nvSpPr>
        <p:spPr>
          <a:xfrm>
            <a:off x="1688374" y="1915160"/>
            <a:ext cx="137160" cy="137160"/>
          </a:xfrm>
          <a:prstGeom prst="rect">
            <a:avLst/>
          </a:prstGeom>
          <a:solidFill>
            <a:srgbClr val="1B2A44"/>
          </a:solidFill>
          <a:ln/>
        </p:spPr>
        <p:txBody>
          <a:bodyPr/>
          <a:p/>
        </p:txBody>
      </p:sp>
      <p:sp>
        <p:nvSpPr>
          <p:cNvPr id="35" name="Shape 33"/>
          <p:cNvSpPr/>
          <p:nvPr/>
        </p:nvSpPr>
        <p:spPr>
          <a:xfrm>
            <a:off x="2334986" y="4925060"/>
            <a:ext cx="137160" cy="137160"/>
          </a:xfrm>
          <a:prstGeom prst="rect">
            <a:avLst/>
          </a:prstGeom>
          <a:solidFill>
            <a:srgbClr val="1B2A44"/>
          </a:solidFill>
          <a:ln/>
        </p:spPr>
        <p:txBody>
          <a:bodyPr/>
          <a:p/>
        </p:txBody>
      </p:sp>
      <p:sp>
        <p:nvSpPr>
          <p:cNvPr id="36" name="Shape 34"/>
          <p:cNvSpPr/>
          <p:nvPr/>
        </p:nvSpPr>
        <p:spPr>
          <a:xfrm>
            <a:off x="2312126" y="3898900"/>
            <a:ext cx="182880" cy="182880"/>
          </a:xfrm>
          <a:prstGeom prst="rect">
            <a:avLst/>
          </a:prstGeom>
          <a:solidFill>
            <a:srgbClr val="C56A2C"/>
          </a:solidFill>
          <a:ln/>
        </p:spPr>
        <p:txBody>
          <a:bodyPr/>
          <a:p/>
        </p:txBody>
      </p:sp>
      <p:sp>
        <p:nvSpPr>
          <p:cNvPr id="37" name="Shape 35"/>
          <p:cNvSpPr/>
          <p:nvPr/>
        </p:nvSpPr>
        <p:spPr>
          <a:xfrm>
            <a:off x="2312126" y="2895600"/>
            <a:ext cx="182880" cy="182880"/>
          </a:xfrm>
          <a:prstGeom prst="rect">
            <a:avLst/>
          </a:prstGeom>
          <a:solidFill>
            <a:srgbClr val="C56A2C"/>
          </a:solidFill>
          <a:ln/>
        </p:spPr>
        <p:txBody>
          <a:bodyPr/>
          <a:p/>
        </p:txBody>
      </p:sp>
      <p:sp>
        <p:nvSpPr>
          <p:cNvPr id="38" name="Shape 36"/>
          <p:cNvSpPr/>
          <p:nvPr/>
        </p:nvSpPr>
        <p:spPr>
          <a:xfrm>
            <a:off x="2334986" y="1915160"/>
            <a:ext cx="137160" cy="137160"/>
          </a:xfrm>
          <a:prstGeom prst="rect">
            <a:avLst/>
          </a:prstGeom>
          <a:solidFill>
            <a:srgbClr val="1B2A44"/>
          </a:solidFill>
          <a:ln/>
        </p:spPr>
        <p:txBody>
          <a:bodyPr/>
          <a:p/>
        </p:txBody>
      </p:sp>
      <p:sp>
        <p:nvSpPr>
          <p:cNvPr id="39" name="Shape 37"/>
          <p:cNvSpPr/>
          <p:nvPr/>
        </p:nvSpPr>
        <p:spPr>
          <a:xfrm>
            <a:off x="3412671" y="4925060"/>
            <a:ext cx="137160" cy="137160"/>
          </a:xfrm>
          <a:prstGeom prst="rect">
            <a:avLst/>
          </a:prstGeom>
          <a:solidFill>
            <a:srgbClr val="1B2A44"/>
          </a:solidFill>
          <a:ln/>
        </p:spPr>
        <p:txBody>
          <a:bodyPr/>
          <a:p/>
        </p:txBody>
      </p:sp>
      <p:sp>
        <p:nvSpPr>
          <p:cNvPr id="40" name="Shape 38"/>
          <p:cNvSpPr/>
          <p:nvPr/>
        </p:nvSpPr>
        <p:spPr>
          <a:xfrm>
            <a:off x="3412671" y="3921760"/>
            <a:ext cx="137160" cy="137160"/>
          </a:xfrm>
          <a:prstGeom prst="rect">
            <a:avLst/>
          </a:prstGeom>
          <a:solidFill>
            <a:srgbClr val="1B2A44"/>
          </a:solidFill>
          <a:ln/>
        </p:spPr>
        <p:txBody>
          <a:bodyPr/>
          <a:p/>
        </p:txBody>
      </p:sp>
      <p:sp>
        <p:nvSpPr>
          <p:cNvPr id="41" name="Shape 39"/>
          <p:cNvSpPr/>
          <p:nvPr/>
        </p:nvSpPr>
        <p:spPr>
          <a:xfrm>
            <a:off x="3412671" y="2918460"/>
            <a:ext cx="137160" cy="137160"/>
          </a:xfrm>
          <a:prstGeom prst="rect">
            <a:avLst/>
          </a:prstGeom>
          <a:solidFill>
            <a:srgbClr val="1B2A44"/>
          </a:solidFill>
          <a:ln/>
        </p:spPr>
        <p:txBody>
          <a:bodyPr/>
          <a:p/>
        </p:txBody>
      </p:sp>
      <p:sp>
        <p:nvSpPr>
          <p:cNvPr id="42" name="Shape 40"/>
          <p:cNvSpPr/>
          <p:nvPr/>
        </p:nvSpPr>
        <p:spPr>
          <a:xfrm>
            <a:off x="3412671" y="1915160"/>
            <a:ext cx="137160" cy="137160"/>
          </a:xfrm>
          <a:prstGeom prst="rect">
            <a:avLst/>
          </a:prstGeom>
          <a:solidFill>
            <a:srgbClr val="1B2A44"/>
          </a:solidFill>
          <a:ln/>
        </p:spPr>
        <p:txBody>
          <a:bodyPr/>
          <a:p/>
        </p:txBody>
      </p:sp>
      <p:sp>
        <p:nvSpPr>
          <p:cNvPr id="43" name="Shape 41"/>
          <p:cNvSpPr/>
          <p:nvPr/>
        </p:nvSpPr>
        <p:spPr>
          <a:xfrm>
            <a:off x="5568043" y="4925060"/>
            <a:ext cx="137160" cy="137160"/>
          </a:xfrm>
          <a:prstGeom prst="rect">
            <a:avLst/>
          </a:prstGeom>
          <a:solidFill>
            <a:srgbClr val="1B2A44"/>
          </a:solidFill>
          <a:ln/>
        </p:spPr>
        <p:txBody>
          <a:bodyPr/>
          <a:p/>
        </p:txBody>
      </p:sp>
      <p:sp>
        <p:nvSpPr>
          <p:cNvPr id="44" name="Shape 42"/>
          <p:cNvSpPr/>
          <p:nvPr/>
        </p:nvSpPr>
        <p:spPr>
          <a:xfrm>
            <a:off x="5568043" y="3921760"/>
            <a:ext cx="137160" cy="137160"/>
          </a:xfrm>
          <a:prstGeom prst="rect">
            <a:avLst/>
          </a:prstGeom>
          <a:solidFill>
            <a:srgbClr val="1B2A44"/>
          </a:solidFill>
          <a:ln/>
        </p:spPr>
        <p:txBody>
          <a:bodyPr/>
          <a:p/>
        </p:txBody>
      </p:sp>
      <p:sp>
        <p:nvSpPr>
          <p:cNvPr id="45" name="Shape 43"/>
          <p:cNvSpPr/>
          <p:nvPr/>
        </p:nvSpPr>
        <p:spPr>
          <a:xfrm>
            <a:off x="5568043" y="2918460"/>
            <a:ext cx="137160" cy="137160"/>
          </a:xfrm>
          <a:prstGeom prst="rect">
            <a:avLst/>
          </a:prstGeom>
          <a:solidFill>
            <a:srgbClr val="1B2A44"/>
          </a:solidFill>
          <a:ln/>
        </p:spPr>
        <p:txBody>
          <a:bodyPr/>
          <a:p/>
        </p:txBody>
      </p:sp>
      <p:sp>
        <p:nvSpPr>
          <p:cNvPr id="46" name="Shape 44"/>
          <p:cNvSpPr/>
          <p:nvPr/>
        </p:nvSpPr>
        <p:spPr>
          <a:xfrm>
            <a:off x="5568043" y="1915160"/>
            <a:ext cx="137160" cy="137160"/>
          </a:xfrm>
          <a:prstGeom prst="rect">
            <a:avLst/>
          </a:prstGeom>
          <a:solidFill>
            <a:srgbClr val="1B2A44"/>
          </a:solidFill>
          <a:ln/>
        </p:spPr>
        <p:txBody>
          <a:bodyPr/>
          <a:p/>
        </p:txBody>
      </p:sp>
      <p:sp>
        <p:nvSpPr>
          <p:cNvPr id="47" name="Shape 45"/>
          <p:cNvSpPr/>
          <p:nvPr/>
        </p:nvSpPr>
        <p:spPr>
          <a:xfrm>
            <a:off x="1792224" y="3616401"/>
            <a:ext cx="274320" cy="274320"/>
          </a:xfrm>
          <a:prstGeom prst="star5">
            <a:avLst/>
          </a:prstGeom>
          <a:solidFill>
            <a:srgbClr val="B04A3F"/>
          </a:solidFill>
          <a:ln w="9525">
            <a:solidFill>
              <a:srgbClr val="FFFFFF"/>
            </a:solidFill>
            <a:prstDash val="solid"/>
          </a:ln>
        </p:spPr>
        <p:txBody>
          <a:bodyPr/>
          <a:p/>
        </p:txBody>
      </p:sp>
      <p:sp>
        <p:nvSpPr>
          <p:cNvPr id="48" name="Shape 46"/>
          <p:cNvSpPr/>
          <p:nvPr/>
        </p:nvSpPr>
        <p:spPr>
          <a:xfrm>
            <a:off x="2084832" y="3753561"/>
            <a:ext cx="685800" cy="0"/>
          </a:xfrm>
          <a:prstGeom prst="line">
            <a:avLst/>
          </a:prstGeom>
          <a:noFill/>
          <a:ln w="12700">
            <a:solidFill>
              <a:srgbClr val="B04A3F"/>
            </a:solidFill>
            <a:prstDash val="solid"/>
          </a:ln>
        </p:spPr>
        <p:txBody>
          <a:bodyPr/>
          <a:p/>
        </p:txBody>
      </p:sp>
      <p:sp>
        <p:nvSpPr>
          <p:cNvPr id="49" name="Text 47"/>
          <p:cNvSpPr txBox="1"/>
          <p:nvPr/>
        </p:nvSpPr>
        <p:spPr>
          <a:xfrm>
            <a:off x="2798064" y="3634689"/>
            <a:ext cx="173736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入力 A 55.9m・D 14m</a:t>
            </a:r>
            <a:endParaRPr lang="en-US" sz="1000" dirty="0"/>
          </a:p>
        </p:txBody>
      </p:sp>
      <p:sp>
        <p:nvSpPr>
          <p:cNvPr id="50" name="Text 48"/>
          <p:cNvSpPr txBox="1"/>
          <p:nvPr/>
        </p:nvSpPr>
        <p:spPr>
          <a:xfrm>
            <a:off x="640080" y="5989320"/>
            <a:ext cx="5303520" cy="256032"/>
          </a:xfrm>
          <a:prstGeom prst="rect">
            <a:avLst/>
          </a:prstGeom>
          <a:noFill/>
          <a:ln/>
        </p:spPr>
        <p:txBody>
          <a:bodyPr wrap="square" rtlCol="0" anchor="t"/>
          <a:lstStyle/>
          <a:p>
            <a:pPr marL="0" indent="0">
              <a:buNone/>
            </a:pPr>
            <a:r>
              <a:rPr lang="en-US" sz="950" dirty="0">
                <a:solidFill>
                  <a:srgbClr val="1B2A44"/>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保存した16配置　</a:t>
            </a:r>
            <a:r>
              <a:rPr lang="en-US" sz="950" dirty="0">
                <a:solidFill>
                  <a:srgbClr val="C56A2C"/>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入力を囲む4配置　</a:t>
            </a:r>
            <a:r>
              <a:rPr lang="en-US" sz="950" dirty="0">
                <a:solidFill>
                  <a:srgbClr val="B04A3F"/>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a:t>
            </a:r>
            <a:endParaRPr lang="en-US" sz="950" dirty="0"/>
          </a:p>
        </p:txBody>
      </p:sp>
      <p:sp>
        <p:nvSpPr>
          <p:cNvPr id="51" name="Shape 49"/>
          <p:cNvSpPr/>
          <p:nvPr/>
        </p:nvSpPr>
        <p:spPr>
          <a:xfrm>
            <a:off x="6355080" y="1188720"/>
            <a:ext cx="310896" cy="310896"/>
          </a:xfrm>
          <a:prstGeom prst="ellipse">
            <a:avLst/>
          </a:prstGeom>
          <a:solidFill>
            <a:srgbClr val="1F6F78"/>
          </a:solidFill>
          <a:ln/>
        </p:spPr>
        <p:txBody>
          <a:bodyPr/>
          <a:p/>
        </p:txBody>
      </p:sp>
      <p:sp>
        <p:nvSpPr>
          <p:cNvPr id="52" name="Text 50"/>
          <p:cNvSpPr txBox="1"/>
          <p:nvPr/>
        </p:nvSpPr>
        <p:spPr>
          <a:xfrm>
            <a:off x="63550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53" name="Text 51"/>
          <p:cNvSpPr txBox="1"/>
          <p:nvPr/>
        </p:nvSpPr>
        <p:spPr>
          <a:xfrm>
            <a:off x="6739128" y="118872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入力を囲む4つの格子点を探す</a:t>
            </a:r>
            <a:endParaRPr lang="en-US" sz="1200" dirty="0"/>
          </a:p>
        </p:txBody>
      </p:sp>
      <p:sp>
        <p:nvSpPr>
          <p:cNvPr id="54" name="Text 52"/>
          <p:cNvSpPr txBox="1"/>
          <p:nvPr/>
        </p:nvSpPr>
        <p:spPr>
          <a:xfrm>
            <a:off x="6739128" y="151790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 は50〜75mの間、D は10〜25mの間 → 周りの4配置を使う</a:t>
            </a:r>
            <a:endParaRPr lang="en-US" sz="1000" dirty="0"/>
          </a:p>
        </p:txBody>
      </p:sp>
      <p:sp>
        <p:nvSpPr>
          <p:cNvPr id="55" name="Shape 53"/>
          <p:cNvSpPr/>
          <p:nvPr/>
        </p:nvSpPr>
        <p:spPr>
          <a:xfrm>
            <a:off x="6355080" y="1920240"/>
            <a:ext cx="310896" cy="310896"/>
          </a:xfrm>
          <a:prstGeom prst="ellipse">
            <a:avLst/>
          </a:prstGeom>
          <a:solidFill>
            <a:srgbClr val="1F6F78"/>
          </a:solidFill>
          <a:ln/>
        </p:spPr>
        <p:txBody>
          <a:bodyPr/>
          <a:p/>
        </p:txBody>
      </p:sp>
      <p:sp>
        <p:nvSpPr>
          <p:cNvPr id="56" name="Text 54"/>
          <p:cNvSpPr txBox="1"/>
          <p:nvPr/>
        </p:nvSpPr>
        <p:spPr>
          <a:xfrm>
            <a:off x="6355080" y="1920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57" name="Text 55"/>
          <p:cNvSpPr txBox="1"/>
          <p:nvPr/>
        </p:nvSpPr>
        <p:spPr>
          <a:xfrm>
            <a:off x="6739128" y="1920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近さに応じた重みを計算する</a:t>
            </a:r>
            <a:endParaRPr lang="en-US" sz="1200" dirty="0"/>
          </a:p>
        </p:txBody>
      </p:sp>
      <p:sp>
        <p:nvSpPr>
          <p:cNvPr id="58" name="Text 56"/>
          <p:cNvSpPr txBox="1"/>
          <p:nvPr/>
        </p:nvSpPr>
        <p:spPr>
          <a:xfrm>
            <a:off x="6739128" y="224942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A方向：(55.9−50)÷25＝0.236　　D方向：(14−10)÷15＝0.267</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739128" y="2578608"/>
          <a:ext cx="4992624" cy="914400"/>
        </p:xfrm>
        <a:graphic>
          <a:graphicData uri="http://schemas.openxmlformats.org/drawingml/2006/table">
            <a:tbl>
              <a:tblPr/>
              <a:tblGrid>
                <a:gridCol w="123444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格子点 (A, D)</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重みの計算</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0" name="Text 57"/>
          <p:cNvSpPr txBox="1"/>
          <p:nvPr/>
        </p:nvSpPr>
        <p:spPr>
          <a:xfrm>
            <a:off x="6739128" y="3886200"/>
            <a:ext cx="4992624" cy="228600"/>
          </a:xfrm>
          <a:prstGeom prst="rect">
            <a:avLst/>
          </a:prstGeom>
          <a:noFill/>
          <a:ln/>
        </p:spPr>
        <p:txBody>
          <a:bodyPr wrap="square" rtlCol="0" anchor="t"/>
          <a:lstStyle/>
          <a:p>
            <a:pPr marL="0" indent="0">
              <a:buNone/>
            </a:pPr>
            <a:r>
              <a:rPr lang="en-US" sz="900" dirty="0">
                <a:solidFill>
                  <a:srgbClr val="6B7480"/>
                </a:solidFill>
                <a:latin typeface="Yu Gothic" pitchFamily="34" charset="0"/>
                <a:ea typeface="Yu Gothic" pitchFamily="34" charset="-122"/>
                <a:cs typeface="Yu Gothic" pitchFamily="34" charset="-120"/>
              </a:rPr>
              <a:t>近い格子点ほど重みが大きく、4つの合計は1</a:t>
            </a:r>
            <a:endParaRPr lang="en-US" sz="900" dirty="0"/>
          </a:p>
        </p:txBody>
      </p:sp>
      <p:sp>
        <p:nvSpPr>
          <p:cNvPr id="61" name="Shape 58"/>
          <p:cNvSpPr/>
          <p:nvPr/>
        </p:nvSpPr>
        <p:spPr>
          <a:xfrm>
            <a:off x="6355080" y="4206240"/>
            <a:ext cx="310896" cy="310896"/>
          </a:xfrm>
          <a:prstGeom prst="ellipse">
            <a:avLst/>
          </a:prstGeom>
          <a:solidFill>
            <a:srgbClr val="1F6F78"/>
          </a:solidFill>
          <a:ln/>
        </p:spPr>
        <p:txBody>
          <a:bodyPr/>
          <a:p/>
        </p:txBody>
      </p:sp>
      <p:sp>
        <p:nvSpPr>
          <p:cNvPr id="62" name="Text 59"/>
          <p:cNvSpPr txBox="1"/>
          <p:nvPr/>
        </p:nvSpPr>
        <p:spPr>
          <a:xfrm>
            <a:off x="6355080" y="4206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63" name="Text 60"/>
          <p:cNvSpPr txBox="1"/>
          <p:nvPr/>
        </p:nvSpPr>
        <p:spPr>
          <a:xfrm>
            <a:off x="6739128" y="4206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高さ帯ごとに重み付き平均する</a:t>
            </a:r>
            <a:endParaRPr lang="en-US" sz="1200" dirty="0"/>
          </a:p>
        </p:txBody>
      </p:sp>
      <p:sp>
        <p:nvSpPr>
          <p:cNvPr id="64" name="Shape 61"/>
          <p:cNvSpPr/>
          <p:nvPr/>
        </p:nvSpPr>
        <p:spPr>
          <a:xfrm>
            <a:off x="6739128" y="4544568"/>
            <a:ext cx="4992624" cy="566928"/>
          </a:xfrm>
          <a:prstGeom prst="roundRect">
            <a:avLst>
              <a:gd name="adj" fmla="val 9677"/>
            </a:avLst>
          </a:prstGeom>
          <a:solidFill>
            <a:srgbClr val="1B2A44"/>
          </a:solidFill>
          <a:ln/>
        </p:spPr>
        <p:txBody>
          <a:bodyPr/>
          <a:p/>
        </p:txBody>
      </p:sp>
      <p:sp>
        <p:nvSpPr>
          <p:cNvPr id="65" name="Text 62"/>
          <p:cNvSpPr txBox="1"/>
          <p:nvPr/>
        </p:nvSpPr>
        <p:spPr>
          <a:xfrm>
            <a:off x="6812280" y="4544568"/>
            <a:ext cx="4846320" cy="566928"/>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予測値 ＝ 0.560×V(50,10) ＋ 0.173×V(75,10) ＋ 0.204×V(50,25) ＋ 0.063×V(75,25)</a:t>
            </a:r>
            <a:endParaRPr lang="en-US" sz="1050" dirty="0"/>
          </a:p>
        </p:txBody>
      </p:sp>
      <p:sp>
        <p:nvSpPr>
          <p:cNvPr id="66" name="Text 63"/>
          <p:cNvSpPr txBox="1"/>
          <p:nvPr/>
        </p:nvSpPr>
        <p:spPr>
          <a:xfrm>
            <a:off x="6739128" y="5148072"/>
            <a:ext cx="4992624" cy="274320"/>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V ＝ その格子点の保存値。5つの高さ帯で別々に計算し、5つの予測値を出す。</a:t>
            </a:r>
            <a:endParaRPr lang="en-US" sz="950" dirty="0"/>
          </a:p>
        </p:txBody>
      </p:sp>
      <p:sp>
        <p:nvSpPr>
          <p:cNvPr id="67" name="Shape 64"/>
          <p:cNvSpPr/>
          <p:nvPr/>
        </p:nvSpPr>
        <p:spPr>
          <a:xfrm>
            <a:off x="6355080" y="5486400"/>
            <a:ext cx="5376672" cy="822960"/>
          </a:xfrm>
          <a:prstGeom prst="roundRect">
            <a:avLst>
              <a:gd name="adj" fmla="val 6667"/>
            </a:avLst>
          </a:prstGeom>
          <a:solidFill>
            <a:srgbClr val="FBEBDA"/>
          </a:solidFill>
          <a:ln w="12700">
            <a:solidFill>
              <a:srgbClr val="E8934D"/>
            </a:solidFill>
            <a:prstDash val="solid"/>
          </a:ln>
        </p:spPr>
        <p:txBody>
          <a:bodyPr/>
          <a:p/>
        </p:txBody>
      </p:sp>
      <p:sp>
        <p:nvSpPr>
          <p:cNvPr id="68" name="Text 65"/>
          <p:cNvSpPr txBox="1"/>
          <p:nvPr/>
        </p:nvSpPr>
        <p:spPr>
          <a:xfrm>
            <a:off x="6519672" y="5532120"/>
            <a:ext cx="5102352" cy="731520"/>
          </a:xfrm>
          <a:prstGeom prst="rect">
            <a:avLst/>
          </a:prstGeom>
          <a:noFill/>
          <a:ln/>
        </p:spPr>
        <p:txBody>
          <a:bodyPr wrap="square" rtlCol="0" anchor="ctr"/>
          <a:lstStyle/>
          <a:p>
            <a:pPr marL="0" indent="0">
              <a:buNone/>
            </a:pPr>
            <a:r>
              <a:rPr lang="en-US" sz="1000" b="1" dirty="0">
                <a:solidFill>
                  <a:srgbClr val="C56A2C"/>
                </a:solidFill>
                <a:latin typeface="Yu Gothic" pitchFamily="34" charset="0"/>
                <a:ea typeface="Yu Gothic" pitchFamily="34" charset="-122"/>
                <a:cs typeface="Yu Gothic" pitchFamily="34" charset="-120"/>
              </a:rPr>
              <a:t>「学習」との違い：</a:t>
            </a:r>
            <a:r>
              <a:rPr lang="en-US" sz="1000" dirty="0">
                <a:solidFill>
                  <a:srgbClr val="333F4E"/>
                </a:solidFill>
                <a:latin typeface="Yu Gothic" pitchFamily="34" charset="0"/>
                <a:ea typeface="Yu Gothic" pitchFamily="34" charset="-122"/>
                <a:cs typeface="Yu Gothic" pitchFamily="34" charset="-120"/>
              </a:rPr>
              <a:t>係数を学習するのではなく、16配置の値を表として保存し、入力のたびに近い4点から計算する。2,500個を1つずつ学習するわけでもない。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テスト12パターン：未使用の条件でも同程度の精度</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10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手法と設定を固定したうえで、学習にも検証にも使っていない12条件で最終確認を行った。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943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高さ ＼ 距離</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近い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中間</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遠い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44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32</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57</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39</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61</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55</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70</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73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58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84</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93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0" name="Text 8"/>
          <p:cNvSpPr txBox="1"/>
          <p:nvPr/>
        </p:nvSpPr>
        <p:spPr>
          <a:xfrm>
            <a:off x="457200" y="3794760"/>
            <a:ext cx="59436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単位：m　／　高さ4区分 × 距離3区分の各マスから1点ずつ</a:t>
            </a:r>
            <a:endParaRPr lang="en-US" sz="950" dirty="0"/>
          </a:p>
        </p:txBody>
      </p:sp>
      <p:sp>
        <p:nvSpPr>
          <p:cNvPr id="12" name="Shape 9"/>
          <p:cNvSpPr/>
          <p:nvPr/>
        </p:nvSpPr>
        <p:spPr>
          <a:xfrm>
            <a:off x="667512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3" name="Text 10"/>
          <p:cNvSpPr txBox="1"/>
          <p:nvPr/>
        </p:nvSpPr>
        <p:spPr>
          <a:xfrm>
            <a:off x="681228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MAE</a:t>
            </a:r>
            <a:endParaRPr lang="en-US" sz="1050" dirty="0"/>
          </a:p>
        </p:txBody>
      </p:sp>
      <p:sp>
        <p:nvSpPr>
          <p:cNvPr id="14" name="Text 11"/>
          <p:cNvSpPr txBox="1"/>
          <p:nvPr/>
        </p:nvSpPr>
        <p:spPr>
          <a:xfrm>
            <a:off x="681228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18.40</a:t>
            </a:r>
            <a:r>
              <a:rPr lang="en-US" sz="1100" b="1" dirty="0">
                <a:solidFill>
                  <a:srgbClr val="1B2A44"/>
                </a:solidFill>
                <a:latin typeface="Yu Gothic" pitchFamily="34" charset="0"/>
                <a:ea typeface="Yu Gothic" pitchFamily="34" charset="-122"/>
                <a:cs typeface="Yu Gothic" pitchFamily="34" charset="-120"/>
              </a:rPr>
              <a:t> kWh/m²</a:t>
            </a:r>
            <a:endParaRPr lang="en-US" sz="1100" dirty="0"/>
          </a:p>
        </p:txBody>
      </p:sp>
      <p:sp>
        <p:nvSpPr>
          <p:cNvPr id="15" name="Shape 12"/>
          <p:cNvSpPr/>
          <p:nvPr/>
        </p:nvSpPr>
        <p:spPr>
          <a:xfrm>
            <a:off x="923544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6" name="Text 13"/>
          <p:cNvSpPr txBox="1"/>
          <p:nvPr/>
        </p:nvSpPr>
        <p:spPr>
          <a:xfrm>
            <a:off x="937260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平均誤差率</a:t>
            </a:r>
            <a:endParaRPr lang="en-US" sz="1050" dirty="0"/>
          </a:p>
        </p:txBody>
      </p:sp>
      <p:sp>
        <p:nvSpPr>
          <p:cNvPr id="17" name="Text 14"/>
          <p:cNvSpPr txBox="1"/>
          <p:nvPr/>
        </p:nvSpPr>
        <p:spPr>
          <a:xfrm>
            <a:off x="937260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2.42</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18" name="Shape 15"/>
          <p:cNvSpPr/>
          <p:nvPr/>
        </p:nvSpPr>
        <p:spPr>
          <a:xfrm>
            <a:off x="667512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9" name="Text 16"/>
          <p:cNvSpPr txBox="1"/>
          <p:nvPr/>
        </p:nvSpPr>
        <p:spPr>
          <a:xfrm>
            <a:off x="681228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最大誤差率</a:t>
            </a:r>
            <a:endParaRPr lang="en-US" sz="1050" dirty="0"/>
          </a:p>
        </p:txBody>
      </p:sp>
      <p:sp>
        <p:nvSpPr>
          <p:cNvPr id="20" name="Text 17"/>
          <p:cNvSpPr txBox="1"/>
          <p:nvPr/>
        </p:nvSpPr>
        <p:spPr>
          <a:xfrm>
            <a:off x="681228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5.36</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21" name="Shape 18"/>
          <p:cNvSpPr/>
          <p:nvPr/>
        </p:nvSpPr>
        <p:spPr>
          <a:xfrm>
            <a:off x="923544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22" name="Text 19"/>
          <p:cNvSpPr txBox="1"/>
          <p:nvPr/>
        </p:nvSpPr>
        <p:spPr>
          <a:xfrm>
            <a:off x="937260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SEBEより低く予測</a:t>
            </a:r>
            <a:endParaRPr lang="en-US" sz="1050" dirty="0"/>
          </a:p>
        </p:txBody>
      </p:sp>
      <p:sp>
        <p:nvSpPr>
          <p:cNvPr id="23" name="Text 20"/>
          <p:cNvSpPr txBox="1"/>
          <p:nvPr/>
        </p:nvSpPr>
        <p:spPr>
          <a:xfrm>
            <a:off x="937260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11/12</a:t>
            </a:r>
            <a:r>
              <a:rPr lang="en-US" sz="1100" b="1" dirty="0">
                <a:solidFill>
                  <a:srgbClr val="1B2A44"/>
                </a:solidFill>
                <a:latin typeface="Yu Gothic" pitchFamily="34" charset="0"/>
                <a:ea typeface="Yu Gothic" pitchFamily="34" charset="-122"/>
                <a:cs typeface="Yu Gothic" pitchFamily="34" charset="-120"/>
              </a:rPr>
              <a:t> 件</a:t>
            </a:r>
            <a:endParaRPr lang="en-US" sz="1100" dirty="0"/>
          </a:p>
        </p:txBody>
      </p:sp>
      <p:sp>
        <p:nvSpPr>
          <p:cNvPr id="24" name="Shape 21"/>
          <p:cNvSpPr/>
          <p:nvPr/>
        </p:nvSpPr>
        <p:spPr>
          <a:xfrm>
            <a:off x="457200" y="4206240"/>
            <a:ext cx="3657600" cy="2103120"/>
          </a:xfrm>
          <a:prstGeom prst="roundRect">
            <a:avLst>
              <a:gd name="adj" fmla="val 2609"/>
            </a:avLst>
          </a:prstGeom>
          <a:solidFill>
            <a:srgbClr val="F3F5F8"/>
          </a:solidFill>
          <a:ln w="12700">
            <a:solidFill>
              <a:srgbClr val="DBE0E6"/>
            </a:solidFill>
            <a:prstDash val="solid"/>
          </a:ln>
        </p:spPr>
        <p:txBody>
          <a:bodyPr/>
          <a:p/>
        </p:txBody>
      </p:sp>
      <p:sp>
        <p:nvSpPr>
          <p:cNvPr id="25" name="Text 22"/>
          <p:cNvSpPr txBox="1"/>
          <p:nvPr/>
        </p:nvSpPr>
        <p:spPr>
          <a:xfrm>
            <a:off x="640080" y="4279392"/>
            <a:ext cx="329184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選び方</a:t>
            </a:r>
            <a:endParaRPr lang="en-US" sz="1200" dirty="0"/>
          </a:p>
        </p:txBody>
      </p:sp>
      <p:sp>
        <p:nvSpPr>
          <p:cNvPr id="26" name="Text 23"/>
          <p:cNvSpPr txBox="1"/>
          <p:nvPr/>
        </p:nvSpPr>
        <p:spPr>
          <a:xfrm>
            <a:off x="640080" y="4572000"/>
            <a:ext cx="3291840"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各マスから1点ずつ無作為に選び（乱数シード20260912）、低い〜高い・近い〜遠いを偏りなくカバーした。学習16点・検証8点とは重複しない。手法と係数はテスト前に固定し、結果を見た後の変更はしていない。</a:t>
            </a:r>
            <a:endParaRPr lang="en-US" sz="1000" dirty="0"/>
          </a:p>
        </p:txBody>
      </p:sp>
      <p:graphicFrame>
        <p:nvGraphicFramePr>
          <p:cNvPr id="27" name="Chart 0"/>
          <p:cNvGraphicFramePr/>
          <p:nvPr/>
        </p:nvGraphicFramePr>
        <p:xfrm>
          <a:off x="4297680" y="4114800"/>
          <a:ext cx="37033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Shape 24"/>
          <p:cNvSpPr/>
          <p:nvPr/>
        </p:nvSpPr>
        <p:spPr>
          <a:xfrm>
            <a:off x="8183880" y="4206240"/>
            <a:ext cx="3547872" cy="2103120"/>
          </a:xfrm>
          <a:prstGeom prst="roundRect">
            <a:avLst>
              <a:gd name="adj" fmla="val 2609"/>
            </a:avLst>
          </a:prstGeom>
          <a:solidFill>
            <a:srgbClr val="E1EEE7"/>
          </a:solidFill>
          <a:ln w="12700">
            <a:solidFill>
              <a:srgbClr val="4C8C6B"/>
            </a:solidFill>
            <a:prstDash val="solid"/>
          </a:ln>
        </p:spPr>
        <p:txBody>
          <a:bodyPr/>
          <a:p/>
        </p:txBody>
      </p:sp>
      <p:sp>
        <p:nvSpPr>
          <p:cNvPr id="29" name="Text 25"/>
          <p:cNvSpPr txBox="1"/>
          <p:nvPr/>
        </p:nvSpPr>
        <p:spPr>
          <a:xfrm>
            <a:off x="8366760" y="4279392"/>
            <a:ext cx="31821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判定</a:t>
            </a:r>
            <a:endParaRPr lang="en-US" sz="1200" dirty="0"/>
          </a:p>
        </p:txBody>
      </p:sp>
      <p:sp>
        <p:nvSpPr>
          <p:cNvPr id="30" name="Text 26"/>
          <p:cNvSpPr txBox="1"/>
          <p:nvPr/>
        </p:nvSpPr>
        <p:spPr>
          <a:xfrm>
            <a:off x="8366760" y="4572000"/>
            <a:ext cx="3182112"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検証時（MAE 19.99・2.67%）と同じ水準の精度を、一度も使っていない12条件で確認できた。一方、12件中11件でSEBEより低めに予測しており、やや過小評価の傾向がある。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11</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高さ別にみた精度：屋根付近の30〜40mで誤差が大きい</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11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中央建物の南面を高さ10mごと（0〜50m）に分け、検証8パターンの誤差を高さ帯別に集計した。</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4114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壁の高さ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最大誤差率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0〜10m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15.07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3.41%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10〜20m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24.23</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11.85%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20〜30m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20.10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6.70%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30〜40m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38.56</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15.08%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extLst>
                  <a:ext uri="{0D108BD9-81ED-4DB2-BD59-A6C34878D82A}">
                    <a16:rowId xmlns:a16="http://schemas.microsoft.com/office/drawing/2014/main" val="10004"/>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40〜50m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27.09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14.37%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Chart 0"/>
          <p:cNvGraphicFramePr/>
          <p:nvPr/>
        </p:nvGraphicFramePr>
        <p:xfrm>
          <a:off x="4800600" y="1508760"/>
          <a:ext cx="342900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302752" y="1508760"/>
          <a:ext cx="34290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 8"/>
          <p:cNvSpPr/>
          <p:nvPr/>
        </p:nvSpPr>
        <p:spPr>
          <a:xfrm>
            <a:off x="457200" y="4526280"/>
            <a:ext cx="7406640" cy="1554480"/>
          </a:xfrm>
          <a:prstGeom prst="roundRect">
            <a:avLst>
              <a:gd name="adj" fmla="val 3529"/>
            </a:avLst>
          </a:prstGeom>
          <a:solidFill>
            <a:srgbClr val="F5E2DF"/>
          </a:solidFill>
          <a:ln w="12700">
            <a:solidFill>
              <a:srgbClr val="B04A3F"/>
            </a:solidFill>
            <a:prstDash val="solid"/>
          </a:ln>
        </p:spPr>
        <p:txBody>
          <a:bodyPr/>
          <a:p/>
        </p:txBody>
      </p:sp>
      <p:sp>
        <p:nvSpPr>
          <p:cNvPr id="14" name="Text 9"/>
          <p:cNvSpPr txBox="1"/>
          <p:nvPr/>
        </p:nvSpPr>
        <p:spPr>
          <a:xfrm>
            <a:off x="640080" y="4599432"/>
            <a:ext cx="7040880" cy="274320"/>
          </a:xfrm>
          <a:prstGeom prst="rect">
            <a:avLst/>
          </a:prstGeom>
          <a:noFill/>
          <a:ln/>
        </p:spPr>
        <p:txBody>
          <a:bodyPr wrap="square" rtlCol="0" anchor="t"/>
          <a:lstStyle/>
          <a:p>
            <a:pPr marL="0" indent="0">
              <a:buNone/>
            </a:pPr>
            <a:r>
              <a:rPr lang="en-US" sz="1200" b="1" dirty="0">
                <a:solidFill>
                  <a:srgbClr val="B04A3F"/>
                </a:solidFill>
                <a:latin typeface="Yu Gothic" pitchFamily="34" charset="0"/>
                <a:ea typeface="Yu Gothic" pitchFamily="34" charset="-122"/>
                <a:cs typeface="Yu Gothic" pitchFamily="34" charset="-120"/>
              </a:rPr>
              <a:t>最もずれた条件：A＝35m・D＝15m（高さ30〜40m帯）</a:t>
            </a:r>
            <a:endParaRPr lang="en-US" sz="1200" dirty="0"/>
          </a:p>
        </p:txBody>
      </p:sp>
      <p:sp>
        <p:nvSpPr>
          <p:cNvPr id="15" name="Text 10"/>
          <p:cNvSpPr txBox="1"/>
          <p:nvPr/>
        </p:nvSpPr>
        <p:spPr>
          <a:xfrm>
            <a:off x="640080" y="4892040"/>
            <a:ext cx="7040880" cy="1133856"/>
          </a:xfrm>
          <a:prstGeom prst="rect">
            <a:avLst/>
          </a:prstGeom>
          <a:noFill/>
          <a:ln/>
        </p:spPr>
        <p:txBody>
          <a:bodyPr wrap="square" rtlCol="0" anchor="t"/>
          <a:lstStyle/>
          <a:p>
            <a:pPr marL="0" indent="0">
              <a:lnSpc>
                <a:spcPct val="108000"/>
              </a:lnSpc>
              <a:buNone/>
            </a:pPr>
            <a:r>
              <a:rPr lang="en-US" sz="1050" b="1" dirty="0">
                <a:solidFill>
                  <a:srgbClr val="333F4E"/>
                </a:solidFill>
                <a:latin typeface="Yu Gothic" pitchFamily="34" charset="0"/>
                <a:ea typeface="Yu Gothic" pitchFamily="34" charset="-122"/>
                <a:cs typeface="Yu Gothic" pitchFamily="34" charset="-120"/>
              </a:rPr>
              <a:t>SEBE計算値 1,014.20 → 予測 861.26 kWh/m²（差 152.94）</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この高さ帯は南側建物の屋根（35m）付近にあたる。屋根より下と上で空の見え方が大きく変わるため、補間では捉えにくいと考えられる（要因を分解した検証は未実施）。</a:t>
            </a:r>
            <a:endParaRPr lang="en-US" sz="1050" dirty="0"/>
          </a:p>
        </p:txBody>
      </p:sp>
      <p:sp>
        <p:nvSpPr>
          <p:cNvPr id="16" name="Shape 11"/>
          <p:cNvSpPr/>
          <p:nvPr/>
        </p:nvSpPr>
        <p:spPr>
          <a:xfrm>
            <a:off x="8046720" y="4526280"/>
            <a:ext cx="3685032" cy="1554480"/>
          </a:xfrm>
          <a:prstGeom prst="roundRect">
            <a:avLst>
              <a:gd name="adj" fmla="val 3529"/>
            </a:avLst>
          </a:prstGeom>
          <a:solidFill>
            <a:srgbClr val="F3F5F8"/>
          </a:solidFill>
          <a:ln w="12700">
            <a:solidFill>
              <a:srgbClr val="DBE0E6"/>
            </a:solidFill>
            <a:prstDash val="solid"/>
          </a:ln>
        </p:spPr>
        <p:txBody>
          <a:bodyPr/>
          <a:p/>
        </p:txBody>
      </p:sp>
      <p:sp>
        <p:nvSpPr>
          <p:cNvPr id="17" name="Text 12"/>
          <p:cNvSpPr txBox="1"/>
          <p:nvPr/>
        </p:nvSpPr>
        <p:spPr>
          <a:xfrm>
            <a:off x="8229600" y="4599432"/>
            <a:ext cx="33192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集計上の注意</a:t>
            </a:r>
            <a:endParaRPr lang="en-US" sz="1200" dirty="0"/>
          </a:p>
        </p:txBody>
      </p:sp>
      <p:sp>
        <p:nvSpPr>
          <p:cNvPr id="18" name="Text 13"/>
          <p:cNvSpPr txBox="1"/>
          <p:nvPr/>
        </p:nvSpPr>
        <p:spPr>
          <a:xfrm>
            <a:off x="8229600" y="4892040"/>
            <a:ext cx="3319272" cy="11338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新たに40通りをテストしたのではなく、検証8パターンの結果を高さ帯ごとに集計し直したもの。→ 次ページでこの弱点を補強する。</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局所補強：最大誤差点の周りに学習点を追加する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12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最大誤差となった A=35m・D=15m の周辺に5パターンを追加し、その範囲だけ細かい格子で補間する（局所改良版）。</a:t>
            </a:r>
            <a:endParaRPr lang="en-US" sz="1250" dirty="0"/>
          </a:p>
        </p:txBody>
      </p:sp>
      <p:sp>
        <p:nvSpPr>
          <p:cNvPr id="10" name="Shape 8"/>
          <p:cNvSpPr/>
          <p:nvPr/>
        </p:nvSpPr>
        <p:spPr>
          <a:xfrm>
            <a:off x="457200" y="1600200"/>
            <a:ext cx="5486400" cy="914400"/>
          </a:xfrm>
          <a:prstGeom prst="roundRect">
            <a:avLst>
              <a:gd name="adj" fmla="val 6000"/>
            </a:avLst>
          </a:prstGeom>
          <a:solidFill>
            <a:srgbClr val="EAEEF2"/>
          </a:solidFill>
          <a:ln w="12700">
            <a:solidFill>
              <a:srgbClr val="DBE0E6"/>
            </a:solidFill>
            <a:prstDash val="solid"/>
          </a:ln>
        </p:spPr>
        <p:txBody>
          <a:bodyPr/>
          <a:p/>
        </p:txBody>
      </p:sp>
      <p:sp>
        <p:nvSpPr>
          <p:cNvPr id="11" name="Shape 9"/>
          <p:cNvSpPr/>
          <p:nvPr/>
        </p:nvSpPr>
        <p:spPr>
          <a:xfrm>
            <a:off x="594360" y="1856232"/>
            <a:ext cx="402336" cy="402336"/>
          </a:xfrm>
          <a:prstGeom prst="ellipse">
            <a:avLst/>
          </a:prstGeom>
          <a:solidFill>
            <a:srgbClr val="1F6F78"/>
          </a:solidFill>
          <a:ln/>
        </p:spPr>
        <p:txBody>
          <a:bodyPr/>
          <a:p/>
        </p:txBody>
      </p:sp>
      <p:sp>
        <p:nvSpPr>
          <p:cNvPr id="12" name="Text 10"/>
          <p:cNvSpPr txBox="1"/>
          <p:nvPr/>
        </p:nvSpPr>
        <p:spPr>
          <a:xfrm>
            <a:off x="594360" y="1856232"/>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3" name="Text 11"/>
          <p:cNvSpPr txBox="1"/>
          <p:nvPr/>
        </p:nvSpPr>
        <p:spPr>
          <a:xfrm>
            <a:off x="1143000" y="1664208"/>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周辺に5パターンを追加</a:t>
            </a:r>
            <a:endParaRPr lang="en-US" sz="1250" dirty="0"/>
          </a:p>
        </p:txBody>
      </p:sp>
      <p:sp>
        <p:nvSpPr>
          <p:cNvPr id="14" name="Text 12"/>
          <p:cNvSpPr txBox="1"/>
          <p:nvPr/>
        </p:nvSpPr>
        <p:spPr>
          <a:xfrm>
            <a:off x="1143000" y="1965960"/>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(A,D)＝(25,17)(35,10)(35,17)(35,25)(50,17) をSEBEで計算。</a:t>
            </a:r>
            <a:endParaRPr lang="en-US" sz="1030" dirty="0"/>
          </a:p>
        </p:txBody>
      </p:sp>
      <p:sp>
        <p:nvSpPr>
          <p:cNvPr id="15" name="Shape 13"/>
          <p:cNvSpPr/>
          <p:nvPr/>
        </p:nvSpPr>
        <p:spPr>
          <a:xfrm>
            <a:off x="457200" y="2587752"/>
            <a:ext cx="5486400" cy="914400"/>
          </a:xfrm>
          <a:prstGeom prst="roundRect">
            <a:avLst>
              <a:gd name="adj" fmla="val 6000"/>
            </a:avLst>
          </a:prstGeom>
          <a:solidFill>
            <a:srgbClr val="EAEEF2"/>
          </a:solidFill>
          <a:ln w="12700">
            <a:solidFill>
              <a:srgbClr val="DBE0E6"/>
            </a:solidFill>
            <a:prstDash val="solid"/>
          </a:ln>
        </p:spPr>
        <p:txBody>
          <a:bodyPr/>
          <a:p/>
        </p:txBody>
      </p:sp>
      <p:sp>
        <p:nvSpPr>
          <p:cNvPr id="16" name="Shape 14"/>
          <p:cNvSpPr/>
          <p:nvPr/>
        </p:nvSpPr>
        <p:spPr>
          <a:xfrm>
            <a:off x="594360" y="2843784"/>
            <a:ext cx="402336" cy="402336"/>
          </a:xfrm>
          <a:prstGeom prst="ellipse">
            <a:avLst/>
          </a:prstGeom>
          <a:solidFill>
            <a:srgbClr val="1F6F78"/>
          </a:solidFill>
          <a:ln/>
        </p:spPr>
        <p:txBody>
          <a:bodyPr/>
          <a:p/>
        </p:txBody>
      </p:sp>
      <p:sp>
        <p:nvSpPr>
          <p:cNvPr id="17" name="Text 15"/>
          <p:cNvSpPr txBox="1"/>
          <p:nvPr/>
        </p:nvSpPr>
        <p:spPr>
          <a:xfrm>
            <a:off x="594360" y="2843784"/>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8" name="Text 16"/>
          <p:cNvSpPr txBox="1"/>
          <p:nvPr/>
        </p:nvSpPr>
        <p:spPr>
          <a:xfrm>
            <a:off x="1143000" y="2651760"/>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3×3＝9点の局所格子を作る</a:t>
            </a:r>
            <a:endParaRPr lang="en-US" sz="1250" dirty="0"/>
          </a:p>
        </p:txBody>
      </p:sp>
      <p:sp>
        <p:nvSpPr>
          <p:cNvPr id="19" name="Text 17"/>
          <p:cNvSpPr txBox="1"/>
          <p:nvPr/>
        </p:nvSpPr>
        <p:spPr>
          <a:xfrm>
            <a:off x="1143000" y="2953512"/>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既存の4隅 (25,10)(25,25)(50,10)(50,25) と合わせ、A 25・35・50m × D 10・17・25m の格子にした。</a:t>
            </a:r>
            <a:endParaRPr lang="en-US" sz="1030" dirty="0"/>
          </a:p>
        </p:txBody>
      </p:sp>
      <p:sp>
        <p:nvSpPr>
          <p:cNvPr id="20" name="Shape 18"/>
          <p:cNvSpPr/>
          <p:nvPr/>
        </p:nvSpPr>
        <p:spPr>
          <a:xfrm>
            <a:off x="457200" y="3575304"/>
            <a:ext cx="5486400" cy="914400"/>
          </a:xfrm>
          <a:prstGeom prst="roundRect">
            <a:avLst>
              <a:gd name="adj" fmla="val 6000"/>
            </a:avLst>
          </a:prstGeom>
          <a:solidFill>
            <a:srgbClr val="EAEEF2"/>
          </a:solidFill>
          <a:ln w="12700">
            <a:solidFill>
              <a:srgbClr val="DBE0E6"/>
            </a:solidFill>
            <a:prstDash val="solid"/>
          </a:ln>
        </p:spPr>
        <p:txBody>
          <a:bodyPr/>
          <a:p/>
        </p:txBody>
      </p:sp>
      <p:sp>
        <p:nvSpPr>
          <p:cNvPr id="21" name="Shape 19"/>
          <p:cNvSpPr/>
          <p:nvPr/>
        </p:nvSpPr>
        <p:spPr>
          <a:xfrm>
            <a:off x="594360" y="3831336"/>
            <a:ext cx="402336" cy="402336"/>
          </a:xfrm>
          <a:prstGeom prst="ellipse">
            <a:avLst/>
          </a:prstGeom>
          <a:solidFill>
            <a:srgbClr val="1F6F78"/>
          </a:solidFill>
          <a:ln/>
        </p:spPr>
        <p:txBody>
          <a:bodyPr/>
          <a:p/>
        </p:txBody>
      </p:sp>
      <p:sp>
        <p:nvSpPr>
          <p:cNvPr id="22" name="Text 20"/>
          <p:cNvSpPr txBox="1"/>
          <p:nvPr/>
        </p:nvSpPr>
        <p:spPr>
          <a:xfrm>
            <a:off x="594360" y="3831336"/>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3" name="Text 21"/>
          <p:cNvSpPr txBox="1"/>
          <p:nvPr/>
        </p:nvSpPr>
        <p:spPr>
          <a:xfrm>
            <a:off x="1143000" y="3639312"/>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問題点そのものは答えに加えない</a:t>
            </a:r>
            <a:endParaRPr lang="en-US" sz="1250" dirty="0"/>
          </a:p>
        </p:txBody>
      </p:sp>
      <p:sp>
        <p:nvSpPr>
          <p:cNvPr id="24" name="Text 22"/>
          <p:cNvSpPr txBox="1"/>
          <p:nvPr/>
        </p:nvSpPr>
        <p:spPr>
          <a:xfrm>
            <a:off x="1143000" y="3941064"/>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A=35・D=15 は学習に入れず、周辺点からの補間で改善するかを確かめる。</a:t>
            </a:r>
            <a:endParaRPr lang="en-US" sz="1030" dirty="0"/>
          </a:p>
        </p:txBody>
      </p:sp>
      <p:sp>
        <p:nvSpPr>
          <p:cNvPr id="25" name="Shape 23"/>
          <p:cNvSpPr/>
          <p:nvPr/>
        </p:nvSpPr>
        <p:spPr>
          <a:xfrm>
            <a:off x="457200" y="4562856"/>
            <a:ext cx="5486400" cy="914400"/>
          </a:xfrm>
          <a:prstGeom prst="roundRect">
            <a:avLst>
              <a:gd name="adj" fmla="val 6000"/>
            </a:avLst>
          </a:prstGeom>
          <a:solidFill>
            <a:srgbClr val="EAEEF2"/>
          </a:solidFill>
          <a:ln w="12700">
            <a:solidFill>
              <a:srgbClr val="DBE0E6"/>
            </a:solidFill>
            <a:prstDash val="solid"/>
          </a:ln>
        </p:spPr>
        <p:txBody>
          <a:bodyPr/>
          <a:p/>
        </p:txBody>
      </p:sp>
      <p:sp>
        <p:nvSpPr>
          <p:cNvPr id="26" name="Shape 24"/>
          <p:cNvSpPr/>
          <p:nvPr/>
        </p:nvSpPr>
        <p:spPr>
          <a:xfrm>
            <a:off x="594360" y="4818888"/>
            <a:ext cx="402336" cy="402336"/>
          </a:xfrm>
          <a:prstGeom prst="ellipse">
            <a:avLst/>
          </a:prstGeom>
          <a:solidFill>
            <a:srgbClr val="1F6F78"/>
          </a:solidFill>
          <a:ln/>
        </p:spPr>
        <p:txBody>
          <a:bodyPr/>
          <a:p/>
        </p:txBody>
      </p:sp>
      <p:sp>
        <p:nvSpPr>
          <p:cNvPr id="27" name="Text 25"/>
          <p:cNvSpPr txBox="1"/>
          <p:nvPr/>
        </p:nvSpPr>
        <p:spPr>
          <a:xfrm>
            <a:off x="594360" y="4818888"/>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28" name="Text 26"/>
          <p:cNvSpPr txBox="1"/>
          <p:nvPr/>
        </p:nvSpPr>
        <p:spPr>
          <a:xfrm>
            <a:off x="1143000" y="4626864"/>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新しい6パターンで効果を確認</a:t>
            </a:r>
            <a:endParaRPr lang="en-US" sz="1250" dirty="0"/>
          </a:p>
        </p:txBody>
      </p:sp>
      <p:sp>
        <p:nvSpPr>
          <p:cNvPr id="29" name="Text 27"/>
          <p:cNvSpPr txBox="1"/>
          <p:nvPr/>
        </p:nvSpPr>
        <p:spPr>
          <a:xfrm>
            <a:off x="1143000" y="4928616"/>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(28,13)(31,21)(38,14)(41,23)(46,12)(48,19) で改善前後を比較（次ページ）。</a:t>
            </a:r>
            <a:endParaRPr lang="en-US" sz="1030" dirty="0"/>
          </a:p>
        </p:txBody>
      </p:sp>
      <p:sp>
        <p:nvSpPr>
          <p:cNvPr id="30" name="Text 28"/>
          <p:cNvSpPr txBox="1"/>
          <p:nvPr/>
        </p:nvSpPr>
        <p:spPr>
          <a:xfrm>
            <a:off x="457200" y="5577840"/>
            <a:ext cx="54864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 ）内は（高さ A, 隙間 D）、単位 m</a:t>
            </a:r>
            <a:endParaRPr lang="en-US" sz="950" dirty="0"/>
          </a:p>
        </p:txBody>
      </p:sp>
      <p:sp>
        <p:nvSpPr>
          <p:cNvPr id="31" name="Shape 29"/>
          <p:cNvSpPr/>
          <p:nvPr/>
        </p:nvSpPr>
        <p:spPr>
          <a:xfrm>
            <a:off x="7040880" y="1645920"/>
            <a:ext cx="4480560" cy="3337560"/>
          </a:xfrm>
          <a:prstGeom prst="rect">
            <a:avLst/>
          </a:prstGeom>
          <a:solidFill>
            <a:srgbClr val="F3F5F8"/>
          </a:solidFill>
          <a:ln w="12700">
            <a:solidFill>
              <a:srgbClr val="DBE0E6"/>
            </a:solidFill>
            <a:prstDash val="solid"/>
          </a:ln>
        </p:spPr>
        <p:txBody>
          <a:bodyPr/>
          <a:p/>
        </p:txBody>
      </p:sp>
      <p:sp>
        <p:nvSpPr>
          <p:cNvPr id="32" name="Shape 30"/>
          <p:cNvSpPr/>
          <p:nvPr/>
        </p:nvSpPr>
        <p:spPr>
          <a:xfrm>
            <a:off x="7936992" y="1645920"/>
            <a:ext cx="0" cy="3337560"/>
          </a:xfrm>
          <a:prstGeom prst="line">
            <a:avLst/>
          </a:prstGeom>
          <a:noFill/>
          <a:ln w="9525">
            <a:solidFill>
              <a:srgbClr val="DBE0E6"/>
            </a:solidFill>
            <a:prstDash val="dash"/>
          </a:ln>
        </p:spPr>
        <p:txBody>
          <a:bodyPr/>
          <a:p/>
        </p:txBody>
      </p:sp>
      <p:sp>
        <p:nvSpPr>
          <p:cNvPr id="33" name="Text 31"/>
          <p:cNvSpPr txBox="1"/>
          <p:nvPr/>
        </p:nvSpPr>
        <p:spPr>
          <a:xfrm>
            <a:off x="7525512"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a:t>
            </a:r>
            <a:endParaRPr lang="en-US" sz="1000" dirty="0"/>
          </a:p>
        </p:txBody>
      </p:sp>
      <p:sp>
        <p:nvSpPr>
          <p:cNvPr id="34" name="Shape 32"/>
          <p:cNvSpPr/>
          <p:nvPr/>
        </p:nvSpPr>
        <p:spPr>
          <a:xfrm>
            <a:off x="9191549" y="1645920"/>
            <a:ext cx="0" cy="3337560"/>
          </a:xfrm>
          <a:prstGeom prst="line">
            <a:avLst/>
          </a:prstGeom>
          <a:noFill/>
          <a:ln w="9525">
            <a:solidFill>
              <a:srgbClr val="DBE0E6"/>
            </a:solidFill>
            <a:prstDash val="dash"/>
          </a:ln>
        </p:spPr>
        <p:txBody>
          <a:bodyPr/>
          <a:p/>
        </p:txBody>
      </p:sp>
      <p:sp>
        <p:nvSpPr>
          <p:cNvPr id="35" name="Text 33"/>
          <p:cNvSpPr txBox="1"/>
          <p:nvPr/>
        </p:nvSpPr>
        <p:spPr>
          <a:xfrm>
            <a:off x="8780069"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17</a:t>
            </a:r>
            <a:endParaRPr lang="en-US" sz="1000" dirty="0"/>
          </a:p>
        </p:txBody>
      </p:sp>
      <p:sp>
        <p:nvSpPr>
          <p:cNvPr id="36" name="Shape 34"/>
          <p:cNvSpPr/>
          <p:nvPr/>
        </p:nvSpPr>
        <p:spPr>
          <a:xfrm>
            <a:off x="10625328" y="1645920"/>
            <a:ext cx="0" cy="3337560"/>
          </a:xfrm>
          <a:prstGeom prst="line">
            <a:avLst/>
          </a:prstGeom>
          <a:noFill/>
          <a:ln w="9525">
            <a:solidFill>
              <a:srgbClr val="DBE0E6"/>
            </a:solidFill>
            <a:prstDash val="dash"/>
          </a:ln>
        </p:spPr>
        <p:txBody>
          <a:bodyPr/>
          <a:p/>
        </p:txBody>
      </p:sp>
      <p:sp>
        <p:nvSpPr>
          <p:cNvPr id="37" name="Text 35"/>
          <p:cNvSpPr txBox="1"/>
          <p:nvPr/>
        </p:nvSpPr>
        <p:spPr>
          <a:xfrm>
            <a:off x="10213848"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38" name="Shape 36"/>
          <p:cNvSpPr/>
          <p:nvPr/>
        </p:nvSpPr>
        <p:spPr>
          <a:xfrm>
            <a:off x="7040880" y="4506686"/>
            <a:ext cx="4480560" cy="0"/>
          </a:xfrm>
          <a:prstGeom prst="line">
            <a:avLst/>
          </a:prstGeom>
          <a:noFill/>
          <a:ln w="9525">
            <a:solidFill>
              <a:srgbClr val="DBE0E6"/>
            </a:solidFill>
            <a:prstDash val="dash"/>
          </a:ln>
        </p:spPr>
        <p:txBody>
          <a:bodyPr/>
          <a:p/>
        </p:txBody>
      </p:sp>
      <p:sp>
        <p:nvSpPr>
          <p:cNvPr id="39" name="Text 37"/>
          <p:cNvSpPr txBox="1"/>
          <p:nvPr/>
        </p:nvSpPr>
        <p:spPr>
          <a:xfrm>
            <a:off x="6473952" y="4387814"/>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40" name="Shape 38"/>
          <p:cNvSpPr/>
          <p:nvPr/>
        </p:nvSpPr>
        <p:spPr>
          <a:xfrm>
            <a:off x="7040880" y="3553097"/>
            <a:ext cx="4480560" cy="0"/>
          </a:xfrm>
          <a:prstGeom prst="line">
            <a:avLst/>
          </a:prstGeom>
          <a:noFill/>
          <a:ln w="9525">
            <a:solidFill>
              <a:srgbClr val="DBE0E6"/>
            </a:solidFill>
            <a:prstDash val="dash"/>
          </a:ln>
        </p:spPr>
        <p:txBody>
          <a:bodyPr/>
          <a:p/>
        </p:txBody>
      </p:sp>
      <p:sp>
        <p:nvSpPr>
          <p:cNvPr id="41" name="Text 39"/>
          <p:cNvSpPr txBox="1"/>
          <p:nvPr/>
        </p:nvSpPr>
        <p:spPr>
          <a:xfrm>
            <a:off x="6473952" y="343422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35</a:t>
            </a:r>
            <a:endParaRPr lang="en-US" sz="1000" dirty="0"/>
          </a:p>
        </p:txBody>
      </p:sp>
      <p:sp>
        <p:nvSpPr>
          <p:cNvPr id="42" name="Shape 40"/>
          <p:cNvSpPr/>
          <p:nvPr/>
        </p:nvSpPr>
        <p:spPr>
          <a:xfrm>
            <a:off x="7040880" y="2122714"/>
            <a:ext cx="4480560" cy="0"/>
          </a:xfrm>
          <a:prstGeom prst="line">
            <a:avLst/>
          </a:prstGeom>
          <a:noFill/>
          <a:ln w="9525">
            <a:solidFill>
              <a:srgbClr val="DBE0E6"/>
            </a:solidFill>
            <a:prstDash val="dash"/>
          </a:ln>
        </p:spPr>
        <p:txBody>
          <a:bodyPr/>
          <a:p/>
        </p:txBody>
      </p:sp>
      <p:sp>
        <p:nvSpPr>
          <p:cNvPr id="43" name="Text 41"/>
          <p:cNvSpPr txBox="1"/>
          <p:nvPr/>
        </p:nvSpPr>
        <p:spPr>
          <a:xfrm>
            <a:off x="6473952" y="200384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44" name="Text 42"/>
          <p:cNvSpPr txBox="1"/>
          <p:nvPr/>
        </p:nvSpPr>
        <p:spPr>
          <a:xfrm>
            <a:off x="7040880" y="5257800"/>
            <a:ext cx="448056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45" name="Text 43"/>
          <p:cNvSpPr txBox="1"/>
          <p:nvPr/>
        </p:nvSpPr>
        <p:spPr>
          <a:xfrm rot="16200000">
            <a:off x="5102352" y="3177540"/>
            <a:ext cx="228600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46" name="Shape 44"/>
          <p:cNvSpPr/>
          <p:nvPr/>
        </p:nvSpPr>
        <p:spPr>
          <a:xfrm>
            <a:off x="7845552" y="4415246"/>
            <a:ext cx="182880" cy="182880"/>
          </a:xfrm>
          <a:prstGeom prst="rect">
            <a:avLst/>
          </a:prstGeom>
          <a:solidFill>
            <a:srgbClr val="1B2A44"/>
          </a:solidFill>
          <a:ln w="12700">
            <a:solidFill>
              <a:srgbClr val="FFFFFF"/>
            </a:solidFill>
            <a:prstDash val="solid"/>
          </a:ln>
        </p:spPr>
        <p:txBody>
          <a:bodyPr/>
          <a:p/>
        </p:txBody>
      </p:sp>
      <p:sp>
        <p:nvSpPr>
          <p:cNvPr id="47" name="Shape 45"/>
          <p:cNvSpPr/>
          <p:nvPr/>
        </p:nvSpPr>
        <p:spPr>
          <a:xfrm>
            <a:off x="10533888" y="4415246"/>
            <a:ext cx="182880" cy="182880"/>
          </a:xfrm>
          <a:prstGeom prst="rect">
            <a:avLst/>
          </a:prstGeom>
          <a:solidFill>
            <a:srgbClr val="1B2A44"/>
          </a:solidFill>
          <a:ln w="12700">
            <a:solidFill>
              <a:srgbClr val="FFFFFF"/>
            </a:solidFill>
            <a:prstDash val="solid"/>
          </a:ln>
        </p:spPr>
        <p:txBody>
          <a:bodyPr/>
          <a:p/>
        </p:txBody>
      </p:sp>
      <p:sp>
        <p:nvSpPr>
          <p:cNvPr id="48" name="Shape 46"/>
          <p:cNvSpPr/>
          <p:nvPr/>
        </p:nvSpPr>
        <p:spPr>
          <a:xfrm>
            <a:off x="7845552" y="2031274"/>
            <a:ext cx="182880" cy="182880"/>
          </a:xfrm>
          <a:prstGeom prst="rect">
            <a:avLst/>
          </a:prstGeom>
          <a:solidFill>
            <a:srgbClr val="1B2A44"/>
          </a:solidFill>
          <a:ln w="12700">
            <a:solidFill>
              <a:srgbClr val="FFFFFF"/>
            </a:solidFill>
            <a:prstDash val="solid"/>
          </a:ln>
        </p:spPr>
        <p:txBody>
          <a:bodyPr/>
          <a:p/>
        </p:txBody>
      </p:sp>
      <p:sp>
        <p:nvSpPr>
          <p:cNvPr id="49" name="Shape 47"/>
          <p:cNvSpPr/>
          <p:nvPr/>
        </p:nvSpPr>
        <p:spPr>
          <a:xfrm>
            <a:off x="10533888" y="2031274"/>
            <a:ext cx="182880" cy="182880"/>
          </a:xfrm>
          <a:prstGeom prst="rect">
            <a:avLst/>
          </a:prstGeom>
          <a:solidFill>
            <a:srgbClr val="1B2A44"/>
          </a:solidFill>
          <a:ln w="12700">
            <a:solidFill>
              <a:srgbClr val="FFFFFF"/>
            </a:solidFill>
            <a:prstDash val="solid"/>
          </a:ln>
        </p:spPr>
        <p:txBody>
          <a:bodyPr/>
          <a:p/>
        </p:txBody>
      </p:sp>
      <p:sp>
        <p:nvSpPr>
          <p:cNvPr id="50" name="Shape 48"/>
          <p:cNvSpPr/>
          <p:nvPr/>
        </p:nvSpPr>
        <p:spPr>
          <a:xfrm>
            <a:off x="9090965" y="4406102"/>
            <a:ext cx="201168" cy="201168"/>
          </a:xfrm>
          <a:prstGeom prst="ellipse">
            <a:avLst/>
          </a:prstGeom>
          <a:solidFill>
            <a:srgbClr val="E8934D"/>
          </a:solidFill>
          <a:ln w="12700">
            <a:solidFill>
              <a:srgbClr val="FFFFFF"/>
            </a:solidFill>
            <a:prstDash val="solid"/>
          </a:ln>
        </p:spPr>
        <p:txBody>
          <a:bodyPr/>
          <a:p/>
        </p:txBody>
      </p:sp>
      <p:sp>
        <p:nvSpPr>
          <p:cNvPr id="51" name="Shape 49"/>
          <p:cNvSpPr/>
          <p:nvPr/>
        </p:nvSpPr>
        <p:spPr>
          <a:xfrm>
            <a:off x="7836408" y="3452513"/>
            <a:ext cx="201168" cy="201168"/>
          </a:xfrm>
          <a:prstGeom prst="ellipse">
            <a:avLst/>
          </a:prstGeom>
          <a:solidFill>
            <a:srgbClr val="E8934D"/>
          </a:solidFill>
          <a:ln w="12700">
            <a:solidFill>
              <a:srgbClr val="FFFFFF"/>
            </a:solidFill>
            <a:prstDash val="solid"/>
          </a:ln>
        </p:spPr>
        <p:txBody>
          <a:bodyPr/>
          <a:p/>
        </p:txBody>
      </p:sp>
      <p:sp>
        <p:nvSpPr>
          <p:cNvPr id="52" name="Shape 50"/>
          <p:cNvSpPr/>
          <p:nvPr/>
        </p:nvSpPr>
        <p:spPr>
          <a:xfrm>
            <a:off x="9090965" y="3452513"/>
            <a:ext cx="201168" cy="201168"/>
          </a:xfrm>
          <a:prstGeom prst="ellipse">
            <a:avLst/>
          </a:prstGeom>
          <a:solidFill>
            <a:srgbClr val="E8934D"/>
          </a:solidFill>
          <a:ln w="12700">
            <a:solidFill>
              <a:srgbClr val="FFFFFF"/>
            </a:solidFill>
            <a:prstDash val="solid"/>
          </a:ln>
        </p:spPr>
        <p:txBody>
          <a:bodyPr/>
          <a:p/>
        </p:txBody>
      </p:sp>
      <p:sp>
        <p:nvSpPr>
          <p:cNvPr id="53" name="Shape 51"/>
          <p:cNvSpPr/>
          <p:nvPr/>
        </p:nvSpPr>
        <p:spPr>
          <a:xfrm>
            <a:off x="10524744" y="3452513"/>
            <a:ext cx="201168" cy="201168"/>
          </a:xfrm>
          <a:prstGeom prst="ellipse">
            <a:avLst/>
          </a:prstGeom>
          <a:solidFill>
            <a:srgbClr val="E8934D"/>
          </a:solidFill>
          <a:ln w="12700">
            <a:solidFill>
              <a:srgbClr val="FFFFFF"/>
            </a:solidFill>
            <a:prstDash val="solid"/>
          </a:ln>
        </p:spPr>
        <p:txBody>
          <a:bodyPr/>
          <a:p/>
        </p:txBody>
      </p:sp>
      <p:sp>
        <p:nvSpPr>
          <p:cNvPr id="54" name="Shape 52"/>
          <p:cNvSpPr/>
          <p:nvPr/>
        </p:nvSpPr>
        <p:spPr>
          <a:xfrm>
            <a:off x="9090965" y="2022130"/>
            <a:ext cx="201168" cy="201168"/>
          </a:xfrm>
          <a:prstGeom prst="ellipse">
            <a:avLst/>
          </a:prstGeom>
          <a:solidFill>
            <a:srgbClr val="E8934D"/>
          </a:solidFill>
          <a:ln w="12700">
            <a:solidFill>
              <a:srgbClr val="FFFFFF"/>
            </a:solidFill>
            <a:prstDash val="solid"/>
          </a:ln>
        </p:spPr>
        <p:txBody>
          <a:bodyPr/>
          <a:p/>
        </p:txBody>
      </p:sp>
      <p:sp>
        <p:nvSpPr>
          <p:cNvPr id="55" name="Shape 53"/>
          <p:cNvSpPr/>
          <p:nvPr/>
        </p:nvSpPr>
        <p:spPr>
          <a:xfrm>
            <a:off x="8392363" y="4138313"/>
            <a:ext cx="164592" cy="164592"/>
          </a:xfrm>
          <a:prstGeom prst="diamond">
            <a:avLst/>
          </a:prstGeom>
          <a:solidFill>
            <a:srgbClr val="1F6F78"/>
          </a:solidFill>
          <a:ln w="12700">
            <a:solidFill>
              <a:srgbClr val="FFFFFF"/>
            </a:solidFill>
            <a:prstDash val="solid"/>
          </a:ln>
        </p:spPr>
        <p:txBody>
          <a:bodyPr/>
          <a:p/>
        </p:txBody>
      </p:sp>
      <p:sp>
        <p:nvSpPr>
          <p:cNvPr id="56" name="Shape 54"/>
          <p:cNvSpPr/>
          <p:nvPr/>
        </p:nvSpPr>
        <p:spPr>
          <a:xfrm>
            <a:off x="9826142" y="3852237"/>
            <a:ext cx="164592" cy="164592"/>
          </a:xfrm>
          <a:prstGeom prst="diamond">
            <a:avLst/>
          </a:prstGeom>
          <a:solidFill>
            <a:srgbClr val="1F6F78"/>
          </a:solidFill>
          <a:ln w="12700">
            <a:solidFill>
              <a:srgbClr val="FFFFFF"/>
            </a:solidFill>
            <a:prstDash val="solid"/>
          </a:ln>
        </p:spPr>
        <p:txBody>
          <a:bodyPr/>
          <a:p/>
        </p:txBody>
      </p:sp>
      <p:sp>
        <p:nvSpPr>
          <p:cNvPr id="57" name="Shape 55"/>
          <p:cNvSpPr/>
          <p:nvPr/>
        </p:nvSpPr>
        <p:spPr>
          <a:xfrm>
            <a:off x="8571586" y="3184725"/>
            <a:ext cx="164592" cy="164592"/>
          </a:xfrm>
          <a:prstGeom prst="diamond">
            <a:avLst/>
          </a:prstGeom>
          <a:solidFill>
            <a:srgbClr val="1F6F78"/>
          </a:solidFill>
          <a:ln w="12700">
            <a:solidFill>
              <a:srgbClr val="FFFFFF"/>
            </a:solidFill>
            <a:prstDash val="solid"/>
          </a:ln>
        </p:spPr>
        <p:txBody>
          <a:bodyPr/>
          <a:p/>
        </p:txBody>
      </p:sp>
      <p:sp>
        <p:nvSpPr>
          <p:cNvPr id="58" name="Shape 56"/>
          <p:cNvSpPr/>
          <p:nvPr/>
        </p:nvSpPr>
        <p:spPr>
          <a:xfrm>
            <a:off x="10184587" y="2898648"/>
            <a:ext cx="164592" cy="164592"/>
          </a:xfrm>
          <a:prstGeom prst="diamond">
            <a:avLst/>
          </a:prstGeom>
          <a:solidFill>
            <a:srgbClr val="1F6F78"/>
          </a:solidFill>
          <a:ln w="12700">
            <a:solidFill>
              <a:srgbClr val="FFFFFF"/>
            </a:solidFill>
            <a:prstDash val="solid"/>
          </a:ln>
        </p:spPr>
        <p:txBody>
          <a:bodyPr/>
          <a:p/>
        </p:txBody>
      </p:sp>
      <p:sp>
        <p:nvSpPr>
          <p:cNvPr id="59" name="Shape 57"/>
          <p:cNvSpPr/>
          <p:nvPr/>
        </p:nvSpPr>
        <p:spPr>
          <a:xfrm>
            <a:off x="8213141" y="2421854"/>
            <a:ext cx="164592" cy="164592"/>
          </a:xfrm>
          <a:prstGeom prst="diamond">
            <a:avLst/>
          </a:prstGeom>
          <a:solidFill>
            <a:srgbClr val="1F6F78"/>
          </a:solidFill>
          <a:ln w="12700">
            <a:solidFill>
              <a:srgbClr val="FFFFFF"/>
            </a:solidFill>
            <a:prstDash val="solid"/>
          </a:ln>
        </p:spPr>
        <p:txBody>
          <a:bodyPr/>
          <a:p/>
        </p:txBody>
      </p:sp>
      <p:sp>
        <p:nvSpPr>
          <p:cNvPr id="60" name="Shape 58"/>
          <p:cNvSpPr/>
          <p:nvPr/>
        </p:nvSpPr>
        <p:spPr>
          <a:xfrm>
            <a:off x="9467698" y="2231136"/>
            <a:ext cx="164592" cy="164592"/>
          </a:xfrm>
          <a:prstGeom prst="diamond">
            <a:avLst/>
          </a:prstGeom>
          <a:solidFill>
            <a:srgbClr val="1F6F78"/>
          </a:solidFill>
          <a:ln w="12700">
            <a:solidFill>
              <a:srgbClr val="FFFFFF"/>
            </a:solidFill>
            <a:prstDash val="solid"/>
          </a:ln>
        </p:spPr>
        <p:txBody>
          <a:bodyPr/>
          <a:p/>
        </p:txBody>
      </p:sp>
      <p:sp>
        <p:nvSpPr>
          <p:cNvPr id="61" name="Shape 59"/>
          <p:cNvSpPr/>
          <p:nvPr/>
        </p:nvSpPr>
        <p:spPr>
          <a:xfrm>
            <a:off x="8723376" y="3443369"/>
            <a:ext cx="219456" cy="219456"/>
          </a:xfrm>
          <a:prstGeom prst="line">
            <a:avLst/>
          </a:prstGeom>
          <a:noFill/>
          <a:ln w="31750">
            <a:solidFill>
              <a:srgbClr val="B04A3F"/>
            </a:solidFill>
            <a:prstDash val="solid"/>
          </a:ln>
        </p:spPr>
        <p:txBody>
          <a:bodyPr/>
          <a:p/>
        </p:txBody>
      </p:sp>
      <p:sp>
        <p:nvSpPr>
          <p:cNvPr id="62" name="Shape 60"/>
          <p:cNvSpPr/>
          <p:nvPr/>
        </p:nvSpPr>
        <p:spPr>
          <a:xfrm>
            <a:off x="8723376" y="3662825"/>
            <a:ext cx="219456" cy="0"/>
          </a:xfrm>
          <a:prstGeom prst="line">
            <a:avLst/>
          </a:prstGeom>
          <a:noFill/>
          <a:ln w="31750">
            <a:solidFill>
              <a:srgbClr val="B04A3F"/>
            </a:solidFill>
            <a:prstDash val="solid"/>
          </a:ln>
        </p:spPr>
        <p:txBody>
          <a:bodyPr/>
          <a:p/>
        </p:txBody>
      </p:sp>
      <p:sp>
        <p:nvSpPr>
          <p:cNvPr id="63" name="Text 61"/>
          <p:cNvSpPr txBox="1"/>
          <p:nvPr/>
        </p:nvSpPr>
        <p:spPr>
          <a:xfrm>
            <a:off x="8330184" y="3681113"/>
            <a:ext cx="1005840" cy="237744"/>
          </a:xfrm>
          <a:prstGeom prst="rect">
            <a:avLst/>
          </a:prstGeom>
          <a:noFill/>
          <a:ln/>
        </p:spPr>
        <p:txBody>
          <a:bodyPr wrap="square" rtlCol="0" anchor="t"/>
          <a:lstStyle/>
          <a:p>
            <a:pPr marL="0" indent="0" algn="ctr">
              <a:buNone/>
            </a:pPr>
            <a:r>
              <a:rPr lang="en-US" sz="950" b="1" dirty="0">
                <a:solidFill>
                  <a:srgbClr val="B04A3F"/>
                </a:solidFill>
                <a:latin typeface="Yu Gothic" pitchFamily="34" charset="0"/>
                <a:ea typeface="Yu Gothic" pitchFamily="34" charset="-122"/>
                <a:cs typeface="Yu Gothic" pitchFamily="34" charset="-120"/>
              </a:rPr>
              <a:t>最大誤差点</a:t>
            </a:r>
            <a:endParaRPr lang="en-US" sz="950" dirty="0"/>
          </a:p>
        </p:txBody>
      </p:sp>
      <p:sp>
        <p:nvSpPr>
          <p:cNvPr id="64" name="Shape 62"/>
          <p:cNvSpPr/>
          <p:nvPr/>
        </p:nvSpPr>
        <p:spPr>
          <a:xfrm>
            <a:off x="7040880" y="5669280"/>
            <a:ext cx="146304" cy="146304"/>
          </a:xfrm>
          <a:prstGeom prst="rect">
            <a:avLst/>
          </a:prstGeom>
          <a:solidFill>
            <a:srgbClr val="1B2A44"/>
          </a:solidFill>
          <a:ln/>
        </p:spPr>
        <p:txBody>
          <a:bodyPr/>
          <a:p/>
        </p:txBody>
      </p:sp>
      <p:sp>
        <p:nvSpPr>
          <p:cNvPr id="65" name="Text 63"/>
          <p:cNvSpPr txBox="1"/>
          <p:nvPr/>
        </p:nvSpPr>
        <p:spPr>
          <a:xfrm>
            <a:off x="7260336" y="5577840"/>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既存の4隅</a:t>
            </a:r>
            <a:endParaRPr lang="en-US" sz="1050" dirty="0"/>
          </a:p>
        </p:txBody>
      </p:sp>
      <p:sp>
        <p:nvSpPr>
          <p:cNvPr id="66" name="Shape 64"/>
          <p:cNvSpPr/>
          <p:nvPr/>
        </p:nvSpPr>
        <p:spPr>
          <a:xfrm>
            <a:off x="8357616" y="5669280"/>
            <a:ext cx="146304" cy="146304"/>
          </a:xfrm>
          <a:prstGeom prst="ellipse">
            <a:avLst/>
          </a:prstGeom>
          <a:solidFill>
            <a:srgbClr val="E8934D"/>
          </a:solidFill>
          <a:ln/>
        </p:spPr>
        <p:txBody>
          <a:bodyPr/>
          <a:p/>
        </p:txBody>
      </p:sp>
      <p:sp>
        <p:nvSpPr>
          <p:cNvPr id="67" name="Text 65"/>
          <p:cNvSpPr txBox="1"/>
          <p:nvPr/>
        </p:nvSpPr>
        <p:spPr>
          <a:xfrm>
            <a:off x="8577072" y="5577840"/>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追加した5点</a:t>
            </a:r>
            <a:endParaRPr lang="en-US" sz="1050" dirty="0"/>
          </a:p>
        </p:txBody>
      </p:sp>
      <p:sp>
        <p:nvSpPr>
          <p:cNvPr id="68" name="Shape 66"/>
          <p:cNvSpPr/>
          <p:nvPr/>
        </p:nvSpPr>
        <p:spPr>
          <a:xfrm>
            <a:off x="7040880" y="5952744"/>
            <a:ext cx="155448" cy="155448"/>
          </a:xfrm>
          <a:prstGeom prst="line">
            <a:avLst/>
          </a:prstGeom>
          <a:noFill/>
          <a:ln w="28575">
            <a:solidFill>
              <a:srgbClr val="B04A3F"/>
            </a:solidFill>
            <a:prstDash val="solid"/>
          </a:ln>
        </p:spPr>
        <p:txBody>
          <a:bodyPr/>
          <a:p/>
        </p:txBody>
      </p:sp>
      <p:sp>
        <p:nvSpPr>
          <p:cNvPr id="69" name="Shape 67"/>
          <p:cNvSpPr/>
          <p:nvPr/>
        </p:nvSpPr>
        <p:spPr>
          <a:xfrm>
            <a:off x="7040880" y="6108192"/>
            <a:ext cx="155448" cy="0"/>
          </a:xfrm>
          <a:prstGeom prst="line">
            <a:avLst/>
          </a:prstGeom>
          <a:noFill/>
          <a:ln w="28575">
            <a:solidFill>
              <a:srgbClr val="B04A3F"/>
            </a:solidFill>
            <a:prstDash val="solid"/>
          </a:ln>
        </p:spPr>
        <p:txBody>
          <a:bodyPr/>
          <a:p/>
        </p:txBody>
      </p:sp>
      <p:sp>
        <p:nvSpPr>
          <p:cNvPr id="70" name="Text 68"/>
          <p:cNvSpPr txBox="1"/>
          <p:nvPr/>
        </p:nvSpPr>
        <p:spPr>
          <a:xfrm>
            <a:off x="7260336" y="5870448"/>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最大誤差点</a:t>
            </a:r>
            <a:endParaRPr lang="en-US" sz="1050" dirty="0"/>
          </a:p>
        </p:txBody>
      </p:sp>
      <p:sp>
        <p:nvSpPr>
          <p:cNvPr id="71" name="Shape 69"/>
          <p:cNvSpPr/>
          <p:nvPr/>
        </p:nvSpPr>
        <p:spPr>
          <a:xfrm>
            <a:off x="8357616" y="5952744"/>
            <a:ext cx="155448" cy="155448"/>
          </a:xfrm>
          <a:prstGeom prst="diamond">
            <a:avLst/>
          </a:prstGeom>
          <a:solidFill>
            <a:srgbClr val="1F6F78"/>
          </a:solidFill>
          <a:ln/>
        </p:spPr>
        <p:txBody>
          <a:bodyPr/>
          <a:p/>
        </p:txBody>
      </p:sp>
      <p:sp>
        <p:nvSpPr>
          <p:cNvPr id="72" name="Text 70"/>
          <p:cNvSpPr txBox="1"/>
          <p:nvPr/>
        </p:nvSpPr>
        <p:spPr>
          <a:xfrm>
            <a:off x="8577072" y="5870448"/>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確認用の6点</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補強の効果：同じ6配置で MAE が 59.1% 減少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13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確認用の6配置 × 南面5高さ帯 ＝ 30個の値をSEBEと比べ、広範囲版（16配置）と局所改良版（9配置）を比較した。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76072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指標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広範囲版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局所改良版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変化</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平均絶対誤差 MAE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43.50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17.81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−59.1%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最大絶対誤差</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184.32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71.49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−61.2%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平均誤差率 MAPE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5.58%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2.31%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−3.27pt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最大誤差率</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18.75%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−11.64pt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3675888"/>
            <a:ext cx="576072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誤差の単位は kWh/m²</a:t>
            </a:r>
            <a:endParaRPr lang="en-US" sz="950" dirty="0"/>
          </a:p>
        </p:txBody>
      </p:sp>
      <p:sp>
        <p:nvSpPr>
          <p:cNvPr id="12" name="Shape 9"/>
          <p:cNvSpPr/>
          <p:nvPr/>
        </p:nvSpPr>
        <p:spPr>
          <a:xfrm>
            <a:off x="457200" y="4023360"/>
            <a:ext cx="5760720" cy="1234440"/>
          </a:xfrm>
          <a:prstGeom prst="roundRect">
            <a:avLst>
              <a:gd name="adj" fmla="val 4444"/>
            </a:avLst>
          </a:prstGeom>
          <a:solidFill>
            <a:srgbClr val="1B2A44"/>
          </a:solidFill>
          <a:ln/>
        </p:spPr>
        <p:txBody>
          <a:bodyPr/>
          <a:p/>
        </p:txBody>
      </p:sp>
      <p:sp>
        <p:nvSpPr>
          <p:cNvPr id="13" name="Text 10"/>
          <p:cNvSpPr txBox="1"/>
          <p:nvPr/>
        </p:nvSpPr>
        <p:spPr>
          <a:xfrm>
            <a:off x="731520" y="4114800"/>
            <a:ext cx="2743200" cy="274320"/>
          </a:xfrm>
          <a:prstGeom prst="rect">
            <a:avLst/>
          </a:prstGeom>
          <a:noFill/>
          <a:ln/>
        </p:spPr>
        <p:txBody>
          <a:bodyPr wrap="square" rtlCol="0" anchor="t"/>
          <a:lstStyle/>
          <a:p>
            <a:pPr marL="0" indent="0">
              <a:buNone/>
            </a:pPr>
            <a:r>
              <a:rPr lang="en-US" sz="1200" b="1" dirty="0">
                <a:solidFill>
                  <a:srgbClr val="E8934D"/>
                </a:solidFill>
                <a:latin typeface="Yu Gothic" pitchFamily="34" charset="0"/>
                <a:ea typeface="Yu Gothic" pitchFamily="34" charset="-122"/>
                <a:cs typeface="Yu Gothic" pitchFamily="34" charset="-120"/>
              </a:rPr>
              <a:t>MAE の削減率</a:t>
            </a:r>
            <a:endParaRPr lang="en-US" sz="1200" dirty="0"/>
          </a:p>
        </p:txBody>
      </p:sp>
      <p:sp>
        <p:nvSpPr>
          <p:cNvPr id="10" name="Text 11"/>
          <p:cNvSpPr txBox="1"/>
          <p:nvPr/>
        </p:nvSpPr>
        <p:spPr>
          <a:xfrm>
            <a:off x="731520" y="4370832"/>
            <a:ext cx="2560320" cy="777240"/>
          </a:xfrm>
          <a:prstGeom prst="rect">
            <a:avLst/>
          </a:prstGeom>
          <a:noFill/>
          <a:ln/>
        </p:spPr>
        <p:txBody>
          <a:bodyPr wrap="square" rtlCol="0" anchor="ctr"/>
          <a:lstStyle/>
          <a:p>
            <a:pPr marL="0" indent="0">
              <a:buNone/>
            </a:pPr>
            <a:r>
              <a:rPr lang="en-US" sz="4400" b="1" dirty="0">
                <a:solidFill>
                  <a:srgbClr val="FFFFFF"/>
                </a:solidFill>
                <a:latin typeface="Yu Gothic" pitchFamily="34" charset="0"/>
                <a:ea typeface="Yu Gothic" pitchFamily="34" charset="-122"/>
                <a:cs typeface="Yu Gothic" pitchFamily="34" charset="-120"/>
              </a:rPr>
              <a:t>59.1%</a:t>
            </a:r>
            <a:endParaRPr lang="en-US" sz="4400" dirty="0"/>
          </a:p>
        </p:txBody>
      </p:sp>
      <p:sp>
        <p:nvSpPr>
          <p:cNvPr id="15" name="Text 12"/>
          <p:cNvSpPr txBox="1"/>
          <p:nvPr/>
        </p:nvSpPr>
        <p:spPr>
          <a:xfrm>
            <a:off x="3291840" y="4434840"/>
            <a:ext cx="2834640" cy="685800"/>
          </a:xfrm>
          <a:prstGeom prst="rect">
            <a:avLst/>
          </a:prstGeom>
          <a:noFill/>
          <a:ln/>
        </p:spPr>
        <p:txBody>
          <a:bodyPr wrap="square" rtlCol="0" anchor="ctr"/>
          <a:lstStyle/>
          <a:p>
            <a:pPr marL="0" indent="0">
              <a:buNone/>
            </a:pPr>
            <a:r>
              <a:rPr lang="en-US" sz="1150" dirty="0">
                <a:solidFill>
                  <a:srgbClr val="CFE0EE"/>
                </a:solidFill>
                <a:latin typeface="Yu Gothic" pitchFamily="34" charset="0"/>
                <a:ea typeface="Yu Gothic" pitchFamily="34" charset="-122"/>
                <a:cs typeface="Yu Gothic" pitchFamily="34" charset="-120"/>
              </a:rPr>
              <a:t>43.50 → 17.81 kWh/m²</a:t>
            </a:r>
            <a:endParaRPr lang="en-US" sz="1150" dirty="0"/>
          </a:p>
          <a:p>
            <a:pPr marL="0" indent="0">
              <a:buNone/>
            </a:pPr>
            <a:r>
              <a:rPr lang="en-US" sz="1150" dirty="0">
                <a:solidFill>
                  <a:srgbClr val="CFE0EE"/>
                </a:solidFill>
                <a:latin typeface="Yu Gothic" pitchFamily="34" charset="0"/>
                <a:ea typeface="Yu Gothic" pitchFamily="34" charset="-122"/>
                <a:cs typeface="Yu Gothic" pitchFamily="34" charset="-120"/>
              </a:rPr>
              <a:t>最大誤差率も 18.75% → 7.11%</a:t>
            </a:r>
            <a:endParaRPr lang="en-US" sz="1150" dirty="0"/>
          </a:p>
        </p:txBody>
      </p:sp>
      <p:graphicFrame>
        <p:nvGraphicFramePr>
          <p:cNvPr id="16" name="Chart 0"/>
          <p:cNvGraphicFramePr/>
          <p:nvPr/>
        </p:nvGraphicFramePr>
        <p:xfrm>
          <a:off x="6446520" y="1508760"/>
          <a:ext cx="5285232"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3"/>
          <p:cNvSpPr/>
          <p:nvPr/>
        </p:nvSpPr>
        <p:spPr>
          <a:xfrm>
            <a:off x="457200" y="5440680"/>
            <a:ext cx="11274552" cy="868680"/>
          </a:xfrm>
          <a:prstGeom prst="roundRect">
            <a:avLst>
              <a:gd name="adj" fmla="val 6316"/>
            </a:avLst>
          </a:prstGeom>
          <a:solidFill>
            <a:srgbClr val="FBEBDA"/>
          </a:solidFill>
          <a:ln w="12700">
            <a:solidFill>
              <a:srgbClr val="E8934D"/>
            </a:solidFill>
            <a:prstDash val="solid"/>
          </a:ln>
        </p:spPr>
        <p:txBody>
          <a:bodyPr/>
          <a:p/>
        </p:txBody>
      </p:sp>
      <p:sp>
        <p:nvSpPr>
          <p:cNvPr id="18" name="Text 14"/>
          <p:cNvSpPr txBox="1"/>
          <p:nvPr/>
        </p:nvSpPr>
        <p:spPr>
          <a:xfrm>
            <a:off x="640080" y="5513832"/>
            <a:ext cx="1090879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効果を確認できた範囲</a:t>
            </a:r>
            <a:endParaRPr lang="en-US" sz="1200" dirty="0"/>
          </a:p>
        </p:txBody>
      </p:sp>
      <p:sp>
        <p:nvSpPr>
          <p:cNvPr id="19" name="Text 15"/>
          <p:cNvSpPr txBox="1"/>
          <p:nvPr/>
        </p:nvSpPr>
        <p:spPr>
          <a:xfrm>
            <a:off x="640080" y="5806440"/>
            <a:ext cx="10908792" cy="4480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改善は A 25〜50m・D 10〜25m の局所範囲の6配置で確認したもの。すべての高さ帯で平均誤差は下がったが、個々の予測がすべて改善したわけではない。範囲外は広範囲版を使う。</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完成したツール：2つの計算を別々に行っている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14 / 41</a:t>
            </a:r>
            <a:endParaRPr lang="en-US" sz="1100" dirty="0"/>
          </a:p>
        </p:txBody>
      </p:sp>
      <p:pic>
        <p:nvPicPr>
          <p:cNvPr id="9" name="Image 0" descr="/home/claude/tool/screen.png"/>
          <p:cNvPicPr>
            <a:picLocks noChangeAspect="1"/>
          </p:cNvPicPr>
          <p:nvPr/>
        </p:nvPicPr>
        <p:blipFill>
          <a:blip r:embed="rId3"/>
          <a:stretch>
            <a:fillRect/>
          </a:stretch>
        </p:blipFill>
        <p:spPr>
          <a:xfrm>
            <a:off x="457200" y="1188720"/>
            <a:ext cx="5440680" cy="3018442"/>
          </a:xfrm>
          <a:prstGeom prst="rect">
            <a:avLst/>
          </a:prstGeom>
        </p:spPr>
      </p:pic>
      <p:sp>
        <p:nvSpPr>
          <p:cNvPr id="10" name="Shape 7"/>
          <p:cNvSpPr/>
          <p:nvPr/>
        </p:nvSpPr>
        <p:spPr>
          <a:xfrm>
            <a:off x="457200" y="1188720"/>
            <a:ext cx="5440680" cy="3018442"/>
          </a:xfrm>
          <a:prstGeom prst="rect">
            <a:avLst/>
          </a:prstGeom>
          <a:ln w="12700">
            <a:solidFill>
              <a:srgbClr val="DBE0E6"/>
            </a:solidFill>
            <a:prstDash val="solid"/>
          </a:ln>
        </p:spPr>
        <p:txBody>
          <a:bodyPr/>
          <a:p/>
        </p:txBody>
      </p:sp>
      <p:sp>
        <p:nvSpPr>
          <p:cNvPr id="11" name="Text 8"/>
          <p:cNvSpPr txBox="1"/>
          <p:nvPr/>
        </p:nvSpPr>
        <p:spPr>
          <a:xfrm>
            <a:off x="457200" y="4234594"/>
            <a:ext cx="544068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ツールの画面（例：A 50m・D 14m、局所改良版、2026/9/22 16:06）</a:t>
            </a:r>
            <a:endParaRPr lang="en-US" sz="950" dirty="0"/>
          </a:p>
        </p:txBody>
      </p:sp>
      <p:sp>
        <p:nvSpPr>
          <p:cNvPr id="12" name="Shape 9"/>
          <p:cNvSpPr/>
          <p:nvPr/>
        </p:nvSpPr>
        <p:spPr>
          <a:xfrm>
            <a:off x="457200" y="4572000"/>
            <a:ext cx="5440680" cy="1737360"/>
          </a:xfrm>
          <a:prstGeom prst="roundRect">
            <a:avLst>
              <a:gd name="adj" fmla="val 3158"/>
            </a:avLst>
          </a:prstGeom>
          <a:solidFill>
            <a:srgbClr val="F3F5F8"/>
          </a:solidFill>
          <a:ln w="12700">
            <a:solidFill>
              <a:srgbClr val="DBE0E6"/>
            </a:solidFill>
            <a:prstDash val="solid"/>
          </a:ln>
        </p:spPr>
        <p:txBody>
          <a:bodyPr/>
          <a:p/>
        </p:txBody>
      </p:sp>
      <p:sp>
        <p:nvSpPr>
          <p:cNvPr id="13" name="Text 10"/>
          <p:cNvSpPr txBox="1"/>
          <p:nvPr/>
        </p:nvSpPr>
        <p:spPr>
          <a:xfrm>
            <a:off x="640080" y="4645152"/>
            <a:ext cx="507492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日付を冬→夏に変えると？</a:t>
            </a:r>
            <a:endParaRPr lang="en-US" sz="1200" dirty="0"/>
          </a:p>
        </p:txBody>
      </p:sp>
      <p:sp>
        <p:nvSpPr>
          <p:cNvPr id="14" name="Text 11"/>
          <p:cNvSpPr txBox="1"/>
          <p:nvPr/>
        </p:nvSpPr>
        <p:spPr>
          <a:xfrm>
            <a:off x="640080" y="4937760"/>
            <a:ext cx="5074920" cy="1316736"/>
          </a:xfrm>
          <a:prstGeom prst="rect">
            <a:avLst/>
          </a:prstGeom>
          <a:noFill/>
          <a:ln/>
        </p:spPr>
        <p:txBody>
          <a:bodyPr wrap="square" rtlCol="0" anchor="t"/>
          <a:lstStyle/>
          <a:p>
            <a:pPr marL="0" indent="0">
              <a:lnSpc>
                <a:spcPct val="108000"/>
              </a:lnSpc>
              <a:buNone/>
            </a:pPr>
            <a:r>
              <a:rPr lang="en-US" sz="1050" b="1" dirty="0">
                <a:solidFill>
                  <a:srgbClr val="1B2A44"/>
                </a:solidFill>
                <a:latin typeface="Yu Gothic" pitchFamily="34" charset="0"/>
                <a:ea typeface="Yu Gothic" pitchFamily="34" charset="-122"/>
                <a:cs typeface="Yu Gothic" pitchFamily="34" charset="-120"/>
              </a:rPr>
              <a:t>太陽の位置と影は変わる／年間日射量の予測値は変わらない</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年間値は同じ配置の1年間の結果のため。時刻はスライダーで1分単位、「日中を再生」で4分ずつ進む（6:00〜18:00）。</a:t>
            </a:r>
            <a:endParaRPr lang="en-US" sz="1050" dirty="0"/>
          </a:p>
        </p:txBody>
      </p:sp>
      <p:sp>
        <p:nvSpPr>
          <p:cNvPr id="15" name="Shape 12"/>
          <p:cNvSpPr/>
          <p:nvPr/>
        </p:nvSpPr>
        <p:spPr>
          <a:xfrm>
            <a:off x="6172200" y="118872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16" name="Shape 13"/>
          <p:cNvSpPr/>
          <p:nvPr/>
        </p:nvSpPr>
        <p:spPr>
          <a:xfrm>
            <a:off x="6172200" y="1188720"/>
            <a:ext cx="5559552" cy="420624"/>
          </a:xfrm>
          <a:prstGeom prst="rect">
            <a:avLst/>
          </a:prstGeom>
          <a:solidFill>
            <a:srgbClr val="1F6F78"/>
          </a:solidFill>
          <a:ln/>
        </p:spPr>
        <p:txBody>
          <a:bodyPr/>
          <a:p/>
        </p:txBody>
      </p:sp>
      <p:sp>
        <p:nvSpPr>
          <p:cNvPr id="17" name="Text 14"/>
          <p:cNvSpPr txBox="1"/>
          <p:nvPr/>
        </p:nvSpPr>
        <p:spPr>
          <a:xfrm>
            <a:off x="6355080" y="123444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① 年間日射量の予測</a:t>
            </a:r>
            <a:endParaRPr lang="en-US" sz="1400" dirty="0"/>
          </a:p>
        </p:txBody>
      </p:sp>
      <p:sp>
        <p:nvSpPr>
          <p:cNvPr id="18" name="Shape 15"/>
          <p:cNvSpPr/>
          <p:nvPr/>
        </p:nvSpPr>
        <p:spPr>
          <a:xfrm>
            <a:off x="6355080" y="1755648"/>
            <a:ext cx="868680" cy="274320"/>
          </a:xfrm>
          <a:prstGeom prst="roundRect">
            <a:avLst>
              <a:gd name="adj" fmla="val 16667"/>
            </a:avLst>
          </a:prstGeom>
          <a:solidFill>
            <a:srgbClr val="DCEAEC"/>
          </a:solidFill>
          <a:ln/>
        </p:spPr>
        <p:txBody>
          <a:bodyPr/>
          <a:p/>
        </p:txBody>
      </p:sp>
      <p:sp>
        <p:nvSpPr>
          <p:cNvPr id="19" name="Text 16"/>
          <p:cNvSpPr txBox="1"/>
          <p:nvPr/>
        </p:nvSpPr>
        <p:spPr>
          <a:xfrm>
            <a:off x="6355080" y="1755648"/>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入力</a:t>
            </a:r>
            <a:endParaRPr lang="en-US" sz="1000" dirty="0"/>
          </a:p>
        </p:txBody>
      </p:sp>
      <p:sp>
        <p:nvSpPr>
          <p:cNvPr id="20" name="Text 17"/>
          <p:cNvSpPr txBox="1"/>
          <p:nvPr/>
        </p:nvSpPr>
        <p:spPr>
          <a:xfrm>
            <a:off x="7342632" y="171907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南側建物の高さ A、壁間の隙間 D</a:t>
            </a:r>
            <a:endParaRPr lang="en-US" sz="1050" dirty="0"/>
          </a:p>
        </p:txBody>
      </p:sp>
      <p:sp>
        <p:nvSpPr>
          <p:cNvPr id="21" name="Shape 18"/>
          <p:cNvSpPr/>
          <p:nvPr/>
        </p:nvSpPr>
        <p:spPr>
          <a:xfrm>
            <a:off x="6355080" y="2221992"/>
            <a:ext cx="868680" cy="274320"/>
          </a:xfrm>
          <a:prstGeom prst="roundRect">
            <a:avLst>
              <a:gd name="adj" fmla="val 16667"/>
            </a:avLst>
          </a:prstGeom>
          <a:solidFill>
            <a:srgbClr val="DCEAEC"/>
          </a:solidFill>
          <a:ln/>
        </p:spPr>
        <p:txBody>
          <a:bodyPr/>
          <a:p/>
        </p:txBody>
      </p:sp>
      <p:sp>
        <p:nvSpPr>
          <p:cNvPr id="22" name="Text 19"/>
          <p:cNvSpPr txBox="1"/>
          <p:nvPr/>
        </p:nvSpPr>
        <p:spPr>
          <a:xfrm>
            <a:off x="6355080" y="2221992"/>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もとの値</a:t>
            </a:r>
            <a:endParaRPr lang="en-US" sz="1000" dirty="0"/>
          </a:p>
        </p:txBody>
      </p:sp>
      <p:sp>
        <p:nvSpPr>
          <p:cNvPr id="23" name="Text 20"/>
          <p:cNvSpPr txBox="1"/>
          <p:nvPr/>
        </p:nvSpPr>
        <p:spPr>
          <a:xfrm>
            <a:off x="7342632" y="218541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SEBEで計算済みの年間日射量</a:t>
            </a:r>
            <a:endParaRPr lang="en-US" sz="1050" dirty="0"/>
          </a:p>
        </p:txBody>
      </p:sp>
      <p:sp>
        <p:nvSpPr>
          <p:cNvPr id="24" name="Shape 21"/>
          <p:cNvSpPr/>
          <p:nvPr/>
        </p:nvSpPr>
        <p:spPr>
          <a:xfrm>
            <a:off x="6355080" y="2688336"/>
            <a:ext cx="868680" cy="274320"/>
          </a:xfrm>
          <a:prstGeom prst="roundRect">
            <a:avLst>
              <a:gd name="adj" fmla="val 16667"/>
            </a:avLst>
          </a:prstGeom>
          <a:solidFill>
            <a:srgbClr val="DCEAEC"/>
          </a:solidFill>
          <a:ln/>
        </p:spPr>
        <p:txBody>
          <a:bodyPr/>
          <a:p/>
        </p:txBody>
      </p:sp>
      <p:sp>
        <p:nvSpPr>
          <p:cNvPr id="25" name="Text 22"/>
          <p:cNvSpPr txBox="1"/>
          <p:nvPr/>
        </p:nvSpPr>
        <p:spPr>
          <a:xfrm>
            <a:off x="6355080" y="2688336"/>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方法</a:t>
            </a:r>
            <a:endParaRPr lang="en-US" sz="1000" dirty="0"/>
          </a:p>
        </p:txBody>
      </p:sp>
      <p:sp>
        <p:nvSpPr>
          <p:cNvPr id="26" name="Text 23"/>
          <p:cNvSpPr txBox="1"/>
          <p:nvPr/>
        </p:nvSpPr>
        <p:spPr>
          <a:xfrm>
            <a:off x="7342632" y="265176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双線形補間（広範囲版16配置／局所改良版9配置を手動で切替）</a:t>
            </a:r>
            <a:endParaRPr lang="en-US" sz="1050" dirty="0"/>
          </a:p>
        </p:txBody>
      </p:sp>
      <p:sp>
        <p:nvSpPr>
          <p:cNvPr id="27" name="Shape 24"/>
          <p:cNvSpPr/>
          <p:nvPr/>
        </p:nvSpPr>
        <p:spPr>
          <a:xfrm>
            <a:off x="6355080" y="3154680"/>
            <a:ext cx="868680" cy="274320"/>
          </a:xfrm>
          <a:prstGeom prst="roundRect">
            <a:avLst>
              <a:gd name="adj" fmla="val 16667"/>
            </a:avLst>
          </a:prstGeom>
          <a:solidFill>
            <a:srgbClr val="DCEAEC"/>
          </a:solidFill>
          <a:ln/>
        </p:spPr>
        <p:txBody>
          <a:bodyPr/>
          <a:p/>
        </p:txBody>
      </p:sp>
      <p:sp>
        <p:nvSpPr>
          <p:cNvPr id="28" name="Text 25"/>
          <p:cNvSpPr txBox="1"/>
          <p:nvPr/>
        </p:nvSpPr>
        <p:spPr>
          <a:xfrm>
            <a:off x="6355080" y="3154680"/>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出力</a:t>
            </a:r>
            <a:endParaRPr lang="en-US" sz="1000" dirty="0"/>
          </a:p>
        </p:txBody>
      </p:sp>
      <p:sp>
        <p:nvSpPr>
          <p:cNvPr id="29" name="Text 26"/>
          <p:cNvSpPr txBox="1"/>
          <p:nvPr/>
        </p:nvSpPr>
        <p:spPr>
          <a:xfrm>
            <a:off x="7342632" y="311810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南面5つの高さ帯と全体平均（kWh/m²・1年間の積算）</a:t>
            </a:r>
            <a:endParaRPr lang="en-US" sz="1050" dirty="0"/>
          </a:p>
        </p:txBody>
      </p:sp>
      <p:sp>
        <p:nvSpPr>
          <p:cNvPr id="30" name="Shape 27"/>
          <p:cNvSpPr/>
          <p:nvPr/>
        </p:nvSpPr>
        <p:spPr>
          <a:xfrm>
            <a:off x="6172200" y="384048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31" name="Shape 28"/>
          <p:cNvSpPr/>
          <p:nvPr/>
        </p:nvSpPr>
        <p:spPr>
          <a:xfrm>
            <a:off x="6172200" y="3840480"/>
            <a:ext cx="5559552" cy="420624"/>
          </a:xfrm>
          <a:prstGeom prst="rect">
            <a:avLst/>
          </a:prstGeom>
          <a:solidFill>
            <a:srgbClr val="E8934D"/>
          </a:solidFill>
          <a:ln/>
        </p:spPr>
        <p:txBody>
          <a:bodyPr/>
          <a:p/>
        </p:txBody>
      </p:sp>
      <p:sp>
        <p:nvSpPr>
          <p:cNvPr id="32" name="Text 29"/>
          <p:cNvSpPr txBox="1"/>
          <p:nvPr/>
        </p:nvSpPr>
        <p:spPr>
          <a:xfrm>
            <a:off x="6355080" y="388620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② 指定日時の影</a:t>
            </a:r>
            <a:endParaRPr lang="en-US" sz="1400" dirty="0"/>
          </a:p>
        </p:txBody>
      </p:sp>
      <p:sp>
        <p:nvSpPr>
          <p:cNvPr id="33" name="Shape 30"/>
          <p:cNvSpPr/>
          <p:nvPr/>
        </p:nvSpPr>
        <p:spPr>
          <a:xfrm>
            <a:off x="6355080" y="4407408"/>
            <a:ext cx="868680" cy="274320"/>
          </a:xfrm>
          <a:prstGeom prst="roundRect">
            <a:avLst>
              <a:gd name="adj" fmla="val 16667"/>
            </a:avLst>
          </a:prstGeom>
          <a:solidFill>
            <a:srgbClr val="FBEBDA"/>
          </a:solidFill>
          <a:ln/>
        </p:spPr>
        <p:txBody>
          <a:bodyPr/>
          <a:p/>
        </p:txBody>
      </p:sp>
      <p:sp>
        <p:nvSpPr>
          <p:cNvPr id="34" name="Text 31"/>
          <p:cNvSpPr txBox="1"/>
          <p:nvPr/>
        </p:nvSpPr>
        <p:spPr>
          <a:xfrm>
            <a:off x="6355080" y="4407408"/>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入力</a:t>
            </a:r>
            <a:endParaRPr lang="en-US" sz="1000" dirty="0"/>
          </a:p>
        </p:txBody>
      </p:sp>
      <p:sp>
        <p:nvSpPr>
          <p:cNvPr id="35" name="Text 32"/>
          <p:cNvSpPr txBox="1"/>
          <p:nvPr/>
        </p:nvSpPr>
        <p:spPr>
          <a:xfrm>
            <a:off x="7342632" y="437083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日付・時刻（日本標準時）・緯度・経度・建物の形</a:t>
            </a:r>
            <a:endParaRPr lang="en-US" sz="1050" dirty="0"/>
          </a:p>
        </p:txBody>
      </p:sp>
      <p:sp>
        <p:nvSpPr>
          <p:cNvPr id="36" name="Shape 33"/>
          <p:cNvSpPr/>
          <p:nvPr/>
        </p:nvSpPr>
        <p:spPr>
          <a:xfrm>
            <a:off x="6355080" y="4873752"/>
            <a:ext cx="868680" cy="274320"/>
          </a:xfrm>
          <a:prstGeom prst="roundRect">
            <a:avLst>
              <a:gd name="adj" fmla="val 16667"/>
            </a:avLst>
          </a:prstGeom>
          <a:solidFill>
            <a:srgbClr val="FBEBDA"/>
          </a:solidFill>
          <a:ln/>
        </p:spPr>
        <p:txBody>
          <a:bodyPr/>
          <a:p/>
        </p:txBody>
      </p:sp>
      <p:sp>
        <p:nvSpPr>
          <p:cNvPr id="37" name="Text 34"/>
          <p:cNvSpPr txBox="1"/>
          <p:nvPr/>
        </p:nvSpPr>
        <p:spPr>
          <a:xfrm>
            <a:off x="6355080" y="4873752"/>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方法</a:t>
            </a:r>
            <a:endParaRPr lang="en-US" sz="1000" dirty="0"/>
          </a:p>
        </p:txBody>
      </p:sp>
      <p:sp>
        <p:nvSpPr>
          <p:cNvPr id="38" name="Text 35"/>
          <p:cNvSpPr txBox="1"/>
          <p:nvPr/>
        </p:nvSpPr>
        <p:spPr>
          <a:xfrm>
            <a:off x="7342632" y="483717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NOAAの近似式で太陽の位置 → 光線と建物の交差判定</a:t>
            </a:r>
            <a:endParaRPr lang="en-US" sz="1050" dirty="0"/>
          </a:p>
        </p:txBody>
      </p:sp>
      <p:sp>
        <p:nvSpPr>
          <p:cNvPr id="39" name="Shape 36"/>
          <p:cNvSpPr/>
          <p:nvPr/>
        </p:nvSpPr>
        <p:spPr>
          <a:xfrm>
            <a:off x="6355080" y="5340096"/>
            <a:ext cx="868680" cy="274320"/>
          </a:xfrm>
          <a:prstGeom prst="roundRect">
            <a:avLst>
              <a:gd name="adj" fmla="val 16667"/>
            </a:avLst>
          </a:prstGeom>
          <a:solidFill>
            <a:srgbClr val="FBEBDA"/>
          </a:solidFill>
          <a:ln/>
        </p:spPr>
        <p:txBody>
          <a:bodyPr/>
          <a:p/>
        </p:txBody>
      </p:sp>
      <p:sp>
        <p:nvSpPr>
          <p:cNvPr id="40" name="Text 37"/>
          <p:cNvSpPr txBox="1"/>
          <p:nvPr/>
        </p:nvSpPr>
        <p:spPr>
          <a:xfrm>
            <a:off x="6355080" y="5340096"/>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出力</a:t>
            </a:r>
            <a:endParaRPr lang="en-US" sz="1000" dirty="0"/>
          </a:p>
        </p:txBody>
      </p:sp>
      <p:sp>
        <p:nvSpPr>
          <p:cNvPr id="41" name="Text 38"/>
          <p:cNvSpPr txBox="1"/>
          <p:nvPr/>
        </p:nvSpPr>
        <p:spPr>
          <a:xfrm>
            <a:off x="7342632" y="530352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その時刻の太陽の向き・影・直達日光が当たる割合</a:t>
            </a:r>
            <a:endParaRPr lang="en-US" sz="1050" dirty="0"/>
          </a:p>
        </p:txBody>
      </p:sp>
      <p:sp>
        <p:nvSpPr>
          <p:cNvPr id="42" name="Shape 39"/>
          <p:cNvSpPr/>
          <p:nvPr/>
        </p:nvSpPr>
        <p:spPr>
          <a:xfrm>
            <a:off x="6355080" y="5806440"/>
            <a:ext cx="868680" cy="274320"/>
          </a:xfrm>
          <a:prstGeom prst="roundRect">
            <a:avLst>
              <a:gd name="adj" fmla="val 16667"/>
            </a:avLst>
          </a:prstGeom>
          <a:solidFill>
            <a:srgbClr val="FBEBDA"/>
          </a:solidFill>
          <a:ln/>
        </p:spPr>
        <p:txBody>
          <a:bodyPr/>
          <a:p/>
        </p:txBody>
      </p:sp>
      <p:sp>
        <p:nvSpPr>
          <p:cNvPr id="43" name="Text 40"/>
          <p:cNvSpPr txBox="1"/>
          <p:nvPr/>
        </p:nvSpPr>
        <p:spPr>
          <a:xfrm>
            <a:off x="6355080" y="5806440"/>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省略</a:t>
            </a:r>
            <a:endParaRPr lang="en-US" sz="1000" dirty="0"/>
          </a:p>
        </p:txBody>
      </p:sp>
      <p:sp>
        <p:nvSpPr>
          <p:cNvPr id="44" name="Text 41"/>
          <p:cNvSpPr txBox="1"/>
          <p:nvPr/>
        </p:nvSpPr>
        <p:spPr>
          <a:xfrm>
            <a:off x="7342632" y="576986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雲などの気象条件は考慮しない（幾何学的な影）</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太陽の位置は「場所」と「日時」から計算できる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15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曇っていても雲の向こうの太陽の方向は決まっている。NOAAが公開する太陽位置の近似式（既存ツールの実装を再利用）で求める。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1206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入力</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今回の設定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例：2026年12月21日</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時刻</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例：12:00（日本標準時）</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緯度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35.70274°N</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経度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139.66225°E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Shape 8"/>
          <p:cNvSpPr/>
          <p:nvPr/>
        </p:nvSpPr>
        <p:spPr>
          <a:xfrm>
            <a:off x="457200" y="342900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2" name="Shape 9"/>
          <p:cNvSpPr/>
          <p:nvPr/>
        </p:nvSpPr>
        <p:spPr>
          <a:xfrm>
            <a:off x="621792" y="3657600"/>
            <a:ext cx="402336" cy="402336"/>
          </a:xfrm>
          <a:prstGeom prst="ellipse">
            <a:avLst/>
          </a:prstGeom>
          <a:solidFill>
            <a:srgbClr val="1F6F78"/>
          </a:solidFill>
          <a:ln/>
        </p:spPr>
        <p:txBody>
          <a:bodyPr/>
          <a:p/>
        </p:txBody>
      </p:sp>
      <p:sp>
        <p:nvSpPr>
          <p:cNvPr id="13" name="Text 10"/>
          <p:cNvSpPr txBox="1"/>
          <p:nvPr/>
        </p:nvSpPr>
        <p:spPr>
          <a:xfrm>
            <a:off x="621792" y="365760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4" name="Text 11"/>
          <p:cNvSpPr txBox="1"/>
          <p:nvPr/>
        </p:nvSpPr>
        <p:spPr>
          <a:xfrm>
            <a:off x="1188720" y="349300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1年の中のどの時期かを求める</a:t>
            </a:r>
            <a:endParaRPr lang="en-US" sz="1200" dirty="0"/>
          </a:p>
        </p:txBody>
      </p:sp>
      <p:sp>
        <p:nvSpPr>
          <p:cNvPr id="15" name="Text 12"/>
          <p:cNvSpPr txBox="1"/>
          <p:nvPr/>
        </p:nvSpPr>
        <p:spPr>
          <a:xfrm>
            <a:off x="1188720" y="379476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季節によって太陽の通り道（高さ）が変わる</a:t>
            </a:r>
            <a:endParaRPr lang="en-US" sz="1020" dirty="0"/>
          </a:p>
        </p:txBody>
      </p:sp>
      <p:sp>
        <p:nvSpPr>
          <p:cNvPr id="10" name="Shape 13"/>
          <p:cNvSpPr/>
          <p:nvPr/>
        </p:nvSpPr>
        <p:spPr>
          <a:xfrm>
            <a:off x="457200" y="438912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7" name="Shape 14"/>
          <p:cNvSpPr/>
          <p:nvPr/>
        </p:nvSpPr>
        <p:spPr>
          <a:xfrm>
            <a:off x="621792" y="4617720"/>
            <a:ext cx="402336" cy="402336"/>
          </a:xfrm>
          <a:prstGeom prst="ellipse">
            <a:avLst/>
          </a:prstGeom>
          <a:solidFill>
            <a:srgbClr val="1F6F78"/>
          </a:solidFill>
          <a:ln/>
        </p:spPr>
        <p:txBody>
          <a:bodyPr/>
          <a:p/>
        </p:txBody>
      </p:sp>
      <p:sp>
        <p:nvSpPr>
          <p:cNvPr id="18" name="Text 15"/>
          <p:cNvSpPr txBox="1"/>
          <p:nvPr/>
        </p:nvSpPr>
        <p:spPr>
          <a:xfrm>
            <a:off x="621792" y="461772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9" name="Text 16"/>
          <p:cNvSpPr txBox="1"/>
          <p:nvPr/>
        </p:nvSpPr>
        <p:spPr>
          <a:xfrm>
            <a:off x="1188720" y="445312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その場所の「太陽の時刻」を求める</a:t>
            </a:r>
            <a:endParaRPr lang="en-US" sz="1200" dirty="0"/>
          </a:p>
        </p:txBody>
      </p:sp>
      <p:sp>
        <p:nvSpPr>
          <p:cNvPr id="20" name="Text 17"/>
          <p:cNvSpPr txBox="1"/>
          <p:nvPr/>
        </p:nvSpPr>
        <p:spPr>
          <a:xfrm>
            <a:off x="1188720" y="475488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時計の12時と太陽が真南に来る時刻のずれを、経度・時期から補正</a:t>
            </a:r>
            <a:endParaRPr lang="en-US" sz="1020" dirty="0"/>
          </a:p>
        </p:txBody>
      </p:sp>
      <p:sp>
        <p:nvSpPr>
          <p:cNvPr id="21" name="Shape 18"/>
          <p:cNvSpPr/>
          <p:nvPr/>
        </p:nvSpPr>
        <p:spPr>
          <a:xfrm>
            <a:off x="457200" y="5349240"/>
            <a:ext cx="5120640" cy="868680"/>
          </a:xfrm>
          <a:prstGeom prst="roundRect">
            <a:avLst>
              <a:gd name="adj" fmla="val 6316"/>
            </a:avLst>
          </a:prstGeom>
          <a:solidFill>
            <a:srgbClr val="EAEEF2"/>
          </a:solidFill>
          <a:ln w="12700">
            <a:solidFill>
              <a:srgbClr val="DBE0E6"/>
            </a:solidFill>
            <a:prstDash val="solid"/>
          </a:ln>
        </p:spPr>
        <p:txBody>
          <a:bodyPr/>
          <a:p/>
        </p:txBody>
      </p:sp>
      <p:sp>
        <p:nvSpPr>
          <p:cNvPr id="22" name="Shape 19"/>
          <p:cNvSpPr/>
          <p:nvPr/>
        </p:nvSpPr>
        <p:spPr>
          <a:xfrm>
            <a:off x="621792" y="5577840"/>
            <a:ext cx="402336" cy="402336"/>
          </a:xfrm>
          <a:prstGeom prst="ellipse">
            <a:avLst/>
          </a:prstGeom>
          <a:solidFill>
            <a:srgbClr val="1F6F78"/>
          </a:solidFill>
          <a:ln/>
        </p:spPr>
        <p:txBody>
          <a:bodyPr/>
          <a:p/>
        </p:txBody>
      </p:sp>
      <p:sp>
        <p:nvSpPr>
          <p:cNvPr id="23" name="Text 20"/>
          <p:cNvSpPr txBox="1"/>
          <p:nvPr/>
        </p:nvSpPr>
        <p:spPr>
          <a:xfrm>
            <a:off x="621792" y="557784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4" name="Text 21"/>
          <p:cNvSpPr txBox="1"/>
          <p:nvPr/>
        </p:nvSpPr>
        <p:spPr>
          <a:xfrm>
            <a:off x="1188720" y="541324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太陽の高さと方向を求める</a:t>
            </a:r>
            <a:endParaRPr lang="en-US" sz="1200" dirty="0"/>
          </a:p>
        </p:txBody>
      </p:sp>
      <p:sp>
        <p:nvSpPr>
          <p:cNvPr id="25" name="Text 22"/>
          <p:cNvSpPr txBox="1"/>
          <p:nvPr/>
        </p:nvSpPr>
        <p:spPr>
          <a:xfrm>
            <a:off x="1188720" y="571500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太陽高度：地平線0°〜真上90°／方位角：北0°・東90°・南180°・西270°</a:t>
            </a:r>
            <a:endParaRPr lang="en-US" sz="1020" dirty="0"/>
          </a:p>
        </p:txBody>
      </p:sp>
      <p:graphicFrame>
        <p:nvGraphicFramePr>
          <p:cNvPr id="26" name="Chart 0"/>
          <p:cNvGraphicFramePr/>
          <p:nvPr/>
        </p:nvGraphicFramePr>
        <p:xfrm>
          <a:off x="5943600" y="1508760"/>
          <a:ext cx="578815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3"/>
          <p:cNvSpPr/>
          <p:nvPr/>
        </p:nvSpPr>
        <p:spPr>
          <a:xfrm>
            <a:off x="5943600" y="4663440"/>
            <a:ext cx="2788920" cy="1645920"/>
          </a:xfrm>
          <a:prstGeom prst="roundRect">
            <a:avLst>
              <a:gd name="adj" fmla="val 3333"/>
            </a:avLst>
          </a:prstGeom>
          <a:solidFill>
            <a:srgbClr val="E1EEE7"/>
          </a:solidFill>
          <a:ln w="12700">
            <a:solidFill>
              <a:srgbClr val="4C8C6B"/>
            </a:solidFill>
            <a:prstDash val="solid"/>
          </a:ln>
        </p:spPr>
        <p:txBody>
          <a:bodyPr/>
          <a:p/>
        </p:txBody>
      </p:sp>
      <p:sp>
        <p:nvSpPr>
          <p:cNvPr id="28" name="Text 24"/>
          <p:cNvSpPr txBox="1"/>
          <p:nvPr/>
        </p:nvSpPr>
        <p:spPr>
          <a:xfrm>
            <a:off x="6126480" y="4736592"/>
            <a:ext cx="2423160"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代表日の考え方</a:t>
            </a:r>
            <a:endParaRPr lang="en-US" sz="1200" dirty="0"/>
          </a:p>
        </p:txBody>
      </p:sp>
      <p:sp>
        <p:nvSpPr>
          <p:cNvPr id="29" name="Text 25"/>
          <p:cNvSpPr txBox="1"/>
          <p:nvPr/>
        </p:nvSpPr>
        <p:spPr>
          <a:xfrm>
            <a:off x="6126480"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春分・夏至・秋分・冬至の頃の1日を選び、季節による影の違いを見やすくしている（季節の気象を平均したものではない）。</a:t>
            </a:r>
            <a:endParaRPr lang="en-US" sz="1000" dirty="0"/>
          </a:p>
        </p:txBody>
      </p:sp>
      <p:sp>
        <p:nvSpPr>
          <p:cNvPr id="30" name="Shape 26"/>
          <p:cNvSpPr/>
          <p:nvPr/>
        </p:nvSpPr>
        <p:spPr>
          <a:xfrm>
            <a:off x="8942832" y="4663440"/>
            <a:ext cx="2788920" cy="1645920"/>
          </a:xfrm>
          <a:prstGeom prst="roundRect">
            <a:avLst>
              <a:gd name="adj" fmla="val 3333"/>
            </a:avLst>
          </a:prstGeom>
          <a:solidFill>
            <a:srgbClr val="FBEBDA"/>
          </a:solidFill>
          <a:ln w="12700">
            <a:solidFill>
              <a:srgbClr val="E8934D"/>
            </a:solidFill>
            <a:prstDash val="solid"/>
          </a:ln>
        </p:spPr>
        <p:txBody>
          <a:bodyPr/>
          <a:p/>
        </p:txBody>
      </p:sp>
      <p:sp>
        <p:nvSpPr>
          <p:cNvPr id="31" name="Text 27"/>
          <p:cNvSpPr txBox="1"/>
          <p:nvPr/>
        </p:nvSpPr>
        <p:spPr>
          <a:xfrm>
            <a:off x="9125712" y="4736592"/>
            <a:ext cx="24231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注意</a:t>
            </a:r>
            <a:endParaRPr lang="en-US" sz="1200" dirty="0"/>
          </a:p>
        </p:txBody>
      </p:sp>
      <p:sp>
        <p:nvSpPr>
          <p:cNvPr id="32" name="Text 28"/>
          <p:cNvSpPr txBox="1"/>
          <p:nvPr/>
        </p:nvSpPr>
        <p:spPr>
          <a:xfrm>
            <a:off x="9125712"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高度は計算値で、実測との誤差は未評価。季節ボタンは2026年固定。自動再生は6:00〜18:00の固定範囲。</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影の付け方：壁の点から太陽へ線を伸ばして調べる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16 / 41</a:t>
            </a:r>
            <a:endParaRPr lang="en-US" sz="1100" dirty="0"/>
          </a:p>
        </p:txBody>
      </p:sp>
      <p:sp>
        <p:nvSpPr>
          <p:cNvPr id="9" name="Shape 7"/>
          <p:cNvSpPr/>
          <p:nvPr/>
        </p:nvSpPr>
        <p:spPr>
          <a:xfrm>
            <a:off x="457200" y="1188720"/>
            <a:ext cx="5852160" cy="4114800"/>
          </a:xfrm>
          <a:prstGeom prst="roundRect">
            <a:avLst>
              <a:gd name="adj" fmla="val 1333"/>
            </a:avLst>
          </a:prstGeom>
          <a:solidFill>
            <a:srgbClr val="F3F5F8"/>
          </a:solidFill>
          <a:ln w="12700">
            <a:solidFill>
              <a:srgbClr val="DBE0E6"/>
            </a:solidFill>
            <a:prstDash val="solid"/>
          </a:ln>
        </p:spPr>
        <p:txBody>
          <a:bodyPr/>
          <a:p/>
        </p:txBody>
      </p:sp>
      <p:sp>
        <p:nvSpPr>
          <p:cNvPr id="10" name="Shape 8"/>
          <p:cNvSpPr/>
          <p:nvPr/>
        </p:nvSpPr>
        <p:spPr>
          <a:xfrm>
            <a:off x="685800" y="4800600"/>
            <a:ext cx="5440680" cy="0"/>
          </a:xfrm>
          <a:prstGeom prst="line">
            <a:avLst/>
          </a:prstGeom>
          <a:noFill/>
          <a:ln w="19050">
            <a:solidFill>
              <a:srgbClr val="6B7480"/>
            </a:solidFill>
            <a:prstDash val="solid"/>
          </a:ln>
        </p:spPr>
        <p:txBody>
          <a:bodyPr/>
          <a:p/>
        </p:txBody>
      </p:sp>
      <p:sp>
        <p:nvSpPr>
          <p:cNvPr id="11" name="Shape 9"/>
          <p:cNvSpPr/>
          <p:nvPr/>
        </p:nvSpPr>
        <p:spPr>
          <a:xfrm>
            <a:off x="960120" y="2788920"/>
            <a:ext cx="2011680" cy="2011680"/>
          </a:xfrm>
          <a:prstGeom prst="rect">
            <a:avLst/>
          </a:prstGeom>
          <a:solidFill>
            <a:srgbClr val="1F6F78"/>
          </a:solidFill>
          <a:ln/>
        </p:spPr>
        <p:txBody>
          <a:bodyPr/>
          <a:p/>
        </p:txBody>
      </p:sp>
      <p:sp>
        <p:nvSpPr>
          <p:cNvPr id="12" name="Text 10"/>
          <p:cNvSpPr txBox="1"/>
          <p:nvPr/>
        </p:nvSpPr>
        <p:spPr>
          <a:xfrm>
            <a:off x="960120" y="342900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A＝50m</a:t>
            </a:r>
            <a:endParaRPr lang="en-US" sz="1050" dirty="0"/>
          </a:p>
        </p:txBody>
      </p:sp>
      <p:sp>
        <p:nvSpPr>
          <p:cNvPr id="13" name="Shape 11"/>
          <p:cNvSpPr/>
          <p:nvPr/>
        </p:nvSpPr>
        <p:spPr>
          <a:xfrm>
            <a:off x="3977640" y="2788920"/>
            <a:ext cx="2011680" cy="2011680"/>
          </a:xfrm>
          <a:prstGeom prst="rect">
            <a:avLst/>
          </a:prstGeom>
          <a:solidFill>
            <a:srgbClr val="1B2A44"/>
          </a:solidFill>
          <a:ln/>
        </p:spPr>
        <p:txBody>
          <a:bodyPr/>
          <a:p/>
        </p:txBody>
      </p:sp>
      <p:sp>
        <p:nvSpPr>
          <p:cNvPr id="14" name="Text 12"/>
          <p:cNvSpPr txBox="1"/>
          <p:nvPr/>
        </p:nvSpPr>
        <p:spPr>
          <a:xfrm>
            <a:off x="4114800" y="393192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a:t>
            </a:r>
            <a:endParaRPr lang="en-US" sz="1050" dirty="0"/>
          </a:p>
        </p:txBody>
      </p:sp>
      <p:sp>
        <p:nvSpPr>
          <p:cNvPr id="15" name="Shape 13"/>
          <p:cNvSpPr/>
          <p:nvPr/>
        </p:nvSpPr>
        <p:spPr>
          <a:xfrm>
            <a:off x="3977640" y="2788920"/>
            <a:ext cx="91440" cy="579364"/>
          </a:xfrm>
          <a:prstGeom prst="rect">
            <a:avLst/>
          </a:prstGeom>
          <a:solidFill>
            <a:srgbClr val="E8934D"/>
          </a:solidFill>
          <a:ln/>
        </p:spPr>
        <p:txBody>
          <a:bodyPr/>
          <a:p/>
        </p:txBody>
      </p:sp>
      <p:sp>
        <p:nvSpPr>
          <p:cNvPr id="16" name="Shape 14"/>
          <p:cNvSpPr/>
          <p:nvPr/>
        </p:nvSpPr>
        <p:spPr>
          <a:xfrm>
            <a:off x="3977640" y="3368284"/>
            <a:ext cx="91440" cy="1432316"/>
          </a:xfrm>
          <a:prstGeom prst="rect">
            <a:avLst/>
          </a:prstGeom>
          <a:solidFill>
            <a:srgbClr val="5A6272"/>
          </a:solidFill>
          <a:ln/>
        </p:spPr>
        <p:txBody>
          <a:bodyPr/>
          <a:p/>
        </p:txBody>
      </p:sp>
      <p:sp>
        <p:nvSpPr>
          <p:cNvPr id="17" name="Shape 15"/>
          <p:cNvSpPr/>
          <p:nvPr/>
        </p:nvSpPr>
        <p:spPr>
          <a:xfrm>
            <a:off x="845820" y="1225732"/>
            <a:ext cx="45720" cy="77724"/>
          </a:xfrm>
          <a:prstGeom prst="rect">
            <a:avLst/>
          </a:prstGeom>
          <a:solidFill>
            <a:srgbClr val="E8934D"/>
          </a:solidFill>
          <a:ln/>
        </p:spPr>
        <p:txBody>
          <a:bodyPr/>
          <a:p/>
        </p:txBody>
      </p:sp>
      <p:sp>
        <p:nvSpPr>
          <p:cNvPr id="18" name="Shape 16"/>
          <p:cNvSpPr/>
          <p:nvPr/>
        </p:nvSpPr>
        <p:spPr>
          <a:xfrm rot="2700000">
            <a:off x="1005202" y="1291750"/>
            <a:ext cx="45720" cy="77724"/>
          </a:xfrm>
          <a:prstGeom prst="rect">
            <a:avLst/>
          </a:prstGeom>
          <a:solidFill>
            <a:srgbClr val="E8934D"/>
          </a:solidFill>
          <a:ln/>
        </p:spPr>
        <p:txBody>
          <a:bodyPr/>
          <a:p/>
        </p:txBody>
      </p:sp>
      <p:sp>
        <p:nvSpPr>
          <p:cNvPr id="19" name="Shape 17"/>
          <p:cNvSpPr/>
          <p:nvPr/>
        </p:nvSpPr>
        <p:spPr>
          <a:xfrm rot="5400000">
            <a:off x="1071220" y="1451131"/>
            <a:ext cx="45720" cy="77724"/>
          </a:xfrm>
          <a:prstGeom prst="rect">
            <a:avLst/>
          </a:prstGeom>
          <a:solidFill>
            <a:srgbClr val="E8934D"/>
          </a:solidFill>
          <a:ln/>
        </p:spPr>
        <p:txBody>
          <a:bodyPr/>
          <a:p/>
        </p:txBody>
      </p:sp>
      <p:sp>
        <p:nvSpPr>
          <p:cNvPr id="20" name="Shape 18"/>
          <p:cNvSpPr/>
          <p:nvPr/>
        </p:nvSpPr>
        <p:spPr>
          <a:xfrm rot="8100000">
            <a:off x="1005202" y="1610513"/>
            <a:ext cx="45720" cy="77724"/>
          </a:xfrm>
          <a:prstGeom prst="rect">
            <a:avLst/>
          </a:prstGeom>
          <a:solidFill>
            <a:srgbClr val="E8934D"/>
          </a:solidFill>
          <a:ln/>
        </p:spPr>
        <p:txBody>
          <a:bodyPr/>
          <a:p/>
        </p:txBody>
      </p:sp>
      <p:sp>
        <p:nvSpPr>
          <p:cNvPr id="21" name="Shape 19"/>
          <p:cNvSpPr/>
          <p:nvPr/>
        </p:nvSpPr>
        <p:spPr>
          <a:xfrm rot="10800000">
            <a:off x="845820" y="1676531"/>
            <a:ext cx="45720" cy="77724"/>
          </a:xfrm>
          <a:prstGeom prst="rect">
            <a:avLst/>
          </a:prstGeom>
          <a:solidFill>
            <a:srgbClr val="E8934D"/>
          </a:solidFill>
          <a:ln/>
        </p:spPr>
        <p:txBody>
          <a:bodyPr/>
          <a:p/>
        </p:txBody>
      </p:sp>
      <p:sp>
        <p:nvSpPr>
          <p:cNvPr id="22" name="Shape 20"/>
          <p:cNvSpPr/>
          <p:nvPr/>
        </p:nvSpPr>
        <p:spPr>
          <a:xfrm rot="13500000">
            <a:off x="686438" y="1610513"/>
            <a:ext cx="45720" cy="77724"/>
          </a:xfrm>
          <a:prstGeom prst="rect">
            <a:avLst/>
          </a:prstGeom>
          <a:solidFill>
            <a:srgbClr val="E8934D"/>
          </a:solidFill>
          <a:ln/>
        </p:spPr>
        <p:txBody>
          <a:bodyPr/>
          <a:p/>
        </p:txBody>
      </p:sp>
      <p:sp>
        <p:nvSpPr>
          <p:cNvPr id="23" name="Shape 21"/>
          <p:cNvSpPr/>
          <p:nvPr/>
        </p:nvSpPr>
        <p:spPr>
          <a:xfrm rot="16200000">
            <a:off x="620420" y="1451131"/>
            <a:ext cx="45720" cy="77724"/>
          </a:xfrm>
          <a:prstGeom prst="rect">
            <a:avLst/>
          </a:prstGeom>
          <a:solidFill>
            <a:srgbClr val="E8934D"/>
          </a:solidFill>
          <a:ln/>
        </p:spPr>
        <p:txBody>
          <a:bodyPr/>
          <a:p/>
        </p:txBody>
      </p:sp>
      <p:sp>
        <p:nvSpPr>
          <p:cNvPr id="24" name="Shape 22"/>
          <p:cNvSpPr/>
          <p:nvPr/>
        </p:nvSpPr>
        <p:spPr>
          <a:xfrm rot="18900000">
            <a:off x="686438" y="1291750"/>
            <a:ext cx="45720" cy="77724"/>
          </a:xfrm>
          <a:prstGeom prst="rect">
            <a:avLst/>
          </a:prstGeom>
          <a:solidFill>
            <a:srgbClr val="E8934D"/>
          </a:solidFill>
          <a:ln/>
        </p:spPr>
        <p:txBody>
          <a:bodyPr/>
          <a:p/>
        </p:txBody>
      </p:sp>
      <p:sp>
        <p:nvSpPr>
          <p:cNvPr id="25" name="Shape 23"/>
          <p:cNvSpPr/>
          <p:nvPr/>
        </p:nvSpPr>
        <p:spPr>
          <a:xfrm>
            <a:off x="713232" y="1334545"/>
            <a:ext cx="310896" cy="310896"/>
          </a:xfrm>
          <a:prstGeom prst="ellipse">
            <a:avLst/>
          </a:prstGeom>
          <a:solidFill>
            <a:srgbClr val="E8934D"/>
          </a:solidFill>
          <a:ln/>
        </p:spPr>
        <p:txBody>
          <a:bodyPr/>
          <a:p/>
        </p:txBody>
      </p:sp>
      <p:sp>
        <p:nvSpPr>
          <p:cNvPr id="26" name="Shape 24"/>
          <p:cNvSpPr/>
          <p:nvPr/>
        </p:nvSpPr>
        <p:spPr>
          <a:xfrm>
            <a:off x="1234440" y="1784497"/>
            <a:ext cx="2743200" cy="1583787"/>
          </a:xfrm>
          <a:prstGeom prst="line">
            <a:avLst/>
          </a:prstGeom>
          <a:noFill/>
          <a:ln w="22225">
            <a:solidFill>
              <a:srgbClr val="C56A2C"/>
            </a:solidFill>
            <a:prstDash val="dash"/>
          </a:ln>
        </p:spPr>
        <p:txBody>
          <a:bodyPr/>
          <a:p/>
        </p:txBody>
      </p:sp>
      <p:sp>
        <p:nvSpPr>
          <p:cNvPr id="27" name="Text 25"/>
          <p:cNvSpPr txBox="1"/>
          <p:nvPr/>
        </p:nvSpPr>
        <p:spPr>
          <a:xfrm>
            <a:off x="3017520" y="1950964"/>
            <a:ext cx="1371600" cy="256032"/>
          </a:xfrm>
          <a:prstGeom prst="rect">
            <a:avLst/>
          </a:prstGeom>
          <a:noFill/>
          <a:ln/>
        </p:spPr>
        <p:txBody>
          <a:bodyPr wrap="square" rtlCol="0" anchor="t"/>
          <a:lstStyle/>
          <a:p>
            <a:pPr marL="0" indent="0">
              <a:buNone/>
            </a:pPr>
            <a:r>
              <a:rPr lang="en-US" sz="1050" b="1" dirty="0">
                <a:solidFill>
                  <a:srgbClr val="C56A2C"/>
                </a:solidFill>
                <a:latin typeface="Yu Gothic" pitchFamily="34" charset="0"/>
                <a:ea typeface="Yu Gothic" pitchFamily="34" charset="-122"/>
                <a:cs typeface="Yu Gothic" pitchFamily="34" charset="-120"/>
              </a:rPr>
              <a:t>太陽高度 30°</a:t>
            </a:r>
            <a:endParaRPr lang="en-US" sz="1050" dirty="0"/>
          </a:p>
        </p:txBody>
      </p:sp>
      <p:sp>
        <p:nvSpPr>
          <p:cNvPr id="28" name="Text 26"/>
          <p:cNvSpPr txBox="1"/>
          <p:nvPr/>
        </p:nvSpPr>
        <p:spPr>
          <a:xfrm>
            <a:off x="4160520" y="3423148"/>
            <a:ext cx="1828800" cy="256032"/>
          </a:xfrm>
          <a:prstGeom prst="rect">
            <a:avLst/>
          </a:prstGeom>
          <a:noFill/>
          <a:ln/>
        </p:spPr>
        <p:txBody>
          <a:bodyPr wrap="square" lIns="0" tIns="0" rIns="0" bIns="0" rtlCol="0" anchor="t"/>
          <a:lstStyle/>
          <a:p>
            <a:pPr marL="0" indent="0">
              <a:buNone/>
            </a:pPr>
            <a:r>
              <a:rPr lang="en-US" sz="1000" b="1" dirty="0">
                <a:solidFill>
                  <a:srgbClr val="FFFFFF"/>
                </a:solidFill>
                <a:latin typeface="Yu Gothic" pitchFamily="34" charset="0"/>
                <a:ea typeface="Yu Gothic" pitchFamily="34" charset="-122"/>
                <a:cs typeface="Yu Gothic" pitchFamily="34" charset="-120"/>
              </a:rPr>
              <a:t>影の上端 約35.6m</a:t>
            </a:r>
            <a:endParaRPr lang="en-US" sz="1000" dirty="0"/>
          </a:p>
        </p:txBody>
      </p:sp>
      <p:sp>
        <p:nvSpPr>
          <p:cNvPr id="29" name="Shape 27"/>
          <p:cNvSpPr/>
          <p:nvPr/>
        </p:nvSpPr>
        <p:spPr>
          <a:xfrm>
            <a:off x="4069080" y="3368284"/>
            <a:ext cx="2011680" cy="0"/>
          </a:xfrm>
          <a:prstGeom prst="line">
            <a:avLst/>
          </a:prstGeom>
          <a:noFill/>
          <a:ln w="12700">
            <a:solidFill>
              <a:srgbClr val="FFFFFF"/>
            </a:solidFill>
            <a:prstDash val="sysDash"/>
          </a:ln>
        </p:spPr>
        <p:txBody>
          <a:bodyPr/>
          <a:p/>
        </p:txBody>
      </p:sp>
      <p:sp>
        <p:nvSpPr>
          <p:cNvPr id="30" name="Shape 28"/>
          <p:cNvSpPr/>
          <p:nvPr/>
        </p:nvSpPr>
        <p:spPr>
          <a:xfrm>
            <a:off x="2377440" y="2066212"/>
            <a:ext cx="1600200" cy="923876"/>
          </a:xfrm>
          <a:prstGeom prst="line">
            <a:avLst/>
          </a:prstGeom>
          <a:noFill/>
          <a:ln w="19050">
            <a:solidFill>
              <a:srgbClr val="4C8C6B"/>
            </a:solidFill>
            <a:prstDash val="solid"/>
            <a:headEnd type="triangle"/>
          </a:ln>
        </p:spPr>
        <p:txBody>
          <a:bodyPr/>
          <a:p/>
        </p:txBody>
      </p:sp>
      <p:sp>
        <p:nvSpPr>
          <p:cNvPr id="31" name="Shape 29"/>
          <p:cNvSpPr/>
          <p:nvPr/>
        </p:nvSpPr>
        <p:spPr>
          <a:xfrm>
            <a:off x="3913632" y="2926080"/>
            <a:ext cx="128016" cy="128016"/>
          </a:xfrm>
          <a:prstGeom prst="ellipse">
            <a:avLst/>
          </a:prstGeom>
          <a:solidFill>
            <a:srgbClr val="4C8C6B"/>
          </a:solidFill>
          <a:ln w="12700">
            <a:solidFill>
              <a:srgbClr val="FFFFFF"/>
            </a:solidFill>
            <a:prstDash val="solid"/>
          </a:ln>
        </p:spPr>
        <p:txBody>
          <a:bodyPr/>
          <a:p/>
        </p:txBody>
      </p:sp>
      <p:sp>
        <p:nvSpPr>
          <p:cNvPr id="32" name="Shape 30"/>
          <p:cNvSpPr/>
          <p:nvPr/>
        </p:nvSpPr>
        <p:spPr>
          <a:xfrm>
            <a:off x="2971800" y="3415206"/>
            <a:ext cx="1005840" cy="580722"/>
          </a:xfrm>
          <a:prstGeom prst="line">
            <a:avLst/>
          </a:prstGeom>
          <a:noFill/>
          <a:ln w="19050">
            <a:solidFill>
              <a:srgbClr val="B04A3F"/>
            </a:solidFill>
            <a:prstDash val="solid"/>
            <a:headEnd type="triangle"/>
          </a:ln>
        </p:spPr>
        <p:txBody>
          <a:bodyPr/>
          <a:p/>
        </p:txBody>
      </p:sp>
      <p:sp>
        <p:nvSpPr>
          <p:cNvPr id="33" name="Shape 31"/>
          <p:cNvSpPr/>
          <p:nvPr/>
        </p:nvSpPr>
        <p:spPr>
          <a:xfrm>
            <a:off x="3913632" y="3931920"/>
            <a:ext cx="128016" cy="128016"/>
          </a:xfrm>
          <a:prstGeom prst="ellipse">
            <a:avLst/>
          </a:prstGeom>
          <a:solidFill>
            <a:srgbClr val="B04A3F"/>
          </a:solidFill>
          <a:ln w="12700">
            <a:solidFill>
              <a:srgbClr val="FFFFFF"/>
            </a:solidFill>
            <a:prstDash val="solid"/>
          </a:ln>
        </p:spPr>
        <p:txBody>
          <a:bodyPr/>
          <a:p/>
        </p:txBody>
      </p:sp>
      <p:sp>
        <p:nvSpPr>
          <p:cNvPr id="34" name="Text 32"/>
          <p:cNvSpPr txBox="1"/>
          <p:nvPr/>
        </p:nvSpPr>
        <p:spPr>
          <a:xfrm>
            <a:off x="1600200" y="1791892"/>
            <a:ext cx="731520" cy="237744"/>
          </a:xfrm>
          <a:prstGeom prst="rect">
            <a:avLst/>
          </a:prstGeom>
          <a:noFill/>
          <a:ln/>
        </p:spPr>
        <p:txBody>
          <a:bodyPr wrap="square" lIns="0" tIns="0" rIns="0" bIns="0" rtlCol="0" anchor="t"/>
          <a:lstStyle/>
          <a:p>
            <a:pPr marL="0" indent="0">
              <a:buNone/>
            </a:pPr>
            <a:r>
              <a:rPr lang="en-US" sz="1000" b="1" dirty="0">
                <a:solidFill>
                  <a:srgbClr val="4C8C6B"/>
                </a:solidFill>
                <a:latin typeface="Yu Gothic" pitchFamily="34" charset="0"/>
                <a:ea typeface="Yu Gothic" pitchFamily="34" charset="-122"/>
                <a:cs typeface="Yu Gothic" pitchFamily="34" charset="-120"/>
              </a:rPr>
              <a:t>届く ✓</a:t>
            </a:r>
            <a:endParaRPr lang="en-US" sz="1000" dirty="0"/>
          </a:p>
        </p:txBody>
      </p:sp>
      <p:sp>
        <p:nvSpPr>
          <p:cNvPr id="35" name="Text 33"/>
          <p:cNvSpPr txBox="1"/>
          <p:nvPr/>
        </p:nvSpPr>
        <p:spPr>
          <a:xfrm>
            <a:off x="3081528" y="3950208"/>
            <a:ext cx="91440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ぶつかる ✕</a:t>
            </a:r>
            <a:endParaRPr lang="en-US" sz="1000" dirty="0"/>
          </a:p>
        </p:txBody>
      </p:sp>
      <p:sp>
        <p:nvSpPr>
          <p:cNvPr id="36" name="Shape 34"/>
          <p:cNvSpPr/>
          <p:nvPr/>
        </p:nvSpPr>
        <p:spPr>
          <a:xfrm>
            <a:off x="2971800" y="4965192"/>
            <a:ext cx="1005840" cy="0"/>
          </a:xfrm>
          <a:prstGeom prst="line">
            <a:avLst/>
          </a:prstGeom>
          <a:noFill/>
          <a:ln w="12700">
            <a:solidFill>
              <a:srgbClr val="1B2A44"/>
            </a:solidFill>
            <a:prstDash val="solid"/>
            <a:headEnd type="triangle"/>
            <a:tailEnd type="triangle"/>
          </a:ln>
        </p:spPr>
        <p:txBody>
          <a:bodyPr/>
          <a:p/>
        </p:txBody>
      </p:sp>
      <p:sp>
        <p:nvSpPr>
          <p:cNvPr id="37" name="Text 35"/>
          <p:cNvSpPr txBox="1"/>
          <p:nvPr/>
        </p:nvSpPr>
        <p:spPr>
          <a:xfrm>
            <a:off x="2788920" y="4983480"/>
            <a:ext cx="1371600" cy="237744"/>
          </a:xfrm>
          <a:prstGeom prst="rect">
            <a:avLst/>
          </a:prstGeom>
          <a:noFill/>
          <a:ln/>
        </p:spPr>
        <p:txBody>
          <a:bodyPr wrap="square"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D＝25m</a:t>
            </a:r>
            <a:endParaRPr lang="en-US" sz="1000" dirty="0"/>
          </a:p>
        </p:txBody>
      </p:sp>
      <p:sp>
        <p:nvSpPr>
          <p:cNvPr id="38" name="Text 36"/>
          <p:cNvSpPr txBox="1"/>
          <p:nvPr/>
        </p:nvSpPr>
        <p:spPr>
          <a:xfrm>
            <a:off x="6400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9" name="Text 37"/>
          <p:cNvSpPr txBox="1"/>
          <p:nvPr/>
        </p:nvSpPr>
        <p:spPr>
          <a:xfrm>
            <a:off x="58978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40" name="Text 38"/>
          <p:cNvSpPr txBox="1"/>
          <p:nvPr/>
        </p:nvSpPr>
        <p:spPr>
          <a:xfrm>
            <a:off x="457200" y="5440680"/>
            <a:ext cx="5852160" cy="86868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光線と建物の交差判定：</a:t>
            </a:r>
            <a:r>
              <a:rPr lang="en-US" sz="1050" dirty="0">
                <a:solidFill>
                  <a:srgbClr val="333F4E"/>
                </a:solidFill>
                <a:latin typeface="Yu Gothic" pitchFamily="34" charset="0"/>
                <a:ea typeface="Yu Gothic" pitchFamily="34" charset="-122"/>
                <a:cs typeface="Yu Gothic" pitchFamily="34" charset="-120"/>
              </a:rPr>
              <a:t>壁の各点から太陽の方向へ線を伸ばし、建物にぶつかれば影、ぶつからなければ直達日光が届くと判定する。太陽が地平線の下や、壁が太陽と反対向きのときも「当たらない」とする。</a:t>
            </a:r>
            <a:endParaRPr lang="en-US" sz="1050" dirty="0"/>
          </a:p>
        </p:txBody>
      </p:sp>
      <p:sp>
        <p:nvSpPr>
          <p:cNvPr id="41" name="Shape 39"/>
          <p:cNvSpPr/>
          <p:nvPr/>
        </p:nvSpPr>
        <p:spPr>
          <a:xfrm>
            <a:off x="6583680" y="11887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2" name="Text 40"/>
          <p:cNvSpPr txBox="1"/>
          <p:nvPr/>
        </p:nvSpPr>
        <p:spPr>
          <a:xfrm>
            <a:off x="6784848" y="12801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地面にできる影の長さ（高さ50mの建物）</a:t>
            </a:r>
            <a:endParaRPr lang="en-US" sz="1250" dirty="0"/>
          </a:p>
        </p:txBody>
      </p:sp>
      <p:sp>
        <p:nvSpPr>
          <p:cNvPr id="43" name="Shape 41"/>
          <p:cNvSpPr/>
          <p:nvPr/>
        </p:nvSpPr>
        <p:spPr>
          <a:xfrm>
            <a:off x="6784848" y="1600200"/>
            <a:ext cx="4745736" cy="411480"/>
          </a:xfrm>
          <a:prstGeom prst="roundRect">
            <a:avLst>
              <a:gd name="adj" fmla="val 13333"/>
            </a:avLst>
          </a:prstGeom>
          <a:solidFill>
            <a:srgbClr val="1B2A44"/>
          </a:solidFill>
          <a:ln/>
        </p:spPr>
        <p:txBody>
          <a:bodyPr/>
          <a:p/>
        </p:txBody>
      </p:sp>
      <p:sp>
        <p:nvSpPr>
          <p:cNvPr id="44" name="Text 42"/>
          <p:cNvSpPr txBox="1"/>
          <p:nvPr/>
        </p:nvSpPr>
        <p:spPr>
          <a:xfrm>
            <a:off x="6784848" y="16002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影の長さ ＝ 建物の高さ ÷ tan（太陽高度）</a:t>
            </a:r>
            <a:endParaRPr lang="en-US" sz="1300" dirty="0"/>
          </a:p>
        </p:txBody>
      </p:sp>
      <p:sp>
        <p:nvSpPr>
          <p:cNvPr id="45" name="Text 43"/>
          <p:cNvSpPr txBox="1"/>
          <p:nvPr/>
        </p:nvSpPr>
        <p:spPr>
          <a:xfrm>
            <a:off x="6784848" y="20848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45° → 50 ÷ tan45° ＝ 50m　／　30° → 50 ÷ tan30° ≈ 86.6m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太陽が低いほど影は長くなる。</a:t>
            </a:r>
            <a:endParaRPr lang="en-US" sz="1050" dirty="0"/>
          </a:p>
        </p:txBody>
      </p:sp>
      <p:sp>
        <p:nvSpPr>
          <p:cNvPr id="46" name="Shape 44"/>
          <p:cNvSpPr/>
          <p:nvPr/>
        </p:nvSpPr>
        <p:spPr>
          <a:xfrm>
            <a:off x="6583680" y="27889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7" name="Text 45"/>
          <p:cNvSpPr txBox="1"/>
          <p:nvPr/>
        </p:nvSpPr>
        <p:spPr>
          <a:xfrm>
            <a:off x="6784848" y="28803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中央建物の南壁にかかる影の上端</a:t>
            </a:r>
            <a:endParaRPr lang="en-US" sz="1250" dirty="0"/>
          </a:p>
        </p:txBody>
      </p:sp>
      <p:sp>
        <p:nvSpPr>
          <p:cNvPr id="48" name="Shape 46"/>
          <p:cNvSpPr/>
          <p:nvPr/>
        </p:nvSpPr>
        <p:spPr>
          <a:xfrm>
            <a:off x="6784848" y="3200400"/>
            <a:ext cx="4745736" cy="411480"/>
          </a:xfrm>
          <a:prstGeom prst="roundRect">
            <a:avLst>
              <a:gd name="adj" fmla="val 13333"/>
            </a:avLst>
          </a:prstGeom>
          <a:solidFill>
            <a:srgbClr val="1B2A44"/>
          </a:solidFill>
          <a:ln/>
        </p:spPr>
        <p:txBody>
          <a:bodyPr/>
          <a:p/>
        </p:txBody>
      </p:sp>
      <p:sp>
        <p:nvSpPr>
          <p:cNvPr id="49" name="Text 47"/>
          <p:cNvSpPr txBox="1"/>
          <p:nvPr/>
        </p:nvSpPr>
        <p:spPr>
          <a:xfrm>
            <a:off x="6784848" y="32004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影の上端 ＝ A − D × tan（太陽高度）</a:t>
            </a:r>
            <a:endParaRPr lang="en-US" sz="1300" dirty="0"/>
          </a:p>
        </p:txBody>
      </p:sp>
      <p:sp>
        <p:nvSpPr>
          <p:cNvPr id="50" name="Text 48"/>
          <p:cNvSpPr txBox="1"/>
          <p:nvPr/>
        </p:nvSpPr>
        <p:spPr>
          <a:xfrm>
            <a:off x="6784848" y="36850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A＝50m、D＝25m、30° → 50 − 25 × tan30° ≈ 35.6m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（太陽が真南・東西のずれなしの単純化。実際は3次元で判定）</a:t>
            </a:r>
            <a:endParaRPr lang="en-US" sz="1050" dirty="0"/>
          </a:p>
        </p:txBody>
      </p:sp>
      <p:sp>
        <p:nvSpPr>
          <p:cNvPr id="51" name="Shape 49"/>
          <p:cNvSpPr/>
          <p:nvPr/>
        </p:nvSpPr>
        <p:spPr>
          <a:xfrm>
            <a:off x="6583680" y="4389120"/>
            <a:ext cx="5148072" cy="1920240"/>
          </a:xfrm>
          <a:prstGeom prst="roundRect">
            <a:avLst>
              <a:gd name="adj" fmla="val 2857"/>
            </a:avLst>
          </a:prstGeom>
          <a:solidFill>
            <a:srgbClr val="E1EEE7"/>
          </a:solidFill>
          <a:ln w="12700">
            <a:solidFill>
              <a:srgbClr val="4C8C6B"/>
            </a:solidFill>
            <a:prstDash val="solid"/>
          </a:ln>
        </p:spPr>
        <p:txBody>
          <a:bodyPr/>
          <a:p/>
        </p:txBody>
      </p:sp>
      <p:sp>
        <p:nvSpPr>
          <p:cNvPr id="52" name="Text 50"/>
          <p:cNvSpPr txBox="1"/>
          <p:nvPr/>
        </p:nvSpPr>
        <p:spPr>
          <a:xfrm>
            <a:off x="6766560" y="4462272"/>
            <a:ext cx="47823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直達日光が当たる割合（画面の表示）</a:t>
            </a:r>
            <a:endParaRPr lang="en-US" sz="1200" dirty="0"/>
          </a:p>
        </p:txBody>
      </p:sp>
      <p:sp>
        <p:nvSpPr>
          <p:cNvPr id="53" name="Text 51"/>
          <p:cNvSpPr txBox="1"/>
          <p:nvPr/>
        </p:nvSpPr>
        <p:spPr>
          <a:xfrm>
            <a:off x="6766560" y="4754880"/>
            <a:ext cx="4782312" cy="14996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壁（50m×50m）に10×10＝100点の確認点を置き（各5m区画の中央）、光が届いた点の割合を表示する。例：60点なら60%。面積割合の概算で、日射エネルギーや発電効率の割合ではない。画面の明るさも見やすさのための描画設定。</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どこまで確認できたか：精度と適用範囲</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17 / 41</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確認した対象</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内容と結果</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状態</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年間日射量（広範囲版）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未使用のテスト12配置：MAE 18.40 kWh/m²・誤差率 2.42%</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年間日射量（局所改良版）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局所範囲の6配置：MAE 17.81 kWh/m²・誤差率 2.31%</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保存済み予測の再現</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ツールと元の計算の差は約 1.14×10⁻¹³ kWh/m² 以下</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太陽位置の近似</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実装は確認済み。角度の誤差は未評価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影の位置・形</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実測や別の基準計算との比較は未実施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100点の受光割合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より細かい点数との比較は未実施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6"/>
                  </a:ext>
                </a:extLst>
              </a:tr>
            </a:tbl>
          </a:graphicData>
        </a:graphic>
      </p:graphicFrame>
      <p:sp>
        <p:nvSpPr>
          <p:cNvPr id="10" name="Shape 7"/>
          <p:cNvSpPr/>
          <p:nvPr/>
        </p:nvSpPr>
        <p:spPr>
          <a:xfrm>
            <a:off x="457200" y="4754880"/>
            <a:ext cx="6766560" cy="1554480"/>
          </a:xfrm>
          <a:prstGeom prst="roundRect">
            <a:avLst>
              <a:gd name="adj" fmla="val 3529"/>
            </a:avLst>
          </a:prstGeom>
          <a:solidFill>
            <a:srgbClr val="F3F5F8"/>
          </a:solidFill>
          <a:ln w="12700">
            <a:solidFill>
              <a:srgbClr val="DBE0E6"/>
            </a:solidFill>
            <a:prstDash val="solid"/>
          </a:ln>
        </p:spPr>
        <p:txBody>
          <a:bodyPr/>
          <a:p/>
        </p:txBody>
      </p:sp>
      <p:sp>
        <p:nvSpPr>
          <p:cNvPr id="11" name="Text 8"/>
          <p:cNvSpPr txBox="1"/>
          <p:nvPr/>
        </p:nvSpPr>
        <p:spPr>
          <a:xfrm>
            <a:off x="640080" y="4828032"/>
            <a:ext cx="640080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精度を読むときの注意</a:t>
            </a:r>
            <a:endParaRPr lang="en-US" sz="1200" dirty="0"/>
          </a:p>
        </p:txBody>
      </p:sp>
      <p:sp>
        <p:nvSpPr>
          <p:cNvPr id="12" name="Text 9"/>
          <p:cNvSpPr txBox="1"/>
          <p:nvPr/>
        </p:nvSpPr>
        <p:spPr>
          <a:xfrm>
            <a:off x="640080" y="5120640"/>
            <a:ext cx="6400800" cy="11338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・数値はSEBEの計算結果との比較で、実測日射量や発電量の精度ではない。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・年間予測の誤差（2.31%など）を、太陽位置や影の精度として使うことはできない。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・保存済み予測の再現誤差が小さいことは、実際の日射量との誤差が小さいこととは別。</a:t>
            </a:r>
            <a:endParaRPr lang="en-US" sz="1100" dirty="0"/>
          </a:p>
        </p:txBody>
      </p:sp>
      <p:sp>
        <p:nvSpPr>
          <p:cNvPr id="13" name="Shape 10"/>
          <p:cNvSpPr/>
          <p:nvPr/>
        </p:nvSpPr>
        <p:spPr>
          <a:xfrm>
            <a:off x="7452360" y="1234440"/>
            <a:ext cx="4279392" cy="2423160"/>
          </a:xfrm>
          <a:prstGeom prst="roundRect">
            <a:avLst>
              <a:gd name="adj" fmla="val 2264"/>
            </a:avLst>
          </a:prstGeom>
          <a:solidFill>
            <a:srgbClr val="DCEAEC"/>
          </a:solidFill>
          <a:ln w="12700">
            <a:solidFill>
              <a:srgbClr val="1F6F78"/>
            </a:solidFill>
            <a:prstDash val="solid"/>
          </a:ln>
        </p:spPr>
        <p:txBody>
          <a:bodyPr/>
          <a:p/>
        </p:txBody>
      </p:sp>
      <p:sp>
        <p:nvSpPr>
          <p:cNvPr id="14" name="Text 11"/>
          <p:cNvSpPr txBox="1"/>
          <p:nvPr/>
        </p:nvSpPr>
        <p:spPr>
          <a:xfrm>
            <a:off x="7635240" y="1307592"/>
            <a:ext cx="391363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この段階で使える範囲</a:t>
            </a:r>
            <a:endParaRPr lang="en-US" sz="1200" dirty="0"/>
          </a:p>
        </p:txBody>
      </p:sp>
      <p:sp>
        <p:nvSpPr>
          <p:cNvPr id="15" name="Text 12"/>
          <p:cNvSpPr txBox="1"/>
          <p:nvPr/>
        </p:nvSpPr>
        <p:spPr>
          <a:xfrm>
            <a:off x="7635240" y="1600200"/>
            <a:ext cx="3913632" cy="2002536"/>
          </a:xfrm>
          <a:prstGeom prst="rect">
            <a:avLst/>
          </a:prstGeom>
          <a:noFill/>
          <a:ln/>
        </p:spPr>
        <p:txBody>
          <a:bodyPr wrap="square" rtlCol="0" anchor="t"/>
          <a:lstStyle/>
          <a:p>
            <a:pPr marL="0" indent="0">
              <a:lnSpc>
                <a:spcPct val="108000"/>
              </a:lnSpc>
              <a:buNone/>
            </a:pPr>
            <a:r>
              <a:rPr lang="en-US" sz="1250" b="1" dirty="0">
                <a:solidFill>
                  <a:srgbClr val="4C8C6B"/>
                </a:solidFill>
                <a:latin typeface="Yu Gothic" pitchFamily="34" charset="0"/>
                <a:ea typeface="Yu Gothic" pitchFamily="34" charset="-122"/>
                <a:cs typeface="Yu Gothic" pitchFamily="34" charset="-120"/>
              </a:rPr>
              <a:t>検証済み</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南に1棟・中央建物50m角・南面の年間日射量</a:t>
            </a:r>
            <a:endParaRPr lang="en-US" sz="1250" dirty="0"/>
          </a:p>
          <a:p>
            <a:pPr marL="0" indent="0">
              <a:lnSpc>
                <a:spcPct val="108000"/>
              </a:lnSpc>
              <a:buNone/>
            </a:pPr>
            <a:r>
              <a:rPr lang="en-US" sz="600" dirty="0">
                <a:solidFill>
                  <a:srgbClr val="333F4E"/>
                </a:solidFill>
                <a:latin typeface="Yu Gothic" pitchFamily="34" charset="0"/>
                <a:ea typeface="Yu Gothic" pitchFamily="34" charset="-122"/>
                <a:cs typeface="Yu Gothic" pitchFamily="34" charset="-120"/>
              </a:rPr>
              <a:t> </a:t>
            </a:r>
            <a:endParaRPr lang="en-US" sz="1250" dirty="0"/>
          </a:p>
          <a:p>
            <a:pPr marL="0" indent="0">
              <a:lnSpc>
                <a:spcPct val="108000"/>
              </a:lnSpc>
              <a:buNone/>
            </a:pPr>
            <a:r>
              <a:rPr lang="en-US" sz="1250" b="1" dirty="0">
                <a:solidFill>
                  <a:srgbClr val="B04A3F"/>
                </a:solidFill>
                <a:latin typeface="Yu Gothic" pitchFamily="34" charset="0"/>
                <a:ea typeface="Yu Gothic" pitchFamily="34" charset="-122"/>
                <a:cs typeface="Yu Gothic" pitchFamily="34" charset="-120"/>
              </a:rPr>
              <a:t>未対応</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東側など他の方角への配置、複数棟の同時配置、中央建物の高さ違い、南面以外の壁</a:t>
            </a:r>
            <a:endParaRPr lang="en-US" sz="1250" dirty="0"/>
          </a:p>
        </p:txBody>
      </p:sp>
      <p:sp>
        <p:nvSpPr>
          <p:cNvPr id="16" name="Shape 13"/>
          <p:cNvSpPr/>
          <p:nvPr/>
        </p:nvSpPr>
        <p:spPr>
          <a:xfrm>
            <a:off x="7452360" y="3840480"/>
            <a:ext cx="4279392" cy="2468880"/>
          </a:xfrm>
          <a:prstGeom prst="roundRect">
            <a:avLst>
              <a:gd name="adj" fmla="val 2222"/>
            </a:avLst>
          </a:prstGeom>
          <a:solidFill>
            <a:srgbClr val="FBEBDA"/>
          </a:solidFill>
          <a:ln w="12700">
            <a:solidFill>
              <a:srgbClr val="E8934D"/>
            </a:solidFill>
            <a:prstDash val="solid"/>
          </a:ln>
        </p:spPr>
        <p:txBody>
          <a:bodyPr/>
          <a:p/>
        </p:txBody>
      </p:sp>
      <p:sp>
        <p:nvSpPr>
          <p:cNvPr id="17" name="Text 14"/>
          <p:cNvSpPr txBox="1"/>
          <p:nvPr/>
        </p:nvSpPr>
        <p:spPr>
          <a:xfrm>
            <a:off x="7635240" y="3913632"/>
            <a:ext cx="391363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設計上の工夫</a:t>
            </a:r>
            <a:endParaRPr lang="en-US" sz="1200" dirty="0"/>
          </a:p>
        </p:txBody>
      </p:sp>
      <p:sp>
        <p:nvSpPr>
          <p:cNvPr id="9" name="Text 15"/>
          <p:cNvSpPr txBox="1"/>
          <p:nvPr/>
        </p:nvSpPr>
        <p:spPr>
          <a:xfrm>
            <a:off x="7635240" y="4206240"/>
            <a:ext cx="3913632" cy="2048256"/>
          </a:xfrm>
          <a:prstGeom prst="rect">
            <a:avLst/>
          </a:prstGeom>
          <a:noFill/>
          <a:ln/>
        </p:spPr>
        <p:txBody>
          <a:bodyPr wrap="square" rtlCol="0" anchor="t"/>
          <a:lstStyle/>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・広範囲版と局所改良版は手動で切り替える。範囲の境界で自動的に混ぜると、予測が不連続になるおそれがあるため。</a:t>
            </a:r>
            <a:endParaRPr lang="en-US" sz="1200" dirty="0"/>
          </a:p>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・入力範囲の外や空欄のときは予測を止める（範囲外の値を推測しない）。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5486400" cy="292608"/>
          </a:xfrm>
          <a:prstGeom prst="rect">
            <a:avLst/>
          </a:prstGeom>
          <a:noFill/>
          <a:ln/>
        </p:spPr>
        <p:txBody>
          <a:bodyPr wrap="square" rtlCol="0" anchor="t"/>
          <a:lstStyle/>
          <a:p>
            <a:pPr marL="0" indent="0">
              <a:buNone/>
            </a:pPr>
            <a:r>
              <a:rPr lang="en-US" sz="1250" b="1" kern="0" spc="200" dirty="0">
                <a:solidFill>
                  <a:srgbClr val="E8934D"/>
                </a:solidFill>
                <a:latin typeface="Yu Gothic" pitchFamily="34" charset="0"/>
                <a:ea typeface="Yu Gothic" pitchFamily="34" charset="-122"/>
                <a:cs typeface="Yu Gothic" pitchFamily="34" charset="-120"/>
              </a:rPr>
              <a:t>SUMMARY</a:t>
            </a:r>
            <a:endParaRPr lang="en-US" sz="1250" dirty="0"/>
          </a:p>
        </p:txBody>
      </p:sp>
      <p:sp>
        <p:nvSpPr>
          <p:cNvPr id="3" name="Text 1"/>
          <p:cNvSpPr txBox="1"/>
          <p:nvPr/>
        </p:nvSpPr>
        <p:spPr>
          <a:xfrm>
            <a:off x="731520" y="731520"/>
            <a:ext cx="9601200" cy="640080"/>
          </a:xfrm>
          <a:prstGeom prst="rect">
            <a:avLst/>
          </a:prstGeom>
          <a:noFill/>
          <a:ln/>
        </p:spPr>
        <p:txBody>
          <a:bodyPr wrap="square" rtlCol="0" anchor="t"/>
          <a:lstStyle/>
          <a:p>
            <a:pPr marL="0" indent="0">
              <a:buNone/>
            </a:pPr>
            <a:r>
              <a:rPr lang="en-US" sz="2900" b="1" dirty="0">
                <a:solidFill>
                  <a:srgbClr val="FFFFFF"/>
                </a:solidFill>
                <a:latin typeface="Yu Gothic" pitchFamily="34" charset="0"/>
                <a:ea typeface="Yu Gothic" pitchFamily="34" charset="-122"/>
                <a:cs typeface="Yu Gothic" pitchFamily="34" charset="-120"/>
              </a:rPr>
              <a:t>まとめ：南1棟モデルの予測ツールが完成</a:t>
            </a:r>
            <a:endParaRPr lang="en-US" sz="2900" dirty="0"/>
          </a:p>
        </p:txBody>
      </p:sp>
      <p:sp>
        <p:nvSpPr>
          <p:cNvPr id="4" name="Shape 2"/>
          <p:cNvSpPr/>
          <p:nvPr/>
        </p:nvSpPr>
        <p:spPr>
          <a:xfrm>
            <a:off x="10949940" y="448056"/>
            <a:ext cx="45720" cy="137160"/>
          </a:xfrm>
          <a:prstGeom prst="rect">
            <a:avLst/>
          </a:prstGeom>
          <a:solidFill>
            <a:srgbClr val="E8934D"/>
          </a:solidFill>
          <a:ln/>
        </p:spPr>
        <p:txBody>
          <a:bodyPr/>
          <a:p/>
        </p:txBody>
      </p:sp>
      <p:sp>
        <p:nvSpPr>
          <p:cNvPr id="5" name="Shape 3"/>
          <p:cNvSpPr/>
          <p:nvPr/>
        </p:nvSpPr>
        <p:spPr>
          <a:xfrm rot="2700000">
            <a:off x="11231202" y="564558"/>
            <a:ext cx="45720" cy="137160"/>
          </a:xfrm>
          <a:prstGeom prst="rect">
            <a:avLst/>
          </a:prstGeom>
          <a:solidFill>
            <a:srgbClr val="E8934D"/>
          </a:solidFill>
          <a:ln/>
        </p:spPr>
        <p:txBody>
          <a:bodyPr/>
          <a:p/>
        </p:txBody>
      </p:sp>
      <p:sp>
        <p:nvSpPr>
          <p:cNvPr id="6" name="Shape 4"/>
          <p:cNvSpPr/>
          <p:nvPr/>
        </p:nvSpPr>
        <p:spPr>
          <a:xfrm rot="5400000">
            <a:off x="11347704" y="845820"/>
            <a:ext cx="45720" cy="137160"/>
          </a:xfrm>
          <a:prstGeom prst="rect">
            <a:avLst/>
          </a:prstGeom>
          <a:solidFill>
            <a:srgbClr val="E8934D"/>
          </a:solidFill>
          <a:ln/>
        </p:spPr>
        <p:txBody>
          <a:bodyPr/>
          <a:p/>
        </p:txBody>
      </p:sp>
      <p:sp>
        <p:nvSpPr>
          <p:cNvPr id="7" name="Shape 5"/>
          <p:cNvSpPr/>
          <p:nvPr/>
        </p:nvSpPr>
        <p:spPr>
          <a:xfrm rot="8100000">
            <a:off x="11231202" y="1127082"/>
            <a:ext cx="45720" cy="137160"/>
          </a:xfrm>
          <a:prstGeom prst="rect">
            <a:avLst/>
          </a:prstGeom>
          <a:solidFill>
            <a:srgbClr val="E8934D"/>
          </a:solidFill>
          <a:ln/>
        </p:spPr>
        <p:txBody>
          <a:bodyPr/>
          <a:p/>
        </p:txBody>
      </p:sp>
      <p:sp>
        <p:nvSpPr>
          <p:cNvPr id="8" name="Shape 6"/>
          <p:cNvSpPr/>
          <p:nvPr/>
        </p:nvSpPr>
        <p:spPr>
          <a:xfrm rot="10800000">
            <a:off x="10949940" y="1243584"/>
            <a:ext cx="45720" cy="137160"/>
          </a:xfrm>
          <a:prstGeom prst="rect">
            <a:avLst/>
          </a:prstGeom>
          <a:solidFill>
            <a:srgbClr val="E8934D"/>
          </a:solidFill>
          <a:ln/>
        </p:spPr>
        <p:txBody>
          <a:bodyPr/>
          <a:p/>
        </p:txBody>
      </p:sp>
      <p:sp>
        <p:nvSpPr>
          <p:cNvPr id="9" name="Shape 7"/>
          <p:cNvSpPr/>
          <p:nvPr/>
        </p:nvSpPr>
        <p:spPr>
          <a:xfrm rot="13500000">
            <a:off x="10668678" y="1127082"/>
            <a:ext cx="45720" cy="137160"/>
          </a:xfrm>
          <a:prstGeom prst="rect">
            <a:avLst/>
          </a:prstGeom>
          <a:solidFill>
            <a:srgbClr val="E8934D"/>
          </a:solidFill>
          <a:ln/>
        </p:spPr>
        <p:txBody>
          <a:bodyPr/>
          <a:p/>
        </p:txBody>
      </p:sp>
      <p:sp>
        <p:nvSpPr>
          <p:cNvPr id="10" name="Shape 8"/>
          <p:cNvSpPr/>
          <p:nvPr/>
        </p:nvSpPr>
        <p:spPr>
          <a:xfrm rot="16200000">
            <a:off x="10552176" y="845820"/>
            <a:ext cx="45720" cy="137160"/>
          </a:xfrm>
          <a:prstGeom prst="rect">
            <a:avLst/>
          </a:prstGeom>
          <a:solidFill>
            <a:srgbClr val="E8934D"/>
          </a:solidFill>
          <a:ln/>
        </p:spPr>
        <p:txBody>
          <a:bodyPr/>
          <a:p/>
        </p:txBody>
      </p:sp>
      <p:sp>
        <p:nvSpPr>
          <p:cNvPr id="11" name="Shape 9"/>
          <p:cNvSpPr/>
          <p:nvPr/>
        </p:nvSpPr>
        <p:spPr>
          <a:xfrm rot="18900000">
            <a:off x="10668678" y="564558"/>
            <a:ext cx="45720" cy="137160"/>
          </a:xfrm>
          <a:prstGeom prst="rect">
            <a:avLst/>
          </a:prstGeom>
          <a:solidFill>
            <a:srgbClr val="E8934D"/>
          </a:solidFill>
          <a:ln/>
        </p:spPr>
        <p:txBody>
          <a:bodyPr/>
          <a:p/>
        </p:txBody>
      </p:sp>
      <p:sp>
        <p:nvSpPr>
          <p:cNvPr id="12" name="Shape 10"/>
          <p:cNvSpPr/>
          <p:nvPr/>
        </p:nvSpPr>
        <p:spPr>
          <a:xfrm>
            <a:off x="10698480" y="640080"/>
            <a:ext cx="548640" cy="548640"/>
          </a:xfrm>
          <a:prstGeom prst="ellipse">
            <a:avLst/>
          </a:prstGeom>
          <a:solidFill>
            <a:srgbClr val="E8934D"/>
          </a:solidFill>
          <a:ln/>
        </p:spPr>
        <p:txBody>
          <a:bodyPr/>
          <a:p/>
        </p:txBody>
      </p:sp>
      <p:sp>
        <p:nvSpPr>
          <p:cNvPr id="13" name="Shape 11"/>
          <p:cNvSpPr/>
          <p:nvPr/>
        </p:nvSpPr>
        <p:spPr>
          <a:xfrm>
            <a:off x="731520" y="1609344"/>
            <a:ext cx="402336" cy="402336"/>
          </a:xfrm>
          <a:prstGeom prst="ellipse">
            <a:avLst/>
          </a:prstGeom>
          <a:solidFill>
            <a:srgbClr val="E8934D"/>
          </a:solidFill>
          <a:ln/>
        </p:spPr>
        <p:txBody>
          <a:bodyPr/>
          <a:p/>
        </p:txBody>
      </p:sp>
      <p:sp>
        <p:nvSpPr>
          <p:cNvPr id="14" name="Text 12"/>
          <p:cNvSpPr txBox="1"/>
          <p:nvPr/>
        </p:nvSpPr>
        <p:spPr>
          <a:xfrm>
            <a:off x="731520" y="160934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5" name="Text 13"/>
          <p:cNvSpPr txBox="1"/>
          <p:nvPr/>
        </p:nvSpPr>
        <p:spPr>
          <a:xfrm>
            <a:off x="1325880" y="1554480"/>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A・D の2つの入力から、南面の年間日射量を予測する方法を作った</a:t>
            </a:r>
            <a:endParaRPr lang="en-US" sz="1500" dirty="0"/>
          </a:p>
        </p:txBody>
      </p:sp>
      <p:sp>
        <p:nvSpPr>
          <p:cNvPr id="16" name="Text 14"/>
          <p:cNvSpPr txBox="1"/>
          <p:nvPr/>
        </p:nvSpPr>
        <p:spPr>
          <a:xfrm>
            <a:off x="1325880" y="1865376"/>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SEBEを毎回実行せず、保存した16配置の値から瞬時に推定する</a:t>
            </a:r>
            <a:endParaRPr lang="en-US" sz="1100" dirty="0"/>
          </a:p>
        </p:txBody>
      </p:sp>
      <p:sp>
        <p:nvSpPr>
          <p:cNvPr id="17" name="Shape 15"/>
          <p:cNvSpPr/>
          <p:nvPr/>
        </p:nvSpPr>
        <p:spPr>
          <a:xfrm>
            <a:off x="731520" y="2322576"/>
            <a:ext cx="402336" cy="402336"/>
          </a:xfrm>
          <a:prstGeom prst="ellipse">
            <a:avLst/>
          </a:prstGeom>
          <a:solidFill>
            <a:srgbClr val="E8934D"/>
          </a:solidFill>
          <a:ln/>
        </p:spPr>
        <p:txBody>
          <a:bodyPr/>
          <a:p/>
        </p:txBody>
      </p:sp>
      <p:sp>
        <p:nvSpPr>
          <p:cNvPr id="18" name="Text 16"/>
          <p:cNvSpPr txBox="1"/>
          <p:nvPr/>
        </p:nvSpPr>
        <p:spPr>
          <a:xfrm>
            <a:off x="731520" y="23225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9" name="Text 17"/>
          <p:cNvSpPr txBox="1"/>
          <p:nvPr/>
        </p:nvSpPr>
        <p:spPr>
          <a:xfrm>
            <a:off x="1325880" y="2267712"/>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3手法を比較し、線形補間を採用</a:t>
            </a:r>
            <a:endParaRPr lang="en-US" sz="1500" dirty="0"/>
          </a:p>
        </p:txBody>
      </p:sp>
      <p:sp>
        <p:nvSpPr>
          <p:cNvPr id="20" name="Text 18"/>
          <p:cNvSpPr txBox="1"/>
          <p:nvPr/>
        </p:nvSpPr>
        <p:spPr>
          <a:xfrm>
            <a:off x="1325880" y="2578608"/>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検証8パターンで MAE 19.99 kWh/m²・誤差率 2.67% と最も高精度</a:t>
            </a:r>
            <a:endParaRPr lang="en-US" sz="1100" dirty="0"/>
          </a:p>
        </p:txBody>
      </p:sp>
      <p:sp>
        <p:nvSpPr>
          <p:cNvPr id="21" name="Shape 19"/>
          <p:cNvSpPr/>
          <p:nvPr/>
        </p:nvSpPr>
        <p:spPr>
          <a:xfrm>
            <a:off x="731520" y="3035808"/>
            <a:ext cx="402336" cy="402336"/>
          </a:xfrm>
          <a:prstGeom prst="ellipse">
            <a:avLst/>
          </a:prstGeom>
          <a:solidFill>
            <a:srgbClr val="E8934D"/>
          </a:solidFill>
          <a:ln/>
        </p:spPr>
        <p:txBody>
          <a:bodyPr/>
          <a:p/>
        </p:txBody>
      </p:sp>
      <p:sp>
        <p:nvSpPr>
          <p:cNvPr id="22" name="Text 20"/>
          <p:cNvSpPr txBox="1"/>
          <p:nvPr/>
        </p:nvSpPr>
        <p:spPr>
          <a:xfrm>
            <a:off x="731520" y="303580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3" name="Text 21"/>
          <p:cNvSpPr txBox="1"/>
          <p:nvPr/>
        </p:nvSpPr>
        <p:spPr>
          <a:xfrm>
            <a:off x="1325880" y="2980944"/>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未使用の12条件でも同程度の精度を確認</a:t>
            </a:r>
            <a:endParaRPr lang="en-US" sz="1500" dirty="0"/>
          </a:p>
        </p:txBody>
      </p:sp>
      <p:sp>
        <p:nvSpPr>
          <p:cNvPr id="24" name="Text 22"/>
          <p:cNvSpPr txBox="1"/>
          <p:nvPr/>
        </p:nvSpPr>
        <p:spPr>
          <a:xfrm>
            <a:off x="1325880" y="3291840"/>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MAE 18.40 kWh/m²・平均誤差率 2.42%・最大誤差率 5.36%</a:t>
            </a:r>
            <a:endParaRPr lang="en-US" sz="1100" dirty="0"/>
          </a:p>
        </p:txBody>
      </p:sp>
      <p:sp>
        <p:nvSpPr>
          <p:cNvPr id="25" name="Shape 23"/>
          <p:cNvSpPr/>
          <p:nvPr/>
        </p:nvSpPr>
        <p:spPr>
          <a:xfrm>
            <a:off x="731520" y="3749040"/>
            <a:ext cx="402336" cy="402336"/>
          </a:xfrm>
          <a:prstGeom prst="ellipse">
            <a:avLst/>
          </a:prstGeom>
          <a:solidFill>
            <a:srgbClr val="E8934D"/>
          </a:solidFill>
          <a:ln/>
        </p:spPr>
        <p:txBody>
          <a:bodyPr/>
          <a:p/>
        </p:txBody>
      </p:sp>
      <p:sp>
        <p:nvSpPr>
          <p:cNvPr id="26" name="Text 24"/>
          <p:cNvSpPr txBox="1"/>
          <p:nvPr/>
        </p:nvSpPr>
        <p:spPr>
          <a:xfrm>
            <a:off x="731520" y="37490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7" name="Text 25"/>
          <p:cNvSpPr txBox="1"/>
          <p:nvPr/>
        </p:nvSpPr>
        <p:spPr>
          <a:xfrm>
            <a:off x="1325880" y="3694176"/>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誤差が最大だった屋根付近を局所補強</a:t>
            </a:r>
            <a:endParaRPr lang="en-US" sz="1500" dirty="0"/>
          </a:p>
        </p:txBody>
      </p:sp>
      <p:sp>
        <p:nvSpPr>
          <p:cNvPr id="28" name="Text 26"/>
          <p:cNvSpPr txBox="1"/>
          <p:nvPr/>
        </p:nvSpPr>
        <p:spPr>
          <a:xfrm>
            <a:off x="1325880" y="4005072"/>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周辺5点の追加で MAE 43.50 → 17.81 kWh/m²（−59.1%）</a:t>
            </a:r>
            <a:endParaRPr lang="en-US" sz="1100" dirty="0"/>
          </a:p>
        </p:txBody>
      </p:sp>
      <p:sp>
        <p:nvSpPr>
          <p:cNvPr id="29" name="Shape 27"/>
          <p:cNvSpPr/>
          <p:nvPr/>
        </p:nvSpPr>
        <p:spPr>
          <a:xfrm>
            <a:off x="731520" y="4462272"/>
            <a:ext cx="402336" cy="402336"/>
          </a:xfrm>
          <a:prstGeom prst="ellipse">
            <a:avLst/>
          </a:prstGeom>
          <a:solidFill>
            <a:srgbClr val="E8934D"/>
          </a:solidFill>
          <a:ln/>
        </p:spPr>
        <p:txBody>
          <a:bodyPr/>
          <a:p/>
        </p:txBody>
      </p:sp>
      <p:sp>
        <p:nvSpPr>
          <p:cNvPr id="30" name="Text 28"/>
          <p:cNvSpPr txBox="1"/>
          <p:nvPr/>
        </p:nvSpPr>
        <p:spPr>
          <a:xfrm>
            <a:off x="731520" y="44622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31" name="Text 29"/>
          <p:cNvSpPr txBox="1"/>
          <p:nvPr/>
        </p:nvSpPr>
        <p:spPr>
          <a:xfrm>
            <a:off x="1325880" y="4407408"/>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年間日射量と日時の影を見られる3Dツールを作成</a:t>
            </a:r>
            <a:endParaRPr lang="en-US" sz="1500" dirty="0"/>
          </a:p>
        </p:txBody>
      </p:sp>
      <p:sp>
        <p:nvSpPr>
          <p:cNvPr id="32" name="Text 30"/>
          <p:cNvSpPr txBox="1"/>
          <p:nvPr/>
        </p:nvSpPr>
        <p:spPr>
          <a:xfrm>
            <a:off x="1325880" y="4718304"/>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太陽位置はNOAAの近似式、影は光線と建物の交差判定で計算</a:t>
            </a:r>
            <a:endParaRPr lang="en-US" sz="1100" dirty="0"/>
          </a:p>
        </p:txBody>
      </p:sp>
      <p:sp>
        <p:nvSpPr>
          <p:cNvPr id="33" name="Shape 31"/>
          <p:cNvSpPr/>
          <p:nvPr/>
        </p:nvSpPr>
        <p:spPr>
          <a:xfrm>
            <a:off x="731520" y="5166360"/>
            <a:ext cx="10725912" cy="566928"/>
          </a:xfrm>
          <a:prstGeom prst="roundRect">
            <a:avLst>
              <a:gd name="adj" fmla="val 9677"/>
            </a:avLst>
          </a:prstGeom>
          <a:solidFill>
            <a:srgbClr val="24365A"/>
          </a:solidFill>
          <a:ln w="12700">
            <a:solidFill>
              <a:srgbClr val="35507D"/>
            </a:solidFill>
            <a:prstDash val="solid"/>
          </a:ln>
        </p:spPr>
        <p:txBody>
          <a:bodyPr/>
          <a:p/>
        </p:txBody>
      </p:sp>
      <p:sp>
        <p:nvSpPr>
          <p:cNvPr id="34" name="Text 32"/>
          <p:cNvSpPr txBox="1"/>
          <p:nvPr/>
        </p:nvSpPr>
        <p:spPr>
          <a:xfrm>
            <a:off x="1005840" y="5166360"/>
            <a:ext cx="10241280" cy="566928"/>
          </a:xfrm>
          <a:prstGeom prst="rect">
            <a:avLst/>
          </a:prstGeom>
          <a:noFill/>
          <a:ln/>
        </p:spPr>
        <p:txBody>
          <a:bodyPr wrap="square" rtlCol="0" anchor="ctr"/>
          <a:lstStyle/>
          <a:p>
            <a:pPr marL="0" indent="0">
              <a:buNone/>
            </a:pPr>
            <a:r>
              <a:rPr lang="en-US" sz="1350" b="1" dirty="0">
                <a:solidFill>
                  <a:srgbClr val="E8934D"/>
                </a:solidFill>
                <a:latin typeface="Yu Gothic" pitchFamily="34" charset="0"/>
                <a:ea typeface="Yu Gothic" pitchFamily="34" charset="-122"/>
                <a:cs typeface="Yu Gothic" pitchFamily="34" charset="-120"/>
              </a:rPr>
              <a:t>次のステップ　</a:t>
            </a:r>
            <a:r>
              <a:rPr lang="en-US" sz="1350" dirty="0">
                <a:solidFill>
                  <a:srgbClr val="FFFFFF"/>
                </a:solidFill>
                <a:latin typeface="Yu Gothic" pitchFamily="34" charset="0"/>
                <a:ea typeface="Yu Gothic" pitchFamily="34" charset="-122"/>
                <a:cs typeface="Yu Gothic" pitchFamily="34" charset="-120"/>
              </a:rPr>
              <a:t>方角・棟数の条件を広げ、最終目標である「周囲0〜4棟」への対応を目指す。</a:t>
            </a:r>
            <a:endParaRPr lang="en-US" sz="1350" dirty="0"/>
          </a:p>
        </p:txBody>
      </p:sp>
      <p:sp>
        <p:nvSpPr>
          <p:cNvPr id="35" name="Shape 33"/>
          <p:cNvSpPr/>
          <p:nvPr/>
        </p:nvSpPr>
        <p:spPr>
          <a:xfrm>
            <a:off x="822960" y="6416345"/>
            <a:ext cx="777240" cy="441655"/>
          </a:xfrm>
          <a:prstGeom prst="rect">
            <a:avLst/>
          </a:prstGeom>
          <a:solidFill>
            <a:srgbClr val="35507D"/>
          </a:solidFill>
          <a:ln/>
        </p:spPr>
        <p:txBody>
          <a:bodyPr/>
          <a:p/>
        </p:txBody>
      </p:sp>
      <p:sp>
        <p:nvSpPr>
          <p:cNvPr id="36" name="Shape 34"/>
          <p:cNvSpPr/>
          <p:nvPr/>
        </p:nvSpPr>
        <p:spPr>
          <a:xfrm>
            <a:off x="1691640" y="6185916"/>
            <a:ext cx="960120" cy="672084"/>
          </a:xfrm>
          <a:prstGeom prst="rect">
            <a:avLst/>
          </a:prstGeom>
          <a:solidFill>
            <a:srgbClr val="24365A"/>
          </a:solidFill>
          <a:ln/>
        </p:spPr>
        <p:txBody>
          <a:bodyPr/>
          <a:p/>
        </p:txBody>
      </p:sp>
      <p:sp>
        <p:nvSpPr>
          <p:cNvPr id="37" name="Shape 35"/>
          <p:cNvSpPr/>
          <p:nvPr/>
        </p:nvSpPr>
        <p:spPr>
          <a:xfrm>
            <a:off x="2743200" y="6473952"/>
            <a:ext cx="685800" cy="384048"/>
          </a:xfrm>
          <a:prstGeom prst="rect">
            <a:avLst/>
          </a:prstGeom>
          <a:solidFill>
            <a:srgbClr val="35507D"/>
          </a:solidFill>
          <a:ln/>
        </p:spPr>
        <p:txBody>
          <a:bodyPr/>
          <a:p/>
        </p:txBody>
      </p:sp>
      <p:sp>
        <p:nvSpPr>
          <p:cNvPr id="38" name="Shape 36"/>
          <p:cNvSpPr/>
          <p:nvPr/>
        </p:nvSpPr>
        <p:spPr>
          <a:xfrm>
            <a:off x="3520440" y="5878678"/>
            <a:ext cx="1188720" cy="979322"/>
          </a:xfrm>
          <a:prstGeom prst="rect">
            <a:avLst/>
          </a:prstGeom>
          <a:solidFill>
            <a:srgbClr val="24365A"/>
          </a:solidFill>
          <a:ln/>
        </p:spPr>
        <p:txBody>
          <a:bodyPr/>
          <a:p/>
        </p:txBody>
      </p:sp>
      <p:sp>
        <p:nvSpPr>
          <p:cNvPr id="39" name="Shape 37"/>
          <p:cNvSpPr/>
          <p:nvPr/>
        </p:nvSpPr>
        <p:spPr>
          <a:xfrm>
            <a:off x="4617720" y="5878678"/>
            <a:ext cx="91440" cy="979322"/>
          </a:xfrm>
          <a:prstGeom prst="rect">
            <a:avLst/>
          </a:prstGeom>
          <a:solidFill>
            <a:srgbClr val="E8934D"/>
          </a:solidFill>
          <a:ln/>
        </p:spPr>
        <p:txBody>
          <a:bodyPr/>
          <a:p/>
        </p:txBody>
      </p:sp>
      <p:sp>
        <p:nvSpPr>
          <p:cNvPr id="40" name="Shape 38"/>
          <p:cNvSpPr/>
          <p:nvPr/>
        </p:nvSpPr>
        <p:spPr>
          <a:xfrm>
            <a:off x="4846320" y="6320333"/>
            <a:ext cx="777240" cy="537667"/>
          </a:xfrm>
          <a:prstGeom prst="rect">
            <a:avLst/>
          </a:prstGeom>
          <a:solidFill>
            <a:srgbClr val="35507D"/>
          </a:solidFill>
          <a:ln/>
        </p:spPr>
        <p:txBody>
          <a:bodyPr/>
          <a:p/>
        </p:txBody>
      </p:sp>
      <p:sp>
        <p:nvSpPr>
          <p:cNvPr id="41" name="Shape 39"/>
          <p:cNvSpPr/>
          <p:nvPr/>
        </p:nvSpPr>
        <p:spPr>
          <a:xfrm>
            <a:off x="5760720" y="6128309"/>
            <a:ext cx="868680" cy="729691"/>
          </a:xfrm>
          <a:prstGeom prst="rect">
            <a:avLst/>
          </a:prstGeom>
          <a:solidFill>
            <a:srgbClr val="24365A"/>
          </a:solidFill>
          <a:ln/>
        </p:spPr>
        <p:txBody>
          <a:bodyPr/>
          <a:p/>
        </p:txBody>
      </p:sp>
      <p:sp>
        <p:nvSpPr>
          <p:cNvPr id="42" name="Shape 40"/>
          <p:cNvSpPr/>
          <p:nvPr/>
        </p:nvSpPr>
        <p:spPr>
          <a:xfrm>
            <a:off x="6720840" y="6435547"/>
            <a:ext cx="621792" cy="422453"/>
          </a:xfrm>
          <a:prstGeom prst="rect">
            <a:avLst/>
          </a:prstGeom>
          <a:solidFill>
            <a:srgbClr val="35507D"/>
          </a:solidFill>
          <a:ln/>
        </p:spPr>
        <p:txBody>
          <a:bodyPr/>
          <a:p/>
        </p:txBody>
      </p:sp>
      <p:sp>
        <p:nvSpPr>
          <p:cNvPr id="43" name="Shape 41"/>
          <p:cNvSpPr/>
          <p:nvPr/>
        </p:nvSpPr>
        <p:spPr>
          <a:xfrm>
            <a:off x="7452360" y="6070702"/>
            <a:ext cx="1051560" cy="787298"/>
          </a:xfrm>
          <a:prstGeom prst="rect">
            <a:avLst/>
          </a:prstGeom>
          <a:solidFill>
            <a:srgbClr val="24365A"/>
          </a:solidFill>
          <a:ln/>
        </p:spPr>
        <p:txBody>
          <a:bodyPr/>
          <a:p/>
        </p:txBody>
      </p:sp>
      <p:sp>
        <p:nvSpPr>
          <p:cNvPr id="44" name="Shape 42"/>
          <p:cNvSpPr/>
          <p:nvPr/>
        </p:nvSpPr>
        <p:spPr>
          <a:xfrm>
            <a:off x="8641080" y="6281928"/>
            <a:ext cx="777240" cy="576072"/>
          </a:xfrm>
          <a:prstGeom prst="rect">
            <a:avLst/>
          </a:prstGeom>
          <a:solidFill>
            <a:srgbClr val="35507D"/>
          </a:solidFill>
          <a:ln/>
        </p:spPr>
        <p:txBody>
          <a:bodyPr/>
          <a:p/>
        </p:txBody>
      </p:sp>
      <p:sp>
        <p:nvSpPr>
          <p:cNvPr id="45" name="Shape 43"/>
          <p:cNvSpPr/>
          <p:nvPr/>
        </p:nvSpPr>
        <p:spPr>
          <a:xfrm>
            <a:off x="9509760" y="6147511"/>
            <a:ext cx="960120" cy="710489"/>
          </a:xfrm>
          <a:prstGeom prst="rect">
            <a:avLst/>
          </a:prstGeom>
          <a:solidFill>
            <a:srgbClr val="24365A"/>
          </a:solidFill>
          <a:ln/>
        </p:spPr>
        <p:txBody>
          <a:bodyPr/>
          <a:p/>
        </p:txBody>
      </p:sp>
      <p:sp>
        <p:nvSpPr>
          <p:cNvPr id="46" name="Shape 44"/>
          <p:cNvSpPr/>
          <p:nvPr/>
        </p:nvSpPr>
        <p:spPr>
          <a:xfrm>
            <a:off x="10561320" y="6397142"/>
            <a:ext cx="731520" cy="460858"/>
          </a:xfrm>
          <a:prstGeom prst="rect">
            <a:avLst/>
          </a:prstGeom>
          <a:solidFill>
            <a:srgbClr val="35507D"/>
          </a:solidFill>
          <a:ln/>
        </p:spPr>
        <p:txBody>
          <a:bodyPr/>
          <a:p/>
        </p:txBody>
      </p:sp>
      <p:sp>
        <p:nvSpPr>
          <p:cNvPr id="47" name="Text 45"/>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48" name="Text 4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18 / 41</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502920"/>
            <a:ext cx="73152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ADDITIONAL EXPLANATION</a:t>
            </a:r>
            <a:endParaRPr lang="en-US" sz="1100" dirty="0"/>
          </a:p>
        </p:txBody>
      </p:sp>
      <p:sp>
        <p:nvSpPr>
          <p:cNvPr id="3" name="Text 1"/>
          <p:cNvSpPr txBox="1"/>
          <p:nvPr/>
        </p:nvSpPr>
        <p:spPr>
          <a:xfrm>
            <a:off x="640080" y="777240"/>
            <a:ext cx="10972800" cy="548640"/>
          </a:xfrm>
          <a:prstGeom prst="rect">
            <a:avLst/>
          </a:prstGeom>
          <a:noFill/>
          <a:ln/>
        </p:spPr>
        <p:txBody>
          <a:bodyPr wrap="square" lIns="508" tIns="508" rIns="508" bIns="508" rtlCol="0" anchor="t"/>
          <a:lstStyle/>
          <a:p>
            <a:pPr indent="0" marL="0">
              <a:buNone/>
            </a:pPr>
            <a:r>
              <a:rPr lang="en-US" sz="2800" b="1" dirty="0">
                <a:solidFill>
                  <a:srgbClr val="FFFFFF"/>
                </a:solidFill>
                <a:latin typeface="Yu Gothic" pitchFamily="34" charset="0"/>
                <a:ea typeface="Yu Gothic" pitchFamily="34" charset="-122"/>
                <a:cs typeface="Yu Gothic" pitchFamily="34" charset="-120"/>
              </a:rPr>
              <a:t>補足：指摘への回答と、次の段階の計画</a:t>
            </a:r>
            <a:endParaRPr lang="en-US" sz="2800" dirty="0"/>
          </a:p>
        </p:txBody>
      </p:sp>
      <p:sp>
        <p:nvSpPr>
          <p:cNvPr id="4" name="Text 2"/>
          <p:cNvSpPr txBox="1"/>
          <p:nvPr/>
        </p:nvSpPr>
        <p:spPr>
          <a:xfrm>
            <a:off x="640080" y="1371600"/>
            <a:ext cx="10972800" cy="320040"/>
          </a:xfrm>
          <a:prstGeom prst="rect">
            <a:avLst/>
          </a:prstGeom>
          <a:noFill/>
          <a:ln/>
        </p:spPr>
        <p:txBody>
          <a:bodyPr wrap="square" lIns="508" tIns="508" rIns="508" bIns="508" rtlCol="0" anchor="t"/>
          <a:lstStyle/>
          <a:p>
            <a:pPr indent="0" marL="0">
              <a:buNone/>
            </a:pPr>
            <a:r>
              <a:rPr lang="en-US" sz="1300" dirty="0">
                <a:solidFill>
                  <a:srgbClr val="CADCFC"/>
                </a:solidFill>
                <a:latin typeface="Yu Gothic" pitchFamily="34" charset="0"/>
                <a:ea typeface="Yu Gothic" pitchFamily="34" charset="-122"/>
                <a:cs typeface="Yu Gothic" pitchFamily="34" charset="-120"/>
              </a:rPr>
              <a:t>前回の発表で受けた3つの指摘に答え、4方向へ広げるための検証計画を示す</a:t>
            </a:r>
            <a:endParaRPr lang="en-US" sz="1300" dirty="0"/>
          </a:p>
        </p:txBody>
      </p:sp>
      <p:sp>
        <p:nvSpPr>
          <p:cNvPr id="5" name="Shape 3"/>
          <p:cNvSpPr/>
          <p:nvPr/>
        </p:nvSpPr>
        <p:spPr>
          <a:xfrm>
            <a:off x="640080" y="1920240"/>
            <a:ext cx="10908792" cy="1234440"/>
          </a:xfrm>
          <a:prstGeom prst="roundRect">
            <a:avLst>
              <a:gd name="adj" fmla="val 4444"/>
            </a:avLst>
          </a:prstGeom>
          <a:solidFill>
            <a:srgbClr val="24365A"/>
          </a:solidFill>
          <a:ln/>
        </p:spPr>
      </p:sp>
      <p:sp>
        <p:nvSpPr>
          <p:cNvPr id="6" name="Text 4"/>
          <p:cNvSpPr txBox="1"/>
          <p:nvPr/>
        </p:nvSpPr>
        <p:spPr>
          <a:xfrm>
            <a:off x="822960" y="2011680"/>
            <a:ext cx="27432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受けた指摘</a:t>
            </a:r>
            <a:endParaRPr lang="en-US" sz="1100" dirty="0"/>
          </a:p>
        </p:txBody>
      </p:sp>
      <p:sp>
        <p:nvSpPr>
          <p:cNvPr id="7" name="Text 5"/>
          <p:cNvSpPr txBox="1"/>
          <p:nvPr/>
        </p:nvSpPr>
        <p:spPr>
          <a:xfrm>
            <a:off x="82296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Q1</a:t>
            </a:r>
            <a:endParaRPr lang="en-US" sz="1800" dirty="0"/>
          </a:p>
        </p:txBody>
      </p:sp>
      <p:sp>
        <p:nvSpPr>
          <p:cNvPr id="8" name="Text 6"/>
          <p:cNvSpPr txBox="1"/>
          <p:nvPr/>
        </p:nvSpPr>
        <p:spPr>
          <a:xfrm>
            <a:off x="132588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入力・学習・テストデータの違いと、</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モデルを作る計算過程が分かりにくい</a:t>
            </a:r>
            <a:endParaRPr lang="en-US" sz="1100" dirty="0"/>
          </a:p>
        </p:txBody>
      </p:sp>
      <p:sp>
        <p:nvSpPr>
          <p:cNvPr id="9" name="Text 7"/>
          <p:cNvSpPr txBox="1"/>
          <p:nvPr/>
        </p:nvSpPr>
        <p:spPr>
          <a:xfrm>
            <a:off x="443484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Q2</a:t>
            </a:r>
            <a:endParaRPr lang="en-US" sz="1800" dirty="0"/>
          </a:p>
        </p:txBody>
      </p:sp>
      <p:sp>
        <p:nvSpPr>
          <p:cNvPr id="10" name="Text 8"/>
          <p:cNvSpPr txBox="1"/>
          <p:nvPr/>
        </p:nvSpPr>
        <p:spPr>
          <a:xfrm>
            <a:off x="493776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最終的に作るツールでは、</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どの変数を、どこで変えるのか</a:t>
            </a:r>
            <a:endParaRPr lang="en-US" sz="1100" dirty="0"/>
          </a:p>
        </p:txBody>
      </p:sp>
      <p:sp>
        <p:nvSpPr>
          <p:cNvPr id="11" name="Text 9"/>
          <p:cNvSpPr txBox="1"/>
          <p:nvPr/>
        </p:nvSpPr>
        <p:spPr>
          <a:xfrm>
            <a:off x="804672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Q3</a:t>
            </a:r>
            <a:endParaRPr lang="en-US" sz="1800" dirty="0"/>
          </a:p>
        </p:txBody>
      </p:sp>
      <p:sp>
        <p:nvSpPr>
          <p:cNvPr id="12" name="Text 10"/>
          <p:cNvSpPr txBox="1"/>
          <p:nvPr/>
        </p:nvSpPr>
        <p:spPr>
          <a:xfrm>
            <a:off x="854964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2変数を9点で予測できたのなら、</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4方向でも線形補間でできるのでは？</a:t>
            </a:r>
            <a:endParaRPr lang="en-US" sz="1100" dirty="0"/>
          </a:p>
        </p:txBody>
      </p:sp>
      <p:sp>
        <p:nvSpPr>
          <p:cNvPr id="13" name="Shape 11"/>
          <p:cNvSpPr/>
          <p:nvPr/>
        </p:nvSpPr>
        <p:spPr>
          <a:xfrm>
            <a:off x="640080" y="3429000"/>
            <a:ext cx="2587752" cy="2423160"/>
          </a:xfrm>
          <a:prstGeom prst="roundRect">
            <a:avLst>
              <a:gd name="adj" fmla="val 2264"/>
            </a:avLst>
          </a:prstGeom>
          <a:solidFill>
            <a:srgbClr val="FFFFFF"/>
          </a:solidFill>
          <a:ln/>
        </p:spPr>
      </p:sp>
      <p:sp>
        <p:nvSpPr>
          <p:cNvPr id="14" name="Text 12"/>
          <p:cNvSpPr txBox="1"/>
          <p:nvPr/>
        </p:nvSpPr>
        <p:spPr>
          <a:xfrm>
            <a:off x="822960"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5</a:t>
            </a:r>
            <a:endParaRPr lang="en-US" sz="1100" dirty="0"/>
          </a:p>
        </p:txBody>
      </p:sp>
      <p:sp>
        <p:nvSpPr>
          <p:cNvPr id="15" name="Text 13"/>
          <p:cNvSpPr txBox="1"/>
          <p:nvPr/>
        </p:nvSpPr>
        <p:spPr>
          <a:xfrm>
            <a:off x="1993392"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Q1への回答</a:t>
            </a:r>
            <a:endParaRPr lang="en-US" sz="950" dirty="0"/>
          </a:p>
        </p:txBody>
      </p:sp>
      <p:sp>
        <p:nvSpPr>
          <p:cNvPr id="16" name="Text 14"/>
          <p:cNvSpPr txBox="1"/>
          <p:nvPr/>
        </p:nvSpPr>
        <p:spPr>
          <a:xfrm>
            <a:off x="822960"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データと計算過程の整理</a:t>
            </a:r>
            <a:endParaRPr lang="en-US" sz="1500" dirty="0"/>
          </a:p>
        </p:txBody>
      </p:sp>
      <p:sp>
        <p:nvSpPr>
          <p:cNvPr id="17" name="Text 15"/>
          <p:cNvSpPr txBox="1"/>
          <p:nvPr/>
        </p:nvSpPr>
        <p:spPr>
          <a:xfrm>
            <a:off x="822960"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学習16・検証8・テスト12などの役割と、Σを使った計算式</a:t>
            </a:r>
            <a:endParaRPr lang="en-US" sz="1050" dirty="0"/>
          </a:p>
        </p:txBody>
      </p:sp>
      <p:sp>
        <p:nvSpPr>
          <p:cNvPr id="18" name="Text 16"/>
          <p:cNvSpPr txBox="1"/>
          <p:nvPr/>
        </p:nvSpPr>
        <p:spPr>
          <a:xfrm>
            <a:off x="822960"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p.20–27</a:t>
            </a:r>
            <a:endParaRPr lang="en-US" sz="1000" dirty="0"/>
          </a:p>
        </p:txBody>
      </p:sp>
      <p:sp>
        <p:nvSpPr>
          <p:cNvPr id="19" name="Shape 17"/>
          <p:cNvSpPr/>
          <p:nvPr/>
        </p:nvSpPr>
        <p:spPr>
          <a:xfrm>
            <a:off x="3410712" y="3429000"/>
            <a:ext cx="2587752" cy="2423160"/>
          </a:xfrm>
          <a:prstGeom prst="roundRect">
            <a:avLst>
              <a:gd name="adj" fmla="val 2264"/>
            </a:avLst>
          </a:prstGeom>
          <a:solidFill>
            <a:srgbClr val="FFFFFF"/>
          </a:solidFill>
          <a:ln/>
        </p:spPr>
      </p:sp>
      <p:sp>
        <p:nvSpPr>
          <p:cNvPr id="20" name="Text 18"/>
          <p:cNvSpPr txBox="1"/>
          <p:nvPr/>
        </p:nvSpPr>
        <p:spPr>
          <a:xfrm>
            <a:off x="3593592"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6</a:t>
            </a:r>
            <a:endParaRPr lang="en-US" sz="1100" dirty="0"/>
          </a:p>
        </p:txBody>
      </p:sp>
      <p:sp>
        <p:nvSpPr>
          <p:cNvPr id="21" name="Text 19"/>
          <p:cNvSpPr txBox="1"/>
          <p:nvPr/>
        </p:nvSpPr>
        <p:spPr>
          <a:xfrm>
            <a:off x="4764024"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Q2への回答</a:t>
            </a:r>
            <a:endParaRPr lang="en-US" sz="950" dirty="0"/>
          </a:p>
        </p:txBody>
      </p:sp>
      <p:sp>
        <p:nvSpPr>
          <p:cNvPr id="22" name="Text 20"/>
          <p:cNvSpPr txBox="1"/>
          <p:nvPr/>
        </p:nvSpPr>
        <p:spPr>
          <a:xfrm>
            <a:off x="3593592"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最終目標ツールの変数</a:t>
            </a:r>
            <a:endParaRPr lang="en-US" sz="1500" dirty="0"/>
          </a:p>
        </p:txBody>
      </p:sp>
      <p:sp>
        <p:nvSpPr>
          <p:cNvPr id="23" name="Text 21"/>
          <p:cNvSpPr txBox="1"/>
          <p:nvPr/>
        </p:nvSpPr>
        <p:spPr>
          <a:xfrm>
            <a:off x="3593592"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平面図・立体図で17個の変数の位置と、0/1変数を使う理由</a:t>
            </a:r>
            <a:endParaRPr lang="en-US" sz="1050" dirty="0"/>
          </a:p>
        </p:txBody>
      </p:sp>
      <p:sp>
        <p:nvSpPr>
          <p:cNvPr id="24" name="Text 22"/>
          <p:cNvSpPr txBox="1"/>
          <p:nvPr/>
        </p:nvSpPr>
        <p:spPr>
          <a:xfrm>
            <a:off x="3593592"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p.28–31</a:t>
            </a:r>
            <a:endParaRPr lang="en-US" sz="1000" dirty="0"/>
          </a:p>
        </p:txBody>
      </p:sp>
      <p:sp>
        <p:nvSpPr>
          <p:cNvPr id="25" name="Shape 23"/>
          <p:cNvSpPr/>
          <p:nvPr/>
        </p:nvSpPr>
        <p:spPr>
          <a:xfrm>
            <a:off x="6181344" y="3429000"/>
            <a:ext cx="2587752" cy="2423160"/>
          </a:xfrm>
          <a:prstGeom prst="roundRect">
            <a:avLst>
              <a:gd name="adj" fmla="val 2264"/>
            </a:avLst>
          </a:prstGeom>
          <a:solidFill>
            <a:srgbClr val="FFFFFF"/>
          </a:solidFill>
          <a:ln/>
        </p:spPr>
      </p:sp>
      <p:sp>
        <p:nvSpPr>
          <p:cNvPr id="26" name="Text 24"/>
          <p:cNvSpPr txBox="1"/>
          <p:nvPr/>
        </p:nvSpPr>
        <p:spPr>
          <a:xfrm>
            <a:off x="6364224"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7</a:t>
            </a:r>
            <a:endParaRPr lang="en-US" sz="1100" dirty="0"/>
          </a:p>
        </p:txBody>
      </p:sp>
      <p:sp>
        <p:nvSpPr>
          <p:cNvPr id="27" name="Text 25"/>
          <p:cNvSpPr txBox="1"/>
          <p:nvPr/>
        </p:nvSpPr>
        <p:spPr>
          <a:xfrm>
            <a:off x="7534656"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28" name="Text 26"/>
          <p:cNvSpPr txBox="1"/>
          <p:nvPr/>
        </p:nvSpPr>
        <p:spPr>
          <a:xfrm>
            <a:off x="6364224"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4方向での線形補間</a:t>
            </a:r>
            <a:endParaRPr lang="en-US" sz="1500" dirty="0"/>
          </a:p>
        </p:txBody>
      </p:sp>
      <p:sp>
        <p:nvSpPr>
          <p:cNvPr id="29" name="Text 27"/>
          <p:cNvSpPr txBox="1"/>
          <p:nvPr/>
        </p:nvSpPr>
        <p:spPr>
          <a:xfrm>
            <a:off x="6364224"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なぜ難しいか。来週どの配置・入力で試し、何を数値で示すか</a:t>
            </a:r>
            <a:endParaRPr lang="en-US" sz="1050" dirty="0"/>
          </a:p>
        </p:txBody>
      </p:sp>
      <p:sp>
        <p:nvSpPr>
          <p:cNvPr id="30" name="Text 28"/>
          <p:cNvSpPr txBox="1"/>
          <p:nvPr/>
        </p:nvSpPr>
        <p:spPr>
          <a:xfrm>
            <a:off x="6364224"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p.32–37</a:t>
            </a:r>
            <a:endParaRPr lang="en-US" sz="1000" dirty="0"/>
          </a:p>
        </p:txBody>
      </p:sp>
      <p:sp>
        <p:nvSpPr>
          <p:cNvPr id="31" name="Shape 29"/>
          <p:cNvSpPr/>
          <p:nvPr/>
        </p:nvSpPr>
        <p:spPr>
          <a:xfrm>
            <a:off x="8951976" y="3429000"/>
            <a:ext cx="2587752" cy="2423160"/>
          </a:xfrm>
          <a:prstGeom prst="roundRect">
            <a:avLst>
              <a:gd name="adj" fmla="val 2264"/>
            </a:avLst>
          </a:prstGeom>
          <a:solidFill>
            <a:srgbClr val="FFFFFF"/>
          </a:solidFill>
          <a:ln/>
        </p:spPr>
      </p:sp>
      <p:sp>
        <p:nvSpPr>
          <p:cNvPr id="32" name="Text 30"/>
          <p:cNvSpPr txBox="1"/>
          <p:nvPr/>
        </p:nvSpPr>
        <p:spPr>
          <a:xfrm>
            <a:off x="9134856"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8</a:t>
            </a:r>
            <a:endParaRPr lang="en-US" sz="1100" dirty="0"/>
          </a:p>
        </p:txBody>
      </p:sp>
      <p:sp>
        <p:nvSpPr>
          <p:cNvPr id="33" name="Text 31"/>
          <p:cNvSpPr txBox="1"/>
          <p:nvPr/>
        </p:nvSpPr>
        <p:spPr>
          <a:xfrm>
            <a:off x="10305288"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34" name="Text 32"/>
          <p:cNvSpPr txBox="1"/>
          <p:nvPr/>
        </p:nvSpPr>
        <p:spPr>
          <a:xfrm>
            <a:off x="9134856"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代案：空の遮られ方</a:t>
            </a:r>
            <a:endParaRPr lang="en-US" sz="1500" dirty="0"/>
          </a:p>
        </p:txBody>
      </p:sp>
      <p:sp>
        <p:nvSpPr>
          <p:cNvPr id="35" name="Text 33"/>
          <p:cNvSpPr txBox="1"/>
          <p:nvPr/>
        </p:nvSpPr>
        <p:spPr>
          <a:xfrm>
            <a:off x="9134856"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線形補間でうまくいかない場合の方法の概要（詳細は来週）</a:t>
            </a:r>
            <a:endParaRPr lang="en-US" sz="1050" dirty="0"/>
          </a:p>
        </p:txBody>
      </p:sp>
      <p:sp>
        <p:nvSpPr>
          <p:cNvPr id="36" name="Text 34"/>
          <p:cNvSpPr txBox="1"/>
          <p:nvPr/>
        </p:nvSpPr>
        <p:spPr>
          <a:xfrm>
            <a:off x="9134856"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p.38–40</a:t>
            </a:r>
            <a:endParaRPr lang="en-US" sz="1000" dirty="0"/>
          </a:p>
        </p:txBody>
      </p:sp>
      <p:sp>
        <p:nvSpPr>
          <p:cNvPr id="37" name="Text 3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38" name="Text 3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19 / 41</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データの役割：1件のデータは「入力」と「正解値」の組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南側1棟の段階で使ったデータは47配置。それぞれ「何に使ったか」で名前が変わる。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20 / 41</a:t>
            </a:r>
            <a:endParaRPr lang="en-US" sz="1100" dirty="0"/>
          </a:p>
        </p:txBody>
      </p:sp>
      <p:sp>
        <p:nvSpPr>
          <p:cNvPr id="10" name="Shape 8"/>
          <p:cNvSpPr/>
          <p:nvPr/>
        </p:nvSpPr>
        <p:spPr>
          <a:xfrm>
            <a:off x="457200" y="1463040"/>
            <a:ext cx="5989320" cy="1097280"/>
          </a:xfrm>
          <a:prstGeom prst="roundRect">
            <a:avLst>
              <a:gd name="adj" fmla="val 5000"/>
            </a:avLst>
          </a:prstGeom>
          <a:solidFill>
            <a:srgbClr val="F3F5F8"/>
          </a:solidFill>
          <a:ln/>
        </p:spPr>
      </p:sp>
      <p:sp>
        <p:nvSpPr>
          <p:cNvPr id="11" name="Text 9"/>
          <p:cNvSpPr txBox="1"/>
          <p:nvPr/>
        </p:nvSpPr>
        <p:spPr>
          <a:xfrm>
            <a:off x="594360" y="1517904"/>
            <a:ext cx="5669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1配置ぶんのデータ（どの種類でも形は同じ）</a:t>
            </a:r>
            <a:endParaRPr lang="en-US" sz="1100" dirty="0"/>
          </a:p>
        </p:txBody>
      </p:sp>
      <p:sp>
        <p:nvSpPr>
          <p:cNvPr id="12" name="Shape 10"/>
          <p:cNvSpPr/>
          <p:nvPr/>
        </p:nvSpPr>
        <p:spPr>
          <a:xfrm>
            <a:off x="640080" y="1847088"/>
            <a:ext cx="2148840" cy="566928"/>
          </a:xfrm>
          <a:prstGeom prst="roundRect">
            <a:avLst>
              <a:gd name="adj" fmla="val 9677"/>
            </a:avLst>
          </a:prstGeom>
          <a:solidFill>
            <a:srgbClr val="FBEBDA"/>
          </a:solidFill>
          <a:ln/>
        </p:spPr>
      </p:sp>
      <p:sp>
        <p:nvSpPr>
          <p:cNvPr id="13" name="Text 11"/>
          <p:cNvSpPr txBox="1"/>
          <p:nvPr/>
        </p:nvSpPr>
        <p:spPr>
          <a:xfrm>
            <a:off x="731520" y="1874520"/>
            <a:ext cx="2011680" cy="530352"/>
          </a:xfrm>
          <a:prstGeom prst="rect">
            <a:avLst/>
          </a:prstGeom>
          <a:noFill/>
          <a:ln/>
        </p:spPr>
        <p:txBody>
          <a:bodyPr wrap="square" lIns="508" tIns="508" rIns="508" bIns="508" rtlCol="0" anchor="ctr"/>
          <a:lstStyle/>
          <a:p>
            <a:pPr indent="0" marL="0">
              <a:buNone/>
            </a:pPr>
            <a:r>
              <a:rPr lang="en-US" sz="1200" b="1" dirty="0">
                <a:solidFill>
                  <a:srgbClr val="C56A2C"/>
                </a:solidFill>
                <a:latin typeface="Yu Gothic" pitchFamily="34" charset="0"/>
                <a:ea typeface="Yu Gothic" pitchFamily="34" charset="-122"/>
                <a:cs typeface="Yu Gothic" pitchFamily="34" charset="-120"/>
              </a:rPr>
              <a:t>入力</a:t>
            </a:r>
            <a:pPr indent="0" marL="0">
              <a:buNone/>
            </a:pPr>
            <a:r>
              <a:rPr lang="en-US" sz="1200" b="1" dirty="0">
                <a:solidFill>
                  <a:srgbClr val="1B2A44"/>
                </a:solidFill>
                <a:latin typeface="Yu Gothic" pitchFamily="34" charset="0"/>
                <a:ea typeface="Yu Gothic" pitchFamily="34" charset="-122"/>
                <a:cs typeface="Yu Gothic" pitchFamily="34" charset="-120"/>
              </a:rPr>
              <a:t>　A, D</a:t>
            </a:r>
            <a:endParaRPr lang="en-US" sz="1200" dirty="0"/>
          </a:p>
          <a:p>
            <a:pPr indent="0" marL="0">
              <a:buNone/>
            </a:pPr>
            <a:r>
              <a:rPr lang="en-US" sz="950" dirty="0">
                <a:solidFill>
                  <a:srgbClr val="333F4E"/>
                </a:solidFill>
                <a:latin typeface="Yu Gothic" pitchFamily="34" charset="0"/>
                <a:ea typeface="Yu Gothic" pitchFamily="34" charset="-122"/>
                <a:cs typeface="Yu Gothic" pitchFamily="34" charset="-120"/>
              </a:rPr>
              <a:t>例：A＝55.9m, D＝14m</a:t>
            </a:r>
            <a:endParaRPr lang="en-US" sz="1200" dirty="0"/>
          </a:p>
        </p:txBody>
      </p:sp>
      <p:sp>
        <p:nvSpPr>
          <p:cNvPr id="14" name="Text 12"/>
          <p:cNvSpPr txBox="1"/>
          <p:nvPr/>
        </p:nvSpPr>
        <p:spPr>
          <a:xfrm>
            <a:off x="2816352" y="1901952"/>
            <a:ext cx="365760" cy="457200"/>
          </a:xfrm>
          <a:prstGeom prst="rect">
            <a:avLst/>
          </a:prstGeom>
          <a:noFill/>
          <a:ln/>
        </p:spPr>
        <p:txBody>
          <a:bodyPr wrap="square" lIns="508" tIns="508" rIns="508" bIns="508" rtlCol="0" anchor="ctr"/>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15" name="Shape 13"/>
          <p:cNvSpPr/>
          <p:nvPr/>
        </p:nvSpPr>
        <p:spPr>
          <a:xfrm>
            <a:off x="3200400" y="1847088"/>
            <a:ext cx="3063240" cy="566928"/>
          </a:xfrm>
          <a:prstGeom prst="roundRect">
            <a:avLst>
              <a:gd name="adj" fmla="val 9677"/>
            </a:avLst>
          </a:prstGeom>
          <a:solidFill>
            <a:srgbClr val="DCEAEC"/>
          </a:solidFill>
          <a:ln/>
        </p:spPr>
      </p:sp>
      <p:sp>
        <p:nvSpPr>
          <p:cNvPr id="16" name="Text 14"/>
          <p:cNvSpPr txBox="1"/>
          <p:nvPr/>
        </p:nvSpPr>
        <p:spPr>
          <a:xfrm>
            <a:off x="3291840" y="1874520"/>
            <a:ext cx="2926080" cy="530352"/>
          </a:xfrm>
          <a:prstGeom prst="rect">
            <a:avLst/>
          </a:prstGeom>
          <a:noFill/>
          <a:ln/>
        </p:spPr>
        <p:txBody>
          <a:bodyPr wrap="square" lIns="508" tIns="508" rIns="508" bIns="508" rtlCol="0" anchor="ctr"/>
          <a:lstStyle/>
          <a:p>
            <a:pPr indent="0" marL="0">
              <a:buNone/>
            </a:pPr>
            <a:r>
              <a:rPr lang="en-US" sz="1150" b="1" dirty="0">
                <a:solidFill>
                  <a:srgbClr val="1F6F78"/>
                </a:solidFill>
                <a:latin typeface="Yu Gothic" pitchFamily="34" charset="0"/>
                <a:ea typeface="Yu Gothic" pitchFamily="34" charset="-122"/>
                <a:cs typeface="Yu Gothic" pitchFamily="34" charset="-120"/>
              </a:rPr>
              <a:t>正解値（SEBEの計算値）</a:t>
            </a:r>
            <a:endParaRPr lang="en-US" sz="1150" dirty="0"/>
          </a:p>
          <a:p>
            <a:pPr indent="0" marL="0">
              <a:buNone/>
            </a:pPr>
            <a:r>
              <a:rPr lang="en-US" sz="950" dirty="0">
                <a:solidFill>
                  <a:srgbClr val="333F4E"/>
                </a:solidFill>
                <a:latin typeface="Yu Gothic" pitchFamily="34" charset="0"/>
                <a:ea typeface="Yu Gothic" pitchFamily="34" charset="-122"/>
                <a:cs typeface="Yu Gothic" pitchFamily="34" charset="-120"/>
              </a:rPr>
              <a:t>南面5帯の年間日射量 y</a:t>
            </a:r>
            <a:pPr indent="0" marL="0">
              <a:buNone/>
            </a:pPr>
            <a:r>
              <a:rPr lang="en-US" sz="950" baseline="-40000" dirty="0">
                <a:solidFill>
                  <a:srgbClr val="333F4E"/>
                </a:solidFill>
                <a:latin typeface="Yu Gothic" pitchFamily="34" charset="0"/>
                <a:ea typeface="Yu Gothic" pitchFamily="34" charset="-122"/>
                <a:cs typeface="Yu Gothic" pitchFamily="34" charset="-120"/>
              </a:rPr>
              <a:t>1</a:t>
            </a:r>
            <a:pPr indent="0" marL="0">
              <a:buNone/>
            </a:pPr>
            <a:r>
              <a:rPr lang="en-US" sz="950" dirty="0">
                <a:solidFill>
                  <a:srgbClr val="333F4E"/>
                </a:solidFill>
                <a:latin typeface="Yu Gothic" pitchFamily="34" charset="0"/>
                <a:ea typeface="Yu Gothic" pitchFamily="34" charset="-122"/>
                <a:cs typeface="Yu Gothic" pitchFamily="34" charset="-120"/>
              </a:rPr>
              <a:t>〜y</a:t>
            </a:r>
            <a:pPr indent="0" marL="0">
              <a:buNone/>
            </a:pPr>
            <a:r>
              <a:rPr lang="en-US" sz="950" baseline="-40000" dirty="0">
                <a:solidFill>
                  <a:srgbClr val="333F4E"/>
                </a:solidFill>
                <a:latin typeface="Yu Gothic" pitchFamily="34" charset="0"/>
                <a:ea typeface="Yu Gothic" pitchFamily="34" charset="-122"/>
                <a:cs typeface="Yu Gothic" pitchFamily="34" charset="-120"/>
              </a:rPr>
              <a:t>5</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724912"/>
          <a:ext cx="5989320" cy="914400"/>
        </p:xfrm>
        <a:graphic>
          <a:graphicData uri="http://schemas.openxmlformats.org/drawingml/2006/table">
            <a:tbl>
              <a:tblPr/>
              <a:tblGrid>
                <a:gridCol w="2011680"/>
                <a:gridCol w="3291840"/>
                <a:gridCol w="685800"/>
              </a:tblGrid>
              <a:tr h="29260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呼び方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何に使うか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学習用（補間用）データ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予測方法を作るために保存する計算データ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検証データ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3手法の比較・弱点（高さ帯別）の確認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テストデータ（全体平均）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方法を固定した後、未使用の配置で性能確認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局所改良の追加データ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既存4点と合わせて3×3の局所格子を作る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局所改良のテストデータ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改良前後を同じ配置で比較</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合計（重複なし）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8" name="Shape 15"/>
          <p:cNvSpPr/>
          <p:nvPr/>
        </p:nvSpPr>
        <p:spPr>
          <a:xfrm>
            <a:off x="457200" y="4937760"/>
            <a:ext cx="5989320" cy="1371600"/>
          </a:xfrm>
          <a:prstGeom prst="roundRect">
            <a:avLst>
              <a:gd name="adj" fmla="val 4000"/>
            </a:avLst>
          </a:prstGeom>
          <a:solidFill>
            <a:srgbClr val="FBEBDA"/>
          </a:solidFill>
          <a:ln/>
        </p:spPr>
      </p:sp>
      <p:sp>
        <p:nvSpPr>
          <p:cNvPr id="19" name="Text 16"/>
          <p:cNvSpPr txBox="1"/>
          <p:nvPr/>
        </p:nvSpPr>
        <p:spPr>
          <a:xfrm>
            <a:off x="594360" y="5029200"/>
            <a:ext cx="571500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「学習」の注意：線形補間は係数を学習しない</a:t>
            </a:r>
            <a:endParaRPr lang="en-US" sz="1200" dirty="0"/>
          </a:p>
        </p:txBody>
      </p:sp>
      <p:sp>
        <p:nvSpPr>
          <p:cNvPr id="20" name="Text 17"/>
          <p:cNvSpPr txBox="1"/>
          <p:nvPr/>
        </p:nvSpPr>
        <p:spPr>
          <a:xfrm>
            <a:off x="594360" y="5303520"/>
            <a:ext cx="5760720" cy="96012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16配置の値を表として保存し、入力のたびに近い4点から計算する →「補間の基準として保存した計算データ」</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テストデータは方法を決めた後にだけ使う（結果を見て方法を変えない）</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局所格子の9点のうち4点は元の16点なので、47に重ねて数えない</a:t>
            </a:r>
            <a:endParaRPr lang="en-US" sz="1000" dirty="0"/>
          </a:p>
        </p:txBody>
      </p:sp>
      <p:sp>
        <p:nvSpPr>
          <p:cNvPr id="21" name="Shape 18"/>
          <p:cNvSpPr/>
          <p:nvPr/>
        </p:nvSpPr>
        <p:spPr>
          <a:xfrm>
            <a:off x="6675120" y="1417320"/>
            <a:ext cx="5074920" cy="4892040"/>
          </a:xfrm>
          <a:prstGeom prst="roundRect">
            <a:avLst>
              <a:gd name="adj" fmla="val 1121"/>
            </a:avLst>
          </a:prstGeom>
          <a:solidFill>
            <a:srgbClr val="F3F5F8"/>
          </a:solidFill>
          <a:ln/>
        </p:spPr>
      </p:sp>
      <p:sp>
        <p:nvSpPr>
          <p:cNvPr id="22" name="Text 19"/>
          <p:cNvSpPr txBox="1"/>
          <p:nvPr/>
        </p:nvSpPr>
        <p:spPr>
          <a:xfrm>
            <a:off x="6812280" y="1463040"/>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47配置の位置（A：高さ・D：隙間）</a:t>
            </a:r>
            <a:endParaRPr lang="en-US" sz="1100" dirty="0"/>
          </a:p>
        </p:txBody>
      </p:sp>
      <p:sp>
        <p:nvSpPr>
          <p:cNvPr id="23" name="Shape 20"/>
          <p:cNvSpPr/>
          <p:nvPr/>
        </p:nvSpPr>
        <p:spPr>
          <a:xfrm>
            <a:off x="7452360" y="1965960"/>
            <a:ext cx="4023360" cy="3291840"/>
          </a:xfrm>
          <a:prstGeom prst="rect">
            <a:avLst/>
          </a:prstGeom>
          <a:solidFill>
            <a:srgbClr val="FFFFFF"/>
          </a:solidFill>
          <a:ln/>
        </p:spPr>
      </p:sp>
      <p:sp>
        <p:nvSpPr>
          <p:cNvPr id="24" name="Shape 21"/>
          <p:cNvSpPr/>
          <p:nvPr/>
        </p:nvSpPr>
        <p:spPr>
          <a:xfrm>
            <a:off x="7653528" y="1965960"/>
            <a:ext cx="91" cy="3291840"/>
          </a:xfrm>
          <a:prstGeom prst="line">
            <a:avLst/>
          </a:prstGeom>
          <a:noFill/>
          <a:ln w="6350">
            <a:solidFill>
              <a:srgbClr val="DDE2E8"/>
            </a:solidFill>
            <a:prstDash val="solid"/>
          </a:ln>
        </p:spPr>
      </p:sp>
      <p:sp>
        <p:nvSpPr>
          <p:cNvPr id="25" name="Text 22"/>
          <p:cNvSpPr txBox="1"/>
          <p:nvPr/>
        </p:nvSpPr>
        <p:spPr>
          <a:xfrm>
            <a:off x="7424928"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26" name="Shape 23"/>
          <p:cNvSpPr/>
          <p:nvPr/>
        </p:nvSpPr>
        <p:spPr>
          <a:xfrm>
            <a:off x="8257032" y="1965960"/>
            <a:ext cx="91" cy="3291840"/>
          </a:xfrm>
          <a:prstGeom prst="line">
            <a:avLst/>
          </a:prstGeom>
          <a:noFill/>
          <a:ln w="6350">
            <a:solidFill>
              <a:srgbClr val="DDE2E8"/>
            </a:solidFill>
            <a:prstDash val="solid"/>
          </a:ln>
        </p:spPr>
      </p:sp>
      <p:sp>
        <p:nvSpPr>
          <p:cNvPr id="27" name="Text 24"/>
          <p:cNvSpPr txBox="1"/>
          <p:nvPr/>
        </p:nvSpPr>
        <p:spPr>
          <a:xfrm>
            <a:off x="802843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28" name="Shape 25"/>
          <p:cNvSpPr/>
          <p:nvPr/>
        </p:nvSpPr>
        <p:spPr>
          <a:xfrm>
            <a:off x="9262872" y="1965960"/>
            <a:ext cx="91" cy="3291840"/>
          </a:xfrm>
          <a:prstGeom prst="line">
            <a:avLst/>
          </a:prstGeom>
          <a:noFill/>
          <a:ln w="6350">
            <a:solidFill>
              <a:srgbClr val="DDE2E8"/>
            </a:solidFill>
            <a:prstDash val="solid"/>
          </a:ln>
        </p:spPr>
      </p:sp>
      <p:sp>
        <p:nvSpPr>
          <p:cNvPr id="29" name="Text 26"/>
          <p:cNvSpPr txBox="1"/>
          <p:nvPr/>
        </p:nvSpPr>
        <p:spPr>
          <a:xfrm>
            <a:off x="903427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0" name="Shape 27"/>
          <p:cNvSpPr/>
          <p:nvPr/>
        </p:nvSpPr>
        <p:spPr>
          <a:xfrm>
            <a:off x="11274552" y="1965960"/>
            <a:ext cx="91" cy="3291840"/>
          </a:xfrm>
          <a:prstGeom prst="line">
            <a:avLst/>
          </a:prstGeom>
          <a:noFill/>
          <a:ln w="6350">
            <a:solidFill>
              <a:srgbClr val="DDE2E8"/>
            </a:solidFill>
            <a:prstDash val="solid"/>
          </a:ln>
        </p:spPr>
      </p:sp>
      <p:sp>
        <p:nvSpPr>
          <p:cNvPr id="31" name="Text 28"/>
          <p:cNvSpPr txBox="1"/>
          <p:nvPr/>
        </p:nvSpPr>
        <p:spPr>
          <a:xfrm>
            <a:off x="1104595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32" name="Shape 29"/>
          <p:cNvSpPr/>
          <p:nvPr/>
        </p:nvSpPr>
        <p:spPr>
          <a:xfrm>
            <a:off x="7452360" y="5064162"/>
            <a:ext cx="4023360" cy="91"/>
          </a:xfrm>
          <a:prstGeom prst="line">
            <a:avLst/>
          </a:prstGeom>
          <a:noFill/>
          <a:ln w="6350">
            <a:solidFill>
              <a:srgbClr val="DDE2E8"/>
            </a:solidFill>
            <a:prstDash val="solid"/>
          </a:ln>
        </p:spPr>
      </p:sp>
      <p:sp>
        <p:nvSpPr>
          <p:cNvPr id="33" name="Text 30"/>
          <p:cNvSpPr txBox="1"/>
          <p:nvPr/>
        </p:nvSpPr>
        <p:spPr>
          <a:xfrm>
            <a:off x="7040880" y="4963578"/>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34" name="Shape 31"/>
          <p:cNvSpPr/>
          <p:nvPr/>
        </p:nvSpPr>
        <p:spPr>
          <a:xfrm>
            <a:off x="7452360" y="4095974"/>
            <a:ext cx="4023360" cy="91"/>
          </a:xfrm>
          <a:prstGeom prst="line">
            <a:avLst/>
          </a:prstGeom>
          <a:noFill/>
          <a:ln w="6350">
            <a:solidFill>
              <a:srgbClr val="DDE2E8"/>
            </a:solidFill>
            <a:prstDash val="solid"/>
          </a:ln>
        </p:spPr>
      </p:sp>
      <p:sp>
        <p:nvSpPr>
          <p:cNvPr id="35" name="Text 32"/>
          <p:cNvSpPr txBox="1"/>
          <p:nvPr/>
        </p:nvSpPr>
        <p:spPr>
          <a:xfrm>
            <a:off x="7040880" y="3995390"/>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6" name="Shape 33"/>
          <p:cNvSpPr/>
          <p:nvPr/>
        </p:nvSpPr>
        <p:spPr>
          <a:xfrm>
            <a:off x="7452360" y="3127786"/>
            <a:ext cx="4023360" cy="91"/>
          </a:xfrm>
          <a:prstGeom prst="line">
            <a:avLst/>
          </a:prstGeom>
          <a:noFill/>
          <a:ln w="6350">
            <a:solidFill>
              <a:srgbClr val="DDE2E8"/>
            </a:solidFill>
            <a:prstDash val="solid"/>
          </a:ln>
        </p:spPr>
      </p:sp>
      <p:sp>
        <p:nvSpPr>
          <p:cNvPr id="37" name="Text 34"/>
          <p:cNvSpPr txBox="1"/>
          <p:nvPr/>
        </p:nvSpPr>
        <p:spPr>
          <a:xfrm>
            <a:off x="7040880" y="3027202"/>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75</a:t>
            </a:r>
            <a:endParaRPr lang="en-US" sz="900" dirty="0"/>
          </a:p>
        </p:txBody>
      </p:sp>
      <p:sp>
        <p:nvSpPr>
          <p:cNvPr id="38" name="Shape 35"/>
          <p:cNvSpPr/>
          <p:nvPr/>
        </p:nvSpPr>
        <p:spPr>
          <a:xfrm>
            <a:off x="7452360" y="2159598"/>
            <a:ext cx="4023360" cy="91"/>
          </a:xfrm>
          <a:prstGeom prst="line">
            <a:avLst/>
          </a:prstGeom>
          <a:noFill/>
          <a:ln w="6350">
            <a:solidFill>
              <a:srgbClr val="DDE2E8"/>
            </a:solidFill>
            <a:prstDash val="solid"/>
          </a:ln>
        </p:spPr>
      </p:sp>
      <p:sp>
        <p:nvSpPr>
          <p:cNvPr id="39" name="Text 36"/>
          <p:cNvSpPr txBox="1"/>
          <p:nvPr/>
        </p:nvSpPr>
        <p:spPr>
          <a:xfrm>
            <a:off x="7040880" y="2059014"/>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40" name="Text 37"/>
          <p:cNvSpPr txBox="1"/>
          <p:nvPr/>
        </p:nvSpPr>
        <p:spPr>
          <a:xfrm>
            <a:off x="7452360" y="5468112"/>
            <a:ext cx="4023360" cy="219456"/>
          </a:xfrm>
          <a:prstGeom prst="rect">
            <a:avLst/>
          </a:prstGeom>
          <a:noFill/>
          <a:ln/>
        </p:spPr>
        <p:txBody>
          <a:bodyPr wrap="square" lIns="508" tIns="508" rIns="508" bIns="508" rtlCol="0" anchor="t"/>
          <a:lstStyle/>
          <a:p>
            <a:pPr algn="ctr" indent="0" marL="0">
              <a:buNone/>
            </a:pPr>
            <a:r>
              <a:rPr lang="en-US" sz="950" dirty="0">
                <a:solidFill>
                  <a:srgbClr val="1B2A44"/>
                </a:solidFill>
                <a:latin typeface="Yu Gothic" pitchFamily="34" charset="0"/>
                <a:ea typeface="Yu Gothic" pitchFamily="34" charset="-122"/>
                <a:cs typeface="Yu Gothic" pitchFamily="34" charset="-120"/>
              </a:rPr>
              <a:t>隙間 D（m）</a:t>
            </a:r>
            <a:endParaRPr lang="en-US" sz="950" dirty="0"/>
          </a:p>
        </p:txBody>
      </p:sp>
      <p:sp>
        <p:nvSpPr>
          <p:cNvPr id="41" name="Text 38"/>
          <p:cNvSpPr txBox="1"/>
          <p:nvPr/>
        </p:nvSpPr>
        <p:spPr>
          <a:xfrm>
            <a:off x="6766560" y="1691640"/>
            <a:ext cx="1188720" cy="219456"/>
          </a:xfrm>
          <a:prstGeom prst="rect">
            <a:avLst/>
          </a:prstGeom>
          <a:noFill/>
          <a:ln/>
        </p:spPr>
        <p:txBody>
          <a:bodyPr wrap="square" lIns="508" tIns="508" rIns="508" bIns="508" rtlCol="0" anchor="t"/>
          <a:lstStyle/>
          <a:p>
            <a:pPr indent="0" marL="0">
              <a:buNone/>
            </a:pPr>
            <a:r>
              <a:rPr lang="en-US" sz="950" dirty="0">
                <a:solidFill>
                  <a:srgbClr val="1B2A44"/>
                </a:solidFill>
                <a:latin typeface="Yu Gothic" pitchFamily="34" charset="0"/>
                <a:ea typeface="Yu Gothic" pitchFamily="34" charset="-122"/>
                <a:cs typeface="Yu Gothic" pitchFamily="34" charset="-120"/>
              </a:rPr>
              <a:t>高さ A（m）</a:t>
            </a:r>
            <a:endParaRPr lang="en-US" sz="950" dirty="0"/>
          </a:p>
        </p:txBody>
      </p:sp>
      <p:sp>
        <p:nvSpPr>
          <p:cNvPr id="42" name="Shape 39"/>
          <p:cNvSpPr/>
          <p:nvPr/>
        </p:nvSpPr>
        <p:spPr>
          <a:xfrm>
            <a:off x="7594092" y="5004726"/>
            <a:ext cx="118872" cy="118872"/>
          </a:xfrm>
          <a:prstGeom prst="rect">
            <a:avLst/>
          </a:prstGeom>
          <a:solidFill>
            <a:srgbClr val="1B2A44"/>
          </a:solidFill>
          <a:ln w="6350">
            <a:solidFill>
              <a:srgbClr val="FFFFFF"/>
            </a:solidFill>
            <a:prstDash val="solid"/>
          </a:ln>
        </p:spPr>
      </p:sp>
      <p:sp>
        <p:nvSpPr>
          <p:cNvPr id="43" name="Shape 40"/>
          <p:cNvSpPr/>
          <p:nvPr/>
        </p:nvSpPr>
        <p:spPr>
          <a:xfrm>
            <a:off x="8197596" y="5004726"/>
            <a:ext cx="118872" cy="118872"/>
          </a:xfrm>
          <a:prstGeom prst="rect">
            <a:avLst/>
          </a:prstGeom>
          <a:solidFill>
            <a:srgbClr val="1B2A44"/>
          </a:solidFill>
          <a:ln w="6350">
            <a:solidFill>
              <a:srgbClr val="FFFFFF"/>
            </a:solidFill>
            <a:prstDash val="solid"/>
          </a:ln>
        </p:spPr>
      </p:sp>
      <p:sp>
        <p:nvSpPr>
          <p:cNvPr id="44" name="Shape 41"/>
          <p:cNvSpPr/>
          <p:nvPr/>
        </p:nvSpPr>
        <p:spPr>
          <a:xfrm>
            <a:off x="9203436" y="5004726"/>
            <a:ext cx="118872" cy="118872"/>
          </a:xfrm>
          <a:prstGeom prst="rect">
            <a:avLst/>
          </a:prstGeom>
          <a:solidFill>
            <a:srgbClr val="1B2A44"/>
          </a:solidFill>
          <a:ln w="6350">
            <a:solidFill>
              <a:srgbClr val="FFFFFF"/>
            </a:solidFill>
            <a:prstDash val="solid"/>
          </a:ln>
        </p:spPr>
      </p:sp>
      <p:sp>
        <p:nvSpPr>
          <p:cNvPr id="45" name="Shape 42"/>
          <p:cNvSpPr/>
          <p:nvPr/>
        </p:nvSpPr>
        <p:spPr>
          <a:xfrm>
            <a:off x="11215116" y="5004726"/>
            <a:ext cx="118872" cy="118872"/>
          </a:xfrm>
          <a:prstGeom prst="rect">
            <a:avLst/>
          </a:prstGeom>
          <a:solidFill>
            <a:srgbClr val="1B2A44"/>
          </a:solidFill>
          <a:ln w="6350">
            <a:solidFill>
              <a:srgbClr val="FFFFFF"/>
            </a:solidFill>
            <a:prstDash val="solid"/>
          </a:ln>
        </p:spPr>
      </p:sp>
      <p:sp>
        <p:nvSpPr>
          <p:cNvPr id="46" name="Shape 43"/>
          <p:cNvSpPr/>
          <p:nvPr/>
        </p:nvSpPr>
        <p:spPr>
          <a:xfrm>
            <a:off x="7594092" y="4036538"/>
            <a:ext cx="118872" cy="118872"/>
          </a:xfrm>
          <a:prstGeom prst="rect">
            <a:avLst/>
          </a:prstGeom>
          <a:solidFill>
            <a:srgbClr val="1B2A44"/>
          </a:solidFill>
          <a:ln w="6350">
            <a:solidFill>
              <a:srgbClr val="FFFFFF"/>
            </a:solidFill>
            <a:prstDash val="solid"/>
          </a:ln>
        </p:spPr>
      </p:sp>
      <p:sp>
        <p:nvSpPr>
          <p:cNvPr id="47" name="Shape 44"/>
          <p:cNvSpPr/>
          <p:nvPr/>
        </p:nvSpPr>
        <p:spPr>
          <a:xfrm>
            <a:off x="8197596" y="4036538"/>
            <a:ext cx="118872" cy="118872"/>
          </a:xfrm>
          <a:prstGeom prst="rect">
            <a:avLst/>
          </a:prstGeom>
          <a:solidFill>
            <a:srgbClr val="1B2A44"/>
          </a:solidFill>
          <a:ln w="6350">
            <a:solidFill>
              <a:srgbClr val="FFFFFF"/>
            </a:solidFill>
            <a:prstDash val="solid"/>
          </a:ln>
        </p:spPr>
      </p:sp>
      <p:sp>
        <p:nvSpPr>
          <p:cNvPr id="48" name="Shape 45"/>
          <p:cNvSpPr/>
          <p:nvPr/>
        </p:nvSpPr>
        <p:spPr>
          <a:xfrm>
            <a:off x="9203436" y="4036538"/>
            <a:ext cx="118872" cy="118872"/>
          </a:xfrm>
          <a:prstGeom prst="rect">
            <a:avLst/>
          </a:prstGeom>
          <a:solidFill>
            <a:srgbClr val="1B2A44"/>
          </a:solidFill>
          <a:ln w="6350">
            <a:solidFill>
              <a:srgbClr val="FFFFFF"/>
            </a:solidFill>
            <a:prstDash val="solid"/>
          </a:ln>
        </p:spPr>
      </p:sp>
      <p:sp>
        <p:nvSpPr>
          <p:cNvPr id="49" name="Shape 46"/>
          <p:cNvSpPr/>
          <p:nvPr/>
        </p:nvSpPr>
        <p:spPr>
          <a:xfrm>
            <a:off x="11215116" y="4036538"/>
            <a:ext cx="118872" cy="118872"/>
          </a:xfrm>
          <a:prstGeom prst="rect">
            <a:avLst/>
          </a:prstGeom>
          <a:solidFill>
            <a:srgbClr val="1B2A44"/>
          </a:solidFill>
          <a:ln w="6350">
            <a:solidFill>
              <a:srgbClr val="FFFFFF"/>
            </a:solidFill>
            <a:prstDash val="solid"/>
          </a:ln>
        </p:spPr>
      </p:sp>
      <p:sp>
        <p:nvSpPr>
          <p:cNvPr id="50" name="Shape 47"/>
          <p:cNvSpPr/>
          <p:nvPr/>
        </p:nvSpPr>
        <p:spPr>
          <a:xfrm>
            <a:off x="7594092" y="3068350"/>
            <a:ext cx="118872" cy="118872"/>
          </a:xfrm>
          <a:prstGeom prst="rect">
            <a:avLst/>
          </a:prstGeom>
          <a:solidFill>
            <a:srgbClr val="1B2A44"/>
          </a:solidFill>
          <a:ln w="6350">
            <a:solidFill>
              <a:srgbClr val="FFFFFF"/>
            </a:solidFill>
            <a:prstDash val="solid"/>
          </a:ln>
        </p:spPr>
      </p:sp>
      <p:sp>
        <p:nvSpPr>
          <p:cNvPr id="51" name="Shape 48"/>
          <p:cNvSpPr/>
          <p:nvPr/>
        </p:nvSpPr>
        <p:spPr>
          <a:xfrm>
            <a:off x="8197596" y="3068350"/>
            <a:ext cx="118872" cy="118872"/>
          </a:xfrm>
          <a:prstGeom prst="rect">
            <a:avLst/>
          </a:prstGeom>
          <a:solidFill>
            <a:srgbClr val="1B2A44"/>
          </a:solidFill>
          <a:ln w="6350">
            <a:solidFill>
              <a:srgbClr val="FFFFFF"/>
            </a:solidFill>
            <a:prstDash val="solid"/>
          </a:ln>
        </p:spPr>
      </p:sp>
      <p:sp>
        <p:nvSpPr>
          <p:cNvPr id="52" name="Shape 49"/>
          <p:cNvSpPr/>
          <p:nvPr/>
        </p:nvSpPr>
        <p:spPr>
          <a:xfrm>
            <a:off x="9203436" y="3068350"/>
            <a:ext cx="118872" cy="118872"/>
          </a:xfrm>
          <a:prstGeom prst="rect">
            <a:avLst/>
          </a:prstGeom>
          <a:solidFill>
            <a:srgbClr val="1B2A44"/>
          </a:solidFill>
          <a:ln w="6350">
            <a:solidFill>
              <a:srgbClr val="FFFFFF"/>
            </a:solidFill>
            <a:prstDash val="solid"/>
          </a:ln>
        </p:spPr>
      </p:sp>
      <p:sp>
        <p:nvSpPr>
          <p:cNvPr id="53" name="Shape 50"/>
          <p:cNvSpPr/>
          <p:nvPr/>
        </p:nvSpPr>
        <p:spPr>
          <a:xfrm>
            <a:off x="11215116" y="3068350"/>
            <a:ext cx="118872" cy="118872"/>
          </a:xfrm>
          <a:prstGeom prst="rect">
            <a:avLst/>
          </a:prstGeom>
          <a:solidFill>
            <a:srgbClr val="1B2A44"/>
          </a:solidFill>
          <a:ln w="6350">
            <a:solidFill>
              <a:srgbClr val="FFFFFF"/>
            </a:solidFill>
            <a:prstDash val="solid"/>
          </a:ln>
        </p:spPr>
      </p:sp>
      <p:sp>
        <p:nvSpPr>
          <p:cNvPr id="54" name="Shape 51"/>
          <p:cNvSpPr/>
          <p:nvPr/>
        </p:nvSpPr>
        <p:spPr>
          <a:xfrm>
            <a:off x="7594092" y="2100162"/>
            <a:ext cx="118872" cy="118872"/>
          </a:xfrm>
          <a:prstGeom prst="rect">
            <a:avLst/>
          </a:prstGeom>
          <a:solidFill>
            <a:srgbClr val="1B2A44"/>
          </a:solidFill>
          <a:ln w="6350">
            <a:solidFill>
              <a:srgbClr val="FFFFFF"/>
            </a:solidFill>
            <a:prstDash val="solid"/>
          </a:ln>
        </p:spPr>
      </p:sp>
      <p:sp>
        <p:nvSpPr>
          <p:cNvPr id="55" name="Shape 52"/>
          <p:cNvSpPr/>
          <p:nvPr/>
        </p:nvSpPr>
        <p:spPr>
          <a:xfrm>
            <a:off x="8197596" y="2100162"/>
            <a:ext cx="118872" cy="118872"/>
          </a:xfrm>
          <a:prstGeom prst="rect">
            <a:avLst/>
          </a:prstGeom>
          <a:solidFill>
            <a:srgbClr val="1B2A44"/>
          </a:solidFill>
          <a:ln w="6350">
            <a:solidFill>
              <a:srgbClr val="FFFFFF"/>
            </a:solidFill>
            <a:prstDash val="solid"/>
          </a:ln>
        </p:spPr>
      </p:sp>
      <p:sp>
        <p:nvSpPr>
          <p:cNvPr id="56" name="Shape 53"/>
          <p:cNvSpPr/>
          <p:nvPr/>
        </p:nvSpPr>
        <p:spPr>
          <a:xfrm>
            <a:off x="9203436" y="2100162"/>
            <a:ext cx="118872" cy="118872"/>
          </a:xfrm>
          <a:prstGeom prst="rect">
            <a:avLst/>
          </a:prstGeom>
          <a:solidFill>
            <a:srgbClr val="1B2A44"/>
          </a:solidFill>
          <a:ln w="6350">
            <a:solidFill>
              <a:srgbClr val="FFFFFF"/>
            </a:solidFill>
            <a:prstDash val="solid"/>
          </a:ln>
        </p:spPr>
      </p:sp>
      <p:sp>
        <p:nvSpPr>
          <p:cNvPr id="57" name="Shape 54"/>
          <p:cNvSpPr/>
          <p:nvPr/>
        </p:nvSpPr>
        <p:spPr>
          <a:xfrm>
            <a:off x="11215116" y="2100162"/>
            <a:ext cx="118872" cy="118872"/>
          </a:xfrm>
          <a:prstGeom prst="rect">
            <a:avLst/>
          </a:prstGeom>
          <a:solidFill>
            <a:srgbClr val="1B2A44"/>
          </a:solidFill>
          <a:ln w="6350">
            <a:solidFill>
              <a:srgbClr val="FFFFFF"/>
            </a:solidFill>
            <a:prstDash val="solid"/>
          </a:ln>
        </p:spPr>
      </p:sp>
      <p:sp>
        <p:nvSpPr>
          <p:cNvPr id="58" name="Shape 55"/>
          <p:cNvSpPr/>
          <p:nvPr/>
        </p:nvSpPr>
        <p:spPr>
          <a:xfrm>
            <a:off x="7786116" y="4608307"/>
            <a:ext cx="137160" cy="137160"/>
          </a:xfrm>
          <a:prstGeom prst="diamond">
            <a:avLst/>
          </a:prstGeom>
          <a:solidFill>
            <a:srgbClr val="1F6F78"/>
          </a:solidFill>
          <a:ln w="6350">
            <a:solidFill>
              <a:srgbClr val="FFFFFF"/>
            </a:solidFill>
            <a:prstDash val="solid"/>
          </a:ln>
        </p:spPr>
      </p:sp>
      <p:sp>
        <p:nvSpPr>
          <p:cNvPr id="59" name="Shape 56"/>
          <p:cNvSpPr/>
          <p:nvPr/>
        </p:nvSpPr>
        <p:spPr>
          <a:xfrm>
            <a:off x="9998964" y="4608307"/>
            <a:ext cx="137160" cy="137160"/>
          </a:xfrm>
          <a:prstGeom prst="diamond">
            <a:avLst/>
          </a:prstGeom>
          <a:solidFill>
            <a:srgbClr val="1F6F78"/>
          </a:solidFill>
          <a:ln w="6350">
            <a:solidFill>
              <a:srgbClr val="FFFFFF"/>
            </a:solidFill>
            <a:prstDash val="solid"/>
          </a:ln>
        </p:spPr>
      </p:sp>
      <p:sp>
        <p:nvSpPr>
          <p:cNvPr id="60" name="Shape 57"/>
          <p:cNvSpPr/>
          <p:nvPr/>
        </p:nvSpPr>
        <p:spPr>
          <a:xfrm>
            <a:off x="8590788" y="4221032"/>
            <a:ext cx="137160" cy="137160"/>
          </a:xfrm>
          <a:prstGeom prst="diamond">
            <a:avLst/>
          </a:prstGeom>
          <a:solidFill>
            <a:srgbClr val="1F6F78"/>
          </a:solidFill>
          <a:ln w="6350">
            <a:solidFill>
              <a:srgbClr val="FFFFFF"/>
            </a:solidFill>
            <a:prstDash val="solid"/>
          </a:ln>
        </p:spPr>
      </p:sp>
      <p:sp>
        <p:nvSpPr>
          <p:cNvPr id="61" name="Shape 58"/>
          <p:cNvSpPr/>
          <p:nvPr/>
        </p:nvSpPr>
        <p:spPr>
          <a:xfrm>
            <a:off x="7786116" y="3640119"/>
            <a:ext cx="137160" cy="137160"/>
          </a:xfrm>
          <a:prstGeom prst="diamond">
            <a:avLst/>
          </a:prstGeom>
          <a:solidFill>
            <a:srgbClr val="1F6F78"/>
          </a:solidFill>
          <a:ln w="6350">
            <a:solidFill>
              <a:srgbClr val="FFFFFF"/>
            </a:solidFill>
            <a:prstDash val="solid"/>
          </a:ln>
        </p:spPr>
      </p:sp>
      <p:sp>
        <p:nvSpPr>
          <p:cNvPr id="62" name="Shape 59"/>
          <p:cNvSpPr/>
          <p:nvPr/>
        </p:nvSpPr>
        <p:spPr>
          <a:xfrm>
            <a:off x="9998964" y="3640119"/>
            <a:ext cx="137160" cy="137160"/>
          </a:xfrm>
          <a:prstGeom prst="diamond">
            <a:avLst/>
          </a:prstGeom>
          <a:solidFill>
            <a:srgbClr val="1F6F78"/>
          </a:solidFill>
          <a:ln w="6350">
            <a:solidFill>
              <a:srgbClr val="FFFFFF"/>
            </a:solidFill>
            <a:prstDash val="solid"/>
          </a:ln>
        </p:spPr>
      </p:sp>
      <p:sp>
        <p:nvSpPr>
          <p:cNvPr id="63" name="Shape 60"/>
          <p:cNvSpPr/>
          <p:nvPr/>
        </p:nvSpPr>
        <p:spPr>
          <a:xfrm>
            <a:off x="8590788" y="2671931"/>
            <a:ext cx="137160" cy="137160"/>
          </a:xfrm>
          <a:prstGeom prst="diamond">
            <a:avLst/>
          </a:prstGeom>
          <a:solidFill>
            <a:srgbClr val="1F6F78"/>
          </a:solidFill>
          <a:ln w="6350">
            <a:solidFill>
              <a:srgbClr val="FFFFFF"/>
            </a:solidFill>
            <a:prstDash val="solid"/>
          </a:ln>
        </p:spPr>
      </p:sp>
      <p:sp>
        <p:nvSpPr>
          <p:cNvPr id="64" name="Shape 61"/>
          <p:cNvSpPr/>
          <p:nvPr/>
        </p:nvSpPr>
        <p:spPr>
          <a:xfrm>
            <a:off x="7786116" y="2478293"/>
            <a:ext cx="137160" cy="137160"/>
          </a:xfrm>
          <a:prstGeom prst="diamond">
            <a:avLst/>
          </a:prstGeom>
          <a:solidFill>
            <a:srgbClr val="1F6F78"/>
          </a:solidFill>
          <a:ln w="6350">
            <a:solidFill>
              <a:srgbClr val="FFFFFF"/>
            </a:solidFill>
            <a:prstDash val="solid"/>
          </a:ln>
        </p:spPr>
      </p:sp>
      <p:sp>
        <p:nvSpPr>
          <p:cNvPr id="65" name="Shape 62"/>
          <p:cNvSpPr/>
          <p:nvPr/>
        </p:nvSpPr>
        <p:spPr>
          <a:xfrm>
            <a:off x="10602468" y="2478293"/>
            <a:ext cx="137160" cy="137160"/>
          </a:xfrm>
          <a:prstGeom prst="diamond">
            <a:avLst/>
          </a:prstGeom>
          <a:solidFill>
            <a:srgbClr val="1F6F78"/>
          </a:solidFill>
          <a:ln w="6350">
            <a:solidFill>
              <a:srgbClr val="FFFFFF"/>
            </a:solidFill>
            <a:prstDash val="solid"/>
          </a:ln>
        </p:spPr>
      </p:sp>
      <p:sp>
        <p:nvSpPr>
          <p:cNvPr id="66" name="Shape 63"/>
          <p:cNvSpPr/>
          <p:nvPr/>
        </p:nvSpPr>
        <p:spPr>
          <a:xfrm>
            <a:off x="7875727" y="4268903"/>
            <a:ext cx="118872" cy="118872"/>
          </a:xfrm>
          <a:prstGeom prst="ellipse">
            <a:avLst/>
          </a:prstGeom>
          <a:solidFill>
            <a:srgbClr val="E8934D"/>
          </a:solidFill>
          <a:ln w="6350">
            <a:solidFill>
              <a:srgbClr val="FFFFFF"/>
            </a:solidFill>
            <a:prstDash val="solid"/>
          </a:ln>
        </p:spPr>
      </p:sp>
      <p:sp>
        <p:nvSpPr>
          <p:cNvPr id="67" name="Shape 64"/>
          <p:cNvSpPr/>
          <p:nvPr/>
        </p:nvSpPr>
        <p:spPr>
          <a:xfrm>
            <a:off x="9887407" y="4694906"/>
            <a:ext cx="118872" cy="118872"/>
          </a:xfrm>
          <a:prstGeom prst="ellipse">
            <a:avLst/>
          </a:prstGeom>
          <a:solidFill>
            <a:srgbClr val="E8934D"/>
          </a:solidFill>
          <a:ln w="6350">
            <a:solidFill>
              <a:srgbClr val="FFFFFF"/>
            </a:solidFill>
            <a:prstDash val="solid"/>
          </a:ln>
        </p:spPr>
      </p:sp>
      <p:sp>
        <p:nvSpPr>
          <p:cNvPr id="68" name="Shape 65"/>
          <p:cNvSpPr/>
          <p:nvPr/>
        </p:nvSpPr>
        <p:spPr>
          <a:xfrm>
            <a:off x="10732313" y="4733634"/>
            <a:ext cx="118872" cy="118872"/>
          </a:xfrm>
          <a:prstGeom prst="ellipse">
            <a:avLst/>
          </a:prstGeom>
          <a:solidFill>
            <a:srgbClr val="E8934D"/>
          </a:solidFill>
          <a:ln w="6350">
            <a:solidFill>
              <a:srgbClr val="FFFFFF"/>
            </a:solidFill>
            <a:prstDash val="solid"/>
          </a:ln>
        </p:spPr>
      </p:sp>
      <p:sp>
        <p:nvSpPr>
          <p:cNvPr id="69" name="Shape 66"/>
          <p:cNvSpPr/>
          <p:nvPr/>
        </p:nvSpPr>
        <p:spPr>
          <a:xfrm>
            <a:off x="8760866" y="3765445"/>
            <a:ext cx="118872" cy="118872"/>
          </a:xfrm>
          <a:prstGeom prst="ellipse">
            <a:avLst/>
          </a:prstGeom>
          <a:solidFill>
            <a:srgbClr val="E8934D"/>
          </a:solidFill>
          <a:ln w="6350">
            <a:solidFill>
              <a:srgbClr val="FFFFFF"/>
            </a:solidFill>
            <a:prstDash val="solid"/>
          </a:ln>
        </p:spPr>
      </p:sp>
      <p:sp>
        <p:nvSpPr>
          <p:cNvPr id="70" name="Shape 67"/>
          <p:cNvSpPr/>
          <p:nvPr/>
        </p:nvSpPr>
        <p:spPr>
          <a:xfrm>
            <a:off x="8841334" y="3610535"/>
            <a:ext cx="118872" cy="118872"/>
          </a:xfrm>
          <a:prstGeom prst="ellipse">
            <a:avLst/>
          </a:prstGeom>
          <a:solidFill>
            <a:srgbClr val="E8934D"/>
          </a:solidFill>
          <a:ln w="6350">
            <a:solidFill>
              <a:srgbClr val="FFFFFF"/>
            </a:solidFill>
            <a:prstDash val="solid"/>
          </a:ln>
        </p:spPr>
      </p:sp>
      <p:sp>
        <p:nvSpPr>
          <p:cNvPr id="71" name="Shape 68"/>
          <p:cNvSpPr/>
          <p:nvPr/>
        </p:nvSpPr>
        <p:spPr>
          <a:xfrm>
            <a:off x="10008108" y="3842900"/>
            <a:ext cx="118872" cy="118872"/>
          </a:xfrm>
          <a:prstGeom prst="ellipse">
            <a:avLst/>
          </a:prstGeom>
          <a:solidFill>
            <a:srgbClr val="E8934D"/>
          </a:solidFill>
          <a:ln w="6350">
            <a:solidFill>
              <a:srgbClr val="FFFFFF"/>
            </a:solidFill>
            <a:prstDash val="solid"/>
          </a:ln>
        </p:spPr>
      </p:sp>
      <p:sp>
        <p:nvSpPr>
          <p:cNvPr id="72" name="Shape 69"/>
          <p:cNvSpPr/>
          <p:nvPr/>
        </p:nvSpPr>
        <p:spPr>
          <a:xfrm>
            <a:off x="7634326" y="3300715"/>
            <a:ext cx="118872" cy="118872"/>
          </a:xfrm>
          <a:prstGeom prst="ellipse">
            <a:avLst/>
          </a:prstGeom>
          <a:solidFill>
            <a:srgbClr val="E8934D"/>
          </a:solidFill>
          <a:ln w="6350">
            <a:solidFill>
              <a:srgbClr val="FFFFFF"/>
            </a:solidFill>
            <a:prstDash val="solid"/>
          </a:ln>
        </p:spPr>
      </p:sp>
      <p:sp>
        <p:nvSpPr>
          <p:cNvPr id="73" name="Shape 70"/>
          <p:cNvSpPr/>
          <p:nvPr/>
        </p:nvSpPr>
        <p:spPr>
          <a:xfrm>
            <a:off x="9525305" y="3145805"/>
            <a:ext cx="118872" cy="118872"/>
          </a:xfrm>
          <a:prstGeom prst="ellipse">
            <a:avLst/>
          </a:prstGeom>
          <a:solidFill>
            <a:srgbClr val="E8934D"/>
          </a:solidFill>
          <a:ln w="6350">
            <a:solidFill>
              <a:srgbClr val="FFFFFF"/>
            </a:solidFill>
            <a:prstDash val="solid"/>
          </a:ln>
        </p:spPr>
      </p:sp>
      <p:sp>
        <p:nvSpPr>
          <p:cNvPr id="74" name="Shape 71"/>
          <p:cNvSpPr/>
          <p:nvPr/>
        </p:nvSpPr>
        <p:spPr>
          <a:xfrm>
            <a:off x="10571378" y="3494353"/>
            <a:ext cx="118872" cy="118872"/>
          </a:xfrm>
          <a:prstGeom prst="ellipse">
            <a:avLst/>
          </a:prstGeom>
          <a:solidFill>
            <a:srgbClr val="E8934D"/>
          </a:solidFill>
          <a:ln w="6350">
            <a:solidFill>
              <a:srgbClr val="FFFFFF"/>
            </a:solidFill>
            <a:prstDash val="solid"/>
          </a:ln>
        </p:spPr>
      </p:sp>
      <p:sp>
        <p:nvSpPr>
          <p:cNvPr id="75" name="Shape 72"/>
          <p:cNvSpPr/>
          <p:nvPr/>
        </p:nvSpPr>
        <p:spPr>
          <a:xfrm>
            <a:off x="8680399" y="2138889"/>
            <a:ext cx="118872" cy="118872"/>
          </a:xfrm>
          <a:prstGeom prst="ellipse">
            <a:avLst/>
          </a:prstGeom>
          <a:solidFill>
            <a:srgbClr val="E8934D"/>
          </a:solidFill>
          <a:ln w="6350">
            <a:solidFill>
              <a:srgbClr val="FFFFFF"/>
            </a:solidFill>
            <a:prstDash val="solid"/>
          </a:ln>
        </p:spPr>
      </p:sp>
      <p:sp>
        <p:nvSpPr>
          <p:cNvPr id="76" name="Shape 73"/>
          <p:cNvSpPr/>
          <p:nvPr/>
        </p:nvSpPr>
        <p:spPr>
          <a:xfrm>
            <a:off x="9726473" y="2177617"/>
            <a:ext cx="118872" cy="118872"/>
          </a:xfrm>
          <a:prstGeom prst="ellipse">
            <a:avLst/>
          </a:prstGeom>
          <a:solidFill>
            <a:srgbClr val="E8934D"/>
          </a:solidFill>
          <a:ln w="6350">
            <a:solidFill>
              <a:srgbClr val="FFFFFF"/>
            </a:solidFill>
            <a:prstDash val="solid"/>
          </a:ln>
        </p:spPr>
      </p:sp>
      <p:sp>
        <p:nvSpPr>
          <p:cNvPr id="77" name="Shape 74"/>
          <p:cNvSpPr/>
          <p:nvPr/>
        </p:nvSpPr>
        <p:spPr>
          <a:xfrm>
            <a:off x="10933481" y="2177617"/>
            <a:ext cx="118872" cy="118872"/>
          </a:xfrm>
          <a:prstGeom prst="ellipse">
            <a:avLst/>
          </a:prstGeom>
          <a:solidFill>
            <a:srgbClr val="E8934D"/>
          </a:solidFill>
          <a:ln w="6350">
            <a:solidFill>
              <a:srgbClr val="FFFFFF"/>
            </a:solidFill>
            <a:prstDash val="solid"/>
          </a:ln>
        </p:spPr>
      </p:sp>
      <p:sp>
        <p:nvSpPr>
          <p:cNvPr id="78" name="Shape 75"/>
          <p:cNvSpPr/>
          <p:nvPr/>
        </p:nvSpPr>
        <p:spPr>
          <a:xfrm>
            <a:off x="7871155" y="5000154"/>
            <a:ext cx="128016" cy="128016"/>
          </a:xfrm>
          <a:prstGeom prst="triangle">
            <a:avLst/>
          </a:prstGeom>
          <a:solidFill>
            <a:srgbClr val="C56A2C"/>
          </a:solidFill>
          <a:ln w="6350">
            <a:solidFill>
              <a:srgbClr val="FFFFFF"/>
            </a:solidFill>
            <a:prstDash val="solid"/>
          </a:ln>
        </p:spPr>
      </p:sp>
      <p:sp>
        <p:nvSpPr>
          <p:cNvPr id="79" name="Shape 76"/>
          <p:cNvSpPr/>
          <p:nvPr/>
        </p:nvSpPr>
        <p:spPr>
          <a:xfrm>
            <a:off x="7589520" y="4612879"/>
            <a:ext cx="128016" cy="128016"/>
          </a:xfrm>
          <a:prstGeom prst="triangle">
            <a:avLst/>
          </a:prstGeom>
          <a:solidFill>
            <a:srgbClr val="C56A2C"/>
          </a:solidFill>
          <a:ln w="6350">
            <a:solidFill>
              <a:srgbClr val="FFFFFF"/>
            </a:solidFill>
            <a:prstDash val="solid"/>
          </a:ln>
        </p:spPr>
      </p:sp>
      <p:sp>
        <p:nvSpPr>
          <p:cNvPr id="80" name="Shape 77"/>
          <p:cNvSpPr/>
          <p:nvPr/>
        </p:nvSpPr>
        <p:spPr>
          <a:xfrm>
            <a:off x="7871155" y="4612879"/>
            <a:ext cx="128016" cy="128016"/>
          </a:xfrm>
          <a:prstGeom prst="triangle">
            <a:avLst/>
          </a:prstGeom>
          <a:solidFill>
            <a:srgbClr val="C56A2C"/>
          </a:solidFill>
          <a:ln w="6350">
            <a:solidFill>
              <a:srgbClr val="FFFFFF"/>
            </a:solidFill>
            <a:prstDash val="solid"/>
          </a:ln>
        </p:spPr>
      </p:sp>
      <p:sp>
        <p:nvSpPr>
          <p:cNvPr id="81" name="Shape 78"/>
          <p:cNvSpPr/>
          <p:nvPr/>
        </p:nvSpPr>
        <p:spPr>
          <a:xfrm>
            <a:off x="8193024" y="4612879"/>
            <a:ext cx="128016" cy="128016"/>
          </a:xfrm>
          <a:prstGeom prst="triangle">
            <a:avLst/>
          </a:prstGeom>
          <a:solidFill>
            <a:srgbClr val="C56A2C"/>
          </a:solidFill>
          <a:ln w="6350">
            <a:solidFill>
              <a:srgbClr val="FFFFFF"/>
            </a:solidFill>
            <a:prstDash val="solid"/>
          </a:ln>
        </p:spPr>
      </p:sp>
      <p:sp>
        <p:nvSpPr>
          <p:cNvPr id="82" name="Shape 79"/>
          <p:cNvSpPr/>
          <p:nvPr/>
        </p:nvSpPr>
        <p:spPr>
          <a:xfrm>
            <a:off x="7871155" y="4031966"/>
            <a:ext cx="128016" cy="128016"/>
          </a:xfrm>
          <a:prstGeom prst="triangle">
            <a:avLst/>
          </a:prstGeom>
          <a:solidFill>
            <a:srgbClr val="C56A2C"/>
          </a:solidFill>
          <a:ln w="6350">
            <a:solidFill>
              <a:srgbClr val="FFFFFF"/>
            </a:solidFill>
            <a:prstDash val="solid"/>
          </a:ln>
        </p:spPr>
      </p:sp>
      <p:sp>
        <p:nvSpPr>
          <p:cNvPr id="83" name="Shape 80"/>
          <p:cNvSpPr/>
          <p:nvPr/>
        </p:nvSpPr>
        <p:spPr>
          <a:xfrm>
            <a:off x="7728509" y="4902260"/>
            <a:ext cx="91440" cy="91440"/>
          </a:xfrm>
          <a:prstGeom prst="ellipse">
            <a:avLst/>
          </a:prstGeom>
          <a:solidFill>
            <a:srgbClr val="4C8C6B"/>
          </a:solidFill>
          <a:ln w="6350">
            <a:solidFill>
              <a:srgbClr val="FFFFFF"/>
            </a:solidFill>
            <a:prstDash val="solid"/>
          </a:ln>
        </p:spPr>
      </p:sp>
      <p:sp>
        <p:nvSpPr>
          <p:cNvPr id="84" name="Shape 81"/>
          <p:cNvSpPr/>
          <p:nvPr/>
        </p:nvSpPr>
        <p:spPr>
          <a:xfrm>
            <a:off x="8050378" y="4786077"/>
            <a:ext cx="91440" cy="91440"/>
          </a:xfrm>
          <a:prstGeom prst="ellipse">
            <a:avLst/>
          </a:prstGeom>
          <a:solidFill>
            <a:srgbClr val="4C8C6B"/>
          </a:solidFill>
          <a:ln w="6350">
            <a:solidFill>
              <a:srgbClr val="FFFFFF"/>
            </a:solidFill>
            <a:prstDash val="solid"/>
          </a:ln>
        </p:spPr>
      </p:sp>
      <p:sp>
        <p:nvSpPr>
          <p:cNvPr id="85" name="Shape 82"/>
          <p:cNvSpPr/>
          <p:nvPr/>
        </p:nvSpPr>
        <p:spPr>
          <a:xfrm>
            <a:off x="7768742" y="4514984"/>
            <a:ext cx="91440" cy="91440"/>
          </a:xfrm>
          <a:prstGeom prst="ellipse">
            <a:avLst/>
          </a:prstGeom>
          <a:solidFill>
            <a:srgbClr val="4C8C6B"/>
          </a:solidFill>
          <a:ln w="6350">
            <a:solidFill>
              <a:srgbClr val="FFFFFF"/>
            </a:solidFill>
            <a:prstDash val="solid"/>
          </a:ln>
        </p:spPr>
      </p:sp>
      <p:sp>
        <p:nvSpPr>
          <p:cNvPr id="86" name="Shape 83"/>
          <p:cNvSpPr/>
          <p:nvPr/>
        </p:nvSpPr>
        <p:spPr>
          <a:xfrm>
            <a:off x="8130845" y="4398802"/>
            <a:ext cx="91440" cy="91440"/>
          </a:xfrm>
          <a:prstGeom prst="ellipse">
            <a:avLst/>
          </a:prstGeom>
          <a:solidFill>
            <a:srgbClr val="4C8C6B"/>
          </a:solidFill>
          <a:ln w="6350">
            <a:solidFill>
              <a:srgbClr val="FFFFFF"/>
            </a:solidFill>
            <a:prstDash val="solid"/>
          </a:ln>
        </p:spPr>
      </p:sp>
      <p:sp>
        <p:nvSpPr>
          <p:cNvPr id="87" name="Shape 84"/>
          <p:cNvSpPr/>
          <p:nvPr/>
        </p:nvSpPr>
        <p:spPr>
          <a:xfrm>
            <a:off x="7688275" y="4205164"/>
            <a:ext cx="91440" cy="91440"/>
          </a:xfrm>
          <a:prstGeom prst="ellipse">
            <a:avLst/>
          </a:prstGeom>
          <a:solidFill>
            <a:srgbClr val="4C8C6B"/>
          </a:solidFill>
          <a:ln w="6350">
            <a:solidFill>
              <a:srgbClr val="FFFFFF"/>
            </a:solidFill>
            <a:prstDash val="solid"/>
          </a:ln>
        </p:spPr>
      </p:sp>
      <p:sp>
        <p:nvSpPr>
          <p:cNvPr id="88" name="Shape 85"/>
          <p:cNvSpPr/>
          <p:nvPr/>
        </p:nvSpPr>
        <p:spPr>
          <a:xfrm>
            <a:off x="7969910" y="4127709"/>
            <a:ext cx="91440" cy="91440"/>
          </a:xfrm>
          <a:prstGeom prst="ellipse">
            <a:avLst/>
          </a:prstGeom>
          <a:solidFill>
            <a:srgbClr val="4C8C6B"/>
          </a:solidFill>
          <a:ln w="6350">
            <a:solidFill>
              <a:srgbClr val="FFFFFF"/>
            </a:solidFill>
            <a:prstDash val="solid"/>
          </a:ln>
        </p:spPr>
      </p:sp>
      <p:sp>
        <p:nvSpPr>
          <p:cNvPr id="89" name="Shape 86"/>
          <p:cNvSpPr/>
          <p:nvPr/>
        </p:nvSpPr>
        <p:spPr>
          <a:xfrm>
            <a:off x="6871716" y="5811012"/>
            <a:ext cx="118872" cy="118872"/>
          </a:xfrm>
          <a:prstGeom prst="rect">
            <a:avLst/>
          </a:prstGeom>
          <a:solidFill>
            <a:srgbClr val="1B2A44"/>
          </a:solidFill>
          <a:ln w="6350">
            <a:solidFill>
              <a:srgbClr val="FFFFFF"/>
            </a:solidFill>
            <a:prstDash val="solid"/>
          </a:ln>
        </p:spPr>
      </p:sp>
      <p:sp>
        <p:nvSpPr>
          <p:cNvPr id="90" name="Text 87"/>
          <p:cNvSpPr txBox="1"/>
          <p:nvPr/>
        </p:nvSpPr>
        <p:spPr>
          <a:xfrm>
            <a:off x="70408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学習16</a:t>
            </a:r>
            <a:endParaRPr lang="en-US" sz="950" dirty="0"/>
          </a:p>
        </p:txBody>
      </p:sp>
      <p:sp>
        <p:nvSpPr>
          <p:cNvPr id="91" name="Shape 88"/>
          <p:cNvSpPr/>
          <p:nvPr/>
        </p:nvSpPr>
        <p:spPr>
          <a:xfrm>
            <a:off x="8471916" y="5811012"/>
            <a:ext cx="118872" cy="118872"/>
          </a:xfrm>
          <a:prstGeom prst="diamond">
            <a:avLst/>
          </a:prstGeom>
          <a:solidFill>
            <a:srgbClr val="1F6F78"/>
          </a:solidFill>
          <a:ln w="6350">
            <a:solidFill>
              <a:srgbClr val="FFFFFF"/>
            </a:solidFill>
            <a:prstDash val="solid"/>
          </a:ln>
        </p:spPr>
      </p:sp>
      <p:sp>
        <p:nvSpPr>
          <p:cNvPr id="92" name="Text 89"/>
          <p:cNvSpPr txBox="1"/>
          <p:nvPr/>
        </p:nvSpPr>
        <p:spPr>
          <a:xfrm>
            <a:off x="86410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a:t>
            </a:r>
            <a:endParaRPr lang="en-US" sz="950" dirty="0"/>
          </a:p>
        </p:txBody>
      </p:sp>
      <p:sp>
        <p:nvSpPr>
          <p:cNvPr id="93" name="Shape 90"/>
          <p:cNvSpPr/>
          <p:nvPr/>
        </p:nvSpPr>
        <p:spPr>
          <a:xfrm>
            <a:off x="10072116" y="5811012"/>
            <a:ext cx="118872" cy="118872"/>
          </a:xfrm>
          <a:prstGeom prst="ellipse">
            <a:avLst/>
          </a:prstGeom>
          <a:solidFill>
            <a:srgbClr val="E8934D"/>
          </a:solidFill>
          <a:ln w="6350">
            <a:solidFill>
              <a:srgbClr val="FFFFFF"/>
            </a:solidFill>
            <a:prstDash val="solid"/>
          </a:ln>
        </p:spPr>
      </p:sp>
      <p:sp>
        <p:nvSpPr>
          <p:cNvPr id="94" name="Text 91"/>
          <p:cNvSpPr txBox="1"/>
          <p:nvPr/>
        </p:nvSpPr>
        <p:spPr>
          <a:xfrm>
            <a:off x="102412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テスト12</a:t>
            </a:r>
            <a:endParaRPr lang="en-US" sz="950" dirty="0"/>
          </a:p>
        </p:txBody>
      </p:sp>
      <p:sp>
        <p:nvSpPr>
          <p:cNvPr id="95" name="Shape 92"/>
          <p:cNvSpPr/>
          <p:nvPr/>
        </p:nvSpPr>
        <p:spPr>
          <a:xfrm>
            <a:off x="6871716" y="6057900"/>
            <a:ext cx="118872" cy="118872"/>
          </a:xfrm>
          <a:prstGeom prst="triangle">
            <a:avLst/>
          </a:prstGeom>
          <a:solidFill>
            <a:srgbClr val="C56A2C"/>
          </a:solidFill>
          <a:ln w="6350">
            <a:solidFill>
              <a:srgbClr val="FFFFFF"/>
            </a:solidFill>
            <a:prstDash val="solid"/>
          </a:ln>
        </p:spPr>
      </p:sp>
      <p:sp>
        <p:nvSpPr>
          <p:cNvPr id="96" name="Text 93"/>
          <p:cNvSpPr txBox="1"/>
          <p:nvPr/>
        </p:nvSpPr>
        <p:spPr>
          <a:xfrm>
            <a:off x="70408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追加5</a:t>
            </a:r>
            <a:endParaRPr lang="en-US" sz="950" dirty="0"/>
          </a:p>
        </p:txBody>
      </p:sp>
      <p:sp>
        <p:nvSpPr>
          <p:cNvPr id="97" name="Shape 94"/>
          <p:cNvSpPr/>
          <p:nvPr/>
        </p:nvSpPr>
        <p:spPr>
          <a:xfrm>
            <a:off x="8471916" y="6057900"/>
            <a:ext cx="118872" cy="118872"/>
          </a:xfrm>
          <a:prstGeom prst="ellipse">
            <a:avLst/>
          </a:prstGeom>
          <a:solidFill>
            <a:srgbClr val="4C8C6B"/>
          </a:solidFill>
          <a:ln w="6350">
            <a:solidFill>
              <a:srgbClr val="FFFFFF"/>
            </a:solidFill>
            <a:prstDash val="solid"/>
          </a:ln>
        </p:spPr>
      </p:sp>
      <p:sp>
        <p:nvSpPr>
          <p:cNvPr id="98" name="Text 95"/>
          <p:cNvSpPr txBox="1"/>
          <p:nvPr/>
        </p:nvSpPr>
        <p:spPr>
          <a:xfrm>
            <a:off x="86410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局所テスト6</a:t>
            </a:r>
            <a:endParaRPr lang="en-US" sz="9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データの数え方：2,500区画を500区画ずつ平均して5つの値にする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SEBEの壁出力から中央建物の南面（50m×50m）を取り出し、1m四方の区画を高さ10mごとに平均する。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21 / 41</a:t>
            </a:r>
            <a:endParaRPr lang="en-US" sz="1100" dirty="0"/>
          </a:p>
        </p:txBody>
      </p:sp>
      <p:sp>
        <p:nvSpPr>
          <p:cNvPr id="10" name="Shape 8"/>
          <p:cNvSpPr/>
          <p:nvPr/>
        </p:nvSpPr>
        <p:spPr>
          <a:xfrm>
            <a:off x="457200" y="1463040"/>
            <a:ext cx="5760720" cy="4846320"/>
          </a:xfrm>
          <a:prstGeom prst="roundRect">
            <a:avLst>
              <a:gd name="adj" fmla="val 1132"/>
            </a:avLst>
          </a:prstGeom>
          <a:solidFill>
            <a:srgbClr val="F3F5F8"/>
          </a:solidFill>
          <a:ln/>
        </p:spPr>
      </p:sp>
      <p:sp>
        <p:nvSpPr>
          <p:cNvPr id="11" name="Text 9"/>
          <p:cNvSpPr txBox="1"/>
          <p:nvPr/>
        </p:nvSpPr>
        <p:spPr>
          <a:xfrm>
            <a:off x="594360" y="1517904"/>
            <a:ext cx="54864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1配置の南面（幅50区画 × 高さ50区画）</a:t>
            </a:r>
            <a:endParaRPr lang="en-US" sz="1100" dirty="0"/>
          </a:p>
        </p:txBody>
      </p:sp>
      <p:sp>
        <p:nvSpPr>
          <p:cNvPr id="12" name="Shape 10"/>
          <p:cNvSpPr/>
          <p:nvPr/>
        </p:nvSpPr>
        <p:spPr>
          <a:xfrm>
            <a:off x="1143000" y="3822192"/>
            <a:ext cx="2103120" cy="475488"/>
          </a:xfrm>
          <a:prstGeom prst="rect">
            <a:avLst/>
          </a:prstGeom>
          <a:solidFill>
            <a:srgbClr val="F6D2B4"/>
          </a:solidFill>
          <a:ln w="12700">
            <a:solidFill>
              <a:srgbClr val="FFFFFF"/>
            </a:solidFill>
            <a:prstDash val="solid"/>
          </a:ln>
        </p:spPr>
      </p:sp>
      <p:sp>
        <p:nvSpPr>
          <p:cNvPr id="13" name="Text 11"/>
          <p:cNvSpPr txBox="1"/>
          <p:nvPr/>
        </p:nvSpPr>
        <p:spPr>
          <a:xfrm>
            <a:off x="1143000" y="3822192"/>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帯1：y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1</a:t>
            </a:r>
            <a:endParaRPr lang="en-US" sz="1000" dirty="0"/>
          </a:p>
        </p:txBody>
      </p:sp>
      <p:sp>
        <p:nvSpPr>
          <p:cNvPr id="14" name="Text 12"/>
          <p:cNvSpPr txBox="1"/>
          <p:nvPr/>
        </p:nvSpPr>
        <p:spPr>
          <a:xfrm>
            <a:off x="3319272" y="3931920"/>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0〜10m</a:t>
            </a:r>
            <a:endParaRPr lang="en-US" sz="900" dirty="0"/>
          </a:p>
        </p:txBody>
      </p:sp>
      <p:sp>
        <p:nvSpPr>
          <p:cNvPr id="15" name="Shape 13"/>
          <p:cNvSpPr/>
          <p:nvPr/>
        </p:nvSpPr>
        <p:spPr>
          <a:xfrm>
            <a:off x="1143000" y="3346704"/>
            <a:ext cx="2103120" cy="475488"/>
          </a:xfrm>
          <a:prstGeom prst="rect">
            <a:avLst/>
          </a:prstGeom>
          <a:solidFill>
            <a:srgbClr val="F2BE92"/>
          </a:solidFill>
          <a:ln w="12700">
            <a:solidFill>
              <a:srgbClr val="FFFFFF"/>
            </a:solidFill>
            <a:prstDash val="solid"/>
          </a:ln>
        </p:spPr>
      </p:sp>
      <p:sp>
        <p:nvSpPr>
          <p:cNvPr id="16" name="Text 14"/>
          <p:cNvSpPr txBox="1"/>
          <p:nvPr/>
        </p:nvSpPr>
        <p:spPr>
          <a:xfrm>
            <a:off x="1143000" y="3346704"/>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帯2：y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2</a:t>
            </a:r>
            <a:endParaRPr lang="en-US" sz="1000" dirty="0"/>
          </a:p>
        </p:txBody>
      </p:sp>
      <p:sp>
        <p:nvSpPr>
          <p:cNvPr id="17" name="Text 15"/>
          <p:cNvSpPr txBox="1"/>
          <p:nvPr/>
        </p:nvSpPr>
        <p:spPr>
          <a:xfrm>
            <a:off x="3319272" y="3456432"/>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10〜20m</a:t>
            </a:r>
            <a:endParaRPr lang="en-US" sz="900" dirty="0"/>
          </a:p>
        </p:txBody>
      </p:sp>
      <p:sp>
        <p:nvSpPr>
          <p:cNvPr id="18" name="Shape 16"/>
          <p:cNvSpPr/>
          <p:nvPr/>
        </p:nvSpPr>
        <p:spPr>
          <a:xfrm>
            <a:off x="1143000" y="2871216"/>
            <a:ext cx="2103120" cy="475488"/>
          </a:xfrm>
          <a:prstGeom prst="rect">
            <a:avLst/>
          </a:prstGeom>
          <a:solidFill>
            <a:srgbClr val="EEA870"/>
          </a:solidFill>
          <a:ln w="12700">
            <a:solidFill>
              <a:srgbClr val="FFFFFF"/>
            </a:solidFill>
            <a:prstDash val="solid"/>
          </a:ln>
        </p:spPr>
      </p:sp>
      <p:sp>
        <p:nvSpPr>
          <p:cNvPr id="19" name="Text 17"/>
          <p:cNvSpPr txBox="1"/>
          <p:nvPr/>
        </p:nvSpPr>
        <p:spPr>
          <a:xfrm>
            <a:off x="1143000" y="2871216"/>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帯3：y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3</a:t>
            </a:r>
            <a:endParaRPr lang="en-US" sz="1000" dirty="0"/>
          </a:p>
        </p:txBody>
      </p:sp>
      <p:sp>
        <p:nvSpPr>
          <p:cNvPr id="20" name="Text 18"/>
          <p:cNvSpPr txBox="1"/>
          <p:nvPr/>
        </p:nvSpPr>
        <p:spPr>
          <a:xfrm>
            <a:off x="3319272" y="2980944"/>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20〜30m</a:t>
            </a:r>
            <a:endParaRPr lang="en-US" sz="900" dirty="0"/>
          </a:p>
        </p:txBody>
      </p:sp>
      <p:sp>
        <p:nvSpPr>
          <p:cNvPr id="21" name="Shape 19"/>
          <p:cNvSpPr/>
          <p:nvPr/>
        </p:nvSpPr>
        <p:spPr>
          <a:xfrm>
            <a:off x="1143000" y="2395728"/>
            <a:ext cx="2103120" cy="475488"/>
          </a:xfrm>
          <a:prstGeom prst="rect">
            <a:avLst/>
          </a:prstGeom>
          <a:solidFill>
            <a:srgbClr val="E8934D"/>
          </a:solidFill>
          <a:ln w="12700">
            <a:solidFill>
              <a:srgbClr val="FFFFFF"/>
            </a:solidFill>
            <a:prstDash val="solid"/>
          </a:ln>
        </p:spPr>
      </p:sp>
      <p:sp>
        <p:nvSpPr>
          <p:cNvPr id="22" name="Text 20"/>
          <p:cNvSpPr txBox="1"/>
          <p:nvPr/>
        </p:nvSpPr>
        <p:spPr>
          <a:xfrm>
            <a:off x="1143000" y="2395728"/>
            <a:ext cx="2103120" cy="475488"/>
          </a:xfrm>
          <a:prstGeom prst="rect">
            <a:avLst/>
          </a:prstGeom>
          <a:noFill/>
          <a:ln/>
        </p:spPr>
        <p:txBody>
          <a:bodyPr wrap="square" lIns="508" tIns="508" rIns="508" bIns="508"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帯4：y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4</a:t>
            </a:r>
            <a:endParaRPr lang="en-US" sz="1000" dirty="0"/>
          </a:p>
        </p:txBody>
      </p:sp>
      <p:sp>
        <p:nvSpPr>
          <p:cNvPr id="23" name="Text 21"/>
          <p:cNvSpPr txBox="1"/>
          <p:nvPr/>
        </p:nvSpPr>
        <p:spPr>
          <a:xfrm>
            <a:off x="3319272" y="2505456"/>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30〜40m</a:t>
            </a:r>
            <a:endParaRPr lang="en-US" sz="900" dirty="0"/>
          </a:p>
        </p:txBody>
      </p:sp>
      <p:sp>
        <p:nvSpPr>
          <p:cNvPr id="24" name="Shape 22"/>
          <p:cNvSpPr/>
          <p:nvPr/>
        </p:nvSpPr>
        <p:spPr>
          <a:xfrm>
            <a:off x="1143000" y="1920240"/>
            <a:ext cx="2103120" cy="475488"/>
          </a:xfrm>
          <a:prstGeom prst="rect">
            <a:avLst/>
          </a:prstGeom>
          <a:solidFill>
            <a:srgbClr val="D77B35"/>
          </a:solidFill>
          <a:ln w="12700">
            <a:solidFill>
              <a:srgbClr val="FFFFFF"/>
            </a:solidFill>
            <a:prstDash val="solid"/>
          </a:ln>
        </p:spPr>
      </p:sp>
      <p:sp>
        <p:nvSpPr>
          <p:cNvPr id="25" name="Text 23"/>
          <p:cNvSpPr txBox="1"/>
          <p:nvPr/>
        </p:nvSpPr>
        <p:spPr>
          <a:xfrm>
            <a:off x="1143000" y="1920240"/>
            <a:ext cx="2103120" cy="475488"/>
          </a:xfrm>
          <a:prstGeom prst="rect">
            <a:avLst/>
          </a:prstGeom>
          <a:noFill/>
          <a:ln/>
        </p:spPr>
        <p:txBody>
          <a:bodyPr wrap="square" lIns="508" tIns="508" rIns="508" bIns="508"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帯5：y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5</a:t>
            </a:r>
            <a:endParaRPr lang="en-US" sz="1000" dirty="0"/>
          </a:p>
        </p:txBody>
      </p:sp>
      <p:sp>
        <p:nvSpPr>
          <p:cNvPr id="26" name="Text 24"/>
          <p:cNvSpPr txBox="1"/>
          <p:nvPr/>
        </p:nvSpPr>
        <p:spPr>
          <a:xfrm>
            <a:off x="3319272" y="2029968"/>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40〜50m</a:t>
            </a:r>
            <a:endParaRPr lang="en-US" sz="900" dirty="0"/>
          </a:p>
        </p:txBody>
      </p:sp>
      <p:sp>
        <p:nvSpPr>
          <p:cNvPr id="27" name="Text 25"/>
          <p:cNvSpPr txBox="1"/>
          <p:nvPr/>
        </p:nvSpPr>
        <p:spPr>
          <a:xfrm>
            <a:off x="1143000" y="4325112"/>
            <a:ext cx="2103120" cy="228600"/>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p＝1 … 50（幅方向）</a:t>
            </a:r>
            <a:endParaRPr lang="en-US" sz="900" dirty="0"/>
          </a:p>
        </p:txBody>
      </p:sp>
      <p:sp>
        <p:nvSpPr>
          <p:cNvPr id="28" name="Text 26"/>
          <p:cNvSpPr txBox="1"/>
          <p:nvPr/>
        </p:nvSpPr>
        <p:spPr>
          <a:xfrm>
            <a:off x="502920" y="2834640"/>
            <a:ext cx="640080" cy="54864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q＝1 … 50</a:t>
            </a:r>
            <a:endParaRPr lang="en-US" sz="850" dirty="0"/>
          </a:p>
          <a:p>
            <a:pPr algn="ctr" indent="0" marL="0">
              <a:buNone/>
            </a:pPr>
            <a:r>
              <a:rPr lang="en-US" sz="850" dirty="0">
                <a:solidFill>
                  <a:srgbClr val="6B7480"/>
                </a:solidFill>
                <a:latin typeface="Yu Gothic" pitchFamily="34" charset="0"/>
                <a:ea typeface="Yu Gothic" pitchFamily="34" charset="-122"/>
                <a:cs typeface="Yu Gothic" pitchFamily="34" charset="-120"/>
              </a:rPr>
              <a:t>（高さ方向）</a:t>
            </a:r>
            <a:endParaRPr lang="en-US" sz="850" dirty="0"/>
          </a:p>
        </p:txBody>
      </p:sp>
      <p:sp>
        <p:nvSpPr>
          <p:cNvPr id="29" name="Text 27"/>
          <p:cNvSpPr txBox="1"/>
          <p:nvPr/>
        </p:nvSpPr>
        <p:spPr>
          <a:xfrm>
            <a:off x="4160520" y="1920240"/>
            <a:ext cx="251460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各帯＝50×10＝500区画</a:t>
            </a:r>
            <a:endParaRPr lang="en-US" sz="1000" dirty="0"/>
          </a:p>
        </p:txBody>
      </p:sp>
      <p:sp>
        <p:nvSpPr>
          <p:cNvPr id="30" name="Text 28"/>
          <p:cNvSpPr txBox="1"/>
          <p:nvPr/>
        </p:nvSpPr>
        <p:spPr>
          <a:xfrm>
            <a:off x="4160520" y="2240280"/>
            <a:ext cx="1965960" cy="10058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G</a:t>
            </a:r>
            <a:pPr indent="0" marL="0">
              <a:buNone/>
            </a:pPr>
            <a:r>
              <a:rPr lang="en-US" sz="950" baseline="-40000" dirty="0">
                <a:solidFill>
                  <a:srgbClr val="333F4E"/>
                </a:solidFill>
                <a:latin typeface="Yu Gothic" pitchFamily="34" charset="0"/>
                <a:ea typeface="Yu Gothic" pitchFamily="34" charset="-122"/>
                <a:cs typeface="Yu Gothic" pitchFamily="34" charset="-120"/>
              </a:rPr>
              <a:t>p,q</a:t>
            </a:r>
            <a:pPr indent="0" marL="0">
              <a:buNone/>
            </a:pPr>
            <a:r>
              <a:rPr lang="en-US" sz="950" dirty="0">
                <a:solidFill>
                  <a:srgbClr val="333F4E"/>
                </a:solidFill>
                <a:latin typeface="Yu Gothic" pitchFamily="34" charset="0"/>
                <a:ea typeface="Yu Gothic" pitchFamily="34" charset="-122"/>
                <a:cs typeface="Yu Gothic" pitchFamily="34" charset="-120"/>
              </a:rPr>
              <a:t>：区画(p, q)の年間日射量（kWh/m²）。SEBEが区画ごとに計算した値</a:t>
            </a:r>
            <a:endParaRPr lang="en-US" sz="950" dirty="0"/>
          </a:p>
        </p:txBody>
      </p:sp>
      <p:sp>
        <p:nvSpPr>
          <p:cNvPr id="31" name="Text 29"/>
          <p:cNvSpPr txBox="1"/>
          <p:nvPr/>
        </p:nvSpPr>
        <p:spPr>
          <a:xfrm>
            <a:off x="4160520" y="3291840"/>
            <a:ext cx="1965960" cy="9144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5帯とも面積が同じ（500m²）なので、全体平均は5帯の単純平均と一致する</a:t>
            </a:r>
            <a:endParaRPr lang="en-US" sz="950" dirty="0"/>
          </a:p>
        </p:txBody>
      </p:sp>
      <p:sp>
        <p:nvSpPr>
          <p:cNvPr id="32" name="Shape 30"/>
          <p:cNvSpPr/>
          <p:nvPr/>
        </p:nvSpPr>
        <p:spPr>
          <a:xfrm>
            <a:off x="640080" y="4617720"/>
            <a:ext cx="5394960" cy="1554480"/>
          </a:xfrm>
          <a:prstGeom prst="roundRect">
            <a:avLst>
              <a:gd name="adj" fmla="val 3529"/>
            </a:avLst>
          </a:prstGeom>
          <a:solidFill>
            <a:srgbClr val="1B2A44"/>
          </a:solidFill>
          <a:ln/>
        </p:spPr>
      </p:sp>
      <p:sp>
        <p:nvSpPr>
          <p:cNvPr id="33" name="Text 31"/>
          <p:cNvSpPr txBox="1"/>
          <p:nvPr/>
        </p:nvSpPr>
        <p:spPr>
          <a:xfrm>
            <a:off x="777240" y="4681728"/>
            <a:ext cx="5166360" cy="1444752"/>
          </a:xfrm>
          <a:prstGeom prst="rect">
            <a:avLst/>
          </a:prstGeom>
          <a:noFill/>
          <a:ln/>
        </p:spPr>
        <p:txBody>
          <a:bodyPr wrap="square" lIns="508" tIns="508" rIns="508" bIns="508" rtlCol="0" anchor="ctr"/>
          <a:lstStyle/>
          <a:p>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帯kの平均：　y</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 (1/500)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(p,q)∈帯k</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G</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（k＝1,…,5）</a:t>
            </a:r>
            <a:endParaRPr lang="en-US" sz="1150" dirty="0"/>
          </a:p>
          <a:p>
            <a:pPr indent="0" marL="0">
              <a:lnSpc>
                <a:spcPct val="120000"/>
              </a:lnSpc>
              <a:buNone/>
            </a:pPr>
            <a:r>
              <a:rPr lang="en-US" sz="950" dirty="0">
                <a:solidFill>
                  <a:srgbClr val="CADCFC"/>
                </a:solidFill>
                <a:latin typeface="Yu Gothic" pitchFamily="34" charset="0"/>
                <a:ea typeface="Yu Gothic" pitchFamily="34" charset="-122"/>
                <a:cs typeface="Yu Gothic" pitchFamily="34" charset="-120"/>
              </a:rPr>
              <a:t>　　帯k は q＝10(k−1)+1 〜 10k の10段 × p＝1〜50</a:t>
            </a:r>
            <a:endParaRPr lang="en-US" sz="1150" dirty="0"/>
          </a:p>
          <a:p>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南面全体：　ȳ ＝ (1/2500)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50</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q=1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50</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G</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 (1/5)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y</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a:t>
            </a:r>
            <a:endParaRPr lang="en-US" sz="1150" dirty="0"/>
          </a:p>
          <a:p>
            <a:pPr indent="0" marL="0">
              <a:lnSpc>
                <a:spcPct val="120000"/>
              </a:lnSpc>
              <a:buNone/>
            </a:pPr>
            <a:r>
              <a:rPr lang="en-US" sz="950" dirty="0">
                <a:solidFill>
                  <a:srgbClr val="CADCFC"/>
                </a:solidFill>
                <a:latin typeface="Yu Gothic" pitchFamily="34" charset="0"/>
                <a:ea typeface="Yu Gothic" pitchFamily="34" charset="-122"/>
                <a:cs typeface="Yu Gothic" pitchFamily="34" charset="-120"/>
              </a:rPr>
              <a:t>　　全体平均は5帯から計算できる → 新しい情報は増えない</a:t>
            </a:r>
            <a:endParaRPr lang="en-US" sz="1150" dirty="0"/>
          </a:p>
        </p:txBody>
      </p:sp>
      <p:sp>
        <p:nvSpPr>
          <p:cNvPr id="34" name="Text 32"/>
          <p:cNvSpPr txBox="1"/>
          <p:nvPr/>
        </p:nvSpPr>
        <p:spPr>
          <a:xfrm>
            <a:off x="6492240" y="1481328"/>
            <a:ext cx="521208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16配置のとき、何を何個数えているか</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92240" y="1828800"/>
          <a:ext cx="5239512" cy="914400"/>
        </p:xfrm>
        <a:graphic>
          <a:graphicData uri="http://schemas.openxmlformats.org/drawingml/2006/table">
            <a:tbl>
              <a:tblPr/>
              <a:tblGrid>
                <a:gridCol w="2011680"/>
                <a:gridCol w="1463040"/>
                <a:gridCol w="1764792"/>
              </a:tblGrid>
              <a:tr h="329184">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数えているもの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個数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建物配置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16件</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異なるA・Dの組み合わせ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入力の数値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16×2＝32個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各配置のAとD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南面の元の区画値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16×2,500＝40,000個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集計前の日射量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5帯の平均（予測に使う値）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16×5＝80個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高さ帯別の値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5帯から計算できる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5帯＋全体平均の数値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16×6＝96個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表示・保存する数値の数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6" name="Shape 33"/>
          <p:cNvSpPr/>
          <p:nvPr/>
        </p:nvSpPr>
        <p:spPr>
          <a:xfrm>
            <a:off x="6492240" y="4343400"/>
            <a:ext cx="5239512" cy="1965960"/>
          </a:xfrm>
          <a:prstGeom prst="roundRect">
            <a:avLst>
              <a:gd name="adj" fmla="val 2791"/>
            </a:avLst>
          </a:prstGeom>
          <a:solidFill>
            <a:srgbClr val="FBEBDA"/>
          </a:solidFill>
          <a:ln/>
        </p:spPr>
      </p:sp>
      <p:sp>
        <p:nvSpPr>
          <p:cNvPr id="37" name="Text 34"/>
          <p:cNvSpPr txBox="1"/>
          <p:nvPr/>
        </p:nvSpPr>
        <p:spPr>
          <a:xfrm>
            <a:off x="6675120" y="4434840"/>
            <a:ext cx="4937760" cy="292608"/>
          </a:xfrm>
          <a:prstGeom prst="rect">
            <a:avLst/>
          </a:prstGeom>
          <a:noFill/>
          <a:ln/>
        </p:spPr>
        <p:txBody>
          <a:bodyPr wrap="square" lIns="508" tIns="508" rIns="508" bIns="508" rtlCol="0" anchor="t"/>
          <a:lstStyle/>
          <a:p>
            <a:pPr indent="0" marL="0">
              <a:buNone/>
            </a:pPr>
            <a:r>
              <a:rPr lang="en-US" sz="1300" b="1" dirty="0">
                <a:solidFill>
                  <a:srgbClr val="C56A2C"/>
                </a:solidFill>
                <a:latin typeface="Yu Gothic" pitchFamily="34" charset="0"/>
                <a:ea typeface="Yu Gothic" pitchFamily="34" charset="-122"/>
                <a:cs typeface="Yu Gothic" pitchFamily="34" charset="-120"/>
              </a:rPr>
              <a:t>96件の学習データではない</a:t>
            </a:r>
            <a:endParaRPr lang="en-US" sz="1300" dirty="0"/>
          </a:p>
        </p:txBody>
      </p:sp>
      <p:sp>
        <p:nvSpPr>
          <p:cNvPr id="38" name="Text 35"/>
          <p:cNvSpPr txBox="1"/>
          <p:nvPr/>
        </p:nvSpPr>
        <p:spPr>
          <a:xfrm>
            <a:off x="6675120" y="4773168"/>
            <a:ext cx="4937760" cy="1481328"/>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96は「数値の個数」。異なる配置（学習例）は16件のまま</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同じ配置から取った5帯の値は、互いに独立した別の条件ではない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全体平均は5帯の平均なので、加えても情報は増えない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補間プログラムは「16配置×5帯」の表を持ち、新しい入力に対して5帯を補間し、全体平均はその5帯から計算する</a:t>
            </a:r>
            <a:endParaRPr lang="en-US" sz="10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計算例①：(A, D)＝(50m, 10m) の1配置で、5帯の値と全体平均を出す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前ページの式に、保存データの実際の値を入れた例。500区画の合計は「保存した帯平均 × 500」で逆算した値。</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22 / 41</a:t>
            </a:r>
            <a:endParaRPr lang="en-US" sz="1100" dirty="0"/>
          </a:p>
        </p:txBody>
      </p:sp>
      <p:sp>
        <p:nvSpPr>
          <p:cNvPr id="10" name="Shape 8"/>
          <p:cNvSpPr/>
          <p:nvPr/>
        </p:nvSpPr>
        <p:spPr>
          <a:xfrm>
            <a:off x="457200" y="1481328"/>
            <a:ext cx="5943600" cy="2148840"/>
          </a:xfrm>
          <a:prstGeom prst="roundRect">
            <a:avLst>
              <a:gd name="adj" fmla="val 2553"/>
            </a:avLst>
          </a:prstGeom>
          <a:solidFill>
            <a:srgbClr val="1B2A44"/>
          </a:solidFill>
          <a:ln/>
        </p:spPr>
      </p:sp>
      <p:sp>
        <p:nvSpPr>
          <p:cNvPr id="11" name="Text 9"/>
          <p:cNvSpPr txBox="1"/>
          <p:nvPr/>
        </p:nvSpPr>
        <p:spPr>
          <a:xfrm>
            <a:off x="640080" y="1554480"/>
            <a:ext cx="5486400" cy="27432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代表値：帯1（地上0〜10m）</a:t>
            </a:r>
            <a:endParaRPr lang="en-US" sz="1150" dirty="0"/>
          </a:p>
        </p:txBody>
      </p:sp>
      <p:sp>
        <p:nvSpPr>
          <p:cNvPr id="12" name="Text 10"/>
          <p:cNvSpPr txBox="1"/>
          <p:nvPr/>
        </p:nvSpPr>
        <p:spPr>
          <a:xfrm>
            <a:off x="640080" y="1874520"/>
            <a:ext cx="5669280" cy="1691640"/>
          </a:xfrm>
          <a:prstGeom prst="rect">
            <a:avLst/>
          </a:prstGeom>
          <a:noFill/>
          <a:ln/>
        </p:spPr>
        <p:txBody>
          <a:bodyPr wrap="square" lIns="508" tIns="508" rIns="508" bIns="508" rtlCol="0" anchor="t"/>
          <a:lstStyle/>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y</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(1/500) Σ</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(p,q)∈帯1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p,q</a:t>
            </a:r>
            <a:endParaRPr lang="en-US" sz="1200" dirty="0"/>
          </a:p>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1,1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2,1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 ＋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50,10</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500　← 50×10＝500個を足す</a:t>
            </a:r>
            <a:endParaRPr lang="en-US" sz="1200" dirty="0"/>
          </a:p>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168,670.31 / 500</a:t>
            </a:r>
            <a:endParaRPr lang="en-US" sz="1200" dirty="0"/>
          </a:p>
          <a:p>
            <a:pPr indent="0" marL="0">
              <a:lnSpc>
                <a:spcPct val="130000"/>
              </a:lnSpc>
              <a:buNone/>
            </a:pPr>
            <a:r>
              <a:rPr lang="en-US" sz="1200" b="1" dirty="0">
                <a:solidFill>
                  <a:srgbClr val="E8934D"/>
                </a:solidFill>
                <a:latin typeface="Yu Gothic" pitchFamily="34" charset="0"/>
                <a:ea typeface="Yu Gothic" pitchFamily="34" charset="-122"/>
                <a:cs typeface="Yu Gothic" pitchFamily="34" charset="-120"/>
              </a:rPr>
              <a:t>　 ＝ 337.34 kWh/m²</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794760"/>
          <a:ext cx="5943600" cy="914400"/>
        </p:xfrm>
        <a:graphic>
          <a:graphicData uri="http://schemas.openxmlformats.org/drawingml/2006/table">
            <a:tbl>
              <a:tblPr/>
              <a:tblGrid>
                <a:gridCol w="822960"/>
                <a:gridCol w="1097280"/>
                <a:gridCol w="2103120"/>
                <a:gridCol w="1920240"/>
              </a:tblGrid>
              <a:tr h="329184">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帯 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500区画の合計（逆算）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÷500 ＝ 帯平均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168,670.31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337.34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175,610.96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351.22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20〜30m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191,283.60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382.57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30〜40m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242,772.97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485.55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40〜50m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433,571.99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867.14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合計</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2,500区画</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1,211,909.83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2,423.82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4" name="Shape 11"/>
          <p:cNvSpPr/>
          <p:nvPr/>
        </p:nvSpPr>
        <p:spPr>
          <a:xfrm>
            <a:off x="6675120" y="1481328"/>
            <a:ext cx="5074920" cy="2651760"/>
          </a:xfrm>
          <a:prstGeom prst="roundRect">
            <a:avLst>
              <a:gd name="adj" fmla="val 2069"/>
            </a:avLst>
          </a:prstGeom>
          <a:solidFill>
            <a:srgbClr val="F3F5F8"/>
          </a:solidFill>
          <a:ln/>
        </p:spPr>
      </p:sp>
      <p:sp>
        <p:nvSpPr>
          <p:cNvPr id="15" name="Text 12"/>
          <p:cNvSpPr txBox="1"/>
          <p:nvPr/>
        </p:nvSpPr>
        <p:spPr>
          <a:xfrm>
            <a:off x="6812280" y="1554480"/>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南面全体の平均：2通りの計算が一致する</a:t>
            </a:r>
            <a:endParaRPr lang="en-US" sz="1150" dirty="0"/>
          </a:p>
        </p:txBody>
      </p:sp>
      <p:sp>
        <p:nvSpPr>
          <p:cNvPr id="16" name="Text 13"/>
          <p:cNvSpPr txBox="1"/>
          <p:nvPr/>
        </p:nvSpPr>
        <p:spPr>
          <a:xfrm>
            <a:off x="6812280" y="1901952"/>
            <a:ext cx="4846320" cy="237744"/>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(a) 2,500区画をまとめて平均</a:t>
            </a:r>
            <a:endParaRPr lang="en-US" sz="1000" dirty="0"/>
          </a:p>
        </p:txBody>
      </p:sp>
      <p:sp>
        <p:nvSpPr>
          <p:cNvPr id="17" name="Text 14"/>
          <p:cNvSpPr txBox="1"/>
          <p:nvPr/>
        </p:nvSpPr>
        <p:spPr>
          <a:xfrm>
            <a:off x="6812280" y="2157984"/>
            <a:ext cx="484632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ȳ ＝ (1/2500) Σ G</a:t>
            </a:r>
            <a:pPr indent="0" marL="0">
              <a:buNone/>
            </a:pPr>
            <a:r>
              <a:rPr lang="en-US" sz="1150" b="1" baseline="-40000" dirty="0">
                <a:solidFill>
                  <a:srgbClr val="1B2A44"/>
                </a:solidFill>
                <a:latin typeface="Yu Gothic" pitchFamily="34" charset="0"/>
                <a:ea typeface="Yu Gothic" pitchFamily="34" charset="-122"/>
                <a:cs typeface="Yu Gothic" pitchFamily="34" charset="-120"/>
              </a:rPr>
              <a:t>p,q</a:t>
            </a:r>
            <a:pPr indent="0" marL="0">
              <a:buNone/>
            </a:pPr>
            <a:r>
              <a:rPr lang="en-US" sz="1150" b="1" dirty="0">
                <a:solidFill>
                  <a:srgbClr val="1B2A44"/>
                </a:solidFill>
                <a:latin typeface="Yu Gothic" pitchFamily="34" charset="0"/>
                <a:ea typeface="Yu Gothic" pitchFamily="34" charset="-122"/>
                <a:cs typeface="Yu Gothic" pitchFamily="34" charset="-120"/>
              </a:rPr>
              <a:t> ＝ 1,211,909.83 / 2,500 ＝ 484.76</a:t>
            </a:r>
            <a:endParaRPr lang="en-US" sz="1150" dirty="0"/>
          </a:p>
        </p:txBody>
      </p:sp>
      <p:sp>
        <p:nvSpPr>
          <p:cNvPr id="18" name="Text 15"/>
          <p:cNvSpPr txBox="1"/>
          <p:nvPr/>
        </p:nvSpPr>
        <p:spPr>
          <a:xfrm>
            <a:off x="6812280" y="2560320"/>
            <a:ext cx="4846320" cy="237744"/>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(b) 5帯の平均をさらに平均</a:t>
            </a:r>
            <a:endParaRPr lang="en-US" sz="1000" dirty="0"/>
          </a:p>
        </p:txBody>
      </p:sp>
      <p:sp>
        <p:nvSpPr>
          <p:cNvPr id="19" name="Text 16"/>
          <p:cNvSpPr txBox="1"/>
          <p:nvPr/>
        </p:nvSpPr>
        <p:spPr>
          <a:xfrm>
            <a:off x="6812280" y="2816352"/>
            <a:ext cx="4846320" cy="64008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ȳ ＝ (337.34＋351.22＋382.57＋485.55＋867.14) / 5</a:t>
            </a:r>
            <a:endParaRPr lang="en-US" sz="1100" dirty="0"/>
          </a:p>
          <a:p>
            <a:pPr indent="0" marL="0">
              <a:buNone/>
            </a:pPr>
            <a:r>
              <a:rPr lang="en-US" sz="1100" b="1" dirty="0">
                <a:solidFill>
                  <a:srgbClr val="1B2A44"/>
                </a:solidFill>
                <a:latin typeface="Yu Gothic" pitchFamily="34" charset="0"/>
                <a:ea typeface="Yu Gothic" pitchFamily="34" charset="-122"/>
                <a:cs typeface="Yu Gothic" pitchFamily="34" charset="-120"/>
              </a:rPr>
              <a:t>　＝ 2,423.82 / 5 ＝ 484.76 kWh/m²</a:t>
            </a:r>
            <a:endParaRPr lang="en-US" sz="1100" dirty="0"/>
          </a:p>
        </p:txBody>
      </p:sp>
      <p:sp>
        <p:nvSpPr>
          <p:cNvPr id="20" name="Text 17"/>
          <p:cNvSpPr txBox="1"/>
          <p:nvPr/>
        </p:nvSpPr>
        <p:spPr>
          <a:xfrm>
            <a:off x="6812280" y="3520440"/>
            <a:ext cx="4846320" cy="54864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5帯の面積が同じ（500m²）なので (a)＝(b)。全体平均は5帯から計算できる値。</a:t>
            </a:r>
            <a:endParaRPr lang="en-US" sz="950" dirty="0"/>
          </a:p>
        </p:txBody>
      </p:sp>
      <p:sp>
        <p:nvSpPr>
          <p:cNvPr id="21" name="Text 18"/>
          <p:cNvSpPr txBox="1"/>
          <p:nvPr/>
        </p:nvSpPr>
        <p:spPr>
          <a:xfrm>
            <a:off x="6675120" y="4279392"/>
            <a:ext cx="507492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この5個が「16配置 × 5帯」の表の1行になる</a:t>
            </a:r>
            <a:endParaRPr lang="en-US" sz="11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675120" y="4599432"/>
          <a:ext cx="5074920" cy="914400"/>
        </p:xfrm>
        <a:graphic>
          <a:graphicData uri="http://schemas.openxmlformats.org/drawingml/2006/table">
            <a:tbl>
              <a:tblPr/>
              <a:tblGrid>
                <a:gridCol w="1188720"/>
                <a:gridCol w="777240"/>
                <a:gridCol w="777240"/>
                <a:gridCol w="777240"/>
                <a:gridCol w="777240"/>
                <a:gridCol w="777240"/>
              </a:tblGrid>
              <a:tr h="310896">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(A, D)</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337.3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351.2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382.6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485.5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867.1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319.9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320.2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348.5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357.9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589.6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631.3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697.9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873.2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1006.9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…（計16行）</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計算過程①：入力を囲む4配置と、その重みを式で求める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例として A＝55.9m・D＝14m を入力したときの流れ。重みは学習で調整した係数ではなく、入力の位置からその都度計算する割合。</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23 / 41</a:t>
            </a:r>
            <a:endParaRPr lang="en-US" sz="1100" dirty="0"/>
          </a:p>
        </p:txBody>
      </p:sp>
      <p:sp>
        <p:nvSpPr>
          <p:cNvPr id="10" name="Shape 8"/>
          <p:cNvSpPr/>
          <p:nvPr/>
        </p:nvSpPr>
        <p:spPr>
          <a:xfrm>
            <a:off x="457200" y="1481328"/>
            <a:ext cx="6675120" cy="877824"/>
          </a:xfrm>
          <a:prstGeom prst="roundRect">
            <a:avLst>
              <a:gd name="adj" fmla="val 5208"/>
            </a:avLst>
          </a:prstGeom>
          <a:solidFill>
            <a:srgbClr val="F3F5F8"/>
          </a:solidFill>
          <a:ln w="9525">
            <a:solidFill>
              <a:srgbClr val="E1E5EA"/>
            </a:solidFill>
            <a:prstDash val="solid"/>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入力を囲む区間を探す</a:t>
            </a:r>
            <a:endParaRPr lang="en-US" sz="1150" dirty="0"/>
          </a:p>
        </p:txBody>
      </p:sp>
      <p:sp>
        <p:nvSpPr>
          <p:cNvPr id="14" name="Text 12"/>
          <p:cNvSpPr txBox="1"/>
          <p:nvPr/>
        </p:nvSpPr>
        <p:spPr>
          <a:xfrm>
            <a:off x="1005840" y="1810512"/>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A &lt; A</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D &lt; D</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endParaRPr lang="en-US" sz="1200" dirty="0"/>
          </a:p>
        </p:txBody>
      </p:sp>
      <p:sp>
        <p:nvSpPr>
          <p:cNvPr id="15" name="Text 13"/>
          <p:cNvSpPr txBox="1"/>
          <p:nvPr/>
        </p:nvSpPr>
        <p:spPr>
          <a:xfrm>
            <a:off x="1005840" y="2066544"/>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50 ≤ 55.9 &lt; 75，10 ≤ 14 &lt; 25 → 4隅は (50,10)(75,10)(50,25)(75,25)</a:t>
            </a:r>
            <a:endParaRPr lang="en-US" sz="950" dirty="0"/>
          </a:p>
        </p:txBody>
      </p:sp>
      <p:sp>
        <p:nvSpPr>
          <p:cNvPr id="16" name="Shape 14"/>
          <p:cNvSpPr/>
          <p:nvPr/>
        </p:nvSpPr>
        <p:spPr>
          <a:xfrm>
            <a:off x="457200" y="2450592"/>
            <a:ext cx="6675120" cy="877824"/>
          </a:xfrm>
          <a:prstGeom prst="roundRect">
            <a:avLst>
              <a:gd name="adj" fmla="val 5208"/>
            </a:avLst>
          </a:prstGeom>
          <a:solidFill>
            <a:srgbClr val="FFFFFF"/>
          </a:solidFill>
          <a:ln w="9525">
            <a:solidFill>
              <a:srgbClr val="E1E5EA"/>
            </a:solidFill>
            <a:prstDash val="solid"/>
          </a:ln>
        </p:spPr>
      </p:sp>
      <p:sp>
        <p:nvSpPr>
          <p:cNvPr id="17" name="Shape 15"/>
          <p:cNvSpPr/>
          <p:nvPr/>
        </p:nvSpPr>
        <p:spPr>
          <a:xfrm>
            <a:off x="594360" y="2560320"/>
            <a:ext cx="310896" cy="310896"/>
          </a:xfrm>
          <a:prstGeom prst="ellipse">
            <a:avLst/>
          </a:prstGeom>
          <a:solidFill>
            <a:srgbClr val="1F6F78"/>
          </a:solidFill>
          <a:ln/>
        </p:spPr>
      </p:sp>
      <p:sp>
        <p:nvSpPr>
          <p:cNvPr id="18" name="Text 16"/>
          <p:cNvSpPr txBox="1"/>
          <p:nvPr/>
        </p:nvSpPr>
        <p:spPr>
          <a:xfrm>
            <a:off x="594360" y="25603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9" name="Text 17"/>
          <p:cNvSpPr txBox="1"/>
          <p:nvPr/>
        </p:nvSpPr>
        <p:spPr>
          <a:xfrm>
            <a:off x="1005840" y="2523744"/>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区間の中の位置（割合）を求める</a:t>
            </a:r>
            <a:endParaRPr lang="en-US" sz="1150" dirty="0"/>
          </a:p>
        </p:txBody>
      </p:sp>
      <p:sp>
        <p:nvSpPr>
          <p:cNvPr id="20" name="Text 18"/>
          <p:cNvSpPr txBox="1"/>
          <p:nvPr/>
        </p:nvSpPr>
        <p:spPr>
          <a:xfrm>
            <a:off x="1005840" y="2779776"/>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u ＝ (A − 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(A</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 − 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)，v ＝ (D − 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(D</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 − 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a:t>
            </a:r>
            <a:endParaRPr lang="en-US" sz="1200" dirty="0"/>
          </a:p>
        </p:txBody>
      </p:sp>
      <p:sp>
        <p:nvSpPr>
          <p:cNvPr id="21" name="Text 19"/>
          <p:cNvSpPr txBox="1"/>
          <p:nvPr/>
        </p:nvSpPr>
        <p:spPr>
          <a:xfrm>
            <a:off x="1005840" y="3035808"/>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 ＝ 5.9 / 25 ＝ 0.236，v ＝ 4 / 15 ≒ 0.2667</a:t>
            </a:r>
            <a:endParaRPr lang="en-US" sz="950" dirty="0"/>
          </a:p>
        </p:txBody>
      </p:sp>
      <p:sp>
        <p:nvSpPr>
          <p:cNvPr id="22" name="Shape 20"/>
          <p:cNvSpPr/>
          <p:nvPr/>
        </p:nvSpPr>
        <p:spPr>
          <a:xfrm>
            <a:off x="457200" y="3419856"/>
            <a:ext cx="6675120" cy="877824"/>
          </a:xfrm>
          <a:prstGeom prst="roundRect">
            <a:avLst>
              <a:gd name="adj" fmla="val 5208"/>
            </a:avLst>
          </a:prstGeom>
          <a:solidFill>
            <a:srgbClr val="F3F5F8"/>
          </a:solidFill>
          <a:ln w="9525">
            <a:solidFill>
              <a:srgbClr val="E1E5EA"/>
            </a:solidFill>
            <a:prstDash val="solid"/>
          </a:ln>
        </p:spPr>
      </p:sp>
      <p:sp>
        <p:nvSpPr>
          <p:cNvPr id="23" name="Shape 21"/>
          <p:cNvSpPr/>
          <p:nvPr/>
        </p:nvSpPr>
        <p:spPr>
          <a:xfrm>
            <a:off x="594360" y="3529584"/>
            <a:ext cx="310896" cy="310896"/>
          </a:xfrm>
          <a:prstGeom prst="ellipse">
            <a:avLst/>
          </a:prstGeom>
          <a:solidFill>
            <a:srgbClr val="1F6F78"/>
          </a:solidFill>
          <a:ln/>
        </p:spPr>
      </p:sp>
      <p:sp>
        <p:nvSpPr>
          <p:cNvPr id="24" name="Text 22"/>
          <p:cNvSpPr txBox="1"/>
          <p:nvPr/>
        </p:nvSpPr>
        <p:spPr>
          <a:xfrm>
            <a:off x="594360" y="352958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5" name="Text 23"/>
          <p:cNvSpPr txBox="1"/>
          <p:nvPr/>
        </p:nvSpPr>
        <p:spPr>
          <a:xfrm>
            <a:off x="1005840" y="3493008"/>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4隅の重みを掛け算で求める</a:t>
            </a:r>
            <a:endParaRPr lang="en-US" sz="1150" dirty="0"/>
          </a:p>
        </p:txBody>
      </p:sp>
      <p:sp>
        <p:nvSpPr>
          <p:cNvPr id="26" name="Text 24"/>
          <p:cNvSpPr txBox="1"/>
          <p:nvPr/>
        </p:nvSpPr>
        <p:spPr>
          <a:xfrm>
            <a:off x="1005840" y="3749040"/>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w</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＝(1−u)(1−v)，w</a:t>
            </a:r>
            <a:pPr indent="0" marL="0">
              <a:buNone/>
            </a:pPr>
            <a:r>
              <a:rPr lang="en-US" sz="1200" b="1" baseline="-40000" dirty="0">
                <a:solidFill>
                  <a:srgbClr val="C56A2C"/>
                </a:solidFill>
                <a:latin typeface="Yu Gothic" pitchFamily="34" charset="0"/>
                <a:ea typeface="Yu Gothic" pitchFamily="34" charset="-122"/>
                <a:cs typeface="Yu Gothic" pitchFamily="34" charset="-120"/>
              </a:rPr>
              <a:t>2</a:t>
            </a:r>
            <a:pPr indent="0" marL="0">
              <a:buNone/>
            </a:pPr>
            <a:r>
              <a:rPr lang="en-US" sz="1200" b="1" dirty="0">
                <a:solidFill>
                  <a:srgbClr val="C56A2C"/>
                </a:solidFill>
                <a:latin typeface="Yu Gothic" pitchFamily="34" charset="0"/>
                <a:ea typeface="Yu Gothic" pitchFamily="34" charset="-122"/>
                <a:cs typeface="Yu Gothic" pitchFamily="34" charset="-120"/>
              </a:rPr>
              <a:t>＝u(1−v)，w</a:t>
            </a:r>
            <a:pPr indent="0" marL="0">
              <a:buNone/>
            </a:pPr>
            <a:r>
              <a:rPr lang="en-US" sz="1200" b="1" baseline="-40000" dirty="0">
                <a:solidFill>
                  <a:srgbClr val="C56A2C"/>
                </a:solidFill>
                <a:latin typeface="Yu Gothic" pitchFamily="34" charset="0"/>
                <a:ea typeface="Yu Gothic" pitchFamily="34" charset="-122"/>
                <a:cs typeface="Yu Gothic" pitchFamily="34" charset="-120"/>
              </a:rPr>
              <a:t>3</a:t>
            </a:r>
            <a:pPr indent="0" marL="0">
              <a:buNone/>
            </a:pPr>
            <a:r>
              <a:rPr lang="en-US" sz="1200" b="1" dirty="0">
                <a:solidFill>
                  <a:srgbClr val="C56A2C"/>
                </a:solidFill>
                <a:latin typeface="Yu Gothic" pitchFamily="34" charset="0"/>
                <a:ea typeface="Yu Gothic" pitchFamily="34" charset="-122"/>
                <a:cs typeface="Yu Gothic" pitchFamily="34" charset="-120"/>
              </a:rPr>
              <a:t>＝(1−u)v，w</a:t>
            </a:r>
            <a:pPr indent="0" marL="0">
              <a:buNone/>
            </a:pPr>
            <a:r>
              <a:rPr lang="en-US" sz="1200" b="1" baseline="-40000" dirty="0">
                <a:solidFill>
                  <a:srgbClr val="C56A2C"/>
                </a:solidFill>
                <a:latin typeface="Yu Gothic" pitchFamily="34" charset="0"/>
                <a:ea typeface="Yu Gothic" pitchFamily="34" charset="-122"/>
                <a:cs typeface="Yu Gothic" pitchFamily="34" charset="-120"/>
              </a:rPr>
              <a:t>4</a:t>
            </a:r>
            <a:pPr indent="0" marL="0">
              <a:buNone/>
            </a:pPr>
            <a:r>
              <a:rPr lang="en-US" sz="1200" b="1" dirty="0">
                <a:solidFill>
                  <a:srgbClr val="C56A2C"/>
                </a:solidFill>
                <a:latin typeface="Yu Gothic" pitchFamily="34" charset="0"/>
                <a:ea typeface="Yu Gothic" pitchFamily="34" charset="-122"/>
                <a:cs typeface="Yu Gothic" pitchFamily="34" charset="-120"/>
              </a:rPr>
              <a:t>＝uv</a:t>
            </a:r>
            <a:endParaRPr lang="en-US" sz="1200" dirty="0"/>
          </a:p>
        </p:txBody>
      </p:sp>
      <p:sp>
        <p:nvSpPr>
          <p:cNvPr id="27" name="Text 25"/>
          <p:cNvSpPr txBox="1"/>
          <p:nvPr/>
        </p:nvSpPr>
        <p:spPr>
          <a:xfrm>
            <a:off x="1005840" y="4005072"/>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Σ</a:t>
            </a:r>
            <a:pPr indent="0" marL="0">
              <a:buNone/>
            </a:pPr>
            <a:r>
              <a:rPr lang="en-US" sz="950" baseline="-40000" dirty="0">
                <a:solidFill>
                  <a:srgbClr val="6B7480"/>
                </a:solidFill>
                <a:latin typeface="Yu Gothic" pitchFamily="34" charset="0"/>
                <a:ea typeface="Yu Gothic" pitchFamily="34" charset="-122"/>
                <a:cs typeface="Yu Gothic" pitchFamily="34" charset="-120"/>
              </a:rPr>
              <a:t>c=1</a:t>
            </a:r>
            <a:pPr indent="0" marL="0">
              <a:buNone/>
            </a:pPr>
            <a:r>
              <a:rPr lang="en-US" sz="950" baseline="30000" dirty="0">
                <a:solidFill>
                  <a:srgbClr val="6B7480"/>
                </a:solidFill>
                <a:latin typeface="Yu Gothic" pitchFamily="34" charset="0"/>
                <a:ea typeface="Yu Gothic" pitchFamily="34" charset="-122"/>
                <a:cs typeface="Yu Gothic" pitchFamily="34" charset="-120"/>
              </a:rPr>
              <a:t>4</a:t>
            </a:r>
            <a:pPr indent="0" marL="0">
              <a:buNone/>
            </a:pPr>
            <a:r>
              <a:rPr lang="en-US" sz="950" dirty="0">
                <a:solidFill>
                  <a:srgbClr val="6B7480"/>
                </a:solidFill>
                <a:latin typeface="Yu Gothic" pitchFamily="34" charset="0"/>
                <a:ea typeface="Yu Gothic" pitchFamily="34" charset="-122"/>
                <a:cs typeface="Yu Gothic" pitchFamily="34" charset="-120"/>
              </a:rPr>
              <a:t> w</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 ＝ 1（4つの重みの合計は必ず1）</a:t>
            </a:r>
            <a:endParaRPr lang="en-US" sz="950" dirty="0"/>
          </a:p>
        </p:txBody>
      </p:sp>
      <p:sp>
        <p:nvSpPr>
          <p:cNvPr id="28" name="Shape 26"/>
          <p:cNvSpPr/>
          <p:nvPr/>
        </p:nvSpPr>
        <p:spPr>
          <a:xfrm>
            <a:off x="457200" y="4389120"/>
            <a:ext cx="6675120" cy="877824"/>
          </a:xfrm>
          <a:prstGeom prst="roundRect">
            <a:avLst>
              <a:gd name="adj" fmla="val 5208"/>
            </a:avLst>
          </a:prstGeom>
          <a:solidFill>
            <a:srgbClr val="FFFFFF"/>
          </a:solidFill>
          <a:ln w="9525">
            <a:solidFill>
              <a:srgbClr val="E1E5EA"/>
            </a:solidFill>
            <a:prstDash val="solid"/>
          </a:ln>
        </p:spPr>
      </p:sp>
      <p:sp>
        <p:nvSpPr>
          <p:cNvPr id="29" name="Shape 27"/>
          <p:cNvSpPr/>
          <p:nvPr/>
        </p:nvSpPr>
        <p:spPr>
          <a:xfrm>
            <a:off x="594360" y="4498848"/>
            <a:ext cx="310896" cy="310896"/>
          </a:xfrm>
          <a:prstGeom prst="ellipse">
            <a:avLst/>
          </a:prstGeom>
          <a:solidFill>
            <a:srgbClr val="1F6F78"/>
          </a:solidFill>
          <a:ln/>
        </p:spPr>
      </p:sp>
      <p:sp>
        <p:nvSpPr>
          <p:cNvPr id="30" name="Text 28"/>
          <p:cNvSpPr txBox="1"/>
          <p:nvPr/>
        </p:nvSpPr>
        <p:spPr>
          <a:xfrm>
            <a:off x="594360" y="44988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31" name="Text 29"/>
          <p:cNvSpPr txBox="1"/>
          <p:nvPr/>
        </p:nvSpPr>
        <p:spPr>
          <a:xfrm>
            <a:off x="1005840" y="4462272"/>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高さ帯ごとに重み付きで足す</a:t>
            </a:r>
            <a:endParaRPr lang="en-US" sz="1150" dirty="0"/>
          </a:p>
        </p:txBody>
      </p:sp>
      <p:sp>
        <p:nvSpPr>
          <p:cNvPr id="32" name="Text 30"/>
          <p:cNvSpPr txBox="1"/>
          <p:nvPr/>
        </p:nvSpPr>
        <p:spPr>
          <a:xfrm>
            <a:off x="1005840" y="4718304"/>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pPr indent="0" marL="0">
              <a:buNone/>
            </a:pPr>
            <a:r>
              <a:rPr lang="en-US" sz="1200" b="1" dirty="0">
                <a:solidFill>
                  <a:srgbClr val="C56A2C"/>
                </a:solidFill>
                <a:latin typeface="Yu Gothic" pitchFamily="34" charset="0"/>
                <a:ea typeface="Yu Gothic" pitchFamily="34" charset="-122"/>
                <a:cs typeface="Yu Gothic" pitchFamily="34" charset="-120"/>
              </a:rPr>
              <a:t>(A, D) ＝ Σ</a:t>
            </a:r>
            <a:pPr indent="0" marL="0">
              <a:buNone/>
            </a:pPr>
            <a:r>
              <a:rPr lang="en-US" sz="1200" b="1" baseline="-40000" dirty="0">
                <a:solidFill>
                  <a:srgbClr val="C56A2C"/>
                </a:solidFill>
                <a:latin typeface="Yu Gothic" pitchFamily="34" charset="0"/>
                <a:ea typeface="Yu Gothic" pitchFamily="34" charset="-122"/>
                <a:cs typeface="Yu Gothic" pitchFamily="34" charset="-120"/>
              </a:rPr>
              <a:t>c=1</a:t>
            </a:r>
            <a:pPr indent="0" marL="0">
              <a:buNone/>
            </a:pPr>
            <a:r>
              <a:rPr lang="en-US" sz="1200" b="1" baseline="30000" dirty="0">
                <a:solidFill>
                  <a:srgbClr val="C56A2C"/>
                </a:solidFill>
                <a:latin typeface="Yu Gothic" pitchFamily="34" charset="0"/>
                <a:ea typeface="Yu Gothic" pitchFamily="34" charset="-122"/>
                <a:cs typeface="Yu Gothic" pitchFamily="34" charset="-120"/>
              </a:rPr>
              <a:t>4</a:t>
            </a:r>
            <a:pPr indent="0" marL="0">
              <a:buNone/>
            </a:pPr>
            <a:r>
              <a:rPr lang="en-US" sz="1200" b="1" dirty="0">
                <a:solidFill>
                  <a:srgbClr val="C56A2C"/>
                </a:solidFill>
                <a:latin typeface="Yu Gothic" pitchFamily="34" charset="0"/>
                <a:ea typeface="Yu Gothic" pitchFamily="34" charset="-122"/>
                <a:cs typeface="Yu Gothic" pitchFamily="34" charset="-120"/>
              </a:rPr>
              <a:t> w</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 y</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D</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（k＝1,…,5）</a:t>
            </a:r>
            <a:endParaRPr lang="en-US" sz="1200" dirty="0"/>
          </a:p>
        </p:txBody>
      </p:sp>
      <p:sp>
        <p:nvSpPr>
          <p:cNvPr id="33" name="Text 31"/>
          <p:cNvSpPr txBox="1"/>
          <p:nvPr/>
        </p:nvSpPr>
        <p:spPr>
          <a:xfrm>
            <a:off x="1005840" y="4974336"/>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y</a:t>
            </a:r>
            <a:pPr indent="0" marL="0">
              <a:buNone/>
            </a:pPr>
            <a:r>
              <a:rPr lang="en-US" sz="950" baseline="-40000" dirty="0">
                <a:solidFill>
                  <a:srgbClr val="6B7480"/>
                </a:solidFill>
                <a:latin typeface="Yu Gothic" pitchFamily="34" charset="0"/>
                <a:ea typeface="Yu Gothic" pitchFamily="34" charset="-122"/>
                <a:cs typeface="Yu Gothic" pitchFamily="34" charset="-120"/>
              </a:rPr>
              <a:t>k</a:t>
            </a:r>
            <a:pPr indent="0" marL="0">
              <a:buNone/>
            </a:pPr>
            <a:r>
              <a:rPr lang="en-US" sz="950" dirty="0">
                <a:solidFill>
                  <a:srgbClr val="6B7480"/>
                </a:solidFill>
                <a:latin typeface="Yu Gothic" pitchFamily="34" charset="0"/>
                <a:ea typeface="Yu Gothic" pitchFamily="34" charset="-122"/>
                <a:cs typeface="Yu Gothic" pitchFamily="34" charset="-120"/>
              </a:rPr>
              <a:t>(A</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 D</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)：隅cに保存した帯kの値。5帯とも同じ重みを使う</a:t>
            </a:r>
            <a:endParaRPr lang="en-US" sz="950" dirty="0"/>
          </a:p>
        </p:txBody>
      </p:sp>
      <p:sp>
        <p:nvSpPr>
          <p:cNvPr id="34" name="Shape 32"/>
          <p:cNvSpPr/>
          <p:nvPr/>
        </p:nvSpPr>
        <p:spPr>
          <a:xfrm>
            <a:off x="457200" y="5358384"/>
            <a:ext cx="6675120" cy="877824"/>
          </a:xfrm>
          <a:prstGeom prst="roundRect">
            <a:avLst>
              <a:gd name="adj" fmla="val 5208"/>
            </a:avLst>
          </a:prstGeom>
          <a:solidFill>
            <a:srgbClr val="F3F5F8"/>
          </a:solidFill>
          <a:ln w="9525">
            <a:solidFill>
              <a:srgbClr val="E1E5EA"/>
            </a:solidFill>
            <a:prstDash val="solid"/>
          </a:ln>
        </p:spPr>
      </p:sp>
      <p:sp>
        <p:nvSpPr>
          <p:cNvPr id="35" name="Shape 33"/>
          <p:cNvSpPr/>
          <p:nvPr/>
        </p:nvSpPr>
        <p:spPr>
          <a:xfrm>
            <a:off x="594360" y="5468112"/>
            <a:ext cx="310896" cy="310896"/>
          </a:xfrm>
          <a:prstGeom prst="ellipse">
            <a:avLst/>
          </a:prstGeom>
          <a:solidFill>
            <a:srgbClr val="1F6F78"/>
          </a:solidFill>
          <a:ln/>
        </p:spPr>
      </p:sp>
      <p:sp>
        <p:nvSpPr>
          <p:cNvPr id="36" name="Text 34"/>
          <p:cNvSpPr txBox="1"/>
          <p:nvPr/>
        </p:nvSpPr>
        <p:spPr>
          <a:xfrm>
            <a:off x="594360" y="54681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a:t>
            </a:r>
            <a:endParaRPr lang="en-US" sz="1200" dirty="0"/>
          </a:p>
        </p:txBody>
      </p:sp>
      <p:sp>
        <p:nvSpPr>
          <p:cNvPr id="37" name="Text 35"/>
          <p:cNvSpPr txBox="1"/>
          <p:nvPr/>
        </p:nvSpPr>
        <p:spPr>
          <a:xfrm>
            <a:off x="1005840" y="5431536"/>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南面全体の平均を出す</a:t>
            </a:r>
            <a:endParaRPr lang="en-US" sz="1150" dirty="0"/>
          </a:p>
        </p:txBody>
      </p:sp>
      <p:sp>
        <p:nvSpPr>
          <p:cNvPr id="38" name="Text 36"/>
          <p:cNvSpPr txBox="1"/>
          <p:nvPr/>
        </p:nvSpPr>
        <p:spPr>
          <a:xfrm>
            <a:off x="1005840" y="5687568"/>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pPr indent="0" marL="0">
              <a:buNone/>
            </a:pPr>
            <a:r>
              <a:rPr lang="en-US" sz="1200" b="1" baseline="-40000" dirty="0">
                <a:solidFill>
                  <a:srgbClr val="C56A2C"/>
                </a:solidFill>
                <a:latin typeface="Yu Gothic" pitchFamily="34" charset="0"/>
                <a:ea typeface="Yu Gothic" pitchFamily="34" charset="-122"/>
                <a:cs typeface="Yu Gothic" pitchFamily="34" charset="-120"/>
              </a:rPr>
              <a:t>平均</a:t>
            </a:r>
            <a:pPr indent="0" marL="0">
              <a:buNone/>
            </a:pPr>
            <a:r>
              <a:rPr lang="en-US" sz="1200" b="1" dirty="0">
                <a:solidFill>
                  <a:srgbClr val="C56A2C"/>
                </a:solidFill>
                <a:latin typeface="Yu Gothic" pitchFamily="34" charset="0"/>
                <a:ea typeface="Yu Gothic" pitchFamily="34" charset="-122"/>
                <a:cs typeface="Yu Gothic" pitchFamily="34" charset="-120"/>
              </a:rPr>
              <a:t> ＝ (1/5) Σ</a:t>
            </a:r>
            <a:pPr indent="0" marL="0">
              <a:buNone/>
            </a:pPr>
            <a:r>
              <a:rPr lang="en-US" sz="1200" b="1" baseline="-40000" dirty="0">
                <a:solidFill>
                  <a:srgbClr val="C56A2C"/>
                </a:solidFill>
                <a:latin typeface="Yu Gothic" pitchFamily="34" charset="0"/>
                <a:ea typeface="Yu Gothic" pitchFamily="34" charset="-122"/>
                <a:cs typeface="Yu Gothic" pitchFamily="34" charset="-120"/>
              </a:rPr>
              <a:t>k=1</a:t>
            </a:r>
            <a:pPr indent="0" marL="0">
              <a:buNone/>
            </a:pPr>
            <a:r>
              <a:rPr lang="en-US" sz="1200" b="1" baseline="30000" dirty="0">
                <a:solidFill>
                  <a:srgbClr val="C56A2C"/>
                </a:solidFill>
                <a:latin typeface="Yu Gothic" pitchFamily="34" charset="0"/>
                <a:ea typeface="Yu Gothic" pitchFamily="34" charset="-122"/>
                <a:cs typeface="Yu Gothic" pitchFamily="34" charset="-120"/>
              </a:rPr>
              <a:t>5</a:t>
            </a:r>
            <a:pPr indent="0" marL="0">
              <a:buNone/>
            </a:pPr>
            <a:r>
              <a:rPr lang="en-US" sz="1200" b="1" dirty="0">
                <a:solidFill>
                  <a:srgbClr val="C56A2C"/>
                </a:solidFill>
                <a:latin typeface="Yu Gothic" pitchFamily="34" charset="0"/>
                <a:ea typeface="Yu Gothic" pitchFamily="34" charset="-122"/>
                <a:cs typeface="Yu Gothic" pitchFamily="34" charset="-120"/>
              </a:rPr>
              <a:t> ŷ</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endParaRPr lang="en-US" sz="1200" dirty="0"/>
          </a:p>
        </p:txBody>
      </p:sp>
      <p:sp>
        <p:nvSpPr>
          <p:cNvPr id="39" name="Text 37"/>
          <p:cNvSpPr txBox="1"/>
          <p:nvPr/>
        </p:nvSpPr>
        <p:spPr>
          <a:xfrm>
            <a:off x="1005840" y="5943600"/>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面積が等しい5帯の単純平均</a:t>
            </a:r>
            <a:endParaRPr lang="en-US" sz="950" dirty="0"/>
          </a:p>
        </p:txBody>
      </p:sp>
      <p:sp>
        <p:nvSpPr>
          <p:cNvPr id="40" name="Shape 38"/>
          <p:cNvSpPr/>
          <p:nvPr/>
        </p:nvSpPr>
        <p:spPr>
          <a:xfrm>
            <a:off x="7406640" y="1481328"/>
            <a:ext cx="4343400" cy="4828032"/>
          </a:xfrm>
          <a:prstGeom prst="roundRect">
            <a:avLst>
              <a:gd name="adj" fmla="val 1263"/>
            </a:avLst>
          </a:prstGeom>
          <a:solidFill>
            <a:srgbClr val="F3F5F8"/>
          </a:solidFill>
          <a:ln/>
        </p:spPr>
      </p:sp>
      <p:sp>
        <p:nvSpPr>
          <p:cNvPr id="41" name="Text 39"/>
          <p:cNvSpPr txBox="1"/>
          <p:nvPr/>
        </p:nvSpPr>
        <p:spPr>
          <a:xfrm>
            <a:off x="7543800" y="1536192"/>
            <a:ext cx="4114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重み＝反対側の長方形の面積</a:t>
            </a:r>
            <a:endParaRPr lang="en-US" sz="1150" dirty="0"/>
          </a:p>
        </p:txBody>
      </p:sp>
      <p:sp>
        <p:nvSpPr>
          <p:cNvPr id="42" name="Shape 40"/>
          <p:cNvSpPr/>
          <p:nvPr/>
        </p:nvSpPr>
        <p:spPr>
          <a:xfrm>
            <a:off x="8961120" y="2148840"/>
            <a:ext cx="2011680" cy="2095805"/>
          </a:xfrm>
          <a:prstGeom prst="rect">
            <a:avLst/>
          </a:prstGeom>
          <a:solidFill>
            <a:srgbClr val="F2BE92"/>
          </a:solidFill>
          <a:ln w="9525">
            <a:solidFill>
              <a:srgbClr val="FFFFFF"/>
            </a:solidFill>
            <a:prstDash val="solid"/>
          </a:ln>
        </p:spPr>
      </p:sp>
      <p:sp>
        <p:nvSpPr>
          <p:cNvPr id="43" name="Shape 41"/>
          <p:cNvSpPr/>
          <p:nvPr/>
        </p:nvSpPr>
        <p:spPr>
          <a:xfrm>
            <a:off x="8229600" y="2148840"/>
            <a:ext cx="731520" cy="2095805"/>
          </a:xfrm>
          <a:prstGeom prst="rect">
            <a:avLst/>
          </a:prstGeom>
          <a:solidFill>
            <a:srgbClr val="F6D9C0"/>
          </a:solidFill>
          <a:ln w="9525">
            <a:solidFill>
              <a:srgbClr val="FFFFFF"/>
            </a:solidFill>
            <a:prstDash val="solid"/>
          </a:ln>
        </p:spPr>
      </p:sp>
      <p:sp>
        <p:nvSpPr>
          <p:cNvPr id="44" name="Shape 42"/>
          <p:cNvSpPr/>
          <p:nvPr/>
        </p:nvSpPr>
        <p:spPr>
          <a:xfrm>
            <a:off x="8961120" y="4244645"/>
            <a:ext cx="2011680" cy="647395"/>
          </a:xfrm>
          <a:prstGeom prst="rect">
            <a:avLst/>
          </a:prstGeom>
          <a:solidFill>
            <a:srgbClr val="BFD9DC"/>
          </a:solidFill>
          <a:ln w="9525">
            <a:solidFill>
              <a:srgbClr val="FFFFFF"/>
            </a:solidFill>
            <a:prstDash val="solid"/>
          </a:ln>
        </p:spPr>
      </p:sp>
      <p:sp>
        <p:nvSpPr>
          <p:cNvPr id="45" name="Shape 43"/>
          <p:cNvSpPr/>
          <p:nvPr/>
        </p:nvSpPr>
        <p:spPr>
          <a:xfrm>
            <a:off x="8229600" y="4244645"/>
            <a:ext cx="731520" cy="647395"/>
          </a:xfrm>
          <a:prstGeom prst="rect">
            <a:avLst/>
          </a:prstGeom>
          <a:solidFill>
            <a:srgbClr val="D7E7EA"/>
          </a:solidFill>
          <a:ln w="9525">
            <a:solidFill>
              <a:srgbClr val="FFFFFF"/>
            </a:solidFill>
            <a:prstDash val="solid"/>
          </a:ln>
        </p:spPr>
      </p:sp>
      <p:sp>
        <p:nvSpPr>
          <p:cNvPr id="46" name="Text 44"/>
          <p:cNvSpPr txBox="1"/>
          <p:nvPr/>
        </p:nvSpPr>
        <p:spPr>
          <a:xfrm>
            <a:off x="8961120" y="2880360"/>
            <a:ext cx="2011680" cy="365760"/>
          </a:xfrm>
          <a:prstGeom prst="rect">
            <a:avLst/>
          </a:prstGeom>
          <a:noFill/>
          <a:ln/>
        </p:spPr>
        <p:txBody>
          <a:bodyPr wrap="square" lIns="508" tIns="508" rIns="508" bIns="508" rtlCol="0" anchor="t"/>
          <a:lstStyle/>
          <a:p>
            <a:pPr algn="ctr" indent="0" marL="0">
              <a:buNone/>
            </a:pPr>
            <a:r>
              <a:rPr lang="en-US" sz="1600" b="1" dirty="0">
                <a:solidFill>
                  <a:srgbClr val="1B2A44"/>
                </a:solidFill>
                <a:latin typeface="Yu Gothic" pitchFamily="34" charset="0"/>
                <a:ea typeface="Yu Gothic" pitchFamily="34" charset="-122"/>
                <a:cs typeface="Yu Gothic" pitchFamily="34" charset="-120"/>
              </a:rPr>
              <a:t>0.560</a:t>
            </a:r>
            <a:endParaRPr lang="en-US" sz="1600" dirty="0"/>
          </a:p>
        </p:txBody>
      </p:sp>
      <p:sp>
        <p:nvSpPr>
          <p:cNvPr id="47" name="Text 45"/>
          <p:cNvSpPr txBox="1"/>
          <p:nvPr/>
        </p:nvSpPr>
        <p:spPr>
          <a:xfrm>
            <a:off x="8961120" y="3227832"/>
            <a:ext cx="2011680" cy="228600"/>
          </a:xfrm>
          <a:prstGeom prst="rect">
            <a:avLst/>
          </a:prstGeom>
          <a:noFill/>
          <a:ln/>
        </p:spPr>
        <p:txBody>
          <a:bodyPr wrap="square" lIns="508" tIns="508" rIns="508" bIns="508" rtlCol="0" anchor="t"/>
          <a:lstStyle/>
          <a:p>
            <a:pPr algn="ctr" indent="0" marL="0">
              <a:buNone/>
            </a:pPr>
            <a:r>
              <a:rPr lang="en-US" sz="900" dirty="0">
                <a:solidFill>
                  <a:srgbClr val="1B2A44"/>
                </a:solidFill>
                <a:latin typeface="Yu Gothic" pitchFamily="34" charset="0"/>
                <a:ea typeface="Yu Gothic" pitchFamily="34" charset="-122"/>
                <a:cs typeface="Yu Gothic" pitchFamily="34" charset="-120"/>
              </a:rPr>
              <a:t>(50,10)の重み</a:t>
            </a:r>
            <a:endParaRPr lang="en-US" sz="900" dirty="0"/>
          </a:p>
        </p:txBody>
      </p:sp>
      <p:sp>
        <p:nvSpPr>
          <p:cNvPr id="48" name="Text 46"/>
          <p:cNvSpPr txBox="1"/>
          <p:nvPr/>
        </p:nvSpPr>
        <p:spPr>
          <a:xfrm>
            <a:off x="8229600" y="2880360"/>
            <a:ext cx="731520" cy="36576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0.204</a:t>
            </a:r>
            <a:endParaRPr lang="en-US" sz="1100" dirty="0"/>
          </a:p>
        </p:txBody>
      </p:sp>
      <p:sp>
        <p:nvSpPr>
          <p:cNvPr id="49" name="Text 47"/>
          <p:cNvSpPr txBox="1"/>
          <p:nvPr/>
        </p:nvSpPr>
        <p:spPr>
          <a:xfrm>
            <a:off x="8961120" y="4354373"/>
            <a:ext cx="2011680" cy="27432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0.173</a:t>
            </a:r>
            <a:endParaRPr lang="en-US" sz="1100" dirty="0"/>
          </a:p>
        </p:txBody>
      </p:sp>
      <p:sp>
        <p:nvSpPr>
          <p:cNvPr id="50" name="Text 48"/>
          <p:cNvSpPr txBox="1"/>
          <p:nvPr/>
        </p:nvSpPr>
        <p:spPr>
          <a:xfrm>
            <a:off x="8211312" y="4354373"/>
            <a:ext cx="768096" cy="27432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0.063</a:t>
            </a:r>
            <a:endParaRPr lang="en-US" sz="900" dirty="0"/>
          </a:p>
        </p:txBody>
      </p:sp>
      <p:sp>
        <p:nvSpPr>
          <p:cNvPr id="51" name="Shape 49"/>
          <p:cNvSpPr/>
          <p:nvPr/>
        </p:nvSpPr>
        <p:spPr>
          <a:xfrm>
            <a:off x="8887968" y="4171493"/>
            <a:ext cx="146304" cy="146304"/>
          </a:xfrm>
          <a:prstGeom prst="star5">
            <a:avLst/>
          </a:prstGeom>
          <a:solidFill>
            <a:srgbClr val="C56A2C"/>
          </a:solidFill>
          <a:ln w="6350">
            <a:solidFill>
              <a:srgbClr val="FFFFFF"/>
            </a:solidFill>
            <a:prstDash val="solid"/>
          </a:ln>
        </p:spPr>
      </p:sp>
      <p:sp>
        <p:nvSpPr>
          <p:cNvPr id="52" name="Shape 50"/>
          <p:cNvSpPr/>
          <p:nvPr/>
        </p:nvSpPr>
        <p:spPr>
          <a:xfrm>
            <a:off x="8170164" y="4832604"/>
            <a:ext cx="118872" cy="118872"/>
          </a:xfrm>
          <a:prstGeom prst="rect">
            <a:avLst/>
          </a:prstGeom>
          <a:solidFill>
            <a:srgbClr val="C56A2C"/>
          </a:solidFill>
          <a:ln w="6350">
            <a:solidFill>
              <a:srgbClr val="FFFFFF"/>
            </a:solidFill>
            <a:prstDash val="solid"/>
          </a:ln>
        </p:spPr>
      </p:sp>
      <p:sp>
        <p:nvSpPr>
          <p:cNvPr id="53" name="Text 51"/>
          <p:cNvSpPr txBox="1"/>
          <p:nvPr/>
        </p:nvSpPr>
        <p:spPr>
          <a:xfrm>
            <a:off x="7333488" y="4846320"/>
            <a:ext cx="868680" cy="219456"/>
          </a:xfrm>
          <a:prstGeom prst="rect">
            <a:avLst/>
          </a:prstGeom>
          <a:noFill/>
          <a:ln/>
        </p:spPr>
        <p:txBody>
          <a:bodyPr wrap="square" lIns="508" tIns="508" rIns="508" bIns="508"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p:txBody>
      </p:sp>
      <p:sp>
        <p:nvSpPr>
          <p:cNvPr id="54" name="Shape 52"/>
          <p:cNvSpPr/>
          <p:nvPr/>
        </p:nvSpPr>
        <p:spPr>
          <a:xfrm>
            <a:off x="10913364" y="4832604"/>
            <a:ext cx="118872" cy="118872"/>
          </a:xfrm>
          <a:prstGeom prst="rect">
            <a:avLst/>
          </a:prstGeom>
          <a:solidFill>
            <a:srgbClr val="C56A2C"/>
          </a:solidFill>
          <a:ln w="6350">
            <a:solidFill>
              <a:srgbClr val="FFFFFF"/>
            </a:solidFill>
            <a:prstDash val="solid"/>
          </a:ln>
        </p:spPr>
      </p:sp>
      <p:sp>
        <p:nvSpPr>
          <p:cNvPr id="55" name="Text 53"/>
          <p:cNvSpPr txBox="1"/>
          <p:nvPr/>
        </p:nvSpPr>
        <p:spPr>
          <a:xfrm>
            <a:off x="11018520" y="4846320"/>
            <a:ext cx="868680" cy="219456"/>
          </a:xfrm>
          <a:prstGeom prst="rect">
            <a:avLst/>
          </a:prstGeom>
          <a:noFill/>
          <a:ln/>
        </p:spPr>
        <p:txBody>
          <a:bodyPr wrap="square" lIns="508" tIns="508" rIns="508" bIns="508"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p:txBody>
      </p:sp>
      <p:sp>
        <p:nvSpPr>
          <p:cNvPr id="56" name="Shape 54"/>
          <p:cNvSpPr/>
          <p:nvPr/>
        </p:nvSpPr>
        <p:spPr>
          <a:xfrm>
            <a:off x="8170164" y="2089404"/>
            <a:ext cx="118872" cy="118872"/>
          </a:xfrm>
          <a:prstGeom prst="rect">
            <a:avLst/>
          </a:prstGeom>
          <a:solidFill>
            <a:srgbClr val="C56A2C"/>
          </a:solidFill>
          <a:ln w="6350">
            <a:solidFill>
              <a:srgbClr val="FFFFFF"/>
            </a:solidFill>
            <a:prstDash val="solid"/>
          </a:ln>
        </p:spPr>
      </p:sp>
      <p:sp>
        <p:nvSpPr>
          <p:cNvPr id="57" name="Text 55"/>
          <p:cNvSpPr txBox="1"/>
          <p:nvPr/>
        </p:nvSpPr>
        <p:spPr>
          <a:xfrm>
            <a:off x="7333488" y="2039112"/>
            <a:ext cx="868680" cy="219456"/>
          </a:xfrm>
          <a:prstGeom prst="rect">
            <a:avLst/>
          </a:prstGeom>
          <a:noFill/>
          <a:ln/>
        </p:spPr>
        <p:txBody>
          <a:bodyPr wrap="square" lIns="508" tIns="508" rIns="508" bIns="508"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(75,10)</a:t>
            </a:r>
            <a:endParaRPr lang="en-US" sz="900" dirty="0"/>
          </a:p>
        </p:txBody>
      </p:sp>
      <p:sp>
        <p:nvSpPr>
          <p:cNvPr id="58" name="Shape 56"/>
          <p:cNvSpPr/>
          <p:nvPr/>
        </p:nvSpPr>
        <p:spPr>
          <a:xfrm>
            <a:off x="10913364" y="2089404"/>
            <a:ext cx="118872" cy="118872"/>
          </a:xfrm>
          <a:prstGeom prst="rect">
            <a:avLst/>
          </a:prstGeom>
          <a:solidFill>
            <a:srgbClr val="C56A2C"/>
          </a:solidFill>
          <a:ln w="6350">
            <a:solidFill>
              <a:srgbClr val="FFFFFF"/>
            </a:solidFill>
            <a:prstDash val="solid"/>
          </a:ln>
        </p:spPr>
      </p:sp>
      <p:sp>
        <p:nvSpPr>
          <p:cNvPr id="59" name="Text 57"/>
          <p:cNvSpPr txBox="1"/>
          <p:nvPr/>
        </p:nvSpPr>
        <p:spPr>
          <a:xfrm>
            <a:off x="11018520" y="2039112"/>
            <a:ext cx="868680" cy="219456"/>
          </a:xfrm>
          <a:prstGeom prst="rect">
            <a:avLst/>
          </a:prstGeom>
          <a:noFill/>
          <a:ln/>
        </p:spPr>
        <p:txBody>
          <a:bodyPr wrap="square" lIns="508" tIns="508" rIns="508" bIns="508"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(75,25)</a:t>
            </a:r>
            <a:endParaRPr lang="en-US" sz="900" dirty="0"/>
          </a:p>
        </p:txBody>
      </p:sp>
      <p:sp>
        <p:nvSpPr>
          <p:cNvPr id="60" name="Text 58"/>
          <p:cNvSpPr txBox="1"/>
          <p:nvPr/>
        </p:nvSpPr>
        <p:spPr>
          <a:xfrm>
            <a:off x="8229600" y="4983480"/>
            <a:ext cx="109728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v＝0.267</a:t>
            </a:r>
            <a:endParaRPr lang="en-US" sz="900" dirty="0"/>
          </a:p>
        </p:txBody>
      </p:sp>
      <p:sp>
        <p:nvSpPr>
          <p:cNvPr id="61" name="Text 59"/>
          <p:cNvSpPr txBox="1"/>
          <p:nvPr/>
        </p:nvSpPr>
        <p:spPr>
          <a:xfrm>
            <a:off x="9326880" y="4983480"/>
            <a:ext cx="1645920" cy="219456"/>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D方向 →</a:t>
            </a:r>
            <a:endParaRPr lang="en-US" sz="900" dirty="0"/>
          </a:p>
        </p:txBody>
      </p:sp>
      <p:sp>
        <p:nvSpPr>
          <p:cNvPr id="62" name="Text 60"/>
          <p:cNvSpPr txBox="1"/>
          <p:nvPr/>
        </p:nvSpPr>
        <p:spPr>
          <a:xfrm>
            <a:off x="7479792" y="4409237"/>
            <a:ext cx="731520" cy="219456"/>
          </a:xfrm>
          <a:prstGeom prst="rect">
            <a:avLst/>
          </a:prstGeom>
          <a:noFill/>
          <a:ln/>
        </p:spPr>
        <p:txBody>
          <a:bodyPr wrap="square" lIns="508" tIns="508" rIns="508" bIns="508" rtlCol="0" anchor="t"/>
          <a:lstStyle/>
          <a:p>
            <a:pPr algn="r" indent="0" marL="0">
              <a:buNone/>
            </a:pPr>
            <a:r>
              <a:rPr lang="en-US" sz="900" b="1" dirty="0">
                <a:solidFill>
                  <a:srgbClr val="C56A2C"/>
                </a:solidFill>
                <a:latin typeface="Yu Gothic" pitchFamily="34" charset="0"/>
                <a:ea typeface="Yu Gothic" pitchFamily="34" charset="-122"/>
                <a:cs typeface="Yu Gothic" pitchFamily="34" charset="-120"/>
              </a:rPr>
              <a:t>u＝0.236</a:t>
            </a:r>
            <a:endParaRPr lang="en-US" sz="900" dirty="0"/>
          </a:p>
        </p:txBody>
      </p:sp>
      <p:sp>
        <p:nvSpPr>
          <p:cNvPr id="63" name="Text 61"/>
          <p:cNvSpPr txBox="1"/>
          <p:nvPr/>
        </p:nvSpPr>
        <p:spPr>
          <a:xfrm>
            <a:off x="7479792" y="3246120"/>
            <a:ext cx="731520" cy="219456"/>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↑A方向</a:t>
            </a:r>
            <a:endParaRPr lang="en-US" sz="900" dirty="0"/>
          </a:p>
        </p:txBody>
      </p:sp>
      <p:sp>
        <p:nvSpPr>
          <p:cNvPr id="64" name="Text 62"/>
          <p:cNvSpPr txBox="1"/>
          <p:nvPr/>
        </p:nvSpPr>
        <p:spPr>
          <a:xfrm>
            <a:off x="7543800" y="5349240"/>
            <a:ext cx="406908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 入力 (A 55.9, D 14)。入力が近い隅ほど、その反対側の長方形が大きくなり、重みが大きい。</a:t>
            </a:r>
            <a:endParaRPr lang="en-US" sz="9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計算過程②：A＝55.9m・D＝14m の計算を5帯すべてで示す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保存済み4配置の値（kWh/m²・年間）に重みを掛けて足す。中央建物は高さ50mのままで、壁を55.9mまで計算するわけではない。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24 / 41</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6766560" cy="914400"/>
        </p:xfrm>
        <a:graphic>
          <a:graphicData uri="http://schemas.openxmlformats.org/drawingml/2006/table">
            <a:tbl>
              <a:tblPr/>
              <a:tblGrid>
                <a:gridCol w="1234440"/>
                <a:gridCol w="1097280"/>
                <a:gridCol w="1097280"/>
                <a:gridCol w="1097280"/>
                <a:gridCol w="1097280"/>
                <a:gridCol w="1143000"/>
              </a:tblGrid>
              <a:tr h="33832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高さ帯 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予測値 ŷk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38328">
                <a:tc>
                  <a:txBody>
                    <a:bodyPr/>
                    <a:lstStyle/>
                    <a:p>
                      <a:pPr algn="l" indent="0" marL="0">
                        <a:buNone/>
                      </a:pPr>
                      <a:r>
                        <a:rPr lang="en-US" sz="1050" b="1" dirty="0">
                          <a:solidFill>
                            <a:srgbClr val="1F6F78"/>
                          </a:solidFill>
                          <a:latin typeface="Yu Gothic" pitchFamily="34" charset="0"/>
                          <a:ea typeface="Yu Gothic" pitchFamily="34" charset="-122"/>
                          <a:cs typeface="Yu Gothic" pitchFamily="34" charset="-120"/>
                        </a:rPr>
                        <a:t>重み w</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0.56027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0.17307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0.20373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0.06293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6F78"/>
                          </a:solidFill>
                          <a:latin typeface="Yu Gothic" pitchFamily="34" charset="0"/>
                          <a:ea typeface="Yu Gothic" pitchFamily="34" charset="-122"/>
                          <a:cs typeface="Yu Gothic" pitchFamily="34" charset="-120"/>
                        </a:rPr>
                        <a:t>合計 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337.34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319.89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589.57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535.49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398.18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10〜20m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351.22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320.20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631.33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561.20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416.13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20〜30m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382.57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323.60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697.92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585.75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449.40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30〜40m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485.55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348.50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873.24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603.63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548.25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40〜50m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867.14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357.95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1006.93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660.25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794.48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南面全体の平均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56A2C"/>
                          </a:solidFill>
                          <a:latin typeface="Yu Gothic" pitchFamily="34" charset="0"/>
                          <a:ea typeface="Yu Gothic" pitchFamily="34" charset="-122"/>
                          <a:cs typeface="Yu Gothic" pitchFamily="34" charset="-120"/>
                        </a:rPr>
                        <a:t>521.29</a:t>
                      </a:r>
                      <a:endParaRPr lang="en-US" sz="12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11" name="Shape 8"/>
          <p:cNvSpPr/>
          <p:nvPr/>
        </p:nvSpPr>
        <p:spPr>
          <a:xfrm>
            <a:off x="457200" y="4343400"/>
            <a:ext cx="6766560" cy="1965960"/>
          </a:xfrm>
          <a:prstGeom prst="roundRect">
            <a:avLst>
              <a:gd name="adj" fmla="val 2791"/>
            </a:avLst>
          </a:prstGeom>
          <a:solidFill>
            <a:srgbClr val="1B2A44"/>
          </a:solidFill>
          <a:ln/>
        </p:spPr>
      </p:sp>
      <p:sp>
        <p:nvSpPr>
          <p:cNvPr id="12" name="Text 9"/>
          <p:cNvSpPr txBox="1"/>
          <p:nvPr/>
        </p:nvSpPr>
        <p:spPr>
          <a:xfrm>
            <a:off x="640080" y="4416552"/>
            <a:ext cx="45720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例：0〜10m帯（k＝1）</a:t>
            </a:r>
            <a:endParaRPr lang="en-US" sz="1100" dirty="0"/>
          </a:p>
        </p:txBody>
      </p:sp>
      <p:sp>
        <p:nvSpPr>
          <p:cNvPr id="13" name="Text 10"/>
          <p:cNvSpPr txBox="1"/>
          <p:nvPr/>
        </p:nvSpPr>
        <p:spPr>
          <a:xfrm>
            <a:off x="640080" y="4681728"/>
            <a:ext cx="6446520" cy="1600200"/>
          </a:xfrm>
          <a:prstGeom prst="rect">
            <a:avLst/>
          </a:prstGeom>
          <a:noFill/>
          <a:ln/>
        </p:spPr>
        <p:txBody>
          <a:bodyPr wrap="square" lIns="508" tIns="508" rIns="508" bIns="508" rtlCol="0" anchor="t"/>
          <a:lstStyle/>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ŷ</a:t>
            </a:r>
            <a:pPr indent="0" marL="0">
              <a:lnSpc>
                <a:spcPct val="110000"/>
              </a:lnSpc>
              <a:buNone/>
            </a:pPr>
            <a:r>
              <a:rPr lang="en-US" sz="1100" b="1" baseline="-40000" dirty="0">
                <a:solidFill>
                  <a:srgbClr val="FFFFFF"/>
                </a:solidFill>
                <a:latin typeface="Yu Gothic" pitchFamily="34" charset="0"/>
                <a:ea typeface="Yu Gothic" pitchFamily="34" charset="-122"/>
                <a:cs typeface="Yu Gothic" pitchFamily="34" charset="-120"/>
              </a:rPr>
              <a:t>1</a:t>
            </a:r>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0.56027×337.34 ＋ 0.17307×319.89</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0.20373×589.57 ＋ 0.06293×535.49</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189.00 ＋ 55.36 ＋ 120.12 ＋ 33.70 ＝ 398.18 kWh/m²</a:t>
            </a:r>
            <a:endParaRPr lang="en-US" sz="1100" dirty="0"/>
          </a:p>
          <a:p>
            <a:pPr indent="0" marL="0">
              <a:lnSpc>
                <a:spcPct val="110000"/>
              </a:lnSpc>
              <a:buNone/>
            </a:pPr>
            <a:r>
              <a:rPr lang="en-US" sz="950" b="1" dirty="0">
                <a:solidFill>
                  <a:srgbClr val="CADCFC"/>
                </a:solidFill>
                <a:latin typeface="Yu Gothic" pitchFamily="34" charset="0"/>
                <a:ea typeface="Yu Gothic" pitchFamily="34" charset="-122"/>
                <a:cs typeface="Yu Gothic" pitchFamily="34" charset="-120"/>
              </a:rPr>
              <a:t>残りの4帯も同じ4つの重みで、掛ける保存値だけを変える</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ŷ</a:t>
            </a:r>
            <a:pPr indent="0" marL="0">
              <a:lnSpc>
                <a:spcPct val="110000"/>
              </a:lnSpc>
              <a:buNone/>
            </a:pPr>
            <a:r>
              <a:rPr lang="en-US" sz="1100" b="1" baseline="-40000" dirty="0">
                <a:solidFill>
                  <a:srgbClr val="FFFFFF"/>
                </a:solidFill>
                <a:latin typeface="Yu Gothic" pitchFamily="34" charset="0"/>
                <a:ea typeface="Yu Gothic" pitchFamily="34" charset="-122"/>
                <a:cs typeface="Yu Gothic" pitchFamily="34" charset="-120"/>
              </a:rPr>
              <a:t>平均</a:t>
            </a:r>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(398.18＋416.13＋449.40＋548.25＋794.48) / 5 ＝ 521.29 kWh/m²</a:t>
            </a:r>
            <a:endParaRPr lang="en-US" sz="1100" dirty="0"/>
          </a:p>
        </p:txBody>
      </p:sp>
      <p:sp>
        <p:nvSpPr>
          <p:cNvPr id="14" name="Shape 11"/>
          <p:cNvSpPr/>
          <p:nvPr/>
        </p:nvSpPr>
        <p:spPr>
          <a:xfrm>
            <a:off x="7498080" y="1481328"/>
            <a:ext cx="4251960" cy="3291840"/>
          </a:xfrm>
          <a:prstGeom prst="roundRect">
            <a:avLst>
              <a:gd name="adj" fmla="val 1667"/>
            </a:avLst>
          </a:prstGeom>
          <a:solidFill>
            <a:srgbClr val="F3F5F8"/>
          </a:solidFill>
          <a:ln/>
        </p:spPr>
      </p:sp>
      <p:sp>
        <p:nvSpPr>
          <p:cNvPr id="15" name="Text 12"/>
          <p:cNvSpPr txBox="1"/>
          <p:nvPr/>
        </p:nvSpPr>
        <p:spPr>
          <a:xfrm>
            <a:off x="7635240" y="1536192"/>
            <a:ext cx="40233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出力：南面5帯の予測値（kWh/m²）</a:t>
            </a:r>
            <a:endParaRPr lang="en-US" sz="1100" dirty="0"/>
          </a:p>
        </p:txBody>
      </p:sp>
      <p:sp>
        <p:nvSpPr>
          <p:cNvPr id="16" name="Text 13"/>
          <p:cNvSpPr txBox="1"/>
          <p:nvPr/>
        </p:nvSpPr>
        <p:spPr>
          <a:xfrm>
            <a:off x="7589520" y="2029968"/>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40〜50m</a:t>
            </a:r>
            <a:endParaRPr lang="en-US" sz="950" dirty="0"/>
          </a:p>
        </p:txBody>
      </p:sp>
      <p:sp>
        <p:nvSpPr>
          <p:cNvPr id="17" name="Shape 14"/>
          <p:cNvSpPr/>
          <p:nvPr/>
        </p:nvSpPr>
        <p:spPr>
          <a:xfrm>
            <a:off x="8412480" y="1993392"/>
            <a:ext cx="2179411" cy="374904"/>
          </a:xfrm>
          <a:prstGeom prst="rect">
            <a:avLst/>
          </a:prstGeom>
          <a:solidFill>
            <a:srgbClr val="D77B35"/>
          </a:solidFill>
          <a:ln/>
        </p:spPr>
      </p:sp>
      <p:sp>
        <p:nvSpPr>
          <p:cNvPr id="18" name="Text 15"/>
          <p:cNvSpPr txBox="1"/>
          <p:nvPr/>
        </p:nvSpPr>
        <p:spPr>
          <a:xfrm>
            <a:off x="10646755" y="2029968"/>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794.48</a:t>
            </a:r>
            <a:endParaRPr lang="en-US" sz="1050" dirty="0"/>
          </a:p>
        </p:txBody>
      </p:sp>
      <p:sp>
        <p:nvSpPr>
          <p:cNvPr id="19" name="Text 16"/>
          <p:cNvSpPr txBox="1"/>
          <p:nvPr/>
        </p:nvSpPr>
        <p:spPr>
          <a:xfrm>
            <a:off x="7589520" y="2551176"/>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30〜40m</a:t>
            </a:r>
            <a:endParaRPr lang="en-US" sz="950" dirty="0"/>
          </a:p>
        </p:txBody>
      </p:sp>
      <p:sp>
        <p:nvSpPr>
          <p:cNvPr id="20" name="Shape 17"/>
          <p:cNvSpPr/>
          <p:nvPr/>
        </p:nvSpPr>
        <p:spPr>
          <a:xfrm>
            <a:off x="8412480" y="2514600"/>
            <a:ext cx="1503952" cy="374904"/>
          </a:xfrm>
          <a:prstGeom prst="rect">
            <a:avLst/>
          </a:prstGeom>
          <a:solidFill>
            <a:srgbClr val="E8934D"/>
          </a:solidFill>
          <a:ln/>
        </p:spPr>
      </p:sp>
      <p:sp>
        <p:nvSpPr>
          <p:cNvPr id="21" name="Text 18"/>
          <p:cNvSpPr txBox="1"/>
          <p:nvPr/>
        </p:nvSpPr>
        <p:spPr>
          <a:xfrm>
            <a:off x="9971296" y="2551176"/>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548.25</a:t>
            </a:r>
            <a:endParaRPr lang="en-US" sz="1050" dirty="0"/>
          </a:p>
        </p:txBody>
      </p:sp>
      <p:sp>
        <p:nvSpPr>
          <p:cNvPr id="22" name="Text 19"/>
          <p:cNvSpPr txBox="1"/>
          <p:nvPr/>
        </p:nvSpPr>
        <p:spPr>
          <a:xfrm>
            <a:off x="7589520" y="3072384"/>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20〜30m</a:t>
            </a:r>
            <a:endParaRPr lang="en-US" sz="950" dirty="0"/>
          </a:p>
        </p:txBody>
      </p:sp>
      <p:sp>
        <p:nvSpPr>
          <p:cNvPr id="23" name="Shape 20"/>
          <p:cNvSpPr/>
          <p:nvPr/>
        </p:nvSpPr>
        <p:spPr>
          <a:xfrm>
            <a:off x="8412480" y="3035808"/>
            <a:ext cx="1232787" cy="374904"/>
          </a:xfrm>
          <a:prstGeom prst="rect">
            <a:avLst/>
          </a:prstGeom>
          <a:solidFill>
            <a:srgbClr val="EEA870"/>
          </a:solidFill>
          <a:ln/>
        </p:spPr>
      </p:sp>
      <p:sp>
        <p:nvSpPr>
          <p:cNvPr id="24" name="Text 21"/>
          <p:cNvSpPr txBox="1"/>
          <p:nvPr/>
        </p:nvSpPr>
        <p:spPr>
          <a:xfrm>
            <a:off x="9700131" y="3072384"/>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449.40</a:t>
            </a:r>
            <a:endParaRPr lang="en-US" sz="1050" dirty="0"/>
          </a:p>
        </p:txBody>
      </p:sp>
      <p:sp>
        <p:nvSpPr>
          <p:cNvPr id="25" name="Text 22"/>
          <p:cNvSpPr txBox="1"/>
          <p:nvPr/>
        </p:nvSpPr>
        <p:spPr>
          <a:xfrm>
            <a:off x="7589520" y="3593592"/>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10〜20m</a:t>
            </a:r>
            <a:endParaRPr lang="en-US" sz="950" dirty="0"/>
          </a:p>
        </p:txBody>
      </p:sp>
      <p:sp>
        <p:nvSpPr>
          <p:cNvPr id="26" name="Shape 23"/>
          <p:cNvSpPr/>
          <p:nvPr/>
        </p:nvSpPr>
        <p:spPr>
          <a:xfrm>
            <a:off x="8412480" y="3557016"/>
            <a:ext cx="1141538" cy="374904"/>
          </a:xfrm>
          <a:prstGeom prst="rect">
            <a:avLst/>
          </a:prstGeom>
          <a:solidFill>
            <a:srgbClr val="F2BE92"/>
          </a:solidFill>
          <a:ln/>
        </p:spPr>
      </p:sp>
      <p:sp>
        <p:nvSpPr>
          <p:cNvPr id="27" name="Text 24"/>
          <p:cNvSpPr txBox="1"/>
          <p:nvPr/>
        </p:nvSpPr>
        <p:spPr>
          <a:xfrm>
            <a:off x="9608882" y="3593592"/>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416.13</a:t>
            </a:r>
            <a:endParaRPr lang="en-US" sz="1050" dirty="0"/>
          </a:p>
        </p:txBody>
      </p:sp>
      <p:sp>
        <p:nvSpPr>
          <p:cNvPr id="28" name="Text 25"/>
          <p:cNvSpPr txBox="1"/>
          <p:nvPr/>
        </p:nvSpPr>
        <p:spPr>
          <a:xfrm>
            <a:off x="7589520" y="4114800"/>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0〜10m</a:t>
            </a:r>
            <a:endParaRPr lang="en-US" sz="950" dirty="0"/>
          </a:p>
        </p:txBody>
      </p:sp>
      <p:sp>
        <p:nvSpPr>
          <p:cNvPr id="29" name="Shape 26"/>
          <p:cNvSpPr/>
          <p:nvPr/>
        </p:nvSpPr>
        <p:spPr>
          <a:xfrm>
            <a:off x="8412480" y="4078224"/>
            <a:ext cx="1092283" cy="374904"/>
          </a:xfrm>
          <a:prstGeom prst="rect">
            <a:avLst/>
          </a:prstGeom>
          <a:solidFill>
            <a:srgbClr val="F6D2B4"/>
          </a:solidFill>
          <a:ln/>
        </p:spPr>
      </p:sp>
      <p:sp>
        <p:nvSpPr>
          <p:cNvPr id="30" name="Text 27"/>
          <p:cNvSpPr txBox="1"/>
          <p:nvPr/>
        </p:nvSpPr>
        <p:spPr>
          <a:xfrm>
            <a:off x="9559627" y="4114800"/>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398.18</a:t>
            </a:r>
            <a:endParaRPr lang="en-US" sz="1050" dirty="0"/>
          </a:p>
        </p:txBody>
      </p:sp>
      <p:sp>
        <p:nvSpPr>
          <p:cNvPr id="31" name="Shape 28"/>
          <p:cNvSpPr/>
          <p:nvPr/>
        </p:nvSpPr>
        <p:spPr>
          <a:xfrm>
            <a:off x="7498080" y="4937760"/>
            <a:ext cx="4251960" cy="1371600"/>
          </a:xfrm>
          <a:prstGeom prst="roundRect">
            <a:avLst>
              <a:gd name="adj" fmla="val 4000"/>
            </a:avLst>
          </a:prstGeom>
          <a:solidFill>
            <a:srgbClr val="FBEBDA"/>
          </a:solidFill>
          <a:ln/>
        </p:spPr>
      </p:sp>
      <p:sp>
        <p:nvSpPr>
          <p:cNvPr id="32" name="Text 29"/>
          <p:cNvSpPr txBox="1"/>
          <p:nvPr/>
        </p:nvSpPr>
        <p:spPr>
          <a:xfrm>
            <a:off x="7635240" y="5029200"/>
            <a:ext cx="397764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この値について注意</a:t>
            </a:r>
            <a:endParaRPr lang="en-US" sz="1100" dirty="0"/>
          </a:p>
        </p:txBody>
      </p:sp>
      <p:sp>
        <p:nvSpPr>
          <p:cNvPr id="33" name="Text 30"/>
          <p:cNvSpPr txBox="1"/>
          <p:nvPr/>
        </p:nvSpPr>
        <p:spPr>
          <a:xfrm>
            <a:off x="7635240" y="5285232"/>
            <a:ext cx="4023360" cy="100584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保存データと式からの計算値。この条件でSEBEを実行していないので、この入力での誤差は不明</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局所改良版はA 25〜50mのため使えず、広範囲版を使う</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521.29は壁1m²当たりの平均。壁全体では×2,500m²</a:t>
            </a:r>
            <a:endParaRPr lang="en-US" sz="9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精度の確かめ方：どのデータを、どの式で評価したか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予測値とSEBE計算値の差を、未使用の配置で数える。評価に使ったデータは、予測方法を作るデータには入れていない。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25 / 41</a:t>
            </a:r>
            <a:endParaRPr lang="en-US" sz="1100" dirty="0"/>
          </a:p>
        </p:txBody>
      </p:sp>
      <p:sp>
        <p:nvSpPr>
          <p:cNvPr id="10" name="Shape 8"/>
          <p:cNvSpPr/>
          <p:nvPr/>
        </p:nvSpPr>
        <p:spPr>
          <a:xfrm>
            <a:off x="457200" y="1481328"/>
            <a:ext cx="1828800" cy="868680"/>
          </a:xfrm>
          <a:prstGeom prst="chevron">
            <a:avLst/>
          </a:prstGeom>
          <a:solidFill>
            <a:srgbClr val="1B2A44"/>
          </a:solidFill>
          <a:ln/>
        </p:spPr>
      </p:sp>
      <p:sp>
        <p:nvSpPr>
          <p:cNvPr id="11" name="Text 9"/>
          <p:cNvSpPr txBox="1"/>
          <p:nvPr/>
        </p:nvSpPr>
        <p:spPr>
          <a:xfrm>
            <a:off x="731520"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学習16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表を作る</a:t>
            </a:r>
            <a:endParaRPr lang="en-US" sz="1100" dirty="0"/>
          </a:p>
        </p:txBody>
      </p:sp>
      <p:sp>
        <p:nvSpPr>
          <p:cNvPr id="12" name="Shape 10"/>
          <p:cNvSpPr/>
          <p:nvPr/>
        </p:nvSpPr>
        <p:spPr>
          <a:xfrm>
            <a:off x="2350008" y="1481328"/>
            <a:ext cx="1828800" cy="868680"/>
          </a:xfrm>
          <a:prstGeom prst="chevron">
            <a:avLst/>
          </a:prstGeom>
          <a:solidFill>
            <a:srgbClr val="1F6F78"/>
          </a:solidFill>
          <a:ln/>
        </p:spPr>
      </p:sp>
      <p:sp>
        <p:nvSpPr>
          <p:cNvPr id="13" name="Text 11"/>
          <p:cNvSpPr txBox="1"/>
          <p:nvPr/>
        </p:nvSpPr>
        <p:spPr>
          <a:xfrm>
            <a:off x="2624328"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検証8</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3手法を比較</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→線形補間</a:t>
            </a:r>
            <a:endParaRPr lang="en-US" sz="1100" dirty="0"/>
          </a:p>
        </p:txBody>
      </p:sp>
      <p:sp>
        <p:nvSpPr>
          <p:cNvPr id="14" name="Shape 12"/>
          <p:cNvSpPr/>
          <p:nvPr/>
        </p:nvSpPr>
        <p:spPr>
          <a:xfrm>
            <a:off x="4242816" y="1481328"/>
            <a:ext cx="1828800" cy="868680"/>
          </a:xfrm>
          <a:prstGeom prst="chevron">
            <a:avLst/>
          </a:prstGeom>
          <a:solidFill>
            <a:srgbClr val="35507D"/>
          </a:solidFill>
          <a:ln/>
        </p:spPr>
      </p:sp>
      <p:sp>
        <p:nvSpPr>
          <p:cNvPr id="15" name="Text 13"/>
          <p:cNvSpPr txBox="1"/>
          <p:nvPr/>
        </p:nvSpPr>
        <p:spPr>
          <a:xfrm>
            <a:off x="4517136"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方法を固定</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ここで決定</a:t>
            </a:r>
            <a:endParaRPr lang="en-US" sz="1100" dirty="0"/>
          </a:p>
        </p:txBody>
      </p:sp>
      <p:sp>
        <p:nvSpPr>
          <p:cNvPr id="16" name="Shape 14"/>
          <p:cNvSpPr/>
          <p:nvPr/>
        </p:nvSpPr>
        <p:spPr>
          <a:xfrm>
            <a:off x="6135624" y="1481328"/>
            <a:ext cx="1828800" cy="868680"/>
          </a:xfrm>
          <a:prstGeom prst="chevron">
            <a:avLst/>
          </a:prstGeom>
          <a:solidFill>
            <a:srgbClr val="E8934D"/>
          </a:solidFill>
          <a:ln/>
        </p:spPr>
      </p:sp>
      <p:sp>
        <p:nvSpPr>
          <p:cNvPr id="17" name="Text 15"/>
          <p:cNvSpPr txBox="1"/>
          <p:nvPr/>
        </p:nvSpPr>
        <p:spPr>
          <a:xfrm>
            <a:off x="6409944"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テスト12</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最終確認</a:t>
            </a:r>
            <a:endParaRPr lang="en-US" sz="1100" dirty="0"/>
          </a:p>
        </p:txBody>
      </p:sp>
      <p:sp>
        <p:nvSpPr>
          <p:cNvPr id="18" name="Shape 16"/>
          <p:cNvSpPr/>
          <p:nvPr/>
        </p:nvSpPr>
        <p:spPr>
          <a:xfrm>
            <a:off x="8028432" y="1481328"/>
            <a:ext cx="1828800" cy="868680"/>
          </a:xfrm>
          <a:prstGeom prst="chevron">
            <a:avLst/>
          </a:prstGeom>
          <a:solidFill>
            <a:srgbClr val="C56A2C"/>
          </a:solidFill>
          <a:ln/>
        </p:spPr>
      </p:sp>
      <p:sp>
        <p:nvSpPr>
          <p:cNvPr id="19" name="Text 17"/>
          <p:cNvSpPr txBox="1"/>
          <p:nvPr/>
        </p:nvSpPr>
        <p:spPr>
          <a:xfrm>
            <a:off x="8302752"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追加5</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弱点を補強</a:t>
            </a:r>
            <a:endParaRPr lang="en-US" sz="1100" dirty="0"/>
          </a:p>
        </p:txBody>
      </p:sp>
      <p:sp>
        <p:nvSpPr>
          <p:cNvPr id="20" name="Shape 18"/>
          <p:cNvSpPr/>
          <p:nvPr/>
        </p:nvSpPr>
        <p:spPr>
          <a:xfrm>
            <a:off x="9921240" y="1481328"/>
            <a:ext cx="1828800" cy="868680"/>
          </a:xfrm>
          <a:prstGeom prst="chevron">
            <a:avLst/>
          </a:prstGeom>
          <a:solidFill>
            <a:srgbClr val="4C8C6B"/>
          </a:solidFill>
          <a:ln/>
        </p:spPr>
      </p:sp>
      <p:sp>
        <p:nvSpPr>
          <p:cNvPr id="21" name="Text 19"/>
          <p:cNvSpPr txBox="1"/>
          <p:nvPr/>
        </p:nvSpPr>
        <p:spPr>
          <a:xfrm>
            <a:off x="10195560"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局所テスト6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改良前後を比較</a:t>
            </a:r>
            <a:endParaRPr lang="en-US" sz="1100" dirty="0"/>
          </a:p>
        </p:txBody>
      </p:sp>
      <p:sp>
        <p:nvSpPr>
          <p:cNvPr id="22" name="Shape 20"/>
          <p:cNvSpPr/>
          <p:nvPr/>
        </p:nvSpPr>
        <p:spPr>
          <a:xfrm>
            <a:off x="457200" y="2606040"/>
            <a:ext cx="5120640" cy="3703320"/>
          </a:xfrm>
          <a:prstGeom prst="roundRect">
            <a:avLst>
              <a:gd name="adj" fmla="val 1481"/>
            </a:avLst>
          </a:prstGeom>
          <a:solidFill>
            <a:srgbClr val="F3F5F8"/>
          </a:solidFill>
          <a:ln/>
        </p:spPr>
      </p:sp>
      <p:sp>
        <p:nvSpPr>
          <p:cNvPr id="23" name="Text 21"/>
          <p:cNvSpPr txBox="1"/>
          <p:nvPr/>
        </p:nvSpPr>
        <p:spPr>
          <a:xfrm>
            <a:off x="594360" y="2670048"/>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評価に使った式（N＝比べた値の数）</a:t>
            </a:r>
            <a:endParaRPr lang="en-US" sz="1150" dirty="0"/>
          </a:p>
        </p:txBody>
      </p:sp>
      <p:sp>
        <p:nvSpPr>
          <p:cNvPr id="24" name="Text 22"/>
          <p:cNvSpPr txBox="1"/>
          <p:nvPr/>
        </p:nvSpPr>
        <p:spPr>
          <a:xfrm>
            <a:off x="594360" y="3035808"/>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誤差</a:t>
            </a:r>
            <a:endParaRPr lang="en-US" sz="1000" dirty="0"/>
          </a:p>
        </p:txBody>
      </p:sp>
      <p:sp>
        <p:nvSpPr>
          <p:cNvPr id="25" name="Text 23"/>
          <p:cNvSpPr txBox="1"/>
          <p:nvPr/>
        </p:nvSpPr>
        <p:spPr>
          <a:xfrm>
            <a:off x="594360" y="3264408"/>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e</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endParaRPr lang="en-US" sz="1250" dirty="0"/>
          </a:p>
        </p:txBody>
      </p:sp>
      <p:sp>
        <p:nvSpPr>
          <p:cNvPr id="26" name="Text 24"/>
          <p:cNvSpPr txBox="1"/>
          <p:nvPr/>
        </p:nvSpPr>
        <p:spPr>
          <a:xfrm>
            <a:off x="594360" y="3538728"/>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ŷ：予測値，y：SEBE計算値</a:t>
            </a:r>
            <a:endParaRPr lang="en-US" sz="900" dirty="0"/>
          </a:p>
        </p:txBody>
      </p:sp>
      <p:sp>
        <p:nvSpPr>
          <p:cNvPr id="27" name="Text 25"/>
          <p:cNvSpPr txBox="1"/>
          <p:nvPr/>
        </p:nvSpPr>
        <p:spPr>
          <a:xfrm>
            <a:off x="594360" y="3840480"/>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平均絶対誤差</a:t>
            </a:r>
            <a:endParaRPr lang="en-US" sz="1000" dirty="0"/>
          </a:p>
        </p:txBody>
      </p:sp>
      <p:sp>
        <p:nvSpPr>
          <p:cNvPr id="28" name="Text 26"/>
          <p:cNvSpPr txBox="1"/>
          <p:nvPr/>
        </p:nvSpPr>
        <p:spPr>
          <a:xfrm>
            <a:off x="594360" y="4069080"/>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MAE ＝ (1/N) Σ</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N</a:t>
            </a:r>
            <a:pPr indent="0" marL="0">
              <a:buNone/>
            </a:pPr>
            <a:r>
              <a:rPr lang="en-US" sz="1250" b="1" dirty="0">
                <a:solidFill>
                  <a:srgbClr val="1B2A44"/>
                </a:solidFill>
                <a:latin typeface="Yu Gothic" pitchFamily="34" charset="0"/>
                <a:ea typeface="Yu Gothic" pitchFamily="34" charset="-122"/>
                <a:cs typeface="Yu Gothic" pitchFamily="34" charset="-120"/>
              </a:rPr>
              <a:t>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a:t>
            </a:r>
            <a:endParaRPr lang="en-US" sz="1250" dirty="0"/>
          </a:p>
        </p:txBody>
      </p:sp>
      <p:sp>
        <p:nvSpPr>
          <p:cNvPr id="29" name="Text 27"/>
          <p:cNvSpPr txBox="1"/>
          <p:nvPr/>
        </p:nvSpPr>
        <p:spPr>
          <a:xfrm>
            <a:off x="594360" y="4343400"/>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 kWh/m²。ずれの大きさの平均</a:t>
            </a:r>
            <a:endParaRPr lang="en-US" sz="900" dirty="0"/>
          </a:p>
        </p:txBody>
      </p:sp>
      <p:sp>
        <p:nvSpPr>
          <p:cNvPr id="30" name="Text 28"/>
          <p:cNvSpPr txBox="1"/>
          <p:nvPr/>
        </p:nvSpPr>
        <p:spPr>
          <a:xfrm>
            <a:off x="594360" y="4645152"/>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平均誤差率</a:t>
            </a:r>
            <a:endParaRPr lang="en-US" sz="1000" dirty="0"/>
          </a:p>
        </p:txBody>
      </p:sp>
      <p:sp>
        <p:nvSpPr>
          <p:cNvPr id="31" name="Text 29"/>
          <p:cNvSpPr txBox="1"/>
          <p:nvPr/>
        </p:nvSpPr>
        <p:spPr>
          <a:xfrm>
            <a:off x="594360" y="4873752"/>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MAPE ＝ (100/N) Σ</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N</a:t>
            </a:r>
            <a:pPr indent="0" marL="0">
              <a:buNone/>
            </a:pPr>
            <a:r>
              <a:rPr lang="en-US" sz="1250" b="1" dirty="0">
                <a:solidFill>
                  <a:srgbClr val="1B2A44"/>
                </a:solidFill>
                <a:latin typeface="Yu Gothic" pitchFamily="34" charset="0"/>
                <a:ea typeface="Yu Gothic" pitchFamily="34" charset="-122"/>
                <a:cs typeface="Yu Gothic" pitchFamily="34" charset="-120"/>
              </a:rPr>
              <a:t>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endParaRPr lang="en-US" sz="1250" dirty="0"/>
          </a:p>
        </p:txBody>
      </p:sp>
      <p:sp>
        <p:nvSpPr>
          <p:cNvPr id="32" name="Text 30"/>
          <p:cNvSpPr txBox="1"/>
          <p:nvPr/>
        </p:nvSpPr>
        <p:spPr>
          <a:xfrm>
            <a:off x="594360" y="5148072"/>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 %。値の大きさに対するずれ</a:t>
            </a:r>
            <a:endParaRPr lang="en-US" sz="900" dirty="0"/>
          </a:p>
        </p:txBody>
      </p:sp>
      <p:sp>
        <p:nvSpPr>
          <p:cNvPr id="33" name="Text 31"/>
          <p:cNvSpPr txBox="1"/>
          <p:nvPr/>
        </p:nvSpPr>
        <p:spPr>
          <a:xfrm>
            <a:off x="594360" y="5449824"/>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最大誤差率</a:t>
            </a:r>
            <a:endParaRPr lang="en-US" sz="1000" dirty="0"/>
          </a:p>
        </p:txBody>
      </p:sp>
      <p:sp>
        <p:nvSpPr>
          <p:cNvPr id="34" name="Text 32"/>
          <p:cNvSpPr txBox="1"/>
          <p:nvPr/>
        </p:nvSpPr>
        <p:spPr>
          <a:xfrm>
            <a:off x="594360" y="5678424"/>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max</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( 100 ×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a:t>
            </a:r>
            <a:endParaRPr lang="en-US" sz="1250" dirty="0"/>
          </a:p>
        </p:txBody>
      </p:sp>
      <p:sp>
        <p:nvSpPr>
          <p:cNvPr id="35" name="Text 33"/>
          <p:cNvSpPr txBox="1"/>
          <p:nvPr/>
        </p:nvSpPr>
        <p:spPr>
          <a:xfrm>
            <a:off x="594360" y="5952744"/>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最も外れた1件</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06440" y="2606040"/>
          <a:ext cx="5943600" cy="914400"/>
        </p:xfrm>
        <a:graphic>
          <a:graphicData uri="http://schemas.openxmlformats.org/drawingml/2006/table">
            <a:tbl>
              <a:tblPr/>
              <a:tblGrid>
                <a:gridCol w="1508760"/>
                <a:gridCol w="1874520"/>
                <a:gridCol w="457200"/>
                <a:gridCol w="2103120"/>
              </a:tblGrid>
              <a:tr h="38404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評価の目的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使ったデータ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N</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結果</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手法の比較（検証）</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検証8配置・全体平均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 MAE 19.99・2.67%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最終確認（テスト）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テスト12配置・全体平均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MAE 18.40・2.42%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高さ帯別の弱点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検証8配置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30〜40m帯 MAE 38.56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局所テスト6配置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MAE 43.50 → 17.81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7" name="Shape 34"/>
          <p:cNvSpPr/>
          <p:nvPr/>
        </p:nvSpPr>
        <p:spPr>
          <a:xfrm>
            <a:off x="5806440" y="4663440"/>
            <a:ext cx="5943600" cy="1645920"/>
          </a:xfrm>
          <a:prstGeom prst="roundRect">
            <a:avLst>
              <a:gd name="adj" fmla="val 3333"/>
            </a:avLst>
          </a:prstGeom>
          <a:solidFill>
            <a:srgbClr val="FBEBDA"/>
          </a:solidFill>
          <a:ln/>
        </p:spPr>
      </p:sp>
      <p:sp>
        <p:nvSpPr>
          <p:cNvPr id="38" name="Text 35"/>
          <p:cNvSpPr txBox="1"/>
          <p:nvPr/>
        </p:nvSpPr>
        <p:spPr>
          <a:xfrm>
            <a:off x="5943600" y="4754880"/>
            <a:ext cx="566928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39" name="Text 36"/>
          <p:cNvSpPr txBox="1"/>
          <p:nvPr/>
        </p:nvSpPr>
        <p:spPr>
          <a:xfrm>
            <a:off x="5943600" y="5010912"/>
            <a:ext cx="5669280" cy="1261872"/>
          </a:xfrm>
          <a:prstGeom prst="rect">
            <a:avLst/>
          </a:prstGeom>
          <a:noFill/>
          <a:ln/>
        </p:spPr>
        <p:txBody>
          <a:bodyPr wrap="square" lIns="508" tIns="508" rIns="508" bIns="508" rtlCol="0" anchor="t"/>
          <a:lstStyle/>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 5帯」のNは値の数で、配置の数ではない（検証40個＝8配置）</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高さ帯別の分析は、新しい40配置をテストしたのではなく、検証8配置を帯ごとに集計し直したもの</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数値はSEBEとの比較。実測日射量や発電量の精度ではない</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計算例②：誤差・誤差率・MAE に実際の値を入れる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代表値として、検証8配置で最も誤差が大きかった A＝35m・D＝15m の 30〜40m 帯を使う。</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26 / 41</a:t>
            </a:r>
            <a:endParaRPr lang="en-US" sz="1100" dirty="0"/>
          </a:p>
        </p:txBody>
      </p:sp>
      <p:sp>
        <p:nvSpPr>
          <p:cNvPr id="10" name="Shape 8"/>
          <p:cNvSpPr/>
          <p:nvPr/>
        </p:nvSpPr>
        <p:spPr>
          <a:xfrm>
            <a:off x="457200" y="1481328"/>
            <a:ext cx="3931920" cy="4828032"/>
          </a:xfrm>
          <a:prstGeom prst="roundRect">
            <a:avLst>
              <a:gd name="adj" fmla="val 1395"/>
            </a:avLst>
          </a:prstGeom>
          <a:solidFill>
            <a:srgbClr val="F3F5F8"/>
          </a:solidFill>
          <a:ln/>
        </p:spPr>
      </p:sp>
      <p:sp>
        <p:nvSpPr>
          <p:cNvPr id="11" name="Text 9"/>
          <p:cNvSpPr txBox="1"/>
          <p:nvPr/>
        </p:nvSpPr>
        <p:spPr>
          <a:xfrm>
            <a:off x="594360" y="1536192"/>
            <a:ext cx="36576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A＝35m・D＝15m，30〜40m帯</a:t>
            </a:r>
            <a:endParaRPr lang="en-US" sz="1150" dirty="0"/>
          </a:p>
        </p:txBody>
      </p:sp>
      <p:sp>
        <p:nvSpPr>
          <p:cNvPr id="12" name="Shape 10"/>
          <p:cNvSpPr/>
          <p:nvPr/>
        </p:nvSpPr>
        <p:spPr>
          <a:xfrm>
            <a:off x="1005840" y="2634204"/>
            <a:ext cx="1005840" cy="3035076"/>
          </a:xfrm>
          <a:prstGeom prst="rect">
            <a:avLst/>
          </a:prstGeom>
          <a:solidFill>
            <a:srgbClr val="1F6F78"/>
          </a:solidFill>
          <a:ln/>
        </p:spPr>
      </p:sp>
      <p:sp>
        <p:nvSpPr>
          <p:cNvPr id="13" name="Text 11"/>
          <p:cNvSpPr txBox="1"/>
          <p:nvPr/>
        </p:nvSpPr>
        <p:spPr>
          <a:xfrm>
            <a:off x="822960" y="2341596"/>
            <a:ext cx="1371600" cy="274320"/>
          </a:xfrm>
          <a:prstGeom prst="rect">
            <a:avLst/>
          </a:prstGeom>
          <a:noFill/>
          <a:ln/>
        </p:spPr>
        <p:txBody>
          <a:bodyPr wrap="square" lIns="508" tIns="508" rIns="508" bIns="508" rtlCol="0" anchor="t"/>
          <a:lstStyle/>
          <a:p>
            <a:pPr algn="ctr" indent="0" marL="0">
              <a:buNone/>
            </a:pPr>
            <a:r>
              <a:rPr lang="en-US" sz="1300" b="1" dirty="0">
                <a:solidFill>
                  <a:srgbClr val="1B2A44"/>
                </a:solidFill>
                <a:latin typeface="Yu Gothic" pitchFamily="34" charset="0"/>
                <a:ea typeface="Yu Gothic" pitchFamily="34" charset="-122"/>
                <a:cs typeface="Yu Gothic" pitchFamily="34" charset="-120"/>
              </a:rPr>
              <a:t>1014.20</a:t>
            </a:r>
            <a:endParaRPr lang="en-US" sz="1300" dirty="0"/>
          </a:p>
        </p:txBody>
      </p:sp>
      <p:sp>
        <p:nvSpPr>
          <p:cNvPr id="14" name="Text 12"/>
          <p:cNvSpPr txBox="1"/>
          <p:nvPr/>
        </p:nvSpPr>
        <p:spPr>
          <a:xfrm>
            <a:off x="731520" y="5715000"/>
            <a:ext cx="1554480" cy="27432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SEBE（正解値）y</a:t>
            </a:r>
            <a:endParaRPr lang="en-US" sz="1000" dirty="0"/>
          </a:p>
        </p:txBody>
      </p:sp>
      <p:sp>
        <p:nvSpPr>
          <p:cNvPr id="15" name="Shape 13"/>
          <p:cNvSpPr/>
          <p:nvPr/>
        </p:nvSpPr>
        <p:spPr>
          <a:xfrm>
            <a:off x="2560320" y="3091889"/>
            <a:ext cx="1005840" cy="2577391"/>
          </a:xfrm>
          <a:prstGeom prst="rect">
            <a:avLst/>
          </a:prstGeom>
          <a:solidFill>
            <a:srgbClr val="E8934D"/>
          </a:solidFill>
          <a:ln/>
        </p:spPr>
      </p:sp>
      <p:sp>
        <p:nvSpPr>
          <p:cNvPr id="16" name="Text 14"/>
          <p:cNvSpPr txBox="1"/>
          <p:nvPr/>
        </p:nvSpPr>
        <p:spPr>
          <a:xfrm>
            <a:off x="2377440" y="2799281"/>
            <a:ext cx="1371600" cy="274320"/>
          </a:xfrm>
          <a:prstGeom prst="rect">
            <a:avLst/>
          </a:prstGeom>
          <a:noFill/>
          <a:ln/>
        </p:spPr>
        <p:txBody>
          <a:bodyPr wrap="square" lIns="508" tIns="508" rIns="508" bIns="508" rtlCol="0" anchor="t"/>
          <a:lstStyle/>
          <a:p>
            <a:pPr algn="ctr" indent="0" marL="0">
              <a:buNone/>
            </a:pPr>
            <a:r>
              <a:rPr lang="en-US" sz="1300" b="1" dirty="0">
                <a:solidFill>
                  <a:srgbClr val="1B2A44"/>
                </a:solidFill>
                <a:latin typeface="Yu Gothic" pitchFamily="34" charset="0"/>
                <a:ea typeface="Yu Gothic" pitchFamily="34" charset="-122"/>
                <a:cs typeface="Yu Gothic" pitchFamily="34" charset="-120"/>
              </a:rPr>
              <a:t>861.26</a:t>
            </a:r>
            <a:endParaRPr lang="en-US" sz="1300" dirty="0"/>
          </a:p>
        </p:txBody>
      </p:sp>
      <p:sp>
        <p:nvSpPr>
          <p:cNvPr id="17" name="Text 15"/>
          <p:cNvSpPr txBox="1"/>
          <p:nvPr/>
        </p:nvSpPr>
        <p:spPr>
          <a:xfrm>
            <a:off x="2286000" y="5715000"/>
            <a:ext cx="1554480" cy="27432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予測値 ŷ</a:t>
            </a:r>
            <a:endParaRPr lang="en-US" sz="1000" dirty="0"/>
          </a:p>
        </p:txBody>
      </p:sp>
      <p:sp>
        <p:nvSpPr>
          <p:cNvPr id="18" name="Shape 16"/>
          <p:cNvSpPr/>
          <p:nvPr/>
        </p:nvSpPr>
        <p:spPr>
          <a:xfrm>
            <a:off x="731520" y="5669280"/>
            <a:ext cx="3383280" cy="91"/>
          </a:xfrm>
          <a:prstGeom prst="line">
            <a:avLst/>
          </a:prstGeom>
          <a:noFill/>
          <a:ln w="12700">
            <a:solidFill>
              <a:srgbClr val="6B7480"/>
            </a:solidFill>
            <a:prstDash val="solid"/>
          </a:ln>
        </p:spPr>
      </p:sp>
      <p:sp>
        <p:nvSpPr>
          <p:cNvPr id="19" name="Shape 17"/>
          <p:cNvSpPr/>
          <p:nvPr/>
        </p:nvSpPr>
        <p:spPr>
          <a:xfrm>
            <a:off x="2560320" y="2634204"/>
            <a:ext cx="1371600" cy="91"/>
          </a:xfrm>
          <a:prstGeom prst="line">
            <a:avLst/>
          </a:prstGeom>
          <a:noFill/>
          <a:ln w="9525">
            <a:solidFill>
              <a:srgbClr val="B04A3F"/>
            </a:solidFill>
            <a:prstDash val="dash"/>
          </a:ln>
        </p:spPr>
      </p:sp>
      <p:sp>
        <p:nvSpPr>
          <p:cNvPr id="20" name="Shape 18"/>
          <p:cNvSpPr/>
          <p:nvPr/>
        </p:nvSpPr>
        <p:spPr>
          <a:xfrm>
            <a:off x="3840480" y="2634204"/>
            <a:ext cx="91" cy="457685"/>
          </a:xfrm>
          <a:prstGeom prst="line">
            <a:avLst/>
          </a:prstGeom>
          <a:noFill/>
          <a:ln w="19050">
            <a:solidFill>
              <a:srgbClr val="B04A3F"/>
            </a:solidFill>
            <a:prstDash val="solid"/>
            <a:headEnd type="triangle"/>
            <a:tailEnd type="triangle"/>
          </a:ln>
        </p:spPr>
      </p:sp>
      <p:sp>
        <p:nvSpPr>
          <p:cNvPr id="21" name="Text 19"/>
          <p:cNvSpPr txBox="1"/>
          <p:nvPr/>
        </p:nvSpPr>
        <p:spPr>
          <a:xfrm>
            <a:off x="3383280" y="3137609"/>
            <a:ext cx="914400" cy="237744"/>
          </a:xfrm>
          <a:prstGeom prst="rect">
            <a:avLst/>
          </a:prstGeom>
          <a:noFill/>
          <a:ln/>
        </p:spPr>
        <p:txBody>
          <a:bodyPr wrap="square" lIns="508" tIns="508" rIns="508" bIns="508" rtlCol="0" anchor="t"/>
          <a:lstStyle/>
          <a:p>
            <a:pPr algn="ctr" indent="0" marL="0">
              <a:buNone/>
            </a:pPr>
            <a:r>
              <a:rPr lang="en-US" sz="950" b="1" dirty="0">
                <a:solidFill>
                  <a:srgbClr val="B04A3F"/>
                </a:solidFill>
                <a:latin typeface="Yu Gothic" pitchFamily="34" charset="0"/>
                <a:ea typeface="Yu Gothic" pitchFamily="34" charset="-122"/>
                <a:cs typeface="Yu Gothic" pitchFamily="34" charset="-120"/>
              </a:rPr>
              <a:t>差 152.94</a:t>
            </a:r>
            <a:endParaRPr lang="en-US" sz="950" dirty="0"/>
          </a:p>
        </p:txBody>
      </p:sp>
      <p:sp>
        <p:nvSpPr>
          <p:cNvPr id="22" name="Text 20"/>
          <p:cNvSpPr txBox="1"/>
          <p:nvPr/>
        </p:nvSpPr>
        <p:spPr>
          <a:xfrm>
            <a:off x="594360" y="5989320"/>
            <a:ext cx="3657600" cy="237744"/>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単位：kWh/m²（年間）</a:t>
            </a:r>
            <a:endParaRPr lang="en-US" sz="900" dirty="0"/>
          </a:p>
        </p:txBody>
      </p:sp>
      <p:sp>
        <p:nvSpPr>
          <p:cNvPr id="23" name="Shape 21"/>
          <p:cNvSpPr/>
          <p:nvPr/>
        </p:nvSpPr>
        <p:spPr>
          <a:xfrm>
            <a:off x="4617720" y="1481328"/>
            <a:ext cx="7132320" cy="777240"/>
          </a:xfrm>
          <a:prstGeom prst="roundRect">
            <a:avLst>
              <a:gd name="adj" fmla="val 5882"/>
            </a:avLst>
          </a:prstGeom>
          <a:solidFill>
            <a:srgbClr val="F3F5F8"/>
          </a:solidFill>
          <a:ln w="9525">
            <a:solidFill>
              <a:srgbClr val="E1E5EA"/>
            </a:solidFill>
            <a:prstDash val="solid"/>
          </a:ln>
        </p:spPr>
      </p:sp>
      <p:sp>
        <p:nvSpPr>
          <p:cNvPr id="24" name="Text 22"/>
          <p:cNvSpPr txBox="1"/>
          <p:nvPr/>
        </p:nvSpPr>
        <p:spPr>
          <a:xfrm>
            <a:off x="4754880" y="1554480"/>
            <a:ext cx="12801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① 誤差</a:t>
            </a:r>
            <a:endParaRPr lang="en-US" sz="1100" dirty="0"/>
          </a:p>
        </p:txBody>
      </p:sp>
      <p:sp>
        <p:nvSpPr>
          <p:cNvPr id="25" name="Text 23"/>
          <p:cNvSpPr txBox="1"/>
          <p:nvPr/>
        </p:nvSpPr>
        <p:spPr>
          <a:xfrm>
            <a:off x="6035040" y="1554480"/>
            <a:ext cx="5669280" cy="329184"/>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e ＝ ŷ − y ＝ 861.26 − 1,014.20 ＝ −152.94</a:t>
            </a:r>
            <a:endParaRPr lang="en-US" sz="1300" dirty="0"/>
          </a:p>
        </p:txBody>
      </p:sp>
      <p:sp>
        <p:nvSpPr>
          <p:cNvPr id="26" name="Text 24"/>
          <p:cNvSpPr txBox="1"/>
          <p:nvPr/>
        </p:nvSpPr>
        <p:spPr>
          <a:xfrm>
            <a:off x="6035040" y="1920240"/>
            <a:ext cx="5669280" cy="2743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マイナス＝SEBEより低く予測した</a:t>
            </a:r>
            <a:endParaRPr lang="en-US" sz="950" dirty="0"/>
          </a:p>
        </p:txBody>
      </p:sp>
      <p:sp>
        <p:nvSpPr>
          <p:cNvPr id="27" name="Shape 25"/>
          <p:cNvSpPr/>
          <p:nvPr/>
        </p:nvSpPr>
        <p:spPr>
          <a:xfrm>
            <a:off x="4617720" y="2350008"/>
            <a:ext cx="7132320" cy="777240"/>
          </a:xfrm>
          <a:prstGeom prst="roundRect">
            <a:avLst>
              <a:gd name="adj" fmla="val 5882"/>
            </a:avLst>
          </a:prstGeom>
          <a:solidFill>
            <a:srgbClr val="FFFFFF"/>
          </a:solidFill>
          <a:ln w="9525">
            <a:solidFill>
              <a:srgbClr val="E1E5EA"/>
            </a:solidFill>
            <a:prstDash val="solid"/>
          </a:ln>
        </p:spPr>
      </p:sp>
      <p:sp>
        <p:nvSpPr>
          <p:cNvPr id="28" name="Text 26"/>
          <p:cNvSpPr txBox="1"/>
          <p:nvPr/>
        </p:nvSpPr>
        <p:spPr>
          <a:xfrm>
            <a:off x="4754880" y="2423160"/>
            <a:ext cx="12801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② 絶対誤差</a:t>
            </a:r>
            <a:endParaRPr lang="en-US" sz="1100" dirty="0"/>
          </a:p>
        </p:txBody>
      </p:sp>
      <p:sp>
        <p:nvSpPr>
          <p:cNvPr id="29" name="Text 27"/>
          <p:cNvSpPr txBox="1"/>
          <p:nvPr/>
        </p:nvSpPr>
        <p:spPr>
          <a:xfrm>
            <a:off x="6035040" y="2423160"/>
            <a:ext cx="5669280" cy="329184"/>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|e| ＝ |−152.94| ＝ 152.94 kWh/m²</a:t>
            </a:r>
            <a:endParaRPr lang="en-US" sz="1300" dirty="0"/>
          </a:p>
        </p:txBody>
      </p:sp>
      <p:sp>
        <p:nvSpPr>
          <p:cNvPr id="30" name="Text 28"/>
          <p:cNvSpPr txBox="1"/>
          <p:nvPr/>
        </p:nvSpPr>
        <p:spPr>
          <a:xfrm>
            <a:off x="6035040" y="2788920"/>
            <a:ext cx="5669280" cy="2743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向きを無視した、ずれの大きさ</a:t>
            </a:r>
            <a:endParaRPr lang="en-US" sz="950" dirty="0"/>
          </a:p>
        </p:txBody>
      </p:sp>
      <p:sp>
        <p:nvSpPr>
          <p:cNvPr id="31" name="Shape 29"/>
          <p:cNvSpPr/>
          <p:nvPr/>
        </p:nvSpPr>
        <p:spPr>
          <a:xfrm>
            <a:off x="4617720" y="3218688"/>
            <a:ext cx="7132320" cy="777240"/>
          </a:xfrm>
          <a:prstGeom prst="roundRect">
            <a:avLst>
              <a:gd name="adj" fmla="val 5882"/>
            </a:avLst>
          </a:prstGeom>
          <a:solidFill>
            <a:srgbClr val="F3F5F8"/>
          </a:solidFill>
          <a:ln w="9525">
            <a:solidFill>
              <a:srgbClr val="E1E5EA"/>
            </a:solidFill>
            <a:prstDash val="solid"/>
          </a:ln>
        </p:spPr>
      </p:sp>
      <p:sp>
        <p:nvSpPr>
          <p:cNvPr id="32" name="Text 30"/>
          <p:cNvSpPr txBox="1"/>
          <p:nvPr/>
        </p:nvSpPr>
        <p:spPr>
          <a:xfrm>
            <a:off x="4754880" y="3291840"/>
            <a:ext cx="12801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③ 誤差率</a:t>
            </a:r>
            <a:endParaRPr lang="en-US" sz="1100" dirty="0"/>
          </a:p>
        </p:txBody>
      </p:sp>
      <p:sp>
        <p:nvSpPr>
          <p:cNvPr id="33" name="Text 31"/>
          <p:cNvSpPr txBox="1"/>
          <p:nvPr/>
        </p:nvSpPr>
        <p:spPr>
          <a:xfrm>
            <a:off x="6035040" y="3291840"/>
            <a:ext cx="5669280" cy="329184"/>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152.94 ÷ 1,014.20 × 100 ＝ 15.08 %</a:t>
            </a:r>
            <a:endParaRPr lang="en-US" sz="1300" dirty="0"/>
          </a:p>
        </p:txBody>
      </p:sp>
      <p:sp>
        <p:nvSpPr>
          <p:cNvPr id="34" name="Text 32"/>
          <p:cNvSpPr txBox="1"/>
          <p:nvPr/>
        </p:nvSpPr>
        <p:spPr>
          <a:xfrm>
            <a:off x="6035040" y="3657600"/>
            <a:ext cx="5669280" cy="2743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正解値の大きさに対する割合</a:t>
            </a:r>
            <a:endParaRPr lang="en-US" sz="950" dirty="0"/>
          </a:p>
        </p:txBody>
      </p:sp>
      <p:sp>
        <p:nvSpPr>
          <p:cNvPr id="35" name="Shape 33"/>
          <p:cNvSpPr/>
          <p:nvPr/>
        </p:nvSpPr>
        <p:spPr>
          <a:xfrm>
            <a:off x="4617720" y="4160520"/>
            <a:ext cx="7132320" cy="2148840"/>
          </a:xfrm>
          <a:prstGeom prst="roundRect">
            <a:avLst>
              <a:gd name="adj" fmla="val 2553"/>
            </a:avLst>
          </a:prstGeom>
          <a:solidFill>
            <a:srgbClr val="1B2A44"/>
          </a:solidFill>
          <a:ln/>
        </p:spPr>
      </p:sp>
      <p:sp>
        <p:nvSpPr>
          <p:cNvPr id="36" name="Text 34"/>
          <p:cNvSpPr txBox="1"/>
          <p:nvPr/>
        </p:nvSpPr>
        <p:spPr>
          <a:xfrm>
            <a:off x="4800600" y="4233672"/>
            <a:ext cx="676656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④ MAE：N件の絶対誤差を平均する（検証8配置・全体平均の例）</a:t>
            </a:r>
            <a:endParaRPr lang="en-US" sz="1100" dirty="0"/>
          </a:p>
        </p:txBody>
      </p:sp>
      <p:sp>
        <p:nvSpPr>
          <p:cNvPr id="37" name="Text 35"/>
          <p:cNvSpPr txBox="1"/>
          <p:nvPr/>
        </p:nvSpPr>
        <p:spPr>
          <a:xfrm>
            <a:off x="4800600" y="4572000"/>
            <a:ext cx="6812280" cy="1691640"/>
          </a:xfrm>
          <a:prstGeom prst="rect">
            <a:avLst/>
          </a:prstGeom>
          <a:noFill/>
          <a:ln/>
        </p:spPr>
        <p:txBody>
          <a:bodyPr wrap="square" lIns="508" tIns="508" rIns="508" bIns="508" rtlCol="0" anchor="t"/>
          <a:lstStyle/>
          <a:p>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MAE ＝ (1/N) Σ</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j=1</a:t>
            </a:r>
            <a:pPr indent="0" marL="0">
              <a:lnSpc>
                <a:spcPct val="125000"/>
              </a:lnSpc>
              <a:buNone/>
            </a:pPr>
            <a:r>
              <a:rPr lang="en-US" sz="1150" b="1" baseline="30000" dirty="0">
                <a:solidFill>
                  <a:srgbClr val="FFFFFF"/>
                </a:solidFill>
                <a:latin typeface="Yu Gothic" pitchFamily="34" charset="0"/>
                <a:ea typeface="Yu Gothic" pitchFamily="34" charset="-122"/>
                <a:cs typeface="Yu Gothic" pitchFamily="34" charset="-120"/>
              </a:rPr>
              <a:t>N</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|ŷ</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y</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a:t>
            </a:r>
            <a:endParaRPr lang="en-US" sz="1150" dirty="0"/>
          </a:p>
          <a:p>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 |e</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1</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|e</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2</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 ＋ |e</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8</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 8 ＝ 159.92 / 8 ＝ 19.99 kWh/m²</a:t>
            </a:r>
            <a:endParaRPr lang="en-US" sz="1150" dirty="0"/>
          </a:p>
          <a:p>
            <a:pPr indent="0" marL="0">
              <a:lnSpc>
                <a:spcPct val="125000"/>
              </a:lnSpc>
              <a:buNone/>
            </a:pPr>
            <a:r>
              <a:rPr lang="en-US" sz="950" b="1" dirty="0">
                <a:solidFill>
                  <a:srgbClr val="CADCFC"/>
                </a:solidFill>
                <a:latin typeface="Yu Gothic" pitchFamily="34" charset="0"/>
                <a:ea typeface="Yu Gothic" pitchFamily="34" charset="-122"/>
                <a:cs typeface="Yu Gothic" pitchFamily="34" charset="-120"/>
              </a:rPr>
              <a:t>8件の絶対誤差の合計 159.92 は、MAE 19.99 × 8 で逆算した値</a:t>
            </a:r>
            <a:endParaRPr lang="en-US" sz="1150" dirty="0"/>
          </a:p>
          <a:p>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改善率 ＝ (43.50 − 17.81) / 43.50 × 100 ＝ 59.1 %（局所改良の例）</a:t>
            </a:r>
            <a:endParaRPr lang="en-US" sz="11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追加した5配置の決め方：誤差の大きい格子を3×3に細かくした</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追加は計算前に計画していた（sebe_refinement/README.txt に追加5配置・局所格子・確認用6配置を記載）。</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27 / 41</a:t>
            </a:r>
            <a:endParaRPr lang="en-US" sz="1100" dirty="0"/>
          </a:p>
        </p:txBody>
      </p:sp>
      <p:sp>
        <p:nvSpPr>
          <p:cNvPr id="10" name="Shape 8"/>
          <p:cNvSpPr/>
          <p:nvPr/>
        </p:nvSpPr>
        <p:spPr>
          <a:xfrm>
            <a:off x="457200" y="1481328"/>
            <a:ext cx="5394960" cy="841248"/>
          </a:xfrm>
          <a:prstGeom prst="roundRect">
            <a:avLst>
              <a:gd name="adj" fmla="val 5435"/>
            </a:avLst>
          </a:prstGeom>
          <a:solidFill>
            <a:srgbClr val="F3F5F8"/>
          </a:solidFill>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誤差が大きい場所を見つける</a:t>
            </a:r>
            <a:endParaRPr lang="en-US" sz="1150" dirty="0"/>
          </a:p>
        </p:txBody>
      </p:sp>
      <p:sp>
        <p:nvSpPr>
          <p:cNvPr id="14" name="Text 12"/>
          <p:cNvSpPr txBox="1"/>
          <p:nvPr/>
        </p:nvSpPr>
        <p:spPr>
          <a:xfrm>
            <a:off x="1005840" y="1828800"/>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検証8配置のうち A＝35m・D＝15m の30〜40m帯で最大誤差（SEBE 1,014.20 → 予測 861.26、差152.94・15.08%）</a:t>
            </a:r>
            <a:endParaRPr lang="en-US" sz="950" dirty="0"/>
          </a:p>
        </p:txBody>
      </p:sp>
      <p:sp>
        <p:nvSpPr>
          <p:cNvPr id="15" name="Shape 13"/>
          <p:cNvSpPr/>
          <p:nvPr/>
        </p:nvSpPr>
        <p:spPr>
          <a:xfrm>
            <a:off x="457200" y="2414016"/>
            <a:ext cx="5394960" cy="841248"/>
          </a:xfrm>
          <a:prstGeom prst="roundRect">
            <a:avLst>
              <a:gd name="adj" fmla="val 5435"/>
            </a:avLst>
          </a:prstGeom>
          <a:solidFill>
            <a:srgbClr val="F3F5F8"/>
          </a:solidFill>
          <a:ln/>
        </p:spPr>
      </p:sp>
      <p:sp>
        <p:nvSpPr>
          <p:cNvPr id="16" name="Shape 14"/>
          <p:cNvSpPr/>
          <p:nvPr/>
        </p:nvSpPr>
        <p:spPr>
          <a:xfrm>
            <a:off x="594360" y="2523744"/>
            <a:ext cx="310896" cy="310896"/>
          </a:xfrm>
          <a:prstGeom prst="ellipse">
            <a:avLst/>
          </a:prstGeom>
          <a:solidFill>
            <a:srgbClr val="1F6F78"/>
          </a:solidFill>
          <a:ln/>
        </p:spPr>
      </p:sp>
      <p:sp>
        <p:nvSpPr>
          <p:cNvPr id="17" name="Text 15"/>
          <p:cNvSpPr txBox="1"/>
          <p:nvPr/>
        </p:nvSpPr>
        <p:spPr>
          <a:xfrm>
            <a:off x="594360" y="25237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8" name="Text 16"/>
          <p:cNvSpPr txBox="1"/>
          <p:nvPr/>
        </p:nvSpPr>
        <p:spPr>
          <a:xfrm>
            <a:off x="1005840" y="2487168"/>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その点を囲む既存の格子を選ぶ</a:t>
            </a:r>
            <a:endParaRPr lang="en-US" sz="1150" dirty="0"/>
          </a:p>
        </p:txBody>
      </p:sp>
      <p:sp>
        <p:nvSpPr>
          <p:cNvPr id="19" name="Text 17"/>
          <p:cNvSpPr txBox="1"/>
          <p:nvPr/>
        </p:nvSpPr>
        <p:spPr>
          <a:xfrm>
            <a:off x="1005840" y="2761488"/>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25 ≤ A ≤ 50，10 ≤ D ≤ 25 → 既存の4隅 (25,10)(25,25)(50,10)(50,25) を再利用</a:t>
            </a:r>
            <a:endParaRPr lang="en-US" sz="950" dirty="0"/>
          </a:p>
        </p:txBody>
      </p:sp>
      <p:sp>
        <p:nvSpPr>
          <p:cNvPr id="20" name="Shape 18"/>
          <p:cNvSpPr/>
          <p:nvPr/>
        </p:nvSpPr>
        <p:spPr>
          <a:xfrm>
            <a:off x="457200" y="3346704"/>
            <a:ext cx="5394960" cy="841248"/>
          </a:xfrm>
          <a:prstGeom prst="roundRect">
            <a:avLst>
              <a:gd name="adj" fmla="val 5435"/>
            </a:avLst>
          </a:prstGeom>
          <a:solidFill>
            <a:srgbClr val="F3F5F8"/>
          </a:solidFill>
          <a:ln/>
        </p:spPr>
      </p:sp>
      <p:sp>
        <p:nvSpPr>
          <p:cNvPr id="21" name="Shape 19"/>
          <p:cNvSpPr/>
          <p:nvPr/>
        </p:nvSpPr>
        <p:spPr>
          <a:xfrm>
            <a:off x="594360" y="3456432"/>
            <a:ext cx="310896" cy="310896"/>
          </a:xfrm>
          <a:prstGeom prst="ellipse">
            <a:avLst/>
          </a:prstGeom>
          <a:solidFill>
            <a:srgbClr val="1F6F78"/>
          </a:solidFill>
          <a:ln/>
        </p:spPr>
      </p:sp>
      <p:sp>
        <p:nvSpPr>
          <p:cNvPr id="22" name="Text 20"/>
          <p:cNvSpPr txBox="1"/>
          <p:nvPr/>
        </p:nvSpPr>
        <p:spPr>
          <a:xfrm>
            <a:off x="594360" y="3456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3" name="Text 21"/>
          <p:cNvSpPr txBox="1"/>
          <p:nvPr/>
        </p:nvSpPr>
        <p:spPr>
          <a:xfrm>
            <a:off x="1005840" y="3419856"/>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区切りを1本ずつ追加する</a:t>
            </a:r>
            <a:endParaRPr lang="en-US" sz="1150" dirty="0"/>
          </a:p>
        </p:txBody>
      </p:sp>
      <p:sp>
        <p:nvSpPr>
          <p:cNvPr id="24" name="Text 22"/>
          <p:cNvSpPr txBox="1"/>
          <p:nvPr/>
        </p:nvSpPr>
        <p:spPr>
          <a:xfrm>
            <a:off x="1005840" y="3694176"/>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 A に 35m、隙間 D に 17m を追加 → A 25・35・50 × D 10・17・25</a:t>
            </a:r>
            <a:endParaRPr lang="en-US" sz="950" dirty="0"/>
          </a:p>
        </p:txBody>
      </p:sp>
      <p:sp>
        <p:nvSpPr>
          <p:cNvPr id="25" name="Shape 23"/>
          <p:cNvSpPr/>
          <p:nvPr/>
        </p:nvSpPr>
        <p:spPr>
          <a:xfrm>
            <a:off x="457200" y="4279392"/>
            <a:ext cx="5394960" cy="841248"/>
          </a:xfrm>
          <a:prstGeom prst="roundRect">
            <a:avLst>
              <a:gd name="adj" fmla="val 5435"/>
            </a:avLst>
          </a:prstGeom>
          <a:solidFill>
            <a:srgbClr val="F3F5F8"/>
          </a:solidFill>
          <a:ln/>
        </p:spPr>
      </p:sp>
      <p:sp>
        <p:nvSpPr>
          <p:cNvPr id="26" name="Shape 24"/>
          <p:cNvSpPr/>
          <p:nvPr/>
        </p:nvSpPr>
        <p:spPr>
          <a:xfrm>
            <a:off x="594360" y="4389120"/>
            <a:ext cx="310896" cy="310896"/>
          </a:xfrm>
          <a:prstGeom prst="ellipse">
            <a:avLst/>
          </a:prstGeom>
          <a:solidFill>
            <a:srgbClr val="1F6F78"/>
          </a:solidFill>
          <a:ln/>
        </p:spPr>
      </p:sp>
      <p:sp>
        <p:nvSpPr>
          <p:cNvPr id="27" name="Text 25"/>
          <p:cNvSpPr txBox="1"/>
          <p:nvPr/>
        </p:nvSpPr>
        <p:spPr>
          <a:xfrm>
            <a:off x="594360" y="43891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8" name="Text 26"/>
          <p:cNvSpPr txBox="1"/>
          <p:nvPr/>
        </p:nvSpPr>
        <p:spPr>
          <a:xfrm>
            <a:off x="1005840" y="4352544"/>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足りない点を計算する</a:t>
            </a:r>
            <a:endParaRPr lang="en-US" sz="1150" dirty="0"/>
          </a:p>
        </p:txBody>
      </p:sp>
      <p:sp>
        <p:nvSpPr>
          <p:cNvPr id="29" name="Text 27"/>
          <p:cNvSpPr txBox="1"/>
          <p:nvPr/>
        </p:nvSpPr>
        <p:spPr>
          <a:xfrm>
            <a:off x="1005840" y="4626864"/>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3×3＝9点 − 既存4点 ＝ 追加5点（無作為に5と決めたのではない）</a:t>
            </a:r>
            <a:endParaRPr lang="en-US" sz="950" dirty="0"/>
          </a:p>
        </p:txBody>
      </p:sp>
      <p:sp>
        <p:nvSpPr>
          <p:cNvPr id="30" name="Text 28"/>
          <p:cNvSpPr txBox="1"/>
          <p:nvPr/>
        </p:nvSpPr>
        <p:spPr>
          <a:xfrm>
            <a:off x="457200" y="5257800"/>
            <a:ext cx="5394960" cy="274320"/>
          </a:xfrm>
          <a:prstGeom prst="rect">
            <a:avLst/>
          </a:prstGeom>
          <a:noFill/>
          <a:ln/>
        </p:spPr>
        <p:txBody>
          <a:bodyPr wrap="square" lIns="508" tIns="508" rIns="508" bIns="508" rtlCol="0" anchor="t"/>
          <a:lstStyle/>
          <a:p>
            <a:pPr indent="0" marL="0">
              <a:buNone/>
            </a:pPr>
            <a:r>
              <a:rPr lang="en-US" sz="1050" b="1" dirty="0">
                <a:solidFill>
                  <a:srgbClr val="1F6F78"/>
                </a:solidFill>
                <a:latin typeface="Yu Gothic" pitchFamily="34" charset="0"/>
                <a:ea typeface="Yu Gothic" pitchFamily="34" charset="-122"/>
                <a:cs typeface="Yu Gothic" pitchFamily="34" charset="-120"/>
              </a:rPr>
              <a:t>→ 1つの補間領域が4つに分かれ、短い区間ごとに補間できる</a:t>
            </a:r>
            <a:endParaRPr lang="en-US" sz="1050" dirty="0"/>
          </a:p>
        </p:txBody>
      </p:sp>
      <p:sp>
        <p:nvSpPr>
          <p:cNvPr id="31" name="Text 29"/>
          <p:cNvSpPr txBox="1"/>
          <p:nvPr/>
        </p:nvSpPr>
        <p:spPr>
          <a:xfrm>
            <a:off x="457200" y="5577840"/>
            <a:ext cx="539496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A＝35・D＝15は答えを直接入れていないが、改良方針を決めるのに使ったので、改良後の独立テストには使えない → 新しい6配置で確認</a:t>
            </a:r>
            <a:endParaRPr lang="en-US" sz="950" dirty="0"/>
          </a:p>
        </p:txBody>
      </p:sp>
      <p:sp>
        <p:nvSpPr>
          <p:cNvPr id="32" name="Shape 30"/>
          <p:cNvSpPr/>
          <p:nvPr/>
        </p:nvSpPr>
        <p:spPr>
          <a:xfrm>
            <a:off x="6080760" y="1481328"/>
            <a:ext cx="3337560" cy="3520440"/>
          </a:xfrm>
          <a:prstGeom prst="roundRect">
            <a:avLst>
              <a:gd name="adj" fmla="val 1644"/>
            </a:avLst>
          </a:prstGeom>
          <a:solidFill>
            <a:srgbClr val="F3F5F8"/>
          </a:solidFill>
          <a:ln/>
        </p:spPr>
      </p:sp>
      <p:sp>
        <p:nvSpPr>
          <p:cNvPr id="33" name="Shape 31"/>
          <p:cNvSpPr/>
          <p:nvPr/>
        </p:nvSpPr>
        <p:spPr>
          <a:xfrm>
            <a:off x="6629400" y="1737360"/>
            <a:ext cx="2377440" cy="2377440"/>
          </a:xfrm>
          <a:prstGeom prst="rect">
            <a:avLst/>
          </a:prstGeom>
          <a:solidFill>
            <a:srgbClr val="FFFFFF"/>
          </a:solidFill>
          <a:ln w="9525">
            <a:solidFill>
              <a:srgbClr val="C9D0D8"/>
            </a:solidFill>
            <a:prstDash val="solid"/>
          </a:ln>
        </p:spPr>
      </p:sp>
      <p:sp>
        <p:nvSpPr>
          <p:cNvPr id="34" name="Shape 32"/>
          <p:cNvSpPr/>
          <p:nvPr/>
        </p:nvSpPr>
        <p:spPr>
          <a:xfrm>
            <a:off x="7738872" y="1737360"/>
            <a:ext cx="91" cy="2377440"/>
          </a:xfrm>
          <a:prstGeom prst="line">
            <a:avLst/>
          </a:prstGeom>
          <a:noFill/>
          <a:ln w="12700">
            <a:solidFill>
              <a:srgbClr val="E8934D"/>
            </a:solidFill>
            <a:prstDash val="dash"/>
          </a:ln>
        </p:spPr>
      </p:sp>
      <p:sp>
        <p:nvSpPr>
          <p:cNvPr id="35" name="Shape 33"/>
          <p:cNvSpPr/>
          <p:nvPr/>
        </p:nvSpPr>
        <p:spPr>
          <a:xfrm>
            <a:off x="6629400" y="3163824"/>
            <a:ext cx="2377440" cy="91"/>
          </a:xfrm>
          <a:prstGeom prst="line">
            <a:avLst/>
          </a:prstGeom>
          <a:noFill/>
          <a:ln w="12700">
            <a:solidFill>
              <a:srgbClr val="E8934D"/>
            </a:solidFill>
            <a:prstDash val="dash"/>
          </a:ln>
        </p:spPr>
      </p:sp>
      <p:sp>
        <p:nvSpPr>
          <p:cNvPr id="36" name="Shape 34"/>
          <p:cNvSpPr/>
          <p:nvPr/>
        </p:nvSpPr>
        <p:spPr>
          <a:xfrm>
            <a:off x="6551676" y="4037076"/>
            <a:ext cx="155448" cy="155448"/>
          </a:xfrm>
          <a:prstGeom prst="rect">
            <a:avLst/>
          </a:prstGeom>
          <a:solidFill>
            <a:srgbClr val="1B2A44"/>
          </a:solidFill>
          <a:ln w="6350">
            <a:solidFill>
              <a:srgbClr val="FFFFFF"/>
            </a:solidFill>
            <a:prstDash val="solid"/>
          </a:ln>
        </p:spPr>
      </p:sp>
      <p:sp>
        <p:nvSpPr>
          <p:cNvPr id="37" name="Shape 35"/>
          <p:cNvSpPr/>
          <p:nvPr/>
        </p:nvSpPr>
        <p:spPr>
          <a:xfrm>
            <a:off x="8929116" y="4037076"/>
            <a:ext cx="155448" cy="155448"/>
          </a:xfrm>
          <a:prstGeom prst="rect">
            <a:avLst/>
          </a:prstGeom>
          <a:solidFill>
            <a:srgbClr val="1B2A44"/>
          </a:solidFill>
          <a:ln w="6350">
            <a:solidFill>
              <a:srgbClr val="FFFFFF"/>
            </a:solidFill>
            <a:prstDash val="solid"/>
          </a:ln>
        </p:spPr>
      </p:sp>
      <p:sp>
        <p:nvSpPr>
          <p:cNvPr id="38" name="Shape 36"/>
          <p:cNvSpPr/>
          <p:nvPr/>
        </p:nvSpPr>
        <p:spPr>
          <a:xfrm>
            <a:off x="6551676" y="1659636"/>
            <a:ext cx="155448" cy="155448"/>
          </a:xfrm>
          <a:prstGeom prst="rect">
            <a:avLst/>
          </a:prstGeom>
          <a:solidFill>
            <a:srgbClr val="1B2A44"/>
          </a:solidFill>
          <a:ln w="6350">
            <a:solidFill>
              <a:srgbClr val="FFFFFF"/>
            </a:solidFill>
            <a:prstDash val="solid"/>
          </a:ln>
        </p:spPr>
      </p:sp>
      <p:sp>
        <p:nvSpPr>
          <p:cNvPr id="39" name="Shape 37"/>
          <p:cNvSpPr/>
          <p:nvPr/>
        </p:nvSpPr>
        <p:spPr>
          <a:xfrm>
            <a:off x="8929116" y="1659636"/>
            <a:ext cx="155448" cy="155448"/>
          </a:xfrm>
          <a:prstGeom prst="rect">
            <a:avLst/>
          </a:prstGeom>
          <a:solidFill>
            <a:srgbClr val="1B2A44"/>
          </a:solidFill>
          <a:ln w="6350">
            <a:solidFill>
              <a:srgbClr val="FFFFFF"/>
            </a:solidFill>
            <a:prstDash val="solid"/>
          </a:ln>
        </p:spPr>
      </p:sp>
      <p:sp>
        <p:nvSpPr>
          <p:cNvPr id="40" name="Shape 38"/>
          <p:cNvSpPr/>
          <p:nvPr/>
        </p:nvSpPr>
        <p:spPr>
          <a:xfrm>
            <a:off x="7656576" y="4032504"/>
            <a:ext cx="164592" cy="164592"/>
          </a:xfrm>
          <a:prstGeom prst="ellipse">
            <a:avLst/>
          </a:prstGeom>
          <a:solidFill>
            <a:srgbClr val="E8934D"/>
          </a:solidFill>
          <a:ln w="6350">
            <a:solidFill>
              <a:srgbClr val="FFFFFF"/>
            </a:solidFill>
            <a:prstDash val="solid"/>
          </a:ln>
        </p:spPr>
      </p:sp>
      <p:sp>
        <p:nvSpPr>
          <p:cNvPr id="41" name="Shape 39"/>
          <p:cNvSpPr/>
          <p:nvPr/>
        </p:nvSpPr>
        <p:spPr>
          <a:xfrm>
            <a:off x="6547104" y="3081528"/>
            <a:ext cx="164592" cy="164592"/>
          </a:xfrm>
          <a:prstGeom prst="ellipse">
            <a:avLst/>
          </a:prstGeom>
          <a:solidFill>
            <a:srgbClr val="E8934D"/>
          </a:solidFill>
          <a:ln w="6350">
            <a:solidFill>
              <a:srgbClr val="FFFFFF"/>
            </a:solidFill>
            <a:prstDash val="solid"/>
          </a:ln>
        </p:spPr>
      </p:sp>
      <p:sp>
        <p:nvSpPr>
          <p:cNvPr id="42" name="Shape 40"/>
          <p:cNvSpPr/>
          <p:nvPr/>
        </p:nvSpPr>
        <p:spPr>
          <a:xfrm>
            <a:off x="7656576" y="3081528"/>
            <a:ext cx="164592" cy="164592"/>
          </a:xfrm>
          <a:prstGeom prst="ellipse">
            <a:avLst/>
          </a:prstGeom>
          <a:solidFill>
            <a:srgbClr val="E8934D"/>
          </a:solidFill>
          <a:ln w="6350">
            <a:solidFill>
              <a:srgbClr val="FFFFFF"/>
            </a:solidFill>
            <a:prstDash val="solid"/>
          </a:ln>
        </p:spPr>
      </p:sp>
      <p:sp>
        <p:nvSpPr>
          <p:cNvPr id="43" name="Shape 41"/>
          <p:cNvSpPr/>
          <p:nvPr/>
        </p:nvSpPr>
        <p:spPr>
          <a:xfrm>
            <a:off x="8924544" y="3081528"/>
            <a:ext cx="164592" cy="164592"/>
          </a:xfrm>
          <a:prstGeom prst="ellipse">
            <a:avLst/>
          </a:prstGeom>
          <a:solidFill>
            <a:srgbClr val="E8934D"/>
          </a:solidFill>
          <a:ln w="6350">
            <a:solidFill>
              <a:srgbClr val="FFFFFF"/>
            </a:solidFill>
            <a:prstDash val="solid"/>
          </a:ln>
        </p:spPr>
      </p:sp>
      <p:sp>
        <p:nvSpPr>
          <p:cNvPr id="44" name="Shape 42"/>
          <p:cNvSpPr/>
          <p:nvPr/>
        </p:nvSpPr>
        <p:spPr>
          <a:xfrm>
            <a:off x="7656576" y="1655064"/>
            <a:ext cx="164592" cy="164592"/>
          </a:xfrm>
          <a:prstGeom prst="ellipse">
            <a:avLst/>
          </a:prstGeom>
          <a:solidFill>
            <a:srgbClr val="E8934D"/>
          </a:solidFill>
          <a:ln w="6350">
            <a:solidFill>
              <a:srgbClr val="FFFFFF"/>
            </a:solidFill>
            <a:prstDash val="solid"/>
          </a:ln>
        </p:spPr>
      </p:sp>
      <p:sp>
        <p:nvSpPr>
          <p:cNvPr id="45" name="Shape 43"/>
          <p:cNvSpPr/>
          <p:nvPr/>
        </p:nvSpPr>
        <p:spPr>
          <a:xfrm>
            <a:off x="7330440" y="3072384"/>
            <a:ext cx="182880" cy="182880"/>
          </a:xfrm>
          <a:prstGeom prst="star5">
            <a:avLst/>
          </a:prstGeom>
          <a:solidFill>
            <a:srgbClr val="B04A3F"/>
          </a:solidFill>
          <a:ln w="6350">
            <a:solidFill>
              <a:srgbClr val="FFFFFF"/>
            </a:solidFill>
            <a:prstDash val="solid"/>
          </a:ln>
        </p:spPr>
      </p:sp>
      <p:sp>
        <p:nvSpPr>
          <p:cNvPr id="46" name="Text 44"/>
          <p:cNvSpPr txBox="1"/>
          <p:nvPr/>
        </p:nvSpPr>
        <p:spPr>
          <a:xfrm>
            <a:off x="6736080" y="2779776"/>
            <a:ext cx="1371600" cy="219456"/>
          </a:xfrm>
          <a:prstGeom prst="rect">
            <a:avLst/>
          </a:prstGeom>
          <a:noFill/>
          <a:ln/>
        </p:spPr>
        <p:txBody>
          <a:bodyPr wrap="square" lIns="508" tIns="508" rIns="508" bIns="508" rtlCol="0" anchor="t"/>
          <a:lstStyle/>
          <a:p>
            <a:pPr algn="ctr" indent="0" marL="0">
              <a:buNone/>
            </a:pPr>
            <a:r>
              <a:rPr lang="en-US" sz="850" b="1" dirty="0">
                <a:solidFill>
                  <a:srgbClr val="B04A3F"/>
                </a:solidFill>
                <a:latin typeface="Yu Gothic" pitchFamily="34" charset="0"/>
                <a:ea typeface="Yu Gothic" pitchFamily="34" charset="-122"/>
                <a:cs typeface="Yu Gothic" pitchFamily="34" charset="-120"/>
              </a:rPr>
              <a:t>最大誤差点 (35,15)</a:t>
            </a:r>
            <a:endParaRPr lang="en-US" sz="850" dirty="0"/>
          </a:p>
        </p:txBody>
      </p:sp>
      <p:sp>
        <p:nvSpPr>
          <p:cNvPr id="47" name="Text 45"/>
          <p:cNvSpPr txBox="1"/>
          <p:nvPr/>
        </p:nvSpPr>
        <p:spPr>
          <a:xfrm>
            <a:off x="640080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48" name="Text 46"/>
          <p:cNvSpPr txBox="1"/>
          <p:nvPr/>
        </p:nvSpPr>
        <p:spPr>
          <a:xfrm>
            <a:off x="7510272"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17</a:t>
            </a:r>
            <a:endParaRPr lang="en-US" sz="900" dirty="0"/>
          </a:p>
        </p:txBody>
      </p:sp>
      <p:sp>
        <p:nvSpPr>
          <p:cNvPr id="49" name="Text 47"/>
          <p:cNvSpPr txBox="1"/>
          <p:nvPr/>
        </p:nvSpPr>
        <p:spPr>
          <a:xfrm>
            <a:off x="877824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0" name="Text 48"/>
          <p:cNvSpPr txBox="1"/>
          <p:nvPr/>
        </p:nvSpPr>
        <p:spPr>
          <a:xfrm>
            <a:off x="6172200" y="401421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1" name="Text 49"/>
          <p:cNvSpPr txBox="1"/>
          <p:nvPr/>
        </p:nvSpPr>
        <p:spPr>
          <a:xfrm>
            <a:off x="6172200" y="3063240"/>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35</a:t>
            </a:r>
            <a:endParaRPr lang="en-US" sz="900" dirty="0"/>
          </a:p>
        </p:txBody>
      </p:sp>
      <p:sp>
        <p:nvSpPr>
          <p:cNvPr id="52" name="Text 50"/>
          <p:cNvSpPr txBox="1"/>
          <p:nvPr/>
        </p:nvSpPr>
        <p:spPr>
          <a:xfrm>
            <a:off x="6172200" y="163677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53" name="Text 51"/>
          <p:cNvSpPr txBox="1"/>
          <p:nvPr/>
        </p:nvSpPr>
        <p:spPr>
          <a:xfrm>
            <a:off x="6629400" y="4389120"/>
            <a:ext cx="2377440" cy="201168"/>
          </a:xfrm>
          <a:prstGeom prst="rect">
            <a:avLst/>
          </a:prstGeom>
          <a:noFill/>
          <a:ln/>
        </p:spPr>
        <p:txBody>
          <a:bodyPr wrap="square" lIns="508" tIns="508" rIns="508" bIns="508" rtlCol="0" anchor="t"/>
          <a:lstStyle/>
          <a:p>
            <a:pPr algn="ctr" indent="0" marL="0">
              <a:buNone/>
            </a:pPr>
            <a:r>
              <a:rPr lang="en-US" sz="900" dirty="0">
                <a:solidFill>
                  <a:srgbClr val="1B2A44"/>
                </a:solidFill>
                <a:latin typeface="Yu Gothic" pitchFamily="34" charset="0"/>
                <a:ea typeface="Yu Gothic" pitchFamily="34" charset="-122"/>
                <a:cs typeface="Yu Gothic" pitchFamily="34" charset="-120"/>
              </a:rPr>
              <a:t>隙間 D (m)</a:t>
            </a:r>
            <a:endParaRPr lang="en-US" sz="900" dirty="0"/>
          </a:p>
        </p:txBody>
      </p:sp>
      <p:sp>
        <p:nvSpPr>
          <p:cNvPr id="54" name="Text 52"/>
          <p:cNvSpPr txBox="1"/>
          <p:nvPr/>
        </p:nvSpPr>
        <p:spPr>
          <a:xfrm>
            <a:off x="6126480" y="1517904"/>
            <a:ext cx="548640" cy="201168"/>
          </a:xfrm>
          <a:prstGeom prst="rect">
            <a:avLst/>
          </a:prstGeom>
          <a:noFill/>
          <a:ln/>
        </p:spPr>
        <p:txBody>
          <a:bodyPr wrap="square" lIns="508" tIns="508" rIns="508" bIns="508" rtlCol="0" anchor="t"/>
          <a:lstStyle/>
          <a:p>
            <a:pPr indent="0" marL="0">
              <a:buNone/>
            </a:pPr>
            <a:r>
              <a:rPr lang="en-US" sz="900" dirty="0">
                <a:solidFill>
                  <a:srgbClr val="1B2A44"/>
                </a:solidFill>
                <a:latin typeface="Yu Gothic" pitchFamily="34" charset="0"/>
                <a:ea typeface="Yu Gothic" pitchFamily="34" charset="-122"/>
                <a:cs typeface="Yu Gothic" pitchFamily="34" charset="-120"/>
              </a:rPr>
              <a:t>A (m)</a:t>
            </a:r>
            <a:endParaRPr lang="en-US" sz="900" dirty="0"/>
          </a:p>
        </p:txBody>
      </p:sp>
      <p:sp>
        <p:nvSpPr>
          <p:cNvPr id="55" name="Shape 53"/>
          <p:cNvSpPr/>
          <p:nvPr/>
        </p:nvSpPr>
        <p:spPr>
          <a:xfrm>
            <a:off x="6295644" y="4585716"/>
            <a:ext cx="118872" cy="118872"/>
          </a:xfrm>
          <a:prstGeom prst="rect">
            <a:avLst/>
          </a:prstGeom>
          <a:solidFill>
            <a:srgbClr val="1B2A44"/>
          </a:solidFill>
          <a:ln w="6350">
            <a:solidFill>
              <a:srgbClr val="FFFFFF"/>
            </a:solidFill>
            <a:prstDash val="solid"/>
          </a:ln>
        </p:spPr>
      </p:sp>
      <p:sp>
        <p:nvSpPr>
          <p:cNvPr id="56" name="Text 54"/>
          <p:cNvSpPr txBox="1"/>
          <p:nvPr/>
        </p:nvSpPr>
        <p:spPr>
          <a:xfrm>
            <a:off x="6473952" y="4544568"/>
            <a:ext cx="100584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既存の4隅</a:t>
            </a:r>
            <a:endParaRPr lang="en-US" sz="900" dirty="0"/>
          </a:p>
        </p:txBody>
      </p:sp>
      <p:sp>
        <p:nvSpPr>
          <p:cNvPr id="57" name="Shape 55"/>
          <p:cNvSpPr/>
          <p:nvPr/>
        </p:nvSpPr>
        <p:spPr>
          <a:xfrm>
            <a:off x="7530084" y="4585716"/>
            <a:ext cx="118872" cy="118872"/>
          </a:xfrm>
          <a:prstGeom prst="ellipse">
            <a:avLst/>
          </a:prstGeom>
          <a:solidFill>
            <a:srgbClr val="E8934D"/>
          </a:solidFill>
          <a:ln w="6350">
            <a:solidFill>
              <a:srgbClr val="FFFFFF"/>
            </a:solidFill>
            <a:prstDash val="solid"/>
          </a:ln>
        </p:spPr>
      </p:sp>
      <p:sp>
        <p:nvSpPr>
          <p:cNvPr id="58" name="Text 56"/>
          <p:cNvSpPr txBox="1"/>
          <p:nvPr/>
        </p:nvSpPr>
        <p:spPr>
          <a:xfrm>
            <a:off x="7708392" y="4544568"/>
            <a:ext cx="128016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追加した5点</a:t>
            </a:r>
            <a:endParaRPr lang="en-US" sz="900" dirty="0"/>
          </a:p>
        </p:txBody>
      </p:sp>
      <p:sp>
        <p:nvSpPr>
          <p:cNvPr id="59" name="Shape 57"/>
          <p:cNvSpPr/>
          <p:nvPr/>
        </p:nvSpPr>
        <p:spPr>
          <a:xfrm>
            <a:off x="9646920" y="1481328"/>
            <a:ext cx="2103120" cy="3520440"/>
          </a:xfrm>
          <a:prstGeom prst="roundRect">
            <a:avLst>
              <a:gd name="adj" fmla="val 2609"/>
            </a:avLst>
          </a:prstGeom>
          <a:solidFill>
            <a:srgbClr val="E1EEE7"/>
          </a:solidFill>
          <a:ln/>
        </p:spPr>
      </p:sp>
      <p:sp>
        <p:nvSpPr>
          <p:cNvPr id="60" name="Text 58"/>
          <p:cNvSpPr txBox="1"/>
          <p:nvPr/>
        </p:nvSpPr>
        <p:spPr>
          <a:xfrm>
            <a:off x="9784080" y="1572768"/>
            <a:ext cx="1828800" cy="274320"/>
          </a:xfrm>
          <a:prstGeom prst="rect">
            <a:avLst/>
          </a:prstGeom>
          <a:noFill/>
          <a:ln/>
        </p:spPr>
        <p:txBody>
          <a:bodyPr wrap="square" lIns="508" tIns="508" rIns="508" bIns="508" rtlCol="0" anchor="t"/>
          <a:lstStyle/>
          <a:p>
            <a:pPr indent="0" marL="0">
              <a:buNone/>
            </a:pPr>
            <a:r>
              <a:rPr lang="en-US" sz="1200" b="1" dirty="0">
                <a:solidFill>
                  <a:srgbClr val="4C8C6B"/>
                </a:solidFill>
                <a:latin typeface="Yu Gothic" pitchFamily="34" charset="0"/>
                <a:ea typeface="Yu Gothic" pitchFamily="34" charset="-122"/>
                <a:cs typeface="Yu Gothic" pitchFamily="34" charset="-120"/>
              </a:rPr>
              <a:t>言えること</a:t>
            </a:r>
            <a:endParaRPr lang="en-US" sz="1200" dirty="0"/>
          </a:p>
        </p:txBody>
      </p:sp>
      <p:sp>
        <p:nvSpPr>
          <p:cNvPr id="61" name="Text 59"/>
          <p:cNvSpPr txBox="1"/>
          <p:nvPr/>
        </p:nvSpPr>
        <p:spPr>
          <a:xfrm>
            <a:off x="9738360" y="1828800"/>
            <a:ext cx="1965960" cy="3108960"/>
          </a:xfrm>
          <a:prstGeom prst="rect">
            <a:avLst/>
          </a:prstGeom>
          <a:noFill/>
          <a:ln/>
        </p:spPr>
        <p:txBody>
          <a:bodyPr wrap="square" lIns="508" tIns="508" rIns="508" bIns="508" rtlCol="0" anchor="t"/>
          <a:lstStyle/>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改善する場所の選び方には理由がある</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5は3×3格子に不足する点の数</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確認用6配置も事前に記載</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局所範囲のMAE 43.50→17.81</a:t>
            </a:r>
            <a:endParaRPr lang="en-US" sz="1000" dirty="0"/>
          </a:p>
        </p:txBody>
      </p:sp>
      <p:sp>
        <p:nvSpPr>
          <p:cNvPr id="62" name="Shape 60"/>
          <p:cNvSpPr/>
          <p:nvPr/>
        </p:nvSpPr>
        <p:spPr>
          <a:xfrm>
            <a:off x="6080760" y="5166360"/>
            <a:ext cx="5669280" cy="1143000"/>
          </a:xfrm>
          <a:prstGeom prst="roundRect">
            <a:avLst>
              <a:gd name="adj" fmla="val 4800"/>
            </a:avLst>
          </a:prstGeom>
          <a:solidFill>
            <a:srgbClr val="F5E2DF"/>
          </a:solidFill>
          <a:ln/>
        </p:spPr>
      </p:sp>
      <p:sp>
        <p:nvSpPr>
          <p:cNvPr id="63" name="Text 61"/>
          <p:cNvSpPr txBox="1"/>
          <p:nvPr/>
        </p:nvSpPr>
        <p:spPr>
          <a:xfrm>
            <a:off x="6217920" y="5230368"/>
            <a:ext cx="539496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まだ言えないこと（検証していない）</a:t>
            </a:r>
            <a:endParaRPr lang="en-US" sz="1100" dirty="0"/>
          </a:p>
        </p:txBody>
      </p:sp>
      <p:sp>
        <p:nvSpPr>
          <p:cNvPr id="64" name="Text 62"/>
          <p:cNvSpPr txBox="1"/>
          <p:nvPr/>
        </p:nvSpPr>
        <p:spPr>
          <a:xfrm>
            <a:off x="6217920" y="5504688"/>
            <a:ext cx="5394960" cy="7772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17mが誤差を最小にする区切りか ／ 5配置が必要十分な最小数か ／ 他の候補と比べてこの5配置が最良か。17mは設計上の選択であり、最適な区切りや点数を求めた実験ではない。</a:t>
            </a:r>
            <a:endParaRPr lang="en-US" sz="95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最終目標ツール：周囲の建物ごとに4つの変数を変える（平面図）</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中央建物 C の周囲に0〜4棟を置き、C の北・東・南・西の壁面日射量を高さ帯ごとに予測する。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28 / 41</a:t>
            </a:r>
            <a:endParaRPr lang="en-US" sz="1100" dirty="0"/>
          </a:p>
        </p:txBody>
      </p:sp>
      <p:sp>
        <p:nvSpPr>
          <p:cNvPr id="10" name="Shape 8"/>
          <p:cNvSpPr/>
          <p:nvPr/>
        </p:nvSpPr>
        <p:spPr>
          <a:xfrm>
            <a:off x="457200" y="1463040"/>
            <a:ext cx="5486400" cy="4846320"/>
          </a:xfrm>
          <a:prstGeom prst="roundRect">
            <a:avLst>
              <a:gd name="adj" fmla="val 1132"/>
            </a:avLst>
          </a:prstGeom>
          <a:solidFill>
            <a:srgbClr val="F3F5F8"/>
          </a:solidFill>
          <a:ln/>
        </p:spPr>
      </p:sp>
      <p:sp>
        <p:nvSpPr>
          <p:cNvPr id="11" name="Text 9"/>
          <p:cNvSpPr txBox="1"/>
          <p:nvPr/>
        </p:nvSpPr>
        <p:spPr>
          <a:xfrm>
            <a:off x="594360" y="1517904"/>
            <a:ext cx="5029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上から見た図（例：3棟あり・1棟なし）</a:t>
            </a:r>
            <a:endParaRPr lang="en-US" sz="1100" dirty="0"/>
          </a:p>
        </p:txBody>
      </p:sp>
      <p:sp>
        <p:nvSpPr>
          <p:cNvPr id="12" name="Shape 10"/>
          <p:cNvSpPr/>
          <p:nvPr/>
        </p:nvSpPr>
        <p:spPr>
          <a:xfrm flipV="1">
            <a:off x="3063240" y="2308860"/>
            <a:ext cx="91" cy="1623060"/>
          </a:xfrm>
          <a:prstGeom prst="line">
            <a:avLst/>
          </a:prstGeom>
          <a:noFill/>
          <a:ln w="9525">
            <a:solidFill>
              <a:srgbClr val="AEB4BC"/>
            </a:solidFill>
            <a:prstDash val="dash"/>
            <a:tailEnd type="triangle"/>
          </a:ln>
        </p:spPr>
      </p:sp>
      <p:sp>
        <p:nvSpPr>
          <p:cNvPr id="13" name="Text 11"/>
          <p:cNvSpPr txBox="1"/>
          <p:nvPr/>
        </p:nvSpPr>
        <p:spPr>
          <a:xfrm>
            <a:off x="3108960" y="2263140"/>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北 0°</a:t>
            </a:r>
            <a:endParaRPr lang="en-US" sz="900" dirty="0"/>
          </a:p>
        </p:txBody>
      </p:sp>
      <p:sp>
        <p:nvSpPr>
          <p:cNvPr id="14" name="Text 12"/>
          <p:cNvSpPr txBox="1"/>
          <p:nvPr/>
        </p:nvSpPr>
        <p:spPr>
          <a:xfrm>
            <a:off x="4541825" y="3822192"/>
            <a:ext cx="64008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東 90°</a:t>
            </a:r>
            <a:endParaRPr lang="en-US" sz="900" dirty="0"/>
          </a:p>
        </p:txBody>
      </p:sp>
      <p:sp>
        <p:nvSpPr>
          <p:cNvPr id="15" name="Text 13"/>
          <p:cNvSpPr txBox="1"/>
          <p:nvPr/>
        </p:nvSpPr>
        <p:spPr>
          <a:xfrm>
            <a:off x="3154680" y="5704027"/>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南 180°</a:t>
            </a:r>
            <a:endParaRPr lang="en-US" sz="900" dirty="0"/>
          </a:p>
        </p:txBody>
      </p:sp>
      <p:sp>
        <p:nvSpPr>
          <p:cNvPr id="16" name="Text 14"/>
          <p:cNvSpPr txBox="1"/>
          <p:nvPr/>
        </p:nvSpPr>
        <p:spPr>
          <a:xfrm>
            <a:off x="749808" y="3822192"/>
            <a:ext cx="68580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西 270°</a:t>
            </a:r>
            <a:endParaRPr lang="en-US" sz="900" dirty="0"/>
          </a:p>
        </p:txBody>
      </p:sp>
      <p:sp>
        <p:nvSpPr>
          <p:cNvPr id="17" name="Shape 15"/>
          <p:cNvSpPr/>
          <p:nvPr/>
        </p:nvSpPr>
        <p:spPr>
          <a:xfrm>
            <a:off x="2738628" y="3607308"/>
            <a:ext cx="649224" cy="649224"/>
          </a:xfrm>
          <a:prstGeom prst="rect">
            <a:avLst/>
          </a:prstGeom>
          <a:solidFill>
            <a:srgbClr val="1B2A44"/>
          </a:solidFill>
          <a:ln/>
        </p:spPr>
      </p:sp>
      <p:sp>
        <p:nvSpPr>
          <p:cNvPr id="18" name="Text 16"/>
          <p:cNvSpPr txBox="1"/>
          <p:nvPr/>
        </p:nvSpPr>
        <p:spPr>
          <a:xfrm>
            <a:off x="2738628" y="3607308"/>
            <a:ext cx="649224" cy="64922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H</a:t>
            </a:r>
            <a:pPr algn="ctr" indent="0" marL="0">
              <a:buNone/>
            </a:pPr>
            <a:r>
              <a:rPr lang="en-US" sz="850" baseline="-40000" dirty="0">
                <a:solidFill>
                  <a:srgbClr val="FFFFFF"/>
                </a:solidFill>
                <a:latin typeface="Yu Gothic" pitchFamily="34" charset="0"/>
                <a:ea typeface="Yu Gothic" pitchFamily="34" charset="-122"/>
                <a:cs typeface="Yu Gothic" pitchFamily="34" charset="-120"/>
              </a:rPr>
              <a:t>C</a:t>
            </a:r>
            <a:endParaRPr lang="en-US" sz="950" dirty="0"/>
          </a:p>
        </p:txBody>
      </p:sp>
      <p:sp>
        <p:nvSpPr>
          <p:cNvPr id="19" name="Shape 17"/>
          <p:cNvSpPr/>
          <p:nvPr/>
        </p:nvSpPr>
        <p:spPr>
          <a:xfrm flipV="1">
            <a:off x="3063240" y="2711778"/>
            <a:ext cx="444095" cy="1220142"/>
          </a:xfrm>
          <a:prstGeom prst="line">
            <a:avLst/>
          </a:prstGeom>
          <a:noFill/>
          <a:ln w="9525">
            <a:solidFill>
              <a:srgbClr val="C56A2C"/>
            </a:solidFill>
            <a:prstDash val="sysDot"/>
          </a:ln>
        </p:spPr>
      </p:sp>
      <p:sp>
        <p:nvSpPr>
          <p:cNvPr id="20" name="Shape 18"/>
          <p:cNvSpPr/>
          <p:nvPr/>
        </p:nvSpPr>
        <p:spPr>
          <a:xfrm>
            <a:off x="3182723" y="2387166"/>
            <a:ext cx="649224" cy="649224"/>
          </a:xfrm>
          <a:prstGeom prst="rect">
            <a:avLst/>
          </a:prstGeom>
          <a:solidFill>
            <a:srgbClr val="1F6F78"/>
          </a:solidFill>
          <a:ln/>
        </p:spPr>
      </p:sp>
      <p:sp>
        <p:nvSpPr>
          <p:cNvPr id="21" name="Text 19"/>
          <p:cNvSpPr txBox="1"/>
          <p:nvPr/>
        </p:nvSpPr>
        <p:spPr>
          <a:xfrm>
            <a:off x="3182723" y="2478606"/>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建物1</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A₁</a:t>
            </a:r>
            <a:endParaRPr lang="en-US" sz="850" dirty="0"/>
          </a:p>
        </p:txBody>
      </p:sp>
      <p:sp>
        <p:nvSpPr>
          <p:cNvPr id="22" name="Text 20"/>
          <p:cNvSpPr txBox="1"/>
          <p:nvPr/>
        </p:nvSpPr>
        <p:spPr>
          <a:xfrm>
            <a:off x="3182723" y="3054678"/>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1</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23" name="Text 21"/>
          <p:cNvSpPr txBox="1"/>
          <p:nvPr/>
        </p:nvSpPr>
        <p:spPr>
          <a:xfrm>
            <a:off x="3868278" y="315285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1</a:t>
            </a:r>
            <a:pPr indent="0" marL="0">
              <a:buNone/>
            </a:pPr>
            <a:r>
              <a:rPr lang="en-US" sz="900" b="1" dirty="0">
                <a:solidFill>
                  <a:srgbClr val="C56A2C"/>
                </a:solidFill>
                <a:latin typeface="Yu Gothic" pitchFamily="34" charset="0"/>
                <a:ea typeface="Yu Gothic" pitchFamily="34" charset="-122"/>
                <a:cs typeface="Yu Gothic" pitchFamily="34" charset="-120"/>
              </a:rPr>
              <a:t>＝20°</a:t>
            </a:r>
            <a:endParaRPr lang="en-US" sz="900" dirty="0"/>
          </a:p>
        </p:txBody>
      </p:sp>
      <p:sp>
        <p:nvSpPr>
          <p:cNvPr id="24" name="Shape 22"/>
          <p:cNvSpPr/>
          <p:nvPr/>
        </p:nvSpPr>
        <p:spPr>
          <a:xfrm flipV="1">
            <a:off x="3285288" y="3036390"/>
            <a:ext cx="91" cy="570918"/>
          </a:xfrm>
          <a:prstGeom prst="line">
            <a:avLst/>
          </a:prstGeom>
          <a:noFill/>
          <a:ln w="19050">
            <a:solidFill>
              <a:srgbClr val="B04A3F"/>
            </a:solidFill>
            <a:prstDash val="solid"/>
            <a:headEnd type="triangle"/>
            <a:tailEnd type="triangle"/>
          </a:ln>
        </p:spPr>
      </p:sp>
      <p:sp>
        <p:nvSpPr>
          <p:cNvPr id="25" name="Text 23"/>
          <p:cNvSpPr txBox="1"/>
          <p:nvPr/>
        </p:nvSpPr>
        <p:spPr>
          <a:xfrm>
            <a:off x="3331008" y="3212121"/>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1</a:t>
            </a:r>
            <a:endParaRPr lang="en-US" sz="1000" dirty="0"/>
          </a:p>
        </p:txBody>
      </p:sp>
      <p:sp>
        <p:nvSpPr>
          <p:cNvPr id="26" name="Shape 24"/>
          <p:cNvSpPr/>
          <p:nvPr/>
        </p:nvSpPr>
        <p:spPr>
          <a:xfrm>
            <a:off x="3063240" y="3931920"/>
            <a:ext cx="1159135" cy="421891"/>
          </a:xfrm>
          <a:prstGeom prst="line">
            <a:avLst/>
          </a:prstGeom>
          <a:noFill/>
          <a:ln w="9525">
            <a:solidFill>
              <a:srgbClr val="C56A2C"/>
            </a:solidFill>
            <a:prstDash val="sysDot"/>
          </a:ln>
        </p:spPr>
      </p:sp>
      <p:sp>
        <p:nvSpPr>
          <p:cNvPr id="27" name="Shape 25"/>
          <p:cNvSpPr/>
          <p:nvPr/>
        </p:nvSpPr>
        <p:spPr>
          <a:xfrm>
            <a:off x="3897763" y="4029199"/>
            <a:ext cx="649224" cy="649224"/>
          </a:xfrm>
          <a:prstGeom prst="rect">
            <a:avLst/>
          </a:prstGeom>
          <a:solidFill>
            <a:srgbClr val="1F6F78"/>
          </a:solidFill>
          <a:ln/>
        </p:spPr>
      </p:sp>
      <p:sp>
        <p:nvSpPr>
          <p:cNvPr id="28" name="Text 26"/>
          <p:cNvSpPr txBox="1"/>
          <p:nvPr/>
        </p:nvSpPr>
        <p:spPr>
          <a:xfrm>
            <a:off x="3897763" y="4120639"/>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建物2</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A₂</a:t>
            </a:r>
            <a:endParaRPr lang="en-US" sz="850" dirty="0"/>
          </a:p>
        </p:txBody>
      </p:sp>
      <p:sp>
        <p:nvSpPr>
          <p:cNvPr id="29" name="Text 27"/>
          <p:cNvSpPr txBox="1"/>
          <p:nvPr/>
        </p:nvSpPr>
        <p:spPr>
          <a:xfrm>
            <a:off x="3897763" y="4696711"/>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2</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0" name="Text 28"/>
          <p:cNvSpPr txBox="1"/>
          <p:nvPr/>
        </p:nvSpPr>
        <p:spPr>
          <a:xfrm>
            <a:off x="4595409" y="4217579"/>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2</a:t>
            </a:r>
            <a:pPr indent="0" marL="0">
              <a:buNone/>
            </a:pPr>
            <a:r>
              <a:rPr lang="en-US" sz="900" b="1" dirty="0">
                <a:solidFill>
                  <a:srgbClr val="C56A2C"/>
                </a:solidFill>
                <a:latin typeface="Yu Gothic" pitchFamily="34" charset="0"/>
                <a:ea typeface="Yu Gothic" pitchFamily="34" charset="-122"/>
                <a:cs typeface="Yu Gothic" pitchFamily="34" charset="-120"/>
              </a:rPr>
              <a:t>＝110°</a:t>
            </a:r>
            <a:endParaRPr lang="en-US" sz="900" dirty="0"/>
          </a:p>
        </p:txBody>
      </p:sp>
      <p:sp>
        <p:nvSpPr>
          <p:cNvPr id="31" name="Shape 29"/>
          <p:cNvSpPr/>
          <p:nvPr/>
        </p:nvSpPr>
        <p:spPr>
          <a:xfrm>
            <a:off x="3387852" y="4142865"/>
            <a:ext cx="509911" cy="91"/>
          </a:xfrm>
          <a:prstGeom prst="line">
            <a:avLst/>
          </a:prstGeom>
          <a:noFill/>
          <a:ln w="19050">
            <a:solidFill>
              <a:srgbClr val="B04A3F"/>
            </a:solidFill>
            <a:prstDash val="solid"/>
            <a:headEnd type="triangle"/>
            <a:tailEnd type="triangle"/>
          </a:ln>
        </p:spPr>
      </p:sp>
      <p:sp>
        <p:nvSpPr>
          <p:cNvPr id="32" name="Text 30"/>
          <p:cNvSpPr txBox="1"/>
          <p:nvPr/>
        </p:nvSpPr>
        <p:spPr>
          <a:xfrm>
            <a:off x="3459927" y="416115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2</a:t>
            </a:r>
            <a:endParaRPr lang="en-US" sz="1000" dirty="0"/>
          </a:p>
        </p:txBody>
      </p:sp>
      <p:sp>
        <p:nvSpPr>
          <p:cNvPr id="33" name="Shape 31"/>
          <p:cNvSpPr/>
          <p:nvPr/>
        </p:nvSpPr>
        <p:spPr>
          <a:xfrm flipH="1">
            <a:off x="2619145" y="3931920"/>
            <a:ext cx="444095" cy="1220142"/>
          </a:xfrm>
          <a:prstGeom prst="line">
            <a:avLst/>
          </a:prstGeom>
          <a:noFill/>
          <a:ln w="9525">
            <a:solidFill>
              <a:srgbClr val="C56A2C"/>
            </a:solidFill>
            <a:prstDash val="sysDot"/>
          </a:ln>
        </p:spPr>
      </p:sp>
      <p:sp>
        <p:nvSpPr>
          <p:cNvPr id="34" name="Shape 32"/>
          <p:cNvSpPr/>
          <p:nvPr/>
        </p:nvSpPr>
        <p:spPr>
          <a:xfrm>
            <a:off x="2294533" y="4827450"/>
            <a:ext cx="649224" cy="649224"/>
          </a:xfrm>
          <a:prstGeom prst="rect">
            <a:avLst/>
          </a:prstGeom>
          <a:solidFill>
            <a:srgbClr val="1F6F78"/>
          </a:solidFill>
          <a:ln/>
        </p:spPr>
      </p:sp>
      <p:sp>
        <p:nvSpPr>
          <p:cNvPr id="35" name="Text 33"/>
          <p:cNvSpPr txBox="1"/>
          <p:nvPr/>
        </p:nvSpPr>
        <p:spPr>
          <a:xfrm>
            <a:off x="2294533" y="4918890"/>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建物3</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A₃</a:t>
            </a:r>
            <a:endParaRPr lang="en-US" sz="850" dirty="0"/>
          </a:p>
        </p:txBody>
      </p:sp>
      <p:sp>
        <p:nvSpPr>
          <p:cNvPr id="36" name="Text 34"/>
          <p:cNvSpPr txBox="1"/>
          <p:nvPr/>
        </p:nvSpPr>
        <p:spPr>
          <a:xfrm>
            <a:off x="2294533" y="5494962"/>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3</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7" name="Text 35"/>
          <p:cNvSpPr txBox="1"/>
          <p:nvPr/>
        </p:nvSpPr>
        <p:spPr>
          <a:xfrm>
            <a:off x="1401227" y="503560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3</a:t>
            </a:r>
            <a:pPr indent="0" marL="0">
              <a:buNone/>
            </a:pPr>
            <a:r>
              <a:rPr lang="en-US" sz="900" b="1" dirty="0">
                <a:solidFill>
                  <a:srgbClr val="C56A2C"/>
                </a:solidFill>
                <a:latin typeface="Yu Gothic" pitchFamily="34" charset="0"/>
                <a:ea typeface="Yu Gothic" pitchFamily="34" charset="-122"/>
                <a:cs typeface="Yu Gothic" pitchFamily="34" charset="-120"/>
              </a:rPr>
              <a:t>＝200°</a:t>
            </a:r>
            <a:endParaRPr lang="en-US" sz="900" dirty="0"/>
          </a:p>
        </p:txBody>
      </p:sp>
      <p:sp>
        <p:nvSpPr>
          <p:cNvPr id="38" name="Shape 36"/>
          <p:cNvSpPr/>
          <p:nvPr/>
        </p:nvSpPr>
        <p:spPr>
          <a:xfrm>
            <a:off x="2841192" y="4256532"/>
            <a:ext cx="91" cy="570918"/>
          </a:xfrm>
          <a:prstGeom prst="line">
            <a:avLst/>
          </a:prstGeom>
          <a:noFill/>
          <a:ln w="19050">
            <a:solidFill>
              <a:srgbClr val="B04A3F"/>
            </a:solidFill>
            <a:prstDash val="solid"/>
            <a:headEnd type="triangle"/>
            <a:tailEnd type="triangle"/>
          </a:ln>
        </p:spPr>
      </p:sp>
      <p:sp>
        <p:nvSpPr>
          <p:cNvPr id="39" name="Text 37"/>
          <p:cNvSpPr txBox="1"/>
          <p:nvPr/>
        </p:nvSpPr>
        <p:spPr>
          <a:xfrm>
            <a:off x="2886912" y="443226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3</a:t>
            </a:r>
            <a:endParaRPr lang="en-US" sz="1000" dirty="0"/>
          </a:p>
        </p:txBody>
      </p:sp>
      <p:sp>
        <p:nvSpPr>
          <p:cNvPr id="40" name="Shape 38"/>
          <p:cNvSpPr/>
          <p:nvPr/>
        </p:nvSpPr>
        <p:spPr>
          <a:xfrm flipH="1" flipV="1">
            <a:off x="1904105" y="3510029"/>
            <a:ext cx="1159135" cy="421891"/>
          </a:xfrm>
          <a:prstGeom prst="line">
            <a:avLst/>
          </a:prstGeom>
          <a:noFill/>
          <a:ln w="9525">
            <a:solidFill>
              <a:srgbClr val="AEB4BC"/>
            </a:solidFill>
            <a:prstDash val="sysDot"/>
          </a:ln>
        </p:spPr>
      </p:sp>
      <p:sp>
        <p:nvSpPr>
          <p:cNvPr id="41" name="Shape 39"/>
          <p:cNvSpPr/>
          <p:nvPr/>
        </p:nvSpPr>
        <p:spPr>
          <a:xfrm>
            <a:off x="1579493" y="3185417"/>
            <a:ext cx="649224" cy="649224"/>
          </a:xfrm>
          <a:prstGeom prst="rect">
            <a:avLst/>
          </a:prstGeom>
          <a:solidFill>
            <a:srgbClr val="FFFFFF"/>
          </a:solidFill>
          <a:ln w="12700">
            <a:solidFill>
              <a:srgbClr val="AEB4BC"/>
            </a:solidFill>
            <a:prstDash val="dash"/>
          </a:ln>
        </p:spPr>
      </p:sp>
      <p:sp>
        <p:nvSpPr>
          <p:cNvPr id="42" name="Text 40"/>
          <p:cNvSpPr txBox="1"/>
          <p:nvPr/>
        </p:nvSpPr>
        <p:spPr>
          <a:xfrm>
            <a:off x="1579493" y="3276857"/>
            <a:ext cx="649224" cy="457200"/>
          </a:xfrm>
          <a:prstGeom prst="rect">
            <a:avLst/>
          </a:prstGeom>
          <a:noFill/>
          <a:ln/>
        </p:spPr>
        <p:txBody>
          <a:bodyPr wrap="square" lIns="0" tIns="0" rIns="0" bIns="0" rtlCol="0" anchor="ctr"/>
          <a:lstStyle/>
          <a:p>
            <a:pPr algn="ctr" indent="0" marL="0">
              <a:buNone/>
            </a:pPr>
            <a:r>
              <a:rPr lang="en-US" sz="850" b="1" dirty="0">
                <a:solidFill>
                  <a:srgbClr val="6B7480"/>
                </a:solidFill>
                <a:latin typeface="Yu Gothic" pitchFamily="34" charset="0"/>
                <a:ea typeface="Yu Gothic" pitchFamily="34" charset="-122"/>
                <a:cs typeface="Yu Gothic" pitchFamily="34" charset="-120"/>
              </a:rPr>
              <a:t>建物4</a:t>
            </a:r>
            <a:endParaRPr lang="en-US" sz="850" dirty="0"/>
          </a:p>
          <a:p>
            <a:pPr algn="ctr" indent="0" marL="0">
              <a:buNone/>
            </a:pPr>
            <a:r>
              <a:rPr lang="en-US" sz="850" dirty="0">
                <a:solidFill>
                  <a:srgbClr val="6B7480"/>
                </a:solidFill>
                <a:latin typeface="Yu Gothic" pitchFamily="34" charset="0"/>
                <a:ea typeface="Yu Gothic" pitchFamily="34" charset="-122"/>
                <a:cs typeface="Yu Gothic" pitchFamily="34" charset="-120"/>
              </a:rPr>
              <a:t>なし</a:t>
            </a:r>
            <a:endParaRPr lang="en-US" sz="850" dirty="0"/>
          </a:p>
        </p:txBody>
      </p:sp>
      <p:sp>
        <p:nvSpPr>
          <p:cNvPr id="43" name="Text 41"/>
          <p:cNvSpPr txBox="1"/>
          <p:nvPr/>
        </p:nvSpPr>
        <p:spPr>
          <a:xfrm>
            <a:off x="1579493" y="3852929"/>
            <a:ext cx="649224" cy="201168"/>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s</a:t>
            </a:r>
            <a:pPr algn="ctr" indent="0" marL="0">
              <a:buNone/>
            </a:pPr>
            <a:r>
              <a:rPr lang="en-US" sz="900" b="1" baseline="-40000" dirty="0">
                <a:solidFill>
                  <a:srgbClr val="6B7480"/>
                </a:solidFill>
                <a:latin typeface="Yu Gothic" pitchFamily="34" charset="0"/>
                <a:ea typeface="Yu Gothic" pitchFamily="34" charset="-122"/>
                <a:cs typeface="Yu Gothic" pitchFamily="34" charset="-120"/>
              </a:rPr>
              <a:t>4</a:t>
            </a:r>
            <a:pPr algn="ct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p:txBody>
      </p:sp>
      <p:sp>
        <p:nvSpPr>
          <p:cNvPr id="44" name="Text 42"/>
          <p:cNvSpPr txBox="1"/>
          <p:nvPr/>
        </p:nvSpPr>
        <p:spPr>
          <a:xfrm>
            <a:off x="1401227" y="3023006"/>
            <a:ext cx="868680" cy="201168"/>
          </a:xfrm>
          <a:prstGeom prst="rect">
            <a:avLst/>
          </a:prstGeom>
          <a:noFill/>
          <a:ln/>
        </p:spPr>
        <p:txBody>
          <a:bodyPr wrap="square" lIns="508" tIns="508" rIns="508" bIns="508" rtlCol="0" anchor="t"/>
          <a:lstStyle/>
          <a:p>
            <a:pPr indent="0" marL="0">
              <a:buNone/>
            </a:pPr>
            <a:r>
              <a:rPr lang="en-US" sz="900" b="1" dirty="0">
                <a:solidFill>
                  <a:srgbClr val="AEB4BC"/>
                </a:solidFill>
                <a:latin typeface="Yu Gothic" pitchFamily="34" charset="0"/>
                <a:ea typeface="Yu Gothic" pitchFamily="34" charset="-122"/>
                <a:cs typeface="Yu Gothic" pitchFamily="34" charset="-120"/>
              </a:rPr>
              <a:t>θ</a:t>
            </a:r>
            <a:pPr indent="0" marL="0">
              <a:buNone/>
            </a:pPr>
            <a:r>
              <a:rPr lang="en-US" sz="900" b="1" baseline="-40000" dirty="0">
                <a:solidFill>
                  <a:srgbClr val="AEB4BC"/>
                </a:solidFill>
                <a:latin typeface="Yu Gothic" pitchFamily="34" charset="0"/>
                <a:ea typeface="Yu Gothic" pitchFamily="34" charset="-122"/>
                <a:cs typeface="Yu Gothic" pitchFamily="34" charset="-120"/>
              </a:rPr>
              <a:t>4</a:t>
            </a:r>
            <a:pPr indent="0" marL="0">
              <a:buNone/>
            </a:pPr>
            <a:r>
              <a:rPr lang="en-US" sz="900" b="1" dirty="0">
                <a:solidFill>
                  <a:srgbClr val="AEB4BC"/>
                </a:solidFill>
                <a:latin typeface="Yu Gothic" pitchFamily="34" charset="0"/>
                <a:ea typeface="Yu Gothic" pitchFamily="34" charset="-122"/>
                <a:cs typeface="Yu Gothic" pitchFamily="34" charset="-120"/>
              </a:rPr>
              <a:t>＝290°</a:t>
            </a:r>
            <a:endParaRPr lang="en-US" sz="900" dirty="0"/>
          </a:p>
        </p:txBody>
      </p:sp>
      <p:sp>
        <p:nvSpPr>
          <p:cNvPr id="45" name="Text 43"/>
          <p:cNvSpPr txBox="1"/>
          <p:nvPr/>
        </p:nvSpPr>
        <p:spPr>
          <a:xfrm>
            <a:off x="594360" y="5897880"/>
            <a:ext cx="5212080" cy="38404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θ：北から時計回り。建物の向き（回転）ではなく「置く方向」。建物の辺は東西・南北に固定。</a:t>
            </a:r>
            <a:endParaRPr lang="en-US" sz="850" dirty="0"/>
          </a:p>
        </p:txBody>
      </p:sp>
      <p:sp>
        <p:nvSpPr>
          <p:cNvPr id="46" name="Text 44"/>
          <p:cNvSpPr txBox="1"/>
          <p:nvPr/>
        </p:nvSpPr>
        <p:spPr>
          <a:xfrm>
            <a:off x="6217920" y="1481328"/>
            <a:ext cx="54864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変える変数：1 ＋ 4棟 × 4個 ＝ 17個</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0" y="1847088"/>
          <a:ext cx="5532120" cy="914400"/>
        </p:xfrm>
        <a:graphic>
          <a:graphicData uri="http://schemas.openxmlformats.org/drawingml/2006/table">
            <a:tbl>
              <a:tblPr/>
              <a:tblGrid>
                <a:gridCol w="685800"/>
                <a:gridCol w="1463040"/>
                <a:gridCol w="2103120"/>
                <a:gridCol w="1280160"/>
              </a:tblGrid>
              <a:tr h="38404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記号</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どこの値か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範囲（設計）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中央建物の高さ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25・50・75・100m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s</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建物iの有無</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置く＝1，置かない＝0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 または 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A</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周囲建物iの高さ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D</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Cとの隙間</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外形どうしの最短距離（赤線）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θ</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Cの中心→建物iの中心の向き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6217920" y="4251960"/>
            <a:ext cx="5532120" cy="4572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i＝1, 2, 3, 4（周囲建物の番号）。棟数 n ＝ Σ</a:t>
            </a:r>
            <a:pPr indent="0" marL="0">
              <a:buNone/>
            </a:pPr>
            <a:r>
              <a:rPr lang="en-US" sz="1000" baseline="-40000" dirty="0">
                <a:solidFill>
                  <a:srgbClr val="333F4E"/>
                </a:solidFill>
                <a:latin typeface="Yu Gothic" pitchFamily="34" charset="0"/>
                <a:ea typeface="Yu Gothic" pitchFamily="34" charset="-122"/>
                <a:cs typeface="Yu Gothic" pitchFamily="34" charset="-120"/>
              </a:rPr>
              <a:t>i=1</a:t>
            </a:r>
            <a:pPr indent="0" marL="0">
              <a:buNone/>
            </a:pPr>
            <a:r>
              <a:rPr lang="en-US" sz="1000" baseline="30000" dirty="0">
                <a:solidFill>
                  <a:srgbClr val="333F4E"/>
                </a:solidFill>
                <a:latin typeface="Yu Gothic" pitchFamily="34" charset="0"/>
                <a:ea typeface="Yu Gothic" pitchFamily="34" charset="-122"/>
                <a:cs typeface="Yu Gothic" pitchFamily="34" charset="-120"/>
              </a:rPr>
              <a:t>4</a:t>
            </a:r>
            <a:pPr indent="0" marL="0">
              <a:buNone/>
            </a:pPr>
            <a:r>
              <a:rPr lang="en-US" sz="1000" dirty="0">
                <a:solidFill>
                  <a:srgbClr val="333F4E"/>
                </a:solidFill>
                <a:latin typeface="Yu Gothic" pitchFamily="34" charset="0"/>
                <a:ea typeface="Yu Gothic" pitchFamily="34" charset="-122"/>
                <a:cs typeface="Yu Gothic" pitchFamily="34" charset="-120"/>
              </a:rPr>
              <a:t> s</a:t>
            </a:r>
            <a:pPr indent="0" marL="0">
              <a:buNone/>
            </a:pPr>
            <a:r>
              <a:rPr lang="en-US" sz="1000" baseline="-40000" dirty="0">
                <a:solidFill>
                  <a:srgbClr val="333F4E"/>
                </a:solidFill>
                <a:latin typeface="Yu Gothic" pitchFamily="34" charset="0"/>
                <a:ea typeface="Yu Gothic" pitchFamily="34" charset="-122"/>
                <a:cs typeface="Yu Gothic" pitchFamily="34" charset="-120"/>
              </a:rPr>
              <a:t>i</a:t>
            </a:r>
            <a:pPr indent="0" marL="0">
              <a:buNone/>
            </a:pPr>
            <a:r>
              <a:rPr lang="en-US" sz="1000" dirty="0">
                <a:solidFill>
                  <a:srgbClr val="333F4E"/>
                </a:solidFill>
                <a:latin typeface="Yu Gothic" pitchFamily="34" charset="0"/>
                <a:ea typeface="Yu Gothic" pitchFamily="34" charset="-122"/>
                <a:cs typeface="Yu Gothic" pitchFamily="34" charset="-120"/>
              </a:rPr>
              <a:t> は s から計算できるので、別の入力にはしない。</a:t>
            </a:r>
            <a:endParaRPr lang="en-US" sz="1000" dirty="0"/>
          </a:p>
        </p:txBody>
      </p:sp>
      <p:sp>
        <p:nvSpPr>
          <p:cNvPr id="49" name="Shape 46"/>
          <p:cNvSpPr/>
          <p:nvPr/>
        </p:nvSpPr>
        <p:spPr>
          <a:xfrm>
            <a:off x="6217920" y="4800600"/>
            <a:ext cx="5532120" cy="1508760"/>
          </a:xfrm>
          <a:prstGeom prst="roundRect">
            <a:avLst>
              <a:gd name="adj" fmla="val 3636"/>
            </a:avLst>
          </a:prstGeom>
          <a:solidFill>
            <a:srgbClr val="1B2A44"/>
          </a:solidFill>
          <a:ln/>
        </p:spPr>
      </p:sp>
      <p:sp>
        <p:nvSpPr>
          <p:cNvPr id="50" name="Text 47"/>
          <p:cNvSpPr txBox="1"/>
          <p:nvPr/>
        </p:nvSpPr>
        <p:spPr>
          <a:xfrm>
            <a:off x="6400800" y="4864608"/>
            <a:ext cx="27432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17個の内訳</a:t>
            </a:r>
            <a:endParaRPr lang="en-US" sz="1100" dirty="0"/>
          </a:p>
        </p:txBody>
      </p:sp>
      <p:sp>
        <p:nvSpPr>
          <p:cNvPr id="51" name="Shape 48"/>
          <p:cNvSpPr/>
          <p:nvPr/>
        </p:nvSpPr>
        <p:spPr>
          <a:xfrm>
            <a:off x="6400800" y="5193792"/>
            <a:ext cx="658368" cy="502920"/>
          </a:xfrm>
          <a:prstGeom prst="roundRect">
            <a:avLst>
              <a:gd name="adj" fmla="val 9091"/>
            </a:avLst>
          </a:prstGeom>
          <a:solidFill>
            <a:srgbClr val="E8934D"/>
          </a:solidFill>
          <a:ln/>
        </p:spPr>
      </p:sp>
      <p:sp>
        <p:nvSpPr>
          <p:cNvPr id="52" name="Text 49"/>
          <p:cNvSpPr txBox="1"/>
          <p:nvPr/>
        </p:nvSpPr>
        <p:spPr>
          <a:xfrm>
            <a:off x="6400800" y="5193792"/>
            <a:ext cx="65836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H</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C</a:t>
            </a:r>
            <a:endParaRPr lang="en-US" sz="900" dirty="0"/>
          </a:p>
        </p:txBody>
      </p:sp>
      <p:sp>
        <p:nvSpPr>
          <p:cNvPr id="53" name="Shape 50"/>
          <p:cNvSpPr/>
          <p:nvPr/>
        </p:nvSpPr>
        <p:spPr>
          <a:xfrm>
            <a:off x="7150608" y="5193792"/>
            <a:ext cx="1069848" cy="502920"/>
          </a:xfrm>
          <a:prstGeom prst="roundRect">
            <a:avLst>
              <a:gd name="adj" fmla="val 9091"/>
            </a:avLst>
          </a:prstGeom>
          <a:solidFill>
            <a:srgbClr val="35507D"/>
          </a:solidFill>
          <a:ln/>
        </p:spPr>
      </p:sp>
      <p:sp>
        <p:nvSpPr>
          <p:cNvPr id="54" name="Text 51"/>
          <p:cNvSpPr txBox="1"/>
          <p:nvPr/>
        </p:nvSpPr>
        <p:spPr>
          <a:xfrm>
            <a:off x="7150608"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endParaRPr lang="en-US" sz="900" dirty="0"/>
          </a:p>
        </p:txBody>
      </p:sp>
      <p:sp>
        <p:nvSpPr>
          <p:cNvPr id="55" name="Shape 52"/>
          <p:cNvSpPr/>
          <p:nvPr/>
        </p:nvSpPr>
        <p:spPr>
          <a:xfrm>
            <a:off x="8284464" y="5193792"/>
            <a:ext cx="1069848" cy="502920"/>
          </a:xfrm>
          <a:prstGeom prst="roundRect">
            <a:avLst>
              <a:gd name="adj" fmla="val 9091"/>
            </a:avLst>
          </a:prstGeom>
          <a:solidFill>
            <a:srgbClr val="35507D"/>
          </a:solidFill>
          <a:ln/>
        </p:spPr>
      </p:sp>
      <p:sp>
        <p:nvSpPr>
          <p:cNvPr id="56" name="Text 53"/>
          <p:cNvSpPr txBox="1"/>
          <p:nvPr/>
        </p:nvSpPr>
        <p:spPr>
          <a:xfrm>
            <a:off x="8284464"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endParaRPr lang="en-US" sz="900" dirty="0"/>
          </a:p>
        </p:txBody>
      </p:sp>
      <p:sp>
        <p:nvSpPr>
          <p:cNvPr id="57" name="Shape 54"/>
          <p:cNvSpPr/>
          <p:nvPr/>
        </p:nvSpPr>
        <p:spPr>
          <a:xfrm>
            <a:off x="9418320" y="5193792"/>
            <a:ext cx="1069848" cy="502920"/>
          </a:xfrm>
          <a:prstGeom prst="roundRect">
            <a:avLst>
              <a:gd name="adj" fmla="val 9091"/>
            </a:avLst>
          </a:prstGeom>
          <a:solidFill>
            <a:srgbClr val="35507D"/>
          </a:solidFill>
          <a:ln/>
        </p:spPr>
      </p:sp>
      <p:sp>
        <p:nvSpPr>
          <p:cNvPr id="58" name="Text 55"/>
          <p:cNvSpPr txBox="1"/>
          <p:nvPr/>
        </p:nvSpPr>
        <p:spPr>
          <a:xfrm>
            <a:off x="9418320"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endParaRPr lang="en-US" sz="900" dirty="0"/>
          </a:p>
        </p:txBody>
      </p:sp>
      <p:sp>
        <p:nvSpPr>
          <p:cNvPr id="59" name="Shape 56"/>
          <p:cNvSpPr/>
          <p:nvPr/>
        </p:nvSpPr>
        <p:spPr>
          <a:xfrm>
            <a:off x="10552176" y="5193792"/>
            <a:ext cx="1069848" cy="502920"/>
          </a:xfrm>
          <a:prstGeom prst="roundRect">
            <a:avLst>
              <a:gd name="adj" fmla="val 9091"/>
            </a:avLst>
          </a:prstGeom>
          <a:solidFill>
            <a:srgbClr val="35507D"/>
          </a:solidFill>
          <a:ln/>
        </p:spPr>
      </p:sp>
      <p:sp>
        <p:nvSpPr>
          <p:cNvPr id="60" name="Text 57"/>
          <p:cNvSpPr txBox="1"/>
          <p:nvPr/>
        </p:nvSpPr>
        <p:spPr>
          <a:xfrm>
            <a:off x="10552176"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endParaRPr lang="en-US" sz="900" dirty="0"/>
          </a:p>
        </p:txBody>
      </p:sp>
      <p:sp>
        <p:nvSpPr>
          <p:cNvPr id="61" name="Text 58"/>
          <p:cNvSpPr txBox="1"/>
          <p:nvPr/>
        </p:nvSpPr>
        <p:spPr>
          <a:xfrm>
            <a:off x="6400800" y="5760720"/>
            <a:ext cx="5212080" cy="45720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中央の高さ 1個 ＋ 建物1〜4 それぞれ4個 ＝ 17個。建物がない棟（s＝0）の A・D・θ は使わない。</a:t>
            </a:r>
            <a:endParaRPr lang="en-US" sz="9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最終目標ツール：立体で見た変数と、出力する20個の値</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高さの変数（中央の高さ・周囲建物の高さ）は立体図で見ると分かりやすい。出力は中央建物の4面 × 5つの高さ帯。</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29 / 41</a:t>
            </a:r>
            <a:endParaRPr lang="en-US" sz="1100" dirty="0"/>
          </a:p>
        </p:txBody>
      </p:sp>
      <p:sp>
        <p:nvSpPr>
          <p:cNvPr id="10" name="Shape 8"/>
          <p:cNvSpPr/>
          <p:nvPr/>
        </p:nvSpPr>
        <p:spPr>
          <a:xfrm>
            <a:off x="457200" y="1463040"/>
            <a:ext cx="6400800" cy="4846320"/>
          </a:xfrm>
          <a:prstGeom prst="roundRect">
            <a:avLst>
              <a:gd name="adj" fmla="val 1132"/>
            </a:avLst>
          </a:prstGeom>
          <a:solidFill>
            <a:srgbClr val="F3F5F8"/>
          </a:solidFill>
          <a:ln/>
        </p:spPr>
      </p:sp>
      <p:sp>
        <p:nvSpPr>
          <p:cNvPr id="11" name="Text 9"/>
          <p:cNvSpPr txBox="1"/>
          <p:nvPr/>
        </p:nvSpPr>
        <p:spPr>
          <a:xfrm>
            <a:off x="594360" y="151790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斜め上（南東）から見た図</a:t>
            </a:r>
            <a:endParaRPr lang="en-US" sz="1100" dirty="0"/>
          </a:p>
        </p:txBody>
      </p:sp>
      <p:sp>
        <p:nvSpPr>
          <p:cNvPr id="12" name="Shape 10"/>
          <p:cNvSpPr/>
          <p:nvPr/>
        </p:nvSpPr>
        <p:spPr>
          <a:xfrm>
            <a:off x="-706303" y="1955397"/>
            <a:ext cx="9019683" cy="4510479"/>
          </a:xfrm>
          <a:custGeom>
            <a:avLst/>
            <a:gdLst/>
            <a:ahLst/>
            <a:cxnLst/>
            <a:rect l="l" t="t" r="r" b="b"/>
            <a:pathLst>
              <a:path w="9019683" h="4510479">
                <a:moveTo>
                  <a:pt x="0" y="2205123"/>
                </a:moveTo>
                <a:lnTo>
                  <a:pt x="4610060" y="4510479"/>
                </a:lnTo>
                <a:lnTo>
                  <a:pt x="9019683" y="2305356"/>
                </a:lnTo>
                <a:lnTo>
                  <a:pt x="4409623" y="0"/>
                </a:lnTo>
                <a:close/>
              </a:path>
            </a:pathLst>
          </a:custGeom>
          <a:solidFill>
            <a:srgbClr val="E6EAEF"/>
          </a:solidFill>
          <a:ln/>
        </p:spPr>
      </p:sp>
      <p:sp>
        <p:nvSpPr>
          <p:cNvPr id="13" name="Shape 11"/>
          <p:cNvSpPr/>
          <p:nvPr/>
        </p:nvSpPr>
        <p:spPr>
          <a:xfrm>
            <a:off x="4104195" y="2957726"/>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ln w="12700">
            <a:solidFill>
              <a:srgbClr val="6B7480"/>
            </a:solidFill>
            <a:prstDash val="dash"/>
          </a:ln>
        </p:spPr>
      </p:sp>
      <p:sp>
        <p:nvSpPr>
          <p:cNvPr id="14" name="Shape 12"/>
          <p:cNvSpPr/>
          <p:nvPr/>
        </p:nvSpPr>
        <p:spPr>
          <a:xfrm>
            <a:off x="1298071" y="1745917"/>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15" name="Shape 13"/>
          <p:cNvSpPr/>
          <p:nvPr/>
        </p:nvSpPr>
        <p:spPr>
          <a:xfrm>
            <a:off x="1298071" y="2247081"/>
            <a:ext cx="1002187" cy="1712973"/>
          </a:xfrm>
          <a:custGeom>
            <a:avLst/>
            <a:gdLst/>
            <a:ahLst/>
            <a:cxnLst/>
            <a:rect l="l" t="t" r="r" b="b"/>
            <a:pathLst>
              <a:path w="1002187" h="1712973">
                <a:moveTo>
                  <a:pt x="0" y="1211809"/>
                </a:moveTo>
                <a:lnTo>
                  <a:pt x="1002187" y="1712973"/>
                </a:lnTo>
                <a:lnTo>
                  <a:pt x="1002187" y="501164"/>
                </a:lnTo>
                <a:lnTo>
                  <a:pt x="0" y="0"/>
                </a:lnTo>
                <a:close/>
              </a:path>
            </a:pathLst>
          </a:custGeom>
          <a:solidFill>
            <a:srgbClr val="2C8791"/>
          </a:solidFill>
          <a:ln w="6350">
            <a:solidFill>
              <a:srgbClr val="FFFFFF"/>
            </a:solidFill>
            <a:prstDash val="solid"/>
          </a:ln>
        </p:spPr>
      </p:sp>
      <p:sp>
        <p:nvSpPr>
          <p:cNvPr id="16" name="Shape 14"/>
          <p:cNvSpPr/>
          <p:nvPr/>
        </p:nvSpPr>
        <p:spPr>
          <a:xfrm>
            <a:off x="2300258" y="2247081"/>
            <a:ext cx="1002187" cy="1712973"/>
          </a:xfrm>
          <a:custGeom>
            <a:avLst/>
            <a:gdLst/>
            <a:ahLst/>
            <a:cxnLst/>
            <a:rect l="l" t="t" r="r" b="b"/>
            <a:pathLst>
              <a:path w="1002187" h="1712973">
                <a:moveTo>
                  <a:pt x="0" y="1712973"/>
                </a:moveTo>
                <a:lnTo>
                  <a:pt x="1002187" y="1211809"/>
                </a:lnTo>
                <a:lnTo>
                  <a:pt x="1002187" y="0"/>
                </a:lnTo>
                <a:lnTo>
                  <a:pt x="0" y="501164"/>
                </a:lnTo>
                <a:close/>
              </a:path>
            </a:pathLst>
          </a:custGeom>
          <a:solidFill>
            <a:srgbClr val="1F6F78"/>
          </a:solidFill>
          <a:ln w="6350">
            <a:solidFill>
              <a:srgbClr val="FFFFFF"/>
            </a:solidFill>
            <a:prstDash val="solid"/>
          </a:ln>
        </p:spPr>
      </p:sp>
      <p:sp>
        <p:nvSpPr>
          <p:cNvPr id="17" name="Shape 15"/>
          <p:cNvSpPr/>
          <p:nvPr/>
        </p:nvSpPr>
        <p:spPr>
          <a:xfrm>
            <a:off x="2701133" y="2312902"/>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4A5F85"/>
          </a:solidFill>
          <a:ln w="6350">
            <a:solidFill>
              <a:srgbClr val="FFFFFF"/>
            </a:solidFill>
            <a:prstDash val="solid"/>
          </a:ln>
        </p:spPr>
      </p:sp>
      <p:sp>
        <p:nvSpPr>
          <p:cNvPr id="18" name="Shape 16"/>
          <p:cNvSpPr/>
          <p:nvPr/>
        </p:nvSpPr>
        <p:spPr>
          <a:xfrm>
            <a:off x="2701133" y="3891229"/>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6D2B4"/>
          </a:solidFill>
          <a:ln w="9525">
            <a:solidFill>
              <a:srgbClr val="FFFFFF"/>
            </a:solidFill>
            <a:prstDash val="solid"/>
          </a:ln>
        </p:spPr>
      </p:sp>
      <p:sp>
        <p:nvSpPr>
          <p:cNvPr id="19" name="Shape 17"/>
          <p:cNvSpPr/>
          <p:nvPr/>
        </p:nvSpPr>
        <p:spPr>
          <a:xfrm>
            <a:off x="3703320" y="3891229"/>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C9DCE0"/>
          </a:solidFill>
          <a:ln w="9525">
            <a:solidFill>
              <a:srgbClr val="FFFFFF"/>
            </a:solidFill>
            <a:prstDash val="solid"/>
          </a:ln>
        </p:spPr>
      </p:sp>
      <p:sp>
        <p:nvSpPr>
          <p:cNvPr id="20" name="Shape 18"/>
          <p:cNvSpPr/>
          <p:nvPr/>
        </p:nvSpPr>
        <p:spPr>
          <a:xfrm>
            <a:off x="2701133" y="362193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2BE92"/>
          </a:solidFill>
          <a:ln w="9525">
            <a:solidFill>
              <a:srgbClr val="FFFFFF"/>
            </a:solidFill>
            <a:prstDash val="solid"/>
          </a:ln>
        </p:spPr>
      </p:sp>
      <p:sp>
        <p:nvSpPr>
          <p:cNvPr id="21" name="Shape 19"/>
          <p:cNvSpPr/>
          <p:nvPr/>
        </p:nvSpPr>
        <p:spPr>
          <a:xfrm>
            <a:off x="3703320" y="362193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B5CFD4"/>
          </a:solidFill>
          <a:ln w="9525">
            <a:solidFill>
              <a:srgbClr val="FFFFFF"/>
            </a:solidFill>
            <a:prstDash val="solid"/>
          </a:ln>
        </p:spPr>
      </p:sp>
      <p:sp>
        <p:nvSpPr>
          <p:cNvPr id="22" name="Shape 20"/>
          <p:cNvSpPr/>
          <p:nvPr/>
        </p:nvSpPr>
        <p:spPr>
          <a:xfrm>
            <a:off x="2701133" y="335264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EA870"/>
          </a:solidFill>
          <a:ln w="9525">
            <a:solidFill>
              <a:srgbClr val="FFFFFF"/>
            </a:solidFill>
            <a:prstDash val="solid"/>
          </a:ln>
        </p:spPr>
      </p:sp>
      <p:sp>
        <p:nvSpPr>
          <p:cNvPr id="23" name="Shape 21"/>
          <p:cNvSpPr/>
          <p:nvPr/>
        </p:nvSpPr>
        <p:spPr>
          <a:xfrm>
            <a:off x="3703320" y="335264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A0C2C8"/>
          </a:solidFill>
          <a:ln w="9525">
            <a:solidFill>
              <a:srgbClr val="FFFFFF"/>
            </a:solidFill>
            <a:prstDash val="solid"/>
          </a:ln>
        </p:spPr>
      </p:sp>
      <p:sp>
        <p:nvSpPr>
          <p:cNvPr id="24" name="Shape 22"/>
          <p:cNvSpPr/>
          <p:nvPr/>
        </p:nvSpPr>
        <p:spPr>
          <a:xfrm>
            <a:off x="2701133" y="3083357"/>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8934D"/>
          </a:solidFill>
          <a:ln w="9525">
            <a:solidFill>
              <a:srgbClr val="FFFFFF"/>
            </a:solidFill>
            <a:prstDash val="solid"/>
          </a:ln>
        </p:spPr>
      </p:sp>
      <p:sp>
        <p:nvSpPr>
          <p:cNvPr id="25" name="Shape 23"/>
          <p:cNvSpPr/>
          <p:nvPr/>
        </p:nvSpPr>
        <p:spPr>
          <a:xfrm>
            <a:off x="3703320" y="3083357"/>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8BB5BC"/>
          </a:solidFill>
          <a:ln w="9525">
            <a:solidFill>
              <a:srgbClr val="FFFFFF"/>
            </a:solidFill>
            <a:prstDash val="solid"/>
          </a:ln>
        </p:spPr>
      </p:sp>
      <p:sp>
        <p:nvSpPr>
          <p:cNvPr id="26" name="Shape 24"/>
          <p:cNvSpPr/>
          <p:nvPr/>
        </p:nvSpPr>
        <p:spPr>
          <a:xfrm>
            <a:off x="2701133" y="2814066"/>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D77B35"/>
          </a:solidFill>
          <a:ln w="9525">
            <a:solidFill>
              <a:srgbClr val="FFFFFF"/>
            </a:solidFill>
            <a:prstDash val="solid"/>
          </a:ln>
        </p:spPr>
      </p:sp>
      <p:sp>
        <p:nvSpPr>
          <p:cNvPr id="27" name="Shape 25"/>
          <p:cNvSpPr/>
          <p:nvPr/>
        </p:nvSpPr>
        <p:spPr>
          <a:xfrm>
            <a:off x="3703320" y="2814066"/>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76A8B0"/>
          </a:solidFill>
          <a:ln w="9525">
            <a:solidFill>
              <a:srgbClr val="FFFFFF"/>
            </a:solidFill>
            <a:prstDash val="solid"/>
          </a:ln>
        </p:spPr>
      </p:sp>
      <p:sp>
        <p:nvSpPr>
          <p:cNvPr id="28" name="Shape 26"/>
          <p:cNvSpPr/>
          <p:nvPr/>
        </p:nvSpPr>
        <p:spPr>
          <a:xfrm>
            <a:off x="1197853" y="346858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29" name="Shape 27"/>
          <p:cNvSpPr/>
          <p:nvPr/>
        </p:nvSpPr>
        <p:spPr>
          <a:xfrm>
            <a:off x="1197853" y="3969749"/>
            <a:ext cx="1002187" cy="1443682"/>
          </a:xfrm>
          <a:custGeom>
            <a:avLst/>
            <a:gdLst/>
            <a:ahLst/>
            <a:cxnLst/>
            <a:rect l="l" t="t" r="r" b="b"/>
            <a:pathLst>
              <a:path w="1002187" h="1443682">
                <a:moveTo>
                  <a:pt x="0" y="942518"/>
                </a:moveTo>
                <a:lnTo>
                  <a:pt x="1002187" y="1443682"/>
                </a:lnTo>
                <a:lnTo>
                  <a:pt x="1002187" y="501164"/>
                </a:lnTo>
                <a:lnTo>
                  <a:pt x="0" y="0"/>
                </a:lnTo>
                <a:close/>
              </a:path>
            </a:pathLst>
          </a:custGeom>
          <a:solidFill>
            <a:srgbClr val="2C8791"/>
          </a:solidFill>
          <a:ln w="6350">
            <a:solidFill>
              <a:srgbClr val="FFFFFF"/>
            </a:solidFill>
            <a:prstDash val="solid"/>
          </a:ln>
        </p:spPr>
      </p:sp>
      <p:sp>
        <p:nvSpPr>
          <p:cNvPr id="30" name="Shape 28"/>
          <p:cNvSpPr/>
          <p:nvPr/>
        </p:nvSpPr>
        <p:spPr>
          <a:xfrm>
            <a:off x="2200040" y="3969749"/>
            <a:ext cx="1002187" cy="1443682"/>
          </a:xfrm>
          <a:custGeom>
            <a:avLst/>
            <a:gdLst/>
            <a:ahLst/>
            <a:cxnLst/>
            <a:rect l="l" t="t" r="r" b="b"/>
            <a:pathLst>
              <a:path w="1002187" h="1443682">
                <a:moveTo>
                  <a:pt x="0" y="1443682"/>
                </a:moveTo>
                <a:lnTo>
                  <a:pt x="1002187" y="942518"/>
                </a:lnTo>
                <a:lnTo>
                  <a:pt x="1002187" y="0"/>
                </a:lnTo>
                <a:lnTo>
                  <a:pt x="0" y="501164"/>
                </a:lnTo>
                <a:close/>
              </a:path>
            </a:pathLst>
          </a:custGeom>
          <a:solidFill>
            <a:srgbClr val="1F6F78"/>
          </a:solidFill>
          <a:ln w="6350">
            <a:solidFill>
              <a:srgbClr val="FFFFFF"/>
            </a:solidFill>
            <a:prstDash val="solid"/>
          </a:ln>
        </p:spPr>
      </p:sp>
      <p:sp>
        <p:nvSpPr>
          <p:cNvPr id="31" name="Shape 29"/>
          <p:cNvSpPr/>
          <p:nvPr/>
        </p:nvSpPr>
        <p:spPr>
          <a:xfrm>
            <a:off x="4304632" y="284547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32" name="Shape 30"/>
          <p:cNvSpPr/>
          <p:nvPr/>
        </p:nvSpPr>
        <p:spPr>
          <a:xfrm>
            <a:off x="4304632" y="3346638"/>
            <a:ext cx="1002187" cy="2116909"/>
          </a:xfrm>
          <a:custGeom>
            <a:avLst/>
            <a:gdLst/>
            <a:ahLst/>
            <a:cxnLst/>
            <a:rect l="l" t="t" r="r" b="b"/>
            <a:pathLst>
              <a:path w="1002187" h="2116909">
                <a:moveTo>
                  <a:pt x="0" y="1615745"/>
                </a:moveTo>
                <a:lnTo>
                  <a:pt x="1002187" y="2116909"/>
                </a:lnTo>
                <a:lnTo>
                  <a:pt x="1002187" y="501164"/>
                </a:lnTo>
                <a:lnTo>
                  <a:pt x="0" y="0"/>
                </a:lnTo>
                <a:close/>
              </a:path>
            </a:pathLst>
          </a:custGeom>
          <a:solidFill>
            <a:srgbClr val="2C8791"/>
          </a:solidFill>
          <a:ln w="6350">
            <a:solidFill>
              <a:srgbClr val="FFFFFF"/>
            </a:solidFill>
            <a:prstDash val="solid"/>
          </a:ln>
        </p:spPr>
      </p:sp>
      <p:sp>
        <p:nvSpPr>
          <p:cNvPr id="33" name="Shape 31"/>
          <p:cNvSpPr/>
          <p:nvPr/>
        </p:nvSpPr>
        <p:spPr>
          <a:xfrm>
            <a:off x="5306819" y="3346638"/>
            <a:ext cx="1002187" cy="2116909"/>
          </a:xfrm>
          <a:custGeom>
            <a:avLst/>
            <a:gdLst/>
            <a:ahLst/>
            <a:cxnLst/>
            <a:rect l="l" t="t" r="r" b="b"/>
            <a:pathLst>
              <a:path w="1002187" h="2116909">
                <a:moveTo>
                  <a:pt x="0" y="2116909"/>
                </a:moveTo>
                <a:lnTo>
                  <a:pt x="1002187" y="1615745"/>
                </a:lnTo>
                <a:lnTo>
                  <a:pt x="1002187" y="0"/>
                </a:lnTo>
                <a:lnTo>
                  <a:pt x="0" y="501164"/>
                </a:lnTo>
                <a:close/>
              </a:path>
            </a:pathLst>
          </a:custGeom>
          <a:solidFill>
            <a:srgbClr val="1F6F78"/>
          </a:solidFill>
          <a:ln w="6350">
            <a:solidFill>
              <a:srgbClr val="FFFFFF"/>
            </a:solidFill>
            <a:prstDash val="solid"/>
          </a:ln>
        </p:spPr>
      </p:sp>
      <p:sp>
        <p:nvSpPr>
          <p:cNvPr id="34" name="Shape 32"/>
          <p:cNvSpPr/>
          <p:nvPr/>
        </p:nvSpPr>
        <p:spPr>
          <a:xfrm flipV="1">
            <a:off x="2518253" y="2814066"/>
            <a:ext cx="91" cy="1346454"/>
          </a:xfrm>
          <a:prstGeom prst="line">
            <a:avLst/>
          </a:prstGeom>
          <a:noFill/>
          <a:ln w="15875">
            <a:solidFill>
              <a:srgbClr val="C56A2C"/>
            </a:solidFill>
            <a:prstDash val="solid"/>
            <a:headEnd type="triangle"/>
            <a:tailEnd type="triangle"/>
          </a:ln>
        </p:spPr>
      </p:sp>
      <p:sp>
        <p:nvSpPr>
          <p:cNvPr id="35" name="Text 33"/>
          <p:cNvSpPr txBox="1"/>
          <p:nvPr/>
        </p:nvSpPr>
        <p:spPr>
          <a:xfrm>
            <a:off x="2134205" y="3359277"/>
            <a:ext cx="384048"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H</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endParaRPr lang="en-US" sz="1200" dirty="0"/>
          </a:p>
        </p:txBody>
      </p:sp>
      <p:sp>
        <p:nvSpPr>
          <p:cNvPr id="36" name="Shape 34"/>
          <p:cNvSpPr/>
          <p:nvPr/>
        </p:nvSpPr>
        <p:spPr>
          <a:xfrm flipV="1">
            <a:off x="1060693" y="3969749"/>
            <a:ext cx="91" cy="942518"/>
          </a:xfrm>
          <a:prstGeom prst="line">
            <a:avLst/>
          </a:prstGeom>
          <a:noFill/>
          <a:ln w="15875">
            <a:solidFill>
              <a:srgbClr val="C56A2C"/>
            </a:solidFill>
            <a:prstDash val="solid"/>
            <a:headEnd type="triangle"/>
            <a:tailEnd type="triangle"/>
          </a:ln>
        </p:spPr>
      </p:sp>
      <p:sp>
        <p:nvSpPr>
          <p:cNvPr id="37" name="Text 35"/>
          <p:cNvSpPr txBox="1"/>
          <p:nvPr/>
        </p:nvSpPr>
        <p:spPr>
          <a:xfrm>
            <a:off x="630925" y="4312992"/>
            <a:ext cx="41148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8" name="Shape 36"/>
          <p:cNvSpPr/>
          <p:nvPr/>
        </p:nvSpPr>
        <p:spPr>
          <a:xfrm flipV="1">
            <a:off x="3257091" y="4716548"/>
            <a:ext cx="501093" cy="250582"/>
          </a:xfrm>
          <a:prstGeom prst="line">
            <a:avLst/>
          </a:prstGeom>
          <a:noFill/>
          <a:ln w="19050">
            <a:solidFill>
              <a:srgbClr val="B04A3F"/>
            </a:solidFill>
            <a:prstDash val="solid"/>
            <a:headEnd type="triangle"/>
            <a:tailEnd type="triangle"/>
          </a:ln>
        </p:spPr>
      </p:sp>
      <p:sp>
        <p:nvSpPr>
          <p:cNvPr id="39" name="Text 37"/>
          <p:cNvSpPr txBox="1"/>
          <p:nvPr/>
        </p:nvSpPr>
        <p:spPr>
          <a:xfrm>
            <a:off x="3544213" y="4805263"/>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南</a:t>
            </a:r>
            <a:endParaRPr lang="en-US" sz="1100" dirty="0"/>
          </a:p>
        </p:txBody>
      </p:sp>
      <p:sp>
        <p:nvSpPr>
          <p:cNvPr id="40" name="Shape 38"/>
          <p:cNvSpPr/>
          <p:nvPr/>
        </p:nvSpPr>
        <p:spPr>
          <a:xfrm>
            <a:off x="3721608" y="4734836"/>
            <a:ext cx="601312" cy="300699"/>
          </a:xfrm>
          <a:prstGeom prst="line">
            <a:avLst/>
          </a:prstGeom>
          <a:noFill/>
          <a:ln w="19050">
            <a:solidFill>
              <a:srgbClr val="B04A3F"/>
            </a:solidFill>
            <a:prstDash val="solid"/>
            <a:headEnd type="triangle"/>
            <a:tailEnd type="triangle"/>
          </a:ln>
        </p:spPr>
      </p:sp>
      <p:sp>
        <p:nvSpPr>
          <p:cNvPr id="41" name="Text 39"/>
          <p:cNvSpPr txBox="1"/>
          <p:nvPr/>
        </p:nvSpPr>
        <p:spPr>
          <a:xfrm>
            <a:off x="3912536" y="4921762"/>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東</a:t>
            </a:r>
            <a:endParaRPr lang="en-US" sz="1100" dirty="0"/>
          </a:p>
        </p:txBody>
      </p:sp>
      <p:sp>
        <p:nvSpPr>
          <p:cNvPr id="42" name="Shape 40"/>
          <p:cNvSpPr/>
          <p:nvPr/>
        </p:nvSpPr>
        <p:spPr>
          <a:xfrm flipV="1">
            <a:off x="6418734" y="3346638"/>
            <a:ext cx="91" cy="1615745"/>
          </a:xfrm>
          <a:prstGeom prst="line">
            <a:avLst/>
          </a:prstGeom>
          <a:noFill/>
          <a:ln w="15875">
            <a:solidFill>
              <a:srgbClr val="C56A2C"/>
            </a:solidFill>
            <a:prstDash val="solid"/>
            <a:headEnd type="triangle"/>
            <a:tailEnd type="triangle"/>
          </a:ln>
        </p:spPr>
      </p:sp>
      <p:sp>
        <p:nvSpPr>
          <p:cNvPr id="43" name="Text 41"/>
          <p:cNvSpPr txBox="1"/>
          <p:nvPr/>
        </p:nvSpPr>
        <p:spPr>
          <a:xfrm>
            <a:off x="6455310" y="4026495"/>
            <a:ext cx="45720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4" name="Text 42"/>
          <p:cNvSpPr txBox="1"/>
          <p:nvPr/>
        </p:nvSpPr>
        <p:spPr>
          <a:xfrm>
            <a:off x="2836467"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南面</a:t>
            </a:r>
            <a:endParaRPr lang="en-US" sz="1000" dirty="0"/>
          </a:p>
        </p:txBody>
      </p:sp>
      <p:sp>
        <p:nvSpPr>
          <p:cNvPr id="45" name="Text 43"/>
          <p:cNvSpPr txBox="1"/>
          <p:nvPr/>
        </p:nvSpPr>
        <p:spPr>
          <a:xfrm>
            <a:off x="3838653"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東面</a:t>
            </a:r>
            <a:endParaRPr lang="en-US" sz="1000" dirty="0"/>
          </a:p>
        </p:txBody>
      </p:sp>
      <p:sp>
        <p:nvSpPr>
          <p:cNvPr id="46" name="Text 44"/>
          <p:cNvSpPr txBox="1"/>
          <p:nvPr/>
        </p:nvSpPr>
        <p:spPr>
          <a:xfrm>
            <a:off x="548640" y="2514600"/>
            <a:ext cx="1188720" cy="41148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西の建物</a:t>
            </a:r>
            <a:endParaRPr lang="en-US" sz="900" dirty="0"/>
          </a:p>
          <a:p>
            <a:pPr indent="0" marL="0">
              <a:buNone/>
            </a:pPr>
            <a:r>
              <a:rPr lang="en-US" sz="900" b="1" dirty="0">
                <a:solidFill>
                  <a:srgbClr val="1F6F78"/>
                </a:solidFill>
                <a:latin typeface="Yu Gothic" pitchFamily="34" charset="0"/>
                <a:ea typeface="Yu Gothic" pitchFamily="34" charset="-122"/>
                <a:cs typeface="Yu Gothic" pitchFamily="34" charset="-120"/>
              </a:rPr>
              <a:t>A</a:t>
            </a:r>
            <a:endParaRPr lang="en-US" sz="900" dirty="0"/>
          </a:p>
          <a:p>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pPr indent="0" marL="0">
              <a:buNone/>
            </a:pPr>
            <a:r>
              <a:rPr lang="en-US" sz="900" b="1" dirty="0">
                <a:solidFill>
                  <a:srgbClr val="1F6F78"/>
                </a:solidFill>
                <a:latin typeface="Yu Gothic" pitchFamily="34" charset="0"/>
                <a:ea typeface="Yu Gothic" pitchFamily="34" charset="-122"/>
                <a:cs typeface="Yu Gothic" pitchFamily="34" charset="-120"/>
              </a:rPr>
              <a:t>・D</a:t>
            </a:r>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endParaRPr lang="en-US" sz="900" dirty="0"/>
          </a:p>
        </p:txBody>
      </p:sp>
      <p:sp>
        <p:nvSpPr>
          <p:cNvPr id="47" name="Text 45"/>
          <p:cNvSpPr txBox="1"/>
          <p:nvPr/>
        </p:nvSpPr>
        <p:spPr>
          <a:xfrm>
            <a:off x="4526280" y="1828800"/>
            <a:ext cx="2194560" cy="41148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北は建物なし：s</a:t>
            </a:r>
            <a:pPr indent="0" marL="0">
              <a:buNone/>
            </a:pPr>
            <a:r>
              <a:rPr lang="en-US" sz="900" b="1" baseline="-40000" dirty="0">
                <a:solidFill>
                  <a:srgbClr val="6B7480"/>
                </a:solidFill>
                <a:latin typeface="Yu Gothic" pitchFamily="34" charset="0"/>
                <a:ea typeface="Yu Gothic" pitchFamily="34" charset="-122"/>
                <a:cs typeface="Yu Gothic" pitchFamily="34" charset="-120"/>
              </a:rPr>
              <a:t>北</a:t>
            </a:r>
            <a:pP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a:p>
            <a:pPr indent="0" marL="0">
              <a:buNone/>
            </a:pPr>
            <a:r>
              <a:rPr lang="en-US" sz="900" b="1" dirty="0">
                <a:solidFill>
                  <a:srgbClr val="6B7480"/>
                </a:solidFill>
                <a:latin typeface="Yu Gothic" pitchFamily="34" charset="0"/>
                <a:ea typeface="Yu Gothic" pitchFamily="34" charset="-122"/>
                <a:cs typeface="Yu Gothic" pitchFamily="34" charset="-120"/>
              </a:rPr>
              <a:t>（点線は置く場合の位置）</a:t>
            </a:r>
            <a:endParaRPr lang="en-US" sz="900" dirty="0"/>
          </a:p>
        </p:txBody>
      </p:sp>
      <p:sp>
        <p:nvSpPr>
          <p:cNvPr id="48" name="Shape 46"/>
          <p:cNvSpPr/>
          <p:nvPr/>
        </p:nvSpPr>
        <p:spPr>
          <a:xfrm flipV="1">
            <a:off x="5943600" y="5690494"/>
            <a:ext cx="323286" cy="161666"/>
          </a:xfrm>
          <a:prstGeom prst="line">
            <a:avLst/>
          </a:prstGeom>
          <a:noFill/>
          <a:ln w="19050">
            <a:solidFill>
              <a:srgbClr val="1B2A44"/>
            </a:solidFill>
            <a:prstDash val="solid"/>
            <a:tailEnd type="triangle"/>
          </a:ln>
        </p:spPr>
      </p:sp>
      <p:sp>
        <p:nvSpPr>
          <p:cNvPr id="49" name="Text 47"/>
          <p:cNvSpPr txBox="1"/>
          <p:nvPr/>
        </p:nvSpPr>
        <p:spPr>
          <a:xfrm>
            <a:off x="6285174" y="5507614"/>
            <a:ext cx="274320"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北</a:t>
            </a:r>
            <a:endParaRPr lang="en-US" sz="900" dirty="0"/>
          </a:p>
        </p:txBody>
      </p:sp>
      <p:sp>
        <p:nvSpPr>
          <p:cNvPr id="50" name="Text 48"/>
          <p:cNvSpPr txBox="1"/>
          <p:nvPr/>
        </p:nvSpPr>
        <p:spPr>
          <a:xfrm>
            <a:off x="594360" y="5943600"/>
            <a:ext cx="5120640" cy="329184"/>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色の段＝高さ帯（下から帯1〜帯5）。北面・西面は裏側で見えないが、同じく5帯ずつ出力する</a:t>
            </a:r>
            <a:endParaRPr lang="en-US" sz="900" dirty="0"/>
          </a:p>
        </p:txBody>
      </p:sp>
      <p:sp>
        <p:nvSpPr>
          <p:cNvPr id="51" name="Text 49"/>
          <p:cNvSpPr txBox="1"/>
          <p:nvPr/>
        </p:nvSpPr>
        <p:spPr>
          <a:xfrm>
            <a:off x="7132320" y="1481328"/>
            <a:ext cx="45720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出力：4面 × 5帯 ＝ 20個の年間日射量</a:t>
            </a:r>
            <a:endParaRPr lang="en-US" sz="1300" dirty="0"/>
          </a:p>
        </p:txBody>
      </p:sp>
      <p:sp>
        <p:nvSpPr>
          <p:cNvPr id="52" name="Shape 50"/>
          <p:cNvSpPr/>
          <p:nvPr/>
        </p:nvSpPr>
        <p:spPr>
          <a:xfrm>
            <a:off x="8001000" y="1874520"/>
            <a:ext cx="841248" cy="329184"/>
          </a:xfrm>
          <a:prstGeom prst="rect">
            <a:avLst/>
          </a:prstGeom>
          <a:solidFill>
            <a:srgbClr val="1B2A44"/>
          </a:solidFill>
          <a:ln/>
        </p:spPr>
      </p:sp>
      <p:sp>
        <p:nvSpPr>
          <p:cNvPr id="53" name="Text 51"/>
          <p:cNvSpPr txBox="1"/>
          <p:nvPr/>
        </p:nvSpPr>
        <p:spPr>
          <a:xfrm>
            <a:off x="8001000"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北面</a:t>
            </a:r>
            <a:endParaRPr lang="en-US" sz="1000" dirty="0"/>
          </a:p>
        </p:txBody>
      </p:sp>
      <p:sp>
        <p:nvSpPr>
          <p:cNvPr id="54" name="Shape 52"/>
          <p:cNvSpPr/>
          <p:nvPr/>
        </p:nvSpPr>
        <p:spPr>
          <a:xfrm>
            <a:off x="8887968" y="1874520"/>
            <a:ext cx="841248" cy="329184"/>
          </a:xfrm>
          <a:prstGeom prst="rect">
            <a:avLst/>
          </a:prstGeom>
          <a:solidFill>
            <a:srgbClr val="1B2A44"/>
          </a:solidFill>
          <a:ln/>
        </p:spPr>
      </p:sp>
      <p:sp>
        <p:nvSpPr>
          <p:cNvPr id="55" name="Text 53"/>
          <p:cNvSpPr txBox="1"/>
          <p:nvPr/>
        </p:nvSpPr>
        <p:spPr>
          <a:xfrm>
            <a:off x="8887968"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東面</a:t>
            </a:r>
            <a:endParaRPr lang="en-US" sz="1000" dirty="0"/>
          </a:p>
        </p:txBody>
      </p:sp>
      <p:sp>
        <p:nvSpPr>
          <p:cNvPr id="56" name="Shape 54"/>
          <p:cNvSpPr/>
          <p:nvPr/>
        </p:nvSpPr>
        <p:spPr>
          <a:xfrm>
            <a:off x="9774936" y="1874520"/>
            <a:ext cx="841248" cy="329184"/>
          </a:xfrm>
          <a:prstGeom prst="rect">
            <a:avLst/>
          </a:prstGeom>
          <a:solidFill>
            <a:srgbClr val="1B2A44"/>
          </a:solidFill>
          <a:ln/>
        </p:spPr>
      </p:sp>
      <p:sp>
        <p:nvSpPr>
          <p:cNvPr id="57" name="Text 55"/>
          <p:cNvSpPr txBox="1"/>
          <p:nvPr/>
        </p:nvSpPr>
        <p:spPr>
          <a:xfrm>
            <a:off x="9774936"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南面</a:t>
            </a:r>
            <a:endParaRPr lang="en-US" sz="1000" dirty="0"/>
          </a:p>
        </p:txBody>
      </p:sp>
      <p:sp>
        <p:nvSpPr>
          <p:cNvPr id="58" name="Shape 56"/>
          <p:cNvSpPr/>
          <p:nvPr/>
        </p:nvSpPr>
        <p:spPr>
          <a:xfrm>
            <a:off x="10661904" y="1874520"/>
            <a:ext cx="841248" cy="329184"/>
          </a:xfrm>
          <a:prstGeom prst="rect">
            <a:avLst/>
          </a:prstGeom>
          <a:solidFill>
            <a:srgbClr val="1B2A44"/>
          </a:solidFill>
          <a:ln/>
        </p:spPr>
      </p:sp>
      <p:sp>
        <p:nvSpPr>
          <p:cNvPr id="59" name="Text 57"/>
          <p:cNvSpPr txBox="1"/>
          <p:nvPr/>
        </p:nvSpPr>
        <p:spPr>
          <a:xfrm>
            <a:off x="10661904"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西面</a:t>
            </a:r>
            <a:endParaRPr lang="en-US" sz="1000" dirty="0"/>
          </a:p>
        </p:txBody>
      </p:sp>
      <p:sp>
        <p:nvSpPr>
          <p:cNvPr id="60" name="Text 58"/>
          <p:cNvSpPr txBox="1"/>
          <p:nvPr/>
        </p:nvSpPr>
        <p:spPr>
          <a:xfrm>
            <a:off x="7178040" y="224028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帯5</a:t>
            </a:r>
            <a:endParaRPr lang="en-US" sz="1000" dirty="0"/>
          </a:p>
        </p:txBody>
      </p:sp>
      <p:sp>
        <p:nvSpPr>
          <p:cNvPr id="61" name="Shape 59"/>
          <p:cNvSpPr/>
          <p:nvPr/>
        </p:nvSpPr>
        <p:spPr>
          <a:xfrm>
            <a:off x="8001000" y="2240280"/>
            <a:ext cx="841248" cy="329184"/>
          </a:xfrm>
          <a:prstGeom prst="rect">
            <a:avLst/>
          </a:prstGeom>
          <a:solidFill>
            <a:srgbClr val="F3F5F8"/>
          </a:solidFill>
          <a:ln/>
        </p:spPr>
      </p:sp>
      <p:sp>
        <p:nvSpPr>
          <p:cNvPr id="62" name="Text 60"/>
          <p:cNvSpPr txBox="1"/>
          <p:nvPr/>
        </p:nvSpPr>
        <p:spPr>
          <a:xfrm>
            <a:off x="8001000"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北,5</a:t>
            </a:r>
            <a:endParaRPr lang="en-US" sz="1000" dirty="0"/>
          </a:p>
        </p:txBody>
      </p:sp>
      <p:sp>
        <p:nvSpPr>
          <p:cNvPr id="63" name="Shape 61"/>
          <p:cNvSpPr/>
          <p:nvPr/>
        </p:nvSpPr>
        <p:spPr>
          <a:xfrm>
            <a:off x="8887968" y="2240280"/>
            <a:ext cx="841248" cy="329184"/>
          </a:xfrm>
          <a:prstGeom prst="rect">
            <a:avLst/>
          </a:prstGeom>
          <a:solidFill>
            <a:srgbClr val="F3F5F8"/>
          </a:solidFill>
          <a:ln/>
        </p:spPr>
      </p:sp>
      <p:sp>
        <p:nvSpPr>
          <p:cNvPr id="64" name="Text 62"/>
          <p:cNvSpPr txBox="1"/>
          <p:nvPr/>
        </p:nvSpPr>
        <p:spPr>
          <a:xfrm>
            <a:off x="8887968"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東,5</a:t>
            </a:r>
            <a:endParaRPr lang="en-US" sz="1000" dirty="0"/>
          </a:p>
        </p:txBody>
      </p:sp>
      <p:sp>
        <p:nvSpPr>
          <p:cNvPr id="65" name="Shape 63"/>
          <p:cNvSpPr/>
          <p:nvPr/>
        </p:nvSpPr>
        <p:spPr>
          <a:xfrm>
            <a:off x="9774936" y="2240280"/>
            <a:ext cx="841248" cy="329184"/>
          </a:xfrm>
          <a:prstGeom prst="rect">
            <a:avLst/>
          </a:prstGeom>
          <a:solidFill>
            <a:srgbClr val="FBEBDA"/>
          </a:solidFill>
          <a:ln/>
        </p:spPr>
      </p:sp>
      <p:sp>
        <p:nvSpPr>
          <p:cNvPr id="66" name="Text 64"/>
          <p:cNvSpPr txBox="1"/>
          <p:nvPr/>
        </p:nvSpPr>
        <p:spPr>
          <a:xfrm>
            <a:off x="9774936"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南,5</a:t>
            </a:r>
            <a:endParaRPr lang="en-US" sz="1000" dirty="0"/>
          </a:p>
        </p:txBody>
      </p:sp>
      <p:sp>
        <p:nvSpPr>
          <p:cNvPr id="67" name="Shape 65"/>
          <p:cNvSpPr/>
          <p:nvPr/>
        </p:nvSpPr>
        <p:spPr>
          <a:xfrm>
            <a:off x="10661904" y="2240280"/>
            <a:ext cx="841248" cy="329184"/>
          </a:xfrm>
          <a:prstGeom prst="rect">
            <a:avLst/>
          </a:prstGeom>
          <a:solidFill>
            <a:srgbClr val="F3F5F8"/>
          </a:solidFill>
          <a:ln/>
        </p:spPr>
      </p:sp>
      <p:sp>
        <p:nvSpPr>
          <p:cNvPr id="68" name="Text 66"/>
          <p:cNvSpPr txBox="1"/>
          <p:nvPr/>
        </p:nvSpPr>
        <p:spPr>
          <a:xfrm>
            <a:off x="10661904"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西,5</a:t>
            </a:r>
            <a:endParaRPr lang="en-US" sz="1000" dirty="0"/>
          </a:p>
        </p:txBody>
      </p:sp>
      <p:sp>
        <p:nvSpPr>
          <p:cNvPr id="69" name="Text 67"/>
          <p:cNvSpPr txBox="1"/>
          <p:nvPr/>
        </p:nvSpPr>
        <p:spPr>
          <a:xfrm>
            <a:off x="7178040" y="260604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帯4</a:t>
            </a:r>
            <a:endParaRPr lang="en-US" sz="1000" dirty="0"/>
          </a:p>
        </p:txBody>
      </p:sp>
      <p:sp>
        <p:nvSpPr>
          <p:cNvPr id="70" name="Shape 68"/>
          <p:cNvSpPr/>
          <p:nvPr/>
        </p:nvSpPr>
        <p:spPr>
          <a:xfrm>
            <a:off x="8001000" y="2606040"/>
            <a:ext cx="841248" cy="329184"/>
          </a:xfrm>
          <a:prstGeom prst="rect">
            <a:avLst/>
          </a:prstGeom>
          <a:solidFill>
            <a:srgbClr val="F3F5F8"/>
          </a:solidFill>
          <a:ln/>
        </p:spPr>
      </p:sp>
      <p:sp>
        <p:nvSpPr>
          <p:cNvPr id="71" name="Text 69"/>
          <p:cNvSpPr txBox="1"/>
          <p:nvPr/>
        </p:nvSpPr>
        <p:spPr>
          <a:xfrm>
            <a:off x="8001000"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北,4</a:t>
            </a:r>
            <a:endParaRPr lang="en-US" sz="1000" dirty="0"/>
          </a:p>
        </p:txBody>
      </p:sp>
      <p:sp>
        <p:nvSpPr>
          <p:cNvPr id="72" name="Shape 70"/>
          <p:cNvSpPr/>
          <p:nvPr/>
        </p:nvSpPr>
        <p:spPr>
          <a:xfrm>
            <a:off x="8887968" y="2606040"/>
            <a:ext cx="841248" cy="329184"/>
          </a:xfrm>
          <a:prstGeom prst="rect">
            <a:avLst/>
          </a:prstGeom>
          <a:solidFill>
            <a:srgbClr val="F3F5F8"/>
          </a:solidFill>
          <a:ln/>
        </p:spPr>
      </p:sp>
      <p:sp>
        <p:nvSpPr>
          <p:cNvPr id="73" name="Text 71"/>
          <p:cNvSpPr txBox="1"/>
          <p:nvPr/>
        </p:nvSpPr>
        <p:spPr>
          <a:xfrm>
            <a:off x="8887968"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東,4</a:t>
            </a:r>
            <a:endParaRPr lang="en-US" sz="1000" dirty="0"/>
          </a:p>
        </p:txBody>
      </p:sp>
      <p:sp>
        <p:nvSpPr>
          <p:cNvPr id="74" name="Shape 72"/>
          <p:cNvSpPr/>
          <p:nvPr/>
        </p:nvSpPr>
        <p:spPr>
          <a:xfrm>
            <a:off x="9774936" y="2606040"/>
            <a:ext cx="841248" cy="329184"/>
          </a:xfrm>
          <a:prstGeom prst="rect">
            <a:avLst/>
          </a:prstGeom>
          <a:solidFill>
            <a:srgbClr val="FBEBDA"/>
          </a:solidFill>
          <a:ln/>
        </p:spPr>
      </p:sp>
      <p:sp>
        <p:nvSpPr>
          <p:cNvPr id="75" name="Text 73"/>
          <p:cNvSpPr txBox="1"/>
          <p:nvPr/>
        </p:nvSpPr>
        <p:spPr>
          <a:xfrm>
            <a:off x="9774936"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南,4</a:t>
            </a:r>
            <a:endParaRPr lang="en-US" sz="1000" dirty="0"/>
          </a:p>
        </p:txBody>
      </p:sp>
      <p:sp>
        <p:nvSpPr>
          <p:cNvPr id="76" name="Shape 74"/>
          <p:cNvSpPr/>
          <p:nvPr/>
        </p:nvSpPr>
        <p:spPr>
          <a:xfrm>
            <a:off x="10661904" y="2606040"/>
            <a:ext cx="841248" cy="329184"/>
          </a:xfrm>
          <a:prstGeom prst="rect">
            <a:avLst/>
          </a:prstGeom>
          <a:solidFill>
            <a:srgbClr val="F3F5F8"/>
          </a:solidFill>
          <a:ln/>
        </p:spPr>
      </p:sp>
      <p:sp>
        <p:nvSpPr>
          <p:cNvPr id="77" name="Text 75"/>
          <p:cNvSpPr txBox="1"/>
          <p:nvPr/>
        </p:nvSpPr>
        <p:spPr>
          <a:xfrm>
            <a:off x="10661904"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西,4</a:t>
            </a:r>
            <a:endParaRPr lang="en-US" sz="1000" dirty="0"/>
          </a:p>
        </p:txBody>
      </p:sp>
      <p:sp>
        <p:nvSpPr>
          <p:cNvPr id="78" name="Text 76"/>
          <p:cNvSpPr txBox="1"/>
          <p:nvPr/>
        </p:nvSpPr>
        <p:spPr>
          <a:xfrm>
            <a:off x="7178040" y="297180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帯3</a:t>
            </a:r>
            <a:endParaRPr lang="en-US" sz="1000" dirty="0"/>
          </a:p>
        </p:txBody>
      </p:sp>
      <p:sp>
        <p:nvSpPr>
          <p:cNvPr id="79" name="Shape 77"/>
          <p:cNvSpPr/>
          <p:nvPr/>
        </p:nvSpPr>
        <p:spPr>
          <a:xfrm>
            <a:off x="8001000" y="2971800"/>
            <a:ext cx="841248" cy="329184"/>
          </a:xfrm>
          <a:prstGeom prst="rect">
            <a:avLst/>
          </a:prstGeom>
          <a:solidFill>
            <a:srgbClr val="F3F5F8"/>
          </a:solidFill>
          <a:ln/>
        </p:spPr>
      </p:sp>
      <p:sp>
        <p:nvSpPr>
          <p:cNvPr id="80" name="Text 78"/>
          <p:cNvSpPr txBox="1"/>
          <p:nvPr/>
        </p:nvSpPr>
        <p:spPr>
          <a:xfrm>
            <a:off x="8001000"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北,3</a:t>
            </a:r>
            <a:endParaRPr lang="en-US" sz="1000" dirty="0"/>
          </a:p>
        </p:txBody>
      </p:sp>
      <p:sp>
        <p:nvSpPr>
          <p:cNvPr id="81" name="Shape 79"/>
          <p:cNvSpPr/>
          <p:nvPr/>
        </p:nvSpPr>
        <p:spPr>
          <a:xfrm>
            <a:off x="8887968" y="2971800"/>
            <a:ext cx="841248" cy="329184"/>
          </a:xfrm>
          <a:prstGeom prst="rect">
            <a:avLst/>
          </a:prstGeom>
          <a:solidFill>
            <a:srgbClr val="F3F5F8"/>
          </a:solidFill>
          <a:ln/>
        </p:spPr>
      </p:sp>
      <p:sp>
        <p:nvSpPr>
          <p:cNvPr id="82" name="Text 80"/>
          <p:cNvSpPr txBox="1"/>
          <p:nvPr/>
        </p:nvSpPr>
        <p:spPr>
          <a:xfrm>
            <a:off x="8887968"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東,3</a:t>
            </a:r>
            <a:endParaRPr lang="en-US" sz="1000" dirty="0"/>
          </a:p>
        </p:txBody>
      </p:sp>
      <p:sp>
        <p:nvSpPr>
          <p:cNvPr id="83" name="Shape 81"/>
          <p:cNvSpPr/>
          <p:nvPr/>
        </p:nvSpPr>
        <p:spPr>
          <a:xfrm>
            <a:off x="9774936" y="2971800"/>
            <a:ext cx="841248" cy="329184"/>
          </a:xfrm>
          <a:prstGeom prst="rect">
            <a:avLst/>
          </a:prstGeom>
          <a:solidFill>
            <a:srgbClr val="FBEBDA"/>
          </a:solidFill>
          <a:ln/>
        </p:spPr>
      </p:sp>
      <p:sp>
        <p:nvSpPr>
          <p:cNvPr id="84" name="Text 82"/>
          <p:cNvSpPr txBox="1"/>
          <p:nvPr/>
        </p:nvSpPr>
        <p:spPr>
          <a:xfrm>
            <a:off x="9774936"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南,3</a:t>
            </a:r>
            <a:endParaRPr lang="en-US" sz="1000" dirty="0"/>
          </a:p>
        </p:txBody>
      </p:sp>
      <p:sp>
        <p:nvSpPr>
          <p:cNvPr id="85" name="Shape 83"/>
          <p:cNvSpPr/>
          <p:nvPr/>
        </p:nvSpPr>
        <p:spPr>
          <a:xfrm>
            <a:off x="10661904" y="2971800"/>
            <a:ext cx="841248" cy="329184"/>
          </a:xfrm>
          <a:prstGeom prst="rect">
            <a:avLst/>
          </a:prstGeom>
          <a:solidFill>
            <a:srgbClr val="F3F5F8"/>
          </a:solidFill>
          <a:ln/>
        </p:spPr>
      </p:sp>
      <p:sp>
        <p:nvSpPr>
          <p:cNvPr id="86" name="Text 84"/>
          <p:cNvSpPr txBox="1"/>
          <p:nvPr/>
        </p:nvSpPr>
        <p:spPr>
          <a:xfrm>
            <a:off x="10661904"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西,3</a:t>
            </a:r>
            <a:endParaRPr lang="en-US" sz="1000" dirty="0"/>
          </a:p>
        </p:txBody>
      </p:sp>
      <p:sp>
        <p:nvSpPr>
          <p:cNvPr id="87" name="Text 85"/>
          <p:cNvSpPr txBox="1"/>
          <p:nvPr/>
        </p:nvSpPr>
        <p:spPr>
          <a:xfrm>
            <a:off x="7178040" y="333756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帯2</a:t>
            </a:r>
            <a:endParaRPr lang="en-US" sz="1000" dirty="0"/>
          </a:p>
        </p:txBody>
      </p:sp>
      <p:sp>
        <p:nvSpPr>
          <p:cNvPr id="88" name="Shape 86"/>
          <p:cNvSpPr/>
          <p:nvPr/>
        </p:nvSpPr>
        <p:spPr>
          <a:xfrm>
            <a:off x="8001000" y="3337560"/>
            <a:ext cx="841248" cy="329184"/>
          </a:xfrm>
          <a:prstGeom prst="rect">
            <a:avLst/>
          </a:prstGeom>
          <a:solidFill>
            <a:srgbClr val="F3F5F8"/>
          </a:solidFill>
          <a:ln/>
        </p:spPr>
      </p:sp>
      <p:sp>
        <p:nvSpPr>
          <p:cNvPr id="89" name="Text 87"/>
          <p:cNvSpPr txBox="1"/>
          <p:nvPr/>
        </p:nvSpPr>
        <p:spPr>
          <a:xfrm>
            <a:off x="8001000"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北,2</a:t>
            </a:r>
            <a:endParaRPr lang="en-US" sz="1000" dirty="0"/>
          </a:p>
        </p:txBody>
      </p:sp>
      <p:sp>
        <p:nvSpPr>
          <p:cNvPr id="90" name="Shape 88"/>
          <p:cNvSpPr/>
          <p:nvPr/>
        </p:nvSpPr>
        <p:spPr>
          <a:xfrm>
            <a:off x="8887968" y="3337560"/>
            <a:ext cx="841248" cy="329184"/>
          </a:xfrm>
          <a:prstGeom prst="rect">
            <a:avLst/>
          </a:prstGeom>
          <a:solidFill>
            <a:srgbClr val="F3F5F8"/>
          </a:solidFill>
          <a:ln/>
        </p:spPr>
      </p:sp>
      <p:sp>
        <p:nvSpPr>
          <p:cNvPr id="91" name="Text 89"/>
          <p:cNvSpPr txBox="1"/>
          <p:nvPr/>
        </p:nvSpPr>
        <p:spPr>
          <a:xfrm>
            <a:off x="8887968"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東,2</a:t>
            </a:r>
            <a:endParaRPr lang="en-US" sz="1000" dirty="0"/>
          </a:p>
        </p:txBody>
      </p:sp>
      <p:sp>
        <p:nvSpPr>
          <p:cNvPr id="92" name="Shape 90"/>
          <p:cNvSpPr/>
          <p:nvPr/>
        </p:nvSpPr>
        <p:spPr>
          <a:xfrm>
            <a:off x="9774936" y="3337560"/>
            <a:ext cx="841248" cy="329184"/>
          </a:xfrm>
          <a:prstGeom prst="rect">
            <a:avLst/>
          </a:prstGeom>
          <a:solidFill>
            <a:srgbClr val="FBEBDA"/>
          </a:solidFill>
          <a:ln/>
        </p:spPr>
      </p:sp>
      <p:sp>
        <p:nvSpPr>
          <p:cNvPr id="93" name="Text 91"/>
          <p:cNvSpPr txBox="1"/>
          <p:nvPr/>
        </p:nvSpPr>
        <p:spPr>
          <a:xfrm>
            <a:off x="9774936"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南,2</a:t>
            </a:r>
            <a:endParaRPr lang="en-US" sz="1000" dirty="0"/>
          </a:p>
        </p:txBody>
      </p:sp>
      <p:sp>
        <p:nvSpPr>
          <p:cNvPr id="94" name="Shape 92"/>
          <p:cNvSpPr/>
          <p:nvPr/>
        </p:nvSpPr>
        <p:spPr>
          <a:xfrm>
            <a:off x="10661904" y="3337560"/>
            <a:ext cx="841248" cy="329184"/>
          </a:xfrm>
          <a:prstGeom prst="rect">
            <a:avLst/>
          </a:prstGeom>
          <a:solidFill>
            <a:srgbClr val="F3F5F8"/>
          </a:solidFill>
          <a:ln/>
        </p:spPr>
      </p:sp>
      <p:sp>
        <p:nvSpPr>
          <p:cNvPr id="95" name="Text 93"/>
          <p:cNvSpPr txBox="1"/>
          <p:nvPr/>
        </p:nvSpPr>
        <p:spPr>
          <a:xfrm>
            <a:off x="10661904"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西,2</a:t>
            </a:r>
            <a:endParaRPr lang="en-US" sz="1000" dirty="0"/>
          </a:p>
        </p:txBody>
      </p:sp>
      <p:sp>
        <p:nvSpPr>
          <p:cNvPr id="96" name="Text 94"/>
          <p:cNvSpPr txBox="1"/>
          <p:nvPr/>
        </p:nvSpPr>
        <p:spPr>
          <a:xfrm>
            <a:off x="7178040" y="370332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帯1</a:t>
            </a:r>
            <a:endParaRPr lang="en-US" sz="1000" dirty="0"/>
          </a:p>
        </p:txBody>
      </p:sp>
      <p:sp>
        <p:nvSpPr>
          <p:cNvPr id="97" name="Shape 95"/>
          <p:cNvSpPr/>
          <p:nvPr/>
        </p:nvSpPr>
        <p:spPr>
          <a:xfrm>
            <a:off x="8001000" y="3703320"/>
            <a:ext cx="841248" cy="329184"/>
          </a:xfrm>
          <a:prstGeom prst="rect">
            <a:avLst/>
          </a:prstGeom>
          <a:solidFill>
            <a:srgbClr val="F3F5F8"/>
          </a:solidFill>
          <a:ln/>
        </p:spPr>
      </p:sp>
      <p:sp>
        <p:nvSpPr>
          <p:cNvPr id="98" name="Text 96"/>
          <p:cNvSpPr txBox="1"/>
          <p:nvPr/>
        </p:nvSpPr>
        <p:spPr>
          <a:xfrm>
            <a:off x="8001000"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北,1</a:t>
            </a:r>
            <a:endParaRPr lang="en-US" sz="1000" dirty="0"/>
          </a:p>
        </p:txBody>
      </p:sp>
      <p:sp>
        <p:nvSpPr>
          <p:cNvPr id="99" name="Shape 97"/>
          <p:cNvSpPr/>
          <p:nvPr/>
        </p:nvSpPr>
        <p:spPr>
          <a:xfrm>
            <a:off x="8887968" y="3703320"/>
            <a:ext cx="841248" cy="329184"/>
          </a:xfrm>
          <a:prstGeom prst="rect">
            <a:avLst/>
          </a:prstGeom>
          <a:solidFill>
            <a:srgbClr val="F3F5F8"/>
          </a:solidFill>
          <a:ln/>
        </p:spPr>
      </p:sp>
      <p:sp>
        <p:nvSpPr>
          <p:cNvPr id="100" name="Text 98"/>
          <p:cNvSpPr txBox="1"/>
          <p:nvPr/>
        </p:nvSpPr>
        <p:spPr>
          <a:xfrm>
            <a:off x="8887968"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東,1</a:t>
            </a:r>
            <a:endParaRPr lang="en-US" sz="1000" dirty="0"/>
          </a:p>
        </p:txBody>
      </p:sp>
      <p:sp>
        <p:nvSpPr>
          <p:cNvPr id="101" name="Shape 99"/>
          <p:cNvSpPr/>
          <p:nvPr/>
        </p:nvSpPr>
        <p:spPr>
          <a:xfrm>
            <a:off x="9774936" y="3703320"/>
            <a:ext cx="841248" cy="329184"/>
          </a:xfrm>
          <a:prstGeom prst="rect">
            <a:avLst/>
          </a:prstGeom>
          <a:solidFill>
            <a:srgbClr val="FBEBDA"/>
          </a:solidFill>
          <a:ln/>
        </p:spPr>
      </p:sp>
      <p:sp>
        <p:nvSpPr>
          <p:cNvPr id="102" name="Text 100"/>
          <p:cNvSpPr txBox="1"/>
          <p:nvPr/>
        </p:nvSpPr>
        <p:spPr>
          <a:xfrm>
            <a:off x="9774936"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南,1</a:t>
            </a:r>
            <a:endParaRPr lang="en-US" sz="1000" dirty="0"/>
          </a:p>
        </p:txBody>
      </p:sp>
      <p:sp>
        <p:nvSpPr>
          <p:cNvPr id="103" name="Shape 101"/>
          <p:cNvSpPr/>
          <p:nvPr/>
        </p:nvSpPr>
        <p:spPr>
          <a:xfrm>
            <a:off x="10661904" y="3703320"/>
            <a:ext cx="841248" cy="329184"/>
          </a:xfrm>
          <a:prstGeom prst="rect">
            <a:avLst/>
          </a:prstGeom>
          <a:solidFill>
            <a:srgbClr val="F3F5F8"/>
          </a:solidFill>
          <a:ln/>
        </p:spPr>
      </p:sp>
      <p:sp>
        <p:nvSpPr>
          <p:cNvPr id="104" name="Text 102"/>
          <p:cNvSpPr txBox="1"/>
          <p:nvPr/>
        </p:nvSpPr>
        <p:spPr>
          <a:xfrm>
            <a:off x="10661904"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西,1</a:t>
            </a:r>
            <a:endParaRPr lang="en-US" sz="1000" dirty="0"/>
          </a:p>
        </p:txBody>
      </p:sp>
      <p:sp>
        <p:nvSpPr>
          <p:cNvPr id="105" name="Text 103"/>
          <p:cNvSpPr txBox="1"/>
          <p:nvPr/>
        </p:nvSpPr>
        <p:spPr>
          <a:xfrm>
            <a:off x="7132320" y="4114800"/>
            <a:ext cx="461772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面の平均：Ŷ</a:t>
            </a:r>
            <a:pPr indent="0" marL="0">
              <a:buNone/>
            </a:pPr>
            <a:r>
              <a:rPr lang="en-US" sz="1050" b="1" baseline="-40000" dirty="0">
                <a:solidFill>
                  <a:srgbClr val="C56A2C"/>
                </a:solidFill>
                <a:latin typeface="Yu Gothic" pitchFamily="34" charset="0"/>
                <a:ea typeface="Yu Gothic" pitchFamily="34" charset="-122"/>
                <a:cs typeface="Yu Gothic" pitchFamily="34" charset="-120"/>
              </a:rPr>
              <a:t>f,平均</a:t>
            </a:r>
            <a:pPr indent="0" marL="0">
              <a:buNone/>
            </a:pPr>
            <a:r>
              <a:rPr lang="en-US" sz="1050" b="1" dirty="0">
                <a:solidFill>
                  <a:srgbClr val="C56A2C"/>
                </a:solidFill>
                <a:latin typeface="Yu Gothic" pitchFamily="34" charset="0"/>
                <a:ea typeface="Yu Gothic" pitchFamily="34" charset="-122"/>
                <a:cs typeface="Yu Gothic" pitchFamily="34" charset="-120"/>
              </a:rPr>
              <a:t> ＝ (1/5) Σ</a:t>
            </a:r>
            <a:pPr indent="0" marL="0">
              <a:buNone/>
            </a:pPr>
            <a:r>
              <a:rPr lang="en-US" sz="1050" b="1" baseline="-40000" dirty="0">
                <a:solidFill>
                  <a:srgbClr val="C56A2C"/>
                </a:solidFill>
                <a:latin typeface="Yu Gothic" pitchFamily="34" charset="0"/>
                <a:ea typeface="Yu Gothic" pitchFamily="34" charset="-122"/>
                <a:cs typeface="Yu Gothic" pitchFamily="34" charset="-120"/>
              </a:rPr>
              <a:t>k=1</a:t>
            </a:r>
            <a:pPr indent="0" marL="0">
              <a:buNone/>
            </a:pPr>
            <a:r>
              <a:rPr lang="en-US" sz="1050" b="1" baseline="30000" dirty="0">
                <a:solidFill>
                  <a:srgbClr val="C56A2C"/>
                </a:solidFill>
                <a:latin typeface="Yu Gothic" pitchFamily="34" charset="0"/>
                <a:ea typeface="Yu Gothic" pitchFamily="34" charset="-122"/>
                <a:cs typeface="Yu Gothic" pitchFamily="34" charset="-120"/>
              </a:rPr>
              <a:t>5</a:t>
            </a:r>
            <a:pPr indent="0" marL="0">
              <a:buNone/>
            </a:pPr>
            <a:r>
              <a:rPr lang="en-US" sz="1050" b="1" dirty="0">
                <a:solidFill>
                  <a:srgbClr val="C56A2C"/>
                </a:solidFill>
                <a:latin typeface="Yu Gothic" pitchFamily="34" charset="0"/>
                <a:ea typeface="Yu Gothic" pitchFamily="34" charset="-122"/>
                <a:cs typeface="Yu Gothic" pitchFamily="34" charset="-120"/>
              </a:rPr>
              <a:t> Ŷ</a:t>
            </a:r>
            <a:pPr indent="0" marL="0">
              <a:buNone/>
            </a:pPr>
            <a:r>
              <a:rPr lang="en-US" sz="1050" b="1" baseline="-40000" dirty="0">
                <a:solidFill>
                  <a:srgbClr val="C56A2C"/>
                </a:solidFill>
                <a:latin typeface="Yu Gothic" pitchFamily="34" charset="0"/>
                <a:ea typeface="Yu Gothic" pitchFamily="34" charset="-122"/>
                <a:cs typeface="Yu Gothic" pitchFamily="34" charset="-120"/>
              </a:rPr>
              <a:t>f,k</a:t>
            </a:r>
            <a:pPr indent="0" marL="0">
              <a:buNone/>
            </a:pPr>
            <a:r>
              <a:rPr lang="en-US" sz="1050" b="1" dirty="0">
                <a:solidFill>
                  <a:srgbClr val="C56A2C"/>
                </a:solidFill>
                <a:latin typeface="Yu Gothic" pitchFamily="34" charset="0"/>
                <a:ea typeface="Yu Gothic" pitchFamily="34" charset="-122"/>
                <a:cs typeface="Yu Gothic" pitchFamily="34" charset="-120"/>
              </a:rPr>
              <a:t>　（f＝北・東・南・西）</a:t>
            </a:r>
            <a:endParaRPr lang="en-US" sz="1050" dirty="0"/>
          </a:p>
        </p:txBody>
      </p:sp>
      <p:sp>
        <p:nvSpPr>
          <p:cNvPr id="106" name="Text 104"/>
          <p:cNvSpPr txBox="1"/>
          <p:nvPr/>
        </p:nvSpPr>
        <p:spPr>
          <a:xfrm>
            <a:off x="7132320" y="4526280"/>
            <a:ext cx="4617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中央の高さを変えると、帯の高さも変わる（高さを5等分）</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132320" y="4846320"/>
          <a:ext cx="4617720" cy="914400"/>
        </p:xfrm>
        <a:graphic>
          <a:graphicData uri="http://schemas.openxmlformats.org/drawingml/2006/table">
            <a:tbl>
              <a:tblPr/>
              <a:tblGrid>
                <a:gridCol w="1691640"/>
                <a:gridCol w="731520"/>
                <a:gridCol w="731520"/>
                <a:gridCol w="731520"/>
                <a:gridCol w="73152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H</a:t>
                      </a:r>
                      <a:pPr algn="l" indent="0" marL="0">
                        <a:buNone/>
                      </a:pPr>
                      <a:r>
                        <a:rPr lang="en-US" sz="950" b="1" baseline="-40000" dirty="0">
                          <a:solidFill>
                            <a:srgbClr val="FFFFFF"/>
                          </a:solidFill>
                          <a:latin typeface="Yu Gothic" pitchFamily="34" charset="0"/>
                          <a:ea typeface="Yu Gothic" pitchFamily="34" charset="-122"/>
                          <a:cs typeface="Yu Gothic" pitchFamily="34" charset="-120"/>
                        </a:rPr>
                        <a:t>C</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25m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100m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1帯の高さ（H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1000" b="1" dirty="0">
                          <a:solidFill>
                            <a:srgbClr val="1B2A44"/>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08" name="Text 105"/>
          <p:cNvSpPr txBox="1"/>
          <p:nvPr/>
        </p:nvSpPr>
        <p:spPr>
          <a:xfrm>
            <a:off x="7132320" y="5760720"/>
            <a:ext cx="461772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南1棟の段階では「南面×5帯＝5個」だった出力が、4面に増える。</a:t>
            </a:r>
            <a:endParaRPr lang="en-US" sz="95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建物の有無を 0/1 の変数 sᵢ で表す理由</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「建物がない」ことを、高さや距離の数値ではなく、別の変数で明示する。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30 / 41</a:t>
            </a:r>
            <a:endParaRPr lang="en-US" sz="1100" dirty="0"/>
          </a:p>
        </p:txBody>
      </p:sp>
      <p:sp>
        <p:nvSpPr>
          <p:cNvPr id="10" name="Shape 8"/>
          <p:cNvSpPr/>
          <p:nvPr/>
        </p:nvSpPr>
        <p:spPr>
          <a:xfrm>
            <a:off x="457200" y="1481328"/>
            <a:ext cx="2697480" cy="1783080"/>
          </a:xfrm>
          <a:prstGeom prst="roundRect">
            <a:avLst>
              <a:gd name="adj" fmla="val 3077"/>
            </a:avLst>
          </a:prstGeom>
          <a:solidFill>
            <a:srgbClr val="F3F5F8"/>
          </a:solidFill>
          <a:ln/>
        </p:spPr>
      </p:sp>
      <p:sp>
        <p:nvSpPr>
          <p:cNvPr id="11" name="Shape 9"/>
          <p:cNvSpPr/>
          <p:nvPr/>
        </p:nvSpPr>
        <p:spPr>
          <a:xfrm>
            <a:off x="1188720" y="2212848"/>
            <a:ext cx="274320" cy="274320"/>
          </a:xfrm>
          <a:prstGeom prst="rect">
            <a:avLst/>
          </a:prstGeom>
          <a:solidFill>
            <a:srgbClr val="1B2A44"/>
          </a:solidFill>
          <a:ln/>
        </p:spPr>
      </p:sp>
      <p:sp>
        <p:nvSpPr>
          <p:cNvPr id="12" name="Shape 10"/>
          <p:cNvSpPr/>
          <p:nvPr/>
        </p:nvSpPr>
        <p:spPr>
          <a:xfrm>
            <a:off x="1188720" y="1755648"/>
            <a:ext cx="274320" cy="274320"/>
          </a:xfrm>
          <a:prstGeom prst="rect">
            <a:avLst/>
          </a:prstGeom>
          <a:solidFill>
            <a:srgbClr val="1F6F78"/>
          </a:solidFill>
          <a:ln/>
        </p:spPr>
      </p:sp>
      <p:sp>
        <p:nvSpPr>
          <p:cNvPr id="13" name="Shape 11"/>
          <p:cNvSpPr/>
          <p:nvPr/>
        </p:nvSpPr>
        <p:spPr>
          <a:xfrm>
            <a:off x="1645920" y="2212848"/>
            <a:ext cx="274320" cy="274320"/>
          </a:xfrm>
          <a:prstGeom prst="rect">
            <a:avLst/>
          </a:prstGeom>
          <a:solidFill>
            <a:srgbClr val="1F6F78"/>
          </a:solidFill>
          <a:ln/>
        </p:spPr>
      </p:sp>
      <p:sp>
        <p:nvSpPr>
          <p:cNvPr id="14" name="Shape 12"/>
          <p:cNvSpPr/>
          <p:nvPr/>
        </p:nvSpPr>
        <p:spPr>
          <a:xfrm>
            <a:off x="1188720" y="2670048"/>
            <a:ext cx="274320" cy="274320"/>
          </a:xfrm>
          <a:prstGeom prst="rect">
            <a:avLst/>
          </a:prstGeom>
          <a:solidFill>
            <a:srgbClr val="1F6F78"/>
          </a:solidFill>
          <a:ln/>
        </p:spPr>
      </p:sp>
      <p:sp>
        <p:nvSpPr>
          <p:cNvPr id="15" name="Shape 13"/>
          <p:cNvSpPr/>
          <p:nvPr/>
        </p:nvSpPr>
        <p:spPr>
          <a:xfrm>
            <a:off x="731520" y="2212848"/>
            <a:ext cx="274320" cy="274320"/>
          </a:xfrm>
          <a:prstGeom prst="rect">
            <a:avLst/>
          </a:prstGeom>
          <a:solidFill>
            <a:srgbClr val="1F6F78"/>
          </a:solidFill>
          <a:ln/>
        </p:spPr>
      </p:sp>
      <p:sp>
        <p:nvSpPr>
          <p:cNvPr id="16" name="Text 14"/>
          <p:cNvSpPr txBox="1"/>
          <p:nvPr/>
        </p:nvSpPr>
        <p:spPr>
          <a:xfrm>
            <a:off x="205740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4棟</a:t>
            </a:r>
            <a:endParaRPr lang="en-US" sz="1050" dirty="0"/>
          </a:p>
        </p:txBody>
      </p:sp>
      <p:sp>
        <p:nvSpPr>
          <p:cNvPr id="17" name="Text 15"/>
          <p:cNvSpPr txBox="1"/>
          <p:nvPr/>
        </p:nvSpPr>
        <p:spPr>
          <a:xfrm>
            <a:off x="205740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(1, 1, 1, 1)</a:t>
            </a:r>
            <a:endParaRPr lang="en-US" sz="950" dirty="0"/>
          </a:p>
        </p:txBody>
      </p:sp>
      <p:sp>
        <p:nvSpPr>
          <p:cNvPr id="18" name="Text 16"/>
          <p:cNvSpPr txBox="1"/>
          <p:nvPr/>
        </p:nvSpPr>
        <p:spPr>
          <a:xfrm>
            <a:off x="205740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4</a:t>
            </a:r>
            <a:endParaRPr lang="en-US" sz="950" dirty="0"/>
          </a:p>
        </p:txBody>
      </p:sp>
      <p:sp>
        <p:nvSpPr>
          <p:cNvPr id="19" name="Text 17"/>
          <p:cNvSpPr txBox="1"/>
          <p:nvPr/>
        </p:nvSpPr>
        <p:spPr>
          <a:xfrm>
            <a:off x="205740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20" name="Shape 18"/>
          <p:cNvSpPr/>
          <p:nvPr/>
        </p:nvSpPr>
        <p:spPr>
          <a:xfrm>
            <a:off x="3291840" y="1481328"/>
            <a:ext cx="2697480" cy="1783080"/>
          </a:xfrm>
          <a:prstGeom prst="roundRect">
            <a:avLst>
              <a:gd name="adj" fmla="val 3077"/>
            </a:avLst>
          </a:prstGeom>
          <a:solidFill>
            <a:srgbClr val="F3F5F8"/>
          </a:solidFill>
          <a:ln/>
        </p:spPr>
      </p:sp>
      <p:sp>
        <p:nvSpPr>
          <p:cNvPr id="21" name="Shape 19"/>
          <p:cNvSpPr/>
          <p:nvPr/>
        </p:nvSpPr>
        <p:spPr>
          <a:xfrm>
            <a:off x="4023360" y="2212848"/>
            <a:ext cx="274320" cy="274320"/>
          </a:xfrm>
          <a:prstGeom prst="rect">
            <a:avLst/>
          </a:prstGeom>
          <a:solidFill>
            <a:srgbClr val="1B2A44"/>
          </a:solidFill>
          <a:ln/>
        </p:spPr>
      </p:sp>
      <p:sp>
        <p:nvSpPr>
          <p:cNvPr id="22" name="Shape 20"/>
          <p:cNvSpPr/>
          <p:nvPr/>
        </p:nvSpPr>
        <p:spPr>
          <a:xfrm>
            <a:off x="4023360" y="1755648"/>
            <a:ext cx="274320" cy="274320"/>
          </a:xfrm>
          <a:prstGeom prst="rect">
            <a:avLst/>
          </a:prstGeom>
          <a:solidFill>
            <a:srgbClr val="FFFFFF"/>
          </a:solidFill>
          <a:ln w="9525">
            <a:solidFill>
              <a:srgbClr val="AEB4BC"/>
            </a:solidFill>
            <a:prstDash val="dash"/>
          </a:ln>
        </p:spPr>
      </p:sp>
      <p:sp>
        <p:nvSpPr>
          <p:cNvPr id="23" name="Shape 21"/>
          <p:cNvSpPr/>
          <p:nvPr/>
        </p:nvSpPr>
        <p:spPr>
          <a:xfrm>
            <a:off x="4480560" y="2212848"/>
            <a:ext cx="274320" cy="274320"/>
          </a:xfrm>
          <a:prstGeom prst="rect">
            <a:avLst/>
          </a:prstGeom>
          <a:solidFill>
            <a:srgbClr val="FFFFFF"/>
          </a:solidFill>
          <a:ln w="9525">
            <a:solidFill>
              <a:srgbClr val="AEB4BC"/>
            </a:solidFill>
            <a:prstDash val="dash"/>
          </a:ln>
        </p:spPr>
      </p:sp>
      <p:sp>
        <p:nvSpPr>
          <p:cNvPr id="24" name="Shape 22"/>
          <p:cNvSpPr/>
          <p:nvPr/>
        </p:nvSpPr>
        <p:spPr>
          <a:xfrm>
            <a:off x="4023360" y="2670048"/>
            <a:ext cx="274320" cy="274320"/>
          </a:xfrm>
          <a:prstGeom prst="rect">
            <a:avLst/>
          </a:prstGeom>
          <a:solidFill>
            <a:srgbClr val="1F6F78"/>
          </a:solidFill>
          <a:ln/>
        </p:spPr>
      </p:sp>
      <p:sp>
        <p:nvSpPr>
          <p:cNvPr id="25" name="Shape 23"/>
          <p:cNvSpPr/>
          <p:nvPr/>
        </p:nvSpPr>
        <p:spPr>
          <a:xfrm>
            <a:off x="3566160" y="2212848"/>
            <a:ext cx="274320" cy="274320"/>
          </a:xfrm>
          <a:prstGeom prst="rect">
            <a:avLst/>
          </a:prstGeom>
          <a:solidFill>
            <a:srgbClr val="FFFFFF"/>
          </a:solidFill>
          <a:ln w="9525">
            <a:solidFill>
              <a:srgbClr val="AEB4BC"/>
            </a:solidFill>
            <a:prstDash val="dash"/>
          </a:ln>
        </p:spPr>
      </p:sp>
      <p:sp>
        <p:nvSpPr>
          <p:cNvPr id="26" name="Text 24"/>
          <p:cNvSpPr txBox="1"/>
          <p:nvPr/>
        </p:nvSpPr>
        <p:spPr>
          <a:xfrm>
            <a:off x="489204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南だけ1棟</a:t>
            </a:r>
            <a:endParaRPr lang="en-US" sz="1050" dirty="0"/>
          </a:p>
        </p:txBody>
      </p:sp>
      <p:sp>
        <p:nvSpPr>
          <p:cNvPr id="27" name="Text 25"/>
          <p:cNvSpPr txBox="1"/>
          <p:nvPr/>
        </p:nvSpPr>
        <p:spPr>
          <a:xfrm>
            <a:off x="489204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(0, 0, 1, 0)</a:t>
            </a:r>
            <a:endParaRPr lang="en-US" sz="950" dirty="0"/>
          </a:p>
        </p:txBody>
      </p:sp>
      <p:sp>
        <p:nvSpPr>
          <p:cNvPr id="28" name="Text 26"/>
          <p:cNvSpPr txBox="1"/>
          <p:nvPr/>
        </p:nvSpPr>
        <p:spPr>
          <a:xfrm>
            <a:off x="489204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1</a:t>
            </a:r>
            <a:endParaRPr lang="en-US" sz="950" dirty="0"/>
          </a:p>
        </p:txBody>
      </p:sp>
      <p:sp>
        <p:nvSpPr>
          <p:cNvPr id="29" name="Text 27"/>
          <p:cNvSpPr txBox="1"/>
          <p:nvPr/>
        </p:nvSpPr>
        <p:spPr>
          <a:xfrm>
            <a:off x="489204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30" name="Shape 28"/>
          <p:cNvSpPr/>
          <p:nvPr/>
        </p:nvSpPr>
        <p:spPr>
          <a:xfrm>
            <a:off x="6126480" y="1481328"/>
            <a:ext cx="2697480" cy="1783080"/>
          </a:xfrm>
          <a:prstGeom prst="roundRect">
            <a:avLst>
              <a:gd name="adj" fmla="val 3077"/>
            </a:avLst>
          </a:prstGeom>
          <a:solidFill>
            <a:srgbClr val="F3F5F8"/>
          </a:solidFill>
          <a:ln/>
        </p:spPr>
      </p:sp>
      <p:sp>
        <p:nvSpPr>
          <p:cNvPr id="31" name="Shape 29"/>
          <p:cNvSpPr/>
          <p:nvPr/>
        </p:nvSpPr>
        <p:spPr>
          <a:xfrm>
            <a:off x="6858000" y="2212848"/>
            <a:ext cx="274320" cy="274320"/>
          </a:xfrm>
          <a:prstGeom prst="rect">
            <a:avLst/>
          </a:prstGeom>
          <a:solidFill>
            <a:srgbClr val="1B2A44"/>
          </a:solidFill>
          <a:ln/>
        </p:spPr>
      </p:sp>
      <p:sp>
        <p:nvSpPr>
          <p:cNvPr id="32" name="Shape 30"/>
          <p:cNvSpPr/>
          <p:nvPr/>
        </p:nvSpPr>
        <p:spPr>
          <a:xfrm>
            <a:off x="6858000" y="1755648"/>
            <a:ext cx="274320" cy="274320"/>
          </a:xfrm>
          <a:prstGeom prst="rect">
            <a:avLst/>
          </a:prstGeom>
          <a:solidFill>
            <a:srgbClr val="FFFFFF"/>
          </a:solidFill>
          <a:ln w="9525">
            <a:solidFill>
              <a:srgbClr val="AEB4BC"/>
            </a:solidFill>
            <a:prstDash val="dash"/>
          </a:ln>
        </p:spPr>
      </p:sp>
      <p:sp>
        <p:nvSpPr>
          <p:cNvPr id="33" name="Shape 31"/>
          <p:cNvSpPr/>
          <p:nvPr/>
        </p:nvSpPr>
        <p:spPr>
          <a:xfrm>
            <a:off x="7315200" y="2212848"/>
            <a:ext cx="274320" cy="274320"/>
          </a:xfrm>
          <a:prstGeom prst="rect">
            <a:avLst/>
          </a:prstGeom>
          <a:solidFill>
            <a:srgbClr val="1F6F78"/>
          </a:solidFill>
          <a:ln/>
        </p:spPr>
      </p:sp>
      <p:sp>
        <p:nvSpPr>
          <p:cNvPr id="34" name="Shape 32"/>
          <p:cNvSpPr/>
          <p:nvPr/>
        </p:nvSpPr>
        <p:spPr>
          <a:xfrm>
            <a:off x="6858000" y="2670048"/>
            <a:ext cx="274320" cy="274320"/>
          </a:xfrm>
          <a:prstGeom prst="rect">
            <a:avLst/>
          </a:prstGeom>
          <a:solidFill>
            <a:srgbClr val="1F6F78"/>
          </a:solidFill>
          <a:ln/>
        </p:spPr>
      </p:sp>
      <p:sp>
        <p:nvSpPr>
          <p:cNvPr id="35" name="Shape 33"/>
          <p:cNvSpPr/>
          <p:nvPr/>
        </p:nvSpPr>
        <p:spPr>
          <a:xfrm>
            <a:off x="6400800" y="2212848"/>
            <a:ext cx="274320" cy="274320"/>
          </a:xfrm>
          <a:prstGeom prst="rect">
            <a:avLst/>
          </a:prstGeom>
          <a:solidFill>
            <a:srgbClr val="FFFFFF"/>
          </a:solidFill>
          <a:ln w="9525">
            <a:solidFill>
              <a:srgbClr val="AEB4BC"/>
            </a:solidFill>
            <a:prstDash val="dash"/>
          </a:ln>
        </p:spPr>
      </p:sp>
      <p:sp>
        <p:nvSpPr>
          <p:cNvPr id="36" name="Text 34"/>
          <p:cNvSpPr txBox="1"/>
          <p:nvPr/>
        </p:nvSpPr>
        <p:spPr>
          <a:xfrm>
            <a:off x="772668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東・南の2棟</a:t>
            </a:r>
            <a:endParaRPr lang="en-US" sz="1050" dirty="0"/>
          </a:p>
        </p:txBody>
      </p:sp>
      <p:sp>
        <p:nvSpPr>
          <p:cNvPr id="37" name="Text 35"/>
          <p:cNvSpPr txBox="1"/>
          <p:nvPr/>
        </p:nvSpPr>
        <p:spPr>
          <a:xfrm>
            <a:off x="772668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(0, 1, 1, 0)</a:t>
            </a:r>
            <a:endParaRPr lang="en-US" sz="950" dirty="0"/>
          </a:p>
        </p:txBody>
      </p:sp>
      <p:sp>
        <p:nvSpPr>
          <p:cNvPr id="38" name="Text 36"/>
          <p:cNvSpPr txBox="1"/>
          <p:nvPr/>
        </p:nvSpPr>
        <p:spPr>
          <a:xfrm>
            <a:off x="772668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2</a:t>
            </a:r>
            <a:endParaRPr lang="en-US" sz="950" dirty="0"/>
          </a:p>
        </p:txBody>
      </p:sp>
      <p:sp>
        <p:nvSpPr>
          <p:cNvPr id="39" name="Text 37"/>
          <p:cNvSpPr txBox="1"/>
          <p:nvPr/>
        </p:nvSpPr>
        <p:spPr>
          <a:xfrm>
            <a:off x="772668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40" name="Shape 38"/>
          <p:cNvSpPr/>
          <p:nvPr/>
        </p:nvSpPr>
        <p:spPr>
          <a:xfrm>
            <a:off x="8961120" y="1481328"/>
            <a:ext cx="2697480" cy="1783080"/>
          </a:xfrm>
          <a:prstGeom prst="roundRect">
            <a:avLst>
              <a:gd name="adj" fmla="val 3077"/>
            </a:avLst>
          </a:prstGeom>
          <a:solidFill>
            <a:srgbClr val="F3F5F8"/>
          </a:solidFill>
          <a:ln/>
        </p:spPr>
      </p:sp>
      <p:sp>
        <p:nvSpPr>
          <p:cNvPr id="41" name="Shape 39"/>
          <p:cNvSpPr/>
          <p:nvPr/>
        </p:nvSpPr>
        <p:spPr>
          <a:xfrm>
            <a:off x="9692640" y="2212848"/>
            <a:ext cx="274320" cy="274320"/>
          </a:xfrm>
          <a:prstGeom prst="rect">
            <a:avLst/>
          </a:prstGeom>
          <a:solidFill>
            <a:srgbClr val="1B2A44"/>
          </a:solidFill>
          <a:ln/>
        </p:spPr>
      </p:sp>
      <p:sp>
        <p:nvSpPr>
          <p:cNvPr id="42" name="Shape 40"/>
          <p:cNvSpPr/>
          <p:nvPr/>
        </p:nvSpPr>
        <p:spPr>
          <a:xfrm>
            <a:off x="9692640" y="1755648"/>
            <a:ext cx="274320" cy="274320"/>
          </a:xfrm>
          <a:prstGeom prst="rect">
            <a:avLst/>
          </a:prstGeom>
          <a:solidFill>
            <a:srgbClr val="FFFFFF"/>
          </a:solidFill>
          <a:ln w="9525">
            <a:solidFill>
              <a:srgbClr val="AEB4BC"/>
            </a:solidFill>
            <a:prstDash val="dash"/>
          </a:ln>
        </p:spPr>
      </p:sp>
      <p:sp>
        <p:nvSpPr>
          <p:cNvPr id="43" name="Shape 41"/>
          <p:cNvSpPr/>
          <p:nvPr/>
        </p:nvSpPr>
        <p:spPr>
          <a:xfrm>
            <a:off x="10149840" y="2212848"/>
            <a:ext cx="274320" cy="274320"/>
          </a:xfrm>
          <a:prstGeom prst="rect">
            <a:avLst/>
          </a:prstGeom>
          <a:solidFill>
            <a:srgbClr val="FFFFFF"/>
          </a:solidFill>
          <a:ln w="9525">
            <a:solidFill>
              <a:srgbClr val="AEB4BC"/>
            </a:solidFill>
            <a:prstDash val="dash"/>
          </a:ln>
        </p:spPr>
      </p:sp>
      <p:sp>
        <p:nvSpPr>
          <p:cNvPr id="44" name="Shape 42"/>
          <p:cNvSpPr/>
          <p:nvPr/>
        </p:nvSpPr>
        <p:spPr>
          <a:xfrm>
            <a:off x="9692640" y="2670048"/>
            <a:ext cx="274320" cy="274320"/>
          </a:xfrm>
          <a:prstGeom prst="rect">
            <a:avLst/>
          </a:prstGeom>
          <a:solidFill>
            <a:srgbClr val="FFFFFF"/>
          </a:solidFill>
          <a:ln w="9525">
            <a:solidFill>
              <a:srgbClr val="AEB4BC"/>
            </a:solidFill>
            <a:prstDash val="dash"/>
          </a:ln>
        </p:spPr>
      </p:sp>
      <p:sp>
        <p:nvSpPr>
          <p:cNvPr id="45" name="Shape 43"/>
          <p:cNvSpPr/>
          <p:nvPr/>
        </p:nvSpPr>
        <p:spPr>
          <a:xfrm>
            <a:off x="9235440" y="2212848"/>
            <a:ext cx="274320" cy="274320"/>
          </a:xfrm>
          <a:prstGeom prst="rect">
            <a:avLst/>
          </a:prstGeom>
          <a:solidFill>
            <a:srgbClr val="FFFFFF"/>
          </a:solidFill>
          <a:ln w="9525">
            <a:solidFill>
              <a:srgbClr val="AEB4BC"/>
            </a:solidFill>
            <a:prstDash val="dash"/>
          </a:ln>
        </p:spPr>
      </p:sp>
      <p:sp>
        <p:nvSpPr>
          <p:cNvPr id="46" name="Text 44"/>
          <p:cNvSpPr txBox="1"/>
          <p:nvPr/>
        </p:nvSpPr>
        <p:spPr>
          <a:xfrm>
            <a:off x="1056132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0棟（周囲なし）</a:t>
            </a:r>
            <a:endParaRPr lang="en-US" sz="1050" dirty="0"/>
          </a:p>
        </p:txBody>
      </p:sp>
      <p:sp>
        <p:nvSpPr>
          <p:cNvPr id="47" name="Text 45"/>
          <p:cNvSpPr txBox="1"/>
          <p:nvPr/>
        </p:nvSpPr>
        <p:spPr>
          <a:xfrm>
            <a:off x="1056132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(0, 0, 0, 0)</a:t>
            </a:r>
            <a:endParaRPr lang="en-US" sz="950" dirty="0"/>
          </a:p>
        </p:txBody>
      </p:sp>
      <p:sp>
        <p:nvSpPr>
          <p:cNvPr id="48" name="Text 46"/>
          <p:cNvSpPr txBox="1"/>
          <p:nvPr/>
        </p:nvSpPr>
        <p:spPr>
          <a:xfrm>
            <a:off x="1056132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0</a:t>
            </a:r>
            <a:endParaRPr lang="en-US" sz="950" dirty="0"/>
          </a:p>
        </p:txBody>
      </p:sp>
      <p:sp>
        <p:nvSpPr>
          <p:cNvPr id="49" name="Text 47"/>
          <p:cNvSpPr txBox="1"/>
          <p:nvPr/>
        </p:nvSpPr>
        <p:spPr>
          <a:xfrm>
            <a:off x="1056132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50" name="Shape 48"/>
          <p:cNvSpPr/>
          <p:nvPr/>
        </p:nvSpPr>
        <p:spPr>
          <a:xfrm>
            <a:off x="457200" y="3474720"/>
            <a:ext cx="5486400" cy="1325880"/>
          </a:xfrm>
          <a:prstGeom prst="roundRect">
            <a:avLst>
              <a:gd name="adj" fmla="val 4138"/>
            </a:avLst>
          </a:prstGeom>
          <a:solidFill>
            <a:srgbClr val="FFFFFF"/>
          </a:solidFill>
          <a:ln w="9525">
            <a:solidFill>
              <a:srgbClr val="DCE1E7"/>
            </a:solidFill>
            <a:prstDash val="solid"/>
          </a:ln>
        </p:spPr>
      </p:sp>
      <p:sp>
        <p:nvSpPr>
          <p:cNvPr id="51" name="Shape 49"/>
          <p:cNvSpPr/>
          <p:nvPr/>
        </p:nvSpPr>
        <p:spPr>
          <a:xfrm>
            <a:off x="594360" y="3611880"/>
            <a:ext cx="310896" cy="310896"/>
          </a:xfrm>
          <a:prstGeom prst="ellipse">
            <a:avLst/>
          </a:prstGeom>
          <a:solidFill>
            <a:srgbClr val="1F6F78"/>
          </a:solidFill>
          <a:ln/>
        </p:spPr>
      </p:sp>
      <p:sp>
        <p:nvSpPr>
          <p:cNvPr id="52" name="Text 50"/>
          <p:cNvSpPr txBox="1"/>
          <p:nvPr/>
        </p:nvSpPr>
        <p:spPr>
          <a:xfrm>
            <a:off x="594360" y="36118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53" name="Text 51"/>
          <p:cNvSpPr txBox="1"/>
          <p:nvPr/>
        </p:nvSpPr>
        <p:spPr>
          <a:xfrm>
            <a:off x="1005840" y="3584448"/>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建物がないとき、A と D に入れる値がない</a:t>
            </a:r>
            <a:endParaRPr lang="en-US" sz="1150" dirty="0"/>
          </a:p>
        </p:txBody>
      </p:sp>
      <p:sp>
        <p:nvSpPr>
          <p:cNvPr id="54" name="Text 52"/>
          <p:cNvSpPr txBox="1"/>
          <p:nvPr/>
        </p:nvSpPr>
        <p:spPr>
          <a:xfrm>
            <a:off x="1005840" y="3904488"/>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A＝0（高さ0の建物）やD＝∞（無限に遠い建物）で代用すると、学習範囲（A 25〜100m, D 10〜100m）の外の値を扱うことになり、補間やモデルがその値を「近い条件」と誤って扱うおそれがある。</a:t>
            </a:r>
            <a:endParaRPr lang="en-US" sz="950" dirty="0"/>
          </a:p>
        </p:txBody>
      </p:sp>
      <p:sp>
        <p:nvSpPr>
          <p:cNvPr id="55" name="Shape 53"/>
          <p:cNvSpPr/>
          <p:nvPr/>
        </p:nvSpPr>
        <p:spPr>
          <a:xfrm>
            <a:off x="6126480" y="3474720"/>
            <a:ext cx="5486400" cy="1325880"/>
          </a:xfrm>
          <a:prstGeom prst="roundRect">
            <a:avLst>
              <a:gd name="adj" fmla="val 4138"/>
            </a:avLst>
          </a:prstGeom>
          <a:solidFill>
            <a:srgbClr val="FFFFFF"/>
          </a:solidFill>
          <a:ln w="9525">
            <a:solidFill>
              <a:srgbClr val="DCE1E7"/>
            </a:solidFill>
            <a:prstDash val="solid"/>
          </a:ln>
        </p:spPr>
      </p:sp>
      <p:sp>
        <p:nvSpPr>
          <p:cNvPr id="56" name="Shape 54"/>
          <p:cNvSpPr/>
          <p:nvPr/>
        </p:nvSpPr>
        <p:spPr>
          <a:xfrm>
            <a:off x="6263640" y="3611880"/>
            <a:ext cx="310896" cy="310896"/>
          </a:xfrm>
          <a:prstGeom prst="ellipse">
            <a:avLst/>
          </a:prstGeom>
          <a:solidFill>
            <a:srgbClr val="1F6F78"/>
          </a:solidFill>
          <a:ln/>
        </p:spPr>
      </p:sp>
      <p:sp>
        <p:nvSpPr>
          <p:cNvPr id="57" name="Text 55"/>
          <p:cNvSpPr txBox="1"/>
          <p:nvPr/>
        </p:nvSpPr>
        <p:spPr>
          <a:xfrm>
            <a:off x="6263640" y="36118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58" name="Text 56"/>
          <p:cNvSpPr txBox="1"/>
          <p:nvPr/>
        </p:nvSpPr>
        <p:spPr>
          <a:xfrm>
            <a:off x="6675120" y="3584448"/>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0〜4棟のどれでも、同じ17個の変数で表せる</a:t>
            </a:r>
            <a:endParaRPr lang="en-US" sz="1150" dirty="0"/>
          </a:p>
        </p:txBody>
      </p:sp>
      <p:sp>
        <p:nvSpPr>
          <p:cNvPr id="59" name="Text 57"/>
          <p:cNvSpPr txBox="1"/>
          <p:nvPr/>
        </p:nvSpPr>
        <p:spPr>
          <a:xfrm>
            <a:off x="6675120" y="3904488"/>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入力の長さが棟数で変わらないので、ツールの画面・保存形式・予測モデルに同じ形で渡せる。s＝0の棟の A・D・θ は計算で使わない。</a:t>
            </a:r>
            <a:endParaRPr lang="en-US" sz="950" dirty="0"/>
          </a:p>
        </p:txBody>
      </p:sp>
      <p:sp>
        <p:nvSpPr>
          <p:cNvPr id="60" name="Shape 58"/>
          <p:cNvSpPr/>
          <p:nvPr/>
        </p:nvSpPr>
        <p:spPr>
          <a:xfrm>
            <a:off x="457200" y="4919472"/>
            <a:ext cx="5486400" cy="1325880"/>
          </a:xfrm>
          <a:prstGeom prst="roundRect">
            <a:avLst>
              <a:gd name="adj" fmla="val 4138"/>
            </a:avLst>
          </a:prstGeom>
          <a:solidFill>
            <a:srgbClr val="FFFFFF"/>
          </a:solidFill>
          <a:ln w="9525">
            <a:solidFill>
              <a:srgbClr val="DCE1E7"/>
            </a:solidFill>
            <a:prstDash val="solid"/>
          </a:ln>
        </p:spPr>
      </p:sp>
      <p:sp>
        <p:nvSpPr>
          <p:cNvPr id="61" name="Shape 59"/>
          <p:cNvSpPr/>
          <p:nvPr/>
        </p:nvSpPr>
        <p:spPr>
          <a:xfrm>
            <a:off x="594360" y="5056632"/>
            <a:ext cx="310896" cy="310896"/>
          </a:xfrm>
          <a:prstGeom prst="ellipse">
            <a:avLst/>
          </a:prstGeom>
          <a:solidFill>
            <a:srgbClr val="1F6F78"/>
          </a:solidFill>
          <a:ln/>
        </p:spPr>
      </p:sp>
      <p:sp>
        <p:nvSpPr>
          <p:cNvPr id="62" name="Text 60"/>
          <p:cNvSpPr txBox="1"/>
          <p:nvPr/>
        </p:nvSpPr>
        <p:spPr>
          <a:xfrm>
            <a:off x="594360" y="5056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63" name="Text 61"/>
          <p:cNvSpPr txBox="1"/>
          <p:nvPr/>
        </p:nvSpPr>
        <p:spPr>
          <a:xfrm>
            <a:off x="1005840" y="5029200"/>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「ある建物の分だけ足す」を式で書ける</a:t>
            </a:r>
            <a:endParaRPr lang="en-US" sz="1150" dirty="0"/>
          </a:p>
        </p:txBody>
      </p:sp>
      <p:sp>
        <p:nvSpPr>
          <p:cNvPr id="64" name="Text 62"/>
          <p:cNvSpPr txBox="1"/>
          <p:nvPr/>
        </p:nvSpPr>
        <p:spPr>
          <a:xfrm>
            <a:off x="1005840" y="5349240"/>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例：Σ</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ΔY</a:t>
            </a:r>
            <a:pPr indent="0" marL="0">
              <a:buNone/>
            </a:pPr>
            <a:r>
              <a:rPr lang="en-US" sz="950" baseline="3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と書けば、s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＝0 の建物の項は自動的に0になる。棟数 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も計算できる。</a:t>
            </a:r>
            <a:endParaRPr lang="en-US" sz="950" dirty="0"/>
          </a:p>
        </p:txBody>
      </p:sp>
      <p:sp>
        <p:nvSpPr>
          <p:cNvPr id="65" name="Shape 63"/>
          <p:cNvSpPr/>
          <p:nvPr/>
        </p:nvSpPr>
        <p:spPr>
          <a:xfrm>
            <a:off x="6126480" y="4919472"/>
            <a:ext cx="5486400" cy="1325880"/>
          </a:xfrm>
          <a:prstGeom prst="roundRect">
            <a:avLst>
              <a:gd name="adj" fmla="val 4138"/>
            </a:avLst>
          </a:prstGeom>
          <a:solidFill>
            <a:srgbClr val="FBEBDA"/>
          </a:solidFill>
          <a:ln w="9525">
            <a:solidFill>
              <a:srgbClr val="DCE1E7"/>
            </a:solidFill>
            <a:prstDash val="solid"/>
          </a:ln>
        </p:spPr>
      </p:sp>
      <p:sp>
        <p:nvSpPr>
          <p:cNvPr id="66" name="Shape 64"/>
          <p:cNvSpPr/>
          <p:nvPr/>
        </p:nvSpPr>
        <p:spPr>
          <a:xfrm>
            <a:off x="6263640" y="5056632"/>
            <a:ext cx="310896" cy="310896"/>
          </a:xfrm>
          <a:prstGeom prst="ellipse">
            <a:avLst/>
          </a:prstGeom>
          <a:solidFill>
            <a:srgbClr val="C56A2C"/>
          </a:solidFill>
          <a:ln/>
        </p:spPr>
      </p:sp>
      <p:sp>
        <p:nvSpPr>
          <p:cNvPr id="67" name="Text 65"/>
          <p:cNvSpPr txBox="1"/>
          <p:nvPr/>
        </p:nvSpPr>
        <p:spPr>
          <a:xfrm>
            <a:off x="6263640" y="5056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68" name="Text 66"/>
          <p:cNvSpPr txBox="1"/>
          <p:nvPr/>
        </p:nvSpPr>
        <p:spPr>
          <a:xfrm>
            <a:off x="6675120" y="5029200"/>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0/1 は中間の値に意味がない → 補間の難しさにつながる</a:t>
            </a:r>
            <a:endParaRPr lang="en-US" sz="1150" dirty="0"/>
          </a:p>
        </p:txBody>
      </p:sp>
      <p:sp>
        <p:nvSpPr>
          <p:cNvPr id="69" name="Text 67"/>
          <p:cNvSpPr txBox="1"/>
          <p:nvPr/>
        </p:nvSpPr>
        <p:spPr>
          <a:xfrm>
            <a:off x="6675120" y="5349240"/>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s＝0.5 の建物は存在しないので、s の方向には補間できない。有無の組み合わせ 2</a:t>
            </a:r>
            <a:pPr indent="0" marL="0">
              <a:buNone/>
            </a:pPr>
            <a:r>
              <a:rPr lang="en-US" sz="950" baseline="30000" dirty="0">
                <a:solidFill>
                  <a:srgbClr val="333F4E"/>
                </a:solidFill>
                <a:latin typeface="Yu Gothic" pitchFamily="34" charset="0"/>
                <a:ea typeface="Yu Gothic" pitchFamily="34" charset="-122"/>
                <a:cs typeface="Yu Gothic" pitchFamily="34" charset="-120"/>
              </a:rPr>
              <a:t>4</a:t>
            </a:r>
            <a:pPr indent="0" marL="0">
              <a:buNone/>
            </a:pPr>
            <a:r>
              <a:rPr lang="en-US" sz="950" dirty="0">
                <a:solidFill>
                  <a:srgbClr val="333F4E"/>
                </a:solidFill>
                <a:latin typeface="Yu Gothic" pitchFamily="34" charset="0"/>
                <a:ea typeface="Yu Gothic" pitchFamily="34" charset="-122"/>
                <a:cs typeface="Yu Gothic" pitchFamily="34" charset="-120"/>
              </a:rPr>
              <a:t>＝16通りごとに分けて扱う必要がある（次のパート）。</a:t>
            </a:r>
            <a:endParaRPr lang="en-US" sz="95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来週の対象：方位を北・東・南・西に固定した「4方向版」</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最終目標（17変数）へ一度に進まず、方位 θ と中央の高さを固定して、線形補間が使えるかを確かめる。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31 / 41</a:t>
            </a:r>
            <a:endParaRPr lang="en-US" sz="1100" dirty="0"/>
          </a:p>
        </p:txBody>
      </p:sp>
      <p:sp>
        <p:nvSpPr>
          <p:cNvPr id="10" name="Shape 8"/>
          <p:cNvSpPr/>
          <p:nvPr/>
        </p:nvSpPr>
        <p:spPr>
          <a:xfrm>
            <a:off x="457200" y="1463040"/>
            <a:ext cx="4480560" cy="4846320"/>
          </a:xfrm>
          <a:prstGeom prst="roundRect">
            <a:avLst>
              <a:gd name="adj" fmla="val 1224"/>
            </a:avLst>
          </a:prstGeom>
          <a:solidFill>
            <a:srgbClr val="F3F5F8"/>
          </a:solidFill>
          <a:ln/>
        </p:spPr>
      </p:sp>
      <p:sp>
        <p:nvSpPr>
          <p:cNvPr id="11" name="Text 9"/>
          <p:cNvSpPr txBox="1"/>
          <p:nvPr/>
        </p:nvSpPr>
        <p:spPr>
          <a:xfrm>
            <a:off x="594360" y="1517904"/>
            <a:ext cx="4114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4方向版の平面図</a:t>
            </a:r>
            <a:endParaRPr lang="en-US" sz="1100" dirty="0"/>
          </a:p>
        </p:txBody>
      </p:sp>
      <p:sp>
        <p:nvSpPr>
          <p:cNvPr id="12" name="Shape 10"/>
          <p:cNvSpPr/>
          <p:nvPr/>
        </p:nvSpPr>
        <p:spPr>
          <a:xfrm>
            <a:off x="2217420" y="3406140"/>
            <a:ext cx="960120" cy="960120"/>
          </a:xfrm>
          <a:prstGeom prst="rect">
            <a:avLst/>
          </a:prstGeom>
          <a:solidFill>
            <a:srgbClr val="1B2A44"/>
          </a:solidFill>
          <a:ln/>
        </p:spPr>
      </p:sp>
      <p:sp>
        <p:nvSpPr>
          <p:cNvPr id="13" name="Text 11"/>
          <p:cNvSpPr txBox="1"/>
          <p:nvPr/>
        </p:nvSpPr>
        <p:spPr>
          <a:xfrm>
            <a:off x="22174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750" dirty="0">
                <a:solidFill>
                  <a:srgbClr val="FFFFFF"/>
                </a:solidFill>
                <a:latin typeface="Yu Gothic" pitchFamily="34" charset="0"/>
                <a:ea typeface="Yu Gothic" pitchFamily="34" charset="-122"/>
                <a:cs typeface="Yu Gothic" pitchFamily="34" charset="-120"/>
              </a:rPr>
              <a:t>50m・高さ50m</a:t>
            </a:r>
            <a:endParaRPr lang="en-US" sz="950" dirty="0"/>
          </a:p>
        </p:txBody>
      </p:sp>
      <p:sp>
        <p:nvSpPr>
          <p:cNvPr id="14" name="Shape 12"/>
          <p:cNvSpPr/>
          <p:nvPr/>
        </p:nvSpPr>
        <p:spPr>
          <a:xfrm>
            <a:off x="2217420" y="2034540"/>
            <a:ext cx="960120" cy="960120"/>
          </a:xfrm>
          <a:prstGeom prst="rect">
            <a:avLst/>
          </a:prstGeom>
          <a:solidFill>
            <a:srgbClr val="1F6F78"/>
          </a:solidFill>
          <a:ln/>
        </p:spPr>
      </p:sp>
      <p:sp>
        <p:nvSpPr>
          <p:cNvPr id="15" name="Text 13"/>
          <p:cNvSpPr txBox="1"/>
          <p:nvPr/>
        </p:nvSpPr>
        <p:spPr>
          <a:xfrm>
            <a:off x="2217420" y="20345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16" name="Shape 14"/>
          <p:cNvSpPr/>
          <p:nvPr/>
        </p:nvSpPr>
        <p:spPr>
          <a:xfrm flipV="1">
            <a:off x="2926080" y="2994660"/>
            <a:ext cx="91" cy="411480"/>
          </a:xfrm>
          <a:prstGeom prst="line">
            <a:avLst/>
          </a:prstGeom>
          <a:noFill/>
          <a:ln w="15875">
            <a:solidFill>
              <a:srgbClr val="B04A3F"/>
            </a:solidFill>
            <a:prstDash val="solid"/>
            <a:headEnd type="triangle"/>
            <a:tailEnd type="triangle"/>
          </a:ln>
        </p:spPr>
      </p:sp>
      <p:sp>
        <p:nvSpPr>
          <p:cNvPr id="17" name="Text 15"/>
          <p:cNvSpPr txBox="1"/>
          <p:nvPr/>
        </p:nvSpPr>
        <p:spPr>
          <a:xfrm>
            <a:off x="2953512" y="30815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北</a:t>
            </a:r>
            <a:endParaRPr lang="en-US" sz="950" dirty="0"/>
          </a:p>
        </p:txBody>
      </p:sp>
      <p:sp>
        <p:nvSpPr>
          <p:cNvPr id="18" name="Shape 16"/>
          <p:cNvSpPr/>
          <p:nvPr/>
        </p:nvSpPr>
        <p:spPr>
          <a:xfrm>
            <a:off x="3589020" y="3406140"/>
            <a:ext cx="960120" cy="960120"/>
          </a:xfrm>
          <a:prstGeom prst="rect">
            <a:avLst/>
          </a:prstGeom>
          <a:solidFill>
            <a:srgbClr val="1F6F78"/>
          </a:solidFill>
          <a:ln/>
        </p:spPr>
      </p:sp>
      <p:sp>
        <p:nvSpPr>
          <p:cNvPr id="19" name="Text 17"/>
          <p:cNvSpPr txBox="1"/>
          <p:nvPr/>
        </p:nvSpPr>
        <p:spPr>
          <a:xfrm>
            <a:off x="35890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東の建物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0" name="Shape 18"/>
          <p:cNvSpPr/>
          <p:nvPr/>
        </p:nvSpPr>
        <p:spPr>
          <a:xfrm>
            <a:off x="3177540" y="4114800"/>
            <a:ext cx="411480" cy="91"/>
          </a:xfrm>
          <a:prstGeom prst="line">
            <a:avLst/>
          </a:prstGeom>
          <a:noFill/>
          <a:ln w="15875">
            <a:solidFill>
              <a:srgbClr val="B04A3F"/>
            </a:solidFill>
            <a:prstDash val="solid"/>
            <a:headEnd type="triangle"/>
            <a:tailEnd type="triangle"/>
          </a:ln>
        </p:spPr>
      </p:sp>
      <p:sp>
        <p:nvSpPr>
          <p:cNvPr id="21" name="Text 19"/>
          <p:cNvSpPr txBox="1"/>
          <p:nvPr/>
        </p:nvSpPr>
        <p:spPr>
          <a:xfrm>
            <a:off x="32004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東</a:t>
            </a:r>
            <a:endParaRPr lang="en-US" sz="950" dirty="0"/>
          </a:p>
        </p:txBody>
      </p:sp>
      <p:sp>
        <p:nvSpPr>
          <p:cNvPr id="22" name="Shape 20"/>
          <p:cNvSpPr/>
          <p:nvPr/>
        </p:nvSpPr>
        <p:spPr>
          <a:xfrm>
            <a:off x="2217420" y="4777740"/>
            <a:ext cx="960120" cy="960120"/>
          </a:xfrm>
          <a:prstGeom prst="rect">
            <a:avLst/>
          </a:prstGeom>
          <a:solidFill>
            <a:srgbClr val="1F6F78"/>
          </a:solidFill>
          <a:ln/>
        </p:spPr>
      </p:sp>
      <p:sp>
        <p:nvSpPr>
          <p:cNvPr id="23" name="Text 21"/>
          <p:cNvSpPr txBox="1"/>
          <p:nvPr/>
        </p:nvSpPr>
        <p:spPr>
          <a:xfrm>
            <a:off x="2217420" y="47777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4" name="Shape 22"/>
          <p:cNvSpPr/>
          <p:nvPr/>
        </p:nvSpPr>
        <p:spPr>
          <a:xfrm>
            <a:off x="2926080" y="4366260"/>
            <a:ext cx="91" cy="411480"/>
          </a:xfrm>
          <a:prstGeom prst="line">
            <a:avLst/>
          </a:prstGeom>
          <a:noFill/>
          <a:ln w="15875">
            <a:solidFill>
              <a:srgbClr val="B04A3F"/>
            </a:solidFill>
            <a:prstDash val="solid"/>
            <a:headEnd type="triangle"/>
            <a:tailEnd type="triangle"/>
          </a:ln>
        </p:spPr>
      </p:sp>
      <p:sp>
        <p:nvSpPr>
          <p:cNvPr id="25" name="Text 23"/>
          <p:cNvSpPr txBox="1"/>
          <p:nvPr/>
        </p:nvSpPr>
        <p:spPr>
          <a:xfrm>
            <a:off x="2953512" y="44531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南</a:t>
            </a:r>
            <a:endParaRPr lang="en-US" sz="950" dirty="0"/>
          </a:p>
        </p:txBody>
      </p:sp>
      <p:sp>
        <p:nvSpPr>
          <p:cNvPr id="26" name="Shape 24"/>
          <p:cNvSpPr/>
          <p:nvPr/>
        </p:nvSpPr>
        <p:spPr>
          <a:xfrm>
            <a:off x="845820" y="3406140"/>
            <a:ext cx="960120" cy="960120"/>
          </a:xfrm>
          <a:prstGeom prst="rect">
            <a:avLst/>
          </a:prstGeom>
          <a:solidFill>
            <a:srgbClr val="1F6F78"/>
          </a:solidFill>
          <a:ln/>
        </p:spPr>
      </p:sp>
      <p:sp>
        <p:nvSpPr>
          <p:cNvPr id="27" name="Text 25"/>
          <p:cNvSpPr txBox="1"/>
          <p:nvPr/>
        </p:nvSpPr>
        <p:spPr>
          <a:xfrm>
            <a:off x="8458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西の建物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8" name="Shape 26"/>
          <p:cNvSpPr/>
          <p:nvPr/>
        </p:nvSpPr>
        <p:spPr>
          <a:xfrm flipH="1">
            <a:off x="1805940" y="4114800"/>
            <a:ext cx="411480" cy="91"/>
          </a:xfrm>
          <a:prstGeom prst="line">
            <a:avLst/>
          </a:prstGeom>
          <a:noFill/>
          <a:ln w="15875">
            <a:solidFill>
              <a:srgbClr val="B04A3F"/>
            </a:solidFill>
            <a:prstDash val="solid"/>
            <a:headEnd type="triangle"/>
            <a:tailEnd type="triangle"/>
          </a:ln>
        </p:spPr>
      </p:sp>
      <p:sp>
        <p:nvSpPr>
          <p:cNvPr id="29" name="Text 27"/>
          <p:cNvSpPr txBox="1"/>
          <p:nvPr/>
        </p:nvSpPr>
        <p:spPr>
          <a:xfrm>
            <a:off x="18288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西</a:t>
            </a:r>
            <a:endParaRPr lang="en-US" sz="950" dirty="0"/>
          </a:p>
        </p:txBody>
      </p:sp>
      <p:sp>
        <p:nvSpPr>
          <p:cNvPr id="30" name="Text 28"/>
          <p:cNvSpPr txBox="1"/>
          <p:nvPr/>
        </p:nvSpPr>
        <p:spPr>
          <a:xfrm>
            <a:off x="594360" y="5806440"/>
            <a:ext cx="4206240" cy="4572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各方向に「0棟か1棟」。4方向＝必ず4棟ではない。方位は固定なので θ は変数にしない。</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166360" y="1481328"/>
          <a:ext cx="6583680" cy="914400"/>
        </p:xfrm>
        <a:graphic>
          <a:graphicData uri="http://schemas.openxmlformats.org/drawingml/2006/table">
            <a:tbl>
              <a:tblPr/>
              <a:tblGrid>
                <a:gridCol w="1188720"/>
                <a:gridCol w="1600200"/>
                <a:gridCol w="1965960"/>
                <a:gridCol w="1828800"/>
              </a:tblGrid>
              <a:tr h="41148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第一段階（完成）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4方向版（来週）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最終目標</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周囲の棟数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南のみ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北・東・南・西に固定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任意（0〜360°）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中央建物</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高さ 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変える変数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A, D（2個）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s, A, D × 4方向（12個）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中央高さ＋(s, A, D, θ)×4（17個）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南面 × 5帯 ＝ 5個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予測方法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線形補間を試す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未定（補間 or 代案）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2" name="Shape 29"/>
          <p:cNvSpPr/>
          <p:nvPr/>
        </p:nvSpPr>
        <p:spPr>
          <a:xfrm>
            <a:off x="5166360" y="4526280"/>
            <a:ext cx="6583680" cy="1783080"/>
          </a:xfrm>
          <a:prstGeom prst="roundRect">
            <a:avLst>
              <a:gd name="adj" fmla="val 3077"/>
            </a:avLst>
          </a:prstGeom>
          <a:solidFill>
            <a:srgbClr val="FBEBDA"/>
          </a:solidFill>
          <a:ln/>
        </p:spPr>
      </p:sp>
      <p:sp>
        <p:nvSpPr>
          <p:cNvPr id="33" name="Text 30"/>
          <p:cNvSpPr txBox="1"/>
          <p:nvPr/>
        </p:nvSpPr>
        <p:spPr>
          <a:xfrm>
            <a:off x="5303520" y="4617720"/>
            <a:ext cx="630936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段階を分ける理由</a:t>
            </a:r>
            <a:endParaRPr lang="en-US" sz="1200" dirty="0"/>
          </a:p>
        </p:txBody>
      </p:sp>
      <p:sp>
        <p:nvSpPr>
          <p:cNvPr id="34" name="Text 31"/>
          <p:cNvSpPr txBox="1"/>
          <p:nvPr/>
        </p:nvSpPr>
        <p:spPr>
          <a:xfrm>
            <a:off x="5303520" y="4873752"/>
            <a:ext cx="6309360" cy="1417320"/>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4方向版の12変数で線形補間が成り立つか分かれば、17変数に広げたときの見通しが立つ</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方位を固定すると、各方向の1棟だけの計算は南と同じ「A・Dの2変数の格子」になり、南で作った方法をそのまま使える</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うまくいかない場合は、どこで（棟数・面・高さ帯）ずれるかを数値で示し、代案（空の遮られ方）へ進む根拠にする</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線形補間が難しい理由①：「9点でできたなら4方向でも？」への回答</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線形補間を多変数に広げること自体は可能。問題は、完全な格子に必要な配置数が「掛け算」で増えること。</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32 / 41</a:t>
            </a:r>
            <a:endParaRPr lang="en-US" sz="1100" dirty="0"/>
          </a:p>
        </p:txBody>
      </p:sp>
      <p:sp>
        <p:nvSpPr>
          <p:cNvPr id="10" name="Shape 8"/>
          <p:cNvSpPr/>
          <p:nvPr/>
        </p:nvSpPr>
        <p:spPr>
          <a:xfrm>
            <a:off x="457200" y="1481328"/>
            <a:ext cx="3840480" cy="2240280"/>
          </a:xfrm>
          <a:prstGeom prst="roundRect">
            <a:avLst>
              <a:gd name="adj" fmla="val 2449"/>
            </a:avLst>
          </a:prstGeom>
          <a:solidFill>
            <a:srgbClr val="F3F5F8"/>
          </a:solidFill>
          <a:ln/>
        </p:spPr>
      </p:sp>
      <p:sp>
        <p:nvSpPr>
          <p:cNvPr id="11" name="Text 9"/>
          <p:cNvSpPr txBox="1"/>
          <p:nvPr/>
        </p:nvSpPr>
        <p:spPr>
          <a:xfrm>
            <a:off x="594360" y="1572768"/>
            <a:ext cx="35661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南で「9点」でできた範囲</a:t>
            </a:r>
            <a:endParaRPr lang="en-US" sz="1200" dirty="0"/>
          </a:p>
        </p:txBody>
      </p:sp>
      <p:sp>
        <p:nvSpPr>
          <p:cNvPr id="12" name="Text 10"/>
          <p:cNvSpPr txBox="1"/>
          <p:nvPr/>
        </p:nvSpPr>
        <p:spPr>
          <a:xfrm>
            <a:off x="594360" y="1847088"/>
            <a:ext cx="3611880" cy="182880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9点は局所改良版で、A 25〜50m・D 10〜25m の狭い範囲だけ</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A 25〜100m・D 10〜100m の全体は 4×4＝16点で作っている</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9点のうち4点は既存の16点。追加は5点</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変数は A・D の2個だけ（建物は南に1棟で固定）</a:t>
            </a:r>
            <a:endParaRPr lang="en-US" sz="1000" dirty="0"/>
          </a:p>
        </p:txBody>
      </p:sp>
      <p:sp>
        <p:nvSpPr>
          <p:cNvPr id="13" name="Shape 11"/>
          <p:cNvSpPr/>
          <p:nvPr/>
        </p:nvSpPr>
        <p:spPr>
          <a:xfrm>
            <a:off x="457200" y="3886200"/>
            <a:ext cx="3840480" cy="2423160"/>
          </a:xfrm>
          <a:prstGeom prst="roundRect">
            <a:avLst>
              <a:gd name="adj" fmla="val 2264"/>
            </a:avLst>
          </a:prstGeom>
          <a:solidFill>
            <a:srgbClr val="1B2A44"/>
          </a:solidFill>
          <a:ln/>
        </p:spPr>
      </p:sp>
      <p:sp>
        <p:nvSpPr>
          <p:cNvPr id="14" name="Text 12"/>
          <p:cNvSpPr txBox="1"/>
          <p:nvPr/>
        </p:nvSpPr>
        <p:spPr>
          <a:xfrm>
            <a:off x="640080" y="3959352"/>
            <a:ext cx="356616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各方向9点ずつ（計36点）ではだめな理由</a:t>
            </a:r>
            <a:endParaRPr lang="en-US" sz="1100" dirty="0"/>
          </a:p>
        </p:txBody>
      </p:sp>
      <p:sp>
        <p:nvSpPr>
          <p:cNvPr id="15" name="Text 13"/>
          <p:cNvSpPr txBox="1"/>
          <p:nvPr/>
        </p:nvSpPr>
        <p:spPr>
          <a:xfrm>
            <a:off x="640080" y="4279392"/>
            <a:ext cx="3520440" cy="1965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南・東・北・西を各9配置ずつ計算しても、埋まるのは「その方向に1棟だけ」の条件。</a:t>
            </a:r>
            <a:endParaRPr lang="en-US" sz="1000" dirty="0"/>
          </a:p>
          <a:p>
            <a:pPr indent="0" marL="0">
              <a:buNone/>
            </a:pPr>
            <a:endParaRPr lang="en-US" sz="1000" dirty="0"/>
          </a:p>
          <a:p>
            <a:pPr indent="0" marL="0">
              <a:buNone/>
            </a:pPr>
            <a:r>
              <a:rPr lang="en-US" sz="1000" dirty="0">
                <a:solidFill>
                  <a:srgbClr val="FFFFFF"/>
                </a:solidFill>
                <a:latin typeface="Yu Gothic" pitchFamily="34" charset="0"/>
                <a:ea typeface="Yu Gothic" pitchFamily="34" charset="-122"/>
                <a:cs typeface="Yu Gothic" pitchFamily="34" charset="-120"/>
              </a:rPr>
              <a:t>南と東に同時に置いた配置など、組み合わせの条件は1つも計算されていない。完全な格子で補間するには、組み合わせごとに格子点が必要になる。</a:t>
            </a:r>
            <a:endParaRPr lang="en-US" sz="1000" dirty="0"/>
          </a:p>
        </p:txBody>
      </p:sp>
      <p:sp>
        <p:nvSpPr>
          <p:cNvPr id="16" name="Text 14"/>
          <p:cNvSpPr txBox="1"/>
          <p:nvPr/>
        </p:nvSpPr>
        <p:spPr>
          <a:xfrm>
            <a:off x="4572000" y="1481328"/>
            <a:ext cx="71323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完全な格子に必要な配置数（各変数を3段階にした場合）</a:t>
            </a:r>
            <a:endParaRPr lang="en-US" sz="1200" dirty="0"/>
          </a:p>
        </p:txBody>
      </p:sp>
      <p:sp>
        <p:nvSpPr>
          <p:cNvPr id="17" name="Shape 15"/>
          <p:cNvSpPr/>
          <p:nvPr/>
        </p:nvSpPr>
        <p:spPr>
          <a:xfrm>
            <a:off x="4572000" y="1828800"/>
            <a:ext cx="1938528" cy="329184"/>
          </a:xfrm>
          <a:prstGeom prst="rect">
            <a:avLst/>
          </a:prstGeom>
          <a:solidFill>
            <a:srgbClr val="1B2A44"/>
          </a:solidFill>
          <a:ln/>
        </p:spPr>
      </p:sp>
      <p:sp>
        <p:nvSpPr>
          <p:cNvPr id="18" name="Text 16"/>
          <p:cNvSpPr txBox="1"/>
          <p:nvPr/>
        </p:nvSpPr>
        <p:spPr>
          <a:xfrm>
            <a:off x="4572000" y="1828800"/>
            <a:ext cx="193852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変える条件</a:t>
            </a:r>
            <a:endParaRPr lang="en-US" sz="950" dirty="0"/>
          </a:p>
        </p:txBody>
      </p:sp>
      <p:sp>
        <p:nvSpPr>
          <p:cNvPr id="19" name="Shape 17"/>
          <p:cNvSpPr/>
          <p:nvPr/>
        </p:nvSpPr>
        <p:spPr>
          <a:xfrm>
            <a:off x="6583680" y="1828800"/>
            <a:ext cx="704088" cy="329184"/>
          </a:xfrm>
          <a:prstGeom prst="rect">
            <a:avLst/>
          </a:prstGeom>
          <a:solidFill>
            <a:srgbClr val="1B2A44"/>
          </a:solidFill>
          <a:ln/>
        </p:spPr>
      </p:sp>
      <p:sp>
        <p:nvSpPr>
          <p:cNvPr id="20" name="Text 18"/>
          <p:cNvSpPr txBox="1"/>
          <p:nvPr/>
        </p:nvSpPr>
        <p:spPr>
          <a:xfrm>
            <a:off x="6583680" y="1828800"/>
            <a:ext cx="70408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変数 m</a:t>
            </a:r>
            <a:endParaRPr lang="en-US" sz="950" dirty="0"/>
          </a:p>
        </p:txBody>
      </p:sp>
      <p:sp>
        <p:nvSpPr>
          <p:cNvPr id="21" name="Shape 19"/>
          <p:cNvSpPr/>
          <p:nvPr/>
        </p:nvSpPr>
        <p:spPr>
          <a:xfrm>
            <a:off x="7360920" y="1828800"/>
            <a:ext cx="795528" cy="329184"/>
          </a:xfrm>
          <a:prstGeom prst="rect">
            <a:avLst/>
          </a:prstGeom>
          <a:solidFill>
            <a:srgbClr val="1B2A44"/>
          </a:solidFill>
          <a:ln/>
        </p:spPr>
      </p:sp>
      <p:sp>
        <p:nvSpPr>
          <p:cNvPr id="22" name="Text 20"/>
          <p:cNvSpPr txBox="1"/>
          <p:nvPr/>
        </p:nvSpPr>
        <p:spPr>
          <a:xfrm>
            <a:off x="7360920" y="1828800"/>
            <a:ext cx="79552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格子 3</a:t>
            </a:r>
            <a:pPr algn="ctr" indent="0" marL="0">
              <a:buNone/>
            </a:pPr>
            <a:r>
              <a:rPr lang="en-US" sz="950" b="1" baseline="30000" dirty="0">
                <a:solidFill>
                  <a:srgbClr val="FFFFFF"/>
                </a:solidFill>
                <a:latin typeface="Yu Gothic" pitchFamily="34" charset="0"/>
                <a:ea typeface="Yu Gothic" pitchFamily="34" charset="-122"/>
                <a:cs typeface="Yu Gothic" pitchFamily="34" charset="-120"/>
              </a:rPr>
              <a:t>m</a:t>
            </a:r>
            <a:endParaRPr lang="en-US" sz="950" dirty="0"/>
          </a:p>
        </p:txBody>
      </p:sp>
      <p:sp>
        <p:nvSpPr>
          <p:cNvPr id="23" name="Shape 21"/>
          <p:cNvSpPr/>
          <p:nvPr/>
        </p:nvSpPr>
        <p:spPr>
          <a:xfrm>
            <a:off x="8229600" y="1828800"/>
            <a:ext cx="886968" cy="329184"/>
          </a:xfrm>
          <a:prstGeom prst="rect">
            <a:avLst/>
          </a:prstGeom>
          <a:solidFill>
            <a:srgbClr val="1B2A44"/>
          </a:solidFill>
          <a:ln/>
        </p:spPr>
      </p:sp>
      <p:sp>
        <p:nvSpPr>
          <p:cNvPr id="24" name="Text 22"/>
          <p:cNvSpPr txBox="1"/>
          <p:nvPr/>
        </p:nvSpPr>
        <p:spPr>
          <a:xfrm>
            <a:off x="8229600" y="1828800"/>
            <a:ext cx="8869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隅 2</a:t>
            </a:r>
            <a:pPr algn="ctr" indent="0" marL="0">
              <a:buNone/>
            </a:pPr>
            <a:r>
              <a:rPr lang="en-US" sz="950" b="1" baseline="30000" dirty="0">
                <a:solidFill>
                  <a:srgbClr val="FFFFFF"/>
                </a:solidFill>
                <a:latin typeface="Yu Gothic" pitchFamily="34" charset="0"/>
                <a:ea typeface="Yu Gothic" pitchFamily="34" charset="-122"/>
                <a:cs typeface="Yu Gothic" pitchFamily="34" charset="-120"/>
              </a:rPr>
              <a:t>m</a:t>
            </a:r>
            <a:endParaRPr lang="en-US" sz="950" dirty="0"/>
          </a:p>
        </p:txBody>
      </p:sp>
      <p:sp>
        <p:nvSpPr>
          <p:cNvPr id="25" name="Text 23"/>
          <p:cNvSpPr txBox="1"/>
          <p:nvPr/>
        </p:nvSpPr>
        <p:spPr>
          <a:xfrm>
            <a:off x="9235440" y="1856232"/>
            <a:ext cx="2468880" cy="2743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配置数（対数目盛）</a:t>
            </a:r>
            <a:endParaRPr lang="en-US" sz="900" dirty="0"/>
          </a:p>
        </p:txBody>
      </p:sp>
      <p:sp>
        <p:nvSpPr>
          <p:cNvPr id="26" name="Shape 24"/>
          <p:cNvSpPr/>
          <p:nvPr/>
        </p:nvSpPr>
        <p:spPr>
          <a:xfrm>
            <a:off x="4572000" y="2240280"/>
            <a:ext cx="7178040" cy="493776"/>
          </a:xfrm>
          <a:prstGeom prst="rect">
            <a:avLst/>
          </a:prstGeom>
          <a:solidFill>
            <a:srgbClr val="F3F5F8"/>
          </a:solidFill>
          <a:ln/>
        </p:spPr>
      </p:sp>
      <p:sp>
        <p:nvSpPr>
          <p:cNvPr id="27" name="Text 25"/>
          <p:cNvSpPr txBox="1"/>
          <p:nvPr/>
        </p:nvSpPr>
        <p:spPr>
          <a:xfrm>
            <a:off x="4617720" y="2240280"/>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南に1棟（A, D）</a:t>
            </a:r>
            <a:endParaRPr lang="en-US" sz="1000" dirty="0"/>
          </a:p>
        </p:txBody>
      </p:sp>
      <p:sp>
        <p:nvSpPr>
          <p:cNvPr id="28" name="Text 26"/>
          <p:cNvSpPr txBox="1"/>
          <p:nvPr/>
        </p:nvSpPr>
        <p:spPr>
          <a:xfrm>
            <a:off x="6583680" y="2240280"/>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2</a:t>
            </a:r>
            <a:endParaRPr lang="en-US" sz="1100" dirty="0"/>
          </a:p>
        </p:txBody>
      </p:sp>
      <p:sp>
        <p:nvSpPr>
          <p:cNvPr id="29" name="Text 27"/>
          <p:cNvSpPr txBox="1"/>
          <p:nvPr/>
        </p:nvSpPr>
        <p:spPr>
          <a:xfrm>
            <a:off x="7360920" y="2240280"/>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9</a:t>
            </a:r>
            <a:endParaRPr lang="en-US" sz="1100" dirty="0"/>
          </a:p>
        </p:txBody>
      </p:sp>
      <p:sp>
        <p:nvSpPr>
          <p:cNvPr id="30" name="Text 28"/>
          <p:cNvSpPr txBox="1"/>
          <p:nvPr/>
        </p:nvSpPr>
        <p:spPr>
          <a:xfrm>
            <a:off x="8229600" y="2240280"/>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4</a:t>
            </a:r>
            <a:endParaRPr lang="en-US" sz="1100" dirty="0"/>
          </a:p>
        </p:txBody>
      </p:sp>
      <p:sp>
        <p:nvSpPr>
          <p:cNvPr id="31" name="Shape 29"/>
          <p:cNvSpPr/>
          <p:nvPr/>
        </p:nvSpPr>
        <p:spPr>
          <a:xfrm>
            <a:off x="9235440" y="2359152"/>
            <a:ext cx="594360" cy="256032"/>
          </a:xfrm>
          <a:prstGeom prst="rect">
            <a:avLst/>
          </a:prstGeom>
          <a:solidFill>
            <a:srgbClr val="E8934D"/>
          </a:solidFill>
          <a:ln/>
        </p:spPr>
      </p:sp>
      <p:sp>
        <p:nvSpPr>
          <p:cNvPr id="32" name="Shape 30"/>
          <p:cNvSpPr/>
          <p:nvPr/>
        </p:nvSpPr>
        <p:spPr>
          <a:xfrm>
            <a:off x="4572000" y="2807208"/>
            <a:ext cx="7178040" cy="493776"/>
          </a:xfrm>
          <a:prstGeom prst="rect">
            <a:avLst/>
          </a:prstGeom>
          <a:solidFill>
            <a:srgbClr val="FFFFFF"/>
          </a:solidFill>
          <a:ln/>
        </p:spPr>
      </p:sp>
      <p:sp>
        <p:nvSpPr>
          <p:cNvPr id="33" name="Text 31"/>
          <p:cNvSpPr txBox="1"/>
          <p:nvPr/>
        </p:nvSpPr>
        <p:spPr>
          <a:xfrm>
            <a:off x="4617720" y="2807208"/>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2棟を同時に変える</a:t>
            </a:r>
            <a:endParaRPr lang="en-US" sz="1000" dirty="0"/>
          </a:p>
        </p:txBody>
      </p:sp>
      <p:sp>
        <p:nvSpPr>
          <p:cNvPr id="34" name="Text 32"/>
          <p:cNvSpPr txBox="1"/>
          <p:nvPr/>
        </p:nvSpPr>
        <p:spPr>
          <a:xfrm>
            <a:off x="6583680" y="2807208"/>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4</a:t>
            </a:r>
            <a:endParaRPr lang="en-US" sz="1100" dirty="0"/>
          </a:p>
        </p:txBody>
      </p:sp>
      <p:sp>
        <p:nvSpPr>
          <p:cNvPr id="35" name="Text 33"/>
          <p:cNvSpPr txBox="1"/>
          <p:nvPr/>
        </p:nvSpPr>
        <p:spPr>
          <a:xfrm>
            <a:off x="7360920" y="2807208"/>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81</a:t>
            </a:r>
            <a:endParaRPr lang="en-US" sz="1100" dirty="0"/>
          </a:p>
        </p:txBody>
      </p:sp>
      <p:sp>
        <p:nvSpPr>
          <p:cNvPr id="36" name="Text 34"/>
          <p:cNvSpPr txBox="1"/>
          <p:nvPr/>
        </p:nvSpPr>
        <p:spPr>
          <a:xfrm>
            <a:off x="8229600" y="2807208"/>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16</a:t>
            </a:r>
            <a:endParaRPr lang="en-US" sz="1100" dirty="0"/>
          </a:p>
        </p:txBody>
      </p:sp>
      <p:sp>
        <p:nvSpPr>
          <p:cNvPr id="37" name="Shape 35"/>
          <p:cNvSpPr/>
          <p:nvPr/>
        </p:nvSpPr>
        <p:spPr>
          <a:xfrm>
            <a:off x="9235440" y="2926080"/>
            <a:ext cx="1188720" cy="256032"/>
          </a:xfrm>
          <a:prstGeom prst="rect">
            <a:avLst/>
          </a:prstGeom>
          <a:solidFill>
            <a:srgbClr val="E8934D"/>
          </a:solidFill>
          <a:ln/>
        </p:spPr>
      </p:sp>
      <p:sp>
        <p:nvSpPr>
          <p:cNvPr id="38" name="Shape 36"/>
          <p:cNvSpPr/>
          <p:nvPr/>
        </p:nvSpPr>
        <p:spPr>
          <a:xfrm>
            <a:off x="4572000" y="3374136"/>
            <a:ext cx="7178040" cy="493776"/>
          </a:xfrm>
          <a:prstGeom prst="rect">
            <a:avLst/>
          </a:prstGeom>
          <a:solidFill>
            <a:srgbClr val="F3F5F8"/>
          </a:solidFill>
          <a:ln/>
        </p:spPr>
      </p:sp>
      <p:sp>
        <p:nvSpPr>
          <p:cNvPr id="39" name="Text 37"/>
          <p:cNvSpPr txBox="1"/>
          <p:nvPr/>
        </p:nvSpPr>
        <p:spPr>
          <a:xfrm>
            <a:off x="4617720" y="3374136"/>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3棟を同時に変える</a:t>
            </a:r>
            <a:endParaRPr lang="en-US" sz="1000" dirty="0"/>
          </a:p>
        </p:txBody>
      </p:sp>
      <p:sp>
        <p:nvSpPr>
          <p:cNvPr id="40" name="Text 38"/>
          <p:cNvSpPr txBox="1"/>
          <p:nvPr/>
        </p:nvSpPr>
        <p:spPr>
          <a:xfrm>
            <a:off x="6583680" y="3374136"/>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6</a:t>
            </a:r>
            <a:endParaRPr lang="en-US" sz="1100" dirty="0"/>
          </a:p>
        </p:txBody>
      </p:sp>
      <p:sp>
        <p:nvSpPr>
          <p:cNvPr id="41" name="Text 39"/>
          <p:cNvSpPr txBox="1"/>
          <p:nvPr/>
        </p:nvSpPr>
        <p:spPr>
          <a:xfrm>
            <a:off x="7360920" y="3374136"/>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729</a:t>
            </a:r>
            <a:endParaRPr lang="en-US" sz="1100" dirty="0"/>
          </a:p>
        </p:txBody>
      </p:sp>
      <p:sp>
        <p:nvSpPr>
          <p:cNvPr id="42" name="Text 40"/>
          <p:cNvSpPr txBox="1"/>
          <p:nvPr/>
        </p:nvSpPr>
        <p:spPr>
          <a:xfrm>
            <a:off x="8229600" y="3374136"/>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64</a:t>
            </a:r>
            <a:endParaRPr lang="en-US" sz="1100" dirty="0"/>
          </a:p>
        </p:txBody>
      </p:sp>
      <p:sp>
        <p:nvSpPr>
          <p:cNvPr id="43" name="Shape 41"/>
          <p:cNvSpPr/>
          <p:nvPr/>
        </p:nvSpPr>
        <p:spPr>
          <a:xfrm>
            <a:off x="9235440" y="3493008"/>
            <a:ext cx="1783080" cy="256032"/>
          </a:xfrm>
          <a:prstGeom prst="rect">
            <a:avLst/>
          </a:prstGeom>
          <a:solidFill>
            <a:srgbClr val="E8934D"/>
          </a:solidFill>
          <a:ln/>
        </p:spPr>
      </p:sp>
      <p:sp>
        <p:nvSpPr>
          <p:cNvPr id="44" name="Shape 42"/>
          <p:cNvSpPr/>
          <p:nvPr/>
        </p:nvSpPr>
        <p:spPr>
          <a:xfrm>
            <a:off x="4572000" y="3941064"/>
            <a:ext cx="7178040" cy="493776"/>
          </a:xfrm>
          <a:prstGeom prst="rect">
            <a:avLst/>
          </a:prstGeom>
          <a:solidFill>
            <a:srgbClr val="FFFFFF"/>
          </a:solidFill>
          <a:ln/>
        </p:spPr>
      </p:sp>
      <p:sp>
        <p:nvSpPr>
          <p:cNvPr id="45" name="Text 43"/>
          <p:cNvSpPr txBox="1"/>
          <p:nvPr/>
        </p:nvSpPr>
        <p:spPr>
          <a:xfrm>
            <a:off x="4617720" y="3941064"/>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4棟を同時に変える</a:t>
            </a:r>
            <a:endParaRPr lang="en-US" sz="1000" dirty="0"/>
          </a:p>
        </p:txBody>
      </p:sp>
      <p:sp>
        <p:nvSpPr>
          <p:cNvPr id="46" name="Text 44"/>
          <p:cNvSpPr txBox="1"/>
          <p:nvPr/>
        </p:nvSpPr>
        <p:spPr>
          <a:xfrm>
            <a:off x="6583680" y="3941064"/>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8</a:t>
            </a:r>
            <a:endParaRPr lang="en-US" sz="1100" dirty="0"/>
          </a:p>
        </p:txBody>
      </p:sp>
      <p:sp>
        <p:nvSpPr>
          <p:cNvPr id="47" name="Text 45"/>
          <p:cNvSpPr txBox="1"/>
          <p:nvPr/>
        </p:nvSpPr>
        <p:spPr>
          <a:xfrm>
            <a:off x="7360920" y="3941064"/>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6,561</a:t>
            </a:r>
            <a:endParaRPr lang="en-US" sz="1100" dirty="0"/>
          </a:p>
        </p:txBody>
      </p:sp>
      <p:sp>
        <p:nvSpPr>
          <p:cNvPr id="48" name="Text 46"/>
          <p:cNvSpPr txBox="1"/>
          <p:nvPr/>
        </p:nvSpPr>
        <p:spPr>
          <a:xfrm>
            <a:off x="8229600" y="3941064"/>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256</a:t>
            </a:r>
            <a:endParaRPr lang="en-US" sz="1100" dirty="0"/>
          </a:p>
        </p:txBody>
      </p:sp>
      <p:sp>
        <p:nvSpPr>
          <p:cNvPr id="49" name="Shape 47"/>
          <p:cNvSpPr/>
          <p:nvPr/>
        </p:nvSpPr>
        <p:spPr>
          <a:xfrm>
            <a:off x="9235440" y="4059936"/>
            <a:ext cx="2377440" cy="256032"/>
          </a:xfrm>
          <a:prstGeom prst="rect">
            <a:avLst/>
          </a:prstGeom>
          <a:solidFill>
            <a:srgbClr val="C56A2C"/>
          </a:solidFill>
          <a:ln/>
        </p:spPr>
      </p:sp>
      <p:sp>
        <p:nvSpPr>
          <p:cNvPr id="50" name="Text 48"/>
          <p:cNvSpPr txBox="1"/>
          <p:nvPr/>
        </p:nvSpPr>
        <p:spPr>
          <a:xfrm>
            <a:off x="4572000" y="4544568"/>
            <a:ext cx="7178040" cy="256032"/>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完全格子の配置数 ＝ 3</a:t>
            </a:r>
            <a:pPr indent="0" marL="0">
              <a:buNone/>
            </a:pPr>
            <a:r>
              <a:rPr lang="en-US" sz="1000" baseline="30000" dirty="0">
                <a:solidFill>
                  <a:srgbClr val="333F4E"/>
                </a:solidFill>
                <a:latin typeface="Yu Gothic" pitchFamily="34" charset="0"/>
                <a:ea typeface="Yu Gothic" pitchFamily="34" charset="-122"/>
                <a:cs typeface="Yu Gothic" pitchFamily="34" charset="-120"/>
              </a:rPr>
              <a:t>m</a:t>
            </a:r>
            <a:pPr indent="0" marL="0">
              <a:buNone/>
            </a:pPr>
            <a:r>
              <a:rPr lang="en-US" sz="1000" dirty="0">
                <a:solidFill>
                  <a:srgbClr val="333F4E"/>
                </a:solidFill>
                <a:latin typeface="Yu Gothic" pitchFamily="34" charset="0"/>
                <a:ea typeface="Yu Gothic" pitchFamily="34" charset="-122"/>
                <a:cs typeface="Yu Gothic" pitchFamily="34" charset="-120"/>
              </a:rPr>
              <a:t>（各変数3段階）。南と同じ4段階なら 4</a:t>
            </a:r>
            <a:pPr indent="0" marL="0">
              <a:buNone/>
            </a:pPr>
            <a:r>
              <a:rPr lang="en-US" sz="1000" baseline="30000" dirty="0">
                <a:solidFill>
                  <a:srgbClr val="333F4E"/>
                </a:solidFill>
                <a:latin typeface="Yu Gothic" pitchFamily="34" charset="0"/>
                <a:ea typeface="Yu Gothic" pitchFamily="34" charset="-122"/>
                <a:cs typeface="Yu Gothic" pitchFamily="34" charset="-120"/>
              </a:rPr>
              <a:t>8</a:t>
            </a:r>
            <a:pPr indent="0" marL="0">
              <a:buNone/>
            </a:pPr>
            <a:r>
              <a:rPr lang="en-US" sz="1000" dirty="0">
                <a:solidFill>
                  <a:srgbClr val="333F4E"/>
                </a:solidFill>
                <a:latin typeface="Yu Gothic" pitchFamily="34" charset="0"/>
                <a:ea typeface="Yu Gothic" pitchFamily="34" charset="-122"/>
                <a:cs typeface="Yu Gothic" pitchFamily="34" charset="-120"/>
              </a:rPr>
              <a:t>＝65,536。</a:t>
            </a:r>
            <a:endParaRPr lang="en-US" sz="1000" dirty="0"/>
          </a:p>
        </p:txBody>
      </p:sp>
      <p:sp>
        <p:nvSpPr>
          <p:cNvPr id="51" name="Shape 49"/>
          <p:cNvSpPr/>
          <p:nvPr/>
        </p:nvSpPr>
        <p:spPr>
          <a:xfrm>
            <a:off x="4572000" y="4892040"/>
            <a:ext cx="7178040" cy="1417320"/>
          </a:xfrm>
          <a:prstGeom prst="roundRect">
            <a:avLst>
              <a:gd name="adj" fmla="val 3871"/>
            </a:avLst>
          </a:prstGeom>
          <a:solidFill>
            <a:srgbClr val="FBEBDA"/>
          </a:solidFill>
          <a:ln/>
        </p:spPr>
      </p:sp>
      <p:sp>
        <p:nvSpPr>
          <p:cNvPr id="52" name="Text 50"/>
          <p:cNvSpPr txBox="1"/>
          <p:nvPr/>
        </p:nvSpPr>
        <p:spPr>
          <a:xfrm>
            <a:off x="4709160" y="4983480"/>
            <a:ext cx="690372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「近い点を探せない」のではなく「必要な点がそろわない」</a:t>
            </a:r>
            <a:endParaRPr lang="en-US" sz="1200" dirty="0"/>
          </a:p>
        </p:txBody>
      </p:sp>
      <p:sp>
        <p:nvSpPr>
          <p:cNvPr id="53" name="Text 51"/>
          <p:cNvSpPr txBox="1"/>
          <p:nvPr/>
        </p:nvSpPr>
        <p:spPr>
          <a:xfrm>
            <a:off x="4709160" y="5239512"/>
            <a:ext cx="6903720" cy="10515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格子がそろっていれば、入力がどの区間に入るかはすぐ探せる。問題は、8変数の1区間には隅が 2</a:t>
            </a:r>
            <a:pPr indent="0" marL="0">
              <a:buNone/>
            </a:pPr>
            <a:r>
              <a:rPr lang="en-US" sz="1000" baseline="30000" dirty="0">
                <a:solidFill>
                  <a:srgbClr val="333F4E"/>
                </a:solidFill>
                <a:latin typeface="Yu Gothic" pitchFamily="34" charset="0"/>
                <a:ea typeface="Yu Gothic" pitchFamily="34" charset="-122"/>
                <a:cs typeface="Yu Gothic" pitchFamily="34" charset="-120"/>
              </a:rPr>
              <a:t>8</a:t>
            </a:r>
            <a:pPr indent="0" marL="0">
              <a:buNone/>
            </a:pPr>
            <a:r>
              <a:rPr lang="en-US" sz="1000" dirty="0">
                <a:solidFill>
                  <a:srgbClr val="333F4E"/>
                </a:solidFill>
                <a:latin typeface="Yu Gothic" pitchFamily="34" charset="0"/>
                <a:ea typeface="Yu Gothic" pitchFamily="34" charset="-122"/>
                <a:cs typeface="Yu Gothic" pitchFamily="34" charset="-120"/>
              </a:rPr>
              <a:t>＝256 点あり、計算数を抑えて配置を減らすと、入力を囲む256点がそろわないこと。「近い点がある」ことと「補間に必要な形で点がそろっている」ことは違う。</a:t>
            </a:r>
            <a:endParaRPr lang="en-US" sz="10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線形補間が難しい理由②：有無の切り替え・影の重なり・急な変化</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配置数の多さに加えて、単純な「直線でつなぐ」「足し合わせる」が成り立たない可能性がある。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33 / 41</a:t>
            </a:r>
            <a:endParaRPr lang="en-US" sz="1100" dirty="0"/>
          </a:p>
        </p:txBody>
      </p:sp>
      <p:sp>
        <p:nvSpPr>
          <p:cNvPr id="10" name="Shape 8"/>
          <p:cNvSpPr/>
          <p:nvPr/>
        </p:nvSpPr>
        <p:spPr>
          <a:xfrm>
            <a:off x="457200" y="1481328"/>
            <a:ext cx="3657600" cy="4828032"/>
          </a:xfrm>
          <a:prstGeom prst="roundRect">
            <a:avLst>
              <a:gd name="adj" fmla="val 1500"/>
            </a:avLst>
          </a:prstGeom>
          <a:solidFill>
            <a:srgbClr val="F3F5F8"/>
          </a:solidFill>
          <a:ln/>
        </p:spPr>
      </p:sp>
      <p:sp>
        <p:nvSpPr>
          <p:cNvPr id="11" name="Shape 9"/>
          <p:cNvSpPr/>
          <p:nvPr/>
        </p:nvSpPr>
        <p:spPr>
          <a:xfrm>
            <a:off x="594360" y="1600200"/>
            <a:ext cx="310896" cy="310896"/>
          </a:xfrm>
          <a:prstGeom prst="ellipse">
            <a:avLst/>
          </a:prstGeom>
          <a:solidFill>
            <a:srgbClr val="1F6F78"/>
          </a:solidFill>
          <a:ln/>
        </p:spPr>
      </p:sp>
      <p:sp>
        <p:nvSpPr>
          <p:cNvPr id="12" name="Text 10"/>
          <p:cNvSpPr txBox="1"/>
          <p:nvPr/>
        </p:nvSpPr>
        <p:spPr>
          <a:xfrm>
            <a:off x="594360" y="1600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600200"/>
            <a:ext cx="3017520" cy="310896"/>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有無 s は補間できない</a:t>
            </a:r>
            <a:endParaRPr lang="en-US" sz="1250" dirty="0"/>
          </a:p>
        </p:txBody>
      </p:sp>
      <p:sp>
        <p:nvSpPr>
          <p:cNvPr id="14" name="Text 12"/>
          <p:cNvSpPr txBox="1"/>
          <p:nvPr/>
        </p:nvSpPr>
        <p:spPr>
          <a:xfrm>
            <a:off x="594360" y="2011680"/>
            <a:ext cx="3383280" cy="5943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s は0か1だけ。有無の組み合わせ 2</a:t>
            </a:r>
            <a:pPr indent="0" marL="0">
              <a:buNone/>
            </a:pPr>
            <a:r>
              <a:rPr lang="en-US" sz="1000" baseline="30000" dirty="0">
                <a:solidFill>
                  <a:srgbClr val="333F4E"/>
                </a:solidFill>
                <a:latin typeface="Yu Gothic" pitchFamily="34" charset="0"/>
                <a:ea typeface="Yu Gothic" pitchFamily="34" charset="-122"/>
                <a:cs typeface="Yu Gothic" pitchFamily="34" charset="-120"/>
              </a:rPr>
              <a:t>4</a:t>
            </a:r>
            <a:pPr indent="0" marL="0">
              <a:buNone/>
            </a:pPr>
            <a:r>
              <a:rPr lang="en-US" sz="1000" dirty="0">
                <a:solidFill>
                  <a:srgbClr val="333F4E"/>
                </a:solidFill>
                <a:latin typeface="Yu Gothic" pitchFamily="34" charset="0"/>
                <a:ea typeface="Yu Gothic" pitchFamily="34" charset="-122"/>
                <a:cs typeface="Yu Gothic" pitchFamily="34" charset="-120"/>
              </a:rPr>
              <a:t>＝16通りごとに、別々の格子が必要になる。</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94360" y="2697480"/>
          <a:ext cx="3383280" cy="914400"/>
        </p:xfrm>
        <a:graphic>
          <a:graphicData uri="http://schemas.openxmlformats.org/drawingml/2006/table">
            <a:tbl>
              <a:tblPr/>
              <a:tblGrid>
                <a:gridCol w="822960"/>
                <a:gridCol w="1005840"/>
                <a:gridCol w="1554480"/>
              </a:tblGrid>
              <a:tr h="274320">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棟数 n</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有無の組数</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各3段階の格子</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 × 9 ＝ 36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 × 81 ＝ 486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 × 729 ＝ 2,916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6,561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333F4E"/>
                          </a:solidFill>
                          <a:latin typeface="Yu Gothic" pitchFamily="34" charset="0"/>
                          <a:ea typeface="Yu Gothic" pitchFamily="34" charset="-122"/>
                          <a:cs typeface="Yu Gothic" pitchFamily="34" charset="-120"/>
                        </a:rPr>
                        <a:t>合計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10,000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6" name="Text 13"/>
          <p:cNvSpPr txBox="1"/>
          <p:nvPr/>
        </p:nvSpPr>
        <p:spPr>
          <a:xfrm>
            <a:off x="594360" y="4754880"/>
            <a:ext cx="3383280" cy="640080"/>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合計 ＝ Σ</a:t>
            </a:r>
            <a:pPr indent="0" marL="0">
              <a:buNone/>
            </a:pPr>
            <a:r>
              <a:rPr lang="en-US" sz="950" b="1" baseline="-40000" dirty="0">
                <a:solidFill>
                  <a:srgbClr val="C56A2C"/>
                </a:solidFill>
                <a:latin typeface="Yu Gothic" pitchFamily="34" charset="0"/>
                <a:ea typeface="Yu Gothic" pitchFamily="34" charset="-122"/>
                <a:cs typeface="Yu Gothic" pitchFamily="34" charset="-120"/>
              </a:rPr>
              <a:t>n=0</a:t>
            </a:r>
            <a:pPr indent="0" marL="0">
              <a:buNone/>
            </a:pPr>
            <a:r>
              <a:rPr lang="en-US" sz="950" b="1" baseline="30000" dirty="0">
                <a:solidFill>
                  <a:srgbClr val="C56A2C"/>
                </a:solidFill>
                <a:latin typeface="Yu Gothic" pitchFamily="34" charset="0"/>
                <a:ea typeface="Yu Gothic" pitchFamily="34" charset="-122"/>
                <a:cs typeface="Yu Gothic" pitchFamily="34" charset="-120"/>
              </a:rPr>
              <a:t>4</a:t>
            </a:r>
            <a:pPr indent="0" marL="0">
              <a:buNone/>
            </a:pPr>
            <a:r>
              <a:rPr lang="en-US" sz="950" b="1" dirty="0">
                <a:solidFill>
                  <a:srgbClr val="C56A2C"/>
                </a:solidFill>
                <a:latin typeface="Yu Gothic" pitchFamily="34" charset="0"/>
                <a:ea typeface="Yu Gothic" pitchFamily="34" charset="-122"/>
                <a:cs typeface="Yu Gothic" pitchFamily="34" charset="-120"/>
              </a:rPr>
              <a:t> C(4,n)·9</a:t>
            </a:r>
            <a:pPr indent="0" marL="0">
              <a:buNone/>
            </a:pPr>
            <a:r>
              <a:rPr lang="en-US" sz="950" b="1" baseline="30000" dirty="0">
                <a:solidFill>
                  <a:srgbClr val="C56A2C"/>
                </a:solidFill>
                <a:latin typeface="Yu Gothic" pitchFamily="34" charset="0"/>
                <a:ea typeface="Yu Gothic" pitchFamily="34" charset="-122"/>
                <a:cs typeface="Yu Gothic" pitchFamily="34" charset="-120"/>
              </a:rPr>
              <a:t>n</a:t>
            </a:r>
            <a:pPr indent="0" marL="0">
              <a:buNone/>
            </a:pPr>
            <a:r>
              <a:rPr lang="en-US" sz="950" b="1" dirty="0">
                <a:solidFill>
                  <a:srgbClr val="C56A2C"/>
                </a:solidFill>
                <a:latin typeface="Yu Gothic" pitchFamily="34" charset="0"/>
                <a:ea typeface="Yu Gothic" pitchFamily="34" charset="-122"/>
                <a:cs typeface="Yu Gothic" pitchFamily="34" charset="-120"/>
              </a:rPr>
              <a:t> ＝ (1＋9)</a:t>
            </a:r>
            <a:pPr indent="0" marL="0">
              <a:buNone/>
            </a:pPr>
            <a:r>
              <a:rPr lang="en-US" sz="950" b="1" baseline="30000" dirty="0">
                <a:solidFill>
                  <a:srgbClr val="C56A2C"/>
                </a:solidFill>
                <a:latin typeface="Yu Gothic" pitchFamily="34" charset="0"/>
                <a:ea typeface="Yu Gothic" pitchFamily="34" charset="-122"/>
                <a:cs typeface="Yu Gothic" pitchFamily="34" charset="-120"/>
              </a:rPr>
              <a:t>4</a:t>
            </a:r>
            <a:pPr indent="0" marL="0">
              <a:buNone/>
            </a:pPr>
            <a:r>
              <a:rPr lang="en-US" sz="950" b="1" dirty="0">
                <a:solidFill>
                  <a:srgbClr val="C56A2C"/>
                </a:solidFill>
                <a:latin typeface="Yu Gothic" pitchFamily="34" charset="0"/>
                <a:ea typeface="Yu Gothic" pitchFamily="34" charset="-122"/>
                <a:cs typeface="Yu Gothic" pitchFamily="34" charset="-120"/>
              </a:rPr>
              <a:t> ＝ 10,000 配置（方位・中央高さ固定の4方向版でも）</a:t>
            </a:r>
            <a:endParaRPr lang="en-US" sz="950" dirty="0"/>
          </a:p>
        </p:txBody>
      </p:sp>
      <p:sp>
        <p:nvSpPr>
          <p:cNvPr id="17" name="Text 14"/>
          <p:cNvSpPr txBox="1"/>
          <p:nvPr/>
        </p:nvSpPr>
        <p:spPr>
          <a:xfrm>
            <a:off x="594360" y="5577840"/>
            <a:ext cx="3383280" cy="54864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 格子の完全版を作る場合の数。すべての方法がこの数を必要とするわけではない。</a:t>
            </a:r>
            <a:endParaRPr lang="en-US" sz="850" dirty="0"/>
          </a:p>
        </p:txBody>
      </p:sp>
      <p:sp>
        <p:nvSpPr>
          <p:cNvPr id="18" name="Shape 15"/>
          <p:cNvSpPr/>
          <p:nvPr/>
        </p:nvSpPr>
        <p:spPr>
          <a:xfrm>
            <a:off x="4270248" y="1481328"/>
            <a:ext cx="3657600" cy="4828032"/>
          </a:xfrm>
          <a:prstGeom prst="roundRect">
            <a:avLst>
              <a:gd name="adj" fmla="val 1500"/>
            </a:avLst>
          </a:prstGeom>
          <a:solidFill>
            <a:srgbClr val="F3F5F8"/>
          </a:solidFill>
          <a:ln/>
        </p:spPr>
      </p:sp>
      <p:sp>
        <p:nvSpPr>
          <p:cNvPr id="19" name="Shape 16"/>
          <p:cNvSpPr/>
          <p:nvPr/>
        </p:nvSpPr>
        <p:spPr>
          <a:xfrm>
            <a:off x="4407408" y="1600200"/>
            <a:ext cx="310896" cy="310896"/>
          </a:xfrm>
          <a:prstGeom prst="ellipse">
            <a:avLst/>
          </a:prstGeom>
          <a:solidFill>
            <a:srgbClr val="1F6F78"/>
          </a:solidFill>
          <a:ln/>
        </p:spPr>
      </p:sp>
      <p:sp>
        <p:nvSpPr>
          <p:cNvPr id="20" name="Text 17"/>
          <p:cNvSpPr txBox="1"/>
          <p:nvPr/>
        </p:nvSpPr>
        <p:spPr>
          <a:xfrm>
            <a:off x="4407408" y="1600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21" name="Text 18"/>
          <p:cNvSpPr txBox="1"/>
          <p:nvPr/>
        </p:nvSpPr>
        <p:spPr>
          <a:xfrm>
            <a:off x="4818888" y="1600200"/>
            <a:ext cx="3017520" cy="310896"/>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影は単純に足せない</a:t>
            </a:r>
            <a:endParaRPr lang="en-US" sz="1250" dirty="0"/>
          </a:p>
        </p:txBody>
      </p:sp>
      <p:sp>
        <p:nvSpPr>
          <p:cNvPr id="22" name="Text 19"/>
          <p:cNvSpPr txBox="1"/>
          <p:nvPr/>
        </p:nvSpPr>
        <p:spPr>
          <a:xfrm>
            <a:off x="4407408" y="2011680"/>
            <a:ext cx="3383280" cy="5943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複数の建物が同じ光を重ねて遮るため、1棟ずつの効果の合計にはならない。</a:t>
            </a:r>
            <a:endParaRPr lang="en-US" sz="1000" dirty="0"/>
          </a:p>
        </p:txBody>
      </p:sp>
      <p:sp>
        <p:nvSpPr>
          <p:cNvPr id="23" name="Shape 20"/>
          <p:cNvSpPr/>
          <p:nvPr/>
        </p:nvSpPr>
        <p:spPr>
          <a:xfrm>
            <a:off x="4681728" y="2743200"/>
            <a:ext cx="1828800" cy="1600200"/>
          </a:xfrm>
          <a:prstGeom prst="ellipse">
            <a:avLst/>
          </a:prstGeom>
          <a:solidFill>
            <a:srgbClr val="E8934D">
              <a:alpha val="55000"/>
            </a:srgbClr>
          </a:solidFill>
          <a:ln w="12700">
            <a:solidFill>
              <a:srgbClr val="C56A2C"/>
            </a:solidFill>
            <a:prstDash val="solid"/>
          </a:ln>
        </p:spPr>
      </p:sp>
      <p:sp>
        <p:nvSpPr>
          <p:cNvPr id="24" name="Shape 21"/>
          <p:cNvSpPr/>
          <p:nvPr/>
        </p:nvSpPr>
        <p:spPr>
          <a:xfrm>
            <a:off x="5687568" y="2743200"/>
            <a:ext cx="1828800" cy="1600200"/>
          </a:xfrm>
          <a:prstGeom prst="ellipse">
            <a:avLst/>
          </a:prstGeom>
          <a:solidFill>
            <a:srgbClr val="1F6F78">
              <a:alpha val="50000"/>
            </a:srgbClr>
          </a:solidFill>
          <a:ln w="12700">
            <a:solidFill>
              <a:srgbClr val="1F6F78"/>
            </a:solidFill>
            <a:prstDash val="solid"/>
          </a:ln>
        </p:spPr>
      </p:sp>
      <p:sp>
        <p:nvSpPr>
          <p:cNvPr id="25" name="Text 22"/>
          <p:cNvSpPr txBox="1"/>
          <p:nvPr/>
        </p:nvSpPr>
        <p:spPr>
          <a:xfrm>
            <a:off x="4727448" y="3246120"/>
            <a:ext cx="960120" cy="54864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建物1の影</a:t>
            </a:r>
            <a:endParaRPr lang="en-US" sz="1000" dirty="0"/>
          </a:p>
          <a:p>
            <a:pPr algn="ctr" indent="0" marL="0">
              <a:buNone/>
            </a:pPr>
            <a:r>
              <a:rPr lang="en-US" sz="1000" b="1" dirty="0">
                <a:solidFill>
                  <a:srgbClr val="1B2A44"/>
                </a:solidFill>
                <a:latin typeface="Yu Gothic" pitchFamily="34" charset="0"/>
                <a:ea typeface="Yu Gothic" pitchFamily="34" charset="-122"/>
                <a:cs typeface="Yu Gothic" pitchFamily="34" charset="-120"/>
              </a:rPr>
              <a:t>40%</a:t>
            </a:r>
            <a:endParaRPr lang="en-US" sz="1000" dirty="0"/>
          </a:p>
        </p:txBody>
      </p:sp>
      <p:sp>
        <p:nvSpPr>
          <p:cNvPr id="26" name="Text 23"/>
          <p:cNvSpPr txBox="1"/>
          <p:nvPr/>
        </p:nvSpPr>
        <p:spPr>
          <a:xfrm>
            <a:off x="6510528" y="3246120"/>
            <a:ext cx="960120" cy="54864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建物2の影</a:t>
            </a:r>
            <a:endParaRPr lang="en-US" sz="1000" dirty="0"/>
          </a:p>
          <a:p>
            <a:pPr algn="ctr" indent="0" marL="0">
              <a:buNone/>
            </a:pPr>
            <a:r>
              <a:rPr lang="en-US" sz="1000" b="1" dirty="0">
                <a:solidFill>
                  <a:srgbClr val="1B2A44"/>
                </a:solidFill>
                <a:latin typeface="Yu Gothic" pitchFamily="34" charset="0"/>
                <a:ea typeface="Yu Gothic" pitchFamily="34" charset="-122"/>
                <a:cs typeface="Yu Gothic" pitchFamily="34" charset="-120"/>
              </a:rPr>
              <a:t>30%</a:t>
            </a:r>
            <a:endParaRPr lang="en-US" sz="1000" dirty="0"/>
          </a:p>
        </p:txBody>
      </p:sp>
      <p:sp>
        <p:nvSpPr>
          <p:cNvPr id="27" name="Text 24"/>
          <p:cNvSpPr txBox="1"/>
          <p:nvPr/>
        </p:nvSpPr>
        <p:spPr>
          <a:xfrm>
            <a:off x="5687568" y="3246120"/>
            <a:ext cx="822960" cy="548640"/>
          </a:xfrm>
          <a:prstGeom prst="rect">
            <a:avLst/>
          </a:prstGeom>
          <a:noFill/>
          <a:ln/>
        </p:spPr>
        <p:txBody>
          <a:bodyPr wrap="square" lIns="508" tIns="508" rIns="508" bIns="508" rtlCol="0" anchor="t"/>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重なり</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20%</a:t>
            </a:r>
            <a:endParaRPr lang="en-US" sz="950" dirty="0"/>
          </a:p>
        </p:txBody>
      </p:sp>
      <p:sp>
        <p:nvSpPr>
          <p:cNvPr id="28" name="Shape 25"/>
          <p:cNvSpPr/>
          <p:nvPr/>
        </p:nvSpPr>
        <p:spPr>
          <a:xfrm>
            <a:off x="4407408" y="4526280"/>
            <a:ext cx="3383280" cy="548640"/>
          </a:xfrm>
          <a:prstGeom prst="roundRect">
            <a:avLst>
              <a:gd name="adj" fmla="val 8333"/>
            </a:avLst>
          </a:prstGeom>
          <a:solidFill>
            <a:srgbClr val="FFFFFF"/>
          </a:solidFill>
          <a:ln/>
        </p:spPr>
      </p:sp>
      <p:sp>
        <p:nvSpPr>
          <p:cNvPr id="29" name="Text 26"/>
          <p:cNvSpPr txBox="1"/>
          <p:nvPr/>
        </p:nvSpPr>
        <p:spPr>
          <a:xfrm>
            <a:off x="4453128" y="4526280"/>
            <a:ext cx="3291840" cy="548640"/>
          </a:xfrm>
          <a:prstGeom prst="rect">
            <a:avLst/>
          </a:prstGeom>
          <a:noFill/>
          <a:ln/>
        </p:spPr>
        <p:txBody>
          <a:bodyPr wrap="square" lIns="508" tIns="508" rIns="508" bIns="508"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2棟同時の影 ＝ 40 ＋ 30 − 20 ＝ 50%（70%ではない）</a:t>
            </a:r>
            <a:endParaRPr lang="en-US" sz="1050" dirty="0"/>
          </a:p>
        </p:txBody>
      </p:sp>
      <p:sp>
        <p:nvSpPr>
          <p:cNvPr id="30" name="Text 27"/>
          <p:cNvSpPr txBox="1"/>
          <p:nvPr/>
        </p:nvSpPr>
        <p:spPr>
          <a:xfrm>
            <a:off x="4407408" y="5212080"/>
            <a:ext cx="3383280" cy="100584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数値は説明用の仮定。方位や高さが変わると重なり方も変わるので、1棟モデルを合成するには重なりの扱いと検証が必要。</a:t>
            </a:r>
            <a:endParaRPr lang="en-US" sz="900" dirty="0"/>
          </a:p>
        </p:txBody>
      </p:sp>
      <p:sp>
        <p:nvSpPr>
          <p:cNvPr id="31" name="Shape 28"/>
          <p:cNvSpPr/>
          <p:nvPr/>
        </p:nvSpPr>
        <p:spPr>
          <a:xfrm>
            <a:off x="8083296" y="1481328"/>
            <a:ext cx="3657600" cy="4828032"/>
          </a:xfrm>
          <a:prstGeom prst="roundRect">
            <a:avLst>
              <a:gd name="adj" fmla="val 1500"/>
            </a:avLst>
          </a:prstGeom>
          <a:solidFill>
            <a:srgbClr val="F3F5F8"/>
          </a:solidFill>
          <a:ln/>
        </p:spPr>
      </p:sp>
      <p:sp>
        <p:nvSpPr>
          <p:cNvPr id="32" name="Shape 29"/>
          <p:cNvSpPr/>
          <p:nvPr/>
        </p:nvSpPr>
        <p:spPr>
          <a:xfrm>
            <a:off x="8220456" y="1600200"/>
            <a:ext cx="310896" cy="310896"/>
          </a:xfrm>
          <a:prstGeom prst="ellipse">
            <a:avLst/>
          </a:prstGeom>
          <a:solidFill>
            <a:srgbClr val="1F6F78"/>
          </a:solidFill>
          <a:ln/>
        </p:spPr>
      </p:sp>
      <p:sp>
        <p:nvSpPr>
          <p:cNvPr id="33" name="Text 30"/>
          <p:cNvSpPr txBox="1"/>
          <p:nvPr/>
        </p:nvSpPr>
        <p:spPr>
          <a:xfrm>
            <a:off x="8220456" y="1600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34" name="Text 31"/>
          <p:cNvSpPr txBox="1"/>
          <p:nvPr/>
        </p:nvSpPr>
        <p:spPr>
          <a:xfrm>
            <a:off x="8631936" y="1600200"/>
            <a:ext cx="3063240" cy="310896"/>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区間の中で直線的に変わらない</a:t>
            </a:r>
            <a:endParaRPr lang="en-US" sz="1250" dirty="0"/>
          </a:p>
        </p:txBody>
      </p:sp>
      <p:sp>
        <p:nvSpPr>
          <p:cNvPr id="35" name="Text 32"/>
          <p:cNvSpPr txBox="1"/>
          <p:nvPr/>
        </p:nvSpPr>
        <p:spPr>
          <a:xfrm>
            <a:off x="8220456" y="2011680"/>
            <a:ext cx="3383280" cy="5943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ある高さを境に光が届く・届かないが切り替わる。格子点の間を直線でつなぐと、その変化を表せない。</a:t>
            </a:r>
            <a:endParaRPr lang="en-US" sz="1000" dirty="0"/>
          </a:p>
        </p:txBody>
      </p:sp>
      <p:sp>
        <p:nvSpPr>
          <p:cNvPr id="36" name="Shape 33"/>
          <p:cNvSpPr/>
          <p:nvPr/>
        </p:nvSpPr>
        <p:spPr>
          <a:xfrm>
            <a:off x="8586216" y="2788920"/>
            <a:ext cx="2834640" cy="1554480"/>
          </a:xfrm>
          <a:prstGeom prst="rect">
            <a:avLst/>
          </a:prstGeom>
          <a:solidFill>
            <a:srgbClr val="FFFFFF"/>
          </a:solidFill>
          <a:ln/>
        </p:spPr>
      </p:sp>
      <p:sp>
        <p:nvSpPr>
          <p:cNvPr id="37" name="Shape 34"/>
          <p:cNvSpPr/>
          <p:nvPr/>
        </p:nvSpPr>
        <p:spPr>
          <a:xfrm>
            <a:off x="8586216" y="4343400"/>
            <a:ext cx="2834640" cy="91"/>
          </a:xfrm>
          <a:prstGeom prst="line">
            <a:avLst/>
          </a:prstGeom>
          <a:noFill/>
          <a:ln w="12700">
            <a:solidFill>
              <a:srgbClr val="6B7480"/>
            </a:solidFill>
            <a:prstDash val="solid"/>
          </a:ln>
        </p:spPr>
      </p:sp>
      <p:sp>
        <p:nvSpPr>
          <p:cNvPr id="38" name="Shape 35"/>
          <p:cNvSpPr/>
          <p:nvPr/>
        </p:nvSpPr>
        <p:spPr>
          <a:xfrm flipV="1">
            <a:off x="8586216" y="2788920"/>
            <a:ext cx="91" cy="1554480"/>
          </a:xfrm>
          <a:prstGeom prst="line">
            <a:avLst/>
          </a:prstGeom>
          <a:noFill/>
          <a:ln w="12700">
            <a:solidFill>
              <a:srgbClr val="6B7480"/>
            </a:solidFill>
            <a:prstDash val="solid"/>
          </a:ln>
        </p:spPr>
      </p:sp>
      <p:sp>
        <p:nvSpPr>
          <p:cNvPr id="39" name="Shape 36"/>
          <p:cNvSpPr/>
          <p:nvPr/>
        </p:nvSpPr>
        <p:spPr>
          <a:xfrm>
            <a:off x="8586216" y="3023083"/>
            <a:ext cx="118110" cy="784"/>
          </a:xfrm>
          <a:prstGeom prst="line">
            <a:avLst/>
          </a:prstGeom>
          <a:noFill/>
          <a:ln w="25400">
            <a:solidFill>
              <a:srgbClr val="1F6F78"/>
            </a:solidFill>
            <a:prstDash val="solid"/>
          </a:ln>
        </p:spPr>
      </p:sp>
      <p:sp>
        <p:nvSpPr>
          <p:cNvPr id="40" name="Shape 37"/>
          <p:cNvSpPr/>
          <p:nvPr/>
        </p:nvSpPr>
        <p:spPr>
          <a:xfrm>
            <a:off x="8704326" y="3023867"/>
            <a:ext cx="118110" cy="1402"/>
          </a:xfrm>
          <a:prstGeom prst="line">
            <a:avLst/>
          </a:prstGeom>
          <a:noFill/>
          <a:ln w="25400">
            <a:solidFill>
              <a:srgbClr val="1F6F78"/>
            </a:solidFill>
            <a:prstDash val="solid"/>
          </a:ln>
        </p:spPr>
      </p:sp>
      <p:sp>
        <p:nvSpPr>
          <p:cNvPr id="41" name="Shape 38"/>
          <p:cNvSpPr/>
          <p:nvPr/>
        </p:nvSpPr>
        <p:spPr>
          <a:xfrm>
            <a:off x="8822436" y="3025269"/>
            <a:ext cx="118110" cy="2503"/>
          </a:xfrm>
          <a:prstGeom prst="line">
            <a:avLst/>
          </a:prstGeom>
          <a:noFill/>
          <a:ln w="25400">
            <a:solidFill>
              <a:srgbClr val="1F6F78"/>
            </a:solidFill>
            <a:prstDash val="solid"/>
          </a:ln>
        </p:spPr>
      </p:sp>
      <p:sp>
        <p:nvSpPr>
          <p:cNvPr id="42" name="Shape 39"/>
          <p:cNvSpPr/>
          <p:nvPr/>
        </p:nvSpPr>
        <p:spPr>
          <a:xfrm>
            <a:off x="8940546" y="3027772"/>
            <a:ext cx="118110" cy="4457"/>
          </a:xfrm>
          <a:prstGeom prst="line">
            <a:avLst/>
          </a:prstGeom>
          <a:noFill/>
          <a:ln w="25400">
            <a:solidFill>
              <a:srgbClr val="1F6F78"/>
            </a:solidFill>
            <a:prstDash val="solid"/>
          </a:ln>
        </p:spPr>
      </p:sp>
      <p:sp>
        <p:nvSpPr>
          <p:cNvPr id="43" name="Shape 40"/>
          <p:cNvSpPr/>
          <p:nvPr/>
        </p:nvSpPr>
        <p:spPr>
          <a:xfrm>
            <a:off x="9058656" y="3032229"/>
            <a:ext cx="118110" cy="7895"/>
          </a:xfrm>
          <a:prstGeom prst="line">
            <a:avLst/>
          </a:prstGeom>
          <a:noFill/>
          <a:ln w="25400">
            <a:solidFill>
              <a:srgbClr val="1F6F78"/>
            </a:solidFill>
            <a:prstDash val="solid"/>
          </a:ln>
        </p:spPr>
      </p:sp>
      <p:sp>
        <p:nvSpPr>
          <p:cNvPr id="44" name="Shape 41"/>
          <p:cNvSpPr/>
          <p:nvPr/>
        </p:nvSpPr>
        <p:spPr>
          <a:xfrm>
            <a:off x="9176766" y="3040125"/>
            <a:ext cx="118110" cy="13863"/>
          </a:xfrm>
          <a:prstGeom prst="line">
            <a:avLst/>
          </a:prstGeom>
          <a:noFill/>
          <a:ln w="25400">
            <a:solidFill>
              <a:srgbClr val="1F6F78"/>
            </a:solidFill>
            <a:prstDash val="solid"/>
          </a:ln>
        </p:spPr>
      </p:sp>
      <p:sp>
        <p:nvSpPr>
          <p:cNvPr id="45" name="Shape 42"/>
          <p:cNvSpPr/>
          <p:nvPr/>
        </p:nvSpPr>
        <p:spPr>
          <a:xfrm>
            <a:off x="9294876" y="3053988"/>
            <a:ext cx="118110" cy="23965"/>
          </a:xfrm>
          <a:prstGeom prst="line">
            <a:avLst/>
          </a:prstGeom>
          <a:noFill/>
          <a:ln w="25400">
            <a:solidFill>
              <a:srgbClr val="1F6F78"/>
            </a:solidFill>
            <a:prstDash val="solid"/>
          </a:ln>
        </p:spPr>
      </p:sp>
      <p:sp>
        <p:nvSpPr>
          <p:cNvPr id="46" name="Shape 43"/>
          <p:cNvSpPr/>
          <p:nvPr/>
        </p:nvSpPr>
        <p:spPr>
          <a:xfrm>
            <a:off x="9412986" y="3077952"/>
            <a:ext cx="118110" cy="40331"/>
          </a:xfrm>
          <a:prstGeom prst="line">
            <a:avLst/>
          </a:prstGeom>
          <a:noFill/>
          <a:ln w="25400">
            <a:solidFill>
              <a:srgbClr val="1F6F78"/>
            </a:solidFill>
            <a:prstDash val="solid"/>
          </a:ln>
        </p:spPr>
      </p:sp>
      <p:sp>
        <p:nvSpPr>
          <p:cNvPr id="47" name="Shape 44"/>
          <p:cNvSpPr/>
          <p:nvPr/>
        </p:nvSpPr>
        <p:spPr>
          <a:xfrm>
            <a:off x="9531096" y="3118283"/>
            <a:ext cx="118110" cy="64905"/>
          </a:xfrm>
          <a:prstGeom prst="line">
            <a:avLst/>
          </a:prstGeom>
          <a:noFill/>
          <a:ln w="25400">
            <a:solidFill>
              <a:srgbClr val="1F6F78"/>
            </a:solidFill>
            <a:prstDash val="solid"/>
          </a:ln>
        </p:spPr>
      </p:sp>
      <p:sp>
        <p:nvSpPr>
          <p:cNvPr id="48" name="Shape 45"/>
          <p:cNvSpPr/>
          <p:nvPr/>
        </p:nvSpPr>
        <p:spPr>
          <a:xfrm>
            <a:off x="9649206" y="3183187"/>
            <a:ext cx="118110" cy="97291"/>
          </a:xfrm>
          <a:prstGeom prst="line">
            <a:avLst/>
          </a:prstGeom>
          <a:noFill/>
          <a:ln w="25400">
            <a:solidFill>
              <a:srgbClr val="1F6F78"/>
            </a:solidFill>
            <a:prstDash val="solid"/>
          </a:ln>
        </p:spPr>
      </p:sp>
      <p:sp>
        <p:nvSpPr>
          <p:cNvPr id="49" name="Shape 46"/>
          <p:cNvSpPr/>
          <p:nvPr/>
        </p:nvSpPr>
        <p:spPr>
          <a:xfrm>
            <a:off x="9767316" y="3280479"/>
            <a:ext cx="118110" cy="131347"/>
          </a:xfrm>
          <a:prstGeom prst="line">
            <a:avLst/>
          </a:prstGeom>
          <a:noFill/>
          <a:ln w="25400">
            <a:solidFill>
              <a:srgbClr val="1F6F78"/>
            </a:solidFill>
            <a:prstDash val="solid"/>
          </a:ln>
        </p:spPr>
      </p:sp>
      <p:sp>
        <p:nvSpPr>
          <p:cNvPr id="50" name="Shape 47"/>
          <p:cNvSpPr/>
          <p:nvPr/>
        </p:nvSpPr>
        <p:spPr>
          <a:xfrm>
            <a:off x="9885426" y="3411825"/>
            <a:ext cx="118110" cy="154335"/>
          </a:xfrm>
          <a:prstGeom prst="line">
            <a:avLst/>
          </a:prstGeom>
          <a:noFill/>
          <a:ln w="25400">
            <a:solidFill>
              <a:srgbClr val="1F6F78"/>
            </a:solidFill>
            <a:prstDash val="solid"/>
          </a:ln>
        </p:spPr>
      </p:sp>
      <p:sp>
        <p:nvSpPr>
          <p:cNvPr id="51" name="Shape 48"/>
          <p:cNvSpPr/>
          <p:nvPr/>
        </p:nvSpPr>
        <p:spPr>
          <a:xfrm>
            <a:off x="10003536" y="3566160"/>
            <a:ext cx="118110" cy="154335"/>
          </a:xfrm>
          <a:prstGeom prst="line">
            <a:avLst/>
          </a:prstGeom>
          <a:noFill/>
          <a:ln w="25400">
            <a:solidFill>
              <a:srgbClr val="1F6F78"/>
            </a:solidFill>
            <a:prstDash val="solid"/>
          </a:ln>
        </p:spPr>
      </p:sp>
      <p:sp>
        <p:nvSpPr>
          <p:cNvPr id="52" name="Shape 49"/>
          <p:cNvSpPr/>
          <p:nvPr/>
        </p:nvSpPr>
        <p:spPr>
          <a:xfrm>
            <a:off x="10121646" y="3720495"/>
            <a:ext cx="118110" cy="131347"/>
          </a:xfrm>
          <a:prstGeom prst="line">
            <a:avLst/>
          </a:prstGeom>
          <a:noFill/>
          <a:ln w="25400">
            <a:solidFill>
              <a:srgbClr val="1F6F78"/>
            </a:solidFill>
            <a:prstDash val="solid"/>
          </a:ln>
        </p:spPr>
      </p:sp>
      <p:sp>
        <p:nvSpPr>
          <p:cNvPr id="53" name="Shape 50"/>
          <p:cNvSpPr/>
          <p:nvPr/>
        </p:nvSpPr>
        <p:spPr>
          <a:xfrm>
            <a:off x="10239756" y="3851841"/>
            <a:ext cx="118110" cy="97291"/>
          </a:xfrm>
          <a:prstGeom prst="line">
            <a:avLst/>
          </a:prstGeom>
          <a:noFill/>
          <a:ln w="25400">
            <a:solidFill>
              <a:srgbClr val="1F6F78"/>
            </a:solidFill>
            <a:prstDash val="solid"/>
          </a:ln>
        </p:spPr>
      </p:sp>
      <p:sp>
        <p:nvSpPr>
          <p:cNvPr id="54" name="Shape 51"/>
          <p:cNvSpPr/>
          <p:nvPr/>
        </p:nvSpPr>
        <p:spPr>
          <a:xfrm>
            <a:off x="10357866" y="3949133"/>
            <a:ext cx="118110" cy="64905"/>
          </a:xfrm>
          <a:prstGeom prst="line">
            <a:avLst/>
          </a:prstGeom>
          <a:noFill/>
          <a:ln w="25400">
            <a:solidFill>
              <a:srgbClr val="1F6F78"/>
            </a:solidFill>
            <a:prstDash val="solid"/>
          </a:ln>
        </p:spPr>
      </p:sp>
      <p:sp>
        <p:nvSpPr>
          <p:cNvPr id="55" name="Shape 52"/>
          <p:cNvSpPr/>
          <p:nvPr/>
        </p:nvSpPr>
        <p:spPr>
          <a:xfrm>
            <a:off x="10475976" y="4014037"/>
            <a:ext cx="118110" cy="40331"/>
          </a:xfrm>
          <a:prstGeom prst="line">
            <a:avLst/>
          </a:prstGeom>
          <a:noFill/>
          <a:ln w="25400">
            <a:solidFill>
              <a:srgbClr val="1F6F78"/>
            </a:solidFill>
            <a:prstDash val="solid"/>
          </a:ln>
        </p:spPr>
      </p:sp>
      <p:sp>
        <p:nvSpPr>
          <p:cNvPr id="56" name="Shape 53"/>
          <p:cNvSpPr/>
          <p:nvPr/>
        </p:nvSpPr>
        <p:spPr>
          <a:xfrm>
            <a:off x="10594086" y="4054368"/>
            <a:ext cx="118110" cy="23965"/>
          </a:xfrm>
          <a:prstGeom prst="line">
            <a:avLst/>
          </a:prstGeom>
          <a:noFill/>
          <a:ln w="25400">
            <a:solidFill>
              <a:srgbClr val="1F6F78"/>
            </a:solidFill>
            <a:prstDash val="solid"/>
          </a:ln>
        </p:spPr>
      </p:sp>
      <p:sp>
        <p:nvSpPr>
          <p:cNvPr id="57" name="Shape 54"/>
          <p:cNvSpPr/>
          <p:nvPr/>
        </p:nvSpPr>
        <p:spPr>
          <a:xfrm>
            <a:off x="10712196" y="4078332"/>
            <a:ext cx="118110" cy="13863"/>
          </a:xfrm>
          <a:prstGeom prst="line">
            <a:avLst/>
          </a:prstGeom>
          <a:noFill/>
          <a:ln w="25400">
            <a:solidFill>
              <a:srgbClr val="1F6F78"/>
            </a:solidFill>
            <a:prstDash val="solid"/>
          </a:ln>
        </p:spPr>
      </p:sp>
      <p:sp>
        <p:nvSpPr>
          <p:cNvPr id="58" name="Shape 55"/>
          <p:cNvSpPr/>
          <p:nvPr/>
        </p:nvSpPr>
        <p:spPr>
          <a:xfrm>
            <a:off x="10830306" y="4092195"/>
            <a:ext cx="118110" cy="7895"/>
          </a:xfrm>
          <a:prstGeom prst="line">
            <a:avLst/>
          </a:prstGeom>
          <a:noFill/>
          <a:ln w="25400">
            <a:solidFill>
              <a:srgbClr val="1F6F78"/>
            </a:solidFill>
            <a:prstDash val="solid"/>
          </a:ln>
        </p:spPr>
      </p:sp>
      <p:sp>
        <p:nvSpPr>
          <p:cNvPr id="59" name="Shape 56"/>
          <p:cNvSpPr/>
          <p:nvPr/>
        </p:nvSpPr>
        <p:spPr>
          <a:xfrm>
            <a:off x="10948416" y="4100091"/>
            <a:ext cx="118110" cy="4457"/>
          </a:xfrm>
          <a:prstGeom prst="line">
            <a:avLst/>
          </a:prstGeom>
          <a:noFill/>
          <a:ln w="25400">
            <a:solidFill>
              <a:srgbClr val="1F6F78"/>
            </a:solidFill>
            <a:prstDash val="solid"/>
          </a:ln>
        </p:spPr>
      </p:sp>
      <p:sp>
        <p:nvSpPr>
          <p:cNvPr id="60" name="Shape 57"/>
          <p:cNvSpPr/>
          <p:nvPr/>
        </p:nvSpPr>
        <p:spPr>
          <a:xfrm>
            <a:off x="11066526" y="4104548"/>
            <a:ext cx="118110" cy="2503"/>
          </a:xfrm>
          <a:prstGeom prst="line">
            <a:avLst/>
          </a:prstGeom>
          <a:noFill/>
          <a:ln w="25400">
            <a:solidFill>
              <a:srgbClr val="1F6F78"/>
            </a:solidFill>
            <a:prstDash val="solid"/>
          </a:ln>
        </p:spPr>
      </p:sp>
      <p:sp>
        <p:nvSpPr>
          <p:cNvPr id="61" name="Shape 58"/>
          <p:cNvSpPr/>
          <p:nvPr/>
        </p:nvSpPr>
        <p:spPr>
          <a:xfrm>
            <a:off x="11184636" y="4107051"/>
            <a:ext cx="118110" cy="1402"/>
          </a:xfrm>
          <a:prstGeom prst="line">
            <a:avLst/>
          </a:prstGeom>
          <a:noFill/>
          <a:ln w="25400">
            <a:solidFill>
              <a:srgbClr val="1F6F78"/>
            </a:solidFill>
            <a:prstDash val="solid"/>
          </a:ln>
        </p:spPr>
      </p:sp>
      <p:sp>
        <p:nvSpPr>
          <p:cNvPr id="62" name="Shape 59"/>
          <p:cNvSpPr/>
          <p:nvPr/>
        </p:nvSpPr>
        <p:spPr>
          <a:xfrm>
            <a:off x="11302746" y="4108453"/>
            <a:ext cx="118110" cy="784"/>
          </a:xfrm>
          <a:prstGeom prst="line">
            <a:avLst/>
          </a:prstGeom>
          <a:noFill/>
          <a:ln w="25400">
            <a:solidFill>
              <a:srgbClr val="1F6F78"/>
            </a:solidFill>
            <a:prstDash val="solid"/>
          </a:ln>
        </p:spPr>
      </p:sp>
      <p:sp>
        <p:nvSpPr>
          <p:cNvPr id="63" name="Shape 60"/>
          <p:cNvSpPr/>
          <p:nvPr/>
        </p:nvSpPr>
        <p:spPr>
          <a:xfrm>
            <a:off x="8586216" y="3023083"/>
            <a:ext cx="2834640" cy="1086153"/>
          </a:xfrm>
          <a:prstGeom prst="line">
            <a:avLst/>
          </a:prstGeom>
          <a:noFill/>
          <a:ln w="19050">
            <a:solidFill>
              <a:srgbClr val="C56A2C"/>
            </a:solidFill>
            <a:prstDash val="dash"/>
          </a:ln>
        </p:spPr>
      </p:sp>
      <p:sp>
        <p:nvSpPr>
          <p:cNvPr id="64" name="Shape 61"/>
          <p:cNvSpPr/>
          <p:nvPr/>
        </p:nvSpPr>
        <p:spPr>
          <a:xfrm>
            <a:off x="8526780" y="2963647"/>
            <a:ext cx="118872" cy="118872"/>
          </a:xfrm>
          <a:prstGeom prst="rect">
            <a:avLst/>
          </a:prstGeom>
          <a:solidFill>
            <a:srgbClr val="1B2A44"/>
          </a:solidFill>
          <a:ln w="6350">
            <a:solidFill>
              <a:srgbClr val="FFFFFF"/>
            </a:solidFill>
            <a:prstDash val="solid"/>
          </a:ln>
        </p:spPr>
      </p:sp>
      <p:sp>
        <p:nvSpPr>
          <p:cNvPr id="65" name="Shape 62"/>
          <p:cNvSpPr/>
          <p:nvPr/>
        </p:nvSpPr>
        <p:spPr>
          <a:xfrm>
            <a:off x="11361420" y="4049801"/>
            <a:ext cx="118872" cy="118872"/>
          </a:xfrm>
          <a:prstGeom prst="rect">
            <a:avLst/>
          </a:prstGeom>
          <a:solidFill>
            <a:srgbClr val="1B2A44"/>
          </a:solidFill>
          <a:ln w="6350">
            <a:solidFill>
              <a:srgbClr val="FFFFFF"/>
            </a:solidFill>
            <a:prstDash val="solid"/>
          </a:ln>
        </p:spPr>
      </p:sp>
      <p:sp>
        <p:nvSpPr>
          <p:cNvPr id="66" name="Text 63"/>
          <p:cNvSpPr txBox="1"/>
          <p:nvPr/>
        </p:nvSpPr>
        <p:spPr>
          <a:xfrm>
            <a:off x="8586216" y="4370832"/>
            <a:ext cx="2834640" cy="219456"/>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南側建物の高さ A →</a:t>
            </a:r>
            <a:endParaRPr lang="en-US" sz="850" dirty="0"/>
          </a:p>
        </p:txBody>
      </p:sp>
      <p:sp>
        <p:nvSpPr>
          <p:cNvPr id="67" name="Text 64"/>
          <p:cNvSpPr txBox="1"/>
          <p:nvPr/>
        </p:nvSpPr>
        <p:spPr>
          <a:xfrm>
            <a:off x="8586216" y="2542032"/>
            <a:ext cx="201168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壁のある帯の日射量</a:t>
            </a:r>
            <a:endParaRPr lang="en-US" sz="850" dirty="0"/>
          </a:p>
        </p:txBody>
      </p:sp>
      <p:sp>
        <p:nvSpPr>
          <p:cNvPr id="68" name="Text 65"/>
          <p:cNvSpPr txBox="1"/>
          <p:nvPr/>
        </p:nvSpPr>
        <p:spPr>
          <a:xfrm>
            <a:off x="8220456" y="4553712"/>
            <a:ext cx="3291840" cy="219456"/>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 実際の変化（イメージ）</a:t>
            </a:r>
            <a:endParaRPr lang="en-US" sz="900" dirty="0"/>
          </a:p>
        </p:txBody>
      </p:sp>
      <p:sp>
        <p:nvSpPr>
          <p:cNvPr id="69" name="Text 66"/>
          <p:cNvSpPr txBox="1"/>
          <p:nvPr/>
        </p:nvSpPr>
        <p:spPr>
          <a:xfrm>
            <a:off x="8220456" y="4773168"/>
            <a:ext cx="329184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 格子点2つを直線でつないだ補間</a:t>
            </a:r>
            <a:endParaRPr lang="en-US" sz="900" dirty="0"/>
          </a:p>
        </p:txBody>
      </p:sp>
      <p:sp>
        <p:nvSpPr>
          <p:cNvPr id="70" name="Text 67"/>
          <p:cNvSpPr txBox="1"/>
          <p:nvPr/>
        </p:nvSpPr>
        <p:spPr>
          <a:xfrm>
            <a:off x="8220456" y="5074920"/>
            <a:ext cx="3383280" cy="11430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実例：南面では、南側建物の屋根付近の30〜40m帯で誤差が最大（15.08%）。細かい格子の追加で改善したが、変数が増えると追加する配置数も増えやすい。</a:t>
            </a:r>
            <a:endParaRPr lang="en-US" sz="9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来週の検証計画①：1棟ずつの効果を補間し、足し合わせる方法を試す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4方向ではまだ線形補間を行っていない。完全格子（10,000配置）の代わりに、次の方法とデータで使えるかを確かめる。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34 / 41</a:t>
            </a:r>
            <a:endParaRPr lang="en-US" sz="1100" dirty="0"/>
          </a:p>
        </p:txBody>
      </p:sp>
      <p:sp>
        <p:nvSpPr>
          <p:cNvPr id="10" name="Shape 8"/>
          <p:cNvSpPr/>
          <p:nvPr/>
        </p:nvSpPr>
        <p:spPr>
          <a:xfrm>
            <a:off x="457200" y="1481328"/>
            <a:ext cx="11292840" cy="1783080"/>
          </a:xfrm>
          <a:prstGeom prst="roundRect">
            <a:avLst>
              <a:gd name="adj" fmla="val 3077"/>
            </a:avLst>
          </a:prstGeom>
          <a:solidFill>
            <a:srgbClr val="F3F5F8"/>
          </a:solidFill>
          <a:ln/>
        </p:spPr>
      </p:sp>
      <p:sp>
        <p:nvSpPr>
          <p:cNvPr id="11" name="Text 9"/>
          <p:cNvSpPr txBox="1"/>
          <p:nvPr/>
        </p:nvSpPr>
        <p:spPr>
          <a:xfrm>
            <a:off x="594360" y="1536192"/>
            <a:ext cx="10972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考え方：建物がないときの値から、置いた建物それぞれの「減る量」を引く（重ね合わせの仮定）</a:t>
            </a:r>
            <a:endParaRPr lang="en-US" sz="1150" dirty="0"/>
          </a:p>
        </p:txBody>
      </p:sp>
      <p:sp>
        <p:nvSpPr>
          <p:cNvPr id="12" name="Shape 10"/>
          <p:cNvSpPr/>
          <p:nvPr/>
        </p:nvSpPr>
        <p:spPr>
          <a:xfrm>
            <a:off x="1024128" y="2304288"/>
            <a:ext cx="237744" cy="237744"/>
          </a:xfrm>
          <a:prstGeom prst="rect">
            <a:avLst/>
          </a:prstGeom>
          <a:solidFill>
            <a:srgbClr val="1B2A44"/>
          </a:solidFill>
          <a:ln/>
        </p:spPr>
      </p:sp>
      <p:sp>
        <p:nvSpPr>
          <p:cNvPr id="13" name="Shape 11"/>
          <p:cNvSpPr/>
          <p:nvPr/>
        </p:nvSpPr>
        <p:spPr>
          <a:xfrm>
            <a:off x="1024128" y="1920240"/>
            <a:ext cx="237744" cy="237744"/>
          </a:xfrm>
          <a:prstGeom prst="rect">
            <a:avLst/>
          </a:prstGeom>
          <a:solidFill>
            <a:srgbClr val="FFFFFF"/>
          </a:solidFill>
          <a:ln w="9525">
            <a:solidFill>
              <a:srgbClr val="C9D0D8"/>
            </a:solidFill>
            <a:prstDash val="dash"/>
          </a:ln>
        </p:spPr>
      </p:sp>
      <p:sp>
        <p:nvSpPr>
          <p:cNvPr id="14" name="Shape 12"/>
          <p:cNvSpPr/>
          <p:nvPr/>
        </p:nvSpPr>
        <p:spPr>
          <a:xfrm>
            <a:off x="1408176" y="2304288"/>
            <a:ext cx="237744" cy="237744"/>
          </a:xfrm>
          <a:prstGeom prst="rect">
            <a:avLst/>
          </a:prstGeom>
          <a:solidFill>
            <a:srgbClr val="1F6F78"/>
          </a:solidFill>
          <a:ln/>
        </p:spPr>
      </p:sp>
      <p:sp>
        <p:nvSpPr>
          <p:cNvPr id="15" name="Shape 13"/>
          <p:cNvSpPr/>
          <p:nvPr/>
        </p:nvSpPr>
        <p:spPr>
          <a:xfrm>
            <a:off x="1024128" y="2688336"/>
            <a:ext cx="237744" cy="237744"/>
          </a:xfrm>
          <a:prstGeom prst="rect">
            <a:avLst/>
          </a:prstGeom>
          <a:solidFill>
            <a:srgbClr val="1F6F78"/>
          </a:solidFill>
          <a:ln/>
        </p:spPr>
      </p:sp>
      <p:sp>
        <p:nvSpPr>
          <p:cNvPr id="16" name="Shape 14"/>
          <p:cNvSpPr/>
          <p:nvPr/>
        </p:nvSpPr>
        <p:spPr>
          <a:xfrm>
            <a:off x="640080" y="2304288"/>
            <a:ext cx="237744" cy="237744"/>
          </a:xfrm>
          <a:prstGeom prst="rect">
            <a:avLst/>
          </a:prstGeom>
          <a:solidFill>
            <a:srgbClr val="FFFFFF"/>
          </a:solidFill>
          <a:ln w="9525">
            <a:solidFill>
              <a:srgbClr val="C9D0D8"/>
            </a:solidFill>
            <a:prstDash val="dash"/>
          </a:ln>
        </p:spPr>
      </p:sp>
      <p:sp>
        <p:nvSpPr>
          <p:cNvPr id="17" name="Text 15"/>
          <p:cNvSpPr txBox="1"/>
          <p:nvPr/>
        </p:nvSpPr>
        <p:spPr>
          <a:xfrm>
            <a:off x="178308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endParaRPr lang="en-US" sz="1200" dirty="0"/>
          </a:p>
        </p:txBody>
      </p:sp>
      <p:sp>
        <p:nvSpPr>
          <p:cNvPr id="18" name="Text 16"/>
          <p:cNvSpPr txBox="1"/>
          <p:nvPr/>
        </p:nvSpPr>
        <p:spPr>
          <a:xfrm>
            <a:off x="178308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東・南に2棟</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（知りたい値）</a:t>
            </a:r>
            <a:endParaRPr lang="en-US" sz="850" dirty="0"/>
          </a:p>
        </p:txBody>
      </p:sp>
      <p:sp>
        <p:nvSpPr>
          <p:cNvPr id="19" name="Text 17"/>
          <p:cNvSpPr txBox="1"/>
          <p:nvPr/>
        </p:nvSpPr>
        <p:spPr>
          <a:xfrm>
            <a:off x="297180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20" name="Shape 18"/>
          <p:cNvSpPr/>
          <p:nvPr/>
        </p:nvSpPr>
        <p:spPr>
          <a:xfrm>
            <a:off x="3813048" y="2304288"/>
            <a:ext cx="237744" cy="237744"/>
          </a:xfrm>
          <a:prstGeom prst="rect">
            <a:avLst/>
          </a:prstGeom>
          <a:solidFill>
            <a:srgbClr val="1B2A44"/>
          </a:solidFill>
          <a:ln/>
        </p:spPr>
      </p:sp>
      <p:sp>
        <p:nvSpPr>
          <p:cNvPr id="21" name="Shape 19"/>
          <p:cNvSpPr/>
          <p:nvPr/>
        </p:nvSpPr>
        <p:spPr>
          <a:xfrm>
            <a:off x="3813048" y="1920240"/>
            <a:ext cx="237744" cy="237744"/>
          </a:xfrm>
          <a:prstGeom prst="rect">
            <a:avLst/>
          </a:prstGeom>
          <a:solidFill>
            <a:srgbClr val="FFFFFF"/>
          </a:solidFill>
          <a:ln w="9525">
            <a:solidFill>
              <a:srgbClr val="C9D0D8"/>
            </a:solidFill>
            <a:prstDash val="dash"/>
          </a:ln>
        </p:spPr>
      </p:sp>
      <p:sp>
        <p:nvSpPr>
          <p:cNvPr id="22" name="Shape 20"/>
          <p:cNvSpPr/>
          <p:nvPr/>
        </p:nvSpPr>
        <p:spPr>
          <a:xfrm>
            <a:off x="4197096" y="2304288"/>
            <a:ext cx="237744" cy="237744"/>
          </a:xfrm>
          <a:prstGeom prst="rect">
            <a:avLst/>
          </a:prstGeom>
          <a:solidFill>
            <a:srgbClr val="FFFFFF"/>
          </a:solidFill>
          <a:ln w="9525">
            <a:solidFill>
              <a:srgbClr val="C9D0D8"/>
            </a:solidFill>
            <a:prstDash val="dash"/>
          </a:ln>
        </p:spPr>
      </p:sp>
      <p:sp>
        <p:nvSpPr>
          <p:cNvPr id="23" name="Shape 21"/>
          <p:cNvSpPr/>
          <p:nvPr/>
        </p:nvSpPr>
        <p:spPr>
          <a:xfrm>
            <a:off x="3813048" y="2688336"/>
            <a:ext cx="237744" cy="237744"/>
          </a:xfrm>
          <a:prstGeom prst="rect">
            <a:avLst/>
          </a:prstGeom>
          <a:solidFill>
            <a:srgbClr val="FFFFFF"/>
          </a:solidFill>
          <a:ln w="9525">
            <a:solidFill>
              <a:srgbClr val="C9D0D8"/>
            </a:solidFill>
            <a:prstDash val="dash"/>
          </a:ln>
        </p:spPr>
      </p:sp>
      <p:sp>
        <p:nvSpPr>
          <p:cNvPr id="24" name="Shape 22"/>
          <p:cNvSpPr/>
          <p:nvPr/>
        </p:nvSpPr>
        <p:spPr>
          <a:xfrm>
            <a:off x="3429000" y="2304288"/>
            <a:ext cx="237744" cy="237744"/>
          </a:xfrm>
          <a:prstGeom prst="rect">
            <a:avLst/>
          </a:prstGeom>
          <a:solidFill>
            <a:srgbClr val="FFFFFF"/>
          </a:solidFill>
          <a:ln w="9525">
            <a:solidFill>
              <a:srgbClr val="C9D0D8"/>
            </a:solidFill>
            <a:prstDash val="dash"/>
          </a:ln>
        </p:spPr>
      </p:sp>
      <p:sp>
        <p:nvSpPr>
          <p:cNvPr id="25" name="Text 23"/>
          <p:cNvSpPr txBox="1"/>
          <p:nvPr/>
        </p:nvSpPr>
        <p:spPr>
          <a:xfrm>
            <a:off x="457200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Y</a:t>
            </a:r>
            <a:pPr indent="0" marL="0">
              <a:buNone/>
            </a:pPr>
            <a:r>
              <a:rPr lang="en-US" sz="1200" b="1" baseline="30000" dirty="0">
                <a:solidFill>
                  <a:srgbClr val="C56A2C"/>
                </a:solidFill>
                <a:latin typeface="Yu Gothic" pitchFamily="34" charset="0"/>
                <a:ea typeface="Yu Gothic" pitchFamily="34" charset="-122"/>
                <a:cs typeface="Yu Gothic" pitchFamily="34" charset="-120"/>
              </a:rPr>
              <a:t>0</a:t>
            </a:r>
            <a:endParaRPr lang="en-US" sz="1200" dirty="0"/>
          </a:p>
        </p:txBody>
      </p:sp>
      <p:sp>
        <p:nvSpPr>
          <p:cNvPr id="26" name="Text 24"/>
          <p:cNvSpPr txBox="1"/>
          <p:nvPr/>
        </p:nvSpPr>
        <p:spPr>
          <a:xfrm>
            <a:off x="457200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建物なし</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（SEBE 1配置）</a:t>
            </a:r>
            <a:endParaRPr lang="en-US" sz="850" dirty="0"/>
          </a:p>
        </p:txBody>
      </p:sp>
      <p:sp>
        <p:nvSpPr>
          <p:cNvPr id="27" name="Text 25"/>
          <p:cNvSpPr txBox="1"/>
          <p:nvPr/>
        </p:nvSpPr>
        <p:spPr>
          <a:xfrm>
            <a:off x="580644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28" name="Shape 26"/>
          <p:cNvSpPr/>
          <p:nvPr/>
        </p:nvSpPr>
        <p:spPr>
          <a:xfrm>
            <a:off x="6647688" y="2304288"/>
            <a:ext cx="237744" cy="237744"/>
          </a:xfrm>
          <a:prstGeom prst="rect">
            <a:avLst/>
          </a:prstGeom>
          <a:solidFill>
            <a:srgbClr val="1B2A44"/>
          </a:solidFill>
          <a:ln/>
        </p:spPr>
      </p:sp>
      <p:sp>
        <p:nvSpPr>
          <p:cNvPr id="29" name="Shape 27"/>
          <p:cNvSpPr/>
          <p:nvPr/>
        </p:nvSpPr>
        <p:spPr>
          <a:xfrm>
            <a:off x="6647688" y="1920240"/>
            <a:ext cx="237744" cy="237744"/>
          </a:xfrm>
          <a:prstGeom prst="rect">
            <a:avLst/>
          </a:prstGeom>
          <a:solidFill>
            <a:srgbClr val="FFFFFF"/>
          </a:solidFill>
          <a:ln w="9525">
            <a:solidFill>
              <a:srgbClr val="C9D0D8"/>
            </a:solidFill>
            <a:prstDash val="dash"/>
          </a:ln>
        </p:spPr>
      </p:sp>
      <p:sp>
        <p:nvSpPr>
          <p:cNvPr id="30" name="Shape 28"/>
          <p:cNvSpPr/>
          <p:nvPr/>
        </p:nvSpPr>
        <p:spPr>
          <a:xfrm>
            <a:off x="7031736" y="2304288"/>
            <a:ext cx="237744" cy="237744"/>
          </a:xfrm>
          <a:prstGeom prst="rect">
            <a:avLst/>
          </a:prstGeom>
          <a:solidFill>
            <a:srgbClr val="FFFFFF"/>
          </a:solidFill>
          <a:ln w="9525">
            <a:solidFill>
              <a:srgbClr val="C9D0D8"/>
            </a:solidFill>
            <a:prstDash val="dash"/>
          </a:ln>
        </p:spPr>
      </p:sp>
      <p:sp>
        <p:nvSpPr>
          <p:cNvPr id="31" name="Shape 29"/>
          <p:cNvSpPr/>
          <p:nvPr/>
        </p:nvSpPr>
        <p:spPr>
          <a:xfrm>
            <a:off x="6647688" y="2688336"/>
            <a:ext cx="237744" cy="237744"/>
          </a:xfrm>
          <a:prstGeom prst="rect">
            <a:avLst/>
          </a:prstGeom>
          <a:solidFill>
            <a:srgbClr val="1F6F78"/>
          </a:solidFill>
          <a:ln/>
        </p:spPr>
      </p:sp>
      <p:sp>
        <p:nvSpPr>
          <p:cNvPr id="32" name="Shape 30"/>
          <p:cNvSpPr/>
          <p:nvPr/>
        </p:nvSpPr>
        <p:spPr>
          <a:xfrm>
            <a:off x="6263640" y="2304288"/>
            <a:ext cx="237744" cy="237744"/>
          </a:xfrm>
          <a:prstGeom prst="rect">
            <a:avLst/>
          </a:prstGeom>
          <a:solidFill>
            <a:srgbClr val="FFFFFF"/>
          </a:solidFill>
          <a:ln w="9525">
            <a:solidFill>
              <a:srgbClr val="C9D0D8"/>
            </a:solidFill>
            <a:prstDash val="dash"/>
          </a:ln>
        </p:spPr>
      </p:sp>
      <p:sp>
        <p:nvSpPr>
          <p:cNvPr id="33" name="Text 31"/>
          <p:cNvSpPr txBox="1"/>
          <p:nvPr/>
        </p:nvSpPr>
        <p:spPr>
          <a:xfrm>
            <a:off x="740664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ΔŶ</a:t>
            </a:r>
            <a:pPr indent="0" marL="0">
              <a:buNone/>
            </a:pPr>
            <a:r>
              <a:rPr lang="en-US" sz="1200" b="1" baseline="3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4" name="Text 32"/>
          <p:cNvSpPr txBox="1"/>
          <p:nvPr/>
        </p:nvSpPr>
        <p:spPr>
          <a:xfrm>
            <a:off x="740664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南だけの効果</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（南の格子で補間）</a:t>
            </a:r>
            <a:endParaRPr lang="en-US" sz="850" dirty="0"/>
          </a:p>
        </p:txBody>
      </p:sp>
      <p:sp>
        <p:nvSpPr>
          <p:cNvPr id="35" name="Text 33"/>
          <p:cNvSpPr txBox="1"/>
          <p:nvPr/>
        </p:nvSpPr>
        <p:spPr>
          <a:xfrm>
            <a:off x="864108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36" name="Shape 34"/>
          <p:cNvSpPr/>
          <p:nvPr/>
        </p:nvSpPr>
        <p:spPr>
          <a:xfrm>
            <a:off x="9482328" y="2304288"/>
            <a:ext cx="237744" cy="237744"/>
          </a:xfrm>
          <a:prstGeom prst="rect">
            <a:avLst/>
          </a:prstGeom>
          <a:solidFill>
            <a:srgbClr val="1B2A44"/>
          </a:solidFill>
          <a:ln/>
        </p:spPr>
      </p:sp>
      <p:sp>
        <p:nvSpPr>
          <p:cNvPr id="37" name="Shape 35"/>
          <p:cNvSpPr/>
          <p:nvPr/>
        </p:nvSpPr>
        <p:spPr>
          <a:xfrm>
            <a:off x="9482328" y="1920240"/>
            <a:ext cx="237744" cy="237744"/>
          </a:xfrm>
          <a:prstGeom prst="rect">
            <a:avLst/>
          </a:prstGeom>
          <a:solidFill>
            <a:srgbClr val="FFFFFF"/>
          </a:solidFill>
          <a:ln w="9525">
            <a:solidFill>
              <a:srgbClr val="C9D0D8"/>
            </a:solidFill>
            <a:prstDash val="dash"/>
          </a:ln>
        </p:spPr>
      </p:sp>
      <p:sp>
        <p:nvSpPr>
          <p:cNvPr id="38" name="Shape 36"/>
          <p:cNvSpPr/>
          <p:nvPr/>
        </p:nvSpPr>
        <p:spPr>
          <a:xfrm>
            <a:off x="9866376" y="2304288"/>
            <a:ext cx="237744" cy="237744"/>
          </a:xfrm>
          <a:prstGeom prst="rect">
            <a:avLst/>
          </a:prstGeom>
          <a:solidFill>
            <a:srgbClr val="1F6F78"/>
          </a:solidFill>
          <a:ln/>
        </p:spPr>
      </p:sp>
      <p:sp>
        <p:nvSpPr>
          <p:cNvPr id="39" name="Shape 37"/>
          <p:cNvSpPr/>
          <p:nvPr/>
        </p:nvSpPr>
        <p:spPr>
          <a:xfrm>
            <a:off x="9482328" y="2688336"/>
            <a:ext cx="237744" cy="237744"/>
          </a:xfrm>
          <a:prstGeom prst="rect">
            <a:avLst/>
          </a:prstGeom>
          <a:solidFill>
            <a:srgbClr val="FFFFFF"/>
          </a:solidFill>
          <a:ln w="9525">
            <a:solidFill>
              <a:srgbClr val="C9D0D8"/>
            </a:solidFill>
            <a:prstDash val="dash"/>
          </a:ln>
        </p:spPr>
      </p:sp>
      <p:sp>
        <p:nvSpPr>
          <p:cNvPr id="40" name="Shape 38"/>
          <p:cNvSpPr/>
          <p:nvPr/>
        </p:nvSpPr>
        <p:spPr>
          <a:xfrm>
            <a:off x="9098280" y="2304288"/>
            <a:ext cx="237744" cy="237744"/>
          </a:xfrm>
          <a:prstGeom prst="rect">
            <a:avLst/>
          </a:prstGeom>
          <a:solidFill>
            <a:srgbClr val="FFFFFF"/>
          </a:solidFill>
          <a:ln w="9525">
            <a:solidFill>
              <a:srgbClr val="C9D0D8"/>
            </a:solidFill>
            <a:prstDash val="dash"/>
          </a:ln>
        </p:spPr>
      </p:sp>
      <p:sp>
        <p:nvSpPr>
          <p:cNvPr id="41" name="Text 39"/>
          <p:cNvSpPr txBox="1"/>
          <p:nvPr/>
        </p:nvSpPr>
        <p:spPr>
          <a:xfrm>
            <a:off x="1024128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ΔŶ</a:t>
            </a:r>
            <a:pPr indent="0" marL="0">
              <a:buNone/>
            </a:pPr>
            <a:r>
              <a:rPr lang="en-US" sz="1200" b="1" baseline="3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2" name="Text 40"/>
          <p:cNvSpPr txBox="1"/>
          <p:nvPr/>
        </p:nvSpPr>
        <p:spPr>
          <a:xfrm>
            <a:off x="1024128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東だけの効果</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（東の格子で補間）</a:t>
            </a:r>
            <a:endParaRPr lang="en-US" sz="850" dirty="0"/>
          </a:p>
        </p:txBody>
      </p:sp>
      <p:sp>
        <p:nvSpPr>
          <p:cNvPr id="43" name="Text 41"/>
          <p:cNvSpPr txBox="1"/>
          <p:nvPr/>
        </p:nvSpPr>
        <p:spPr>
          <a:xfrm>
            <a:off x="640080" y="2926080"/>
            <a:ext cx="109728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各方向の「1棟だけ」は南と同じ A・D の2変数なので、南で確かめた双線形補間が使える。</a:t>
            </a:r>
            <a:endParaRPr lang="en-US" sz="1000" dirty="0"/>
          </a:p>
        </p:txBody>
      </p:sp>
      <p:sp>
        <p:nvSpPr>
          <p:cNvPr id="44" name="Text 42"/>
          <p:cNvSpPr txBox="1"/>
          <p:nvPr/>
        </p:nvSpPr>
        <p:spPr>
          <a:xfrm>
            <a:off x="457200" y="3429000"/>
            <a:ext cx="57607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学習用（補間用）データ：SEBEで計算する配置</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5760720" cy="914400"/>
        </p:xfrm>
        <a:graphic>
          <a:graphicData uri="http://schemas.openxmlformats.org/drawingml/2006/table">
            <a:tbl>
              <a:tblPr/>
              <a:tblGrid>
                <a:gridCol w="1143000"/>
                <a:gridCol w="2743200"/>
                <a:gridCol w="502920"/>
                <a:gridCol w="1371600"/>
              </a:tblGrid>
              <a:tr h="274320">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種類</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数</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状況</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建物なし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周囲0棟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南だけ1棟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A 25・50・75・100 × D 10・25・50・100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4C8C6B"/>
                          </a:solidFill>
                          <a:latin typeface="Yu Gothic" pitchFamily="34" charset="0"/>
                          <a:ea typeface="Yu Gothic" pitchFamily="34" charset="-122"/>
                          <a:cs typeface="Yu Gothic" pitchFamily="34" charset="-120"/>
                        </a:rPr>
                        <a:t>既存を再利用</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東だけ1棟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北だけ1棟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西だけ1棟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合計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65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新規 49</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46" name="Text 43"/>
          <p:cNvSpPr txBox="1"/>
          <p:nvPr/>
        </p:nvSpPr>
        <p:spPr>
          <a:xfrm>
            <a:off x="457200" y="5760720"/>
            <a:ext cx="5760720" cy="5029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時間が足りない場合は、各方向 3×3＝9配置（A 25・50・100 × D 10・25・100、南の16点に含まれる）に減らす。</a:t>
            </a:r>
            <a:endParaRPr lang="en-US" sz="900" dirty="0"/>
          </a:p>
        </p:txBody>
      </p:sp>
      <p:sp>
        <p:nvSpPr>
          <p:cNvPr id="47" name="Text 44"/>
          <p:cNvSpPr txBox="1"/>
          <p:nvPr/>
        </p:nvSpPr>
        <p:spPr>
          <a:xfrm>
            <a:off x="6492240" y="3429000"/>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テストデータ：学習に使わない配置（事前に決めて固定）</a:t>
            </a:r>
            <a:endParaRPr lang="en-US" sz="1200" dirty="0"/>
          </a:p>
        </p:txBody>
      </p:sp>
      <p:sp>
        <p:nvSpPr>
          <p:cNvPr id="48" name="Shape 45"/>
          <p:cNvSpPr/>
          <p:nvPr/>
        </p:nvSpPr>
        <p:spPr>
          <a:xfrm>
            <a:off x="6492240" y="3749040"/>
            <a:ext cx="5257800" cy="1143000"/>
          </a:xfrm>
          <a:prstGeom prst="roundRect">
            <a:avLst>
              <a:gd name="adj" fmla="val 4800"/>
            </a:avLst>
          </a:prstGeom>
          <a:solidFill>
            <a:srgbClr val="DCEAEC"/>
          </a:solidFill>
          <a:ln/>
        </p:spPr>
      </p:sp>
      <p:sp>
        <p:nvSpPr>
          <p:cNvPr id="49" name="Text 46"/>
          <p:cNvSpPr txBox="1"/>
          <p:nvPr/>
        </p:nvSpPr>
        <p:spPr>
          <a:xfrm>
            <a:off x="6629400" y="3822192"/>
            <a:ext cx="5029200" cy="100584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テストA：1棟だけ（東・北・西 各2）＝ 6配置</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 各方向の補間そのものの誤差を見る（南は確認済み）</a:t>
            </a:r>
            <a:endParaRPr lang="en-US" sz="1000" dirty="0"/>
          </a:p>
        </p:txBody>
      </p:sp>
      <p:sp>
        <p:nvSpPr>
          <p:cNvPr id="50" name="Shape 47"/>
          <p:cNvSpPr/>
          <p:nvPr/>
        </p:nvSpPr>
        <p:spPr>
          <a:xfrm>
            <a:off x="6492240" y="4983480"/>
            <a:ext cx="5257800" cy="1325880"/>
          </a:xfrm>
          <a:prstGeom prst="roundRect">
            <a:avLst>
              <a:gd name="adj" fmla="val 4138"/>
            </a:avLst>
          </a:prstGeom>
          <a:solidFill>
            <a:srgbClr val="FBEBDA"/>
          </a:solidFill>
          <a:ln/>
        </p:spPr>
      </p:sp>
      <p:sp>
        <p:nvSpPr>
          <p:cNvPr id="51" name="Text 48"/>
          <p:cNvSpPr txBox="1"/>
          <p:nvPr/>
        </p:nvSpPr>
        <p:spPr>
          <a:xfrm>
            <a:off x="6629400" y="5056632"/>
            <a:ext cx="5029200" cy="11887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テストB：2〜4棟を同時に置く ＝ 12配置</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2棟6・3棟3・4棟3。A・D は格子点と重ならない値を乱数で選ぶ（シードを先に固定）</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 足し合わせ（重ね合わせ）の誤差を見る</a:t>
            </a:r>
            <a:endParaRPr lang="en-US" sz="10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来週の検証計画②：4方向の場合に想定している計算式</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南1棟の式（4隅の重み付き和）を、方向ごと・面ごとに使い、有る建物の分だけ引く。まだ計算していないので、値は入れていない。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35 / 41</a:t>
            </a:r>
            <a:endParaRPr lang="en-US" sz="1100" dirty="0"/>
          </a:p>
        </p:txBody>
      </p:sp>
      <p:sp>
        <p:nvSpPr>
          <p:cNvPr id="10" name="Shape 8"/>
          <p:cNvSpPr/>
          <p:nvPr/>
        </p:nvSpPr>
        <p:spPr>
          <a:xfrm>
            <a:off x="457200" y="1481328"/>
            <a:ext cx="6720840" cy="3520440"/>
          </a:xfrm>
          <a:prstGeom prst="roundRect">
            <a:avLst>
              <a:gd name="adj" fmla="val 1558"/>
            </a:avLst>
          </a:prstGeom>
          <a:solidFill>
            <a:srgbClr val="1B2A44"/>
          </a:solidFill>
          <a:ln/>
        </p:spPr>
      </p:sp>
      <p:sp>
        <p:nvSpPr>
          <p:cNvPr id="11" name="Text 9"/>
          <p:cNvSpPr txBox="1"/>
          <p:nvPr/>
        </p:nvSpPr>
        <p:spPr>
          <a:xfrm>
            <a:off x="640080" y="1554480"/>
            <a:ext cx="6400800" cy="256032"/>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記号：面 f ∈ {北, 東, 南, 西}，帯 k ＝ 1,…,5，方向 i ∈ {北, 東, 南, 西}</a:t>
            </a:r>
            <a:endParaRPr lang="en-US" sz="1000" dirty="0"/>
          </a:p>
        </p:txBody>
      </p:sp>
      <p:sp>
        <p:nvSpPr>
          <p:cNvPr id="12" name="Text 10"/>
          <p:cNvSpPr txBox="1"/>
          <p:nvPr/>
        </p:nvSpPr>
        <p:spPr>
          <a:xfrm>
            <a:off x="640080" y="1874520"/>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① 1棟だけの効果（SEBEで計算）</a:t>
            </a:r>
            <a:endParaRPr lang="en-US" sz="1000" dirty="0"/>
          </a:p>
        </p:txBody>
      </p:sp>
      <p:sp>
        <p:nvSpPr>
          <p:cNvPr id="13" name="Text 11"/>
          <p:cNvSpPr txBox="1"/>
          <p:nvPr/>
        </p:nvSpPr>
        <p:spPr>
          <a:xfrm>
            <a:off x="640080" y="2130552"/>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ΔY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0</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4" name="Text 12"/>
          <p:cNvSpPr txBox="1"/>
          <p:nvPr/>
        </p:nvSpPr>
        <p:spPr>
          <a:xfrm>
            <a:off x="640080" y="2633472"/>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② 格子の間は南と同じ双線形補間</a:t>
            </a:r>
            <a:endParaRPr lang="en-US" sz="1000" dirty="0"/>
          </a:p>
        </p:txBody>
      </p:sp>
      <p:sp>
        <p:nvSpPr>
          <p:cNvPr id="15" name="Text 13"/>
          <p:cNvSpPr txBox="1"/>
          <p:nvPr/>
        </p:nvSpPr>
        <p:spPr>
          <a:xfrm>
            <a:off x="640080" y="2889504"/>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ΔŶ</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Σ</a:t>
            </a:r>
            <a:pPr indent="0" marL="0">
              <a:buNone/>
            </a:pPr>
            <a:r>
              <a:rPr lang="en-US" sz="1250" b="1" baseline="-40000" dirty="0">
                <a:solidFill>
                  <a:srgbClr val="FFFFFF"/>
                </a:solidFill>
                <a:latin typeface="Yu Gothic" pitchFamily="34" charset="0"/>
                <a:ea typeface="Yu Gothic" pitchFamily="34" charset="-122"/>
                <a:cs typeface="Yu Gothic" pitchFamily="34" charset="-120"/>
              </a:rPr>
              <a:t>c=1</a:t>
            </a:r>
            <a:pPr indent="0" marL="0">
              <a:buNone/>
            </a:pPr>
            <a:r>
              <a:rPr lang="en-US" sz="1250" b="1" baseline="30000" dirty="0">
                <a:solidFill>
                  <a:srgbClr val="FFFFFF"/>
                </a:solidFill>
                <a:latin typeface="Yu Gothic" pitchFamily="34" charset="0"/>
                <a:ea typeface="Yu Gothic" pitchFamily="34" charset="-122"/>
                <a:cs typeface="Yu Gothic" pitchFamily="34" charset="-120"/>
              </a:rPr>
              <a:t>4</a:t>
            </a:r>
            <a:pPr indent="0" marL="0">
              <a:buNone/>
            </a:pPr>
            <a:r>
              <a:rPr lang="en-US" sz="1250" b="1" dirty="0">
                <a:solidFill>
                  <a:srgbClr val="FFFFFF"/>
                </a:solidFill>
                <a:latin typeface="Yu Gothic" pitchFamily="34" charset="0"/>
                <a:ea typeface="Yu Gothic" pitchFamily="34" charset="-122"/>
                <a:cs typeface="Yu Gothic" pitchFamily="34" charset="-120"/>
              </a:rPr>
              <a:t> w</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(u</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v</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ΔY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6" name="Text 14"/>
          <p:cNvSpPr txBox="1"/>
          <p:nvPr/>
        </p:nvSpPr>
        <p:spPr>
          <a:xfrm>
            <a:off x="640080" y="3392424"/>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③ 有る建物の分だけ引く（重ね合わせ）</a:t>
            </a:r>
            <a:endParaRPr lang="en-US" sz="1000" dirty="0"/>
          </a:p>
        </p:txBody>
      </p:sp>
      <p:sp>
        <p:nvSpPr>
          <p:cNvPr id="17" name="Text 15"/>
          <p:cNvSpPr txBox="1"/>
          <p:nvPr/>
        </p:nvSpPr>
        <p:spPr>
          <a:xfrm>
            <a:off x="640080" y="3648456"/>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Ŷ</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0</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Σ</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s</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ΔŶ</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8" name="Text 16"/>
          <p:cNvSpPr txBox="1"/>
          <p:nvPr/>
        </p:nvSpPr>
        <p:spPr>
          <a:xfrm>
            <a:off x="640080" y="4151376"/>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④ 面の平均</a:t>
            </a:r>
            <a:endParaRPr lang="en-US" sz="1000" dirty="0"/>
          </a:p>
        </p:txBody>
      </p:sp>
      <p:sp>
        <p:nvSpPr>
          <p:cNvPr id="19" name="Text 17"/>
          <p:cNvSpPr txBox="1"/>
          <p:nvPr/>
        </p:nvSpPr>
        <p:spPr>
          <a:xfrm>
            <a:off x="640080" y="4407408"/>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Ŷ</a:t>
            </a:r>
            <a:pPr indent="0" marL="0">
              <a:buNone/>
            </a:pPr>
            <a:r>
              <a:rPr lang="en-US" sz="1250" b="1" baseline="-40000" dirty="0">
                <a:solidFill>
                  <a:srgbClr val="FFFFFF"/>
                </a:solidFill>
                <a:latin typeface="Yu Gothic" pitchFamily="34" charset="0"/>
                <a:ea typeface="Yu Gothic" pitchFamily="34" charset="-122"/>
                <a:cs typeface="Yu Gothic" pitchFamily="34" charset="-120"/>
              </a:rPr>
              <a:t>f,平均</a:t>
            </a:r>
            <a:pPr indent="0" marL="0">
              <a:buNone/>
            </a:pPr>
            <a:r>
              <a:rPr lang="en-US" sz="1250" b="1" dirty="0">
                <a:solidFill>
                  <a:srgbClr val="FFFFFF"/>
                </a:solidFill>
                <a:latin typeface="Yu Gothic" pitchFamily="34" charset="0"/>
                <a:ea typeface="Yu Gothic" pitchFamily="34" charset="-122"/>
                <a:cs typeface="Yu Gothic" pitchFamily="34" charset="-120"/>
              </a:rPr>
              <a:t> ＝ (1/5) Σ</a:t>
            </a:r>
            <a:pPr indent="0" marL="0">
              <a:buNone/>
            </a:pPr>
            <a:r>
              <a:rPr lang="en-US" sz="1250" b="1" baseline="-40000" dirty="0">
                <a:solidFill>
                  <a:srgbClr val="FFFFFF"/>
                </a:solidFill>
                <a:latin typeface="Yu Gothic" pitchFamily="34" charset="0"/>
                <a:ea typeface="Yu Gothic" pitchFamily="34" charset="-122"/>
                <a:cs typeface="Yu Gothic" pitchFamily="34" charset="-120"/>
              </a:rPr>
              <a:t>k=1</a:t>
            </a:r>
            <a:pPr indent="0" marL="0">
              <a:buNone/>
            </a:pPr>
            <a:r>
              <a:rPr lang="en-US" sz="1250" b="1" baseline="30000" dirty="0">
                <a:solidFill>
                  <a:srgbClr val="FFFFFF"/>
                </a:solidFill>
                <a:latin typeface="Yu Gothic" pitchFamily="34" charset="0"/>
                <a:ea typeface="Yu Gothic" pitchFamily="34" charset="-122"/>
                <a:cs typeface="Yu Gothic" pitchFamily="34" charset="-120"/>
              </a:rPr>
              <a:t>5</a:t>
            </a:r>
            <a:pPr indent="0" marL="0">
              <a:buNone/>
            </a:pPr>
            <a:r>
              <a:rPr lang="en-US" sz="1250" b="1" dirty="0">
                <a:solidFill>
                  <a:srgbClr val="FFFFFF"/>
                </a:solidFill>
                <a:latin typeface="Yu Gothic" pitchFamily="34" charset="0"/>
                <a:ea typeface="Yu Gothic" pitchFamily="34" charset="-122"/>
                <a:cs typeface="Yu Gothic" pitchFamily="34" charset="-120"/>
              </a:rPr>
              <a:t> Ŷ</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1回の入力で 4面×5帯＝20個</a:t>
            </a:r>
            <a:endParaRPr lang="en-US" sz="1250" dirty="0"/>
          </a:p>
        </p:txBody>
      </p:sp>
      <p:sp>
        <p:nvSpPr>
          <p:cNvPr id="20" name="Shape 18"/>
          <p:cNvSpPr/>
          <p:nvPr/>
        </p:nvSpPr>
        <p:spPr>
          <a:xfrm>
            <a:off x="7406640" y="1481328"/>
            <a:ext cx="4343400" cy="3520440"/>
          </a:xfrm>
          <a:prstGeom prst="roundRect">
            <a:avLst>
              <a:gd name="adj" fmla="val 1558"/>
            </a:avLst>
          </a:prstGeom>
          <a:solidFill>
            <a:srgbClr val="F3F5F8"/>
          </a:solidFill>
          <a:ln/>
        </p:spPr>
      </p:sp>
      <p:sp>
        <p:nvSpPr>
          <p:cNvPr id="21" name="Text 19"/>
          <p:cNvSpPr txBox="1"/>
          <p:nvPr/>
        </p:nvSpPr>
        <p:spPr>
          <a:xfrm>
            <a:off x="7543800" y="1536192"/>
            <a:ext cx="4114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計算の例（想定）</a:t>
            </a:r>
            <a:endParaRPr lang="en-US" sz="1150" dirty="0"/>
          </a:p>
        </p:txBody>
      </p:sp>
      <p:sp>
        <p:nvSpPr>
          <p:cNvPr id="22" name="Text 20"/>
          <p:cNvSpPr txBox="1"/>
          <p:nvPr/>
        </p:nvSpPr>
        <p:spPr>
          <a:xfrm>
            <a:off x="7543800" y="1828800"/>
            <a:ext cx="4114800" cy="256032"/>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入力：s ＝ (s</a:t>
            </a:r>
            <a:pPr indent="0" marL="0">
              <a:buNone/>
            </a:pPr>
            <a:r>
              <a:rPr lang="en-US" sz="1000" b="1" baseline="-40000" dirty="0">
                <a:solidFill>
                  <a:srgbClr val="C56A2C"/>
                </a:solidFill>
                <a:latin typeface="Yu Gothic" pitchFamily="34" charset="0"/>
                <a:ea typeface="Yu Gothic" pitchFamily="34" charset="-122"/>
                <a:cs typeface="Yu Gothic" pitchFamily="34" charset="-120"/>
              </a:rPr>
              <a:t>北</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東</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南</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西</a:t>
            </a:r>
            <a:pPr indent="0" marL="0">
              <a:buNone/>
            </a:pPr>
            <a:r>
              <a:rPr lang="en-US" sz="1000" b="1" dirty="0">
                <a:solidFill>
                  <a:srgbClr val="C56A2C"/>
                </a:solidFill>
                <a:latin typeface="Yu Gothic" pitchFamily="34" charset="0"/>
                <a:ea typeface="Yu Gothic" pitchFamily="34" charset="-122"/>
                <a:cs typeface="Yu Gothic" pitchFamily="34" charset="-120"/>
              </a:rPr>
              <a:t>) ＝ (0, 1, 1, 0)</a:t>
            </a:r>
            <a:endParaRPr lang="en-US" sz="1000" dirty="0"/>
          </a:p>
        </p:txBody>
      </p:sp>
      <p:sp>
        <p:nvSpPr>
          <p:cNvPr id="23" name="Text 21"/>
          <p:cNvSpPr txBox="1"/>
          <p:nvPr/>
        </p:nvSpPr>
        <p:spPr>
          <a:xfrm>
            <a:off x="7543800" y="2084832"/>
            <a:ext cx="4114800" cy="256032"/>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南 A＝55.9m・D＝14m，東 A＝40m・D＝30m</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543800" y="2423160"/>
          <a:ext cx="4069080" cy="914400"/>
        </p:xfrm>
        <a:graphic>
          <a:graphicData uri="http://schemas.openxmlformats.org/drawingml/2006/table">
            <a:tbl>
              <a:tblPr/>
              <a:tblGrid>
                <a:gridCol w="1325880"/>
                <a:gridCol w="1371600"/>
                <a:gridCol w="1371600"/>
              </a:tblGrid>
              <a:tr h="256032">
                <a:tc>
                  <a:txBody>
                    <a:bodyPr/>
                    <a:lstStyle/>
                    <a:p>
                      <a:pPr algn="l" indent="0" marL="0">
                        <a:buNone/>
                      </a:pP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南（50〜75, 10〜25）</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東（25〜50, 25〜50）</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u, 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0.236, 0.267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0.6, 0.2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w₁ ＝ (1−u)(1−v)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0.560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0.32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w₂ ＝ u(1−v)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0.173</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0.48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w₃ ＝ (1−u)v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0.204</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w₄ ＝ uv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0.063</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7543800" y="4069080"/>
            <a:ext cx="411480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Ŷ</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Y</a:t>
            </a:r>
            <a:pPr indent="0" marL="0">
              <a:buNone/>
            </a:pPr>
            <a:r>
              <a:rPr lang="en-US" sz="1050" b="1" baseline="30000" dirty="0">
                <a:solidFill>
                  <a:srgbClr val="1B2A44"/>
                </a:solidFill>
                <a:latin typeface="Yu Gothic" pitchFamily="34" charset="0"/>
                <a:ea typeface="Yu Gothic" pitchFamily="34" charset="-122"/>
                <a:cs typeface="Yu Gothic" pitchFamily="34" charset="-120"/>
              </a:rPr>
              <a:t>0</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ΔŶ</a:t>
            </a:r>
            <a:pPr indent="0" marL="0">
              <a:buNone/>
            </a:pPr>
            <a:r>
              <a:rPr lang="en-US" sz="1050" b="1" baseline="30000" dirty="0">
                <a:solidFill>
                  <a:srgbClr val="1B2A44"/>
                </a:solidFill>
                <a:latin typeface="Yu Gothic" pitchFamily="34" charset="0"/>
                <a:ea typeface="Yu Gothic" pitchFamily="34" charset="-122"/>
                <a:cs typeface="Yu Gothic" pitchFamily="34" charset="-120"/>
              </a:rPr>
              <a:t>(南)</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ΔŶ</a:t>
            </a:r>
            <a:pPr indent="0" marL="0">
              <a:buNone/>
            </a:pPr>
            <a:r>
              <a:rPr lang="en-US" sz="1050" b="1" baseline="30000" dirty="0">
                <a:solidFill>
                  <a:srgbClr val="1B2A44"/>
                </a:solidFill>
                <a:latin typeface="Yu Gothic" pitchFamily="34" charset="0"/>
                <a:ea typeface="Yu Gothic" pitchFamily="34" charset="-122"/>
                <a:cs typeface="Yu Gothic" pitchFamily="34" charset="-120"/>
              </a:rPr>
              <a:t>(東)</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endParaRPr lang="en-US" sz="1050" dirty="0"/>
          </a:p>
        </p:txBody>
      </p:sp>
      <p:sp>
        <p:nvSpPr>
          <p:cNvPr id="26" name="Text 23"/>
          <p:cNvSpPr txBox="1"/>
          <p:nvPr/>
        </p:nvSpPr>
        <p:spPr>
          <a:xfrm>
            <a:off x="7543800" y="4389120"/>
            <a:ext cx="4114800" cy="5029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北・西は s＝0 なので項が0。Y・ΔY の値は SEBE 計算後に入れる。</a:t>
            </a:r>
            <a:endParaRPr lang="en-US" sz="900" dirty="0"/>
          </a:p>
        </p:txBody>
      </p:sp>
      <p:sp>
        <p:nvSpPr>
          <p:cNvPr id="27" name="Shape 24"/>
          <p:cNvSpPr/>
          <p:nvPr/>
        </p:nvSpPr>
        <p:spPr>
          <a:xfrm>
            <a:off x="457200" y="5138928"/>
            <a:ext cx="11292840" cy="1170432"/>
          </a:xfrm>
          <a:prstGeom prst="roundRect">
            <a:avLst>
              <a:gd name="adj" fmla="val 4688"/>
            </a:avLst>
          </a:prstGeom>
          <a:solidFill>
            <a:srgbClr val="FBEBDA"/>
          </a:solidFill>
          <a:ln/>
        </p:spPr>
      </p:sp>
      <p:sp>
        <p:nvSpPr>
          <p:cNvPr id="28" name="Text 25"/>
          <p:cNvSpPr txBox="1"/>
          <p:nvPr/>
        </p:nvSpPr>
        <p:spPr>
          <a:xfrm>
            <a:off x="640080" y="5193792"/>
            <a:ext cx="109728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参考：重ね合わせを使わず、そのまま多次元に広げた線形補間（完全格子が必要）</a:t>
            </a:r>
            <a:endParaRPr lang="en-US" sz="1100" dirty="0"/>
          </a:p>
        </p:txBody>
      </p:sp>
      <p:sp>
        <p:nvSpPr>
          <p:cNvPr id="29" name="Text 26"/>
          <p:cNvSpPr txBox="1"/>
          <p:nvPr/>
        </p:nvSpPr>
        <p:spPr>
          <a:xfrm>
            <a:off x="640080" y="5486400"/>
            <a:ext cx="6583680" cy="347472"/>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Ŷ(x) ＝ Σ</a:t>
            </a:r>
            <a:pPr indent="0" marL="0">
              <a:buNone/>
            </a:pPr>
            <a:r>
              <a:rPr lang="en-US" sz="1250" b="1" baseline="-40000" dirty="0">
                <a:solidFill>
                  <a:srgbClr val="1B2A44"/>
                </a:solidFill>
                <a:latin typeface="Yu Gothic" pitchFamily="34" charset="0"/>
                <a:ea typeface="Yu Gothic" pitchFamily="34" charset="-122"/>
                <a:cs typeface="Yu Gothic" pitchFamily="34" charset="-120"/>
              </a:rPr>
              <a:t>隅c</a:t>
            </a:r>
            <a:pPr indent="0" marL="0">
              <a:buNone/>
            </a:pPr>
            <a:r>
              <a:rPr lang="en-US" sz="1250" b="1" dirty="0">
                <a:solidFill>
                  <a:srgbClr val="1B2A44"/>
                </a:solidFill>
                <a:latin typeface="Yu Gothic" pitchFamily="34" charset="0"/>
                <a:ea typeface="Yu Gothic" pitchFamily="34" charset="-122"/>
                <a:cs typeface="Yu Gothic" pitchFamily="34" charset="-120"/>
              </a:rPr>
              <a:t> [ Π</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m</a:t>
            </a:r>
            <a:pPr indent="0" marL="0">
              <a:buNone/>
            </a:pPr>
            <a:r>
              <a:rPr lang="en-US" sz="1250" b="1" dirty="0">
                <a:solidFill>
                  <a:srgbClr val="1B2A44"/>
                </a:solidFill>
                <a:latin typeface="Yu Gothic" pitchFamily="34" charset="0"/>
                <a:ea typeface="Yu Gothic" pitchFamily="34" charset="-122"/>
                <a:cs typeface="Yu Gothic" pitchFamily="34" charset="-120"/>
              </a:rPr>
              <a:t> (u</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または 1−u</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 Y(隅c)</a:t>
            </a:r>
            <a:endParaRPr lang="en-US" sz="1250" dirty="0"/>
          </a:p>
        </p:txBody>
      </p:sp>
      <p:sp>
        <p:nvSpPr>
          <p:cNvPr id="30" name="Text 27"/>
          <p:cNvSpPr txBox="1"/>
          <p:nvPr/>
        </p:nvSpPr>
        <p:spPr>
          <a:xfrm>
            <a:off x="640080" y="5852160"/>
            <a:ext cx="10972800" cy="4114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m＝2（南1棟）→ 隅4点 ＝ 前ページまでの式。m＝8（4棟）→ 隅 2</a:t>
            </a:r>
            <a:pPr indent="0" marL="0">
              <a:buNone/>
            </a:pPr>
            <a:r>
              <a:rPr lang="en-US" sz="950" baseline="30000" dirty="0">
                <a:solidFill>
                  <a:srgbClr val="333F4E"/>
                </a:solidFill>
                <a:latin typeface="Yu Gothic" pitchFamily="34" charset="0"/>
                <a:ea typeface="Yu Gothic" pitchFamily="34" charset="-122"/>
                <a:cs typeface="Yu Gothic" pitchFamily="34" charset="-120"/>
              </a:rPr>
              <a:t>8</a:t>
            </a:r>
            <a:pPr indent="0" marL="0">
              <a:buNone/>
            </a:pPr>
            <a:r>
              <a:rPr lang="en-US" sz="950" dirty="0">
                <a:solidFill>
                  <a:srgbClr val="333F4E"/>
                </a:solidFill>
                <a:latin typeface="Yu Gothic" pitchFamily="34" charset="0"/>
                <a:ea typeface="Yu Gothic" pitchFamily="34" charset="-122"/>
                <a:cs typeface="Yu Gothic" pitchFamily="34" charset="-120"/>
              </a:rPr>
              <a:t>＝256点。有無の16通りごとに格子が必要。</a:t>
            </a:r>
            <a:endParaRPr lang="en-US" sz="950" dirty="0"/>
          </a:p>
        </p:txBody>
      </p:sp>
      <p:sp>
        <p:nvSpPr>
          <p:cNvPr id="31" name="Text 28"/>
          <p:cNvSpPr txBox="1"/>
          <p:nvPr/>
        </p:nvSpPr>
        <p:spPr>
          <a:xfrm>
            <a:off x="7315200" y="5468112"/>
            <a:ext cx="4343400" cy="41148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：j番目の変数の区間内の位置。隅cがその変数の上側なら 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、下側なら 1−u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 を掛ける</a:t>
            </a:r>
            <a:endParaRPr lang="en-US" sz="9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計算例③：南と東に建物がある場合の「南面・帯1」を式で追う（想定）</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入力 s＝(北0, 東1, 南1, 西0)，南 A＝55.9m・D＝14m，東 A＝40m・D＝30m。東の値は来週のSEBE計算で入るので □ で示す。</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36 / 41</a:t>
            </a:r>
            <a:endParaRPr lang="en-US" sz="1100" dirty="0"/>
          </a:p>
        </p:txBody>
      </p:sp>
      <p:sp>
        <p:nvSpPr>
          <p:cNvPr id="10" name="Shape 8"/>
          <p:cNvSpPr/>
          <p:nvPr/>
        </p:nvSpPr>
        <p:spPr>
          <a:xfrm>
            <a:off x="457200" y="1481328"/>
            <a:ext cx="5577840" cy="2697480"/>
          </a:xfrm>
          <a:prstGeom prst="roundRect">
            <a:avLst>
              <a:gd name="adj" fmla="val 2034"/>
            </a:avLst>
          </a:prstGeom>
          <a:solidFill>
            <a:srgbClr val="F3F5F8"/>
          </a:solidFill>
          <a:ln/>
        </p:spPr>
      </p:sp>
      <p:sp>
        <p:nvSpPr>
          <p:cNvPr id="11" name="Shape 9"/>
          <p:cNvSpPr/>
          <p:nvPr/>
        </p:nvSpPr>
        <p:spPr>
          <a:xfrm>
            <a:off x="594360" y="1572768"/>
            <a:ext cx="310896" cy="310896"/>
          </a:xfrm>
          <a:prstGeom prst="ellipse">
            <a:avLst/>
          </a:prstGeom>
          <a:solidFill>
            <a:srgbClr val="1F6F78"/>
          </a:solidFill>
          <a:ln/>
        </p:spPr>
      </p:sp>
      <p:sp>
        <p:nvSpPr>
          <p:cNvPr id="12" name="Text 10"/>
          <p:cNvSpPr txBox="1"/>
          <p:nvPr/>
        </p:nvSpPr>
        <p:spPr>
          <a:xfrm>
            <a:off x="59436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72768"/>
            <a:ext cx="493776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南の建物の効果（南の値は保存済み）</a:t>
            </a:r>
            <a:endParaRPr lang="en-US" sz="1150" dirty="0"/>
          </a:p>
        </p:txBody>
      </p:sp>
      <p:sp>
        <p:nvSpPr>
          <p:cNvPr id="14" name="Text 12"/>
          <p:cNvSpPr txBox="1"/>
          <p:nvPr/>
        </p:nvSpPr>
        <p:spPr>
          <a:xfrm>
            <a:off x="640080" y="1920240"/>
            <a:ext cx="5303520" cy="1508760"/>
          </a:xfrm>
          <a:prstGeom prst="rect">
            <a:avLst/>
          </a:prstGeom>
          <a:noFill/>
          <a:ln/>
        </p:spPr>
        <p:txBody>
          <a:bodyPr wrap="square" lIns="508" tIns="508" rIns="508" bIns="508" rtlCol="0" anchor="t"/>
          <a:lstStyle/>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ΔŶ</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(南)</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Σ</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c=1</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4</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w</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c</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 Y</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0</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Y</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(南)</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(c) )</a:t>
            </a:r>
            <a:endParaRPr lang="en-US" sz="1050" dirty="0"/>
          </a:p>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Y</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0</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(0.560＋0.173＋0.204＋0.063)</a:t>
            </a:r>
            <a:endParaRPr lang="en-US" sz="1050" dirty="0"/>
          </a:p>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(0.560×337.34 ＋ 0.173×319.89</a:t>
            </a:r>
            <a:endParaRPr lang="en-US" sz="1050" dirty="0"/>
          </a:p>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0.204×589.57 ＋ 0.063×535.49)</a:t>
            </a:r>
            <a:endParaRPr lang="en-US" sz="1050" dirty="0"/>
          </a:p>
          <a:p>
            <a:pPr indent="0" marL="0">
              <a:lnSpc>
                <a:spcPct val="115000"/>
              </a:lnSpc>
              <a:buNone/>
            </a:pPr>
            <a:r>
              <a:rPr lang="en-US" sz="1050" b="1" dirty="0">
                <a:solidFill>
                  <a:srgbClr val="C56A2C"/>
                </a:solidFill>
                <a:latin typeface="Yu Gothic" pitchFamily="34" charset="0"/>
                <a:ea typeface="Yu Gothic" pitchFamily="34" charset="-122"/>
                <a:cs typeface="Yu Gothic" pitchFamily="34" charset="-120"/>
              </a:rPr>
              <a:t>　＝ Y</a:t>
            </a:r>
            <a:pPr indent="0" marL="0">
              <a:lnSpc>
                <a:spcPct val="115000"/>
              </a:lnSpc>
              <a:buNone/>
            </a:pPr>
            <a:r>
              <a:rPr lang="en-US" sz="1050" b="1" baseline="30000" dirty="0">
                <a:solidFill>
                  <a:srgbClr val="C56A2C"/>
                </a:solidFill>
                <a:latin typeface="Yu Gothic" pitchFamily="34" charset="0"/>
                <a:ea typeface="Yu Gothic" pitchFamily="34" charset="-122"/>
                <a:cs typeface="Yu Gothic" pitchFamily="34" charset="-120"/>
              </a:rPr>
              <a:t>0</a:t>
            </a:r>
            <a:pPr indent="0" marL="0">
              <a:lnSpc>
                <a:spcPct val="115000"/>
              </a:lnSpc>
              <a:buNone/>
            </a:pPr>
            <a:r>
              <a:rPr lang="en-US" sz="1050" b="1" baseline="-40000" dirty="0">
                <a:solidFill>
                  <a:srgbClr val="C56A2C"/>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C56A2C"/>
                </a:solidFill>
                <a:latin typeface="Yu Gothic" pitchFamily="34" charset="0"/>
                <a:ea typeface="Yu Gothic" pitchFamily="34" charset="-122"/>
                <a:cs typeface="Yu Gothic" pitchFamily="34" charset="-120"/>
              </a:rPr>
              <a:t> × 1 − 398.18</a:t>
            </a:r>
            <a:endParaRPr lang="en-US" sz="1050" dirty="0"/>
          </a:p>
        </p:txBody>
      </p:sp>
      <p:sp>
        <p:nvSpPr>
          <p:cNvPr id="15" name="Text 13"/>
          <p:cNvSpPr txBox="1"/>
          <p:nvPr/>
        </p:nvSpPr>
        <p:spPr>
          <a:xfrm>
            <a:off x="640080" y="3429000"/>
            <a:ext cx="530352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398.18 は南1棟だけの現在の予測値（計算過程②と同じ）。重みの合計が1なので Y⁰ がそのまま残る。</a:t>
            </a:r>
            <a:endParaRPr lang="en-US" sz="950" dirty="0"/>
          </a:p>
        </p:txBody>
      </p:sp>
      <p:sp>
        <p:nvSpPr>
          <p:cNvPr id="16" name="Shape 14"/>
          <p:cNvSpPr/>
          <p:nvPr/>
        </p:nvSpPr>
        <p:spPr>
          <a:xfrm>
            <a:off x="6263640" y="1481328"/>
            <a:ext cx="5486400" cy="2697480"/>
          </a:xfrm>
          <a:prstGeom prst="roundRect">
            <a:avLst>
              <a:gd name="adj" fmla="val 2034"/>
            </a:avLst>
          </a:prstGeom>
          <a:solidFill>
            <a:srgbClr val="F3F5F8"/>
          </a:solidFill>
          <a:ln/>
        </p:spPr>
      </p:sp>
      <p:sp>
        <p:nvSpPr>
          <p:cNvPr id="17" name="Shape 15"/>
          <p:cNvSpPr/>
          <p:nvPr/>
        </p:nvSpPr>
        <p:spPr>
          <a:xfrm>
            <a:off x="6400800" y="1572768"/>
            <a:ext cx="310896" cy="310896"/>
          </a:xfrm>
          <a:prstGeom prst="ellipse">
            <a:avLst/>
          </a:prstGeom>
          <a:solidFill>
            <a:srgbClr val="1F6F78"/>
          </a:solidFill>
          <a:ln/>
        </p:spPr>
      </p:sp>
      <p:sp>
        <p:nvSpPr>
          <p:cNvPr id="18" name="Text 16"/>
          <p:cNvSpPr txBox="1"/>
          <p:nvPr/>
        </p:nvSpPr>
        <p:spPr>
          <a:xfrm>
            <a:off x="640080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9" name="Text 17"/>
          <p:cNvSpPr txBox="1"/>
          <p:nvPr/>
        </p:nvSpPr>
        <p:spPr>
          <a:xfrm>
            <a:off x="6812280" y="1572768"/>
            <a:ext cx="484632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東の建物の効果（来週SEBEで計算）</a:t>
            </a:r>
            <a:endParaRPr lang="en-US" sz="1150" dirty="0"/>
          </a:p>
        </p:txBody>
      </p:sp>
      <p:sp>
        <p:nvSpPr>
          <p:cNvPr id="20" name="Text 18"/>
          <p:cNvSpPr txBox="1"/>
          <p:nvPr/>
        </p:nvSpPr>
        <p:spPr>
          <a:xfrm>
            <a:off x="6446520" y="1965960"/>
            <a:ext cx="5212080" cy="1417320"/>
          </a:xfrm>
          <a:prstGeom prst="rect">
            <a:avLst/>
          </a:prstGeom>
          <a:noFill/>
          <a:ln/>
        </p:spPr>
        <p:txBody>
          <a:bodyPr wrap="square" lIns="508" tIns="508" rIns="508" bIns="508" rtlCol="0" anchor="t"/>
          <a:lstStyle/>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A＝40 → 25〜50m の間：u ＝ (40−25)/25 ＝ 0.6</a:t>
            </a:r>
            <a:endParaRPr lang="en-US" sz="1050" dirty="0"/>
          </a:p>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D＝30 → 25〜50m の間：v ＝ (30−25)/25 ＝ 0.2</a:t>
            </a:r>
            <a:endParaRPr lang="en-US" sz="1050" dirty="0"/>
          </a:p>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ΔŶ</a:t>
            </a:r>
            <a:pPr indent="0" marL="0">
              <a:lnSpc>
                <a:spcPct val="125000"/>
              </a:lnSpc>
              <a:buNone/>
            </a:pPr>
            <a:r>
              <a:rPr lang="en-US" sz="1050" b="1" baseline="30000" dirty="0">
                <a:solidFill>
                  <a:srgbClr val="1B2A44"/>
                </a:solidFill>
                <a:latin typeface="Yu Gothic" pitchFamily="34" charset="0"/>
                <a:ea typeface="Yu Gothic" pitchFamily="34" charset="-122"/>
                <a:cs typeface="Yu Gothic" pitchFamily="34" charset="-120"/>
              </a:rPr>
              <a:t>(東)</a:t>
            </a:r>
            <a:pPr indent="0" marL="0">
              <a:lnSpc>
                <a:spcPct val="12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 ＝ 0.32×ΔY(25,25) ＋ 0.48×ΔY(50,25)</a:t>
            </a:r>
            <a:endParaRPr lang="en-US" sz="1050" dirty="0"/>
          </a:p>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　　　　　　　 ＋ 0.08×ΔY(25,50) ＋ 0.12×ΔY(50,50)</a:t>
            </a:r>
            <a:endParaRPr lang="en-US" sz="1050" dirty="0"/>
          </a:p>
        </p:txBody>
      </p:sp>
      <p:sp>
        <p:nvSpPr>
          <p:cNvPr id="21" name="Text 19"/>
          <p:cNvSpPr txBox="1"/>
          <p:nvPr/>
        </p:nvSpPr>
        <p:spPr>
          <a:xfrm>
            <a:off x="6446520" y="3429000"/>
            <a:ext cx="521208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重み：(1−0.6)(1−0.2)＝0.32，0.6×0.8＝0.48，0.4×0.2＝0.08，0.6×0.2＝0.12（合計1）。ΔY(A, D) は「東だけ1棟」の配置で南面・帯1が減る量 → □</a:t>
            </a:r>
            <a:endParaRPr lang="en-US" sz="950" dirty="0"/>
          </a:p>
        </p:txBody>
      </p:sp>
      <p:sp>
        <p:nvSpPr>
          <p:cNvPr id="22" name="Shape 20"/>
          <p:cNvSpPr/>
          <p:nvPr/>
        </p:nvSpPr>
        <p:spPr>
          <a:xfrm>
            <a:off x="457200" y="4343400"/>
            <a:ext cx="11292840" cy="1965960"/>
          </a:xfrm>
          <a:prstGeom prst="roundRect">
            <a:avLst>
              <a:gd name="adj" fmla="val 2791"/>
            </a:avLst>
          </a:prstGeom>
          <a:solidFill>
            <a:srgbClr val="1B2A44"/>
          </a:solidFill>
          <a:ln/>
        </p:spPr>
      </p:sp>
      <p:sp>
        <p:nvSpPr>
          <p:cNvPr id="23" name="Shape 21"/>
          <p:cNvSpPr/>
          <p:nvPr/>
        </p:nvSpPr>
        <p:spPr>
          <a:xfrm>
            <a:off x="594360" y="4434840"/>
            <a:ext cx="310896" cy="310896"/>
          </a:xfrm>
          <a:prstGeom prst="ellipse">
            <a:avLst/>
          </a:prstGeom>
          <a:solidFill>
            <a:srgbClr val="E8934D"/>
          </a:solidFill>
          <a:ln/>
        </p:spPr>
      </p:sp>
      <p:sp>
        <p:nvSpPr>
          <p:cNvPr id="24" name="Text 22"/>
          <p:cNvSpPr txBox="1"/>
          <p:nvPr/>
        </p:nvSpPr>
        <p:spPr>
          <a:xfrm>
            <a:off x="594360" y="44348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5" name="Text 23"/>
          <p:cNvSpPr txBox="1"/>
          <p:nvPr/>
        </p:nvSpPr>
        <p:spPr>
          <a:xfrm>
            <a:off x="1005840" y="4434840"/>
            <a:ext cx="7315200" cy="292608"/>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足し合わせて南面・帯1の予測値にする</a:t>
            </a:r>
            <a:endParaRPr lang="en-US" sz="1150" dirty="0"/>
          </a:p>
        </p:txBody>
      </p:sp>
      <p:sp>
        <p:nvSpPr>
          <p:cNvPr id="26" name="Text 24"/>
          <p:cNvSpPr txBox="1"/>
          <p:nvPr/>
        </p:nvSpPr>
        <p:spPr>
          <a:xfrm>
            <a:off x="1005840" y="4800600"/>
            <a:ext cx="7589520" cy="1417320"/>
          </a:xfrm>
          <a:prstGeom prst="rect">
            <a:avLst/>
          </a:prstGeom>
          <a:noFill/>
          <a:ln/>
        </p:spPr>
        <p:txBody>
          <a:bodyPr wrap="square" lIns="508" tIns="508" rIns="508" bIns="508" rtlCol="0" anchor="t"/>
          <a:lstStyle/>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Ŷ</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Y</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0</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東</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(東)</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西</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(西)</a:t>
            </a:r>
            <a:endParaRPr lang="en-US" sz="1200" dirty="0"/>
          </a:p>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Y</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0</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− 1×(Y</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0</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− 398.18) − 1×ΔŶ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(東)</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− 0 − 0</a:t>
            </a:r>
            <a:endParaRPr lang="en-US" sz="1200" dirty="0"/>
          </a:p>
          <a:p>
            <a:pPr indent="0" marL="0">
              <a:lnSpc>
                <a:spcPct val="130000"/>
              </a:lnSpc>
              <a:buNone/>
            </a:pPr>
            <a:r>
              <a:rPr lang="en-US" sz="1200" b="1" dirty="0">
                <a:solidFill>
                  <a:srgbClr val="E8934D"/>
                </a:solidFill>
                <a:latin typeface="Yu Gothic" pitchFamily="34" charset="0"/>
                <a:ea typeface="Yu Gothic" pitchFamily="34" charset="-122"/>
                <a:cs typeface="Yu Gothic" pitchFamily="34" charset="-120"/>
              </a:rPr>
              <a:t>　　　＝ 398.18 − ΔŶ</a:t>
            </a:r>
            <a:pPr indent="0" marL="0">
              <a:lnSpc>
                <a:spcPct val="130000"/>
              </a:lnSpc>
              <a:buNone/>
            </a:pPr>
            <a:r>
              <a:rPr lang="en-US" sz="1200" b="1" baseline="30000" dirty="0">
                <a:solidFill>
                  <a:srgbClr val="E8934D"/>
                </a:solidFill>
                <a:latin typeface="Yu Gothic" pitchFamily="34" charset="0"/>
                <a:ea typeface="Yu Gothic" pitchFamily="34" charset="-122"/>
                <a:cs typeface="Yu Gothic" pitchFamily="34" charset="-120"/>
              </a:rPr>
              <a:t>(東)</a:t>
            </a:r>
            <a:pPr indent="0" marL="0">
              <a:lnSpc>
                <a:spcPct val="130000"/>
              </a:lnSpc>
              <a:buNone/>
            </a:pPr>
            <a:r>
              <a:rPr lang="en-US" sz="1200" b="1" baseline="-40000" dirty="0">
                <a:solidFill>
                  <a:srgbClr val="E8934D"/>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E8934D"/>
                </a:solidFill>
                <a:latin typeface="Yu Gothic" pitchFamily="34" charset="0"/>
                <a:ea typeface="Yu Gothic" pitchFamily="34" charset="-122"/>
                <a:cs typeface="Yu Gothic" pitchFamily="34" charset="-120"/>
              </a:rPr>
              <a:t> ＝ 398.18 − □</a:t>
            </a:r>
            <a:endParaRPr lang="en-US" sz="1200" dirty="0"/>
          </a:p>
        </p:txBody>
      </p:sp>
      <p:sp>
        <p:nvSpPr>
          <p:cNvPr id="27" name="Shape 25"/>
          <p:cNvSpPr/>
          <p:nvPr/>
        </p:nvSpPr>
        <p:spPr>
          <a:xfrm>
            <a:off x="8778240" y="4572000"/>
            <a:ext cx="2788920" cy="1554480"/>
          </a:xfrm>
          <a:prstGeom prst="roundRect">
            <a:avLst>
              <a:gd name="adj" fmla="val 3529"/>
            </a:avLst>
          </a:prstGeom>
          <a:solidFill>
            <a:srgbClr val="24365A"/>
          </a:solidFill>
          <a:ln/>
        </p:spPr>
      </p:sp>
      <p:sp>
        <p:nvSpPr>
          <p:cNvPr id="28" name="Text 26"/>
          <p:cNvSpPr txBox="1"/>
          <p:nvPr/>
        </p:nvSpPr>
        <p:spPr>
          <a:xfrm>
            <a:off x="8887968" y="4645152"/>
            <a:ext cx="2606040" cy="141732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FFFFFF"/>
                </a:solidFill>
                <a:latin typeface="Yu Gothic" pitchFamily="34" charset="0"/>
                <a:ea typeface="Yu Gothic" pitchFamily="34" charset="-122"/>
                <a:cs typeface="Yu Gothic" pitchFamily="34" charset="-120"/>
              </a:rPr>
              <a:t>南だけなら、今のツールの予測398.18と一致する</a:t>
            </a:r>
            <a:endParaRPr lang="en-US" sz="950" dirty="0"/>
          </a:p>
          <a:p>
            <a:pPr marL="152400" indent="-152400">
              <a:spcAft>
                <a:spcPts val="400"/>
              </a:spcAft>
              <a:buSzPct val="100000"/>
              <a:buChar char="•"/>
            </a:pPr>
            <a:r>
              <a:rPr lang="en-US" sz="950" dirty="0">
                <a:solidFill>
                  <a:srgbClr val="FFFFFF"/>
                </a:solidFill>
                <a:latin typeface="Yu Gothic" pitchFamily="34" charset="0"/>
                <a:ea typeface="Yu Gothic" pitchFamily="34" charset="-122"/>
                <a:cs typeface="Yu Gothic" pitchFamily="34" charset="-120"/>
              </a:rPr>
              <a:t>東の建物で減る量 □ を引く</a:t>
            </a:r>
            <a:endParaRPr lang="en-US" sz="950" dirty="0"/>
          </a:p>
          <a:p>
            <a:pPr marL="152400" indent="-152400">
              <a:spcAft>
                <a:spcPts val="400"/>
              </a:spcAft>
              <a:buSzPct val="100000"/>
              <a:buChar char="•"/>
            </a:pPr>
            <a:r>
              <a:rPr lang="en-US" sz="950" dirty="0">
                <a:solidFill>
                  <a:srgbClr val="FFFFFF"/>
                </a:solidFill>
                <a:latin typeface="Yu Gothic" pitchFamily="34" charset="0"/>
                <a:ea typeface="Yu Gothic" pitchFamily="34" charset="-122"/>
                <a:cs typeface="Yu Gothic" pitchFamily="34" charset="-120"/>
              </a:rPr>
              <a:t>同じ計算を4面×5帯＝20回</a:t>
            </a:r>
            <a:endParaRPr lang="en-US" sz="9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来週の検証計画③：数値で示すことと、その後の判断</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結果はまだ出ていない。次の研究室で、以下の数値を表にして示す。判断の基準は結果を見る前に決めておく。</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37 / 41</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11292840" cy="914400"/>
        </p:xfrm>
        <a:graphic>
          <a:graphicData uri="http://schemas.openxmlformats.org/drawingml/2006/table">
            <a:tbl>
              <a:tblPr/>
              <a:tblGrid>
                <a:gridCol w="3017520"/>
                <a:gridCol w="2514600"/>
                <a:gridCol w="5760720"/>
              </a:tblGrid>
              <a:tr h="45720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確かめること</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使うデータ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示す数値</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各方向の1棟補間は、南と同程度に当たるか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テストA 6配置 × 4面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MAE・平均誤差率・最大誤差率（参考：南のテスト12配置は MAE 18.40・2.42%）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足し合わせ（重ね合わせ）は成り立つか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テストB 12配置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棟数 n＝2, 3, 4 ごとの MAE・最大誤差率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どこでずれるか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テストB 12配置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面 × 帯ごとの誤差、隣り合う2棟（例：東と南）の場合の誤差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必要な計算量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新規SEBE 49配置（完全格子なら 10,000配置）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1" name="Shape 8"/>
          <p:cNvSpPr/>
          <p:nvPr/>
        </p:nvSpPr>
        <p:spPr>
          <a:xfrm>
            <a:off x="457200" y="3977640"/>
            <a:ext cx="3291840" cy="2331720"/>
          </a:xfrm>
          <a:prstGeom prst="roundRect">
            <a:avLst>
              <a:gd name="adj" fmla="val 2353"/>
            </a:avLst>
          </a:prstGeom>
          <a:solidFill>
            <a:srgbClr val="1B2A44"/>
          </a:solidFill>
          <a:ln/>
        </p:spPr>
      </p:sp>
      <p:sp>
        <p:nvSpPr>
          <p:cNvPr id="12" name="Text 9"/>
          <p:cNvSpPr txBox="1"/>
          <p:nvPr/>
        </p:nvSpPr>
        <p:spPr>
          <a:xfrm>
            <a:off x="640080" y="4069080"/>
            <a:ext cx="2926080" cy="27432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来週の結果</a:t>
            </a:r>
            <a:endParaRPr lang="en-US" sz="1200" dirty="0"/>
          </a:p>
        </p:txBody>
      </p:sp>
      <p:sp>
        <p:nvSpPr>
          <p:cNvPr id="13" name="Text 10"/>
          <p:cNvSpPr txBox="1"/>
          <p:nvPr/>
        </p:nvSpPr>
        <p:spPr>
          <a:xfrm>
            <a:off x="640080" y="4434840"/>
            <a:ext cx="2926080" cy="731520"/>
          </a:xfrm>
          <a:prstGeom prst="rect">
            <a:avLst/>
          </a:prstGeom>
          <a:noFill/>
          <a:ln/>
        </p:spPr>
        <p:txBody>
          <a:bodyPr wrap="square" lIns="508" tIns="508" rIns="508" bIns="508" rtlCol="0" anchor="t"/>
          <a:lstStyle/>
          <a:p>
            <a:pPr indent="0" marL="0">
              <a:buNone/>
            </a:pPr>
            <a:r>
              <a:rPr lang="en-US" sz="1050" dirty="0">
                <a:solidFill>
                  <a:srgbClr val="FFFFFF"/>
                </a:solidFill>
                <a:latin typeface="Yu Gothic" pitchFamily="34" charset="0"/>
                <a:ea typeface="Yu Gothic" pitchFamily="34" charset="-122"/>
                <a:cs typeface="Yu Gothic" pitchFamily="34" charset="-120"/>
              </a:rPr>
              <a:t>テストA・Bの誤差を、棟数・面・帯ごとに整理する</a:t>
            </a:r>
            <a:endParaRPr lang="en-US" sz="1050" dirty="0"/>
          </a:p>
        </p:txBody>
      </p:sp>
      <p:sp>
        <p:nvSpPr>
          <p:cNvPr id="14" name="Text 11"/>
          <p:cNvSpPr txBox="1"/>
          <p:nvPr/>
        </p:nvSpPr>
        <p:spPr>
          <a:xfrm>
            <a:off x="640080" y="5212080"/>
            <a:ext cx="2926080" cy="100584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判断の基準（例：平均誤差率○%以内）は、結果を見る前に先生と相談して決めたい</a:t>
            </a:r>
            <a:endParaRPr lang="en-US" sz="950" dirty="0"/>
          </a:p>
        </p:txBody>
      </p:sp>
      <p:sp>
        <p:nvSpPr>
          <p:cNvPr id="15" name="Shape 12"/>
          <p:cNvSpPr/>
          <p:nvPr/>
        </p:nvSpPr>
        <p:spPr>
          <a:xfrm>
            <a:off x="3840480" y="4251960"/>
            <a:ext cx="502920" cy="411480"/>
          </a:xfrm>
          <a:prstGeom prst="rightArrow">
            <a:avLst/>
          </a:prstGeom>
          <a:solidFill>
            <a:srgbClr val="4C8C6B"/>
          </a:solidFill>
          <a:ln/>
        </p:spPr>
      </p:sp>
      <p:sp>
        <p:nvSpPr>
          <p:cNvPr id="16" name="Shape 13"/>
          <p:cNvSpPr/>
          <p:nvPr/>
        </p:nvSpPr>
        <p:spPr>
          <a:xfrm>
            <a:off x="3840480" y="5486400"/>
            <a:ext cx="502920" cy="411480"/>
          </a:xfrm>
          <a:prstGeom prst="rightArrow">
            <a:avLst/>
          </a:prstGeom>
          <a:solidFill>
            <a:srgbClr val="B04A3F"/>
          </a:solidFill>
          <a:ln/>
        </p:spPr>
      </p:sp>
      <p:sp>
        <p:nvSpPr>
          <p:cNvPr id="17" name="Shape 14"/>
          <p:cNvSpPr/>
          <p:nvPr/>
        </p:nvSpPr>
        <p:spPr>
          <a:xfrm>
            <a:off x="4434840" y="3977640"/>
            <a:ext cx="7315200" cy="1097280"/>
          </a:xfrm>
          <a:prstGeom prst="roundRect">
            <a:avLst>
              <a:gd name="adj" fmla="val 5000"/>
            </a:avLst>
          </a:prstGeom>
          <a:solidFill>
            <a:srgbClr val="E1EEE7"/>
          </a:solidFill>
          <a:ln/>
        </p:spPr>
      </p:sp>
      <p:sp>
        <p:nvSpPr>
          <p:cNvPr id="18" name="Text 15"/>
          <p:cNvSpPr txBox="1"/>
          <p:nvPr/>
        </p:nvSpPr>
        <p:spPr>
          <a:xfrm>
            <a:off x="4617720" y="4041648"/>
            <a:ext cx="6949440" cy="274320"/>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棟数が増えても誤差が大きくならず、南と同程度の場合</a:t>
            </a:r>
            <a:endParaRPr lang="en-US" sz="1100" dirty="0"/>
          </a:p>
        </p:txBody>
      </p:sp>
      <p:sp>
        <p:nvSpPr>
          <p:cNvPr id="19" name="Text 16"/>
          <p:cNvSpPr txBox="1"/>
          <p:nvPr/>
        </p:nvSpPr>
        <p:spPr>
          <a:xfrm>
            <a:off x="4617720" y="4370832"/>
            <a:ext cx="6949440" cy="6400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 4方向版は「線形補間＋重ね合わせ」で作る。次に中央の高さ・任意方位へ広げる方法を検討する。</a:t>
            </a:r>
            <a:endParaRPr lang="en-US" sz="1000" dirty="0"/>
          </a:p>
        </p:txBody>
      </p:sp>
      <p:sp>
        <p:nvSpPr>
          <p:cNvPr id="20" name="Shape 17"/>
          <p:cNvSpPr/>
          <p:nvPr/>
        </p:nvSpPr>
        <p:spPr>
          <a:xfrm>
            <a:off x="4434840" y="5212080"/>
            <a:ext cx="7315200" cy="1097280"/>
          </a:xfrm>
          <a:prstGeom prst="roundRect">
            <a:avLst>
              <a:gd name="adj" fmla="val 5000"/>
            </a:avLst>
          </a:prstGeom>
          <a:solidFill>
            <a:srgbClr val="F5E2DF"/>
          </a:solidFill>
          <a:ln/>
        </p:spPr>
      </p:sp>
      <p:sp>
        <p:nvSpPr>
          <p:cNvPr id="21" name="Text 18"/>
          <p:cNvSpPr txBox="1"/>
          <p:nvPr/>
        </p:nvSpPr>
        <p:spPr>
          <a:xfrm>
            <a:off x="4617720" y="5276088"/>
            <a:ext cx="6949440"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棟数とともに誤差が大きくなる／特定の面・帯で大きくずれる場合</a:t>
            </a:r>
            <a:endParaRPr lang="en-US" sz="1100" dirty="0"/>
          </a:p>
        </p:txBody>
      </p:sp>
      <p:sp>
        <p:nvSpPr>
          <p:cNvPr id="22" name="Text 19"/>
          <p:cNvSpPr txBox="1"/>
          <p:nvPr/>
        </p:nvSpPr>
        <p:spPr>
          <a:xfrm>
            <a:off x="4617720" y="5605272"/>
            <a:ext cx="6949440" cy="6400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 影の重なりが原因かを調べ、重なりを補正する方法か、代案「空の遮られ方」（次ページ）へ進む。</a:t>
            </a:r>
            <a:endParaRPr lang="en-US" sz="10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代案：空の遮られ方を使う方法（概要）</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配置の変数を直接使わず、「壁の点から見て、どの方向の空が建物でふさがれているか」に変換してから予測する。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38 / 41</a:t>
            </a:r>
            <a:endParaRPr lang="en-US" sz="1100" dirty="0"/>
          </a:p>
        </p:txBody>
      </p:sp>
      <p:sp>
        <p:nvSpPr>
          <p:cNvPr id="10" name="Shape 8"/>
          <p:cNvSpPr/>
          <p:nvPr/>
        </p:nvSpPr>
        <p:spPr>
          <a:xfrm>
            <a:off x="457200" y="1481328"/>
            <a:ext cx="5577840" cy="4828032"/>
          </a:xfrm>
          <a:prstGeom prst="roundRect">
            <a:avLst>
              <a:gd name="adj" fmla="val 1136"/>
            </a:avLst>
          </a:prstGeom>
          <a:solidFill>
            <a:srgbClr val="F3F5F8"/>
          </a:solidFill>
          <a:ln/>
        </p:spPr>
      </p:sp>
      <p:sp>
        <p:nvSpPr>
          <p:cNvPr id="11" name="Text 9"/>
          <p:cNvSpPr txBox="1"/>
          <p:nvPr/>
        </p:nvSpPr>
        <p:spPr>
          <a:xfrm>
            <a:off x="59436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横から見た図：壁の1点から空を見上げる</a:t>
            </a:r>
            <a:endParaRPr lang="en-US" sz="1100" dirty="0"/>
          </a:p>
        </p:txBody>
      </p:sp>
      <p:sp>
        <p:nvSpPr>
          <p:cNvPr id="12" name="Shape 10"/>
          <p:cNvSpPr/>
          <p:nvPr/>
        </p:nvSpPr>
        <p:spPr>
          <a:xfrm>
            <a:off x="640080" y="5440680"/>
            <a:ext cx="5212080" cy="91"/>
          </a:xfrm>
          <a:prstGeom prst="line">
            <a:avLst/>
          </a:prstGeom>
          <a:noFill/>
          <a:ln w="12700">
            <a:solidFill>
              <a:srgbClr val="6B7480"/>
            </a:solidFill>
            <a:prstDash val="solid"/>
          </a:ln>
        </p:spPr>
      </p:sp>
      <p:sp>
        <p:nvSpPr>
          <p:cNvPr id="13" name="Shape 11"/>
          <p:cNvSpPr/>
          <p:nvPr/>
        </p:nvSpPr>
        <p:spPr>
          <a:xfrm>
            <a:off x="914400" y="3776472"/>
            <a:ext cx="2377440" cy="1664208"/>
          </a:xfrm>
          <a:prstGeom prst="rect">
            <a:avLst/>
          </a:prstGeom>
          <a:solidFill>
            <a:srgbClr val="1F6F78"/>
          </a:solidFill>
          <a:ln/>
        </p:spPr>
      </p:sp>
      <p:sp>
        <p:nvSpPr>
          <p:cNvPr id="14" name="Text 12"/>
          <p:cNvSpPr txBox="1"/>
          <p:nvPr/>
        </p:nvSpPr>
        <p:spPr>
          <a:xfrm>
            <a:off x="914400" y="4233672"/>
            <a:ext cx="237744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南側建物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高さ35m</a:t>
            </a:r>
            <a:endParaRPr lang="en-US" sz="900" dirty="0"/>
          </a:p>
        </p:txBody>
      </p:sp>
      <p:sp>
        <p:nvSpPr>
          <p:cNvPr id="15" name="Shape 13"/>
          <p:cNvSpPr/>
          <p:nvPr/>
        </p:nvSpPr>
        <p:spPr>
          <a:xfrm>
            <a:off x="4480560" y="3063240"/>
            <a:ext cx="822960" cy="2377440"/>
          </a:xfrm>
          <a:prstGeom prst="rect">
            <a:avLst/>
          </a:prstGeom>
          <a:solidFill>
            <a:srgbClr val="1B2A44"/>
          </a:solidFill>
          <a:ln/>
        </p:spPr>
      </p:sp>
      <p:sp>
        <p:nvSpPr>
          <p:cNvPr id="16" name="Text 14"/>
          <p:cNvSpPr txBox="1"/>
          <p:nvPr/>
        </p:nvSpPr>
        <p:spPr>
          <a:xfrm>
            <a:off x="4480560" y="4014216"/>
            <a:ext cx="82296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中央</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建物</a:t>
            </a:r>
            <a:endParaRPr lang="en-US" sz="900" dirty="0"/>
          </a:p>
        </p:txBody>
      </p:sp>
      <p:sp>
        <p:nvSpPr>
          <p:cNvPr id="17" name="Shape 15"/>
          <p:cNvSpPr/>
          <p:nvPr/>
        </p:nvSpPr>
        <p:spPr>
          <a:xfrm>
            <a:off x="4407408" y="4416552"/>
            <a:ext cx="146304" cy="146304"/>
          </a:xfrm>
          <a:prstGeom prst="ellipse">
            <a:avLst/>
          </a:prstGeom>
          <a:solidFill>
            <a:srgbClr val="E8934D"/>
          </a:solidFill>
          <a:ln w="6350">
            <a:solidFill>
              <a:srgbClr val="FFFFFF"/>
            </a:solidFill>
            <a:prstDash val="solid"/>
          </a:ln>
        </p:spPr>
      </p:sp>
      <p:sp>
        <p:nvSpPr>
          <p:cNvPr id="18" name="Text 16"/>
          <p:cNvSpPr txBox="1"/>
          <p:nvPr/>
        </p:nvSpPr>
        <p:spPr>
          <a:xfrm>
            <a:off x="5349240" y="4306824"/>
            <a:ext cx="1097280" cy="219456"/>
          </a:xfrm>
          <a:prstGeom prst="rect">
            <a:avLst/>
          </a:prstGeom>
          <a:noFill/>
          <a:ln/>
        </p:spPr>
        <p:txBody>
          <a:bodyPr wrap="square" lIns="508" tIns="508" rIns="508" bIns="508" rtlCol="0" anchor="t"/>
          <a:lstStyle/>
          <a:p>
            <a:pPr indent="0" marL="0">
              <a:buNone/>
            </a:pPr>
            <a:r>
              <a:rPr lang="en-US" sz="850" b="1" dirty="0">
                <a:solidFill>
                  <a:srgbClr val="C56A2C"/>
                </a:solidFill>
                <a:latin typeface="Yu Gothic" pitchFamily="34" charset="0"/>
                <a:ea typeface="Yu Gothic" pitchFamily="34" charset="-122"/>
                <a:cs typeface="Yu Gothic" pitchFamily="34" charset="-120"/>
              </a:rPr>
              <a:t>点P（南面・</a:t>
            </a:r>
            <a:endParaRPr lang="en-US" sz="850" dirty="0"/>
          </a:p>
          <a:p>
            <a:pPr indent="0" marL="0">
              <a:buNone/>
            </a:pPr>
            <a:r>
              <a:rPr lang="en-US" sz="850" b="1" dirty="0">
                <a:solidFill>
                  <a:srgbClr val="C56A2C"/>
                </a:solidFill>
                <a:latin typeface="Yu Gothic" pitchFamily="34" charset="0"/>
                <a:ea typeface="Yu Gothic" pitchFamily="34" charset="-122"/>
                <a:cs typeface="Yu Gothic" pitchFamily="34" charset="-120"/>
              </a:rPr>
              <a:t>帯2の代表点）</a:t>
            </a:r>
            <a:endParaRPr lang="en-US" sz="850" dirty="0"/>
          </a:p>
        </p:txBody>
      </p:sp>
      <p:sp>
        <p:nvSpPr>
          <p:cNvPr id="19" name="Shape 17"/>
          <p:cNvSpPr/>
          <p:nvPr/>
        </p:nvSpPr>
        <p:spPr>
          <a:xfrm flipH="1" flipV="1">
            <a:off x="3291840" y="4322640"/>
            <a:ext cx="1188720" cy="167064"/>
          </a:xfrm>
          <a:prstGeom prst="line">
            <a:avLst/>
          </a:prstGeom>
          <a:noFill/>
          <a:ln w="15875">
            <a:solidFill>
              <a:srgbClr val="B04A3F"/>
            </a:solidFill>
            <a:prstDash val="solid"/>
            <a:tailEnd type="oval"/>
          </a:ln>
        </p:spPr>
      </p:sp>
      <p:sp>
        <p:nvSpPr>
          <p:cNvPr id="20" name="Shape 18"/>
          <p:cNvSpPr/>
          <p:nvPr/>
        </p:nvSpPr>
        <p:spPr>
          <a:xfrm flipH="1" flipV="1">
            <a:off x="3291840" y="4057045"/>
            <a:ext cx="1188720" cy="432659"/>
          </a:xfrm>
          <a:prstGeom prst="line">
            <a:avLst/>
          </a:prstGeom>
          <a:noFill/>
          <a:ln w="15875">
            <a:solidFill>
              <a:srgbClr val="B04A3F"/>
            </a:solidFill>
            <a:prstDash val="solid"/>
            <a:tailEnd type="oval"/>
          </a:ln>
        </p:spPr>
      </p:sp>
      <p:sp>
        <p:nvSpPr>
          <p:cNvPr id="21" name="Shape 19"/>
          <p:cNvSpPr/>
          <p:nvPr/>
        </p:nvSpPr>
        <p:spPr>
          <a:xfrm flipH="1" flipV="1">
            <a:off x="2993430" y="3002574"/>
            <a:ext cx="1487130" cy="1487130"/>
          </a:xfrm>
          <a:prstGeom prst="line">
            <a:avLst/>
          </a:prstGeom>
          <a:noFill/>
          <a:ln w="15875">
            <a:solidFill>
              <a:srgbClr val="4C8C6B"/>
            </a:solidFill>
            <a:prstDash val="solid"/>
            <a:tailEnd type="triangle"/>
          </a:ln>
        </p:spPr>
      </p:sp>
      <p:sp>
        <p:nvSpPr>
          <p:cNvPr id="22" name="Shape 20"/>
          <p:cNvSpPr/>
          <p:nvPr/>
        </p:nvSpPr>
        <p:spPr>
          <a:xfrm flipH="1" flipV="1">
            <a:off x="3493205" y="2632759"/>
            <a:ext cx="987355" cy="1856945"/>
          </a:xfrm>
          <a:prstGeom prst="line">
            <a:avLst/>
          </a:prstGeom>
          <a:noFill/>
          <a:ln w="15875">
            <a:solidFill>
              <a:srgbClr val="4C8C6B"/>
            </a:solidFill>
            <a:prstDash val="solid"/>
            <a:tailEnd type="triangle"/>
          </a:ln>
        </p:spPr>
      </p:sp>
      <p:sp>
        <p:nvSpPr>
          <p:cNvPr id="23" name="Shape 21"/>
          <p:cNvSpPr/>
          <p:nvPr/>
        </p:nvSpPr>
        <p:spPr>
          <a:xfrm flipH="1" flipV="1">
            <a:off x="4043297" y="2432542"/>
            <a:ext cx="437263" cy="2057162"/>
          </a:xfrm>
          <a:prstGeom prst="line">
            <a:avLst/>
          </a:prstGeom>
          <a:noFill/>
          <a:ln w="15875">
            <a:solidFill>
              <a:srgbClr val="4C8C6B"/>
            </a:solidFill>
            <a:prstDash val="solid"/>
            <a:tailEnd type="triangle"/>
          </a:ln>
        </p:spPr>
      </p:sp>
      <p:sp>
        <p:nvSpPr>
          <p:cNvPr id="24" name="Shape 22"/>
          <p:cNvSpPr/>
          <p:nvPr/>
        </p:nvSpPr>
        <p:spPr>
          <a:xfrm flipH="1" flipV="1">
            <a:off x="2833968" y="3501749"/>
            <a:ext cx="1646592" cy="987955"/>
          </a:xfrm>
          <a:prstGeom prst="line">
            <a:avLst/>
          </a:prstGeom>
          <a:noFill/>
          <a:ln w="12700">
            <a:solidFill>
              <a:srgbClr val="1B2A44"/>
            </a:solidFill>
            <a:prstDash val="dash"/>
          </a:ln>
        </p:spPr>
      </p:sp>
      <p:sp>
        <p:nvSpPr>
          <p:cNvPr id="25" name="Text 23"/>
          <p:cNvSpPr txBox="1"/>
          <p:nvPr/>
        </p:nvSpPr>
        <p:spPr>
          <a:xfrm>
            <a:off x="2606040" y="3246120"/>
            <a:ext cx="1645920" cy="219456"/>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遮蔽高度角 h ≒ 31°</a:t>
            </a:r>
            <a:endParaRPr lang="en-US" sz="900" dirty="0"/>
          </a:p>
        </p:txBody>
      </p:sp>
      <p:sp>
        <p:nvSpPr>
          <p:cNvPr id="26" name="Text 24"/>
          <p:cNvSpPr txBox="1"/>
          <p:nvPr/>
        </p:nvSpPr>
        <p:spPr>
          <a:xfrm>
            <a:off x="640080" y="1874520"/>
            <a:ext cx="1828800" cy="219456"/>
          </a:xfrm>
          <a:prstGeom prst="rect">
            <a:avLst/>
          </a:prstGeom>
          <a:noFill/>
          <a:ln/>
        </p:spPr>
        <p:txBody>
          <a:bodyPr wrap="square" lIns="508" tIns="508" rIns="508" bIns="508" rtlCol="0" anchor="t"/>
          <a:lstStyle/>
          <a:p>
            <a:pPr indent="0" marL="0">
              <a:buNone/>
            </a:pPr>
            <a:r>
              <a:rPr lang="en-US" sz="900" b="1" dirty="0">
                <a:solidFill>
                  <a:srgbClr val="4C8C6B"/>
                </a:solidFill>
                <a:latin typeface="Yu Gothic" pitchFamily="34" charset="0"/>
                <a:ea typeface="Yu Gothic" pitchFamily="34" charset="-122"/>
                <a:cs typeface="Yu Gothic" pitchFamily="34" charset="-120"/>
              </a:rPr>
              <a:t>━ 空が見える方向</a:t>
            </a:r>
            <a:endParaRPr lang="en-US" sz="900" dirty="0"/>
          </a:p>
        </p:txBody>
      </p:sp>
      <p:sp>
        <p:nvSpPr>
          <p:cNvPr id="27" name="Text 25"/>
          <p:cNvSpPr txBox="1"/>
          <p:nvPr/>
        </p:nvSpPr>
        <p:spPr>
          <a:xfrm>
            <a:off x="640080" y="2103120"/>
            <a:ext cx="2103120" cy="219456"/>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 建物でふさがれた方向</a:t>
            </a:r>
            <a:endParaRPr lang="en-US" sz="900" dirty="0"/>
          </a:p>
        </p:txBody>
      </p:sp>
      <p:sp>
        <p:nvSpPr>
          <p:cNvPr id="28" name="Text 26"/>
          <p:cNvSpPr txBox="1"/>
          <p:nvPr/>
        </p:nvSpPr>
        <p:spPr>
          <a:xfrm>
            <a:off x="640080" y="5760720"/>
            <a:ext cx="5303520" cy="4572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tan h ＝ (35 − 20) / 25 → h ≒ 31°（真南の方向の場合）</a:t>
            </a:r>
            <a:endParaRPr lang="en-US" sz="900" dirty="0"/>
          </a:p>
        </p:txBody>
      </p:sp>
      <p:sp>
        <p:nvSpPr>
          <p:cNvPr id="29" name="Shape 27"/>
          <p:cNvSpPr/>
          <p:nvPr/>
        </p:nvSpPr>
        <p:spPr>
          <a:xfrm>
            <a:off x="6217920" y="1481328"/>
            <a:ext cx="5532120" cy="3246120"/>
          </a:xfrm>
          <a:prstGeom prst="roundRect">
            <a:avLst>
              <a:gd name="adj" fmla="val 1690"/>
            </a:avLst>
          </a:prstGeom>
          <a:solidFill>
            <a:srgbClr val="F3F5F8"/>
          </a:solidFill>
          <a:ln/>
        </p:spPr>
      </p:sp>
      <p:sp>
        <p:nvSpPr>
          <p:cNvPr id="30" name="Text 28"/>
          <p:cNvSpPr txBox="1"/>
          <p:nvPr/>
        </p:nvSpPr>
        <p:spPr>
          <a:xfrm>
            <a:off x="635508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点Pから見た「空の地図」（方向ごとのマス）</a:t>
            </a:r>
            <a:endParaRPr lang="en-US" sz="1100" dirty="0"/>
          </a:p>
        </p:txBody>
      </p:sp>
      <p:sp>
        <p:nvSpPr>
          <p:cNvPr id="31" name="Shape 29"/>
          <p:cNvSpPr/>
          <p:nvPr/>
        </p:nvSpPr>
        <p:spPr>
          <a:xfrm>
            <a:off x="6903720" y="3566160"/>
            <a:ext cx="329184" cy="310896"/>
          </a:xfrm>
          <a:prstGeom prst="rect">
            <a:avLst/>
          </a:prstGeom>
          <a:solidFill>
            <a:srgbClr val="FFFFFF"/>
          </a:solidFill>
          <a:ln w="6350">
            <a:solidFill>
              <a:srgbClr val="D5DAE1"/>
            </a:solidFill>
            <a:prstDash val="solid"/>
          </a:ln>
        </p:spPr>
      </p:sp>
      <p:sp>
        <p:nvSpPr>
          <p:cNvPr id="32" name="Shape 30"/>
          <p:cNvSpPr/>
          <p:nvPr/>
        </p:nvSpPr>
        <p:spPr>
          <a:xfrm>
            <a:off x="6903720" y="3236976"/>
            <a:ext cx="329184" cy="310896"/>
          </a:xfrm>
          <a:prstGeom prst="rect">
            <a:avLst/>
          </a:prstGeom>
          <a:solidFill>
            <a:srgbClr val="FFFFFF"/>
          </a:solidFill>
          <a:ln w="6350">
            <a:solidFill>
              <a:srgbClr val="D5DAE1"/>
            </a:solidFill>
            <a:prstDash val="solid"/>
          </a:ln>
        </p:spPr>
      </p:sp>
      <p:sp>
        <p:nvSpPr>
          <p:cNvPr id="33" name="Shape 31"/>
          <p:cNvSpPr/>
          <p:nvPr/>
        </p:nvSpPr>
        <p:spPr>
          <a:xfrm>
            <a:off x="6903720" y="2907792"/>
            <a:ext cx="329184" cy="310896"/>
          </a:xfrm>
          <a:prstGeom prst="rect">
            <a:avLst/>
          </a:prstGeom>
          <a:solidFill>
            <a:srgbClr val="FFFFFF"/>
          </a:solidFill>
          <a:ln w="6350">
            <a:solidFill>
              <a:srgbClr val="D5DAE1"/>
            </a:solidFill>
            <a:prstDash val="solid"/>
          </a:ln>
        </p:spPr>
      </p:sp>
      <p:sp>
        <p:nvSpPr>
          <p:cNvPr id="34" name="Shape 32"/>
          <p:cNvSpPr/>
          <p:nvPr/>
        </p:nvSpPr>
        <p:spPr>
          <a:xfrm>
            <a:off x="6903720" y="2578608"/>
            <a:ext cx="329184" cy="310896"/>
          </a:xfrm>
          <a:prstGeom prst="rect">
            <a:avLst/>
          </a:prstGeom>
          <a:solidFill>
            <a:srgbClr val="FFFFFF"/>
          </a:solidFill>
          <a:ln w="6350">
            <a:solidFill>
              <a:srgbClr val="D5DAE1"/>
            </a:solidFill>
            <a:prstDash val="solid"/>
          </a:ln>
        </p:spPr>
      </p:sp>
      <p:sp>
        <p:nvSpPr>
          <p:cNvPr id="35" name="Shape 33"/>
          <p:cNvSpPr/>
          <p:nvPr/>
        </p:nvSpPr>
        <p:spPr>
          <a:xfrm>
            <a:off x="6903720" y="2249424"/>
            <a:ext cx="329184" cy="310896"/>
          </a:xfrm>
          <a:prstGeom prst="rect">
            <a:avLst/>
          </a:prstGeom>
          <a:solidFill>
            <a:srgbClr val="FFFFFF"/>
          </a:solidFill>
          <a:ln w="6350">
            <a:solidFill>
              <a:srgbClr val="D5DAE1"/>
            </a:solidFill>
            <a:prstDash val="solid"/>
          </a:ln>
        </p:spPr>
      </p:sp>
      <p:sp>
        <p:nvSpPr>
          <p:cNvPr id="36" name="Shape 34"/>
          <p:cNvSpPr/>
          <p:nvPr/>
        </p:nvSpPr>
        <p:spPr>
          <a:xfrm>
            <a:off x="6903720" y="1920240"/>
            <a:ext cx="329184" cy="310896"/>
          </a:xfrm>
          <a:prstGeom prst="rect">
            <a:avLst/>
          </a:prstGeom>
          <a:solidFill>
            <a:srgbClr val="FFFFFF"/>
          </a:solidFill>
          <a:ln w="6350">
            <a:solidFill>
              <a:srgbClr val="D5DAE1"/>
            </a:solidFill>
            <a:prstDash val="solid"/>
          </a:ln>
        </p:spPr>
      </p:sp>
      <p:sp>
        <p:nvSpPr>
          <p:cNvPr id="37" name="Shape 35"/>
          <p:cNvSpPr/>
          <p:nvPr/>
        </p:nvSpPr>
        <p:spPr>
          <a:xfrm>
            <a:off x="7251192" y="3566160"/>
            <a:ext cx="329184" cy="310896"/>
          </a:xfrm>
          <a:prstGeom prst="rect">
            <a:avLst/>
          </a:prstGeom>
          <a:solidFill>
            <a:srgbClr val="FFFFFF"/>
          </a:solidFill>
          <a:ln w="6350">
            <a:solidFill>
              <a:srgbClr val="D5DAE1"/>
            </a:solidFill>
            <a:prstDash val="solid"/>
          </a:ln>
        </p:spPr>
      </p:sp>
      <p:sp>
        <p:nvSpPr>
          <p:cNvPr id="38" name="Shape 36"/>
          <p:cNvSpPr/>
          <p:nvPr/>
        </p:nvSpPr>
        <p:spPr>
          <a:xfrm>
            <a:off x="7251192" y="3236976"/>
            <a:ext cx="329184" cy="310896"/>
          </a:xfrm>
          <a:prstGeom prst="rect">
            <a:avLst/>
          </a:prstGeom>
          <a:solidFill>
            <a:srgbClr val="FFFFFF"/>
          </a:solidFill>
          <a:ln w="6350">
            <a:solidFill>
              <a:srgbClr val="D5DAE1"/>
            </a:solidFill>
            <a:prstDash val="solid"/>
          </a:ln>
        </p:spPr>
      </p:sp>
      <p:sp>
        <p:nvSpPr>
          <p:cNvPr id="39" name="Shape 37"/>
          <p:cNvSpPr/>
          <p:nvPr/>
        </p:nvSpPr>
        <p:spPr>
          <a:xfrm>
            <a:off x="7251192" y="2907792"/>
            <a:ext cx="329184" cy="310896"/>
          </a:xfrm>
          <a:prstGeom prst="rect">
            <a:avLst/>
          </a:prstGeom>
          <a:solidFill>
            <a:srgbClr val="FFFFFF"/>
          </a:solidFill>
          <a:ln w="6350">
            <a:solidFill>
              <a:srgbClr val="D5DAE1"/>
            </a:solidFill>
            <a:prstDash val="solid"/>
          </a:ln>
        </p:spPr>
      </p:sp>
      <p:sp>
        <p:nvSpPr>
          <p:cNvPr id="40" name="Shape 38"/>
          <p:cNvSpPr/>
          <p:nvPr/>
        </p:nvSpPr>
        <p:spPr>
          <a:xfrm>
            <a:off x="7251192" y="2578608"/>
            <a:ext cx="329184" cy="310896"/>
          </a:xfrm>
          <a:prstGeom prst="rect">
            <a:avLst/>
          </a:prstGeom>
          <a:solidFill>
            <a:srgbClr val="FFFFFF"/>
          </a:solidFill>
          <a:ln w="6350">
            <a:solidFill>
              <a:srgbClr val="D5DAE1"/>
            </a:solidFill>
            <a:prstDash val="solid"/>
          </a:ln>
        </p:spPr>
      </p:sp>
      <p:sp>
        <p:nvSpPr>
          <p:cNvPr id="41" name="Shape 39"/>
          <p:cNvSpPr/>
          <p:nvPr/>
        </p:nvSpPr>
        <p:spPr>
          <a:xfrm>
            <a:off x="7251192" y="2249424"/>
            <a:ext cx="329184" cy="310896"/>
          </a:xfrm>
          <a:prstGeom prst="rect">
            <a:avLst/>
          </a:prstGeom>
          <a:solidFill>
            <a:srgbClr val="FFFFFF"/>
          </a:solidFill>
          <a:ln w="6350">
            <a:solidFill>
              <a:srgbClr val="D5DAE1"/>
            </a:solidFill>
            <a:prstDash val="solid"/>
          </a:ln>
        </p:spPr>
      </p:sp>
      <p:sp>
        <p:nvSpPr>
          <p:cNvPr id="42" name="Shape 40"/>
          <p:cNvSpPr/>
          <p:nvPr/>
        </p:nvSpPr>
        <p:spPr>
          <a:xfrm>
            <a:off x="7251192" y="1920240"/>
            <a:ext cx="329184" cy="310896"/>
          </a:xfrm>
          <a:prstGeom prst="rect">
            <a:avLst/>
          </a:prstGeom>
          <a:solidFill>
            <a:srgbClr val="FFFFFF"/>
          </a:solidFill>
          <a:ln w="6350">
            <a:solidFill>
              <a:srgbClr val="D5DAE1"/>
            </a:solidFill>
            <a:prstDash val="solid"/>
          </a:ln>
        </p:spPr>
      </p:sp>
      <p:sp>
        <p:nvSpPr>
          <p:cNvPr id="43" name="Shape 41"/>
          <p:cNvSpPr/>
          <p:nvPr/>
        </p:nvSpPr>
        <p:spPr>
          <a:xfrm>
            <a:off x="7598664" y="3566160"/>
            <a:ext cx="329184" cy="310896"/>
          </a:xfrm>
          <a:prstGeom prst="rect">
            <a:avLst/>
          </a:prstGeom>
          <a:solidFill>
            <a:srgbClr val="FFFFFF"/>
          </a:solidFill>
          <a:ln w="6350">
            <a:solidFill>
              <a:srgbClr val="D5DAE1"/>
            </a:solidFill>
            <a:prstDash val="solid"/>
          </a:ln>
        </p:spPr>
      </p:sp>
      <p:sp>
        <p:nvSpPr>
          <p:cNvPr id="44" name="Shape 42"/>
          <p:cNvSpPr/>
          <p:nvPr/>
        </p:nvSpPr>
        <p:spPr>
          <a:xfrm>
            <a:off x="7598664" y="3236976"/>
            <a:ext cx="329184" cy="310896"/>
          </a:xfrm>
          <a:prstGeom prst="rect">
            <a:avLst/>
          </a:prstGeom>
          <a:solidFill>
            <a:srgbClr val="FFFFFF"/>
          </a:solidFill>
          <a:ln w="6350">
            <a:solidFill>
              <a:srgbClr val="D5DAE1"/>
            </a:solidFill>
            <a:prstDash val="solid"/>
          </a:ln>
        </p:spPr>
      </p:sp>
      <p:sp>
        <p:nvSpPr>
          <p:cNvPr id="45" name="Shape 43"/>
          <p:cNvSpPr/>
          <p:nvPr/>
        </p:nvSpPr>
        <p:spPr>
          <a:xfrm>
            <a:off x="7598664" y="2907792"/>
            <a:ext cx="329184" cy="310896"/>
          </a:xfrm>
          <a:prstGeom prst="rect">
            <a:avLst/>
          </a:prstGeom>
          <a:solidFill>
            <a:srgbClr val="FFFFFF"/>
          </a:solidFill>
          <a:ln w="6350">
            <a:solidFill>
              <a:srgbClr val="D5DAE1"/>
            </a:solidFill>
            <a:prstDash val="solid"/>
          </a:ln>
        </p:spPr>
      </p:sp>
      <p:sp>
        <p:nvSpPr>
          <p:cNvPr id="46" name="Shape 44"/>
          <p:cNvSpPr/>
          <p:nvPr/>
        </p:nvSpPr>
        <p:spPr>
          <a:xfrm>
            <a:off x="7598664" y="2578608"/>
            <a:ext cx="329184" cy="310896"/>
          </a:xfrm>
          <a:prstGeom prst="rect">
            <a:avLst/>
          </a:prstGeom>
          <a:solidFill>
            <a:srgbClr val="FFFFFF"/>
          </a:solidFill>
          <a:ln w="6350">
            <a:solidFill>
              <a:srgbClr val="D5DAE1"/>
            </a:solidFill>
            <a:prstDash val="solid"/>
          </a:ln>
        </p:spPr>
      </p:sp>
      <p:sp>
        <p:nvSpPr>
          <p:cNvPr id="47" name="Shape 45"/>
          <p:cNvSpPr/>
          <p:nvPr/>
        </p:nvSpPr>
        <p:spPr>
          <a:xfrm>
            <a:off x="7598664" y="2249424"/>
            <a:ext cx="329184" cy="310896"/>
          </a:xfrm>
          <a:prstGeom prst="rect">
            <a:avLst/>
          </a:prstGeom>
          <a:solidFill>
            <a:srgbClr val="FFFFFF"/>
          </a:solidFill>
          <a:ln w="6350">
            <a:solidFill>
              <a:srgbClr val="D5DAE1"/>
            </a:solidFill>
            <a:prstDash val="solid"/>
          </a:ln>
        </p:spPr>
      </p:sp>
      <p:sp>
        <p:nvSpPr>
          <p:cNvPr id="48" name="Shape 46"/>
          <p:cNvSpPr/>
          <p:nvPr/>
        </p:nvSpPr>
        <p:spPr>
          <a:xfrm>
            <a:off x="7598664" y="1920240"/>
            <a:ext cx="329184" cy="310896"/>
          </a:xfrm>
          <a:prstGeom prst="rect">
            <a:avLst/>
          </a:prstGeom>
          <a:solidFill>
            <a:srgbClr val="FFFFFF"/>
          </a:solidFill>
          <a:ln w="6350">
            <a:solidFill>
              <a:srgbClr val="D5DAE1"/>
            </a:solidFill>
            <a:prstDash val="solid"/>
          </a:ln>
        </p:spPr>
      </p:sp>
      <p:sp>
        <p:nvSpPr>
          <p:cNvPr id="49" name="Shape 47"/>
          <p:cNvSpPr/>
          <p:nvPr/>
        </p:nvSpPr>
        <p:spPr>
          <a:xfrm>
            <a:off x="7946136" y="3566160"/>
            <a:ext cx="329184" cy="310896"/>
          </a:xfrm>
          <a:prstGeom prst="rect">
            <a:avLst/>
          </a:prstGeom>
          <a:solidFill>
            <a:srgbClr val="E8934D"/>
          </a:solidFill>
          <a:ln w="6350">
            <a:solidFill>
              <a:srgbClr val="D5DAE1"/>
            </a:solidFill>
            <a:prstDash val="solid"/>
          </a:ln>
        </p:spPr>
      </p:sp>
      <p:sp>
        <p:nvSpPr>
          <p:cNvPr id="50" name="Shape 48"/>
          <p:cNvSpPr/>
          <p:nvPr/>
        </p:nvSpPr>
        <p:spPr>
          <a:xfrm>
            <a:off x="7946136" y="3236976"/>
            <a:ext cx="329184" cy="310896"/>
          </a:xfrm>
          <a:prstGeom prst="rect">
            <a:avLst/>
          </a:prstGeom>
          <a:solidFill>
            <a:srgbClr val="E8934D"/>
          </a:solidFill>
          <a:ln w="6350">
            <a:solidFill>
              <a:srgbClr val="D5DAE1"/>
            </a:solidFill>
            <a:prstDash val="solid"/>
          </a:ln>
        </p:spPr>
      </p:sp>
      <p:sp>
        <p:nvSpPr>
          <p:cNvPr id="51" name="Shape 49"/>
          <p:cNvSpPr/>
          <p:nvPr/>
        </p:nvSpPr>
        <p:spPr>
          <a:xfrm>
            <a:off x="7946136" y="2907792"/>
            <a:ext cx="329184" cy="310896"/>
          </a:xfrm>
          <a:prstGeom prst="rect">
            <a:avLst/>
          </a:prstGeom>
          <a:solidFill>
            <a:srgbClr val="FFFFFF"/>
          </a:solidFill>
          <a:ln w="6350">
            <a:solidFill>
              <a:srgbClr val="D5DAE1"/>
            </a:solidFill>
            <a:prstDash val="solid"/>
          </a:ln>
        </p:spPr>
      </p:sp>
      <p:sp>
        <p:nvSpPr>
          <p:cNvPr id="52" name="Shape 50"/>
          <p:cNvSpPr/>
          <p:nvPr/>
        </p:nvSpPr>
        <p:spPr>
          <a:xfrm>
            <a:off x="7946136" y="2578608"/>
            <a:ext cx="329184" cy="310896"/>
          </a:xfrm>
          <a:prstGeom prst="rect">
            <a:avLst/>
          </a:prstGeom>
          <a:solidFill>
            <a:srgbClr val="FFFFFF"/>
          </a:solidFill>
          <a:ln w="6350">
            <a:solidFill>
              <a:srgbClr val="D5DAE1"/>
            </a:solidFill>
            <a:prstDash val="solid"/>
          </a:ln>
        </p:spPr>
      </p:sp>
      <p:sp>
        <p:nvSpPr>
          <p:cNvPr id="53" name="Shape 51"/>
          <p:cNvSpPr/>
          <p:nvPr/>
        </p:nvSpPr>
        <p:spPr>
          <a:xfrm>
            <a:off x="7946136" y="2249424"/>
            <a:ext cx="329184" cy="310896"/>
          </a:xfrm>
          <a:prstGeom prst="rect">
            <a:avLst/>
          </a:prstGeom>
          <a:solidFill>
            <a:srgbClr val="FFFFFF"/>
          </a:solidFill>
          <a:ln w="6350">
            <a:solidFill>
              <a:srgbClr val="D5DAE1"/>
            </a:solidFill>
            <a:prstDash val="solid"/>
          </a:ln>
        </p:spPr>
      </p:sp>
      <p:sp>
        <p:nvSpPr>
          <p:cNvPr id="54" name="Shape 52"/>
          <p:cNvSpPr/>
          <p:nvPr/>
        </p:nvSpPr>
        <p:spPr>
          <a:xfrm>
            <a:off x="7946136" y="1920240"/>
            <a:ext cx="329184" cy="310896"/>
          </a:xfrm>
          <a:prstGeom prst="rect">
            <a:avLst/>
          </a:prstGeom>
          <a:solidFill>
            <a:srgbClr val="FFFFFF"/>
          </a:solidFill>
          <a:ln w="6350">
            <a:solidFill>
              <a:srgbClr val="D5DAE1"/>
            </a:solidFill>
            <a:prstDash val="solid"/>
          </a:ln>
        </p:spPr>
      </p:sp>
      <p:sp>
        <p:nvSpPr>
          <p:cNvPr id="55" name="Shape 53"/>
          <p:cNvSpPr/>
          <p:nvPr/>
        </p:nvSpPr>
        <p:spPr>
          <a:xfrm>
            <a:off x="8293608" y="3566160"/>
            <a:ext cx="329184" cy="310896"/>
          </a:xfrm>
          <a:prstGeom prst="rect">
            <a:avLst/>
          </a:prstGeom>
          <a:solidFill>
            <a:srgbClr val="E8934D"/>
          </a:solidFill>
          <a:ln w="6350">
            <a:solidFill>
              <a:srgbClr val="D5DAE1"/>
            </a:solidFill>
            <a:prstDash val="solid"/>
          </a:ln>
        </p:spPr>
      </p:sp>
      <p:sp>
        <p:nvSpPr>
          <p:cNvPr id="56" name="Shape 54"/>
          <p:cNvSpPr/>
          <p:nvPr/>
        </p:nvSpPr>
        <p:spPr>
          <a:xfrm>
            <a:off x="8293608" y="3236976"/>
            <a:ext cx="329184" cy="310896"/>
          </a:xfrm>
          <a:prstGeom prst="rect">
            <a:avLst/>
          </a:prstGeom>
          <a:solidFill>
            <a:srgbClr val="E8934D"/>
          </a:solidFill>
          <a:ln w="6350">
            <a:solidFill>
              <a:srgbClr val="D5DAE1"/>
            </a:solidFill>
            <a:prstDash val="solid"/>
          </a:ln>
        </p:spPr>
      </p:sp>
      <p:sp>
        <p:nvSpPr>
          <p:cNvPr id="57" name="Shape 55"/>
          <p:cNvSpPr/>
          <p:nvPr/>
        </p:nvSpPr>
        <p:spPr>
          <a:xfrm>
            <a:off x="8293608" y="2907792"/>
            <a:ext cx="329184" cy="310896"/>
          </a:xfrm>
          <a:prstGeom prst="rect">
            <a:avLst/>
          </a:prstGeom>
          <a:solidFill>
            <a:srgbClr val="FFFFFF"/>
          </a:solidFill>
          <a:ln w="6350">
            <a:solidFill>
              <a:srgbClr val="D5DAE1"/>
            </a:solidFill>
            <a:prstDash val="solid"/>
          </a:ln>
        </p:spPr>
      </p:sp>
      <p:sp>
        <p:nvSpPr>
          <p:cNvPr id="58" name="Shape 56"/>
          <p:cNvSpPr/>
          <p:nvPr/>
        </p:nvSpPr>
        <p:spPr>
          <a:xfrm>
            <a:off x="8293608" y="2578608"/>
            <a:ext cx="329184" cy="310896"/>
          </a:xfrm>
          <a:prstGeom prst="rect">
            <a:avLst/>
          </a:prstGeom>
          <a:solidFill>
            <a:srgbClr val="FFFFFF"/>
          </a:solidFill>
          <a:ln w="6350">
            <a:solidFill>
              <a:srgbClr val="D5DAE1"/>
            </a:solidFill>
            <a:prstDash val="solid"/>
          </a:ln>
        </p:spPr>
      </p:sp>
      <p:sp>
        <p:nvSpPr>
          <p:cNvPr id="59" name="Shape 57"/>
          <p:cNvSpPr/>
          <p:nvPr/>
        </p:nvSpPr>
        <p:spPr>
          <a:xfrm>
            <a:off x="8293608" y="2249424"/>
            <a:ext cx="329184" cy="310896"/>
          </a:xfrm>
          <a:prstGeom prst="rect">
            <a:avLst/>
          </a:prstGeom>
          <a:solidFill>
            <a:srgbClr val="FFFFFF"/>
          </a:solidFill>
          <a:ln w="6350">
            <a:solidFill>
              <a:srgbClr val="D5DAE1"/>
            </a:solidFill>
            <a:prstDash val="solid"/>
          </a:ln>
        </p:spPr>
      </p:sp>
      <p:sp>
        <p:nvSpPr>
          <p:cNvPr id="60" name="Shape 58"/>
          <p:cNvSpPr/>
          <p:nvPr/>
        </p:nvSpPr>
        <p:spPr>
          <a:xfrm>
            <a:off x="8293608" y="1920240"/>
            <a:ext cx="329184" cy="310896"/>
          </a:xfrm>
          <a:prstGeom prst="rect">
            <a:avLst/>
          </a:prstGeom>
          <a:solidFill>
            <a:srgbClr val="FFFFFF"/>
          </a:solidFill>
          <a:ln w="6350">
            <a:solidFill>
              <a:srgbClr val="D5DAE1"/>
            </a:solidFill>
            <a:prstDash val="solid"/>
          </a:ln>
        </p:spPr>
      </p:sp>
      <p:sp>
        <p:nvSpPr>
          <p:cNvPr id="61" name="Shape 59"/>
          <p:cNvSpPr/>
          <p:nvPr/>
        </p:nvSpPr>
        <p:spPr>
          <a:xfrm>
            <a:off x="8641080" y="3566160"/>
            <a:ext cx="329184" cy="310896"/>
          </a:xfrm>
          <a:prstGeom prst="rect">
            <a:avLst/>
          </a:prstGeom>
          <a:solidFill>
            <a:srgbClr val="E8934D"/>
          </a:solidFill>
          <a:ln w="6350">
            <a:solidFill>
              <a:srgbClr val="D5DAE1"/>
            </a:solidFill>
            <a:prstDash val="solid"/>
          </a:ln>
        </p:spPr>
      </p:sp>
      <p:sp>
        <p:nvSpPr>
          <p:cNvPr id="62" name="Shape 60"/>
          <p:cNvSpPr/>
          <p:nvPr/>
        </p:nvSpPr>
        <p:spPr>
          <a:xfrm>
            <a:off x="8641080" y="3236976"/>
            <a:ext cx="329184" cy="310896"/>
          </a:xfrm>
          <a:prstGeom prst="rect">
            <a:avLst/>
          </a:prstGeom>
          <a:solidFill>
            <a:srgbClr val="E8934D"/>
          </a:solidFill>
          <a:ln w="6350">
            <a:solidFill>
              <a:srgbClr val="D5DAE1"/>
            </a:solidFill>
            <a:prstDash val="solid"/>
          </a:ln>
        </p:spPr>
      </p:sp>
      <p:sp>
        <p:nvSpPr>
          <p:cNvPr id="63" name="Shape 61"/>
          <p:cNvSpPr/>
          <p:nvPr/>
        </p:nvSpPr>
        <p:spPr>
          <a:xfrm>
            <a:off x="8641080" y="2907792"/>
            <a:ext cx="329184" cy="310896"/>
          </a:xfrm>
          <a:prstGeom prst="rect">
            <a:avLst/>
          </a:prstGeom>
          <a:solidFill>
            <a:srgbClr val="FFFFFF"/>
          </a:solidFill>
          <a:ln w="6350">
            <a:solidFill>
              <a:srgbClr val="D5DAE1"/>
            </a:solidFill>
            <a:prstDash val="solid"/>
          </a:ln>
        </p:spPr>
      </p:sp>
      <p:sp>
        <p:nvSpPr>
          <p:cNvPr id="64" name="Shape 62"/>
          <p:cNvSpPr/>
          <p:nvPr/>
        </p:nvSpPr>
        <p:spPr>
          <a:xfrm>
            <a:off x="8641080" y="2578608"/>
            <a:ext cx="329184" cy="310896"/>
          </a:xfrm>
          <a:prstGeom prst="rect">
            <a:avLst/>
          </a:prstGeom>
          <a:solidFill>
            <a:srgbClr val="FFFFFF"/>
          </a:solidFill>
          <a:ln w="6350">
            <a:solidFill>
              <a:srgbClr val="D5DAE1"/>
            </a:solidFill>
            <a:prstDash val="solid"/>
          </a:ln>
        </p:spPr>
      </p:sp>
      <p:sp>
        <p:nvSpPr>
          <p:cNvPr id="65" name="Shape 63"/>
          <p:cNvSpPr/>
          <p:nvPr/>
        </p:nvSpPr>
        <p:spPr>
          <a:xfrm>
            <a:off x="8641080" y="2249424"/>
            <a:ext cx="329184" cy="310896"/>
          </a:xfrm>
          <a:prstGeom prst="rect">
            <a:avLst/>
          </a:prstGeom>
          <a:solidFill>
            <a:srgbClr val="FFFFFF"/>
          </a:solidFill>
          <a:ln w="6350">
            <a:solidFill>
              <a:srgbClr val="D5DAE1"/>
            </a:solidFill>
            <a:prstDash val="solid"/>
          </a:ln>
        </p:spPr>
      </p:sp>
      <p:sp>
        <p:nvSpPr>
          <p:cNvPr id="66" name="Shape 64"/>
          <p:cNvSpPr/>
          <p:nvPr/>
        </p:nvSpPr>
        <p:spPr>
          <a:xfrm>
            <a:off x="8641080" y="1920240"/>
            <a:ext cx="329184" cy="310896"/>
          </a:xfrm>
          <a:prstGeom prst="rect">
            <a:avLst/>
          </a:prstGeom>
          <a:solidFill>
            <a:srgbClr val="FFFFFF"/>
          </a:solidFill>
          <a:ln w="6350">
            <a:solidFill>
              <a:srgbClr val="D5DAE1"/>
            </a:solidFill>
            <a:prstDash val="solid"/>
          </a:ln>
        </p:spPr>
      </p:sp>
      <p:sp>
        <p:nvSpPr>
          <p:cNvPr id="67" name="Shape 65"/>
          <p:cNvSpPr/>
          <p:nvPr/>
        </p:nvSpPr>
        <p:spPr>
          <a:xfrm>
            <a:off x="8988552" y="3566160"/>
            <a:ext cx="329184" cy="310896"/>
          </a:xfrm>
          <a:prstGeom prst="rect">
            <a:avLst/>
          </a:prstGeom>
          <a:solidFill>
            <a:srgbClr val="E8934D"/>
          </a:solidFill>
          <a:ln w="6350">
            <a:solidFill>
              <a:srgbClr val="D5DAE1"/>
            </a:solidFill>
            <a:prstDash val="solid"/>
          </a:ln>
        </p:spPr>
      </p:sp>
      <p:sp>
        <p:nvSpPr>
          <p:cNvPr id="68" name="Shape 66"/>
          <p:cNvSpPr/>
          <p:nvPr/>
        </p:nvSpPr>
        <p:spPr>
          <a:xfrm>
            <a:off x="8988552" y="3236976"/>
            <a:ext cx="329184" cy="310896"/>
          </a:xfrm>
          <a:prstGeom prst="rect">
            <a:avLst/>
          </a:prstGeom>
          <a:solidFill>
            <a:srgbClr val="E8934D"/>
          </a:solidFill>
          <a:ln w="6350">
            <a:solidFill>
              <a:srgbClr val="D5DAE1"/>
            </a:solidFill>
            <a:prstDash val="solid"/>
          </a:ln>
        </p:spPr>
      </p:sp>
      <p:sp>
        <p:nvSpPr>
          <p:cNvPr id="69" name="Shape 67"/>
          <p:cNvSpPr/>
          <p:nvPr/>
        </p:nvSpPr>
        <p:spPr>
          <a:xfrm>
            <a:off x="8988552" y="2907792"/>
            <a:ext cx="329184" cy="310896"/>
          </a:xfrm>
          <a:prstGeom prst="rect">
            <a:avLst/>
          </a:prstGeom>
          <a:solidFill>
            <a:srgbClr val="FFFFFF"/>
          </a:solidFill>
          <a:ln w="6350">
            <a:solidFill>
              <a:srgbClr val="D5DAE1"/>
            </a:solidFill>
            <a:prstDash val="solid"/>
          </a:ln>
        </p:spPr>
      </p:sp>
      <p:sp>
        <p:nvSpPr>
          <p:cNvPr id="70" name="Shape 68"/>
          <p:cNvSpPr/>
          <p:nvPr/>
        </p:nvSpPr>
        <p:spPr>
          <a:xfrm>
            <a:off x="8988552" y="2578608"/>
            <a:ext cx="329184" cy="310896"/>
          </a:xfrm>
          <a:prstGeom prst="rect">
            <a:avLst/>
          </a:prstGeom>
          <a:solidFill>
            <a:srgbClr val="FFFFFF"/>
          </a:solidFill>
          <a:ln w="6350">
            <a:solidFill>
              <a:srgbClr val="D5DAE1"/>
            </a:solidFill>
            <a:prstDash val="solid"/>
          </a:ln>
        </p:spPr>
      </p:sp>
      <p:sp>
        <p:nvSpPr>
          <p:cNvPr id="71" name="Shape 69"/>
          <p:cNvSpPr/>
          <p:nvPr/>
        </p:nvSpPr>
        <p:spPr>
          <a:xfrm>
            <a:off x="8988552" y="2249424"/>
            <a:ext cx="329184" cy="310896"/>
          </a:xfrm>
          <a:prstGeom prst="rect">
            <a:avLst/>
          </a:prstGeom>
          <a:solidFill>
            <a:srgbClr val="FFFFFF"/>
          </a:solidFill>
          <a:ln w="6350">
            <a:solidFill>
              <a:srgbClr val="D5DAE1"/>
            </a:solidFill>
            <a:prstDash val="solid"/>
          </a:ln>
        </p:spPr>
      </p:sp>
      <p:sp>
        <p:nvSpPr>
          <p:cNvPr id="72" name="Shape 70"/>
          <p:cNvSpPr/>
          <p:nvPr/>
        </p:nvSpPr>
        <p:spPr>
          <a:xfrm>
            <a:off x="8988552" y="1920240"/>
            <a:ext cx="329184" cy="310896"/>
          </a:xfrm>
          <a:prstGeom prst="rect">
            <a:avLst/>
          </a:prstGeom>
          <a:solidFill>
            <a:srgbClr val="FFFFFF"/>
          </a:solidFill>
          <a:ln w="6350">
            <a:solidFill>
              <a:srgbClr val="D5DAE1"/>
            </a:solidFill>
            <a:prstDash val="solid"/>
          </a:ln>
        </p:spPr>
      </p:sp>
      <p:sp>
        <p:nvSpPr>
          <p:cNvPr id="73" name="Shape 71"/>
          <p:cNvSpPr/>
          <p:nvPr/>
        </p:nvSpPr>
        <p:spPr>
          <a:xfrm>
            <a:off x="9336024" y="3566160"/>
            <a:ext cx="329184" cy="310896"/>
          </a:xfrm>
          <a:prstGeom prst="rect">
            <a:avLst/>
          </a:prstGeom>
          <a:solidFill>
            <a:srgbClr val="E8934D"/>
          </a:solidFill>
          <a:ln w="6350">
            <a:solidFill>
              <a:srgbClr val="D5DAE1"/>
            </a:solidFill>
            <a:prstDash val="solid"/>
          </a:ln>
        </p:spPr>
      </p:sp>
      <p:sp>
        <p:nvSpPr>
          <p:cNvPr id="74" name="Shape 72"/>
          <p:cNvSpPr/>
          <p:nvPr/>
        </p:nvSpPr>
        <p:spPr>
          <a:xfrm>
            <a:off x="9336024" y="3236976"/>
            <a:ext cx="329184" cy="310896"/>
          </a:xfrm>
          <a:prstGeom prst="rect">
            <a:avLst/>
          </a:prstGeom>
          <a:solidFill>
            <a:srgbClr val="E8934D"/>
          </a:solidFill>
          <a:ln w="6350">
            <a:solidFill>
              <a:srgbClr val="D5DAE1"/>
            </a:solidFill>
            <a:prstDash val="solid"/>
          </a:ln>
        </p:spPr>
      </p:sp>
      <p:sp>
        <p:nvSpPr>
          <p:cNvPr id="75" name="Shape 73"/>
          <p:cNvSpPr/>
          <p:nvPr/>
        </p:nvSpPr>
        <p:spPr>
          <a:xfrm>
            <a:off x="9336024" y="2907792"/>
            <a:ext cx="329184" cy="310896"/>
          </a:xfrm>
          <a:prstGeom prst="rect">
            <a:avLst/>
          </a:prstGeom>
          <a:solidFill>
            <a:srgbClr val="FFFFFF"/>
          </a:solidFill>
          <a:ln w="6350">
            <a:solidFill>
              <a:srgbClr val="D5DAE1"/>
            </a:solidFill>
            <a:prstDash val="solid"/>
          </a:ln>
        </p:spPr>
      </p:sp>
      <p:sp>
        <p:nvSpPr>
          <p:cNvPr id="76" name="Shape 74"/>
          <p:cNvSpPr/>
          <p:nvPr/>
        </p:nvSpPr>
        <p:spPr>
          <a:xfrm>
            <a:off x="9336024" y="2578608"/>
            <a:ext cx="329184" cy="310896"/>
          </a:xfrm>
          <a:prstGeom prst="rect">
            <a:avLst/>
          </a:prstGeom>
          <a:solidFill>
            <a:srgbClr val="FFFFFF"/>
          </a:solidFill>
          <a:ln w="6350">
            <a:solidFill>
              <a:srgbClr val="D5DAE1"/>
            </a:solidFill>
            <a:prstDash val="solid"/>
          </a:ln>
        </p:spPr>
      </p:sp>
      <p:sp>
        <p:nvSpPr>
          <p:cNvPr id="77" name="Shape 75"/>
          <p:cNvSpPr/>
          <p:nvPr/>
        </p:nvSpPr>
        <p:spPr>
          <a:xfrm>
            <a:off x="9336024" y="2249424"/>
            <a:ext cx="329184" cy="310896"/>
          </a:xfrm>
          <a:prstGeom prst="rect">
            <a:avLst/>
          </a:prstGeom>
          <a:solidFill>
            <a:srgbClr val="FFFFFF"/>
          </a:solidFill>
          <a:ln w="6350">
            <a:solidFill>
              <a:srgbClr val="D5DAE1"/>
            </a:solidFill>
            <a:prstDash val="solid"/>
          </a:ln>
        </p:spPr>
      </p:sp>
      <p:sp>
        <p:nvSpPr>
          <p:cNvPr id="78" name="Shape 76"/>
          <p:cNvSpPr/>
          <p:nvPr/>
        </p:nvSpPr>
        <p:spPr>
          <a:xfrm>
            <a:off x="9336024" y="1920240"/>
            <a:ext cx="329184" cy="310896"/>
          </a:xfrm>
          <a:prstGeom prst="rect">
            <a:avLst/>
          </a:prstGeom>
          <a:solidFill>
            <a:srgbClr val="FFFFFF"/>
          </a:solidFill>
          <a:ln w="6350">
            <a:solidFill>
              <a:srgbClr val="D5DAE1"/>
            </a:solidFill>
            <a:prstDash val="solid"/>
          </a:ln>
        </p:spPr>
      </p:sp>
      <p:sp>
        <p:nvSpPr>
          <p:cNvPr id="79" name="Shape 77"/>
          <p:cNvSpPr/>
          <p:nvPr/>
        </p:nvSpPr>
        <p:spPr>
          <a:xfrm>
            <a:off x="9683496" y="3566160"/>
            <a:ext cx="329184" cy="310896"/>
          </a:xfrm>
          <a:prstGeom prst="rect">
            <a:avLst/>
          </a:prstGeom>
          <a:solidFill>
            <a:srgbClr val="B04A3F"/>
          </a:solidFill>
          <a:ln w="6350">
            <a:solidFill>
              <a:srgbClr val="D5DAE1"/>
            </a:solidFill>
            <a:prstDash val="solid"/>
          </a:ln>
        </p:spPr>
      </p:sp>
      <p:sp>
        <p:nvSpPr>
          <p:cNvPr id="80" name="Shape 78"/>
          <p:cNvSpPr/>
          <p:nvPr/>
        </p:nvSpPr>
        <p:spPr>
          <a:xfrm>
            <a:off x="9683496" y="3236976"/>
            <a:ext cx="329184" cy="310896"/>
          </a:xfrm>
          <a:prstGeom prst="rect">
            <a:avLst/>
          </a:prstGeom>
          <a:solidFill>
            <a:srgbClr val="E8934D"/>
          </a:solidFill>
          <a:ln w="6350">
            <a:solidFill>
              <a:srgbClr val="D5DAE1"/>
            </a:solidFill>
            <a:prstDash val="solid"/>
          </a:ln>
        </p:spPr>
      </p:sp>
      <p:sp>
        <p:nvSpPr>
          <p:cNvPr id="81" name="Shape 79"/>
          <p:cNvSpPr/>
          <p:nvPr/>
        </p:nvSpPr>
        <p:spPr>
          <a:xfrm>
            <a:off x="9683496" y="2907792"/>
            <a:ext cx="329184" cy="310896"/>
          </a:xfrm>
          <a:prstGeom prst="rect">
            <a:avLst/>
          </a:prstGeom>
          <a:solidFill>
            <a:srgbClr val="FFFFFF"/>
          </a:solidFill>
          <a:ln w="6350">
            <a:solidFill>
              <a:srgbClr val="D5DAE1"/>
            </a:solidFill>
            <a:prstDash val="solid"/>
          </a:ln>
        </p:spPr>
      </p:sp>
      <p:sp>
        <p:nvSpPr>
          <p:cNvPr id="82" name="Shape 80"/>
          <p:cNvSpPr/>
          <p:nvPr/>
        </p:nvSpPr>
        <p:spPr>
          <a:xfrm>
            <a:off x="9683496" y="2578608"/>
            <a:ext cx="329184" cy="310896"/>
          </a:xfrm>
          <a:prstGeom prst="rect">
            <a:avLst/>
          </a:prstGeom>
          <a:solidFill>
            <a:srgbClr val="FFFFFF"/>
          </a:solidFill>
          <a:ln w="6350">
            <a:solidFill>
              <a:srgbClr val="D5DAE1"/>
            </a:solidFill>
            <a:prstDash val="solid"/>
          </a:ln>
        </p:spPr>
      </p:sp>
      <p:sp>
        <p:nvSpPr>
          <p:cNvPr id="83" name="Shape 81"/>
          <p:cNvSpPr/>
          <p:nvPr/>
        </p:nvSpPr>
        <p:spPr>
          <a:xfrm>
            <a:off x="9683496" y="2249424"/>
            <a:ext cx="329184" cy="310896"/>
          </a:xfrm>
          <a:prstGeom prst="rect">
            <a:avLst/>
          </a:prstGeom>
          <a:solidFill>
            <a:srgbClr val="FFFFFF"/>
          </a:solidFill>
          <a:ln w="6350">
            <a:solidFill>
              <a:srgbClr val="D5DAE1"/>
            </a:solidFill>
            <a:prstDash val="solid"/>
          </a:ln>
        </p:spPr>
      </p:sp>
      <p:sp>
        <p:nvSpPr>
          <p:cNvPr id="84" name="Shape 82"/>
          <p:cNvSpPr/>
          <p:nvPr/>
        </p:nvSpPr>
        <p:spPr>
          <a:xfrm>
            <a:off x="9683496" y="1920240"/>
            <a:ext cx="329184" cy="310896"/>
          </a:xfrm>
          <a:prstGeom prst="rect">
            <a:avLst/>
          </a:prstGeom>
          <a:solidFill>
            <a:srgbClr val="FFFFFF"/>
          </a:solidFill>
          <a:ln w="6350">
            <a:solidFill>
              <a:srgbClr val="D5DAE1"/>
            </a:solidFill>
            <a:prstDash val="solid"/>
          </a:ln>
        </p:spPr>
      </p:sp>
      <p:sp>
        <p:nvSpPr>
          <p:cNvPr id="85" name="Shape 83"/>
          <p:cNvSpPr/>
          <p:nvPr/>
        </p:nvSpPr>
        <p:spPr>
          <a:xfrm>
            <a:off x="10030968" y="3566160"/>
            <a:ext cx="329184" cy="310896"/>
          </a:xfrm>
          <a:prstGeom prst="rect">
            <a:avLst/>
          </a:prstGeom>
          <a:solidFill>
            <a:srgbClr val="1F6F78"/>
          </a:solidFill>
          <a:ln w="6350">
            <a:solidFill>
              <a:srgbClr val="D5DAE1"/>
            </a:solidFill>
            <a:prstDash val="solid"/>
          </a:ln>
        </p:spPr>
      </p:sp>
      <p:sp>
        <p:nvSpPr>
          <p:cNvPr id="86" name="Shape 84"/>
          <p:cNvSpPr/>
          <p:nvPr/>
        </p:nvSpPr>
        <p:spPr>
          <a:xfrm>
            <a:off x="10030968" y="3236976"/>
            <a:ext cx="329184" cy="310896"/>
          </a:xfrm>
          <a:prstGeom prst="rect">
            <a:avLst/>
          </a:prstGeom>
          <a:solidFill>
            <a:srgbClr val="FFFFFF"/>
          </a:solidFill>
          <a:ln w="6350">
            <a:solidFill>
              <a:srgbClr val="D5DAE1"/>
            </a:solidFill>
            <a:prstDash val="solid"/>
          </a:ln>
        </p:spPr>
      </p:sp>
      <p:sp>
        <p:nvSpPr>
          <p:cNvPr id="87" name="Shape 85"/>
          <p:cNvSpPr/>
          <p:nvPr/>
        </p:nvSpPr>
        <p:spPr>
          <a:xfrm>
            <a:off x="10030968" y="2907792"/>
            <a:ext cx="329184" cy="310896"/>
          </a:xfrm>
          <a:prstGeom prst="rect">
            <a:avLst/>
          </a:prstGeom>
          <a:solidFill>
            <a:srgbClr val="FFFFFF"/>
          </a:solidFill>
          <a:ln w="6350">
            <a:solidFill>
              <a:srgbClr val="D5DAE1"/>
            </a:solidFill>
            <a:prstDash val="solid"/>
          </a:ln>
        </p:spPr>
      </p:sp>
      <p:sp>
        <p:nvSpPr>
          <p:cNvPr id="88" name="Shape 86"/>
          <p:cNvSpPr/>
          <p:nvPr/>
        </p:nvSpPr>
        <p:spPr>
          <a:xfrm>
            <a:off x="10030968" y="2578608"/>
            <a:ext cx="329184" cy="310896"/>
          </a:xfrm>
          <a:prstGeom prst="rect">
            <a:avLst/>
          </a:prstGeom>
          <a:solidFill>
            <a:srgbClr val="FFFFFF"/>
          </a:solidFill>
          <a:ln w="6350">
            <a:solidFill>
              <a:srgbClr val="D5DAE1"/>
            </a:solidFill>
            <a:prstDash val="solid"/>
          </a:ln>
        </p:spPr>
      </p:sp>
      <p:sp>
        <p:nvSpPr>
          <p:cNvPr id="89" name="Shape 87"/>
          <p:cNvSpPr/>
          <p:nvPr/>
        </p:nvSpPr>
        <p:spPr>
          <a:xfrm>
            <a:off x="10030968" y="2249424"/>
            <a:ext cx="329184" cy="310896"/>
          </a:xfrm>
          <a:prstGeom prst="rect">
            <a:avLst/>
          </a:prstGeom>
          <a:solidFill>
            <a:srgbClr val="FFFFFF"/>
          </a:solidFill>
          <a:ln w="6350">
            <a:solidFill>
              <a:srgbClr val="D5DAE1"/>
            </a:solidFill>
            <a:prstDash val="solid"/>
          </a:ln>
        </p:spPr>
      </p:sp>
      <p:sp>
        <p:nvSpPr>
          <p:cNvPr id="90" name="Shape 88"/>
          <p:cNvSpPr/>
          <p:nvPr/>
        </p:nvSpPr>
        <p:spPr>
          <a:xfrm>
            <a:off x="10030968" y="1920240"/>
            <a:ext cx="329184" cy="310896"/>
          </a:xfrm>
          <a:prstGeom prst="rect">
            <a:avLst/>
          </a:prstGeom>
          <a:solidFill>
            <a:srgbClr val="FFFFFF"/>
          </a:solidFill>
          <a:ln w="6350">
            <a:solidFill>
              <a:srgbClr val="D5DAE1"/>
            </a:solidFill>
            <a:prstDash val="solid"/>
          </a:ln>
        </p:spPr>
      </p:sp>
      <p:sp>
        <p:nvSpPr>
          <p:cNvPr id="91" name="Shape 89"/>
          <p:cNvSpPr/>
          <p:nvPr/>
        </p:nvSpPr>
        <p:spPr>
          <a:xfrm>
            <a:off x="10378440" y="3566160"/>
            <a:ext cx="329184" cy="310896"/>
          </a:xfrm>
          <a:prstGeom prst="rect">
            <a:avLst/>
          </a:prstGeom>
          <a:solidFill>
            <a:srgbClr val="1F6F78"/>
          </a:solidFill>
          <a:ln w="6350">
            <a:solidFill>
              <a:srgbClr val="D5DAE1"/>
            </a:solidFill>
            <a:prstDash val="solid"/>
          </a:ln>
        </p:spPr>
      </p:sp>
      <p:sp>
        <p:nvSpPr>
          <p:cNvPr id="92" name="Shape 90"/>
          <p:cNvSpPr/>
          <p:nvPr/>
        </p:nvSpPr>
        <p:spPr>
          <a:xfrm>
            <a:off x="10378440" y="3236976"/>
            <a:ext cx="329184" cy="310896"/>
          </a:xfrm>
          <a:prstGeom prst="rect">
            <a:avLst/>
          </a:prstGeom>
          <a:solidFill>
            <a:srgbClr val="FFFFFF"/>
          </a:solidFill>
          <a:ln w="6350">
            <a:solidFill>
              <a:srgbClr val="D5DAE1"/>
            </a:solidFill>
            <a:prstDash val="solid"/>
          </a:ln>
        </p:spPr>
      </p:sp>
      <p:sp>
        <p:nvSpPr>
          <p:cNvPr id="93" name="Shape 91"/>
          <p:cNvSpPr/>
          <p:nvPr/>
        </p:nvSpPr>
        <p:spPr>
          <a:xfrm>
            <a:off x="10378440" y="2907792"/>
            <a:ext cx="329184" cy="310896"/>
          </a:xfrm>
          <a:prstGeom prst="rect">
            <a:avLst/>
          </a:prstGeom>
          <a:solidFill>
            <a:srgbClr val="FFFFFF"/>
          </a:solidFill>
          <a:ln w="6350">
            <a:solidFill>
              <a:srgbClr val="D5DAE1"/>
            </a:solidFill>
            <a:prstDash val="solid"/>
          </a:ln>
        </p:spPr>
      </p:sp>
      <p:sp>
        <p:nvSpPr>
          <p:cNvPr id="94" name="Shape 92"/>
          <p:cNvSpPr/>
          <p:nvPr/>
        </p:nvSpPr>
        <p:spPr>
          <a:xfrm>
            <a:off x="10378440" y="2578608"/>
            <a:ext cx="329184" cy="310896"/>
          </a:xfrm>
          <a:prstGeom prst="rect">
            <a:avLst/>
          </a:prstGeom>
          <a:solidFill>
            <a:srgbClr val="FFFFFF"/>
          </a:solidFill>
          <a:ln w="6350">
            <a:solidFill>
              <a:srgbClr val="D5DAE1"/>
            </a:solidFill>
            <a:prstDash val="solid"/>
          </a:ln>
        </p:spPr>
      </p:sp>
      <p:sp>
        <p:nvSpPr>
          <p:cNvPr id="95" name="Shape 93"/>
          <p:cNvSpPr/>
          <p:nvPr/>
        </p:nvSpPr>
        <p:spPr>
          <a:xfrm>
            <a:off x="10378440" y="2249424"/>
            <a:ext cx="329184" cy="310896"/>
          </a:xfrm>
          <a:prstGeom prst="rect">
            <a:avLst/>
          </a:prstGeom>
          <a:solidFill>
            <a:srgbClr val="FFFFFF"/>
          </a:solidFill>
          <a:ln w="6350">
            <a:solidFill>
              <a:srgbClr val="D5DAE1"/>
            </a:solidFill>
            <a:prstDash val="solid"/>
          </a:ln>
        </p:spPr>
      </p:sp>
      <p:sp>
        <p:nvSpPr>
          <p:cNvPr id="96" name="Shape 94"/>
          <p:cNvSpPr/>
          <p:nvPr/>
        </p:nvSpPr>
        <p:spPr>
          <a:xfrm>
            <a:off x="10378440" y="1920240"/>
            <a:ext cx="329184" cy="310896"/>
          </a:xfrm>
          <a:prstGeom prst="rect">
            <a:avLst/>
          </a:prstGeom>
          <a:solidFill>
            <a:srgbClr val="FFFFFF"/>
          </a:solidFill>
          <a:ln w="6350">
            <a:solidFill>
              <a:srgbClr val="D5DAE1"/>
            </a:solidFill>
            <a:prstDash val="solid"/>
          </a:ln>
        </p:spPr>
      </p:sp>
      <p:sp>
        <p:nvSpPr>
          <p:cNvPr id="97" name="Shape 95"/>
          <p:cNvSpPr/>
          <p:nvPr/>
        </p:nvSpPr>
        <p:spPr>
          <a:xfrm>
            <a:off x="10725912" y="3566160"/>
            <a:ext cx="329184" cy="310896"/>
          </a:xfrm>
          <a:prstGeom prst="rect">
            <a:avLst/>
          </a:prstGeom>
          <a:solidFill>
            <a:srgbClr val="FFFFFF"/>
          </a:solidFill>
          <a:ln w="6350">
            <a:solidFill>
              <a:srgbClr val="D5DAE1"/>
            </a:solidFill>
            <a:prstDash val="solid"/>
          </a:ln>
        </p:spPr>
      </p:sp>
      <p:sp>
        <p:nvSpPr>
          <p:cNvPr id="98" name="Shape 96"/>
          <p:cNvSpPr/>
          <p:nvPr/>
        </p:nvSpPr>
        <p:spPr>
          <a:xfrm>
            <a:off x="10725912" y="3236976"/>
            <a:ext cx="329184" cy="310896"/>
          </a:xfrm>
          <a:prstGeom prst="rect">
            <a:avLst/>
          </a:prstGeom>
          <a:solidFill>
            <a:srgbClr val="FFFFFF"/>
          </a:solidFill>
          <a:ln w="6350">
            <a:solidFill>
              <a:srgbClr val="D5DAE1"/>
            </a:solidFill>
            <a:prstDash val="solid"/>
          </a:ln>
        </p:spPr>
      </p:sp>
      <p:sp>
        <p:nvSpPr>
          <p:cNvPr id="99" name="Shape 97"/>
          <p:cNvSpPr/>
          <p:nvPr/>
        </p:nvSpPr>
        <p:spPr>
          <a:xfrm>
            <a:off x="10725912" y="2907792"/>
            <a:ext cx="329184" cy="310896"/>
          </a:xfrm>
          <a:prstGeom prst="rect">
            <a:avLst/>
          </a:prstGeom>
          <a:solidFill>
            <a:srgbClr val="FFFFFF"/>
          </a:solidFill>
          <a:ln w="6350">
            <a:solidFill>
              <a:srgbClr val="D5DAE1"/>
            </a:solidFill>
            <a:prstDash val="solid"/>
          </a:ln>
        </p:spPr>
      </p:sp>
      <p:sp>
        <p:nvSpPr>
          <p:cNvPr id="100" name="Shape 98"/>
          <p:cNvSpPr/>
          <p:nvPr/>
        </p:nvSpPr>
        <p:spPr>
          <a:xfrm>
            <a:off x="10725912" y="2578608"/>
            <a:ext cx="329184" cy="310896"/>
          </a:xfrm>
          <a:prstGeom prst="rect">
            <a:avLst/>
          </a:prstGeom>
          <a:solidFill>
            <a:srgbClr val="FFFFFF"/>
          </a:solidFill>
          <a:ln w="6350">
            <a:solidFill>
              <a:srgbClr val="D5DAE1"/>
            </a:solidFill>
            <a:prstDash val="solid"/>
          </a:ln>
        </p:spPr>
      </p:sp>
      <p:sp>
        <p:nvSpPr>
          <p:cNvPr id="101" name="Shape 99"/>
          <p:cNvSpPr/>
          <p:nvPr/>
        </p:nvSpPr>
        <p:spPr>
          <a:xfrm>
            <a:off x="10725912" y="2249424"/>
            <a:ext cx="329184" cy="310896"/>
          </a:xfrm>
          <a:prstGeom prst="rect">
            <a:avLst/>
          </a:prstGeom>
          <a:solidFill>
            <a:srgbClr val="FFFFFF"/>
          </a:solidFill>
          <a:ln w="6350">
            <a:solidFill>
              <a:srgbClr val="D5DAE1"/>
            </a:solidFill>
            <a:prstDash val="solid"/>
          </a:ln>
        </p:spPr>
      </p:sp>
      <p:sp>
        <p:nvSpPr>
          <p:cNvPr id="102" name="Shape 100"/>
          <p:cNvSpPr/>
          <p:nvPr/>
        </p:nvSpPr>
        <p:spPr>
          <a:xfrm>
            <a:off x="10725912" y="1920240"/>
            <a:ext cx="329184" cy="310896"/>
          </a:xfrm>
          <a:prstGeom prst="rect">
            <a:avLst/>
          </a:prstGeom>
          <a:solidFill>
            <a:srgbClr val="FFFFFF"/>
          </a:solidFill>
          <a:ln w="6350">
            <a:solidFill>
              <a:srgbClr val="D5DAE1"/>
            </a:solidFill>
            <a:prstDash val="solid"/>
          </a:ln>
        </p:spPr>
      </p:sp>
      <p:sp>
        <p:nvSpPr>
          <p:cNvPr id="103" name="Text 101"/>
          <p:cNvSpPr txBox="1"/>
          <p:nvPr/>
        </p:nvSpPr>
        <p:spPr>
          <a:xfrm>
            <a:off x="6720840" y="3913632"/>
            <a:ext cx="109728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−90°（左）</a:t>
            </a:r>
            <a:endParaRPr lang="en-US" sz="850" dirty="0"/>
          </a:p>
        </p:txBody>
      </p:sp>
      <p:sp>
        <p:nvSpPr>
          <p:cNvPr id="104" name="Text 102"/>
          <p:cNvSpPr txBox="1"/>
          <p:nvPr/>
        </p:nvSpPr>
        <p:spPr>
          <a:xfrm>
            <a:off x="8348472" y="3913632"/>
            <a:ext cx="1280160" cy="219456"/>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0°（壁の正面）</a:t>
            </a:r>
            <a:endParaRPr lang="en-US" sz="850" dirty="0"/>
          </a:p>
        </p:txBody>
      </p:sp>
      <p:sp>
        <p:nvSpPr>
          <p:cNvPr id="105" name="Text 103"/>
          <p:cNvSpPr txBox="1"/>
          <p:nvPr/>
        </p:nvSpPr>
        <p:spPr>
          <a:xfrm>
            <a:off x="10158984" y="3913632"/>
            <a:ext cx="1097280" cy="219456"/>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＋90°（右）</a:t>
            </a:r>
            <a:endParaRPr lang="en-US" sz="850" dirty="0"/>
          </a:p>
        </p:txBody>
      </p:sp>
      <p:sp>
        <p:nvSpPr>
          <p:cNvPr id="106" name="Text 104"/>
          <p:cNvSpPr txBox="1"/>
          <p:nvPr/>
        </p:nvSpPr>
        <p:spPr>
          <a:xfrm>
            <a:off x="6263640" y="1920240"/>
            <a:ext cx="621792"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高度90°</a:t>
            </a:r>
            <a:endParaRPr lang="en-US" sz="800" dirty="0"/>
          </a:p>
        </p:txBody>
      </p:sp>
      <p:sp>
        <p:nvSpPr>
          <p:cNvPr id="107" name="Text 105"/>
          <p:cNvSpPr txBox="1"/>
          <p:nvPr/>
        </p:nvSpPr>
        <p:spPr>
          <a:xfrm>
            <a:off x="6263640" y="3657600"/>
            <a:ext cx="621792"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高度0°</a:t>
            </a:r>
            <a:endParaRPr lang="en-US" sz="800" dirty="0"/>
          </a:p>
        </p:txBody>
      </p:sp>
      <p:sp>
        <p:nvSpPr>
          <p:cNvPr id="108" name="Shape 106"/>
          <p:cNvSpPr/>
          <p:nvPr/>
        </p:nvSpPr>
        <p:spPr>
          <a:xfrm>
            <a:off x="6400800" y="4297680"/>
            <a:ext cx="164592" cy="164592"/>
          </a:xfrm>
          <a:prstGeom prst="rect">
            <a:avLst/>
          </a:prstGeom>
          <a:solidFill>
            <a:srgbClr val="E8934D"/>
          </a:solidFill>
          <a:ln/>
        </p:spPr>
      </p:sp>
      <p:sp>
        <p:nvSpPr>
          <p:cNvPr id="109" name="Text 107"/>
          <p:cNvSpPr txBox="1"/>
          <p:nvPr/>
        </p:nvSpPr>
        <p:spPr>
          <a:xfrm>
            <a:off x="6601968" y="4242816"/>
            <a:ext cx="128016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建物1がふさぐ</a:t>
            </a:r>
            <a:endParaRPr lang="en-US" sz="850" dirty="0"/>
          </a:p>
        </p:txBody>
      </p:sp>
      <p:sp>
        <p:nvSpPr>
          <p:cNvPr id="110" name="Shape 108"/>
          <p:cNvSpPr/>
          <p:nvPr/>
        </p:nvSpPr>
        <p:spPr>
          <a:xfrm>
            <a:off x="7863840" y="4297680"/>
            <a:ext cx="164592" cy="164592"/>
          </a:xfrm>
          <a:prstGeom prst="rect">
            <a:avLst/>
          </a:prstGeom>
          <a:solidFill>
            <a:srgbClr val="1F6F78"/>
          </a:solidFill>
          <a:ln/>
        </p:spPr>
      </p:sp>
      <p:sp>
        <p:nvSpPr>
          <p:cNvPr id="111" name="Text 109"/>
          <p:cNvSpPr txBox="1"/>
          <p:nvPr/>
        </p:nvSpPr>
        <p:spPr>
          <a:xfrm>
            <a:off x="8065008" y="4242816"/>
            <a:ext cx="128016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建物2がふさぐ</a:t>
            </a:r>
            <a:endParaRPr lang="en-US" sz="850" dirty="0"/>
          </a:p>
        </p:txBody>
      </p:sp>
      <p:sp>
        <p:nvSpPr>
          <p:cNvPr id="112" name="Shape 110"/>
          <p:cNvSpPr/>
          <p:nvPr/>
        </p:nvSpPr>
        <p:spPr>
          <a:xfrm>
            <a:off x="9326880" y="4297680"/>
            <a:ext cx="164592" cy="164592"/>
          </a:xfrm>
          <a:prstGeom prst="rect">
            <a:avLst/>
          </a:prstGeom>
          <a:solidFill>
            <a:srgbClr val="B04A3F"/>
          </a:solidFill>
          <a:ln/>
        </p:spPr>
      </p:sp>
      <p:sp>
        <p:nvSpPr>
          <p:cNvPr id="113" name="Text 111"/>
          <p:cNvSpPr txBox="1"/>
          <p:nvPr/>
        </p:nvSpPr>
        <p:spPr>
          <a:xfrm>
            <a:off x="9528048" y="4242816"/>
            <a:ext cx="237744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両方がふさぐ（1回だけ数える）</a:t>
            </a:r>
            <a:endParaRPr lang="en-US" sz="850" dirty="0"/>
          </a:p>
        </p:txBody>
      </p:sp>
      <p:sp>
        <p:nvSpPr>
          <p:cNvPr id="114" name="Shape 112"/>
          <p:cNvSpPr/>
          <p:nvPr/>
        </p:nvSpPr>
        <p:spPr>
          <a:xfrm>
            <a:off x="6217920" y="4864608"/>
            <a:ext cx="5532120" cy="1444752"/>
          </a:xfrm>
          <a:prstGeom prst="roundRect">
            <a:avLst>
              <a:gd name="adj" fmla="val 3797"/>
            </a:avLst>
          </a:prstGeom>
          <a:solidFill>
            <a:srgbClr val="1B2A44"/>
          </a:solidFill>
          <a:ln/>
        </p:spPr>
      </p:sp>
      <p:sp>
        <p:nvSpPr>
          <p:cNvPr id="115" name="Text 113"/>
          <p:cNvSpPr txBox="1"/>
          <p:nvPr/>
        </p:nvSpPr>
        <p:spPr>
          <a:xfrm>
            <a:off x="6400800" y="4919472"/>
            <a:ext cx="521208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この方法の利点（期待）</a:t>
            </a:r>
            <a:endParaRPr lang="en-US" sz="1100" dirty="0"/>
          </a:p>
        </p:txBody>
      </p:sp>
      <p:sp>
        <p:nvSpPr>
          <p:cNvPr id="116" name="Text 114"/>
          <p:cNvSpPr txBox="1"/>
          <p:nvPr/>
        </p:nvSpPr>
        <p:spPr>
          <a:xfrm>
            <a:off x="6400800" y="5193792"/>
            <a:ext cx="5212080" cy="109728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棟数・方位がいくつでも、同じ大きさの「空の地図」になる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2棟が同じ方向をふさいでも1回だけ数えるので、重なりを自然に扱える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有無 s は「ふさがれたマスがあるか」に反映される</a:t>
            </a:r>
            <a:endParaRPr lang="en-US" sz="95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空の遮られ方：計算の流れ（入力・学習・テストのデータは同じ）</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SEBEで計算する配置とテスト配置は線形補間と共通。違うのは「配置をどう数値に変えて予測するか」。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39 / 41</a:t>
            </a:r>
            <a:endParaRPr lang="en-US" sz="1100" dirty="0"/>
          </a:p>
        </p:txBody>
      </p:sp>
      <p:sp>
        <p:nvSpPr>
          <p:cNvPr id="10" name="Shape 8"/>
          <p:cNvSpPr/>
          <p:nvPr/>
        </p:nvSpPr>
        <p:spPr>
          <a:xfrm>
            <a:off x="457200" y="1481328"/>
            <a:ext cx="2057400" cy="1280160"/>
          </a:xfrm>
          <a:prstGeom prst="roundRect">
            <a:avLst>
              <a:gd name="adj" fmla="val 4286"/>
            </a:avLst>
          </a:prstGeom>
          <a:solidFill>
            <a:srgbClr val="1B2A44"/>
          </a:solidFill>
          <a:ln/>
        </p:spPr>
      </p:sp>
      <p:sp>
        <p:nvSpPr>
          <p:cNvPr id="11" name="Text 9"/>
          <p:cNvSpPr txBox="1"/>
          <p:nvPr/>
        </p:nvSpPr>
        <p:spPr>
          <a:xfrm>
            <a:off x="548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入力データ</a:t>
            </a:r>
            <a:endParaRPr lang="en-US" sz="1100" dirty="0"/>
          </a:p>
        </p:txBody>
      </p:sp>
      <p:sp>
        <p:nvSpPr>
          <p:cNvPr id="12" name="Text 10"/>
          <p:cNvSpPr txBox="1"/>
          <p:nvPr/>
        </p:nvSpPr>
        <p:spPr>
          <a:xfrm>
            <a:off x="548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配置の変数</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中央高さ, s, A, D, θ</a:t>
            </a:r>
            <a:endParaRPr lang="en-US" sz="950" dirty="0"/>
          </a:p>
        </p:txBody>
      </p:sp>
      <p:sp>
        <p:nvSpPr>
          <p:cNvPr id="13" name="Shape 11"/>
          <p:cNvSpPr/>
          <p:nvPr/>
        </p:nvSpPr>
        <p:spPr>
          <a:xfrm rot="5400000">
            <a:off x="2514600" y="2048256"/>
            <a:ext cx="237744" cy="146304"/>
          </a:xfrm>
          <a:prstGeom prst="triangle">
            <a:avLst/>
          </a:prstGeom>
          <a:solidFill>
            <a:srgbClr val="AEB4BC"/>
          </a:solidFill>
          <a:ln/>
        </p:spPr>
      </p:sp>
      <p:sp>
        <p:nvSpPr>
          <p:cNvPr id="14" name="Shape 12"/>
          <p:cNvSpPr/>
          <p:nvPr/>
        </p:nvSpPr>
        <p:spPr>
          <a:xfrm>
            <a:off x="2743200" y="1481328"/>
            <a:ext cx="2057400" cy="1280160"/>
          </a:xfrm>
          <a:prstGeom prst="roundRect">
            <a:avLst>
              <a:gd name="adj" fmla="val 4286"/>
            </a:avLst>
          </a:prstGeom>
          <a:solidFill>
            <a:srgbClr val="1F6F78"/>
          </a:solidFill>
          <a:ln/>
        </p:spPr>
      </p:sp>
      <p:sp>
        <p:nvSpPr>
          <p:cNvPr id="15" name="Text 13"/>
          <p:cNvSpPr txBox="1"/>
          <p:nvPr/>
        </p:nvSpPr>
        <p:spPr>
          <a:xfrm>
            <a:off x="2834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遮られ方を計算</a:t>
            </a:r>
            <a:endParaRPr lang="en-US" sz="1100" dirty="0"/>
          </a:p>
        </p:txBody>
      </p:sp>
      <p:sp>
        <p:nvSpPr>
          <p:cNvPr id="16" name="Text 14"/>
          <p:cNvSpPr txBox="1"/>
          <p:nvPr/>
        </p:nvSpPr>
        <p:spPr>
          <a:xfrm>
            <a:off x="2834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各面・各帯の代表点から、方向ごとに建物でふさがれるか判定</a:t>
            </a:r>
            <a:endParaRPr lang="en-US" sz="950" dirty="0"/>
          </a:p>
        </p:txBody>
      </p:sp>
      <p:sp>
        <p:nvSpPr>
          <p:cNvPr id="17" name="Shape 15"/>
          <p:cNvSpPr/>
          <p:nvPr/>
        </p:nvSpPr>
        <p:spPr>
          <a:xfrm rot="5400000">
            <a:off x="4800600" y="2048256"/>
            <a:ext cx="237744" cy="146304"/>
          </a:xfrm>
          <a:prstGeom prst="triangle">
            <a:avLst/>
          </a:prstGeom>
          <a:solidFill>
            <a:srgbClr val="AEB4BC"/>
          </a:solidFill>
          <a:ln/>
        </p:spPr>
      </p:sp>
      <p:sp>
        <p:nvSpPr>
          <p:cNvPr id="18" name="Shape 16"/>
          <p:cNvSpPr/>
          <p:nvPr/>
        </p:nvSpPr>
        <p:spPr>
          <a:xfrm>
            <a:off x="5029200" y="1481328"/>
            <a:ext cx="2057400" cy="1280160"/>
          </a:xfrm>
          <a:prstGeom prst="roundRect">
            <a:avLst>
              <a:gd name="adj" fmla="val 4286"/>
            </a:avLst>
          </a:prstGeom>
          <a:solidFill>
            <a:srgbClr val="1F6F78"/>
          </a:solidFill>
          <a:ln/>
        </p:spPr>
      </p:sp>
      <p:sp>
        <p:nvSpPr>
          <p:cNvPr id="19" name="Text 17"/>
          <p:cNvSpPr txBox="1"/>
          <p:nvPr/>
        </p:nvSpPr>
        <p:spPr>
          <a:xfrm>
            <a:off x="5120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特徴量にまとめる</a:t>
            </a:r>
            <a:endParaRPr lang="en-US" sz="1100" dirty="0"/>
          </a:p>
        </p:txBody>
      </p:sp>
      <p:sp>
        <p:nvSpPr>
          <p:cNvPr id="20" name="Text 18"/>
          <p:cNvSpPr txBox="1"/>
          <p:nvPr/>
        </p:nvSpPr>
        <p:spPr>
          <a:xfrm>
            <a:off x="5120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方位ごとの遮蔽高度角 h</a:t>
            </a:r>
            <a:pPr indent="0" marL="0">
              <a:buNone/>
            </a:pPr>
            <a:r>
              <a:rPr lang="en-US" sz="950" baseline="-40000" dirty="0">
                <a:solidFill>
                  <a:srgbClr val="FFFFFF"/>
                </a:solidFill>
                <a:latin typeface="Yu Gothic" pitchFamily="34" charset="0"/>
                <a:ea typeface="Yu Gothic" pitchFamily="34" charset="-122"/>
                <a:cs typeface="Yu Gothic" pitchFamily="34" charset="-120"/>
              </a:rPr>
              <a:t>j</a:t>
            </a:r>
            <a:pPr indent="0" marL="0">
              <a:buNone/>
            </a:pPr>
            <a:r>
              <a:rPr lang="en-US" sz="950" dirty="0">
                <a:solidFill>
                  <a:srgbClr val="FFFFFF"/>
                </a:solidFill>
                <a:latin typeface="Yu Gothic" pitchFamily="34" charset="0"/>
                <a:ea typeface="Yu Gothic" pitchFamily="34" charset="-122"/>
                <a:cs typeface="Yu Gothic" pitchFamily="34" charset="-120"/>
              </a:rPr>
              <a:t>、ふさがれた割合 O など</a:t>
            </a:r>
            <a:endParaRPr lang="en-US" sz="950" dirty="0"/>
          </a:p>
        </p:txBody>
      </p:sp>
      <p:sp>
        <p:nvSpPr>
          <p:cNvPr id="21" name="Shape 19"/>
          <p:cNvSpPr/>
          <p:nvPr/>
        </p:nvSpPr>
        <p:spPr>
          <a:xfrm rot="5400000">
            <a:off x="7086600" y="2048256"/>
            <a:ext cx="237744" cy="146304"/>
          </a:xfrm>
          <a:prstGeom prst="triangle">
            <a:avLst/>
          </a:prstGeom>
          <a:solidFill>
            <a:srgbClr val="AEB4BC"/>
          </a:solidFill>
          <a:ln/>
        </p:spPr>
      </p:sp>
      <p:sp>
        <p:nvSpPr>
          <p:cNvPr id="22" name="Shape 20"/>
          <p:cNvSpPr/>
          <p:nvPr/>
        </p:nvSpPr>
        <p:spPr>
          <a:xfrm>
            <a:off x="7315200" y="1481328"/>
            <a:ext cx="2057400" cy="1280160"/>
          </a:xfrm>
          <a:prstGeom prst="roundRect">
            <a:avLst>
              <a:gd name="adj" fmla="val 4286"/>
            </a:avLst>
          </a:prstGeom>
          <a:solidFill>
            <a:srgbClr val="C56A2C"/>
          </a:solidFill>
          <a:ln/>
        </p:spPr>
      </p:sp>
      <p:sp>
        <p:nvSpPr>
          <p:cNvPr id="23" name="Text 21"/>
          <p:cNvSpPr txBox="1"/>
          <p:nvPr/>
        </p:nvSpPr>
        <p:spPr>
          <a:xfrm>
            <a:off x="7406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機械学習モデル</a:t>
            </a:r>
            <a:endParaRPr lang="en-US" sz="1100" dirty="0"/>
          </a:p>
        </p:txBody>
      </p:sp>
      <p:sp>
        <p:nvSpPr>
          <p:cNvPr id="24" name="Text 22"/>
          <p:cNvSpPr txBox="1"/>
          <p:nvPr/>
        </p:nvSpPr>
        <p:spPr>
          <a:xfrm>
            <a:off x="7406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特徴量 → 年間日射量（モデルの種類は未定）</a:t>
            </a:r>
            <a:endParaRPr lang="en-US" sz="950" dirty="0"/>
          </a:p>
        </p:txBody>
      </p:sp>
      <p:sp>
        <p:nvSpPr>
          <p:cNvPr id="25" name="Shape 23"/>
          <p:cNvSpPr/>
          <p:nvPr/>
        </p:nvSpPr>
        <p:spPr>
          <a:xfrm rot="5400000">
            <a:off x="9372600" y="2048256"/>
            <a:ext cx="237744" cy="146304"/>
          </a:xfrm>
          <a:prstGeom prst="triangle">
            <a:avLst/>
          </a:prstGeom>
          <a:solidFill>
            <a:srgbClr val="AEB4BC"/>
          </a:solidFill>
          <a:ln/>
        </p:spPr>
      </p:sp>
      <p:sp>
        <p:nvSpPr>
          <p:cNvPr id="26" name="Shape 24"/>
          <p:cNvSpPr/>
          <p:nvPr/>
        </p:nvSpPr>
        <p:spPr>
          <a:xfrm>
            <a:off x="9601200" y="1481328"/>
            <a:ext cx="2057400" cy="1280160"/>
          </a:xfrm>
          <a:prstGeom prst="roundRect">
            <a:avLst>
              <a:gd name="adj" fmla="val 4286"/>
            </a:avLst>
          </a:prstGeom>
          <a:solidFill>
            <a:srgbClr val="1B2A44"/>
          </a:solidFill>
          <a:ln/>
        </p:spPr>
      </p:sp>
      <p:sp>
        <p:nvSpPr>
          <p:cNvPr id="27" name="Text 25"/>
          <p:cNvSpPr txBox="1"/>
          <p:nvPr/>
        </p:nvSpPr>
        <p:spPr>
          <a:xfrm>
            <a:off x="9692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出力</a:t>
            </a:r>
            <a:endParaRPr lang="en-US" sz="1100" dirty="0"/>
          </a:p>
        </p:txBody>
      </p:sp>
      <p:sp>
        <p:nvSpPr>
          <p:cNvPr id="28" name="Text 26"/>
          <p:cNvSpPr txBox="1"/>
          <p:nvPr/>
        </p:nvSpPr>
        <p:spPr>
          <a:xfrm>
            <a:off x="9692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4面 × 5帯</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 20個</a:t>
            </a:r>
            <a:endParaRPr lang="en-US" sz="950" dirty="0"/>
          </a:p>
        </p:txBody>
      </p:sp>
      <p:sp>
        <p:nvSpPr>
          <p:cNvPr id="29" name="Shape 27"/>
          <p:cNvSpPr/>
          <p:nvPr/>
        </p:nvSpPr>
        <p:spPr>
          <a:xfrm>
            <a:off x="457200" y="2926080"/>
            <a:ext cx="5669280" cy="3383280"/>
          </a:xfrm>
          <a:prstGeom prst="roundRect">
            <a:avLst>
              <a:gd name="adj" fmla="val 1622"/>
            </a:avLst>
          </a:prstGeom>
          <a:solidFill>
            <a:srgbClr val="F3F5F8"/>
          </a:solidFill>
          <a:ln/>
        </p:spPr>
      </p:sp>
      <p:sp>
        <p:nvSpPr>
          <p:cNvPr id="30" name="Text 28"/>
          <p:cNvSpPr txBox="1"/>
          <p:nvPr/>
        </p:nvSpPr>
        <p:spPr>
          <a:xfrm>
            <a:off x="594360" y="2990088"/>
            <a:ext cx="539496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想定している計算（詳細は未決定）</a:t>
            </a:r>
            <a:endParaRPr lang="en-US" sz="1150" dirty="0"/>
          </a:p>
        </p:txBody>
      </p:sp>
      <p:sp>
        <p:nvSpPr>
          <p:cNvPr id="31" name="Text 29"/>
          <p:cNvSpPr txBox="1"/>
          <p:nvPr/>
        </p:nvSpPr>
        <p:spPr>
          <a:xfrm>
            <a:off x="594360" y="331012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の遮蔽高度角（建物がなければ0°）</a:t>
            </a:r>
            <a:endParaRPr lang="en-US" sz="950" dirty="0"/>
          </a:p>
        </p:txBody>
      </p:sp>
      <p:sp>
        <p:nvSpPr>
          <p:cNvPr id="32" name="Text 30"/>
          <p:cNvSpPr txBox="1"/>
          <p:nvPr/>
        </p:nvSpPr>
        <p:spPr>
          <a:xfrm>
            <a:off x="594360" y="354787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h</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 max</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 arctan( (A</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 − z) / d</a:t>
            </a:r>
            <a:pPr indent="0" marL="0">
              <a:buNone/>
            </a:pPr>
            <a:r>
              <a:rPr lang="en-US" sz="1200" b="1" baseline="-40000" dirty="0">
                <a:solidFill>
                  <a:srgbClr val="1B2A44"/>
                </a:solidFill>
                <a:latin typeface="Yu Gothic" pitchFamily="34" charset="0"/>
                <a:ea typeface="Yu Gothic" pitchFamily="34" charset="-122"/>
                <a:cs typeface="Yu Gothic" pitchFamily="34" charset="-120"/>
              </a:rPr>
              <a:t>ij</a:t>
            </a:r>
            <a:pPr indent="0" marL="0">
              <a:buNone/>
            </a:pPr>
            <a:r>
              <a:rPr lang="en-US" sz="1200" b="1" dirty="0">
                <a:solidFill>
                  <a:srgbClr val="1B2A44"/>
                </a:solidFill>
                <a:latin typeface="Yu Gothic" pitchFamily="34" charset="0"/>
                <a:ea typeface="Yu Gothic" pitchFamily="34" charset="-122"/>
                <a:cs typeface="Yu Gothic" pitchFamily="34" charset="-120"/>
              </a:rPr>
              <a:t> )　（s</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＝1 の建物のみ）</a:t>
            </a:r>
            <a:endParaRPr lang="en-US" sz="1200" dirty="0"/>
          </a:p>
        </p:txBody>
      </p:sp>
      <p:sp>
        <p:nvSpPr>
          <p:cNvPr id="33" name="Text 31"/>
          <p:cNvSpPr txBox="1"/>
          <p:nvPr/>
        </p:nvSpPr>
        <p:spPr>
          <a:xfrm>
            <a:off x="594360" y="395020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がふさがれているか</a:t>
            </a:r>
            <a:endParaRPr lang="en-US" sz="950" dirty="0"/>
          </a:p>
        </p:txBody>
      </p:sp>
      <p:sp>
        <p:nvSpPr>
          <p:cNvPr id="34" name="Text 32"/>
          <p:cNvSpPr txBox="1"/>
          <p:nvPr/>
        </p:nvSpPr>
        <p:spPr>
          <a:xfrm>
            <a:off x="594360" y="418795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b</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 1（ふさがれている）／ 0（空が見える）</a:t>
            </a:r>
            <a:endParaRPr lang="en-US" sz="1200" dirty="0"/>
          </a:p>
        </p:txBody>
      </p:sp>
      <p:sp>
        <p:nvSpPr>
          <p:cNvPr id="35" name="Text 33"/>
          <p:cNvSpPr txBox="1"/>
          <p:nvPr/>
        </p:nvSpPr>
        <p:spPr>
          <a:xfrm>
            <a:off x="594360" y="459028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ふさがれた割合</a:t>
            </a:r>
            <a:endParaRPr lang="en-US" sz="950" dirty="0"/>
          </a:p>
        </p:txBody>
      </p:sp>
      <p:sp>
        <p:nvSpPr>
          <p:cNvPr id="36" name="Text 34"/>
          <p:cNvSpPr txBox="1"/>
          <p:nvPr/>
        </p:nvSpPr>
        <p:spPr>
          <a:xfrm>
            <a:off x="594360" y="482803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O ＝ (1/J) Σ</a:t>
            </a:r>
            <a:pPr indent="0" marL="0">
              <a:buNone/>
            </a:pPr>
            <a:r>
              <a:rPr lang="en-US" sz="1200" b="1" baseline="-40000" dirty="0">
                <a:solidFill>
                  <a:srgbClr val="1B2A44"/>
                </a:solidFill>
                <a:latin typeface="Yu Gothic" pitchFamily="34" charset="0"/>
                <a:ea typeface="Yu Gothic" pitchFamily="34" charset="-122"/>
                <a:cs typeface="Yu Gothic" pitchFamily="34" charset="-120"/>
              </a:rPr>
              <a:t>j=1</a:t>
            </a:r>
            <a:pPr indent="0" marL="0">
              <a:buNone/>
            </a:pPr>
            <a:r>
              <a:rPr lang="en-US" sz="1200" b="1" baseline="3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b</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endParaRPr lang="en-US" sz="1200" dirty="0"/>
          </a:p>
        </p:txBody>
      </p:sp>
      <p:sp>
        <p:nvSpPr>
          <p:cNvPr id="37" name="Text 35"/>
          <p:cNvSpPr txBox="1"/>
          <p:nvPr/>
        </p:nvSpPr>
        <p:spPr>
          <a:xfrm>
            <a:off x="594360" y="523036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予測（モデル F を学習）</a:t>
            </a:r>
            <a:endParaRPr lang="en-US" sz="950" dirty="0"/>
          </a:p>
        </p:txBody>
      </p:sp>
      <p:sp>
        <p:nvSpPr>
          <p:cNvPr id="38" name="Text 36"/>
          <p:cNvSpPr txBox="1"/>
          <p:nvPr/>
        </p:nvSpPr>
        <p:spPr>
          <a:xfrm>
            <a:off x="594360" y="546811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Ŷ</a:t>
            </a:r>
            <a:pPr indent="0" marL="0">
              <a:buNone/>
            </a:pPr>
            <a:r>
              <a:rPr lang="en-US" sz="1200" b="1" baseline="-40000" dirty="0">
                <a:solidFill>
                  <a:srgbClr val="1B2A44"/>
                </a:solidFill>
                <a:latin typeface="Yu Gothic" pitchFamily="34" charset="0"/>
                <a:ea typeface="Yu Gothic" pitchFamily="34" charset="-122"/>
                <a:cs typeface="Yu Gothic" pitchFamily="34" charset="-120"/>
              </a:rPr>
              <a:t>f,k</a:t>
            </a:r>
            <a:pPr indent="0" marL="0">
              <a:buNone/>
            </a:pPr>
            <a:r>
              <a:rPr lang="en-US" sz="1200" b="1" dirty="0">
                <a:solidFill>
                  <a:srgbClr val="1B2A44"/>
                </a:solidFill>
                <a:latin typeface="Yu Gothic" pitchFamily="34" charset="0"/>
                <a:ea typeface="Yu Gothic" pitchFamily="34" charset="-122"/>
                <a:cs typeface="Yu Gothic" pitchFamily="34" charset="-120"/>
              </a:rPr>
              <a:t> ＝ F( h</a:t>
            </a:r>
            <a:pPr indent="0" marL="0">
              <a:buNone/>
            </a:pPr>
            <a:r>
              <a:rPr lang="en-US" sz="1200" b="1" baseline="-40000" dirty="0">
                <a:solidFill>
                  <a:srgbClr val="1B2A44"/>
                </a:solidFill>
                <a:latin typeface="Yu Gothic" pitchFamily="34" charset="0"/>
                <a:ea typeface="Yu Gothic" pitchFamily="34" charset="-122"/>
                <a:cs typeface="Yu Gothic" pitchFamily="34" charset="-120"/>
              </a:rPr>
              <a:t>1</a:t>
            </a:r>
            <a:pPr indent="0" marL="0">
              <a:buNone/>
            </a:pPr>
            <a:r>
              <a:rPr lang="en-US" sz="1200" b="1" dirty="0">
                <a:solidFill>
                  <a:srgbClr val="1B2A44"/>
                </a:solidFill>
                <a:latin typeface="Yu Gothic" pitchFamily="34" charset="0"/>
                <a:ea typeface="Yu Gothic" pitchFamily="34" charset="-122"/>
                <a:cs typeface="Yu Gothic" pitchFamily="34" charset="-120"/>
              </a:rPr>
              <a:t>, …, h</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O, z, 面の向き )</a:t>
            </a:r>
            <a:endParaRPr lang="en-US" sz="1200" dirty="0"/>
          </a:p>
        </p:txBody>
      </p:sp>
      <p:sp>
        <p:nvSpPr>
          <p:cNvPr id="39" name="Text 37"/>
          <p:cNvSpPr txBox="1"/>
          <p:nvPr/>
        </p:nvSpPr>
        <p:spPr>
          <a:xfrm>
            <a:off x="594360" y="5852160"/>
            <a:ext cx="5394960" cy="4114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z：点の高さ，d</a:t>
            </a:r>
            <a:pPr indent="0" marL="0">
              <a:buNone/>
            </a:pPr>
            <a:r>
              <a:rPr lang="en-US" sz="850" baseline="-40000" dirty="0">
                <a:solidFill>
                  <a:srgbClr val="6B7480"/>
                </a:solidFill>
                <a:latin typeface="Yu Gothic" pitchFamily="34" charset="0"/>
                <a:ea typeface="Yu Gothic" pitchFamily="34" charset="-122"/>
                <a:cs typeface="Yu Gothic" pitchFamily="34" charset="-120"/>
              </a:rPr>
              <a:t>ij</a:t>
            </a:r>
            <a:pPr indent="0" marL="0">
              <a:buNone/>
            </a:pPr>
            <a:r>
              <a:rPr lang="en-US" sz="850" dirty="0">
                <a:solidFill>
                  <a:srgbClr val="6B7480"/>
                </a:solidFill>
                <a:latin typeface="Yu Gothic" pitchFamily="34" charset="0"/>
                <a:ea typeface="Yu Gothic" pitchFamily="34" charset="-122"/>
                <a:cs typeface="Yu Gothic" pitchFamily="34" charset="-120"/>
              </a:rPr>
              <a:t>：方向jで建物iまでの水平距離，J：方向のマス数。max を取るので重なりは1回だけ数える。</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355080" y="2926080"/>
          <a:ext cx="5394960" cy="914400"/>
        </p:xfrm>
        <a:graphic>
          <a:graphicData uri="http://schemas.openxmlformats.org/drawingml/2006/table">
            <a:tbl>
              <a:tblPr/>
              <a:tblGrid>
                <a:gridCol w="1188720"/>
                <a:gridCol w="2103120"/>
                <a:gridCol w="2103120"/>
              </a:tblGrid>
              <a:tr h="329184">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線形補間（重ね合わせ）</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空の遮られ方</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入力データ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配置の変数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同じ（内部で特徴量に変換）</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学習データ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1棟ずつの格子 65配置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同じSEBE結果を使える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テストデータ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2〜4棟の12配置など</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同じ配置で比較する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重なりの扱い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足し算で二重に数える可能性</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同じ方向は1回だけ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計算の重さ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補間だけ（軽い）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特徴量計算＋モデル学習</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1" name="Shape 38"/>
          <p:cNvSpPr/>
          <p:nvPr/>
        </p:nvSpPr>
        <p:spPr>
          <a:xfrm>
            <a:off x="6355080" y="5029200"/>
            <a:ext cx="5394960" cy="1280160"/>
          </a:xfrm>
          <a:prstGeom prst="roundRect">
            <a:avLst>
              <a:gd name="adj" fmla="val 4286"/>
            </a:avLst>
          </a:prstGeom>
          <a:solidFill>
            <a:srgbClr val="FBEBDA"/>
          </a:solidFill>
          <a:ln/>
        </p:spPr>
      </p:sp>
      <p:sp>
        <p:nvSpPr>
          <p:cNvPr id="42" name="Text 39"/>
          <p:cNvSpPr txBox="1"/>
          <p:nvPr/>
        </p:nvSpPr>
        <p:spPr>
          <a:xfrm>
            <a:off x="6492240" y="5074920"/>
            <a:ext cx="512064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注意</a:t>
            </a:r>
            <a:endParaRPr lang="en-US" sz="1100" dirty="0"/>
          </a:p>
        </p:txBody>
      </p:sp>
      <p:sp>
        <p:nvSpPr>
          <p:cNvPr id="43" name="Text 40"/>
          <p:cNvSpPr txBox="1"/>
          <p:nvPr/>
        </p:nvSpPr>
        <p:spPr>
          <a:xfrm>
            <a:off x="6492240" y="5349240"/>
            <a:ext cx="5120640" cy="9144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学習の行数は「配置 × 面 × 帯」（65×20＝1,300行）に増えるが、独立した配置は65件のまま。この方法が線形補間より必ず高精度とは言えないので、同じテスト配置で比べて判断する。</a:t>
            </a:r>
            <a:endParaRPr lang="en-US" sz="95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計算例④：点P（南面・帯2、高さ20m）の遮られ方を数値にする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代案の式に代表値を入れた例。建物1は南側建物（A＝35m, D＝25m）。建物2は重なりの説明用に置いた低い建物（遮蔽高度角10°と仮定）。</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40 / 41</a:t>
            </a:r>
            <a:endParaRPr lang="en-US" sz="1100" dirty="0"/>
          </a:p>
        </p:txBody>
      </p:sp>
      <p:sp>
        <p:nvSpPr>
          <p:cNvPr id="10" name="Shape 8"/>
          <p:cNvSpPr/>
          <p:nvPr/>
        </p:nvSpPr>
        <p:spPr>
          <a:xfrm>
            <a:off x="457200" y="1481328"/>
            <a:ext cx="5760720" cy="2514600"/>
          </a:xfrm>
          <a:prstGeom prst="roundRect">
            <a:avLst>
              <a:gd name="adj" fmla="val 2182"/>
            </a:avLst>
          </a:prstGeom>
          <a:solidFill>
            <a:srgbClr val="F3F5F8"/>
          </a:solidFill>
          <a:ln/>
        </p:spPr>
      </p:sp>
      <p:sp>
        <p:nvSpPr>
          <p:cNvPr id="11" name="Shape 9"/>
          <p:cNvSpPr/>
          <p:nvPr/>
        </p:nvSpPr>
        <p:spPr>
          <a:xfrm>
            <a:off x="594360" y="1572768"/>
            <a:ext cx="310896" cy="310896"/>
          </a:xfrm>
          <a:prstGeom prst="ellipse">
            <a:avLst/>
          </a:prstGeom>
          <a:solidFill>
            <a:srgbClr val="1F6F78"/>
          </a:solidFill>
          <a:ln/>
        </p:spPr>
      </p:sp>
      <p:sp>
        <p:nvSpPr>
          <p:cNvPr id="12" name="Text 10"/>
          <p:cNvSpPr txBox="1"/>
          <p:nvPr/>
        </p:nvSpPr>
        <p:spPr>
          <a:xfrm>
            <a:off x="59436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72768"/>
            <a:ext cx="502920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方向ごとの遮蔽高度角 h（建物1）</a:t>
            </a:r>
            <a:endParaRPr lang="en-US" sz="1150" dirty="0"/>
          </a:p>
        </p:txBody>
      </p:sp>
      <p:sp>
        <p:nvSpPr>
          <p:cNvPr id="14" name="Text 12"/>
          <p:cNvSpPr txBox="1"/>
          <p:nvPr/>
        </p:nvSpPr>
        <p:spPr>
          <a:xfrm>
            <a:off x="640080" y="1938528"/>
            <a:ext cx="5486400" cy="1463040"/>
          </a:xfrm>
          <a:prstGeom prst="rect">
            <a:avLst/>
          </a:prstGeom>
          <a:noFill/>
          <a:ln/>
        </p:spPr>
        <p:txBody>
          <a:bodyPr wrap="square" lIns="508" tIns="508" rIns="508" bIns="508" rtlCol="0" anchor="t"/>
          <a:lstStyle/>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正面（φ＝0°）：tan h ＝ (35 − 20) / 25 ＝ 0.600 → h ＝ 31.0°</a:t>
            </a:r>
            <a:endParaRPr lang="en-US" sz="1100" dirty="0"/>
          </a:p>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φ＝30°：d ＝ 25 / cos30° ＝ 28.87 m</a:t>
            </a:r>
            <a:endParaRPr lang="en-US" sz="1100" dirty="0"/>
          </a:p>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　　　tan h ＝ 15 / 28.87 ＝ 0.520 → h ＝ 27.5°</a:t>
            </a:r>
            <a:endParaRPr lang="en-US" sz="1100" dirty="0"/>
          </a:p>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φ＝60°：建物の横を通る（25×tan60° ＝ 43m ＞ 25m）→ h ＝ 0°</a:t>
            </a:r>
            <a:endParaRPr lang="en-US" sz="1100" dirty="0"/>
          </a:p>
        </p:txBody>
      </p:sp>
      <p:sp>
        <p:nvSpPr>
          <p:cNvPr id="15" name="Text 13"/>
          <p:cNvSpPr txBox="1"/>
          <p:nvPr/>
        </p:nvSpPr>
        <p:spPr>
          <a:xfrm>
            <a:off x="640080" y="3429000"/>
            <a:ext cx="5486400" cy="5029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z＝20m（点Pの高さ），d：方向φで建物の壁までの水平距離。斜めに見るほど遠くなり、h が小さくなる。</a:t>
            </a:r>
            <a:endParaRPr lang="en-US" sz="950" dirty="0"/>
          </a:p>
        </p:txBody>
      </p:sp>
      <p:sp>
        <p:nvSpPr>
          <p:cNvPr id="16" name="Text 14"/>
          <p:cNvSpPr txBox="1"/>
          <p:nvPr/>
        </p:nvSpPr>
        <p:spPr>
          <a:xfrm>
            <a:off x="457200" y="4114800"/>
            <a:ext cx="576072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② 12方位の 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（max で2棟をまとめる）</a:t>
            </a:r>
            <a:endParaRPr lang="en-US" sz="1100" dirty="0"/>
          </a:p>
        </p:txBody>
      </p:sp>
      <p:sp>
        <p:nvSpPr>
          <p:cNvPr id="17" name="Text 15"/>
          <p:cNvSpPr txBox="1"/>
          <p:nvPr/>
        </p:nvSpPr>
        <p:spPr>
          <a:xfrm>
            <a:off x="457200" y="4462272"/>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方位φ</a:t>
            </a:r>
            <a:endParaRPr lang="en-US" sz="900" dirty="0"/>
          </a:p>
        </p:txBody>
      </p:sp>
      <p:sp>
        <p:nvSpPr>
          <p:cNvPr id="18" name="Text 16"/>
          <p:cNvSpPr txBox="1"/>
          <p:nvPr/>
        </p:nvSpPr>
        <p:spPr>
          <a:xfrm>
            <a:off x="457200" y="4882896"/>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建物1</a:t>
            </a:r>
            <a:endParaRPr lang="en-US" sz="900" dirty="0"/>
          </a:p>
        </p:txBody>
      </p:sp>
      <p:sp>
        <p:nvSpPr>
          <p:cNvPr id="19" name="Text 17"/>
          <p:cNvSpPr txBox="1"/>
          <p:nvPr/>
        </p:nvSpPr>
        <p:spPr>
          <a:xfrm>
            <a:off x="457200" y="5303520"/>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建物2</a:t>
            </a:r>
            <a:endParaRPr lang="en-US" sz="900" dirty="0"/>
          </a:p>
        </p:txBody>
      </p:sp>
      <p:sp>
        <p:nvSpPr>
          <p:cNvPr id="20" name="Text 18"/>
          <p:cNvSpPr txBox="1"/>
          <p:nvPr/>
        </p:nvSpPr>
        <p:spPr>
          <a:xfrm>
            <a:off x="457200" y="5724144"/>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h</a:t>
            </a:r>
            <a:pPr indent="0" marL="0">
              <a:buNone/>
            </a:pPr>
            <a:r>
              <a:rPr lang="en-US" sz="900" b="1" baseline="-40000" dirty="0">
                <a:solidFill>
                  <a:srgbClr val="1B2A44"/>
                </a:solidFill>
                <a:latin typeface="Yu Gothic" pitchFamily="34" charset="0"/>
                <a:ea typeface="Yu Gothic" pitchFamily="34" charset="-122"/>
                <a:cs typeface="Yu Gothic" pitchFamily="34" charset="-120"/>
              </a:rPr>
              <a:t>j</a:t>
            </a:r>
            <a:endParaRPr lang="en-US" sz="900" dirty="0"/>
          </a:p>
        </p:txBody>
      </p:sp>
      <p:sp>
        <p:nvSpPr>
          <p:cNvPr id="21" name="Shape 19"/>
          <p:cNvSpPr/>
          <p:nvPr/>
        </p:nvSpPr>
        <p:spPr>
          <a:xfrm>
            <a:off x="1325880" y="4462272"/>
            <a:ext cx="365760" cy="384048"/>
          </a:xfrm>
          <a:prstGeom prst="rect">
            <a:avLst/>
          </a:prstGeom>
          <a:solidFill>
            <a:srgbClr val="1B2A44"/>
          </a:solidFill>
          <a:ln w="6350">
            <a:solidFill>
              <a:srgbClr val="DCE1E7"/>
            </a:solidFill>
            <a:prstDash val="solid"/>
          </a:ln>
        </p:spPr>
      </p:sp>
      <p:sp>
        <p:nvSpPr>
          <p:cNvPr id="22" name="Text 20"/>
          <p:cNvSpPr txBox="1"/>
          <p:nvPr/>
        </p:nvSpPr>
        <p:spPr>
          <a:xfrm>
            <a:off x="1325880"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-82.5</a:t>
            </a:r>
            <a:endParaRPr lang="en-US" sz="750" dirty="0"/>
          </a:p>
        </p:txBody>
      </p:sp>
      <p:sp>
        <p:nvSpPr>
          <p:cNvPr id="23" name="Shape 21"/>
          <p:cNvSpPr/>
          <p:nvPr/>
        </p:nvSpPr>
        <p:spPr>
          <a:xfrm>
            <a:off x="1325880" y="4882896"/>
            <a:ext cx="365760" cy="384048"/>
          </a:xfrm>
          <a:prstGeom prst="rect">
            <a:avLst/>
          </a:prstGeom>
          <a:solidFill>
            <a:srgbClr val="FFFFFF"/>
          </a:solidFill>
          <a:ln w="6350">
            <a:solidFill>
              <a:srgbClr val="DCE1E7"/>
            </a:solidFill>
            <a:prstDash val="solid"/>
          </a:ln>
        </p:spPr>
      </p:sp>
      <p:sp>
        <p:nvSpPr>
          <p:cNvPr id="24" name="Text 22"/>
          <p:cNvSpPr txBox="1"/>
          <p:nvPr/>
        </p:nvSpPr>
        <p:spPr>
          <a:xfrm>
            <a:off x="1325880"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25" name="Shape 23"/>
          <p:cNvSpPr/>
          <p:nvPr/>
        </p:nvSpPr>
        <p:spPr>
          <a:xfrm>
            <a:off x="1325880" y="5303520"/>
            <a:ext cx="365760" cy="384048"/>
          </a:xfrm>
          <a:prstGeom prst="rect">
            <a:avLst/>
          </a:prstGeom>
          <a:solidFill>
            <a:srgbClr val="FFFFFF"/>
          </a:solidFill>
          <a:ln w="6350">
            <a:solidFill>
              <a:srgbClr val="DCE1E7"/>
            </a:solidFill>
            <a:prstDash val="solid"/>
          </a:ln>
        </p:spPr>
      </p:sp>
      <p:sp>
        <p:nvSpPr>
          <p:cNvPr id="26" name="Text 24"/>
          <p:cNvSpPr txBox="1"/>
          <p:nvPr/>
        </p:nvSpPr>
        <p:spPr>
          <a:xfrm>
            <a:off x="1325880"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27" name="Shape 25"/>
          <p:cNvSpPr/>
          <p:nvPr/>
        </p:nvSpPr>
        <p:spPr>
          <a:xfrm>
            <a:off x="1325880" y="5724144"/>
            <a:ext cx="365760" cy="384048"/>
          </a:xfrm>
          <a:prstGeom prst="rect">
            <a:avLst/>
          </a:prstGeom>
          <a:solidFill>
            <a:srgbClr val="FFFFFF"/>
          </a:solidFill>
          <a:ln w="6350">
            <a:solidFill>
              <a:srgbClr val="DCE1E7"/>
            </a:solidFill>
            <a:prstDash val="solid"/>
          </a:ln>
        </p:spPr>
      </p:sp>
      <p:sp>
        <p:nvSpPr>
          <p:cNvPr id="28" name="Text 26"/>
          <p:cNvSpPr txBox="1"/>
          <p:nvPr/>
        </p:nvSpPr>
        <p:spPr>
          <a:xfrm>
            <a:off x="1325880"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29" name="Shape 27"/>
          <p:cNvSpPr/>
          <p:nvPr/>
        </p:nvSpPr>
        <p:spPr>
          <a:xfrm>
            <a:off x="1719072" y="4462272"/>
            <a:ext cx="365760" cy="384048"/>
          </a:xfrm>
          <a:prstGeom prst="rect">
            <a:avLst/>
          </a:prstGeom>
          <a:solidFill>
            <a:srgbClr val="1B2A44"/>
          </a:solidFill>
          <a:ln w="6350">
            <a:solidFill>
              <a:srgbClr val="DCE1E7"/>
            </a:solidFill>
            <a:prstDash val="solid"/>
          </a:ln>
        </p:spPr>
      </p:sp>
      <p:sp>
        <p:nvSpPr>
          <p:cNvPr id="30" name="Text 28"/>
          <p:cNvSpPr txBox="1"/>
          <p:nvPr/>
        </p:nvSpPr>
        <p:spPr>
          <a:xfrm>
            <a:off x="1719072"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-67.5</a:t>
            </a:r>
            <a:endParaRPr lang="en-US" sz="750" dirty="0"/>
          </a:p>
        </p:txBody>
      </p:sp>
      <p:sp>
        <p:nvSpPr>
          <p:cNvPr id="31" name="Shape 29"/>
          <p:cNvSpPr/>
          <p:nvPr/>
        </p:nvSpPr>
        <p:spPr>
          <a:xfrm>
            <a:off x="1719072" y="4882896"/>
            <a:ext cx="365760" cy="384048"/>
          </a:xfrm>
          <a:prstGeom prst="rect">
            <a:avLst/>
          </a:prstGeom>
          <a:solidFill>
            <a:srgbClr val="FFFFFF"/>
          </a:solidFill>
          <a:ln w="6350">
            <a:solidFill>
              <a:srgbClr val="DCE1E7"/>
            </a:solidFill>
            <a:prstDash val="solid"/>
          </a:ln>
        </p:spPr>
      </p:sp>
      <p:sp>
        <p:nvSpPr>
          <p:cNvPr id="32" name="Text 30"/>
          <p:cNvSpPr txBox="1"/>
          <p:nvPr/>
        </p:nvSpPr>
        <p:spPr>
          <a:xfrm>
            <a:off x="1719072"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33" name="Shape 31"/>
          <p:cNvSpPr/>
          <p:nvPr/>
        </p:nvSpPr>
        <p:spPr>
          <a:xfrm>
            <a:off x="1719072" y="5303520"/>
            <a:ext cx="365760" cy="384048"/>
          </a:xfrm>
          <a:prstGeom prst="rect">
            <a:avLst/>
          </a:prstGeom>
          <a:solidFill>
            <a:srgbClr val="FFFFFF"/>
          </a:solidFill>
          <a:ln w="6350">
            <a:solidFill>
              <a:srgbClr val="DCE1E7"/>
            </a:solidFill>
            <a:prstDash val="solid"/>
          </a:ln>
        </p:spPr>
      </p:sp>
      <p:sp>
        <p:nvSpPr>
          <p:cNvPr id="34" name="Text 32"/>
          <p:cNvSpPr txBox="1"/>
          <p:nvPr/>
        </p:nvSpPr>
        <p:spPr>
          <a:xfrm>
            <a:off x="1719072"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35" name="Shape 33"/>
          <p:cNvSpPr/>
          <p:nvPr/>
        </p:nvSpPr>
        <p:spPr>
          <a:xfrm>
            <a:off x="1719072" y="5724144"/>
            <a:ext cx="365760" cy="384048"/>
          </a:xfrm>
          <a:prstGeom prst="rect">
            <a:avLst/>
          </a:prstGeom>
          <a:solidFill>
            <a:srgbClr val="FFFFFF"/>
          </a:solidFill>
          <a:ln w="6350">
            <a:solidFill>
              <a:srgbClr val="DCE1E7"/>
            </a:solidFill>
            <a:prstDash val="solid"/>
          </a:ln>
        </p:spPr>
      </p:sp>
      <p:sp>
        <p:nvSpPr>
          <p:cNvPr id="36" name="Text 34"/>
          <p:cNvSpPr txBox="1"/>
          <p:nvPr/>
        </p:nvSpPr>
        <p:spPr>
          <a:xfrm>
            <a:off x="1719072"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37" name="Shape 35"/>
          <p:cNvSpPr/>
          <p:nvPr/>
        </p:nvSpPr>
        <p:spPr>
          <a:xfrm>
            <a:off x="2112264" y="4462272"/>
            <a:ext cx="365760" cy="384048"/>
          </a:xfrm>
          <a:prstGeom prst="rect">
            <a:avLst/>
          </a:prstGeom>
          <a:solidFill>
            <a:srgbClr val="1B2A44"/>
          </a:solidFill>
          <a:ln w="6350">
            <a:solidFill>
              <a:srgbClr val="DCE1E7"/>
            </a:solidFill>
            <a:prstDash val="solid"/>
          </a:ln>
        </p:spPr>
      </p:sp>
      <p:sp>
        <p:nvSpPr>
          <p:cNvPr id="38" name="Text 36"/>
          <p:cNvSpPr txBox="1"/>
          <p:nvPr/>
        </p:nvSpPr>
        <p:spPr>
          <a:xfrm>
            <a:off x="2112264"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-52.5</a:t>
            </a:r>
            <a:endParaRPr lang="en-US" sz="750" dirty="0"/>
          </a:p>
        </p:txBody>
      </p:sp>
      <p:sp>
        <p:nvSpPr>
          <p:cNvPr id="39" name="Shape 37"/>
          <p:cNvSpPr/>
          <p:nvPr/>
        </p:nvSpPr>
        <p:spPr>
          <a:xfrm>
            <a:off x="2112264" y="4882896"/>
            <a:ext cx="365760" cy="384048"/>
          </a:xfrm>
          <a:prstGeom prst="rect">
            <a:avLst/>
          </a:prstGeom>
          <a:solidFill>
            <a:srgbClr val="FFFFFF"/>
          </a:solidFill>
          <a:ln w="6350">
            <a:solidFill>
              <a:srgbClr val="DCE1E7"/>
            </a:solidFill>
            <a:prstDash val="solid"/>
          </a:ln>
        </p:spPr>
      </p:sp>
      <p:sp>
        <p:nvSpPr>
          <p:cNvPr id="40" name="Text 38"/>
          <p:cNvSpPr txBox="1"/>
          <p:nvPr/>
        </p:nvSpPr>
        <p:spPr>
          <a:xfrm>
            <a:off x="2112264"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41" name="Shape 39"/>
          <p:cNvSpPr/>
          <p:nvPr/>
        </p:nvSpPr>
        <p:spPr>
          <a:xfrm>
            <a:off x="2112264" y="5303520"/>
            <a:ext cx="365760" cy="384048"/>
          </a:xfrm>
          <a:prstGeom prst="rect">
            <a:avLst/>
          </a:prstGeom>
          <a:solidFill>
            <a:srgbClr val="FFFFFF"/>
          </a:solidFill>
          <a:ln w="6350">
            <a:solidFill>
              <a:srgbClr val="DCE1E7"/>
            </a:solidFill>
            <a:prstDash val="solid"/>
          </a:ln>
        </p:spPr>
      </p:sp>
      <p:sp>
        <p:nvSpPr>
          <p:cNvPr id="42" name="Text 40"/>
          <p:cNvSpPr txBox="1"/>
          <p:nvPr/>
        </p:nvSpPr>
        <p:spPr>
          <a:xfrm>
            <a:off x="2112264"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43" name="Shape 41"/>
          <p:cNvSpPr/>
          <p:nvPr/>
        </p:nvSpPr>
        <p:spPr>
          <a:xfrm>
            <a:off x="2112264" y="5724144"/>
            <a:ext cx="365760" cy="384048"/>
          </a:xfrm>
          <a:prstGeom prst="rect">
            <a:avLst/>
          </a:prstGeom>
          <a:solidFill>
            <a:srgbClr val="FFFFFF"/>
          </a:solidFill>
          <a:ln w="6350">
            <a:solidFill>
              <a:srgbClr val="DCE1E7"/>
            </a:solidFill>
            <a:prstDash val="solid"/>
          </a:ln>
        </p:spPr>
      </p:sp>
      <p:sp>
        <p:nvSpPr>
          <p:cNvPr id="44" name="Text 42"/>
          <p:cNvSpPr txBox="1"/>
          <p:nvPr/>
        </p:nvSpPr>
        <p:spPr>
          <a:xfrm>
            <a:off x="2112264"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45" name="Shape 43"/>
          <p:cNvSpPr/>
          <p:nvPr/>
        </p:nvSpPr>
        <p:spPr>
          <a:xfrm>
            <a:off x="2505456" y="4462272"/>
            <a:ext cx="365760" cy="384048"/>
          </a:xfrm>
          <a:prstGeom prst="rect">
            <a:avLst/>
          </a:prstGeom>
          <a:solidFill>
            <a:srgbClr val="1B2A44"/>
          </a:solidFill>
          <a:ln w="6350">
            <a:solidFill>
              <a:srgbClr val="DCE1E7"/>
            </a:solidFill>
            <a:prstDash val="solid"/>
          </a:ln>
        </p:spPr>
      </p:sp>
      <p:sp>
        <p:nvSpPr>
          <p:cNvPr id="46" name="Text 44"/>
          <p:cNvSpPr txBox="1"/>
          <p:nvPr/>
        </p:nvSpPr>
        <p:spPr>
          <a:xfrm>
            <a:off x="2505456"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-37.5</a:t>
            </a:r>
            <a:endParaRPr lang="en-US" sz="750" dirty="0"/>
          </a:p>
        </p:txBody>
      </p:sp>
      <p:sp>
        <p:nvSpPr>
          <p:cNvPr id="47" name="Shape 45"/>
          <p:cNvSpPr/>
          <p:nvPr/>
        </p:nvSpPr>
        <p:spPr>
          <a:xfrm>
            <a:off x="2505456" y="4882896"/>
            <a:ext cx="365760" cy="384048"/>
          </a:xfrm>
          <a:prstGeom prst="rect">
            <a:avLst/>
          </a:prstGeom>
          <a:solidFill>
            <a:srgbClr val="F6D9C0"/>
          </a:solidFill>
          <a:ln w="6350">
            <a:solidFill>
              <a:srgbClr val="DCE1E7"/>
            </a:solidFill>
            <a:prstDash val="solid"/>
          </a:ln>
        </p:spPr>
      </p:sp>
      <p:sp>
        <p:nvSpPr>
          <p:cNvPr id="48" name="Text 46"/>
          <p:cNvSpPr txBox="1"/>
          <p:nvPr/>
        </p:nvSpPr>
        <p:spPr>
          <a:xfrm>
            <a:off x="2505456"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25.5</a:t>
            </a:r>
            <a:endParaRPr lang="en-US" sz="850" dirty="0"/>
          </a:p>
        </p:txBody>
      </p:sp>
      <p:sp>
        <p:nvSpPr>
          <p:cNvPr id="49" name="Shape 47"/>
          <p:cNvSpPr/>
          <p:nvPr/>
        </p:nvSpPr>
        <p:spPr>
          <a:xfrm>
            <a:off x="2505456" y="5303520"/>
            <a:ext cx="365760" cy="384048"/>
          </a:xfrm>
          <a:prstGeom prst="rect">
            <a:avLst/>
          </a:prstGeom>
          <a:solidFill>
            <a:srgbClr val="FFFFFF"/>
          </a:solidFill>
          <a:ln w="6350">
            <a:solidFill>
              <a:srgbClr val="DCE1E7"/>
            </a:solidFill>
            <a:prstDash val="solid"/>
          </a:ln>
        </p:spPr>
      </p:sp>
      <p:sp>
        <p:nvSpPr>
          <p:cNvPr id="50" name="Text 48"/>
          <p:cNvSpPr txBox="1"/>
          <p:nvPr/>
        </p:nvSpPr>
        <p:spPr>
          <a:xfrm>
            <a:off x="2505456"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51" name="Shape 49"/>
          <p:cNvSpPr/>
          <p:nvPr/>
        </p:nvSpPr>
        <p:spPr>
          <a:xfrm>
            <a:off x="2505456" y="5724144"/>
            <a:ext cx="365760" cy="384048"/>
          </a:xfrm>
          <a:prstGeom prst="rect">
            <a:avLst/>
          </a:prstGeom>
          <a:solidFill>
            <a:srgbClr val="FBEBDA"/>
          </a:solidFill>
          <a:ln w="6350">
            <a:solidFill>
              <a:srgbClr val="DCE1E7"/>
            </a:solidFill>
            <a:prstDash val="solid"/>
          </a:ln>
        </p:spPr>
      </p:sp>
      <p:sp>
        <p:nvSpPr>
          <p:cNvPr id="52" name="Text 50"/>
          <p:cNvSpPr txBox="1"/>
          <p:nvPr/>
        </p:nvSpPr>
        <p:spPr>
          <a:xfrm>
            <a:off x="2505456"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25.5</a:t>
            </a:r>
            <a:endParaRPr lang="en-US" sz="850" dirty="0"/>
          </a:p>
        </p:txBody>
      </p:sp>
      <p:sp>
        <p:nvSpPr>
          <p:cNvPr id="53" name="Shape 51"/>
          <p:cNvSpPr/>
          <p:nvPr/>
        </p:nvSpPr>
        <p:spPr>
          <a:xfrm>
            <a:off x="2898648" y="4462272"/>
            <a:ext cx="365760" cy="384048"/>
          </a:xfrm>
          <a:prstGeom prst="rect">
            <a:avLst/>
          </a:prstGeom>
          <a:solidFill>
            <a:srgbClr val="1B2A44"/>
          </a:solidFill>
          <a:ln w="6350">
            <a:solidFill>
              <a:srgbClr val="DCE1E7"/>
            </a:solidFill>
            <a:prstDash val="solid"/>
          </a:ln>
        </p:spPr>
      </p:sp>
      <p:sp>
        <p:nvSpPr>
          <p:cNvPr id="54" name="Text 52"/>
          <p:cNvSpPr txBox="1"/>
          <p:nvPr/>
        </p:nvSpPr>
        <p:spPr>
          <a:xfrm>
            <a:off x="2898648"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-22.5</a:t>
            </a:r>
            <a:endParaRPr lang="en-US" sz="750" dirty="0"/>
          </a:p>
        </p:txBody>
      </p:sp>
      <p:sp>
        <p:nvSpPr>
          <p:cNvPr id="55" name="Shape 53"/>
          <p:cNvSpPr/>
          <p:nvPr/>
        </p:nvSpPr>
        <p:spPr>
          <a:xfrm>
            <a:off x="2898648" y="4882896"/>
            <a:ext cx="365760" cy="384048"/>
          </a:xfrm>
          <a:prstGeom prst="rect">
            <a:avLst/>
          </a:prstGeom>
          <a:solidFill>
            <a:srgbClr val="F6D9C0"/>
          </a:solidFill>
          <a:ln w="6350">
            <a:solidFill>
              <a:srgbClr val="DCE1E7"/>
            </a:solidFill>
            <a:prstDash val="solid"/>
          </a:ln>
        </p:spPr>
      </p:sp>
      <p:sp>
        <p:nvSpPr>
          <p:cNvPr id="56" name="Text 54"/>
          <p:cNvSpPr txBox="1"/>
          <p:nvPr/>
        </p:nvSpPr>
        <p:spPr>
          <a:xfrm>
            <a:off x="2898648"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29.0</a:t>
            </a:r>
            <a:endParaRPr lang="en-US" sz="850" dirty="0"/>
          </a:p>
        </p:txBody>
      </p:sp>
      <p:sp>
        <p:nvSpPr>
          <p:cNvPr id="57" name="Shape 55"/>
          <p:cNvSpPr/>
          <p:nvPr/>
        </p:nvSpPr>
        <p:spPr>
          <a:xfrm>
            <a:off x="2898648" y="5303520"/>
            <a:ext cx="365760" cy="384048"/>
          </a:xfrm>
          <a:prstGeom prst="rect">
            <a:avLst/>
          </a:prstGeom>
          <a:solidFill>
            <a:srgbClr val="FFFFFF"/>
          </a:solidFill>
          <a:ln w="6350">
            <a:solidFill>
              <a:srgbClr val="DCE1E7"/>
            </a:solidFill>
            <a:prstDash val="solid"/>
          </a:ln>
        </p:spPr>
      </p:sp>
      <p:sp>
        <p:nvSpPr>
          <p:cNvPr id="58" name="Text 56"/>
          <p:cNvSpPr txBox="1"/>
          <p:nvPr/>
        </p:nvSpPr>
        <p:spPr>
          <a:xfrm>
            <a:off x="2898648"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59" name="Shape 57"/>
          <p:cNvSpPr/>
          <p:nvPr/>
        </p:nvSpPr>
        <p:spPr>
          <a:xfrm>
            <a:off x="2898648" y="5724144"/>
            <a:ext cx="365760" cy="384048"/>
          </a:xfrm>
          <a:prstGeom prst="rect">
            <a:avLst/>
          </a:prstGeom>
          <a:solidFill>
            <a:srgbClr val="FBEBDA"/>
          </a:solidFill>
          <a:ln w="6350">
            <a:solidFill>
              <a:srgbClr val="DCE1E7"/>
            </a:solidFill>
            <a:prstDash val="solid"/>
          </a:ln>
        </p:spPr>
      </p:sp>
      <p:sp>
        <p:nvSpPr>
          <p:cNvPr id="60" name="Text 58"/>
          <p:cNvSpPr txBox="1"/>
          <p:nvPr/>
        </p:nvSpPr>
        <p:spPr>
          <a:xfrm>
            <a:off x="2898648"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29.0</a:t>
            </a:r>
            <a:endParaRPr lang="en-US" sz="850" dirty="0"/>
          </a:p>
        </p:txBody>
      </p:sp>
      <p:sp>
        <p:nvSpPr>
          <p:cNvPr id="61" name="Shape 59"/>
          <p:cNvSpPr/>
          <p:nvPr/>
        </p:nvSpPr>
        <p:spPr>
          <a:xfrm>
            <a:off x="3291840" y="4462272"/>
            <a:ext cx="365760" cy="384048"/>
          </a:xfrm>
          <a:prstGeom prst="rect">
            <a:avLst/>
          </a:prstGeom>
          <a:solidFill>
            <a:srgbClr val="1B2A44"/>
          </a:solidFill>
          <a:ln w="6350">
            <a:solidFill>
              <a:srgbClr val="DCE1E7"/>
            </a:solidFill>
            <a:prstDash val="solid"/>
          </a:ln>
        </p:spPr>
      </p:sp>
      <p:sp>
        <p:nvSpPr>
          <p:cNvPr id="62" name="Text 60"/>
          <p:cNvSpPr txBox="1"/>
          <p:nvPr/>
        </p:nvSpPr>
        <p:spPr>
          <a:xfrm>
            <a:off x="3291840"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-7.5</a:t>
            </a:r>
            <a:endParaRPr lang="en-US" sz="750" dirty="0"/>
          </a:p>
        </p:txBody>
      </p:sp>
      <p:sp>
        <p:nvSpPr>
          <p:cNvPr id="63" name="Shape 61"/>
          <p:cNvSpPr/>
          <p:nvPr/>
        </p:nvSpPr>
        <p:spPr>
          <a:xfrm>
            <a:off x="3291840" y="4882896"/>
            <a:ext cx="365760" cy="384048"/>
          </a:xfrm>
          <a:prstGeom prst="rect">
            <a:avLst/>
          </a:prstGeom>
          <a:solidFill>
            <a:srgbClr val="F6D9C0"/>
          </a:solidFill>
          <a:ln w="6350">
            <a:solidFill>
              <a:srgbClr val="DCE1E7"/>
            </a:solidFill>
            <a:prstDash val="solid"/>
          </a:ln>
        </p:spPr>
      </p:sp>
      <p:sp>
        <p:nvSpPr>
          <p:cNvPr id="64" name="Text 62"/>
          <p:cNvSpPr txBox="1"/>
          <p:nvPr/>
        </p:nvSpPr>
        <p:spPr>
          <a:xfrm>
            <a:off x="3291840"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30.7</a:t>
            </a:r>
            <a:endParaRPr lang="en-US" sz="850" dirty="0"/>
          </a:p>
        </p:txBody>
      </p:sp>
      <p:sp>
        <p:nvSpPr>
          <p:cNvPr id="65" name="Shape 63"/>
          <p:cNvSpPr/>
          <p:nvPr/>
        </p:nvSpPr>
        <p:spPr>
          <a:xfrm>
            <a:off x="3291840" y="5303520"/>
            <a:ext cx="365760" cy="384048"/>
          </a:xfrm>
          <a:prstGeom prst="rect">
            <a:avLst/>
          </a:prstGeom>
          <a:solidFill>
            <a:srgbClr val="FFFFFF"/>
          </a:solidFill>
          <a:ln w="6350">
            <a:solidFill>
              <a:srgbClr val="DCE1E7"/>
            </a:solidFill>
            <a:prstDash val="solid"/>
          </a:ln>
        </p:spPr>
      </p:sp>
      <p:sp>
        <p:nvSpPr>
          <p:cNvPr id="66" name="Text 64"/>
          <p:cNvSpPr txBox="1"/>
          <p:nvPr/>
        </p:nvSpPr>
        <p:spPr>
          <a:xfrm>
            <a:off x="3291840"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67" name="Shape 65"/>
          <p:cNvSpPr/>
          <p:nvPr/>
        </p:nvSpPr>
        <p:spPr>
          <a:xfrm>
            <a:off x="3291840" y="5724144"/>
            <a:ext cx="365760" cy="384048"/>
          </a:xfrm>
          <a:prstGeom prst="rect">
            <a:avLst/>
          </a:prstGeom>
          <a:solidFill>
            <a:srgbClr val="FBEBDA"/>
          </a:solidFill>
          <a:ln w="6350">
            <a:solidFill>
              <a:srgbClr val="DCE1E7"/>
            </a:solidFill>
            <a:prstDash val="solid"/>
          </a:ln>
        </p:spPr>
      </p:sp>
      <p:sp>
        <p:nvSpPr>
          <p:cNvPr id="68" name="Text 66"/>
          <p:cNvSpPr txBox="1"/>
          <p:nvPr/>
        </p:nvSpPr>
        <p:spPr>
          <a:xfrm>
            <a:off x="3291840"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30.7</a:t>
            </a:r>
            <a:endParaRPr lang="en-US" sz="850" dirty="0"/>
          </a:p>
        </p:txBody>
      </p:sp>
      <p:sp>
        <p:nvSpPr>
          <p:cNvPr id="69" name="Shape 67"/>
          <p:cNvSpPr/>
          <p:nvPr/>
        </p:nvSpPr>
        <p:spPr>
          <a:xfrm>
            <a:off x="3685032" y="4462272"/>
            <a:ext cx="365760" cy="384048"/>
          </a:xfrm>
          <a:prstGeom prst="rect">
            <a:avLst/>
          </a:prstGeom>
          <a:solidFill>
            <a:srgbClr val="1B2A44"/>
          </a:solidFill>
          <a:ln w="6350">
            <a:solidFill>
              <a:srgbClr val="DCE1E7"/>
            </a:solidFill>
            <a:prstDash val="solid"/>
          </a:ln>
        </p:spPr>
      </p:sp>
      <p:sp>
        <p:nvSpPr>
          <p:cNvPr id="70" name="Text 68"/>
          <p:cNvSpPr txBox="1"/>
          <p:nvPr/>
        </p:nvSpPr>
        <p:spPr>
          <a:xfrm>
            <a:off x="3685032"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7.5</a:t>
            </a:r>
            <a:endParaRPr lang="en-US" sz="750" dirty="0"/>
          </a:p>
        </p:txBody>
      </p:sp>
      <p:sp>
        <p:nvSpPr>
          <p:cNvPr id="71" name="Shape 69"/>
          <p:cNvSpPr/>
          <p:nvPr/>
        </p:nvSpPr>
        <p:spPr>
          <a:xfrm>
            <a:off x="3685032" y="4882896"/>
            <a:ext cx="365760" cy="384048"/>
          </a:xfrm>
          <a:prstGeom prst="rect">
            <a:avLst/>
          </a:prstGeom>
          <a:solidFill>
            <a:srgbClr val="F6D9C0"/>
          </a:solidFill>
          <a:ln w="6350">
            <a:solidFill>
              <a:srgbClr val="DCE1E7"/>
            </a:solidFill>
            <a:prstDash val="solid"/>
          </a:ln>
        </p:spPr>
      </p:sp>
      <p:sp>
        <p:nvSpPr>
          <p:cNvPr id="72" name="Text 70"/>
          <p:cNvSpPr txBox="1"/>
          <p:nvPr/>
        </p:nvSpPr>
        <p:spPr>
          <a:xfrm>
            <a:off x="3685032"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30.7</a:t>
            </a:r>
            <a:endParaRPr lang="en-US" sz="850" dirty="0"/>
          </a:p>
        </p:txBody>
      </p:sp>
      <p:sp>
        <p:nvSpPr>
          <p:cNvPr id="73" name="Shape 71"/>
          <p:cNvSpPr/>
          <p:nvPr/>
        </p:nvSpPr>
        <p:spPr>
          <a:xfrm>
            <a:off x="3685032" y="5303520"/>
            <a:ext cx="365760" cy="384048"/>
          </a:xfrm>
          <a:prstGeom prst="rect">
            <a:avLst/>
          </a:prstGeom>
          <a:solidFill>
            <a:srgbClr val="FFFFFF"/>
          </a:solidFill>
          <a:ln w="6350">
            <a:solidFill>
              <a:srgbClr val="DCE1E7"/>
            </a:solidFill>
            <a:prstDash val="solid"/>
          </a:ln>
        </p:spPr>
      </p:sp>
      <p:sp>
        <p:nvSpPr>
          <p:cNvPr id="74" name="Text 72"/>
          <p:cNvSpPr txBox="1"/>
          <p:nvPr/>
        </p:nvSpPr>
        <p:spPr>
          <a:xfrm>
            <a:off x="3685032"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75" name="Shape 73"/>
          <p:cNvSpPr/>
          <p:nvPr/>
        </p:nvSpPr>
        <p:spPr>
          <a:xfrm>
            <a:off x="3685032" y="5724144"/>
            <a:ext cx="365760" cy="384048"/>
          </a:xfrm>
          <a:prstGeom prst="rect">
            <a:avLst/>
          </a:prstGeom>
          <a:solidFill>
            <a:srgbClr val="FBEBDA"/>
          </a:solidFill>
          <a:ln w="6350">
            <a:solidFill>
              <a:srgbClr val="DCE1E7"/>
            </a:solidFill>
            <a:prstDash val="solid"/>
          </a:ln>
        </p:spPr>
      </p:sp>
      <p:sp>
        <p:nvSpPr>
          <p:cNvPr id="76" name="Text 74"/>
          <p:cNvSpPr txBox="1"/>
          <p:nvPr/>
        </p:nvSpPr>
        <p:spPr>
          <a:xfrm>
            <a:off x="3685032"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30.7</a:t>
            </a:r>
            <a:endParaRPr lang="en-US" sz="850" dirty="0"/>
          </a:p>
        </p:txBody>
      </p:sp>
      <p:sp>
        <p:nvSpPr>
          <p:cNvPr id="77" name="Shape 75"/>
          <p:cNvSpPr/>
          <p:nvPr/>
        </p:nvSpPr>
        <p:spPr>
          <a:xfrm>
            <a:off x="4078224" y="4462272"/>
            <a:ext cx="365760" cy="384048"/>
          </a:xfrm>
          <a:prstGeom prst="rect">
            <a:avLst/>
          </a:prstGeom>
          <a:solidFill>
            <a:srgbClr val="1B2A44"/>
          </a:solidFill>
          <a:ln w="6350">
            <a:solidFill>
              <a:srgbClr val="DCE1E7"/>
            </a:solidFill>
            <a:prstDash val="solid"/>
          </a:ln>
        </p:spPr>
      </p:sp>
      <p:sp>
        <p:nvSpPr>
          <p:cNvPr id="78" name="Text 76"/>
          <p:cNvSpPr txBox="1"/>
          <p:nvPr/>
        </p:nvSpPr>
        <p:spPr>
          <a:xfrm>
            <a:off x="4078224"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22.5</a:t>
            </a:r>
            <a:endParaRPr lang="en-US" sz="750" dirty="0"/>
          </a:p>
        </p:txBody>
      </p:sp>
      <p:sp>
        <p:nvSpPr>
          <p:cNvPr id="79" name="Shape 77"/>
          <p:cNvSpPr/>
          <p:nvPr/>
        </p:nvSpPr>
        <p:spPr>
          <a:xfrm>
            <a:off x="4078224" y="4882896"/>
            <a:ext cx="365760" cy="384048"/>
          </a:xfrm>
          <a:prstGeom prst="rect">
            <a:avLst/>
          </a:prstGeom>
          <a:solidFill>
            <a:srgbClr val="F6D9C0"/>
          </a:solidFill>
          <a:ln w="6350">
            <a:solidFill>
              <a:srgbClr val="DCE1E7"/>
            </a:solidFill>
            <a:prstDash val="solid"/>
          </a:ln>
        </p:spPr>
      </p:sp>
      <p:sp>
        <p:nvSpPr>
          <p:cNvPr id="80" name="Text 78"/>
          <p:cNvSpPr txBox="1"/>
          <p:nvPr/>
        </p:nvSpPr>
        <p:spPr>
          <a:xfrm>
            <a:off x="4078224"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29.0</a:t>
            </a:r>
            <a:endParaRPr lang="en-US" sz="850" dirty="0"/>
          </a:p>
        </p:txBody>
      </p:sp>
      <p:sp>
        <p:nvSpPr>
          <p:cNvPr id="81" name="Shape 79"/>
          <p:cNvSpPr/>
          <p:nvPr/>
        </p:nvSpPr>
        <p:spPr>
          <a:xfrm>
            <a:off x="4078224" y="5303520"/>
            <a:ext cx="365760" cy="384048"/>
          </a:xfrm>
          <a:prstGeom prst="rect">
            <a:avLst/>
          </a:prstGeom>
          <a:solidFill>
            <a:srgbClr val="FFFFFF"/>
          </a:solidFill>
          <a:ln w="6350">
            <a:solidFill>
              <a:srgbClr val="DCE1E7"/>
            </a:solidFill>
            <a:prstDash val="solid"/>
          </a:ln>
        </p:spPr>
      </p:sp>
      <p:sp>
        <p:nvSpPr>
          <p:cNvPr id="82" name="Text 80"/>
          <p:cNvSpPr txBox="1"/>
          <p:nvPr/>
        </p:nvSpPr>
        <p:spPr>
          <a:xfrm>
            <a:off x="4078224"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83" name="Shape 81"/>
          <p:cNvSpPr/>
          <p:nvPr/>
        </p:nvSpPr>
        <p:spPr>
          <a:xfrm>
            <a:off x="4078224" y="5724144"/>
            <a:ext cx="365760" cy="384048"/>
          </a:xfrm>
          <a:prstGeom prst="rect">
            <a:avLst/>
          </a:prstGeom>
          <a:solidFill>
            <a:srgbClr val="FBEBDA"/>
          </a:solidFill>
          <a:ln w="6350">
            <a:solidFill>
              <a:srgbClr val="DCE1E7"/>
            </a:solidFill>
            <a:prstDash val="solid"/>
          </a:ln>
        </p:spPr>
      </p:sp>
      <p:sp>
        <p:nvSpPr>
          <p:cNvPr id="84" name="Text 82"/>
          <p:cNvSpPr txBox="1"/>
          <p:nvPr/>
        </p:nvSpPr>
        <p:spPr>
          <a:xfrm>
            <a:off x="4078224"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29.0</a:t>
            </a:r>
            <a:endParaRPr lang="en-US" sz="850" dirty="0"/>
          </a:p>
        </p:txBody>
      </p:sp>
      <p:sp>
        <p:nvSpPr>
          <p:cNvPr id="85" name="Shape 83"/>
          <p:cNvSpPr/>
          <p:nvPr/>
        </p:nvSpPr>
        <p:spPr>
          <a:xfrm>
            <a:off x="4471416" y="4462272"/>
            <a:ext cx="365760" cy="384048"/>
          </a:xfrm>
          <a:prstGeom prst="rect">
            <a:avLst/>
          </a:prstGeom>
          <a:solidFill>
            <a:srgbClr val="1B2A44"/>
          </a:solidFill>
          <a:ln w="6350">
            <a:solidFill>
              <a:srgbClr val="DCE1E7"/>
            </a:solidFill>
            <a:prstDash val="solid"/>
          </a:ln>
        </p:spPr>
      </p:sp>
      <p:sp>
        <p:nvSpPr>
          <p:cNvPr id="86" name="Text 84"/>
          <p:cNvSpPr txBox="1"/>
          <p:nvPr/>
        </p:nvSpPr>
        <p:spPr>
          <a:xfrm>
            <a:off x="4471416"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37.5</a:t>
            </a:r>
            <a:endParaRPr lang="en-US" sz="750" dirty="0"/>
          </a:p>
        </p:txBody>
      </p:sp>
      <p:sp>
        <p:nvSpPr>
          <p:cNvPr id="87" name="Shape 85"/>
          <p:cNvSpPr/>
          <p:nvPr/>
        </p:nvSpPr>
        <p:spPr>
          <a:xfrm>
            <a:off x="4471416" y="4882896"/>
            <a:ext cx="365760" cy="384048"/>
          </a:xfrm>
          <a:prstGeom prst="rect">
            <a:avLst/>
          </a:prstGeom>
          <a:solidFill>
            <a:srgbClr val="F6D9C0"/>
          </a:solidFill>
          <a:ln w="6350">
            <a:solidFill>
              <a:srgbClr val="DCE1E7"/>
            </a:solidFill>
            <a:prstDash val="solid"/>
          </a:ln>
        </p:spPr>
      </p:sp>
      <p:sp>
        <p:nvSpPr>
          <p:cNvPr id="88" name="Text 86"/>
          <p:cNvSpPr txBox="1"/>
          <p:nvPr/>
        </p:nvSpPr>
        <p:spPr>
          <a:xfrm>
            <a:off x="4471416"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25.5</a:t>
            </a:r>
            <a:endParaRPr lang="en-US" sz="850" dirty="0"/>
          </a:p>
        </p:txBody>
      </p:sp>
      <p:sp>
        <p:nvSpPr>
          <p:cNvPr id="89" name="Shape 87"/>
          <p:cNvSpPr/>
          <p:nvPr/>
        </p:nvSpPr>
        <p:spPr>
          <a:xfrm>
            <a:off x="4471416" y="5303520"/>
            <a:ext cx="365760" cy="384048"/>
          </a:xfrm>
          <a:prstGeom prst="rect">
            <a:avLst/>
          </a:prstGeom>
          <a:solidFill>
            <a:srgbClr val="DCEAEC"/>
          </a:solidFill>
          <a:ln w="6350">
            <a:solidFill>
              <a:srgbClr val="DCE1E7"/>
            </a:solidFill>
            <a:prstDash val="solid"/>
          </a:ln>
        </p:spPr>
      </p:sp>
      <p:sp>
        <p:nvSpPr>
          <p:cNvPr id="90" name="Text 88"/>
          <p:cNvSpPr txBox="1"/>
          <p:nvPr/>
        </p:nvSpPr>
        <p:spPr>
          <a:xfrm>
            <a:off x="4471416"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10</a:t>
            </a:r>
            <a:endParaRPr lang="en-US" sz="850" dirty="0"/>
          </a:p>
        </p:txBody>
      </p:sp>
      <p:sp>
        <p:nvSpPr>
          <p:cNvPr id="91" name="Shape 89"/>
          <p:cNvSpPr/>
          <p:nvPr/>
        </p:nvSpPr>
        <p:spPr>
          <a:xfrm>
            <a:off x="4471416" y="5724144"/>
            <a:ext cx="365760" cy="384048"/>
          </a:xfrm>
          <a:prstGeom prst="rect">
            <a:avLst/>
          </a:prstGeom>
          <a:solidFill>
            <a:srgbClr val="FBEBDA"/>
          </a:solidFill>
          <a:ln w="6350">
            <a:solidFill>
              <a:srgbClr val="DCE1E7"/>
            </a:solidFill>
            <a:prstDash val="solid"/>
          </a:ln>
        </p:spPr>
      </p:sp>
      <p:sp>
        <p:nvSpPr>
          <p:cNvPr id="92" name="Text 90"/>
          <p:cNvSpPr txBox="1"/>
          <p:nvPr/>
        </p:nvSpPr>
        <p:spPr>
          <a:xfrm>
            <a:off x="4471416"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25.5</a:t>
            </a:r>
            <a:endParaRPr lang="en-US" sz="850" dirty="0"/>
          </a:p>
        </p:txBody>
      </p:sp>
      <p:sp>
        <p:nvSpPr>
          <p:cNvPr id="93" name="Shape 91"/>
          <p:cNvSpPr/>
          <p:nvPr/>
        </p:nvSpPr>
        <p:spPr>
          <a:xfrm>
            <a:off x="4864608" y="4462272"/>
            <a:ext cx="365760" cy="384048"/>
          </a:xfrm>
          <a:prstGeom prst="rect">
            <a:avLst/>
          </a:prstGeom>
          <a:solidFill>
            <a:srgbClr val="1B2A44"/>
          </a:solidFill>
          <a:ln w="6350">
            <a:solidFill>
              <a:srgbClr val="DCE1E7"/>
            </a:solidFill>
            <a:prstDash val="solid"/>
          </a:ln>
        </p:spPr>
      </p:sp>
      <p:sp>
        <p:nvSpPr>
          <p:cNvPr id="94" name="Text 92"/>
          <p:cNvSpPr txBox="1"/>
          <p:nvPr/>
        </p:nvSpPr>
        <p:spPr>
          <a:xfrm>
            <a:off x="4864608"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52.5</a:t>
            </a:r>
            <a:endParaRPr lang="en-US" sz="750" dirty="0"/>
          </a:p>
        </p:txBody>
      </p:sp>
      <p:sp>
        <p:nvSpPr>
          <p:cNvPr id="95" name="Shape 93"/>
          <p:cNvSpPr/>
          <p:nvPr/>
        </p:nvSpPr>
        <p:spPr>
          <a:xfrm>
            <a:off x="4864608" y="4882896"/>
            <a:ext cx="365760" cy="384048"/>
          </a:xfrm>
          <a:prstGeom prst="rect">
            <a:avLst/>
          </a:prstGeom>
          <a:solidFill>
            <a:srgbClr val="FFFFFF"/>
          </a:solidFill>
          <a:ln w="6350">
            <a:solidFill>
              <a:srgbClr val="DCE1E7"/>
            </a:solidFill>
            <a:prstDash val="solid"/>
          </a:ln>
        </p:spPr>
      </p:sp>
      <p:sp>
        <p:nvSpPr>
          <p:cNvPr id="96" name="Text 94"/>
          <p:cNvSpPr txBox="1"/>
          <p:nvPr/>
        </p:nvSpPr>
        <p:spPr>
          <a:xfrm>
            <a:off x="4864608"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97" name="Shape 95"/>
          <p:cNvSpPr/>
          <p:nvPr/>
        </p:nvSpPr>
        <p:spPr>
          <a:xfrm>
            <a:off x="4864608" y="5303520"/>
            <a:ext cx="365760" cy="384048"/>
          </a:xfrm>
          <a:prstGeom prst="rect">
            <a:avLst/>
          </a:prstGeom>
          <a:solidFill>
            <a:srgbClr val="DCEAEC"/>
          </a:solidFill>
          <a:ln w="6350">
            <a:solidFill>
              <a:srgbClr val="DCE1E7"/>
            </a:solidFill>
            <a:prstDash val="solid"/>
          </a:ln>
        </p:spPr>
      </p:sp>
      <p:sp>
        <p:nvSpPr>
          <p:cNvPr id="98" name="Text 96"/>
          <p:cNvSpPr txBox="1"/>
          <p:nvPr/>
        </p:nvSpPr>
        <p:spPr>
          <a:xfrm>
            <a:off x="4864608"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10</a:t>
            </a:r>
            <a:endParaRPr lang="en-US" sz="850" dirty="0"/>
          </a:p>
        </p:txBody>
      </p:sp>
      <p:sp>
        <p:nvSpPr>
          <p:cNvPr id="99" name="Shape 97"/>
          <p:cNvSpPr/>
          <p:nvPr/>
        </p:nvSpPr>
        <p:spPr>
          <a:xfrm>
            <a:off x="4864608" y="5724144"/>
            <a:ext cx="365760" cy="384048"/>
          </a:xfrm>
          <a:prstGeom prst="rect">
            <a:avLst/>
          </a:prstGeom>
          <a:solidFill>
            <a:srgbClr val="FBEBDA"/>
          </a:solidFill>
          <a:ln w="6350">
            <a:solidFill>
              <a:srgbClr val="DCE1E7"/>
            </a:solidFill>
            <a:prstDash val="solid"/>
          </a:ln>
        </p:spPr>
      </p:sp>
      <p:sp>
        <p:nvSpPr>
          <p:cNvPr id="100" name="Text 98"/>
          <p:cNvSpPr txBox="1"/>
          <p:nvPr/>
        </p:nvSpPr>
        <p:spPr>
          <a:xfrm>
            <a:off x="4864608"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10.0</a:t>
            </a:r>
            <a:endParaRPr lang="en-US" sz="850" dirty="0"/>
          </a:p>
        </p:txBody>
      </p:sp>
      <p:sp>
        <p:nvSpPr>
          <p:cNvPr id="101" name="Shape 99"/>
          <p:cNvSpPr/>
          <p:nvPr/>
        </p:nvSpPr>
        <p:spPr>
          <a:xfrm>
            <a:off x="5257800" y="4462272"/>
            <a:ext cx="365760" cy="384048"/>
          </a:xfrm>
          <a:prstGeom prst="rect">
            <a:avLst/>
          </a:prstGeom>
          <a:solidFill>
            <a:srgbClr val="1B2A44"/>
          </a:solidFill>
          <a:ln w="6350">
            <a:solidFill>
              <a:srgbClr val="DCE1E7"/>
            </a:solidFill>
            <a:prstDash val="solid"/>
          </a:ln>
        </p:spPr>
      </p:sp>
      <p:sp>
        <p:nvSpPr>
          <p:cNvPr id="102" name="Text 100"/>
          <p:cNvSpPr txBox="1"/>
          <p:nvPr/>
        </p:nvSpPr>
        <p:spPr>
          <a:xfrm>
            <a:off x="5257800"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67.5</a:t>
            </a:r>
            <a:endParaRPr lang="en-US" sz="750" dirty="0"/>
          </a:p>
        </p:txBody>
      </p:sp>
      <p:sp>
        <p:nvSpPr>
          <p:cNvPr id="103" name="Shape 101"/>
          <p:cNvSpPr/>
          <p:nvPr/>
        </p:nvSpPr>
        <p:spPr>
          <a:xfrm>
            <a:off x="5257800" y="4882896"/>
            <a:ext cx="365760" cy="384048"/>
          </a:xfrm>
          <a:prstGeom prst="rect">
            <a:avLst/>
          </a:prstGeom>
          <a:solidFill>
            <a:srgbClr val="FFFFFF"/>
          </a:solidFill>
          <a:ln w="6350">
            <a:solidFill>
              <a:srgbClr val="DCE1E7"/>
            </a:solidFill>
            <a:prstDash val="solid"/>
          </a:ln>
        </p:spPr>
      </p:sp>
      <p:sp>
        <p:nvSpPr>
          <p:cNvPr id="104" name="Text 102"/>
          <p:cNvSpPr txBox="1"/>
          <p:nvPr/>
        </p:nvSpPr>
        <p:spPr>
          <a:xfrm>
            <a:off x="5257800"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105" name="Shape 103"/>
          <p:cNvSpPr/>
          <p:nvPr/>
        </p:nvSpPr>
        <p:spPr>
          <a:xfrm>
            <a:off x="5257800" y="5303520"/>
            <a:ext cx="365760" cy="384048"/>
          </a:xfrm>
          <a:prstGeom prst="rect">
            <a:avLst/>
          </a:prstGeom>
          <a:solidFill>
            <a:srgbClr val="DCEAEC"/>
          </a:solidFill>
          <a:ln w="6350">
            <a:solidFill>
              <a:srgbClr val="DCE1E7"/>
            </a:solidFill>
            <a:prstDash val="solid"/>
          </a:ln>
        </p:spPr>
      </p:sp>
      <p:sp>
        <p:nvSpPr>
          <p:cNvPr id="106" name="Text 104"/>
          <p:cNvSpPr txBox="1"/>
          <p:nvPr/>
        </p:nvSpPr>
        <p:spPr>
          <a:xfrm>
            <a:off x="5257800"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10</a:t>
            </a:r>
            <a:endParaRPr lang="en-US" sz="850" dirty="0"/>
          </a:p>
        </p:txBody>
      </p:sp>
      <p:sp>
        <p:nvSpPr>
          <p:cNvPr id="107" name="Shape 105"/>
          <p:cNvSpPr/>
          <p:nvPr/>
        </p:nvSpPr>
        <p:spPr>
          <a:xfrm>
            <a:off x="5257800" y="5724144"/>
            <a:ext cx="365760" cy="384048"/>
          </a:xfrm>
          <a:prstGeom prst="rect">
            <a:avLst/>
          </a:prstGeom>
          <a:solidFill>
            <a:srgbClr val="FBEBDA"/>
          </a:solidFill>
          <a:ln w="6350">
            <a:solidFill>
              <a:srgbClr val="DCE1E7"/>
            </a:solidFill>
            <a:prstDash val="solid"/>
          </a:ln>
        </p:spPr>
      </p:sp>
      <p:sp>
        <p:nvSpPr>
          <p:cNvPr id="108" name="Text 106"/>
          <p:cNvSpPr txBox="1"/>
          <p:nvPr/>
        </p:nvSpPr>
        <p:spPr>
          <a:xfrm>
            <a:off x="5257800"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10.0</a:t>
            </a:r>
            <a:endParaRPr lang="en-US" sz="850" dirty="0"/>
          </a:p>
        </p:txBody>
      </p:sp>
      <p:sp>
        <p:nvSpPr>
          <p:cNvPr id="109" name="Shape 107"/>
          <p:cNvSpPr/>
          <p:nvPr/>
        </p:nvSpPr>
        <p:spPr>
          <a:xfrm>
            <a:off x="5650992" y="4462272"/>
            <a:ext cx="365760" cy="384048"/>
          </a:xfrm>
          <a:prstGeom prst="rect">
            <a:avLst/>
          </a:prstGeom>
          <a:solidFill>
            <a:srgbClr val="1B2A44"/>
          </a:solidFill>
          <a:ln w="6350">
            <a:solidFill>
              <a:srgbClr val="DCE1E7"/>
            </a:solidFill>
            <a:prstDash val="solid"/>
          </a:ln>
        </p:spPr>
      </p:sp>
      <p:sp>
        <p:nvSpPr>
          <p:cNvPr id="110" name="Text 108"/>
          <p:cNvSpPr txBox="1"/>
          <p:nvPr/>
        </p:nvSpPr>
        <p:spPr>
          <a:xfrm>
            <a:off x="5650992"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82.5</a:t>
            </a:r>
            <a:endParaRPr lang="en-US" sz="750" dirty="0"/>
          </a:p>
        </p:txBody>
      </p:sp>
      <p:sp>
        <p:nvSpPr>
          <p:cNvPr id="111" name="Shape 109"/>
          <p:cNvSpPr/>
          <p:nvPr/>
        </p:nvSpPr>
        <p:spPr>
          <a:xfrm>
            <a:off x="5650992" y="4882896"/>
            <a:ext cx="365760" cy="384048"/>
          </a:xfrm>
          <a:prstGeom prst="rect">
            <a:avLst/>
          </a:prstGeom>
          <a:solidFill>
            <a:srgbClr val="FFFFFF"/>
          </a:solidFill>
          <a:ln w="6350">
            <a:solidFill>
              <a:srgbClr val="DCE1E7"/>
            </a:solidFill>
            <a:prstDash val="solid"/>
          </a:ln>
        </p:spPr>
      </p:sp>
      <p:sp>
        <p:nvSpPr>
          <p:cNvPr id="112" name="Text 110"/>
          <p:cNvSpPr txBox="1"/>
          <p:nvPr/>
        </p:nvSpPr>
        <p:spPr>
          <a:xfrm>
            <a:off x="5650992"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113" name="Shape 111"/>
          <p:cNvSpPr/>
          <p:nvPr/>
        </p:nvSpPr>
        <p:spPr>
          <a:xfrm>
            <a:off x="5650992" y="5303520"/>
            <a:ext cx="365760" cy="384048"/>
          </a:xfrm>
          <a:prstGeom prst="rect">
            <a:avLst/>
          </a:prstGeom>
          <a:solidFill>
            <a:srgbClr val="FFFFFF"/>
          </a:solidFill>
          <a:ln w="6350">
            <a:solidFill>
              <a:srgbClr val="DCE1E7"/>
            </a:solidFill>
            <a:prstDash val="solid"/>
          </a:ln>
        </p:spPr>
      </p:sp>
      <p:sp>
        <p:nvSpPr>
          <p:cNvPr id="114" name="Text 112"/>
          <p:cNvSpPr txBox="1"/>
          <p:nvPr/>
        </p:nvSpPr>
        <p:spPr>
          <a:xfrm>
            <a:off x="5650992"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115" name="Shape 113"/>
          <p:cNvSpPr/>
          <p:nvPr/>
        </p:nvSpPr>
        <p:spPr>
          <a:xfrm>
            <a:off x="5650992" y="5724144"/>
            <a:ext cx="365760" cy="384048"/>
          </a:xfrm>
          <a:prstGeom prst="rect">
            <a:avLst/>
          </a:prstGeom>
          <a:solidFill>
            <a:srgbClr val="FFFFFF"/>
          </a:solidFill>
          <a:ln w="6350">
            <a:solidFill>
              <a:srgbClr val="DCE1E7"/>
            </a:solidFill>
            <a:prstDash val="solid"/>
          </a:ln>
        </p:spPr>
      </p:sp>
      <p:sp>
        <p:nvSpPr>
          <p:cNvPr id="116" name="Text 114"/>
          <p:cNvSpPr txBox="1"/>
          <p:nvPr/>
        </p:nvSpPr>
        <p:spPr>
          <a:xfrm>
            <a:off x="5650992"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117" name="Shape 115"/>
          <p:cNvSpPr/>
          <p:nvPr/>
        </p:nvSpPr>
        <p:spPr>
          <a:xfrm>
            <a:off x="6446520" y="1481328"/>
            <a:ext cx="5303520" cy="2926080"/>
          </a:xfrm>
          <a:prstGeom prst="roundRect">
            <a:avLst>
              <a:gd name="adj" fmla="val 1875"/>
            </a:avLst>
          </a:prstGeom>
          <a:solidFill>
            <a:srgbClr val="1B2A44"/>
          </a:solidFill>
          <a:ln/>
        </p:spPr>
      </p:sp>
      <p:sp>
        <p:nvSpPr>
          <p:cNvPr id="118" name="Shape 116"/>
          <p:cNvSpPr/>
          <p:nvPr/>
        </p:nvSpPr>
        <p:spPr>
          <a:xfrm>
            <a:off x="6583680" y="1572768"/>
            <a:ext cx="310896" cy="310896"/>
          </a:xfrm>
          <a:prstGeom prst="ellipse">
            <a:avLst/>
          </a:prstGeom>
          <a:solidFill>
            <a:srgbClr val="E8934D"/>
          </a:solidFill>
          <a:ln/>
        </p:spPr>
      </p:sp>
      <p:sp>
        <p:nvSpPr>
          <p:cNvPr id="119" name="Text 117"/>
          <p:cNvSpPr txBox="1"/>
          <p:nvPr/>
        </p:nvSpPr>
        <p:spPr>
          <a:xfrm>
            <a:off x="658368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120" name="Text 118"/>
          <p:cNvSpPr txBox="1"/>
          <p:nvPr/>
        </p:nvSpPr>
        <p:spPr>
          <a:xfrm>
            <a:off x="6995160" y="1572768"/>
            <a:ext cx="4663440" cy="292608"/>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ふさがれた割合 O（空の地図：12方位×6高度＝72マス）</a:t>
            </a:r>
            <a:endParaRPr lang="en-US" sz="1100" dirty="0"/>
          </a:p>
        </p:txBody>
      </p:sp>
      <p:sp>
        <p:nvSpPr>
          <p:cNvPr id="121" name="Text 119"/>
          <p:cNvSpPr txBox="1"/>
          <p:nvPr/>
        </p:nvSpPr>
        <p:spPr>
          <a:xfrm>
            <a:off x="6629400" y="1938528"/>
            <a:ext cx="5029200" cy="2423160"/>
          </a:xfrm>
          <a:prstGeom prst="rect">
            <a:avLst/>
          </a:prstGeom>
          <a:noFill/>
          <a:ln/>
        </p:spPr>
        <p:txBody>
          <a:bodyPr wrap="square" lIns="508" tIns="508" rIns="508" bIns="508" rtlCol="0" anchor="t"/>
          <a:lstStyle/>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マスの中心の高度 ＜ h</a:t>
            </a:r>
            <a:pPr indent="0" marL="0">
              <a:lnSpc>
                <a:spcPct val="125000"/>
              </a:lnSpc>
              <a:buNone/>
            </a:pPr>
            <a:r>
              <a:rPr lang="en-US" sz="10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 なら b</a:t>
            </a:r>
            <a:pPr indent="0" marL="0">
              <a:lnSpc>
                <a:spcPct val="125000"/>
              </a:lnSpc>
              <a:buNone/>
            </a:pPr>
            <a:r>
              <a:rPr lang="en-US" sz="10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＝1（ふさがれている）</a:t>
            </a:r>
            <a:endParaRPr lang="en-US" sz="1050" dirty="0"/>
          </a:p>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建物1：高度0〜15°の6マス ＋ 15〜30°の6マス ＝ 12マス</a:t>
            </a:r>
            <a:endParaRPr lang="en-US" sz="1050" dirty="0"/>
          </a:p>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建物2：高度0〜15°の3マス（φ＝37.5°, 52.5°, 67.5°）</a:t>
            </a:r>
            <a:endParaRPr lang="en-US" sz="1050" dirty="0"/>
          </a:p>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重なり：φ＝37.5°・高度0〜15°の1マス</a:t>
            </a:r>
            <a:endParaRPr lang="en-US" sz="1050" dirty="0"/>
          </a:p>
          <a:p>
            <a:pPr indent="0" marL="0">
              <a:lnSpc>
                <a:spcPct val="125000"/>
              </a:lnSpc>
              <a:buNone/>
            </a:pPr>
            <a:r>
              <a:rPr lang="en-US" sz="1050" b="1" dirty="0">
                <a:solidFill>
                  <a:srgbClr val="E8934D"/>
                </a:solidFill>
                <a:latin typeface="Yu Gothic" pitchFamily="34" charset="0"/>
                <a:ea typeface="Yu Gothic" pitchFamily="34" charset="-122"/>
                <a:cs typeface="Yu Gothic" pitchFamily="34" charset="-120"/>
              </a:rPr>
              <a:t>O ＝ (12 ＋ 3 − 1) / 72 ＝ 14 / 72 ＝ 0.194（19.4%）</a:t>
            </a:r>
            <a:endParaRPr lang="en-US" sz="1050" dirty="0"/>
          </a:p>
          <a:p>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単純に足すと 15 / 72 ＝ 20.8%（1マスを二重に数える）</a:t>
            </a:r>
            <a:endParaRPr lang="en-US" sz="1050" dirty="0"/>
          </a:p>
        </p:txBody>
      </p:sp>
      <p:sp>
        <p:nvSpPr>
          <p:cNvPr id="122" name="Shape 120"/>
          <p:cNvSpPr/>
          <p:nvPr/>
        </p:nvSpPr>
        <p:spPr>
          <a:xfrm>
            <a:off x="6446520" y="4572000"/>
            <a:ext cx="5303520" cy="1737360"/>
          </a:xfrm>
          <a:prstGeom prst="roundRect">
            <a:avLst>
              <a:gd name="adj" fmla="val 3158"/>
            </a:avLst>
          </a:prstGeom>
          <a:solidFill>
            <a:srgbClr val="FBEBDA"/>
          </a:solidFill>
          <a:ln/>
        </p:spPr>
      </p:sp>
      <p:sp>
        <p:nvSpPr>
          <p:cNvPr id="123" name="Shape 121"/>
          <p:cNvSpPr/>
          <p:nvPr/>
        </p:nvSpPr>
        <p:spPr>
          <a:xfrm>
            <a:off x="6583680" y="4663440"/>
            <a:ext cx="310896" cy="310896"/>
          </a:xfrm>
          <a:prstGeom prst="ellipse">
            <a:avLst/>
          </a:prstGeom>
          <a:solidFill>
            <a:srgbClr val="C56A2C"/>
          </a:solidFill>
          <a:ln/>
        </p:spPr>
      </p:sp>
      <p:sp>
        <p:nvSpPr>
          <p:cNvPr id="124" name="Text 122"/>
          <p:cNvSpPr txBox="1"/>
          <p:nvPr/>
        </p:nvSpPr>
        <p:spPr>
          <a:xfrm>
            <a:off x="6583680" y="4663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125" name="Text 123"/>
          <p:cNvSpPr txBox="1"/>
          <p:nvPr/>
        </p:nvSpPr>
        <p:spPr>
          <a:xfrm>
            <a:off x="6995160" y="4663440"/>
            <a:ext cx="4663440" cy="292608"/>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モデルに渡す1行（南面・帯2）</a:t>
            </a:r>
            <a:endParaRPr lang="en-US" sz="1100" dirty="0"/>
          </a:p>
        </p:txBody>
      </p:sp>
      <p:sp>
        <p:nvSpPr>
          <p:cNvPr id="126" name="Text 124"/>
          <p:cNvSpPr txBox="1"/>
          <p:nvPr/>
        </p:nvSpPr>
        <p:spPr>
          <a:xfrm>
            <a:off x="6629400" y="5001768"/>
            <a:ext cx="5029200" cy="1234440"/>
          </a:xfrm>
          <a:prstGeom prst="rect">
            <a:avLst/>
          </a:prstGeom>
          <a:noFill/>
          <a:ln/>
        </p:spPr>
        <p:txBody>
          <a:bodyPr wrap="square" lIns="508" tIns="508" rIns="508" bIns="508" rtlCol="0" anchor="t"/>
          <a:lstStyle/>
          <a:p>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h</a:t>
            </a:r>
            <a:pPr indent="0" marL="0">
              <a:lnSpc>
                <a:spcPct val="120000"/>
              </a:lnSpc>
              <a:buNone/>
            </a:pPr>
            <a:r>
              <a:rPr lang="en-US" sz="1050" b="1" baseline="-40000" dirty="0">
                <a:solidFill>
                  <a:srgbClr val="1B2A44"/>
                </a:solidFill>
                <a:latin typeface="Yu Gothic" pitchFamily="34" charset="0"/>
                <a:ea typeface="Yu Gothic" pitchFamily="34" charset="-122"/>
                <a:cs typeface="Yu Gothic" pitchFamily="34" charset="-120"/>
              </a:rPr>
              <a:t>1</a:t>
            </a:r>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,…,h</a:t>
            </a:r>
            <a:pPr indent="0" marL="0">
              <a:lnSpc>
                <a:spcPct val="120000"/>
              </a:lnSpc>
              <a:buNone/>
            </a:pPr>
            <a:r>
              <a:rPr lang="en-US" sz="1050" b="1" baseline="-40000" dirty="0">
                <a:solidFill>
                  <a:srgbClr val="1B2A44"/>
                </a:solidFill>
                <a:latin typeface="Yu Gothic" pitchFamily="34" charset="0"/>
                <a:ea typeface="Yu Gothic" pitchFamily="34" charset="-122"/>
                <a:cs typeface="Yu Gothic" pitchFamily="34" charset="-120"/>
              </a:rPr>
              <a:t>12</a:t>
            </a:r>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O, z, 面 ) ＝ (0, 0, 0, 25.5, 29.0, 30.7,</a:t>
            </a:r>
            <a:endParaRPr lang="en-US" sz="1050" dirty="0"/>
          </a:p>
          <a:p>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30.7, 29.0, 25.5, 10, 10, 0, 0.194, 20m, 南)</a:t>
            </a:r>
            <a:endParaRPr lang="en-US" sz="1050" dirty="0"/>
          </a:p>
          <a:p>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Ŷ</a:t>
            </a:r>
            <a:pPr indent="0" marL="0">
              <a:lnSpc>
                <a:spcPct val="120000"/>
              </a:lnSpc>
              <a:buNone/>
            </a:pPr>
            <a:r>
              <a:rPr lang="en-US" sz="1050" b="1" baseline="-40000" dirty="0">
                <a:solidFill>
                  <a:srgbClr val="1B2A44"/>
                </a:solidFill>
                <a:latin typeface="Yu Gothic" pitchFamily="34" charset="0"/>
                <a:ea typeface="Yu Gothic" pitchFamily="34" charset="-122"/>
                <a:cs typeface="Yu Gothic" pitchFamily="34" charset="-120"/>
              </a:rPr>
              <a:t>南面,2</a:t>
            </a:r>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 F(この1行)　※ F は来週決める</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457200"/>
            <a:ext cx="45720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SUMMARY</a:t>
            </a:r>
            <a:endParaRPr lang="en-US" sz="1100" dirty="0"/>
          </a:p>
        </p:txBody>
      </p:sp>
      <p:sp>
        <p:nvSpPr>
          <p:cNvPr id="3" name="Text 1"/>
          <p:cNvSpPr txBox="1"/>
          <p:nvPr/>
        </p:nvSpPr>
        <p:spPr>
          <a:xfrm>
            <a:off x="640080" y="731520"/>
            <a:ext cx="10972800" cy="548640"/>
          </a:xfrm>
          <a:prstGeom prst="rect">
            <a:avLst/>
          </a:prstGeom>
          <a:noFill/>
          <a:ln/>
        </p:spPr>
        <p:txBody>
          <a:bodyPr wrap="square" lIns="508" tIns="508" rIns="508" bIns="508" rtlCol="0" anchor="t"/>
          <a:lstStyle/>
          <a:p>
            <a:pPr indent="0" marL="0">
              <a:buNone/>
            </a:pPr>
            <a:r>
              <a:rPr lang="en-US" sz="2600" b="1" dirty="0">
                <a:solidFill>
                  <a:srgbClr val="FFFFFF"/>
                </a:solidFill>
                <a:latin typeface="Yu Gothic" pitchFamily="34" charset="0"/>
                <a:ea typeface="Yu Gothic" pitchFamily="34" charset="-122"/>
                <a:cs typeface="Yu Gothic" pitchFamily="34" charset="-120"/>
              </a:rPr>
              <a:t>まとめ：今回整理したことと、来週やること</a:t>
            </a:r>
            <a:endParaRPr lang="en-US" sz="2600" dirty="0"/>
          </a:p>
        </p:txBody>
      </p:sp>
      <p:sp>
        <p:nvSpPr>
          <p:cNvPr id="4" name="Shape 2"/>
          <p:cNvSpPr/>
          <p:nvPr/>
        </p:nvSpPr>
        <p:spPr>
          <a:xfrm>
            <a:off x="640080" y="1554480"/>
            <a:ext cx="3474720" cy="4434840"/>
          </a:xfrm>
          <a:prstGeom prst="roundRect">
            <a:avLst>
              <a:gd name="adj" fmla="val 1579"/>
            </a:avLst>
          </a:prstGeom>
          <a:solidFill>
            <a:srgbClr val="24365A"/>
          </a:solidFill>
          <a:ln/>
        </p:spPr>
      </p:sp>
      <p:sp>
        <p:nvSpPr>
          <p:cNvPr id="5" name="Shape 3"/>
          <p:cNvSpPr/>
          <p:nvPr/>
        </p:nvSpPr>
        <p:spPr>
          <a:xfrm>
            <a:off x="640080" y="1554480"/>
            <a:ext cx="3474720" cy="502920"/>
          </a:xfrm>
          <a:prstGeom prst="roundRect">
            <a:avLst>
              <a:gd name="adj" fmla="val 10909"/>
            </a:avLst>
          </a:prstGeom>
          <a:solidFill>
            <a:srgbClr val="1F6F78"/>
          </a:solidFill>
          <a:ln/>
        </p:spPr>
      </p:sp>
      <p:sp>
        <p:nvSpPr>
          <p:cNvPr id="6" name="Text 4"/>
          <p:cNvSpPr txBox="1"/>
          <p:nvPr/>
        </p:nvSpPr>
        <p:spPr>
          <a:xfrm>
            <a:off x="8229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今回整理したこと</a:t>
            </a:r>
            <a:endParaRPr lang="en-US" sz="1400" dirty="0"/>
          </a:p>
        </p:txBody>
      </p:sp>
      <p:sp>
        <p:nvSpPr>
          <p:cNvPr id="7" name="Text 5"/>
          <p:cNvSpPr txBox="1"/>
          <p:nvPr/>
        </p:nvSpPr>
        <p:spPr>
          <a:xfrm>
            <a:off x="8229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データの役割：学習16・検証8・テスト12・追加5・局所テスト6（計47配置）</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計算過程：2,500区画 → 5帯の平均 → 4隅の重み付き和（Σ w × y）</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最終ツールの変数17個（中央高さ ＋ s, A, D, θ × 4棟）と、有無を0/1で表す理由</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完全格子は 3のm乗 で増え、有無16通り・影の重なりも加わる</a:t>
            </a:r>
            <a:endParaRPr lang="en-US" sz="1250" dirty="0"/>
          </a:p>
        </p:txBody>
      </p:sp>
      <p:sp>
        <p:nvSpPr>
          <p:cNvPr id="8" name="Shape 6"/>
          <p:cNvSpPr/>
          <p:nvPr/>
        </p:nvSpPr>
        <p:spPr>
          <a:xfrm>
            <a:off x="4297680" y="1554480"/>
            <a:ext cx="3474720" cy="4434840"/>
          </a:xfrm>
          <a:prstGeom prst="roundRect">
            <a:avLst>
              <a:gd name="adj" fmla="val 1579"/>
            </a:avLst>
          </a:prstGeom>
          <a:solidFill>
            <a:srgbClr val="24365A"/>
          </a:solidFill>
          <a:ln/>
        </p:spPr>
      </p:sp>
      <p:sp>
        <p:nvSpPr>
          <p:cNvPr id="9" name="Shape 7"/>
          <p:cNvSpPr/>
          <p:nvPr/>
        </p:nvSpPr>
        <p:spPr>
          <a:xfrm>
            <a:off x="4297680" y="1554480"/>
            <a:ext cx="3474720" cy="502920"/>
          </a:xfrm>
          <a:prstGeom prst="roundRect">
            <a:avLst>
              <a:gd name="adj" fmla="val 10909"/>
            </a:avLst>
          </a:prstGeom>
          <a:solidFill>
            <a:srgbClr val="E8934D"/>
          </a:solidFill>
          <a:ln/>
        </p:spPr>
      </p:sp>
      <p:sp>
        <p:nvSpPr>
          <p:cNvPr id="10" name="Text 8"/>
          <p:cNvSpPr txBox="1"/>
          <p:nvPr/>
        </p:nvSpPr>
        <p:spPr>
          <a:xfrm>
            <a:off x="44805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来週やること</a:t>
            </a:r>
            <a:endParaRPr lang="en-US" sz="1400" dirty="0"/>
          </a:p>
        </p:txBody>
      </p:sp>
      <p:sp>
        <p:nvSpPr>
          <p:cNvPr id="11" name="Text 9"/>
          <p:cNvSpPr txBox="1"/>
          <p:nvPr/>
        </p:nvSpPr>
        <p:spPr>
          <a:xfrm>
            <a:off x="44805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4方向版（方位・中央高さ固定、12変数）で線形補間を試す</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建物なし1＋各方向16＝65配置（新規49）をSEBEで計算</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1棟ずつ補間して足し合わせる式で20個を予測</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テストA 6配置・テストB 12配置でSEBEと比べ、棟数ごとの誤差を数値で示す</a:t>
            </a:r>
            <a:endParaRPr lang="en-US" sz="1250" dirty="0"/>
          </a:p>
        </p:txBody>
      </p:sp>
      <p:sp>
        <p:nvSpPr>
          <p:cNvPr id="12" name="Shape 10"/>
          <p:cNvSpPr/>
          <p:nvPr/>
        </p:nvSpPr>
        <p:spPr>
          <a:xfrm>
            <a:off x="7955280" y="1554480"/>
            <a:ext cx="3474720" cy="4434840"/>
          </a:xfrm>
          <a:prstGeom prst="roundRect">
            <a:avLst>
              <a:gd name="adj" fmla="val 1579"/>
            </a:avLst>
          </a:prstGeom>
          <a:solidFill>
            <a:srgbClr val="24365A"/>
          </a:solidFill>
          <a:ln/>
        </p:spPr>
      </p:sp>
      <p:sp>
        <p:nvSpPr>
          <p:cNvPr id="13" name="Shape 11"/>
          <p:cNvSpPr/>
          <p:nvPr/>
        </p:nvSpPr>
        <p:spPr>
          <a:xfrm>
            <a:off x="7955280" y="1554480"/>
            <a:ext cx="3474720" cy="502920"/>
          </a:xfrm>
          <a:prstGeom prst="roundRect">
            <a:avLst>
              <a:gd name="adj" fmla="val 10909"/>
            </a:avLst>
          </a:prstGeom>
          <a:solidFill>
            <a:srgbClr val="8FA0BC"/>
          </a:solidFill>
          <a:ln/>
        </p:spPr>
      </p:sp>
      <p:sp>
        <p:nvSpPr>
          <p:cNvPr id="14" name="Text 12"/>
          <p:cNvSpPr txBox="1"/>
          <p:nvPr/>
        </p:nvSpPr>
        <p:spPr>
          <a:xfrm>
            <a:off x="81381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まだ決めていないこと</a:t>
            </a:r>
            <a:endParaRPr lang="en-US" sz="1400" dirty="0"/>
          </a:p>
        </p:txBody>
      </p:sp>
      <p:sp>
        <p:nvSpPr>
          <p:cNvPr id="15" name="Text 13"/>
          <p:cNvSpPr txBox="1"/>
          <p:nvPr/>
        </p:nvSpPr>
        <p:spPr>
          <a:xfrm>
            <a:off x="81381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判断の基準（誤差率何%以内なら採用するか）</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空の遮られ方の方向の分け方・距離の扱い・モデルの種類</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中央の高さ・任意方位への広げ方</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SEBEの計算時間に応じた配置数の調整（9点案）</a:t>
            </a:r>
            <a:endParaRPr lang="en-US" sz="1250" dirty="0"/>
          </a:p>
        </p:txBody>
      </p:sp>
      <p:sp>
        <p:nvSpPr>
          <p:cNvPr id="16" name="Text 14"/>
          <p:cNvSpPr txBox="1"/>
          <p:nvPr/>
        </p:nvSpPr>
        <p:spPr>
          <a:xfrm>
            <a:off x="640080" y="6053328"/>
            <a:ext cx="10881360" cy="32004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4方向の線形補間の結果は、まだ出ていない。次の研究室で数値を示し、補間を続けるか代案へ進むかを判断する。</a:t>
            </a:r>
            <a:endParaRPr lang="en-US" sz="1150" dirty="0"/>
          </a:p>
        </p:txBody>
      </p:sp>
      <p:sp>
        <p:nvSpPr>
          <p:cNvPr id="17" name="Text 1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18" name="Text 1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41 / 41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ワイド画面</PresentationFormat>
  <Paragraphs>639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光陽 吉野</cp:lastModifiedBy>
  <cp:revision>2</cp:revision>
  <dcterms:created xsi:type="dcterms:W3CDTF">2026-09-23T13:40:34Z</dcterms:created>
  <dcterms:modified xsi:type="dcterms:W3CDTF">2026-09-23T13:41:50Z</dcterms:modified>
</cp:coreProperties>
</file>