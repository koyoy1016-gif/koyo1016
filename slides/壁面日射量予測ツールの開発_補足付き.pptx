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ここからは前回の指摘への回答です。Q1のデータの区別と計算過程、Q2の最終ツールの変数、Q3の4方向で線形補間が使えるかを順に説明し、最後に代案と来週の予定を示します。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件のデータは、入力（AとD）と正解値（SEBEの計算値）の組です。同じ形のデータでも、何に使ったかで学習用・検証・テストと呼び分けています。線形補間は係数を学習しないので、学習用データは「補間の基準として保存した計算データ」と言う方が正確です。合計は重複なしで47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配置につきSEBEは南面の1m四方の区画ごとに年間日射量を出し、その数は2,500個です。これを高さ10mごとに500個ずつ平均して5つの値にします。例えば(50,10)の帯1は、500区画の合計168,670.31を500で割って337.34です。全体平均は5帯の平均で484.76です。16配置なら80個の帯平均になりますが、学習例は16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間の計算は5段階です。入力を囲む4配置を探し、区間の中の位置uとvを求め、4配置の重みを掛け算で求めます。重みの合計は1で、近い配置ほど大きくなります。帯ごとに保存値と重みを掛けて足すと予測値になり、帯1は398.18です。5帯の平均521.29が南面全体の平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精度は予測とSEBEの差で評価します。最も外れたA=35m・D=15mの30〜40m帯では、誤差は−152.94、誤差率は15.08%です。MAEはこの絶対誤差をN件分平均したもので、検証8配置では19.99です。上の流れのように、検証で方法を決めてからテストデータ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適当に増やしたのか」という質問への回答です。誤差が最大だった配置を含む格子に着目し、既存の4隅を再利用して、高さと距離に区切りを1本ずつ追加して3×3にしました。足りない5点を計算し、未使用の6配置で改善を確認しました。ただし17mや5点が最適かどうかは検証し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ツールでは、中央建物の高さH_Cと、周囲建物ごとの有無s、高さA、隙間D、方位θを変えます。1＋4×4で17個です。θは建物を回転させる角度ではなく、中央から見て建物を置く方向です。Dは外形どうしの最短距離で、図の赤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立体で見ると、中央建物の高さH_Cと、周囲建物の高さAの位置が分かります。隙間Dは地面上の壁と壁の距離です。出力は中央建物の北・東・南・西の4面をそれぞれ5帯に分けた20個です。中央の高さを変えた場合は、10m刻みではなく高さを5等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はAとDの数字から表を使って補間します。建物がないと入れる数字がありません。A=0で代用すると計算済みの表の範囲外になり、補間できません。そこで、有るか無いかだけを表す変数sを用意します。式の中では、各建物で減る量にsを掛けるだけで、s=0の建物は自動的に計算から外れます。ただしsは0か1だけなので、sの方向には補間でき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17変数へ一度に進むのではなく、方位を北・東・南・西に固定し、中央の高さも50mに固定した4方向版で試します。変数は各方向のs、A、Dの12個です。4方向は4棟を必ず置くという意味ではなく、各方向に0か1棟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南1棟では、高さ3通りと距離3通りの9配置で表が埋まり、どこに入力しても周りの4点がそろったので補間できました。4方向では各方向に9通りがあり、同時に変えると9×9×9×9で6,561配置になります。建物なしも入れると1万配置です。表を全部埋めてから補間する方法は現実的ではありません。これが「9点でできたなら4方向でも」という質問への答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南と東の2方向で考えると、SEBEで計算するのは表の端、つまり1棟だけの配置です。2棟を同時に置いた?のマスは計算しません。?は、建物なしの値から、南で減る量と東で減る量を引いて推定します。例えば建物なしが1000、南だけが700なら南で減る量は300、東だけが900なら東で減る量は100で、2棟なら600と推定します。ただし、この足し算は、2棟の減る量が互いに関係しないという仮定の上に成り立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足し算の方法の弱点が影の重なりです。南面の点Pでは、朝は東の建物、昼前後は南の建物が光を遮ります。東だけなら3時間、南だけなら5時間当たらず、足し算では8時間ですが、9時から10時は両方が同じ光を遮っているので、実際は7時間です。同じ光は1回しか遮れないので、足し算では減る量を引きすぎ、日射量を低く予測します。つまり重なりが小さければ足し算の方法が使え、大きければ使えません。だから影の重なりを考える必要があります。数値は説明用の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足し算の方法を式にすると3ステップです。1つ目は、1棟だけ置いたSEBEの結果から、建物なしとの差として減る量を出します。2つ目は、入力が格子点でないときに、南と同じように4配置の減る量を重みで混ぜます。3つ目は、建物なしの値から、有る建物の減る量をsを掛けて引きます。前のページの例の1000−300−100=600が、そのまま式になっています。この計算を4面×5帯の20個それぞれで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はSEBEで学習用の65配置を計算します。南の16配置は既存なので新規は49配置です。テストは2種類で、1棟だけの6配置で補間そのものの誤差を、2〜4棟を同時に置く12配置で足し算の誤差、つまり影の重なりの影響を見ます。棟数ごとに誤差を並べ、棟数が増えても誤差が変わらなければ足し算の方法で4方向版を作り、大きくなれば重なりの補正か代案へ進みます。判断の基準は結果を見る前に決め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代案の空の遮られ方です。壁の点Pから空を見上げると、南側建物より低い方向はふさがれます。高さ20mの点Pで、高さ35mの建物が25m先にあると、tan h=15/25で約31°より下がふさがれます。空を72マスに分けてふさがれたマスを数えると14マスで、割合は19.4%です。2棟が同じマスをふさいでも1回しか数えないので、足し算のような二重引きが起きません。低い建物の値は説明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計算の流れです。入力、学習、テストのデータは足し算の方法と同じものを使えます。違うのは、配置を方向ごとの遮蔽高度角やふさがれた割合という数値に変換し、機械学習モデルで日射量を予測する点です。maxを取るので、同じ方向を2棟がふさいでも1回だけ数えます。方向の分け方や距離の扱い、モデルの種類はまだ決まっていないので、来週詰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データの役割と計算、最終ツールの変数とsの理由、4方向で全部計算すると約1万配置になるので足し算で埋めること、その弱点が影の重なりであることを整理しました。来週はSEBEで65配置を計算し、棟数ごとの誤差を数値で示して、足し算を続けるか代案へ進むかを判断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36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36</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36</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36</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36</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36</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36</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36</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36</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36</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36</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36</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36</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Q1への回答</a:t>
            </a:r>
            <a:endParaRPr lang="en-US" sz="95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05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p.20–24</a:t>
            </a:r>
            <a:endParaRPr lang="en-US" sz="100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Q2への回答</a:t>
            </a:r>
            <a:endParaRPr lang="en-US" sz="95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05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p.25–28</a:t>
            </a:r>
            <a:endParaRPr lang="en-US" sz="100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全部は計算できない → 1棟ずつ足し算で埋める → 弱点の影の重なり → 来週の確認</a:t>
            </a:r>
            <a:endParaRPr lang="en-US" sz="105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p.29–33</a:t>
            </a:r>
            <a:endParaRPr lang="en-US" sz="100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05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p.34–35</a:t>
            </a:r>
            <a:endParaRPr lang="en-US" sz="100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36</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36</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呼び方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何に使うか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学習用（補間用）データ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3手法の比較・弱点（高さ帯別）の確認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局所改良の追加データ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改良前後を同じ配置で比較</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合計（重複なし）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0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75</a:t>
            </a:r>
            <a:endParaRPr lang="en-US" sz="90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D（m）</a:t>
            </a:r>
            <a:endParaRPr lang="en-US" sz="95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高さ A（m）</a:t>
            </a:r>
            <a:endParaRPr lang="en-US" sz="95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学習16</a:t>
            </a:r>
            <a:endParaRPr lang="en-US" sz="95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a:t>
            </a:r>
            <a:endParaRPr lang="en-US" sz="95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テスト12</a:t>
            </a:r>
            <a:endParaRPr lang="en-US" sz="95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追加5</a:t>
            </a:r>
            <a:endParaRPr lang="en-US" sz="95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局所テスト6</a:t>
            </a:r>
            <a:endParaRPr lang="en-US" sz="9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データの数え方：2,500区画を高さ10mごとに平均して5つの値にする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 D)＝(50m, 10m) の配置。SEBEの壁出力から中央建物の南面（50m×50m）だけを取り出して計算する。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36</a:t>
            </a:r>
            <a:endParaRPr lang="en-US" sz="1100" dirty="0"/>
          </a:p>
        </p:txBody>
      </p:sp>
      <p:sp>
        <p:nvSpPr>
          <p:cNvPr id="10" name="Shape 8"/>
          <p:cNvSpPr/>
          <p:nvPr/>
        </p:nvSpPr>
        <p:spPr>
          <a:xfrm>
            <a:off x="457200" y="1481328"/>
            <a:ext cx="5669280" cy="4828032"/>
          </a:xfrm>
          <a:prstGeom prst="roundRect">
            <a:avLst>
              <a:gd name="adj" fmla="val 1136"/>
            </a:avLst>
          </a:prstGeom>
          <a:solidFill>
            <a:srgbClr val="F3F5F8"/>
          </a:solidFill>
          <a:ln/>
        </p:spPr>
      </p:sp>
      <p:sp>
        <p:nvSpPr>
          <p:cNvPr id="11" name="Text 9"/>
          <p:cNvSpPr txBox="1"/>
          <p:nvPr/>
        </p:nvSpPr>
        <p:spPr>
          <a:xfrm>
            <a:off x="594360" y="1536192"/>
            <a:ext cx="53949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1配置（A 50m・D 10m）の南面</a:t>
            </a:r>
            <a:endParaRPr lang="en-US" sz="1100" dirty="0"/>
          </a:p>
        </p:txBody>
      </p:sp>
      <p:sp>
        <p:nvSpPr>
          <p:cNvPr id="12" name="Shape 10"/>
          <p:cNvSpPr/>
          <p:nvPr/>
        </p:nvSpPr>
        <p:spPr>
          <a:xfrm>
            <a:off x="1325880" y="3666744"/>
            <a:ext cx="2103120" cy="448056"/>
          </a:xfrm>
          <a:prstGeom prst="rect">
            <a:avLst/>
          </a:prstGeom>
          <a:solidFill>
            <a:srgbClr val="F6D2B4"/>
          </a:solidFill>
          <a:ln w="12700">
            <a:solidFill>
              <a:srgbClr val="FFFFFF"/>
            </a:solidFill>
            <a:prstDash val="solid"/>
          </a:ln>
        </p:spPr>
      </p:sp>
      <p:sp>
        <p:nvSpPr>
          <p:cNvPr id="13" name="Text 11"/>
          <p:cNvSpPr txBox="1"/>
          <p:nvPr/>
        </p:nvSpPr>
        <p:spPr>
          <a:xfrm>
            <a:off x="1325880" y="3666744"/>
            <a:ext cx="2103120" cy="448056"/>
          </a:xfrm>
          <a:prstGeom prst="rect">
            <a:avLst/>
          </a:prstGeom>
          <a:noFill/>
          <a:ln/>
        </p:spPr>
        <p:txBody>
          <a:bodyPr wrap="square" lIns="0" tIns="0" rIns="0" bIns="0"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帯1：y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1</a:t>
            </a:r>
            <a:pPr algn="ctr" indent="0" marL="0">
              <a:buNone/>
            </a:pPr>
            <a:r>
              <a:rPr lang="en-US" sz="1000" b="1" dirty="0">
                <a:solidFill>
                  <a:srgbClr val="1B2A44"/>
                </a:solidFill>
                <a:latin typeface="Yu Gothic" pitchFamily="34" charset="0"/>
                <a:ea typeface="Yu Gothic" pitchFamily="34" charset="-122"/>
                <a:cs typeface="Yu Gothic" pitchFamily="34" charset="-120"/>
              </a:rPr>
              <a:t>＝337.34</a:t>
            </a:r>
            <a:endParaRPr lang="en-US" sz="1000" dirty="0"/>
          </a:p>
        </p:txBody>
      </p:sp>
      <p:sp>
        <p:nvSpPr>
          <p:cNvPr id="14" name="Text 12"/>
          <p:cNvSpPr txBox="1"/>
          <p:nvPr/>
        </p:nvSpPr>
        <p:spPr>
          <a:xfrm>
            <a:off x="548640" y="3776472"/>
            <a:ext cx="731520" cy="22860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0〜10m</a:t>
            </a:r>
            <a:endParaRPr lang="en-US" sz="850" dirty="0"/>
          </a:p>
        </p:txBody>
      </p:sp>
      <p:sp>
        <p:nvSpPr>
          <p:cNvPr id="15" name="Shape 13"/>
          <p:cNvSpPr/>
          <p:nvPr/>
        </p:nvSpPr>
        <p:spPr>
          <a:xfrm>
            <a:off x="1325880" y="3218688"/>
            <a:ext cx="2103120" cy="448056"/>
          </a:xfrm>
          <a:prstGeom prst="rect">
            <a:avLst/>
          </a:prstGeom>
          <a:solidFill>
            <a:srgbClr val="F2BE92"/>
          </a:solidFill>
          <a:ln w="12700">
            <a:solidFill>
              <a:srgbClr val="FFFFFF"/>
            </a:solidFill>
            <a:prstDash val="solid"/>
          </a:ln>
        </p:spPr>
      </p:sp>
      <p:sp>
        <p:nvSpPr>
          <p:cNvPr id="16" name="Text 14"/>
          <p:cNvSpPr txBox="1"/>
          <p:nvPr/>
        </p:nvSpPr>
        <p:spPr>
          <a:xfrm>
            <a:off x="1325880" y="3218688"/>
            <a:ext cx="2103120" cy="448056"/>
          </a:xfrm>
          <a:prstGeom prst="rect">
            <a:avLst/>
          </a:prstGeom>
          <a:noFill/>
          <a:ln/>
        </p:spPr>
        <p:txBody>
          <a:bodyPr wrap="square" lIns="0" tIns="0" rIns="0" bIns="0"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帯2：y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2</a:t>
            </a:r>
            <a:pPr algn="ctr" indent="0" marL="0">
              <a:buNone/>
            </a:pPr>
            <a:r>
              <a:rPr lang="en-US" sz="1000" b="1" dirty="0">
                <a:solidFill>
                  <a:srgbClr val="1B2A44"/>
                </a:solidFill>
                <a:latin typeface="Yu Gothic" pitchFamily="34" charset="0"/>
                <a:ea typeface="Yu Gothic" pitchFamily="34" charset="-122"/>
                <a:cs typeface="Yu Gothic" pitchFamily="34" charset="-120"/>
              </a:rPr>
              <a:t>＝351.22</a:t>
            </a:r>
            <a:endParaRPr lang="en-US" sz="1000" dirty="0"/>
          </a:p>
        </p:txBody>
      </p:sp>
      <p:sp>
        <p:nvSpPr>
          <p:cNvPr id="17" name="Text 15"/>
          <p:cNvSpPr txBox="1"/>
          <p:nvPr/>
        </p:nvSpPr>
        <p:spPr>
          <a:xfrm>
            <a:off x="548640" y="3328416"/>
            <a:ext cx="731520" cy="22860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10〜20m</a:t>
            </a:r>
            <a:endParaRPr lang="en-US" sz="850" dirty="0"/>
          </a:p>
        </p:txBody>
      </p:sp>
      <p:sp>
        <p:nvSpPr>
          <p:cNvPr id="18" name="Shape 16"/>
          <p:cNvSpPr/>
          <p:nvPr/>
        </p:nvSpPr>
        <p:spPr>
          <a:xfrm>
            <a:off x="1325880" y="2770632"/>
            <a:ext cx="2103120" cy="448056"/>
          </a:xfrm>
          <a:prstGeom prst="rect">
            <a:avLst/>
          </a:prstGeom>
          <a:solidFill>
            <a:srgbClr val="EEA870"/>
          </a:solidFill>
          <a:ln w="12700">
            <a:solidFill>
              <a:srgbClr val="FFFFFF"/>
            </a:solidFill>
            <a:prstDash val="solid"/>
          </a:ln>
        </p:spPr>
      </p:sp>
      <p:sp>
        <p:nvSpPr>
          <p:cNvPr id="19" name="Text 17"/>
          <p:cNvSpPr txBox="1"/>
          <p:nvPr/>
        </p:nvSpPr>
        <p:spPr>
          <a:xfrm>
            <a:off x="1325880" y="2770632"/>
            <a:ext cx="2103120" cy="448056"/>
          </a:xfrm>
          <a:prstGeom prst="rect">
            <a:avLst/>
          </a:prstGeom>
          <a:noFill/>
          <a:ln/>
        </p:spPr>
        <p:txBody>
          <a:bodyPr wrap="square" lIns="0" tIns="0" rIns="0" bIns="0"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帯3：y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3</a:t>
            </a:r>
            <a:pPr algn="ctr" indent="0" marL="0">
              <a:buNone/>
            </a:pPr>
            <a:r>
              <a:rPr lang="en-US" sz="1000" b="1" dirty="0">
                <a:solidFill>
                  <a:srgbClr val="1B2A44"/>
                </a:solidFill>
                <a:latin typeface="Yu Gothic" pitchFamily="34" charset="0"/>
                <a:ea typeface="Yu Gothic" pitchFamily="34" charset="-122"/>
                <a:cs typeface="Yu Gothic" pitchFamily="34" charset="-120"/>
              </a:rPr>
              <a:t>＝382.57</a:t>
            </a:r>
            <a:endParaRPr lang="en-US" sz="1000" dirty="0"/>
          </a:p>
        </p:txBody>
      </p:sp>
      <p:sp>
        <p:nvSpPr>
          <p:cNvPr id="20" name="Text 18"/>
          <p:cNvSpPr txBox="1"/>
          <p:nvPr/>
        </p:nvSpPr>
        <p:spPr>
          <a:xfrm>
            <a:off x="548640" y="2880360"/>
            <a:ext cx="731520" cy="22860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20〜30m</a:t>
            </a:r>
            <a:endParaRPr lang="en-US" sz="850" dirty="0"/>
          </a:p>
        </p:txBody>
      </p:sp>
      <p:sp>
        <p:nvSpPr>
          <p:cNvPr id="21" name="Shape 19"/>
          <p:cNvSpPr/>
          <p:nvPr/>
        </p:nvSpPr>
        <p:spPr>
          <a:xfrm>
            <a:off x="1325880" y="2322576"/>
            <a:ext cx="2103120" cy="448056"/>
          </a:xfrm>
          <a:prstGeom prst="rect">
            <a:avLst/>
          </a:prstGeom>
          <a:solidFill>
            <a:srgbClr val="E8934D"/>
          </a:solidFill>
          <a:ln w="12700">
            <a:solidFill>
              <a:srgbClr val="FFFFFF"/>
            </a:solidFill>
            <a:prstDash val="solid"/>
          </a:ln>
        </p:spPr>
      </p:sp>
      <p:sp>
        <p:nvSpPr>
          <p:cNvPr id="22" name="Text 20"/>
          <p:cNvSpPr txBox="1"/>
          <p:nvPr/>
        </p:nvSpPr>
        <p:spPr>
          <a:xfrm>
            <a:off x="1325880" y="2322576"/>
            <a:ext cx="2103120" cy="448056"/>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帯4：y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1000" b="1" dirty="0">
                <a:solidFill>
                  <a:srgbClr val="FFFFFF"/>
                </a:solidFill>
                <a:latin typeface="Yu Gothic" pitchFamily="34" charset="0"/>
                <a:ea typeface="Yu Gothic" pitchFamily="34" charset="-122"/>
                <a:cs typeface="Yu Gothic" pitchFamily="34" charset="-120"/>
              </a:rPr>
              <a:t>＝485.55</a:t>
            </a:r>
            <a:endParaRPr lang="en-US" sz="1000" dirty="0"/>
          </a:p>
        </p:txBody>
      </p:sp>
      <p:sp>
        <p:nvSpPr>
          <p:cNvPr id="23" name="Text 21"/>
          <p:cNvSpPr txBox="1"/>
          <p:nvPr/>
        </p:nvSpPr>
        <p:spPr>
          <a:xfrm>
            <a:off x="548640" y="2432304"/>
            <a:ext cx="731520" cy="22860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30〜40m</a:t>
            </a:r>
            <a:endParaRPr lang="en-US" sz="850" dirty="0"/>
          </a:p>
        </p:txBody>
      </p:sp>
      <p:sp>
        <p:nvSpPr>
          <p:cNvPr id="24" name="Shape 22"/>
          <p:cNvSpPr/>
          <p:nvPr/>
        </p:nvSpPr>
        <p:spPr>
          <a:xfrm>
            <a:off x="1325880" y="1874520"/>
            <a:ext cx="2103120" cy="448056"/>
          </a:xfrm>
          <a:prstGeom prst="rect">
            <a:avLst/>
          </a:prstGeom>
          <a:solidFill>
            <a:srgbClr val="D77B35"/>
          </a:solidFill>
          <a:ln w="12700">
            <a:solidFill>
              <a:srgbClr val="FFFFFF"/>
            </a:solidFill>
            <a:prstDash val="solid"/>
          </a:ln>
        </p:spPr>
      </p:sp>
      <p:sp>
        <p:nvSpPr>
          <p:cNvPr id="25" name="Text 23"/>
          <p:cNvSpPr txBox="1"/>
          <p:nvPr/>
        </p:nvSpPr>
        <p:spPr>
          <a:xfrm>
            <a:off x="1325880" y="1874520"/>
            <a:ext cx="2103120" cy="448056"/>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帯5：y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5</a:t>
            </a:r>
            <a:pPr algn="ctr" indent="0" marL="0">
              <a:buNone/>
            </a:pPr>
            <a:r>
              <a:rPr lang="en-US" sz="1000" b="1" dirty="0">
                <a:solidFill>
                  <a:srgbClr val="FFFFFF"/>
                </a:solidFill>
                <a:latin typeface="Yu Gothic" pitchFamily="34" charset="0"/>
                <a:ea typeface="Yu Gothic" pitchFamily="34" charset="-122"/>
                <a:cs typeface="Yu Gothic" pitchFamily="34" charset="-120"/>
              </a:rPr>
              <a:t>＝867.14</a:t>
            </a:r>
            <a:endParaRPr lang="en-US" sz="1000" dirty="0"/>
          </a:p>
        </p:txBody>
      </p:sp>
      <p:sp>
        <p:nvSpPr>
          <p:cNvPr id="26" name="Text 24"/>
          <p:cNvSpPr txBox="1"/>
          <p:nvPr/>
        </p:nvSpPr>
        <p:spPr>
          <a:xfrm>
            <a:off x="548640" y="1984248"/>
            <a:ext cx="731520" cy="22860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40〜50m</a:t>
            </a:r>
            <a:endParaRPr lang="en-US" sz="850" dirty="0"/>
          </a:p>
        </p:txBody>
      </p:sp>
      <p:sp>
        <p:nvSpPr>
          <p:cNvPr id="27" name="Text 25"/>
          <p:cNvSpPr txBox="1"/>
          <p:nvPr/>
        </p:nvSpPr>
        <p:spPr>
          <a:xfrm>
            <a:off x="1325880" y="4133088"/>
            <a:ext cx="2103120" cy="219456"/>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幅50m（50区画）</a:t>
            </a:r>
            <a:endParaRPr lang="en-US" sz="850" dirty="0"/>
          </a:p>
        </p:txBody>
      </p:sp>
      <p:sp>
        <p:nvSpPr>
          <p:cNvPr id="28" name="Text 26"/>
          <p:cNvSpPr txBox="1"/>
          <p:nvPr/>
        </p:nvSpPr>
        <p:spPr>
          <a:xfrm>
            <a:off x="3657600" y="1874520"/>
            <a:ext cx="2377440" cy="2286000"/>
          </a:xfrm>
          <a:prstGeom prst="rect">
            <a:avLst/>
          </a:prstGeom>
          <a:noFill/>
          <a:ln/>
        </p:spPr>
        <p:txBody>
          <a:bodyPr wrap="square" lIns="508" tIns="508" rIns="508" bIns="508" rtlCol="0" anchor="t"/>
          <a:lstStyle/>
          <a:p>
            <a:pPr marL="152400" indent="-152400">
              <a:spcAft>
                <a:spcPts val="500"/>
              </a:spcAft>
              <a:buSzPct val="100000"/>
              <a:buChar char="•"/>
            </a:pPr>
            <a:r>
              <a:rPr lang="en-US" sz="950" dirty="0">
                <a:solidFill>
                  <a:srgbClr val="333F4E"/>
                </a:solidFill>
                <a:latin typeface="Yu Gothic" pitchFamily="34" charset="0"/>
                <a:ea typeface="Yu Gothic" pitchFamily="34" charset="-122"/>
                <a:cs typeface="Yu Gothic" pitchFamily="34" charset="-120"/>
              </a:rPr>
              <a:t>1マス＝壁の1m四方の区画。SEBEが年間日射量 G を1つずつ出す</a:t>
            </a:r>
            <a:endParaRPr lang="en-US" sz="950" dirty="0"/>
          </a:p>
          <a:p>
            <a:pPr marL="152400" indent="-152400">
              <a:spcAft>
                <a:spcPts val="500"/>
              </a:spcAft>
              <a:buSzPct val="100000"/>
              <a:buChar char="•"/>
            </a:pPr>
            <a:r>
              <a:rPr lang="en-US" sz="950" dirty="0">
                <a:solidFill>
                  <a:srgbClr val="333F4E"/>
                </a:solidFill>
                <a:latin typeface="Yu Gothic" pitchFamily="34" charset="0"/>
                <a:ea typeface="Yu Gothic" pitchFamily="34" charset="-122"/>
                <a:cs typeface="Yu Gothic" pitchFamily="34" charset="-120"/>
              </a:rPr>
              <a:t>1つの帯＝幅50×高さ10＝500区画</a:t>
            </a:r>
            <a:endParaRPr lang="en-US" sz="950" dirty="0"/>
          </a:p>
          <a:p>
            <a:pPr marL="152400" indent="-152400">
              <a:spcAft>
                <a:spcPts val="500"/>
              </a:spcAft>
              <a:buSzPct val="100000"/>
              <a:buChar char="•"/>
            </a:pPr>
            <a:r>
              <a:rPr lang="en-US" sz="950" dirty="0">
                <a:solidFill>
                  <a:srgbClr val="333F4E"/>
                </a:solidFill>
                <a:latin typeface="Yu Gothic" pitchFamily="34" charset="0"/>
                <a:ea typeface="Yu Gothic" pitchFamily="34" charset="-122"/>
                <a:cs typeface="Yu Gothic" pitchFamily="34" charset="-120"/>
              </a:rPr>
              <a:t>南面全体＝50×50＝2,500区画</a:t>
            </a:r>
            <a:endParaRPr lang="en-US" sz="950" dirty="0"/>
          </a:p>
          <a:p>
            <a:pPr marL="152400" indent="-152400">
              <a:spcAft>
                <a:spcPts val="500"/>
              </a:spcAft>
              <a:buSzPct val="100000"/>
              <a:buChar char="•"/>
            </a:pPr>
            <a:r>
              <a:rPr lang="en-US" sz="950" dirty="0">
                <a:solidFill>
                  <a:srgbClr val="333F4E"/>
                </a:solidFill>
                <a:latin typeface="Yu Gothic" pitchFamily="34" charset="0"/>
                <a:ea typeface="Yu Gothic" pitchFamily="34" charset="-122"/>
                <a:cs typeface="Yu Gothic" pitchFamily="34" charset="-120"/>
              </a:rPr>
              <a:t>5帯とも面積が同じ → 全体平均は5帯の平均と同じ</a:t>
            </a:r>
            <a:endParaRPr lang="en-US" sz="950" dirty="0"/>
          </a:p>
        </p:txBody>
      </p:sp>
      <p:sp>
        <p:nvSpPr>
          <p:cNvPr id="29" name="Shape 27"/>
          <p:cNvSpPr/>
          <p:nvPr/>
        </p:nvSpPr>
        <p:spPr>
          <a:xfrm>
            <a:off x="594360" y="4389120"/>
            <a:ext cx="5394960" cy="1810512"/>
          </a:xfrm>
          <a:prstGeom prst="roundRect">
            <a:avLst>
              <a:gd name="adj" fmla="val 3030"/>
            </a:avLst>
          </a:prstGeom>
          <a:solidFill>
            <a:srgbClr val="1B2A44"/>
          </a:solidFill>
          <a:ln/>
        </p:spPr>
      </p:sp>
      <p:sp>
        <p:nvSpPr>
          <p:cNvPr id="30" name="Text 28"/>
          <p:cNvSpPr txBox="1"/>
          <p:nvPr/>
        </p:nvSpPr>
        <p:spPr>
          <a:xfrm>
            <a:off x="731520" y="4462272"/>
            <a:ext cx="5166360" cy="1417320"/>
          </a:xfrm>
          <a:prstGeom prst="rect">
            <a:avLst/>
          </a:prstGeom>
          <a:noFill/>
          <a:ln/>
        </p:spPr>
        <p:txBody>
          <a:bodyPr wrap="square" lIns="508" tIns="508" rIns="508" bIns="508" rtlCol="0" anchor="t"/>
          <a:lstStyle/>
          <a:p>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帯の平均（式）：y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k</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 ＝ (1/500) Σ G　…帯kの500区画を足して500で割る</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帯1に代入　　：y</a:t>
            </a:r>
            <a:pPr indent="0" marL="0">
              <a:lnSpc>
                <a:spcPct val="125000"/>
              </a:lnSpc>
              <a:buNone/>
            </a:pPr>
            <a:r>
              <a:rPr lang="en-US" sz="1050" b="1" baseline="-40000" dirty="0">
                <a:solidFill>
                  <a:srgbClr val="FFFFFF"/>
                </a:solidFill>
                <a:latin typeface="Yu Gothic" pitchFamily="34" charset="0"/>
                <a:ea typeface="Yu Gothic" pitchFamily="34" charset="-122"/>
                <a:cs typeface="Yu Gothic" pitchFamily="34" charset="-120"/>
              </a:rPr>
              <a:t>1</a:t>
            </a:r>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 ＝ 168,670.31 ÷ 500 ＝ 337.34 kWh/m²</a:t>
            </a:r>
            <a:endParaRPr lang="en-US" sz="1050" dirty="0"/>
          </a:p>
          <a:p>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全体平均（式）：ȳ ＝ (y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1</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2</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3</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4</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＋y</a:t>
            </a:r>
            <a:pPr indent="0" marL="0">
              <a:lnSpc>
                <a:spcPct val="125000"/>
              </a:lnSpc>
              <a:buNone/>
            </a:pPr>
            <a:r>
              <a:rPr lang="en-US" sz="1000" b="1" baseline="-40000" dirty="0">
                <a:solidFill>
                  <a:srgbClr val="CADCFC"/>
                </a:solidFill>
                <a:latin typeface="Yu Gothic" pitchFamily="34" charset="0"/>
                <a:ea typeface="Yu Gothic" pitchFamily="34" charset="-122"/>
                <a:cs typeface="Yu Gothic" pitchFamily="34" charset="-120"/>
              </a:rPr>
              <a:t>5</a:t>
            </a:r>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 / 5</a:t>
            </a:r>
            <a:endParaRPr lang="en-US" sz="1050" dirty="0"/>
          </a:p>
          <a:p>
            <a:pPr indent="0" marL="0">
              <a:lnSpc>
                <a:spcPct val="125000"/>
              </a:lnSpc>
              <a:buNone/>
            </a:pPr>
            <a:r>
              <a:rPr lang="en-US" sz="1050" b="1" dirty="0">
                <a:solidFill>
                  <a:srgbClr val="E8934D"/>
                </a:solidFill>
                <a:latin typeface="Yu Gothic" pitchFamily="34" charset="0"/>
                <a:ea typeface="Yu Gothic" pitchFamily="34" charset="-122"/>
                <a:cs typeface="Yu Gothic" pitchFamily="34" charset="-120"/>
              </a:rPr>
              <a:t>代入：(337.34＋351.22＋382.57＋485.55＋867.14)/5 ＝ 484.76</a:t>
            </a:r>
            <a:endParaRPr lang="en-US" sz="1050" dirty="0"/>
          </a:p>
        </p:txBody>
      </p:sp>
      <p:sp>
        <p:nvSpPr>
          <p:cNvPr id="31" name="Text 29"/>
          <p:cNvSpPr txBox="1"/>
          <p:nvPr/>
        </p:nvSpPr>
        <p:spPr>
          <a:xfrm>
            <a:off x="731520" y="5870448"/>
            <a:ext cx="5166360" cy="274320"/>
          </a:xfrm>
          <a:prstGeom prst="rect">
            <a:avLst/>
          </a:prstGeom>
          <a:noFill/>
          <a:ln/>
        </p:spPr>
        <p:txBody>
          <a:bodyPr wrap="square" lIns="508" tIns="508" rIns="508" bIns="508" rtlCol="0" anchor="t"/>
          <a:lstStyle/>
          <a:p>
            <a:pPr indent="0" marL="0">
              <a:buNone/>
            </a:pPr>
            <a:r>
              <a:rPr lang="en-US" sz="850" dirty="0">
                <a:solidFill>
                  <a:srgbClr val="CADCFC"/>
                </a:solidFill>
                <a:latin typeface="Yu Gothic" pitchFamily="34" charset="0"/>
                <a:ea typeface="Yu Gothic" pitchFamily="34" charset="-122"/>
                <a:cs typeface="Yu Gothic" pitchFamily="34" charset="-120"/>
              </a:rPr>
              <a:t>※ 500区画の合計（168,670.31）は、保存した帯平均×500 で逆算した値</a:t>
            </a:r>
            <a:endParaRPr lang="en-US" sz="850" dirty="0"/>
          </a:p>
        </p:txBody>
      </p:sp>
      <p:sp>
        <p:nvSpPr>
          <p:cNvPr id="32" name="Text 30"/>
          <p:cNvSpPr txBox="1"/>
          <p:nvPr/>
        </p:nvSpPr>
        <p:spPr>
          <a:xfrm>
            <a:off x="6355080" y="1481328"/>
            <a:ext cx="53949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16配置ぶんでは、何を何個数えているか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55080" y="1828800"/>
          <a:ext cx="5394960" cy="914400"/>
        </p:xfrm>
        <a:graphic>
          <a:graphicData uri="http://schemas.openxmlformats.org/drawingml/2006/table">
            <a:tbl>
              <a:tblPr/>
              <a:tblGrid>
                <a:gridCol w="1600200"/>
                <a:gridCol w="1600200"/>
                <a:gridCol w="2194560"/>
              </a:tblGrid>
              <a:tr h="329184">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数えているもの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個数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建物配置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16件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A・Dの組み合わせ（学習例の数）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16×2＝32個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各配置のAとD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南面の元の区画値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16×2,500＝40,000個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集計前の日射量 G</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5帯の平均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16×5＝80個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予測に使う値（16行×5列の表）</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5帯から計算できる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16×6＝96個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表示・保存する数値の数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4" name="Shape 31"/>
          <p:cNvSpPr/>
          <p:nvPr/>
        </p:nvSpPr>
        <p:spPr>
          <a:xfrm>
            <a:off x="6355080" y="4343400"/>
            <a:ext cx="5394960" cy="1965960"/>
          </a:xfrm>
          <a:prstGeom prst="roundRect">
            <a:avLst>
              <a:gd name="adj" fmla="val 2791"/>
            </a:avLst>
          </a:prstGeom>
          <a:solidFill>
            <a:srgbClr val="FBEBDA"/>
          </a:solidFill>
          <a:ln/>
        </p:spPr>
      </p:sp>
      <p:sp>
        <p:nvSpPr>
          <p:cNvPr id="35" name="Text 32"/>
          <p:cNvSpPr txBox="1"/>
          <p:nvPr/>
        </p:nvSpPr>
        <p:spPr>
          <a:xfrm>
            <a:off x="6537960" y="4416552"/>
            <a:ext cx="502920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6" name="Text 33"/>
          <p:cNvSpPr txBox="1"/>
          <p:nvPr/>
        </p:nvSpPr>
        <p:spPr>
          <a:xfrm>
            <a:off x="6537960" y="4773168"/>
            <a:ext cx="5029200" cy="146304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同じ配置から取った5帯の値は、別々の条件ではない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補間の計算：入力を囲む4配置の値を、近さの割合で混ぜる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例：A＝55.9m・D＝14m。重みは学習した係数ではなく、入力の位置から毎回計算する割合。中央建物は高さ50mのまま。</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36</a:t>
            </a:r>
            <a:endParaRPr lang="en-US" sz="1100" dirty="0"/>
          </a:p>
        </p:txBody>
      </p:sp>
      <p:sp>
        <p:nvSpPr>
          <p:cNvPr id="10" name="Shape 8"/>
          <p:cNvSpPr/>
          <p:nvPr/>
        </p:nvSpPr>
        <p:spPr>
          <a:xfrm>
            <a:off x="457200" y="1481328"/>
            <a:ext cx="6400800" cy="886968"/>
          </a:xfrm>
          <a:prstGeom prst="roundRect">
            <a:avLst>
              <a:gd name="adj" fmla="val 5155"/>
            </a:avLst>
          </a:prstGeom>
          <a:solidFill>
            <a:srgbClr val="F3F5F8"/>
          </a:solidFill>
          <a:ln w="9525">
            <a:solidFill>
              <a:srgbClr val="E1E5EA"/>
            </a:solidFill>
            <a:prstDash val="solid"/>
          </a:ln>
        </p:spPr>
      </p:sp>
      <p:sp>
        <p:nvSpPr>
          <p:cNvPr id="11" name="Shape 9"/>
          <p:cNvSpPr/>
          <p:nvPr/>
        </p:nvSpPr>
        <p:spPr>
          <a:xfrm>
            <a:off x="566928" y="1572768"/>
            <a:ext cx="292608" cy="292608"/>
          </a:xfrm>
          <a:prstGeom prst="ellipse">
            <a:avLst/>
          </a:prstGeom>
          <a:solidFill>
            <a:srgbClr val="1F6F78"/>
          </a:solidFill>
          <a:ln/>
        </p:spPr>
      </p:sp>
      <p:sp>
        <p:nvSpPr>
          <p:cNvPr id="12" name="Text 10"/>
          <p:cNvSpPr txBox="1"/>
          <p:nvPr/>
        </p:nvSpPr>
        <p:spPr>
          <a:xfrm>
            <a:off x="566928" y="157276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3" name="Text 11"/>
          <p:cNvSpPr txBox="1"/>
          <p:nvPr/>
        </p:nvSpPr>
        <p:spPr>
          <a:xfrm>
            <a:off x="960120" y="1536192"/>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入力を囲む4配置を探す</a:t>
            </a:r>
            <a:endParaRPr lang="en-US" sz="1100" dirty="0"/>
          </a:p>
        </p:txBody>
      </p:sp>
      <p:sp>
        <p:nvSpPr>
          <p:cNvPr id="14" name="Text 12"/>
          <p:cNvSpPr txBox="1"/>
          <p:nvPr/>
        </p:nvSpPr>
        <p:spPr>
          <a:xfrm>
            <a:off x="960120" y="1810512"/>
            <a:ext cx="580644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式　</a:t>
            </a:r>
            <a:pPr indent="0" marL="0">
              <a:buNone/>
            </a:pPr>
            <a:r>
              <a:rPr lang="en-US" sz="1100" b="1" dirty="0">
                <a:solidFill>
                  <a:srgbClr val="1B2A44"/>
                </a:solidFill>
                <a:latin typeface="Yu Gothic" pitchFamily="34" charset="0"/>
                <a:ea typeface="Yu Gothic" pitchFamily="34" charset="-122"/>
                <a:cs typeface="Yu Gothic" pitchFamily="34" charset="-120"/>
              </a:rPr>
              <a:t>A</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 ≤ A &lt; A</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，D</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 ≤ D &lt; D</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endParaRPr lang="en-US" sz="1100" dirty="0"/>
          </a:p>
        </p:txBody>
      </p:sp>
      <p:sp>
        <p:nvSpPr>
          <p:cNvPr id="15" name="Text 13"/>
          <p:cNvSpPr txBox="1"/>
          <p:nvPr/>
        </p:nvSpPr>
        <p:spPr>
          <a:xfrm>
            <a:off x="960120" y="2066544"/>
            <a:ext cx="585216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代入 </a:t>
            </a:r>
            <a:pPr indent="0" marL="0">
              <a:buNone/>
            </a:pPr>
            <a:r>
              <a:rPr lang="en-US" sz="1000" b="1" dirty="0">
                <a:solidFill>
                  <a:srgbClr val="C56A2C"/>
                </a:solidFill>
                <a:latin typeface="Yu Gothic" pitchFamily="34" charset="0"/>
                <a:ea typeface="Yu Gothic" pitchFamily="34" charset="-122"/>
                <a:cs typeface="Yu Gothic" pitchFamily="34" charset="-120"/>
              </a:rPr>
              <a:t>50 ≤ 55.9 &lt; 75，10 ≤ 14 &lt; 25 → (50,10)(75,10)(50,25)(75,25)</a:t>
            </a:r>
            <a:endParaRPr lang="en-US" sz="1000" dirty="0"/>
          </a:p>
        </p:txBody>
      </p:sp>
      <p:sp>
        <p:nvSpPr>
          <p:cNvPr id="16" name="Shape 14"/>
          <p:cNvSpPr/>
          <p:nvPr/>
        </p:nvSpPr>
        <p:spPr>
          <a:xfrm>
            <a:off x="457200" y="2450592"/>
            <a:ext cx="6400800" cy="886968"/>
          </a:xfrm>
          <a:prstGeom prst="roundRect">
            <a:avLst>
              <a:gd name="adj" fmla="val 5155"/>
            </a:avLst>
          </a:prstGeom>
          <a:solidFill>
            <a:srgbClr val="FFFFFF"/>
          </a:solidFill>
          <a:ln w="9525">
            <a:solidFill>
              <a:srgbClr val="E1E5EA"/>
            </a:solidFill>
            <a:prstDash val="solid"/>
          </a:ln>
        </p:spPr>
      </p:sp>
      <p:sp>
        <p:nvSpPr>
          <p:cNvPr id="17" name="Shape 15"/>
          <p:cNvSpPr/>
          <p:nvPr/>
        </p:nvSpPr>
        <p:spPr>
          <a:xfrm>
            <a:off x="566928" y="2542032"/>
            <a:ext cx="292608" cy="292608"/>
          </a:xfrm>
          <a:prstGeom prst="ellipse">
            <a:avLst/>
          </a:prstGeom>
          <a:solidFill>
            <a:srgbClr val="1F6F78"/>
          </a:solidFill>
          <a:ln/>
        </p:spPr>
      </p:sp>
      <p:sp>
        <p:nvSpPr>
          <p:cNvPr id="18" name="Text 16"/>
          <p:cNvSpPr txBox="1"/>
          <p:nvPr/>
        </p:nvSpPr>
        <p:spPr>
          <a:xfrm>
            <a:off x="566928" y="254203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9" name="Text 17"/>
          <p:cNvSpPr txBox="1"/>
          <p:nvPr/>
        </p:nvSpPr>
        <p:spPr>
          <a:xfrm>
            <a:off x="960120" y="2505456"/>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区間の中の位置を割合で表す</a:t>
            </a:r>
            <a:endParaRPr lang="en-US" sz="1100" dirty="0"/>
          </a:p>
        </p:txBody>
      </p:sp>
      <p:sp>
        <p:nvSpPr>
          <p:cNvPr id="20" name="Text 18"/>
          <p:cNvSpPr txBox="1"/>
          <p:nvPr/>
        </p:nvSpPr>
        <p:spPr>
          <a:xfrm>
            <a:off x="960120" y="2779776"/>
            <a:ext cx="580644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式　</a:t>
            </a:r>
            <a:pPr indent="0" marL="0">
              <a:buNone/>
            </a:pPr>
            <a:r>
              <a:rPr lang="en-US" sz="1100" b="1" dirty="0">
                <a:solidFill>
                  <a:srgbClr val="1B2A44"/>
                </a:solidFill>
                <a:latin typeface="Yu Gothic" pitchFamily="34" charset="0"/>
                <a:ea typeface="Yu Gothic" pitchFamily="34" charset="-122"/>
                <a:cs typeface="Yu Gothic" pitchFamily="34" charset="-120"/>
              </a:rPr>
              <a:t>u ＝ (A−A</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)/(A</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−A</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)，v ＝ (D−D</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)/(D</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−D</a:t>
            </a:r>
            <a:pPr indent="0" marL="0">
              <a:buNone/>
            </a:pPr>
            <a:r>
              <a:rPr lang="en-US" sz="1100" b="1" baseline="-40000" dirty="0">
                <a:solidFill>
                  <a:srgbClr val="1B2A44"/>
                </a:solidFill>
                <a:latin typeface="Yu Gothic" pitchFamily="34" charset="0"/>
                <a:ea typeface="Yu Gothic" pitchFamily="34" charset="-122"/>
                <a:cs typeface="Yu Gothic" pitchFamily="34" charset="-120"/>
              </a:rPr>
              <a:t>0</a:t>
            </a:r>
            <a:pPr indent="0" marL="0">
              <a:buNone/>
            </a:pPr>
            <a:r>
              <a:rPr lang="en-US" sz="1100" b="1" dirty="0">
                <a:solidFill>
                  <a:srgbClr val="1B2A44"/>
                </a:solidFill>
                <a:latin typeface="Yu Gothic" pitchFamily="34" charset="0"/>
                <a:ea typeface="Yu Gothic" pitchFamily="34" charset="-122"/>
                <a:cs typeface="Yu Gothic" pitchFamily="34" charset="-120"/>
              </a:rPr>
              <a:t>)</a:t>
            </a:r>
            <a:endParaRPr lang="en-US" sz="1100" dirty="0"/>
          </a:p>
        </p:txBody>
      </p:sp>
      <p:sp>
        <p:nvSpPr>
          <p:cNvPr id="21" name="Text 19"/>
          <p:cNvSpPr txBox="1"/>
          <p:nvPr/>
        </p:nvSpPr>
        <p:spPr>
          <a:xfrm>
            <a:off x="960120" y="3035808"/>
            <a:ext cx="585216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代入 </a:t>
            </a:r>
            <a:pPr indent="0" marL="0">
              <a:buNone/>
            </a:pPr>
            <a:r>
              <a:rPr lang="en-US" sz="1000" b="1" dirty="0">
                <a:solidFill>
                  <a:srgbClr val="C56A2C"/>
                </a:solidFill>
                <a:latin typeface="Yu Gothic" pitchFamily="34" charset="0"/>
                <a:ea typeface="Yu Gothic" pitchFamily="34" charset="-122"/>
                <a:cs typeface="Yu Gothic" pitchFamily="34" charset="-120"/>
              </a:rPr>
              <a:t>u ＝ (55.9−50)/25 ＝ 0.236，v ＝ (14−10)/15 ＝ 0.267</a:t>
            </a:r>
            <a:endParaRPr lang="en-US" sz="1000" dirty="0"/>
          </a:p>
        </p:txBody>
      </p:sp>
      <p:sp>
        <p:nvSpPr>
          <p:cNvPr id="22" name="Shape 20"/>
          <p:cNvSpPr/>
          <p:nvPr/>
        </p:nvSpPr>
        <p:spPr>
          <a:xfrm>
            <a:off x="457200" y="3419856"/>
            <a:ext cx="6400800" cy="886968"/>
          </a:xfrm>
          <a:prstGeom prst="roundRect">
            <a:avLst>
              <a:gd name="adj" fmla="val 5155"/>
            </a:avLst>
          </a:prstGeom>
          <a:solidFill>
            <a:srgbClr val="F3F5F8"/>
          </a:solidFill>
          <a:ln w="9525">
            <a:solidFill>
              <a:srgbClr val="E1E5EA"/>
            </a:solidFill>
            <a:prstDash val="solid"/>
          </a:ln>
        </p:spPr>
      </p:sp>
      <p:sp>
        <p:nvSpPr>
          <p:cNvPr id="23" name="Shape 21"/>
          <p:cNvSpPr/>
          <p:nvPr/>
        </p:nvSpPr>
        <p:spPr>
          <a:xfrm>
            <a:off x="566928" y="3511296"/>
            <a:ext cx="292608" cy="292608"/>
          </a:xfrm>
          <a:prstGeom prst="ellipse">
            <a:avLst/>
          </a:prstGeom>
          <a:solidFill>
            <a:srgbClr val="1F6F78"/>
          </a:solidFill>
          <a:ln/>
        </p:spPr>
      </p:sp>
      <p:sp>
        <p:nvSpPr>
          <p:cNvPr id="24" name="Text 22"/>
          <p:cNvSpPr txBox="1"/>
          <p:nvPr/>
        </p:nvSpPr>
        <p:spPr>
          <a:xfrm>
            <a:off x="566928" y="351129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5" name="Text 23"/>
          <p:cNvSpPr txBox="1"/>
          <p:nvPr/>
        </p:nvSpPr>
        <p:spPr>
          <a:xfrm>
            <a:off x="960120" y="3474720"/>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4配置の重みを求める（合計1）</a:t>
            </a:r>
            <a:endParaRPr lang="en-US" sz="1100" dirty="0"/>
          </a:p>
        </p:txBody>
      </p:sp>
      <p:sp>
        <p:nvSpPr>
          <p:cNvPr id="26" name="Text 24"/>
          <p:cNvSpPr txBox="1"/>
          <p:nvPr/>
        </p:nvSpPr>
        <p:spPr>
          <a:xfrm>
            <a:off x="960120" y="3749040"/>
            <a:ext cx="580644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式　</a:t>
            </a:r>
            <a:pPr indent="0" marL="0">
              <a:buNone/>
            </a:pPr>
            <a:r>
              <a:rPr lang="en-US" sz="1100" b="1" dirty="0">
                <a:solidFill>
                  <a:srgbClr val="1B2A44"/>
                </a:solidFill>
                <a:latin typeface="Yu Gothic" pitchFamily="34" charset="0"/>
                <a:ea typeface="Yu Gothic" pitchFamily="34" charset="-122"/>
                <a:cs typeface="Yu Gothic" pitchFamily="34" charset="-120"/>
              </a:rPr>
              <a:t>w</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＝(1−u)(1−v)，w</a:t>
            </a:r>
            <a:pPr indent="0" marL="0">
              <a:buNone/>
            </a:pPr>
            <a:r>
              <a:rPr lang="en-US" sz="1100" b="1" baseline="-40000" dirty="0">
                <a:solidFill>
                  <a:srgbClr val="1B2A44"/>
                </a:solidFill>
                <a:latin typeface="Yu Gothic" pitchFamily="34" charset="0"/>
                <a:ea typeface="Yu Gothic" pitchFamily="34" charset="-122"/>
                <a:cs typeface="Yu Gothic" pitchFamily="34" charset="-120"/>
              </a:rPr>
              <a:t>2</a:t>
            </a:r>
            <a:pPr indent="0" marL="0">
              <a:buNone/>
            </a:pPr>
            <a:r>
              <a:rPr lang="en-US" sz="1100" b="1" dirty="0">
                <a:solidFill>
                  <a:srgbClr val="1B2A44"/>
                </a:solidFill>
                <a:latin typeface="Yu Gothic" pitchFamily="34" charset="0"/>
                <a:ea typeface="Yu Gothic" pitchFamily="34" charset="-122"/>
                <a:cs typeface="Yu Gothic" pitchFamily="34" charset="-120"/>
              </a:rPr>
              <a:t>＝u(1−v)，w</a:t>
            </a:r>
            <a:pPr indent="0" marL="0">
              <a:buNone/>
            </a:pPr>
            <a:r>
              <a:rPr lang="en-US" sz="1100" b="1" baseline="-40000" dirty="0">
                <a:solidFill>
                  <a:srgbClr val="1B2A44"/>
                </a:solidFill>
                <a:latin typeface="Yu Gothic" pitchFamily="34" charset="0"/>
                <a:ea typeface="Yu Gothic" pitchFamily="34" charset="-122"/>
                <a:cs typeface="Yu Gothic" pitchFamily="34" charset="-120"/>
              </a:rPr>
              <a:t>3</a:t>
            </a:r>
            <a:pPr indent="0" marL="0">
              <a:buNone/>
            </a:pPr>
            <a:r>
              <a:rPr lang="en-US" sz="1100" b="1" dirty="0">
                <a:solidFill>
                  <a:srgbClr val="1B2A44"/>
                </a:solidFill>
                <a:latin typeface="Yu Gothic" pitchFamily="34" charset="0"/>
                <a:ea typeface="Yu Gothic" pitchFamily="34" charset="-122"/>
                <a:cs typeface="Yu Gothic" pitchFamily="34" charset="-120"/>
              </a:rPr>
              <a:t>＝(1−u)v，w</a:t>
            </a:r>
            <a:pPr indent="0" marL="0">
              <a:buNone/>
            </a:pPr>
            <a:r>
              <a:rPr lang="en-US" sz="1100" b="1" baseline="-40000" dirty="0">
                <a:solidFill>
                  <a:srgbClr val="1B2A44"/>
                </a:solidFill>
                <a:latin typeface="Yu Gothic" pitchFamily="34" charset="0"/>
                <a:ea typeface="Yu Gothic" pitchFamily="34" charset="-122"/>
                <a:cs typeface="Yu Gothic" pitchFamily="34" charset="-120"/>
              </a:rPr>
              <a:t>4</a:t>
            </a:r>
            <a:pPr indent="0" marL="0">
              <a:buNone/>
            </a:pPr>
            <a:r>
              <a:rPr lang="en-US" sz="1100" b="1" dirty="0">
                <a:solidFill>
                  <a:srgbClr val="1B2A44"/>
                </a:solidFill>
                <a:latin typeface="Yu Gothic" pitchFamily="34" charset="0"/>
                <a:ea typeface="Yu Gothic" pitchFamily="34" charset="-122"/>
                <a:cs typeface="Yu Gothic" pitchFamily="34" charset="-120"/>
              </a:rPr>
              <a:t>＝uv</a:t>
            </a:r>
            <a:endParaRPr lang="en-US" sz="1100" dirty="0"/>
          </a:p>
        </p:txBody>
      </p:sp>
      <p:sp>
        <p:nvSpPr>
          <p:cNvPr id="27" name="Text 25"/>
          <p:cNvSpPr txBox="1"/>
          <p:nvPr/>
        </p:nvSpPr>
        <p:spPr>
          <a:xfrm>
            <a:off x="960120" y="4005072"/>
            <a:ext cx="585216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代入 </a:t>
            </a:r>
            <a:pPr indent="0" marL="0">
              <a:buNone/>
            </a:pPr>
            <a:r>
              <a:rPr lang="en-US" sz="1000" b="1" dirty="0">
                <a:solidFill>
                  <a:srgbClr val="C56A2C"/>
                </a:solidFill>
                <a:latin typeface="Yu Gothic" pitchFamily="34" charset="0"/>
                <a:ea typeface="Yu Gothic" pitchFamily="34" charset="-122"/>
                <a:cs typeface="Yu Gothic" pitchFamily="34" charset="-120"/>
              </a:rPr>
              <a:t>0.560，0.173，0.204，0.063 → 近い(50,10)ほど大きい</a:t>
            </a:r>
            <a:endParaRPr lang="en-US" sz="1000" dirty="0"/>
          </a:p>
        </p:txBody>
      </p:sp>
      <p:sp>
        <p:nvSpPr>
          <p:cNvPr id="28" name="Shape 26"/>
          <p:cNvSpPr/>
          <p:nvPr/>
        </p:nvSpPr>
        <p:spPr>
          <a:xfrm>
            <a:off x="457200" y="4389120"/>
            <a:ext cx="6400800" cy="886968"/>
          </a:xfrm>
          <a:prstGeom prst="roundRect">
            <a:avLst>
              <a:gd name="adj" fmla="val 5155"/>
            </a:avLst>
          </a:prstGeom>
          <a:solidFill>
            <a:srgbClr val="FFFFFF"/>
          </a:solidFill>
          <a:ln w="9525">
            <a:solidFill>
              <a:srgbClr val="E1E5EA"/>
            </a:solidFill>
            <a:prstDash val="solid"/>
          </a:ln>
        </p:spPr>
      </p:sp>
      <p:sp>
        <p:nvSpPr>
          <p:cNvPr id="29" name="Shape 27"/>
          <p:cNvSpPr/>
          <p:nvPr/>
        </p:nvSpPr>
        <p:spPr>
          <a:xfrm>
            <a:off x="566928" y="4480560"/>
            <a:ext cx="292608" cy="292608"/>
          </a:xfrm>
          <a:prstGeom prst="ellipse">
            <a:avLst/>
          </a:prstGeom>
          <a:solidFill>
            <a:srgbClr val="1F6F78"/>
          </a:solidFill>
          <a:ln/>
        </p:spPr>
      </p:sp>
      <p:sp>
        <p:nvSpPr>
          <p:cNvPr id="30" name="Text 28"/>
          <p:cNvSpPr txBox="1"/>
          <p:nvPr/>
        </p:nvSpPr>
        <p:spPr>
          <a:xfrm>
            <a:off x="566928" y="448056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4</a:t>
            </a:r>
            <a:endParaRPr lang="en-US" sz="1100" dirty="0"/>
          </a:p>
        </p:txBody>
      </p:sp>
      <p:sp>
        <p:nvSpPr>
          <p:cNvPr id="31" name="Text 29"/>
          <p:cNvSpPr txBox="1"/>
          <p:nvPr/>
        </p:nvSpPr>
        <p:spPr>
          <a:xfrm>
            <a:off x="960120" y="4443984"/>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帯ごとに重みを掛けて足す</a:t>
            </a:r>
            <a:endParaRPr lang="en-US" sz="1100" dirty="0"/>
          </a:p>
        </p:txBody>
      </p:sp>
      <p:sp>
        <p:nvSpPr>
          <p:cNvPr id="32" name="Text 30"/>
          <p:cNvSpPr txBox="1"/>
          <p:nvPr/>
        </p:nvSpPr>
        <p:spPr>
          <a:xfrm>
            <a:off x="960120" y="4718304"/>
            <a:ext cx="580644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式　</a:t>
            </a:r>
            <a:pPr indent="0" marL="0">
              <a:buNone/>
            </a:pPr>
            <a:r>
              <a:rPr lang="en-US" sz="1100" b="1" dirty="0">
                <a:solidFill>
                  <a:srgbClr val="1B2A44"/>
                </a:solidFill>
                <a:latin typeface="Yu Gothic" pitchFamily="34" charset="0"/>
                <a:ea typeface="Yu Gothic" pitchFamily="34" charset="-122"/>
                <a:cs typeface="Yu Gothic" pitchFamily="34" charset="-120"/>
              </a:rPr>
              <a:t>ŷ</a:t>
            </a:r>
            <a:pPr indent="0" marL="0">
              <a:buNone/>
            </a:pPr>
            <a:r>
              <a:rPr lang="en-US" sz="1100" b="1" baseline="-40000" dirty="0">
                <a:solidFill>
                  <a:srgbClr val="1B2A44"/>
                </a:solidFill>
                <a:latin typeface="Yu Gothic" pitchFamily="34" charset="0"/>
                <a:ea typeface="Yu Gothic" pitchFamily="34" charset="-122"/>
                <a:cs typeface="Yu Gothic" pitchFamily="34" charset="-120"/>
              </a:rPr>
              <a:t>k</a:t>
            </a:r>
            <a:pPr indent="0" marL="0">
              <a:buNone/>
            </a:pPr>
            <a:r>
              <a:rPr lang="en-US" sz="1100" b="1" dirty="0">
                <a:solidFill>
                  <a:srgbClr val="1B2A44"/>
                </a:solidFill>
                <a:latin typeface="Yu Gothic" pitchFamily="34" charset="0"/>
                <a:ea typeface="Yu Gothic" pitchFamily="34" charset="-122"/>
                <a:cs typeface="Yu Gothic" pitchFamily="34" charset="-120"/>
              </a:rPr>
              <a:t> ＝ Σ</a:t>
            </a:r>
            <a:pPr indent="0" marL="0">
              <a:buNone/>
            </a:pPr>
            <a:r>
              <a:rPr lang="en-US" sz="1100" b="1" baseline="-40000" dirty="0">
                <a:solidFill>
                  <a:srgbClr val="1B2A44"/>
                </a:solidFill>
                <a:latin typeface="Yu Gothic" pitchFamily="34" charset="0"/>
                <a:ea typeface="Yu Gothic" pitchFamily="34" charset="-122"/>
                <a:cs typeface="Yu Gothic" pitchFamily="34" charset="-120"/>
              </a:rPr>
              <a:t>c=1</a:t>
            </a:r>
            <a:pPr indent="0" marL="0">
              <a:buNone/>
            </a:pPr>
            <a:r>
              <a:rPr lang="en-US" sz="1100" b="1" baseline="30000" dirty="0">
                <a:solidFill>
                  <a:srgbClr val="1B2A44"/>
                </a:solidFill>
                <a:latin typeface="Yu Gothic" pitchFamily="34" charset="0"/>
                <a:ea typeface="Yu Gothic" pitchFamily="34" charset="-122"/>
                <a:cs typeface="Yu Gothic" pitchFamily="34" charset="-120"/>
              </a:rPr>
              <a:t>4</a:t>
            </a:r>
            <a:pPr indent="0" marL="0">
              <a:buNone/>
            </a:pPr>
            <a:r>
              <a:rPr lang="en-US" sz="1100" b="1" dirty="0">
                <a:solidFill>
                  <a:srgbClr val="1B2A44"/>
                </a:solidFill>
                <a:latin typeface="Yu Gothic" pitchFamily="34" charset="0"/>
                <a:ea typeface="Yu Gothic" pitchFamily="34" charset="-122"/>
                <a:cs typeface="Yu Gothic" pitchFamily="34" charset="-120"/>
              </a:rPr>
              <a:t> w</a:t>
            </a:r>
            <a:pPr indent="0" marL="0">
              <a:buNone/>
            </a:pPr>
            <a:r>
              <a:rPr lang="en-US" sz="1100" b="1" baseline="-40000" dirty="0">
                <a:solidFill>
                  <a:srgbClr val="1B2A44"/>
                </a:solidFill>
                <a:latin typeface="Yu Gothic" pitchFamily="34" charset="0"/>
                <a:ea typeface="Yu Gothic" pitchFamily="34" charset="-122"/>
                <a:cs typeface="Yu Gothic" pitchFamily="34" charset="-120"/>
              </a:rPr>
              <a:t>c</a:t>
            </a:r>
            <a:pPr indent="0" marL="0">
              <a:buNone/>
            </a:pPr>
            <a:r>
              <a:rPr lang="en-US" sz="1100" b="1" dirty="0">
                <a:solidFill>
                  <a:srgbClr val="1B2A44"/>
                </a:solidFill>
                <a:latin typeface="Yu Gothic" pitchFamily="34" charset="0"/>
                <a:ea typeface="Yu Gothic" pitchFamily="34" charset="-122"/>
                <a:cs typeface="Yu Gothic" pitchFamily="34" charset="-120"/>
              </a:rPr>
              <a:t> × y</a:t>
            </a:r>
            <a:pPr indent="0" marL="0">
              <a:buNone/>
            </a:pPr>
            <a:r>
              <a:rPr lang="en-US" sz="1100" b="1" baseline="-40000" dirty="0">
                <a:solidFill>
                  <a:srgbClr val="1B2A44"/>
                </a:solidFill>
                <a:latin typeface="Yu Gothic" pitchFamily="34" charset="0"/>
                <a:ea typeface="Yu Gothic" pitchFamily="34" charset="-122"/>
                <a:cs typeface="Yu Gothic" pitchFamily="34" charset="-120"/>
              </a:rPr>
              <a:t>k</a:t>
            </a:r>
            <a:pPr indent="0" marL="0">
              <a:buNone/>
            </a:pPr>
            <a:r>
              <a:rPr lang="en-US" sz="1100" b="1" dirty="0">
                <a:solidFill>
                  <a:srgbClr val="1B2A44"/>
                </a:solidFill>
                <a:latin typeface="Yu Gothic" pitchFamily="34" charset="0"/>
                <a:ea typeface="Yu Gothic" pitchFamily="34" charset="-122"/>
                <a:cs typeface="Yu Gothic" pitchFamily="34" charset="-120"/>
              </a:rPr>
              <a:t>(隅c)</a:t>
            </a:r>
            <a:endParaRPr lang="en-US" sz="1100" dirty="0"/>
          </a:p>
        </p:txBody>
      </p:sp>
      <p:sp>
        <p:nvSpPr>
          <p:cNvPr id="33" name="Text 31"/>
          <p:cNvSpPr txBox="1"/>
          <p:nvPr/>
        </p:nvSpPr>
        <p:spPr>
          <a:xfrm>
            <a:off x="960120" y="4974336"/>
            <a:ext cx="585216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代入 </a:t>
            </a:r>
            <a:pPr indent="0" marL="0">
              <a:buNone/>
            </a:pPr>
            <a:r>
              <a:rPr lang="en-US" sz="850" b="1" dirty="0">
                <a:solidFill>
                  <a:srgbClr val="C56A2C"/>
                </a:solidFill>
                <a:latin typeface="Yu Gothic" pitchFamily="34" charset="0"/>
                <a:ea typeface="Yu Gothic" pitchFamily="34" charset="-122"/>
                <a:cs typeface="Yu Gothic" pitchFamily="34" charset="-120"/>
              </a:rPr>
              <a:t>帯1：0.560×337.34＋0.173×319.89＋0.204×589.57＋0.063×535.49＝398.18</a:t>
            </a:r>
            <a:endParaRPr lang="en-US" sz="850" dirty="0"/>
          </a:p>
        </p:txBody>
      </p:sp>
      <p:sp>
        <p:nvSpPr>
          <p:cNvPr id="34" name="Shape 32"/>
          <p:cNvSpPr/>
          <p:nvPr/>
        </p:nvSpPr>
        <p:spPr>
          <a:xfrm>
            <a:off x="457200" y="5358384"/>
            <a:ext cx="6400800" cy="886968"/>
          </a:xfrm>
          <a:prstGeom prst="roundRect">
            <a:avLst>
              <a:gd name="adj" fmla="val 5155"/>
            </a:avLst>
          </a:prstGeom>
          <a:solidFill>
            <a:srgbClr val="F3F5F8"/>
          </a:solidFill>
          <a:ln w="9525">
            <a:solidFill>
              <a:srgbClr val="E1E5EA"/>
            </a:solidFill>
            <a:prstDash val="solid"/>
          </a:ln>
        </p:spPr>
      </p:sp>
      <p:sp>
        <p:nvSpPr>
          <p:cNvPr id="35" name="Shape 33"/>
          <p:cNvSpPr/>
          <p:nvPr/>
        </p:nvSpPr>
        <p:spPr>
          <a:xfrm>
            <a:off x="566928" y="5449824"/>
            <a:ext cx="292608" cy="292608"/>
          </a:xfrm>
          <a:prstGeom prst="ellipse">
            <a:avLst/>
          </a:prstGeom>
          <a:solidFill>
            <a:srgbClr val="1F6F78"/>
          </a:solidFill>
          <a:ln/>
        </p:spPr>
      </p:sp>
      <p:sp>
        <p:nvSpPr>
          <p:cNvPr id="36" name="Text 34"/>
          <p:cNvSpPr txBox="1"/>
          <p:nvPr/>
        </p:nvSpPr>
        <p:spPr>
          <a:xfrm>
            <a:off x="566928" y="54498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5</a:t>
            </a:r>
            <a:endParaRPr lang="en-US" sz="1100" dirty="0"/>
          </a:p>
        </p:txBody>
      </p:sp>
      <p:sp>
        <p:nvSpPr>
          <p:cNvPr id="37" name="Text 35"/>
          <p:cNvSpPr txBox="1"/>
          <p:nvPr/>
        </p:nvSpPr>
        <p:spPr>
          <a:xfrm>
            <a:off x="960120" y="5413248"/>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南面全体の平均</a:t>
            </a:r>
            <a:endParaRPr lang="en-US" sz="1100" dirty="0"/>
          </a:p>
        </p:txBody>
      </p:sp>
      <p:sp>
        <p:nvSpPr>
          <p:cNvPr id="38" name="Text 36"/>
          <p:cNvSpPr txBox="1"/>
          <p:nvPr/>
        </p:nvSpPr>
        <p:spPr>
          <a:xfrm>
            <a:off x="960120" y="5687568"/>
            <a:ext cx="580644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式　</a:t>
            </a:r>
            <a:pPr indent="0" marL="0">
              <a:buNone/>
            </a:pPr>
            <a:r>
              <a:rPr lang="en-US" sz="1100" b="1" dirty="0">
                <a:solidFill>
                  <a:srgbClr val="1B2A44"/>
                </a:solidFill>
                <a:latin typeface="Yu Gothic" pitchFamily="34" charset="0"/>
                <a:ea typeface="Yu Gothic" pitchFamily="34" charset="-122"/>
                <a:cs typeface="Yu Gothic" pitchFamily="34" charset="-120"/>
              </a:rPr>
              <a:t>ŷ</a:t>
            </a:r>
            <a:pPr indent="0" marL="0">
              <a:buNone/>
            </a:pPr>
            <a:r>
              <a:rPr lang="en-US" sz="1100" b="1" baseline="-40000" dirty="0">
                <a:solidFill>
                  <a:srgbClr val="1B2A44"/>
                </a:solidFill>
                <a:latin typeface="Yu Gothic" pitchFamily="34" charset="0"/>
                <a:ea typeface="Yu Gothic" pitchFamily="34" charset="-122"/>
                <a:cs typeface="Yu Gothic" pitchFamily="34" charset="-120"/>
              </a:rPr>
              <a:t>平均</a:t>
            </a:r>
            <a:pPr indent="0" marL="0">
              <a:buNone/>
            </a:pPr>
            <a:r>
              <a:rPr lang="en-US" sz="1100" b="1" dirty="0">
                <a:solidFill>
                  <a:srgbClr val="1B2A44"/>
                </a:solidFill>
                <a:latin typeface="Yu Gothic" pitchFamily="34" charset="0"/>
                <a:ea typeface="Yu Gothic" pitchFamily="34" charset="-122"/>
                <a:cs typeface="Yu Gothic" pitchFamily="34" charset="-120"/>
              </a:rPr>
              <a:t> ＝ (ŷ</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＋…＋ŷ</a:t>
            </a:r>
            <a:pPr indent="0" marL="0">
              <a:buNone/>
            </a:pPr>
            <a:r>
              <a:rPr lang="en-US" sz="1100" b="1" baseline="-40000" dirty="0">
                <a:solidFill>
                  <a:srgbClr val="1B2A44"/>
                </a:solidFill>
                <a:latin typeface="Yu Gothic" pitchFamily="34" charset="0"/>
                <a:ea typeface="Yu Gothic" pitchFamily="34" charset="-122"/>
                <a:cs typeface="Yu Gothic" pitchFamily="34" charset="-120"/>
              </a:rPr>
              <a:t>5</a:t>
            </a:r>
            <a:pPr indent="0" marL="0">
              <a:buNone/>
            </a:pPr>
            <a:r>
              <a:rPr lang="en-US" sz="1100" b="1" dirty="0">
                <a:solidFill>
                  <a:srgbClr val="1B2A44"/>
                </a:solidFill>
                <a:latin typeface="Yu Gothic" pitchFamily="34" charset="0"/>
                <a:ea typeface="Yu Gothic" pitchFamily="34" charset="-122"/>
                <a:cs typeface="Yu Gothic" pitchFamily="34" charset="-120"/>
              </a:rPr>
              <a:t>) / 5</a:t>
            </a:r>
            <a:endParaRPr lang="en-US" sz="1100" dirty="0"/>
          </a:p>
        </p:txBody>
      </p:sp>
      <p:sp>
        <p:nvSpPr>
          <p:cNvPr id="39" name="Text 37"/>
          <p:cNvSpPr txBox="1"/>
          <p:nvPr/>
        </p:nvSpPr>
        <p:spPr>
          <a:xfrm>
            <a:off x="960120" y="5943600"/>
            <a:ext cx="5852160" cy="256032"/>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代入 </a:t>
            </a:r>
            <a:pPr indent="0" marL="0">
              <a:buNone/>
            </a:pPr>
            <a:r>
              <a:rPr lang="en-US" sz="1000" b="1" dirty="0">
                <a:solidFill>
                  <a:srgbClr val="C56A2C"/>
                </a:solidFill>
                <a:latin typeface="Yu Gothic" pitchFamily="34" charset="0"/>
                <a:ea typeface="Yu Gothic" pitchFamily="34" charset="-122"/>
                <a:cs typeface="Yu Gothic" pitchFamily="34" charset="-120"/>
              </a:rPr>
              <a:t>(398.18＋416.13＋449.40＋548.25＋794.48) / 5 ＝ 521.29</a:t>
            </a:r>
            <a:endParaRPr lang="en-US" sz="1000" dirty="0"/>
          </a:p>
        </p:txBody>
      </p:sp>
      <p:sp>
        <p:nvSpPr>
          <p:cNvPr id="40" name="Text 38"/>
          <p:cNvSpPr txBox="1"/>
          <p:nvPr/>
        </p:nvSpPr>
        <p:spPr>
          <a:xfrm>
            <a:off x="7086600" y="1481328"/>
            <a:ext cx="466344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保存値（kWh/m²）と予測結果</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086600" y="1810512"/>
          <a:ext cx="4663440" cy="914400"/>
        </p:xfrm>
        <a:graphic>
          <a:graphicData uri="http://schemas.openxmlformats.org/drawingml/2006/table">
            <a:tbl>
              <a:tblPr/>
              <a:tblGrid>
                <a:gridCol w="777240"/>
                <a:gridCol w="758952"/>
                <a:gridCol w="758952"/>
                <a:gridCol w="758952"/>
                <a:gridCol w="758952"/>
                <a:gridCol w="850392"/>
              </a:tblGrid>
              <a:tr h="310896">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帯</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(50,10)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(75,10)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(50,25)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(75,25)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予測</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950" b="1" dirty="0">
                          <a:solidFill>
                            <a:srgbClr val="1F6F78"/>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F6F78"/>
                          </a:solidFill>
                          <a:latin typeface="Yu Gothic" pitchFamily="34" charset="0"/>
                          <a:ea typeface="Yu Gothic" pitchFamily="34" charset="-122"/>
                          <a:cs typeface="Yu Gothic" pitchFamily="34" charset="-120"/>
                        </a:rPr>
                        <a:t>0.560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F6F78"/>
                          </a:solidFill>
                          <a:latin typeface="Yu Gothic" pitchFamily="34" charset="0"/>
                          <a:ea typeface="Yu Gothic" pitchFamily="34" charset="-122"/>
                          <a:cs typeface="Yu Gothic" pitchFamily="34" charset="-120"/>
                        </a:rPr>
                        <a:t>0.173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F6F78"/>
                          </a:solidFill>
                          <a:latin typeface="Yu Gothic" pitchFamily="34" charset="0"/>
                          <a:ea typeface="Yu Gothic" pitchFamily="34" charset="-122"/>
                          <a:cs typeface="Yu Gothic" pitchFamily="34" charset="-120"/>
                        </a:rPr>
                        <a:t>0.204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F6F78"/>
                          </a:solidFill>
                          <a:latin typeface="Yu Gothic" pitchFamily="34" charset="0"/>
                          <a:ea typeface="Yu Gothic" pitchFamily="34" charset="-122"/>
                          <a:cs typeface="Yu Gothic" pitchFamily="34" charset="-120"/>
                        </a:rPr>
                        <a:t>0.063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6F78"/>
                          </a:solidFill>
                          <a:latin typeface="Yu Gothic" pitchFamily="34" charset="0"/>
                          <a:ea typeface="Yu Gothic" pitchFamily="34" charset="-122"/>
                          <a:cs typeface="Yu Gothic" pitchFamily="34" charset="-120"/>
                        </a:rPr>
                        <a:t>合計1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0〜10m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337.34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319.89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589.57</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535.49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398.18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10〜20m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351.22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320.20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631.33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561.20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416.13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20〜30m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382.57</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323.60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697.92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585.75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449.40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30〜40m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485.55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348.50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873.24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603.63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548.25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40〜50m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867.14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357.95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1006.93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660.25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794.48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521.29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42" name="Shape 39"/>
          <p:cNvSpPr/>
          <p:nvPr/>
        </p:nvSpPr>
        <p:spPr>
          <a:xfrm>
            <a:off x="7086600" y="4480560"/>
            <a:ext cx="4663440" cy="1828800"/>
          </a:xfrm>
          <a:prstGeom prst="roundRect">
            <a:avLst>
              <a:gd name="adj" fmla="val 3000"/>
            </a:avLst>
          </a:prstGeom>
          <a:solidFill>
            <a:srgbClr val="FBEBDA"/>
          </a:solidFill>
          <a:ln/>
        </p:spPr>
      </p:sp>
      <p:sp>
        <p:nvSpPr>
          <p:cNvPr id="43" name="Text 40"/>
          <p:cNvSpPr txBox="1"/>
          <p:nvPr/>
        </p:nvSpPr>
        <p:spPr>
          <a:xfrm>
            <a:off x="7223760" y="4572000"/>
            <a:ext cx="43891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44" name="Text 41"/>
          <p:cNvSpPr txBox="1"/>
          <p:nvPr/>
        </p:nvSpPr>
        <p:spPr>
          <a:xfrm>
            <a:off x="7223760" y="4828032"/>
            <a:ext cx="4434840" cy="1444752"/>
          </a:xfrm>
          <a:prstGeom prst="rect">
            <a:avLst/>
          </a:prstGeom>
          <a:noFill/>
          <a:ln/>
        </p:spPr>
        <p:txBody>
          <a:bodyPr wrap="square" lIns="508" tIns="508" rIns="508" bIns="508" rtlCol="0" anchor="t"/>
          <a:lstStyle/>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5帯とも同じ4つの重みを使い、掛ける保存値だけを変える</a:t>
            </a:r>
            <a:endParaRPr lang="en-US" sz="950" dirty="0"/>
          </a:p>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保存データと式からの計算値。この条件でSEBEは実行していないので、この入力での誤差は不明</a:t>
            </a:r>
            <a:endParaRPr lang="en-US" sz="950" dirty="0"/>
          </a:p>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局所改良版は A 25〜50m 用なので、A＝55.9m では広範囲版を使う</a:t>
            </a:r>
            <a:endParaRPr lang="en-US" sz="9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精度の確かめ方：予測とSEBEの差を、使っていない配置で数える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代表値：検証で最も外れた A 35m・D 15m・30〜40m帯（SEBE 1,014.20，予測 861.26 kWh/m²）で式に代入する。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36</a:t>
            </a:r>
            <a:endParaRPr lang="en-US" sz="1100" dirty="0"/>
          </a:p>
        </p:txBody>
      </p:sp>
      <p:sp>
        <p:nvSpPr>
          <p:cNvPr id="10" name="Shape 8"/>
          <p:cNvSpPr/>
          <p:nvPr/>
        </p:nvSpPr>
        <p:spPr>
          <a:xfrm>
            <a:off x="457200" y="1481328"/>
            <a:ext cx="1828800" cy="731520"/>
          </a:xfrm>
          <a:prstGeom prst="chevron">
            <a:avLst/>
          </a:prstGeom>
          <a:solidFill>
            <a:srgbClr val="1B2A44"/>
          </a:solidFill>
          <a:ln/>
        </p:spPr>
      </p:sp>
      <p:sp>
        <p:nvSpPr>
          <p:cNvPr id="11" name="Text 9"/>
          <p:cNvSpPr txBox="1"/>
          <p:nvPr/>
        </p:nvSpPr>
        <p:spPr>
          <a:xfrm>
            <a:off x="73152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731520"/>
          </a:xfrm>
          <a:prstGeom prst="chevron">
            <a:avLst/>
          </a:prstGeom>
          <a:solidFill>
            <a:srgbClr val="1F6F78"/>
          </a:solidFill>
          <a:ln/>
        </p:spPr>
      </p:sp>
      <p:sp>
        <p:nvSpPr>
          <p:cNvPr id="13" name="Text 11"/>
          <p:cNvSpPr txBox="1"/>
          <p:nvPr/>
        </p:nvSpPr>
        <p:spPr>
          <a:xfrm>
            <a:off x="2624328"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p:txBody>
      </p:sp>
      <p:sp>
        <p:nvSpPr>
          <p:cNvPr id="14" name="Shape 12"/>
          <p:cNvSpPr/>
          <p:nvPr/>
        </p:nvSpPr>
        <p:spPr>
          <a:xfrm>
            <a:off x="4242816" y="1481328"/>
            <a:ext cx="1828800" cy="731520"/>
          </a:xfrm>
          <a:prstGeom prst="chevron">
            <a:avLst/>
          </a:prstGeom>
          <a:solidFill>
            <a:srgbClr val="35507D"/>
          </a:solidFill>
          <a:ln/>
        </p:spPr>
      </p:sp>
      <p:sp>
        <p:nvSpPr>
          <p:cNvPr id="15" name="Text 13"/>
          <p:cNvSpPr txBox="1"/>
          <p:nvPr/>
        </p:nvSpPr>
        <p:spPr>
          <a:xfrm>
            <a:off x="4517136"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731520"/>
          </a:xfrm>
          <a:prstGeom prst="chevron">
            <a:avLst/>
          </a:prstGeom>
          <a:solidFill>
            <a:srgbClr val="E8934D"/>
          </a:solidFill>
          <a:ln/>
        </p:spPr>
      </p:sp>
      <p:sp>
        <p:nvSpPr>
          <p:cNvPr id="17" name="Text 15"/>
          <p:cNvSpPr txBox="1"/>
          <p:nvPr/>
        </p:nvSpPr>
        <p:spPr>
          <a:xfrm>
            <a:off x="6409944"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731520"/>
          </a:xfrm>
          <a:prstGeom prst="chevron">
            <a:avLst/>
          </a:prstGeom>
          <a:solidFill>
            <a:srgbClr val="C56A2C"/>
          </a:solidFill>
          <a:ln/>
        </p:spPr>
      </p:sp>
      <p:sp>
        <p:nvSpPr>
          <p:cNvPr id="19" name="Text 17"/>
          <p:cNvSpPr txBox="1"/>
          <p:nvPr/>
        </p:nvSpPr>
        <p:spPr>
          <a:xfrm>
            <a:off x="8302752"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731520"/>
          </a:xfrm>
          <a:prstGeom prst="chevron">
            <a:avLst/>
          </a:prstGeom>
          <a:solidFill>
            <a:srgbClr val="4C8C6B"/>
          </a:solidFill>
          <a:ln/>
        </p:spPr>
      </p:sp>
      <p:sp>
        <p:nvSpPr>
          <p:cNvPr id="21" name="Text 19"/>
          <p:cNvSpPr txBox="1"/>
          <p:nvPr/>
        </p:nvSpPr>
        <p:spPr>
          <a:xfrm>
            <a:off x="1019556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377440"/>
            <a:ext cx="6400800" cy="713232"/>
          </a:xfrm>
          <a:prstGeom prst="roundRect">
            <a:avLst>
              <a:gd name="adj" fmla="val 6410"/>
            </a:avLst>
          </a:prstGeom>
          <a:solidFill>
            <a:srgbClr val="F3F5F8"/>
          </a:solidFill>
          <a:ln w="9525">
            <a:solidFill>
              <a:srgbClr val="E1E5EA"/>
            </a:solidFill>
            <a:prstDash val="solid"/>
          </a:ln>
        </p:spPr>
      </p:sp>
      <p:sp>
        <p:nvSpPr>
          <p:cNvPr id="23" name="Text 21"/>
          <p:cNvSpPr txBox="1"/>
          <p:nvPr/>
        </p:nvSpPr>
        <p:spPr>
          <a:xfrm>
            <a:off x="566928" y="2423160"/>
            <a:ext cx="1737360" cy="621792"/>
          </a:xfrm>
          <a:prstGeom prst="rect">
            <a:avLst/>
          </a:prstGeom>
          <a:noFill/>
          <a:ln/>
        </p:spPr>
        <p:txBody>
          <a:bodyPr wrap="square" lIns="508" tIns="508" rIns="508" bIns="508" rtlCol="0" anchor="ctr"/>
          <a:lstStyle/>
          <a:p>
            <a:pPr indent="0" marL="0">
              <a:buNone/>
            </a:pPr>
            <a:r>
              <a:rPr lang="en-US" sz="1050" b="1" dirty="0">
                <a:solidFill>
                  <a:srgbClr val="1F6F78"/>
                </a:solidFill>
                <a:latin typeface="Yu Gothic" pitchFamily="34" charset="0"/>
                <a:ea typeface="Yu Gothic" pitchFamily="34" charset="-122"/>
                <a:cs typeface="Yu Gothic" pitchFamily="34" charset="-120"/>
              </a:rPr>
              <a:t>誤差</a:t>
            </a:r>
            <a:endParaRPr lang="en-US" sz="1050" dirty="0"/>
          </a:p>
        </p:txBody>
      </p:sp>
      <p:sp>
        <p:nvSpPr>
          <p:cNvPr id="24" name="Text 22"/>
          <p:cNvSpPr txBox="1"/>
          <p:nvPr/>
        </p:nvSpPr>
        <p:spPr>
          <a:xfrm>
            <a:off x="2331720" y="2432304"/>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5" name="Text 23"/>
          <p:cNvSpPr txBox="1"/>
          <p:nvPr/>
        </p:nvSpPr>
        <p:spPr>
          <a:xfrm>
            <a:off x="2331720" y="2743200"/>
            <a:ext cx="448056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861.26 − 1,014.20 ＝ −152.94（マイナス＝低く予測）</a:t>
            </a:r>
            <a:endParaRPr lang="en-US" sz="1000" dirty="0"/>
          </a:p>
        </p:txBody>
      </p:sp>
      <p:sp>
        <p:nvSpPr>
          <p:cNvPr id="26" name="Shape 24"/>
          <p:cNvSpPr/>
          <p:nvPr/>
        </p:nvSpPr>
        <p:spPr>
          <a:xfrm>
            <a:off x="457200" y="3163824"/>
            <a:ext cx="6400800" cy="713232"/>
          </a:xfrm>
          <a:prstGeom prst="roundRect">
            <a:avLst>
              <a:gd name="adj" fmla="val 6410"/>
            </a:avLst>
          </a:prstGeom>
          <a:solidFill>
            <a:srgbClr val="FFFFFF"/>
          </a:solidFill>
          <a:ln w="9525">
            <a:solidFill>
              <a:srgbClr val="E1E5EA"/>
            </a:solidFill>
            <a:prstDash val="solid"/>
          </a:ln>
        </p:spPr>
      </p:sp>
      <p:sp>
        <p:nvSpPr>
          <p:cNvPr id="27" name="Text 25"/>
          <p:cNvSpPr txBox="1"/>
          <p:nvPr/>
        </p:nvSpPr>
        <p:spPr>
          <a:xfrm>
            <a:off x="566928" y="3209544"/>
            <a:ext cx="1737360" cy="621792"/>
          </a:xfrm>
          <a:prstGeom prst="rect">
            <a:avLst/>
          </a:prstGeom>
          <a:noFill/>
          <a:ln/>
        </p:spPr>
        <p:txBody>
          <a:bodyPr wrap="square" lIns="508" tIns="508" rIns="508" bIns="508" rtlCol="0" anchor="ctr"/>
          <a:lstStyle/>
          <a:p>
            <a:pPr indent="0" marL="0">
              <a:buNone/>
            </a:pPr>
            <a:r>
              <a:rPr lang="en-US" sz="1050" b="1" dirty="0">
                <a:solidFill>
                  <a:srgbClr val="1F6F78"/>
                </a:solidFill>
                <a:latin typeface="Yu Gothic" pitchFamily="34" charset="0"/>
                <a:ea typeface="Yu Gothic" pitchFamily="34" charset="-122"/>
                <a:cs typeface="Yu Gothic" pitchFamily="34" charset="-120"/>
              </a:rPr>
              <a:t>絶対誤差</a:t>
            </a:r>
            <a:endParaRPr lang="en-US" sz="1050" dirty="0"/>
          </a:p>
        </p:txBody>
      </p:sp>
      <p:sp>
        <p:nvSpPr>
          <p:cNvPr id="28" name="Text 26"/>
          <p:cNvSpPr txBox="1"/>
          <p:nvPr/>
        </p:nvSpPr>
        <p:spPr>
          <a:xfrm>
            <a:off x="2331720" y="3218688"/>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9" name="Text 27"/>
          <p:cNvSpPr txBox="1"/>
          <p:nvPr/>
        </p:nvSpPr>
        <p:spPr>
          <a:xfrm>
            <a:off x="2331720" y="3529584"/>
            <a:ext cx="448056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|−152.94| ＝ 152.94 kWh/m²</a:t>
            </a:r>
            <a:endParaRPr lang="en-US" sz="1000" dirty="0"/>
          </a:p>
        </p:txBody>
      </p:sp>
      <p:sp>
        <p:nvSpPr>
          <p:cNvPr id="30" name="Shape 28"/>
          <p:cNvSpPr/>
          <p:nvPr/>
        </p:nvSpPr>
        <p:spPr>
          <a:xfrm>
            <a:off x="457200" y="3950208"/>
            <a:ext cx="6400800" cy="713232"/>
          </a:xfrm>
          <a:prstGeom prst="roundRect">
            <a:avLst>
              <a:gd name="adj" fmla="val 6410"/>
            </a:avLst>
          </a:prstGeom>
          <a:solidFill>
            <a:srgbClr val="F3F5F8"/>
          </a:solidFill>
          <a:ln w="9525">
            <a:solidFill>
              <a:srgbClr val="E1E5EA"/>
            </a:solidFill>
            <a:prstDash val="solid"/>
          </a:ln>
        </p:spPr>
      </p:sp>
      <p:sp>
        <p:nvSpPr>
          <p:cNvPr id="31" name="Text 29"/>
          <p:cNvSpPr txBox="1"/>
          <p:nvPr/>
        </p:nvSpPr>
        <p:spPr>
          <a:xfrm>
            <a:off x="566928" y="3995928"/>
            <a:ext cx="1737360" cy="621792"/>
          </a:xfrm>
          <a:prstGeom prst="rect">
            <a:avLst/>
          </a:prstGeom>
          <a:noFill/>
          <a:ln/>
        </p:spPr>
        <p:txBody>
          <a:bodyPr wrap="square" lIns="508" tIns="508" rIns="508" bIns="508" rtlCol="0" anchor="ctr"/>
          <a:lstStyle/>
          <a:p>
            <a:pPr indent="0" marL="0">
              <a:buNone/>
            </a:pPr>
            <a:r>
              <a:rPr lang="en-US" sz="1050" b="1" dirty="0">
                <a:solidFill>
                  <a:srgbClr val="1F6F78"/>
                </a:solidFill>
                <a:latin typeface="Yu Gothic" pitchFamily="34" charset="0"/>
                <a:ea typeface="Yu Gothic" pitchFamily="34" charset="-122"/>
                <a:cs typeface="Yu Gothic" pitchFamily="34" charset="-120"/>
              </a:rPr>
              <a:t>誤差率</a:t>
            </a:r>
            <a:endParaRPr lang="en-US" sz="1050" dirty="0"/>
          </a:p>
        </p:txBody>
      </p:sp>
      <p:sp>
        <p:nvSpPr>
          <p:cNvPr id="32" name="Text 30"/>
          <p:cNvSpPr txBox="1"/>
          <p:nvPr/>
        </p:nvSpPr>
        <p:spPr>
          <a:xfrm>
            <a:off x="2331720" y="4005072"/>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|ŷ − y| ÷ y × 100</a:t>
            </a:r>
            <a:endParaRPr lang="en-US" sz="1150" dirty="0"/>
          </a:p>
        </p:txBody>
      </p:sp>
      <p:sp>
        <p:nvSpPr>
          <p:cNvPr id="33" name="Text 31"/>
          <p:cNvSpPr txBox="1"/>
          <p:nvPr/>
        </p:nvSpPr>
        <p:spPr>
          <a:xfrm>
            <a:off x="2331720" y="4315968"/>
            <a:ext cx="448056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152.94 ÷ 1,014.20 × 100 ＝ 15.08 %</a:t>
            </a:r>
            <a:endParaRPr lang="en-US" sz="1000" dirty="0"/>
          </a:p>
        </p:txBody>
      </p:sp>
      <p:sp>
        <p:nvSpPr>
          <p:cNvPr id="34" name="Shape 32"/>
          <p:cNvSpPr/>
          <p:nvPr/>
        </p:nvSpPr>
        <p:spPr>
          <a:xfrm>
            <a:off x="457200" y="4736592"/>
            <a:ext cx="6400800" cy="713232"/>
          </a:xfrm>
          <a:prstGeom prst="roundRect">
            <a:avLst>
              <a:gd name="adj" fmla="val 6410"/>
            </a:avLst>
          </a:prstGeom>
          <a:solidFill>
            <a:srgbClr val="FFFFFF"/>
          </a:solidFill>
          <a:ln w="9525">
            <a:solidFill>
              <a:srgbClr val="E1E5EA"/>
            </a:solidFill>
            <a:prstDash val="solid"/>
          </a:ln>
        </p:spPr>
      </p:sp>
      <p:sp>
        <p:nvSpPr>
          <p:cNvPr id="35" name="Text 33"/>
          <p:cNvSpPr txBox="1"/>
          <p:nvPr/>
        </p:nvSpPr>
        <p:spPr>
          <a:xfrm>
            <a:off x="566928" y="4782312"/>
            <a:ext cx="1737360" cy="621792"/>
          </a:xfrm>
          <a:prstGeom prst="rect">
            <a:avLst/>
          </a:prstGeom>
          <a:noFill/>
          <a:ln/>
        </p:spPr>
        <p:txBody>
          <a:bodyPr wrap="square" lIns="508" tIns="508" rIns="508" bIns="508" rtlCol="0" anchor="ctr"/>
          <a:lstStyle/>
          <a:p>
            <a:pPr indent="0" marL="0">
              <a:buNone/>
            </a:pPr>
            <a:r>
              <a:rPr lang="en-US" sz="1050" b="1" dirty="0">
                <a:solidFill>
                  <a:srgbClr val="1F6F78"/>
                </a:solidFill>
                <a:latin typeface="Yu Gothic" pitchFamily="34" charset="0"/>
                <a:ea typeface="Yu Gothic" pitchFamily="34" charset="-122"/>
                <a:cs typeface="Yu Gothic" pitchFamily="34" charset="-120"/>
              </a:rPr>
              <a:t>MAE（平均絶対誤差）</a:t>
            </a:r>
            <a:endParaRPr lang="en-US" sz="1050" dirty="0"/>
          </a:p>
        </p:txBody>
      </p:sp>
      <p:sp>
        <p:nvSpPr>
          <p:cNvPr id="36" name="Text 34"/>
          <p:cNvSpPr txBox="1"/>
          <p:nvPr/>
        </p:nvSpPr>
        <p:spPr>
          <a:xfrm>
            <a:off x="2331720" y="4791456"/>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a:t>
            </a:r>
            <a:endParaRPr lang="en-US" sz="1150" dirty="0"/>
          </a:p>
        </p:txBody>
      </p:sp>
      <p:sp>
        <p:nvSpPr>
          <p:cNvPr id="37" name="Text 35"/>
          <p:cNvSpPr txBox="1"/>
          <p:nvPr/>
        </p:nvSpPr>
        <p:spPr>
          <a:xfrm>
            <a:off x="2331720" y="5102352"/>
            <a:ext cx="448056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検証8配置：(|e</a:t>
            </a:r>
            <a:pPr indent="0" marL="0">
              <a:buNone/>
            </a:pPr>
            <a:r>
              <a:rPr lang="en-US" sz="1000" b="1" baseline="-40000" dirty="0">
                <a:solidFill>
                  <a:srgbClr val="C56A2C"/>
                </a:solidFill>
                <a:latin typeface="Yu Gothic" pitchFamily="34" charset="0"/>
                <a:ea typeface="Yu Gothic" pitchFamily="34" charset="-122"/>
                <a:cs typeface="Yu Gothic" pitchFamily="34" charset="-120"/>
              </a:rPr>
              <a:t>1</a:t>
            </a:r>
            <a:pPr indent="0" marL="0">
              <a:buNone/>
            </a:pPr>
            <a:r>
              <a:rPr lang="en-US" sz="1000" b="1" dirty="0">
                <a:solidFill>
                  <a:srgbClr val="C56A2C"/>
                </a:solidFill>
                <a:latin typeface="Yu Gothic" pitchFamily="34" charset="0"/>
                <a:ea typeface="Yu Gothic" pitchFamily="34" charset="-122"/>
                <a:cs typeface="Yu Gothic" pitchFamily="34" charset="-120"/>
              </a:rPr>
              <a:t>|＋…＋|e</a:t>
            </a:r>
            <a:pPr indent="0" marL="0">
              <a:buNone/>
            </a:pPr>
            <a:r>
              <a:rPr lang="en-US" sz="1000" b="1" baseline="-40000" dirty="0">
                <a:solidFill>
                  <a:srgbClr val="C56A2C"/>
                </a:solidFill>
                <a:latin typeface="Yu Gothic" pitchFamily="34" charset="0"/>
                <a:ea typeface="Yu Gothic" pitchFamily="34" charset="-122"/>
                <a:cs typeface="Yu Gothic" pitchFamily="34" charset="-120"/>
              </a:rPr>
              <a:t>8</a:t>
            </a:r>
            <a:pPr indent="0" marL="0">
              <a:buNone/>
            </a:pPr>
            <a:r>
              <a:rPr lang="en-US" sz="1000" b="1" dirty="0">
                <a:solidFill>
                  <a:srgbClr val="C56A2C"/>
                </a:solidFill>
                <a:latin typeface="Yu Gothic" pitchFamily="34" charset="0"/>
                <a:ea typeface="Yu Gothic" pitchFamily="34" charset="-122"/>
                <a:cs typeface="Yu Gothic" pitchFamily="34" charset="-120"/>
              </a:rPr>
              <a:t>|) ÷ 8 ＝ 159.92 ÷ 8 ＝ 19.99</a:t>
            </a:r>
            <a:endParaRPr lang="en-US" sz="1000" dirty="0"/>
          </a:p>
        </p:txBody>
      </p:sp>
      <p:sp>
        <p:nvSpPr>
          <p:cNvPr id="38" name="Shape 36"/>
          <p:cNvSpPr/>
          <p:nvPr/>
        </p:nvSpPr>
        <p:spPr>
          <a:xfrm>
            <a:off x="457200" y="5522976"/>
            <a:ext cx="6400800" cy="713232"/>
          </a:xfrm>
          <a:prstGeom prst="roundRect">
            <a:avLst>
              <a:gd name="adj" fmla="val 6410"/>
            </a:avLst>
          </a:prstGeom>
          <a:solidFill>
            <a:srgbClr val="F3F5F8"/>
          </a:solidFill>
          <a:ln w="9525">
            <a:solidFill>
              <a:srgbClr val="E1E5EA"/>
            </a:solidFill>
            <a:prstDash val="solid"/>
          </a:ln>
        </p:spPr>
      </p:sp>
      <p:sp>
        <p:nvSpPr>
          <p:cNvPr id="39" name="Text 37"/>
          <p:cNvSpPr txBox="1"/>
          <p:nvPr/>
        </p:nvSpPr>
        <p:spPr>
          <a:xfrm>
            <a:off x="566928" y="5568696"/>
            <a:ext cx="1737360" cy="621792"/>
          </a:xfrm>
          <a:prstGeom prst="rect">
            <a:avLst/>
          </a:prstGeom>
          <a:noFill/>
          <a:ln/>
        </p:spPr>
        <p:txBody>
          <a:bodyPr wrap="square" lIns="508" tIns="508" rIns="508" bIns="508" rtlCol="0" anchor="ctr"/>
          <a:lstStyle/>
          <a:p>
            <a:pPr indent="0" marL="0">
              <a:buNone/>
            </a:pPr>
            <a:r>
              <a:rPr lang="en-US" sz="1050" b="1" dirty="0">
                <a:solidFill>
                  <a:srgbClr val="1F6F78"/>
                </a:solidFill>
                <a:latin typeface="Yu Gothic" pitchFamily="34" charset="0"/>
                <a:ea typeface="Yu Gothic" pitchFamily="34" charset="-122"/>
                <a:cs typeface="Yu Gothic" pitchFamily="34" charset="-120"/>
              </a:rPr>
              <a:t>平均誤差率</a:t>
            </a:r>
            <a:endParaRPr lang="en-US" sz="1050" dirty="0"/>
          </a:p>
        </p:txBody>
      </p:sp>
      <p:sp>
        <p:nvSpPr>
          <p:cNvPr id="40" name="Text 38"/>
          <p:cNvSpPr txBox="1"/>
          <p:nvPr/>
        </p:nvSpPr>
        <p:spPr>
          <a:xfrm>
            <a:off x="2331720" y="5577840"/>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(100/N)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endParaRPr lang="en-US" sz="1150" dirty="0"/>
          </a:p>
        </p:txBody>
      </p:sp>
      <p:sp>
        <p:nvSpPr>
          <p:cNvPr id="41" name="Text 39"/>
          <p:cNvSpPr txBox="1"/>
          <p:nvPr/>
        </p:nvSpPr>
        <p:spPr>
          <a:xfrm>
            <a:off x="2331720" y="5888736"/>
            <a:ext cx="448056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検証8配置：2.67 %</a:t>
            </a:r>
            <a:endParaRPr lang="en-US" sz="1000" dirty="0"/>
          </a:p>
        </p:txBody>
      </p:sp>
      <p:sp>
        <p:nvSpPr>
          <p:cNvPr id="42" name="Text 40"/>
          <p:cNvSpPr txBox="1"/>
          <p:nvPr/>
        </p:nvSpPr>
        <p:spPr>
          <a:xfrm>
            <a:off x="457200" y="6291072"/>
            <a:ext cx="640080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 8件の絶対誤差の合計 159.92 は MAE 19.99 × 8 で逆算した値</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2377440"/>
          <a:ext cx="4663440" cy="914400"/>
        </p:xfrm>
        <a:graphic>
          <a:graphicData uri="http://schemas.openxmlformats.org/drawingml/2006/table">
            <a:tbl>
              <a:tblPr/>
              <a:tblGrid>
                <a:gridCol w="1371600"/>
                <a:gridCol w="1600200"/>
                <a:gridCol w="365760"/>
                <a:gridCol w="1325880"/>
              </a:tblGrid>
              <a:tr h="384048">
                <a:tc>
                  <a:txBody>
                    <a:bodyPr/>
                    <a:lstStyle/>
                    <a:p>
                      <a:pPr algn="l" indent="0" marL="0">
                        <a:buNone/>
                      </a:pPr>
                      <a:r>
                        <a:rPr lang="en-US" sz="850" b="1" dirty="0">
                          <a:solidFill>
                            <a:srgbClr val="FFFFFF"/>
                          </a:solidFill>
                          <a:latin typeface="Yu Gothic" pitchFamily="34" charset="0"/>
                          <a:ea typeface="Yu Gothic" pitchFamily="34" charset="-122"/>
                          <a:cs typeface="Yu Gothic" pitchFamily="34" charset="-120"/>
                        </a:rPr>
                        <a:t>評価の目的</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使ったデータ</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N</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結果</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手法の比較（検証）</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検証8配置・全体平均</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MAE 19.99・2.67%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最終確認（テスト）</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テスト12配置・全体平均</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MAE 18.40・2.42%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高さ帯別の弱点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検証8配置 × 5帯</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30〜40m帯 MAE 38.56</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局所改良の確認</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局所テスト6配置 × 5帯</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MAE 43.50→17.81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4" name="Shape 41"/>
          <p:cNvSpPr/>
          <p:nvPr/>
        </p:nvSpPr>
        <p:spPr>
          <a:xfrm>
            <a:off x="7086600" y="4434840"/>
            <a:ext cx="4663440" cy="1874520"/>
          </a:xfrm>
          <a:prstGeom prst="roundRect">
            <a:avLst>
              <a:gd name="adj" fmla="val 2927"/>
            </a:avLst>
          </a:prstGeom>
          <a:solidFill>
            <a:srgbClr val="FBEBDA"/>
          </a:solidFill>
          <a:ln/>
        </p:spPr>
      </p:sp>
      <p:sp>
        <p:nvSpPr>
          <p:cNvPr id="45" name="Text 42"/>
          <p:cNvSpPr txBox="1"/>
          <p:nvPr/>
        </p:nvSpPr>
        <p:spPr>
          <a:xfrm>
            <a:off x="7223760" y="4526280"/>
            <a:ext cx="43891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46" name="Text 43"/>
          <p:cNvSpPr txBox="1"/>
          <p:nvPr/>
        </p:nvSpPr>
        <p:spPr>
          <a:xfrm>
            <a:off x="7223760" y="4782312"/>
            <a:ext cx="4434840" cy="1463040"/>
          </a:xfrm>
          <a:prstGeom prst="rect">
            <a:avLst/>
          </a:prstGeom>
          <a:noFill/>
          <a:ln/>
        </p:spPr>
        <p:txBody>
          <a:bodyPr wrap="square" lIns="508" tIns="508" rIns="508" bIns="508" rtlCol="0" anchor="t"/>
          <a:lstStyle/>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テストデータは方法を決めた後にだけ使った（結果を見て方法を変えていない）</a:t>
            </a:r>
            <a:endParaRPr lang="en-US" sz="950" dirty="0"/>
          </a:p>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 5帯」の N は値の数で、配置の数ではない</a:t>
            </a:r>
            <a:endParaRPr lang="en-US" sz="950" dirty="0"/>
          </a:p>
          <a:p>
            <a:pPr marL="152400" indent="-152400">
              <a:spcAft>
                <a:spcPts val="300"/>
              </a:spcAft>
              <a:buSzPct val="100000"/>
              <a:buChar char="•"/>
            </a:pPr>
            <a:r>
              <a:rPr lang="en-US" sz="95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9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36</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95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95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95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95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05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95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850" b="1" dirty="0">
                <a:solidFill>
                  <a:srgbClr val="B04A3F"/>
                </a:solidFill>
                <a:latin typeface="Yu Gothic" pitchFamily="34" charset="0"/>
                <a:ea typeface="Yu Gothic" pitchFamily="34" charset="-122"/>
                <a:cs typeface="Yu Gothic" pitchFamily="34" charset="-120"/>
              </a:rPr>
              <a:t>最大誤差点 (35,15)</a:t>
            </a:r>
            <a:endParaRPr lang="en-US" sz="85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17</a:t>
            </a:r>
            <a:endParaRPr lang="en-US" sz="90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35</a:t>
            </a:r>
            <a:endParaRPr lang="en-US" sz="90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隙間 D (m)</a:t>
            </a:r>
            <a:endParaRPr lang="en-US" sz="90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00" dirty="0">
                <a:solidFill>
                  <a:srgbClr val="1B2A44"/>
                </a:solidFill>
                <a:latin typeface="Yu Gothic" pitchFamily="34" charset="0"/>
                <a:ea typeface="Yu Gothic" pitchFamily="34" charset="-122"/>
                <a:cs typeface="Yu Gothic" pitchFamily="34" charset="-120"/>
              </a:rPr>
              <a:t>A (m)</a:t>
            </a:r>
            <a:endParaRPr lang="en-US" sz="90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既存の4隅</a:t>
            </a:r>
            <a:endParaRPr lang="en-US" sz="90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追加した5点</a:t>
            </a:r>
            <a:endParaRPr lang="en-US" sz="90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5は3×3格子に不足する点の数</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確認用6配置も事前に記載</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局所範囲のMAE 43.50→17.81</a:t>
            </a:r>
            <a:endParaRPr lang="en-US" sz="100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9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36</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北 0°</a:t>
            </a:r>
            <a:endParaRPr lang="en-US" sz="90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東 90°</a:t>
            </a:r>
            <a:endParaRPr lang="en-US" sz="90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南 180°</a:t>
            </a:r>
            <a:endParaRPr lang="en-US" sz="90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西 270°</a:t>
            </a:r>
            <a:endParaRPr lang="en-US" sz="90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建物1</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85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1</a:t>
            </a:r>
            <a:pPr indent="0" marL="0">
              <a:buNone/>
            </a:pPr>
            <a:r>
              <a:rPr lang="en-US" sz="900" b="1" dirty="0">
                <a:solidFill>
                  <a:srgbClr val="C56A2C"/>
                </a:solidFill>
                <a:latin typeface="Yu Gothic" pitchFamily="34" charset="0"/>
                <a:ea typeface="Yu Gothic" pitchFamily="34" charset="-122"/>
                <a:cs typeface="Yu Gothic" pitchFamily="34" charset="-120"/>
              </a:rPr>
              <a:t>＝20°</a:t>
            </a:r>
            <a:endParaRPr lang="en-US" sz="90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1</a:t>
            </a:r>
            <a:endParaRPr lang="en-US" sz="100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建物2</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85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2</a:t>
            </a:r>
            <a:pPr indent="0" marL="0">
              <a:buNone/>
            </a:pPr>
            <a:r>
              <a:rPr lang="en-US" sz="900" b="1" dirty="0">
                <a:solidFill>
                  <a:srgbClr val="C56A2C"/>
                </a:solidFill>
                <a:latin typeface="Yu Gothic" pitchFamily="34" charset="0"/>
                <a:ea typeface="Yu Gothic" pitchFamily="34" charset="-122"/>
                <a:cs typeface="Yu Gothic" pitchFamily="34" charset="-120"/>
              </a:rPr>
              <a:t>＝110°</a:t>
            </a:r>
            <a:endParaRPr lang="en-US" sz="90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2</a:t>
            </a:r>
            <a:endParaRPr lang="en-US" sz="100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建物3</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85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3</a:t>
            </a:r>
            <a:pPr indent="0" marL="0">
              <a:buNone/>
            </a:pPr>
            <a:r>
              <a:rPr lang="en-US" sz="900" b="1" dirty="0">
                <a:solidFill>
                  <a:srgbClr val="C56A2C"/>
                </a:solidFill>
                <a:latin typeface="Yu Gothic" pitchFamily="34" charset="0"/>
                <a:ea typeface="Yu Gothic" pitchFamily="34" charset="-122"/>
                <a:cs typeface="Yu Gothic" pitchFamily="34" charset="-120"/>
              </a:rPr>
              <a:t>＝200°</a:t>
            </a:r>
            <a:endParaRPr lang="en-US" sz="90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3</a:t>
            </a:r>
            <a:endParaRPr lang="en-US" sz="100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850" b="1" dirty="0">
                <a:solidFill>
                  <a:srgbClr val="6B7480"/>
                </a:solidFill>
                <a:latin typeface="Yu Gothic" pitchFamily="34" charset="0"/>
                <a:ea typeface="Yu Gothic" pitchFamily="34" charset="-122"/>
                <a:cs typeface="Yu Gothic" pitchFamily="34" charset="-120"/>
              </a:rPr>
              <a:t>建物4</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85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s</a:t>
            </a:r>
            <a:pPr algn="ctr" indent="0" marL="0">
              <a:buNone/>
            </a:pPr>
            <a:r>
              <a:rPr lang="en-US" sz="90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00" b="1" dirty="0">
                <a:solidFill>
                  <a:srgbClr val="AEB4BC"/>
                </a:solidFill>
                <a:latin typeface="Yu Gothic" pitchFamily="34" charset="0"/>
                <a:ea typeface="Yu Gothic" pitchFamily="34" charset="-122"/>
                <a:cs typeface="Yu Gothic" pitchFamily="34" charset="-120"/>
              </a:rPr>
              <a:t>θ</a:t>
            </a:r>
            <a:pPr indent="0" marL="0">
              <a:buNone/>
            </a:pPr>
            <a:r>
              <a:rPr lang="en-US" sz="900" b="1" baseline="-40000" dirty="0">
                <a:solidFill>
                  <a:srgbClr val="AEB4BC"/>
                </a:solidFill>
                <a:latin typeface="Yu Gothic" pitchFamily="34" charset="0"/>
                <a:ea typeface="Yu Gothic" pitchFamily="34" charset="-122"/>
                <a:cs typeface="Yu Gothic" pitchFamily="34" charset="-120"/>
              </a:rPr>
              <a:t>4</a:t>
            </a:r>
            <a:pPr indent="0" marL="0">
              <a:buNone/>
            </a:pPr>
            <a:r>
              <a:rPr lang="en-US" sz="900" b="1" dirty="0">
                <a:solidFill>
                  <a:srgbClr val="AEB4BC"/>
                </a:solidFill>
                <a:latin typeface="Yu Gothic" pitchFamily="34" charset="0"/>
                <a:ea typeface="Yu Gothic" pitchFamily="34" charset="-122"/>
                <a:cs typeface="Yu Gothic" pitchFamily="34" charset="-120"/>
              </a:rPr>
              <a:t>＝290°</a:t>
            </a:r>
            <a:endParaRPr lang="en-US" sz="90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85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記号</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どこの値か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範囲（設計）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中央建物の高さ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25・50・75・100m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s</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建物iの有無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置く＝1，置かない＝0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 または 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A</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周囲建物iの高さ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D</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Cとの隙間</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外形どうしの最短距離（赤線）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θ</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Cの中心→建物iの中心の向き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00" baseline="-40000" dirty="0">
                <a:solidFill>
                  <a:srgbClr val="333F4E"/>
                </a:solidFill>
                <a:latin typeface="Yu Gothic" pitchFamily="34" charset="0"/>
                <a:ea typeface="Yu Gothic" pitchFamily="34" charset="-122"/>
                <a:cs typeface="Yu Gothic" pitchFamily="34" charset="-120"/>
              </a:rPr>
              <a:t>i=1</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 s</a:t>
            </a:r>
            <a:pPr indent="0" marL="0">
              <a:buNone/>
            </a:pPr>
            <a:r>
              <a:rPr lang="en-US" sz="1000" baseline="-40000" dirty="0">
                <a:solidFill>
                  <a:srgbClr val="333F4E"/>
                </a:solidFill>
                <a:latin typeface="Yu Gothic" pitchFamily="34" charset="0"/>
                <a:ea typeface="Yu Gothic" pitchFamily="34" charset="-122"/>
                <a:cs typeface="Yu Gothic" pitchFamily="34" charset="-120"/>
              </a:rPr>
              <a:t>i</a:t>
            </a:r>
            <a:pPr indent="0" marL="0">
              <a:buNone/>
            </a:pPr>
            <a:r>
              <a:rPr lang="en-US" sz="100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0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H</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C</a:t>
            </a:r>
            <a:endParaRPr lang="en-US" sz="90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endParaRPr lang="en-US" sz="90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endParaRPr lang="en-US" sz="90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endParaRPr lang="en-US" sz="90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endParaRPr lang="en-US" sz="90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9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36</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06303" y="1955397"/>
            <a:ext cx="9019683" cy="4510479"/>
          </a:xfrm>
          <a:custGeom>
            <a:avLst/>
            <a:gdLst/>
            <a:ahLst/>
            <a:cxnLst/>
            <a:rect l="l" t="t" r="r" b="b"/>
            <a:pathLst>
              <a:path w="9019683" h="4510479">
                <a:moveTo>
                  <a:pt x="0" y="2205123"/>
                </a:moveTo>
                <a:lnTo>
                  <a:pt x="4610060" y="4510479"/>
                </a:lnTo>
                <a:lnTo>
                  <a:pt x="9019683" y="2305356"/>
                </a:lnTo>
                <a:lnTo>
                  <a:pt x="4409623"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南面</a:t>
            </a:r>
            <a:endParaRPr lang="en-US" sz="100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東面</a:t>
            </a:r>
            <a:endParaRPr lang="en-US" sz="1000" dirty="0"/>
          </a:p>
        </p:txBody>
      </p:sp>
      <p:sp>
        <p:nvSpPr>
          <p:cNvPr id="46" name="Text 44"/>
          <p:cNvSpPr txBox="1"/>
          <p:nvPr/>
        </p:nvSpPr>
        <p:spPr>
          <a:xfrm>
            <a:off x="548640" y="2514600"/>
            <a:ext cx="1188720" cy="41148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西の建物</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A</a:t>
            </a:r>
            <a:endParaRPr lang="en-US" sz="900" dirty="0"/>
          </a:p>
          <a:p>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pPr indent="0" marL="0">
              <a:buNone/>
            </a:pPr>
            <a:r>
              <a:rPr lang="en-US" sz="900" b="1" dirty="0">
                <a:solidFill>
                  <a:srgbClr val="1F6F78"/>
                </a:solidFill>
                <a:latin typeface="Yu Gothic" pitchFamily="34" charset="0"/>
                <a:ea typeface="Yu Gothic" pitchFamily="34" charset="-122"/>
                <a:cs typeface="Yu Gothic" pitchFamily="34" charset="-120"/>
              </a:rPr>
              <a:t>・D</a:t>
            </a:r>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endParaRPr lang="en-US" sz="900" dirty="0"/>
          </a:p>
        </p:txBody>
      </p:sp>
      <p:sp>
        <p:nvSpPr>
          <p:cNvPr id="47" name="Text 45"/>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北は建物なし：s</a:t>
            </a:r>
            <a:pPr indent="0" marL="0">
              <a:buNone/>
            </a:pPr>
            <a:r>
              <a:rPr lang="en-US" sz="900" b="1" baseline="-40000" dirty="0">
                <a:solidFill>
                  <a:srgbClr val="6B7480"/>
                </a:solidFill>
                <a:latin typeface="Yu Gothic" pitchFamily="34" charset="0"/>
                <a:ea typeface="Yu Gothic" pitchFamily="34" charset="-122"/>
                <a:cs typeface="Yu Gothic" pitchFamily="34" charset="-120"/>
              </a:rPr>
              <a:t>北</a:t>
            </a:r>
            <a:pP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a:p>
            <a:pPr indent="0" marL="0">
              <a:buNone/>
            </a:pPr>
            <a:r>
              <a:rPr lang="en-US" sz="900" b="1" dirty="0">
                <a:solidFill>
                  <a:srgbClr val="6B7480"/>
                </a:solidFill>
                <a:latin typeface="Yu Gothic" pitchFamily="34" charset="0"/>
                <a:ea typeface="Yu Gothic" pitchFamily="34" charset="-122"/>
                <a:cs typeface="Yu Gothic" pitchFamily="34" charset="-120"/>
              </a:rPr>
              <a:t>（点線は置く場合の位置）</a:t>
            </a:r>
            <a:endParaRPr lang="en-US" sz="900" dirty="0"/>
          </a:p>
        </p:txBody>
      </p:sp>
      <p:sp>
        <p:nvSpPr>
          <p:cNvPr id="48" name="Shape 46"/>
          <p:cNvSpPr/>
          <p:nvPr/>
        </p:nvSpPr>
        <p:spPr>
          <a:xfrm flipV="1">
            <a:off x="5943600" y="5690494"/>
            <a:ext cx="323286" cy="161666"/>
          </a:xfrm>
          <a:prstGeom prst="line">
            <a:avLst/>
          </a:prstGeom>
          <a:noFill/>
          <a:ln w="19050">
            <a:solidFill>
              <a:srgbClr val="1B2A44"/>
            </a:solidFill>
            <a:prstDash val="solid"/>
            <a:tailEnd type="triangle"/>
          </a:ln>
        </p:spPr>
      </p:sp>
      <p:sp>
        <p:nvSpPr>
          <p:cNvPr id="49" name="Text 47"/>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北</a:t>
            </a:r>
            <a:endParaRPr lang="en-US" sz="900" dirty="0"/>
          </a:p>
        </p:txBody>
      </p:sp>
      <p:sp>
        <p:nvSpPr>
          <p:cNvPr id="50" name="Text 48"/>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00" dirty="0"/>
          </a:p>
        </p:txBody>
      </p:sp>
      <p:sp>
        <p:nvSpPr>
          <p:cNvPr id="51" name="Text 49"/>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2" name="Shape 50"/>
          <p:cNvSpPr/>
          <p:nvPr/>
        </p:nvSpPr>
        <p:spPr>
          <a:xfrm>
            <a:off x="8001000" y="1874520"/>
            <a:ext cx="841248" cy="329184"/>
          </a:xfrm>
          <a:prstGeom prst="rect">
            <a:avLst/>
          </a:prstGeom>
          <a:solidFill>
            <a:srgbClr val="1B2A44"/>
          </a:solidFill>
          <a:ln/>
        </p:spPr>
      </p:sp>
      <p:sp>
        <p:nvSpPr>
          <p:cNvPr id="53" name="Text 51"/>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北面</a:t>
            </a:r>
            <a:endParaRPr lang="en-US" sz="1000" dirty="0"/>
          </a:p>
        </p:txBody>
      </p:sp>
      <p:sp>
        <p:nvSpPr>
          <p:cNvPr id="54" name="Shape 52"/>
          <p:cNvSpPr/>
          <p:nvPr/>
        </p:nvSpPr>
        <p:spPr>
          <a:xfrm>
            <a:off x="8887968" y="1874520"/>
            <a:ext cx="841248" cy="329184"/>
          </a:xfrm>
          <a:prstGeom prst="rect">
            <a:avLst/>
          </a:prstGeom>
          <a:solidFill>
            <a:srgbClr val="1B2A44"/>
          </a:solidFill>
          <a:ln/>
        </p:spPr>
      </p:sp>
      <p:sp>
        <p:nvSpPr>
          <p:cNvPr id="55" name="Text 53"/>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東面</a:t>
            </a:r>
            <a:endParaRPr lang="en-US" sz="1000" dirty="0"/>
          </a:p>
        </p:txBody>
      </p:sp>
      <p:sp>
        <p:nvSpPr>
          <p:cNvPr id="56" name="Shape 54"/>
          <p:cNvSpPr/>
          <p:nvPr/>
        </p:nvSpPr>
        <p:spPr>
          <a:xfrm>
            <a:off x="9774936" y="1874520"/>
            <a:ext cx="841248" cy="329184"/>
          </a:xfrm>
          <a:prstGeom prst="rect">
            <a:avLst/>
          </a:prstGeom>
          <a:solidFill>
            <a:srgbClr val="1B2A44"/>
          </a:solidFill>
          <a:ln/>
        </p:spPr>
      </p:sp>
      <p:sp>
        <p:nvSpPr>
          <p:cNvPr id="57" name="Text 55"/>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南面</a:t>
            </a:r>
            <a:endParaRPr lang="en-US" sz="1000" dirty="0"/>
          </a:p>
        </p:txBody>
      </p:sp>
      <p:sp>
        <p:nvSpPr>
          <p:cNvPr id="58" name="Shape 56"/>
          <p:cNvSpPr/>
          <p:nvPr/>
        </p:nvSpPr>
        <p:spPr>
          <a:xfrm>
            <a:off x="10661904" y="1874520"/>
            <a:ext cx="841248" cy="329184"/>
          </a:xfrm>
          <a:prstGeom prst="rect">
            <a:avLst/>
          </a:prstGeom>
          <a:solidFill>
            <a:srgbClr val="1B2A44"/>
          </a:solidFill>
          <a:ln/>
        </p:spPr>
      </p:sp>
      <p:sp>
        <p:nvSpPr>
          <p:cNvPr id="59" name="Text 57"/>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西面</a:t>
            </a:r>
            <a:endParaRPr lang="en-US" sz="1000" dirty="0"/>
          </a:p>
        </p:txBody>
      </p:sp>
      <p:sp>
        <p:nvSpPr>
          <p:cNvPr id="60" name="Text 58"/>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帯5</a:t>
            </a:r>
            <a:endParaRPr lang="en-US" sz="1000" dirty="0"/>
          </a:p>
        </p:txBody>
      </p:sp>
      <p:sp>
        <p:nvSpPr>
          <p:cNvPr id="61" name="Shape 59"/>
          <p:cNvSpPr/>
          <p:nvPr/>
        </p:nvSpPr>
        <p:spPr>
          <a:xfrm>
            <a:off x="8001000" y="2240280"/>
            <a:ext cx="841248" cy="329184"/>
          </a:xfrm>
          <a:prstGeom prst="rect">
            <a:avLst/>
          </a:prstGeom>
          <a:solidFill>
            <a:srgbClr val="F3F5F8"/>
          </a:solidFill>
          <a:ln/>
        </p:spPr>
      </p:sp>
      <p:sp>
        <p:nvSpPr>
          <p:cNvPr id="62" name="Text 60"/>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北,5</a:t>
            </a:r>
            <a:endParaRPr lang="en-US" sz="1000" dirty="0"/>
          </a:p>
        </p:txBody>
      </p:sp>
      <p:sp>
        <p:nvSpPr>
          <p:cNvPr id="63" name="Shape 61"/>
          <p:cNvSpPr/>
          <p:nvPr/>
        </p:nvSpPr>
        <p:spPr>
          <a:xfrm>
            <a:off x="8887968" y="2240280"/>
            <a:ext cx="841248" cy="329184"/>
          </a:xfrm>
          <a:prstGeom prst="rect">
            <a:avLst/>
          </a:prstGeom>
          <a:solidFill>
            <a:srgbClr val="F3F5F8"/>
          </a:solidFill>
          <a:ln/>
        </p:spPr>
      </p:sp>
      <p:sp>
        <p:nvSpPr>
          <p:cNvPr id="64" name="Text 62"/>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東,5</a:t>
            </a:r>
            <a:endParaRPr lang="en-US" sz="1000" dirty="0"/>
          </a:p>
        </p:txBody>
      </p:sp>
      <p:sp>
        <p:nvSpPr>
          <p:cNvPr id="65" name="Shape 63"/>
          <p:cNvSpPr/>
          <p:nvPr/>
        </p:nvSpPr>
        <p:spPr>
          <a:xfrm>
            <a:off x="9774936" y="2240280"/>
            <a:ext cx="841248" cy="329184"/>
          </a:xfrm>
          <a:prstGeom prst="rect">
            <a:avLst/>
          </a:prstGeom>
          <a:solidFill>
            <a:srgbClr val="FBEBDA"/>
          </a:solidFill>
          <a:ln/>
        </p:spPr>
      </p:sp>
      <p:sp>
        <p:nvSpPr>
          <p:cNvPr id="66" name="Text 64"/>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南,5</a:t>
            </a:r>
            <a:endParaRPr lang="en-US" sz="1000" dirty="0"/>
          </a:p>
        </p:txBody>
      </p:sp>
      <p:sp>
        <p:nvSpPr>
          <p:cNvPr id="67" name="Shape 65"/>
          <p:cNvSpPr/>
          <p:nvPr/>
        </p:nvSpPr>
        <p:spPr>
          <a:xfrm>
            <a:off x="10661904" y="2240280"/>
            <a:ext cx="841248" cy="329184"/>
          </a:xfrm>
          <a:prstGeom prst="rect">
            <a:avLst/>
          </a:prstGeom>
          <a:solidFill>
            <a:srgbClr val="F3F5F8"/>
          </a:solidFill>
          <a:ln/>
        </p:spPr>
      </p:sp>
      <p:sp>
        <p:nvSpPr>
          <p:cNvPr id="68" name="Text 66"/>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西,5</a:t>
            </a:r>
            <a:endParaRPr lang="en-US" sz="1000" dirty="0"/>
          </a:p>
        </p:txBody>
      </p:sp>
      <p:sp>
        <p:nvSpPr>
          <p:cNvPr id="69" name="Text 67"/>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帯4</a:t>
            </a:r>
            <a:endParaRPr lang="en-US" sz="1000" dirty="0"/>
          </a:p>
        </p:txBody>
      </p:sp>
      <p:sp>
        <p:nvSpPr>
          <p:cNvPr id="70" name="Shape 68"/>
          <p:cNvSpPr/>
          <p:nvPr/>
        </p:nvSpPr>
        <p:spPr>
          <a:xfrm>
            <a:off x="8001000" y="2606040"/>
            <a:ext cx="841248" cy="329184"/>
          </a:xfrm>
          <a:prstGeom prst="rect">
            <a:avLst/>
          </a:prstGeom>
          <a:solidFill>
            <a:srgbClr val="F3F5F8"/>
          </a:solidFill>
          <a:ln/>
        </p:spPr>
      </p:sp>
      <p:sp>
        <p:nvSpPr>
          <p:cNvPr id="71" name="Text 69"/>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北,4</a:t>
            </a:r>
            <a:endParaRPr lang="en-US" sz="1000" dirty="0"/>
          </a:p>
        </p:txBody>
      </p:sp>
      <p:sp>
        <p:nvSpPr>
          <p:cNvPr id="72" name="Shape 70"/>
          <p:cNvSpPr/>
          <p:nvPr/>
        </p:nvSpPr>
        <p:spPr>
          <a:xfrm>
            <a:off x="8887968" y="2606040"/>
            <a:ext cx="841248" cy="329184"/>
          </a:xfrm>
          <a:prstGeom prst="rect">
            <a:avLst/>
          </a:prstGeom>
          <a:solidFill>
            <a:srgbClr val="F3F5F8"/>
          </a:solidFill>
          <a:ln/>
        </p:spPr>
      </p:sp>
      <p:sp>
        <p:nvSpPr>
          <p:cNvPr id="73" name="Text 71"/>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東,4</a:t>
            </a:r>
            <a:endParaRPr lang="en-US" sz="1000" dirty="0"/>
          </a:p>
        </p:txBody>
      </p:sp>
      <p:sp>
        <p:nvSpPr>
          <p:cNvPr id="74" name="Shape 72"/>
          <p:cNvSpPr/>
          <p:nvPr/>
        </p:nvSpPr>
        <p:spPr>
          <a:xfrm>
            <a:off x="9774936" y="2606040"/>
            <a:ext cx="841248" cy="329184"/>
          </a:xfrm>
          <a:prstGeom prst="rect">
            <a:avLst/>
          </a:prstGeom>
          <a:solidFill>
            <a:srgbClr val="FBEBDA"/>
          </a:solidFill>
          <a:ln/>
        </p:spPr>
      </p:sp>
      <p:sp>
        <p:nvSpPr>
          <p:cNvPr id="75" name="Text 73"/>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南,4</a:t>
            </a:r>
            <a:endParaRPr lang="en-US" sz="1000" dirty="0"/>
          </a:p>
        </p:txBody>
      </p:sp>
      <p:sp>
        <p:nvSpPr>
          <p:cNvPr id="76" name="Shape 74"/>
          <p:cNvSpPr/>
          <p:nvPr/>
        </p:nvSpPr>
        <p:spPr>
          <a:xfrm>
            <a:off x="10661904" y="2606040"/>
            <a:ext cx="841248" cy="329184"/>
          </a:xfrm>
          <a:prstGeom prst="rect">
            <a:avLst/>
          </a:prstGeom>
          <a:solidFill>
            <a:srgbClr val="F3F5F8"/>
          </a:solidFill>
          <a:ln/>
        </p:spPr>
      </p:sp>
      <p:sp>
        <p:nvSpPr>
          <p:cNvPr id="77" name="Text 75"/>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西,4</a:t>
            </a:r>
            <a:endParaRPr lang="en-US" sz="1000" dirty="0"/>
          </a:p>
        </p:txBody>
      </p:sp>
      <p:sp>
        <p:nvSpPr>
          <p:cNvPr id="78" name="Text 76"/>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帯3</a:t>
            </a:r>
            <a:endParaRPr lang="en-US" sz="1000" dirty="0"/>
          </a:p>
        </p:txBody>
      </p:sp>
      <p:sp>
        <p:nvSpPr>
          <p:cNvPr id="79" name="Shape 77"/>
          <p:cNvSpPr/>
          <p:nvPr/>
        </p:nvSpPr>
        <p:spPr>
          <a:xfrm>
            <a:off x="8001000" y="2971800"/>
            <a:ext cx="841248" cy="329184"/>
          </a:xfrm>
          <a:prstGeom prst="rect">
            <a:avLst/>
          </a:prstGeom>
          <a:solidFill>
            <a:srgbClr val="F3F5F8"/>
          </a:solidFill>
          <a:ln/>
        </p:spPr>
      </p:sp>
      <p:sp>
        <p:nvSpPr>
          <p:cNvPr id="80" name="Text 78"/>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北,3</a:t>
            </a:r>
            <a:endParaRPr lang="en-US" sz="1000" dirty="0"/>
          </a:p>
        </p:txBody>
      </p:sp>
      <p:sp>
        <p:nvSpPr>
          <p:cNvPr id="81" name="Shape 79"/>
          <p:cNvSpPr/>
          <p:nvPr/>
        </p:nvSpPr>
        <p:spPr>
          <a:xfrm>
            <a:off x="8887968" y="2971800"/>
            <a:ext cx="841248" cy="329184"/>
          </a:xfrm>
          <a:prstGeom prst="rect">
            <a:avLst/>
          </a:prstGeom>
          <a:solidFill>
            <a:srgbClr val="F3F5F8"/>
          </a:solidFill>
          <a:ln/>
        </p:spPr>
      </p:sp>
      <p:sp>
        <p:nvSpPr>
          <p:cNvPr id="82" name="Text 80"/>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東,3</a:t>
            </a:r>
            <a:endParaRPr lang="en-US" sz="1000" dirty="0"/>
          </a:p>
        </p:txBody>
      </p:sp>
      <p:sp>
        <p:nvSpPr>
          <p:cNvPr id="83" name="Shape 81"/>
          <p:cNvSpPr/>
          <p:nvPr/>
        </p:nvSpPr>
        <p:spPr>
          <a:xfrm>
            <a:off x="9774936" y="2971800"/>
            <a:ext cx="841248" cy="329184"/>
          </a:xfrm>
          <a:prstGeom prst="rect">
            <a:avLst/>
          </a:prstGeom>
          <a:solidFill>
            <a:srgbClr val="FBEBDA"/>
          </a:solidFill>
          <a:ln/>
        </p:spPr>
      </p:sp>
      <p:sp>
        <p:nvSpPr>
          <p:cNvPr id="84" name="Text 82"/>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南,3</a:t>
            </a:r>
            <a:endParaRPr lang="en-US" sz="1000" dirty="0"/>
          </a:p>
        </p:txBody>
      </p:sp>
      <p:sp>
        <p:nvSpPr>
          <p:cNvPr id="85" name="Shape 83"/>
          <p:cNvSpPr/>
          <p:nvPr/>
        </p:nvSpPr>
        <p:spPr>
          <a:xfrm>
            <a:off x="10661904" y="2971800"/>
            <a:ext cx="841248" cy="329184"/>
          </a:xfrm>
          <a:prstGeom prst="rect">
            <a:avLst/>
          </a:prstGeom>
          <a:solidFill>
            <a:srgbClr val="F3F5F8"/>
          </a:solidFill>
          <a:ln/>
        </p:spPr>
      </p:sp>
      <p:sp>
        <p:nvSpPr>
          <p:cNvPr id="86" name="Text 84"/>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西,3</a:t>
            </a:r>
            <a:endParaRPr lang="en-US" sz="1000" dirty="0"/>
          </a:p>
        </p:txBody>
      </p:sp>
      <p:sp>
        <p:nvSpPr>
          <p:cNvPr id="87" name="Text 85"/>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帯2</a:t>
            </a:r>
            <a:endParaRPr lang="en-US" sz="1000" dirty="0"/>
          </a:p>
        </p:txBody>
      </p:sp>
      <p:sp>
        <p:nvSpPr>
          <p:cNvPr id="88" name="Shape 86"/>
          <p:cNvSpPr/>
          <p:nvPr/>
        </p:nvSpPr>
        <p:spPr>
          <a:xfrm>
            <a:off x="8001000" y="3337560"/>
            <a:ext cx="841248" cy="329184"/>
          </a:xfrm>
          <a:prstGeom prst="rect">
            <a:avLst/>
          </a:prstGeom>
          <a:solidFill>
            <a:srgbClr val="F3F5F8"/>
          </a:solidFill>
          <a:ln/>
        </p:spPr>
      </p:sp>
      <p:sp>
        <p:nvSpPr>
          <p:cNvPr id="89" name="Text 87"/>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北,2</a:t>
            </a:r>
            <a:endParaRPr lang="en-US" sz="1000" dirty="0"/>
          </a:p>
        </p:txBody>
      </p:sp>
      <p:sp>
        <p:nvSpPr>
          <p:cNvPr id="90" name="Shape 88"/>
          <p:cNvSpPr/>
          <p:nvPr/>
        </p:nvSpPr>
        <p:spPr>
          <a:xfrm>
            <a:off x="8887968" y="3337560"/>
            <a:ext cx="841248" cy="329184"/>
          </a:xfrm>
          <a:prstGeom prst="rect">
            <a:avLst/>
          </a:prstGeom>
          <a:solidFill>
            <a:srgbClr val="F3F5F8"/>
          </a:solidFill>
          <a:ln/>
        </p:spPr>
      </p:sp>
      <p:sp>
        <p:nvSpPr>
          <p:cNvPr id="91" name="Text 89"/>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東,2</a:t>
            </a:r>
            <a:endParaRPr lang="en-US" sz="1000" dirty="0"/>
          </a:p>
        </p:txBody>
      </p:sp>
      <p:sp>
        <p:nvSpPr>
          <p:cNvPr id="92" name="Shape 90"/>
          <p:cNvSpPr/>
          <p:nvPr/>
        </p:nvSpPr>
        <p:spPr>
          <a:xfrm>
            <a:off x="9774936" y="3337560"/>
            <a:ext cx="841248" cy="329184"/>
          </a:xfrm>
          <a:prstGeom prst="rect">
            <a:avLst/>
          </a:prstGeom>
          <a:solidFill>
            <a:srgbClr val="FBEBDA"/>
          </a:solidFill>
          <a:ln/>
        </p:spPr>
      </p:sp>
      <p:sp>
        <p:nvSpPr>
          <p:cNvPr id="93" name="Text 91"/>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南,2</a:t>
            </a:r>
            <a:endParaRPr lang="en-US" sz="1000" dirty="0"/>
          </a:p>
        </p:txBody>
      </p:sp>
      <p:sp>
        <p:nvSpPr>
          <p:cNvPr id="94" name="Shape 92"/>
          <p:cNvSpPr/>
          <p:nvPr/>
        </p:nvSpPr>
        <p:spPr>
          <a:xfrm>
            <a:off x="10661904" y="3337560"/>
            <a:ext cx="841248" cy="329184"/>
          </a:xfrm>
          <a:prstGeom prst="rect">
            <a:avLst/>
          </a:prstGeom>
          <a:solidFill>
            <a:srgbClr val="F3F5F8"/>
          </a:solidFill>
          <a:ln/>
        </p:spPr>
      </p:sp>
      <p:sp>
        <p:nvSpPr>
          <p:cNvPr id="95" name="Text 93"/>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西,2</a:t>
            </a:r>
            <a:endParaRPr lang="en-US" sz="1000" dirty="0"/>
          </a:p>
        </p:txBody>
      </p:sp>
      <p:sp>
        <p:nvSpPr>
          <p:cNvPr id="96" name="Text 94"/>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帯1</a:t>
            </a:r>
            <a:endParaRPr lang="en-US" sz="1000" dirty="0"/>
          </a:p>
        </p:txBody>
      </p:sp>
      <p:sp>
        <p:nvSpPr>
          <p:cNvPr id="97" name="Shape 95"/>
          <p:cNvSpPr/>
          <p:nvPr/>
        </p:nvSpPr>
        <p:spPr>
          <a:xfrm>
            <a:off x="8001000" y="3703320"/>
            <a:ext cx="841248" cy="329184"/>
          </a:xfrm>
          <a:prstGeom prst="rect">
            <a:avLst/>
          </a:prstGeom>
          <a:solidFill>
            <a:srgbClr val="F3F5F8"/>
          </a:solidFill>
          <a:ln/>
        </p:spPr>
      </p:sp>
      <p:sp>
        <p:nvSpPr>
          <p:cNvPr id="98" name="Text 96"/>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北,1</a:t>
            </a:r>
            <a:endParaRPr lang="en-US" sz="1000" dirty="0"/>
          </a:p>
        </p:txBody>
      </p:sp>
      <p:sp>
        <p:nvSpPr>
          <p:cNvPr id="99" name="Shape 97"/>
          <p:cNvSpPr/>
          <p:nvPr/>
        </p:nvSpPr>
        <p:spPr>
          <a:xfrm>
            <a:off x="8887968" y="3703320"/>
            <a:ext cx="841248" cy="329184"/>
          </a:xfrm>
          <a:prstGeom prst="rect">
            <a:avLst/>
          </a:prstGeom>
          <a:solidFill>
            <a:srgbClr val="F3F5F8"/>
          </a:solidFill>
          <a:ln/>
        </p:spPr>
      </p:sp>
      <p:sp>
        <p:nvSpPr>
          <p:cNvPr id="100" name="Text 98"/>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東,1</a:t>
            </a:r>
            <a:endParaRPr lang="en-US" sz="1000" dirty="0"/>
          </a:p>
        </p:txBody>
      </p:sp>
      <p:sp>
        <p:nvSpPr>
          <p:cNvPr id="101" name="Shape 99"/>
          <p:cNvSpPr/>
          <p:nvPr/>
        </p:nvSpPr>
        <p:spPr>
          <a:xfrm>
            <a:off x="9774936" y="3703320"/>
            <a:ext cx="841248" cy="329184"/>
          </a:xfrm>
          <a:prstGeom prst="rect">
            <a:avLst/>
          </a:prstGeom>
          <a:solidFill>
            <a:srgbClr val="FBEBDA"/>
          </a:solidFill>
          <a:ln/>
        </p:spPr>
      </p:sp>
      <p:sp>
        <p:nvSpPr>
          <p:cNvPr id="102" name="Text 100"/>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南,1</a:t>
            </a:r>
            <a:endParaRPr lang="en-US" sz="1000" dirty="0"/>
          </a:p>
        </p:txBody>
      </p:sp>
      <p:sp>
        <p:nvSpPr>
          <p:cNvPr id="103" name="Shape 101"/>
          <p:cNvSpPr/>
          <p:nvPr/>
        </p:nvSpPr>
        <p:spPr>
          <a:xfrm>
            <a:off x="10661904" y="3703320"/>
            <a:ext cx="841248" cy="329184"/>
          </a:xfrm>
          <a:prstGeom prst="rect">
            <a:avLst/>
          </a:prstGeom>
          <a:solidFill>
            <a:srgbClr val="F3F5F8"/>
          </a:solidFill>
          <a:ln/>
        </p:spPr>
      </p:sp>
      <p:sp>
        <p:nvSpPr>
          <p:cNvPr id="104" name="Text 102"/>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西,1</a:t>
            </a:r>
            <a:endParaRPr lang="en-US" sz="1000" dirty="0"/>
          </a:p>
        </p:txBody>
      </p:sp>
      <p:sp>
        <p:nvSpPr>
          <p:cNvPr id="105" name="Text 103"/>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面の平均：Ŷ</a:t>
            </a:r>
            <a:pPr indent="0" marL="0">
              <a:buNone/>
            </a:pPr>
            <a:r>
              <a:rPr lang="en-US" sz="105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050" b="1" dirty="0">
                <a:solidFill>
                  <a:srgbClr val="C56A2C"/>
                </a:solidFill>
                <a:latin typeface="Yu Gothic" pitchFamily="34" charset="0"/>
                <a:ea typeface="Yu Gothic" pitchFamily="34" charset="-122"/>
                <a:cs typeface="Yu Gothic" pitchFamily="34" charset="-120"/>
              </a:rPr>
              <a:t> ＝ (1/5) Σ</a:t>
            </a:r>
            <a:pPr indent="0" marL="0">
              <a:buNone/>
            </a:pPr>
            <a:r>
              <a:rPr lang="en-US" sz="1050" b="1" baseline="-40000" dirty="0">
                <a:solidFill>
                  <a:srgbClr val="C56A2C"/>
                </a:solidFill>
                <a:latin typeface="Yu Gothic" pitchFamily="34" charset="0"/>
                <a:ea typeface="Yu Gothic" pitchFamily="34" charset="-122"/>
                <a:cs typeface="Yu Gothic" pitchFamily="34" charset="-120"/>
              </a:rPr>
              <a:t>k=1</a:t>
            </a:r>
            <a:pPr indent="0" marL="0">
              <a:buNone/>
            </a:pPr>
            <a:r>
              <a:rPr lang="en-US" sz="1050" b="1" baseline="30000" dirty="0">
                <a:solidFill>
                  <a:srgbClr val="C56A2C"/>
                </a:solidFill>
                <a:latin typeface="Yu Gothic" pitchFamily="34" charset="0"/>
                <a:ea typeface="Yu Gothic" pitchFamily="34" charset="-122"/>
                <a:cs typeface="Yu Gothic" pitchFamily="34" charset="-120"/>
              </a:rPr>
              <a:t>5</a:t>
            </a:r>
            <a:pPr indent="0" marL="0">
              <a:buNone/>
            </a:pPr>
            <a:r>
              <a:rPr lang="en-US" sz="1050" b="1" dirty="0">
                <a:solidFill>
                  <a:srgbClr val="C56A2C"/>
                </a:solidFill>
                <a:latin typeface="Yu Gothic" pitchFamily="34" charset="0"/>
                <a:ea typeface="Yu Gothic" pitchFamily="34" charset="-122"/>
                <a:cs typeface="Yu Gothic" pitchFamily="34" charset="-120"/>
              </a:rPr>
              <a:t> Ŷ</a:t>
            </a:r>
            <a:pPr indent="0" marL="0">
              <a:buNone/>
            </a:pPr>
            <a:r>
              <a:rPr lang="en-US" sz="1050" b="1" baseline="-40000" dirty="0">
                <a:solidFill>
                  <a:srgbClr val="C56A2C"/>
                </a:solidFill>
                <a:latin typeface="Yu Gothic" pitchFamily="34" charset="0"/>
                <a:ea typeface="Yu Gothic" pitchFamily="34" charset="-122"/>
                <a:cs typeface="Yu Gothic" pitchFamily="34" charset="-120"/>
              </a:rPr>
              <a:t>f,k</a:t>
            </a:r>
            <a:pPr indent="0" marL="0">
              <a:buNone/>
            </a:pPr>
            <a:r>
              <a:rPr lang="en-US" sz="1050" b="1" dirty="0">
                <a:solidFill>
                  <a:srgbClr val="C56A2C"/>
                </a:solidFill>
                <a:latin typeface="Yu Gothic" pitchFamily="34" charset="0"/>
                <a:ea typeface="Yu Gothic" pitchFamily="34" charset="-122"/>
                <a:cs typeface="Yu Gothic" pitchFamily="34" charset="-120"/>
              </a:rPr>
              <a:t>　（f＝北・東・南・西）</a:t>
            </a:r>
            <a:endParaRPr lang="en-US" sz="1050" dirty="0"/>
          </a:p>
        </p:txBody>
      </p:sp>
      <p:sp>
        <p:nvSpPr>
          <p:cNvPr id="106" name="Text 104"/>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H</a:t>
                      </a:r>
                      <a:pPr algn="l"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25m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100m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00" b="1" dirty="0">
                          <a:solidFill>
                            <a:srgbClr val="1B2A44"/>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8" name="Text 105"/>
          <p:cNvSpPr txBox="1"/>
          <p:nvPr/>
        </p:nvSpPr>
        <p:spPr>
          <a:xfrm>
            <a:off x="7132320" y="5760720"/>
            <a:ext cx="461772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南1棟の段階では「南面×5帯＝5個」だった出力が、4面に増える。</a:t>
            </a:r>
            <a:endParaRPr lang="en-US" sz="9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有無の変数 s が必要な理由：「建物がない」は A・D の数字では表せない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 は「その方向に建物があるか」だけを表す 0/1 のスイッチ。s＝0 の建物は計算から自動的に外れる。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36</a:t>
            </a:r>
            <a:endParaRPr lang="en-US" sz="1100" dirty="0"/>
          </a:p>
        </p:txBody>
      </p:sp>
      <p:sp>
        <p:nvSpPr>
          <p:cNvPr id="10" name="Shape 8"/>
          <p:cNvSpPr/>
          <p:nvPr/>
        </p:nvSpPr>
        <p:spPr>
          <a:xfrm>
            <a:off x="457200" y="1481328"/>
            <a:ext cx="3639312" cy="2194560"/>
          </a:xfrm>
          <a:prstGeom prst="roundRect">
            <a:avLst>
              <a:gd name="adj" fmla="val 2500"/>
            </a:avLst>
          </a:prstGeom>
          <a:solidFill>
            <a:srgbClr val="F3F5F8"/>
          </a:solidFill>
          <a:ln/>
        </p:spPr>
      </p:sp>
      <p:sp>
        <p:nvSpPr>
          <p:cNvPr id="11" name="Shape 9"/>
          <p:cNvSpPr/>
          <p:nvPr/>
        </p:nvSpPr>
        <p:spPr>
          <a:xfrm>
            <a:off x="457200" y="1481328"/>
            <a:ext cx="3639312" cy="384048"/>
          </a:xfrm>
          <a:prstGeom prst="roundRect">
            <a:avLst>
              <a:gd name="adj" fmla="val 14286"/>
            </a:avLst>
          </a:prstGeom>
          <a:solidFill>
            <a:srgbClr val="4C8C6B"/>
          </a:solidFill>
          <a:ln/>
        </p:spPr>
      </p:sp>
      <p:sp>
        <p:nvSpPr>
          <p:cNvPr id="12" name="Text 10"/>
          <p:cNvSpPr txBox="1"/>
          <p:nvPr/>
        </p:nvSpPr>
        <p:spPr>
          <a:xfrm>
            <a:off x="594360"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a. 建物がある</a:t>
            </a:r>
            <a:endParaRPr lang="en-US" sz="1200" dirty="0"/>
          </a:p>
        </p:txBody>
      </p:sp>
      <p:sp>
        <p:nvSpPr>
          <p:cNvPr id="13" name="Shape 11"/>
          <p:cNvSpPr/>
          <p:nvPr/>
        </p:nvSpPr>
        <p:spPr>
          <a:xfrm>
            <a:off x="950976" y="2011680"/>
            <a:ext cx="384048" cy="384048"/>
          </a:xfrm>
          <a:prstGeom prst="rect">
            <a:avLst/>
          </a:prstGeom>
          <a:solidFill>
            <a:srgbClr val="1B2A44"/>
          </a:solidFill>
          <a:ln/>
        </p:spPr>
      </p:sp>
      <p:sp>
        <p:nvSpPr>
          <p:cNvPr id="14" name="Shape 12"/>
          <p:cNvSpPr/>
          <p:nvPr/>
        </p:nvSpPr>
        <p:spPr>
          <a:xfrm>
            <a:off x="950976" y="2596896"/>
            <a:ext cx="384048" cy="384048"/>
          </a:xfrm>
          <a:prstGeom prst="rect">
            <a:avLst/>
          </a:prstGeom>
          <a:solidFill>
            <a:srgbClr val="1F6F78"/>
          </a:solidFill>
          <a:ln/>
        </p:spPr>
      </p:sp>
      <p:sp>
        <p:nvSpPr>
          <p:cNvPr id="15" name="Text 13"/>
          <p:cNvSpPr txBox="1"/>
          <p:nvPr/>
        </p:nvSpPr>
        <p:spPr>
          <a:xfrm>
            <a:off x="950976" y="2011680"/>
            <a:ext cx="384048" cy="384048"/>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中央</a:t>
            </a:r>
            <a:endParaRPr lang="en-US" sz="750" dirty="0"/>
          </a:p>
        </p:txBody>
      </p:sp>
      <p:sp>
        <p:nvSpPr>
          <p:cNvPr id="16" name="Text 14"/>
          <p:cNvSpPr txBox="1"/>
          <p:nvPr/>
        </p:nvSpPr>
        <p:spPr>
          <a:xfrm>
            <a:off x="950976" y="2596896"/>
            <a:ext cx="384048" cy="384048"/>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p:txBody>
      </p:sp>
      <p:sp>
        <p:nvSpPr>
          <p:cNvPr id="17" name="Text 15"/>
          <p:cNvSpPr txBox="1"/>
          <p:nvPr/>
        </p:nvSpPr>
        <p:spPr>
          <a:xfrm>
            <a:off x="1737360"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A ＝ 50 m</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D ＝ 25 m</a:t>
            </a:r>
            <a:endParaRPr lang="en-US" sz="1400" dirty="0"/>
          </a:p>
        </p:txBody>
      </p:sp>
      <p:sp>
        <p:nvSpPr>
          <p:cNvPr id="18" name="Text 16"/>
          <p:cNvSpPr txBox="1"/>
          <p:nvPr/>
        </p:nvSpPr>
        <p:spPr>
          <a:xfrm>
            <a:off x="640080" y="3035808"/>
            <a:ext cx="3273552" cy="2286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表（A 25〜100m・D 10〜100m）の中</a:t>
            </a:r>
            <a:endParaRPr lang="en-US" sz="950" dirty="0"/>
          </a:p>
        </p:txBody>
      </p:sp>
      <p:sp>
        <p:nvSpPr>
          <p:cNvPr id="19" name="Text 17"/>
          <p:cNvSpPr txBox="1"/>
          <p:nvPr/>
        </p:nvSpPr>
        <p:spPr>
          <a:xfrm>
            <a:off x="640080" y="3291840"/>
            <a:ext cx="3273552"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計算できる</a:t>
            </a:r>
            <a:endParaRPr lang="en-US" sz="1100" dirty="0"/>
          </a:p>
        </p:txBody>
      </p:sp>
      <p:sp>
        <p:nvSpPr>
          <p:cNvPr id="20" name="Shape 18"/>
          <p:cNvSpPr/>
          <p:nvPr/>
        </p:nvSpPr>
        <p:spPr>
          <a:xfrm>
            <a:off x="4279392" y="1481328"/>
            <a:ext cx="3639312" cy="2194560"/>
          </a:xfrm>
          <a:prstGeom prst="roundRect">
            <a:avLst>
              <a:gd name="adj" fmla="val 2500"/>
            </a:avLst>
          </a:prstGeom>
          <a:solidFill>
            <a:srgbClr val="F3F5F8"/>
          </a:solidFill>
          <a:ln/>
        </p:spPr>
      </p:sp>
      <p:sp>
        <p:nvSpPr>
          <p:cNvPr id="21" name="Shape 19"/>
          <p:cNvSpPr/>
          <p:nvPr/>
        </p:nvSpPr>
        <p:spPr>
          <a:xfrm>
            <a:off x="4279392" y="1481328"/>
            <a:ext cx="3639312" cy="384048"/>
          </a:xfrm>
          <a:prstGeom prst="roundRect">
            <a:avLst>
              <a:gd name="adj" fmla="val 14286"/>
            </a:avLst>
          </a:prstGeom>
          <a:solidFill>
            <a:srgbClr val="B04A3F"/>
          </a:solidFill>
          <a:ln/>
        </p:spPr>
      </p:sp>
      <p:sp>
        <p:nvSpPr>
          <p:cNvPr id="22" name="Text 20"/>
          <p:cNvSpPr txBox="1"/>
          <p:nvPr/>
        </p:nvSpPr>
        <p:spPr>
          <a:xfrm>
            <a:off x="4416552"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b. 建物がない</a:t>
            </a:r>
            <a:endParaRPr lang="en-US" sz="1200" dirty="0"/>
          </a:p>
        </p:txBody>
      </p:sp>
      <p:sp>
        <p:nvSpPr>
          <p:cNvPr id="23" name="Shape 21"/>
          <p:cNvSpPr/>
          <p:nvPr/>
        </p:nvSpPr>
        <p:spPr>
          <a:xfrm>
            <a:off x="4773168" y="2011680"/>
            <a:ext cx="384048" cy="384048"/>
          </a:xfrm>
          <a:prstGeom prst="rect">
            <a:avLst/>
          </a:prstGeom>
          <a:solidFill>
            <a:srgbClr val="1B2A44"/>
          </a:solidFill>
          <a:ln/>
        </p:spPr>
      </p:sp>
      <p:sp>
        <p:nvSpPr>
          <p:cNvPr id="24" name="Shape 22"/>
          <p:cNvSpPr/>
          <p:nvPr/>
        </p:nvSpPr>
        <p:spPr>
          <a:xfrm>
            <a:off x="4773168" y="2596896"/>
            <a:ext cx="384048" cy="384048"/>
          </a:xfrm>
          <a:prstGeom prst="rect">
            <a:avLst/>
          </a:prstGeom>
          <a:solidFill>
            <a:srgbClr val="FFFFFF"/>
          </a:solidFill>
          <a:ln w="9525">
            <a:solidFill>
              <a:srgbClr val="B8C0CA"/>
            </a:solidFill>
            <a:prstDash val="dash"/>
          </a:ln>
        </p:spPr>
      </p:sp>
      <p:sp>
        <p:nvSpPr>
          <p:cNvPr id="25" name="Text 23"/>
          <p:cNvSpPr txBox="1"/>
          <p:nvPr/>
        </p:nvSpPr>
        <p:spPr>
          <a:xfrm>
            <a:off x="4773168" y="2011680"/>
            <a:ext cx="384048" cy="384048"/>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中央</a:t>
            </a:r>
            <a:endParaRPr lang="en-US" sz="750" dirty="0"/>
          </a:p>
        </p:txBody>
      </p:sp>
      <p:sp>
        <p:nvSpPr>
          <p:cNvPr id="26" name="Text 24"/>
          <p:cNvSpPr txBox="1"/>
          <p:nvPr/>
        </p:nvSpPr>
        <p:spPr>
          <a:xfrm>
            <a:off x="4773168" y="2596896"/>
            <a:ext cx="384048" cy="384048"/>
          </a:xfrm>
          <a:prstGeom prst="rect">
            <a:avLst/>
          </a:prstGeom>
          <a:noFill/>
          <a:ln/>
        </p:spPr>
        <p:txBody>
          <a:bodyPr wrap="square" lIns="0" tIns="0" rIns="0" bIns="0" rtlCol="0" anchor="ctr"/>
          <a:lstStyle/>
          <a:p>
            <a:pPr algn="ctr" indent="0" marL="0">
              <a:buNone/>
            </a:pPr>
            <a:r>
              <a:rPr lang="en-US" sz="750" b="1" dirty="0">
                <a:solidFill>
                  <a:srgbClr val="6B7480"/>
                </a:solidFill>
                <a:latin typeface="Yu Gothic" pitchFamily="34" charset="0"/>
                <a:ea typeface="Yu Gothic" pitchFamily="34" charset="-122"/>
                <a:cs typeface="Yu Gothic" pitchFamily="34" charset="-120"/>
              </a:rPr>
              <a:t>なし</a:t>
            </a:r>
            <a:endParaRPr lang="en-US" sz="750" dirty="0"/>
          </a:p>
        </p:txBody>
      </p:sp>
      <p:sp>
        <p:nvSpPr>
          <p:cNvPr id="27" name="Text 25"/>
          <p:cNvSpPr txBox="1"/>
          <p:nvPr/>
        </p:nvSpPr>
        <p:spPr>
          <a:xfrm>
            <a:off x="5559552"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a:t>
            </a:r>
            <a:endParaRPr lang="en-US" sz="1400" dirty="0"/>
          </a:p>
        </p:txBody>
      </p:sp>
      <p:sp>
        <p:nvSpPr>
          <p:cNvPr id="28" name="Text 26"/>
          <p:cNvSpPr txBox="1"/>
          <p:nvPr/>
        </p:nvSpPr>
        <p:spPr>
          <a:xfrm>
            <a:off x="4462272" y="3035808"/>
            <a:ext cx="3273552" cy="2286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高さも距離も存在しない → 空欄</a:t>
            </a:r>
            <a:endParaRPr lang="en-US" sz="950" dirty="0"/>
          </a:p>
        </p:txBody>
      </p:sp>
      <p:sp>
        <p:nvSpPr>
          <p:cNvPr id="29" name="Text 27"/>
          <p:cNvSpPr txBox="1"/>
          <p:nvPr/>
        </p:nvSpPr>
        <p:spPr>
          <a:xfrm>
            <a:off x="4462272"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入れる数字がない</a:t>
            </a:r>
            <a:endParaRPr lang="en-US" sz="1100" dirty="0"/>
          </a:p>
        </p:txBody>
      </p:sp>
      <p:sp>
        <p:nvSpPr>
          <p:cNvPr id="30" name="Shape 28"/>
          <p:cNvSpPr/>
          <p:nvPr/>
        </p:nvSpPr>
        <p:spPr>
          <a:xfrm>
            <a:off x="8101584" y="1481328"/>
            <a:ext cx="3639312" cy="2194560"/>
          </a:xfrm>
          <a:prstGeom prst="roundRect">
            <a:avLst>
              <a:gd name="adj" fmla="val 2500"/>
            </a:avLst>
          </a:prstGeom>
          <a:solidFill>
            <a:srgbClr val="F3F5F8"/>
          </a:solidFill>
          <a:ln/>
        </p:spPr>
      </p:sp>
      <p:sp>
        <p:nvSpPr>
          <p:cNvPr id="31" name="Shape 29"/>
          <p:cNvSpPr/>
          <p:nvPr/>
        </p:nvSpPr>
        <p:spPr>
          <a:xfrm>
            <a:off x="8101584" y="1481328"/>
            <a:ext cx="3639312" cy="384048"/>
          </a:xfrm>
          <a:prstGeom prst="roundRect">
            <a:avLst>
              <a:gd name="adj" fmla="val 14286"/>
            </a:avLst>
          </a:prstGeom>
          <a:solidFill>
            <a:srgbClr val="B04A3F"/>
          </a:solidFill>
          <a:ln/>
        </p:spPr>
      </p:sp>
      <p:sp>
        <p:nvSpPr>
          <p:cNvPr id="32" name="Text 30"/>
          <p:cNvSpPr txBox="1"/>
          <p:nvPr/>
        </p:nvSpPr>
        <p:spPr>
          <a:xfrm>
            <a:off x="8238744"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c. A＝0 で代用する</a:t>
            </a:r>
            <a:endParaRPr lang="en-US" sz="1200" dirty="0"/>
          </a:p>
        </p:txBody>
      </p:sp>
      <p:sp>
        <p:nvSpPr>
          <p:cNvPr id="33" name="Shape 31"/>
          <p:cNvSpPr/>
          <p:nvPr/>
        </p:nvSpPr>
        <p:spPr>
          <a:xfrm>
            <a:off x="8595360" y="2011680"/>
            <a:ext cx="384048" cy="384048"/>
          </a:xfrm>
          <a:prstGeom prst="rect">
            <a:avLst/>
          </a:prstGeom>
          <a:solidFill>
            <a:srgbClr val="1B2A44"/>
          </a:solidFill>
          <a:ln/>
        </p:spPr>
      </p:sp>
      <p:sp>
        <p:nvSpPr>
          <p:cNvPr id="34" name="Shape 32"/>
          <p:cNvSpPr/>
          <p:nvPr/>
        </p:nvSpPr>
        <p:spPr>
          <a:xfrm>
            <a:off x="8595360" y="2596896"/>
            <a:ext cx="384048" cy="384048"/>
          </a:xfrm>
          <a:prstGeom prst="rect">
            <a:avLst/>
          </a:prstGeom>
          <a:solidFill>
            <a:srgbClr val="9CC3C7"/>
          </a:solidFill>
          <a:ln/>
        </p:spPr>
      </p:sp>
      <p:sp>
        <p:nvSpPr>
          <p:cNvPr id="35" name="Text 33"/>
          <p:cNvSpPr txBox="1"/>
          <p:nvPr/>
        </p:nvSpPr>
        <p:spPr>
          <a:xfrm>
            <a:off x="8595360" y="2011680"/>
            <a:ext cx="384048" cy="384048"/>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中央</a:t>
            </a:r>
            <a:endParaRPr lang="en-US" sz="750" dirty="0"/>
          </a:p>
        </p:txBody>
      </p:sp>
      <p:sp>
        <p:nvSpPr>
          <p:cNvPr id="36" name="Text 34"/>
          <p:cNvSpPr txBox="1"/>
          <p:nvPr/>
        </p:nvSpPr>
        <p:spPr>
          <a:xfrm>
            <a:off x="8595360" y="2596896"/>
            <a:ext cx="384048" cy="384048"/>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p:txBody>
      </p:sp>
      <p:sp>
        <p:nvSpPr>
          <p:cNvPr id="37" name="Text 35"/>
          <p:cNvSpPr txBox="1"/>
          <p:nvPr/>
        </p:nvSpPr>
        <p:spPr>
          <a:xfrm>
            <a:off x="9381744"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0 m</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25 m</a:t>
            </a:r>
            <a:endParaRPr lang="en-US" sz="1400" dirty="0"/>
          </a:p>
        </p:txBody>
      </p:sp>
      <p:sp>
        <p:nvSpPr>
          <p:cNvPr id="38" name="Text 36"/>
          <p:cNvSpPr txBox="1"/>
          <p:nvPr/>
        </p:nvSpPr>
        <p:spPr>
          <a:xfrm>
            <a:off x="8284464" y="3035808"/>
            <a:ext cx="3273552" cy="2286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表は A 25m から → 囲む4点がない</a:t>
            </a:r>
            <a:endParaRPr lang="en-US" sz="950" dirty="0"/>
          </a:p>
        </p:txBody>
      </p:sp>
      <p:sp>
        <p:nvSpPr>
          <p:cNvPr id="39" name="Text 37"/>
          <p:cNvSpPr txBox="1"/>
          <p:nvPr/>
        </p:nvSpPr>
        <p:spPr>
          <a:xfrm>
            <a:off x="8284464"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表の外（外挿）</a:t>
            </a:r>
            <a:endParaRPr lang="en-US" sz="1100" dirty="0"/>
          </a:p>
        </p:txBody>
      </p:sp>
      <p:sp>
        <p:nvSpPr>
          <p:cNvPr id="40" name="Shape 38"/>
          <p:cNvSpPr/>
          <p:nvPr/>
        </p:nvSpPr>
        <p:spPr>
          <a:xfrm>
            <a:off x="457200" y="3840480"/>
            <a:ext cx="5486400" cy="2468880"/>
          </a:xfrm>
          <a:prstGeom prst="roundRect">
            <a:avLst>
              <a:gd name="adj" fmla="val 2222"/>
            </a:avLst>
          </a:prstGeom>
          <a:solidFill>
            <a:srgbClr val="F3F5F8"/>
          </a:solidFill>
          <a:ln/>
        </p:spPr>
      </p:sp>
      <p:sp>
        <p:nvSpPr>
          <p:cNvPr id="41" name="Text 39"/>
          <p:cNvSpPr txBox="1"/>
          <p:nvPr/>
        </p:nvSpPr>
        <p:spPr>
          <a:xfrm>
            <a:off x="594360" y="3895344"/>
            <a:ext cx="52120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そこで s を使う（入力の例）</a:t>
            </a:r>
            <a:endParaRPr lang="en-US" sz="1150" dirty="0"/>
          </a:p>
        </p:txBody>
      </p:sp>
      <p:sp>
        <p:nvSpPr>
          <p:cNvPr id="42" name="Text 40"/>
          <p:cNvSpPr txBox="1"/>
          <p:nvPr/>
        </p:nvSpPr>
        <p:spPr>
          <a:xfrm>
            <a:off x="640080" y="4160520"/>
            <a:ext cx="548640" cy="219456"/>
          </a:xfrm>
          <a:prstGeom prst="rect">
            <a:avLst/>
          </a:prstGeom>
          <a:noFill/>
          <a:ln/>
        </p:spPr>
        <p:txBody>
          <a:bodyPr wrap="square" lIns="508" tIns="508" rIns="508" bIns="508" rtlCol="0" anchor="t"/>
          <a:lstStyle/>
          <a:p>
            <a:pPr algn="l" indent="0" marL="0">
              <a:buNone/>
            </a:pPr>
            <a:r>
              <a:rPr lang="en-US" sz="900" b="1" dirty="0">
                <a:solidFill>
                  <a:srgbClr val="6B7480"/>
                </a:solidFill>
                <a:latin typeface="Yu Gothic" pitchFamily="34" charset="0"/>
                <a:ea typeface="Yu Gothic" pitchFamily="34" charset="-122"/>
                <a:cs typeface="Yu Gothic" pitchFamily="34" charset="-120"/>
              </a:rPr>
              <a:t>方向</a:t>
            </a:r>
            <a:endParaRPr lang="en-US" sz="900" dirty="0"/>
          </a:p>
        </p:txBody>
      </p:sp>
      <p:sp>
        <p:nvSpPr>
          <p:cNvPr id="43" name="Text 41"/>
          <p:cNvSpPr txBox="1"/>
          <p:nvPr/>
        </p:nvSpPr>
        <p:spPr>
          <a:xfrm>
            <a:off x="1417320" y="4160520"/>
            <a:ext cx="109728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s</a:t>
            </a:r>
            <a:endParaRPr lang="en-US" sz="900" dirty="0"/>
          </a:p>
        </p:txBody>
      </p:sp>
      <p:sp>
        <p:nvSpPr>
          <p:cNvPr id="44" name="Text 42"/>
          <p:cNvSpPr txBox="1"/>
          <p:nvPr/>
        </p:nvSpPr>
        <p:spPr>
          <a:xfrm>
            <a:off x="2606040" y="4160520"/>
            <a:ext cx="77724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高さ A</a:t>
            </a:r>
            <a:endParaRPr lang="en-US" sz="900" dirty="0"/>
          </a:p>
        </p:txBody>
      </p:sp>
      <p:sp>
        <p:nvSpPr>
          <p:cNvPr id="45" name="Text 43"/>
          <p:cNvSpPr txBox="1"/>
          <p:nvPr/>
        </p:nvSpPr>
        <p:spPr>
          <a:xfrm>
            <a:off x="3429000" y="4160520"/>
            <a:ext cx="77724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隙間 D</a:t>
            </a:r>
            <a:endParaRPr lang="en-US" sz="900" dirty="0"/>
          </a:p>
        </p:txBody>
      </p:sp>
      <p:sp>
        <p:nvSpPr>
          <p:cNvPr id="46" name="Text 44"/>
          <p:cNvSpPr txBox="1"/>
          <p:nvPr/>
        </p:nvSpPr>
        <p:spPr>
          <a:xfrm>
            <a:off x="4343400" y="4160520"/>
            <a:ext cx="13716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計算に</a:t>
            </a:r>
            <a:endParaRPr lang="en-US" sz="900" dirty="0"/>
          </a:p>
        </p:txBody>
      </p:sp>
      <p:sp>
        <p:nvSpPr>
          <p:cNvPr id="47" name="Shape 45"/>
          <p:cNvSpPr/>
          <p:nvPr/>
        </p:nvSpPr>
        <p:spPr>
          <a:xfrm>
            <a:off x="548640" y="4407408"/>
            <a:ext cx="5303520" cy="402336"/>
          </a:xfrm>
          <a:prstGeom prst="roundRect">
            <a:avLst>
              <a:gd name="adj" fmla="val 11364"/>
            </a:avLst>
          </a:prstGeom>
          <a:solidFill>
            <a:srgbClr val="EEF0F3"/>
          </a:solidFill>
          <a:ln/>
        </p:spPr>
      </p:sp>
      <p:sp>
        <p:nvSpPr>
          <p:cNvPr id="48" name="Text 46"/>
          <p:cNvSpPr txBox="1"/>
          <p:nvPr/>
        </p:nvSpPr>
        <p:spPr>
          <a:xfrm>
            <a:off x="640080" y="44074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北</a:t>
            </a:r>
            <a:endParaRPr lang="en-US" sz="1200" dirty="0"/>
          </a:p>
        </p:txBody>
      </p:sp>
      <p:sp>
        <p:nvSpPr>
          <p:cNvPr id="49" name="Shape 47"/>
          <p:cNvSpPr/>
          <p:nvPr/>
        </p:nvSpPr>
        <p:spPr>
          <a:xfrm>
            <a:off x="1554480" y="4489704"/>
            <a:ext cx="548640" cy="237744"/>
          </a:xfrm>
          <a:prstGeom prst="roundRect">
            <a:avLst>
              <a:gd name="adj" fmla="val 50000"/>
            </a:avLst>
          </a:prstGeom>
          <a:solidFill>
            <a:srgbClr val="AEB4BC"/>
          </a:solidFill>
          <a:ln/>
        </p:spPr>
      </p:sp>
      <p:sp>
        <p:nvSpPr>
          <p:cNvPr id="50" name="Shape 48"/>
          <p:cNvSpPr/>
          <p:nvPr/>
        </p:nvSpPr>
        <p:spPr>
          <a:xfrm>
            <a:off x="1572768" y="4507992"/>
            <a:ext cx="201168" cy="201168"/>
          </a:xfrm>
          <a:prstGeom prst="ellipse">
            <a:avLst/>
          </a:prstGeom>
          <a:solidFill>
            <a:srgbClr val="FFFFFF"/>
          </a:solidFill>
          <a:ln/>
        </p:spPr>
      </p:sp>
      <p:sp>
        <p:nvSpPr>
          <p:cNvPr id="51" name="Text 49"/>
          <p:cNvSpPr txBox="1"/>
          <p:nvPr/>
        </p:nvSpPr>
        <p:spPr>
          <a:xfrm>
            <a:off x="2148840" y="44074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52" name="Text 50"/>
          <p:cNvSpPr txBox="1"/>
          <p:nvPr/>
        </p:nvSpPr>
        <p:spPr>
          <a:xfrm>
            <a:off x="2606040" y="4407408"/>
            <a:ext cx="777240" cy="402336"/>
          </a:xfrm>
          <a:prstGeom prst="rect">
            <a:avLst/>
          </a:prstGeom>
          <a:noFill/>
          <a:ln/>
        </p:spPr>
        <p:txBody>
          <a:bodyPr wrap="square" lIns="508" tIns="508" rIns="508" bIns="508"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a:t>
            </a:r>
            <a:endParaRPr lang="en-US" sz="1050" dirty="0"/>
          </a:p>
        </p:txBody>
      </p:sp>
      <p:sp>
        <p:nvSpPr>
          <p:cNvPr id="53" name="Text 51"/>
          <p:cNvSpPr txBox="1"/>
          <p:nvPr/>
        </p:nvSpPr>
        <p:spPr>
          <a:xfrm>
            <a:off x="3429000" y="4407408"/>
            <a:ext cx="777240" cy="402336"/>
          </a:xfrm>
          <a:prstGeom prst="rect">
            <a:avLst/>
          </a:prstGeom>
          <a:noFill/>
          <a:ln/>
        </p:spPr>
        <p:txBody>
          <a:bodyPr wrap="square" lIns="508" tIns="508" rIns="508" bIns="508"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a:t>
            </a:r>
            <a:endParaRPr lang="en-US" sz="1050" dirty="0"/>
          </a:p>
        </p:txBody>
      </p:sp>
      <p:sp>
        <p:nvSpPr>
          <p:cNvPr id="54" name="Text 52"/>
          <p:cNvSpPr txBox="1"/>
          <p:nvPr/>
        </p:nvSpPr>
        <p:spPr>
          <a:xfrm>
            <a:off x="4343400" y="4407408"/>
            <a:ext cx="1371600" cy="402336"/>
          </a:xfrm>
          <a:prstGeom prst="rect">
            <a:avLst/>
          </a:prstGeom>
          <a:noFill/>
          <a:ln/>
        </p:spPr>
        <p:txBody>
          <a:bodyPr wrap="square" lIns="508" tIns="508" rIns="508" bIns="508" rtlCol="0" anchor="ctr"/>
          <a:lstStyle/>
          <a:p>
            <a:pPr algn="ctr" indent="0" marL="0">
              <a:buNone/>
            </a:pPr>
            <a:r>
              <a:rPr lang="en-US" sz="1050" b="1" dirty="0">
                <a:solidFill>
                  <a:srgbClr val="6B7480"/>
                </a:solidFill>
                <a:latin typeface="Yu Gothic" pitchFamily="34" charset="0"/>
                <a:ea typeface="Yu Gothic" pitchFamily="34" charset="-122"/>
                <a:cs typeface="Yu Gothic" pitchFamily="34" charset="-120"/>
              </a:rPr>
              <a:t>入れない</a:t>
            </a:r>
            <a:endParaRPr lang="en-US" sz="1050" dirty="0"/>
          </a:p>
        </p:txBody>
      </p:sp>
      <p:sp>
        <p:nvSpPr>
          <p:cNvPr id="55" name="Shape 53"/>
          <p:cNvSpPr/>
          <p:nvPr/>
        </p:nvSpPr>
        <p:spPr>
          <a:xfrm>
            <a:off x="548640" y="4864608"/>
            <a:ext cx="5303520" cy="402336"/>
          </a:xfrm>
          <a:prstGeom prst="roundRect">
            <a:avLst>
              <a:gd name="adj" fmla="val 11364"/>
            </a:avLst>
          </a:prstGeom>
          <a:solidFill>
            <a:srgbClr val="FFFFFF"/>
          </a:solidFill>
          <a:ln/>
        </p:spPr>
      </p:sp>
      <p:sp>
        <p:nvSpPr>
          <p:cNvPr id="56" name="Text 54"/>
          <p:cNvSpPr txBox="1"/>
          <p:nvPr/>
        </p:nvSpPr>
        <p:spPr>
          <a:xfrm>
            <a:off x="640080" y="48646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東</a:t>
            </a:r>
            <a:endParaRPr lang="en-US" sz="1200" dirty="0"/>
          </a:p>
        </p:txBody>
      </p:sp>
      <p:sp>
        <p:nvSpPr>
          <p:cNvPr id="57" name="Shape 55"/>
          <p:cNvSpPr/>
          <p:nvPr/>
        </p:nvSpPr>
        <p:spPr>
          <a:xfrm>
            <a:off x="1554480" y="4946904"/>
            <a:ext cx="548640" cy="237744"/>
          </a:xfrm>
          <a:prstGeom prst="roundRect">
            <a:avLst>
              <a:gd name="adj" fmla="val 50000"/>
            </a:avLst>
          </a:prstGeom>
          <a:solidFill>
            <a:srgbClr val="4C8C6B"/>
          </a:solidFill>
          <a:ln/>
        </p:spPr>
      </p:sp>
      <p:sp>
        <p:nvSpPr>
          <p:cNvPr id="58" name="Shape 56"/>
          <p:cNvSpPr/>
          <p:nvPr/>
        </p:nvSpPr>
        <p:spPr>
          <a:xfrm>
            <a:off x="1883664" y="4965192"/>
            <a:ext cx="201168" cy="201168"/>
          </a:xfrm>
          <a:prstGeom prst="ellipse">
            <a:avLst/>
          </a:prstGeom>
          <a:solidFill>
            <a:srgbClr val="FFFFFF"/>
          </a:solidFill>
          <a:ln/>
        </p:spPr>
      </p:sp>
      <p:sp>
        <p:nvSpPr>
          <p:cNvPr id="59" name="Text 57"/>
          <p:cNvSpPr txBox="1"/>
          <p:nvPr/>
        </p:nvSpPr>
        <p:spPr>
          <a:xfrm>
            <a:off x="2148840" y="48646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0" name="Text 58"/>
          <p:cNvSpPr txBox="1"/>
          <p:nvPr/>
        </p:nvSpPr>
        <p:spPr>
          <a:xfrm>
            <a:off x="2606040" y="4864608"/>
            <a:ext cx="777240" cy="402336"/>
          </a:xfrm>
          <a:prstGeom prst="rect">
            <a:avLst/>
          </a:prstGeom>
          <a:noFill/>
          <a:ln/>
        </p:spPr>
        <p:txBody>
          <a:bodyPr wrap="square" lIns="508" tIns="508" rIns="508" bIns="508"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40 m</a:t>
            </a:r>
            <a:endParaRPr lang="en-US" sz="1050" dirty="0"/>
          </a:p>
        </p:txBody>
      </p:sp>
      <p:sp>
        <p:nvSpPr>
          <p:cNvPr id="61" name="Text 59"/>
          <p:cNvSpPr txBox="1"/>
          <p:nvPr/>
        </p:nvSpPr>
        <p:spPr>
          <a:xfrm>
            <a:off x="3429000" y="4864608"/>
            <a:ext cx="777240" cy="402336"/>
          </a:xfrm>
          <a:prstGeom prst="rect">
            <a:avLst/>
          </a:prstGeom>
          <a:noFill/>
          <a:ln/>
        </p:spPr>
        <p:txBody>
          <a:bodyPr wrap="square" lIns="508" tIns="508" rIns="508" bIns="508"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30 m</a:t>
            </a:r>
            <a:endParaRPr lang="en-US" sz="1050" dirty="0"/>
          </a:p>
        </p:txBody>
      </p:sp>
      <p:sp>
        <p:nvSpPr>
          <p:cNvPr id="62" name="Text 60"/>
          <p:cNvSpPr txBox="1"/>
          <p:nvPr/>
        </p:nvSpPr>
        <p:spPr>
          <a:xfrm>
            <a:off x="4343400" y="4864608"/>
            <a:ext cx="1371600" cy="402336"/>
          </a:xfrm>
          <a:prstGeom prst="rect">
            <a:avLst/>
          </a:prstGeom>
          <a:noFill/>
          <a:ln/>
        </p:spPr>
        <p:txBody>
          <a:bodyPr wrap="square" lIns="508" tIns="508" rIns="508" bIns="508" rtlCol="0" anchor="ctr"/>
          <a:lstStyle/>
          <a:p>
            <a:pPr algn="ctr" indent="0" marL="0">
              <a:buNone/>
            </a:pPr>
            <a:r>
              <a:rPr lang="en-US" sz="1050" b="1" dirty="0">
                <a:solidFill>
                  <a:srgbClr val="4C8C6B"/>
                </a:solidFill>
                <a:latin typeface="Yu Gothic" pitchFamily="34" charset="0"/>
                <a:ea typeface="Yu Gothic" pitchFamily="34" charset="-122"/>
                <a:cs typeface="Yu Gothic" pitchFamily="34" charset="-120"/>
              </a:rPr>
              <a:t>入れる</a:t>
            </a:r>
            <a:endParaRPr lang="en-US" sz="1050" dirty="0"/>
          </a:p>
        </p:txBody>
      </p:sp>
      <p:sp>
        <p:nvSpPr>
          <p:cNvPr id="63" name="Shape 61"/>
          <p:cNvSpPr/>
          <p:nvPr/>
        </p:nvSpPr>
        <p:spPr>
          <a:xfrm>
            <a:off x="548640" y="5321808"/>
            <a:ext cx="5303520" cy="402336"/>
          </a:xfrm>
          <a:prstGeom prst="roundRect">
            <a:avLst>
              <a:gd name="adj" fmla="val 11364"/>
            </a:avLst>
          </a:prstGeom>
          <a:solidFill>
            <a:srgbClr val="FFFFFF"/>
          </a:solidFill>
          <a:ln/>
        </p:spPr>
      </p:sp>
      <p:sp>
        <p:nvSpPr>
          <p:cNvPr id="64" name="Text 62"/>
          <p:cNvSpPr txBox="1"/>
          <p:nvPr/>
        </p:nvSpPr>
        <p:spPr>
          <a:xfrm>
            <a:off x="640080" y="53218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南</a:t>
            </a:r>
            <a:endParaRPr lang="en-US" sz="1200" dirty="0"/>
          </a:p>
        </p:txBody>
      </p:sp>
      <p:sp>
        <p:nvSpPr>
          <p:cNvPr id="65" name="Shape 63"/>
          <p:cNvSpPr/>
          <p:nvPr/>
        </p:nvSpPr>
        <p:spPr>
          <a:xfrm>
            <a:off x="1554480" y="5404104"/>
            <a:ext cx="548640" cy="237744"/>
          </a:xfrm>
          <a:prstGeom prst="roundRect">
            <a:avLst>
              <a:gd name="adj" fmla="val 50000"/>
            </a:avLst>
          </a:prstGeom>
          <a:solidFill>
            <a:srgbClr val="4C8C6B"/>
          </a:solidFill>
          <a:ln/>
        </p:spPr>
      </p:sp>
      <p:sp>
        <p:nvSpPr>
          <p:cNvPr id="66" name="Shape 64"/>
          <p:cNvSpPr/>
          <p:nvPr/>
        </p:nvSpPr>
        <p:spPr>
          <a:xfrm>
            <a:off x="1883664" y="5422392"/>
            <a:ext cx="201168" cy="201168"/>
          </a:xfrm>
          <a:prstGeom prst="ellipse">
            <a:avLst/>
          </a:prstGeom>
          <a:solidFill>
            <a:srgbClr val="FFFFFF"/>
          </a:solidFill>
          <a:ln/>
        </p:spPr>
      </p:sp>
      <p:sp>
        <p:nvSpPr>
          <p:cNvPr id="67" name="Text 65"/>
          <p:cNvSpPr txBox="1"/>
          <p:nvPr/>
        </p:nvSpPr>
        <p:spPr>
          <a:xfrm>
            <a:off x="2148840" y="53218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8" name="Text 66"/>
          <p:cNvSpPr txBox="1"/>
          <p:nvPr/>
        </p:nvSpPr>
        <p:spPr>
          <a:xfrm>
            <a:off x="2606040" y="5321808"/>
            <a:ext cx="777240" cy="402336"/>
          </a:xfrm>
          <a:prstGeom prst="rect">
            <a:avLst/>
          </a:prstGeom>
          <a:noFill/>
          <a:ln/>
        </p:spPr>
        <p:txBody>
          <a:bodyPr wrap="square" lIns="508" tIns="508" rIns="508" bIns="508"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55.9 m</a:t>
            </a:r>
            <a:endParaRPr lang="en-US" sz="1050" dirty="0"/>
          </a:p>
        </p:txBody>
      </p:sp>
      <p:sp>
        <p:nvSpPr>
          <p:cNvPr id="69" name="Text 67"/>
          <p:cNvSpPr txBox="1"/>
          <p:nvPr/>
        </p:nvSpPr>
        <p:spPr>
          <a:xfrm>
            <a:off x="3429000" y="5321808"/>
            <a:ext cx="777240" cy="402336"/>
          </a:xfrm>
          <a:prstGeom prst="rect">
            <a:avLst/>
          </a:prstGeom>
          <a:noFill/>
          <a:ln/>
        </p:spPr>
        <p:txBody>
          <a:bodyPr wrap="square" lIns="508" tIns="508" rIns="508" bIns="508"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14 m</a:t>
            </a:r>
            <a:endParaRPr lang="en-US" sz="1050" dirty="0"/>
          </a:p>
        </p:txBody>
      </p:sp>
      <p:sp>
        <p:nvSpPr>
          <p:cNvPr id="70" name="Text 68"/>
          <p:cNvSpPr txBox="1"/>
          <p:nvPr/>
        </p:nvSpPr>
        <p:spPr>
          <a:xfrm>
            <a:off x="4343400" y="5321808"/>
            <a:ext cx="1371600" cy="402336"/>
          </a:xfrm>
          <a:prstGeom prst="rect">
            <a:avLst/>
          </a:prstGeom>
          <a:noFill/>
          <a:ln/>
        </p:spPr>
        <p:txBody>
          <a:bodyPr wrap="square" lIns="508" tIns="508" rIns="508" bIns="508" rtlCol="0" anchor="ctr"/>
          <a:lstStyle/>
          <a:p>
            <a:pPr algn="ctr" indent="0" marL="0">
              <a:buNone/>
            </a:pPr>
            <a:r>
              <a:rPr lang="en-US" sz="1050" b="1" dirty="0">
                <a:solidFill>
                  <a:srgbClr val="4C8C6B"/>
                </a:solidFill>
                <a:latin typeface="Yu Gothic" pitchFamily="34" charset="0"/>
                <a:ea typeface="Yu Gothic" pitchFamily="34" charset="-122"/>
                <a:cs typeface="Yu Gothic" pitchFamily="34" charset="-120"/>
              </a:rPr>
              <a:t>入れる</a:t>
            </a:r>
            <a:endParaRPr lang="en-US" sz="1050" dirty="0"/>
          </a:p>
        </p:txBody>
      </p:sp>
      <p:sp>
        <p:nvSpPr>
          <p:cNvPr id="71" name="Shape 69"/>
          <p:cNvSpPr/>
          <p:nvPr/>
        </p:nvSpPr>
        <p:spPr>
          <a:xfrm>
            <a:off x="548640" y="5779008"/>
            <a:ext cx="5303520" cy="402336"/>
          </a:xfrm>
          <a:prstGeom prst="roundRect">
            <a:avLst>
              <a:gd name="adj" fmla="val 11364"/>
            </a:avLst>
          </a:prstGeom>
          <a:solidFill>
            <a:srgbClr val="EEF0F3"/>
          </a:solidFill>
          <a:ln/>
        </p:spPr>
      </p:sp>
      <p:sp>
        <p:nvSpPr>
          <p:cNvPr id="72" name="Text 70"/>
          <p:cNvSpPr txBox="1"/>
          <p:nvPr/>
        </p:nvSpPr>
        <p:spPr>
          <a:xfrm>
            <a:off x="640080" y="57790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西</a:t>
            </a:r>
            <a:endParaRPr lang="en-US" sz="1200" dirty="0"/>
          </a:p>
        </p:txBody>
      </p:sp>
      <p:sp>
        <p:nvSpPr>
          <p:cNvPr id="73" name="Shape 71"/>
          <p:cNvSpPr/>
          <p:nvPr/>
        </p:nvSpPr>
        <p:spPr>
          <a:xfrm>
            <a:off x="1554480" y="5861304"/>
            <a:ext cx="548640" cy="237744"/>
          </a:xfrm>
          <a:prstGeom prst="roundRect">
            <a:avLst>
              <a:gd name="adj" fmla="val 50000"/>
            </a:avLst>
          </a:prstGeom>
          <a:solidFill>
            <a:srgbClr val="AEB4BC"/>
          </a:solidFill>
          <a:ln/>
        </p:spPr>
      </p:sp>
      <p:sp>
        <p:nvSpPr>
          <p:cNvPr id="74" name="Shape 72"/>
          <p:cNvSpPr/>
          <p:nvPr/>
        </p:nvSpPr>
        <p:spPr>
          <a:xfrm>
            <a:off x="1572768" y="5879592"/>
            <a:ext cx="201168" cy="201168"/>
          </a:xfrm>
          <a:prstGeom prst="ellipse">
            <a:avLst/>
          </a:prstGeom>
          <a:solidFill>
            <a:srgbClr val="FFFFFF"/>
          </a:solidFill>
          <a:ln/>
        </p:spPr>
      </p:sp>
      <p:sp>
        <p:nvSpPr>
          <p:cNvPr id="75" name="Text 73"/>
          <p:cNvSpPr txBox="1"/>
          <p:nvPr/>
        </p:nvSpPr>
        <p:spPr>
          <a:xfrm>
            <a:off x="2148840" y="57790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76" name="Text 74"/>
          <p:cNvSpPr txBox="1"/>
          <p:nvPr/>
        </p:nvSpPr>
        <p:spPr>
          <a:xfrm>
            <a:off x="2606040" y="5779008"/>
            <a:ext cx="777240" cy="402336"/>
          </a:xfrm>
          <a:prstGeom prst="rect">
            <a:avLst/>
          </a:prstGeom>
          <a:noFill/>
          <a:ln/>
        </p:spPr>
        <p:txBody>
          <a:bodyPr wrap="square" lIns="508" tIns="508" rIns="508" bIns="508"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a:t>
            </a:r>
            <a:endParaRPr lang="en-US" sz="1050" dirty="0"/>
          </a:p>
        </p:txBody>
      </p:sp>
      <p:sp>
        <p:nvSpPr>
          <p:cNvPr id="77" name="Text 75"/>
          <p:cNvSpPr txBox="1"/>
          <p:nvPr/>
        </p:nvSpPr>
        <p:spPr>
          <a:xfrm>
            <a:off x="3429000" y="5779008"/>
            <a:ext cx="777240" cy="402336"/>
          </a:xfrm>
          <a:prstGeom prst="rect">
            <a:avLst/>
          </a:prstGeom>
          <a:noFill/>
          <a:ln/>
        </p:spPr>
        <p:txBody>
          <a:bodyPr wrap="square" lIns="508" tIns="508" rIns="508" bIns="508"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a:t>
            </a:r>
            <a:endParaRPr lang="en-US" sz="1050" dirty="0"/>
          </a:p>
        </p:txBody>
      </p:sp>
      <p:sp>
        <p:nvSpPr>
          <p:cNvPr id="78" name="Text 76"/>
          <p:cNvSpPr txBox="1"/>
          <p:nvPr/>
        </p:nvSpPr>
        <p:spPr>
          <a:xfrm>
            <a:off x="4343400" y="5779008"/>
            <a:ext cx="1371600" cy="402336"/>
          </a:xfrm>
          <a:prstGeom prst="rect">
            <a:avLst/>
          </a:prstGeom>
          <a:noFill/>
          <a:ln/>
        </p:spPr>
        <p:txBody>
          <a:bodyPr wrap="square" lIns="508" tIns="508" rIns="508" bIns="508" rtlCol="0" anchor="ctr"/>
          <a:lstStyle/>
          <a:p>
            <a:pPr algn="ctr" indent="0" marL="0">
              <a:buNone/>
            </a:pPr>
            <a:r>
              <a:rPr lang="en-US" sz="1050" b="1" dirty="0">
                <a:solidFill>
                  <a:srgbClr val="6B7480"/>
                </a:solidFill>
                <a:latin typeface="Yu Gothic" pitchFamily="34" charset="0"/>
                <a:ea typeface="Yu Gothic" pitchFamily="34" charset="-122"/>
                <a:cs typeface="Yu Gothic" pitchFamily="34" charset="-120"/>
              </a:rPr>
              <a:t>入れない</a:t>
            </a:r>
            <a:endParaRPr lang="en-US" sz="1050" dirty="0"/>
          </a:p>
        </p:txBody>
      </p:sp>
      <p:sp>
        <p:nvSpPr>
          <p:cNvPr id="79" name="Shape 77"/>
          <p:cNvSpPr/>
          <p:nvPr/>
        </p:nvSpPr>
        <p:spPr>
          <a:xfrm>
            <a:off x="6172200" y="3840480"/>
            <a:ext cx="5577840" cy="2468880"/>
          </a:xfrm>
          <a:prstGeom prst="roundRect">
            <a:avLst>
              <a:gd name="adj" fmla="val 2222"/>
            </a:avLst>
          </a:prstGeom>
          <a:solidFill>
            <a:srgbClr val="1B2A44"/>
          </a:solidFill>
          <a:ln/>
        </p:spPr>
      </p:sp>
      <p:sp>
        <p:nvSpPr>
          <p:cNvPr id="80" name="Text 78"/>
          <p:cNvSpPr txBox="1"/>
          <p:nvPr/>
        </p:nvSpPr>
        <p:spPr>
          <a:xfrm>
            <a:off x="6355080" y="3904488"/>
            <a:ext cx="5212080" cy="256032"/>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式の中では「s を掛ける」だけ</a:t>
            </a:r>
            <a:endParaRPr lang="en-US" sz="1150" dirty="0"/>
          </a:p>
        </p:txBody>
      </p:sp>
      <p:sp>
        <p:nvSpPr>
          <p:cNvPr id="81" name="Text 79"/>
          <p:cNvSpPr txBox="1"/>
          <p:nvPr/>
        </p:nvSpPr>
        <p:spPr>
          <a:xfrm>
            <a:off x="6355080" y="4206240"/>
            <a:ext cx="5303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予測 ＝ 建物なしの値 − Σ（s × その建物で減る量）</a:t>
            </a:r>
            <a:endParaRPr lang="en-US" sz="1100" dirty="0"/>
          </a:p>
        </p:txBody>
      </p:sp>
      <p:sp>
        <p:nvSpPr>
          <p:cNvPr id="82" name="Text 80"/>
          <p:cNvSpPr txBox="1"/>
          <p:nvPr/>
        </p:nvSpPr>
        <p:spPr>
          <a:xfrm>
            <a:off x="6355080" y="4526280"/>
            <a:ext cx="5303520" cy="292608"/>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 建物なし </a:t>
            </a:r>
            <a:pPr indent="0" marL="0">
              <a:buNone/>
            </a:pPr>
            <a:r>
              <a:rPr lang="en-US" sz="1150" b="1" dirty="0">
                <a:solidFill>
                  <a:srgbClr val="6F7F9C"/>
                </a:solidFill>
                <a:latin typeface="Yu Gothic" pitchFamily="34" charset="0"/>
                <a:ea typeface="Yu Gothic" pitchFamily="34" charset="-122"/>
                <a:cs typeface="Yu Gothic" pitchFamily="34" charset="-120"/>
              </a:rPr>
              <a:t>− 0×北 </a:t>
            </a:r>
            <a:pPr indent="0" marL="0">
              <a:buNone/>
            </a:pPr>
            <a:r>
              <a:rPr lang="en-US" sz="1150" b="1" dirty="0">
                <a:solidFill>
                  <a:srgbClr val="E8934D"/>
                </a:solidFill>
                <a:latin typeface="Yu Gothic" pitchFamily="34" charset="0"/>
                <a:ea typeface="Yu Gothic" pitchFamily="34" charset="-122"/>
                <a:cs typeface="Yu Gothic" pitchFamily="34" charset="-120"/>
              </a:rPr>
              <a:t>− 1×東 − 1×南 </a:t>
            </a:r>
            <a:pPr indent="0" marL="0">
              <a:buNone/>
            </a:pPr>
            <a:r>
              <a:rPr lang="en-US" sz="1150" b="1" dirty="0">
                <a:solidFill>
                  <a:srgbClr val="6F7F9C"/>
                </a:solidFill>
                <a:latin typeface="Yu Gothic" pitchFamily="34" charset="0"/>
                <a:ea typeface="Yu Gothic" pitchFamily="34" charset="-122"/>
                <a:cs typeface="Yu Gothic" pitchFamily="34" charset="-120"/>
              </a:rPr>
              <a:t>− 0×西</a:t>
            </a:r>
            <a:endParaRPr lang="en-US" sz="1150" dirty="0"/>
          </a:p>
        </p:txBody>
      </p:sp>
      <p:sp>
        <p:nvSpPr>
          <p:cNvPr id="83" name="Text 81"/>
          <p:cNvSpPr txBox="1"/>
          <p:nvPr/>
        </p:nvSpPr>
        <p:spPr>
          <a:xfrm>
            <a:off x="6355080" y="4892040"/>
            <a:ext cx="5257800" cy="59436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 建物なし − 東で減る量 − 南で減る量。0 を掛けた項（灰色）は消えるので、無い建物は結果に影響しない。棟数も n ＝ s の合計 ＝ 0＋1＋1＋0 ＝ 2 と数えられる。</a:t>
            </a:r>
            <a:endParaRPr lang="en-US" sz="950" dirty="0"/>
          </a:p>
        </p:txBody>
      </p:sp>
      <p:sp>
        <p:nvSpPr>
          <p:cNvPr id="84" name="Shape 82"/>
          <p:cNvSpPr/>
          <p:nvPr/>
        </p:nvSpPr>
        <p:spPr>
          <a:xfrm>
            <a:off x="6355080" y="5532120"/>
            <a:ext cx="5212080" cy="658368"/>
          </a:xfrm>
          <a:prstGeom prst="roundRect">
            <a:avLst>
              <a:gd name="adj" fmla="val 6944"/>
            </a:avLst>
          </a:prstGeom>
          <a:solidFill>
            <a:srgbClr val="24365A"/>
          </a:solidFill>
          <a:ln/>
        </p:spPr>
      </p:sp>
      <p:sp>
        <p:nvSpPr>
          <p:cNvPr id="85" name="Text 83"/>
          <p:cNvSpPr txBox="1"/>
          <p:nvPr/>
        </p:nvSpPr>
        <p:spPr>
          <a:xfrm>
            <a:off x="6446520" y="5550408"/>
            <a:ext cx="5029200" cy="621792"/>
          </a:xfrm>
          <a:prstGeom prst="rect">
            <a:avLst/>
          </a:prstGeom>
          <a:noFill/>
          <a:ln/>
        </p:spPr>
        <p:txBody>
          <a:bodyPr wrap="square" lIns="508" tIns="508" rIns="508" bIns="508" rtlCol="0" anchor="ctr"/>
          <a:lstStyle/>
          <a:p>
            <a:pPr indent="0" marL="0">
              <a:buNone/>
            </a:pPr>
            <a:r>
              <a:rPr lang="en-US" sz="950" dirty="0">
                <a:solidFill>
                  <a:srgbClr val="FFFFFF"/>
                </a:solidFill>
                <a:latin typeface="Yu Gothic" pitchFamily="34" charset="0"/>
                <a:ea typeface="Yu Gothic" pitchFamily="34" charset="-122"/>
                <a:cs typeface="Yu Gothic" pitchFamily="34" charset="-120"/>
              </a:rPr>
              <a:t>注意：s は 0 か 1 だけ（0.5 の建物はない）ので、s の方向には補間できない。有無の組み合わせ 2⁴＝16通りを別々に扱う。</a:t>
            </a:r>
            <a:endParaRPr lang="en-US" sz="95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と中央の高さを固定して、線形補間が使えるかを確かめる。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36</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95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北</a:t>
            </a:r>
            <a:endParaRPr lang="en-US" sz="95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東の建物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東</a:t>
            </a:r>
            <a:endParaRPr lang="en-US" sz="95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南</a:t>
            </a:r>
            <a:endParaRPr lang="en-US" sz="95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西の建物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西</a:t>
            </a:r>
            <a:endParaRPr lang="en-US" sz="95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第一段階（完成）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4方向版（来週）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最終目標</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周囲の棟数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南のみ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北・東・南・西に固定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任意（0〜360°）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中央建物</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 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変える変数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A,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s, A,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中央高さ＋(s, A, D, θ)×4（17個）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南面 × 5帯 ＝ 5個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予測方法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線形補間を試す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未定（補間 or 代案）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4方向版の12変数で線形補間が成り立つか分かれば、17変数に広げたときの見通しが立つ</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方位を固定すると、各方向の1棟だけの計算は南と同じ「A・Dの2変数の格子」になり、南で作った方法をそのまま使える</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うまくいかない場合は、どこで（棟数・面・高さ帯）ずれるかを数値で示し、代案（空の遮られ方）へ進む根拠にする</a:t>
            </a:r>
            <a:endParaRPr 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4方向で線形補間をそのまま使うと、計算する配置が掛け算で増える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36</a:t>
            </a:r>
            <a:endParaRPr lang="en-US" sz="1100" dirty="0"/>
          </a:p>
        </p:txBody>
      </p:sp>
      <p:sp>
        <p:nvSpPr>
          <p:cNvPr id="9" name="Shape 7"/>
          <p:cNvSpPr/>
          <p:nvPr/>
        </p:nvSpPr>
        <p:spPr>
          <a:xfrm>
            <a:off x="457200" y="1060704"/>
            <a:ext cx="2331720" cy="329184"/>
          </a:xfrm>
          <a:prstGeom prst="homePlate">
            <a:avLst/>
          </a:prstGeom>
          <a:solidFill>
            <a:srgbClr val="E8934D"/>
          </a:solidFill>
          <a:ln/>
        </p:spPr>
      </p:sp>
      <p:sp>
        <p:nvSpPr>
          <p:cNvPr id="10" name="Text 8"/>
          <p:cNvSpPr txBox="1"/>
          <p:nvPr/>
        </p:nvSpPr>
        <p:spPr>
          <a:xfrm>
            <a:off x="548640" y="1060704"/>
            <a:ext cx="20116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① 全部を計算するのは無理</a:t>
            </a:r>
            <a:endParaRPr lang="en-US" sz="950" dirty="0"/>
          </a:p>
        </p:txBody>
      </p:sp>
      <p:sp>
        <p:nvSpPr>
          <p:cNvPr id="11" name="Shape 9"/>
          <p:cNvSpPr/>
          <p:nvPr/>
        </p:nvSpPr>
        <p:spPr>
          <a:xfrm>
            <a:off x="2715768" y="1060704"/>
            <a:ext cx="2331720" cy="329184"/>
          </a:xfrm>
          <a:prstGeom prst="chevron">
            <a:avLst/>
          </a:prstGeom>
          <a:solidFill>
            <a:srgbClr val="EAEEF2"/>
          </a:solidFill>
          <a:ln/>
        </p:spPr>
      </p:sp>
      <p:sp>
        <p:nvSpPr>
          <p:cNvPr id="12" name="Text 10"/>
          <p:cNvSpPr txBox="1"/>
          <p:nvPr/>
        </p:nvSpPr>
        <p:spPr>
          <a:xfrm>
            <a:off x="2916936"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② 1棟ずつの結果を足して埋める</a:t>
            </a:r>
            <a:endParaRPr lang="en-US" sz="950" dirty="0"/>
          </a:p>
        </p:txBody>
      </p:sp>
      <p:sp>
        <p:nvSpPr>
          <p:cNvPr id="13" name="Shape 11"/>
          <p:cNvSpPr/>
          <p:nvPr/>
        </p:nvSpPr>
        <p:spPr>
          <a:xfrm>
            <a:off x="4974336" y="1060704"/>
            <a:ext cx="2331720" cy="329184"/>
          </a:xfrm>
          <a:prstGeom prst="chevron">
            <a:avLst/>
          </a:prstGeom>
          <a:solidFill>
            <a:srgbClr val="EAEEF2"/>
          </a:solidFill>
          <a:ln/>
        </p:spPr>
      </p:sp>
      <p:sp>
        <p:nvSpPr>
          <p:cNvPr id="14" name="Text 12"/>
          <p:cNvSpPr txBox="1"/>
          <p:nvPr/>
        </p:nvSpPr>
        <p:spPr>
          <a:xfrm>
            <a:off x="5175504"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③ 足し算の弱点＝影の重なり</a:t>
            </a:r>
            <a:endParaRPr lang="en-US" sz="950" dirty="0"/>
          </a:p>
        </p:txBody>
      </p:sp>
      <p:sp>
        <p:nvSpPr>
          <p:cNvPr id="15" name="Shape 13"/>
          <p:cNvSpPr/>
          <p:nvPr/>
        </p:nvSpPr>
        <p:spPr>
          <a:xfrm>
            <a:off x="7232904" y="1060704"/>
            <a:ext cx="2331720" cy="329184"/>
          </a:xfrm>
          <a:prstGeom prst="chevron">
            <a:avLst/>
          </a:prstGeom>
          <a:solidFill>
            <a:srgbClr val="EAEEF2"/>
          </a:solidFill>
          <a:ln/>
        </p:spPr>
      </p:sp>
      <p:sp>
        <p:nvSpPr>
          <p:cNvPr id="16" name="Text 14"/>
          <p:cNvSpPr txBox="1"/>
          <p:nvPr/>
        </p:nvSpPr>
        <p:spPr>
          <a:xfrm>
            <a:off x="7434072"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④ 足し算を式で書く</a:t>
            </a:r>
            <a:endParaRPr lang="en-US" sz="950" dirty="0"/>
          </a:p>
        </p:txBody>
      </p:sp>
      <p:sp>
        <p:nvSpPr>
          <p:cNvPr id="17" name="Shape 15"/>
          <p:cNvSpPr/>
          <p:nvPr/>
        </p:nvSpPr>
        <p:spPr>
          <a:xfrm>
            <a:off x="9491472" y="1060704"/>
            <a:ext cx="2331720" cy="329184"/>
          </a:xfrm>
          <a:prstGeom prst="chevron">
            <a:avLst/>
          </a:prstGeom>
          <a:solidFill>
            <a:srgbClr val="EAEEF2"/>
          </a:solidFill>
          <a:ln/>
        </p:spPr>
      </p:sp>
      <p:sp>
        <p:nvSpPr>
          <p:cNvPr id="18" name="Text 16"/>
          <p:cNvSpPr txBox="1"/>
          <p:nvPr/>
        </p:nvSpPr>
        <p:spPr>
          <a:xfrm>
            <a:off x="9692640"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⑤ 来週SEBEで確かめる</a:t>
            </a:r>
            <a:endParaRPr lang="en-US" sz="950" dirty="0"/>
          </a:p>
        </p:txBody>
      </p:sp>
      <p:sp>
        <p:nvSpPr>
          <p:cNvPr id="19" name="Shape 17"/>
          <p:cNvSpPr/>
          <p:nvPr/>
        </p:nvSpPr>
        <p:spPr>
          <a:xfrm>
            <a:off x="457200" y="1554480"/>
            <a:ext cx="4297680" cy="4754880"/>
          </a:xfrm>
          <a:prstGeom prst="roundRect">
            <a:avLst>
              <a:gd name="adj" fmla="val 1277"/>
            </a:avLst>
          </a:prstGeom>
          <a:solidFill>
            <a:srgbClr val="F3F5F8"/>
          </a:solidFill>
          <a:ln/>
        </p:spPr>
      </p:sp>
      <p:sp>
        <p:nvSpPr>
          <p:cNvPr id="20" name="Text 18"/>
          <p:cNvSpPr txBox="1"/>
          <p:nvPr/>
        </p:nvSpPr>
        <p:spPr>
          <a:xfrm>
            <a:off x="594360" y="1609344"/>
            <a:ext cx="40233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南1棟（今回できたこと）</a:t>
            </a:r>
            <a:endParaRPr lang="en-US" sz="1200" dirty="0"/>
          </a:p>
        </p:txBody>
      </p:sp>
      <p:sp>
        <p:nvSpPr>
          <p:cNvPr id="21" name="Text 19"/>
          <p:cNvSpPr txBox="1"/>
          <p:nvPr/>
        </p:nvSpPr>
        <p:spPr>
          <a:xfrm>
            <a:off x="594360" y="1901952"/>
            <a:ext cx="4023360" cy="256032"/>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高さ3通り × 距離3通り ＝ 9配置</a:t>
            </a:r>
            <a:endParaRPr lang="en-US" sz="1050" dirty="0"/>
          </a:p>
        </p:txBody>
      </p:sp>
      <p:sp>
        <p:nvSpPr>
          <p:cNvPr id="22" name="Shape 20"/>
          <p:cNvSpPr/>
          <p:nvPr/>
        </p:nvSpPr>
        <p:spPr>
          <a:xfrm>
            <a:off x="1325880" y="2331720"/>
            <a:ext cx="2651760" cy="2651760"/>
          </a:xfrm>
          <a:prstGeom prst="rect">
            <a:avLst/>
          </a:prstGeom>
          <a:solidFill>
            <a:srgbClr val="FFFFFF"/>
          </a:solidFill>
          <a:ln w="9525">
            <a:solidFill>
              <a:srgbClr val="C9D0D8"/>
            </a:solidFill>
            <a:prstDash val="solid"/>
          </a:ln>
        </p:spPr>
      </p:sp>
      <p:sp>
        <p:nvSpPr>
          <p:cNvPr id="23" name="Shape 21"/>
          <p:cNvSpPr/>
          <p:nvPr/>
        </p:nvSpPr>
        <p:spPr>
          <a:xfrm>
            <a:off x="1600200" y="3657600"/>
            <a:ext cx="1051560" cy="1051560"/>
          </a:xfrm>
          <a:prstGeom prst="rect">
            <a:avLst/>
          </a:prstGeom>
          <a:solidFill>
            <a:srgbClr val="FBEBDA"/>
          </a:solidFill>
          <a:ln/>
        </p:spPr>
      </p:sp>
      <p:sp>
        <p:nvSpPr>
          <p:cNvPr id="24" name="Shape 22"/>
          <p:cNvSpPr/>
          <p:nvPr/>
        </p:nvSpPr>
        <p:spPr>
          <a:xfrm>
            <a:off x="1508760" y="4617720"/>
            <a:ext cx="182880" cy="182880"/>
          </a:xfrm>
          <a:prstGeom prst="rect">
            <a:avLst/>
          </a:prstGeom>
          <a:solidFill>
            <a:srgbClr val="E8934D"/>
          </a:solidFill>
          <a:ln w="6350">
            <a:solidFill>
              <a:srgbClr val="FFFFFF"/>
            </a:solidFill>
            <a:prstDash val="solid"/>
          </a:ln>
        </p:spPr>
      </p:sp>
      <p:sp>
        <p:nvSpPr>
          <p:cNvPr id="25" name="Shape 23"/>
          <p:cNvSpPr/>
          <p:nvPr/>
        </p:nvSpPr>
        <p:spPr>
          <a:xfrm>
            <a:off x="1508760" y="3566160"/>
            <a:ext cx="182880" cy="182880"/>
          </a:xfrm>
          <a:prstGeom prst="rect">
            <a:avLst/>
          </a:prstGeom>
          <a:solidFill>
            <a:srgbClr val="E8934D"/>
          </a:solidFill>
          <a:ln w="6350">
            <a:solidFill>
              <a:srgbClr val="FFFFFF"/>
            </a:solidFill>
            <a:prstDash val="solid"/>
          </a:ln>
        </p:spPr>
      </p:sp>
      <p:sp>
        <p:nvSpPr>
          <p:cNvPr id="26" name="Shape 24"/>
          <p:cNvSpPr/>
          <p:nvPr/>
        </p:nvSpPr>
        <p:spPr>
          <a:xfrm>
            <a:off x="1508760" y="2514600"/>
            <a:ext cx="182880" cy="182880"/>
          </a:xfrm>
          <a:prstGeom prst="rect">
            <a:avLst/>
          </a:prstGeom>
          <a:solidFill>
            <a:srgbClr val="1B2A44"/>
          </a:solidFill>
          <a:ln w="6350">
            <a:solidFill>
              <a:srgbClr val="FFFFFF"/>
            </a:solidFill>
            <a:prstDash val="solid"/>
          </a:ln>
        </p:spPr>
      </p:sp>
      <p:sp>
        <p:nvSpPr>
          <p:cNvPr id="27" name="Shape 25"/>
          <p:cNvSpPr/>
          <p:nvPr/>
        </p:nvSpPr>
        <p:spPr>
          <a:xfrm>
            <a:off x="2560320" y="4617720"/>
            <a:ext cx="182880" cy="182880"/>
          </a:xfrm>
          <a:prstGeom prst="rect">
            <a:avLst/>
          </a:prstGeom>
          <a:solidFill>
            <a:srgbClr val="E8934D"/>
          </a:solidFill>
          <a:ln w="6350">
            <a:solidFill>
              <a:srgbClr val="FFFFFF"/>
            </a:solidFill>
            <a:prstDash val="solid"/>
          </a:ln>
        </p:spPr>
      </p:sp>
      <p:sp>
        <p:nvSpPr>
          <p:cNvPr id="28" name="Shape 26"/>
          <p:cNvSpPr/>
          <p:nvPr/>
        </p:nvSpPr>
        <p:spPr>
          <a:xfrm>
            <a:off x="2560320" y="3566160"/>
            <a:ext cx="182880" cy="182880"/>
          </a:xfrm>
          <a:prstGeom prst="rect">
            <a:avLst/>
          </a:prstGeom>
          <a:solidFill>
            <a:srgbClr val="E8934D"/>
          </a:solidFill>
          <a:ln w="6350">
            <a:solidFill>
              <a:srgbClr val="FFFFFF"/>
            </a:solidFill>
            <a:prstDash val="solid"/>
          </a:ln>
        </p:spPr>
      </p:sp>
      <p:sp>
        <p:nvSpPr>
          <p:cNvPr id="29" name="Shape 27"/>
          <p:cNvSpPr/>
          <p:nvPr/>
        </p:nvSpPr>
        <p:spPr>
          <a:xfrm>
            <a:off x="2560320" y="2514600"/>
            <a:ext cx="182880" cy="182880"/>
          </a:xfrm>
          <a:prstGeom prst="rect">
            <a:avLst/>
          </a:prstGeom>
          <a:solidFill>
            <a:srgbClr val="1B2A44"/>
          </a:solidFill>
          <a:ln w="6350">
            <a:solidFill>
              <a:srgbClr val="FFFFFF"/>
            </a:solidFill>
            <a:prstDash val="solid"/>
          </a:ln>
        </p:spPr>
      </p:sp>
      <p:sp>
        <p:nvSpPr>
          <p:cNvPr id="30" name="Shape 28"/>
          <p:cNvSpPr/>
          <p:nvPr/>
        </p:nvSpPr>
        <p:spPr>
          <a:xfrm>
            <a:off x="3611880" y="4617720"/>
            <a:ext cx="182880" cy="182880"/>
          </a:xfrm>
          <a:prstGeom prst="rect">
            <a:avLst/>
          </a:prstGeom>
          <a:solidFill>
            <a:srgbClr val="1B2A44"/>
          </a:solidFill>
          <a:ln w="6350">
            <a:solidFill>
              <a:srgbClr val="FFFFFF"/>
            </a:solidFill>
            <a:prstDash val="solid"/>
          </a:ln>
        </p:spPr>
      </p:sp>
      <p:sp>
        <p:nvSpPr>
          <p:cNvPr id="31" name="Shape 29"/>
          <p:cNvSpPr/>
          <p:nvPr/>
        </p:nvSpPr>
        <p:spPr>
          <a:xfrm>
            <a:off x="3611880" y="3566160"/>
            <a:ext cx="182880" cy="182880"/>
          </a:xfrm>
          <a:prstGeom prst="rect">
            <a:avLst/>
          </a:prstGeom>
          <a:solidFill>
            <a:srgbClr val="1B2A44"/>
          </a:solidFill>
          <a:ln w="6350">
            <a:solidFill>
              <a:srgbClr val="FFFFFF"/>
            </a:solidFill>
            <a:prstDash val="solid"/>
          </a:ln>
        </p:spPr>
      </p:sp>
      <p:sp>
        <p:nvSpPr>
          <p:cNvPr id="32" name="Shape 30"/>
          <p:cNvSpPr/>
          <p:nvPr/>
        </p:nvSpPr>
        <p:spPr>
          <a:xfrm>
            <a:off x="3611880" y="2514600"/>
            <a:ext cx="182880" cy="182880"/>
          </a:xfrm>
          <a:prstGeom prst="rect">
            <a:avLst/>
          </a:prstGeom>
          <a:solidFill>
            <a:srgbClr val="1B2A44"/>
          </a:solidFill>
          <a:ln w="6350">
            <a:solidFill>
              <a:srgbClr val="FFFFFF"/>
            </a:solidFill>
            <a:prstDash val="solid"/>
          </a:ln>
        </p:spPr>
      </p:sp>
      <p:sp>
        <p:nvSpPr>
          <p:cNvPr id="33" name="Shape 31"/>
          <p:cNvSpPr/>
          <p:nvPr/>
        </p:nvSpPr>
        <p:spPr>
          <a:xfrm>
            <a:off x="1856232" y="4187952"/>
            <a:ext cx="219456" cy="219456"/>
          </a:xfrm>
          <a:prstGeom prst="star5">
            <a:avLst/>
          </a:prstGeom>
          <a:solidFill>
            <a:srgbClr val="B04A3F"/>
          </a:solidFill>
          <a:ln w="6350">
            <a:solidFill>
              <a:srgbClr val="FFFFFF"/>
            </a:solidFill>
            <a:prstDash val="solid"/>
          </a:ln>
        </p:spPr>
      </p:sp>
      <p:sp>
        <p:nvSpPr>
          <p:cNvPr id="34" name="Text 32"/>
          <p:cNvSpPr txBox="1"/>
          <p:nvPr/>
        </p:nvSpPr>
        <p:spPr>
          <a:xfrm>
            <a:off x="1325880" y="5010912"/>
            <a:ext cx="2651760" cy="219456"/>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距離 D →</a:t>
            </a:r>
            <a:endParaRPr lang="en-US" sz="900" dirty="0"/>
          </a:p>
        </p:txBody>
      </p:sp>
      <p:sp>
        <p:nvSpPr>
          <p:cNvPr id="35" name="Text 33"/>
          <p:cNvSpPr txBox="1"/>
          <p:nvPr/>
        </p:nvSpPr>
        <p:spPr>
          <a:xfrm>
            <a:off x="548640" y="3547872"/>
            <a:ext cx="77724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高さ A ↑</a:t>
            </a:r>
            <a:endParaRPr lang="en-US" sz="900" dirty="0"/>
          </a:p>
        </p:txBody>
      </p:sp>
      <p:sp>
        <p:nvSpPr>
          <p:cNvPr id="36" name="Text 34"/>
          <p:cNvSpPr txBox="1"/>
          <p:nvPr/>
        </p:nvSpPr>
        <p:spPr>
          <a:xfrm>
            <a:off x="594360" y="5303520"/>
            <a:ext cx="402336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★入力　■計算済み　■入力を囲む4点</a:t>
            </a:r>
            <a:endParaRPr lang="en-US" sz="850" dirty="0"/>
          </a:p>
        </p:txBody>
      </p:sp>
      <p:sp>
        <p:nvSpPr>
          <p:cNvPr id="37" name="Text 35"/>
          <p:cNvSpPr txBox="1"/>
          <p:nvPr/>
        </p:nvSpPr>
        <p:spPr>
          <a:xfrm>
            <a:off x="594360" y="5559552"/>
            <a:ext cx="4023360" cy="6858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表の点を全部SEBEで計算してあるので、どこに入力しても周りの4点がそろう → 補間できる</a:t>
            </a:r>
            <a:endParaRPr lang="en-US" sz="1000" dirty="0"/>
          </a:p>
        </p:txBody>
      </p:sp>
      <p:sp>
        <p:nvSpPr>
          <p:cNvPr id="38" name="Text 36"/>
          <p:cNvSpPr txBox="1"/>
          <p:nvPr/>
        </p:nvSpPr>
        <p:spPr>
          <a:xfrm>
            <a:off x="4983480" y="1572768"/>
            <a:ext cx="67665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4方向（北・東・南・西に1棟ずつ置ける）</a:t>
            </a:r>
            <a:endParaRPr lang="en-US" sz="1200" dirty="0"/>
          </a:p>
        </p:txBody>
      </p:sp>
      <p:sp>
        <p:nvSpPr>
          <p:cNvPr id="39" name="Shape 37"/>
          <p:cNvSpPr/>
          <p:nvPr/>
        </p:nvSpPr>
        <p:spPr>
          <a:xfrm>
            <a:off x="4983480" y="1920240"/>
            <a:ext cx="1371600" cy="1325880"/>
          </a:xfrm>
          <a:prstGeom prst="roundRect">
            <a:avLst>
              <a:gd name="adj" fmla="val 4138"/>
            </a:avLst>
          </a:prstGeom>
          <a:solidFill>
            <a:srgbClr val="F3F5F8"/>
          </a:solidFill>
          <a:ln/>
        </p:spPr>
      </p:sp>
      <p:sp>
        <p:nvSpPr>
          <p:cNvPr id="40" name="Shape 38"/>
          <p:cNvSpPr/>
          <p:nvPr/>
        </p:nvSpPr>
        <p:spPr>
          <a:xfrm>
            <a:off x="5577840" y="2304288"/>
            <a:ext cx="182880" cy="182880"/>
          </a:xfrm>
          <a:prstGeom prst="rect">
            <a:avLst/>
          </a:prstGeom>
          <a:solidFill>
            <a:srgbClr val="1B2A44"/>
          </a:solidFill>
          <a:ln/>
        </p:spPr>
      </p:sp>
      <p:sp>
        <p:nvSpPr>
          <p:cNvPr id="41" name="Shape 39"/>
          <p:cNvSpPr/>
          <p:nvPr/>
        </p:nvSpPr>
        <p:spPr>
          <a:xfrm>
            <a:off x="5577840" y="2075688"/>
            <a:ext cx="182880" cy="182880"/>
          </a:xfrm>
          <a:prstGeom prst="rect">
            <a:avLst/>
          </a:prstGeom>
          <a:solidFill>
            <a:srgbClr val="1F6F78"/>
          </a:solidFill>
          <a:ln/>
        </p:spPr>
      </p:sp>
      <p:sp>
        <p:nvSpPr>
          <p:cNvPr id="42" name="Shape 40"/>
          <p:cNvSpPr/>
          <p:nvPr/>
        </p:nvSpPr>
        <p:spPr>
          <a:xfrm>
            <a:off x="5806440" y="2304288"/>
            <a:ext cx="182880" cy="182880"/>
          </a:xfrm>
          <a:prstGeom prst="rect">
            <a:avLst/>
          </a:prstGeom>
          <a:solidFill>
            <a:srgbClr val="FFFFFF"/>
          </a:solidFill>
          <a:ln w="9525">
            <a:solidFill>
              <a:srgbClr val="B8C0CA"/>
            </a:solidFill>
            <a:prstDash val="dash"/>
          </a:ln>
        </p:spPr>
      </p:sp>
      <p:sp>
        <p:nvSpPr>
          <p:cNvPr id="43" name="Shape 41"/>
          <p:cNvSpPr/>
          <p:nvPr/>
        </p:nvSpPr>
        <p:spPr>
          <a:xfrm>
            <a:off x="5577840" y="2532888"/>
            <a:ext cx="182880" cy="182880"/>
          </a:xfrm>
          <a:prstGeom prst="rect">
            <a:avLst/>
          </a:prstGeom>
          <a:solidFill>
            <a:srgbClr val="FFFFFF"/>
          </a:solidFill>
          <a:ln w="9525">
            <a:solidFill>
              <a:srgbClr val="B8C0CA"/>
            </a:solidFill>
            <a:prstDash val="dash"/>
          </a:ln>
        </p:spPr>
      </p:sp>
      <p:sp>
        <p:nvSpPr>
          <p:cNvPr id="44" name="Shape 42"/>
          <p:cNvSpPr/>
          <p:nvPr/>
        </p:nvSpPr>
        <p:spPr>
          <a:xfrm>
            <a:off x="5349240" y="2304288"/>
            <a:ext cx="182880" cy="182880"/>
          </a:xfrm>
          <a:prstGeom prst="rect">
            <a:avLst/>
          </a:prstGeom>
          <a:solidFill>
            <a:srgbClr val="FFFFFF"/>
          </a:solidFill>
          <a:ln w="9525">
            <a:solidFill>
              <a:srgbClr val="B8C0CA"/>
            </a:solidFill>
            <a:prstDash val="dash"/>
          </a:ln>
        </p:spPr>
      </p:sp>
      <p:sp>
        <p:nvSpPr>
          <p:cNvPr id="45" name="Text 43"/>
          <p:cNvSpPr txBox="1"/>
          <p:nvPr/>
        </p:nvSpPr>
        <p:spPr>
          <a:xfrm>
            <a:off x="4983480" y="2724912"/>
            <a:ext cx="1371600"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北の建物</a:t>
            </a:r>
            <a:endParaRPr lang="en-US" sz="950" dirty="0"/>
          </a:p>
        </p:txBody>
      </p:sp>
      <p:sp>
        <p:nvSpPr>
          <p:cNvPr id="46" name="Text 44"/>
          <p:cNvSpPr txBox="1"/>
          <p:nvPr/>
        </p:nvSpPr>
        <p:spPr>
          <a:xfrm>
            <a:off x="4983480" y="2926080"/>
            <a:ext cx="1371600" cy="274320"/>
          </a:xfrm>
          <a:prstGeom prst="rect">
            <a:avLst/>
          </a:prstGeom>
          <a:noFill/>
          <a:ln/>
        </p:spPr>
        <p:txBody>
          <a:bodyPr wrap="square" lIns="508" tIns="508" rIns="508" bIns="508" rtlCol="0" anchor="t"/>
          <a:lstStyle/>
          <a:p>
            <a:pPr algn="ct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47" name="Text 45"/>
          <p:cNvSpPr txBox="1"/>
          <p:nvPr/>
        </p:nvSpPr>
        <p:spPr>
          <a:xfrm>
            <a:off x="6355080" y="2331720"/>
            <a:ext cx="347472"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48" name="Shape 46"/>
          <p:cNvSpPr/>
          <p:nvPr/>
        </p:nvSpPr>
        <p:spPr>
          <a:xfrm>
            <a:off x="6702552" y="1920240"/>
            <a:ext cx="1371600" cy="1325880"/>
          </a:xfrm>
          <a:prstGeom prst="roundRect">
            <a:avLst>
              <a:gd name="adj" fmla="val 4138"/>
            </a:avLst>
          </a:prstGeom>
          <a:solidFill>
            <a:srgbClr val="F3F5F8"/>
          </a:solidFill>
          <a:ln/>
        </p:spPr>
      </p:sp>
      <p:sp>
        <p:nvSpPr>
          <p:cNvPr id="49" name="Shape 47"/>
          <p:cNvSpPr/>
          <p:nvPr/>
        </p:nvSpPr>
        <p:spPr>
          <a:xfrm>
            <a:off x="7296912" y="2304288"/>
            <a:ext cx="182880" cy="182880"/>
          </a:xfrm>
          <a:prstGeom prst="rect">
            <a:avLst/>
          </a:prstGeom>
          <a:solidFill>
            <a:srgbClr val="1B2A44"/>
          </a:solidFill>
          <a:ln/>
        </p:spPr>
      </p:sp>
      <p:sp>
        <p:nvSpPr>
          <p:cNvPr id="50" name="Shape 48"/>
          <p:cNvSpPr/>
          <p:nvPr/>
        </p:nvSpPr>
        <p:spPr>
          <a:xfrm>
            <a:off x="7296912" y="2075688"/>
            <a:ext cx="182880" cy="182880"/>
          </a:xfrm>
          <a:prstGeom prst="rect">
            <a:avLst/>
          </a:prstGeom>
          <a:solidFill>
            <a:srgbClr val="FFFFFF"/>
          </a:solidFill>
          <a:ln w="9525">
            <a:solidFill>
              <a:srgbClr val="B8C0CA"/>
            </a:solidFill>
            <a:prstDash val="dash"/>
          </a:ln>
        </p:spPr>
      </p:sp>
      <p:sp>
        <p:nvSpPr>
          <p:cNvPr id="51" name="Shape 49"/>
          <p:cNvSpPr/>
          <p:nvPr/>
        </p:nvSpPr>
        <p:spPr>
          <a:xfrm>
            <a:off x="7525512" y="2304288"/>
            <a:ext cx="182880" cy="182880"/>
          </a:xfrm>
          <a:prstGeom prst="rect">
            <a:avLst/>
          </a:prstGeom>
          <a:solidFill>
            <a:srgbClr val="1F6F78"/>
          </a:solidFill>
          <a:ln/>
        </p:spPr>
      </p:sp>
      <p:sp>
        <p:nvSpPr>
          <p:cNvPr id="52" name="Shape 50"/>
          <p:cNvSpPr/>
          <p:nvPr/>
        </p:nvSpPr>
        <p:spPr>
          <a:xfrm>
            <a:off x="7296912" y="2532888"/>
            <a:ext cx="182880" cy="182880"/>
          </a:xfrm>
          <a:prstGeom prst="rect">
            <a:avLst/>
          </a:prstGeom>
          <a:solidFill>
            <a:srgbClr val="FFFFFF"/>
          </a:solidFill>
          <a:ln w="9525">
            <a:solidFill>
              <a:srgbClr val="B8C0CA"/>
            </a:solidFill>
            <a:prstDash val="dash"/>
          </a:ln>
        </p:spPr>
      </p:sp>
      <p:sp>
        <p:nvSpPr>
          <p:cNvPr id="53" name="Shape 51"/>
          <p:cNvSpPr/>
          <p:nvPr/>
        </p:nvSpPr>
        <p:spPr>
          <a:xfrm>
            <a:off x="7068312" y="2304288"/>
            <a:ext cx="182880" cy="182880"/>
          </a:xfrm>
          <a:prstGeom prst="rect">
            <a:avLst/>
          </a:prstGeom>
          <a:solidFill>
            <a:srgbClr val="FFFFFF"/>
          </a:solidFill>
          <a:ln w="9525">
            <a:solidFill>
              <a:srgbClr val="B8C0CA"/>
            </a:solidFill>
            <a:prstDash val="dash"/>
          </a:ln>
        </p:spPr>
      </p:sp>
      <p:sp>
        <p:nvSpPr>
          <p:cNvPr id="54" name="Text 52"/>
          <p:cNvSpPr txBox="1"/>
          <p:nvPr/>
        </p:nvSpPr>
        <p:spPr>
          <a:xfrm>
            <a:off x="6702552" y="2724912"/>
            <a:ext cx="1371600"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東の建物</a:t>
            </a:r>
            <a:endParaRPr lang="en-US" sz="950" dirty="0"/>
          </a:p>
        </p:txBody>
      </p:sp>
      <p:sp>
        <p:nvSpPr>
          <p:cNvPr id="55" name="Text 53"/>
          <p:cNvSpPr txBox="1"/>
          <p:nvPr/>
        </p:nvSpPr>
        <p:spPr>
          <a:xfrm>
            <a:off x="6702552" y="2926080"/>
            <a:ext cx="1371600" cy="274320"/>
          </a:xfrm>
          <a:prstGeom prst="rect">
            <a:avLst/>
          </a:prstGeom>
          <a:noFill/>
          <a:ln/>
        </p:spPr>
        <p:txBody>
          <a:bodyPr wrap="square" lIns="508" tIns="508" rIns="508" bIns="508" rtlCol="0" anchor="t"/>
          <a:lstStyle/>
          <a:p>
            <a:pPr algn="ct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56" name="Text 54"/>
          <p:cNvSpPr txBox="1"/>
          <p:nvPr/>
        </p:nvSpPr>
        <p:spPr>
          <a:xfrm>
            <a:off x="8074152" y="2331720"/>
            <a:ext cx="347472"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57" name="Shape 55"/>
          <p:cNvSpPr/>
          <p:nvPr/>
        </p:nvSpPr>
        <p:spPr>
          <a:xfrm>
            <a:off x="8421624" y="1920240"/>
            <a:ext cx="1371600" cy="1325880"/>
          </a:xfrm>
          <a:prstGeom prst="roundRect">
            <a:avLst>
              <a:gd name="adj" fmla="val 4138"/>
            </a:avLst>
          </a:prstGeom>
          <a:solidFill>
            <a:srgbClr val="F3F5F8"/>
          </a:solidFill>
          <a:ln/>
        </p:spPr>
      </p:sp>
      <p:sp>
        <p:nvSpPr>
          <p:cNvPr id="58" name="Shape 56"/>
          <p:cNvSpPr/>
          <p:nvPr/>
        </p:nvSpPr>
        <p:spPr>
          <a:xfrm>
            <a:off x="9015984" y="2304288"/>
            <a:ext cx="182880" cy="182880"/>
          </a:xfrm>
          <a:prstGeom prst="rect">
            <a:avLst/>
          </a:prstGeom>
          <a:solidFill>
            <a:srgbClr val="1B2A44"/>
          </a:solidFill>
          <a:ln/>
        </p:spPr>
      </p:sp>
      <p:sp>
        <p:nvSpPr>
          <p:cNvPr id="59" name="Shape 57"/>
          <p:cNvSpPr/>
          <p:nvPr/>
        </p:nvSpPr>
        <p:spPr>
          <a:xfrm>
            <a:off x="9015984" y="2075688"/>
            <a:ext cx="182880" cy="182880"/>
          </a:xfrm>
          <a:prstGeom prst="rect">
            <a:avLst/>
          </a:prstGeom>
          <a:solidFill>
            <a:srgbClr val="FFFFFF"/>
          </a:solidFill>
          <a:ln w="9525">
            <a:solidFill>
              <a:srgbClr val="B8C0CA"/>
            </a:solidFill>
            <a:prstDash val="dash"/>
          </a:ln>
        </p:spPr>
      </p:sp>
      <p:sp>
        <p:nvSpPr>
          <p:cNvPr id="60" name="Shape 58"/>
          <p:cNvSpPr/>
          <p:nvPr/>
        </p:nvSpPr>
        <p:spPr>
          <a:xfrm>
            <a:off x="9244584" y="2304288"/>
            <a:ext cx="182880" cy="182880"/>
          </a:xfrm>
          <a:prstGeom prst="rect">
            <a:avLst/>
          </a:prstGeom>
          <a:solidFill>
            <a:srgbClr val="FFFFFF"/>
          </a:solidFill>
          <a:ln w="9525">
            <a:solidFill>
              <a:srgbClr val="B8C0CA"/>
            </a:solidFill>
            <a:prstDash val="dash"/>
          </a:ln>
        </p:spPr>
      </p:sp>
      <p:sp>
        <p:nvSpPr>
          <p:cNvPr id="61" name="Shape 59"/>
          <p:cNvSpPr/>
          <p:nvPr/>
        </p:nvSpPr>
        <p:spPr>
          <a:xfrm>
            <a:off x="9015984" y="2532888"/>
            <a:ext cx="182880" cy="182880"/>
          </a:xfrm>
          <a:prstGeom prst="rect">
            <a:avLst/>
          </a:prstGeom>
          <a:solidFill>
            <a:srgbClr val="1F6F78"/>
          </a:solidFill>
          <a:ln/>
        </p:spPr>
      </p:sp>
      <p:sp>
        <p:nvSpPr>
          <p:cNvPr id="62" name="Shape 60"/>
          <p:cNvSpPr/>
          <p:nvPr/>
        </p:nvSpPr>
        <p:spPr>
          <a:xfrm>
            <a:off x="8787384" y="2304288"/>
            <a:ext cx="182880" cy="182880"/>
          </a:xfrm>
          <a:prstGeom prst="rect">
            <a:avLst/>
          </a:prstGeom>
          <a:solidFill>
            <a:srgbClr val="FFFFFF"/>
          </a:solidFill>
          <a:ln w="9525">
            <a:solidFill>
              <a:srgbClr val="B8C0CA"/>
            </a:solidFill>
            <a:prstDash val="dash"/>
          </a:ln>
        </p:spPr>
      </p:sp>
      <p:sp>
        <p:nvSpPr>
          <p:cNvPr id="63" name="Text 61"/>
          <p:cNvSpPr txBox="1"/>
          <p:nvPr/>
        </p:nvSpPr>
        <p:spPr>
          <a:xfrm>
            <a:off x="8421624" y="2724912"/>
            <a:ext cx="1371600"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南の建物</a:t>
            </a:r>
            <a:endParaRPr lang="en-US" sz="950" dirty="0"/>
          </a:p>
        </p:txBody>
      </p:sp>
      <p:sp>
        <p:nvSpPr>
          <p:cNvPr id="64" name="Text 62"/>
          <p:cNvSpPr txBox="1"/>
          <p:nvPr/>
        </p:nvSpPr>
        <p:spPr>
          <a:xfrm>
            <a:off x="8421624" y="2926080"/>
            <a:ext cx="1371600" cy="274320"/>
          </a:xfrm>
          <a:prstGeom prst="rect">
            <a:avLst/>
          </a:prstGeom>
          <a:noFill/>
          <a:ln/>
        </p:spPr>
        <p:txBody>
          <a:bodyPr wrap="square" lIns="508" tIns="508" rIns="508" bIns="508" rtlCol="0" anchor="t"/>
          <a:lstStyle/>
          <a:p>
            <a:pPr algn="ct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65" name="Text 63"/>
          <p:cNvSpPr txBox="1"/>
          <p:nvPr/>
        </p:nvSpPr>
        <p:spPr>
          <a:xfrm>
            <a:off x="9793224" y="2331720"/>
            <a:ext cx="347472"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66" name="Shape 64"/>
          <p:cNvSpPr/>
          <p:nvPr/>
        </p:nvSpPr>
        <p:spPr>
          <a:xfrm>
            <a:off x="10140696" y="1920240"/>
            <a:ext cx="1371600" cy="1325880"/>
          </a:xfrm>
          <a:prstGeom prst="roundRect">
            <a:avLst>
              <a:gd name="adj" fmla="val 4138"/>
            </a:avLst>
          </a:prstGeom>
          <a:solidFill>
            <a:srgbClr val="F3F5F8"/>
          </a:solidFill>
          <a:ln/>
        </p:spPr>
      </p:sp>
      <p:sp>
        <p:nvSpPr>
          <p:cNvPr id="67" name="Shape 65"/>
          <p:cNvSpPr/>
          <p:nvPr/>
        </p:nvSpPr>
        <p:spPr>
          <a:xfrm>
            <a:off x="10735056" y="2304288"/>
            <a:ext cx="182880" cy="182880"/>
          </a:xfrm>
          <a:prstGeom prst="rect">
            <a:avLst/>
          </a:prstGeom>
          <a:solidFill>
            <a:srgbClr val="1B2A44"/>
          </a:solidFill>
          <a:ln/>
        </p:spPr>
      </p:sp>
      <p:sp>
        <p:nvSpPr>
          <p:cNvPr id="68" name="Shape 66"/>
          <p:cNvSpPr/>
          <p:nvPr/>
        </p:nvSpPr>
        <p:spPr>
          <a:xfrm>
            <a:off x="10735056" y="2075688"/>
            <a:ext cx="182880" cy="182880"/>
          </a:xfrm>
          <a:prstGeom prst="rect">
            <a:avLst/>
          </a:prstGeom>
          <a:solidFill>
            <a:srgbClr val="FFFFFF"/>
          </a:solidFill>
          <a:ln w="9525">
            <a:solidFill>
              <a:srgbClr val="B8C0CA"/>
            </a:solidFill>
            <a:prstDash val="dash"/>
          </a:ln>
        </p:spPr>
      </p:sp>
      <p:sp>
        <p:nvSpPr>
          <p:cNvPr id="69" name="Shape 67"/>
          <p:cNvSpPr/>
          <p:nvPr/>
        </p:nvSpPr>
        <p:spPr>
          <a:xfrm>
            <a:off x="10963656" y="2304288"/>
            <a:ext cx="182880" cy="182880"/>
          </a:xfrm>
          <a:prstGeom prst="rect">
            <a:avLst/>
          </a:prstGeom>
          <a:solidFill>
            <a:srgbClr val="FFFFFF"/>
          </a:solidFill>
          <a:ln w="9525">
            <a:solidFill>
              <a:srgbClr val="B8C0CA"/>
            </a:solidFill>
            <a:prstDash val="dash"/>
          </a:ln>
        </p:spPr>
      </p:sp>
      <p:sp>
        <p:nvSpPr>
          <p:cNvPr id="70" name="Shape 68"/>
          <p:cNvSpPr/>
          <p:nvPr/>
        </p:nvSpPr>
        <p:spPr>
          <a:xfrm>
            <a:off x="10735056" y="2532888"/>
            <a:ext cx="182880" cy="182880"/>
          </a:xfrm>
          <a:prstGeom prst="rect">
            <a:avLst/>
          </a:prstGeom>
          <a:solidFill>
            <a:srgbClr val="FFFFFF"/>
          </a:solidFill>
          <a:ln w="9525">
            <a:solidFill>
              <a:srgbClr val="B8C0CA"/>
            </a:solidFill>
            <a:prstDash val="dash"/>
          </a:ln>
        </p:spPr>
      </p:sp>
      <p:sp>
        <p:nvSpPr>
          <p:cNvPr id="71" name="Shape 69"/>
          <p:cNvSpPr/>
          <p:nvPr/>
        </p:nvSpPr>
        <p:spPr>
          <a:xfrm>
            <a:off x="10506456" y="2304288"/>
            <a:ext cx="182880" cy="182880"/>
          </a:xfrm>
          <a:prstGeom prst="rect">
            <a:avLst/>
          </a:prstGeom>
          <a:solidFill>
            <a:srgbClr val="1F6F78"/>
          </a:solidFill>
          <a:ln/>
        </p:spPr>
      </p:sp>
      <p:sp>
        <p:nvSpPr>
          <p:cNvPr id="72" name="Text 70"/>
          <p:cNvSpPr txBox="1"/>
          <p:nvPr/>
        </p:nvSpPr>
        <p:spPr>
          <a:xfrm>
            <a:off x="10140696" y="2724912"/>
            <a:ext cx="1371600"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西の建物</a:t>
            </a:r>
            <a:endParaRPr lang="en-US" sz="950" dirty="0"/>
          </a:p>
        </p:txBody>
      </p:sp>
      <p:sp>
        <p:nvSpPr>
          <p:cNvPr id="73" name="Text 71"/>
          <p:cNvSpPr txBox="1"/>
          <p:nvPr/>
        </p:nvSpPr>
        <p:spPr>
          <a:xfrm>
            <a:off x="10140696" y="2926080"/>
            <a:ext cx="1371600" cy="274320"/>
          </a:xfrm>
          <a:prstGeom prst="rect">
            <a:avLst/>
          </a:prstGeom>
          <a:noFill/>
          <a:ln/>
        </p:spPr>
        <p:txBody>
          <a:bodyPr wrap="square" lIns="508" tIns="508" rIns="508" bIns="508" rtlCol="0" anchor="t"/>
          <a:lstStyle/>
          <a:p>
            <a:pPr algn="ct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74" name="Text 72"/>
          <p:cNvSpPr txBox="1"/>
          <p:nvPr/>
        </p:nvSpPr>
        <p:spPr>
          <a:xfrm>
            <a:off x="4983480" y="3310128"/>
            <a:ext cx="6766560" cy="27432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各方向で「高さ3通り×距離3通り＝9通り」。4方向を同時に変えると、組み合わせは 9×9×9×9 になる。</a:t>
            </a:r>
            <a:endParaRPr lang="en-US" sz="950" dirty="0"/>
          </a:p>
        </p:txBody>
      </p:sp>
      <p:sp>
        <p:nvSpPr>
          <p:cNvPr id="75" name="Shape 73"/>
          <p:cNvSpPr/>
          <p:nvPr/>
        </p:nvSpPr>
        <p:spPr>
          <a:xfrm>
            <a:off x="4983480" y="3675888"/>
            <a:ext cx="6766560" cy="365760"/>
          </a:xfrm>
          <a:prstGeom prst="rect">
            <a:avLst/>
          </a:prstGeom>
          <a:solidFill>
            <a:srgbClr val="F3F5F8"/>
          </a:solidFill>
          <a:ln/>
        </p:spPr>
      </p:sp>
      <p:sp>
        <p:nvSpPr>
          <p:cNvPr id="76" name="Text 74"/>
          <p:cNvSpPr txBox="1"/>
          <p:nvPr/>
        </p:nvSpPr>
        <p:spPr>
          <a:xfrm>
            <a:off x="5074920" y="3675888"/>
            <a:ext cx="1737360" cy="365760"/>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南だけ（今回）</a:t>
            </a:r>
            <a:endParaRPr lang="en-US" sz="1000" dirty="0"/>
          </a:p>
        </p:txBody>
      </p:sp>
      <p:sp>
        <p:nvSpPr>
          <p:cNvPr id="77" name="Text 75"/>
          <p:cNvSpPr txBox="1"/>
          <p:nvPr/>
        </p:nvSpPr>
        <p:spPr>
          <a:xfrm>
            <a:off x="6812280" y="3675888"/>
            <a:ext cx="1417320" cy="36576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9</a:t>
            </a:r>
            <a:endParaRPr lang="en-US" sz="1050" dirty="0"/>
          </a:p>
        </p:txBody>
      </p:sp>
      <p:sp>
        <p:nvSpPr>
          <p:cNvPr id="78" name="Shape 76"/>
          <p:cNvSpPr/>
          <p:nvPr/>
        </p:nvSpPr>
        <p:spPr>
          <a:xfrm>
            <a:off x="8321040" y="3767328"/>
            <a:ext cx="567164" cy="182880"/>
          </a:xfrm>
          <a:prstGeom prst="rect">
            <a:avLst/>
          </a:prstGeom>
          <a:solidFill>
            <a:srgbClr val="E8934D"/>
          </a:solidFill>
          <a:ln/>
        </p:spPr>
      </p:sp>
      <p:sp>
        <p:nvSpPr>
          <p:cNvPr id="79" name="Text 77"/>
          <p:cNvSpPr txBox="1"/>
          <p:nvPr/>
        </p:nvSpPr>
        <p:spPr>
          <a:xfrm>
            <a:off x="8933924" y="3675888"/>
            <a:ext cx="1097280" cy="365760"/>
          </a:xfrm>
          <a:prstGeom prst="rect">
            <a:avLst/>
          </a:prstGeom>
          <a:noFill/>
          <a:ln/>
        </p:spPr>
        <p:txBody>
          <a:bodyPr wrap="square" lIns="508" tIns="508" rIns="508" bIns="508" rtlCol="0" anchor="ctr"/>
          <a:lstStyle/>
          <a:p>
            <a:pPr indent="0" marL="0">
              <a:buNone/>
            </a:pPr>
            <a:r>
              <a:rPr lang="en-US" sz="900" dirty="0">
                <a:solidFill>
                  <a:srgbClr val="6B7480"/>
                </a:solidFill>
                <a:latin typeface="Yu Gothic" pitchFamily="34" charset="0"/>
                <a:ea typeface="Yu Gothic" pitchFamily="34" charset="-122"/>
                <a:cs typeface="Yu Gothic" pitchFamily="34" charset="-120"/>
              </a:rPr>
              <a:t>9配置</a:t>
            </a:r>
            <a:endParaRPr lang="en-US" sz="900" dirty="0"/>
          </a:p>
        </p:txBody>
      </p:sp>
      <p:sp>
        <p:nvSpPr>
          <p:cNvPr id="80" name="Shape 78"/>
          <p:cNvSpPr/>
          <p:nvPr/>
        </p:nvSpPr>
        <p:spPr>
          <a:xfrm>
            <a:off x="4983480" y="4078224"/>
            <a:ext cx="6766560" cy="365760"/>
          </a:xfrm>
          <a:prstGeom prst="rect">
            <a:avLst/>
          </a:prstGeom>
          <a:solidFill>
            <a:srgbClr val="FFFFFF"/>
          </a:solidFill>
          <a:ln/>
        </p:spPr>
      </p:sp>
      <p:sp>
        <p:nvSpPr>
          <p:cNvPr id="81" name="Text 79"/>
          <p:cNvSpPr txBox="1"/>
          <p:nvPr/>
        </p:nvSpPr>
        <p:spPr>
          <a:xfrm>
            <a:off x="5074920" y="4078224"/>
            <a:ext cx="1737360" cy="365760"/>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2棟を同時に変える</a:t>
            </a:r>
            <a:endParaRPr lang="en-US" sz="1000" dirty="0"/>
          </a:p>
        </p:txBody>
      </p:sp>
      <p:sp>
        <p:nvSpPr>
          <p:cNvPr id="82" name="Text 80"/>
          <p:cNvSpPr txBox="1"/>
          <p:nvPr/>
        </p:nvSpPr>
        <p:spPr>
          <a:xfrm>
            <a:off x="6812280" y="4078224"/>
            <a:ext cx="1417320" cy="36576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9×9 ＝ 81</a:t>
            </a:r>
            <a:endParaRPr lang="en-US" sz="1050" dirty="0"/>
          </a:p>
        </p:txBody>
      </p:sp>
      <p:sp>
        <p:nvSpPr>
          <p:cNvPr id="83" name="Shape 81"/>
          <p:cNvSpPr/>
          <p:nvPr/>
        </p:nvSpPr>
        <p:spPr>
          <a:xfrm>
            <a:off x="8321040" y="4169664"/>
            <a:ext cx="1134327" cy="182880"/>
          </a:xfrm>
          <a:prstGeom prst="rect">
            <a:avLst/>
          </a:prstGeom>
          <a:solidFill>
            <a:srgbClr val="E8934D"/>
          </a:solidFill>
          <a:ln/>
        </p:spPr>
      </p:sp>
      <p:sp>
        <p:nvSpPr>
          <p:cNvPr id="84" name="Text 82"/>
          <p:cNvSpPr txBox="1"/>
          <p:nvPr/>
        </p:nvSpPr>
        <p:spPr>
          <a:xfrm>
            <a:off x="9501087" y="4078224"/>
            <a:ext cx="1097280" cy="365760"/>
          </a:xfrm>
          <a:prstGeom prst="rect">
            <a:avLst/>
          </a:prstGeom>
          <a:noFill/>
          <a:ln/>
        </p:spPr>
        <p:txBody>
          <a:bodyPr wrap="square" lIns="508" tIns="508" rIns="508" bIns="508" rtlCol="0" anchor="ctr"/>
          <a:lstStyle/>
          <a:p>
            <a:pPr indent="0" marL="0">
              <a:buNone/>
            </a:pPr>
            <a:r>
              <a:rPr lang="en-US" sz="900" dirty="0">
                <a:solidFill>
                  <a:srgbClr val="6B7480"/>
                </a:solidFill>
                <a:latin typeface="Yu Gothic" pitchFamily="34" charset="0"/>
                <a:ea typeface="Yu Gothic" pitchFamily="34" charset="-122"/>
                <a:cs typeface="Yu Gothic" pitchFamily="34" charset="-120"/>
              </a:rPr>
              <a:t>81配置</a:t>
            </a:r>
            <a:endParaRPr lang="en-US" sz="900" dirty="0"/>
          </a:p>
        </p:txBody>
      </p:sp>
      <p:sp>
        <p:nvSpPr>
          <p:cNvPr id="85" name="Shape 83"/>
          <p:cNvSpPr/>
          <p:nvPr/>
        </p:nvSpPr>
        <p:spPr>
          <a:xfrm>
            <a:off x="4983480" y="4480560"/>
            <a:ext cx="6766560" cy="365760"/>
          </a:xfrm>
          <a:prstGeom prst="rect">
            <a:avLst/>
          </a:prstGeom>
          <a:solidFill>
            <a:srgbClr val="F3F5F8"/>
          </a:solidFill>
          <a:ln/>
        </p:spPr>
      </p:sp>
      <p:sp>
        <p:nvSpPr>
          <p:cNvPr id="86" name="Text 84"/>
          <p:cNvSpPr txBox="1"/>
          <p:nvPr/>
        </p:nvSpPr>
        <p:spPr>
          <a:xfrm>
            <a:off x="5074920" y="4480560"/>
            <a:ext cx="1737360" cy="365760"/>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3棟を同時に変える</a:t>
            </a:r>
            <a:endParaRPr lang="en-US" sz="1000" dirty="0"/>
          </a:p>
        </p:txBody>
      </p:sp>
      <p:sp>
        <p:nvSpPr>
          <p:cNvPr id="87" name="Text 85"/>
          <p:cNvSpPr txBox="1"/>
          <p:nvPr/>
        </p:nvSpPr>
        <p:spPr>
          <a:xfrm>
            <a:off x="6812280" y="4480560"/>
            <a:ext cx="1417320" cy="36576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9×9×9 ＝ 729</a:t>
            </a:r>
            <a:endParaRPr lang="en-US" sz="1050" dirty="0"/>
          </a:p>
        </p:txBody>
      </p:sp>
      <p:sp>
        <p:nvSpPr>
          <p:cNvPr id="88" name="Shape 86"/>
          <p:cNvSpPr/>
          <p:nvPr/>
        </p:nvSpPr>
        <p:spPr>
          <a:xfrm>
            <a:off x="8321040" y="4572000"/>
            <a:ext cx="1701491" cy="182880"/>
          </a:xfrm>
          <a:prstGeom prst="rect">
            <a:avLst/>
          </a:prstGeom>
          <a:solidFill>
            <a:srgbClr val="E8934D"/>
          </a:solidFill>
          <a:ln/>
        </p:spPr>
      </p:sp>
      <p:sp>
        <p:nvSpPr>
          <p:cNvPr id="89" name="Text 87"/>
          <p:cNvSpPr txBox="1"/>
          <p:nvPr/>
        </p:nvSpPr>
        <p:spPr>
          <a:xfrm>
            <a:off x="10068251" y="4480560"/>
            <a:ext cx="1097280" cy="365760"/>
          </a:xfrm>
          <a:prstGeom prst="rect">
            <a:avLst/>
          </a:prstGeom>
          <a:noFill/>
          <a:ln/>
        </p:spPr>
        <p:txBody>
          <a:bodyPr wrap="square" lIns="508" tIns="508" rIns="508" bIns="508" rtlCol="0" anchor="ctr"/>
          <a:lstStyle/>
          <a:p>
            <a:pPr indent="0" marL="0">
              <a:buNone/>
            </a:pPr>
            <a:r>
              <a:rPr lang="en-US" sz="900" dirty="0">
                <a:solidFill>
                  <a:srgbClr val="6B7480"/>
                </a:solidFill>
                <a:latin typeface="Yu Gothic" pitchFamily="34" charset="0"/>
                <a:ea typeface="Yu Gothic" pitchFamily="34" charset="-122"/>
                <a:cs typeface="Yu Gothic" pitchFamily="34" charset="-120"/>
              </a:rPr>
              <a:t>729配置</a:t>
            </a:r>
            <a:endParaRPr lang="en-US" sz="900" dirty="0"/>
          </a:p>
        </p:txBody>
      </p:sp>
      <p:sp>
        <p:nvSpPr>
          <p:cNvPr id="90" name="Shape 88"/>
          <p:cNvSpPr/>
          <p:nvPr/>
        </p:nvSpPr>
        <p:spPr>
          <a:xfrm>
            <a:off x="4983480" y="4882896"/>
            <a:ext cx="6766560" cy="365760"/>
          </a:xfrm>
          <a:prstGeom prst="rect">
            <a:avLst/>
          </a:prstGeom>
          <a:solidFill>
            <a:srgbClr val="FFFFFF"/>
          </a:solidFill>
          <a:ln/>
        </p:spPr>
      </p:sp>
      <p:sp>
        <p:nvSpPr>
          <p:cNvPr id="91" name="Text 89"/>
          <p:cNvSpPr txBox="1"/>
          <p:nvPr/>
        </p:nvSpPr>
        <p:spPr>
          <a:xfrm>
            <a:off x="5074920" y="4882896"/>
            <a:ext cx="1737360" cy="365760"/>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4棟を同時に変える</a:t>
            </a:r>
            <a:endParaRPr lang="en-US" sz="1000" dirty="0"/>
          </a:p>
        </p:txBody>
      </p:sp>
      <p:sp>
        <p:nvSpPr>
          <p:cNvPr id="92" name="Text 90"/>
          <p:cNvSpPr txBox="1"/>
          <p:nvPr/>
        </p:nvSpPr>
        <p:spPr>
          <a:xfrm>
            <a:off x="6812280" y="4882896"/>
            <a:ext cx="1417320" cy="365760"/>
          </a:xfrm>
          <a:prstGeom prst="rect">
            <a:avLst/>
          </a:prstGeom>
          <a:noFill/>
          <a:ln/>
        </p:spPr>
        <p:txBody>
          <a:bodyPr wrap="square" lIns="508" tIns="508" rIns="508" bIns="508" rtlCol="0" anchor="ctr"/>
          <a:lstStyle/>
          <a:p>
            <a:pPr indent="0" marL="0">
              <a:buNone/>
            </a:pPr>
            <a:r>
              <a:rPr lang="en-US" sz="1050" b="1" dirty="0">
                <a:solidFill>
                  <a:srgbClr val="C56A2C"/>
                </a:solidFill>
                <a:latin typeface="Yu Gothic" pitchFamily="34" charset="0"/>
                <a:ea typeface="Yu Gothic" pitchFamily="34" charset="-122"/>
                <a:cs typeface="Yu Gothic" pitchFamily="34" charset="-120"/>
              </a:rPr>
              <a:t>9⁴ ＝ 6,561</a:t>
            </a:r>
            <a:endParaRPr lang="en-US" sz="1050" dirty="0"/>
          </a:p>
        </p:txBody>
      </p:sp>
      <p:sp>
        <p:nvSpPr>
          <p:cNvPr id="93" name="Shape 91"/>
          <p:cNvSpPr/>
          <p:nvPr/>
        </p:nvSpPr>
        <p:spPr>
          <a:xfrm>
            <a:off x="8321040" y="4974336"/>
            <a:ext cx="2268654" cy="182880"/>
          </a:xfrm>
          <a:prstGeom prst="rect">
            <a:avLst/>
          </a:prstGeom>
          <a:solidFill>
            <a:srgbClr val="C56A2C"/>
          </a:solidFill>
          <a:ln/>
        </p:spPr>
      </p:sp>
      <p:sp>
        <p:nvSpPr>
          <p:cNvPr id="94" name="Text 92"/>
          <p:cNvSpPr txBox="1"/>
          <p:nvPr/>
        </p:nvSpPr>
        <p:spPr>
          <a:xfrm>
            <a:off x="10635414" y="4882896"/>
            <a:ext cx="1097280" cy="365760"/>
          </a:xfrm>
          <a:prstGeom prst="rect">
            <a:avLst/>
          </a:prstGeom>
          <a:noFill/>
          <a:ln/>
        </p:spPr>
        <p:txBody>
          <a:bodyPr wrap="square" lIns="508" tIns="508" rIns="508" bIns="508" rtlCol="0" anchor="ctr"/>
          <a:lstStyle/>
          <a:p>
            <a:pPr indent="0" marL="0">
              <a:buNone/>
            </a:pPr>
            <a:r>
              <a:rPr lang="en-US" sz="900" dirty="0">
                <a:solidFill>
                  <a:srgbClr val="6B7480"/>
                </a:solidFill>
                <a:latin typeface="Yu Gothic" pitchFamily="34" charset="0"/>
                <a:ea typeface="Yu Gothic" pitchFamily="34" charset="-122"/>
                <a:cs typeface="Yu Gothic" pitchFamily="34" charset="-120"/>
              </a:rPr>
              <a:t>6,561配置</a:t>
            </a:r>
            <a:endParaRPr lang="en-US" sz="900" dirty="0"/>
          </a:p>
        </p:txBody>
      </p:sp>
      <p:sp>
        <p:nvSpPr>
          <p:cNvPr id="95" name="Text 93"/>
          <p:cNvSpPr txBox="1"/>
          <p:nvPr/>
        </p:nvSpPr>
        <p:spPr>
          <a:xfrm>
            <a:off x="8321040" y="5285232"/>
            <a:ext cx="274320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棒の長さは対数目盛</a:t>
            </a:r>
            <a:endParaRPr lang="en-US" sz="800" dirty="0"/>
          </a:p>
        </p:txBody>
      </p:sp>
      <p:sp>
        <p:nvSpPr>
          <p:cNvPr id="96" name="Shape 94"/>
          <p:cNvSpPr/>
          <p:nvPr/>
        </p:nvSpPr>
        <p:spPr>
          <a:xfrm>
            <a:off x="4983480" y="5532120"/>
            <a:ext cx="6766560" cy="777240"/>
          </a:xfrm>
          <a:prstGeom prst="roundRect">
            <a:avLst>
              <a:gd name="adj" fmla="val 7059"/>
            </a:avLst>
          </a:prstGeom>
          <a:solidFill>
            <a:srgbClr val="1B2A44"/>
          </a:solidFill>
          <a:ln/>
        </p:spPr>
      </p:sp>
      <p:sp>
        <p:nvSpPr>
          <p:cNvPr id="97" name="Text 95"/>
          <p:cNvSpPr txBox="1"/>
          <p:nvPr/>
        </p:nvSpPr>
        <p:spPr>
          <a:xfrm>
            <a:off x="5120640" y="5559552"/>
            <a:ext cx="6537960" cy="731520"/>
          </a:xfrm>
          <a:prstGeom prst="rect">
            <a:avLst/>
          </a:prstGeom>
          <a:noFill/>
          <a:ln/>
        </p:spPr>
        <p:txBody>
          <a:bodyPr wrap="square" lIns="508" tIns="508" rIns="508" bIns="508" rtlCol="0" anchor="ctr"/>
          <a:lstStyle/>
          <a:p>
            <a:pPr indent="0" marL="0">
              <a:buNone/>
            </a:pPr>
            <a:r>
              <a:rPr lang="en-US" sz="1050" b="1" dirty="0">
                <a:solidFill>
                  <a:srgbClr val="E8934D"/>
                </a:solidFill>
                <a:latin typeface="Yu Gothic" pitchFamily="34" charset="0"/>
                <a:ea typeface="Yu Gothic" pitchFamily="34" charset="-122"/>
                <a:cs typeface="Yu Gothic" pitchFamily="34" charset="-120"/>
              </a:rPr>
              <a:t>「建物なし」も入れると各方向10通り → 10⁴ ＝ 10,000配置。</a:t>
            </a:r>
            <a:endParaRPr lang="en-US" sz="1050" dirty="0"/>
          </a:p>
          <a:p>
            <a:pPr indent="0" marL="0">
              <a:buNone/>
            </a:pPr>
            <a:r>
              <a:rPr lang="en-US" sz="1050" dirty="0">
                <a:solidFill>
                  <a:srgbClr val="FFFFFF"/>
                </a:solidFill>
                <a:latin typeface="Yu Gothic" pitchFamily="34" charset="0"/>
                <a:ea typeface="Yu Gothic" pitchFamily="34" charset="-122"/>
                <a:cs typeface="Yu Gothic" pitchFamily="34" charset="-120"/>
              </a:rPr>
              <a:t>表を全部埋めてから補間する方法は、SEBEの計算回数が多すぎて現実的でない。</a:t>
            </a:r>
            <a:endParaRPr lang="en-US" sz="105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そこで：1棟ずつの結果を足し算して、2棟以上の配置を推定する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36</a:t>
            </a:r>
            <a:endParaRPr lang="en-US" sz="1100" dirty="0"/>
          </a:p>
        </p:txBody>
      </p:sp>
      <p:sp>
        <p:nvSpPr>
          <p:cNvPr id="9" name="Shape 7"/>
          <p:cNvSpPr/>
          <p:nvPr/>
        </p:nvSpPr>
        <p:spPr>
          <a:xfrm>
            <a:off x="457200" y="1060704"/>
            <a:ext cx="2331720" cy="329184"/>
          </a:xfrm>
          <a:prstGeom prst="homePlate">
            <a:avLst/>
          </a:prstGeom>
          <a:solidFill>
            <a:srgbClr val="F6D9C0"/>
          </a:solidFill>
          <a:ln/>
        </p:spPr>
      </p:sp>
      <p:sp>
        <p:nvSpPr>
          <p:cNvPr id="10" name="Text 8"/>
          <p:cNvSpPr txBox="1"/>
          <p:nvPr/>
        </p:nvSpPr>
        <p:spPr>
          <a:xfrm>
            <a:off x="548640"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① 全部を計算するのは無理</a:t>
            </a:r>
            <a:endParaRPr lang="en-US" sz="950" dirty="0"/>
          </a:p>
        </p:txBody>
      </p:sp>
      <p:sp>
        <p:nvSpPr>
          <p:cNvPr id="11" name="Shape 9"/>
          <p:cNvSpPr/>
          <p:nvPr/>
        </p:nvSpPr>
        <p:spPr>
          <a:xfrm>
            <a:off x="2715768" y="1060704"/>
            <a:ext cx="2331720" cy="329184"/>
          </a:xfrm>
          <a:prstGeom prst="chevron">
            <a:avLst/>
          </a:prstGeom>
          <a:solidFill>
            <a:srgbClr val="E8934D"/>
          </a:solidFill>
          <a:ln/>
        </p:spPr>
      </p:sp>
      <p:sp>
        <p:nvSpPr>
          <p:cNvPr id="12" name="Text 10"/>
          <p:cNvSpPr txBox="1"/>
          <p:nvPr/>
        </p:nvSpPr>
        <p:spPr>
          <a:xfrm>
            <a:off x="2916936" y="1060704"/>
            <a:ext cx="20116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② 1棟ずつの結果を足して埋める</a:t>
            </a:r>
            <a:endParaRPr lang="en-US" sz="950" dirty="0"/>
          </a:p>
        </p:txBody>
      </p:sp>
      <p:sp>
        <p:nvSpPr>
          <p:cNvPr id="13" name="Shape 11"/>
          <p:cNvSpPr/>
          <p:nvPr/>
        </p:nvSpPr>
        <p:spPr>
          <a:xfrm>
            <a:off x="4974336" y="1060704"/>
            <a:ext cx="2331720" cy="329184"/>
          </a:xfrm>
          <a:prstGeom prst="chevron">
            <a:avLst/>
          </a:prstGeom>
          <a:solidFill>
            <a:srgbClr val="EAEEF2"/>
          </a:solidFill>
          <a:ln/>
        </p:spPr>
      </p:sp>
      <p:sp>
        <p:nvSpPr>
          <p:cNvPr id="14" name="Text 12"/>
          <p:cNvSpPr txBox="1"/>
          <p:nvPr/>
        </p:nvSpPr>
        <p:spPr>
          <a:xfrm>
            <a:off x="5175504"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③ 足し算の弱点＝影の重なり</a:t>
            </a:r>
            <a:endParaRPr lang="en-US" sz="950" dirty="0"/>
          </a:p>
        </p:txBody>
      </p:sp>
      <p:sp>
        <p:nvSpPr>
          <p:cNvPr id="15" name="Shape 13"/>
          <p:cNvSpPr/>
          <p:nvPr/>
        </p:nvSpPr>
        <p:spPr>
          <a:xfrm>
            <a:off x="7232904" y="1060704"/>
            <a:ext cx="2331720" cy="329184"/>
          </a:xfrm>
          <a:prstGeom prst="chevron">
            <a:avLst/>
          </a:prstGeom>
          <a:solidFill>
            <a:srgbClr val="EAEEF2"/>
          </a:solidFill>
          <a:ln/>
        </p:spPr>
      </p:sp>
      <p:sp>
        <p:nvSpPr>
          <p:cNvPr id="16" name="Text 14"/>
          <p:cNvSpPr txBox="1"/>
          <p:nvPr/>
        </p:nvSpPr>
        <p:spPr>
          <a:xfrm>
            <a:off x="7434072"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④ 足し算を式で書く</a:t>
            </a:r>
            <a:endParaRPr lang="en-US" sz="950" dirty="0"/>
          </a:p>
        </p:txBody>
      </p:sp>
      <p:sp>
        <p:nvSpPr>
          <p:cNvPr id="17" name="Shape 15"/>
          <p:cNvSpPr/>
          <p:nvPr/>
        </p:nvSpPr>
        <p:spPr>
          <a:xfrm>
            <a:off x="9491472" y="1060704"/>
            <a:ext cx="2331720" cy="329184"/>
          </a:xfrm>
          <a:prstGeom prst="chevron">
            <a:avLst/>
          </a:prstGeom>
          <a:solidFill>
            <a:srgbClr val="EAEEF2"/>
          </a:solidFill>
          <a:ln/>
        </p:spPr>
      </p:sp>
      <p:sp>
        <p:nvSpPr>
          <p:cNvPr id="18" name="Text 16"/>
          <p:cNvSpPr txBox="1"/>
          <p:nvPr/>
        </p:nvSpPr>
        <p:spPr>
          <a:xfrm>
            <a:off x="9692640"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⑤ 来週SEBEで確かめる</a:t>
            </a:r>
            <a:endParaRPr lang="en-US" sz="950" dirty="0"/>
          </a:p>
        </p:txBody>
      </p:sp>
      <p:sp>
        <p:nvSpPr>
          <p:cNvPr id="19" name="Shape 17"/>
          <p:cNvSpPr/>
          <p:nvPr/>
        </p:nvSpPr>
        <p:spPr>
          <a:xfrm>
            <a:off x="457200" y="1554480"/>
            <a:ext cx="4846320" cy="4754880"/>
          </a:xfrm>
          <a:prstGeom prst="roundRect">
            <a:avLst>
              <a:gd name="adj" fmla="val 1154"/>
            </a:avLst>
          </a:prstGeom>
          <a:solidFill>
            <a:srgbClr val="F3F5F8"/>
          </a:solidFill>
          <a:ln/>
        </p:spPr>
      </p:sp>
      <p:sp>
        <p:nvSpPr>
          <p:cNvPr id="20" name="Text 18"/>
          <p:cNvSpPr txBox="1"/>
          <p:nvPr/>
        </p:nvSpPr>
        <p:spPr>
          <a:xfrm>
            <a:off x="594360" y="1609344"/>
            <a:ext cx="45720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南と東の2方向で考えた表</a:t>
            </a:r>
            <a:endParaRPr lang="en-US" sz="1150" dirty="0"/>
          </a:p>
        </p:txBody>
      </p:sp>
      <p:sp>
        <p:nvSpPr>
          <p:cNvPr id="21" name="Text 19"/>
          <p:cNvSpPr txBox="1"/>
          <p:nvPr/>
        </p:nvSpPr>
        <p:spPr>
          <a:xfrm>
            <a:off x="1325880" y="1901952"/>
            <a:ext cx="3383280" cy="219456"/>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東の建物 → （なし＋9条件）</a:t>
            </a:r>
            <a:endParaRPr lang="en-US" sz="900" dirty="0"/>
          </a:p>
        </p:txBody>
      </p:sp>
      <p:sp>
        <p:nvSpPr>
          <p:cNvPr id="22" name="Text 20"/>
          <p:cNvSpPr txBox="1"/>
          <p:nvPr/>
        </p:nvSpPr>
        <p:spPr>
          <a:xfrm>
            <a:off x="548640" y="3424428"/>
            <a:ext cx="685800" cy="685800"/>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南の</a:t>
            </a:r>
            <a:endParaRPr lang="en-US" sz="900" dirty="0"/>
          </a:p>
          <a:p>
            <a:pPr algn="ctr" indent="0" marL="0">
              <a:buNone/>
            </a:pPr>
            <a:r>
              <a:rPr lang="en-US" sz="900" b="1" dirty="0">
                <a:solidFill>
                  <a:srgbClr val="C56A2C"/>
                </a:solidFill>
                <a:latin typeface="Yu Gothic" pitchFamily="34" charset="0"/>
                <a:ea typeface="Yu Gothic" pitchFamily="34" charset="-122"/>
                <a:cs typeface="Yu Gothic" pitchFamily="34" charset="-120"/>
              </a:rPr>
              <a:t>建物</a:t>
            </a:r>
            <a:endParaRPr lang="en-US" sz="900" dirty="0"/>
          </a:p>
          <a:p>
            <a:pPr algn="ctr" indent="0" marL="0">
              <a:buNone/>
            </a:pPr>
            <a:r>
              <a:rPr lang="en-US" sz="900" b="1" dirty="0">
                <a:solidFill>
                  <a:srgbClr val="C56A2C"/>
                </a:solidFill>
                <a:latin typeface="Yu Gothic" pitchFamily="34" charset="0"/>
                <a:ea typeface="Yu Gothic" pitchFamily="34" charset="-122"/>
                <a:cs typeface="Yu Gothic" pitchFamily="34" charset="-120"/>
              </a:rPr>
              <a:t>↓</a:t>
            </a:r>
            <a:endParaRPr lang="en-US" sz="900" dirty="0"/>
          </a:p>
        </p:txBody>
      </p:sp>
      <p:sp>
        <p:nvSpPr>
          <p:cNvPr id="23" name="Shape 21"/>
          <p:cNvSpPr/>
          <p:nvPr/>
        </p:nvSpPr>
        <p:spPr>
          <a:xfrm>
            <a:off x="1325880" y="2240280"/>
            <a:ext cx="310896" cy="310896"/>
          </a:xfrm>
          <a:prstGeom prst="rect">
            <a:avLst/>
          </a:prstGeom>
          <a:solidFill>
            <a:srgbClr val="1B2A44"/>
          </a:solidFill>
          <a:ln/>
        </p:spPr>
      </p:sp>
      <p:sp>
        <p:nvSpPr>
          <p:cNvPr id="24" name="Shape 22"/>
          <p:cNvSpPr/>
          <p:nvPr/>
        </p:nvSpPr>
        <p:spPr>
          <a:xfrm>
            <a:off x="1664208" y="2240280"/>
            <a:ext cx="310896" cy="310896"/>
          </a:xfrm>
          <a:prstGeom prst="rect">
            <a:avLst/>
          </a:prstGeom>
          <a:solidFill>
            <a:srgbClr val="1F6F78"/>
          </a:solidFill>
          <a:ln/>
        </p:spPr>
      </p:sp>
      <p:sp>
        <p:nvSpPr>
          <p:cNvPr id="25" name="Shape 23"/>
          <p:cNvSpPr/>
          <p:nvPr/>
        </p:nvSpPr>
        <p:spPr>
          <a:xfrm>
            <a:off x="2002536" y="2240280"/>
            <a:ext cx="310896" cy="310896"/>
          </a:xfrm>
          <a:prstGeom prst="rect">
            <a:avLst/>
          </a:prstGeom>
          <a:solidFill>
            <a:srgbClr val="1F6F78"/>
          </a:solidFill>
          <a:ln/>
        </p:spPr>
      </p:sp>
      <p:sp>
        <p:nvSpPr>
          <p:cNvPr id="26" name="Shape 24"/>
          <p:cNvSpPr/>
          <p:nvPr/>
        </p:nvSpPr>
        <p:spPr>
          <a:xfrm>
            <a:off x="2340864" y="2240280"/>
            <a:ext cx="310896" cy="310896"/>
          </a:xfrm>
          <a:prstGeom prst="rect">
            <a:avLst/>
          </a:prstGeom>
          <a:solidFill>
            <a:srgbClr val="1F6F78"/>
          </a:solidFill>
          <a:ln/>
        </p:spPr>
      </p:sp>
      <p:sp>
        <p:nvSpPr>
          <p:cNvPr id="27" name="Shape 25"/>
          <p:cNvSpPr/>
          <p:nvPr/>
        </p:nvSpPr>
        <p:spPr>
          <a:xfrm>
            <a:off x="2679192" y="2240280"/>
            <a:ext cx="310896" cy="310896"/>
          </a:xfrm>
          <a:prstGeom prst="rect">
            <a:avLst/>
          </a:prstGeom>
          <a:solidFill>
            <a:srgbClr val="1F6F78"/>
          </a:solidFill>
          <a:ln/>
        </p:spPr>
      </p:sp>
      <p:sp>
        <p:nvSpPr>
          <p:cNvPr id="28" name="Shape 26"/>
          <p:cNvSpPr/>
          <p:nvPr/>
        </p:nvSpPr>
        <p:spPr>
          <a:xfrm>
            <a:off x="3017520" y="2240280"/>
            <a:ext cx="310896" cy="310896"/>
          </a:xfrm>
          <a:prstGeom prst="rect">
            <a:avLst/>
          </a:prstGeom>
          <a:solidFill>
            <a:srgbClr val="1F6F78"/>
          </a:solidFill>
          <a:ln/>
        </p:spPr>
      </p:sp>
      <p:sp>
        <p:nvSpPr>
          <p:cNvPr id="29" name="Shape 27"/>
          <p:cNvSpPr/>
          <p:nvPr/>
        </p:nvSpPr>
        <p:spPr>
          <a:xfrm>
            <a:off x="3355848" y="2240280"/>
            <a:ext cx="310896" cy="310896"/>
          </a:xfrm>
          <a:prstGeom prst="rect">
            <a:avLst/>
          </a:prstGeom>
          <a:solidFill>
            <a:srgbClr val="1F6F78"/>
          </a:solidFill>
          <a:ln/>
        </p:spPr>
      </p:sp>
      <p:sp>
        <p:nvSpPr>
          <p:cNvPr id="30" name="Shape 28"/>
          <p:cNvSpPr/>
          <p:nvPr/>
        </p:nvSpPr>
        <p:spPr>
          <a:xfrm>
            <a:off x="3694176" y="2240280"/>
            <a:ext cx="310896" cy="310896"/>
          </a:xfrm>
          <a:prstGeom prst="rect">
            <a:avLst/>
          </a:prstGeom>
          <a:solidFill>
            <a:srgbClr val="1F6F78"/>
          </a:solidFill>
          <a:ln/>
        </p:spPr>
      </p:sp>
      <p:sp>
        <p:nvSpPr>
          <p:cNvPr id="31" name="Shape 29"/>
          <p:cNvSpPr/>
          <p:nvPr/>
        </p:nvSpPr>
        <p:spPr>
          <a:xfrm>
            <a:off x="4032504" y="2240280"/>
            <a:ext cx="310896" cy="310896"/>
          </a:xfrm>
          <a:prstGeom prst="rect">
            <a:avLst/>
          </a:prstGeom>
          <a:solidFill>
            <a:srgbClr val="1F6F78"/>
          </a:solidFill>
          <a:ln/>
        </p:spPr>
      </p:sp>
      <p:sp>
        <p:nvSpPr>
          <p:cNvPr id="32" name="Shape 30"/>
          <p:cNvSpPr/>
          <p:nvPr/>
        </p:nvSpPr>
        <p:spPr>
          <a:xfrm>
            <a:off x="4370832" y="2240280"/>
            <a:ext cx="310896" cy="310896"/>
          </a:xfrm>
          <a:prstGeom prst="rect">
            <a:avLst/>
          </a:prstGeom>
          <a:solidFill>
            <a:srgbClr val="1F6F78"/>
          </a:solidFill>
          <a:ln/>
        </p:spPr>
      </p:sp>
      <p:sp>
        <p:nvSpPr>
          <p:cNvPr id="33" name="Shape 31"/>
          <p:cNvSpPr/>
          <p:nvPr/>
        </p:nvSpPr>
        <p:spPr>
          <a:xfrm>
            <a:off x="1325880" y="2578608"/>
            <a:ext cx="310896" cy="310896"/>
          </a:xfrm>
          <a:prstGeom prst="rect">
            <a:avLst/>
          </a:prstGeom>
          <a:solidFill>
            <a:srgbClr val="E8934D"/>
          </a:solidFill>
          <a:ln/>
        </p:spPr>
      </p:sp>
      <p:sp>
        <p:nvSpPr>
          <p:cNvPr id="34" name="Shape 32"/>
          <p:cNvSpPr/>
          <p:nvPr/>
        </p:nvSpPr>
        <p:spPr>
          <a:xfrm>
            <a:off x="1664208" y="2578608"/>
            <a:ext cx="310896" cy="310896"/>
          </a:xfrm>
          <a:prstGeom prst="rect">
            <a:avLst/>
          </a:prstGeom>
          <a:solidFill>
            <a:srgbClr val="E3E7EC"/>
          </a:solidFill>
          <a:ln/>
        </p:spPr>
      </p:sp>
      <p:sp>
        <p:nvSpPr>
          <p:cNvPr id="35" name="Text 33"/>
          <p:cNvSpPr txBox="1"/>
          <p:nvPr/>
        </p:nvSpPr>
        <p:spPr>
          <a:xfrm>
            <a:off x="1664208"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36" name="Shape 34"/>
          <p:cNvSpPr/>
          <p:nvPr/>
        </p:nvSpPr>
        <p:spPr>
          <a:xfrm>
            <a:off x="2002536" y="2578608"/>
            <a:ext cx="310896" cy="310896"/>
          </a:xfrm>
          <a:prstGeom prst="rect">
            <a:avLst/>
          </a:prstGeom>
          <a:solidFill>
            <a:srgbClr val="E3E7EC"/>
          </a:solidFill>
          <a:ln/>
        </p:spPr>
      </p:sp>
      <p:sp>
        <p:nvSpPr>
          <p:cNvPr id="37" name="Text 35"/>
          <p:cNvSpPr txBox="1"/>
          <p:nvPr/>
        </p:nvSpPr>
        <p:spPr>
          <a:xfrm>
            <a:off x="2002536"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38" name="Shape 36"/>
          <p:cNvSpPr/>
          <p:nvPr/>
        </p:nvSpPr>
        <p:spPr>
          <a:xfrm>
            <a:off x="2340864" y="2578608"/>
            <a:ext cx="310896" cy="310896"/>
          </a:xfrm>
          <a:prstGeom prst="rect">
            <a:avLst/>
          </a:prstGeom>
          <a:solidFill>
            <a:srgbClr val="E3E7EC"/>
          </a:solidFill>
          <a:ln/>
        </p:spPr>
      </p:sp>
      <p:sp>
        <p:nvSpPr>
          <p:cNvPr id="39" name="Text 37"/>
          <p:cNvSpPr txBox="1"/>
          <p:nvPr/>
        </p:nvSpPr>
        <p:spPr>
          <a:xfrm>
            <a:off x="2340864"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40" name="Shape 38"/>
          <p:cNvSpPr/>
          <p:nvPr/>
        </p:nvSpPr>
        <p:spPr>
          <a:xfrm>
            <a:off x="2679192" y="2578608"/>
            <a:ext cx="310896" cy="310896"/>
          </a:xfrm>
          <a:prstGeom prst="rect">
            <a:avLst/>
          </a:prstGeom>
          <a:solidFill>
            <a:srgbClr val="E3E7EC"/>
          </a:solidFill>
          <a:ln/>
        </p:spPr>
      </p:sp>
      <p:sp>
        <p:nvSpPr>
          <p:cNvPr id="41" name="Text 39"/>
          <p:cNvSpPr txBox="1"/>
          <p:nvPr/>
        </p:nvSpPr>
        <p:spPr>
          <a:xfrm>
            <a:off x="2679192"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42" name="Shape 40"/>
          <p:cNvSpPr/>
          <p:nvPr/>
        </p:nvSpPr>
        <p:spPr>
          <a:xfrm>
            <a:off x="3017520" y="2578608"/>
            <a:ext cx="310896" cy="310896"/>
          </a:xfrm>
          <a:prstGeom prst="rect">
            <a:avLst/>
          </a:prstGeom>
          <a:solidFill>
            <a:srgbClr val="E3E7EC"/>
          </a:solidFill>
          <a:ln/>
        </p:spPr>
      </p:sp>
      <p:sp>
        <p:nvSpPr>
          <p:cNvPr id="43" name="Text 41"/>
          <p:cNvSpPr txBox="1"/>
          <p:nvPr/>
        </p:nvSpPr>
        <p:spPr>
          <a:xfrm>
            <a:off x="3017520"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44" name="Shape 42"/>
          <p:cNvSpPr/>
          <p:nvPr/>
        </p:nvSpPr>
        <p:spPr>
          <a:xfrm>
            <a:off x="3355848" y="2578608"/>
            <a:ext cx="310896" cy="310896"/>
          </a:xfrm>
          <a:prstGeom prst="rect">
            <a:avLst/>
          </a:prstGeom>
          <a:solidFill>
            <a:srgbClr val="E3E7EC"/>
          </a:solidFill>
          <a:ln/>
        </p:spPr>
      </p:sp>
      <p:sp>
        <p:nvSpPr>
          <p:cNvPr id="45" name="Text 43"/>
          <p:cNvSpPr txBox="1"/>
          <p:nvPr/>
        </p:nvSpPr>
        <p:spPr>
          <a:xfrm>
            <a:off x="3355848"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46" name="Shape 44"/>
          <p:cNvSpPr/>
          <p:nvPr/>
        </p:nvSpPr>
        <p:spPr>
          <a:xfrm>
            <a:off x="3694176" y="2578608"/>
            <a:ext cx="310896" cy="310896"/>
          </a:xfrm>
          <a:prstGeom prst="rect">
            <a:avLst/>
          </a:prstGeom>
          <a:solidFill>
            <a:srgbClr val="E3E7EC"/>
          </a:solidFill>
          <a:ln/>
        </p:spPr>
      </p:sp>
      <p:sp>
        <p:nvSpPr>
          <p:cNvPr id="47" name="Text 45"/>
          <p:cNvSpPr txBox="1"/>
          <p:nvPr/>
        </p:nvSpPr>
        <p:spPr>
          <a:xfrm>
            <a:off x="3694176"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48" name="Shape 46"/>
          <p:cNvSpPr/>
          <p:nvPr/>
        </p:nvSpPr>
        <p:spPr>
          <a:xfrm>
            <a:off x="4032504" y="2578608"/>
            <a:ext cx="310896" cy="310896"/>
          </a:xfrm>
          <a:prstGeom prst="rect">
            <a:avLst/>
          </a:prstGeom>
          <a:solidFill>
            <a:srgbClr val="E3E7EC"/>
          </a:solidFill>
          <a:ln/>
        </p:spPr>
      </p:sp>
      <p:sp>
        <p:nvSpPr>
          <p:cNvPr id="49" name="Text 47"/>
          <p:cNvSpPr txBox="1"/>
          <p:nvPr/>
        </p:nvSpPr>
        <p:spPr>
          <a:xfrm>
            <a:off x="4032504"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50" name="Shape 48"/>
          <p:cNvSpPr/>
          <p:nvPr/>
        </p:nvSpPr>
        <p:spPr>
          <a:xfrm>
            <a:off x="4370832" y="2578608"/>
            <a:ext cx="310896" cy="310896"/>
          </a:xfrm>
          <a:prstGeom prst="rect">
            <a:avLst/>
          </a:prstGeom>
          <a:solidFill>
            <a:srgbClr val="E3E7EC"/>
          </a:solidFill>
          <a:ln/>
        </p:spPr>
      </p:sp>
      <p:sp>
        <p:nvSpPr>
          <p:cNvPr id="51" name="Text 49"/>
          <p:cNvSpPr txBox="1"/>
          <p:nvPr/>
        </p:nvSpPr>
        <p:spPr>
          <a:xfrm>
            <a:off x="4370832" y="257860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52" name="Shape 50"/>
          <p:cNvSpPr/>
          <p:nvPr/>
        </p:nvSpPr>
        <p:spPr>
          <a:xfrm>
            <a:off x="1325880" y="2916936"/>
            <a:ext cx="310896" cy="310896"/>
          </a:xfrm>
          <a:prstGeom prst="rect">
            <a:avLst/>
          </a:prstGeom>
          <a:solidFill>
            <a:srgbClr val="E8934D"/>
          </a:solidFill>
          <a:ln/>
        </p:spPr>
      </p:sp>
      <p:sp>
        <p:nvSpPr>
          <p:cNvPr id="53" name="Shape 51"/>
          <p:cNvSpPr/>
          <p:nvPr/>
        </p:nvSpPr>
        <p:spPr>
          <a:xfrm>
            <a:off x="1664208" y="2916936"/>
            <a:ext cx="310896" cy="310896"/>
          </a:xfrm>
          <a:prstGeom prst="rect">
            <a:avLst/>
          </a:prstGeom>
          <a:solidFill>
            <a:srgbClr val="E3E7EC"/>
          </a:solidFill>
          <a:ln/>
        </p:spPr>
      </p:sp>
      <p:sp>
        <p:nvSpPr>
          <p:cNvPr id="54" name="Text 52"/>
          <p:cNvSpPr txBox="1"/>
          <p:nvPr/>
        </p:nvSpPr>
        <p:spPr>
          <a:xfrm>
            <a:off x="1664208"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55" name="Shape 53"/>
          <p:cNvSpPr/>
          <p:nvPr/>
        </p:nvSpPr>
        <p:spPr>
          <a:xfrm>
            <a:off x="2002536" y="2916936"/>
            <a:ext cx="310896" cy="310896"/>
          </a:xfrm>
          <a:prstGeom prst="rect">
            <a:avLst/>
          </a:prstGeom>
          <a:solidFill>
            <a:srgbClr val="E3E7EC"/>
          </a:solidFill>
          <a:ln/>
        </p:spPr>
      </p:sp>
      <p:sp>
        <p:nvSpPr>
          <p:cNvPr id="56" name="Text 54"/>
          <p:cNvSpPr txBox="1"/>
          <p:nvPr/>
        </p:nvSpPr>
        <p:spPr>
          <a:xfrm>
            <a:off x="2002536"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57" name="Shape 55"/>
          <p:cNvSpPr/>
          <p:nvPr/>
        </p:nvSpPr>
        <p:spPr>
          <a:xfrm>
            <a:off x="2340864" y="2916936"/>
            <a:ext cx="310896" cy="310896"/>
          </a:xfrm>
          <a:prstGeom prst="rect">
            <a:avLst/>
          </a:prstGeom>
          <a:solidFill>
            <a:srgbClr val="E3E7EC"/>
          </a:solidFill>
          <a:ln/>
        </p:spPr>
      </p:sp>
      <p:sp>
        <p:nvSpPr>
          <p:cNvPr id="58" name="Text 56"/>
          <p:cNvSpPr txBox="1"/>
          <p:nvPr/>
        </p:nvSpPr>
        <p:spPr>
          <a:xfrm>
            <a:off x="2340864"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59" name="Shape 57"/>
          <p:cNvSpPr/>
          <p:nvPr/>
        </p:nvSpPr>
        <p:spPr>
          <a:xfrm>
            <a:off x="2679192" y="2916936"/>
            <a:ext cx="310896" cy="310896"/>
          </a:xfrm>
          <a:prstGeom prst="rect">
            <a:avLst/>
          </a:prstGeom>
          <a:solidFill>
            <a:srgbClr val="E3E7EC"/>
          </a:solidFill>
          <a:ln/>
        </p:spPr>
      </p:sp>
      <p:sp>
        <p:nvSpPr>
          <p:cNvPr id="60" name="Text 58"/>
          <p:cNvSpPr txBox="1"/>
          <p:nvPr/>
        </p:nvSpPr>
        <p:spPr>
          <a:xfrm>
            <a:off x="2679192"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61" name="Shape 59"/>
          <p:cNvSpPr/>
          <p:nvPr/>
        </p:nvSpPr>
        <p:spPr>
          <a:xfrm>
            <a:off x="3017520" y="2916936"/>
            <a:ext cx="310896" cy="310896"/>
          </a:xfrm>
          <a:prstGeom prst="rect">
            <a:avLst/>
          </a:prstGeom>
          <a:solidFill>
            <a:srgbClr val="E3E7EC"/>
          </a:solidFill>
          <a:ln/>
        </p:spPr>
      </p:sp>
      <p:sp>
        <p:nvSpPr>
          <p:cNvPr id="62" name="Text 60"/>
          <p:cNvSpPr txBox="1"/>
          <p:nvPr/>
        </p:nvSpPr>
        <p:spPr>
          <a:xfrm>
            <a:off x="3017520"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63" name="Shape 61"/>
          <p:cNvSpPr/>
          <p:nvPr/>
        </p:nvSpPr>
        <p:spPr>
          <a:xfrm>
            <a:off x="3355848" y="2916936"/>
            <a:ext cx="310896" cy="310896"/>
          </a:xfrm>
          <a:prstGeom prst="rect">
            <a:avLst/>
          </a:prstGeom>
          <a:solidFill>
            <a:srgbClr val="E3E7EC"/>
          </a:solidFill>
          <a:ln/>
        </p:spPr>
      </p:sp>
      <p:sp>
        <p:nvSpPr>
          <p:cNvPr id="64" name="Text 62"/>
          <p:cNvSpPr txBox="1"/>
          <p:nvPr/>
        </p:nvSpPr>
        <p:spPr>
          <a:xfrm>
            <a:off x="3355848"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65" name="Shape 63"/>
          <p:cNvSpPr/>
          <p:nvPr/>
        </p:nvSpPr>
        <p:spPr>
          <a:xfrm>
            <a:off x="3694176" y="2916936"/>
            <a:ext cx="310896" cy="310896"/>
          </a:xfrm>
          <a:prstGeom prst="rect">
            <a:avLst/>
          </a:prstGeom>
          <a:solidFill>
            <a:srgbClr val="E3E7EC"/>
          </a:solidFill>
          <a:ln/>
        </p:spPr>
      </p:sp>
      <p:sp>
        <p:nvSpPr>
          <p:cNvPr id="66" name="Text 64"/>
          <p:cNvSpPr txBox="1"/>
          <p:nvPr/>
        </p:nvSpPr>
        <p:spPr>
          <a:xfrm>
            <a:off x="3694176"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67" name="Shape 65"/>
          <p:cNvSpPr/>
          <p:nvPr/>
        </p:nvSpPr>
        <p:spPr>
          <a:xfrm>
            <a:off x="4032504" y="2916936"/>
            <a:ext cx="310896" cy="310896"/>
          </a:xfrm>
          <a:prstGeom prst="rect">
            <a:avLst/>
          </a:prstGeom>
          <a:solidFill>
            <a:srgbClr val="E3E7EC"/>
          </a:solidFill>
          <a:ln/>
        </p:spPr>
      </p:sp>
      <p:sp>
        <p:nvSpPr>
          <p:cNvPr id="68" name="Text 66"/>
          <p:cNvSpPr txBox="1"/>
          <p:nvPr/>
        </p:nvSpPr>
        <p:spPr>
          <a:xfrm>
            <a:off x="4032504"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69" name="Shape 67"/>
          <p:cNvSpPr/>
          <p:nvPr/>
        </p:nvSpPr>
        <p:spPr>
          <a:xfrm>
            <a:off x="4370832" y="2916936"/>
            <a:ext cx="310896" cy="310896"/>
          </a:xfrm>
          <a:prstGeom prst="rect">
            <a:avLst/>
          </a:prstGeom>
          <a:solidFill>
            <a:srgbClr val="E3E7EC"/>
          </a:solidFill>
          <a:ln/>
        </p:spPr>
      </p:sp>
      <p:sp>
        <p:nvSpPr>
          <p:cNvPr id="70" name="Text 68"/>
          <p:cNvSpPr txBox="1"/>
          <p:nvPr/>
        </p:nvSpPr>
        <p:spPr>
          <a:xfrm>
            <a:off x="4370832" y="291693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71" name="Shape 69"/>
          <p:cNvSpPr/>
          <p:nvPr/>
        </p:nvSpPr>
        <p:spPr>
          <a:xfrm>
            <a:off x="1325880" y="3255264"/>
            <a:ext cx="310896" cy="310896"/>
          </a:xfrm>
          <a:prstGeom prst="rect">
            <a:avLst/>
          </a:prstGeom>
          <a:solidFill>
            <a:srgbClr val="E8934D"/>
          </a:solidFill>
          <a:ln/>
        </p:spPr>
      </p:sp>
      <p:sp>
        <p:nvSpPr>
          <p:cNvPr id="72" name="Shape 70"/>
          <p:cNvSpPr/>
          <p:nvPr/>
        </p:nvSpPr>
        <p:spPr>
          <a:xfrm>
            <a:off x="1664208" y="3255264"/>
            <a:ext cx="310896" cy="310896"/>
          </a:xfrm>
          <a:prstGeom prst="rect">
            <a:avLst/>
          </a:prstGeom>
          <a:solidFill>
            <a:srgbClr val="E3E7EC"/>
          </a:solidFill>
          <a:ln/>
        </p:spPr>
      </p:sp>
      <p:sp>
        <p:nvSpPr>
          <p:cNvPr id="73" name="Text 71"/>
          <p:cNvSpPr txBox="1"/>
          <p:nvPr/>
        </p:nvSpPr>
        <p:spPr>
          <a:xfrm>
            <a:off x="1664208"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74" name="Shape 72"/>
          <p:cNvSpPr/>
          <p:nvPr/>
        </p:nvSpPr>
        <p:spPr>
          <a:xfrm>
            <a:off x="2002536" y="3255264"/>
            <a:ext cx="310896" cy="310896"/>
          </a:xfrm>
          <a:prstGeom prst="rect">
            <a:avLst/>
          </a:prstGeom>
          <a:solidFill>
            <a:srgbClr val="E3E7EC"/>
          </a:solidFill>
          <a:ln/>
        </p:spPr>
      </p:sp>
      <p:sp>
        <p:nvSpPr>
          <p:cNvPr id="75" name="Text 73"/>
          <p:cNvSpPr txBox="1"/>
          <p:nvPr/>
        </p:nvSpPr>
        <p:spPr>
          <a:xfrm>
            <a:off x="2002536"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76" name="Shape 74"/>
          <p:cNvSpPr/>
          <p:nvPr/>
        </p:nvSpPr>
        <p:spPr>
          <a:xfrm>
            <a:off x="2340864" y="3255264"/>
            <a:ext cx="310896" cy="310896"/>
          </a:xfrm>
          <a:prstGeom prst="rect">
            <a:avLst/>
          </a:prstGeom>
          <a:solidFill>
            <a:srgbClr val="E3E7EC"/>
          </a:solidFill>
          <a:ln/>
        </p:spPr>
      </p:sp>
      <p:sp>
        <p:nvSpPr>
          <p:cNvPr id="77" name="Text 75"/>
          <p:cNvSpPr txBox="1"/>
          <p:nvPr/>
        </p:nvSpPr>
        <p:spPr>
          <a:xfrm>
            <a:off x="2340864"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78" name="Shape 76"/>
          <p:cNvSpPr/>
          <p:nvPr/>
        </p:nvSpPr>
        <p:spPr>
          <a:xfrm>
            <a:off x="2679192" y="3255264"/>
            <a:ext cx="310896" cy="310896"/>
          </a:xfrm>
          <a:prstGeom prst="rect">
            <a:avLst/>
          </a:prstGeom>
          <a:solidFill>
            <a:srgbClr val="E3E7EC"/>
          </a:solidFill>
          <a:ln/>
        </p:spPr>
      </p:sp>
      <p:sp>
        <p:nvSpPr>
          <p:cNvPr id="79" name="Text 77"/>
          <p:cNvSpPr txBox="1"/>
          <p:nvPr/>
        </p:nvSpPr>
        <p:spPr>
          <a:xfrm>
            <a:off x="2679192"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80" name="Shape 78"/>
          <p:cNvSpPr/>
          <p:nvPr/>
        </p:nvSpPr>
        <p:spPr>
          <a:xfrm>
            <a:off x="3017520" y="3255264"/>
            <a:ext cx="310896" cy="310896"/>
          </a:xfrm>
          <a:prstGeom prst="rect">
            <a:avLst/>
          </a:prstGeom>
          <a:solidFill>
            <a:srgbClr val="E3E7EC"/>
          </a:solidFill>
          <a:ln/>
        </p:spPr>
      </p:sp>
      <p:sp>
        <p:nvSpPr>
          <p:cNvPr id="81" name="Text 79"/>
          <p:cNvSpPr txBox="1"/>
          <p:nvPr/>
        </p:nvSpPr>
        <p:spPr>
          <a:xfrm>
            <a:off x="3017520"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82" name="Shape 80"/>
          <p:cNvSpPr/>
          <p:nvPr/>
        </p:nvSpPr>
        <p:spPr>
          <a:xfrm>
            <a:off x="3355848" y="3255264"/>
            <a:ext cx="310896" cy="310896"/>
          </a:xfrm>
          <a:prstGeom prst="rect">
            <a:avLst/>
          </a:prstGeom>
          <a:solidFill>
            <a:srgbClr val="E3E7EC"/>
          </a:solidFill>
          <a:ln/>
        </p:spPr>
      </p:sp>
      <p:sp>
        <p:nvSpPr>
          <p:cNvPr id="83" name="Text 81"/>
          <p:cNvSpPr txBox="1"/>
          <p:nvPr/>
        </p:nvSpPr>
        <p:spPr>
          <a:xfrm>
            <a:off x="3355848"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84" name="Shape 82"/>
          <p:cNvSpPr/>
          <p:nvPr/>
        </p:nvSpPr>
        <p:spPr>
          <a:xfrm>
            <a:off x="3694176" y="3255264"/>
            <a:ext cx="310896" cy="310896"/>
          </a:xfrm>
          <a:prstGeom prst="rect">
            <a:avLst/>
          </a:prstGeom>
          <a:solidFill>
            <a:srgbClr val="E3E7EC"/>
          </a:solidFill>
          <a:ln/>
        </p:spPr>
      </p:sp>
      <p:sp>
        <p:nvSpPr>
          <p:cNvPr id="85" name="Text 83"/>
          <p:cNvSpPr txBox="1"/>
          <p:nvPr/>
        </p:nvSpPr>
        <p:spPr>
          <a:xfrm>
            <a:off x="3694176"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86" name="Shape 84"/>
          <p:cNvSpPr/>
          <p:nvPr/>
        </p:nvSpPr>
        <p:spPr>
          <a:xfrm>
            <a:off x="4032504" y="3255264"/>
            <a:ext cx="310896" cy="310896"/>
          </a:xfrm>
          <a:prstGeom prst="rect">
            <a:avLst/>
          </a:prstGeom>
          <a:solidFill>
            <a:srgbClr val="E3E7EC"/>
          </a:solidFill>
          <a:ln/>
        </p:spPr>
      </p:sp>
      <p:sp>
        <p:nvSpPr>
          <p:cNvPr id="87" name="Text 85"/>
          <p:cNvSpPr txBox="1"/>
          <p:nvPr/>
        </p:nvSpPr>
        <p:spPr>
          <a:xfrm>
            <a:off x="4032504"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88" name="Shape 86"/>
          <p:cNvSpPr/>
          <p:nvPr/>
        </p:nvSpPr>
        <p:spPr>
          <a:xfrm>
            <a:off x="4370832" y="3255264"/>
            <a:ext cx="310896" cy="310896"/>
          </a:xfrm>
          <a:prstGeom prst="rect">
            <a:avLst/>
          </a:prstGeom>
          <a:solidFill>
            <a:srgbClr val="E3E7EC"/>
          </a:solidFill>
          <a:ln/>
        </p:spPr>
      </p:sp>
      <p:sp>
        <p:nvSpPr>
          <p:cNvPr id="89" name="Text 87"/>
          <p:cNvSpPr txBox="1"/>
          <p:nvPr/>
        </p:nvSpPr>
        <p:spPr>
          <a:xfrm>
            <a:off x="4370832" y="325526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90" name="Shape 88"/>
          <p:cNvSpPr/>
          <p:nvPr/>
        </p:nvSpPr>
        <p:spPr>
          <a:xfrm>
            <a:off x="1325880" y="3593592"/>
            <a:ext cx="310896" cy="310896"/>
          </a:xfrm>
          <a:prstGeom prst="rect">
            <a:avLst/>
          </a:prstGeom>
          <a:solidFill>
            <a:srgbClr val="E8934D"/>
          </a:solidFill>
          <a:ln/>
        </p:spPr>
      </p:sp>
      <p:sp>
        <p:nvSpPr>
          <p:cNvPr id="91" name="Shape 89"/>
          <p:cNvSpPr/>
          <p:nvPr/>
        </p:nvSpPr>
        <p:spPr>
          <a:xfrm>
            <a:off x="1664208" y="3593592"/>
            <a:ext cx="310896" cy="310896"/>
          </a:xfrm>
          <a:prstGeom prst="rect">
            <a:avLst/>
          </a:prstGeom>
          <a:solidFill>
            <a:srgbClr val="E3E7EC"/>
          </a:solidFill>
          <a:ln/>
        </p:spPr>
      </p:sp>
      <p:sp>
        <p:nvSpPr>
          <p:cNvPr id="92" name="Text 90"/>
          <p:cNvSpPr txBox="1"/>
          <p:nvPr/>
        </p:nvSpPr>
        <p:spPr>
          <a:xfrm>
            <a:off x="1664208"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93" name="Shape 91"/>
          <p:cNvSpPr/>
          <p:nvPr/>
        </p:nvSpPr>
        <p:spPr>
          <a:xfrm>
            <a:off x="2002536" y="3593592"/>
            <a:ext cx="310896" cy="310896"/>
          </a:xfrm>
          <a:prstGeom prst="rect">
            <a:avLst/>
          </a:prstGeom>
          <a:solidFill>
            <a:srgbClr val="E3E7EC"/>
          </a:solidFill>
          <a:ln/>
        </p:spPr>
      </p:sp>
      <p:sp>
        <p:nvSpPr>
          <p:cNvPr id="94" name="Text 92"/>
          <p:cNvSpPr txBox="1"/>
          <p:nvPr/>
        </p:nvSpPr>
        <p:spPr>
          <a:xfrm>
            <a:off x="2002536"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95" name="Shape 93"/>
          <p:cNvSpPr/>
          <p:nvPr/>
        </p:nvSpPr>
        <p:spPr>
          <a:xfrm>
            <a:off x="2340864" y="3593592"/>
            <a:ext cx="310896" cy="310896"/>
          </a:xfrm>
          <a:prstGeom prst="rect">
            <a:avLst/>
          </a:prstGeom>
          <a:solidFill>
            <a:srgbClr val="E3E7EC"/>
          </a:solidFill>
          <a:ln/>
        </p:spPr>
      </p:sp>
      <p:sp>
        <p:nvSpPr>
          <p:cNvPr id="96" name="Text 94"/>
          <p:cNvSpPr txBox="1"/>
          <p:nvPr/>
        </p:nvSpPr>
        <p:spPr>
          <a:xfrm>
            <a:off x="2340864"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97" name="Shape 95"/>
          <p:cNvSpPr/>
          <p:nvPr/>
        </p:nvSpPr>
        <p:spPr>
          <a:xfrm>
            <a:off x="2679192" y="3593592"/>
            <a:ext cx="310896" cy="310896"/>
          </a:xfrm>
          <a:prstGeom prst="rect">
            <a:avLst/>
          </a:prstGeom>
          <a:solidFill>
            <a:srgbClr val="E3E7EC"/>
          </a:solidFill>
          <a:ln/>
        </p:spPr>
      </p:sp>
      <p:sp>
        <p:nvSpPr>
          <p:cNvPr id="98" name="Text 96"/>
          <p:cNvSpPr txBox="1"/>
          <p:nvPr/>
        </p:nvSpPr>
        <p:spPr>
          <a:xfrm>
            <a:off x="2679192"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99" name="Shape 97"/>
          <p:cNvSpPr/>
          <p:nvPr/>
        </p:nvSpPr>
        <p:spPr>
          <a:xfrm>
            <a:off x="3017520" y="3593592"/>
            <a:ext cx="310896" cy="310896"/>
          </a:xfrm>
          <a:prstGeom prst="rect">
            <a:avLst/>
          </a:prstGeom>
          <a:solidFill>
            <a:srgbClr val="E3E7EC"/>
          </a:solidFill>
          <a:ln/>
        </p:spPr>
      </p:sp>
      <p:sp>
        <p:nvSpPr>
          <p:cNvPr id="100" name="Text 98"/>
          <p:cNvSpPr txBox="1"/>
          <p:nvPr/>
        </p:nvSpPr>
        <p:spPr>
          <a:xfrm>
            <a:off x="3017520"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01" name="Shape 99"/>
          <p:cNvSpPr/>
          <p:nvPr/>
        </p:nvSpPr>
        <p:spPr>
          <a:xfrm>
            <a:off x="3355848" y="3593592"/>
            <a:ext cx="310896" cy="310896"/>
          </a:xfrm>
          <a:prstGeom prst="rect">
            <a:avLst/>
          </a:prstGeom>
          <a:solidFill>
            <a:srgbClr val="E3E7EC"/>
          </a:solidFill>
          <a:ln/>
        </p:spPr>
      </p:sp>
      <p:sp>
        <p:nvSpPr>
          <p:cNvPr id="102" name="Text 100"/>
          <p:cNvSpPr txBox="1"/>
          <p:nvPr/>
        </p:nvSpPr>
        <p:spPr>
          <a:xfrm>
            <a:off x="3355848"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03" name="Shape 101"/>
          <p:cNvSpPr/>
          <p:nvPr/>
        </p:nvSpPr>
        <p:spPr>
          <a:xfrm>
            <a:off x="3694176" y="3593592"/>
            <a:ext cx="310896" cy="310896"/>
          </a:xfrm>
          <a:prstGeom prst="rect">
            <a:avLst/>
          </a:prstGeom>
          <a:solidFill>
            <a:srgbClr val="E3E7EC"/>
          </a:solidFill>
          <a:ln/>
        </p:spPr>
      </p:sp>
      <p:sp>
        <p:nvSpPr>
          <p:cNvPr id="104" name="Text 102"/>
          <p:cNvSpPr txBox="1"/>
          <p:nvPr/>
        </p:nvSpPr>
        <p:spPr>
          <a:xfrm>
            <a:off x="3694176"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05" name="Shape 103"/>
          <p:cNvSpPr/>
          <p:nvPr/>
        </p:nvSpPr>
        <p:spPr>
          <a:xfrm>
            <a:off x="4032504" y="3593592"/>
            <a:ext cx="310896" cy="310896"/>
          </a:xfrm>
          <a:prstGeom prst="rect">
            <a:avLst/>
          </a:prstGeom>
          <a:solidFill>
            <a:srgbClr val="E3E7EC"/>
          </a:solidFill>
          <a:ln/>
        </p:spPr>
      </p:sp>
      <p:sp>
        <p:nvSpPr>
          <p:cNvPr id="106" name="Text 104"/>
          <p:cNvSpPr txBox="1"/>
          <p:nvPr/>
        </p:nvSpPr>
        <p:spPr>
          <a:xfrm>
            <a:off x="4032504"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07" name="Shape 105"/>
          <p:cNvSpPr/>
          <p:nvPr/>
        </p:nvSpPr>
        <p:spPr>
          <a:xfrm>
            <a:off x="4370832" y="3593592"/>
            <a:ext cx="310896" cy="310896"/>
          </a:xfrm>
          <a:prstGeom prst="rect">
            <a:avLst/>
          </a:prstGeom>
          <a:solidFill>
            <a:srgbClr val="E3E7EC"/>
          </a:solidFill>
          <a:ln/>
        </p:spPr>
      </p:sp>
      <p:sp>
        <p:nvSpPr>
          <p:cNvPr id="108" name="Text 106"/>
          <p:cNvSpPr txBox="1"/>
          <p:nvPr/>
        </p:nvSpPr>
        <p:spPr>
          <a:xfrm>
            <a:off x="4370832" y="359359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09" name="Shape 107"/>
          <p:cNvSpPr/>
          <p:nvPr/>
        </p:nvSpPr>
        <p:spPr>
          <a:xfrm>
            <a:off x="1325880" y="3931920"/>
            <a:ext cx="310896" cy="310896"/>
          </a:xfrm>
          <a:prstGeom prst="rect">
            <a:avLst/>
          </a:prstGeom>
          <a:solidFill>
            <a:srgbClr val="E8934D"/>
          </a:solidFill>
          <a:ln/>
        </p:spPr>
      </p:sp>
      <p:sp>
        <p:nvSpPr>
          <p:cNvPr id="110" name="Shape 108"/>
          <p:cNvSpPr/>
          <p:nvPr/>
        </p:nvSpPr>
        <p:spPr>
          <a:xfrm>
            <a:off x="1664208" y="3931920"/>
            <a:ext cx="310896" cy="310896"/>
          </a:xfrm>
          <a:prstGeom prst="rect">
            <a:avLst/>
          </a:prstGeom>
          <a:solidFill>
            <a:srgbClr val="E3E7EC"/>
          </a:solidFill>
          <a:ln/>
        </p:spPr>
      </p:sp>
      <p:sp>
        <p:nvSpPr>
          <p:cNvPr id="111" name="Text 109"/>
          <p:cNvSpPr txBox="1"/>
          <p:nvPr/>
        </p:nvSpPr>
        <p:spPr>
          <a:xfrm>
            <a:off x="1664208"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12" name="Shape 110"/>
          <p:cNvSpPr/>
          <p:nvPr/>
        </p:nvSpPr>
        <p:spPr>
          <a:xfrm>
            <a:off x="2002536" y="3931920"/>
            <a:ext cx="310896" cy="310896"/>
          </a:xfrm>
          <a:prstGeom prst="rect">
            <a:avLst/>
          </a:prstGeom>
          <a:solidFill>
            <a:srgbClr val="E3E7EC"/>
          </a:solidFill>
          <a:ln/>
        </p:spPr>
      </p:sp>
      <p:sp>
        <p:nvSpPr>
          <p:cNvPr id="113" name="Text 111"/>
          <p:cNvSpPr txBox="1"/>
          <p:nvPr/>
        </p:nvSpPr>
        <p:spPr>
          <a:xfrm>
            <a:off x="2002536"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14" name="Shape 112"/>
          <p:cNvSpPr/>
          <p:nvPr/>
        </p:nvSpPr>
        <p:spPr>
          <a:xfrm>
            <a:off x="2340864" y="3931920"/>
            <a:ext cx="310896" cy="310896"/>
          </a:xfrm>
          <a:prstGeom prst="rect">
            <a:avLst/>
          </a:prstGeom>
          <a:solidFill>
            <a:srgbClr val="E3E7EC"/>
          </a:solidFill>
          <a:ln/>
        </p:spPr>
      </p:sp>
      <p:sp>
        <p:nvSpPr>
          <p:cNvPr id="115" name="Text 113"/>
          <p:cNvSpPr txBox="1"/>
          <p:nvPr/>
        </p:nvSpPr>
        <p:spPr>
          <a:xfrm>
            <a:off x="2340864"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16" name="Shape 114"/>
          <p:cNvSpPr/>
          <p:nvPr/>
        </p:nvSpPr>
        <p:spPr>
          <a:xfrm>
            <a:off x="2679192" y="3931920"/>
            <a:ext cx="310896" cy="310896"/>
          </a:xfrm>
          <a:prstGeom prst="rect">
            <a:avLst/>
          </a:prstGeom>
          <a:solidFill>
            <a:srgbClr val="E3E7EC"/>
          </a:solidFill>
          <a:ln/>
        </p:spPr>
      </p:sp>
      <p:sp>
        <p:nvSpPr>
          <p:cNvPr id="117" name="Text 115"/>
          <p:cNvSpPr txBox="1"/>
          <p:nvPr/>
        </p:nvSpPr>
        <p:spPr>
          <a:xfrm>
            <a:off x="2679192"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18" name="Shape 116"/>
          <p:cNvSpPr/>
          <p:nvPr/>
        </p:nvSpPr>
        <p:spPr>
          <a:xfrm>
            <a:off x="3017520" y="3931920"/>
            <a:ext cx="310896" cy="310896"/>
          </a:xfrm>
          <a:prstGeom prst="rect">
            <a:avLst/>
          </a:prstGeom>
          <a:solidFill>
            <a:srgbClr val="E3E7EC"/>
          </a:solidFill>
          <a:ln/>
        </p:spPr>
      </p:sp>
      <p:sp>
        <p:nvSpPr>
          <p:cNvPr id="119" name="Text 117"/>
          <p:cNvSpPr txBox="1"/>
          <p:nvPr/>
        </p:nvSpPr>
        <p:spPr>
          <a:xfrm>
            <a:off x="3017520"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20" name="Shape 118"/>
          <p:cNvSpPr/>
          <p:nvPr/>
        </p:nvSpPr>
        <p:spPr>
          <a:xfrm>
            <a:off x="3355848" y="3931920"/>
            <a:ext cx="310896" cy="310896"/>
          </a:xfrm>
          <a:prstGeom prst="rect">
            <a:avLst/>
          </a:prstGeom>
          <a:solidFill>
            <a:srgbClr val="E3E7EC"/>
          </a:solidFill>
          <a:ln/>
        </p:spPr>
      </p:sp>
      <p:sp>
        <p:nvSpPr>
          <p:cNvPr id="121" name="Text 119"/>
          <p:cNvSpPr txBox="1"/>
          <p:nvPr/>
        </p:nvSpPr>
        <p:spPr>
          <a:xfrm>
            <a:off x="3355848"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22" name="Shape 120"/>
          <p:cNvSpPr/>
          <p:nvPr/>
        </p:nvSpPr>
        <p:spPr>
          <a:xfrm>
            <a:off x="3694176" y="3931920"/>
            <a:ext cx="310896" cy="310896"/>
          </a:xfrm>
          <a:prstGeom prst="rect">
            <a:avLst/>
          </a:prstGeom>
          <a:solidFill>
            <a:srgbClr val="E3E7EC"/>
          </a:solidFill>
          <a:ln/>
        </p:spPr>
      </p:sp>
      <p:sp>
        <p:nvSpPr>
          <p:cNvPr id="123" name="Text 121"/>
          <p:cNvSpPr txBox="1"/>
          <p:nvPr/>
        </p:nvSpPr>
        <p:spPr>
          <a:xfrm>
            <a:off x="3694176"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24" name="Shape 122"/>
          <p:cNvSpPr/>
          <p:nvPr/>
        </p:nvSpPr>
        <p:spPr>
          <a:xfrm>
            <a:off x="4032504" y="3931920"/>
            <a:ext cx="310896" cy="310896"/>
          </a:xfrm>
          <a:prstGeom prst="rect">
            <a:avLst/>
          </a:prstGeom>
          <a:solidFill>
            <a:srgbClr val="E3E7EC"/>
          </a:solidFill>
          <a:ln/>
        </p:spPr>
      </p:sp>
      <p:sp>
        <p:nvSpPr>
          <p:cNvPr id="125" name="Text 123"/>
          <p:cNvSpPr txBox="1"/>
          <p:nvPr/>
        </p:nvSpPr>
        <p:spPr>
          <a:xfrm>
            <a:off x="4032504"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26" name="Shape 124"/>
          <p:cNvSpPr/>
          <p:nvPr/>
        </p:nvSpPr>
        <p:spPr>
          <a:xfrm>
            <a:off x="4370832" y="3931920"/>
            <a:ext cx="310896" cy="310896"/>
          </a:xfrm>
          <a:prstGeom prst="rect">
            <a:avLst/>
          </a:prstGeom>
          <a:solidFill>
            <a:srgbClr val="E3E7EC"/>
          </a:solidFill>
          <a:ln/>
        </p:spPr>
      </p:sp>
      <p:sp>
        <p:nvSpPr>
          <p:cNvPr id="127" name="Text 125"/>
          <p:cNvSpPr txBox="1"/>
          <p:nvPr/>
        </p:nvSpPr>
        <p:spPr>
          <a:xfrm>
            <a:off x="4370832" y="3931920"/>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28" name="Shape 126"/>
          <p:cNvSpPr/>
          <p:nvPr/>
        </p:nvSpPr>
        <p:spPr>
          <a:xfrm>
            <a:off x="1325880" y="4270248"/>
            <a:ext cx="310896" cy="310896"/>
          </a:xfrm>
          <a:prstGeom prst="rect">
            <a:avLst/>
          </a:prstGeom>
          <a:solidFill>
            <a:srgbClr val="E8934D"/>
          </a:solidFill>
          <a:ln/>
        </p:spPr>
      </p:sp>
      <p:sp>
        <p:nvSpPr>
          <p:cNvPr id="129" name="Shape 127"/>
          <p:cNvSpPr/>
          <p:nvPr/>
        </p:nvSpPr>
        <p:spPr>
          <a:xfrm>
            <a:off x="1664208" y="4270248"/>
            <a:ext cx="310896" cy="310896"/>
          </a:xfrm>
          <a:prstGeom prst="rect">
            <a:avLst/>
          </a:prstGeom>
          <a:solidFill>
            <a:srgbClr val="E3E7EC"/>
          </a:solidFill>
          <a:ln/>
        </p:spPr>
      </p:sp>
      <p:sp>
        <p:nvSpPr>
          <p:cNvPr id="130" name="Text 128"/>
          <p:cNvSpPr txBox="1"/>
          <p:nvPr/>
        </p:nvSpPr>
        <p:spPr>
          <a:xfrm>
            <a:off x="1664208"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31" name="Shape 129"/>
          <p:cNvSpPr/>
          <p:nvPr/>
        </p:nvSpPr>
        <p:spPr>
          <a:xfrm>
            <a:off x="2002536" y="4270248"/>
            <a:ext cx="310896" cy="310896"/>
          </a:xfrm>
          <a:prstGeom prst="rect">
            <a:avLst/>
          </a:prstGeom>
          <a:solidFill>
            <a:srgbClr val="E3E7EC"/>
          </a:solidFill>
          <a:ln/>
        </p:spPr>
      </p:sp>
      <p:sp>
        <p:nvSpPr>
          <p:cNvPr id="132" name="Text 130"/>
          <p:cNvSpPr txBox="1"/>
          <p:nvPr/>
        </p:nvSpPr>
        <p:spPr>
          <a:xfrm>
            <a:off x="2002536"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33" name="Shape 131"/>
          <p:cNvSpPr/>
          <p:nvPr/>
        </p:nvSpPr>
        <p:spPr>
          <a:xfrm>
            <a:off x="2340864" y="4270248"/>
            <a:ext cx="310896" cy="310896"/>
          </a:xfrm>
          <a:prstGeom prst="rect">
            <a:avLst/>
          </a:prstGeom>
          <a:solidFill>
            <a:srgbClr val="E3E7EC"/>
          </a:solidFill>
          <a:ln/>
        </p:spPr>
      </p:sp>
      <p:sp>
        <p:nvSpPr>
          <p:cNvPr id="134" name="Text 132"/>
          <p:cNvSpPr txBox="1"/>
          <p:nvPr/>
        </p:nvSpPr>
        <p:spPr>
          <a:xfrm>
            <a:off x="2340864"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35" name="Shape 133"/>
          <p:cNvSpPr/>
          <p:nvPr/>
        </p:nvSpPr>
        <p:spPr>
          <a:xfrm>
            <a:off x="2679192" y="4270248"/>
            <a:ext cx="310896" cy="310896"/>
          </a:xfrm>
          <a:prstGeom prst="rect">
            <a:avLst/>
          </a:prstGeom>
          <a:solidFill>
            <a:srgbClr val="E3E7EC"/>
          </a:solidFill>
          <a:ln/>
        </p:spPr>
      </p:sp>
      <p:sp>
        <p:nvSpPr>
          <p:cNvPr id="136" name="Text 134"/>
          <p:cNvSpPr txBox="1"/>
          <p:nvPr/>
        </p:nvSpPr>
        <p:spPr>
          <a:xfrm>
            <a:off x="2679192"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37" name="Shape 135"/>
          <p:cNvSpPr/>
          <p:nvPr/>
        </p:nvSpPr>
        <p:spPr>
          <a:xfrm>
            <a:off x="3017520" y="4270248"/>
            <a:ext cx="310896" cy="310896"/>
          </a:xfrm>
          <a:prstGeom prst="rect">
            <a:avLst/>
          </a:prstGeom>
          <a:solidFill>
            <a:srgbClr val="E3E7EC"/>
          </a:solidFill>
          <a:ln/>
        </p:spPr>
      </p:sp>
      <p:sp>
        <p:nvSpPr>
          <p:cNvPr id="138" name="Text 136"/>
          <p:cNvSpPr txBox="1"/>
          <p:nvPr/>
        </p:nvSpPr>
        <p:spPr>
          <a:xfrm>
            <a:off x="3017520"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39" name="Shape 137"/>
          <p:cNvSpPr/>
          <p:nvPr/>
        </p:nvSpPr>
        <p:spPr>
          <a:xfrm>
            <a:off x="3355848" y="4270248"/>
            <a:ext cx="310896" cy="310896"/>
          </a:xfrm>
          <a:prstGeom prst="rect">
            <a:avLst/>
          </a:prstGeom>
          <a:solidFill>
            <a:srgbClr val="E3E7EC"/>
          </a:solidFill>
          <a:ln/>
        </p:spPr>
      </p:sp>
      <p:sp>
        <p:nvSpPr>
          <p:cNvPr id="140" name="Text 138"/>
          <p:cNvSpPr txBox="1"/>
          <p:nvPr/>
        </p:nvSpPr>
        <p:spPr>
          <a:xfrm>
            <a:off x="3355848"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41" name="Shape 139"/>
          <p:cNvSpPr/>
          <p:nvPr/>
        </p:nvSpPr>
        <p:spPr>
          <a:xfrm>
            <a:off x="3694176" y="4270248"/>
            <a:ext cx="310896" cy="310896"/>
          </a:xfrm>
          <a:prstGeom prst="rect">
            <a:avLst/>
          </a:prstGeom>
          <a:solidFill>
            <a:srgbClr val="E3E7EC"/>
          </a:solidFill>
          <a:ln/>
        </p:spPr>
      </p:sp>
      <p:sp>
        <p:nvSpPr>
          <p:cNvPr id="142" name="Text 140"/>
          <p:cNvSpPr txBox="1"/>
          <p:nvPr/>
        </p:nvSpPr>
        <p:spPr>
          <a:xfrm>
            <a:off x="3694176"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43" name="Shape 141"/>
          <p:cNvSpPr/>
          <p:nvPr/>
        </p:nvSpPr>
        <p:spPr>
          <a:xfrm>
            <a:off x="4032504" y="4270248"/>
            <a:ext cx="310896" cy="310896"/>
          </a:xfrm>
          <a:prstGeom prst="rect">
            <a:avLst/>
          </a:prstGeom>
          <a:solidFill>
            <a:srgbClr val="E3E7EC"/>
          </a:solidFill>
          <a:ln/>
        </p:spPr>
      </p:sp>
      <p:sp>
        <p:nvSpPr>
          <p:cNvPr id="144" name="Text 142"/>
          <p:cNvSpPr txBox="1"/>
          <p:nvPr/>
        </p:nvSpPr>
        <p:spPr>
          <a:xfrm>
            <a:off x="4032504"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45" name="Shape 143"/>
          <p:cNvSpPr/>
          <p:nvPr/>
        </p:nvSpPr>
        <p:spPr>
          <a:xfrm>
            <a:off x="4370832" y="4270248"/>
            <a:ext cx="310896" cy="310896"/>
          </a:xfrm>
          <a:prstGeom prst="rect">
            <a:avLst/>
          </a:prstGeom>
          <a:solidFill>
            <a:srgbClr val="E3E7EC"/>
          </a:solidFill>
          <a:ln/>
        </p:spPr>
      </p:sp>
      <p:sp>
        <p:nvSpPr>
          <p:cNvPr id="146" name="Text 144"/>
          <p:cNvSpPr txBox="1"/>
          <p:nvPr/>
        </p:nvSpPr>
        <p:spPr>
          <a:xfrm>
            <a:off x="4370832" y="4270248"/>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47" name="Shape 145"/>
          <p:cNvSpPr/>
          <p:nvPr/>
        </p:nvSpPr>
        <p:spPr>
          <a:xfrm>
            <a:off x="1325880" y="4608576"/>
            <a:ext cx="310896" cy="310896"/>
          </a:xfrm>
          <a:prstGeom prst="rect">
            <a:avLst/>
          </a:prstGeom>
          <a:solidFill>
            <a:srgbClr val="E8934D"/>
          </a:solidFill>
          <a:ln/>
        </p:spPr>
      </p:sp>
      <p:sp>
        <p:nvSpPr>
          <p:cNvPr id="148" name="Shape 146"/>
          <p:cNvSpPr/>
          <p:nvPr/>
        </p:nvSpPr>
        <p:spPr>
          <a:xfrm>
            <a:off x="1664208" y="4608576"/>
            <a:ext cx="310896" cy="310896"/>
          </a:xfrm>
          <a:prstGeom prst="rect">
            <a:avLst/>
          </a:prstGeom>
          <a:solidFill>
            <a:srgbClr val="E3E7EC"/>
          </a:solidFill>
          <a:ln/>
        </p:spPr>
      </p:sp>
      <p:sp>
        <p:nvSpPr>
          <p:cNvPr id="149" name="Text 147"/>
          <p:cNvSpPr txBox="1"/>
          <p:nvPr/>
        </p:nvSpPr>
        <p:spPr>
          <a:xfrm>
            <a:off x="1664208"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50" name="Shape 148"/>
          <p:cNvSpPr/>
          <p:nvPr/>
        </p:nvSpPr>
        <p:spPr>
          <a:xfrm>
            <a:off x="2002536" y="4608576"/>
            <a:ext cx="310896" cy="310896"/>
          </a:xfrm>
          <a:prstGeom prst="rect">
            <a:avLst/>
          </a:prstGeom>
          <a:solidFill>
            <a:srgbClr val="E3E7EC"/>
          </a:solidFill>
          <a:ln/>
        </p:spPr>
      </p:sp>
      <p:sp>
        <p:nvSpPr>
          <p:cNvPr id="151" name="Text 149"/>
          <p:cNvSpPr txBox="1"/>
          <p:nvPr/>
        </p:nvSpPr>
        <p:spPr>
          <a:xfrm>
            <a:off x="2002536"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52" name="Shape 150"/>
          <p:cNvSpPr/>
          <p:nvPr/>
        </p:nvSpPr>
        <p:spPr>
          <a:xfrm>
            <a:off x="2340864" y="4608576"/>
            <a:ext cx="310896" cy="310896"/>
          </a:xfrm>
          <a:prstGeom prst="rect">
            <a:avLst/>
          </a:prstGeom>
          <a:solidFill>
            <a:srgbClr val="E3E7EC"/>
          </a:solidFill>
          <a:ln/>
        </p:spPr>
      </p:sp>
      <p:sp>
        <p:nvSpPr>
          <p:cNvPr id="153" name="Text 151"/>
          <p:cNvSpPr txBox="1"/>
          <p:nvPr/>
        </p:nvSpPr>
        <p:spPr>
          <a:xfrm>
            <a:off x="2340864"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54" name="Shape 152"/>
          <p:cNvSpPr/>
          <p:nvPr/>
        </p:nvSpPr>
        <p:spPr>
          <a:xfrm>
            <a:off x="2679192" y="4608576"/>
            <a:ext cx="310896" cy="310896"/>
          </a:xfrm>
          <a:prstGeom prst="rect">
            <a:avLst/>
          </a:prstGeom>
          <a:solidFill>
            <a:srgbClr val="E3E7EC"/>
          </a:solidFill>
          <a:ln/>
        </p:spPr>
      </p:sp>
      <p:sp>
        <p:nvSpPr>
          <p:cNvPr id="155" name="Text 153"/>
          <p:cNvSpPr txBox="1"/>
          <p:nvPr/>
        </p:nvSpPr>
        <p:spPr>
          <a:xfrm>
            <a:off x="2679192"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56" name="Shape 154"/>
          <p:cNvSpPr/>
          <p:nvPr/>
        </p:nvSpPr>
        <p:spPr>
          <a:xfrm>
            <a:off x="3017520" y="4608576"/>
            <a:ext cx="310896" cy="310896"/>
          </a:xfrm>
          <a:prstGeom prst="rect">
            <a:avLst/>
          </a:prstGeom>
          <a:solidFill>
            <a:srgbClr val="E3E7EC"/>
          </a:solidFill>
          <a:ln/>
        </p:spPr>
      </p:sp>
      <p:sp>
        <p:nvSpPr>
          <p:cNvPr id="157" name="Text 155"/>
          <p:cNvSpPr txBox="1"/>
          <p:nvPr/>
        </p:nvSpPr>
        <p:spPr>
          <a:xfrm>
            <a:off x="3017520"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58" name="Shape 156"/>
          <p:cNvSpPr/>
          <p:nvPr/>
        </p:nvSpPr>
        <p:spPr>
          <a:xfrm>
            <a:off x="3355848" y="4608576"/>
            <a:ext cx="310896" cy="310896"/>
          </a:xfrm>
          <a:prstGeom prst="rect">
            <a:avLst/>
          </a:prstGeom>
          <a:solidFill>
            <a:srgbClr val="E3E7EC"/>
          </a:solidFill>
          <a:ln/>
        </p:spPr>
      </p:sp>
      <p:sp>
        <p:nvSpPr>
          <p:cNvPr id="159" name="Text 157"/>
          <p:cNvSpPr txBox="1"/>
          <p:nvPr/>
        </p:nvSpPr>
        <p:spPr>
          <a:xfrm>
            <a:off x="3355848"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60" name="Shape 158"/>
          <p:cNvSpPr/>
          <p:nvPr/>
        </p:nvSpPr>
        <p:spPr>
          <a:xfrm>
            <a:off x="3694176" y="4608576"/>
            <a:ext cx="310896" cy="310896"/>
          </a:xfrm>
          <a:prstGeom prst="rect">
            <a:avLst/>
          </a:prstGeom>
          <a:solidFill>
            <a:srgbClr val="E3E7EC"/>
          </a:solidFill>
          <a:ln/>
        </p:spPr>
      </p:sp>
      <p:sp>
        <p:nvSpPr>
          <p:cNvPr id="161" name="Text 159"/>
          <p:cNvSpPr txBox="1"/>
          <p:nvPr/>
        </p:nvSpPr>
        <p:spPr>
          <a:xfrm>
            <a:off x="3694176"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62" name="Shape 160"/>
          <p:cNvSpPr/>
          <p:nvPr/>
        </p:nvSpPr>
        <p:spPr>
          <a:xfrm>
            <a:off x="4032504" y="4608576"/>
            <a:ext cx="310896" cy="310896"/>
          </a:xfrm>
          <a:prstGeom prst="rect">
            <a:avLst/>
          </a:prstGeom>
          <a:solidFill>
            <a:srgbClr val="E3E7EC"/>
          </a:solidFill>
          <a:ln/>
        </p:spPr>
      </p:sp>
      <p:sp>
        <p:nvSpPr>
          <p:cNvPr id="163" name="Text 161"/>
          <p:cNvSpPr txBox="1"/>
          <p:nvPr/>
        </p:nvSpPr>
        <p:spPr>
          <a:xfrm>
            <a:off x="4032504"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64" name="Shape 162"/>
          <p:cNvSpPr/>
          <p:nvPr/>
        </p:nvSpPr>
        <p:spPr>
          <a:xfrm>
            <a:off x="4370832" y="4608576"/>
            <a:ext cx="310896" cy="310896"/>
          </a:xfrm>
          <a:prstGeom prst="rect">
            <a:avLst/>
          </a:prstGeom>
          <a:solidFill>
            <a:srgbClr val="E3E7EC"/>
          </a:solidFill>
          <a:ln/>
        </p:spPr>
      </p:sp>
      <p:sp>
        <p:nvSpPr>
          <p:cNvPr id="165" name="Text 163"/>
          <p:cNvSpPr txBox="1"/>
          <p:nvPr/>
        </p:nvSpPr>
        <p:spPr>
          <a:xfrm>
            <a:off x="4370832" y="4608576"/>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66" name="Shape 164"/>
          <p:cNvSpPr/>
          <p:nvPr/>
        </p:nvSpPr>
        <p:spPr>
          <a:xfrm>
            <a:off x="1325880" y="4946904"/>
            <a:ext cx="310896" cy="310896"/>
          </a:xfrm>
          <a:prstGeom prst="rect">
            <a:avLst/>
          </a:prstGeom>
          <a:solidFill>
            <a:srgbClr val="E8934D"/>
          </a:solidFill>
          <a:ln/>
        </p:spPr>
      </p:sp>
      <p:sp>
        <p:nvSpPr>
          <p:cNvPr id="167" name="Shape 165"/>
          <p:cNvSpPr/>
          <p:nvPr/>
        </p:nvSpPr>
        <p:spPr>
          <a:xfrm>
            <a:off x="1664208" y="4946904"/>
            <a:ext cx="310896" cy="310896"/>
          </a:xfrm>
          <a:prstGeom prst="rect">
            <a:avLst/>
          </a:prstGeom>
          <a:solidFill>
            <a:srgbClr val="E3E7EC"/>
          </a:solidFill>
          <a:ln/>
        </p:spPr>
      </p:sp>
      <p:sp>
        <p:nvSpPr>
          <p:cNvPr id="168" name="Text 166"/>
          <p:cNvSpPr txBox="1"/>
          <p:nvPr/>
        </p:nvSpPr>
        <p:spPr>
          <a:xfrm>
            <a:off x="1664208"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69" name="Shape 167"/>
          <p:cNvSpPr/>
          <p:nvPr/>
        </p:nvSpPr>
        <p:spPr>
          <a:xfrm>
            <a:off x="2002536" y="4946904"/>
            <a:ext cx="310896" cy="310896"/>
          </a:xfrm>
          <a:prstGeom prst="rect">
            <a:avLst/>
          </a:prstGeom>
          <a:solidFill>
            <a:srgbClr val="E3E7EC"/>
          </a:solidFill>
          <a:ln/>
        </p:spPr>
      </p:sp>
      <p:sp>
        <p:nvSpPr>
          <p:cNvPr id="170" name="Text 168"/>
          <p:cNvSpPr txBox="1"/>
          <p:nvPr/>
        </p:nvSpPr>
        <p:spPr>
          <a:xfrm>
            <a:off x="2002536"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71" name="Shape 169"/>
          <p:cNvSpPr/>
          <p:nvPr/>
        </p:nvSpPr>
        <p:spPr>
          <a:xfrm>
            <a:off x="2340864" y="4946904"/>
            <a:ext cx="310896" cy="310896"/>
          </a:xfrm>
          <a:prstGeom prst="rect">
            <a:avLst/>
          </a:prstGeom>
          <a:solidFill>
            <a:srgbClr val="E3E7EC"/>
          </a:solidFill>
          <a:ln/>
        </p:spPr>
      </p:sp>
      <p:sp>
        <p:nvSpPr>
          <p:cNvPr id="172" name="Text 170"/>
          <p:cNvSpPr txBox="1"/>
          <p:nvPr/>
        </p:nvSpPr>
        <p:spPr>
          <a:xfrm>
            <a:off x="2340864"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73" name="Shape 171"/>
          <p:cNvSpPr/>
          <p:nvPr/>
        </p:nvSpPr>
        <p:spPr>
          <a:xfrm>
            <a:off x="2679192" y="4946904"/>
            <a:ext cx="310896" cy="310896"/>
          </a:xfrm>
          <a:prstGeom prst="rect">
            <a:avLst/>
          </a:prstGeom>
          <a:solidFill>
            <a:srgbClr val="E3E7EC"/>
          </a:solidFill>
          <a:ln/>
        </p:spPr>
      </p:sp>
      <p:sp>
        <p:nvSpPr>
          <p:cNvPr id="174" name="Text 172"/>
          <p:cNvSpPr txBox="1"/>
          <p:nvPr/>
        </p:nvSpPr>
        <p:spPr>
          <a:xfrm>
            <a:off x="2679192"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75" name="Shape 173"/>
          <p:cNvSpPr/>
          <p:nvPr/>
        </p:nvSpPr>
        <p:spPr>
          <a:xfrm>
            <a:off x="3017520" y="4946904"/>
            <a:ext cx="310896" cy="310896"/>
          </a:xfrm>
          <a:prstGeom prst="rect">
            <a:avLst/>
          </a:prstGeom>
          <a:solidFill>
            <a:srgbClr val="E3E7EC"/>
          </a:solidFill>
          <a:ln/>
        </p:spPr>
      </p:sp>
      <p:sp>
        <p:nvSpPr>
          <p:cNvPr id="176" name="Text 174"/>
          <p:cNvSpPr txBox="1"/>
          <p:nvPr/>
        </p:nvSpPr>
        <p:spPr>
          <a:xfrm>
            <a:off x="3017520"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77" name="Shape 175"/>
          <p:cNvSpPr/>
          <p:nvPr/>
        </p:nvSpPr>
        <p:spPr>
          <a:xfrm>
            <a:off x="3355848" y="4946904"/>
            <a:ext cx="310896" cy="310896"/>
          </a:xfrm>
          <a:prstGeom prst="rect">
            <a:avLst/>
          </a:prstGeom>
          <a:solidFill>
            <a:srgbClr val="E3E7EC"/>
          </a:solidFill>
          <a:ln/>
        </p:spPr>
      </p:sp>
      <p:sp>
        <p:nvSpPr>
          <p:cNvPr id="178" name="Text 176"/>
          <p:cNvSpPr txBox="1"/>
          <p:nvPr/>
        </p:nvSpPr>
        <p:spPr>
          <a:xfrm>
            <a:off x="3355848"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79" name="Shape 177"/>
          <p:cNvSpPr/>
          <p:nvPr/>
        </p:nvSpPr>
        <p:spPr>
          <a:xfrm>
            <a:off x="3694176" y="4946904"/>
            <a:ext cx="310896" cy="310896"/>
          </a:xfrm>
          <a:prstGeom prst="rect">
            <a:avLst/>
          </a:prstGeom>
          <a:solidFill>
            <a:srgbClr val="E3E7EC"/>
          </a:solidFill>
          <a:ln/>
        </p:spPr>
      </p:sp>
      <p:sp>
        <p:nvSpPr>
          <p:cNvPr id="180" name="Text 178"/>
          <p:cNvSpPr txBox="1"/>
          <p:nvPr/>
        </p:nvSpPr>
        <p:spPr>
          <a:xfrm>
            <a:off x="3694176"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81" name="Shape 179"/>
          <p:cNvSpPr/>
          <p:nvPr/>
        </p:nvSpPr>
        <p:spPr>
          <a:xfrm>
            <a:off x="4032504" y="4946904"/>
            <a:ext cx="310896" cy="310896"/>
          </a:xfrm>
          <a:prstGeom prst="rect">
            <a:avLst/>
          </a:prstGeom>
          <a:solidFill>
            <a:srgbClr val="E3E7EC"/>
          </a:solidFill>
          <a:ln/>
        </p:spPr>
      </p:sp>
      <p:sp>
        <p:nvSpPr>
          <p:cNvPr id="182" name="Text 180"/>
          <p:cNvSpPr txBox="1"/>
          <p:nvPr/>
        </p:nvSpPr>
        <p:spPr>
          <a:xfrm>
            <a:off x="4032504"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83" name="Shape 181"/>
          <p:cNvSpPr/>
          <p:nvPr/>
        </p:nvSpPr>
        <p:spPr>
          <a:xfrm>
            <a:off x="4370832" y="4946904"/>
            <a:ext cx="310896" cy="310896"/>
          </a:xfrm>
          <a:prstGeom prst="rect">
            <a:avLst/>
          </a:prstGeom>
          <a:solidFill>
            <a:srgbClr val="E3E7EC"/>
          </a:solidFill>
          <a:ln/>
        </p:spPr>
      </p:sp>
      <p:sp>
        <p:nvSpPr>
          <p:cNvPr id="184" name="Text 182"/>
          <p:cNvSpPr txBox="1"/>
          <p:nvPr/>
        </p:nvSpPr>
        <p:spPr>
          <a:xfrm>
            <a:off x="4370832" y="4946904"/>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85" name="Shape 183"/>
          <p:cNvSpPr/>
          <p:nvPr/>
        </p:nvSpPr>
        <p:spPr>
          <a:xfrm>
            <a:off x="1325880" y="5285232"/>
            <a:ext cx="310896" cy="310896"/>
          </a:xfrm>
          <a:prstGeom prst="rect">
            <a:avLst/>
          </a:prstGeom>
          <a:solidFill>
            <a:srgbClr val="E8934D"/>
          </a:solidFill>
          <a:ln/>
        </p:spPr>
      </p:sp>
      <p:sp>
        <p:nvSpPr>
          <p:cNvPr id="186" name="Shape 184"/>
          <p:cNvSpPr/>
          <p:nvPr/>
        </p:nvSpPr>
        <p:spPr>
          <a:xfrm>
            <a:off x="1664208" y="5285232"/>
            <a:ext cx="310896" cy="310896"/>
          </a:xfrm>
          <a:prstGeom prst="rect">
            <a:avLst/>
          </a:prstGeom>
          <a:solidFill>
            <a:srgbClr val="E3E7EC"/>
          </a:solidFill>
          <a:ln/>
        </p:spPr>
      </p:sp>
      <p:sp>
        <p:nvSpPr>
          <p:cNvPr id="187" name="Text 185"/>
          <p:cNvSpPr txBox="1"/>
          <p:nvPr/>
        </p:nvSpPr>
        <p:spPr>
          <a:xfrm>
            <a:off x="1664208"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88" name="Shape 186"/>
          <p:cNvSpPr/>
          <p:nvPr/>
        </p:nvSpPr>
        <p:spPr>
          <a:xfrm>
            <a:off x="2002536" y="5285232"/>
            <a:ext cx="310896" cy="310896"/>
          </a:xfrm>
          <a:prstGeom prst="rect">
            <a:avLst/>
          </a:prstGeom>
          <a:solidFill>
            <a:srgbClr val="E3E7EC"/>
          </a:solidFill>
          <a:ln/>
        </p:spPr>
      </p:sp>
      <p:sp>
        <p:nvSpPr>
          <p:cNvPr id="189" name="Text 187"/>
          <p:cNvSpPr txBox="1"/>
          <p:nvPr/>
        </p:nvSpPr>
        <p:spPr>
          <a:xfrm>
            <a:off x="2002536"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90" name="Shape 188"/>
          <p:cNvSpPr/>
          <p:nvPr/>
        </p:nvSpPr>
        <p:spPr>
          <a:xfrm>
            <a:off x="2340864" y="5285232"/>
            <a:ext cx="310896" cy="310896"/>
          </a:xfrm>
          <a:prstGeom prst="rect">
            <a:avLst/>
          </a:prstGeom>
          <a:solidFill>
            <a:srgbClr val="E3E7EC"/>
          </a:solidFill>
          <a:ln/>
        </p:spPr>
      </p:sp>
      <p:sp>
        <p:nvSpPr>
          <p:cNvPr id="191" name="Text 189"/>
          <p:cNvSpPr txBox="1"/>
          <p:nvPr/>
        </p:nvSpPr>
        <p:spPr>
          <a:xfrm>
            <a:off x="2340864"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92" name="Shape 190"/>
          <p:cNvSpPr/>
          <p:nvPr/>
        </p:nvSpPr>
        <p:spPr>
          <a:xfrm>
            <a:off x="2679192" y="5285232"/>
            <a:ext cx="310896" cy="310896"/>
          </a:xfrm>
          <a:prstGeom prst="rect">
            <a:avLst/>
          </a:prstGeom>
          <a:solidFill>
            <a:srgbClr val="E3E7EC"/>
          </a:solidFill>
          <a:ln/>
        </p:spPr>
      </p:sp>
      <p:sp>
        <p:nvSpPr>
          <p:cNvPr id="193" name="Text 191"/>
          <p:cNvSpPr txBox="1"/>
          <p:nvPr/>
        </p:nvSpPr>
        <p:spPr>
          <a:xfrm>
            <a:off x="2679192"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94" name="Shape 192"/>
          <p:cNvSpPr/>
          <p:nvPr/>
        </p:nvSpPr>
        <p:spPr>
          <a:xfrm>
            <a:off x="3017520" y="5285232"/>
            <a:ext cx="310896" cy="310896"/>
          </a:xfrm>
          <a:prstGeom prst="rect">
            <a:avLst/>
          </a:prstGeom>
          <a:solidFill>
            <a:srgbClr val="E3E7EC"/>
          </a:solidFill>
          <a:ln/>
        </p:spPr>
      </p:sp>
      <p:sp>
        <p:nvSpPr>
          <p:cNvPr id="195" name="Text 193"/>
          <p:cNvSpPr txBox="1"/>
          <p:nvPr/>
        </p:nvSpPr>
        <p:spPr>
          <a:xfrm>
            <a:off x="3017520"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96" name="Shape 194"/>
          <p:cNvSpPr/>
          <p:nvPr/>
        </p:nvSpPr>
        <p:spPr>
          <a:xfrm>
            <a:off x="3355848" y="5285232"/>
            <a:ext cx="310896" cy="310896"/>
          </a:xfrm>
          <a:prstGeom prst="rect">
            <a:avLst/>
          </a:prstGeom>
          <a:solidFill>
            <a:srgbClr val="E3E7EC"/>
          </a:solidFill>
          <a:ln/>
        </p:spPr>
      </p:sp>
      <p:sp>
        <p:nvSpPr>
          <p:cNvPr id="197" name="Text 195"/>
          <p:cNvSpPr txBox="1"/>
          <p:nvPr/>
        </p:nvSpPr>
        <p:spPr>
          <a:xfrm>
            <a:off x="3355848"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198" name="Shape 196"/>
          <p:cNvSpPr/>
          <p:nvPr/>
        </p:nvSpPr>
        <p:spPr>
          <a:xfrm>
            <a:off x="3694176" y="5285232"/>
            <a:ext cx="310896" cy="310896"/>
          </a:xfrm>
          <a:prstGeom prst="rect">
            <a:avLst/>
          </a:prstGeom>
          <a:solidFill>
            <a:srgbClr val="E3E7EC"/>
          </a:solidFill>
          <a:ln/>
        </p:spPr>
      </p:sp>
      <p:sp>
        <p:nvSpPr>
          <p:cNvPr id="199" name="Text 197"/>
          <p:cNvSpPr txBox="1"/>
          <p:nvPr/>
        </p:nvSpPr>
        <p:spPr>
          <a:xfrm>
            <a:off x="3694176"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200" name="Shape 198"/>
          <p:cNvSpPr/>
          <p:nvPr/>
        </p:nvSpPr>
        <p:spPr>
          <a:xfrm>
            <a:off x="4032504" y="5285232"/>
            <a:ext cx="310896" cy="310896"/>
          </a:xfrm>
          <a:prstGeom prst="rect">
            <a:avLst/>
          </a:prstGeom>
          <a:solidFill>
            <a:srgbClr val="E3E7EC"/>
          </a:solidFill>
          <a:ln/>
        </p:spPr>
      </p:sp>
      <p:sp>
        <p:nvSpPr>
          <p:cNvPr id="201" name="Text 199"/>
          <p:cNvSpPr txBox="1"/>
          <p:nvPr/>
        </p:nvSpPr>
        <p:spPr>
          <a:xfrm>
            <a:off x="4032504"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202" name="Shape 200"/>
          <p:cNvSpPr/>
          <p:nvPr/>
        </p:nvSpPr>
        <p:spPr>
          <a:xfrm>
            <a:off x="4370832" y="5285232"/>
            <a:ext cx="310896" cy="310896"/>
          </a:xfrm>
          <a:prstGeom prst="rect">
            <a:avLst/>
          </a:prstGeom>
          <a:solidFill>
            <a:srgbClr val="E3E7EC"/>
          </a:solidFill>
          <a:ln/>
        </p:spPr>
      </p:sp>
      <p:sp>
        <p:nvSpPr>
          <p:cNvPr id="203" name="Text 201"/>
          <p:cNvSpPr txBox="1"/>
          <p:nvPr/>
        </p:nvSpPr>
        <p:spPr>
          <a:xfrm>
            <a:off x="4370832" y="5285232"/>
            <a:ext cx="310896" cy="310896"/>
          </a:xfrm>
          <a:prstGeom prst="rect">
            <a:avLst/>
          </a:prstGeom>
          <a:noFill/>
          <a:ln/>
        </p:spPr>
        <p:txBody>
          <a:bodyPr wrap="square" lIns="0" tIns="0" rIns="0" bIns="0" rtlCol="0" anchor="ctr"/>
          <a:lstStyle/>
          <a:p>
            <a:pPr algn="ctr" indent="0" marL="0">
              <a:buNone/>
            </a:pPr>
            <a:r>
              <a:rPr lang="en-US" sz="800" b="1" dirty="0">
                <a:solidFill>
                  <a:srgbClr val="A8B0BA"/>
                </a:solidFill>
                <a:latin typeface="Yu Gothic" pitchFamily="34" charset="0"/>
                <a:ea typeface="Yu Gothic" pitchFamily="34" charset="-122"/>
                <a:cs typeface="Yu Gothic" pitchFamily="34" charset="-120"/>
              </a:rPr>
              <a:t>?</a:t>
            </a:r>
            <a:endParaRPr lang="en-US" sz="800" dirty="0"/>
          </a:p>
        </p:txBody>
      </p:sp>
      <p:sp>
        <p:nvSpPr>
          <p:cNvPr id="204" name="Shape 202"/>
          <p:cNvSpPr/>
          <p:nvPr/>
        </p:nvSpPr>
        <p:spPr>
          <a:xfrm>
            <a:off x="2679192" y="3255264"/>
            <a:ext cx="310896" cy="310896"/>
          </a:xfrm>
          <a:prstGeom prst="rect">
            <a:avLst/>
          </a:prstGeom>
          <a:solidFill>
            <a:srgbClr val="B04A3F"/>
          </a:solidFill>
          <a:ln/>
        </p:spPr>
      </p:sp>
      <p:sp>
        <p:nvSpPr>
          <p:cNvPr id="205" name="Text 203"/>
          <p:cNvSpPr txBox="1"/>
          <p:nvPr/>
        </p:nvSpPr>
        <p:spPr>
          <a:xfrm>
            <a:off x="2679192" y="3255264"/>
            <a:ext cx="310896"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例</a:t>
            </a:r>
            <a:endParaRPr lang="en-US" sz="800" dirty="0"/>
          </a:p>
        </p:txBody>
      </p:sp>
      <p:sp>
        <p:nvSpPr>
          <p:cNvPr id="206" name="Shape 204"/>
          <p:cNvSpPr/>
          <p:nvPr/>
        </p:nvSpPr>
        <p:spPr>
          <a:xfrm>
            <a:off x="640080" y="5715000"/>
            <a:ext cx="155448" cy="155448"/>
          </a:xfrm>
          <a:prstGeom prst="rect">
            <a:avLst/>
          </a:prstGeom>
          <a:solidFill>
            <a:srgbClr val="1B2A44"/>
          </a:solidFill>
          <a:ln/>
        </p:spPr>
      </p:sp>
      <p:sp>
        <p:nvSpPr>
          <p:cNvPr id="207" name="Text 205"/>
          <p:cNvSpPr txBox="1"/>
          <p:nvPr/>
        </p:nvSpPr>
        <p:spPr>
          <a:xfrm>
            <a:off x="841248" y="5660136"/>
            <a:ext cx="210312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建物なし（1）</a:t>
            </a:r>
            <a:endParaRPr lang="en-US" sz="900" dirty="0"/>
          </a:p>
        </p:txBody>
      </p:sp>
      <p:sp>
        <p:nvSpPr>
          <p:cNvPr id="208" name="Shape 206"/>
          <p:cNvSpPr/>
          <p:nvPr/>
        </p:nvSpPr>
        <p:spPr>
          <a:xfrm>
            <a:off x="2926080" y="5715000"/>
            <a:ext cx="155448" cy="155448"/>
          </a:xfrm>
          <a:prstGeom prst="rect">
            <a:avLst/>
          </a:prstGeom>
          <a:solidFill>
            <a:srgbClr val="1F6F78"/>
          </a:solidFill>
          <a:ln/>
        </p:spPr>
      </p:sp>
      <p:sp>
        <p:nvSpPr>
          <p:cNvPr id="209" name="Text 207"/>
          <p:cNvSpPr txBox="1"/>
          <p:nvPr/>
        </p:nvSpPr>
        <p:spPr>
          <a:xfrm>
            <a:off x="3127248" y="5660136"/>
            <a:ext cx="210312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東だけ（9）</a:t>
            </a:r>
            <a:endParaRPr lang="en-US" sz="900" dirty="0"/>
          </a:p>
        </p:txBody>
      </p:sp>
      <p:sp>
        <p:nvSpPr>
          <p:cNvPr id="210" name="Shape 208"/>
          <p:cNvSpPr/>
          <p:nvPr/>
        </p:nvSpPr>
        <p:spPr>
          <a:xfrm>
            <a:off x="640080" y="5971032"/>
            <a:ext cx="155448" cy="155448"/>
          </a:xfrm>
          <a:prstGeom prst="rect">
            <a:avLst/>
          </a:prstGeom>
          <a:solidFill>
            <a:srgbClr val="E8934D"/>
          </a:solidFill>
          <a:ln/>
        </p:spPr>
      </p:sp>
      <p:sp>
        <p:nvSpPr>
          <p:cNvPr id="211" name="Text 209"/>
          <p:cNvSpPr txBox="1"/>
          <p:nvPr/>
        </p:nvSpPr>
        <p:spPr>
          <a:xfrm>
            <a:off x="841248" y="5916168"/>
            <a:ext cx="210312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南だけ（9）</a:t>
            </a:r>
            <a:endParaRPr lang="en-US" sz="900" dirty="0"/>
          </a:p>
        </p:txBody>
      </p:sp>
      <p:sp>
        <p:nvSpPr>
          <p:cNvPr id="212" name="Shape 210"/>
          <p:cNvSpPr/>
          <p:nvPr/>
        </p:nvSpPr>
        <p:spPr>
          <a:xfrm>
            <a:off x="2926080" y="5971032"/>
            <a:ext cx="155448" cy="155448"/>
          </a:xfrm>
          <a:prstGeom prst="rect">
            <a:avLst/>
          </a:prstGeom>
          <a:solidFill>
            <a:srgbClr val="E3E7EC"/>
          </a:solidFill>
          <a:ln/>
        </p:spPr>
      </p:sp>
      <p:sp>
        <p:nvSpPr>
          <p:cNvPr id="213" name="Text 211"/>
          <p:cNvSpPr txBox="1"/>
          <p:nvPr/>
        </p:nvSpPr>
        <p:spPr>
          <a:xfrm>
            <a:off x="3127248" y="5916168"/>
            <a:ext cx="210312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南と東を同時（81）</a:t>
            </a:r>
            <a:endParaRPr lang="en-US" sz="900" dirty="0"/>
          </a:p>
        </p:txBody>
      </p:sp>
      <p:sp>
        <p:nvSpPr>
          <p:cNvPr id="214" name="Text 212"/>
          <p:cNvSpPr txBox="1"/>
          <p:nvPr/>
        </p:nvSpPr>
        <p:spPr>
          <a:xfrm>
            <a:off x="5532120" y="1572768"/>
            <a:ext cx="62179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「?」の1マスを、端の値から足し算で出す（数値は説明用）</a:t>
            </a:r>
            <a:endParaRPr lang="en-US" sz="1150" dirty="0"/>
          </a:p>
        </p:txBody>
      </p:sp>
      <p:sp>
        <p:nvSpPr>
          <p:cNvPr id="215" name="Shape 213"/>
          <p:cNvSpPr/>
          <p:nvPr/>
        </p:nvSpPr>
        <p:spPr>
          <a:xfrm>
            <a:off x="5532120" y="1920240"/>
            <a:ext cx="1280160" cy="1600200"/>
          </a:xfrm>
          <a:prstGeom prst="roundRect">
            <a:avLst>
              <a:gd name="adj" fmla="val 4286"/>
            </a:avLst>
          </a:prstGeom>
          <a:solidFill>
            <a:srgbClr val="F3F5F8"/>
          </a:solidFill>
          <a:ln/>
        </p:spPr>
      </p:sp>
      <p:sp>
        <p:nvSpPr>
          <p:cNvPr id="216" name="Shape 214"/>
          <p:cNvSpPr/>
          <p:nvPr/>
        </p:nvSpPr>
        <p:spPr>
          <a:xfrm>
            <a:off x="6080760" y="2304288"/>
            <a:ext cx="182880" cy="182880"/>
          </a:xfrm>
          <a:prstGeom prst="rect">
            <a:avLst/>
          </a:prstGeom>
          <a:solidFill>
            <a:srgbClr val="1B2A44"/>
          </a:solidFill>
          <a:ln/>
        </p:spPr>
      </p:sp>
      <p:sp>
        <p:nvSpPr>
          <p:cNvPr id="217" name="Shape 215"/>
          <p:cNvSpPr/>
          <p:nvPr/>
        </p:nvSpPr>
        <p:spPr>
          <a:xfrm>
            <a:off x="6080760" y="2075688"/>
            <a:ext cx="182880" cy="182880"/>
          </a:xfrm>
          <a:prstGeom prst="rect">
            <a:avLst/>
          </a:prstGeom>
          <a:solidFill>
            <a:srgbClr val="FFFFFF"/>
          </a:solidFill>
          <a:ln w="9525">
            <a:solidFill>
              <a:srgbClr val="B8C0CA"/>
            </a:solidFill>
            <a:prstDash val="dash"/>
          </a:ln>
        </p:spPr>
      </p:sp>
      <p:sp>
        <p:nvSpPr>
          <p:cNvPr id="218" name="Shape 216"/>
          <p:cNvSpPr/>
          <p:nvPr/>
        </p:nvSpPr>
        <p:spPr>
          <a:xfrm>
            <a:off x="6309360" y="2304288"/>
            <a:ext cx="182880" cy="182880"/>
          </a:xfrm>
          <a:prstGeom prst="rect">
            <a:avLst/>
          </a:prstGeom>
          <a:solidFill>
            <a:srgbClr val="1F6F78"/>
          </a:solidFill>
          <a:ln/>
        </p:spPr>
      </p:sp>
      <p:sp>
        <p:nvSpPr>
          <p:cNvPr id="219" name="Shape 217"/>
          <p:cNvSpPr/>
          <p:nvPr/>
        </p:nvSpPr>
        <p:spPr>
          <a:xfrm>
            <a:off x="6080760" y="2532888"/>
            <a:ext cx="182880" cy="182880"/>
          </a:xfrm>
          <a:prstGeom prst="rect">
            <a:avLst/>
          </a:prstGeom>
          <a:solidFill>
            <a:srgbClr val="1F6F78"/>
          </a:solidFill>
          <a:ln/>
        </p:spPr>
      </p:sp>
      <p:sp>
        <p:nvSpPr>
          <p:cNvPr id="220" name="Shape 218"/>
          <p:cNvSpPr/>
          <p:nvPr/>
        </p:nvSpPr>
        <p:spPr>
          <a:xfrm>
            <a:off x="5852160" y="2304288"/>
            <a:ext cx="182880" cy="182880"/>
          </a:xfrm>
          <a:prstGeom prst="rect">
            <a:avLst/>
          </a:prstGeom>
          <a:solidFill>
            <a:srgbClr val="FFFFFF"/>
          </a:solidFill>
          <a:ln w="9525">
            <a:solidFill>
              <a:srgbClr val="B8C0CA"/>
            </a:solidFill>
            <a:prstDash val="dash"/>
          </a:ln>
        </p:spPr>
      </p:sp>
      <p:sp>
        <p:nvSpPr>
          <p:cNvPr id="221" name="Text 219"/>
          <p:cNvSpPr txBox="1"/>
          <p:nvPr/>
        </p:nvSpPr>
        <p:spPr>
          <a:xfrm>
            <a:off x="5532120" y="2743200"/>
            <a:ext cx="1280160" cy="237744"/>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東と南の2棟</a:t>
            </a:r>
            <a:endParaRPr lang="en-US" sz="950" dirty="0"/>
          </a:p>
        </p:txBody>
      </p:sp>
      <p:sp>
        <p:nvSpPr>
          <p:cNvPr id="222" name="Text 220"/>
          <p:cNvSpPr txBox="1"/>
          <p:nvPr/>
        </p:nvSpPr>
        <p:spPr>
          <a:xfrm>
            <a:off x="5532120" y="2999232"/>
            <a:ext cx="1280160" cy="411480"/>
          </a:xfrm>
          <a:prstGeom prst="rect">
            <a:avLst/>
          </a:prstGeom>
          <a:noFill/>
          <a:ln/>
        </p:spPr>
        <p:txBody>
          <a:bodyPr wrap="square" lIns="508" tIns="508" rIns="508" bIns="508" rtlCol="0" anchor="t"/>
          <a:lstStyle/>
          <a:p>
            <a:pPr algn="ctr" indent="0" marL="0">
              <a:buNone/>
            </a:pPr>
            <a:r>
              <a:rPr lang="en-US" sz="1800" b="1" dirty="0">
                <a:solidFill>
                  <a:srgbClr val="B04A3F"/>
                </a:solidFill>
                <a:latin typeface="Yu Gothic" pitchFamily="34" charset="0"/>
                <a:ea typeface="Yu Gothic" pitchFamily="34" charset="-122"/>
                <a:cs typeface="Yu Gothic" pitchFamily="34" charset="-120"/>
              </a:rPr>
              <a:t>？</a:t>
            </a:r>
            <a:endParaRPr lang="en-US" sz="1800" dirty="0"/>
          </a:p>
        </p:txBody>
      </p:sp>
      <p:sp>
        <p:nvSpPr>
          <p:cNvPr id="223" name="Text 221"/>
          <p:cNvSpPr txBox="1"/>
          <p:nvPr/>
        </p:nvSpPr>
        <p:spPr>
          <a:xfrm>
            <a:off x="6793992" y="2468880"/>
            <a:ext cx="329184"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224" name="Shape 222"/>
          <p:cNvSpPr/>
          <p:nvPr/>
        </p:nvSpPr>
        <p:spPr>
          <a:xfrm>
            <a:off x="7104888" y="1920240"/>
            <a:ext cx="1280160" cy="1600200"/>
          </a:xfrm>
          <a:prstGeom prst="roundRect">
            <a:avLst>
              <a:gd name="adj" fmla="val 4286"/>
            </a:avLst>
          </a:prstGeom>
          <a:solidFill>
            <a:srgbClr val="F3F5F8"/>
          </a:solidFill>
          <a:ln/>
        </p:spPr>
      </p:sp>
      <p:sp>
        <p:nvSpPr>
          <p:cNvPr id="225" name="Shape 223"/>
          <p:cNvSpPr/>
          <p:nvPr/>
        </p:nvSpPr>
        <p:spPr>
          <a:xfrm>
            <a:off x="7653528" y="2304288"/>
            <a:ext cx="182880" cy="182880"/>
          </a:xfrm>
          <a:prstGeom prst="rect">
            <a:avLst/>
          </a:prstGeom>
          <a:solidFill>
            <a:srgbClr val="1B2A44"/>
          </a:solidFill>
          <a:ln/>
        </p:spPr>
      </p:sp>
      <p:sp>
        <p:nvSpPr>
          <p:cNvPr id="226" name="Shape 224"/>
          <p:cNvSpPr/>
          <p:nvPr/>
        </p:nvSpPr>
        <p:spPr>
          <a:xfrm>
            <a:off x="7653528" y="2075688"/>
            <a:ext cx="182880" cy="182880"/>
          </a:xfrm>
          <a:prstGeom prst="rect">
            <a:avLst/>
          </a:prstGeom>
          <a:solidFill>
            <a:srgbClr val="FFFFFF"/>
          </a:solidFill>
          <a:ln w="9525">
            <a:solidFill>
              <a:srgbClr val="B8C0CA"/>
            </a:solidFill>
            <a:prstDash val="dash"/>
          </a:ln>
        </p:spPr>
      </p:sp>
      <p:sp>
        <p:nvSpPr>
          <p:cNvPr id="227" name="Shape 225"/>
          <p:cNvSpPr/>
          <p:nvPr/>
        </p:nvSpPr>
        <p:spPr>
          <a:xfrm>
            <a:off x="7882128" y="2304288"/>
            <a:ext cx="182880" cy="182880"/>
          </a:xfrm>
          <a:prstGeom prst="rect">
            <a:avLst/>
          </a:prstGeom>
          <a:solidFill>
            <a:srgbClr val="FFFFFF"/>
          </a:solidFill>
          <a:ln w="9525">
            <a:solidFill>
              <a:srgbClr val="B8C0CA"/>
            </a:solidFill>
            <a:prstDash val="dash"/>
          </a:ln>
        </p:spPr>
      </p:sp>
      <p:sp>
        <p:nvSpPr>
          <p:cNvPr id="228" name="Shape 226"/>
          <p:cNvSpPr/>
          <p:nvPr/>
        </p:nvSpPr>
        <p:spPr>
          <a:xfrm>
            <a:off x="7653528" y="2532888"/>
            <a:ext cx="182880" cy="182880"/>
          </a:xfrm>
          <a:prstGeom prst="rect">
            <a:avLst/>
          </a:prstGeom>
          <a:solidFill>
            <a:srgbClr val="FFFFFF"/>
          </a:solidFill>
          <a:ln w="9525">
            <a:solidFill>
              <a:srgbClr val="B8C0CA"/>
            </a:solidFill>
            <a:prstDash val="dash"/>
          </a:ln>
        </p:spPr>
      </p:sp>
      <p:sp>
        <p:nvSpPr>
          <p:cNvPr id="229" name="Shape 227"/>
          <p:cNvSpPr/>
          <p:nvPr/>
        </p:nvSpPr>
        <p:spPr>
          <a:xfrm>
            <a:off x="7424928" y="2304288"/>
            <a:ext cx="182880" cy="182880"/>
          </a:xfrm>
          <a:prstGeom prst="rect">
            <a:avLst/>
          </a:prstGeom>
          <a:solidFill>
            <a:srgbClr val="FFFFFF"/>
          </a:solidFill>
          <a:ln w="9525">
            <a:solidFill>
              <a:srgbClr val="B8C0CA"/>
            </a:solidFill>
            <a:prstDash val="dash"/>
          </a:ln>
        </p:spPr>
      </p:sp>
      <p:sp>
        <p:nvSpPr>
          <p:cNvPr id="230" name="Text 228"/>
          <p:cNvSpPr txBox="1"/>
          <p:nvPr/>
        </p:nvSpPr>
        <p:spPr>
          <a:xfrm>
            <a:off x="7104888" y="2743200"/>
            <a:ext cx="1280160" cy="237744"/>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p>
        </p:txBody>
      </p:sp>
      <p:sp>
        <p:nvSpPr>
          <p:cNvPr id="231" name="Text 229"/>
          <p:cNvSpPr txBox="1"/>
          <p:nvPr/>
        </p:nvSpPr>
        <p:spPr>
          <a:xfrm>
            <a:off x="7104888" y="2999232"/>
            <a:ext cx="1280160" cy="411480"/>
          </a:xfrm>
          <a:prstGeom prst="rect">
            <a:avLst/>
          </a:prstGeom>
          <a:noFill/>
          <a:ln/>
        </p:spPr>
        <p:txBody>
          <a:bodyPr wrap="square" lIns="508" tIns="508" rIns="508" bIns="508" rtlCol="0" anchor="t"/>
          <a:lstStyle/>
          <a:p>
            <a:pPr algn="ctr" indent="0" marL="0">
              <a:buNone/>
            </a:pPr>
            <a:r>
              <a:rPr lang="en-US" sz="1800" b="1" dirty="0">
                <a:solidFill>
                  <a:srgbClr val="1B2A44"/>
                </a:solidFill>
                <a:latin typeface="Yu Gothic" pitchFamily="34" charset="0"/>
                <a:ea typeface="Yu Gothic" pitchFamily="34" charset="-122"/>
                <a:cs typeface="Yu Gothic" pitchFamily="34" charset="-120"/>
              </a:rPr>
              <a:t>1000</a:t>
            </a:r>
            <a:endParaRPr lang="en-US" sz="1800" dirty="0"/>
          </a:p>
        </p:txBody>
      </p:sp>
      <p:sp>
        <p:nvSpPr>
          <p:cNvPr id="232" name="Text 230"/>
          <p:cNvSpPr txBox="1"/>
          <p:nvPr/>
        </p:nvSpPr>
        <p:spPr>
          <a:xfrm>
            <a:off x="8366760" y="2468880"/>
            <a:ext cx="329184"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233" name="Shape 231"/>
          <p:cNvSpPr/>
          <p:nvPr/>
        </p:nvSpPr>
        <p:spPr>
          <a:xfrm>
            <a:off x="8677656" y="1920240"/>
            <a:ext cx="1280160" cy="1600200"/>
          </a:xfrm>
          <a:prstGeom prst="roundRect">
            <a:avLst>
              <a:gd name="adj" fmla="val 4286"/>
            </a:avLst>
          </a:prstGeom>
          <a:solidFill>
            <a:srgbClr val="F3F5F8"/>
          </a:solidFill>
          <a:ln/>
        </p:spPr>
      </p:sp>
      <p:sp>
        <p:nvSpPr>
          <p:cNvPr id="234" name="Shape 232"/>
          <p:cNvSpPr/>
          <p:nvPr/>
        </p:nvSpPr>
        <p:spPr>
          <a:xfrm>
            <a:off x="9226296" y="2304288"/>
            <a:ext cx="182880" cy="182880"/>
          </a:xfrm>
          <a:prstGeom prst="rect">
            <a:avLst/>
          </a:prstGeom>
          <a:solidFill>
            <a:srgbClr val="1B2A44"/>
          </a:solidFill>
          <a:ln/>
        </p:spPr>
      </p:sp>
      <p:sp>
        <p:nvSpPr>
          <p:cNvPr id="235" name="Shape 233"/>
          <p:cNvSpPr/>
          <p:nvPr/>
        </p:nvSpPr>
        <p:spPr>
          <a:xfrm>
            <a:off x="9226296" y="2075688"/>
            <a:ext cx="182880" cy="182880"/>
          </a:xfrm>
          <a:prstGeom prst="rect">
            <a:avLst/>
          </a:prstGeom>
          <a:solidFill>
            <a:srgbClr val="FFFFFF"/>
          </a:solidFill>
          <a:ln w="9525">
            <a:solidFill>
              <a:srgbClr val="B8C0CA"/>
            </a:solidFill>
            <a:prstDash val="dash"/>
          </a:ln>
        </p:spPr>
      </p:sp>
      <p:sp>
        <p:nvSpPr>
          <p:cNvPr id="236" name="Shape 234"/>
          <p:cNvSpPr/>
          <p:nvPr/>
        </p:nvSpPr>
        <p:spPr>
          <a:xfrm>
            <a:off x="9454896" y="2304288"/>
            <a:ext cx="182880" cy="182880"/>
          </a:xfrm>
          <a:prstGeom prst="rect">
            <a:avLst/>
          </a:prstGeom>
          <a:solidFill>
            <a:srgbClr val="FFFFFF"/>
          </a:solidFill>
          <a:ln w="9525">
            <a:solidFill>
              <a:srgbClr val="B8C0CA"/>
            </a:solidFill>
            <a:prstDash val="dash"/>
          </a:ln>
        </p:spPr>
      </p:sp>
      <p:sp>
        <p:nvSpPr>
          <p:cNvPr id="237" name="Shape 235"/>
          <p:cNvSpPr/>
          <p:nvPr/>
        </p:nvSpPr>
        <p:spPr>
          <a:xfrm>
            <a:off x="9226296" y="2532888"/>
            <a:ext cx="182880" cy="182880"/>
          </a:xfrm>
          <a:prstGeom prst="rect">
            <a:avLst/>
          </a:prstGeom>
          <a:solidFill>
            <a:srgbClr val="1F6F78"/>
          </a:solidFill>
          <a:ln/>
        </p:spPr>
      </p:sp>
      <p:sp>
        <p:nvSpPr>
          <p:cNvPr id="238" name="Shape 236"/>
          <p:cNvSpPr/>
          <p:nvPr/>
        </p:nvSpPr>
        <p:spPr>
          <a:xfrm>
            <a:off x="8997696" y="2304288"/>
            <a:ext cx="182880" cy="182880"/>
          </a:xfrm>
          <a:prstGeom prst="rect">
            <a:avLst/>
          </a:prstGeom>
          <a:solidFill>
            <a:srgbClr val="FFFFFF"/>
          </a:solidFill>
          <a:ln w="9525">
            <a:solidFill>
              <a:srgbClr val="B8C0CA"/>
            </a:solidFill>
            <a:prstDash val="dash"/>
          </a:ln>
        </p:spPr>
      </p:sp>
      <p:sp>
        <p:nvSpPr>
          <p:cNvPr id="239" name="Text 237"/>
          <p:cNvSpPr txBox="1"/>
          <p:nvPr/>
        </p:nvSpPr>
        <p:spPr>
          <a:xfrm>
            <a:off x="8677656" y="2743200"/>
            <a:ext cx="1280160" cy="237744"/>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南で減る量</a:t>
            </a:r>
            <a:endParaRPr lang="en-US" sz="950" dirty="0"/>
          </a:p>
        </p:txBody>
      </p:sp>
      <p:sp>
        <p:nvSpPr>
          <p:cNvPr id="240" name="Text 238"/>
          <p:cNvSpPr txBox="1"/>
          <p:nvPr/>
        </p:nvSpPr>
        <p:spPr>
          <a:xfrm>
            <a:off x="8677656" y="2999232"/>
            <a:ext cx="1280160" cy="411480"/>
          </a:xfrm>
          <a:prstGeom prst="rect">
            <a:avLst/>
          </a:prstGeom>
          <a:noFill/>
          <a:ln/>
        </p:spPr>
        <p:txBody>
          <a:bodyPr wrap="square" lIns="508" tIns="508" rIns="508" bIns="508" rtlCol="0" anchor="t"/>
          <a:lstStyle/>
          <a:p>
            <a:pPr algn="ctr" indent="0" marL="0">
              <a:buNone/>
            </a:pPr>
            <a:r>
              <a:rPr lang="en-US" sz="1800" b="1" dirty="0">
                <a:solidFill>
                  <a:srgbClr val="E8934D"/>
                </a:solidFill>
                <a:latin typeface="Yu Gothic" pitchFamily="34" charset="0"/>
                <a:ea typeface="Yu Gothic" pitchFamily="34" charset="-122"/>
                <a:cs typeface="Yu Gothic" pitchFamily="34" charset="-120"/>
              </a:rPr>
              <a:t>300</a:t>
            </a:r>
            <a:endParaRPr lang="en-US" sz="1800" dirty="0"/>
          </a:p>
        </p:txBody>
      </p:sp>
      <p:sp>
        <p:nvSpPr>
          <p:cNvPr id="241" name="Text 239"/>
          <p:cNvSpPr txBox="1"/>
          <p:nvPr/>
        </p:nvSpPr>
        <p:spPr>
          <a:xfrm>
            <a:off x="9939528" y="2468880"/>
            <a:ext cx="329184" cy="457200"/>
          </a:xfrm>
          <a:prstGeom prst="rect">
            <a:avLst/>
          </a:prstGeom>
          <a:noFill/>
          <a:ln/>
        </p:spPr>
        <p:txBody>
          <a:bodyPr wrap="square" lIns="508" tIns="508" rIns="508" bIns="508" rtlCol="0" anchor="t"/>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242" name="Shape 240"/>
          <p:cNvSpPr/>
          <p:nvPr/>
        </p:nvSpPr>
        <p:spPr>
          <a:xfrm>
            <a:off x="10250424" y="1920240"/>
            <a:ext cx="1280160" cy="1600200"/>
          </a:xfrm>
          <a:prstGeom prst="roundRect">
            <a:avLst>
              <a:gd name="adj" fmla="val 4286"/>
            </a:avLst>
          </a:prstGeom>
          <a:solidFill>
            <a:srgbClr val="F3F5F8"/>
          </a:solidFill>
          <a:ln/>
        </p:spPr>
      </p:sp>
      <p:sp>
        <p:nvSpPr>
          <p:cNvPr id="243" name="Shape 241"/>
          <p:cNvSpPr/>
          <p:nvPr/>
        </p:nvSpPr>
        <p:spPr>
          <a:xfrm>
            <a:off x="10799064" y="2304288"/>
            <a:ext cx="182880" cy="182880"/>
          </a:xfrm>
          <a:prstGeom prst="rect">
            <a:avLst/>
          </a:prstGeom>
          <a:solidFill>
            <a:srgbClr val="1B2A44"/>
          </a:solidFill>
          <a:ln/>
        </p:spPr>
      </p:sp>
      <p:sp>
        <p:nvSpPr>
          <p:cNvPr id="244" name="Shape 242"/>
          <p:cNvSpPr/>
          <p:nvPr/>
        </p:nvSpPr>
        <p:spPr>
          <a:xfrm>
            <a:off x="10799064" y="2075688"/>
            <a:ext cx="182880" cy="182880"/>
          </a:xfrm>
          <a:prstGeom prst="rect">
            <a:avLst/>
          </a:prstGeom>
          <a:solidFill>
            <a:srgbClr val="FFFFFF"/>
          </a:solidFill>
          <a:ln w="9525">
            <a:solidFill>
              <a:srgbClr val="B8C0CA"/>
            </a:solidFill>
            <a:prstDash val="dash"/>
          </a:ln>
        </p:spPr>
      </p:sp>
      <p:sp>
        <p:nvSpPr>
          <p:cNvPr id="245" name="Shape 243"/>
          <p:cNvSpPr/>
          <p:nvPr/>
        </p:nvSpPr>
        <p:spPr>
          <a:xfrm>
            <a:off x="11027664" y="2304288"/>
            <a:ext cx="182880" cy="182880"/>
          </a:xfrm>
          <a:prstGeom prst="rect">
            <a:avLst/>
          </a:prstGeom>
          <a:solidFill>
            <a:srgbClr val="1F6F78"/>
          </a:solidFill>
          <a:ln/>
        </p:spPr>
      </p:sp>
      <p:sp>
        <p:nvSpPr>
          <p:cNvPr id="246" name="Shape 244"/>
          <p:cNvSpPr/>
          <p:nvPr/>
        </p:nvSpPr>
        <p:spPr>
          <a:xfrm>
            <a:off x="10799064" y="2532888"/>
            <a:ext cx="182880" cy="182880"/>
          </a:xfrm>
          <a:prstGeom prst="rect">
            <a:avLst/>
          </a:prstGeom>
          <a:solidFill>
            <a:srgbClr val="FFFFFF"/>
          </a:solidFill>
          <a:ln w="9525">
            <a:solidFill>
              <a:srgbClr val="B8C0CA"/>
            </a:solidFill>
            <a:prstDash val="dash"/>
          </a:ln>
        </p:spPr>
      </p:sp>
      <p:sp>
        <p:nvSpPr>
          <p:cNvPr id="247" name="Shape 245"/>
          <p:cNvSpPr/>
          <p:nvPr/>
        </p:nvSpPr>
        <p:spPr>
          <a:xfrm>
            <a:off x="10570464" y="2304288"/>
            <a:ext cx="182880" cy="182880"/>
          </a:xfrm>
          <a:prstGeom prst="rect">
            <a:avLst/>
          </a:prstGeom>
          <a:solidFill>
            <a:srgbClr val="FFFFFF"/>
          </a:solidFill>
          <a:ln w="9525">
            <a:solidFill>
              <a:srgbClr val="B8C0CA"/>
            </a:solidFill>
            <a:prstDash val="dash"/>
          </a:ln>
        </p:spPr>
      </p:sp>
      <p:sp>
        <p:nvSpPr>
          <p:cNvPr id="248" name="Text 246"/>
          <p:cNvSpPr txBox="1"/>
          <p:nvPr/>
        </p:nvSpPr>
        <p:spPr>
          <a:xfrm>
            <a:off x="10250424" y="2743200"/>
            <a:ext cx="1280160" cy="237744"/>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東で減る量</a:t>
            </a:r>
            <a:endParaRPr lang="en-US" sz="950" dirty="0"/>
          </a:p>
        </p:txBody>
      </p:sp>
      <p:sp>
        <p:nvSpPr>
          <p:cNvPr id="249" name="Text 247"/>
          <p:cNvSpPr txBox="1"/>
          <p:nvPr/>
        </p:nvSpPr>
        <p:spPr>
          <a:xfrm>
            <a:off x="10250424" y="2999232"/>
            <a:ext cx="1280160" cy="411480"/>
          </a:xfrm>
          <a:prstGeom prst="rect">
            <a:avLst/>
          </a:prstGeom>
          <a:noFill/>
          <a:ln/>
        </p:spPr>
        <p:txBody>
          <a:bodyPr wrap="square" lIns="508" tIns="508" rIns="508" bIns="508" rtlCol="0" anchor="t"/>
          <a:lstStyle/>
          <a:p>
            <a:pPr algn="ctr" indent="0" marL="0">
              <a:buNone/>
            </a:pPr>
            <a:r>
              <a:rPr lang="en-US" sz="1800" b="1" dirty="0">
                <a:solidFill>
                  <a:srgbClr val="1F6F78"/>
                </a:solidFill>
                <a:latin typeface="Yu Gothic" pitchFamily="34" charset="0"/>
                <a:ea typeface="Yu Gothic" pitchFamily="34" charset="-122"/>
                <a:cs typeface="Yu Gothic" pitchFamily="34" charset="-120"/>
              </a:rPr>
              <a:t>100</a:t>
            </a:r>
            <a:endParaRPr lang="en-US" sz="1800" dirty="0"/>
          </a:p>
        </p:txBody>
      </p:sp>
      <p:sp>
        <p:nvSpPr>
          <p:cNvPr id="250" name="Text 248"/>
          <p:cNvSpPr txBox="1"/>
          <p:nvPr/>
        </p:nvSpPr>
        <p:spPr>
          <a:xfrm>
            <a:off x="5532120" y="3611880"/>
            <a:ext cx="6217920" cy="365760"/>
          </a:xfrm>
          <a:prstGeom prst="rect">
            <a:avLst/>
          </a:prstGeom>
          <a:noFill/>
          <a:ln/>
        </p:spPr>
        <p:txBody>
          <a:bodyPr wrap="square" lIns="508" tIns="508" rIns="508" bIns="508" rtlCol="0" anchor="t"/>
          <a:lstStyle/>
          <a:p>
            <a:pPr algn="r" indent="0" marL="0">
              <a:buNone/>
            </a:pPr>
            <a:r>
              <a:rPr lang="en-US" sz="1600" b="1" dirty="0">
                <a:solidFill>
                  <a:srgbClr val="B04A3F"/>
                </a:solidFill>
                <a:latin typeface="Yu Gothic" pitchFamily="34" charset="0"/>
                <a:ea typeface="Yu Gothic" pitchFamily="34" charset="-122"/>
                <a:cs typeface="Yu Gothic" pitchFamily="34" charset="-120"/>
              </a:rPr>
              <a:t>＝ 600</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32120" y="4023360"/>
          <a:ext cx="6217920" cy="914400"/>
        </p:xfrm>
        <a:graphic>
          <a:graphicData uri="http://schemas.openxmlformats.org/drawingml/2006/table">
            <a:tbl>
              <a:tblPr/>
              <a:tblGrid>
                <a:gridCol w="2514600"/>
                <a:gridCol w="1691640"/>
                <a:gridCol w="2011680"/>
              </a:tblGrid>
              <a:tr h="310896">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「減る量」の求め方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計算（説明用の数値）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SEBEで必要な配置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南で減る量 ＝ 建物なし − 南だけ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1000 − 700 ＝ 300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南だけの配置（既存）</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東で減る量 ＝ 建物なし − 東だけ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1000 − 900 ＝ 100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東だけの配置（新規）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52" name="Shape 249"/>
          <p:cNvSpPr/>
          <p:nvPr/>
        </p:nvSpPr>
        <p:spPr>
          <a:xfrm>
            <a:off x="5532120" y="5074920"/>
            <a:ext cx="6217920" cy="1234440"/>
          </a:xfrm>
          <a:prstGeom prst="roundRect">
            <a:avLst>
              <a:gd name="adj" fmla="val 4444"/>
            </a:avLst>
          </a:prstGeom>
          <a:solidFill>
            <a:srgbClr val="1B2A44"/>
          </a:solidFill>
          <a:ln/>
        </p:spPr>
      </p:sp>
      <p:sp>
        <p:nvSpPr>
          <p:cNvPr id="253" name="Text 250"/>
          <p:cNvSpPr txBox="1"/>
          <p:nvPr/>
        </p:nvSpPr>
        <p:spPr>
          <a:xfrm>
            <a:off x="5669280" y="5120640"/>
            <a:ext cx="5989320" cy="1143000"/>
          </a:xfrm>
          <a:prstGeom prst="rect">
            <a:avLst/>
          </a:prstGeom>
          <a:noFill/>
          <a:ln/>
        </p:spPr>
        <p:txBody>
          <a:bodyPr wrap="square" lIns="508" tIns="508" rIns="508" bIns="508" rtlCol="0" anchor="ctr"/>
          <a:lstStyle/>
          <a:p>
            <a:pPr indent="0" marL="0">
              <a:buNone/>
            </a:pPr>
            <a:r>
              <a:rPr lang="en-US" sz="1000" b="1" dirty="0">
                <a:solidFill>
                  <a:srgbClr val="FFFFFF"/>
                </a:solidFill>
                <a:latin typeface="Yu Gothic" pitchFamily="34" charset="0"/>
                <a:ea typeface="Yu Gothic" pitchFamily="34" charset="-122"/>
                <a:cs typeface="Yu Gothic" pitchFamily="34" charset="-120"/>
              </a:rPr>
              <a:t>計算するのは端（1棟だけ）の配置だけでよい → 1万配置の代わりに約65配置</a:t>
            </a:r>
            <a:endParaRPr lang="en-US" sz="1000" dirty="0"/>
          </a:p>
          <a:p>
            <a:pPr indent="0" marL="0">
              <a:buNone/>
            </a:pPr>
            <a:r>
              <a:rPr lang="en-US" sz="1000" b="1" dirty="0">
                <a:solidFill>
                  <a:srgbClr val="E8934D"/>
                </a:solidFill>
                <a:latin typeface="Yu Gothic" pitchFamily="34" charset="0"/>
                <a:ea typeface="Yu Gothic" pitchFamily="34" charset="-122"/>
                <a:cs typeface="Yu Gothic" pitchFamily="34" charset="-120"/>
              </a:rPr>
              <a:t>ただし仮定がある：</a:t>
            </a:r>
            <a:pPr indent="0" marL="0">
              <a:buNone/>
            </a:pPr>
            <a:r>
              <a:rPr lang="en-US" sz="1000" dirty="0">
                <a:solidFill>
                  <a:srgbClr val="CADCFC"/>
                </a:solidFill>
                <a:latin typeface="Yu Gothic" pitchFamily="34" charset="0"/>
                <a:ea typeface="Yu Gothic" pitchFamily="34" charset="-122"/>
                <a:cs typeface="Yu Gothic" pitchFamily="34" charset="-120"/>
              </a:rPr>
              <a:t>「南で減る量」と「東で減る量」が互いに関係しない（別々の光を遮る）こと。2棟が同じ光を遮ると、この足し算はずれる → 次のページ</a:t>
            </a:r>
            <a:endParaRPr 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足し算の弱点：2棟が同じ光を遮ると、減る量を二重に引く</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36</a:t>
            </a:r>
            <a:endParaRPr lang="en-US" sz="1100" dirty="0"/>
          </a:p>
        </p:txBody>
      </p:sp>
      <p:sp>
        <p:nvSpPr>
          <p:cNvPr id="9" name="Shape 7"/>
          <p:cNvSpPr/>
          <p:nvPr/>
        </p:nvSpPr>
        <p:spPr>
          <a:xfrm>
            <a:off x="457200" y="1060704"/>
            <a:ext cx="2331720" cy="329184"/>
          </a:xfrm>
          <a:prstGeom prst="homePlate">
            <a:avLst/>
          </a:prstGeom>
          <a:solidFill>
            <a:srgbClr val="F6D9C0"/>
          </a:solidFill>
          <a:ln/>
        </p:spPr>
      </p:sp>
      <p:sp>
        <p:nvSpPr>
          <p:cNvPr id="10" name="Text 8"/>
          <p:cNvSpPr txBox="1"/>
          <p:nvPr/>
        </p:nvSpPr>
        <p:spPr>
          <a:xfrm>
            <a:off x="548640"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① 全部を計算するのは無理</a:t>
            </a:r>
            <a:endParaRPr lang="en-US" sz="950" dirty="0"/>
          </a:p>
        </p:txBody>
      </p:sp>
      <p:sp>
        <p:nvSpPr>
          <p:cNvPr id="11" name="Shape 9"/>
          <p:cNvSpPr/>
          <p:nvPr/>
        </p:nvSpPr>
        <p:spPr>
          <a:xfrm>
            <a:off x="2715768" y="1060704"/>
            <a:ext cx="2331720" cy="329184"/>
          </a:xfrm>
          <a:prstGeom prst="chevron">
            <a:avLst/>
          </a:prstGeom>
          <a:solidFill>
            <a:srgbClr val="F6D9C0"/>
          </a:solidFill>
          <a:ln/>
        </p:spPr>
      </p:sp>
      <p:sp>
        <p:nvSpPr>
          <p:cNvPr id="12" name="Text 10"/>
          <p:cNvSpPr txBox="1"/>
          <p:nvPr/>
        </p:nvSpPr>
        <p:spPr>
          <a:xfrm>
            <a:off x="2916936"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② 1棟ずつの結果を足して埋める</a:t>
            </a:r>
            <a:endParaRPr lang="en-US" sz="950" dirty="0"/>
          </a:p>
        </p:txBody>
      </p:sp>
      <p:sp>
        <p:nvSpPr>
          <p:cNvPr id="13" name="Shape 11"/>
          <p:cNvSpPr/>
          <p:nvPr/>
        </p:nvSpPr>
        <p:spPr>
          <a:xfrm>
            <a:off x="4974336" y="1060704"/>
            <a:ext cx="2331720" cy="329184"/>
          </a:xfrm>
          <a:prstGeom prst="chevron">
            <a:avLst/>
          </a:prstGeom>
          <a:solidFill>
            <a:srgbClr val="E8934D"/>
          </a:solidFill>
          <a:ln/>
        </p:spPr>
      </p:sp>
      <p:sp>
        <p:nvSpPr>
          <p:cNvPr id="14" name="Text 12"/>
          <p:cNvSpPr txBox="1"/>
          <p:nvPr/>
        </p:nvSpPr>
        <p:spPr>
          <a:xfrm>
            <a:off x="5175504" y="1060704"/>
            <a:ext cx="20116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③ 足し算の弱点＝影の重なり</a:t>
            </a:r>
            <a:endParaRPr lang="en-US" sz="950" dirty="0"/>
          </a:p>
        </p:txBody>
      </p:sp>
      <p:sp>
        <p:nvSpPr>
          <p:cNvPr id="15" name="Shape 13"/>
          <p:cNvSpPr/>
          <p:nvPr/>
        </p:nvSpPr>
        <p:spPr>
          <a:xfrm>
            <a:off x="7232904" y="1060704"/>
            <a:ext cx="2331720" cy="329184"/>
          </a:xfrm>
          <a:prstGeom prst="chevron">
            <a:avLst/>
          </a:prstGeom>
          <a:solidFill>
            <a:srgbClr val="EAEEF2"/>
          </a:solidFill>
          <a:ln/>
        </p:spPr>
      </p:sp>
      <p:sp>
        <p:nvSpPr>
          <p:cNvPr id="16" name="Text 14"/>
          <p:cNvSpPr txBox="1"/>
          <p:nvPr/>
        </p:nvSpPr>
        <p:spPr>
          <a:xfrm>
            <a:off x="7434072"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④ 足し算を式で書く</a:t>
            </a:r>
            <a:endParaRPr lang="en-US" sz="950" dirty="0"/>
          </a:p>
        </p:txBody>
      </p:sp>
      <p:sp>
        <p:nvSpPr>
          <p:cNvPr id="17" name="Shape 15"/>
          <p:cNvSpPr/>
          <p:nvPr/>
        </p:nvSpPr>
        <p:spPr>
          <a:xfrm>
            <a:off x="9491472" y="1060704"/>
            <a:ext cx="2331720" cy="329184"/>
          </a:xfrm>
          <a:prstGeom prst="chevron">
            <a:avLst/>
          </a:prstGeom>
          <a:solidFill>
            <a:srgbClr val="EAEEF2"/>
          </a:solidFill>
          <a:ln/>
        </p:spPr>
      </p:sp>
      <p:sp>
        <p:nvSpPr>
          <p:cNvPr id="18" name="Text 16"/>
          <p:cNvSpPr txBox="1"/>
          <p:nvPr/>
        </p:nvSpPr>
        <p:spPr>
          <a:xfrm>
            <a:off x="9692640"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⑤ 来週SEBEで確かめる</a:t>
            </a:r>
            <a:endParaRPr lang="en-US" sz="950" dirty="0"/>
          </a:p>
        </p:txBody>
      </p:sp>
      <p:sp>
        <p:nvSpPr>
          <p:cNvPr id="19" name="Shape 17"/>
          <p:cNvSpPr/>
          <p:nvPr/>
        </p:nvSpPr>
        <p:spPr>
          <a:xfrm>
            <a:off x="457200" y="1554480"/>
            <a:ext cx="3474720" cy="2788920"/>
          </a:xfrm>
          <a:prstGeom prst="roundRect">
            <a:avLst>
              <a:gd name="adj" fmla="val 1967"/>
            </a:avLst>
          </a:prstGeom>
          <a:solidFill>
            <a:srgbClr val="F3F5F8"/>
          </a:solidFill>
          <a:ln/>
        </p:spPr>
      </p:sp>
      <p:sp>
        <p:nvSpPr>
          <p:cNvPr id="20" name="Text 18"/>
          <p:cNvSpPr txBox="1"/>
          <p:nvPr/>
        </p:nvSpPr>
        <p:spPr>
          <a:xfrm>
            <a:off x="594360" y="1609344"/>
            <a:ext cx="320040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上から見た図</a:t>
            </a:r>
            <a:endParaRPr lang="en-US" sz="1050" dirty="0"/>
          </a:p>
        </p:txBody>
      </p:sp>
      <p:sp>
        <p:nvSpPr>
          <p:cNvPr id="21" name="Shape 19"/>
          <p:cNvSpPr/>
          <p:nvPr/>
        </p:nvSpPr>
        <p:spPr>
          <a:xfrm>
            <a:off x="1920240" y="2331720"/>
            <a:ext cx="457200" cy="457200"/>
          </a:xfrm>
          <a:prstGeom prst="rect">
            <a:avLst/>
          </a:prstGeom>
          <a:solidFill>
            <a:srgbClr val="1B2A44"/>
          </a:solidFill>
          <a:ln/>
        </p:spPr>
      </p:sp>
      <p:sp>
        <p:nvSpPr>
          <p:cNvPr id="22" name="Shape 20"/>
          <p:cNvSpPr/>
          <p:nvPr/>
        </p:nvSpPr>
        <p:spPr>
          <a:xfrm>
            <a:off x="1920240" y="3017520"/>
            <a:ext cx="457200" cy="457200"/>
          </a:xfrm>
          <a:prstGeom prst="rect">
            <a:avLst/>
          </a:prstGeom>
          <a:solidFill>
            <a:srgbClr val="1F6F78"/>
          </a:solidFill>
          <a:ln/>
        </p:spPr>
      </p:sp>
      <p:sp>
        <p:nvSpPr>
          <p:cNvPr id="23" name="Text 21"/>
          <p:cNvSpPr txBox="1"/>
          <p:nvPr/>
        </p:nvSpPr>
        <p:spPr>
          <a:xfrm>
            <a:off x="1920240" y="30175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a:t>
            </a:r>
            <a:endParaRPr lang="en-US" sz="1000" dirty="0"/>
          </a:p>
        </p:txBody>
      </p:sp>
      <p:sp>
        <p:nvSpPr>
          <p:cNvPr id="24" name="Shape 22"/>
          <p:cNvSpPr/>
          <p:nvPr/>
        </p:nvSpPr>
        <p:spPr>
          <a:xfrm>
            <a:off x="2606040" y="2331720"/>
            <a:ext cx="457200" cy="457200"/>
          </a:xfrm>
          <a:prstGeom prst="rect">
            <a:avLst/>
          </a:prstGeom>
          <a:solidFill>
            <a:srgbClr val="E8934D"/>
          </a:solidFill>
          <a:ln/>
        </p:spPr>
      </p:sp>
      <p:sp>
        <p:nvSpPr>
          <p:cNvPr id="25" name="Text 23"/>
          <p:cNvSpPr txBox="1"/>
          <p:nvPr/>
        </p:nvSpPr>
        <p:spPr>
          <a:xfrm>
            <a:off x="2606040" y="23317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a:t>
            </a:r>
            <a:endParaRPr lang="en-US" sz="1000" dirty="0"/>
          </a:p>
        </p:txBody>
      </p:sp>
      <p:sp>
        <p:nvSpPr>
          <p:cNvPr id="26" name="Shape 24"/>
          <p:cNvSpPr/>
          <p:nvPr/>
        </p:nvSpPr>
        <p:spPr>
          <a:xfrm>
            <a:off x="2089404" y="2729484"/>
            <a:ext cx="118872" cy="118872"/>
          </a:xfrm>
          <a:prstGeom prst="ellipse">
            <a:avLst/>
          </a:prstGeom>
          <a:solidFill>
            <a:srgbClr val="B04A3F"/>
          </a:solidFill>
          <a:ln w="6350">
            <a:solidFill>
              <a:srgbClr val="FFFFFF"/>
            </a:solidFill>
            <a:prstDash val="solid"/>
          </a:ln>
        </p:spPr>
      </p:sp>
      <p:sp>
        <p:nvSpPr>
          <p:cNvPr id="27" name="Text 25"/>
          <p:cNvSpPr txBox="1"/>
          <p:nvPr/>
        </p:nvSpPr>
        <p:spPr>
          <a:xfrm>
            <a:off x="822960" y="2679192"/>
            <a:ext cx="1143000" cy="219456"/>
          </a:xfrm>
          <a:prstGeom prst="rect">
            <a:avLst/>
          </a:prstGeom>
          <a:noFill/>
          <a:ln/>
        </p:spPr>
        <p:txBody>
          <a:bodyPr wrap="square" lIns="508" tIns="508" rIns="508" bIns="508" rtlCol="0" anchor="t"/>
          <a:lstStyle/>
          <a:p>
            <a:pPr algn="r" indent="0" marL="0">
              <a:buNone/>
            </a:pPr>
            <a:r>
              <a:rPr lang="en-US" sz="850" b="1" dirty="0">
                <a:solidFill>
                  <a:srgbClr val="B04A3F"/>
                </a:solidFill>
                <a:latin typeface="Yu Gothic" pitchFamily="34" charset="0"/>
                <a:ea typeface="Yu Gothic" pitchFamily="34" charset="-122"/>
                <a:cs typeface="Yu Gothic" pitchFamily="34" charset="-120"/>
              </a:rPr>
              <a:t>点P（南面）</a:t>
            </a:r>
            <a:endParaRPr lang="en-US" sz="850" dirty="0"/>
          </a:p>
        </p:txBody>
      </p:sp>
      <p:sp>
        <p:nvSpPr>
          <p:cNvPr id="28" name="Shape 26"/>
          <p:cNvSpPr/>
          <p:nvPr/>
        </p:nvSpPr>
        <p:spPr>
          <a:xfrm flipH="1">
            <a:off x="3341217" y="2697480"/>
            <a:ext cx="42063" cy="236664"/>
          </a:xfrm>
          <a:prstGeom prst="line">
            <a:avLst/>
          </a:prstGeom>
          <a:noFill/>
          <a:ln w="25400">
            <a:solidFill>
              <a:srgbClr val="E8D26E"/>
            </a:solidFill>
            <a:prstDash val="dash"/>
          </a:ln>
        </p:spPr>
      </p:sp>
      <p:sp>
        <p:nvSpPr>
          <p:cNvPr id="29" name="Shape 27"/>
          <p:cNvSpPr/>
          <p:nvPr/>
        </p:nvSpPr>
        <p:spPr>
          <a:xfrm flipH="1">
            <a:off x="3217896" y="2934144"/>
            <a:ext cx="123321" cy="220536"/>
          </a:xfrm>
          <a:prstGeom prst="line">
            <a:avLst/>
          </a:prstGeom>
          <a:noFill/>
          <a:ln w="25400">
            <a:solidFill>
              <a:srgbClr val="E8D26E"/>
            </a:solidFill>
            <a:prstDash val="dash"/>
          </a:ln>
        </p:spPr>
      </p:sp>
      <p:sp>
        <p:nvSpPr>
          <p:cNvPr id="30" name="Shape 28"/>
          <p:cNvSpPr/>
          <p:nvPr/>
        </p:nvSpPr>
        <p:spPr>
          <a:xfrm flipH="1">
            <a:off x="3021721" y="3154680"/>
            <a:ext cx="196176" cy="189378"/>
          </a:xfrm>
          <a:prstGeom prst="line">
            <a:avLst/>
          </a:prstGeom>
          <a:noFill/>
          <a:ln w="25400">
            <a:solidFill>
              <a:srgbClr val="E8D26E"/>
            </a:solidFill>
            <a:prstDash val="dash"/>
          </a:ln>
        </p:spPr>
      </p:sp>
      <p:sp>
        <p:nvSpPr>
          <p:cNvPr id="31" name="Shape 29"/>
          <p:cNvSpPr/>
          <p:nvPr/>
        </p:nvSpPr>
        <p:spPr>
          <a:xfrm flipH="1">
            <a:off x="2766060" y="3344058"/>
            <a:ext cx="255661" cy="145315"/>
          </a:xfrm>
          <a:prstGeom prst="line">
            <a:avLst/>
          </a:prstGeom>
          <a:noFill/>
          <a:ln w="25400">
            <a:solidFill>
              <a:srgbClr val="E8D26E"/>
            </a:solidFill>
            <a:prstDash val="dash"/>
          </a:ln>
        </p:spPr>
      </p:sp>
      <p:sp>
        <p:nvSpPr>
          <p:cNvPr id="32" name="Shape 30"/>
          <p:cNvSpPr/>
          <p:nvPr/>
        </p:nvSpPr>
        <p:spPr>
          <a:xfrm flipH="1">
            <a:off x="2468337" y="3489374"/>
            <a:ext cx="297723" cy="91349"/>
          </a:xfrm>
          <a:prstGeom prst="line">
            <a:avLst/>
          </a:prstGeom>
          <a:noFill/>
          <a:ln w="25400">
            <a:solidFill>
              <a:srgbClr val="E8D26E"/>
            </a:solidFill>
            <a:prstDash val="dash"/>
          </a:ln>
        </p:spPr>
      </p:sp>
      <p:sp>
        <p:nvSpPr>
          <p:cNvPr id="33" name="Shape 31"/>
          <p:cNvSpPr/>
          <p:nvPr/>
        </p:nvSpPr>
        <p:spPr>
          <a:xfrm flipH="1">
            <a:off x="2148840" y="3580723"/>
            <a:ext cx="319497" cy="31157"/>
          </a:xfrm>
          <a:prstGeom prst="line">
            <a:avLst/>
          </a:prstGeom>
          <a:noFill/>
          <a:ln w="25400">
            <a:solidFill>
              <a:srgbClr val="E8D26E"/>
            </a:solidFill>
            <a:prstDash val="dash"/>
          </a:ln>
        </p:spPr>
      </p:sp>
      <p:sp>
        <p:nvSpPr>
          <p:cNvPr id="34" name="Shape 32"/>
          <p:cNvSpPr/>
          <p:nvPr/>
        </p:nvSpPr>
        <p:spPr>
          <a:xfrm flipH="1" flipV="1">
            <a:off x="1829343" y="3580723"/>
            <a:ext cx="319497" cy="31157"/>
          </a:xfrm>
          <a:prstGeom prst="line">
            <a:avLst/>
          </a:prstGeom>
          <a:noFill/>
          <a:ln w="25400">
            <a:solidFill>
              <a:srgbClr val="E8D26E"/>
            </a:solidFill>
            <a:prstDash val="dash"/>
          </a:ln>
        </p:spPr>
      </p:sp>
      <p:sp>
        <p:nvSpPr>
          <p:cNvPr id="35" name="Shape 33"/>
          <p:cNvSpPr/>
          <p:nvPr/>
        </p:nvSpPr>
        <p:spPr>
          <a:xfrm flipH="1" flipV="1">
            <a:off x="1531620" y="3489374"/>
            <a:ext cx="297723" cy="91349"/>
          </a:xfrm>
          <a:prstGeom prst="line">
            <a:avLst/>
          </a:prstGeom>
          <a:noFill/>
          <a:ln w="25400">
            <a:solidFill>
              <a:srgbClr val="E8D26E"/>
            </a:solidFill>
            <a:prstDash val="dash"/>
          </a:ln>
        </p:spPr>
      </p:sp>
      <p:sp>
        <p:nvSpPr>
          <p:cNvPr id="36" name="Shape 34"/>
          <p:cNvSpPr/>
          <p:nvPr/>
        </p:nvSpPr>
        <p:spPr>
          <a:xfrm flipH="1" flipV="1">
            <a:off x="1275959" y="3344058"/>
            <a:ext cx="255661" cy="145315"/>
          </a:xfrm>
          <a:prstGeom prst="line">
            <a:avLst/>
          </a:prstGeom>
          <a:noFill/>
          <a:ln w="25400">
            <a:solidFill>
              <a:srgbClr val="E8D26E"/>
            </a:solidFill>
            <a:prstDash val="dash"/>
          </a:ln>
        </p:spPr>
      </p:sp>
      <p:sp>
        <p:nvSpPr>
          <p:cNvPr id="37" name="Shape 35"/>
          <p:cNvSpPr/>
          <p:nvPr/>
        </p:nvSpPr>
        <p:spPr>
          <a:xfrm flipH="1" flipV="1">
            <a:off x="1079784" y="3154680"/>
            <a:ext cx="196176" cy="189378"/>
          </a:xfrm>
          <a:prstGeom prst="line">
            <a:avLst/>
          </a:prstGeom>
          <a:noFill/>
          <a:ln w="25400">
            <a:solidFill>
              <a:srgbClr val="E8D26E"/>
            </a:solidFill>
            <a:prstDash val="dash"/>
          </a:ln>
        </p:spPr>
      </p:sp>
      <p:sp>
        <p:nvSpPr>
          <p:cNvPr id="38" name="Shape 36"/>
          <p:cNvSpPr/>
          <p:nvPr/>
        </p:nvSpPr>
        <p:spPr>
          <a:xfrm flipH="1" flipV="1">
            <a:off x="956463" y="2934144"/>
            <a:ext cx="123321" cy="220536"/>
          </a:xfrm>
          <a:prstGeom prst="line">
            <a:avLst/>
          </a:prstGeom>
          <a:noFill/>
          <a:ln w="25400">
            <a:solidFill>
              <a:srgbClr val="E8D26E"/>
            </a:solidFill>
            <a:prstDash val="dash"/>
          </a:ln>
        </p:spPr>
      </p:sp>
      <p:sp>
        <p:nvSpPr>
          <p:cNvPr id="39" name="Shape 37"/>
          <p:cNvSpPr/>
          <p:nvPr/>
        </p:nvSpPr>
        <p:spPr>
          <a:xfrm flipH="1" flipV="1">
            <a:off x="914400" y="2697480"/>
            <a:ext cx="42063" cy="236664"/>
          </a:xfrm>
          <a:prstGeom prst="line">
            <a:avLst/>
          </a:prstGeom>
          <a:noFill/>
          <a:ln w="25400">
            <a:solidFill>
              <a:srgbClr val="E8D26E"/>
            </a:solidFill>
            <a:prstDash val="dash"/>
          </a:ln>
        </p:spPr>
      </p:sp>
      <p:sp>
        <p:nvSpPr>
          <p:cNvPr id="40" name="Shape 38"/>
          <p:cNvSpPr/>
          <p:nvPr/>
        </p:nvSpPr>
        <p:spPr>
          <a:xfrm>
            <a:off x="3273552" y="2587752"/>
            <a:ext cx="219456" cy="219456"/>
          </a:xfrm>
          <a:prstGeom prst="ellipse">
            <a:avLst/>
          </a:prstGeom>
          <a:solidFill>
            <a:srgbClr val="F2C94C"/>
          </a:solidFill>
          <a:ln w="6350">
            <a:solidFill>
              <a:srgbClr val="FFFFFF"/>
            </a:solidFill>
            <a:prstDash val="solid"/>
          </a:ln>
        </p:spPr>
      </p:sp>
      <p:sp>
        <p:nvSpPr>
          <p:cNvPr id="41" name="Text 39"/>
          <p:cNvSpPr txBox="1"/>
          <p:nvPr/>
        </p:nvSpPr>
        <p:spPr>
          <a:xfrm>
            <a:off x="3108960" y="2368296"/>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朝</a:t>
            </a:r>
            <a:endParaRPr lang="en-US" sz="850" dirty="0"/>
          </a:p>
        </p:txBody>
      </p:sp>
      <p:sp>
        <p:nvSpPr>
          <p:cNvPr id="42" name="Shape 40"/>
          <p:cNvSpPr/>
          <p:nvPr/>
        </p:nvSpPr>
        <p:spPr>
          <a:xfrm>
            <a:off x="2039112" y="3502152"/>
            <a:ext cx="219456" cy="219456"/>
          </a:xfrm>
          <a:prstGeom prst="ellipse">
            <a:avLst/>
          </a:prstGeom>
          <a:solidFill>
            <a:srgbClr val="F2C94C"/>
          </a:solidFill>
          <a:ln w="6350">
            <a:solidFill>
              <a:srgbClr val="FFFFFF"/>
            </a:solidFill>
            <a:prstDash val="solid"/>
          </a:ln>
        </p:spPr>
      </p:sp>
      <p:sp>
        <p:nvSpPr>
          <p:cNvPr id="43" name="Text 41"/>
          <p:cNvSpPr txBox="1"/>
          <p:nvPr/>
        </p:nvSpPr>
        <p:spPr>
          <a:xfrm>
            <a:off x="1874520" y="3703320"/>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昼</a:t>
            </a:r>
            <a:endParaRPr lang="en-US" sz="850" dirty="0"/>
          </a:p>
        </p:txBody>
      </p:sp>
      <p:sp>
        <p:nvSpPr>
          <p:cNvPr id="44" name="Shape 42"/>
          <p:cNvSpPr/>
          <p:nvPr/>
        </p:nvSpPr>
        <p:spPr>
          <a:xfrm>
            <a:off x="804672" y="2587752"/>
            <a:ext cx="219456" cy="219456"/>
          </a:xfrm>
          <a:prstGeom prst="ellipse">
            <a:avLst/>
          </a:prstGeom>
          <a:solidFill>
            <a:srgbClr val="F2C94C"/>
          </a:solidFill>
          <a:ln w="6350">
            <a:solidFill>
              <a:srgbClr val="FFFFFF"/>
            </a:solidFill>
            <a:prstDash val="solid"/>
          </a:ln>
        </p:spPr>
      </p:sp>
      <p:sp>
        <p:nvSpPr>
          <p:cNvPr id="45" name="Text 43"/>
          <p:cNvSpPr txBox="1"/>
          <p:nvPr/>
        </p:nvSpPr>
        <p:spPr>
          <a:xfrm>
            <a:off x="640080" y="2368296"/>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夕</a:t>
            </a:r>
            <a:endParaRPr lang="en-US" sz="850" dirty="0"/>
          </a:p>
        </p:txBody>
      </p:sp>
      <p:sp>
        <p:nvSpPr>
          <p:cNvPr id="46" name="Text 44"/>
          <p:cNvSpPr txBox="1"/>
          <p:nvPr/>
        </p:nvSpPr>
        <p:spPr>
          <a:xfrm>
            <a:off x="594360" y="4069080"/>
            <a:ext cx="320040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太陽は 東→南→西 と動く</a:t>
            </a:r>
            <a:endParaRPr lang="en-US" sz="850" dirty="0"/>
          </a:p>
        </p:txBody>
      </p:sp>
      <p:sp>
        <p:nvSpPr>
          <p:cNvPr id="47" name="Shape 45"/>
          <p:cNvSpPr/>
          <p:nvPr/>
        </p:nvSpPr>
        <p:spPr>
          <a:xfrm>
            <a:off x="4114800" y="1554480"/>
            <a:ext cx="7635240" cy="2788920"/>
          </a:xfrm>
          <a:prstGeom prst="roundRect">
            <a:avLst>
              <a:gd name="adj" fmla="val 1967"/>
            </a:avLst>
          </a:prstGeom>
          <a:solidFill>
            <a:srgbClr val="F3F5F8"/>
          </a:solidFill>
          <a:ln/>
        </p:spPr>
      </p:sp>
      <p:sp>
        <p:nvSpPr>
          <p:cNvPr id="48" name="Text 46"/>
          <p:cNvSpPr txBox="1"/>
          <p:nvPr/>
        </p:nvSpPr>
        <p:spPr>
          <a:xfrm>
            <a:off x="4251960" y="1609344"/>
            <a:ext cx="731520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点Pに日光が当たらない時間帯（説明用の仮定）</a:t>
            </a:r>
            <a:endParaRPr lang="en-US" sz="1050" dirty="0"/>
          </a:p>
        </p:txBody>
      </p:sp>
      <p:sp>
        <p:nvSpPr>
          <p:cNvPr id="49" name="Shape 47"/>
          <p:cNvSpPr/>
          <p:nvPr/>
        </p:nvSpPr>
        <p:spPr>
          <a:xfrm>
            <a:off x="6172200" y="1920240"/>
            <a:ext cx="91" cy="1920240"/>
          </a:xfrm>
          <a:prstGeom prst="line">
            <a:avLst/>
          </a:prstGeom>
          <a:noFill/>
          <a:ln w="6350">
            <a:solidFill>
              <a:srgbClr val="DDE2E8"/>
            </a:solidFill>
            <a:prstDash val="solid"/>
          </a:ln>
        </p:spPr>
      </p:sp>
      <p:sp>
        <p:nvSpPr>
          <p:cNvPr id="50" name="Text 48"/>
          <p:cNvSpPr txBox="1"/>
          <p:nvPr/>
        </p:nvSpPr>
        <p:spPr>
          <a:xfrm>
            <a:off x="5897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6時</a:t>
            </a:r>
            <a:endParaRPr lang="en-US" sz="800" dirty="0"/>
          </a:p>
        </p:txBody>
      </p:sp>
      <p:sp>
        <p:nvSpPr>
          <p:cNvPr id="51" name="Shape 49"/>
          <p:cNvSpPr/>
          <p:nvPr/>
        </p:nvSpPr>
        <p:spPr>
          <a:xfrm>
            <a:off x="6934200" y="1920240"/>
            <a:ext cx="91" cy="1920240"/>
          </a:xfrm>
          <a:prstGeom prst="line">
            <a:avLst/>
          </a:prstGeom>
          <a:noFill/>
          <a:ln w="6350">
            <a:solidFill>
              <a:srgbClr val="DDE2E8"/>
            </a:solidFill>
            <a:prstDash val="solid"/>
          </a:ln>
        </p:spPr>
      </p:sp>
      <p:sp>
        <p:nvSpPr>
          <p:cNvPr id="52" name="Text 50"/>
          <p:cNvSpPr txBox="1"/>
          <p:nvPr/>
        </p:nvSpPr>
        <p:spPr>
          <a:xfrm>
            <a:off x="6659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8時</a:t>
            </a:r>
            <a:endParaRPr lang="en-US" sz="800" dirty="0"/>
          </a:p>
        </p:txBody>
      </p:sp>
      <p:sp>
        <p:nvSpPr>
          <p:cNvPr id="53" name="Shape 51"/>
          <p:cNvSpPr/>
          <p:nvPr/>
        </p:nvSpPr>
        <p:spPr>
          <a:xfrm>
            <a:off x="7696200" y="1920240"/>
            <a:ext cx="91" cy="1920240"/>
          </a:xfrm>
          <a:prstGeom prst="line">
            <a:avLst/>
          </a:prstGeom>
          <a:noFill/>
          <a:ln w="6350">
            <a:solidFill>
              <a:srgbClr val="DDE2E8"/>
            </a:solidFill>
            <a:prstDash val="solid"/>
          </a:ln>
        </p:spPr>
      </p:sp>
      <p:sp>
        <p:nvSpPr>
          <p:cNvPr id="54" name="Text 52"/>
          <p:cNvSpPr txBox="1"/>
          <p:nvPr/>
        </p:nvSpPr>
        <p:spPr>
          <a:xfrm>
            <a:off x="7421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10時</a:t>
            </a:r>
            <a:endParaRPr lang="en-US" sz="800" dirty="0"/>
          </a:p>
        </p:txBody>
      </p:sp>
      <p:sp>
        <p:nvSpPr>
          <p:cNvPr id="55" name="Shape 53"/>
          <p:cNvSpPr/>
          <p:nvPr/>
        </p:nvSpPr>
        <p:spPr>
          <a:xfrm>
            <a:off x="8458200" y="1920240"/>
            <a:ext cx="91" cy="1920240"/>
          </a:xfrm>
          <a:prstGeom prst="line">
            <a:avLst/>
          </a:prstGeom>
          <a:noFill/>
          <a:ln w="6350">
            <a:solidFill>
              <a:srgbClr val="DDE2E8"/>
            </a:solidFill>
            <a:prstDash val="solid"/>
          </a:ln>
        </p:spPr>
      </p:sp>
      <p:sp>
        <p:nvSpPr>
          <p:cNvPr id="56" name="Text 54"/>
          <p:cNvSpPr txBox="1"/>
          <p:nvPr/>
        </p:nvSpPr>
        <p:spPr>
          <a:xfrm>
            <a:off x="8183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12時</a:t>
            </a:r>
            <a:endParaRPr lang="en-US" sz="800" dirty="0"/>
          </a:p>
        </p:txBody>
      </p:sp>
      <p:sp>
        <p:nvSpPr>
          <p:cNvPr id="57" name="Shape 55"/>
          <p:cNvSpPr/>
          <p:nvPr/>
        </p:nvSpPr>
        <p:spPr>
          <a:xfrm>
            <a:off x="9220200" y="1920240"/>
            <a:ext cx="91" cy="1920240"/>
          </a:xfrm>
          <a:prstGeom prst="line">
            <a:avLst/>
          </a:prstGeom>
          <a:noFill/>
          <a:ln w="6350">
            <a:solidFill>
              <a:srgbClr val="DDE2E8"/>
            </a:solidFill>
            <a:prstDash val="solid"/>
          </a:ln>
        </p:spPr>
      </p:sp>
      <p:sp>
        <p:nvSpPr>
          <p:cNvPr id="58" name="Text 56"/>
          <p:cNvSpPr txBox="1"/>
          <p:nvPr/>
        </p:nvSpPr>
        <p:spPr>
          <a:xfrm>
            <a:off x="8945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14時</a:t>
            </a:r>
            <a:endParaRPr lang="en-US" sz="800" dirty="0"/>
          </a:p>
        </p:txBody>
      </p:sp>
      <p:sp>
        <p:nvSpPr>
          <p:cNvPr id="59" name="Shape 57"/>
          <p:cNvSpPr/>
          <p:nvPr/>
        </p:nvSpPr>
        <p:spPr>
          <a:xfrm>
            <a:off x="9982200" y="1920240"/>
            <a:ext cx="91" cy="1920240"/>
          </a:xfrm>
          <a:prstGeom prst="line">
            <a:avLst/>
          </a:prstGeom>
          <a:noFill/>
          <a:ln w="6350">
            <a:solidFill>
              <a:srgbClr val="DDE2E8"/>
            </a:solidFill>
            <a:prstDash val="solid"/>
          </a:ln>
        </p:spPr>
      </p:sp>
      <p:sp>
        <p:nvSpPr>
          <p:cNvPr id="60" name="Text 58"/>
          <p:cNvSpPr txBox="1"/>
          <p:nvPr/>
        </p:nvSpPr>
        <p:spPr>
          <a:xfrm>
            <a:off x="9707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16時</a:t>
            </a:r>
            <a:endParaRPr lang="en-US" sz="800" dirty="0"/>
          </a:p>
        </p:txBody>
      </p:sp>
      <p:sp>
        <p:nvSpPr>
          <p:cNvPr id="61" name="Shape 59"/>
          <p:cNvSpPr/>
          <p:nvPr/>
        </p:nvSpPr>
        <p:spPr>
          <a:xfrm>
            <a:off x="10744200" y="1920240"/>
            <a:ext cx="91" cy="1920240"/>
          </a:xfrm>
          <a:prstGeom prst="line">
            <a:avLst/>
          </a:prstGeom>
          <a:noFill/>
          <a:ln w="6350">
            <a:solidFill>
              <a:srgbClr val="DDE2E8"/>
            </a:solidFill>
            <a:prstDash val="solid"/>
          </a:ln>
        </p:spPr>
      </p:sp>
      <p:sp>
        <p:nvSpPr>
          <p:cNvPr id="62" name="Text 60"/>
          <p:cNvSpPr txBox="1"/>
          <p:nvPr/>
        </p:nvSpPr>
        <p:spPr>
          <a:xfrm>
            <a:off x="10469880" y="3858768"/>
            <a:ext cx="548640" cy="182880"/>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18時</a:t>
            </a:r>
            <a:endParaRPr lang="en-US" sz="800" dirty="0"/>
          </a:p>
        </p:txBody>
      </p:sp>
      <p:sp>
        <p:nvSpPr>
          <p:cNvPr id="63" name="Text 61"/>
          <p:cNvSpPr txBox="1"/>
          <p:nvPr/>
        </p:nvSpPr>
        <p:spPr>
          <a:xfrm>
            <a:off x="4251960" y="1938528"/>
            <a:ext cx="18745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東だけ置く</a:t>
            </a:r>
            <a:endParaRPr lang="en-US" sz="950" dirty="0"/>
          </a:p>
        </p:txBody>
      </p:sp>
      <p:sp>
        <p:nvSpPr>
          <p:cNvPr id="64" name="Shape 62"/>
          <p:cNvSpPr/>
          <p:nvPr/>
        </p:nvSpPr>
        <p:spPr>
          <a:xfrm>
            <a:off x="6553200" y="2002536"/>
            <a:ext cx="1143000" cy="246888"/>
          </a:xfrm>
          <a:prstGeom prst="rect">
            <a:avLst/>
          </a:prstGeom>
          <a:solidFill>
            <a:srgbClr val="E8934D"/>
          </a:solidFill>
          <a:ln/>
        </p:spPr>
      </p:sp>
      <p:sp>
        <p:nvSpPr>
          <p:cNvPr id="65" name="Text 63"/>
          <p:cNvSpPr txBox="1"/>
          <p:nvPr/>
        </p:nvSpPr>
        <p:spPr>
          <a:xfrm>
            <a:off x="9677400" y="1938528"/>
            <a:ext cx="11887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3時間</a:t>
            </a:r>
            <a:endParaRPr lang="en-US" sz="950" dirty="0"/>
          </a:p>
        </p:txBody>
      </p:sp>
      <p:sp>
        <p:nvSpPr>
          <p:cNvPr id="66" name="Text 64"/>
          <p:cNvSpPr txBox="1"/>
          <p:nvPr/>
        </p:nvSpPr>
        <p:spPr>
          <a:xfrm>
            <a:off x="4251960" y="2395728"/>
            <a:ext cx="18745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南だけ置く</a:t>
            </a:r>
            <a:endParaRPr lang="en-US" sz="950" dirty="0"/>
          </a:p>
        </p:txBody>
      </p:sp>
      <p:sp>
        <p:nvSpPr>
          <p:cNvPr id="67" name="Shape 65"/>
          <p:cNvSpPr/>
          <p:nvPr/>
        </p:nvSpPr>
        <p:spPr>
          <a:xfrm>
            <a:off x="7315200" y="2459736"/>
            <a:ext cx="1905000" cy="246888"/>
          </a:xfrm>
          <a:prstGeom prst="rect">
            <a:avLst/>
          </a:prstGeom>
          <a:solidFill>
            <a:srgbClr val="1F6F78"/>
          </a:solidFill>
          <a:ln/>
        </p:spPr>
      </p:sp>
      <p:sp>
        <p:nvSpPr>
          <p:cNvPr id="68" name="Text 66"/>
          <p:cNvSpPr txBox="1"/>
          <p:nvPr/>
        </p:nvSpPr>
        <p:spPr>
          <a:xfrm>
            <a:off x="9677400" y="2395728"/>
            <a:ext cx="11887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5時間</a:t>
            </a:r>
            <a:endParaRPr lang="en-US" sz="950" dirty="0"/>
          </a:p>
        </p:txBody>
      </p:sp>
      <p:sp>
        <p:nvSpPr>
          <p:cNvPr id="69" name="Text 67"/>
          <p:cNvSpPr txBox="1"/>
          <p:nvPr/>
        </p:nvSpPr>
        <p:spPr>
          <a:xfrm>
            <a:off x="4251960" y="2852928"/>
            <a:ext cx="18745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足し算の見積もり</a:t>
            </a:r>
            <a:endParaRPr lang="en-US" sz="950" dirty="0"/>
          </a:p>
        </p:txBody>
      </p:sp>
      <p:sp>
        <p:nvSpPr>
          <p:cNvPr id="70" name="Shape 68"/>
          <p:cNvSpPr/>
          <p:nvPr/>
        </p:nvSpPr>
        <p:spPr>
          <a:xfrm>
            <a:off x="6553200" y="2916936"/>
            <a:ext cx="1143000" cy="246888"/>
          </a:xfrm>
          <a:prstGeom prst="rect">
            <a:avLst/>
          </a:prstGeom>
          <a:solidFill>
            <a:srgbClr val="E8934D"/>
          </a:solidFill>
          <a:ln/>
        </p:spPr>
      </p:sp>
      <p:sp>
        <p:nvSpPr>
          <p:cNvPr id="71" name="Shape 69"/>
          <p:cNvSpPr/>
          <p:nvPr/>
        </p:nvSpPr>
        <p:spPr>
          <a:xfrm>
            <a:off x="7696200" y="2916936"/>
            <a:ext cx="1905000" cy="246888"/>
          </a:xfrm>
          <a:prstGeom prst="rect">
            <a:avLst/>
          </a:prstGeom>
          <a:solidFill>
            <a:srgbClr val="1F6F78"/>
          </a:solidFill>
          <a:ln/>
        </p:spPr>
      </p:sp>
      <p:sp>
        <p:nvSpPr>
          <p:cNvPr id="72" name="Text 70"/>
          <p:cNvSpPr txBox="1"/>
          <p:nvPr/>
        </p:nvSpPr>
        <p:spPr>
          <a:xfrm>
            <a:off x="9677400" y="2852928"/>
            <a:ext cx="1188720" cy="365760"/>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3＋5＝8時間</a:t>
            </a:r>
            <a:endParaRPr lang="en-US" sz="950" dirty="0"/>
          </a:p>
        </p:txBody>
      </p:sp>
      <p:sp>
        <p:nvSpPr>
          <p:cNvPr id="73" name="Text 71"/>
          <p:cNvSpPr txBox="1"/>
          <p:nvPr/>
        </p:nvSpPr>
        <p:spPr>
          <a:xfrm>
            <a:off x="4251960" y="3310128"/>
            <a:ext cx="18745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2棟を同時に置く</a:t>
            </a:r>
            <a:endParaRPr lang="en-US" sz="950" dirty="0"/>
          </a:p>
        </p:txBody>
      </p:sp>
      <p:sp>
        <p:nvSpPr>
          <p:cNvPr id="74" name="Shape 72"/>
          <p:cNvSpPr/>
          <p:nvPr/>
        </p:nvSpPr>
        <p:spPr>
          <a:xfrm>
            <a:off x="6553200" y="3374136"/>
            <a:ext cx="2667000" cy="246888"/>
          </a:xfrm>
          <a:prstGeom prst="rect">
            <a:avLst/>
          </a:prstGeom>
          <a:solidFill>
            <a:srgbClr val="35507D"/>
          </a:solidFill>
          <a:ln/>
        </p:spPr>
      </p:sp>
      <p:sp>
        <p:nvSpPr>
          <p:cNvPr id="75" name="Text 73"/>
          <p:cNvSpPr txBox="1"/>
          <p:nvPr/>
        </p:nvSpPr>
        <p:spPr>
          <a:xfrm>
            <a:off x="9677400" y="3310128"/>
            <a:ext cx="118872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7時間</a:t>
            </a:r>
            <a:endParaRPr lang="en-US" sz="950" dirty="0"/>
          </a:p>
        </p:txBody>
      </p:sp>
      <p:sp>
        <p:nvSpPr>
          <p:cNvPr id="76" name="Shape 74"/>
          <p:cNvSpPr/>
          <p:nvPr/>
        </p:nvSpPr>
        <p:spPr>
          <a:xfrm>
            <a:off x="7315200" y="1920240"/>
            <a:ext cx="381000" cy="960120"/>
          </a:xfrm>
          <a:prstGeom prst="rect">
            <a:avLst/>
          </a:prstGeom>
          <a:solidFill>
            <a:srgbClr val="B04A3F">
              <a:alpha val="30000"/>
            </a:srgbClr>
          </a:solidFill>
          <a:ln/>
        </p:spPr>
      </p:sp>
      <p:sp>
        <p:nvSpPr>
          <p:cNvPr id="77" name="Text 75"/>
          <p:cNvSpPr txBox="1"/>
          <p:nvPr/>
        </p:nvSpPr>
        <p:spPr>
          <a:xfrm>
            <a:off x="7223760" y="4069080"/>
            <a:ext cx="4114800" cy="219456"/>
          </a:xfrm>
          <a:prstGeom prst="rect">
            <a:avLst/>
          </a:prstGeom>
          <a:noFill/>
          <a:ln/>
        </p:spPr>
        <p:txBody>
          <a:bodyPr wrap="square" lIns="508" tIns="508" rIns="508" bIns="508" rtlCol="0" anchor="t"/>
          <a:lstStyle/>
          <a:p>
            <a:pPr indent="0" marL="0">
              <a:buNone/>
            </a:pPr>
            <a:r>
              <a:rPr lang="en-US" sz="850" b="1" dirty="0">
                <a:solidFill>
                  <a:srgbClr val="B04A3F"/>
                </a:solidFill>
                <a:latin typeface="Yu Gothic" pitchFamily="34" charset="0"/>
                <a:ea typeface="Yu Gothic" pitchFamily="34" charset="-122"/>
                <a:cs typeface="Yu Gothic" pitchFamily="34" charset="-120"/>
              </a:rPr>
              <a:t>↑ 9〜10時は東と南が同じ光を遮っている（重なり）</a:t>
            </a:r>
            <a:endParaRPr lang="en-US" sz="850" dirty="0"/>
          </a:p>
        </p:txBody>
      </p:sp>
      <p:sp>
        <p:nvSpPr>
          <p:cNvPr id="78" name="Shape 76"/>
          <p:cNvSpPr/>
          <p:nvPr/>
        </p:nvSpPr>
        <p:spPr>
          <a:xfrm>
            <a:off x="457200" y="4526280"/>
            <a:ext cx="6035040" cy="1783080"/>
          </a:xfrm>
          <a:prstGeom prst="roundRect">
            <a:avLst>
              <a:gd name="adj" fmla="val 3077"/>
            </a:avLst>
          </a:prstGeom>
          <a:solidFill>
            <a:srgbClr val="FFFFFF"/>
          </a:solidFill>
          <a:ln w="9525">
            <a:solidFill>
              <a:srgbClr val="DCE1E7"/>
            </a:solidFill>
            <a:prstDash val="solid"/>
          </a:ln>
        </p:spPr>
      </p:sp>
      <p:sp>
        <p:nvSpPr>
          <p:cNvPr id="79" name="Text 77"/>
          <p:cNvSpPr txBox="1"/>
          <p:nvPr/>
        </p:nvSpPr>
        <p:spPr>
          <a:xfrm>
            <a:off x="594360" y="4572000"/>
            <a:ext cx="4572000" cy="219456"/>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日射量で見ると（kWh/m²・説明用）</a:t>
            </a:r>
            <a:endParaRPr lang="en-US" sz="950" dirty="0"/>
          </a:p>
        </p:txBody>
      </p:sp>
      <p:sp>
        <p:nvSpPr>
          <p:cNvPr id="80" name="Shape 78"/>
          <p:cNvSpPr/>
          <p:nvPr/>
        </p:nvSpPr>
        <p:spPr>
          <a:xfrm>
            <a:off x="685800" y="5102352"/>
            <a:ext cx="868680" cy="914400"/>
          </a:xfrm>
          <a:prstGeom prst="rect">
            <a:avLst/>
          </a:prstGeom>
          <a:solidFill>
            <a:srgbClr val="AEB4BC"/>
          </a:solidFill>
          <a:ln/>
        </p:spPr>
      </p:sp>
      <p:sp>
        <p:nvSpPr>
          <p:cNvPr id="81" name="Text 79"/>
          <p:cNvSpPr txBox="1"/>
          <p:nvPr/>
        </p:nvSpPr>
        <p:spPr>
          <a:xfrm>
            <a:off x="685800" y="4901184"/>
            <a:ext cx="868680" cy="18288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1000</a:t>
            </a:r>
            <a:endParaRPr lang="en-US" sz="900" dirty="0"/>
          </a:p>
        </p:txBody>
      </p:sp>
      <p:sp>
        <p:nvSpPr>
          <p:cNvPr id="82" name="Text 80"/>
          <p:cNvSpPr txBox="1"/>
          <p:nvPr/>
        </p:nvSpPr>
        <p:spPr>
          <a:xfrm>
            <a:off x="548640" y="6035040"/>
            <a:ext cx="114300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建物なし</a:t>
            </a:r>
            <a:endParaRPr lang="en-US" sz="850" dirty="0"/>
          </a:p>
        </p:txBody>
      </p:sp>
      <p:sp>
        <p:nvSpPr>
          <p:cNvPr id="83" name="Shape 81"/>
          <p:cNvSpPr/>
          <p:nvPr/>
        </p:nvSpPr>
        <p:spPr>
          <a:xfrm>
            <a:off x="1847088" y="5193792"/>
            <a:ext cx="868680" cy="822960"/>
          </a:xfrm>
          <a:prstGeom prst="rect">
            <a:avLst/>
          </a:prstGeom>
          <a:solidFill>
            <a:srgbClr val="E8934D"/>
          </a:solidFill>
          <a:ln/>
        </p:spPr>
      </p:sp>
      <p:sp>
        <p:nvSpPr>
          <p:cNvPr id="84" name="Text 82"/>
          <p:cNvSpPr txBox="1"/>
          <p:nvPr/>
        </p:nvSpPr>
        <p:spPr>
          <a:xfrm>
            <a:off x="1847088" y="4992624"/>
            <a:ext cx="868680" cy="18288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900</a:t>
            </a:r>
            <a:endParaRPr lang="en-US" sz="900" dirty="0"/>
          </a:p>
        </p:txBody>
      </p:sp>
      <p:sp>
        <p:nvSpPr>
          <p:cNvPr id="85" name="Text 83"/>
          <p:cNvSpPr txBox="1"/>
          <p:nvPr/>
        </p:nvSpPr>
        <p:spPr>
          <a:xfrm>
            <a:off x="1709928" y="6035040"/>
            <a:ext cx="114300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東だけ</a:t>
            </a:r>
            <a:endParaRPr lang="en-US" sz="850" dirty="0"/>
          </a:p>
        </p:txBody>
      </p:sp>
      <p:sp>
        <p:nvSpPr>
          <p:cNvPr id="86" name="Shape 84"/>
          <p:cNvSpPr/>
          <p:nvPr/>
        </p:nvSpPr>
        <p:spPr>
          <a:xfrm>
            <a:off x="3008376" y="5376672"/>
            <a:ext cx="868680" cy="640080"/>
          </a:xfrm>
          <a:prstGeom prst="rect">
            <a:avLst/>
          </a:prstGeom>
          <a:solidFill>
            <a:srgbClr val="1F6F78"/>
          </a:solidFill>
          <a:ln/>
        </p:spPr>
      </p:sp>
      <p:sp>
        <p:nvSpPr>
          <p:cNvPr id="87" name="Text 85"/>
          <p:cNvSpPr txBox="1"/>
          <p:nvPr/>
        </p:nvSpPr>
        <p:spPr>
          <a:xfrm>
            <a:off x="3008376" y="5175504"/>
            <a:ext cx="868680" cy="18288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700</a:t>
            </a:r>
            <a:endParaRPr lang="en-US" sz="900" dirty="0"/>
          </a:p>
        </p:txBody>
      </p:sp>
      <p:sp>
        <p:nvSpPr>
          <p:cNvPr id="88" name="Text 86"/>
          <p:cNvSpPr txBox="1"/>
          <p:nvPr/>
        </p:nvSpPr>
        <p:spPr>
          <a:xfrm>
            <a:off x="2871216" y="6035040"/>
            <a:ext cx="114300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南だけ</a:t>
            </a:r>
            <a:endParaRPr lang="en-US" sz="850" dirty="0"/>
          </a:p>
        </p:txBody>
      </p:sp>
      <p:sp>
        <p:nvSpPr>
          <p:cNvPr id="89" name="Shape 87"/>
          <p:cNvSpPr/>
          <p:nvPr/>
        </p:nvSpPr>
        <p:spPr>
          <a:xfrm>
            <a:off x="4169664" y="5468112"/>
            <a:ext cx="868680" cy="548640"/>
          </a:xfrm>
          <a:prstGeom prst="rect">
            <a:avLst/>
          </a:prstGeom>
          <a:solidFill>
            <a:srgbClr val="B04A3F"/>
          </a:solidFill>
          <a:ln/>
        </p:spPr>
      </p:sp>
      <p:sp>
        <p:nvSpPr>
          <p:cNvPr id="90" name="Text 88"/>
          <p:cNvSpPr txBox="1"/>
          <p:nvPr/>
        </p:nvSpPr>
        <p:spPr>
          <a:xfrm>
            <a:off x="4169664" y="5266944"/>
            <a:ext cx="868680" cy="18288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600</a:t>
            </a:r>
            <a:endParaRPr lang="en-US" sz="900" dirty="0"/>
          </a:p>
        </p:txBody>
      </p:sp>
      <p:sp>
        <p:nvSpPr>
          <p:cNvPr id="91" name="Text 89"/>
          <p:cNvSpPr txBox="1"/>
          <p:nvPr/>
        </p:nvSpPr>
        <p:spPr>
          <a:xfrm>
            <a:off x="4032504" y="6035040"/>
            <a:ext cx="114300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足し算</a:t>
            </a:r>
            <a:endParaRPr lang="en-US" sz="850" dirty="0"/>
          </a:p>
        </p:txBody>
      </p:sp>
      <p:sp>
        <p:nvSpPr>
          <p:cNvPr id="92" name="Shape 90"/>
          <p:cNvSpPr/>
          <p:nvPr/>
        </p:nvSpPr>
        <p:spPr>
          <a:xfrm>
            <a:off x="5330952" y="5431536"/>
            <a:ext cx="868680" cy="585216"/>
          </a:xfrm>
          <a:prstGeom prst="rect">
            <a:avLst/>
          </a:prstGeom>
          <a:solidFill>
            <a:srgbClr val="35507D"/>
          </a:solidFill>
          <a:ln/>
        </p:spPr>
      </p:sp>
      <p:sp>
        <p:nvSpPr>
          <p:cNvPr id="93" name="Text 91"/>
          <p:cNvSpPr txBox="1"/>
          <p:nvPr/>
        </p:nvSpPr>
        <p:spPr>
          <a:xfrm>
            <a:off x="5330952" y="5230368"/>
            <a:ext cx="868680" cy="18288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640</a:t>
            </a:r>
            <a:endParaRPr lang="en-US" sz="900" dirty="0"/>
          </a:p>
        </p:txBody>
      </p:sp>
      <p:sp>
        <p:nvSpPr>
          <p:cNvPr id="94" name="Text 92"/>
          <p:cNvSpPr txBox="1"/>
          <p:nvPr/>
        </p:nvSpPr>
        <p:spPr>
          <a:xfrm>
            <a:off x="5193792" y="6035040"/>
            <a:ext cx="114300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2棟同時</a:t>
            </a:r>
            <a:endParaRPr lang="en-US" sz="850" dirty="0"/>
          </a:p>
        </p:txBody>
      </p:sp>
      <p:sp>
        <p:nvSpPr>
          <p:cNvPr id="95" name="Shape 93"/>
          <p:cNvSpPr/>
          <p:nvPr/>
        </p:nvSpPr>
        <p:spPr>
          <a:xfrm>
            <a:off x="6675120" y="4526280"/>
            <a:ext cx="5074920" cy="1783080"/>
          </a:xfrm>
          <a:prstGeom prst="roundRect">
            <a:avLst>
              <a:gd name="adj" fmla="val 3077"/>
            </a:avLst>
          </a:prstGeom>
          <a:solidFill>
            <a:srgbClr val="1B2A44"/>
          </a:solidFill>
          <a:ln/>
        </p:spPr>
      </p:sp>
      <p:sp>
        <p:nvSpPr>
          <p:cNvPr id="96" name="Text 94"/>
          <p:cNvSpPr txBox="1"/>
          <p:nvPr/>
        </p:nvSpPr>
        <p:spPr>
          <a:xfrm>
            <a:off x="6858000" y="4572000"/>
            <a:ext cx="475488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なぜ影の重なりを考えるのか</a:t>
            </a:r>
            <a:endParaRPr lang="en-US" sz="1100" dirty="0"/>
          </a:p>
        </p:txBody>
      </p:sp>
      <p:sp>
        <p:nvSpPr>
          <p:cNvPr id="97" name="Text 95"/>
          <p:cNvSpPr txBox="1"/>
          <p:nvPr/>
        </p:nvSpPr>
        <p:spPr>
          <a:xfrm>
            <a:off x="6858000" y="4846320"/>
            <a:ext cx="4754880" cy="1417320"/>
          </a:xfrm>
          <a:prstGeom prst="rect">
            <a:avLst/>
          </a:prstGeom>
          <a:noFill/>
          <a:ln/>
        </p:spPr>
        <p:txBody>
          <a:bodyPr wrap="square" lIns="508" tIns="508" rIns="508" bIns="508" rtlCol="0" anchor="t"/>
          <a:lstStyle/>
          <a:p>
            <a:pPr marL="152400" indent="-152400">
              <a:spcAft>
                <a:spcPts val="300"/>
              </a:spcAft>
              <a:buSzPct val="100000"/>
              <a:buChar char="•"/>
            </a:pPr>
            <a:r>
              <a:rPr lang="en-US" sz="950" dirty="0">
                <a:solidFill>
                  <a:srgbClr val="FFFFFF"/>
                </a:solidFill>
                <a:latin typeface="Yu Gothic" pitchFamily="34" charset="0"/>
                <a:ea typeface="Yu Gothic" pitchFamily="34" charset="-122"/>
                <a:cs typeface="Yu Gothic" pitchFamily="34" charset="-120"/>
              </a:rPr>
              <a:t>足し算が正しいのは「2棟が別々の光を遮る」ときだけ → 重なりの大きさが、この方法を使えるかを決める</a:t>
            </a:r>
            <a:endParaRPr lang="en-US" sz="950" dirty="0"/>
          </a:p>
          <a:p>
            <a:pPr marL="152400" indent="-152400">
              <a:spcAft>
                <a:spcPts val="300"/>
              </a:spcAft>
              <a:buSzPct val="100000"/>
              <a:buChar char="•"/>
            </a:pPr>
            <a:r>
              <a:rPr lang="en-US" sz="950" dirty="0">
                <a:solidFill>
                  <a:srgbClr val="FFFFFF"/>
                </a:solidFill>
                <a:latin typeface="Yu Gothic" pitchFamily="34" charset="0"/>
                <a:ea typeface="Yu Gothic" pitchFamily="34" charset="-122"/>
                <a:cs typeface="Yu Gothic" pitchFamily="34" charset="-120"/>
              </a:rPr>
              <a:t>重なると減る量を引きすぎる → 日射量を低く予測（例：600 と 640）</a:t>
            </a:r>
            <a:endParaRPr lang="en-US" sz="950" dirty="0"/>
          </a:p>
          <a:p>
            <a:pPr marL="152400" indent="-152400">
              <a:spcAft>
                <a:spcPts val="300"/>
              </a:spcAft>
              <a:buSzPct val="100000"/>
              <a:buChar char="•"/>
            </a:pPr>
            <a:r>
              <a:rPr lang="en-US" sz="950" dirty="0">
                <a:solidFill>
                  <a:srgbClr val="FFFFFF"/>
                </a:solidFill>
                <a:latin typeface="Yu Gothic" pitchFamily="34" charset="0"/>
                <a:ea typeface="Yu Gothic" pitchFamily="34" charset="-122"/>
                <a:cs typeface="Yu Gothic" pitchFamily="34" charset="-120"/>
              </a:rPr>
              <a:t>SEBEは2棟を同時に置いて計算するので重なりが入る → 比べればずれが数値で分かる</a:t>
            </a:r>
            <a:endParaRPr lang="en-US" sz="95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足し算の方法を式で書く：3つのステップ（言葉 → 式 → 数値の順に読む）</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36</a:t>
            </a:r>
            <a:endParaRPr lang="en-US" sz="1100" dirty="0"/>
          </a:p>
        </p:txBody>
      </p:sp>
      <p:sp>
        <p:nvSpPr>
          <p:cNvPr id="9" name="Shape 7"/>
          <p:cNvSpPr/>
          <p:nvPr/>
        </p:nvSpPr>
        <p:spPr>
          <a:xfrm>
            <a:off x="457200" y="1060704"/>
            <a:ext cx="2331720" cy="329184"/>
          </a:xfrm>
          <a:prstGeom prst="homePlate">
            <a:avLst/>
          </a:prstGeom>
          <a:solidFill>
            <a:srgbClr val="F6D9C0"/>
          </a:solidFill>
          <a:ln/>
        </p:spPr>
      </p:sp>
      <p:sp>
        <p:nvSpPr>
          <p:cNvPr id="10" name="Text 8"/>
          <p:cNvSpPr txBox="1"/>
          <p:nvPr/>
        </p:nvSpPr>
        <p:spPr>
          <a:xfrm>
            <a:off x="548640"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① 全部を計算するのは無理</a:t>
            </a:r>
            <a:endParaRPr lang="en-US" sz="950" dirty="0"/>
          </a:p>
        </p:txBody>
      </p:sp>
      <p:sp>
        <p:nvSpPr>
          <p:cNvPr id="11" name="Shape 9"/>
          <p:cNvSpPr/>
          <p:nvPr/>
        </p:nvSpPr>
        <p:spPr>
          <a:xfrm>
            <a:off x="2715768" y="1060704"/>
            <a:ext cx="2331720" cy="329184"/>
          </a:xfrm>
          <a:prstGeom prst="chevron">
            <a:avLst/>
          </a:prstGeom>
          <a:solidFill>
            <a:srgbClr val="F6D9C0"/>
          </a:solidFill>
          <a:ln/>
        </p:spPr>
      </p:sp>
      <p:sp>
        <p:nvSpPr>
          <p:cNvPr id="12" name="Text 10"/>
          <p:cNvSpPr txBox="1"/>
          <p:nvPr/>
        </p:nvSpPr>
        <p:spPr>
          <a:xfrm>
            <a:off x="2916936"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② 1棟ずつの結果を足して埋める</a:t>
            </a:r>
            <a:endParaRPr lang="en-US" sz="950" dirty="0"/>
          </a:p>
        </p:txBody>
      </p:sp>
      <p:sp>
        <p:nvSpPr>
          <p:cNvPr id="13" name="Shape 11"/>
          <p:cNvSpPr/>
          <p:nvPr/>
        </p:nvSpPr>
        <p:spPr>
          <a:xfrm>
            <a:off x="4974336" y="1060704"/>
            <a:ext cx="2331720" cy="329184"/>
          </a:xfrm>
          <a:prstGeom prst="chevron">
            <a:avLst/>
          </a:prstGeom>
          <a:solidFill>
            <a:srgbClr val="F6D9C0"/>
          </a:solidFill>
          <a:ln/>
        </p:spPr>
      </p:sp>
      <p:sp>
        <p:nvSpPr>
          <p:cNvPr id="14" name="Text 12"/>
          <p:cNvSpPr txBox="1"/>
          <p:nvPr/>
        </p:nvSpPr>
        <p:spPr>
          <a:xfrm>
            <a:off x="5175504"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③ 足し算の弱点＝影の重なり</a:t>
            </a:r>
            <a:endParaRPr lang="en-US" sz="950" dirty="0"/>
          </a:p>
        </p:txBody>
      </p:sp>
      <p:sp>
        <p:nvSpPr>
          <p:cNvPr id="15" name="Shape 13"/>
          <p:cNvSpPr/>
          <p:nvPr/>
        </p:nvSpPr>
        <p:spPr>
          <a:xfrm>
            <a:off x="7232904" y="1060704"/>
            <a:ext cx="2331720" cy="329184"/>
          </a:xfrm>
          <a:prstGeom prst="chevron">
            <a:avLst/>
          </a:prstGeom>
          <a:solidFill>
            <a:srgbClr val="E8934D"/>
          </a:solidFill>
          <a:ln/>
        </p:spPr>
      </p:sp>
      <p:sp>
        <p:nvSpPr>
          <p:cNvPr id="16" name="Text 14"/>
          <p:cNvSpPr txBox="1"/>
          <p:nvPr/>
        </p:nvSpPr>
        <p:spPr>
          <a:xfrm>
            <a:off x="7434072" y="1060704"/>
            <a:ext cx="20116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④ 足し算を式で書く</a:t>
            </a:r>
            <a:endParaRPr lang="en-US" sz="950" dirty="0"/>
          </a:p>
        </p:txBody>
      </p:sp>
      <p:sp>
        <p:nvSpPr>
          <p:cNvPr id="17" name="Shape 15"/>
          <p:cNvSpPr/>
          <p:nvPr/>
        </p:nvSpPr>
        <p:spPr>
          <a:xfrm>
            <a:off x="9491472" y="1060704"/>
            <a:ext cx="2331720" cy="329184"/>
          </a:xfrm>
          <a:prstGeom prst="chevron">
            <a:avLst/>
          </a:prstGeom>
          <a:solidFill>
            <a:srgbClr val="EAEEF2"/>
          </a:solidFill>
          <a:ln/>
        </p:spPr>
      </p:sp>
      <p:sp>
        <p:nvSpPr>
          <p:cNvPr id="18" name="Text 16"/>
          <p:cNvSpPr txBox="1"/>
          <p:nvPr/>
        </p:nvSpPr>
        <p:spPr>
          <a:xfrm>
            <a:off x="9692640" y="1060704"/>
            <a:ext cx="2011680" cy="329184"/>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⑤ 来週SEBEで確かめる</a:t>
            </a:r>
            <a:endParaRPr lang="en-US" sz="950" dirty="0"/>
          </a:p>
        </p:txBody>
      </p:sp>
      <p:sp>
        <p:nvSpPr>
          <p:cNvPr id="19" name="Shape 17"/>
          <p:cNvSpPr/>
          <p:nvPr/>
        </p:nvSpPr>
        <p:spPr>
          <a:xfrm>
            <a:off x="457200" y="1554480"/>
            <a:ext cx="3639312" cy="3246120"/>
          </a:xfrm>
          <a:prstGeom prst="roundRect">
            <a:avLst>
              <a:gd name="adj" fmla="val 1690"/>
            </a:avLst>
          </a:prstGeom>
          <a:solidFill>
            <a:srgbClr val="F3F5F8"/>
          </a:solidFill>
          <a:ln/>
        </p:spPr>
      </p:sp>
      <p:sp>
        <p:nvSpPr>
          <p:cNvPr id="20" name="Shape 18"/>
          <p:cNvSpPr/>
          <p:nvPr/>
        </p:nvSpPr>
        <p:spPr>
          <a:xfrm>
            <a:off x="594360" y="1664208"/>
            <a:ext cx="329184" cy="329184"/>
          </a:xfrm>
          <a:prstGeom prst="ellipse">
            <a:avLst/>
          </a:prstGeom>
          <a:solidFill>
            <a:srgbClr val="E8934D"/>
          </a:solidFill>
          <a:ln/>
        </p:spPr>
      </p:sp>
      <p:sp>
        <p:nvSpPr>
          <p:cNvPr id="21" name="Text 19"/>
          <p:cNvSpPr txBox="1"/>
          <p:nvPr/>
        </p:nvSpPr>
        <p:spPr>
          <a:xfrm>
            <a:off x="594360"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22" name="Text 20"/>
          <p:cNvSpPr txBox="1"/>
          <p:nvPr/>
        </p:nvSpPr>
        <p:spPr>
          <a:xfrm>
            <a:off x="1005840" y="1627632"/>
            <a:ext cx="2999232"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1棟で「減る量」を出す</a:t>
            </a:r>
            <a:endParaRPr lang="en-US" sz="1200" dirty="0"/>
          </a:p>
        </p:txBody>
      </p:sp>
      <p:sp>
        <p:nvSpPr>
          <p:cNvPr id="23" name="Text 21"/>
          <p:cNvSpPr txBox="1"/>
          <p:nvPr/>
        </p:nvSpPr>
        <p:spPr>
          <a:xfrm>
            <a:off x="1005840" y="1883664"/>
            <a:ext cx="2999232"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SEBEの結果から</a:t>
            </a:r>
            <a:endParaRPr lang="en-US" sz="850" dirty="0"/>
          </a:p>
        </p:txBody>
      </p:sp>
      <p:sp>
        <p:nvSpPr>
          <p:cNvPr id="24" name="Text 22"/>
          <p:cNvSpPr txBox="1"/>
          <p:nvPr/>
        </p:nvSpPr>
        <p:spPr>
          <a:xfrm>
            <a:off x="594360" y="2157984"/>
            <a:ext cx="3364992" cy="731520"/>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言葉</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減る量 ＝ 建物なしの値 − その建物だけ置いた値</a:t>
            </a:r>
            <a:endParaRPr lang="en-US" sz="950" dirty="0"/>
          </a:p>
        </p:txBody>
      </p:sp>
      <p:sp>
        <p:nvSpPr>
          <p:cNvPr id="25" name="Shape 23"/>
          <p:cNvSpPr/>
          <p:nvPr/>
        </p:nvSpPr>
        <p:spPr>
          <a:xfrm>
            <a:off x="594360" y="2926080"/>
            <a:ext cx="3364992" cy="502920"/>
          </a:xfrm>
          <a:prstGeom prst="roundRect">
            <a:avLst>
              <a:gd name="adj" fmla="val 9091"/>
            </a:avLst>
          </a:prstGeom>
          <a:solidFill>
            <a:srgbClr val="1B2A44"/>
          </a:solidFill>
          <a:ln/>
        </p:spPr>
      </p:sp>
      <p:sp>
        <p:nvSpPr>
          <p:cNvPr id="26" name="Text 24"/>
          <p:cNvSpPr txBox="1"/>
          <p:nvPr/>
        </p:nvSpPr>
        <p:spPr>
          <a:xfrm>
            <a:off x="640080" y="2926080"/>
            <a:ext cx="3273552"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ΔY</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(i)</a:t>
            </a:r>
            <a:pPr algn="ctr" indent="0" marL="0">
              <a:buNone/>
            </a:pPr>
            <a:r>
              <a:rPr lang="en-US" sz="1200" b="1" dirty="0">
                <a:solidFill>
                  <a:srgbClr val="FFFFFF"/>
                </a:solidFill>
                <a:latin typeface="Yu Gothic" pitchFamily="34" charset="0"/>
                <a:ea typeface="Yu Gothic" pitchFamily="34" charset="-122"/>
                <a:cs typeface="Yu Gothic" pitchFamily="34" charset="-120"/>
              </a:rPr>
              <a:t> ＝ Y</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0</a:t>
            </a:r>
            <a:pPr algn="ctr" indent="0" marL="0">
              <a:buNone/>
            </a:pPr>
            <a:r>
              <a:rPr lang="en-US" sz="1200" b="1" dirty="0">
                <a:solidFill>
                  <a:srgbClr val="FFFFFF"/>
                </a:solidFill>
                <a:latin typeface="Yu Gothic" pitchFamily="34" charset="0"/>
                <a:ea typeface="Yu Gothic" pitchFamily="34" charset="-122"/>
                <a:cs typeface="Yu Gothic" pitchFamily="34" charset="-120"/>
              </a:rPr>
              <a:t> − Y</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(i)</a:t>
            </a:r>
            <a:endParaRPr lang="en-US" sz="1200" dirty="0"/>
          </a:p>
        </p:txBody>
      </p:sp>
      <p:sp>
        <p:nvSpPr>
          <p:cNvPr id="27" name="Text 25"/>
          <p:cNvSpPr txBox="1"/>
          <p:nvPr/>
        </p:nvSpPr>
        <p:spPr>
          <a:xfrm>
            <a:off x="594360" y="3493008"/>
            <a:ext cx="3364992" cy="82296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数値（説明用）</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ΔY</a:t>
            </a:r>
            <a:pPr indent="0" marL="0">
              <a:buNone/>
            </a:pPr>
            <a:r>
              <a:rPr lang="en-US" sz="1000" b="1" baseline="30000" dirty="0">
                <a:solidFill>
                  <a:srgbClr val="1B2A44"/>
                </a:solidFill>
                <a:latin typeface="Yu Gothic" pitchFamily="34" charset="0"/>
                <a:ea typeface="Yu Gothic" pitchFamily="34" charset="-122"/>
                <a:cs typeface="Yu Gothic" pitchFamily="34" charset="-120"/>
              </a:rPr>
              <a:t>(南)</a:t>
            </a:r>
            <a:pPr indent="0" marL="0">
              <a:buNone/>
            </a:pPr>
            <a:r>
              <a:rPr lang="en-US" sz="1000" b="1" dirty="0">
                <a:solidFill>
                  <a:srgbClr val="1B2A44"/>
                </a:solidFill>
                <a:latin typeface="Yu Gothic" pitchFamily="34" charset="0"/>
                <a:ea typeface="Yu Gothic" pitchFamily="34" charset="-122"/>
                <a:cs typeface="Yu Gothic" pitchFamily="34" charset="-120"/>
              </a:rPr>
              <a:t> ＝ 1000 − 700 ＝ 300</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ΔY</a:t>
            </a:r>
            <a:pPr indent="0" marL="0">
              <a:buNone/>
            </a:pPr>
            <a:r>
              <a:rPr lang="en-US" sz="1000" b="1" baseline="30000" dirty="0">
                <a:solidFill>
                  <a:srgbClr val="1B2A44"/>
                </a:solidFill>
                <a:latin typeface="Yu Gothic" pitchFamily="34" charset="0"/>
                <a:ea typeface="Yu Gothic" pitchFamily="34" charset="-122"/>
                <a:cs typeface="Yu Gothic" pitchFamily="34" charset="-120"/>
              </a:rPr>
              <a:t>(東)</a:t>
            </a:r>
            <a:pPr indent="0" marL="0">
              <a:buNone/>
            </a:pPr>
            <a:r>
              <a:rPr lang="en-US" sz="1000" b="1" dirty="0">
                <a:solidFill>
                  <a:srgbClr val="1B2A44"/>
                </a:solidFill>
                <a:latin typeface="Yu Gothic" pitchFamily="34" charset="0"/>
                <a:ea typeface="Yu Gothic" pitchFamily="34" charset="-122"/>
                <a:cs typeface="Yu Gothic" pitchFamily="34" charset="-120"/>
              </a:rPr>
              <a:t> ＝ 1000 − 900 ＝ 100</a:t>
            </a:r>
            <a:endParaRPr lang="en-US" sz="1000" dirty="0"/>
          </a:p>
        </p:txBody>
      </p:sp>
      <p:sp>
        <p:nvSpPr>
          <p:cNvPr id="28" name="Text 26"/>
          <p:cNvSpPr txBox="1"/>
          <p:nvPr/>
        </p:nvSpPr>
        <p:spPr>
          <a:xfrm>
            <a:off x="594360" y="4343400"/>
            <a:ext cx="3364992"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格子点（計算した配置）ごとに求めておく</a:t>
            </a:r>
            <a:endParaRPr lang="en-US" sz="850" dirty="0"/>
          </a:p>
        </p:txBody>
      </p:sp>
      <p:sp>
        <p:nvSpPr>
          <p:cNvPr id="29" name="Shape 27"/>
          <p:cNvSpPr/>
          <p:nvPr/>
        </p:nvSpPr>
        <p:spPr>
          <a:xfrm>
            <a:off x="4078224" y="3035808"/>
            <a:ext cx="201168" cy="274320"/>
          </a:xfrm>
          <a:prstGeom prst="rightArrow">
            <a:avLst/>
          </a:prstGeom>
          <a:solidFill>
            <a:srgbClr val="E8934D"/>
          </a:solidFill>
          <a:ln/>
        </p:spPr>
      </p:sp>
      <p:sp>
        <p:nvSpPr>
          <p:cNvPr id="30" name="Shape 28"/>
          <p:cNvSpPr/>
          <p:nvPr/>
        </p:nvSpPr>
        <p:spPr>
          <a:xfrm>
            <a:off x="4279392" y="1554480"/>
            <a:ext cx="3639312" cy="3246120"/>
          </a:xfrm>
          <a:prstGeom prst="roundRect">
            <a:avLst>
              <a:gd name="adj" fmla="val 1690"/>
            </a:avLst>
          </a:prstGeom>
          <a:solidFill>
            <a:srgbClr val="F3F5F8"/>
          </a:solidFill>
          <a:ln/>
        </p:spPr>
      </p:sp>
      <p:sp>
        <p:nvSpPr>
          <p:cNvPr id="31" name="Shape 29"/>
          <p:cNvSpPr/>
          <p:nvPr/>
        </p:nvSpPr>
        <p:spPr>
          <a:xfrm>
            <a:off x="4416552" y="1664208"/>
            <a:ext cx="329184" cy="329184"/>
          </a:xfrm>
          <a:prstGeom prst="ellipse">
            <a:avLst/>
          </a:prstGeom>
          <a:solidFill>
            <a:srgbClr val="E8934D"/>
          </a:solidFill>
          <a:ln/>
        </p:spPr>
      </p:sp>
      <p:sp>
        <p:nvSpPr>
          <p:cNvPr id="32" name="Text 30"/>
          <p:cNvSpPr txBox="1"/>
          <p:nvPr/>
        </p:nvSpPr>
        <p:spPr>
          <a:xfrm>
            <a:off x="4416552"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33" name="Text 31"/>
          <p:cNvSpPr txBox="1"/>
          <p:nvPr/>
        </p:nvSpPr>
        <p:spPr>
          <a:xfrm>
            <a:off x="4828032" y="1627632"/>
            <a:ext cx="2999232"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格子の間は、南と同じ補間</a:t>
            </a:r>
            <a:endParaRPr lang="en-US" sz="1200" dirty="0"/>
          </a:p>
        </p:txBody>
      </p:sp>
      <p:sp>
        <p:nvSpPr>
          <p:cNvPr id="34" name="Text 32"/>
          <p:cNvSpPr txBox="1"/>
          <p:nvPr/>
        </p:nvSpPr>
        <p:spPr>
          <a:xfrm>
            <a:off x="4828032" y="1883664"/>
            <a:ext cx="2999232"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今のツールと同じ計算</a:t>
            </a:r>
            <a:endParaRPr lang="en-US" sz="850" dirty="0"/>
          </a:p>
        </p:txBody>
      </p:sp>
      <p:sp>
        <p:nvSpPr>
          <p:cNvPr id="35" name="Text 33"/>
          <p:cNvSpPr txBox="1"/>
          <p:nvPr/>
        </p:nvSpPr>
        <p:spPr>
          <a:xfrm>
            <a:off x="4416552" y="2157984"/>
            <a:ext cx="3364992" cy="731520"/>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言葉</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入力が格子点でないときは、囲む4配置の「減る量」を重みで混ぜる</a:t>
            </a:r>
            <a:endParaRPr lang="en-US" sz="950" dirty="0"/>
          </a:p>
        </p:txBody>
      </p:sp>
      <p:sp>
        <p:nvSpPr>
          <p:cNvPr id="36" name="Shape 34"/>
          <p:cNvSpPr/>
          <p:nvPr/>
        </p:nvSpPr>
        <p:spPr>
          <a:xfrm>
            <a:off x="4416552" y="2926080"/>
            <a:ext cx="3364992" cy="502920"/>
          </a:xfrm>
          <a:prstGeom prst="roundRect">
            <a:avLst>
              <a:gd name="adj" fmla="val 9091"/>
            </a:avLst>
          </a:prstGeom>
          <a:solidFill>
            <a:srgbClr val="1B2A44"/>
          </a:solidFill>
          <a:ln/>
        </p:spPr>
      </p:sp>
      <p:sp>
        <p:nvSpPr>
          <p:cNvPr id="37" name="Text 35"/>
          <p:cNvSpPr txBox="1"/>
          <p:nvPr/>
        </p:nvSpPr>
        <p:spPr>
          <a:xfrm>
            <a:off x="4462272" y="2926080"/>
            <a:ext cx="3273552"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ΔŶ</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(i)</a:t>
            </a:r>
            <a:pPr algn="ctr" indent="0" marL="0">
              <a:buNone/>
            </a:pPr>
            <a:r>
              <a:rPr lang="en-US" sz="1200" b="1" dirty="0">
                <a:solidFill>
                  <a:srgbClr val="FFFFFF"/>
                </a:solidFill>
                <a:latin typeface="Yu Gothic" pitchFamily="34" charset="0"/>
                <a:ea typeface="Yu Gothic" pitchFamily="34" charset="-122"/>
                <a:cs typeface="Yu Gothic" pitchFamily="34" charset="-120"/>
              </a:rPr>
              <a:t> ＝ Σ</a:t>
            </a:r>
            <a:pPr algn="ctr" indent="0" marL="0">
              <a:buNone/>
            </a:pPr>
            <a:r>
              <a:rPr lang="en-US" sz="1200" b="1" baseline="-40000" dirty="0">
                <a:solidFill>
                  <a:srgbClr val="FFFFFF"/>
                </a:solidFill>
                <a:latin typeface="Yu Gothic" pitchFamily="34" charset="0"/>
                <a:ea typeface="Yu Gothic" pitchFamily="34" charset="-122"/>
                <a:cs typeface="Yu Gothic" pitchFamily="34" charset="-120"/>
              </a:rPr>
              <a:t>c=1</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4</a:t>
            </a:r>
            <a:pPr algn="ctr" indent="0" marL="0">
              <a:buNone/>
            </a:pPr>
            <a:r>
              <a:rPr lang="en-US" sz="1200" b="1" dirty="0">
                <a:solidFill>
                  <a:srgbClr val="FFFFFF"/>
                </a:solidFill>
                <a:latin typeface="Yu Gothic" pitchFamily="34" charset="0"/>
                <a:ea typeface="Yu Gothic" pitchFamily="34" charset="-122"/>
                <a:cs typeface="Yu Gothic" pitchFamily="34" charset="-120"/>
              </a:rPr>
              <a:t> w</a:t>
            </a:r>
            <a:pPr algn="ctr" indent="0" marL="0">
              <a:buNone/>
            </a:pPr>
            <a:r>
              <a:rPr lang="en-US" sz="12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200" b="1" dirty="0">
                <a:solidFill>
                  <a:srgbClr val="FFFFFF"/>
                </a:solidFill>
                <a:latin typeface="Yu Gothic" pitchFamily="34" charset="0"/>
                <a:ea typeface="Yu Gothic" pitchFamily="34" charset="-122"/>
                <a:cs typeface="Yu Gothic" pitchFamily="34" charset="-120"/>
              </a:rPr>
              <a:t> × ΔY</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(i)</a:t>
            </a:r>
            <a:pPr algn="ctr" indent="0" marL="0">
              <a:buNone/>
            </a:pPr>
            <a:r>
              <a:rPr lang="en-US" sz="1200" b="1" dirty="0">
                <a:solidFill>
                  <a:srgbClr val="FFFFFF"/>
                </a:solidFill>
                <a:latin typeface="Yu Gothic" pitchFamily="34" charset="0"/>
                <a:ea typeface="Yu Gothic" pitchFamily="34" charset="-122"/>
                <a:cs typeface="Yu Gothic" pitchFamily="34" charset="-120"/>
              </a:rPr>
              <a:t>(隅c)</a:t>
            </a:r>
            <a:endParaRPr lang="en-US" sz="1200" dirty="0"/>
          </a:p>
        </p:txBody>
      </p:sp>
      <p:sp>
        <p:nvSpPr>
          <p:cNvPr id="38" name="Text 36"/>
          <p:cNvSpPr txBox="1"/>
          <p:nvPr/>
        </p:nvSpPr>
        <p:spPr>
          <a:xfrm>
            <a:off x="4416552" y="3493008"/>
            <a:ext cx="3364992" cy="82296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数値（説明用）</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東 A＝40m・D＝30m → u＝0.6，v＝0.2</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重み 0.32，0.48，0.08，0.12（合計1）</a:t>
            </a:r>
            <a:endParaRPr lang="en-US" sz="1000" dirty="0"/>
          </a:p>
        </p:txBody>
      </p:sp>
      <p:sp>
        <p:nvSpPr>
          <p:cNvPr id="39" name="Text 37"/>
          <p:cNvSpPr txBox="1"/>
          <p:nvPr/>
        </p:nvSpPr>
        <p:spPr>
          <a:xfrm>
            <a:off x="4416552" y="4343400"/>
            <a:ext cx="3364992"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重みの求め方は補間の計算（p.22）と同じ</a:t>
            </a:r>
            <a:endParaRPr lang="en-US" sz="850" dirty="0"/>
          </a:p>
        </p:txBody>
      </p:sp>
      <p:sp>
        <p:nvSpPr>
          <p:cNvPr id="40" name="Shape 38"/>
          <p:cNvSpPr/>
          <p:nvPr/>
        </p:nvSpPr>
        <p:spPr>
          <a:xfrm>
            <a:off x="7900416" y="3035808"/>
            <a:ext cx="201168" cy="274320"/>
          </a:xfrm>
          <a:prstGeom prst="rightArrow">
            <a:avLst/>
          </a:prstGeom>
          <a:solidFill>
            <a:srgbClr val="E8934D"/>
          </a:solidFill>
          <a:ln/>
        </p:spPr>
      </p:sp>
      <p:sp>
        <p:nvSpPr>
          <p:cNvPr id="41" name="Shape 39"/>
          <p:cNvSpPr/>
          <p:nvPr/>
        </p:nvSpPr>
        <p:spPr>
          <a:xfrm>
            <a:off x="8101584" y="1554480"/>
            <a:ext cx="3639312" cy="3246120"/>
          </a:xfrm>
          <a:prstGeom prst="roundRect">
            <a:avLst>
              <a:gd name="adj" fmla="val 1690"/>
            </a:avLst>
          </a:prstGeom>
          <a:solidFill>
            <a:srgbClr val="F3F5F8"/>
          </a:solidFill>
          <a:ln/>
        </p:spPr>
      </p:sp>
      <p:sp>
        <p:nvSpPr>
          <p:cNvPr id="42" name="Shape 40"/>
          <p:cNvSpPr/>
          <p:nvPr/>
        </p:nvSpPr>
        <p:spPr>
          <a:xfrm>
            <a:off x="8238744" y="1664208"/>
            <a:ext cx="329184" cy="329184"/>
          </a:xfrm>
          <a:prstGeom prst="ellipse">
            <a:avLst/>
          </a:prstGeom>
          <a:solidFill>
            <a:srgbClr val="E8934D"/>
          </a:solidFill>
          <a:ln/>
        </p:spPr>
      </p:sp>
      <p:sp>
        <p:nvSpPr>
          <p:cNvPr id="43" name="Text 41"/>
          <p:cNvSpPr txBox="1"/>
          <p:nvPr/>
        </p:nvSpPr>
        <p:spPr>
          <a:xfrm>
            <a:off x="8238744"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44" name="Text 42"/>
          <p:cNvSpPr txBox="1"/>
          <p:nvPr/>
        </p:nvSpPr>
        <p:spPr>
          <a:xfrm>
            <a:off x="8650224" y="1627632"/>
            <a:ext cx="2999232"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有る建物の分だけ引く</a:t>
            </a:r>
            <a:endParaRPr lang="en-US" sz="1200" dirty="0"/>
          </a:p>
        </p:txBody>
      </p:sp>
      <p:sp>
        <p:nvSpPr>
          <p:cNvPr id="45" name="Text 43"/>
          <p:cNvSpPr txBox="1"/>
          <p:nvPr/>
        </p:nvSpPr>
        <p:spPr>
          <a:xfrm>
            <a:off x="8650224" y="1883664"/>
            <a:ext cx="2999232"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s を掛けて合計</a:t>
            </a:r>
            <a:endParaRPr lang="en-US" sz="850" dirty="0"/>
          </a:p>
        </p:txBody>
      </p:sp>
      <p:sp>
        <p:nvSpPr>
          <p:cNvPr id="46" name="Text 44"/>
          <p:cNvSpPr txBox="1"/>
          <p:nvPr/>
        </p:nvSpPr>
        <p:spPr>
          <a:xfrm>
            <a:off x="8238744" y="2157984"/>
            <a:ext cx="3364992" cy="731520"/>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言葉</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予測 ＝ 建物なしの値 − 有る建物の減る量の合計</a:t>
            </a:r>
            <a:endParaRPr lang="en-US" sz="950" dirty="0"/>
          </a:p>
        </p:txBody>
      </p:sp>
      <p:sp>
        <p:nvSpPr>
          <p:cNvPr id="47" name="Shape 45"/>
          <p:cNvSpPr/>
          <p:nvPr/>
        </p:nvSpPr>
        <p:spPr>
          <a:xfrm>
            <a:off x="8238744" y="2926080"/>
            <a:ext cx="3364992" cy="502920"/>
          </a:xfrm>
          <a:prstGeom prst="roundRect">
            <a:avLst>
              <a:gd name="adj" fmla="val 9091"/>
            </a:avLst>
          </a:prstGeom>
          <a:solidFill>
            <a:srgbClr val="1B2A44"/>
          </a:solidFill>
          <a:ln/>
        </p:spPr>
      </p:sp>
      <p:sp>
        <p:nvSpPr>
          <p:cNvPr id="48" name="Text 46"/>
          <p:cNvSpPr txBox="1"/>
          <p:nvPr/>
        </p:nvSpPr>
        <p:spPr>
          <a:xfrm>
            <a:off x="8284464" y="2926080"/>
            <a:ext cx="3273552"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Ŷ ＝ Y</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0</a:t>
            </a:r>
            <a:pPr algn="ctr" indent="0" marL="0">
              <a:buNone/>
            </a:pPr>
            <a:r>
              <a:rPr lang="en-US" sz="1200" b="1" dirty="0">
                <a:solidFill>
                  <a:srgbClr val="FFFFFF"/>
                </a:solidFill>
                <a:latin typeface="Yu Gothic" pitchFamily="34" charset="0"/>
                <a:ea typeface="Yu Gothic" pitchFamily="34" charset="-122"/>
                <a:cs typeface="Yu Gothic" pitchFamily="34" charset="-120"/>
              </a:rPr>
              <a:t> − Σ</a:t>
            </a:r>
            <a:pPr algn="ctr" indent="0" marL="0">
              <a:buNone/>
            </a:pPr>
            <a:r>
              <a:rPr lang="en-US" sz="1200" b="1" baseline="-40000" dirty="0">
                <a:solidFill>
                  <a:srgbClr val="FFFFFF"/>
                </a:solidFill>
                <a:latin typeface="Yu Gothic" pitchFamily="34" charset="0"/>
                <a:ea typeface="Yu Gothic" pitchFamily="34" charset="-122"/>
                <a:cs typeface="Yu Gothic" pitchFamily="34" charset="-120"/>
              </a:rPr>
              <a:t>i</a:t>
            </a:r>
            <a:pPr algn="ctr" indent="0" marL="0">
              <a:buNone/>
            </a:pPr>
            <a:r>
              <a:rPr lang="en-US" sz="1200" b="1" dirty="0">
                <a:solidFill>
                  <a:srgbClr val="FFFFFF"/>
                </a:solidFill>
                <a:latin typeface="Yu Gothic" pitchFamily="34" charset="0"/>
                <a:ea typeface="Yu Gothic" pitchFamily="34" charset="-122"/>
                <a:cs typeface="Yu Gothic" pitchFamily="34" charset="-120"/>
              </a:rPr>
              <a:t> s</a:t>
            </a:r>
            <a:pPr algn="ctr" indent="0" marL="0">
              <a:buNone/>
            </a:pPr>
            <a:r>
              <a:rPr lang="en-US" sz="1200" b="1" baseline="-40000" dirty="0">
                <a:solidFill>
                  <a:srgbClr val="FFFFFF"/>
                </a:solidFill>
                <a:latin typeface="Yu Gothic" pitchFamily="34" charset="0"/>
                <a:ea typeface="Yu Gothic" pitchFamily="34" charset="-122"/>
                <a:cs typeface="Yu Gothic" pitchFamily="34" charset="-120"/>
              </a:rPr>
              <a:t>i</a:t>
            </a:r>
            <a:pPr algn="ctr" indent="0" marL="0">
              <a:buNone/>
            </a:pPr>
            <a:r>
              <a:rPr lang="en-US" sz="1200" b="1" dirty="0">
                <a:solidFill>
                  <a:srgbClr val="FFFFFF"/>
                </a:solidFill>
                <a:latin typeface="Yu Gothic" pitchFamily="34" charset="0"/>
                <a:ea typeface="Yu Gothic" pitchFamily="34" charset="-122"/>
                <a:cs typeface="Yu Gothic" pitchFamily="34" charset="-120"/>
              </a:rPr>
              <a:t> × ΔŶ</a:t>
            </a:r>
            <a:pPr algn="ctr" indent="0" marL="0">
              <a:buNone/>
            </a:pPr>
            <a:r>
              <a:rPr lang="en-US" sz="1200" b="1" baseline="30000" dirty="0">
                <a:solidFill>
                  <a:srgbClr val="FFFFFF"/>
                </a:solidFill>
                <a:latin typeface="Yu Gothic" pitchFamily="34" charset="0"/>
                <a:ea typeface="Yu Gothic" pitchFamily="34" charset="-122"/>
                <a:cs typeface="Yu Gothic" pitchFamily="34" charset="-120"/>
              </a:rPr>
              <a:t>(i)</a:t>
            </a:r>
            <a:endParaRPr lang="en-US" sz="1200" dirty="0"/>
          </a:p>
        </p:txBody>
      </p:sp>
      <p:sp>
        <p:nvSpPr>
          <p:cNvPr id="49" name="Text 47"/>
          <p:cNvSpPr txBox="1"/>
          <p:nvPr/>
        </p:nvSpPr>
        <p:spPr>
          <a:xfrm>
            <a:off x="8238744" y="3493008"/>
            <a:ext cx="3364992" cy="82296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数値（説明用）</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1000 − 0×北 − 1×100 − 1×300 − 0×西</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 600</a:t>
            </a:r>
            <a:endParaRPr lang="en-US" sz="1000" dirty="0"/>
          </a:p>
        </p:txBody>
      </p:sp>
      <p:sp>
        <p:nvSpPr>
          <p:cNvPr id="50" name="Text 48"/>
          <p:cNvSpPr txBox="1"/>
          <p:nvPr/>
        </p:nvSpPr>
        <p:spPr>
          <a:xfrm>
            <a:off x="8238744" y="4343400"/>
            <a:ext cx="3364992"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i は 北・東・南・西。無い建物は s＝0 で消える</a:t>
            </a:r>
            <a:endParaRPr lang="en-US" sz="850" dirty="0"/>
          </a:p>
        </p:txBody>
      </p:sp>
      <p:sp>
        <p:nvSpPr>
          <p:cNvPr id="51" name="Text 49"/>
          <p:cNvSpPr txBox="1"/>
          <p:nvPr/>
        </p:nvSpPr>
        <p:spPr>
          <a:xfrm>
            <a:off x="457200" y="4919472"/>
            <a:ext cx="2743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記号の意味</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193792"/>
          <a:ext cx="6949440" cy="914400"/>
        </p:xfrm>
        <a:graphic>
          <a:graphicData uri="http://schemas.openxmlformats.org/drawingml/2006/table">
            <a:tbl>
              <a:tblPr/>
              <a:tblGrid>
                <a:gridCol w="1097280"/>
                <a:gridCol w="3474720"/>
                <a:gridCol w="2377440"/>
              </a:tblGrid>
              <a:tr h="219456">
                <a:tc>
                  <a:txBody>
                    <a:bodyPr/>
                    <a:lstStyle/>
                    <a:p>
                      <a:pPr algn="l" indent="0" marL="0">
                        <a:buNone/>
                      </a:pPr>
                      <a:r>
                        <a:rPr lang="en-US" sz="850" b="1" dirty="0">
                          <a:solidFill>
                            <a:srgbClr val="FFFFFF"/>
                          </a:solidFill>
                          <a:latin typeface="Yu Gothic" pitchFamily="34" charset="0"/>
                          <a:ea typeface="Yu Gothic" pitchFamily="34" charset="-122"/>
                          <a:cs typeface="Yu Gothic" pitchFamily="34" charset="-120"/>
                        </a:rPr>
                        <a:t>記号</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意味</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どこから来るか</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19456">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Y</a:t>
                      </a:r>
                      <a:pPr algn="l" indent="0" marL="0">
                        <a:buNone/>
                      </a:pPr>
                      <a:r>
                        <a:rPr lang="en-US" sz="900" b="1" baseline="30000" dirty="0">
                          <a:solidFill>
                            <a:srgbClr val="1B2A44"/>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周りに建物がないときの日射量</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SEBE（1配置）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Y</a:t>
                      </a:r>
                      <a:pPr algn="l" indent="0" marL="0">
                        <a:buNone/>
                      </a:pPr>
                      <a:r>
                        <a:rPr lang="en-US" sz="900" b="1" baseline="30000" dirty="0">
                          <a:solidFill>
                            <a:srgbClr val="1B2A44"/>
                          </a:solidFill>
                          <a:latin typeface="Yu Gothic" pitchFamily="34" charset="0"/>
                          <a:ea typeface="Yu Gothic" pitchFamily="34" charset="-122"/>
                          <a:cs typeface="Yu Gothic" pitchFamily="34" charset="-120"/>
                        </a:rPr>
                        <a:t>(i)</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方向 i に1棟だけ置いたときの日射量</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SEBE（各方向16配置）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19456">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ΔY，ΔŶ</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その建物で減る量（Ŷ は補間した値）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①・②で計算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19456">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a:t>
                      </a:r>
                      <a:pPr algn="l" indent="0" marL="0">
                        <a:buNone/>
                      </a:pPr>
                      <a:r>
                        <a:rPr lang="en-US" sz="90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900" b="1" dirty="0">
                          <a:solidFill>
                            <a:srgbClr val="1B2A44"/>
                          </a:solidFill>
                          <a:latin typeface="Yu Gothic" pitchFamily="34" charset="0"/>
                          <a:ea typeface="Yu Gothic" pitchFamily="34" charset="-122"/>
                          <a:cs typeface="Yu Gothic" pitchFamily="34" charset="-120"/>
                        </a:rPr>
                        <a:t>，s</a:t>
                      </a:r>
                      <a:pPr algn="l" indent="0" marL="0">
                        <a:buNone/>
                      </a:pPr>
                      <a:r>
                        <a:rPr lang="en-US" sz="900" b="1" baseline="-40000" dirty="0">
                          <a:solidFill>
                            <a:srgbClr val="1B2A44"/>
                          </a:solidFill>
                          <a:latin typeface="Yu Gothic" pitchFamily="34" charset="0"/>
                          <a:ea typeface="Yu Gothic" pitchFamily="34" charset="-122"/>
                          <a:cs typeface="Yu Gothic" pitchFamily="34" charset="-120"/>
                        </a:rPr>
                        <a:t>i</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補間の重み，建物の有無（0/1）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入力から計算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53" name="Shape 50"/>
          <p:cNvSpPr/>
          <p:nvPr/>
        </p:nvSpPr>
        <p:spPr>
          <a:xfrm>
            <a:off x="7635240" y="4919472"/>
            <a:ext cx="4114800" cy="1389888"/>
          </a:xfrm>
          <a:prstGeom prst="roundRect">
            <a:avLst>
              <a:gd name="adj" fmla="val 3947"/>
            </a:avLst>
          </a:prstGeom>
          <a:solidFill>
            <a:srgbClr val="FBEBDA"/>
          </a:solidFill>
          <a:ln/>
        </p:spPr>
      </p:sp>
      <p:sp>
        <p:nvSpPr>
          <p:cNvPr id="54" name="Text 51"/>
          <p:cNvSpPr txBox="1"/>
          <p:nvPr/>
        </p:nvSpPr>
        <p:spPr>
          <a:xfrm>
            <a:off x="7772400" y="4983480"/>
            <a:ext cx="3886200" cy="128016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F4E"/>
                </a:solidFill>
                <a:latin typeface="Yu Gothic" pitchFamily="34" charset="0"/>
                <a:ea typeface="Yu Gothic" pitchFamily="34" charset="-122"/>
                <a:cs typeface="Yu Gothic" pitchFamily="34" charset="-120"/>
              </a:rPr>
              <a:t>この計算を 4面 × 5帯 ＝ 20個の値それぞれで行う（本来は式に面・帯の添字が付く）</a:t>
            </a:r>
            <a:endParaRPr lang="en-US" sz="950" dirty="0"/>
          </a:p>
          <a:p>
            <a:pPr marL="152400" indent="-152400">
              <a:spcAft>
                <a:spcPts val="400"/>
              </a:spcAft>
              <a:buSzPct val="100000"/>
              <a:buChar char="•"/>
            </a:pPr>
            <a:r>
              <a:rPr lang="en-US" sz="950" dirty="0">
                <a:solidFill>
                  <a:srgbClr val="333F4E"/>
                </a:solidFill>
                <a:latin typeface="Yu Gothic" pitchFamily="34" charset="0"/>
                <a:ea typeface="Yu Gothic" pitchFamily="34" charset="-122"/>
                <a:cs typeface="Yu Gothic" pitchFamily="34" charset="-120"/>
              </a:rPr>
              <a:t>南だけ置いた場合は、今の南1棟ツールと同じ答えになる（重みの合計が1のため）</a:t>
            </a:r>
            <a:endParaRPr lang="en-US" sz="9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来週の確認：SEBEで65配置を計算し、足し算の誤差を数値で示す</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36</a:t>
            </a:r>
            <a:endParaRPr lang="en-US" sz="1100" dirty="0"/>
          </a:p>
        </p:txBody>
      </p:sp>
      <p:sp>
        <p:nvSpPr>
          <p:cNvPr id="9" name="Shape 7"/>
          <p:cNvSpPr/>
          <p:nvPr/>
        </p:nvSpPr>
        <p:spPr>
          <a:xfrm>
            <a:off x="457200" y="1060704"/>
            <a:ext cx="2331720" cy="329184"/>
          </a:xfrm>
          <a:prstGeom prst="homePlate">
            <a:avLst/>
          </a:prstGeom>
          <a:solidFill>
            <a:srgbClr val="F6D9C0"/>
          </a:solidFill>
          <a:ln/>
        </p:spPr>
      </p:sp>
      <p:sp>
        <p:nvSpPr>
          <p:cNvPr id="10" name="Text 8"/>
          <p:cNvSpPr txBox="1"/>
          <p:nvPr/>
        </p:nvSpPr>
        <p:spPr>
          <a:xfrm>
            <a:off x="548640"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① 全部を計算するのは無理</a:t>
            </a:r>
            <a:endParaRPr lang="en-US" sz="950" dirty="0"/>
          </a:p>
        </p:txBody>
      </p:sp>
      <p:sp>
        <p:nvSpPr>
          <p:cNvPr id="11" name="Shape 9"/>
          <p:cNvSpPr/>
          <p:nvPr/>
        </p:nvSpPr>
        <p:spPr>
          <a:xfrm>
            <a:off x="2715768" y="1060704"/>
            <a:ext cx="2331720" cy="329184"/>
          </a:xfrm>
          <a:prstGeom prst="chevron">
            <a:avLst/>
          </a:prstGeom>
          <a:solidFill>
            <a:srgbClr val="F6D9C0"/>
          </a:solidFill>
          <a:ln/>
        </p:spPr>
      </p:sp>
      <p:sp>
        <p:nvSpPr>
          <p:cNvPr id="12" name="Text 10"/>
          <p:cNvSpPr txBox="1"/>
          <p:nvPr/>
        </p:nvSpPr>
        <p:spPr>
          <a:xfrm>
            <a:off x="2916936"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② 1棟ずつの結果を足して埋める</a:t>
            </a:r>
            <a:endParaRPr lang="en-US" sz="950" dirty="0"/>
          </a:p>
        </p:txBody>
      </p:sp>
      <p:sp>
        <p:nvSpPr>
          <p:cNvPr id="13" name="Shape 11"/>
          <p:cNvSpPr/>
          <p:nvPr/>
        </p:nvSpPr>
        <p:spPr>
          <a:xfrm>
            <a:off x="4974336" y="1060704"/>
            <a:ext cx="2331720" cy="329184"/>
          </a:xfrm>
          <a:prstGeom prst="chevron">
            <a:avLst/>
          </a:prstGeom>
          <a:solidFill>
            <a:srgbClr val="F6D9C0"/>
          </a:solidFill>
          <a:ln/>
        </p:spPr>
      </p:sp>
      <p:sp>
        <p:nvSpPr>
          <p:cNvPr id="14" name="Text 12"/>
          <p:cNvSpPr txBox="1"/>
          <p:nvPr/>
        </p:nvSpPr>
        <p:spPr>
          <a:xfrm>
            <a:off x="5175504"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③ 足し算の弱点＝影の重なり</a:t>
            </a:r>
            <a:endParaRPr lang="en-US" sz="950" dirty="0"/>
          </a:p>
        </p:txBody>
      </p:sp>
      <p:sp>
        <p:nvSpPr>
          <p:cNvPr id="15" name="Shape 13"/>
          <p:cNvSpPr/>
          <p:nvPr/>
        </p:nvSpPr>
        <p:spPr>
          <a:xfrm>
            <a:off x="7232904" y="1060704"/>
            <a:ext cx="2331720" cy="329184"/>
          </a:xfrm>
          <a:prstGeom prst="chevron">
            <a:avLst/>
          </a:prstGeom>
          <a:solidFill>
            <a:srgbClr val="F6D9C0"/>
          </a:solidFill>
          <a:ln/>
        </p:spPr>
      </p:sp>
      <p:sp>
        <p:nvSpPr>
          <p:cNvPr id="16" name="Text 14"/>
          <p:cNvSpPr txBox="1"/>
          <p:nvPr/>
        </p:nvSpPr>
        <p:spPr>
          <a:xfrm>
            <a:off x="7434072" y="1060704"/>
            <a:ext cx="2011680" cy="329184"/>
          </a:xfrm>
          <a:prstGeom prst="rect">
            <a:avLst/>
          </a:prstGeom>
          <a:noFill/>
          <a:ln/>
        </p:spPr>
        <p:txBody>
          <a:bodyPr wrap="square" lIns="0" tIns="0" rIns="0" bIns="0" rtlCol="0" anchor="ctr"/>
          <a:lstStyle/>
          <a:p>
            <a:pPr algn="ctr" indent="0" marL="0">
              <a:buNone/>
            </a:pPr>
            <a:r>
              <a:rPr lang="en-US" sz="950" b="1" dirty="0">
                <a:solidFill>
                  <a:srgbClr val="C56A2C"/>
                </a:solidFill>
                <a:latin typeface="Yu Gothic" pitchFamily="34" charset="0"/>
                <a:ea typeface="Yu Gothic" pitchFamily="34" charset="-122"/>
                <a:cs typeface="Yu Gothic" pitchFamily="34" charset="-120"/>
              </a:rPr>
              <a:t>④ 足し算を式で書く</a:t>
            </a:r>
            <a:endParaRPr lang="en-US" sz="950" dirty="0"/>
          </a:p>
        </p:txBody>
      </p:sp>
      <p:sp>
        <p:nvSpPr>
          <p:cNvPr id="17" name="Shape 15"/>
          <p:cNvSpPr/>
          <p:nvPr/>
        </p:nvSpPr>
        <p:spPr>
          <a:xfrm>
            <a:off x="9491472" y="1060704"/>
            <a:ext cx="2331720" cy="329184"/>
          </a:xfrm>
          <a:prstGeom prst="chevron">
            <a:avLst/>
          </a:prstGeom>
          <a:solidFill>
            <a:srgbClr val="E8934D"/>
          </a:solidFill>
          <a:ln/>
        </p:spPr>
      </p:sp>
      <p:sp>
        <p:nvSpPr>
          <p:cNvPr id="18" name="Text 16"/>
          <p:cNvSpPr txBox="1"/>
          <p:nvPr/>
        </p:nvSpPr>
        <p:spPr>
          <a:xfrm>
            <a:off x="9692640" y="1060704"/>
            <a:ext cx="20116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⑤ 来週SEBEで確かめる</a:t>
            </a:r>
            <a:endParaRPr lang="en-US" sz="950" dirty="0"/>
          </a:p>
        </p:txBody>
      </p:sp>
      <p:sp>
        <p:nvSpPr>
          <p:cNvPr id="19" name="Text 17"/>
          <p:cNvSpPr txBox="1"/>
          <p:nvPr/>
        </p:nvSpPr>
        <p:spPr>
          <a:xfrm>
            <a:off x="457200" y="1554480"/>
            <a:ext cx="54864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学習用（補間用）データ：1棟だけの配置</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5577840" cy="914400"/>
        </p:xfrm>
        <a:graphic>
          <a:graphicData uri="http://schemas.openxmlformats.org/drawingml/2006/table">
            <a:tbl>
              <a:tblPr/>
              <a:tblGrid>
                <a:gridCol w="868680"/>
                <a:gridCol w="3063240"/>
                <a:gridCol w="548640"/>
                <a:gridCol w="109728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種類</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状況</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周囲0棟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南だけ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A 25・50・75・100 × D 10・25・50・100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4C8C6B"/>
                          </a:solidFill>
                          <a:latin typeface="Yu Gothic" pitchFamily="34" charset="0"/>
                          <a:ea typeface="Yu Gothic" pitchFamily="34" charset="-122"/>
                          <a:cs typeface="Yu Gothic" pitchFamily="34" charset="-120"/>
                        </a:rPr>
                        <a:t>既存</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東だけ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 4×4 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北だけ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 4×4 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西だけ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 4×4 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65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新規49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1" name="Text 18"/>
          <p:cNvSpPr txBox="1"/>
          <p:nvPr/>
        </p:nvSpPr>
        <p:spPr>
          <a:xfrm>
            <a:off x="457200" y="3840480"/>
            <a:ext cx="557784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時間が足りなければ各方向 3×3＝9配置に減らす案もある</a:t>
            </a:r>
            <a:endParaRPr lang="en-US" sz="850" dirty="0"/>
          </a:p>
        </p:txBody>
      </p:sp>
      <p:sp>
        <p:nvSpPr>
          <p:cNvPr id="22" name="Text 19"/>
          <p:cNvSpPr txBox="1"/>
          <p:nvPr/>
        </p:nvSpPr>
        <p:spPr>
          <a:xfrm>
            <a:off x="6263640" y="1554480"/>
            <a:ext cx="54864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テストデータ：学習に使わない配置（先に決めて固定）</a:t>
            </a:r>
            <a:endParaRPr lang="en-US" sz="1150" dirty="0"/>
          </a:p>
        </p:txBody>
      </p:sp>
      <p:sp>
        <p:nvSpPr>
          <p:cNvPr id="23" name="Shape 20"/>
          <p:cNvSpPr/>
          <p:nvPr/>
        </p:nvSpPr>
        <p:spPr>
          <a:xfrm>
            <a:off x="6263640" y="1874520"/>
            <a:ext cx="5486400" cy="868680"/>
          </a:xfrm>
          <a:prstGeom prst="roundRect">
            <a:avLst>
              <a:gd name="adj" fmla="val 6316"/>
            </a:avLst>
          </a:prstGeom>
          <a:solidFill>
            <a:srgbClr val="DCEAEC"/>
          </a:solidFill>
          <a:ln/>
        </p:spPr>
      </p:sp>
      <p:sp>
        <p:nvSpPr>
          <p:cNvPr id="24" name="Text 21"/>
          <p:cNvSpPr txBox="1"/>
          <p:nvPr/>
        </p:nvSpPr>
        <p:spPr>
          <a:xfrm>
            <a:off x="6400800" y="1920240"/>
            <a:ext cx="5257800" cy="777240"/>
          </a:xfrm>
          <a:prstGeom prst="rect">
            <a:avLst/>
          </a:prstGeom>
          <a:noFill/>
          <a:ln/>
        </p:spPr>
        <p:txBody>
          <a:bodyPr wrap="square" lIns="508" tIns="508" rIns="508" bIns="508" rtlCol="0" anchor="ctr"/>
          <a:lstStyle/>
          <a:p>
            <a:pPr indent="0" marL="0">
              <a:buNone/>
            </a:pPr>
            <a:r>
              <a:rPr lang="en-US" sz="950" b="1" dirty="0">
                <a:solidFill>
                  <a:srgbClr val="1F6F78"/>
                </a:solidFill>
                <a:latin typeface="Yu Gothic" pitchFamily="34" charset="0"/>
                <a:ea typeface="Yu Gothic" pitchFamily="34" charset="-122"/>
                <a:cs typeface="Yu Gothic" pitchFamily="34" charset="-120"/>
              </a:rPr>
              <a:t>テストA：1棟だけ（東・北・西 各2）6配置</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 ② の補間そのものの誤差（南で確かめたことが他の方向でも言えるか）</a:t>
            </a:r>
            <a:endParaRPr lang="en-US" sz="950" dirty="0"/>
          </a:p>
        </p:txBody>
      </p:sp>
      <p:sp>
        <p:nvSpPr>
          <p:cNvPr id="25" name="Shape 22"/>
          <p:cNvSpPr/>
          <p:nvPr/>
        </p:nvSpPr>
        <p:spPr>
          <a:xfrm>
            <a:off x="6263640" y="2834640"/>
            <a:ext cx="5486400" cy="1005840"/>
          </a:xfrm>
          <a:prstGeom prst="roundRect">
            <a:avLst>
              <a:gd name="adj" fmla="val 5455"/>
            </a:avLst>
          </a:prstGeom>
          <a:solidFill>
            <a:srgbClr val="FBEBDA"/>
          </a:solidFill>
          <a:ln/>
        </p:spPr>
      </p:sp>
      <p:sp>
        <p:nvSpPr>
          <p:cNvPr id="26" name="Text 23"/>
          <p:cNvSpPr txBox="1"/>
          <p:nvPr/>
        </p:nvSpPr>
        <p:spPr>
          <a:xfrm>
            <a:off x="6400800" y="2880360"/>
            <a:ext cx="5257800" cy="914400"/>
          </a:xfrm>
          <a:prstGeom prst="rect">
            <a:avLst/>
          </a:prstGeom>
          <a:noFill/>
          <a:ln/>
        </p:spPr>
        <p:txBody>
          <a:bodyPr wrap="square" lIns="508" tIns="508" rIns="508" bIns="508" rtlCol="0" anchor="ctr"/>
          <a:lstStyle/>
          <a:p>
            <a:pPr indent="0" marL="0">
              <a:buNone/>
            </a:pPr>
            <a:r>
              <a:rPr lang="en-US" sz="950" b="1" dirty="0">
                <a:solidFill>
                  <a:srgbClr val="C56A2C"/>
                </a:solidFill>
                <a:latin typeface="Yu Gothic" pitchFamily="34" charset="0"/>
                <a:ea typeface="Yu Gothic" pitchFamily="34" charset="-122"/>
                <a:cs typeface="Yu Gothic" pitchFamily="34" charset="-120"/>
              </a:rPr>
              <a:t>テストB：2〜4棟を同時に置く 12配置（2棟6・3棟3・4棟3）</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 ③ の足し算の誤差＝影の重なりの影響。A・D は格子点と重ならない値を乱数で選ぶ</a:t>
            </a:r>
            <a:endParaRPr lang="en-US" sz="950" dirty="0"/>
          </a:p>
        </p:txBody>
      </p:sp>
      <p:sp>
        <p:nvSpPr>
          <p:cNvPr id="27" name="Text 24"/>
          <p:cNvSpPr txBox="1"/>
          <p:nvPr/>
        </p:nvSpPr>
        <p:spPr>
          <a:xfrm>
            <a:off x="457200" y="4114800"/>
            <a:ext cx="54864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来週埋める表（今は空欄）</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57200" y="4407408"/>
          <a:ext cx="5577840" cy="914400"/>
        </p:xfrm>
        <a:graphic>
          <a:graphicData uri="http://schemas.openxmlformats.org/drawingml/2006/table">
            <a:tbl>
              <a:tblPr/>
              <a:tblGrid>
                <a:gridCol w="1554480"/>
                <a:gridCol w="1143000"/>
                <a:gridCol w="960120"/>
                <a:gridCol w="960120"/>
                <a:gridCol w="960120"/>
              </a:tblGrid>
              <a:tr h="329184">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1棟（テストA）</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2棟</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3棟</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4棟</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MAE（kWh/m²）</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平均誤差率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最大誤差率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EB4BC"/>
                          </a:solidFill>
                          <a:latin typeface="Yu Gothic" pitchFamily="34" charset="0"/>
                          <a:ea typeface="Yu Gothic" pitchFamily="34" charset="-122"/>
                          <a:cs typeface="Yu Gothic" pitchFamily="34" charset="-120"/>
                        </a:rPr>
                        <a:t>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9" name="Text 25"/>
          <p:cNvSpPr txBox="1"/>
          <p:nvPr/>
        </p:nvSpPr>
        <p:spPr>
          <a:xfrm>
            <a:off x="457200" y="5760720"/>
            <a:ext cx="557784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参考：南1棟のテスト12配置は MAE 18.40・2.42%</a:t>
            </a:r>
            <a:endParaRPr lang="en-US" sz="850" dirty="0"/>
          </a:p>
        </p:txBody>
      </p:sp>
      <p:sp>
        <p:nvSpPr>
          <p:cNvPr id="30" name="Text 26"/>
          <p:cNvSpPr txBox="1"/>
          <p:nvPr/>
        </p:nvSpPr>
        <p:spPr>
          <a:xfrm>
            <a:off x="6263640" y="4114800"/>
            <a:ext cx="54864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結果の読み方と次の一手</a:t>
            </a:r>
            <a:endParaRPr lang="en-US" sz="1150" dirty="0"/>
          </a:p>
        </p:txBody>
      </p:sp>
      <p:sp>
        <p:nvSpPr>
          <p:cNvPr id="31" name="Shape 27"/>
          <p:cNvSpPr/>
          <p:nvPr/>
        </p:nvSpPr>
        <p:spPr>
          <a:xfrm>
            <a:off x="6263640" y="4407408"/>
            <a:ext cx="5486400" cy="868680"/>
          </a:xfrm>
          <a:prstGeom prst="roundRect">
            <a:avLst>
              <a:gd name="adj" fmla="val 6316"/>
            </a:avLst>
          </a:prstGeom>
          <a:solidFill>
            <a:srgbClr val="E1EEE7"/>
          </a:solidFill>
          <a:ln/>
        </p:spPr>
      </p:sp>
      <p:sp>
        <p:nvSpPr>
          <p:cNvPr id="32" name="Text 28"/>
          <p:cNvSpPr txBox="1"/>
          <p:nvPr/>
        </p:nvSpPr>
        <p:spPr>
          <a:xfrm>
            <a:off x="6400800" y="4443984"/>
            <a:ext cx="5257800" cy="804672"/>
          </a:xfrm>
          <a:prstGeom prst="rect">
            <a:avLst/>
          </a:prstGeom>
          <a:noFill/>
          <a:ln/>
        </p:spPr>
        <p:txBody>
          <a:bodyPr wrap="square" lIns="508" tIns="508" rIns="508" bIns="508" rtlCol="0" anchor="ctr"/>
          <a:lstStyle/>
          <a:p>
            <a:pPr indent="0" marL="0">
              <a:buNone/>
            </a:pPr>
            <a:r>
              <a:rPr lang="en-US" sz="950" b="1" dirty="0">
                <a:solidFill>
                  <a:srgbClr val="4C8C6B"/>
                </a:solidFill>
                <a:latin typeface="Yu Gothic" pitchFamily="34" charset="0"/>
                <a:ea typeface="Yu Gothic" pitchFamily="34" charset="-122"/>
                <a:cs typeface="Yu Gothic" pitchFamily="34" charset="-120"/>
              </a:rPr>
              <a:t>棟数が増えても誤差がほぼ同じ</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 重なりは小さい。4方向版は「補間＋足し算」で作る</a:t>
            </a:r>
            <a:endParaRPr lang="en-US" sz="950" dirty="0"/>
          </a:p>
        </p:txBody>
      </p:sp>
      <p:sp>
        <p:nvSpPr>
          <p:cNvPr id="33" name="Shape 29"/>
          <p:cNvSpPr/>
          <p:nvPr/>
        </p:nvSpPr>
        <p:spPr>
          <a:xfrm>
            <a:off x="6263640" y="5367528"/>
            <a:ext cx="5486400" cy="941832"/>
          </a:xfrm>
          <a:prstGeom prst="roundRect">
            <a:avLst>
              <a:gd name="adj" fmla="val 5825"/>
            </a:avLst>
          </a:prstGeom>
          <a:solidFill>
            <a:srgbClr val="F5E2DF"/>
          </a:solidFill>
          <a:ln/>
        </p:spPr>
      </p:sp>
      <p:sp>
        <p:nvSpPr>
          <p:cNvPr id="34" name="Text 30"/>
          <p:cNvSpPr txBox="1"/>
          <p:nvPr/>
        </p:nvSpPr>
        <p:spPr>
          <a:xfrm>
            <a:off x="6400800" y="5394960"/>
            <a:ext cx="5257800" cy="886968"/>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棟数とともに誤差が大きくなる</a:t>
            </a:r>
            <a:endParaRPr lang="en-US" sz="950" dirty="0"/>
          </a:p>
          <a:p>
            <a:pPr indent="0" marL="0">
              <a:buNone/>
            </a:pPr>
            <a:r>
              <a:rPr lang="en-US" sz="950" dirty="0">
                <a:solidFill>
                  <a:srgbClr val="333F4E"/>
                </a:solidFill>
                <a:latin typeface="Yu Gothic" pitchFamily="34" charset="0"/>
                <a:ea typeface="Yu Gothic" pitchFamily="34" charset="-122"/>
                <a:cs typeface="Yu Gothic" pitchFamily="34" charset="-120"/>
              </a:rPr>
              <a:t>→ 重なりが効いている。重なりの補正を加えるか、代案「空の遮られ方」へ</a:t>
            </a:r>
            <a:endParaRPr lang="en-US" sz="950" dirty="0"/>
          </a:p>
        </p:txBody>
      </p:sp>
      <p:sp>
        <p:nvSpPr>
          <p:cNvPr id="35" name="Text 31"/>
          <p:cNvSpPr txBox="1"/>
          <p:nvPr/>
        </p:nvSpPr>
        <p:spPr>
          <a:xfrm>
            <a:off x="457200" y="6016752"/>
            <a:ext cx="5577840" cy="274320"/>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判断の基準（例：誤差率○%以内）は結果を見る前に先生と決めたい</a:t>
            </a:r>
            <a:endParaRPr lang="en-US" sz="9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 ― どの方向の空がふさがれているかを数える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配置を「空の地図」に変えてから予測する。同じ方向を2棟がふさいでも1回だけ数えるので、影の重なりを二重に数えない。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36</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横から見た図：壁の点Pから空を見上げる</a:t>
            </a:r>
            <a:endParaRPr lang="en-US" sz="1100" dirty="0"/>
          </a:p>
        </p:txBody>
      </p:sp>
      <p:sp>
        <p:nvSpPr>
          <p:cNvPr id="12" name="Shape 10"/>
          <p:cNvSpPr/>
          <p:nvPr/>
        </p:nvSpPr>
        <p:spPr>
          <a:xfrm>
            <a:off x="640080" y="5212080"/>
            <a:ext cx="5212080" cy="91"/>
          </a:xfrm>
          <a:prstGeom prst="line">
            <a:avLst/>
          </a:prstGeom>
          <a:noFill/>
          <a:ln w="12700">
            <a:solidFill>
              <a:srgbClr val="6B7480"/>
            </a:solidFill>
            <a:prstDash val="solid"/>
          </a:ln>
        </p:spPr>
      </p:sp>
      <p:sp>
        <p:nvSpPr>
          <p:cNvPr id="13" name="Shape 11"/>
          <p:cNvSpPr/>
          <p:nvPr/>
        </p:nvSpPr>
        <p:spPr>
          <a:xfrm>
            <a:off x="868680" y="3611880"/>
            <a:ext cx="2286000" cy="1600200"/>
          </a:xfrm>
          <a:prstGeom prst="rect">
            <a:avLst/>
          </a:prstGeom>
          <a:solidFill>
            <a:srgbClr val="1F6F78"/>
          </a:solidFill>
          <a:ln/>
        </p:spPr>
      </p:sp>
      <p:sp>
        <p:nvSpPr>
          <p:cNvPr id="14" name="Text 12"/>
          <p:cNvSpPr txBox="1"/>
          <p:nvPr/>
        </p:nvSpPr>
        <p:spPr>
          <a:xfrm>
            <a:off x="868680" y="4023360"/>
            <a:ext cx="228600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南側建物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高さ35m</a:t>
            </a:r>
            <a:endParaRPr lang="en-US" sz="900" dirty="0"/>
          </a:p>
        </p:txBody>
      </p:sp>
      <p:sp>
        <p:nvSpPr>
          <p:cNvPr id="15" name="Shape 13"/>
          <p:cNvSpPr/>
          <p:nvPr/>
        </p:nvSpPr>
        <p:spPr>
          <a:xfrm>
            <a:off x="4297680" y="2926080"/>
            <a:ext cx="777240" cy="2286000"/>
          </a:xfrm>
          <a:prstGeom prst="rect">
            <a:avLst/>
          </a:prstGeom>
          <a:solidFill>
            <a:srgbClr val="1B2A44"/>
          </a:solidFill>
          <a:ln/>
        </p:spPr>
      </p:sp>
      <p:sp>
        <p:nvSpPr>
          <p:cNvPr id="16" name="Text 14"/>
          <p:cNvSpPr txBox="1"/>
          <p:nvPr/>
        </p:nvSpPr>
        <p:spPr>
          <a:xfrm>
            <a:off x="4297680" y="3749040"/>
            <a:ext cx="77724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建物</a:t>
            </a:r>
            <a:endParaRPr lang="en-US" sz="900" dirty="0"/>
          </a:p>
        </p:txBody>
      </p:sp>
      <p:sp>
        <p:nvSpPr>
          <p:cNvPr id="17" name="Shape 15"/>
          <p:cNvSpPr/>
          <p:nvPr/>
        </p:nvSpPr>
        <p:spPr>
          <a:xfrm>
            <a:off x="4224528" y="4224528"/>
            <a:ext cx="146304" cy="146304"/>
          </a:xfrm>
          <a:prstGeom prst="ellipse">
            <a:avLst/>
          </a:prstGeom>
          <a:solidFill>
            <a:srgbClr val="E8934D"/>
          </a:solidFill>
          <a:ln w="6350">
            <a:solidFill>
              <a:srgbClr val="FFFFFF"/>
            </a:solidFill>
            <a:prstDash val="solid"/>
          </a:ln>
        </p:spPr>
      </p:sp>
      <p:sp>
        <p:nvSpPr>
          <p:cNvPr id="18" name="Text 16"/>
          <p:cNvSpPr txBox="1"/>
          <p:nvPr/>
        </p:nvSpPr>
        <p:spPr>
          <a:xfrm>
            <a:off x="5120640" y="4114800"/>
            <a:ext cx="822960" cy="411480"/>
          </a:xfrm>
          <a:prstGeom prst="rect">
            <a:avLst/>
          </a:prstGeom>
          <a:noFill/>
          <a:ln/>
        </p:spPr>
        <p:txBody>
          <a:bodyPr wrap="square" lIns="508" tIns="508" rIns="508" bIns="508" rtlCol="0" anchor="t"/>
          <a:lstStyle/>
          <a:p>
            <a:pPr indent="0" marL="0">
              <a:buNone/>
            </a:pPr>
            <a:r>
              <a:rPr lang="en-US" sz="850" b="1" dirty="0">
                <a:solidFill>
                  <a:srgbClr val="C56A2C"/>
                </a:solidFill>
                <a:latin typeface="Yu Gothic" pitchFamily="34" charset="0"/>
                <a:ea typeface="Yu Gothic" pitchFamily="34" charset="-122"/>
                <a:cs typeface="Yu Gothic" pitchFamily="34" charset="-120"/>
              </a:rPr>
              <a:t>点P</a:t>
            </a:r>
            <a:endParaRPr lang="en-US" sz="850" dirty="0"/>
          </a:p>
          <a:p>
            <a:pPr indent="0" marL="0">
              <a:buNone/>
            </a:pPr>
            <a:r>
              <a:rPr lang="en-US" sz="850" b="1" dirty="0">
                <a:solidFill>
                  <a:srgbClr val="C56A2C"/>
                </a:solidFill>
                <a:latin typeface="Yu Gothic" pitchFamily="34" charset="0"/>
                <a:ea typeface="Yu Gothic" pitchFamily="34" charset="-122"/>
                <a:cs typeface="Yu Gothic" pitchFamily="34" charset="-120"/>
              </a:rPr>
              <a:t>高さ20m</a:t>
            </a:r>
            <a:endParaRPr lang="en-US" sz="850" dirty="0"/>
          </a:p>
        </p:txBody>
      </p:sp>
      <p:sp>
        <p:nvSpPr>
          <p:cNvPr id="19" name="Shape 17"/>
          <p:cNvSpPr/>
          <p:nvPr/>
        </p:nvSpPr>
        <p:spPr>
          <a:xfrm flipH="1" flipV="1">
            <a:off x="3154680" y="4137042"/>
            <a:ext cx="1143000" cy="160638"/>
          </a:xfrm>
          <a:prstGeom prst="line">
            <a:avLst/>
          </a:prstGeom>
          <a:noFill/>
          <a:ln w="15875">
            <a:solidFill>
              <a:srgbClr val="B04A3F"/>
            </a:solidFill>
            <a:prstDash val="solid"/>
            <a:tailEnd type="oval"/>
          </a:ln>
        </p:spPr>
      </p:sp>
      <p:sp>
        <p:nvSpPr>
          <p:cNvPr id="20" name="Shape 18"/>
          <p:cNvSpPr/>
          <p:nvPr/>
        </p:nvSpPr>
        <p:spPr>
          <a:xfrm flipH="1" flipV="1">
            <a:off x="3154680" y="3881662"/>
            <a:ext cx="1143000" cy="416018"/>
          </a:xfrm>
          <a:prstGeom prst="line">
            <a:avLst/>
          </a:prstGeom>
          <a:noFill/>
          <a:ln w="15875">
            <a:solidFill>
              <a:srgbClr val="B04A3F"/>
            </a:solidFill>
            <a:prstDash val="solid"/>
            <a:tailEnd type="oval"/>
          </a:ln>
        </p:spPr>
      </p:sp>
      <p:sp>
        <p:nvSpPr>
          <p:cNvPr id="21" name="Shape 19"/>
          <p:cNvSpPr/>
          <p:nvPr/>
        </p:nvSpPr>
        <p:spPr>
          <a:xfrm flipH="1" flipV="1">
            <a:off x="2939865" y="2939865"/>
            <a:ext cx="1357815" cy="1357815"/>
          </a:xfrm>
          <a:prstGeom prst="line">
            <a:avLst/>
          </a:prstGeom>
          <a:noFill/>
          <a:ln w="15875">
            <a:solidFill>
              <a:srgbClr val="4C8C6B"/>
            </a:solidFill>
            <a:prstDash val="solid"/>
            <a:tailEnd type="triangle"/>
          </a:ln>
        </p:spPr>
      </p:sp>
      <p:sp>
        <p:nvSpPr>
          <p:cNvPr id="22" name="Shape 20"/>
          <p:cNvSpPr/>
          <p:nvPr/>
        </p:nvSpPr>
        <p:spPr>
          <a:xfrm flipH="1" flipV="1">
            <a:off x="3396182" y="2602209"/>
            <a:ext cx="901498" cy="1695471"/>
          </a:xfrm>
          <a:prstGeom prst="line">
            <a:avLst/>
          </a:prstGeom>
          <a:noFill/>
          <a:ln w="15875">
            <a:solidFill>
              <a:srgbClr val="4C8C6B"/>
            </a:solidFill>
            <a:prstDash val="solid"/>
            <a:tailEnd type="triangle"/>
          </a:ln>
        </p:spPr>
      </p:sp>
      <p:sp>
        <p:nvSpPr>
          <p:cNvPr id="23" name="Shape 21"/>
          <p:cNvSpPr/>
          <p:nvPr/>
        </p:nvSpPr>
        <p:spPr>
          <a:xfrm flipH="1" flipV="1">
            <a:off x="3898440" y="2419402"/>
            <a:ext cx="399240" cy="1878278"/>
          </a:xfrm>
          <a:prstGeom prst="line">
            <a:avLst/>
          </a:prstGeom>
          <a:noFill/>
          <a:ln w="15875">
            <a:solidFill>
              <a:srgbClr val="4C8C6B"/>
            </a:solidFill>
            <a:prstDash val="solid"/>
            <a:tailEnd type="triangle"/>
          </a:ln>
        </p:spPr>
      </p:sp>
      <p:sp>
        <p:nvSpPr>
          <p:cNvPr id="24" name="Shape 22"/>
          <p:cNvSpPr/>
          <p:nvPr/>
        </p:nvSpPr>
        <p:spPr>
          <a:xfrm flipH="1" flipV="1">
            <a:off x="2729497" y="3356770"/>
            <a:ext cx="1568183" cy="940910"/>
          </a:xfrm>
          <a:prstGeom prst="line">
            <a:avLst/>
          </a:prstGeom>
          <a:noFill/>
          <a:ln w="12700">
            <a:solidFill>
              <a:srgbClr val="1B2A44"/>
            </a:solidFill>
            <a:prstDash val="dash"/>
          </a:ln>
        </p:spPr>
      </p:sp>
      <p:sp>
        <p:nvSpPr>
          <p:cNvPr id="25" name="Shape 23"/>
          <p:cNvSpPr/>
          <p:nvPr/>
        </p:nvSpPr>
        <p:spPr>
          <a:xfrm>
            <a:off x="3154680" y="5321808"/>
            <a:ext cx="1143000" cy="91"/>
          </a:xfrm>
          <a:prstGeom prst="line">
            <a:avLst/>
          </a:prstGeom>
          <a:noFill/>
          <a:ln w="12700">
            <a:solidFill>
              <a:srgbClr val="B04A3F"/>
            </a:solidFill>
            <a:prstDash val="solid"/>
            <a:headEnd type="triangle"/>
            <a:tailEnd type="triangle"/>
          </a:ln>
        </p:spPr>
      </p:sp>
      <p:sp>
        <p:nvSpPr>
          <p:cNvPr id="26" name="Text 24"/>
          <p:cNvSpPr txBox="1"/>
          <p:nvPr/>
        </p:nvSpPr>
        <p:spPr>
          <a:xfrm>
            <a:off x="3154680" y="5340096"/>
            <a:ext cx="1143000" cy="201168"/>
          </a:xfrm>
          <a:prstGeom prst="rect">
            <a:avLst/>
          </a:prstGeom>
          <a:noFill/>
          <a:ln/>
        </p:spPr>
        <p:txBody>
          <a:bodyPr wrap="square" lIns="508" tIns="508" rIns="508" bIns="508" rtlCol="0" anchor="t"/>
          <a:lstStyle/>
          <a:p>
            <a:pPr algn="ctr" indent="0" marL="0">
              <a:buNone/>
            </a:pPr>
            <a:r>
              <a:rPr lang="en-US" sz="850" b="1" dirty="0">
                <a:solidFill>
                  <a:srgbClr val="B04A3F"/>
                </a:solidFill>
                <a:latin typeface="Yu Gothic" pitchFamily="34" charset="0"/>
                <a:ea typeface="Yu Gothic" pitchFamily="34" charset="-122"/>
                <a:cs typeface="Yu Gothic" pitchFamily="34" charset="-120"/>
              </a:rPr>
              <a:t>隙間 25m</a:t>
            </a:r>
            <a:endParaRPr lang="en-US" sz="850" dirty="0"/>
          </a:p>
        </p:txBody>
      </p:sp>
      <p:sp>
        <p:nvSpPr>
          <p:cNvPr id="27" name="Text 25"/>
          <p:cNvSpPr txBox="1"/>
          <p:nvPr/>
        </p:nvSpPr>
        <p:spPr>
          <a:xfrm>
            <a:off x="640080" y="1828800"/>
            <a:ext cx="3657600" cy="219456"/>
          </a:xfrm>
          <a:prstGeom prst="rect">
            <a:avLst/>
          </a:prstGeom>
          <a:noFill/>
          <a:ln/>
        </p:spPr>
        <p:txBody>
          <a:bodyPr wrap="square" lIns="508" tIns="508" rIns="508" bIns="508" rtlCol="0" anchor="t"/>
          <a:lstStyle/>
          <a:p>
            <a:pPr indent="0" marL="0">
              <a:buNone/>
            </a:pPr>
            <a:r>
              <a:rPr lang="en-US" sz="850" b="1" dirty="0">
                <a:solidFill>
                  <a:srgbClr val="4C8C6B"/>
                </a:solidFill>
                <a:latin typeface="Yu Gothic" pitchFamily="34" charset="0"/>
                <a:ea typeface="Yu Gothic" pitchFamily="34" charset="-122"/>
                <a:cs typeface="Yu Gothic" pitchFamily="34" charset="-120"/>
              </a:rPr>
              <a:t>━ 空が見える　</a:t>
            </a:r>
            <a:pPr indent="0" marL="0">
              <a:buNone/>
            </a:pPr>
            <a:r>
              <a:rPr lang="en-US" sz="850" b="1" dirty="0">
                <a:solidFill>
                  <a:srgbClr val="B04A3F"/>
                </a:solidFill>
                <a:latin typeface="Yu Gothic" pitchFamily="34" charset="0"/>
                <a:ea typeface="Yu Gothic" pitchFamily="34" charset="-122"/>
                <a:cs typeface="Yu Gothic" pitchFamily="34" charset="-120"/>
              </a:rPr>
              <a:t>━ 建物でふさがれる</a:t>
            </a:r>
            <a:endParaRPr lang="en-US" sz="850" dirty="0"/>
          </a:p>
        </p:txBody>
      </p:sp>
      <p:sp>
        <p:nvSpPr>
          <p:cNvPr id="28" name="Shape 26"/>
          <p:cNvSpPr/>
          <p:nvPr/>
        </p:nvSpPr>
        <p:spPr>
          <a:xfrm>
            <a:off x="640080" y="5623560"/>
            <a:ext cx="5212080" cy="566928"/>
          </a:xfrm>
          <a:prstGeom prst="roundRect">
            <a:avLst>
              <a:gd name="adj" fmla="val 8065"/>
            </a:avLst>
          </a:prstGeom>
          <a:solidFill>
            <a:srgbClr val="FFFFFF"/>
          </a:solidFill>
          <a:ln/>
        </p:spPr>
      </p:sp>
      <p:sp>
        <p:nvSpPr>
          <p:cNvPr id="29" name="Text 27"/>
          <p:cNvSpPr txBox="1"/>
          <p:nvPr/>
        </p:nvSpPr>
        <p:spPr>
          <a:xfrm>
            <a:off x="731520" y="5623560"/>
            <a:ext cx="5029200" cy="56692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遮蔽高度角 h：tan h ＝ (35 − 20) / 25 ＝ 0.6 → h ≒ 31°（これより低い方向はふさがれる）</a:t>
            </a:r>
            <a:endParaRPr lang="en-US" sz="950" dirty="0"/>
          </a:p>
        </p:txBody>
      </p:sp>
      <p:sp>
        <p:nvSpPr>
          <p:cNvPr id="30" name="Shape 28"/>
          <p:cNvSpPr/>
          <p:nvPr/>
        </p:nvSpPr>
        <p:spPr>
          <a:xfrm>
            <a:off x="6263640" y="1481328"/>
            <a:ext cx="5486400" cy="3017520"/>
          </a:xfrm>
          <a:prstGeom prst="roundRect">
            <a:avLst>
              <a:gd name="adj" fmla="val 1818"/>
            </a:avLst>
          </a:prstGeom>
          <a:solidFill>
            <a:srgbClr val="F3F5F8"/>
          </a:solidFill>
          <a:ln/>
        </p:spPr>
      </p:sp>
      <p:sp>
        <p:nvSpPr>
          <p:cNvPr id="31" name="Text 29"/>
          <p:cNvSpPr txBox="1"/>
          <p:nvPr/>
        </p:nvSpPr>
        <p:spPr>
          <a:xfrm>
            <a:off x="640080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点Pから見た「空の地図」（12方位 × 6高度 ＝ 72マス）</a:t>
            </a:r>
            <a:endParaRPr lang="en-US" sz="1100" dirty="0"/>
          </a:p>
        </p:txBody>
      </p:sp>
      <p:sp>
        <p:nvSpPr>
          <p:cNvPr id="32" name="Shape 30"/>
          <p:cNvSpPr/>
          <p:nvPr/>
        </p:nvSpPr>
        <p:spPr>
          <a:xfrm>
            <a:off x="6949440" y="3383280"/>
            <a:ext cx="329184" cy="283464"/>
          </a:xfrm>
          <a:prstGeom prst="rect">
            <a:avLst/>
          </a:prstGeom>
          <a:solidFill>
            <a:srgbClr val="FFFFFF"/>
          </a:solidFill>
          <a:ln w="6350">
            <a:solidFill>
              <a:srgbClr val="D5DAE1"/>
            </a:solidFill>
            <a:prstDash val="solid"/>
          </a:ln>
        </p:spPr>
      </p:sp>
      <p:sp>
        <p:nvSpPr>
          <p:cNvPr id="33" name="Shape 31"/>
          <p:cNvSpPr/>
          <p:nvPr/>
        </p:nvSpPr>
        <p:spPr>
          <a:xfrm>
            <a:off x="6949440" y="3081528"/>
            <a:ext cx="329184" cy="283464"/>
          </a:xfrm>
          <a:prstGeom prst="rect">
            <a:avLst/>
          </a:prstGeom>
          <a:solidFill>
            <a:srgbClr val="FFFFFF"/>
          </a:solidFill>
          <a:ln w="6350">
            <a:solidFill>
              <a:srgbClr val="D5DAE1"/>
            </a:solidFill>
            <a:prstDash val="solid"/>
          </a:ln>
        </p:spPr>
      </p:sp>
      <p:sp>
        <p:nvSpPr>
          <p:cNvPr id="34" name="Shape 32"/>
          <p:cNvSpPr/>
          <p:nvPr/>
        </p:nvSpPr>
        <p:spPr>
          <a:xfrm>
            <a:off x="6949440" y="2779776"/>
            <a:ext cx="329184" cy="283464"/>
          </a:xfrm>
          <a:prstGeom prst="rect">
            <a:avLst/>
          </a:prstGeom>
          <a:solidFill>
            <a:srgbClr val="FFFFFF"/>
          </a:solidFill>
          <a:ln w="6350">
            <a:solidFill>
              <a:srgbClr val="D5DAE1"/>
            </a:solidFill>
            <a:prstDash val="solid"/>
          </a:ln>
        </p:spPr>
      </p:sp>
      <p:sp>
        <p:nvSpPr>
          <p:cNvPr id="35" name="Shape 33"/>
          <p:cNvSpPr/>
          <p:nvPr/>
        </p:nvSpPr>
        <p:spPr>
          <a:xfrm>
            <a:off x="6949440" y="2478024"/>
            <a:ext cx="329184" cy="283464"/>
          </a:xfrm>
          <a:prstGeom prst="rect">
            <a:avLst/>
          </a:prstGeom>
          <a:solidFill>
            <a:srgbClr val="FFFFFF"/>
          </a:solidFill>
          <a:ln w="6350">
            <a:solidFill>
              <a:srgbClr val="D5DAE1"/>
            </a:solidFill>
            <a:prstDash val="solid"/>
          </a:ln>
        </p:spPr>
      </p:sp>
      <p:sp>
        <p:nvSpPr>
          <p:cNvPr id="36" name="Shape 34"/>
          <p:cNvSpPr/>
          <p:nvPr/>
        </p:nvSpPr>
        <p:spPr>
          <a:xfrm>
            <a:off x="6949440" y="2176272"/>
            <a:ext cx="329184" cy="283464"/>
          </a:xfrm>
          <a:prstGeom prst="rect">
            <a:avLst/>
          </a:prstGeom>
          <a:solidFill>
            <a:srgbClr val="FFFFFF"/>
          </a:solidFill>
          <a:ln w="6350">
            <a:solidFill>
              <a:srgbClr val="D5DAE1"/>
            </a:solidFill>
            <a:prstDash val="solid"/>
          </a:ln>
        </p:spPr>
      </p:sp>
      <p:sp>
        <p:nvSpPr>
          <p:cNvPr id="37" name="Shape 35"/>
          <p:cNvSpPr/>
          <p:nvPr/>
        </p:nvSpPr>
        <p:spPr>
          <a:xfrm>
            <a:off x="6949440" y="1874520"/>
            <a:ext cx="329184" cy="283464"/>
          </a:xfrm>
          <a:prstGeom prst="rect">
            <a:avLst/>
          </a:prstGeom>
          <a:solidFill>
            <a:srgbClr val="FFFFFF"/>
          </a:solidFill>
          <a:ln w="6350">
            <a:solidFill>
              <a:srgbClr val="D5DAE1"/>
            </a:solidFill>
            <a:prstDash val="solid"/>
          </a:ln>
        </p:spPr>
      </p:sp>
      <p:sp>
        <p:nvSpPr>
          <p:cNvPr id="38" name="Shape 36"/>
          <p:cNvSpPr/>
          <p:nvPr/>
        </p:nvSpPr>
        <p:spPr>
          <a:xfrm>
            <a:off x="7296912" y="3383280"/>
            <a:ext cx="329184" cy="283464"/>
          </a:xfrm>
          <a:prstGeom prst="rect">
            <a:avLst/>
          </a:prstGeom>
          <a:solidFill>
            <a:srgbClr val="FFFFFF"/>
          </a:solidFill>
          <a:ln w="6350">
            <a:solidFill>
              <a:srgbClr val="D5DAE1"/>
            </a:solidFill>
            <a:prstDash val="solid"/>
          </a:ln>
        </p:spPr>
      </p:sp>
      <p:sp>
        <p:nvSpPr>
          <p:cNvPr id="39" name="Shape 37"/>
          <p:cNvSpPr/>
          <p:nvPr/>
        </p:nvSpPr>
        <p:spPr>
          <a:xfrm>
            <a:off x="7296912" y="3081528"/>
            <a:ext cx="329184" cy="283464"/>
          </a:xfrm>
          <a:prstGeom prst="rect">
            <a:avLst/>
          </a:prstGeom>
          <a:solidFill>
            <a:srgbClr val="FFFFFF"/>
          </a:solidFill>
          <a:ln w="6350">
            <a:solidFill>
              <a:srgbClr val="D5DAE1"/>
            </a:solidFill>
            <a:prstDash val="solid"/>
          </a:ln>
        </p:spPr>
      </p:sp>
      <p:sp>
        <p:nvSpPr>
          <p:cNvPr id="40" name="Shape 38"/>
          <p:cNvSpPr/>
          <p:nvPr/>
        </p:nvSpPr>
        <p:spPr>
          <a:xfrm>
            <a:off x="7296912" y="2779776"/>
            <a:ext cx="329184" cy="283464"/>
          </a:xfrm>
          <a:prstGeom prst="rect">
            <a:avLst/>
          </a:prstGeom>
          <a:solidFill>
            <a:srgbClr val="FFFFFF"/>
          </a:solidFill>
          <a:ln w="6350">
            <a:solidFill>
              <a:srgbClr val="D5DAE1"/>
            </a:solidFill>
            <a:prstDash val="solid"/>
          </a:ln>
        </p:spPr>
      </p:sp>
      <p:sp>
        <p:nvSpPr>
          <p:cNvPr id="41" name="Shape 39"/>
          <p:cNvSpPr/>
          <p:nvPr/>
        </p:nvSpPr>
        <p:spPr>
          <a:xfrm>
            <a:off x="7296912" y="2478024"/>
            <a:ext cx="329184" cy="283464"/>
          </a:xfrm>
          <a:prstGeom prst="rect">
            <a:avLst/>
          </a:prstGeom>
          <a:solidFill>
            <a:srgbClr val="FFFFFF"/>
          </a:solidFill>
          <a:ln w="6350">
            <a:solidFill>
              <a:srgbClr val="D5DAE1"/>
            </a:solidFill>
            <a:prstDash val="solid"/>
          </a:ln>
        </p:spPr>
      </p:sp>
      <p:sp>
        <p:nvSpPr>
          <p:cNvPr id="42" name="Shape 40"/>
          <p:cNvSpPr/>
          <p:nvPr/>
        </p:nvSpPr>
        <p:spPr>
          <a:xfrm>
            <a:off x="7296912" y="2176272"/>
            <a:ext cx="329184" cy="283464"/>
          </a:xfrm>
          <a:prstGeom prst="rect">
            <a:avLst/>
          </a:prstGeom>
          <a:solidFill>
            <a:srgbClr val="FFFFFF"/>
          </a:solidFill>
          <a:ln w="6350">
            <a:solidFill>
              <a:srgbClr val="D5DAE1"/>
            </a:solidFill>
            <a:prstDash val="solid"/>
          </a:ln>
        </p:spPr>
      </p:sp>
      <p:sp>
        <p:nvSpPr>
          <p:cNvPr id="43" name="Shape 41"/>
          <p:cNvSpPr/>
          <p:nvPr/>
        </p:nvSpPr>
        <p:spPr>
          <a:xfrm>
            <a:off x="7296912" y="1874520"/>
            <a:ext cx="329184" cy="283464"/>
          </a:xfrm>
          <a:prstGeom prst="rect">
            <a:avLst/>
          </a:prstGeom>
          <a:solidFill>
            <a:srgbClr val="FFFFFF"/>
          </a:solidFill>
          <a:ln w="6350">
            <a:solidFill>
              <a:srgbClr val="D5DAE1"/>
            </a:solidFill>
            <a:prstDash val="solid"/>
          </a:ln>
        </p:spPr>
      </p:sp>
      <p:sp>
        <p:nvSpPr>
          <p:cNvPr id="44" name="Shape 42"/>
          <p:cNvSpPr/>
          <p:nvPr/>
        </p:nvSpPr>
        <p:spPr>
          <a:xfrm>
            <a:off x="7644384" y="3383280"/>
            <a:ext cx="329184" cy="283464"/>
          </a:xfrm>
          <a:prstGeom prst="rect">
            <a:avLst/>
          </a:prstGeom>
          <a:solidFill>
            <a:srgbClr val="FFFFFF"/>
          </a:solidFill>
          <a:ln w="6350">
            <a:solidFill>
              <a:srgbClr val="D5DAE1"/>
            </a:solidFill>
            <a:prstDash val="solid"/>
          </a:ln>
        </p:spPr>
      </p:sp>
      <p:sp>
        <p:nvSpPr>
          <p:cNvPr id="45" name="Shape 43"/>
          <p:cNvSpPr/>
          <p:nvPr/>
        </p:nvSpPr>
        <p:spPr>
          <a:xfrm>
            <a:off x="7644384" y="3081528"/>
            <a:ext cx="329184" cy="283464"/>
          </a:xfrm>
          <a:prstGeom prst="rect">
            <a:avLst/>
          </a:prstGeom>
          <a:solidFill>
            <a:srgbClr val="FFFFFF"/>
          </a:solidFill>
          <a:ln w="6350">
            <a:solidFill>
              <a:srgbClr val="D5DAE1"/>
            </a:solidFill>
            <a:prstDash val="solid"/>
          </a:ln>
        </p:spPr>
      </p:sp>
      <p:sp>
        <p:nvSpPr>
          <p:cNvPr id="46" name="Shape 44"/>
          <p:cNvSpPr/>
          <p:nvPr/>
        </p:nvSpPr>
        <p:spPr>
          <a:xfrm>
            <a:off x="7644384" y="2779776"/>
            <a:ext cx="329184" cy="283464"/>
          </a:xfrm>
          <a:prstGeom prst="rect">
            <a:avLst/>
          </a:prstGeom>
          <a:solidFill>
            <a:srgbClr val="FFFFFF"/>
          </a:solidFill>
          <a:ln w="6350">
            <a:solidFill>
              <a:srgbClr val="D5DAE1"/>
            </a:solidFill>
            <a:prstDash val="solid"/>
          </a:ln>
        </p:spPr>
      </p:sp>
      <p:sp>
        <p:nvSpPr>
          <p:cNvPr id="47" name="Shape 45"/>
          <p:cNvSpPr/>
          <p:nvPr/>
        </p:nvSpPr>
        <p:spPr>
          <a:xfrm>
            <a:off x="7644384" y="2478024"/>
            <a:ext cx="329184" cy="283464"/>
          </a:xfrm>
          <a:prstGeom prst="rect">
            <a:avLst/>
          </a:prstGeom>
          <a:solidFill>
            <a:srgbClr val="FFFFFF"/>
          </a:solidFill>
          <a:ln w="6350">
            <a:solidFill>
              <a:srgbClr val="D5DAE1"/>
            </a:solidFill>
            <a:prstDash val="solid"/>
          </a:ln>
        </p:spPr>
      </p:sp>
      <p:sp>
        <p:nvSpPr>
          <p:cNvPr id="48" name="Shape 46"/>
          <p:cNvSpPr/>
          <p:nvPr/>
        </p:nvSpPr>
        <p:spPr>
          <a:xfrm>
            <a:off x="7644384" y="2176272"/>
            <a:ext cx="329184" cy="283464"/>
          </a:xfrm>
          <a:prstGeom prst="rect">
            <a:avLst/>
          </a:prstGeom>
          <a:solidFill>
            <a:srgbClr val="FFFFFF"/>
          </a:solidFill>
          <a:ln w="6350">
            <a:solidFill>
              <a:srgbClr val="D5DAE1"/>
            </a:solidFill>
            <a:prstDash val="solid"/>
          </a:ln>
        </p:spPr>
      </p:sp>
      <p:sp>
        <p:nvSpPr>
          <p:cNvPr id="49" name="Shape 47"/>
          <p:cNvSpPr/>
          <p:nvPr/>
        </p:nvSpPr>
        <p:spPr>
          <a:xfrm>
            <a:off x="7644384" y="1874520"/>
            <a:ext cx="329184" cy="283464"/>
          </a:xfrm>
          <a:prstGeom prst="rect">
            <a:avLst/>
          </a:prstGeom>
          <a:solidFill>
            <a:srgbClr val="FFFFFF"/>
          </a:solidFill>
          <a:ln w="6350">
            <a:solidFill>
              <a:srgbClr val="D5DAE1"/>
            </a:solidFill>
            <a:prstDash val="solid"/>
          </a:ln>
        </p:spPr>
      </p:sp>
      <p:sp>
        <p:nvSpPr>
          <p:cNvPr id="50" name="Shape 48"/>
          <p:cNvSpPr/>
          <p:nvPr/>
        </p:nvSpPr>
        <p:spPr>
          <a:xfrm>
            <a:off x="7991856" y="3383280"/>
            <a:ext cx="329184" cy="283464"/>
          </a:xfrm>
          <a:prstGeom prst="rect">
            <a:avLst/>
          </a:prstGeom>
          <a:solidFill>
            <a:srgbClr val="E8934D"/>
          </a:solidFill>
          <a:ln w="6350">
            <a:solidFill>
              <a:srgbClr val="D5DAE1"/>
            </a:solidFill>
            <a:prstDash val="solid"/>
          </a:ln>
        </p:spPr>
      </p:sp>
      <p:sp>
        <p:nvSpPr>
          <p:cNvPr id="51" name="Shape 49"/>
          <p:cNvSpPr/>
          <p:nvPr/>
        </p:nvSpPr>
        <p:spPr>
          <a:xfrm>
            <a:off x="7991856" y="3081528"/>
            <a:ext cx="329184" cy="283464"/>
          </a:xfrm>
          <a:prstGeom prst="rect">
            <a:avLst/>
          </a:prstGeom>
          <a:solidFill>
            <a:srgbClr val="E8934D"/>
          </a:solidFill>
          <a:ln w="6350">
            <a:solidFill>
              <a:srgbClr val="D5DAE1"/>
            </a:solidFill>
            <a:prstDash val="solid"/>
          </a:ln>
        </p:spPr>
      </p:sp>
      <p:sp>
        <p:nvSpPr>
          <p:cNvPr id="52" name="Shape 50"/>
          <p:cNvSpPr/>
          <p:nvPr/>
        </p:nvSpPr>
        <p:spPr>
          <a:xfrm>
            <a:off x="7991856" y="2779776"/>
            <a:ext cx="329184" cy="283464"/>
          </a:xfrm>
          <a:prstGeom prst="rect">
            <a:avLst/>
          </a:prstGeom>
          <a:solidFill>
            <a:srgbClr val="FFFFFF"/>
          </a:solidFill>
          <a:ln w="6350">
            <a:solidFill>
              <a:srgbClr val="D5DAE1"/>
            </a:solidFill>
            <a:prstDash val="solid"/>
          </a:ln>
        </p:spPr>
      </p:sp>
      <p:sp>
        <p:nvSpPr>
          <p:cNvPr id="53" name="Shape 51"/>
          <p:cNvSpPr/>
          <p:nvPr/>
        </p:nvSpPr>
        <p:spPr>
          <a:xfrm>
            <a:off x="7991856" y="2478024"/>
            <a:ext cx="329184" cy="283464"/>
          </a:xfrm>
          <a:prstGeom prst="rect">
            <a:avLst/>
          </a:prstGeom>
          <a:solidFill>
            <a:srgbClr val="FFFFFF"/>
          </a:solidFill>
          <a:ln w="6350">
            <a:solidFill>
              <a:srgbClr val="D5DAE1"/>
            </a:solidFill>
            <a:prstDash val="solid"/>
          </a:ln>
        </p:spPr>
      </p:sp>
      <p:sp>
        <p:nvSpPr>
          <p:cNvPr id="54" name="Shape 52"/>
          <p:cNvSpPr/>
          <p:nvPr/>
        </p:nvSpPr>
        <p:spPr>
          <a:xfrm>
            <a:off x="7991856" y="2176272"/>
            <a:ext cx="329184" cy="283464"/>
          </a:xfrm>
          <a:prstGeom prst="rect">
            <a:avLst/>
          </a:prstGeom>
          <a:solidFill>
            <a:srgbClr val="FFFFFF"/>
          </a:solidFill>
          <a:ln w="6350">
            <a:solidFill>
              <a:srgbClr val="D5DAE1"/>
            </a:solidFill>
            <a:prstDash val="solid"/>
          </a:ln>
        </p:spPr>
      </p:sp>
      <p:sp>
        <p:nvSpPr>
          <p:cNvPr id="55" name="Shape 53"/>
          <p:cNvSpPr/>
          <p:nvPr/>
        </p:nvSpPr>
        <p:spPr>
          <a:xfrm>
            <a:off x="7991856" y="1874520"/>
            <a:ext cx="329184" cy="283464"/>
          </a:xfrm>
          <a:prstGeom prst="rect">
            <a:avLst/>
          </a:prstGeom>
          <a:solidFill>
            <a:srgbClr val="FFFFFF"/>
          </a:solidFill>
          <a:ln w="6350">
            <a:solidFill>
              <a:srgbClr val="D5DAE1"/>
            </a:solidFill>
            <a:prstDash val="solid"/>
          </a:ln>
        </p:spPr>
      </p:sp>
      <p:sp>
        <p:nvSpPr>
          <p:cNvPr id="56" name="Shape 54"/>
          <p:cNvSpPr/>
          <p:nvPr/>
        </p:nvSpPr>
        <p:spPr>
          <a:xfrm>
            <a:off x="8339328" y="3383280"/>
            <a:ext cx="329184" cy="283464"/>
          </a:xfrm>
          <a:prstGeom prst="rect">
            <a:avLst/>
          </a:prstGeom>
          <a:solidFill>
            <a:srgbClr val="E8934D"/>
          </a:solidFill>
          <a:ln w="6350">
            <a:solidFill>
              <a:srgbClr val="D5DAE1"/>
            </a:solidFill>
            <a:prstDash val="solid"/>
          </a:ln>
        </p:spPr>
      </p:sp>
      <p:sp>
        <p:nvSpPr>
          <p:cNvPr id="57" name="Shape 55"/>
          <p:cNvSpPr/>
          <p:nvPr/>
        </p:nvSpPr>
        <p:spPr>
          <a:xfrm>
            <a:off x="8339328" y="3081528"/>
            <a:ext cx="329184" cy="283464"/>
          </a:xfrm>
          <a:prstGeom prst="rect">
            <a:avLst/>
          </a:prstGeom>
          <a:solidFill>
            <a:srgbClr val="E8934D"/>
          </a:solidFill>
          <a:ln w="6350">
            <a:solidFill>
              <a:srgbClr val="D5DAE1"/>
            </a:solidFill>
            <a:prstDash val="solid"/>
          </a:ln>
        </p:spPr>
      </p:sp>
      <p:sp>
        <p:nvSpPr>
          <p:cNvPr id="58" name="Shape 56"/>
          <p:cNvSpPr/>
          <p:nvPr/>
        </p:nvSpPr>
        <p:spPr>
          <a:xfrm>
            <a:off x="8339328" y="2779776"/>
            <a:ext cx="329184" cy="283464"/>
          </a:xfrm>
          <a:prstGeom prst="rect">
            <a:avLst/>
          </a:prstGeom>
          <a:solidFill>
            <a:srgbClr val="FFFFFF"/>
          </a:solidFill>
          <a:ln w="6350">
            <a:solidFill>
              <a:srgbClr val="D5DAE1"/>
            </a:solidFill>
            <a:prstDash val="solid"/>
          </a:ln>
        </p:spPr>
      </p:sp>
      <p:sp>
        <p:nvSpPr>
          <p:cNvPr id="59" name="Shape 57"/>
          <p:cNvSpPr/>
          <p:nvPr/>
        </p:nvSpPr>
        <p:spPr>
          <a:xfrm>
            <a:off x="8339328" y="2478024"/>
            <a:ext cx="329184" cy="283464"/>
          </a:xfrm>
          <a:prstGeom prst="rect">
            <a:avLst/>
          </a:prstGeom>
          <a:solidFill>
            <a:srgbClr val="FFFFFF"/>
          </a:solidFill>
          <a:ln w="6350">
            <a:solidFill>
              <a:srgbClr val="D5DAE1"/>
            </a:solidFill>
            <a:prstDash val="solid"/>
          </a:ln>
        </p:spPr>
      </p:sp>
      <p:sp>
        <p:nvSpPr>
          <p:cNvPr id="60" name="Shape 58"/>
          <p:cNvSpPr/>
          <p:nvPr/>
        </p:nvSpPr>
        <p:spPr>
          <a:xfrm>
            <a:off x="8339328" y="2176272"/>
            <a:ext cx="329184" cy="283464"/>
          </a:xfrm>
          <a:prstGeom prst="rect">
            <a:avLst/>
          </a:prstGeom>
          <a:solidFill>
            <a:srgbClr val="FFFFFF"/>
          </a:solidFill>
          <a:ln w="6350">
            <a:solidFill>
              <a:srgbClr val="D5DAE1"/>
            </a:solidFill>
            <a:prstDash val="solid"/>
          </a:ln>
        </p:spPr>
      </p:sp>
      <p:sp>
        <p:nvSpPr>
          <p:cNvPr id="61" name="Shape 59"/>
          <p:cNvSpPr/>
          <p:nvPr/>
        </p:nvSpPr>
        <p:spPr>
          <a:xfrm>
            <a:off x="8339328" y="1874520"/>
            <a:ext cx="329184" cy="283464"/>
          </a:xfrm>
          <a:prstGeom prst="rect">
            <a:avLst/>
          </a:prstGeom>
          <a:solidFill>
            <a:srgbClr val="FFFFFF"/>
          </a:solidFill>
          <a:ln w="6350">
            <a:solidFill>
              <a:srgbClr val="D5DAE1"/>
            </a:solidFill>
            <a:prstDash val="solid"/>
          </a:ln>
        </p:spPr>
      </p:sp>
      <p:sp>
        <p:nvSpPr>
          <p:cNvPr id="62" name="Shape 60"/>
          <p:cNvSpPr/>
          <p:nvPr/>
        </p:nvSpPr>
        <p:spPr>
          <a:xfrm>
            <a:off x="8686800" y="3383280"/>
            <a:ext cx="329184" cy="283464"/>
          </a:xfrm>
          <a:prstGeom prst="rect">
            <a:avLst/>
          </a:prstGeom>
          <a:solidFill>
            <a:srgbClr val="E8934D"/>
          </a:solidFill>
          <a:ln w="6350">
            <a:solidFill>
              <a:srgbClr val="D5DAE1"/>
            </a:solidFill>
            <a:prstDash val="solid"/>
          </a:ln>
        </p:spPr>
      </p:sp>
      <p:sp>
        <p:nvSpPr>
          <p:cNvPr id="63" name="Shape 61"/>
          <p:cNvSpPr/>
          <p:nvPr/>
        </p:nvSpPr>
        <p:spPr>
          <a:xfrm>
            <a:off x="8686800" y="3081528"/>
            <a:ext cx="329184" cy="283464"/>
          </a:xfrm>
          <a:prstGeom prst="rect">
            <a:avLst/>
          </a:prstGeom>
          <a:solidFill>
            <a:srgbClr val="E8934D"/>
          </a:solidFill>
          <a:ln w="6350">
            <a:solidFill>
              <a:srgbClr val="D5DAE1"/>
            </a:solidFill>
            <a:prstDash val="solid"/>
          </a:ln>
        </p:spPr>
      </p:sp>
      <p:sp>
        <p:nvSpPr>
          <p:cNvPr id="64" name="Shape 62"/>
          <p:cNvSpPr/>
          <p:nvPr/>
        </p:nvSpPr>
        <p:spPr>
          <a:xfrm>
            <a:off x="8686800" y="2779776"/>
            <a:ext cx="329184" cy="283464"/>
          </a:xfrm>
          <a:prstGeom prst="rect">
            <a:avLst/>
          </a:prstGeom>
          <a:solidFill>
            <a:srgbClr val="FFFFFF"/>
          </a:solidFill>
          <a:ln w="6350">
            <a:solidFill>
              <a:srgbClr val="D5DAE1"/>
            </a:solidFill>
            <a:prstDash val="solid"/>
          </a:ln>
        </p:spPr>
      </p:sp>
      <p:sp>
        <p:nvSpPr>
          <p:cNvPr id="65" name="Shape 63"/>
          <p:cNvSpPr/>
          <p:nvPr/>
        </p:nvSpPr>
        <p:spPr>
          <a:xfrm>
            <a:off x="8686800" y="2478024"/>
            <a:ext cx="329184" cy="283464"/>
          </a:xfrm>
          <a:prstGeom prst="rect">
            <a:avLst/>
          </a:prstGeom>
          <a:solidFill>
            <a:srgbClr val="FFFFFF"/>
          </a:solidFill>
          <a:ln w="6350">
            <a:solidFill>
              <a:srgbClr val="D5DAE1"/>
            </a:solidFill>
            <a:prstDash val="solid"/>
          </a:ln>
        </p:spPr>
      </p:sp>
      <p:sp>
        <p:nvSpPr>
          <p:cNvPr id="66" name="Shape 64"/>
          <p:cNvSpPr/>
          <p:nvPr/>
        </p:nvSpPr>
        <p:spPr>
          <a:xfrm>
            <a:off x="8686800" y="2176272"/>
            <a:ext cx="329184" cy="283464"/>
          </a:xfrm>
          <a:prstGeom prst="rect">
            <a:avLst/>
          </a:prstGeom>
          <a:solidFill>
            <a:srgbClr val="FFFFFF"/>
          </a:solidFill>
          <a:ln w="6350">
            <a:solidFill>
              <a:srgbClr val="D5DAE1"/>
            </a:solidFill>
            <a:prstDash val="solid"/>
          </a:ln>
        </p:spPr>
      </p:sp>
      <p:sp>
        <p:nvSpPr>
          <p:cNvPr id="67" name="Shape 65"/>
          <p:cNvSpPr/>
          <p:nvPr/>
        </p:nvSpPr>
        <p:spPr>
          <a:xfrm>
            <a:off x="8686800" y="1874520"/>
            <a:ext cx="329184" cy="283464"/>
          </a:xfrm>
          <a:prstGeom prst="rect">
            <a:avLst/>
          </a:prstGeom>
          <a:solidFill>
            <a:srgbClr val="FFFFFF"/>
          </a:solidFill>
          <a:ln w="6350">
            <a:solidFill>
              <a:srgbClr val="D5DAE1"/>
            </a:solidFill>
            <a:prstDash val="solid"/>
          </a:ln>
        </p:spPr>
      </p:sp>
      <p:sp>
        <p:nvSpPr>
          <p:cNvPr id="68" name="Shape 66"/>
          <p:cNvSpPr/>
          <p:nvPr/>
        </p:nvSpPr>
        <p:spPr>
          <a:xfrm>
            <a:off x="9034272" y="3383280"/>
            <a:ext cx="329184" cy="283464"/>
          </a:xfrm>
          <a:prstGeom prst="rect">
            <a:avLst/>
          </a:prstGeom>
          <a:solidFill>
            <a:srgbClr val="E8934D"/>
          </a:solidFill>
          <a:ln w="6350">
            <a:solidFill>
              <a:srgbClr val="D5DAE1"/>
            </a:solidFill>
            <a:prstDash val="solid"/>
          </a:ln>
        </p:spPr>
      </p:sp>
      <p:sp>
        <p:nvSpPr>
          <p:cNvPr id="69" name="Shape 67"/>
          <p:cNvSpPr/>
          <p:nvPr/>
        </p:nvSpPr>
        <p:spPr>
          <a:xfrm>
            <a:off x="9034272" y="3081528"/>
            <a:ext cx="329184" cy="283464"/>
          </a:xfrm>
          <a:prstGeom prst="rect">
            <a:avLst/>
          </a:prstGeom>
          <a:solidFill>
            <a:srgbClr val="E8934D"/>
          </a:solidFill>
          <a:ln w="6350">
            <a:solidFill>
              <a:srgbClr val="D5DAE1"/>
            </a:solidFill>
            <a:prstDash val="solid"/>
          </a:ln>
        </p:spPr>
      </p:sp>
      <p:sp>
        <p:nvSpPr>
          <p:cNvPr id="70" name="Shape 68"/>
          <p:cNvSpPr/>
          <p:nvPr/>
        </p:nvSpPr>
        <p:spPr>
          <a:xfrm>
            <a:off x="9034272" y="2779776"/>
            <a:ext cx="329184" cy="283464"/>
          </a:xfrm>
          <a:prstGeom prst="rect">
            <a:avLst/>
          </a:prstGeom>
          <a:solidFill>
            <a:srgbClr val="FFFFFF"/>
          </a:solidFill>
          <a:ln w="6350">
            <a:solidFill>
              <a:srgbClr val="D5DAE1"/>
            </a:solidFill>
            <a:prstDash val="solid"/>
          </a:ln>
        </p:spPr>
      </p:sp>
      <p:sp>
        <p:nvSpPr>
          <p:cNvPr id="71" name="Shape 69"/>
          <p:cNvSpPr/>
          <p:nvPr/>
        </p:nvSpPr>
        <p:spPr>
          <a:xfrm>
            <a:off x="9034272" y="2478024"/>
            <a:ext cx="329184" cy="283464"/>
          </a:xfrm>
          <a:prstGeom prst="rect">
            <a:avLst/>
          </a:prstGeom>
          <a:solidFill>
            <a:srgbClr val="FFFFFF"/>
          </a:solidFill>
          <a:ln w="6350">
            <a:solidFill>
              <a:srgbClr val="D5DAE1"/>
            </a:solidFill>
            <a:prstDash val="solid"/>
          </a:ln>
        </p:spPr>
      </p:sp>
      <p:sp>
        <p:nvSpPr>
          <p:cNvPr id="72" name="Shape 70"/>
          <p:cNvSpPr/>
          <p:nvPr/>
        </p:nvSpPr>
        <p:spPr>
          <a:xfrm>
            <a:off x="9034272" y="2176272"/>
            <a:ext cx="329184" cy="283464"/>
          </a:xfrm>
          <a:prstGeom prst="rect">
            <a:avLst/>
          </a:prstGeom>
          <a:solidFill>
            <a:srgbClr val="FFFFFF"/>
          </a:solidFill>
          <a:ln w="6350">
            <a:solidFill>
              <a:srgbClr val="D5DAE1"/>
            </a:solidFill>
            <a:prstDash val="solid"/>
          </a:ln>
        </p:spPr>
      </p:sp>
      <p:sp>
        <p:nvSpPr>
          <p:cNvPr id="73" name="Shape 71"/>
          <p:cNvSpPr/>
          <p:nvPr/>
        </p:nvSpPr>
        <p:spPr>
          <a:xfrm>
            <a:off x="9034272" y="1874520"/>
            <a:ext cx="329184" cy="283464"/>
          </a:xfrm>
          <a:prstGeom prst="rect">
            <a:avLst/>
          </a:prstGeom>
          <a:solidFill>
            <a:srgbClr val="FFFFFF"/>
          </a:solidFill>
          <a:ln w="6350">
            <a:solidFill>
              <a:srgbClr val="D5DAE1"/>
            </a:solidFill>
            <a:prstDash val="solid"/>
          </a:ln>
        </p:spPr>
      </p:sp>
      <p:sp>
        <p:nvSpPr>
          <p:cNvPr id="74" name="Shape 72"/>
          <p:cNvSpPr/>
          <p:nvPr/>
        </p:nvSpPr>
        <p:spPr>
          <a:xfrm>
            <a:off x="9381744" y="3383280"/>
            <a:ext cx="329184" cy="283464"/>
          </a:xfrm>
          <a:prstGeom prst="rect">
            <a:avLst/>
          </a:prstGeom>
          <a:solidFill>
            <a:srgbClr val="E8934D"/>
          </a:solidFill>
          <a:ln w="6350">
            <a:solidFill>
              <a:srgbClr val="D5DAE1"/>
            </a:solidFill>
            <a:prstDash val="solid"/>
          </a:ln>
        </p:spPr>
      </p:sp>
      <p:sp>
        <p:nvSpPr>
          <p:cNvPr id="75" name="Shape 73"/>
          <p:cNvSpPr/>
          <p:nvPr/>
        </p:nvSpPr>
        <p:spPr>
          <a:xfrm>
            <a:off x="9381744" y="3081528"/>
            <a:ext cx="329184" cy="283464"/>
          </a:xfrm>
          <a:prstGeom prst="rect">
            <a:avLst/>
          </a:prstGeom>
          <a:solidFill>
            <a:srgbClr val="E8934D"/>
          </a:solidFill>
          <a:ln w="6350">
            <a:solidFill>
              <a:srgbClr val="D5DAE1"/>
            </a:solidFill>
            <a:prstDash val="solid"/>
          </a:ln>
        </p:spPr>
      </p:sp>
      <p:sp>
        <p:nvSpPr>
          <p:cNvPr id="76" name="Shape 74"/>
          <p:cNvSpPr/>
          <p:nvPr/>
        </p:nvSpPr>
        <p:spPr>
          <a:xfrm>
            <a:off x="9381744" y="2779776"/>
            <a:ext cx="329184" cy="283464"/>
          </a:xfrm>
          <a:prstGeom prst="rect">
            <a:avLst/>
          </a:prstGeom>
          <a:solidFill>
            <a:srgbClr val="FFFFFF"/>
          </a:solidFill>
          <a:ln w="6350">
            <a:solidFill>
              <a:srgbClr val="D5DAE1"/>
            </a:solidFill>
            <a:prstDash val="solid"/>
          </a:ln>
        </p:spPr>
      </p:sp>
      <p:sp>
        <p:nvSpPr>
          <p:cNvPr id="77" name="Shape 75"/>
          <p:cNvSpPr/>
          <p:nvPr/>
        </p:nvSpPr>
        <p:spPr>
          <a:xfrm>
            <a:off x="9381744" y="2478024"/>
            <a:ext cx="329184" cy="283464"/>
          </a:xfrm>
          <a:prstGeom prst="rect">
            <a:avLst/>
          </a:prstGeom>
          <a:solidFill>
            <a:srgbClr val="FFFFFF"/>
          </a:solidFill>
          <a:ln w="6350">
            <a:solidFill>
              <a:srgbClr val="D5DAE1"/>
            </a:solidFill>
            <a:prstDash val="solid"/>
          </a:ln>
        </p:spPr>
      </p:sp>
      <p:sp>
        <p:nvSpPr>
          <p:cNvPr id="78" name="Shape 76"/>
          <p:cNvSpPr/>
          <p:nvPr/>
        </p:nvSpPr>
        <p:spPr>
          <a:xfrm>
            <a:off x="9381744" y="2176272"/>
            <a:ext cx="329184" cy="283464"/>
          </a:xfrm>
          <a:prstGeom prst="rect">
            <a:avLst/>
          </a:prstGeom>
          <a:solidFill>
            <a:srgbClr val="FFFFFF"/>
          </a:solidFill>
          <a:ln w="6350">
            <a:solidFill>
              <a:srgbClr val="D5DAE1"/>
            </a:solidFill>
            <a:prstDash val="solid"/>
          </a:ln>
        </p:spPr>
      </p:sp>
      <p:sp>
        <p:nvSpPr>
          <p:cNvPr id="79" name="Shape 77"/>
          <p:cNvSpPr/>
          <p:nvPr/>
        </p:nvSpPr>
        <p:spPr>
          <a:xfrm>
            <a:off x="9381744" y="1874520"/>
            <a:ext cx="329184" cy="283464"/>
          </a:xfrm>
          <a:prstGeom prst="rect">
            <a:avLst/>
          </a:prstGeom>
          <a:solidFill>
            <a:srgbClr val="FFFFFF"/>
          </a:solidFill>
          <a:ln w="6350">
            <a:solidFill>
              <a:srgbClr val="D5DAE1"/>
            </a:solidFill>
            <a:prstDash val="solid"/>
          </a:ln>
        </p:spPr>
      </p:sp>
      <p:sp>
        <p:nvSpPr>
          <p:cNvPr id="80" name="Shape 78"/>
          <p:cNvSpPr/>
          <p:nvPr/>
        </p:nvSpPr>
        <p:spPr>
          <a:xfrm>
            <a:off x="9729216" y="3383280"/>
            <a:ext cx="329184" cy="283464"/>
          </a:xfrm>
          <a:prstGeom prst="rect">
            <a:avLst/>
          </a:prstGeom>
          <a:solidFill>
            <a:srgbClr val="B04A3F"/>
          </a:solidFill>
          <a:ln w="6350">
            <a:solidFill>
              <a:srgbClr val="D5DAE1"/>
            </a:solidFill>
            <a:prstDash val="solid"/>
          </a:ln>
        </p:spPr>
      </p:sp>
      <p:sp>
        <p:nvSpPr>
          <p:cNvPr id="81" name="Shape 79"/>
          <p:cNvSpPr/>
          <p:nvPr/>
        </p:nvSpPr>
        <p:spPr>
          <a:xfrm>
            <a:off x="9729216" y="3081528"/>
            <a:ext cx="329184" cy="283464"/>
          </a:xfrm>
          <a:prstGeom prst="rect">
            <a:avLst/>
          </a:prstGeom>
          <a:solidFill>
            <a:srgbClr val="E8934D"/>
          </a:solidFill>
          <a:ln w="6350">
            <a:solidFill>
              <a:srgbClr val="D5DAE1"/>
            </a:solidFill>
            <a:prstDash val="solid"/>
          </a:ln>
        </p:spPr>
      </p:sp>
      <p:sp>
        <p:nvSpPr>
          <p:cNvPr id="82" name="Shape 80"/>
          <p:cNvSpPr/>
          <p:nvPr/>
        </p:nvSpPr>
        <p:spPr>
          <a:xfrm>
            <a:off x="9729216" y="2779776"/>
            <a:ext cx="329184" cy="283464"/>
          </a:xfrm>
          <a:prstGeom prst="rect">
            <a:avLst/>
          </a:prstGeom>
          <a:solidFill>
            <a:srgbClr val="FFFFFF"/>
          </a:solidFill>
          <a:ln w="6350">
            <a:solidFill>
              <a:srgbClr val="D5DAE1"/>
            </a:solidFill>
            <a:prstDash val="solid"/>
          </a:ln>
        </p:spPr>
      </p:sp>
      <p:sp>
        <p:nvSpPr>
          <p:cNvPr id="83" name="Shape 81"/>
          <p:cNvSpPr/>
          <p:nvPr/>
        </p:nvSpPr>
        <p:spPr>
          <a:xfrm>
            <a:off x="9729216" y="2478024"/>
            <a:ext cx="329184" cy="283464"/>
          </a:xfrm>
          <a:prstGeom prst="rect">
            <a:avLst/>
          </a:prstGeom>
          <a:solidFill>
            <a:srgbClr val="FFFFFF"/>
          </a:solidFill>
          <a:ln w="6350">
            <a:solidFill>
              <a:srgbClr val="D5DAE1"/>
            </a:solidFill>
            <a:prstDash val="solid"/>
          </a:ln>
        </p:spPr>
      </p:sp>
      <p:sp>
        <p:nvSpPr>
          <p:cNvPr id="84" name="Shape 82"/>
          <p:cNvSpPr/>
          <p:nvPr/>
        </p:nvSpPr>
        <p:spPr>
          <a:xfrm>
            <a:off x="9729216" y="2176272"/>
            <a:ext cx="329184" cy="283464"/>
          </a:xfrm>
          <a:prstGeom prst="rect">
            <a:avLst/>
          </a:prstGeom>
          <a:solidFill>
            <a:srgbClr val="FFFFFF"/>
          </a:solidFill>
          <a:ln w="6350">
            <a:solidFill>
              <a:srgbClr val="D5DAE1"/>
            </a:solidFill>
            <a:prstDash val="solid"/>
          </a:ln>
        </p:spPr>
      </p:sp>
      <p:sp>
        <p:nvSpPr>
          <p:cNvPr id="85" name="Shape 83"/>
          <p:cNvSpPr/>
          <p:nvPr/>
        </p:nvSpPr>
        <p:spPr>
          <a:xfrm>
            <a:off x="9729216" y="1874520"/>
            <a:ext cx="329184" cy="283464"/>
          </a:xfrm>
          <a:prstGeom prst="rect">
            <a:avLst/>
          </a:prstGeom>
          <a:solidFill>
            <a:srgbClr val="FFFFFF"/>
          </a:solidFill>
          <a:ln w="6350">
            <a:solidFill>
              <a:srgbClr val="D5DAE1"/>
            </a:solidFill>
            <a:prstDash val="solid"/>
          </a:ln>
        </p:spPr>
      </p:sp>
      <p:sp>
        <p:nvSpPr>
          <p:cNvPr id="86" name="Shape 84"/>
          <p:cNvSpPr/>
          <p:nvPr/>
        </p:nvSpPr>
        <p:spPr>
          <a:xfrm>
            <a:off x="10076688" y="3383280"/>
            <a:ext cx="329184" cy="283464"/>
          </a:xfrm>
          <a:prstGeom prst="rect">
            <a:avLst/>
          </a:prstGeom>
          <a:solidFill>
            <a:srgbClr val="1F6F78"/>
          </a:solidFill>
          <a:ln w="6350">
            <a:solidFill>
              <a:srgbClr val="D5DAE1"/>
            </a:solidFill>
            <a:prstDash val="solid"/>
          </a:ln>
        </p:spPr>
      </p:sp>
      <p:sp>
        <p:nvSpPr>
          <p:cNvPr id="87" name="Shape 85"/>
          <p:cNvSpPr/>
          <p:nvPr/>
        </p:nvSpPr>
        <p:spPr>
          <a:xfrm>
            <a:off x="10076688" y="3081528"/>
            <a:ext cx="329184" cy="283464"/>
          </a:xfrm>
          <a:prstGeom prst="rect">
            <a:avLst/>
          </a:prstGeom>
          <a:solidFill>
            <a:srgbClr val="FFFFFF"/>
          </a:solidFill>
          <a:ln w="6350">
            <a:solidFill>
              <a:srgbClr val="D5DAE1"/>
            </a:solidFill>
            <a:prstDash val="solid"/>
          </a:ln>
        </p:spPr>
      </p:sp>
      <p:sp>
        <p:nvSpPr>
          <p:cNvPr id="88" name="Shape 86"/>
          <p:cNvSpPr/>
          <p:nvPr/>
        </p:nvSpPr>
        <p:spPr>
          <a:xfrm>
            <a:off x="10076688" y="2779776"/>
            <a:ext cx="329184" cy="283464"/>
          </a:xfrm>
          <a:prstGeom prst="rect">
            <a:avLst/>
          </a:prstGeom>
          <a:solidFill>
            <a:srgbClr val="FFFFFF"/>
          </a:solidFill>
          <a:ln w="6350">
            <a:solidFill>
              <a:srgbClr val="D5DAE1"/>
            </a:solidFill>
            <a:prstDash val="solid"/>
          </a:ln>
        </p:spPr>
      </p:sp>
      <p:sp>
        <p:nvSpPr>
          <p:cNvPr id="89" name="Shape 87"/>
          <p:cNvSpPr/>
          <p:nvPr/>
        </p:nvSpPr>
        <p:spPr>
          <a:xfrm>
            <a:off x="10076688" y="2478024"/>
            <a:ext cx="329184" cy="283464"/>
          </a:xfrm>
          <a:prstGeom prst="rect">
            <a:avLst/>
          </a:prstGeom>
          <a:solidFill>
            <a:srgbClr val="FFFFFF"/>
          </a:solidFill>
          <a:ln w="6350">
            <a:solidFill>
              <a:srgbClr val="D5DAE1"/>
            </a:solidFill>
            <a:prstDash val="solid"/>
          </a:ln>
        </p:spPr>
      </p:sp>
      <p:sp>
        <p:nvSpPr>
          <p:cNvPr id="90" name="Shape 88"/>
          <p:cNvSpPr/>
          <p:nvPr/>
        </p:nvSpPr>
        <p:spPr>
          <a:xfrm>
            <a:off x="10076688" y="2176272"/>
            <a:ext cx="329184" cy="283464"/>
          </a:xfrm>
          <a:prstGeom prst="rect">
            <a:avLst/>
          </a:prstGeom>
          <a:solidFill>
            <a:srgbClr val="FFFFFF"/>
          </a:solidFill>
          <a:ln w="6350">
            <a:solidFill>
              <a:srgbClr val="D5DAE1"/>
            </a:solidFill>
            <a:prstDash val="solid"/>
          </a:ln>
        </p:spPr>
      </p:sp>
      <p:sp>
        <p:nvSpPr>
          <p:cNvPr id="91" name="Shape 89"/>
          <p:cNvSpPr/>
          <p:nvPr/>
        </p:nvSpPr>
        <p:spPr>
          <a:xfrm>
            <a:off x="10076688" y="1874520"/>
            <a:ext cx="329184" cy="283464"/>
          </a:xfrm>
          <a:prstGeom prst="rect">
            <a:avLst/>
          </a:prstGeom>
          <a:solidFill>
            <a:srgbClr val="FFFFFF"/>
          </a:solidFill>
          <a:ln w="6350">
            <a:solidFill>
              <a:srgbClr val="D5DAE1"/>
            </a:solidFill>
            <a:prstDash val="solid"/>
          </a:ln>
        </p:spPr>
      </p:sp>
      <p:sp>
        <p:nvSpPr>
          <p:cNvPr id="92" name="Shape 90"/>
          <p:cNvSpPr/>
          <p:nvPr/>
        </p:nvSpPr>
        <p:spPr>
          <a:xfrm>
            <a:off x="10424160" y="3383280"/>
            <a:ext cx="329184" cy="283464"/>
          </a:xfrm>
          <a:prstGeom prst="rect">
            <a:avLst/>
          </a:prstGeom>
          <a:solidFill>
            <a:srgbClr val="1F6F78"/>
          </a:solidFill>
          <a:ln w="6350">
            <a:solidFill>
              <a:srgbClr val="D5DAE1"/>
            </a:solidFill>
            <a:prstDash val="solid"/>
          </a:ln>
        </p:spPr>
      </p:sp>
      <p:sp>
        <p:nvSpPr>
          <p:cNvPr id="93" name="Shape 91"/>
          <p:cNvSpPr/>
          <p:nvPr/>
        </p:nvSpPr>
        <p:spPr>
          <a:xfrm>
            <a:off x="10424160" y="3081528"/>
            <a:ext cx="329184" cy="283464"/>
          </a:xfrm>
          <a:prstGeom prst="rect">
            <a:avLst/>
          </a:prstGeom>
          <a:solidFill>
            <a:srgbClr val="FFFFFF"/>
          </a:solidFill>
          <a:ln w="6350">
            <a:solidFill>
              <a:srgbClr val="D5DAE1"/>
            </a:solidFill>
            <a:prstDash val="solid"/>
          </a:ln>
        </p:spPr>
      </p:sp>
      <p:sp>
        <p:nvSpPr>
          <p:cNvPr id="94" name="Shape 92"/>
          <p:cNvSpPr/>
          <p:nvPr/>
        </p:nvSpPr>
        <p:spPr>
          <a:xfrm>
            <a:off x="10424160" y="2779776"/>
            <a:ext cx="329184" cy="283464"/>
          </a:xfrm>
          <a:prstGeom prst="rect">
            <a:avLst/>
          </a:prstGeom>
          <a:solidFill>
            <a:srgbClr val="FFFFFF"/>
          </a:solidFill>
          <a:ln w="6350">
            <a:solidFill>
              <a:srgbClr val="D5DAE1"/>
            </a:solidFill>
            <a:prstDash val="solid"/>
          </a:ln>
        </p:spPr>
      </p:sp>
      <p:sp>
        <p:nvSpPr>
          <p:cNvPr id="95" name="Shape 93"/>
          <p:cNvSpPr/>
          <p:nvPr/>
        </p:nvSpPr>
        <p:spPr>
          <a:xfrm>
            <a:off x="10424160" y="2478024"/>
            <a:ext cx="329184" cy="283464"/>
          </a:xfrm>
          <a:prstGeom prst="rect">
            <a:avLst/>
          </a:prstGeom>
          <a:solidFill>
            <a:srgbClr val="FFFFFF"/>
          </a:solidFill>
          <a:ln w="6350">
            <a:solidFill>
              <a:srgbClr val="D5DAE1"/>
            </a:solidFill>
            <a:prstDash val="solid"/>
          </a:ln>
        </p:spPr>
      </p:sp>
      <p:sp>
        <p:nvSpPr>
          <p:cNvPr id="96" name="Shape 94"/>
          <p:cNvSpPr/>
          <p:nvPr/>
        </p:nvSpPr>
        <p:spPr>
          <a:xfrm>
            <a:off x="10424160" y="2176272"/>
            <a:ext cx="329184" cy="283464"/>
          </a:xfrm>
          <a:prstGeom prst="rect">
            <a:avLst/>
          </a:prstGeom>
          <a:solidFill>
            <a:srgbClr val="FFFFFF"/>
          </a:solidFill>
          <a:ln w="6350">
            <a:solidFill>
              <a:srgbClr val="D5DAE1"/>
            </a:solidFill>
            <a:prstDash val="solid"/>
          </a:ln>
        </p:spPr>
      </p:sp>
      <p:sp>
        <p:nvSpPr>
          <p:cNvPr id="97" name="Shape 95"/>
          <p:cNvSpPr/>
          <p:nvPr/>
        </p:nvSpPr>
        <p:spPr>
          <a:xfrm>
            <a:off x="10424160" y="1874520"/>
            <a:ext cx="329184" cy="283464"/>
          </a:xfrm>
          <a:prstGeom prst="rect">
            <a:avLst/>
          </a:prstGeom>
          <a:solidFill>
            <a:srgbClr val="FFFFFF"/>
          </a:solidFill>
          <a:ln w="6350">
            <a:solidFill>
              <a:srgbClr val="D5DAE1"/>
            </a:solidFill>
            <a:prstDash val="solid"/>
          </a:ln>
        </p:spPr>
      </p:sp>
      <p:sp>
        <p:nvSpPr>
          <p:cNvPr id="98" name="Shape 96"/>
          <p:cNvSpPr/>
          <p:nvPr/>
        </p:nvSpPr>
        <p:spPr>
          <a:xfrm>
            <a:off x="10771632" y="3383280"/>
            <a:ext cx="329184" cy="283464"/>
          </a:xfrm>
          <a:prstGeom prst="rect">
            <a:avLst/>
          </a:prstGeom>
          <a:solidFill>
            <a:srgbClr val="FFFFFF"/>
          </a:solidFill>
          <a:ln w="6350">
            <a:solidFill>
              <a:srgbClr val="D5DAE1"/>
            </a:solidFill>
            <a:prstDash val="solid"/>
          </a:ln>
        </p:spPr>
      </p:sp>
      <p:sp>
        <p:nvSpPr>
          <p:cNvPr id="99" name="Shape 97"/>
          <p:cNvSpPr/>
          <p:nvPr/>
        </p:nvSpPr>
        <p:spPr>
          <a:xfrm>
            <a:off x="10771632" y="3081528"/>
            <a:ext cx="329184" cy="283464"/>
          </a:xfrm>
          <a:prstGeom prst="rect">
            <a:avLst/>
          </a:prstGeom>
          <a:solidFill>
            <a:srgbClr val="FFFFFF"/>
          </a:solidFill>
          <a:ln w="6350">
            <a:solidFill>
              <a:srgbClr val="D5DAE1"/>
            </a:solidFill>
            <a:prstDash val="solid"/>
          </a:ln>
        </p:spPr>
      </p:sp>
      <p:sp>
        <p:nvSpPr>
          <p:cNvPr id="100" name="Shape 98"/>
          <p:cNvSpPr/>
          <p:nvPr/>
        </p:nvSpPr>
        <p:spPr>
          <a:xfrm>
            <a:off x="10771632" y="2779776"/>
            <a:ext cx="329184" cy="283464"/>
          </a:xfrm>
          <a:prstGeom prst="rect">
            <a:avLst/>
          </a:prstGeom>
          <a:solidFill>
            <a:srgbClr val="FFFFFF"/>
          </a:solidFill>
          <a:ln w="6350">
            <a:solidFill>
              <a:srgbClr val="D5DAE1"/>
            </a:solidFill>
            <a:prstDash val="solid"/>
          </a:ln>
        </p:spPr>
      </p:sp>
      <p:sp>
        <p:nvSpPr>
          <p:cNvPr id="101" name="Shape 99"/>
          <p:cNvSpPr/>
          <p:nvPr/>
        </p:nvSpPr>
        <p:spPr>
          <a:xfrm>
            <a:off x="10771632" y="2478024"/>
            <a:ext cx="329184" cy="283464"/>
          </a:xfrm>
          <a:prstGeom prst="rect">
            <a:avLst/>
          </a:prstGeom>
          <a:solidFill>
            <a:srgbClr val="FFFFFF"/>
          </a:solidFill>
          <a:ln w="6350">
            <a:solidFill>
              <a:srgbClr val="D5DAE1"/>
            </a:solidFill>
            <a:prstDash val="solid"/>
          </a:ln>
        </p:spPr>
      </p:sp>
      <p:sp>
        <p:nvSpPr>
          <p:cNvPr id="102" name="Shape 100"/>
          <p:cNvSpPr/>
          <p:nvPr/>
        </p:nvSpPr>
        <p:spPr>
          <a:xfrm>
            <a:off x="10771632" y="2176272"/>
            <a:ext cx="329184" cy="283464"/>
          </a:xfrm>
          <a:prstGeom prst="rect">
            <a:avLst/>
          </a:prstGeom>
          <a:solidFill>
            <a:srgbClr val="FFFFFF"/>
          </a:solidFill>
          <a:ln w="6350">
            <a:solidFill>
              <a:srgbClr val="D5DAE1"/>
            </a:solidFill>
            <a:prstDash val="solid"/>
          </a:ln>
        </p:spPr>
      </p:sp>
      <p:sp>
        <p:nvSpPr>
          <p:cNvPr id="103" name="Shape 101"/>
          <p:cNvSpPr/>
          <p:nvPr/>
        </p:nvSpPr>
        <p:spPr>
          <a:xfrm>
            <a:off x="10771632" y="1874520"/>
            <a:ext cx="329184" cy="283464"/>
          </a:xfrm>
          <a:prstGeom prst="rect">
            <a:avLst/>
          </a:prstGeom>
          <a:solidFill>
            <a:srgbClr val="FFFFFF"/>
          </a:solidFill>
          <a:ln w="6350">
            <a:solidFill>
              <a:srgbClr val="D5DAE1"/>
            </a:solidFill>
            <a:prstDash val="solid"/>
          </a:ln>
        </p:spPr>
      </p:sp>
      <p:sp>
        <p:nvSpPr>
          <p:cNvPr id="104" name="Text 102"/>
          <p:cNvSpPr txBox="1"/>
          <p:nvPr/>
        </p:nvSpPr>
        <p:spPr>
          <a:xfrm>
            <a:off x="6309360" y="1874520"/>
            <a:ext cx="621792" cy="201168"/>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高度90°</a:t>
            </a:r>
            <a:endParaRPr lang="en-US" sz="800" dirty="0"/>
          </a:p>
        </p:txBody>
      </p:sp>
      <p:sp>
        <p:nvSpPr>
          <p:cNvPr id="105" name="Text 103"/>
          <p:cNvSpPr txBox="1"/>
          <p:nvPr/>
        </p:nvSpPr>
        <p:spPr>
          <a:xfrm>
            <a:off x="6309360" y="3465576"/>
            <a:ext cx="621792" cy="201168"/>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高度0°</a:t>
            </a:r>
            <a:endParaRPr lang="en-US" sz="800" dirty="0"/>
          </a:p>
        </p:txBody>
      </p:sp>
      <p:sp>
        <p:nvSpPr>
          <p:cNvPr id="106" name="Text 104"/>
          <p:cNvSpPr txBox="1"/>
          <p:nvPr/>
        </p:nvSpPr>
        <p:spPr>
          <a:xfrm>
            <a:off x="6949440" y="3703320"/>
            <a:ext cx="4169664"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−90°（左）　　　　　0°（壁の正面）　　　　　＋90°（右）</a:t>
            </a:r>
            <a:endParaRPr lang="en-US" sz="800" dirty="0"/>
          </a:p>
        </p:txBody>
      </p:sp>
      <p:sp>
        <p:nvSpPr>
          <p:cNvPr id="107" name="Shape 105"/>
          <p:cNvSpPr/>
          <p:nvPr/>
        </p:nvSpPr>
        <p:spPr>
          <a:xfrm>
            <a:off x="6446520" y="4114800"/>
            <a:ext cx="155448" cy="155448"/>
          </a:xfrm>
          <a:prstGeom prst="rect">
            <a:avLst/>
          </a:prstGeom>
          <a:solidFill>
            <a:srgbClr val="E8934D"/>
          </a:solidFill>
          <a:ln/>
        </p:spPr>
      </p:sp>
      <p:sp>
        <p:nvSpPr>
          <p:cNvPr id="108" name="Text 106"/>
          <p:cNvSpPr txBox="1"/>
          <p:nvPr/>
        </p:nvSpPr>
        <p:spPr>
          <a:xfrm>
            <a:off x="6638544" y="4069080"/>
            <a:ext cx="100584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南側建物</a:t>
            </a:r>
            <a:endParaRPr lang="en-US" sz="850" dirty="0"/>
          </a:p>
        </p:txBody>
      </p:sp>
      <p:sp>
        <p:nvSpPr>
          <p:cNvPr id="109" name="Shape 107"/>
          <p:cNvSpPr/>
          <p:nvPr/>
        </p:nvSpPr>
        <p:spPr>
          <a:xfrm>
            <a:off x="7680960" y="4114800"/>
            <a:ext cx="155448" cy="155448"/>
          </a:xfrm>
          <a:prstGeom prst="rect">
            <a:avLst/>
          </a:prstGeom>
          <a:solidFill>
            <a:srgbClr val="1F6F78"/>
          </a:solidFill>
          <a:ln/>
        </p:spPr>
      </p:sp>
      <p:sp>
        <p:nvSpPr>
          <p:cNvPr id="110" name="Text 108"/>
          <p:cNvSpPr txBox="1"/>
          <p:nvPr/>
        </p:nvSpPr>
        <p:spPr>
          <a:xfrm>
            <a:off x="7872984" y="4069080"/>
            <a:ext cx="201168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別の低い建物（説明用）</a:t>
            </a:r>
            <a:endParaRPr lang="en-US" sz="850" dirty="0"/>
          </a:p>
        </p:txBody>
      </p:sp>
      <p:sp>
        <p:nvSpPr>
          <p:cNvPr id="111" name="Shape 109"/>
          <p:cNvSpPr/>
          <p:nvPr/>
        </p:nvSpPr>
        <p:spPr>
          <a:xfrm>
            <a:off x="9738360" y="4114800"/>
            <a:ext cx="155448" cy="155448"/>
          </a:xfrm>
          <a:prstGeom prst="rect">
            <a:avLst/>
          </a:prstGeom>
          <a:solidFill>
            <a:srgbClr val="B04A3F"/>
          </a:solidFill>
          <a:ln/>
        </p:spPr>
      </p:sp>
      <p:sp>
        <p:nvSpPr>
          <p:cNvPr id="112" name="Text 110"/>
          <p:cNvSpPr txBox="1"/>
          <p:nvPr/>
        </p:nvSpPr>
        <p:spPr>
          <a:xfrm>
            <a:off x="9930384" y="4069080"/>
            <a:ext cx="137160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両方がふさぐ</a:t>
            </a:r>
            <a:endParaRPr lang="en-US" sz="850" dirty="0"/>
          </a:p>
        </p:txBody>
      </p:sp>
      <p:sp>
        <p:nvSpPr>
          <p:cNvPr id="113" name="Shape 111"/>
          <p:cNvSpPr/>
          <p:nvPr/>
        </p:nvSpPr>
        <p:spPr>
          <a:xfrm>
            <a:off x="6263640" y="4617720"/>
            <a:ext cx="5486400" cy="1691640"/>
          </a:xfrm>
          <a:prstGeom prst="roundRect">
            <a:avLst>
              <a:gd name="adj" fmla="val 3243"/>
            </a:avLst>
          </a:prstGeom>
          <a:solidFill>
            <a:srgbClr val="1B2A44"/>
          </a:solidFill>
          <a:ln/>
        </p:spPr>
      </p:sp>
      <p:sp>
        <p:nvSpPr>
          <p:cNvPr id="114" name="Text 112"/>
          <p:cNvSpPr txBox="1"/>
          <p:nvPr/>
        </p:nvSpPr>
        <p:spPr>
          <a:xfrm>
            <a:off x="6446520" y="4663440"/>
            <a:ext cx="512064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ふさがれた割合 O を数える</a:t>
            </a:r>
            <a:endParaRPr lang="en-US" sz="1100" dirty="0"/>
          </a:p>
        </p:txBody>
      </p:sp>
      <p:sp>
        <p:nvSpPr>
          <p:cNvPr id="115" name="Text 113"/>
          <p:cNvSpPr txBox="1"/>
          <p:nvPr/>
        </p:nvSpPr>
        <p:spPr>
          <a:xfrm>
            <a:off x="6446520" y="4956048"/>
            <a:ext cx="5166360" cy="1280160"/>
          </a:xfrm>
          <a:prstGeom prst="rect">
            <a:avLst/>
          </a:prstGeom>
          <a:noFill/>
          <a:ln/>
        </p:spPr>
        <p:txBody>
          <a:bodyPr wrap="square" lIns="508" tIns="508" rIns="508" bIns="508" rtlCol="0" anchor="t"/>
          <a:lstStyle/>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南側建物 12マス ＋ 低い建物 3マス − 重なり 1マス ＝ 14マス</a:t>
            </a:r>
            <a:endParaRPr lang="en-US" sz="1050" dirty="0"/>
          </a:p>
          <a:p>
            <a:pPr indent="0" marL="0">
              <a:lnSpc>
                <a:spcPct val="125000"/>
              </a:lnSpc>
              <a:buNone/>
            </a:pPr>
            <a:r>
              <a:rPr lang="en-US" sz="1050" b="1" dirty="0">
                <a:solidFill>
                  <a:srgbClr val="E8934D"/>
                </a:solidFill>
                <a:latin typeface="Yu Gothic" pitchFamily="34" charset="0"/>
                <a:ea typeface="Yu Gothic" pitchFamily="34" charset="-122"/>
                <a:cs typeface="Yu Gothic" pitchFamily="34" charset="-120"/>
              </a:rPr>
              <a:t>O ＝ 14 / 72 ＝ 0.194（19.4%）</a:t>
            </a:r>
            <a:endParaRPr lang="en-US" sz="1050" dirty="0"/>
          </a:p>
          <a:p>
            <a:pPr indent="0" marL="0">
              <a:lnSpc>
                <a:spcPct val="125000"/>
              </a:lnSpc>
              <a:buNone/>
            </a:pPr>
            <a:r>
              <a:rPr lang="en-US" sz="950" b="1" dirty="0">
                <a:solidFill>
                  <a:srgbClr val="CADCFC"/>
                </a:solidFill>
                <a:latin typeface="Yu Gothic" pitchFamily="34" charset="0"/>
                <a:ea typeface="Yu Gothic" pitchFamily="34" charset="-122"/>
                <a:cs typeface="Yu Gothic" pitchFamily="34" charset="-120"/>
              </a:rPr>
              <a:t>単純に足すと 15マス（20.8%）＝ 重なりを二重に数えてしまう</a:t>
            </a:r>
            <a:endParaRPr lang="en-US" sz="10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空の遮られ方：計算の流れと、足し算の方法との違い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SEBEで計算する配置とテスト配置は共通。違うのは「配置をどんな数値に変えて予測するか」。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36</a:t>
            </a:r>
            <a:endParaRPr lang="en-US" sz="1100" dirty="0"/>
          </a:p>
        </p:txBody>
      </p:sp>
      <p:sp>
        <p:nvSpPr>
          <p:cNvPr id="10" name="Shape 8"/>
          <p:cNvSpPr/>
          <p:nvPr/>
        </p:nvSpPr>
        <p:spPr>
          <a:xfrm>
            <a:off x="457200" y="1481328"/>
            <a:ext cx="2057400" cy="1188720"/>
          </a:xfrm>
          <a:prstGeom prst="roundRect">
            <a:avLst>
              <a:gd name="adj" fmla="val 4615"/>
            </a:avLst>
          </a:prstGeom>
          <a:solidFill>
            <a:srgbClr val="1B2A44"/>
          </a:solidFill>
          <a:ln/>
        </p:spPr>
      </p:sp>
      <p:sp>
        <p:nvSpPr>
          <p:cNvPr id="11" name="Text 9"/>
          <p:cNvSpPr txBox="1"/>
          <p:nvPr/>
        </p:nvSpPr>
        <p:spPr>
          <a:xfrm>
            <a:off x="548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a:t>
            </a:r>
            <a:endParaRPr lang="en-US" sz="1100" dirty="0"/>
          </a:p>
        </p:txBody>
      </p:sp>
      <p:sp>
        <p:nvSpPr>
          <p:cNvPr id="12" name="Text 10"/>
          <p:cNvSpPr txBox="1"/>
          <p:nvPr/>
        </p:nvSpPr>
        <p:spPr>
          <a:xfrm>
            <a:off x="548640" y="1801368"/>
            <a:ext cx="1874520" cy="8229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配置の変数</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中央高さ, s, A, D, θ</a:t>
            </a:r>
            <a:endParaRPr lang="en-US" sz="950" dirty="0"/>
          </a:p>
        </p:txBody>
      </p:sp>
      <p:sp>
        <p:nvSpPr>
          <p:cNvPr id="13" name="Shape 11"/>
          <p:cNvSpPr/>
          <p:nvPr/>
        </p:nvSpPr>
        <p:spPr>
          <a:xfrm rot="5400000">
            <a:off x="2514600" y="2011680"/>
            <a:ext cx="237744" cy="146304"/>
          </a:xfrm>
          <a:prstGeom prst="triangle">
            <a:avLst/>
          </a:prstGeom>
          <a:solidFill>
            <a:srgbClr val="AEB4BC"/>
          </a:solidFill>
          <a:ln/>
        </p:spPr>
      </p:sp>
      <p:sp>
        <p:nvSpPr>
          <p:cNvPr id="14" name="Shape 12"/>
          <p:cNvSpPr/>
          <p:nvPr/>
        </p:nvSpPr>
        <p:spPr>
          <a:xfrm>
            <a:off x="2743200" y="1481328"/>
            <a:ext cx="2057400" cy="1188720"/>
          </a:xfrm>
          <a:prstGeom prst="roundRect">
            <a:avLst>
              <a:gd name="adj" fmla="val 4615"/>
            </a:avLst>
          </a:prstGeom>
          <a:solidFill>
            <a:srgbClr val="1F6F78"/>
          </a:solidFill>
          <a:ln/>
        </p:spPr>
      </p:sp>
      <p:sp>
        <p:nvSpPr>
          <p:cNvPr id="15" name="Text 13"/>
          <p:cNvSpPr txBox="1"/>
          <p:nvPr/>
        </p:nvSpPr>
        <p:spPr>
          <a:xfrm>
            <a:off x="2834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遮られ方を調べる</a:t>
            </a:r>
            <a:endParaRPr lang="en-US" sz="1100" dirty="0"/>
          </a:p>
        </p:txBody>
      </p:sp>
      <p:sp>
        <p:nvSpPr>
          <p:cNvPr id="16" name="Text 14"/>
          <p:cNvSpPr txBox="1"/>
          <p:nvPr/>
        </p:nvSpPr>
        <p:spPr>
          <a:xfrm>
            <a:off x="2834640" y="1801368"/>
            <a:ext cx="1874520" cy="8229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各面・各帯の点から、方向ごとに建物でふさがれるか判定</a:t>
            </a:r>
            <a:endParaRPr lang="en-US" sz="950" dirty="0"/>
          </a:p>
        </p:txBody>
      </p:sp>
      <p:sp>
        <p:nvSpPr>
          <p:cNvPr id="17" name="Shape 15"/>
          <p:cNvSpPr/>
          <p:nvPr/>
        </p:nvSpPr>
        <p:spPr>
          <a:xfrm rot="5400000">
            <a:off x="4800600" y="2011680"/>
            <a:ext cx="237744" cy="146304"/>
          </a:xfrm>
          <a:prstGeom prst="triangle">
            <a:avLst/>
          </a:prstGeom>
          <a:solidFill>
            <a:srgbClr val="AEB4BC"/>
          </a:solidFill>
          <a:ln/>
        </p:spPr>
      </p:sp>
      <p:sp>
        <p:nvSpPr>
          <p:cNvPr id="18" name="Shape 16"/>
          <p:cNvSpPr/>
          <p:nvPr/>
        </p:nvSpPr>
        <p:spPr>
          <a:xfrm>
            <a:off x="5029200" y="1481328"/>
            <a:ext cx="2057400" cy="1188720"/>
          </a:xfrm>
          <a:prstGeom prst="roundRect">
            <a:avLst>
              <a:gd name="adj" fmla="val 4615"/>
            </a:avLst>
          </a:prstGeom>
          <a:solidFill>
            <a:srgbClr val="1F6F78"/>
          </a:solidFill>
          <a:ln/>
        </p:spPr>
      </p:sp>
      <p:sp>
        <p:nvSpPr>
          <p:cNvPr id="19" name="Text 17"/>
          <p:cNvSpPr txBox="1"/>
          <p:nvPr/>
        </p:nvSpPr>
        <p:spPr>
          <a:xfrm>
            <a:off x="5120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数値にまとめる</a:t>
            </a:r>
            <a:endParaRPr lang="en-US" sz="1100" dirty="0"/>
          </a:p>
        </p:txBody>
      </p:sp>
      <p:sp>
        <p:nvSpPr>
          <p:cNvPr id="20" name="Text 18"/>
          <p:cNvSpPr txBox="1"/>
          <p:nvPr/>
        </p:nvSpPr>
        <p:spPr>
          <a:xfrm>
            <a:off x="5120640" y="1801368"/>
            <a:ext cx="1874520" cy="8229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方向ごとの遮蔽高度角 h、ふさがれた割合 O など</a:t>
            </a:r>
            <a:endParaRPr lang="en-US" sz="950" dirty="0"/>
          </a:p>
        </p:txBody>
      </p:sp>
      <p:sp>
        <p:nvSpPr>
          <p:cNvPr id="21" name="Shape 19"/>
          <p:cNvSpPr/>
          <p:nvPr/>
        </p:nvSpPr>
        <p:spPr>
          <a:xfrm rot="5400000">
            <a:off x="7086600" y="2011680"/>
            <a:ext cx="237744" cy="146304"/>
          </a:xfrm>
          <a:prstGeom prst="triangle">
            <a:avLst/>
          </a:prstGeom>
          <a:solidFill>
            <a:srgbClr val="AEB4BC"/>
          </a:solidFill>
          <a:ln/>
        </p:spPr>
      </p:sp>
      <p:sp>
        <p:nvSpPr>
          <p:cNvPr id="22" name="Shape 20"/>
          <p:cNvSpPr/>
          <p:nvPr/>
        </p:nvSpPr>
        <p:spPr>
          <a:xfrm>
            <a:off x="7315200" y="1481328"/>
            <a:ext cx="2057400" cy="1188720"/>
          </a:xfrm>
          <a:prstGeom prst="roundRect">
            <a:avLst>
              <a:gd name="adj" fmla="val 4615"/>
            </a:avLst>
          </a:prstGeom>
          <a:solidFill>
            <a:srgbClr val="C56A2C"/>
          </a:solidFill>
          <a:ln/>
        </p:spPr>
      </p:sp>
      <p:sp>
        <p:nvSpPr>
          <p:cNvPr id="23" name="Text 21"/>
          <p:cNvSpPr txBox="1"/>
          <p:nvPr/>
        </p:nvSpPr>
        <p:spPr>
          <a:xfrm>
            <a:off x="7406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01368"/>
            <a:ext cx="1874520" cy="8229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②の数値 → 年間日射量（モデルは未定）</a:t>
            </a:r>
            <a:endParaRPr lang="en-US" sz="950" dirty="0"/>
          </a:p>
        </p:txBody>
      </p:sp>
      <p:sp>
        <p:nvSpPr>
          <p:cNvPr id="25" name="Shape 23"/>
          <p:cNvSpPr/>
          <p:nvPr/>
        </p:nvSpPr>
        <p:spPr>
          <a:xfrm rot="5400000">
            <a:off x="9372600" y="2011680"/>
            <a:ext cx="237744" cy="146304"/>
          </a:xfrm>
          <a:prstGeom prst="triangle">
            <a:avLst/>
          </a:prstGeom>
          <a:solidFill>
            <a:srgbClr val="AEB4BC"/>
          </a:solidFill>
          <a:ln/>
        </p:spPr>
      </p:sp>
      <p:sp>
        <p:nvSpPr>
          <p:cNvPr id="26" name="Shape 24"/>
          <p:cNvSpPr/>
          <p:nvPr/>
        </p:nvSpPr>
        <p:spPr>
          <a:xfrm>
            <a:off x="9601200" y="1481328"/>
            <a:ext cx="2057400" cy="1188720"/>
          </a:xfrm>
          <a:prstGeom prst="roundRect">
            <a:avLst>
              <a:gd name="adj" fmla="val 4615"/>
            </a:avLst>
          </a:prstGeom>
          <a:solidFill>
            <a:srgbClr val="1B2A44"/>
          </a:solidFill>
          <a:ln/>
        </p:spPr>
      </p:sp>
      <p:sp>
        <p:nvSpPr>
          <p:cNvPr id="27" name="Text 25"/>
          <p:cNvSpPr txBox="1"/>
          <p:nvPr/>
        </p:nvSpPr>
        <p:spPr>
          <a:xfrm>
            <a:off x="9692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01368"/>
            <a:ext cx="1874520" cy="8229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4面 × 5帯</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 20個</a:t>
            </a:r>
            <a:endParaRPr lang="en-US" sz="950" dirty="0"/>
          </a:p>
        </p:txBody>
      </p:sp>
      <p:sp>
        <p:nvSpPr>
          <p:cNvPr id="29" name="Shape 27"/>
          <p:cNvSpPr/>
          <p:nvPr/>
        </p:nvSpPr>
        <p:spPr>
          <a:xfrm>
            <a:off x="457200" y="2834640"/>
            <a:ext cx="5669280" cy="3474720"/>
          </a:xfrm>
          <a:prstGeom prst="roundRect">
            <a:avLst>
              <a:gd name="adj" fmla="val 1579"/>
            </a:avLst>
          </a:prstGeom>
          <a:solidFill>
            <a:srgbClr val="F3F5F8"/>
          </a:solidFill>
          <a:ln/>
        </p:spPr>
      </p:sp>
      <p:sp>
        <p:nvSpPr>
          <p:cNvPr id="30" name="Text 28"/>
          <p:cNvSpPr txBox="1"/>
          <p:nvPr/>
        </p:nvSpPr>
        <p:spPr>
          <a:xfrm>
            <a:off x="594360" y="2889504"/>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想定している計算（前ページの点Pの値）</a:t>
            </a:r>
            <a:endParaRPr lang="en-US" sz="1150" dirty="0"/>
          </a:p>
        </p:txBody>
      </p:sp>
      <p:sp>
        <p:nvSpPr>
          <p:cNvPr id="31" name="Text 29"/>
          <p:cNvSpPr txBox="1"/>
          <p:nvPr/>
        </p:nvSpPr>
        <p:spPr>
          <a:xfrm>
            <a:off x="594360" y="3200400"/>
            <a:ext cx="5394960" cy="201168"/>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の遮蔽高度角</a:t>
            </a:r>
            <a:endParaRPr lang="en-US" sz="950" dirty="0"/>
          </a:p>
        </p:txBody>
      </p:sp>
      <p:sp>
        <p:nvSpPr>
          <p:cNvPr id="32" name="Text 30"/>
          <p:cNvSpPr txBox="1"/>
          <p:nvPr/>
        </p:nvSpPr>
        <p:spPr>
          <a:xfrm>
            <a:off x="594360" y="3410712"/>
            <a:ext cx="53949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h</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max</a:t>
            </a:r>
            <a:pPr indent="0" marL="0">
              <a:buNone/>
            </a:pPr>
            <a:r>
              <a:rPr lang="en-US" sz="1150" b="1" baseline="-40000" dirty="0">
                <a:solidFill>
                  <a:srgbClr val="1B2A44"/>
                </a:solidFill>
                <a:latin typeface="Yu Gothic" pitchFamily="34" charset="0"/>
                <a:ea typeface="Yu Gothic" pitchFamily="34" charset="-122"/>
                <a:cs typeface="Yu Gothic" pitchFamily="34" charset="-120"/>
              </a:rPr>
              <a:t>i</a:t>
            </a:r>
            <a:pPr indent="0" marL="0">
              <a:buNone/>
            </a:pPr>
            <a:r>
              <a:rPr lang="en-US" sz="1150" b="1" dirty="0">
                <a:solidFill>
                  <a:srgbClr val="1B2A44"/>
                </a:solidFill>
                <a:latin typeface="Yu Gothic" pitchFamily="34" charset="0"/>
                <a:ea typeface="Yu Gothic" pitchFamily="34" charset="-122"/>
                <a:cs typeface="Yu Gothic" pitchFamily="34" charset="-120"/>
              </a:rPr>
              <a:t> arctan( (A</a:t>
            </a:r>
            <a:pPr indent="0" marL="0">
              <a:buNone/>
            </a:pPr>
            <a:r>
              <a:rPr lang="en-US" sz="1150" b="1" baseline="-40000" dirty="0">
                <a:solidFill>
                  <a:srgbClr val="1B2A44"/>
                </a:solidFill>
                <a:latin typeface="Yu Gothic" pitchFamily="34" charset="0"/>
                <a:ea typeface="Yu Gothic" pitchFamily="34" charset="-122"/>
                <a:cs typeface="Yu Gothic" pitchFamily="34" charset="-120"/>
              </a:rPr>
              <a:t>i</a:t>
            </a:r>
            <a:pPr indent="0" marL="0">
              <a:buNone/>
            </a:pPr>
            <a:r>
              <a:rPr lang="en-US" sz="1150" b="1" dirty="0">
                <a:solidFill>
                  <a:srgbClr val="1B2A44"/>
                </a:solidFill>
                <a:latin typeface="Yu Gothic" pitchFamily="34" charset="0"/>
                <a:ea typeface="Yu Gothic" pitchFamily="34" charset="-122"/>
                <a:cs typeface="Yu Gothic" pitchFamily="34" charset="-120"/>
              </a:rPr>
              <a:t> − z) / d</a:t>
            </a:r>
            <a:pPr indent="0" marL="0">
              <a:buNone/>
            </a:pPr>
            <a:r>
              <a:rPr lang="en-US" sz="1150" b="1" baseline="-40000" dirty="0">
                <a:solidFill>
                  <a:srgbClr val="1B2A44"/>
                </a:solidFill>
                <a:latin typeface="Yu Gothic" pitchFamily="34" charset="0"/>
                <a:ea typeface="Yu Gothic" pitchFamily="34" charset="-122"/>
                <a:cs typeface="Yu Gothic" pitchFamily="34" charset="-120"/>
              </a:rPr>
              <a:t>ij</a:t>
            </a:r>
            <a:pPr indent="0" marL="0">
              <a:buNone/>
            </a:pPr>
            <a:r>
              <a:rPr lang="en-US" sz="1150" b="1" dirty="0">
                <a:solidFill>
                  <a:srgbClr val="1B2A44"/>
                </a:solidFill>
                <a:latin typeface="Yu Gothic" pitchFamily="34" charset="0"/>
                <a:ea typeface="Yu Gothic" pitchFamily="34" charset="-122"/>
                <a:cs typeface="Yu Gothic" pitchFamily="34" charset="-120"/>
              </a:rPr>
              <a:t> )</a:t>
            </a:r>
            <a:endParaRPr lang="en-US" sz="1150" dirty="0"/>
          </a:p>
        </p:txBody>
      </p:sp>
      <p:sp>
        <p:nvSpPr>
          <p:cNvPr id="33" name="Text 31"/>
          <p:cNvSpPr txBox="1"/>
          <p:nvPr/>
        </p:nvSpPr>
        <p:spPr>
          <a:xfrm>
            <a:off x="594360" y="3675888"/>
            <a:ext cx="539496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例：正面：arctan(15/25) ＝ 31°，30°方向：27.5°</a:t>
            </a:r>
            <a:endParaRPr lang="en-US" sz="900" dirty="0"/>
          </a:p>
        </p:txBody>
      </p:sp>
      <p:sp>
        <p:nvSpPr>
          <p:cNvPr id="34" name="Text 32"/>
          <p:cNvSpPr txBox="1"/>
          <p:nvPr/>
        </p:nvSpPr>
        <p:spPr>
          <a:xfrm>
            <a:off x="594360" y="3959352"/>
            <a:ext cx="5394960" cy="201168"/>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がふさがれているか</a:t>
            </a:r>
            <a:endParaRPr lang="en-US" sz="950" dirty="0"/>
          </a:p>
        </p:txBody>
      </p:sp>
      <p:sp>
        <p:nvSpPr>
          <p:cNvPr id="35" name="Text 33"/>
          <p:cNvSpPr txBox="1"/>
          <p:nvPr/>
        </p:nvSpPr>
        <p:spPr>
          <a:xfrm>
            <a:off x="594360" y="4169664"/>
            <a:ext cx="53949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b</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1（ふさがれている）／ 0（見える）</a:t>
            </a:r>
            <a:endParaRPr lang="en-US" sz="1150" dirty="0"/>
          </a:p>
        </p:txBody>
      </p:sp>
      <p:sp>
        <p:nvSpPr>
          <p:cNvPr id="36" name="Text 34"/>
          <p:cNvSpPr txBox="1"/>
          <p:nvPr/>
        </p:nvSpPr>
        <p:spPr>
          <a:xfrm>
            <a:off x="594360" y="4434840"/>
            <a:ext cx="539496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例：マスの高度 ＜ h</a:t>
            </a:r>
            <a:pPr indent="0" marL="0">
              <a:buNone/>
            </a:pPr>
            <a:r>
              <a:rPr lang="en-US" sz="900" b="1" baseline="-40000" dirty="0">
                <a:solidFill>
                  <a:srgbClr val="C56A2C"/>
                </a:solidFill>
                <a:latin typeface="Yu Gothic" pitchFamily="34" charset="0"/>
                <a:ea typeface="Yu Gothic" pitchFamily="34" charset="-122"/>
                <a:cs typeface="Yu Gothic" pitchFamily="34" charset="-120"/>
              </a:rPr>
              <a:t>j</a:t>
            </a:r>
            <a:pPr indent="0" marL="0">
              <a:buNone/>
            </a:pPr>
            <a:r>
              <a:rPr lang="en-US" sz="900" b="1" dirty="0">
                <a:solidFill>
                  <a:srgbClr val="C56A2C"/>
                </a:solidFill>
                <a:latin typeface="Yu Gothic" pitchFamily="34" charset="0"/>
                <a:ea typeface="Yu Gothic" pitchFamily="34" charset="-122"/>
                <a:cs typeface="Yu Gothic" pitchFamily="34" charset="-120"/>
              </a:rPr>
              <a:t> なら 1</a:t>
            </a:r>
            <a:endParaRPr lang="en-US" sz="900" dirty="0"/>
          </a:p>
        </p:txBody>
      </p:sp>
      <p:sp>
        <p:nvSpPr>
          <p:cNvPr id="37" name="Text 35"/>
          <p:cNvSpPr txBox="1"/>
          <p:nvPr/>
        </p:nvSpPr>
        <p:spPr>
          <a:xfrm>
            <a:off x="594360" y="4718304"/>
            <a:ext cx="5394960" cy="201168"/>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ふさがれた割合</a:t>
            </a:r>
            <a:endParaRPr lang="en-US" sz="950" dirty="0"/>
          </a:p>
        </p:txBody>
      </p:sp>
      <p:sp>
        <p:nvSpPr>
          <p:cNvPr id="38" name="Text 36"/>
          <p:cNvSpPr txBox="1"/>
          <p:nvPr/>
        </p:nvSpPr>
        <p:spPr>
          <a:xfrm>
            <a:off x="594360" y="4928616"/>
            <a:ext cx="53949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O ＝ (1/J)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b</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endParaRPr lang="en-US" sz="1150" dirty="0"/>
          </a:p>
        </p:txBody>
      </p:sp>
      <p:sp>
        <p:nvSpPr>
          <p:cNvPr id="39" name="Text 37"/>
          <p:cNvSpPr txBox="1"/>
          <p:nvPr/>
        </p:nvSpPr>
        <p:spPr>
          <a:xfrm>
            <a:off x="594360" y="5193792"/>
            <a:ext cx="539496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例：14 / 72 ＝ 0.194</a:t>
            </a:r>
            <a:endParaRPr lang="en-US" sz="900" dirty="0"/>
          </a:p>
        </p:txBody>
      </p:sp>
      <p:sp>
        <p:nvSpPr>
          <p:cNvPr id="40" name="Text 38"/>
          <p:cNvSpPr txBox="1"/>
          <p:nvPr/>
        </p:nvSpPr>
        <p:spPr>
          <a:xfrm>
            <a:off x="594360" y="5477256"/>
            <a:ext cx="5394960" cy="201168"/>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予測（モデル F を学習）</a:t>
            </a:r>
            <a:endParaRPr lang="en-US" sz="950" dirty="0"/>
          </a:p>
        </p:txBody>
      </p:sp>
      <p:sp>
        <p:nvSpPr>
          <p:cNvPr id="41" name="Text 39"/>
          <p:cNvSpPr txBox="1"/>
          <p:nvPr/>
        </p:nvSpPr>
        <p:spPr>
          <a:xfrm>
            <a:off x="594360" y="5687568"/>
            <a:ext cx="53949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Ŷ ＝ F( h</a:t>
            </a:r>
            <a:pPr indent="0" marL="0">
              <a:buNone/>
            </a:pPr>
            <a:r>
              <a:rPr lang="en-US" sz="1150" b="1" baseline="-40000" dirty="0">
                <a:solidFill>
                  <a:srgbClr val="1B2A44"/>
                </a:solidFill>
                <a:latin typeface="Yu Gothic" pitchFamily="34" charset="0"/>
                <a:ea typeface="Yu Gothic" pitchFamily="34" charset="-122"/>
                <a:cs typeface="Yu Gothic" pitchFamily="34" charset="-120"/>
              </a:rPr>
              <a:t>1</a:t>
            </a:r>
            <a:pPr indent="0" marL="0">
              <a:buNone/>
            </a:pPr>
            <a:r>
              <a:rPr lang="en-US" sz="1150" b="1" dirty="0">
                <a:solidFill>
                  <a:srgbClr val="1B2A44"/>
                </a:solidFill>
                <a:latin typeface="Yu Gothic" pitchFamily="34" charset="0"/>
                <a:ea typeface="Yu Gothic" pitchFamily="34" charset="-122"/>
                <a:cs typeface="Yu Gothic" pitchFamily="34" charset="-120"/>
              </a:rPr>
              <a:t>, …, h</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O, 点の高さ, 面の向き )</a:t>
            </a:r>
            <a:endParaRPr lang="en-US" sz="1150" dirty="0"/>
          </a:p>
        </p:txBody>
      </p:sp>
      <p:sp>
        <p:nvSpPr>
          <p:cNvPr id="42" name="Text 40"/>
          <p:cNvSpPr txBox="1"/>
          <p:nvPr/>
        </p:nvSpPr>
        <p:spPr>
          <a:xfrm>
            <a:off x="594360" y="5952744"/>
            <a:ext cx="539496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例：F の種類は来週決める</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355080" y="2834640"/>
          <a:ext cx="5394960" cy="914400"/>
        </p:xfrm>
        <a:graphic>
          <a:graphicData uri="http://schemas.openxmlformats.org/drawingml/2006/table">
            <a:tbl>
              <a:tblPr/>
              <a:tblGrid>
                <a:gridCol w="1188720"/>
                <a:gridCol w="2011680"/>
                <a:gridCol w="2194560"/>
              </a:tblGrid>
              <a:tr h="329184">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補間＋足し算（来週）</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空の遮られ方（代案）</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入力データ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配置の変数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同じ（内部で②の数値に変換）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学習データ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1棟だけの65配置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同じSEBE結果を使える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テストデータ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テストA・B</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同じ配置で比べる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影の重なり</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足すので二重に数えうる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max・マス数で1回だけ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計算の重さ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補間だけ（軽い）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②の計算＋モデル学習</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4" name="Shape 41"/>
          <p:cNvSpPr/>
          <p:nvPr/>
        </p:nvSpPr>
        <p:spPr>
          <a:xfrm>
            <a:off x="6355080" y="4937760"/>
            <a:ext cx="5394960" cy="1371600"/>
          </a:xfrm>
          <a:prstGeom prst="roundRect">
            <a:avLst>
              <a:gd name="adj" fmla="val 4000"/>
            </a:avLst>
          </a:prstGeom>
          <a:solidFill>
            <a:srgbClr val="FBEBDA"/>
          </a:solidFill>
          <a:ln/>
        </p:spPr>
      </p:sp>
      <p:sp>
        <p:nvSpPr>
          <p:cNvPr id="45" name="Text 42"/>
          <p:cNvSpPr txBox="1"/>
          <p:nvPr/>
        </p:nvSpPr>
        <p:spPr>
          <a:xfrm>
            <a:off x="6492240" y="498348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まだ決めていないこと（来週詰める）</a:t>
            </a:r>
            <a:endParaRPr lang="en-US" sz="1100" dirty="0"/>
          </a:p>
        </p:txBody>
      </p:sp>
      <p:sp>
        <p:nvSpPr>
          <p:cNvPr id="46" name="Text 43"/>
          <p:cNvSpPr txBox="1"/>
          <p:nvPr/>
        </p:nvSpPr>
        <p:spPr>
          <a:xfrm>
            <a:off x="6492240" y="5257800"/>
            <a:ext cx="5120640" cy="100584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方向の分け方（何マスにするか）と距離 d の正確な求め方</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機械学習モデルの種類</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線形補間より必ず良いとは言えない → 同じテスト配置で比べる</a:t>
            </a:r>
            <a:endParaRPr lang="en-US" sz="9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40280"/>
            <a:ext cx="3108960" cy="3657600"/>
          </a:xfrm>
          <a:prstGeom prst="rect">
            <a:avLst/>
          </a:prstGeom>
          <a:noFill/>
          <a:ln/>
        </p:spPr>
        <p:txBody>
          <a:bodyPr wrap="square" lIns="508" tIns="508" rIns="508" bIns="508" rtlCol="0" anchor="t"/>
          <a:lstStyle/>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データの役割（学習16・検証8・テスト12・追加5・局所テスト6＝47配置）と、2,500区画→5帯→4配置の重み付き平均の計算</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最終ツールの変数17個と、有無を0/1の s で表す理由</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4方向で表を全部埋めると約1万配置 → 1棟ずつの結果を足し算で埋める</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足し算の弱点は影の重なり（同じ光を二重に引く）</a:t>
            </a:r>
            <a:endParaRPr lang="en-US" sz="115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40280"/>
            <a:ext cx="3108960" cy="3657600"/>
          </a:xfrm>
          <a:prstGeom prst="rect">
            <a:avLst/>
          </a:prstGeom>
          <a:noFill/>
          <a:ln/>
        </p:spPr>
        <p:txBody>
          <a:bodyPr wrap="square" lIns="508" tIns="508" rIns="508" bIns="508" rtlCol="0" anchor="t"/>
          <a:lstStyle/>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建物なし1＋各方向16＝65配置（新規49）をSEBEで計算</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足し算の式で4面×5帯の20個を予測</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テストA（1棟）・B（2〜4棟）でSEBEと比べ、棟数ごとの誤差を表にする</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誤差が棟数とともに増えるか＝重なりの影響を数値で示す</a:t>
            </a:r>
            <a:endParaRPr lang="en-US" sz="115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40280"/>
            <a:ext cx="3108960" cy="3657600"/>
          </a:xfrm>
          <a:prstGeom prst="rect">
            <a:avLst/>
          </a:prstGeom>
          <a:noFill/>
          <a:ln/>
        </p:spPr>
        <p:txBody>
          <a:bodyPr wrap="square" lIns="508" tIns="508" rIns="508" bIns="508" rtlCol="0" anchor="t"/>
          <a:lstStyle/>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空の遮られ方の方向の分け方・距離の扱い・モデル</a:t>
            </a:r>
            <a:endParaRPr lang="en-US" sz="1150" dirty="0"/>
          </a:p>
          <a:p>
            <a:pPr marL="152400" indent="-152400">
              <a:spcAft>
                <a:spcPts val="1200"/>
              </a:spcAft>
              <a:buSzPct val="100000"/>
              <a:buChar char="•"/>
            </a:pPr>
            <a:r>
              <a:rPr lang="en-US" sz="1150" dirty="0">
                <a:solidFill>
                  <a:srgbClr val="FFFFFF"/>
                </a:solidFill>
                <a:latin typeface="Yu Gothic" pitchFamily="34" charset="0"/>
                <a:ea typeface="Yu Gothic" pitchFamily="34" charset="-122"/>
                <a:cs typeface="Yu Gothic" pitchFamily="34" charset="-120"/>
              </a:rPr>
              <a:t>中央の高さ・任意方位への広げ方</a:t>
            </a:r>
            <a:endParaRPr lang="en-US" sz="115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4方向の線形補間の結果はまだ出ていない。次の研究室で数値を示し、足し算を続けるか代案へ進むかを判断する。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36 / 36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