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86" autoAdjust="0"/>
    <p:restoredTop sz="94610"/>
  </p:normalViewPr>
  <p:slideViewPr>
    <p:cSldViewPr snapToGrid="0" snapToObjects="1">
      <p:cViewPr>
        <p:scale>
          <a:sx n="73" d="100"/>
          <a:sy n="73" d="100"/>
        </p:scale>
        <p:origin x="796" y="6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187E-4BA0-B52A-F49865E1B146}"/>
              </c:ext>
            </c:extLst>
          </c:dPt>
          <c:dPt>
            <c:idx val="1"/>
            <c:invertIfNegative val="0"/>
            <c:bubble3D val="0"/>
            <c:spPr>
              <a:solidFill>
                <a:srgbClr val="1B2A44"/>
              </a:solidFill>
              <a:effectLst/>
            </c:spPr>
            <c:extLst>
              <c:ext xmlns:c16="http://schemas.microsoft.com/office/drawing/2014/chart" uri="{C3380CC4-5D6E-409C-BE32-E72D297353CC}">
                <c16:uniqueId val="{00000003-187E-4BA0-B52A-F49865E1B146}"/>
              </c:ext>
            </c:extLst>
          </c:dPt>
          <c:dPt>
            <c:idx val="2"/>
            <c:invertIfNegative val="0"/>
            <c:bubble3D val="0"/>
            <c:spPr>
              <a:solidFill>
                <a:srgbClr val="1B2A44"/>
              </a:solidFill>
              <a:effectLst/>
            </c:spPr>
            <c:extLst>
              <c:ext xmlns:c16="http://schemas.microsoft.com/office/drawing/2014/chart" uri="{C3380CC4-5D6E-409C-BE32-E72D297353CC}">
                <c16:uniqueId val="{00000005-187E-4BA0-B52A-F49865E1B146}"/>
              </c:ext>
            </c:extLst>
          </c:dPt>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19.989999999999998</c:v>
                </c:pt>
                <c:pt idx="1">
                  <c:v>50.94</c:v>
                </c:pt>
                <c:pt idx="2">
                  <c:v>27.52</c:v>
                </c:pt>
              </c:numCache>
            </c:numRef>
          </c:val>
          <c:extLst>
            <c:ext xmlns:c16="http://schemas.microsoft.com/office/drawing/2014/chart" uri="{C3380CC4-5D6E-409C-BE32-E72D297353CC}">
              <c16:uniqueId val="{00000006-187E-4BA0-B52A-F49865E1B14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6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平均誤差率 (%)</a:t>
            </a:r>
          </a:p>
        </c:rich>
      </c:tx>
      <c:overlay val="0"/>
    </c:title>
    <c:autoTitleDeleted val="0"/>
    <c:plotArea>
      <c:layout/>
      <c:barChart>
        <c:barDir val="col"/>
        <c:grouping val="clustered"/>
        <c:varyColors val="0"/>
        <c:ser>
          <c:idx val="0"/>
          <c:order val="0"/>
          <c:tx>
            <c:strRef>
              <c:f>Sheet1!$B$1</c:f>
              <c:strCache>
                <c:ptCount val="1"/>
                <c:pt idx="0">
                  <c:v>誤差率</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24D3-442B-B184-9BBAB1F22BE6}"/>
              </c:ext>
            </c:extLst>
          </c:dPt>
          <c:dPt>
            <c:idx val="1"/>
            <c:invertIfNegative val="0"/>
            <c:bubble3D val="0"/>
            <c:spPr>
              <a:solidFill>
                <a:srgbClr val="1B2A44"/>
              </a:solidFill>
              <a:effectLst/>
            </c:spPr>
            <c:extLst>
              <c:ext xmlns:c16="http://schemas.microsoft.com/office/drawing/2014/chart" uri="{C3380CC4-5D6E-409C-BE32-E72D297353CC}">
                <c16:uniqueId val="{00000003-24D3-442B-B184-9BBAB1F22BE6}"/>
              </c:ext>
            </c:extLst>
          </c:dPt>
          <c:dPt>
            <c:idx val="2"/>
            <c:invertIfNegative val="0"/>
            <c:bubble3D val="0"/>
            <c:spPr>
              <a:solidFill>
                <a:srgbClr val="1B2A44"/>
              </a:solidFill>
              <a:effectLst/>
            </c:spPr>
            <c:extLst>
              <c:ext xmlns:c16="http://schemas.microsoft.com/office/drawing/2014/chart" uri="{C3380CC4-5D6E-409C-BE32-E72D297353CC}">
                <c16:uniqueId val="{00000005-24D3-442B-B184-9BBAB1F22BE6}"/>
              </c:ext>
            </c:extLst>
          </c:dPt>
          <c:dLbls>
            <c:numFmt formatCode="0.00&quot;%&quot;"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2.67</c:v>
                </c:pt>
                <c:pt idx="1">
                  <c:v>7.33</c:v>
                </c:pt>
                <c:pt idx="2">
                  <c:v>4.3</c:v>
                </c:pt>
              </c:numCache>
            </c:numRef>
          </c:val>
          <c:extLst>
            <c:ext xmlns:c16="http://schemas.microsoft.com/office/drawing/2014/chart" uri="{C3380CC4-5D6E-409C-BE32-E72D297353CC}">
              <c16:uniqueId val="{00000006-24D3-442B-B184-9BBAB1F22BE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8.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検証とテストの比較</a:t>
            </a:r>
          </a:p>
        </c:rich>
      </c:tx>
      <c:overlay val="0"/>
    </c:title>
    <c:autoTitleDeleted val="0"/>
    <c:plotArea>
      <c:layout/>
      <c:barChart>
        <c:barDir val="col"/>
        <c:grouping val="clustered"/>
        <c:varyColors val="0"/>
        <c:ser>
          <c:idx val="0"/>
          <c:order val="0"/>
          <c:tx>
            <c:strRef>
              <c:f>Sheet1!$B$1</c:f>
              <c:strCache>
                <c:ptCount val="1"/>
                <c:pt idx="0">
                  <c:v>検証8</c:v>
                </c:pt>
              </c:strCache>
            </c:strRef>
          </c:tx>
          <c:spPr>
            <a:solidFill>
              <a:srgbClr val="9AA9B6"/>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Sheet1!$B$2:$B$3</c:f>
              <c:numCache>
                <c:formatCode>General</c:formatCode>
                <c:ptCount val="2"/>
                <c:pt idx="0">
                  <c:v>19.989999999999998</c:v>
                </c:pt>
                <c:pt idx="1">
                  <c:v>2.67</c:v>
                </c:pt>
              </c:numCache>
            </c:numRef>
          </c:val>
          <c:extLst>
            <c:ext xmlns:c16="http://schemas.microsoft.com/office/drawing/2014/chart" uri="{C3380CC4-5D6E-409C-BE32-E72D297353CC}">
              <c16:uniqueId val="{00000000-2A54-4367-BF86-F033EC9FFF95}"/>
            </c:ext>
          </c:extLst>
        </c:ser>
        <c:ser>
          <c:idx val="1"/>
          <c:order val="1"/>
          <c:tx>
            <c:strRef>
              <c:f>Sheet1!$C$1</c:f>
              <c:strCache>
                <c:ptCount val="1"/>
                <c:pt idx="0">
                  <c:v>テスト12</c:v>
                </c:pt>
              </c:strCache>
            </c:strRef>
          </c:tx>
          <c:spPr>
            <a:solidFill>
              <a:srgbClr val="4C8C6B"/>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Sheet1!$C$2:$C$3</c:f>
              <c:numCache>
                <c:formatCode>General</c:formatCode>
                <c:ptCount val="2"/>
                <c:pt idx="0">
                  <c:v>18.399999999999999</c:v>
                </c:pt>
                <c:pt idx="1">
                  <c:v>2.42</c:v>
                </c:pt>
              </c:numCache>
            </c:numRef>
          </c:val>
          <c:extLst>
            <c:ext xmlns:c16="http://schemas.microsoft.com/office/drawing/2014/chart" uri="{C3380CC4-5D6E-409C-BE32-E72D297353CC}">
              <c16:uniqueId val="{00000001-2A54-4367-BF86-F033EC9FFF9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24"/>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95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4B73-4D5E-8776-185843A2C265}"/>
              </c:ext>
            </c:extLst>
          </c:dPt>
          <c:dPt>
            <c:idx val="1"/>
            <c:invertIfNegative val="0"/>
            <c:bubble3D val="0"/>
            <c:extLst>
              <c:ext xmlns:c16="http://schemas.microsoft.com/office/drawing/2014/chart" uri="{C3380CC4-5D6E-409C-BE32-E72D297353CC}">
                <c16:uniqueId val="{00000003-4B73-4D5E-8776-185843A2C265}"/>
              </c:ext>
            </c:extLst>
          </c:dPt>
          <c:dPt>
            <c:idx val="2"/>
            <c:invertIfNegative val="0"/>
            <c:bubble3D val="0"/>
            <c:extLst>
              <c:ext xmlns:c16="http://schemas.microsoft.com/office/drawing/2014/chart" uri="{C3380CC4-5D6E-409C-BE32-E72D297353CC}">
                <c16:uniqueId val="{00000005-4B73-4D5E-8776-185843A2C265}"/>
              </c:ext>
            </c:extLst>
          </c:dPt>
          <c:dPt>
            <c:idx val="3"/>
            <c:invertIfNegative val="0"/>
            <c:bubble3D val="0"/>
            <c:spPr>
              <a:solidFill>
                <a:srgbClr val="B04A3F"/>
              </a:solidFill>
              <a:effectLst/>
            </c:spPr>
            <c:extLst>
              <c:ext xmlns:c16="http://schemas.microsoft.com/office/drawing/2014/chart" uri="{C3380CC4-5D6E-409C-BE32-E72D297353CC}">
                <c16:uniqueId val="{00000007-4B73-4D5E-8776-185843A2C265}"/>
              </c:ext>
            </c:extLst>
          </c:dPt>
          <c:dPt>
            <c:idx val="4"/>
            <c:invertIfNegative val="0"/>
            <c:bubble3D val="0"/>
            <c:extLst>
              <c:ext xmlns:c16="http://schemas.microsoft.com/office/drawing/2014/chart" uri="{C3380CC4-5D6E-409C-BE32-E72D297353CC}">
                <c16:uniqueId val="{00000009-4B73-4D5E-8776-185843A2C265}"/>
              </c:ext>
            </c:extLst>
          </c:dPt>
          <c:dLbls>
            <c:numFmt formatCode="0.00"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15.07</c:v>
                </c:pt>
                <c:pt idx="1">
                  <c:v>24.23</c:v>
                </c:pt>
                <c:pt idx="2">
                  <c:v>20.100000000000001</c:v>
                </c:pt>
                <c:pt idx="3">
                  <c:v>38.56</c:v>
                </c:pt>
                <c:pt idx="4">
                  <c:v>27.09</c:v>
                </c:pt>
              </c:numCache>
            </c:numRef>
          </c:val>
          <c:extLst>
            <c:ext xmlns:c16="http://schemas.microsoft.com/office/drawing/2014/chart" uri="{C3380CC4-5D6E-409C-BE32-E72D297353CC}">
              <c16:uniqueId val="{0000000A-4B73-4D5E-8776-185843A2C26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4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最大誤差率 (%)</a:t>
            </a:r>
          </a:p>
        </c:rich>
      </c:tx>
      <c:overlay val="0"/>
    </c:title>
    <c:autoTitleDeleted val="0"/>
    <c:plotArea>
      <c:layout/>
      <c:barChart>
        <c:barDir val="col"/>
        <c:grouping val="clustered"/>
        <c:varyColors val="0"/>
        <c:ser>
          <c:idx val="0"/>
          <c:order val="0"/>
          <c:tx>
            <c:strRef>
              <c:f>Sheet1!$B$1</c:f>
              <c:strCache>
                <c:ptCount val="1"/>
                <c:pt idx="0">
                  <c:v>最大誤差率</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2FA9-4DBC-B6F7-BB5DD590BD82}"/>
              </c:ext>
            </c:extLst>
          </c:dPt>
          <c:dPt>
            <c:idx val="1"/>
            <c:invertIfNegative val="0"/>
            <c:bubble3D val="0"/>
            <c:extLst>
              <c:ext xmlns:c16="http://schemas.microsoft.com/office/drawing/2014/chart" uri="{C3380CC4-5D6E-409C-BE32-E72D297353CC}">
                <c16:uniqueId val="{00000003-2FA9-4DBC-B6F7-BB5DD590BD82}"/>
              </c:ext>
            </c:extLst>
          </c:dPt>
          <c:dPt>
            <c:idx val="2"/>
            <c:invertIfNegative val="0"/>
            <c:bubble3D val="0"/>
            <c:extLst>
              <c:ext xmlns:c16="http://schemas.microsoft.com/office/drawing/2014/chart" uri="{C3380CC4-5D6E-409C-BE32-E72D297353CC}">
                <c16:uniqueId val="{00000005-2FA9-4DBC-B6F7-BB5DD590BD82}"/>
              </c:ext>
            </c:extLst>
          </c:dPt>
          <c:dPt>
            <c:idx val="3"/>
            <c:invertIfNegative val="0"/>
            <c:bubble3D val="0"/>
            <c:spPr>
              <a:solidFill>
                <a:srgbClr val="B04A3F"/>
              </a:solidFill>
              <a:effectLst/>
            </c:spPr>
            <c:extLst>
              <c:ext xmlns:c16="http://schemas.microsoft.com/office/drawing/2014/chart" uri="{C3380CC4-5D6E-409C-BE32-E72D297353CC}">
                <c16:uniqueId val="{00000007-2FA9-4DBC-B6F7-BB5DD590BD82}"/>
              </c:ext>
            </c:extLst>
          </c:dPt>
          <c:dPt>
            <c:idx val="4"/>
            <c:invertIfNegative val="0"/>
            <c:bubble3D val="0"/>
            <c:extLst>
              <c:ext xmlns:c16="http://schemas.microsoft.com/office/drawing/2014/chart" uri="{C3380CC4-5D6E-409C-BE32-E72D297353CC}">
                <c16:uniqueId val="{00000009-2FA9-4DBC-B6F7-BB5DD590BD82}"/>
              </c:ext>
            </c:extLst>
          </c:dPt>
          <c:dLbls>
            <c:numFmt formatCode="0.0&quot;%&quot;"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3.41</c:v>
                </c:pt>
                <c:pt idx="1">
                  <c:v>11.85</c:v>
                </c:pt>
                <c:pt idx="2">
                  <c:v>6.7</c:v>
                </c:pt>
                <c:pt idx="3">
                  <c:v>15.08</c:v>
                </c:pt>
                <c:pt idx="4">
                  <c:v>14.37</c:v>
                </c:pt>
              </c:numCache>
            </c:numRef>
          </c:val>
          <c:extLst>
            <c:ext xmlns:c16="http://schemas.microsoft.com/office/drawing/2014/chart" uri="{C3380CC4-5D6E-409C-BE32-E72D297353CC}">
              <c16:uniqueId val="{0000000A-2FA9-4DBC-B6F7-BB5DD590BD8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18"/>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高さ帯別の MAE（kWh/m²）</a:t>
            </a:r>
          </a:p>
        </c:rich>
      </c:tx>
      <c:overlay val="0"/>
    </c:title>
    <c:autoTitleDeleted val="0"/>
    <c:plotArea>
      <c:layout/>
      <c:barChart>
        <c:barDir val="col"/>
        <c:grouping val="clustered"/>
        <c:varyColors val="0"/>
        <c:ser>
          <c:idx val="0"/>
          <c:order val="0"/>
          <c:tx>
            <c:strRef>
              <c:f>Sheet1!$B$1</c:f>
              <c:strCache>
                <c:ptCount val="1"/>
                <c:pt idx="0">
                  <c:v>広範囲版</c:v>
                </c:pt>
              </c:strCache>
            </c:strRef>
          </c:tx>
          <c:spPr>
            <a:solidFill>
              <a:srgbClr val="9AA9B6"/>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12.91</c:v>
                </c:pt>
                <c:pt idx="1">
                  <c:v>35.630000000000003</c:v>
                </c:pt>
                <c:pt idx="2">
                  <c:v>38.35</c:v>
                </c:pt>
                <c:pt idx="3">
                  <c:v>85.41</c:v>
                </c:pt>
                <c:pt idx="4">
                  <c:v>45.22</c:v>
                </c:pt>
              </c:numCache>
            </c:numRef>
          </c:val>
          <c:extLst>
            <c:ext xmlns:c16="http://schemas.microsoft.com/office/drawing/2014/chart" uri="{C3380CC4-5D6E-409C-BE32-E72D297353CC}">
              <c16:uniqueId val="{00000000-0568-4731-BC0B-CAD6170846FE}"/>
            </c:ext>
          </c:extLst>
        </c:ser>
        <c:ser>
          <c:idx val="1"/>
          <c:order val="1"/>
          <c:tx>
            <c:strRef>
              <c:f>Sheet1!$C$1</c:f>
              <c:strCache>
                <c:ptCount val="1"/>
                <c:pt idx="0">
                  <c:v>局所改良版</c:v>
                </c:pt>
              </c:strCache>
            </c:strRef>
          </c:tx>
          <c:spPr>
            <a:solidFill>
              <a:srgbClr val="4C8C6B"/>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Sheet1!$C$2:$C$6</c:f>
              <c:numCache>
                <c:formatCode>General</c:formatCode>
                <c:ptCount val="5"/>
                <c:pt idx="0">
                  <c:v>3.92</c:v>
                </c:pt>
                <c:pt idx="1">
                  <c:v>14.59</c:v>
                </c:pt>
                <c:pt idx="2">
                  <c:v>28.14</c:v>
                </c:pt>
                <c:pt idx="3">
                  <c:v>22.36</c:v>
                </c:pt>
                <c:pt idx="4">
                  <c:v>20.03</c:v>
                </c:pt>
              </c:numCache>
            </c:numRef>
          </c:val>
          <c:extLst>
            <c:ext xmlns:c16="http://schemas.microsoft.com/office/drawing/2014/chart" uri="{C3380CC4-5D6E-409C-BE32-E72D297353CC}">
              <c16:uniqueId val="{00000001-0568-4731-BC0B-CAD6170846F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00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季節ボタンの代表日と 12:00 の太陽高度（計算値）</a:t>
            </a:r>
          </a:p>
        </c:rich>
      </c:tx>
      <c:overlay val="0"/>
    </c:title>
    <c:autoTitleDeleted val="0"/>
    <c:plotArea>
      <c:layout/>
      <c:barChart>
        <c:barDir val="col"/>
        <c:grouping val="clustered"/>
        <c:varyColors val="0"/>
        <c:ser>
          <c:idx val="0"/>
          <c:order val="0"/>
          <c:tx>
            <c:strRef>
              <c:f>Sheet1!$B$1</c:f>
              <c:strCache>
                <c:ptCount val="1"/>
                <c:pt idx="0">
                  <c:v>太陽高度</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BC59-4B2B-8833-C33AEBFD7CC4}"/>
              </c:ext>
            </c:extLst>
          </c:dPt>
          <c:dPt>
            <c:idx val="1"/>
            <c:invertIfNegative val="0"/>
            <c:bubble3D val="0"/>
            <c:spPr>
              <a:solidFill>
                <a:srgbClr val="E8934D"/>
              </a:solidFill>
              <a:effectLst/>
            </c:spPr>
            <c:extLst>
              <c:ext xmlns:c16="http://schemas.microsoft.com/office/drawing/2014/chart" uri="{C3380CC4-5D6E-409C-BE32-E72D297353CC}">
                <c16:uniqueId val="{00000003-BC59-4B2B-8833-C33AEBFD7CC4}"/>
              </c:ext>
            </c:extLst>
          </c:dPt>
          <c:dPt>
            <c:idx val="2"/>
            <c:invertIfNegative val="0"/>
            <c:bubble3D val="0"/>
            <c:spPr>
              <a:solidFill>
                <a:srgbClr val="C56A2C"/>
              </a:solidFill>
              <a:effectLst/>
            </c:spPr>
            <c:extLst>
              <c:ext xmlns:c16="http://schemas.microsoft.com/office/drawing/2014/chart" uri="{C3380CC4-5D6E-409C-BE32-E72D297353CC}">
                <c16:uniqueId val="{00000005-BC59-4B2B-8833-C33AEBFD7CC4}"/>
              </c:ext>
            </c:extLst>
          </c:dPt>
          <c:dPt>
            <c:idx val="3"/>
            <c:invertIfNegative val="0"/>
            <c:bubble3D val="0"/>
            <c:spPr>
              <a:solidFill>
                <a:srgbClr val="1F6F78"/>
              </a:solidFill>
              <a:effectLst/>
            </c:spPr>
            <c:extLst>
              <c:ext xmlns:c16="http://schemas.microsoft.com/office/drawing/2014/chart" uri="{C3380CC4-5D6E-409C-BE32-E72D297353CC}">
                <c16:uniqueId val="{00000007-BC59-4B2B-8833-C33AEBFD7CC4}"/>
              </c:ext>
            </c:extLst>
          </c:dPt>
          <c:dLbls>
            <c:numFmt formatCode="0.00&quot;°&quot;" sourceLinked="0"/>
            <c:spPr>
              <a:noFill/>
              <a:ln>
                <a:noFill/>
              </a:ln>
              <a:effectLst/>
            </c:spPr>
            <c:txPr>
              <a:bodyPr/>
              <a:lstStyle/>
              <a:p>
                <a:pPr>
                  <a:defRPr sz="11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春 3/20</c:v>
                </c:pt>
                <c:pt idx="1">
                  <c:v>夏 6/21</c:v>
                </c:pt>
                <c:pt idx="2">
                  <c:v>秋 9/22</c:v>
                </c:pt>
                <c:pt idx="3">
                  <c:v>冬 12/21</c:v>
                </c:pt>
              </c:strCache>
            </c:strRef>
          </c:cat>
          <c:val>
            <c:numRef>
              <c:f>Sheet1!$B$2:$B$5</c:f>
              <c:numCache>
                <c:formatCode>General</c:formatCode>
                <c:ptCount val="4"/>
                <c:pt idx="0">
                  <c:v>53.75</c:v>
                </c:pt>
                <c:pt idx="1">
                  <c:v>77.19</c:v>
                </c:pt>
                <c:pt idx="2">
                  <c:v>54.42</c:v>
                </c:pt>
                <c:pt idx="3">
                  <c:v>30.67</c:v>
                </c:pt>
              </c:numCache>
            </c:numRef>
          </c:val>
          <c:extLst>
            <c:ext xmlns:c16="http://schemas.microsoft.com/office/drawing/2014/chart" uri="{C3380CC4-5D6E-409C-BE32-E72D297353CC}">
              <c16:uniqueId val="{00000008-BC59-4B2B-8833-C33AEBFD7CC4}"/>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1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13607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からは、前回の発表でいただいた3つのご指摘への回答と、次の段階の計画をお話しします。1つ目は、入力データ・学習データ・テストデータの違いと、予測を作る計算の過程が分かりにくいというご指摘で、PART 5で説明します。2つ目は、最終的なツールでどの変数をどこで変えるのかというご指摘で、PART 6で説明します。3つ目は、「2つの変数を9点で予測できたのなら、4方向でも線形補間でできるのではないか」というご質問です。これはPART 7で、線形補間で4方向のツールを作る場合の計算と計算時間を具体的に示し、PART 8で代わりの方法を紹介します。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まず、データの呼び方を整理します。どのデータも、1つの配置について「入力」と「正解値」の組になっています。入力は南側建物の高さAと隙間D、正解値はSEBEで計算した南面5帯の年間日射量です。同じ形のデータでも、何に使ったかで呼び方が変わります。予測を作るために保存した16配置が学習用データ、3つの手法を比べた8配置が検証データ、方法を決めた後に性能を確認した12配置がテストデータです。さらに、弱点を補強するために5配置を追加し、その効果を別の6配置で確かめました。重複を除くと全部で47配置で、右の図がその位置です。なお、線形補間は係数を学習するわけではないので、学習用データは正確には「補間の基準として保存した計算データ」で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次に、1つの配置から5つの値を作る方法です。SEBEは、中央建物の南面を1m四方の区画に分けて、区画ごとに年間日射量Gを出します。南面は幅50m・高さ50mなので、区画は2,500個です。これを高さ10mごとに5つの帯に分け、帯ごとに500個の区画を平均します。式の「y_k ＝ 500分の1 × Σ G」は、Σ（シグマ）の下に書いた「帯kに入る区画」の値を全部足して、500で割るという意味です。例えばA 50m・D 10mの配置では、帯1の500区画の合計が約168,670なので、500で割って337.34になります。南面全体の平均は、5つの帯の値を足して5で割り、484.76です。16配置あれば帯の値は80個になりますが、配置としては16件なので、96件の学習データがあるわけではありません。</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次に、A 55.9m・D 14mを入力したときの補間の計算を、順番に説明します。ステップ1では、入力を囲む計算済みの4配置を探します。55.9mは50mと75mの間、14mは10mと25mの間なので、この組み合わせの4つが4隅です。ステップ2では、区間の中のどこにいるかを割合で表します。高さは50mから75mへ23.6%進んだ位置なので u＝0.236、距離は10mから25mへ26.7%進んだ位置なので v＝0.267です。ステップ3では、4隅それぞれの重み、つまり何割ずつ使うかを、高さ方向の割合と距離方向の割合の掛け算で求めます。例えば(50,10)は、高さは低い側を76.4%、距離は近い側を73.3%使うので、0.764×0.733で0.560です。入力に一番近い隅なので重みが一番大きく、4つの重みの合計は必ず1になります。ステップ4では、右の式のように、4隅の保存値に重みを掛けて足します。Σの下の「c＝1」から上の「4」までは、4隅を1つずつ順に入れて足すという意味です。帯1は398.18になり、ステップ5で5帯を平均した521.29が南面全体の平均です。この条件ではSEBEを実行していないので、この値の誤差は分かりません。</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予測の精度は、予測値とSEBEの計算値の差で確かめます。上の流れのとおり、検証データで方法を決めてから、テストデータで確認しました。テストの結果を見て方法を変えることはしていません。例として、検証で一番外れたA 35m・D 15mの30〜40m帯を式に入れます。誤差は、予測の861.26からSEBEの1,014.20を引いて−152.94、誤差率は152.94を1,014.20で割って15.08%です。MAEは、N件の誤差の大きさを全部足してNで割った平均です。Σの下の「j＝1」から上の「N」までは、1件目からN件目までを順に足すという意味です。検証8配置では、誤差の合計159.92を8で割って19.99になります。右の表のとおり、テスト12配置ではMAEが18.40、誤差率が2.42%でした。</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高さ帯別に見ると、A 35m・D 15mの30〜40m帯で誤差が最大になりました。そこで、この点を囲む格子、つまり高さ25〜50m・距離10〜25mの範囲を細かくしました。高さに35m、距離に17mの区切りを1本ずつ追加すると、3×3＝9点の格子になります。そのうち4点は計算済みなので、足りない5点を新しく計算しました。5という数は、3×3の格子を作るのに足りなかった点の数です。改善の効果は使っていない6配置で確かめ、MAEは43.50から17.81に下がりました。ただし、17mという区切りや5点が最適かどうかは検証していません。</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からは最終目標のツールです。中央建物の周りに0〜4棟の建物を置き、中央建物の北・東・南・西の壁の日射量を予測します。変える変数は、中央建物の高さと、周囲の建物ごとに「有るか無いか（s）」「高さ（A）」「隙間（D）」「置く方位（θ）」の4つです。1＋4棟×4個で17個になります。θは建物を回す角度ではなく、中央から見て建物を置く方向で、北を0度として時計回りに測ります。Dは図の赤い線のように、建物の外形どうしの一番短い距離で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立体で見ると、中央建物の高さH_Cと、周囲建物の高さAの位置が分かりやすくなります。出力は、中央建物の4つの面をそれぞれ5つの高さ帯に分けた、合計20個の年間日射量です。中央建物の高さを変えた場合は、10m刻みではなく高さを5等分するので、1つの帯の高さも変わります。南1棟の段階では南面の5個だった出力が、4面の20個に増えます。</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周囲の建物ごとに、有るか無いかを0と1で表す変数sを使う理由です。建物がある場合は、高さと距離を入力すれば計算できます。しかし建物がない場合は、高さにも距離にも入れる数字がありません。高さ0mと入れて代わりにすると、計算済みの表の範囲である25〜100mの外になり、周りの4点がないので補間できません。そこで、有るか無いかだけを表すsを用意します。式の中では、各建物で減る量にsを掛けるだけで、s＝0の建物は0になって消えます。ただしsは0か1だけで、0.5の建物はないので、sの方向には補間できません。そのため、有無の組み合わせ16通りを別々に扱う必要がありま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最終目標の17変数に一度に進むのではなく、まず方位を北・東・南・西に固定し、中央建物の高さも50mに固定した「4方向版」で考えます。変える変数は4方向それぞれの有無s、高さA、隙間Dの12個で、そのうち連続して変わるのは高さと隙間の8個、有無は0か1の4個です。4方向というのは、必ず4棟置くという意味ではなく、各方向に0棟か1棟置けるという意味です。この4方向版で、線形補間でツールを作るとどれだけの計算が必要かを見積もれば、17変数に広げたときの見通しが立ち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先生の「2変数を9点でできたなら、4方向でもできるのでは」というご質問にお答えします。南1棟では、高さ3通り×距離3通りの9通りで表を作れました。4方向では、北の建物の9通りのそれぞれについて東の9通りがあり、さらに南、西と選び方が重なるので、9×9×9×9＝6,561通りになります。例えば、北・東・南・西の4棟の高さと隙間をすべて決めて、やっと1通りです。建物がない場合も数えると1万通りになりますが、その理由は次のページで説明します。全部をSEBEで計算できれば、南1棟と同じように補間でツールが作れるので、数学的には可能です。ただし、6,561回の計算に1回30秒〜1分かかるので、約55〜109時間かかります。詳しい計算時間は37枚目で示しま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では、線形補間で4方向のツールを作る場合の考え方を、変数の数を増やしながら説明します。変数が1つなら、入力の両側にある2つの点を使います。t＝0.4の位置なら、下側を0.6、上側を0.4の割合で混ぜ、近い方を多く使います。変数が2つ、つまり今回の南1棟では、四角形の4隅を使います。変数が3つなら立方体の8つの角になり、変数が1つ増えるごとに使う点は2倍になります。4棟の高さと隙間の8変数では、2を8回掛けた256点です。次に、建物がない場合も数えると1万通りになる理由です。1つの方向には、建物がない場合が1通り、建物がある場合が高さ3通り×隙間3通りの9通りで、合わせて10通りの選び方があります。これが北・東・南・西の4方向なので、10×10×10×10＝1万通りです。右の表のように棟数ごとに分けると、建物なしの0棟が1通り、1棟が4方向×9で36通り、2棟が486通り、3棟が2,916通り、4棟が6,561通りで、合計がちょうど1万になります。6,561通りは、この中の4棟すべてある場合です。</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では、具体的な配置で計算を追います。左の図のように、東に高さ40m・隙間20m、南に高さ35m・隙間15mの建物があり、北と西にはないとします。計算するのは、赤で示した中央建物の南面の一番下、0〜10mの帯1です。有無を見ると東と南だけに建物があるので、「東と南がある表」を使います。まず、建物ごとに「隅」を探します。隅とは、入力を囲む計算済みの条件、つまり高さと隙間の組のことです。南の建物は高さ35m・隙間15mなので、高さ25mと50m、隙間10mと25mを組み合わせた (25,10)、(25,25)、(50,10)、(50,25) の4つが隅です。下の小さな図は、それぞれの隅がどんな配置かを横から見たものです。入力は (25,10) に一番近いので、重みは0.400で一番大きくなります。東の建物も同じように4つの隅があり、入力の高さ40m・隙間20mに一番近い (50,25) の重みが0.400です。この重みの出し方は、次のページで物差しを使って説明します。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隅の重みの出し方を、物差しで説明します。南の建物の高さは35mで、計算済みの25mと50mの間にあります。25mから50mまでは25mあり、35mは25mから10m進んだ所なので、10÷25で0.4、つまり40%進んだ位置です。35mは25mの方に近いので、25m側の値を多く使います。25m側を使う割合は1−0.4で0.6、50m側は0.4です。隙間も同じで、15mは10mから25mまでの15mのうち5m進んだ所なので、5÷15で3分の1です。10m側を3分の2、25m側を3分の1使います。4つの隅の重みは、高さの割合と隙間の割合を掛けたものです。例えば(25,10)は、高さ25m側の0.6と隙間10m側の3分の2を掛けて0.4です。4つを足すと必ず1になります。右は東の建物で、高さ40mは0.6の位置、隙間20mは3分の2の位置なので、(50,25)の重みが0.4で一番大きくなります。この計算は、南1棟のツールでも同じように使っていま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次に、南の隅と東の隅を1つずつ選んで組み合わせます。南の隅が4つ、東の隅が4つなので、組み合わせは4×4＝16通りで、左の表の16マスになります。1つのマスは、南の建物と東の建物を、その条件で同時に置いた1つの配置です。例えば赤いマスは、南が (25,10)、東が (50,25) の組み合わせで、右の図のように、南に高さ25m・隙間10m、東に高さ50m・隙間25mの建物を同時に置いた配置です。この配置はSEBEで計算済みで、南面・帯1の値yが保存されています。マスの重みは、南の重み0.400と東の重み0.400を掛けて0.160です。保存値が仮に600なら、このマスからの寄与は0.160×600＝96です。16マスすべてで重み×保存値を求めて足すと、南面・帯1の予測値になります。下の式のΣは16マスを全部足す、Πは南と東の割合を掛けるという意味です。重みは20個の出力で共通で、面や帯が変わると保存値yだけが変わります。4棟あると、この表は4×4×4×4＝256マスになります。では、そのために表には何個のデータを保存しておく必要があるかを、次のページで説明し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256という数は、1回の予測で使う配置の数です。学習用データ、つまり先にSEBEで計算して表に保存しておくデータの数ではありません。左の南1棟の例で考えると、表には16配置を保存していて、1回の予測で使うのは入力を囲む4つだけです。しかし入力が変われば使う4つも変わるので、16全部を計算しておく必要があります。4方向でも同じで、1回に使うのは256配置でも、入力がどこに来ても256点がそろうように、4棟ありだけで6,561配置、建物なしも含めると1万配置を、先にすべてSEBEで計算しておく必要があります。1つの配置からは4面×5帯の20個の値を保存するので、1万配置なら20万個の数値になります。線形補間は何かを学習するわけではなく、この表を保存しておき、入力のたびに周りの256配置を探して重み付き平均する方法で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で、入力データ・学習用データ・検証データ・テストデータを整理します。左の列は南1棟で実際に行ったこと、真ん中は4方向版を線形補間で作る場合の想定、右は代案の空の遮られ方です。入力データはツールに入れるもので、南1棟では高さと隙間の2個、4方向版では有無・高さ・隙間を4方向分の12個です。正解値はSEBEで計算した日射量です。学習用データは、線形補間では表として保存する配置で、南1棟では16配置、4方向版では格子の全配置の1万配置が必要です。線形補間は係数を学習しません。一方、空の遮られ方では、SEBEで計算した配置から、遮られ方と日射量の関係をモデルが学習します。こちらは格子でなくてもよいのが違いです。検証データは方法や設定を決めるため、テストデータは決めた後に、学習にも検証にも使っていない配置で精度を確かめるために使います。4方向版と代案の数は例で、まだ決めていません。</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計算したデータを後から追加して学習し直すのか、についてです。上の図がデータの流れです。まず、ツールで予測するときはSEBEを実行しないので、ツールを使っただけでは新しい正解値は増えず、自動で追加学習することはありません。追加するのは、新しくSEBEで計算した配置です。線形補間に追加するには、格子の形をそろえる必要があります。南1棟では実際に、誤差が最大だった配置の周りに区切りを加え、3×3の格子にするために5配置を追加して、局所改良版を作りました。1点だけを足しても格子にならないので、そのままでは使えません。また、テストデータは評価が終わるまで学習に入れません。南1棟でも、誤差が最大だった配置そのものは入れず、新しい6配置で確かめました。空の遮られ方のような機械学習なら、計算した配置はどれでも学習データに加えて、モデルを学習し直せます。格子をそろえなくてよいので、追加学習しやすいのが利点です。</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では、全部の組み合わせをSEBEで計算する時間を見積もります。SEBEは1回30秒〜1分かかります。南1棟の9配置なら5〜9分です。4棟ありの6,561配置では約55〜109時間、建物なしも含めた1万配置では約83〜167時間、格子を4段階に細かくした83,521配置では約29〜58日かかります。さらに最終目標の17変数では、各建物が「なし＋高さ3×距離3×方位3」の28通り、それが4棟分で、中央の高さが4通りなので、約246万配置になり、約2.3〜4.7年かかります。しかもこれは連続で計算した時間だけで、入力の作成や保存、失敗したときの再計算、検証用の配置は含んでいません。格子がそろえば補間の計算自体は簡単ですが、問題は格子をそろえるための計算時間とデータ量です。</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以上をまとめると、南1棟では補間する変数が2個で9配置、数分で表が作れました。4方向版では8個になり、1万配置、1回の予測で256頂点、計算に3.5〜7日かかります。最終目標の17変数では、連続して変わる変数が13個になり、約246万配置、1回の予測で8,192頂点、計算に数年かかります。4方向だけで6,561通りになってしまうので、17変数を考えると、線形補間で全部の組み合わせを表にする方式は成立しません。そこで、別の学習方法として「空の遮られ方」を考えます。これは、建物の配置をそのまま使わず、壁の点から見てどの方向の空がふさがれているかという「空の地図」に変えてから、機械学習で日射量を予測する方法です。どんな配置でも同じ大きさの地図になるので、格子をそろえる必要がありません。ただし、必要な配置の数や精度はまだ分からないので、来週詳しく検討します。</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方向だけで6,561通りになり、17変数では線形補間の表が作れないので、別の方法として「空の遮られ方」を考えます。考え方は、配置の数字をそのまま使うのではなく、壁の点から見た空の様子に置き換えることです。左の立体図は、南面の高さ20mの点Pに、見える空をドームのようにかぶせたものです。南面の点からは南側の半分の空しか見えないので、ドームは前半分だけです。ドームを72のマスに分けると、南の建物に隠れるマスがオレンジ、南東の建物に隠れるマスが緑、両方に隠れるマスが赤になります。このドームを平らに広げたものが「空の地図」です。右のように、建物がないときは0マス、南だけなら12マス、南と南東なら14マスが隠れます。大事なのは、棟数や高さ、隙間、方位θがどう変わっても、地図の形はいつも12列×6行の72マスで同じだということです。そのため、17変数でも入力の大きさが増えません。このあと、地図の作り方、角度hの計算、割合Oの数え方、機械学習での予測の順に説明します。これを中央建物の4面×5帯の中心点ごとに行うので、20枚の地図から20個の日射量を予測します。</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空の地図の作り方です。左は上から見た図で、点Pから外を見る向きになるように、南を上にしています。そのため左が東、右が西です。点Pから見える前半分の180度を15度ずつ12に分け、左から1番から12番と番号aを付けます。オレンジの番号の方向に建物があります。真ん中は横から見た図で、見上げる角度を、水平の0度から真上の90度まで15度ずつ6つに分け、下から1番から6番と番号eを付けます。赤い線は南の建物の上の端を見る線で、30.7度です。これより下の1番と2番の角度は建物に隠れます。この方位12と高さ6を組み合わせると、右の12列×6行、72マスの地図になります。例えば黒枠のマスは、方位6番・高度2番、つまり南から少し東寄りで、見上げる角度15〜30度の空で、南の建物に隠れています。記号jはマスの番号で、aとeの組のことです。Jはマスの数72です。では、それぞれのマスが隠れているかを、どう決めるかを次のページで説明します。</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それを決めるのが遮蔽高度角hです。その方向で、どの高さの角度まで建物に隠れるかを表します。左の図は方位6番の断面です。建物の高さAが35m、点Pの高さzが20mなので、高さの差は15mです。この方向に進んで建物に当たるまでの水平距離dは25.2mです。隙間は25mですが、斜めの方向に進むので少し長くなります。tanは高さの差÷水平距離で、arctanはその逆に比から角度を出す計算なので、h＝arctan(15÷25.2)＝30.7度です。真ん中の式の、h_{i,a}は建物iを方位aで見たときの角度です。同じ方位に建物が2つ以上あるときは、maxで一番高く見える角度だけを使います。右の図は方位4番で、南の建物は31.5m先で25.5度、南東の建物は73.9m先で11.5度ですが、南東の建物は南の建物に隠れているので、h＝max(25.5, 11.5)＝25.5度になります。下の表は12方位すべての値で、南の建物は4〜9番、南東の建物は2〜4番にあり、建物がない方位はh＝0です。</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次に、ふさがれた割合Oを数えます。各マスについて、マスの中心の角度がその列のhより低ければ1、そうでなければ0とします。これがb_{a,e}です。例えば方位6番はh＝30.7度なので、中心が7.5度と22.5度の2マスが1になります。図の太い線がそれぞれの列のhです。下の段は列ごとの1の数で、全部足すと14マスです。Oの式のΣは2つあり、内側のΣ_{e=1}^{6}は1つの列を下から上へ6マス足す、外側のΣ_{a=1}^{12}はその列の合計を12列分足すという意味です。足した14を全マス数J＝72で割って、O＝0.194、19.4%です。Oは0から1の値で、0なら空が全部見えます。右下の表は、影の重なりを二重に数えない理由です。建物ごとに数えて足すと、南12マスと南東3マスで15マスになり、方位4番の赤いマスを2回数えてしまいます。地図ではマスごとに1回しか数えないので、14マスと正しく数えられます。</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うして作った数値から、機械学習で日射量を予測します。上の表のように、1つの点の入力を1行にまとめたものを特徴量xと呼びます。12方位のh、割合O、点の高さz、面の向きです。どの配置でも列の並びは同じです。例えば、南だけの配置では南東の方向のhが0になり、点の高さが40mで建物の35mより高い場合は、hもOも全部0になります。面の向きも入れるのは、同じ遮られ方でも、南面と北面では太陽の当たり方が違うからです。学習では、SEBEで計算した配置から特徴量と正解のSEBE値の組を作ります。1配置から4面×5帯で20行できます。そして、右の式のように、全部の行で「予測−SEBE」の差を2乗して足した値が一番小さくなるように、関数Fを決めます。2乗するのは、プラスとマイナスの差が打ち消し合わないようにするためです。ツールで予測するときは、新しい配置から地図を作ってh・Oを計算し、Fに入れるだけなので、SEBEは不要で、20個の日射量がすぐに出ます。学習・検証・テストの分け方は、線形補間のときと同じです。モデルの種類は、重回帰、ランダムフォレスト、ニューラルネットなどを候補に、来週決めます。</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最後に、線形補間との比較です。入力は同じですが、線形補間は格子の全組み合わせが必要で、変数が増えると必要な配置が3倍以上ずつ増えます。空の遮られ方は、格子をそろえる必要がなく、変数が増えても入力の大きさは同じです。影の重なりも、マスを1回だけ数えるので二重に数えません。一方で、学習データが少ないと精度が出ないことや、地図の細かさによる誤差という弱点があります。どちらが良いかはまだ分かりません。そこで来週は、まず南1棟の既存データで各帯の点のhとOを計算し、学習16配置でFを作り、検証8配置でモデルを選び、テスト12配置で線形補間のMAE 18.40と比べます。良ければ、4方向や方位θのある配置に広げます。地図の細かさ、点の選び方、モデルの種類と必要な配置の数、採用の基準は、まだ決めていません。</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まとめです。今回は、データの役割と計算の過程を整理し、線形補間で4方向のツールを作る場合の計算を具体的に示しました。4方向だけでも6,561〜1万配置、1回の予測で256頂点が必要で、SEBEが1回30秒〜1分でも3.5〜7日かかり、17変数では数年かかるので、線形補間で全組み合わせを表にする方式は成立しません。代わりの方法として、壁の点から見た空の地図を作り、遮蔽高度角hとふさがれた割合Oを計算して、機械学習のFで日射量を予測する方法を説明しました。来週は、南1棟の既存データでhとOを計算し、同じテスト配置で線形補間と精度を比べます。以上です。</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4.xml"/><Relationship Id="rId4"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0" y="1325880"/>
            <a:ext cx="12191695" cy="320040"/>
          </a:xfrm>
          <a:prstGeom prst="rect">
            <a:avLst/>
          </a:prstGeom>
          <a:noFill/>
          <a:ln/>
        </p:spPr>
        <p:txBody>
          <a:bodyPr wrap="square" rtlCol="0" anchor="t"/>
          <a:lstStyle/>
          <a:p>
            <a:pPr marL="0" indent="0" algn="ctr">
              <a:buNone/>
            </a:pPr>
            <a:r>
              <a:rPr lang="en-US" sz="1300" b="1" kern="0" spc="200" dirty="0">
                <a:solidFill>
                  <a:srgbClr val="E8934D"/>
                </a:solidFill>
                <a:latin typeface="Yu Gothic" pitchFamily="34" charset="0"/>
                <a:ea typeface="Yu Gothic" pitchFamily="34" charset="-122"/>
                <a:cs typeface="Yu Gothic" pitchFamily="34" charset="-120"/>
              </a:rPr>
              <a:t>卒業研究  ｜  WALL SOLAR RADIATION PREDICTION</a:t>
            </a:r>
            <a:endParaRPr lang="en-US" sz="1300" dirty="0"/>
          </a:p>
        </p:txBody>
      </p:sp>
      <p:sp>
        <p:nvSpPr>
          <p:cNvPr id="3" name="Text 1"/>
          <p:cNvSpPr txBox="1"/>
          <p:nvPr/>
        </p:nvSpPr>
        <p:spPr>
          <a:xfrm>
            <a:off x="0" y="1737360"/>
            <a:ext cx="12191695" cy="822960"/>
          </a:xfrm>
          <a:prstGeom prst="rect">
            <a:avLst/>
          </a:prstGeom>
          <a:noFill/>
          <a:ln/>
        </p:spPr>
        <p:txBody>
          <a:bodyPr wrap="square" rtlCol="0" anchor="ctr"/>
          <a:lstStyle/>
          <a:p>
            <a:pPr marL="0" indent="0" algn="ctr">
              <a:buNone/>
            </a:pPr>
            <a:r>
              <a:rPr lang="en-US" sz="4000" b="1" dirty="0">
                <a:solidFill>
                  <a:srgbClr val="FFFFFF"/>
                </a:solidFill>
                <a:latin typeface="Yu Gothic" pitchFamily="34" charset="0"/>
                <a:ea typeface="Yu Gothic" pitchFamily="34" charset="-122"/>
                <a:cs typeface="Yu Gothic" pitchFamily="34" charset="-120"/>
              </a:rPr>
              <a:t>壁面日射量予測ツールの開発</a:t>
            </a:r>
            <a:endParaRPr lang="en-US" sz="4000" dirty="0"/>
          </a:p>
        </p:txBody>
      </p:sp>
      <p:sp>
        <p:nvSpPr>
          <p:cNvPr id="4" name="Text 2"/>
          <p:cNvSpPr txBox="1"/>
          <p:nvPr/>
        </p:nvSpPr>
        <p:spPr>
          <a:xfrm>
            <a:off x="0" y="2606040"/>
            <a:ext cx="12191695" cy="411480"/>
          </a:xfrm>
          <a:prstGeom prst="rect">
            <a:avLst/>
          </a:prstGeom>
          <a:noFill/>
          <a:ln/>
        </p:spPr>
        <p:txBody>
          <a:bodyPr wrap="square" rtlCol="0" anchor="t"/>
          <a:lstStyle/>
          <a:p>
            <a:pPr marL="0" indent="0" algn="ctr">
              <a:buNone/>
            </a:pPr>
            <a:r>
              <a:rPr lang="en-US" sz="1800" dirty="0">
                <a:solidFill>
                  <a:srgbClr val="CFE0EE"/>
                </a:solidFill>
                <a:latin typeface="Yu Gothic" pitchFamily="34" charset="0"/>
                <a:ea typeface="Yu Gothic" pitchFamily="34" charset="-122"/>
                <a:cs typeface="Yu Gothic" pitchFamily="34" charset="-120"/>
              </a:rPr>
              <a:t>第一段階：南に1棟設置した場合のモデル構築・検証とツール化</a:t>
            </a:r>
            <a:endParaRPr lang="en-US" sz="1800" dirty="0"/>
          </a:p>
        </p:txBody>
      </p:sp>
      <p:sp>
        <p:nvSpPr>
          <p:cNvPr id="5" name="Shape 3"/>
          <p:cNvSpPr/>
          <p:nvPr/>
        </p:nvSpPr>
        <p:spPr>
          <a:xfrm>
            <a:off x="5184648" y="3200400"/>
            <a:ext cx="1828800" cy="0"/>
          </a:xfrm>
          <a:prstGeom prst="line">
            <a:avLst/>
          </a:prstGeom>
          <a:noFill/>
          <a:ln w="25400">
            <a:solidFill>
              <a:srgbClr val="E8934D"/>
            </a:solidFill>
            <a:prstDash val="solid"/>
          </a:ln>
        </p:spPr>
        <p:txBody>
          <a:bodyPr/>
          <a:p/>
        </p:txBody>
      </p:sp>
      <p:sp>
        <p:nvSpPr>
          <p:cNvPr id="6" name="Text 4"/>
          <p:cNvSpPr txBox="1"/>
          <p:nvPr/>
        </p:nvSpPr>
        <p:spPr>
          <a:xfrm>
            <a:off x="0" y="3337560"/>
            <a:ext cx="12191695" cy="320040"/>
          </a:xfrm>
          <a:prstGeom prst="rect">
            <a:avLst/>
          </a:prstGeom>
          <a:noFill/>
          <a:ln/>
        </p:spPr>
        <p:txBody>
          <a:bodyPr wrap="square" rtlCol="0" anchor="t"/>
          <a:lstStyle/>
          <a:p>
            <a:pPr marL="0" indent="0" algn="ctr">
              <a:buNone/>
            </a:pPr>
            <a:r>
              <a:rPr lang="en-US" sz="1200" dirty="0">
                <a:solidFill>
                  <a:srgbClr val="9FB3C8"/>
                </a:solidFill>
                <a:latin typeface="Yu Gothic" pitchFamily="34" charset="0"/>
                <a:ea typeface="Yu Gothic" pitchFamily="34" charset="-122"/>
                <a:cs typeface="Yu Gothic" pitchFamily="34" charset="-120"/>
              </a:rPr>
              <a:t>SEBEによる日射解析結果をもとに、入力から瞬時に壁面日射量を返す予測ツールを作る</a:t>
            </a:r>
            <a:endParaRPr lang="en-US" sz="1200" dirty="0"/>
          </a:p>
        </p:txBody>
      </p:sp>
      <p:sp>
        <p:nvSpPr>
          <p:cNvPr id="7" name="Shape 5"/>
          <p:cNvSpPr/>
          <p:nvPr/>
        </p:nvSpPr>
        <p:spPr>
          <a:xfrm>
            <a:off x="10584180" y="644652"/>
            <a:ext cx="45720" cy="160020"/>
          </a:xfrm>
          <a:prstGeom prst="rect">
            <a:avLst/>
          </a:prstGeom>
          <a:solidFill>
            <a:srgbClr val="E8934D"/>
          </a:solidFill>
          <a:ln/>
        </p:spPr>
        <p:txBody>
          <a:bodyPr/>
          <a:p/>
        </p:txBody>
      </p:sp>
      <p:sp>
        <p:nvSpPr>
          <p:cNvPr id="8" name="Shape 6"/>
          <p:cNvSpPr/>
          <p:nvPr/>
        </p:nvSpPr>
        <p:spPr>
          <a:xfrm rot="2700000">
            <a:off x="10912319" y="780571"/>
            <a:ext cx="45720" cy="160020"/>
          </a:xfrm>
          <a:prstGeom prst="rect">
            <a:avLst/>
          </a:prstGeom>
          <a:solidFill>
            <a:srgbClr val="E8934D"/>
          </a:solidFill>
          <a:ln/>
        </p:spPr>
        <p:txBody>
          <a:bodyPr/>
          <a:p/>
        </p:txBody>
      </p:sp>
      <p:sp>
        <p:nvSpPr>
          <p:cNvPr id="9" name="Shape 7"/>
          <p:cNvSpPr/>
          <p:nvPr/>
        </p:nvSpPr>
        <p:spPr>
          <a:xfrm rot="5400000">
            <a:off x="11048238" y="1108710"/>
            <a:ext cx="45720" cy="160020"/>
          </a:xfrm>
          <a:prstGeom prst="rect">
            <a:avLst/>
          </a:prstGeom>
          <a:solidFill>
            <a:srgbClr val="E8934D"/>
          </a:solidFill>
          <a:ln/>
        </p:spPr>
        <p:txBody>
          <a:bodyPr/>
          <a:p/>
        </p:txBody>
      </p:sp>
      <p:sp>
        <p:nvSpPr>
          <p:cNvPr id="10" name="Shape 8"/>
          <p:cNvSpPr/>
          <p:nvPr/>
        </p:nvSpPr>
        <p:spPr>
          <a:xfrm rot="8100000">
            <a:off x="10912319" y="1436849"/>
            <a:ext cx="45720" cy="160020"/>
          </a:xfrm>
          <a:prstGeom prst="rect">
            <a:avLst/>
          </a:prstGeom>
          <a:solidFill>
            <a:srgbClr val="E8934D"/>
          </a:solidFill>
          <a:ln/>
        </p:spPr>
        <p:txBody>
          <a:bodyPr/>
          <a:p/>
        </p:txBody>
      </p:sp>
      <p:sp>
        <p:nvSpPr>
          <p:cNvPr id="11" name="Shape 9"/>
          <p:cNvSpPr/>
          <p:nvPr/>
        </p:nvSpPr>
        <p:spPr>
          <a:xfrm rot="10800000">
            <a:off x="10584180" y="1572768"/>
            <a:ext cx="45720" cy="160020"/>
          </a:xfrm>
          <a:prstGeom prst="rect">
            <a:avLst/>
          </a:prstGeom>
          <a:solidFill>
            <a:srgbClr val="E8934D"/>
          </a:solidFill>
          <a:ln/>
        </p:spPr>
        <p:txBody>
          <a:bodyPr/>
          <a:p/>
        </p:txBody>
      </p:sp>
      <p:sp>
        <p:nvSpPr>
          <p:cNvPr id="12" name="Shape 10"/>
          <p:cNvSpPr/>
          <p:nvPr/>
        </p:nvSpPr>
        <p:spPr>
          <a:xfrm rot="13500000">
            <a:off x="10256041" y="1436849"/>
            <a:ext cx="45720" cy="160020"/>
          </a:xfrm>
          <a:prstGeom prst="rect">
            <a:avLst/>
          </a:prstGeom>
          <a:solidFill>
            <a:srgbClr val="E8934D"/>
          </a:solidFill>
          <a:ln/>
        </p:spPr>
        <p:txBody>
          <a:bodyPr/>
          <a:p/>
        </p:txBody>
      </p:sp>
      <p:sp>
        <p:nvSpPr>
          <p:cNvPr id="13" name="Shape 11"/>
          <p:cNvSpPr/>
          <p:nvPr/>
        </p:nvSpPr>
        <p:spPr>
          <a:xfrm rot="16200000">
            <a:off x="10120122" y="1108710"/>
            <a:ext cx="45720" cy="160020"/>
          </a:xfrm>
          <a:prstGeom prst="rect">
            <a:avLst/>
          </a:prstGeom>
          <a:solidFill>
            <a:srgbClr val="E8934D"/>
          </a:solidFill>
          <a:ln/>
        </p:spPr>
        <p:txBody>
          <a:bodyPr/>
          <a:p/>
        </p:txBody>
      </p:sp>
      <p:sp>
        <p:nvSpPr>
          <p:cNvPr id="14" name="Shape 12"/>
          <p:cNvSpPr/>
          <p:nvPr/>
        </p:nvSpPr>
        <p:spPr>
          <a:xfrm rot="18900000">
            <a:off x="10256041" y="780571"/>
            <a:ext cx="45720" cy="160020"/>
          </a:xfrm>
          <a:prstGeom prst="rect">
            <a:avLst/>
          </a:prstGeom>
          <a:solidFill>
            <a:srgbClr val="E8934D"/>
          </a:solidFill>
          <a:ln/>
        </p:spPr>
        <p:txBody>
          <a:bodyPr/>
          <a:p/>
        </p:txBody>
      </p:sp>
      <p:sp>
        <p:nvSpPr>
          <p:cNvPr id="15" name="Shape 13"/>
          <p:cNvSpPr/>
          <p:nvPr/>
        </p:nvSpPr>
        <p:spPr>
          <a:xfrm>
            <a:off x="10287000" y="868680"/>
            <a:ext cx="640080" cy="640080"/>
          </a:xfrm>
          <a:prstGeom prst="ellipse">
            <a:avLst/>
          </a:prstGeom>
          <a:solidFill>
            <a:srgbClr val="E8934D"/>
          </a:solidFill>
          <a:ln/>
        </p:spPr>
        <p:txBody>
          <a:bodyPr/>
          <a:p/>
        </p:txBody>
      </p:sp>
      <p:sp>
        <p:nvSpPr>
          <p:cNvPr id="16" name="Shape 14"/>
          <p:cNvSpPr/>
          <p:nvPr/>
        </p:nvSpPr>
        <p:spPr>
          <a:xfrm>
            <a:off x="822960" y="5806440"/>
            <a:ext cx="777240" cy="1051560"/>
          </a:xfrm>
          <a:prstGeom prst="rect">
            <a:avLst/>
          </a:prstGeom>
          <a:solidFill>
            <a:srgbClr val="35507D"/>
          </a:solidFill>
          <a:ln/>
        </p:spPr>
        <p:txBody>
          <a:bodyPr/>
          <a:p/>
        </p:txBody>
      </p:sp>
      <p:sp>
        <p:nvSpPr>
          <p:cNvPr id="17" name="Shape 15"/>
          <p:cNvSpPr/>
          <p:nvPr/>
        </p:nvSpPr>
        <p:spPr>
          <a:xfrm>
            <a:off x="1691640" y="5257800"/>
            <a:ext cx="960120" cy="1600200"/>
          </a:xfrm>
          <a:prstGeom prst="rect">
            <a:avLst/>
          </a:prstGeom>
          <a:solidFill>
            <a:srgbClr val="24365A"/>
          </a:solidFill>
          <a:ln/>
        </p:spPr>
        <p:txBody>
          <a:bodyPr/>
          <a:p/>
        </p:txBody>
      </p:sp>
      <p:sp>
        <p:nvSpPr>
          <p:cNvPr id="18" name="Shape 16"/>
          <p:cNvSpPr/>
          <p:nvPr/>
        </p:nvSpPr>
        <p:spPr>
          <a:xfrm>
            <a:off x="2743200" y="5943600"/>
            <a:ext cx="685800" cy="914400"/>
          </a:xfrm>
          <a:prstGeom prst="rect">
            <a:avLst/>
          </a:prstGeom>
          <a:solidFill>
            <a:srgbClr val="35507D"/>
          </a:solidFill>
          <a:ln/>
        </p:spPr>
        <p:txBody>
          <a:bodyPr/>
          <a:p/>
        </p:txBody>
      </p:sp>
      <p:sp>
        <p:nvSpPr>
          <p:cNvPr id="19" name="Shape 17"/>
          <p:cNvSpPr/>
          <p:nvPr/>
        </p:nvSpPr>
        <p:spPr>
          <a:xfrm>
            <a:off x="3520440" y="4526280"/>
            <a:ext cx="1188720" cy="2331720"/>
          </a:xfrm>
          <a:prstGeom prst="rect">
            <a:avLst/>
          </a:prstGeom>
          <a:solidFill>
            <a:srgbClr val="24365A"/>
          </a:solidFill>
          <a:ln/>
        </p:spPr>
        <p:txBody>
          <a:bodyPr/>
          <a:p/>
        </p:txBody>
      </p:sp>
      <p:sp>
        <p:nvSpPr>
          <p:cNvPr id="20" name="Shape 18"/>
          <p:cNvSpPr/>
          <p:nvPr/>
        </p:nvSpPr>
        <p:spPr>
          <a:xfrm>
            <a:off x="4617720" y="4526280"/>
            <a:ext cx="91440" cy="2331720"/>
          </a:xfrm>
          <a:prstGeom prst="rect">
            <a:avLst/>
          </a:prstGeom>
          <a:solidFill>
            <a:srgbClr val="E8934D"/>
          </a:solidFill>
          <a:ln/>
        </p:spPr>
        <p:txBody>
          <a:bodyPr/>
          <a:p/>
        </p:txBody>
      </p:sp>
      <p:sp>
        <p:nvSpPr>
          <p:cNvPr id="21" name="Shape 19"/>
          <p:cNvSpPr/>
          <p:nvPr/>
        </p:nvSpPr>
        <p:spPr>
          <a:xfrm>
            <a:off x="4846320" y="5577840"/>
            <a:ext cx="777240" cy="1280160"/>
          </a:xfrm>
          <a:prstGeom prst="rect">
            <a:avLst/>
          </a:prstGeom>
          <a:solidFill>
            <a:srgbClr val="35507D"/>
          </a:solidFill>
          <a:ln/>
        </p:spPr>
        <p:txBody>
          <a:bodyPr/>
          <a:p/>
        </p:txBody>
      </p:sp>
      <p:sp>
        <p:nvSpPr>
          <p:cNvPr id="22" name="Shape 20"/>
          <p:cNvSpPr/>
          <p:nvPr/>
        </p:nvSpPr>
        <p:spPr>
          <a:xfrm>
            <a:off x="5760720" y="5120640"/>
            <a:ext cx="868680" cy="1737360"/>
          </a:xfrm>
          <a:prstGeom prst="rect">
            <a:avLst/>
          </a:prstGeom>
          <a:solidFill>
            <a:srgbClr val="24365A"/>
          </a:solidFill>
          <a:ln/>
        </p:spPr>
        <p:txBody>
          <a:bodyPr/>
          <a:p/>
        </p:txBody>
      </p:sp>
      <p:sp>
        <p:nvSpPr>
          <p:cNvPr id="23" name="Shape 21"/>
          <p:cNvSpPr/>
          <p:nvPr/>
        </p:nvSpPr>
        <p:spPr>
          <a:xfrm>
            <a:off x="6720840" y="5852160"/>
            <a:ext cx="621792" cy="1005840"/>
          </a:xfrm>
          <a:prstGeom prst="rect">
            <a:avLst/>
          </a:prstGeom>
          <a:solidFill>
            <a:srgbClr val="35507D"/>
          </a:solidFill>
          <a:ln/>
        </p:spPr>
        <p:txBody>
          <a:bodyPr/>
          <a:p/>
        </p:txBody>
      </p:sp>
      <p:sp>
        <p:nvSpPr>
          <p:cNvPr id="24" name="Shape 22"/>
          <p:cNvSpPr/>
          <p:nvPr/>
        </p:nvSpPr>
        <p:spPr>
          <a:xfrm>
            <a:off x="7452360" y="4983480"/>
            <a:ext cx="1051560" cy="1874520"/>
          </a:xfrm>
          <a:prstGeom prst="rect">
            <a:avLst/>
          </a:prstGeom>
          <a:solidFill>
            <a:srgbClr val="24365A"/>
          </a:solidFill>
          <a:ln/>
        </p:spPr>
        <p:txBody>
          <a:bodyPr/>
          <a:p/>
        </p:txBody>
      </p:sp>
      <p:sp>
        <p:nvSpPr>
          <p:cNvPr id="25" name="Shape 23"/>
          <p:cNvSpPr/>
          <p:nvPr/>
        </p:nvSpPr>
        <p:spPr>
          <a:xfrm>
            <a:off x="8641080" y="5486400"/>
            <a:ext cx="777240" cy="1371600"/>
          </a:xfrm>
          <a:prstGeom prst="rect">
            <a:avLst/>
          </a:prstGeom>
          <a:solidFill>
            <a:srgbClr val="35507D"/>
          </a:solidFill>
          <a:ln/>
        </p:spPr>
        <p:txBody>
          <a:bodyPr/>
          <a:p/>
        </p:txBody>
      </p:sp>
      <p:sp>
        <p:nvSpPr>
          <p:cNvPr id="26" name="Shape 24"/>
          <p:cNvSpPr/>
          <p:nvPr/>
        </p:nvSpPr>
        <p:spPr>
          <a:xfrm>
            <a:off x="9509760" y="5166360"/>
            <a:ext cx="960120" cy="1691640"/>
          </a:xfrm>
          <a:prstGeom prst="rect">
            <a:avLst/>
          </a:prstGeom>
          <a:solidFill>
            <a:srgbClr val="24365A"/>
          </a:solidFill>
          <a:ln/>
        </p:spPr>
        <p:txBody>
          <a:bodyPr/>
          <a:p/>
        </p:txBody>
      </p:sp>
      <p:sp>
        <p:nvSpPr>
          <p:cNvPr id="27" name="Shape 25"/>
          <p:cNvSpPr/>
          <p:nvPr/>
        </p:nvSpPr>
        <p:spPr>
          <a:xfrm>
            <a:off x="10561320" y="5760720"/>
            <a:ext cx="731520" cy="1097280"/>
          </a:xfrm>
          <a:prstGeom prst="rect">
            <a:avLst/>
          </a:prstGeom>
          <a:solidFill>
            <a:srgbClr val="35507D"/>
          </a:solidFill>
          <a:ln/>
        </p:spPr>
        <p:txBody>
          <a:bodyPr/>
          <a:p/>
        </p:txBody>
      </p:sp>
      <p:sp>
        <p:nvSpPr>
          <p:cNvPr id="28" name="Text 26"/>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29" name="Text 27"/>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01 / 45</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発表の流れ</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02 / 45</a:t>
            </a:r>
            <a:endParaRPr lang="en-US" sz="1100" dirty="0"/>
          </a:p>
        </p:txBody>
      </p:sp>
      <p:sp>
        <p:nvSpPr>
          <p:cNvPr id="8" name="Shape 6"/>
          <p:cNvSpPr/>
          <p:nvPr/>
        </p:nvSpPr>
        <p:spPr>
          <a:xfrm>
            <a:off x="45720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9" name="Shape 7"/>
          <p:cNvSpPr/>
          <p:nvPr/>
        </p:nvSpPr>
        <p:spPr>
          <a:xfrm>
            <a:off x="457200" y="1234440"/>
            <a:ext cx="2679192" cy="868680"/>
          </a:xfrm>
          <a:prstGeom prst="rect">
            <a:avLst/>
          </a:prstGeom>
          <a:solidFill>
            <a:srgbClr val="1B2A44"/>
          </a:solidFill>
          <a:ln/>
        </p:spPr>
        <p:txBody>
          <a:bodyPr/>
          <a:p/>
        </p:txBody>
      </p:sp>
      <p:sp>
        <p:nvSpPr>
          <p:cNvPr id="10" name="Text 8"/>
          <p:cNvSpPr txBox="1"/>
          <p:nvPr/>
        </p:nvSpPr>
        <p:spPr>
          <a:xfrm>
            <a:off x="64008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1</a:t>
            </a:r>
            <a:endParaRPr lang="en-US" sz="1100" dirty="0"/>
          </a:p>
        </p:txBody>
      </p:sp>
      <p:sp>
        <p:nvSpPr>
          <p:cNvPr id="11" name="Text 9"/>
          <p:cNvSpPr txBox="1"/>
          <p:nvPr/>
        </p:nvSpPr>
        <p:spPr>
          <a:xfrm>
            <a:off x="176479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p.3–5</a:t>
            </a:r>
            <a:endParaRPr lang="en-US" sz="1100" dirty="0"/>
          </a:p>
        </p:txBody>
      </p:sp>
      <p:sp>
        <p:nvSpPr>
          <p:cNvPr id="12" name="Text 10"/>
          <p:cNvSpPr txBox="1"/>
          <p:nvPr/>
        </p:nvSpPr>
        <p:spPr>
          <a:xfrm>
            <a:off x="64008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目標と研究条件</a:t>
            </a:r>
            <a:endParaRPr lang="en-US" sz="1600" dirty="0"/>
          </a:p>
        </p:txBody>
      </p:sp>
      <p:sp>
        <p:nvSpPr>
          <p:cNvPr id="13" name="Text 11"/>
          <p:cNvSpPr txBox="1"/>
          <p:nvPr/>
        </p:nvSpPr>
        <p:spPr>
          <a:xfrm>
            <a:off x="64008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14" name="Text 12"/>
          <p:cNvSpPr txBox="1"/>
          <p:nvPr/>
        </p:nvSpPr>
        <p:spPr>
          <a:xfrm>
            <a:off x="64008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何を作り、どこから始めるか</a:t>
            </a:r>
            <a:endParaRPr lang="en-US" sz="1250" dirty="0"/>
          </a:p>
        </p:txBody>
      </p:sp>
      <p:sp>
        <p:nvSpPr>
          <p:cNvPr id="15" name="Shape 13"/>
          <p:cNvSpPr/>
          <p:nvPr/>
        </p:nvSpPr>
        <p:spPr>
          <a:xfrm>
            <a:off x="640080" y="3108960"/>
            <a:ext cx="2313432" cy="0"/>
          </a:xfrm>
          <a:prstGeom prst="line">
            <a:avLst/>
          </a:prstGeom>
          <a:noFill/>
          <a:ln w="12700">
            <a:solidFill>
              <a:srgbClr val="DBE0E6"/>
            </a:solidFill>
            <a:prstDash val="solid"/>
          </a:ln>
        </p:spPr>
        <p:txBody>
          <a:bodyPr/>
          <a:p/>
        </p:txBody>
      </p:sp>
      <p:sp>
        <p:nvSpPr>
          <p:cNvPr id="16" name="Text 14"/>
          <p:cNvSpPr txBox="1"/>
          <p:nvPr/>
        </p:nvSpPr>
        <p:spPr>
          <a:xfrm>
            <a:off x="64008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最終目標／第一段階の条件／出力データの作り方</a:t>
            </a:r>
            <a:endParaRPr lang="en-US" sz="1050" dirty="0"/>
          </a:p>
        </p:txBody>
      </p:sp>
      <p:sp>
        <p:nvSpPr>
          <p:cNvPr id="17" name="Shape 15"/>
          <p:cNvSpPr/>
          <p:nvPr/>
        </p:nvSpPr>
        <p:spPr>
          <a:xfrm rot="5400000">
            <a:off x="3154680" y="2514600"/>
            <a:ext cx="118872" cy="182880"/>
          </a:xfrm>
          <a:prstGeom prst="triangle">
            <a:avLst/>
          </a:prstGeom>
          <a:solidFill>
            <a:srgbClr val="AEB4BC"/>
          </a:solidFill>
          <a:ln/>
        </p:spPr>
        <p:txBody>
          <a:bodyPr/>
          <a:p/>
        </p:txBody>
      </p:sp>
      <p:sp>
        <p:nvSpPr>
          <p:cNvPr id="18" name="Shape 16"/>
          <p:cNvSpPr/>
          <p:nvPr/>
        </p:nvSpPr>
        <p:spPr>
          <a:xfrm>
            <a:off x="329184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19" name="Shape 17"/>
          <p:cNvSpPr/>
          <p:nvPr/>
        </p:nvSpPr>
        <p:spPr>
          <a:xfrm>
            <a:off x="3291840" y="1234440"/>
            <a:ext cx="2679192" cy="868680"/>
          </a:xfrm>
          <a:prstGeom prst="rect">
            <a:avLst/>
          </a:prstGeom>
          <a:solidFill>
            <a:srgbClr val="1F6F78"/>
          </a:solidFill>
          <a:ln/>
        </p:spPr>
        <p:txBody>
          <a:bodyPr/>
          <a:p/>
        </p:txBody>
      </p:sp>
      <p:sp>
        <p:nvSpPr>
          <p:cNvPr id="20" name="Text 18"/>
          <p:cNvSpPr txBox="1"/>
          <p:nvPr/>
        </p:nvSpPr>
        <p:spPr>
          <a:xfrm>
            <a:off x="347472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2</a:t>
            </a:r>
            <a:endParaRPr lang="en-US" sz="1100" dirty="0"/>
          </a:p>
        </p:txBody>
      </p:sp>
      <p:sp>
        <p:nvSpPr>
          <p:cNvPr id="21" name="Text 19"/>
          <p:cNvSpPr txBox="1"/>
          <p:nvPr/>
        </p:nvSpPr>
        <p:spPr>
          <a:xfrm>
            <a:off x="459943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p.6–9</a:t>
            </a:r>
            <a:endParaRPr lang="en-US" sz="1100" dirty="0"/>
          </a:p>
        </p:txBody>
      </p:sp>
      <p:sp>
        <p:nvSpPr>
          <p:cNvPr id="22" name="Text 20"/>
          <p:cNvSpPr txBox="1"/>
          <p:nvPr/>
        </p:nvSpPr>
        <p:spPr>
          <a:xfrm>
            <a:off x="347472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予測手法の選定</a:t>
            </a:r>
            <a:endParaRPr lang="en-US" sz="1600" dirty="0"/>
          </a:p>
        </p:txBody>
      </p:sp>
      <p:sp>
        <p:nvSpPr>
          <p:cNvPr id="23" name="Text 21"/>
          <p:cNvSpPr txBox="1"/>
          <p:nvPr/>
        </p:nvSpPr>
        <p:spPr>
          <a:xfrm>
            <a:off x="347472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24" name="Text 22"/>
          <p:cNvSpPr txBox="1"/>
          <p:nvPr/>
        </p:nvSpPr>
        <p:spPr>
          <a:xfrm>
            <a:off x="347472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どの方法で予測するか</a:t>
            </a:r>
            <a:endParaRPr lang="en-US" sz="1250" dirty="0"/>
          </a:p>
        </p:txBody>
      </p:sp>
      <p:sp>
        <p:nvSpPr>
          <p:cNvPr id="25" name="Shape 23"/>
          <p:cNvSpPr/>
          <p:nvPr/>
        </p:nvSpPr>
        <p:spPr>
          <a:xfrm>
            <a:off x="3474720" y="3108960"/>
            <a:ext cx="2313432" cy="0"/>
          </a:xfrm>
          <a:prstGeom prst="line">
            <a:avLst/>
          </a:prstGeom>
          <a:noFill/>
          <a:ln w="12700">
            <a:solidFill>
              <a:srgbClr val="DBE0E6"/>
            </a:solidFill>
            <a:prstDash val="solid"/>
          </a:ln>
        </p:spPr>
        <p:txBody>
          <a:bodyPr/>
          <a:p/>
        </p:txBody>
      </p:sp>
      <p:sp>
        <p:nvSpPr>
          <p:cNvPr id="26" name="Text 24"/>
          <p:cNvSpPr txBox="1"/>
          <p:nvPr/>
        </p:nvSpPr>
        <p:spPr>
          <a:xfrm>
            <a:off x="347472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学習16パターン／3手法の比較／線形補間のしくみ</a:t>
            </a:r>
            <a:endParaRPr lang="en-US" sz="1050" dirty="0"/>
          </a:p>
        </p:txBody>
      </p:sp>
      <p:sp>
        <p:nvSpPr>
          <p:cNvPr id="27" name="Shape 25"/>
          <p:cNvSpPr/>
          <p:nvPr/>
        </p:nvSpPr>
        <p:spPr>
          <a:xfrm rot="5400000">
            <a:off x="5989320" y="2514600"/>
            <a:ext cx="118872" cy="182880"/>
          </a:xfrm>
          <a:prstGeom prst="triangle">
            <a:avLst/>
          </a:prstGeom>
          <a:solidFill>
            <a:srgbClr val="AEB4BC"/>
          </a:solidFill>
          <a:ln/>
        </p:spPr>
        <p:txBody>
          <a:bodyPr/>
          <a:p/>
        </p:txBody>
      </p:sp>
      <p:sp>
        <p:nvSpPr>
          <p:cNvPr id="28" name="Shape 26"/>
          <p:cNvSpPr/>
          <p:nvPr/>
        </p:nvSpPr>
        <p:spPr>
          <a:xfrm>
            <a:off x="612648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29" name="Shape 27"/>
          <p:cNvSpPr/>
          <p:nvPr/>
        </p:nvSpPr>
        <p:spPr>
          <a:xfrm>
            <a:off x="6126480" y="1234440"/>
            <a:ext cx="2679192" cy="868680"/>
          </a:xfrm>
          <a:prstGeom prst="rect">
            <a:avLst/>
          </a:prstGeom>
          <a:solidFill>
            <a:srgbClr val="E8934D"/>
          </a:solidFill>
          <a:ln/>
        </p:spPr>
        <p:txBody>
          <a:bodyPr/>
          <a:p/>
        </p:txBody>
      </p:sp>
      <p:sp>
        <p:nvSpPr>
          <p:cNvPr id="30" name="Text 28"/>
          <p:cNvSpPr txBox="1"/>
          <p:nvPr/>
        </p:nvSpPr>
        <p:spPr>
          <a:xfrm>
            <a:off x="630936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3</a:t>
            </a:r>
            <a:endParaRPr lang="en-US" sz="1100" dirty="0"/>
          </a:p>
        </p:txBody>
      </p:sp>
      <p:sp>
        <p:nvSpPr>
          <p:cNvPr id="31" name="Text 29"/>
          <p:cNvSpPr txBox="1"/>
          <p:nvPr/>
        </p:nvSpPr>
        <p:spPr>
          <a:xfrm>
            <a:off x="743407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p.10–13</a:t>
            </a:r>
            <a:endParaRPr lang="en-US" sz="1100" dirty="0"/>
          </a:p>
        </p:txBody>
      </p:sp>
      <p:sp>
        <p:nvSpPr>
          <p:cNvPr id="32" name="Text 30"/>
          <p:cNvSpPr txBox="1"/>
          <p:nvPr/>
        </p:nvSpPr>
        <p:spPr>
          <a:xfrm>
            <a:off x="630936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精度の確認と改善</a:t>
            </a:r>
            <a:endParaRPr lang="en-US" sz="1600" dirty="0"/>
          </a:p>
        </p:txBody>
      </p:sp>
      <p:sp>
        <p:nvSpPr>
          <p:cNvPr id="33" name="Text 31"/>
          <p:cNvSpPr txBox="1"/>
          <p:nvPr/>
        </p:nvSpPr>
        <p:spPr>
          <a:xfrm>
            <a:off x="630936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34" name="Text 32"/>
          <p:cNvSpPr txBox="1"/>
          <p:nvPr/>
        </p:nvSpPr>
        <p:spPr>
          <a:xfrm>
            <a:off x="630936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どれくらい正確か、弱点をどう直したか</a:t>
            </a:r>
            <a:endParaRPr lang="en-US" sz="1250" dirty="0"/>
          </a:p>
        </p:txBody>
      </p:sp>
      <p:sp>
        <p:nvSpPr>
          <p:cNvPr id="35" name="Shape 33"/>
          <p:cNvSpPr/>
          <p:nvPr/>
        </p:nvSpPr>
        <p:spPr>
          <a:xfrm>
            <a:off x="6309360" y="3108960"/>
            <a:ext cx="2313432" cy="0"/>
          </a:xfrm>
          <a:prstGeom prst="line">
            <a:avLst/>
          </a:prstGeom>
          <a:noFill/>
          <a:ln w="12700">
            <a:solidFill>
              <a:srgbClr val="DBE0E6"/>
            </a:solidFill>
            <a:prstDash val="solid"/>
          </a:ln>
        </p:spPr>
        <p:txBody>
          <a:bodyPr/>
          <a:p/>
        </p:txBody>
      </p:sp>
      <p:sp>
        <p:nvSpPr>
          <p:cNvPr id="36" name="Text 34"/>
          <p:cNvSpPr txBox="1"/>
          <p:nvPr/>
        </p:nvSpPr>
        <p:spPr>
          <a:xfrm>
            <a:off x="630936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テスト12パターン／高さ別の精度／局所補強</a:t>
            </a:r>
            <a:endParaRPr lang="en-US" sz="1050" dirty="0"/>
          </a:p>
        </p:txBody>
      </p:sp>
      <p:sp>
        <p:nvSpPr>
          <p:cNvPr id="37" name="Shape 35"/>
          <p:cNvSpPr/>
          <p:nvPr/>
        </p:nvSpPr>
        <p:spPr>
          <a:xfrm rot="5400000">
            <a:off x="8823960" y="2514600"/>
            <a:ext cx="118872" cy="182880"/>
          </a:xfrm>
          <a:prstGeom prst="triangle">
            <a:avLst/>
          </a:prstGeom>
          <a:solidFill>
            <a:srgbClr val="AEB4BC"/>
          </a:solidFill>
          <a:ln/>
        </p:spPr>
        <p:txBody>
          <a:bodyPr/>
          <a:p/>
        </p:txBody>
      </p:sp>
      <p:sp>
        <p:nvSpPr>
          <p:cNvPr id="38" name="Shape 36"/>
          <p:cNvSpPr/>
          <p:nvPr/>
        </p:nvSpPr>
        <p:spPr>
          <a:xfrm>
            <a:off x="896112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39" name="Shape 37"/>
          <p:cNvSpPr/>
          <p:nvPr/>
        </p:nvSpPr>
        <p:spPr>
          <a:xfrm>
            <a:off x="8961120" y="1234440"/>
            <a:ext cx="2679192" cy="868680"/>
          </a:xfrm>
          <a:prstGeom prst="rect">
            <a:avLst/>
          </a:prstGeom>
          <a:solidFill>
            <a:srgbClr val="4C8C6B"/>
          </a:solidFill>
          <a:ln/>
        </p:spPr>
        <p:txBody>
          <a:bodyPr/>
          <a:p/>
        </p:txBody>
      </p:sp>
      <p:sp>
        <p:nvSpPr>
          <p:cNvPr id="40" name="Text 38"/>
          <p:cNvSpPr txBox="1"/>
          <p:nvPr/>
        </p:nvSpPr>
        <p:spPr>
          <a:xfrm>
            <a:off x="914400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4</a:t>
            </a:r>
            <a:endParaRPr lang="en-US" sz="1100" dirty="0"/>
          </a:p>
        </p:txBody>
      </p:sp>
      <p:sp>
        <p:nvSpPr>
          <p:cNvPr id="41" name="Text 39"/>
          <p:cNvSpPr txBox="1"/>
          <p:nvPr/>
        </p:nvSpPr>
        <p:spPr>
          <a:xfrm>
            <a:off x="1026871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p.14–17</a:t>
            </a:r>
            <a:endParaRPr lang="en-US" sz="1100" dirty="0"/>
          </a:p>
        </p:txBody>
      </p:sp>
      <p:sp>
        <p:nvSpPr>
          <p:cNvPr id="42" name="Text 40"/>
          <p:cNvSpPr txBox="1"/>
          <p:nvPr/>
        </p:nvSpPr>
        <p:spPr>
          <a:xfrm>
            <a:off x="914400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完成したツール</a:t>
            </a:r>
            <a:endParaRPr lang="en-US" sz="1600" dirty="0"/>
          </a:p>
        </p:txBody>
      </p:sp>
      <p:sp>
        <p:nvSpPr>
          <p:cNvPr id="43" name="Text 41"/>
          <p:cNvSpPr txBox="1"/>
          <p:nvPr/>
        </p:nvSpPr>
        <p:spPr>
          <a:xfrm>
            <a:off x="914400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44" name="Text 42"/>
          <p:cNvSpPr txBox="1"/>
          <p:nvPr/>
        </p:nvSpPr>
        <p:spPr>
          <a:xfrm>
            <a:off x="914400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何ができて、どこまで確認できたか</a:t>
            </a:r>
            <a:endParaRPr lang="en-US" sz="1250" dirty="0"/>
          </a:p>
        </p:txBody>
      </p:sp>
      <p:sp>
        <p:nvSpPr>
          <p:cNvPr id="45" name="Shape 43"/>
          <p:cNvSpPr/>
          <p:nvPr/>
        </p:nvSpPr>
        <p:spPr>
          <a:xfrm>
            <a:off x="9144000" y="3108960"/>
            <a:ext cx="2313432" cy="0"/>
          </a:xfrm>
          <a:prstGeom prst="line">
            <a:avLst/>
          </a:prstGeom>
          <a:noFill/>
          <a:ln w="12700">
            <a:solidFill>
              <a:srgbClr val="DBE0E6"/>
            </a:solidFill>
            <a:prstDash val="solid"/>
          </a:ln>
        </p:spPr>
        <p:txBody>
          <a:bodyPr/>
          <a:p/>
        </p:txBody>
      </p:sp>
      <p:sp>
        <p:nvSpPr>
          <p:cNvPr id="46" name="Text 44"/>
          <p:cNvSpPr txBox="1"/>
          <p:nvPr/>
        </p:nvSpPr>
        <p:spPr>
          <a:xfrm>
            <a:off x="914400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ツールの全体像／太陽と影の計算／確認できた範囲</a:t>
            </a:r>
            <a:endParaRPr lang="en-US" sz="1050" dirty="0"/>
          </a:p>
        </p:txBody>
      </p:sp>
      <p:sp>
        <p:nvSpPr>
          <p:cNvPr id="47" name="Text 45"/>
          <p:cNvSpPr txBox="1"/>
          <p:nvPr/>
        </p:nvSpPr>
        <p:spPr>
          <a:xfrm>
            <a:off x="457200" y="4251960"/>
            <a:ext cx="54864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研究の要点（数字でみる流れ）</a:t>
            </a:r>
            <a:endParaRPr lang="en-US" sz="1300" dirty="0"/>
          </a:p>
        </p:txBody>
      </p:sp>
      <p:sp>
        <p:nvSpPr>
          <p:cNvPr id="48" name="Shape 46"/>
          <p:cNvSpPr/>
          <p:nvPr/>
        </p:nvSpPr>
        <p:spPr>
          <a:xfrm>
            <a:off x="457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49" name="Text 47"/>
          <p:cNvSpPr txBox="1"/>
          <p:nvPr/>
        </p:nvSpPr>
        <p:spPr>
          <a:xfrm>
            <a:off x="548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16配置</a:t>
            </a:r>
            <a:endParaRPr lang="en-US" sz="1400" dirty="0"/>
          </a:p>
        </p:txBody>
      </p:sp>
      <p:sp>
        <p:nvSpPr>
          <p:cNvPr id="50" name="Text 48"/>
          <p:cNvSpPr txBox="1"/>
          <p:nvPr/>
        </p:nvSpPr>
        <p:spPr>
          <a:xfrm>
            <a:off x="548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SEBEで計算し</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お手本にする</a:t>
            </a:r>
            <a:endParaRPr lang="en-US" sz="1100" dirty="0"/>
          </a:p>
        </p:txBody>
      </p:sp>
      <p:sp>
        <p:nvSpPr>
          <p:cNvPr id="51" name="Shape 49"/>
          <p:cNvSpPr/>
          <p:nvPr/>
        </p:nvSpPr>
        <p:spPr>
          <a:xfrm rot="5400000">
            <a:off x="2569464" y="5330952"/>
            <a:ext cx="118872" cy="182880"/>
          </a:xfrm>
          <a:prstGeom prst="triangle">
            <a:avLst/>
          </a:prstGeom>
          <a:solidFill>
            <a:srgbClr val="AEB4BC"/>
          </a:solidFill>
          <a:ln/>
        </p:spPr>
        <p:txBody>
          <a:bodyPr/>
          <a:p/>
        </p:txBody>
      </p:sp>
      <p:sp>
        <p:nvSpPr>
          <p:cNvPr id="52" name="Shape 50"/>
          <p:cNvSpPr/>
          <p:nvPr/>
        </p:nvSpPr>
        <p:spPr>
          <a:xfrm>
            <a:off x="2743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3" name="Text 51"/>
          <p:cNvSpPr txBox="1"/>
          <p:nvPr/>
        </p:nvSpPr>
        <p:spPr>
          <a:xfrm>
            <a:off x="2834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線形補間を採用</a:t>
            </a:r>
            <a:endParaRPr lang="en-US" sz="1400" dirty="0"/>
          </a:p>
        </p:txBody>
      </p:sp>
      <p:sp>
        <p:nvSpPr>
          <p:cNvPr id="54" name="Text 52"/>
          <p:cNvSpPr txBox="1"/>
          <p:nvPr/>
        </p:nvSpPr>
        <p:spPr>
          <a:xfrm>
            <a:off x="2834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検証8配置で</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MAE 19.99</a:t>
            </a:r>
            <a:endParaRPr lang="en-US" sz="1100" dirty="0"/>
          </a:p>
        </p:txBody>
      </p:sp>
      <p:sp>
        <p:nvSpPr>
          <p:cNvPr id="55" name="Shape 53"/>
          <p:cNvSpPr/>
          <p:nvPr/>
        </p:nvSpPr>
        <p:spPr>
          <a:xfrm rot="5400000">
            <a:off x="4855464" y="5330952"/>
            <a:ext cx="118872" cy="182880"/>
          </a:xfrm>
          <a:prstGeom prst="triangle">
            <a:avLst/>
          </a:prstGeom>
          <a:solidFill>
            <a:srgbClr val="AEB4BC"/>
          </a:solidFill>
          <a:ln/>
        </p:spPr>
        <p:txBody>
          <a:bodyPr/>
          <a:p/>
        </p:txBody>
      </p:sp>
      <p:sp>
        <p:nvSpPr>
          <p:cNvPr id="56" name="Shape 54"/>
          <p:cNvSpPr/>
          <p:nvPr/>
        </p:nvSpPr>
        <p:spPr>
          <a:xfrm>
            <a:off x="5029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7" name="Text 55"/>
          <p:cNvSpPr txBox="1"/>
          <p:nvPr/>
        </p:nvSpPr>
        <p:spPr>
          <a:xfrm>
            <a:off x="5120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テスト12配置</a:t>
            </a:r>
            <a:endParaRPr lang="en-US" sz="1400" dirty="0"/>
          </a:p>
        </p:txBody>
      </p:sp>
      <p:sp>
        <p:nvSpPr>
          <p:cNvPr id="58" name="Text 56"/>
          <p:cNvSpPr txBox="1"/>
          <p:nvPr/>
        </p:nvSpPr>
        <p:spPr>
          <a:xfrm>
            <a:off x="5120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18.40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誤差率 2.42%</a:t>
            </a:r>
            <a:endParaRPr lang="en-US" sz="1100" dirty="0"/>
          </a:p>
        </p:txBody>
      </p:sp>
      <p:sp>
        <p:nvSpPr>
          <p:cNvPr id="59" name="Shape 57"/>
          <p:cNvSpPr/>
          <p:nvPr/>
        </p:nvSpPr>
        <p:spPr>
          <a:xfrm rot="5400000">
            <a:off x="7141464" y="5330952"/>
            <a:ext cx="118872" cy="182880"/>
          </a:xfrm>
          <a:prstGeom prst="triangle">
            <a:avLst/>
          </a:prstGeom>
          <a:solidFill>
            <a:srgbClr val="AEB4BC"/>
          </a:solidFill>
          <a:ln/>
        </p:spPr>
        <p:txBody>
          <a:bodyPr/>
          <a:p/>
        </p:txBody>
      </p:sp>
      <p:sp>
        <p:nvSpPr>
          <p:cNvPr id="60" name="Shape 58"/>
          <p:cNvSpPr/>
          <p:nvPr/>
        </p:nvSpPr>
        <p:spPr>
          <a:xfrm>
            <a:off x="7315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61" name="Text 59"/>
          <p:cNvSpPr txBox="1"/>
          <p:nvPr/>
        </p:nvSpPr>
        <p:spPr>
          <a:xfrm>
            <a:off x="7406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局所補強</a:t>
            </a:r>
            <a:endParaRPr lang="en-US" sz="1400" dirty="0"/>
          </a:p>
        </p:txBody>
      </p:sp>
      <p:sp>
        <p:nvSpPr>
          <p:cNvPr id="62" name="Text 60"/>
          <p:cNvSpPr txBox="1"/>
          <p:nvPr/>
        </p:nvSpPr>
        <p:spPr>
          <a:xfrm>
            <a:off x="7406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43.50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 17.81</a:t>
            </a:r>
            <a:endParaRPr lang="en-US" sz="1100" dirty="0"/>
          </a:p>
        </p:txBody>
      </p:sp>
      <p:sp>
        <p:nvSpPr>
          <p:cNvPr id="63" name="Shape 61"/>
          <p:cNvSpPr/>
          <p:nvPr/>
        </p:nvSpPr>
        <p:spPr>
          <a:xfrm rot="5400000">
            <a:off x="9427464" y="5330952"/>
            <a:ext cx="118872" cy="182880"/>
          </a:xfrm>
          <a:prstGeom prst="triangle">
            <a:avLst/>
          </a:prstGeom>
          <a:solidFill>
            <a:srgbClr val="AEB4BC"/>
          </a:solidFill>
          <a:ln/>
        </p:spPr>
        <p:txBody>
          <a:bodyPr/>
          <a:p/>
        </p:txBody>
      </p:sp>
      <p:sp>
        <p:nvSpPr>
          <p:cNvPr id="64" name="Shape 62"/>
          <p:cNvSpPr/>
          <p:nvPr/>
        </p:nvSpPr>
        <p:spPr>
          <a:xfrm>
            <a:off x="9601200" y="4617720"/>
            <a:ext cx="2057400" cy="1600200"/>
          </a:xfrm>
          <a:prstGeom prst="roundRect">
            <a:avLst>
              <a:gd name="adj" fmla="val 3429"/>
            </a:avLst>
          </a:prstGeom>
          <a:solidFill>
            <a:srgbClr val="FBEBDA"/>
          </a:solidFill>
          <a:ln w="12700">
            <a:solidFill>
              <a:srgbClr val="E8934D"/>
            </a:solidFill>
            <a:prstDash val="solid"/>
          </a:ln>
        </p:spPr>
        <p:txBody>
          <a:bodyPr/>
          <a:p/>
        </p:txBody>
      </p:sp>
      <p:sp>
        <p:nvSpPr>
          <p:cNvPr id="65" name="Text 63"/>
          <p:cNvSpPr txBox="1"/>
          <p:nvPr/>
        </p:nvSpPr>
        <p:spPr>
          <a:xfrm>
            <a:off x="9692640" y="4709160"/>
            <a:ext cx="1874520" cy="384048"/>
          </a:xfrm>
          <a:prstGeom prst="rect">
            <a:avLst/>
          </a:prstGeom>
          <a:noFill/>
          <a:ln/>
        </p:spPr>
        <p:txBody>
          <a:bodyPr wrap="square" rtlCol="0" anchor="ctr"/>
          <a:lstStyle/>
          <a:p>
            <a:pPr marL="0" indent="0" algn="ctr">
              <a:buNone/>
            </a:pPr>
            <a:r>
              <a:rPr lang="en-US" sz="1400" b="1" dirty="0">
                <a:solidFill>
                  <a:srgbClr val="C56A2C"/>
                </a:solidFill>
                <a:latin typeface="Yu Gothic" pitchFamily="34" charset="0"/>
                <a:ea typeface="Yu Gothic" pitchFamily="34" charset="-122"/>
                <a:cs typeface="Yu Gothic" pitchFamily="34" charset="-120"/>
              </a:rPr>
              <a:t>3Dツール完成</a:t>
            </a:r>
            <a:endParaRPr lang="en-US" sz="1400" dirty="0"/>
          </a:p>
        </p:txBody>
      </p:sp>
      <p:sp>
        <p:nvSpPr>
          <p:cNvPr id="66" name="Text 64"/>
          <p:cNvSpPr txBox="1"/>
          <p:nvPr/>
        </p:nvSpPr>
        <p:spPr>
          <a:xfrm>
            <a:off x="9692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年間日射量＋</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日時の影</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最終目標と、第一段階で絞り込んだ条件</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03 / 45</a:t>
            </a:r>
            <a:endParaRPr lang="en-US" sz="1100" dirty="0"/>
          </a:p>
        </p:txBody>
      </p:sp>
      <p:sp>
        <p:nvSpPr>
          <p:cNvPr id="9" name="Shape 7"/>
          <p:cNvSpPr/>
          <p:nvPr/>
        </p:nvSpPr>
        <p:spPr>
          <a:xfrm>
            <a:off x="457200" y="1188720"/>
            <a:ext cx="5394960" cy="5120640"/>
          </a:xfrm>
          <a:prstGeom prst="roundRect">
            <a:avLst>
              <a:gd name="adj" fmla="val 1071"/>
            </a:avLst>
          </a:prstGeom>
          <a:solidFill>
            <a:srgbClr val="FFFFFF"/>
          </a:solidFill>
          <a:ln w="12700">
            <a:solidFill>
              <a:srgbClr val="DBE0E6"/>
            </a:solidFill>
            <a:prstDash val="solid"/>
          </a:ln>
        </p:spPr>
        <p:txBody>
          <a:bodyPr/>
          <a:p/>
        </p:txBody>
      </p:sp>
      <p:sp>
        <p:nvSpPr>
          <p:cNvPr id="10" name="Shape 8"/>
          <p:cNvSpPr/>
          <p:nvPr/>
        </p:nvSpPr>
        <p:spPr>
          <a:xfrm>
            <a:off x="457200" y="1188720"/>
            <a:ext cx="5394960" cy="420624"/>
          </a:xfrm>
          <a:prstGeom prst="rect">
            <a:avLst/>
          </a:prstGeom>
          <a:solidFill>
            <a:srgbClr val="1B2A44"/>
          </a:solidFill>
          <a:ln/>
        </p:spPr>
        <p:txBody>
          <a:bodyPr/>
          <a:p/>
        </p:txBody>
      </p:sp>
      <p:sp>
        <p:nvSpPr>
          <p:cNvPr id="11" name="Text 9"/>
          <p:cNvSpPr txBox="1"/>
          <p:nvPr/>
        </p:nvSpPr>
        <p:spPr>
          <a:xfrm>
            <a:off x="640080" y="1216152"/>
            <a:ext cx="4572000" cy="365760"/>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最終目標</a:t>
            </a:r>
            <a:endParaRPr lang="en-US" sz="1400" dirty="0"/>
          </a:p>
        </p:txBody>
      </p:sp>
      <p:sp>
        <p:nvSpPr>
          <p:cNvPr id="12" name="Text 10"/>
          <p:cNvSpPr txBox="1"/>
          <p:nvPr/>
        </p:nvSpPr>
        <p:spPr>
          <a:xfrm>
            <a:off x="640080" y="1737360"/>
            <a:ext cx="5029200" cy="68580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周囲に0〜4棟の建物を自由に置いたとき、中央建物の壁面が受ける年間日射量を短時間で予測するツールを作る。</a:t>
            </a:r>
            <a:endParaRPr lang="en-US" sz="1200" dirty="0"/>
          </a:p>
        </p:txBody>
      </p:sp>
      <p:sp>
        <p:nvSpPr>
          <p:cNvPr id="13" name="Text 11"/>
          <p:cNvSpPr txBox="1"/>
          <p:nvPr/>
        </p:nvSpPr>
        <p:spPr>
          <a:xfrm>
            <a:off x="640080" y="2468880"/>
            <a:ext cx="5029200" cy="548640"/>
          </a:xfrm>
          <a:prstGeom prst="rect">
            <a:avLst/>
          </a:prstGeom>
          <a:noFill/>
          <a:ln/>
        </p:spPr>
        <p:txBody>
          <a:bodyPr wrap="square" rtlCol="0" anchor="t"/>
          <a:lstStyle/>
          <a:p>
            <a:pPr marL="0" indent="0">
              <a:buNone/>
            </a:pPr>
            <a:r>
              <a:rPr lang="en-US" sz="1050" dirty="0">
                <a:solidFill>
                  <a:srgbClr val="6B7480"/>
                </a:solidFill>
                <a:latin typeface="Yu Gothic" pitchFamily="34" charset="0"/>
                <a:ea typeface="Yu Gothic" pitchFamily="34" charset="-122"/>
                <a:cs typeface="Yu Gothic" pitchFamily="34" charset="-120"/>
              </a:rPr>
              <a:t>SEBE（日射解析ソフト）をそのつど実行する代わりに、事前に計算した結果から瞬時に推定する。</a:t>
            </a:r>
            <a:endParaRPr lang="en-US" sz="1050" dirty="0"/>
          </a:p>
        </p:txBody>
      </p:sp>
      <p:sp>
        <p:nvSpPr>
          <p:cNvPr id="14" name="Text 12"/>
          <p:cNvSpPr txBox="1"/>
          <p:nvPr/>
        </p:nvSpPr>
        <p:spPr>
          <a:xfrm>
            <a:off x="640080" y="3063240"/>
            <a:ext cx="4572000" cy="274320"/>
          </a:xfrm>
          <a:prstGeom prst="rect">
            <a:avLst/>
          </a:prstGeom>
          <a:noFill/>
          <a:ln/>
        </p:spPr>
        <p:txBody>
          <a:bodyPr wrap="square" rtlCol="0" anchor="t"/>
          <a:lstStyle/>
          <a:p>
            <a:pPr marL="0" indent="0">
              <a:buNone/>
            </a:pPr>
            <a:r>
              <a:rPr lang="en-US" sz="1150" b="1" dirty="0">
                <a:solidFill>
                  <a:srgbClr val="C56A2C"/>
                </a:solidFill>
                <a:latin typeface="Yu Gothic" pitchFamily="34" charset="0"/>
                <a:ea typeface="Yu Gothic" pitchFamily="34" charset="-122"/>
                <a:cs typeface="Yu Gothic" pitchFamily="34" charset="-120"/>
              </a:rPr>
              <a:t>ツールが扱う条件</a:t>
            </a:r>
            <a:endParaRPr lang="en-US" sz="1150" dirty="0"/>
          </a:p>
        </p:txBody>
      </p:sp>
      <p:sp>
        <p:nvSpPr>
          <p:cNvPr id="15" name="Shape 13"/>
          <p:cNvSpPr/>
          <p:nvPr/>
        </p:nvSpPr>
        <p:spPr>
          <a:xfrm>
            <a:off x="640080"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16" name="Shape 14"/>
          <p:cNvSpPr/>
          <p:nvPr/>
        </p:nvSpPr>
        <p:spPr>
          <a:xfrm>
            <a:off x="777240" y="3566160"/>
            <a:ext cx="457200" cy="457200"/>
          </a:xfrm>
          <a:prstGeom prst="ellipse">
            <a:avLst/>
          </a:prstGeom>
          <a:solidFill>
            <a:srgbClr val="1B2A44"/>
          </a:solidFill>
          <a:ln/>
        </p:spPr>
        <p:txBody>
          <a:bodyPr/>
          <a:p/>
        </p:txBody>
      </p:sp>
      <p:sp>
        <p:nvSpPr>
          <p:cNvPr id="17" name="Text 15"/>
          <p:cNvSpPr txBox="1"/>
          <p:nvPr/>
        </p:nvSpPr>
        <p:spPr>
          <a:xfrm>
            <a:off x="777240"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距</a:t>
            </a:r>
            <a:endParaRPr lang="en-US" sz="1400" dirty="0"/>
          </a:p>
        </p:txBody>
      </p:sp>
      <p:sp>
        <p:nvSpPr>
          <p:cNvPr id="18" name="Text 16"/>
          <p:cNvSpPr txBox="1"/>
          <p:nvPr/>
        </p:nvSpPr>
        <p:spPr>
          <a:xfrm>
            <a:off x="1325880"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距離</a:t>
            </a:r>
            <a:endParaRPr lang="en-US" sz="1300" dirty="0"/>
          </a:p>
        </p:txBody>
      </p:sp>
      <p:sp>
        <p:nvSpPr>
          <p:cNvPr id="19" name="Text 17"/>
          <p:cNvSpPr txBox="1"/>
          <p:nvPr/>
        </p:nvSpPr>
        <p:spPr>
          <a:xfrm>
            <a:off x="777240"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中央建物と周囲建物の壁どうしの隙間</a:t>
            </a:r>
            <a:endParaRPr lang="en-US" sz="980" dirty="0"/>
          </a:p>
        </p:txBody>
      </p:sp>
      <p:sp>
        <p:nvSpPr>
          <p:cNvPr id="20" name="Shape 18"/>
          <p:cNvSpPr/>
          <p:nvPr/>
        </p:nvSpPr>
        <p:spPr>
          <a:xfrm>
            <a:off x="3182112"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1" name="Shape 19"/>
          <p:cNvSpPr/>
          <p:nvPr/>
        </p:nvSpPr>
        <p:spPr>
          <a:xfrm>
            <a:off x="3319272" y="3566160"/>
            <a:ext cx="457200" cy="457200"/>
          </a:xfrm>
          <a:prstGeom prst="ellipse">
            <a:avLst/>
          </a:prstGeom>
          <a:solidFill>
            <a:srgbClr val="1B2A44"/>
          </a:solidFill>
          <a:ln/>
        </p:spPr>
        <p:txBody>
          <a:bodyPr/>
          <a:p/>
        </p:txBody>
      </p:sp>
      <p:sp>
        <p:nvSpPr>
          <p:cNvPr id="22" name="Text 20"/>
          <p:cNvSpPr txBox="1"/>
          <p:nvPr/>
        </p:nvSpPr>
        <p:spPr>
          <a:xfrm>
            <a:off x="3319272"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方</a:t>
            </a:r>
            <a:endParaRPr lang="en-US" sz="1400" dirty="0"/>
          </a:p>
        </p:txBody>
      </p:sp>
      <p:sp>
        <p:nvSpPr>
          <p:cNvPr id="23" name="Text 21"/>
          <p:cNvSpPr txBox="1"/>
          <p:nvPr/>
        </p:nvSpPr>
        <p:spPr>
          <a:xfrm>
            <a:off x="3867912"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方角</a:t>
            </a:r>
            <a:endParaRPr lang="en-US" sz="1300" dirty="0"/>
          </a:p>
        </p:txBody>
      </p:sp>
      <p:sp>
        <p:nvSpPr>
          <p:cNvPr id="24" name="Text 22"/>
          <p:cNvSpPr txBox="1"/>
          <p:nvPr/>
        </p:nvSpPr>
        <p:spPr>
          <a:xfrm>
            <a:off x="3319272"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周囲建物を置く方位（南・東など）</a:t>
            </a:r>
            <a:endParaRPr lang="en-US" sz="980" dirty="0"/>
          </a:p>
        </p:txBody>
      </p:sp>
      <p:sp>
        <p:nvSpPr>
          <p:cNvPr id="25" name="Shape 23"/>
          <p:cNvSpPr/>
          <p:nvPr/>
        </p:nvSpPr>
        <p:spPr>
          <a:xfrm>
            <a:off x="640080"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6" name="Shape 24"/>
          <p:cNvSpPr/>
          <p:nvPr/>
        </p:nvSpPr>
        <p:spPr>
          <a:xfrm>
            <a:off x="777240" y="4937760"/>
            <a:ext cx="457200" cy="457200"/>
          </a:xfrm>
          <a:prstGeom prst="ellipse">
            <a:avLst/>
          </a:prstGeom>
          <a:solidFill>
            <a:srgbClr val="1B2A44"/>
          </a:solidFill>
          <a:ln/>
        </p:spPr>
        <p:txBody>
          <a:bodyPr/>
          <a:p/>
        </p:txBody>
      </p:sp>
      <p:sp>
        <p:nvSpPr>
          <p:cNvPr id="27" name="Text 25"/>
          <p:cNvSpPr txBox="1"/>
          <p:nvPr/>
        </p:nvSpPr>
        <p:spPr>
          <a:xfrm>
            <a:off x="777240"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高</a:t>
            </a:r>
            <a:endParaRPr lang="en-US" sz="1400" dirty="0"/>
          </a:p>
        </p:txBody>
      </p:sp>
      <p:sp>
        <p:nvSpPr>
          <p:cNvPr id="28" name="Text 26"/>
          <p:cNvSpPr txBox="1"/>
          <p:nvPr/>
        </p:nvSpPr>
        <p:spPr>
          <a:xfrm>
            <a:off x="1325880"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高さ</a:t>
            </a:r>
            <a:endParaRPr lang="en-US" sz="1300" dirty="0"/>
          </a:p>
        </p:txBody>
      </p:sp>
      <p:sp>
        <p:nvSpPr>
          <p:cNvPr id="29" name="Text 27"/>
          <p:cNvSpPr txBox="1"/>
          <p:nvPr/>
        </p:nvSpPr>
        <p:spPr>
          <a:xfrm>
            <a:off x="777240"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周囲に置く建物それぞれの高さ</a:t>
            </a:r>
            <a:endParaRPr lang="en-US" sz="980" dirty="0"/>
          </a:p>
        </p:txBody>
      </p:sp>
      <p:sp>
        <p:nvSpPr>
          <p:cNvPr id="30" name="Shape 28"/>
          <p:cNvSpPr/>
          <p:nvPr/>
        </p:nvSpPr>
        <p:spPr>
          <a:xfrm>
            <a:off x="3182112"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31" name="Shape 29"/>
          <p:cNvSpPr/>
          <p:nvPr/>
        </p:nvSpPr>
        <p:spPr>
          <a:xfrm>
            <a:off x="3319272" y="4937760"/>
            <a:ext cx="457200" cy="457200"/>
          </a:xfrm>
          <a:prstGeom prst="ellipse">
            <a:avLst/>
          </a:prstGeom>
          <a:solidFill>
            <a:srgbClr val="1B2A44"/>
          </a:solidFill>
          <a:ln/>
        </p:spPr>
        <p:txBody>
          <a:bodyPr/>
          <a:p/>
        </p:txBody>
      </p:sp>
      <p:sp>
        <p:nvSpPr>
          <p:cNvPr id="32" name="Text 30"/>
          <p:cNvSpPr txBox="1"/>
          <p:nvPr/>
        </p:nvSpPr>
        <p:spPr>
          <a:xfrm>
            <a:off x="3319272"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数</a:t>
            </a:r>
            <a:endParaRPr lang="en-US" sz="1400" dirty="0"/>
          </a:p>
        </p:txBody>
      </p:sp>
      <p:sp>
        <p:nvSpPr>
          <p:cNvPr id="33" name="Text 31"/>
          <p:cNvSpPr txBox="1"/>
          <p:nvPr/>
        </p:nvSpPr>
        <p:spPr>
          <a:xfrm>
            <a:off x="3867912"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棟数</a:t>
            </a:r>
            <a:endParaRPr lang="en-US" sz="1300" dirty="0"/>
          </a:p>
        </p:txBody>
      </p:sp>
      <p:sp>
        <p:nvSpPr>
          <p:cNvPr id="34" name="Text 32"/>
          <p:cNvSpPr txBox="1"/>
          <p:nvPr/>
        </p:nvSpPr>
        <p:spPr>
          <a:xfrm>
            <a:off x="3319272"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周囲に置く建物の数（0〜4棟）</a:t>
            </a:r>
            <a:endParaRPr lang="en-US" sz="980" dirty="0"/>
          </a:p>
        </p:txBody>
      </p:sp>
      <p:sp>
        <p:nvSpPr>
          <p:cNvPr id="35" name="Shape 33"/>
          <p:cNvSpPr/>
          <p:nvPr/>
        </p:nvSpPr>
        <p:spPr>
          <a:xfrm>
            <a:off x="5961888" y="3474720"/>
            <a:ext cx="411480" cy="457200"/>
          </a:xfrm>
          <a:prstGeom prst="rightArrow">
            <a:avLst/>
          </a:prstGeom>
          <a:solidFill>
            <a:srgbClr val="E8934D"/>
          </a:solidFill>
          <a:ln/>
        </p:spPr>
        <p:txBody>
          <a:bodyPr/>
          <a:p/>
        </p:txBody>
      </p:sp>
      <p:sp>
        <p:nvSpPr>
          <p:cNvPr id="36" name="Text 34"/>
          <p:cNvSpPr txBox="1"/>
          <p:nvPr/>
        </p:nvSpPr>
        <p:spPr>
          <a:xfrm>
            <a:off x="6492240" y="1188720"/>
            <a:ext cx="5212080" cy="320040"/>
          </a:xfrm>
          <a:prstGeom prst="rect">
            <a:avLst/>
          </a:prstGeom>
          <a:noFill/>
          <a:ln/>
        </p:spPr>
        <p:txBody>
          <a:bodyPr wrap="square" rtlCol="0" anchor="t"/>
          <a:lstStyle/>
          <a:p>
            <a:pPr marL="0" indent="0">
              <a:buNone/>
            </a:pPr>
            <a:r>
              <a:rPr lang="en-US" sz="1400" b="1" dirty="0">
                <a:solidFill>
                  <a:srgbClr val="1B2A44"/>
                </a:solidFill>
                <a:latin typeface="Yu Gothic" pitchFamily="34" charset="0"/>
                <a:ea typeface="Yu Gothic" pitchFamily="34" charset="-122"/>
                <a:cs typeface="Yu Gothic" pitchFamily="34" charset="-120"/>
              </a:rPr>
              <a:t>第一段階：条件を大きく絞って始める</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92240" y="1600200"/>
          <a:ext cx="5239512"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947672">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最終目標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第一段階</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周囲の棟数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1棟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置く方角</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自由</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真南のみ</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2"/>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変える条件</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距離・方角・高さ・棟数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高さ A・隙間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中央建物</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50m角・高さ50mで固定</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予測する壁</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中央建物の壁面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南面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bl>
          </a:graphicData>
        </a:graphic>
      </p:graphicFrame>
      <p:sp>
        <p:nvSpPr>
          <p:cNvPr id="38" name="Shape 35"/>
          <p:cNvSpPr/>
          <p:nvPr/>
        </p:nvSpPr>
        <p:spPr>
          <a:xfrm>
            <a:off x="6492240" y="4160520"/>
            <a:ext cx="5239512" cy="2148840"/>
          </a:xfrm>
          <a:prstGeom prst="roundRect">
            <a:avLst>
              <a:gd name="adj" fmla="val 2553"/>
            </a:avLst>
          </a:prstGeom>
          <a:solidFill>
            <a:srgbClr val="FBEBDA"/>
          </a:solidFill>
          <a:ln w="12700">
            <a:solidFill>
              <a:srgbClr val="E8934D"/>
            </a:solidFill>
            <a:prstDash val="solid"/>
          </a:ln>
        </p:spPr>
        <p:txBody>
          <a:bodyPr/>
          <a:p/>
        </p:txBody>
      </p:sp>
      <p:sp>
        <p:nvSpPr>
          <p:cNvPr id="39" name="Text 36"/>
          <p:cNvSpPr txBox="1"/>
          <p:nvPr/>
        </p:nvSpPr>
        <p:spPr>
          <a:xfrm>
            <a:off x="6675120" y="4233672"/>
            <a:ext cx="487375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なぜ絞るのか</a:t>
            </a:r>
            <a:endParaRPr lang="en-US" sz="1200" dirty="0"/>
          </a:p>
        </p:txBody>
      </p:sp>
      <p:sp>
        <p:nvSpPr>
          <p:cNvPr id="40" name="Text 37"/>
          <p:cNvSpPr txBox="1"/>
          <p:nvPr/>
        </p:nvSpPr>
        <p:spPr>
          <a:xfrm>
            <a:off x="6675120" y="4526280"/>
            <a:ext cx="4873752" cy="172821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条件を2つ（A と D）に絞ると、組み合わせを全部計算しても16通りで済む。</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まずこの範囲で「どの予測方法が良いか」「どれくらい正確か」「どこが弱いか」を確かめてから、方角や棟数を広げる。</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第一段階の条件：入力は A と D の2つだけ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04 / 45</a:t>
            </a:r>
            <a:endParaRPr lang="en-US" sz="1100" dirty="0"/>
          </a:p>
        </p:txBody>
      </p:sp>
      <p:sp>
        <p:nvSpPr>
          <p:cNvPr id="9" name="Shape 7"/>
          <p:cNvSpPr/>
          <p:nvPr/>
        </p:nvSpPr>
        <p:spPr>
          <a:xfrm>
            <a:off x="457200" y="1188720"/>
            <a:ext cx="5852160" cy="3749040"/>
          </a:xfrm>
          <a:prstGeom prst="roundRect">
            <a:avLst>
              <a:gd name="adj" fmla="val 1463"/>
            </a:avLst>
          </a:prstGeom>
          <a:solidFill>
            <a:srgbClr val="F3F5F8"/>
          </a:solidFill>
          <a:ln w="12700">
            <a:solidFill>
              <a:srgbClr val="DBE0E6"/>
            </a:solidFill>
            <a:prstDash val="solid"/>
          </a:ln>
        </p:spPr>
        <p:txBody>
          <a:bodyPr/>
          <a:p/>
        </p:txBody>
      </p:sp>
      <p:sp>
        <p:nvSpPr>
          <p:cNvPr id="10" name="Shape 8"/>
          <p:cNvSpPr/>
          <p:nvPr/>
        </p:nvSpPr>
        <p:spPr>
          <a:xfrm>
            <a:off x="640080" y="4434840"/>
            <a:ext cx="5486400" cy="0"/>
          </a:xfrm>
          <a:prstGeom prst="line">
            <a:avLst/>
          </a:prstGeom>
          <a:noFill/>
          <a:ln w="19050">
            <a:solidFill>
              <a:srgbClr val="6B7480"/>
            </a:solidFill>
            <a:prstDash val="solid"/>
          </a:ln>
        </p:spPr>
        <p:txBody>
          <a:bodyPr/>
          <a:p/>
        </p:txBody>
      </p:sp>
      <p:sp>
        <p:nvSpPr>
          <p:cNvPr id="11" name="Shape 9"/>
          <p:cNvSpPr/>
          <p:nvPr/>
        </p:nvSpPr>
        <p:spPr>
          <a:xfrm>
            <a:off x="868680" y="2994660"/>
            <a:ext cx="2057400" cy="1440180"/>
          </a:xfrm>
          <a:prstGeom prst="rect">
            <a:avLst/>
          </a:prstGeom>
          <a:solidFill>
            <a:srgbClr val="1F6F78"/>
          </a:solidFill>
          <a:ln/>
        </p:spPr>
        <p:txBody>
          <a:bodyPr/>
          <a:p/>
        </p:txBody>
      </p:sp>
      <p:sp>
        <p:nvSpPr>
          <p:cNvPr id="12" name="Text 10"/>
          <p:cNvSpPr txBox="1"/>
          <p:nvPr/>
        </p:nvSpPr>
        <p:spPr>
          <a:xfrm>
            <a:off x="868680" y="3314700"/>
            <a:ext cx="205740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（高さ A）</a:t>
            </a:r>
            <a:endParaRPr lang="en-US" sz="1050" dirty="0"/>
          </a:p>
        </p:txBody>
      </p:sp>
      <p:sp>
        <p:nvSpPr>
          <p:cNvPr id="13" name="Shape 11"/>
          <p:cNvSpPr/>
          <p:nvPr/>
        </p:nvSpPr>
        <p:spPr>
          <a:xfrm>
            <a:off x="3954780" y="2377440"/>
            <a:ext cx="2057400" cy="2057400"/>
          </a:xfrm>
          <a:prstGeom prst="rect">
            <a:avLst/>
          </a:prstGeom>
          <a:solidFill>
            <a:srgbClr val="1B2A44"/>
          </a:solidFill>
          <a:ln/>
        </p:spPr>
        <p:txBody>
          <a:bodyPr/>
          <a:p/>
        </p:txBody>
      </p:sp>
      <p:sp>
        <p:nvSpPr>
          <p:cNvPr id="14" name="Shape 12"/>
          <p:cNvSpPr/>
          <p:nvPr/>
        </p:nvSpPr>
        <p:spPr>
          <a:xfrm>
            <a:off x="3954780" y="2377440"/>
            <a:ext cx="82296" cy="2057400"/>
          </a:xfrm>
          <a:prstGeom prst="rect">
            <a:avLst/>
          </a:prstGeom>
          <a:solidFill>
            <a:srgbClr val="E8934D"/>
          </a:solidFill>
          <a:ln/>
        </p:spPr>
        <p:txBody>
          <a:bodyPr/>
          <a:p/>
        </p:txBody>
      </p:sp>
      <p:sp>
        <p:nvSpPr>
          <p:cNvPr id="15" name="Text 13"/>
          <p:cNvSpPr txBox="1"/>
          <p:nvPr/>
        </p:nvSpPr>
        <p:spPr>
          <a:xfrm>
            <a:off x="4046220" y="2834640"/>
            <a:ext cx="196596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50m角・高さ50m</a:t>
            </a:r>
            <a:endParaRPr lang="en-US" sz="1050" dirty="0"/>
          </a:p>
        </p:txBody>
      </p:sp>
      <p:sp>
        <p:nvSpPr>
          <p:cNvPr id="16" name="Text 14"/>
          <p:cNvSpPr txBox="1"/>
          <p:nvPr/>
        </p:nvSpPr>
        <p:spPr>
          <a:xfrm>
            <a:off x="4091940" y="2450592"/>
            <a:ext cx="1828800" cy="237744"/>
          </a:xfrm>
          <a:prstGeom prst="rect">
            <a:avLst/>
          </a:prstGeom>
          <a:noFill/>
          <a:ln/>
        </p:spPr>
        <p:txBody>
          <a:bodyPr wrap="square" lIns="0" tIns="0" rIns="0" bIns="0" rtlCol="0" anchor="t"/>
          <a:lstStyle/>
          <a:p>
            <a:pPr marL="0" indent="0">
              <a:buNone/>
            </a:pPr>
            <a:r>
              <a:rPr lang="en-US" sz="900" b="1" dirty="0">
                <a:solidFill>
                  <a:srgbClr val="E8934D"/>
                </a:solidFill>
                <a:latin typeface="Yu Gothic" pitchFamily="34" charset="0"/>
                <a:ea typeface="Yu Gothic" pitchFamily="34" charset="-122"/>
                <a:cs typeface="Yu Gothic" pitchFamily="34" charset="-120"/>
              </a:rPr>
              <a:t>← 南面（予測する壁）</a:t>
            </a:r>
            <a:endParaRPr lang="en-US" sz="900" dirty="0"/>
          </a:p>
        </p:txBody>
      </p:sp>
      <p:sp>
        <p:nvSpPr>
          <p:cNvPr id="17" name="Shape 15"/>
          <p:cNvSpPr/>
          <p:nvPr/>
        </p:nvSpPr>
        <p:spPr>
          <a:xfrm>
            <a:off x="3154680" y="2994660"/>
            <a:ext cx="0" cy="1440180"/>
          </a:xfrm>
          <a:prstGeom prst="line">
            <a:avLst/>
          </a:prstGeom>
          <a:noFill/>
          <a:ln w="15875">
            <a:solidFill>
              <a:srgbClr val="1B2A44"/>
            </a:solidFill>
            <a:prstDash val="solid"/>
            <a:headEnd type="triangle"/>
            <a:tailEnd type="triangle"/>
          </a:ln>
        </p:spPr>
        <p:txBody>
          <a:bodyPr/>
          <a:p/>
        </p:txBody>
      </p:sp>
      <p:sp>
        <p:nvSpPr>
          <p:cNvPr id="18" name="Text 16"/>
          <p:cNvSpPr txBox="1"/>
          <p:nvPr/>
        </p:nvSpPr>
        <p:spPr>
          <a:xfrm>
            <a:off x="3218688" y="3568446"/>
            <a:ext cx="365760" cy="292608"/>
          </a:xfrm>
          <a:prstGeom prst="rect">
            <a:avLst/>
          </a:prstGeom>
          <a:noFill/>
          <a:ln/>
        </p:spPr>
        <p:txBody>
          <a:bodyPr wrap="square" lIns="0" tIns="0" rIns="0" bIns="0" rtlCol="0" anchor="t"/>
          <a:lstStyle/>
          <a:p>
            <a:pPr marL="0" indent="0">
              <a:buNone/>
            </a:pPr>
            <a:r>
              <a:rPr lang="en-US" sz="1600" b="1" dirty="0">
                <a:solidFill>
                  <a:srgbClr val="1B2A44"/>
                </a:solidFill>
                <a:latin typeface="Yu Gothic" pitchFamily="34" charset="0"/>
                <a:ea typeface="Yu Gothic" pitchFamily="34" charset="-122"/>
                <a:cs typeface="Yu Gothic" pitchFamily="34" charset="-120"/>
              </a:rPr>
              <a:t>A</a:t>
            </a:r>
            <a:endParaRPr lang="en-US" sz="1600" dirty="0"/>
          </a:p>
        </p:txBody>
      </p:sp>
      <p:sp>
        <p:nvSpPr>
          <p:cNvPr id="19" name="Shape 17"/>
          <p:cNvSpPr/>
          <p:nvPr/>
        </p:nvSpPr>
        <p:spPr>
          <a:xfrm>
            <a:off x="2926080" y="4599432"/>
            <a:ext cx="1028700" cy="0"/>
          </a:xfrm>
          <a:prstGeom prst="line">
            <a:avLst/>
          </a:prstGeom>
          <a:noFill/>
          <a:ln w="15875">
            <a:solidFill>
              <a:srgbClr val="1B2A44"/>
            </a:solidFill>
            <a:prstDash val="solid"/>
            <a:headEnd type="triangle"/>
            <a:tailEnd type="triangle"/>
          </a:ln>
        </p:spPr>
        <p:txBody>
          <a:bodyPr/>
          <a:p/>
        </p:txBody>
      </p:sp>
      <p:sp>
        <p:nvSpPr>
          <p:cNvPr id="20" name="Text 18"/>
          <p:cNvSpPr txBox="1"/>
          <p:nvPr/>
        </p:nvSpPr>
        <p:spPr>
          <a:xfrm>
            <a:off x="2926080" y="4617720"/>
            <a:ext cx="1028700" cy="274320"/>
          </a:xfrm>
          <a:prstGeom prst="rect">
            <a:avLst/>
          </a:prstGeom>
          <a:noFill/>
          <a:ln/>
        </p:spPr>
        <p:txBody>
          <a:bodyPr wrap="square" lIns="0" tIns="0" rIns="0" bIns="0" rtlCol="0" anchor="t"/>
          <a:lstStyle/>
          <a:p>
            <a:pPr marL="0" indent="0" algn="ctr">
              <a:buNone/>
            </a:pPr>
            <a:r>
              <a:rPr lang="en-US" sz="1600" b="1" dirty="0">
                <a:solidFill>
                  <a:srgbClr val="1B2A44"/>
                </a:solidFill>
                <a:latin typeface="Yu Gothic" pitchFamily="34" charset="0"/>
                <a:ea typeface="Yu Gothic" pitchFamily="34" charset="-122"/>
                <a:cs typeface="Yu Gothic" pitchFamily="34" charset="-120"/>
              </a:rPr>
              <a:t>D</a:t>
            </a:r>
            <a:endParaRPr lang="en-US" sz="1600" dirty="0"/>
          </a:p>
        </p:txBody>
      </p:sp>
      <p:sp>
        <p:nvSpPr>
          <p:cNvPr id="21" name="Shape 19"/>
          <p:cNvSpPr/>
          <p:nvPr/>
        </p:nvSpPr>
        <p:spPr>
          <a:xfrm>
            <a:off x="1120140" y="1441094"/>
            <a:ext cx="45720" cy="100584"/>
          </a:xfrm>
          <a:prstGeom prst="rect">
            <a:avLst/>
          </a:prstGeom>
          <a:solidFill>
            <a:srgbClr val="E8934D"/>
          </a:solidFill>
          <a:ln/>
        </p:spPr>
        <p:txBody>
          <a:bodyPr/>
          <a:p/>
        </p:txBody>
      </p:sp>
      <p:sp>
        <p:nvSpPr>
          <p:cNvPr id="22" name="Shape 20"/>
          <p:cNvSpPr/>
          <p:nvPr/>
        </p:nvSpPr>
        <p:spPr>
          <a:xfrm rot="2700000">
            <a:off x="1326399" y="1526529"/>
            <a:ext cx="45720" cy="100584"/>
          </a:xfrm>
          <a:prstGeom prst="rect">
            <a:avLst/>
          </a:prstGeom>
          <a:solidFill>
            <a:srgbClr val="E8934D"/>
          </a:solidFill>
          <a:ln/>
        </p:spPr>
        <p:txBody>
          <a:bodyPr/>
          <a:p/>
        </p:txBody>
      </p:sp>
      <p:sp>
        <p:nvSpPr>
          <p:cNvPr id="23" name="Shape 21"/>
          <p:cNvSpPr/>
          <p:nvPr/>
        </p:nvSpPr>
        <p:spPr>
          <a:xfrm rot="5400000">
            <a:off x="1411834" y="1732788"/>
            <a:ext cx="45720" cy="100584"/>
          </a:xfrm>
          <a:prstGeom prst="rect">
            <a:avLst/>
          </a:prstGeom>
          <a:solidFill>
            <a:srgbClr val="E8934D"/>
          </a:solidFill>
          <a:ln/>
        </p:spPr>
        <p:txBody>
          <a:bodyPr/>
          <a:p/>
        </p:txBody>
      </p:sp>
      <p:sp>
        <p:nvSpPr>
          <p:cNvPr id="24" name="Shape 22"/>
          <p:cNvSpPr/>
          <p:nvPr/>
        </p:nvSpPr>
        <p:spPr>
          <a:xfrm rot="8100000">
            <a:off x="1326399" y="1939047"/>
            <a:ext cx="45720" cy="100584"/>
          </a:xfrm>
          <a:prstGeom prst="rect">
            <a:avLst/>
          </a:prstGeom>
          <a:solidFill>
            <a:srgbClr val="E8934D"/>
          </a:solidFill>
          <a:ln/>
        </p:spPr>
        <p:txBody>
          <a:bodyPr/>
          <a:p/>
        </p:txBody>
      </p:sp>
      <p:sp>
        <p:nvSpPr>
          <p:cNvPr id="25" name="Shape 23"/>
          <p:cNvSpPr/>
          <p:nvPr/>
        </p:nvSpPr>
        <p:spPr>
          <a:xfrm rot="10800000">
            <a:off x="1120140" y="2024482"/>
            <a:ext cx="45720" cy="100584"/>
          </a:xfrm>
          <a:prstGeom prst="rect">
            <a:avLst/>
          </a:prstGeom>
          <a:solidFill>
            <a:srgbClr val="E8934D"/>
          </a:solidFill>
          <a:ln/>
        </p:spPr>
        <p:txBody>
          <a:bodyPr/>
          <a:p/>
        </p:txBody>
      </p:sp>
      <p:sp>
        <p:nvSpPr>
          <p:cNvPr id="26" name="Shape 24"/>
          <p:cNvSpPr/>
          <p:nvPr/>
        </p:nvSpPr>
        <p:spPr>
          <a:xfrm rot="13500000">
            <a:off x="913881" y="1939047"/>
            <a:ext cx="45720" cy="100584"/>
          </a:xfrm>
          <a:prstGeom prst="rect">
            <a:avLst/>
          </a:prstGeom>
          <a:solidFill>
            <a:srgbClr val="E8934D"/>
          </a:solidFill>
          <a:ln/>
        </p:spPr>
        <p:txBody>
          <a:bodyPr/>
          <a:p/>
        </p:txBody>
      </p:sp>
      <p:sp>
        <p:nvSpPr>
          <p:cNvPr id="27" name="Shape 25"/>
          <p:cNvSpPr/>
          <p:nvPr/>
        </p:nvSpPr>
        <p:spPr>
          <a:xfrm rot="16200000">
            <a:off x="828446" y="1732788"/>
            <a:ext cx="45720" cy="100584"/>
          </a:xfrm>
          <a:prstGeom prst="rect">
            <a:avLst/>
          </a:prstGeom>
          <a:solidFill>
            <a:srgbClr val="E8934D"/>
          </a:solidFill>
          <a:ln/>
        </p:spPr>
        <p:txBody>
          <a:bodyPr/>
          <a:p/>
        </p:txBody>
      </p:sp>
      <p:sp>
        <p:nvSpPr>
          <p:cNvPr id="28" name="Shape 26"/>
          <p:cNvSpPr/>
          <p:nvPr/>
        </p:nvSpPr>
        <p:spPr>
          <a:xfrm rot="18900000">
            <a:off x="913881" y="1526529"/>
            <a:ext cx="45720" cy="100584"/>
          </a:xfrm>
          <a:prstGeom prst="rect">
            <a:avLst/>
          </a:prstGeom>
          <a:solidFill>
            <a:srgbClr val="E8934D"/>
          </a:solidFill>
          <a:ln/>
        </p:spPr>
        <p:txBody>
          <a:bodyPr/>
          <a:p/>
        </p:txBody>
      </p:sp>
      <p:sp>
        <p:nvSpPr>
          <p:cNvPr id="29" name="Shape 27"/>
          <p:cNvSpPr/>
          <p:nvPr/>
        </p:nvSpPr>
        <p:spPr>
          <a:xfrm>
            <a:off x="941832" y="1581912"/>
            <a:ext cx="402336" cy="402336"/>
          </a:xfrm>
          <a:prstGeom prst="ellipse">
            <a:avLst/>
          </a:prstGeom>
          <a:solidFill>
            <a:srgbClr val="E8934D"/>
          </a:solidFill>
          <a:ln/>
        </p:spPr>
        <p:txBody>
          <a:bodyPr/>
          <a:p/>
        </p:txBody>
      </p:sp>
      <p:sp>
        <p:nvSpPr>
          <p:cNvPr id="30" name="Text 28"/>
          <p:cNvSpPr txBox="1"/>
          <p:nvPr/>
        </p:nvSpPr>
        <p:spPr>
          <a:xfrm>
            <a:off x="566928"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1" name="Text 29"/>
          <p:cNvSpPr txBox="1"/>
          <p:nvPr/>
        </p:nvSpPr>
        <p:spPr>
          <a:xfrm>
            <a:off x="5897880"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32" name="Text 30"/>
          <p:cNvSpPr txBox="1"/>
          <p:nvPr/>
        </p:nvSpPr>
        <p:spPr>
          <a:xfrm>
            <a:off x="4480560" y="1261872"/>
            <a:ext cx="1737360" cy="237744"/>
          </a:xfrm>
          <a:prstGeom prst="rect">
            <a:avLst/>
          </a:prstGeom>
          <a:noFill/>
          <a:ln/>
        </p:spPr>
        <p:txBody>
          <a:bodyPr wrap="square" rtlCol="0" anchor="t"/>
          <a:lstStyle/>
          <a:p>
            <a:pPr marL="0" indent="0" algn="r">
              <a:buNone/>
            </a:pPr>
            <a:r>
              <a:rPr lang="en-US" sz="900" dirty="0">
                <a:solidFill>
                  <a:srgbClr val="6B7480"/>
                </a:solidFill>
                <a:latin typeface="Yu Gothic" pitchFamily="34" charset="0"/>
                <a:ea typeface="Yu Gothic" pitchFamily="34" charset="-122"/>
                <a:cs typeface="Yu Gothic" pitchFamily="34" charset="-120"/>
              </a:rPr>
              <a:t>横から見た図</a:t>
            </a:r>
            <a:endParaRPr lang="en-US" sz="900" dirty="0"/>
          </a:p>
        </p:txBody>
      </p:sp>
      <p:sp>
        <p:nvSpPr>
          <p:cNvPr id="33" name="Text 31"/>
          <p:cNvSpPr txBox="1"/>
          <p:nvPr/>
        </p:nvSpPr>
        <p:spPr>
          <a:xfrm>
            <a:off x="6537960" y="118872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固定した条件</a:t>
            </a:r>
            <a:endParaRPr lang="en-US" sz="1300" dirty="0"/>
          </a:p>
        </p:txBody>
      </p:sp>
      <p:sp>
        <p:nvSpPr>
          <p:cNvPr id="34" name="Shape 32"/>
          <p:cNvSpPr/>
          <p:nvPr/>
        </p:nvSpPr>
        <p:spPr>
          <a:xfrm>
            <a:off x="6537960" y="1554480"/>
            <a:ext cx="5193792" cy="566928"/>
          </a:xfrm>
          <a:prstGeom prst="roundRect">
            <a:avLst>
              <a:gd name="adj" fmla="val 9677"/>
            </a:avLst>
          </a:prstGeom>
          <a:solidFill>
            <a:srgbClr val="F3F5F8"/>
          </a:solidFill>
          <a:ln w="12700">
            <a:solidFill>
              <a:srgbClr val="DBE0E6"/>
            </a:solidFill>
            <a:prstDash val="solid"/>
          </a:ln>
        </p:spPr>
        <p:txBody>
          <a:bodyPr/>
          <a:p/>
        </p:txBody>
      </p:sp>
      <p:sp>
        <p:nvSpPr>
          <p:cNvPr id="35" name="Text 33"/>
          <p:cNvSpPr txBox="1"/>
          <p:nvPr/>
        </p:nvSpPr>
        <p:spPr>
          <a:xfrm>
            <a:off x="6675120" y="1554480"/>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中央建物</a:t>
            </a:r>
            <a:endParaRPr lang="en-US" sz="1100" dirty="0"/>
          </a:p>
        </p:txBody>
      </p:sp>
      <p:sp>
        <p:nvSpPr>
          <p:cNvPr id="36" name="Text 34"/>
          <p:cNvSpPr txBox="1"/>
          <p:nvPr/>
        </p:nvSpPr>
        <p:spPr>
          <a:xfrm>
            <a:off x="7772400" y="1554480"/>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50m角・高さ50mで固定</a:t>
            </a:r>
            <a:endParaRPr lang="en-US" sz="1050" dirty="0"/>
          </a:p>
        </p:txBody>
      </p:sp>
      <p:sp>
        <p:nvSpPr>
          <p:cNvPr id="37" name="Shape 35"/>
          <p:cNvSpPr/>
          <p:nvPr/>
        </p:nvSpPr>
        <p:spPr>
          <a:xfrm>
            <a:off x="6537960" y="2212848"/>
            <a:ext cx="5193792" cy="566928"/>
          </a:xfrm>
          <a:prstGeom prst="roundRect">
            <a:avLst>
              <a:gd name="adj" fmla="val 9677"/>
            </a:avLst>
          </a:prstGeom>
          <a:solidFill>
            <a:srgbClr val="F3F5F8"/>
          </a:solidFill>
          <a:ln w="12700">
            <a:solidFill>
              <a:srgbClr val="DBE0E6"/>
            </a:solidFill>
            <a:prstDash val="solid"/>
          </a:ln>
        </p:spPr>
        <p:txBody>
          <a:bodyPr/>
          <a:p/>
        </p:txBody>
      </p:sp>
      <p:sp>
        <p:nvSpPr>
          <p:cNvPr id="38" name="Text 36"/>
          <p:cNvSpPr txBox="1"/>
          <p:nvPr/>
        </p:nvSpPr>
        <p:spPr>
          <a:xfrm>
            <a:off x="6675120" y="2212848"/>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周囲建物</a:t>
            </a:r>
            <a:endParaRPr lang="en-US" sz="1100" dirty="0"/>
          </a:p>
        </p:txBody>
      </p:sp>
      <p:sp>
        <p:nvSpPr>
          <p:cNvPr id="39" name="Text 37"/>
          <p:cNvSpPr txBox="1"/>
          <p:nvPr/>
        </p:nvSpPr>
        <p:spPr>
          <a:xfrm>
            <a:off x="7772400" y="2212848"/>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真南に1棟だけ置く</a:t>
            </a:r>
            <a:endParaRPr lang="en-US" sz="1050" dirty="0"/>
          </a:p>
        </p:txBody>
      </p:sp>
      <p:sp>
        <p:nvSpPr>
          <p:cNvPr id="40" name="Shape 38"/>
          <p:cNvSpPr/>
          <p:nvPr/>
        </p:nvSpPr>
        <p:spPr>
          <a:xfrm>
            <a:off x="6537960" y="2871216"/>
            <a:ext cx="5193792" cy="566928"/>
          </a:xfrm>
          <a:prstGeom prst="roundRect">
            <a:avLst>
              <a:gd name="adj" fmla="val 9677"/>
            </a:avLst>
          </a:prstGeom>
          <a:solidFill>
            <a:srgbClr val="F3F5F8"/>
          </a:solidFill>
          <a:ln w="12700">
            <a:solidFill>
              <a:srgbClr val="DBE0E6"/>
            </a:solidFill>
            <a:prstDash val="solid"/>
          </a:ln>
        </p:spPr>
        <p:txBody>
          <a:bodyPr/>
          <a:p/>
        </p:txBody>
      </p:sp>
      <p:sp>
        <p:nvSpPr>
          <p:cNvPr id="41" name="Text 39"/>
          <p:cNvSpPr txBox="1"/>
          <p:nvPr/>
        </p:nvSpPr>
        <p:spPr>
          <a:xfrm>
            <a:off x="6675120" y="2871216"/>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気象</a:t>
            </a:r>
            <a:endParaRPr lang="en-US" sz="1100" dirty="0"/>
          </a:p>
        </p:txBody>
      </p:sp>
      <p:sp>
        <p:nvSpPr>
          <p:cNvPr id="42" name="Text 40"/>
          <p:cNvSpPr txBox="1"/>
          <p:nvPr/>
        </p:nvSpPr>
        <p:spPr>
          <a:xfrm>
            <a:off x="7772400" y="2871216"/>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全パターン共通。東京地区の標準年データ（1時間ごと×8,760時間）</a:t>
            </a:r>
            <a:endParaRPr lang="en-US" sz="1050" dirty="0"/>
          </a:p>
        </p:txBody>
      </p:sp>
      <p:sp>
        <p:nvSpPr>
          <p:cNvPr id="43" name="Text 41"/>
          <p:cNvSpPr txBox="1"/>
          <p:nvPr/>
        </p:nvSpPr>
        <p:spPr>
          <a:xfrm>
            <a:off x="6537960" y="361188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変える条件</a:t>
            </a:r>
            <a:endParaRPr lang="en-US" sz="1300" dirty="0"/>
          </a:p>
        </p:txBody>
      </p:sp>
      <p:sp>
        <p:nvSpPr>
          <p:cNvPr id="44" name="Shape 42"/>
          <p:cNvSpPr/>
          <p:nvPr/>
        </p:nvSpPr>
        <p:spPr>
          <a:xfrm>
            <a:off x="653796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5" name="Text 43"/>
          <p:cNvSpPr txBox="1"/>
          <p:nvPr/>
        </p:nvSpPr>
        <p:spPr>
          <a:xfrm>
            <a:off x="664768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A</a:t>
            </a:r>
            <a:endParaRPr lang="en-US" sz="3000" dirty="0"/>
          </a:p>
        </p:txBody>
      </p:sp>
      <p:sp>
        <p:nvSpPr>
          <p:cNvPr id="46" name="Text 44"/>
          <p:cNvSpPr txBox="1"/>
          <p:nvPr/>
        </p:nvSpPr>
        <p:spPr>
          <a:xfrm>
            <a:off x="726948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47" name="Text 45"/>
          <p:cNvSpPr txBox="1"/>
          <p:nvPr/>
        </p:nvSpPr>
        <p:spPr>
          <a:xfrm>
            <a:off x="726948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48" name="Shape 46"/>
          <p:cNvSpPr/>
          <p:nvPr/>
        </p:nvSpPr>
        <p:spPr>
          <a:xfrm>
            <a:off x="918972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9" name="Text 47"/>
          <p:cNvSpPr txBox="1"/>
          <p:nvPr/>
        </p:nvSpPr>
        <p:spPr>
          <a:xfrm>
            <a:off x="929944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D</a:t>
            </a:r>
            <a:endParaRPr lang="en-US" sz="3000" dirty="0"/>
          </a:p>
        </p:txBody>
      </p:sp>
      <p:sp>
        <p:nvSpPr>
          <p:cNvPr id="50" name="Text 48"/>
          <p:cNvSpPr txBox="1"/>
          <p:nvPr/>
        </p:nvSpPr>
        <p:spPr>
          <a:xfrm>
            <a:off x="992124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建物間の隙間（壁と壁）</a:t>
            </a:r>
            <a:endParaRPr lang="en-US" sz="1050" dirty="0"/>
          </a:p>
        </p:txBody>
      </p:sp>
      <p:sp>
        <p:nvSpPr>
          <p:cNvPr id="51" name="Text 49"/>
          <p:cNvSpPr txBox="1"/>
          <p:nvPr/>
        </p:nvSpPr>
        <p:spPr>
          <a:xfrm>
            <a:off x="992124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52" name="Shape 50"/>
          <p:cNvSpPr/>
          <p:nvPr/>
        </p:nvSpPr>
        <p:spPr>
          <a:xfrm>
            <a:off x="457200" y="5120640"/>
            <a:ext cx="11274552" cy="1188720"/>
          </a:xfrm>
          <a:prstGeom prst="roundRect">
            <a:avLst>
              <a:gd name="adj" fmla="val 4615"/>
            </a:avLst>
          </a:prstGeom>
          <a:solidFill>
            <a:srgbClr val="1B2A44"/>
          </a:solidFill>
          <a:ln/>
        </p:spPr>
        <p:txBody>
          <a:bodyPr/>
          <a:p/>
        </p:txBody>
      </p:sp>
      <p:sp>
        <p:nvSpPr>
          <p:cNvPr id="53" name="Text 51"/>
          <p:cNvSpPr txBox="1"/>
          <p:nvPr/>
        </p:nvSpPr>
        <p:spPr>
          <a:xfrm>
            <a:off x="77724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入力データ  INPUT</a:t>
            </a:r>
            <a:endParaRPr lang="en-US" sz="1050" dirty="0"/>
          </a:p>
        </p:txBody>
      </p:sp>
      <p:sp>
        <p:nvSpPr>
          <p:cNvPr id="54" name="Text 52"/>
          <p:cNvSpPr txBox="1"/>
          <p:nvPr/>
        </p:nvSpPr>
        <p:spPr>
          <a:xfrm>
            <a:off x="777240" y="5513832"/>
            <a:ext cx="4754880" cy="548640"/>
          </a:xfrm>
          <a:prstGeom prst="rect">
            <a:avLst/>
          </a:prstGeom>
          <a:noFill/>
          <a:ln/>
        </p:spPr>
        <p:txBody>
          <a:bodyPr wrap="square" rtlCol="0" anchor="ctr"/>
          <a:lstStyle/>
          <a:p>
            <a:pPr marL="0" indent="0">
              <a:buNone/>
            </a:pPr>
            <a:r>
              <a:rPr lang="en-US" sz="1500" b="1" dirty="0">
                <a:solidFill>
                  <a:srgbClr val="FFFFFF"/>
                </a:solidFill>
                <a:latin typeface="Yu Gothic" pitchFamily="34" charset="0"/>
                <a:ea typeface="Yu Gothic" pitchFamily="34" charset="-122"/>
                <a:cs typeface="Yu Gothic" pitchFamily="34" charset="-120"/>
              </a:rPr>
              <a:t>A（南側建物の高さ）・D（建物間の隙間）</a:t>
            </a:r>
            <a:endParaRPr lang="en-US" sz="1500" dirty="0"/>
          </a:p>
        </p:txBody>
      </p:sp>
      <p:sp>
        <p:nvSpPr>
          <p:cNvPr id="55" name="Shape 53"/>
          <p:cNvSpPr/>
          <p:nvPr/>
        </p:nvSpPr>
        <p:spPr>
          <a:xfrm>
            <a:off x="5577840" y="5577840"/>
            <a:ext cx="548640" cy="411480"/>
          </a:xfrm>
          <a:prstGeom prst="rightArrow">
            <a:avLst/>
          </a:prstGeom>
          <a:solidFill>
            <a:srgbClr val="E8934D"/>
          </a:solidFill>
          <a:ln/>
        </p:spPr>
        <p:txBody>
          <a:bodyPr/>
          <a:p/>
        </p:txBody>
      </p:sp>
      <p:sp>
        <p:nvSpPr>
          <p:cNvPr id="56" name="Text 54"/>
          <p:cNvSpPr txBox="1"/>
          <p:nvPr/>
        </p:nvSpPr>
        <p:spPr>
          <a:xfrm>
            <a:off x="635508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出力データ  OUTPUT</a:t>
            </a:r>
            <a:endParaRPr lang="en-US" sz="1050" dirty="0"/>
          </a:p>
        </p:txBody>
      </p:sp>
      <p:sp>
        <p:nvSpPr>
          <p:cNvPr id="57" name="Text 55"/>
          <p:cNvSpPr txBox="1"/>
          <p:nvPr/>
        </p:nvSpPr>
        <p:spPr>
          <a:xfrm>
            <a:off x="6355080" y="5486400"/>
            <a:ext cx="5303520" cy="685800"/>
          </a:xfrm>
          <a:prstGeom prst="rect">
            <a:avLst/>
          </a:prstGeom>
          <a:noFill/>
          <a:ln/>
        </p:spPr>
        <p:txBody>
          <a:bodyPr wrap="square" rtlCol="0" anchor="ctr"/>
          <a:lstStyle/>
          <a:p>
            <a:pPr marL="0" indent="0">
              <a:buNone/>
            </a:pPr>
            <a:r>
              <a:rPr lang="en-US" sz="1250" b="1" dirty="0">
                <a:solidFill>
                  <a:srgbClr val="FFFFFF"/>
                </a:solidFill>
                <a:latin typeface="Yu Gothic" pitchFamily="34" charset="0"/>
                <a:ea typeface="Yu Gothic" pitchFamily="34" charset="-122"/>
                <a:cs typeface="Yu Gothic" pitchFamily="34" charset="-120"/>
              </a:rPr>
              <a:t>中央建物・南面の年間日射量（kWh/m²）</a:t>
            </a:r>
            <a:endParaRPr lang="en-US" sz="1250" dirty="0"/>
          </a:p>
          <a:p>
            <a:pPr marL="0" indent="0">
              <a:buNone/>
            </a:pPr>
            <a:r>
              <a:rPr lang="en-US" sz="1250" b="1" dirty="0">
                <a:solidFill>
                  <a:srgbClr val="FFFFFF"/>
                </a:solidFill>
                <a:latin typeface="Yu Gothic" pitchFamily="34" charset="0"/>
                <a:ea typeface="Yu Gothic" pitchFamily="34" charset="-122"/>
                <a:cs typeface="Yu Gothic" pitchFamily="34" charset="-120"/>
              </a:rPr>
              <a:t>南面全体の平均、および高さ10mごとの5つの帯の値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出力データの作り方：SEBEの2,500個を5つの高さ帯にまとめる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05 / 45</a:t>
            </a:r>
            <a:endParaRPr lang="en-US" sz="1100" dirty="0"/>
          </a:p>
        </p:txBody>
      </p:sp>
      <p:sp>
        <p:nvSpPr>
          <p:cNvPr id="9" name="Shape 7"/>
          <p:cNvSpPr/>
          <p:nvPr/>
        </p:nvSpPr>
        <p:spPr>
          <a:xfrm>
            <a:off x="457200" y="1188720"/>
            <a:ext cx="310896" cy="310896"/>
          </a:xfrm>
          <a:prstGeom prst="ellipse">
            <a:avLst/>
          </a:prstGeom>
          <a:solidFill>
            <a:srgbClr val="1F6F78"/>
          </a:solidFill>
          <a:ln/>
        </p:spPr>
        <p:txBody>
          <a:bodyPr/>
          <a:p/>
        </p:txBody>
      </p:sp>
      <p:sp>
        <p:nvSpPr>
          <p:cNvPr id="10" name="Text 8"/>
          <p:cNvSpPr txBox="1"/>
          <p:nvPr/>
        </p:nvSpPr>
        <p:spPr>
          <a:xfrm>
            <a:off x="45720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1" name="Text 9"/>
          <p:cNvSpPr txBox="1"/>
          <p:nvPr/>
        </p:nvSpPr>
        <p:spPr>
          <a:xfrm>
            <a:off x="841248" y="1188720"/>
            <a:ext cx="18105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入力データ</a:t>
            </a:r>
            <a:endParaRPr lang="en-US" sz="1200" dirty="0"/>
          </a:p>
        </p:txBody>
      </p:sp>
      <p:sp>
        <p:nvSpPr>
          <p:cNvPr id="12" name="Shape 10"/>
          <p:cNvSpPr/>
          <p:nvPr/>
        </p:nvSpPr>
        <p:spPr>
          <a:xfrm>
            <a:off x="457200" y="164592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3" name="Text 11"/>
          <p:cNvSpPr txBox="1"/>
          <p:nvPr/>
        </p:nvSpPr>
        <p:spPr>
          <a:xfrm>
            <a:off x="548640" y="175564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A</a:t>
            </a:r>
            <a:endParaRPr lang="en-US" sz="3200" dirty="0"/>
          </a:p>
        </p:txBody>
      </p:sp>
      <p:sp>
        <p:nvSpPr>
          <p:cNvPr id="14" name="Text 12"/>
          <p:cNvSpPr txBox="1"/>
          <p:nvPr/>
        </p:nvSpPr>
        <p:spPr>
          <a:xfrm>
            <a:off x="1188720" y="182880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15" name="Text 13"/>
          <p:cNvSpPr txBox="1"/>
          <p:nvPr/>
        </p:nvSpPr>
        <p:spPr>
          <a:xfrm>
            <a:off x="1188720" y="212140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16" name="Shape 14"/>
          <p:cNvSpPr/>
          <p:nvPr/>
        </p:nvSpPr>
        <p:spPr>
          <a:xfrm>
            <a:off x="457200" y="292608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7" name="Text 15"/>
          <p:cNvSpPr txBox="1"/>
          <p:nvPr/>
        </p:nvSpPr>
        <p:spPr>
          <a:xfrm>
            <a:off x="548640" y="303580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D</a:t>
            </a:r>
            <a:endParaRPr lang="en-US" sz="3200" dirty="0"/>
          </a:p>
        </p:txBody>
      </p:sp>
      <p:sp>
        <p:nvSpPr>
          <p:cNvPr id="18" name="Text 16"/>
          <p:cNvSpPr txBox="1"/>
          <p:nvPr/>
        </p:nvSpPr>
        <p:spPr>
          <a:xfrm>
            <a:off x="1188720" y="310896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壁と壁の隙間</a:t>
            </a:r>
            <a:endParaRPr lang="en-US" sz="1050" dirty="0"/>
          </a:p>
        </p:txBody>
      </p:sp>
      <p:sp>
        <p:nvSpPr>
          <p:cNvPr id="19" name="Text 17"/>
          <p:cNvSpPr txBox="1"/>
          <p:nvPr/>
        </p:nvSpPr>
        <p:spPr>
          <a:xfrm>
            <a:off x="1188720" y="340156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20" name="Shape 18"/>
          <p:cNvSpPr/>
          <p:nvPr/>
        </p:nvSpPr>
        <p:spPr>
          <a:xfrm>
            <a:off x="2587752" y="2651760"/>
            <a:ext cx="384048" cy="365760"/>
          </a:xfrm>
          <a:prstGeom prst="rightArrow">
            <a:avLst/>
          </a:prstGeom>
          <a:solidFill>
            <a:srgbClr val="E8934D"/>
          </a:solidFill>
          <a:ln/>
        </p:spPr>
        <p:txBody>
          <a:bodyPr/>
          <a:p/>
        </p:txBody>
      </p:sp>
      <p:sp>
        <p:nvSpPr>
          <p:cNvPr id="21" name="Shape 19"/>
          <p:cNvSpPr/>
          <p:nvPr/>
        </p:nvSpPr>
        <p:spPr>
          <a:xfrm>
            <a:off x="3063240" y="1188720"/>
            <a:ext cx="310896" cy="310896"/>
          </a:xfrm>
          <a:prstGeom prst="ellipse">
            <a:avLst/>
          </a:prstGeom>
          <a:solidFill>
            <a:srgbClr val="1F6F78"/>
          </a:solidFill>
          <a:ln/>
        </p:spPr>
        <p:txBody>
          <a:bodyPr/>
          <a:p/>
        </p:txBody>
      </p:sp>
      <p:sp>
        <p:nvSpPr>
          <p:cNvPr id="22" name="Text 20"/>
          <p:cNvSpPr txBox="1"/>
          <p:nvPr/>
        </p:nvSpPr>
        <p:spPr>
          <a:xfrm>
            <a:off x="30632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23" name="Text 21"/>
          <p:cNvSpPr txBox="1"/>
          <p:nvPr/>
        </p:nvSpPr>
        <p:spPr>
          <a:xfrm>
            <a:off x="3447288" y="1188720"/>
            <a:ext cx="16276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SEBEで計算</a:t>
            </a:r>
            <a:endParaRPr lang="en-US" sz="1200" dirty="0"/>
          </a:p>
        </p:txBody>
      </p:sp>
      <p:sp>
        <p:nvSpPr>
          <p:cNvPr id="24" name="Shape 22"/>
          <p:cNvSpPr/>
          <p:nvPr/>
        </p:nvSpPr>
        <p:spPr>
          <a:xfrm>
            <a:off x="3063240" y="1645920"/>
            <a:ext cx="1920240" cy="2423160"/>
          </a:xfrm>
          <a:prstGeom prst="roundRect">
            <a:avLst>
              <a:gd name="adj" fmla="val 2857"/>
            </a:avLst>
          </a:prstGeom>
          <a:solidFill>
            <a:srgbClr val="1B2A44"/>
          </a:solidFill>
          <a:ln/>
        </p:spPr>
        <p:txBody>
          <a:bodyPr/>
          <a:p/>
        </p:txBody>
      </p:sp>
      <p:sp>
        <p:nvSpPr>
          <p:cNvPr id="25" name="Text 23"/>
          <p:cNvSpPr txBox="1"/>
          <p:nvPr/>
        </p:nvSpPr>
        <p:spPr>
          <a:xfrm>
            <a:off x="3063240" y="1783080"/>
            <a:ext cx="192024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Yu Gothic" pitchFamily="34" charset="0"/>
                <a:ea typeface="Yu Gothic" pitchFamily="34" charset="-122"/>
                <a:cs typeface="Yu Gothic" pitchFamily="34" charset="-120"/>
              </a:rPr>
              <a:t>SEBE</a:t>
            </a:r>
            <a:endParaRPr lang="en-US" sz="2000" dirty="0"/>
          </a:p>
        </p:txBody>
      </p:sp>
      <p:sp>
        <p:nvSpPr>
          <p:cNvPr id="26" name="Text 24"/>
          <p:cNvSpPr txBox="1"/>
          <p:nvPr/>
        </p:nvSpPr>
        <p:spPr>
          <a:xfrm>
            <a:off x="3154680" y="2286000"/>
            <a:ext cx="1737360" cy="1188720"/>
          </a:xfrm>
          <a:prstGeom prst="rect">
            <a:avLst/>
          </a:prstGeom>
          <a:noFill/>
          <a:ln/>
        </p:spPr>
        <p:txBody>
          <a:bodyPr wrap="square" rtlCol="0" anchor="t"/>
          <a:lstStyle/>
          <a:p>
            <a:pPr marL="0" indent="0" algn="ctr">
              <a:buNone/>
            </a:pPr>
            <a:r>
              <a:rPr lang="en-US" sz="1000" dirty="0">
                <a:solidFill>
                  <a:srgbClr val="CFE0EE"/>
                </a:solidFill>
                <a:latin typeface="Yu Gothic" pitchFamily="34" charset="0"/>
                <a:ea typeface="Yu Gothic" pitchFamily="34" charset="-122"/>
                <a:cs typeface="Yu Gothic" pitchFamily="34" charset="-120"/>
              </a:rPr>
              <a:t>建物の形（1mのマス目）と1年分の気象から、壁の1m区画ごとに年間日射量を計算</a:t>
            </a:r>
            <a:endParaRPr lang="en-US" sz="1000" dirty="0"/>
          </a:p>
        </p:txBody>
      </p:sp>
      <p:sp>
        <p:nvSpPr>
          <p:cNvPr id="27" name="Text 25"/>
          <p:cNvSpPr txBox="1"/>
          <p:nvPr/>
        </p:nvSpPr>
        <p:spPr>
          <a:xfrm>
            <a:off x="3154680" y="3566160"/>
            <a:ext cx="1737360" cy="320040"/>
          </a:xfrm>
          <a:prstGeom prst="rect">
            <a:avLst/>
          </a:prstGeom>
          <a:noFill/>
          <a:ln/>
        </p:spPr>
        <p:txBody>
          <a:bodyPr wrap="square" rtlCol="0" anchor="t"/>
          <a:lstStyle/>
          <a:p>
            <a:pPr marL="0" indent="0" algn="ctr">
              <a:buNone/>
            </a:pPr>
            <a:r>
              <a:rPr lang="en-US" sz="1050" b="1" dirty="0">
                <a:solidFill>
                  <a:srgbClr val="E8934D"/>
                </a:solidFill>
                <a:latin typeface="Yu Gothic" pitchFamily="34" charset="0"/>
                <a:ea typeface="Yu Gothic" pitchFamily="34" charset="-122"/>
                <a:cs typeface="Yu Gothic" pitchFamily="34" charset="-120"/>
              </a:rPr>
              <a:t>1配置につき1回</a:t>
            </a:r>
            <a:endParaRPr lang="en-US" sz="1050" dirty="0"/>
          </a:p>
        </p:txBody>
      </p:sp>
      <p:sp>
        <p:nvSpPr>
          <p:cNvPr id="28" name="Shape 26"/>
          <p:cNvSpPr/>
          <p:nvPr/>
        </p:nvSpPr>
        <p:spPr>
          <a:xfrm>
            <a:off x="5074920" y="2651760"/>
            <a:ext cx="384048" cy="365760"/>
          </a:xfrm>
          <a:prstGeom prst="rightArrow">
            <a:avLst/>
          </a:prstGeom>
          <a:solidFill>
            <a:srgbClr val="E8934D"/>
          </a:solidFill>
          <a:ln/>
        </p:spPr>
        <p:txBody>
          <a:bodyPr/>
          <a:p/>
        </p:txBody>
      </p:sp>
      <p:sp>
        <p:nvSpPr>
          <p:cNvPr id="29" name="Shape 27"/>
          <p:cNvSpPr/>
          <p:nvPr/>
        </p:nvSpPr>
        <p:spPr>
          <a:xfrm>
            <a:off x="5577840" y="1188720"/>
            <a:ext cx="310896" cy="310896"/>
          </a:xfrm>
          <a:prstGeom prst="ellipse">
            <a:avLst/>
          </a:prstGeom>
          <a:solidFill>
            <a:srgbClr val="1F6F78"/>
          </a:solidFill>
          <a:ln/>
        </p:spPr>
        <p:txBody>
          <a:bodyPr/>
          <a:p/>
        </p:txBody>
      </p:sp>
      <p:sp>
        <p:nvSpPr>
          <p:cNvPr id="30" name="Text 28"/>
          <p:cNvSpPr txBox="1"/>
          <p:nvPr/>
        </p:nvSpPr>
        <p:spPr>
          <a:xfrm>
            <a:off x="55778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31" name="Text 29"/>
          <p:cNvSpPr txBox="1"/>
          <p:nvPr/>
        </p:nvSpPr>
        <p:spPr>
          <a:xfrm>
            <a:off x="5961888" y="1188720"/>
            <a:ext cx="25420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SEBEの出力（南面）</a:t>
            </a:r>
            <a:endParaRPr lang="en-US" sz="1200" dirty="0"/>
          </a:p>
        </p:txBody>
      </p:sp>
      <p:pic>
        <p:nvPicPr>
          <p:cNvPr id="32" name="Image 0" descr="/home/claude/interp/wall.png"/>
          <p:cNvPicPr>
            <a:picLocks noChangeAspect="1"/>
          </p:cNvPicPr>
          <p:nvPr/>
        </p:nvPicPr>
        <p:blipFill>
          <a:blip r:embed="rId3"/>
          <a:stretch>
            <a:fillRect/>
          </a:stretch>
        </p:blipFill>
        <p:spPr>
          <a:xfrm>
            <a:off x="5989320" y="1645920"/>
            <a:ext cx="2423160" cy="2423160"/>
          </a:xfrm>
          <a:prstGeom prst="rect">
            <a:avLst/>
          </a:prstGeom>
        </p:spPr>
      </p:pic>
      <p:sp>
        <p:nvSpPr>
          <p:cNvPr id="33" name="Text 30"/>
          <p:cNvSpPr txBox="1"/>
          <p:nvPr/>
        </p:nvSpPr>
        <p:spPr>
          <a:xfrm>
            <a:off x="5486400" y="2628900"/>
            <a:ext cx="502920" cy="4572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高さ</a:t>
            </a:r>
            <a:endParaRPr lang="en-US" sz="950" dirty="0"/>
          </a:p>
          <a:p>
            <a:pPr marL="0" indent="0" algn="ctr">
              <a:buNone/>
            </a:pPr>
            <a:r>
              <a:rPr lang="en-US" sz="950" b="1" dirty="0">
                <a:solidFill>
                  <a:srgbClr val="1B2A44"/>
                </a:solidFill>
                <a:latin typeface="Yu Gothic" pitchFamily="34" charset="0"/>
                <a:ea typeface="Yu Gothic" pitchFamily="34" charset="-122"/>
                <a:cs typeface="Yu Gothic" pitchFamily="34" charset="-120"/>
              </a:rPr>
              <a:t>50m</a:t>
            </a:r>
            <a:endParaRPr lang="en-US" sz="950" dirty="0"/>
          </a:p>
        </p:txBody>
      </p:sp>
      <p:sp>
        <p:nvSpPr>
          <p:cNvPr id="34" name="Text 31"/>
          <p:cNvSpPr txBox="1"/>
          <p:nvPr/>
        </p:nvSpPr>
        <p:spPr>
          <a:xfrm>
            <a:off x="5989320" y="4096512"/>
            <a:ext cx="2423160" cy="2286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幅 50m</a:t>
            </a:r>
            <a:endParaRPr lang="en-US" sz="950" dirty="0"/>
          </a:p>
        </p:txBody>
      </p:sp>
      <p:sp>
        <p:nvSpPr>
          <p:cNvPr id="35" name="Text 32"/>
          <p:cNvSpPr txBox="1"/>
          <p:nvPr/>
        </p:nvSpPr>
        <p:spPr>
          <a:xfrm>
            <a:off x="5486400" y="4370832"/>
            <a:ext cx="3108960"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50 × 50 ＝ 2,500個</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1マス＝壁の1m四方の年間日射量（色は説明用）</a:t>
            </a:r>
            <a:endParaRPr lang="en-US" sz="1100" dirty="0"/>
          </a:p>
        </p:txBody>
      </p:sp>
      <p:sp>
        <p:nvSpPr>
          <p:cNvPr id="36" name="Shape 33"/>
          <p:cNvSpPr/>
          <p:nvPr/>
        </p:nvSpPr>
        <p:spPr>
          <a:xfrm>
            <a:off x="8595360" y="2651760"/>
            <a:ext cx="384048" cy="365760"/>
          </a:xfrm>
          <a:prstGeom prst="rightArrow">
            <a:avLst/>
          </a:prstGeom>
          <a:solidFill>
            <a:srgbClr val="E8934D"/>
          </a:solidFill>
          <a:ln/>
        </p:spPr>
        <p:txBody>
          <a:bodyPr/>
          <a:p/>
        </p:txBody>
      </p:sp>
      <p:sp>
        <p:nvSpPr>
          <p:cNvPr id="37" name="Shape 34"/>
          <p:cNvSpPr/>
          <p:nvPr/>
        </p:nvSpPr>
        <p:spPr>
          <a:xfrm>
            <a:off x="9098280" y="1188720"/>
            <a:ext cx="310896" cy="310896"/>
          </a:xfrm>
          <a:prstGeom prst="ellipse">
            <a:avLst/>
          </a:prstGeom>
          <a:solidFill>
            <a:srgbClr val="1F6F78"/>
          </a:solidFill>
          <a:ln/>
        </p:spPr>
        <p:txBody>
          <a:bodyPr/>
          <a:p/>
        </p:txBody>
      </p:sp>
      <p:sp>
        <p:nvSpPr>
          <p:cNvPr id="38" name="Text 35"/>
          <p:cNvSpPr txBox="1"/>
          <p:nvPr/>
        </p:nvSpPr>
        <p:spPr>
          <a:xfrm>
            <a:off x="90982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39" name="Text 36"/>
          <p:cNvSpPr txBox="1"/>
          <p:nvPr/>
        </p:nvSpPr>
        <p:spPr>
          <a:xfrm>
            <a:off x="9482328" y="1188720"/>
            <a:ext cx="22677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5つの高さ帯に平均</a:t>
            </a:r>
            <a:endParaRPr lang="en-US" sz="1200" dirty="0"/>
          </a:p>
        </p:txBody>
      </p:sp>
      <p:sp>
        <p:nvSpPr>
          <p:cNvPr id="40" name="Shape 37"/>
          <p:cNvSpPr/>
          <p:nvPr/>
        </p:nvSpPr>
        <p:spPr>
          <a:xfrm>
            <a:off x="9098280" y="1673352"/>
            <a:ext cx="2633472" cy="429768"/>
          </a:xfrm>
          <a:prstGeom prst="rect">
            <a:avLst/>
          </a:prstGeom>
          <a:solidFill>
            <a:srgbClr val="E8934D"/>
          </a:solidFill>
          <a:ln/>
        </p:spPr>
        <p:txBody>
          <a:bodyPr/>
          <a:p/>
        </p:txBody>
      </p:sp>
      <p:sp>
        <p:nvSpPr>
          <p:cNvPr id="41" name="Text 38"/>
          <p:cNvSpPr txBox="1"/>
          <p:nvPr/>
        </p:nvSpPr>
        <p:spPr>
          <a:xfrm>
            <a:off x="9189720" y="1673352"/>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地上40〜50m：500個の平均</a:t>
            </a:r>
            <a:endParaRPr lang="en-US" sz="1050" dirty="0"/>
          </a:p>
        </p:txBody>
      </p:sp>
      <p:sp>
        <p:nvSpPr>
          <p:cNvPr id="42" name="Shape 39"/>
          <p:cNvSpPr/>
          <p:nvPr/>
        </p:nvSpPr>
        <p:spPr>
          <a:xfrm>
            <a:off x="9098280" y="2157984"/>
            <a:ext cx="2633472" cy="429768"/>
          </a:xfrm>
          <a:prstGeom prst="rect">
            <a:avLst/>
          </a:prstGeom>
          <a:solidFill>
            <a:srgbClr val="E8D26E"/>
          </a:solidFill>
          <a:ln/>
        </p:spPr>
        <p:txBody>
          <a:bodyPr/>
          <a:p/>
        </p:txBody>
      </p:sp>
      <p:sp>
        <p:nvSpPr>
          <p:cNvPr id="43" name="Text 40"/>
          <p:cNvSpPr txBox="1"/>
          <p:nvPr/>
        </p:nvSpPr>
        <p:spPr>
          <a:xfrm>
            <a:off x="9189720" y="2157984"/>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地上30〜40m：500個の平均</a:t>
            </a:r>
            <a:endParaRPr lang="en-US" sz="1050" dirty="0"/>
          </a:p>
        </p:txBody>
      </p:sp>
      <p:sp>
        <p:nvSpPr>
          <p:cNvPr id="44" name="Shape 41"/>
          <p:cNvSpPr/>
          <p:nvPr/>
        </p:nvSpPr>
        <p:spPr>
          <a:xfrm>
            <a:off x="9098280" y="2642616"/>
            <a:ext cx="2633472" cy="429768"/>
          </a:xfrm>
          <a:prstGeom prst="rect">
            <a:avLst/>
          </a:prstGeom>
          <a:solidFill>
            <a:srgbClr val="7FC8A0"/>
          </a:solidFill>
          <a:ln/>
        </p:spPr>
        <p:txBody>
          <a:bodyPr/>
          <a:p/>
        </p:txBody>
      </p:sp>
      <p:sp>
        <p:nvSpPr>
          <p:cNvPr id="45" name="Text 42"/>
          <p:cNvSpPr txBox="1"/>
          <p:nvPr/>
        </p:nvSpPr>
        <p:spPr>
          <a:xfrm>
            <a:off x="9189720" y="2642616"/>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地上20〜30m：500個の平均</a:t>
            </a:r>
            <a:endParaRPr lang="en-US" sz="1050" dirty="0"/>
          </a:p>
        </p:txBody>
      </p:sp>
      <p:sp>
        <p:nvSpPr>
          <p:cNvPr id="46" name="Shape 43"/>
          <p:cNvSpPr/>
          <p:nvPr/>
        </p:nvSpPr>
        <p:spPr>
          <a:xfrm>
            <a:off x="9098280" y="3127248"/>
            <a:ext cx="2633472" cy="429768"/>
          </a:xfrm>
          <a:prstGeom prst="rect">
            <a:avLst/>
          </a:prstGeom>
          <a:solidFill>
            <a:srgbClr val="1F6F78"/>
          </a:solidFill>
          <a:ln/>
        </p:spPr>
        <p:txBody>
          <a:bodyPr/>
          <a:p/>
        </p:txBody>
      </p:sp>
      <p:sp>
        <p:nvSpPr>
          <p:cNvPr id="47" name="Text 44"/>
          <p:cNvSpPr txBox="1"/>
          <p:nvPr/>
        </p:nvSpPr>
        <p:spPr>
          <a:xfrm>
            <a:off x="9189720" y="3127248"/>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地上10〜20m：500個の平均</a:t>
            </a:r>
            <a:endParaRPr lang="en-US" sz="1050" dirty="0"/>
          </a:p>
        </p:txBody>
      </p:sp>
      <p:sp>
        <p:nvSpPr>
          <p:cNvPr id="48" name="Shape 45"/>
          <p:cNvSpPr/>
          <p:nvPr/>
        </p:nvSpPr>
        <p:spPr>
          <a:xfrm>
            <a:off x="9098280" y="3611880"/>
            <a:ext cx="2633472" cy="429768"/>
          </a:xfrm>
          <a:prstGeom prst="rect">
            <a:avLst/>
          </a:prstGeom>
          <a:solidFill>
            <a:srgbClr val="1B2A44"/>
          </a:solidFill>
          <a:ln/>
        </p:spPr>
        <p:txBody>
          <a:bodyPr/>
          <a:p/>
        </p:txBody>
      </p:sp>
      <p:sp>
        <p:nvSpPr>
          <p:cNvPr id="49" name="Text 46"/>
          <p:cNvSpPr txBox="1"/>
          <p:nvPr/>
        </p:nvSpPr>
        <p:spPr>
          <a:xfrm>
            <a:off x="9189720" y="3611880"/>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 0〜10m：500個の平均</a:t>
            </a:r>
            <a:endParaRPr lang="en-US" sz="1050" dirty="0"/>
          </a:p>
        </p:txBody>
      </p:sp>
      <p:sp>
        <p:nvSpPr>
          <p:cNvPr id="50" name="Text 47"/>
          <p:cNvSpPr txBox="1"/>
          <p:nvPr/>
        </p:nvSpPr>
        <p:spPr>
          <a:xfrm>
            <a:off x="9098280" y="4370832"/>
            <a:ext cx="2633472"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5個 ＋ 南面全体の平均</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各帯＝10段×幅50マス</a:t>
            </a:r>
            <a:endParaRPr lang="en-US" sz="1100" dirty="0"/>
          </a:p>
        </p:txBody>
      </p:sp>
      <p:sp>
        <p:nvSpPr>
          <p:cNvPr id="51" name="Shape 48"/>
          <p:cNvSpPr/>
          <p:nvPr/>
        </p:nvSpPr>
        <p:spPr>
          <a:xfrm>
            <a:off x="457200" y="5074920"/>
            <a:ext cx="5532120" cy="1234440"/>
          </a:xfrm>
          <a:prstGeom prst="roundRect">
            <a:avLst>
              <a:gd name="adj" fmla="val 4444"/>
            </a:avLst>
          </a:prstGeom>
          <a:solidFill>
            <a:srgbClr val="F3F5F8"/>
          </a:solidFill>
          <a:ln w="12700">
            <a:solidFill>
              <a:srgbClr val="DBE0E6"/>
            </a:solidFill>
            <a:prstDash val="solid"/>
          </a:ln>
        </p:spPr>
        <p:txBody>
          <a:bodyPr/>
          <a:p/>
        </p:txBody>
      </p:sp>
      <p:sp>
        <p:nvSpPr>
          <p:cNvPr id="52" name="Text 49"/>
          <p:cNvSpPr txBox="1"/>
          <p:nvPr/>
        </p:nvSpPr>
        <p:spPr>
          <a:xfrm>
            <a:off x="640080" y="5148072"/>
            <a:ext cx="516636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ポイント</a:t>
            </a:r>
            <a:endParaRPr lang="en-US" sz="1200" dirty="0"/>
          </a:p>
        </p:txBody>
      </p:sp>
      <p:sp>
        <p:nvSpPr>
          <p:cNvPr id="53" name="Text 50"/>
          <p:cNvSpPr txBox="1"/>
          <p:nvPr/>
        </p:nvSpPr>
        <p:spPr>
          <a:xfrm>
            <a:off x="640080"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SEBEは1配置ごとに2,500個を出すが、予測するのは5つの高さ帯の値と全体平均。</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高さによる違いを少ない数で表せる（幅方向の違いは区別しない）。</a:t>
            </a:r>
            <a:endParaRPr lang="en-US" sz="1050" dirty="0"/>
          </a:p>
        </p:txBody>
      </p:sp>
      <p:sp>
        <p:nvSpPr>
          <p:cNvPr id="54" name="Shape 51"/>
          <p:cNvSpPr/>
          <p:nvPr/>
        </p:nvSpPr>
        <p:spPr>
          <a:xfrm>
            <a:off x="6199632" y="5074920"/>
            <a:ext cx="5532120" cy="1234440"/>
          </a:xfrm>
          <a:prstGeom prst="roundRect">
            <a:avLst>
              <a:gd name="adj" fmla="val 4444"/>
            </a:avLst>
          </a:prstGeom>
          <a:solidFill>
            <a:srgbClr val="FBEBDA"/>
          </a:solidFill>
          <a:ln w="12700">
            <a:solidFill>
              <a:srgbClr val="E8934D"/>
            </a:solidFill>
            <a:prstDash val="solid"/>
          </a:ln>
        </p:spPr>
        <p:txBody>
          <a:bodyPr/>
          <a:p/>
        </p:txBody>
      </p:sp>
      <p:sp>
        <p:nvSpPr>
          <p:cNvPr id="55" name="Text 52"/>
          <p:cNvSpPr txBox="1"/>
          <p:nvPr/>
        </p:nvSpPr>
        <p:spPr>
          <a:xfrm>
            <a:off x="6382512" y="5148072"/>
            <a:ext cx="51663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事前に用意するデータ</a:t>
            </a:r>
            <a:endParaRPr lang="en-US" sz="1200" dirty="0"/>
          </a:p>
        </p:txBody>
      </p:sp>
      <p:sp>
        <p:nvSpPr>
          <p:cNvPr id="56" name="Text 53"/>
          <p:cNvSpPr txBox="1"/>
          <p:nvPr/>
        </p:nvSpPr>
        <p:spPr>
          <a:xfrm>
            <a:off x="6382512"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16配置（A 25・50・75・100m × D 10・25・50・100m）でSEBEを実行し、16 × 2,500個 → 16 × 5個 に平均して保存する（次ページ）。</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学習データ：A と D の全組み合わせ16パターン</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06 / 45</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南側建物の高さ A（4水準）× 建物間の隙間 D（4水準）をすべて組み合わせ、SEBEで計算してお手本とした。</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6583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tblGrid>
              <a:tr h="457200">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A ＼ D</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extLst>
                  <a:ext uri="{0D108BD9-81ED-4DB2-BD59-A6C34878D82A}">
                    <a16:rowId xmlns:a16="http://schemas.microsoft.com/office/drawing/2014/main" val="10002"/>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75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4754880"/>
            <a:ext cx="6583680" cy="274320"/>
          </a:xfrm>
          <a:prstGeom prst="rect">
            <a:avLst/>
          </a:prstGeom>
          <a:noFill/>
          <a:ln/>
        </p:spPr>
        <p:txBody>
          <a:bodyPr wrap="square" rtlCol="0" anchor="t"/>
          <a:lstStyle/>
          <a:p>
            <a:pPr marL="0" indent="0">
              <a:buNone/>
            </a:pPr>
            <a:r>
              <a:rPr lang="en-US" sz="1050" dirty="0">
                <a:solidFill>
                  <a:srgbClr val="1F6F78"/>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既存7通り（高さだけ・距離だけを変えた実験）　　</a:t>
            </a:r>
            <a:r>
              <a:rPr lang="en-US" sz="1050" dirty="0">
                <a:solidFill>
                  <a:srgbClr val="E8934D"/>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追加9通り（組み合わせを補って16通りに）</a:t>
            </a:r>
            <a:endParaRPr lang="en-US" sz="1050" dirty="0"/>
          </a:p>
        </p:txBody>
      </p:sp>
      <p:sp>
        <p:nvSpPr>
          <p:cNvPr id="12" name="Shape 9"/>
          <p:cNvSpPr/>
          <p:nvPr/>
        </p:nvSpPr>
        <p:spPr>
          <a:xfrm>
            <a:off x="7315200" y="1600200"/>
            <a:ext cx="4416552" cy="1463040"/>
          </a:xfrm>
          <a:prstGeom prst="roundRect">
            <a:avLst>
              <a:gd name="adj" fmla="val 3750"/>
            </a:avLst>
          </a:prstGeom>
          <a:solidFill>
            <a:srgbClr val="1B2A44"/>
          </a:solidFill>
          <a:ln/>
        </p:spPr>
        <p:txBody>
          <a:bodyPr/>
          <a:p/>
        </p:txBody>
      </p:sp>
      <p:sp>
        <p:nvSpPr>
          <p:cNvPr id="13" name="Text 10"/>
          <p:cNvSpPr txBox="1"/>
          <p:nvPr/>
        </p:nvSpPr>
        <p:spPr>
          <a:xfrm>
            <a:off x="7498080" y="1737360"/>
            <a:ext cx="4023360" cy="365760"/>
          </a:xfrm>
          <a:prstGeom prst="rect">
            <a:avLst/>
          </a:prstGeom>
          <a:noFill/>
          <a:ln/>
        </p:spPr>
        <p:txBody>
          <a:bodyPr wrap="square" rtlCol="0" anchor="t"/>
          <a:lstStyle/>
          <a:p>
            <a:pPr marL="0" indent="0" algn="ctr">
              <a:buNone/>
            </a:pPr>
            <a:r>
              <a:rPr lang="en-US" sz="1400" b="1" dirty="0">
                <a:solidFill>
                  <a:srgbClr val="CFE0EE"/>
                </a:solidFill>
                <a:latin typeface="Yu Gothic" pitchFamily="34" charset="0"/>
                <a:ea typeface="Yu Gothic" pitchFamily="34" charset="-122"/>
                <a:cs typeface="Yu Gothic" pitchFamily="34" charset="-120"/>
              </a:rPr>
              <a:t>4（高さ）× 4（距離）</a:t>
            </a:r>
            <a:endParaRPr lang="en-US" sz="1400" dirty="0"/>
          </a:p>
        </p:txBody>
      </p:sp>
      <p:sp>
        <p:nvSpPr>
          <p:cNvPr id="14" name="Text 11"/>
          <p:cNvSpPr txBox="1"/>
          <p:nvPr/>
        </p:nvSpPr>
        <p:spPr>
          <a:xfrm>
            <a:off x="7498080" y="2148840"/>
            <a:ext cx="4023360" cy="685800"/>
          </a:xfrm>
          <a:prstGeom prst="rect">
            <a:avLst/>
          </a:prstGeom>
          <a:noFill/>
          <a:ln/>
        </p:spPr>
        <p:txBody>
          <a:bodyPr wrap="square" rtlCol="0" anchor="ctr"/>
          <a:lstStyle/>
          <a:p>
            <a:pPr marL="0" indent="0" algn="ctr">
              <a:buNone/>
            </a:pPr>
            <a:r>
              <a:rPr lang="en-US" sz="3400" b="1" dirty="0">
                <a:solidFill>
                  <a:srgbClr val="E8934D"/>
                </a:solidFill>
                <a:latin typeface="Yu Gothic" pitchFamily="34" charset="0"/>
                <a:ea typeface="Yu Gothic" pitchFamily="34" charset="-122"/>
                <a:cs typeface="Yu Gothic" pitchFamily="34" charset="-120"/>
              </a:rPr>
              <a:t>＝ 16 通り</a:t>
            </a:r>
            <a:endParaRPr lang="en-US" sz="3400" dirty="0"/>
          </a:p>
        </p:txBody>
      </p:sp>
      <p:sp>
        <p:nvSpPr>
          <p:cNvPr id="15" name="Shape 12"/>
          <p:cNvSpPr/>
          <p:nvPr/>
        </p:nvSpPr>
        <p:spPr>
          <a:xfrm>
            <a:off x="7315200" y="3246120"/>
            <a:ext cx="4416552" cy="1737360"/>
          </a:xfrm>
          <a:prstGeom prst="roundRect">
            <a:avLst>
              <a:gd name="adj" fmla="val 3158"/>
            </a:avLst>
          </a:prstGeom>
          <a:solidFill>
            <a:srgbClr val="F3F5F8"/>
          </a:solidFill>
          <a:ln w="12700">
            <a:solidFill>
              <a:srgbClr val="DBE0E6"/>
            </a:solidFill>
            <a:prstDash val="solid"/>
          </a:ln>
        </p:spPr>
        <p:txBody>
          <a:bodyPr/>
          <a:p/>
        </p:txBody>
      </p:sp>
      <p:sp>
        <p:nvSpPr>
          <p:cNvPr id="16" name="Text 13"/>
          <p:cNvSpPr txBox="1"/>
          <p:nvPr/>
        </p:nvSpPr>
        <p:spPr>
          <a:xfrm>
            <a:off x="7498080" y="3319272"/>
            <a:ext cx="405079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保存する値（1配置あたり）</a:t>
            </a:r>
            <a:endParaRPr lang="en-US" sz="1200" dirty="0"/>
          </a:p>
        </p:txBody>
      </p:sp>
      <p:sp>
        <p:nvSpPr>
          <p:cNvPr id="17" name="Text 14"/>
          <p:cNvSpPr txBox="1"/>
          <p:nvPr/>
        </p:nvSpPr>
        <p:spPr>
          <a:xfrm>
            <a:off x="7498080" y="3611880"/>
            <a:ext cx="4050792" cy="131673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・南面全体の平均年間日射量</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・高さ10mごと5つの帯の平均（5個）</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中央建物・方角・気象は固定し、A と D だけを変えた。</a:t>
            </a:r>
            <a:endParaRPr lang="en-US" sz="1050" dirty="0"/>
          </a:p>
        </p:txBody>
      </p:sp>
      <p:sp>
        <p:nvSpPr>
          <p:cNvPr id="18" name="Shape 15"/>
          <p:cNvSpPr/>
          <p:nvPr/>
        </p:nvSpPr>
        <p:spPr>
          <a:xfrm>
            <a:off x="457200" y="5257800"/>
            <a:ext cx="11274552" cy="868680"/>
          </a:xfrm>
          <a:prstGeom prst="roundRect">
            <a:avLst>
              <a:gd name="adj" fmla="val 6316"/>
            </a:avLst>
          </a:prstGeom>
          <a:solidFill>
            <a:srgbClr val="DCEAEC"/>
          </a:solidFill>
          <a:ln w="12700">
            <a:solidFill>
              <a:srgbClr val="1F6F78"/>
            </a:solidFill>
            <a:prstDash val="solid"/>
          </a:ln>
        </p:spPr>
        <p:txBody>
          <a:bodyPr/>
          <a:p/>
        </p:txBody>
      </p:sp>
      <p:sp>
        <p:nvSpPr>
          <p:cNvPr id="19" name="Text 16"/>
          <p:cNvSpPr txBox="1"/>
          <p:nvPr/>
        </p:nvSpPr>
        <p:spPr>
          <a:xfrm>
            <a:off x="640080" y="5330952"/>
            <a:ext cx="1090879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このあとの使い方</a:t>
            </a:r>
            <a:endParaRPr lang="en-US" sz="1200" dirty="0"/>
          </a:p>
        </p:txBody>
      </p:sp>
      <p:sp>
        <p:nvSpPr>
          <p:cNvPr id="20" name="Text 17"/>
          <p:cNvSpPr txBox="1"/>
          <p:nvPr/>
        </p:nvSpPr>
        <p:spPr>
          <a:xfrm>
            <a:off x="640080" y="5623560"/>
            <a:ext cx="10908792" cy="4480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この16配置の値を使って「線形補間」「ランダムフォレスト」などの予測方法をつくり、学習に使っていない別の条件（検証8パターン）で精度を比べる。</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比較した3つの手法と、比率 A/D を試した理由</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07 / 45</a:t>
            </a:r>
            <a:endParaRPr lang="en-US" sz="1100" dirty="0"/>
          </a:p>
        </p:txBody>
      </p:sp>
      <p:sp>
        <p:nvSpPr>
          <p:cNvPr id="9" name="Shape 7"/>
          <p:cNvSpPr/>
          <p:nvPr/>
        </p:nvSpPr>
        <p:spPr>
          <a:xfrm>
            <a:off x="457200"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0" name="Shape 8"/>
          <p:cNvSpPr/>
          <p:nvPr/>
        </p:nvSpPr>
        <p:spPr>
          <a:xfrm>
            <a:off x="457200" y="1188720"/>
            <a:ext cx="3630168" cy="73152"/>
          </a:xfrm>
          <a:prstGeom prst="rect">
            <a:avLst/>
          </a:prstGeom>
          <a:solidFill>
            <a:srgbClr val="4C8C6B"/>
          </a:solidFill>
          <a:ln/>
        </p:spPr>
        <p:txBody>
          <a:bodyPr/>
          <a:p/>
        </p:txBody>
      </p:sp>
      <p:sp>
        <p:nvSpPr>
          <p:cNvPr id="11" name="Text 9"/>
          <p:cNvSpPr txBox="1"/>
          <p:nvPr/>
        </p:nvSpPr>
        <p:spPr>
          <a:xfrm>
            <a:off x="640080" y="1353312"/>
            <a:ext cx="3264408" cy="347472"/>
          </a:xfrm>
          <a:prstGeom prst="rect">
            <a:avLst/>
          </a:prstGeom>
          <a:noFill/>
          <a:ln/>
        </p:spPr>
        <p:txBody>
          <a:bodyPr wrap="square" rtlCol="0" anchor="t"/>
          <a:lstStyle/>
          <a:p>
            <a:pPr marL="0" indent="0">
              <a:buNone/>
            </a:pPr>
            <a:r>
              <a:rPr lang="en-US" sz="1500" b="1" dirty="0">
                <a:solidFill>
                  <a:srgbClr val="4C8C6B"/>
                </a:solidFill>
                <a:latin typeface="Yu Gothic" pitchFamily="34" charset="0"/>
                <a:ea typeface="Yu Gothic" pitchFamily="34" charset="-122"/>
                <a:cs typeface="Yu Gothic" pitchFamily="34" charset="-120"/>
              </a:rPr>
              <a:t>線形補間</a:t>
            </a:r>
            <a:endParaRPr lang="en-US" sz="1500" dirty="0"/>
          </a:p>
        </p:txBody>
      </p:sp>
      <p:sp>
        <p:nvSpPr>
          <p:cNvPr id="12" name="Text 10"/>
          <p:cNvSpPr txBox="1"/>
          <p:nvPr/>
        </p:nvSpPr>
        <p:spPr>
          <a:xfrm>
            <a:off x="640080"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Linear Interpolation</a:t>
            </a:r>
            <a:endParaRPr lang="en-US" sz="950" dirty="0"/>
          </a:p>
        </p:txBody>
      </p:sp>
      <p:sp>
        <p:nvSpPr>
          <p:cNvPr id="13" name="Text 11"/>
          <p:cNvSpPr txBox="1"/>
          <p:nvPr/>
        </p:nvSpPr>
        <p:spPr>
          <a:xfrm>
            <a:off x="640080"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計算済みの近い条件の値から、その間の条件の値を直線的に見積もる。追加の学習は不要で、値がなめらかに変わる範囲に向く。</a:t>
            </a:r>
            <a:endParaRPr lang="en-US" sz="1050" dirty="0"/>
          </a:p>
        </p:txBody>
      </p:sp>
      <p:sp>
        <p:nvSpPr>
          <p:cNvPr id="14" name="Shape 12"/>
          <p:cNvSpPr/>
          <p:nvPr/>
        </p:nvSpPr>
        <p:spPr>
          <a:xfrm>
            <a:off x="640080" y="3246120"/>
            <a:ext cx="1737360" cy="301752"/>
          </a:xfrm>
          <a:prstGeom prst="roundRect">
            <a:avLst>
              <a:gd name="adj" fmla="val 18182"/>
            </a:avLst>
          </a:prstGeom>
          <a:solidFill>
            <a:srgbClr val="EAEEF2"/>
          </a:solidFill>
          <a:ln/>
        </p:spPr>
        <p:txBody>
          <a:bodyPr/>
          <a:p/>
        </p:txBody>
      </p:sp>
      <p:sp>
        <p:nvSpPr>
          <p:cNvPr id="15" name="Text 13"/>
          <p:cNvSpPr txBox="1"/>
          <p:nvPr/>
        </p:nvSpPr>
        <p:spPr>
          <a:xfrm>
            <a:off x="640080"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16" name="Shape 14"/>
          <p:cNvSpPr/>
          <p:nvPr/>
        </p:nvSpPr>
        <p:spPr>
          <a:xfrm>
            <a:off x="4288536"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7" name="Shape 15"/>
          <p:cNvSpPr/>
          <p:nvPr/>
        </p:nvSpPr>
        <p:spPr>
          <a:xfrm>
            <a:off x="4288536" y="1188720"/>
            <a:ext cx="3630168" cy="73152"/>
          </a:xfrm>
          <a:prstGeom prst="rect">
            <a:avLst/>
          </a:prstGeom>
          <a:solidFill>
            <a:srgbClr val="1B2A44"/>
          </a:solidFill>
          <a:ln/>
        </p:spPr>
        <p:txBody>
          <a:bodyPr/>
          <a:p/>
        </p:txBody>
      </p:sp>
      <p:sp>
        <p:nvSpPr>
          <p:cNvPr id="18" name="Text 16"/>
          <p:cNvSpPr txBox="1"/>
          <p:nvPr/>
        </p:nvSpPr>
        <p:spPr>
          <a:xfrm>
            <a:off x="4471416" y="1353312"/>
            <a:ext cx="3264408" cy="347472"/>
          </a:xfrm>
          <a:prstGeom prst="rect">
            <a:avLst/>
          </a:prstGeom>
          <a:noFill/>
          <a:ln/>
        </p:spPr>
        <p:txBody>
          <a:bodyPr wrap="square" rtlCol="0" anchor="t"/>
          <a:lstStyle/>
          <a:p>
            <a:pPr marL="0" indent="0">
              <a:buNone/>
            </a:pPr>
            <a:r>
              <a:rPr lang="en-US" sz="1500" b="1" dirty="0">
                <a:solidFill>
                  <a:srgbClr val="1B2A44"/>
                </a:solidFill>
                <a:latin typeface="Yu Gothic" pitchFamily="34" charset="0"/>
                <a:ea typeface="Yu Gothic" pitchFamily="34" charset="-122"/>
                <a:cs typeface="Yu Gothic" pitchFamily="34" charset="-120"/>
              </a:rPr>
              <a:t>ランダムフォレスト</a:t>
            </a:r>
            <a:endParaRPr lang="en-US" sz="1500" dirty="0"/>
          </a:p>
        </p:txBody>
      </p:sp>
      <p:sp>
        <p:nvSpPr>
          <p:cNvPr id="19" name="Text 17"/>
          <p:cNvSpPr txBox="1"/>
          <p:nvPr/>
        </p:nvSpPr>
        <p:spPr>
          <a:xfrm>
            <a:off x="4471416"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a:t>
            </a:r>
            <a:endParaRPr lang="en-US" sz="950" dirty="0"/>
          </a:p>
        </p:txBody>
      </p:sp>
      <p:sp>
        <p:nvSpPr>
          <p:cNvPr id="20" name="Text 18"/>
          <p:cNvSpPr txBox="1"/>
          <p:nvPr/>
        </p:nvSpPr>
        <p:spPr>
          <a:xfrm>
            <a:off x="4471416"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条件で枝分かれする決定木を多数（300本）学習し、予測を平均する。非線形な関係も学べるが、学習データが少ないと不安定になりやすい。</a:t>
            </a:r>
            <a:endParaRPr lang="en-US" sz="1050" dirty="0"/>
          </a:p>
        </p:txBody>
      </p:sp>
      <p:sp>
        <p:nvSpPr>
          <p:cNvPr id="21" name="Shape 19"/>
          <p:cNvSpPr/>
          <p:nvPr/>
        </p:nvSpPr>
        <p:spPr>
          <a:xfrm>
            <a:off x="4471416" y="3246120"/>
            <a:ext cx="1737360" cy="301752"/>
          </a:xfrm>
          <a:prstGeom prst="roundRect">
            <a:avLst>
              <a:gd name="adj" fmla="val 18182"/>
            </a:avLst>
          </a:prstGeom>
          <a:solidFill>
            <a:srgbClr val="EAEEF2"/>
          </a:solidFill>
          <a:ln/>
        </p:spPr>
        <p:txBody>
          <a:bodyPr/>
          <a:p/>
        </p:txBody>
      </p:sp>
      <p:sp>
        <p:nvSpPr>
          <p:cNvPr id="22" name="Text 20"/>
          <p:cNvSpPr txBox="1"/>
          <p:nvPr/>
        </p:nvSpPr>
        <p:spPr>
          <a:xfrm>
            <a:off x="4471416"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23" name="Shape 21"/>
          <p:cNvSpPr/>
          <p:nvPr/>
        </p:nvSpPr>
        <p:spPr>
          <a:xfrm>
            <a:off x="8119872"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24" name="Shape 22"/>
          <p:cNvSpPr/>
          <p:nvPr/>
        </p:nvSpPr>
        <p:spPr>
          <a:xfrm>
            <a:off x="8119872" y="1188720"/>
            <a:ext cx="3630168" cy="73152"/>
          </a:xfrm>
          <a:prstGeom prst="rect">
            <a:avLst/>
          </a:prstGeom>
          <a:solidFill>
            <a:srgbClr val="1F6F78"/>
          </a:solidFill>
          <a:ln/>
        </p:spPr>
        <p:txBody>
          <a:bodyPr/>
          <a:p/>
        </p:txBody>
      </p:sp>
      <p:sp>
        <p:nvSpPr>
          <p:cNvPr id="25" name="Text 23"/>
          <p:cNvSpPr txBox="1"/>
          <p:nvPr/>
        </p:nvSpPr>
        <p:spPr>
          <a:xfrm>
            <a:off x="8302752" y="1353312"/>
            <a:ext cx="3264408" cy="347472"/>
          </a:xfrm>
          <a:prstGeom prst="rect">
            <a:avLst/>
          </a:prstGeom>
          <a:noFill/>
          <a:ln/>
        </p:spPr>
        <p:txBody>
          <a:bodyPr wrap="square" rtlCol="0" anchor="t"/>
          <a:lstStyle/>
          <a:p>
            <a:pPr marL="0" indent="0">
              <a:buNone/>
            </a:pPr>
            <a:r>
              <a:rPr lang="en-US" sz="1500" b="1" dirty="0">
                <a:solidFill>
                  <a:srgbClr val="1F6F78"/>
                </a:solidFill>
                <a:latin typeface="Yu Gothic" pitchFamily="34" charset="0"/>
                <a:ea typeface="Yu Gothic" pitchFamily="34" charset="-122"/>
                <a:cs typeface="Yu Gothic" pitchFamily="34" charset="-120"/>
              </a:rPr>
              <a:t>ランダムフォレスト＋比率</a:t>
            </a:r>
            <a:endParaRPr lang="en-US" sz="1500" dirty="0"/>
          </a:p>
        </p:txBody>
      </p:sp>
      <p:sp>
        <p:nvSpPr>
          <p:cNvPr id="26" name="Text 24"/>
          <p:cNvSpPr txBox="1"/>
          <p:nvPr/>
        </p:nvSpPr>
        <p:spPr>
          <a:xfrm>
            <a:off x="8302752"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 with A/D</a:t>
            </a:r>
            <a:endParaRPr lang="en-US" sz="950" dirty="0"/>
          </a:p>
        </p:txBody>
      </p:sp>
      <p:sp>
        <p:nvSpPr>
          <p:cNvPr id="27" name="Text 25"/>
          <p:cNvSpPr txBox="1"/>
          <p:nvPr/>
        </p:nvSpPr>
        <p:spPr>
          <a:xfrm>
            <a:off x="8302752"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上のランダムフォレストに、高さを距離で割った比率 A/D を3つ目の入力として加えたもの。設定は同じ（乱数シード20260911）。</a:t>
            </a:r>
            <a:endParaRPr lang="en-US" sz="1050" dirty="0"/>
          </a:p>
        </p:txBody>
      </p:sp>
      <p:sp>
        <p:nvSpPr>
          <p:cNvPr id="28" name="Shape 26"/>
          <p:cNvSpPr/>
          <p:nvPr/>
        </p:nvSpPr>
        <p:spPr>
          <a:xfrm>
            <a:off x="8302752" y="3246120"/>
            <a:ext cx="1737360" cy="301752"/>
          </a:xfrm>
          <a:prstGeom prst="roundRect">
            <a:avLst>
              <a:gd name="adj" fmla="val 18182"/>
            </a:avLst>
          </a:prstGeom>
          <a:solidFill>
            <a:srgbClr val="EAEEF2"/>
          </a:solidFill>
          <a:ln/>
        </p:spPr>
        <p:txBody>
          <a:bodyPr/>
          <a:p/>
        </p:txBody>
      </p:sp>
      <p:sp>
        <p:nvSpPr>
          <p:cNvPr id="29" name="Text 27"/>
          <p:cNvSpPr txBox="1"/>
          <p:nvPr/>
        </p:nvSpPr>
        <p:spPr>
          <a:xfrm>
            <a:off x="8302752"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 A/D</a:t>
            </a:r>
            <a:endParaRPr lang="en-US" sz="1000" dirty="0"/>
          </a:p>
        </p:txBody>
      </p:sp>
      <p:sp>
        <p:nvSpPr>
          <p:cNvPr id="30" name="Text 28"/>
          <p:cNvSpPr txBox="1"/>
          <p:nvPr/>
        </p:nvSpPr>
        <p:spPr>
          <a:xfrm>
            <a:off x="457200" y="3931920"/>
            <a:ext cx="10972800" cy="292608"/>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A と D から計算できる A/D を、なぜあえて入力に加えたのか</a:t>
            </a:r>
            <a:endParaRPr lang="en-US" sz="1300" dirty="0"/>
          </a:p>
        </p:txBody>
      </p:sp>
      <p:sp>
        <p:nvSpPr>
          <p:cNvPr id="31" name="Shape 29"/>
          <p:cNvSpPr/>
          <p:nvPr/>
        </p:nvSpPr>
        <p:spPr>
          <a:xfrm>
            <a:off x="457200"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2" name="Shape 30"/>
          <p:cNvSpPr/>
          <p:nvPr/>
        </p:nvSpPr>
        <p:spPr>
          <a:xfrm>
            <a:off x="621792" y="4434840"/>
            <a:ext cx="365760" cy="365760"/>
          </a:xfrm>
          <a:prstGeom prst="ellipse">
            <a:avLst/>
          </a:prstGeom>
          <a:solidFill>
            <a:srgbClr val="1F6F78"/>
          </a:solidFill>
          <a:ln/>
        </p:spPr>
        <p:txBody>
          <a:bodyPr/>
          <a:p/>
        </p:txBody>
      </p:sp>
      <p:sp>
        <p:nvSpPr>
          <p:cNvPr id="33" name="Text 31"/>
          <p:cNvSpPr txBox="1"/>
          <p:nvPr/>
        </p:nvSpPr>
        <p:spPr>
          <a:xfrm>
            <a:off x="621792"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34" name="Text 32"/>
          <p:cNvSpPr txBox="1"/>
          <p:nvPr/>
        </p:nvSpPr>
        <p:spPr>
          <a:xfrm>
            <a:off x="1078992"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指摘</a:t>
            </a:r>
            <a:endParaRPr lang="en-US" sz="1100" dirty="0"/>
          </a:p>
        </p:txBody>
      </p:sp>
      <p:sp>
        <p:nvSpPr>
          <p:cNvPr id="35" name="Text 33"/>
          <p:cNvSpPr txBox="1"/>
          <p:nvPr/>
        </p:nvSpPr>
        <p:spPr>
          <a:xfrm>
            <a:off x="640080"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は新しい情報ではない</a:t>
            </a:r>
            <a:endParaRPr lang="en-US" sz="1200" dirty="0"/>
          </a:p>
        </p:txBody>
      </p:sp>
      <p:sp>
        <p:nvSpPr>
          <p:cNvPr id="36" name="Text 34"/>
          <p:cNvSpPr txBox="1"/>
          <p:nvPr/>
        </p:nvSpPr>
        <p:spPr>
          <a:xfrm>
            <a:off x="640080"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教授の指摘のとおり、A と D から計算できるので、観測情報そのものは増えない。</a:t>
            </a:r>
            <a:endParaRPr lang="en-US" sz="1030" dirty="0"/>
          </a:p>
        </p:txBody>
      </p:sp>
      <p:sp>
        <p:nvSpPr>
          <p:cNvPr id="37" name="Shape 35"/>
          <p:cNvSpPr/>
          <p:nvPr/>
        </p:nvSpPr>
        <p:spPr>
          <a:xfrm rot="5400000">
            <a:off x="4119372" y="5212080"/>
            <a:ext cx="118872" cy="182880"/>
          </a:xfrm>
          <a:prstGeom prst="triangle">
            <a:avLst/>
          </a:prstGeom>
          <a:solidFill>
            <a:srgbClr val="AEB4BC"/>
          </a:solidFill>
          <a:ln/>
        </p:spPr>
        <p:txBody>
          <a:bodyPr/>
          <a:p/>
        </p:txBody>
      </p:sp>
      <p:sp>
        <p:nvSpPr>
          <p:cNvPr id="38" name="Shape 36"/>
          <p:cNvSpPr/>
          <p:nvPr/>
        </p:nvSpPr>
        <p:spPr>
          <a:xfrm>
            <a:off x="4288536"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9" name="Shape 37"/>
          <p:cNvSpPr/>
          <p:nvPr/>
        </p:nvSpPr>
        <p:spPr>
          <a:xfrm>
            <a:off x="4453128" y="4434840"/>
            <a:ext cx="365760" cy="365760"/>
          </a:xfrm>
          <a:prstGeom prst="ellipse">
            <a:avLst/>
          </a:prstGeom>
          <a:solidFill>
            <a:srgbClr val="1F6F78"/>
          </a:solidFill>
          <a:ln/>
        </p:spPr>
        <p:txBody>
          <a:bodyPr/>
          <a:p/>
        </p:txBody>
      </p:sp>
      <p:sp>
        <p:nvSpPr>
          <p:cNvPr id="40" name="Text 38"/>
          <p:cNvSpPr txBox="1"/>
          <p:nvPr/>
        </p:nvSpPr>
        <p:spPr>
          <a:xfrm>
            <a:off x="4453128"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41" name="Text 39"/>
          <p:cNvSpPr txBox="1"/>
          <p:nvPr/>
        </p:nvSpPr>
        <p:spPr>
          <a:xfrm>
            <a:off x="4910328"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仮説</a:t>
            </a:r>
            <a:endParaRPr lang="en-US" sz="1100" dirty="0"/>
          </a:p>
        </p:txBody>
      </p:sp>
      <p:sp>
        <p:nvSpPr>
          <p:cNvPr id="42" name="Text 40"/>
          <p:cNvSpPr txBox="1"/>
          <p:nvPr/>
        </p:nvSpPr>
        <p:spPr>
          <a:xfrm>
            <a:off x="4471416"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関係を見つけやすくなるかもしれない</a:t>
            </a:r>
            <a:endParaRPr lang="en-US" sz="1200" dirty="0"/>
          </a:p>
        </p:txBody>
      </p:sp>
      <p:sp>
        <p:nvSpPr>
          <p:cNvPr id="43" name="Text 41"/>
          <p:cNvSpPr txBox="1"/>
          <p:nvPr/>
        </p:nvSpPr>
        <p:spPr>
          <a:xfrm>
            <a:off x="4471416"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学習データが少ないとき、比率を明示するとモデルが関係を見つけやすくなる場合がある。</a:t>
            </a:r>
            <a:endParaRPr lang="en-US" sz="1030" dirty="0"/>
          </a:p>
        </p:txBody>
      </p:sp>
      <p:sp>
        <p:nvSpPr>
          <p:cNvPr id="44" name="Shape 42"/>
          <p:cNvSpPr/>
          <p:nvPr/>
        </p:nvSpPr>
        <p:spPr>
          <a:xfrm rot="5400000">
            <a:off x="7950708" y="5212080"/>
            <a:ext cx="118872" cy="182880"/>
          </a:xfrm>
          <a:prstGeom prst="triangle">
            <a:avLst/>
          </a:prstGeom>
          <a:solidFill>
            <a:srgbClr val="AEB4BC"/>
          </a:solidFill>
          <a:ln/>
        </p:spPr>
        <p:txBody>
          <a:bodyPr/>
          <a:p/>
        </p:txBody>
      </p:sp>
      <p:sp>
        <p:nvSpPr>
          <p:cNvPr id="45" name="Shape 43"/>
          <p:cNvSpPr/>
          <p:nvPr/>
        </p:nvSpPr>
        <p:spPr>
          <a:xfrm>
            <a:off x="8119872"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46" name="Shape 44"/>
          <p:cNvSpPr/>
          <p:nvPr/>
        </p:nvSpPr>
        <p:spPr>
          <a:xfrm>
            <a:off x="8284464" y="4434840"/>
            <a:ext cx="365760" cy="365760"/>
          </a:xfrm>
          <a:prstGeom prst="ellipse">
            <a:avLst/>
          </a:prstGeom>
          <a:solidFill>
            <a:srgbClr val="1F6F78"/>
          </a:solidFill>
          <a:ln/>
        </p:spPr>
        <p:txBody>
          <a:bodyPr/>
          <a:p/>
        </p:txBody>
      </p:sp>
      <p:sp>
        <p:nvSpPr>
          <p:cNvPr id="47" name="Text 45"/>
          <p:cNvSpPr txBox="1"/>
          <p:nvPr/>
        </p:nvSpPr>
        <p:spPr>
          <a:xfrm>
            <a:off x="8284464"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48" name="Text 46"/>
          <p:cNvSpPr txBox="1"/>
          <p:nvPr/>
        </p:nvSpPr>
        <p:spPr>
          <a:xfrm>
            <a:off x="8741664"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検証</a:t>
            </a:r>
            <a:endParaRPr lang="en-US" sz="1100" dirty="0"/>
          </a:p>
        </p:txBody>
      </p:sp>
      <p:sp>
        <p:nvSpPr>
          <p:cNvPr id="49" name="Text 47"/>
          <p:cNvSpPr txBox="1"/>
          <p:nvPr/>
        </p:nvSpPr>
        <p:spPr>
          <a:xfrm>
            <a:off x="8302752"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実際に比べて確かめる</a:t>
            </a:r>
            <a:endParaRPr lang="en-US" sz="1200" dirty="0"/>
          </a:p>
        </p:txBody>
      </p:sp>
      <p:sp>
        <p:nvSpPr>
          <p:cNvPr id="50" name="Text 48"/>
          <p:cNvSpPr txBox="1"/>
          <p:nvPr/>
        </p:nvSpPr>
        <p:spPr>
          <a:xfrm>
            <a:off x="8302752"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検証8パターンで「A・D」と「A・D・A/D」のランダムフォレストを比較（次ページ）。</a:t>
            </a:r>
            <a:endParaRPr lang="en-US" sz="10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08</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検証8パターンで比較した結果、線形補間を採用</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08 / 45</a:t>
            </a:r>
            <a:endParaRPr lang="en-US" sz="1100" dirty="0"/>
          </a:p>
        </p:txBody>
      </p:sp>
      <p:sp>
        <p:nvSpPr>
          <p:cNvPr id="9" name="Text 7"/>
          <p:cNvSpPr txBox="1"/>
          <p:nvPr/>
        </p:nvSpPr>
        <p:spPr>
          <a:xfrm>
            <a:off x="457200" y="1143000"/>
            <a:ext cx="5303520"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検証データ：学習に使っていない8パターン</a:t>
            </a:r>
            <a:endParaRPr lang="en-US" sz="1250" dirty="0"/>
          </a:p>
        </p:txBody>
      </p:sp>
      <p:sp>
        <p:nvSpPr>
          <p:cNvPr id="10" name="Shape 8"/>
          <p:cNvSpPr/>
          <p:nvPr/>
        </p:nvSpPr>
        <p:spPr>
          <a:xfrm>
            <a:off x="1234440" y="1554480"/>
            <a:ext cx="4297680" cy="2926080"/>
          </a:xfrm>
          <a:prstGeom prst="rect">
            <a:avLst/>
          </a:prstGeom>
          <a:solidFill>
            <a:srgbClr val="F3F5F8"/>
          </a:solidFill>
          <a:ln w="12700">
            <a:solidFill>
              <a:srgbClr val="DBE0E6"/>
            </a:solidFill>
            <a:prstDash val="solid"/>
          </a:ln>
        </p:spPr>
        <p:txBody>
          <a:bodyPr/>
          <a:p/>
        </p:txBody>
      </p:sp>
      <p:sp>
        <p:nvSpPr>
          <p:cNvPr id="11" name="Shape 9"/>
          <p:cNvSpPr/>
          <p:nvPr/>
        </p:nvSpPr>
        <p:spPr>
          <a:xfrm>
            <a:off x="1234440" y="1554480"/>
            <a:ext cx="0" cy="2926080"/>
          </a:xfrm>
          <a:prstGeom prst="line">
            <a:avLst/>
          </a:prstGeom>
          <a:noFill/>
          <a:ln w="9525">
            <a:solidFill>
              <a:srgbClr val="DBE0E6"/>
            </a:solidFill>
            <a:prstDash val="dash"/>
          </a:ln>
        </p:spPr>
        <p:txBody>
          <a:bodyPr/>
          <a:p/>
        </p:txBody>
      </p:sp>
      <p:sp>
        <p:nvSpPr>
          <p:cNvPr id="12" name="Text 10"/>
          <p:cNvSpPr txBox="1"/>
          <p:nvPr/>
        </p:nvSpPr>
        <p:spPr>
          <a:xfrm>
            <a:off x="822960"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13" name="Shape 11"/>
          <p:cNvSpPr/>
          <p:nvPr/>
        </p:nvSpPr>
        <p:spPr>
          <a:xfrm>
            <a:off x="2257697" y="1554480"/>
            <a:ext cx="0" cy="2926080"/>
          </a:xfrm>
          <a:prstGeom prst="line">
            <a:avLst/>
          </a:prstGeom>
          <a:noFill/>
          <a:ln w="9525">
            <a:solidFill>
              <a:srgbClr val="DBE0E6"/>
            </a:solidFill>
            <a:prstDash val="dash"/>
          </a:ln>
        </p:spPr>
        <p:txBody>
          <a:bodyPr/>
          <a:p/>
        </p:txBody>
      </p:sp>
      <p:sp>
        <p:nvSpPr>
          <p:cNvPr id="14" name="Text 12"/>
          <p:cNvSpPr txBox="1"/>
          <p:nvPr/>
        </p:nvSpPr>
        <p:spPr>
          <a:xfrm>
            <a:off x="1846217"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15" name="Shape 13"/>
          <p:cNvSpPr/>
          <p:nvPr/>
        </p:nvSpPr>
        <p:spPr>
          <a:xfrm>
            <a:off x="3280954" y="1554480"/>
            <a:ext cx="0" cy="2926080"/>
          </a:xfrm>
          <a:prstGeom prst="line">
            <a:avLst/>
          </a:prstGeom>
          <a:noFill/>
          <a:ln w="9525">
            <a:solidFill>
              <a:srgbClr val="DBE0E6"/>
            </a:solidFill>
            <a:prstDash val="dash"/>
          </a:ln>
        </p:spPr>
        <p:txBody>
          <a:bodyPr/>
          <a:p/>
        </p:txBody>
      </p:sp>
      <p:sp>
        <p:nvSpPr>
          <p:cNvPr id="16" name="Text 14"/>
          <p:cNvSpPr txBox="1"/>
          <p:nvPr/>
        </p:nvSpPr>
        <p:spPr>
          <a:xfrm>
            <a:off x="2869474"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17" name="Shape 15"/>
          <p:cNvSpPr/>
          <p:nvPr/>
        </p:nvSpPr>
        <p:spPr>
          <a:xfrm>
            <a:off x="4304211" y="1554480"/>
            <a:ext cx="0" cy="2926080"/>
          </a:xfrm>
          <a:prstGeom prst="line">
            <a:avLst/>
          </a:prstGeom>
          <a:noFill/>
          <a:ln w="9525">
            <a:solidFill>
              <a:srgbClr val="DBE0E6"/>
            </a:solidFill>
            <a:prstDash val="dash"/>
          </a:ln>
        </p:spPr>
        <p:txBody>
          <a:bodyPr/>
          <a:p/>
        </p:txBody>
      </p:sp>
      <p:sp>
        <p:nvSpPr>
          <p:cNvPr id="18" name="Text 16"/>
          <p:cNvSpPr txBox="1"/>
          <p:nvPr/>
        </p:nvSpPr>
        <p:spPr>
          <a:xfrm>
            <a:off x="3892731"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19" name="Shape 17"/>
          <p:cNvSpPr/>
          <p:nvPr/>
        </p:nvSpPr>
        <p:spPr>
          <a:xfrm>
            <a:off x="5327469" y="1554480"/>
            <a:ext cx="0" cy="2926080"/>
          </a:xfrm>
          <a:prstGeom prst="line">
            <a:avLst/>
          </a:prstGeom>
          <a:noFill/>
          <a:ln w="9525">
            <a:solidFill>
              <a:srgbClr val="DBE0E6"/>
            </a:solidFill>
            <a:prstDash val="dash"/>
          </a:ln>
        </p:spPr>
        <p:txBody>
          <a:bodyPr/>
          <a:p/>
        </p:txBody>
      </p:sp>
      <p:sp>
        <p:nvSpPr>
          <p:cNvPr id="20" name="Text 18"/>
          <p:cNvSpPr txBox="1"/>
          <p:nvPr/>
        </p:nvSpPr>
        <p:spPr>
          <a:xfrm>
            <a:off x="4915989"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21" name="Shape 19"/>
          <p:cNvSpPr/>
          <p:nvPr/>
        </p:nvSpPr>
        <p:spPr>
          <a:xfrm>
            <a:off x="1234440" y="4480560"/>
            <a:ext cx="4297680" cy="0"/>
          </a:xfrm>
          <a:prstGeom prst="line">
            <a:avLst/>
          </a:prstGeom>
          <a:noFill/>
          <a:ln w="9525">
            <a:solidFill>
              <a:srgbClr val="DBE0E6"/>
            </a:solidFill>
            <a:prstDash val="dash"/>
          </a:ln>
        </p:spPr>
        <p:txBody>
          <a:bodyPr/>
          <a:p/>
        </p:txBody>
      </p:sp>
      <p:sp>
        <p:nvSpPr>
          <p:cNvPr id="22" name="Text 20"/>
          <p:cNvSpPr txBox="1"/>
          <p:nvPr/>
        </p:nvSpPr>
        <p:spPr>
          <a:xfrm>
            <a:off x="667512" y="4361688"/>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23" name="Shape 21"/>
          <p:cNvSpPr/>
          <p:nvPr/>
        </p:nvSpPr>
        <p:spPr>
          <a:xfrm>
            <a:off x="1234440" y="3783874"/>
            <a:ext cx="4297680" cy="0"/>
          </a:xfrm>
          <a:prstGeom prst="line">
            <a:avLst/>
          </a:prstGeom>
          <a:noFill/>
          <a:ln w="9525">
            <a:solidFill>
              <a:srgbClr val="DBE0E6"/>
            </a:solidFill>
            <a:prstDash val="dash"/>
          </a:ln>
        </p:spPr>
        <p:txBody>
          <a:bodyPr/>
          <a:p/>
        </p:txBody>
      </p:sp>
      <p:sp>
        <p:nvSpPr>
          <p:cNvPr id="24" name="Text 22"/>
          <p:cNvSpPr txBox="1"/>
          <p:nvPr/>
        </p:nvSpPr>
        <p:spPr>
          <a:xfrm>
            <a:off x="667512" y="366500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25" name="Shape 23"/>
          <p:cNvSpPr/>
          <p:nvPr/>
        </p:nvSpPr>
        <p:spPr>
          <a:xfrm>
            <a:off x="1234440" y="3087189"/>
            <a:ext cx="4297680" cy="0"/>
          </a:xfrm>
          <a:prstGeom prst="line">
            <a:avLst/>
          </a:prstGeom>
          <a:noFill/>
          <a:ln w="9525">
            <a:solidFill>
              <a:srgbClr val="DBE0E6"/>
            </a:solidFill>
            <a:prstDash val="dash"/>
          </a:ln>
        </p:spPr>
        <p:txBody>
          <a:bodyPr/>
          <a:p/>
        </p:txBody>
      </p:sp>
      <p:sp>
        <p:nvSpPr>
          <p:cNvPr id="26" name="Text 24"/>
          <p:cNvSpPr txBox="1"/>
          <p:nvPr/>
        </p:nvSpPr>
        <p:spPr>
          <a:xfrm>
            <a:off x="667512" y="2968317"/>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27" name="Shape 25"/>
          <p:cNvSpPr/>
          <p:nvPr/>
        </p:nvSpPr>
        <p:spPr>
          <a:xfrm>
            <a:off x="1234440" y="2390503"/>
            <a:ext cx="4297680" cy="0"/>
          </a:xfrm>
          <a:prstGeom prst="line">
            <a:avLst/>
          </a:prstGeom>
          <a:noFill/>
          <a:ln w="9525">
            <a:solidFill>
              <a:srgbClr val="DBE0E6"/>
            </a:solidFill>
            <a:prstDash val="dash"/>
          </a:ln>
        </p:spPr>
        <p:txBody>
          <a:bodyPr/>
          <a:p/>
        </p:txBody>
      </p:sp>
      <p:sp>
        <p:nvSpPr>
          <p:cNvPr id="28" name="Text 26"/>
          <p:cNvSpPr txBox="1"/>
          <p:nvPr/>
        </p:nvSpPr>
        <p:spPr>
          <a:xfrm>
            <a:off x="667512" y="2271631"/>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29" name="Shape 27"/>
          <p:cNvSpPr/>
          <p:nvPr/>
        </p:nvSpPr>
        <p:spPr>
          <a:xfrm>
            <a:off x="1234440" y="1693817"/>
            <a:ext cx="4297680" cy="0"/>
          </a:xfrm>
          <a:prstGeom prst="line">
            <a:avLst/>
          </a:prstGeom>
          <a:noFill/>
          <a:ln w="9525">
            <a:solidFill>
              <a:srgbClr val="DBE0E6"/>
            </a:solidFill>
            <a:prstDash val="dash"/>
          </a:ln>
        </p:spPr>
        <p:txBody>
          <a:bodyPr/>
          <a:p/>
        </p:txBody>
      </p:sp>
      <p:sp>
        <p:nvSpPr>
          <p:cNvPr id="30" name="Text 28"/>
          <p:cNvSpPr txBox="1"/>
          <p:nvPr/>
        </p:nvSpPr>
        <p:spPr>
          <a:xfrm>
            <a:off x="667512" y="157494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31" name="Text 29"/>
          <p:cNvSpPr txBox="1"/>
          <p:nvPr/>
        </p:nvSpPr>
        <p:spPr>
          <a:xfrm>
            <a:off x="1234440" y="4754880"/>
            <a:ext cx="429768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32" name="Text 30"/>
          <p:cNvSpPr txBox="1"/>
          <p:nvPr/>
        </p:nvSpPr>
        <p:spPr>
          <a:xfrm rot="16200000">
            <a:off x="-612648" y="2880360"/>
            <a:ext cx="219456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33" name="Shape 31"/>
          <p:cNvSpPr/>
          <p:nvPr/>
        </p:nvSpPr>
        <p:spPr>
          <a:xfrm>
            <a:off x="1579735" y="3719866"/>
            <a:ext cx="128016" cy="128016"/>
          </a:xfrm>
          <a:prstGeom prst="rect">
            <a:avLst/>
          </a:prstGeom>
          <a:solidFill>
            <a:srgbClr val="1B2A44"/>
          </a:solidFill>
          <a:ln w="12700">
            <a:solidFill>
              <a:srgbClr val="FFFFFF"/>
            </a:solidFill>
            <a:prstDash val="solid"/>
          </a:ln>
        </p:spPr>
        <p:txBody>
          <a:bodyPr/>
          <a:p/>
        </p:txBody>
      </p:sp>
      <p:sp>
        <p:nvSpPr>
          <p:cNvPr id="34" name="Shape 32"/>
          <p:cNvSpPr/>
          <p:nvPr/>
        </p:nvSpPr>
        <p:spPr>
          <a:xfrm>
            <a:off x="2193689" y="3719866"/>
            <a:ext cx="128016" cy="128016"/>
          </a:xfrm>
          <a:prstGeom prst="rect">
            <a:avLst/>
          </a:prstGeom>
          <a:solidFill>
            <a:srgbClr val="1B2A44"/>
          </a:solidFill>
          <a:ln w="12700">
            <a:solidFill>
              <a:srgbClr val="FFFFFF"/>
            </a:solidFill>
            <a:prstDash val="solid"/>
          </a:ln>
        </p:spPr>
        <p:txBody>
          <a:bodyPr/>
          <a:p/>
        </p:txBody>
      </p:sp>
      <p:sp>
        <p:nvSpPr>
          <p:cNvPr id="35" name="Shape 33"/>
          <p:cNvSpPr/>
          <p:nvPr/>
        </p:nvSpPr>
        <p:spPr>
          <a:xfrm>
            <a:off x="3216946" y="3719866"/>
            <a:ext cx="128016" cy="128016"/>
          </a:xfrm>
          <a:prstGeom prst="rect">
            <a:avLst/>
          </a:prstGeom>
          <a:solidFill>
            <a:srgbClr val="1B2A44"/>
          </a:solidFill>
          <a:ln w="12700">
            <a:solidFill>
              <a:srgbClr val="FFFFFF"/>
            </a:solidFill>
            <a:prstDash val="solid"/>
          </a:ln>
        </p:spPr>
        <p:txBody>
          <a:bodyPr/>
          <a:p/>
        </p:txBody>
      </p:sp>
      <p:sp>
        <p:nvSpPr>
          <p:cNvPr id="36" name="Shape 34"/>
          <p:cNvSpPr/>
          <p:nvPr/>
        </p:nvSpPr>
        <p:spPr>
          <a:xfrm>
            <a:off x="5263461" y="3719866"/>
            <a:ext cx="128016" cy="128016"/>
          </a:xfrm>
          <a:prstGeom prst="rect">
            <a:avLst/>
          </a:prstGeom>
          <a:solidFill>
            <a:srgbClr val="1B2A44"/>
          </a:solidFill>
          <a:ln w="12700">
            <a:solidFill>
              <a:srgbClr val="FFFFFF"/>
            </a:solidFill>
            <a:prstDash val="solid"/>
          </a:ln>
        </p:spPr>
        <p:txBody>
          <a:bodyPr/>
          <a:p/>
        </p:txBody>
      </p:sp>
      <p:sp>
        <p:nvSpPr>
          <p:cNvPr id="37" name="Shape 35"/>
          <p:cNvSpPr/>
          <p:nvPr/>
        </p:nvSpPr>
        <p:spPr>
          <a:xfrm>
            <a:off x="1579735" y="3023181"/>
            <a:ext cx="128016" cy="128016"/>
          </a:xfrm>
          <a:prstGeom prst="rect">
            <a:avLst/>
          </a:prstGeom>
          <a:solidFill>
            <a:srgbClr val="1B2A44"/>
          </a:solidFill>
          <a:ln w="12700">
            <a:solidFill>
              <a:srgbClr val="FFFFFF"/>
            </a:solidFill>
            <a:prstDash val="solid"/>
          </a:ln>
        </p:spPr>
        <p:txBody>
          <a:bodyPr/>
          <a:p/>
        </p:txBody>
      </p:sp>
      <p:sp>
        <p:nvSpPr>
          <p:cNvPr id="38" name="Shape 36"/>
          <p:cNvSpPr/>
          <p:nvPr/>
        </p:nvSpPr>
        <p:spPr>
          <a:xfrm>
            <a:off x="2193689" y="3023181"/>
            <a:ext cx="128016" cy="128016"/>
          </a:xfrm>
          <a:prstGeom prst="rect">
            <a:avLst/>
          </a:prstGeom>
          <a:solidFill>
            <a:srgbClr val="1B2A44"/>
          </a:solidFill>
          <a:ln w="12700">
            <a:solidFill>
              <a:srgbClr val="FFFFFF"/>
            </a:solidFill>
            <a:prstDash val="solid"/>
          </a:ln>
        </p:spPr>
        <p:txBody>
          <a:bodyPr/>
          <a:p/>
        </p:txBody>
      </p:sp>
      <p:sp>
        <p:nvSpPr>
          <p:cNvPr id="39" name="Shape 37"/>
          <p:cNvSpPr/>
          <p:nvPr/>
        </p:nvSpPr>
        <p:spPr>
          <a:xfrm>
            <a:off x="3216946" y="3023181"/>
            <a:ext cx="128016" cy="128016"/>
          </a:xfrm>
          <a:prstGeom prst="rect">
            <a:avLst/>
          </a:prstGeom>
          <a:solidFill>
            <a:srgbClr val="1B2A44"/>
          </a:solidFill>
          <a:ln w="12700">
            <a:solidFill>
              <a:srgbClr val="FFFFFF"/>
            </a:solidFill>
            <a:prstDash val="solid"/>
          </a:ln>
        </p:spPr>
        <p:txBody>
          <a:bodyPr/>
          <a:p/>
        </p:txBody>
      </p:sp>
      <p:sp>
        <p:nvSpPr>
          <p:cNvPr id="40" name="Shape 38"/>
          <p:cNvSpPr/>
          <p:nvPr/>
        </p:nvSpPr>
        <p:spPr>
          <a:xfrm>
            <a:off x="5263461" y="3023181"/>
            <a:ext cx="128016" cy="128016"/>
          </a:xfrm>
          <a:prstGeom prst="rect">
            <a:avLst/>
          </a:prstGeom>
          <a:solidFill>
            <a:srgbClr val="1B2A44"/>
          </a:solidFill>
          <a:ln w="12700">
            <a:solidFill>
              <a:srgbClr val="FFFFFF"/>
            </a:solidFill>
            <a:prstDash val="solid"/>
          </a:ln>
        </p:spPr>
        <p:txBody>
          <a:bodyPr/>
          <a:p/>
        </p:txBody>
      </p:sp>
      <p:sp>
        <p:nvSpPr>
          <p:cNvPr id="41" name="Shape 39"/>
          <p:cNvSpPr/>
          <p:nvPr/>
        </p:nvSpPr>
        <p:spPr>
          <a:xfrm>
            <a:off x="1579735" y="2326495"/>
            <a:ext cx="128016" cy="128016"/>
          </a:xfrm>
          <a:prstGeom prst="rect">
            <a:avLst/>
          </a:prstGeom>
          <a:solidFill>
            <a:srgbClr val="1B2A44"/>
          </a:solidFill>
          <a:ln w="12700">
            <a:solidFill>
              <a:srgbClr val="FFFFFF"/>
            </a:solidFill>
            <a:prstDash val="solid"/>
          </a:ln>
        </p:spPr>
        <p:txBody>
          <a:bodyPr/>
          <a:p/>
        </p:txBody>
      </p:sp>
      <p:sp>
        <p:nvSpPr>
          <p:cNvPr id="42" name="Shape 40"/>
          <p:cNvSpPr/>
          <p:nvPr/>
        </p:nvSpPr>
        <p:spPr>
          <a:xfrm>
            <a:off x="2193689" y="2326495"/>
            <a:ext cx="128016" cy="128016"/>
          </a:xfrm>
          <a:prstGeom prst="rect">
            <a:avLst/>
          </a:prstGeom>
          <a:solidFill>
            <a:srgbClr val="1B2A44"/>
          </a:solidFill>
          <a:ln w="12700">
            <a:solidFill>
              <a:srgbClr val="FFFFFF"/>
            </a:solidFill>
            <a:prstDash val="solid"/>
          </a:ln>
        </p:spPr>
        <p:txBody>
          <a:bodyPr/>
          <a:p/>
        </p:txBody>
      </p:sp>
      <p:sp>
        <p:nvSpPr>
          <p:cNvPr id="43" name="Shape 41"/>
          <p:cNvSpPr/>
          <p:nvPr/>
        </p:nvSpPr>
        <p:spPr>
          <a:xfrm>
            <a:off x="3216946" y="2326495"/>
            <a:ext cx="128016" cy="128016"/>
          </a:xfrm>
          <a:prstGeom prst="rect">
            <a:avLst/>
          </a:prstGeom>
          <a:solidFill>
            <a:srgbClr val="1B2A44"/>
          </a:solidFill>
          <a:ln w="12700">
            <a:solidFill>
              <a:srgbClr val="FFFFFF"/>
            </a:solidFill>
            <a:prstDash val="solid"/>
          </a:ln>
        </p:spPr>
        <p:txBody>
          <a:bodyPr/>
          <a:p/>
        </p:txBody>
      </p:sp>
      <p:sp>
        <p:nvSpPr>
          <p:cNvPr id="44" name="Shape 42"/>
          <p:cNvSpPr/>
          <p:nvPr/>
        </p:nvSpPr>
        <p:spPr>
          <a:xfrm>
            <a:off x="5263461" y="2326495"/>
            <a:ext cx="128016" cy="128016"/>
          </a:xfrm>
          <a:prstGeom prst="rect">
            <a:avLst/>
          </a:prstGeom>
          <a:solidFill>
            <a:srgbClr val="1B2A44"/>
          </a:solidFill>
          <a:ln w="12700">
            <a:solidFill>
              <a:srgbClr val="FFFFFF"/>
            </a:solidFill>
            <a:prstDash val="solid"/>
          </a:ln>
        </p:spPr>
        <p:txBody>
          <a:bodyPr/>
          <a:p/>
        </p:txBody>
      </p:sp>
      <p:sp>
        <p:nvSpPr>
          <p:cNvPr id="45" name="Shape 43"/>
          <p:cNvSpPr/>
          <p:nvPr/>
        </p:nvSpPr>
        <p:spPr>
          <a:xfrm>
            <a:off x="1579735" y="1629809"/>
            <a:ext cx="128016" cy="128016"/>
          </a:xfrm>
          <a:prstGeom prst="rect">
            <a:avLst/>
          </a:prstGeom>
          <a:solidFill>
            <a:srgbClr val="1B2A44"/>
          </a:solidFill>
          <a:ln w="12700">
            <a:solidFill>
              <a:srgbClr val="FFFFFF"/>
            </a:solidFill>
            <a:prstDash val="solid"/>
          </a:ln>
        </p:spPr>
        <p:txBody>
          <a:bodyPr/>
          <a:p/>
        </p:txBody>
      </p:sp>
      <p:sp>
        <p:nvSpPr>
          <p:cNvPr id="46" name="Shape 44"/>
          <p:cNvSpPr/>
          <p:nvPr/>
        </p:nvSpPr>
        <p:spPr>
          <a:xfrm>
            <a:off x="2193689" y="1629809"/>
            <a:ext cx="128016" cy="128016"/>
          </a:xfrm>
          <a:prstGeom prst="rect">
            <a:avLst/>
          </a:prstGeom>
          <a:solidFill>
            <a:srgbClr val="1B2A44"/>
          </a:solidFill>
          <a:ln w="12700">
            <a:solidFill>
              <a:srgbClr val="FFFFFF"/>
            </a:solidFill>
            <a:prstDash val="solid"/>
          </a:ln>
        </p:spPr>
        <p:txBody>
          <a:bodyPr/>
          <a:p/>
        </p:txBody>
      </p:sp>
      <p:sp>
        <p:nvSpPr>
          <p:cNvPr id="47" name="Shape 45"/>
          <p:cNvSpPr/>
          <p:nvPr/>
        </p:nvSpPr>
        <p:spPr>
          <a:xfrm>
            <a:off x="3216946" y="1629809"/>
            <a:ext cx="128016" cy="128016"/>
          </a:xfrm>
          <a:prstGeom prst="rect">
            <a:avLst/>
          </a:prstGeom>
          <a:solidFill>
            <a:srgbClr val="1B2A44"/>
          </a:solidFill>
          <a:ln w="12700">
            <a:solidFill>
              <a:srgbClr val="FFFFFF"/>
            </a:solidFill>
            <a:prstDash val="solid"/>
          </a:ln>
        </p:spPr>
        <p:txBody>
          <a:bodyPr/>
          <a:p/>
        </p:txBody>
      </p:sp>
      <p:sp>
        <p:nvSpPr>
          <p:cNvPr id="48" name="Shape 46"/>
          <p:cNvSpPr/>
          <p:nvPr/>
        </p:nvSpPr>
        <p:spPr>
          <a:xfrm>
            <a:off x="5263461" y="1629809"/>
            <a:ext cx="128016" cy="128016"/>
          </a:xfrm>
          <a:prstGeom prst="rect">
            <a:avLst/>
          </a:prstGeom>
          <a:solidFill>
            <a:srgbClr val="1B2A44"/>
          </a:solidFill>
          <a:ln w="12700">
            <a:solidFill>
              <a:srgbClr val="FFFFFF"/>
            </a:solidFill>
            <a:prstDash val="solid"/>
          </a:ln>
        </p:spPr>
        <p:txBody>
          <a:bodyPr/>
          <a:p/>
        </p:txBody>
      </p:sp>
      <p:sp>
        <p:nvSpPr>
          <p:cNvPr id="49" name="Shape 47"/>
          <p:cNvSpPr/>
          <p:nvPr/>
        </p:nvSpPr>
        <p:spPr>
          <a:xfrm>
            <a:off x="1766098" y="3422904"/>
            <a:ext cx="164592" cy="164592"/>
          </a:xfrm>
          <a:prstGeom prst="ellipse">
            <a:avLst/>
          </a:prstGeom>
          <a:solidFill>
            <a:srgbClr val="E8934D"/>
          </a:solidFill>
          <a:ln w="12700">
            <a:solidFill>
              <a:srgbClr val="FFFFFF"/>
            </a:solidFill>
            <a:prstDash val="solid"/>
          </a:ln>
        </p:spPr>
        <p:txBody>
          <a:bodyPr/>
          <a:p/>
        </p:txBody>
      </p:sp>
      <p:sp>
        <p:nvSpPr>
          <p:cNvPr id="50" name="Shape 48"/>
          <p:cNvSpPr/>
          <p:nvPr/>
        </p:nvSpPr>
        <p:spPr>
          <a:xfrm>
            <a:off x="4017264" y="3422904"/>
            <a:ext cx="164592" cy="164592"/>
          </a:xfrm>
          <a:prstGeom prst="ellipse">
            <a:avLst/>
          </a:prstGeom>
          <a:solidFill>
            <a:srgbClr val="E8934D"/>
          </a:solidFill>
          <a:ln w="12700">
            <a:solidFill>
              <a:srgbClr val="FFFFFF"/>
            </a:solidFill>
            <a:prstDash val="solid"/>
          </a:ln>
        </p:spPr>
        <p:txBody>
          <a:bodyPr/>
          <a:p/>
        </p:txBody>
      </p:sp>
      <p:sp>
        <p:nvSpPr>
          <p:cNvPr id="51" name="Shape 49"/>
          <p:cNvSpPr/>
          <p:nvPr/>
        </p:nvSpPr>
        <p:spPr>
          <a:xfrm>
            <a:off x="2584704" y="3144230"/>
            <a:ext cx="164592" cy="164592"/>
          </a:xfrm>
          <a:prstGeom prst="ellipse">
            <a:avLst/>
          </a:prstGeom>
          <a:solidFill>
            <a:srgbClr val="E8934D"/>
          </a:solidFill>
          <a:ln w="12700">
            <a:solidFill>
              <a:srgbClr val="FFFFFF"/>
            </a:solidFill>
            <a:prstDash val="solid"/>
          </a:ln>
        </p:spPr>
        <p:txBody>
          <a:bodyPr/>
          <a:p/>
        </p:txBody>
      </p:sp>
      <p:sp>
        <p:nvSpPr>
          <p:cNvPr id="52" name="Shape 50"/>
          <p:cNvSpPr/>
          <p:nvPr/>
        </p:nvSpPr>
        <p:spPr>
          <a:xfrm>
            <a:off x="1766098" y="2726218"/>
            <a:ext cx="164592" cy="164592"/>
          </a:xfrm>
          <a:prstGeom prst="ellipse">
            <a:avLst/>
          </a:prstGeom>
          <a:solidFill>
            <a:srgbClr val="E8934D"/>
          </a:solidFill>
          <a:ln w="12700">
            <a:solidFill>
              <a:srgbClr val="FFFFFF"/>
            </a:solidFill>
            <a:prstDash val="solid"/>
          </a:ln>
        </p:spPr>
        <p:txBody>
          <a:bodyPr/>
          <a:p/>
        </p:txBody>
      </p:sp>
      <p:sp>
        <p:nvSpPr>
          <p:cNvPr id="53" name="Shape 51"/>
          <p:cNvSpPr/>
          <p:nvPr/>
        </p:nvSpPr>
        <p:spPr>
          <a:xfrm>
            <a:off x="4017264" y="2726218"/>
            <a:ext cx="164592" cy="164592"/>
          </a:xfrm>
          <a:prstGeom prst="ellipse">
            <a:avLst/>
          </a:prstGeom>
          <a:solidFill>
            <a:srgbClr val="E8934D"/>
          </a:solidFill>
          <a:ln w="12700">
            <a:solidFill>
              <a:srgbClr val="FFFFFF"/>
            </a:solidFill>
            <a:prstDash val="solid"/>
          </a:ln>
        </p:spPr>
        <p:txBody>
          <a:bodyPr/>
          <a:p/>
        </p:txBody>
      </p:sp>
      <p:sp>
        <p:nvSpPr>
          <p:cNvPr id="54" name="Shape 52"/>
          <p:cNvSpPr/>
          <p:nvPr/>
        </p:nvSpPr>
        <p:spPr>
          <a:xfrm>
            <a:off x="2584704" y="2029533"/>
            <a:ext cx="164592" cy="164592"/>
          </a:xfrm>
          <a:prstGeom prst="ellipse">
            <a:avLst/>
          </a:prstGeom>
          <a:solidFill>
            <a:srgbClr val="E8934D"/>
          </a:solidFill>
          <a:ln w="12700">
            <a:solidFill>
              <a:srgbClr val="FFFFFF"/>
            </a:solidFill>
            <a:prstDash val="solid"/>
          </a:ln>
        </p:spPr>
        <p:txBody>
          <a:bodyPr/>
          <a:p/>
        </p:txBody>
      </p:sp>
      <p:sp>
        <p:nvSpPr>
          <p:cNvPr id="55" name="Shape 53"/>
          <p:cNvSpPr/>
          <p:nvPr/>
        </p:nvSpPr>
        <p:spPr>
          <a:xfrm>
            <a:off x="1766098" y="1890195"/>
            <a:ext cx="164592" cy="164592"/>
          </a:xfrm>
          <a:prstGeom prst="ellipse">
            <a:avLst/>
          </a:prstGeom>
          <a:solidFill>
            <a:srgbClr val="E8934D"/>
          </a:solidFill>
          <a:ln w="12700">
            <a:solidFill>
              <a:srgbClr val="FFFFFF"/>
            </a:solidFill>
            <a:prstDash val="solid"/>
          </a:ln>
        </p:spPr>
        <p:txBody>
          <a:bodyPr/>
          <a:p/>
        </p:txBody>
      </p:sp>
      <p:sp>
        <p:nvSpPr>
          <p:cNvPr id="56" name="Shape 54"/>
          <p:cNvSpPr/>
          <p:nvPr/>
        </p:nvSpPr>
        <p:spPr>
          <a:xfrm>
            <a:off x="4631218" y="1890195"/>
            <a:ext cx="164592" cy="164592"/>
          </a:xfrm>
          <a:prstGeom prst="ellipse">
            <a:avLst/>
          </a:prstGeom>
          <a:solidFill>
            <a:srgbClr val="E8934D"/>
          </a:solidFill>
          <a:ln w="12700">
            <a:solidFill>
              <a:srgbClr val="FFFFFF"/>
            </a:solidFill>
            <a:prstDash val="solid"/>
          </a:ln>
        </p:spPr>
        <p:txBody>
          <a:bodyPr/>
          <a:p/>
        </p:txBody>
      </p:sp>
      <p:sp>
        <p:nvSpPr>
          <p:cNvPr id="57" name="Shape 55"/>
          <p:cNvSpPr/>
          <p:nvPr/>
        </p:nvSpPr>
        <p:spPr>
          <a:xfrm>
            <a:off x="1234440" y="5166360"/>
            <a:ext cx="146304" cy="146304"/>
          </a:xfrm>
          <a:prstGeom prst="rect">
            <a:avLst/>
          </a:prstGeom>
          <a:solidFill>
            <a:srgbClr val="1B2A44"/>
          </a:solidFill>
          <a:ln/>
        </p:spPr>
        <p:txBody>
          <a:bodyPr/>
          <a:p/>
        </p:txBody>
      </p:sp>
      <p:sp>
        <p:nvSpPr>
          <p:cNvPr id="58" name="Text 56"/>
          <p:cNvSpPr txBox="1"/>
          <p:nvPr/>
        </p:nvSpPr>
        <p:spPr>
          <a:xfrm>
            <a:off x="1453896"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学習16点</a:t>
            </a:r>
            <a:endParaRPr lang="en-US" sz="1050" dirty="0"/>
          </a:p>
        </p:txBody>
      </p:sp>
      <p:sp>
        <p:nvSpPr>
          <p:cNvPr id="59" name="Shape 57"/>
          <p:cNvSpPr/>
          <p:nvPr/>
        </p:nvSpPr>
        <p:spPr>
          <a:xfrm>
            <a:off x="2505456" y="5166360"/>
            <a:ext cx="146304" cy="146304"/>
          </a:xfrm>
          <a:prstGeom prst="ellipse">
            <a:avLst/>
          </a:prstGeom>
          <a:solidFill>
            <a:srgbClr val="E8934D"/>
          </a:solidFill>
          <a:ln/>
        </p:spPr>
        <p:txBody>
          <a:bodyPr/>
          <a:p/>
        </p:txBody>
      </p:sp>
      <p:sp>
        <p:nvSpPr>
          <p:cNvPr id="60" name="Text 58"/>
          <p:cNvSpPr txBox="1"/>
          <p:nvPr/>
        </p:nvSpPr>
        <p:spPr>
          <a:xfrm>
            <a:off x="2724912"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検証8点</a:t>
            </a:r>
            <a:endParaRPr lang="en-US" sz="1050" dirty="0"/>
          </a:p>
        </p:txBody>
      </p:sp>
      <p:sp>
        <p:nvSpPr>
          <p:cNvPr id="61" name="Text 59"/>
          <p:cNvSpPr txBox="1"/>
          <p:nvPr/>
        </p:nvSpPr>
        <p:spPr>
          <a:xfrm>
            <a:off x="457200" y="5486400"/>
            <a:ext cx="5303520" cy="777240"/>
          </a:xfrm>
          <a:prstGeom prst="rect">
            <a:avLst/>
          </a:prstGeom>
          <a:noFill/>
          <a:ln/>
        </p:spPr>
        <p:txBody>
          <a:bodyPr wrap="square" rtlCol="0" anchor="t"/>
          <a:lstStyle/>
          <a:p>
            <a:pPr marL="0" indent="0">
              <a:buNone/>
            </a:pPr>
            <a:r>
              <a:rPr lang="en-US" sz="980" dirty="0">
                <a:solidFill>
                  <a:srgbClr val="6B7480"/>
                </a:solidFill>
                <a:latin typeface="Yu Gothic" pitchFamily="34" charset="0"/>
                <a:ea typeface="Yu Gothic" pitchFamily="34" charset="-122"/>
                <a:cs typeface="Yu Gothic" pitchFamily="34" charset="-120"/>
              </a:rPr>
              <a:t>（A, D）＝ (35,15) (35,70) (45,35) (60,15) (60,70) (85,35) (90,15) (90,85)</a:t>
            </a:r>
            <a:endParaRPr lang="en-US" sz="980" dirty="0"/>
          </a:p>
          <a:p>
            <a:pPr marL="0" indent="0">
              <a:buNone/>
            </a:pPr>
            <a:r>
              <a:rPr lang="en-US" sz="980" dirty="0">
                <a:solidFill>
                  <a:srgbClr val="6B7480"/>
                </a:solidFill>
                <a:latin typeface="Yu Gothic" pitchFamily="34" charset="0"/>
                <a:ea typeface="Yu Gothic" pitchFamily="34" charset="-122"/>
                <a:cs typeface="Yu Gothic" pitchFamily="34" charset="-120"/>
              </a:rPr>
              <a:t>すべて学習範囲の内側で、学習16点とは異なる中間の条件。</a:t>
            </a:r>
            <a:endParaRPr lang="en-US" sz="98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89320" y="1188720"/>
          <a:ext cx="5742432" cy="914400"/>
        </p:xfrm>
        <a:graphic>
          <a:graphicData uri="http://schemas.openxmlformats.org/drawingml/2006/table">
            <a:tbl>
              <a:tblPr/>
              <a:tblGrid>
                <a:gridCol w="23317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tblGrid>
              <a:tr h="310896">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手法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平均誤差率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判定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線形補間</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19.99</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2.67%</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050" b="1" dirty="0">
                          <a:solidFill>
                            <a:srgbClr val="4C8C6B"/>
                          </a:solidFill>
                          <a:latin typeface="Yu Gothic" pitchFamily="34" charset="0"/>
                          <a:ea typeface="Yu Gothic" pitchFamily="34" charset="-122"/>
                          <a:cs typeface="Yu Gothic" pitchFamily="34" charset="-120"/>
                        </a:rPr>
                        <a:t>✓ 採用</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50.94</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7.33%</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ランダムフォレスト＋比率</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 A/D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27.52</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4.30%</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63" name="Chart 0"/>
          <p:cNvGraphicFramePr/>
          <p:nvPr/>
        </p:nvGraphicFramePr>
        <p:xfrm>
          <a:off x="5989320" y="3063240"/>
          <a:ext cx="278892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4" name="Chart 1"/>
          <p:cNvGraphicFramePr/>
          <p:nvPr/>
        </p:nvGraphicFramePr>
        <p:xfrm>
          <a:off x="8942832" y="3063240"/>
          <a:ext cx="2788920" cy="2011680"/>
        </p:xfrm>
        <a:graphic>
          <a:graphicData uri="http://schemas.openxmlformats.org/drawingml/2006/chart">
            <c:chart xmlns:c="http://schemas.openxmlformats.org/drawingml/2006/chart" xmlns:r="http://schemas.openxmlformats.org/officeDocument/2006/relationships" r:id="rId4"/>
          </a:graphicData>
        </a:graphic>
      </p:graphicFrame>
      <p:sp>
        <p:nvSpPr>
          <p:cNvPr id="65" name="Shape 60"/>
          <p:cNvSpPr/>
          <p:nvPr/>
        </p:nvSpPr>
        <p:spPr>
          <a:xfrm>
            <a:off x="5989320" y="5212080"/>
            <a:ext cx="5742432" cy="1097280"/>
          </a:xfrm>
          <a:prstGeom prst="roundRect">
            <a:avLst>
              <a:gd name="adj" fmla="val 5000"/>
            </a:avLst>
          </a:prstGeom>
          <a:solidFill>
            <a:srgbClr val="F3F5F8"/>
          </a:solidFill>
          <a:ln w="12700">
            <a:solidFill>
              <a:srgbClr val="DBE0E6"/>
            </a:solidFill>
            <a:prstDash val="solid"/>
          </a:ln>
        </p:spPr>
        <p:txBody>
          <a:bodyPr/>
          <a:p/>
        </p:txBody>
      </p:sp>
      <p:sp>
        <p:nvSpPr>
          <p:cNvPr id="66" name="Text 61"/>
          <p:cNvSpPr txBox="1"/>
          <p:nvPr/>
        </p:nvSpPr>
        <p:spPr>
          <a:xfrm>
            <a:off x="6172200" y="5285232"/>
            <a:ext cx="53766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の効果</a:t>
            </a:r>
            <a:endParaRPr lang="en-US" sz="1200" dirty="0"/>
          </a:p>
        </p:txBody>
      </p:sp>
      <p:sp>
        <p:nvSpPr>
          <p:cNvPr id="67" name="Text 62"/>
          <p:cNvSpPr txBox="1"/>
          <p:nvPr/>
        </p:nvSpPr>
        <p:spPr>
          <a:xfrm>
            <a:off x="6172200" y="5577840"/>
            <a:ext cx="5376672" cy="676656"/>
          </a:xfrm>
          <a:prstGeom prst="rect">
            <a:avLst/>
          </a:prstGeom>
          <a:noFill/>
          <a:ln/>
        </p:spPr>
        <p:txBody>
          <a:bodyPr wrap="square" rtlCol="0" anchor="t"/>
          <a:lstStyle/>
          <a:p>
            <a:pPr marL="0" indent="0">
              <a:lnSpc>
                <a:spcPct val="108000"/>
              </a:lnSpc>
              <a:buNone/>
            </a:pPr>
            <a:r>
              <a:rPr lang="en-US" sz="980" dirty="0">
                <a:solidFill>
                  <a:srgbClr val="333F4E"/>
                </a:solidFill>
                <a:latin typeface="Yu Gothic" pitchFamily="34" charset="0"/>
                <a:ea typeface="Yu Gothic" pitchFamily="34" charset="-122"/>
                <a:cs typeface="Yu Gothic" pitchFamily="34" charset="-120"/>
              </a:rPr>
              <a:t>A/D を加えるとRFのMAEは約46%改善（50.94→27.52）したが、線形補間には届かなかった。比率ありRFの最大誤差は A=85m・D=35m（SEBE 679.85 → 予測 786.68、差106.83 kWh/m²）。</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09</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採用した線形補間のしくみ：近くの4配置の値から間を埋める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09 / 45</a:t>
            </a:r>
            <a:endParaRPr lang="en-US" sz="1100" dirty="0"/>
          </a:p>
        </p:txBody>
      </p:sp>
      <p:sp>
        <p:nvSpPr>
          <p:cNvPr id="9" name="Shape 7"/>
          <p:cNvSpPr/>
          <p:nvPr/>
        </p:nvSpPr>
        <p:spPr>
          <a:xfrm>
            <a:off x="457200" y="1188720"/>
            <a:ext cx="5669280" cy="5120640"/>
          </a:xfrm>
          <a:prstGeom prst="roundRect">
            <a:avLst>
              <a:gd name="adj" fmla="val 1071"/>
            </a:avLst>
          </a:prstGeom>
          <a:solidFill>
            <a:srgbClr val="F3F5F8"/>
          </a:solidFill>
          <a:ln w="12700">
            <a:solidFill>
              <a:srgbClr val="DBE0E6"/>
            </a:solidFill>
            <a:prstDash val="solid"/>
          </a:ln>
        </p:spPr>
        <p:txBody>
          <a:bodyPr/>
          <a:p/>
        </p:txBody>
      </p:sp>
      <p:sp>
        <p:nvSpPr>
          <p:cNvPr id="10" name="Text 8"/>
          <p:cNvSpPr txBox="1"/>
          <p:nvPr/>
        </p:nvSpPr>
        <p:spPr>
          <a:xfrm>
            <a:off x="640080" y="1261872"/>
            <a:ext cx="5303520" cy="274320"/>
          </a:xfrm>
          <a:prstGeom prst="rect">
            <a:avLst/>
          </a:prstGeom>
          <a:noFill/>
          <a:ln/>
        </p:spPr>
        <p:txBody>
          <a:bodyPr wrap="square" rtlCol="0" anchor="t"/>
          <a:lstStyle/>
          <a:p>
            <a:pPr marL="0" indent="0">
              <a:buNone/>
            </a:pPr>
            <a:r>
              <a:rPr lang="en-US" sz="1150" b="1" dirty="0">
                <a:solidFill>
                  <a:srgbClr val="1B2A44"/>
                </a:solidFill>
                <a:latin typeface="Yu Gothic" pitchFamily="34" charset="0"/>
                <a:ea typeface="Yu Gothic" pitchFamily="34" charset="-122"/>
                <a:cs typeface="Yu Gothic" pitchFamily="34" charset="-120"/>
              </a:rPr>
              <a:t>保存してある16配置（格子点）と、入力した条件の例</a:t>
            </a:r>
            <a:endParaRPr lang="en-US" sz="1150" dirty="0"/>
          </a:p>
        </p:txBody>
      </p:sp>
      <p:sp>
        <p:nvSpPr>
          <p:cNvPr id="11" name="Shape 9"/>
          <p:cNvSpPr/>
          <p:nvPr/>
        </p:nvSpPr>
        <p:spPr>
          <a:xfrm>
            <a:off x="1325880" y="1783080"/>
            <a:ext cx="4526280" cy="3611880"/>
          </a:xfrm>
          <a:prstGeom prst="rect">
            <a:avLst/>
          </a:prstGeom>
          <a:solidFill>
            <a:srgbClr val="FFFFFF"/>
          </a:solidFill>
          <a:ln w="12700">
            <a:solidFill>
              <a:srgbClr val="DBE0E6"/>
            </a:solidFill>
            <a:prstDash val="solid"/>
          </a:ln>
        </p:spPr>
        <p:txBody>
          <a:bodyPr/>
          <a:p/>
        </p:txBody>
      </p:sp>
      <p:sp>
        <p:nvSpPr>
          <p:cNvPr id="12" name="Shape 10"/>
          <p:cNvSpPr/>
          <p:nvPr/>
        </p:nvSpPr>
        <p:spPr>
          <a:xfrm>
            <a:off x="1756954" y="1783080"/>
            <a:ext cx="0" cy="3611880"/>
          </a:xfrm>
          <a:prstGeom prst="line">
            <a:avLst/>
          </a:prstGeom>
          <a:noFill/>
          <a:ln w="12700">
            <a:solidFill>
              <a:srgbClr val="DBE0E6"/>
            </a:solidFill>
            <a:prstDash val="dash"/>
          </a:ln>
        </p:spPr>
        <p:txBody>
          <a:bodyPr/>
          <a:p/>
        </p:txBody>
      </p:sp>
      <p:sp>
        <p:nvSpPr>
          <p:cNvPr id="13" name="Text 11"/>
          <p:cNvSpPr txBox="1"/>
          <p:nvPr/>
        </p:nvSpPr>
        <p:spPr>
          <a:xfrm>
            <a:off x="1482634"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14" name="Shape 12"/>
          <p:cNvSpPr/>
          <p:nvPr/>
        </p:nvSpPr>
        <p:spPr>
          <a:xfrm>
            <a:off x="2403566" y="1783080"/>
            <a:ext cx="0" cy="3611880"/>
          </a:xfrm>
          <a:prstGeom prst="line">
            <a:avLst/>
          </a:prstGeom>
          <a:noFill/>
          <a:ln w="12700">
            <a:solidFill>
              <a:srgbClr val="DBE0E6"/>
            </a:solidFill>
            <a:prstDash val="dash"/>
          </a:ln>
        </p:spPr>
        <p:txBody>
          <a:bodyPr/>
          <a:p/>
        </p:txBody>
      </p:sp>
      <p:sp>
        <p:nvSpPr>
          <p:cNvPr id="15" name="Text 13"/>
          <p:cNvSpPr txBox="1"/>
          <p:nvPr/>
        </p:nvSpPr>
        <p:spPr>
          <a:xfrm>
            <a:off x="2129246"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16" name="Shape 14"/>
          <p:cNvSpPr/>
          <p:nvPr/>
        </p:nvSpPr>
        <p:spPr>
          <a:xfrm>
            <a:off x="3481251" y="1783080"/>
            <a:ext cx="0" cy="3611880"/>
          </a:xfrm>
          <a:prstGeom prst="line">
            <a:avLst/>
          </a:prstGeom>
          <a:noFill/>
          <a:ln w="12700">
            <a:solidFill>
              <a:srgbClr val="DBE0E6"/>
            </a:solidFill>
            <a:prstDash val="dash"/>
          </a:ln>
        </p:spPr>
        <p:txBody>
          <a:bodyPr/>
          <a:p/>
        </p:txBody>
      </p:sp>
      <p:sp>
        <p:nvSpPr>
          <p:cNvPr id="17" name="Text 15"/>
          <p:cNvSpPr txBox="1"/>
          <p:nvPr/>
        </p:nvSpPr>
        <p:spPr>
          <a:xfrm>
            <a:off x="3206931"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18" name="Shape 16"/>
          <p:cNvSpPr/>
          <p:nvPr/>
        </p:nvSpPr>
        <p:spPr>
          <a:xfrm>
            <a:off x="5636623" y="1783080"/>
            <a:ext cx="0" cy="3611880"/>
          </a:xfrm>
          <a:prstGeom prst="line">
            <a:avLst/>
          </a:prstGeom>
          <a:noFill/>
          <a:ln w="12700">
            <a:solidFill>
              <a:srgbClr val="DBE0E6"/>
            </a:solidFill>
            <a:prstDash val="dash"/>
          </a:ln>
        </p:spPr>
        <p:txBody>
          <a:bodyPr/>
          <a:p/>
        </p:txBody>
      </p:sp>
      <p:sp>
        <p:nvSpPr>
          <p:cNvPr id="19" name="Text 17"/>
          <p:cNvSpPr txBox="1"/>
          <p:nvPr/>
        </p:nvSpPr>
        <p:spPr>
          <a:xfrm>
            <a:off x="5362303"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0" name="Shape 18"/>
          <p:cNvSpPr/>
          <p:nvPr/>
        </p:nvSpPr>
        <p:spPr>
          <a:xfrm>
            <a:off x="1325880" y="4993640"/>
            <a:ext cx="4526280" cy="0"/>
          </a:xfrm>
          <a:prstGeom prst="line">
            <a:avLst/>
          </a:prstGeom>
          <a:noFill/>
          <a:ln w="12700">
            <a:solidFill>
              <a:srgbClr val="DBE0E6"/>
            </a:solidFill>
            <a:prstDash val="dash"/>
          </a:ln>
        </p:spPr>
        <p:txBody>
          <a:bodyPr/>
          <a:p/>
        </p:txBody>
      </p:sp>
      <p:sp>
        <p:nvSpPr>
          <p:cNvPr id="21" name="Text 19"/>
          <p:cNvSpPr txBox="1"/>
          <p:nvPr/>
        </p:nvSpPr>
        <p:spPr>
          <a:xfrm>
            <a:off x="868680" y="48839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22" name="Shape 20"/>
          <p:cNvSpPr/>
          <p:nvPr/>
        </p:nvSpPr>
        <p:spPr>
          <a:xfrm>
            <a:off x="1325880" y="3990340"/>
            <a:ext cx="4526280" cy="0"/>
          </a:xfrm>
          <a:prstGeom prst="line">
            <a:avLst/>
          </a:prstGeom>
          <a:noFill/>
          <a:ln w="12700">
            <a:solidFill>
              <a:srgbClr val="DBE0E6"/>
            </a:solidFill>
            <a:prstDash val="dash"/>
          </a:ln>
        </p:spPr>
        <p:txBody>
          <a:bodyPr/>
          <a:p/>
        </p:txBody>
      </p:sp>
      <p:sp>
        <p:nvSpPr>
          <p:cNvPr id="23" name="Text 21"/>
          <p:cNvSpPr txBox="1"/>
          <p:nvPr/>
        </p:nvSpPr>
        <p:spPr>
          <a:xfrm>
            <a:off x="868680" y="38806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24" name="Shape 22"/>
          <p:cNvSpPr/>
          <p:nvPr/>
        </p:nvSpPr>
        <p:spPr>
          <a:xfrm>
            <a:off x="1325880" y="2987040"/>
            <a:ext cx="4526280" cy="0"/>
          </a:xfrm>
          <a:prstGeom prst="line">
            <a:avLst/>
          </a:prstGeom>
          <a:noFill/>
          <a:ln w="12700">
            <a:solidFill>
              <a:srgbClr val="DBE0E6"/>
            </a:solidFill>
            <a:prstDash val="dash"/>
          </a:ln>
        </p:spPr>
        <p:txBody>
          <a:bodyPr/>
          <a:p/>
        </p:txBody>
      </p:sp>
      <p:sp>
        <p:nvSpPr>
          <p:cNvPr id="25" name="Text 23"/>
          <p:cNvSpPr txBox="1"/>
          <p:nvPr/>
        </p:nvSpPr>
        <p:spPr>
          <a:xfrm>
            <a:off x="868680" y="28773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75</a:t>
            </a:r>
            <a:endParaRPr lang="en-US" sz="950" dirty="0"/>
          </a:p>
        </p:txBody>
      </p:sp>
      <p:sp>
        <p:nvSpPr>
          <p:cNvPr id="26" name="Shape 24"/>
          <p:cNvSpPr/>
          <p:nvPr/>
        </p:nvSpPr>
        <p:spPr>
          <a:xfrm>
            <a:off x="1325880" y="1983740"/>
            <a:ext cx="4526280" cy="0"/>
          </a:xfrm>
          <a:prstGeom prst="line">
            <a:avLst/>
          </a:prstGeom>
          <a:noFill/>
          <a:ln w="12700">
            <a:solidFill>
              <a:srgbClr val="DBE0E6"/>
            </a:solidFill>
            <a:prstDash val="dash"/>
          </a:ln>
        </p:spPr>
        <p:txBody>
          <a:bodyPr/>
          <a:p/>
        </p:txBody>
      </p:sp>
      <p:sp>
        <p:nvSpPr>
          <p:cNvPr id="27" name="Text 25"/>
          <p:cNvSpPr txBox="1"/>
          <p:nvPr/>
        </p:nvSpPr>
        <p:spPr>
          <a:xfrm>
            <a:off x="868680" y="18740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8" name="Text 26"/>
          <p:cNvSpPr txBox="1"/>
          <p:nvPr/>
        </p:nvSpPr>
        <p:spPr>
          <a:xfrm>
            <a:off x="1325880" y="5669280"/>
            <a:ext cx="452628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隙間 D（m）</a:t>
            </a:r>
            <a:endParaRPr lang="en-US" sz="1000" dirty="0"/>
          </a:p>
        </p:txBody>
      </p:sp>
      <p:sp>
        <p:nvSpPr>
          <p:cNvPr id="29" name="Text 27"/>
          <p:cNvSpPr txBox="1"/>
          <p:nvPr/>
        </p:nvSpPr>
        <p:spPr>
          <a:xfrm rot="16200000">
            <a:off x="274320" y="3470148"/>
            <a:ext cx="128016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高さ A（m）</a:t>
            </a:r>
            <a:endParaRPr lang="en-US" sz="1000" dirty="0"/>
          </a:p>
        </p:txBody>
      </p:sp>
      <p:sp>
        <p:nvSpPr>
          <p:cNvPr id="30" name="Shape 28"/>
          <p:cNvSpPr/>
          <p:nvPr/>
        </p:nvSpPr>
        <p:spPr>
          <a:xfrm>
            <a:off x="1756954" y="2987040"/>
            <a:ext cx="646611" cy="1003300"/>
          </a:xfrm>
          <a:prstGeom prst="rect">
            <a:avLst/>
          </a:prstGeom>
          <a:solidFill>
            <a:srgbClr val="FBEBDA"/>
          </a:solidFill>
          <a:ln w="19050">
            <a:solidFill>
              <a:srgbClr val="E8934D"/>
            </a:solidFill>
            <a:prstDash val="solid"/>
          </a:ln>
        </p:spPr>
        <p:txBody>
          <a:bodyPr/>
          <a:p/>
        </p:txBody>
      </p:sp>
      <p:sp>
        <p:nvSpPr>
          <p:cNvPr id="31" name="Shape 29"/>
          <p:cNvSpPr/>
          <p:nvPr/>
        </p:nvSpPr>
        <p:spPr>
          <a:xfrm>
            <a:off x="1688374" y="4925060"/>
            <a:ext cx="137160" cy="137160"/>
          </a:xfrm>
          <a:prstGeom prst="rect">
            <a:avLst/>
          </a:prstGeom>
          <a:solidFill>
            <a:srgbClr val="1B2A44"/>
          </a:solidFill>
          <a:ln/>
        </p:spPr>
        <p:txBody>
          <a:bodyPr/>
          <a:p/>
        </p:txBody>
      </p:sp>
      <p:sp>
        <p:nvSpPr>
          <p:cNvPr id="32" name="Shape 30"/>
          <p:cNvSpPr/>
          <p:nvPr/>
        </p:nvSpPr>
        <p:spPr>
          <a:xfrm>
            <a:off x="1665514" y="3898900"/>
            <a:ext cx="182880" cy="182880"/>
          </a:xfrm>
          <a:prstGeom prst="rect">
            <a:avLst/>
          </a:prstGeom>
          <a:solidFill>
            <a:srgbClr val="C56A2C"/>
          </a:solidFill>
          <a:ln/>
        </p:spPr>
        <p:txBody>
          <a:bodyPr/>
          <a:p/>
        </p:txBody>
      </p:sp>
      <p:sp>
        <p:nvSpPr>
          <p:cNvPr id="33" name="Shape 31"/>
          <p:cNvSpPr/>
          <p:nvPr/>
        </p:nvSpPr>
        <p:spPr>
          <a:xfrm>
            <a:off x="1665514" y="2895600"/>
            <a:ext cx="182880" cy="182880"/>
          </a:xfrm>
          <a:prstGeom prst="rect">
            <a:avLst/>
          </a:prstGeom>
          <a:solidFill>
            <a:srgbClr val="C56A2C"/>
          </a:solidFill>
          <a:ln/>
        </p:spPr>
        <p:txBody>
          <a:bodyPr/>
          <a:p/>
        </p:txBody>
      </p:sp>
      <p:sp>
        <p:nvSpPr>
          <p:cNvPr id="34" name="Shape 32"/>
          <p:cNvSpPr/>
          <p:nvPr/>
        </p:nvSpPr>
        <p:spPr>
          <a:xfrm>
            <a:off x="1688374" y="1915160"/>
            <a:ext cx="137160" cy="137160"/>
          </a:xfrm>
          <a:prstGeom prst="rect">
            <a:avLst/>
          </a:prstGeom>
          <a:solidFill>
            <a:srgbClr val="1B2A44"/>
          </a:solidFill>
          <a:ln/>
        </p:spPr>
        <p:txBody>
          <a:bodyPr/>
          <a:p/>
        </p:txBody>
      </p:sp>
      <p:sp>
        <p:nvSpPr>
          <p:cNvPr id="35" name="Shape 33"/>
          <p:cNvSpPr/>
          <p:nvPr/>
        </p:nvSpPr>
        <p:spPr>
          <a:xfrm>
            <a:off x="2334986" y="4925060"/>
            <a:ext cx="137160" cy="137160"/>
          </a:xfrm>
          <a:prstGeom prst="rect">
            <a:avLst/>
          </a:prstGeom>
          <a:solidFill>
            <a:srgbClr val="1B2A44"/>
          </a:solidFill>
          <a:ln/>
        </p:spPr>
        <p:txBody>
          <a:bodyPr/>
          <a:p/>
        </p:txBody>
      </p:sp>
      <p:sp>
        <p:nvSpPr>
          <p:cNvPr id="36" name="Shape 34"/>
          <p:cNvSpPr/>
          <p:nvPr/>
        </p:nvSpPr>
        <p:spPr>
          <a:xfrm>
            <a:off x="2312126" y="3898900"/>
            <a:ext cx="182880" cy="182880"/>
          </a:xfrm>
          <a:prstGeom prst="rect">
            <a:avLst/>
          </a:prstGeom>
          <a:solidFill>
            <a:srgbClr val="C56A2C"/>
          </a:solidFill>
          <a:ln/>
        </p:spPr>
        <p:txBody>
          <a:bodyPr/>
          <a:p/>
        </p:txBody>
      </p:sp>
      <p:sp>
        <p:nvSpPr>
          <p:cNvPr id="37" name="Shape 35"/>
          <p:cNvSpPr/>
          <p:nvPr/>
        </p:nvSpPr>
        <p:spPr>
          <a:xfrm>
            <a:off x="2312126" y="2895600"/>
            <a:ext cx="182880" cy="182880"/>
          </a:xfrm>
          <a:prstGeom prst="rect">
            <a:avLst/>
          </a:prstGeom>
          <a:solidFill>
            <a:srgbClr val="C56A2C"/>
          </a:solidFill>
          <a:ln/>
        </p:spPr>
        <p:txBody>
          <a:bodyPr/>
          <a:p/>
        </p:txBody>
      </p:sp>
      <p:sp>
        <p:nvSpPr>
          <p:cNvPr id="38" name="Shape 36"/>
          <p:cNvSpPr/>
          <p:nvPr/>
        </p:nvSpPr>
        <p:spPr>
          <a:xfrm>
            <a:off x="2334986" y="1915160"/>
            <a:ext cx="137160" cy="137160"/>
          </a:xfrm>
          <a:prstGeom prst="rect">
            <a:avLst/>
          </a:prstGeom>
          <a:solidFill>
            <a:srgbClr val="1B2A44"/>
          </a:solidFill>
          <a:ln/>
        </p:spPr>
        <p:txBody>
          <a:bodyPr/>
          <a:p/>
        </p:txBody>
      </p:sp>
      <p:sp>
        <p:nvSpPr>
          <p:cNvPr id="39" name="Shape 37"/>
          <p:cNvSpPr/>
          <p:nvPr/>
        </p:nvSpPr>
        <p:spPr>
          <a:xfrm>
            <a:off x="3412671" y="4925060"/>
            <a:ext cx="137160" cy="137160"/>
          </a:xfrm>
          <a:prstGeom prst="rect">
            <a:avLst/>
          </a:prstGeom>
          <a:solidFill>
            <a:srgbClr val="1B2A44"/>
          </a:solidFill>
          <a:ln/>
        </p:spPr>
        <p:txBody>
          <a:bodyPr/>
          <a:p/>
        </p:txBody>
      </p:sp>
      <p:sp>
        <p:nvSpPr>
          <p:cNvPr id="40" name="Shape 38"/>
          <p:cNvSpPr/>
          <p:nvPr/>
        </p:nvSpPr>
        <p:spPr>
          <a:xfrm>
            <a:off x="3412671" y="3921760"/>
            <a:ext cx="137160" cy="137160"/>
          </a:xfrm>
          <a:prstGeom prst="rect">
            <a:avLst/>
          </a:prstGeom>
          <a:solidFill>
            <a:srgbClr val="1B2A44"/>
          </a:solidFill>
          <a:ln/>
        </p:spPr>
        <p:txBody>
          <a:bodyPr/>
          <a:p/>
        </p:txBody>
      </p:sp>
      <p:sp>
        <p:nvSpPr>
          <p:cNvPr id="41" name="Shape 39"/>
          <p:cNvSpPr/>
          <p:nvPr/>
        </p:nvSpPr>
        <p:spPr>
          <a:xfrm>
            <a:off x="3412671" y="2918460"/>
            <a:ext cx="137160" cy="137160"/>
          </a:xfrm>
          <a:prstGeom prst="rect">
            <a:avLst/>
          </a:prstGeom>
          <a:solidFill>
            <a:srgbClr val="1B2A44"/>
          </a:solidFill>
          <a:ln/>
        </p:spPr>
        <p:txBody>
          <a:bodyPr/>
          <a:p/>
        </p:txBody>
      </p:sp>
      <p:sp>
        <p:nvSpPr>
          <p:cNvPr id="42" name="Shape 40"/>
          <p:cNvSpPr/>
          <p:nvPr/>
        </p:nvSpPr>
        <p:spPr>
          <a:xfrm>
            <a:off x="3412671" y="1915160"/>
            <a:ext cx="137160" cy="137160"/>
          </a:xfrm>
          <a:prstGeom prst="rect">
            <a:avLst/>
          </a:prstGeom>
          <a:solidFill>
            <a:srgbClr val="1B2A44"/>
          </a:solidFill>
          <a:ln/>
        </p:spPr>
        <p:txBody>
          <a:bodyPr/>
          <a:p/>
        </p:txBody>
      </p:sp>
      <p:sp>
        <p:nvSpPr>
          <p:cNvPr id="43" name="Shape 41"/>
          <p:cNvSpPr/>
          <p:nvPr/>
        </p:nvSpPr>
        <p:spPr>
          <a:xfrm>
            <a:off x="5568043" y="4925060"/>
            <a:ext cx="137160" cy="137160"/>
          </a:xfrm>
          <a:prstGeom prst="rect">
            <a:avLst/>
          </a:prstGeom>
          <a:solidFill>
            <a:srgbClr val="1B2A44"/>
          </a:solidFill>
          <a:ln/>
        </p:spPr>
        <p:txBody>
          <a:bodyPr/>
          <a:p/>
        </p:txBody>
      </p:sp>
      <p:sp>
        <p:nvSpPr>
          <p:cNvPr id="44" name="Shape 42"/>
          <p:cNvSpPr/>
          <p:nvPr/>
        </p:nvSpPr>
        <p:spPr>
          <a:xfrm>
            <a:off x="5568043" y="3921760"/>
            <a:ext cx="137160" cy="137160"/>
          </a:xfrm>
          <a:prstGeom prst="rect">
            <a:avLst/>
          </a:prstGeom>
          <a:solidFill>
            <a:srgbClr val="1B2A44"/>
          </a:solidFill>
          <a:ln/>
        </p:spPr>
        <p:txBody>
          <a:bodyPr/>
          <a:p/>
        </p:txBody>
      </p:sp>
      <p:sp>
        <p:nvSpPr>
          <p:cNvPr id="45" name="Shape 43"/>
          <p:cNvSpPr/>
          <p:nvPr/>
        </p:nvSpPr>
        <p:spPr>
          <a:xfrm>
            <a:off x="5568043" y="2918460"/>
            <a:ext cx="137160" cy="137160"/>
          </a:xfrm>
          <a:prstGeom prst="rect">
            <a:avLst/>
          </a:prstGeom>
          <a:solidFill>
            <a:srgbClr val="1B2A44"/>
          </a:solidFill>
          <a:ln/>
        </p:spPr>
        <p:txBody>
          <a:bodyPr/>
          <a:p/>
        </p:txBody>
      </p:sp>
      <p:sp>
        <p:nvSpPr>
          <p:cNvPr id="46" name="Shape 44"/>
          <p:cNvSpPr/>
          <p:nvPr/>
        </p:nvSpPr>
        <p:spPr>
          <a:xfrm>
            <a:off x="5568043" y="1915160"/>
            <a:ext cx="137160" cy="137160"/>
          </a:xfrm>
          <a:prstGeom prst="rect">
            <a:avLst/>
          </a:prstGeom>
          <a:solidFill>
            <a:srgbClr val="1B2A44"/>
          </a:solidFill>
          <a:ln/>
        </p:spPr>
        <p:txBody>
          <a:bodyPr/>
          <a:p/>
        </p:txBody>
      </p:sp>
      <p:sp>
        <p:nvSpPr>
          <p:cNvPr id="47" name="Shape 45"/>
          <p:cNvSpPr/>
          <p:nvPr/>
        </p:nvSpPr>
        <p:spPr>
          <a:xfrm>
            <a:off x="1792224" y="3616401"/>
            <a:ext cx="274320" cy="274320"/>
          </a:xfrm>
          <a:prstGeom prst="star5">
            <a:avLst/>
          </a:prstGeom>
          <a:solidFill>
            <a:srgbClr val="B04A3F"/>
          </a:solidFill>
          <a:ln w="9525">
            <a:solidFill>
              <a:srgbClr val="FFFFFF"/>
            </a:solidFill>
            <a:prstDash val="solid"/>
          </a:ln>
        </p:spPr>
        <p:txBody>
          <a:bodyPr/>
          <a:p/>
        </p:txBody>
      </p:sp>
      <p:sp>
        <p:nvSpPr>
          <p:cNvPr id="48" name="Shape 46"/>
          <p:cNvSpPr/>
          <p:nvPr/>
        </p:nvSpPr>
        <p:spPr>
          <a:xfrm>
            <a:off x="2084832" y="3753561"/>
            <a:ext cx="685800" cy="0"/>
          </a:xfrm>
          <a:prstGeom prst="line">
            <a:avLst/>
          </a:prstGeom>
          <a:noFill/>
          <a:ln w="12700">
            <a:solidFill>
              <a:srgbClr val="B04A3F"/>
            </a:solidFill>
            <a:prstDash val="solid"/>
          </a:ln>
        </p:spPr>
        <p:txBody>
          <a:bodyPr/>
          <a:p/>
        </p:txBody>
      </p:sp>
      <p:sp>
        <p:nvSpPr>
          <p:cNvPr id="49" name="Text 47"/>
          <p:cNvSpPr txBox="1"/>
          <p:nvPr/>
        </p:nvSpPr>
        <p:spPr>
          <a:xfrm>
            <a:off x="2798064" y="3634689"/>
            <a:ext cx="173736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入力 A 55.9m・D 14m</a:t>
            </a:r>
            <a:endParaRPr lang="en-US" sz="1000" dirty="0"/>
          </a:p>
        </p:txBody>
      </p:sp>
      <p:sp>
        <p:nvSpPr>
          <p:cNvPr id="50" name="Text 48"/>
          <p:cNvSpPr txBox="1"/>
          <p:nvPr/>
        </p:nvSpPr>
        <p:spPr>
          <a:xfrm>
            <a:off x="640080" y="5989320"/>
            <a:ext cx="5303520" cy="256032"/>
          </a:xfrm>
          <a:prstGeom prst="rect">
            <a:avLst/>
          </a:prstGeom>
          <a:noFill/>
          <a:ln/>
        </p:spPr>
        <p:txBody>
          <a:bodyPr wrap="square" rtlCol="0" anchor="t"/>
          <a:lstStyle/>
          <a:p>
            <a:pPr marL="0" indent="0">
              <a:buNone/>
            </a:pPr>
            <a:r>
              <a:rPr lang="en-US" sz="950" dirty="0">
                <a:solidFill>
                  <a:srgbClr val="1B2A44"/>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保存した16配置　</a:t>
            </a:r>
            <a:r>
              <a:rPr lang="en-US" sz="950" dirty="0">
                <a:solidFill>
                  <a:srgbClr val="C56A2C"/>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入力を囲む4配置　</a:t>
            </a:r>
            <a:r>
              <a:rPr lang="en-US" sz="950" dirty="0">
                <a:solidFill>
                  <a:srgbClr val="B04A3F"/>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a:t>
            </a:r>
            <a:endParaRPr lang="en-US" sz="950" dirty="0"/>
          </a:p>
        </p:txBody>
      </p:sp>
      <p:sp>
        <p:nvSpPr>
          <p:cNvPr id="51" name="Shape 49"/>
          <p:cNvSpPr/>
          <p:nvPr/>
        </p:nvSpPr>
        <p:spPr>
          <a:xfrm>
            <a:off x="6355080" y="1188720"/>
            <a:ext cx="310896" cy="310896"/>
          </a:xfrm>
          <a:prstGeom prst="ellipse">
            <a:avLst/>
          </a:prstGeom>
          <a:solidFill>
            <a:srgbClr val="1F6F78"/>
          </a:solidFill>
          <a:ln/>
        </p:spPr>
        <p:txBody>
          <a:bodyPr/>
          <a:p/>
        </p:txBody>
      </p:sp>
      <p:sp>
        <p:nvSpPr>
          <p:cNvPr id="52" name="Text 50"/>
          <p:cNvSpPr txBox="1"/>
          <p:nvPr/>
        </p:nvSpPr>
        <p:spPr>
          <a:xfrm>
            <a:off x="63550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53" name="Text 51"/>
          <p:cNvSpPr txBox="1"/>
          <p:nvPr/>
        </p:nvSpPr>
        <p:spPr>
          <a:xfrm>
            <a:off x="6739128" y="118872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入力を囲む4つの格子点を探す</a:t>
            </a:r>
            <a:endParaRPr lang="en-US" sz="1200" dirty="0"/>
          </a:p>
        </p:txBody>
      </p:sp>
      <p:sp>
        <p:nvSpPr>
          <p:cNvPr id="54" name="Text 52"/>
          <p:cNvSpPr txBox="1"/>
          <p:nvPr/>
        </p:nvSpPr>
        <p:spPr>
          <a:xfrm>
            <a:off x="6739128" y="151790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 は50〜75mの間、D は10〜25mの間 → 周りの4配置を使う</a:t>
            </a:r>
            <a:endParaRPr lang="en-US" sz="1000" dirty="0"/>
          </a:p>
        </p:txBody>
      </p:sp>
      <p:sp>
        <p:nvSpPr>
          <p:cNvPr id="55" name="Shape 53"/>
          <p:cNvSpPr/>
          <p:nvPr/>
        </p:nvSpPr>
        <p:spPr>
          <a:xfrm>
            <a:off x="6355080" y="1920240"/>
            <a:ext cx="310896" cy="310896"/>
          </a:xfrm>
          <a:prstGeom prst="ellipse">
            <a:avLst/>
          </a:prstGeom>
          <a:solidFill>
            <a:srgbClr val="1F6F78"/>
          </a:solidFill>
          <a:ln/>
        </p:spPr>
        <p:txBody>
          <a:bodyPr/>
          <a:p/>
        </p:txBody>
      </p:sp>
      <p:sp>
        <p:nvSpPr>
          <p:cNvPr id="56" name="Text 54"/>
          <p:cNvSpPr txBox="1"/>
          <p:nvPr/>
        </p:nvSpPr>
        <p:spPr>
          <a:xfrm>
            <a:off x="6355080" y="1920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57" name="Text 55"/>
          <p:cNvSpPr txBox="1"/>
          <p:nvPr/>
        </p:nvSpPr>
        <p:spPr>
          <a:xfrm>
            <a:off x="6739128" y="1920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近さに応じた重みを計算する</a:t>
            </a:r>
            <a:endParaRPr lang="en-US" sz="1200" dirty="0"/>
          </a:p>
        </p:txBody>
      </p:sp>
      <p:sp>
        <p:nvSpPr>
          <p:cNvPr id="58" name="Text 56"/>
          <p:cNvSpPr txBox="1"/>
          <p:nvPr/>
        </p:nvSpPr>
        <p:spPr>
          <a:xfrm>
            <a:off x="6739128" y="224942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A方向：(55.9−50)÷25＝0.236　　D方向：(14−10)÷15＝0.267</a:t>
            </a:r>
            <a:endParaRPr lang="en-US" sz="1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739128" y="2578608"/>
          <a:ext cx="4992624" cy="914400"/>
        </p:xfrm>
        <a:graphic>
          <a:graphicData uri="http://schemas.openxmlformats.org/drawingml/2006/table">
            <a:tbl>
              <a:tblPr/>
              <a:tblGrid>
                <a:gridCol w="1234440">
                  <a:extLst>
                    <a:ext uri="{9D8B030D-6E8A-4147-A177-3AD203B41FA5}">
                      <a16:colId xmlns:a16="http://schemas.microsoft.com/office/drawing/2014/main" val="20000"/>
                    </a:ext>
                  </a:extLst>
                </a:gridCol>
                <a:gridCol w="2615184">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25603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格子点 (A, D)</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重みの計算</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0" name="Text 57"/>
          <p:cNvSpPr txBox="1"/>
          <p:nvPr/>
        </p:nvSpPr>
        <p:spPr>
          <a:xfrm>
            <a:off x="6739128" y="3886200"/>
            <a:ext cx="4992624" cy="228600"/>
          </a:xfrm>
          <a:prstGeom prst="rect">
            <a:avLst/>
          </a:prstGeom>
          <a:noFill/>
          <a:ln/>
        </p:spPr>
        <p:txBody>
          <a:bodyPr wrap="square" rtlCol="0" anchor="t"/>
          <a:lstStyle/>
          <a:p>
            <a:pPr marL="0" indent="0">
              <a:buNone/>
            </a:pPr>
            <a:r>
              <a:rPr lang="en-US" sz="900" dirty="0">
                <a:solidFill>
                  <a:srgbClr val="6B7480"/>
                </a:solidFill>
                <a:latin typeface="Yu Gothic" pitchFamily="34" charset="0"/>
                <a:ea typeface="Yu Gothic" pitchFamily="34" charset="-122"/>
                <a:cs typeface="Yu Gothic" pitchFamily="34" charset="-120"/>
              </a:rPr>
              <a:t>近い格子点ほど重みが大きく、4つの合計は1</a:t>
            </a:r>
            <a:endParaRPr lang="en-US" sz="900" dirty="0"/>
          </a:p>
        </p:txBody>
      </p:sp>
      <p:sp>
        <p:nvSpPr>
          <p:cNvPr id="61" name="Shape 58"/>
          <p:cNvSpPr/>
          <p:nvPr/>
        </p:nvSpPr>
        <p:spPr>
          <a:xfrm>
            <a:off x="6355080" y="4206240"/>
            <a:ext cx="310896" cy="310896"/>
          </a:xfrm>
          <a:prstGeom prst="ellipse">
            <a:avLst/>
          </a:prstGeom>
          <a:solidFill>
            <a:srgbClr val="1F6F78"/>
          </a:solidFill>
          <a:ln/>
        </p:spPr>
        <p:txBody>
          <a:bodyPr/>
          <a:p/>
        </p:txBody>
      </p:sp>
      <p:sp>
        <p:nvSpPr>
          <p:cNvPr id="62" name="Text 59"/>
          <p:cNvSpPr txBox="1"/>
          <p:nvPr/>
        </p:nvSpPr>
        <p:spPr>
          <a:xfrm>
            <a:off x="6355080" y="4206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63" name="Text 60"/>
          <p:cNvSpPr txBox="1"/>
          <p:nvPr/>
        </p:nvSpPr>
        <p:spPr>
          <a:xfrm>
            <a:off x="6739128" y="4206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高さ帯ごとに重み付き平均する</a:t>
            </a:r>
            <a:endParaRPr lang="en-US" sz="1200" dirty="0"/>
          </a:p>
        </p:txBody>
      </p:sp>
      <p:sp>
        <p:nvSpPr>
          <p:cNvPr id="64" name="Shape 61"/>
          <p:cNvSpPr/>
          <p:nvPr/>
        </p:nvSpPr>
        <p:spPr>
          <a:xfrm>
            <a:off x="6739128" y="4544568"/>
            <a:ext cx="4992624" cy="566928"/>
          </a:xfrm>
          <a:prstGeom prst="roundRect">
            <a:avLst>
              <a:gd name="adj" fmla="val 9677"/>
            </a:avLst>
          </a:prstGeom>
          <a:solidFill>
            <a:srgbClr val="1B2A44"/>
          </a:solidFill>
          <a:ln/>
        </p:spPr>
        <p:txBody>
          <a:bodyPr/>
          <a:p/>
        </p:txBody>
      </p:sp>
      <p:sp>
        <p:nvSpPr>
          <p:cNvPr id="65" name="Text 62"/>
          <p:cNvSpPr txBox="1"/>
          <p:nvPr/>
        </p:nvSpPr>
        <p:spPr>
          <a:xfrm>
            <a:off x="6812280" y="4544568"/>
            <a:ext cx="4846320" cy="566928"/>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予測値 ＝ 0.560×V(50,10) ＋ 0.173×V(75,10) ＋ 0.204×V(50,25) ＋ 0.063×V(75,25)</a:t>
            </a:r>
            <a:endParaRPr lang="en-US" sz="1050" dirty="0"/>
          </a:p>
        </p:txBody>
      </p:sp>
      <p:sp>
        <p:nvSpPr>
          <p:cNvPr id="66" name="Text 63"/>
          <p:cNvSpPr txBox="1"/>
          <p:nvPr/>
        </p:nvSpPr>
        <p:spPr>
          <a:xfrm>
            <a:off x="6739128" y="5148072"/>
            <a:ext cx="4992624" cy="274320"/>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V ＝ その格子点の保存値。5つの高さ帯で別々に計算し、5つの予測値を出す。</a:t>
            </a:r>
            <a:endParaRPr lang="en-US" sz="950" dirty="0"/>
          </a:p>
        </p:txBody>
      </p:sp>
      <p:sp>
        <p:nvSpPr>
          <p:cNvPr id="67" name="Shape 64"/>
          <p:cNvSpPr/>
          <p:nvPr/>
        </p:nvSpPr>
        <p:spPr>
          <a:xfrm>
            <a:off x="6355080" y="5486400"/>
            <a:ext cx="5376672" cy="822960"/>
          </a:xfrm>
          <a:prstGeom prst="roundRect">
            <a:avLst>
              <a:gd name="adj" fmla="val 6667"/>
            </a:avLst>
          </a:prstGeom>
          <a:solidFill>
            <a:srgbClr val="FBEBDA"/>
          </a:solidFill>
          <a:ln w="12700">
            <a:solidFill>
              <a:srgbClr val="E8934D"/>
            </a:solidFill>
            <a:prstDash val="solid"/>
          </a:ln>
        </p:spPr>
        <p:txBody>
          <a:bodyPr/>
          <a:p/>
        </p:txBody>
      </p:sp>
      <p:sp>
        <p:nvSpPr>
          <p:cNvPr id="68" name="Text 65"/>
          <p:cNvSpPr txBox="1"/>
          <p:nvPr/>
        </p:nvSpPr>
        <p:spPr>
          <a:xfrm>
            <a:off x="6519672" y="5532120"/>
            <a:ext cx="5102352" cy="731520"/>
          </a:xfrm>
          <a:prstGeom prst="rect">
            <a:avLst/>
          </a:prstGeom>
          <a:noFill/>
          <a:ln/>
        </p:spPr>
        <p:txBody>
          <a:bodyPr wrap="square" rtlCol="0" anchor="ctr"/>
          <a:lstStyle/>
          <a:p>
            <a:pPr marL="0" indent="0">
              <a:buNone/>
            </a:pPr>
            <a:r>
              <a:rPr lang="en-US" sz="1000" b="1" dirty="0">
                <a:solidFill>
                  <a:srgbClr val="C56A2C"/>
                </a:solidFill>
                <a:latin typeface="Yu Gothic" pitchFamily="34" charset="0"/>
                <a:ea typeface="Yu Gothic" pitchFamily="34" charset="-122"/>
                <a:cs typeface="Yu Gothic" pitchFamily="34" charset="-120"/>
              </a:rPr>
              <a:t>「学習」との違い：</a:t>
            </a:r>
            <a:r>
              <a:rPr lang="en-US" sz="1000" dirty="0">
                <a:solidFill>
                  <a:srgbClr val="333F4E"/>
                </a:solidFill>
                <a:latin typeface="Yu Gothic" pitchFamily="34" charset="0"/>
                <a:ea typeface="Yu Gothic" pitchFamily="34" charset="-122"/>
                <a:cs typeface="Yu Gothic" pitchFamily="34" charset="-120"/>
              </a:rPr>
              <a:t>係数を学習するのではなく、16配置の値を表として保存し、入力のたびに近い4点から計算する。2,500個を1つずつ学習するわけでもない。</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10</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テスト12パターン：未使用の条件でも同程度の精度</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10 / 45</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手法と設定を固定したうえで、学習にも検証にも使っていない12条件で最終確認を行った。</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9436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高さ ＼ 距離</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近い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中間</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遠い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44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32</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57</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39</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61</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55</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70</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73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58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84</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93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0" name="Text 8"/>
          <p:cNvSpPr txBox="1"/>
          <p:nvPr/>
        </p:nvSpPr>
        <p:spPr>
          <a:xfrm>
            <a:off x="457200" y="3794760"/>
            <a:ext cx="59436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単位：m　／　高さ4区分 × 距離3区分の各マスから1点ずつ</a:t>
            </a:r>
            <a:endParaRPr lang="en-US" sz="950" dirty="0"/>
          </a:p>
        </p:txBody>
      </p:sp>
      <p:sp>
        <p:nvSpPr>
          <p:cNvPr id="12" name="Shape 9"/>
          <p:cNvSpPr/>
          <p:nvPr/>
        </p:nvSpPr>
        <p:spPr>
          <a:xfrm>
            <a:off x="667512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3" name="Text 10"/>
          <p:cNvSpPr txBox="1"/>
          <p:nvPr/>
        </p:nvSpPr>
        <p:spPr>
          <a:xfrm>
            <a:off x="681228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MAE</a:t>
            </a:r>
            <a:endParaRPr lang="en-US" sz="1050" dirty="0"/>
          </a:p>
        </p:txBody>
      </p:sp>
      <p:sp>
        <p:nvSpPr>
          <p:cNvPr id="14" name="Text 11"/>
          <p:cNvSpPr txBox="1"/>
          <p:nvPr/>
        </p:nvSpPr>
        <p:spPr>
          <a:xfrm>
            <a:off x="681228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18.40</a:t>
            </a:r>
            <a:r>
              <a:rPr lang="en-US" sz="1100" b="1" dirty="0">
                <a:solidFill>
                  <a:srgbClr val="1B2A44"/>
                </a:solidFill>
                <a:latin typeface="Yu Gothic" pitchFamily="34" charset="0"/>
                <a:ea typeface="Yu Gothic" pitchFamily="34" charset="-122"/>
                <a:cs typeface="Yu Gothic" pitchFamily="34" charset="-120"/>
              </a:rPr>
              <a:t> kWh/m²</a:t>
            </a:r>
            <a:endParaRPr lang="en-US" sz="1100" dirty="0"/>
          </a:p>
        </p:txBody>
      </p:sp>
      <p:sp>
        <p:nvSpPr>
          <p:cNvPr id="15" name="Shape 12"/>
          <p:cNvSpPr/>
          <p:nvPr/>
        </p:nvSpPr>
        <p:spPr>
          <a:xfrm>
            <a:off x="923544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6" name="Text 13"/>
          <p:cNvSpPr txBox="1"/>
          <p:nvPr/>
        </p:nvSpPr>
        <p:spPr>
          <a:xfrm>
            <a:off x="937260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平均誤差率</a:t>
            </a:r>
            <a:endParaRPr lang="en-US" sz="1050" dirty="0"/>
          </a:p>
        </p:txBody>
      </p:sp>
      <p:sp>
        <p:nvSpPr>
          <p:cNvPr id="17" name="Text 14"/>
          <p:cNvSpPr txBox="1"/>
          <p:nvPr/>
        </p:nvSpPr>
        <p:spPr>
          <a:xfrm>
            <a:off x="937260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2.42</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18" name="Shape 15"/>
          <p:cNvSpPr/>
          <p:nvPr/>
        </p:nvSpPr>
        <p:spPr>
          <a:xfrm>
            <a:off x="667512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9" name="Text 16"/>
          <p:cNvSpPr txBox="1"/>
          <p:nvPr/>
        </p:nvSpPr>
        <p:spPr>
          <a:xfrm>
            <a:off x="681228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最大誤差率</a:t>
            </a:r>
            <a:endParaRPr lang="en-US" sz="1050" dirty="0"/>
          </a:p>
        </p:txBody>
      </p:sp>
      <p:sp>
        <p:nvSpPr>
          <p:cNvPr id="20" name="Text 17"/>
          <p:cNvSpPr txBox="1"/>
          <p:nvPr/>
        </p:nvSpPr>
        <p:spPr>
          <a:xfrm>
            <a:off x="681228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5.36</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21" name="Shape 18"/>
          <p:cNvSpPr/>
          <p:nvPr/>
        </p:nvSpPr>
        <p:spPr>
          <a:xfrm>
            <a:off x="923544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22" name="Text 19"/>
          <p:cNvSpPr txBox="1"/>
          <p:nvPr/>
        </p:nvSpPr>
        <p:spPr>
          <a:xfrm>
            <a:off x="937260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SEBEより低く予測</a:t>
            </a:r>
            <a:endParaRPr lang="en-US" sz="1050" dirty="0"/>
          </a:p>
        </p:txBody>
      </p:sp>
      <p:sp>
        <p:nvSpPr>
          <p:cNvPr id="23" name="Text 20"/>
          <p:cNvSpPr txBox="1"/>
          <p:nvPr/>
        </p:nvSpPr>
        <p:spPr>
          <a:xfrm>
            <a:off x="937260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11/12</a:t>
            </a:r>
            <a:r>
              <a:rPr lang="en-US" sz="1100" b="1" dirty="0">
                <a:solidFill>
                  <a:srgbClr val="1B2A44"/>
                </a:solidFill>
                <a:latin typeface="Yu Gothic" pitchFamily="34" charset="0"/>
                <a:ea typeface="Yu Gothic" pitchFamily="34" charset="-122"/>
                <a:cs typeface="Yu Gothic" pitchFamily="34" charset="-120"/>
              </a:rPr>
              <a:t> 件</a:t>
            </a:r>
            <a:endParaRPr lang="en-US" sz="1100" dirty="0"/>
          </a:p>
        </p:txBody>
      </p:sp>
      <p:sp>
        <p:nvSpPr>
          <p:cNvPr id="24" name="Shape 21"/>
          <p:cNvSpPr/>
          <p:nvPr/>
        </p:nvSpPr>
        <p:spPr>
          <a:xfrm>
            <a:off x="457200" y="4206240"/>
            <a:ext cx="3657600" cy="2103120"/>
          </a:xfrm>
          <a:prstGeom prst="roundRect">
            <a:avLst>
              <a:gd name="adj" fmla="val 2609"/>
            </a:avLst>
          </a:prstGeom>
          <a:solidFill>
            <a:srgbClr val="F3F5F8"/>
          </a:solidFill>
          <a:ln w="12700">
            <a:solidFill>
              <a:srgbClr val="DBE0E6"/>
            </a:solidFill>
            <a:prstDash val="solid"/>
          </a:ln>
        </p:spPr>
        <p:txBody>
          <a:bodyPr/>
          <a:p/>
        </p:txBody>
      </p:sp>
      <p:sp>
        <p:nvSpPr>
          <p:cNvPr id="25" name="Text 22"/>
          <p:cNvSpPr txBox="1"/>
          <p:nvPr/>
        </p:nvSpPr>
        <p:spPr>
          <a:xfrm>
            <a:off x="640080" y="4279392"/>
            <a:ext cx="329184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選び方</a:t>
            </a:r>
            <a:endParaRPr lang="en-US" sz="1200" dirty="0"/>
          </a:p>
        </p:txBody>
      </p:sp>
      <p:sp>
        <p:nvSpPr>
          <p:cNvPr id="26" name="Text 23"/>
          <p:cNvSpPr txBox="1"/>
          <p:nvPr/>
        </p:nvSpPr>
        <p:spPr>
          <a:xfrm>
            <a:off x="640080" y="4572000"/>
            <a:ext cx="3291840"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各マスから1点ずつ無作為に選び（乱数シード20260912）、低い〜高い・近い〜遠いを偏りなくカバーした。学習16点・検証8点とは重複しない。手法と係数はテスト前に固定し、結果を見た後の変更はしていない。</a:t>
            </a:r>
            <a:endParaRPr lang="en-US" sz="1000" dirty="0"/>
          </a:p>
        </p:txBody>
      </p:sp>
      <p:graphicFrame>
        <p:nvGraphicFramePr>
          <p:cNvPr id="27" name="Chart 0"/>
          <p:cNvGraphicFramePr/>
          <p:nvPr/>
        </p:nvGraphicFramePr>
        <p:xfrm>
          <a:off x="4297680" y="4114800"/>
          <a:ext cx="3703320" cy="2240280"/>
        </p:xfrm>
        <a:graphic>
          <a:graphicData uri="http://schemas.openxmlformats.org/drawingml/2006/chart">
            <c:chart xmlns:c="http://schemas.openxmlformats.org/drawingml/2006/chart" xmlns:r="http://schemas.openxmlformats.org/officeDocument/2006/relationships" r:id="rId3"/>
          </a:graphicData>
        </a:graphic>
      </p:graphicFrame>
      <p:sp>
        <p:nvSpPr>
          <p:cNvPr id="28" name="Shape 24"/>
          <p:cNvSpPr/>
          <p:nvPr/>
        </p:nvSpPr>
        <p:spPr>
          <a:xfrm>
            <a:off x="8183880" y="4206240"/>
            <a:ext cx="3547872" cy="2103120"/>
          </a:xfrm>
          <a:prstGeom prst="roundRect">
            <a:avLst>
              <a:gd name="adj" fmla="val 2609"/>
            </a:avLst>
          </a:prstGeom>
          <a:solidFill>
            <a:srgbClr val="E1EEE7"/>
          </a:solidFill>
          <a:ln w="12700">
            <a:solidFill>
              <a:srgbClr val="4C8C6B"/>
            </a:solidFill>
            <a:prstDash val="solid"/>
          </a:ln>
        </p:spPr>
        <p:txBody>
          <a:bodyPr/>
          <a:p/>
        </p:txBody>
      </p:sp>
      <p:sp>
        <p:nvSpPr>
          <p:cNvPr id="29" name="Text 25"/>
          <p:cNvSpPr txBox="1"/>
          <p:nvPr/>
        </p:nvSpPr>
        <p:spPr>
          <a:xfrm>
            <a:off x="8366760" y="4279392"/>
            <a:ext cx="31821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判定</a:t>
            </a:r>
            <a:endParaRPr lang="en-US" sz="1200" dirty="0"/>
          </a:p>
        </p:txBody>
      </p:sp>
      <p:sp>
        <p:nvSpPr>
          <p:cNvPr id="30" name="Text 26"/>
          <p:cNvSpPr txBox="1"/>
          <p:nvPr/>
        </p:nvSpPr>
        <p:spPr>
          <a:xfrm>
            <a:off x="8366760" y="4572000"/>
            <a:ext cx="3182112"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検証時（MAE 19.99・2.67%）と同じ水準の精度を、一度も使っていない12条件で確認できた。一方、12件中11件でSEBEより低めに予測しており、やや過小評価の傾向がある。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11</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高さ別にみた精度：屋根付近の30〜40mで誤差が大きい</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11 / 45</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中央建物の南面を高さ10mごと（0〜50m）に分け、検証8パターンの誤差を高さ帯別に集計した。</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4114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壁の高さ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最大誤差率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0〜10m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15.07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3.41%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10〜20m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24.23</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11.85%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20〜30m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20.10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6.70%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30〜40m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38.56</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15.08%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extLst>
                  <a:ext uri="{0D108BD9-81ED-4DB2-BD59-A6C34878D82A}">
                    <a16:rowId xmlns:a16="http://schemas.microsoft.com/office/drawing/2014/main" val="10004"/>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40〜50m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27.09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14.37%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11" name="Chart 0"/>
          <p:cNvGraphicFramePr/>
          <p:nvPr/>
        </p:nvGraphicFramePr>
        <p:xfrm>
          <a:off x="4800600" y="1508760"/>
          <a:ext cx="3429000" cy="2697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1"/>
          <p:cNvGraphicFramePr/>
          <p:nvPr/>
        </p:nvGraphicFramePr>
        <p:xfrm>
          <a:off x="8302752" y="1508760"/>
          <a:ext cx="342900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3" name="Shape 8"/>
          <p:cNvSpPr/>
          <p:nvPr/>
        </p:nvSpPr>
        <p:spPr>
          <a:xfrm>
            <a:off x="457200" y="4526280"/>
            <a:ext cx="7406640" cy="1554480"/>
          </a:xfrm>
          <a:prstGeom prst="roundRect">
            <a:avLst>
              <a:gd name="adj" fmla="val 3529"/>
            </a:avLst>
          </a:prstGeom>
          <a:solidFill>
            <a:srgbClr val="F5E2DF"/>
          </a:solidFill>
          <a:ln w="12700">
            <a:solidFill>
              <a:srgbClr val="B04A3F"/>
            </a:solidFill>
            <a:prstDash val="solid"/>
          </a:ln>
        </p:spPr>
        <p:txBody>
          <a:bodyPr/>
          <a:p/>
        </p:txBody>
      </p:sp>
      <p:sp>
        <p:nvSpPr>
          <p:cNvPr id="14" name="Text 9"/>
          <p:cNvSpPr txBox="1"/>
          <p:nvPr/>
        </p:nvSpPr>
        <p:spPr>
          <a:xfrm>
            <a:off x="640080" y="4599432"/>
            <a:ext cx="7040880" cy="274320"/>
          </a:xfrm>
          <a:prstGeom prst="rect">
            <a:avLst/>
          </a:prstGeom>
          <a:noFill/>
          <a:ln/>
        </p:spPr>
        <p:txBody>
          <a:bodyPr wrap="square" rtlCol="0" anchor="t"/>
          <a:lstStyle/>
          <a:p>
            <a:pPr marL="0" indent="0">
              <a:buNone/>
            </a:pPr>
            <a:r>
              <a:rPr lang="en-US" sz="1200" b="1" dirty="0">
                <a:solidFill>
                  <a:srgbClr val="B04A3F"/>
                </a:solidFill>
                <a:latin typeface="Yu Gothic" pitchFamily="34" charset="0"/>
                <a:ea typeface="Yu Gothic" pitchFamily="34" charset="-122"/>
                <a:cs typeface="Yu Gothic" pitchFamily="34" charset="-120"/>
              </a:rPr>
              <a:t>最もずれた条件：A＝35m・D＝15m（高さ30〜40m帯）</a:t>
            </a:r>
            <a:endParaRPr lang="en-US" sz="1200" dirty="0"/>
          </a:p>
        </p:txBody>
      </p:sp>
      <p:sp>
        <p:nvSpPr>
          <p:cNvPr id="15" name="Text 10"/>
          <p:cNvSpPr txBox="1"/>
          <p:nvPr/>
        </p:nvSpPr>
        <p:spPr>
          <a:xfrm>
            <a:off x="640080" y="4892040"/>
            <a:ext cx="7040880" cy="1133856"/>
          </a:xfrm>
          <a:prstGeom prst="rect">
            <a:avLst/>
          </a:prstGeom>
          <a:noFill/>
          <a:ln/>
        </p:spPr>
        <p:txBody>
          <a:bodyPr wrap="square" rtlCol="0" anchor="t"/>
          <a:lstStyle/>
          <a:p>
            <a:pPr marL="0" indent="0">
              <a:lnSpc>
                <a:spcPct val="108000"/>
              </a:lnSpc>
              <a:buNone/>
            </a:pPr>
            <a:r>
              <a:rPr lang="en-US" sz="1050" b="1" dirty="0">
                <a:solidFill>
                  <a:srgbClr val="333F4E"/>
                </a:solidFill>
                <a:latin typeface="Yu Gothic" pitchFamily="34" charset="0"/>
                <a:ea typeface="Yu Gothic" pitchFamily="34" charset="-122"/>
                <a:cs typeface="Yu Gothic" pitchFamily="34" charset="-120"/>
              </a:rPr>
              <a:t>SEBE計算値 1,014.20 → 予測 861.26 kWh/m²（差 152.94）</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この高さ帯は南側建物の屋根（35m）付近にあたる。屋根より下と上で空の見え方が大きく変わるため、補間では捉えにくいと考えられる（要因を分解した検証は未実施）。</a:t>
            </a:r>
            <a:endParaRPr lang="en-US" sz="1050" dirty="0"/>
          </a:p>
        </p:txBody>
      </p:sp>
      <p:sp>
        <p:nvSpPr>
          <p:cNvPr id="16" name="Shape 11"/>
          <p:cNvSpPr/>
          <p:nvPr/>
        </p:nvSpPr>
        <p:spPr>
          <a:xfrm>
            <a:off x="8046720" y="4526280"/>
            <a:ext cx="3685032" cy="1554480"/>
          </a:xfrm>
          <a:prstGeom prst="roundRect">
            <a:avLst>
              <a:gd name="adj" fmla="val 3529"/>
            </a:avLst>
          </a:prstGeom>
          <a:solidFill>
            <a:srgbClr val="F3F5F8"/>
          </a:solidFill>
          <a:ln w="12700">
            <a:solidFill>
              <a:srgbClr val="DBE0E6"/>
            </a:solidFill>
            <a:prstDash val="solid"/>
          </a:ln>
        </p:spPr>
        <p:txBody>
          <a:bodyPr/>
          <a:p/>
        </p:txBody>
      </p:sp>
      <p:sp>
        <p:nvSpPr>
          <p:cNvPr id="17" name="Text 12"/>
          <p:cNvSpPr txBox="1"/>
          <p:nvPr/>
        </p:nvSpPr>
        <p:spPr>
          <a:xfrm>
            <a:off x="8229600" y="4599432"/>
            <a:ext cx="33192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集計上の注意</a:t>
            </a:r>
            <a:endParaRPr lang="en-US" sz="1200" dirty="0"/>
          </a:p>
        </p:txBody>
      </p:sp>
      <p:sp>
        <p:nvSpPr>
          <p:cNvPr id="18" name="Text 13"/>
          <p:cNvSpPr txBox="1"/>
          <p:nvPr/>
        </p:nvSpPr>
        <p:spPr>
          <a:xfrm>
            <a:off x="8229600" y="4892040"/>
            <a:ext cx="3319272" cy="11338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新たに40通りをテストしたのではなく、検証8パターンの結果を高さ帯ごとに集計し直したもの。→ 次ページでこの弱点を補強する。</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局所補強：最大誤差点の周りに学習点を追加する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12 / 45</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最大誤差となった A=35m・D=15m の周辺に5パターンを追加し、その範囲だけ細かい格子で補間する（局所改良版）。</a:t>
            </a:r>
            <a:endParaRPr lang="en-US" sz="1250" dirty="0"/>
          </a:p>
        </p:txBody>
      </p:sp>
      <p:sp>
        <p:nvSpPr>
          <p:cNvPr id="10" name="Shape 8"/>
          <p:cNvSpPr/>
          <p:nvPr/>
        </p:nvSpPr>
        <p:spPr>
          <a:xfrm>
            <a:off x="457200" y="1600200"/>
            <a:ext cx="5486400" cy="914400"/>
          </a:xfrm>
          <a:prstGeom prst="roundRect">
            <a:avLst>
              <a:gd name="adj" fmla="val 6000"/>
            </a:avLst>
          </a:prstGeom>
          <a:solidFill>
            <a:srgbClr val="EAEEF2"/>
          </a:solidFill>
          <a:ln w="12700">
            <a:solidFill>
              <a:srgbClr val="DBE0E6"/>
            </a:solidFill>
            <a:prstDash val="solid"/>
          </a:ln>
        </p:spPr>
        <p:txBody>
          <a:bodyPr/>
          <a:p/>
        </p:txBody>
      </p:sp>
      <p:sp>
        <p:nvSpPr>
          <p:cNvPr id="11" name="Shape 9"/>
          <p:cNvSpPr/>
          <p:nvPr/>
        </p:nvSpPr>
        <p:spPr>
          <a:xfrm>
            <a:off x="594360" y="1856232"/>
            <a:ext cx="402336" cy="402336"/>
          </a:xfrm>
          <a:prstGeom prst="ellipse">
            <a:avLst/>
          </a:prstGeom>
          <a:solidFill>
            <a:srgbClr val="1F6F78"/>
          </a:solidFill>
          <a:ln/>
        </p:spPr>
        <p:txBody>
          <a:bodyPr/>
          <a:p/>
        </p:txBody>
      </p:sp>
      <p:sp>
        <p:nvSpPr>
          <p:cNvPr id="12" name="Text 10"/>
          <p:cNvSpPr txBox="1"/>
          <p:nvPr/>
        </p:nvSpPr>
        <p:spPr>
          <a:xfrm>
            <a:off x="594360" y="1856232"/>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3" name="Text 11"/>
          <p:cNvSpPr txBox="1"/>
          <p:nvPr/>
        </p:nvSpPr>
        <p:spPr>
          <a:xfrm>
            <a:off x="1143000" y="1664208"/>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周辺に5パターンを追加</a:t>
            </a:r>
            <a:endParaRPr lang="en-US" sz="1250" dirty="0"/>
          </a:p>
        </p:txBody>
      </p:sp>
      <p:sp>
        <p:nvSpPr>
          <p:cNvPr id="14" name="Text 12"/>
          <p:cNvSpPr txBox="1"/>
          <p:nvPr/>
        </p:nvSpPr>
        <p:spPr>
          <a:xfrm>
            <a:off x="1143000" y="1965960"/>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(A,D)＝(25,17)(35,10)(35,17)(35,25)(50,17) をSEBEで計算。</a:t>
            </a:r>
            <a:endParaRPr lang="en-US" sz="1030" dirty="0"/>
          </a:p>
        </p:txBody>
      </p:sp>
      <p:sp>
        <p:nvSpPr>
          <p:cNvPr id="15" name="Shape 13"/>
          <p:cNvSpPr/>
          <p:nvPr/>
        </p:nvSpPr>
        <p:spPr>
          <a:xfrm>
            <a:off x="457200" y="2587752"/>
            <a:ext cx="5486400" cy="914400"/>
          </a:xfrm>
          <a:prstGeom prst="roundRect">
            <a:avLst>
              <a:gd name="adj" fmla="val 6000"/>
            </a:avLst>
          </a:prstGeom>
          <a:solidFill>
            <a:srgbClr val="EAEEF2"/>
          </a:solidFill>
          <a:ln w="12700">
            <a:solidFill>
              <a:srgbClr val="DBE0E6"/>
            </a:solidFill>
            <a:prstDash val="solid"/>
          </a:ln>
        </p:spPr>
        <p:txBody>
          <a:bodyPr/>
          <a:p/>
        </p:txBody>
      </p:sp>
      <p:sp>
        <p:nvSpPr>
          <p:cNvPr id="16" name="Shape 14"/>
          <p:cNvSpPr/>
          <p:nvPr/>
        </p:nvSpPr>
        <p:spPr>
          <a:xfrm>
            <a:off x="594360" y="2843784"/>
            <a:ext cx="402336" cy="402336"/>
          </a:xfrm>
          <a:prstGeom prst="ellipse">
            <a:avLst/>
          </a:prstGeom>
          <a:solidFill>
            <a:srgbClr val="1F6F78"/>
          </a:solidFill>
          <a:ln/>
        </p:spPr>
        <p:txBody>
          <a:bodyPr/>
          <a:p/>
        </p:txBody>
      </p:sp>
      <p:sp>
        <p:nvSpPr>
          <p:cNvPr id="17" name="Text 15"/>
          <p:cNvSpPr txBox="1"/>
          <p:nvPr/>
        </p:nvSpPr>
        <p:spPr>
          <a:xfrm>
            <a:off x="594360" y="2843784"/>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8" name="Text 16"/>
          <p:cNvSpPr txBox="1"/>
          <p:nvPr/>
        </p:nvSpPr>
        <p:spPr>
          <a:xfrm>
            <a:off x="1143000" y="2651760"/>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3×3＝9点の局所格子を作る</a:t>
            </a:r>
            <a:endParaRPr lang="en-US" sz="1250" dirty="0"/>
          </a:p>
        </p:txBody>
      </p:sp>
      <p:sp>
        <p:nvSpPr>
          <p:cNvPr id="19" name="Text 17"/>
          <p:cNvSpPr txBox="1"/>
          <p:nvPr/>
        </p:nvSpPr>
        <p:spPr>
          <a:xfrm>
            <a:off x="1143000" y="2953512"/>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既存の4隅 (25,10)(25,25)(50,10)(50,25) と合わせ、A 25・35・50m × D 10・17・25m の格子にした。</a:t>
            </a:r>
            <a:endParaRPr lang="en-US" sz="1030" dirty="0"/>
          </a:p>
        </p:txBody>
      </p:sp>
      <p:sp>
        <p:nvSpPr>
          <p:cNvPr id="20" name="Shape 18"/>
          <p:cNvSpPr/>
          <p:nvPr/>
        </p:nvSpPr>
        <p:spPr>
          <a:xfrm>
            <a:off x="457200" y="3575304"/>
            <a:ext cx="5486400" cy="914400"/>
          </a:xfrm>
          <a:prstGeom prst="roundRect">
            <a:avLst>
              <a:gd name="adj" fmla="val 6000"/>
            </a:avLst>
          </a:prstGeom>
          <a:solidFill>
            <a:srgbClr val="EAEEF2"/>
          </a:solidFill>
          <a:ln w="12700">
            <a:solidFill>
              <a:srgbClr val="DBE0E6"/>
            </a:solidFill>
            <a:prstDash val="solid"/>
          </a:ln>
        </p:spPr>
        <p:txBody>
          <a:bodyPr/>
          <a:p/>
        </p:txBody>
      </p:sp>
      <p:sp>
        <p:nvSpPr>
          <p:cNvPr id="21" name="Shape 19"/>
          <p:cNvSpPr/>
          <p:nvPr/>
        </p:nvSpPr>
        <p:spPr>
          <a:xfrm>
            <a:off x="594360" y="3831336"/>
            <a:ext cx="402336" cy="402336"/>
          </a:xfrm>
          <a:prstGeom prst="ellipse">
            <a:avLst/>
          </a:prstGeom>
          <a:solidFill>
            <a:srgbClr val="1F6F78"/>
          </a:solidFill>
          <a:ln/>
        </p:spPr>
        <p:txBody>
          <a:bodyPr/>
          <a:p/>
        </p:txBody>
      </p:sp>
      <p:sp>
        <p:nvSpPr>
          <p:cNvPr id="22" name="Text 20"/>
          <p:cNvSpPr txBox="1"/>
          <p:nvPr/>
        </p:nvSpPr>
        <p:spPr>
          <a:xfrm>
            <a:off x="594360" y="3831336"/>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3" name="Text 21"/>
          <p:cNvSpPr txBox="1"/>
          <p:nvPr/>
        </p:nvSpPr>
        <p:spPr>
          <a:xfrm>
            <a:off x="1143000" y="3639312"/>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問題点そのものは答えに加えない</a:t>
            </a:r>
            <a:endParaRPr lang="en-US" sz="1250" dirty="0"/>
          </a:p>
        </p:txBody>
      </p:sp>
      <p:sp>
        <p:nvSpPr>
          <p:cNvPr id="24" name="Text 22"/>
          <p:cNvSpPr txBox="1"/>
          <p:nvPr/>
        </p:nvSpPr>
        <p:spPr>
          <a:xfrm>
            <a:off x="1143000" y="3941064"/>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A=35・D=15 は学習に入れず、周辺点からの補間で改善するかを確かめる。</a:t>
            </a:r>
            <a:endParaRPr lang="en-US" sz="1030" dirty="0"/>
          </a:p>
        </p:txBody>
      </p:sp>
      <p:sp>
        <p:nvSpPr>
          <p:cNvPr id="25" name="Shape 23"/>
          <p:cNvSpPr/>
          <p:nvPr/>
        </p:nvSpPr>
        <p:spPr>
          <a:xfrm>
            <a:off x="457200" y="4562856"/>
            <a:ext cx="5486400" cy="914400"/>
          </a:xfrm>
          <a:prstGeom prst="roundRect">
            <a:avLst>
              <a:gd name="adj" fmla="val 6000"/>
            </a:avLst>
          </a:prstGeom>
          <a:solidFill>
            <a:srgbClr val="EAEEF2"/>
          </a:solidFill>
          <a:ln w="12700">
            <a:solidFill>
              <a:srgbClr val="DBE0E6"/>
            </a:solidFill>
            <a:prstDash val="solid"/>
          </a:ln>
        </p:spPr>
        <p:txBody>
          <a:bodyPr/>
          <a:p/>
        </p:txBody>
      </p:sp>
      <p:sp>
        <p:nvSpPr>
          <p:cNvPr id="26" name="Shape 24"/>
          <p:cNvSpPr/>
          <p:nvPr/>
        </p:nvSpPr>
        <p:spPr>
          <a:xfrm>
            <a:off x="594360" y="4818888"/>
            <a:ext cx="402336" cy="402336"/>
          </a:xfrm>
          <a:prstGeom prst="ellipse">
            <a:avLst/>
          </a:prstGeom>
          <a:solidFill>
            <a:srgbClr val="1F6F78"/>
          </a:solidFill>
          <a:ln/>
        </p:spPr>
        <p:txBody>
          <a:bodyPr/>
          <a:p/>
        </p:txBody>
      </p:sp>
      <p:sp>
        <p:nvSpPr>
          <p:cNvPr id="27" name="Text 25"/>
          <p:cNvSpPr txBox="1"/>
          <p:nvPr/>
        </p:nvSpPr>
        <p:spPr>
          <a:xfrm>
            <a:off x="594360" y="4818888"/>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28" name="Text 26"/>
          <p:cNvSpPr txBox="1"/>
          <p:nvPr/>
        </p:nvSpPr>
        <p:spPr>
          <a:xfrm>
            <a:off x="1143000" y="4626864"/>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新しい6パターンで効果を確認</a:t>
            </a:r>
            <a:endParaRPr lang="en-US" sz="1250" dirty="0"/>
          </a:p>
        </p:txBody>
      </p:sp>
      <p:sp>
        <p:nvSpPr>
          <p:cNvPr id="29" name="Text 27"/>
          <p:cNvSpPr txBox="1"/>
          <p:nvPr/>
        </p:nvSpPr>
        <p:spPr>
          <a:xfrm>
            <a:off x="1143000" y="4928616"/>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(28,13)(31,21)(38,14)(41,23)(46,12)(48,19) で改善前後を比較（次ページ）。</a:t>
            </a:r>
            <a:endParaRPr lang="en-US" sz="1030" dirty="0"/>
          </a:p>
        </p:txBody>
      </p:sp>
      <p:sp>
        <p:nvSpPr>
          <p:cNvPr id="30" name="Text 28"/>
          <p:cNvSpPr txBox="1"/>
          <p:nvPr/>
        </p:nvSpPr>
        <p:spPr>
          <a:xfrm>
            <a:off x="457200" y="5577840"/>
            <a:ext cx="54864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 ）内は（高さ A, 隙間 D）、単位 m</a:t>
            </a:r>
            <a:endParaRPr lang="en-US" sz="950" dirty="0"/>
          </a:p>
        </p:txBody>
      </p:sp>
      <p:sp>
        <p:nvSpPr>
          <p:cNvPr id="31" name="Shape 29"/>
          <p:cNvSpPr/>
          <p:nvPr/>
        </p:nvSpPr>
        <p:spPr>
          <a:xfrm>
            <a:off x="7040880" y="1645920"/>
            <a:ext cx="4480560" cy="3337560"/>
          </a:xfrm>
          <a:prstGeom prst="rect">
            <a:avLst/>
          </a:prstGeom>
          <a:solidFill>
            <a:srgbClr val="F3F5F8"/>
          </a:solidFill>
          <a:ln w="12700">
            <a:solidFill>
              <a:srgbClr val="DBE0E6"/>
            </a:solidFill>
            <a:prstDash val="solid"/>
          </a:ln>
        </p:spPr>
        <p:txBody>
          <a:bodyPr/>
          <a:p/>
        </p:txBody>
      </p:sp>
      <p:sp>
        <p:nvSpPr>
          <p:cNvPr id="32" name="Shape 30"/>
          <p:cNvSpPr/>
          <p:nvPr/>
        </p:nvSpPr>
        <p:spPr>
          <a:xfrm>
            <a:off x="7936992" y="1645920"/>
            <a:ext cx="0" cy="3337560"/>
          </a:xfrm>
          <a:prstGeom prst="line">
            <a:avLst/>
          </a:prstGeom>
          <a:noFill/>
          <a:ln w="9525">
            <a:solidFill>
              <a:srgbClr val="DBE0E6"/>
            </a:solidFill>
            <a:prstDash val="dash"/>
          </a:ln>
        </p:spPr>
        <p:txBody>
          <a:bodyPr/>
          <a:p/>
        </p:txBody>
      </p:sp>
      <p:sp>
        <p:nvSpPr>
          <p:cNvPr id="33" name="Text 31"/>
          <p:cNvSpPr txBox="1"/>
          <p:nvPr/>
        </p:nvSpPr>
        <p:spPr>
          <a:xfrm>
            <a:off x="7525512"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a:t>
            </a:r>
            <a:endParaRPr lang="en-US" sz="1000" dirty="0"/>
          </a:p>
        </p:txBody>
      </p:sp>
      <p:sp>
        <p:nvSpPr>
          <p:cNvPr id="34" name="Shape 32"/>
          <p:cNvSpPr/>
          <p:nvPr/>
        </p:nvSpPr>
        <p:spPr>
          <a:xfrm>
            <a:off x="9191549" y="1645920"/>
            <a:ext cx="0" cy="3337560"/>
          </a:xfrm>
          <a:prstGeom prst="line">
            <a:avLst/>
          </a:prstGeom>
          <a:noFill/>
          <a:ln w="9525">
            <a:solidFill>
              <a:srgbClr val="DBE0E6"/>
            </a:solidFill>
            <a:prstDash val="dash"/>
          </a:ln>
        </p:spPr>
        <p:txBody>
          <a:bodyPr/>
          <a:p/>
        </p:txBody>
      </p:sp>
      <p:sp>
        <p:nvSpPr>
          <p:cNvPr id="35" name="Text 33"/>
          <p:cNvSpPr txBox="1"/>
          <p:nvPr/>
        </p:nvSpPr>
        <p:spPr>
          <a:xfrm>
            <a:off x="8780069"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17</a:t>
            </a:r>
            <a:endParaRPr lang="en-US" sz="1000" dirty="0"/>
          </a:p>
        </p:txBody>
      </p:sp>
      <p:sp>
        <p:nvSpPr>
          <p:cNvPr id="36" name="Shape 34"/>
          <p:cNvSpPr/>
          <p:nvPr/>
        </p:nvSpPr>
        <p:spPr>
          <a:xfrm>
            <a:off x="10625328" y="1645920"/>
            <a:ext cx="0" cy="3337560"/>
          </a:xfrm>
          <a:prstGeom prst="line">
            <a:avLst/>
          </a:prstGeom>
          <a:noFill/>
          <a:ln w="9525">
            <a:solidFill>
              <a:srgbClr val="DBE0E6"/>
            </a:solidFill>
            <a:prstDash val="dash"/>
          </a:ln>
        </p:spPr>
        <p:txBody>
          <a:bodyPr/>
          <a:p/>
        </p:txBody>
      </p:sp>
      <p:sp>
        <p:nvSpPr>
          <p:cNvPr id="37" name="Text 35"/>
          <p:cNvSpPr txBox="1"/>
          <p:nvPr/>
        </p:nvSpPr>
        <p:spPr>
          <a:xfrm>
            <a:off x="10213848"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38" name="Shape 36"/>
          <p:cNvSpPr/>
          <p:nvPr/>
        </p:nvSpPr>
        <p:spPr>
          <a:xfrm>
            <a:off x="7040880" y="4506686"/>
            <a:ext cx="4480560" cy="0"/>
          </a:xfrm>
          <a:prstGeom prst="line">
            <a:avLst/>
          </a:prstGeom>
          <a:noFill/>
          <a:ln w="9525">
            <a:solidFill>
              <a:srgbClr val="DBE0E6"/>
            </a:solidFill>
            <a:prstDash val="dash"/>
          </a:ln>
        </p:spPr>
        <p:txBody>
          <a:bodyPr/>
          <a:p/>
        </p:txBody>
      </p:sp>
      <p:sp>
        <p:nvSpPr>
          <p:cNvPr id="39" name="Text 37"/>
          <p:cNvSpPr txBox="1"/>
          <p:nvPr/>
        </p:nvSpPr>
        <p:spPr>
          <a:xfrm>
            <a:off x="6473952" y="4387814"/>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40" name="Shape 38"/>
          <p:cNvSpPr/>
          <p:nvPr/>
        </p:nvSpPr>
        <p:spPr>
          <a:xfrm>
            <a:off x="7040880" y="3553097"/>
            <a:ext cx="4480560" cy="0"/>
          </a:xfrm>
          <a:prstGeom prst="line">
            <a:avLst/>
          </a:prstGeom>
          <a:noFill/>
          <a:ln w="9525">
            <a:solidFill>
              <a:srgbClr val="DBE0E6"/>
            </a:solidFill>
            <a:prstDash val="dash"/>
          </a:ln>
        </p:spPr>
        <p:txBody>
          <a:bodyPr/>
          <a:p/>
        </p:txBody>
      </p:sp>
      <p:sp>
        <p:nvSpPr>
          <p:cNvPr id="41" name="Text 39"/>
          <p:cNvSpPr txBox="1"/>
          <p:nvPr/>
        </p:nvSpPr>
        <p:spPr>
          <a:xfrm>
            <a:off x="6473952" y="343422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35</a:t>
            </a:r>
            <a:endParaRPr lang="en-US" sz="1000" dirty="0"/>
          </a:p>
        </p:txBody>
      </p:sp>
      <p:sp>
        <p:nvSpPr>
          <p:cNvPr id="42" name="Shape 40"/>
          <p:cNvSpPr/>
          <p:nvPr/>
        </p:nvSpPr>
        <p:spPr>
          <a:xfrm>
            <a:off x="7040880" y="2122714"/>
            <a:ext cx="4480560" cy="0"/>
          </a:xfrm>
          <a:prstGeom prst="line">
            <a:avLst/>
          </a:prstGeom>
          <a:noFill/>
          <a:ln w="9525">
            <a:solidFill>
              <a:srgbClr val="DBE0E6"/>
            </a:solidFill>
            <a:prstDash val="dash"/>
          </a:ln>
        </p:spPr>
        <p:txBody>
          <a:bodyPr/>
          <a:p/>
        </p:txBody>
      </p:sp>
      <p:sp>
        <p:nvSpPr>
          <p:cNvPr id="43" name="Text 41"/>
          <p:cNvSpPr txBox="1"/>
          <p:nvPr/>
        </p:nvSpPr>
        <p:spPr>
          <a:xfrm>
            <a:off x="6473952" y="200384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44" name="Text 42"/>
          <p:cNvSpPr txBox="1"/>
          <p:nvPr/>
        </p:nvSpPr>
        <p:spPr>
          <a:xfrm>
            <a:off x="7040880" y="5257800"/>
            <a:ext cx="448056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45" name="Text 43"/>
          <p:cNvSpPr txBox="1"/>
          <p:nvPr/>
        </p:nvSpPr>
        <p:spPr>
          <a:xfrm rot="16200000">
            <a:off x="5102352" y="3177540"/>
            <a:ext cx="228600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46" name="Shape 44"/>
          <p:cNvSpPr/>
          <p:nvPr/>
        </p:nvSpPr>
        <p:spPr>
          <a:xfrm>
            <a:off x="7845552" y="4415246"/>
            <a:ext cx="182880" cy="182880"/>
          </a:xfrm>
          <a:prstGeom prst="rect">
            <a:avLst/>
          </a:prstGeom>
          <a:solidFill>
            <a:srgbClr val="1B2A44"/>
          </a:solidFill>
          <a:ln w="12700">
            <a:solidFill>
              <a:srgbClr val="FFFFFF"/>
            </a:solidFill>
            <a:prstDash val="solid"/>
          </a:ln>
        </p:spPr>
        <p:txBody>
          <a:bodyPr/>
          <a:p/>
        </p:txBody>
      </p:sp>
      <p:sp>
        <p:nvSpPr>
          <p:cNvPr id="47" name="Shape 45"/>
          <p:cNvSpPr/>
          <p:nvPr/>
        </p:nvSpPr>
        <p:spPr>
          <a:xfrm>
            <a:off x="10533888" y="4415246"/>
            <a:ext cx="182880" cy="182880"/>
          </a:xfrm>
          <a:prstGeom prst="rect">
            <a:avLst/>
          </a:prstGeom>
          <a:solidFill>
            <a:srgbClr val="1B2A44"/>
          </a:solidFill>
          <a:ln w="12700">
            <a:solidFill>
              <a:srgbClr val="FFFFFF"/>
            </a:solidFill>
            <a:prstDash val="solid"/>
          </a:ln>
        </p:spPr>
        <p:txBody>
          <a:bodyPr/>
          <a:p/>
        </p:txBody>
      </p:sp>
      <p:sp>
        <p:nvSpPr>
          <p:cNvPr id="48" name="Shape 46"/>
          <p:cNvSpPr/>
          <p:nvPr/>
        </p:nvSpPr>
        <p:spPr>
          <a:xfrm>
            <a:off x="7845552" y="2031274"/>
            <a:ext cx="182880" cy="182880"/>
          </a:xfrm>
          <a:prstGeom prst="rect">
            <a:avLst/>
          </a:prstGeom>
          <a:solidFill>
            <a:srgbClr val="1B2A44"/>
          </a:solidFill>
          <a:ln w="12700">
            <a:solidFill>
              <a:srgbClr val="FFFFFF"/>
            </a:solidFill>
            <a:prstDash val="solid"/>
          </a:ln>
        </p:spPr>
        <p:txBody>
          <a:bodyPr/>
          <a:p/>
        </p:txBody>
      </p:sp>
      <p:sp>
        <p:nvSpPr>
          <p:cNvPr id="49" name="Shape 47"/>
          <p:cNvSpPr/>
          <p:nvPr/>
        </p:nvSpPr>
        <p:spPr>
          <a:xfrm>
            <a:off x="10533888" y="2031274"/>
            <a:ext cx="182880" cy="182880"/>
          </a:xfrm>
          <a:prstGeom prst="rect">
            <a:avLst/>
          </a:prstGeom>
          <a:solidFill>
            <a:srgbClr val="1B2A44"/>
          </a:solidFill>
          <a:ln w="12700">
            <a:solidFill>
              <a:srgbClr val="FFFFFF"/>
            </a:solidFill>
            <a:prstDash val="solid"/>
          </a:ln>
        </p:spPr>
        <p:txBody>
          <a:bodyPr/>
          <a:p/>
        </p:txBody>
      </p:sp>
      <p:sp>
        <p:nvSpPr>
          <p:cNvPr id="50" name="Shape 48"/>
          <p:cNvSpPr/>
          <p:nvPr/>
        </p:nvSpPr>
        <p:spPr>
          <a:xfrm>
            <a:off x="9090965" y="4406102"/>
            <a:ext cx="201168" cy="201168"/>
          </a:xfrm>
          <a:prstGeom prst="ellipse">
            <a:avLst/>
          </a:prstGeom>
          <a:solidFill>
            <a:srgbClr val="E8934D"/>
          </a:solidFill>
          <a:ln w="12700">
            <a:solidFill>
              <a:srgbClr val="FFFFFF"/>
            </a:solidFill>
            <a:prstDash val="solid"/>
          </a:ln>
        </p:spPr>
        <p:txBody>
          <a:bodyPr/>
          <a:p/>
        </p:txBody>
      </p:sp>
      <p:sp>
        <p:nvSpPr>
          <p:cNvPr id="51" name="Shape 49"/>
          <p:cNvSpPr/>
          <p:nvPr/>
        </p:nvSpPr>
        <p:spPr>
          <a:xfrm>
            <a:off x="7836408" y="3452513"/>
            <a:ext cx="201168" cy="201168"/>
          </a:xfrm>
          <a:prstGeom prst="ellipse">
            <a:avLst/>
          </a:prstGeom>
          <a:solidFill>
            <a:srgbClr val="E8934D"/>
          </a:solidFill>
          <a:ln w="12700">
            <a:solidFill>
              <a:srgbClr val="FFFFFF"/>
            </a:solidFill>
            <a:prstDash val="solid"/>
          </a:ln>
        </p:spPr>
        <p:txBody>
          <a:bodyPr/>
          <a:p/>
        </p:txBody>
      </p:sp>
      <p:sp>
        <p:nvSpPr>
          <p:cNvPr id="52" name="Shape 50"/>
          <p:cNvSpPr/>
          <p:nvPr/>
        </p:nvSpPr>
        <p:spPr>
          <a:xfrm>
            <a:off x="9090965" y="3452513"/>
            <a:ext cx="201168" cy="201168"/>
          </a:xfrm>
          <a:prstGeom prst="ellipse">
            <a:avLst/>
          </a:prstGeom>
          <a:solidFill>
            <a:srgbClr val="E8934D"/>
          </a:solidFill>
          <a:ln w="12700">
            <a:solidFill>
              <a:srgbClr val="FFFFFF"/>
            </a:solidFill>
            <a:prstDash val="solid"/>
          </a:ln>
        </p:spPr>
        <p:txBody>
          <a:bodyPr/>
          <a:p/>
        </p:txBody>
      </p:sp>
      <p:sp>
        <p:nvSpPr>
          <p:cNvPr id="53" name="Shape 51"/>
          <p:cNvSpPr/>
          <p:nvPr/>
        </p:nvSpPr>
        <p:spPr>
          <a:xfrm>
            <a:off x="10524744" y="3452513"/>
            <a:ext cx="201168" cy="201168"/>
          </a:xfrm>
          <a:prstGeom prst="ellipse">
            <a:avLst/>
          </a:prstGeom>
          <a:solidFill>
            <a:srgbClr val="E8934D"/>
          </a:solidFill>
          <a:ln w="12700">
            <a:solidFill>
              <a:srgbClr val="FFFFFF"/>
            </a:solidFill>
            <a:prstDash val="solid"/>
          </a:ln>
        </p:spPr>
        <p:txBody>
          <a:bodyPr/>
          <a:p/>
        </p:txBody>
      </p:sp>
      <p:sp>
        <p:nvSpPr>
          <p:cNvPr id="54" name="Shape 52"/>
          <p:cNvSpPr/>
          <p:nvPr/>
        </p:nvSpPr>
        <p:spPr>
          <a:xfrm>
            <a:off x="9090965" y="2022130"/>
            <a:ext cx="201168" cy="201168"/>
          </a:xfrm>
          <a:prstGeom prst="ellipse">
            <a:avLst/>
          </a:prstGeom>
          <a:solidFill>
            <a:srgbClr val="E8934D"/>
          </a:solidFill>
          <a:ln w="12700">
            <a:solidFill>
              <a:srgbClr val="FFFFFF"/>
            </a:solidFill>
            <a:prstDash val="solid"/>
          </a:ln>
        </p:spPr>
        <p:txBody>
          <a:bodyPr/>
          <a:p/>
        </p:txBody>
      </p:sp>
      <p:sp>
        <p:nvSpPr>
          <p:cNvPr id="55" name="Shape 53"/>
          <p:cNvSpPr/>
          <p:nvPr/>
        </p:nvSpPr>
        <p:spPr>
          <a:xfrm>
            <a:off x="8392363" y="4138313"/>
            <a:ext cx="164592" cy="164592"/>
          </a:xfrm>
          <a:prstGeom prst="diamond">
            <a:avLst/>
          </a:prstGeom>
          <a:solidFill>
            <a:srgbClr val="1F6F78"/>
          </a:solidFill>
          <a:ln w="12700">
            <a:solidFill>
              <a:srgbClr val="FFFFFF"/>
            </a:solidFill>
            <a:prstDash val="solid"/>
          </a:ln>
        </p:spPr>
        <p:txBody>
          <a:bodyPr/>
          <a:p/>
        </p:txBody>
      </p:sp>
      <p:sp>
        <p:nvSpPr>
          <p:cNvPr id="56" name="Shape 54"/>
          <p:cNvSpPr/>
          <p:nvPr/>
        </p:nvSpPr>
        <p:spPr>
          <a:xfrm>
            <a:off x="9826142" y="3852237"/>
            <a:ext cx="164592" cy="164592"/>
          </a:xfrm>
          <a:prstGeom prst="diamond">
            <a:avLst/>
          </a:prstGeom>
          <a:solidFill>
            <a:srgbClr val="1F6F78"/>
          </a:solidFill>
          <a:ln w="12700">
            <a:solidFill>
              <a:srgbClr val="FFFFFF"/>
            </a:solidFill>
            <a:prstDash val="solid"/>
          </a:ln>
        </p:spPr>
        <p:txBody>
          <a:bodyPr/>
          <a:p/>
        </p:txBody>
      </p:sp>
      <p:sp>
        <p:nvSpPr>
          <p:cNvPr id="57" name="Shape 55"/>
          <p:cNvSpPr/>
          <p:nvPr/>
        </p:nvSpPr>
        <p:spPr>
          <a:xfrm>
            <a:off x="8571586" y="3184725"/>
            <a:ext cx="164592" cy="164592"/>
          </a:xfrm>
          <a:prstGeom prst="diamond">
            <a:avLst/>
          </a:prstGeom>
          <a:solidFill>
            <a:srgbClr val="1F6F78"/>
          </a:solidFill>
          <a:ln w="12700">
            <a:solidFill>
              <a:srgbClr val="FFFFFF"/>
            </a:solidFill>
            <a:prstDash val="solid"/>
          </a:ln>
        </p:spPr>
        <p:txBody>
          <a:bodyPr/>
          <a:p/>
        </p:txBody>
      </p:sp>
      <p:sp>
        <p:nvSpPr>
          <p:cNvPr id="58" name="Shape 56"/>
          <p:cNvSpPr/>
          <p:nvPr/>
        </p:nvSpPr>
        <p:spPr>
          <a:xfrm>
            <a:off x="10184587" y="2898648"/>
            <a:ext cx="164592" cy="164592"/>
          </a:xfrm>
          <a:prstGeom prst="diamond">
            <a:avLst/>
          </a:prstGeom>
          <a:solidFill>
            <a:srgbClr val="1F6F78"/>
          </a:solidFill>
          <a:ln w="12700">
            <a:solidFill>
              <a:srgbClr val="FFFFFF"/>
            </a:solidFill>
            <a:prstDash val="solid"/>
          </a:ln>
        </p:spPr>
        <p:txBody>
          <a:bodyPr/>
          <a:p/>
        </p:txBody>
      </p:sp>
      <p:sp>
        <p:nvSpPr>
          <p:cNvPr id="59" name="Shape 57"/>
          <p:cNvSpPr/>
          <p:nvPr/>
        </p:nvSpPr>
        <p:spPr>
          <a:xfrm>
            <a:off x="8213141" y="2421854"/>
            <a:ext cx="164592" cy="164592"/>
          </a:xfrm>
          <a:prstGeom prst="diamond">
            <a:avLst/>
          </a:prstGeom>
          <a:solidFill>
            <a:srgbClr val="1F6F78"/>
          </a:solidFill>
          <a:ln w="12700">
            <a:solidFill>
              <a:srgbClr val="FFFFFF"/>
            </a:solidFill>
            <a:prstDash val="solid"/>
          </a:ln>
        </p:spPr>
        <p:txBody>
          <a:bodyPr/>
          <a:p/>
        </p:txBody>
      </p:sp>
      <p:sp>
        <p:nvSpPr>
          <p:cNvPr id="60" name="Shape 58"/>
          <p:cNvSpPr/>
          <p:nvPr/>
        </p:nvSpPr>
        <p:spPr>
          <a:xfrm>
            <a:off x="9467698" y="2231136"/>
            <a:ext cx="164592" cy="164592"/>
          </a:xfrm>
          <a:prstGeom prst="diamond">
            <a:avLst/>
          </a:prstGeom>
          <a:solidFill>
            <a:srgbClr val="1F6F78"/>
          </a:solidFill>
          <a:ln w="12700">
            <a:solidFill>
              <a:srgbClr val="FFFFFF"/>
            </a:solidFill>
            <a:prstDash val="solid"/>
          </a:ln>
        </p:spPr>
        <p:txBody>
          <a:bodyPr/>
          <a:p/>
        </p:txBody>
      </p:sp>
      <p:sp>
        <p:nvSpPr>
          <p:cNvPr id="61" name="Shape 59"/>
          <p:cNvSpPr/>
          <p:nvPr/>
        </p:nvSpPr>
        <p:spPr>
          <a:xfrm>
            <a:off x="8723376" y="3443369"/>
            <a:ext cx="219456" cy="219456"/>
          </a:xfrm>
          <a:prstGeom prst="line">
            <a:avLst/>
          </a:prstGeom>
          <a:noFill/>
          <a:ln w="31750">
            <a:solidFill>
              <a:srgbClr val="B04A3F"/>
            </a:solidFill>
            <a:prstDash val="solid"/>
          </a:ln>
        </p:spPr>
        <p:txBody>
          <a:bodyPr/>
          <a:p/>
        </p:txBody>
      </p:sp>
      <p:sp>
        <p:nvSpPr>
          <p:cNvPr id="62" name="Shape 60"/>
          <p:cNvSpPr/>
          <p:nvPr/>
        </p:nvSpPr>
        <p:spPr>
          <a:xfrm>
            <a:off x="8723376" y="3662825"/>
            <a:ext cx="219456" cy="0"/>
          </a:xfrm>
          <a:prstGeom prst="line">
            <a:avLst/>
          </a:prstGeom>
          <a:noFill/>
          <a:ln w="31750">
            <a:solidFill>
              <a:srgbClr val="B04A3F"/>
            </a:solidFill>
            <a:prstDash val="solid"/>
          </a:ln>
        </p:spPr>
        <p:txBody>
          <a:bodyPr/>
          <a:p/>
        </p:txBody>
      </p:sp>
      <p:sp>
        <p:nvSpPr>
          <p:cNvPr id="63" name="Text 61"/>
          <p:cNvSpPr txBox="1"/>
          <p:nvPr/>
        </p:nvSpPr>
        <p:spPr>
          <a:xfrm>
            <a:off x="8330184" y="3681113"/>
            <a:ext cx="1005840" cy="237744"/>
          </a:xfrm>
          <a:prstGeom prst="rect">
            <a:avLst/>
          </a:prstGeom>
          <a:noFill/>
          <a:ln/>
        </p:spPr>
        <p:txBody>
          <a:bodyPr wrap="square" rtlCol="0" anchor="t"/>
          <a:lstStyle/>
          <a:p>
            <a:pPr marL="0" indent="0" algn="ctr">
              <a:buNone/>
            </a:pPr>
            <a:r>
              <a:rPr lang="en-US" sz="950" b="1" dirty="0">
                <a:solidFill>
                  <a:srgbClr val="B04A3F"/>
                </a:solidFill>
                <a:latin typeface="Yu Gothic" pitchFamily="34" charset="0"/>
                <a:ea typeface="Yu Gothic" pitchFamily="34" charset="-122"/>
                <a:cs typeface="Yu Gothic" pitchFamily="34" charset="-120"/>
              </a:rPr>
              <a:t>最大誤差点</a:t>
            </a:r>
            <a:endParaRPr lang="en-US" sz="950" dirty="0"/>
          </a:p>
        </p:txBody>
      </p:sp>
      <p:sp>
        <p:nvSpPr>
          <p:cNvPr id="64" name="Shape 62"/>
          <p:cNvSpPr/>
          <p:nvPr/>
        </p:nvSpPr>
        <p:spPr>
          <a:xfrm>
            <a:off x="7040880" y="5669280"/>
            <a:ext cx="146304" cy="146304"/>
          </a:xfrm>
          <a:prstGeom prst="rect">
            <a:avLst/>
          </a:prstGeom>
          <a:solidFill>
            <a:srgbClr val="1B2A44"/>
          </a:solidFill>
          <a:ln/>
        </p:spPr>
        <p:txBody>
          <a:bodyPr/>
          <a:p/>
        </p:txBody>
      </p:sp>
      <p:sp>
        <p:nvSpPr>
          <p:cNvPr id="65" name="Text 63"/>
          <p:cNvSpPr txBox="1"/>
          <p:nvPr/>
        </p:nvSpPr>
        <p:spPr>
          <a:xfrm>
            <a:off x="7260336" y="5577840"/>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既存の4隅</a:t>
            </a:r>
            <a:endParaRPr lang="en-US" sz="1050" dirty="0"/>
          </a:p>
        </p:txBody>
      </p:sp>
      <p:sp>
        <p:nvSpPr>
          <p:cNvPr id="66" name="Shape 64"/>
          <p:cNvSpPr/>
          <p:nvPr/>
        </p:nvSpPr>
        <p:spPr>
          <a:xfrm>
            <a:off x="8357616" y="5669280"/>
            <a:ext cx="146304" cy="146304"/>
          </a:xfrm>
          <a:prstGeom prst="ellipse">
            <a:avLst/>
          </a:prstGeom>
          <a:solidFill>
            <a:srgbClr val="E8934D"/>
          </a:solidFill>
          <a:ln/>
        </p:spPr>
        <p:txBody>
          <a:bodyPr/>
          <a:p/>
        </p:txBody>
      </p:sp>
      <p:sp>
        <p:nvSpPr>
          <p:cNvPr id="67" name="Text 65"/>
          <p:cNvSpPr txBox="1"/>
          <p:nvPr/>
        </p:nvSpPr>
        <p:spPr>
          <a:xfrm>
            <a:off x="8577072" y="5577840"/>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追加した5点</a:t>
            </a:r>
            <a:endParaRPr lang="en-US" sz="1050" dirty="0"/>
          </a:p>
        </p:txBody>
      </p:sp>
      <p:sp>
        <p:nvSpPr>
          <p:cNvPr id="68" name="Shape 66"/>
          <p:cNvSpPr/>
          <p:nvPr/>
        </p:nvSpPr>
        <p:spPr>
          <a:xfrm>
            <a:off x="7040880" y="5952744"/>
            <a:ext cx="155448" cy="155448"/>
          </a:xfrm>
          <a:prstGeom prst="line">
            <a:avLst/>
          </a:prstGeom>
          <a:noFill/>
          <a:ln w="28575">
            <a:solidFill>
              <a:srgbClr val="B04A3F"/>
            </a:solidFill>
            <a:prstDash val="solid"/>
          </a:ln>
        </p:spPr>
        <p:txBody>
          <a:bodyPr/>
          <a:p/>
        </p:txBody>
      </p:sp>
      <p:sp>
        <p:nvSpPr>
          <p:cNvPr id="69" name="Shape 67"/>
          <p:cNvSpPr/>
          <p:nvPr/>
        </p:nvSpPr>
        <p:spPr>
          <a:xfrm>
            <a:off x="7040880" y="6108192"/>
            <a:ext cx="155448" cy="0"/>
          </a:xfrm>
          <a:prstGeom prst="line">
            <a:avLst/>
          </a:prstGeom>
          <a:noFill/>
          <a:ln w="28575">
            <a:solidFill>
              <a:srgbClr val="B04A3F"/>
            </a:solidFill>
            <a:prstDash val="solid"/>
          </a:ln>
        </p:spPr>
        <p:txBody>
          <a:bodyPr/>
          <a:p/>
        </p:txBody>
      </p:sp>
      <p:sp>
        <p:nvSpPr>
          <p:cNvPr id="70" name="Text 68"/>
          <p:cNvSpPr txBox="1"/>
          <p:nvPr/>
        </p:nvSpPr>
        <p:spPr>
          <a:xfrm>
            <a:off x="7260336" y="5870448"/>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最大誤差点</a:t>
            </a:r>
            <a:endParaRPr lang="en-US" sz="1050" dirty="0"/>
          </a:p>
        </p:txBody>
      </p:sp>
      <p:sp>
        <p:nvSpPr>
          <p:cNvPr id="71" name="Shape 69"/>
          <p:cNvSpPr/>
          <p:nvPr/>
        </p:nvSpPr>
        <p:spPr>
          <a:xfrm>
            <a:off x="8357616" y="5952744"/>
            <a:ext cx="155448" cy="155448"/>
          </a:xfrm>
          <a:prstGeom prst="diamond">
            <a:avLst/>
          </a:prstGeom>
          <a:solidFill>
            <a:srgbClr val="1F6F78"/>
          </a:solidFill>
          <a:ln/>
        </p:spPr>
        <p:txBody>
          <a:bodyPr/>
          <a:p/>
        </p:txBody>
      </p:sp>
      <p:sp>
        <p:nvSpPr>
          <p:cNvPr id="72" name="Text 70"/>
          <p:cNvSpPr txBox="1"/>
          <p:nvPr/>
        </p:nvSpPr>
        <p:spPr>
          <a:xfrm>
            <a:off x="8577072" y="5870448"/>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確認用の6点</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補強の効果：同じ6配置で MAE が 59.1% 減少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13 / 45</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確認用の6配置 × 南面5高さ帯 ＝ 30個の値をSEBEと比べ、広範囲版（16配置）と局所改良版（9配置）を比較した。</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76072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指標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広範囲版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局所改良版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変化</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平均絶対誤差 MAE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43.50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17.81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−59.1%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最大絶対誤差</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184.32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71.49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−61.2%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平均誤差率 MAPE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5.58%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2.31%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−3.27pt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最大誤差率</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18.75%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−11.64pt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3675888"/>
            <a:ext cx="576072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誤差の単位は kWh/m²</a:t>
            </a:r>
            <a:endParaRPr lang="en-US" sz="950" dirty="0"/>
          </a:p>
        </p:txBody>
      </p:sp>
      <p:sp>
        <p:nvSpPr>
          <p:cNvPr id="12" name="Shape 9"/>
          <p:cNvSpPr/>
          <p:nvPr/>
        </p:nvSpPr>
        <p:spPr>
          <a:xfrm>
            <a:off x="457200" y="4023360"/>
            <a:ext cx="5760720" cy="1234440"/>
          </a:xfrm>
          <a:prstGeom prst="roundRect">
            <a:avLst>
              <a:gd name="adj" fmla="val 4444"/>
            </a:avLst>
          </a:prstGeom>
          <a:solidFill>
            <a:srgbClr val="1B2A44"/>
          </a:solidFill>
          <a:ln/>
        </p:spPr>
        <p:txBody>
          <a:bodyPr/>
          <a:p/>
        </p:txBody>
      </p:sp>
      <p:sp>
        <p:nvSpPr>
          <p:cNvPr id="13" name="Text 10"/>
          <p:cNvSpPr txBox="1"/>
          <p:nvPr/>
        </p:nvSpPr>
        <p:spPr>
          <a:xfrm>
            <a:off x="731520" y="4114800"/>
            <a:ext cx="2743200" cy="274320"/>
          </a:xfrm>
          <a:prstGeom prst="rect">
            <a:avLst/>
          </a:prstGeom>
          <a:noFill/>
          <a:ln/>
        </p:spPr>
        <p:txBody>
          <a:bodyPr wrap="square" rtlCol="0" anchor="t"/>
          <a:lstStyle/>
          <a:p>
            <a:pPr marL="0" indent="0">
              <a:buNone/>
            </a:pPr>
            <a:r>
              <a:rPr lang="en-US" sz="1200" b="1" dirty="0">
                <a:solidFill>
                  <a:srgbClr val="E8934D"/>
                </a:solidFill>
                <a:latin typeface="Yu Gothic" pitchFamily="34" charset="0"/>
                <a:ea typeface="Yu Gothic" pitchFamily="34" charset="-122"/>
                <a:cs typeface="Yu Gothic" pitchFamily="34" charset="-120"/>
              </a:rPr>
              <a:t>MAE の削減率</a:t>
            </a:r>
            <a:endParaRPr lang="en-US" sz="1200" dirty="0"/>
          </a:p>
        </p:txBody>
      </p:sp>
      <p:sp>
        <p:nvSpPr>
          <p:cNvPr id="10" name="Text 11"/>
          <p:cNvSpPr txBox="1"/>
          <p:nvPr/>
        </p:nvSpPr>
        <p:spPr>
          <a:xfrm>
            <a:off x="731520" y="4370832"/>
            <a:ext cx="2560320" cy="777240"/>
          </a:xfrm>
          <a:prstGeom prst="rect">
            <a:avLst/>
          </a:prstGeom>
          <a:noFill/>
          <a:ln/>
        </p:spPr>
        <p:txBody>
          <a:bodyPr wrap="square" rtlCol="0" anchor="ctr"/>
          <a:lstStyle/>
          <a:p>
            <a:pPr marL="0" indent="0">
              <a:buNone/>
            </a:pPr>
            <a:r>
              <a:rPr lang="en-US" sz="4400" b="1" dirty="0">
                <a:solidFill>
                  <a:srgbClr val="FFFFFF"/>
                </a:solidFill>
                <a:latin typeface="Yu Gothic" pitchFamily="34" charset="0"/>
                <a:ea typeface="Yu Gothic" pitchFamily="34" charset="-122"/>
                <a:cs typeface="Yu Gothic" pitchFamily="34" charset="-120"/>
              </a:rPr>
              <a:t>59.1%</a:t>
            </a:r>
            <a:endParaRPr lang="en-US" sz="4400" dirty="0"/>
          </a:p>
        </p:txBody>
      </p:sp>
      <p:sp>
        <p:nvSpPr>
          <p:cNvPr id="15" name="Text 12"/>
          <p:cNvSpPr txBox="1"/>
          <p:nvPr/>
        </p:nvSpPr>
        <p:spPr>
          <a:xfrm>
            <a:off x="3291840" y="4434840"/>
            <a:ext cx="2834640" cy="685800"/>
          </a:xfrm>
          <a:prstGeom prst="rect">
            <a:avLst/>
          </a:prstGeom>
          <a:noFill/>
          <a:ln/>
        </p:spPr>
        <p:txBody>
          <a:bodyPr wrap="square" rtlCol="0" anchor="ctr"/>
          <a:lstStyle/>
          <a:p>
            <a:pPr marL="0" indent="0">
              <a:buNone/>
            </a:pPr>
            <a:r>
              <a:rPr lang="en-US" sz="1150" dirty="0">
                <a:solidFill>
                  <a:srgbClr val="CFE0EE"/>
                </a:solidFill>
                <a:latin typeface="Yu Gothic" pitchFamily="34" charset="0"/>
                <a:ea typeface="Yu Gothic" pitchFamily="34" charset="-122"/>
                <a:cs typeface="Yu Gothic" pitchFamily="34" charset="-120"/>
              </a:rPr>
              <a:t>43.50 → 17.81 kWh/m²</a:t>
            </a:r>
            <a:endParaRPr lang="en-US" sz="1150" dirty="0"/>
          </a:p>
          <a:p>
            <a:pPr marL="0" indent="0">
              <a:buNone/>
            </a:pPr>
            <a:r>
              <a:rPr lang="en-US" sz="1150" dirty="0">
                <a:solidFill>
                  <a:srgbClr val="CFE0EE"/>
                </a:solidFill>
                <a:latin typeface="Yu Gothic" pitchFamily="34" charset="0"/>
                <a:ea typeface="Yu Gothic" pitchFamily="34" charset="-122"/>
                <a:cs typeface="Yu Gothic" pitchFamily="34" charset="-120"/>
              </a:rPr>
              <a:t>最大誤差率も 18.75% → 7.11%</a:t>
            </a:r>
            <a:endParaRPr lang="en-US" sz="1150" dirty="0"/>
          </a:p>
        </p:txBody>
      </p:sp>
      <p:graphicFrame>
        <p:nvGraphicFramePr>
          <p:cNvPr id="16" name="Chart 0"/>
          <p:cNvGraphicFramePr/>
          <p:nvPr/>
        </p:nvGraphicFramePr>
        <p:xfrm>
          <a:off x="6446520" y="1508760"/>
          <a:ext cx="5285232"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3"/>
          <p:cNvSpPr/>
          <p:nvPr/>
        </p:nvSpPr>
        <p:spPr>
          <a:xfrm>
            <a:off x="457200" y="5440680"/>
            <a:ext cx="11274552" cy="868680"/>
          </a:xfrm>
          <a:prstGeom prst="roundRect">
            <a:avLst>
              <a:gd name="adj" fmla="val 6316"/>
            </a:avLst>
          </a:prstGeom>
          <a:solidFill>
            <a:srgbClr val="FBEBDA"/>
          </a:solidFill>
          <a:ln w="12700">
            <a:solidFill>
              <a:srgbClr val="E8934D"/>
            </a:solidFill>
            <a:prstDash val="solid"/>
          </a:ln>
        </p:spPr>
        <p:txBody>
          <a:bodyPr/>
          <a:p/>
        </p:txBody>
      </p:sp>
      <p:sp>
        <p:nvSpPr>
          <p:cNvPr id="18" name="Text 14"/>
          <p:cNvSpPr txBox="1"/>
          <p:nvPr/>
        </p:nvSpPr>
        <p:spPr>
          <a:xfrm>
            <a:off x="640080" y="5513832"/>
            <a:ext cx="1090879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効果を確認できた範囲</a:t>
            </a:r>
            <a:endParaRPr lang="en-US" sz="1200" dirty="0"/>
          </a:p>
        </p:txBody>
      </p:sp>
      <p:sp>
        <p:nvSpPr>
          <p:cNvPr id="19" name="Text 15"/>
          <p:cNvSpPr txBox="1"/>
          <p:nvPr/>
        </p:nvSpPr>
        <p:spPr>
          <a:xfrm>
            <a:off x="640080" y="5806440"/>
            <a:ext cx="10908792" cy="4480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改善は A 25〜50m・D 10〜25m の局所範囲の6配置で確認したもの。すべての高さ帯で平均誤差は下がったが、個々の予測がすべて改善したわけではない。範囲外は広範囲版を使う。</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完成したツール：2つの計算を別々に行っている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14 / 45</a:t>
            </a:r>
            <a:endParaRPr lang="en-US" sz="1100" dirty="0"/>
          </a:p>
        </p:txBody>
      </p:sp>
      <p:pic>
        <p:nvPicPr>
          <p:cNvPr id="9" name="Image 0" descr="/home/claude/tool/screen.png"/>
          <p:cNvPicPr>
            <a:picLocks noChangeAspect="1"/>
          </p:cNvPicPr>
          <p:nvPr/>
        </p:nvPicPr>
        <p:blipFill>
          <a:blip r:embed="rId3"/>
          <a:stretch>
            <a:fillRect/>
          </a:stretch>
        </p:blipFill>
        <p:spPr>
          <a:xfrm>
            <a:off x="457200" y="1188720"/>
            <a:ext cx="5440680" cy="3018442"/>
          </a:xfrm>
          <a:prstGeom prst="rect">
            <a:avLst/>
          </a:prstGeom>
        </p:spPr>
      </p:pic>
      <p:sp>
        <p:nvSpPr>
          <p:cNvPr id="10" name="Shape 7"/>
          <p:cNvSpPr/>
          <p:nvPr/>
        </p:nvSpPr>
        <p:spPr>
          <a:xfrm>
            <a:off x="457200" y="1188720"/>
            <a:ext cx="5440680" cy="3018442"/>
          </a:xfrm>
          <a:prstGeom prst="rect">
            <a:avLst/>
          </a:prstGeom>
          <a:ln w="12700">
            <a:solidFill>
              <a:srgbClr val="DBE0E6"/>
            </a:solidFill>
            <a:prstDash val="solid"/>
          </a:ln>
        </p:spPr>
        <p:txBody>
          <a:bodyPr/>
          <a:p/>
        </p:txBody>
      </p:sp>
      <p:sp>
        <p:nvSpPr>
          <p:cNvPr id="11" name="Text 8"/>
          <p:cNvSpPr txBox="1"/>
          <p:nvPr/>
        </p:nvSpPr>
        <p:spPr>
          <a:xfrm>
            <a:off x="457200" y="4234594"/>
            <a:ext cx="544068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ツールの画面（例：A 50m・D 14m、局所改良版、2026/9/22 16:06）</a:t>
            </a:r>
            <a:endParaRPr lang="en-US" sz="950" dirty="0"/>
          </a:p>
        </p:txBody>
      </p:sp>
      <p:sp>
        <p:nvSpPr>
          <p:cNvPr id="12" name="Shape 9"/>
          <p:cNvSpPr/>
          <p:nvPr/>
        </p:nvSpPr>
        <p:spPr>
          <a:xfrm>
            <a:off x="457200" y="4572000"/>
            <a:ext cx="5440680" cy="1737360"/>
          </a:xfrm>
          <a:prstGeom prst="roundRect">
            <a:avLst>
              <a:gd name="adj" fmla="val 3158"/>
            </a:avLst>
          </a:prstGeom>
          <a:solidFill>
            <a:srgbClr val="F3F5F8"/>
          </a:solidFill>
          <a:ln w="12700">
            <a:solidFill>
              <a:srgbClr val="DBE0E6"/>
            </a:solidFill>
            <a:prstDash val="solid"/>
          </a:ln>
        </p:spPr>
        <p:txBody>
          <a:bodyPr/>
          <a:p/>
        </p:txBody>
      </p:sp>
      <p:sp>
        <p:nvSpPr>
          <p:cNvPr id="13" name="Text 10"/>
          <p:cNvSpPr txBox="1"/>
          <p:nvPr/>
        </p:nvSpPr>
        <p:spPr>
          <a:xfrm>
            <a:off x="640080" y="4645152"/>
            <a:ext cx="507492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日付を冬→夏に変えると？</a:t>
            </a:r>
            <a:endParaRPr lang="en-US" sz="1200" dirty="0"/>
          </a:p>
        </p:txBody>
      </p:sp>
      <p:sp>
        <p:nvSpPr>
          <p:cNvPr id="14" name="Text 11"/>
          <p:cNvSpPr txBox="1"/>
          <p:nvPr/>
        </p:nvSpPr>
        <p:spPr>
          <a:xfrm>
            <a:off x="640080" y="4937760"/>
            <a:ext cx="5074920" cy="1316736"/>
          </a:xfrm>
          <a:prstGeom prst="rect">
            <a:avLst/>
          </a:prstGeom>
          <a:noFill/>
          <a:ln/>
        </p:spPr>
        <p:txBody>
          <a:bodyPr wrap="square" rtlCol="0" anchor="t"/>
          <a:lstStyle/>
          <a:p>
            <a:pPr marL="0" indent="0">
              <a:lnSpc>
                <a:spcPct val="108000"/>
              </a:lnSpc>
              <a:buNone/>
            </a:pPr>
            <a:r>
              <a:rPr lang="en-US" sz="1050" b="1" dirty="0">
                <a:solidFill>
                  <a:srgbClr val="1B2A44"/>
                </a:solidFill>
                <a:latin typeface="Yu Gothic" pitchFamily="34" charset="0"/>
                <a:ea typeface="Yu Gothic" pitchFamily="34" charset="-122"/>
                <a:cs typeface="Yu Gothic" pitchFamily="34" charset="-120"/>
              </a:rPr>
              <a:t>太陽の位置と影は変わる／年間日射量の予測値は変わらない</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年間値は同じ配置の1年間の結果のため。時刻はスライダーで1分単位、「日中を再生」で4分ずつ進む（6:00〜18:00）。</a:t>
            </a:r>
            <a:endParaRPr lang="en-US" sz="1050" dirty="0"/>
          </a:p>
        </p:txBody>
      </p:sp>
      <p:sp>
        <p:nvSpPr>
          <p:cNvPr id="15" name="Shape 12"/>
          <p:cNvSpPr/>
          <p:nvPr/>
        </p:nvSpPr>
        <p:spPr>
          <a:xfrm>
            <a:off x="6172200" y="118872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16" name="Shape 13"/>
          <p:cNvSpPr/>
          <p:nvPr/>
        </p:nvSpPr>
        <p:spPr>
          <a:xfrm>
            <a:off x="6172200" y="1188720"/>
            <a:ext cx="5559552" cy="420624"/>
          </a:xfrm>
          <a:prstGeom prst="rect">
            <a:avLst/>
          </a:prstGeom>
          <a:solidFill>
            <a:srgbClr val="1F6F78"/>
          </a:solidFill>
          <a:ln/>
        </p:spPr>
        <p:txBody>
          <a:bodyPr/>
          <a:p/>
        </p:txBody>
      </p:sp>
      <p:sp>
        <p:nvSpPr>
          <p:cNvPr id="17" name="Text 14"/>
          <p:cNvSpPr txBox="1"/>
          <p:nvPr/>
        </p:nvSpPr>
        <p:spPr>
          <a:xfrm>
            <a:off x="6355080" y="123444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① 年間日射量の予測</a:t>
            </a:r>
            <a:endParaRPr lang="en-US" sz="1400" dirty="0"/>
          </a:p>
        </p:txBody>
      </p:sp>
      <p:sp>
        <p:nvSpPr>
          <p:cNvPr id="18" name="Shape 15"/>
          <p:cNvSpPr/>
          <p:nvPr/>
        </p:nvSpPr>
        <p:spPr>
          <a:xfrm>
            <a:off x="6355080" y="1755648"/>
            <a:ext cx="868680" cy="274320"/>
          </a:xfrm>
          <a:prstGeom prst="roundRect">
            <a:avLst>
              <a:gd name="adj" fmla="val 16667"/>
            </a:avLst>
          </a:prstGeom>
          <a:solidFill>
            <a:srgbClr val="DCEAEC"/>
          </a:solidFill>
          <a:ln/>
        </p:spPr>
        <p:txBody>
          <a:bodyPr/>
          <a:p/>
        </p:txBody>
      </p:sp>
      <p:sp>
        <p:nvSpPr>
          <p:cNvPr id="19" name="Text 16"/>
          <p:cNvSpPr txBox="1"/>
          <p:nvPr/>
        </p:nvSpPr>
        <p:spPr>
          <a:xfrm>
            <a:off x="6355080" y="1755648"/>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入力</a:t>
            </a:r>
            <a:endParaRPr lang="en-US" sz="1000" dirty="0"/>
          </a:p>
        </p:txBody>
      </p:sp>
      <p:sp>
        <p:nvSpPr>
          <p:cNvPr id="20" name="Text 17"/>
          <p:cNvSpPr txBox="1"/>
          <p:nvPr/>
        </p:nvSpPr>
        <p:spPr>
          <a:xfrm>
            <a:off x="7342632" y="171907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南側建物の高さ A、壁間の隙間 D</a:t>
            </a:r>
            <a:endParaRPr lang="en-US" sz="1050" dirty="0"/>
          </a:p>
        </p:txBody>
      </p:sp>
      <p:sp>
        <p:nvSpPr>
          <p:cNvPr id="21" name="Shape 18"/>
          <p:cNvSpPr/>
          <p:nvPr/>
        </p:nvSpPr>
        <p:spPr>
          <a:xfrm>
            <a:off x="6355080" y="2221992"/>
            <a:ext cx="868680" cy="274320"/>
          </a:xfrm>
          <a:prstGeom prst="roundRect">
            <a:avLst>
              <a:gd name="adj" fmla="val 16667"/>
            </a:avLst>
          </a:prstGeom>
          <a:solidFill>
            <a:srgbClr val="DCEAEC"/>
          </a:solidFill>
          <a:ln/>
        </p:spPr>
        <p:txBody>
          <a:bodyPr/>
          <a:p/>
        </p:txBody>
      </p:sp>
      <p:sp>
        <p:nvSpPr>
          <p:cNvPr id="22" name="Text 19"/>
          <p:cNvSpPr txBox="1"/>
          <p:nvPr/>
        </p:nvSpPr>
        <p:spPr>
          <a:xfrm>
            <a:off x="6355080" y="2221992"/>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もとの値</a:t>
            </a:r>
            <a:endParaRPr lang="en-US" sz="1000" dirty="0"/>
          </a:p>
        </p:txBody>
      </p:sp>
      <p:sp>
        <p:nvSpPr>
          <p:cNvPr id="23" name="Text 20"/>
          <p:cNvSpPr txBox="1"/>
          <p:nvPr/>
        </p:nvSpPr>
        <p:spPr>
          <a:xfrm>
            <a:off x="7342632" y="218541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SEBEで計算済みの年間日射量</a:t>
            </a:r>
            <a:endParaRPr lang="en-US" sz="1050" dirty="0"/>
          </a:p>
        </p:txBody>
      </p:sp>
      <p:sp>
        <p:nvSpPr>
          <p:cNvPr id="24" name="Shape 21"/>
          <p:cNvSpPr/>
          <p:nvPr/>
        </p:nvSpPr>
        <p:spPr>
          <a:xfrm>
            <a:off x="6355080" y="2688336"/>
            <a:ext cx="868680" cy="274320"/>
          </a:xfrm>
          <a:prstGeom prst="roundRect">
            <a:avLst>
              <a:gd name="adj" fmla="val 16667"/>
            </a:avLst>
          </a:prstGeom>
          <a:solidFill>
            <a:srgbClr val="DCEAEC"/>
          </a:solidFill>
          <a:ln/>
        </p:spPr>
        <p:txBody>
          <a:bodyPr/>
          <a:p/>
        </p:txBody>
      </p:sp>
      <p:sp>
        <p:nvSpPr>
          <p:cNvPr id="25" name="Text 22"/>
          <p:cNvSpPr txBox="1"/>
          <p:nvPr/>
        </p:nvSpPr>
        <p:spPr>
          <a:xfrm>
            <a:off x="6355080" y="2688336"/>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方法</a:t>
            </a:r>
            <a:endParaRPr lang="en-US" sz="1000" dirty="0"/>
          </a:p>
        </p:txBody>
      </p:sp>
      <p:sp>
        <p:nvSpPr>
          <p:cNvPr id="26" name="Text 23"/>
          <p:cNvSpPr txBox="1"/>
          <p:nvPr/>
        </p:nvSpPr>
        <p:spPr>
          <a:xfrm>
            <a:off x="7342632" y="265176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双線形補間（広範囲版16配置／局所改良版9配置を手動で切替）</a:t>
            </a:r>
            <a:endParaRPr lang="en-US" sz="1050" dirty="0"/>
          </a:p>
        </p:txBody>
      </p:sp>
      <p:sp>
        <p:nvSpPr>
          <p:cNvPr id="27" name="Shape 24"/>
          <p:cNvSpPr/>
          <p:nvPr/>
        </p:nvSpPr>
        <p:spPr>
          <a:xfrm>
            <a:off x="6355080" y="3154680"/>
            <a:ext cx="868680" cy="274320"/>
          </a:xfrm>
          <a:prstGeom prst="roundRect">
            <a:avLst>
              <a:gd name="adj" fmla="val 16667"/>
            </a:avLst>
          </a:prstGeom>
          <a:solidFill>
            <a:srgbClr val="DCEAEC"/>
          </a:solidFill>
          <a:ln/>
        </p:spPr>
        <p:txBody>
          <a:bodyPr/>
          <a:p/>
        </p:txBody>
      </p:sp>
      <p:sp>
        <p:nvSpPr>
          <p:cNvPr id="28" name="Text 25"/>
          <p:cNvSpPr txBox="1"/>
          <p:nvPr/>
        </p:nvSpPr>
        <p:spPr>
          <a:xfrm>
            <a:off x="6355080" y="3154680"/>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出力</a:t>
            </a:r>
            <a:endParaRPr lang="en-US" sz="1000" dirty="0"/>
          </a:p>
        </p:txBody>
      </p:sp>
      <p:sp>
        <p:nvSpPr>
          <p:cNvPr id="29" name="Text 26"/>
          <p:cNvSpPr txBox="1"/>
          <p:nvPr/>
        </p:nvSpPr>
        <p:spPr>
          <a:xfrm>
            <a:off x="7342632" y="311810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南面5つの高さ帯と全体平均（kWh/m²・1年間の積算）</a:t>
            </a:r>
            <a:endParaRPr lang="en-US" sz="1050" dirty="0"/>
          </a:p>
        </p:txBody>
      </p:sp>
      <p:sp>
        <p:nvSpPr>
          <p:cNvPr id="30" name="Shape 27"/>
          <p:cNvSpPr/>
          <p:nvPr/>
        </p:nvSpPr>
        <p:spPr>
          <a:xfrm>
            <a:off x="6172200" y="384048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31" name="Shape 28"/>
          <p:cNvSpPr/>
          <p:nvPr/>
        </p:nvSpPr>
        <p:spPr>
          <a:xfrm>
            <a:off x="6172200" y="3840480"/>
            <a:ext cx="5559552" cy="420624"/>
          </a:xfrm>
          <a:prstGeom prst="rect">
            <a:avLst/>
          </a:prstGeom>
          <a:solidFill>
            <a:srgbClr val="E8934D"/>
          </a:solidFill>
          <a:ln/>
        </p:spPr>
        <p:txBody>
          <a:bodyPr/>
          <a:p/>
        </p:txBody>
      </p:sp>
      <p:sp>
        <p:nvSpPr>
          <p:cNvPr id="32" name="Text 29"/>
          <p:cNvSpPr txBox="1"/>
          <p:nvPr/>
        </p:nvSpPr>
        <p:spPr>
          <a:xfrm>
            <a:off x="6355080" y="388620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② 指定日時の影</a:t>
            </a:r>
            <a:endParaRPr lang="en-US" sz="1400" dirty="0"/>
          </a:p>
        </p:txBody>
      </p:sp>
      <p:sp>
        <p:nvSpPr>
          <p:cNvPr id="33" name="Shape 30"/>
          <p:cNvSpPr/>
          <p:nvPr/>
        </p:nvSpPr>
        <p:spPr>
          <a:xfrm>
            <a:off x="6355080" y="4407408"/>
            <a:ext cx="868680" cy="274320"/>
          </a:xfrm>
          <a:prstGeom prst="roundRect">
            <a:avLst>
              <a:gd name="adj" fmla="val 16667"/>
            </a:avLst>
          </a:prstGeom>
          <a:solidFill>
            <a:srgbClr val="FBEBDA"/>
          </a:solidFill>
          <a:ln/>
        </p:spPr>
        <p:txBody>
          <a:bodyPr/>
          <a:p/>
        </p:txBody>
      </p:sp>
      <p:sp>
        <p:nvSpPr>
          <p:cNvPr id="34" name="Text 31"/>
          <p:cNvSpPr txBox="1"/>
          <p:nvPr/>
        </p:nvSpPr>
        <p:spPr>
          <a:xfrm>
            <a:off x="6355080" y="4407408"/>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入力</a:t>
            </a:r>
            <a:endParaRPr lang="en-US" sz="1000" dirty="0"/>
          </a:p>
        </p:txBody>
      </p:sp>
      <p:sp>
        <p:nvSpPr>
          <p:cNvPr id="35" name="Text 32"/>
          <p:cNvSpPr txBox="1"/>
          <p:nvPr/>
        </p:nvSpPr>
        <p:spPr>
          <a:xfrm>
            <a:off x="7342632" y="437083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日付・時刻（日本標準時）・緯度・経度・建物の形</a:t>
            </a:r>
            <a:endParaRPr lang="en-US" sz="1050" dirty="0"/>
          </a:p>
        </p:txBody>
      </p:sp>
      <p:sp>
        <p:nvSpPr>
          <p:cNvPr id="36" name="Shape 33"/>
          <p:cNvSpPr/>
          <p:nvPr/>
        </p:nvSpPr>
        <p:spPr>
          <a:xfrm>
            <a:off x="6355080" y="4873752"/>
            <a:ext cx="868680" cy="274320"/>
          </a:xfrm>
          <a:prstGeom prst="roundRect">
            <a:avLst>
              <a:gd name="adj" fmla="val 16667"/>
            </a:avLst>
          </a:prstGeom>
          <a:solidFill>
            <a:srgbClr val="FBEBDA"/>
          </a:solidFill>
          <a:ln/>
        </p:spPr>
        <p:txBody>
          <a:bodyPr/>
          <a:p/>
        </p:txBody>
      </p:sp>
      <p:sp>
        <p:nvSpPr>
          <p:cNvPr id="37" name="Text 34"/>
          <p:cNvSpPr txBox="1"/>
          <p:nvPr/>
        </p:nvSpPr>
        <p:spPr>
          <a:xfrm>
            <a:off x="6355080" y="4873752"/>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方法</a:t>
            </a:r>
            <a:endParaRPr lang="en-US" sz="1000" dirty="0"/>
          </a:p>
        </p:txBody>
      </p:sp>
      <p:sp>
        <p:nvSpPr>
          <p:cNvPr id="38" name="Text 35"/>
          <p:cNvSpPr txBox="1"/>
          <p:nvPr/>
        </p:nvSpPr>
        <p:spPr>
          <a:xfrm>
            <a:off x="7342632" y="483717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NOAAの近似式で太陽の位置 → 光線と建物の交差判定</a:t>
            </a:r>
            <a:endParaRPr lang="en-US" sz="1050" dirty="0"/>
          </a:p>
        </p:txBody>
      </p:sp>
      <p:sp>
        <p:nvSpPr>
          <p:cNvPr id="39" name="Shape 36"/>
          <p:cNvSpPr/>
          <p:nvPr/>
        </p:nvSpPr>
        <p:spPr>
          <a:xfrm>
            <a:off x="6355080" y="5340096"/>
            <a:ext cx="868680" cy="274320"/>
          </a:xfrm>
          <a:prstGeom prst="roundRect">
            <a:avLst>
              <a:gd name="adj" fmla="val 16667"/>
            </a:avLst>
          </a:prstGeom>
          <a:solidFill>
            <a:srgbClr val="FBEBDA"/>
          </a:solidFill>
          <a:ln/>
        </p:spPr>
        <p:txBody>
          <a:bodyPr/>
          <a:p/>
        </p:txBody>
      </p:sp>
      <p:sp>
        <p:nvSpPr>
          <p:cNvPr id="40" name="Text 37"/>
          <p:cNvSpPr txBox="1"/>
          <p:nvPr/>
        </p:nvSpPr>
        <p:spPr>
          <a:xfrm>
            <a:off x="6355080" y="5340096"/>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出力</a:t>
            </a:r>
            <a:endParaRPr lang="en-US" sz="1000" dirty="0"/>
          </a:p>
        </p:txBody>
      </p:sp>
      <p:sp>
        <p:nvSpPr>
          <p:cNvPr id="41" name="Text 38"/>
          <p:cNvSpPr txBox="1"/>
          <p:nvPr/>
        </p:nvSpPr>
        <p:spPr>
          <a:xfrm>
            <a:off x="7342632" y="530352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その時刻の太陽の向き・影・直達日光が当たる割合</a:t>
            </a:r>
            <a:endParaRPr lang="en-US" sz="1050" dirty="0"/>
          </a:p>
        </p:txBody>
      </p:sp>
      <p:sp>
        <p:nvSpPr>
          <p:cNvPr id="42" name="Shape 39"/>
          <p:cNvSpPr/>
          <p:nvPr/>
        </p:nvSpPr>
        <p:spPr>
          <a:xfrm>
            <a:off x="6355080" y="5806440"/>
            <a:ext cx="868680" cy="274320"/>
          </a:xfrm>
          <a:prstGeom prst="roundRect">
            <a:avLst>
              <a:gd name="adj" fmla="val 16667"/>
            </a:avLst>
          </a:prstGeom>
          <a:solidFill>
            <a:srgbClr val="FBEBDA"/>
          </a:solidFill>
          <a:ln/>
        </p:spPr>
        <p:txBody>
          <a:bodyPr/>
          <a:p/>
        </p:txBody>
      </p:sp>
      <p:sp>
        <p:nvSpPr>
          <p:cNvPr id="43" name="Text 40"/>
          <p:cNvSpPr txBox="1"/>
          <p:nvPr/>
        </p:nvSpPr>
        <p:spPr>
          <a:xfrm>
            <a:off x="6355080" y="5806440"/>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省略</a:t>
            </a:r>
            <a:endParaRPr lang="en-US" sz="1000" dirty="0"/>
          </a:p>
        </p:txBody>
      </p:sp>
      <p:sp>
        <p:nvSpPr>
          <p:cNvPr id="44" name="Text 41"/>
          <p:cNvSpPr txBox="1"/>
          <p:nvPr/>
        </p:nvSpPr>
        <p:spPr>
          <a:xfrm>
            <a:off x="7342632" y="576986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雲などの気象条件は考慮しない（幾何学的な影）</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太陽の位置は「場所」と「日時」から計算できる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15 / 45</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曇っていても雲の向こうの太陽の方向は決まっている。NOAAが公開する太陽位置の近似式（既存ツールの実装を再利用）で求める。</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12064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入力</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今回の設定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日付</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例：2026年12月21日</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時刻</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例：12:00（日本標準時）</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緯度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35.70274°N</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経度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139.66225°E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Shape 8"/>
          <p:cNvSpPr/>
          <p:nvPr/>
        </p:nvSpPr>
        <p:spPr>
          <a:xfrm>
            <a:off x="457200" y="342900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2" name="Shape 9"/>
          <p:cNvSpPr/>
          <p:nvPr/>
        </p:nvSpPr>
        <p:spPr>
          <a:xfrm>
            <a:off x="621792" y="3657600"/>
            <a:ext cx="402336" cy="402336"/>
          </a:xfrm>
          <a:prstGeom prst="ellipse">
            <a:avLst/>
          </a:prstGeom>
          <a:solidFill>
            <a:srgbClr val="1F6F78"/>
          </a:solidFill>
          <a:ln/>
        </p:spPr>
        <p:txBody>
          <a:bodyPr/>
          <a:p/>
        </p:txBody>
      </p:sp>
      <p:sp>
        <p:nvSpPr>
          <p:cNvPr id="13" name="Text 10"/>
          <p:cNvSpPr txBox="1"/>
          <p:nvPr/>
        </p:nvSpPr>
        <p:spPr>
          <a:xfrm>
            <a:off x="621792" y="365760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4" name="Text 11"/>
          <p:cNvSpPr txBox="1"/>
          <p:nvPr/>
        </p:nvSpPr>
        <p:spPr>
          <a:xfrm>
            <a:off x="1188720" y="349300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1年の中のどの時期かを求める</a:t>
            </a:r>
            <a:endParaRPr lang="en-US" sz="1200" dirty="0"/>
          </a:p>
        </p:txBody>
      </p:sp>
      <p:sp>
        <p:nvSpPr>
          <p:cNvPr id="15" name="Text 12"/>
          <p:cNvSpPr txBox="1"/>
          <p:nvPr/>
        </p:nvSpPr>
        <p:spPr>
          <a:xfrm>
            <a:off x="1188720" y="379476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季節によって太陽の通り道（高さ）が変わる</a:t>
            </a:r>
            <a:endParaRPr lang="en-US" sz="1020" dirty="0"/>
          </a:p>
        </p:txBody>
      </p:sp>
      <p:sp>
        <p:nvSpPr>
          <p:cNvPr id="10" name="Shape 13"/>
          <p:cNvSpPr/>
          <p:nvPr/>
        </p:nvSpPr>
        <p:spPr>
          <a:xfrm>
            <a:off x="457200" y="438912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7" name="Shape 14"/>
          <p:cNvSpPr/>
          <p:nvPr/>
        </p:nvSpPr>
        <p:spPr>
          <a:xfrm>
            <a:off x="621792" y="4617720"/>
            <a:ext cx="402336" cy="402336"/>
          </a:xfrm>
          <a:prstGeom prst="ellipse">
            <a:avLst/>
          </a:prstGeom>
          <a:solidFill>
            <a:srgbClr val="1F6F78"/>
          </a:solidFill>
          <a:ln/>
        </p:spPr>
        <p:txBody>
          <a:bodyPr/>
          <a:p/>
        </p:txBody>
      </p:sp>
      <p:sp>
        <p:nvSpPr>
          <p:cNvPr id="18" name="Text 15"/>
          <p:cNvSpPr txBox="1"/>
          <p:nvPr/>
        </p:nvSpPr>
        <p:spPr>
          <a:xfrm>
            <a:off x="621792" y="461772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9" name="Text 16"/>
          <p:cNvSpPr txBox="1"/>
          <p:nvPr/>
        </p:nvSpPr>
        <p:spPr>
          <a:xfrm>
            <a:off x="1188720" y="445312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その場所の「太陽の時刻」を求める</a:t>
            </a:r>
            <a:endParaRPr lang="en-US" sz="1200" dirty="0"/>
          </a:p>
        </p:txBody>
      </p:sp>
      <p:sp>
        <p:nvSpPr>
          <p:cNvPr id="20" name="Text 17"/>
          <p:cNvSpPr txBox="1"/>
          <p:nvPr/>
        </p:nvSpPr>
        <p:spPr>
          <a:xfrm>
            <a:off x="1188720" y="475488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時計の12時と太陽が真南に来る時刻のずれを、経度・時期から補正</a:t>
            </a:r>
            <a:endParaRPr lang="en-US" sz="1020" dirty="0"/>
          </a:p>
        </p:txBody>
      </p:sp>
      <p:sp>
        <p:nvSpPr>
          <p:cNvPr id="21" name="Shape 18"/>
          <p:cNvSpPr/>
          <p:nvPr/>
        </p:nvSpPr>
        <p:spPr>
          <a:xfrm>
            <a:off x="457200" y="5349240"/>
            <a:ext cx="5120640" cy="868680"/>
          </a:xfrm>
          <a:prstGeom prst="roundRect">
            <a:avLst>
              <a:gd name="adj" fmla="val 6316"/>
            </a:avLst>
          </a:prstGeom>
          <a:solidFill>
            <a:srgbClr val="EAEEF2"/>
          </a:solidFill>
          <a:ln w="12700">
            <a:solidFill>
              <a:srgbClr val="DBE0E6"/>
            </a:solidFill>
            <a:prstDash val="solid"/>
          </a:ln>
        </p:spPr>
        <p:txBody>
          <a:bodyPr/>
          <a:p/>
        </p:txBody>
      </p:sp>
      <p:sp>
        <p:nvSpPr>
          <p:cNvPr id="22" name="Shape 19"/>
          <p:cNvSpPr/>
          <p:nvPr/>
        </p:nvSpPr>
        <p:spPr>
          <a:xfrm>
            <a:off x="621792" y="5577840"/>
            <a:ext cx="402336" cy="402336"/>
          </a:xfrm>
          <a:prstGeom prst="ellipse">
            <a:avLst/>
          </a:prstGeom>
          <a:solidFill>
            <a:srgbClr val="1F6F78"/>
          </a:solidFill>
          <a:ln/>
        </p:spPr>
        <p:txBody>
          <a:bodyPr/>
          <a:p/>
        </p:txBody>
      </p:sp>
      <p:sp>
        <p:nvSpPr>
          <p:cNvPr id="23" name="Text 20"/>
          <p:cNvSpPr txBox="1"/>
          <p:nvPr/>
        </p:nvSpPr>
        <p:spPr>
          <a:xfrm>
            <a:off x="621792" y="557784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4" name="Text 21"/>
          <p:cNvSpPr txBox="1"/>
          <p:nvPr/>
        </p:nvSpPr>
        <p:spPr>
          <a:xfrm>
            <a:off x="1188720" y="541324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太陽の高さと方向を求める</a:t>
            </a:r>
            <a:endParaRPr lang="en-US" sz="1200" dirty="0"/>
          </a:p>
        </p:txBody>
      </p:sp>
      <p:sp>
        <p:nvSpPr>
          <p:cNvPr id="25" name="Text 22"/>
          <p:cNvSpPr txBox="1"/>
          <p:nvPr/>
        </p:nvSpPr>
        <p:spPr>
          <a:xfrm>
            <a:off x="1188720" y="571500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太陽高度：地平線0°〜真上90°／方位角：北0°・東90°・南180°・西270°</a:t>
            </a:r>
            <a:endParaRPr lang="en-US" sz="1020" dirty="0"/>
          </a:p>
        </p:txBody>
      </p:sp>
      <p:graphicFrame>
        <p:nvGraphicFramePr>
          <p:cNvPr id="26" name="Chart 0"/>
          <p:cNvGraphicFramePr/>
          <p:nvPr/>
        </p:nvGraphicFramePr>
        <p:xfrm>
          <a:off x="5943600" y="1508760"/>
          <a:ext cx="5788152"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27" name="Shape 23"/>
          <p:cNvSpPr/>
          <p:nvPr/>
        </p:nvSpPr>
        <p:spPr>
          <a:xfrm>
            <a:off x="5943600" y="4663440"/>
            <a:ext cx="2788920" cy="1645920"/>
          </a:xfrm>
          <a:prstGeom prst="roundRect">
            <a:avLst>
              <a:gd name="adj" fmla="val 3333"/>
            </a:avLst>
          </a:prstGeom>
          <a:solidFill>
            <a:srgbClr val="E1EEE7"/>
          </a:solidFill>
          <a:ln w="12700">
            <a:solidFill>
              <a:srgbClr val="4C8C6B"/>
            </a:solidFill>
            <a:prstDash val="solid"/>
          </a:ln>
        </p:spPr>
        <p:txBody>
          <a:bodyPr/>
          <a:p/>
        </p:txBody>
      </p:sp>
      <p:sp>
        <p:nvSpPr>
          <p:cNvPr id="28" name="Text 24"/>
          <p:cNvSpPr txBox="1"/>
          <p:nvPr/>
        </p:nvSpPr>
        <p:spPr>
          <a:xfrm>
            <a:off x="6126480" y="4736592"/>
            <a:ext cx="2423160"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代表日の考え方</a:t>
            </a:r>
            <a:endParaRPr lang="en-US" sz="1200" dirty="0"/>
          </a:p>
        </p:txBody>
      </p:sp>
      <p:sp>
        <p:nvSpPr>
          <p:cNvPr id="29" name="Text 25"/>
          <p:cNvSpPr txBox="1"/>
          <p:nvPr/>
        </p:nvSpPr>
        <p:spPr>
          <a:xfrm>
            <a:off x="6126480"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春分・夏至・秋分・冬至の頃の1日を選び、季節による影の違いを見やすくしている（季節の気象を平均したものではない）。</a:t>
            </a:r>
            <a:endParaRPr lang="en-US" sz="1000" dirty="0"/>
          </a:p>
        </p:txBody>
      </p:sp>
      <p:sp>
        <p:nvSpPr>
          <p:cNvPr id="30" name="Shape 26"/>
          <p:cNvSpPr/>
          <p:nvPr/>
        </p:nvSpPr>
        <p:spPr>
          <a:xfrm>
            <a:off x="8942832" y="4663440"/>
            <a:ext cx="2788920" cy="1645920"/>
          </a:xfrm>
          <a:prstGeom prst="roundRect">
            <a:avLst>
              <a:gd name="adj" fmla="val 3333"/>
            </a:avLst>
          </a:prstGeom>
          <a:solidFill>
            <a:srgbClr val="FBEBDA"/>
          </a:solidFill>
          <a:ln w="12700">
            <a:solidFill>
              <a:srgbClr val="E8934D"/>
            </a:solidFill>
            <a:prstDash val="solid"/>
          </a:ln>
        </p:spPr>
        <p:txBody>
          <a:bodyPr/>
          <a:p/>
        </p:txBody>
      </p:sp>
      <p:sp>
        <p:nvSpPr>
          <p:cNvPr id="31" name="Text 27"/>
          <p:cNvSpPr txBox="1"/>
          <p:nvPr/>
        </p:nvSpPr>
        <p:spPr>
          <a:xfrm>
            <a:off x="9125712" y="4736592"/>
            <a:ext cx="24231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注意</a:t>
            </a:r>
            <a:endParaRPr lang="en-US" sz="1200" dirty="0"/>
          </a:p>
        </p:txBody>
      </p:sp>
      <p:sp>
        <p:nvSpPr>
          <p:cNvPr id="32" name="Text 28"/>
          <p:cNvSpPr txBox="1"/>
          <p:nvPr/>
        </p:nvSpPr>
        <p:spPr>
          <a:xfrm>
            <a:off x="9125712"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高度は計算値で、実測との誤差は未評価。季節ボタンは2026年固定。自動再生は6:00〜18:00の固定範囲。</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影の付け方：壁の点から太陽へ線を伸ばして調べる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16 / 45</a:t>
            </a:r>
            <a:endParaRPr lang="en-US" sz="1100" dirty="0"/>
          </a:p>
        </p:txBody>
      </p:sp>
      <p:sp>
        <p:nvSpPr>
          <p:cNvPr id="9" name="Shape 7"/>
          <p:cNvSpPr/>
          <p:nvPr/>
        </p:nvSpPr>
        <p:spPr>
          <a:xfrm>
            <a:off x="457200" y="1188720"/>
            <a:ext cx="5852160" cy="4114800"/>
          </a:xfrm>
          <a:prstGeom prst="roundRect">
            <a:avLst>
              <a:gd name="adj" fmla="val 1333"/>
            </a:avLst>
          </a:prstGeom>
          <a:solidFill>
            <a:srgbClr val="F3F5F8"/>
          </a:solidFill>
          <a:ln w="12700">
            <a:solidFill>
              <a:srgbClr val="DBE0E6"/>
            </a:solidFill>
            <a:prstDash val="solid"/>
          </a:ln>
        </p:spPr>
        <p:txBody>
          <a:bodyPr/>
          <a:p/>
        </p:txBody>
      </p:sp>
      <p:sp>
        <p:nvSpPr>
          <p:cNvPr id="10" name="Shape 8"/>
          <p:cNvSpPr/>
          <p:nvPr/>
        </p:nvSpPr>
        <p:spPr>
          <a:xfrm>
            <a:off x="685800" y="4800600"/>
            <a:ext cx="5440680" cy="0"/>
          </a:xfrm>
          <a:prstGeom prst="line">
            <a:avLst/>
          </a:prstGeom>
          <a:noFill/>
          <a:ln w="19050">
            <a:solidFill>
              <a:srgbClr val="6B7480"/>
            </a:solidFill>
            <a:prstDash val="solid"/>
          </a:ln>
        </p:spPr>
        <p:txBody>
          <a:bodyPr/>
          <a:p/>
        </p:txBody>
      </p:sp>
      <p:sp>
        <p:nvSpPr>
          <p:cNvPr id="11" name="Shape 9"/>
          <p:cNvSpPr/>
          <p:nvPr/>
        </p:nvSpPr>
        <p:spPr>
          <a:xfrm>
            <a:off x="960120" y="2788920"/>
            <a:ext cx="2011680" cy="2011680"/>
          </a:xfrm>
          <a:prstGeom prst="rect">
            <a:avLst/>
          </a:prstGeom>
          <a:solidFill>
            <a:srgbClr val="1F6F78"/>
          </a:solidFill>
          <a:ln/>
        </p:spPr>
        <p:txBody>
          <a:bodyPr/>
          <a:p/>
        </p:txBody>
      </p:sp>
      <p:sp>
        <p:nvSpPr>
          <p:cNvPr id="12" name="Text 10"/>
          <p:cNvSpPr txBox="1"/>
          <p:nvPr/>
        </p:nvSpPr>
        <p:spPr>
          <a:xfrm>
            <a:off x="960120" y="342900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A＝50m</a:t>
            </a:r>
            <a:endParaRPr lang="en-US" sz="1050" dirty="0"/>
          </a:p>
        </p:txBody>
      </p:sp>
      <p:sp>
        <p:nvSpPr>
          <p:cNvPr id="13" name="Shape 11"/>
          <p:cNvSpPr/>
          <p:nvPr/>
        </p:nvSpPr>
        <p:spPr>
          <a:xfrm>
            <a:off x="3977640" y="2788920"/>
            <a:ext cx="2011680" cy="2011680"/>
          </a:xfrm>
          <a:prstGeom prst="rect">
            <a:avLst/>
          </a:prstGeom>
          <a:solidFill>
            <a:srgbClr val="1B2A44"/>
          </a:solidFill>
          <a:ln/>
        </p:spPr>
        <p:txBody>
          <a:bodyPr/>
          <a:p/>
        </p:txBody>
      </p:sp>
      <p:sp>
        <p:nvSpPr>
          <p:cNvPr id="14" name="Text 12"/>
          <p:cNvSpPr txBox="1"/>
          <p:nvPr/>
        </p:nvSpPr>
        <p:spPr>
          <a:xfrm>
            <a:off x="4114800" y="393192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a:t>
            </a:r>
            <a:endParaRPr lang="en-US" sz="1050" dirty="0"/>
          </a:p>
        </p:txBody>
      </p:sp>
      <p:sp>
        <p:nvSpPr>
          <p:cNvPr id="15" name="Shape 13"/>
          <p:cNvSpPr/>
          <p:nvPr/>
        </p:nvSpPr>
        <p:spPr>
          <a:xfrm>
            <a:off x="3977640" y="2788920"/>
            <a:ext cx="91440" cy="579364"/>
          </a:xfrm>
          <a:prstGeom prst="rect">
            <a:avLst/>
          </a:prstGeom>
          <a:solidFill>
            <a:srgbClr val="E8934D"/>
          </a:solidFill>
          <a:ln/>
        </p:spPr>
        <p:txBody>
          <a:bodyPr/>
          <a:p/>
        </p:txBody>
      </p:sp>
      <p:sp>
        <p:nvSpPr>
          <p:cNvPr id="16" name="Shape 14"/>
          <p:cNvSpPr/>
          <p:nvPr/>
        </p:nvSpPr>
        <p:spPr>
          <a:xfrm>
            <a:off x="3977640" y="3368284"/>
            <a:ext cx="91440" cy="1432316"/>
          </a:xfrm>
          <a:prstGeom prst="rect">
            <a:avLst/>
          </a:prstGeom>
          <a:solidFill>
            <a:srgbClr val="5A6272"/>
          </a:solidFill>
          <a:ln/>
        </p:spPr>
        <p:txBody>
          <a:bodyPr/>
          <a:p/>
        </p:txBody>
      </p:sp>
      <p:sp>
        <p:nvSpPr>
          <p:cNvPr id="17" name="Shape 15"/>
          <p:cNvSpPr/>
          <p:nvPr/>
        </p:nvSpPr>
        <p:spPr>
          <a:xfrm>
            <a:off x="845820" y="1225732"/>
            <a:ext cx="45720" cy="77724"/>
          </a:xfrm>
          <a:prstGeom prst="rect">
            <a:avLst/>
          </a:prstGeom>
          <a:solidFill>
            <a:srgbClr val="E8934D"/>
          </a:solidFill>
          <a:ln/>
        </p:spPr>
        <p:txBody>
          <a:bodyPr/>
          <a:p/>
        </p:txBody>
      </p:sp>
      <p:sp>
        <p:nvSpPr>
          <p:cNvPr id="18" name="Shape 16"/>
          <p:cNvSpPr/>
          <p:nvPr/>
        </p:nvSpPr>
        <p:spPr>
          <a:xfrm rot="2700000">
            <a:off x="1005202" y="1291750"/>
            <a:ext cx="45720" cy="77724"/>
          </a:xfrm>
          <a:prstGeom prst="rect">
            <a:avLst/>
          </a:prstGeom>
          <a:solidFill>
            <a:srgbClr val="E8934D"/>
          </a:solidFill>
          <a:ln/>
        </p:spPr>
        <p:txBody>
          <a:bodyPr/>
          <a:p/>
        </p:txBody>
      </p:sp>
      <p:sp>
        <p:nvSpPr>
          <p:cNvPr id="19" name="Shape 17"/>
          <p:cNvSpPr/>
          <p:nvPr/>
        </p:nvSpPr>
        <p:spPr>
          <a:xfrm rot="5400000">
            <a:off x="1071220" y="1451131"/>
            <a:ext cx="45720" cy="77724"/>
          </a:xfrm>
          <a:prstGeom prst="rect">
            <a:avLst/>
          </a:prstGeom>
          <a:solidFill>
            <a:srgbClr val="E8934D"/>
          </a:solidFill>
          <a:ln/>
        </p:spPr>
        <p:txBody>
          <a:bodyPr/>
          <a:p/>
        </p:txBody>
      </p:sp>
      <p:sp>
        <p:nvSpPr>
          <p:cNvPr id="20" name="Shape 18"/>
          <p:cNvSpPr/>
          <p:nvPr/>
        </p:nvSpPr>
        <p:spPr>
          <a:xfrm rot="8100000">
            <a:off x="1005202" y="1610513"/>
            <a:ext cx="45720" cy="77724"/>
          </a:xfrm>
          <a:prstGeom prst="rect">
            <a:avLst/>
          </a:prstGeom>
          <a:solidFill>
            <a:srgbClr val="E8934D"/>
          </a:solidFill>
          <a:ln/>
        </p:spPr>
        <p:txBody>
          <a:bodyPr/>
          <a:p/>
        </p:txBody>
      </p:sp>
      <p:sp>
        <p:nvSpPr>
          <p:cNvPr id="21" name="Shape 19"/>
          <p:cNvSpPr/>
          <p:nvPr/>
        </p:nvSpPr>
        <p:spPr>
          <a:xfrm rot="10800000">
            <a:off x="845820" y="1676531"/>
            <a:ext cx="45720" cy="77724"/>
          </a:xfrm>
          <a:prstGeom prst="rect">
            <a:avLst/>
          </a:prstGeom>
          <a:solidFill>
            <a:srgbClr val="E8934D"/>
          </a:solidFill>
          <a:ln/>
        </p:spPr>
        <p:txBody>
          <a:bodyPr/>
          <a:p/>
        </p:txBody>
      </p:sp>
      <p:sp>
        <p:nvSpPr>
          <p:cNvPr id="22" name="Shape 20"/>
          <p:cNvSpPr/>
          <p:nvPr/>
        </p:nvSpPr>
        <p:spPr>
          <a:xfrm rot="13500000">
            <a:off x="686438" y="1610513"/>
            <a:ext cx="45720" cy="77724"/>
          </a:xfrm>
          <a:prstGeom prst="rect">
            <a:avLst/>
          </a:prstGeom>
          <a:solidFill>
            <a:srgbClr val="E8934D"/>
          </a:solidFill>
          <a:ln/>
        </p:spPr>
        <p:txBody>
          <a:bodyPr/>
          <a:p/>
        </p:txBody>
      </p:sp>
      <p:sp>
        <p:nvSpPr>
          <p:cNvPr id="23" name="Shape 21"/>
          <p:cNvSpPr/>
          <p:nvPr/>
        </p:nvSpPr>
        <p:spPr>
          <a:xfrm rot="16200000">
            <a:off x="620420" y="1451131"/>
            <a:ext cx="45720" cy="77724"/>
          </a:xfrm>
          <a:prstGeom prst="rect">
            <a:avLst/>
          </a:prstGeom>
          <a:solidFill>
            <a:srgbClr val="E8934D"/>
          </a:solidFill>
          <a:ln/>
        </p:spPr>
        <p:txBody>
          <a:bodyPr/>
          <a:p/>
        </p:txBody>
      </p:sp>
      <p:sp>
        <p:nvSpPr>
          <p:cNvPr id="24" name="Shape 22"/>
          <p:cNvSpPr/>
          <p:nvPr/>
        </p:nvSpPr>
        <p:spPr>
          <a:xfrm rot="18900000">
            <a:off x="686438" y="1291750"/>
            <a:ext cx="45720" cy="77724"/>
          </a:xfrm>
          <a:prstGeom prst="rect">
            <a:avLst/>
          </a:prstGeom>
          <a:solidFill>
            <a:srgbClr val="E8934D"/>
          </a:solidFill>
          <a:ln/>
        </p:spPr>
        <p:txBody>
          <a:bodyPr/>
          <a:p/>
        </p:txBody>
      </p:sp>
      <p:sp>
        <p:nvSpPr>
          <p:cNvPr id="25" name="Shape 23"/>
          <p:cNvSpPr/>
          <p:nvPr/>
        </p:nvSpPr>
        <p:spPr>
          <a:xfrm>
            <a:off x="713232" y="1334545"/>
            <a:ext cx="310896" cy="310896"/>
          </a:xfrm>
          <a:prstGeom prst="ellipse">
            <a:avLst/>
          </a:prstGeom>
          <a:solidFill>
            <a:srgbClr val="E8934D"/>
          </a:solidFill>
          <a:ln/>
        </p:spPr>
        <p:txBody>
          <a:bodyPr/>
          <a:p/>
        </p:txBody>
      </p:sp>
      <p:sp>
        <p:nvSpPr>
          <p:cNvPr id="26" name="Shape 24"/>
          <p:cNvSpPr/>
          <p:nvPr/>
        </p:nvSpPr>
        <p:spPr>
          <a:xfrm>
            <a:off x="1234440" y="1784497"/>
            <a:ext cx="2743200" cy="1583787"/>
          </a:xfrm>
          <a:prstGeom prst="line">
            <a:avLst/>
          </a:prstGeom>
          <a:noFill/>
          <a:ln w="22225">
            <a:solidFill>
              <a:srgbClr val="C56A2C"/>
            </a:solidFill>
            <a:prstDash val="dash"/>
          </a:ln>
        </p:spPr>
        <p:txBody>
          <a:bodyPr/>
          <a:p/>
        </p:txBody>
      </p:sp>
      <p:sp>
        <p:nvSpPr>
          <p:cNvPr id="27" name="Text 25"/>
          <p:cNvSpPr txBox="1"/>
          <p:nvPr/>
        </p:nvSpPr>
        <p:spPr>
          <a:xfrm>
            <a:off x="3017520" y="1950964"/>
            <a:ext cx="1371600" cy="256032"/>
          </a:xfrm>
          <a:prstGeom prst="rect">
            <a:avLst/>
          </a:prstGeom>
          <a:noFill/>
          <a:ln/>
        </p:spPr>
        <p:txBody>
          <a:bodyPr wrap="square" rtlCol="0" anchor="t"/>
          <a:lstStyle/>
          <a:p>
            <a:pPr marL="0" indent="0">
              <a:buNone/>
            </a:pPr>
            <a:r>
              <a:rPr lang="en-US" sz="1050" b="1" dirty="0">
                <a:solidFill>
                  <a:srgbClr val="C56A2C"/>
                </a:solidFill>
                <a:latin typeface="Yu Gothic" pitchFamily="34" charset="0"/>
                <a:ea typeface="Yu Gothic" pitchFamily="34" charset="-122"/>
                <a:cs typeface="Yu Gothic" pitchFamily="34" charset="-120"/>
              </a:rPr>
              <a:t>太陽高度 30°</a:t>
            </a:r>
            <a:endParaRPr lang="en-US" sz="1050" dirty="0"/>
          </a:p>
        </p:txBody>
      </p:sp>
      <p:sp>
        <p:nvSpPr>
          <p:cNvPr id="28" name="Text 26"/>
          <p:cNvSpPr txBox="1"/>
          <p:nvPr/>
        </p:nvSpPr>
        <p:spPr>
          <a:xfrm>
            <a:off x="4160520" y="3423148"/>
            <a:ext cx="1828800" cy="256032"/>
          </a:xfrm>
          <a:prstGeom prst="rect">
            <a:avLst/>
          </a:prstGeom>
          <a:noFill/>
          <a:ln/>
        </p:spPr>
        <p:txBody>
          <a:bodyPr wrap="square" lIns="0" tIns="0" rIns="0" bIns="0" rtlCol="0" anchor="t"/>
          <a:lstStyle/>
          <a:p>
            <a:pPr marL="0" indent="0">
              <a:buNone/>
            </a:pPr>
            <a:r>
              <a:rPr lang="en-US" sz="1000" b="1" dirty="0">
                <a:solidFill>
                  <a:srgbClr val="FFFFFF"/>
                </a:solidFill>
                <a:latin typeface="Yu Gothic" pitchFamily="34" charset="0"/>
                <a:ea typeface="Yu Gothic" pitchFamily="34" charset="-122"/>
                <a:cs typeface="Yu Gothic" pitchFamily="34" charset="-120"/>
              </a:rPr>
              <a:t>影の上端 約35.6m</a:t>
            </a:r>
            <a:endParaRPr lang="en-US" sz="1000" dirty="0"/>
          </a:p>
        </p:txBody>
      </p:sp>
      <p:sp>
        <p:nvSpPr>
          <p:cNvPr id="29" name="Shape 27"/>
          <p:cNvSpPr/>
          <p:nvPr/>
        </p:nvSpPr>
        <p:spPr>
          <a:xfrm>
            <a:off x="4069080" y="3368284"/>
            <a:ext cx="2011680" cy="0"/>
          </a:xfrm>
          <a:prstGeom prst="line">
            <a:avLst/>
          </a:prstGeom>
          <a:noFill/>
          <a:ln w="12700">
            <a:solidFill>
              <a:srgbClr val="FFFFFF"/>
            </a:solidFill>
            <a:prstDash val="sysDash"/>
          </a:ln>
        </p:spPr>
        <p:txBody>
          <a:bodyPr/>
          <a:p/>
        </p:txBody>
      </p:sp>
      <p:sp>
        <p:nvSpPr>
          <p:cNvPr id="30" name="Shape 28"/>
          <p:cNvSpPr/>
          <p:nvPr/>
        </p:nvSpPr>
        <p:spPr>
          <a:xfrm>
            <a:off x="2377440" y="2066212"/>
            <a:ext cx="1600200" cy="923876"/>
          </a:xfrm>
          <a:prstGeom prst="line">
            <a:avLst/>
          </a:prstGeom>
          <a:noFill/>
          <a:ln w="19050">
            <a:solidFill>
              <a:srgbClr val="4C8C6B"/>
            </a:solidFill>
            <a:prstDash val="solid"/>
            <a:headEnd type="triangle"/>
          </a:ln>
        </p:spPr>
        <p:txBody>
          <a:bodyPr/>
          <a:p/>
        </p:txBody>
      </p:sp>
      <p:sp>
        <p:nvSpPr>
          <p:cNvPr id="31" name="Shape 29"/>
          <p:cNvSpPr/>
          <p:nvPr/>
        </p:nvSpPr>
        <p:spPr>
          <a:xfrm>
            <a:off x="3913632" y="2926080"/>
            <a:ext cx="128016" cy="128016"/>
          </a:xfrm>
          <a:prstGeom prst="ellipse">
            <a:avLst/>
          </a:prstGeom>
          <a:solidFill>
            <a:srgbClr val="4C8C6B"/>
          </a:solidFill>
          <a:ln w="12700">
            <a:solidFill>
              <a:srgbClr val="FFFFFF"/>
            </a:solidFill>
            <a:prstDash val="solid"/>
          </a:ln>
        </p:spPr>
        <p:txBody>
          <a:bodyPr/>
          <a:p/>
        </p:txBody>
      </p:sp>
      <p:sp>
        <p:nvSpPr>
          <p:cNvPr id="32" name="Shape 30"/>
          <p:cNvSpPr/>
          <p:nvPr/>
        </p:nvSpPr>
        <p:spPr>
          <a:xfrm>
            <a:off x="2971800" y="3415206"/>
            <a:ext cx="1005840" cy="580722"/>
          </a:xfrm>
          <a:prstGeom prst="line">
            <a:avLst/>
          </a:prstGeom>
          <a:noFill/>
          <a:ln w="19050">
            <a:solidFill>
              <a:srgbClr val="B04A3F"/>
            </a:solidFill>
            <a:prstDash val="solid"/>
            <a:headEnd type="triangle"/>
          </a:ln>
        </p:spPr>
        <p:txBody>
          <a:bodyPr/>
          <a:p/>
        </p:txBody>
      </p:sp>
      <p:sp>
        <p:nvSpPr>
          <p:cNvPr id="33" name="Shape 31"/>
          <p:cNvSpPr/>
          <p:nvPr/>
        </p:nvSpPr>
        <p:spPr>
          <a:xfrm>
            <a:off x="3913632" y="3931920"/>
            <a:ext cx="128016" cy="128016"/>
          </a:xfrm>
          <a:prstGeom prst="ellipse">
            <a:avLst/>
          </a:prstGeom>
          <a:solidFill>
            <a:srgbClr val="B04A3F"/>
          </a:solidFill>
          <a:ln w="12700">
            <a:solidFill>
              <a:srgbClr val="FFFFFF"/>
            </a:solidFill>
            <a:prstDash val="solid"/>
          </a:ln>
        </p:spPr>
        <p:txBody>
          <a:bodyPr/>
          <a:p/>
        </p:txBody>
      </p:sp>
      <p:sp>
        <p:nvSpPr>
          <p:cNvPr id="34" name="Text 32"/>
          <p:cNvSpPr txBox="1"/>
          <p:nvPr/>
        </p:nvSpPr>
        <p:spPr>
          <a:xfrm>
            <a:off x="1600200" y="1791892"/>
            <a:ext cx="731520" cy="237744"/>
          </a:xfrm>
          <a:prstGeom prst="rect">
            <a:avLst/>
          </a:prstGeom>
          <a:noFill/>
          <a:ln/>
        </p:spPr>
        <p:txBody>
          <a:bodyPr wrap="square" lIns="0" tIns="0" rIns="0" bIns="0" rtlCol="0" anchor="t"/>
          <a:lstStyle/>
          <a:p>
            <a:pPr marL="0" indent="0">
              <a:buNone/>
            </a:pPr>
            <a:r>
              <a:rPr lang="en-US" sz="1000" b="1" dirty="0">
                <a:solidFill>
                  <a:srgbClr val="4C8C6B"/>
                </a:solidFill>
                <a:latin typeface="Yu Gothic" pitchFamily="34" charset="0"/>
                <a:ea typeface="Yu Gothic" pitchFamily="34" charset="-122"/>
                <a:cs typeface="Yu Gothic" pitchFamily="34" charset="-120"/>
              </a:rPr>
              <a:t>届く ✓</a:t>
            </a:r>
            <a:endParaRPr lang="en-US" sz="1000" dirty="0"/>
          </a:p>
        </p:txBody>
      </p:sp>
      <p:sp>
        <p:nvSpPr>
          <p:cNvPr id="35" name="Text 33"/>
          <p:cNvSpPr txBox="1"/>
          <p:nvPr/>
        </p:nvSpPr>
        <p:spPr>
          <a:xfrm>
            <a:off x="3081528" y="3950208"/>
            <a:ext cx="91440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ぶつかる ✕</a:t>
            </a:r>
            <a:endParaRPr lang="en-US" sz="1000" dirty="0"/>
          </a:p>
        </p:txBody>
      </p:sp>
      <p:sp>
        <p:nvSpPr>
          <p:cNvPr id="36" name="Shape 34"/>
          <p:cNvSpPr/>
          <p:nvPr/>
        </p:nvSpPr>
        <p:spPr>
          <a:xfrm>
            <a:off x="2971800" y="4965192"/>
            <a:ext cx="1005840" cy="0"/>
          </a:xfrm>
          <a:prstGeom prst="line">
            <a:avLst/>
          </a:prstGeom>
          <a:noFill/>
          <a:ln w="12700">
            <a:solidFill>
              <a:srgbClr val="1B2A44"/>
            </a:solidFill>
            <a:prstDash val="solid"/>
            <a:headEnd type="triangle"/>
            <a:tailEnd type="triangle"/>
          </a:ln>
        </p:spPr>
        <p:txBody>
          <a:bodyPr/>
          <a:p/>
        </p:txBody>
      </p:sp>
      <p:sp>
        <p:nvSpPr>
          <p:cNvPr id="37" name="Text 35"/>
          <p:cNvSpPr txBox="1"/>
          <p:nvPr/>
        </p:nvSpPr>
        <p:spPr>
          <a:xfrm>
            <a:off x="2788920" y="4983480"/>
            <a:ext cx="1371600" cy="237744"/>
          </a:xfrm>
          <a:prstGeom prst="rect">
            <a:avLst/>
          </a:prstGeom>
          <a:noFill/>
          <a:ln/>
        </p:spPr>
        <p:txBody>
          <a:bodyPr wrap="square"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D＝25m</a:t>
            </a:r>
            <a:endParaRPr lang="en-US" sz="1000" dirty="0"/>
          </a:p>
        </p:txBody>
      </p:sp>
      <p:sp>
        <p:nvSpPr>
          <p:cNvPr id="38" name="Text 36"/>
          <p:cNvSpPr txBox="1"/>
          <p:nvPr/>
        </p:nvSpPr>
        <p:spPr>
          <a:xfrm>
            <a:off x="6400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9" name="Text 37"/>
          <p:cNvSpPr txBox="1"/>
          <p:nvPr/>
        </p:nvSpPr>
        <p:spPr>
          <a:xfrm>
            <a:off x="58978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40" name="Text 38"/>
          <p:cNvSpPr txBox="1"/>
          <p:nvPr/>
        </p:nvSpPr>
        <p:spPr>
          <a:xfrm>
            <a:off x="457200" y="5440680"/>
            <a:ext cx="5852160" cy="86868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光線と建物の交差判定：</a:t>
            </a:r>
            <a:r>
              <a:rPr lang="en-US" sz="1050" dirty="0">
                <a:solidFill>
                  <a:srgbClr val="333F4E"/>
                </a:solidFill>
                <a:latin typeface="Yu Gothic" pitchFamily="34" charset="0"/>
                <a:ea typeface="Yu Gothic" pitchFamily="34" charset="-122"/>
                <a:cs typeface="Yu Gothic" pitchFamily="34" charset="-120"/>
              </a:rPr>
              <a:t>壁の各点から太陽の方向へ線を伸ばし、建物にぶつかれば影、ぶつからなければ直達日光が届くと判定する。太陽が地平線の下や、壁が太陽と反対向きのときも「当たらない」とする。</a:t>
            </a:r>
            <a:endParaRPr lang="en-US" sz="1050" dirty="0"/>
          </a:p>
        </p:txBody>
      </p:sp>
      <p:sp>
        <p:nvSpPr>
          <p:cNvPr id="41" name="Shape 39"/>
          <p:cNvSpPr/>
          <p:nvPr/>
        </p:nvSpPr>
        <p:spPr>
          <a:xfrm>
            <a:off x="6583680" y="11887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2" name="Text 40"/>
          <p:cNvSpPr txBox="1"/>
          <p:nvPr/>
        </p:nvSpPr>
        <p:spPr>
          <a:xfrm>
            <a:off x="6784848" y="12801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地面にできる影の長さ（高さ50mの建物）</a:t>
            </a:r>
            <a:endParaRPr lang="en-US" sz="1250" dirty="0"/>
          </a:p>
        </p:txBody>
      </p:sp>
      <p:sp>
        <p:nvSpPr>
          <p:cNvPr id="43" name="Shape 41"/>
          <p:cNvSpPr/>
          <p:nvPr/>
        </p:nvSpPr>
        <p:spPr>
          <a:xfrm>
            <a:off x="6784848" y="1600200"/>
            <a:ext cx="4745736" cy="411480"/>
          </a:xfrm>
          <a:prstGeom prst="roundRect">
            <a:avLst>
              <a:gd name="adj" fmla="val 13333"/>
            </a:avLst>
          </a:prstGeom>
          <a:solidFill>
            <a:srgbClr val="1B2A44"/>
          </a:solidFill>
          <a:ln/>
        </p:spPr>
        <p:txBody>
          <a:bodyPr/>
          <a:p/>
        </p:txBody>
      </p:sp>
      <p:sp>
        <p:nvSpPr>
          <p:cNvPr id="44" name="Text 42"/>
          <p:cNvSpPr txBox="1"/>
          <p:nvPr/>
        </p:nvSpPr>
        <p:spPr>
          <a:xfrm>
            <a:off x="6784848" y="16002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影の長さ ＝ 建物の高さ ÷ tan（太陽高度）</a:t>
            </a:r>
            <a:endParaRPr lang="en-US" sz="1300" dirty="0"/>
          </a:p>
        </p:txBody>
      </p:sp>
      <p:sp>
        <p:nvSpPr>
          <p:cNvPr id="45" name="Text 43"/>
          <p:cNvSpPr txBox="1"/>
          <p:nvPr/>
        </p:nvSpPr>
        <p:spPr>
          <a:xfrm>
            <a:off x="6784848" y="20848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45° → 50 ÷ tan45° ＝ 50m　／　30° → 50 ÷ tan30° ≈ 86.6m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太陽が低いほど影は長くなる。</a:t>
            </a:r>
            <a:endParaRPr lang="en-US" sz="1050" dirty="0"/>
          </a:p>
        </p:txBody>
      </p:sp>
      <p:sp>
        <p:nvSpPr>
          <p:cNvPr id="46" name="Shape 44"/>
          <p:cNvSpPr/>
          <p:nvPr/>
        </p:nvSpPr>
        <p:spPr>
          <a:xfrm>
            <a:off x="6583680" y="27889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7" name="Text 45"/>
          <p:cNvSpPr txBox="1"/>
          <p:nvPr/>
        </p:nvSpPr>
        <p:spPr>
          <a:xfrm>
            <a:off x="6784848" y="28803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中央建物の南壁にかかる影の上端</a:t>
            </a:r>
            <a:endParaRPr lang="en-US" sz="1250" dirty="0"/>
          </a:p>
        </p:txBody>
      </p:sp>
      <p:sp>
        <p:nvSpPr>
          <p:cNvPr id="48" name="Shape 46"/>
          <p:cNvSpPr/>
          <p:nvPr/>
        </p:nvSpPr>
        <p:spPr>
          <a:xfrm>
            <a:off x="6784848" y="3200400"/>
            <a:ext cx="4745736" cy="411480"/>
          </a:xfrm>
          <a:prstGeom prst="roundRect">
            <a:avLst>
              <a:gd name="adj" fmla="val 13333"/>
            </a:avLst>
          </a:prstGeom>
          <a:solidFill>
            <a:srgbClr val="1B2A44"/>
          </a:solidFill>
          <a:ln/>
        </p:spPr>
        <p:txBody>
          <a:bodyPr/>
          <a:p/>
        </p:txBody>
      </p:sp>
      <p:sp>
        <p:nvSpPr>
          <p:cNvPr id="49" name="Text 47"/>
          <p:cNvSpPr txBox="1"/>
          <p:nvPr/>
        </p:nvSpPr>
        <p:spPr>
          <a:xfrm>
            <a:off x="6784848" y="32004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影の上端 ＝ A − D × tan（太陽高度）</a:t>
            </a:r>
            <a:endParaRPr lang="en-US" sz="1300" dirty="0"/>
          </a:p>
        </p:txBody>
      </p:sp>
      <p:sp>
        <p:nvSpPr>
          <p:cNvPr id="50" name="Text 48"/>
          <p:cNvSpPr txBox="1"/>
          <p:nvPr/>
        </p:nvSpPr>
        <p:spPr>
          <a:xfrm>
            <a:off x="6784848" y="36850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A＝50m、D＝25m、30° → 50 − 25 × tan30° ≈ 35.6m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（太陽が真南・東西のずれなしの単純化。実際は3次元で判定）</a:t>
            </a:r>
            <a:endParaRPr lang="en-US" sz="1050" dirty="0"/>
          </a:p>
        </p:txBody>
      </p:sp>
      <p:sp>
        <p:nvSpPr>
          <p:cNvPr id="51" name="Shape 49"/>
          <p:cNvSpPr/>
          <p:nvPr/>
        </p:nvSpPr>
        <p:spPr>
          <a:xfrm>
            <a:off x="6583680" y="4389120"/>
            <a:ext cx="5148072" cy="1920240"/>
          </a:xfrm>
          <a:prstGeom prst="roundRect">
            <a:avLst>
              <a:gd name="adj" fmla="val 2857"/>
            </a:avLst>
          </a:prstGeom>
          <a:solidFill>
            <a:srgbClr val="E1EEE7"/>
          </a:solidFill>
          <a:ln w="12700">
            <a:solidFill>
              <a:srgbClr val="4C8C6B"/>
            </a:solidFill>
            <a:prstDash val="solid"/>
          </a:ln>
        </p:spPr>
        <p:txBody>
          <a:bodyPr/>
          <a:p/>
        </p:txBody>
      </p:sp>
      <p:sp>
        <p:nvSpPr>
          <p:cNvPr id="52" name="Text 50"/>
          <p:cNvSpPr txBox="1"/>
          <p:nvPr/>
        </p:nvSpPr>
        <p:spPr>
          <a:xfrm>
            <a:off x="6766560" y="4462272"/>
            <a:ext cx="47823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直達日光が当たる割合（画面の表示）</a:t>
            </a:r>
            <a:endParaRPr lang="en-US" sz="1200" dirty="0"/>
          </a:p>
        </p:txBody>
      </p:sp>
      <p:sp>
        <p:nvSpPr>
          <p:cNvPr id="53" name="Text 51"/>
          <p:cNvSpPr txBox="1"/>
          <p:nvPr/>
        </p:nvSpPr>
        <p:spPr>
          <a:xfrm>
            <a:off x="6766560" y="4754880"/>
            <a:ext cx="4782312" cy="14996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壁（50m×50m）に10×10＝100点の確認点を置き（各5m区画の中央）、光が届いた点の割合を表示する。例：60点なら60%。面積割合の概算で、日射エネルギーや発電効率の割合ではない。画面の明るさも見やすさのための描画設定。</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どこまで確認できたか：精度と適用範囲</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17 / 45</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67665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確認した対象</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内容と結果</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状態</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年間日射量（広範囲版）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未使用のテスト12配置：MAE 18.40 kWh/m²・誤差率 2.42%</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年間日射量（局所改良版）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局所範囲の6配置：MAE 17.81 kWh/m²・誤差率 2.31%</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2"/>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保存済み予測の再現</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ツールと元の計算の差は約 1.14×10⁻¹³ kWh/m² 以下</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3"/>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太陽位置の近似</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実装は確認済み。角度の誤差は未評価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影の位置・形</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実測や別の基準計算との比較は未実施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100点の受光割合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より細かい点数との比較は未実施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6"/>
                  </a:ext>
                </a:extLst>
              </a:tr>
            </a:tbl>
          </a:graphicData>
        </a:graphic>
      </p:graphicFrame>
      <p:sp>
        <p:nvSpPr>
          <p:cNvPr id="10" name="Shape 7"/>
          <p:cNvSpPr/>
          <p:nvPr/>
        </p:nvSpPr>
        <p:spPr>
          <a:xfrm>
            <a:off x="457200" y="4754880"/>
            <a:ext cx="6766560" cy="1554480"/>
          </a:xfrm>
          <a:prstGeom prst="roundRect">
            <a:avLst>
              <a:gd name="adj" fmla="val 3529"/>
            </a:avLst>
          </a:prstGeom>
          <a:solidFill>
            <a:srgbClr val="F3F5F8"/>
          </a:solidFill>
          <a:ln w="12700">
            <a:solidFill>
              <a:srgbClr val="DBE0E6"/>
            </a:solidFill>
            <a:prstDash val="solid"/>
          </a:ln>
        </p:spPr>
        <p:txBody>
          <a:bodyPr/>
          <a:p/>
        </p:txBody>
      </p:sp>
      <p:sp>
        <p:nvSpPr>
          <p:cNvPr id="11" name="Text 8"/>
          <p:cNvSpPr txBox="1"/>
          <p:nvPr/>
        </p:nvSpPr>
        <p:spPr>
          <a:xfrm>
            <a:off x="640080" y="4828032"/>
            <a:ext cx="640080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精度を読むときの注意</a:t>
            </a:r>
            <a:endParaRPr lang="en-US" sz="1200" dirty="0"/>
          </a:p>
        </p:txBody>
      </p:sp>
      <p:sp>
        <p:nvSpPr>
          <p:cNvPr id="12" name="Text 9"/>
          <p:cNvSpPr txBox="1"/>
          <p:nvPr/>
        </p:nvSpPr>
        <p:spPr>
          <a:xfrm>
            <a:off x="640080" y="5120640"/>
            <a:ext cx="6400800" cy="11338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・数値はSEBEの計算結果との比較で、実測日射量や発電量の精度ではない。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・年間予測の誤差（2.31%など）を、太陽位置や影の精度として使うことはできない。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・保存済み予測の再現誤差が小さいことは、実際の日射量との誤差が小さいこととは別。</a:t>
            </a:r>
            <a:endParaRPr lang="en-US" sz="1100" dirty="0"/>
          </a:p>
        </p:txBody>
      </p:sp>
      <p:sp>
        <p:nvSpPr>
          <p:cNvPr id="13" name="Shape 10"/>
          <p:cNvSpPr/>
          <p:nvPr/>
        </p:nvSpPr>
        <p:spPr>
          <a:xfrm>
            <a:off x="7452360" y="1234440"/>
            <a:ext cx="4279392" cy="2423160"/>
          </a:xfrm>
          <a:prstGeom prst="roundRect">
            <a:avLst>
              <a:gd name="adj" fmla="val 2264"/>
            </a:avLst>
          </a:prstGeom>
          <a:solidFill>
            <a:srgbClr val="DCEAEC"/>
          </a:solidFill>
          <a:ln w="12700">
            <a:solidFill>
              <a:srgbClr val="1F6F78"/>
            </a:solidFill>
            <a:prstDash val="solid"/>
          </a:ln>
        </p:spPr>
        <p:txBody>
          <a:bodyPr/>
          <a:p/>
        </p:txBody>
      </p:sp>
      <p:sp>
        <p:nvSpPr>
          <p:cNvPr id="14" name="Text 11"/>
          <p:cNvSpPr txBox="1"/>
          <p:nvPr/>
        </p:nvSpPr>
        <p:spPr>
          <a:xfrm>
            <a:off x="7635240" y="1307592"/>
            <a:ext cx="391363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この段階で使える範囲</a:t>
            </a:r>
            <a:endParaRPr lang="en-US" sz="1200" dirty="0"/>
          </a:p>
        </p:txBody>
      </p:sp>
      <p:sp>
        <p:nvSpPr>
          <p:cNvPr id="15" name="Text 12"/>
          <p:cNvSpPr txBox="1"/>
          <p:nvPr/>
        </p:nvSpPr>
        <p:spPr>
          <a:xfrm>
            <a:off x="7635240" y="1600200"/>
            <a:ext cx="3913632" cy="2002536"/>
          </a:xfrm>
          <a:prstGeom prst="rect">
            <a:avLst/>
          </a:prstGeom>
          <a:noFill/>
          <a:ln/>
        </p:spPr>
        <p:txBody>
          <a:bodyPr wrap="square" rtlCol="0" anchor="t"/>
          <a:lstStyle/>
          <a:p>
            <a:pPr marL="0" indent="0">
              <a:lnSpc>
                <a:spcPct val="108000"/>
              </a:lnSpc>
              <a:buNone/>
            </a:pPr>
            <a:r>
              <a:rPr lang="en-US" sz="1250" b="1" dirty="0">
                <a:solidFill>
                  <a:srgbClr val="4C8C6B"/>
                </a:solidFill>
                <a:latin typeface="Yu Gothic" pitchFamily="34" charset="0"/>
                <a:ea typeface="Yu Gothic" pitchFamily="34" charset="-122"/>
                <a:cs typeface="Yu Gothic" pitchFamily="34" charset="-120"/>
              </a:rPr>
              <a:t>検証済み</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南に1棟・中央建物50m角・南面の年間日射量</a:t>
            </a:r>
            <a:endParaRPr lang="en-US" sz="1250" dirty="0"/>
          </a:p>
          <a:p>
            <a:pPr marL="0" indent="0">
              <a:lnSpc>
                <a:spcPct val="108000"/>
              </a:lnSpc>
              <a:buNone/>
            </a:pPr>
            <a:r>
              <a:rPr lang="en-US" sz="600" dirty="0">
                <a:solidFill>
                  <a:srgbClr val="333F4E"/>
                </a:solidFill>
                <a:latin typeface="Yu Gothic" pitchFamily="34" charset="0"/>
                <a:ea typeface="Yu Gothic" pitchFamily="34" charset="-122"/>
                <a:cs typeface="Yu Gothic" pitchFamily="34" charset="-120"/>
              </a:rPr>
              <a:t> </a:t>
            </a:r>
            <a:endParaRPr lang="en-US" sz="1250" dirty="0"/>
          </a:p>
          <a:p>
            <a:pPr marL="0" indent="0">
              <a:lnSpc>
                <a:spcPct val="108000"/>
              </a:lnSpc>
              <a:buNone/>
            </a:pPr>
            <a:r>
              <a:rPr lang="en-US" sz="1250" b="1" dirty="0">
                <a:solidFill>
                  <a:srgbClr val="B04A3F"/>
                </a:solidFill>
                <a:latin typeface="Yu Gothic" pitchFamily="34" charset="0"/>
                <a:ea typeface="Yu Gothic" pitchFamily="34" charset="-122"/>
                <a:cs typeface="Yu Gothic" pitchFamily="34" charset="-120"/>
              </a:rPr>
              <a:t>未対応</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東側など他の方角への配置、複数棟の同時配置、中央建物の高さ違い、南面以外の壁</a:t>
            </a:r>
            <a:endParaRPr lang="en-US" sz="1250" dirty="0"/>
          </a:p>
        </p:txBody>
      </p:sp>
      <p:sp>
        <p:nvSpPr>
          <p:cNvPr id="16" name="Shape 13"/>
          <p:cNvSpPr/>
          <p:nvPr/>
        </p:nvSpPr>
        <p:spPr>
          <a:xfrm>
            <a:off x="7452360" y="3840480"/>
            <a:ext cx="4279392" cy="2468880"/>
          </a:xfrm>
          <a:prstGeom prst="roundRect">
            <a:avLst>
              <a:gd name="adj" fmla="val 2222"/>
            </a:avLst>
          </a:prstGeom>
          <a:solidFill>
            <a:srgbClr val="FBEBDA"/>
          </a:solidFill>
          <a:ln w="12700">
            <a:solidFill>
              <a:srgbClr val="E8934D"/>
            </a:solidFill>
            <a:prstDash val="solid"/>
          </a:ln>
        </p:spPr>
        <p:txBody>
          <a:bodyPr/>
          <a:p/>
        </p:txBody>
      </p:sp>
      <p:sp>
        <p:nvSpPr>
          <p:cNvPr id="17" name="Text 14"/>
          <p:cNvSpPr txBox="1"/>
          <p:nvPr/>
        </p:nvSpPr>
        <p:spPr>
          <a:xfrm>
            <a:off x="7635240" y="3913632"/>
            <a:ext cx="391363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設計上の工夫</a:t>
            </a:r>
            <a:endParaRPr lang="en-US" sz="1200" dirty="0"/>
          </a:p>
        </p:txBody>
      </p:sp>
      <p:sp>
        <p:nvSpPr>
          <p:cNvPr id="9" name="Text 15"/>
          <p:cNvSpPr txBox="1"/>
          <p:nvPr/>
        </p:nvSpPr>
        <p:spPr>
          <a:xfrm>
            <a:off x="7635240" y="4206240"/>
            <a:ext cx="3913632" cy="2048256"/>
          </a:xfrm>
          <a:prstGeom prst="rect">
            <a:avLst/>
          </a:prstGeom>
          <a:noFill/>
          <a:ln/>
        </p:spPr>
        <p:txBody>
          <a:bodyPr wrap="square" rtlCol="0" anchor="t"/>
          <a:lstStyle/>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・広範囲版と局所改良版は手動で切り替える。範囲の境界で自動的に混ぜると、予測が不連続になるおそれがあるため。</a:t>
            </a:r>
            <a:endParaRPr lang="en-US" sz="1200" dirty="0"/>
          </a:p>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・入力範囲の外や空欄のときは予測を止める（範囲外の値を推測しない）。</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731520" y="457200"/>
            <a:ext cx="5486400" cy="292608"/>
          </a:xfrm>
          <a:prstGeom prst="rect">
            <a:avLst/>
          </a:prstGeom>
          <a:noFill/>
          <a:ln/>
        </p:spPr>
        <p:txBody>
          <a:bodyPr wrap="square" rtlCol="0" anchor="t"/>
          <a:lstStyle/>
          <a:p>
            <a:pPr marL="0" indent="0">
              <a:buNone/>
            </a:pPr>
            <a:r>
              <a:rPr lang="en-US" sz="1250" b="1" kern="0" spc="200" dirty="0">
                <a:solidFill>
                  <a:srgbClr val="E8934D"/>
                </a:solidFill>
                <a:latin typeface="Yu Gothic" pitchFamily="34" charset="0"/>
                <a:ea typeface="Yu Gothic" pitchFamily="34" charset="-122"/>
                <a:cs typeface="Yu Gothic" pitchFamily="34" charset="-120"/>
              </a:rPr>
              <a:t>SUMMARY</a:t>
            </a:r>
            <a:endParaRPr lang="en-US" sz="1250" dirty="0"/>
          </a:p>
        </p:txBody>
      </p:sp>
      <p:sp>
        <p:nvSpPr>
          <p:cNvPr id="3" name="Text 1"/>
          <p:cNvSpPr txBox="1"/>
          <p:nvPr/>
        </p:nvSpPr>
        <p:spPr>
          <a:xfrm>
            <a:off x="731520" y="731520"/>
            <a:ext cx="9601200" cy="640080"/>
          </a:xfrm>
          <a:prstGeom prst="rect">
            <a:avLst/>
          </a:prstGeom>
          <a:noFill/>
          <a:ln/>
        </p:spPr>
        <p:txBody>
          <a:bodyPr wrap="square" rtlCol="0" anchor="t"/>
          <a:lstStyle/>
          <a:p>
            <a:pPr marL="0" indent="0">
              <a:buNone/>
            </a:pPr>
            <a:r>
              <a:rPr lang="en-US" sz="2900" b="1" dirty="0">
                <a:solidFill>
                  <a:srgbClr val="FFFFFF"/>
                </a:solidFill>
                <a:latin typeface="Yu Gothic" pitchFamily="34" charset="0"/>
                <a:ea typeface="Yu Gothic" pitchFamily="34" charset="-122"/>
                <a:cs typeface="Yu Gothic" pitchFamily="34" charset="-120"/>
              </a:rPr>
              <a:t>まとめ：南1棟モデルの予測ツールが完成</a:t>
            </a:r>
            <a:endParaRPr lang="en-US" sz="2900" dirty="0"/>
          </a:p>
        </p:txBody>
      </p:sp>
      <p:sp>
        <p:nvSpPr>
          <p:cNvPr id="4" name="Shape 2"/>
          <p:cNvSpPr/>
          <p:nvPr/>
        </p:nvSpPr>
        <p:spPr>
          <a:xfrm>
            <a:off x="10949940" y="448056"/>
            <a:ext cx="45720" cy="137160"/>
          </a:xfrm>
          <a:prstGeom prst="rect">
            <a:avLst/>
          </a:prstGeom>
          <a:solidFill>
            <a:srgbClr val="E8934D"/>
          </a:solidFill>
          <a:ln/>
        </p:spPr>
        <p:txBody>
          <a:bodyPr/>
          <a:p/>
        </p:txBody>
      </p:sp>
      <p:sp>
        <p:nvSpPr>
          <p:cNvPr id="5" name="Shape 3"/>
          <p:cNvSpPr/>
          <p:nvPr/>
        </p:nvSpPr>
        <p:spPr>
          <a:xfrm rot="2700000">
            <a:off x="11231202" y="564558"/>
            <a:ext cx="45720" cy="137160"/>
          </a:xfrm>
          <a:prstGeom prst="rect">
            <a:avLst/>
          </a:prstGeom>
          <a:solidFill>
            <a:srgbClr val="E8934D"/>
          </a:solidFill>
          <a:ln/>
        </p:spPr>
        <p:txBody>
          <a:bodyPr/>
          <a:p/>
        </p:txBody>
      </p:sp>
      <p:sp>
        <p:nvSpPr>
          <p:cNvPr id="6" name="Shape 4"/>
          <p:cNvSpPr/>
          <p:nvPr/>
        </p:nvSpPr>
        <p:spPr>
          <a:xfrm rot="5400000">
            <a:off x="11347704" y="845820"/>
            <a:ext cx="45720" cy="137160"/>
          </a:xfrm>
          <a:prstGeom prst="rect">
            <a:avLst/>
          </a:prstGeom>
          <a:solidFill>
            <a:srgbClr val="E8934D"/>
          </a:solidFill>
          <a:ln/>
        </p:spPr>
        <p:txBody>
          <a:bodyPr/>
          <a:p/>
        </p:txBody>
      </p:sp>
      <p:sp>
        <p:nvSpPr>
          <p:cNvPr id="7" name="Shape 5"/>
          <p:cNvSpPr/>
          <p:nvPr/>
        </p:nvSpPr>
        <p:spPr>
          <a:xfrm rot="8100000">
            <a:off x="11231202" y="1127082"/>
            <a:ext cx="45720" cy="137160"/>
          </a:xfrm>
          <a:prstGeom prst="rect">
            <a:avLst/>
          </a:prstGeom>
          <a:solidFill>
            <a:srgbClr val="E8934D"/>
          </a:solidFill>
          <a:ln/>
        </p:spPr>
        <p:txBody>
          <a:bodyPr/>
          <a:p/>
        </p:txBody>
      </p:sp>
      <p:sp>
        <p:nvSpPr>
          <p:cNvPr id="8" name="Shape 6"/>
          <p:cNvSpPr/>
          <p:nvPr/>
        </p:nvSpPr>
        <p:spPr>
          <a:xfrm rot="10800000">
            <a:off x="10949940" y="1243584"/>
            <a:ext cx="45720" cy="137160"/>
          </a:xfrm>
          <a:prstGeom prst="rect">
            <a:avLst/>
          </a:prstGeom>
          <a:solidFill>
            <a:srgbClr val="E8934D"/>
          </a:solidFill>
          <a:ln/>
        </p:spPr>
        <p:txBody>
          <a:bodyPr/>
          <a:p/>
        </p:txBody>
      </p:sp>
      <p:sp>
        <p:nvSpPr>
          <p:cNvPr id="9" name="Shape 7"/>
          <p:cNvSpPr/>
          <p:nvPr/>
        </p:nvSpPr>
        <p:spPr>
          <a:xfrm rot="13500000">
            <a:off x="10668678" y="1127082"/>
            <a:ext cx="45720" cy="137160"/>
          </a:xfrm>
          <a:prstGeom prst="rect">
            <a:avLst/>
          </a:prstGeom>
          <a:solidFill>
            <a:srgbClr val="E8934D"/>
          </a:solidFill>
          <a:ln/>
        </p:spPr>
        <p:txBody>
          <a:bodyPr/>
          <a:p/>
        </p:txBody>
      </p:sp>
      <p:sp>
        <p:nvSpPr>
          <p:cNvPr id="10" name="Shape 8"/>
          <p:cNvSpPr/>
          <p:nvPr/>
        </p:nvSpPr>
        <p:spPr>
          <a:xfrm rot="16200000">
            <a:off x="10552176" y="845820"/>
            <a:ext cx="45720" cy="137160"/>
          </a:xfrm>
          <a:prstGeom prst="rect">
            <a:avLst/>
          </a:prstGeom>
          <a:solidFill>
            <a:srgbClr val="E8934D"/>
          </a:solidFill>
          <a:ln/>
        </p:spPr>
        <p:txBody>
          <a:bodyPr/>
          <a:p/>
        </p:txBody>
      </p:sp>
      <p:sp>
        <p:nvSpPr>
          <p:cNvPr id="11" name="Shape 9"/>
          <p:cNvSpPr/>
          <p:nvPr/>
        </p:nvSpPr>
        <p:spPr>
          <a:xfrm rot="18900000">
            <a:off x="10668678" y="564558"/>
            <a:ext cx="45720" cy="137160"/>
          </a:xfrm>
          <a:prstGeom prst="rect">
            <a:avLst/>
          </a:prstGeom>
          <a:solidFill>
            <a:srgbClr val="E8934D"/>
          </a:solidFill>
          <a:ln/>
        </p:spPr>
        <p:txBody>
          <a:bodyPr/>
          <a:p/>
        </p:txBody>
      </p:sp>
      <p:sp>
        <p:nvSpPr>
          <p:cNvPr id="12" name="Shape 10"/>
          <p:cNvSpPr/>
          <p:nvPr/>
        </p:nvSpPr>
        <p:spPr>
          <a:xfrm>
            <a:off x="10698480" y="640080"/>
            <a:ext cx="548640" cy="548640"/>
          </a:xfrm>
          <a:prstGeom prst="ellipse">
            <a:avLst/>
          </a:prstGeom>
          <a:solidFill>
            <a:srgbClr val="E8934D"/>
          </a:solidFill>
          <a:ln/>
        </p:spPr>
        <p:txBody>
          <a:bodyPr/>
          <a:p/>
        </p:txBody>
      </p:sp>
      <p:sp>
        <p:nvSpPr>
          <p:cNvPr id="13" name="Shape 11"/>
          <p:cNvSpPr/>
          <p:nvPr/>
        </p:nvSpPr>
        <p:spPr>
          <a:xfrm>
            <a:off x="731520" y="1609344"/>
            <a:ext cx="402336" cy="402336"/>
          </a:xfrm>
          <a:prstGeom prst="ellipse">
            <a:avLst/>
          </a:prstGeom>
          <a:solidFill>
            <a:srgbClr val="E8934D"/>
          </a:solidFill>
          <a:ln/>
        </p:spPr>
        <p:txBody>
          <a:bodyPr/>
          <a:p/>
        </p:txBody>
      </p:sp>
      <p:sp>
        <p:nvSpPr>
          <p:cNvPr id="14" name="Text 12"/>
          <p:cNvSpPr txBox="1"/>
          <p:nvPr/>
        </p:nvSpPr>
        <p:spPr>
          <a:xfrm>
            <a:off x="731520" y="160934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5" name="Text 13"/>
          <p:cNvSpPr txBox="1"/>
          <p:nvPr/>
        </p:nvSpPr>
        <p:spPr>
          <a:xfrm>
            <a:off x="1325880" y="1554480"/>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A・D の2つの入力から、南面の年間日射量を予測する方法を作った</a:t>
            </a:r>
            <a:endParaRPr lang="en-US" sz="1500" dirty="0"/>
          </a:p>
        </p:txBody>
      </p:sp>
      <p:sp>
        <p:nvSpPr>
          <p:cNvPr id="16" name="Text 14"/>
          <p:cNvSpPr txBox="1"/>
          <p:nvPr/>
        </p:nvSpPr>
        <p:spPr>
          <a:xfrm>
            <a:off x="1325880" y="1865376"/>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SEBEを毎回実行せず、保存した16配置の値から瞬時に推定する</a:t>
            </a:r>
            <a:endParaRPr lang="en-US" sz="1100" dirty="0"/>
          </a:p>
        </p:txBody>
      </p:sp>
      <p:sp>
        <p:nvSpPr>
          <p:cNvPr id="17" name="Shape 15"/>
          <p:cNvSpPr/>
          <p:nvPr/>
        </p:nvSpPr>
        <p:spPr>
          <a:xfrm>
            <a:off x="731520" y="2322576"/>
            <a:ext cx="402336" cy="402336"/>
          </a:xfrm>
          <a:prstGeom prst="ellipse">
            <a:avLst/>
          </a:prstGeom>
          <a:solidFill>
            <a:srgbClr val="E8934D"/>
          </a:solidFill>
          <a:ln/>
        </p:spPr>
        <p:txBody>
          <a:bodyPr/>
          <a:p/>
        </p:txBody>
      </p:sp>
      <p:sp>
        <p:nvSpPr>
          <p:cNvPr id="18" name="Text 16"/>
          <p:cNvSpPr txBox="1"/>
          <p:nvPr/>
        </p:nvSpPr>
        <p:spPr>
          <a:xfrm>
            <a:off x="731520" y="23225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9" name="Text 17"/>
          <p:cNvSpPr txBox="1"/>
          <p:nvPr/>
        </p:nvSpPr>
        <p:spPr>
          <a:xfrm>
            <a:off x="1325880" y="2267712"/>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3手法を比較し、線形補間を採用</a:t>
            </a:r>
            <a:endParaRPr lang="en-US" sz="1500" dirty="0"/>
          </a:p>
        </p:txBody>
      </p:sp>
      <p:sp>
        <p:nvSpPr>
          <p:cNvPr id="20" name="Text 18"/>
          <p:cNvSpPr txBox="1"/>
          <p:nvPr/>
        </p:nvSpPr>
        <p:spPr>
          <a:xfrm>
            <a:off x="1325880" y="2578608"/>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検証8パターンで MAE 19.99 kWh/m²・誤差率 2.67% と最も高精度</a:t>
            </a:r>
            <a:endParaRPr lang="en-US" sz="1100" dirty="0"/>
          </a:p>
        </p:txBody>
      </p:sp>
      <p:sp>
        <p:nvSpPr>
          <p:cNvPr id="21" name="Shape 19"/>
          <p:cNvSpPr/>
          <p:nvPr/>
        </p:nvSpPr>
        <p:spPr>
          <a:xfrm>
            <a:off x="731520" y="3035808"/>
            <a:ext cx="402336" cy="402336"/>
          </a:xfrm>
          <a:prstGeom prst="ellipse">
            <a:avLst/>
          </a:prstGeom>
          <a:solidFill>
            <a:srgbClr val="E8934D"/>
          </a:solidFill>
          <a:ln/>
        </p:spPr>
        <p:txBody>
          <a:bodyPr/>
          <a:p/>
        </p:txBody>
      </p:sp>
      <p:sp>
        <p:nvSpPr>
          <p:cNvPr id="22" name="Text 20"/>
          <p:cNvSpPr txBox="1"/>
          <p:nvPr/>
        </p:nvSpPr>
        <p:spPr>
          <a:xfrm>
            <a:off x="731520" y="303580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3" name="Text 21"/>
          <p:cNvSpPr txBox="1"/>
          <p:nvPr/>
        </p:nvSpPr>
        <p:spPr>
          <a:xfrm>
            <a:off x="1325880" y="2980944"/>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未使用の12条件でも同程度の精度を確認</a:t>
            </a:r>
            <a:endParaRPr lang="en-US" sz="1500" dirty="0"/>
          </a:p>
        </p:txBody>
      </p:sp>
      <p:sp>
        <p:nvSpPr>
          <p:cNvPr id="24" name="Text 22"/>
          <p:cNvSpPr txBox="1"/>
          <p:nvPr/>
        </p:nvSpPr>
        <p:spPr>
          <a:xfrm>
            <a:off x="1325880" y="3291840"/>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MAE 18.40 kWh/m²・平均誤差率 2.42%・最大誤差率 5.36%</a:t>
            </a:r>
            <a:endParaRPr lang="en-US" sz="1100" dirty="0"/>
          </a:p>
        </p:txBody>
      </p:sp>
      <p:sp>
        <p:nvSpPr>
          <p:cNvPr id="25" name="Shape 23"/>
          <p:cNvSpPr/>
          <p:nvPr/>
        </p:nvSpPr>
        <p:spPr>
          <a:xfrm>
            <a:off x="731520" y="3749040"/>
            <a:ext cx="402336" cy="402336"/>
          </a:xfrm>
          <a:prstGeom prst="ellipse">
            <a:avLst/>
          </a:prstGeom>
          <a:solidFill>
            <a:srgbClr val="E8934D"/>
          </a:solidFill>
          <a:ln/>
        </p:spPr>
        <p:txBody>
          <a:bodyPr/>
          <a:p/>
        </p:txBody>
      </p:sp>
      <p:sp>
        <p:nvSpPr>
          <p:cNvPr id="26" name="Text 24"/>
          <p:cNvSpPr txBox="1"/>
          <p:nvPr/>
        </p:nvSpPr>
        <p:spPr>
          <a:xfrm>
            <a:off x="731520" y="374904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7" name="Text 25"/>
          <p:cNvSpPr txBox="1"/>
          <p:nvPr/>
        </p:nvSpPr>
        <p:spPr>
          <a:xfrm>
            <a:off x="1325880" y="3694176"/>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誤差が最大だった屋根付近を局所補強</a:t>
            </a:r>
            <a:endParaRPr lang="en-US" sz="1500" dirty="0"/>
          </a:p>
        </p:txBody>
      </p:sp>
      <p:sp>
        <p:nvSpPr>
          <p:cNvPr id="28" name="Text 26"/>
          <p:cNvSpPr txBox="1"/>
          <p:nvPr/>
        </p:nvSpPr>
        <p:spPr>
          <a:xfrm>
            <a:off x="1325880" y="4005072"/>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周辺5点の追加で MAE 43.50 → 17.81 kWh/m²（−59.1%）</a:t>
            </a:r>
            <a:endParaRPr lang="en-US" sz="1100" dirty="0"/>
          </a:p>
        </p:txBody>
      </p:sp>
      <p:sp>
        <p:nvSpPr>
          <p:cNvPr id="29" name="Shape 27"/>
          <p:cNvSpPr/>
          <p:nvPr/>
        </p:nvSpPr>
        <p:spPr>
          <a:xfrm>
            <a:off x="731520" y="4462272"/>
            <a:ext cx="402336" cy="402336"/>
          </a:xfrm>
          <a:prstGeom prst="ellipse">
            <a:avLst/>
          </a:prstGeom>
          <a:solidFill>
            <a:srgbClr val="E8934D"/>
          </a:solidFill>
          <a:ln/>
        </p:spPr>
        <p:txBody>
          <a:bodyPr/>
          <a:p/>
        </p:txBody>
      </p:sp>
      <p:sp>
        <p:nvSpPr>
          <p:cNvPr id="30" name="Text 28"/>
          <p:cNvSpPr txBox="1"/>
          <p:nvPr/>
        </p:nvSpPr>
        <p:spPr>
          <a:xfrm>
            <a:off x="731520" y="446227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31" name="Text 29"/>
          <p:cNvSpPr txBox="1"/>
          <p:nvPr/>
        </p:nvSpPr>
        <p:spPr>
          <a:xfrm>
            <a:off x="1325880" y="4407408"/>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年間日射量と日時の影を見られる3Dツールを作成</a:t>
            </a:r>
            <a:endParaRPr lang="en-US" sz="1500" dirty="0"/>
          </a:p>
        </p:txBody>
      </p:sp>
      <p:sp>
        <p:nvSpPr>
          <p:cNvPr id="32" name="Text 30"/>
          <p:cNvSpPr txBox="1"/>
          <p:nvPr/>
        </p:nvSpPr>
        <p:spPr>
          <a:xfrm>
            <a:off x="1325880" y="4718304"/>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太陽位置はNOAAの近似式、影は光線と建物の交差判定で計算</a:t>
            </a:r>
            <a:endParaRPr lang="en-US" sz="1100" dirty="0"/>
          </a:p>
        </p:txBody>
      </p:sp>
      <p:sp>
        <p:nvSpPr>
          <p:cNvPr id="33" name="Shape 31"/>
          <p:cNvSpPr/>
          <p:nvPr/>
        </p:nvSpPr>
        <p:spPr>
          <a:xfrm>
            <a:off x="731520" y="5166360"/>
            <a:ext cx="10725912" cy="566928"/>
          </a:xfrm>
          <a:prstGeom prst="roundRect">
            <a:avLst>
              <a:gd name="adj" fmla="val 9677"/>
            </a:avLst>
          </a:prstGeom>
          <a:solidFill>
            <a:srgbClr val="24365A"/>
          </a:solidFill>
          <a:ln w="12700">
            <a:solidFill>
              <a:srgbClr val="35507D"/>
            </a:solidFill>
            <a:prstDash val="solid"/>
          </a:ln>
        </p:spPr>
        <p:txBody>
          <a:bodyPr/>
          <a:p/>
        </p:txBody>
      </p:sp>
      <p:sp>
        <p:nvSpPr>
          <p:cNvPr id="34" name="Text 32"/>
          <p:cNvSpPr txBox="1"/>
          <p:nvPr/>
        </p:nvSpPr>
        <p:spPr>
          <a:xfrm>
            <a:off x="1005840" y="5166360"/>
            <a:ext cx="10241280" cy="566928"/>
          </a:xfrm>
          <a:prstGeom prst="rect">
            <a:avLst/>
          </a:prstGeom>
          <a:noFill/>
          <a:ln/>
        </p:spPr>
        <p:txBody>
          <a:bodyPr wrap="square" rtlCol="0" anchor="ctr"/>
          <a:lstStyle/>
          <a:p>
            <a:pPr marL="0" indent="0">
              <a:buNone/>
            </a:pPr>
            <a:r>
              <a:rPr lang="en-US" sz="1350" b="1" dirty="0">
                <a:solidFill>
                  <a:srgbClr val="E8934D"/>
                </a:solidFill>
                <a:latin typeface="Yu Gothic" pitchFamily="34" charset="0"/>
                <a:ea typeface="Yu Gothic" pitchFamily="34" charset="-122"/>
                <a:cs typeface="Yu Gothic" pitchFamily="34" charset="-120"/>
              </a:rPr>
              <a:t>次のステップ　</a:t>
            </a:r>
            <a:r>
              <a:rPr lang="en-US" sz="1350" dirty="0">
                <a:solidFill>
                  <a:srgbClr val="FFFFFF"/>
                </a:solidFill>
                <a:latin typeface="Yu Gothic" pitchFamily="34" charset="0"/>
                <a:ea typeface="Yu Gothic" pitchFamily="34" charset="-122"/>
                <a:cs typeface="Yu Gothic" pitchFamily="34" charset="-120"/>
              </a:rPr>
              <a:t>方角・棟数の条件を広げ、最終目標である「周囲0〜4棟」への対応を目指す。</a:t>
            </a:r>
            <a:endParaRPr lang="en-US" sz="1350" dirty="0"/>
          </a:p>
        </p:txBody>
      </p:sp>
      <p:sp>
        <p:nvSpPr>
          <p:cNvPr id="35" name="Shape 33"/>
          <p:cNvSpPr/>
          <p:nvPr/>
        </p:nvSpPr>
        <p:spPr>
          <a:xfrm>
            <a:off x="822960" y="6416345"/>
            <a:ext cx="777240" cy="441655"/>
          </a:xfrm>
          <a:prstGeom prst="rect">
            <a:avLst/>
          </a:prstGeom>
          <a:solidFill>
            <a:srgbClr val="35507D"/>
          </a:solidFill>
          <a:ln/>
        </p:spPr>
        <p:txBody>
          <a:bodyPr/>
          <a:p/>
        </p:txBody>
      </p:sp>
      <p:sp>
        <p:nvSpPr>
          <p:cNvPr id="36" name="Shape 34"/>
          <p:cNvSpPr/>
          <p:nvPr/>
        </p:nvSpPr>
        <p:spPr>
          <a:xfrm>
            <a:off x="1691640" y="6185916"/>
            <a:ext cx="960120" cy="672084"/>
          </a:xfrm>
          <a:prstGeom prst="rect">
            <a:avLst/>
          </a:prstGeom>
          <a:solidFill>
            <a:srgbClr val="24365A"/>
          </a:solidFill>
          <a:ln/>
        </p:spPr>
        <p:txBody>
          <a:bodyPr/>
          <a:p/>
        </p:txBody>
      </p:sp>
      <p:sp>
        <p:nvSpPr>
          <p:cNvPr id="37" name="Shape 35"/>
          <p:cNvSpPr/>
          <p:nvPr/>
        </p:nvSpPr>
        <p:spPr>
          <a:xfrm>
            <a:off x="2743200" y="6473952"/>
            <a:ext cx="685800" cy="384048"/>
          </a:xfrm>
          <a:prstGeom prst="rect">
            <a:avLst/>
          </a:prstGeom>
          <a:solidFill>
            <a:srgbClr val="35507D"/>
          </a:solidFill>
          <a:ln/>
        </p:spPr>
        <p:txBody>
          <a:bodyPr/>
          <a:p/>
        </p:txBody>
      </p:sp>
      <p:sp>
        <p:nvSpPr>
          <p:cNvPr id="38" name="Shape 36"/>
          <p:cNvSpPr/>
          <p:nvPr/>
        </p:nvSpPr>
        <p:spPr>
          <a:xfrm>
            <a:off x="3520440" y="5878678"/>
            <a:ext cx="1188720" cy="979322"/>
          </a:xfrm>
          <a:prstGeom prst="rect">
            <a:avLst/>
          </a:prstGeom>
          <a:solidFill>
            <a:srgbClr val="24365A"/>
          </a:solidFill>
          <a:ln/>
        </p:spPr>
        <p:txBody>
          <a:bodyPr/>
          <a:p/>
        </p:txBody>
      </p:sp>
      <p:sp>
        <p:nvSpPr>
          <p:cNvPr id="39" name="Shape 37"/>
          <p:cNvSpPr/>
          <p:nvPr/>
        </p:nvSpPr>
        <p:spPr>
          <a:xfrm>
            <a:off x="4617720" y="5878678"/>
            <a:ext cx="91440" cy="979322"/>
          </a:xfrm>
          <a:prstGeom prst="rect">
            <a:avLst/>
          </a:prstGeom>
          <a:solidFill>
            <a:srgbClr val="E8934D"/>
          </a:solidFill>
          <a:ln/>
        </p:spPr>
        <p:txBody>
          <a:bodyPr/>
          <a:p/>
        </p:txBody>
      </p:sp>
      <p:sp>
        <p:nvSpPr>
          <p:cNvPr id="40" name="Shape 38"/>
          <p:cNvSpPr/>
          <p:nvPr/>
        </p:nvSpPr>
        <p:spPr>
          <a:xfrm>
            <a:off x="4846320" y="6320333"/>
            <a:ext cx="777240" cy="537667"/>
          </a:xfrm>
          <a:prstGeom prst="rect">
            <a:avLst/>
          </a:prstGeom>
          <a:solidFill>
            <a:srgbClr val="35507D"/>
          </a:solidFill>
          <a:ln/>
        </p:spPr>
        <p:txBody>
          <a:bodyPr/>
          <a:p/>
        </p:txBody>
      </p:sp>
      <p:sp>
        <p:nvSpPr>
          <p:cNvPr id="41" name="Shape 39"/>
          <p:cNvSpPr/>
          <p:nvPr/>
        </p:nvSpPr>
        <p:spPr>
          <a:xfrm>
            <a:off x="5760720" y="6128309"/>
            <a:ext cx="868680" cy="729691"/>
          </a:xfrm>
          <a:prstGeom prst="rect">
            <a:avLst/>
          </a:prstGeom>
          <a:solidFill>
            <a:srgbClr val="24365A"/>
          </a:solidFill>
          <a:ln/>
        </p:spPr>
        <p:txBody>
          <a:bodyPr/>
          <a:p/>
        </p:txBody>
      </p:sp>
      <p:sp>
        <p:nvSpPr>
          <p:cNvPr id="42" name="Shape 40"/>
          <p:cNvSpPr/>
          <p:nvPr/>
        </p:nvSpPr>
        <p:spPr>
          <a:xfrm>
            <a:off x="6720840" y="6435547"/>
            <a:ext cx="621792" cy="422453"/>
          </a:xfrm>
          <a:prstGeom prst="rect">
            <a:avLst/>
          </a:prstGeom>
          <a:solidFill>
            <a:srgbClr val="35507D"/>
          </a:solidFill>
          <a:ln/>
        </p:spPr>
        <p:txBody>
          <a:bodyPr/>
          <a:p/>
        </p:txBody>
      </p:sp>
      <p:sp>
        <p:nvSpPr>
          <p:cNvPr id="43" name="Shape 41"/>
          <p:cNvSpPr/>
          <p:nvPr/>
        </p:nvSpPr>
        <p:spPr>
          <a:xfrm>
            <a:off x="7452360" y="6070702"/>
            <a:ext cx="1051560" cy="787298"/>
          </a:xfrm>
          <a:prstGeom prst="rect">
            <a:avLst/>
          </a:prstGeom>
          <a:solidFill>
            <a:srgbClr val="24365A"/>
          </a:solidFill>
          <a:ln/>
        </p:spPr>
        <p:txBody>
          <a:bodyPr/>
          <a:p/>
        </p:txBody>
      </p:sp>
      <p:sp>
        <p:nvSpPr>
          <p:cNvPr id="44" name="Shape 42"/>
          <p:cNvSpPr/>
          <p:nvPr/>
        </p:nvSpPr>
        <p:spPr>
          <a:xfrm>
            <a:off x="8641080" y="6281928"/>
            <a:ext cx="777240" cy="576072"/>
          </a:xfrm>
          <a:prstGeom prst="rect">
            <a:avLst/>
          </a:prstGeom>
          <a:solidFill>
            <a:srgbClr val="35507D"/>
          </a:solidFill>
          <a:ln/>
        </p:spPr>
        <p:txBody>
          <a:bodyPr/>
          <a:p/>
        </p:txBody>
      </p:sp>
      <p:sp>
        <p:nvSpPr>
          <p:cNvPr id="45" name="Shape 43"/>
          <p:cNvSpPr/>
          <p:nvPr/>
        </p:nvSpPr>
        <p:spPr>
          <a:xfrm>
            <a:off x="9509760" y="6147511"/>
            <a:ext cx="960120" cy="710489"/>
          </a:xfrm>
          <a:prstGeom prst="rect">
            <a:avLst/>
          </a:prstGeom>
          <a:solidFill>
            <a:srgbClr val="24365A"/>
          </a:solidFill>
          <a:ln/>
        </p:spPr>
        <p:txBody>
          <a:bodyPr/>
          <a:p/>
        </p:txBody>
      </p:sp>
      <p:sp>
        <p:nvSpPr>
          <p:cNvPr id="46" name="Shape 44"/>
          <p:cNvSpPr/>
          <p:nvPr/>
        </p:nvSpPr>
        <p:spPr>
          <a:xfrm>
            <a:off x="10561320" y="6397142"/>
            <a:ext cx="731520" cy="460858"/>
          </a:xfrm>
          <a:prstGeom prst="rect">
            <a:avLst/>
          </a:prstGeom>
          <a:solidFill>
            <a:srgbClr val="35507D"/>
          </a:solidFill>
          <a:ln/>
        </p:spPr>
        <p:txBody>
          <a:bodyPr/>
          <a:p/>
        </p:txBody>
      </p:sp>
      <p:sp>
        <p:nvSpPr>
          <p:cNvPr id="47" name="Text 45"/>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48" name="Text 4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18 / 45</a:t>
            </a:r>
            <a:endParaRPr lang="en-US" sz="11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502920"/>
            <a:ext cx="73152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ADDITIONAL EXPLANATION</a:t>
            </a:r>
            <a:endParaRPr lang="en-US" sz="1100" dirty="0"/>
          </a:p>
        </p:txBody>
      </p:sp>
      <p:sp>
        <p:nvSpPr>
          <p:cNvPr id="3" name="Text 1"/>
          <p:cNvSpPr txBox="1"/>
          <p:nvPr/>
        </p:nvSpPr>
        <p:spPr>
          <a:xfrm>
            <a:off x="640080" y="777240"/>
            <a:ext cx="10972800" cy="548640"/>
          </a:xfrm>
          <a:prstGeom prst="rect">
            <a:avLst/>
          </a:prstGeom>
          <a:noFill/>
          <a:ln/>
        </p:spPr>
        <p:txBody>
          <a:bodyPr wrap="square" lIns="508" tIns="508" rIns="508" bIns="508" rtlCol="0" anchor="t"/>
          <a:lstStyle/>
          <a:p>
            <a:pPr indent="0" marL="0">
              <a:buNone/>
            </a:pPr>
            <a:r>
              <a:rPr lang="en-US" sz="2800" b="1" dirty="0">
                <a:solidFill>
                  <a:srgbClr val="FFFFFF"/>
                </a:solidFill>
                <a:latin typeface="Yu Gothic" pitchFamily="34" charset="0"/>
                <a:ea typeface="Yu Gothic" pitchFamily="34" charset="-122"/>
                <a:cs typeface="Yu Gothic" pitchFamily="34" charset="-120"/>
              </a:rPr>
              <a:t>補足：指摘への回答と、次の段階の計画</a:t>
            </a:r>
            <a:endParaRPr lang="en-US" sz="2800" dirty="0"/>
          </a:p>
        </p:txBody>
      </p:sp>
      <p:sp>
        <p:nvSpPr>
          <p:cNvPr id="4" name="Text 2"/>
          <p:cNvSpPr txBox="1"/>
          <p:nvPr/>
        </p:nvSpPr>
        <p:spPr>
          <a:xfrm>
            <a:off x="640080" y="1371600"/>
            <a:ext cx="10972800" cy="320040"/>
          </a:xfrm>
          <a:prstGeom prst="rect">
            <a:avLst/>
          </a:prstGeom>
          <a:noFill/>
          <a:ln/>
        </p:spPr>
        <p:txBody>
          <a:bodyPr wrap="square" lIns="508" tIns="508" rIns="508" bIns="508" rtlCol="0" anchor="t"/>
          <a:lstStyle/>
          <a:p>
            <a:pPr indent="0" marL="0">
              <a:buNone/>
            </a:pPr>
            <a:r>
              <a:rPr lang="en-US" sz="1300" dirty="0">
                <a:solidFill>
                  <a:srgbClr val="CADCFC"/>
                </a:solidFill>
                <a:latin typeface="Yu Gothic" pitchFamily="34" charset="0"/>
                <a:ea typeface="Yu Gothic" pitchFamily="34" charset="-122"/>
                <a:cs typeface="Yu Gothic" pitchFamily="34" charset="-120"/>
              </a:rPr>
              <a:t>前回の発表で受けた3つの指摘に答え、4方向へ広げるための検証計画を示す</a:t>
            </a:r>
            <a:endParaRPr lang="en-US" sz="1300" dirty="0"/>
          </a:p>
        </p:txBody>
      </p:sp>
      <p:sp>
        <p:nvSpPr>
          <p:cNvPr id="5" name="Shape 3"/>
          <p:cNvSpPr/>
          <p:nvPr/>
        </p:nvSpPr>
        <p:spPr>
          <a:xfrm>
            <a:off x="640080" y="1920240"/>
            <a:ext cx="10908792" cy="1234440"/>
          </a:xfrm>
          <a:prstGeom prst="roundRect">
            <a:avLst>
              <a:gd name="adj" fmla="val 4444"/>
            </a:avLst>
          </a:prstGeom>
          <a:solidFill>
            <a:srgbClr val="24365A"/>
          </a:solidFill>
          <a:ln/>
        </p:spPr>
      </p:sp>
      <p:sp>
        <p:nvSpPr>
          <p:cNvPr id="6" name="Text 4"/>
          <p:cNvSpPr txBox="1"/>
          <p:nvPr/>
        </p:nvSpPr>
        <p:spPr>
          <a:xfrm>
            <a:off x="822960" y="2011680"/>
            <a:ext cx="2743200" cy="274320"/>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受けた指摘</a:t>
            </a:r>
            <a:endParaRPr lang="en-US" sz="1100" dirty="0"/>
          </a:p>
        </p:txBody>
      </p:sp>
      <p:sp>
        <p:nvSpPr>
          <p:cNvPr id="7" name="Text 5"/>
          <p:cNvSpPr txBox="1"/>
          <p:nvPr/>
        </p:nvSpPr>
        <p:spPr>
          <a:xfrm>
            <a:off x="82296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Q1</a:t>
            </a:r>
            <a:endParaRPr lang="en-US" sz="1800" dirty="0"/>
          </a:p>
        </p:txBody>
      </p:sp>
      <p:sp>
        <p:nvSpPr>
          <p:cNvPr id="8" name="Text 6"/>
          <p:cNvSpPr txBox="1"/>
          <p:nvPr/>
        </p:nvSpPr>
        <p:spPr>
          <a:xfrm>
            <a:off x="132588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入力・学習・テストデータの違いと、</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モデルを作る計算過程が分かりにくい</a:t>
            </a:r>
            <a:endParaRPr lang="en-US" sz="1100" dirty="0"/>
          </a:p>
        </p:txBody>
      </p:sp>
      <p:sp>
        <p:nvSpPr>
          <p:cNvPr id="9" name="Text 7"/>
          <p:cNvSpPr txBox="1"/>
          <p:nvPr/>
        </p:nvSpPr>
        <p:spPr>
          <a:xfrm>
            <a:off x="443484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Q2</a:t>
            </a:r>
            <a:endParaRPr lang="en-US" sz="1800" dirty="0"/>
          </a:p>
        </p:txBody>
      </p:sp>
      <p:sp>
        <p:nvSpPr>
          <p:cNvPr id="10" name="Text 8"/>
          <p:cNvSpPr txBox="1"/>
          <p:nvPr/>
        </p:nvSpPr>
        <p:spPr>
          <a:xfrm>
            <a:off x="493776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最終的に作るツールでは、</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どの変数を、どこで変えるのか</a:t>
            </a:r>
            <a:endParaRPr lang="en-US" sz="1100" dirty="0"/>
          </a:p>
        </p:txBody>
      </p:sp>
      <p:sp>
        <p:nvSpPr>
          <p:cNvPr id="11" name="Text 9"/>
          <p:cNvSpPr txBox="1"/>
          <p:nvPr/>
        </p:nvSpPr>
        <p:spPr>
          <a:xfrm>
            <a:off x="804672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Q3</a:t>
            </a:r>
            <a:endParaRPr lang="en-US" sz="1800" dirty="0"/>
          </a:p>
        </p:txBody>
      </p:sp>
      <p:sp>
        <p:nvSpPr>
          <p:cNvPr id="12" name="Text 10"/>
          <p:cNvSpPr txBox="1"/>
          <p:nvPr/>
        </p:nvSpPr>
        <p:spPr>
          <a:xfrm>
            <a:off x="854964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2変数を9点で予測できたのなら、</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4方向でも線形補間でできるのでは？</a:t>
            </a:r>
            <a:endParaRPr lang="en-US" sz="1100" dirty="0"/>
          </a:p>
        </p:txBody>
      </p:sp>
      <p:sp>
        <p:nvSpPr>
          <p:cNvPr id="13" name="Shape 11"/>
          <p:cNvSpPr/>
          <p:nvPr/>
        </p:nvSpPr>
        <p:spPr>
          <a:xfrm>
            <a:off x="640080" y="3429000"/>
            <a:ext cx="2587752" cy="2423160"/>
          </a:xfrm>
          <a:prstGeom prst="roundRect">
            <a:avLst>
              <a:gd name="adj" fmla="val 2264"/>
            </a:avLst>
          </a:prstGeom>
          <a:solidFill>
            <a:srgbClr val="FFFFFF"/>
          </a:solidFill>
          <a:ln/>
        </p:spPr>
      </p:sp>
      <p:sp>
        <p:nvSpPr>
          <p:cNvPr id="14" name="Text 12"/>
          <p:cNvSpPr txBox="1"/>
          <p:nvPr/>
        </p:nvSpPr>
        <p:spPr>
          <a:xfrm>
            <a:off x="822960"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5</a:t>
            </a:r>
            <a:endParaRPr lang="en-US" sz="1100" dirty="0"/>
          </a:p>
        </p:txBody>
      </p:sp>
      <p:sp>
        <p:nvSpPr>
          <p:cNvPr id="15" name="Text 13"/>
          <p:cNvSpPr txBox="1"/>
          <p:nvPr/>
        </p:nvSpPr>
        <p:spPr>
          <a:xfrm>
            <a:off x="1993392" y="3593592"/>
            <a:ext cx="1051560" cy="274320"/>
          </a:xfrm>
          <a:prstGeom prst="rect">
            <a:avLst/>
          </a:prstGeom>
          <a:noFill/>
          <a:ln/>
        </p:spPr>
        <p:txBody>
          <a:bodyPr wrap="square" lIns="508" tIns="508" rIns="508" bIns="508" rtlCol="0" anchor="t"/>
          <a:lstStyle/>
          <a:p>
            <a:pPr algn="r" indent="0" marL="0">
              <a:buNone/>
            </a:pPr>
            <a:r>
              <a:rPr lang="en-US" sz="1000" b="1" dirty="0">
                <a:solidFill>
                  <a:srgbClr val="1F6F78"/>
                </a:solidFill>
                <a:latin typeface="Yu Gothic" pitchFamily="34" charset="0"/>
                <a:ea typeface="Yu Gothic" pitchFamily="34" charset="-122"/>
                <a:cs typeface="Yu Gothic" pitchFamily="34" charset="-120"/>
              </a:rPr>
              <a:t>Q1への回答</a:t>
            </a:r>
            <a:endParaRPr lang="en-US" sz="1000" dirty="0"/>
          </a:p>
        </p:txBody>
      </p:sp>
      <p:sp>
        <p:nvSpPr>
          <p:cNvPr id="16" name="Text 14"/>
          <p:cNvSpPr txBox="1"/>
          <p:nvPr/>
        </p:nvSpPr>
        <p:spPr>
          <a:xfrm>
            <a:off x="822960"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データと計算過程の整理</a:t>
            </a:r>
            <a:endParaRPr lang="en-US" sz="1500" dirty="0"/>
          </a:p>
        </p:txBody>
      </p:sp>
      <p:sp>
        <p:nvSpPr>
          <p:cNvPr id="17" name="Text 15"/>
          <p:cNvSpPr txBox="1"/>
          <p:nvPr/>
        </p:nvSpPr>
        <p:spPr>
          <a:xfrm>
            <a:off x="822960" y="4572000"/>
            <a:ext cx="2221992" cy="868680"/>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学習16・検証8・テスト12などの役割と、Σを使った計算式</a:t>
            </a:r>
            <a:endParaRPr lang="en-US" sz="1100" dirty="0"/>
          </a:p>
        </p:txBody>
      </p:sp>
      <p:sp>
        <p:nvSpPr>
          <p:cNvPr id="18" name="Text 16"/>
          <p:cNvSpPr txBox="1"/>
          <p:nvPr/>
        </p:nvSpPr>
        <p:spPr>
          <a:xfrm>
            <a:off x="822960" y="5468112"/>
            <a:ext cx="2221992" cy="256032"/>
          </a:xfrm>
          <a:prstGeom prst="rect">
            <a:avLst/>
          </a:prstGeom>
          <a:noFill/>
          <a:ln/>
        </p:spPr>
        <p:txBody>
          <a:bodyPr wrap="square" lIns="508" tIns="508" rIns="508" bIns="508" rtlCol="0" anchor="t"/>
          <a:lstStyle/>
          <a:p>
            <a:pPr indent="0" marL="0">
              <a:buNone/>
            </a:pPr>
            <a:r>
              <a:rPr lang="en-US" sz="1050" b="1" dirty="0">
                <a:solidFill>
                  <a:srgbClr val="6B7480"/>
                </a:solidFill>
                <a:latin typeface="Yu Gothic" pitchFamily="34" charset="0"/>
                <a:ea typeface="Yu Gothic" pitchFamily="34" charset="-122"/>
                <a:cs typeface="Yu Gothic" pitchFamily="34" charset="-120"/>
              </a:rPr>
              <a:t>p.20–24</a:t>
            </a:r>
            <a:endParaRPr lang="en-US" sz="1050" dirty="0"/>
          </a:p>
        </p:txBody>
      </p:sp>
      <p:sp>
        <p:nvSpPr>
          <p:cNvPr id="19" name="Shape 17"/>
          <p:cNvSpPr/>
          <p:nvPr/>
        </p:nvSpPr>
        <p:spPr>
          <a:xfrm>
            <a:off x="3410712" y="3429000"/>
            <a:ext cx="2587752" cy="2423160"/>
          </a:xfrm>
          <a:prstGeom prst="roundRect">
            <a:avLst>
              <a:gd name="adj" fmla="val 2264"/>
            </a:avLst>
          </a:prstGeom>
          <a:solidFill>
            <a:srgbClr val="FFFFFF"/>
          </a:solidFill>
          <a:ln/>
        </p:spPr>
      </p:sp>
      <p:sp>
        <p:nvSpPr>
          <p:cNvPr id="20" name="Text 18"/>
          <p:cNvSpPr txBox="1"/>
          <p:nvPr/>
        </p:nvSpPr>
        <p:spPr>
          <a:xfrm>
            <a:off x="3593592"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6</a:t>
            </a:r>
            <a:endParaRPr lang="en-US" sz="1100" dirty="0"/>
          </a:p>
        </p:txBody>
      </p:sp>
      <p:sp>
        <p:nvSpPr>
          <p:cNvPr id="21" name="Text 19"/>
          <p:cNvSpPr txBox="1"/>
          <p:nvPr/>
        </p:nvSpPr>
        <p:spPr>
          <a:xfrm>
            <a:off x="4764024" y="3593592"/>
            <a:ext cx="1051560" cy="274320"/>
          </a:xfrm>
          <a:prstGeom prst="rect">
            <a:avLst/>
          </a:prstGeom>
          <a:noFill/>
          <a:ln/>
        </p:spPr>
        <p:txBody>
          <a:bodyPr wrap="square" lIns="508" tIns="508" rIns="508" bIns="508" rtlCol="0" anchor="t"/>
          <a:lstStyle/>
          <a:p>
            <a:pPr algn="r" indent="0" marL="0">
              <a:buNone/>
            </a:pPr>
            <a:r>
              <a:rPr lang="en-US" sz="1000" b="1" dirty="0">
                <a:solidFill>
                  <a:srgbClr val="1F6F78"/>
                </a:solidFill>
                <a:latin typeface="Yu Gothic" pitchFamily="34" charset="0"/>
                <a:ea typeface="Yu Gothic" pitchFamily="34" charset="-122"/>
                <a:cs typeface="Yu Gothic" pitchFamily="34" charset="-120"/>
              </a:rPr>
              <a:t>Q2への回答</a:t>
            </a:r>
            <a:endParaRPr lang="en-US" sz="1000" dirty="0"/>
          </a:p>
        </p:txBody>
      </p:sp>
      <p:sp>
        <p:nvSpPr>
          <p:cNvPr id="22" name="Text 20"/>
          <p:cNvSpPr txBox="1"/>
          <p:nvPr/>
        </p:nvSpPr>
        <p:spPr>
          <a:xfrm>
            <a:off x="3593592"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最終目標ツールの変数</a:t>
            </a:r>
            <a:endParaRPr lang="en-US" sz="1500" dirty="0"/>
          </a:p>
        </p:txBody>
      </p:sp>
      <p:sp>
        <p:nvSpPr>
          <p:cNvPr id="23" name="Text 21"/>
          <p:cNvSpPr txBox="1"/>
          <p:nvPr/>
        </p:nvSpPr>
        <p:spPr>
          <a:xfrm>
            <a:off x="3593592" y="4572000"/>
            <a:ext cx="2221992" cy="868680"/>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平面図・立体図で17個の変数の位置と、0/1変数を使う理由</a:t>
            </a:r>
            <a:endParaRPr lang="en-US" sz="1100" dirty="0"/>
          </a:p>
        </p:txBody>
      </p:sp>
      <p:sp>
        <p:nvSpPr>
          <p:cNvPr id="24" name="Text 22"/>
          <p:cNvSpPr txBox="1"/>
          <p:nvPr/>
        </p:nvSpPr>
        <p:spPr>
          <a:xfrm>
            <a:off x="3593592" y="5468112"/>
            <a:ext cx="2221992" cy="256032"/>
          </a:xfrm>
          <a:prstGeom prst="rect">
            <a:avLst/>
          </a:prstGeom>
          <a:noFill/>
          <a:ln/>
        </p:spPr>
        <p:txBody>
          <a:bodyPr wrap="square" lIns="508" tIns="508" rIns="508" bIns="508" rtlCol="0" anchor="t"/>
          <a:lstStyle/>
          <a:p>
            <a:pPr indent="0" marL="0">
              <a:buNone/>
            </a:pPr>
            <a:r>
              <a:rPr lang="en-US" sz="1050" b="1" dirty="0">
                <a:solidFill>
                  <a:srgbClr val="6B7480"/>
                </a:solidFill>
                <a:latin typeface="Yu Gothic" pitchFamily="34" charset="0"/>
                <a:ea typeface="Yu Gothic" pitchFamily="34" charset="-122"/>
                <a:cs typeface="Yu Gothic" pitchFamily="34" charset="-120"/>
              </a:rPr>
              <a:t>p.25–28</a:t>
            </a:r>
            <a:endParaRPr lang="en-US" sz="1050" dirty="0"/>
          </a:p>
        </p:txBody>
      </p:sp>
      <p:sp>
        <p:nvSpPr>
          <p:cNvPr id="25" name="Shape 23"/>
          <p:cNvSpPr/>
          <p:nvPr/>
        </p:nvSpPr>
        <p:spPr>
          <a:xfrm>
            <a:off x="6181344" y="3429000"/>
            <a:ext cx="2587752" cy="2423160"/>
          </a:xfrm>
          <a:prstGeom prst="roundRect">
            <a:avLst>
              <a:gd name="adj" fmla="val 2264"/>
            </a:avLst>
          </a:prstGeom>
          <a:solidFill>
            <a:srgbClr val="FFFFFF"/>
          </a:solidFill>
          <a:ln/>
        </p:spPr>
      </p:sp>
      <p:sp>
        <p:nvSpPr>
          <p:cNvPr id="26" name="Text 24"/>
          <p:cNvSpPr txBox="1"/>
          <p:nvPr/>
        </p:nvSpPr>
        <p:spPr>
          <a:xfrm>
            <a:off x="6364224"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7</a:t>
            </a:r>
            <a:endParaRPr lang="en-US" sz="1100" dirty="0"/>
          </a:p>
        </p:txBody>
      </p:sp>
      <p:sp>
        <p:nvSpPr>
          <p:cNvPr id="27" name="Text 25"/>
          <p:cNvSpPr txBox="1"/>
          <p:nvPr/>
        </p:nvSpPr>
        <p:spPr>
          <a:xfrm>
            <a:off x="7534656" y="3593592"/>
            <a:ext cx="1051560" cy="274320"/>
          </a:xfrm>
          <a:prstGeom prst="rect">
            <a:avLst/>
          </a:prstGeom>
          <a:noFill/>
          <a:ln/>
        </p:spPr>
        <p:txBody>
          <a:bodyPr wrap="square" lIns="508" tIns="508" rIns="508" bIns="508" rtlCol="0" anchor="t"/>
          <a:lstStyle/>
          <a:p>
            <a:pPr algn="r" indent="0" marL="0">
              <a:buNone/>
            </a:pPr>
            <a:r>
              <a:rPr lang="en-US" sz="1000" b="1" dirty="0">
                <a:solidFill>
                  <a:srgbClr val="1F6F78"/>
                </a:solidFill>
                <a:latin typeface="Yu Gothic" pitchFamily="34" charset="0"/>
                <a:ea typeface="Yu Gothic" pitchFamily="34" charset="-122"/>
                <a:cs typeface="Yu Gothic" pitchFamily="34" charset="-120"/>
              </a:rPr>
              <a:t>Q3への回答</a:t>
            </a:r>
            <a:endParaRPr lang="en-US" sz="1000" dirty="0"/>
          </a:p>
        </p:txBody>
      </p:sp>
      <p:sp>
        <p:nvSpPr>
          <p:cNvPr id="28" name="Text 26"/>
          <p:cNvSpPr txBox="1"/>
          <p:nvPr/>
        </p:nvSpPr>
        <p:spPr>
          <a:xfrm>
            <a:off x="6364224"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4方向での線形補間</a:t>
            </a:r>
            <a:endParaRPr lang="en-US" sz="1500" dirty="0"/>
          </a:p>
        </p:txBody>
      </p:sp>
      <p:sp>
        <p:nvSpPr>
          <p:cNvPr id="29" name="Text 27"/>
          <p:cNvSpPr txBox="1"/>
          <p:nvPr/>
        </p:nvSpPr>
        <p:spPr>
          <a:xfrm>
            <a:off x="6364224" y="4572000"/>
            <a:ext cx="2221992" cy="868680"/>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なぜ6,561通り？ → 補間の考え方と具体例 → 必要なデータ → 計算時間 → 17変数では別の方法へ</a:t>
            </a:r>
            <a:endParaRPr lang="en-US" sz="1100" dirty="0"/>
          </a:p>
        </p:txBody>
      </p:sp>
      <p:sp>
        <p:nvSpPr>
          <p:cNvPr id="30" name="Text 28"/>
          <p:cNvSpPr txBox="1"/>
          <p:nvPr/>
        </p:nvSpPr>
        <p:spPr>
          <a:xfrm>
            <a:off x="6364224" y="5468112"/>
            <a:ext cx="2221992" cy="256032"/>
          </a:xfrm>
          <a:prstGeom prst="rect">
            <a:avLst/>
          </a:prstGeom>
          <a:noFill/>
          <a:ln/>
        </p:spPr>
        <p:txBody>
          <a:bodyPr wrap="square" lIns="508" tIns="508" rIns="508" bIns="508" rtlCol="0" anchor="t"/>
          <a:lstStyle/>
          <a:p>
            <a:pPr indent="0" marL="0">
              <a:buNone/>
            </a:pPr>
            <a:r>
              <a:rPr lang="en-US" sz="1050" b="1" dirty="0">
                <a:solidFill>
                  <a:srgbClr val="6B7480"/>
                </a:solidFill>
                <a:latin typeface="Yu Gothic" pitchFamily="34" charset="0"/>
                <a:ea typeface="Yu Gothic" pitchFamily="34" charset="-122"/>
                <a:cs typeface="Yu Gothic" pitchFamily="34" charset="-120"/>
              </a:rPr>
              <a:t>p.29–38</a:t>
            </a:r>
            <a:endParaRPr lang="en-US" sz="1050" dirty="0"/>
          </a:p>
        </p:txBody>
      </p:sp>
      <p:sp>
        <p:nvSpPr>
          <p:cNvPr id="31" name="Shape 29"/>
          <p:cNvSpPr/>
          <p:nvPr/>
        </p:nvSpPr>
        <p:spPr>
          <a:xfrm>
            <a:off x="8951976" y="3429000"/>
            <a:ext cx="2587752" cy="2423160"/>
          </a:xfrm>
          <a:prstGeom prst="roundRect">
            <a:avLst>
              <a:gd name="adj" fmla="val 2264"/>
            </a:avLst>
          </a:prstGeom>
          <a:solidFill>
            <a:srgbClr val="FFFFFF"/>
          </a:solidFill>
          <a:ln/>
        </p:spPr>
      </p:sp>
      <p:sp>
        <p:nvSpPr>
          <p:cNvPr id="32" name="Text 30"/>
          <p:cNvSpPr txBox="1"/>
          <p:nvPr/>
        </p:nvSpPr>
        <p:spPr>
          <a:xfrm>
            <a:off x="9134856"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8</a:t>
            </a:r>
            <a:endParaRPr lang="en-US" sz="1100" dirty="0"/>
          </a:p>
        </p:txBody>
      </p:sp>
      <p:sp>
        <p:nvSpPr>
          <p:cNvPr id="33" name="Text 31"/>
          <p:cNvSpPr txBox="1"/>
          <p:nvPr/>
        </p:nvSpPr>
        <p:spPr>
          <a:xfrm>
            <a:off x="10305288" y="3593592"/>
            <a:ext cx="1051560" cy="274320"/>
          </a:xfrm>
          <a:prstGeom prst="rect">
            <a:avLst/>
          </a:prstGeom>
          <a:noFill/>
          <a:ln/>
        </p:spPr>
        <p:txBody>
          <a:bodyPr wrap="square" lIns="508" tIns="508" rIns="508" bIns="508" rtlCol="0" anchor="t"/>
          <a:lstStyle/>
          <a:p>
            <a:pPr algn="r" indent="0" marL="0">
              <a:buNone/>
            </a:pPr>
            <a:r>
              <a:rPr lang="en-US" sz="1000" b="1" dirty="0">
                <a:solidFill>
                  <a:srgbClr val="1F6F78"/>
                </a:solidFill>
                <a:latin typeface="Yu Gothic" pitchFamily="34" charset="0"/>
                <a:ea typeface="Yu Gothic" pitchFamily="34" charset="-122"/>
                <a:cs typeface="Yu Gothic" pitchFamily="34" charset="-120"/>
              </a:rPr>
              <a:t>Q3への回答</a:t>
            </a:r>
            <a:endParaRPr lang="en-US" sz="1000" dirty="0"/>
          </a:p>
        </p:txBody>
      </p:sp>
      <p:sp>
        <p:nvSpPr>
          <p:cNvPr id="34" name="Text 32"/>
          <p:cNvSpPr txBox="1"/>
          <p:nvPr/>
        </p:nvSpPr>
        <p:spPr>
          <a:xfrm>
            <a:off x="9134856"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代案：空の遮られ方</a:t>
            </a:r>
            <a:endParaRPr lang="en-US" sz="1500" dirty="0"/>
          </a:p>
        </p:txBody>
      </p:sp>
      <p:sp>
        <p:nvSpPr>
          <p:cNvPr id="35" name="Text 33"/>
          <p:cNvSpPr txBox="1"/>
          <p:nvPr/>
        </p:nvSpPr>
        <p:spPr>
          <a:xfrm>
            <a:off x="9134856" y="4572000"/>
            <a:ext cx="2221992" cy="868680"/>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17変数でも使える方法：空の地図 → h・O → 機械学習</a:t>
            </a:r>
            <a:endParaRPr lang="en-US" sz="1100" dirty="0"/>
          </a:p>
        </p:txBody>
      </p:sp>
      <p:sp>
        <p:nvSpPr>
          <p:cNvPr id="36" name="Text 34"/>
          <p:cNvSpPr txBox="1"/>
          <p:nvPr/>
        </p:nvSpPr>
        <p:spPr>
          <a:xfrm>
            <a:off x="9134856" y="5468112"/>
            <a:ext cx="2221992" cy="256032"/>
          </a:xfrm>
          <a:prstGeom prst="rect">
            <a:avLst/>
          </a:prstGeom>
          <a:noFill/>
          <a:ln/>
        </p:spPr>
        <p:txBody>
          <a:bodyPr wrap="square" lIns="508" tIns="508" rIns="508" bIns="508" rtlCol="0" anchor="t"/>
          <a:lstStyle/>
          <a:p>
            <a:pPr indent="0" marL="0">
              <a:buNone/>
            </a:pPr>
            <a:r>
              <a:rPr lang="en-US" sz="1050" b="1" dirty="0">
                <a:solidFill>
                  <a:srgbClr val="6B7480"/>
                </a:solidFill>
                <a:latin typeface="Yu Gothic" pitchFamily="34" charset="0"/>
                <a:ea typeface="Yu Gothic" pitchFamily="34" charset="-122"/>
                <a:cs typeface="Yu Gothic" pitchFamily="34" charset="-120"/>
              </a:rPr>
              <a:t>p.39–44</a:t>
            </a:r>
            <a:endParaRPr lang="en-US" sz="1050" dirty="0"/>
          </a:p>
        </p:txBody>
      </p:sp>
      <p:sp>
        <p:nvSpPr>
          <p:cNvPr id="37" name="Text 3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8FA0BC"/>
                </a:solidFill>
                <a:latin typeface="Yu Gothic" pitchFamily="34" charset="0"/>
                <a:ea typeface="Yu Gothic" pitchFamily="34" charset="-122"/>
                <a:cs typeface="Yu Gothic" pitchFamily="34" charset="-120"/>
              </a:rPr>
              <a:t>壁面日射量予測ツールの開発</a:t>
            </a:r>
            <a:endParaRPr lang="en-US" sz="950" dirty="0"/>
          </a:p>
        </p:txBody>
      </p:sp>
      <p:sp>
        <p:nvSpPr>
          <p:cNvPr id="38" name="Text 3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19 / 45</a:t>
            </a:r>
            <a:endParaRPr lang="en-US" sz="11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データの役割：1件のデータは「入力」と「正解値」の組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南側1棟の段階で使ったデータは47配置。それぞれ「何に使ったか」で名前が変わる。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20 / 45</a:t>
            </a:r>
            <a:endParaRPr lang="en-US" sz="1100" dirty="0"/>
          </a:p>
        </p:txBody>
      </p:sp>
      <p:sp>
        <p:nvSpPr>
          <p:cNvPr id="10" name="Shape 8"/>
          <p:cNvSpPr/>
          <p:nvPr/>
        </p:nvSpPr>
        <p:spPr>
          <a:xfrm>
            <a:off x="457200" y="1463040"/>
            <a:ext cx="5989320" cy="1097280"/>
          </a:xfrm>
          <a:prstGeom prst="roundRect">
            <a:avLst>
              <a:gd name="adj" fmla="val 5000"/>
            </a:avLst>
          </a:prstGeom>
          <a:solidFill>
            <a:srgbClr val="F3F5F8"/>
          </a:solidFill>
          <a:ln/>
        </p:spPr>
      </p:sp>
      <p:sp>
        <p:nvSpPr>
          <p:cNvPr id="11" name="Text 9"/>
          <p:cNvSpPr txBox="1"/>
          <p:nvPr/>
        </p:nvSpPr>
        <p:spPr>
          <a:xfrm>
            <a:off x="594360" y="1517904"/>
            <a:ext cx="56692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1配置ぶんのデータ（どの種類でも形は同じ）</a:t>
            </a:r>
            <a:endParaRPr lang="en-US" sz="1100" dirty="0"/>
          </a:p>
        </p:txBody>
      </p:sp>
      <p:sp>
        <p:nvSpPr>
          <p:cNvPr id="12" name="Shape 10"/>
          <p:cNvSpPr/>
          <p:nvPr/>
        </p:nvSpPr>
        <p:spPr>
          <a:xfrm>
            <a:off x="640080" y="1847088"/>
            <a:ext cx="2148840" cy="566928"/>
          </a:xfrm>
          <a:prstGeom prst="roundRect">
            <a:avLst>
              <a:gd name="adj" fmla="val 9677"/>
            </a:avLst>
          </a:prstGeom>
          <a:solidFill>
            <a:srgbClr val="FBEBDA"/>
          </a:solidFill>
          <a:ln/>
        </p:spPr>
      </p:sp>
      <p:sp>
        <p:nvSpPr>
          <p:cNvPr id="13" name="Text 11"/>
          <p:cNvSpPr txBox="1"/>
          <p:nvPr/>
        </p:nvSpPr>
        <p:spPr>
          <a:xfrm>
            <a:off x="731520" y="1874520"/>
            <a:ext cx="2011680" cy="530352"/>
          </a:xfrm>
          <a:prstGeom prst="rect">
            <a:avLst/>
          </a:prstGeom>
          <a:noFill/>
          <a:ln/>
        </p:spPr>
        <p:txBody>
          <a:bodyPr wrap="square" lIns="508" tIns="508" rIns="508" bIns="508" rtlCol="0" anchor="ctr"/>
          <a:lstStyle/>
          <a:p>
            <a:pPr indent="0" marL="0">
              <a:buNone/>
            </a:pPr>
            <a:r>
              <a:rPr lang="en-US" sz="1200" b="1" dirty="0">
                <a:solidFill>
                  <a:srgbClr val="C56A2C"/>
                </a:solidFill>
                <a:latin typeface="Yu Gothic" pitchFamily="34" charset="0"/>
                <a:ea typeface="Yu Gothic" pitchFamily="34" charset="-122"/>
                <a:cs typeface="Yu Gothic" pitchFamily="34" charset="-120"/>
              </a:rPr>
              <a:t>入力</a:t>
            </a:r>
            <a:pPr indent="0" marL="0">
              <a:buNone/>
            </a:pPr>
            <a:r>
              <a:rPr lang="en-US" sz="1200" b="1" dirty="0">
                <a:solidFill>
                  <a:srgbClr val="1B2A44"/>
                </a:solidFill>
                <a:latin typeface="Yu Gothic" pitchFamily="34" charset="0"/>
                <a:ea typeface="Yu Gothic" pitchFamily="34" charset="-122"/>
                <a:cs typeface="Yu Gothic" pitchFamily="34" charset="-120"/>
              </a:rPr>
              <a:t>　A, D</a:t>
            </a:r>
            <a:endParaRPr lang="en-US" sz="1200" dirty="0"/>
          </a:p>
          <a:p>
            <a:pPr indent="0" marL="0">
              <a:buNone/>
            </a:pPr>
            <a:r>
              <a:rPr lang="en-US" sz="950" dirty="0">
                <a:solidFill>
                  <a:srgbClr val="333F4E"/>
                </a:solidFill>
                <a:latin typeface="Yu Gothic" pitchFamily="34" charset="0"/>
                <a:ea typeface="Yu Gothic" pitchFamily="34" charset="-122"/>
                <a:cs typeface="Yu Gothic" pitchFamily="34" charset="-120"/>
              </a:rPr>
              <a:t>例：A＝55.9m, D＝14m</a:t>
            </a:r>
            <a:endParaRPr lang="en-US" sz="1200" dirty="0"/>
          </a:p>
        </p:txBody>
      </p:sp>
      <p:sp>
        <p:nvSpPr>
          <p:cNvPr id="14" name="Text 12"/>
          <p:cNvSpPr txBox="1"/>
          <p:nvPr/>
        </p:nvSpPr>
        <p:spPr>
          <a:xfrm>
            <a:off x="2816352" y="1901952"/>
            <a:ext cx="365760" cy="457200"/>
          </a:xfrm>
          <a:prstGeom prst="rect">
            <a:avLst/>
          </a:prstGeom>
          <a:noFill/>
          <a:ln/>
        </p:spPr>
        <p:txBody>
          <a:bodyPr wrap="square" lIns="508" tIns="508" rIns="508" bIns="508" rtlCol="0" anchor="ctr"/>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15" name="Shape 13"/>
          <p:cNvSpPr/>
          <p:nvPr/>
        </p:nvSpPr>
        <p:spPr>
          <a:xfrm>
            <a:off x="3200400" y="1847088"/>
            <a:ext cx="3063240" cy="566928"/>
          </a:xfrm>
          <a:prstGeom prst="roundRect">
            <a:avLst>
              <a:gd name="adj" fmla="val 9677"/>
            </a:avLst>
          </a:prstGeom>
          <a:solidFill>
            <a:srgbClr val="DCEAEC"/>
          </a:solidFill>
          <a:ln/>
        </p:spPr>
      </p:sp>
      <p:sp>
        <p:nvSpPr>
          <p:cNvPr id="16" name="Text 14"/>
          <p:cNvSpPr txBox="1"/>
          <p:nvPr/>
        </p:nvSpPr>
        <p:spPr>
          <a:xfrm>
            <a:off x="3291840" y="1874520"/>
            <a:ext cx="2926080" cy="530352"/>
          </a:xfrm>
          <a:prstGeom prst="rect">
            <a:avLst/>
          </a:prstGeom>
          <a:noFill/>
          <a:ln/>
        </p:spPr>
        <p:txBody>
          <a:bodyPr wrap="square" lIns="508" tIns="508" rIns="508" bIns="508" rtlCol="0" anchor="ctr"/>
          <a:lstStyle/>
          <a:p>
            <a:pPr indent="0" marL="0">
              <a:buNone/>
            </a:pPr>
            <a:r>
              <a:rPr lang="en-US" sz="1150" b="1" dirty="0">
                <a:solidFill>
                  <a:srgbClr val="1F6F78"/>
                </a:solidFill>
                <a:latin typeface="Yu Gothic" pitchFamily="34" charset="0"/>
                <a:ea typeface="Yu Gothic" pitchFamily="34" charset="-122"/>
                <a:cs typeface="Yu Gothic" pitchFamily="34" charset="-120"/>
              </a:rPr>
              <a:t>正解値（SEBEの計算値）</a:t>
            </a:r>
            <a:endParaRPr lang="en-US" sz="1150" dirty="0"/>
          </a:p>
          <a:p>
            <a:pPr indent="0" marL="0">
              <a:buNone/>
            </a:pPr>
            <a:r>
              <a:rPr lang="en-US" sz="950" dirty="0">
                <a:solidFill>
                  <a:srgbClr val="333F4E"/>
                </a:solidFill>
                <a:latin typeface="Yu Gothic" pitchFamily="34" charset="0"/>
                <a:ea typeface="Yu Gothic" pitchFamily="34" charset="-122"/>
                <a:cs typeface="Yu Gothic" pitchFamily="34" charset="-120"/>
              </a:rPr>
              <a:t>南面5帯の年間日射量 y</a:t>
            </a:r>
            <a:pPr indent="0" marL="0">
              <a:buNone/>
            </a:pPr>
            <a:r>
              <a:rPr lang="en-US" sz="950" baseline="-40000" dirty="0">
                <a:solidFill>
                  <a:srgbClr val="333F4E"/>
                </a:solidFill>
                <a:latin typeface="Yu Gothic" pitchFamily="34" charset="0"/>
                <a:ea typeface="Yu Gothic" pitchFamily="34" charset="-122"/>
                <a:cs typeface="Yu Gothic" pitchFamily="34" charset="-120"/>
              </a:rPr>
              <a:t>1</a:t>
            </a:r>
            <a:pPr indent="0" marL="0">
              <a:buNone/>
            </a:pPr>
            <a:r>
              <a:rPr lang="en-US" sz="950" dirty="0">
                <a:solidFill>
                  <a:srgbClr val="333F4E"/>
                </a:solidFill>
                <a:latin typeface="Yu Gothic" pitchFamily="34" charset="0"/>
                <a:ea typeface="Yu Gothic" pitchFamily="34" charset="-122"/>
                <a:cs typeface="Yu Gothic" pitchFamily="34" charset="-120"/>
              </a:rPr>
              <a:t>〜y</a:t>
            </a:r>
            <a:pPr indent="0" marL="0">
              <a:buNone/>
            </a:pPr>
            <a:r>
              <a:rPr lang="en-US" sz="950" baseline="-40000" dirty="0">
                <a:solidFill>
                  <a:srgbClr val="333F4E"/>
                </a:solidFill>
                <a:latin typeface="Yu Gothic" pitchFamily="34" charset="0"/>
                <a:ea typeface="Yu Gothic" pitchFamily="34" charset="-122"/>
                <a:cs typeface="Yu Gothic" pitchFamily="34" charset="-120"/>
              </a:rPr>
              <a:t>5</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724912"/>
          <a:ext cx="5989320" cy="914400"/>
        </p:xfrm>
        <a:graphic>
          <a:graphicData uri="http://schemas.openxmlformats.org/drawingml/2006/table">
            <a:tbl>
              <a:tblPr/>
              <a:tblGrid>
                <a:gridCol w="2011680"/>
                <a:gridCol w="3291840"/>
                <a:gridCol w="685800"/>
              </a:tblGrid>
              <a:tr h="292608">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呼び方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何に使うか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配置数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学習用（補間用）データ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予測方法を作るために保存する計算データ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検証データ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3手法の比較・弱点（高さ帯別）の確認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8</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テストデータ（全体平均）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方法を固定した後、未使用の配置で性能確認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局所改良の追加データ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既存4点と合わせて3×3の局所格子を作る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局所改良のテストデータ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改良前後を同じ配置で比較</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合計（重複なし）</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47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8" name="Shape 15"/>
          <p:cNvSpPr/>
          <p:nvPr/>
        </p:nvSpPr>
        <p:spPr>
          <a:xfrm>
            <a:off x="457200" y="4937760"/>
            <a:ext cx="5989320" cy="1371600"/>
          </a:xfrm>
          <a:prstGeom prst="roundRect">
            <a:avLst>
              <a:gd name="adj" fmla="val 4000"/>
            </a:avLst>
          </a:prstGeom>
          <a:solidFill>
            <a:srgbClr val="FBEBDA"/>
          </a:solidFill>
          <a:ln/>
        </p:spPr>
      </p:sp>
      <p:sp>
        <p:nvSpPr>
          <p:cNvPr id="19" name="Text 16"/>
          <p:cNvSpPr txBox="1"/>
          <p:nvPr/>
        </p:nvSpPr>
        <p:spPr>
          <a:xfrm>
            <a:off x="594360" y="5029200"/>
            <a:ext cx="571500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「学習」の注意：線形補間は係数を学習しない</a:t>
            </a:r>
            <a:endParaRPr lang="en-US" sz="1200" dirty="0"/>
          </a:p>
        </p:txBody>
      </p:sp>
      <p:sp>
        <p:nvSpPr>
          <p:cNvPr id="20" name="Text 17"/>
          <p:cNvSpPr txBox="1"/>
          <p:nvPr/>
        </p:nvSpPr>
        <p:spPr>
          <a:xfrm>
            <a:off x="594360" y="5303520"/>
            <a:ext cx="5760720" cy="960120"/>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16配置の値を表として保存し、入力のたびに近い4点から計算する →「補間の基準として保存した計算データ」</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テストデータは方法を決めた後にだけ使う（結果を見て方法を変えない）</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局所格子の9点のうち4点は元の16点なので、47に重ねて数えない</a:t>
            </a:r>
            <a:endParaRPr lang="en-US" sz="1050" dirty="0"/>
          </a:p>
        </p:txBody>
      </p:sp>
      <p:sp>
        <p:nvSpPr>
          <p:cNvPr id="21" name="Shape 18"/>
          <p:cNvSpPr/>
          <p:nvPr/>
        </p:nvSpPr>
        <p:spPr>
          <a:xfrm>
            <a:off x="6675120" y="1417320"/>
            <a:ext cx="5074920" cy="4892040"/>
          </a:xfrm>
          <a:prstGeom prst="roundRect">
            <a:avLst>
              <a:gd name="adj" fmla="val 1121"/>
            </a:avLst>
          </a:prstGeom>
          <a:solidFill>
            <a:srgbClr val="F3F5F8"/>
          </a:solidFill>
          <a:ln/>
        </p:spPr>
      </p:sp>
      <p:sp>
        <p:nvSpPr>
          <p:cNvPr id="22" name="Text 19"/>
          <p:cNvSpPr txBox="1"/>
          <p:nvPr/>
        </p:nvSpPr>
        <p:spPr>
          <a:xfrm>
            <a:off x="6812280" y="1463040"/>
            <a:ext cx="47548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47配置の位置（A：高さ・D：隙間）</a:t>
            </a:r>
            <a:endParaRPr lang="en-US" sz="1100" dirty="0"/>
          </a:p>
        </p:txBody>
      </p:sp>
      <p:sp>
        <p:nvSpPr>
          <p:cNvPr id="23" name="Shape 20"/>
          <p:cNvSpPr/>
          <p:nvPr/>
        </p:nvSpPr>
        <p:spPr>
          <a:xfrm>
            <a:off x="7452360" y="1965960"/>
            <a:ext cx="4023360" cy="3291840"/>
          </a:xfrm>
          <a:prstGeom prst="rect">
            <a:avLst/>
          </a:prstGeom>
          <a:solidFill>
            <a:srgbClr val="FFFFFF"/>
          </a:solidFill>
          <a:ln/>
        </p:spPr>
      </p:sp>
      <p:sp>
        <p:nvSpPr>
          <p:cNvPr id="24" name="Shape 21"/>
          <p:cNvSpPr/>
          <p:nvPr/>
        </p:nvSpPr>
        <p:spPr>
          <a:xfrm>
            <a:off x="7653528" y="1965960"/>
            <a:ext cx="91" cy="3291840"/>
          </a:xfrm>
          <a:prstGeom prst="line">
            <a:avLst/>
          </a:prstGeom>
          <a:noFill/>
          <a:ln w="6350">
            <a:solidFill>
              <a:srgbClr val="DDE2E8"/>
            </a:solidFill>
            <a:prstDash val="solid"/>
          </a:ln>
        </p:spPr>
      </p:sp>
      <p:sp>
        <p:nvSpPr>
          <p:cNvPr id="25" name="Text 22"/>
          <p:cNvSpPr txBox="1"/>
          <p:nvPr/>
        </p:nvSpPr>
        <p:spPr>
          <a:xfrm>
            <a:off x="7424928" y="528523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26" name="Shape 23"/>
          <p:cNvSpPr/>
          <p:nvPr/>
        </p:nvSpPr>
        <p:spPr>
          <a:xfrm>
            <a:off x="8257032" y="1965960"/>
            <a:ext cx="91" cy="3291840"/>
          </a:xfrm>
          <a:prstGeom prst="line">
            <a:avLst/>
          </a:prstGeom>
          <a:noFill/>
          <a:ln w="6350">
            <a:solidFill>
              <a:srgbClr val="DDE2E8"/>
            </a:solidFill>
            <a:prstDash val="solid"/>
          </a:ln>
        </p:spPr>
      </p:sp>
      <p:sp>
        <p:nvSpPr>
          <p:cNvPr id="27" name="Text 24"/>
          <p:cNvSpPr txBox="1"/>
          <p:nvPr/>
        </p:nvSpPr>
        <p:spPr>
          <a:xfrm>
            <a:off x="8028432" y="528523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28" name="Shape 25"/>
          <p:cNvSpPr/>
          <p:nvPr/>
        </p:nvSpPr>
        <p:spPr>
          <a:xfrm>
            <a:off x="9262872" y="1965960"/>
            <a:ext cx="91" cy="3291840"/>
          </a:xfrm>
          <a:prstGeom prst="line">
            <a:avLst/>
          </a:prstGeom>
          <a:noFill/>
          <a:ln w="6350">
            <a:solidFill>
              <a:srgbClr val="DDE2E8"/>
            </a:solidFill>
            <a:prstDash val="solid"/>
          </a:ln>
        </p:spPr>
      </p:sp>
      <p:sp>
        <p:nvSpPr>
          <p:cNvPr id="29" name="Text 26"/>
          <p:cNvSpPr txBox="1"/>
          <p:nvPr/>
        </p:nvSpPr>
        <p:spPr>
          <a:xfrm>
            <a:off x="9034272" y="528523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30" name="Shape 27"/>
          <p:cNvSpPr/>
          <p:nvPr/>
        </p:nvSpPr>
        <p:spPr>
          <a:xfrm>
            <a:off x="11274552" y="1965960"/>
            <a:ext cx="91" cy="3291840"/>
          </a:xfrm>
          <a:prstGeom prst="line">
            <a:avLst/>
          </a:prstGeom>
          <a:noFill/>
          <a:ln w="6350">
            <a:solidFill>
              <a:srgbClr val="DDE2E8"/>
            </a:solidFill>
            <a:prstDash val="solid"/>
          </a:ln>
        </p:spPr>
      </p:sp>
      <p:sp>
        <p:nvSpPr>
          <p:cNvPr id="31" name="Text 28"/>
          <p:cNvSpPr txBox="1"/>
          <p:nvPr/>
        </p:nvSpPr>
        <p:spPr>
          <a:xfrm>
            <a:off x="11045952" y="528523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32" name="Shape 29"/>
          <p:cNvSpPr/>
          <p:nvPr/>
        </p:nvSpPr>
        <p:spPr>
          <a:xfrm>
            <a:off x="7452360" y="5064162"/>
            <a:ext cx="4023360" cy="91"/>
          </a:xfrm>
          <a:prstGeom prst="line">
            <a:avLst/>
          </a:prstGeom>
          <a:noFill/>
          <a:ln w="6350">
            <a:solidFill>
              <a:srgbClr val="DDE2E8"/>
            </a:solidFill>
            <a:prstDash val="solid"/>
          </a:ln>
        </p:spPr>
      </p:sp>
      <p:sp>
        <p:nvSpPr>
          <p:cNvPr id="33" name="Text 30"/>
          <p:cNvSpPr txBox="1"/>
          <p:nvPr/>
        </p:nvSpPr>
        <p:spPr>
          <a:xfrm>
            <a:off x="7040880" y="4963578"/>
            <a:ext cx="365760"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34" name="Shape 31"/>
          <p:cNvSpPr/>
          <p:nvPr/>
        </p:nvSpPr>
        <p:spPr>
          <a:xfrm>
            <a:off x="7452360" y="4095974"/>
            <a:ext cx="4023360" cy="91"/>
          </a:xfrm>
          <a:prstGeom prst="line">
            <a:avLst/>
          </a:prstGeom>
          <a:noFill/>
          <a:ln w="6350">
            <a:solidFill>
              <a:srgbClr val="DDE2E8"/>
            </a:solidFill>
            <a:prstDash val="solid"/>
          </a:ln>
        </p:spPr>
      </p:sp>
      <p:sp>
        <p:nvSpPr>
          <p:cNvPr id="35" name="Text 32"/>
          <p:cNvSpPr txBox="1"/>
          <p:nvPr/>
        </p:nvSpPr>
        <p:spPr>
          <a:xfrm>
            <a:off x="7040880" y="3995390"/>
            <a:ext cx="365760"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36" name="Shape 33"/>
          <p:cNvSpPr/>
          <p:nvPr/>
        </p:nvSpPr>
        <p:spPr>
          <a:xfrm>
            <a:off x="7452360" y="3127786"/>
            <a:ext cx="4023360" cy="91"/>
          </a:xfrm>
          <a:prstGeom prst="line">
            <a:avLst/>
          </a:prstGeom>
          <a:noFill/>
          <a:ln w="6350">
            <a:solidFill>
              <a:srgbClr val="DDE2E8"/>
            </a:solidFill>
            <a:prstDash val="solid"/>
          </a:ln>
        </p:spPr>
      </p:sp>
      <p:sp>
        <p:nvSpPr>
          <p:cNvPr id="37" name="Text 34"/>
          <p:cNvSpPr txBox="1"/>
          <p:nvPr/>
        </p:nvSpPr>
        <p:spPr>
          <a:xfrm>
            <a:off x="7040880" y="3027202"/>
            <a:ext cx="365760"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75</a:t>
            </a:r>
            <a:endParaRPr lang="en-US" sz="950" dirty="0"/>
          </a:p>
        </p:txBody>
      </p:sp>
      <p:sp>
        <p:nvSpPr>
          <p:cNvPr id="38" name="Shape 35"/>
          <p:cNvSpPr/>
          <p:nvPr/>
        </p:nvSpPr>
        <p:spPr>
          <a:xfrm>
            <a:off x="7452360" y="2159598"/>
            <a:ext cx="4023360" cy="91"/>
          </a:xfrm>
          <a:prstGeom prst="line">
            <a:avLst/>
          </a:prstGeom>
          <a:noFill/>
          <a:ln w="6350">
            <a:solidFill>
              <a:srgbClr val="DDE2E8"/>
            </a:solidFill>
            <a:prstDash val="solid"/>
          </a:ln>
        </p:spPr>
      </p:sp>
      <p:sp>
        <p:nvSpPr>
          <p:cNvPr id="39" name="Text 36"/>
          <p:cNvSpPr txBox="1"/>
          <p:nvPr/>
        </p:nvSpPr>
        <p:spPr>
          <a:xfrm>
            <a:off x="7040880" y="2059014"/>
            <a:ext cx="365760"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40" name="Text 37"/>
          <p:cNvSpPr txBox="1"/>
          <p:nvPr/>
        </p:nvSpPr>
        <p:spPr>
          <a:xfrm>
            <a:off x="7452360" y="5468112"/>
            <a:ext cx="4023360" cy="219456"/>
          </a:xfrm>
          <a:prstGeom prst="rect">
            <a:avLst/>
          </a:prstGeom>
          <a:noFill/>
          <a:ln/>
        </p:spPr>
        <p:txBody>
          <a:bodyPr wrap="square" lIns="508" tIns="508" rIns="508" bIns="508" rtlCol="0" anchor="t"/>
          <a:lstStyle/>
          <a:p>
            <a:pPr algn="ctr" indent="0" marL="0">
              <a:buNone/>
            </a:pPr>
            <a:r>
              <a:rPr lang="en-US" sz="1000" dirty="0">
                <a:solidFill>
                  <a:srgbClr val="1B2A44"/>
                </a:solidFill>
                <a:latin typeface="Yu Gothic" pitchFamily="34" charset="0"/>
                <a:ea typeface="Yu Gothic" pitchFamily="34" charset="-122"/>
                <a:cs typeface="Yu Gothic" pitchFamily="34" charset="-120"/>
              </a:rPr>
              <a:t>隙間 D（m）</a:t>
            </a:r>
            <a:endParaRPr lang="en-US" sz="1000" dirty="0"/>
          </a:p>
        </p:txBody>
      </p:sp>
      <p:sp>
        <p:nvSpPr>
          <p:cNvPr id="41" name="Text 38"/>
          <p:cNvSpPr txBox="1"/>
          <p:nvPr/>
        </p:nvSpPr>
        <p:spPr>
          <a:xfrm>
            <a:off x="6766560" y="1691640"/>
            <a:ext cx="1188720" cy="219456"/>
          </a:xfrm>
          <a:prstGeom prst="rect">
            <a:avLst/>
          </a:prstGeom>
          <a:noFill/>
          <a:ln/>
        </p:spPr>
        <p:txBody>
          <a:bodyPr wrap="square" lIns="508" tIns="508" rIns="508" bIns="508" rtlCol="0" anchor="t"/>
          <a:lstStyle/>
          <a:p>
            <a:pPr indent="0" marL="0">
              <a:buNone/>
            </a:pPr>
            <a:r>
              <a:rPr lang="en-US" sz="1000" dirty="0">
                <a:solidFill>
                  <a:srgbClr val="1B2A44"/>
                </a:solidFill>
                <a:latin typeface="Yu Gothic" pitchFamily="34" charset="0"/>
                <a:ea typeface="Yu Gothic" pitchFamily="34" charset="-122"/>
                <a:cs typeface="Yu Gothic" pitchFamily="34" charset="-120"/>
              </a:rPr>
              <a:t>高さ A（m）</a:t>
            </a:r>
            <a:endParaRPr lang="en-US" sz="1000" dirty="0"/>
          </a:p>
        </p:txBody>
      </p:sp>
      <p:sp>
        <p:nvSpPr>
          <p:cNvPr id="42" name="Shape 39"/>
          <p:cNvSpPr/>
          <p:nvPr/>
        </p:nvSpPr>
        <p:spPr>
          <a:xfrm>
            <a:off x="7594092" y="5004726"/>
            <a:ext cx="118872" cy="118872"/>
          </a:xfrm>
          <a:prstGeom prst="rect">
            <a:avLst/>
          </a:prstGeom>
          <a:solidFill>
            <a:srgbClr val="1B2A44"/>
          </a:solidFill>
          <a:ln w="6350">
            <a:solidFill>
              <a:srgbClr val="FFFFFF"/>
            </a:solidFill>
            <a:prstDash val="solid"/>
          </a:ln>
        </p:spPr>
      </p:sp>
      <p:sp>
        <p:nvSpPr>
          <p:cNvPr id="43" name="Shape 40"/>
          <p:cNvSpPr/>
          <p:nvPr/>
        </p:nvSpPr>
        <p:spPr>
          <a:xfrm>
            <a:off x="8197596" y="5004726"/>
            <a:ext cx="118872" cy="118872"/>
          </a:xfrm>
          <a:prstGeom prst="rect">
            <a:avLst/>
          </a:prstGeom>
          <a:solidFill>
            <a:srgbClr val="1B2A44"/>
          </a:solidFill>
          <a:ln w="6350">
            <a:solidFill>
              <a:srgbClr val="FFFFFF"/>
            </a:solidFill>
            <a:prstDash val="solid"/>
          </a:ln>
        </p:spPr>
      </p:sp>
      <p:sp>
        <p:nvSpPr>
          <p:cNvPr id="44" name="Shape 41"/>
          <p:cNvSpPr/>
          <p:nvPr/>
        </p:nvSpPr>
        <p:spPr>
          <a:xfrm>
            <a:off x="9203436" y="5004726"/>
            <a:ext cx="118872" cy="118872"/>
          </a:xfrm>
          <a:prstGeom prst="rect">
            <a:avLst/>
          </a:prstGeom>
          <a:solidFill>
            <a:srgbClr val="1B2A44"/>
          </a:solidFill>
          <a:ln w="6350">
            <a:solidFill>
              <a:srgbClr val="FFFFFF"/>
            </a:solidFill>
            <a:prstDash val="solid"/>
          </a:ln>
        </p:spPr>
      </p:sp>
      <p:sp>
        <p:nvSpPr>
          <p:cNvPr id="45" name="Shape 42"/>
          <p:cNvSpPr/>
          <p:nvPr/>
        </p:nvSpPr>
        <p:spPr>
          <a:xfrm>
            <a:off x="11215116" y="5004726"/>
            <a:ext cx="118872" cy="118872"/>
          </a:xfrm>
          <a:prstGeom prst="rect">
            <a:avLst/>
          </a:prstGeom>
          <a:solidFill>
            <a:srgbClr val="1B2A44"/>
          </a:solidFill>
          <a:ln w="6350">
            <a:solidFill>
              <a:srgbClr val="FFFFFF"/>
            </a:solidFill>
            <a:prstDash val="solid"/>
          </a:ln>
        </p:spPr>
      </p:sp>
      <p:sp>
        <p:nvSpPr>
          <p:cNvPr id="46" name="Shape 43"/>
          <p:cNvSpPr/>
          <p:nvPr/>
        </p:nvSpPr>
        <p:spPr>
          <a:xfrm>
            <a:off x="7594092" y="4036538"/>
            <a:ext cx="118872" cy="118872"/>
          </a:xfrm>
          <a:prstGeom prst="rect">
            <a:avLst/>
          </a:prstGeom>
          <a:solidFill>
            <a:srgbClr val="1B2A44"/>
          </a:solidFill>
          <a:ln w="6350">
            <a:solidFill>
              <a:srgbClr val="FFFFFF"/>
            </a:solidFill>
            <a:prstDash val="solid"/>
          </a:ln>
        </p:spPr>
      </p:sp>
      <p:sp>
        <p:nvSpPr>
          <p:cNvPr id="47" name="Shape 44"/>
          <p:cNvSpPr/>
          <p:nvPr/>
        </p:nvSpPr>
        <p:spPr>
          <a:xfrm>
            <a:off x="8197596" y="4036538"/>
            <a:ext cx="118872" cy="118872"/>
          </a:xfrm>
          <a:prstGeom prst="rect">
            <a:avLst/>
          </a:prstGeom>
          <a:solidFill>
            <a:srgbClr val="1B2A44"/>
          </a:solidFill>
          <a:ln w="6350">
            <a:solidFill>
              <a:srgbClr val="FFFFFF"/>
            </a:solidFill>
            <a:prstDash val="solid"/>
          </a:ln>
        </p:spPr>
      </p:sp>
      <p:sp>
        <p:nvSpPr>
          <p:cNvPr id="48" name="Shape 45"/>
          <p:cNvSpPr/>
          <p:nvPr/>
        </p:nvSpPr>
        <p:spPr>
          <a:xfrm>
            <a:off x="9203436" y="4036538"/>
            <a:ext cx="118872" cy="118872"/>
          </a:xfrm>
          <a:prstGeom prst="rect">
            <a:avLst/>
          </a:prstGeom>
          <a:solidFill>
            <a:srgbClr val="1B2A44"/>
          </a:solidFill>
          <a:ln w="6350">
            <a:solidFill>
              <a:srgbClr val="FFFFFF"/>
            </a:solidFill>
            <a:prstDash val="solid"/>
          </a:ln>
        </p:spPr>
      </p:sp>
      <p:sp>
        <p:nvSpPr>
          <p:cNvPr id="49" name="Shape 46"/>
          <p:cNvSpPr/>
          <p:nvPr/>
        </p:nvSpPr>
        <p:spPr>
          <a:xfrm>
            <a:off x="11215116" y="4036538"/>
            <a:ext cx="118872" cy="118872"/>
          </a:xfrm>
          <a:prstGeom prst="rect">
            <a:avLst/>
          </a:prstGeom>
          <a:solidFill>
            <a:srgbClr val="1B2A44"/>
          </a:solidFill>
          <a:ln w="6350">
            <a:solidFill>
              <a:srgbClr val="FFFFFF"/>
            </a:solidFill>
            <a:prstDash val="solid"/>
          </a:ln>
        </p:spPr>
      </p:sp>
      <p:sp>
        <p:nvSpPr>
          <p:cNvPr id="50" name="Shape 47"/>
          <p:cNvSpPr/>
          <p:nvPr/>
        </p:nvSpPr>
        <p:spPr>
          <a:xfrm>
            <a:off x="7594092" y="3068350"/>
            <a:ext cx="118872" cy="118872"/>
          </a:xfrm>
          <a:prstGeom prst="rect">
            <a:avLst/>
          </a:prstGeom>
          <a:solidFill>
            <a:srgbClr val="1B2A44"/>
          </a:solidFill>
          <a:ln w="6350">
            <a:solidFill>
              <a:srgbClr val="FFFFFF"/>
            </a:solidFill>
            <a:prstDash val="solid"/>
          </a:ln>
        </p:spPr>
      </p:sp>
      <p:sp>
        <p:nvSpPr>
          <p:cNvPr id="51" name="Shape 48"/>
          <p:cNvSpPr/>
          <p:nvPr/>
        </p:nvSpPr>
        <p:spPr>
          <a:xfrm>
            <a:off x="8197596" y="3068350"/>
            <a:ext cx="118872" cy="118872"/>
          </a:xfrm>
          <a:prstGeom prst="rect">
            <a:avLst/>
          </a:prstGeom>
          <a:solidFill>
            <a:srgbClr val="1B2A44"/>
          </a:solidFill>
          <a:ln w="6350">
            <a:solidFill>
              <a:srgbClr val="FFFFFF"/>
            </a:solidFill>
            <a:prstDash val="solid"/>
          </a:ln>
        </p:spPr>
      </p:sp>
      <p:sp>
        <p:nvSpPr>
          <p:cNvPr id="52" name="Shape 49"/>
          <p:cNvSpPr/>
          <p:nvPr/>
        </p:nvSpPr>
        <p:spPr>
          <a:xfrm>
            <a:off x="9203436" y="3068350"/>
            <a:ext cx="118872" cy="118872"/>
          </a:xfrm>
          <a:prstGeom prst="rect">
            <a:avLst/>
          </a:prstGeom>
          <a:solidFill>
            <a:srgbClr val="1B2A44"/>
          </a:solidFill>
          <a:ln w="6350">
            <a:solidFill>
              <a:srgbClr val="FFFFFF"/>
            </a:solidFill>
            <a:prstDash val="solid"/>
          </a:ln>
        </p:spPr>
      </p:sp>
      <p:sp>
        <p:nvSpPr>
          <p:cNvPr id="53" name="Shape 50"/>
          <p:cNvSpPr/>
          <p:nvPr/>
        </p:nvSpPr>
        <p:spPr>
          <a:xfrm>
            <a:off x="11215116" y="3068350"/>
            <a:ext cx="118872" cy="118872"/>
          </a:xfrm>
          <a:prstGeom prst="rect">
            <a:avLst/>
          </a:prstGeom>
          <a:solidFill>
            <a:srgbClr val="1B2A44"/>
          </a:solidFill>
          <a:ln w="6350">
            <a:solidFill>
              <a:srgbClr val="FFFFFF"/>
            </a:solidFill>
            <a:prstDash val="solid"/>
          </a:ln>
        </p:spPr>
      </p:sp>
      <p:sp>
        <p:nvSpPr>
          <p:cNvPr id="54" name="Shape 51"/>
          <p:cNvSpPr/>
          <p:nvPr/>
        </p:nvSpPr>
        <p:spPr>
          <a:xfrm>
            <a:off x="7594092" y="2100162"/>
            <a:ext cx="118872" cy="118872"/>
          </a:xfrm>
          <a:prstGeom prst="rect">
            <a:avLst/>
          </a:prstGeom>
          <a:solidFill>
            <a:srgbClr val="1B2A44"/>
          </a:solidFill>
          <a:ln w="6350">
            <a:solidFill>
              <a:srgbClr val="FFFFFF"/>
            </a:solidFill>
            <a:prstDash val="solid"/>
          </a:ln>
        </p:spPr>
      </p:sp>
      <p:sp>
        <p:nvSpPr>
          <p:cNvPr id="55" name="Shape 52"/>
          <p:cNvSpPr/>
          <p:nvPr/>
        </p:nvSpPr>
        <p:spPr>
          <a:xfrm>
            <a:off x="8197596" y="2100162"/>
            <a:ext cx="118872" cy="118872"/>
          </a:xfrm>
          <a:prstGeom prst="rect">
            <a:avLst/>
          </a:prstGeom>
          <a:solidFill>
            <a:srgbClr val="1B2A44"/>
          </a:solidFill>
          <a:ln w="6350">
            <a:solidFill>
              <a:srgbClr val="FFFFFF"/>
            </a:solidFill>
            <a:prstDash val="solid"/>
          </a:ln>
        </p:spPr>
      </p:sp>
      <p:sp>
        <p:nvSpPr>
          <p:cNvPr id="56" name="Shape 53"/>
          <p:cNvSpPr/>
          <p:nvPr/>
        </p:nvSpPr>
        <p:spPr>
          <a:xfrm>
            <a:off x="9203436" y="2100162"/>
            <a:ext cx="118872" cy="118872"/>
          </a:xfrm>
          <a:prstGeom prst="rect">
            <a:avLst/>
          </a:prstGeom>
          <a:solidFill>
            <a:srgbClr val="1B2A44"/>
          </a:solidFill>
          <a:ln w="6350">
            <a:solidFill>
              <a:srgbClr val="FFFFFF"/>
            </a:solidFill>
            <a:prstDash val="solid"/>
          </a:ln>
        </p:spPr>
      </p:sp>
      <p:sp>
        <p:nvSpPr>
          <p:cNvPr id="57" name="Shape 54"/>
          <p:cNvSpPr/>
          <p:nvPr/>
        </p:nvSpPr>
        <p:spPr>
          <a:xfrm>
            <a:off x="11215116" y="2100162"/>
            <a:ext cx="118872" cy="118872"/>
          </a:xfrm>
          <a:prstGeom prst="rect">
            <a:avLst/>
          </a:prstGeom>
          <a:solidFill>
            <a:srgbClr val="1B2A44"/>
          </a:solidFill>
          <a:ln w="6350">
            <a:solidFill>
              <a:srgbClr val="FFFFFF"/>
            </a:solidFill>
            <a:prstDash val="solid"/>
          </a:ln>
        </p:spPr>
      </p:sp>
      <p:sp>
        <p:nvSpPr>
          <p:cNvPr id="58" name="Shape 55"/>
          <p:cNvSpPr/>
          <p:nvPr/>
        </p:nvSpPr>
        <p:spPr>
          <a:xfrm>
            <a:off x="7786116" y="4608307"/>
            <a:ext cx="137160" cy="137160"/>
          </a:xfrm>
          <a:prstGeom prst="diamond">
            <a:avLst/>
          </a:prstGeom>
          <a:solidFill>
            <a:srgbClr val="1F6F78"/>
          </a:solidFill>
          <a:ln w="6350">
            <a:solidFill>
              <a:srgbClr val="FFFFFF"/>
            </a:solidFill>
            <a:prstDash val="solid"/>
          </a:ln>
        </p:spPr>
      </p:sp>
      <p:sp>
        <p:nvSpPr>
          <p:cNvPr id="59" name="Shape 56"/>
          <p:cNvSpPr/>
          <p:nvPr/>
        </p:nvSpPr>
        <p:spPr>
          <a:xfrm>
            <a:off x="9998964" y="4608307"/>
            <a:ext cx="137160" cy="137160"/>
          </a:xfrm>
          <a:prstGeom prst="diamond">
            <a:avLst/>
          </a:prstGeom>
          <a:solidFill>
            <a:srgbClr val="1F6F78"/>
          </a:solidFill>
          <a:ln w="6350">
            <a:solidFill>
              <a:srgbClr val="FFFFFF"/>
            </a:solidFill>
            <a:prstDash val="solid"/>
          </a:ln>
        </p:spPr>
      </p:sp>
      <p:sp>
        <p:nvSpPr>
          <p:cNvPr id="60" name="Shape 57"/>
          <p:cNvSpPr/>
          <p:nvPr/>
        </p:nvSpPr>
        <p:spPr>
          <a:xfrm>
            <a:off x="8590788" y="4221032"/>
            <a:ext cx="137160" cy="137160"/>
          </a:xfrm>
          <a:prstGeom prst="diamond">
            <a:avLst/>
          </a:prstGeom>
          <a:solidFill>
            <a:srgbClr val="1F6F78"/>
          </a:solidFill>
          <a:ln w="6350">
            <a:solidFill>
              <a:srgbClr val="FFFFFF"/>
            </a:solidFill>
            <a:prstDash val="solid"/>
          </a:ln>
        </p:spPr>
      </p:sp>
      <p:sp>
        <p:nvSpPr>
          <p:cNvPr id="61" name="Shape 58"/>
          <p:cNvSpPr/>
          <p:nvPr/>
        </p:nvSpPr>
        <p:spPr>
          <a:xfrm>
            <a:off x="7786116" y="3640119"/>
            <a:ext cx="137160" cy="137160"/>
          </a:xfrm>
          <a:prstGeom prst="diamond">
            <a:avLst/>
          </a:prstGeom>
          <a:solidFill>
            <a:srgbClr val="1F6F78"/>
          </a:solidFill>
          <a:ln w="6350">
            <a:solidFill>
              <a:srgbClr val="FFFFFF"/>
            </a:solidFill>
            <a:prstDash val="solid"/>
          </a:ln>
        </p:spPr>
      </p:sp>
      <p:sp>
        <p:nvSpPr>
          <p:cNvPr id="62" name="Shape 59"/>
          <p:cNvSpPr/>
          <p:nvPr/>
        </p:nvSpPr>
        <p:spPr>
          <a:xfrm>
            <a:off x="9998964" y="3640119"/>
            <a:ext cx="137160" cy="137160"/>
          </a:xfrm>
          <a:prstGeom prst="diamond">
            <a:avLst/>
          </a:prstGeom>
          <a:solidFill>
            <a:srgbClr val="1F6F78"/>
          </a:solidFill>
          <a:ln w="6350">
            <a:solidFill>
              <a:srgbClr val="FFFFFF"/>
            </a:solidFill>
            <a:prstDash val="solid"/>
          </a:ln>
        </p:spPr>
      </p:sp>
      <p:sp>
        <p:nvSpPr>
          <p:cNvPr id="63" name="Shape 60"/>
          <p:cNvSpPr/>
          <p:nvPr/>
        </p:nvSpPr>
        <p:spPr>
          <a:xfrm>
            <a:off x="8590788" y="2671931"/>
            <a:ext cx="137160" cy="137160"/>
          </a:xfrm>
          <a:prstGeom prst="diamond">
            <a:avLst/>
          </a:prstGeom>
          <a:solidFill>
            <a:srgbClr val="1F6F78"/>
          </a:solidFill>
          <a:ln w="6350">
            <a:solidFill>
              <a:srgbClr val="FFFFFF"/>
            </a:solidFill>
            <a:prstDash val="solid"/>
          </a:ln>
        </p:spPr>
      </p:sp>
      <p:sp>
        <p:nvSpPr>
          <p:cNvPr id="64" name="Shape 61"/>
          <p:cNvSpPr/>
          <p:nvPr/>
        </p:nvSpPr>
        <p:spPr>
          <a:xfrm>
            <a:off x="7786116" y="2478293"/>
            <a:ext cx="137160" cy="137160"/>
          </a:xfrm>
          <a:prstGeom prst="diamond">
            <a:avLst/>
          </a:prstGeom>
          <a:solidFill>
            <a:srgbClr val="1F6F78"/>
          </a:solidFill>
          <a:ln w="6350">
            <a:solidFill>
              <a:srgbClr val="FFFFFF"/>
            </a:solidFill>
            <a:prstDash val="solid"/>
          </a:ln>
        </p:spPr>
      </p:sp>
      <p:sp>
        <p:nvSpPr>
          <p:cNvPr id="65" name="Shape 62"/>
          <p:cNvSpPr/>
          <p:nvPr/>
        </p:nvSpPr>
        <p:spPr>
          <a:xfrm>
            <a:off x="10602468" y="2478293"/>
            <a:ext cx="137160" cy="137160"/>
          </a:xfrm>
          <a:prstGeom prst="diamond">
            <a:avLst/>
          </a:prstGeom>
          <a:solidFill>
            <a:srgbClr val="1F6F78"/>
          </a:solidFill>
          <a:ln w="6350">
            <a:solidFill>
              <a:srgbClr val="FFFFFF"/>
            </a:solidFill>
            <a:prstDash val="solid"/>
          </a:ln>
        </p:spPr>
      </p:sp>
      <p:sp>
        <p:nvSpPr>
          <p:cNvPr id="66" name="Shape 63"/>
          <p:cNvSpPr/>
          <p:nvPr/>
        </p:nvSpPr>
        <p:spPr>
          <a:xfrm>
            <a:off x="7875727" y="4268903"/>
            <a:ext cx="118872" cy="118872"/>
          </a:xfrm>
          <a:prstGeom prst="ellipse">
            <a:avLst/>
          </a:prstGeom>
          <a:solidFill>
            <a:srgbClr val="E8934D"/>
          </a:solidFill>
          <a:ln w="6350">
            <a:solidFill>
              <a:srgbClr val="FFFFFF"/>
            </a:solidFill>
            <a:prstDash val="solid"/>
          </a:ln>
        </p:spPr>
      </p:sp>
      <p:sp>
        <p:nvSpPr>
          <p:cNvPr id="67" name="Shape 64"/>
          <p:cNvSpPr/>
          <p:nvPr/>
        </p:nvSpPr>
        <p:spPr>
          <a:xfrm>
            <a:off x="9887407" y="4694906"/>
            <a:ext cx="118872" cy="118872"/>
          </a:xfrm>
          <a:prstGeom prst="ellipse">
            <a:avLst/>
          </a:prstGeom>
          <a:solidFill>
            <a:srgbClr val="E8934D"/>
          </a:solidFill>
          <a:ln w="6350">
            <a:solidFill>
              <a:srgbClr val="FFFFFF"/>
            </a:solidFill>
            <a:prstDash val="solid"/>
          </a:ln>
        </p:spPr>
      </p:sp>
      <p:sp>
        <p:nvSpPr>
          <p:cNvPr id="68" name="Shape 65"/>
          <p:cNvSpPr/>
          <p:nvPr/>
        </p:nvSpPr>
        <p:spPr>
          <a:xfrm>
            <a:off x="10732313" y="4733634"/>
            <a:ext cx="118872" cy="118872"/>
          </a:xfrm>
          <a:prstGeom prst="ellipse">
            <a:avLst/>
          </a:prstGeom>
          <a:solidFill>
            <a:srgbClr val="E8934D"/>
          </a:solidFill>
          <a:ln w="6350">
            <a:solidFill>
              <a:srgbClr val="FFFFFF"/>
            </a:solidFill>
            <a:prstDash val="solid"/>
          </a:ln>
        </p:spPr>
      </p:sp>
      <p:sp>
        <p:nvSpPr>
          <p:cNvPr id="69" name="Shape 66"/>
          <p:cNvSpPr/>
          <p:nvPr/>
        </p:nvSpPr>
        <p:spPr>
          <a:xfrm>
            <a:off x="8760866" y="3765445"/>
            <a:ext cx="118872" cy="118872"/>
          </a:xfrm>
          <a:prstGeom prst="ellipse">
            <a:avLst/>
          </a:prstGeom>
          <a:solidFill>
            <a:srgbClr val="E8934D"/>
          </a:solidFill>
          <a:ln w="6350">
            <a:solidFill>
              <a:srgbClr val="FFFFFF"/>
            </a:solidFill>
            <a:prstDash val="solid"/>
          </a:ln>
        </p:spPr>
      </p:sp>
      <p:sp>
        <p:nvSpPr>
          <p:cNvPr id="70" name="Shape 67"/>
          <p:cNvSpPr/>
          <p:nvPr/>
        </p:nvSpPr>
        <p:spPr>
          <a:xfrm>
            <a:off x="8841334" y="3610535"/>
            <a:ext cx="118872" cy="118872"/>
          </a:xfrm>
          <a:prstGeom prst="ellipse">
            <a:avLst/>
          </a:prstGeom>
          <a:solidFill>
            <a:srgbClr val="E8934D"/>
          </a:solidFill>
          <a:ln w="6350">
            <a:solidFill>
              <a:srgbClr val="FFFFFF"/>
            </a:solidFill>
            <a:prstDash val="solid"/>
          </a:ln>
        </p:spPr>
      </p:sp>
      <p:sp>
        <p:nvSpPr>
          <p:cNvPr id="71" name="Shape 68"/>
          <p:cNvSpPr/>
          <p:nvPr/>
        </p:nvSpPr>
        <p:spPr>
          <a:xfrm>
            <a:off x="10008108" y="3842900"/>
            <a:ext cx="118872" cy="118872"/>
          </a:xfrm>
          <a:prstGeom prst="ellipse">
            <a:avLst/>
          </a:prstGeom>
          <a:solidFill>
            <a:srgbClr val="E8934D"/>
          </a:solidFill>
          <a:ln w="6350">
            <a:solidFill>
              <a:srgbClr val="FFFFFF"/>
            </a:solidFill>
            <a:prstDash val="solid"/>
          </a:ln>
        </p:spPr>
      </p:sp>
      <p:sp>
        <p:nvSpPr>
          <p:cNvPr id="72" name="Shape 69"/>
          <p:cNvSpPr/>
          <p:nvPr/>
        </p:nvSpPr>
        <p:spPr>
          <a:xfrm>
            <a:off x="7634326" y="3300715"/>
            <a:ext cx="118872" cy="118872"/>
          </a:xfrm>
          <a:prstGeom prst="ellipse">
            <a:avLst/>
          </a:prstGeom>
          <a:solidFill>
            <a:srgbClr val="E8934D"/>
          </a:solidFill>
          <a:ln w="6350">
            <a:solidFill>
              <a:srgbClr val="FFFFFF"/>
            </a:solidFill>
            <a:prstDash val="solid"/>
          </a:ln>
        </p:spPr>
      </p:sp>
      <p:sp>
        <p:nvSpPr>
          <p:cNvPr id="73" name="Shape 70"/>
          <p:cNvSpPr/>
          <p:nvPr/>
        </p:nvSpPr>
        <p:spPr>
          <a:xfrm>
            <a:off x="9525305" y="3145805"/>
            <a:ext cx="118872" cy="118872"/>
          </a:xfrm>
          <a:prstGeom prst="ellipse">
            <a:avLst/>
          </a:prstGeom>
          <a:solidFill>
            <a:srgbClr val="E8934D"/>
          </a:solidFill>
          <a:ln w="6350">
            <a:solidFill>
              <a:srgbClr val="FFFFFF"/>
            </a:solidFill>
            <a:prstDash val="solid"/>
          </a:ln>
        </p:spPr>
      </p:sp>
      <p:sp>
        <p:nvSpPr>
          <p:cNvPr id="74" name="Shape 71"/>
          <p:cNvSpPr/>
          <p:nvPr/>
        </p:nvSpPr>
        <p:spPr>
          <a:xfrm>
            <a:off x="10571378" y="3494353"/>
            <a:ext cx="118872" cy="118872"/>
          </a:xfrm>
          <a:prstGeom prst="ellipse">
            <a:avLst/>
          </a:prstGeom>
          <a:solidFill>
            <a:srgbClr val="E8934D"/>
          </a:solidFill>
          <a:ln w="6350">
            <a:solidFill>
              <a:srgbClr val="FFFFFF"/>
            </a:solidFill>
            <a:prstDash val="solid"/>
          </a:ln>
        </p:spPr>
      </p:sp>
      <p:sp>
        <p:nvSpPr>
          <p:cNvPr id="75" name="Shape 72"/>
          <p:cNvSpPr/>
          <p:nvPr/>
        </p:nvSpPr>
        <p:spPr>
          <a:xfrm>
            <a:off x="8680399" y="2138889"/>
            <a:ext cx="118872" cy="118872"/>
          </a:xfrm>
          <a:prstGeom prst="ellipse">
            <a:avLst/>
          </a:prstGeom>
          <a:solidFill>
            <a:srgbClr val="E8934D"/>
          </a:solidFill>
          <a:ln w="6350">
            <a:solidFill>
              <a:srgbClr val="FFFFFF"/>
            </a:solidFill>
            <a:prstDash val="solid"/>
          </a:ln>
        </p:spPr>
      </p:sp>
      <p:sp>
        <p:nvSpPr>
          <p:cNvPr id="76" name="Shape 73"/>
          <p:cNvSpPr/>
          <p:nvPr/>
        </p:nvSpPr>
        <p:spPr>
          <a:xfrm>
            <a:off x="9726473" y="2177617"/>
            <a:ext cx="118872" cy="118872"/>
          </a:xfrm>
          <a:prstGeom prst="ellipse">
            <a:avLst/>
          </a:prstGeom>
          <a:solidFill>
            <a:srgbClr val="E8934D"/>
          </a:solidFill>
          <a:ln w="6350">
            <a:solidFill>
              <a:srgbClr val="FFFFFF"/>
            </a:solidFill>
            <a:prstDash val="solid"/>
          </a:ln>
        </p:spPr>
      </p:sp>
      <p:sp>
        <p:nvSpPr>
          <p:cNvPr id="77" name="Shape 74"/>
          <p:cNvSpPr/>
          <p:nvPr/>
        </p:nvSpPr>
        <p:spPr>
          <a:xfrm>
            <a:off x="10933481" y="2177617"/>
            <a:ext cx="118872" cy="118872"/>
          </a:xfrm>
          <a:prstGeom prst="ellipse">
            <a:avLst/>
          </a:prstGeom>
          <a:solidFill>
            <a:srgbClr val="E8934D"/>
          </a:solidFill>
          <a:ln w="6350">
            <a:solidFill>
              <a:srgbClr val="FFFFFF"/>
            </a:solidFill>
            <a:prstDash val="solid"/>
          </a:ln>
        </p:spPr>
      </p:sp>
      <p:sp>
        <p:nvSpPr>
          <p:cNvPr id="78" name="Shape 75"/>
          <p:cNvSpPr/>
          <p:nvPr/>
        </p:nvSpPr>
        <p:spPr>
          <a:xfrm>
            <a:off x="7871155" y="5000154"/>
            <a:ext cx="128016" cy="128016"/>
          </a:xfrm>
          <a:prstGeom prst="triangle">
            <a:avLst/>
          </a:prstGeom>
          <a:solidFill>
            <a:srgbClr val="C56A2C"/>
          </a:solidFill>
          <a:ln w="6350">
            <a:solidFill>
              <a:srgbClr val="FFFFFF"/>
            </a:solidFill>
            <a:prstDash val="solid"/>
          </a:ln>
        </p:spPr>
      </p:sp>
      <p:sp>
        <p:nvSpPr>
          <p:cNvPr id="79" name="Shape 76"/>
          <p:cNvSpPr/>
          <p:nvPr/>
        </p:nvSpPr>
        <p:spPr>
          <a:xfrm>
            <a:off x="7589520" y="4612879"/>
            <a:ext cx="128016" cy="128016"/>
          </a:xfrm>
          <a:prstGeom prst="triangle">
            <a:avLst/>
          </a:prstGeom>
          <a:solidFill>
            <a:srgbClr val="C56A2C"/>
          </a:solidFill>
          <a:ln w="6350">
            <a:solidFill>
              <a:srgbClr val="FFFFFF"/>
            </a:solidFill>
            <a:prstDash val="solid"/>
          </a:ln>
        </p:spPr>
      </p:sp>
      <p:sp>
        <p:nvSpPr>
          <p:cNvPr id="80" name="Shape 77"/>
          <p:cNvSpPr/>
          <p:nvPr/>
        </p:nvSpPr>
        <p:spPr>
          <a:xfrm>
            <a:off x="7871155" y="4612879"/>
            <a:ext cx="128016" cy="128016"/>
          </a:xfrm>
          <a:prstGeom prst="triangle">
            <a:avLst/>
          </a:prstGeom>
          <a:solidFill>
            <a:srgbClr val="C56A2C"/>
          </a:solidFill>
          <a:ln w="6350">
            <a:solidFill>
              <a:srgbClr val="FFFFFF"/>
            </a:solidFill>
            <a:prstDash val="solid"/>
          </a:ln>
        </p:spPr>
      </p:sp>
      <p:sp>
        <p:nvSpPr>
          <p:cNvPr id="81" name="Shape 78"/>
          <p:cNvSpPr/>
          <p:nvPr/>
        </p:nvSpPr>
        <p:spPr>
          <a:xfrm>
            <a:off x="8193024" y="4612879"/>
            <a:ext cx="128016" cy="128016"/>
          </a:xfrm>
          <a:prstGeom prst="triangle">
            <a:avLst/>
          </a:prstGeom>
          <a:solidFill>
            <a:srgbClr val="C56A2C"/>
          </a:solidFill>
          <a:ln w="6350">
            <a:solidFill>
              <a:srgbClr val="FFFFFF"/>
            </a:solidFill>
            <a:prstDash val="solid"/>
          </a:ln>
        </p:spPr>
      </p:sp>
      <p:sp>
        <p:nvSpPr>
          <p:cNvPr id="82" name="Shape 79"/>
          <p:cNvSpPr/>
          <p:nvPr/>
        </p:nvSpPr>
        <p:spPr>
          <a:xfrm>
            <a:off x="7871155" y="4031966"/>
            <a:ext cx="128016" cy="128016"/>
          </a:xfrm>
          <a:prstGeom prst="triangle">
            <a:avLst/>
          </a:prstGeom>
          <a:solidFill>
            <a:srgbClr val="C56A2C"/>
          </a:solidFill>
          <a:ln w="6350">
            <a:solidFill>
              <a:srgbClr val="FFFFFF"/>
            </a:solidFill>
            <a:prstDash val="solid"/>
          </a:ln>
        </p:spPr>
      </p:sp>
      <p:sp>
        <p:nvSpPr>
          <p:cNvPr id="83" name="Shape 80"/>
          <p:cNvSpPr/>
          <p:nvPr/>
        </p:nvSpPr>
        <p:spPr>
          <a:xfrm>
            <a:off x="7728509" y="4902260"/>
            <a:ext cx="91440" cy="91440"/>
          </a:xfrm>
          <a:prstGeom prst="ellipse">
            <a:avLst/>
          </a:prstGeom>
          <a:solidFill>
            <a:srgbClr val="4C8C6B"/>
          </a:solidFill>
          <a:ln w="6350">
            <a:solidFill>
              <a:srgbClr val="FFFFFF"/>
            </a:solidFill>
            <a:prstDash val="solid"/>
          </a:ln>
        </p:spPr>
      </p:sp>
      <p:sp>
        <p:nvSpPr>
          <p:cNvPr id="84" name="Shape 81"/>
          <p:cNvSpPr/>
          <p:nvPr/>
        </p:nvSpPr>
        <p:spPr>
          <a:xfrm>
            <a:off x="8050378" y="4786077"/>
            <a:ext cx="91440" cy="91440"/>
          </a:xfrm>
          <a:prstGeom prst="ellipse">
            <a:avLst/>
          </a:prstGeom>
          <a:solidFill>
            <a:srgbClr val="4C8C6B"/>
          </a:solidFill>
          <a:ln w="6350">
            <a:solidFill>
              <a:srgbClr val="FFFFFF"/>
            </a:solidFill>
            <a:prstDash val="solid"/>
          </a:ln>
        </p:spPr>
      </p:sp>
      <p:sp>
        <p:nvSpPr>
          <p:cNvPr id="85" name="Shape 82"/>
          <p:cNvSpPr/>
          <p:nvPr/>
        </p:nvSpPr>
        <p:spPr>
          <a:xfrm>
            <a:off x="7768742" y="4514984"/>
            <a:ext cx="91440" cy="91440"/>
          </a:xfrm>
          <a:prstGeom prst="ellipse">
            <a:avLst/>
          </a:prstGeom>
          <a:solidFill>
            <a:srgbClr val="4C8C6B"/>
          </a:solidFill>
          <a:ln w="6350">
            <a:solidFill>
              <a:srgbClr val="FFFFFF"/>
            </a:solidFill>
            <a:prstDash val="solid"/>
          </a:ln>
        </p:spPr>
      </p:sp>
      <p:sp>
        <p:nvSpPr>
          <p:cNvPr id="86" name="Shape 83"/>
          <p:cNvSpPr/>
          <p:nvPr/>
        </p:nvSpPr>
        <p:spPr>
          <a:xfrm>
            <a:off x="8130845" y="4398802"/>
            <a:ext cx="91440" cy="91440"/>
          </a:xfrm>
          <a:prstGeom prst="ellipse">
            <a:avLst/>
          </a:prstGeom>
          <a:solidFill>
            <a:srgbClr val="4C8C6B"/>
          </a:solidFill>
          <a:ln w="6350">
            <a:solidFill>
              <a:srgbClr val="FFFFFF"/>
            </a:solidFill>
            <a:prstDash val="solid"/>
          </a:ln>
        </p:spPr>
      </p:sp>
      <p:sp>
        <p:nvSpPr>
          <p:cNvPr id="87" name="Shape 84"/>
          <p:cNvSpPr/>
          <p:nvPr/>
        </p:nvSpPr>
        <p:spPr>
          <a:xfrm>
            <a:off x="7688275" y="4205164"/>
            <a:ext cx="91440" cy="91440"/>
          </a:xfrm>
          <a:prstGeom prst="ellipse">
            <a:avLst/>
          </a:prstGeom>
          <a:solidFill>
            <a:srgbClr val="4C8C6B"/>
          </a:solidFill>
          <a:ln w="6350">
            <a:solidFill>
              <a:srgbClr val="FFFFFF"/>
            </a:solidFill>
            <a:prstDash val="solid"/>
          </a:ln>
        </p:spPr>
      </p:sp>
      <p:sp>
        <p:nvSpPr>
          <p:cNvPr id="88" name="Shape 85"/>
          <p:cNvSpPr/>
          <p:nvPr/>
        </p:nvSpPr>
        <p:spPr>
          <a:xfrm>
            <a:off x="7969910" y="4127709"/>
            <a:ext cx="91440" cy="91440"/>
          </a:xfrm>
          <a:prstGeom prst="ellipse">
            <a:avLst/>
          </a:prstGeom>
          <a:solidFill>
            <a:srgbClr val="4C8C6B"/>
          </a:solidFill>
          <a:ln w="6350">
            <a:solidFill>
              <a:srgbClr val="FFFFFF"/>
            </a:solidFill>
            <a:prstDash val="solid"/>
          </a:ln>
        </p:spPr>
      </p:sp>
      <p:sp>
        <p:nvSpPr>
          <p:cNvPr id="89" name="Shape 86"/>
          <p:cNvSpPr/>
          <p:nvPr/>
        </p:nvSpPr>
        <p:spPr>
          <a:xfrm>
            <a:off x="6871716" y="5811012"/>
            <a:ext cx="118872" cy="118872"/>
          </a:xfrm>
          <a:prstGeom prst="rect">
            <a:avLst/>
          </a:prstGeom>
          <a:solidFill>
            <a:srgbClr val="1B2A44"/>
          </a:solidFill>
          <a:ln w="6350">
            <a:solidFill>
              <a:srgbClr val="FFFFFF"/>
            </a:solidFill>
            <a:prstDash val="solid"/>
          </a:ln>
        </p:spPr>
      </p:sp>
      <p:sp>
        <p:nvSpPr>
          <p:cNvPr id="90" name="Text 87"/>
          <p:cNvSpPr txBox="1"/>
          <p:nvPr/>
        </p:nvSpPr>
        <p:spPr>
          <a:xfrm>
            <a:off x="7040880" y="5760720"/>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学習16</a:t>
            </a:r>
            <a:endParaRPr lang="en-US" sz="1000" dirty="0"/>
          </a:p>
        </p:txBody>
      </p:sp>
      <p:sp>
        <p:nvSpPr>
          <p:cNvPr id="91" name="Shape 88"/>
          <p:cNvSpPr/>
          <p:nvPr/>
        </p:nvSpPr>
        <p:spPr>
          <a:xfrm>
            <a:off x="8471916" y="5811012"/>
            <a:ext cx="118872" cy="118872"/>
          </a:xfrm>
          <a:prstGeom prst="diamond">
            <a:avLst/>
          </a:prstGeom>
          <a:solidFill>
            <a:srgbClr val="1F6F78"/>
          </a:solidFill>
          <a:ln w="6350">
            <a:solidFill>
              <a:srgbClr val="FFFFFF"/>
            </a:solidFill>
            <a:prstDash val="solid"/>
          </a:ln>
        </p:spPr>
      </p:sp>
      <p:sp>
        <p:nvSpPr>
          <p:cNvPr id="92" name="Text 89"/>
          <p:cNvSpPr txBox="1"/>
          <p:nvPr/>
        </p:nvSpPr>
        <p:spPr>
          <a:xfrm>
            <a:off x="8641080" y="5760720"/>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検証8</a:t>
            </a:r>
            <a:endParaRPr lang="en-US" sz="1000" dirty="0"/>
          </a:p>
        </p:txBody>
      </p:sp>
      <p:sp>
        <p:nvSpPr>
          <p:cNvPr id="93" name="Shape 90"/>
          <p:cNvSpPr/>
          <p:nvPr/>
        </p:nvSpPr>
        <p:spPr>
          <a:xfrm>
            <a:off x="10072116" y="5811012"/>
            <a:ext cx="118872" cy="118872"/>
          </a:xfrm>
          <a:prstGeom prst="ellipse">
            <a:avLst/>
          </a:prstGeom>
          <a:solidFill>
            <a:srgbClr val="E8934D"/>
          </a:solidFill>
          <a:ln w="6350">
            <a:solidFill>
              <a:srgbClr val="FFFFFF"/>
            </a:solidFill>
            <a:prstDash val="solid"/>
          </a:ln>
        </p:spPr>
      </p:sp>
      <p:sp>
        <p:nvSpPr>
          <p:cNvPr id="94" name="Text 91"/>
          <p:cNvSpPr txBox="1"/>
          <p:nvPr/>
        </p:nvSpPr>
        <p:spPr>
          <a:xfrm>
            <a:off x="10241280" y="5760720"/>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テスト12</a:t>
            </a:r>
            <a:endParaRPr lang="en-US" sz="1000" dirty="0"/>
          </a:p>
        </p:txBody>
      </p:sp>
      <p:sp>
        <p:nvSpPr>
          <p:cNvPr id="95" name="Shape 92"/>
          <p:cNvSpPr/>
          <p:nvPr/>
        </p:nvSpPr>
        <p:spPr>
          <a:xfrm>
            <a:off x="6871716" y="6057900"/>
            <a:ext cx="118872" cy="118872"/>
          </a:xfrm>
          <a:prstGeom prst="triangle">
            <a:avLst/>
          </a:prstGeom>
          <a:solidFill>
            <a:srgbClr val="C56A2C"/>
          </a:solidFill>
          <a:ln w="6350">
            <a:solidFill>
              <a:srgbClr val="FFFFFF"/>
            </a:solidFill>
            <a:prstDash val="solid"/>
          </a:ln>
        </p:spPr>
      </p:sp>
      <p:sp>
        <p:nvSpPr>
          <p:cNvPr id="96" name="Text 93"/>
          <p:cNvSpPr txBox="1"/>
          <p:nvPr/>
        </p:nvSpPr>
        <p:spPr>
          <a:xfrm>
            <a:off x="7040880" y="6007608"/>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追加5</a:t>
            </a:r>
            <a:endParaRPr lang="en-US" sz="1000" dirty="0"/>
          </a:p>
        </p:txBody>
      </p:sp>
      <p:sp>
        <p:nvSpPr>
          <p:cNvPr id="97" name="Shape 94"/>
          <p:cNvSpPr/>
          <p:nvPr/>
        </p:nvSpPr>
        <p:spPr>
          <a:xfrm>
            <a:off x="8471916" y="6057900"/>
            <a:ext cx="118872" cy="118872"/>
          </a:xfrm>
          <a:prstGeom prst="ellipse">
            <a:avLst/>
          </a:prstGeom>
          <a:solidFill>
            <a:srgbClr val="4C8C6B"/>
          </a:solidFill>
          <a:ln w="6350">
            <a:solidFill>
              <a:srgbClr val="FFFFFF"/>
            </a:solidFill>
            <a:prstDash val="solid"/>
          </a:ln>
        </p:spPr>
      </p:sp>
      <p:sp>
        <p:nvSpPr>
          <p:cNvPr id="98" name="Text 95"/>
          <p:cNvSpPr txBox="1"/>
          <p:nvPr/>
        </p:nvSpPr>
        <p:spPr>
          <a:xfrm>
            <a:off x="8641080" y="6007608"/>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局所テスト6</a:t>
            </a:r>
            <a:endParaRPr lang="en-US" sz="10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データの数え方：2,500区画を高さ10mごとに平均して5つの値にする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例：(A, D)＝(50m, 10m) の配置。SEBEの壁出力から中央建物の南面（50m×50m）だけを取り出して計算する。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21 / 45</a:t>
            </a:r>
            <a:endParaRPr lang="en-US" sz="1100" dirty="0"/>
          </a:p>
        </p:txBody>
      </p:sp>
      <p:sp>
        <p:nvSpPr>
          <p:cNvPr id="10" name="Shape 8"/>
          <p:cNvSpPr/>
          <p:nvPr/>
        </p:nvSpPr>
        <p:spPr>
          <a:xfrm>
            <a:off x="457200" y="1481328"/>
            <a:ext cx="5669280" cy="4828032"/>
          </a:xfrm>
          <a:prstGeom prst="roundRect">
            <a:avLst>
              <a:gd name="adj" fmla="val 1136"/>
            </a:avLst>
          </a:prstGeom>
          <a:solidFill>
            <a:srgbClr val="F3F5F8"/>
          </a:solidFill>
          <a:ln/>
        </p:spPr>
      </p:sp>
      <p:sp>
        <p:nvSpPr>
          <p:cNvPr id="11" name="Text 9"/>
          <p:cNvSpPr txBox="1"/>
          <p:nvPr/>
        </p:nvSpPr>
        <p:spPr>
          <a:xfrm>
            <a:off x="594360" y="1536192"/>
            <a:ext cx="539496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1配置（A 50m・D 10m）の南面</a:t>
            </a:r>
            <a:endParaRPr lang="en-US" sz="1100" dirty="0"/>
          </a:p>
        </p:txBody>
      </p:sp>
      <p:sp>
        <p:nvSpPr>
          <p:cNvPr id="12" name="Shape 10"/>
          <p:cNvSpPr/>
          <p:nvPr/>
        </p:nvSpPr>
        <p:spPr>
          <a:xfrm>
            <a:off x="1325880" y="3666744"/>
            <a:ext cx="2103120" cy="448056"/>
          </a:xfrm>
          <a:prstGeom prst="rect">
            <a:avLst/>
          </a:prstGeom>
          <a:solidFill>
            <a:srgbClr val="F6D2B4"/>
          </a:solidFill>
          <a:ln w="12700">
            <a:solidFill>
              <a:srgbClr val="FFFFFF"/>
            </a:solidFill>
            <a:prstDash val="solid"/>
          </a:ln>
        </p:spPr>
      </p:sp>
      <p:sp>
        <p:nvSpPr>
          <p:cNvPr id="13" name="Text 11"/>
          <p:cNvSpPr txBox="1"/>
          <p:nvPr/>
        </p:nvSpPr>
        <p:spPr>
          <a:xfrm>
            <a:off x="1325880" y="3666744"/>
            <a:ext cx="2103120" cy="448056"/>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帯1：y</a:t>
            </a:r>
            <a:pPr algn="ctr" indent="0" marL="0">
              <a:buNone/>
            </a:pPr>
            <a:r>
              <a:rPr lang="en-US" sz="1050" b="1" baseline="-40000" dirty="0">
                <a:solidFill>
                  <a:srgbClr val="1B2A44"/>
                </a:solidFill>
                <a:latin typeface="Yu Gothic" pitchFamily="34" charset="0"/>
                <a:ea typeface="Yu Gothic" pitchFamily="34" charset="-122"/>
                <a:cs typeface="Yu Gothic" pitchFamily="34" charset="-120"/>
              </a:rPr>
              <a:t>1</a:t>
            </a:r>
            <a:pPr algn="ctr" indent="0" marL="0">
              <a:buNone/>
            </a:pPr>
            <a:r>
              <a:rPr lang="en-US" sz="1050" b="1" dirty="0">
                <a:solidFill>
                  <a:srgbClr val="1B2A44"/>
                </a:solidFill>
                <a:latin typeface="Yu Gothic" pitchFamily="34" charset="0"/>
                <a:ea typeface="Yu Gothic" pitchFamily="34" charset="-122"/>
                <a:cs typeface="Yu Gothic" pitchFamily="34" charset="-120"/>
              </a:rPr>
              <a:t>＝337.34</a:t>
            </a:r>
            <a:endParaRPr lang="en-US" sz="1050" dirty="0"/>
          </a:p>
        </p:txBody>
      </p:sp>
      <p:sp>
        <p:nvSpPr>
          <p:cNvPr id="14" name="Text 12"/>
          <p:cNvSpPr txBox="1"/>
          <p:nvPr/>
        </p:nvSpPr>
        <p:spPr>
          <a:xfrm>
            <a:off x="548640" y="3776472"/>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0〜10m</a:t>
            </a:r>
            <a:endParaRPr lang="en-US" sz="900" dirty="0"/>
          </a:p>
        </p:txBody>
      </p:sp>
      <p:sp>
        <p:nvSpPr>
          <p:cNvPr id="15" name="Shape 13"/>
          <p:cNvSpPr/>
          <p:nvPr/>
        </p:nvSpPr>
        <p:spPr>
          <a:xfrm>
            <a:off x="1325880" y="3218688"/>
            <a:ext cx="2103120" cy="448056"/>
          </a:xfrm>
          <a:prstGeom prst="rect">
            <a:avLst/>
          </a:prstGeom>
          <a:solidFill>
            <a:srgbClr val="F2BE92"/>
          </a:solidFill>
          <a:ln w="12700">
            <a:solidFill>
              <a:srgbClr val="FFFFFF"/>
            </a:solidFill>
            <a:prstDash val="solid"/>
          </a:ln>
        </p:spPr>
      </p:sp>
      <p:sp>
        <p:nvSpPr>
          <p:cNvPr id="16" name="Text 14"/>
          <p:cNvSpPr txBox="1"/>
          <p:nvPr/>
        </p:nvSpPr>
        <p:spPr>
          <a:xfrm>
            <a:off x="1325880" y="3218688"/>
            <a:ext cx="2103120" cy="448056"/>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帯2：y</a:t>
            </a:r>
            <a:pPr algn="ctr" indent="0" marL="0">
              <a:buNone/>
            </a:pPr>
            <a:r>
              <a:rPr lang="en-US" sz="1050" b="1" baseline="-40000" dirty="0">
                <a:solidFill>
                  <a:srgbClr val="1B2A44"/>
                </a:solidFill>
                <a:latin typeface="Yu Gothic" pitchFamily="34" charset="0"/>
                <a:ea typeface="Yu Gothic" pitchFamily="34" charset="-122"/>
                <a:cs typeface="Yu Gothic" pitchFamily="34" charset="-120"/>
              </a:rPr>
              <a:t>2</a:t>
            </a:r>
            <a:pPr algn="ctr" indent="0" marL="0">
              <a:buNone/>
            </a:pPr>
            <a:r>
              <a:rPr lang="en-US" sz="1050" b="1" dirty="0">
                <a:solidFill>
                  <a:srgbClr val="1B2A44"/>
                </a:solidFill>
                <a:latin typeface="Yu Gothic" pitchFamily="34" charset="0"/>
                <a:ea typeface="Yu Gothic" pitchFamily="34" charset="-122"/>
                <a:cs typeface="Yu Gothic" pitchFamily="34" charset="-120"/>
              </a:rPr>
              <a:t>＝351.22</a:t>
            </a:r>
            <a:endParaRPr lang="en-US" sz="1050" dirty="0"/>
          </a:p>
        </p:txBody>
      </p:sp>
      <p:sp>
        <p:nvSpPr>
          <p:cNvPr id="17" name="Text 15"/>
          <p:cNvSpPr txBox="1"/>
          <p:nvPr/>
        </p:nvSpPr>
        <p:spPr>
          <a:xfrm>
            <a:off x="548640" y="3328416"/>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10〜20m</a:t>
            </a:r>
            <a:endParaRPr lang="en-US" sz="900" dirty="0"/>
          </a:p>
        </p:txBody>
      </p:sp>
      <p:sp>
        <p:nvSpPr>
          <p:cNvPr id="18" name="Shape 16"/>
          <p:cNvSpPr/>
          <p:nvPr/>
        </p:nvSpPr>
        <p:spPr>
          <a:xfrm>
            <a:off x="1325880" y="2770632"/>
            <a:ext cx="2103120" cy="448056"/>
          </a:xfrm>
          <a:prstGeom prst="rect">
            <a:avLst/>
          </a:prstGeom>
          <a:solidFill>
            <a:srgbClr val="EEA870"/>
          </a:solidFill>
          <a:ln w="12700">
            <a:solidFill>
              <a:srgbClr val="FFFFFF"/>
            </a:solidFill>
            <a:prstDash val="solid"/>
          </a:ln>
        </p:spPr>
      </p:sp>
      <p:sp>
        <p:nvSpPr>
          <p:cNvPr id="19" name="Text 17"/>
          <p:cNvSpPr txBox="1"/>
          <p:nvPr/>
        </p:nvSpPr>
        <p:spPr>
          <a:xfrm>
            <a:off x="1325880" y="2770632"/>
            <a:ext cx="2103120" cy="448056"/>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帯3：y</a:t>
            </a:r>
            <a:pPr algn="ctr" indent="0" marL="0">
              <a:buNone/>
            </a:pPr>
            <a:r>
              <a:rPr lang="en-US" sz="1050" b="1" baseline="-40000" dirty="0">
                <a:solidFill>
                  <a:srgbClr val="1B2A44"/>
                </a:solidFill>
                <a:latin typeface="Yu Gothic" pitchFamily="34" charset="0"/>
                <a:ea typeface="Yu Gothic" pitchFamily="34" charset="-122"/>
                <a:cs typeface="Yu Gothic" pitchFamily="34" charset="-120"/>
              </a:rPr>
              <a:t>3</a:t>
            </a:r>
            <a:pPr algn="ctr" indent="0" marL="0">
              <a:buNone/>
            </a:pPr>
            <a:r>
              <a:rPr lang="en-US" sz="1050" b="1" dirty="0">
                <a:solidFill>
                  <a:srgbClr val="1B2A44"/>
                </a:solidFill>
                <a:latin typeface="Yu Gothic" pitchFamily="34" charset="0"/>
                <a:ea typeface="Yu Gothic" pitchFamily="34" charset="-122"/>
                <a:cs typeface="Yu Gothic" pitchFamily="34" charset="-120"/>
              </a:rPr>
              <a:t>＝382.57</a:t>
            </a:r>
            <a:endParaRPr lang="en-US" sz="1050" dirty="0"/>
          </a:p>
        </p:txBody>
      </p:sp>
      <p:sp>
        <p:nvSpPr>
          <p:cNvPr id="20" name="Text 18"/>
          <p:cNvSpPr txBox="1"/>
          <p:nvPr/>
        </p:nvSpPr>
        <p:spPr>
          <a:xfrm>
            <a:off x="548640" y="2880360"/>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20〜30m</a:t>
            </a:r>
            <a:endParaRPr lang="en-US" sz="900" dirty="0"/>
          </a:p>
        </p:txBody>
      </p:sp>
      <p:sp>
        <p:nvSpPr>
          <p:cNvPr id="21" name="Shape 19"/>
          <p:cNvSpPr/>
          <p:nvPr/>
        </p:nvSpPr>
        <p:spPr>
          <a:xfrm>
            <a:off x="1325880" y="2322576"/>
            <a:ext cx="2103120" cy="448056"/>
          </a:xfrm>
          <a:prstGeom prst="rect">
            <a:avLst/>
          </a:prstGeom>
          <a:solidFill>
            <a:srgbClr val="E8934D"/>
          </a:solidFill>
          <a:ln w="12700">
            <a:solidFill>
              <a:srgbClr val="FFFFFF"/>
            </a:solidFill>
            <a:prstDash val="solid"/>
          </a:ln>
        </p:spPr>
      </p:sp>
      <p:sp>
        <p:nvSpPr>
          <p:cNvPr id="22" name="Text 20"/>
          <p:cNvSpPr txBox="1"/>
          <p:nvPr/>
        </p:nvSpPr>
        <p:spPr>
          <a:xfrm>
            <a:off x="1325880" y="2322576"/>
            <a:ext cx="2103120" cy="448056"/>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帯4：y</a:t>
            </a:r>
            <a:pPr algn="ctr" indent="0" marL="0">
              <a:buNone/>
            </a:pPr>
            <a:r>
              <a:rPr lang="en-US" sz="105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1050" b="1" dirty="0">
                <a:solidFill>
                  <a:srgbClr val="FFFFFF"/>
                </a:solidFill>
                <a:latin typeface="Yu Gothic" pitchFamily="34" charset="0"/>
                <a:ea typeface="Yu Gothic" pitchFamily="34" charset="-122"/>
                <a:cs typeface="Yu Gothic" pitchFamily="34" charset="-120"/>
              </a:rPr>
              <a:t>＝485.55</a:t>
            </a:r>
            <a:endParaRPr lang="en-US" sz="1050" dirty="0"/>
          </a:p>
        </p:txBody>
      </p:sp>
      <p:sp>
        <p:nvSpPr>
          <p:cNvPr id="23" name="Text 21"/>
          <p:cNvSpPr txBox="1"/>
          <p:nvPr/>
        </p:nvSpPr>
        <p:spPr>
          <a:xfrm>
            <a:off x="548640" y="2432304"/>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30〜40m</a:t>
            </a:r>
            <a:endParaRPr lang="en-US" sz="900" dirty="0"/>
          </a:p>
        </p:txBody>
      </p:sp>
      <p:sp>
        <p:nvSpPr>
          <p:cNvPr id="24" name="Shape 22"/>
          <p:cNvSpPr/>
          <p:nvPr/>
        </p:nvSpPr>
        <p:spPr>
          <a:xfrm>
            <a:off x="1325880" y="1874520"/>
            <a:ext cx="2103120" cy="448056"/>
          </a:xfrm>
          <a:prstGeom prst="rect">
            <a:avLst/>
          </a:prstGeom>
          <a:solidFill>
            <a:srgbClr val="D77B35"/>
          </a:solidFill>
          <a:ln w="12700">
            <a:solidFill>
              <a:srgbClr val="FFFFFF"/>
            </a:solidFill>
            <a:prstDash val="solid"/>
          </a:ln>
        </p:spPr>
      </p:sp>
      <p:sp>
        <p:nvSpPr>
          <p:cNvPr id="25" name="Text 23"/>
          <p:cNvSpPr txBox="1"/>
          <p:nvPr/>
        </p:nvSpPr>
        <p:spPr>
          <a:xfrm>
            <a:off x="1325880" y="1874520"/>
            <a:ext cx="2103120" cy="448056"/>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帯5：y</a:t>
            </a:r>
            <a:pPr algn="ctr" indent="0" marL="0">
              <a:buNone/>
            </a:pPr>
            <a:r>
              <a:rPr lang="en-US" sz="1050" b="1" baseline="-40000" dirty="0">
                <a:solidFill>
                  <a:srgbClr val="FFFFFF"/>
                </a:solidFill>
                <a:latin typeface="Yu Gothic" pitchFamily="34" charset="0"/>
                <a:ea typeface="Yu Gothic" pitchFamily="34" charset="-122"/>
                <a:cs typeface="Yu Gothic" pitchFamily="34" charset="-120"/>
              </a:rPr>
              <a:t>5</a:t>
            </a:r>
            <a:pPr algn="ctr" indent="0" marL="0">
              <a:buNone/>
            </a:pPr>
            <a:r>
              <a:rPr lang="en-US" sz="1050" b="1" dirty="0">
                <a:solidFill>
                  <a:srgbClr val="FFFFFF"/>
                </a:solidFill>
                <a:latin typeface="Yu Gothic" pitchFamily="34" charset="0"/>
                <a:ea typeface="Yu Gothic" pitchFamily="34" charset="-122"/>
                <a:cs typeface="Yu Gothic" pitchFamily="34" charset="-120"/>
              </a:rPr>
              <a:t>＝867.14</a:t>
            </a:r>
            <a:endParaRPr lang="en-US" sz="1050" dirty="0"/>
          </a:p>
        </p:txBody>
      </p:sp>
      <p:sp>
        <p:nvSpPr>
          <p:cNvPr id="26" name="Text 24"/>
          <p:cNvSpPr txBox="1"/>
          <p:nvPr/>
        </p:nvSpPr>
        <p:spPr>
          <a:xfrm>
            <a:off x="548640" y="1984248"/>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40〜50m</a:t>
            </a:r>
            <a:endParaRPr lang="en-US" sz="900" dirty="0"/>
          </a:p>
        </p:txBody>
      </p:sp>
      <p:sp>
        <p:nvSpPr>
          <p:cNvPr id="27" name="Text 25"/>
          <p:cNvSpPr txBox="1"/>
          <p:nvPr/>
        </p:nvSpPr>
        <p:spPr>
          <a:xfrm>
            <a:off x="1325880" y="4133088"/>
            <a:ext cx="2103120" cy="219456"/>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幅50m（50区画）</a:t>
            </a:r>
            <a:endParaRPr lang="en-US" sz="900" dirty="0"/>
          </a:p>
        </p:txBody>
      </p:sp>
      <p:sp>
        <p:nvSpPr>
          <p:cNvPr id="28" name="Text 26"/>
          <p:cNvSpPr txBox="1"/>
          <p:nvPr/>
        </p:nvSpPr>
        <p:spPr>
          <a:xfrm>
            <a:off x="3657600" y="1874520"/>
            <a:ext cx="2377440" cy="2286000"/>
          </a:xfrm>
          <a:prstGeom prst="rect">
            <a:avLst/>
          </a:prstGeom>
          <a:noFill/>
          <a:ln/>
        </p:spPr>
        <p:txBody>
          <a:bodyPr wrap="square" lIns="508" tIns="508" rIns="508" bIns="508" rtlCol="0" anchor="t"/>
          <a:lstStyle/>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1マス＝1m四方の区画 (p, q)。p は横、q は縦の番号。SEBEが年間日射量 G を出す</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1つの帯＝幅50×高さ10＝500区画</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南面全体＝50×50＝2,500区画</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5帯とも面積が同じ → 全体平均は5帯の平均と同じ</a:t>
            </a:r>
            <a:endParaRPr lang="en-US" sz="1000" dirty="0"/>
          </a:p>
        </p:txBody>
      </p:sp>
      <p:sp>
        <p:nvSpPr>
          <p:cNvPr id="29" name="Shape 27"/>
          <p:cNvSpPr/>
          <p:nvPr/>
        </p:nvSpPr>
        <p:spPr>
          <a:xfrm>
            <a:off x="594360" y="4315968"/>
            <a:ext cx="5394960" cy="1920240"/>
          </a:xfrm>
          <a:prstGeom prst="roundRect">
            <a:avLst>
              <a:gd name="adj" fmla="val 2857"/>
            </a:avLst>
          </a:prstGeom>
          <a:solidFill>
            <a:srgbClr val="1B2A44"/>
          </a:solidFill>
          <a:ln/>
        </p:spPr>
      </p:sp>
      <p:sp>
        <p:nvSpPr>
          <p:cNvPr id="30" name="Text 28"/>
          <p:cNvSpPr txBox="1"/>
          <p:nvPr/>
        </p:nvSpPr>
        <p:spPr>
          <a:xfrm>
            <a:off x="731520" y="4352544"/>
            <a:ext cx="5166360" cy="1847088"/>
          </a:xfrm>
          <a:prstGeom prst="rect">
            <a:avLst/>
          </a:prstGeom>
          <a:noFill/>
          <a:ln/>
        </p:spPr>
        <p:txBody>
          <a:bodyPr wrap="square" lIns="508" tIns="508" rIns="508" bIns="508" rtlCol="0" anchor="t"/>
          <a:lstStyle/>
          <a:p>
            <a:pPr indent="0" marL="0">
              <a:lnSpc>
                <a:spcPct val="110000"/>
              </a:lnSpc>
              <a:buNone/>
            </a:pPr>
            <a:r>
              <a:rPr lang="en-US" sz="1050" b="1" dirty="0">
                <a:solidFill>
                  <a:srgbClr val="FFFFFF"/>
                </a:solidFill>
                <a:latin typeface="Yu Gothic" pitchFamily="34" charset="0"/>
                <a:ea typeface="Yu Gothic" pitchFamily="34" charset="-122"/>
                <a:cs typeface="Yu Gothic" pitchFamily="34" charset="-120"/>
              </a:rPr>
              <a:t>帯の平均：y</a:t>
            </a:r>
            <a:pPr indent="0" marL="0">
              <a:lnSpc>
                <a:spcPct val="110000"/>
              </a:lnSpc>
              <a:buNone/>
            </a:pPr>
            <a:r>
              <a:rPr lang="en-US" sz="1050" b="1" baseline="-40000" dirty="0">
                <a:solidFill>
                  <a:srgbClr val="FFFFFF"/>
                </a:solidFill>
                <a:latin typeface="Yu Gothic" pitchFamily="34" charset="0"/>
                <a:ea typeface="Yu Gothic" pitchFamily="34" charset="-122"/>
                <a:cs typeface="Yu Gothic" pitchFamily="34" charset="-120"/>
              </a:rPr>
              <a:t>k</a:t>
            </a:r>
            <a:pPr indent="0" marL="0">
              <a:lnSpc>
                <a:spcPct val="110000"/>
              </a:lnSpc>
              <a:buNone/>
            </a:pPr>
            <a:r>
              <a:rPr lang="en-US" sz="1050" b="1" dirty="0">
                <a:solidFill>
                  <a:srgbClr val="FFFFFF"/>
                </a:solidFill>
                <a:latin typeface="Yu Gothic" pitchFamily="34" charset="0"/>
                <a:ea typeface="Yu Gothic" pitchFamily="34" charset="-122"/>
                <a:cs typeface="Yu Gothic" pitchFamily="34" charset="-120"/>
              </a:rPr>
              <a:t> ＝ (1/500) Σ</a:t>
            </a:r>
            <a:pPr indent="0" marL="0">
              <a:lnSpc>
                <a:spcPct val="110000"/>
              </a:lnSpc>
              <a:buNone/>
            </a:pPr>
            <a:r>
              <a:rPr lang="en-US" sz="1050" b="1" baseline="-40000" dirty="0">
                <a:solidFill>
                  <a:srgbClr val="FFFFFF"/>
                </a:solidFill>
                <a:latin typeface="Yu Gothic" pitchFamily="34" charset="0"/>
                <a:ea typeface="Yu Gothic" pitchFamily="34" charset="-122"/>
                <a:cs typeface="Yu Gothic" pitchFamily="34" charset="-120"/>
              </a:rPr>
              <a:t>(p,q)∈帯k</a:t>
            </a:r>
            <a:pPr indent="0" marL="0">
              <a:lnSpc>
                <a:spcPct val="110000"/>
              </a:lnSpc>
              <a:buNone/>
            </a:pPr>
            <a:r>
              <a:rPr lang="en-US" sz="1050" b="1" dirty="0">
                <a:solidFill>
                  <a:srgbClr val="FFFFFF"/>
                </a:solidFill>
                <a:latin typeface="Yu Gothic" pitchFamily="34" charset="0"/>
                <a:ea typeface="Yu Gothic" pitchFamily="34" charset="-122"/>
                <a:cs typeface="Yu Gothic" pitchFamily="34" charset="-120"/>
              </a:rPr>
              <a:t> G</a:t>
            </a:r>
            <a:pPr indent="0" marL="0">
              <a:lnSpc>
                <a:spcPct val="110000"/>
              </a:lnSpc>
              <a:buNone/>
            </a:pPr>
            <a:r>
              <a:rPr lang="en-US" sz="1050" b="1" baseline="-40000" dirty="0">
                <a:solidFill>
                  <a:srgbClr val="FFFFFF"/>
                </a:solidFill>
                <a:latin typeface="Yu Gothic" pitchFamily="34" charset="0"/>
                <a:ea typeface="Yu Gothic" pitchFamily="34" charset="-122"/>
                <a:cs typeface="Yu Gothic" pitchFamily="34" charset="-120"/>
              </a:rPr>
              <a:t>p,q</a:t>
            </a:r>
            <a:endParaRPr lang="en-US" sz="1050" dirty="0"/>
          </a:p>
          <a:p>
            <a:pPr indent="0" marL="0">
              <a:lnSpc>
                <a:spcPct val="110000"/>
              </a:lnSpc>
              <a:buNone/>
            </a:pPr>
            <a:r>
              <a:rPr lang="en-US" sz="850" b="1" dirty="0">
                <a:solidFill>
                  <a:srgbClr val="CADCFC"/>
                </a:solidFill>
                <a:latin typeface="Yu Gothic" pitchFamily="34" charset="0"/>
                <a:ea typeface="Yu Gothic" pitchFamily="34" charset="-122"/>
                <a:cs typeface="Yu Gothic" pitchFamily="34" charset="-120"/>
              </a:rPr>
              <a:t>G</a:t>
            </a:r>
            <a:pPr indent="0" marL="0">
              <a:lnSpc>
                <a:spcPct val="110000"/>
              </a:lnSpc>
              <a:buNone/>
            </a:pPr>
            <a:r>
              <a:rPr lang="en-US" sz="850" b="1" baseline="-40000" dirty="0">
                <a:solidFill>
                  <a:srgbClr val="CADCFC"/>
                </a:solidFill>
                <a:latin typeface="Yu Gothic" pitchFamily="34" charset="0"/>
                <a:ea typeface="Yu Gothic" pitchFamily="34" charset="-122"/>
                <a:cs typeface="Yu Gothic" pitchFamily="34" charset="-120"/>
              </a:rPr>
              <a:t>p,q</a:t>
            </a:r>
            <a:pPr indent="0" marL="0">
              <a:lnSpc>
                <a:spcPct val="110000"/>
              </a:lnSpc>
              <a:buNone/>
            </a:pPr>
            <a:r>
              <a:rPr lang="en-US" sz="850" b="1" dirty="0">
                <a:solidFill>
                  <a:srgbClr val="CADCFC"/>
                </a:solidFill>
                <a:latin typeface="Yu Gothic" pitchFamily="34" charset="0"/>
                <a:ea typeface="Yu Gothic" pitchFamily="34" charset="-122"/>
                <a:cs typeface="Yu Gothic" pitchFamily="34" charset="-120"/>
              </a:rPr>
              <a:t>：区画(p,q)の年間日射量（SEBE）　p：横の番号　q：縦の番号　k：帯の番号（1〜5）　Σ</a:t>
            </a:r>
            <a:pPr indent="0" marL="0">
              <a:lnSpc>
                <a:spcPct val="110000"/>
              </a:lnSpc>
              <a:buNone/>
            </a:pPr>
            <a:r>
              <a:rPr lang="en-US" sz="850" b="1" baseline="-40000" dirty="0">
                <a:solidFill>
                  <a:srgbClr val="CADCFC"/>
                </a:solidFill>
                <a:latin typeface="Yu Gothic" pitchFamily="34" charset="0"/>
                <a:ea typeface="Yu Gothic" pitchFamily="34" charset="-122"/>
                <a:cs typeface="Yu Gothic" pitchFamily="34" charset="-120"/>
              </a:rPr>
              <a:t>(p,q)∈帯k</a:t>
            </a:r>
            <a:pPr indent="0" marL="0">
              <a:lnSpc>
                <a:spcPct val="110000"/>
              </a:lnSpc>
              <a:buNone/>
            </a:pPr>
            <a:r>
              <a:rPr lang="en-US" sz="850" b="1" dirty="0">
                <a:solidFill>
                  <a:srgbClr val="CADCFC"/>
                </a:solidFill>
                <a:latin typeface="Yu Gothic" pitchFamily="34" charset="0"/>
                <a:ea typeface="Yu Gothic" pitchFamily="34" charset="-122"/>
                <a:cs typeface="Yu Gothic" pitchFamily="34" charset="-120"/>
              </a:rPr>
              <a:t>：帯kの500区画を全部足す</a:t>
            </a:r>
            <a:endParaRPr lang="en-US" sz="1050" dirty="0"/>
          </a:p>
          <a:p>
            <a:pPr indent="0" marL="0">
              <a:lnSpc>
                <a:spcPct val="110000"/>
              </a:lnSpc>
              <a:buNone/>
            </a:pPr>
            <a:r>
              <a:rPr lang="en-US" sz="1050" b="1" dirty="0">
                <a:solidFill>
                  <a:srgbClr val="E8934D"/>
                </a:solidFill>
                <a:latin typeface="Yu Gothic" pitchFamily="34" charset="0"/>
                <a:ea typeface="Yu Gothic" pitchFamily="34" charset="-122"/>
                <a:cs typeface="Yu Gothic" pitchFamily="34" charset="-120"/>
              </a:rPr>
              <a:t>帯1に代入：y</a:t>
            </a:r>
            <a:pPr indent="0" marL="0">
              <a:lnSpc>
                <a:spcPct val="110000"/>
              </a:lnSpc>
              <a:buNone/>
            </a:pPr>
            <a:r>
              <a:rPr lang="en-US" sz="1050" b="1" baseline="-40000" dirty="0">
                <a:solidFill>
                  <a:srgbClr val="E8934D"/>
                </a:solidFill>
                <a:latin typeface="Yu Gothic" pitchFamily="34" charset="0"/>
                <a:ea typeface="Yu Gothic" pitchFamily="34" charset="-122"/>
                <a:cs typeface="Yu Gothic" pitchFamily="34" charset="-120"/>
              </a:rPr>
              <a:t>1</a:t>
            </a:r>
            <a:pPr indent="0" marL="0">
              <a:lnSpc>
                <a:spcPct val="110000"/>
              </a:lnSpc>
              <a:buNone/>
            </a:pPr>
            <a:r>
              <a:rPr lang="en-US" sz="1050" b="1" dirty="0">
                <a:solidFill>
                  <a:srgbClr val="E8934D"/>
                </a:solidFill>
                <a:latin typeface="Yu Gothic" pitchFamily="34" charset="0"/>
                <a:ea typeface="Yu Gothic" pitchFamily="34" charset="-122"/>
                <a:cs typeface="Yu Gothic" pitchFamily="34" charset="-120"/>
              </a:rPr>
              <a:t> ＝ 168,670.31 ÷ 500 ＝ 337.34 kWh/m²</a:t>
            </a:r>
            <a:endParaRPr lang="en-US" sz="1050" dirty="0"/>
          </a:p>
          <a:p>
            <a:pPr indent="0" marL="0">
              <a:lnSpc>
                <a:spcPct val="110000"/>
              </a:lnSpc>
              <a:buNone/>
            </a:pPr>
            <a:r>
              <a:rPr lang="en-US" sz="1050" b="1" dirty="0">
                <a:solidFill>
                  <a:srgbClr val="FFFFFF"/>
                </a:solidFill>
                <a:latin typeface="Yu Gothic" pitchFamily="34" charset="0"/>
                <a:ea typeface="Yu Gothic" pitchFamily="34" charset="-122"/>
                <a:cs typeface="Yu Gothic" pitchFamily="34" charset="-120"/>
              </a:rPr>
              <a:t>全体平均：ȳ ＝ (1/5) Σ</a:t>
            </a:r>
            <a:pPr indent="0" marL="0">
              <a:lnSpc>
                <a:spcPct val="110000"/>
              </a:lnSpc>
              <a:buNone/>
            </a:pPr>
            <a:r>
              <a:rPr lang="en-US" sz="1050" b="1" baseline="-40000" dirty="0">
                <a:solidFill>
                  <a:srgbClr val="FFFFFF"/>
                </a:solidFill>
                <a:latin typeface="Yu Gothic" pitchFamily="34" charset="0"/>
                <a:ea typeface="Yu Gothic" pitchFamily="34" charset="-122"/>
                <a:cs typeface="Yu Gothic" pitchFamily="34" charset="-120"/>
              </a:rPr>
              <a:t>k=1</a:t>
            </a:r>
            <a:pPr indent="0" marL="0">
              <a:lnSpc>
                <a:spcPct val="110000"/>
              </a:lnSpc>
              <a:buNone/>
            </a:pPr>
            <a:r>
              <a:rPr lang="en-US" sz="1050" b="1" baseline="30000" dirty="0">
                <a:solidFill>
                  <a:srgbClr val="FFFFFF"/>
                </a:solidFill>
                <a:latin typeface="Yu Gothic" pitchFamily="34" charset="0"/>
                <a:ea typeface="Yu Gothic" pitchFamily="34" charset="-122"/>
                <a:cs typeface="Yu Gothic" pitchFamily="34" charset="-120"/>
              </a:rPr>
              <a:t>5</a:t>
            </a:r>
            <a:pPr indent="0" marL="0">
              <a:lnSpc>
                <a:spcPct val="110000"/>
              </a:lnSpc>
              <a:buNone/>
            </a:pPr>
            <a:r>
              <a:rPr lang="en-US" sz="1050" b="1" dirty="0">
                <a:solidFill>
                  <a:srgbClr val="FFFFFF"/>
                </a:solidFill>
                <a:latin typeface="Yu Gothic" pitchFamily="34" charset="0"/>
                <a:ea typeface="Yu Gothic" pitchFamily="34" charset="-122"/>
                <a:cs typeface="Yu Gothic" pitchFamily="34" charset="-120"/>
              </a:rPr>
              <a:t> y</a:t>
            </a:r>
            <a:pPr indent="0" marL="0">
              <a:lnSpc>
                <a:spcPct val="110000"/>
              </a:lnSpc>
              <a:buNone/>
            </a:pPr>
            <a:r>
              <a:rPr lang="en-US" sz="1050" b="1" baseline="-40000" dirty="0">
                <a:solidFill>
                  <a:srgbClr val="FFFFFF"/>
                </a:solidFill>
                <a:latin typeface="Yu Gothic" pitchFamily="34" charset="0"/>
                <a:ea typeface="Yu Gothic" pitchFamily="34" charset="-122"/>
                <a:cs typeface="Yu Gothic" pitchFamily="34" charset="-120"/>
              </a:rPr>
              <a:t>k</a:t>
            </a:r>
            <a:pPr indent="0" marL="0">
              <a:lnSpc>
                <a:spcPct val="110000"/>
              </a:lnSpc>
              <a:buNone/>
            </a:pPr>
            <a:r>
              <a:rPr lang="en-US" sz="1050" b="1" dirty="0">
                <a:solidFill>
                  <a:srgbClr val="FFFFFF"/>
                </a:solidFill>
                <a:latin typeface="Yu Gothic" pitchFamily="34" charset="0"/>
                <a:ea typeface="Yu Gothic" pitchFamily="34" charset="-122"/>
                <a:cs typeface="Yu Gothic" pitchFamily="34" charset="-120"/>
              </a:rPr>
              <a:t>（帯1〜5を足して5で割る）</a:t>
            </a:r>
            <a:endParaRPr lang="en-US" sz="1050" dirty="0"/>
          </a:p>
          <a:p>
            <a:pPr indent="0" marL="0">
              <a:lnSpc>
                <a:spcPct val="110000"/>
              </a:lnSpc>
              <a:buNone/>
            </a:pPr>
            <a:r>
              <a:rPr lang="en-US" sz="1050" b="1" dirty="0">
                <a:solidFill>
                  <a:srgbClr val="E8934D"/>
                </a:solidFill>
                <a:latin typeface="Yu Gothic" pitchFamily="34" charset="0"/>
                <a:ea typeface="Yu Gothic" pitchFamily="34" charset="-122"/>
                <a:cs typeface="Yu Gothic" pitchFamily="34" charset="-120"/>
              </a:rPr>
              <a:t>＝ (337.34＋351.22＋382.57＋485.55＋867.14) / 5 ＝ 484.76</a:t>
            </a:r>
            <a:endParaRPr lang="en-US" sz="1050" dirty="0"/>
          </a:p>
          <a:p>
            <a:pPr indent="0" marL="0">
              <a:lnSpc>
                <a:spcPct val="110000"/>
              </a:lnSpc>
              <a:buNone/>
            </a:pPr>
            <a:r>
              <a:rPr lang="en-US" sz="850" b="1" dirty="0">
                <a:solidFill>
                  <a:srgbClr val="CADCFC"/>
                </a:solidFill>
                <a:latin typeface="Yu Gothic" pitchFamily="34" charset="0"/>
                <a:ea typeface="Yu Gothic" pitchFamily="34" charset="-122"/>
                <a:cs typeface="Yu Gothic" pitchFamily="34" charset="-120"/>
              </a:rPr>
              <a:t>y</a:t>
            </a:r>
            <a:pPr indent="0" marL="0">
              <a:lnSpc>
                <a:spcPct val="110000"/>
              </a:lnSpc>
              <a:buNone/>
            </a:pPr>
            <a:r>
              <a:rPr lang="en-US" sz="850" b="1" baseline="-40000" dirty="0">
                <a:solidFill>
                  <a:srgbClr val="CADCFC"/>
                </a:solidFill>
                <a:latin typeface="Yu Gothic" pitchFamily="34" charset="0"/>
                <a:ea typeface="Yu Gothic" pitchFamily="34" charset="-122"/>
                <a:cs typeface="Yu Gothic" pitchFamily="34" charset="-120"/>
              </a:rPr>
              <a:t>k</a:t>
            </a:r>
            <a:pPr indent="0" marL="0">
              <a:lnSpc>
                <a:spcPct val="110000"/>
              </a:lnSpc>
              <a:buNone/>
            </a:pPr>
            <a:r>
              <a:rPr lang="en-US" sz="850" b="1" dirty="0">
                <a:solidFill>
                  <a:srgbClr val="CADCFC"/>
                </a:solidFill>
                <a:latin typeface="Yu Gothic" pitchFamily="34" charset="0"/>
                <a:ea typeface="Yu Gothic" pitchFamily="34" charset="-122"/>
                <a:cs typeface="Yu Gothic" pitchFamily="34" charset="-120"/>
              </a:rPr>
              <a:t>：帯kの平均日射量　ȳ：南面全体の平均　（合計168,670.31は保存値×500で逆算）</a:t>
            </a:r>
            <a:endParaRPr lang="en-US" sz="1050" dirty="0"/>
          </a:p>
        </p:txBody>
      </p:sp>
      <p:sp>
        <p:nvSpPr>
          <p:cNvPr id="31" name="Text 29"/>
          <p:cNvSpPr txBox="1"/>
          <p:nvPr/>
        </p:nvSpPr>
        <p:spPr>
          <a:xfrm>
            <a:off x="6355080" y="1481328"/>
            <a:ext cx="539496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16配置ぶんでは、何を何個数えているか</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355080" y="1828800"/>
          <a:ext cx="5394960" cy="914400"/>
        </p:xfrm>
        <a:graphic>
          <a:graphicData uri="http://schemas.openxmlformats.org/drawingml/2006/table">
            <a:tbl>
              <a:tblPr/>
              <a:tblGrid>
                <a:gridCol w="1600200"/>
                <a:gridCol w="1600200"/>
                <a:gridCol w="2194560"/>
              </a:tblGrid>
              <a:tr h="329184">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数えているもの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個数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意味</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建物配置</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16件</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A・Dの組み合わせ（学習例の数）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入力の数値</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16×2＝32個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各配置のAとD</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南面の元の区画値</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16×2,500＝40,000個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集計前の日射量 G</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5帯の平均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16×5＝80個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予測に使う値（16行×5列の表）</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全体平均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5帯から計算できる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5帯＋全体平均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16×6＝96個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表示・保存する数値の数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3" name="Shape 30"/>
          <p:cNvSpPr/>
          <p:nvPr/>
        </p:nvSpPr>
        <p:spPr>
          <a:xfrm>
            <a:off x="6355080" y="4343400"/>
            <a:ext cx="5394960" cy="1965960"/>
          </a:xfrm>
          <a:prstGeom prst="roundRect">
            <a:avLst>
              <a:gd name="adj" fmla="val 2791"/>
            </a:avLst>
          </a:prstGeom>
          <a:solidFill>
            <a:srgbClr val="FBEBDA"/>
          </a:solidFill>
          <a:ln/>
        </p:spPr>
      </p:sp>
      <p:sp>
        <p:nvSpPr>
          <p:cNvPr id="34" name="Text 31"/>
          <p:cNvSpPr txBox="1"/>
          <p:nvPr/>
        </p:nvSpPr>
        <p:spPr>
          <a:xfrm>
            <a:off x="6537960" y="4416552"/>
            <a:ext cx="5029200" cy="292608"/>
          </a:xfrm>
          <a:prstGeom prst="rect">
            <a:avLst/>
          </a:prstGeom>
          <a:noFill/>
          <a:ln/>
        </p:spPr>
        <p:txBody>
          <a:bodyPr wrap="square" lIns="508" tIns="508" rIns="508" bIns="508" rtlCol="0" anchor="t"/>
          <a:lstStyle/>
          <a:p>
            <a:pPr indent="0" marL="0">
              <a:buNone/>
            </a:pPr>
            <a:r>
              <a:rPr lang="en-US" sz="1300" b="1" dirty="0">
                <a:solidFill>
                  <a:srgbClr val="C56A2C"/>
                </a:solidFill>
                <a:latin typeface="Yu Gothic" pitchFamily="34" charset="0"/>
                <a:ea typeface="Yu Gothic" pitchFamily="34" charset="-122"/>
                <a:cs typeface="Yu Gothic" pitchFamily="34" charset="-120"/>
              </a:rPr>
              <a:t>96件の学習データではない</a:t>
            </a:r>
            <a:endParaRPr lang="en-US" sz="1300" dirty="0"/>
          </a:p>
        </p:txBody>
      </p:sp>
      <p:sp>
        <p:nvSpPr>
          <p:cNvPr id="35" name="Text 32"/>
          <p:cNvSpPr txBox="1"/>
          <p:nvPr/>
        </p:nvSpPr>
        <p:spPr>
          <a:xfrm>
            <a:off x="6537960" y="4773168"/>
            <a:ext cx="5029200" cy="1463040"/>
          </a:xfrm>
          <a:prstGeom prst="rect">
            <a:avLst/>
          </a:prstGeom>
          <a:noFill/>
          <a:ln/>
        </p:spPr>
        <p:txBody>
          <a:bodyPr wrap="square" lIns="508" tIns="508" rIns="508" bIns="508" rtlCol="0" anchor="t"/>
          <a:lstStyle/>
          <a:p>
            <a:pPr marL="152400" indent="-152400">
              <a:spcAft>
                <a:spcPts val="400"/>
              </a:spcAft>
              <a:buSzPct val="100000"/>
              <a:buChar char="•"/>
            </a:pPr>
            <a:r>
              <a:rPr lang="en-US" sz="1100" dirty="0">
                <a:solidFill>
                  <a:srgbClr val="333F4E"/>
                </a:solidFill>
                <a:latin typeface="Yu Gothic" pitchFamily="34" charset="0"/>
                <a:ea typeface="Yu Gothic" pitchFamily="34" charset="-122"/>
                <a:cs typeface="Yu Gothic" pitchFamily="34" charset="-120"/>
              </a:rPr>
              <a:t>96は「数値の個数」。異なる配置（学習例）は16件のまま</a:t>
            </a:r>
            <a:endParaRPr lang="en-US" sz="1100" dirty="0"/>
          </a:p>
          <a:p>
            <a:pPr marL="152400" indent="-152400">
              <a:spcAft>
                <a:spcPts val="400"/>
              </a:spcAft>
              <a:buSzPct val="100000"/>
              <a:buChar char="•"/>
            </a:pPr>
            <a:r>
              <a:rPr lang="en-US" sz="1100" dirty="0">
                <a:solidFill>
                  <a:srgbClr val="333F4E"/>
                </a:solidFill>
                <a:latin typeface="Yu Gothic" pitchFamily="34" charset="0"/>
                <a:ea typeface="Yu Gothic" pitchFamily="34" charset="-122"/>
                <a:cs typeface="Yu Gothic" pitchFamily="34" charset="-120"/>
              </a:rPr>
              <a:t>同じ配置から取った5帯の値は、別々の条件ではない</a:t>
            </a:r>
            <a:endParaRPr lang="en-US" sz="1100" dirty="0"/>
          </a:p>
          <a:p>
            <a:pPr marL="152400" indent="-152400">
              <a:spcAft>
                <a:spcPts val="400"/>
              </a:spcAft>
              <a:buSzPct val="100000"/>
              <a:buChar char="•"/>
            </a:pPr>
            <a:r>
              <a:rPr lang="en-US" sz="1100" dirty="0">
                <a:solidFill>
                  <a:srgbClr val="333F4E"/>
                </a:solidFill>
                <a:latin typeface="Yu Gothic" pitchFamily="34" charset="0"/>
                <a:ea typeface="Yu Gothic" pitchFamily="34" charset="-122"/>
                <a:cs typeface="Yu Gothic" pitchFamily="34" charset="-120"/>
              </a:rPr>
              <a:t>全体平均は5帯の平均なので、加えても情報は増えない</a:t>
            </a:r>
            <a:endParaRPr lang="en-US" sz="11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補間の計算：入力を囲む4配置の値を、近さの割合（重み）で混ぜる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例：A＝55.9m・D＝14m を入力した場合。重みは学習した係数ではなく、入力の位置から毎回計算する割合。中央建物は高さ50mのまま。</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22 / 45</a:t>
            </a:r>
            <a:endParaRPr lang="en-US" sz="1100" dirty="0"/>
          </a:p>
        </p:txBody>
      </p:sp>
      <p:sp>
        <p:nvSpPr>
          <p:cNvPr id="10" name="Shape 8"/>
          <p:cNvSpPr/>
          <p:nvPr/>
        </p:nvSpPr>
        <p:spPr>
          <a:xfrm>
            <a:off x="457200" y="1481328"/>
            <a:ext cx="5486400" cy="4828032"/>
          </a:xfrm>
          <a:prstGeom prst="roundRect">
            <a:avLst>
              <a:gd name="adj" fmla="val 1136"/>
            </a:avLst>
          </a:prstGeom>
          <a:solidFill>
            <a:srgbClr val="F3F5F8"/>
          </a:solidFill>
          <a:ln/>
        </p:spPr>
      </p:sp>
      <p:sp>
        <p:nvSpPr>
          <p:cNvPr id="11" name="Text 9"/>
          <p:cNvSpPr txBox="1"/>
          <p:nvPr/>
        </p:nvSpPr>
        <p:spPr>
          <a:xfrm>
            <a:off x="594360" y="1536192"/>
            <a:ext cx="521208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ステップ1〜3：重みを決める</a:t>
            </a:r>
            <a:endParaRPr lang="en-US" sz="1200" dirty="0"/>
          </a:p>
        </p:txBody>
      </p:sp>
      <p:sp>
        <p:nvSpPr>
          <p:cNvPr id="12" name="Shape 10"/>
          <p:cNvSpPr/>
          <p:nvPr/>
        </p:nvSpPr>
        <p:spPr>
          <a:xfrm>
            <a:off x="594360" y="1901952"/>
            <a:ext cx="274320" cy="274320"/>
          </a:xfrm>
          <a:prstGeom prst="ellipse">
            <a:avLst/>
          </a:prstGeom>
          <a:solidFill>
            <a:srgbClr val="1F6F78"/>
          </a:solidFill>
          <a:ln/>
        </p:spPr>
      </p:sp>
      <p:sp>
        <p:nvSpPr>
          <p:cNvPr id="13" name="Text 11"/>
          <p:cNvSpPr txBox="1"/>
          <p:nvPr/>
        </p:nvSpPr>
        <p:spPr>
          <a:xfrm>
            <a:off x="594360" y="190195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1</a:t>
            </a:r>
            <a:endParaRPr lang="en-US" sz="1100" dirty="0"/>
          </a:p>
        </p:txBody>
      </p:sp>
      <p:sp>
        <p:nvSpPr>
          <p:cNvPr id="14" name="Text 12"/>
          <p:cNvSpPr txBox="1"/>
          <p:nvPr/>
        </p:nvSpPr>
        <p:spPr>
          <a:xfrm>
            <a:off x="960120" y="1883664"/>
            <a:ext cx="48920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入力を囲む計算済みの4配置（4隅）を探す</a:t>
            </a:r>
            <a:endParaRPr lang="en-US" sz="1100" dirty="0"/>
          </a:p>
        </p:txBody>
      </p:sp>
      <p:sp>
        <p:nvSpPr>
          <p:cNvPr id="15" name="Text 13"/>
          <p:cNvSpPr txBox="1"/>
          <p:nvPr/>
        </p:nvSpPr>
        <p:spPr>
          <a:xfrm>
            <a:off x="960120" y="2157984"/>
            <a:ext cx="4892040" cy="237744"/>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50 ≤ 55.9 &lt; 75，10 ≤ 14 &lt; 25 → (50,10)(75,10)(50,25)(75,25)</a:t>
            </a:r>
            <a:endParaRPr lang="en-US" sz="1050" dirty="0"/>
          </a:p>
        </p:txBody>
      </p:sp>
      <p:sp>
        <p:nvSpPr>
          <p:cNvPr id="16" name="Shape 14"/>
          <p:cNvSpPr/>
          <p:nvPr/>
        </p:nvSpPr>
        <p:spPr>
          <a:xfrm>
            <a:off x="594360" y="2542032"/>
            <a:ext cx="274320" cy="274320"/>
          </a:xfrm>
          <a:prstGeom prst="ellipse">
            <a:avLst/>
          </a:prstGeom>
          <a:solidFill>
            <a:srgbClr val="1F6F78"/>
          </a:solidFill>
          <a:ln/>
        </p:spPr>
      </p:sp>
      <p:sp>
        <p:nvSpPr>
          <p:cNvPr id="17" name="Text 15"/>
          <p:cNvSpPr txBox="1"/>
          <p:nvPr/>
        </p:nvSpPr>
        <p:spPr>
          <a:xfrm>
            <a:off x="594360" y="254203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a:t>
            </a:r>
            <a:endParaRPr lang="en-US" sz="1100" dirty="0"/>
          </a:p>
        </p:txBody>
      </p:sp>
      <p:sp>
        <p:nvSpPr>
          <p:cNvPr id="18" name="Text 16"/>
          <p:cNvSpPr txBox="1"/>
          <p:nvPr/>
        </p:nvSpPr>
        <p:spPr>
          <a:xfrm>
            <a:off x="960120" y="2523744"/>
            <a:ext cx="48920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区間の中のどこにいるかを割合で表す</a:t>
            </a:r>
            <a:endParaRPr lang="en-US" sz="1100" dirty="0"/>
          </a:p>
        </p:txBody>
      </p:sp>
      <p:sp>
        <p:nvSpPr>
          <p:cNvPr id="19" name="Text 17"/>
          <p:cNvSpPr txBox="1"/>
          <p:nvPr/>
        </p:nvSpPr>
        <p:spPr>
          <a:xfrm>
            <a:off x="960120" y="2788920"/>
            <a:ext cx="4892040" cy="45720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u ＝ (A − A</a:t>
            </a:r>
            <a:pPr indent="0" marL="0">
              <a:buNone/>
            </a:pPr>
            <a:r>
              <a:rPr lang="en-US" sz="1050" b="1" baseline="-40000" dirty="0">
                <a:solidFill>
                  <a:srgbClr val="1B2A44"/>
                </a:solidFill>
                <a:latin typeface="Yu Gothic" pitchFamily="34" charset="0"/>
                <a:ea typeface="Yu Gothic" pitchFamily="34" charset="-122"/>
                <a:cs typeface="Yu Gothic" pitchFamily="34" charset="-120"/>
              </a:rPr>
              <a:t>0</a:t>
            </a:r>
            <a:pPr indent="0" marL="0">
              <a:buNone/>
            </a:pPr>
            <a:r>
              <a:rPr lang="en-US" sz="1050" b="1" dirty="0">
                <a:solidFill>
                  <a:srgbClr val="1B2A44"/>
                </a:solidFill>
                <a:latin typeface="Yu Gothic" pitchFamily="34" charset="0"/>
                <a:ea typeface="Yu Gothic" pitchFamily="34" charset="-122"/>
                <a:cs typeface="Yu Gothic" pitchFamily="34" charset="-120"/>
              </a:rPr>
              <a:t>) / (A</a:t>
            </a:r>
            <a:pPr indent="0" marL="0">
              <a:buNone/>
            </a:pPr>
            <a:r>
              <a:rPr lang="en-US" sz="1050" b="1" baseline="-40000" dirty="0">
                <a:solidFill>
                  <a:srgbClr val="1B2A44"/>
                </a:solidFill>
                <a:latin typeface="Yu Gothic" pitchFamily="34" charset="0"/>
                <a:ea typeface="Yu Gothic" pitchFamily="34" charset="-122"/>
                <a:cs typeface="Yu Gothic" pitchFamily="34" charset="-120"/>
              </a:rPr>
              <a:t>1</a:t>
            </a:r>
            <a:pPr indent="0" marL="0">
              <a:buNone/>
            </a:pPr>
            <a:r>
              <a:rPr lang="en-US" sz="1050" b="1" dirty="0">
                <a:solidFill>
                  <a:srgbClr val="1B2A44"/>
                </a:solidFill>
                <a:latin typeface="Yu Gothic" pitchFamily="34" charset="0"/>
                <a:ea typeface="Yu Gothic" pitchFamily="34" charset="-122"/>
                <a:cs typeface="Yu Gothic" pitchFamily="34" charset="-120"/>
              </a:rPr>
              <a:t> − A</a:t>
            </a:r>
            <a:pPr indent="0" marL="0">
              <a:buNone/>
            </a:pPr>
            <a:r>
              <a:rPr lang="en-US" sz="1050" b="1" baseline="-40000" dirty="0">
                <a:solidFill>
                  <a:srgbClr val="1B2A44"/>
                </a:solidFill>
                <a:latin typeface="Yu Gothic" pitchFamily="34" charset="0"/>
                <a:ea typeface="Yu Gothic" pitchFamily="34" charset="-122"/>
                <a:cs typeface="Yu Gothic" pitchFamily="34" charset="-120"/>
              </a:rPr>
              <a:t>0</a:t>
            </a:r>
            <a:pPr indent="0" marL="0">
              <a:buNone/>
            </a:pPr>
            <a:r>
              <a:rPr lang="en-US" sz="1050" b="1" dirty="0">
                <a:solidFill>
                  <a:srgbClr val="1B2A44"/>
                </a:solidFill>
                <a:latin typeface="Yu Gothic" pitchFamily="34" charset="0"/>
                <a:ea typeface="Yu Gothic" pitchFamily="34" charset="-122"/>
                <a:cs typeface="Yu Gothic" pitchFamily="34" charset="-120"/>
              </a:rPr>
              <a:t>) ＝ (55.9 − 50) / 25 ＝ 0.236</a:t>
            </a:r>
            <a:endParaRPr lang="en-US" sz="1050" dirty="0"/>
          </a:p>
          <a:p>
            <a:pPr indent="0" marL="0">
              <a:buNone/>
            </a:pPr>
            <a:r>
              <a:rPr lang="en-US" sz="1050" b="1" dirty="0">
                <a:solidFill>
                  <a:srgbClr val="1B2A44"/>
                </a:solidFill>
                <a:latin typeface="Yu Gothic" pitchFamily="34" charset="0"/>
                <a:ea typeface="Yu Gothic" pitchFamily="34" charset="-122"/>
                <a:cs typeface="Yu Gothic" pitchFamily="34" charset="-120"/>
              </a:rPr>
              <a:t>v ＝ (D − D</a:t>
            </a:r>
            <a:pPr indent="0" marL="0">
              <a:buNone/>
            </a:pPr>
            <a:r>
              <a:rPr lang="en-US" sz="1050" b="1" baseline="-40000" dirty="0">
                <a:solidFill>
                  <a:srgbClr val="1B2A44"/>
                </a:solidFill>
                <a:latin typeface="Yu Gothic" pitchFamily="34" charset="0"/>
                <a:ea typeface="Yu Gothic" pitchFamily="34" charset="-122"/>
                <a:cs typeface="Yu Gothic" pitchFamily="34" charset="-120"/>
              </a:rPr>
              <a:t>0</a:t>
            </a:r>
            <a:pPr indent="0" marL="0">
              <a:buNone/>
            </a:pPr>
            <a:r>
              <a:rPr lang="en-US" sz="1050" b="1" dirty="0">
                <a:solidFill>
                  <a:srgbClr val="1B2A44"/>
                </a:solidFill>
                <a:latin typeface="Yu Gothic" pitchFamily="34" charset="0"/>
                <a:ea typeface="Yu Gothic" pitchFamily="34" charset="-122"/>
                <a:cs typeface="Yu Gothic" pitchFamily="34" charset="-120"/>
              </a:rPr>
              <a:t>) / (D</a:t>
            </a:r>
            <a:pPr indent="0" marL="0">
              <a:buNone/>
            </a:pPr>
            <a:r>
              <a:rPr lang="en-US" sz="1050" b="1" baseline="-40000" dirty="0">
                <a:solidFill>
                  <a:srgbClr val="1B2A44"/>
                </a:solidFill>
                <a:latin typeface="Yu Gothic" pitchFamily="34" charset="0"/>
                <a:ea typeface="Yu Gothic" pitchFamily="34" charset="-122"/>
                <a:cs typeface="Yu Gothic" pitchFamily="34" charset="-120"/>
              </a:rPr>
              <a:t>1</a:t>
            </a:r>
            <a:pPr indent="0" marL="0">
              <a:buNone/>
            </a:pPr>
            <a:r>
              <a:rPr lang="en-US" sz="1050" b="1" dirty="0">
                <a:solidFill>
                  <a:srgbClr val="1B2A44"/>
                </a:solidFill>
                <a:latin typeface="Yu Gothic" pitchFamily="34" charset="0"/>
                <a:ea typeface="Yu Gothic" pitchFamily="34" charset="-122"/>
                <a:cs typeface="Yu Gothic" pitchFamily="34" charset="-120"/>
              </a:rPr>
              <a:t> − D</a:t>
            </a:r>
            <a:pPr indent="0" marL="0">
              <a:buNone/>
            </a:pPr>
            <a:r>
              <a:rPr lang="en-US" sz="1050" b="1" baseline="-40000" dirty="0">
                <a:solidFill>
                  <a:srgbClr val="1B2A44"/>
                </a:solidFill>
                <a:latin typeface="Yu Gothic" pitchFamily="34" charset="0"/>
                <a:ea typeface="Yu Gothic" pitchFamily="34" charset="-122"/>
                <a:cs typeface="Yu Gothic" pitchFamily="34" charset="-120"/>
              </a:rPr>
              <a:t>0</a:t>
            </a:r>
            <a:pPr indent="0" marL="0">
              <a:buNone/>
            </a:pPr>
            <a:r>
              <a:rPr lang="en-US" sz="1050" b="1" dirty="0">
                <a:solidFill>
                  <a:srgbClr val="1B2A44"/>
                </a:solidFill>
                <a:latin typeface="Yu Gothic" pitchFamily="34" charset="0"/>
                <a:ea typeface="Yu Gothic" pitchFamily="34" charset="-122"/>
                <a:cs typeface="Yu Gothic" pitchFamily="34" charset="-120"/>
              </a:rPr>
              <a:t>) ＝ (14 − 10) / 15 ＝ 0.267</a:t>
            </a:r>
            <a:endParaRPr lang="en-US" sz="1050" dirty="0"/>
          </a:p>
        </p:txBody>
      </p:sp>
      <p:sp>
        <p:nvSpPr>
          <p:cNvPr id="20" name="Text 18"/>
          <p:cNvSpPr txBox="1"/>
          <p:nvPr/>
        </p:nvSpPr>
        <p:spPr>
          <a:xfrm>
            <a:off x="960120" y="3246120"/>
            <a:ext cx="4892040" cy="219456"/>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u：50m→75m へ23.6%進んだ位置　v：10m→25m へ26.7%進んだ位置</a:t>
            </a:r>
            <a:endParaRPr lang="en-US" sz="950" dirty="0"/>
          </a:p>
        </p:txBody>
      </p:sp>
      <p:sp>
        <p:nvSpPr>
          <p:cNvPr id="21" name="Shape 19"/>
          <p:cNvSpPr/>
          <p:nvPr/>
        </p:nvSpPr>
        <p:spPr>
          <a:xfrm>
            <a:off x="594360" y="3584448"/>
            <a:ext cx="274320" cy="274320"/>
          </a:xfrm>
          <a:prstGeom prst="ellipse">
            <a:avLst/>
          </a:prstGeom>
          <a:solidFill>
            <a:srgbClr val="1F6F78"/>
          </a:solidFill>
          <a:ln/>
        </p:spPr>
      </p:sp>
      <p:sp>
        <p:nvSpPr>
          <p:cNvPr id="22" name="Text 20"/>
          <p:cNvSpPr txBox="1"/>
          <p:nvPr/>
        </p:nvSpPr>
        <p:spPr>
          <a:xfrm>
            <a:off x="594360" y="35844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3</a:t>
            </a:r>
            <a:endParaRPr lang="en-US" sz="1100" dirty="0"/>
          </a:p>
        </p:txBody>
      </p:sp>
      <p:sp>
        <p:nvSpPr>
          <p:cNvPr id="23" name="Text 21"/>
          <p:cNvSpPr txBox="1"/>
          <p:nvPr/>
        </p:nvSpPr>
        <p:spPr>
          <a:xfrm>
            <a:off x="960120" y="3566160"/>
            <a:ext cx="48920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重み ＝ 高さ方向の割合 × 距離方向の割合</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60120" y="3858768"/>
          <a:ext cx="4846320" cy="914400"/>
        </p:xfrm>
        <a:graphic>
          <a:graphicData uri="http://schemas.openxmlformats.org/drawingml/2006/table">
            <a:tbl>
              <a:tblPr/>
              <a:tblGrid>
                <a:gridCol w="1371600"/>
                <a:gridCol w="1188720"/>
                <a:gridCol w="1188720"/>
                <a:gridCol w="1097280"/>
              </a:tblGrid>
              <a:tr h="27432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重み：隅 (A, D)</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高さ方向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距離方向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重み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w</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1</a:t>
                      </a:r>
                      <a:pPr algn="l" indent="0" marL="0">
                        <a:buNone/>
                      </a:pPr>
                      <a:r>
                        <a:rPr lang="en-US" sz="1000" b="1" dirty="0">
                          <a:solidFill>
                            <a:srgbClr val="1B2A44"/>
                          </a:solidFill>
                          <a:latin typeface="Yu Gothic" pitchFamily="34" charset="0"/>
                          <a:ea typeface="Yu Gothic" pitchFamily="34" charset="-122"/>
                          <a:cs typeface="Yu Gothic" pitchFamily="34" charset="-120"/>
                        </a:rPr>
                        <a:t>：(50, 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1−u ＝ 0.764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1−v ＝ 0.733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w</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2</a:t>
                      </a:r>
                      <a:pPr algn="l" indent="0" marL="0">
                        <a:buNone/>
                      </a:pPr>
                      <a:r>
                        <a:rPr lang="en-US" sz="1000" b="1" dirty="0">
                          <a:solidFill>
                            <a:srgbClr val="1B2A44"/>
                          </a:solidFill>
                          <a:latin typeface="Yu Gothic" pitchFamily="34" charset="0"/>
                          <a:ea typeface="Yu Gothic" pitchFamily="34" charset="-122"/>
                          <a:cs typeface="Yu Gothic" pitchFamily="34" charset="-120"/>
                        </a:rPr>
                        <a:t>：(75, 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u ＝ 0.236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1−v ＝ 0.733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w</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3</a:t>
                      </a:r>
                      <a:pPr algn="l" indent="0" marL="0">
                        <a:buNone/>
                      </a:pPr>
                      <a:r>
                        <a:rPr lang="en-US" sz="1000" b="1" dirty="0">
                          <a:solidFill>
                            <a:srgbClr val="1B2A44"/>
                          </a:solidFill>
                          <a:latin typeface="Yu Gothic" pitchFamily="34" charset="0"/>
                          <a:ea typeface="Yu Gothic" pitchFamily="34" charset="-122"/>
                          <a:cs typeface="Yu Gothic" pitchFamily="34" charset="-120"/>
                        </a:rPr>
                        <a:t>：(50, 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1−u ＝ 0.764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v ＝ 0.267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w</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4</a:t>
                      </a:r>
                      <a:pPr algn="l" indent="0" marL="0">
                        <a:buNone/>
                      </a:pPr>
                      <a:r>
                        <a:rPr lang="en-US" sz="1000" b="1" dirty="0">
                          <a:solidFill>
                            <a:srgbClr val="1B2A44"/>
                          </a:solidFill>
                          <a:latin typeface="Yu Gothic" pitchFamily="34" charset="0"/>
                          <a:ea typeface="Yu Gothic" pitchFamily="34" charset="-122"/>
                          <a:cs typeface="Yu Gothic" pitchFamily="34" charset="-120"/>
                        </a:rPr>
                        <a:t>：(75, 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u ＝ 0.236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v ＝ 0.267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合計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594360" y="5532120"/>
            <a:ext cx="5257800" cy="731520"/>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記号　</a:t>
            </a:r>
            <a:pPr indent="0" marL="0">
              <a:buNone/>
            </a:pPr>
            <a:r>
              <a:rPr lang="en-US" sz="900" dirty="0">
                <a:solidFill>
                  <a:srgbClr val="333F4E"/>
                </a:solidFill>
                <a:latin typeface="Yu Gothic" pitchFamily="34" charset="0"/>
                <a:ea typeface="Yu Gothic" pitchFamily="34" charset="-122"/>
                <a:cs typeface="Yu Gothic" pitchFamily="34" charset="-120"/>
              </a:rPr>
              <a:t>A・D：入力の高さ・隙間　A</a:t>
            </a:r>
            <a:pPr indent="0" marL="0">
              <a:buNone/>
            </a:pPr>
            <a:r>
              <a:rPr lang="en-US" sz="900" baseline="-40000" dirty="0">
                <a:solidFill>
                  <a:srgbClr val="333F4E"/>
                </a:solidFill>
                <a:latin typeface="Yu Gothic" pitchFamily="34" charset="0"/>
                <a:ea typeface="Yu Gothic" pitchFamily="34" charset="-122"/>
                <a:cs typeface="Yu Gothic" pitchFamily="34" charset="-120"/>
              </a:rPr>
              <a:t>0</a:t>
            </a:r>
            <a:pPr indent="0" marL="0">
              <a:buNone/>
            </a:pPr>
            <a:r>
              <a:rPr lang="en-US" sz="900" dirty="0">
                <a:solidFill>
                  <a:srgbClr val="333F4E"/>
                </a:solidFill>
                <a:latin typeface="Yu Gothic" pitchFamily="34" charset="0"/>
                <a:ea typeface="Yu Gothic" pitchFamily="34" charset="-122"/>
                <a:cs typeface="Yu Gothic" pitchFamily="34" charset="-120"/>
              </a:rPr>
              <a:t>・A</a:t>
            </a:r>
            <a:pPr indent="0" marL="0">
              <a:buNone/>
            </a:pPr>
            <a:r>
              <a:rPr lang="en-US" sz="900" baseline="-40000" dirty="0">
                <a:solidFill>
                  <a:srgbClr val="333F4E"/>
                </a:solidFill>
                <a:latin typeface="Yu Gothic" pitchFamily="34" charset="0"/>
                <a:ea typeface="Yu Gothic" pitchFamily="34" charset="-122"/>
                <a:cs typeface="Yu Gothic" pitchFamily="34" charset="-120"/>
              </a:rPr>
              <a:t>1</a:t>
            </a:r>
            <a:pPr indent="0" marL="0">
              <a:buNone/>
            </a:pPr>
            <a:r>
              <a:rPr lang="en-US" sz="900" dirty="0">
                <a:solidFill>
                  <a:srgbClr val="333F4E"/>
                </a:solidFill>
                <a:latin typeface="Yu Gothic" pitchFamily="34" charset="0"/>
                <a:ea typeface="Yu Gothic" pitchFamily="34" charset="-122"/>
                <a:cs typeface="Yu Gothic" pitchFamily="34" charset="-120"/>
              </a:rPr>
              <a:t>（D</a:t>
            </a:r>
            <a:pPr indent="0" marL="0">
              <a:buNone/>
            </a:pPr>
            <a:r>
              <a:rPr lang="en-US" sz="900" baseline="-40000" dirty="0">
                <a:solidFill>
                  <a:srgbClr val="333F4E"/>
                </a:solidFill>
                <a:latin typeface="Yu Gothic" pitchFamily="34" charset="0"/>
                <a:ea typeface="Yu Gothic" pitchFamily="34" charset="-122"/>
                <a:cs typeface="Yu Gothic" pitchFamily="34" charset="-120"/>
              </a:rPr>
              <a:t>0</a:t>
            </a:r>
            <a:pPr indent="0" marL="0">
              <a:buNone/>
            </a:pPr>
            <a:r>
              <a:rPr lang="en-US" sz="900" dirty="0">
                <a:solidFill>
                  <a:srgbClr val="333F4E"/>
                </a:solidFill>
                <a:latin typeface="Yu Gothic" pitchFamily="34" charset="0"/>
                <a:ea typeface="Yu Gothic" pitchFamily="34" charset="-122"/>
                <a:cs typeface="Yu Gothic" pitchFamily="34" charset="-120"/>
              </a:rPr>
              <a:t>・D</a:t>
            </a:r>
            <a:pPr indent="0" marL="0">
              <a:buNone/>
            </a:pPr>
            <a:r>
              <a:rPr lang="en-US" sz="900" baseline="-40000" dirty="0">
                <a:solidFill>
                  <a:srgbClr val="333F4E"/>
                </a:solidFill>
                <a:latin typeface="Yu Gothic" pitchFamily="34" charset="0"/>
                <a:ea typeface="Yu Gothic" pitchFamily="34" charset="-122"/>
                <a:cs typeface="Yu Gothic" pitchFamily="34" charset="-120"/>
              </a:rPr>
              <a:t>1</a:t>
            </a:r>
            <a:pPr indent="0" marL="0">
              <a:buNone/>
            </a:pPr>
            <a:r>
              <a:rPr lang="en-US" sz="900" dirty="0">
                <a:solidFill>
                  <a:srgbClr val="333F4E"/>
                </a:solidFill>
                <a:latin typeface="Yu Gothic" pitchFamily="34" charset="0"/>
                <a:ea typeface="Yu Gothic" pitchFamily="34" charset="-122"/>
                <a:cs typeface="Yu Gothic" pitchFamily="34" charset="-120"/>
              </a:rPr>
              <a:t>）：入力を挟む計算済みの下側・上側　u・v：位置の割合　c：隅の番号（1〜4）　w</a:t>
            </a:r>
            <a:pPr indent="0" marL="0">
              <a:buNone/>
            </a:pPr>
            <a:r>
              <a:rPr lang="en-US" sz="900" baseline="-40000" dirty="0">
                <a:solidFill>
                  <a:srgbClr val="333F4E"/>
                </a:solidFill>
                <a:latin typeface="Yu Gothic" pitchFamily="34" charset="0"/>
                <a:ea typeface="Yu Gothic" pitchFamily="34" charset="-122"/>
                <a:cs typeface="Yu Gothic" pitchFamily="34" charset="-120"/>
              </a:rPr>
              <a:t>c</a:t>
            </a:r>
            <a:pPr indent="0" marL="0">
              <a:buNone/>
            </a:pPr>
            <a:r>
              <a:rPr lang="en-US" sz="900" dirty="0">
                <a:solidFill>
                  <a:srgbClr val="333F4E"/>
                </a:solidFill>
                <a:latin typeface="Yu Gothic" pitchFamily="34" charset="0"/>
                <a:ea typeface="Yu Gothic" pitchFamily="34" charset="-122"/>
                <a:cs typeface="Yu Gothic" pitchFamily="34" charset="-120"/>
              </a:rPr>
              <a:t>：隅cの重み　y</a:t>
            </a:r>
            <a:pPr indent="0" marL="0">
              <a:buNone/>
            </a:pPr>
            <a:r>
              <a:rPr lang="en-US" sz="900" baseline="-40000" dirty="0">
                <a:solidFill>
                  <a:srgbClr val="333F4E"/>
                </a:solidFill>
                <a:latin typeface="Yu Gothic" pitchFamily="34" charset="0"/>
                <a:ea typeface="Yu Gothic" pitchFamily="34" charset="-122"/>
                <a:cs typeface="Yu Gothic" pitchFamily="34" charset="-120"/>
              </a:rPr>
              <a:t>k</a:t>
            </a:r>
            <a:pPr indent="0" marL="0">
              <a:buNone/>
            </a:pPr>
            <a:r>
              <a:rPr lang="en-US" sz="900" dirty="0">
                <a:solidFill>
                  <a:srgbClr val="333F4E"/>
                </a:solidFill>
                <a:latin typeface="Yu Gothic" pitchFamily="34" charset="0"/>
                <a:ea typeface="Yu Gothic" pitchFamily="34" charset="-122"/>
                <a:cs typeface="Yu Gothic" pitchFamily="34" charset="-120"/>
              </a:rPr>
              <a:t>(A</a:t>
            </a:r>
            <a:pPr indent="0" marL="0">
              <a:buNone/>
            </a:pPr>
            <a:r>
              <a:rPr lang="en-US" sz="900" baseline="-40000" dirty="0">
                <a:solidFill>
                  <a:srgbClr val="333F4E"/>
                </a:solidFill>
                <a:latin typeface="Yu Gothic" pitchFamily="34" charset="0"/>
                <a:ea typeface="Yu Gothic" pitchFamily="34" charset="-122"/>
                <a:cs typeface="Yu Gothic" pitchFamily="34" charset="-120"/>
              </a:rPr>
              <a:t>c</a:t>
            </a:r>
            <a:pPr indent="0" marL="0">
              <a:buNone/>
            </a:pPr>
            <a:r>
              <a:rPr lang="en-US" sz="900" dirty="0">
                <a:solidFill>
                  <a:srgbClr val="333F4E"/>
                </a:solidFill>
                <a:latin typeface="Yu Gothic" pitchFamily="34" charset="0"/>
                <a:ea typeface="Yu Gothic" pitchFamily="34" charset="-122"/>
                <a:cs typeface="Yu Gothic" pitchFamily="34" charset="-120"/>
              </a:rPr>
              <a:t>,D</a:t>
            </a:r>
            <a:pPr indent="0" marL="0">
              <a:buNone/>
            </a:pPr>
            <a:r>
              <a:rPr lang="en-US" sz="900" baseline="-40000" dirty="0">
                <a:solidFill>
                  <a:srgbClr val="333F4E"/>
                </a:solidFill>
                <a:latin typeface="Yu Gothic" pitchFamily="34" charset="0"/>
                <a:ea typeface="Yu Gothic" pitchFamily="34" charset="-122"/>
                <a:cs typeface="Yu Gothic" pitchFamily="34" charset="-120"/>
              </a:rPr>
              <a:t>c</a:t>
            </a:r>
            <a:pPr indent="0" marL="0">
              <a:buNone/>
            </a:pPr>
            <a:r>
              <a:rPr lang="en-US" sz="900" dirty="0">
                <a:solidFill>
                  <a:srgbClr val="333F4E"/>
                </a:solidFill>
                <a:latin typeface="Yu Gothic" pitchFamily="34" charset="0"/>
                <a:ea typeface="Yu Gothic" pitchFamily="34" charset="-122"/>
                <a:cs typeface="Yu Gothic" pitchFamily="34" charset="-120"/>
              </a:rPr>
              <a:t>)：隅cに保存した帯kの値　ŷ</a:t>
            </a:r>
            <a:pPr indent="0" marL="0">
              <a:buNone/>
            </a:pPr>
            <a:r>
              <a:rPr lang="en-US" sz="900" baseline="-40000" dirty="0">
                <a:solidFill>
                  <a:srgbClr val="333F4E"/>
                </a:solidFill>
                <a:latin typeface="Yu Gothic" pitchFamily="34" charset="0"/>
                <a:ea typeface="Yu Gothic" pitchFamily="34" charset="-122"/>
                <a:cs typeface="Yu Gothic" pitchFamily="34" charset="-120"/>
              </a:rPr>
              <a:t>k</a:t>
            </a:r>
            <a:pPr indent="0" marL="0">
              <a:buNone/>
            </a:pPr>
            <a:r>
              <a:rPr lang="en-US" sz="900" dirty="0">
                <a:solidFill>
                  <a:srgbClr val="333F4E"/>
                </a:solidFill>
                <a:latin typeface="Yu Gothic" pitchFamily="34" charset="0"/>
                <a:ea typeface="Yu Gothic" pitchFamily="34" charset="-122"/>
                <a:cs typeface="Yu Gothic" pitchFamily="34" charset="-120"/>
              </a:rPr>
              <a:t>：帯kの予測値（^は予測）</a:t>
            </a:r>
            <a:endParaRPr lang="en-US" sz="900" dirty="0"/>
          </a:p>
        </p:txBody>
      </p:sp>
      <p:sp>
        <p:nvSpPr>
          <p:cNvPr id="26" name="Shape 23"/>
          <p:cNvSpPr/>
          <p:nvPr/>
        </p:nvSpPr>
        <p:spPr>
          <a:xfrm>
            <a:off x="6172200" y="1481328"/>
            <a:ext cx="5577840" cy="4828032"/>
          </a:xfrm>
          <a:prstGeom prst="roundRect">
            <a:avLst>
              <a:gd name="adj" fmla="val 1136"/>
            </a:avLst>
          </a:prstGeom>
          <a:solidFill>
            <a:srgbClr val="FFFFFF"/>
          </a:solidFill>
          <a:ln w="9525">
            <a:solidFill>
              <a:srgbClr val="DCE1E7"/>
            </a:solidFill>
            <a:prstDash val="solid"/>
          </a:ln>
        </p:spPr>
      </p:sp>
      <p:sp>
        <p:nvSpPr>
          <p:cNvPr id="27" name="Text 24"/>
          <p:cNvSpPr txBox="1"/>
          <p:nvPr/>
        </p:nvSpPr>
        <p:spPr>
          <a:xfrm>
            <a:off x="6309360" y="1536192"/>
            <a:ext cx="53035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ステップ4〜5：重みで混ぜる</a:t>
            </a:r>
            <a:endParaRPr lang="en-US" sz="1200" dirty="0"/>
          </a:p>
        </p:txBody>
      </p:sp>
      <p:sp>
        <p:nvSpPr>
          <p:cNvPr id="28" name="Shape 25"/>
          <p:cNvSpPr/>
          <p:nvPr/>
        </p:nvSpPr>
        <p:spPr>
          <a:xfrm>
            <a:off x="6309360" y="1874520"/>
            <a:ext cx="5303520" cy="868680"/>
          </a:xfrm>
          <a:prstGeom prst="roundRect">
            <a:avLst>
              <a:gd name="adj" fmla="val 5263"/>
            </a:avLst>
          </a:prstGeom>
          <a:solidFill>
            <a:srgbClr val="1B2A44"/>
          </a:solidFill>
          <a:ln/>
        </p:spPr>
      </p:sp>
      <p:sp>
        <p:nvSpPr>
          <p:cNvPr id="29" name="Text 26"/>
          <p:cNvSpPr txBox="1"/>
          <p:nvPr/>
        </p:nvSpPr>
        <p:spPr>
          <a:xfrm>
            <a:off x="6400800" y="1901952"/>
            <a:ext cx="5120640" cy="402336"/>
          </a:xfrm>
          <a:prstGeom prst="rect">
            <a:avLst/>
          </a:prstGeom>
          <a:noFill/>
          <a:ln/>
        </p:spPr>
        <p:txBody>
          <a:bodyPr wrap="square" lIns="508" tIns="508" rIns="508" bIns="508"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ŷ</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k</a:t>
            </a:r>
            <a:pPr algn="ctr" indent="0" marL="0">
              <a:buNone/>
            </a:pPr>
            <a:r>
              <a:rPr lang="en-US" sz="1400" b="1" dirty="0">
                <a:solidFill>
                  <a:srgbClr val="FFFFFF"/>
                </a:solidFill>
                <a:latin typeface="Yu Gothic" pitchFamily="34" charset="0"/>
                <a:ea typeface="Yu Gothic" pitchFamily="34" charset="-122"/>
                <a:cs typeface="Yu Gothic" pitchFamily="34" charset="-120"/>
              </a:rPr>
              <a:t> ＝ Σ</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c=1</a:t>
            </a:r>
            <a:pPr algn="ctr" indent="0" marL="0">
              <a:buNone/>
            </a:pPr>
            <a:r>
              <a:rPr lang="en-US" sz="1400" b="1" baseline="30000" dirty="0">
                <a:solidFill>
                  <a:srgbClr val="FFFFFF"/>
                </a:solidFill>
                <a:latin typeface="Yu Gothic" pitchFamily="34" charset="0"/>
                <a:ea typeface="Yu Gothic" pitchFamily="34" charset="-122"/>
                <a:cs typeface="Yu Gothic" pitchFamily="34" charset="-120"/>
              </a:rPr>
              <a:t>4</a:t>
            </a:r>
            <a:pPr algn="ctr" indent="0" marL="0">
              <a:buNone/>
            </a:pPr>
            <a:r>
              <a:rPr lang="en-US" sz="1400" b="1" dirty="0">
                <a:solidFill>
                  <a:srgbClr val="FFFFFF"/>
                </a:solidFill>
                <a:latin typeface="Yu Gothic" pitchFamily="34" charset="0"/>
                <a:ea typeface="Yu Gothic" pitchFamily="34" charset="-122"/>
                <a:cs typeface="Yu Gothic" pitchFamily="34" charset="-120"/>
              </a:rPr>
              <a:t> w</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c</a:t>
            </a:r>
            <a:pPr algn="ctr" indent="0" marL="0">
              <a:buNone/>
            </a:pPr>
            <a:r>
              <a:rPr lang="en-US" sz="1400" b="1" dirty="0">
                <a:solidFill>
                  <a:srgbClr val="FFFFFF"/>
                </a:solidFill>
                <a:latin typeface="Yu Gothic" pitchFamily="34" charset="0"/>
                <a:ea typeface="Yu Gothic" pitchFamily="34" charset="-122"/>
                <a:cs typeface="Yu Gothic" pitchFamily="34" charset="-120"/>
              </a:rPr>
              <a:t> × y</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k</a:t>
            </a:r>
            <a:pPr algn="ctr" indent="0" marL="0">
              <a:buNone/>
            </a:pPr>
            <a:r>
              <a:rPr lang="en-US" sz="1400" b="1" dirty="0">
                <a:solidFill>
                  <a:srgbClr val="FFFFFF"/>
                </a:solidFill>
                <a:latin typeface="Yu Gothic" pitchFamily="34" charset="0"/>
                <a:ea typeface="Yu Gothic" pitchFamily="34" charset="-122"/>
                <a:cs typeface="Yu Gothic" pitchFamily="34" charset="-120"/>
              </a:rPr>
              <a:t>(A</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c</a:t>
            </a:r>
            <a:pPr algn="ctr" indent="0" marL="0">
              <a:buNone/>
            </a:pPr>
            <a:r>
              <a:rPr lang="en-US" sz="1400" b="1" dirty="0">
                <a:solidFill>
                  <a:srgbClr val="FFFFFF"/>
                </a:solidFill>
                <a:latin typeface="Yu Gothic" pitchFamily="34" charset="0"/>
                <a:ea typeface="Yu Gothic" pitchFamily="34" charset="-122"/>
                <a:cs typeface="Yu Gothic" pitchFamily="34" charset="-120"/>
              </a:rPr>
              <a:t>, D</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c</a:t>
            </a:r>
            <a:pPr algn="ctr" indent="0" marL="0">
              <a:buNone/>
            </a:pPr>
            <a:r>
              <a:rPr lang="en-US" sz="1400" b="1" dirty="0">
                <a:solidFill>
                  <a:srgbClr val="FFFFFF"/>
                </a:solidFill>
                <a:latin typeface="Yu Gothic" pitchFamily="34" charset="0"/>
                <a:ea typeface="Yu Gothic" pitchFamily="34" charset="-122"/>
                <a:cs typeface="Yu Gothic" pitchFamily="34" charset="-120"/>
              </a:rPr>
              <a:t>)</a:t>
            </a:r>
            <a:endParaRPr lang="en-US" sz="1400" dirty="0"/>
          </a:p>
        </p:txBody>
      </p:sp>
      <p:sp>
        <p:nvSpPr>
          <p:cNvPr id="30" name="Text 27"/>
          <p:cNvSpPr txBox="1"/>
          <p:nvPr/>
        </p:nvSpPr>
        <p:spPr>
          <a:xfrm>
            <a:off x="6400800" y="2304288"/>
            <a:ext cx="5120640" cy="384048"/>
          </a:xfrm>
          <a:prstGeom prst="rect">
            <a:avLst/>
          </a:prstGeom>
          <a:noFill/>
          <a:ln/>
        </p:spPr>
        <p:txBody>
          <a:bodyPr wrap="square" lIns="508" tIns="508" rIns="508" bIns="508" rtlCol="0" anchor="ctr"/>
          <a:lstStyle/>
          <a:p>
            <a:pPr algn="ctr" indent="0" marL="0">
              <a:buNone/>
            </a:pPr>
            <a:r>
              <a:rPr lang="en-US" sz="1000" dirty="0">
                <a:solidFill>
                  <a:srgbClr val="CADCFC"/>
                </a:solidFill>
                <a:latin typeface="Yu Gothic" pitchFamily="34" charset="0"/>
                <a:ea typeface="Yu Gothic" pitchFamily="34" charset="-122"/>
                <a:cs typeface="Yu Gothic" pitchFamily="34" charset="-120"/>
              </a:rPr>
              <a:t>Σ</a:t>
            </a:r>
            <a:pPr algn="ctr" indent="0" marL="0">
              <a:buNone/>
            </a:pPr>
            <a:r>
              <a:rPr lang="en-US" sz="1000" baseline="-40000" dirty="0">
                <a:solidFill>
                  <a:srgbClr val="CADCFC"/>
                </a:solidFill>
                <a:latin typeface="Yu Gothic" pitchFamily="34" charset="0"/>
                <a:ea typeface="Yu Gothic" pitchFamily="34" charset="-122"/>
                <a:cs typeface="Yu Gothic" pitchFamily="34" charset="-120"/>
              </a:rPr>
              <a:t>c=1</a:t>
            </a:r>
            <a:pPr algn="ctr" indent="0" marL="0">
              <a:buNone/>
            </a:pPr>
            <a:r>
              <a:rPr lang="en-US" sz="1000" baseline="30000" dirty="0">
                <a:solidFill>
                  <a:srgbClr val="CADCFC"/>
                </a:solidFill>
                <a:latin typeface="Yu Gothic" pitchFamily="34" charset="0"/>
                <a:ea typeface="Yu Gothic" pitchFamily="34" charset="-122"/>
                <a:cs typeface="Yu Gothic" pitchFamily="34" charset="-120"/>
              </a:rPr>
              <a:t>4</a:t>
            </a:r>
            <a:pPr algn="ctr" indent="0" marL="0">
              <a:buNone/>
            </a:pPr>
            <a:r>
              <a:rPr lang="en-US" sz="1000" dirty="0">
                <a:solidFill>
                  <a:srgbClr val="CADCFC"/>
                </a:solidFill>
                <a:latin typeface="Yu Gothic" pitchFamily="34" charset="0"/>
                <a:ea typeface="Yu Gothic" pitchFamily="34" charset="-122"/>
                <a:cs typeface="Yu Gothic" pitchFamily="34" charset="-120"/>
              </a:rPr>
              <a:t>：c に 1, 2, 3, 4 を順に入れて足す（4隅の「重み×保存値」の合計）</a:t>
            </a:r>
            <a:endParaRPr lang="en-US" sz="1000" dirty="0"/>
          </a:p>
        </p:txBody>
      </p:sp>
      <p:sp>
        <p:nvSpPr>
          <p:cNvPr id="31" name="Text 28"/>
          <p:cNvSpPr txBox="1"/>
          <p:nvPr/>
        </p:nvSpPr>
        <p:spPr>
          <a:xfrm>
            <a:off x="6309360" y="2816352"/>
            <a:ext cx="5303520" cy="5029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帯1：ŷ</a:t>
            </a:r>
            <a:pPr indent="0" marL="0">
              <a:buNone/>
            </a:pPr>
            <a:r>
              <a:rPr lang="en-US" sz="1100" b="1" baseline="-40000" dirty="0">
                <a:solidFill>
                  <a:srgbClr val="1B2A44"/>
                </a:solidFill>
                <a:latin typeface="Yu Gothic" pitchFamily="34" charset="0"/>
                <a:ea typeface="Yu Gothic" pitchFamily="34" charset="-122"/>
                <a:cs typeface="Yu Gothic" pitchFamily="34" charset="-120"/>
              </a:rPr>
              <a:t>1</a:t>
            </a:r>
            <a:pPr indent="0" marL="0">
              <a:buNone/>
            </a:pPr>
            <a:r>
              <a:rPr lang="en-US" sz="1100" b="1" dirty="0">
                <a:solidFill>
                  <a:srgbClr val="1B2A44"/>
                </a:solidFill>
                <a:latin typeface="Yu Gothic" pitchFamily="34" charset="0"/>
                <a:ea typeface="Yu Gothic" pitchFamily="34" charset="-122"/>
                <a:cs typeface="Yu Gothic" pitchFamily="34" charset="-120"/>
              </a:rPr>
              <a:t> ＝ 0.560×337.34 ＋ 0.173×319.89</a:t>
            </a:r>
            <a:endParaRPr lang="en-US" sz="1100" dirty="0"/>
          </a:p>
          <a:p>
            <a:pPr indent="0" marL="0">
              <a:buNone/>
            </a:pPr>
            <a:r>
              <a:rPr lang="en-US" sz="1100" b="1" dirty="0">
                <a:solidFill>
                  <a:srgbClr val="C56A2C"/>
                </a:solidFill>
                <a:latin typeface="Yu Gothic" pitchFamily="34" charset="0"/>
                <a:ea typeface="Yu Gothic" pitchFamily="34" charset="-122"/>
                <a:cs typeface="Yu Gothic" pitchFamily="34" charset="-120"/>
              </a:rPr>
              <a:t>　　　　 ＋ 0.204×589.57 ＋ 0.063×535.49 ＝ 398.18</a:t>
            </a:r>
            <a:endParaRPr lang="en-US" sz="11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309360" y="3401568"/>
          <a:ext cx="5303520" cy="914400"/>
        </p:xfrm>
        <a:graphic>
          <a:graphicData uri="http://schemas.openxmlformats.org/drawingml/2006/table">
            <a:tbl>
              <a:tblPr/>
              <a:tblGrid>
                <a:gridCol w="822960"/>
                <a:gridCol w="868680"/>
                <a:gridCol w="868680"/>
                <a:gridCol w="868680"/>
                <a:gridCol w="868680"/>
                <a:gridCol w="1005840"/>
              </a:tblGrid>
              <a:tr h="27432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帯 k</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(50,10)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(75,10)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(50,25)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(75,25)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予測</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00" b="1" dirty="0">
                          <a:solidFill>
                            <a:srgbClr val="1F6F78"/>
                          </a:solidFill>
                          <a:latin typeface="Yu Gothic" pitchFamily="34" charset="0"/>
                          <a:ea typeface="Yu Gothic" pitchFamily="34" charset="-122"/>
                          <a:cs typeface="Yu Gothic" pitchFamily="34" charset="-120"/>
                        </a:rPr>
                        <a:t>重み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F6F78"/>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F6F78"/>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F6F78"/>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F6F78"/>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6F78"/>
                          </a:solidFill>
                          <a:latin typeface="Yu Gothic" pitchFamily="34" charset="0"/>
                          <a:ea typeface="Yu Gothic" pitchFamily="34" charset="-122"/>
                          <a:cs typeface="Yu Gothic" pitchFamily="34" charset="-120"/>
                        </a:rPr>
                        <a:t>合計1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0〜10m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337.34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319.89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589.57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535.49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398.18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10〜20m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351.22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320.20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631.33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561.20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416.13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20〜30m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382.57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323.60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697.92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585.75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449.40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30〜40m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485.55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348.50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873.24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603.63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548.25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40〜50m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867.14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357.95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1006.93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660.25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794.48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521.29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bl>
          </a:graphicData>
        </a:graphic>
      </p:graphicFrame>
      <p:sp>
        <p:nvSpPr>
          <p:cNvPr id="33" name="Text 29"/>
          <p:cNvSpPr txBox="1"/>
          <p:nvPr/>
        </p:nvSpPr>
        <p:spPr>
          <a:xfrm>
            <a:off x="6309360" y="5669280"/>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⑤ 南面全体の平均 ＝ 5帯の平均 ＝ 521.29 kWh/m²</a:t>
            </a:r>
            <a:endParaRPr lang="en-US" sz="1100" dirty="0"/>
          </a:p>
        </p:txBody>
      </p:sp>
      <p:sp>
        <p:nvSpPr>
          <p:cNvPr id="34" name="Text 30"/>
          <p:cNvSpPr txBox="1"/>
          <p:nvPr/>
        </p:nvSpPr>
        <p:spPr>
          <a:xfrm>
            <a:off x="6309360" y="5925312"/>
            <a:ext cx="5303520" cy="36576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この条件ではSEBEを実行していないので、この値の誤差は分からない。局所改良版は A 25〜50m 用なので使えない。</a:t>
            </a:r>
            <a:endParaRPr lang="en-US" sz="9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精度の確かめ方：予測とSEBEの差を、使っていない配置で数える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代表値：検証で最も外れた A 35m・D 15m・30〜40m帯（SEBE 1,014.20，予測 861.26 kWh/m²）で式に代入する。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23 / 45</a:t>
            </a:r>
            <a:endParaRPr lang="en-US" sz="1100" dirty="0"/>
          </a:p>
        </p:txBody>
      </p:sp>
      <p:sp>
        <p:nvSpPr>
          <p:cNvPr id="10" name="Shape 8"/>
          <p:cNvSpPr/>
          <p:nvPr/>
        </p:nvSpPr>
        <p:spPr>
          <a:xfrm>
            <a:off x="457200" y="1481328"/>
            <a:ext cx="1828800" cy="731520"/>
          </a:xfrm>
          <a:prstGeom prst="chevron">
            <a:avLst/>
          </a:prstGeom>
          <a:solidFill>
            <a:srgbClr val="1B2A44"/>
          </a:solidFill>
          <a:ln/>
        </p:spPr>
      </p:sp>
      <p:sp>
        <p:nvSpPr>
          <p:cNvPr id="11" name="Text 9"/>
          <p:cNvSpPr txBox="1"/>
          <p:nvPr/>
        </p:nvSpPr>
        <p:spPr>
          <a:xfrm>
            <a:off x="731520"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学習16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表を作る</a:t>
            </a:r>
            <a:endParaRPr lang="en-US" sz="1100" dirty="0"/>
          </a:p>
        </p:txBody>
      </p:sp>
      <p:sp>
        <p:nvSpPr>
          <p:cNvPr id="12" name="Shape 10"/>
          <p:cNvSpPr/>
          <p:nvPr/>
        </p:nvSpPr>
        <p:spPr>
          <a:xfrm>
            <a:off x="2350008" y="1481328"/>
            <a:ext cx="1828800" cy="731520"/>
          </a:xfrm>
          <a:prstGeom prst="chevron">
            <a:avLst/>
          </a:prstGeom>
          <a:solidFill>
            <a:srgbClr val="1F6F78"/>
          </a:solidFill>
          <a:ln/>
        </p:spPr>
      </p:sp>
      <p:sp>
        <p:nvSpPr>
          <p:cNvPr id="13" name="Text 11"/>
          <p:cNvSpPr txBox="1"/>
          <p:nvPr/>
        </p:nvSpPr>
        <p:spPr>
          <a:xfrm>
            <a:off x="2624328"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検証8</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3手法を比較</a:t>
            </a:r>
            <a:endParaRPr lang="en-US" sz="1100" dirty="0"/>
          </a:p>
        </p:txBody>
      </p:sp>
      <p:sp>
        <p:nvSpPr>
          <p:cNvPr id="14" name="Shape 12"/>
          <p:cNvSpPr/>
          <p:nvPr/>
        </p:nvSpPr>
        <p:spPr>
          <a:xfrm>
            <a:off x="4242816" y="1481328"/>
            <a:ext cx="1828800" cy="731520"/>
          </a:xfrm>
          <a:prstGeom prst="chevron">
            <a:avLst/>
          </a:prstGeom>
          <a:solidFill>
            <a:srgbClr val="35507D"/>
          </a:solidFill>
          <a:ln/>
        </p:spPr>
      </p:sp>
      <p:sp>
        <p:nvSpPr>
          <p:cNvPr id="15" name="Text 13"/>
          <p:cNvSpPr txBox="1"/>
          <p:nvPr/>
        </p:nvSpPr>
        <p:spPr>
          <a:xfrm>
            <a:off x="4517136"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方法を固定</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ここで決定</a:t>
            </a:r>
            <a:endParaRPr lang="en-US" sz="1100" dirty="0"/>
          </a:p>
        </p:txBody>
      </p:sp>
      <p:sp>
        <p:nvSpPr>
          <p:cNvPr id="16" name="Shape 14"/>
          <p:cNvSpPr/>
          <p:nvPr/>
        </p:nvSpPr>
        <p:spPr>
          <a:xfrm>
            <a:off x="6135624" y="1481328"/>
            <a:ext cx="1828800" cy="731520"/>
          </a:xfrm>
          <a:prstGeom prst="chevron">
            <a:avLst/>
          </a:prstGeom>
          <a:solidFill>
            <a:srgbClr val="E8934D"/>
          </a:solidFill>
          <a:ln/>
        </p:spPr>
      </p:sp>
      <p:sp>
        <p:nvSpPr>
          <p:cNvPr id="17" name="Text 15"/>
          <p:cNvSpPr txBox="1"/>
          <p:nvPr/>
        </p:nvSpPr>
        <p:spPr>
          <a:xfrm>
            <a:off x="6409944"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テスト12</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最終確認</a:t>
            </a:r>
            <a:endParaRPr lang="en-US" sz="1100" dirty="0"/>
          </a:p>
        </p:txBody>
      </p:sp>
      <p:sp>
        <p:nvSpPr>
          <p:cNvPr id="18" name="Shape 16"/>
          <p:cNvSpPr/>
          <p:nvPr/>
        </p:nvSpPr>
        <p:spPr>
          <a:xfrm>
            <a:off x="8028432" y="1481328"/>
            <a:ext cx="1828800" cy="731520"/>
          </a:xfrm>
          <a:prstGeom prst="chevron">
            <a:avLst/>
          </a:prstGeom>
          <a:solidFill>
            <a:srgbClr val="C56A2C"/>
          </a:solidFill>
          <a:ln/>
        </p:spPr>
      </p:sp>
      <p:sp>
        <p:nvSpPr>
          <p:cNvPr id="19" name="Text 17"/>
          <p:cNvSpPr txBox="1"/>
          <p:nvPr/>
        </p:nvSpPr>
        <p:spPr>
          <a:xfrm>
            <a:off x="8302752"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追加5</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弱点を補強</a:t>
            </a:r>
            <a:endParaRPr lang="en-US" sz="1100" dirty="0"/>
          </a:p>
        </p:txBody>
      </p:sp>
      <p:sp>
        <p:nvSpPr>
          <p:cNvPr id="20" name="Shape 18"/>
          <p:cNvSpPr/>
          <p:nvPr/>
        </p:nvSpPr>
        <p:spPr>
          <a:xfrm>
            <a:off x="9921240" y="1481328"/>
            <a:ext cx="1828800" cy="731520"/>
          </a:xfrm>
          <a:prstGeom prst="chevron">
            <a:avLst/>
          </a:prstGeom>
          <a:solidFill>
            <a:srgbClr val="4C8C6B"/>
          </a:solidFill>
          <a:ln/>
        </p:spPr>
      </p:sp>
      <p:sp>
        <p:nvSpPr>
          <p:cNvPr id="21" name="Text 19"/>
          <p:cNvSpPr txBox="1"/>
          <p:nvPr/>
        </p:nvSpPr>
        <p:spPr>
          <a:xfrm>
            <a:off x="10195560"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局所テスト6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改良前後を比較</a:t>
            </a:r>
            <a:endParaRPr lang="en-US" sz="1100" dirty="0"/>
          </a:p>
        </p:txBody>
      </p:sp>
      <p:sp>
        <p:nvSpPr>
          <p:cNvPr id="22" name="Shape 20"/>
          <p:cNvSpPr/>
          <p:nvPr/>
        </p:nvSpPr>
        <p:spPr>
          <a:xfrm>
            <a:off x="457200" y="2377440"/>
            <a:ext cx="6400800" cy="658368"/>
          </a:xfrm>
          <a:prstGeom prst="roundRect">
            <a:avLst>
              <a:gd name="adj" fmla="val 6944"/>
            </a:avLst>
          </a:prstGeom>
          <a:solidFill>
            <a:srgbClr val="F3F5F8"/>
          </a:solidFill>
          <a:ln w="9525">
            <a:solidFill>
              <a:srgbClr val="E1E5EA"/>
            </a:solidFill>
            <a:prstDash val="solid"/>
          </a:ln>
        </p:spPr>
      </p:sp>
      <p:sp>
        <p:nvSpPr>
          <p:cNvPr id="23" name="Text 21"/>
          <p:cNvSpPr txBox="1"/>
          <p:nvPr/>
        </p:nvSpPr>
        <p:spPr>
          <a:xfrm>
            <a:off x="566928" y="2423160"/>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誤差</a:t>
            </a:r>
            <a:endParaRPr lang="en-US" sz="1100" dirty="0"/>
          </a:p>
        </p:txBody>
      </p:sp>
      <p:sp>
        <p:nvSpPr>
          <p:cNvPr id="24" name="Text 22"/>
          <p:cNvSpPr txBox="1"/>
          <p:nvPr/>
        </p:nvSpPr>
        <p:spPr>
          <a:xfrm>
            <a:off x="2331720" y="2414016"/>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e ＝ ŷ − y</a:t>
            </a:r>
            <a:endParaRPr lang="en-US" sz="1150" dirty="0"/>
          </a:p>
        </p:txBody>
      </p:sp>
      <p:sp>
        <p:nvSpPr>
          <p:cNvPr id="25" name="Text 23"/>
          <p:cNvSpPr txBox="1"/>
          <p:nvPr/>
        </p:nvSpPr>
        <p:spPr>
          <a:xfrm>
            <a:off x="2331720" y="2715768"/>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861.26 − 1,014.20 ＝ −152.94（マイナス＝低く予測）</a:t>
            </a:r>
            <a:endParaRPr lang="en-US" sz="1050" dirty="0"/>
          </a:p>
        </p:txBody>
      </p:sp>
      <p:sp>
        <p:nvSpPr>
          <p:cNvPr id="26" name="Shape 24"/>
          <p:cNvSpPr/>
          <p:nvPr/>
        </p:nvSpPr>
        <p:spPr>
          <a:xfrm>
            <a:off x="457200" y="3090672"/>
            <a:ext cx="6400800" cy="658368"/>
          </a:xfrm>
          <a:prstGeom prst="roundRect">
            <a:avLst>
              <a:gd name="adj" fmla="val 6944"/>
            </a:avLst>
          </a:prstGeom>
          <a:solidFill>
            <a:srgbClr val="FFFFFF"/>
          </a:solidFill>
          <a:ln w="9525">
            <a:solidFill>
              <a:srgbClr val="E1E5EA"/>
            </a:solidFill>
            <a:prstDash val="solid"/>
          </a:ln>
        </p:spPr>
      </p:sp>
      <p:sp>
        <p:nvSpPr>
          <p:cNvPr id="27" name="Text 25"/>
          <p:cNvSpPr txBox="1"/>
          <p:nvPr/>
        </p:nvSpPr>
        <p:spPr>
          <a:xfrm>
            <a:off x="566928" y="3136392"/>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絶対誤差</a:t>
            </a:r>
            <a:endParaRPr lang="en-US" sz="1100" dirty="0"/>
          </a:p>
        </p:txBody>
      </p:sp>
      <p:sp>
        <p:nvSpPr>
          <p:cNvPr id="28" name="Text 26"/>
          <p:cNvSpPr txBox="1"/>
          <p:nvPr/>
        </p:nvSpPr>
        <p:spPr>
          <a:xfrm>
            <a:off x="2331720" y="3127248"/>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|e| ＝ |ŷ − y|</a:t>
            </a:r>
            <a:endParaRPr lang="en-US" sz="1150" dirty="0"/>
          </a:p>
        </p:txBody>
      </p:sp>
      <p:sp>
        <p:nvSpPr>
          <p:cNvPr id="29" name="Text 27"/>
          <p:cNvSpPr txBox="1"/>
          <p:nvPr/>
        </p:nvSpPr>
        <p:spPr>
          <a:xfrm>
            <a:off x="2331720" y="3429000"/>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|−152.94| ＝ 152.94 kWh/m²</a:t>
            </a:r>
            <a:endParaRPr lang="en-US" sz="1050" dirty="0"/>
          </a:p>
        </p:txBody>
      </p:sp>
      <p:sp>
        <p:nvSpPr>
          <p:cNvPr id="30" name="Shape 28"/>
          <p:cNvSpPr/>
          <p:nvPr/>
        </p:nvSpPr>
        <p:spPr>
          <a:xfrm>
            <a:off x="457200" y="3803904"/>
            <a:ext cx="6400800" cy="658368"/>
          </a:xfrm>
          <a:prstGeom prst="roundRect">
            <a:avLst>
              <a:gd name="adj" fmla="val 6944"/>
            </a:avLst>
          </a:prstGeom>
          <a:solidFill>
            <a:srgbClr val="F3F5F8"/>
          </a:solidFill>
          <a:ln w="9525">
            <a:solidFill>
              <a:srgbClr val="E1E5EA"/>
            </a:solidFill>
            <a:prstDash val="solid"/>
          </a:ln>
        </p:spPr>
      </p:sp>
      <p:sp>
        <p:nvSpPr>
          <p:cNvPr id="31" name="Text 29"/>
          <p:cNvSpPr txBox="1"/>
          <p:nvPr/>
        </p:nvSpPr>
        <p:spPr>
          <a:xfrm>
            <a:off x="566928" y="3849624"/>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誤差率</a:t>
            </a:r>
            <a:endParaRPr lang="en-US" sz="1100" dirty="0"/>
          </a:p>
        </p:txBody>
      </p:sp>
      <p:sp>
        <p:nvSpPr>
          <p:cNvPr id="32" name="Text 30"/>
          <p:cNvSpPr txBox="1"/>
          <p:nvPr/>
        </p:nvSpPr>
        <p:spPr>
          <a:xfrm>
            <a:off x="2331720" y="3840480"/>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|ŷ − y| ÷ y × 100</a:t>
            </a:r>
            <a:endParaRPr lang="en-US" sz="1150" dirty="0"/>
          </a:p>
        </p:txBody>
      </p:sp>
      <p:sp>
        <p:nvSpPr>
          <p:cNvPr id="33" name="Text 31"/>
          <p:cNvSpPr txBox="1"/>
          <p:nvPr/>
        </p:nvSpPr>
        <p:spPr>
          <a:xfrm>
            <a:off x="2331720" y="4142232"/>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152.94 ÷ 1,014.20 × 100 ＝ 15.08 %</a:t>
            </a:r>
            <a:endParaRPr lang="en-US" sz="1050" dirty="0"/>
          </a:p>
        </p:txBody>
      </p:sp>
      <p:sp>
        <p:nvSpPr>
          <p:cNvPr id="34" name="Shape 32"/>
          <p:cNvSpPr/>
          <p:nvPr/>
        </p:nvSpPr>
        <p:spPr>
          <a:xfrm>
            <a:off x="457200" y="4517136"/>
            <a:ext cx="6400800" cy="658368"/>
          </a:xfrm>
          <a:prstGeom prst="roundRect">
            <a:avLst>
              <a:gd name="adj" fmla="val 6944"/>
            </a:avLst>
          </a:prstGeom>
          <a:solidFill>
            <a:srgbClr val="FFFFFF"/>
          </a:solidFill>
          <a:ln w="9525">
            <a:solidFill>
              <a:srgbClr val="E1E5EA"/>
            </a:solidFill>
            <a:prstDash val="solid"/>
          </a:ln>
        </p:spPr>
      </p:sp>
      <p:sp>
        <p:nvSpPr>
          <p:cNvPr id="35" name="Text 33"/>
          <p:cNvSpPr txBox="1"/>
          <p:nvPr/>
        </p:nvSpPr>
        <p:spPr>
          <a:xfrm>
            <a:off x="566928" y="4562856"/>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MAE（平均絶対誤差）</a:t>
            </a:r>
            <a:endParaRPr lang="en-US" sz="1100" dirty="0"/>
          </a:p>
        </p:txBody>
      </p:sp>
      <p:sp>
        <p:nvSpPr>
          <p:cNvPr id="36" name="Text 34"/>
          <p:cNvSpPr txBox="1"/>
          <p:nvPr/>
        </p:nvSpPr>
        <p:spPr>
          <a:xfrm>
            <a:off x="2331720" y="4553712"/>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(1/N) Σ</a:t>
            </a:r>
            <a:pPr indent="0" marL="0">
              <a:buNone/>
            </a:pPr>
            <a:r>
              <a:rPr lang="en-US" sz="1150" b="1" baseline="-40000" dirty="0">
                <a:solidFill>
                  <a:srgbClr val="1B2A44"/>
                </a:solidFill>
                <a:latin typeface="Yu Gothic" pitchFamily="34" charset="0"/>
                <a:ea typeface="Yu Gothic" pitchFamily="34" charset="-122"/>
                <a:cs typeface="Yu Gothic" pitchFamily="34" charset="-120"/>
              </a:rPr>
              <a:t>j=1</a:t>
            </a:r>
            <a:pPr indent="0" marL="0">
              <a:buNone/>
            </a:pPr>
            <a:r>
              <a:rPr lang="en-US" sz="1150" b="1" baseline="30000" dirty="0">
                <a:solidFill>
                  <a:srgbClr val="1B2A44"/>
                </a:solidFill>
                <a:latin typeface="Yu Gothic" pitchFamily="34" charset="0"/>
                <a:ea typeface="Yu Gothic" pitchFamily="34" charset="-122"/>
                <a:cs typeface="Yu Gothic" pitchFamily="34" charset="-120"/>
              </a:rPr>
              <a:t>N</a:t>
            </a:r>
            <a:pPr indent="0" marL="0">
              <a:buNone/>
            </a:pPr>
            <a:r>
              <a:rPr lang="en-US" sz="1150" b="1" dirty="0">
                <a:solidFill>
                  <a:srgbClr val="1B2A44"/>
                </a:solidFill>
                <a:latin typeface="Yu Gothic" pitchFamily="34" charset="0"/>
                <a:ea typeface="Yu Gothic" pitchFamily="34" charset="-122"/>
                <a:cs typeface="Yu Gothic" pitchFamily="34" charset="-120"/>
              </a:rPr>
              <a:t> |ŷ</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y</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a:t>
            </a:r>
            <a:endParaRPr lang="en-US" sz="1150" dirty="0"/>
          </a:p>
        </p:txBody>
      </p:sp>
      <p:sp>
        <p:nvSpPr>
          <p:cNvPr id="37" name="Text 35"/>
          <p:cNvSpPr txBox="1"/>
          <p:nvPr/>
        </p:nvSpPr>
        <p:spPr>
          <a:xfrm>
            <a:off x="2331720" y="4855464"/>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検証8配置：(|e</a:t>
            </a:r>
            <a:pPr indent="0" marL="0">
              <a:buNone/>
            </a:pPr>
            <a:r>
              <a:rPr lang="en-US" sz="1050" b="1" baseline="-40000" dirty="0">
                <a:solidFill>
                  <a:srgbClr val="C56A2C"/>
                </a:solidFill>
                <a:latin typeface="Yu Gothic" pitchFamily="34" charset="0"/>
                <a:ea typeface="Yu Gothic" pitchFamily="34" charset="-122"/>
                <a:cs typeface="Yu Gothic" pitchFamily="34" charset="-120"/>
              </a:rPr>
              <a:t>1</a:t>
            </a:r>
            <a:pPr indent="0" marL="0">
              <a:buNone/>
            </a:pPr>
            <a:r>
              <a:rPr lang="en-US" sz="1050" b="1" dirty="0">
                <a:solidFill>
                  <a:srgbClr val="C56A2C"/>
                </a:solidFill>
                <a:latin typeface="Yu Gothic" pitchFamily="34" charset="0"/>
                <a:ea typeface="Yu Gothic" pitchFamily="34" charset="-122"/>
                <a:cs typeface="Yu Gothic" pitchFamily="34" charset="-120"/>
              </a:rPr>
              <a:t>|＋…＋|e</a:t>
            </a:r>
            <a:pPr indent="0" marL="0">
              <a:buNone/>
            </a:pPr>
            <a:r>
              <a:rPr lang="en-US" sz="1050" b="1" baseline="-40000" dirty="0">
                <a:solidFill>
                  <a:srgbClr val="C56A2C"/>
                </a:solidFill>
                <a:latin typeface="Yu Gothic" pitchFamily="34" charset="0"/>
                <a:ea typeface="Yu Gothic" pitchFamily="34" charset="-122"/>
                <a:cs typeface="Yu Gothic" pitchFamily="34" charset="-120"/>
              </a:rPr>
              <a:t>8</a:t>
            </a:r>
            <a:pPr indent="0" marL="0">
              <a:buNone/>
            </a:pPr>
            <a:r>
              <a:rPr lang="en-US" sz="1050" b="1" dirty="0">
                <a:solidFill>
                  <a:srgbClr val="C56A2C"/>
                </a:solidFill>
                <a:latin typeface="Yu Gothic" pitchFamily="34" charset="0"/>
                <a:ea typeface="Yu Gothic" pitchFamily="34" charset="-122"/>
                <a:cs typeface="Yu Gothic" pitchFamily="34" charset="-120"/>
              </a:rPr>
              <a:t>|) ÷ 8 ＝ 159.92 ÷ 8 ＝ 19.99</a:t>
            </a:r>
            <a:endParaRPr lang="en-US" sz="1050" dirty="0"/>
          </a:p>
        </p:txBody>
      </p:sp>
      <p:sp>
        <p:nvSpPr>
          <p:cNvPr id="38" name="Shape 36"/>
          <p:cNvSpPr/>
          <p:nvPr/>
        </p:nvSpPr>
        <p:spPr>
          <a:xfrm>
            <a:off x="457200" y="5230368"/>
            <a:ext cx="6400800" cy="658368"/>
          </a:xfrm>
          <a:prstGeom prst="roundRect">
            <a:avLst>
              <a:gd name="adj" fmla="val 6944"/>
            </a:avLst>
          </a:prstGeom>
          <a:solidFill>
            <a:srgbClr val="F3F5F8"/>
          </a:solidFill>
          <a:ln w="9525">
            <a:solidFill>
              <a:srgbClr val="E1E5EA"/>
            </a:solidFill>
            <a:prstDash val="solid"/>
          </a:ln>
        </p:spPr>
      </p:sp>
      <p:sp>
        <p:nvSpPr>
          <p:cNvPr id="39" name="Text 37"/>
          <p:cNvSpPr txBox="1"/>
          <p:nvPr/>
        </p:nvSpPr>
        <p:spPr>
          <a:xfrm>
            <a:off x="566928" y="5276088"/>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平均誤差率</a:t>
            </a:r>
            <a:endParaRPr lang="en-US" sz="1100" dirty="0"/>
          </a:p>
        </p:txBody>
      </p:sp>
      <p:sp>
        <p:nvSpPr>
          <p:cNvPr id="40" name="Text 38"/>
          <p:cNvSpPr txBox="1"/>
          <p:nvPr/>
        </p:nvSpPr>
        <p:spPr>
          <a:xfrm>
            <a:off x="2331720" y="5266944"/>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(100/N) Σ</a:t>
            </a:r>
            <a:pPr indent="0" marL="0">
              <a:buNone/>
            </a:pPr>
            <a:r>
              <a:rPr lang="en-US" sz="1150" b="1" baseline="-40000" dirty="0">
                <a:solidFill>
                  <a:srgbClr val="1B2A44"/>
                </a:solidFill>
                <a:latin typeface="Yu Gothic" pitchFamily="34" charset="0"/>
                <a:ea typeface="Yu Gothic" pitchFamily="34" charset="-122"/>
                <a:cs typeface="Yu Gothic" pitchFamily="34" charset="-120"/>
              </a:rPr>
              <a:t>j=1</a:t>
            </a:r>
            <a:pPr indent="0" marL="0">
              <a:buNone/>
            </a:pPr>
            <a:r>
              <a:rPr lang="en-US" sz="1150" b="1" baseline="30000" dirty="0">
                <a:solidFill>
                  <a:srgbClr val="1B2A44"/>
                </a:solidFill>
                <a:latin typeface="Yu Gothic" pitchFamily="34" charset="0"/>
                <a:ea typeface="Yu Gothic" pitchFamily="34" charset="-122"/>
                <a:cs typeface="Yu Gothic" pitchFamily="34" charset="-120"/>
              </a:rPr>
              <a:t>N</a:t>
            </a:r>
            <a:pPr indent="0" marL="0">
              <a:buNone/>
            </a:pPr>
            <a:r>
              <a:rPr lang="en-US" sz="1150" b="1" dirty="0">
                <a:solidFill>
                  <a:srgbClr val="1B2A44"/>
                </a:solidFill>
                <a:latin typeface="Yu Gothic" pitchFamily="34" charset="0"/>
                <a:ea typeface="Yu Gothic" pitchFamily="34" charset="-122"/>
                <a:cs typeface="Yu Gothic" pitchFamily="34" charset="-120"/>
              </a:rPr>
              <a:t> |ŷ</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y</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y</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endParaRPr lang="en-US" sz="1150" dirty="0"/>
          </a:p>
        </p:txBody>
      </p:sp>
      <p:sp>
        <p:nvSpPr>
          <p:cNvPr id="41" name="Text 39"/>
          <p:cNvSpPr txBox="1"/>
          <p:nvPr/>
        </p:nvSpPr>
        <p:spPr>
          <a:xfrm>
            <a:off x="2331720" y="5568696"/>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検証8配置：2.67 %</a:t>
            </a:r>
            <a:endParaRPr lang="en-US" sz="1050" dirty="0"/>
          </a:p>
        </p:txBody>
      </p:sp>
      <p:sp>
        <p:nvSpPr>
          <p:cNvPr id="42" name="Text 40"/>
          <p:cNvSpPr txBox="1"/>
          <p:nvPr/>
        </p:nvSpPr>
        <p:spPr>
          <a:xfrm>
            <a:off x="457200" y="5888736"/>
            <a:ext cx="6400800" cy="420624"/>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記号　</a:t>
            </a:r>
            <a:pPr indent="0" marL="0">
              <a:buNone/>
            </a:pPr>
            <a:r>
              <a:rPr lang="en-US" sz="900" dirty="0">
                <a:solidFill>
                  <a:srgbClr val="333F4E"/>
                </a:solidFill>
                <a:latin typeface="Yu Gothic" pitchFamily="34" charset="0"/>
                <a:ea typeface="Yu Gothic" pitchFamily="34" charset="-122"/>
                <a:cs typeface="Yu Gothic" pitchFamily="34" charset="-120"/>
              </a:rPr>
              <a:t>y：正解値（SEBE）　ŷ：予測値　e：誤差　j：比べる値の番号　N：比べた値の数　Σ</a:t>
            </a:r>
            <a:pPr indent="0" marL="0">
              <a:buNone/>
            </a:pPr>
            <a:r>
              <a:rPr lang="en-US" sz="900" baseline="-40000" dirty="0">
                <a:solidFill>
                  <a:srgbClr val="333F4E"/>
                </a:solidFill>
                <a:latin typeface="Yu Gothic" pitchFamily="34" charset="0"/>
                <a:ea typeface="Yu Gothic" pitchFamily="34" charset="-122"/>
                <a:cs typeface="Yu Gothic" pitchFamily="34" charset="-120"/>
              </a:rPr>
              <a:t>j=1</a:t>
            </a:r>
            <a:pPr indent="0" marL="0">
              <a:buNone/>
            </a:pPr>
            <a:r>
              <a:rPr lang="en-US" sz="900" baseline="30000" dirty="0">
                <a:solidFill>
                  <a:srgbClr val="333F4E"/>
                </a:solidFill>
                <a:latin typeface="Yu Gothic" pitchFamily="34" charset="0"/>
                <a:ea typeface="Yu Gothic" pitchFamily="34" charset="-122"/>
                <a:cs typeface="Yu Gothic" pitchFamily="34" charset="-120"/>
              </a:rPr>
              <a:t>N</a:t>
            </a:r>
            <a:pPr indent="0" marL="0">
              <a:buNone/>
            </a:pPr>
            <a:r>
              <a:rPr lang="en-US" sz="900" dirty="0">
                <a:solidFill>
                  <a:srgbClr val="333F4E"/>
                </a:solidFill>
                <a:latin typeface="Yu Gothic" pitchFamily="34" charset="0"/>
                <a:ea typeface="Yu Gothic" pitchFamily="34" charset="-122"/>
                <a:cs typeface="Yu Gothic" pitchFamily="34" charset="-120"/>
              </a:rPr>
              <a:t>：1〜N件目を順に足す　max</a:t>
            </a:r>
            <a:pPr indent="0" marL="0">
              <a:buNone/>
            </a:pPr>
            <a:r>
              <a:rPr lang="en-US" sz="900" baseline="-40000" dirty="0">
                <a:solidFill>
                  <a:srgbClr val="333F4E"/>
                </a:solidFill>
                <a:latin typeface="Yu Gothic" pitchFamily="34" charset="0"/>
                <a:ea typeface="Yu Gothic" pitchFamily="34" charset="-122"/>
                <a:cs typeface="Yu Gothic" pitchFamily="34" charset="-120"/>
              </a:rPr>
              <a:t>j</a:t>
            </a:r>
            <a:pPr indent="0" marL="0">
              <a:buNone/>
            </a:pPr>
            <a:r>
              <a:rPr lang="en-US" sz="900" dirty="0">
                <a:solidFill>
                  <a:srgbClr val="333F4E"/>
                </a:solidFill>
                <a:latin typeface="Yu Gothic" pitchFamily="34" charset="0"/>
                <a:ea typeface="Yu Gothic" pitchFamily="34" charset="-122"/>
                <a:cs typeface="Yu Gothic" pitchFamily="34" charset="-120"/>
              </a:rPr>
              <a:t>：一番大きいもの</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086600" y="2377440"/>
          <a:ext cx="4663440" cy="914400"/>
        </p:xfrm>
        <a:graphic>
          <a:graphicData uri="http://schemas.openxmlformats.org/drawingml/2006/table">
            <a:tbl>
              <a:tblPr/>
              <a:tblGrid>
                <a:gridCol w="1371600"/>
                <a:gridCol w="1600200"/>
                <a:gridCol w="365760"/>
                <a:gridCol w="1325880"/>
              </a:tblGrid>
              <a:tr h="384048">
                <a:tc>
                  <a:txBody>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評価の目的</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使ったデータ</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N</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結果</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手法の比較（検証）</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検証8配置・全体平均</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8</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MAE 19.99・2.67%</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最終確認（テスト）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テスト12配置・全体平均</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MAE 18.40・2.42%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高さ帯別の弱点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検証8配置 × 5帯</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30〜40m帯 MAE 38.56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局所改良の確認</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局所テスト6配置 × 5帯</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MAE 43.50→17.81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44" name="Shape 41"/>
          <p:cNvSpPr/>
          <p:nvPr/>
        </p:nvSpPr>
        <p:spPr>
          <a:xfrm>
            <a:off x="7086600" y="4434840"/>
            <a:ext cx="4663440" cy="1874520"/>
          </a:xfrm>
          <a:prstGeom prst="roundRect">
            <a:avLst>
              <a:gd name="adj" fmla="val 2927"/>
            </a:avLst>
          </a:prstGeom>
          <a:solidFill>
            <a:srgbClr val="FBEBDA"/>
          </a:solidFill>
          <a:ln/>
        </p:spPr>
      </p:sp>
      <p:sp>
        <p:nvSpPr>
          <p:cNvPr id="45" name="Text 42"/>
          <p:cNvSpPr txBox="1"/>
          <p:nvPr/>
        </p:nvSpPr>
        <p:spPr>
          <a:xfrm>
            <a:off x="7223760" y="4526280"/>
            <a:ext cx="438912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読み方の注意</a:t>
            </a:r>
            <a:endParaRPr lang="en-US" sz="1100" dirty="0"/>
          </a:p>
        </p:txBody>
      </p:sp>
      <p:sp>
        <p:nvSpPr>
          <p:cNvPr id="46" name="Text 43"/>
          <p:cNvSpPr txBox="1"/>
          <p:nvPr/>
        </p:nvSpPr>
        <p:spPr>
          <a:xfrm>
            <a:off x="7223760" y="4782312"/>
            <a:ext cx="4434840" cy="1463040"/>
          </a:xfrm>
          <a:prstGeom prst="rect">
            <a:avLst/>
          </a:prstGeom>
          <a:noFill/>
          <a:ln/>
        </p:spPr>
        <p:txBody>
          <a:bodyPr wrap="square" lIns="508" tIns="508" rIns="508" bIns="508" rtlCol="0" anchor="t"/>
          <a:lstStyle/>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テストデータは方法を決めた後にだけ使った（結果を見て方法を変えていない）</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 5帯」の N は値の数で、配置の数ではない</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数値はSEBEとの比較。実測日射量や発電量の精度ではない</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8件の絶対誤差の合計 159.92 は MAE 19.99×8 で逆算した値</a:t>
            </a:r>
            <a:endParaRPr lang="en-US" sz="10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追加した5配置の決め方：誤差の大きい格子を3×3に細かくした</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追加は計算前に計画していた（sebe_refinement/README.txt に追加5配置・局所格子・確認用6配置を記載）。</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24 / 45</a:t>
            </a:r>
            <a:endParaRPr lang="en-US" sz="1100" dirty="0"/>
          </a:p>
        </p:txBody>
      </p:sp>
      <p:sp>
        <p:nvSpPr>
          <p:cNvPr id="10" name="Shape 8"/>
          <p:cNvSpPr/>
          <p:nvPr/>
        </p:nvSpPr>
        <p:spPr>
          <a:xfrm>
            <a:off x="457200" y="1481328"/>
            <a:ext cx="5394960" cy="841248"/>
          </a:xfrm>
          <a:prstGeom prst="roundRect">
            <a:avLst>
              <a:gd name="adj" fmla="val 5435"/>
            </a:avLst>
          </a:prstGeom>
          <a:solidFill>
            <a:srgbClr val="F3F5F8"/>
          </a:solidFill>
          <a:ln/>
        </p:spPr>
      </p:sp>
      <p:sp>
        <p:nvSpPr>
          <p:cNvPr id="11" name="Shape 9"/>
          <p:cNvSpPr/>
          <p:nvPr/>
        </p:nvSpPr>
        <p:spPr>
          <a:xfrm>
            <a:off x="594360" y="1591056"/>
            <a:ext cx="310896" cy="310896"/>
          </a:xfrm>
          <a:prstGeom prst="ellipse">
            <a:avLst/>
          </a:prstGeom>
          <a:solidFill>
            <a:srgbClr val="1F6F78"/>
          </a:solidFill>
          <a:ln/>
        </p:spPr>
      </p:sp>
      <p:sp>
        <p:nvSpPr>
          <p:cNvPr id="12" name="Text 10"/>
          <p:cNvSpPr txBox="1"/>
          <p:nvPr/>
        </p:nvSpPr>
        <p:spPr>
          <a:xfrm>
            <a:off x="594360" y="1591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54480"/>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誤差が大きい場所を見つける</a:t>
            </a:r>
            <a:endParaRPr lang="en-US" sz="1150" dirty="0"/>
          </a:p>
        </p:txBody>
      </p:sp>
      <p:sp>
        <p:nvSpPr>
          <p:cNvPr id="14" name="Text 12"/>
          <p:cNvSpPr txBox="1"/>
          <p:nvPr/>
        </p:nvSpPr>
        <p:spPr>
          <a:xfrm>
            <a:off x="1005840" y="1828800"/>
            <a:ext cx="4754880" cy="47548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検証8配置のうち A＝35m・D＝15m の30〜40m帯で最大誤差（SEBE 1,014.20 → 予測 861.26、差152.94・15.08%）</a:t>
            </a:r>
            <a:endParaRPr lang="en-US" sz="1000" dirty="0"/>
          </a:p>
        </p:txBody>
      </p:sp>
      <p:sp>
        <p:nvSpPr>
          <p:cNvPr id="15" name="Shape 13"/>
          <p:cNvSpPr/>
          <p:nvPr/>
        </p:nvSpPr>
        <p:spPr>
          <a:xfrm>
            <a:off x="457200" y="2414016"/>
            <a:ext cx="5394960" cy="841248"/>
          </a:xfrm>
          <a:prstGeom prst="roundRect">
            <a:avLst>
              <a:gd name="adj" fmla="val 5435"/>
            </a:avLst>
          </a:prstGeom>
          <a:solidFill>
            <a:srgbClr val="F3F5F8"/>
          </a:solidFill>
          <a:ln/>
        </p:spPr>
      </p:sp>
      <p:sp>
        <p:nvSpPr>
          <p:cNvPr id="16" name="Shape 14"/>
          <p:cNvSpPr/>
          <p:nvPr/>
        </p:nvSpPr>
        <p:spPr>
          <a:xfrm>
            <a:off x="594360" y="2523744"/>
            <a:ext cx="310896" cy="310896"/>
          </a:xfrm>
          <a:prstGeom prst="ellipse">
            <a:avLst/>
          </a:prstGeom>
          <a:solidFill>
            <a:srgbClr val="1F6F78"/>
          </a:solidFill>
          <a:ln/>
        </p:spPr>
      </p:sp>
      <p:sp>
        <p:nvSpPr>
          <p:cNvPr id="17" name="Text 15"/>
          <p:cNvSpPr txBox="1"/>
          <p:nvPr/>
        </p:nvSpPr>
        <p:spPr>
          <a:xfrm>
            <a:off x="594360" y="25237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8" name="Text 16"/>
          <p:cNvSpPr txBox="1"/>
          <p:nvPr/>
        </p:nvSpPr>
        <p:spPr>
          <a:xfrm>
            <a:off x="1005840" y="2487168"/>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その点を囲む既存の格子を選ぶ</a:t>
            </a:r>
            <a:endParaRPr lang="en-US" sz="1150" dirty="0"/>
          </a:p>
        </p:txBody>
      </p:sp>
      <p:sp>
        <p:nvSpPr>
          <p:cNvPr id="19" name="Text 17"/>
          <p:cNvSpPr txBox="1"/>
          <p:nvPr/>
        </p:nvSpPr>
        <p:spPr>
          <a:xfrm>
            <a:off x="1005840" y="2761488"/>
            <a:ext cx="4754880" cy="47548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25 ≤ A ≤ 50，10 ≤ D ≤ 25 → 既存の4隅 (25,10)(25,25)(50,10)(50,25) を再利用</a:t>
            </a:r>
            <a:endParaRPr lang="en-US" sz="1000" dirty="0"/>
          </a:p>
        </p:txBody>
      </p:sp>
      <p:sp>
        <p:nvSpPr>
          <p:cNvPr id="20" name="Shape 18"/>
          <p:cNvSpPr/>
          <p:nvPr/>
        </p:nvSpPr>
        <p:spPr>
          <a:xfrm>
            <a:off x="457200" y="3346704"/>
            <a:ext cx="5394960" cy="841248"/>
          </a:xfrm>
          <a:prstGeom prst="roundRect">
            <a:avLst>
              <a:gd name="adj" fmla="val 5435"/>
            </a:avLst>
          </a:prstGeom>
          <a:solidFill>
            <a:srgbClr val="F3F5F8"/>
          </a:solidFill>
          <a:ln/>
        </p:spPr>
      </p:sp>
      <p:sp>
        <p:nvSpPr>
          <p:cNvPr id="21" name="Shape 19"/>
          <p:cNvSpPr/>
          <p:nvPr/>
        </p:nvSpPr>
        <p:spPr>
          <a:xfrm>
            <a:off x="594360" y="3456432"/>
            <a:ext cx="310896" cy="310896"/>
          </a:xfrm>
          <a:prstGeom prst="ellipse">
            <a:avLst/>
          </a:prstGeom>
          <a:solidFill>
            <a:srgbClr val="1F6F78"/>
          </a:solidFill>
          <a:ln/>
        </p:spPr>
      </p:sp>
      <p:sp>
        <p:nvSpPr>
          <p:cNvPr id="22" name="Text 20"/>
          <p:cNvSpPr txBox="1"/>
          <p:nvPr/>
        </p:nvSpPr>
        <p:spPr>
          <a:xfrm>
            <a:off x="594360" y="34564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23" name="Text 21"/>
          <p:cNvSpPr txBox="1"/>
          <p:nvPr/>
        </p:nvSpPr>
        <p:spPr>
          <a:xfrm>
            <a:off x="1005840" y="3419856"/>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区切りを1本ずつ追加する</a:t>
            </a:r>
            <a:endParaRPr lang="en-US" sz="1150" dirty="0"/>
          </a:p>
        </p:txBody>
      </p:sp>
      <p:sp>
        <p:nvSpPr>
          <p:cNvPr id="24" name="Text 22"/>
          <p:cNvSpPr txBox="1"/>
          <p:nvPr/>
        </p:nvSpPr>
        <p:spPr>
          <a:xfrm>
            <a:off x="1005840" y="3694176"/>
            <a:ext cx="4754880" cy="47548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高さ A に 35m、隙間 D に 17m を追加 → A 25・35・50 × D 10・17・25</a:t>
            </a:r>
            <a:endParaRPr lang="en-US" sz="1000" dirty="0"/>
          </a:p>
        </p:txBody>
      </p:sp>
      <p:sp>
        <p:nvSpPr>
          <p:cNvPr id="25" name="Shape 23"/>
          <p:cNvSpPr/>
          <p:nvPr/>
        </p:nvSpPr>
        <p:spPr>
          <a:xfrm>
            <a:off x="457200" y="4279392"/>
            <a:ext cx="5394960" cy="841248"/>
          </a:xfrm>
          <a:prstGeom prst="roundRect">
            <a:avLst>
              <a:gd name="adj" fmla="val 5435"/>
            </a:avLst>
          </a:prstGeom>
          <a:solidFill>
            <a:srgbClr val="F3F5F8"/>
          </a:solidFill>
          <a:ln/>
        </p:spPr>
      </p:sp>
      <p:sp>
        <p:nvSpPr>
          <p:cNvPr id="26" name="Shape 24"/>
          <p:cNvSpPr/>
          <p:nvPr/>
        </p:nvSpPr>
        <p:spPr>
          <a:xfrm>
            <a:off x="594360" y="4389120"/>
            <a:ext cx="310896" cy="310896"/>
          </a:xfrm>
          <a:prstGeom prst="ellipse">
            <a:avLst/>
          </a:prstGeom>
          <a:solidFill>
            <a:srgbClr val="1F6F78"/>
          </a:solidFill>
          <a:ln/>
        </p:spPr>
      </p:sp>
      <p:sp>
        <p:nvSpPr>
          <p:cNvPr id="27" name="Text 25"/>
          <p:cNvSpPr txBox="1"/>
          <p:nvPr/>
        </p:nvSpPr>
        <p:spPr>
          <a:xfrm>
            <a:off x="594360" y="43891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28" name="Text 26"/>
          <p:cNvSpPr txBox="1"/>
          <p:nvPr/>
        </p:nvSpPr>
        <p:spPr>
          <a:xfrm>
            <a:off x="1005840" y="4352544"/>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足りない点を計算する</a:t>
            </a:r>
            <a:endParaRPr lang="en-US" sz="1150" dirty="0"/>
          </a:p>
        </p:txBody>
      </p:sp>
      <p:sp>
        <p:nvSpPr>
          <p:cNvPr id="29" name="Text 27"/>
          <p:cNvSpPr txBox="1"/>
          <p:nvPr/>
        </p:nvSpPr>
        <p:spPr>
          <a:xfrm>
            <a:off x="1005840" y="4626864"/>
            <a:ext cx="4754880" cy="47548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3×3＝9点 − 既存4点 ＝ 追加5点（無作為に5と決めたのではない）</a:t>
            </a:r>
            <a:endParaRPr lang="en-US" sz="1000" dirty="0"/>
          </a:p>
        </p:txBody>
      </p:sp>
      <p:sp>
        <p:nvSpPr>
          <p:cNvPr id="30" name="Text 28"/>
          <p:cNvSpPr txBox="1"/>
          <p:nvPr/>
        </p:nvSpPr>
        <p:spPr>
          <a:xfrm>
            <a:off x="457200" y="5257800"/>
            <a:ext cx="5394960" cy="274320"/>
          </a:xfrm>
          <a:prstGeom prst="rect">
            <a:avLst/>
          </a:prstGeom>
          <a:noFill/>
          <a:ln/>
        </p:spPr>
        <p:txBody>
          <a:bodyPr wrap="square" lIns="508" tIns="508" rIns="508" bIns="508" rtlCol="0" anchor="t"/>
          <a:lstStyle/>
          <a:p>
            <a:pPr indent="0" marL="0">
              <a:buNone/>
            </a:pPr>
            <a:r>
              <a:rPr lang="en-US" sz="1100" b="1" dirty="0">
                <a:solidFill>
                  <a:srgbClr val="1F6F78"/>
                </a:solidFill>
                <a:latin typeface="Yu Gothic" pitchFamily="34" charset="0"/>
                <a:ea typeface="Yu Gothic" pitchFamily="34" charset="-122"/>
                <a:cs typeface="Yu Gothic" pitchFamily="34" charset="-120"/>
              </a:rPr>
              <a:t>→ 1つの補間領域が4つに分かれ、短い区間ごとに補間できる</a:t>
            </a:r>
            <a:endParaRPr lang="en-US" sz="1100" dirty="0"/>
          </a:p>
        </p:txBody>
      </p:sp>
      <p:sp>
        <p:nvSpPr>
          <p:cNvPr id="31" name="Text 29"/>
          <p:cNvSpPr txBox="1"/>
          <p:nvPr/>
        </p:nvSpPr>
        <p:spPr>
          <a:xfrm>
            <a:off x="457200" y="5577840"/>
            <a:ext cx="5394960" cy="685800"/>
          </a:xfrm>
          <a:prstGeom prst="rect">
            <a:avLst/>
          </a:prstGeom>
          <a:noFill/>
          <a:ln/>
        </p:spPr>
        <p:txBody>
          <a:bodyPr wrap="square" lIns="508" tIns="508" rIns="508" bIns="508" rtlCol="0" anchor="t"/>
          <a:lstStyle/>
          <a:p>
            <a:pPr indent="0" marL="0">
              <a:buNone/>
            </a:pPr>
            <a:r>
              <a:rPr lang="en-US" sz="1000" dirty="0">
                <a:solidFill>
                  <a:srgbClr val="6B7480"/>
                </a:solidFill>
                <a:latin typeface="Yu Gothic" pitchFamily="34" charset="0"/>
                <a:ea typeface="Yu Gothic" pitchFamily="34" charset="-122"/>
                <a:cs typeface="Yu Gothic" pitchFamily="34" charset="-120"/>
              </a:rPr>
              <a:t>A＝35・D＝15は答えを直接入れていないが、改良方針を決めるのに使ったので、改良後の独立テストには使えない → 新しい6配置で確認</a:t>
            </a:r>
            <a:endParaRPr lang="en-US" sz="1000" dirty="0"/>
          </a:p>
        </p:txBody>
      </p:sp>
      <p:sp>
        <p:nvSpPr>
          <p:cNvPr id="32" name="Shape 30"/>
          <p:cNvSpPr/>
          <p:nvPr/>
        </p:nvSpPr>
        <p:spPr>
          <a:xfrm>
            <a:off x="6080760" y="1481328"/>
            <a:ext cx="3337560" cy="3520440"/>
          </a:xfrm>
          <a:prstGeom prst="roundRect">
            <a:avLst>
              <a:gd name="adj" fmla="val 1644"/>
            </a:avLst>
          </a:prstGeom>
          <a:solidFill>
            <a:srgbClr val="F3F5F8"/>
          </a:solidFill>
          <a:ln/>
        </p:spPr>
      </p:sp>
      <p:sp>
        <p:nvSpPr>
          <p:cNvPr id="33" name="Shape 31"/>
          <p:cNvSpPr/>
          <p:nvPr/>
        </p:nvSpPr>
        <p:spPr>
          <a:xfrm>
            <a:off x="6629400" y="1737360"/>
            <a:ext cx="2377440" cy="2377440"/>
          </a:xfrm>
          <a:prstGeom prst="rect">
            <a:avLst/>
          </a:prstGeom>
          <a:solidFill>
            <a:srgbClr val="FFFFFF"/>
          </a:solidFill>
          <a:ln w="9525">
            <a:solidFill>
              <a:srgbClr val="C9D0D8"/>
            </a:solidFill>
            <a:prstDash val="solid"/>
          </a:ln>
        </p:spPr>
      </p:sp>
      <p:sp>
        <p:nvSpPr>
          <p:cNvPr id="34" name="Shape 32"/>
          <p:cNvSpPr/>
          <p:nvPr/>
        </p:nvSpPr>
        <p:spPr>
          <a:xfrm>
            <a:off x="7738872" y="1737360"/>
            <a:ext cx="91" cy="2377440"/>
          </a:xfrm>
          <a:prstGeom prst="line">
            <a:avLst/>
          </a:prstGeom>
          <a:noFill/>
          <a:ln w="12700">
            <a:solidFill>
              <a:srgbClr val="E8934D"/>
            </a:solidFill>
            <a:prstDash val="dash"/>
          </a:ln>
        </p:spPr>
      </p:sp>
      <p:sp>
        <p:nvSpPr>
          <p:cNvPr id="35" name="Shape 33"/>
          <p:cNvSpPr/>
          <p:nvPr/>
        </p:nvSpPr>
        <p:spPr>
          <a:xfrm>
            <a:off x="6629400" y="3163824"/>
            <a:ext cx="2377440" cy="91"/>
          </a:xfrm>
          <a:prstGeom prst="line">
            <a:avLst/>
          </a:prstGeom>
          <a:noFill/>
          <a:ln w="12700">
            <a:solidFill>
              <a:srgbClr val="E8934D"/>
            </a:solidFill>
            <a:prstDash val="dash"/>
          </a:ln>
        </p:spPr>
      </p:sp>
      <p:sp>
        <p:nvSpPr>
          <p:cNvPr id="36" name="Shape 34"/>
          <p:cNvSpPr/>
          <p:nvPr/>
        </p:nvSpPr>
        <p:spPr>
          <a:xfrm>
            <a:off x="6551676" y="4037076"/>
            <a:ext cx="155448" cy="155448"/>
          </a:xfrm>
          <a:prstGeom prst="rect">
            <a:avLst/>
          </a:prstGeom>
          <a:solidFill>
            <a:srgbClr val="1B2A44"/>
          </a:solidFill>
          <a:ln w="6350">
            <a:solidFill>
              <a:srgbClr val="FFFFFF"/>
            </a:solidFill>
            <a:prstDash val="solid"/>
          </a:ln>
        </p:spPr>
      </p:sp>
      <p:sp>
        <p:nvSpPr>
          <p:cNvPr id="37" name="Shape 35"/>
          <p:cNvSpPr/>
          <p:nvPr/>
        </p:nvSpPr>
        <p:spPr>
          <a:xfrm>
            <a:off x="8929116" y="4037076"/>
            <a:ext cx="155448" cy="155448"/>
          </a:xfrm>
          <a:prstGeom prst="rect">
            <a:avLst/>
          </a:prstGeom>
          <a:solidFill>
            <a:srgbClr val="1B2A44"/>
          </a:solidFill>
          <a:ln w="6350">
            <a:solidFill>
              <a:srgbClr val="FFFFFF"/>
            </a:solidFill>
            <a:prstDash val="solid"/>
          </a:ln>
        </p:spPr>
      </p:sp>
      <p:sp>
        <p:nvSpPr>
          <p:cNvPr id="38" name="Shape 36"/>
          <p:cNvSpPr/>
          <p:nvPr/>
        </p:nvSpPr>
        <p:spPr>
          <a:xfrm>
            <a:off x="6551676" y="1659636"/>
            <a:ext cx="155448" cy="155448"/>
          </a:xfrm>
          <a:prstGeom prst="rect">
            <a:avLst/>
          </a:prstGeom>
          <a:solidFill>
            <a:srgbClr val="1B2A44"/>
          </a:solidFill>
          <a:ln w="6350">
            <a:solidFill>
              <a:srgbClr val="FFFFFF"/>
            </a:solidFill>
            <a:prstDash val="solid"/>
          </a:ln>
        </p:spPr>
      </p:sp>
      <p:sp>
        <p:nvSpPr>
          <p:cNvPr id="39" name="Shape 37"/>
          <p:cNvSpPr/>
          <p:nvPr/>
        </p:nvSpPr>
        <p:spPr>
          <a:xfrm>
            <a:off x="8929116" y="1659636"/>
            <a:ext cx="155448" cy="155448"/>
          </a:xfrm>
          <a:prstGeom prst="rect">
            <a:avLst/>
          </a:prstGeom>
          <a:solidFill>
            <a:srgbClr val="1B2A44"/>
          </a:solidFill>
          <a:ln w="6350">
            <a:solidFill>
              <a:srgbClr val="FFFFFF"/>
            </a:solidFill>
            <a:prstDash val="solid"/>
          </a:ln>
        </p:spPr>
      </p:sp>
      <p:sp>
        <p:nvSpPr>
          <p:cNvPr id="40" name="Shape 38"/>
          <p:cNvSpPr/>
          <p:nvPr/>
        </p:nvSpPr>
        <p:spPr>
          <a:xfrm>
            <a:off x="7656576" y="4032504"/>
            <a:ext cx="164592" cy="164592"/>
          </a:xfrm>
          <a:prstGeom prst="ellipse">
            <a:avLst/>
          </a:prstGeom>
          <a:solidFill>
            <a:srgbClr val="E8934D"/>
          </a:solidFill>
          <a:ln w="6350">
            <a:solidFill>
              <a:srgbClr val="FFFFFF"/>
            </a:solidFill>
            <a:prstDash val="solid"/>
          </a:ln>
        </p:spPr>
      </p:sp>
      <p:sp>
        <p:nvSpPr>
          <p:cNvPr id="41" name="Shape 39"/>
          <p:cNvSpPr/>
          <p:nvPr/>
        </p:nvSpPr>
        <p:spPr>
          <a:xfrm>
            <a:off x="6547104" y="3081528"/>
            <a:ext cx="164592" cy="164592"/>
          </a:xfrm>
          <a:prstGeom prst="ellipse">
            <a:avLst/>
          </a:prstGeom>
          <a:solidFill>
            <a:srgbClr val="E8934D"/>
          </a:solidFill>
          <a:ln w="6350">
            <a:solidFill>
              <a:srgbClr val="FFFFFF"/>
            </a:solidFill>
            <a:prstDash val="solid"/>
          </a:ln>
        </p:spPr>
      </p:sp>
      <p:sp>
        <p:nvSpPr>
          <p:cNvPr id="42" name="Shape 40"/>
          <p:cNvSpPr/>
          <p:nvPr/>
        </p:nvSpPr>
        <p:spPr>
          <a:xfrm>
            <a:off x="7656576" y="3081528"/>
            <a:ext cx="164592" cy="164592"/>
          </a:xfrm>
          <a:prstGeom prst="ellipse">
            <a:avLst/>
          </a:prstGeom>
          <a:solidFill>
            <a:srgbClr val="E8934D"/>
          </a:solidFill>
          <a:ln w="6350">
            <a:solidFill>
              <a:srgbClr val="FFFFFF"/>
            </a:solidFill>
            <a:prstDash val="solid"/>
          </a:ln>
        </p:spPr>
      </p:sp>
      <p:sp>
        <p:nvSpPr>
          <p:cNvPr id="43" name="Shape 41"/>
          <p:cNvSpPr/>
          <p:nvPr/>
        </p:nvSpPr>
        <p:spPr>
          <a:xfrm>
            <a:off x="8924544" y="3081528"/>
            <a:ext cx="164592" cy="164592"/>
          </a:xfrm>
          <a:prstGeom prst="ellipse">
            <a:avLst/>
          </a:prstGeom>
          <a:solidFill>
            <a:srgbClr val="E8934D"/>
          </a:solidFill>
          <a:ln w="6350">
            <a:solidFill>
              <a:srgbClr val="FFFFFF"/>
            </a:solidFill>
            <a:prstDash val="solid"/>
          </a:ln>
        </p:spPr>
      </p:sp>
      <p:sp>
        <p:nvSpPr>
          <p:cNvPr id="44" name="Shape 42"/>
          <p:cNvSpPr/>
          <p:nvPr/>
        </p:nvSpPr>
        <p:spPr>
          <a:xfrm>
            <a:off x="7656576" y="1655064"/>
            <a:ext cx="164592" cy="164592"/>
          </a:xfrm>
          <a:prstGeom prst="ellipse">
            <a:avLst/>
          </a:prstGeom>
          <a:solidFill>
            <a:srgbClr val="E8934D"/>
          </a:solidFill>
          <a:ln w="6350">
            <a:solidFill>
              <a:srgbClr val="FFFFFF"/>
            </a:solidFill>
            <a:prstDash val="solid"/>
          </a:ln>
        </p:spPr>
      </p:sp>
      <p:sp>
        <p:nvSpPr>
          <p:cNvPr id="45" name="Shape 43"/>
          <p:cNvSpPr/>
          <p:nvPr/>
        </p:nvSpPr>
        <p:spPr>
          <a:xfrm>
            <a:off x="7330440" y="3072384"/>
            <a:ext cx="182880" cy="182880"/>
          </a:xfrm>
          <a:prstGeom prst="star5">
            <a:avLst/>
          </a:prstGeom>
          <a:solidFill>
            <a:srgbClr val="B04A3F"/>
          </a:solidFill>
          <a:ln w="6350">
            <a:solidFill>
              <a:srgbClr val="FFFFFF"/>
            </a:solidFill>
            <a:prstDash val="solid"/>
          </a:ln>
        </p:spPr>
      </p:sp>
      <p:sp>
        <p:nvSpPr>
          <p:cNvPr id="46" name="Text 44"/>
          <p:cNvSpPr txBox="1"/>
          <p:nvPr/>
        </p:nvSpPr>
        <p:spPr>
          <a:xfrm>
            <a:off x="6736080" y="2779776"/>
            <a:ext cx="1371600" cy="219456"/>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最大誤差点 (35,15)</a:t>
            </a:r>
            <a:endParaRPr lang="en-US" sz="900" dirty="0"/>
          </a:p>
        </p:txBody>
      </p:sp>
      <p:sp>
        <p:nvSpPr>
          <p:cNvPr id="47" name="Text 45"/>
          <p:cNvSpPr txBox="1"/>
          <p:nvPr/>
        </p:nvSpPr>
        <p:spPr>
          <a:xfrm>
            <a:off x="6400800" y="418795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48" name="Text 46"/>
          <p:cNvSpPr txBox="1"/>
          <p:nvPr/>
        </p:nvSpPr>
        <p:spPr>
          <a:xfrm>
            <a:off x="7510272" y="418795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17</a:t>
            </a:r>
            <a:endParaRPr lang="en-US" sz="950" dirty="0"/>
          </a:p>
        </p:txBody>
      </p:sp>
      <p:sp>
        <p:nvSpPr>
          <p:cNvPr id="49" name="Text 47"/>
          <p:cNvSpPr txBox="1"/>
          <p:nvPr/>
        </p:nvSpPr>
        <p:spPr>
          <a:xfrm>
            <a:off x="8778240" y="418795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50" name="Text 48"/>
          <p:cNvSpPr txBox="1"/>
          <p:nvPr/>
        </p:nvSpPr>
        <p:spPr>
          <a:xfrm>
            <a:off x="6172200" y="4014216"/>
            <a:ext cx="347472"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51" name="Text 49"/>
          <p:cNvSpPr txBox="1"/>
          <p:nvPr/>
        </p:nvSpPr>
        <p:spPr>
          <a:xfrm>
            <a:off x="6172200" y="3063240"/>
            <a:ext cx="347472"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35</a:t>
            </a:r>
            <a:endParaRPr lang="en-US" sz="950" dirty="0"/>
          </a:p>
        </p:txBody>
      </p:sp>
      <p:sp>
        <p:nvSpPr>
          <p:cNvPr id="52" name="Text 50"/>
          <p:cNvSpPr txBox="1"/>
          <p:nvPr/>
        </p:nvSpPr>
        <p:spPr>
          <a:xfrm>
            <a:off x="6172200" y="1636776"/>
            <a:ext cx="347472"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53" name="Text 51"/>
          <p:cNvSpPr txBox="1"/>
          <p:nvPr/>
        </p:nvSpPr>
        <p:spPr>
          <a:xfrm>
            <a:off x="6629400" y="4389120"/>
            <a:ext cx="2377440" cy="201168"/>
          </a:xfrm>
          <a:prstGeom prst="rect">
            <a:avLst/>
          </a:prstGeom>
          <a:noFill/>
          <a:ln/>
        </p:spPr>
        <p:txBody>
          <a:bodyPr wrap="square" lIns="508" tIns="508" rIns="508" bIns="508" rtlCol="0" anchor="t"/>
          <a:lstStyle/>
          <a:p>
            <a:pPr algn="ctr" indent="0" marL="0">
              <a:buNone/>
            </a:pPr>
            <a:r>
              <a:rPr lang="en-US" sz="950" dirty="0">
                <a:solidFill>
                  <a:srgbClr val="1B2A44"/>
                </a:solidFill>
                <a:latin typeface="Yu Gothic" pitchFamily="34" charset="0"/>
                <a:ea typeface="Yu Gothic" pitchFamily="34" charset="-122"/>
                <a:cs typeface="Yu Gothic" pitchFamily="34" charset="-120"/>
              </a:rPr>
              <a:t>隙間 D (m)</a:t>
            </a:r>
            <a:endParaRPr lang="en-US" sz="950" dirty="0"/>
          </a:p>
        </p:txBody>
      </p:sp>
      <p:sp>
        <p:nvSpPr>
          <p:cNvPr id="54" name="Text 52"/>
          <p:cNvSpPr txBox="1"/>
          <p:nvPr/>
        </p:nvSpPr>
        <p:spPr>
          <a:xfrm>
            <a:off x="6126480" y="1517904"/>
            <a:ext cx="548640" cy="201168"/>
          </a:xfrm>
          <a:prstGeom prst="rect">
            <a:avLst/>
          </a:prstGeom>
          <a:noFill/>
          <a:ln/>
        </p:spPr>
        <p:txBody>
          <a:bodyPr wrap="square" lIns="508" tIns="508" rIns="508" bIns="508" rtlCol="0" anchor="t"/>
          <a:lstStyle/>
          <a:p>
            <a:pPr indent="0" marL="0">
              <a:buNone/>
            </a:pPr>
            <a:r>
              <a:rPr lang="en-US" sz="950" dirty="0">
                <a:solidFill>
                  <a:srgbClr val="1B2A44"/>
                </a:solidFill>
                <a:latin typeface="Yu Gothic" pitchFamily="34" charset="0"/>
                <a:ea typeface="Yu Gothic" pitchFamily="34" charset="-122"/>
                <a:cs typeface="Yu Gothic" pitchFamily="34" charset="-120"/>
              </a:rPr>
              <a:t>A (m)</a:t>
            </a:r>
            <a:endParaRPr lang="en-US" sz="950" dirty="0"/>
          </a:p>
        </p:txBody>
      </p:sp>
      <p:sp>
        <p:nvSpPr>
          <p:cNvPr id="55" name="Shape 53"/>
          <p:cNvSpPr/>
          <p:nvPr/>
        </p:nvSpPr>
        <p:spPr>
          <a:xfrm>
            <a:off x="6295644" y="4585716"/>
            <a:ext cx="118872" cy="118872"/>
          </a:xfrm>
          <a:prstGeom prst="rect">
            <a:avLst/>
          </a:prstGeom>
          <a:solidFill>
            <a:srgbClr val="1B2A44"/>
          </a:solidFill>
          <a:ln w="6350">
            <a:solidFill>
              <a:srgbClr val="FFFFFF"/>
            </a:solidFill>
            <a:prstDash val="solid"/>
          </a:ln>
        </p:spPr>
      </p:sp>
      <p:sp>
        <p:nvSpPr>
          <p:cNvPr id="56" name="Text 54"/>
          <p:cNvSpPr txBox="1"/>
          <p:nvPr/>
        </p:nvSpPr>
        <p:spPr>
          <a:xfrm>
            <a:off x="6473952" y="4544568"/>
            <a:ext cx="1005840" cy="20116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既存の4隅</a:t>
            </a:r>
            <a:endParaRPr lang="en-US" sz="950" dirty="0"/>
          </a:p>
        </p:txBody>
      </p:sp>
      <p:sp>
        <p:nvSpPr>
          <p:cNvPr id="57" name="Shape 55"/>
          <p:cNvSpPr/>
          <p:nvPr/>
        </p:nvSpPr>
        <p:spPr>
          <a:xfrm>
            <a:off x="7530084" y="4585716"/>
            <a:ext cx="118872" cy="118872"/>
          </a:xfrm>
          <a:prstGeom prst="ellipse">
            <a:avLst/>
          </a:prstGeom>
          <a:solidFill>
            <a:srgbClr val="E8934D"/>
          </a:solidFill>
          <a:ln w="6350">
            <a:solidFill>
              <a:srgbClr val="FFFFFF"/>
            </a:solidFill>
            <a:prstDash val="solid"/>
          </a:ln>
        </p:spPr>
      </p:sp>
      <p:sp>
        <p:nvSpPr>
          <p:cNvPr id="58" name="Text 56"/>
          <p:cNvSpPr txBox="1"/>
          <p:nvPr/>
        </p:nvSpPr>
        <p:spPr>
          <a:xfrm>
            <a:off x="7708392" y="4544568"/>
            <a:ext cx="1280160" cy="20116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追加した5点</a:t>
            </a:r>
            <a:endParaRPr lang="en-US" sz="950" dirty="0"/>
          </a:p>
        </p:txBody>
      </p:sp>
      <p:sp>
        <p:nvSpPr>
          <p:cNvPr id="59" name="Shape 57"/>
          <p:cNvSpPr/>
          <p:nvPr/>
        </p:nvSpPr>
        <p:spPr>
          <a:xfrm>
            <a:off x="9646920" y="1481328"/>
            <a:ext cx="2103120" cy="3520440"/>
          </a:xfrm>
          <a:prstGeom prst="roundRect">
            <a:avLst>
              <a:gd name="adj" fmla="val 2609"/>
            </a:avLst>
          </a:prstGeom>
          <a:solidFill>
            <a:srgbClr val="E1EEE7"/>
          </a:solidFill>
          <a:ln/>
        </p:spPr>
      </p:sp>
      <p:sp>
        <p:nvSpPr>
          <p:cNvPr id="60" name="Text 58"/>
          <p:cNvSpPr txBox="1"/>
          <p:nvPr/>
        </p:nvSpPr>
        <p:spPr>
          <a:xfrm>
            <a:off x="9784080" y="1572768"/>
            <a:ext cx="1828800" cy="274320"/>
          </a:xfrm>
          <a:prstGeom prst="rect">
            <a:avLst/>
          </a:prstGeom>
          <a:noFill/>
          <a:ln/>
        </p:spPr>
        <p:txBody>
          <a:bodyPr wrap="square" lIns="508" tIns="508" rIns="508" bIns="508" rtlCol="0" anchor="t"/>
          <a:lstStyle/>
          <a:p>
            <a:pPr indent="0" marL="0">
              <a:buNone/>
            </a:pPr>
            <a:r>
              <a:rPr lang="en-US" sz="1200" b="1" dirty="0">
                <a:solidFill>
                  <a:srgbClr val="4C8C6B"/>
                </a:solidFill>
                <a:latin typeface="Yu Gothic" pitchFamily="34" charset="0"/>
                <a:ea typeface="Yu Gothic" pitchFamily="34" charset="-122"/>
                <a:cs typeface="Yu Gothic" pitchFamily="34" charset="-120"/>
              </a:rPr>
              <a:t>言えること</a:t>
            </a:r>
            <a:endParaRPr lang="en-US" sz="1200" dirty="0"/>
          </a:p>
        </p:txBody>
      </p:sp>
      <p:sp>
        <p:nvSpPr>
          <p:cNvPr id="61" name="Text 59"/>
          <p:cNvSpPr txBox="1"/>
          <p:nvPr/>
        </p:nvSpPr>
        <p:spPr>
          <a:xfrm>
            <a:off x="9738360" y="1828800"/>
            <a:ext cx="1965960" cy="3108960"/>
          </a:xfrm>
          <a:prstGeom prst="rect">
            <a:avLst/>
          </a:prstGeom>
          <a:noFill/>
          <a:ln/>
        </p:spPr>
        <p:txBody>
          <a:bodyPr wrap="square" lIns="508" tIns="508" rIns="508" bIns="508" rtlCol="0" anchor="t"/>
          <a:lstStyle/>
          <a:p>
            <a:pPr marL="152400" indent="-152400">
              <a:spcAft>
                <a:spcPts val="500"/>
              </a:spcAft>
              <a:buSzPct val="100000"/>
              <a:buChar char="•"/>
            </a:pPr>
            <a:r>
              <a:rPr lang="en-US" sz="1050" dirty="0">
                <a:solidFill>
                  <a:srgbClr val="333F4E"/>
                </a:solidFill>
                <a:latin typeface="Yu Gothic" pitchFamily="34" charset="0"/>
                <a:ea typeface="Yu Gothic" pitchFamily="34" charset="-122"/>
                <a:cs typeface="Yu Gothic" pitchFamily="34" charset="-120"/>
              </a:rPr>
              <a:t>改善する場所の選び方には理由がある</a:t>
            </a:r>
            <a:endParaRPr lang="en-US" sz="1050" dirty="0"/>
          </a:p>
          <a:p>
            <a:pPr marL="152400" indent="-152400">
              <a:spcAft>
                <a:spcPts val="500"/>
              </a:spcAft>
              <a:buSzPct val="100000"/>
              <a:buChar char="•"/>
            </a:pPr>
            <a:r>
              <a:rPr lang="en-US" sz="1050" dirty="0">
                <a:solidFill>
                  <a:srgbClr val="333F4E"/>
                </a:solidFill>
                <a:latin typeface="Yu Gothic" pitchFamily="34" charset="0"/>
                <a:ea typeface="Yu Gothic" pitchFamily="34" charset="-122"/>
                <a:cs typeface="Yu Gothic" pitchFamily="34" charset="-120"/>
              </a:rPr>
              <a:t>5は3×3格子に不足する点の数</a:t>
            </a:r>
            <a:endParaRPr lang="en-US" sz="1050" dirty="0"/>
          </a:p>
          <a:p>
            <a:pPr marL="152400" indent="-152400">
              <a:spcAft>
                <a:spcPts val="500"/>
              </a:spcAft>
              <a:buSzPct val="100000"/>
              <a:buChar char="•"/>
            </a:pPr>
            <a:r>
              <a:rPr lang="en-US" sz="1050" dirty="0">
                <a:solidFill>
                  <a:srgbClr val="333F4E"/>
                </a:solidFill>
                <a:latin typeface="Yu Gothic" pitchFamily="34" charset="0"/>
                <a:ea typeface="Yu Gothic" pitchFamily="34" charset="-122"/>
                <a:cs typeface="Yu Gothic" pitchFamily="34" charset="-120"/>
              </a:rPr>
              <a:t>確認用6配置も事前に記載</a:t>
            </a:r>
            <a:endParaRPr lang="en-US" sz="1050" dirty="0"/>
          </a:p>
          <a:p>
            <a:pPr marL="152400" indent="-152400">
              <a:spcAft>
                <a:spcPts val="500"/>
              </a:spcAft>
              <a:buSzPct val="100000"/>
              <a:buChar char="•"/>
            </a:pPr>
            <a:r>
              <a:rPr lang="en-US" sz="1050" dirty="0">
                <a:solidFill>
                  <a:srgbClr val="333F4E"/>
                </a:solidFill>
                <a:latin typeface="Yu Gothic" pitchFamily="34" charset="0"/>
                <a:ea typeface="Yu Gothic" pitchFamily="34" charset="-122"/>
                <a:cs typeface="Yu Gothic" pitchFamily="34" charset="-120"/>
              </a:rPr>
              <a:t>局所範囲のMAE 43.50→17.81</a:t>
            </a:r>
            <a:endParaRPr lang="en-US" sz="1050" dirty="0"/>
          </a:p>
        </p:txBody>
      </p:sp>
      <p:sp>
        <p:nvSpPr>
          <p:cNvPr id="62" name="Shape 60"/>
          <p:cNvSpPr/>
          <p:nvPr/>
        </p:nvSpPr>
        <p:spPr>
          <a:xfrm>
            <a:off x="6080760" y="5166360"/>
            <a:ext cx="5669280" cy="1143000"/>
          </a:xfrm>
          <a:prstGeom prst="roundRect">
            <a:avLst>
              <a:gd name="adj" fmla="val 4800"/>
            </a:avLst>
          </a:prstGeom>
          <a:solidFill>
            <a:srgbClr val="F5E2DF"/>
          </a:solidFill>
          <a:ln/>
        </p:spPr>
      </p:sp>
      <p:sp>
        <p:nvSpPr>
          <p:cNvPr id="63" name="Text 61"/>
          <p:cNvSpPr txBox="1"/>
          <p:nvPr/>
        </p:nvSpPr>
        <p:spPr>
          <a:xfrm>
            <a:off x="6217920" y="5230368"/>
            <a:ext cx="5394960" cy="256032"/>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まだ言えないこと（検証していない）</a:t>
            </a:r>
            <a:endParaRPr lang="en-US" sz="1100" dirty="0"/>
          </a:p>
        </p:txBody>
      </p:sp>
      <p:sp>
        <p:nvSpPr>
          <p:cNvPr id="64" name="Text 62"/>
          <p:cNvSpPr txBox="1"/>
          <p:nvPr/>
        </p:nvSpPr>
        <p:spPr>
          <a:xfrm>
            <a:off x="6217920" y="5504688"/>
            <a:ext cx="5394960" cy="77724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17mが誤差を最小にする区切りか ／ 5配置が必要十分な最小数か ／ 他の候補と比べてこの5配置が最良か。17mは設計上の選択であり、最適な区切りや点数を求めた実験ではない。</a:t>
            </a:r>
            <a:endParaRPr lang="en-US" sz="10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最終目標ツール：周囲の建物ごとに4つの変数を変える（平面図）</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中央建物 C の周囲に0〜4棟を置き、C の北・東・南・西の壁面日射量を高さ帯ごとに予測する。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25 / 45</a:t>
            </a:r>
            <a:endParaRPr lang="en-US" sz="1100" dirty="0"/>
          </a:p>
        </p:txBody>
      </p:sp>
      <p:sp>
        <p:nvSpPr>
          <p:cNvPr id="10" name="Shape 8"/>
          <p:cNvSpPr/>
          <p:nvPr/>
        </p:nvSpPr>
        <p:spPr>
          <a:xfrm>
            <a:off x="457200" y="1463040"/>
            <a:ext cx="5486400" cy="4846320"/>
          </a:xfrm>
          <a:prstGeom prst="roundRect">
            <a:avLst>
              <a:gd name="adj" fmla="val 1132"/>
            </a:avLst>
          </a:prstGeom>
          <a:solidFill>
            <a:srgbClr val="F3F5F8"/>
          </a:solidFill>
          <a:ln/>
        </p:spPr>
      </p:sp>
      <p:sp>
        <p:nvSpPr>
          <p:cNvPr id="11" name="Text 9"/>
          <p:cNvSpPr txBox="1"/>
          <p:nvPr/>
        </p:nvSpPr>
        <p:spPr>
          <a:xfrm>
            <a:off x="594360" y="1517904"/>
            <a:ext cx="50292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上から見た図（例：3棟あり・1棟なし）</a:t>
            </a:r>
            <a:endParaRPr lang="en-US" sz="1100" dirty="0"/>
          </a:p>
        </p:txBody>
      </p:sp>
      <p:sp>
        <p:nvSpPr>
          <p:cNvPr id="12" name="Shape 10"/>
          <p:cNvSpPr/>
          <p:nvPr/>
        </p:nvSpPr>
        <p:spPr>
          <a:xfrm flipV="1">
            <a:off x="3063240" y="2308860"/>
            <a:ext cx="91" cy="1623060"/>
          </a:xfrm>
          <a:prstGeom prst="line">
            <a:avLst/>
          </a:prstGeom>
          <a:noFill/>
          <a:ln w="9525">
            <a:solidFill>
              <a:srgbClr val="AEB4BC"/>
            </a:solidFill>
            <a:prstDash val="dash"/>
            <a:tailEnd type="triangle"/>
          </a:ln>
        </p:spPr>
      </p:sp>
      <p:sp>
        <p:nvSpPr>
          <p:cNvPr id="13" name="Text 11"/>
          <p:cNvSpPr txBox="1"/>
          <p:nvPr/>
        </p:nvSpPr>
        <p:spPr>
          <a:xfrm>
            <a:off x="3108960" y="2263140"/>
            <a:ext cx="91440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北 0°</a:t>
            </a:r>
            <a:endParaRPr lang="en-US" sz="950" dirty="0"/>
          </a:p>
        </p:txBody>
      </p:sp>
      <p:sp>
        <p:nvSpPr>
          <p:cNvPr id="14" name="Text 12"/>
          <p:cNvSpPr txBox="1"/>
          <p:nvPr/>
        </p:nvSpPr>
        <p:spPr>
          <a:xfrm>
            <a:off x="4541825" y="3822192"/>
            <a:ext cx="640080" cy="219456"/>
          </a:xfrm>
          <a:prstGeom prst="rect">
            <a:avLst/>
          </a:prstGeom>
          <a:noFill/>
          <a:ln/>
        </p:spPr>
        <p:txBody>
          <a:bodyPr wrap="square" lIns="508" tIns="508" rIns="508" bIns="508" rtlCol="0" anchor="t"/>
          <a:lstStyle/>
          <a:p>
            <a:pPr indent="0" marL="0">
              <a:buNone/>
            </a:pPr>
            <a:r>
              <a:rPr lang="en-US" sz="950" b="1" dirty="0">
                <a:solidFill>
                  <a:srgbClr val="6B7480"/>
                </a:solidFill>
                <a:latin typeface="Yu Gothic" pitchFamily="34" charset="0"/>
                <a:ea typeface="Yu Gothic" pitchFamily="34" charset="-122"/>
                <a:cs typeface="Yu Gothic" pitchFamily="34" charset="-120"/>
              </a:rPr>
              <a:t>東 90°</a:t>
            </a:r>
            <a:endParaRPr lang="en-US" sz="950" dirty="0"/>
          </a:p>
        </p:txBody>
      </p:sp>
      <p:sp>
        <p:nvSpPr>
          <p:cNvPr id="15" name="Text 13"/>
          <p:cNvSpPr txBox="1"/>
          <p:nvPr/>
        </p:nvSpPr>
        <p:spPr>
          <a:xfrm>
            <a:off x="3154680" y="5704027"/>
            <a:ext cx="91440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南 180°</a:t>
            </a:r>
            <a:endParaRPr lang="en-US" sz="950" dirty="0"/>
          </a:p>
        </p:txBody>
      </p:sp>
      <p:sp>
        <p:nvSpPr>
          <p:cNvPr id="16" name="Text 14"/>
          <p:cNvSpPr txBox="1"/>
          <p:nvPr/>
        </p:nvSpPr>
        <p:spPr>
          <a:xfrm>
            <a:off x="749808" y="3822192"/>
            <a:ext cx="685800" cy="219456"/>
          </a:xfrm>
          <a:prstGeom prst="rect">
            <a:avLst/>
          </a:prstGeom>
          <a:noFill/>
          <a:ln/>
        </p:spPr>
        <p:txBody>
          <a:bodyPr wrap="square" lIns="508" tIns="508" rIns="508" bIns="508" rtlCol="0" anchor="t"/>
          <a:lstStyle/>
          <a:p>
            <a:pPr indent="0" marL="0">
              <a:buNone/>
            </a:pPr>
            <a:r>
              <a:rPr lang="en-US" sz="950" b="1" dirty="0">
                <a:solidFill>
                  <a:srgbClr val="6B7480"/>
                </a:solidFill>
                <a:latin typeface="Yu Gothic" pitchFamily="34" charset="0"/>
                <a:ea typeface="Yu Gothic" pitchFamily="34" charset="-122"/>
                <a:cs typeface="Yu Gothic" pitchFamily="34" charset="-120"/>
              </a:rPr>
              <a:t>西 270°</a:t>
            </a:r>
            <a:endParaRPr lang="en-US" sz="950" dirty="0"/>
          </a:p>
        </p:txBody>
      </p:sp>
      <p:sp>
        <p:nvSpPr>
          <p:cNvPr id="17" name="Shape 15"/>
          <p:cNvSpPr/>
          <p:nvPr/>
        </p:nvSpPr>
        <p:spPr>
          <a:xfrm>
            <a:off x="2738628" y="3607308"/>
            <a:ext cx="649224" cy="649224"/>
          </a:xfrm>
          <a:prstGeom prst="rect">
            <a:avLst/>
          </a:prstGeom>
          <a:solidFill>
            <a:srgbClr val="1B2A44"/>
          </a:solidFill>
          <a:ln/>
        </p:spPr>
      </p:sp>
      <p:sp>
        <p:nvSpPr>
          <p:cNvPr id="18" name="Text 16"/>
          <p:cNvSpPr txBox="1"/>
          <p:nvPr/>
        </p:nvSpPr>
        <p:spPr>
          <a:xfrm>
            <a:off x="2738628" y="3607308"/>
            <a:ext cx="649224" cy="64922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中央 C</a:t>
            </a:r>
            <a:endParaRPr lang="en-US" sz="100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H</a:t>
            </a:r>
            <a:pPr algn="ctr" indent="0" marL="0">
              <a:buNone/>
            </a:pPr>
            <a:r>
              <a:rPr lang="en-US" sz="850" baseline="-40000" dirty="0">
                <a:solidFill>
                  <a:srgbClr val="FFFFFF"/>
                </a:solidFill>
                <a:latin typeface="Yu Gothic" pitchFamily="34" charset="0"/>
                <a:ea typeface="Yu Gothic" pitchFamily="34" charset="-122"/>
                <a:cs typeface="Yu Gothic" pitchFamily="34" charset="-120"/>
              </a:rPr>
              <a:t>C</a:t>
            </a:r>
            <a:endParaRPr lang="en-US" sz="1000" dirty="0"/>
          </a:p>
        </p:txBody>
      </p:sp>
      <p:sp>
        <p:nvSpPr>
          <p:cNvPr id="19" name="Shape 17"/>
          <p:cNvSpPr/>
          <p:nvPr/>
        </p:nvSpPr>
        <p:spPr>
          <a:xfrm flipV="1">
            <a:off x="3063240" y="2711778"/>
            <a:ext cx="444095" cy="1220142"/>
          </a:xfrm>
          <a:prstGeom prst="line">
            <a:avLst/>
          </a:prstGeom>
          <a:noFill/>
          <a:ln w="9525">
            <a:solidFill>
              <a:srgbClr val="C56A2C"/>
            </a:solidFill>
            <a:prstDash val="sysDot"/>
          </a:ln>
        </p:spPr>
      </p:sp>
      <p:sp>
        <p:nvSpPr>
          <p:cNvPr id="20" name="Shape 18"/>
          <p:cNvSpPr/>
          <p:nvPr/>
        </p:nvSpPr>
        <p:spPr>
          <a:xfrm>
            <a:off x="3182723" y="2387166"/>
            <a:ext cx="649224" cy="649224"/>
          </a:xfrm>
          <a:prstGeom prst="rect">
            <a:avLst/>
          </a:prstGeom>
          <a:solidFill>
            <a:srgbClr val="1F6F78"/>
          </a:solidFill>
          <a:ln/>
        </p:spPr>
      </p:sp>
      <p:sp>
        <p:nvSpPr>
          <p:cNvPr id="21" name="Text 19"/>
          <p:cNvSpPr txBox="1"/>
          <p:nvPr/>
        </p:nvSpPr>
        <p:spPr>
          <a:xfrm>
            <a:off x="3182723" y="2478606"/>
            <a:ext cx="649224"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建物1</a:t>
            </a:r>
            <a:endParaRPr lang="en-US" sz="90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A₁</a:t>
            </a:r>
            <a:endParaRPr lang="en-US" sz="900" dirty="0"/>
          </a:p>
        </p:txBody>
      </p:sp>
      <p:sp>
        <p:nvSpPr>
          <p:cNvPr id="22" name="Text 20"/>
          <p:cNvSpPr txBox="1"/>
          <p:nvPr/>
        </p:nvSpPr>
        <p:spPr>
          <a:xfrm>
            <a:off x="3182723" y="3054678"/>
            <a:ext cx="649224" cy="201168"/>
          </a:xfrm>
          <a:prstGeom prst="rect">
            <a:avLst/>
          </a:prstGeom>
          <a:noFill/>
          <a:ln/>
        </p:spPr>
        <p:txBody>
          <a:bodyPr wrap="square" lIns="508" tIns="508" rIns="508" bIns="508"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s</a:t>
            </a:r>
            <a:pPr algn="ctr" indent="0" marL="0">
              <a:buNone/>
            </a:pPr>
            <a:r>
              <a:rPr lang="en-US" sz="950" b="1" baseline="-40000" dirty="0">
                <a:solidFill>
                  <a:srgbClr val="1F6F78"/>
                </a:solidFill>
                <a:latin typeface="Yu Gothic" pitchFamily="34" charset="0"/>
                <a:ea typeface="Yu Gothic" pitchFamily="34" charset="-122"/>
                <a:cs typeface="Yu Gothic" pitchFamily="34" charset="-120"/>
              </a:rPr>
              <a:t>1</a:t>
            </a:r>
            <a:pPr algn="ctr" indent="0" marL="0">
              <a:buNone/>
            </a:pPr>
            <a:r>
              <a:rPr lang="en-US" sz="950" b="1" dirty="0">
                <a:solidFill>
                  <a:srgbClr val="1F6F78"/>
                </a:solidFill>
                <a:latin typeface="Yu Gothic" pitchFamily="34" charset="0"/>
                <a:ea typeface="Yu Gothic" pitchFamily="34" charset="-122"/>
                <a:cs typeface="Yu Gothic" pitchFamily="34" charset="-120"/>
              </a:rPr>
              <a:t>＝1</a:t>
            </a:r>
            <a:endParaRPr lang="en-US" sz="950" dirty="0"/>
          </a:p>
        </p:txBody>
      </p:sp>
      <p:sp>
        <p:nvSpPr>
          <p:cNvPr id="23" name="Text 21"/>
          <p:cNvSpPr txBox="1"/>
          <p:nvPr/>
        </p:nvSpPr>
        <p:spPr>
          <a:xfrm>
            <a:off x="3868278" y="3152851"/>
            <a:ext cx="868680" cy="201168"/>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θ</a:t>
            </a:r>
            <a:pPr indent="0" marL="0">
              <a:buNone/>
            </a:pPr>
            <a:r>
              <a:rPr lang="en-US" sz="950" b="1" baseline="-40000" dirty="0">
                <a:solidFill>
                  <a:srgbClr val="C56A2C"/>
                </a:solidFill>
                <a:latin typeface="Yu Gothic" pitchFamily="34" charset="0"/>
                <a:ea typeface="Yu Gothic" pitchFamily="34" charset="-122"/>
                <a:cs typeface="Yu Gothic" pitchFamily="34" charset="-120"/>
              </a:rPr>
              <a:t>1</a:t>
            </a:r>
            <a:pPr indent="0" marL="0">
              <a:buNone/>
            </a:pPr>
            <a:r>
              <a:rPr lang="en-US" sz="950" b="1" dirty="0">
                <a:solidFill>
                  <a:srgbClr val="C56A2C"/>
                </a:solidFill>
                <a:latin typeface="Yu Gothic" pitchFamily="34" charset="0"/>
                <a:ea typeface="Yu Gothic" pitchFamily="34" charset="-122"/>
                <a:cs typeface="Yu Gothic" pitchFamily="34" charset="-120"/>
              </a:rPr>
              <a:t>＝20°</a:t>
            </a:r>
            <a:endParaRPr lang="en-US" sz="950" dirty="0"/>
          </a:p>
        </p:txBody>
      </p:sp>
      <p:sp>
        <p:nvSpPr>
          <p:cNvPr id="24" name="Shape 22"/>
          <p:cNvSpPr/>
          <p:nvPr/>
        </p:nvSpPr>
        <p:spPr>
          <a:xfrm flipV="1">
            <a:off x="3285288" y="3036390"/>
            <a:ext cx="91" cy="570918"/>
          </a:xfrm>
          <a:prstGeom prst="line">
            <a:avLst/>
          </a:prstGeom>
          <a:noFill/>
          <a:ln w="19050">
            <a:solidFill>
              <a:srgbClr val="B04A3F"/>
            </a:solidFill>
            <a:prstDash val="solid"/>
            <a:headEnd type="triangle"/>
            <a:tailEnd type="triangle"/>
          </a:ln>
        </p:spPr>
      </p:sp>
      <p:sp>
        <p:nvSpPr>
          <p:cNvPr id="25" name="Text 23"/>
          <p:cNvSpPr txBox="1"/>
          <p:nvPr/>
        </p:nvSpPr>
        <p:spPr>
          <a:xfrm>
            <a:off x="3331008" y="3212121"/>
            <a:ext cx="365760" cy="219456"/>
          </a:xfrm>
          <a:prstGeom prst="rect">
            <a:avLst/>
          </a:prstGeom>
          <a:noFill/>
          <a:ln/>
        </p:spPr>
        <p:txBody>
          <a:bodyPr wrap="square" lIns="508" tIns="508" rIns="508" bIns="508" rtlCol="0" anchor="t"/>
          <a:lstStyle/>
          <a:p>
            <a:pPr indent="0" marL="0">
              <a:buNone/>
            </a:pPr>
            <a:r>
              <a:rPr lang="en-US" sz="1050" b="1" dirty="0">
                <a:solidFill>
                  <a:srgbClr val="B04A3F"/>
                </a:solidFill>
                <a:latin typeface="Yu Gothic" pitchFamily="34" charset="0"/>
                <a:ea typeface="Yu Gothic" pitchFamily="34" charset="-122"/>
                <a:cs typeface="Yu Gothic" pitchFamily="34" charset="-120"/>
              </a:rPr>
              <a:t>D</a:t>
            </a:r>
            <a:pPr indent="0" marL="0">
              <a:buNone/>
            </a:pPr>
            <a:r>
              <a:rPr lang="en-US" sz="1050" b="1" baseline="-40000" dirty="0">
                <a:solidFill>
                  <a:srgbClr val="B04A3F"/>
                </a:solidFill>
                <a:latin typeface="Yu Gothic" pitchFamily="34" charset="0"/>
                <a:ea typeface="Yu Gothic" pitchFamily="34" charset="-122"/>
                <a:cs typeface="Yu Gothic" pitchFamily="34" charset="-120"/>
              </a:rPr>
              <a:t>1</a:t>
            </a:r>
            <a:endParaRPr lang="en-US" sz="1050" dirty="0"/>
          </a:p>
        </p:txBody>
      </p:sp>
      <p:sp>
        <p:nvSpPr>
          <p:cNvPr id="26" name="Shape 24"/>
          <p:cNvSpPr/>
          <p:nvPr/>
        </p:nvSpPr>
        <p:spPr>
          <a:xfrm>
            <a:off x="3063240" y="3931920"/>
            <a:ext cx="1159135" cy="421891"/>
          </a:xfrm>
          <a:prstGeom prst="line">
            <a:avLst/>
          </a:prstGeom>
          <a:noFill/>
          <a:ln w="9525">
            <a:solidFill>
              <a:srgbClr val="C56A2C"/>
            </a:solidFill>
            <a:prstDash val="sysDot"/>
          </a:ln>
        </p:spPr>
      </p:sp>
      <p:sp>
        <p:nvSpPr>
          <p:cNvPr id="27" name="Shape 25"/>
          <p:cNvSpPr/>
          <p:nvPr/>
        </p:nvSpPr>
        <p:spPr>
          <a:xfrm>
            <a:off x="3897763" y="4029199"/>
            <a:ext cx="649224" cy="649224"/>
          </a:xfrm>
          <a:prstGeom prst="rect">
            <a:avLst/>
          </a:prstGeom>
          <a:solidFill>
            <a:srgbClr val="1F6F78"/>
          </a:solidFill>
          <a:ln/>
        </p:spPr>
      </p:sp>
      <p:sp>
        <p:nvSpPr>
          <p:cNvPr id="28" name="Text 26"/>
          <p:cNvSpPr txBox="1"/>
          <p:nvPr/>
        </p:nvSpPr>
        <p:spPr>
          <a:xfrm>
            <a:off x="3897763" y="4120639"/>
            <a:ext cx="649224"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建物2</a:t>
            </a:r>
            <a:endParaRPr lang="en-US" sz="90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A₂</a:t>
            </a:r>
            <a:endParaRPr lang="en-US" sz="900" dirty="0"/>
          </a:p>
        </p:txBody>
      </p:sp>
      <p:sp>
        <p:nvSpPr>
          <p:cNvPr id="29" name="Text 27"/>
          <p:cNvSpPr txBox="1"/>
          <p:nvPr/>
        </p:nvSpPr>
        <p:spPr>
          <a:xfrm>
            <a:off x="3897763" y="4696711"/>
            <a:ext cx="649224" cy="201168"/>
          </a:xfrm>
          <a:prstGeom prst="rect">
            <a:avLst/>
          </a:prstGeom>
          <a:noFill/>
          <a:ln/>
        </p:spPr>
        <p:txBody>
          <a:bodyPr wrap="square" lIns="508" tIns="508" rIns="508" bIns="508"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s</a:t>
            </a:r>
            <a:pPr algn="ctr" indent="0" marL="0">
              <a:buNone/>
            </a:pPr>
            <a:r>
              <a:rPr lang="en-US" sz="950" b="1" baseline="-40000" dirty="0">
                <a:solidFill>
                  <a:srgbClr val="1F6F78"/>
                </a:solidFill>
                <a:latin typeface="Yu Gothic" pitchFamily="34" charset="0"/>
                <a:ea typeface="Yu Gothic" pitchFamily="34" charset="-122"/>
                <a:cs typeface="Yu Gothic" pitchFamily="34" charset="-120"/>
              </a:rPr>
              <a:t>2</a:t>
            </a:r>
            <a:pPr algn="ctr" indent="0" marL="0">
              <a:buNone/>
            </a:pPr>
            <a:r>
              <a:rPr lang="en-US" sz="950" b="1" dirty="0">
                <a:solidFill>
                  <a:srgbClr val="1F6F78"/>
                </a:solidFill>
                <a:latin typeface="Yu Gothic" pitchFamily="34" charset="0"/>
                <a:ea typeface="Yu Gothic" pitchFamily="34" charset="-122"/>
                <a:cs typeface="Yu Gothic" pitchFamily="34" charset="-120"/>
              </a:rPr>
              <a:t>＝1</a:t>
            </a:r>
            <a:endParaRPr lang="en-US" sz="950" dirty="0"/>
          </a:p>
        </p:txBody>
      </p:sp>
      <p:sp>
        <p:nvSpPr>
          <p:cNvPr id="30" name="Text 28"/>
          <p:cNvSpPr txBox="1"/>
          <p:nvPr/>
        </p:nvSpPr>
        <p:spPr>
          <a:xfrm>
            <a:off x="4595409" y="4217579"/>
            <a:ext cx="868680" cy="201168"/>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θ</a:t>
            </a:r>
            <a:pPr indent="0" marL="0">
              <a:buNone/>
            </a:pPr>
            <a:r>
              <a:rPr lang="en-US" sz="950" b="1" baseline="-40000" dirty="0">
                <a:solidFill>
                  <a:srgbClr val="C56A2C"/>
                </a:solidFill>
                <a:latin typeface="Yu Gothic" pitchFamily="34" charset="0"/>
                <a:ea typeface="Yu Gothic" pitchFamily="34" charset="-122"/>
                <a:cs typeface="Yu Gothic" pitchFamily="34" charset="-120"/>
              </a:rPr>
              <a:t>2</a:t>
            </a:r>
            <a:pPr indent="0" marL="0">
              <a:buNone/>
            </a:pPr>
            <a:r>
              <a:rPr lang="en-US" sz="950" b="1" dirty="0">
                <a:solidFill>
                  <a:srgbClr val="C56A2C"/>
                </a:solidFill>
                <a:latin typeface="Yu Gothic" pitchFamily="34" charset="0"/>
                <a:ea typeface="Yu Gothic" pitchFamily="34" charset="-122"/>
                <a:cs typeface="Yu Gothic" pitchFamily="34" charset="-120"/>
              </a:rPr>
              <a:t>＝110°</a:t>
            </a:r>
            <a:endParaRPr lang="en-US" sz="950" dirty="0"/>
          </a:p>
        </p:txBody>
      </p:sp>
      <p:sp>
        <p:nvSpPr>
          <p:cNvPr id="31" name="Shape 29"/>
          <p:cNvSpPr/>
          <p:nvPr/>
        </p:nvSpPr>
        <p:spPr>
          <a:xfrm>
            <a:off x="3387852" y="4142865"/>
            <a:ext cx="509911" cy="91"/>
          </a:xfrm>
          <a:prstGeom prst="line">
            <a:avLst/>
          </a:prstGeom>
          <a:noFill/>
          <a:ln w="19050">
            <a:solidFill>
              <a:srgbClr val="B04A3F"/>
            </a:solidFill>
            <a:prstDash val="solid"/>
            <a:headEnd type="triangle"/>
            <a:tailEnd type="triangle"/>
          </a:ln>
        </p:spPr>
      </p:sp>
      <p:sp>
        <p:nvSpPr>
          <p:cNvPr id="32" name="Text 30"/>
          <p:cNvSpPr txBox="1"/>
          <p:nvPr/>
        </p:nvSpPr>
        <p:spPr>
          <a:xfrm>
            <a:off x="3459927" y="4161153"/>
            <a:ext cx="365760" cy="219456"/>
          </a:xfrm>
          <a:prstGeom prst="rect">
            <a:avLst/>
          </a:prstGeom>
          <a:noFill/>
          <a:ln/>
        </p:spPr>
        <p:txBody>
          <a:bodyPr wrap="square" lIns="508" tIns="508" rIns="508" bIns="508" rtlCol="0" anchor="t"/>
          <a:lstStyle/>
          <a:p>
            <a:pPr indent="0" marL="0">
              <a:buNone/>
            </a:pPr>
            <a:r>
              <a:rPr lang="en-US" sz="1050" b="1" dirty="0">
                <a:solidFill>
                  <a:srgbClr val="B04A3F"/>
                </a:solidFill>
                <a:latin typeface="Yu Gothic" pitchFamily="34" charset="0"/>
                <a:ea typeface="Yu Gothic" pitchFamily="34" charset="-122"/>
                <a:cs typeface="Yu Gothic" pitchFamily="34" charset="-120"/>
              </a:rPr>
              <a:t>D</a:t>
            </a:r>
            <a:pPr indent="0" marL="0">
              <a:buNone/>
            </a:pPr>
            <a:r>
              <a:rPr lang="en-US" sz="1050" b="1" baseline="-40000" dirty="0">
                <a:solidFill>
                  <a:srgbClr val="B04A3F"/>
                </a:solidFill>
                <a:latin typeface="Yu Gothic" pitchFamily="34" charset="0"/>
                <a:ea typeface="Yu Gothic" pitchFamily="34" charset="-122"/>
                <a:cs typeface="Yu Gothic" pitchFamily="34" charset="-120"/>
              </a:rPr>
              <a:t>2</a:t>
            </a:r>
            <a:endParaRPr lang="en-US" sz="1050" dirty="0"/>
          </a:p>
        </p:txBody>
      </p:sp>
      <p:sp>
        <p:nvSpPr>
          <p:cNvPr id="33" name="Shape 31"/>
          <p:cNvSpPr/>
          <p:nvPr/>
        </p:nvSpPr>
        <p:spPr>
          <a:xfrm flipH="1">
            <a:off x="2619145" y="3931920"/>
            <a:ext cx="444095" cy="1220142"/>
          </a:xfrm>
          <a:prstGeom prst="line">
            <a:avLst/>
          </a:prstGeom>
          <a:noFill/>
          <a:ln w="9525">
            <a:solidFill>
              <a:srgbClr val="C56A2C"/>
            </a:solidFill>
            <a:prstDash val="sysDot"/>
          </a:ln>
        </p:spPr>
      </p:sp>
      <p:sp>
        <p:nvSpPr>
          <p:cNvPr id="34" name="Shape 32"/>
          <p:cNvSpPr/>
          <p:nvPr/>
        </p:nvSpPr>
        <p:spPr>
          <a:xfrm>
            <a:off x="2294533" y="4827450"/>
            <a:ext cx="649224" cy="649224"/>
          </a:xfrm>
          <a:prstGeom prst="rect">
            <a:avLst/>
          </a:prstGeom>
          <a:solidFill>
            <a:srgbClr val="1F6F78"/>
          </a:solidFill>
          <a:ln/>
        </p:spPr>
      </p:sp>
      <p:sp>
        <p:nvSpPr>
          <p:cNvPr id="35" name="Text 33"/>
          <p:cNvSpPr txBox="1"/>
          <p:nvPr/>
        </p:nvSpPr>
        <p:spPr>
          <a:xfrm>
            <a:off x="2294533" y="4918890"/>
            <a:ext cx="649224"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建物3</a:t>
            </a:r>
            <a:endParaRPr lang="en-US" sz="90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A₃</a:t>
            </a:r>
            <a:endParaRPr lang="en-US" sz="900" dirty="0"/>
          </a:p>
        </p:txBody>
      </p:sp>
      <p:sp>
        <p:nvSpPr>
          <p:cNvPr id="36" name="Text 34"/>
          <p:cNvSpPr txBox="1"/>
          <p:nvPr/>
        </p:nvSpPr>
        <p:spPr>
          <a:xfrm>
            <a:off x="2294533" y="5494962"/>
            <a:ext cx="649224" cy="201168"/>
          </a:xfrm>
          <a:prstGeom prst="rect">
            <a:avLst/>
          </a:prstGeom>
          <a:noFill/>
          <a:ln/>
        </p:spPr>
        <p:txBody>
          <a:bodyPr wrap="square" lIns="508" tIns="508" rIns="508" bIns="508"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s</a:t>
            </a:r>
            <a:pPr algn="ctr" indent="0" marL="0">
              <a:buNone/>
            </a:pPr>
            <a:r>
              <a:rPr lang="en-US" sz="950" b="1" baseline="-40000" dirty="0">
                <a:solidFill>
                  <a:srgbClr val="1F6F78"/>
                </a:solidFill>
                <a:latin typeface="Yu Gothic" pitchFamily="34" charset="0"/>
                <a:ea typeface="Yu Gothic" pitchFamily="34" charset="-122"/>
                <a:cs typeface="Yu Gothic" pitchFamily="34" charset="-120"/>
              </a:rPr>
              <a:t>3</a:t>
            </a:r>
            <a:pPr algn="ctr" indent="0" marL="0">
              <a:buNone/>
            </a:pPr>
            <a:r>
              <a:rPr lang="en-US" sz="950" b="1" dirty="0">
                <a:solidFill>
                  <a:srgbClr val="1F6F78"/>
                </a:solidFill>
                <a:latin typeface="Yu Gothic" pitchFamily="34" charset="0"/>
                <a:ea typeface="Yu Gothic" pitchFamily="34" charset="-122"/>
                <a:cs typeface="Yu Gothic" pitchFamily="34" charset="-120"/>
              </a:rPr>
              <a:t>＝1</a:t>
            </a:r>
            <a:endParaRPr lang="en-US" sz="950" dirty="0"/>
          </a:p>
        </p:txBody>
      </p:sp>
      <p:sp>
        <p:nvSpPr>
          <p:cNvPr id="37" name="Text 35"/>
          <p:cNvSpPr txBox="1"/>
          <p:nvPr/>
        </p:nvSpPr>
        <p:spPr>
          <a:xfrm>
            <a:off x="1401227" y="5035601"/>
            <a:ext cx="868680" cy="201168"/>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θ</a:t>
            </a:r>
            <a:pPr indent="0" marL="0">
              <a:buNone/>
            </a:pPr>
            <a:r>
              <a:rPr lang="en-US" sz="950" b="1" baseline="-40000" dirty="0">
                <a:solidFill>
                  <a:srgbClr val="C56A2C"/>
                </a:solidFill>
                <a:latin typeface="Yu Gothic" pitchFamily="34" charset="0"/>
                <a:ea typeface="Yu Gothic" pitchFamily="34" charset="-122"/>
                <a:cs typeface="Yu Gothic" pitchFamily="34" charset="-120"/>
              </a:rPr>
              <a:t>3</a:t>
            </a:r>
            <a:pPr indent="0" marL="0">
              <a:buNone/>
            </a:pPr>
            <a:r>
              <a:rPr lang="en-US" sz="950" b="1" dirty="0">
                <a:solidFill>
                  <a:srgbClr val="C56A2C"/>
                </a:solidFill>
                <a:latin typeface="Yu Gothic" pitchFamily="34" charset="0"/>
                <a:ea typeface="Yu Gothic" pitchFamily="34" charset="-122"/>
                <a:cs typeface="Yu Gothic" pitchFamily="34" charset="-120"/>
              </a:rPr>
              <a:t>＝200°</a:t>
            </a:r>
            <a:endParaRPr lang="en-US" sz="950" dirty="0"/>
          </a:p>
        </p:txBody>
      </p:sp>
      <p:sp>
        <p:nvSpPr>
          <p:cNvPr id="38" name="Shape 36"/>
          <p:cNvSpPr/>
          <p:nvPr/>
        </p:nvSpPr>
        <p:spPr>
          <a:xfrm>
            <a:off x="2841192" y="4256532"/>
            <a:ext cx="91" cy="570918"/>
          </a:xfrm>
          <a:prstGeom prst="line">
            <a:avLst/>
          </a:prstGeom>
          <a:noFill/>
          <a:ln w="19050">
            <a:solidFill>
              <a:srgbClr val="B04A3F"/>
            </a:solidFill>
            <a:prstDash val="solid"/>
            <a:headEnd type="triangle"/>
            <a:tailEnd type="triangle"/>
          </a:ln>
        </p:spPr>
      </p:sp>
      <p:sp>
        <p:nvSpPr>
          <p:cNvPr id="39" name="Text 37"/>
          <p:cNvSpPr txBox="1"/>
          <p:nvPr/>
        </p:nvSpPr>
        <p:spPr>
          <a:xfrm>
            <a:off x="2886912" y="4432263"/>
            <a:ext cx="365760" cy="219456"/>
          </a:xfrm>
          <a:prstGeom prst="rect">
            <a:avLst/>
          </a:prstGeom>
          <a:noFill/>
          <a:ln/>
        </p:spPr>
        <p:txBody>
          <a:bodyPr wrap="square" lIns="508" tIns="508" rIns="508" bIns="508" rtlCol="0" anchor="t"/>
          <a:lstStyle/>
          <a:p>
            <a:pPr indent="0" marL="0">
              <a:buNone/>
            </a:pPr>
            <a:r>
              <a:rPr lang="en-US" sz="1050" b="1" dirty="0">
                <a:solidFill>
                  <a:srgbClr val="B04A3F"/>
                </a:solidFill>
                <a:latin typeface="Yu Gothic" pitchFamily="34" charset="0"/>
                <a:ea typeface="Yu Gothic" pitchFamily="34" charset="-122"/>
                <a:cs typeface="Yu Gothic" pitchFamily="34" charset="-120"/>
              </a:rPr>
              <a:t>D</a:t>
            </a:r>
            <a:pPr indent="0" marL="0">
              <a:buNone/>
            </a:pPr>
            <a:r>
              <a:rPr lang="en-US" sz="1050" b="1" baseline="-40000" dirty="0">
                <a:solidFill>
                  <a:srgbClr val="B04A3F"/>
                </a:solidFill>
                <a:latin typeface="Yu Gothic" pitchFamily="34" charset="0"/>
                <a:ea typeface="Yu Gothic" pitchFamily="34" charset="-122"/>
                <a:cs typeface="Yu Gothic" pitchFamily="34" charset="-120"/>
              </a:rPr>
              <a:t>3</a:t>
            </a:r>
            <a:endParaRPr lang="en-US" sz="1050" dirty="0"/>
          </a:p>
        </p:txBody>
      </p:sp>
      <p:sp>
        <p:nvSpPr>
          <p:cNvPr id="40" name="Shape 38"/>
          <p:cNvSpPr/>
          <p:nvPr/>
        </p:nvSpPr>
        <p:spPr>
          <a:xfrm flipH="1" flipV="1">
            <a:off x="1904105" y="3510029"/>
            <a:ext cx="1159135" cy="421891"/>
          </a:xfrm>
          <a:prstGeom prst="line">
            <a:avLst/>
          </a:prstGeom>
          <a:noFill/>
          <a:ln w="9525">
            <a:solidFill>
              <a:srgbClr val="AEB4BC"/>
            </a:solidFill>
            <a:prstDash val="sysDot"/>
          </a:ln>
        </p:spPr>
      </p:sp>
      <p:sp>
        <p:nvSpPr>
          <p:cNvPr id="41" name="Shape 39"/>
          <p:cNvSpPr/>
          <p:nvPr/>
        </p:nvSpPr>
        <p:spPr>
          <a:xfrm>
            <a:off x="1579493" y="3185417"/>
            <a:ext cx="649224" cy="649224"/>
          </a:xfrm>
          <a:prstGeom prst="rect">
            <a:avLst/>
          </a:prstGeom>
          <a:solidFill>
            <a:srgbClr val="FFFFFF"/>
          </a:solidFill>
          <a:ln w="12700">
            <a:solidFill>
              <a:srgbClr val="AEB4BC"/>
            </a:solidFill>
            <a:prstDash val="dash"/>
          </a:ln>
        </p:spPr>
      </p:sp>
      <p:sp>
        <p:nvSpPr>
          <p:cNvPr id="42" name="Text 40"/>
          <p:cNvSpPr txBox="1"/>
          <p:nvPr/>
        </p:nvSpPr>
        <p:spPr>
          <a:xfrm>
            <a:off x="1579493" y="3276857"/>
            <a:ext cx="649224" cy="457200"/>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建物4</a:t>
            </a:r>
            <a:endParaRPr lang="en-US" sz="900" dirty="0"/>
          </a:p>
          <a:p>
            <a:pPr algn="ctr" indent="0" marL="0">
              <a:buNone/>
            </a:pPr>
            <a:r>
              <a:rPr lang="en-US" sz="850" dirty="0">
                <a:solidFill>
                  <a:srgbClr val="6B7480"/>
                </a:solidFill>
                <a:latin typeface="Yu Gothic" pitchFamily="34" charset="0"/>
                <a:ea typeface="Yu Gothic" pitchFamily="34" charset="-122"/>
                <a:cs typeface="Yu Gothic" pitchFamily="34" charset="-120"/>
              </a:rPr>
              <a:t>なし</a:t>
            </a:r>
            <a:endParaRPr lang="en-US" sz="900" dirty="0"/>
          </a:p>
        </p:txBody>
      </p:sp>
      <p:sp>
        <p:nvSpPr>
          <p:cNvPr id="43" name="Text 41"/>
          <p:cNvSpPr txBox="1"/>
          <p:nvPr/>
        </p:nvSpPr>
        <p:spPr>
          <a:xfrm>
            <a:off x="1579493" y="3852929"/>
            <a:ext cx="649224" cy="201168"/>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s</a:t>
            </a:r>
            <a:pPr algn="ctr" indent="0" marL="0">
              <a:buNone/>
            </a:pPr>
            <a:r>
              <a:rPr lang="en-US" sz="950" b="1" baseline="-40000" dirty="0">
                <a:solidFill>
                  <a:srgbClr val="6B7480"/>
                </a:solidFill>
                <a:latin typeface="Yu Gothic" pitchFamily="34" charset="0"/>
                <a:ea typeface="Yu Gothic" pitchFamily="34" charset="-122"/>
                <a:cs typeface="Yu Gothic" pitchFamily="34" charset="-120"/>
              </a:rPr>
              <a:t>4</a:t>
            </a:r>
            <a:pPr algn="ctr" indent="0" marL="0">
              <a:buNone/>
            </a:pPr>
            <a:r>
              <a:rPr lang="en-US" sz="950" b="1" dirty="0">
                <a:solidFill>
                  <a:srgbClr val="6B7480"/>
                </a:solidFill>
                <a:latin typeface="Yu Gothic" pitchFamily="34" charset="0"/>
                <a:ea typeface="Yu Gothic" pitchFamily="34" charset="-122"/>
                <a:cs typeface="Yu Gothic" pitchFamily="34" charset="-120"/>
              </a:rPr>
              <a:t>＝0</a:t>
            </a:r>
            <a:endParaRPr lang="en-US" sz="950" dirty="0"/>
          </a:p>
        </p:txBody>
      </p:sp>
      <p:sp>
        <p:nvSpPr>
          <p:cNvPr id="44" name="Text 42"/>
          <p:cNvSpPr txBox="1"/>
          <p:nvPr/>
        </p:nvSpPr>
        <p:spPr>
          <a:xfrm>
            <a:off x="1401227" y="3023006"/>
            <a:ext cx="868680" cy="201168"/>
          </a:xfrm>
          <a:prstGeom prst="rect">
            <a:avLst/>
          </a:prstGeom>
          <a:noFill/>
          <a:ln/>
        </p:spPr>
        <p:txBody>
          <a:bodyPr wrap="square" lIns="508" tIns="508" rIns="508" bIns="508" rtlCol="0" anchor="t"/>
          <a:lstStyle/>
          <a:p>
            <a:pPr indent="0" marL="0">
              <a:buNone/>
            </a:pPr>
            <a:r>
              <a:rPr lang="en-US" sz="950" b="1" dirty="0">
                <a:solidFill>
                  <a:srgbClr val="AEB4BC"/>
                </a:solidFill>
                <a:latin typeface="Yu Gothic" pitchFamily="34" charset="0"/>
                <a:ea typeface="Yu Gothic" pitchFamily="34" charset="-122"/>
                <a:cs typeface="Yu Gothic" pitchFamily="34" charset="-120"/>
              </a:rPr>
              <a:t>θ</a:t>
            </a:r>
            <a:pPr indent="0" marL="0">
              <a:buNone/>
            </a:pPr>
            <a:r>
              <a:rPr lang="en-US" sz="950" b="1" baseline="-40000" dirty="0">
                <a:solidFill>
                  <a:srgbClr val="AEB4BC"/>
                </a:solidFill>
                <a:latin typeface="Yu Gothic" pitchFamily="34" charset="0"/>
                <a:ea typeface="Yu Gothic" pitchFamily="34" charset="-122"/>
                <a:cs typeface="Yu Gothic" pitchFamily="34" charset="-120"/>
              </a:rPr>
              <a:t>4</a:t>
            </a:r>
            <a:pPr indent="0" marL="0">
              <a:buNone/>
            </a:pPr>
            <a:r>
              <a:rPr lang="en-US" sz="950" b="1" dirty="0">
                <a:solidFill>
                  <a:srgbClr val="AEB4BC"/>
                </a:solidFill>
                <a:latin typeface="Yu Gothic" pitchFamily="34" charset="0"/>
                <a:ea typeface="Yu Gothic" pitchFamily="34" charset="-122"/>
                <a:cs typeface="Yu Gothic" pitchFamily="34" charset="-120"/>
              </a:rPr>
              <a:t>＝290°</a:t>
            </a:r>
            <a:endParaRPr lang="en-US" sz="950" dirty="0"/>
          </a:p>
        </p:txBody>
      </p:sp>
      <p:sp>
        <p:nvSpPr>
          <p:cNvPr id="45" name="Text 43"/>
          <p:cNvSpPr txBox="1"/>
          <p:nvPr/>
        </p:nvSpPr>
        <p:spPr>
          <a:xfrm>
            <a:off x="594360" y="5897880"/>
            <a:ext cx="5212080" cy="384048"/>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θ：北から時計回り。建物の向き（回転）ではなく「置く方向」。建物の辺は東西・南北に固定。</a:t>
            </a:r>
            <a:endParaRPr lang="en-US" sz="900" dirty="0"/>
          </a:p>
        </p:txBody>
      </p:sp>
      <p:sp>
        <p:nvSpPr>
          <p:cNvPr id="46" name="Text 44"/>
          <p:cNvSpPr txBox="1"/>
          <p:nvPr/>
        </p:nvSpPr>
        <p:spPr>
          <a:xfrm>
            <a:off x="6217920" y="1481328"/>
            <a:ext cx="54864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変える変数：1 ＋ 4棟 × 4個 ＝ 17個</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217920" y="1847088"/>
          <a:ext cx="5532120" cy="914400"/>
        </p:xfrm>
        <a:graphic>
          <a:graphicData uri="http://schemas.openxmlformats.org/drawingml/2006/table">
            <a:tbl>
              <a:tblPr/>
              <a:tblGrid>
                <a:gridCol w="685800"/>
                <a:gridCol w="1463040"/>
                <a:gridCol w="2103120"/>
                <a:gridCol w="1280160"/>
              </a:tblGrid>
              <a:tr h="384048">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記号</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意味</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どこの値か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範囲（設計）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H</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C</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中央建物の高さ</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Cの地面〜屋根</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25・50・75・100m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s</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i</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建物iの有無</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置く＝1，置かない＝0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 または 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A</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i</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周囲建物iの高さ</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建物iの地面〜屋根</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25〜100m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D</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i</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Cとの隙間</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外形どうしの最短距離（赤線）</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10〜100m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θ</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i</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置く方位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Cの中心→建物iの中心の向き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0〜360°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6217920" y="4251960"/>
            <a:ext cx="5532120" cy="45720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i＝1, 2, 3, 4（周囲建物の番号）。棟数 n ＝ Σ</a:t>
            </a:r>
            <a:pPr indent="0" marL="0">
              <a:buNone/>
            </a:pPr>
            <a:r>
              <a:rPr lang="en-US" sz="1050" baseline="-40000" dirty="0">
                <a:solidFill>
                  <a:srgbClr val="333F4E"/>
                </a:solidFill>
                <a:latin typeface="Yu Gothic" pitchFamily="34" charset="0"/>
                <a:ea typeface="Yu Gothic" pitchFamily="34" charset="-122"/>
                <a:cs typeface="Yu Gothic" pitchFamily="34" charset="-120"/>
              </a:rPr>
              <a:t>i=1</a:t>
            </a:r>
            <a:pPr indent="0" marL="0">
              <a:buNone/>
            </a:pPr>
            <a:r>
              <a:rPr lang="en-US" sz="1050" baseline="30000" dirty="0">
                <a:solidFill>
                  <a:srgbClr val="333F4E"/>
                </a:solidFill>
                <a:latin typeface="Yu Gothic" pitchFamily="34" charset="0"/>
                <a:ea typeface="Yu Gothic" pitchFamily="34" charset="-122"/>
                <a:cs typeface="Yu Gothic" pitchFamily="34" charset="-120"/>
              </a:rPr>
              <a:t>4</a:t>
            </a:r>
            <a:pPr indent="0" marL="0">
              <a:buNone/>
            </a:pPr>
            <a:r>
              <a:rPr lang="en-US" sz="1050" dirty="0">
                <a:solidFill>
                  <a:srgbClr val="333F4E"/>
                </a:solidFill>
                <a:latin typeface="Yu Gothic" pitchFamily="34" charset="0"/>
                <a:ea typeface="Yu Gothic" pitchFamily="34" charset="-122"/>
                <a:cs typeface="Yu Gothic" pitchFamily="34" charset="-120"/>
              </a:rPr>
              <a:t> s</a:t>
            </a:r>
            <a:pPr indent="0" marL="0">
              <a:buNone/>
            </a:pPr>
            <a:r>
              <a:rPr lang="en-US" sz="1050" baseline="-40000" dirty="0">
                <a:solidFill>
                  <a:srgbClr val="333F4E"/>
                </a:solidFill>
                <a:latin typeface="Yu Gothic" pitchFamily="34" charset="0"/>
                <a:ea typeface="Yu Gothic" pitchFamily="34" charset="-122"/>
                <a:cs typeface="Yu Gothic" pitchFamily="34" charset="-120"/>
              </a:rPr>
              <a:t>i</a:t>
            </a:r>
            <a:pPr indent="0" marL="0">
              <a:buNone/>
            </a:pPr>
            <a:r>
              <a:rPr lang="en-US" sz="1050" dirty="0">
                <a:solidFill>
                  <a:srgbClr val="333F4E"/>
                </a:solidFill>
                <a:latin typeface="Yu Gothic" pitchFamily="34" charset="0"/>
                <a:ea typeface="Yu Gothic" pitchFamily="34" charset="-122"/>
                <a:cs typeface="Yu Gothic" pitchFamily="34" charset="-120"/>
              </a:rPr>
              <a:t> は s から計算できるので、別の入力にはしない。</a:t>
            </a:r>
            <a:endParaRPr lang="en-US" sz="1050" dirty="0"/>
          </a:p>
        </p:txBody>
      </p:sp>
      <p:sp>
        <p:nvSpPr>
          <p:cNvPr id="49" name="Shape 46"/>
          <p:cNvSpPr/>
          <p:nvPr/>
        </p:nvSpPr>
        <p:spPr>
          <a:xfrm>
            <a:off x="6217920" y="4800600"/>
            <a:ext cx="5532120" cy="1508760"/>
          </a:xfrm>
          <a:prstGeom prst="roundRect">
            <a:avLst>
              <a:gd name="adj" fmla="val 3636"/>
            </a:avLst>
          </a:prstGeom>
          <a:solidFill>
            <a:srgbClr val="1B2A44"/>
          </a:solidFill>
          <a:ln/>
        </p:spPr>
      </p:sp>
      <p:sp>
        <p:nvSpPr>
          <p:cNvPr id="50" name="Text 47"/>
          <p:cNvSpPr txBox="1"/>
          <p:nvPr/>
        </p:nvSpPr>
        <p:spPr>
          <a:xfrm>
            <a:off x="6400800" y="4864608"/>
            <a:ext cx="27432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17個の内訳</a:t>
            </a:r>
            <a:endParaRPr lang="en-US" sz="1100" dirty="0"/>
          </a:p>
        </p:txBody>
      </p:sp>
      <p:sp>
        <p:nvSpPr>
          <p:cNvPr id="51" name="Shape 48"/>
          <p:cNvSpPr/>
          <p:nvPr/>
        </p:nvSpPr>
        <p:spPr>
          <a:xfrm>
            <a:off x="6400800" y="5193792"/>
            <a:ext cx="658368" cy="502920"/>
          </a:xfrm>
          <a:prstGeom prst="roundRect">
            <a:avLst>
              <a:gd name="adj" fmla="val 9091"/>
            </a:avLst>
          </a:prstGeom>
          <a:solidFill>
            <a:srgbClr val="E8934D"/>
          </a:solidFill>
          <a:ln/>
        </p:spPr>
      </p:sp>
      <p:sp>
        <p:nvSpPr>
          <p:cNvPr id="52" name="Text 49"/>
          <p:cNvSpPr txBox="1"/>
          <p:nvPr/>
        </p:nvSpPr>
        <p:spPr>
          <a:xfrm>
            <a:off x="6400800" y="5193792"/>
            <a:ext cx="65836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H</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C</a:t>
            </a:r>
            <a:endParaRPr lang="en-US" sz="950" dirty="0"/>
          </a:p>
        </p:txBody>
      </p:sp>
      <p:sp>
        <p:nvSpPr>
          <p:cNvPr id="53" name="Shape 50"/>
          <p:cNvSpPr/>
          <p:nvPr/>
        </p:nvSpPr>
        <p:spPr>
          <a:xfrm>
            <a:off x="7150608" y="5193792"/>
            <a:ext cx="1069848" cy="502920"/>
          </a:xfrm>
          <a:prstGeom prst="roundRect">
            <a:avLst>
              <a:gd name="adj" fmla="val 9091"/>
            </a:avLst>
          </a:prstGeom>
          <a:solidFill>
            <a:srgbClr val="35507D"/>
          </a:solidFill>
          <a:ln/>
        </p:spPr>
      </p:sp>
      <p:sp>
        <p:nvSpPr>
          <p:cNvPr id="54" name="Text 51"/>
          <p:cNvSpPr txBox="1"/>
          <p:nvPr/>
        </p:nvSpPr>
        <p:spPr>
          <a:xfrm>
            <a:off x="7150608" y="5193792"/>
            <a:ext cx="106984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s</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50" b="1" dirty="0">
                <a:solidFill>
                  <a:srgbClr val="FFFFFF"/>
                </a:solidFill>
                <a:latin typeface="Yu Gothic" pitchFamily="34" charset="0"/>
                <a:ea typeface="Yu Gothic" pitchFamily="34" charset="-122"/>
                <a:cs typeface="Yu Gothic" pitchFamily="34" charset="-120"/>
              </a:rPr>
              <a:t>, A</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50" b="1" dirty="0">
                <a:solidFill>
                  <a:srgbClr val="FFFFFF"/>
                </a:solidFill>
                <a:latin typeface="Yu Gothic" pitchFamily="34" charset="0"/>
                <a:ea typeface="Yu Gothic" pitchFamily="34" charset="-122"/>
                <a:cs typeface="Yu Gothic" pitchFamily="34" charset="-120"/>
              </a:rPr>
              <a:t>, D</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50" b="1" dirty="0">
                <a:solidFill>
                  <a:srgbClr val="FFFFFF"/>
                </a:solidFill>
                <a:latin typeface="Yu Gothic" pitchFamily="34" charset="0"/>
                <a:ea typeface="Yu Gothic" pitchFamily="34" charset="-122"/>
                <a:cs typeface="Yu Gothic" pitchFamily="34" charset="-120"/>
              </a:rPr>
              <a:t>, θ</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1</a:t>
            </a:r>
            <a:endParaRPr lang="en-US" sz="950" dirty="0"/>
          </a:p>
        </p:txBody>
      </p:sp>
      <p:sp>
        <p:nvSpPr>
          <p:cNvPr id="55" name="Shape 52"/>
          <p:cNvSpPr/>
          <p:nvPr/>
        </p:nvSpPr>
        <p:spPr>
          <a:xfrm>
            <a:off x="8284464" y="5193792"/>
            <a:ext cx="1069848" cy="502920"/>
          </a:xfrm>
          <a:prstGeom prst="roundRect">
            <a:avLst>
              <a:gd name="adj" fmla="val 9091"/>
            </a:avLst>
          </a:prstGeom>
          <a:solidFill>
            <a:srgbClr val="35507D"/>
          </a:solidFill>
          <a:ln/>
        </p:spPr>
      </p:sp>
      <p:sp>
        <p:nvSpPr>
          <p:cNvPr id="56" name="Text 53"/>
          <p:cNvSpPr txBox="1"/>
          <p:nvPr/>
        </p:nvSpPr>
        <p:spPr>
          <a:xfrm>
            <a:off x="8284464" y="5193792"/>
            <a:ext cx="106984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s</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50" b="1" dirty="0">
                <a:solidFill>
                  <a:srgbClr val="FFFFFF"/>
                </a:solidFill>
                <a:latin typeface="Yu Gothic" pitchFamily="34" charset="0"/>
                <a:ea typeface="Yu Gothic" pitchFamily="34" charset="-122"/>
                <a:cs typeface="Yu Gothic" pitchFamily="34" charset="-120"/>
              </a:rPr>
              <a:t>, A</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50" b="1" dirty="0">
                <a:solidFill>
                  <a:srgbClr val="FFFFFF"/>
                </a:solidFill>
                <a:latin typeface="Yu Gothic" pitchFamily="34" charset="0"/>
                <a:ea typeface="Yu Gothic" pitchFamily="34" charset="-122"/>
                <a:cs typeface="Yu Gothic" pitchFamily="34" charset="-120"/>
              </a:rPr>
              <a:t>, D</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50" b="1" dirty="0">
                <a:solidFill>
                  <a:srgbClr val="FFFFFF"/>
                </a:solidFill>
                <a:latin typeface="Yu Gothic" pitchFamily="34" charset="0"/>
                <a:ea typeface="Yu Gothic" pitchFamily="34" charset="-122"/>
                <a:cs typeface="Yu Gothic" pitchFamily="34" charset="-120"/>
              </a:rPr>
              <a:t>, θ</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2</a:t>
            </a:r>
            <a:endParaRPr lang="en-US" sz="950" dirty="0"/>
          </a:p>
        </p:txBody>
      </p:sp>
      <p:sp>
        <p:nvSpPr>
          <p:cNvPr id="57" name="Shape 54"/>
          <p:cNvSpPr/>
          <p:nvPr/>
        </p:nvSpPr>
        <p:spPr>
          <a:xfrm>
            <a:off x="9418320" y="5193792"/>
            <a:ext cx="1069848" cy="502920"/>
          </a:xfrm>
          <a:prstGeom prst="roundRect">
            <a:avLst>
              <a:gd name="adj" fmla="val 9091"/>
            </a:avLst>
          </a:prstGeom>
          <a:solidFill>
            <a:srgbClr val="35507D"/>
          </a:solidFill>
          <a:ln/>
        </p:spPr>
      </p:sp>
      <p:sp>
        <p:nvSpPr>
          <p:cNvPr id="58" name="Text 55"/>
          <p:cNvSpPr txBox="1"/>
          <p:nvPr/>
        </p:nvSpPr>
        <p:spPr>
          <a:xfrm>
            <a:off x="9418320" y="5193792"/>
            <a:ext cx="106984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s</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50" b="1" dirty="0">
                <a:solidFill>
                  <a:srgbClr val="FFFFFF"/>
                </a:solidFill>
                <a:latin typeface="Yu Gothic" pitchFamily="34" charset="0"/>
                <a:ea typeface="Yu Gothic" pitchFamily="34" charset="-122"/>
                <a:cs typeface="Yu Gothic" pitchFamily="34" charset="-120"/>
              </a:rPr>
              <a:t>, A</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50" b="1" dirty="0">
                <a:solidFill>
                  <a:srgbClr val="FFFFFF"/>
                </a:solidFill>
                <a:latin typeface="Yu Gothic" pitchFamily="34" charset="0"/>
                <a:ea typeface="Yu Gothic" pitchFamily="34" charset="-122"/>
                <a:cs typeface="Yu Gothic" pitchFamily="34" charset="-120"/>
              </a:rPr>
              <a:t>, D</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50" b="1" dirty="0">
                <a:solidFill>
                  <a:srgbClr val="FFFFFF"/>
                </a:solidFill>
                <a:latin typeface="Yu Gothic" pitchFamily="34" charset="0"/>
                <a:ea typeface="Yu Gothic" pitchFamily="34" charset="-122"/>
                <a:cs typeface="Yu Gothic" pitchFamily="34" charset="-120"/>
              </a:rPr>
              <a:t>, θ</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3</a:t>
            </a:r>
            <a:endParaRPr lang="en-US" sz="950" dirty="0"/>
          </a:p>
        </p:txBody>
      </p:sp>
      <p:sp>
        <p:nvSpPr>
          <p:cNvPr id="59" name="Shape 56"/>
          <p:cNvSpPr/>
          <p:nvPr/>
        </p:nvSpPr>
        <p:spPr>
          <a:xfrm>
            <a:off x="10552176" y="5193792"/>
            <a:ext cx="1069848" cy="502920"/>
          </a:xfrm>
          <a:prstGeom prst="roundRect">
            <a:avLst>
              <a:gd name="adj" fmla="val 9091"/>
            </a:avLst>
          </a:prstGeom>
          <a:solidFill>
            <a:srgbClr val="35507D"/>
          </a:solidFill>
          <a:ln/>
        </p:spPr>
      </p:sp>
      <p:sp>
        <p:nvSpPr>
          <p:cNvPr id="60" name="Text 57"/>
          <p:cNvSpPr txBox="1"/>
          <p:nvPr/>
        </p:nvSpPr>
        <p:spPr>
          <a:xfrm>
            <a:off x="10552176" y="5193792"/>
            <a:ext cx="106984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s</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50" b="1" dirty="0">
                <a:solidFill>
                  <a:srgbClr val="FFFFFF"/>
                </a:solidFill>
                <a:latin typeface="Yu Gothic" pitchFamily="34" charset="0"/>
                <a:ea typeface="Yu Gothic" pitchFamily="34" charset="-122"/>
                <a:cs typeface="Yu Gothic" pitchFamily="34" charset="-120"/>
              </a:rPr>
              <a:t>, A</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50" b="1" dirty="0">
                <a:solidFill>
                  <a:srgbClr val="FFFFFF"/>
                </a:solidFill>
                <a:latin typeface="Yu Gothic" pitchFamily="34" charset="0"/>
                <a:ea typeface="Yu Gothic" pitchFamily="34" charset="-122"/>
                <a:cs typeface="Yu Gothic" pitchFamily="34" charset="-120"/>
              </a:rPr>
              <a:t>, D</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50" b="1" dirty="0">
                <a:solidFill>
                  <a:srgbClr val="FFFFFF"/>
                </a:solidFill>
                <a:latin typeface="Yu Gothic" pitchFamily="34" charset="0"/>
                <a:ea typeface="Yu Gothic" pitchFamily="34" charset="-122"/>
                <a:cs typeface="Yu Gothic" pitchFamily="34" charset="-120"/>
              </a:rPr>
              <a:t>, θ</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4</a:t>
            </a:r>
            <a:endParaRPr lang="en-US" sz="950" dirty="0"/>
          </a:p>
        </p:txBody>
      </p:sp>
      <p:sp>
        <p:nvSpPr>
          <p:cNvPr id="61" name="Text 58"/>
          <p:cNvSpPr txBox="1"/>
          <p:nvPr/>
        </p:nvSpPr>
        <p:spPr>
          <a:xfrm>
            <a:off x="6400800" y="5760720"/>
            <a:ext cx="5212080" cy="457200"/>
          </a:xfrm>
          <a:prstGeom prst="rect">
            <a:avLst/>
          </a:prstGeom>
          <a:noFill/>
          <a:ln/>
        </p:spPr>
        <p:txBody>
          <a:bodyPr wrap="square" lIns="508" tIns="508" rIns="508" bIns="508" rtlCol="0" anchor="t"/>
          <a:lstStyle/>
          <a:p>
            <a:pPr indent="0" marL="0">
              <a:buNone/>
            </a:pPr>
            <a:r>
              <a:rPr lang="en-US" sz="1000" dirty="0">
                <a:solidFill>
                  <a:srgbClr val="CADCFC"/>
                </a:solidFill>
                <a:latin typeface="Yu Gothic" pitchFamily="34" charset="0"/>
                <a:ea typeface="Yu Gothic" pitchFamily="34" charset="-122"/>
                <a:cs typeface="Yu Gothic" pitchFamily="34" charset="-120"/>
              </a:rPr>
              <a:t>中央の高さ 1個 ＋ 建物1〜4 それぞれ4個 ＝ 17個。建物がない棟（s＝0）の A・D・θ は使わない。</a:t>
            </a:r>
            <a:endParaRPr lang="en-US" sz="10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最終目標ツール：立体で見た変数と、出力する20個の値</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高さの変数（中央の高さ・周囲建物の高さ）は立体図で見ると分かりやすい。出力は中央建物の4面 × 5つの高さ帯。</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26 / 45</a:t>
            </a:r>
            <a:endParaRPr lang="en-US" sz="1100" dirty="0"/>
          </a:p>
        </p:txBody>
      </p:sp>
      <p:sp>
        <p:nvSpPr>
          <p:cNvPr id="10" name="Shape 8"/>
          <p:cNvSpPr/>
          <p:nvPr/>
        </p:nvSpPr>
        <p:spPr>
          <a:xfrm>
            <a:off x="457200" y="1463040"/>
            <a:ext cx="6400800" cy="4846320"/>
          </a:xfrm>
          <a:prstGeom prst="roundRect">
            <a:avLst>
              <a:gd name="adj" fmla="val 1132"/>
            </a:avLst>
          </a:prstGeom>
          <a:solidFill>
            <a:srgbClr val="F3F5F8"/>
          </a:solidFill>
          <a:ln/>
        </p:spPr>
      </p:sp>
      <p:sp>
        <p:nvSpPr>
          <p:cNvPr id="11" name="Text 9"/>
          <p:cNvSpPr txBox="1"/>
          <p:nvPr/>
        </p:nvSpPr>
        <p:spPr>
          <a:xfrm>
            <a:off x="594360" y="1517904"/>
            <a:ext cx="45720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斜め上（南東）から見た図</a:t>
            </a:r>
            <a:endParaRPr lang="en-US" sz="1100" dirty="0"/>
          </a:p>
        </p:txBody>
      </p:sp>
      <p:sp>
        <p:nvSpPr>
          <p:cNvPr id="12" name="Shape 10"/>
          <p:cNvSpPr/>
          <p:nvPr/>
        </p:nvSpPr>
        <p:spPr>
          <a:xfrm>
            <a:off x="796978" y="2757260"/>
            <a:ext cx="5912903" cy="2906753"/>
          </a:xfrm>
          <a:custGeom>
            <a:avLst/>
            <a:gdLst/>
            <a:ahLst/>
            <a:cxnLst/>
            <a:rect l="l" t="t" r="r" b="b"/>
            <a:pathLst>
              <a:path w="5912903" h="2906753">
                <a:moveTo>
                  <a:pt x="100219" y="701630"/>
                </a:moveTo>
                <a:lnTo>
                  <a:pt x="0" y="2155007"/>
                </a:lnTo>
                <a:lnTo>
                  <a:pt x="1403062" y="2856637"/>
                </a:lnTo>
                <a:lnTo>
                  <a:pt x="4509841" y="2906753"/>
                </a:lnTo>
                <a:lnTo>
                  <a:pt x="5912903" y="2205123"/>
                </a:lnTo>
                <a:lnTo>
                  <a:pt x="5712466" y="701630"/>
                </a:lnTo>
                <a:lnTo>
                  <a:pt x="4309404" y="0"/>
                </a:lnTo>
                <a:lnTo>
                  <a:pt x="1503280" y="0"/>
                </a:lnTo>
                <a:close/>
              </a:path>
            </a:pathLst>
          </a:custGeom>
          <a:solidFill>
            <a:srgbClr val="E6EAEF"/>
          </a:solidFill>
          <a:ln/>
        </p:spPr>
      </p:sp>
      <p:sp>
        <p:nvSpPr>
          <p:cNvPr id="13" name="Shape 11"/>
          <p:cNvSpPr/>
          <p:nvPr/>
        </p:nvSpPr>
        <p:spPr>
          <a:xfrm>
            <a:off x="4104195" y="2957726"/>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ln w="12700">
            <a:solidFill>
              <a:srgbClr val="6B7480"/>
            </a:solidFill>
            <a:prstDash val="dash"/>
          </a:ln>
        </p:spPr>
      </p:sp>
      <p:sp>
        <p:nvSpPr>
          <p:cNvPr id="14" name="Shape 12"/>
          <p:cNvSpPr/>
          <p:nvPr/>
        </p:nvSpPr>
        <p:spPr>
          <a:xfrm>
            <a:off x="1298071" y="1745917"/>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15" name="Shape 13"/>
          <p:cNvSpPr/>
          <p:nvPr/>
        </p:nvSpPr>
        <p:spPr>
          <a:xfrm>
            <a:off x="1298071" y="2247081"/>
            <a:ext cx="1002187" cy="1712973"/>
          </a:xfrm>
          <a:custGeom>
            <a:avLst/>
            <a:gdLst/>
            <a:ahLst/>
            <a:cxnLst/>
            <a:rect l="l" t="t" r="r" b="b"/>
            <a:pathLst>
              <a:path w="1002187" h="1712973">
                <a:moveTo>
                  <a:pt x="0" y="1211809"/>
                </a:moveTo>
                <a:lnTo>
                  <a:pt x="1002187" y="1712973"/>
                </a:lnTo>
                <a:lnTo>
                  <a:pt x="1002187" y="501164"/>
                </a:lnTo>
                <a:lnTo>
                  <a:pt x="0" y="0"/>
                </a:lnTo>
                <a:close/>
              </a:path>
            </a:pathLst>
          </a:custGeom>
          <a:solidFill>
            <a:srgbClr val="2C8791"/>
          </a:solidFill>
          <a:ln w="6350">
            <a:solidFill>
              <a:srgbClr val="FFFFFF"/>
            </a:solidFill>
            <a:prstDash val="solid"/>
          </a:ln>
        </p:spPr>
      </p:sp>
      <p:sp>
        <p:nvSpPr>
          <p:cNvPr id="16" name="Shape 14"/>
          <p:cNvSpPr/>
          <p:nvPr/>
        </p:nvSpPr>
        <p:spPr>
          <a:xfrm>
            <a:off x="2300258" y="2247081"/>
            <a:ext cx="1002187" cy="1712973"/>
          </a:xfrm>
          <a:custGeom>
            <a:avLst/>
            <a:gdLst/>
            <a:ahLst/>
            <a:cxnLst/>
            <a:rect l="l" t="t" r="r" b="b"/>
            <a:pathLst>
              <a:path w="1002187" h="1712973">
                <a:moveTo>
                  <a:pt x="0" y="1712973"/>
                </a:moveTo>
                <a:lnTo>
                  <a:pt x="1002187" y="1211809"/>
                </a:lnTo>
                <a:lnTo>
                  <a:pt x="1002187" y="0"/>
                </a:lnTo>
                <a:lnTo>
                  <a:pt x="0" y="501164"/>
                </a:lnTo>
                <a:close/>
              </a:path>
            </a:pathLst>
          </a:custGeom>
          <a:solidFill>
            <a:srgbClr val="1F6F78"/>
          </a:solidFill>
          <a:ln w="6350">
            <a:solidFill>
              <a:srgbClr val="FFFFFF"/>
            </a:solidFill>
            <a:prstDash val="solid"/>
          </a:ln>
        </p:spPr>
      </p:sp>
      <p:sp>
        <p:nvSpPr>
          <p:cNvPr id="17" name="Shape 15"/>
          <p:cNvSpPr/>
          <p:nvPr/>
        </p:nvSpPr>
        <p:spPr>
          <a:xfrm>
            <a:off x="2701133" y="2312902"/>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4A5F85"/>
          </a:solidFill>
          <a:ln w="6350">
            <a:solidFill>
              <a:srgbClr val="FFFFFF"/>
            </a:solidFill>
            <a:prstDash val="solid"/>
          </a:ln>
        </p:spPr>
      </p:sp>
      <p:sp>
        <p:nvSpPr>
          <p:cNvPr id="18" name="Shape 16"/>
          <p:cNvSpPr/>
          <p:nvPr/>
        </p:nvSpPr>
        <p:spPr>
          <a:xfrm>
            <a:off x="2701133" y="3891229"/>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6D2B4"/>
          </a:solidFill>
          <a:ln w="9525">
            <a:solidFill>
              <a:srgbClr val="FFFFFF"/>
            </a:solidFill>
            <a:prstDash val="solid"/>
          </a:ln>
        </p:spPr>
      </p:sp>
      <p:sp>
        <p:nvSpPr>
          <p:cNvPr id="19" name="Shape 17"/>
          <p:cNvSpPr/>
          <p:nvPr/>
        </p:nvSpPr>
        <p:spPr>
          <a:xfrm>
            <a:off x="3703320" y="3891229"/>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C9DCE0"/>
          </a:solidFill>
          <a:ln w="9525">
            <a:solidFill>
              <a:srgbClr val="FFFFFF"/>
            </a:solidFill>
            <a:prstDash val="solid"/>
          </a:ln>
        </p:spPr>
      </p:sp>
      <p:sp>
        <p:nvSpPr>
          <p:cNvPr id="20" name="Shape 18"/>
          <p:cNvSpPr/>
          <p:nvPr/>
        </p:nvSpPr>
        <p:spPr>
          <a:xfrm>
            <a:off x="2701133" y="362193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2BE92"/>
          </a:solidFill>
          <a:ln w="9525">
            <a:solidFill>
              <a:srgbClr val="FFFFFF"/>
            </a:solidFill>
            <a:prstDash val="solid"/>
          </a:ln>
        </p:spPr>
      </p:sp>
      <p:sp>
        <p:nvSpPr>
          <p:cNvPr id="21" name="Shape 19"/>
          <p:cNvSpPr/>
          <p:nvPr/>
        </p:nvSpPr>
        <p:spPr>
          <a:xfrm>
            <a:off x="3703320" y="362193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B5CFD4"/>
          </a:solidFill>
          <a:ln w="9525">
            <a:solidFill>
              <a:srgbClr val="FFFFFF"/>
            </a:solidFill>
            <a:prstDash val="solid"/>
          </a:ln>
        </p:spPr>
      </p:sp>
      <p:sp>
        <p:nvSpPr>
          <p:cNvPr id="22" name="Shape 20"/>
          <p:cNvSpPr/>
          <p:nvPr/>
        </p:nvSpPr>
        <p:spPr>
          <a:xfrm>
            <a:off x="2701133" y="335264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EA870"/>
          </a:solidFill>
          <a:ln w="9525">
            <a:solidFill>
              <a:srgbClr val="FFFFFF"/>
            </a:solidFill>
            <a:prstDash val="solid"/>
          </a:ln>
        </p:spPr>
      </p:sp>
      <p:sp>
        <p:nvSpPr>
          <p:cNvPr id="23" name="Shape 21"/>
          <p:cNvSpPr/>
          <p:nvPr/>
        </p:nvSpPr>
        <p:spPr>
          <a:xfrm>
            <a:off x="3703320" y="335264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A0C2C8"/>
          </a:solidFill>
          <a:ln w="9525">
            <a:solidFill>
              <a:srgbClr val="FFFFFF"/>
            </a:solidFill>
            <a:prstDash val="solid"/>
          </a:ln>
        </p:spPr>
      </p:sp>
      <p:sp>
        <p:nvSpPr>
          <p:cNvPr id="24" name="Shape 22"/>
          <p:cNvSpPr/>
          <p:nvPr/>
        </p:nvSpPr>
        <p:spPr>
          <a:xfrm>
            <a:off x="2701133" y="3083357"/>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8934D"/>
          </a:solidFill>
          <a:ln w="9525">
            <a:solidFill>
              <a:srgbClr val="FFFFFF"/>
            </a:solidFill>
            <a:prstDash val="solid"/>
          </a:ln>
        </p:spPr>
      </p:sp>
      <p:sp>
        <p:nvSpPr>
          <p:cNvPr id="25" name="Shape 23"/>
          <p:cNvSpPr/>
          <p:nvPr/>
        </p:nvSpPr>
        <p:spPr>
          <a:xfrm>
            <a:off x="3703320" y="3083357"/>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8BB5BC"/>
          </a:solidFill>
          <a:ln w="9525">
            <a:solidFill>
              <a:srgbClr val="FFFFFF"/>
            </a:solidFill>
            <a:prstDash val="solid"/>
          </a:ln>
        </p:spPr>
      </p:sp>
      <p:sp>
        <p:nvSpPr>
          <p:cNvPr id="26" name="Shape 24"/>
          <p:cNvSpPr/>
          <p:nvPr/>
        </p:nvSpPr>
        <p:spPr>
          <a:xfrm>
            <a:off x="2701133" y="2814066"/>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D77B35"/>
          </a:solidFill>
          <a:ln w="9525">
            <a:solidFill>
              <a:srgbClr val="FFFFFF"/>
            </a:solidFill>
            <a:prstDash val="solid"/>
          </a:ln>
        </p:spPr>
      </p:sp>
      <p:sp>
        <p:nvSpPr>
          <p:cNvPr id="27" name="Shape 25"/>
          <p:cNvSpPr/>
          <p:nvPr/>
        </p:nvSpPr>
        <p:spPr>
          <a:xfrm>
            <a:off x="3703320" y="2814066"/>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76A8B0"/>
          </a:solidFill>
          <a:ln w="9525">
            <a:solidFill>
              <a:srgbClr val="FFFFFF"/>
            </a:solidFill>
            <a:prstDash val="solid"/>
          </a:ln>
        </p:spPr>
      </p:sp>
      <p:sp>
        <p:nvSpPr>
          <p:cNvPr id="28" name="Shape 26"/>
          <p:cNvSpPr/>
          <p:nvPr/>
        </p:nvSpPr>
        <p:spPr>
          <a:xfrm>
            <a:off x="1197853" y="346858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29" name="Shape 27"/>
          <p:cNvSpPr/>
          <p:nvPr/>
        </p:nvSpPr>
        <p:spPr>
          <a:xfrm>
            <a:off x="1197853" y="3969749"/>
            <a:ext cx="1002187" cy="1443682"/>
          </a:xfrm>
          <a:custGeom>
            <a:avLst/>
            <a:gdLst/>
            <a:ahLst/>
            <a:cxnLst/>
            <a:rect l="l" t="t" r="r" b="b"/>
            <a:pathLst>
              <a:path w="1002187" h="1443682">
                <a:moveTo>
                  <a:pt x="0" y="942518"/>
                </a:moveTo>
                <a:lnTo>
                  <a:pt x="1002187" y="1443682"/>
                </a:lnTo>
                <a:lnTo>
                  <a:pt x="1002187" y="501164"/>
                </a:lnTo>
                <a:lnTo>
                  <a:pt x="0" y="0"/>
                </a:lnTo>
                <a:close/>
              </a:path>
            </a:pathLst>
          </a:custGeom>
          <a:solidFill>
            <a:srgbClr val="2C8791"/>
          </a:solidFill>
          <a:ln w="6350">
            <a:solidFill>
              <a:srgbClr val="FFFFFF"/>
            </a:solidFill>
            <a:prstDash val="solid"/>
          </a:ln>
        </p:spPr>
      </p:sp>
      <p:sp>
        <p:nvSpPr>
          <p:cNvPr id="30" name="Shape 28"/>
          <p:cNvSpPr/>
          <p:nvPr/>
        </p:nvSpPr>
        <p:spPr>
          <a:xfrm>
            <a:off x="2200040" y="3969749"/>
            <a:ext cx="1002187" cy="1443682"/>
          </a:xfrm>
          <a:custGeom>
            <a:avLst/>
            <a:gdLst/>
            <a:ahLst/>
            <a:cxnLst/>
            <a:rect l="l" t="t" r="r" b="b"/>
            <a:pathLst>
              <a:path w="1002187" h="1443682">
                <a:moveTo>
                  <a:pt x="0" y="1443682"/>
                </a:moveTo>
                <a:lnTo>
                  <a:pt x="1002187" y="942518"/>
                </a:lnTo>
                <a:lnTo>
                  <a:pt x="1002187" y="0"/>
                </a:lnTo>
                <a:lnTo>
                  <a:pt x="0" y="501164"/>
                </a:lnTo>
                <a:close/>
              </a:path>
            </a:pathLst>
          </a:custGeom>
          <a:solidFill>
            <a:srgbClr val="1F6F78"/>
          </a:solidFill>
          <a:ln w="6350">
            <a:solidFill>
              <a:srgbClr val="FFFFFF"/>
            </a:solidFill>
            <a:prstDash val="solid"/>
          </a:ln>
        </p:spPr>
      </p:sp>
      <p:sp>
        <p:nvSpPr>
          <p:cNvPr id="31" name="Shape 29"/>
          <p:cNvSpPr/>
          <p:nvPr/>
        </p:nvSpPr>
        <p:spPr>
          <a:xfrm>
            <a:off x="4304632" y="284547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32" name="Shape 30"/>
          <p:cNvSpPr/>
          <p:nvPr/>
        </p:nvSpPr>
        <p:spPr>
          <a:xfrm>
            <a:off x="4304632" y="3346638"/>
            <a:ext cx="1002187" cy="2116909"/>
          </a:xfrm>
          <a:custGeom>
            <a:avLst/>
            <a:gdLst/>
            <a:ahLst/>
            <a:cxnLst/>
            <a:rect l="l" t="t" r="r" b="b"/>
            <a:pathLst>
              <a:path w="1002187" h="2116909">
                <a:moveTo>
                  <a:pt x="0" y="1615745"/>
                </a:moveTo>
                <a:lnTo>
                  <a:pt x="1002187" y="2116909"/>
                </a:lnTo>
                <a:lnTo>
                  <a:pt x="1002187" y="501164"/>
                </a:lnTo>
                <a:lnTo>
                  <a:pt x="0" y="0"/>
                </a:lnTo>
                <a:close/>
              </a:path>
            </a:pathLst>
          </a:custGeom>
          <a:solidFill>
            <a:srgbClr val="2C8791"/>
          </a:solidFill>
          <a:ln w="6350">
            <a:solidFill>
              <a:srgbClr val="FFFFFF"/>
            </a:solidFill>
            <a:prstDash val="solid"/>
          </a:ln>
        </p:spPr>
      </p:sp>
      <p:sp>
        <p:nvSpPr>
          <p:cNvPr id="33" name="Shape 31"/>
          <p:cNvSpPr/>
          <p:nvPr/>
        </p:nvSpPr>
        <p:spPr>
          <a:xfrm>
            <a:off x="5306819" y="3346638"/>
            <a:ext cx="1002187" cy="2116909"/>
          </a:xfrm>
          <a:custGeom>
            <a:avLst/>
            <a:gdLst/>
            <a:ahLst/>
            <a:cxnLst/>
            <a:rect l="l" t="t" r="r" b="b"/>
            <a:pathLst>
              <a:path w="1002187" h="2116909">
                <a:moveTo>
                  <a:pt x="0" y="2116909"/>
                </a:moveTo>
                <a:lnTo>
                  <a:pt x="1002187" y="1615745"/>
                </a:lnTo>
                <a:lnTo>
                  <a:pt x="1002187" y="0"/>
                </a:lnTo>
                <a:lnTo>
                  <a:pt x="0" y="501164"/>
                </a:lnTo>
                <a:close/>
              </a:path>
            </a:pathLst>
          </a:custGeom>
          <a:solidFill>
            <a:srgbClr val="1F6F78"/>
          </a:solidFill>
          <a:ln w="6350">
            <a:solidFill>
              <a:srgbClr val="FFFFFF"/>
            </a:solidFill>
            <a:prstDash val="solid"/>
          </a:ln>
        </p:spPr>
      </p:sp>
      <p:sp>
        <p:nvSpPr>
          <p:cNvPr id="34" name="Shape 32"/>
          <p:cNvSpPr/>
          <p:nvPr/>
        </p:nvSpPr>
        <p:spPr>
          <a:xfrm flipV="1">
            <a:off x="2518253" y="2814066"/>
            <a:ext cx="91" cy="1346454"/>
          </a:xfrm>
          <a:prstGeom prst="line">
            <a:avLst/>
          </a:prstGeom>
          <a:noFill/>
          <a:ln w="15875">
            <a:solidFill>
              <a:srgbClr val="C56A2C"/>
            </a:solidFill>
            <a:prstDash val="solid"/>
            <a:headEnd type="triangle"/>
            <a:tailEnd type="triangle"/>
          </a:ln>
        </p:spPr>
      </p:sp>
      <p:sp>
        <p:nvSpPr>
          <p:cNvPr id="35" name="Text 33"/>
          <p:cNvSpPr txBox="1"/>
          <p:nvPr/>
        </p:nvSpPr>
        <p:spPr>
          <a:xfrm>
            <a:off x="2134205" y="3359277"/>
            <a:ext cx="384048"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H</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endParaRPr lang="en-US" sz="1200" dirty="0"/>
          </a:p>
        </p:txBody>
      </p:sp>
      <p:sp>
        <p:nvSpPr>
          <p:cNvPr id="36" name="Shape 34"/>
          <p:cNvSpPr/>
          <p:nvPr/>
        </p:nvSpPr>
        <p:spPr>
          <a:xfrm flipV="1">
            <a:off x="1060693" y="3969749"/>
            <a:ext cx="91" cy="942518"/>
          </a:xfrm>
          <a:prstGeom prst="line">
            <a:avLst/>
          </a:prstGeom>
          <a:noFill/>
          <a:ln w="15875">
            <a:solidFill>
              <a:srgbClr val="C56A2C"/>
            </a:solidFill>
            <a:prstDash val="solid"/>
            <a:headEnd type="triangle"/>
            <a:tailEnd type="triangle"/>
          </a:ln>
        </p:spPr>
      </p:sp>
      <p:sp>
        <p:nvSpPr>
          <p:cNvPr id="37" name="Text 35"/>
          <p:cNvSpPr txBox="1"/>
          <p:nvPr/>
        </p:nvSpPr>
        <p:spPr>
          <a:xfrm>
            <a:off x="630925" y="4312992"/>
            <a:ext cx="41148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南</a:t>
            </a:r>
            <a:endParaRPr lang="en-US" sz="1200" dirty="0"/>
          </a:p>
        </p:txBody>
      </p:sp>
      <p:sp>
        <p:nvSpPr>
          <p:cNvPr id="38" name="Shape 36"/>
          <p:cNvSpPr/>
          <p:nvPr/>
        </p:nvSpPr>
        <p:spPr>
          <a:xfrm flipV="1">
            <a:off x="3257091" y="4716548"/>
            <a:ext cx="501093" cy="250582"/>
          </a:xfrm>
          <a:prstGeom prst="line">
            <a:avLst/>
          </a:prstGeom>
          <a:noFill/>
          <a:ln w="19050">
            <a:solidFill>
              <a:srgbClr val="B04A3F"/>
            </a:solidFill>
            <a:prstDash val="solid"/>
            <a:headEnd type="triangle"/>
            <a:tailEnd type="triangle"/>
          </a:ln>
        </p:spPr>
      </p:sp>
      <p:sp>
        <p:nvSpPr>
          <p:cNvPr id="39" name="Text 37"/>
          <p:cNvSpPr txBox="1"/>
          <p:nvPr/>
        </p:nvSpPr>
        <p:spPr>
          <a:xfrm>
            <a:off x="3544213" y="4805263"/>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南</a:t>
            </a:r>
            <a:endParaRPr lang="en-US" sz="1100" dirty="0"/>
          </a:p>
        </p:txBody>
      </p:sp>
      <p:sp>
        <p:nvSpPr>
          <p:cNvPr id="40" name="Shape 38"/>
          <p:cNvSpPr/>
          <p:nvPr/>
        </p:nvSpPr>
        <p:spPr>
          <a:xfrm>
            <a:off x="3721608" y="4734836"/>
            <a:ext cx="601312" cy="300699"/>
          </a:xfrm>
          <a:prstGeom prst="line">
            <a:avLst/>
          </a:prstGeom>
          <a:noFill/>
          <a:ln w="19050">
            <a:solidFill>
              <a:srgbClr val="B04A3F"/>
            </a:solidFill>
            <a:prstDash val="solid"/>
            <a:headEnd type="triangle"/>
            <a:tailEnd type="triangle"/>
          </a:ln>
        </p:spPr>
      </p:sp>
      <p:sp>
        <p:nvSpPr>
          <p:cNvPr id="41" name="Text 39"/>
          <p:cNvSpPr txBox="1"/>
          <p:nvPr/>
        </p:nvSpPr>
        <p:spPr>
          <a:xfrm>
            <a:off x="3912536" y="4921762"/>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東</a:t>
            </a:r>
            <a:endParaRPr lang="en-US" sz="1100" dirty="0"/>
          </a:p>
        </p:txBody>
      </p:sp>
      <p:sp>
        <p:nvSpPr>
          <p:cNvPr id="42" name="Shape 40"/>
          <p:cNvSpPr/>
          <p:nvPr/>
        </p:nvSpPr>
        <p:spPr>
          <a:xfrm flipV="1">
            <a:off x="6418734" y="3346638"/>
            <a:ext cx="91" cy="1615745"/>
          </a:xfrm>
          <a:prstGeom prst="line">
            <a:avLst/>
          </a:prstGeom>
          <a:noFill/>
          <a:ln w="15875">
            <a:solidFill>
              <a:srgbClr val="C56A2C"/>
            </a:solidFill>
            <a:prstDash val="solid"/>
            <a:headEnd type="triangle"/>
            <a:tailEnd type="triangle"/>
          </a:ln>
        </p:spPr>
      </p:sp>
      <p:sp>
        <p:nvSpPr>
          <p:cNvPr id="43" name="Text 41"/>
          <p:cNvSpPr txBox="1"/>
          <p:nvPr/>
        </p:nvSpPr>
        <p:spPr>
          <a:xfrm>
            <a:off x="6455310" y="4026495"/>
            <a:ext cx="45720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東</a:t>
            </a:r>
            <a:endParaRPr lang="en-US" sz="1200" dirty="0"/>
          </a:p>
        </p:txBody>
      </p:sp>
      <p:sp>
        <p:nvSpPr>
          <p:cNvPr id="44" name="Text 42"/>
          <p:cNvSpPr txBox="1"/>
          <p:nvPr/>
        </p:nvSpPr>
        <p:spPr>
          <a:xfrm>
            <a:off x="2836467" y="3493502"/>
            <a:ext cx="731520" cy="219456"/>
          </a:xfrm>
          <a:prstGeom prst="rect">
            <a:avLst/>
          </a:prstGeom>
          <a:noFill/>
          <a:ln/>
        </p:spPr>
        <p:txBody>
          <a:bodyPr wrap="square" lIns="0" tIns="0" rIns="0" bIns="0"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南面</a:t>
            </a:r>
            <a:endParaRPr lang="en-US" sz="1050" dirty="0"/>
          </a:p>
        </p:txBody>
      </p:sp>
      <p:sp>
        <p:nvSpPr>
          <p:cNvPr id="45" name="Text 43"/>
          <p:cNvSpPr txBox="1"/>
          <p:nvPr/>
        </p:nvSpPr>
        <p:spPr>
          <a:xfrm>
            <a:off x="3838653" y="3493502"/>
            <a:ext cx="731520" cy="219456"/>
          </a:xfrm>
          <a:prstGeom prst="rect">
            <a:avLst/>
          </a:prstGeom>
          <a:noFill/>
          <a:ln/>
        </p:spPr>
        <p:txBody>
          <a:bodyPr wrap="square" lIns="0" tIns="0" rIns="0" bIns="0"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東面</a:t>
            </a:r>
            <a:endParaRPr lang="en-US" sz="1050" dirty="0"/>
          </a:p>
        </p:txBody>
      </p:sp>
      <p:sp>
        <p:nvSpPr>
          <p:cNvPr id="46" name="Text 44"/>
          <p:cNvSpPr txBox="1"/>
          <p:nvPr/>
        </p:nvSpPr>
        <p:spPr>
          <a:xfrm>
            <a:off x="548640" y="2487168"/>
            <a:ext cx="118872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西の建物</a:t>
            </a:r>
            <a:endParaRPr lang="en-US" sz="950" dirty="0"/>
          </a:p>
        </p:txBody>
      </p:sp>
      <p:sp>
        <p:nvSpPr>
          <p:cNvPr id="47" name="Text 45"/>
          <p:cNvSpPr txBox="1"/>
          <p:nvPr/>
        </p:nvSpPr>
        <p:spPr>
          <a:xfrm>
            <a:off x="548640" y="2697480"/>
            <a:ext cx="1188720" cy="237744"/>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A</a:t>
            </a:r>
            <a:pPr indent="0" marL="0">
              <a:buNone/>
            </a:pPr>
            <a:r>
              <a:rPr lang="en-US" sz="950" b="1" baseline="-40000" dirty="0">
                <a:solidFill>
                  <a:srgbClr val="1F6F78"/>
                </a:solidFill>
                <a:latin typeface="Yu Gothic" pitchFamily="34" charset="0"/>
                <a:ea typeface="Yu Gothic" pitchFamily="34" charset="-122"/>
                <a:cs typeface="Yu Gothic" pitchFamily="34" charset="-120"/>
              </a:rPr>
              <a:t>西</a:t>
            </a:r>
            <a:pPr indent="0" marL="0">
              <a:buNone/>
            </a:pPr>
            <a:r>
              <a:rPr lang="en-US" sz="950" b="1" dirty="0">
                <a:solidFill>
                  <a:srgbClr val="1F6F78"/>
                </a:solidFill>
                <a:latin typeface="Yu Gothic" pitchFamily="34" charset="0"/>
                <a:ea typeface="Yu Gothic" pitchFamily="34" charset="-122"/>
                <a:cs typeface="Yu Gothic" pitchFamily="34" charset="-120"/>
              </a:rPr>
              <a:t>・D</a:t>
            </a:r>
            <a:pPr indent="0" marL="0">
              <a:buNone/>
            </a:pPr>
            <a:r>
              <a:rPr lang="en-US" sz="950" b="1" baseline="-40000" dirty="0">
                <a:solidFill>
                  <a:srgbClr val="1F6F78"/>
                </a:solidFill>
                <a:latin typeface="Yu Gothic" pitchFamily="34" charset="0"/>
                <a:ea typeface="Yu Gothic" pitchFamily="34" charset="-122"/>
                <a:cs typeface="Yu Gothic" pitchFamily="34" charset="-120"/>
              </a:rPr>
              <a:t>西</a:t>
            </a:r>
            <a:endParaRPr lang="en-US" sz="950" dirty="0"/>
          </a:p>
        </p:txBody>
      </p:sp>
      <p:sp>
        <p:nvSpPr>
          <p:cNvPr id="48" name="Text 46"/>
          <p:cNvSpPr txBox="1"/>
          <p:nvPr/>
        </p:nvSpPr>
        <p:spPr>
          <a:xfrm>
            <a:off x="4526280" y="1828800"/>
            <a:ext cx="2194560" cy="411480"/>
          </a:xfrm>
          <a:prstGeom prst="rect">
            <a:avLst/>
          </a:prstGeom>
          <a:noFill/>
          <a:ln/>
        </p:spPr>
        <p:txBody>
          <a:bodyPr wrap="square" lIns="508" tIns="508" rIns="508" bIns="508" rtlCol="0" anchor="t"/>
          <a:lstStyle/>
          <a:p>
            <a:pPr indent="0" marL="0">
              <a:buNone/>
            </a:pPr>
            <a:r>
              <a:rPr lang="en-US" sz="950" b="1" dirty="0">
                <a:solidFill>
                  <a:srgbClr val="6B7480"/>
                </a:solidFill>
                <a:latin typeface="Yu Gothic" pitchFamily="34" charset="0"/>
                <a:ea typeface="Yu Gothic" pitchFamily="34" charset="-122"/>
                <a:cs typeface="Yu Gothic" pitchFamily="34" charset="-120"/>
              </a:rPr>
              <a:t>北は建物なし：s</a:t>
            </a:r>
            <a:pPr indent="0" marL="0">
              <a:buNone/>
            </a:pPr>
            <a:r>
              <a:rPr lang="en-US" sz="950" b="1" baseline="-40000" dirty="0">
                <a:solidFill>
                  <a:srgbClr val="6B7480"/>
                </a:solidFill>
                <a:latin typeface="Yu Gothic" pitchFamily="34" charset="0"/>
                <a:ea typeface="Yu Gothic" pitchFamily="34" charset="-122"/>
                <a:cs typeface="Yu Gothic" pitchFamily="34" charset="-120"/>
              </a:rPr>
              <a:t>北</a:t>
            </a:r>
            <a:pPr indent="0" marL="0">
              <a:buNone/>
            </a:pPr>
            <a:r>
              <a:rPr lang="en-US" sz="950" b="1" dirty="0">
                <a:solidFill>
                  <a:srgbClr val="6B7480"/>
                </a:solidFill>
                <a:latin typeface="Yu Gothic" pitchFamily="34" charset="0"/>
                <a:ea typeface="Yu Gothic" pitchFamily="34" charset="-122"/>
                <a:cs typeface="Yu Gothic" pitchFamily="34" charset="-120"/>
              </a:rPr>
              <a:t>＝0</a:t>
            </a:r>
            <a:endParaRPr lang="en-US" sz="950" dirty="0"/>
          </a:p>
          <a:p>
            <a:pPr indent="0" marL="0">
              <a:buNone/>
            </a:pPr>
            <a:r>
              <a:rPr lang="en-US" sz="950" b="1" dirty="0">
                <a:solidFill>
                  <a:srgbClr val="6B7480"/>
                </a:solidFill>
                <a:latin typeface="Yu Gothic" pitchFamily="34" charset="0"/>
                <a:ea typeface="Yu Gothic" pitchFamily="34" charset="-122"/>
                <a:cs typeface="Yu Gothic" pitchFamily="34" charset="-120"/>
              </a:rPr>
              <a:t>（点線は置く場合の位置）</a:t>
            </a:r>
            <a:endParaRPr lang="en-US" sz="950" dirty="0"/>
          </a:p>
        </p:txBody>
      </p:sp>
      <p:sp>
        <p:nvSpPr>
          <p:cNvPr id="49" name="Shape 47"/>
          <p:cNvSpPr/>
          <p:nvPr/>
        </p:nvSpPr>
        <p:spPr>
          <a:xfrm flipV="1">
            <a:off x="5943600" y="5690494"/>
            <a:ext cx="323286" cy="161666"/>
          </a:xfrm>
          <a:prstGeom prst="line">
            <a:avLst/>
          </a:prstGeom>
          <a:noFill/>
          <a:ln w="19050">
            <a:solidFill>
              <a:srgbClr val="1B2A44"/>
            </a:solidFill>
            <a:prstDash val="solid"/>
            <a:tailEnd type="triangle"/>
          </a:ln>
        </p:spPr>
      </p:sp>
      <p:sp>
        <p:nvSpPr>
          <p:cNvPr id="50" name="Text 48"/>
          <p:cNvSpPr txBox="1"/>
          <p:nvPr/>
        </p:nvSpPr>
        <p:spPr>
          <a:xfrm>
            <a:off x="6285174" y="5507614"/>
            <a:ext cx="274320" cy="201168"/>
          </a:xfrm>
          <a:prstGeom prst="rect">
            <a:avLst/>
          </a:prstGeom>
          <a:noFill/>
          <a:ln/>
        </p:spPr>
        <p:txBody>
          <a:bodyPr wrap="square" lIns="508" tIns="508" rIns="508" bIns="508" rtlCol="0" anchor="t"/>
          <a:lstStyle/>
          <a:p>
            <a:pPr indent="0" marL="0">
              <a:buNone/>
            </a:pPr>
            <a:r>
              <a:rPr lang="en-US" sz="950" b="1" dirty="0">
                <a:solidFill>
                  <a:srgbClr val="1B2A44"/>
                </a:solidFill>
                <a:latin typeface="Yu Gothic" pitchFamily="34" charset="0"/>
                <a:ea typeface="Yu Gothic" pitchFamily="34" charset="-122"/>
                <a:cs typeface="Yu Gothic" pitchFamily="34" charset="-120"/>
              </a:rPr>
              <a:t>北</a:t>
            </a:r>
            <a:endParaRPr lang="en-US" sz="950" dirty="0"/>
          </a:p>
        </p:txBody>
      </p:sp>
      <p:sp>
        <p:nvSpPr>
          <p:cNvPr id="51" name="Text 49"/>
          <p:cNvSpPr txBox="1"/>
          <p:nvPr/>
        </p:nvSpPr>
        <p:spPr>
          <a:xfrm>
            <a:off x="594360" y="5943600"/>
            <a:ext cx="5120640" cy="329184"/>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色の段＝高さ帯（下から帯1〜帯5）。北面・西面は裏側で見えないが、同じく5帯ずつ出力する</a:t>
            </a:r>
            <a:endParaRPr lang="en-US" sz="950" dirty="0"/>
          </a:p>
        </p:txBody>
      </p:sp>
      <p:sp>
        <p:nvSpPr>
          <p:cNvPr id="52" name="Text 50"/>
          <p:cNvSpPr txBox="1"/>
          <p:nvPr/>
        </p:nvSpPr>
        <p:spPr>
          <a:xfrm>
            <a:off x="7132320" y="1481328"/>
            <a:ext cx="45720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出力：4面 × 5帯 ＝ 20個の年間日射量</a:t>
            </a:r>
            <a:endParaRPr lang="en-US" sz="1300" dirty="0"/>
          </a:p>
        </p:txBody>
      </p:sp>
      <p:sp>
        <p:nvSpPr>
          <p:cNvPr id="53" name="Shape 51"/>
          <p:cNvSpPr/>
          <p:nvPr/>
        </p:nvSpPr>
        <p:spPr>
          <a:xfrm>
            <a:off x="8001000" y="1874520"/>
            <a:ext cx="841248" cy="329184"/>
          </a:xfrm>
          <a:prstGeom prst="rect">
            <a:avLst/>
          </a:prstGeom>
          <a:solidFill>
            <a:srgbClr val="1B2A44"/>
          </a:solidFill>
          <a:ln/>
        </p:spPr>
      </p:sp>
      <p:sp>
        <p:nvSpPr>
          <p:cNvPr id="54" name="Text 52"/>
          <p:cNvSpPr txBox="1"/>
          <p:nvPr/>
        </p:nvSpPr>
        <p:spPr>
          <a:xfrm>
            <a:off x="8001000" y="1874520"/>
            <a:ext cx="841248"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北面</a:t>
            </a:r>
            <a:endParaRPr lang="en-US" sz="1050" dirty="0"/>
          </a:p>
        </p:txBody>
      </p:sp>
      <p:sp>
        <p:nvSpPr>
          <p:cNvPr id="55" name="Shape 53"/>
          <p:cNvSpPr/>
          <p:nvPr/>
        </p:nvSpPr>
        <p:spPr>
          <a:xfrm>
            <a:off x="8887968" y="1874520"/>
            <a:ext cx="841248" cy="329184"/>
          </a:xfrm>
          <a:prstGeom prst="rect">
            <a:avLst/>
          </a:prstGeom>
          <a:solidFill>
            <a:srgbClr val="1B2A44"/>
          </a:solidFill>
          <a:ln/>
        </p:spPr>
      </p:sp>
      <p:sp>
        <p:nvSpPr>
          <p:cNvPr id="56" name="Text 54"/>
          <p:cNvSpPr txBox="1"/>
          <p:nvPr/>
        </p:nvSpPr>
        <p:spPr>
          <a:xfrm>
            <a:off x="8887968" y="1874520"/>
            <a:ext cx="841248"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東面</a:t>
            </a:r>
            <a:endParaRPr lang="en-US" sz="1050" dirty="0"/>
          </a:p>
        </p:txBody>
      </p:sp>
      <p:sp>
        <p:nvSpPr>
          <p:cNvPr id="57" name="Shape 55"/>
          <p:cNvSpPr/>
          <p:nvPr/>
        </p:nvSpPr>
        <p:spPr>
          <a:xfrm>
            <a:off x="9774936" y="1874520"/>
            <a:ext cx="841248" cy="329184"/>
          </a:xfrm>
          <a:prstGeom prst="rect">
            <a:avLst/>
          </a:prstGeom>
          <a:solidFill>
            <a:srgbClr val="1B2A44"/>
          </a:solidFill>
          <a:ln/>
        </p:spPr>
      </p:sp>
      <p:sp>
        <p:nvSpPr>
          <p:cNvPr id="58" name="Text 56"/>
          <p:cNvSpPr txBox="1"/>
          <p:nvPr/>
        </p:nvSpPr>
        <p:spPr>
          <a:xfrm>
            <a:off x="9774936" y="1874520"/>
            <a:ext cx="841248"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南面</a:t>
            </a:r>
            <a:endParaRPr lang="en-US" sz="1050" dirty="0"/>
          </a:p>
        </p:txBody>
      </p:sp>
      <p:sp>
        <p:nvSpPr>
          <p:cNvPr id="59" name="Shape 57"/>
          <p:cNvSpPr/>
          <p:nvPr/>
        </p:nvSpPr>
        <p:spPr>
          <a:xfrm>
            <a:off x="10661904" y="1874520"/>
            <a:ext cx="841248" cy="329184"/>
          </a:xfrm>
          <a:prstGeom prst="rect">
            <a:avLst/>
          </a:prstGeom>
          <a:solidFill>
            <a:srgbClr val="1B2A44"/>
          </a:solidFill>
          <a:ln/>
        </p:spPr>
      </p:sp>
      <p:sp>
        <p:nvSpPr>
          <p:cNvPr id="60" name="Text 58"/>
          <p:cNvSpPr txBox="1"/>
          <p:nvPr/>
        </p:nvSpPr>
        <p:spPr>
          <a:xfrm>
            <a:off x="10661904" y="1874520"/>
            <a:ext cx="841248"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西面</a:t>
            </a:r>
            <a:endParaRPr lang="en-US" sz="1050" dirty="0"/>
          </a:p>
        </p:txBody>
      </p:sp>
      <p:sp>
        <p:nvSpPr>
          <p:cNvPr id="61" name="Text 59"/>
          <p:cNvSpPr txBox="1"/>
          <p:nvPr/>
        </p:nvSpPr>
        <p:spPr>
          <a:xfrm>
            <a:off x="7178040" y="224028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帯5</a:t>
            </a:r>
            <a:endParaRPr lang="en-US" sz="1050" dirty="0"/>
          </a:p>
        </p:txBody>
      </p:sp>
      <p:sp>
        <p:nvSpPr>
          <p:cNvPr id="62" name="Shape 60"/>
          <p:cNvSpPr/>
          <p:nvPr/>
        </p:nvSpPr>
        <p:spPr>
          <a:xfrm>
            <a:off x="8001000" y="2240280"/>
            <a:ext cx="841248" cy="329184"/>
          </a:xfrm>
          <a:prstGeom prst="rect">
            <a:avLst/>
          </a:prstGeom>
          <a:solidFill>
            <a:srgbClr val="F3F5F8"/>
          </a:solidFill>
          <a:ln/>
        </p:spPr>
      </p:sp>
      <p:sp>
        <p:nvSpPr>
          <p:cNvPr id="63" name="Text 61"/>
          <p:cNvSpPr txBox="1"/>
          <p:nvPr/>
        </p:nvSpPr>
        <p:spPr>
          <a:xfrm>
            <a:off x="8001000" y="224028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北,5</a:t>
            </a:r>
            <a:endParaRPr lang="en-US" sz="1050" dirty="0"/>
          </a:p>
        </p:txBody>
      </p:sp>
      <p:sp>
        <p:nvSpPr>
          <p:cNvPr id="64" name="Shape 62"/>
          <p:cNvSpPr/>
          <p:nvPr/>
        </p:nvSpPr>
        <p:spPr>
          <a:xfrm>
            <a:off x="8887968" y="2240280"/>
            <a:ext cx="841248" cy="329184"/>
          </a:xfrm>
          <a:prstGeom prst="rect">
            <a:avLst/>
          </a:prstGeom>
          <a:solidFill>
            <a:srgbClr val="F3F5F8"/>
          </a:solidFill>
          <a:ln/>
        </p:spPr>
      </p:sp>
      <p:sp>
        <p:nvSpPr>
          <p:cNvPr id="65" name="Text 63"/>
          <p:cNvSpPr txBox="1"/>
          <p:nvPr/>
        </p:nvSpPr>
        <p:spPr>
          <a:xfrm>
            <a:off x="8887968" y="224028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東,5</a:t>
            </a:r>
            <a:endParaRPr lang="en-US" sz="1050" dirty="0"/>
          </a:p>
        </p:txBody>
      </p:sp>
      <p:sp>
        <p:nvSpPr>
          <p:cNvPr id="66" name="Shape 64"/>
          <p:cNvSpPr/>
          <p:nvPr/>
        </p:nvSpPr>
        <p:spPr>
          <a:xfrm>
            <a:off x="9774936" y="2240280"/>
            <a:ext cx="841248" cy="329184"/>
          </a:xfrm>
          <a:prstGeom prst="rect">
            <a:avLst/>
          </a:prstGeom>
          <a:solidFill>
            <a:srgbClr val="FBEBDA"/>
          </a:solidFill>
          <a:ln/>
        </p:spPr>
      </p:sp>
      <p:sp>
        <p:nvSpPr>
          <p:cNvPr id="67" name="Text 65"/>
          <p:cNvSpPr txBox="1"/>
          <p:nvPr/>
        </p:nvSpPr>
        <p:spPr>
          <a:xfrm>
            <a:off x="9774936" y="224028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南,5</a:t>
            </a:r>
            <a:endParaRPr lang="en-US" sz="1050" dirty="0"/>
          </a:p>
        </p:txBody>
      </p:sp>
      <p:sp>
        <p:nvSpPr>
          <p:cNvPr id="68" name="Shape 66"/>
          <p:cNvSpPr/>
          <p:nvPr/>
        </p:nvSpPr>
        <p:spPr>
          <a:xfrm>
            <a:off x="10661904" y="2240280"/>
            <a:ext cx="841248" cy="329184"/>
          </a:xfrm>
          <a:prstGeom prst="rect">
            <a:avLst/>
          </a:prstGeom>
          <a:solidFill>
            <a:srgbClr val="F3F5F8"/>
          </a:solidFill>
          <a:ln/>
        </p:spPr>
      </p:sp>
      <p:sp>
        <p:nvSpPr>
          <p:cNvPr id="69" name="Text 67"/>
          <p:cNvSpPr txBox="1"/>
          <p:nvPr/>
        </p:nvSpPr>
        <p:spPr>
          <a:xfrm>
            <a:off x="10661904" y="224028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西,5</a:t>
            </a:r>
            <a:endParaRPr lang="en-US" sz="1050" dirty="0"/>
          </a:p>
        </p:txBody>
      </p:sp>
      <p:sp>
        <p:nvSpPr>
          <p:cNvPr id="70" name="Text 68"/>
          <p:cNvSpPr txBox="1"/>
          <p:nvPr/>
        </p:nvSpPr>
        <p:spPr>
          <a:xfrm>
            <a:off x="7178040" y="260604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帯4</a:t>
            </a:r>
            <a:endParaRPr lang="en-US" sz="1050" dirty="0"/>
          </a:p>
        </p:txBody>
      </p:sp>
      <p:sp>
        <p:nvSpPr>
          <p:cNvPr id="71" name="Shape 69"/>
          <p:cNvSpPr/>
          <p:nvPr/>
        </p:nvSpPr>
        <p:spPr>
          <a:xfrm>
            <a:off x="8001000" y="2606040"/>
            <a:ext cx="841248" cy="329184"/>
          </a:xfrm>
          <a:prstGeom prst="rect">
            <a:avLst/>
          </a:prstGeom>
          <a:solidFill>
            <a:srgbClr val="F3F5F8"/>
          </a:solidFill>
          <a:ln/>
        </p:spPr>
      </p:sp>
      <p:sp>
        <p:nvSpPr>
          <p:cNvPr id="72" name="Text 70"/>
          <p:cNvSpPr txBox="1"/>
          <p:nvPr/>
        </p:nvSpPr>
        <p:spPr>
          <a:xfrm>
            <a:off x="8001000" y="260604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北,4</a:t>
            </a:r>
            <a:endParaRPr lang="en-US" sz="1050" dirty="0"/>
          </a:p>
        </p:txBody>
      </p:sp>
      <p:sp>
        <p:nvSpPr>
          <p:cNvPr id="73" name="Shape 71"/>
          <p:cNvSpPr/>
          <p:nvPr/>
        </p:nvSpPr>
        <p:spPr>
          <a:xfrm>
            <a:off x="8887968" y="2606040"/>
            <a:ext cx="841248" cy="329184"/>
          </a:xfrm>
          <a:prstGeom prst="rect">
            <a:avLst/>
          </a:prstGeom>
          <a:solidFill>
            <a:srgbClr val="F3F5F8"/>
          </a:solidFill>
          <a:ln/>
        </p:spPr>
      </p:sp>
      <p:sp>
        <p:nvSpPr>
          <p:cNvPr id="74" name="Text 72"/>
          <p:cNvSpPr txBox="1"/>
          <p:nvPr/>
        </p:nvSpPr>
        <p:spPr>
          <a:xfrm>
            <a:off x="8887968" y="260604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東,4</a:t>
            </a:r>
            <a:endParaRPr lang="en-US" sz="1050" dirty="0"/>
          </a:p>
        </p:txBody>
      </p:sp>
      <p:sp>
        <p:nvSpPr>
          <p:cNvPr id="75" name="Shape 73"/>
          <p:cNvSpPr/>
          <p:nvPr/>
        </p:nvSpPr>
        <p:spPr>
          <a:xfrm>
            <a:off x="9774936" y="2606040"/>
            <a:ext cx="841248" cy="329184"/>
          </a:xfrm>
          <a:prstGeom prst="rect">
            <a:avLst/>
          </a:prstGeom>
          <a:solidFill>
            <a:srgbClr val="FBEBDA"/>
          </a:solidFill>
          <a:ln/>
        </p:spPr>
      </p:sp>
      <p:sp>
        <p:nvSpPr>
          <p:cNvPr id="76" name="Text 74"/>
          <p:cNvSpPr txBox="1"/>
          <p:nvPr/>
        </p:nvSpPr>
        <p:spPr>
          <a:xfrm>
            <a:off x="9774936" y="260604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南,4</a:t>
            </a:r>
            <a:endParaRPr lang="en-US" sz="1050" dirty="0"/>
          </a:p>
        </p:txBody>
      </p:sp>
      <p:sp>
        <p:nvSpPr>
          <p:cNvPr id="77" name="Shape 75"/>
          <p:cNvSpPr/>
          <p:nvPr/>
        </p:nvSpPr>
        <p:spPr>
          <a:xfrm>
            <a:off x="10661904" y="2606040"/>
            <a:ext cx="841248" cy="329184"/>
          </a:xfrm>
          <a:prstGeom prst="rect">
            <a:avLst/>
          </a:prstGeom>
          <a:solidFill>
            <a:srgbClr val="F3F5F8"/>
          </a:solidFill>
          <a:ln/>
        </p:spPr>
      </p:sp>
      <p:sp>
        <p:nvSpPr>
          <p:cNvPr id="78" name="Text 76"/>
          <p:cNvSpPr txBox="1"/>
          <p:nvPr/>
        </p:nvSpPr>
        <p:spPr>
          <a:xfrm>
            <a:off x="10661904" y="260604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西,4</a:t>
            </a:r>
            <a:endParaRPr lang="en-US" sz="1050" dirty="0"/>
          </a:p>
        </p:txBody>
      </p:sp>
      <p:sp>
        <p:nvSpPr>
          <p:cNvPr id="79" name="Text 77"/>
          <p:cNvSpPr txBox="1"/>
          <p:nvPr/>
        </p:nvSpPr>
        <p:spPr>
          <a:xfrm>
            <a:off x="7178040" y="297180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帯3</a:t>
            </a:r>
            <a:endParaRPr lang="en-US" sz="1050" dirty="0"/>
          </a:p>
        </p:txBody>
      </p:sp>
      <p:sp>
        <p:nvSpPr>
          <p:cNvPr id="80" name="Shape 78"/>
          <p:cNvSpPr/>
          <p:nvPr/>
        </p:nvSpPr>
        <p:spPr>
          <a:xfrm>
            <a:off x="8001000" y="2971800"/>
            <a:ext cx="841248" cy="329184"/>
          </a:xfrm>
          <a:prstGeom prst="rect">
            <a:avLst/>
          </a:prstGeom>
          <a:solidFill>
            <a:srgbClr val="F3F5F8"/>
          </a:solidFill>
          <a:ln/>
        </p:spPr>
      </p:sp>
      <p:sp>
        <p:nvSpPr>
          <p:cNvPr id="81" name="Text 79"/>
          <p:cNvSpPr txBox="1"/>
          <p:nvPr/>
        </p:nvSpPr>
        <p:spPr>
          <a:xfrm>
            <a:off x="8001000" y="297180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北,3</a:t>
            </a:r>
            <a:endParaRPr lang="en-US" sz="1050" dirty="0"/>
          </a:p>
        </p:txBody>
      </p:sp>
      <p:sp>
        <p:nvSpPr>
          <p:cNvPr id="82" name="Shape 80"/>
          <p:cNvSpPr/>
          <p:nvPr/>
        </p:nvSpPr>
        <p:spPr>
          <a:xfrm>
            <a:off x="8887968" y="2971800"/>
            <a:ext cx="841248" cy="329184"/>
          </a:xfrm>
          <a:prstGeom prst="rect">
            <a:avLst/>
          </a:prstGeom>
          <a:solidFill>
            <a:srgbClr val="F3F5F8"/>
          </a:solidFill>
          <a:ln/>
        </p:spPr>
      </p:sp>
      <p:sp>
        <p:nvSpPr>
          <p:cNvPr id="83" name="Text 81"/>
          <p:cNvSpPr txBox="1"/>
          <p:nvPr/>
        </p:nvSpPr>
        <p:spPr>
          <a:xfrm>
            <a:off x="8887968" y="297180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東,3</a:t>
            </a:r>
            <a:endParaRPr lang="en-US" sz="1050" dirty="0"/>
          </a:p>
        </p:txBody>
      </p:sp>
      <p:sp>
        <p:nvSpPr>
          <p:cNvPr id="84" name="Shape 82"/>
          <p:cNvSpPr/>
          <p:nvPr/>
        </p:nvSpPr>
        <p:spPr>
          <a:xfrm>
            <a:off x="9774936" y="2971800"/>
            <a:ext cx="841248" cy="329184"/>
          </a:xfrm>
          <a:prstGeom prst="rect">
            <a:avLst/>
          </a:prstGeom>
          <a:solidFill>
            <a:srgbClr val="FBEBDA"/>
          </a:solidFill>
          <a:ln/>
        </p:spPr>
      </p:sp>
      <p:sp>
        <p:nvSpPr>
          <p:cNvPr id="85" name="Text 83"/>
          <p:cNvSpPr txBox="1"/>
          <p:nvPr/>
        </p:nvSpPr>
        <p:spPr>
          <a:xfrm>
            <a:off x="9774936" y="297180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南,3</a:t>
            </a:r>
            <a:endParaRPr lang="en-US" sz="1050" dirty="0"/>
          </a:p>
        </p:txBody>
      </p:sp>
      <p:sp>
        <p:nvSpPr>
          <p:cNvPr id="86" name="Shape 84"/>
          <p:cNvSpPr/>
          <p:nvPr/>
        </p:nvSpPr>
        <p:spPr>
          <a:xfrm>
            <a:off x="10661904" y="2971800"/>
            <a:ext cx="841248" cy="329184"/>
          </a:xfrm>
          <a:prstGeom prst="rect">
            <a:avLst/>
          </a:prstGeom>
          <a:solidFill>
            <a:srgbClr val="F3F5F8"/>
          </a:solidFill>
          <a:ln/>
        </p:spPr>
      </p:sp>
      <p:sp>
        <p:nvSpPr>
          <p:cNvPr id="87" name="Text 85"/>
          <p:cNvSpPr txBox="1"/>
          <p:nvPr/>
        </p:nvSpPr>
        <p:spPr>
          <a:xfrm>
            <a:off x="10661904" y="297180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西,3</a:t>
            </a:r>
            <a:endParaRPr lang="en-US" sz="1050" dirty="0"/>
          </a:p>
        </p:txBody>
      </p:sp>
      <p:sp>
        <p:nvSpPr>
          <p:cNvPr id="88" name="Text 86"/>
          <p:cNvSpPr txBox="1"/>
          <p:nvPr/>
        </p:nvSpPr>
        <p:spPr>
          <a:xfrm>
            <a:off x="7178040" y="333756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帯2</a:t>
            </a:r>
            <a:endParaRPr lang="en-US" sz="1050" dirty="0"/>
          </a:p>
        </p:txBody>
      </p:sp>
      <p:sp>
        <p:nvSpPr>
          <p:cNvPr id="89" name="Shape 87"/>
          <p:cNvSpPr/>
          <p:nvPr/>
        </p:nvSpPr>
        <p:spPr>
          <a:xfrm>
            <a:off x="8001000" y="3337560"/>
            <a:ext cx="841248" cy="329184"/>
          </a:xfrm>
          <a:prstGeom prst="rect">
            <a:avLst/>
          </a:prstGeom>
          <a:solidFill>
            <a:srgbClr val="F3F5F8"/>
          </a:solidFill>
          <a:ln/>
        </p:spPr>
      </p:sp>
      <p:sp>
        <p:nvSpPr>
          <p:cNvPr id="90" name="Text 88"/>
          <p:cNvSpPr txBox="1"/>
          <p:nvPr/>
        </p:nvSpPr>
        <p:spPr>
          <a:xfrm>
            <a:off x="8001000" y="333756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北,2</a:t>
            </a:r>
            <a:endParaRPr lang="en-US" sz="1050" dirty="0"/>
          </a:p>
        </p:txBody>
      </p:sp>
      <p:sp>
        <p:nvSpPr>
          <p:cNvPr id="91" name="Shape 89"/>
          <p:cNvSpPr/>
          <p:nvPr/>
        </p:nvSpPr>
        <p:spPr>
          <a:xfrm>
            <a:off x="8887968" y="3337560"/>
            <a:ext cx="841248" cy="329184"/>
          </a:xfrm>
          <a:prstGeom prst="rect">
            <a:avLst/>
          </a:prstGeom>
          <a:solidFill>
            <a:srgbClr val="F3F5F8"/>
          </a:solidFill>
          <a:ln/>
        </p:spPr>
      </p:sp>
      <p:sp>
        <p:nvSpPr>
          <p:cNvPr id="92" name="Text 90"/>
          <p:cNvSpPr txBox="1"/>
          <p:nvPr/>
        </p:nvSpPr>
        <p:spPr>
          <a:xfrm>
            <a:off x="8887968" y="333756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東,2</a:t>
            </a:r>
            <a:endParaRPr lang="en-US" sz="1050" dirty="0"/>
          </a:p>
        </p:txBody>
      </p:sp>
      <p:sp>
        <p:nvSpPr>
          <p:cNvPr id="93" name="Shape 91"/>
          <p:cNvSpPr/>
          <p:nvPr/>
        </p:nvSpPr>
        <p:spPr>
          <a:xfrm>
            <a:off x="9774936" y="3337560"/>
            <a:ext cx="841248" cy="329184"/>
          </a:xfrm>
          <a:prstGeom prst="rect">
            <a:avLst/>
          </a:prstGeom>
          <a:solidFill>
            <a:srgbClr val="FBEBDA"/>
          </a:solidFill>
          <a:ln/>
        </p:spPr>
      </p:sp>
      <p:sp>
        <p:nvSpPr>
          <p:cNvPr id="94" name="Text 92"/>
          <p:cNvSpPr txBox="1"/>
          <p:nvPr/>
        </p:nvSpPr>
        <p:spPr>
          <a:xfrm>
            <a:off x="9774936" y="333756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南,2</a:t>
            </a:r>
            <a:endParaRPr lang="en-US" sz="1050" dirty="0"/>
          </a:p>
        </p:txBody>
      </p:sp>
      <p:sp>
        <p:nvSpPr>
          <p:cNvPr id="95" name="Shape 93"/>
          <p:cNvSpPr/>
          <p:nvPr/>
        </p:nvSpPr>
        <p:spPr>
          <a:xfrm>
            <a:off x="10661904" y="3337560"/>
            <a:ext cx="841248" cy="329184"/>
          </a:xfrm>
          <a:prstGeom prst="rect">
            <a:avLst/>
          </a:prstGeom>
          <a:solidFill>
            <a:srgbClr val="F3F5F8"/>
          </a:solidFill>
          <a:ln/>
        </p:spPr>
      </p:sp>
      <p:sp>
        <p:nvSpPr>
          <p:cNvPr id="96" name="Text 94"/>
          <p:cNvSpPr txBox="1"/>
          <p:nvPr/>
        </p:nvSpPr>
        <p:spPr>
          <a:xfrm>
            <a:off x="10661904" y="333756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西,2</a:t>
            </a:r>
            <a:endParaRPr lang="en-US" sz="1050" dirty="0"/>
          </a:p>
        </p:txBody>
      </p:sp>
      <p:sp>
        <p:nvSpPr>
          <p:cNvPr id="97" name="Text 95"/>
          <p:cNvSpPr txBox="1"/>
          <p:nvPr/>
        </p:nvSpPr>
        <p:spPr>
          <a:xfrm>
            <a:off x="7178040" y="370332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帯1</a:t>
            </a:r>
            <a:endParaRPr lang="en-US" sz="1050" dirty="0"/>
          </a:p>
        </p:txBody>
      </p:sp>
      <p:sp>
        <p:nvSpPr>
          <p:cNvPr id="98" name="Shape 96"/>
          <p:cNvSpPr/>
          <p:nvPr/>
        </p:nvSpPr>
        <p:spPr>
          <a:xfrm>
            <a:off x="8001000" y="3703320"/>
            <a:ext cx="841248" cy="329184"/>
          </a:xfrm>
          <a:prstGeom prst="rect">
            <a:avLst/>
          </a:prstGeom>
          <a:solidFill>
            <a:srgbClr val="F3F5F8"/>
          </a:solidFill>
          <a:ln/>
        </p:spPr>
      </p:sp>
      <p:sp>
        <p:nvSpPr>
          <p:cNvPr id="99" name="Text 97"/>
          <p:cNvSpPr txBox="1"/>
          <p:nvPr/>
        </p:nvSpPr>
        <p:spPr>
          <a:xfrm>
            <a:off x="8001000" y="370332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北,1</a:t>
            </a:r>
            <a:endParaRPr lang="en-US" sz="1050" dirty="0"/>
          </a:p>
        </p:txBody>
      </p:sp>
      <p:sp>
        <p:nvSpPr>
          <p:cNvPr id="100" name="Shape 98"/>
          <p:cNvSpPr/>
          <p:nvPr/>
        </p:nvSpPr>
        <p:spPr>
          <a:xfrm>
            <a:off x="8887968" y="3703320"/>
            <a:ext cx="841248" cy="329184"/>
          </a:xfrm>
          <a:prstGeom prst="rect">
            <a:avLst/>
          </a:prstGeom>
          <a:solidFill>
            <a:srgbClr val="F3F5F8"/>
          </a:solidFill>
          <a:ln/>
        </p:spPr>
      </p:sp>
      <p:sp>
        <p:nvSpPr>
          <p:cNvPr id="101" name="Text 99"/>
          <p:cNvSpPr txBox="1"/>
          <p:nvPr/>
        </p:nvSpPr>
        <p:spPr>
          <a:xfrm>
            <a:off x="8887968" y="370332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東,1</a:t>
            </a:r>
            <a:endParaRPr lang="en-US" sz="1050" dirty="0"/>
          </a:p>
        </p:txBody>
      </p:sp>
      <p:sp>
        <p:nvSpPr>
          <p:cNvPr id="102" name="Shape 100"/>
          <p:cNvSpPr/>
          <p:nvPr/>
        </p:nvSpPr>
        <p:spPr>
          <a:xfrm>
            <a:off x="9774936" y="3703320"/>
            <a:ext cx="841248" cy="329184"/>
          </a:xfrm>
          <a:prstGeom prst="rect">
            <a:avLst/>
          </a:prstGeom>
          <a:solidFill>
            <a:srgbClr val="FBEBDA"/>
          </a:solidFill>
          <a:ln/>
        </p:spPr>
      </p:sp>
      <p:sp>
        <p:nvSpPr>
          <p:cNvPr id="103" name="Text 101"/>
          <p:cNvSpPr txBox="1"/>
          <p:nvPr/>
        </p:nvSpPr>
        <p:spPr>
          <a:xfrm>
            <a:off x="9774936" y="370332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南,1</a:t>
            </a:r>
            <a:endParaRPr lang="en-US" sz="1050" dirty="0"/>
          </a:p>
        </p:txBody>
      </p:sp>
      <p:sp>
        <p:nvSpPr>
          <p:cNvPr id="104" name="Shape 102"/>
          <p:cNvSpPr/>
          <p:nvPr/>
        </p:nvSpPr>
        <p:spPr>
          <a:xfrm>
            <a:off x="10661904" y="3703320"/>
            <a:ext cx="841248" cy="329184"/>
          </a:xfrm>
          <a:prstGeom prst="rect">
            <a:avLst/>
          </a:prstGeom>
          <a:solidFill>
            <a:srgbClr val="F3F5F8"/>
          </a:solidFill>
          <a:ln/>
        </p:spPr>
      </p:sp>
      <p:sp>
        <p:nvSpPr>
          <p:cNvPr id="105" name="Text 103"/>
          <p:cNvSpPr txBox="1"/>
          <p:nvPr/>
        </p:nvSpPr>
        <p:spPr>
          <a:xfrm>
            <a:off x="10661904" y="370332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西,1</a:t>
            </a:r>
            <a:endParaRPr lang="en-US" sz="1050" dirty="0"/>
          </a:p>
        </p:txBody>
      </p:sp>
      <p:sp>
        <p:nvSpPr>
          <p:cNvPr id="106" name="Text 104"/>
          <p:cNvSpPr txBox="1"/>
          <p:nvPr/>
        </p:nvSpPr>
        <p:spPr>
          <a:xfrm>
            <a:off x="7132320" y="4114800"/>
            <a:ext cx="461772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面の平均：Ŷ</a:t>
            </a:r>
            <a:pPr indent="0" marL="0">
              <a:buNone/>
            </a:pPr>
            <a:r>
              <a:rPr lang="en-US" sz="1100" b="1" baseline="-40000" dirty="0">
                <a:solidFill>
                  <a:srgbClr val="C56A2C"/>
                </a:solidFill>
                <a:latin typeface="Yu Gothic" pitchFamily="34" charset="0"/>
                <a:ea typeface="Yu Gothic" pitchFamily="34" charset="-122"/>
                <a:cs typeface="Yu Gothic" pitchFamily="34" charset="-120"/>
              </a:rPr>
              <a:t>f,平均</a:t>
            </a:r>
            <a:pPr indent="0" marL="0">
              <a:buNone/>
            </a:pPr>
            <a:r>
              <a:rPr lang="en-US" sz="1100" b="1" dirty="0">
                <a:solidFill>
                  <a:srgbClr val="C56A2C"/>
                </a:solidFill>
                <a:latin typeface="Yu Gothic" pitchFamily="34" charset="0"/>
                <a:ea typeface="Yu Gothic" pitchFamily="34" charset="-122"/>
                <a:cs typeface="Yu Gothic" pitchFamily="34" charset="-120"/>
              </a:rPr>
              <a:t> ＝ (1/5) Σ</a:t>
            </a:r>
            <a:pPr indent="0" marL="0">
              <a:buNone/>
            </a:pPr>
            <a:r>
              <a:rPr lang="en-US" sz="1100" b="1" baseline="-40000" dirty="0">
                <a:solidFill>
                  <a:srgbClr val="C56A2C"/>
                </a:solidFill>
                <a:latin typeface="Yu Gothic" pitchFamily="34" charset="0"/>
                <a:ea typeface="Yu Gothic" pitchFamily="34" charset="-122"/>
                <a:cs typeface="Yu Gothic" pitchFamily="34" charset="-120"/>
              </a:rPr>
              <a:t>k=1</a:t>
            </a:r>
            <a:pPr indent="0" marL="0">
              <a:buNone/>
            </a:pPr>
            <a:r>
              <a:rPr lang="en-US" sz="1100" b="1" baseline="30000" dirty="0">
                <a:solidFill>
                  <a:srgbClr val="C56A2C"/>
                </a:solidFill>
                <a:latin typeface="Yu Gothic" pitchFamily="34" charset="0"/>
                <a:ea typeface="Yu Gothic" pitchFamily="34" charset="-122"/>
                <a:cs typeface="Yu Gothic" pitchFamily="34" charset="-120"/>
              </a:rPr>
              <a:t>5</a:t>
            </a:r>
            <a:pPr indent="0" marL="0">
              <a:buNone/>
            </a:pPr>
            <a:r>
              <a:rPr lang="en-US" sz="1100" b="1" dirty="0">
                <a:solidFill>
                  <a:srgbClr val="C56A2C"/>
                </a:solidFill>
                <a:latin typeface="Yu Gothic" pitchFamily="34" charset="0"/>
                <a:ea typeface="Yu Gothic" pitchFamily="34" charset="-122"/>
                <a:cs typeface="Yu Gothic" pitchFamily="34" charset="-120"/>
              </a:rPr>
              <a:t> Ŷ</a:t>
            </a:r>
            <a:pPr indent="0" marL="0">
              <a:buNone/>
            </a:pPr>
            <a:r>
              <a:rPr lang="en-US" sz="1100" b="1" baseline="-40000" dirty="0">
                <a:solidFill>
                  <a:srgbClr val="C56A2C"/>
                </a:solidFill>
                <a:latin typeface="Yu Gothic" pitchFamily="34" charset="0"/>
                <a:ea typeface="Yu Gothic" pitchFamily="34" charset="-122"/>
                <a:cs typeface="Yu Gothic" pitchFamily="34" charset="-120"/>
              </a:rPr>
              <a:t>f,k</a:t>
            </a:r>
            <a:pPr indent="0" marL="0">
              <a:buNone/>
            </a:pPr>
            <a:r>
              <a:rPr lang="en-US" sz="1100" b="1" dirty="0">
                <a:solidFill>
                  <a:srgbClr val="C56A2C"/>
                </a:solidFill>
                <a:latin typeface="Yu Gothic" pitchFamily="34" charset="0"/>
                <a:ea typeface="Yu Gothic" pitchFamily="34" charset="-122"/>
                <a:cs typeface="Yu Gothic" pitchFamily="34" charset="-120"/>
              </a:rPr>
              <a:t>　（f＝北・東・南・西）</a:t>
            </a:r>
            <a:endParaRPr lang="en-US" sz="1100" dirty="0"/>
          </a:p>
        </p:txBody>
      </p:sp>
      <p:sp>
        <p:nvSpPr>
          <p:cNvPr id="107" name="Text 105"/>
          <p:cNvSpPr txBox="1"/>
          <p:nvPr/>
        </p:nvSpPr>
        <p:spPr>
          <a:xfrm>
            <a:off x="7132320" y="4526280"/>
            <a:ext cx="4617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中央の高さを変えると、帯の高さも変わる（高さを5等分）</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132320" y="4846320"/>
          <a:ext cx="4617720" cy="914400"/>
        </p:xfrm>
        <a:graphic>
          <a:graphicData uri="http://schemas.openxmlformats.org/drawingml/2006/table">
            <a:tbl>
              <a:tblPr/>
              <a:tblGrid>
                <a:gridCol w="1691640"/>
                <a:gridCol w="731520"/>
                <a:gridCol w="731520"/>
                <a:gridCol w="731520"/>
                <a:gridCol w="731520"/>
              </a:tblGrid>
              <a:tr h="274320">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H</a:t>
                      </a:r>
                      <a:pPr algn="l" indent="0" marL="0">
                        <a:buNone/>
                      </a:pPr>
                      <a:r>
                        <a:rPr lang="en-US" sz="1000" b="1" baseline="-40000" dirty="0">
                          <a:solidFill>
                            <a:srgbClr val="FFFFFF"/>
                          </a:solidFill>
                          <a:latin typeface="Yu Gothic" pitchFamily="34" charset="0"/>
                          <a:ea typeface="Yu Gothic" pitchFamily="34" charset="-122"/>
                          <a:cs typeface="Yu Gothic" pitchFamily="34" charset="-120"/>
                        </a:rPr>
                        <a:t>C</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25m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75m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1帯の高さ（H</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C</a:t>
                      </a:r>
                      <a:pPr algn="l" indent="0" marL="0">
                        <a:buNone/>
                      </a:pPr>
                      <a:r>
                        <a:rPr lang="en-US" sz="1050" b="1" dirty="0">
                          <a:solidFill>
                            <a:srgbClr val="1B2A44"/>
                          </a:solidFill>
                          <a:latin typeface="Yu Gothic" pitchFamily="34" charset="0"/>
                          <a:ea typeface="Yu Gothic" pitchFamily="34" charset="-122"/>
                          <a:cs typeface="Yu Gothic" pitchFamily="34" charset="-120"/>
                        </a:rPr>
                        <a:t>/5）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15m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出力数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09" name="Text 106"/>
          <p:cNvSpPr txBox="1"/>
          <p:nvPr/>
        </p:nvSpPr>
        <p:spPr>
          <a:xfrm>
            <a:off x="7132320" y="5742432"/>
            <a:ext cx="4617720" cy="548640"/>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記号　</a:t>
            </a:r>
            <a:pPr indent="0" marL="0">
              <a:buNone/>
            </a:pPr>
            <a:r>
              <a:rPr lang="en-US" sz="900" dirty="0">
                <a:solidFill>
                  <a:srgbClr val="333F4E"/>
                </a:solidFill>
                <a:latin typeface="Yu Gothic" pitchFamily="34" charset="0"/>
                <a:ea typeface="Yu Gothic" pitchFamily="34" charset="-122"/>
                <a:cs typeface="Yu Gothic" pitchFamily="34" charset="-120"/>
              </a:rPr>
              <a:t>Ŷ：予測値（^は予測）　f：面（北・東・南・西）　k：帯の番号（1〜5）　H</a:t>
            </a:r>
            <a:pPr indent="0" marL="0">
              <a:buNone/>
            </a:pPr>
            <a:r>
              <a:rPr lang="en-US" sz="900" baseline="-40000" dirty="0">
                <a:solidFill>
                  <a:srgbClr val="333F4E"/>
                </a:solidFill>
                <a:latin typeface="Yu Gothic" pitchFamily="34" charset="0"/>
                <a:ea typeface="Yu Gothic" pitchFamily="34" charset="-122"/>
                <a:cs typeface="Yu Gothic" pitchFamily="34" charset="-120"/>
              </a:rPr>
              <a:t>C</a:t>
            </a:r>
            <a:pPr indent="0" marL="0">
              <a:buNone/>
            </a:pPr>
            <a:r>
              <a:rPr lang="en-US" sz="900" dirty="0">
                <a:solidFill>
                  <a:srgbClr val="333F4E"/>
                </a:solidFill>
                <a:latin typeface="Yu Gothic" pitchFamily="34" charset="0"/>
                <a:ea typeface="Yu Gothic" pitchFamily="34" charset="-122"/>
                <a:cs typeface="Yu Gothic" pitchFamily="34" charset="-120"/>
              </a:rPr>
              <a:t>：中央建物の高さ　Σ</a:t>
            </a:r>
            <a:pPr indent="0" marL="0">
              <a:buNone/>
            </a:pPr>
            <a:r>
              <a:rPr lang="en-US" sz="900" baseline="-40000" dirty="0">
                <a:solidFill>
                  <a:srgbClr val="333F4E"/>
                </a:solidFill>
                <a:latin typeface="Yu Gothic" pitchFamily="34" charset="0"/>
                <a:ea typeface="Yu Gothic" pitchFamily="34" charset="-122"/>
                <a:cs typeface="Yu Gothic" pitchFamily="34" charset="-120"/>
              </a:rPr>
              <a:t>k=1</a:t>
            </a:r>
            <a:pPr indent="0" marL="0">
              <a:buNone/>
            </a:pPr>
            <a:r>
              <a:rPr lang="en-US" sz="900" baseline="30000" dirty="0">
                <a:solidFill>
                  <a:srgbClr val="333F4E"/>
                </a:solidFill>
                <a:latin typeface="Yu Gothic" pitchFamily="34" charset="0"/>
                <a:ea typeface="Yu Gothic" pitchFamily="34" charset="-122"/>
                <a:cs typeface="Yu Gothic" pitchFamily="34" charset="-120"/>
              </a:rPr>
              <a:t>5</a:t>
            </a:r>
            <a:pPr indent="0" marL="0">
              <a:buNone/>
            </a:pPr>
            <a:r>
              <a:rPr lang="en-US" sz="900" dirty="0">
                <a:solidFill>
                  <a:srgbClr val="333F4E"/>
                </a:solidFill>
                <a:latin typeface="Yu Gothic" pitchFamily="34" charset="0"/>
                <a:ea typeface="Yu Gothic" pitchFamily="34" charset="-122"/>
                <a:cs typeface="Yu Gothic" pitchFamily="34" charset="-120"/>
              </a:rPr>
              <a:t>：帯1〜5を足す</a:t>
            </a:r>
            <a:endParaRPr lang="en-US" sz="9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27</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有無の変数 s が必要な理由：「建物がない」は A・D の数字では表せない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 は「その方向に建物があるか」だけを表す 0/1 のスイッチ。s＝0 の建物は計算から自動的に外れる。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27 / 45</a:t>
            </a:r>
            <a:endParaRPr lang="en-US" sz="1100" dirty="0"/>
          </a:p>
        </p:txBody>
      </p:sp>
      <p:sp>
        <p:nvSpPr>
          <p:cNvPr id="10" name="Shape 8"/>
          <p:cNvSpPr/>
          <p:nvPr/>
        </p:nvSpPr>
        <p:spPr>
          <a:xfrm>
            <a:off x="457200" y="1481328"/>
            <a:ext cx="3639312" cy="2194560"/>
          </a:xfrm>
          <a:prstGeom prst="roundRect">
            <a:avLst>
              <a:gd name="adj" fmla="val 2500"/>
            </a:avLst>
          </a:prstGeom>
          <a:solidFill>
            <a:srgbClr val="F3F5F8"/>
          </a:solidFill>
          <a:ln/>
        </p:spPr>
      </p:sp>
      <p:sp>
        <p:nvSpPr>
          <p:cNvPr id="11" name="Shape 9"/>
          <p:cNvSpPr/>
          <p:nvPr/>
        </p:nvSpPr>
        <p:spPr>
          <a:xfrm>
            <a:off x="457200" y="1481328"/>
            <a:ext cx="3639312" cy="384048"/>
          </a:xfrm>
          <a:prstGeom prst="roundRect">
            <a:avLst>
              <a:gd name="adj" fmla="val 14286"/>
            </a:avLst>
          </a:prstGeom>
          <a:solidFill>
            <a:srgbClr val="4C8C6B"/>
          </a:solidFill>
          <a:ln/>
        </p:spPr>
      </p:sp>
      <p:sp>
        <p:nvSpPr>
          <p:cNvPr id="12" name="Text 10"/>
          <p:cNvSpPr txBox="1"/>
          <p:nvPr/>
        </p:nvSpPr>
        <p:spPr>
          <a:xfrm>
            <a:off x="594360" y="1481328"/>
            <a:ext cx="3364992" cy="384048"/>
          </a:xfrm>
          <a:prstGeom prst="rect">
            <a:avLst/>
          </a:prstGeom>
          <a:noFill/>
          <a:ln/>
        </p:spPr>
        <p:txBody>
          <a:bodyPr wrap="square" lIns="508" tIns="508" rIns="508" bIns="508"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a. 建物がある</a:t>
            </a:r>
            <a:endParaRPr lang="en-US" sz="1200" dirty="0"/>
          </a:p>
        </p:txBody>
      </p:sp>
      <p:sp>
        <p:nvSpPr>
          <p:cNvPr id="13" name="Shape 11"/>
          <p:cNvSpPr/>
          <p:nvPr/>
        </p:nvSpPr>
        <p:spPr>
          <a:xfrm>
            <a:off x="950976" y="2011680"/>
            <a:ext cx="384048" cy="384048"/>
          </a:xfrm>
          <a:prstGeom prst="rect">
            <a:avLst/>
          </a:prstGeom>
          <a:solidFill>
            <a:srgbClr val="1B2A44"/>
          </a:solidFill>
          <a:ln/>
        </p:spPr>
      </p:sp>
      <p:sp>
        <p:nvSpPr>
          <p:cNvPr id="14" name="Shape 12"/>
          <p:cNvSpPr/>
          <p:nvPr/>
        </p:nvSpPr>
        <p:spPr>
          <a:xfrm>
            <a:off x="950976" y="2596896"/>
            <a:ext cx="384048" cy="384048"/>
          </a:xfrm>
          <a:prstGeom prst="rect">
            <a:avLst/>
          </a:prstGeom>
          <a:solidFill>
            <a:srgbClr val="1F6F78"/>
          </a:solidFill>
          <a:ln/>
        </p:spPr>
      </p:sp>
      <p:sp>
        <p:nvSpPr>
          <p:cNvPr id="15" name="Text 13"/>
          <p:cNvSpPr txBox="1"/>
          <p:nvPr/>
        </p:nvSpPr>
        <p:spPr>
          <a:xfrm>
            <a:off x="950976" y="2011680"/>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中央</a:t>
            </a:r>
            <a:endParaRPr lang="en-US" sz="800" dirty="0"/>
          </a:p>
        </p:txBody>
      </p:sp>
      <p:sp>
        <p:nvSpPr>
          <p:cNvPr id="16" name="Text 14"/>
          <p:cNvSpPr txBox="1"/>
          <p:nvPr/>
        </p:nvSpPr>
        <p:spPr>
          <a:xfrm>
            <a:off x="950976" y="2596896"/>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南</a:t>
            </a:r>
            <a:endParaRPr lang="en-US" sz="800" dirty="0"/>
          </a:p>
        </p:txBody>
      </p:sp>
      <p:sp>
        <p:nvSpPr>
          <p:cNvPr id="17" name="Text 15"/>
          <p:cNvSpPr txBox="1"/>
          <p:nvPr/>
        </p:nvSpPr>
        <p:spPr>
          <a:xfrm>
            <a:off x="1737360" y="1984248"/>
            <a:ext cx="2194560" cy="96012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入力 </a:t>
            </a:r>
            <a:endParaRPr lang="en-US" sz="1400" dirty="0"/>
          </a:p>
          <a:p>
            <a:pPr indent="0" marL="0">
              <a:buNone/>
            </a:pPr>
            <a:r>
              <a:rPr lang="en-US" sz="1400" b="1" dirty="0">
                <a:solidFill>
                  <a:srgbClr val="1B2A44"/>
                </a:solidFill>
                <a:latin typeface="Yu Gothic" pitchFamily="34" charset="0"/>
                <a:ea typeface="Yu Gothic" pitchFamily="34" charset="-122"/>
                <a:cs typeface="Yu Gothic" pitchFamily="34" charset="-120"/>
              </a:rPr>
              <a:t>A ＝ 50 m</a:t>
            </a:r>
            <a:endParaRPr lang="en-US" sz="1400" dirty="0"/>
          </a:p>
          <a:p>
            <a:pPr indent="0" marL="0">
              <a:buNone/>
            </a:pPr>
            <a:r>
              <a:rPr lang="en-US" sz="1400" b="1" dirty="0">
                <a:solidFill>
                  <a:srgbClr val="1B2A44"/>
                </a:solidFill>
                <a:latin typeface="Yu Gothic" pitchFamily="34" charset="0"/>
                <a:ea typeface="Yu Gothic" pitchFamily="34" charset="-122"/>
                <a:cs typeface="Yu Gothic" pitchFamily="34" charset="-120"/>
              </a:rPr>
              <a:t>D ＝ 25 m</a:t>
            </a:r>
            <a:endParaRPr lang="en-US" sz="1400" dirty="0"/>
          </a:p>
        </p:txBody>
      </p:sp>
      <p:sp>
        <p:nvSpPr>
          <p:cNvPr id="18" name="Text 16"/>
          <p:cNvSpPr txBox="1"/>
          <p:nvPr/>
        </p:nvSpPr>
        <p:spPr>
          <a:xfrm>
            <a:off x="640080" y="3035808"/>
            <a:ext cx="3273552" cy="2286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表（A 25〜100m・D 10〜100m）の中</a:t>
            </a:r>
            <a:endParaRPr lang="en-US" sz="1000" dirty="0"/>
          </a:p>
        </p:txBody>
      </p:sp>
      <p:sp>
        <p:nvSpPr>
          <p:cNvPr id="19" name="Text 17"/>
          <p:cNvSpPr txBox="1"/>
          <p:nvPr/>
        </p:nvSpPr>
        <p:spPr>
          <a:xfrm>
            <a:off x="640080" y="3291840"/>
            <a:ext cx="3273552" cy="274320"/>
          </a:xfrm>
          <a:prstGeom prst="rect">
            <a:avLst/>
          </a:prstGeom>
          <a:noFill/>
          <a:ln/>
        </p:spPr>
        <p:txBody>
          <a:bodyPr wrap="square" lIns="508" tIns="508" rIns="508" bIns="508" rtlCol="0" anchor="t"/>
          <a:lstStyle/>
          <a:p>
            <a:pPr indent="0" marL="0">
              <a:buNone/>
            </a:pPr>
            <a:r>
              <a:rPr lang="en-US" sz="1100" b="1" dirty="0">
                <a:solidFill>
                  <a:srgbClr val="4C8C6B"/>
                </a:solidFill>
                <a:latin typeface="Yu Gothic" pitchFamily="34" charset="0"/>
                <a:ea typeface="Yu Gothic" pitchFamily="34" charset="-122"/>
                <a:cs typeface="Yu Gothic" pitchFamily="34" charset="-120"/>
              </a:rPr>
              <a:t>○ 計算できる</a:t>
            </a:r>
            <a:endParaRPr lang="en-US" sz="1100" dirty="0"/>
          </a:p>
        </p:txBody>
      </p:sp>
      <p:sp>
        <p:nvSpPr>
          <p:cNvPr id="20" name="Shape 18"/>
          <p:cNvSpPr/>
          <p:nvPr/>
        </p:nvSpPr>
        <p:spPr>
          <a:xfrm>
            <a:off x="4279392" y="1481328"/>
            <a:ext cx="3639312" cy="2194560"/>
          </a:xfrm>
          <a:prstGeom prst="roundRect">
            <a:avLst>
              <a:gd name="adj" fmla="val 2500"/>
            </a:avLst>
          </a:prstGeom>
          <a:solidFill>
            <a:srgbClr val="F3F5F8"/>
          </a:solidFill>
          <a:ln/>
        </p:spPr>
      </p:sp>
      <p:sp>
        <p:nvSpPr>
          <p:cNvPr id="21" name="Shape 19"/>
          <p:cNvSpPr/>
          <p:nvPr/>
        </p:nvSpPr>
        <p:spPr>
          <a:xfrm>
            <a:off x="4279392" y="1481328"/>
            <a:ext cx="3639312" cy="384048"/>
          </a:xfrm>
          <a:prstGeom prst="roundRect">
            <a:avLst>
              <a:gd name="adj" fmla="val 14286"/>
            </a:avLst>
          </a:prstGeom>
          <a:solidFill>
            <a:srgbClr val="B04A3F"/>
          </a:solidFill>
          <a:ln/>
        </p:spPr>
      </p:sp>
      <p:sp>
        <p:nvSpPr>
          <p:cNvPr id="22" name="Text 20"/>
          <p:cNvSpPr txBox="1"/>
          <p:nvPr/>
        </p:nvSpPr>
        <p:spPr>
          <a:xfrm>
            <a:off x="4416552" y="1481328"/>
            <a:ext cx="3364992" cy="384048"/>
          </a:xfrm>
          <a:prstGeom prst="rect">
            <a:avLst/>
          </a:prstGeom>
          <a:noFill/>
          <a:ln/>
        </p:spPr>
        <p:txBody>
          <a:bodyPr wrap="square" lIns="508" tIns="508" rIns="508" bIns="508"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b. 建物がない</a:t>
            </a:r>
            <a:endParaRPr lang="en-US" sz="1200" dirty="0"/>
          </a:p>
        </p:txBody>
      </p:sp>
      <p:sp>
        <p:nvSpPr>
          <p:cNvPr id="23" name="Shape 21"/>
          <p:cNvSpPr/>
          <p:nvPr/>
        </p:nvSpPr>
        <p:spPr>
          <a:xfrm>
            <a:off x="4773168" y="2011680"/>
            <a:ext cx="384048" cy="384048"/>
          </a:xfrm>
          <a:prstGeom prst="rect">
            <a:avLst/>
          </a:prstGeom>
          <a:solidFill>
            <a:srgbClr val="1B2A44"/>
          </a:solidFill>
          <a:ln/>
        </p:spPr>
      </p:sp>
      <p:sp>
        <p:nvSpPr>
          <p:cNvPr id="24" name="Shape 22"/>
          <p:cNvSpPr/>
          <p:nvPr/>
        </p:nvSpPr>
        <p:spPr>
          <a:xfrm>
            <a:off x="4773168" y="2596896"/>
            <a:ext cx="384048" cy="384048"/>
          </a:xfrm>
          <a:prstGeom prst="rect">
            <a:avLst/>
          </a:prstGeom>
          <a:solidFill>
            <a:srgbClr val="FFFFFF"/>
          </a:solidFill>
          <a:ln w="9525">
            <a:solidFill>
              <a:srgbClr val="B8C0CA"/>
            </a:solidFill>
            <a:prstDash val="dash"/>
          </a:ln>
        </p:spPr>
      </p:sp>
      <p:sp>
        <p:nvSpPr>
          <p:cNvPr id="25" name="Text 23"/>
          <p:cNvSpPr txBox="1"/>
          <p:nvPr/>
        </p:nvSpPr>
        <p:spPr>
          <a:xfrm>
            <a:off x="4773168" y="2011680"/>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中央</a:t>
            </a:r>
            <a:endParaRPr lang="en-US" sz="800" dirty="0"/>
          </a:p>
        </p:txBody>
      </p:sp>
      <p:sp>
        <p:nvSpPr>
          <p:cNvPr id="26" name="Text 24"/>
          <p:cNvSpPr txBox="1"/>
          <p:nvPr/>
        </p:nvSpPr>
        <p:spPr>
          <a:xfrm>
            <a:off x="4773168" y="2596896"/>
            <a:ext cx="384048" cy="384048"/>
          </a:xfrm>
          <a:prstGeom prst="rect">
            <a:avLst/>
          </a:prstGeom>
          <a:noFill/>
          <a:ln/>
        </p:spPr>
        <p:txBody>
          <a:bodyPr wrap="square" lIns="0" tIns="0" rIns="0" bIns="0" rtlCol="0" anchor="ctr"/>
          <a:lstStyle/>
          <a:p>
            <a:pPr algn="ctr" indent="0" marL="0">
              <a:buNone/>
            </a:pPr>
            <a:r>
              <a:rPr lang="en-US" sz="800" b="1" dirty="0">
                <a:solidFill>
                  <a:srgbClr val="6B7480"/>
                </a:solidFill>
                <a:latin typeface="Yu Gothic" pitchFamily="34" charset="0"/>
                <a:ea typeface="Yu Gothic" pitchFamily="34" charset="-122"/>
                <a:cs typeface="Yu Gothic" pitchFamily="34" charset="-120"/>
              </a:rPr>
              <a:t>なし</a:t>
            </a:r>
            <a:endParaRPr lang="en-US" sz="800" dirty="0"/>
          </a:p>
        </p:txBody>
      </p:sp>
      <p:sp>
        <p:nvSpPr>
          <p:cNvPr id="27" name="Text 25"/>
          <p:cNvSpPr txBox="1"/>
          <p:nvPr/>
        </p:nvSpPr>
        <p:spPr>
          <a:xfrm>
            <a:off x="5559552" y="1984248"/>
            <a:ext cx="2194560" cy="96012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入力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A ＝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D ＝ ？</a:t>
            </a:r>
            <a:endParaRPr lang="en-US" sz="1400" dirty="0"/>
          </a:p>
        </p:txBody>
      </p:sp>
      <p:sp>
        <p:nvSpPr>
          <p:cNvPr id="28" name="Text 26"/>
          <p:cNvSpPr txBox="1"/>
          <p:nvPr/>
        </p:nvSpPr>
        <p:spPr>
          <a:xfrm>
            <a:off x="4462272" y="3035808"/>
            <a:ext cx="3273552" cy="2286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高さも距離も存在しない → 空欄</a:t>
            </a:r>
            <a:endParaRPr lang="en-US" sz="1000" dirty="0"/>
          </a:p>
        </p:txBody>
      </p:sp>
      <p:sp>
        <p:nvSpPr>
          <p:cNvPr id="29" name="Text 27"/>
          <p:cNvSpPr txBox="1"/>
          <p:nvPr/>
        </p:nvSpPr>
        <p:spPr>
          <a:xfrm>
            <a:off x="4462272" y="3291840"/>
            <a:ext cx="3273552" cy="274320"/>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 入れる数字がない</a:t>
            </a:r>
            <a:endParaRPr lang="en-US" sz="1100" dirty="0"/>
          </a:p>
        </p:txBody>
      </p:sp>
      <p:sp>
        <p:nvSpPr>
          <p:cNvPr id="30" name="Shape 28"/>
          <p:cNvSpPr/>
          <p:nvPr/>
        </p:nvSpPr>
        <p:spPr>
          <a:xfrm>
            <a:off x="8101584" y="1481328"/>
            <a:ext cx="3639312" cy="2194560"/>
          </a:xfrm>
          <a:prstGeom prst="roundRect">
            <a:avLst>
              <a:gd name="adj" fmla="val 2500"/>
            </a:avLst>
          </a:prstGeom>
          <a:solidFill>
            <a:srgbClr val="F3F5F8"/>
          </a:solidFill>
          <a:ln/>
        </p:spPr>
      </p:sp>
      <p:sp>
        <p:nvSpPr>
          <p:cNvPr id="31" name="Shape 29"/>
          <p:cNvSpPr/>
          <p:nvPr/>
        </p:nvSpPr>
        <p:spPr>
          <a:xfrm>
            <a:off x="8101584" y="1481328"/>
            <a:ext cx="3639312" cy="384048"/>
          </a:xfrm>
          <a:prstGeom prst="roundRect">
            <a:avLst>
              <a:gd name="adj" fmla="val 14286"/>
            </a:avLst>
          </a:prstGeom>
          <a:solidFill>
            <a:srgbClr val="B04A3F"/>
          </a:solidFill>
          <a:ln/>
        </p:spPr>
      </p:sp>
      <p:sp>
        <p:nvSpPr>
          <p:cNvPr id="32" name="Text 30"/>
          <p:cNvSpPr txBox="1"/>
          <p:nvPr/>
        </p:nvSpPr>
        <p:spPr>
          <a:xfrm>
            <a:off x="8238744" y="1481328"/>
            <a:ext cx="3364992" cy="384048"/>
          </a:xfrm>
          <a:prstGeom prst="rect">
            <a:avLst/>
          </a:prstGeom>
          <a:noFill/>
          <a:ln/>
        </p:spPr>
        <p:txBody>
          <a:bodyPr wrap="square" lIns="508" tIns="508" rIns="508" bIns="508"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c. A＝0 で代用する</a:t>
            </a:r>
            <a:endParaRPr lang="en-US" sz="1200" dirty="0"/>
          </a:p>
        </p:txBody>
      </p:sp>
      <p:sp>
        <p:nvSpPr>
          <p:cNvPr id="33" name="Shape 31"/>
          <p:cNvSpPr/>
          <p:nvPr/>
        </p:nvSpPr>
        <p:spPr>
          <a:xfrm>
            <a:off x="8595360" y="2011680"/>
            <a:ext cx="384048" cy="384048"/>
          </a:xfrm>
          <a:prstGeom prst="rect">
            <a:avLst/>
          </a:prstGeom>
          <a:solidFill>
            <a:srgbClr val="1B2A44"/>
          </a:solidFill>
          <a:ln/>
        </p:spPr>
      </p:sp>
      <p:sp>
        <p:nvSpPr>
          <p:cNvPr id="34" name="Shape 32"/>
          <p:cNvSpPr/>
          <p:nvPr/>
        </p:nvSpPr>
        <p:spPr>
          <a:xfrm>
            <a:off x="8595360" y="2596896"/>
            <a:ext cx="384048" cy="384048"/>
          </a:xfrm>
          <a:prstGeom prst="rect">
            <a:avLst/>
          </a:prstGeom>
          <a:solidFill>
            <a:srgbClr val="9CC3C7"/>
          </a:solidFill>
          <a:ln/>
        </p:spPr>
      </p:sp>
      <p:sp>
        <p:nvSpPr>
          <p:cNvPr id="35" name="Text 33"/>
          <p:cNvSpPr txBox="1"/>
          <p:nvPr/>
        </p:nvSpPr>
        <p:spPr>
          <a:xfrm>
            <a:off x="8595360" y="2011680"/>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中央</a:t>
            </a:r>
            <a:endParaRPr lang="en-US" sz="800" dirty="0"/>
          </a:p>
        </p:txBody>
      </p:sp>
      <p:sp>
        <p:nvSpPr>
          <p:cNvPr id="36" name="Text 34"/>
          <p:cNvSpPr txBox="1"/>
          <p:nvPr/>
        </p:nvSpPr>
        <p:spPr>
          <a:xfrm>
            <a:off x="8595360" y="2596896"/>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南</a:t>
            </a:r>
            <a:endParaRPr lang="en-US" sz="800" dirty="0"/>
          </a:p>
        </p:txBody>
      </p:sp>
      <p:sp>
        <p:nvSpPr>
          <p:cNvPr id="37" name="Text 35"/>
          <p:cNvSpPr txBox="1"/>
          <p:nvPr/>
        </p:nvSpPr>
        <p:spPr>
          <a:xfrm>
            <a:off x="9381744" y="1984248"/>
            <a:ext cx="2194560" cy="96012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入力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A ＝ 0 m</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D ＝ 25 m</a:t>
            </a:r>
            <a:endParaRPr lang="en-US" sz="1400" dirty="0"/>
          </a:p>
        </p:txBody>
      </p:sp>
      <p:sp>
        <p:nvSpPr>
          <p:cNvPr id="38" name="Text 36"/>
          <p:cNvSpPr txBox="1"/>
          <p:nvPr/>
        </p:nvSpPr>
        <p:spPr>
          <a:xfrm>
            <a:off x="8284464" y="3035808"/>
            <a:ext cx="3273552" cy="2286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表は A 25m から → 囲む4点がない</a:t>
            </a:r>
            <a:endParaRPr lang="en-US" sz="1000" dirty="0"/>
          </a:p>
        </p:txBody>
      </p:sp>
      <p:sp>
        <p:nvSpPr>
          <p:cNvPr id="39" name="Text 37"/>
          <p:cNvSpPr txBox="1"/>
          <p:nvPr/>
        </p:nvSpPr>
        <p:spPr>
          <a:xfrm>
            <a:off x="8284464" y="3291840"/>
            <a:ext cx="3273552" cy="274320"/>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 表の外（外挿）</a:t>
            </a:r>
            <a:endParaRPr lang="en-US" sz="1100" dirty="0"/>
          </a:p>
        </p:txBody>
      </p:sp>
      <p:sp>
        <p:nvSpPr>
          <p:cNvPr id="40" name="Shape 38"/>
          <p:cNvSpPr/>
          <p:nvPr/>
        </p:nvSpPr>
        <p:spPr>
          <a:xfrm>
            <a:off x="457200" y="3840480"/>
            <a:ext cx="5486400" cy="2468880"/>
          </a:xfrm>
          <a:prstGeom prst="roundRect">
            <a:avLst>
              <a:gd name="adj" fmla="val 2222"/>
            </a:avLst>
          </a:prstGeom>
          <a:solidFill>
            <a:srgbClr val="F3F5F8"/>
          </a:solidFill>
          <a:ln/>
        </p:spPr>
      </p:sp>
      <p:sp>
        <p:nvSpPr>
          <p:cNvPr id="41" name="Text 39"/>
          <p:cNvSpPr txBox="1"/>
          <p:nvPr/>
        </p:nvSpPr>
        <p:spPr>
          <a:xfrm>
            <a:off x="594360" y="3895344"/>
            <a:ext cx="52120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そこで s を使う（入力の例）</a:t>
            </a:r>
            <a:endParaRPr lang="en-US" sz="1150" dirty="0"/>
          </a:p>
        </p:txBody>
      </p:sp>
      <p:sp>
        <p:nvSpPr>
          <p:cNvPr id="42" name="Text 40"/>
          <p:cNvSpPr txBox="1"/>
          <p:nvPr/>
        </p:nvSpPr>
        <p:spPr>
          <a:xfrm>
            <a:off x="640080" y="4160520"/>
            <a:ext cx="548640" cy="219456"/>
          </a:xfrm>
          <a:prstGeom prst="rect">
            <a:avLst/>
          </a:prstGeom>
          <a:noFill/>
          <a:ln/>
        </p:spPr>
        <p:txBody>
          <a:bodyPr wrap="square" lIns="508" tIns="508" rIns="508" bIns="508" rtlCol="0" anchor="t"/>
          <a:lstStyle/>
          <a:p>
            <a:pPr algn="l" indent="0" marL="0">
              <a:buNone/>
            </a:pPr>
            <a:r>
              <a:rPr lang="en-US" sz="950" b="1" dirty="0">
                <a:solidFill>
                  <a:srgbClr val="6B7480"/>
                </a:solidFill>
                <a:latin typeface="Yu Gothic" pitchFamily="34" charset="0"/>
                <a:ea typeface="Yu Gothic" pitchFamily="34" charset="-122"/>
                <a:cs typeface="Yu Gothic" pitchFamily="34" charset="-120"/>
              </a:rPr>
              <a:t>方向</a:t>
            </a:r>
            <a:endParaRPr lang="en-US" sz="950" dirty="0"/>
          </a:p>
        </p:txBody>
      </p:sp>
      <p:sp>
        <p:nvSpPr>
          <p:cNvPr id="43" name="Text 41"/>
          <p:cNvSpPr txBox="1"/>
          <p:nvPr/>
        </p:nvSpPr>
        <p:spPr>
          <a:xfrm>
            <a:off x="1417320" y="4160520"/>
            <a:ext cx="109728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s</a:t>
            </a:r>
            <a:endParaRPr lang="en-US" sz="950" dirty="0"/>
          </a:p>
        </p:txBody>
      </p:sp>
      <p:sp>
        <p:nvSpPr>
          <p:cNvPr id="44" name="Text 42"/>
          <p:cNvSpPr txBox="1"/>
          <p:nvPr/>
        </p:nvSpPr>
        <p:spPr>
          <a:xfrm>
            <a:off x="2606040" y="4160520"/>
            <a:ext cx="77724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高さ A</a:t>
            </a:r>
            <a:endParaRPr lang="en-US" sz="950" dirty="0"/>
          </a:p>
        </p:txBody>
      </p:sp>
      <p:sp>
        <p:nvSpPr>
          <p:cNvPr id="45" name="Text 43"/>
          <p:cNvSpPr txBox="1"/>
          <p:nvPr/>
        </p:nvSpPr>
        <p:spPr>
          <a:xfrm>
            <a:off x="3429000" y="4160520"/>
            <a:ext cx="77724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隙間 D</a:t>
            </a:r>
            <a:endParaRPr lang="en-US" sz="950" dirty="0"/>
          </a:p>
        </p:txBody>
      </p:sp>
      <p:sp>
        <p:nvSpPr>
          <p:cNvPr id="46" name="Text 44"/>
          <p:cNvSpPr txBox="1"/>
          <p:nvPr/>
        </p:nvSpPr>
        <p:spPr>
          <a:xfrm>
            <a:off x="4343400" y="4160520"/>
            <a:ext cx="137160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計算に</a:t>
            </a:r>
            <a:endParaRPr lang="en-US" sz="950" dirty="0"/>
          </a:p>
        </p:txBody>
      </p:sp>
      <p:sp>
        <p:nvSpPr>
          <p:cNvPr id="47" name="Shape 45"/>
          <p:cNvSpPr/>
          <p:nvPr/>
        </p:nvSpPr>
        <p:spPr>
          <a:xfrm>
            <a:off x="548640" y="4407408"/>
            <a:ext cx="5303520" cy="402336"/>
          </a:xfrm>
          <a:prstGeom prst="roundRect">
            <a:avLst>
              <a:gd name="adj" fmla="val 11364"/>
            </a:avLst>
          </a:prstGeom>
          <a:solidFill>
            <a:srgbClr val="EEF0F3"/>
          </a:solidFill>
          <a:ln/>
        </p:spPr>
      </p:sp>
      <p:sp>
        <p:nvSpPr>
          <p:cNvPr id="48" name="Text 46"/>
          <p:cNvSpPr txBox="1"/>
          <p:nvPr/>
        </p:nvSpPr>
        <p:spPr>
          <a:xfrm>
            <a:off x="640080" y="44074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北</a:t>
            </a:r>
            <a:endParaRPr lang="en-US" sz="1200" dirty="0"/>
          </a:p>
        </p:txBody>
      </p:sp>
      <p:sp>
        <p:nvSpPr>
          <p:cNvPr id="49" name="Shape 47"/>
          <p:cNvSpPr/>
          <p:nvPr/>
        </p:nvSpPr>
        <p:spPr>
          <a:xfrm>
            <a:off x="1554480" y="4489704"/>
            <a:ext cx="548640" cy="237744"/>
          </a:xfrm>
          <a:prstGeom prst="roundRect">
            <a:avLst>
              <a:gd name="adj" fmla="val 50000"/>
            </a:avLst>
          </a:prstGeom>
          <a:solidFill>
            <a:srgbClr val="AEB4BC"/>
          </a:solidFill>
          <a:ln/>
        </p:spPr>
      </p:sp>
      <p:sp>
        <p:nvSpPr>
          <p:cNvPr id="50" name="Shape 48"/>
          <p:cNvSpPr/>
          <p:nvPr/>
        </p:nvSpPr>
        <p:spPr>
          <a:xfrm>
            <a:off x="1572768" y="4507992"/>
            <a:ext cx="201168" cy="201168"/>
          </a:xfrm>
          <a:prstGeom prst="ellipse">
            <a:avLst/>
          </a:prstGeom>
          <a:solidFill>
            <a:srgbClr val="FFFFFF"/>
          </a:solidFill>
          <a:ln/>
        </p:spPr>
      </p:sp>
      <p:sp>
        <p:nvSpPr>
          <p:cNvPr id="51" name="Text 49"/>
          <p:cNvSpPr txBox="1"/>
          <p:nvPr/>
        </p:nvSpPr>
        <p:spPr>
          <a:xfrm>
            <a:off x="2148840" y="4407408"/>
            <a:ext cx="274320" cy="402336"/>
          </a:xfrm>
          <a:prstGeom prst="rect">
            <a:avLst/>
          </a:prstGeom>
          <a:noFill/>
          <a:ln/>
        </p:spPr>
        <p:txBody>
          <a:bodyPr wrap="square" lIns="508" tIns="508" rIns="508" bIns="508" rtlCol="0" anchor="ctr"/>
          <a:lstStyle/>
          <a:p>
            <a:pPr indent="0" marL="0">
              <a:buNone/>
            </a:pPr>
            <a:r>
              <a:rPr lang="en-US" sz="1200" b="1" dirty="0">
                <a:solidFill>
                  <a:srgbClr val="6B7480"/>
                </a:solidFill>
                <a:latin typeface="Yu Gothic" pitchFamily="34" charset="0"/>
                <a:ea typeface="Yu Gothic" pitchFamily="34" charset="-122"/>
                <a:cs typeface="Yu Gothic" pitchFamily="34" charset="-120"/>
              </a:rPr>
              <a:t>0</a:t>
            </a:r>
            <a:endParaRPr lang="en-US" sz="1200" dirty="0"/>
          </a:p>
        </p:txBody>
      </p:sp>
      <p:sp>
        <p:nvSpPr>
          <p:cNvPr id="52" name="Text 50"/>
          <p:cNvSpPr txBox="1"/>
          <p:nvPr/>
        </p:nvSpPr>
        <p:spPr>
          <a:xfrm>
            <a:off x="2606040" y="4407408"/>
            <a:ext cx="777240" cy="402336"/>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53" name="Text 51"/>
          <p:cNvSpPr txBox="1"/>
          <p:nvPr/>
        </p:nvSpPr>
        <p:spPr>
          <a:xfrm>
            <a:off x="3429000" y="4407408"/>
            <a:ext cx="777240" cy="402336"/>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54" name="Text 52"/>
          <p:cNvSpPr txBox="1"/>
          <p:nvPr/>
        </p:nvSpPr>
        <p:spPr>
          <a:xfrm>
            <a:off x="4343400" y="4407408"/>
            <a:ext cx="1371600" cy="402336"/>
          </a:xfrm>
          <a:prstGeom prst="rect">
            <a:avLst/>
          </a:prstGeom>
          <a:noFill/>
          <a:ln/>
        </p:spPr>
        <p:txBody>
          <a:bodyPr wrap="square" lIns="508" tIns="508" rIns="508" bIns="508" rtlCol="0" anchor="ctr"/>
          <a:lstStyle/>
          <a:p>
            <a:pPr algn="ctr" indent="0" marL="0">
              <a:buNone/>
            </a:pPr>
            <a:r>
              <a:rPr lang="en-US" sz="1100" b="1" dirty="0">
                <a:solidFill>
                  <a:srgbClr val="6B7480"/>
                </a:solidFill>
                <a:latin typeface="Yu Gothic" pitchFamily="34" charset="0"/>
                <a:ea typeface="Yu Gothic" pitchFamily="34" charset="-122"/>
                <a:cs typeface="Yu Gothic" pitchFamily="34" charset="-120"/>
              </a:rPr>
              <a:t>入れない</a:t>
            </a:r>
            <a:endParaRPr lang="en-US" sz="1100" dirty="0"/>
          </a:p>
        </p:txBody>
      </p:sp>
      <p:sp>
        <p:nvSpPr>
          <p:cNvPr id="55" name="Shape 53"/>
          <p:cNvSpPr/>
          <p:nvPr/>
        </p:nvSpPr>
        <p:spPr>
          <a:xfrm>
            <a:off x="548640" y="4864608"/>
            <a:ext cx="5303520" cy="402336"/>
          </a:xfrm>
          <a:prstGeom prst="roundRect">
            <a:avLst>
              <a:gd name="adj" fmla="val 11364"/>
            </a:avLst>
          </a:prstGeom>
          <a:solidFill>
            <a:srgbClr val="FFFFFF"/>
          </a:solidFill>
          <a:ln/>
        </p:spPr>
      </p:sp>
      <p:sp>
        <p:nvSpPr>
          <p:cNvPr id="56" name="Text 54"/>
          <p:cNvSpPr txBox="1"/>
          <p:nvPr/>
        </p:nvSpPr>
        <p:spPr>
          <a:xfrm>
            <a:off x="640080" y="48646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東</a:t>
            </a:r>
            <a:endParaRPr lang="en-US" sz="1200" dirty="0"/>
          </a:p>
        </p:txBody>
      </p:sp>
      <p:sp>
        <p:nvSpPr>
          <p:cNvPr id="57" name="Shape 55"/>
          <p:cNvSpPr/>
          <p:nvPr/>
        </p:nvSpPr>
        <p:spPr>
          <a:xfrm>
            <a:off x="1554480" y="4946904"/>
            <a:ext cx="548640" cy="237744"/>
          </a:xfrm>
          <a:prstGeom prst="roundRect">
            <a:avLst>
              <a:gd name="adj" fmla="val 50000"/>
            </a:avLst>
          </a:prstGeom>
          <a:solidFill>
            <a:srgbClr val="4C8C6B"/>
          </a:solidFill>
          <a:ln/>
        </p:spPr>
      </p:sp>
      <p:sp>
        <p:nvSpPr>
          <p:cNvPr id="58" name="Shape 56"/>
          <p:cNvSpPr/>
          <p:nvPr/>
        </p:nvSpPr>
        <p:spPr>
          <a:xfrm>
            <a:off x="1883664" y="4965192"/>
            <a:ext cx="201168" cy="201168"/>
          </a:xfrm>
          <a:prstGeom prst="ellipse">
            <a:avLst/>
          </a:prstGeom>
          <a:solidFill>
            <a:srgbClr val="FFFFFF"/>
          </a:solidFill>
          <a:ln/>
        </p:spPr>
      </p:sp>
      <p:sp>
        <p:nvSpPr>
          <p:cNvPr id="59" name="Text 57"/>
          <p:cNvSpPr txBox="1"/>
          <p:nvPr/>
        </p:nvSpPr>
        <p:spPr>
          <a:xfrm>
            <a:off x="2148840" y="4864608"/>
            <a:ext cx="274320" cy="402336"/>
          </a:xfrm>
          <a:prstGeom prst="rect">
            <a:avLst/>
          </a:prstGeom>
          <a:noFill/>
          <a:ln/>
        </p:spPr>
        <p:txBody>
          <a:bodyPr wrap="square" lIns="508" tIns="508" rIns="508" bIns="508" rtlCol="0" anchor="ctr"/>
          <a:lstStyle/>
          <a:p>
            <a:pPr indent="0" marL="0">
              <a:buNone/>
            </a:pPr>
            <a:r>
              <a:rPr lang="en-US" sz="1200" b="1" dirty="0">
                <a:solidFill>
                  <a:srgbClr val="4C8C6B"/>
                </a:solidFill>
                <a:latin typeface="Yu Gothic" pitchFamily="34" charset="0"/>
                <a:ea typeface="Yu Gothic" pitchFamily="34" charset="-122"/>
                <a:cs typeface="Yu Gothic" pitchFamily="34" charset="-120"/>
              </a:rPr>
              <a:t>1</a:t>
            </a:r>
            <a:endParaRPr lang="en-US" sz="1200" dirty="0"/>
          </a:p>
        </p:txBody>
      </p:sp>
      <p:sp>
        <p:nvSpPr>
          <p:cNvPr id="60" name="Text 58"/>
          <p:cNvSpPr txBox="1"/>
          <p:nvPr/>
        </p:nvSpPr>
        <p:spPr>
          <a:xfrm>
            <a:off x="2606040" y="4864608"/>
            <a:ext cx="777240" cy="402336"/>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40 m</a:t>
            </a:r>
            <a:endParaRPr lang="en-US" sz="1100" dirty="0"/>
          </a:p>
        </p:txBody>
      </p:sp>
      <p:sp>
        <p:nvSpPr>
          <p:cNvPr id="61" name="Text 59"/>
          <p:cNvSpPr txBox="1"/>
          <p:nvPr/>
        </p:nvSpPr>
        <p:spPr>
          <a:xfrm>
            <a:off x="3429000" y="4864608"/>
            <a:ext cx="777240" cy="402336"/>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20 m</a:t>
            </a:r>
            <a:endParaRPr lang="en-US" sz="1100" dirty="0"/>
          </a:p>
        </p:txBody>
      </p:sp>
      <p:sp>
        <p:nvSpPr>
          <p:cNvPr id="62" name="Text 60"/>
          <p:cNvSpPr txBox="1"/>
          <p:nvPr/>
        </p:nvSpPr>
        <p:spPr>
          <a:xfrm>
            <a:off x="4343400" y="4864608"/>
            <a:ext cx="1371600" cy="402336"/>
          </a:xfrm>
          <a:prstGeom prst="rect">
            <a:avLst/>
          </a:prstGeom>
          <a:noFill/>
          <a:ln/>
        </p:spPr>
        <p:txBody>
          <a:bodyPr wrap="square" lIns="508" tIns="508" rIns="508" bIns="508" rtlCol="0" anchor="ctr"/>
          <a:lstStyle/>
          <a:p>
            <a:pPr algn="ctr" indent="0" marL="0">
              <a:buNone/>
            </a:pPr>
            <a:r>
              <a:rPr lang="en-US" sz="1100" b="1" dirty="0">
                <a:solidFill>
                  <a:srgbClr val="4C8C6B"/>
                </a:solidFill>
                <a:latin typeface="Yu Gothic" pitchFamily="34" charset="0"/>
                <a:ea typeface="Yu Gothic" pitchFamily="34" charset="-122"/>
                <a:cs typeface="Yu Gothic" pitchFamily="34" charset="-120"/>
              </a:rPr>
              <a:t>入れる</a:t>
            </a:r>
            <a:endParaRPr lang="en-US" sz="1100" dirty="0"/>
          </a:p>
        </p:txBody>
      </p:sp>
      <p:sp>
        <p:nvSpPr>
          <p:cNvPr id="63" name="Shape 61"/>
          <p:cNvSpPr/>
          <p:nvPr/>
        </p:nvSpPr>
        <p:spPr>
          <a:xfrm>
            <a:off x="548640" y="5321808"/>
            <a:ext cx="5303520" cy="402336"/>
          </a:xfrm>
          <a:prstGeom prst="roundRect">
            <a:avLst>
              <a:gd name="adj" fmla="val 11364"/>
            </a:avLst>
          </a:prstGeom>
          <a:solidFill>
            <a:srgbClr val="FFFFFF"/>
          </a:solidFill>
          <a:ln/>
        </p:spPr>
      </p:sp>
      <p:sp>
        <p:nvSpPr>
          <p:cNvPr id="64" name="Text 62"/>
          <p:cNvSpPr txBox="1"/>
          <p:nvPr/>
        </p:nvSpPr>
        <p:spPr>
          <a:xfrm>
            <a:off x="640080" y="53218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南</a:t>
            </a:r>
            <a:endParaRPr lang="en-US" sz="1200" dirty="0"/>
          </a:p>
        </p:txBody>
      </p:sp>
      <p:sp>
        <p:nvSpPr>
          <p:cNvPr id="65" name="Shape 63"/>
          <p:cNvSpPr/>
          <p:nvPr/>
        </p:nvSpPr>
        <p:spPr>
          <a:xfrm>
            <a:off x="1554480" y="5404104"/>
            <a:ext cx="548640" cy="237744"/>
          </a:xfrm>
          <a:prstGeom prst="roundRect">
            <a:avLst>
              <a:gd name="adj" fmla="val 50000"/>
            </a:avLst>
          </a:prstGeom>
          <a:solidFill>
            <a:srgbClr val="4C8C6B"/>
          </a:solidFill>
          <a:ln/>
        </p:spPr>
      </p:sp>
      <p:sp>
        <p:nvSpPr>
          <p:cNvPr id="66" name="Shape 64"/>
          <p:cNvSpPr/>
          <p:nvPr/>
        </p:nvSpPr>
        <p:spPr>
          <a:xfrm>
            <a:off x="1883664" y="5422392"/>
            <a:ext cx="201168" cy="201168"/>
          </a:xfrm>
          <a:prstGeom prst="ellipse">
            <a:avLst/>
          </a:prstGeom>
          <a:solidFill>
            <a:srgbClr val="FFFFFF"/>
          </a:solidFill>
          <a:ln/>
        </p:spPr>
      </p:sp>
      <p:sp>
        <p:nvSpPr>
          <p:cNvPr id="67" name="Text 65"/>
          <p:cNvSpPr txBox="1"/>
          <p:nvPr/>
        </p:nvSpPr>
        <p:spPr>
          <a:xfrm>
            <a:off x="2148840" y="5321808"/>
            <a:ext cx="274320" cy="402336"/>
          </a:xfrm>
          <a:prstGeom prst="rect">
            <a:avLst/>
          </a:prstGeom>
          <a:noFill/>
          <a:ln/>
        </p:spPr>
        <p:txBody>
          <a:bodyPr wrap="square" lIns="508" tIns="508" rIns="508" bIns="508" rtlCol="0" anchor="ctr"/>
          <a:lstStyle/>
          <a:p>
            <a:pPr indent="0" marL="0">
              <a:buNone/>
            </a:pPr>
            <a:r>
              <a:rPr lang="en-US" sz="1200" b="1" dirty="0">
                <a:solidFill>
                  <a:srgbClr val="4C8C6B"/>
                </a:solidFill>
                <a:latin typeface="Yu Gothic" pitchFamily="34" charset="0"/>
                <a:ea typeface="Yu Gothic" pitchFamily="34" charset="-122"/>
                <a:cs typeface="Yu Gothic" pitchFamily="34" charset="-120"/>
              </a:rPr>
              <a:t>1</a:t>
            </a:r>
            <a:endParaRPr lang="en-US" sz="1200" dirty="0"/>
          </a:p>
        </p:txBody>
      </p:sp>
      <p:sp>
        <p:nvSpPr>
          <p:cNvPr id="68" name="Text 66"/>
          <p:cNvSpPr txBox="1"/>
          <p:nvPr/>
        </p:nvSpPr>
        <p:spPr>
          <a:xfrm>
            <a:off x="2606040" y="5321808"/>
            <a:ext cx="777240" cy="402336"/>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55.9 m</a:t>
            </a:r>
            <a:endParaRPr lang="en-US" sz="1100" dirty="0"/>
          </a:p>
        </p:txBody>
      </p:sp>
      <p:sp>
        <p:nvSpPr>
          <p:cNvPr id="69" name="Text 67"/>
          <p:cNvSpPr txBox="1"/>
          <p:nvPr/>
        </p:nvSpPr>
        <p:spPr>
          <a:xfrm>
            <a:off x="3429000" y="5321808"/>
            <a:ext cx="777240" cy="402336"/>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14 m</a:t>
            </a:r>
            <a:endParaRPr lang="en-US" sz="1100" dirty="0"/>
          </a:p>
        </p:txBody>
      </p:sp>
      <p:sp>
        <p:nvSpPr>
          <p:cNvPr id="70" name="Text 68"/>
          <p:cNvSpPr txBox="1"/>
          <p:nvPr/>
        </p:nvSpPr>
        <p:spPr>
          <a:xfrm>
            <a:off x="4343400" y="5321808"/>
            <a:ext cx="1371600" cy="402336"/>
          </a:xfrm>
          <a:prstGeom prst="rect">
            <a:avLst/>
          </a:prstGeom>
          <a:noFill/>
          <a:ln/>
        </p:spPr>
        <p:txBody>
          <a:bodyPr wrap="square" lIns="508" tIns="508" rIns="508" bIns="508" rtlCol="0" anchor="ctr"/>
          <a:lstStyle/>
          <a:p>
            <a:pPr algn="ctr" indent="0" marL="0">
              <a:buNone/>
            </a:pPr>
            <a:r>
              <a:rPr lang="en-US" sz="1100" b="1" dirty="0">
                <a:solidFill>
                  <a:srgbClr val="4C8C6B"/>
                </a:solidFill>
                <a:latin typeface="Yu Gothic" pitchFamily="34" charset="0"/>
                <a:ea typeface="Yu Gothic" pitchFamily="34" charset="-122"/>
                <a:cs typeface="Yu Gothic" pitchFamily="34" charset="-120"/>
              </a:rPr>
              <a:t>入れる</a:t>
            </a:r>
            <a:endParaRPr lang="en-US" sz="1100" dirty="0"/>
          </a:p>
        </p:txBody>
      </p:sp>
      <p:sp>
        <p:nvSpPr>
          <p:cNvPr id="71" name="Shape 69"/>
          <p:cNvSpPr/>
          <p:nvPr/>
        </p:nvSpPr>
        <p:spPr>
          <a:xfrm>
            <a:off x="548640" y="5779008"/>
            <a:ext cx="5303520" cy="402336"/>
          </a:xfrm>
          <a:prstGeom prst="roundRect">
            <a:avLst>
              <a:gd name="adj" fmla="val 11364"/>
            </a:avLst>
          </a:prstGeom>
          <a:solidFill>
            <a:srgbClr val="EEF0F3"/>
          </a:solidFill>
          <a:ln/>
        </p:spPr>
      </p:sp>
      <p:sp>
        <p:nvSpPr>
          <p:cNvPr id="72" name="Text 70"/>
          <p:cNvSpPr txBox="1"/>
          <p:nvPr/>
        </p:nvSpPr>
        <p:spPr>
          <a:xfrm>
            <a:off x="640080" y="57790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西</a:t>
            </a:r>
            <a:endParaRPr lang="en-US" sz="1200" dirty="0"/>
          </a:p>
        </p:txBody>
      </p:sp>
      <p:sp>
        <p:nvSpPr>
          <p:cNvPr id="73" name="Shape 71"/>
          <p:cNvSpPr/>
          <p:nvPr/>
        </p:nvSpPr>
        <p:spPr>
          <a:xfrm>
            <a:off x="1554480" y="5861304"/>
            <a:ext cx="548640" cy="237744"/>
          </a:xfrm>
          <a:prstGeom prst="roundRect">
            <a:avLst>
              <a:gd name="adj" fmla="val 50000"/>
            </a:avLst>
          </a:prstGeom>
          <a:solidFill>
            <a:srgbClr val="AEB4BC"/>
          </a:solidFill>
          <a:ln/>
        </p:spPr>
      </p:sp>
      <p:sp>
        <p:nvSpPr>
          <p:cNvPr id="74" name="Shape 72"/>
          <p:cNvSpPr/>
          <p:nvPr/>
        </p:nvSpPr>
        <p:spPr>
          <a:xfrm>
            <a:off x="1572768" y="5879592"/>
            <a:ext cx="201168" cy="201168"/>
          </a:xfrm>
          <a:prstGeom prst="ellipse">
            <a:avLst/>
          </a:prstGeom>
          <a:solidFill>
            <a:srgbClr val="FFFFFF"/>
          </a:solidFill>
          <a:ln/>
        </p:spPr>
      </p:sp>
      <p:sp>
        <p:nvSpPr>
          <p:cNvPr id="75" name="Text 73"/>
          <p:cNvSpPr txBox="1"/>
          <p:nvPr/>
        </p:nvSpPr>
        <p:spPr>
          <a:xfrm>
            <a:off x="2148840" y="5779008"/>
            <a:ext cx="274320" cy="402336"/>
          </a:xfrm>
          <a:prstGeom prst="rect">
            <a:avLst/>
          </a:prstGeom>
          <a:noFill/>
          <a:ln/>
        </p:spPr>
        <p:txBody>
          <a:bodyPr wrap="square" lIns="508" tIns="508" rIns="508" bIns="508" rtlCol="0" anchor="ctr"/>
          <a:lstStyle/>
          <a:p>
            <a:pPr indent="0" marL="0">
              <a:buNone/>
            </a:pPr>
            <a:r>
              <a:rPr lang="en-US" sz="1200" b="1" dirty="0">
                <a:solidFill>
                  <a:srgbClr val="6B7480"/>
                </a:solidFill>
                <a:latin typeface="Yu Gothic" pitchFamily="34" charset="0"/>
                <a:ea typeface="Yu Gothic" pitchFamily="34" charset="-122"/>
                <a:cs typeface="Yu Gothic" pitchFamily="34" charset="-120"/>
              </a:rPr>
              <a:t>0</a:t>
            </a:r>
            <a:endParaRPr lang="en-US" sz="1200" dirty="0"/>
          </a:p>
        </p:txBody>
      </p:sp>
      <p:sp>
        <p:nvSpPr>
          <p:cNvPr id="76" name="Text 74"/>
          <p:cNvSpPr txBox="1"/>
          <p:nvPr/>
        </p:nvSpPr>
        <p:spPr>
          <a:xfrm>
            <a:off x="2606040" y="5779008"/>
            <a:ext cx="777240" cy="402336"/>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77" name="Text 75"/>
          <p:cNvSpPr txBox="1"/>
          <p:nvPr/>
        </p:nvSpPr>
        <p:spPr>
          <a:xfrm>
            <a:off x="3429000" y="5779008"/>
            <a:ext cx="777240" cy="402336"/>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78" name="Text 76"/>
          <p:cNvSpPr txBox="1"/>
          <p:nvPr/>
        </p:nvSpPr>
        <p:spPr>
          <a:xfrm>
            <a:off x="4343400" y="5779008"/>
            <a:ext cx="1371600" cy="402336"/>
          </a:xfrm>
          <a:prstGeom prst="rect">
            <a:avLst/>
          </a:prstGeom>
          <a:noFill/>
          <a:ln/>
        </p:spPr>
        <p:txBody>
          <a:bodyPr wrap="square" lIns="508" tIns="508" rIns="508" bIns="508" rtlCol="0" anchor="ctr"/>
          <a:lstStyle/>
          <a:p>
            <a:pPr algn="ctr" indent="0" marL="0">
              <a:buNone/>
            </a:pPr>
            <a:r>
              <a:rPr lang="en-US" sz="1100" b="1" dirty="0">
                <a:solidFill>
                  <a:srgbClr val="6B7480"/>
                </a:solidFill>
                <a:latin typeface="Yu Gothic" pitchFamily="34" charset="0"/>
                <a:ea typeface="Yu Gothic" pitchFamily="34" charset="-122"/>
                <a:cs typeface="Yu Gothic" pitchFamily="34" charset="-120"/>
              </a:rPr>
              <a:t>入れない</a:t>
            </a:r>
            <a:endParaRPr lang="en-US" sz="1100" dirty="0"/>
          </a:p>
        </p:txBody>
      </p:sp>
      <p:sp>
        <p:nvSpPr>
          <p:cNvPr id="79" name="Shape 77"/>
          <p:cNvSpPr/>
          <p:nvPr/>
        </p:nvSpPr>
        <p:spPr>
          <a:xfrm>
            <a:off x="6172200" y="3840480"/>
            <a:ext cx="5577840" cy="2468880"/>
          </a:xfrm>
          <a:prstGeom prst="roundRect">
            <a:avLst>
              <a:gd name="adj" fmla="val 2222"/>
            </a:avLst>
          </a:prstGeom>
          <a:solidFill>
            <a:srgbClr val="1B2A44"/>
          </a:solidFill>
          <a:ln/>
        </p:spPr>
      </p:sp>
      <p:sp>
        <p:nvSpPr>
          <p:cNvPr id="80" name="Text 78"/>
          <p:cNvSpPr txBox="1"/>
          <p:nvPr/>
        </p:nvSpPr>
        <p:spPr>
          <a:xfrm>
            <a:off x="6355080" y="3904488"/>
            <a:ext cx="5212080" cy="256032"/>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式の中では「s を掛ける」だけ</a:t>
            </a:r>
            <a:endParaRPr lang="en-US" sz="1150" dirty="0"/>
          </a:p>
        </p:txBody>
      </p:sp>
      <p:sp>
        <p:nvSpPr>
          <p:cNvPr id="81" name="Text 79"/>
          <p:cNvSpPr txBox="1"/>
          <p:nvPr/>
        </p:nvSpPr>
        <p:spPr>
          <a:xfrm>
            <a:off x="6355080" y="4206240"/>
            <a:ext cx="5303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予測 ＝ 建物なしの値 − Σ（s × その建物で減る量）</a:t>
            </a:r>
            <a:endParaRPr lang="en-US" sz="1100" dirty="0"/>
          </a:p>
        </p:txBody>
      </p:sp>
      <p:sp>
        <p:nvSpPr>
          <p:cNvPr id="82" name="Text 80"/>
          <p:cNvSpPr txBox="1"/>
          <p:nvPr/>
        </p:nvSpPr>
        <p:spPr>
          <a:xfrm>
            <a:off x="6355080" y="4526280"/>
            <a:ext cx="5303520" cy="292608"/>
          </a:xfrm>
          <a:prstGeom prst="rect">
            <a:avLst/>
          </a:prstGeom>
          <a:noFill/>
          <a:ln/>
        </p:spPr>
        <p:txBody>
          <a:bodyPr wrap="square" lIns="508" tIns="508" rIns="508" bIns="508" rtlCol="0" anchor="t"/>
          <a:lstStyle/>
          <a:p>
            <a:pPr indent="0" marL="0">
              <a:buNone/>
            </a:pPr>
            <a:r>
              <a:rPr lang="en-US" sz="1150" b="1" dirty="0">
                <a:solidFill>
                  <a:srgbClr val="FFFFFF"/>
                </a:solidFill>
                <a:latin typeface="Yu Gothic" pitchFamily="34" charset="0"/>
                <a:ea typeface="Yu Gothic" pitchFamily="34" charset="-122"/>
                <a:cs typeface="Yu Gothic" pitchFamily="34" charset="-120"/>
              </a:rPr>
              <a:t>＝ 建物なし </a:t>
            </a:r>
            <a:pPr indent="0" marL="0">
              <a:buNone/>
            </a:pPr>
            <a:r>
              <a:rPr lang="en-US" sz="1150" b="1" dirty="0">
                <a:solidFill>
                  <a:srgbClr val="6F7F9C"/>
                </a:solidFill>
                <a:latin typeface="Yu Gothic" pitchFamily="34" charset="0"/>
                <a:ea typeface="Yu Gothic" pitchFamily="34" charset="-122"/>
                <a:cs typeface="Yu Gothic" pitchFamily="34" charset="-120"/>
              </a:rPr>
              <a:t>− 0×北 </a:t>
            </a:r>
            <a:pPr indent="0" marL="0">
              <a:buNone/>
            </a:pPr>
            <a:r>
              <a:rPr lang="en-US" sz="1150" b="1" dirty="0">
                <a:solidFill>
                  <a:srgbClr val="E8934D"/>
                </a:solidFill>
                <a:latin typeface="Yu Gothic" pitchFamily="34" charset="0"/>
                <a:ea typeface="Yu Gothic" pitchFamily="34" charset="-122"/>
                <a:cs typeface="Yu Gothic" pitchFamily="34" charset="-120"/>
              </a:rPr>
              <a:t>− 1×東 − 1×南 </a:t>
            </a:r>
            <a:pPr indent="0" marL="0">
              <a:buNone/>
            </a:pPr>
            <a:r>
              <a:rPr lang="en-US" sz="1150" b="1" dirty="0">
                <a:solidFill>
                  <a:srgbClr val="6F7F9C"/>
                </a:solidFill>
                <a:latin typeface="Yu Gothic" pitchFamily="34" charset="0"/>
                <a:ea typeface="Yu Gothic" pitchFamily="34" charset="-122"/>
                <a:cs typeface="Yu Gothic" pitchFamily="34" charset="-120"/>
              </a:rPr>
              <a:t>− 0×西</a:t>
            </a:r>
            <a:endParaRPr lang="en-US" sz="1150" dirty="0"/>
          </a:p>
        </p:txBody>
      </p:sp>
      <p:sp>
        <p:nvSpPr>
          <p:cNvPr id="83" name="Text 81"/>
          <p:cNvSpPr txBox="1"/>
          <p:nvPr/>
        </p:nvSpPr>
        <p:spPr>
          <a:xfrm>
            <a:off x="6355080" y="4892040"/>
            <a:ext cx="5257800" cy="594360"/>
          </a:xfrm>
          <a:prstGeom prst="rect">
            <a:avLst/>
          </a:prstGeom>
          <a:noFill/>
          <a:ln/>
        </p:spPr>
        <p:txBody>
          <a:bodyPr wrap="square" lIns="508" tIns="508" rIns="508" bIns="508" rtlCol="0" anchor="t"/>
          <a:lstStyle/>
          <a:p>
            <a:pPr indent="0" marL="0">
              <a:buNone/>
            </a:pPr>
            <a:r>
              <a:rPr lang="en-US" sz="1000" dirty="0">
                <a:solidFill>
                  <a:srgbClr val="CADCFC"/>
                </a:solidFill>
                <a:latin typeface="Yu Gothic" pitchFamily="34" charset="0"/>
                <a:ea typeface="Yu Gothic" pitchFamily="34" charset="-122"/>
                <a:cs typeface="Yu Gothic" pitchFamily="34" charset="-120"/>
              </a:rPr>
              <a:t>＝ 建物なし − 東で減る量 − 南で減る量。0 を掛けた項（灰色）は消えるので、無い建物は結果に影響しない。棟数も n ＝ s の合計 ＝ 0＋1＋1＋0 ＝ 2 と数えられる。</a:t>
            </a:r>
            <a:endParaRPr lang="en-US" sz="1000" dirty="0"/>
          </a:p>
        </p:txBody>
      </p:sp>
      <p:sp>
        <p:nvSpPr>
          <p:cNvPr id="84" name="Shape 82"/>
          <p:cNvSpPr/>
          <p:nvPr/>
        </p:nvSpPr>
        <p:spPr>
          <a:xfrm>
            <a:off x="6355080" y="5532120"/>
            <a:ext cx="5212080" cy="658368"/>
          </a:xfrm>
          <a:prstGeom prst="roundRect">
            <a:avLst>
              <a:gd name="adj" fmla="val 6944"/>
            </a:avLst>
          </a:prstGeom>
          <a:solidFill>
            <a:srgbClr val="24365A"/>
          </a:solidFill>
          <a:ln/>
        </p:spPr>
      </p:sp>
      <p:sp>
        <p:nvSpPr>
          <p:cNvPr id="85" name="Text 83"/>
          <p:cNvSpPr txBox="1"/>
          <p:nvPr/>
        </p:nvSpPr>
        <p:spPr>
          <a:xfrm>
            <a:off x="6446520" y="5550408"/>
            <a:ext cx="5029200" cy="621792"/>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注意：s は 0 か 1 だけ（0.5 の建物はない）ので、s の方向には補間できない。有無の組み合わせ 2⁴＝16通りを別々に扱う。</a:t>
            </a:r>
            <a:endParaRPr lang="en-US" sz="10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28</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まず考える対象：方位を北・東・南・西に固定した「4方向版」</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最終目標（17変数）へ一度に進まず、方位 θ と中央の高さを固定した場合で、線形補間に必要な計算量を見積もる。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28 / 45</a:t>
            </a:r>
            <a:endParaRPr lang="en-US" sz="1100" dirty="0"/>
          </a:p>
        </p:txBody>
      </p:sp>
      <p:sp>
        <p:nvSpPr>
          <p:cNvPr id="10" name="Shape 8"/>
          <p:cNvSpPr/>
          <p:nvPr/>
        </p:nvSpPr>
        <p:spPr>
          <a:xfrm>
            <a:off x="457200" y="1463040"/>
            <a:ext cx="4480560" cy="4846320"/>
          </a:xfrm>
          <a:prstGeom prst="roundRect">
            <a:avLst>
              <a:gd name="adj" fmla="val 1224"/>
            </a:avLst>
          </a:prstGeom>
          <a:solidFill>
            <a:srgbClr val="F3F5F8"/>
          </a:solidFill>
          <a:ln/>
        </p:spPr>
      </p:sp>
      <p:sp>
        <p:nvSpPr>
          <p:cNvPr id="11" name="Text 9"/>
          <p:cNvSpPr txBox="1"/>
          <p:nvPr/>
        </p:nvSpPr>
        <p:spPr>
          <a:xfrm>
            <a:off x="594360" y="1517904"/>
            <a:ext cx="41148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4方向版の平面図</a:t>
            </a:r>
            <a:endParaRPr lang="en-US" sz="1100" dirty="0"/>
          </a:p>
        </p:txBody>
      </p:sp>
      <p:sp>
        <p:nvSpPr>
          <p:cNvPr id="12" name="Shape 10"/>
          <p:cNvSpPr/>
          <p:nvPr/>
        </p:nvSpPr>
        <p:spPr>
          <a:xfrm>
            <a:off x="2217420" y="3406140"/>
            <a:ext cx="960120" cy="960120"/>
          </a:xfrm>
          <a:prstGeom prst="rect">
            <a:avLst/>
          </a:prstGeom>
          <a:solidFill>
            <a:srgbClr val="1B2A44"/>
          </a:solidFill>
          <a:ln/>
        </p:spPr>
      </p:sp>
      <p:sp>
        <p:nvSpPr>
          <p:cNvPr id="13" name="Text 11"/>
          <p:cNvSpPr txBox="1"/>
          <p:nvPr/>
        </p:nvSpPr>
        <p:spPr>
          <a:xfrm>
            <a:off x="2217420" y="3406140"/>
            <a:ext cx="960120" cy="960120"/>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中央 C</a:t>
            </a:r>
            <a:endParaRPr lang="en-US" sz="1000" dirty="0"/>
          </a:p>
          <a:p>
            <a:pPr algn="ctr" indent="0" marL="0">
              <a:buNone/>
            </a:pPr>
            <a:r>
              <a:rPr lang="en-US" sz="750" dirty="0">
                <a:solidFill>
                  <a:srgbClr val="FFFFFF"/>
                </a:solidFill>
                <a:latin typeface="Yu Gothic" pitchFamily="34" charset="0"/>
                <a:ea typeface="Yu Gothic" pitchFamily="34" charset="-122"/>
                <a:cs typeface="Yu Gothic" pitchFamily="34" charset="-120"/>
              </a:rPr>
              <a:t>50m・高さ50m</a:t>
            </a:r>
            <a:endParaRPr lang="en-US" sz="1000" dirty="0"/>
          </a:p>
        </p:txBody>
      </p:sp>
      <p:sp>
        <p:nvSpPr>
          <p:cNvPr id="14" name="Shape 12"/>
          <p:cNvSpPr/>
          <p:nvPr/>
        </p:nvSpPr>
        <p:spPr>
          <a:xfrm>
            <a:off x="2217420" y="2034540"/>
            <a:ext cx="960120" cy="960120"/>
          </a:xfrm>
          <a:prstGeom prst="rect">
            <a:avLst/>
          </a:prstGeom>
          <a:solidFill>
            <a:srgbClr val="1F6F78"/>
          </a:solidFill>
          <a:ln/>
        </p:spPr>
      </p:sp>
      <p:sp>
        <p:nvSpPr>
          <p:cNvPr id="15" name="Text 13"/>
          <p:cNvSpPr txBox="1"/>
          <p:nvPr/>
        </p:nvSpPr>
        <p:spPr>
          <a:xfrm>
            <a:off x="2217420" y="20345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北の建物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有無 s・高さ A</a:t>
            </a:r>
            <a:endParaRPr lang="en-US" sz="950" dirty="0"/>
          </a:p>
        </p:txBody>
      </p:sp>
      <p:sp>
        <p:nvSpPr>
          <p:cNvPr id="16" name="Shape 14"/>
          <p:cNvSpPr/>
          <p:nvPr/>
        </p:nvSpPr>
        <p:spPr>
          <a:xfrm flipV="1">
            <a:off x="2926080" y="2994660"/>
            <a:ext cx="91" cy="411480"/>
          </a:xfrm>
          <a:prstGeom prst="line">
            <a:avLst/>
          </a:prstGeom>
          <a:noFill/>
          <a:ln w="15875">
            <a:solidFill>
              <a:srgbClr val="B04A3F"/>
            </a:solidFill>
            <a:prstDash val="solid"/>
            <a:headEnd type="triangle"/>
            <a:tailEnd type="triangle"/>
          </a:ln>
        </p:spPr>
      </p:sp>
      <p:sp>
        <p:nvSpPr>
          <p:cNvPr id="17" name="Text 15"/>
          <p:cNvSpPr txBox="1"/>
          <p:nvPr/>
        </p:nvSpPr>
        <p:spPr>
          <a:xfrm>
            <a:off x="2953512" y="3081528"/>
            <a:ext cx="41148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北</a:t>
            </a:r>
            <a:endParaRPr lang="en-US" sz="1000" dirty="0"/>
          </a:p>
        </p:txBody>
      </p:sp>
      <p:sp>
        <p:nvSpPr>
          <p:cNvPr id="18" name="Shape 16"/>
          <p:cNvSpPr/>
          <p:nvPr/>
        </p:nvSpPr>
        <p:spPr>
          <a:xfrm>
            <a:off x="3589020" y="3406140"/>
            <a:ext cx="960120" cy="960120"/>
          </a:xfrm>
          <a:prstGeom prst="rect">
            <a:avLst/>
          </a:prstGeom>
          <a:solidFill>
            <a:srgbClr val="1F6F78"/>
          </a:solidFill>
          <a:ln/>
        </p:spPr>
      </p:sp>
      <p:sp>
        <p:nvSpPr>
          <p:cNvPr id="19" name="Text 17"/>
          <p:cNvSpPr txBox="1"/>
          <p:nvPr/>
        </p:nvSpPr>
        <p:spPr>
          <a:xfrm>
            <a:off x="3589020" y="34061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東の建物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有無 s・高さ A</a:t>
            </a:r>
            <a:endParaRPr lang="en-US" sz="950" dirty="0"/>
          </a:p>
        </p:txBody>
      </p:sp>
      <p:sp>
        <p:nvSpPr>
          <p:cNvPr id="20" name="Shape 18"/>
          <p:cNvSpPr/>
          <p:nvPr/>
        </p:nvSpPr>
        <p:spPr>
          <a:xfrm>
            <a:off x="3177540" y="4114800"/>
            <a:ext cx="411480" cy="91"/>
          </a:xfrm>
          <a:prstGeom prst="line">
            <a:avLst/>
          </a:prstGeom>
          <a:noFill/>
          <a:ln w="15875">
            <a:solidFill>
              <a:srgbClr val="B04A3F"/>
            </a:solidFill>
            <a:prstDash val="solid"/>
            <a:headEnd type="triangle"/>
            <a:tailEnd type="triangle"/>
          </a:ln>
        </p:spPr>
      </p:sp>
      <p:sp>
        <p:nvSpPr>
          <p:cNvPr id="21" name="Text 19"/>
          <p:cNvSpPr txBox="1"/>
          <p:nvPr/>
        </p:nvSpPr>
        <p:spPr>
          <a:xfrm>
            <a:off x="3200400" y="4133088"/>
            <a:ext cx="41148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東</a:t>
            </a:r>
            <a:endParaRPr lang="en-US" sz="1000" dirty="0"/>
          </a:p>
        </p:txBody>
      </p:sp>
      <p:sp>
        <p:nvSpPr>
          <p:cNvPr id="22" name="Shape 20"/>
          <p:cNvSpPr/>
          <p:nvPr/>
        </p:nvSpPr>
        <p:spPr>
          <a:xfrm>
            <a:off x="2217420" y="4777740"/>
            <a:ext cx="960120" cy="960120"/>
          </a:xfrm>
          <a:prstGeom prst="rect">
            <a:avLst/>
          </a:prstGeom>
          <a:solidFill>
            <a:srgbClr val="1F6F78"/>
          </a:solidFill>
          <a:ln/>
        </p:spPr>
      </p:sp>
      <p:sp>
        <p:nvSpPr>
          <p:cNvPr id="23" name="Text 21"/>
          <p:cNvSpPr txBox="1"/>
          <p:nvPr/>
        </p:nvSpPr>
        <p:spPr>
          <a:xfrm>
            <a:off x="2217420" y="47777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南の建物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有無 s・高さ A</a:t>
            </a:r>
            <a:endParaRPr lang="en-US" sz="950" dirty="0"/>
          </a:p>
        </p:txBody>
      </p:sp>
      <p:sp>
        <p:nvSpPr>
          <p:cNvPr id="24" name="Shape 22"/>
          <p:cNvSpPr/>
          <p:nvPr/>
        </p:nvSpPr>
        <p:spPr>
          <a:xfrm>
            <a:off x="2926080" y="4366260"/>
            <a:ext cx="91" cy="411480"/>
          </a:xfrm>
          <a:prstGeom prst="line">
            <a:avLst/>
          </a:prstGeom>
          <a:noFill/>
          <a:ln w="15875">
            <a:solidFill>
              <a:srgbClr val="B04A3F"/>
            </a:solidFill>
            <a:prstDash val="solid"/>
            <a:headEnd type="triangle"/>
            <a:tailEnd type="triangle"/>
          </a:ln>
        </p:spPr>
      </p:sp>
      <p:sp>
        <p:nvSpPr>
          <p:cNvPr id="25" name="Text 23"/>
          <p:cNvSpPr txBox="1"/>
          <p:nvPr/>
        </p:nvSpPr>
        <p:spPr>
          <a:xfrm>
            <a:off x="2953512" y="4453128"/>
            <a:ext cx="41148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南</a:t>
            </a:r>
            <a:endParaRPr lang="en-US" sz="1000" dirty="0"/>
          </a:p>
        </p:txBody>
      </p:sp>
      <p:sp>
        <p:nvSpPr>
          <p:cNvPr id="26" name="Shape 24"/>
          <p:cNvSpPr/>
          <p:nvPr/>
        </p:nvSpPr>
        <p:spPr>
          <a:xfrm>
            <a:off x="845820" y="3406140"/>
            <a:ext cx="960120" cy="960120"/>
          </a:xfrm>
          <a:prstGeom prst="rect">
            <a:avLst/>
          </a:prstGeom>
          <a:solidFill>
            <a:srgbClr val="1F6F78"/>
          </a:solidFill>
          <a:ln/>
        </p:spPr>
      </p:sp>
      <p:sp>
        <p:nvSpPr>
          <p:cNvPr id="27" name="Text 25"/>
          <p:cNvSpPr txBox="1"/>
          <p:nvPr/>
        </p:nvSpPr>
        <p:spPr>
          <a:xfrm>
            <a:off x="845820" y="34061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西の建物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有無 s・高さ A</a:t>
            </a:r>
            <a:endParaRPr lang="en-US" sz="950" dirty="0"/>
          </a:p>
        </p:txBody>
      </p:sp>
      <p:sp>
        <p:nvSpPr>
          <p:cNvPr id="28" name="Shape 26"/>
          <p:cNvSpPr/>
          <p:nvPr/>
        </p:nvSpPr>
        <p:spPr>
          <a:xfrm flipH="1">
            <a:off x="1805940" y="4114800"/>
            <a:ext cx="411480" cy="91"/>
          </a:xfrm>
          <a:prstGeom prst="line">
            <a:avLst/>
          </a:prstGeom>
          <a:noFill/>
          <a:ln w="15875">
            <a:solidFill>
              <a:srgbClr val="B04A3F"/>
            </a:solidFill>
            <a:prstDash val="solid"/>
            <a:headEnd type="triangle"/>
            <a:tailEnd type="triangle"/>
          </a:ln>
        </p:spPr>
      </p:sp>
      <p:sp>
        <p:nvSpPr>
          <p:cNvPr id="29" name="Text 27"/>
          <p:cNvSpPr txBox="1"/>
          <p:nvPr/>
        </p:nvSpPr>
        <p:spPr>
          <a:xfrm>
            <a:off x="1828800" y="4133088"/>
            <a:ext cx="41148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西</a:t>
            </a:r>
            <a:endParaRPr lang="en-US" sz="1000" dirty="0"/>
          </a:p>
        </p:txBody>
      </p:sp>
      <p:sp>
        <p:nvSpPr>
          <p:cNvPr id="30" name="Text 28"/>
          <p:cNvSpPr txBox="1"/>
          <p:nvPr/>
        </p:nvSpPr>
        <p:spPr>
          <a:xfrm>
            <a:off x="594360" y="5806440"/>
            <a:ext cx="4206240" cy="4572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各方向に「0棟か1棟」。4方向＝必ず4棟ではない。方位は固定なので θ は変数にしない。</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66360" y="1481328"/>
          <a:ext cx="6583680" cy="914400"/>
        </p:xfrm>
        <a:graphic>
          <a:graphicData uri="http://schemas.openxmlformats.org/drawingml/2006/table">
            <a:tbl>
              <a:tblPr/>
              <a:tblGrid>
                <a:gridCol w="1188720"/>
                <a:gridCol w="1600200"/>
                <a:gridCol w="1965960"/>
                <a:gridCol w="1828800"/>
              </a:tblGrid>
              <a:tr h="411480">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第一段階（完成）</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4方向版（検討）</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最終目標</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周囲の棟数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1棟</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置く方位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南のみ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北・東・南・西に固定</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任意（0〜360°）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中央建物</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50m角・高さ50m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50m角・高さ50m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高さ 25〜100m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変える変数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333F4E"/>
                          </a:solidFill>
                          <a:latin typeface="Yu Gothic" pitchFamily="34" charset="0"/>
                          <a:ea typeface="Yu Gothic" pitchFamily="34" charset="-122"/>
                          <a:cs typeface="Yu Gothic" pitchFamily="34" charset="-120"/>
                        </a:rPr>
                        <a:t>A, D（2個）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s, A, D × 4方向（12個）</a:t>
                      </a:r>
                      <a:endParaRPr lang="en-US" sz="1050" dirty="0">
                        <a:latin typeface="Yu Gothic" charset="0"/>
                        <a:ea typeface="Yu Gothic" charset="0"/>
                        <a:cs typeface="Yu Gothic" charset="0"/>
                      </a:endParaRPr>
                    </a:p>
                    <a:p>
                      <a:pPr algn="ctr" indent="0" marL="0">
                        <a:buNone/>
                      </a:pPr>
                      <a:r>
                        <a:rPr lang="en-US" sz="1050" b="1" dirty="0">
                          <a:solidFill>
                            <a:srgbClr val="C56A2C"/>
                          </a:solidFill>
                          <a:latin typeface="Yu Gothic" pitchFamily="34" charset="0"/>
                          <a:ea typeface="Yu Gothic" pitchFamily="34" charset="-122"/>
                          <a:cs typeface="Yu Gothic" pitchFamily="34" charset="-120"/>
                        </a:rPr>
                        <a:t>連続8＋有無4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333F4E"/>
                          </a:solidFill>
                          <a:latin typeface="Yu Gothic" pitchFamily="34" charset="0"/>
                          <a:ea typeface="Yu Gothic" pitchFamily="34" charset="-122"/>
                          <a:cs typeface="Yu Gothic" pitchFamily="34" charset="-120"/>
                        </a:rPr>
                        <a:t>中央高さ＋(s, A, D, θ)×4（17個）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出力</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南面 × 5帯 ＝ 5個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4面 × 5帯 ＝ 20個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4面 × 5帯 ＝ 20個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予測方法</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線形補間（完成）</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線形補間の計算量を見積もる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空の遮られ方（代案）</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2" name="Shape 29"/>
          <p:cNvSpPr/>
          <p:nvPr/>
        </p:nvSpPr>
        <p:spPr>
          <a:xfrm>
            <a:off x="5166360" y="4526280"/>
            <a:ext cx="6583680" cy="1783080"/>
          </a:xfrm>
          <a:prstGeom prst="roundRect">
            <a:avLst>
              <a:gd name="adj" fmla="val 3077"/>
            </a:avLst>
          </a:prstGeom>
          <a:solidFill>
            <a:srgbClr val="FBEBDA"/>
          </a:solidFill>
          <a:ln/>
        </p:spPr>
      </p:sp>
      <p:sp>
        <p:nvSpPr>
          <p:cNvPr id="33" name="Text 30"/>
          <p:cNvSpPr txBox="1"/>
          <p:nvPr/>
        </p:nvSpPr>
        <p:spPr>
          <a:xfrm>
            <a:off x="5303520" y="4617720"/>
            <a:ext cx="630936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段階を分ける理由</a:t>
            </a:r>
            <a:endParaRPr lang="en-US" sz="1200" dirty="0"/>
          </a:p>
        </p:txBody>
      </p:sp>
      <p:sp>
        <p:nvSpPr>
          <p:cNvPr id="34" name="Text 31"/>
          <p:cNvSpPr txBox="1"/>
          <p:nvPr/>
        </p:nvSpPr>
        <p:spPr>
          <a:xfrm>
            <a:off x="5303520" y="4873752"/>
            <a:ext cx="6309360" cy="1417320"/>
          </a:xfrm>
          <a:prstGeom prst="rect">
            <a:avLst/>
          </a:prstGeom>
          <a:noFill/>
          <a:ln/>
        </p:spPr>
        <p:txBody>
          <a:bodyPr wrap="square" lIns="508" tIns="508" rIns="508" bIns="508" rtlCol="0" anchor="t"/>
          <a:lstStyle/>
          <a:p>
            <a:pPr marL="152400" indent="-152400">
              <a:spcAft>
                <a:spcPts val="300"/>
              </a:spcAft>
              <a:buSzPct val="100000"/>
              <a:buChar char="•"/>
            </a:pPr>
            <a:r>
              <a:rPr lang="en-US" sz="1050" dirty="0">
                <a:solidFill>
                  <a:srgbClr val="333F4E"/>
                </a:solidFill>
                <a:latin typeface="Yu Gothic" pitchFamily="34" charset="0"/>
                <a:ea typeface="Yu Gothic" pitchFamily="34" charset="-122"/>
                <a:cs typeface="Yu Gothic" pitchFamily="34" charset="-120"/>
              </a:rPr>
              <a:t>4方向版で線形補間に必要な配置数・計算時間を見積もれば、17変数に広げたときの見通しが立つ</a:t>
            </a:r>
            <a:endParaRPr lang="en-US" sz="1050" dirty="0"/>
          </a:p>
          <a:p>
            <a:pPr marL="152400" indent="-152400">
              <a:spcAft>
                <a:spcPts val="300"/>
              </a:spcAft>
              <a:buSzPct val="100000"/>
              <a:buChar char="•"/>
            </a:pPr>
            <a:r>
              <a:rPr lang="en-US" sz="1050" dirty="0">
                <a:solidFill>
                  <a:srgbClr val="333F4E"/>
                </a:solidFill>
                <a:latin typeface="Yu Gothic" pitchFamily="34" charset="0"/>
                <a:ea typeface="Yu Gothic" pitchFamily="34" charset="-122"/>
                <a:cs typeface="Yu Gothic" pitchFamily="34" charset="-120"/>
              </a:rPr>
              <a:t>方位を固定すると、1方向ずつ見れば南と同じ「A・Dの2変数の格子」になり、南の方法の延長で考えられる</a:t>
            </a:r>
            <a:endParaRPr lang="en-US" sz="1050" dirty="0"/>
          </a:p>
          <a:p>
            <a:pPr marL="152400" indent="-152400">
              <a:spcAft>
                <a:spcPts val="300"/>
              </a:spcAft>
              <a:buSzPct val="100000"/>
              <a:buChar char="•"/>
            </a:pPr>
            <a:r>
              <a:rPr lang="en-US" sz="1050" dirty="0">
                <a:solidFill>
                  <a:srgbClr val="333F4E"/>
                </a:solidFill>
                <a:latin typeface="Yu Gothic" pitchFamily="34" charset="0"/>
                <a:ea typeface="Yu Gothic" pitchFamily="34" charset="-122"/>
                <a:cs typeface="Yu Gothic" pitchFamily="34" charset="-120"/>
              </a:rPr>
              <a:t>4方向版でも負担が大きいと分かれば、17変数では別の方法（空の遮られ方）が必要だと言える</a:t>
            </a:r>
            <a:endParaRPr lang="en-US" sz="10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29</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なぜ4方向だと6,561通り？：各方向の選び方を掛け算するから</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29 / 45</a:t>
            </a:r>
            <a:endParaRPr lang="en-US" sz="1100" dirty="0"/>
          </a:p>
        </p:txBody>
      </p:sp>
      <p:sp>
        <p:nvSpPr>
          <p:cNvPr id="9" name="Shape 7"/>
          <p:cNvSpPr/>
          <p:nvPr/>
        </p:nvSpPr>
        <p:spPr>
          <a:xfrm>
            <a:off x="457200" y="1060704"/>
            <a:ext cx="1955292" cy="329184"/>
          </a:xfrm>
          <a:prstGeom prst="homePlate">
            <a:avLst/>
          </a:prstGeom>
          <a:solidFill>
            <a:srgbClr val="E8934D"/>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EAEEF2"/>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AEEF2"/>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54480"/>
            <a:ext cx="5577840" cy="4754880"/>
          </a:xfrm>
          <a:prstGeom prst="roundRect">
            <a:avLst>
              <a:gd name="adj" fmla="val 1154"/>
            </a:avLst>
          </a:prstGeom>
          <a:solidFill>
            <a:srgbClr val="F3F5F8"/>
          </a:solidFill>
          <a:ln/>
        </p:spPr>
      </p:sp>
      <p:sp>
        <p:nvSpPr>
          <p:cNvPr id="22" name="Text 20"/>
          <p:cNvSpPr txBox="1"/>
          <p:nvPr/>
        </p:nvSpPr>
        <p:spPr>
          <a:xfrm>
            <a:off x="594360" y="1609344"/>
            <a:ext cx="53035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組み合わせの数え方</a:t>
            </a:r>
            <a:endParaRPr lang="en-US" sz="1200" dirty="0"/>
          </a:p>
        </p:txBody>
      </p:sp>
      <p:sp>
        <p:nvSpPr>
          <p:cNvPr id="23" name="Shape 21"/>
          <p:cNvSpPr/>
          <p:nvPr/>
        </p:nvSpPr>
        <p:spPr>
          <a:xfrm>
            <a:off x="777240" y="1965960"/>
            <a:ext cx="731520" cy="731520"/>
          </a:xfrm>
          <a:prstGeom prst="rect">
            <a:avLst/>
          </a:prstGeom>
          <a:solidFill>
            <a:srgbClr val="FFFFFF"/>
          </a:solidFill>
          <a:ln w="9525">
            <a:solidFill>
              <a:srgbClr val="C9D0D8"/>
            </a:solidFill>
            <a:prstDash val="solid"/>
          </a:ln>
        </p:spPr>
      </p:sp>
      <p:sp>
        <p:nvSpPr>
          <p:cNvPr id="24" name="Shape 22"/>
          <p:cNvSpPr/>
          <p:nvPr/>
        </p:nvSpPr>
        <p:spPr>
          <a:xfrm>
            <a:off x="864108" y="2510028"/>
            <a:ext cx="100584" cy="100584"/>
          </a:xfrm>
          <a:prstGeom prst="rect">
            <a:avLst/>
          </a:prstGeom>
          <a:solidFill>
            <a:srgbClr val="1B2A44"/>
          </a:solidFill>
          <a:ln w="6350">
            <a:solidFill>
              <a:srgbClr val="FFFFFF"/>
            </a:solidFill>
            <a:prstDash val="solid"/>
          </a:ln>
        </p:spPr>
      </p:sp>
      <p:sp>
        <p:nvSpPr>
          <p:cNvPr id="25" name="Shape 23"/>
          <p:cNvSpPr/>
          <p:nvPr/>
        </p:nvSpPr>
        <p:spPr>
          <a:xfrm>
            <a:off x="864108" y="2281428"/>
            <a:ext cx="100584" cy="100584"/>
          </a:xfrm>
          <a:prstGeom prst="rect">
            <a:avLst/>
          </a:prstGeom>
          <a:solidFill>
            <a:srgbClr val="1B2A44"/>
          </a:solidFill>
          <a:ln w="6350">
            <a:solidFill>
              <a:srgbClr val="FFFFFF"/>
            </a:solidFill>
            <a:prstDash val="solid"/>
          </a:ln>
        </p:spPr>
      </p:sp>
      <p:sp>
        <p:nvSpPr>
          <p:cNvPr id="26" name="Shape 24"/>
          <p:cNvSpPr/>
          <p:nvPr/>
        </p:nvSpPr>
        <p:spPr>
          <a:xfrm>
            <a:off x="864108" y="2052828"/>
            <a:ext cx="100584" cy="100584"/>
          </a:xfrm>
          <a:prstGeom prst="rect">
            <a:avLst/>
          </a:prstGeom>
          <a:solidFill>
            <a:srgbClr val="1B2A44"/>
          </a:solidFill>
          <a:ln w="6350">
            <a:solidFill>
              <a:srgbClr val="FFFFFF"/>
            </a:solidFill>
            <a:prstDash val="solid"/>
          </a:ln>
        </p:spPr>
      </p:sp>
      <p:sp>
        <p:nvSpPr>
          <p:cNvPr id="27" name="Shape 25"/>
          <p:cNvSpPr/>
          <p:nvPr/>
        </p:nvSpPr>
        <p:spPr>
          <a:xfrm>
            <a:off x="1092708" y="2510028"/>
            <a:ext cx="100584" cy="100584"/>
          </a:xfrm>
          <a:prstGeom prst="rect">
            <a:avLst/>
          </a:prstGeom>
          <a:solidFill>
            <a:srgbClr val="1B2A44"/>
          </a:solidFill>
          <a:ln w="6350">
            <a:solidFill>
              <a:srgbClr val="FFFFFF"/>
            </a:solidFill>
            <a:prstDash val="solid"/>
          </a:ln>
        </p:spPr>
      </p:sp>
      <p:sp>
        <p:nvSpPr>
          <p:cNvPr id="28" name="Shape 26"/>
          <p:cNvSpPr/>
          <p:nvPr/>
        </p:nvSpPr>
        <p:spPr>
          <a:xfrm>
            <a:off x="1092708" y="2281428"/>
            <a:ext cx="100584" cy="100584"/>
          </a:xfrm>
          <a:prstGeom prst="rect">
            <a:avLst/>
          </a:prstGeom>
          <a:solidFill>
            <a:srgbClr val="1B2A44"/>
          </a:solidFill>
          <a:ln w="6350">
            <a:solidFill>
              <a:srgbClr val="FFFFFF"/>
            </a:solidFill>
            <a:prstDash val="solid"/>
          </a:ln>
        </p:spPr>
      </p:sp>
      <p:sp>
        <p:nvSpPr>
          <p:cNvPr id="29" name="Shape 27"/>
          <p:cNvSpPr/>
          <p:nvPr/>
        </p:nvSpPr>
        <p:spPr>
          <a:xfrm>
            <a:off x="1092708" y="2052828"/>
            <a:ext cx="100584" cy="100584"/>
          </a:xfrm>
          <a:prstGeom prst="rect">
            <a:avLst/>
          </a:prstGeom>
          <a:solidFill>
            <a:srgbClr val="1B2A44"/>
          </a:solidFill>
          <a:ln w="6350">
            <a:solidFill>
              <a:srgbClr val="FFFFFF"/>
            </a:solidFill>
            <a:prstDash val="solid"/>
          </a:ln>
        </p:spPr>
      </p:sp>
      <p:sp>
        <p:nvSpPr>
          <p:cNvPr id="30" name="Shape 28"/>
          <p:cNvSpPr/>
          <p:nvPr/>
        </p:nvSpPr>
        <p:spPr>
          <a:xfrm>
            <a:off x="1321308" y="2510028"/>
            <a:ext cx="100584" cy="100584"/>
          </a:xfrm>
          <a:prstGeom prst="rect">
            <a:avLst/>
          </a:prstGeom>
          <a:solidFill>
            <a:srgbClr val="1B2A44"/>
          </a:solidFill>
          <a:ln w="6350">
            <a:solidFill>
              <a:srgbClr val="FFFFFF"/>
            </a:solidFill>
            <a:prstDash val="solid"/>
          </a:ln>
        </p:spPr>
      </p:sp>
      <p:sp>
        <p:nvSpPr>
          <p:cNvPr id="31" name="Shape 29"/>
          <p:cNvSpPr/>
          <p:nvPr/>
        </p:nvSpPr>
        <p:spPr>
          <a:xfrm>
            <a:off x="1321308" y="2281428"/>
            <a:ext cx="100584" cy="100584"/>
          </a:xfrm>
          <a:prstGeom prst="rect">
            <a:avLst/>
          </a:prstGeom>
          <a:solidFill>
            <a:srgbClr val="1B2A44"/>
          </a:solidFill>
          <a:ln w="6350">
            <a:solidFill>
              <a:srgbClr val="FFFFFF"/>
            </a:solidFill>
            <a:prstDash val="solid"/>
          </a:ln>
        </p:spPr>
      </p:sp>
      <p:sp>
        <p:nvSpPr>
          <p:cNvPr id="32" name="Shape 30"/>
          <p:cNvSpPr/>
          <p:nvPr/>
        </p:nvSpPr>
        <p:spPr>
          <a:xfrm>
            <a:off x="1321308" y="2052828"/>
            <a:ext cx="100584" cy="100584"/>
          </a:xfrm>
          <a:prstGeom prst="rect">
            <a:avLst/>
          </a:prstGeom>
          <a:solidFill>
            <a:srgbClr val="1B2A44"/>
          </a:solidFill>
          <a:ln w="6350">
            <a:solidFill>
              <a:srgbClr val="FFFFFF"/>
            </a:solidFill>
            <a:prstDash val="solid"/>
          </a:ln>
        </p:spPr>
      </p:sp>
      <p:sp>
        <p:nvSpPr>
          <p:cNvPr id="33" name="Text 31"/>
          <p:cNvSpPr txBox="1"/>
          <p:nvPr/>
        </p:nvSpPr>
        <p:spPr>
          <a:xfrm>
            <a:off x="1645920" y="1920240"/>
            <a:ext cx="429768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1方向の選び方 ＝ </a:t>
            </a:r>
            <a:pPr indent="0" marL="0">
              <a:buNone/>
            </a:pPr>
            <a:r>
              <a:rPr lang="en-US" sz="1300" b="1" dirty="0">
                <a:solidFill>
                  <a:srgbClr val="C56A2C"/>
                </a:solidFill>
                <a:latin typeface="Yu Gothic" pitchFamily="34" charset="0"/>
                <a:ea typeface="Yu Gothic" pitchFamily="34" charset="-122"/>
                <a:cs typeface="Yu Gothic" pitchFamily="34" charset="-120"/>
              </a:rPr>
              <a:t>9通り</a:t>
            </a:r>
            <a:endParaRPr lang="en-US" sz="1300" dirty="0"/>
          </a:p>
        </p:txBody>
      </p:sp>
      <p:sp>
        <p:nvSpPr>
          <p:cNvPr id="34" name="Text 32"/>
          <p:cNvSpPr txBox="1"/>
          <p:nvPr/>
        </p:nvSpPr>
        <p:spPr>
          <a:xfrm>
            <a:off x="1645920" y="2231136"/>
            <a:ext cx="4343400" cy="237744"/>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高さ3通り（25・50・100m）× 距離3通り（10・25・100m）</a:t>
            </a:r>
            <a:endParaRPr lang="en-US" sz="950" dirty="0"/>
          </a:p>
        </p:txBody>
      </p:sp>
      <p:sp>
        <p:nvSpPr>
          <p:cNvPr id="35" name="Text 33"/>
          <p:cNvSpPr txBox="1"/>
          <p:nvPr/>
        </p:nvSpPr>
        <p:spPr>
          <a:xfrm>
            <a:off x="1645920" y="2468880"/>
            <a:ext cx="4297680" cy="237744"/>
          </a:xfrm>
          <a:prstGeom prst="rect">
            <a:avLst/>
          </a:prstGeom>
          <a:noFill/>
          <a:ln/>
        </p:spPr>
        <p:txBody>
          <a:bodyPr wrap="square" lIns="508" tIns="508" rIns="508" bIns="508" rtlCol="0" anchor="t"/>
          <a:lstStyle/>
          <a:p>
            <a:pPr indent="0" marL="0">
              <a:buNone/>
            </a:pPr>
            <a:r>
              <a:rPr lang="en-US" sz="1000" dirty="0">
                <a:solidFill>
                  <a:srgbClr val="6B7480"/>
                </a:solidFill>
                <a:latin typeface="Yu Gothic" pitchFamily="34" charset="0"/>
                <a:ea typeface="Yu Gothic" pitchFamily="34" charset="-122"/>
                <a:cs typeface="Yu Gothic" pitchFamily="34" charset="-120"/>
              </a:rPr>
              <a:t>南1棟で表を作ったときと同じ考え方</a:t>
            </a:r>
            <a:endParaRPr lang="en-US" sz="1000" dirty="0"/>
          </a:p>
        </p:txBody>
      </p:sp>
      <p:sp>
        <p:nvSpPr>
          <p:cNvPr id="36" name="Shape 34"/>
          <p:cNvSpPr/>
          <p:nvPr/>
        </p:nvSpPr>
        <p:spPr>
          <a:xfrm>
            <a:off x="640080" y="2880360"/>
            <a:ext cx="1097280" cy="1234440"/>
          </a:xfrm>
          <a:prstGeom prst="roundRect">
            <a:avLst>
              <a:gd name="adj" fmla="val 5000"/>
            </a:avLst>
          </a:prstGeom>
          <a:solidFill>
            <a:srgbClr val="FFFFFF"/>
          </a:solidFill>
          <a:ln w="9525">
            <a:solidFill>
              <a:srgbClr val="DCE1E7"/>
            </a:solidFill>
            <a:prstDash val="solid"/>
          </a:ln>
        </p:spPr>
      </p:sp>
      <p:sp>
        <p:nvSpPr>
          <p:cNvPr id="37" name="Shape 35"/>
          <p:cNvSpPr/>
          <p:nvPr/>
        </p:nvSpPr>
        <p:spPr>
          <a:xfrm>
            <a:off x="1129284" y="3150108"/>
            <a:ext cx="118872" cy="118872"/>
          </a:xfrm>
          <a:prstGeom prst="rect">
            <a:avLst/>
          </a:prstGeom>
          <a:solidFill>
            <a:srgbClr val="1B2A44"/>
          </a:solidFill>
          <a:ln/>
        </p:spPr>
      </p:sp>
      <p:sp>
        <p:nvSpPr>
          <p:cNvPr id="38" name="Shape 36"/>
          <p:cNvSpPr/>
          <p:nvPr/>
        </p:nvSpPr>
        <p:spPr>
          <a:xfrm>
            <a:off x="1129284" y="2999232"/>
            <a:ext cx="118872" cy="118872"/>
          </a:xfrm>
          <a:prstGeom prst="rect">
            <a:avLst/>
          </a:prstGeom>
          <a:solidFill>
            <a:srgbClr val="1F6F78"/>
          </a:solidFill>
          <a:ln/>
        </p:spPr>
      </p:sp>
      <p:sp>
        <p:nvSpPr>
          <p:cNvPr id="39" name="Shape 37"/>
          <p:cNvSpPr/>
          <p:nvPr/>
        </p:nvSpPr>
        <p:spPr>
          <a:xfrm>
            <a:off x="1280160" y="3150108"/>
            <a:ext cx="118872" cy="118872"/>
          </a:xfrm>
          <a:prstGeom prst="rect">
            <a:avLst/>
          </a:prstGeom>
          <a:solidFill>
            <a:srgbClr val="FFFFFF"/>
          </a:solidFill>
          <a:ln w="9525">
            <a:solidFill>
              <a:srgbClr val="B8C0CA"/>
            </a:solidFill>
            <a:prstDash val="dash"/>
          </a:ln>
        </p:spPr>
      </p:sp>
      <p:sp>
        <p:nvSpPr>
          <p:cNvPr id="40" name="Shape 38"/>
          <p:cNvSpPr/>
          <p:nvPr/>
        </p:nvSpPr>
        <p:spPr>
          <a:xfrm>
            <a:off x="1129284" y="3300984"/>
            <a:ext cx="118872" cy="118872"/>
          </a:xfrm>
          <a:prstGeom prst="rect">
            <a:avLst/>
          </a:prstGeom>
          <a:solidFill>
            <a:srgbClr val="FFFFFF"/>
          </a:solidFill>
          <a:ln w="9525">
            <a:solidFill>
              <a:srgbClr val="B8C0CA"/>
            </a:solidFill>
            <a:prstDash val="dash"/>
          </a:ln>
        </p:spPr>
      </p:sp>
      <p:sp>
        <p:nvSpPr>
          <p:cNvPr id="41" name="Shape 39"/>
          <p:cNvSpPr/>
          <p:nvPr/>
        </p:nvSpPr>
        <p:spPr>
          <a:xfrm>
            <a:off x="978408" y="3150108"/>
            <a:ext cx="118872" cy="118872"/>
          </a:xfrm>
          <a:prstGeom prst="rect">
            <a:avLst/>
          </a:prstGeom>
          <a:solidFill>
            <a:srgbClr val="FFFFFF"/>
          </a:solidFill>
          <a:ln w="9525">
            <a:solidFill>
              <a:srgbClr val="B8C0CA"/>
            </a:solidFill>
            <a:prstDash val="dash"/>
          </a:ln>
        </p:spPr>
      </p:sp>
      <p:sp>
        <p:nvSpPr>
          <p:cNvPr id="42" name="Text 40"/>
          <p:cNvSpPr txBox="1"/>
          <p:nvPr/>
        </p:nvSpPr>
        <p:spPr>
          <a:xfrm>
            <a:off x="640080" y="3502152"/>
            <a:ext cx="109728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北だけ</a:t>
            </a:r>
            <a:endParaRPr lang="en-US" sz="950" dirty="0"/>
          </a:p>
        </p:txBody>
      </p:sp>
      <p:sp>
        <p:nvSpPr>
          <p:cNvPr id="43" name="Text 41"/>
          <p:cNvSpPr txBox="1"/>
          <p:nvPr/>
        </p:nvSpPr>
        <p:spPr>
          <a:xfrm>
            <a:off x="640080" y="3703320"/>
            <a:ext cx="1097280" cy="347472"/>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9</a:t>
            </a:r>
            <a:endParaRPr lang="en-US" sz="1600" dirty="0"/>
          </a:p>
        </p:txBody>
      </p:sp>
      <p:sp>
        <p:nvSpPr>
          <p:cNvPr id="44" name="Text 42"/>
          <p:cNvSpPr txBox="1"/>
          <p:nvPr/>
        </p:nvSpPr>
        <p:spPr>
          <a:xfrm>
            <a:off x="1728216" y="3337560"/>
            <a:ext cx="274320" cy="274320"/>
          </a:xfrm>
          <a:prstGeom prst="rect">
            <a:avLst/>
          </a:prstGeom>
          <a:noFill/>
          <a:ln/>
        </p:spPr>
        <p:txBody>
          <a:bodyPr wrap="square" lIns="0" tIns="0" rIns="0" bIns="0"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×9</a:t>
            </a:r>
            <a:endParaRPr lang="en-US" sz="1100" dirty="0"/>
          </a:p>
        </p:txBody>
      </p:sp>
      <p:sp>
        <p:nvSpPr>
          <p:cNvPr id="45" name="Shape 43"/>
          <p:cNvSpPr/>
          <p:nvPr/>
        </p:nvSpPr>
        <p:spPr>
          <a:xfrm>
            <a:off x="1984248" y="2880360"/>
            <a:ext cx="1097280" cy="1234440"/>
          </a:xfrm>
          <a:prstGeom prst="roundRect">
            <a:avLst>
              <a:gd name="adj" fmla="val 5000"/>
            </a:avLst>
          </a:prstGeom>
          <a:solidFill>
            <a:srgbClr val="FFFFFF"/>
          </a:solidFill>
          <a:ln w="9525">
            <a:solidFill>
              <a:srgbClr val="DCE1E7"/>
            </a:solidFill>
            <a:prstDash val="solid"/>
          </a:ln>
        </p:spPr>
      </p:sp>
      <p:sp>
        <p:nvSpPr>
          <p:cNvPr id="46" name="Shape 44"/>
          <p:cNvSpPr/>
          <p:nvPr/>
        </p:nvSpPr>
        <p:spPr>
          <a:xfrm>
            <a:off x="2473452" y="3150108"/>
            <a:ext cx="118872" cy="118872"/>
          </a:xfrm>
          <a:prstGeom prst="rect">
            <a:avLst/>
          </a:prstGeom>
          <a:solidFill>
            <a:srgbClr val="1B2A44"/>
          </a:solidFill>
          <a:ln/>
        </p:spPr>
      </p:sp>
      <p:sp>
        <p:nvSpPr>
          <p:cNvPr id="47" name="Shape 45"/>
          <p:cNvSpPr/>
          <p:nvPr/>
        </p:nvSpPr>
        <p:spPr>
          <a:xfrm>
            <a:off x="2473452" y="2999232"/>
            <a:ext cx="118872" cy="118872"/>
          </a:xfrm>
          <a:prstGeom prst="rect">
            <a:avLst/>
          </a:prstGeom>
          <a:solidFill>
            <a:srgbClr val="1F6F78"/>
          </a:solidFill>
          <a:ln/>
        </p:spPr>
      </p:sp>
      <p:sp>
        <p:nvSpPr>
          <p:cNvPr id="48" name="Shape 46"/>
          <p:cNvSpPr/>
          <p:nvPr/>
        </p:nvSpPr>
        <p:spPr>
          <a:xfrm>
            <a:off x="2624328" y="3150108"/>
            <a:ext cx="118872" cy="118872"/>
          </a:xfrm>
          <a:prstGeom prst="rect">
            <a:avLst/>
          </a:prstGeom>
          <a:solidFill>
            <a:srgbClr val="1F6F78"/>
          </a:solidFill>
          <a:ln/>
        </p:spPr>
      </p:sp>
      <p:sp>
        <p:nvSpPr>
          <p:cNvPr id="49" name="Shape 47"/>
          <p:cNvSpPr/>
          <p:nvPr/>
        </p:nvSpPr>
        <p:spPr>
          <a:xfrm>
            <a:off x="2473452" y="3300984"/>
            <a:ext cx="118872" cy="118872"/>
          </a:xfrm>
          <a:prstGeom prst="rect">
            <a:avLst/>
          </a:prstGeom>
          <a:solidFill>
            <a:srgbClr val="FFFFFF"/>
          </a:solidFill>
          <a:ln w="9525">
            <a:solidFill>
              <a:srgbClr val="B8C0CA"/>
            </a:solidFill>
            <a:prstDash val="dash"/>
          </a:ln>
        </p:spPr>
      </p:sp>
      <p:sp>
        <p:nvSpPr>
          <p:cNvPr id="50" name="Shape 48"/>
          <p:cNvSpPr/>
          <p:nvPr/>
        </p:nvSpPr>
        <p:spPr>
          <a:xfrm>
            <a:off x="2322576" y="3150108"/>
            <a:ext cx="118872" cy="118872"/>
          </a:xfrm>
          <a:prstGeom prst="rect">
            <a:avLst/>
          </a:prstGeom>
          <a:solidFill>
            <a:srgbClr val="FFFFFF"/>
          </a:solidFill>
          <a:ln w="9525">
            <a:solidFill>
              <a:srgbClr val="B8C0CA"/>
            </a:solidFill>
            <a:prstDash val="dash"/>
          </a:ln>
        </p:spPr>
      </p:sp>
      <p:sp>
        <p:nvSpPr>
          <p:cNvPr id="51" name="Text 49"/>
          <p:cNvSpPr txBox="1"/>
          <p:nvPr/>
        </p:nvSpPr>
        <p:spPr>
          <a:xfrm>
            <a:off x="1984248" y="3502152"/>
            <a:ext cx="109728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北＋東</a:t>
            </a:r>
            <a:endParaRPr lang="en-US" sz="950" dirty="0"/>
          </a:p>
        </p:txBody>
      </p:sp>
      <p:sp>
        <p:nvSpPr>
          <p:cNvPr id="52" name="Text 50"/>
          <p:cNvSpPr txBox="1"/>
          <p:nvPr/>
        </p:nvSpPr>
        <p:spPr>
          <a:xfrm>
            <a:off x="1984248" y="3703320"/>
            <a:ext cx="1097280" cy="347472"/>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81</a:t>
            </a:r>
            <a:endParaRPr lang="en-US" sz="1600" dirty="0"/>
          </a:p>
        </p:txBody>
      </p:sp>
      <p:sp>
        <p:nvSpPr>
          <p:cNvPr id="53" name="Text 51"/>
          <p:cNvSpPr txBox="1"/>
          <p:nvPr/>
        </p:nvSpPr>
        <p:spPr>
          <a:xfrm>
            <a:off x="3072384" y="3337560"/>
            <a:ext cx="274320" cy="274320"/>
          </a:xfrm>
          <a:prstGeom prst="rect">
            <a:avLst/>
          </a:prstGeom>
          <a:noFill/>
          <a:ln/>
        </p:spPr>
        <p:txBody>
          <a:bodyPr wrap="square" lIns="0" tIns="0" rIns="0" bIns="0"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×9</a:t>
            </a:r>
            <a:endParaRPr lang="en-US" sz="1100" dirty="0"/>
          </a:p>
        </p:txBody>
      </p:sp>
      <p:sp>
        <p:nvSpPr>
          <p:cNvPr id="54" name="Shape 52"/>
          <p:cNvSpPr/>
          <p:nvPr/>
        </p:nvSpPr>
        <p:spPr>
          <a:xfrm>
            <a:off x="3328416" y="2880360"/>
            <a:ext cx="1097280" cy="1234440"/>
          </a:xfrm>
          <a:prstGeom prst="roundRect">
            <a:avLst>
              <a:gd name="adj" fmla="val 5000"/>
            </a:avLst>
          </a:prstGeom>
          <a:solidFill>
            <a:srgbClr val="FFFFFF"/>
          </a:solidFill>
          <a:ln w="9525">
            <a:solidFill>
              <a:srgbClr val="DCE1E7"/>
            </a:solidFill>
            <a:prstDash val="solid"/>
          </a:ln>
        </p:spPr>
      </p:sp>
      <p:sp>
        <p:nvSpPr>
          <p:cNvPr id="55" name="Shape 53"/>
          <p:cNvSpPr/>
          <p:nvPr/>
        </p:nvSpPr>
        <p:spPr>
          <a:xfrm>
            <a:off x="3817620" y="3150108"/>
            <a:ext cx="118872" cy="118872"/>
          </a:xfrm>
          <a:prstGeom prst="rect">
            <a:avLst/>
          </a:prstGeom>
          <a:solidFill>
            <a:srgbClr val="1B2A44"/>
          </a:solidFill>
          <a:ln/>
        </p:spPr>
      </p:sp>
      <p:sp>
        <p:nvSpPr>
          <p:cNvPr id="56" name="Shape 54"/>
          <p:cNvSpPr/>
          <p:nvPr/>
        </p:nvSpPr>
        <p:spPr>
          <a:xfrm>
            <a:off x="3817620" y="2999232"/>
            <a:ext cx="118872" cy="118872"/>
          </a:xfrm>
          <a:prstGeom prst="rect">
            <a:avLst/>
          </a:prstGeom>
          <a:solidFill>
            <a:srgbClr val="1F6F78"/>
          </a:solidFill>
          <a:ln/>
        </p:spPr>
      </p:sp>
      <p:sp>
        <p:nvSpPr>
          <p:cNvPr id="57" name="Shape 55"/>
          <p:cNvSpPr/>
          <p:nvPr/>
        </p:nvSpPr>
        <p:spPr>
          <a:xfrm>
            <a:off x="3968496" y="3150108"/>
            <a:ext cx="118872" cy="118872"/>
          </a:xfrm>
          <a:prstGeom prst="rect">
            <a:avLst/>
          </a:prstGeom>
          <a:solidFill>
            <a:srgbClr val="1F6F78"/>
          </a:solidFill>
          <a:ln/>
        </p:spPr>
      </p:sp>
      <p:sp>
        <p:nvSpPr>
          <p:cNvPr id="58" name="Shape 56"/>
          <p:cNvSpPr/>
          <p:nvPr/>
        </p:nvSpPr>
        <p:spPr>
          <a:xfrm>
            <a:off x="3817620" y="3300984"/>
            <a:ext cx="118872" cy="118872"/>
          </a:xfrm>
          <a:prstGeom prst="rect">
            <a:avLst/>
          </a:prstGeom>
          <a:solidFill>
            <a:srgbClr val="1F6F78"/>
          </a:solidFill>
          <a:ln/>
        </p:spPr>
      </p:sp>
      <p:sp>
        <p:nvSpPr>
          <p:cNvPr id="59" name="Shape 57"/>
          <p:cNvSpPr/>
          <p:nvPr/>
        </p:nvSpPr>
        <p:spPr>
          <a:xfrm>
            <a:off x="3666744" y="3150108"/>
            <a:ext cx="118872" cy="118872"/>
          </a:xfrm>
          <a:prstGeom prst="rect">
            <a:avLst/>
          </a:prstGeom>
          <a:solidFill>
            <a:srgbClr val="FFFFFF"/>
          </a:solidFill>
          <a:ln w="9525">
            <a:solidFill>
              <a:srgbClr val="B8C0CA"/>
            </a:solidFill>
            <a:prstDash val="dash"/>
          </a:ln>
        </p:spPr>
      </p:sp>
      <p:sp>
        <p:nvSpPr>
          <p:cNvPr id="60" name="Text 58"/>
          <p:cNvSpPr txBox="1"/>
          <p:nvPr/>
        </p:nvSpPr>
        <p:spPr>
          <a:xfrm>
            <a:off x="3328416" y="3502152"/>
            <a:ext cx="109728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北＋東＋南</a:t>
            </a:r>
            <a:endParaRPr lang="en-US" sz="950" dirty="0"/>
          </a:p>
        </p:txBody>
      </p:sp>
      <p:sp>
        <p:nvSpPr>
          <p:cNvPr id="61" name="Text 59"/>
          <p:cNvSpPr txBox="1"/>
          <p:nvPr/>
        </p:nvSpPr>
        <p:spPr>
          <a:xfrm>
            <a:off x="3328416" y="3703320"/>
            <a:ext cx="1097280" cy="347472"/>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729</a:t>
            </a:r>
            <a:endParaRPr lang="en-US" sz="1600" dirty="0"/>
          </a:p>
        </p:txBody>
      </p:sp>
      <p:sp>
        <p:nvSpPr>
          <p:cNvPr id="62" name="Text 60"/>
          <p:cNvSpPr txBox="1"/>
          <p:nvPr/>
        </p:nvSpPr>
        <p:spPr>
          <a:xfrm>
            <a:off x="4416552" y="3337560"/>
            <a:ext cx="274320" cy="274320"/>
          </a:xfrm>
          <a:prstGeom prst="rect">
            <a:avLst/>
          </a:prstGeom>
          <a:noFill/>
          <a:ln/>
        </p:spPr>
        <p:txBody>
          <a:bodyPr wrap="square" lIns="0" tIns="0" rIns="0" bIns="0"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×9</a:t>
            </a:r>
            <a:endParaRPr lang="en-US" sz="1100" dirty="0"/>
          </a:p>
        </p:txBody>
      </p:sp>
      <p:sp>
        <p:nvSpPr>
          <p:cNvPr id="63" name="Shape 61"/>
          <p:cNvSpPr/>
          <p:nvPr/>
        </p:nvSpPr>
        <p:spPr>
          <a:xfrm>
            <a:off x="4672584" y="2880360"/>
            <a:ext cx="1097280" cy="1234440"/>
          </a:xfrm>
          <a:prstGeom prst="roundRect">
            <a:avLst>
              <a:gd name="adj" fmla="val 5000"/>
            </a:avLst>
          </a:prstGeom>
          <a:solidFill>
            <a:srgbClr val="FFFFFF"/>
          </a:solidFill>
          <a:ln w="9525">
            <a:solidFill>
              <a:srgbClr val="DCE1E7"/>
            </a:solidFill>
            <a:prstDash val="solid"/>
          </a:ln>
        </p:spPr>
      </p:sp>
      <p:sp>
        <p:nvSpPr>
          <p:cNvPr id="64" name="Shape 62"/>
          <p:cNvSpPr/>
          <p:nvPr/>
        </p:nvSpPr>
        <p:spPr>
          <a:xfrm>
            <a:off x="5161788" y="3150108"/>
            <a:ext cx="118872" cy="118872"/>
          </a:xfrm>
          <a:prstGeom prst="rect">
            <a:avLst/>
          </a:prstGeom>
          <a:solidFill>
            <a:srgbClr val="1B2A44"/>
          </a:solidFill>
          <a:ln/>
        </p:spPr>
      </p:sp>
      <p:sp>
        <p:nvSpPr>
          <p:cNvPr id="65" name="Shape 63"/>
          <p:cNvSpPr/>
          <p:nvPr/>
        </p:nvSpPr>
        <p:spPr>
          <a:xfrm>
            <a:off x="5161788" y="2999232"/>
            <a:ext cx="118872" cy="118872"/>
          </a:xfrm>
          <a:prstGeom prst="rect">
            <a:avLst/>
          </a:prstGeom>
          <a:solidFill>
            <a:srgbClr val="1F6F78"/>
          </a:solidFill>
          <a:ln/>
        </p:spPr>
      </p:sp>
      <p:sp>
        <p:nvSpPr>
          <p:cNvPr id="66" name="Shape 64"/>
          <p:cNvSpPr/>
          <p:nvPr/>
        </p:nvSpPr>
        <p:spPr>
          <a:xfrm>
            <a:off x="5312664" y="3150108"/>
            <a:ext cx="118872" cy="118872"/>
          </a:xfrm>
          <a:prstGeom prst="rect">
            <a:avLst/>
          </a:prstGeom>
          <a:solidFill>
            <a:srgbClr val="1F6F78"/>
          </a:solidFill>
          <a:ln/>
        </p:spPr>
      </p:sp>
      <p:sp>
        <p:nvSpPr>
          <p:cNvPr id="67" name="Shape 65"/>
          <p:cNvSpPr/>
          <p:nvPr/>
        </p:nvSpPr>
        <p:spPr>
          <a:xfrm>
            <a:off x="5161788" y="3300984"/>
            <a:ext cx="118872" cy="118872"/>
          </a:xfrm>
          <a:prstGeom prst="rect">
            <a:avLst/>
          </a:prstGeom>
          <a:solidFill>
            <a:srgbClr val="1F6F78"/>
          </a:solidFill>
          <a:ln/>
        </p:spPr>
      </p:sp>
      <p:sp>
        <p:nvSpPr>
          <p:cNvPr id="68" name="Shape 66"/>
          <p:cNvSpPr/>
          <p:nvPr/>
        </p:nvSpPr>
        <p:spPr>
          <a:xfrm>
            <a:off x="5010912" y="3150108"/>
            <a:ext cx="118872" cy="118872"/>
          </a:xfrm>
          <a:prstGeom prst="rect">
            <a:avLst/>
          </a:prstGeom>
          <a:solidFill>
            <a:srgbClr val="1F6F78"/>
          </a:solidFill>
          <a:ln/>
        </p:spPr>
      </p:sp>
      <p:sp>
        <p:nvSpPr>
          <p:cNvPr id="69" name="Text 67"/>
          <p:cNvSpPr txBox="1"/>
          <p:nvPr/>
        </p:nvSpPr>
        <p:spPr>
          <a:xfrm>
            <a:off x="4672584" y="3502152"/>
            <a:ext cx="109728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4方向すべて</a:t>
            </a:r>
            <a:endParaRPr lang="en-US" sz="950" dirty="0"/>
          </a:p>
        </p:txBody>
      </p:sp>
      <p:sp>
        <p:nvSpPr>
          <p:cNvPr id="70" name="Text 68"/>
          <p:cNvSpPr txBox="1"/>
          <p:nvPr/>
        </p:nvSpPr>
        <p:spPr>
          <a:xfrm>
            <a:off x="4672584" y="3703320"/>
            <a:ext cx="1097280" cy="347472"/>
          </a:xfrm>
          <a:prstGeom prst="rect">
            <a:avLst/>
          </a:prstGeom>
          <a:noFill/>
          <a:ln/>
        </p:spPr>
        <p:txBody>
          <a:bodyPr wrap="square" lIns="508" tIns="508" rIns="508" bIns="508" rtlCol="0" anchor="t"/>
          <a:lstStyle/>
          <a:p>
            <a:pPr algn="ctr" indent="0" marL="0">
              <a:buNone/>
            </a:pPr>
            <a:r>
              <a:rPr lang="en-US" sz="1600" b="1" dirty="0">
                <a:solidFill>
                  <a:srgbClr val="B04A3F"/>
                </a:solidFill>
                <a:latin typeface="Yu Gothic" pitchFamily="34" charset="0"/>
                <a:ea typeface="Yu Gothic" pitchFamily="34" charset="-122"/>
                <a:cs typeface="Yu Gothic" pitchFamily="34" charset="-120"/>
              </a:rPr>
              <a:t>6,561</a:t>
            </a:r>
            <a:endParaRPr lang="en-US" sz="1600" dirty="0"/>
          </a:p>
        </p:txBody>
      </p:sp>
      <p:sp>
        <p:nvSpPr>
          <p:cNvPr id="71" name="Text 69"/>
          <p:cNvSpPr txBox="1"/>
          <p:nvPr/>
        </p:nvSpPr>
        <p:spPr>
          <a:xfrm>
            <a:off x="640080" y="4178808"/>
            <a:ext cx="5303520" cy="237744"/>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1方向増えるごとに9倍：9 → 81 → 729 → 6,561（＝9×9×9×9＝3⁸）</a:t>
            </a:r>
            <a:endParaRPr lang="en-US" sz="1050" dirty="0"/>
          </a:p>
        </p:txBody>
      </p:sp>
      <p:sp>
        <p:nvSpPr>
          <p:cNvPr id="72" name="Text 70"/>
          <p:cNvSpPr txBox="1"/>
          <p:nvPr/>
        </p:nvSpPr>
        <p:spPr>
          <a:xfrm>
            <a:off x="640080" y="4443984"/>
            <a:ext cx="5303520" cy="438912"/>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例：北（高さ50m・距離25m）＋東（25m・10m）＋南（100m・100m）＋西（50m・10m）で、やっと「1通り」</a:t>
            </a:r>
            <a:endParaRPr lang="en-US" sz="1000" dirty="0"/>
          </a:p>
        </p:txBody>
      </p:sp>
      <p:sp>
        <p:nvSpPr>
          <p:cNvPr id="73" name="Shape 71"/>
          <p:cNvSpPr/>
          <p:nvPr/>
        </p:nvSpPr>
        <p:spPr>
          <a:xfrm>
            <a:off x="594360" y="4956048"/>
            <a:ext cx="5303520" cy="1234440"/>
          </a:xfrm>
          <a:prstGeom prst="roundRect">
            <a:avLst>
              <a:gd name="adj" fmla="val 4444"/>
            </a:avLst>
          </a:prstGeom>
          <a:solidFill>
            <a:srgbClr val="FBEBDA"/>
          </a:solidFill>
          <a:ln/>
        </p:spPr>
      </p:sp>
      <p:sp>
        <p:nvSpPr>
          <p:cNvPr id="74" name="Text 72"/>
          <p:cNvSpPr txBox="1"/>
          <p:nvPr/>
        </p:nvSpPr>
        <p:spPr>
          <a:xfrm>
            <a:off x="731520" y="5001768"/>
            <a:ext cx="502920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建物なしも1通りと数えると</a:t>
            </a:r>
            <a:endParaRPr lang="en-US" sz="1100" dirty="0"/>
          </a:p>
        </p:txBody>
      </p:sp>
      <p:sp>
        <p:nvSpPr>
          <p:cNvPr id="75" name="Text 73"/>
          <p:cNvSpPr txBox="1"/>
          <p:nvPr/>
        </p:nvSpPr>
        <p:spPr>
          <a:xfrm>
            <a:off x="731520" y="5276088"/>
            <a:ext cx="5074920" cy="86868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各方向10通り → 10×10×10×10＝10,000配置（理由は次のページ）</a:t>
            </a:r>
            <a:endParaRPr lang="en-US" sz="1000" dirty="0"/>
          </a:p>
        </p:txBody>
      </p:sp>
      <p:sp>
        <p:nvSpPr>
          <p:cNvPr id="76" name="Text 74"/>
          <p:cNvSpPr txBox="1"/>
          <p:nvPr/>
        </p:nvSpPr>
        <p:spPr>
          <a:xfrm>
            <a:off x="6263640" y="1572768"/>
            <a:ext cx="548640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では、全部をSEBEで計算したら？</a:t>
            </a:r>
            <a:endParaRPr lang="en-US" sz="1200" dirty="0"/>
          </a:p>
        </p:txBody>
      </p:sp>
      <p:sp>
        <p:nvSpPr>
          <p:cNvPr id="77" name="Shape 75"/>
          <p:cNvSpPr/>
          <p:nvPr/>
        </p:nvSpPr>
        <p:spPr>
          <a:xfrm>
            <a:off x="6263640" y="1920240"/>
            <a:ext cx="5486400" cy="1005840"/>
          </a:xfrm>
          <a:prstGeom prst="roundRect">
            <a:avLst>
              <a:gd name="adj" fmla="val 5455"/>
            </a:avLst>
          </a:prstGeom>
          <a:solidFill>
            <a:srgbClr val="E1EEE7"/>
          </a:solidFill>
          <a:ln/>
        </p:spPr>
      </p:sp>
      <p:sp>
        <p:nvSpPr>
          <p:cNvPr id="78" name="Text 76"/>
          <p:cNvSpPr txBox="1"/>
          <p:nvPr/>
        </p:nvSpPr>
        <p:spPr>
          <a:xfrm>
            <a:off x="6400800" y="1965960"/>
            <a:ext cx="5212080" cy="256032"/>
          </a:xfrm>
          <a:prstGeom prst="rect">
            <a:avLst/>
          </a:prstGeom>
          <a:noFill/>
          <a:ln/>
        </p:spPr>
        <p:txBody>
          <a:bodyPr wrap="square" lIns="508" tIns="508" rIns="508" bIns="508" rtlCol="0" anchor="t"/>
          <a:lstStyle/>
          <a:p>
            <a:pPr indent="0" marL="0">
              <a:buNone/>
            </a:pPr>
            <a:r>
              <a:rPr lang="en-US" sz="1100" b="1" dirty="0">
                <a:solidFill>
                  <a:srgbClr val="4C8C6B"/>
                </a:solidFill>
                <a:latin typeface="Yu Gothic" pitchFamily="34" charset="0"/>
                <a:ea typeface="Yu Gothic" pitchFamily="34" charset="-122"/>
                <a:cs typeface="Yu Gothic" pitchFamily="34" charset="-120"/>
              </a:rPr>
              <a:t>○ できること</a:t>
            </a:r>
            <a:endParaRPr lang="en-US" sz="1100" dirty="0"/>
          </a:p>
        </p:txBody>
      </p:sp>
      <p:sp>
        <p:nvSpPr>
          <p:cNvPr id="79" name="Text 77"/>
          <p:cNvSpPr txBox="1"/>
          <p:nvPr/>
        </p:nvSpPr>
        <p:spPr>
          <a:xfrm>
            <a:off x="6400800" y="2240280"/>
            <a:ext cx="5212080" cy="6400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南1棟と同じく、どこに入力しても周りに計算済みの点がそろうので、線形補間でツールが作れる（数学的には可能）</a:t>
            </a:r>
            <a:endParaRPr lang="en-US" sz="1050" dirty="0"/>
          </a:p>
        </p:txBody>
      </p:sp>
      <p:sp>
        <p:nvSpPr>
          <p:cNvPr id="80" name="Shape 78"/>
          <p:cNvSpPr/>
          <p:nvPr/>
        </p:nvSpPr>
        <p:spPr>
          <a:xfrm>
            <a:off x="6263640" y="3063240"/>
            <a:ext cx="5486400" cy="1874520"/>
          </a:xfrm>
          <a:prstGeom prst="roundRect">
            <a:avLst>
              <a:gd name="adj" fmla="val 2927"/>
            </a:avLst>
          </a:prstGeom>
          <a:solidFill>
            <a:srgbClr val="F5E2DF"/>
          </a:solidFill>
          <a:ln/>
        </p:spPr>
      </p:sp>
      <p:sp>
        <p:nvSpPr>
          <p:cNvPr id="81" name="Text 79"/>
          <p:cNvSpPr txBox="1"/>
          <p:nvPr/>
        </p:nvSpPr>
        <p:spPr>
          <a:xfrm>
            <a:off x="6400800" y="3108960"/>
            <a:ext cx="5212080" cy="256032"/>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 かかる手間（SEBE 1回 30秒〜1分）</a:t>
            </a:r>
            <a:endParaRPr lang="en-US" sz="1100" dirty="0"/>
          </a:p>
        </p:txBody>
      </p:sp>
      <p:sp>
        <p:nvSpPr>
          <p:cNvPr id="82" name="Text 80"/>
          <p:cNvSpPr txBox="1"/>
          <p:nvPr/>
        </p:nvSpPr>
        <p:spPr>
          <a:xfrm>
            <a:off x="6400800" y="3364992"/>
            <a:ext cx="5212080" cy="457200"/>
          </a:xfrm>
          <a:prstGeom prst="rect">
            <a:avLst/>
          </a:prstGeom>
          <a:noFill/>
          <a:ln/>
        </p:spPr>
        <p:txBody>
          <a:bodyPr wrap="square" lIns="508" tIns="508" rIns="508" bIns="508" rtlCol="0" anchor="ctr"/>
          <a:lstStyle/>
          <a:p>
            <a:pPr indent="0" marL="0">
              <a:buNone/>
            </a:pPr>
            <a:r>
              <a:rPr lang="en-US" sz="1300" b="1" dirty="0">
                <a:solidFill>
                  <a:srgbClr val="1B2A44"/>
                </a:solidFill>
                <a:latin typeface="Yu Gothic" pitchFamily="34" charset="0"/>
                <a:ea typeface="Yu Gothic" pitchFamily="34" charset="-122"/>
                <a:cs typeface="Yu Gothic" pitchFamily="34" charset="-120"/>
              </a:rPr>
              <a:t>6,561回 → </a:t>
            </a:r>
            <a:pPr indent="0" marL="0">
              <a:buNone/>
            </a:pPr>
            <a:r>
              <a:rPr lang="en-US" sz="2000" b="1" dirty="0">
                <a:solidFill>
                  <a:srgbClr val="B04A3F"/>
                </a:solidFill>
                <a:latin typeface="Yu Gothic" pitchFamily="34" charset="0"/>
                <a:ea typeface="Yu Gothic" pitchFamily="34" charset="-122"/>
                <a:cs typeface="Yu Gothic" pitchFamily="34" charset="-120"/>
              </a:rPr>
              <a:t>約55〜109時間</a:t>
            </a:r>
            <a:endParaRPr lang="en-US" sz="1100" dirty="0"/>
          </a:p>
        </p:txBody>
      </p:sp>
      <p:sp>
        <p:nvSpPr>
          <p:cNvPr id="83" name="Text 81"/>
          <p:cNvSpPr txBox="1"/>
          <p:nvPr/>
        </p:nvSpPr>
        <p:spPr>
          <a:xfrm>
            <a:off x="6400800" y="3840480"/>
            <a:ext cx="5212080" cy="1051560"/>
          </a:xfrm>
          <a:prstGeom prst="rect">
            <a:avLst/>
          </a:prstGeom>
          <a:noFill/>
          <a:ln/>
        </p:spPr>
        <p:txBody>
          <a:bodyPr wrap="square" lIns="508" tIns="508" rIns="508" bIns="508" rtlCol="0" anchor="t"/>
          <a:lstStyle/>
          <a:p>
            <a:pPr marL="152400" indent="-152400">
              <a:spcAft>
                <a:spcPts val="200"/>
              </a:spcAft>
              <a:buSzPct val="100000"/>
              <a:buChar char="•"/>
            </a:pPr>
            <a:r>
              <a:rPr lang="en-US" sz="1050" dirty="0">
                <a:solidFill>
                  <a:srgbClr val="333F4E"/>
                </a:solidFill>
                <a:latin typeface="Yu Gothic" pitchFamily="34" charset="0"/>
                <a:ea typeface="Yu Gothic" pitchFamily="34" charset="-122"/>
                <a:cs typeface="Yu Gothic" pitchFamily="34" charset="-120"/>
              </a:rPr>
              <a:t>休まず計算しても 約2.3〜4.6日</a:t>
            </a:r>
            <a:endParaRPr lang="en-US" sz="1050" dirty="0"/>
          </a:p>
          <a:p>
            <a:pPr marL="152400" indent="-152400">
              <a:spcAft>
                <a:spcPts val="200"/>
              </a:spcAft>
              <a:buSzPct val="100000"/>
              <a:buChar char="•"/>
            </a:pPr>
            <a:r>
              <a:rPr lang="en-US" sz="1050" dirty="0">
                <a:solidFill>
                  <a:srgbClr val="333F4E"/>
                </a:solidFill>
                <a:latin typeface="Yu Gothic" pitchFamily="34" charset="0"/>
                <a:ea typeface="Yu Gothic" pitchFamily="34" charset="-122"/>
                <a:cs typeface="Yu Gothic" pitchFamily="34" charset="-120"/>
              </a:rPr>
              <a:t>計算時間の詳しい見積もりは p.37</a:t>
            </a:r>
            <a:endParaRPr lang="en-US" sz="1050" dirty="0"/>
          </a:p>
        </p:txBody>
      </p:sp>
      <p:sp>
        <p:nvSpPr>
          <p:cNvPr id="84" name="Shape 82"/>
          <p:cNvSpPr/>
          <p:nvPr/>
        </p:nvSpPr>
        <p:spPr>
          <a:xfrm>
            <a:off x="6263640" y="5074920"/>
            <a:ext cx="5486400" cy="1234440"/>
          </a:xfrm>
          <a:prstGeom prst="roundRect">
            <a:avLst>
              <a:gd name="adj" fmla="val 4444"/>
            </a:avLst>
          </a:prstGeom>
          <a:solidFill>
            <a:srgbClr val="1B2A44"/>
          </a:solidFill>
          <a:ln/>
        </p:spPr>
      </p:sp>
      <p:sp>
        <p:nvSpPr>
          <p:cNvPr id="85" name="Text 83"/>
          <p:cNvSpPr txBox="1"/>
          <p:nvPr/>
        </p:nvSpPr>
        <p:spPr>
          <a:xfrm>
            <a:off x="6400800" y="5120640"/>
            <a:ext cx="5212080" cy="114300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4方向だけで、全部の組み合わせに数日かかる。</a:t>
            </a:r>
            <a:endParaRPr lang="en-US" sz="1100" dirty="0"/>
          </a:p>
          <a:p>
            <a:pPr indent="0" marL="0">
              <a:buNone/>
            </a:pPr>
            <a:r>
              <a:rPr lang="en-US" sz="1100" b="1" dirty="0">
                <a:solidFill>
                  <a:srgbClr val="E8934D"/>
                </a:solidFill>
                <a:latin typeface="Yu Gothic" pitchFamily="34" charset="0"/>
                <a:ea typeface="Yu Gothic" pitchFamily="34" charset="-122"/>
                <a:cs typeface="Yu Gothic" pitchFamily="34" charset="-120"/>
              </a:rPr>
              <a:t>→ 次のページから、線形補間でツールを作る場合の計算を具体的に見る</a:t>
            </a:r>
            <a:endParaRPr lang="en-US" sz="11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補間の考え方と、建物なしも数えると1万通りになる理由</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30 / 45</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E8934D"/>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AEEF2"/>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36192"/>
            <a:ext cx="2697480" cy="2487168"/>
          </a:xfrm>
          <a:prstGeom prst="roundRect">
            <a:avLst>
              <a:gd name="adj" fmla="val 2206"/>
            </a:avLst>
          </a:prstGeom>
          <a:solidFill>
            <a:srgbClr val="F3F5F8"/>
          </a:solidFill>
          <a:ln/>
        </p:spPr>
      </p:sp>
      <p:sp>
        <p:nvSpPr>
          <p:cNvPr id="22" name="Text 20"/>
          <p:cNvSpPr txBox="1"/>
          <p:nvPr/>
        </p:nvSpPr>
        <p:spPr>
          <a:xfrm>
            <a:off x="548640" y="1581912"/>
            <a:ext cx="251460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1変数（高さAだけ）</a:t>
            </a:r>
            <a:endParaRPr lang="en-US" sz="1100" dirty="0"/>
          </a:p>
        </p:txBody>
      </p:sp>
      <p:sp>
        <p:nvSpPr>
          <p:cNvPr id="23" name="Text 21"/>
          <p:cNvSpPr txBox="1"/>
          <p:nvPr/>
        </p:nvSpPr>
        <p:spPr>
          <a:xfrm>
            <a:off x="548640" y="3017520"/>
            <a:ext cx="2514600" cy="329184"/>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2点</a:t>
            </a:r>
            <a:endParaRPr lang="en-US" sz="1600" dirty="0"/>
          </a:p>
        </p:txBody>
      </p:sp>
      <p:sp>
        <p:nvSpPr>
          <p:cNvPr id="24" name="Text 22"/>
          <p:cNvSpPr txBox="1"/>
          <p:nvPr/>
        </p:nvSpPr>
        <p:spPr>
          <a:xfrm>
            <a:off x="548640" y="3346704"/>
            <a:ext cx="251460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下側×0.6 ＋ 上側×0.4</a:t>
            </a:r>
            <a:endParaRPr lang="en-US" sz="1000" dirty="0"/>
          </a:p>
        </p:txBody>
      </p:sp>
      <p:sp>
        <p:nvSpPr>
          <p:cNvPr id="25" name="Text 23"/>
          <p:cNvSpPr txBox="1"/>
          <p:nvPr/>
        </p:nvSpPr>
        <p:spPr>
          <a:xfrm>
            <a:off x="548640" y="3584448"/>
            <a:ext cx="2514600" cy="219456"/>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t：入力の位置の割合 → 下側 1−t，上側 t</a:t>
            </a:r>
            <a:endParaRPr lang="en-US" sz="950" dirty="0"/>
          </a:p>
        </p:txBody>
      </p:sp>
      <p:sp>
        <p:nvSpPr>
          <p:cNvPr id="26" name="Text 24"/>
          <p:cNvSpPr txBox="1"/>
          <p:nvPr/>
        </p:nvSpPr>
        <p:spPr>
          <a:xfrm>
            <a:off x="3108960" y="2313432"/>
            <a:ext cx="228600" cy="274320"/>
          </a:xfrm>
          <a:prstGeom prst="rect">
            <a:avLst/>
          </a:prstGeom>
          <a:noFill/>
          <a:ln/>
        </p:spPr>
        <p:txBody>
          <a:bodyPr wrap="square" lIns="0" tIns="0" rIns="0" bIns="0" rtlCol="0" anchor="t"/>
          <a:lstStyle/>
          <a:p>
            <a:pPr algn="ctr" indent="0" marL="0">
              <a:buNone/>
            </a:pPr>
            <a:r>
              <a:rPr lang="en-US" sz="1050" b="1" dirty="0">
                <a:solidFill>
                  <a:srgbClr val="E8934D"/>
                </a:solidFill>
                <a:latin typeface="Yu Gothic" pitchFamily="34" charset="0"/>
                <a:ea typeface="Yu Gothic" pitchFamily="34" charset="-122"/>
                <a:cs typeface="Yu Gothic" pitchFamily="34" charset="-120"/>
              </a:rPr>
              <a:t>×2</a:t>
            </a:r>
            <a:endParaRPr lang="en-US" sz="1050" dirty="0"/>
          </a:p>
        </p:txBody>
      </p:sp>
      <p:sp>
        <p:nvSpPr>
          <p:cNvPr id="27" name="Shape 25"/>
          <p:cNvSpPr/>
          <p:nvPr/>
        </p:nvSpPr>
        <p:spPr>
          <a:xfrm>
            <a:off x="3291840" y="1536192"/>
            <a:ext cx="2697480" cy="2487168"/>
          </a:xfrm>
          <a:prstGeom prst="roundRect">
            <a:avLst>
              <a:gd name="adj" fmla="val 2206"/>
            </a:avLst>
          </a:prstGeom>
          <a:solidFill>
            <a:srgbClr val="F3F5F8"/>
          </a:solidFill>
          <a:ln/>
        </p:spPr>
      </p:sp>
      <p:sp>
        <p:nvSpPr>
          <p:cNvPr id="28" name="Text 26"/>
          <p:cNvSpPr txBox="1"/>
          <p:nvPr/>
        </p:nvSpPr>
        <p:spPr>
          <a:xfrm>
            <a:off x="3383280" y="1581912"/>
            <a:ext cx="251460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2変数（南1棟：A・D）</a:t>
            </a:r>
            <a:endParaRPr lang="en-US" sz="1100" dirty="0"/>
          </a:p>
        </p:txBody>
      </p:sp>
      <p:sp>
        <p:nvSpPr>
          <p:cNvPr id="29" name="Text 27"/>
          <p:cNvSpPr txBox="1"/>
          <p:nvPr/>
        </p:nvSpPr>
        <p:spPr>
          <a:xfrm>
            <a:off x="3383280" y="3017520"/>
            <a:ext cx="2514600" cy="329184"/>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4隅</a:t>
            </a:r>
            <a:endParaRPr lang="en-US" sz="1600" dirty="0"/>
          </a:p>
        </p:txBody>
      </p:sp>
      <p:sp>
        <p:nvSpPr>
          <p:cNvPr id="30" name="Text 28"/>
          <p:cNvSpPr txBox="1"/>
          <p:nvPr/>
        </p:nvSpPr>
        <p:spPr>
          <a:xfrm>
            <a:off x="3383280" y="3346704"/>
            <a:ext cx="251460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隅の重み＝2つの割合の掛け算</a:t>
            </a:r>
            <a:endParaRPr lang="en-US" sz="1000" dirty="0"/>
          </a:p>
        </p:txBody>
      </p:sp>
      <p:sp>
        <p:nvSpPr>
          <p:cNvPr id="31" name="Text 29"/>
          <p:cNvSpPr txBox="1"/>
          <p:nvPr/>
        </p:nvSpPr>
        <p:spPr>
          <a:xfrm>
            <a:off x="3383280" y="3584448"/>
            <a:ext cx="2514600" cy="219456"/>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今回のツール（p.22）</a:t>
            </a:r>
            <a:endParaRPr lang="en-US" sz="950" dirty="0"/>
          </a:p>
        </p:txBody>
      </p:sp>
      <p:sp>
        <p:nvSpPr>
          <p:cNvPr id="32" name="Text 30"/>
          <p:cNvSpPr txBox="1"/>
          <p:nvPr/>
        </p:nvSpPr>
        <p:spPr>
          <a:xfrm>
            <a:off x="5943600" y="2313432"/>
            <a:ext cx="228600" cy="274320"/>
          </a:xfrm>
          <a:prstGeom prst="rect">
            <a:avLst/>
          </a:prstGeom>
          <a:noFill/>
          <a:ln/>
        </p:spPr>
        <p:txBody>
          <a:bodyPr wrap="square" lIns="0" tIns="0" rIns="0" bIns="0" rtlCol="0" anchor="t"/>
          <a:lstStyle/>
          <a:p>
            <a:pPr algn="ctr" indent="0" marL="0">
              <a:buNone/>
            </a:pPr>
            <a:r>
              <a:rPr lang="en-US" sz="1050" b="1" dirty="0">
                <a:solidFill>
                  <a:srgbClr val="E8934D"/>
                </a:solidFill>
                <a:latin typeface="Yu Gothic" pitchFamily="34" charset="0"/>
                <a:ea typeface="Yu Gothic" pitchFamily="34" charset="-122"/>
                <a:cs typeface="Yu Gothic" pitchFamily="34" charset="-120"/>
              </a:rPr>
              <a:t>×2</a:t>
            </a:r>
            <a:endParaRPr lang="en-US" sz="1050" dirty="0"/>
          </a:p>
        </p:txBody>
      </p:sp>
      <p:sp>
        <p:nvSpPr>
          <p:cNvPr id="33" name="Shape 31"/>
          <p:cNvSpPr/>
          <p:nvPr/>
        </p:nvSpPr>
        <p:spPr>
          <a:xfrm>
            <a:off x="6126480" y="1536192"/>
            <a:ext cx="2697480" cy="2487168"/>
          </a:xfrm>
          <a:prstGeom prst="roundRect">
            <a:avLst>
              <a:gd name="adj" fmla="val 2206"/>
            </a:avLst>
          </a:prstGeom>
          <a:solidFill>
            <a:srgbClr val="F3F5F8"/>
          </a:solidFill>
          <a:ln/>
        </p:spPr>
      </p:sp>
      <p:sp>
        <p:nvSpPr>
          <p:cNvPr id="34" name="Text 32"/>
          <p:cNvSpPr txBox="1"/>
          <p:nvPr/>
        </p:nvSpPr>
        <p:spPr>
          <a:xfrm>
            <a:off x="6217920" y="1581912"/>
            <a:ext cx="251460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3変数</a:t>
            </a:r>
            <a:endParaRPr lang="en-US" sz="1100" dirty="0"/>
          </a:p>
        </p:txBody>
      </p:sp>
      <p:sp>
        <p:nvSpPr>
          <p:cNvPr id="35" name="Text 33"/>
          <p:cNvSpPr txBox="1"/>
          <p:nvPr/>
        </p:nvSpPr>
        <p:spPr>
          <a:xfrm>
            <a:off x="6217920" y="3017520"/>
            <a:ext cx="2514600" cy="329184"/>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8隅</a:t>
            </a:r>
            <a:endParaRPr lang="en-US" sz="1600" dirty="0"/>
          </a:p>
        </p:txBody>
      </p:sp>
      <p:sp>
        <p:nvSpPr>
          <p:cNvPr id="36" name="Text 34"/>
          <p:cNvSpPr txBox="1"/>
          <p:nvPr/>
        </p:nvSpPr>
        <p:spPr>
          <a:xfrm>
            <a:off x="6217920" y="3346704"/>
            <a:ext cx="251460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隅の重み＝3つの割合の掛け算</a:t>
            </a:r>
            <a:endParaRPr lang="en-US" sz="1000" dirty="0"/>
          </a:p>
        </p:txBody>
      </p:sp>
      <p:sp>
        <p:nvSpPr>
          <p:cNvPr id="37" name="Text 35"/>
          <p:cNvSpPr txBox="1"/>
          <p:nvPr/>
        </p:nvSpPr>
        <p:spPr>
          <a:xfrm>
            <a:off x="6217920" y="3584448"/>
            <a:ext cx="2514600" cy="219456"/>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立方体の角</a:t>
            </a:r>
            <a:endParaRPr lang="en-US" sz="950" dirty="0"/>
          </a:p>
        </p:txBody>
      </p:sp>
      <p:sp>
        <p:nvSpPr>
          <p:cNvPr id="38" name="Text 36"/>
          <p:cNvSpPr txBox="1"/>
          <p:nvPr/>
        </p:nvSpPr>
        <p:spPr>
          <a:xfrm>
            <a:off x="8778240" y="2313432"/>
            <a:ext cx="228600" cy="274320"/>
          </a:xfrm>
          <a:prstGeom prst="rect">
            <a:avLst/>
          </a:prstGeom>
          <a:noFill/>
          <a:ln/>
        </p:spPr>
        <p:txBody>
          <a:bodyPr wrap="square" lIns="0" tIns="0" rIns="0" bIns="0" rtlCol="0" anchor="t"/>
          <a:lstStyle/>
          <a:p>
            <a:pPr algn="ctr" indent="0" marL="0">
              <a:buNone/>
            </a:pPr>
            <a:r>
              <a:rPr lang="en-US" sz="1050" b="1" dirty="0">
                <a:solidFill>
                  <a:srgbClr val="E8934D"/>
                </a:solidFill>
                <a:latin typeface="Yu Gothic" pitchFamily="34" charset="0"/>
                <a:ea typeface="Yu Gothic" pitchFamily="34" charset="-122"/>
                <a:cs typeface="Yu Gothic" pitchFamily="34" charset="-120"/>
              </a:rPr>
              <a:t>×2</a:t>
            </a:r>
            <a:endParaRPr lang="en-US" sz="1050" dirty="0"/>
          </a:p>
        </p:txBody>
      </p:sp>
      <p:sp>
        <p:nvSpPr>
          <p:cNvPr id="39" name="Shape 37"/>
          <p:cNvSpPr/>
          <p:nvPr/>
        </p:nvSpPr>
        <p:spPr>
          <a:xfrm>
            <a:off x="8961120" y="1536192"/>
            <a:ext cx="2697480" cy="2487168"/>
          </a:xfrm>
          <a:prstGeom prst="roundRect">
            <a:avLst>
              <a:gd name="adj" fmla="val 2206"/>
            </a:avLst>
          </a:prstGeom>
          <a:solidFill>
            <a:srgbClr val="FBEBDA"/>
          </a:solidFill>
          <a:ln/>
        </p:spPr>
      </p:sp>
      <p:sp>
        <p:nvSpPr>
          <p:cNvPr id="40" name="Text 38"/>
          <p:cNvSpPr txBox="1"/>
          <p:nvPr/>
        </p:nvSpPr>
        <p:spPr>
          <a:xfrm>
            <a:off x="9052560" y="1581912"/>
            <a:ext cx="251460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8変数（4棟：A・D×4）</a:t>
            </a:r>
            <a:endParaRPr lang="en-US" sz="1100" dirty="0"/>
          </a:p>
        </p:txBody>
      </p:sp>
      <p:sp>
        <p:nvSpPr>
          <p:cNvPr id="41" name="Text 39"/>
          <p:cNvSpPr txBox="1"/>
          <p:nvPr/>
        </p:nvSpPr>
        <p:spPr>
          <a:xfrm>
            <a:off x="9052560" y="3017520"/>
            <a:ext cx="2514600" cy="329184"/>
          </a:xfrm>
          <a:prstGeom prst="rect">
            <a:avLst/>
          </a:prstGeom>
          <a:noFill/>
          <a:ln/>
        </p:spPr>
        <p:txBody>
          <a:bodyPr wrap="square" lIns="508" tIns="508" rIns="508" bIns="508" rtlCol="0" anchor="t"/>
          <a:lstStyle/>
          <a:p>
            <a:pPr algn="ctr" indent="0" marL="0">
              <a:buNone/>
            </a:pPr>
            <a:r>
              <a:rPr lang="en-US" sz="1600" b="1" dirty="0">
                <a:solidFill>
                  <a:srgbClr val="B04A3F"/>
                </a:solidFill>
                <a:latin typeface="Yu Gothic" pitchFamily="34" charset="0"/>
                <a:ea typeface="Yu Gothic" pitchFamily="34" charset="-122"/>
                <a:cs typeface="Yu Gothic" pitchFamily="34" charset="-120"/>
              </a:rPr>
              <a:t>2⁸＝256点</a:t>
            </a:r>
            <a:endParaRPr lang="en-US" sz="1600" dirty="0"/>
          </a:p>
        </p:txBody>
      </p:sp>
      <p:sp>
        <p:nvSpPr>
          <p:cNvPr id="42" name="Text 40"/>
          <p:cNvSpPr txBox="1"/>
          <p:nvPr/>
        </p:nvSpPr>
        <p:spPr>
          <a:xfrm>
            <a:off x="9052560" y="3346704"/>
            <a:ext cx="251460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点の重み＝8つの割合の掛け算</a:t>
            </a:r>
            <a:endParaRPr lang="en-US" sz="1000" dirty="0"/>
          </a:p>
        </p:txBody>
      </p:sp>
      <p:sp>
        <p:nvSpPr>
          <p:cNvPr id="43" name="Text 41"/>
          <p:cNvSpPr txBox="1"/>
          <p:nvPr/>
        </p:nvSpPr>
        <p:spPr>
          <a:xfrm>
            <a:off x="9052560" y="3584448"/>
            <a:ext cx="2514600" cy="219456"/>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2×2×…×2（8回）：図に描けない</a:t>
            </a:r>
            <a:endParaRPr lang="en-US" sz="950" dirty="0"/>
          </a:p>
        </p:txBody>
      </p:sp>
      <p:sp>
        <p:nvSpPr>
          <p:cNvPr id="44" name="Shape 42"/>
          <p:cNvSpPr/>
          <p:nvPr/>
        </p:nvSpPr>
        <p:spPr>
          <a:xfrm>
            <a:off x="868680" y="2423160"/>
            <a:ext cx="1874520" cy="91"/>
          </a:xfrm>
          <a:prstGeom prst="line">
            <a:avLst/>
          </a:prstGeom>
          <a:noFill/>
          <a:ln w="25400">
            <a:solidFill>
              <a:srgbClr val="AEB4BC"/>
            </a:solidFill>
            <a:prstDash val="solid"/>
          </a:ln>
        </p:spPr>
      </p:sp>
      <p:sp>
        <p:nvSpPr>
          <p:cNvPr id="45" name="Shape 43"/>
          <p:cNvSpPr/>
          <p:nvPr/>
        </p:nvSpPr>
        <p:spPr>
          <a:xfrm>
            <a:off x="777240" y="2331720"/>
            <a:ext cx="182880" cy="182880"/>
          </a:xfrm>
          <a:prstGeom prst="rect">
            <a:avLst/>
          </a:prstGeom>
          <a:solidFill>
            <a:srgbClr val="1B2A44"/>
          </a:solidFill>
          <a:ln w="6350">
            <a:solidFill>
              <a:srgbClr val="FFFFFF"/>
            </a:solidFill>
            <a:prstDash val="solid"/>
          </a:ln>
        </p:spPr>
      </p:sp>
      <p:sp>
        <p:nvSpPr>
          <p:cNvPr id="46" name="Shape 44"/>
          <p:cNvSpPr/>
          <p:nvPr/>
        </p:nvSpPr>
        <p:spPr>
          <a:xfrm>
            <a:off x="2651760" y="2331720"/>
            <a:ext cx="182880" cy="182880"/>
          </a:xfrm>
          <a:prstGeom prst="rect">
            <a:avLst/>
          </a:prstGeom>
          <a:solidFill>
            <a:srgbClr val="1B2A44"/>
          </a:solidFill>
          <a:ln w="6350">
            <a:solidFill>
              <a:srgbClr val="FFFFFF"/>
            </a:solidFill>
            <a:prstDash val="solid"/>
          </a:ln>
        </p:spPr>
      </p:sp>
      <p:sp>
        <p:nvSpPr>
          <p:cNvPr id="47" name="Shape 45"/>
          <p:cNvSpPr/>
          <p:nvPr/>
        </p:nvSpPr>
        <p:spPr>
          <a:xfrm>
            <a:off x="1508760" y="2313432"/>
            <a:ext cx="219456" cy="219456"/>
          </a:xfrm>
          <a:prstGeom prst="star5">
            <a:avLst/>
          </a:prstGeom>
          <a:solidFill>
            <a:srgbClr val="B04A3F"/>
          </a:solidFill>
          <a:ln w="6350">
            <a:solidFill>
              <a:srgbClr val="FFFFFF"/>
            </a:solidFill>
            <a:prstDash val="solid"/>
          </a:ln>
        </p:spPr>
      </p:sp>
      <p:sp>
        <p:nvSpPr>
          <p:cNvPr id="48" name="Text 46"/>
          <p:cNvSpPr txBox="1"/>
          <p:nvPr/>
        </p:nvSpPr>
        <p:spPr>
          <a:xfrm>
            <a:off x="502920" y="2551176"/>
            <a:ext cx="73152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下側 L</a:t>
            </a:r>
            <a:endParaRPr lang="en-US" sz="900" dirty="0"/>
          </a:p>
        </p:txBody>
      </p:sp>
      <p:sp>
        <p:nvSpPr>
          <p:cNvPr id="49" name="Text 47"/>
          <p:cNvSpPr txBox="1"/>
          <p:nvPr/>
        </p:nvSpPr>
        <p:spPr>
          <a:xfrm>
            <a:off x="2377440" y="2551176"/>
            <a:ext cx="73152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上側 U</a:t>
            </a:r>
            <a:endParaRPr lang="en-US" sz="900" dirty="0"/>
          </a:p>
        </p:txBody>
      </p:sp>
      <p:sp>
        <p:nvSpPr>
          <p:cNvPr id="50" name="Text 48"/>
          <p:cNvSpPr txBox="1"/>
          <p:nvPr/>
        </p:nvSpPr>
        <p:spPr>
          <a:xfrm>
            <a:off x="594360" y="2039112"/>
            <a:ext cx="548640" cy="219456"/>
          </a:xfrm>
          <a:prstGeom prst="rect">
            <a:avLst/>
          </a:prstGeom>
          <a:noFill/>
          <a:ln/>
        </p:spPr>
        <p:txBody>
          <a:bodyPr wrap="square" lIns="508" tIns="508" rIns="508" bIns="508" rtlCol="0" anchor="t"/>
          <a:lstStyle/>
          <a:p>
            <a:pPr algn="ctr" indent="0" marL="0">
              <a:buNone/>
            </a:pPr>
            <a:r>
              <a:rPr lang="en-US" sz="1100" b="1" dirty="0">
                <a:solidFill>
                  <a:srgbClr val="C56A2C"/>
                </a:solidFill>
                <a:latin typeface="Yu Gothic" pitchFamily="34" charset="0"/>
                <a:ea typeface="Yu Gothic" pitchFamily="34" charset="-122"/>
                <a:cs typeface="Yu Gothic" pitchFamily="34" charset="-120"/>
              </a:rPr>
              <a:t>0.6</a:t>
            </a:r>
            <a:endParaRPr lang="en-US" sz="1100" dirty="0"/>
          </a:p>
        </p:txBody>
      </p:sp>
      <p:sp>
        <p:nvSpPr>
          <p:cNvPr id="51" name="Text 49"/>
          <p:cNvSpPr txBox="1"/>
          <p:nvPr/>
        </p:nvSpPr>
        <p:spPr>
          <a:xfrm>
            <a:off x="2468880" y="2039112"/>
            <a:ext cx="548640" cy="219456"/>
          </a:xfrm>
          <a:prstGeom prst="rect">
            <a:avLst/>
          </a:prstGeom>
          <a:noFill/>
          <a:ln/>
        </p:spPr>
        <p:txBody>
          <a:bodyPr wrap="square" lIns="508" tIns="508" rIns="508" bIns="508" rtlCol="0" anchor="t"/>
          <a:lstStyle/>
          <a:p>
            <a:pPr algn="ctr" indent="0" marL="0">
              <a:buNone/>
            </a:pPr>
            <a:r>
              <a:rPr lang="en-US" sz="1100" b="1" dirty="0">
                <a:solidFill>
                  <a:srgbClr val="C56A2C"/>
                </a:solidFill>
                <a:latin typeface="Yu Gothic" pitchFamily="34" charset="0"/>
                <a:ea typeface="Yu Gothic" pitchFamily="34" charset="-122"/>
                <a:cs typeface="Yu Gothic" pitchFamily="34" charset="-120"/>
              </a:rPr>
              <a:t>0.4</a:t>
            </a:r>
            <a:endParaRPr lang="en-US" sz="1100" dirty="0"/>
          </a:p>
        </p:txBody>
      </p:sp>
      <p:sp>
        <p:nvSpPr>
          <p:cNvPr id="52" name="Text 50"/>
          <p:cNvSpPr txBox="1"/>
          <p:nvPr/>
        </p:nvSpPr>
        <p:spPr>
          <a:xfrm>
            <a:off x="1069848" y="2551176"/>
            <a:ext cx="1097280" cy="201168"/>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入力（t＝0.4）</a:t>
            </a:r>
            <a:endParaRPr lang="en-US" sz="900" dirty="0"/>
          </a:p>
        </p:txBody>
      </p:sp>
      <p:sp>
        <p:nvSpPr>
          <p:cNvPr id="53" name="Text 51"/>
          <p:cNvSpPr txBox="1"/>
          <p:nvPr/>
        </p:nvSpPr>
        <p:spPr>
          <a:xfrm>
            <a:off x="548640" y="2743200"/>
            <a:ext cx="25146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近い方を多く使う</a:t>
            </a:r>
            <a:endParaRPr lang="en-US" sz="900" dirty="0"/>
          </a:p>
        </p:txBody>
      </p:sp>
      <p:sp>
        <p:nvSpPr>
          <p:cNvPr id="54" name="Shape 52"/>
          <p:cNvSpPr/>
          <p:nvPr/>
        </p:nvSpPr>
        <p:spPr>
          <a:xfrm>
            <a:off x="4224528" y="1984248"/>
            <a:ext cx="822960" cy="822960"/>
          </a:xfrm>
          <a:prstGeom prst="rect">
            <a:avLst/>
          </a:prstGeom>
          <a:solidFill>
            <a:srgbClr val="FFFFFF"/>
          </a:solidFill>
          <a:ln w="12700">
            <a:solidFill>
              <a:srgbClr val="AEB4BC"/>
            </a:solidFill>
            <a:prstDash val="solid"/>
          </a:ln>
        </p:spPr>
      </p:sp>
      <p:sp>
        <p:nvSpPr>
          <p:cNvPr id="55" name="Shape 53"/>
          <p:cNvSpPr/>
          <p:nvPr/>
        </p:nvSpPr>
        <p:spPr>
          <a:xfrm>
            <a:off x="4142232" y="1901952"/>
            <a:ext cx="164592" cy="164592"/>
          </a:xfrm>
          <a:prstGeom prst="rect">
            <a:avLst/>
          </a:prstGeom>
          <a:solidFill>
            <a:srgbClr val="E8934D"/>
          </a:solidFill>
          <a:ln w="6350">
            <a:solidFill>
              <a:srgbClr val="FFFFFF"/>
            </a:solidFill>
            <a:prstDash val="solid"/>
          </a:ln>
        </p:spPr>
      </p:sp>
      <p:sp>
        <p:nvSpPr>
          <p:cNvPr id="56" name="Shape 54"/>
          <p:cNvSpPr/>
          <p:nvPr/>
        </p:nvSpPr>
        <p:spPr>
          <a:xfrm>
            <a:off x="4965192" y="1901952"/>
            <a:ext cx="164592" cy="164592"/>
          </a:xfrm>
          <a:prstGeom prst="rect">
            <a:avLst/>
          </a:prstGeom>
          <a:solidFill>
            <a:srgbClr val="E8934D"/>
          </a:solidFill>
          <a:ln w="6350">
            <a:solidFill>
              <a:srgbClr val="FFFFFF"/>
            </a:solidFill>
            <a:prstDash val="solid"/>
          </a:ln>
        </p:spPr>
      </p:sp>
      <p:sp>
        <p:nvSpPr>
          <p:cNvPr id="57" name="Shape 55"/>
          <p:cNvSpPr/>
          <p:nvPr/>
        </p:nvSpPr>
        <p:spPr>
          <a:xfrm>
            <a:off x="4142232" y="2724912"/>
            <a:ext cx="164592" cy="164592"/>
          </a:xfrm>
          <a:prstGeom prst="rect">
            <a:avLst/>
          </a:prstGeom>
          <a:solidFill>
            <a:srgbClr val="E8934D"/>
          </a:solidFill>
          <a:ln w="6350">
            <a:solidFill>
              <a:srgbClr val="FFFFFF"/>
            </a:solidFill>
            <a:prstDash val="solid"/>
          </a:ln>
        </p:spPr>
      </p:sp>
      <p:sp>
        <p:nvSpPr>
          <p:cNvPr id="58" name="Shape 56"/>
          <p:cNvSpPr/>
          <p:nvPr/>
        </p:nvSpPr>
        <p:spPr>
          <a:xfrm>
            <a:off x="4965192" y="2724912"/>
            <a:ext cx="164592" cy="164592"/>
          </a:xfrm>
          <a:prstGeom prst="rect">
            <a:avLst/>
          </a:prstGeom>
          <a:solidFill>
            <a:srgbClr val="E8934D"/>
          </a:solidFill>
          <a:ln w="6350">
            <a:solidFill>
              <a:srgbClr val="FFFFFF"/>
            </a:solidFill>
            <a:prstDash val="solid"/>
          </a:ln>
        </p:spPr>
      </p:sp>
      <p:sp>
        <p:nvSpPr>
          <p:cNvPr id="59" name="Shape 57"/>
          <p:cNvSpPr/>
          <p:nvPr/>
        </p:nvSpPr>
        <p:spPr>
          <a:xfrm>
            <a:off x="4425696" y="2404872"/>
            <a:ext cx="201168" cy="201168"/>
          </a:xfrm>
          <a:prstGeom prst="star5">
            <a:avLst/>
          </a:prstGeom>
          <a:solidFill>
            <a:srgbClr val="B04A3F"/>
          </a:solidFill>
          <a:ln w="6350">
            <a:solidFill>
              <a:srgbClr val="FFFFFF"/>
            </a:solidFill>
            <a:prstDash val="solid"/>
          </a:ln>
        </p:spPr>
      </p:sp>
      <p:sp>
        <p:nvSpPr>
          <p:cNvPr id="60" name="Text 58"/>
          <p:cNvSpPr txBox="1"/>
          <p:nvPr/>
        </p:nvSpPr>
        <p:spPr>
          <a:xfrm>
            <a:off x="3904488" y="2286000"/>
            <a:ext cx="228600" cy="219456"/>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A</a:t>
            </a:r>
            <a:endParaRPr lang="en-US" sz="950" dirty="0"/>
          </a:p>
        </p:txBody>
      </p:sp>
      <p:sp>
        <p:nvSpPr>
          <p:cNvPr id="61" name="Text 59"/>
          <p:cNvSpPr txBox="1"/>
          <p:nvPr/>
        </p:nvSpPr>
        <p:spPr>
          <a:xfrm>
            <a:off x="4407408" y="1737360"/>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D →</a:t>
            </a:r>
            <a:endParaRPr lang="en-US" sz="950" dirty="0"/>
          </a:p>
        </p:txBody>
      </p:sp>
      <p:sp>
        <p:nvSpPr>
          <p:cNvPr id="62" name="Shape 60"/>
          <p:cNvSpPr/>
          <p:nvPr/>
        </p:nvSpPr>
        <p:spPr>
          <a:xfrm>
            <a:off x="7132320" y="2880360"/>
            <a:ext cx="731520" cy="91"/>
          </a:xfrm>
          <a:prstGeom prst="line">
            <a:avLst/>
          </a:prstGeom>
          <a:noFill/>
          <a:ln w="12700">
            <a:solidFill>
              <a:srgbClr val="AEB4BC"/>
            </a:solidFill>
            <a:prstDash val="solid"/>
          </a:ln>
        </p:spPr>
      </p:sp>
      <p:sp>
        <p:nvSpPr>
          <p:cNvPr id="63" name="Shape 61"/>
          <p:cNvSpPr/>
          <p:nvPr/>
        </p:nvSpPr>
        <p:spPr>
          <a:xfrm flipV="1">
            <a:off x="7132320" y="2148840"/>
            <a:ext cx="91" cy="731520"/>
          </a:xfrm>
          <a:prstGeom prst="line">
            <a:avLst/>
          </a:prstGeom>
          <a:noFill/>
          <a:ln w="12700">
            <a:solidFill>
              <a:srgbClr val="AEB4BC"/>
            </a:solidFill>
            <a:prstDash val="solid"/>
          </a:ln>
        </p:spPr>
      </p:sp>
      <p:sp>
        <p:nvSpPr>
          <p:cNvPr id="64" name="Shape 62"/>
          <p:cNvSpPr/>
          <p:nvPr/>
        </p:nvSpPr>
        <p:spPr>
          <a:xfrm flipV="1">
            <a:off x="7132320" y="2606040"/>
            <a:ext cx="320040" cy="274320"/>
          </a:xfrm>
          <a:prstGeom prst="line">
            <a:avLst/>
          </a:prstGeom>
          <a:noFill/>
          <a:ln w="12700">
            <a:solidFill>
              <a:srgbClr val="AEB4BC"/>
            </a:solidFill>
            <a:prstDash val="solid"/>
          </a:ln>
        </p:spPr>
      </p:sp>
      <p:sp>
        <p:nvSpPr>
          <p:cNvPr id="65" name="Shape 63"/>
          <p:cNvSpPr/>
          <p:nvPr/>
        </p:nvSpPr>
        <p:spPr>
          <a:xfrm flipV="1">
            <a:off x="7863840" y="2148840"/>
            <a:ext cx="91" cy="731520"/>
          </a:xfrm>
          <a:prstGeom prst="line">
            <a:avLst/>
          </a:prstGeom>
          <a:noFill/>
          <a:ln w="12700">
            <a:solidFill>
              <a:srgbClr val="AEB4BC"/>
            </a:solidFill>
            <a:prstDash val="solid"/>
          </a:ln>
        </p:spPr>
      </p:sp>
      <p:sp>
        <p:nvSpPr>
          <p:cNvPr id="66" name="Shape 64"/>
          <p:cNvSpPr/>
          <p:nvPr/>
        </p:nvSpPr>
        <p:spPr>
          <a:xfrm flipV="1">
            <a:off x="7863840" y="2606040"/>
            <a:ext cx="320040" cy="274320"/>
          </a:xfrm>
          <a:prstGeom prst="line">
            <a:avLst/>
          </a:prstGeom>
          <a:noFill/>
          <a:ln w="12700">
            <a:solidFill>
              <a:srgbClr val="AEB4BC"/>
            </a:solidFill>
            <a:prstDash val="solid"/>
          </a:ln>
        </p:spPr>
      </p:sp>
      <p:sp>
        <p:nvSpPr>
          <p:cNvPr id="67" name="Shape 65"/>
          <p:cNvSpPr/>
          <p:nvPr/>
        </p:nvSpPr>
        <p:spPr>
          <a:xfrm>
            <a:off x="7132320" y="2148840"/>
            <a:ext cx="731520" cy="91"/>
          </a:xfrm>
          <a:prstGeom prst="line">
            <a:avLst/>
          </a:prstGeom>
          <a:noFill/>
          <a:ln w="12700">
            <a:solidFill>
              <a:srgbClr val="AEB4BC"/>
            </a:solidFill>
            <a:prstDash val="solid"/>
          </a:ln>
        </p:spPr>
      </p:sp>
      <p:sp>
        <p:nvSpPr>
          <p:cNvPr id="68" name="Shape 66"/>
          <p:cNvSpPr/>
          <p:nvPr/>
        </p:nvSpPr>
        <p:spPr>
          <a:xfrm flipV="1">
            <a:off x="7132320" y="1874520"/>
            <a:ext cx="320040" cy="274320"/>
          </a:xfrm>
          <a:prstGeom prst="line">
            <a:avLst/>
          </a:prstGeom>
          <a:noFill/>
          <a:ln w="12700">
            <a:solidFill>
              <a:srgbClr val="AEB4BC"/>
            </a:solidFill>
            <a:prstDash val="solid"/>
          </a:ln>
        </p:spPr>
      </p:sp>
      <p:sp>
        <p:nvSpPr>
          <p:cNvPr id="69" name="Shape 67"/>
          <p:cNvSpPr/>
          <p:nvPr/>
        </p:nvSpPr>
        <p:spPr>
          <a:xfrm>
            <a:off x="7452360" y="2606040"/>
            <a:ext cx="731520" cy="91"/>
          </a:xfrm>
          <a:prstGeom prst="line">
            <a:avLst/>
          </a:prstGeom>
          <a:noFill/>
          <a:ln w="12700">
            <a:solidFill>
              <a:srgbClr val="AEB4BC"/>
            </a:solidFill>
            <a:prstDash val="solid"/>
          </a:ln>
        </p:spPr>
      </p:sp>
      <p:sp>
        <p:nvSpPr>
          <p:cNvPr id="70" name="Shape 68"/>
          <p:cNvSpPr/>
          <p:nvPr/>
        </p:nvSpPr>
        <p:spPr>
          <a:xfrm flipV="1">
            <a:off x="7452360" y="1874520"/>
            <a:ext cx="91" cy="731520"/>
          </a:xfrm>
          <a:prstGeom prst="line">
            <a:avLst/>
          </a:prstGeom>
          <a:noFill/>
          <a:ln w="12700">
            <a:solidFill>
              <a:srgbClr val="AEB4BC"/>
            </a:solidFill>
            <a:prstDash val="solid"/>
          </a:ln>
        </p:spPr>
      </p:sp>
      <p:sp>
        <p:nvSpPr>
          <p:cNvPr id="71" name="Shape 69"/>
          <p:cNvSpPr/>
          <p:nvPr/>
        </p:nvSpPr>
        <p:spPr>
          <a:xfrm flipV="1">
            <a:off x="7863840" y="1874520"/>
            <a:ext cx="320040" cy="274320"/>
          </a:xfrm>
          <a:prstGeom prst="line">
            <a:avLst/>
          </a:prstGeom>
          <a:noFill/>
          <a:ln w="12700">
            <a:solidFill>
              <a:srgbClr val="AEB4BC"/>
            </a:solidFill>
            <a:prstDash val="solid"/>
          </a:ln>
        </p:spPr>
      </p:sp>
      <p:sp>
        <p:nvSpPr>
          <p:cNvPr id="72" name="Shape 70"/>
          <p:cNvSpPr/>
          <p:nvPr/>
        </p:nvSpPr>
        <p:spPr>
          <a:xfrm flipV="1">
            <a:off x="8183880" y="1874520"/>
            <a:ext cx="91" cy="731520"/>
          </a:xfrm>
          <a:prstGeom prst="line">
            <a:avLst/>
          </a:prstGeom>
          <a:noFill/>
          <a:ln w="12700">
            <a:solidFill>
              <a:srgbClr val="AEB4BC"/>
            </a:solidFill>
            <a:prstDash val="solid"/>
          </a:ln>
        </p:spPr>
      </p:sp>
      <p:sp>
        <p:nvSpPr>
          <p:cNvPr id="73" name="Shape 71"/>
          <p:cNvSpPr/>
          <p:nvPr/>
        </p:nvSpPr>
        <p:spPr>
          <a:xfrm>
            <a:off x="7452360" y="1874520"/>
            <a:ext cx="731520" cy="91"/>
          </a:xfrm>
          <a:prstGeom prst="line">
            <a:avLst/>
          </a:prstGeom>
          <a:noFill/>
          <a:ln w="12700">
            <a:solidFill>
              <a:srgbClr val="AEB4BC"/>
            </a:solidFill>
            <a:prstDash val="solid"/>
          </a:ln>
        </p:spPr>
      </p:sp>
      <p:sp>
        <p:nvSpPr>
          <p:cNvPr id="74" name="Shape 72"/>
          <p:cNvSpPr/>
          <p:nvPr/>
        </p:nvSpPr>
        <p:spPr>
          <a:xfrm>
            <a:off x="7059168" y="2807208"/>
            <a:ext cx="146304" cy="146304"/>
          </a:xfrm>
          <a:prstGeom prst="rect">
            <a:avLst/>
          </a:prstGeom>
          <a:solidFill>
            <a:srgbClr val="E8934D"/>
          </a:solidFill>
          <a:ln w="6350">
            <a:solidFill>
              <a:srgbClr val="FFFFFF"/>
            </a:solidFill>
            <a:prstDash val="solid"/>
          </a:ln>
        </p:spPr>
      </p:sp>
      <p:sp>
        <p:nvSpPr>
          <p:cNvPr id="75" name="Shape 73"/>
          <p:cNvSpPr/>
          <p:nvPr/>
        </p:nvSpPr>
        <p:spPr>
          <a:xfrm>
            <a:off x="7379208" y="2532888"/>
            <a:ext cx="146304" cy="146304"/>
          </a:xfrm>
          <a:prstGeom prst="rect">
            <a:avLst/>
          </a:prstGeom>
          <a:solidFill>
            <a:srgbClr val="E8934D"/>
          </a:solidFill>
          <a:ln w="6350">
            <a:solidFill>
              <a:srgbClr val="FFFFFF"/>
            </a:solidFill>
            <a:prstDash val="solid"/>
          </a:ln>
        </p:spPr>
      </p:sp>
      <p:sp>
        <p:nvSpPr>
          <p:cNvPr id="76" name="Shape 74"/>
          <p:cNvSpPr/>
          <p:nvPr/>
        </p:nvSpPr>
        <p:spPr>
          <a:xfrm>
            <a:off x="7059168" y="2075688"/>
            <a:ext cx="146304" cy="146304"/>
          </a:xfrm>
          <a:prstGeom prst="rect">
            <a:avLst/>
          </a:prstGeom>
          <a:solidFill>
            <a:srgbClr val="E8934D"/>
          </a:solidFill>
          <a:ln w="6350">
            <a:solidFill>
              <a:srgbClr val="FFFFFF"/>
            </a:solidFill>
            <a:prstDash val="solid"/>
          </a:ln>
        </p:spPr>
      </p:sp>
      <p:sp>
        <p:nvSpPr>
          <p:cNvPr id="77" name="Shape 75"/>
          <p:cNvSpPr/>
          <p:nvPr/>
        </p:nvSpPr>
        <p:spPr>
          <a:xfrm>
            <a:off x="7379208" y="1801368"/>
            <a:ext cx="146304" cy="146304"/>
          </a:xfrm>
          <a:prstGeom prst="rect">
            <a:avLst/>
          </a:prstGeom>
          <a:solidFill>
            <a:srgbClr val="E8934D"/>
          </a:solidFill>
          <a:ln w="6350">
            <a:solidFill>
              <a:srgbClr val="FFFFFF"/>
            </a:solidFill>
            <a:prstDash val="solid"/>
          </a:ln>
        </p:spPr>
      </p:sp>
      <p:sp>
        <p:nvSpPr>
          <p:cNvPr id="78" name="Shape 76"/>
          <p:cNvSpPr/>
          <p:nvPr/>
        </p:nvSpPr>
        <p:spPr>
          <a:xfrm>
            <a:off x="7790688" y="2807208"/>
            <a:ext cx="146304" cy="146304"/>
          </a:xfrm>
          <a:prstGeom prst="rect">
            <a:avLst/>
          </a:prstGeom>
          <a:solidFill>
            <a:srgbClr val="E8934D"/>
          </a:solidFill>
          <a:ln w="6350">
            <a:solidFill>
              <a:srgbClr val="FFFFFF"/>
            </a:solidFill>
            <a:prstDash val="solid"/>
          </a:ln>
        </p:spPr>
      </p:sp>
      <p:sp>
        <p:nvSpPr>
          <p:cNvPr id="79" name="Shape 77"/>
          <p:cNvSpPr/>
          <p:nvPr/>
        </p:nvSpPr>
        <p:spPr>
          <a:xfrm>
            <a:off x="8110728" y="2532888"/>
            <a:ext cx="146304" cy="146304"/>
          </a:xfrm>
          <a:prstGeom prst="rect">
            <a:avLst/>
          </a:prstGeom>
          <a:solidFill>
            <a:srgbClr val="E8934D"/>
          </a:solidFill>
          <a:ln w="6350">
            <a:solidFill>
              <a:srgbClr val="FFFFFF"/>
            </a:solidFill>
            <a:prstDash val="solid"/>
          </a:ln>
        </p:spPr>
      </p:sp>
      <p:sp>
        <p:nvSpPr>
          <p:cNvPr id="80" name="Shape 78"/>
          <p:cNvSpPr/>
          <p:nvPr/>
        </p:nvSpPr>
        <p:spPr>
          <a:xfrm>
            <a:off x="7790688" y="2075688"/>
            <a:ext cx="146304" cy="146304"/>
          </a:xfrm>
          <a:prstGeom prst="rect">
            <a:avLst/>
          </a:prstGeom>
          <a:solidFill>
            <a:srgbClr val="E8934D"/>
          </a:solidFill>
          <a:ln w="6350">
            <a:solidFill>
              <a:srgbClr val="FFFFFF"/>
            </a:solidFill>
            <a:prstDash val="solid"/>
          </a:ln>
        </p:spPr>
      </p:sp>
      <p:sp>
        <p:nvSpPr>
          <p:cNvPr id="81" name="Shape 79"/>
          <p:cNvSpPr/>
          <p:nvPr/>
        </p:nvSpPr>
        <p:spPr>
          <a:xfrm>
            <a:off x="8110728" y="1801368"/>
            <a:ext cx="146304" cy="146304"/>
          </a:xfrm>
          <a:prstGeom prst="rect">
            <a:avLst/>
          </a:prstGeom>
          <a:solidFill>
            <a:srgbClr val="E8934D"/>
          </a:solidFill>
          <a:ln w="6350">
            <a:solidFill>
              <a:srgbClr val="FFFFFF"/>
            </a:solidFill>
            <a:prstDash val="solid"/>
          </a:ln>
        </p:spPr>
      </p:sp>
      <p:sp>
        <p:nvSpPr>
          <p:cNvPr id="82" name="Shape 80"/>
          <p:cNvSpPr/>
          <p:nvPr/>
        </p:nvSpPr>
        <p:spPr>
          <a:xfrm>
            <a:off x="7520940" y="2350008"/>
            <a:ext cx="201168" cy="201168"/>
          </a:xfrm>
          <a:prstGeom prst="star5">
            <a:avLst/>
          </a:prstGeom>
          <a:solidFill>
            <a:srgbClr val="B04A3F"/>
          </a:solidFill>
          <a:ln w="6350">
            <a:solidFill>
              <a:srgbClr val="FFFFFF"/>
            </a:solidFill>
            <a:prstDash val="solid"/>
          </a:ln>
        </p:spPr>
      </p:sp>
      <p:sp>
        <p:nvSpPr>
          <p:cNvPr id="83" name="Shape 81"/>
          <p:cNvSpPr/>
          <p:nvPr/>
        </p:nvSpPr>
        <p:spPr>
          <a:xfrm>
            <a:off x="9646920" y="1874520"/>
            <a:ext cx="57607" cy="57607"/>
          </a:xfrm>
          <a:prstGeom prst="rect">
            <a:avLst/>
          </a:prstGeom>
          <a:solidFill>
            <a:srgbClr val="EEA870"/>
          </a:solidFill>
          <a:ln/>
        </p:spPr>
      </p:sp>
      <p:sp>
        <p:nvSpPr>
          <p:cNvPr id="84" name="Shape 82"/>
          <p:cNvSpPr/>
          <p:nvPr/>
        </p:nvSpPr>
        <p:spPr>
          <a:xfrm>
            <a:off x="9715500" y="1874520"/>
            <a:ext cx="57607" cy="57607"/>
          </a:xfrm>
          <a:prstGeom prst="rect">
            <a:avLst/>
          </a:prstGeom>
          <a:solidFill>
            <a:srgbClr val="F2BE92"/>
          </a:solidFill>
          <a:ln/>
        </p:spPr>
      </p:sp>
      <p:sp>
        <p:nvSpPr>
          <p:cNvPr id="85" name="Shape 83"/>
          <p:cNvSpPr/>
          <p:nvPr/>
        </p:nvSpPr>
        <p:spPr>
          <a:xfrm>
            <a:off x="9784080" y="1874520"/>
            <a:ext cx="57607" cy="57607"/>
          </a:xfrm>
          <a:prstGeom prst="rect">
            <a:avLst/>
          </a:prstGeom>
          <a:solidFill>
            <a:srgbClr val="F2BE92"/>
          </a:solidFill>
          <a:ln/>
        </p:spPr>
      </p:sp>
      <p:sp>
        <p:nvSpPr>
          <p:cNvPr id="86" name="Shape 84"/>
          <p:cNvSpPr/>
          <p:nvPr/>
        </p:nvSpPr>
        <p:spPr>
          <a:xfrm>
            <a:off x="9852660" y="1874520"/>
            <a:ext cx="57607" cy="57607"/>
          </a:xfrm>
          <a:prstGeom prst="rect">
            <a:avLst/>
          </a:prstGeom>
          <a:solidFill>
            <a:srgbClr val="F2BE92"/>
          </a:solidFill>
          <a:ln/>
        </p:spPr>
      </p:sp>
      <p:sp>
        <p:nvSpPr>
          <p:cNvPr id="87" name="Shape 85"/>
          <p:cNvSpPr/>
          <p:nvPr/>
        </p:nvSpPr>
        <p:spPr>
          <a:xfrm>
            <a:off x="9921240" y="1874520"/>
            <a:ext cx="57607" cy="57607"/>
          </a:xfrm>
          <a:prstGeom prst="rect">
            <a:avLst/>
          </a:prstGeom>
          <a:solidFill>
            <a:srgbClr val="F2BE92"/>
          </a:solidFill>
          <a:ln/>
        </p:spPr>
      </p:sp>
      <p:sp>
        <p:nvSpPr>
          <p:cNvPr id="88" name="Shape 86"/>
          <p:cNvSpPr/>
          <p:nvPr/>
        </p:nvSpPr>
        <p:spPr>
          <a:xfrm>
            <a:off x="9989820" y="1874520"/>
            <a:ext cx="57607" cy="57607"/>
          </a:xfrm>
          <a:prstGeom prst="rect">
            <a:avLst/>
          </a:prstGeom>
          <a:solidFill>
            <a:srgbClr val="EEA870"/>
          </a:solidFill>
          <a:ln/>
        </p:spPr>
      </p:sp>
      <p:sp>
        <p:nvSpPr>
          <p:cNvPr id="89" name="Shape 87"/>
          <p:cNvSpPr/>
          <p:nvPr/>
        </p:nvSpPr>
        <p:spPr>
          <a:xfrm>
            <a:off x="10058400" y="1874520"/>
            <a:ext cx="57607" cy="57607"/>
          </a:xfrm>
          <a:prstGeom prst="rect">
            <a:avLst/>
          </a:prstGeom>
          <a:solidFill>
            <a:srgbClr val="F2BE92"/>
          </a:solidFill>
          <a:ln/>
        </p:spPr>
      </p:sp>
      <p:sp>
        <p:nvSpPr>
          <p:cNvPr id="90" name="Shape 88"/>
          <p:cNvSpPr/>
          <p:nvPr/>
        </p:nvSpPr>
        <p:spPr>
          <a:xfrm>
            <a:off x="10126980" y="1874520"/>
            <a:ext cx="57607" cy="57607"/>
          </a:xfrm>
          <a:prstGeom prst="rect">
            <a:avLst/>
          </a:prstGeom>
          <a:solidFill>
            <a:srgbClr val="F2BE92"/>
          </a:solidFill>
          <a:ln/>
        </p:spPr>
      </p:sp>
      <p:sp>
        <p:nvSpPr>
          <p:cNvPr id="91" name="Shape 89"/>
          <p:cNvSpPr/>
          <p:nvPr/>
        </p:nvSpPr>
        <p:spPr>
          <a:xfrm>
            <a:off x="10195560" y="1874520"/>
            <a:ext cx="57607" cy="57607"/>
          </a:xfrm>
          <a:prstGeom prst="rect">
            <a:avLst/>
          </a:prstGeom>
          <a:solidFill>
            <a:srgbClr val="F2BE92"/>
          </a:solidFill>
          <a:ln/>
        </p:spPr>
      </p:sp>
      <p:sp>
        <p:nvSpPr>
          <p:cNvPr id="92" name="Shape 90"/>
          <p:cNvSpPr/>
          <p:nvPr/>
        </p:nvSpPr>
        <p:spPr>
          <a:xfrm>
            <a:off x="10264140" y="1874520"/>
            <a:ext cx="57607" cy="57607"/>
          </a:xfrm>
          <a:prstGeom prst="rect">
            <a:avLst/>
          </a:prstGeom>
          <a:solidFill>
            <a:srgbClr val="F2BE92"/>
          </a:solidFill>
          <a:ln/>
        </p:spPr>
      </p:sp>
      <p:sp>
        <p:nvSpPr>
          <p:cNvPr id="93" name="Shape 91"/>
          <p:cNvSpPr/>
          <p:nvPr/>
        </p:nvSpPr>
        <p:spPr>
          <a:xfrm>
            <a:off x="10332720" y="1874520"/>
            <a:ext cx="57607" cy="57607"/>
          </a:xfrm>
          <a:prstGeom prst="rect">
            <a:avLst/>
          </a:prstGeom>
          <a:solidFill>
            <a:srgbClr val="EEA870"/>
          </a:solidFill>
          <a:ln/>
        </p:spPr>
      </p:sp>
      <p:sp>
        <p:nvSpPr>
          <p:cNvPr id="94" name="Shape 92"/>
          <p:cNvSpPr/>
          <p:nvPr/>
        </p:nvSpPr>
        <p:spPr>
          <a:xfrm>
            <a:off x="10401300" y="1874520"/>
            <a:ext cx="57607" cy="57607"/>
          </a:xfrm>
          <a:prstGeom prst="rect">
            <a:avLst/>
          </a:prstGeom>
          <a:solidFill>
            <a:srgbClr val="F2BE92"/>
          </a:solidFill>
          <a:ln/>
        </p:spPr>
      </p:sp>
      <p:sp>
        <p:nvSpPr>
          <p:cNvPr id="95" name="Shape 93"/>
          <p:cNvSpPr/>
          <p:nvPr/>
        </p:nvSpPr>
        <p:spPr>
          <a:xfrm>
            <a:off x="10469880" y="1874520"/>
            <a:ext cx="57607" cy="57607"/>
          </a:xfrm>
          <a:prstGeom prst="rect">
            <a:avLst/>
          </a:prstGeom>
          <a:solidFill>
            <a:srgbClr val="F2BE92"/>
          </a:solidFill>
          <a:ln/>
        </p:spPr>
      </p:sp>
      <p:sp>
        <p:nvSpPr>
          <p:cNvPr id="96" name="Shape 94"/>
          <p:cNvSpPr/>
          <p:nvPr/>
        </p:nvSpPr>
        <p:spPr>
          <a:xfrm>
            <a:off x="10538460" y="1874520"/>
            <a:ext cx="57607" cy="57607"/>
          </a:xfrm>
          <a:prstGeom prst="rect">
            <a:avLst/>
          </a:prstGeom>
          <a:solidFill>
            <a:srgbClr val="F2BE92"/>
          </a:solidFill>
          <a:ln/>
        </p:spPr>
      </p:sp>
      <p:sp>
        <p:nvSpPr>
          <p:cNvPr id="97" name="Shape 95"/>
          <p:cNvSpPr/>
          <p:nvPr/>
        </p:nvSpPr>
        <p:spPr>
          <a:xfrm>
            <a:off x="10607040" y="1874520"/>
            <a:ext cx="57607" cy="57607"/>
          </a:xfrm>
          <a:prstGeom prst="rect">
            <a:avLst/>
          </a:prstGeom>
          <a:solidFill>
            <a:srgbClr val="F2BE92"/>
          </a:solidFill>
          <a:ln/>
        </p:spPr>
      </p:sp>
      <p:sp>
        <p:nvSpPr>
          <p:cNvPr id="98" name="Shape 96"/>
          <p:cNvSpPr/>
          <p:nvPr/>
        </p:nvSpPr>
        <p:spPr>
          <a:xfrm>
            <a:off x="10675620" y="1874520"/>
            <a:ext cx="57607" cy="57607"/>
          </a:xfrm>
          <a:prstGeom prst="rect">
            <a:avLst/>
          </a:prstGeom>
          <a:solidFill>
            <a:srgbClr val="EEA870"/>
          </a:solidFill>
          <a:ln/>
        </p:spPr>
      </p:sp>
      <p:sp>
        <p:nvSpPr>
          <p:cNvPr id="99" name="Shape 97"/>
          <p:cNvSpPr/>
          <p:nvPr/>
        </p:nvSpPr>
        <p:spPr>
          <a:xfrm>
            <a:off x="9646920" y="1943100"/>
            <a:ext cx="57607" cy="57607"/>
          </a:xfrm>
          <a:prstGeom prst="rect">
            <a:avLst/>
          </a:prstGeom>
          <a:solidFill>
            <a:srgbClr val="F2BE92"/>
          </a:solidFill>
          <a:ln/>
        </p:spPr>
      </p:sp>
      <p:sp>
        <p:nvSpPr>
          <p:cNvPr id="100" name="Shape 98"/>
          <p:cNvSpPr/>
          <p:nvPr/>
        </p:nvSpPr>
        <p:spPr>
          <a:xfrm>
            <a:off x="9715500" y="1943100"/>
            <a:ext cx="57607" cy="57607"/>
          </a:xfrm>
          <a:prstGeom prst="rect">
            <a:avLst/>
          </a:prstGeom>
          <a:solidFill>
            <a:srgbClr val="F2BE92"/>
          </a:solidFill>
          <a:ln/>
        </p:spPr>
      </p:sp>
      <p:sp>
        <p:nvSpPr>
          <p:cNvPr id="101" name="Shape 99"/>
          <p:cNvSpPr/>
          <p:nvPr/>
        </p:nvSpPr>
        <p:spPr>
          <a:xfrm>
            <a:off x="9784080" y="1943100"/>
            <a:ext cx="57607" cy="57607"/>
          </a:xfrm>
          <a:prstGeom prst="rect">
            <a:avLst/>
          </a:prstGeom>
          <a:solidFill>
            <a:srgbClr val="F2BE92"/>
          </a:solidFill>
          <a:ln/>
        </p:spPr>
      </p:sp>
      <p:sp>
        <p:nvSpPr>
          <p:cNvPr id="102" name="Shape 100"/>
          <p:cNvSpPr/>
          <p:nvPr/>
        </p:nvSpPr>
        <p:spPr>
          <a:xfrm>
            <a:off x="9852660" y="1943100"/>
            <a:ext cx="57607" cy="57607"/>
          </a:xfrm>
          <a:prstGeom prst="rect">
            <a:avLst/>
          </a:prstGeom>
          <a:solidFill>
            <a:srgbClr val="F2BE92"/>
          </a:solidFill>
          <a:ln/>
        </p:spPr>
      </p:sp>
      <p:sp>
        <p:nvSpPr>
          <p:cNvPr id="103" name="Shape 101"/>
          <p:cNvSpPr/>
          <p:nvPr/>
        </p:nvSpPr>
        <p:spPr>
          <a:xfrm>
            <a:off x="9921240" y="1943100"/>
            <a:ext cx="57607" cy="57607"/>
          </a:xfrm>
          <a:prstGeom prst="rect">
            <a:avLst/>
          </a:prstGeom>
          <a:solidFill>
            <a:srgbClr val="EEA870"/>
          </a:solidFill>
          <a:ln/>
        </p:spPr>
      </p:sp>
      <p:sp>
        <p:nvSpPr>
          <p:cNvPr id="104" name="Shape 102"/>
          <p:cNvSpPr/>
          <p:nvPr/>
        </p:nvSpPr>
        <p:spPr>
          <a:xfrm>
            <a:off x="9989820" y="1943100"/>
            <a:ext cx="57607" cy="57607"/>
          </a:xfrm>
          <a:prstGeom prst="rect">
            <a:avLst/>
          </a:prstGeom>
          <a:solidFill>
            <a:srgbClr val="F2BE92"/>
          </a:solidFill>
          <a:ln/>
        </p:spPr>
      </p:sp>
      <p:sp>
        <p:nvSpPr>
          <p:cNvPr id="105" name="Shape 103"/>
          <p:cNvSpPr/>
          <p:nvPr/>
        </p:nvSpPr>
        <p:spPr>
          <a:xfrm>
            <a:off x="10058400" y="1943100"/>
            <a:ext cx="57607" cy="57607"/>
          </a:xfrm>
          <a:prstGeom prst="rect">
            <a:avLst/>
          </a:prstGeom>
          <a:solidFill>
            <a:srgbClr val="F2BE92"/>
          </a:solidFill>
          <a:ln/>
        </p:spPr>
      </p:sp>
      <p:sp>
        <p:nvSpPr>
          <p:cNvPr id="106" name="Shape 104"/>
          <p:cNvSpPr/>
          <p:nvPr/>
        </p:nvSpPr>
        <p:spPr>
          <a:xfrm>
            <a:off x="10126980" y="1943100"/>
            <a:ext cx="57607" cy="57607"/>
          </a:xfrm>
          <a:prstGeom prst="rect">
            <a:avLst/>
          </a:prstGeom>
          <a:solidFill>
            <a:srgbClr val="F2BE92"/>
          </a:solidFill>
          <a:ln/>
        </p:spPr>
      </p:sp>
      <p:sp>
        <p:nvSpPr>
          <p:cNvPr id="107" name="Shape 105"/>
          <p:cNvSpPr/>
          <p:nvPr/>
        </p:nvSpPr>
        <p:spPr>
          <a:xfrm>
            <a:off x="10195560" y="1943100"/>
            <a:ext cx="57607" cy="57607"/>
          </a:xfrm>
          <a:prstGeom prst="rect">
            <a:avLst/>
          </a:prstGeom>
          <a:solidFill>
            <a:srgbClr val="F2BE92"/>
          </a:solidFill>
          <a:ln/>
        </p:spPr>
      </p:sp>
      <p:sp>
        <p:nvSpPr>
          <p:cNvPr id="108" name="Shape 106"/>
          <p:cNvSpPr/>
          <p:nvPr/>
        </p:nvSpPr>
        <p:spPr>
          <a:xfrm>
            <a:off x="10264140" y="1943100"/>
            <a:ext cx="57607" cy="57607"/>
          </a:xfrm>
          <a:prstGeom prst="rect">
            <a:avLst/>
          </a:prstGeom>
          <a:solidFill>
            <a:srgbClr val="EEA870"/>
          </a:solidFill>
          <a:ln/>
        </p:spPr>
      </p:sp>
      <p:sp>
        <p:nvSpPr>
          <p:cNvPr id="109" name="Shape 107"/>
          <p:cNvSpPr/>
          <p:nvPr/>
        </p:nvSpPr>
        <p:spPr>
          <a:xfrm>
            <a:off x="10332720" y="1943100"/>
            <a:ext cx="57607" cy="57607"/>
          </a:xfrm>
          <a:prstGeom prst="rect">
            <a:avLst/>
          </a:prstGeom>
          <a:solidFill>
            <a:srgbClr val="F2BE92"/>
          </a:solidFill>
          <a:ln/>
        </p:spPr>
      </p:sp>
      <p:sp>
        <p:nvSpPr>
          <p:cNvPr id="110" name="Shape 108"/>
          <p:cNvSpPr/>
          <p:nvPr/>
        </p:nvSpPr>
        <p:spPr>
          <a:xfrm>
            <a:off x="10401300" y="1943100"/>
            <a:ext cx="57607" cy="57607"/>
          </a:xfrm>
          <a:prstGeom prst="rect">
            <a:avLst/>
          </a:prstGeom>
          <a:solidFill>
            <a:srgbClr val="F2BE92"/>
          </a:solidFill>
          <a:ln/>
        </p:spPr>
      </p:sp>
      <p:sp>
        <p:nvSpPr>
          <p:cNvPr id="111" name="Shape 109"/>
          <p:cNvSpPr/>
          <p:nvPr/>
        </p:nvSpPr>
        <p:spPr>
          <a:xfrm>
            <a:off x="10469880" y="1943100"/>
            <a:ext cx="57607" cy="57607"/>
          </a:xfrm>
          <a:prstGeom prst="rect">
            <a:avLst/>
          </a:prstGeom>
          <a:solidFill>
            <a:srgbClr val="F2BE92"/>
          </a:solidFill>
          <a:ln/>
        </p:spPr>
      </p:sp>
      <p:sp>
        <p:nvSpPr>
          <p:cNvPr id="112" name="Shape 110"/>
          <p:cNvSpPr/>
          <p:nvPr/>
        </p:nvSpPr>
        <p:spPr>
          <a:xfrm>
            <a:off x="10538460" y="1943100"/>
            <a:ext cx="57607" cy="57607"/>
          </a:xfrm>
          <a:prstGeom prst="rect">
            <a:avLst/>
          </a:prstGeom>
          <a:solidFill>
            <a:srgbClr val="F2BE92"/>
          </a:solidFill>
          <a:ln/>
        </p:spPr>
      </p:sp>
      <p:sp>
        <p:nvSpPr>
          <p:cNvPr id="113" name="Shape 111"/>
          <p:cNvSpPr/>
          <p:nvPr/>
        </p:nvSpPr>
        <p:spPr>
          <a:xfrm>
            <a:off x="10607040" y="1943100"/>
            <a:ext cx="57607" cy="57607"/>
          </a:xfrm>
          <a:prstGeom prst="rect">
            <a:avLst/>
          </a:prstGeom>
          <a:solidFill>
            <a:srgbClr val="EEA870"/>
          </a:solidFill>
          <a:ln/>
        </p:spPr>
      </p:sp>
      <p:sp>
        <p:nvSpPr>
          <p:cNvPr id="114" name="Shape 112"/>
          <p:cNvSpPr/>
          <p:nvPr/>
        </p:nvSpPr>
        <p:spPr>
          <a:xfrm>
            <a:off x="10675620" y="1943100"/>
            <a:ext cx="57607" cy="57607"/>
          </a:xfrm>
          <a:prstGeom prst="rect">
            <a:avLst/>
          </a:prstGeom>
          <a:solidFill>
            <a:srgbClr val="F2BE92"/>
          </a:solidFill>
          <a:ln/>
        </p:spPr>
      </p:sp>
      <p:sp>
        <p:nvSpPr>
          <p:cNvPr id="115" name="Shape 113"/>
          <p:cNvSpPr/>
          <p:nvPr/>
        </p:nvSpPr>
        <p:spPr>
          <a:xfrm>
            <a:off x="9646920" y="2011680"/>
            <a:ext cx="57607" cy="57607"/>
          </a:xfrm>
          <a:prstGeom prst="rect">
            <a:avLst/>
          </a:prstGeom>
          <a:solidFill>
            <a:srgbClr val="F2BE92"/>
          </a:solidFill>
          <a:ln/>
        </p:spPr>
      </p:sp>
      <p:sp>
        <p:nvSpPr>
          <p:cNvPr id="116" name="Shape 114"/>
          <p:cNvSpPr/>
          <p:nvPr/>
        </p:nvSpPr>
        <p:spPr>
          <a:xfrm>
            <a:off x="9715500" y="2011680"/>
            <a:ext cx="57607" cy="57607"/>
          </a:xfrm>
          <a:prstGeom prst="rect">
            <a:avLst/>
          </a:prstGeom>
          <a:solidFill>
            <a:srgbClr val="F2BE92"/>
          </a:solidFill>
          <a:ln/>
        </p:spPr>
      </p:sp>
      <p:sp>
        <p:nvSpPr>
          <p:cNvPr id="117" name="Shape 115"/>
          <p:cNvSpPr/>
          <p:nvPr/>
        </p:nvSpPr>
        <p:spPr>
          <a:xfrm>
            <a:off x="9784080" y="2011680"/>
            <a:ext cx="57607" cy="57607"/>
          </a:xfrm>
          <a:prstGeom prst="rect">
            <a:avLst/>
          </a:prstGeom>
          <a:solidFill>
            <a:srgbClr val="F2BE92"/>
          </a:solidFill>
          <a:ln/>
        </p:spPr>
      </p:sp>
      <p:sp>
        <p:nvSpPr>
          <p:cNvPr id="118" name="Shape 116"/>
          <p:cNvSpPr/>
          <p:nvPr/>
        </p:nvSpPr>
        <p:spPr>
          <a:xfrm>
            <a:off x="9852660" y="2011680"/>
            <a:ext cx="57607" cy="57607"/>
          </a:xfrm>
          <a:prstGeom prst="rect">
            <a:avLst/>
          </a:prstGeom>
          <a:solidFill>
            <a:srgbClr val="EEA870"/>
          </a:solidFill>
          <a:ln/>
        </p:spPr>
      </p:sp>
      <p:sp>
        <p:nvSpPr>
          <p:cNvPr id="119" name="Shape 117"/>
          <p:cNvSpPr/>
          <p:nvPr/>
        </p:nvSpPr>
        <p:spPr>
          <a:xfrm>
            <a:off x="9921240" y="2011680"/>
            <a:ext cx="57607" cy="57607"/>
          </a:xfrm>
          <a:prstGeom prst="rect">
            <a:avLst/>
          </a:prstGeom>
          <a:solidFill>
            <a:srgbClr val="F2BE92"/>
          </a:solidFill>
          <a:ln/>
        </p:spPr>
      </p:sp>
      <p:sp>
        <p:nvSpPr>
          <p:cNvPr id="120" name="Shape 118"/>
          <p:cNvSpPr/>
          <p:nvPr/>
        </p:nvSpPr>
        <p:spPr>
          <a:xfrm>
            <a:off x="9989820" y="2011680"/>
            <a:ext cx="57607" cy="57607"/>
          </a:xfrm>
          <a:prstGeom prst="rect">
            <a:avLst/>
          </a:prstGeom>
          <a:solidFill>
            <a:srgbClr val="F2BE92"/>
          </a:solidFill>
          <a:ln/>
        </p:spPr>
      </p:sp>
      <p:sp>
        <p:nvSpPr>
          <p:cNvPr id="121" name="Shape 119"/>
          <p:cNvSpPr/>
          <p:nvPr/>
        </p:nvSpPr>
        <p:spPr>
          <a:xfrm>
            <a:off x="10058400" y="2011680"/>
            <a:ext cx="57607" cy="57607"/>
          </a:xfrm>
          <a:prstGeom prst="rect">
            <a:avLst/>
          </a:prstGeom>
          <a:solidFill>
            <a:srgbClr val="F2BE92"/>
          </a:solidFill>
          <a:ln/>
        </p:spPr>
      </p:sp>
      <p:sp>
        <p:nvSpPr>
          <p:cNvPr id="122" name="Shape 120"/>
          <p:cNvSpPr/>
          <p:nvPr/>
        </p:nvSpPr>
        <p:spPr>
          <a:xfrm>
            <a:off x="10126980" y="2011680"/>
            <a:ext cx="57607" cy="57607"/>
          </a:xfrm>
          <a:prstGeom prst="rect">
            <a:avLst/>
          </a:prstGeom>
          <a:solidFill>
            <a:srgbClr val="F2BE92"/>
          </a:solidFill>
          <a:ln/>
        </p:spPr>
      </p:sp>
      <p:sp>
        <p:nvSpPr>
          <p:cNvPr id="123" name="Shape 121"/>
          <p:cNvSpPr/>
          <p:nvPr/>
        </p:nvSpPr>
        <p:spPr>
          <a:xfrm>
            <a:off x="10195560" y="2011680"/>
            <a:ext cx="57607" cy="57607"/>
          </a:xfrm>
          <a:prstGeom prst="rect">
            <a:avLst/>
          </a:prstGeom>
          <a:solidFill>
            <a:srgbClr val="EEA870"/>
          </a:solidFill>
          <a:ln/>
        </p:spPr>
      </p:sp>
      <p:sp>
        <p:nvSpPr>
          <p:cNvPr id="124" name="Shape 122"/>
          <p:cNvSpPr/>
          <p:nvPr/>
        </p:nvSpPr>
        <p:spPr>
          <a:xfrm>
            <a:off x="10264140" y="2011680"/>
            <a:ext cx="57607" cy="57607"/>
          </a:xfrm>
          <a:prstGeom prst="rect">
            <a:avLst/>
          </a:prstGeom>
          <a:solidFill>
            <a:srgbClr val="F2BE92"/>
          </a:solidFill>
          <a:ln/>
        </p:spPr>
      </p:sp>
      <p:sp>
        <p:nvSpPr>
          <p:cNvPr id="125" name="Shape 123"/>
          <p:cNvSpPr/>
          <p:nvPr/>
        </p:nvSpPr>
        <p:spPr>
          <a:xfrm>
            <a:off x="10332720" y="2011680"/>
            <a:ext cx="57607" cy="57607"/>
          </a:xfrm>
          <a:prstGeom prst="rect">
            <a:avLst/>
          </a:prstGeom>
          <a:solidFill>
            <a:srgbClr val="F2BE92"/>
          </a:solidFill>
          <a:ln/>
        </p:spPr>
      </p:sp>
      <p:sp>
        <p:nvSpPr>
          <p:cNvPr id="126" name="Shape 124"/>
          <p:cNvSpPr/>
          <p:nvPr/>
        </p:nvSpPr>
        <p:spPr>
          <a:xfrm>
            <a:off x="10401300" y="2011680"/>
            <a:ext cx="57607" cy="57607"/>
          </a:xfrm>
          <a:prstGeom prst="rect">
            <a:avLst/>
          </a:prstGeom>
          <a:solidFill>
            <a:srgbClr val="F2BE92"/>
          </a:solidFill>
          <a:ln/>
        </p:spPr>
      </p:sp>
      <p:sp>
        <p:nvSpPr>
          <p:cNvPr id="127" name="Shape 125"/>
          <p:cNvSpPr/>
          <p:nvPr/>
        </p:nvSpPr>
        <p:spPr>
          <a:xfrm>
            <a:off x="10469880" y="2011680"/>
            <a:ext cx="57607" cy="57607"/>
          </a:xfrm>
          <a:prstGeom prst="rect">
            <a:avLst/>
          </a:prstGeom>
          <a:solidFill>
            <a:srgbClr val="F2BE92"/>
          </a:solidFill>
          <a:ln/>
        </p:spPr>
      </p:sp>
      <p:sp>
        <p:nvSpPr>
          <p:cNvPr id="128" name="Shape 126"/>
          <p:cNvSpPr/>
          <p:nvPr/>
        </p:nvSpPr>
        <p:spPr>
          <a:xfrm>
            <a:off x="10538460" y="2011680"/>
            <a:ext cx="57607" cy="57607"/>
          </a:xfrm>
          <a:prstGeom prst="rect">
            <a:avLst/>
          </a:prstGeom>
          <a:solidFill>
            <a:srgbClr val="EEA870"/>
          </a:solidFill>
          <a:ln/>
        </p:spPr>
      </p:sp>
      <p:sp>
        <p:nvSpPr>
          <p:cNvPr id="129" name="Shape 127"/>
          <p:cNvSpPr/>
          <p:nvPr/>
        </p:nvSpPr>
        <p:spPr>
          <a:xfrm>
            <a:off x="10607040" y="2011680"/>
            <a:ext cx="57607" cy="57607"/>
          </a:xfrm>
          <a:prstGeom prst="rect">
            <a:avLst/>
          </a:prstGeom>
          <a:solidFill>
            <a:srgbClr val="F2BE92"/>
          </a:solidFill>
          <a:ln/>
        </p:spPr>
      </p:sp>
      <p:sp>
        <p:nvSpPr>
          <p:cNvPr id="130" name="Shape 128"/>
          <p:cNvSpPr/>
          <p:nvPr/>
        </p:nvSpPr>
        <p:spPr>
          <a:xfrm>
            <a:off x="10675620" y="2011680"/>
            <a:ext cx="57607" cy="57607"/>
          </a:xfrm>
          <a:prstGeom prst="rect">
            <a:avLst/>
          </a:prstGeom>
          <a:solidFill>
            <a:srgbClr val="F2BE92"/>
          </a:solidFill>
          <a:ln/>
        </p:spPr>
      </p:sp>
      <p:sp>
        <p:nvSpPr>
          <p:cNvPr id="131" name="Shape 129"/>
          <p:cNvSpPr/>
          <p:nvPr/>
        </p:nvSpPr>
        <p:spPr>
          <a:xfrm>
            <a:off x="9646920" y="2080260"/>
            <a:ext cx="57607" cy="57607"/>
          </a:xfrm>
          <a:prstGeom prst="rect">
            <a:avLst/>
          </a:prstGeom>
          <a:solidFill>
            <a:srgbClr val="F2BE92"/>
          </a:solidFill>
          <a:ln/>
        </p:spPr>
      </p:sp>
      <p:sp>
        <p:nvSpPr>
          <p:cNvPr id="132" name="Shape 130"/>
          <p:cNvSpPr/>
          <p:nvPr/>
        </p:nvSpPr>
        <p:spPr>
          <a:xfrm>
            <a:off x="9715500" y="2080260"/>
            <a:ext cx="57607" cy="57607"/>
          </a:xfrm>
          <a:prstGeom prst="rect">
            <a:avLst/>
          </a:prstGeom>
          <a:solidFill>
            <a:srgbClr val="F2BE92"/>
          </a:solidFill>
          <a:ln/>
        </p:spPr>
      </p:sp>
      <p:sp>
        <p:nvSpPr>
          <p:cNvPr id="133" name="Shape 131"/>
          <p:cNvSpPr/>
          <p:nvPr/>
        </p:nvSpPr>
        <p:spPr>
          <a:xfrm>
            <a:off x="9784080" y="2080260"/>
            <a:ext cx="57607" cy="57607"/>
          </a:xfrm>
          <a:prstGeom prst="rect">
            <a:avLst/>
          </a:prstGeom>
          <a:solidFill>
            <a:srgbClr val="EEA870"/>
          </a:solidFill>
          <a:ln/>
        </p:spPr>
      </p:sp>
      <p:sp>
        <p:nvSpPr>
          <p:cNvPr id="134" name="Shape 132"/>
          <p:cNvSpPr/>
          <p:nvPr/>
        </p:nvSpPr>
        <p:spPr>
          <a:xfrm>
            <a:off x="9852660" y="2080260"/>
            <a:ext cx="57607" cy="57607"/>
          </a:xfrm>
          <a:prstGeom prst="rect">
            <a:avLst/>
          </a:prstGeom>
          <a:solidFill>
            <a:srgbClr val="F2BE92"/>
          </a:solidFill>
          <a:ln/>
        </p:spPr>
      </p:sp>
      <p:sp>
        <p:nvSpPr>
          <p:cNvPr id="135" name="Shape 133"/>
          <p:cNvSpPr/>
          <p:nvPr/>
        </p:nvSpPr>
        <p:spPr>
          <a:xfrm>
            <a:off x="9921240" y="2080260"/>
            <a:ext cx="57607" cy="57607"/>
          </a:xfrm>
          <a:prstGeom prst="rect">
            <a:avLst/>
          </a:prstGeom>
          <a:solidFill>
            <a:srgbClr val="F2BE92"/>
          </a:solidFill>
          <a:ln/>
        </p:spPr>
      </p:sp>
      <p:sp>
        <p:nvSpPr>
          <p:cNvPr id="136" name="Shape 134"/>
          <p:cNvSpPr/>
          <p:nvPr/>
        </p:nvSpPr>
        <p:spPr>
          <a:xfrm>
            <a:off x="9989820" y="2080260"/>
            <a:ext cx="57607" cy="57607"/>
          </a:xfrm>
          <a:prstGeom prst="rect">
            <a:avLst/>
          </a:prstGeom>
          <a:solidFill>
            <a:srgbClr val="F2BE92"/>
          </a:solidFill>
          <a:ln/>
        </p:spPr>
      </p:sp>
      <p:sp>
        <p:nvSpPr>
          <p:cNvPr id="137" name="Shape 135"/>
          <p:cNvSpPr/>
          <p:nvPr/>
        </p:nvSpPr>
        <p:spPr>
          <a:xfrm>
            <a:off x="10058400" y="2080260"/>
            <a:ext cx="57607" cy="57607"/>
          </a:xfrm>
          <a:prstGeom prst="rect">
            <a:avLst/>
          </a:prstGeom>
          <a:solidFill>
            <a:srgbClr val="F2BE92"/>
          </a:solidFill>
          <a:ln/>
        </p:spPr>
      </p:sp>
      <p:sp>
        <p:nvSpPr>
          <p:cNvPr id="138" name="Shape 136"/>
          <p:cNvSpPr/>
          <p:nvPr/>
        </p:nvSpPr>
        <p:spPr>
          <a:xfrm>
            <a:off x="10126980" y="2080260"/>
            <a:ext cx="57607" cy="57607"/>
          </a:xfrm>
          <a:prstGeom prst="rect">
            <a:avLst/>
          </a:prstGeom>
          <a:solidFill>
            <a:srgbClr val="EEA870"/>
          </a:solidFill>
          <a:ln/>
        </p:spPr>
      </p:sp>
      <p:sp>
        <p:nvSpPr>
          <p:cNvPr id="139" name="Shape 137"/>
          <p:cNvSpPr/>
          <p:nvPr/>
        </p:nvSpPr>
        <p:spPr>
          <a:xfrm>
            <a:off x="10195560" y="2080260"/>
            <a:ext cx="57607" cy="57607"/>
          </a:xfrm>
          <a:prstGeom prst="rect">
            <a:avLst/>
          </a:prstGeom>
          <a:solidFill>
            <a:srgbClr val="F2BE92"/>
          </a:solidFill>
          <a:ln/>
        </p:spPr>
      </p:sp>
      <p:sp>
        <p:nvSpPr>
          <p:cNvPr id="140" name="Shape 138"/>
          <p:cNvSpPr/>
          <p:nvPr/>
        </p:nvSpPr>
        <p:spPr>
          <a:xfrm>
            <a:off x="10264140" y="2080260"/>
            <a:ext cx="57607" cy="57607"/>
          </a:xfrm>
          <a:prstGeom prst="rect">
            <a:avLst/>
          </a:prstGeom>
          <a:solidFill>
            <a:srgbClr val="F2BE92"/>
          </a:solidFill>
          <a:ln/>
        </p:spPr>
      </p:sp>
      <p:sp>
        <p:nvSpPr>
          <p:cNvPr id="141" name="Shape 139"/>
          <p:cNvSpPr/>
          <p:nvPr/>
        </p:nvSpPr>
        <p:spPr>
          <a:xfrm>
            <a:off x="10332720" y="2080260"/>
            <a:ext cx="57607" cy="57607"/>
          </a:xfrm>
          <a:prstGeom prst="rect">
            <a:avLst/>
          </a:prstGeom>
          <a:solidFill>
            <a:srgbClr val="F2BE92"/>
          </a:solidFill>
          <a:ln/>
        </p:spPr>
      </p:sp>
      <p:sp>
        <p:nvSpPr>
          <p:cNvPr id="142" name="Shape 140"/>
          <p:cNvSpPr/>
          <p:nvPr/>
        </p:nvSpPr>
        <p:spPr>
          <a:xfrm>
            <a:off x="10401300" y="2080260"/>
            <a:ext cx="57607" cy="57607"/>
          </a:xfrm>
          <a:prstGeom prst="rect">
            <a:avLst/>
          </a:prstGeom>
          <a:solidFill>
            <a:srgbClr val="F2BE92"/>
          </a:solidFill>
          <a:ln/>
        </p:spPr>
      </p:sp>
      <p:sp>
        <p:nvSpPr>
          <p:cNvPr id="143" name="Shape 141"/>
          <p:cNvSpPr/>
          <p:nvPr/>
        </p:nvSpPr>
        <p:spPr>
          <a:xfrm>
            <a:off x="10469880" y="2080260"/>
            <a:ext cx="57607" cy="57607"/>
          </a:xfrm>
          <a:prstGeom prst="rect">
            <a:avLst/>
          </a:prstGeom>
          <a:solidFill>
            <a:srgbClr val="EEA870"/>
          </a:solidFill>
          <a:ln/>
        </p:spPr>
      </p:sp>
      <p:sp>
        <p:nvSpPr>
          <p:cNvPr id="144" name="Shape 142"/>
          <p:cNvSpPr/>
          <p:nvPr/>
        </p:nvSpPr>
        <p:spPr>
          <a:xfrm>
            <a:off x="10538460" y="2080260"/>
            <a:ext cx="57607" cy="57607"/>
          </a:xfrm>
          <a:prstGeom prst="rect">
            <a:avLst/>
          </a:prstGeom>
          <a:solidFill>
            <a:srgbClr val="F2BE92"/>
          </a:solidFill>
          <a:ln/>
        </p:spPr>
      </p:sp>
      <p:sp>
        <p:nvSpPr>
          <p:cNvPr id="145" name="Shape 143"/>
          <p:cNvSpPr/>
          <p:nvPr/>
        </p:nvSpPr>
        <p:spPr>
          <a:xfrm>
            <a:off x="10607040" y="2080260"/>
            <a:ext cx="57607" cy="57607"/>
          </a:xfrm>
          <a:prstGeom prst="rect">
            <a:avLst/>
          </a:prstGeom>
          <a:solidFill>
            <a:srgbClr val="F2BE92"/>
          </a:solidFill>
          <a:ln/>
        </p:spPr>
      </p:sp>
      <p:sp>
        <p:nvSpPr>
          <p:cNvPr id="146" name="Shape 144"/>
          <p:cNvSpPr/>
          <p:nvPr/>
        </p:nvSpPr>
        <p:spPr>
          <a:xfrm>
            <a:off x="10675620" y="2080260"/>
            <a:ext cx="57607" cy="57607"/>
          </a:xfrm>
          <a:prstGeom prst="rect">
            <a:avLst/>
          </a:prstGeom>
          <a:solidFill>
            <a:srgbClr val="F2BE92"/>
          </a:solidFill>
          <a:ln/>
        </p:spPr>
      </p:sp>
      <p:sp>
        <p:nvSpPr>
          <p:cNvPr id="147" name="Shape 145"/>
          <p:cNvSpPr/>
          <p:nvPr/>
        </p:nvSpPr>
        <p:spPr>
          <a:xfrm>
            <a:off x="9646920" y="2148840"/>
            <a:ext cx="57607" cy="57607"/>
          </a:xfrm>
          <a:prstGeom prst="rect">
            <a:avLst/>
          </a:prstGeom>
          <a:solidFill>
            <a:srgbClr val="F2BE92"/>
          </a:solidFill>
          <a:ln/>
        </p:spPr>
      </p:sp>
      <p:sp>
        <p:nvSpPr>
          <p:cNvPr id="148" name="Shape 146"/>
          <p:cNvSpPr/>
          <p:nvPr/>
        </p:nvSpPr>
        <p:spPr>
          <a:xfrm>
            <a:off x="9715500" y="2148840"/>
            <a:ext cx="57607" cy="57607"/>
          </a:xfrm>
          <a:prstGeom prst="rect">
            <a:avLst/>
          </a:prstGeom>
          <a:solidFill>
            <a:srgbClr val="EEA870"/>
          </a:solidFill>
          <a:ln/>
        </p:spPr>
      </p:sp>
      <p:sp>
        <p:nvSpPr>
          <p:cNvPr id="149" name="Shape 147"/>
          <p:cNvSpPr/>
          <p:nvPr/>
        </p:nvSpPr>
        <p:spPr>
          <a:xfrm>
            <a:off x="9784080" y="2148840"/>
            <a:ext cx="57607" cy="57607"/>
          </a:xfrm>
          <a:prstGeom prst="rect">
            <a:avLst/>
          </a:prstGeom>
          <a:solidFill>
            <a:srgbClr val="F2BE92"/>
          </a:solidFill>
          <a:ln/>
        </p:spPr>
      </p:sp>
      <p:sp>
        <p:nvSpPr>
          <p:cNvPr id="150" name="Shape 148"/>
          <p:cNvSpPr/>
          <p:nvPr/>
        </p:nvSpPr>
        <p:spPr>
          <a:xfrm>
            <a:off x="9852660" y="2148840"/>
            <a:ext cx="57607" cy="57607"/>
          </a:xfrm>
          <a:prstGeom prst="rect">
            <a:avLst/>
          </a:prstGeom>
          <a:solidFill>
            <a:srgbClr val="F2BE92"/>
          </a:solidFill>
          <a:ln/>
        </p:spPr>
      </p:sp>
      <p:sp>
        <p:nvSpPr>
          <p:cNvPr id="151" name="Shape 149"/>
          <p:cNvSpPr/>
          <p:nvPr/>
        </p:nvSpPr>
        <p:spPr>
          <a:xfrm>
            <a:off x="9921240" y="2148840"/>
            <a:ext cx="57607" cy="57607"/>
          </a:xfrm>
          <a:prstGeom prst="rect">
            <a:avLst/>
          </a:prstGeom>
          <a:solidFill>
            <a:srgbClr val="F2BE92"/>
          </a:solidFill>
          <a:ln/>
        </p:spPr>
      </p:sp>
      <p:sp>
        <p:nvSpPr>
          <p:cNvPr id="152" name="Shape 150"/>
          <p:cNvSpPr/>
          <p:nvPr/>
        </p:nvSpPr>
        <p:spPr>
          <a:xfrm>
            <a:off x="9989820" y="2148840"/>
            <a:ext cx="57607" cy="57607"/>
          </a:xfrm>
          <a:prstGeom prst="rect">
            <a:avLst/>
          </a:prstGeom>
          <a:solidFill>
            <a:srgbClr val="F2BE92"/>
          </a:solidFill>
          <a:ln/>
        </p:spPr>
      </p:sp>
      <p:sp>
        <p:nvSpPr>
          <p:cNvPr id="153" name="Shape 151"/>
          <p:cNvSpPr/>
          <p:nvPr/>
        </p:nvSpPr>
        <p:spPr>
          <a:xfrm>
            <a:off x="10058400" y="2148840"/>
            <a:ext cx="57607" cy="57607"/>
          </a:xfrm>
          <a:prstGeom prst="rect">
            <a:avLst/>
          </a:prstGeom>
          <a:solidFill>
            <a:srgbClr val="EEA870"/>
          </a:solidFill>
          <a:ln/>
        </p:spPr>
      </p:sp>
      <p:sp>
        <p:nvSpPr>
          <p:cNvPr id="154" name="Shape 152"/>
          <p:cNvSpPr/>
          <p:nvPr/>
        </p:nvSpPr>
        <p:spPr>
          <a:xfrm>
            <a:off x="10126980" y="2148840"/>
            <a:ext cx="57607" cy="57607"/>
          </a:xfrm>
          <a:prstGeom prst="rect">
            <a:avLst/>
          </a:prstGeom>
          <a:solidFill>
            <a:srgbClr val="F2BE92"/>
          </a:solidFill>
          <a:ln/>
        </p:spPr>
      </p:sp>
      <p:sp>
        <p:nvSpPr>
          <p:cNvPr id="155" name="Shape 153"/>
          <p:cNvSpPr/>
          <p:nvPr/>
        </p:nvSpPr>
        <p:spPr>
          <a:xfrm>
            <a:off x="10195560" y="2148840"/>
            <a:ext cx="57607" cy="57607"/>
          </a:xfrm>
          <a:prstGeom prst="rect">
            <a:avLst/>
          </a:prstGeom>
          <a:solidFill>
            <a:srgbClr val="F2BE92"/>
          </a:solidFill>
          <a:ln/>
        </p:spPr>
      </p:sp>
      <p:sp>
        <p:nvSpPr>
          <p:cNvPr id="156" name="Shape 154"/>
          <p:cNvSpPr/>
          <p:nvPr/>
        </p:nvSpPr>
        <p:spPr>
          <a:xfrm>
            <a:off x="10264140" y="2148840"/>
            <a:ext cx="57607" cy="57607"/>
          </a:xfrm>
          <a:prstGeom prst="rect">
            <a:avLst/>
          </a:prstGeom>
          <a:solidFill>
            <a:srgbClr val="F2BE92"/>
          </a:solidFill>
          <a:ln/>
        </p:spPr>
      </p:sp>
      <p:sp>
        <p:nvSpPr>
          <p:cNvPr id="157" name="Shape 155"/>
          <p:cNvSpPr/>
          <p:nvPr/>
        </p:nvSpPr>
        <p:spPr>
          <a:xfrm>
            <a:off x="10332720" y="2148840"/>
            <a:ext cx="57607" cy="57607"/>
          </a:xfrm>
          <a:prstGeom prst="rect">
            <a:avLst/>
          </a:prstGeom>
          <a:solidFill>
            <a:srgbClr val="F2BE92"/>
          </a:solidFill>
          <a:ln/>
        </p:spPr>
      </p:sp>
      <p:sp>
        <p:nvSpPr>
          <p:cNvPr id="158" name="Shape 156"/>
          <p:cNvSpPr/>
          <p:nvPr/>
        </p:nvSpPr>
        <p:spPr>
          <a:xfrm>
            <a:off x="10401300" y="2148840"/>
            <a:ext cx="57607" cy="57607"/>
          </a:xfrm>
          <a:prstGeom prst="rect">
            <a:avLst/>
          </a:prstGeom>
          <a:solidFill>
            <a:srgbClr val="EEA870"/>
          </a:solidFill>
          <a:ln/>
        </p:spPr>
      </p:sp>
      <p:sp>
        <p:nvSpPr>
          <p:cNvPr id="159" name="Shape 157"/>
          <p:cNvSpPr/>
          <p:nvPr/>
        </p:nvSpPr>
        <p:spPr>
          <a:xfrm>
            <a:off x="10469880" y="2148840"/>
            <a:ext cx="57607" cy="57607"/>
          </a:xfrm>
          <a:prstGeom prst="rect">
            <a:avLst/>
          </a:prstGeom>
          <a:solidFill>
            <a:srgbClr val="F2BE92"/>
          </a:solidFill>
          <a:ln/>
        </p:spPr>
      </p:sp>
      <p:sp>
        <p:nvSpPr>
          <p:cNvPr id="160" name="Shape 158"/>
          <p:cNvSpPr/>
          <p:nvPr/>
        </p:nvSpPr>
        <p:spPr>
          <a:xfrm>
            <a:off x="10538460" y="2148840"/>
            <a:ext cx="57607" cy="57607"/>
          </a:xfrm>
          <a:prstGeom prst="rect">
            <a:avLst/>
          </a:prstGeom>
          <a:solidFill>
            <a:srgbClr val="F2BE92"/>
          </a:solidFill>
          <a:ln/>
        </p:spPr>
      </p:sp>
      <p:sp>
        <p:nvSpPr>
          <p:cNvPr id="161" name="Shape 159"/>
          <p:cNvSpPr/>
          <p:nvPr/>
        </p:nvSpPr>
        <p:spPr>
          <a:xfrm>
            <a:off x="10607040" y="2148840"/>
            <a:ext cx="57607" cy="57607"/>
          </a:xfrm>
          <a:prstGeom prst="rect">
            <a:avLst/>
          </a:prstGeom>
          <a:solidFill>
            <a:srgbClr val="F2BE92"/>
          </a:solidFill>
          <a:ln/>
        </p:spPr>
      </p:sp>
      <p:sp>
        <p:nvSpPr>
          <p:cNvPr id="162" name="Shape 160"/>
          <p:cNvSpPr/>
          <p:nvPr/>
        </p:nvSpPr>
        <p:spPr>
          <a:xfrm>
            <a:off x="10675620" y="2148840"/>
            <a:ext cx="57607" cy="57607"/>
          </a:xfrm>
          <a:prstGeom prst="rect">
            <a:avLst/>
          </a:prstGeom>
          <a:solidFill>
            <a:srgbClr val="F2BE92"/>
          </a:solidFill>
          <a:ln/>
        </p:spPr>
      </p:sp>
      <p:sp>
        <p:nvSpPr>
          <p:cNvPr id="163" name="Shape 161"/>
          <p:cNvSpPr/>
          <p:nvPr/>
        </p:nvSpPr>
        <p:spPr>
          <a:xfrm>
            <a:off x="9646920" y="2217420"/>
            <a:ext cx="57607" cy="57607"/>
          </a:xfrm>
          <a:prstGeom prst="rect">
            <a:avLst/>
          </a:prstGeom>
          <a:solidFill>
            <a:srgbClr val="EEA870"/>
          </a:solidFill>
          <a:ln/>
        </p:spPr>
      </p:sp>
      <p:sp>
        <p:nvSpPr>
          <p:cNvPr id="164" name="Shape 162"/>
          <p:cNvSpPr/>
          <p:nvPr/>
        </p:nvSpPr>
        <p:spPr>
          <a:xfrm>
            <a:off x="9715500" y="2217420"/>
            <a:ext cx="57607" cy="57607"/>
          </a:xfrm>
          <a:prstGeom prst="rect">
            <a:avLst/>
          </a:prstGeom>
          <a:solidFill>
            <a:srgbClr val="F2BE92"/>
          </a:solidFill>
          <a:ln/>
        </p:spPr>
      </p:sp>
      <p:sp>
        <p:nvSpPr>
          <p:cNvPr id="165" name="Shape 163"/>
          <p:cNvSpPr/>
          <p:nvPr/>
        </p:nvSpPr>
        <p:spPr>
          <a:xfrm>
            <a:off x="9784080" y="2217420"/>
            <a:ext cx="57607" cy="57607"/>
          </a:xfrm>
          <a:prstGeom prst="rect">
            <a:avLst/>
          </a:prstGeom>
          <a:solidFill>
            <a:srgbClr val="F2BE92"/>
          </a:solidFill>
          <a:ln/>
        </p:spPr>
      </p:sp>
      <p:sp>
        <p:nvSpPr>
          <p:cNvPr id="166" name="Shape 164"/>
          <p:cNvSpPr/>
          <p:nvPr/>
        </p:nvSpPr>
        <p:spPr>
          <a:xfrm>
            <a:off x="9852660" y="2217420"/>
            <a:ext cx="57607" cy="57607"/>
          </a:xfrm>
          <a:prstGeom prst="rect">
            <a:avLst/>
          </a:prstGeom>
          <a:solidFill>
            <a:srgbClr val="F2BE92"/>
          </a:solidFill>
          <a:ln/>
        </p:spPr>
      </p:sp>
      <p:sp>
        <p:nvSpPr>
          <p:cNvPr id="167" name="Shape 165"/>
          <p:cNvSpPr/>
          <p:nvPr/>
        </p:nvSpPr>
        <p:spPr>
          <a:xfrm>
            <a:off x="9921240" y="2217420"/>
            <a:ext cx="57607" cy="57607"/>
          </a:xfrm>
          <a:prstGeom prst="rect">
            <a:avLst/>
          </a:prstGeom>
          <a:solidFill>
            <a:srgbClr val="F2BE92"/>
          </a:solidFill>
          <a:ln/>
        </p:spPr>
      </p:sp>
      <p:sp>
        <p:nvSpPr>
          <p:cNvPr id="168" name="Shape 166"/>
          <p:cNvSpPr/>
          <p:nvPr/>
        </p:nvSpPr>
        <p:spPr>
          <a:xfrm>
            <a:off x="9989820" y="2217420"/>
            <a:ext cx="57607" cy="57607"/>
          </a:xfrm>
          <a:prstGeom prst="rect">
            <a:avLst/>
          </a:prstGeom>
          <a:solidFill>
            <a:srgbClr val="EEA870"/>
          </a:solidFill>
          <a:ln/>
        </p:spPr>
      </p:sp>
      <p:sp>
        <p:nvSpPr>
          <p:cNvPr id="169" name="Shape 167"/>
          <p:cNvSpPr/>
          <p:nvPr/>
        </p:nvSpPr>
        <p:spPr>
          <a:xfrm>
            <a:off x="10058400" y="2217420"/>
            <a:ext cx="57607" cy="57607"/>
          </a:xfrm>
          <a:prstGeom prst="rect">
            <a:avLst/>
          </a:prstGeom>
          <a:solidFill>
            <a:srgbClr val="F2BE92"/>
          </a:solidFill>
          <a:ln/>
        </p:spPr>
      </p:sp>
      <p:sp>
        <p:nvSpPr>
          <p:cNvPr id="170" name="Shape 168"/>
          <p:cNvSpPr/>
          <p:nvPr/>
        </p:nvSpPr>
        <p:spPr>
          <a:xfrm>
            <a:off x="10126980" y="2217420"/>
            <a:ext cx="57607" cy="57607"/>
          </a:xfrm>
          <a:prstGeom prst="rect">
            <a:avLst/>
          </a:prstGeom>
          <a:solidFill>
            <a:srgbClr val="F2BE92"/>
          </a:solidFill>
          <a:ln/>
        </p:spPr>
      </p:sp>
      <p:sp>
        <p:nvSpPr>
          <p:cNvPr id="171" name="Shape 169"/>
          <p:cNvSpPr/>
          <p:nvPr/>
        </p:nvSpPr>
        <p:spPr>
          <a:xfrm>
            <a:off x="10195560" y="2217420"/>
            <a:ext cx="57607" cy="57607"/>
          </a:xfrm>
          <a:prstGeom prst="rect">
            <a:avLst/>
          </a:prstGeom>
          <a:solidFill>
            <a:srgbClr val="F2BE92"/>
          </a:solidFill>
          <a:ln/>
        </p:spPr>
      </p:sp>
      <p:sp>
        <p:nvSpPr>
          <p:cNvPr id="172" name="Shape 170"/>
          <p:cNvSpPr/>
          <p:nvPr/>
        </p:nvSpPr>
        <p:spPr>
          <a:xfrm>
            <a:off x="10264140" y="2217420"/>
            <a:ext cx="57607" cy="57607"/>
          </a:xfrm>
          <a:prstGeom prst="rect">
            <a:avLst/>
          </a:prstGeom>
          <a:solidFill>
            <a:srgbClr val="F2BE92"/>
          </a:solidFill>
          <a:ln/>
        </p:spPr>
      </p:sp>
      <p:sp>
        <p:nvSpPr>
          <p:cNvPr id="173" name="Shape 171"/>
          <p:cNvSpPr/>
          <p:nvPr/>
        </p:nvSpPr>
        <p:spPr>
          <a:xfrm>
            <a:off x="10332720" y="2217420"/>
            <a:ext cx="57607" cy="57607"/>
          </a:xfrm>
          <a:prstGeom prst="rect">
            <a:avLst/>
          </a:prstGeom>
          <a:solidFill>
            <a:srgbClr val="EEA870"/>
          </a:solidFill>
          <a:ln/>
        </p:spPr>
      </p:sp>
      <p:sp>
        <p:nvSpPr>
          <p:cNvPr id="174" name="Shape 172"/>
          <p:cNvSpPr/>
          <p:nvPr/>
        </p:nvSpPr>
        <p:spPr>
          <a:xfrm>
            <a:off x="10401300" y="2217420"/>
            <a:ext cx="57607" cy="57607"/>
          </a:xfrm>
          <a:prstGeom prst="rect">
            <a:avLst/>
          </a:prstGeom>
          <a:solidFill>
            <a:srgbClr val="F2BE92"/>
          </a:solidFill>
          <a:ln/>
        </p:spPr>
      </p:sp>
      <p:sp>
        <p:nvSpPr>
          <p:cNvPr id="175" name="Shape 173"/>
          <p:cNvSpPr/>
          <p:nvPr/>
        </p:nvSpPr>
        <p:spPr>
          <a:xfrm>
            <a:off x="10469880" y="2217420"/>
            <a:ext cx="57607" cy="57607"/>
          </a:xfrm>
          <a:prstGeom prst="rect">
            <a:avLst/>
          </a:prstGeom>
          <a:solidFill>
            <a:srgbClr val="F2BE92"/>
          </a:solidFill>
          <a:ln/>
        </p:spPr>
      </p:sp>
      <p:sp>
        <p:nvSpPr>
          <p:cNvPr id="176" name="Shape 174"/>
          <p:cNvSpPr/>
          <p:nvPr/>
        </p:nvSpPr>
        <p:spPr>
          <a:xfrm>
            <a:off x="10538460" y="2217420"/>
            <a:ext cx="57607" cy="57607"/>
          </a:xfrm>
          <a:prstGeom prst="rect">
            <a:avLst/>
          </a:prstGeom>
          <a:solidFill>
            <a:srgbClr val="F2BE92"/>
          </a:solidFill>
          <a:ln/>
        </p:spPr>
      </p:sp>
      <p:sp>
        <p:nvSpPr>
          <p:cNvPr id="177" name="Shape 175"/>
          <p:cNvSpPr/>
          <p:nvPr/>
        </p:nvSpPr>
        <p:spPr>
          <a:xfrm>
            <a:off x="10607040" y="2217420"/>
            <a:ext cx="57607" cy="57607"/>
          </a:xfrm>
          <a:prstGeom prst="rect">
            <a:avLst/>
          </a:prstGeom>
          <a:solidFill>
            <a:srgbClr val="F2BE92"/>
          </a:solidFill>
          <a:ln/>
        </p:spPr>
      </p:sp>
      <p:sp>
        <p:nvSpPr>
          <p:cNvPr id="178" name="Shape 176"/>
          <p:cNvSpPr/>
          <p:nvPr/>
        </p:nvSpPr>
        <p:spPr>
          <a:xfrm>
            <a:off x="10675620" y="2217420"/>
            <a:ext cx="57607" cy="57607"/>
          </a:xfrm>
          <a:prstGeom prst="rect">
            <a:avLst/>
          </a:prstGeom>
          <a:solidFill>
            <a:srgbClr val="EEA870"/>
          </a:solidFill>
          <a:ln/>
        </p:spPr>
      </p:sp>
      <p:sp>
        <p:nvSpPr>
          <p:cNvPr id="179" name="Shape 177"/>
          <p:cNvSpPr/>
          <p:nvPr/>
        </p:nvSpPr>
        <p:spPr>
          <a:xfrm>
            <a:off x="9646920" y="2286000"/>
            <a:ext cx="57607" cy="57607"/>
          </a:xfrm>
          <a:prstGeom prst="rect">
            <a:avLst/>
          </a:prstGeom>
          <a:solidFill>
            <a:srgbClr val="F2BE92"/>
          </a:solidFill>
          <a:ln/>
        </p:spPr>
      </p:sp>
      <p:sp>
        <p:nvSpPr>
          <p:cNvPr id="180" name="Shape 178"/>
          <p:cNvSpPr/>
          <p:nvPr/>
        </p:nvSpPr>
        <p:spPr>
          <a:xfrm>
            <a:off x="9715500" y="2286000"/>
            <a:ext cx="57607" cy="57607"/>
          </a:xfrm>
          <a:prstGeom prst="rect">
            <a:avLst/>
          </a:prstGeom>
          <a:solidFill>
            <a:srgbClr val="F2BE92"/>
          </a:solidFill>
          <a:ln/>
        </p:spPr>
      </p:sp>
      <p:sp>
        <p:nvSpPr>
          <p:cNvPr id="181" name="Shape 179"/>
          <p:cNvSpPr/>
          <p:nvPr/>
        </p:nvSpPr>
        <p:spPr>
          <a:xfrm>
            <a:off x="9784080" y="2286000"/>
            <a:ext cx="57607" cy="57607"/>
          </a:xfrm>
          <a:prstGeom prst="rect">
            <a:avLst/>
          </a:prstGeom>
          <a:solidFill>
            <a:srgbClr val="F2BE92"/>
          </a:solidFill>
          <a:ln/>
        </p:spPr>
      </p:sp>
      <p:sp>
        <p:nvSpPr>
          <p:cNvPr id="182" name="Shape 180"/>
          <p:cNvSpPr/>
          <p:nvPr/>
        </p:nvSpPr>
        <p:spPr>
          <a:xfrm>
            <a:off x="9852660" y="2286000"/>
            <a:ext cx="57607" cy="57607"/>
          </a:xfrm>
          <a:prstGeom prst="rect">
            <a:avLst/>
          </a:prstGeom>
          <a:solidFill>
            <a:srgbClr val="F2BE92"/>
          </a:solidFill>
          <a:ln/>
        </p:spPr>
      </p:sp>
      <p:sp>
        <p:nvSpPr>
          <p:cNvPr id="183" name="Shape 181"/>
          <p:cNvSpPr/>
          <p:nvPr/>
        </p:nvSpPr>
        <p:spPr>
          <a:xfrm>
            <a:off x="9921240" y="2286000"/>
            <a:ext cx="57607" cy="57607"/>
          </a:xfrm>
          <a:prstGeom prst="rect">
            <a:avLst/>
          </a:prstGeom>
          <a:solidFill>
            <a:srgbClr val="EEA870"/>
          </a:solidFill>
          <a:ln/>
        </p:spPr>
      </p:sp>
      <p:sp>
        <p:nvSpPr>
          <p:cNvPr id="184" name="Shape 182"/>
          <p:cNvSpPr/>
          <p:nvPr/>
        </p:nvSpPr>
        <p:spPr>
          <a:xfrm>
            <a:off x="9989820" y="2286000"/>
            <a:ext cx="57607" cy="57607"/>
          </a:xfrm>
          <a:prstGeom prst="rect">
            <a:avLst/>
          </a:prstGeom>
          <a:solidFill>
            <a:srgbClr val="F2BE92"/>
          </a:solidFill>
          <a:ln/>
        </p:spPr>
      </p:sp>
      <p:sp>
        <p:nvSpPr>
          <p:cNvPr id="185" name="Shape 183"/>
          <p:cNvSpPr/>
          <p:nvPr/>
        </p:nvSpPr>
        <p:spPr>
          <a:xfrm>
            <a:off x="10058400" y="2286000"/>
            <a:ext cx="57607" cy="57607"/>
          </a:xfrm>
          <a:prstGeom prst="rect">
            <a:avLst/>
          </a:prstGeom>
          <a:solidFill>
            <a:srgbClr val="F2BE92"/>
          </a:solidFill>
          <a:ln/>
        </p:spPr>
      </p:sp>
      <p:sp>
        <p:nvSpPr>
          <p:cNvPr id="186" name="Shape 184"/>
          <p:cNvSpPr/>
          <p:nvPr/>
        </p:nvSpPr>
        <p:spPr>
          <a:xfrm>
            <a:off x="10126980" y="2286000"/>
            <a:ext cx="57607" cy="57607"/>
          </a:xfrm>
          <a:prstGeom prst="rect">
            <a:avLst/>
          </a:prstGeom>
          <a:solidFill>
            <a:srgbClr val="F2BE92"/>
          </a:solidFill>
          <a:ln/>
        </p:spPr>
      </p:sp>
      <p:sp>
        <p:nvSpPr>
          <p:cNvPr id="187" name="Shape 185"/>
          <p:cNvSpPr/>
          <p:nvPr/>
        </p:nvSpPr>
        <p:spPr>
          <a:xfrm>
            <a:off x="10195560" y="2286000"/>
            <a:ext cx="57607" cy="57607"/>
          </a:xfrm>
          <a:prstGeom prst="rect">
            <a:avLst/>
          </a:prstGeom>
          <a:solidFill>
            <a:srgbClr val="F2BE92"/>
          </a:solidFill>
          <a:ln/>
        </p:spPr>
      </p:sp>
      <p:sp>
        <p:nvSpPr>
          <p:cNvPr id="188" name="Shape 186"/>
          <p:cNvSpPr/>
          <p:nvPr/>
        </p:nvSpPr>
        <p:spPr>
          <a:xfrm>
            <a:off x="10264140" y="2286000"/>
            <a:ext cx="57607" cy="57607"/>
          </a:xfrm>
          <a:prstGeom prst="rect">
            <a:avLst/>
          </a:prstGeom>
          <a:solidFill>
            <a:srgbClr val="EEA870"/>
          </a:solidFill>
          <a:ln/>
        </p:spPr>
      </p:sp>
      <p:sp>
        <p:nvSpPr>
          <p:cNvPr id="189" name="Shape 187"/>
          <p:cNvSpPr/>
          <p:nvPr/>
        </p:nvSpPr>
        <p:spPr>
          <a:xfrm>
            <a:off x="10332720" y="2286000"/>
            <a:ext cx="57607" cy="57607"/>
          </a:xfrm>
          <a:prstGeom prst="rect">
            <a:avLst/>
          </a:prstGeom>
          <a:solidFill>
            <a:srgbClr val="F2BE92"/>
          </a:solidFill>
          <a:ln/>
        </p:spPr>
      </p:sp>
      <p:sp>
        <p:nvSpPr>
          <p:cNvPr id="190" name="Shape 188"/>
          <p:cNvSpPr/>
          <p:nvPr/>
        </p:nvSpPr>
        <p:spPr>
          <a:xfrm>
            <a:off x="10401300" y="2286000"/>
            <a:ext cx="57607" cy="57607"/>
          </a:xfrm>
          <a:prstGeom prst="rect">
            <a:avLst/>
          </a:prstGeom>
          <a:solidFill>
            <a:srgbClr val="F2BE92"/>
          </a:solidFill>
          <a:ln/>
        </p:spPr>
      </p:sp>
      <p:sp>
        <p:nvSpPr>
          <p:cNvPr id="191" name="Shape 189"/>
          <p:cNvSpPr/>
          <p:nvPr/>
        </p:nvSpPr>
        <p:spPr>
          <a:xfrm>
            <a:off x="10469880" y="2286000"/>
            <a:ext cx="57607" cy="57607"/>
          </a:xfrm>
          <a:prstGeom prst="rect">
            <a:avLst/>
          </a:prstGeom>
          <a:solidFill>
            <a:srgbClr val="F2BE92"/>
          </a:solidFill>
          <a:ln/>
        </p:spPr>
      </p:sp>
      <p:sp>
        <p:nvSpPr>
          <p:cNvPr id="192" name="Shape 190"/>
          <p:cNvSpPr/>
          <p:nvPr/>
        </p:nvSpPr>
        <p:spPr>
          <a:xfrm>
            <a:off x="10538460" y="2286000"/>
            <a:ext cx="57607" cy="57607"/>
          </a:xfrm>
          <a:prstGeom prst="rect">
            <a:avLst/>
          </a:prstGeom>
          <a:solidFill>
            <a:srgbClr val="F2BE92"/>
          </a:solidFill>
          <a:ln/>
        </p:spPr>
      </p:sp>
      <p:sp>
        <p:nvSpPr>
          <p:cNvPr id="193" name="Shape 191"/>
          <p:cNvSpPr/>
          <p:nvPr/>
        </p:nvSpPr>
        <p:spPr>
          <a:xfrm>
            <a:off x="10607040" y="2286000"/>
            <a:ext cx="57607" cy="57607"/>
          </a:xfrm>
          <a:prstGeom prst="rect">
            <a:avLst/>
          </a:prstGeom>
          <a:solidFill>
            <a:srgbClr val="EEA870"/>
          </a:solidFill>
          <a:ln/>
        </p:spPr>
      </p:sp>
      <p:sp>
        <p:nvSpPr>
          <p:cNvPr id="194" name="Shape 192"/>
          <p:cNvSpPr/>
          <p:nvPr/>
        </p:nvSpPr>
        <p:spPr>
          <a:xfrm>
            <a:off x="10675620" y="2286000"/>
            <a:ext cx="57607" cy="57607"/>
          </a:xfrm>
          <a:prstGeom prst="rect">
            <a:avLst/>
          </a:prstGeom>
          <a:solidFill>
            <a:srgbClr val="F2BE92"/>
          </a:solidFill>
          <a:ln/>
        </p:spPr>
      </p:sp>
      <p:sp>
        <p:nvSpPr>
          <p:cNvPr id="195" name="Shape 193"/>
          <p:cNvSpPr/>
          <p:nvPr/>
        </p:nvSpPr>
        <p:spPr>
          <a:xfrm>
            <a:off x="9646920" y="2354580"/>
            <a:ext cx="57607" cy="57607"/>
          </a:xfrm>
          <a:prstGeom prst="rect">
            <a:avLst/>
          </a:prstGeom>
          <a:solidFill>
            <a:srgbClr val="F2BE92"/>
          </a:solidFill>
          <a:ln/>
        </p:spPr>
      </p:sp>
      <p:sp>
        <p:nvSpPr>
          <p:cNvPr id="196" name="Shape 194"/>
          <p:cNvSpPr/>
          <p:nvPr/>
        </p:nvSpPr>
        <p:spPr>
          <a:xfrm>
            <a:off x="9715500" y="2354580"/>
            <a:ext cx="57607" cy="57607"/>
          </a:xfrm>
          <a:prstGeom prst="rect">
            <a:avLst/>
          </a:prstGeom>
          <a:solidFill>
            <a:srgbClr val="F2BE92"/>
          </a:solidFill>
          <a:ln/>
        </p:spPr>
      </p:sp>
      <p:sp>
        <p:nvSpPr>
          <p:cNvPr id="197" name="Shape 195"/>
          <p:cNvSpPr/>
          <p:nvPr/>
        </p:nvSpPr>
        <p:spPr>
          <a:xfrm>
            <a:off x="9784080" y="2354580"/>
            <a:ext cx="57607" cy="57607"/>
          </a:xfrm>
          <a:prstGeom prst="rect">
            <a:avLst/>
          </a:prstGeom>
          <a:solidFill>
            <a:srgbClr val="F2BE92"/>
          </a:solidFill>
          <a:ln/>
        </p:spPr>
      </p:sp>
      <p:sp>
        <p:nvSpPr>
          <p:cNvPr id="198" name="Shape 196"/>
          <p:cNvSpPr/>
          <p:nvPr/>
        </p:nvSpPr>
        <p:spPr>
          <a:xfrm>
            <a:off x="9852660" y="2354580"/>
            <a:ext cx="57607" cy="57607"/>
          </a:xfrm>
          <a:prstGeom prst="rect">
            <a:avLst/>
          </a:prstGeom>
          <a:solidFill>
            <a:srgbClr val="EEA870"/>
          </a:solidFill>
          <a:ln/>
        </p:spPr>
      </p:sp>
      <p:sp>
        <p:nvSpPr>
          <p:cNvPr id="199" name="Shape 197"/>
          <p:cNvSpPr/>
          <p:nvPr/>
        </p:nvSpPr>
        <p:spPr>
          <a:xfrm>
            <a:off x="9921240" y="2354580"/>
            <a:ext cx="57607" cy="57607"/>
          </a:xfrm>
          <a:prstGeom prst="rect">
            <a:avLst/>
          </a:prstGeom>
          <a:solidFill>
            <a:srgbClr val="F2BE92"/>
          </a:solidFill>
          <a:ln/>
        </p:spPr>
      </p:sp>
      <p:sp>
        <p:nvSpPr>
          <p:cNvPr id="200" name="Shape 198"/>
          <p:cNvSpPr/>
          <p:nvPr/>
        </p:nvSpPr>
        <p:spPr>
          <a:xfrm>
            <a:off x="9989820" y="2354580"/>
            <a:ext cx="57607" cy="57607"/>
          </a:xfrm>
          <a:prstGeom prst="rect">
            <a:avLst/>
          </a:prstGeom>
          <a:solidFill>
            <a:srgbClr val="F2BE92"/>
          </a:solidFill>
          <a:ln/>
        </p:spPr>
      </p:sp>
      <p:sp>
        <p:nvSpPr>
          <p:cNvPr id="201" name="Shape 199"/>
          <p:cNvSpPr/>
          <p:nvPr/>
        </p:nvSpPr>
        <p:spPr>
          <a:xfrm>
            <a:off x="10058400" y="2354580"/>
            <a:ext cx="57607" cy="57607"/>
          </a:xfrm>
          <a:prstGeom prst="rect">
            <a:avLst/>
          </a:prstGeom>
          <a:solidFill>
            <a:srgbClr val="F2BE92"/>
          </a:solidFill>
          <a:ln/>
        </p:spPr>
      </p:sp>
      <p:sp>
        <p:nvSpPr>
          <p:cNvPr id="202" name="Shape 200"/>
          <p:cNvSpPr/>
          <p:nvPr/>
        </p:nvSpPr>
        <p:spPr>
          <a:xfrm>
            <a:off x="10126980" y="2354580"/>
            <a:ext cx="57607" cy="57607"/>
          </a:xfrm>
          <a:prstGeom prst="rect">
            <a:avLst/>
          </a:prstGeom>
          <a:solidFill>
            <a:srgbClr val="F2BE92"/>
          </a:solidFill>
          <a:ln/>
        </p:spPr>
      </p:sp>
      <p:sp>
        <p:nvSpPr>
          <p:cNvPr id="203" name="Shape 201"/>
          <p:cNvSpPr/>
          <p:nvPr/>
        </p:nvSpPr>
        <p:spPr>
          <a:xfrm>
            <a:off x="10195560" y="2354580"/>
            <a:ext cx="57607" cy="57607"/>
          </a:xfrm>
          <a:prstGeom prst="rect">
            <a:avLst/>
          </a:prstGeom>
          <a:solidFill>
            <a:srgbClr val="EEA870"/>
          </a:solidFill>
          <a:ln/>
        </p:spPr>
      </p:sp>
      <p:sp>
        <p:nvSpPr>
          <p:cNvPr id="204" name="Shape 202"/>
          <p:cNvSpPr/>
          <p:nvPr/>
        </p:nvSpPr>
        <p:spPr>
          <a:xfrm>
            <a:off x="10264140" y="2354580"/>
            <a:ext cx="57607" cy="57607"/>
          </a:xfrm>
          <a:prstGeom prst="rect">
            <a:avLst/>
          </a:prstGeom>
          <a:solidFill>
            <a:srgbClr val="F2BE92"/>
          </a:solidFill>
          <a:ln/>
        </p:spPr>
      </p:sp>
      <p:sp>
        <p:nvSpPr>
          <p:cNvPr id="205" name="Shape 203"/>
          <p:cNvSpPr/>
          <p:nvPr/>
        </p:nvSpPr>
        <p:spPr>
          <a:xfrm>
            <a:off x="10332720" y="2354580"/>
            <a:ext cx="57607" cy="57607"/>
          </a:xfrm>
          <a:prstGeom prst="rect">
            <a:avLst/>
          </a:prstGeom>
          <a:solidFill>
            <a:srgbClr val="F2BE92"/>
          </a:solidFill>
          <a:ln/>
        </p:spPr>
      </p:sp>
      <p:sp>
        <p:nvSpPr>
          <p:cNvPr id="206" name="Shape 204"/>
          <p:cNvSpPr/>
          <p:nvPr/>
        </p:nvSpPr>
        <p:spPr>
          <a:xfrm>
            <a:off x="10401300" y="2354580"/>
            <a:ext cx="57607" cy="57607"/>
          </a:xfrm>
          <a:prstGeom prst="rect">
            <a:avLst/>
          </a:prstGeom>
          <a:solidFill>
            <a:srgbClr val="F2BE92"/>
          </a:solidFill>
          <a:ln/>
        </p:spPr>
      </p:sp>
      <p:sp>
        <p:nvSpPr>
          <p:cNvPr id="207" name="Shape 205"/>
          <p:cNvSpPr/>
          <p:nvPr/>
        </p:nvSpPr>
        <p:spPr>
          <a:xfrm>
            <a:off x="10469880" y="2354580"/>
            <a:ext cx="57607" cy="57607"/>
          </a:xfrm>
          <a:prstGeom prst="rect">
            <a:avLst/>
          </a:prstGeom>
          <a:solidFill>
            <a:srgbClr val="F2BE92"/>
          </a:solidFill>
          <a:ln/>
        </p:spPr>
      </p:sp>
      <p:sp>
        <p:nvSpPr>
          <p:cNvPr id="208" name="Shape 206"/>
          <p:cNvSpPr/>
          <p:nvPr/>
        </p:nvSpPr>
        <p:spPr>
          <a:xfrm>
            <a:off x="10538460" y="2354580"/>
            <a:ext cx="57607" cy="57607"/>
          </a:xfrm>
          <a:prstGeom prst="rect">
            <a:avLst/>
          </a:prstGeom>
          <a:solidFill>
            <a:srgbClr val="EEA870"/>
          </a:solidFill>
          <a:ln/>
        </p:spPr>
      </p:sp>
      <p:sp>
        <p:nvSpPr>
          <p:cNvPr id="209" name="Shape 207"/>
          <p:cNvSpPr/>
          <p:nvPr/>
        </p:nvSpPr>
        <p:spPr>
          <a:xfrm>
            <a:off x="10607040" y="2354580"/>
            <a:ext cx="57607" cy="57607"/>
          </a:xfrm>
          <a:prstGeom prst="rect">
            <a:avLst/>
          </a:prstGeom>
          <a:solidFill>
            <a:srgbClr val="F2BE92"/>
          </a:solidFill>
          <a:ln/>
        </p:spPr>
      </p:sp>
      <p:sp>
        <p:nvSpPr>
          <p:cNvPr id="210" name="Shape 208"/>
          <p:cNvSpPr/>
          <p:nvPr/>
        </p:nvSpPr>
        <p:spPr>
          <a:xfrm>
            <a:off x="10675620" y="2354580"/>
            <a:ext cx="57607" cy="57607"/>
          </a:xfrm>
          <a:prstGeom prst="rect">
            <a:avLst/>
          </a:prstGeom>
          <a:solidFill>
            <a:srgbClr val="F2BE92"/>
          </a:solidFill>
          <a:ln/>
        </p:spPr>
      </p:sp>
      <p:sp>
        <p:nvSpPr>
          <p:cNvPr id="211" name="Shape 209"/>
          <p:cNvSpPr/>
          <p:nvPr/>
        </p:nvSpPr>
        <p:spPr>
          <a:xfrm>
            <a:off x="9646920" y="2423160"/>
            <a:ext cx="57607" cy="57607"/>
          </a:xfrm>
          <a:prstGeom prst="rect">
            <a:avLst/>
          </a:prstGeom>
          <a:solidFill>
            <a:srgbClr val="F2BE92"/>
          </a:solidFill>
          <a:ln/>
        </p:spPr>
      </p:sp>
      <p:sp>
        <p:nvSpPr>
          <p:cNvPr id="212" name="Shape 210"/>
          <p:cNvSpPr/>
          <p:nvPr/>
        </p:nvSpPr>
        <p:spPr>
          <a:xfrm>
            <a:off x="9715500" y="2423160"/>
            <a:ext cx="57607" cy="57607"/>
          </a:xfrm>
          <a:prstGeom prst="rect">
            <a:avLst/>
          </a:prstGeom>
          <a:solidFill>
            <a:srgbClr val="F2BE92"/>
          </a:solidFill>
          <a:ln/>
        </p:spPr>
      </p:sp>
      <p:sp>
        <p:nvSpPr>
          <p:cNvPr id="213" name="Shape 211"/>
          <p:cNvSpPr/>
          <p:nvPr/>
        </p:nvSpPr>
        <p:spPr>
          <a:xfrm>
            <a:off x="9784080" y="2423160"/>
            <a:ext cx="57607" cy="57607"/>
          </a:xfrm>
          <a:prstGeom prst="rect">
            <a:avLst/>
          </a:prstGeom>
          <a:solidFill>
            <a:srgbClr val="EEA870"/>
          </a:solidFill>
          <a:ln/>
        </p:spPr>
      </p:sp>
      <p:sp>
        <p:nvSpPr>
          <p:cNvPr id="214" name="Shape 212"/>
          <p:cNvSpPr/>
          <p:nvPr/>
        </p:nvSpPr>
        <p:spPr>
          <a:xfrm>
            <a:off x="9852660" y="2423160"/>
            <a:ext cx="57607" cy="57607"/>
          </a:xfrm>
          <a:prstGeom prst="rect">
            <a:avLst/>
          </a:prstGeom>
          <a:solidFill>
            <a:srgbClr val="F2BE92"/>
          </a:solidFill>
          <a:ln/>
        </p:spPr>
      </p:sp>
      <p:sp>
        <p:nvSpPr>
          <p:cNvPr id="215" name="Shape 213"/>
          <p:cNvSpPr/>
          <p:nvPr/>
        </p:nvSpPr>
        <p:spPr>
          <a:xfrm>
            <a:off x="9921240" y="2423160"/>
            <a:ext cx="57607" cy="57607"/>
          </a:xfrm>
          <a:prstGeom prst="rect">
            <a:avLst/>
          </a:prstGeom>
          <a:solidFill>
            <a:srgbClr val="F2BE92"/>
          </a:solidFill>
          <a:ln/>
        </p:spPr>
      </p:sp>
      <p:sp>
        <p:nvSpPr>
          <p:cNvPr id="216" name="Shape 214"/>
          <p:cNvSpPr/>
          <p:nvPr/>
        </p:nvSpPr>
        <p:spPr>
          <a:xfrm>
            <a:off x="9989820" y="2423160"/>
            <a:ext cx="57607" cy="57607"/>
          </a:xfrm>
          <a:prstGeom prst="rect">
            <a:avLst/>
          </a:prstGeom>
          <a:solidFill>
            <a:srgbClr val="F2BE92"/>
          </a:solidFill>
          <a:ln/>
        </p:spPr>
      </p:sp>
      <p:sp>
        <p:nvSpPr>
          <p:cNvPr id="217" name="Shape 215"/>
          <p:cNvSpPr/>
          <p:nvPr/>
        </p:nvSpPr>
        <p:spPr>
          <a:xfrm>
            <a:off x="10058400" y="2423160"/>
            <a:ext cx="57607" cy="57607"/>
          </a:xfrm>
          <a:prstGeom prst="rect">
            <a:avLst/>
          </a:prstGeom>
          <a:solidFill>
            <a:srgbClr val="F2BE92"/>
          </a:solidFill>
          <a:ln/>
        </p:spPr>
      </p:sp>
      <p:sp>
        <p:nvSpPr>
          <p:cNvPr id="218" name="Shape 216"/>
          <p:cNvSpPr/>
          <p:nvPr/>
        </p:nvSpPr>
        <p:spPr>
          <a:xfrm>
            <a:off x="10126980" y="2423160"/>
            <a:ext cx="57607" cy="57607"/>
          </a:xfrm>
          <a:prstGeom prst="rect">
            <a:avLst/>
          </a:prstGeom>
          <a:solidFill>
            <a:srgbClr val="EEA870"/>
          </a:solidFill>
          <a:ln/>
        </p:spPr>
      </p:sp>
      <p:sp>
        <p:nvSpPr>
          <p:cNvPr id="219" name="Shape 217"/>
          <p:cNvSpPr/>
          <p:nvPr/>
        </p:nvSpPr>
        <p:spPr>
          <a:xfrm>
            <a:off x="10195560" y="2423160"/>
            <a:ext cx="57607" cy="57607"/>
          </a:xfrm>
          <a:prstGeom prst="rect">
            <a:avLst/>
          </a:prstGeom>
          <a:solidFill>
            <a:srgbClr val="F2BE92"/>
          </a:solidFill>
          <a:ln/>
        </p:spPr>
      </p:sp>
      <p:sp>
        <p:nvSpPr>
          <p:cNvPr id="220" name="Shape 218"/>
          <p:cNvSpPr/>
          <p:nvPr/>
        </p:nvSpPr>
        <p:spPr>
          <a:xfrm>
            <a:off x="10264140" y="2423160"/>
            <a:ext cx="57607" cy="57607"/>
          </a:xfrm>
          <a:prstGeom prst="rect">
            <a:avLst/>
          </a:prstGeom>
          <a:solidFill>
            <a:srgbClr val="F2BE92"/>
          </a:solidFill>
          <a:ln/>
        </p:spPr>
      </p:sp>
      <p:sp>
        <p:nvSpPr>
          <p:cNvPr id="221" name="Shape 219"/>
          <p:cNvSpPr/>
          <p:nvPr/>
        </p:nvSpPr>
        <p:spPr>
          <a:xfrm>
            <a:off x="10332720" y="2423160"/>
            <a:ext cx="57607" cy="57607"/>
          </a:xfrm>
          <a:prstGeom prst="rect">
            <a:avLst/>
          </a:prstGeom>
          <a:solidFill>
            <a:srgbClr val="F2BE92"/>
          </a:solidFill>
          <a:ln/>
        </p:spPr>
      </p:sp>
      <p:sp>
        <p:nvSpPr>
          <p:cNvPr id="222" name="Shape 220"/>
          <p:cNvSpPr/>
          <p:nvPr/>
        </p:nvSpPr>
        <p:spPr>
          <a:xfrm>
            <a:off x="10401300" y="2423160"/>
            <a:ext cx="57607" cy="57607"/>
          </a:xfrm>
          <a:prstGeom prst="rect">
            <a:avLst/>
          </a:prstGeom>
          <a:solidFill>
            <a:srgbClr val="F2BE92"/>
          </a:solidFill>
          <a:ln/>
        </p:spPr>
      </p:sp>
      <p:sp>
        <p:nvSpPr>
          <p:cNvPr id="223" name="Shape 221"/>
          <p:cNvSpPr/>
          <p:nvPr/>
        </p:nvSpPr>
        <p:spPr>
          <a:xfrm>
            <a:off x="10469880" y="2423160"/>
            <a:ext cx="57607" cy="57607"/>
          </a:xfrm>
          <a:prstGeom prst="rect">
            <a:avLst/>
          </a:prstGeom>
          <a:solidFill>
            <a:srgbClr val="EEA870"/>
          </a:solidFill>
          <a:ln/>
        </p:spPr>
      </p:sp>
      <p:sp>
        <p:nvSpPr>
          <p:cNvPr id="224" name="Shape 222"/>
          <p:cNvSpPr/>
          <p:nvPr/>
        </p:nvSpPr>
        <p:spPr>
          <a:xfrm>
            <a:off x="10538460" y="2423160"/>
            <a:ext cx="57607" cy="57607"/>
          </a:xfrm>
          <a:prstGeom prst="rect">
            <a:avLst/>
          </a:prstGeom>
          <a:solidFill>
            <a:srgbClr val="F2BE92"/>
          </a:solidFill>
          <a:ln/>
        </p:spPr>
      </p:sp>
      <p:sp>
        <p:nvSpPr>
          <p:cNvPr id="225" name="Shape 223"/>
          <p:cNvSpPr/>
          <p:nvPr/>
        </p:nvSpPr>
        <p:spPr>
          <a:xfrm>
            <a:off x="10607040" y="2423160"/>
            <a:ext cx="57607" cy="57607"/>
          </a:xfrm>
          <a:prstGeom prst="rect">
            <a:avLst/>
          </a:prstGeom>
          <a:solidFill>
            <a:srgbClr val="F2BE92"/>
          </a:solidFill>
          <a:ln/>
        </p:spPr>
      </p:sp>
      <p:sp>
        <p:nvSpPr>
          <p:cNvPr id="226" name="Shape 224"/>
          <p:cNvSpPr/>
          <p:nvPr/>
        </p:nvSpPr>
        <p:spPr>
          <a:xfrm>
            <a:off x="10675620" y="2423160"/>
            <a:ext cx="57607" cy="57607"/>
          </a:xfrm>
          <a:prstGeom prst="rect">
            <a:avLst/>
          </a:prstGeom>
          <a:solidFill>
            <a:srgbClr val="F2BE92"/>
          </a:solidFill>
          <a:ln/>
        </p:spPr>
      </p:sp>
      <p:sp>
        <p:nvSpPr>
          <p:cNvPr id="227" name="Shape 225"/>
          <p:cNvSpPr/>
          <p:nvPr/>
        </p:nvSpPr>
        <p:spPr>
          <a:xfrm>
            <a:off x="9646920" y="2491740"/>
            <a:ext cx="57607" cy="57607"/>
          </a:xfrm>
          <a:prstGeom prst="rect">
            <a:avLst/>
          </a:prstGeom>
          <a:solidFill>
            <a:srgbClr val="F2BE92"/>
          </a:solidFill>
          <a:ln/>
        </p:spPr>
      </p:sp>
      <p:sp>
        <p:nvSpPr>
          <p:cNvPr id="228" name="Shape 226"/>
          <p:cNvSpPr/>
          <p:nvPr/>
        </p:nvSpPr>
        <p:spPr>
          <a:xfrm>
            <a:off x="9715500" y="2491740"/>
            <a:ext cx="57607" cy="57607"/>
          </a:xfrm>
          <a:prstGeom prst="rect">
            <a:avLst/>
          </a:prstGeom>
          <a:solidFill>
            <a:srgbClr val="EEA870"/>
          </a:solidFill>
          <a:ln/>
        </p:spPr>
      </p:sp>
      <p:sp>
        <p:nvSpPr>
          <p:cNvPr id="229" name="Shape 227"/>
          <p:cNvSpPr/>
          <p:nvPr/>
        </p:nvSpPr>
        <p:spPr>
          <a:xfrm>
            <a:off x="9784080" y="2491740"/>
            <a:ext cx="57607" cy="57607"/>
          </a:xfrm>
          <a:prstGeom prst="rect">
            <a:avLst/>
          </a:prstGeom>
          <a:solidFill>
            <a:srgbClr val="F2BE92"/>
          </a:solidFill>
          <a:ln/>
        </p:spPr>
      </p:sp>
      <p:sp>
        <p:nvSpPr>
          <p:cNvPr id="230" name="Shape 228"/>
          <p:cNvSpPr/>
          <p:nvPr/>
        </p:nvSpPr>
        <p:spPr>
          <a:xfrm>
            <a:off x="9852660" y="2491740"/>
            <a:ext cx="57607" cy="57607"/>
          </a:xfrm>
          <a:prstGeom prst="rect">
            <a:avLst/>
          </a:prstGeom>
          <a:solidFill>
            <a:srgbClr val="F2BE92"/>
          </a:solidFill>
          <a:ln/>
        </p:spPr>
      </p:sp>
      <p:sp>
        <p:nvSpPr>
          <p:cNvPr id="231" name="Shape 229"/>
          <p:cNvSpPr/>
          <p:nvPr/>
        </p:nvSpPr>
        <p:spPr>
          <a:xfrm>
            <a:off x="9921240" y="2491740"/>
            <a:ext cx="57607" cy="57607"/>
          </a:xfrm>
          <a:prstGeom prst="rect">
            <a:avLst/>
          </a:prstGeom>
          <a:solidFill>
            <a:srgbClr val="F2BE92"/>
          </a:solidFill>
          <a:ln/>
        </p:spPr>
      </p:sp>
      <p:sp>
        <p:nvSpPr>
          <p:cNvPr id="232" name="Shape 230"/>
          <p:cNvSpPr/>
          <p:nvPr/>
        </p:nvSpPr>
        <p:spPr>
          <a:xfrm>
            <a:off x="9989820" y="2491740"/>
            <a:ext cx="57607" cy="57607"/>
          </a:xfrm>
          <a:prstGeom prst="rect">
            <a:avLst/>
          </a:prstGeom>
          <a:solidFill>
            <a:srgbClr val="F2BE92"/>
          </a:solidFill>
          <a:ln/>
        </p:spPr>
      </p:sp>
      <p:sp>
        <p:nvSpPr>
          <p:cNvPr id="233" name="Shape 231"/>
          <p:cNvSpPr/>
          <p:nvPr/>
        </p:nvSpPr>
        <p:spPr>
          <a:xfrm>
            <a:off x="10058400" y="2491740"/>
            <a:ext cx="57607" cy="57607"/>
          </a:xfrm>
          <a:prstGeom prst="rect">
            <a:avLst/>
          </a:prstGeom>
          <a:solidFill>
            <a:srgbClr val="EEA870"/>
          </a:solidFill>
          <a:ln/>
        </p:spPr>
      </p:sp>
      <p:sp>
        <p:nvSpPr>
          <p:cNvPr id="234" name="Shape 232"/>
          <p:cNvSpPr/>
          <p:nvPr/>
        </p:nvSpPr>
        <p:spPr>
          <a:xfrm>
            <a:off x="10126980" y="2491740"/>
            <a:ext cx="57607" cy="57607"/>
          </a:xfrm>
          <a:prstGeom prst="rect">
            <a:avLst/>
          </a:prstGeom>
          <a:solidFill>
            <a:srgbClr val="F2BE92"/>
          </a:solidFill>
          <a:ln/>
        </p:spPr>
      </p:sp>
      <p:sp>
        <p:nvSpPr>
          <p:cNvPr id="235" name="Shape 233"/>
          <p:cNvSpPr/>
          <p:nvPr/>
        </p:nvSpPr>
        <p:spPr>
          <a:xfrm>
            <a:off x="10195560" y="2491740"/>
            <a:ext cx="57607" cy="57607"/>
          </a:xfrm>
          <a:prstGeom prst="rect">
            <a:avLst/>
          </a:prstGeom>
          <a:solidFill>
            <a:srgbClr val="F2BE92"/>
          </a:solidFill>
          <a:ln/>
        </p:spPr>
      </p:sp>
      <p:sp>
        <p:nvSpPr>
          <p:cNvPr id="236" name="Shape 234"/>
          <p:cNvSpPr/>
          <p:nvPr/>
        </p:nvSpPr>
        <p:spPr>
          <a:xfrm>
            <a:off x="10264140" y="2491740"/>
            <a:ext cx="57607" cy="57607"/>
          </a:xfrm>
          <a:prstGeom prst="rect">
            <a:avLst/>
          </a:prstGeom>
          <a:solidFill>
            <a:srgbClr val="F2BE92"/>
          </a:solidFill>
          <a:ln/>
        </p:spPr>
      </p:sp>
      <p:sp>
        <p:nvSpPr>
          <p:cNvPr id="237" name="Shape 235"/>
          <p:cNvSpPr/>
          <p:nvPr/>
        </p:nvSpPr>
        <p:spPr>
          <a:xfrm>
            <a:off x="10332720" y="2491740"/>
            <a:ext cx="57607" cy="57607"/>
          </a:xfrm>
          <a:prstGeom prst="rect">
            <a:avLst/>
          </a:prstGeom>
          <a:solidFill>
            <a:srgbClr val="F2BE92"/>
          </a:solidFill>
          <a:ln/>
        </p:spPr>
      </p:sp>
      <p:sp>
        <p:nvSpPr>
          <p:cNvPr id="238" name="Shape 236"/>
          <p:cNvSpPr/>
          <p:nvPr/>
        </p:nvSpPr>
        <p:spPr>
          <a:xfrm>
            <a:off x="10401300" y="2491740"/>
            <a:ext cx="57607" cy="57607"/>
          </a:xfrm>
          <a:prstGeom prst="rect">
            <a:avLst/>
          </a:prstGeom>
          <a:solidFill>
            <a:srgbClr val="EEA870"/>
          </a:solidFill>
          <a:ln/>
        </p:spPr>
      </p:sp>
      <p:sp>
        <p:nvSpPr>
          <p:cNvPr id="239" name="Shape 237"/>
          <p:cNvSpPr/>
          <p:nvPr/>
        </p:nvSpPr>
        <p:spPr>
          <a:xfrm>
            <a:off x="10469880" y="2491740"/>
            <a:ext cx="57607" cy="57607"/>
          </a:xfrm>
          <a:prstGeom prst="rect">
            <a:avLst/>
          </a:prstGeom>
          <a:solidFill>
            <a:srgbClr val="F2BE92"/>
          </a:solidFill>
          <a:ln/>
        </p:spPr>
      </p:sp>
      <p:sp>
        <p:nvSpPr>
          <p:cNvPr id="240" name="Shape 238"/>
          <p:cNvSpPr/>
          <p:nvPr/>
        </p:nvSpPr>
        <p:spPr>
          <a:xfrm>
            <a:off x="10538460" y="2491740"/>
            <a:ext cx="57607" cy="57607"/>
          </a:xfrm>
          <a:prstGeom prst="rect">
            <a:avLst/>
          </a:prstGeom>
          <a:solidFill>
            <a:srgbClr val="F2BE92"/>
          </a:solidFill>
          <a:ln/>
        </p:spPr>
      </p:sp>
      <p:sp>
        <p:nvSpPr>
          <p:cNvPr id="241" name="Shape 239"/>
          <p:cNvSpPr/>
          <p:nvPr/>
        </p:nvSpPr>
        <p:spPr>
          <a:xfrm>
            <a:off x="10607040" y="2491740"/>
            <a:ext cx="57607" cy="57607"/>
          </a:xfrm>
          <a:prstGeom prst="rect">
            <a:avLst/>
          </a:prstGeom>
          <a:solidFill>
            <a:srgbClr val="F2BE92"/>
          </a:solidFill>
          <a:ln/>
        </p:spPr>
      </p:sp>
      <p:sp>
        <p:nvSpPr>
          <p:cNvPr id="242" name="Shape 240"/>
          <p:cNvSpPr/>
          <p:nvPr/>
        </p:nvSpPr>
        <p:spPr>
          <a:xfrm>
            <a:off x="10675620" y="2491740"/>
            <a:ext cx="57607" cy="57607"/>
          </a:xfrm>
          <a:prstGeom prst="rect">
            <a:avLst/>
          </a:prstGeom>
          <a:solidFill>
            <a:srgbClr val="F2BE92"/>
          </a:solidFill>
          <a:ln/>
        </p:spPr>
      </p:sp>
      <p:sp>
        <p:nvSpPr>
          <p:cNvPr id="243" name="Shape 241"/>
          <p:cNvSpPr/>
          <p:nvPr/>
        </p:nvSpPr>
        <p:spPr>
          <a:xfrm>
            <a:off x="9646920" y="2560320"/>
            <a:ext cx="57607" cy="57607"/>
          </a:xfrm>
          <a:prstGeom prst="rect">
            <a:avLst/>
          </a:prstGeom>
          <a:solidFill>
            <a:srgbClr val="EEA870"/>
          </a:solidFill>
          <a:ln/>
        </p:spPr>
      </p:sp>
      <p:sp>
        <p:nvSpPr>
          <p:cNvPr id="244" name="Shape 242"/>
          <p:cNvSpPr/>
          <p:nvPr/>
        </p:nvSpPr>
        <p:spPr>
          <a:xfrm>
            <a:off x="9715500" y="2560320"/>
            <a:ext cx="57607" cy="57607"/>
          </a:xfrm>
          <a:prstGeom prst="rect">
            <a:avLst/>
          </a:prstGeom>
          <a:solidFill>
            <a:srgbClr val="F2BE92"/>
          </a:solidFill>
          <a:ln/>
        </p:spPr>
      </p:sp>
      <p:sp>
        <p:nvSpPr>
          <p:cNvPr id="245" name="Shape 243"/>
          <p:cNvSpPr/>
          <p:nvPr/>
        </p:nvSpPr>
        <p:spPr>
          <a:xfrm>
            <a:off x="9784080" y="2560320"/>
            <a:ext cx="57607" cy="57607"/>
          </a:xfrm>
          <a:prstGeom prst="rect">
            <a:avLst/>
          </a:prstGeom>
          <a:solidFill>
            <a:srgbClr val="F2BE92"/>
          </a:solidFill>
          <a:ln/>
        </p:spPr>
      </p:sp>
      <p:sp>
        <p:nvSpPr>
          <p:cNvPr id="246" name="Shape 244"/>
          <p:cNvSpPr/>
          <p:nvPr/>
        </p:nvSpPr>
        <p:spPr>
          <a:xfrm>
            <a:off x="9852660" y="2560320"/>
            <a:ext cx="57607" cy="57607"/>
          </a:xfrm>
          <a:prstGeom prst="rect">
            <a:avLst/>
          </a:prstGeom>
          <a:solidFill>
            <a:srgbClr val="F2BE92"/>
          </a:solidFill>
          <a:ln/>
        </p:spPr>
      </p:sp>
      <p:sp>
        <p:nvSpPr>
          <p:cNvPr id="247" name="Shape 245"/>
          <p:cNvSpPr/>
          <p:nvPr/>
        </p:nvSpPr>
        <p:spPr>
          <a:xfrm>
            <a:off x="9921240" y="2560320"/>
            <a:ext cx="57607" cy="57607"/>
          </a:xfrm>
          <a:prstGeom prst="rect">
            <a:avLst/>
          </a:prstGeom>
          <a:solidFill>
            <a:srgbClr val="F2BE92"/>
          </a:solidFill>
          <a:ln/>
        </p:spPr>
      </p:sp>
      <p:sp>
        <p:nvSpPr>
          <p:cNvPr id="248" name="Shape 246"/>
          <p:cNvSpPr/>
          <p:nvPr/>
        </p:nvSpPr>
        <p:spPr>
          <a:xfrm>
            <a:off x="9989820" y="2560320"/>
            <a:ext cx="57607" cy="57607"/>
          </a:xfrm>
          <a:prstGeom prst="rect">
            <a:avLst/>
          </a:prstGeom>
          <a:solidFill>
            <a:srgbClr val="EEA870"/>
          </a:solidFill>
          <a:ln/>
        </p:spPr>
      </p:sp>
      <p:sp>
        <p:nvSpPr>
          <p:cNvPr id="249" name="Shape 247"/>
          <p:cNvSpPr/>
          <p:nvPr/>
        </p:nvSpPr>
        <p:spPr>
          <a:xfrm>
            <a:off x="10058400" y="2560320"/>
            <a:ext cx="57607" cy="57607"/>
          </a:xfrm>
          <a:prstGeom prst="rect">
            <a:avLst/>
          </a:prstGeom>
          <a:solidFill>
            <a:srgbClr val="F2BE92"/>
          </a:solidFill>
          <a:ln/>
        </p:spPr>
      </p:sp>
      <p:sp>
        <p:nvSpPr>
          <p:cNvPr id="250" name="Shape 248"/>
          <p:cNvSpPr/>
          <p:nvPr/>
        </p:nvSpPr>
        <p:spPr>
          <a:xfrm>
            <a:off x="10126980" y="2560320"/>
            <a:ext cx="57607" cy="57607"/>
          </a:xfrm>
          <a:prstGeom prst="rect">
            <a:avLst/>
          </a:prstGeom>
          <a:solidFill>
            <a:srgbClr val="F2BE92"/>
          </a:solidFill>
          <a:ln/>
        </p:spPr>
      </p:sp>
      <p:sp>
        <p:nvSpPr>
          <p:cNvPr id="251" name="Shape 249"/>
          <p:cNvSpPr/>
          <p:nvPr/>
        </p:nvSpPr>
        <p:spPr>
          <a:xfrm>
            <a:off x="10195560" y="2560320"/>
            <a:ext cx="57607" cy="57607"/>
          </a:xfrm>
          <a:prstGeom prst="rect">
            <a:avLst/>
          </a:prstGeom>
          <a:solidFill>
            <a:srgbClr val="F2BE92"/>
          </a:solidFill>
          <a:ln/>
        </p:spPr>
      </p:sp>
      <p:sp>
        <p:nvSpPr>
          <p:cNvPr id="252" name="Shape 250"/>
          <p:cNvSpPr/>
          <p:nvPr/>
        </p:nvSpPr>
        <p:spPr>
          <a:xfrm>
            <a:off x="10264140" y="2560320"/>
            <a:ext cx="57607" cy="57607"/>
          </a:xfrm>
          <a:prstGeom prst="rect">
            <a:avLst/>
          </a:prstGeom>
          <a:solidFill>
            <a:srgbClr val="F2BE92"/>
          </a:solidFill>
          <a:ln/>
        </p:spPr>
      </p:sp>
      <p:sp>
        <p:nvSpPr>
          <p:cNvPr id="253" name="Shape 251"/>
          <p:cNvSpPr/>
          <p:nvPr/>
        </p:nvSpPr>
        <p:spPr>
          <a:xfrm>
            <a:off x="10332720" y="2560320"/>
            <a:ext cx="57607" cy="57607"/>
          </a:xfrm>
          <a:prstGeom prst="rect">
            <a:avLst/>
          </a:prstGeom>
          <a:solidFill>
            <a:srgbClr val="EEA870"/>
          </a:solidFill>
          <a:ln/>
        </p:spPr>
      </p:sp>
      <p:sp>
        <p:nvSpPr>
          <p:cNvPr id="254" name="Shape 252"/>
          <p:cNvSpPr/>
          <p:nvPr/>
        </p:nvSpPr>
        <p:spPr>
          <a:xfrm>
            <a:off x="10401300" y="2560320"/>
            <a:ext cx="57607" cy="57607"/>
          </a:xfrm>
          <a:prstGeom prst="rect">
            <a:avLst/>
          </a:prstGeom>
          <a:solidFill>
            <a:srgbClr val="F2BE92"/>
          </a:solidFill>
          <a:ln/>
        </p:spPr>
      </p:sp>
      <p:sp>
        <p:nvSpPr>
          <p:cNvPr id="255" name="Shape 253"/>
          <p:cNvSpPr/>
          <p:nvPr/>
        </p:nvSpPr>
        <p:spPr>
          <a:xfrm>
            <a:off x="10469880" y="2560320"/>
            <a:ext cx="57607" cy="57607"/>
          </a:xfrm>
          <a:prstGeom prst="rect">
            <a:avLst/>
          </a:prstGeom>
          <a:solidFill>
            <a:srgbClr val="F2BE92"/>
          </a:solidFill>
          <a:ln/>
        </p:spPr>
      </p:sp>
      <p:sp>
        <p:nvSpPr>
          <p:cNvPr id="256" name="Shape 254"/>
          <p:cNvSpPr/>
          <p:nvPr/>
        </p:nvSpPr>
        <p:spPr>
          <a:xfrm>
            <a:off x="10538460" y="2560320"/>
            <a:ext cx="57607" cy="57607"/>
          </a:xfrm>
          <a:prstGeom prst="rect">
            <a:avLst/>
          </a:prstGeom>
          <a:solidFill>
            <a:srgbClr val="F2BE92"/>
          </a:solidFill>
          <a:ln/>
        </p:spPr>
      </p:sp>
      <p:sp>
        <p:nvSpPr>
          <p:cNvPr id="257" name="Shape 255"/>
          <p:cNvSpPr/>
          <p:nvPr/>
        </p:nvSpPr>
        <p:spPr>
          <a:xfrm>
            <a:off x="10607040" y="2560320"/>
            <a:ext cx="57607" cy="57607"/>
          </a:xfrm>
          <a:prstGeom prst="rect">
            <a:avLst/>
          </a:prstGeom>
          <a:solidFill>
            <a:srgbClr val="F2BE92"/>
          </a:solidFill>
          <a:ln/>
        </p:spPr>
      </p:sp>
      <p:sp>
        <p:nvSpPr>
          <p:cNvPr id="258" name="Shape 256"/>
          <p:cNvSpPr/>
          <p:nvPr/>
        </p:nvSpPr>
        <p:spPr>
          <a:xfrm>
            <a:off x="10675620" y="2560320"/>
            <a:ext cx="57607" cy="57607"/>
          </a:xfrm>
          <a:prstGeom prst="rect">
            <a:avLst/>
          </a:prstGeom>
          <a:solidFill>
            <a:srgbClr val="EEA870"/>
          </a:solidFill>
          <a:ln/>
        </p:spPr>
      </p:sp>
      <p:sp>
        <p:nvSpPr>
          <p:cNvPr id="259" name="Shape 257"/>
          <p:cNvSpPr/>
          <p:nvPr/>
        </p:nvSpPr>
        <p:spPr>
          <a:xfrm>
            <a:off x="9646920" y="2628900"/>
            <a:ext cx="57607" cy="57607"/>
          </a:xfrm>
          <a:prstGeom prst="rect">
            <a:avLst/>
          </a:prstGeom>
          <a:solidFill>
            <a:srgbClr val="F2BE92"/>
          </a:solidFill>
          <a:ln/>
        </p:spPr>
      </p:sp>
      <p:sp>
        <p:nvSpPr>
          <p:cNvPr id="260" name="Shape 258"/>
          <p:cNvSpPr/>
          <p:nvPr/>
        </p:nvSpPr>
        <p:spPr>
          <a:xfrm>
            <a:off x="9715500" y="2628900"/>
            <a:ext cx="57607" cy="57607"/>
          </a:xfrm>
          <a:prstGeom prst="rect">
            <a:avLst/>
          </a:prstGeom>
          <a:solidFill>
            <a:srgbClr val="F2BE92"/>
          </a:solidFill>
          <a:ln/>
        </p:spPr>
      </p:sp>
      <p:sp>
        <p:nvSpPr>
          <p:cNvPr id="261" name="Shape 259"/>
          <p:cNvSpPr/>
          <p:nvPr/>
        </p:nvSpPr>
        <p:spPr>
          <a:xfrm>
            <a:off x="9784080" y="2628900"/>
            <a:ext cx="57607" cy="57607"/>
          </a:xfrm>
          <a:prstGeom prst="rect">
            <a:avLst/>
          </a:prstGeom>
          <a:solidFill>
            <a:srgbClr val="F2BE92"/>
          </a:solidFill>
          <a:ln/>
        </p:spPr>
      </p:sp>
      <p:sp>
        <p:nvSpPr>
          <p:cNvPr id="262" name="Shape 260"/>
          <p:cNvSpPr/>
          <p:nvPr/>
        </p:nvSpPr>
        <p:spPr>
          <a:xfrm>
            <a:off x="9852660" y="2628900"/>
            <a:ext cx="57607" cy="57607"/>
          </a:xfrm>
          <a:prstGeom prst="rect">
            <a:avLst/>
          </a:prstGeom>
          <a:solidFill>
            <a:srgbClr val="F2BE92"/>
          </a:solidFill>
          <a:ln/>
        </p:spPr>
      </p:sp>
      <p:sp>
        <p:nvSpPr>
          <p:cNvPr id="263" name="Shape 261"/>
          <p:cNvSpPr/>
          <p:nvPr/>
        </p:nvSpPr>
        <p:spPr>
          <a:xfrm>
            <a:off x="9921240" y="2628900"/>
            <a:ext cx="57607" cy="57607"/>
          </a:xfrm>
          <a:prstGeom prst="rect">
            <a:avLst/>
          </a:prstGeom>
          <a:solidFill>
            <a:srgbClr val="EEA870"/>
          </a:solidFill>
          <a:ln/>
        </p:spPr>
      </p:sp>
      <p:sp>
        <p:nvSpPr>
          <p:cNvPr id="264" name="Shape 262"/>
          <p:cNvSpPr/>
          <p:nvPr/>
        </p:nvSpPr>
        <p:spPr>
          <a:xfrm>
            <a:off x="9989820" y="2628900"/>
            <a:ext cx="57607" cy="57607"/>
          </a:xfrm>
          <a:prstGeom prst="rect">
            <a:avLst/>
          </a:prstGeom>
          <a:solidFill>
            <a:srgbClr val="F2BE92"/>
          </a:solidFill>
          <a:ln/>
        </p:spPr>
      </p:sp>
      <p:sp>
        <p:nvSpPr>
          <p:cNvPr id="265" name="Shape 263"/>
          <p:cNvSpPr/>
          <p:nvPr/>
        </p:nvSpPr>
        <p:spPr>
          <a:xfrm>
            <a:off x="10058400" y="2628900"/>
            <a:ext cx="57607" cy="57607"/>
          </a:xfrm>
          <a:prstGeom prst="rect">
            <a:avLst/>
          </a:prstGeom>
          <a:solidFill>
            <a:srgbClr val="F2BE92"/>
          </a:solidFill>
          <a:ln/>
        </p:spPr>
      </p:sp>
      <p:sp>
        <p:nvSpPr>
          <p:cNvPr id="266" name="Shape 264"/>
          <p:cNvSpPr/>
          <p:nvPr/>
        </p:nvSpPr>
        <p:spPr>
          <a:xfrm>
            <a:off x="10126980" y="2628900"/>
            <a:ext cx="57607" cy="57607"/>
          </a:xfrm>
          <a:prstGeom prst="rect">
            <a:avLst/>
          </a:prstGeom>
          <a:solidFill>
            <a:srgbClr val="F2BE92"/>
          </a:solidFill>
          <a:ln/>
        </p:spPr>
      </p:sp>
      <p:sp>
        <p:nvSpPr>
          <p:cNvPr id="267" name="Shape 265"/>
          <p:cNvSpPr/>
          <p:nvPr/>
        </p:nvSpPr>
        <p:spPr>
          <a:xfrm>
            <a:off x="10195560" y="2628900"/>
            <a:ext cx="57607" cy="57607"/>
          </a:xfrm>
          <a:prstGeom prst="rect">
            <a:avLst/>
          </a:prstGeom>
          <a:solidFill>
            <a:srgbClr val="F2BE92"/>
          </a:solidFill>
          <a:ln/>
        </p:spPr>
      </p:sp>
      <p:sp>
        <p:nvSpPr>
          <p:cNvPr id="268" name="Shape 266"/>
          <p:cNvSpPr/>
          <p:nvPr/>
        </p:nvSpPr>
        <p:spPr>
          <a:xfrm>
            <a:off x="10264140" y="2628900"/>
            <a:ext cx="57607" cy="57607"/>
          </a:xfrm>
          <a:prstGeom prst="rect">
            <a:avLst/>
          </a:prstGeom>
          <a:solidFill>
            <a:srgbClr val="EEA870"/>
          </a:solidFill>
          <a:ln/>
        </p:spPr>
      </p:sp>
      <p:sp>
        <p:nvSpPr>
          <p:cNvPr id="269" name="Shape 267"/>
          <p:cNvSpPr/>
          <p:nvPr/>
        </p:nvSpPr>
        <p:spPr>
          <a:xfrm>
            <a:off x="10332720" y="2628900"/>
            <a:ext cx="57607" cy="57607"/>
          </a:xfrm>
          <a:prstGeom prst="rect">
            <a:avLst/>
          </a:prstGeom>
          <a:solidFill>
            <a:srgbClr val="F2BE92"/>
          </a:solidFill>
          <a:ln/>
        </p:spPr>
      </p:sp>
      <p:sp>
        <p:nvSpPr>
          <p:cNvPr id="270" name="Shape 268"/>
          <p:cNvSpPr/>
          <p:nvPr/>
        </p:nvSpPr>
        <p:spPr>
          <a:xfrm>
            <a:off x="10401300" y="2628900"/>
            <a:ext cx="57607" cy="57607"/>
          </a:xfrm>
          <a:prstGeom prst="rect">
            <a:avLst/>
          </a:prstGeom>
          <a:solidFill>
            <a:srgbClr val="F2BE92"/>
          </a:solidFill>
          <a:ln/>
        </p:spPr>
      </p:sp>
      <p:sp>
        <p:nvSpPr>
          <p:cNvPr id="271" name="Shape 269"/>
          <p:cNvSpPr/>
          <p:nvPr/>
        </p:nvSpPr>
        <p:spPr>
          <a:xfrm>
            <a:off x="10469880" y="2628900"/>
            <a:ext cx="57607" cy="57607"/>
          </a:xfrm>
          <a:prstGeom prst="rect">
            <a:avLst/>
          </a:prstGeom>
          <a:solidFill>
            <a:srgbClr val="F2BE92"/>
          </a:solidFill>
          <a:ln/>
        </p:spPr>
      </p:sp>
      <p:sp>
        <p:nvSpPr>
          <p:cNvPr id="272" name="Shape 270"/>
          <p:cNvSpPr/>
          <p:nvPr/>
        </p:nvSpPr>
        <p:spPr>
          <a:xfrm>
            <a:off x="10538460" y="2628900"/>
            <a:ext cx="57607" cy="57607"/>
          </a:xfrm>
          <a:prstGeom prst="rect">
            <a:avLst/>
          </a:prstGeom>
          <a:solidFill>
            <a:srgbClr val="F2BE92"/>
          </a:solidFill>
          <a:ln/>
        </p:spPr>
      </p:sp>
      <p:sp>
        <p:nvSpPr>
          <p:cNvPr id="273" name="Shape 271"/>
          <p:cNvSpPr/>
          <p:nvPr/>
        </p:nvSpPr>
        <p:spPr>
          <a:xfrm>
            <a:off x="10607040" y="2628900"/>
            <a:ext cx="57607" cy="57607"/>
          </a:xfrm>
          <a:prstGeom prst="rect">
            <a:avLst/>
          </a:prstGeom>
          <a:solidFill>
            <a:srgbClr val="EEA870"/>
          </a:solidFill>
          <a:ln/>
        </p:spPr>
      </p:sp>
      <p:sp>
        <p:nvSpPr>
          <p:cNvPr id="274" name="Shape 272"/>
          <p:cNvSpPr/>
          <p:nvPr/>
        </p:nvSpPr>
        <p:spPr>
          <a:xfrm>
            <a:off x="10675620" y="2628900"/>
            <a:ext cx="57607" cy="57607"/>
          </a:xfrm>
          <a:prstGeom prst="rect">
            <a:avLst/>
          </a:prstGeom>
          <a:solidFill>
            <a:srgbClr val="F2BE92"/>
          </a:solidFill>
          <a:ln/>
        </p:spPr>
      </p:sp>
      <p:sp>
        <p:nvSpPr>
          <p:cNvPr id="275" name="Shape 273"/>
          <p:cNvSpPr/>
          <p:nvPr/>
        </p:nvSpPr>
        <p:spPr>
          <a:xfrm>
            <a:off x="9646920" y="2697480"/>
            <a:ext cx="57607" cy="57607"/>
          </a:xfrm>
          <a:prstGeom prst="rect">
            <a:avLst/>
          </a:prstGeom>
          <a:solidFill>
            <a:srgbClr val="F2BE92"/>
          </a:solidFill>
          <a:ln/>
        </p:spPr>
      </p:sp>
      <p:sp>
        <p:nvSpPr>
          <p:cNvPr id="276" name="Shape 274"/>
          <p:cNvSpPr/>
          <p:nvPr/>
        </p:nvSpPr>
        <p:spPr>
          <a:xfrm>
            <a:off x="9715500" y="2697480"/>
            <a:ext cx="57607" cy="57607"/>
          </a:xfrm>
          <a:prstGeom prst="rect">
            <a:avLst/>
          </a:prstGeom>
          <a:solidFill>
            <a:srgbClr val="F2BE92"/>
          </a:solidFill>
          <a:ln/>
        </p:spPr>
      </p:sp>
      <p:sp>
        <p:nvSpPr>
          <p:cNvPr id="277" name="Shape 275"/>
          <p:cNvSpPr/>
          <p:nvPr/>
        </p:nvSpPr>
        <p:spPr>
          <a:xfrm>
            <a:off x="9784080" y="2697480"/>
            <a:ext cx="57607" cy="57607"/>
          </a:xfrm>
          <a:prstGeom prst="rect">
            <a:avLst/>
          </a:prstGeom>
          <a:solidFill>
            <a:srgbClr val="F2BE92"/>
          </a:solidFill>
          <a:ln/>
        </p:spPr>
      </p:sp>
      <p:sp>
        <p:nvSpPr>
          <p:cNvPr id="278" name="Shape 276"/>
          <p:cNvSpPr/>
          <p:nvPr/>
        </p:nvSpPr>
        <p:spPr>
          <a:xfrm>
            <a:off x="9852660" y="2697480"/>
            <a:ext cx="57607" cy="57607"/>
          </a:xfrm>
          <a:prstGeom prst="rect">
            <a:avLst/>
          </a:prstGeom>
          <a:solidFill>
            <a:srgbClr val="EEA870"/>
          </a:solidFill>
          <a:ln/>
        </p:spPr>
      </p:sp>
      <p:sp>
        <p:nvSpPr>
          <p:cNvPr id="279" name="Shape 277"/>
          <p:cNvSpPr/>
          <p:nvPr/>
        </p:nvSpPr>
        <p:spPr>
          <a:xfrm>
            <a:off x="9921240" y="2697480"/>
            <a:ext cx="57607" cy="57607"/>
          </a:xfrm>
          <a:prstGeom prst="rect">
            <a:avLst/>
          </a:prstGeom>
          <a:solidFill>
            <a:srgbClr val="F2BE92"/>
          </a:solidFill>
          <a:ln/>
        </p:spPr>
      </p:sp>
      <p:sp>
        <p:nvSpPr>
          <p:cNvPr id="280" name="Shape 278"/>
          <p:cNvSpPr/>
          <p:nvPr/>
        </p:nvSpPr>
        <p:spPr>
          <a:xfrm>
            <a:off x="9989820" y="2697480"/>
            <a:ext cx="57607" cy="57607"/>
          </a:xfrm>
          <a:prstGeom prst="rect">
            <a:avLst/>
          </a:prstGeom>
          <a:solidFill>
            <a:srgbClr val="F2BE92"/>
          </a:solidFill>
          <a:ln/>
        </p:spPr>
      </p:sp>
      <p:sp>
        <p:nvSpPr>
          <p:cNvPr id="281" name="Shape 279"/>
          <p:cNvSpPr/>
          <p:nvPr/>
        </p:nvSpPr>
        <p:spPr>
          <a:xfrm>
            <a:off x="10058400" y="2697480"/>
            <a:ext cx="57607" cy="57607"/>
          </a:xfrm>
          <a:prstGeom prst="rect">
            <a:avLst/>
          </a:prstGeom>
          <a:solidFill>
            <a:srgbClr val="F2BE92"/>
          </a:solidFill>
          <a:ln/>
        </p:spPr>
      </p:sp>
      <p:sp>
        <p:nvSpPr>
          <p:cNvPr id="282" name="Shape 280"/>
          <p:cNvSpPr/>
          <p:nvPr/>
        </p:nvSpPr>
        <p:spPr>
          <a:xfrm>
            <a:off x="10126980" y="2697480"/>
            <a:ext cx="57607" cy="57607"/>
          </a:xfrm>
          <a:prstGeom prst="rect">
            <a:avLst/>
          </a:prstGeom>
          <a:solidFill>
            <a:srgbClr val="F2BE92"/>
          </a:solidFill>
          <a:ln/>
        </p:spPr>
      </p:sp>
      <p:sp>
        <p:nvSpPr>
          <p:cNvPr id="283" name="Shape 281"/>
          <p:cNvSpPr/>
          <p:nvPr/>
        </p:nvSpPr>
        <p:spPr>
          <a:xfrm>
            <a:off x="10195560" y="2697480"/>
            <a:ext cx="57607" cy="57607"/>
          </a:xfrm>
          <a:prstGeom prst="rect">
            <a:avLst/>
          </a:prstGeom>
          <a:solidFill>
            <a:srgbClr val="EEA870"/>
          </a:solidFill>
          <a:ln/>
        </p:spPr>
      </p:sp>
      <p:sp>
        <p:nvSpPr>
          <p:cNvPr id="284" name="Shape 282"/>
          <p:cNvSpPr/>
          <p:nvPr/>
        </p:nvSpPr>
        <p:spPr>
          <a:xfrm>
            <a:off x="10264140" y="2697480"/>
            <a:ext cx="57607" cy="57607"/>
          </a:xfrm>
          <a:prstGeom prst="rect">
            <a:avLst/>
          </a:prstGeom>
          <a:solidFill>
            <a:srgbClr val="F2BE92"/>
          </a:solidFill>
          <a:ln/>
        </p:spPr>
      </p:sp>
      <p:sp>
        <p:nvSpPr>
          <p:cNvPr id="285" name="Shape 283"/>
          <p:cNvSpPr/>
          <p:nvPr/>
        </p:nvSpPr>
        <p:spPr>
          <a:xfrm>
            <a:off x="10332720" y="2697480"/>
            <a:ext cx="57607" cy="57607"/>
          </a:xfrm>
          <a:prstGeom prst="rect">
            <a:avLst/>
          </a:prstGeom>
          <a:solidFill>
            <a:srgbClr val="F2BE92"/>
          </a:solidFill>
          <a:ln/>
        </p:spPr>
      </p:sp>
      <p:sp>
        <p:nvSpPr>
          <p:cNvPr id="286" name="Shape 284"/>
          <p:cNvSpPr/>
          <p:nvPr/>
        </p:nvSpPr>
        <p:spPr>
          <a:xfrm>
            <a:off x="10401300" y="2697480"/>
            <a:ext cx="57607" cy="57607"/>
          </a:xfrm>
          <a:prstGeom prst="rect">
            <a:avLst/>
          </a:prstGeom>
          <a:solidFill>
            <a:srgbClr val="F2BE92"/>
          </a:solidFill>
          <a:ln/>
        </p:spPr>
      </p:sp>
      <p:sp>
        <p:nvSpPr>
          <p:cNvPr id="287" name="Shape 285"/>
          <p:cNvSpPr/>
          <p:nvPr/>
        </p:nvSpPr>
        <p:spPr>
          <a:xfrm>
            <a:off x="10469880" y="2697480"/>
            <a:ext cx="57607" cy="57607"/>
          </a:xfrm>
          <a:prstGeom prst="rect">
            <a:avLst/>
          </a:prstGeom>
          <a:solidFill>
            <a:srgbClr val="F2BE92"/>
          </a:solidFill>
          <a:ln/>
        </p:spPr>
      </p:sp>
      <p:sp>
        <p:nvSpPr>
          <p:cNvPr id="288" name="Shape 286"/>
          <p:cNvSpPr/>
          <p:nvPr/>
        </p:nvSpPr>
        <p:spPr>
          <a:xfrm>
            <a:off x="10538460" y="2697480"/>
            <a:ext cx="57607" cy="57607"/>
          </a:xfrm>
          <a:prstGeom prst="rect">
            <a:avLst/>
          </a:prstGeom>
          <a:solidFill>
            <a:srgbClr val="EEA870"/>
          </a:solidFill>
          <a:ln/>
        </p:spPr>
      </p:sp>
      <p:sp>
        <p:nvSpPr>
          <p:cNvPr id="289" name="Shape 287"/>
          <p:cNvSpPr/>
          <p:nvPr/>
        </p:nvSpPr>
        <p:spPr>
          <a:xfrm>
            <a:off x="10607040" y="2697480"/>
            <a:ext cx="57607" cy="57607"/>
          </a:xfrm>
          <a:prstGeom prst="rect">
            <a:avLst/>
          </a:prstGeom>
          <a:solidFill>
            <a:srgbClr val="F2BE92"/>
          </a:solidFill>
          <a:ln/>
        </p:spPr>
      </p:sp>
      <p:sp>
        <p:nvSpPr>
          <p:cNvPr id="290" name="Shape 288"/>
          <p:cNvSpPr/>
          <p:nvPr/>
        </p:nvSpPr>
        <p:spPr>
          <a:xfrm>
            <a:off x="10675620" y="2697480"/>
            <a:ext cx="57607" cy="57607"/>
          </a:xfrm>
          <a:prstGeom prst="rect">
            <a:avLst/>
          </a:prstGeom>
          <a:solidFill>
            <a:srgbClr val="F2BE92"/>
          </a:solidFill>
          <a:ln/>
        </p:spPr>
      </p:sp>
      <p:sp>
        <p:nvSpPr>
          <p:cNvPr id="291" name="Shape 289"/>
          <p:cNvSpPr/>
          <p:nvPr/>
        </p:nvSpPr>
        <p:spPr>
          <a:xfrm>
            <a:off x="9646920" y="2766060"/>
            <a:ext cx="57607" cy="57607"/>
          </a:xfrm>
          <a:prstGeom prst="rect">
            <a:avLst/>
          </a:prstGeom>
          <a:solidFill>
            <a:srgbClr val="F2BE92"/>
          </a:solidFill>
          <a:ln/>
        </p:spPr>
      </p:sp>
      <p:sp>
        <p:nvSpPr>
          <p:cNvPr id="292" name="Shape 290"/>
          <p:cNvSpPr/>
          <p:nvPr/>
        </p:nvSpPr>
        <p:spPr>
          <a:xfrm>
            <a:off x="9715500" y="2766060"/>
            <a:ext cx="57607" cy="57607"/>
          </a:xfrm>
          <a:prstGeom prst="rect">
            <a:avLst/>
          </a:prstGeom>
          <a:solidFill>
            <a:srgbClr val="F2BE92"/>
          </a:solidFill>
          <a:ln/>
        </p:spPr>
      </p:sp>
      <p:sp>
        <p:nvSpPr>
          <p:cNvPr id="293" name="Shape 291"/>
          <p:cNvSpPr/>
          <p:nvPr/>
        </p:nvSpPr>
        <p:spPr>
          <a:xfrm>
            <a:off x="9784080" y="2766060"/>
            <a:ext cx="57607" cy="57607"/>
          </a:xfrm>
          <a:prstGeom prst="rect">
            <a:avLst/>
          </a:prstGeom>
          <a:solidFill>
            <a:srgbClr val="EEA870"/>
          </a:solidFill>
          <a:ln/>
        </p:spPr>
      </p:sp>
      <p:sp>
        <p:nvSpPr>
          <p:cNvPr id="294" name="Shape 292"/>
          <p:cNvSpPr/>
          <p:nvPr/>
        </p:nvSpPr>
        <p:spPr>
          <a:xfrm>
            <a:off x="9852660" y="2766060"/>
            <a:ext cx="57607" cy="57607"/>
          </a:xfrm>
          <a:prstGeom prst="rect">
            <a:avLst/>
          </a:prstGeom>
          <a:solidFill>
            <a:srgbClr val="F2BE92"/>
          </a:solidFill>
          <a:ln/>
        </p:spPr>
      </p:sp>
      <p:sp>
        <p:nvSpPr>
          <p:cNvPr id="295" name="Shape 293"/>
          <p:cNvSpPr/>
          <p:nvPr/>
        </p:nvSpPr>
        <p:spPr>
          <a:xfrm>
            <a:off x="9921240" y="2766060"/>
            <a:ext cx="57607" cy="57607"/>
          </a:xfrm>
          <a:prstGeom prst="rect">
            <a:avLst/>
          </a:prstGeom>
          <a:solidFill>
            <a:srgbClr val="F2BE92"/>
          </a:solidFill>
          <a:ln/>
        </p:spPr>
      </p:sp>
      <p:sp>
        <p:nvSpPr>
          <p:cNvPr id="296" name="Shape 294"/>
          <p:cNvSpPr/>
          <p:nvPr/>
        </p:nvSpPr>
        <p:spPr>
          <a:xfrm>
            <a:off x="9989820" y="2766060"/>
            <a:ext cx="57607" cy="57607"/>
          </a:xfrm>
          <a:prstGeom prst="rect">
            <a:avLst/>
          </a:prstGeom>
          <a:solidFill>
            <a:srgbClr val="F2BE92"/>
          </a:solidFill>
          <a:ln/>
        </p:spPr>
      </p:sp>
      <p:sp>
        <p:nvSpPr>
          <p:cNvPr id="297" name="Shape 295"/>
          <p:cNvSpPr/>
          <p:nvPr/>
        </p:nvSpPr>
        <p:spPr>
          <a:xfrm>
            <a:off x="10058400" y="2766060"/>
            <a:ext cx="57607" cy="57607"/>
          </a:xfrm>
          <a:prstGeom prst="rect">
            <a:avLst/>
          </a:prstGeom>
          <a:solidFill>
            <a:srgbClr val="F2BE92"/>
          </a:solidFill>
          <a:ln/>
        </p:spPr>
      </p:sp>
      <p:sp>
        <p:nvSpPr>
          <p:cNvPr id="298" name="Shape 296"/>
          <p:cNvSpPr/>
          <p:nvPr/>
        </p:nvSpPr>
        <p:spPr>
          <a:xfrm>
            <a:off x="10126980" y="2766060"/>
            <a:ext cx="57607" cy="57607"/>
          </a:xfrm>
          <a:prstGeom prst="rect">
            <a:avLst/>
          </a:prstGeom>
          <a:solidFill>
            <a:srgbClr val="EEA870"/>
          </a:solidFill>
          <a:ln/>
        </p:spPr>
      </p:sp>
      <p:sp>
        <p:nvSpPr>
          <p:cNvPr id="299" name="Shape 297"/>
          <p:cNvSpPr/>
          <p:nvPr/>
        </p:nvSpPr>
        <p:spPr>
          <a:xfrm>
            <a:off x="10195560" y="2766060"/>
            <a:ext cx="57607" cy="57607"/>
          </a:xfrm>
          <a:prstGeom prst="rect">
            <a:avLst/>
          </a:prstGeom>
          <a:solidFill>
            <a:srgbClr val="F2BE92"/>
          </a:solidFill>
          <a:ln/>
        </p:spPr>
      </p:sp>
      <p:sp>
        <p:nvSpPr>
          <p:cNvPr id="300" name="Shape 298"/>
          <p:cNvSpPr/>
          <p:nvPr/>
        </p:nvSpPr>
        <p:spPr>
          <a:xfrm>
            <a:off x="10264140" y="2766060"/>
            <a:ext cx="57607" cy="57607"/>
          </a:xfrm>
          <a:prstGeom prst="rect">
            <a:avLst/>
          </a:prstGeom>
          <a:solidFill>
            <a:srgbClr val="F2BE92"/>
          </a:solidFill>
          <a:ln/>
        </p:spPr>
      </p:sp>
      <p:sp>
        <p:nvSpPr>
          <p:cNvPr id="301" name="Shape 299"/>
          <p:cNvSpPr/>
          <p:nvPr/>
        </p:nvSpPr>
        <p:spPr>
          <a:xfrm>
            <a:off x="10332720" y="2766060"/>
            <a:ext cx="57607" cy="57607"/>
          </a:xfrm>
          <a:prstGeom prst="rect">
            <a:avLst/>
          </a:prstGeom>
          <a:solidFill>
            <a:srgbClr val="F2BE92"/>
          </a:solidFill>
          <a:ln/>
        </p:spPr>
      </p:sp>
      <p:sp>
        <p:nvSpPr>
          <p:cNvPr id="302" name="Shape 300"/>
          <p:cNvSpPr/>
          <p:nvPr/>
        </p:nvSpPr>
        <p:spPr>
          <a:xfrm>
            <a:off x="10401300" y="2766060"/>
            <a:ext cx="57607" cy="57607"/>
          </a:xfrm>
          <a:prstGeom prst="rect">
            <a:avLst/>
          </a:prstGeom>
          <a:solidFill>
            <a:srgbClr val="F2BE92"/>
          </a:solidFill>
          <a:ln/>
        </p:spPr>
      </p:sp>
      <p:sp>
        <p:nvSpPr>
          <p:cNvPr id="303" name="Shape 301"/>
          <p:cNvSpPr/>
          <p:nvPr/>
        </p:nvSpPr>
        <p:spPr>
          <a:xfrm>
            <a:off x="10469880" y="2766060"/>
            <a:ext cx="57607" cy="57607"/>
          </a:xfrm>
          <a:prstGeom prst="rect">
            <a:avLst/>
          </a:prstGeom>
          <a:solidFill>
            <a:srgbClr val="EEA870"/>
          </a:solidFill>
          <a:ln/>
        </p:spPr>
      </p:sp>
      <p:sp>
        <p:nvSpPr>
          <p:cNvPr id="304" name="Shape 302"/>
          <p:cNvSpPr/>
          <p:nvPr/>
        </p:nvSpPr>
        <p:spPr>
          <a:xfrm>
            <a:off x="10538460" y="2766060"/>
            <a:ext cx="57607" cy="57607"/>
          </a:xfrm>
          <a:prstGeom prst="rect">
            <a:avLst/>
          </a:prstGeom>
          <a:solidFill>
            <a:srgbClr val="F2BE92"/>
          </a:solidFill>
          <a:ln/>
        </p:spPr>
      </p:sp>
      <p:sp>
        <p:nvSpPr>
          <p:cNvPr id="305" name="Shape 303"/>
          <p:cNvSpPr/>
          <p:nvPr/>
        </p:nvSpPr>
        <p:spPr>
          <a:xfrm>
            <a:off x="10607040" y="2766060"/>
            <a:ext cx="57607" cy="57607"/>
          </a:xfrm>
          <a:prstGeom prst="rect">
            <a:avLst/>
          </a:prstGeom>
          <a:solidFill>
            <a:srgbClr val="F2BE92"/>
          </a:solidFill>
          <a:ln/>
        </p:spPr>
      </p:sp>
      <p:sp>
        <p:nvSpPr>
          <p:cNvPr id="306" name="Shape 304"/>
          <p:cNvSpPr/>
          <p:nvPr/>
        </p:nvSpPr>
        <p:spPr>
          <a:xfrm>
            <a:off x="10675620" y="2766060"/>
            <a:ext cx="57607" cy="57607"/>
          </a:xfrm>
          <a:prstGeom prst="rect">
            <a:avLst/>
          </a:prstGeom>
          <a:solidFill>
            <a:srgbClr val="F2BE92"/>
          </a:solidFill>
          <a:ln/>
        </p:spPr>
      </p:sp>
      <p:sp>
        <p:nvSpPr>
          <p:cNvPr id="307" name="Shape 305"/>
          <p:cNvSpPr/>
          <p:nvPr/>
        </p:nvSpPr>
        <p:spPr>
          <a:xfrm>
            <a:off x="9646920" y="2834640"/>
            <a:ext cx="57607" cy="57607"/>
          </a:xfrm>
          <a:prstGeom prst="rect">
            <a:avLst/>
          </a:prstGeom>
          <a:solidFill>
            <a:srgbClr val="F2BE92"/>
          </a:solidFill>
          <a:ln/>
        </p:spPr>
      </p:sp>
      <p:sp>
        <p:nvSpPr>
          <p:cNvPr id="308" name="Shape 306"/>
          <p:cNvSpPr/>
          <p:nvPr/>
        </p:nvSpPr>
        <p:spPr>
          <a:xfrm>
            <a:off x="9715500" y="2834640"/>
            <a:ext cx="57607" cy="57607"/>
          </a:xfrm>
          <a:prstGeom prst="rect">
            <a:avLst/>
          </a:prstGeom>
          <a:solidFill>
            <a:srgbClr val="EEA870"/>
          </a:solidFill>
          <a:ln/>
        </p:spPr>
      </p:sp>
      <p:sp>
        <p:nvSpPr>
          <p:cNvPr id="309" name="Shape 307"/>
          <p:cNvSpPr/>
          <p:nvPr/>
        </p:nvSpPr>
        <p:spPr>
          <a:xfrm>
            <a:off x="9784080" y="2834640"/>
            <a:ext cx="57607" cy="57607"/>
          </a:xfrm>
          <a:prstGeom prst="rect">
            <a:avLst/>
          </a:prstGeom>
          <a:solidFill>
            <a:srgbClr val="F2BE92"/>
          </a:solidFill>
          <a:ln/>
        </p:spPr>
      </p:sp>
      <p:sp>
        <p:nvSpPr>
          <p:cNvPr id="310" name="Shape 308"/>
          <p:cNvSpPr/>
          <p:nvPr/>
        </p:nvSpPr>
        <p:spPr>
          <a:xfrm>
            <a:off x="9852660" y="2834640"/>
            <a:ext cx="57607" cy="57607"/>
          </a:xfrm>
          <a:prstGeom prst="rect">
            <a:avLst/>
          </a:prstGeom>
          <a:solidFill>
            <a:srgbClr val="F2BE92"/>
          </a:solidFill>
          <a:ln/>
        </p:spPr>
      </p:sp>
      <p:sp>
        <p:nvSpPr>
          <p:cNvPr id="311" name="Shape 309"/>
          <p:cNvSpPr/>
          <p:nvPr/>
        </p:nvSpPr>
        <p:spPr>
          <a:xfrm>
            <a:off x="9921240" y="2834640"/>
            <a:ext cx="57607" cy="57607"/>
          </a:xfrm>
          <a:prstGeom prst="rect">
            <a:avLst/>
          </a:prstGeom>
          <a:solidFill>
            <a:srgbClr val="F2BE92"/>
          </a:solidFill>
          <a:ln/>
        </p:spPr>
      </p:sp>
      <p:sp>
        <p:nvSpPr>
          <p:cNvPr id="312" name="Shape 310"/>
          <p:cNvSpPr/>
          <p:nvPr/>
        </p:nvSpPr>
        <p:spPr>
          <a:xfrm>
            <a:off x="9989820" y="2834640"/>
            <a:ext cx="57607" cy="57607"/>
          </a:xfrm>
          <a:prstGeom prst="rect">
            <a:avLst/>
          </a:prstGeom>
          <a:solidFill>
            <a:srgbClr val="F2BE92"/>
          </a:solidFill>
          <a:ln/>
        </p:spPr>
      </p:sp>
      <p:sp>
        <p:nvSpPr>
          <p:cNvPr id="313" name="Shape 311"/>
          <p:cNvSpPr/>
          <p:nvPr/>
        </p:nvSpPr>
        <p:spPr>
          <a:xfrm>
            <a:off x="10058400" y="2834640"/>
            <a:ext cx="57607" cy="57607"/>
          </a:xfrm>
          <a:prstGeom prst="rect">
            <a:avLst/>
          </a:prstGeom>
          <a:solidFill>
            <a:srgbClr val="EEA870"/>
          </a:solidFill>
          <a:ln/>
        </p:spPr>
      </p:sp>
      <p:sp>
        <p:nvSpPr>
          <p:cNvPr id="314" name="Shape 312"/>
          <p:cNvSpPr/>
          <p:nvPr/>
        </p:nvSpPr>
        <p:spPr>
          <a:xfrm>
            <a:off x="10126980" y="2834640"/>
            <a:ext cx="57607" cy="57607"/>
          </a:xfrm>
          <a:prstGeom prst="rect">
            <a:avLst/>
          </a:prstGeom>
          <a:solidFill>
            <a:srgbClr val="F2BE92"/>
          </a:solidFill>
          <a:ln/>
        </p:spPr>
      </p:sp>
      <p:sp>
        <p:nvSpPr>
          <p:cNvPr id="315" name="Shape 313"/>
          <p:cNvSpPr/>
          <p:nvPr/>
        </p:nvSpPr>
        <p:spPr>
          <a:xfrm>
            <a:off x="10195560" y="2834640"/>
            <a:ext cx="57607" cy="57607"/>
          </a:xfrm>
          <a:prstGeom prst="rect">
            <a:avLst/>
          </a:prstGeom>
          <a:solidFill>
            <a:srgbClr val="F2BE92"/>
          </a:solidFill>
          <a:ln/>
        </p:spPr>
      </p:sp>
      <p:sp>
        <p:nvSpPr>
          <p:cNvPr id="316" name="Shape 314"/>
          <p:cNvSpPr/>
          <p:nvPr/>
        </p:nvSpPr>
        <p:spPr>
          <a:xfrm>
            <a:off x="10264140" y="2834640"/>
            <a:ext cx="57607" cy="57607"/>
          </a:xfrm>
          <a:prstGeom prst="rect">
            <a:avLst/>
          </a:prstGeom>
          <a:solidFill>
            <a:srgbClr val="F2BE92"/>
          </a:solidFill>
          <a:ln/>
        </p:spPr>
      </p:sp>
      <p:sp>
        <p:nvSpPr>
          <p:cNvPr id="317" name="Shape 315"/>
          <p:cNvSpPr/>
          <p:nvPr/>
        </p:nvSpPr>
        <p:spPr>
          <a:xfrm>
            <a:off x="10332720" y="2834640"/>
            <a:ext cx="57607" cy="57607"/>
          </a:xfrm>
          <a:prstGeom prst="rect">
            <a:avLst/>
          </a:prstGeom>
          <a:solidFill>
            <a:srgbClr val="F2BE92"/>
          </a:solidFill>
          <a:ln/>
        </p:spPr>
      </p:sp>
      <p:sp>
        <p:nvSpPr>
          <p:cNvPr id="318" name="Shape 316"/>
          <p:cNvSpPr/>
          <p:nvPr/>
        </p:nvSpPr>
        <p:spPr>
          <a:xfrm>
            <a:off x="10401300" y="2834640"/>
            <a:ext cx="57607" cy="57607"/>
          </a:xfrm>
          <a:prstGeom prst="rect">
            <a:avLst/>
          </a:prstGeom>
          <a:solidFill>
            <a:srgbClr val="EEA870"/>
          </a:solidFill>
          <a:ln/>
        </p:spPr>
      </p:sp>
      <p:sp>
        <p:nvSpPr>
          <p:cNvPr id="319" name="Shape 317"/>
          <p:cNvSpPr/>
          <p:nvPr/>
        </p:nvSpPr>
        <p:spPr>
          <a:xfrm>
            <a:off x="10469880" y="2834640"/>
            <a:ext cx="57607" cy="57607"/>
          </a:xfrm>
          <a:prstGeom prst="rect">
            <a:avLst/>
          </a:prstGeom>
          <a:solidFill>
            <a:srgbClr val="F2BE92"/>
          </a:solidFill>
          <a:ln/>
        </p:spPr>
      </p:sp>
      <p:sp>
        <p:nvSpPr>
          <p:cNvPr id="320" name="Shape 318"/>
          <p:cNvSpPr/>
          <p:nvPr/>
        </p:nvSpPr>
        <p:spPr>
          <a:xfrm>
            <a:off x="10538460" y="2834640"/>
            <a:ext cx="57607" cy="57607"/>
          </a:xfrm>
          <a:prstGeom prst="rect">
            <a:avLst/>
          </a:prstGeom>
          <a:solidFill>
            <a:srgbClr val="F2BE92"/>
          </a:solidFill>
          <a:ln/>
        </p:spPr>
      </p:sp>
      <p:sp>
        <p:nvSpPr>
          <p:cNvPr id="321" name="Shape 319"/>
          <p:cNvSpPr/>
          <p:nvPr/>
        </p:nvSpPr>
        <p:spPr>
          <a:xfrm>
            <a:off x="10607040" y="2834640"/>
            <a:ext cx="57607" cy="57607"/>
          </a:xfrm>
          <a:prstGeom prst="rect">
            <a:avLst/>
          </a:prstGeom>
          <a:solidFill>
            <a:srgbClr val="F2BE92"/>
          </a:solidFill>
          <a:ln/>
        </p:spPr>
      </p:sp>
      <p:sp>
        <p:nvSpPr>
          <p:cNvPr id="322" name="Shape 320"/>
          <p:cNvSpPr/>
          <p:nvPr/>
        </p:nvSpPr>
        <p:spPr>
          <a:xfrm>
            <a:off x="10675620" y="2834640"/>
            <a:ext cx="57607" cy="57607"/>
          </a:xfrm>
          <a:prstGeom prst="rect">
            <a:avLst/>
          </a:prstGeom>
          <a:solidFill>
            <a:srgbClr val="F2BE92"/>
          </a:solidFill>
          <a:ln/>
        </p:spPr>
      </p:sp>
      <p:sp>
        <p:nvSpPr>
          <p:cNvPr id="323" name="Shape 321"/>
          <p:cNvSpPr/>
          <p:nvPr/>
        </p:nvSpPr>
        <p:spPr>
          <a:xfrm>
            <a:off x="9646920" y="2903220"/>
            <a:ext cx="57607" cy="57607"/>
          </a:xfrm>
          <a:prstGeom prst="rect">
            <a:avLst/>
          </a:prstGeom>
          <a:solidFill>
            <a:srgbClr val="EEA870"/>
          </a:solidFill>
          <a:ln/>
        </p:spPr>
      </p:sp>
      <p:sp>
        <p:nvSpPr>
          <p:cNvPr id="324" name="Shape 322"/>
          <p:cNvSpPr/>
          <p:nvPr/>
        </p:nvSpPr>
        <p:spPr>
          <a:xfrm>
            <a:off x="9715500" y="2903220"/>
            <a:ext cx="57607" cy="57607"/>
          </a:xfrm>
          <a:prstGeom prst="rect">
            <a:avLst/>
          </a:prstGeom>
          <a:solidFill>
            <a:srgbClr val="F2BE92"/>
          </a:solidFill>
          <a:ln/>
        </p:spPr>
      </p:sp>
      <p:sp>
        <p:nvSpPr>
          <p:cNvPr id="325" name="Shape 323"/>
          <p:cNvSpPr/>
          <p:nvPr/>
        </p:nvSpPr>
        <p:spPr>
          <a:xfrm>
            <a:off x="9784080" y="2903220"/>
            <a:ext cx="57607" cy="57607"/>
          </a:xfrm>
          <a:prstGeom prst="rect">
            <a:avLst/>
          </a:prstGeom>
          <a:solidFill>
            <a:srgbClr val="F2BE92"/>
          </a:solidFill>
          <a:ln/>
        </p:spPr>
      </p:sp>
      <p:sp>
        <p:nvSpPr>
          <p:cNvPr id="326" name="Shape 324"/>
          <p:cNvSpPr/>
          <p:nvPr/>
        </p:nvSpPr>
        <p:spPr>
          <a:xfrm>
            <a:off x="9852660" y="2903220"/>
            <a:ext cx="57607" cy="57607"/>
          </a:xfrm>
          <a:prstGeom prst="rect">
            <a:avLst/>
          </a:prstGeom>
          <a:solidFill>
            <a:srgbClr val="F2BE92"/>
          </a:solidFill>
          <a:ln/>
        </p:spPr>
      </p:sp>
      <p:sp>
        <p:nvSpPr>
          <p:cNvPr id="327" name="Shape 325"/>
          <p:cNvSpPr/>
          <p:nvPr/>
        </p:nvSpPr>
        <p:spPr>
          <a:xfrm>
            <a:off x="9921240" y="2903220"/>
            <a:ext cx="57607" cy="57607"/>
          </a:xfrm>
          <a:prstGeom prst="rect">
            <a:avLst/>
          </a:prstGeom>
          <a:solidFill>
            <a:srgbClr val="F2BE92"/>
          </a:solidFill>
          <a:ln/>
        </p:spPr>
      </p:sp>
      <p:sp>
        <p:nvSpPr>
          <p:cNvPr id="328" name="Shape 326"/>
          <p:cNvSpPr/>
          <p:nvPr/>
        </p:nvSpPr>
        <p:spPr>
          <a:xfrm>
            <a:off x="9989820" y="2903220"/>
            <a:ext cx="57607" cy="57607"/>
          </a:xfrm>
          <a:prstGeom prst="rect">
            <a:avLst/>
          </a:prstGeom>
          <a:solidFill>
            <a:srgbClr val="EEA870"/>
          </a:solidFill>
          <a:ln/>
        </p:spPr>
      </p:sp>
      <p:sp>
        <p:nvSpPr>
          <p:cNvPr id="329" name="Shape 327"/>
          <p:cNvSpPr/>
          <p:nvPr/>
        </p:nvSpPr>
        <p:spPr>
          <a:xfrm>
            <a:off x="10058400" y="2903220"/>
            <a:ext cx="57607" cy="57607"/>
          </a:xfrm>
          <a:prstGeom prst="rect">
            <a:avLst/>
          </a:prstGeom>
          <a:solidFill>
            <a:srgbClr val="F2BE92"/>
          </a:solidFill>
          <a:ln/>
        </p:spPr>
      </p:sp>
      <p:sp>
        <p:nvSpPr>
          <p:cNvPr id="330" name="Shape 328"/>
          <p:cNvSpPr/>
          <p:nvPr/>
        </p:nvSpPr>
        <p:spPr>
          <a:xfrm>
            <a:off x="10126980" y="2903220"/>
            <a:ext cx="57607" cy="57607"/>
          </a:xfrm>
          <a:prstGeom prst="rect">
            <a:avLst/>
          </a:prstGeom>
          <a:solidFill>
            <a:srgbClr val="F2BE92"/>
          </a:solidFill>
          <a:ln/>
        </p:spPr>
      </p:sp>
      <p:sp>
        <p:nvSpPr>
          <p:cNvPr id="331" name="Shape 329"/>
          <p:cNvSpPr/>
          <p:nvPr/>
        </p:nvSpPr>
        <p:spPr>
          <a:xfrm>
            <a:off x="10195560" y="2903220"/>
            <a:ext cx="57607" cy="57607"/>
          </a:xfrm>
          <a:prstGeom prst="rect">
            <a:avLst/>
          </a:prstGeom>
          <a:solidFill>
            <a:srgbClr val="F2BE92"/>
          </a:solidFill>
          <a:ln/>
        </p:spPr>
      </p:sp>
      <p:sp>
        <p:nvSpPr>
          <p:cNvPr id="332" name="Shape 330"/>
          <p:cNvSpPr/>
          <p:nvPr/>
        </p:nvSpPr>
        <p:spPr>
          <a:xfrm>
            <a:off x="10264140" y="2903220"/>
            <a:ext cx="57607" cy="57607"/>
          </a:xfrm>
          <a:prstGeom prst="rect">
            <a:avLst/>
          </a:prstGeom>
          <a:solidFill>
            <a:srgbClr val="F2BE92"/>
          </a:solidFill>
          <a:ln/>
        </p:spPr>
      </p:sp>
      <p:sp>
        <p:nvSpPr>
          <p:cNvPr id="333" name="Shape 331"/>
          <p:cNvSpPr/>
          <p:nvPr/>
        </p:nvSpPr>
        <p:spPr>
          <a:xfrm>
            <a:off x="10332720" y="2903220"/>
            <a:ext cx="57607" cy="57607"/>
          </a:xfrm>
          <a:prstGeom prst="rect">
            <a:avLst/>
          </a:prstGeom>
          <a:solidFill>
            <a:srgbClr val="EEA870"/>
          </a:solidFill>
          <a:ln/>
        </p:spPr>
      </p:sp>
      <p:sp>
        <p:nvSpPr>
          <p:cNvPr id="334" name="Shape 332"/>
          <p:cNvSpPr/>
          <p:nvPr/>
        </p:nvSpPr>
        <p:spPr>
          <a:xfrm>
            <a:off x="10401300" y="2903220"/>
            <a:ext cx="57607" cy="57607"/>
          </a:xfrm>
          <a:prstGeom prst="rect">
            <a:avLst/>
          </a:prstGeom>
          <a:solidFill>
            <a:srgbClr val="F2BE92"/>
          </a:solidFill>
          <a:ln/>
        </p:spPr>
      </p:sp>
      <p:sp>
        <p:nvSpPr>
          <p:cNvPr id="335" name="Shape 333"/>
          <p:cNvSpPr/>
          <p:nvPr/>
        </p:nvSpPr>
        <p:spPr>
          <a:xfrm>
            <a:off x="10469880" y="2903220"/>
            <a:ext cx="57607" cy="57607"/>
          </a:xfrm>
          <a:prstGeom prst="rect">
            <a:avLst/>
          </a:prstGeom>
          <a:solidFill>
            <a:srgbClr val="F2BE92"/>
          </a:solidFill>
          <a:ln/>
        </p:spPr>
      </p:sp>
      <p:sp>
        <p:nvSpPr>
          <p:cNvPr id="336" name="Shape 334"/>
          <p:cNvSpPr/>
          <p:nvPr/>
        </p:nvSpPr>
        <p:spPr>
          <a:xfrm>
            <a:off x="10538460" y="2903220"/>
            <a:ext cx="57607" cy="57607"/>
          </a:xfrm>
          <a:prstGeom prst="rect">
            <a:avLst/>
          </a:prstGeom>
          <a:solidFill>
            <a:srgbClr val="F2BE92"/>
          </a:solidFill>
          <a:ln/>
        </p:spPr>
      </p:sp>
      <p:sp>
        <p:nvSpPr>
          <p:cNvPr id="337" name="Shape 335"/>
          <p:cNvSpPr/>
          <p:nvPr/>
        </p:nvSpPr>
        <p:spPr>
          <a:xfrm>
            <a:off x="10607040" y="2903220"/>
            <a:ext cx="57607" cy="57607"/>
          </a:xfrm>
          <a:prstGeom prst="rect">
            <a:avLst/>
          </a:prstGeom>
          <a:solidFill>
            <a:srgbClr val="F2BE92"/>
          </a:solidFill>
          <a:ln/>
        </p:spPr>
      </p:sp>
      <p:sp>
        <p:nvSpPr>
          <p:cNvPr id="338" name="Shape 336"/>
          <p:cNvSpPr/>
          <p:nvPr/>
        </p:nvSpPr>
        <p:spPr>
          <a:xfrm>
            <a:off x="10675620" y="2903220"/>
            <a:ext cx="57607" cy="57607"/>
          </a:xfrm>
          <a:prstGeom prst="rect">
            <a:avLst/>
          </a:prstGeom>
          <a:solidFill>
            <a:srgbClr val="EEA870"/>
          </a:solidFill>
          <a:ln/>
        </p:spPr>
      </p:sp>
      <p:sp>
        <p:nvSpPr>
          <p:cNvPr id="339" name="Shape 337"/>
          <p:cNvSpPr/>
          <p:nvPr/>
        </p:nvSpPr>
        <p:spPr>
          <a:xfrm>
            <a:off x="457200" y="4160520"/>
            <a:ext cx="5760720" cy="2148840"/>
          </a:xfrm>
          <a:prstGeom prst="roundRect">
            <a:avLst>
              <a:gd name="adj" fmla="val 2553"/>
            </a:avLst>
          </a:prstGeom>
          <a:solidFill>
            <a:srgbClr val="FFFFFF"/>
          </a:solidFill>
          <a:ln w="9525">
            <a:solidFill>
              <a:srgbClr val="DCE1E7"/>
            </a:solidFill>
            <a:prstDash val="solid"/>
          </a:ln>
        </p:spPr>
      </p:sp>
      <p:sp>
        <p:nvSpPr>
          <p:cNvPr id="340" name="Text 338"/>
          <p:cNvSpPr txBox="1"/>
          <p:nvPr/>
        </p:nvSpPr>
        <p:spPr>
          <a:xfrm>
            <a:off x="594360" y="4206240"/>
            <a:ext cx="54864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建物なしも数えると、1方向の選び方は10通り</a:t>
            </a:r>
            <a:endParaRPr lang="en-US" sz="1100" dirty="0"/>
          </a:p>
        </p:txBody>
      </p:sp>
      <p:sp>
        <p:nvSpPr>
          <p:cNvPr id="341" name="Shape 339"/>
          <p:cNvSpPr/>
          <p:nvPr/>
        </p:nvSpPr>
        <p:spPr>
          <a:xfrm>
            <a:off x="685800" y="4617720"/>
            <a:ext cx="685800" cy="685800"/>
          </a:xfrm>
          <a:prstGeom prst="rect">
            <a:avLst/>
          </a:prstGeom>
          <a:solidFill>
            <a:srgbClr val="FFFFFF"/>
          </a:solidFill>
          <a:ln w="12700">
            <a:solidFill>
              <a:srgbClr val="AEB4BC"/>
            </a:solidFill>
            <a:prstDash val="dash"/>
          </a:ln>
        </p:spPr>
      </p:sp>
      <p:sp>
        <p:nvSpPr>
          <p:cNvPr id="342" name="Text 340"/>
          <p:cNvSpPr txBox="1"/>
          <p:nvPr/>
        </p:nvSpPr>
        <p:spPr>
          <a:xfrm>
            <a:off x="685800" y="4617720"/>
            <a:ext cx="685800" cy="685800"/>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なし</a:t>
            </a:r>
            <a:endParaRPr lang="en-US" sz="950" dirty="0"/>
          </a:p>
          <a:p>
            <a:pPr algn="ctr" indent="0" marL="0">
              <a:buNone/>
            </a:pPr>
            <a:r>
              <a:rPr lang="en-US" sz="950" b="1" dirty="0">
                <a:solidFill>
                  <a:srgbClr val="6B7480"/>
                </a:solidFill>
                <a:latin typeface="Yu Gothic" pitchFamily="34" charset="0"/>
                <a:ea typeface="Yu Gothic" pitchFamily="34" charset="-122"/>
                <a:cs typeface="Yu Gothic" pitchFamily="34" charset="-120"/>
              </a:rPr>
              <a:t>s＝0</a:t>
            </a:r>
            <a:endParaRPr lang="en-US" sz="950" dirty="0"/>
          </a:p>
        </p:txBody>
      </p:sp>
      <p:sp>
        <p:nvSpPr>
          <p:cNvPr id="343" name="Text 341"/>
          <p:cNvSpPr txBox="1"/>
          <p:nvPr/>
        </p:nvSpPr>
        <p:spPr>
          <a:xfrm>
            <a:off x="640080" y="5349240"/>
            <a:ext cx="777240" cy="219456"/>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1通り</a:t>
            </a:r>
            <a:endParaRPr lang="en-US" sz="1000" dirty="0"/>
          </a:p>
        </p:txBody>
      </p:sp>
      <p:sp>
        <p:nvSpPr>
          <p:cNvPr id="344" name="Text 342"/>
          <p:cNvSpPr txBox="1"/>
          <p:nvPr/>
        </p:nvSpPr>
        <p:spPr>
          <a:xfrm>
            <a:off x="1417320" y="4800600"/>
            <a:ext cx="320040" cy="320040"/>
          </a:xfrm>
          <a:prstGeom prst="rect">
            <a:avLst/>
          </a:prstGeom>
          <a:noFill/>
          <a:ln/>
        </p:spPr>
        <p:txBody>
          <a:bodyPr wrap="square" lIns="0" tIns="0" rIns="0" bIns="0" rtlCol="0" anchor="t"/>
          <a:lstStyle/>
          <a:p>
            <a:pPr algn="ctr" indent="0" marL="0">
              <a:buNone/>
            </a:pPr>
            <a:r>
              <a:rPr lang="en-US" sz="1600" b="1" dirty="0">
                <a:solidFill>
                  <a:srgbClr val="1B2A44"/>
                </a:solidFill>
                <a:latin typeface="Yu Gothic" pitchFamily="34" charset="0"/>
                <a:ea typeface="Yu Gothic" pitchFamily="34" charset="-122"/>
                <a:cs typeface="Yu Gothic" pitchFamily="34" charset="-120"/>
              </a:rPr>
              <a:t>＋</a:t>
            </a:r>
            <a:endParaRPr lang="en-US" sz="1600" dirty="0"/>
          </a:p>
        </p:txBody>
      </p:sp>
      <p:sp>
        <p:nvSpPr>
          <p:cNvPr id="345" name="Shape 343"/>
          <p:cNvSpPr/>
          <p:nvPr/>
        </p:nvSpPr>
        <p:spPr>
          <a:xfrm>
            <a:off x="2148840" y="5102352"/>
            <a:ext cx="274320" cy="237744"/>
          </a:xfrm>
          <a:prstGeom prst="rect">
            <a:avLst/>
          </a:prstGeom>
          <a:solidFill>
            <a:srgbClr val="1F6F78"/>
          </a:solidFill>
          <a:ln/>
        </p:spPr>
      </p:sp>
      <p:sp>
        <p:nvSpPr>
          <p:cNvPr id="346" name="Shape 344"/>
          <p:cNvSpPr/>
          <p:nvPr/>
        </p:nvSpPr>
        <p:spPr>
          <a:xfrm>
            <a:off x="2459736" y="5102352"/>
            <a:ext cx="274320" cy="237744"/>
          </a:xfrm>
          <a:prstGeom prst="rect">
            <a:avLst/>
          </a:prstGeom>
          <a:solidFill>
            <a:srgbClr val="1F6F78"/>
          </a:solidFill>
          <a:ln/>
        </p:spPr>
      </p:sp>
      <p:sp>
        <p:nvSpPr>
          <p:cNvPr id="347" name="Shape 345"/>
          <p:cNvSpPr/>
          <p:nvPr/>
        </p:nvSpPr>
        <p:spPr>
          <a:xfrm>
            <a:off x="2770632" y="5102352"/>
            <a:ext cx="274320" cy="237744"/>
          </a:xfrm>
          <a:prstGeom prst="rect">
            <a:avLst/>
          </a:prstGeom>
          <a:solidFill>
            <a:srgbClr val="1F6F78"/>
          </a:solidFill>
          <a:ln/>
        </p:spPr>
      </p:sp>
      <p:sp>
        <p:nvSpPr>
          <p:cNvPr id="348" name="Shape 346"/>
          <p:cNvSpPr/>
          <p:nvPr/>
        </p:nvSpPr>
        <p:spPr>
          <a:xfrm>
            <a:off x="2148840" y="4828032"/>
            <a:ext cx="274320" cy="237744"/>
          </a:xfrm>
          <a:prstGeom prst="rect">
            <a:avLst/>
          </a:prstGeom>
          <a:solidFill>
            <a:srgbClr val="1F6F78"/>
          </a:solidFill>
          <a:ln/>
        </p:spPr>
      </p:sp>
      <p:sp>
        <p:nvSpPr>
          <p:cNvPr id="349" name="Shape 347"/>
          <p:cNvSpPr/>
          <p:nvPr/>
        </p:nvSpPr>
        <p:spPr>
          <a:xfrm>
            <a:off x="2459736" y="4828032"/>
            <a:ext cx="274320" cy="237744"/>
          </a:xfrm>
          <a:prstGeom prst="rect">
            <a:avLst/>
          </a:prstGeom>
          <a:solidFill>
            <a:srgbClr val="1F6F78"/>
          </a:solidFill>
          <a:ln/>
        </p:spPr>
      </p:sp>
      <p:sp>
        <p:nvSpPr>
          <p:cNvPr id="350" name="Shape 348"/>
          <p:cNvSpPr/>
          <p:nvPr/>
        </p:nvSpPr>
        <p:spPr>
          <a:xfrm>
            <a:off x="2770632" y="4828032"/>
            <a:ext cx="274320" cy="237744"/>
          </a:xfrm>
          <a:prstGeom prst="rect">
            <a:avLst/>
          </a:prstGeom>
          <a:solidFill>
            <a:srgbClr val="1F6F78"/>
          </a:solidFill>
          <a:ln/>
        </p:spPr>
      </p:sp>
      <p:sp>
        <p:nvSpPr>
          <p:cNvPr id="351" name="Shape 349"/>
          <p:cNvSpPr/>
          <p:nvPr/>
        </p:nvSpPr>
        <p:spPr>
          <a:xfrm>
            <a:off x="2148840" y="4553712"/>
            <a:ext cx="274320" cy="237744"/>
          </a:xfrm>
          <a:prstGeom prst="rect">
            <a:avLst/>
          </a:prstGeom>
          <a:solidFill>
            <a:srgbClr val="1F6F78"/>
          </a:solidFill>
          <a:ln/>
        </p:spPr>
      </p:sp>
      <p:sp>
        <p:nvSpPr>
          <p:cNvPr id="352" name="Shape 350"/>
          <p:cNvSpPr/>
          <p:nvPr/>
        </p:nvSpPr>
        <p:spPr>
          <a:xfrm>
            <a:off x="2459736" y="4553712"/>
            <a:ext cx="274320" cy="237744"/>
          </a:xfrm>
          <a:prstGeom prst="rect">
            <a:avLst/>
          </a:prstGeom>
          <a:solidFill>
            <a:srgbClr val="1F6F78"/>
          </a:solidFill>
          <a:ln/>
        </p:spPr>
      </p:sp>
      <p:sp>
        <p:nvSpPr>
          <p:cNvPr id="353" name="Shape 351"/>
          <p:cNvSpPr/>
          <p:nvPr/>
        </p:nvSpPr>
        <p:spPr>
          <a:xfrm>
            <a:off x="2770632" y="4553712"/>
            <a:ext cx="274320" cy="237744"/>
          </a:xfrm>
          <a:prstGeom prst="rect">
            <a:avLst/>
          </a:prstGeom>
          <a:solidFill>
            <a:srgbClr val="1F6F78"/>
          </a:solidFill>
          <a:ln/>
        </p:spPr>
      </p:sp>
      <p:sp>
        <p:nvSpPr>
          <p:cNvPr id="354" name="Text 352"/>
          <p:cNvSpPr txBox="1"/>
          <p:nvPr/>
        </p:nvSpPr>
        <p:spPr>
          <a:xfrm>
            <a:off x="1737360" y="5102352"/>
            <a:ext cx="384048" cy="237744"/>
          </a:xfrm>
          <a:prstGeom prst="rect">
            <a:avLst/>
          </a:prstGeom>
          <a:noFill/>
          <a:ln/>
        </p:spPr>
        <p:txBody>
          <a:bodyPr wrap="square" lIns="0" tIns="0" rIns="0" bIns="0"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25</a:t>
            </a:r>
            <a:endParaRPr lang="en-US" sz="850" dirty="0"/>
          </a:p>
        </p:txBody>
      </p:sp>
      <p:sp>
        <p:nvSpPr>
          <p:cNvPr id="355" name="Text 353"/>
          <p:cNvSpPr txBox="1"/>
          <p:nvPr/>
        </p:nvSpPr>
        <p:spPr>
          <a:xfrm>
            <a:off x="1737360" y="4828032"/>
            <a:ext cx="384048" cy="237744"/>
          </a:xfrm>
          <a:prstGeom prst="rect">
            <a:avLst/>
          </a:prstGeom>
          <a:noFill/>
          <a:ln/>
        </p:spPr>
        <p:txBody>
          <a:bodyPr wrap="square" lIns="0" tIns="0" rIns="0" bIns="0"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50</a:t>
            </a:r>
            <a:endParaRPr lang="en-US" sz="850" dirty="0"/>
          </a:p>
        </p:txBody>
      </p:sp>
      <p:sp>
        <p:nvSpPr>
          <p:cNvPr id="356" name="Text 354"/>
          <p:cNvSpPr txBox="1"/>
          <p:nvPr/>
        </p:nvSpPr>
        <p:spPr>
          <a:xfrm>
            <a:off x="1737360" y="4553712"/>
            <a:ext cx="384048" cy="237744"/>
          </a:xfrm>
          <a:prstGeom prst="rect">
            <a:avLst/>
          </a:prstGeom>
          <a:noFill/>
          <a:ln/>
        </p:spPr>
        <p:txBody>
          <a:bodyPr wrap="square" lIns="0" tIns="0" rIns="0" bIns="0"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100</a:t>
            </a:r>
            <a:endParaRPr lang="en-US" sz="850" dirty="0"/>
          </a:p>
        </p:txBody>
      </p:sp>
      <p:sp>
        <p:nvSpPr>
          <p:cNvPr id="357" name="Text 355"/>
          <p:cNvSpPr txBox="1"/>
          <p:nvPr/>
        </p:nvSpPr>
        <p:spPr>
          <a:xfrm>
            <a:off x="2148840" y="5376672"/>
            <a:ext cx="274320"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10</a:t>
            </a:r>
            <a:endParaRPr lang="en-US" sz="850" dirty="0"/>
          </a:p>
        </p:txBody>
      </p:sp>
      <p:sp>
        <p:nvSpPr>
          <p:cNvPr id="358" name="Text 356"/>
          <p:cNvSpPr txBox="1"/>
          <p:nvPr/>
        </p:nvSpPr>
        <p:spPr>
          <a:xfrm>
            <a:off x="2459736" y="5376672"/>
            <a:ext cx="274320"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25</a:t>
            </a:r>
            <a:endParaRPr lang="en-US" sz="850" dirty="0"/>
          </a:p>
        </p:txBody>
      </p:sp>
      <p:sp>
        <p:nvSpPr>
          <p:cNvPr id="359" name="Text 357"/>
          <p:cNvSpPr txBox="1"/>
          <p:nvPr/>
        </p:nvSpPr>
        <p:spPr>
          <a:xfrm>
            <a:off x="2770632" y="5376672"/>
            <a:ext cx="274320"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100</a:t>
            </a:r>
            <a:endParaRPr lang="en-US" sz="850" dirty="0"/>
          </a:p>
        </p:txBody>
      </p:sp>
      <p:sp>
        <p:nvSpPr>
          <p:cNvPr id="360" name="Text 358"/>
          <p:cNvSpPr txBox="1"/>
          <p:nvPr/>
        </p:nvSpPr>
        <p:spPr>
          <a:xfrm>
            <a:off x="1737360" y="5559552"/>
            <a:ext cx="1463040" cy="18288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高さA↑ 隙間D→</a:t>
            </a:r>
            <a:endParaRPr lang="en-US" sz="800" dirty="0"/>
          </a:p>
        </p:txBody>
      </p:sp>
      <p:sp>
        <p:nvSpPr>
          <p:cNvPr id="361" name="Text 359"/>
          <p:cNvSpPr txBox="1"/>
          <p:nvPr/>
        </p:nvSpPr>
        <p:spPr>
          <a:xfrm>
            <a:off x="3063240" y="4754880"/>
            <a:ext cx="822960" cy="365760"/>
          </a:xfrm>
          <a:prstGeom prst="rect">
            <a:avLst/>
          </a:prstGeom>
          <a:noFill/>
          <a:ln/>
        </p:spPr>
        <p:txBody>
          <a:bodyPr wrap="square" lIns="0" tIns="0" rIns="0" bIns="0" rtlCol="0" anchor="ctr"/>
          <a:lstStyle/>
          <a:p>
            <a:pPr algn="ctr" indent="0" marL="0">
              <a:buNone/>
            </a:pPr>
            <a:r>
              <a:rPr lang="en-US" sz="1000" b="1" dirty="0">
                <a:solidFill>
                  <a:srgbClr val="1F6F78"/>
                </a:solidFill>
                <a:latin typeface="Yu Gothic" pitchFamily="34" charset="0"/>
                <a:ea typeface="Yu Gothic" pitchFamily="34" charset="-122"/>
                <a:cs typeface="Yu Gothic" pitchFamily="34" charset="-120"/>
              </a:rPr>
              <a:t>あり 9通り</a:t>
            </a:r>
            <a:endParaRPr lang="en-US" sz="1000" dirty="0"/>
          </a:p>
        </p:txBody>
      </p:sp>
      <p:sp>
        <p:nvSpPr>
          <p:cNvPr id="362" name="Text 360"/>
          <p:cNvSpPr txBox="1"/>
          <p:nvPr/>
        </p:nvSpPr>
        <p:spPr>
          <a:xfrm>
            <a:off x="3840480" y="4754880"/>
            <a:ext cx="1097280" cy="365760"/>
          </a:xfrm>
          <a:prstGeom prst="rect">
            <a:avLst/>
          </a:prstGeom>
          <a:noFill/>
          <a:ln/>
        </p:spPr>
        <p:txBody>
          <a:bodyPr wrap="square" lIns="508" tIns="508" rIns="508" bIns="508" rtlCol="0" anchor="ctr"/>
          <a:lstStyle/>
          <a:p>
            <a:pPr indent="0" marL="0">
              <a:buNone/>
            </a:pPr>
            <a:r>
              <a:rPr lang="en-US" sz="1400" b="1" dirty="0">
                <a:solidFill>
                  <a:srgbClr val="C56A2C"/>
                </a:solidFill>
                <a:latin typeface="Yu Gothic" pitchFamily="34" charset="0"/>
                <a:ea typeface="Yu Gothic" pitchFamily="34" charset="-122"/>
                <a:cs typeface="Yu Gothic" pitchFamily="34" charset="-120"/>
              </a:rPr>
              <a:t>＝ 10通り</a:t>
            </a:r>
            <a:endParaRPr lang="en-US" sz="1400" dirty="0"/>
          </a:p>
        </p:txBody>
      </p:sp>
      <p:sp>
        <p:nvSpPr>
          <p:cNvPr id="363" name="Shape 361"/>
          <p:cNvSpPr/>
          <p:nvPr/>
        </p:nvSpPr>
        <p:spPr>
          <a:xfrm>
            <a:off x="640080" y="5779008"/>
            <a:ext cx="5394960" cy="438912"/>
          </a:xfrm>
          <a:prstGeom prst="roundRect">
            <a:avLst>
              <a:gd name="adj" fmla="val 10417"/>
            </a:avLst>
          </a:prstGeom>
          <a:solidFill>
            <a:srgbClr val="FBEBDA"/>
          </a:solidFill>
          <a:ln/>
        </p:spPr>
      </p:sp>
      <p:sp>
        <p:nvSpPr>
          <p:cNvPr id="364" name="Text 362"/>
          <p:cNvSpPr txBox="1"/>
          <p:nvPr/>
        </p:nvSpPr>
        <p:spPr>
          <a:xfrm>
            <a:off x="731520" y="5779008"/>
            <a:ext cx="5212080" cy="438912"/>
          </a:xfrm>
          <a:prstGeom prst="rect">
            <a:avLst/>
          </a:prstGeom>
          <a:noFill/>
          <a:ln/>
        </p:spPr>
        <p:txBody>
          <a:bodyPr wrap="square" lIns="508" tIns="508" rIns="508" bIns="508" rtlCol="0" anchor="ctr"/>
          <a:lstStyle/>
          <a:p>
            <a:pPr indent="0" marL="0">
              <a:buNone/>
            </a:pPr>
            <a:r>
              <a:rPr lang="en-US" sz="1100" b="1" dirty="0">
                <a:solidFill>
                  <a:srgbClr val="C56A2C"/>
                </a:solidFill>
                <a:latin typeface="Yu Gothic" pitchFamily="34" charset="0"/>
                <a:ea typeface="Yu Gothic" pitchFamily="34" charset="-122"/>
                <a:cs typeface="Yu Gothic" pitchFamily="34" charset="-120"/>
              </a:rPr>
              <a:t>北10 × 東10 × 南10 × 西10 ＝ 10,000配置（4桁の暗証番号と同じ）</a:t>
            </a:r>
            <a:endParaRPr lang="en-US" sz="1100" dirty="0"/>
          </a:p>
        </p:txBody>
      </p:sp>
      <p:sp>
        <p:nvSpPr>
          <p:cNvPr id="365" name="Text 363"/>
          <p:cNvSpPr txBox="1"/>
          <p:nvPr/>
        </p:nvSpPr>
        <p:spPr>
          <a:xfrm>
            <a:off x="6400800" y="4160520"/>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10,000配置の内訳（棟数ごと）</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0" y="4462272"/>
          <a:ext cx="5349240" cy="914400"/>
        </p:xfrm>
        <a:graphic>
          <a:graphicData uri="http://schemas.openxmlformats.org/drawingml/2006/table">
            <a:tbl>
              <a:tblPr/>
              <a:tblGrid>
                <a:gridCol w="1005840"/>
                <a:gridCol w="1508760"/>
                <a:gridCol w="1463040"/>
                <a:gridCol w="1371600"/>
              </a:tblGrid>
              <a:tr h="256032">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置く棟数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方向の選び方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高さ・距離の選び方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配置数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0棟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1棟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4×9＝36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2棟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6×81＝486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3棟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9×9×9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4×729＝2,916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56032">
                <a:tc>
                  <a:txBody>
                    <a:bodyPr/>
                    <a:lstStyle/>
                    <a:p>
                      <a:pPr algn="l" indent="0" marL="0">
                        <a:buNone/>
                      </a:pPr>
                      <a:r>
                        <a:rPr lang="en-US" sz="1000" b="1" dirty="0">
                          <a:solidFill>
                            <a:srgbClr val="B04A3F"/>
                          </a:solidFill>
                          <a:latin typeface="Yu Gothic" pitchFamily="34" charset="0"/>
                          <a:ea typeface="Yu Gothic" pitchFamily="34" charset="-122"/>
                          <a:cs typeface="Yu Gothic" pitchFamily="34" charset="-120"/>
                        </a:rPr>
                        <a:t>4棟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9⁴</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04A3F"/>
                          </a:solidFill>
                          <a:latin typeface="Yu Gothic" pitchFamily="34" charset="0"/>
                          <a:ea typeface="Yu Gothic" pitchFamily="34" charset="-122"/>
                          <a:cs typeface="Yu Gothic" pitchFamily="34" charset="-120"/>
                        </a:rPr>
                        <a:t>6,561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合計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16通り（有無の組）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10,000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具体例①：南と東の建物それぞれで、入力を囲む「4つの隅」を探す</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31 / 45</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8934D"/>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54480"/>
            <a:ext cx="3566160" cy="4754880"/>
          </a:xfrm>
          <a:prstGeom prst="roundRect">
            <a:avLst>
              <a:gd name="adj" fmla="val 1538"/>
            </a:avLst>
          </a:prstGeom>
          <a:solidFill>
            <a:srgbClr val="F3F5F8"/>
          </a:solidFill>
          <a:ln/>
        </p:spPr>
      </p:sp>
      <p:sp>
        <p:nvSpPr>
          <p:cNvPr id="22" name="Text 20"/>
          <p:cNvSpPr txBox="1"/>
          <p:nvPr/>
        </p:nvSpPr>
        <p:spPr>
          <a:xfrm>
            <a:off x="594360" y="1600200"/>
            <a:ext cx="3291840" cy="237744"/>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入力（知りたい配置）</a:t>
            </a:r>
            <a:endParaRPr lang="en-US" sz="1100" dirty="0"/>
          </a:p>
        </p:txBody>
      </p:sp>
      <p:sp>
        <p:nvSpPr>
          <p:cNvPr id="23" name="Shape 21"/>
          <p:cNvSpPr/>
          <p:nvPr/>
        </p:nvSpPr>
        <p:spPr>
          <a:xfrm>
            <a:off x="1863090" y="2503170"/>
            <a:ext cx="480060" cy="480060"/>
          </a:xfrm>
          <a:prstGeom prst="rect">
            <a:avLst/>
          </a:prstGeom>
          <a:solidFill>
            <a:srgbClr val="1B2A44"/>
          </a:solidFill>
          <a:ln/>
        </p:spPr>
      </p:sp>
      <p:sp>
        <p:nvSpPr>
          <p:cNvPr id="24" name="Shape 22"/>
          <p:cNvSpPr/>
          <p:nvPr/>
        </p:nvSpPr>
        <p:spPr>
          <a:xfrm>
            <a:off x="1863090" y="3127248"/>
            <a:ext cx="480060" cy="480060"/>
          </a:xfrm>
          <a:prstGeom prst="rect">
            <a:avLst/>
          </a:prstGeom>
          <a:solidFill>
            <a:srgbClr val="1F6F78"/>
          </a:solidFill>
          <a:ln/>
        </p:spPr>
      </p:sp>
      <p:sp>
        <p:nvSpPr>
          <p:cNvPr id="25" name="Shape 23"/>
          <p:cNvSpPr/>
          <p:nvPr/>
        </p:nvSpPr>
        <p:spPr>
          <a:xfrm>
            <a:off x="2535174" y="2503170"/>
            <a:ext cx="480060" cy="480060"/>
          </a:xfrm>
          <a:prstGeom prst="rect">
            <a:avLst/>
          </a:prstGeom>
          <a:solidFill>
            <a:srgbClr val="E8934D"/>
          </a:solidFill>
          <a:ln/>
        </p:spPr>
      </p:sp>
      <p:sp>
        <p:nvSpPr>
          <p:cNvPr id="26" name="Shape 24"/>
          <p:cNvSpPr/>
          <p:nvPr/>
        </p:nvSpPr>
        <p:spPr>
          <a:xfrm>
            <a:off x="1863090" y="1879092"/>
            <a:ext cx="480060" cy="480060"/>
          </a:xfrm>
          <a:prstGeom prst="rect">
            <a:avLst/>
          </a:prstGeom>
          <a:solidFill>
            <a:srgbClr val="FFFFFF"/>
          </a:solidFill>
          <a:ln w="9525">
            <a:solidFill>
              <a:srgbClr val="AEB4BC"/>
            </a:solidFill>
            <a:prstDash val="dash"/>
          </a:ln>
        </p:spPr>
      </p:sp>
      <p:sp>
        <p:nvSpPr>
          <p:cNvPr id="27" name="Shape 25"/>
          <p:cNvSpPr/>
          <p:nvPr/>
        </p:nvSpPr>
        <p:spPr>
          <a:xfrm>
            <a:off x="1239012" y="2503170"/>
            <a:ext cx="480060" cy="480060"/>
          </a:xfrm>
          <a:prstGeom prst="rect">
            <a:avLst/>
          </a:prstGeom>
          <a:solidFill>
            <a:srgbClr val="FFFFFF"/>
          </a:solidFill>
          <a:ln w="9525">
            <a:solidFill>
              <a:srgbClr val="AEB4BC"/>
            </a:solidFill>
            <a:prstDash val="dash"/>
          </a:ln>
        </p:spPr>
      </p:sp>
      <p:sp>
        <p:nvSpPr>
          <p:cNvPr id="28" name="Shape 26"/>
          <p:cNvSpPr/>
          <p:nvPr/>
        </p:nvSpPr>
        <p:spPr>
          <a:xfrm>
            <a:off x="1863090" y="2951226"/>
            <a:ext cx="480060" cy="64008"/>
          </a:xfrm>
          <a:prstGeom prst="rect">
            <a:avLst/>
          </a:prstGeom>
          <a:solidFill>
            <a:srgbClr val="B04A3F"/>
          </a:solidFill>
          <a:ln/>
        </p:spPr>
      </p:sp>
      <p:sp>
        <p:nvSpPr>
          <p:cNvPr id="29" name="Text 27"/>
          <p:cNvSpPr txBox="1"/>
          <p:nvPr/>
        </p:nvSpPr>
        <p:spPr>
          <a:xfrm>
            <a:off x="1863090" y="2503170"/>
            <a:ext cx="480060" cy="48006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中央</a:t>
            </a:r>
            <a:endParaRPr lang="en-US" sz="850" dirty="0"/>
          </a:p>
        </p:txBody>
      </p:sp>
      <p:sp>
        <p:nvSpPr>
          <p:cNvPr id="30" name="Text 28"/>
          <p:cNvSpPr txBox="1"/>
          <p:nvPr/>
        </p:nvSpPr>
        <p:spPr>
          <a:xfrm>
            <a:off x="1863090" y="3127248"/>
            <a:ext cx="480060" cy="480060"/>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南</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35m</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15m</a:t>
            </a:r>
            <a:endParaRPr lang="en-US" sz="750" dirty="0"/>
          </a:p>
        </p:txBody>
      </p:sp>
      <p:sp>
        <p:nvSpPr>
          <p:cNvPr id="31" name="Text 29"/>
          <p:cNvSpPr txBox="1"/>
          <p:nvPr/>
        </p:nvSpPr>
        <p:spPr>
          <a:xfrm>
            <a:off x="2535174" y="2503170"/>
            <a:ext cx="480060" cy="480060"/>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東</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40m</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20m</a:t>
            </a:r>
            <a:endParaRPr lang="en-US" sz="750" dirty="0"/>
          </a:p>
        </p:txBody>
      </p:sp>
      <p:sp>
        <p:nvSpPr>
          <p:cNvPr id="32" name="Text 30"/>
          <p:cNvSpPr txBox="1"/>
          <p:nvPr/>
        </p:nvSpPr>
        <p:spPr>
          <a:xfrm>
            <a:off x="2388870" y="1988820"/>
            <a:ext cx="822960" cy="20116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北：なし</a:t>
            </a:r>
            <a:endParaRPr lang="en-US" sz="850" dirty="0"/>
          </a:p>
        </p:txBody>
      </p:sp>
      <p:sp>
        <p:nvSpPr>
          <p:cNvPr id="33" name="Text 31"/>
          <p:cNvSpPr txBox="1"/>
          <p:nvPr/>
        </p:nvSpPr>
        <p:spPr>
          <a:xfrm>
            <a:off x="1239012" y="2274570"/>
            <a:ext cx="822960" cy="20116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西：なし</a:t>
            </a:r>
            <a:endParaRPr lang="en-US" sz="850" dirty="0"/>
          </a:p>
        </p:txBody>
      </p:sp>
      <p:sp>
        <p:nvSpPr>
          <p:cNvPr id="34" name="Text 32"/>
          <p:cNvSpPr txBox="1"/>
          <p:nvPr/>
        </p:nvSpPr>
        <p:spPr>
          <a:xfrm>
            <a:off x="594360" y="3703320"/>
            <a:ext cx="3291840" cy="219456"/>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 計算する壁：南面・帯1</a:t>
            </a:r>
            <a:endParaRPr lang="en-US" sz="950" dirty="0"/>
          </a:p>
        </p:txBody>
      </p:sp>
      <p:sp>
        <p:nvSpPr>
          <p:cNvPr id="35" name="Shape 33"/>
          <p:cNvSpPr/>
          <p:nvPr/>
        </p:nvSpPr>
        <p:spPr>
          <a:xfrm>
            <a:off x="1690694" y="4336030"/>
            <a:ext cx="1099173" cy="549664"/>
          </a:xfrm>
          <a:custGeom>
            <a:avLst/>
            <a:gdLst/>
            <a:ahLst/>
            <a:cxnLst/>
            <a:rect l="l" t="t" r="r" b="b"/>
            <a:pathLst>
              <a:path w="1099173" h="549664">
                <a:moveTo>
                  <a:pt x="0" y="274832"/>
                </a:moveTo>
                <a:lnTo>
                  <a:pt x="549586" y="549664"/>
                </a:lnTo>
                <a:lnTo>
                  <a:pt x="1099173" y="274832"/>
                </a:lnTo>
                <a:lnTo>
                  <a:pt x="549586" y="0"/>
                </a:lnTo>
                <a:close/>
              </a:path>
            </a:pathLst>
          </a:custGeom>
          <a:solidFill>
            <a:srgbClr val="4A5F85"/>
          </a:solidFill>
          <a:ln w="6350">
            <a:solidFill>
              <a:srgbClr val="FFFFFF"/>
            </a:solidFill>
            <a:prstDash val="solid"/>
          </a:ln>
        </p:spPr>
      </p:sp>
      <p:sp>
        <p:nvSpPr>
          <p:cNvPr id="36" name="Shape 34"/>
          <p:cNvSpPr/>
          <p:nvPr/>
        </p:nvSpPr>
        <p:spPr>
          <a:xfrm>
            <a:off x="1690694" y="5201564"/>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04A3F"/>
          </a:solidFill>
          <a:ln w="9525">
            <a:solidFill>
              <a:srgbClr val="FFFFFF"/>
            </a:solidFill>
            <a:prstDash val="solid"/>
          </a:ln>
        </p:spPr>
      </p:sp>
      <p:sp>
        <p:nvSpPr>
          <p:cNvPr id="37" name="Shape 35"/>
          <p:cNvSpPr/>
          <p:nvPr/>
        </p:nvSpPr>
        <p:spPr>
          <a:xfrm>
            <a:off x="2240280" y="5201564"/>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38" name="Shape 36"/>
          <p:cNvSpPr/>
          <p:nvPr/>
        </p:nvSpPr>
        <p:spPr>
          <a:xfrm>
            <a:off x="1690694" y="5053889"/>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8C3D6"/>
          </a:solidFill>
          <a:ln w="9525">
            <a:solidFill>
              <a:srgbClr val="FFFFFF"/>
            </a:solidFill>
            <a:prstDash val="solid"/>
          </a:ln>
        </p:spPr>
      </p:sp>
      <p:sp>
        <p:nvSpPr>
          <p:cNvPr id="39" name="Shape 37"/>
          <p:cNvSpPr/>
          <p:nvPr/>
        </p:nvSpPr>
        <p:spPr>
          <a:xfrm>
            <a:off x="2240280" y="5053889"/>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40" name="Shape 38"/>
          <p:cNvSpPr/>
          <p:nvPr/>
        </p:nvSpPr>
        <p:spPr>
          <a:xfrm>
            <a:off x="1690694" y="4906213"/>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8C3D6"/>
          </a:solidFill>
          <a:ln w="9525">
            <a:solidFill>
              <a:srgbClr val="FFFFFF"/>
            </a:solidFill>
            <a:prstDash val="solid"/>
          </a:ln>
        </p:spPr>
      </p:sp>
      <p:sp>
        <p:nvSpPr>
          <p:cNvPr id="41" name="Shape 39"/>
          <p:cNvSpPr/>
          <p:nvPr/>
        </p:nvSpPr>
        <p:spPr>
          <a:xfrm>
            <a:off x="2240280" y="4906213"/>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42" name="Shape 40"/>
          <p:cNvSpPr/>
          <p:nvPr/>
        </p:nvSpPr>
        <p:spPr>
          <a:xfrm>
            <a:off x="1690694" y="4758538"/>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8C3D6"/>
          </a:solidFill>
          <a:ln w="9525">
            <a:solidFill>
              <a:srgbClr val="FFFFFF"/>
            </a:solidFill>
            <a:prstDash val="solid"/>
          </a:ln>
        </p:spPr>
      </p:sp>
      <p:sp>
        <p:nvSpPr>
          <p:cNvPr id="43" name="Shape 41"/>
          <p:cNvSpPr/>
          <p:nvPr/>
        </p:nvSpPr>
        <p:spPr>
          <a:xfrm>
            <a:off x="2240280" y="4758538"/>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44" name="Shape 42"/>
          <p:cNvSpPr/>
          <p:nvPr/>
        </p:nvSpPr>
        <p:spPr>
          <a:xfrm>
            <a:off x="1690694" y="4610862"/>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8C3D6"/>
          </a:solidFill>
          <a:ln w="9525">
            <a:solidFill>
              <a:srgbClr val="FFFFFF"/>
            </a:solidFill>
            <a:prstDash val="solid"/>
          </a:ln>
        </p:spPr>
      </p:sp>
      <p:sp>
        <p:nvSpPr>
          <p:cNvPr id="45" name="Shape 43"/>
          <p:cNvSpPr/>
          <p:nvPr/>
        </p:nvSpPr>
        <p:spPr>
          <a:xfrm>
            <a:off x="2240280" y="4610862"/>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46" name="Shape 44"/>
          <p:cNvSpPr/>
          <p:nvPr/>
        </p:nvSpPr>
        <p:spPr>
          <a:xfrm>
            <a:off x="976231" y="4914825"/>
            <a:ext cx="1099173" cy="549664"/>
          </a:xfrm>
          <a:custGeom>
            <a:avLst/>
            <a:gdLst/>
            <a:ahLst/>
            <a:cxnLst/>
            <a:rect l="l" t="t" r="r" b="b"/>
            <a:pathLst>
              <a:path w="1099173" h="549664">
                <a:moveTo>
                  <a:pt x="0" y="274832"/>
                </a:moveTo>
                <a:lnTo>
                  <a:pt x="549586" y="549664"/>
                </a:lnTo>
                <a:lnTo>
                  <a:pt x="1099173" y="274832"/>
                </a:lnTo>
                <a:lnTo>
                  <a:pt x="549586" y="0"/>
                </a:lnTo>
                <a:close/>
              </a:path>
            </a:pathLst>
          </a:custGeom>
          <a:solidFill>
            <a:srgbClr val="1F6F78">
              <a:alpha val="30000"/>
            </a:srgbClr>
          </a:solidFill>
          <a:ln w="12700">
            <a:solidFill>
              <a:srgbClr val="1F6F78"/>
            </a:solidFill>
            <a:prstDash val="solid"/>
          </a:ln>
        </p:spPr>
      </p:sp>
      <p:sp>
        <p:nvSpPr>
          <p:cNvPr id="47" name="Shape 45"/>
          <p:cNvSpPr/>
          <p:nvPr/>
        </p:nvSpPr>
        <p:spPr>
          <a:xfrm>
            <a:off x="976231" y="5189657"/>
            <a:ext cx="549586" cy="791697"/>
          </a:xfrm>
          <a:custGeom>
            <a:avLst/>
            <a:gdLst/>
            <a:ahLst/>
            <a:cxnLst/>
            <a:rect l="l" t="t" r="r" b="b"/>
            <a:pathLst>
              <a:path w="549586" h="791697">
                <a:moveTo>
                  <a:pt x="0" y="516865"/>
                </a:moveTo>
                <a:lnTo>
                  <a:pt x="549586" y="791697"/>
                </a:lnTo>
                <a:lnTo>
                  <a:pt x="549586" y="274832"/>
                </a:lnTo>
                <a:lnTo>
                  <a:pt x="0" y="0"/>
                </a:lnTo>
                <a:close/>
              </a:path>
            </a:pathLst>
          </a:custGeom>
          <a:solidFill>
            <a:srgbClr val="1F6F78">
              <a:alpha val="30000"/>
            </a:srgbClr>
          </a:solidFill>
          <a:ln w="12700">
            <a:solidFill>
              <a:srgbClr val="1F6F78"/>
            </a:solidFill>
            <a:prstDash val="solid"/>
          </a:ln>
        </p:spPr>
      </p:sp>
      <p:sp>
        <p:nvSpPr>
          <p:cNvPr id="48" name="Shape 46"/>
          <p:cNvSpPr/>
          <p:nvPr/>
        </p:nvSpPr>
        <p:spPr>
          <a:xfrm>
            <a:off x="1525818" y="5189657"/>
            <a:ext cx="549586" cy="791697"/>
          </a:xfrm>
          <a:custGeom>
            <a:avLst/>
            <a:gdLst/>
            <a:ahLst/>
            <a:cxnLst/>
            <a:rect l="l" t="t" r="r" b="b"/>
            <a:pathLst>
              <a:path w="549586" h="791697">
                <a:moveTo>
                  <a:pt x="0" y="791697"/>
                </a:moveTo>
                <a:lnTo>
                  <a:pt x="549586" y="516865"/>
                </a:lnTo>
                <a:lnTo>
                  <a:pt x="549586" y="0"/>
                </a:lnTo>
                <a:lnTo>
                  <a:pt x="0" y="274832"/>
                </a:lnTo>
                <a:close/>
              </a:path>
            </a:pathLst>
          </a:custGeom>
          <a:solidFill>
            <a:srgbClr val="1F6F78">
              <a:alpha val="30000"/>
            </a:srgbClr>
          </a:solidFill>
          <a:ln w="12700">
            <a:solidFill>
              <a:srgbClr val="1F6F78"/>
            </a:solidFill>
            <a:prstDash val="solid"/>
          </a:ln>
        </p:spPr>
      </p:sp>
      <p:sp>
        <p:nvSpPr>
          <p:cNvPr id="49" name="Shape 47"/>
          <p:cNvSpPr/>
          <p:nvPr/>
        </p:nvSpPr>
        <p:spPr>
          <a:xfrm>
            <a:off x="2460115" y="4868470"/>
            <a:ext cx="1099173" cy="549664"/>
          </a:xfrm>
          <a:custGeom>
            <a:avLst/>
            <a:gdLst/>
            <a:ahLst/>
            <a:cxnLst/>
            <a:rect l="l" t="t" r="r" b="b"/>
            <a:pathLst>
              <a:path w="1099173" h="549664">
                <a:moveTo>
                  <a:pt x="0" y="274832"/>
                </a:moveTo>
                <a:lnTo>
                  <a:pt x="549586" y="549664"/>
                </a:lnTo>
                <a:lnTo>
                  <a:pt x="1099173" y="274832"/>
                </a:lnTo>
                <a:lnTo>
                  <a:pt x="549586" y="0"/>
                </a:lnTo>
                <a:close/>
              </a:path>
            </a:pathLst>
          </a:custGeom>
          <a:solidFill>
            <a:srgbClr val="F2C49B"/>
          </a:solidFill>
          <a:ln w="6350">
            <a:solidFill>
              <a:srgbClr val="FFFFFF"/>
            </a:solidFill>
            <a:prstDash val="solid"/>
          </a:ln>
        </p:spPr>
      </p:sp>
      <p:sp>
        <p:nvSpPr>
          <p:cNvPr id="50" name="Shape 48"/>
          <p:cNvSpPr/>
          <p:nvPr/>
        </p:nvSpPr>
        <p:spPr>
          <a:xfrm>
            <a:off x="2460115" y="5143302"/>
            <a:ext cx="549586" cy="865534"/>
          </a:xfrm>
          <a:custGeom>
            <a:avLst/>
            <a:gdLst/>
            <a:ahLst/>
            <a:cxnLst/>
            <a:rect l="l" t="t" r="r" b="b"/>
            <a:pathLst>
              <a:path w="549586" h="865534">
                <a:moveTo>
                  <a:pt x="0" y="590702"/>
                </a:moveTo>
                <a:lnTo>
                  <a:pt x="549586" y="865534"/>
                </a:lnTo>
                <a:lnTo>
                  <a:pt x="549586" y="274832"/>
                </a:lnTo>
                <a:lnTo>
                  <a:pt x="0" y="0"/>
                </a:lnTo>
                <a:close/>
              </a:path>
            </a:pathLst>
          </a:custGeom>
          <a:solidFill>
            <a:srgbClr val="E8934D"/>
          </a:solidFill>
          <a:ln w="6350">
            <a:solidFill>
              <a:srgbClr val="FFFFFF"/>
            </a:solidFill>
            <a:prstDash val="solid"/>
          </a:ln>
        </p:spPr>
      </p:sp>
      <p:sp>
        <p:nvSpPr>
          <p:cNvPr id="51" name="Shape 49"/>
          <p:cNvSpPr/>
          <p:nvPr/>
        </p:nvSpPr>
        <p:spPr>
          <a:xfrm>
            <a:off x="3009701" y="5143302"/>
            <a:ext cx="549586" cy="865534"/>
          </a:xfrm>
          <a:custGeom>
            <a:avLst/>
            <a:gdLst/>
            <a:ahLst/>
            <a:cxnLst/>
            <a:rect l="l" t="t" r="r" b="b"/>
            <a:pathLst>
              <a:path w="549586" h="865534">
                <a:moveTo>
                  <a:pt x="0" y="865534"/>
                </a:moveTo>
                <a:lnTo>
                  <a:pt x="549586" y="590702"/>
                </a:lnTo>
                <a:lnTo>
                  <a:pt x="549586" y="0"/>
                </a:lnTo>
                <a:lnTo>
                  <a:pt x="0" y="274832"/>
                </a:lnTo>
                <a:close/>
              </a:path>
            </a:pathLst>
          </a:custGeom>
          <a:solidFill>
            <a:srgbClr val="C56A2C"/>
          </a:solidFill>
          <a:ln w="6350">
            <a:solidFill>
              <a:srgbClr val="FFFFFF"/>
            </a:solidFill>
            <a:prstDash val="solid"/>
          </a:ln>
        </p:spPr>
      </p:sp>
      <p:sp>
        <p:nvSpPr>
          <p:cNvPr id="52" name="Text 50"/>
          <p:cNvSpPr txBox="1"/>
          <p:nvPr/>
        </p:nvSpPr>
        <p:spPr>
          <a:xfrm>
            <a:off x="548640" y="4498162"/>
            <a:ext cx="914400" cy="201168"/>
          </a:xfrm>
          <a:prstGeom prst="rect">
            <a:avLst/>
          </a:prstGeom>
          <a:noFill/>
          <a:ln/>
        </p:spPr>
        <p:txBody>
          <a:bodyPr wrap="square" lIns="508" tIns="508" rIns="508" bIns="508" rtlCol="0" anchor="t"/>
          <a:lstStyle/>
          <a:p>
            <a:pPr indent="0" marL="0">
              <a:buNone/>
            </a:pPr>
            <a:r>
              <a:rPr lang="en-US" sz="900" b="1" dirty="0">
                <a:solidFill>
                  <a:srgbClr val="B04A3F"/>
                </a:solidFill>
                <a:latin typeface="Yu Gothic" pitchFamily="34" charset="0"/>
                <a:ea typeface="Yu Gothic" pitchFamily="34" charset="-122"/>
                <a:cs typeface="Yu Gothic" pitchFamily="34" charset="-120"/>
              </a:rPr>
              <a:t>南面・帯1</a:t>
            </a:r>
            <a:endParaRPr lang="en-US" sz="900" dirty="0"/>
          </a:p>
        </p:txBody>
      </p:sp>
      <p:sp>
        <p:nvSpPr>
          <p:cNvPr id="53" name="Shape 51"/>
          <p:cNvSpPr/>
          <p:nvPr/>
        </p:nvSpPr>
        <p:spPr>
          <a:xfrm>
            <a:off x="1097280" y="4699330"/>
            <a:ext cx="684854" cy="530352"/>
          </a:xfrm>
          <a:prstGeom prst="line">
            <a:avLst/>
          </a:prstGeom>
          <a:noFill/>
          <a:ln w="9525">
            <a:solidFill>
              <a:srgbClr val="B04A3F"/>
            </a:solidFill>
            <a:prstDash val="solid"/>
          </a:ln>
        </p:spPr>
      </p:sp>
      <p:sp>
        <p:nvSpPr>
          <p:cNvPr id="54" name="Text 52"/>
          <p:cNvSpPr txBox="1"/>
          <p:nvPr/>
        </p:nvSpPr>
        <p:spPr>
          <a:xfrm>
            <a:off x="594360" y="6053328"/>
            <a:ext cx="3291840" cy="20116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南の建物は透かして表示</a:t>
            </a:r>
            <a:endParaRPr lang="en-US" sz="850" dirty="0"/>
          </a:p>
        </p:txBody>
      </p:sp>
      <p:sp>
        <p:nvSpPr>
          <p:cNvPr id="55" name="Shape 53"/>
          <p:cNvSpPr/>
          <p:nvPr/>
        </p:nvSpPr>
        <p:spPr>
          <a:xfrm>
            <a:off x="4206240" y="1554480"/>
            <a:ext cx="3703320" cy="4160520"/>
          </a:xfrm>
          <a:prstGeom prst="roundRect">
            <a:avLst>
              <a:gd name="adj" fmla="val 1481"/>
            </a:avLst>
          </a:prstGeom>
          <a:solidFill>
            <a:srgbClr val="E6F0F1"/>
          </a:solidFill>
          <a:ln/>
        </p:spPr>
      </p:sp>
      <p:sp>
        <p:nvSpPr>
          <p:cNvPr id="56" name="Shape 54"/>
          <p:cNvSpPr/>
          <p:nvPr/>
        </p:nvSpPr>
        <p:spPr>
          <a:xfrm>
            <a:off x="4206240" y="1554480"/>
            <a:ext cx="3703320" cy="365760"/>
          </a:xfrm>
          <a:prstGeom prst="roundRect">
            <a:avLst>
              <a:gd name="adj" fmla="val 15000"/>
            </a:avLst>
          </a:prstGeom>
          <a:solidFill>
            <a:srgbClr val="1F6F78"/>
          </a:solidFill>
          <a:ln/>
        </p:spPr>
      </p:sp>
      <p:sp>
        <p:nvSpPr>
          <p:cNvPr id="57" name="Text 55"/>
          <p:cNvSpPr txBox="1"/>
          <p:nvPr/>
        </p:nvSpPr>
        <p:spPr>
          <a:xfrm>
            <a:off x="4315968" y="1554480"/>
            <a:ext cx="3483864"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南の建物　入力：高さ35m・隙間15m</a:t>
            </a:r>
            <a:endParaRPr lang="en-US" sz="1100" dirty="0"/>
          </a:p>
        </p:txBody>
      </p:sp>
      <p:sp>
        <p:nvSpPr>
          <p:cNvPr id="58" name="Shape 56"/>
          <p:cNvSpPr/>
          <p:nvPr/>
        </p:nvSpPr>
        <p:spPr>
          <a:xfrm>
            <a:off x="5212080" y="2194560"/>
            <a:ext cx="1417320" cy="1417320"/>
          </a:xfrm>
          <a:prstGeom prst="rect">
            <a:avLst/>
          </a:prstGeom>
          <a:solidFill>
            <a:srgbClr val="FFFFFF"/>
          </a:solidFill>
          <a:ln w="9525">
            <a:solidFill>
              <a:srgbClr val="C9D0D8"/>
            </a:solidFill>
            <a:prstDash val="solid"/>
          </a:ln>
        </p:spPr>
      </p:sp>
      <p:sp>
        <p:nvSpPr>
          <p:cNvPr id="59" name="Shape 57"/>
          <p:cNvSpPr/>
          <p:nvPr/>
        </p:nvSpPr>
        <p:spPr>
          <a:xfrm>
            <a:off x="5120640" y="3520440"/>
            <a:ext cx="182880" cy="182880"/>
          </a:xfrm>
          <a:prstGeom prst="rect">
            <a:avLst/>
          </a:prstGeom>
          <a:solidFill>
            <a:srgbClr val="1F6F78"/>
          </a:solidFill>
          <a:ln w="6350">
            <a:solidFill>
              <a:srgbClr val="FFFFFF"/>
            </a:solidFill>
            <a:prstDash val="solid"/>
          </a:ln>
        </p:spPr>
      </p:sp>
      <p:sp>
        <p:nvSpPr>
          <p:cNvPr id="60" name="Text 58"/>
          <p:cNvSpPr txBox="1"/>
          <p:nvPr/>
        </p:nvSpPr>
        <p:spPr>
          <a:xfrm>
            <a:off x="4279392" y="3593592"/>
            <a:ext cx="822960" cy="365760"/>
          </a:xfrm>
          <a:prstGeom prst="rect">
            <a:avLst/>
          </a:prstGeom>
          <a:noFill/>
          <a:ln/>
        </p:spPr>
        <p:txBody>
          <a:bodyPr wrap="square" lIns="0" tIns="0" rIns="0" bIns="0"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(25,10)</a:t>
            </a:r>
            <a:endParaRPr lang="en-US" sz="900" dirty="0"/>
          </a:p>
          <a:p>
            <a:pPr algn="r" indent="0" marL="0">
              <a:buNone/>
            </a:pPr>
            <a:r>
              <a:rPr lang="en-US" sz="900" b="1" dirty="0">
                <a:solidFill>
                  <a:srgbClr val="C56A2C"/>
                </a:solidFill>
                <a:latin typeface="Yu Gothic" pitchFamily="34" charset="0"/>
                <a:ea typeface="Yu Gothic" pitchFamily="34" charset="-122"/>
                <a:cs typeface="Yu Gothic" pitchFamily="34" charset="-120"/>
              </a:rPr>
              <a:t>重み 0.400</a:t>
            </a:r>
            <a:endParaRPr lang="en-US" sz="900" dirty="0"/>
          </a:p>
        </p:txBody>
      </p:sp>
      <p:sp>
        <p:nvSpPr>
          <p:cNvPr id="61" name="Shape 59"/>
          <p:cNvSpPr/>
          <p:nvPr/>
        </p:nvSpPr>
        <p:spPr>
          <a:xfrm>
            <a:off x="6537960" y="3520440"/>
            <a:ext cx="182880" cy="182880"/>
          </a:xfrm>
          <a:prstGeom prst="rect">
            <a:avLst/>
          </a:prstGeom>
          <a:solidFill>
            <a:srgbClr val="1F6F78"/>
          </a:solidFill>
          <a:ln w="6350">
            <a:solidFill>
              <a:srgbClr val="FFFFFF"/>
            </a:solidFill>
            <a:prstDash val="solid"/>
          </a:ln>
        </p:spPr>
      </p:sp>
      <p:sp>
        <p:nvSpPr>
          <p:cNvPr id="62" name="Text 60"/>
          <p:cNvSpPr txBox="1"/>
          <p:nvPr/>
        </p:nvSpPr>
        <p:spPr>
          <a:xfrm>
            <a:off x="6739128" y="3593592"/>
            <a:ext cx="822960" cy="365760"/>
          </a:xfrm>
          <a:prstGeom prst="rect">
            <a:avLst/>
          </a:prstGeom>
          <a:noFill/>
          <a:ln/>
        </p:spPr>
        <p:txBody>
          <a:bodyPr wrap="square" lIns="0" tIns="0" rIns="0" bIns="0"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(25,25)</a:t>
            </a:r>
            <a:endParaRPr lang="en-US" sz="900" dirty="0"/>
          </a:p>
          <a:p>
            <a:pPr algn="l" indent="0" marL="0">
              <a:buNone/>
            </a:pPr>
            <a:r>
              <a:rPr lang="en-US" sz="900" b="1" dirty="0">
                <a:solidFill>
                  <a:srgbClr val="C56A2C"/>
                </a:solidFill>
                <a:latin typeface="Yu Gothic" pitchFamily="34" charset="0"/>
                <a:ea typeface="Yu Gothic" pitchFamily="34" charset="-122"/>
                <a:cs typeface="Yu Gothic" pitchFamily="34" charset="-120"/>
              </a:rPr>
              <a:t>重み 0.200</a:t>
            </a:r>
            <a:endParaRPr lang="en-US" sz="900" dirty="0"/>
          </a:p>
        </p:txBody>
      </p:sp>
      <p:sp>
        <p:nvSpPr>
          <p:cNvPr id="63" name="Shape 61"/>
          <p:cNvSpPr/>
          <p:nvPr/>
        </p:nvSpPr>
        <p:spPr>
          <a:xfrm>
            <a:off x="5120640" y="2103120"/>
            <a:ext cx="182880" cy="182880"/>
          </a:xfrm>
          <a:prstGeom prst="rect">
            <a:avLst/>
          </a:prstGeom>
          <a:solidFill>
            <a:srgbClr val="1F6F78"/>
          </a:solidFill>
          <a:ln w="6350">
            <a:solidFill>
              <a:srgbClr val="FFFFFF"/>
            </a:solidFill>
            <a:prstDash val="solid"/>
          </a:ln>
        </p:spPr>
      </p:sp>
      <p:sp>
        <p:nvSpPr>
          <p:cNvPr id="64" name="Text 62"/>
          <p:cNvSpPr txBox="1"/>
          <p:nvPr/>
        </p:nvSpPr>
        <p:spPr>
          <a:xfrm>
            <a:off x="4279392" y="1920240"/>
            <a:ext cx="822960" cy="365760"/>
          </a:xfrm>
          <a:prstGeom prst="rect">
            <a:avLst/>
          </a:prstGeom>
          <a:noFill/>
          <a:ln/>
        </p:spPr>
        <p:txBody>
          <a:bodyPr wrap="square" lIns="0" tIns="0" rIns="0" bIns="0"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(50,10)</a:t>
            </a:r>
            <a:endParaRPr lang="en-US" sz="900" dirty="0"/>
          </a:p>
          <a:p>
            <a:pPr algn="r" indent="0" marL="0">
              <a:buNone/>
            </a:pPr>
            <a:r>
              <a:rPr lang="en-US" sz="900" b="1" dirty="0">
                <a:solidFill>
                  <a:srgbClr val="C56A2C"/>
                </a:solidFill>
                <a:latin typeface="Yu Gothic" pitchFamily="34" charset="0"/>
                <a:ea typeface="Yu Gothic" pitchFamily="34" charset="-122"/>
                <a:cs typeface="Yu Gothic" pitchFamily="34" charset="-120"/>
              </a:rPr>
              <a:t>重み 0.267</a:t>
            </a:r>
            <a:endParaRPr lang="en-US" sz="900" dirty="0"/>
          </a:p>
        </p:txBody>
      </p:sp>
      <p:sp>
        <p:nvSpPr>
          <p:cNvPr id="65" name="Shape 63"/>
          <p:cNvSpPr/>
          <p:nvPr/>
        </p:nvSpPr>
        <p:spPr>
          <a:xfrm>
            <a:off x="6537960" y="2103120"/>
            <a:ext cx="182880" cy="182880"/>
          </a:xfrm>
          <a:prstGeom prst="rect">
            <a:avLst/>
          </a:prstGeom>
          <a:solidFill>
            <a:srgbClr val="1F6F78"/>
          </a:solidFill>
          <a:ln w="6350">
            <a:solidFill>
              <a:srgbClr val="FFFFFF"/>
            </a:solidFill>
            <a:prstDash val="solid"/>
          </a:ln>
        </p:spPr>
      </p:sp>
      <p:sp>
        <p:nvSpPr>
          <p:cNvPr id="66" name="Text 64"/>
          <p:cNvSpPr txBox="1"/>
          <p:nvPr/>
        </p:nvSpPr>
        <p:spPr>
          <a:xfrm>
            <a:off x="6739128" y="1920240"/>
            <a:ext cx="822960" cy="365760"/>
          </a:xfrm>
          <a:prstGeom prst="rect">
            <a:avLst/>
          </a:prstGeom>
          <a:noFill/>
          <a:ln/>
        </p:spPr>
        <p:txBody>
          <a:bodyPr wrap="square" lIns="0" tIns="0" rIns="0" bIns="0"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(50,25)</a:t>
            </a:r>
            <a:endParaRPr lang="en-US" sz="900" dirty="0"/>
          </a:p>
          <a:p>
            <a:pPr algn="l" indent="0" marL="0">
              <a:buNone/>
            </a:pPr>
            <a:r>
              <a:rPr lang="en-US" sz="900" b="1" dirty="0">
                <a:solidFill>
                  <a:srgbClr val="C56A2C"/>
                </a:solidFill>
                <a:latin typeface="Yu Gothic" pitchFamily="34" charset="0"/>
                <a:ea typeface="Yu Gothic" pitchFamily="34" charset="-122"/>
                <a:cs typeface="Yu Gothic" pitchFamily="34" charset="-120"/>
              </a:rPr>
              <a:t>重み 0.133</a:t>
            </a:r>
            <a:endParaRPr lang="en-US" sz="900" dirty="0"/>
          </a:p>
        </p:txBody>
      </p:sp>
      <p:sp>
        <p:nvSpPr>
          <p:cNvPr id="67" name="Shape 65"/>
          <p:cNvSpPr/>
          <p:nvPr/>
        </p:nvSpPr>
        <p:spPr>
          <a:xfrm>
            <a:off x="5684520" y="3044952"/>
            <a:ext cx="91" cy="566928"/>
          </a:xfrm>
          <a:prstGeom prst="line">
            <a:avLst/>
          </a:prstGeom>
          <a:noFill/>
          <a:ln w="9525">
            <a:solidFill>
              <a:srgbClr val="B04A3F"/>
            </a:solidFill>
            <a:prstDash val="dash"/>
          </a:ln>
        </p:spPr>
      </p:sp>
      <p:sp>
        <p:nvSpPr>
          <p:cNvPr id="68" name="Shape 66"/>
          <p:cNvSpPr/>
          <p:nvPr/>
        </p:nvSpPr>
        <p:spPr>
          <a:xfrm>
            <a:off x="5212080" y="3044952"/>
            <a:ext cx="472440" cy="91"/>
          </a:xfrm>
          <a:prstGeom prst="line">
            <a:avLst/>
          </a:prstGeom>
          <a:noFill/>
          <a:ln w="9525">
            <a:solidFill>
              <a:srgbClr val="B04A3F"/>
            </a:solidFill>
            <a:prstDash val="dash"/>
          </a:ln>
        </p:spPr>
      </p:sp>
      <p:sp>
        <p:nvSpPr>
          <p:cNvPr id="69" name="Shape 67"/>
          <p:cNvSpPr/>
          <p:nvPr/>
        </p:nvSpPr>
        <p:spPr>
          <a:xfrm>
            <a:off x="5565648" y="2926080"/>
            <a:ext cx="237744" cy="237744"/>
          </a:xfrm>
          <a:prstGeom prst="star5">
            <a:avLst/>
          </a:prstGeom>
          <a:solidFill>
            <a:srgbClr val="B04A3F"/>
          </a:solidFill>
          <a:ln w="6350">
            <a:solidFill>
              <a:srgbClr val="FFFFFF"/>
            </a:solidFill>
            <a:prstDash val="solid"/>
          </a:ln>
        </p:spPr>
      </p:sp>
      <p:sp>
        <p:nvSpPr>
          <p:cNvPr id="70" name="Text 68"/>
          <p:cNvSpPr txBox="1"/>
          <p:nvPr/>
        </p:nvSpPr>
        <p:spPr>
          <a:xfrm>
            <a:off x="5410200" y="2715768"/>
            <a:ext cx="548640" cy="182880"/>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入力</a:t>
            </a:r>
            <a:endParaRPr lang="en-US" sz="900" dirty="0"/>
          </a:p>
        </p:txBody>
      </p:sp>
      <p:sp>
        <p:nvSpPr>
          <p:cNvPr id="71" name="Text 69"/>
          <p:cNvSpPr txBox="1"/>
          <p:nvPr/>
        </p:nvSpPr>
        <p:spPr>
          <a:xfrm>
            <a:off x="5212080" y="3840480"/>
            <a:ext cx="1417320" cy="182880"/>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隙間 D →</a:t>
            </a:r>
            <a:endParaRPr lang="en-US" sz="850" dirty="0"/>
          </a:p>
        </p:txBody>
      </p:sp>
      <p:sp>
        <p:nvSpPr>
          <p:cNvPr id="72" name="Text 70"/>
          <p:cNvSpPr txBox="1"/>
          <p:nvPr/>
        </p:nvSpPr>
        <p:spPr>
          <a:xfrm>
            <a:off x="4343400" y="2811780"/>
            <a:ext cx="731520" cy="182880"/>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高さ A ↑</a:t>
            </a:r>
            <a:endParaRPr lang="en-US" sz="850" dirty="0"/>
          </a:p>
        </p:txBody>
      </p:sp>
      <p:sp>
        <p:nvSpPr>
          <p:cNvPr id="73" name="Text 71"/>
          <p:cNvSpPr txBox="1"/>
          <p:nvPr/>
        </p:nvSpPr>
        <p:spPr>
          <a:xfrm>
            <a:off x="4315968" y="4069080"/>
            <a:ext cx="3483864" cy="201168"/>
          </a:xfrm>
          <a:prstGeom prst="rect">
            <a:avLst/>
          </a:prstGeom>
          <a:noFill/>
          <a:ln/>
        </p:spPr>
        <p:txBody>
          <a:bodyPr wrap="square" lIns="508" tIns="508" rIns="508" bIns="508" rtlCol="0" anchor="t"/>
          <a:lstStyle/>
          <a:p>
            <a:pPr algn="ctr" indent="0" marL="0">
              <a:buNone/>
            </a:pPr>
            <a:r>
              <a:rPr lang="en-US" sz="900" dirty="0">
                <a:solidFill>
                  <a:srgbClr val="333F4E"/>
                </a:solidFill>
                <a:latin typeface="Yu Gothic" pitchFamily="34" charset="0"/>
                <a:ea typeface="Yu Gothic" pitchFamily="34" charset="-122"/>
                <a:cs typeface="Yu Gothic" pitchFamily="34" charset="-120"/>
              </a:rPr>
              <a:t>高さの位置 0.4，隙間の位置 1/3</a:t>
            </a:r>
            <a:endParaRPr lang="en-US" sz="900" dirty="0"/>
          </a:p>
        </p:txBody>
      </p:sp>
      <p:sp>
        <p:nvSpPr>
          <p:cNvPr id="74" name="Text 72"/>
          <p:cNvSpPr txBox="1"/>
          <p:nvPr/>
        </p:nvSpPr>
        <p:spPr>
          <a:xfrm>
            <a:off x="4315968" y="4297680"/>
            <a:ext cx="3483864" cy="201168"/>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4つの隅は、それぞれこんな配置（横から見た図）</a:t>
            </a:r>
            <a:endParaRPr lang="en-US" sz="900" dirty="0"/>
          </a:p>
        </p:txBody>
      </p:sp>
      <p:sp>
        <p:nvSpPr>
          <p:cNvPr id="75" name="Shape 73"/>
          <p:cNvSpPr/>
          <p:nvPr/>
        </p:nvSpPr>
        <p:spPr>
          <a:xfrm>
            <a:off x="4315968" y="4526280"/>
            <a:ext cx="822960" cy="1115568"/>
          </a:xfrm>
          <a:prstGeom prst="roundRect">
            <a:avLst>
              <a:gd name="adj" fmla="val 4444"/>
            </a:avLst>
          </a:prstGeom>
          <a:solidFill>
            <a:srgbClr val="FFFFFF"/>
          </a:solidFill>
          <a:ln/>
        </p:spPr>
      </p:sp>
      <p:sp>
        <p:nvSpPr>
          <p:cNvPr id="76" name="Shape 74"/>
          <p:cNvSpPr/>
          <p:nvPr/>
        </p:nvSpPr>
        <p:spPr>
          <a:xfrm>
            <a:off x="4343400" y="5184648"/>
            <a:ext cx="768096" cy="91"/>
          </a:xfrm>
          <a:prstGeom prst="line">
            <a:avLst/>
          </a:prstGeom>
          <a:noFill/>
          <a:ln w="6350">
            <a:solidFill>
              <a:srgbClr val="6B7480"/>
            </a:solidFill>
            <a:prstDash val="solid"/>
          </a:ln>
        </p:spPr>
      </p:sp>
      <p:sp>
        <p:nvSpPr>
          <p:cNvPr id="77" name="Shape 75"/>
          <p:cNvSpPr/>
          <p:nvPr/>
        </p:nvSpPr>
        <p:spPr>
          <a:xfrm>
            <a:off x="4700016" y="4681728"/>
            <a:ext cx="219456" cy="502920"/>
          </a:xfrm>
          <a:prstGeom prst="rect">
            <a:avLst/>
          </a:prstGeom>
          <a:solidFill>
            <a:srgbClr val="1B2A44"/>
          </a:solidFill>
          <a:ln/>
        </p:spPr>
      </p:sp>
      <p:sp>
        <p:nvSpPr>
          <p:cNvPr id="78" name="Shape 76"/>
          <p:cNvSpPr/>
          <p:nvPr/>
        </p:nvSpPr>
        <p:spPr>
          <a:xfrm>
            <a:off x="4370832" y="4933188"/>
            <a:ext cx="219456" cy="251460"/>
          </a:xfrm>
          <a:prstGeom prst="rect">
            <a:avLst/>
          </a:prstGeom>
          <a:solidFill>
            <a:srgbClr val="1F6F78"/>
          </a:solidFill>
          <a:ln/>
        </p:spPr>
      </p:sp>
      <p:sp>
        <p:nvSpPr>
          <p:cNvPr id="79" name="Text 77"/>
          <p:cNvSpPr txBox="1"/>
          <p:nvPr/>
        </p:nvSpPr>
        <p:spPr>
          <a:xfrm>
            <a:off x="4315968"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(25,10)</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0.400</a:t>
            </a:r>
            <a:endParaRPr lang="en-US" sz="850" dirty="0"/>
          </a:p>
        </p:txBody>
      </p:sp>
      <p:sp>
        <p:nvSpPr>
          <p:cNvPr id="80" name="Shape 78"/>
          <p:cNvSpPr/>
          <p:nvPr/>
        </p:nvSpPr>
        <p:spPr>
          <a:xfrm>
            <a:off x="5202936" y="4526280"/>
            <a:ext cx="822960" cy="1115568"/>
          </a:xfrm>
          <a:prstGeom prst="roundRect">
            <a:avLst>
              <a:gd name="adj" fmla="val 4444"/>
            </a:avLst>
          </a:prstGeom>
          <a:solidFill>
            <a:srgbClr val="FFFFFF"/>
          </a:solidFill>
          <a:ln/>
        </p:spPr>
      </p:sp>
      <p:sp>
        <p:nvSpPr>
          <p:cNvPr id="81" name="Shape 79"/>
          <p:cNvSpPr/>
          <p:nvPr/>
        </p:nvSpPr>
        <p:spPr>
          <a:xfrm>
            <a:off x="5230368" y="5184648"/>
            <a:ext cx="768096" cy="91"/>
          </a:xfrm>
          <a:prstGeom prst="line">
            <a:avLst/>
          </a:prstGeom>
          <a:noFill/>
          <a:ln w="6350">
            <a:solidFill>
              <a:srgbClr val="6B7480"/>
            </a:solidFill>
            <a:prstDash val="solid"/>
          </a:ln>
        </p:spPr>
      </p:sp>
      <p:sp>
        <p:nvSpPr>
          <p:cNvPr id="82" name="Shape 80"/>
          <p:cNvSpPr/>
          <p:nvPr/>
        </p:nvSpPr>
        <p:spPr>
          <a:xfrm>
            <a:off x="5751576" y="4681728"/>
            <a:ext cx="219456" cy="502920"/>
          </a:xfrm>
          <a:prstGeom prst="rect">
            <a:avLst/>
          </a:prstGeom>
          <a:solidFill>
            <a:srgbClr val="1B2A44"/>
          </a:solidFill>
          <a:ln/>
        </p:spPr>
      </p:sp>
      <p:sp>
        <p:nvSpPr>
          <p:cNvPr id="83" name="Shape 81"/>
          <p:cNvSpPr/>
          <p:nvPr/>
        </p:nvSpPr>
        <p:spPr>
          <a:xfrm>
            <a:off x="5257800" y="4933188"/>
            <a:ext cx="219456" cy="251460"/>
          </a:xfrm>
          <a:prstGeom prst="rect">
            <a:avLst/>
          </a:prstGeom>
          <a:solidFill>
            <a:srgbClr val="1F6F78"/>
          </a:solidFill>
          <a:ln/>
        </p:spPr>
      </p:sp>
      <p:sp>
        <p:nvSpPr>
          <p:cNvPr id="84" name="Text 82"/>
          <p:cNvSpPr txBox="1"/>
          <p:nvPr/>
        </p:nvSpPr>
        <p:spPr>
          <a:xfrm>
            <a:off x="5202936"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(25,25)</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0.200</a:t>
            </a:r>
            <a:endParaRPr lang="en-US" sz="850" dirty="0"/>
          </a:p>
        </p:txBody>
      </p:sp>
      <p:sp>
        <p:nvSpPr>
          <p:cNvPr id="85" name="Shape 83"/>
          <p:cNvSpPr/>
          <p:nvPr/>
        </p:nvSpPr>
        <p:spPr>
          <a:xfrm>
            <a:off x="6089904" y="4526280"/>
            <a:ext cx="822960" cy="1115568"/>
          </a:xfrm>
          <a:prstGeom prst="roundRect">
            <a:avLst>
              <a:gd name="adj" fmla="val 4444"/>
            </a:avLst>
          </a:prstGeom>
          <a:solidFill>
            <a:srgbClr val="FFFFFF"/>
          </a:solidFill>
          <a:ln/>
        </p:spPr>
      </p:sp>
      <p:sp>
        <p:nvSpPr>
          <p:cNvPr id="86" name="Shape 84"/>
          <p:cNvSpPr/>
          <p:nvPr/>
        </p:nvSpPr>
        <p:spPr>
          <a:xfrm>
            <a:off x="6117336" y="5184648"/>
            <a:ext cx="768096" cy="91"/>
          </a:xfrm>
          <a:prstGeom prst="line">
            <a:avLst/>
          </a:prstGeom>
          <a:noFill/>
          <a:ln w="6350">
            <a:solidFill>
              <a:srgbClr val="6B7480"/>
            </a:solidFill>
            <a:prstDash val="solid"/>
          </a:ln>
        </p:spPr>
      </p:sp>
      <p:sp>
        <p:nvSpPr>
          <p:cNvPr id="87" name="Shape 85"/>
          <p:cNvSpPr/>
          <p:nvPr/>
        </p:nvSpPr>
        <p:spPr>
          <a:xfrm>
            <a:off x="6473952" y="4681728"/>
            <a:ext cx="219456" cy="502920"/>
          </a:xfrm>
          <a:prstGeom prst="rect">
            <a:avLst/>
          </a:prstGeom>
          <a:solidFill>
            <a:srgbClr val="1B2A44"/>
          </a:solidFill>
          <a:ln/>
        </p:spPr>
      </p:sp>
      <p:sp>
        <p:nvSpPr>
          <p:cNvPr id="88" name="Shape 86"/>
          <p:cNvSpPr/>
          <p:nvPr/>
        </p:nvSpPr>
        <p:spPr>
          <a:xfrm>
            <a:off x="6144768" y="4681728"/>
            <a:ext cx="219456" cy="502920"/>
          </a:xfrm>
          <a:prstGeom prst="rect">
            <a:avLst/>
          </a:prstGeom>
          <a:solidFill>
            <a:srgbClr val="1F6F78"/>
          </a:solidFill>
          <a:ln/>
        </p:spPr>
      </p:sp>
      <p:sp>
        <p:nvSpPr>
          <p:cNvPr id="89" name="Text 87"/>
          <p:cNvSpPr txBox="1"/>
          <p:nvPr/>
        </p:nvSpPr>
        <p:spPr>
          <a:xfrm>
            <a:off x="6089904"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(50,10)</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0.267</a:t>
            </a:r>
            <a:endParaRPr lang="en-US" sz="850" dirty="0"/>
          </a:p>
        </p:txBody>
      </p:sp>
      <p:sp>
        <p:nvSpPr>
          <p:cNvPr id="90" name="Shape 88"/>
          <p:cNvSpPr/>
          <p:nvPr/>
        </p:nvSpPr>
        <p:spPr>
          <a:xfrm>
            <a:off x="6976872" y="4526280"/>
            <a:ext cx="822960" cy="1115568"/>
          </a:xfrm>
          <a:prstGeom prst="roundRect">
            <a:avLst>
              <a:gd name="adj" fmla="val 4444"/>
            </a:avLst>
          </a:prstGeom>
          <a:solidFill>
            <a:srgbClr val="FFFFFF"/>
          </a:solidFill>
          <a:ln/>
        </p:spPr>
      </p:sp>
      <p:sp>
        <p:nvSpPr>
          <p:cNvPr id="91" name="Shape 89"/>
          <p:cNvSpPr/>
          <p:nvPr/>
        </p:nvSpPr>
        <p:spPr>
          <a:xfrm>
            <a:off x="7004304" y="5184648"/>
            <a:ext cx="768096" cy="91"/>
          </a:xfrm>
          <a:prstGeom prst="line">
            <a:avLst/>
          </a:prstGeom>
          <a:noFill/>
          <a:ln w="6350">
            <a:solidFill>
              <a:srgbClr val="6B7480"/>
            </a:solidFill>
            <a:prstDash val="solid"/>
          </a:ln>
        </p:spPr>
      </p:sp>
      <p:sp>
        <p:nvSpPr>
          <p:cNvPr id="92" name="Shape 90"/>
          <p:cNvSpPr/>
          <p:nvPr/>
        </p:nvSpPr>
        <p:spPr>
          <a:xfrm>
            <a:off x="7525512" y="4681728"/>
            <a:ext cx="219456" cy="502920"/>
          </a:xfrm>
          <a:prstGeom prst="rect">
            <a:avLst/>
          </a:prstGeom>
          <a:solidFill>
            <a:srgbClr val="1B2A44"/>
          </a:solidFill>
          <a:ln/>
        </p:spPr>
      </p:sp>
      <p:sp>
        <p:nvSpPr>
          <p:cNvPr id="93" name="Shape 91"/>
          <p:cNvSpPr/>
          <p:nvPr/>
        </p:nvSpPr>
        <p:spPr>
          <a:xfrm>
            <a:off x="7031736" y="4681728"/>
            <a:ext cx="219456" cy="502920"/>
          </a:xfrm>
          <a:prstGeom prst="rect">
            <a:avLst/>
          </a:prstGeom>
          <a:solidFill>
            <a:srgbClr val="1F6F78"/>
          </a:solidFill>
          <a:ln/>
        </p:spPr>
      </p:sp>
      <p:sp>
        <p:nvSpPr>
          <p:cNvPr id="94" name="Text 92"/>
          <p:cNvSpPr txBox="1"/>
          <p:nvPr/>
        </p:nvSpPr>
        <p:spPr>
          <a:xfrm>
            <a:off x="6976872"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(50,25)</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0.133</a:t>
            </a:r>
            <a:endParaRPr lang="en-US" sz="850" dirty="0"/>
          </a:p>
        </p:txBody>
      </p:sp>
      <p:sp>
        <p:nvSpPr>
          <p:cNvPr id="95" name="Shape 93"/>
          <p:cNvSpPr/>
          <p:nvPr/>
        </p:nvSpPr>
        <p:spPr>
          <a:xfrm>
            <a:off x="8046720" y="1554480"/>
            <a:ext cx="3703320" cy="4160520"/>
          </a:xfrm>
          <a:prstGeom prst="roundRect">
            <a:avLst>
              <a:gd name="adj" fmla="val 1481"/>
            </a:avLst>
          </a:prstGeom>
          <a:solidFill>
            <a:srgbClr val="FBEFE3"/>
          </a:solidFill>
          <a:ln/>
        </p:spPr>
      </p:sp>
      <p:sp>
        <p:nvSpPr>
          <p:cNvPr id="96" name="Shape 94"/>
          <p:cNvSpPr/>
          <p:nvPr/>
        </p:nvSpPr>
        <p:spPr>
          <a:xfrm>
            <a:off x="8046720" y="1554480"/>
            <a:ext cx="3703320" cy="365760"/>
          </a:xfrm>
          <a:prstGeom prst="roundRect">
            <a:avLst>
              <a:gd name="adj" fmla="val 15000"/>
            </a:avLst>
          </a:prstGeom>
          <a:solidFill>
            <a:srgbClr val="E8934D"/>
          </a:solidFill>
          <a:ln/>
        </p:spPr>
      </p:sp>
      <p:sp>
        <p:nvSpPr>
          <p:cNvPr id="97" name="Text 95"/>
          <p:cNvSpPr txBox="1"/>
          <p:nvPr/>
        </p:nvSpPr>
        <p:spPr>
          <a:xfrm>
            <a:off x="8156448" y="1554480"/>
            <a:ext cx="3483864"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東の建物　入力：高さ40m・隙間20m</a:t>
            </a:r>
            <a:endParaRPr lang="en-US" sz="1100" dirty="0"/>
          </a:p>
        </p:txBody>
      </p:sp>
      <p:sp>
        <p:nvSpPr>
          <p:cNvPr id="98" name="Shape 96"/>
          <p:cNvSpPr/>
          <p:nvPr/>
        </p:nvSpPr>
        <p:spPr>
          <a:xfrm>
            <a:off x="9052560" y="2194560"/>
            <a:ext cx="1417320" cy="1417320"/>
          </a:xfrm>
          <a:prstGeom prst="rect">
            <a:avLst/>
          </a:prstGeom>
          <a:solidFill>
            <a:srgbClr val="FFFFFF"/>
          </a:solidFill>
          <a:ln w="9525">
            <a:solidFill>
              <a:srgbClr val="C9D0D8"/>
            </a:solidFill>
            <a:prstDash val="solid"/>
          </a:ln>
        </p:spPr>
      </p:sp>
      <p:sp>
        <p:nvSpPr>
          <p:cNvPr id="99" name="Shape 97"/>
          <p:cNvSpPr/>
          <p:nvPr/>
        </p:nvSpPr>
        <p:spPr>
          <a:xfrm>
            <a:off x="8961120" y="3520440"/>
            <a:ext cx="182880" cy="182880"/>
          </a:xfrm>
          <a:prstGeom prst="rect">
            <a:avLst/>
          </a:prstGeom>
          <a:solidFill>
            <a:srgbClr val="E8934D"/>
          </a:solidFill>
          <a:ln w="6350">
            <a:solidFill>
              <a:srgbClr val="FFFFFF"/>
            </a:solidFill>
            <a:prstDash val="solid"/>
          </a:ln>
        </p:spPr>
      </p:sp>
      <p:sp>
        <p:nvSpPr>
          <p:cNvPr id="100" name="Text 98"/>
          <p:cNvSpPr txBox="1"/>
          <p:nvPr/>
        </p:nvSpPr>
        <p:spPr>
          <a:xfrm>
            <a:off x="8119872" y="3593592"/>
            <a:ext cx="822960" cy="365760"/>
          </a:xfrm>
          <a:prstGeom prst="rect">
            <a:avLst/>
          </a:prstGeom>
          <a:noFill/>
          <a:ln/>
        </p:spPr>
        <p:txBody>
          <a:bodyPr wrap="square" lIns="0" tIns="0" rIns="0" bIns="0"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(25,10)</a:t>
            </a:r>
            <a:endParaRPr lang="en-US" sz="900" dirty="0"/>
          </a:p>
          <a:p>
            <a:pPr algn="r" indent="0" marL="0">
              <a:buNone/>
            </a:pPr>
            <a:r>
              <a:rPr lang="en-US" sz="900" b="1" dirty="0">
                <a:solidFill>
                  <a:srgbClr val="C56A2C"/>
                </a:solidFill>
                <a:latin typeface="Yu Gothic" pitchFamily="34" charset="0"/>
                <a:ea typeface="Yu Gothic" pitchFamily="34" charset="-122"/>
                <a:cs typeface="Yu Gothic" pitchFamily="34" charset="-120"/>
              </a:rPr>
              <a:t>重み 0.133</a:t>
            </a:r>
            <a:endParaRPr lang="en-US" sz="900" dirty="0"/>
          </a:p>
        </p:txBody>
      </p:sp>
      <p:sp>
        <p:nvSpPr>
          <p:cNvPr id="101" name="Shape 99"/>
          <p:cNvSpPr/>
          <p:nvPr/>
        </p:nvSpPr>
        <p:spPr>
          <a:xfrm>
            <a:off x="10378440" y="3520440"/>
            <a:ext cx="182880" cy="182880"/>
          </a:xfrm>
          <a:prstGeom prst="rect">
            <a:avLst/>
          </a:prstGeom>
          <a:solidFill>
            <a:srgbClr val="E8934D"/>
          </a:solidFill>
          <a:ln w="6350">
            <a:solidFill>
              <a:srgbClr val="FFFFFF"/>
            </a:solidFill>
            <a:prstDash val="solid"/>
          </a:ln>
        </p:spPr>
      </p:sp>
      <p:sp>
        <p:nvSpPr>
          <p:cNvPr id="102" name="Text 100"/>
          <p:cNvSpPr txBox="1"/>
          <p:nvPr/>
        </p:nvSpPr>
        <p:spPr>
          <a:xfrm>
            <a:off x="10579608" y="3593592"/>
            <a:ext cx="822960" cy="365760"/>
          </a:xfrm>
          <a:prstGeom prst="rect">
            <a:avLst/>
          </a:prstGeom>
          <a:noFill/>
          <a:ln/>
        </p:spPr>
        <p:txBody>
          <a:bodyPr wrap="square" lIns="0" tIns="0" rIns="0" bIns="0"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(25,25)</a:t>
            </a:r>
            <a:endParaRPr lang="en-US" sz="900" dirty="0"/>
          </a:p>
          <a:p>
            <a:pPr algn="l" indent="0" marL="0">
              <a:buNone/>
            </a:pPr>
            <a:r>
              <a:rPr lang="en-US" sz="900" b="1" dirty="0">
                <a:solidFill>
                  <a:srgbClr val="C56A2C"/>
                </a:solidFill>
                <a:latin typeface="Yu Gothic" pitchFamily="34" charset="0"/>
                <a:ea typeface="Yu Gothic" pitchFamily="34" charset="-122"/>
                <a:cs typeface="Yu Gothic" pitchFamily="34" charset="-120"/>
              </a:rPr>
              <a:t>重み 0.267</a:t>
            </a:r>
            <a:endParaRPr lang="en-US" sz="900" dirty="0"/>
          </a:p>
        </p:txBody>
      </p:sp>
      <p:sp>
        <p:nvSpPr>
          <p:cNvPr id="103" name="Shape 101"/>
          <p:cNvSpPr/>
          <p:nvPr/>
        </p:nvSpPr>
        <p:spPr>
          <a:xfrm>
            <a:off x="8961120" y="2103120"/>
            <a:ext cx="182880" cy="182880"/>
          </a:xfrm>
          <a:prstGeom prst="rect">
            <a:avLst/>
          </a:prstGeom>
          <a:solidFill>
            <a:srgbClr val="E8934D"/>
          </a:solidFill>
          <a:ln w="6350">
            <a:solidFill>
              <a:srgbClr val="FFFFFF"/>
            </a:solidFill>
            <a:prstDash val="solid"/>
          </a:ln>
        </p:spPr>
      </p:sp>
      <p:sp>
        <p:nvSpPr>
          <p:cNvPr id="104" name="Text 102"/>
          <p:cNvSpPr txBox="1"/>
          <p:nvPr/>
        </p:nvSpPr>
        <p:spPr>
          <a:xfrm>
            <a:off x="8119872" y="1920240"/>
            <a:ext cx="822960" cy="365760"/>
          </a:xfrm>
          <a:prstGeom prst="rect">
            <a:avLst/>
          </a:prstGeom>
          <a:noFill/>
          <a:ln/>
        </p:spPr>
        <p:txBody>
          <a:bodyPr wrap="square" lIns="0" tIns="0" rIns="0" bIns="0"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(50,10)</a:t>
            </a:r>
            <a:endParaRPr lang="en-US" sz="900" dirty="0"/>
          </a:p>
          <a:p>
            <a:pPr algn="r" indent="0" marL="0">
              <a:buNone/>
            </a:pPr>
            <a:r>
              <a:rPr lang="en-US" sz="900" b="1" dirty="0">
                <a:solidFill>
                  <a:srgbClr val="C56A2C"/>
                </a:solidFill>
                <a:latin typeface="Yu Gothic" pitchFamily="34" charset="0"/>
                <a:ea typeface="Yu Gothic" pitchFamily="34" charset="-122"/>
                <a:cs typeface="Yu Gothic" pitchFamily="34" charset="-120"/>
              </a:rPr>
              <a:t>重み 0.200</a:t>
            </a:r>
            <a:endParaRPr lang="en-US" sz="900" dirty="0"/>
          </a:p>
        </p:txBody>
      </p:sp>
      <p:sp>
        <p:nvSpPr>
          <p:cNvPr id="105" name="Shape 103"/>
          <p:cNvSpPr/>
          <p:nvPr/>
        </p:nvSpPr>
        <p:spPr>
          <a:xfrm>
            <a:off x="10378440" y="2103120"/>
            <a:ext cx="182880" cy="182880"/>
          </a:xfrm>
          <a:prstGeom prst="rect">
            <a:avLst/>
          </a:prstGeom>
          <a:solidFill>
            <a:srgbClr val="E8934D"/>
          </a:solidFill>
          <a:ln w="6350">
            <a:solidFill>
              <a:srgbClr val="FFFFFF"/>
            </a:solidFill>
            <a:prstDash val="solid"/>
          </a:ln>
        </p:spPr>
      </p:sp>
      <p:sp>
        <p:nvSpPr>
          <p:cNvPr id="106" name="Text 104"/>
          <p:cNvSpPr txBox="1"/>
          <p:nvPr/>
        </p:nvSpPr>
        <p:spPr>
          <a:xfrm>
            <a:off x="10579608" y="1920240"/>
            <a:ext cx="822960" cy="365760"/>
          </a:xfrm>
          <a:prstGeom prst="rect">
            <a:avLst/>
          </a:prstGeom>
          <a:noFill/>
          <a:ln/>
        </p:spPr>
        <p:txBody>
          <a:bodyPr wrap="square" lIns="0" tIns="0" rIns="0" bIns="0"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(50,25)</a:t>
            </a:r>
            <a:endParaRPr lang="en-US" sz="900" dirty="0"/>
          </a:p>
          <a:p>
            <a:pPr algn="l" indent="0" marL="0">
              <a:buNone/>
            </a:pPr>
            <a:r>
              <a:rPr lang="en-US" sz="900" b="1" dirty="0">
                <a:solidFill>
                  <a:srgbClr val="C56A2C"/>
                </a:solidFill>
                <a:latin typeface="Yu Gothic" pitchFamily="34" charset="0"/>
                <a:ea typeface="Yu Gothic" pitchFamily="34" charset="-122"/>
                <a:cs typeface="Yu Gothic" pitchFamily="34" charset="-120"/>
              </a:rPr>
              <a:t>重み 0.400</a:t>
            </a:r>
            <a:endParaRPr lang="en-US" sz="900" dirty="0"/>
          </a:p>
        </p:txBody>
      </p:sp>
      <p:sp>
        <p:nvSpPr>
          <p:cNvPr id="107" name="Shape 105"/>
          <p:cNvSpPr/>
          <p:nvPr/>
        </p:nvSpPr>
        <p:spPr>
          <a:xfrm>
            <a:off x="9997440" y="2761488"/>
            <a:ext cx="91" cy="850392"/>
          </a:xfrm>
          <a:prstGeom prst="line">
            <a:avLst/>
          </a:prstGeom>
          <a:noFill/>
          <a:ln w="9525">
            <a:solidFill>
              <a:srgbClr val="B04A3F"/>
            </a:solidFill>
            <a:prstDash val="dash"/>
          </a:ln>
        </p:spPr>
      </p:sp>
      <p:sp>
        <p:nvSpPr>
          <p:cNvPr id="108" name="Shape 106"/>
          <p:cNvSpPr/>
          <p:nvPr/>
        </p:nvSpPr>
        <p:spPr>
          <a:xfrm>
            <a:off x="9052560" y="2761488"/>
            <a:ext cx="944880" cy="91"/>
          </a:xfrm>
          <a:prstGeom prst="line">
            <a:avLst/>
          </a:prstGeom>
          <a:noFill/>
          <a:ln w="9525">
            <a:solidFill>
              <a:srgbClr val="B04A3F"/>
            </a:solidFill>
            <a:prstDash val="dash"/>
          </a:ln>
        </p:spPr>
      </p:sp>
      <p:sp>
        <p:nvSpPr>
          <p:cNvPr id="109" name="Shape 107"/>
          <p:cNvSpPr/>
          <p:nvPr/>
        </p:nvSpPr>
        <p:spPr>
          <a:xfrm>
            <a:off x="9878568" y="2642616"/>
            <a:ext cx="237744" cy="237744"/>
          </a:xfrm>
          <a:prstGeom prst="star5">
            <a:avLst/>
          </a:prstGeom>
          <a:solidFill>
            <a:srgbClr val="B04A3F"/>
          </a:solidFill>
          <a:ln w="6350">
            <a:solidFill>
              <a:srgbClr val="FFFFFF"/>
            </a:solidFill>
            <a:prstDash val="solid"/>
          </a:ln>
        </p:spPr>
      </p:sp>
      <p:sp>
        <p:nvSpPr>
          <p:cNvPr id="110" name="Text 108"/>
          <p:cNvSpPr txBox="1"/>
          <p:nvPr/>
        </p:nvSpPr>
        <p:spPr>
          <a:xfrm>
            <a:off x="9723120" y="2432304"/>
            <a:ext cx="548640" cy="182880"/>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入力</a:t>
            </a:r>
            <a:endParaRPr lang="en-US" sz="900" dirty="0"/>
          </a:p>
        </p:txBody>
      </p:sp>
      <p:sp>
        <p:nvSpPr>
          <p:cNvPr id="111" name="Text 109"/>
          <p:cNvSpPr txBox="1"/>
          <p:nvPr/>
        </p:nvSpPr>
        <p:spPr>
          <a:xfrm>
            <a:off x="9052560" y="3840480"/>
            <a:ext cx="1417320" cy="182880"/>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隙間 D →</a:t>
            </a:r>
            <a:endParaRPr lang="en-US" sz="850" dirty="0"/>
          </a:p>
        </p:txBody>
      </p:sp>
      <p:sp>
        <p:nvSpPr>
          <p:cNvPr id="112" name="Text 110"/>
          <p:cNvSpPr txBox="1"/>
          <p:nvPr/>
        </p:nvSpPr>
        <p:spPr>
          <a:xfrm>
            <a:off x="8183880" y="2811780"/>
            <a:ext cx="731520" cy="182880"/>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高さ A ↑</a:t>
            </a:r>
            <a:endParaRPr lang="en-US" sz="850" dirty="0"/>
          </a:p>
        </p:txBody>
      </p:sp>
      <p:sp>
        <p:nvSpPr>
          <p:cNvPr id="113" name="Text 111"/>
          <p:cNvSpPr txBox="1"/>
          <p:nvPr/>
        </p:nvSpPr>
        <p:spPr>
          <a:xfrm>
            <a:off x="8156448" y="4069080"/>
            <a:ext cx="3483864" cy="201168"/>
          </a:xfrm>
          <a:prstGeom prst="rect">
            <a:avLst/>
          </a:prstGeom>
          <a:noFill/>
          <a:ln/>
        </p:spPr>
        <p:txBody>
          <a:bodyPr wrap="square" lIns="508" tIns="508" rIns="508" bIns="508" rtlCol="0" anchor="t"/>
          <a:lstStyle/>
          <a:p>
            <a:pPr algn="ctr" indent="0" marL="0">
              <a:buNone/>
            </a:pPr>
            <a:r>
              <a:rPr lang="en-US" sz="900" dirty="0">
                <a:solidFill>
                  <a:srgbClr val="333F4E"/>
                </a:solidFill>
                <a:latin typeface="Yu Gothic" pitchFamily="34" charset="0"/>
                <a:ea typeface="Yu Gothic" pitchFamily="34" charset="-122"/>
                <a:cs typeface="Yu Gothic" pitchFamily="34" charset="-120"/>
              </a:rPr>
              <a:t>高さの位置 0.6，隙間の位置 2/3</a:t>
            </a:r>
            <a:endParaRPr lang="en-US" sz="900" dirty="0"/>
          </a:p>
        </p:txBody>
      </p:sp>
      <p:sp>
        <p:nvSpPr>
          <p:cNvPr id="114" name="Text 112"/>
          <p:cNvSpPr txBox="1"/>
          <p:nvPr/>
        </p:nvSpPr>
        <p:spPr>
          <a:xfrm>
            <a:off x="8156448" y="4297680"/>
            <a:ext cx="3483864" cy="201168"/>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4つの隅は、それぞれこんな配置（横から見た図）</a:t>
            </a:r>
            <a:endParaRPr lang="en-US" sz="900" dirty="0"/>
          </a:p>
        </p:txBody>
      </p:sp>
      <p:sp>
        <p:nvSpPr>
          <p:cNvPr id="115" name="Shape 113"/>
          <p:cNvSpPr/>
          <p:nvPr/>
        </p:nvSpPr>
        <p:spPr>
          <a:xfrm>
            <a:off x="8156448" y="4526280"/>
            <a:ext cx="822960" cy="1115568"/>
          </a:xfrm>
          <a:prstGeom prst="roundRect">
            <a:avLst>
              <a:gd name="adj" fmla="val 4444"/>
            </a:avLst>
          </a:prstGeom>
          <a:solidFill>
            <a:srgbClr val="FFFFFF"/>
          </a:solidFill>
          <a:ln/>
        </p:spPr>
      </p:sp>
      <p:sp>
        <p:nvSpPr>
          <p:cNvPr id="116" name="Shape 114"/>
          <p:cNvSpPr/>
          <p:nvPr/>
        </p:nvSpPr>
        <p:spPr>
          <a:xfrm>
            <a:off x="8183880" y="5184648"/>
            <a:ext cx="768096" cy="91"/>
          </a:xfrm>
          <a:prstGeom prst="line">
            <a:avLst/>
          </a:prstGeom>
          <a:noFill/>
          <a:ln w="6350">
            <a:solidFill>
              <a:srgbClr val="6B7480"/>
            </a:solidFill>
            <a:prstDash val="solid"/>
          </a:ln>
        </p:spPr>
      </p:sp>
      <p:sp>
        <p:nvSpPr>
          <p:cNvPr id="117" name="Shape 115"/>
          <p:cNvSpPr/>
          <p:nvPr/>
        </p:nvSpPr>
        <p:spPr>
          <a:xfrm>
            <a:off x="8211312" y="4681728"/>
            <a:ext cx="219456" cy="502920"/>
          </a:xfrm>
          <a:prstGeom prst="rect">
            <a:avLst/>
          </a:prstGeom>
          <a:solidFill>
            <a:srgbClr val="1B2A44"/>
          </a:solidFill>
          <a:ln/>
        </p:spPr>
      </p:sp>
      <p:sp>
        <p:nvSpPr>
          <p:cNvPr id="118" name="Shape 116"/>
          <p:cNvSpPr/>
          <p:nvPr/>
        </p:nvSpPr>
        <p:spPr>
          <a:xfrm>
            <a:off x="8540496" y="4933188"/>
            <a:ext cx="219456" cy="251460"/>
          </a:xfrm>
          <a:prstGeom prst="rect">
            <a:avLst/>
          </a:prstGeom>
          <a:solidFill>
            <a:srgbClr val="E8934D"/>
          </a:solidFill>
          <a:ln/>
        </p:spPr>
      </p:sp>
      <p:sp>
        <p:nvSpPr>
          <p:cNvPr id="119" name="Text 117"/>
          <p:cNvSpPr txBox="1"/>
          <p:nvPr/>
        </p:nvSpPr>
        <p:spPr>
          <a:xfrm>
            <a:off x="8156448"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(25,10)</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0.133</a:t>
            </a:r>
            <a:endParaRPr lang="en-US" sz="850" dirty="0"/>
          </a:p>
        </p:txBody>
      </p:sp>
      <p:sp>
        <p:nvSpPr>
          <p:cNvPr id="120" name="Shape 118"/>
          <p:cNvSpPr/>
          <p:nvPr/>
        </p:nvSpPr>
        <p:spPr>
          <a:xfrm>
            <a:off x="9043416" y="4526280"/>
            <a:ext cx="822960" cy="1115568"/>
          </a:xfrm>
          <a:prstGeom prst="roundRect">
            <a:avLst>
              <a:gd name="adj" fmla="val 4444"/>
            </a:avLst>
          </a:prstGeom>
          <a:solidFill>
            <a:srgbClr val="FFFFFF"/>
          </a:solidFill>
          <a:ln/>
        </p:spPr>
      </p:sp>
      <p:sp>
        <p:nvSpPr>
          <p:cNvPr id="121" name="Shape 119"/>
          <p:cNvSpPr/>
          <p:nvPr/>
        </p:nvSpPr>
        <p:spPr>
          <a:xfrm>
            <a:off x="9070848" y="5184648"/>
            <a:ext cx="768096" cy="91"/>
          </a:xfrm>
          <a:prstGeom prst="line">
            <a:avLst/>
          </a:prstGeom>
          <a:noFill/>
          <a:ln w="6350">
            <a:solidFill>
              <a:srgbClr val="6B7480"/>
            </a:solidFill>
            <a:prstDash val="solid"/>
          </a:ln>
        </p:spPr>
      </p:sp>
      <p:sp>
        <p:nvSpPr>
          <p:cNvPr id="122" name="Shape 120"/>
          <p:cNvSpPr/>
          <p:nvPr/>
        </p:nvSpPr>
        <p:spPr>
          <a:xfrm>
            <a:off x="9098280" y="4681728"/>
            <a:ext cx="219456" cy="502920"/>
          </a:xfrm>
          <a:prstGeom prst="rect">
            <a:avLst/>
          </a:prstGeom>
          <a:solidFill>
            <a:srgbClr val="1B2A44"/>
          </a:solidFill>
          <a:ln/>
        </p:spPr>
      </p:sp>
      <p:sp>
        <p:nvSpPr>
          <p:cNvPr id="123" name="Shape 121"/>
          <p:cNvSpPr/>
          <p:nvPr/>
        </p:nvSpPr>
        <p:spPr>
          <a:xfrm>
            <a:off x="9592056" y="4933188"/>
            <a:ext cx="219456" cy="251460"/>
          </a:xfrm>
          <a:prstGeom prst="rect">
            <a:avLst/>
          </a:prstGeom>
          <a:solidFill>
            <a:srgbClr val="E8934D"/>
          </a:solidFill>
          <a:ln/>
        </p:spPr>
      </p:sp>
      <p:sp>
        <p:nvSpPr>
          <p:cNvPr id="124" name="Text 122"/>
          <p:cNvSpPr txBox="1"/>
          <p:nvPr/>
        </p:nvSpPr>
        <p:spPr>
          <a:xfrm>
            <a:off x="9043416"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(25,25)</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0.267</a:t>
            </a:r>
            <a:endParaRPr lang="en-US" sz="850" dirty="0"/>
          </a:p>
        </p:txBody>
      </p:sp>
      <p:sp>
        <p:nvSpPr>
          <p:cNvPr id="125" name="Shape 123"/>
          <p:cNvSpPr/>
          <p:nvPr/>
        </p:nvSpPr>
        <p:spPr>
          <a:xfrm>
            <a:off x="9930384" y="4526280"/>
            <a:ext cx="822960" cy="1115568"/>
          </a:xfrm>
          <a:prstGeom prst="roundRect">
            <a:avLst>
              <a:gd name="adj" fmla="val 4444"/>
            </a:avLst>
          </a:prstGeom>
          <a:solidFill>
            <a:srgbClr val="FFFFFF"/>
          </a:solidFill>
          <a:ln/>
        </p:spPr>
      </p:sp>
      <p:sp>
        <p:nvSpPr>
          <p:cNvPr id="126" name="Shape 124"/>
          <p:cNvSpPr/>
          <p:nvPr/>
        </p:nvSpPr>
        <p:spPr>
          <a:xfrm>
            <a:off x="9957816" y="5184648"/>
            <a:ext cx="768096" cy="91"/>
          </a:xfrm>
          <a:prstGeom prst="line">
            <a:avLst/>
          </a:prstGeom>
          <a:noFill/>
          <a:ln w="6350">
            <a:solidFill>
              <a:srgbClr val="6B7480"/>
            </a:solidFill>
            <a:prstDash val="solid"/>
          </a:ln>
        </p:spPr>
      </p:sp>
      <p:sp>
        <p:nvSpPr>
          <p:cNvPr id="127" name="Shape 125"/>
          <p:cNvSpPr/>
          <p:nvPr/>
        </p:nvSpPr>
        <p:spPr>
          <a:xfrm>
            <a:off x="9985248" y="4681728"/>
            <a:ext cx="219456" cy="502920"/>
          </a:xfrm>
          <a:prstGeom prst="rect">
            <a:avLst/>
          </a:prstGeom>
          <a:solidFill>
            <a:srgbClr val="1B2A44"/>
          </a:solidFill>
          <a:ln/>
        </p:spPr>
      </p:sp>
      <p:sp>
        <p:nvSpPr>
          <p:cNvPr id="128" name="Shape 126"/>
          <p:cNvSpPr/>
          <p:nvPr/>
        </p:nvSpPr>
        <p:spPr>
          <a:xfrm>
            <a:off x="10314432" y="4681728"/>
            <a:ext cx="219456" cy="502920"/>
          </a:xfrm>
          <a:prstGeom prst="rect">
            <a:avLst/>
          </a:prstGeom>
          <a:solidFill>
            <a:srgbClr val="E8934D"/>
          </a:solidFill>
          <a:ln/>
        </p:spPr>
      </p:sp>
      <p:sp>
        <p:nvSpPr>
          <p:cNvPr id="129" name="Text 127"/>
          <p:cNvSpPr txBox="1"/>
          <p:nvPr/>
        </p:nvSpPr>
        <p:spPr>
          <a:xfrm>
            <a:off x="9930384"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(50,10)</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0.200</a:t>
            </a:r>
            <a:endParaRPr lang="en-US" sz="850" dirty="0"/>
          </a:p>
        </p:txBody>
      </p:sp>
      <p:sp>
        <p:nvSpPr>
          <p:cNvPr id="130" name="Shape 128"/>
          <p:cNvSpPr/>
          <p:nvPr/>
        </p:nvSpPr>
        <p:spPr>
          <a:xfrm>
            <a:off x="10817352" y="4526280"/>
            <a:ext cx="822960" cy="1115568"/>
          </a:xfrm>
          <a:prstGeom prst="roundRect">
            <a:avLst>
              <a:gd name="adj" fmla="val 4444"/>
            </a:avLst>
          </a:prstGeom>
          <a:solidFill>
            <a:srgbClr val="FFFFFF"/>
          </a:solidFill>
          <a:ln/>
        </p:spPr>
      </p:sp>
      <p:sp>
        <p:nvSpPr>
          <p:cNvPr id="131" name="Shape 129"/>
          <p:cNvSpPr/>
          <p:nvPr/>
        </p:nvSpPr>
        <p:spPr>
          <a:xfrm>
            <a:off x="10844784" y="5184648"/>
            <a:ext cx="768096" cy="91"/>
          </a:xfrm>
          <a:prstGeom prst="line">
            <a:avLst/>
          </a:prstGeom>
          <a:noFill/>
          <a:ln w="6350">
            <a:solidFill>
              <a:srgbClr val="6B7480"/>
            </a:solidFill>
            <a:prstDash val="solid"/>
          </a:ln>
        </p:spPr>
      </p:sp>
      <p:sp>
        <p:nvSpPr>
          <p:cNvPr id="132" name="Shape 130"/>
          <p:cNvSpPr/>
          <p:nvPr/>
        </p:nvSpPr>
        <p:spPr>
          <a:xfrm>
            <a:off x="10872216" y="4681728"/>
            <a:ext cx="219456" cy="502920"/>
          </a:xfrm>
          <a:prstGeom prst="rect">
            <a:avLst/>
          </a:prstGeom>
          <a:solidFill>
            <a:srgbClr val="1B2A44"/>
          </a:solidFill>
          <a:ln/>
        </p:spPr>
      </p:sp>
      <p:sp>
        <p:nvSpPr>
          <p:cNvPr id="133" name="Shape 131"/>
          <p:cNvSpPr/>
          <p:nvPr/>
        </p:nvSpPr>
        <p:spPr>
          <a:xfrm>
            <a:off x="11365992" y="4681728"/>
            <a:ext cx="219456" cy="502920"/>
          </a:xfrm>
          <a:prstGeom prst="rect">
            <a:avLst/>
          </a:prstGeom>
          <a:solidFill>
            <a:srgbClr val="E8934D"/>
          </a:solidFill>
          <a:ln/>
        </p:spPr>
      </p:sp>
      <p:sp>
        <p:nvSpPr>
          <p:cNvPr id="134" name="Text 132"/>
          <p:cNvSpPr txBox="1"/>
          <p:nvPr/>
        </p:nvSpPr>
        <p:spPr>
          <a:xfrm>
            <a:off x="10817352"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(50,25)</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0.400</a:t>
            </a:r>
            <a:endParaRPr lang="en-US" sz="850" dirty="0"/>
          </a:p>
        </p:txBody>
      </p:sp>
      <p:sp>
        <p:nvSpPr>
          <p:cNvPr id="135" name="Shape 133"/>
          <p:cNvSpPr/>
          <p:nvPr/>
        </p:nvSpPr>
        <p:spPr>
          <a:xfrm>
            <a:off x="4206240" y="5833872"/>
            <a:ext cx="7543800" cy="475488"/>
          </a:xfrm>
          <a:prstGeom prst="roundRect">
            <a:avLst>
              <a:gd name="adj" fmla="val 9615"/>
            </a:avLst>
          </a:prstGeom>
          <a:solidFill>
            <a:srgbClr val="1B2A44"/>
          </a:solidFill>
          <a:ln/>
        </p:spPr>
      </p:sp>
      <p:sp>
        <p:nvSpPr>
          <p:cNvPr id="136" name="Text 134"/>
          <p:cNvSpPr txBox="1"/>
          <p:nvPr/>
        </p:nvSpPr>
        <p:spPr>
          <a:xfrm>
            <a:off x="4315968" y="5833872"/>
            <a:ext cx="7360920" cy="475488"/>
          </a:xfrm>
          <a:prstGeom prst="rect">
            <a:avLst/>
          </a:prstGeom>
          <a:noFill/>
          <a:ln/>
        </p:spPr>
        <p:txBody>
          <a:bodyPr wrap="square" lIns="508" tIns="508" rIns="508" bIns="508" rtlCol="0" anchor="ctr"/>
          <a:lstStyle/>
          <a:p>
            <a:pPr indent="0" marL="0">
              <a:buNone/>
            </a:pPr>
            <a:r>
              <a:rPr lang="en-US" sz="1000" b="1" dirty="0">
                <a:solidFill>
                  <a:srgbClr val="FFFFFF"/>
                </a:solidFill>
                <a:latin typeface="Yu Gothic" pitchFamily="34" charset="0"/>
                <a:ea typeface="Yu Gothic" pitchFamily="34" charset="-122"/>
                <a:cs typeface="Yu Gothic" pitchFamily="34" charset="-120"/>
              </a:rPr>
              <a:t>隅＝入力を囲む「計算済みの条件（高さ, 隙間）」。</a:t>
            </a:r>
            <a:pPr indent="0" marL="0">
              <a:buNone/>
            </a:pPr>
            <a:r>
              <a:rPr lang="en-US" sz="1000" b="1" dirty="0">
                <a:solidFill>
                  <a:srgbClr val="E8934D"/>
                </a:solidFill>
                <a:latin typeface="Yu Gothic" pitchFamily="34" charset="0"/>
                <a:ea typeface="Yu Gothic" pitchFamily="34" charset="-122"/>
                <a:cs typeface="Yu Gothic" pitchFamily="34" charset="-120"/>
              </a:rPr>
              <a:t>重みの出し方は次のページ。南4つ×東4つ → 16マス（p.33）</a:t>
            </a:r>
            <a:endParaRPr lang="en-US" sz="10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重みの求め方：物差しで「どれだけ近いか」を測る</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32 / 45</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8934D"/>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54480"/>
            <a:ext cx="7086600" cy="4754880"/>
          </a:xfrm>
          <a:prstGeom prst="roundRect">
            <a:avLst>
              <a:gd name="adj" fmla="val 1154"/>
            </a:avLst>
          </a:prstGeom>
          <a:solidFill>
            <a:srgbClr val="E6F0F1"/>
          </a:solidFill>
          <a:ln/>
        </p:spPr>
      </p:sp>
      <p:sp>
        <p:nvSpPr>
          <p:cNvPr id="22" name="Text 20"/>
          <p:cNvSpPr txBox="1"/>
          <p:nvPr/>
        </p:nvSpPr>
        <p:spPr>
          <a:xfrm>
            <a:off x="594360" y="1600200"/>
            <a:ext cx="6766560" cy="274320"/>
          </a:xfrm>
          <a:prstGeom prst="rect">
            <a:avLst/>
          </a:prstGeom>
          <a:noFill/>
          <a:ln/>
        </p:spPr>
        <p:txBody>
          <a:bodyPr wrap="square" lIns="508" tIns="508" rIns="508" bIns="508" rtlCol="0" anchor="t"/>
          <a:lstStyle/>
          <a:p>
            <a:pPr indent="0" marL="0">
              <a:buNone/>
            </a:pPr>
            <a:r>
              <a:rPr lang="en-US" sz="1200" b="1" dirty="0">
                <a:solidFill>
                  <a:srgbClr val="1F6F78"/>
                </a:solidFill>
                <a:latin typeface="Yu Gothic" pitchFamily="34" charset="0"/>
                <a:ea typeface="Yu Gothic" pitchFamily="34" charset="-122"/>
                <a:cs typeface="Yu Gothic" pitchFamily="34" charset="-120"/>
              </a:rPr>
              <a:t>南の建物（入力：高さ35m・隙間15m）</a:t>
            </a:r>
            <a:endParaRPr lang="en-US" sz="1200" dirty="0"/>
          </a:p>
        </p:txBody>
      </p:sp>
      <p:sp>
        <p:nvSpPr>
          <p:cNvPr id="23" name="Text 21"/>
          <p:cNvSpPr txBox="1"/>
          <p:nvPr/>
        </p:nvSpPr>
        <p:spPr>
          <a:xfrm>
            <a:off x="777240" y="1901952"/>
            <a:ext cx="6217920" cy="237744"/>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① 高さの物差し（計算済みの 25m と 50m の間）</a:t>
            </a:r>
            <a:endParaRPr lang="en-US" sz="1100" dirty="0"/>
          </a:p>
        </p:txBody>
      </p:sp>
      <p:sp>
        <p:nvSpPr>
          <p:cNvPr id="24" name="Shape 22"/>
          <p:cNvSpPr/>
          <p:nvPr/>
        </p:nvSpPr>
        <p:spPr>
          <a:xfrm>
            <a:off x="777240" y="2359152"/>
            <a:ext cx="1572768" cy="91"/>
          </a:xfrm>
          <a:prstGeom prst="line">
            <a:avLst/>
          </a:prstGeom>
          <a:noFill/>
          <a:ln w="15875">
            <a:solidFill>
              <a:srgbClr val="1F6F78"/>
            </a:solidFill>
            <a:prstDash val="solid"/>
            <a:headEnd type="triangle"/>
            <a:tailEnd type="triangle"/>
          </a:ln>
        </p:spPr>
      </p:sp>
      <p:sp>
        <p:nvSpPr>
          <p:cNvPr id="25" name="Shape 23"/>
          <p:cNvSpPr/>
          <p:nvPr/>
        </p:nvSpPr>
        <p:spPr>
          <a:xfrm>
            <a:off x="2350008" y="2359152"/>
            <a:ext cx="2359152" cy="91"/>
          </a:xfrm>
          <a:prstGeom prst="line">
            <a:avLst/>
          </a:prstGeom>
          <a:noFill/>
          <a:ln w="12700">
            <a:solidFill>
              <a:srgbClr val="AEB4BC"/>
            </a:solidFill>
            <a:prstDash val="solid"/>
            <a:headEnd type="triangle"/>
            <a:tailEnd type="triangle"/>
          </a:ln>
        </p:spPr>
      </p:sp>
      <p:sp>
        <p:nvSpPr>
          <p:cNvPr id="26" name="Text 24"/>
          <p:cNvSpPr txBox="1"/>
          <p:nvPr/>
        </p:nvSpPr>
        <p:spPr>
          <a:xfrm>
            <a:off x="777240" y="2157984"/>
            <a:ext cx="1572768" cy="182880"/>
          </a:xfrm>
          <a:prstGeom prst="rect">
            <a:avLst/>
          </a:prstGeom>
          <a:noFill/>
          <a:ln/>
        </p:spPr>
        <p:txBody>
          <a:bodyPr wrap="square" lIns="0" tIns="0" rIns="0" bIns="0"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10m 進んだ</a:t>
            </a:r>
            <a:endParaRPr lang="en-US" sz="950" dirty="0"/>
          </a:p>
        </p:txBody>
      </p:sp>
      <p:sp>
        <p:nvSpPr>
          <p:cNvPr id="27" name="Text 25"/>
          <p:cNvSpPr txBox="1"/>
          <p:nvPr/>
        </p:nvSpPr>
        <p:spPr>
          <a:xfrm>
            <a:off x="2350008" y="2157984"/>
            <a:ext cx="2359152" cy="182880"/>
          </a:xfrm>
          <a:prstGeom prst="rect">
            <a:avLst/>
          </a:prstGeom>
          <a:noFill/>
          <a:ln/>
        </p:spPr>
        <p:txBody>
          <a:bodyPr wrap="square" lIns="0" tIns="0" rIns="0" bIns="0"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残り 15m</a:t>
            </a:r>
            <a:endParaRPr lang="en-US" sz="950" dirty="0"/>
          </a:p>
        </p:txBody>
      </p:sp>
      <p:sp>
        <p:nvSpPr>
          <p:cNvPr id="28" name="Shape 26"/>
          <p:cNvSpPr/>
          <p:nvPr/>
        </p:nvSpPr>
        <p:spPr>
          <a:xfrm>
            <a:off x="777240" y="2514600"/>
            <a:ext cx="3931920" cy="91440"/>
          </a:xfrm>
          <a:prstGeom prst="rect">
            <a:avLst/>
          </a:prstGeom>
          <a:solidFill>
            <a:srgbClr val="DCE1E7"/>
          </a:solidFill>
          <a:ln/>
        </p:spPr>
      </p:sp>
      <p:sp>
        <p:nvSpPr>
          <p:cNvPr id="29" name="Shape 27"/>
          <p:cNvSpPr/>
          <p:nvPr/>
        </p:nvSpPr>
        <p:spPr>
          <a:xfrm>
            <a:off x="777240" y="2514600"/>
            <a:ext cx="1572768" cy="91440"/>
          </a:xfrm>
          <a:prstGeom prst="rect">
            <a:avLst/>
          </a:prstGeom>
          <a:solidFill>
            <a:srgbClr val="1F6F78"/>
          </a:solidFill>
          <a:ln/>
        </p:spPr>
      </p:sp>
      <p:sp>
        <p:nvSpPr>
          <p:cNvPr id="30" name="Shape 28"/>
          <p:cNvSpPr/>
          <p:nvPr/>
        </p:nvSpPr>
        <p:spPr>
          <a:xfrm>
            <a:off x="777240" y="2414016"/>
            <a:ext cx="91" cy="292608"/>
          </a:xfrm>
          <a:prstGeom prst="line">
            <a:avLst/>
          </a:prstGeom>
          <a:noFill/>
          <a:ln w="19050">
            <a:solidFill>
              <a:srgbClr val="1B2A44"/>
            </a:solidFill>
            <a:prstDash val="solid"/>
          </a:ln>
        </p:spPr>
      </p:sp>
      <p:sp>
        <p:nvSpPr>
          <p:cNvPr id="31" name="Text 29"/>
          <p:cNvSpPr txBox="1"/>
          <p:nvPr/>
        </p:nvSpPr>
        <p:spPr>
          <a:xfrm>
            <a:off x="365760" y="2715768"/>
            <a:ext cx="822960" cy="201168"/>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25m</a:t>
            </a:r>
            <a:endParaRPr lang="en-US" sz="1050" dirty="0"/>
          </a:p>
        </p:txBody>
      </p:sp>
      <p:sp>
        <p:nvSpPr>
          <p:cNvPr id="32" name="Shape 30"/>
          <p:cNvSpPr/>
          <p:nvPr/>
        </p:nvSpPr>
        <p:spPr>
          <a:xfrm>
            <a:off x="4709160" y="2414016"/>
            <a:ext cx="91" cy="292608"/>
          </a:xfrm>
          <a:prstGeom prst="line">
            <a:avLst/>
          </a:prstGeom>
          <a:noFill/>
          <a:ln w="19050">
            <a:solidFill>
              <a:srgbClr val="1B2A44"/>
            </a:solidFill>
            <a:prstDash val="solid"/>
          </a:ln>
        </p:spPr>
      </p:sp>
      <p:sp>
        <p:nvSpPr>
          <p:cNvPr id="33" name="Text 31"/>
          <p:cNvSpPr txBox="1"/>
          <p:nvPr/>
        </p:nvSpPr>
        <p:spPr>
          <a:xfrm>
            <a:off x="4297680" y="2715768"/>
            <a:ext cx="822960" cy="201168"/>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50m</a:t>
            </a:r>
            <a:endParaRPr lang="en-US" sz="1050" dirty="0"/>
          </a:p>
        </p:txBody>
      </p:sp>
      <p:sp>
        <p:nvSpPr>
          <p:cNvPr id="34" name="Shape 32"/>
          <p:cNvSpPr/>
          <p:nvPr/>
        </p:nvSpPr>
        <p:spPr>
          <a:xfrm>
            <a:off x="2231136" y="2441448"/>
            <a:ext cx="237744" cy="237744"/>
          </a:xfrm>
          <a:prstGeom prst="star5">
            <a:avLst/>
          </a:prstGeom>
          <a:solidFill>
            <a:srgbClr val="B04A3F"/>
          </a:solidFill>
          <a:ln w="6350">
            <a:solidFill>
              <a:srgbClr val="FFFFFF"/>
            </a:solidFill>
            <a:prstDash val="solid"/>
          </a:ln>
        </p:spPr>
      </p:sp>
      <p:sp>
        <p:nvSpPr>
          <p:cNvPr id="35" name="Text 33"/>
          <p:cNvSpPr txBox="1"/>
          <p:nvPr/>
        </p:nvSpPr>
        <p:spPr>
          <a:xfrm>
            <a:off x="1801368" y="2715768"/>
            <a:ext cx="1097280" cy="201168"/>
          </a:xfrm>
          <a:prstGeom prst="rect">
            <a:avLst/>
          </a:prstGeom>
          <a:noFill/>
          <a:ln/>
        </p:spPr>
        <p:txBody>
          <a:bodyPr wrap="square" lIns="508" tIns="508" rIns="508" bIns="508" rtlCol="0" anchor="t"/>
          <a:lstStyle/>
          <a:p>
            <a:pPr algn="ctr" indent="0" marL="0">
              <a:buNone/>
            </a:pPr>
            <a:r>
              <a:rPr lang="en-US" sz="1050" b="1" dirty="0">
                <a:solidFill>
                  <a:srgbClr val="B04A3F"/>
                </a:solidFill>
                <a:latin typeface="Yu Gothic" pitchFamily="34" charset="0"/>
                <a:ea typeface="Yu Gothic" pitchFamily="34" charset="-122"/>
                <a:cs typeface="Yu Gothic" pitchFamily="34" charset="-120"/>
              </a:rPr>
              <a:t>入力 35m</a:t>
            </a:r>
            <a:endParaRPr lang="en-US" sz="1050" dirty="0"/>
          </a:p>
        </p:txBody>
      </p:sp>
      <p:sp>
        <p:nvSpPr>
          <p:cNvPr id="36" name="Text 34"/>
          <p:cNvSpPr txBox="1"/>
          <p:nvPr/>
        </p:nvSpPr>
        <p:spPr>
          <a:xfrm>
            <a:off x="685800" y="2944368"/>
            <a:ext cx="2560320" cy="219456"/>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25m側を使う割合 </a:t>
            </a:r>
            <a:pPr indent="0" marL="0">
              <a:buNone/>
            </a:pPr>
            <a:r>
              <a:rPr lang="en-US" sz="1050" b="1" dirty="0">
                <a:solidFill>
                  <a:srgbClr val="C56A2C"/>
                </a:solidFill>
                <a:latin typeface="Yu Gothic" pitchFamily="34" charset="0"/>
                <a:ea typeface="Yu Gothic" pitchFamily="34" charset="-122"/>
                <a:cs typeface="Yu Gothic" pitchFamily="34" charset="-120"/>
              </a:rPr>
              <a:t>1−0.4＝0.6</a:t>
            </a:r>
            <a:endParaRPr lang="en-US" sz="1050" dirty="0"/>
          </a:p>
        </p:txBody>
      </p:sp>
      <p:sp>
        <p:nvSpPr>
          <p:cNvPr id="37" name="Text 35"/>
          <p:cNvSpPr txBox="1"/>
          <p:nvPr/>
        </p:nvSpPr>
        <p:spPr>
          <a:xfrm>
            <a:off x="3246120" y="2944368"/>
            <a:ext cx="1554480" cy="219456"/>
          </a:xfrm>
          <a:prstGeom prst="rect">
            <a:avLst/>
          </a:prstGeom>
          <a:noFill/>
          <a:ln/>
        </p:spPr>
        <p:txBody>
          <a:bodyPr wrap="square" lIns="508" tIns="508" rIns="508" bIns="508" rtlCol="0" anchor="t"/>
          <a:lstStyle/>
          <a:p>
            <a:pPr algn="r" indent="0" marL="0">
              <a:buNone/>
            </a:pPr>
            <a:r>
              <a:rPr lang="en-US" sz="1050" b="1" dirty="0">
                <a:solidFill>
                  <a:srgbClr val="1B2A44"/>
                </a:solidFill>
                <a:latin typeface="Yu Gothic" pitchFamily="34" charset="0"/>
                <a:ea typeface="Yu Gothic" pitchFamily="34" charset="-122"/>
                <a:cs typeface="Yu Gothic" pitchFamily="34" charset="-120"/>
              </a:rPr>
              <a:t>50m側 </a:t>
            </a:r>
            <a:pPr algn="r" indent="0" marL="0">
              <a:buNone/>
            </a:pPr>
            <a:r>
              <a:rPr lang="en-US" sz="1050" b="1" dirty="0">
                <a:solidFill>
                  <a:srgbClr val="C56A2C"/>
                </a:solidFill>
                <a:latin typeface="Yu Gothic" pitchFamily="34" charset="0"/>
                <a:ea typeface="Yu Gothic" pitchFamily="34" charset="-122"/>
                <a:cs typeface="Yu Gothic" pitchFamily="34" charset="-120"/>
              </a:rPr>
              <a:t>0.4</a:t>
            </a:r>
            <a:endParaRPr lang="en-US" sz="1050" dirty="0"/>
          </a:p>
        </p:txBody>
      </p:sp>
      <p:sp>
        <p:nvSpPr>
          <p:cNvPr id="38" name="Text 36"/>
          <p:cNvSpPr txBox="1"/>
          <p:nvPr/>
        </p:nvSpPr>
        <p:spPr>
          <a:xfrm>
            <a:off x="4937760" y="2240280"/>
            <a:ext cx="2468880" cy="82296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位置 ＝ 進んだ10m ÷ 全体25m</a:t>
            </a:r>
            <a:endParaRPr lang="en-US" sz="1100" dirty="0"/>
          </a:p>
          <a:p>
            <a:pPr indent="0" marL="0">
              <a:buNone/>
            </a:pPr>
            <a:r>
              <a:rPr lang="en-US" sz="1100" b="1" dirty="0">
                <a:solidFill>
                  <a:srgbClr val="C56A2C"/>
                </a:solidFill>
                <a:latin typeface="Yu Gothic" pitchFamily="34" charset="0"/>
                <a:ea typeface="Yu Gothic" pitchFamily="34" charset="-122"/>
                <a:cs typeface="Yu Gothic" pitchFamily="34" charset="-120"/>
              </a:rPr>
              <a:t>　　 ＝ 0.4（40%）</a:t>
            </a:r>
            <a:endParaRPr lang="en-US" sz="1100" dirty="0"/>
          </a:p>
          <a:p>
            <a:pPr indent="0" marL="0">
              <a:buNone/>
            </a:pPr>
            <a:r>
              <a:rPr lang="en-US" sz="900" b="1" dirty="0">
                <a:solidFill>
                  <a:srgbClr val="6B7480"/>
                </a:solidFill>
                <a:latin typeface="Yu Gothic" pitchFamily="34" charset="0"/>
                <a:ea typeface="Yu Gothic" pitchFamily="34" charset="-122"/>
                <a:cs typeface="Yu Gothic" pitchFamily="34" charset="-120"/>
              </a:rPr>
              <a:t>25mに近い → 25m側を多く使う</a:t>
            </a:r>
            <a:endParaRPr lang="en-US" sz="1100" dirty="0"/>
          </a:p>
        </p:txBody>
      </p:sp>
      <p:sp>
        <p:nvSpPr>
          <p:cNvPr id="39" name="Text 37"/>
          <p:cNvSpPr txBox="1"/>
          <p:nvPr/>
        </p:nvSpPr>
        <p:spPr>
          <a:xfrm>
            <a:off x="777240" y="3246120"/>
            <a:ext cx="6217920" cy="237744"/>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② 隙間の物差し（計算済みの 10m と 25m の間）</a:t>
            </a:r>
            <a:endParaRPr lang="en-US" sz="1100" dirty="0"/>
          </a:p>
        </p:txBody>
      </p:sp>
      <p:sp>
        <p:nvSpPr>
          <p:cNvPr id="40" name="Shape 38"/>
          <p:cNvSpPr/>
          <p:nvPr/>
        </p:nvSpPr>
        <p:spPr>
          <a:xfrm>
            <a:off x="777240" y="3703320"/>
            <a:ext cx="1310640" cy="91"/>
          </a:xfrm>
          <a:prstGeom prst="line">
            <a:avLst/>
          </a:prstGeom>
          <a:noFill/>
          <a:ln w="15875">
            <a:solidFill>
              <a:srgbClr val="1F6F78"/>
            </a:solidFill>
            <a:prstDash val="solid"/>
            <a:headEnd type="triangle"/>
            <a:tailEnd type="triangle"/>
          </a:ln>
        </p:spPr>
      </p:sp>
      <p:sp>
        <p:nvSpPr>
          <p:cNvPr id="41" name="Shape 39"/>
          <p:cNvSpPr/>
          <p:nvPr/>
        </p:nvSpPr>
        <p:spPr>
          <a:xfrm>
            <a:off x="2087880" y="3703320"/>
            <a:ext cx="2621280" cy="91"/>
          </a:xfrm>
          <a:prstGeom prst="line">
            <a:avLst/>
          </a:prstGeom>
          <a:noFill/>
          <a:ln w="12700">
            <a:solidFill>
              <a:srgbClr val="AEB4BC"/>
            </a:solidFill>
            <a:prstDash val="solid"/>
            <a:headEnd type="triangle"/>
            <a:tailEnd type="triangle"/>
          </a:ln>
        </p:spPr>
      </p:sp>
      <p:sp>
        <p:nvSpPr>
          <p:cNvPr id="42" name="Text 40"/>
          <p:cNvSpPr txBox="1"/>
          <p:nvPr/>
        </p:nvSpPr>
        <p:spPr>
          <a:xfrm>
            <a:off x="777240" y="3502152"/>
            <a:ext cx="1310640" cy="182880"/>
          </a:xfrm>
          <a:prstGeom prst="rect">
            <a:avLst/>
          </a:prstGeom>
          <a:noFill/>
          <a:ln/>
        </p:spPr>
        <p:txBody>
          <a:bodyPr wrap="square" lIns="0" tIns="0" rIns="0" bIns="0"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5m 進んだ</a:t>
            </a:r>
            <a:endParaRPr lang="en-US" sz="950" dirty="0"/>
          </a:p>
        </p:txBody>
      </p:sp>
      <p:sp>
        <p:nvSpPr>
          <p:cNvPr id="43" name="Text 41"/>
          <p:cNvSpPr txBox="1"/>
          <p:nvPr/>
        </p:nvSpPr>
        <p:spPr>
          <a:xfrm>
            <a:off x="2087880" y="3502152"/>
            <a:ext cx="2621280" cy="182880"/>
          </a:xfrm>
          <a:prstGeom prst="rect">
            <a:avLst/>
          </a:prstGeom>
          <a:noFill/>
          <a:ln/>
        </p:spPr>
        <p:txBody>
          <a:bodyPr wrap="square" lIns="0" tIns="0" rIns="0" bIns="0"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残り 10m</a:t>
            </a:r>
            <a:endParaRPr lang="en-US" sz="950" dirty="0"/>
          </a:p>
        </p:txBody>
      </p:sp>
      <p:sp>
        <p:nvSpPr>
          <p:cNvPr id="44" name="Shape 42"/>
          <p:cNvSpPr/>
          <p:nvPr/>
        </p:nvSpPr>
        <p:spPr>
          <a:xfrm>
            <a:off x="777240" y="3858768"/>
            <a:ext cx="3931920" cy="91440"/>
          </a:xfrm>
          <a:prstGeom prst="rect">
            <a:avLst/>
          </a:prstGeom>
          <a:solidFill>
            <a:srgbClr val="DCE1E7"/>
          </a:solidFill>
          <a:ln/>
        </p:spPr>
      </p:sp>
      <p:sp>
        <p:nvSpPr>
          <p:cNvPr id="45" name="Shape 43"/>
          <p:cNvSpPr/>
          <p:nvPr/>
        </p:nvSpPr>
        <p:spPr>
          <a:xfrm>
            <a:off x="777240" y="3858768"/>
            <a:ext cx="1310640" cy="91440"/>
          </a:xfrm>
          <a:prstGeom prst="rect">
            <a:avLst/>
          </a:prstGeom>
          <a:solidFill>
            <a:srgbClr val="1F6F78"/>
          </a:solidFill>
          <a:ln/>
        </p:spPr>
      </p:sp>
      <p:sp>
        <p:nvSpPr>
          <p:cNvPr id="46" name="Shape 44"/>
          <p:cNvSpPr/>
          <p:nvPr/>
        </p:nvSpPr>
        <p:spPr>
          <a:xfrm>
            <a:off x="777240" y="3758184"/>
            <a:ext cx="91" cy="292608"/>
          </a:xfrm>
          <a:prstGeom prst="line">
            <a:avLst/>
          </a:prstGeom>
          <a:noFill/>
          <a:ln w="19050">
            <a:solidFill>
              <a:srgbClr val="1B2A44"/>
            </a:solidFill>
            <a:prstDash val="solid"/>
          </a:ln>
        </p:spPr>
      </p:sp>
      <p:sp>
        <p:nvSpPr>
          <p:cNvPr id="47" name="Text 45"/>
          <p:cNvSpPr txBox="1"/>
          <p:nvPr/>
        </p:nvSpPr>
        <p:spPr>
          <a:xfrm>
            <a:off x="365760" y="4059936"/>
            <a:ext cx="822960" cy="201168"/>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10m</a:t>
            </a:r>
            <a:endParaRPr lang="en-US" sz="1050" dirty="0"/>
          </a:p>
        </p:txBody>
      </p:sp>
      <p:sp>
        <p:nvSpPr>
          <p:cNvPr id="48" name="Shape 46"/>
          <p:cNvSpPr/>
          <p:nvPr/>
        </p:nvSpPr>
        <p:spPr>
          <a:xfrm>
            <a:off x="4709160" y="3758184"/>
            <a:ext cx="91" cy="292608"/>
          </a:xfrm>
          <a:prstGeom prst="line">
            <a:avLst/>
          </a:prstGeom>
          <a:noFill/>
          <a:ln w="19050">
            <a:solidFill>
              <a:srgbClr val="1B2A44"/>
            </a:solidFill>
            <a:prstDash val="solid"/>
          </a:ln>
        </p:spPr>
      </p:sp>
      <p:sp>
        <p:nvSpPr>
          <p:cNvPr id="49" name="Text 47"/>
          <p:cNvSpPr txBox="1"/>
          <p:nvPr/>
        </p:nvSpPr>
        <p:spPr>
          <a:xfrm>
            <a:off x="4297680" y="4059936"/>
            <a:ext cx="822960" cy="201168"/>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25m</a:t>
            </a:r>
            <a:endParaRPr lang="en-US" sz="1050" dirty="0"/>
          </a:p>
        </p:txBody>
      </p:sp>
      <p:sp>
        <p:nvSpPr>
          <p:cNvPr id="50" name="Shape 48"/>
          <p:cNvSpPr/>
          <p:nvPr/>
        </p:nvSpPr>
        <p:spPr>
          <a:xfrm>
            <a:off x="1969008" y="3785616"/>
            <a:ext cx="237744" cy="237744"/>
          </a:xfrm>
          <a:prstGeom prst="star5">
            <a:avLst/>
          </a:prstGeom>
          <a:solidFill>
            <a:srgbClr val="B04A3F"/>
          </a:solidFill>
          <a:ln w="6350">
            <a:solidFill>
              <a:srgbClr val="FFFFFF"/>
            </a:solidFill>
            <a:prstDash val="solid"/>
          </a:ln>
        </p:spPr>
      </p:sp>
      <p:sp>
        <p:nvSpPr>
          <p:cNvPr id="51" name="Text 49"/>
          <p:cNvSpPr txBox="1"/>
          <p:nvPr/>
        </p:nvSpPr>
        <p:spPr>
          <a:xfrm>
            <a:off x="1539240" y="4059936"/>
            <a:ext cx="1097280" cy="201168"/>
          </a:xfrm>
          <a:prstGeom prst="rect">
            <a:avLst/>
          </a:prstGeom>
          <a:noFill/>
          <a:ln/>
        </p:spPr>
        <p:txBody>
          <a:bodyPr wrap="square" lIns="508" tIns="508" rIns="508" bIns="508" rtlCol="0" anchor="t"/>
          <a:lstStyle/>
          <a:p>
            <a:pPr algn="ctr" indent="0" marL="0">
              <a:buNone/>
            </a:pPr>
            <a:r>
              <a:rPr lang="en-US" sz="1050" b="1" dirty="0">
                <a:solidFill>
                  <a:srgbClr val="B04A3F"/>
                </a:solidFill>
                <a:latin typeface="Yu Gothic" pitchFamily="34" charset="0"/>
                <a:ea typeface="Yu Gothic" pitchFamily="34" charset="-122"/>
                <a:cs typeface="Yu Gothic" pitchFamily="34" charset="-120"/>
              </a:rPr>
              <a:t>入力 15m</a:t>
            </a:r>
            <a:endParaRPr lang="en-US" sz="1050" dirty="0"/>
          </a:p>
        </p:txBody>
      </p:sp>
      <p:sp>
        <p:nvSpPr>
          <p:cNvPr id="52" name="Text 50"/>
          <p:cNvSpPr txBox="1"/>
          <p:nvPr/>
        </p:nvSpPr>
        <p:spPr>
          <a:xfrm>
            <a:off x="685800" y="4288536"/>
            <a:ext cx="2560320" cy="219456"/>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10m側を使う割合 </a:t>
            </a:r>
            <a:pPr indent="0" marL="0">
              <a:buNone/>
            </a:pPr>
            <a:r>
              <a:rPr lang="en-US" sz="1050" b="1" dirty="0">
                <a:solidFill>
                  <a:srgbClr val="C56A2C"/>
                </a:solidFill>
                <a:latin typeface="Yu Gothic" pitchFamily="34" charset="0"/>
                <a:ea typeface="Yu Gothic" pitchFamily="34" charset="-122"/>
                <a:cs typeface="Yu Gothic" pitchFamily="34" charset="-120"/>
              </a:rPr>
              <a:t>1−1/3＝2/3</a:t>
            </a:r>
            <a:endParaRPr lang="en-US" sz="1050" dirty="0"/>
          </a:p>
        </p:txBody>
      </p:sp>
      <p:sp>
        <p:nvSpPr>
          <p:cNvPr id="53" name="Text 51"/>
          <p:cNvSpPr txBox="1"/>
          <p:nvPr/>
        </p:nvSpPr>
        <p:spPr>
          <a:xfrm>
            <a:off x="3246120" y="4288536"/>
            <a:ext cx="1554480" cy="219456"/>
          </a:xfrm>
          <a:prstGeom prst="rect">
            <a:avLst/>
          </a:prstGeom>
          <a:noFill/>
          <a:ln/>
        </p:spPr>
        <p:txBody>
          <a:bodyPr wrap="square" lIns="508" tIns="508" rIns="508" bIns="508" rtlCol="0" anchor="t"/>
          <a:lstStyle/>
          <a:p>
            <a:pPr algn="r" indent="0" marL="0">
              <a:buNone/>
            </a:pPr>
            <a:r>
              <a:rPr lang="en-US" sz="1050" b="1" dirty="0">
                <a:solidFill>
                  <a:srgbClr val="1B2A44"/>
                </a:solidFill>
                <a:latin typeface="Yu Gothic" pitchFamily="34" charset="0"/>
                <a:ea typeface="Yu Gothic" pitchFamily="34" charset="-122"/>
                <a:cs typeface="Yu Gothic" pitchFamily="34" charset="-120"/>
              </a:rPr>
              <a:t>25m側 </a:t>
            </a:r>
            <a:pPr algn="r" indent="0" marL="0">
              <a:buNone/>
            </a:pPr>
            <a:r>
              <a:rPr lang="en-US" sz="1050" b="1" dirty="0">
                <a:solidFill>
                  <a:srgbClr val="C56A2C"/>
                </a:solidFill>
                <a:latin typeface="Yu Gothic" pitchFamily="34" charset="0"/>
                <a:ea typeface="Yu Gothic" pitchFamily="34" charset="-122"/>
                <a:cs typeface="Yu Gothic" pitchFamily="34" charset="-120"/>
              </a:rPr>
              <a:t>1/3</a:t>
            </a:r>
            <a:endParaRPr lang="en-US" sz="1050" dirty="0"/>
          </a:p>
        </p:txBody>
      </p:sp>
      <p:sp>
        <p:nvSpPr>
          <p:cNvPr id="54" name="Text 52"/>
          <p:cNvSpPr txBox="1"/>
          <p:nvPr/>
        </p:nvSpPr>
        <p:spPr>
          <a:xfrm>
            <a:off x="4937760" y="3584448"/>
            <a:ext cx="2468880" cy="82296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位置 ＝ 進んだ5m ÷ 全体15m</a:t>
            </a:r>
            <a:endParaRPr lang="en-US" sz="1100" dirty="0"/>
          </a:p>
          <a:p>
            <a:pPr indent="0" marL="0">
              <a:buNone/>
            </a:pPr>
            <a:r>
              <a:rPr lang="en-US" sz="1100" b="1" dirty="0">
                <a:solidFill>
                  <a:srgbClr val="C56A2C"/>
                </a:solidFill>
                <a:latin typeface="Yu Gothic" pitchFamily="34" charset="0"/>
                <a:ea typeface="Yu Gothic" pitchFamily="34" charset="-122"/>
                <a:cs typeface="Yu Gothic" pitchFamily="34" charset="-120"/>
              </a:rPr>
              <a:t>　　 ＝ 1/3（33%）</a:t>
            </a:r>
            <a:endParaRPr lang="en-US" sz="1100" dirty="0"/>
          </a:p>
          <a:p>
            <a:pPr indent="0" marL="0">
              <a:buNone/>
            </a:pPr>
            <a:r>
              <a:rPr lang="en-US" sz="900" b="1" dirty="0">
                <a:solidFill>
                  <a:srgbClr val="6B7480"/>
                </a:solidFill>
                <a:latin typeface="Yu Gothic" pitchFamily="34" charset="0"/>
                <a:ea typeface="Yu Gothic" pitchFamily="34" charset="-122"/>
                <a:cs typeface="Yu Gothic" pitchFamily="34" charset="-120"/>
              </a:rPr>
              <a:t>10mに近い → 10m側を多く使う</a:t>
            </a:r>
            <a:endParaRPr lang="en-US" sz="1100" dirty="0"/>
          </a:p>
        </p:txBody>
      </p:sp>
      <p:sp>
        <p:nvSpPr>
          <p:cNvPr id="55" name="Text 53"/>
          <p:cNvSpPr txBox="1"/>
          <p:nvPr/>
        </p:nvSpPr>
        <p:spPr>
          <a:xfrm>
            <a:off x="594360" y="4617720"/>
            <a:ext cx="676656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③ 隅の重み ＝ 高さの割合 × 隙間の割合</a:t>
            </a:r>
            <a:endParaRPr lang="en-US" sz="1100" dirty="0"/>
          </a:p>
        </p:txBody>
      </p:sp>
      <p:sp>
        <p:nvSpPr>
          <p:cNvPr id="56" name="Shape 54"/>
          <p:cNvSpPr/>
          <p:nvPr/>
        </p:nvSpPr>
        <p:spPr>
          <a:xfrm>
            <a:off x="1463040" y="4910328"/>
            <a:ext cx="1371600" cy="329184"/>
          </a:xfrm>
          <a:prstGeom prst="rect">
            <a:avLst/>
          </a:prstGeom>
          <a:solidFill>
            <a:srgbClr val="1B2A44"/>
          </a:solidFill>
          <a:ln/>
        </p:spPr>
      </p:sp>
      <p:sp>
        <p:nvSpPr>
          <p:cNvPr id="57" name="Text 55"/>
          <p:cNvSpPr txBox="1"/>
          <p:nvPr/>
        </p:nvSpPr>
        <p:spPr>
          <a:xfrm>
            <a:off x="1463040" y="4910328"/>
            <a:ext cx="137160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高さ ＼ 隙間</a:t>
            </a:r>
            <a:endParaRPr lang="en-US" sz="1000" dirty="0"/>
          </a:p>
        </p:txBody>
      </p:sp>
      <p:sp>
        <p:nvSpPr>
          <p:cNvPr id="58" name="Shape 56"/>
          <p:cNvSpPr/>
          <p:nvPr/>
        </p:nvSpPr>
        <p:spPr>
          <a:xfrm>
            <a:off x="2852928" y="4910328"/>
            <a:ext cx="1993392" cy="329184"/>
          </a:xfrm>
          <a:prstGeom prst="rect">
            <a:avLst/>
          </a:prstGeom>
          <a:solidFill>
            <a:srgbClr val="1F6F78"/>
          </a:solidFill>
          <a:ln/>
        </p:spPr>
      </p:sp>
      <p:sp>
        <p:nvSpPr>
          <p:cNvPr id="59" name="Text 57"/>
          <p:cNvSpPr txBox="1"/>
          <p:nvPr/>
        </p:nvSpPr>
        <p:spPr>
          <a:xfrm>
            <a:off x="2852928" y="4910328"/>
            <a:ext cx="1993392"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10m側 × 2/3</a:t>
            </a:r>
            <a:endParaRPr lang="en-US" sz="1050" dirty="0"/>
          </a:p>
        </p:txBody>
      </p:sp>
      <p:sp>
        <p:nvSpPr>
          <p:cNvPr id="60" name="Shape 58"/>
          <p:cNvSpPr/>
          <p:nvPr/>
        </p:nvSpPr>
        <p:spPr>
          <a:xfrm>
            <a:off x="4864608" y="4910328"/>
            <a:ext cx="1993392" cy="329184"/>
          </a:xfrm>
          <a:prstGeom prst="rect">
            <a:avLst/>
          </a:prstGeom>
          <a:solidFill>
            <a:srgbClr val="1F6F78"/>
          </a:solidFill>
          <a:ln/>
        </p:spPr>
      </p:sp>
      <p:sp>
        <p:nvSpPr>
          <p:cNvPr id="61" name="Text 59"/>
          <p:cNvSpPr txBox="1"/>
          <p:nvPr/>
        </p:nvSpPr>
        <p:spPr>
          <a:xfrm>
            <a:off x="4864608" y="4910328"/>
            <a:ext cx="1993392"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25m側 × 1/3</a:t>
            </a:r>
            <a:endParaRPr lang="en-US" sz="1050" dirty="0"/>
          </a:p>
        </p:txBody>
      </p:sp>
      <p:sp>
        <p:nvSpPr>
          <p:cNvPr id="62" name="Shape 60"/>
          <p:cNvSpPr/>
          <p:nvPr/>
        </p:nvSpPr>
        <p:spPr>
          <a:xfrm>
            <a:off x="1463040" y="5257800"/>
            <a:ext cx="1371600" cy="329184"/>
          </a:xfrm>
          <a:prstGeom prst="rect">
            <a:avLst/>
          </a:prstGeom>
          <a:solidFill>
            <a:srgbClr val="1F6F78"/>
          </a:solidFill>
          <a:ln/>
        </p:spPr>
      </p:sp>
      <p:sp>
        <p:nvSpPr>
          <p:cNvPr id="63" name="Text 61"/>
          <p:cNvSpPr txBox="1"/>
          <p:nvPr/>
        </p:nvSpPr>
        <p:spPr>
          <a:xfrm>
            <a:off x="1463040" y="5257800"/>
            <a:ext cx="137160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25m側 × 0.6</a:t>
            </a:r>
            <a:endParaRPr lang="en-US" sz="1050" dirty="0"/>
          </a:p>
        </p:txBody>
      </p:sp>
      <p:sp>
        <p:nvSpPr>
          <p:cNvPr id="64" name="Shape 62"/>
          <p:cNvSpPr/>
          <p:nvPr/>
        </p:nvSpPr>
        <p:spPr>
          <a:xfrm>
            <a:off x="2852928" y="5257800"/>
            <a:ext cx="1993392" cy="329184"/>
          </a:xfrm>
          <a:prstGeom prst="rect">
            <a:avLst/>
          </a:prstGeom>
          <a:solidFill>
            <a:srgbClr val="FBEBDA"/>
          </a:solidFill>
          <a:ln/>
        </p:spPr>
      </p:sp>
      <p:sp>
        <p:nvSpPr>
          <p:cNvPr id="65" name="Text 63"/>
          <p:cNvSpPr txBox="1"/>
          <p:nvPr/>
        </p:nvSpPr>
        <p:spPr>
          <a:xfrm>
            <a:off x="2852928" y="5257800"/>
            <a:ext cx="1993392" cy="329184"/>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(25,10)  </a:t>
            </a:r>
            <a:pPr algn="ctr" indent="0" marL="0">
              <a:buNone/>
            </a:pPr>
            <a:r>
              <a:rPr lang="en-US" sz="1100" b="1" dirty="0">
                <a:solidFill>
                  <a:srgbClr val="C56A2C"/>
                </a:solidFill>
                <a:latin typeface="Yu Gothic" pitchFamily="34" charset="0"/>
                <a:ea typeface="Yu Gothic" pitchFamily="34" charset="-122"/>
                <a:cs typeface="Yu Gothic" pitchFamily="34" charset="-120"/>
              </a:rPr>
              <a:t>0.6 × 2/3 ＝ 0.400</a:t>
            </a:r>
            <a:endParaRPr lang="en-US" sz="1100" dirty="0"/>
          </a:p>
        </p:txBody>
      </p:sp>
      <p:sp>
        <p:nvSpPr>
          <p:cNvPr id="66" name="Shape 64"/>
          <p:cNvSpPr/>
          <p:nvPr/>
        </p:nvSpPr>
        <p:spPr>
          <a:xfrm>
            <a:off x="4864608" y="5257800"/>
            <a:ext cx="1993392" cy="329184"/>
          </a:xfrm>
          <a:prstGeom prst="rect">
            <a:avLst/>
          </a:prstGeom>
          <a:solidFill>
            <a:srgbClr val="FFFFFF"/>
          </a:solidFill>
          <a:ln/>
        </p:spPr>
      </p:sp>
      <p:sp>
        <p:nvSpPr>
          <p:cNvPr id="67" name="Text 65"/>
          <p:cNvSpPr txBox="1"/>
          <p:nvPr/>
        </p:nvSpPr>
        <p:spPr>
          <a:xfrm>
            <a:off x="4864608" y="5257800"/>
            <a:ext cx="1993392" cy="329184"/>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(25,25)  </a:t>
            </a:r>
            <a:pPr algn="ctr" indent="0" marL="0">
              <a:buNone/>
            </a:pPr>
            <a:r>
              <a:rPr lang="en-US" sz="1100" b="1" dirty="0">
                <a:solidFill>
                  <a:srgbClr val="1B2A44"/>
                </a:solidFill>
                <a:latin typeface="Yu Gothic" pitchFamily="34" charset="0"/>
                <a:ea typeface="Yu Gothic" pitchFamily="34" charset="-122"/>
                <a:cs typeface="Yu Gothic" pitchFamily="34" charset="-120"/>
              </a:rPr>
              <a:t>0.6 × 1/3 ＝ 0.200</a:t>
            </a:r>
            <a:endParaRPr lang="en-US" sz="1100" dirty="0"/>
          </a:p>
        </p:txBody>
      </p:sp>
      <p:sp>
        <p:nvSpPr>
          <p:cNvPr id="68" name="Shape 66"/>
          <p:cNvSpPr/>
          <p:nvPr/>
        </p:nvSpPr>
        <p:spPr>
          <a:xfrm>
            <a:off x="1463040" y="5605272"/>
            <a:ext cx="1371600" cy="329184"/>
          </a:xfrm>
          <a:prstGeom prst="rect">
            <a:avLst/>
          </a:prstGeom>
          <a:solidFill>
            <a:srgbClr val="1F6F78"/>
          </a:solidFill>
          <a:ln/>
        </p:spPr>
      </p:sp>
      <p:sp>
        <p:nvSpPr>
          <p:cNvPr id="69" name="Text 67"/>
          <p:cNvSpPr txBox="1"/>
          <p:nvPr/>
        </p:nvSpPr>
        <p:spPr>
          <a:xfrm>
            <a:off x="1463040" y="5605272"/>
            <a:ext cx="137160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50m側 × 0.4</a:t>
            </a:r>
            <a:endParaRPr lang="en-US" sz="1050" dirty="0"/>
          </a:p>
        </p:txBody>
      </p:sp>
      <p:sp>
        <p:nvSpPr>
          <p:cNvPr id="70" name="Shape 68"/>
          <p:cNvSpPr/>
          <p:nvPr/>
        </p:nvSpPr>
        <p:spPr>
          <a:xfrm>
            <a:off x="2852928" y="5605272"/>
            <a:ext cx="1993392" cy="329184"/>
          </a:xfrm>
          <a:prstGeom prst="rect">
            <a:avLst/>
          </a:prstGeom>
          <a:solidFill>
            <a:srgbClr val="FFFFFF"/>
          </a:solidFill>
          <a:ln/>
        </p:spPr>
      </p:sp>
      <p:sp>
        <p:nvSpPr>
          <p:cNvPr id="71" name="Text 69"/>
          <p:cNvSpPr txBox="1"/>
          <p:nvPr/>
        </p:nvSpPr>
        <p:spPr>
          <a:xfrm>
            <a:off x="2852928" y="5605272"/>
            <a:ext cx="1993392" cy="329184"/>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(50,10)  </a:t>
            </a:r>
            <a:pPr algn="ctr" indent="0" marL="0">
              <a:buNone/>
            </a:pPr>
            <a:r>
              <a:rPr lang="en-US" sz="1100" b="1" dirty="0">
                <a:solidFill>
                  <a:srgbClr val="1B2A44"/>
                </a:solidFill>
                <a:latin typeface="Yu Gothic" pitchFamily="34" charset="0"/>
                <a:ea typeface="Yu Gothic" pitchFamily="34" charset="-122"/>
                <a:cs typeface="Yu Gothic" pitchFamily="34" charset="-120"/>
              </a:rPr>
              <a:t>0.4 × 2/3 ＝ 0.267</a:t>
            </a:r>
            <a:endParaRPr lang="en-US" sz="1100" dirty="0"/>
          </a:p>
        </p:txBody>
      </p:sp>
      <p:sp>
        <p:nvSpPr>
          <p:cNvPr id="72" name="Shape 70"/>
          <p:cNvSpPr/>
          <p:nvPr/>
        </p:nvSpPr>
        <p:spPr>
          <a:xfrm>
            <a:off x="4864608" y="5605272"/>
            <a:ext cx="1993392" cy="329184"/>
          </a:xfrm>
          <a:prstGeom prst="rect">
            <a:avLst/>
          </a:prstGeom>
          <a:solidFill>
            <a:srgbClr val="FFFFFF"/>
          </a:solidFill>
          <a:ln/>
        </p:spPr>
      </p:sp>
      <p:sp>
        <p:nvSpPr>
          <p:cNvPr id="73" name="Text 71"/>
          <p:cNvSpPr txBox="1"/>
          <p:nvPr/>
        </p:nvSpPr>
        <p:spPr>
          <a:xfrm>
            <a:off x="4864608" y="5605272"/>
            <a:ext cx="1993392" cy="329184"/>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(50,25)  </a:t>
            </a:r>
            <a:pPr algn="ctr" indent="0" marL="0">
              <a:buNone/>
            </a:pPr>
            <a:r>
              <a:rPr lang="en-US" sz="1100" b="1" dirty="0">
                <a:solidFill>
                  <a:srgbClr val="1B2A44"/>
                </a:solidFill>
                <a:latin typeface="Yu Gothic" pitchFamily="34" charset="0"/>
                <a:ea typeface="Yu Gothic" pitchFamily="34" charset="-122"/>
                <a:cs typeface="Yu Gothic" pitchFamily="34" charset="-120"/>
              </a:rPr>
              <a:t>0.4 × 1/3 ＝ 0.133</a:t>
            </a:r>
            <a:endParaRPr lang="en-US" sz="1100" dirty="0"/>
          </a:p>
        </p:txBody>
      </p:sp>
      <p:sp>
        <p:nvSpPr>
          <p:cNvPr id="74" name="Text 72"/>
          <p:cNvSpPr txBox="1"/>
          <p:nvPr/>
        </p:nvSpPr>
        <p:spPr>
          <a:xfrm>
            <a:off x="2852928" y="5952744"/>
            <a:ext cx="4023360" cy="219456"/>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4つの合計 ＝ 1</a:t>
            </a:r>
            <a:endParaRPr lang="en-US" sz="950" dirty="0"/>
          </a:p>
        </p:txBody>
      </p:sp>
      <p:sp>
        <p:nvSpPr>
          <p:cNvPr id="75" name="Shape 73"/>
          <p:cNvSpPr/>
          <p:nvPr/>
        </p:nvSpPr>
        <p:spPr>
          <a:xfrm>
            <a:off x="7726680" y="1554480"/>
            <a:ext cx="4023360" cy="4754880"/>
          </a:xfrm>
          <a:prstGeom prst="roundRect">
            <a:avLst>
              <a:gd name="adj" fmla="val 1364"/>
            </a:avLst>
          </a:prstGeom>
          <a:solidFill>
            <a:srgbClr val="FBEFE3"/>
          </a:solidFill>
          <a:ln/>
        </p:spPr>
      </p:sp>
      <p:sp>
        <p:nvSpPr>
          <p:cNvPr id="76" name="Text 74"/>
          <p:cNvSpPr txBox="1"/>
          <p:nvPr/>
        </p:nvSpPr>
        <p:spPr>
          <a:xfrm>
            <a:off x="7863840" y="1600200"/>
            <a:ext cx="37947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東の建物も同じ（入力：高さ40m・隙間20m）</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863840" y="1965960"/>
          <a:ext cx="3749040" cy="914400"/>
        </p:xfrm>
        <a:graphic>
          <a:graphicData uri="http://schemas.openxmlformats.org/drawingml/2006/table">
            <a:tbl>
              <a:tblPr/>
              <a:tblGrid>
                <a:gridCol w="548640"/>
                <a:gridCol w="1005840"/>
                <a:gridCol w="502920"/>
                <a:gridCol w="841248"/>
                <a:gridCol w="850392"/>
              </a:tblGrid>
              <a:tr h="310896">
                <a:tc>
                  <a:txBody>
                    <a:bodyPr/>
                    <a:lstStyle/>
                    <a:p>
                      <a:pPr algn="l" indent="0" marL="0">
                        <a:buNone/>
                      </a:pP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計算</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位置</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下側</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上側</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高さ</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(40−25)÷25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0.6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25m側 0.4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50m側 0.6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隙間</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(20−10)÷15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10m側 1/3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25m側 2/3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7863840" y="3108960"/>
          <a:ext cx="3749040" cy="914400"/>
        </p:xfrm>
        <a:graphic>
          <a:graphicData uri="http://schemas.openxmlformats.org/drawingml/2006/table">
            <a:tbl>
              <a:tblPr/>
              <a:tblGrid>
                <a:gridCol w="1097280"/>
                <a:gridCol w="1645920"/>
                <a:gridCol w="1005840"/>
              </a:tblGrid>
              <a:tr h="310896">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隅</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計算</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重み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(25,10)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 × 1/3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0.133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(25,25)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 × 2/3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0.267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(50,10)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0.6 × 1/3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0.200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(50,25)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0.6 × 2/3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0.400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bl>
          </a:graphicData>
        </a:graphic>
      </p:graphicFrame>
      <p:sp>
        <p:nvSpPr>
          <p:cNvPr id="79" name="Shape 75"/>
          <p:cNvSpPr/>
          <p:nvPr/>
        </p:nvSpPr>
        <p:spPr>
          <a:xfrm>
            <a:off x="7863840" y="4846320"/>
            <a:ext cx="3749040" cy="1325880"/>
          </a:xfrm>
          <a:prstGeom prst="roundRect">
            <a:avLst>
              <a:gd name="adj" fmla="val 3448"/>
            </a:avLst>
          </a:prstGeom>
          <a:solidFill>
            <a:srgbClr val="1B2A44"/>
          </a:solidFill>
          <a:ln/>
        </p:spPr>
      </p:sp>
      <p:sp>
        <p:nvSpPr>
          <p:cNvPr id="80" name="Text 76"/>
          <p:cNvSpPr txBox="1"/>
          <p:nvPr/>
        </p:nvSpPr>
        <p:spPr>
          <a:xfrm>
            <a:off x="7973568" y="4892040"/>
            <a:ext cx="3566160" cy="1234440"/>
          </a:xfrm>
          <a:prstGeom prst="rect">
            <a:avLst/>
          </a:prstGeom>
          <a:noFill/>
          <a:ln/>
        </p:spPr>
        <p:txBody>
          <a:bodyPr wrap="square" lIns="508" tIns="508" rIns="508" bIns="508" rtlCol="0" anchor="ctr"/>
          <a:lstStyle/>
          <a:p>
            <a:pPr indent="0" marL="0">
              <a:buNone/>
            </a:pPr>
            <a:r>
              <a:rPr lang="en-US" sz="1050" b="1" dirty="0">
                <a:solidFill>
                  <a:srgbClr val="E8934D"/>
                </a:solidFill>
                <a:latin typeface="Yu Gothic" pitchFamily="34" charset="0"/>
                <a:ea typeface="Yu Gothic" pitchFamily="34" charset="-122"/>
                <a:cs typeface="Yu Gothic" pitchFamily="34" charset="-120"/>
              </a:rPr>
              <a:t>ポイント</a:t>
            </a:r>
            <a:endParaRPr lang="en-US" sz="1050" dirty="0"/>
          </a:p>
          <a:p>
            <a:pPr indent="0" marL="0">
              <a:buNone/>
            </a:pPr>
            <a:r>
              <a:rPr lang="en-US" sz="1050" dirty="0">
                <a:solidFill>
                  <a:srgbClr val="FFFFFF"/>
                </a:solidFill>
                <a:latin typeface="Yu Gothic" pitchFamily="34" charset="0"/>
                <a:ea typeface="Yu Gothic" pitchFamily="34" charset="-122"/>
                <a:cs typeface="Yu Gothic" pitchFamily="34" charset="-120"/>
              </a:rPr>
              <a:t>入力が隅に近いほど、その隅の重みが大きい。南1棟のツール（p.22）でも同じ計算をしている。</a:t>
            </a:r>
            <a:endParaRPr lang="en-US" sz="10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具体例②：16マスの1つ1つが「南と東を同時に置いた配置」</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33 / 45</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8934D"/>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Text 19"/>
          <p:cNvSpPr txBox="1"/>
          <p:nvPr/>
        </p:nvSpPr>
        <p:spPr>
          <a:xfrm>
            <a:off x="1874520" y="1536192"/>
            <a:ext cx="4754880" cy="237744"/>
          </a:xfrm>
          <a:prstGeom prst="rect">
            <a:avLst/>
          </a:prstGeom>
          <a:noFill/>
          <a:ln/>
        </p:spPr>
        <p:txBody>
          <a:bodyPr wrap="square" lIns="508" tIns="508" rIns="508" bIns="508" rtlCol="0" anchor="t"/>
          <a:lstStyle/>
          <a:p>
            <a:pPr algn="ctr" indent="0" marL="0">
              <a:buNone/>
            </a:pPr>
            <a:r>
              <a:rPr lang="en-US" sz="1050" b="1" dirty="0">
                <a:solidFill>
                  <a:srgbClr val="E8934D"/>
                </a:solidFill>
                <a:latin typeface="Yu Gothic" pitchFamily="34" charset="0"/>
                <a:ea typeface="Yu Gothic" pitchFamily="34" charset="-122"/>
                <a:cs typeface="Yu Gothic" pitchFamily="34" charset="-120"/>
              </a:rPr>
              <a:t>東の建物の隅（前のページ右の4つ）→</a:t>
            </a:r>
            <a:endParaRPr lang="en-US" sz="1050" dirty="0"/>
          </a:p>
        </p:txBody>
      </p:sp>
      <p:sp>
        <p:nvSpPr>
          <p:cNvPr id="22" name="Text 20"/>
          <p:cNvSpPr txBox="1"/>
          <p:nvPr/>
        </p:nvSpPr>
        <p:spPr>
          <a:xfrm>
            <a:off x="457200" y="1737360"/>
            <a:ext cx="1417320" cy="512064"/>
          </a:xfrm>
          <a:prstGeom prst="rect">
            <a:avLst/>
          </a:prstGeom>
          <a:noFill/>
          <a:ln/>
        </p:spPr>
        <p:txBody>
          <a:bodyPr wrap="square" lIns="508" tIns="508" rIns="508" bIns="508" rtlCol="0" anchor="ctr"/>
          <a:lstStyle/>
          <a:p>
            <a:pPr algn="ctr" indent="0" marL="0">
              <a:buNone/>
            </a:pPr>
            <a:r>
              <a:rPr lang="en-US" sz="950" b="1" dirty="0">
                <a:solidFill>
                  <a:srgbClr val="1F6F78"/>
                </a:solidFill>
                <a:latin typeface="Yu Gothic" pitchFamily="34" charset="0"/>
                <a:ea typeface="Yu Gothic" pitchFamily="34" charset="-122"/>
                <a:cs typeface="Yu Gothic" pitchFamily="34" charset="-120"/>
              </a:rPr>
              <a:t>南の建物の隅</a:t>
            </a:r>
            <a:endParaRPr lang="en-US" sz="950" dirty="0"/>
          </a:p>
          <a:p>
            <a:pPr algn="ctr" indent="0" marL="0">
              <a:buNone/>
            </a:pPr>
            <a:r>
              <a:rPr lang="en-US" sz="950" b="1" dirty="0">
                <a:solidFill>
                  <a:srgbClr val="1F6F78"/>
                </a:solidFill>
                <a:latin typeface="Yu Gothic" pitchFamily="34" charset="0"/>
                <a:ea typeface="Yu Gothic" pitchFamily="34" charset="-122"/>
                <a:cs typeface="Yu Gothic" pitchFamily="34" charset="-120"/>
              </a:rPr>
              <a:t>（前のページ左）↓</a:t>
            </a:r>
            <a:endParaRPr lang="en-US" sz="950" dirty="0"/>
          </a:p>
        </p:txBody>
      </p:sp>
      <p:sp>
        <p:nvSpPr>
          <p:cNvPr id="23" name="Shape 21"/>
          <p:cNvSpPr/>
          <p:nvPr/>
        </p:nvSpPr>
        <p:spPr>
          <a:xfrm>
            <a:off x="1874520" y="1792224"/>
            <a:ext cx="1152144" cy="457200"/>
          </a:xfrm>
          <a:prstGeom prst="rect">
            <a:avLst/>
          </a:prstGeom>
          <a:solidFill>
            <a:srgbClr val="E8934D"/>
          </a:solidFill>
          <a:ln/>
        </p:spPr>
      </p:sp>
      <p:sp>
        <p:nvSpPr>
          <p:cNvPr id="24" name="Text 22"/>
          <p:cNvSpPr txBox="1"/>
          <p:nvPr/>
        </p:nvSpPr>
        <p:spPr>
          <a:xfrm>
            <a:off x="1874520" y="1792224"/>
            <a:ext cx="115214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(25,10)</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0.133</a:t>
            </a:r>
            <a:endParaRPr lang="en-US" sz="1050" dirty="0"/>
          </a:p>
        </p:txBody>
      </p:sp>
      <p:sp>
        <p:nvSpPr>
          <p:cNvPr id="25" name="Shape 23"/>
          <p:cNvSpPr/>
          <p:nvPr/>
        </p:nvSpPr>
        <p:spPr>
          <a:xfrm>
            <a:off x="3063240" y="1792224"/>
            <a:ext cx="1152144" cy="457200"/>
          </a:xfrm>
          <a:prstGeom prst="rect">
            <a:avLst/>
          </a:prstGeom>
          <a:solidFill>
            <a:srgbClr val="E8934D"/>
          </a:solidFill>
          <a:ln/>
        </p:spPr>
      </p:sp>
      <p:sp>
        <p:nvSpPr>
          <p:cNvPr id="26" name="Text 24"/>
          <p:cNvSpPr txBox="1"/>
          <p:nvPr/>
        </p:nvSpPr>
        <p:spPr>
          <a:xfrm>
            <a:off x="3063240" y="1792224"/>
            <a:ext cx="115214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(25,25)</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0.267</a:t>
            </a:r>
            <a:endParaRPr lang="en-US" sz="1050" dirty="0"/>
          </a:p>
        </p:txBody>
      </p:sp>
      <p:sp>
        <p:nvSpPr>
          <p:cNvPr id="27" name="Shape 25"/>
          <p:cNvSpPr/>
          <p:nvPr/>
        </p:nvSpPr>
        <p:spPr>
          <a:xfrm>
            <a:off x="4251960" y="1792224"/>
            <a:ext cx="1152144" cy="457200"/>
          </a:xfrm>
          <a:prstGeom prst="rect">
            <a:avLst/>
          </a:prstGeom>
          <a:solidFill>
            <a:srgbClr val="E8934D"/>
          </a:solidFill>
          <a:ln/>
        </p:spPr>
      </p:sp>
      <p:sp>
        <p:nvSpPr>
          <p:cNvPr id="28" name="Text 26"/>
          <p:cNvSpPr txBox="1"/>
          <p:nvPr/>
        </p:nvSpPr>
        <p:spPr>
          <a:xfrm>
            <a:off x="4251960" y="1792224"/>
            <a:ext cx="115214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(50,10)</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0.200</a:t>
            </a:r>
            <a:endParaRPr lang="en-US" sz="1050" dirty="0"/>
          </a:p>
        </p:txBody>
      </p:sp>
      <p:sp>
        <p:nvSpPr>
          <p:cNvPr id="29" name="Shape 27"/>
          <p:cNvSpPr/>
          <p:nvPr/>
        </p:nvSpPr>
        <p:spPr>
          <a:xfrm>
            <a:off x="5440680" y="1792224"/>
            <a:ext cx="1152144" cy="457200"/>
          </a:xfrm>
          <a:prstGeom prst="rect">
            <a:avLst/>
          </a:prstGeom>
          <a:solidFill>
            <a:srgbClr val="E8934D"/>
          </a:solidFill>
          <a:ln/>
        </p:spPr>
      </p:sp>
      <p:sp>
        <p:nvSpPr>
          <p:cNvPr id="30" name="Text 28"/>
          <p:cNvSpPr txBox="1"/>
          <p:nvPr/>
        </p:nvSpPr>
        <p:spPr>
          <a:xfrm>
            <a:off x="5440680" y="1792224"/>
            <a:ext cx="115214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(50,25)</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0.400</a:t>
            </a:r>
            <a:endParaRPr lang="en-US" sz="1050" dirty="0"/>
          </a:p>
        </p:txBody>
      </p:sp>
      <p:sp>
        <p:nvSpPr>
          <p:cNvPr id="31" name="Shape 29"/>
          <p:cNvSpPr/>
          <p:nvPr/>
        </p:nvSpPr>
        <p:spPr>
          <a:xfrm>
            <a:off x="457200" y="2286000"/>
            <a:ext cx="1380744" cy="420624"/>
          </a:xfrm>
          <a:prstGeom prst="rect">
            <a:avLst/>
          </a:prstGeom>
          <a:solidFill>
            <a:srgbClr val="1F6F78"/>
          </a:solidFill>
          <a:ln/>
        </p:spPr>
      </p:sp>
      <p:sp>
        <p:nvSpPr>
          <p:cNvPr id="32" name="Text 30"/>
          <p:cNvSpPr txBox="1"/>
          <p:nvPr/>
        </p:nvSpPr>
        <p:spPr>
          <a:xfrm>
            <a:off x="457200" y="2286000"/>
            <a:ext cx="13807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(25,10)</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0.400</a:t>
            </a:r>
            <a:endParaRPr lang="en-US" sz="1050" dirty="0"/>
          </a:p>
        </p:txBody>
      </p:sp>
      <p:sp>
        <p:nvSpPr>
          <p:cNvPr id="33" name="Shape 31"/>
          <p:cNvSpPr/>
          <p:nvPr/>
        </p:nvSpPr>
        <p:spPr>
          <a:xfrm>
            <a:off x="1874520" y="2286000"/>
            <a:ext cx="1152144" cy="420624"/>
          </a:xfrm>
          <a:prstGeom prst="rect">
            <a:avLst/>
          </a:prstGeom>
          <a:solidFill>
            <a:srgbClr val="F3F5F8"/>
          </a:solidFill>
          <a:ln/>
        </p:spPr>
      </p:sp>
      <p:sp>
        <p:nvSpPr>
          <p:cNvPr id="34" name="Text 32"/>
          <p:cNvSpPr txBox="1"/>
          <p:nvPr/>
        </p:nvSpPr>
        <p:spPr>
          <a:xfrm>
            <a:off x="1874520" y="22860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0.053</a:t>
            </a:r>
            <a:endParaRPr lang="en-US" sz="1200" dirty="0"/>
          </a:p>
        </p:txBody>
      </p:sp>
      <p:sp>
        <p:nvSpPr>
          <p:cNvPr id="35" name="Shape 33"/>
          <p:cNvSpPr/>
          <p:nvPr/>
        </p:nvSpPr>
        <p:spPr>
          <a:xfrm>
            <a:off x="3063240" y="2286000"/>
            <a:ext cx="1152144" cy="420624"/>
          </a:xfrm>
          <a:prstGeom prst="rect">
            <a:avLst/>
          </a:prstGeom>
          <a:solidFill>
            <a:srgbClr val="F6E3D2"/>
          </a:solidFill>
          <a:ln/>
        </p:spPr>
      </p:sp>
      <p:sp>
        <p:nvSpPr>
          <p:cNvPr id="36" name="Text 34"/>
          <p:cNvSpPr txBox="1"/>
          <p:nvPr/>
        </p:nvSpPr>
        <p:spPr>
          <a:xfrm>
            <a:off x="3063240" y="22860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0.107</a:t>
            </a:r>
            <a:endParaRPr lang="en-US" sz="1200" dirty="0"/>
          </a:p>
        </p:txBody>
      </p:sp>
      <p:sp>
        <p:nvSpPr>
          <p:cNvPr id="37" name="Shape 35"/>
          <p:cNvSpPr/>
          <p:nvPr/>
        </p:nvSpPr>
        <p:spPr>
          <a:xfrm>
            <a:off x="4251960" y="2286000"/>
            <a:ext cx="1152144" cy="420624"/>
          </a:xfrm>
          <a:prstGeom prst="rect">
            <a:avLst/>
          </a:prstGeom>
          <a:solidFill>
            <a:srgbClr val="F6E3D2"/>
          </a:solidFill>
          <a:ln/>
        </p:spPr>
      </p:sp>
      <p:sp>
        <p:nvSpPr>
          <p:cNvPr id="38" name="Text 36"/>
          <p:cNvSpPr txBox="1"/>
          <p:nvPr/>
        </p:nvSpPr>
        <p:spPr>
          <a:xfrm>
            <a:off x="4251960" y="22860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0.080</a:t>
            </a:r>
            <a:endParaRPr lang="en-US" sz="1200" dirty="0"/>
          </a:p>
        </p:txBody>
      </p:sp>
      <p:sp>
        <p:nvSpPr>
          <p:cNvPr id="39" name="Shape 37"/>
          <p:cNvSpPr/>
          <p:nvPr/>
        </p:nvSpPr>
        <p:spPr>
          <a:xfrm>
            <a:off x="5440680" y="2286000"/>
            <a:ext cx="1152144" cy="420624"/>
          </a:xfrm>
          <a:prstGeom prst="rect">
            <a:avLst/>
          </a:prstGeom>
          <a:solidFill>
            <a:srgbClr val="FBEBDA"/>
          </a:solidFill>
          <a:ln w="25400">
            <a:solidFill>
              <a:srgbClr val="B04A3F"/>
            </a:solidFill>
            <a:prstDash val="solid"/>
          </a:ln>
        </p:spPr>
      </p:sp>
      <p:sp>
        <p:nvSpPr>
          <p:cNvPr id="40" name="Text 38"/>
          <p:cNvSpPr txBox="1"/>
          <p:nvPr/>
        </p:nvSpPr>
        <p:spPr>
          <a:xfrm>
            <a:off x="5440680" y="2286000"/>
            <a:ext cx="1152144" cy="420624"/>
          </a:xfrm>
          <a:prstGeom prst="rect">
            <a:avLst/>
          </a:prstGeom>
          <a:noFill/>
          <a:ln/>
        </p:spPr>
        <p:txBody>
          <a:bodyPr wrap="square" lIns="0" tIns="0" rIns="0" bIns="0" rtlCol="0" anchor="ctr"/>
          <a:lstStyle/>
          <a:p>
            <a:pPr algn="ctr" indent="0" marL="0">
              <a:buNone/>
            </a:pPr>
            <a:r>
              <a:rPr lang="en-US" sz="1200" b="1" dirty="0">
                <a:solidFill>
                  <a:srgbClr val="B04A3F"/>
                </a:solidFill>
                <a:latin typeface="Yu Gothic" pitchFamily="34" charset="0"/>
                <a:ea typeface="Yu Gothic" pitchFamily="34" charset="-122"/>
                <a:cs typeface="Yu Gothic" pitchFamily="34" charset="-120"/>
              </a:rPr>
              <a:t>0.160</a:t>
            </a:r>
            <a:endParaRPr lang="en-US" sz="1200" dirty="0"/>
          </a:p>
        </p:txBody>
      </p:sp>
      <p:sp>
        <p:nvSpPr>
          <p:cNvPr id="41" name="Shape 39"/>
          <p:cNvSpPr/>
          <p:nvPr/>
        </p:nvSpPr>
        <p:spPr>
          <a:xfrm>
            <a:off x="457200" y="2743200"/>
            <a:ext cx="1380744" cy="420624"/>
          </a:xfrm>
          <a:prstGeom prst="rect">
            <a:avLst/>
          </a:prstGeom>
          <a:solidFill>
            <a:srgbClr val="1F6F78"/>
          </a:solidFill>
          <a:ln/>
        </p:spPr>
      </p:sp>
      <p:sp>
        <p:nvSpPr>
          <p:cNvPr id="42" name="Text 40"/>
          <p:cNvSpPr txBox="1"/>
          <p:nvPr/>
        </p:nvSpPr>
        <p:spPr>
          <a:xfrm>
            <a:off x="457200" y="2743200"/>
            <a:ext cx="13807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(25,25)</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0.200</a:t>
            </a:r>
            <a:endParaRPr lang="en-US" sz="1050" dirty="0"/>
          </a:p>
        </p:txBody>
      </p:sp>
      <p:sp>
        <p:nvSpPr>
          <p:cNvPr id="43" name="Shape 41"/>
          <p:cNvSpPr/>
          <p:nvPr/>
        </p:nvSpPr>
        <p:spPr>
          <a:xfrm>
            <a:off x="1874520" y="2743200"/>
            <a:ext cx="1152144" cy="420624"/>
          </a:xfrm>
          <a:prstGeom prst="rect">
            <a:avLst/>
          </a:prstGeom>
          <a:solidFill>
            <a:srgbClr val="F3F5F8"/>
          </a:solidFill>
          <a:ln/>
        </p:spPr>
      </p:sp>
      <p:sp>
        <p:nvSpPr>
          <p:cNvPr id="44" name="Text 42"/>
          <p:cNvSpPr txBox="1"/>
          <p:nvPr/>
        </p:nvSpPr>
        <p:spPr>
          <a:xfrm>
            <a:off x="1874520" y="27432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0.027</a:t>
            </a:r>
            <a:endParaRPr lang="en-US" sz="1200" dirty="0"/>
          </a:p>
        </p:txBody>
      </p:sp>
      <p:sp>
        <p:nvSpPr>
          <p:cNvPr id="45" name="Shape 43"/>
          <p:cNvSpPr/>
          <p:nvPr/>
        </p:nvSpPr>
        <p:spPr>
          <a:xfrm>
            <a:off x="3063240" y="2743200"/>
            <a:ext cx="1152144" cy="420624"/>
          </a:xfrm>
          <a:prstGeom prst="rect">
            <a:avLst/>
          </a:prstGeom>
          <a:solidFill>
            <a:srgbClr val="F3F5F8"/>
          </a:solidFill>
          <a:ln/>
        </p:spPr>
      </p:sp>
      <p:sp>
        <p:nvSpPr>
          <p:cNvPr id="46" name="Text 44"/>
          <p:cNvSpPr txBox="1"/>
          <p:nvPr/>
        </p:nvSpPr>
        <p:spPr>
          <a:xfrm>
            <a:off x="3063240" y="27432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0.053</a:t>
            </a:r>
            <a:endParaRPr lang="en-US" sz="1200" dirty="0"/>
          </a:p>
        </p:txBody>
      </p:sp>
      <p:sp>
        <p:nvSpPr>
          <p:cNvPr id="47" name="Shape 45"/>
          <p:cNvSpPr/>
          <p:nvPr/>
        </p:nvSpPr>
        <p:spPr>
          <a:xfrm>
            <a:off x="4251960" y="2743200"/>
            <a:ext cx="1152144" cy="420624"/>
          </a:xfrm>
          <a:prstGeom prst="rect">
            <a:avLst/>
          </a:prstGeom>
          <a:solidFill>
            <a:srgbClr val="F3F5F8"/>
          </a:solidFill>
          <a:ln/>
        </p:spPr>
      </p:sp>
      <p:sp>
        <p:nvSpPr>
          <p:cNvPr id="48" name="Text 46"/>
          <p:cNvSpPr txBox="1"/>
          <p:nvPr/>
        </p:nvSpPr>
        <p:spPr>
          <a:xfrm>
            <a:off x="4251960" y="27432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0.040</a:t>
            </a:r>
            <a:endParaRPr lang="en-US" sz="1200" dirty="0"/>
          </a:p>
        </p:txBody>
      </p:sp>
      <p:sp>
        <p:nvSpPr>
          <p:cNvPr id="49" name="Shape 47"/>
          <p:cNvSpPr/>
          <p:nvPr/>
        </p:nvSpPr>
        <p:spPr>
          <a:xfrm>
            <a:off x="5440680" y="2743200"/>
            <a:ext cx="1152144" cy="420624"/>
          </a:xfrm>
          <a:prstGeom prst="rect">
            <a:avLst/>
          </a:prstGeom>
          <a:solidFill>
            <a:srgbClr val="F6E3D2"/>
          </a:solidFill>
          <a:ln/>
        </p:spPr>
      </p:sp>
      <p:sp>
        <p:nvSpPr>
          <p:cNvPr id="50" name="Text 48"/>
          <p:cNvSpPr txBox="1"/>
          <p:nvPr/>
        </p:nvSpPr>
        <p:spPr>
          <a:xfrm>
            <a:off x="5440680" y="27432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0.080</a:t>
            </a:r>
            <a:endParaRPr lang="en-US" sz="1200" dirty="0"/>
          </a:p>
        </p:txBody>
      </p:sp>
      <p:sp>
        <p:nvSpPr>
          <p:cNvPr id="51" name="Shape 49"/>
          <p:cNvSpPr/>
          <p:nvPr/>
        </p:nvSpPr>
        <p:spPr>
          <a:xfrm>
            <a:off x="457200" y="3200400"/>
            <a:ext cx="1380744" cy="420624"/>
          </a:xfrm>
          <a:prstGeom prst="rect">
            <a:avLst/>
          </a:prstGeom>
          <a:solidFill>
            <a:srgbClr val="1F6F78"/>
          </a:solidFill>
          <a:ln/>
        </p:spPr>
      </p:sp>
      <p:sp>
        <p:nvSpPr>
          <p:cNvPr id="52" name="Text 50"/>
          <p:cNvSpPr txBox="1"/>
          <p:nvPr/>
        </p:nvSpPr>
        <p:spPr>
          <a:xfrm>
            <a:off x="457200" y="3200400"/>
            <a:ext cx="13807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(50,10)</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0.267</a:t>
            </a:r>
            <a:endParaRPr lang="en-US" sz="1050" dirty="0"/>
          </a:p>
        </p:txBody>
      </p:sp>
      <p:sp>
        <p:nvSpPr>
          <p:cNvPr id="53" name="Shape 51"/>
          <p:cNvSpPr/>
          <p:nvPr/>
        </p:nvSpPr>
        <p:spPr>
          <a:xfrm>
            <a:off x="1874520" y="3200400"/>
            <a:ext cx="1152144" cy="420624"/>
          </a:xfrm>
          <a:prstGeom prst="rect">
            <a:avLst/>
          </a:prstGeom>
          <a:solidFill>
            <a:srgbClr val="F3F5F8"/>
          </a:solidFill>
          <a:ln/>
        </p:spPr>
      </p:sp>
      <p:sp>
        <p:nvSpPr>
          <p:cNvPr id="54" name="Text 52"/>
          <p:cNvSpPr txBox="1"/>
          <p:nvPr/>
        </p:nvSpPr>
        <p:spPr>
          <a:xfrm>
            <a:off x="1874520" y="32004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0.036</a:t>
            </a:r>
            <a:endParaRPr lang="en-US" sz="1200" dirty="0"/>
          </a:p>
        </p:txBody>
      </p:sp>
      <p:sp>
        <p:nvSpPr>
          <p:cNvPr id="55" name="Shape 53"/>
          <p:cNvSpPr/>
          <p:nvPr/>
        </p:nvSpPr>
        <p:spPr>
          <a:xfrm>
            <a:off x="3063240" y="3200400"/>
            <a:ext cx="1152144" cy="420624"/>
          </a:xfrm>
          <a:prstGeom prst="rect">
            <a:avLst/>
          </a:prstGeom>
          <a:solidFill>
            <a:srgbClr val="F6E3D2"/>
          </a:solidFill>
          <a:ln/>
        </p:spPr>
      </p:sp>
      <p:sp>
        <p:nvSpPr>
          <p:cNvPr id="56" name="Text 54"/>
          <p:cNvSpPr txBox="1"/>
          <p:nvPr/>
        </p:nvSpPr>
        <p:spPr>
          <a:xfrm>
            <a:off x="3063240" y="32004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0.071</a:t>
            </a:r>
            <a:endParaRPr lang="en-US" sz="1200" dirty="0"/>
          </a:p>
        </p:txBody>
      </p:sp>
      <p:sp>
        <p:nvSpPr>
          <p:cNvPr id="57" name="Shape 55"/>
          <p:cNvSpPr/>
          <p:nvPr/>
        </p:nvSpPr>
        <p:spPr>
          <a:xfrm>
            <a:off x="4251960" y="3200400"/>
            <a:ext cx="1152144" cy="420624"/>
          </a:xfrm>
          <a:prstGeom prst="rect">
            <a:avLst/>
          </a:prstGeom>
          <a:solidFill>
            <a:srgbClr val="F3F5F8"/>
          </a:solidFill>
          <a:ln/>
        </p:spPr>
      </p:sp>
      <p:sp>
        <p:nvSpPr>
          <p:cNvPr id="58" name="Text 56"/>
          <p:cNvSpPr txBox="1"/>
          <p:nvPr/>
        </p:nvSpPr>
        <p:spPr>
          <a:xfrm>
            <a:off x="4251960" y="32004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0.053</a:t>
            </a:r>
            <a:endParaRPr lang="en-US" sz="1200" dirty="0"/>
          </a:p>
        </p:txBody>
      </p:sp>
      <p:sp>
        <p:nvSpPr>
          <p:cNvPr id="59" name="Shape 57"/>
          <p:cNvSpPr/>
          <p:nvPr/>
        </p:nvSpPr>
        <p:spPr>
          <a:xfrm>
            <a:off x="5440680" y="3200400"/>
            <a:ext cx="1152144" cy="420624"/>
          </a:xfrm>
          <a:prstGeom prst="rect">
            <a:avLst/>
          </a:prstGeom>
          <a:solidFill>
            <a:srgbClr val="F6E3D2"/>
          </a:solidFill>
          <a:ln/>
        </p:spPr>
      </p:sp>
      <p:sp>
        <p:nvSpPr>
          <p:cNvPr id="60" name="Text 58"/>
          <p:cNvSpPr txBox="1"/>
          <p:nvPr/>
        </p:nvSpPr>
        <p:spPr>
          <a:xfrm>
            <a:off x="5440680" y="32004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0.107</a:t>
            </a:r>
            <a:endParaRPr lang="en-US" sz="1200" dirty="0"/>
          </a:p>
        </p:txBody>
      </p:sp>
      <p:sp>
        <p:nvSpPr>
          <p:cNvPr id="61" name="Shape 59"/>
          <p:cNvSpPr/>
          <p:nvPr/>
        </p:nvSpPr>
        <p:spPr>
          <a:xfrm>
            <a:off x="457200" y="3657600"/>
            <a:ext cx="1380744" cy="420624"/>
          </a:xfrm>
          <a:prstGeom prst="rect">
            <a:avLst/>
          </a:prstGeom>
          <a:solidFill>
            <a:srgbClr val="1F6F78"/>
          </a:solidFill>
          <a:ln/>
        </p:spPr>
      </p:sp>
      <p:sp>
        <p:nvSpPr>
          <p:cNvPr id="62" name="Text 60"/>
          <p:cNvSpPr txBox="1"/>
          <p:nvPr/>
        </p:nvSpPr>
        <p:spPr>
          <a:xfrm>
            <a:off x="457200" y="3657600"/>
            <a:ext cx="13807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(50,25)</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0.133</a:t>
            </a:r>
            <a:endParaRPr lang="en-US" sz="1050" dirty="0"/>
          </a:p>
        </p:txBody>
      </p:sp>
      <p:sp>
        <p:nvSpPr>
          <p:cNvPr id="63" name="Shape 61"/>
          <p:cNvSpPr/>
          <p:nvPr/>
        </p:nvSpPr>
        <p:spPr>
          <a:xfrm>
            <a:off x="1874520" y="3657600"/>
            <a:ext cx="1152144" cy="420624"/>
          </a:xfrm>
          <a:prstGeom prst="rect">
            <a:avLst/>
          </a:prstGeom>
          <a:solidFill>
            <a:srgbClr val="F3F5F8"/>
          </a:solidFill>
          <a:ln/>
        </p:spPr>
      </p:sp>
      <p:sp>
        <p:nvSpPr>
          <p:cNvPr id="64" name="Text 62"/>
          <p:cNvSpPr txBox="1"/>
          <p:nvPr/>
        </p:nvSpPr>
        <p:spPr>
          <a:xfrm>
            <a:off x="1874520" y="36576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0.018</a:t>
            </a:r>
            <a:endParaRPr lang="en-US" sz="1200" dirty="0"/>
          </a:p>
        </p:txBody>
      </p:sp>
      <p:sp>
        <p:nvSpPr>
          <p:cNvPr id="65" name="Shape 63"/>
          <p:cNvSpPr/>
          <p:nvPr/>
        </p:nvSpPr>
        <p:spPr>
          <a:xfrm>
            <a:off x="3063240" y="3657600"/>
            <a:ext cx="1152144" cy="420624"/>
          </a:xfrm>
          <a:prstGeom prst="rect">
            <a:avLst/>
          </a:prstGeom>
          <a:solidFill>
            <a:srgbClr val="F3F5F8"/>
          </a:solidFill>
          <a:ln/>
        </p:spPr>
      </p:sp>
      <p:sp>
        <p:nvSpPr>
          <p:cNvPr id="66" name="Text 64"/>
          <p:cNvSpPr txBox="1"/>
          <p:nvPr/>
        </p:nvSpPr>
        <p:spPr>
          <a:xfrm>
            <a:off x="3063240" y="36576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0.036</a:t>
            </a:r>
            <a:endParaRPr lang="en-US" sz="1200" dirty="0"/>
          </a:p>
        </p:txBody>
      </p:sp>
      <p:sp>
        <p:nvSpPr>
          <p:cNvPr id="67" name="Shape 65"/>
          <p:cNvSpPr/>
          <p:nvPr/>
        </p:nvSpPr>
        <p:spPr>
          <a:xfrm>
            <a:off x="4251960" y="3657600"/>
            <a:ext cx="1152144" cy="420624"/>
          </a:xfrm>
          <a:prstGeom prst="rect">
            <a:avLst/>
          </a:prstGeom>
          <a:solidFill>
            <a:srgbClr val="F3F5F8"/>
          </a:solidFill>
          <a:ln/>
        </p:spPr>
      </p:sp>
      <p:sp>
        <p:nvSpPr>
          <p:cNvPr id="68" name="Text 66"/>
          <p:cNvSpPr txBox="1"/>
          <p:nvPr/>
        </p:nvSpPr>
        <p:spPr>
          <a:xfrm>
            <a:off x="4251960" y="36576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0.027</a:t>
            </a:r>
            <a:endParaRPr lang="en-US" sz="1200" dirty="0"/>
          </a:p>
        </p:txBody>
      </p:sp>
      <p:sp>
        <p:nvSpPr>
          <p:cNvPr id="69" name="Shape 67"/>
          <p:cNvSpPr/>
          <p:nvPr/>
        </p:nvSpPr>
        <p:spPr>
          <a:xfrm>
            <a:off x="5440680" y="3657600"/>
            <a:ext cx="1152144" cy="420624"/>
          </a:xfrm>
          <a:prstGeom prst="rect">
            <a:avLst/>
          </a:prstGeom>
          <a:solidFill>
            <a:srgbClr val="F3F5F8"/>
          </a:solidFill>
          <a:ln/>
        </p:spPr>
      </p:sp>
      <p:sp>
        <p:nvSpPr>
          <p:cNvPr id="70" name="Text 68"/>
          <p:cNvSpPr txBox="1"/>
          <p:nvPr/>
        </p:nvSpPr>
        <p:spPr>
          <a:xfrm>
            <a:off x="5440680" y="36576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0.053</a:t>
            </a:r>
            <a:endParaRPr lang="en-US" sz="1200" dirty="0"/>
          </a:p>
        </p:txBody>
      </p:sp>
      <p:sp>
        <p:nvSpPr>
          <p:cNvPr id="71" name="Text 69"/>
          <p:cNvSpPr txBox="1"/>
          <p:nvPr/>
        </p:nvSpPr>
        <p:spPr>
          <a:xfrm>
            <a:off x="457200" y="4114800"/>
            <a:ext cx="6172200" cy="237744"/>
          </a:xfrm>
          <a:prstGeom prst="rect">
            <a:avLst/>
          </a:prstGeom>
          <a:noFill/>
          <a:ln/>
        </p:spPr>
        <p:txBody>
          <a:bodyPr wrap="square" lIns="508" tIns="508" rIns="508" bIns="508" rtlCol="0" anchor="t"/>
          <a:lstStyle/>
          <a:p>
            <a:pPr algn="ctr" indent="0" marL="0">
              <a:buNone/>
            </a:pPr>
            <a:r>
              <a:rPr lang="en-US" sz="1000" dirty="0">
                <a:solidFill>
                  <a:srgbClr val="6B7480"/>
                </a:solidFill>
                <a:latin typeface="Yu Gothic" pitchFamily="34" charset="0"/>
                <a:ea typeface="Yu Gothic" pitchFamily="34" charset="-122"/>
                <a:cs typeface="Yu Gothic" pitchFamily="34" charset="-120"/>
              </a:rPr>
              <a:t>各マス＝南の重み × 東の重み（16マスの合計＝1）</a:t>
            </a:r>
            <a:endParaRPr lang="en-US" sz="1000" dirty="0"/>
          </a:p>
        </p:txBody>
      </p:sp>
      <p:sp>
        <p:nvSpPr>
          <p:cNvPr id="72" name="Shape 70"/>
          <p:cNvSpPr/>
          <p:nvPr/>
        </p:nvSpPr>
        <p:spPr>
          <a:xfrm>
            <a:off x="6592824" y="2496312"/>
            <a:ext cx="676656" cy="91"/>
          </a:xfrm>
          <a:prstGeom prst="line">
            <a:avLst/>
          </a:prstGeom>
          <a:noFill/>
          <a:ln w="25400">
            <a:solidFill>
              <a:srgbClr val="B04A3F"/>
            </a:solidFill>
            <a:prstDash val="solid"/>
            <a:tailEnd type="triangle"/>
          </a:ln>
        </p:spPr>
      </p:sp>
      <p:sp>
        <p:nvSpPr>
          <p:cNvPr id="73" name="Shape 71"/>
          <p:cNvSpPr/>
          <p:nvPr/>
        </p:nvSpPr>
        <p:spPr>
          <a:xfrm>
            <a:off x="7315200" y="1554480"/>
            <a:ext cx="4434840" cy="2743200"/>
          </a:xfrm>
          <a:prstGeom prst="roundRect">
            <a:avLst>
              <a:gd name="adj" fmla="val 2000"/>
            </a:avLst>
          </a:prstGeom>
          <a:solidFill>
            <a:srgbClr val="F5E2DF"/>
          </a:solidFill>
          <a:ln/>
        </p:spPr>
      </p:sp>
      <p:sp>
        <p:nvSpPr>
          <p:cNvPr id="74" name="Text 72"/>
          <p:cNvSpPr txBox="1"/>
          <p:nvPr/>
        </p:nvSpPr>
        <p:spPr>
          <a:xfrm>
            <a:off x="7452360" y="1600200"/>
            <a:ext cx="4206240" cy="256032"/>
          </a:xfrm>
          <a:prstGeom prst="rect">
            <a:avLst/>
          </a:prstGeom>
          <a:noFill/>
          <a:ln/>
        </p:spPr>
        <p:txBody>
          <a:bodyPr wrap="square" lIns="508" tIns="508" rIns="508" bIns="508" rtlCol="0" anchor="t"/>
          <a:lstStyle/>
          <a:p>
            <a:pPr indent="0" marL="0">
              <a:buNone/>
            </a:pPr>
            <a:r>
              <a:rPr lang="en-US" sz="1150" b="1" dirty="0">
                <a:solidFill>
                  <a:srgbClr val="B04A3F"/>
                </a:solidFill>
                <a:latin typeface="Yu Gothic" pitchFamily="34" charset="0"/>
                <a:ea typeface="Yu Gothic" pitchFamily="34" charset="-122"/>
                <a:cs typeface="Yu Gothic" pitchFamily="34" charset="-120"/>
              </a:rPr>
              <a:t>赤いマス ＝ この配置</a:t>
            </a:r>
            <a:endParaRPr lang="en-US" sz="1150" dirty="0"/>
          </a:p>
        </p:txBody>
      </p:sp>
      <p:sp>
        <p:nvSpPr>
          <p:cNvPr id="75" name="Shape 73"/>
          <p:cNvSpPr/>
          <p:nvPr/>
        </p:nvSpPr>
        <p:spPr>
          <a:xfrm>
            <a:off x="8023860" y="2217420"/>
            <a:ext cx="594360" cy="594360"/>
          </a:xfrm>
          <a:prstGeom prst="rect">
            <a:avLst/>
          </a:prstGeom>
          <a:solidFill>
            <a:srgbClr val="1B2A44"/>
          </a:solidFill>
          <a:ln/>
        </p:spPr>
      </p:sp>
      <p:sp>
        <p:nvSpPr>
          <p:cNvPr id="76" name="Shape 74"/>
          <p:cNvSpPr/>
          <p:nvPr/>
        </p:nvSpPr>
        <p:spPr>
          <a:xfrm>
            <a:off x="8023860" y="2930652"/>
            <a:ext cx="594360" cy="594360"/>
          </a:xfrm>
          <a:prstGeom prst="rect">
            <a:avLst/>
          </a:prstGeom>
          <a:solidFill>
            <a:srgbClr val="1F6F78"/>
          </a:solidFill>
          <a:ln/>
        </p:spPr>
      </p:sp>
      <p:sp>
        <p:nvSpPr>
          <p:cNvPr id="77" name="Shape 75"/>
          <p:cNvSpPr/>
          <p:nvPr/>
        </p:nvSpPr>
        <p:spPr>
          <a:xfrm>
            <a:off x="8915400" y="2217420"/>
            <a:ext cx="594360" cy="594360"/>
          </a:xfrm>
          <a:prstGeom prst="rect">
            <a:avLst/>
          </a:prstGeom>
          <a:solidFill>
            <a:srgbClr val="E8934D"/>
          </a:solidFill>
          <a:ln/>
        </p:spPr>
      </p:sp>
      <p:sp>
        <p:nvSpPr>
          <p:cNvPr id="78" name="Shape 76"/>
          <p:cNvSpPr/>
          <p:nvPr/>
        </p:nvSpPr>
        <p:spPr>
          <a:xfrm>
            <a:off x="8023860" y="2779776"/>
            <a:ext cx="594360" cy="64008"/>
          </a:xfrm>
          <a:prstGeom prst="rect">
            <a:avLst/>
          </a:prstGeom>
          <a:solidFill>
            <a:srgbClr val="B04A3F"/>
          </a:solidFill>
          <a:ln/>
        </p:spPr>
      </p:sp>
      <p:sp>
        <p:nvSpPr>
          <p:cNvPr id="79" name="Text 77"/>
          <p:cNvSpPr txBox="1"/>
          <p:nvPr/>
        </p:nvSpPr>
        <p:spPr>
          <a:xfrm>
            <a:off x="8023860" y="2217420"/>
            <a:ext cx="594360" cy="59436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中央</a:t>
            </a:r>
            <a:endParaRPr lang="en-US" sz="850" dirty="0"/>
          </a:p>
        </p:txBody>
      </p:sp>
      <p:sp>
        <p:nvSpPr>
          <p:cNvPr id="80" name="Text 78"/>
          <p:cNvSpPr txBox="1"/>
          <p:nvPr/>
        </p:nvSpPr>
        <p:spPr>
          <a:xfrm>
            <a:off x="8023860" y="2930652"/>
            <a:ext cx="594360" cy="594360"/>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南</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25m</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10m</a:t>
            </a:r>
            <a:endParaRPr lang="en-US" sz="750" dirty="0"/>
          </a:p>
        </p:txBody>
      </p:sp>
      <p:sp>
        <p:nvSpPr>
          <p:cNvPr id="81" name="Text 79"/>
          <p:cNvSpPr txBox="1"/>
          <p:nvPr/>
        </p:nvSpPr>
        <p:spPr>
          <a:xfrm>
            <a:off x="8915400" y="2217420"/>
            <a:ext cx="594360" cy="594360"/>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東</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50m</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25m</a:t>
            </a:r>
            <a:endParaRPr lang="en-US" sz="750" dirty="0"/>
          </a:p>
        </p:txBody>
      </p:sp>
      <p:sp>
        <p:nvSpPr>
          <p:cNvPr id="82" name="Text 80"/>
          <p:cNvSpPr txBox="1"/>
          <p:nvPr/>
        </p:nvSpPr>
        <p:spPr>
          <a:xfrm>
            <a:off x="9646920" y="2057400"/>
            <a:ext cx="2057400" cy="109728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南：高さ25m・隙間10m</a:t>
            </a:r>
            <a:endParaRPr lang="en-US" sz="1000" dirty="0"/>
          </a:p>
          <a:p>
            <a:pPr indent="0" marL="0">
              <a:buNone/>
            </a:pPr>
            <a:r>
              <a:rPr lang="en-US" sz="1000" b="1" dirty="0">
                <a:solidFill>
                  <a:srgbClr val="C56A2C"/>
                </a:solidFill>
                <a:latin typeface="Yu Gothic" pitchFamily="34" charset="0"/>
                <a:ea typeface="Yu Gothic" pitchFamily="34" charset="-122"/>
                <a:cs typeface="Yu Gothic" pitchFamily="34" charset="-120"/>
              </a:rPr>
              <a:t>東：高さ50m・隙間25m</a:t>
            </a:r>
            <a:endParaRPr lang="en-US" sz="1000" dirty="0"/>
          </a:p>
          <a:p>
            <a:pPr indent="0" marL="0">
              <a:buNone/>
            </a:pPr>
            <a:r>
              <a:rPr lang="en-US" sz="1000" dirty="0">
                <a:solidFill>
                  <a:srgbClr val="1B2A44"/>
                </a:solidFill>
                <a:latin typeface="Yu Gothic" pitchFamily="34" charset="0"/>
                <a:ea typeface="Yu Gothic" pitchFamily="34" charset="-122"/>
                <a:cs typeface="Yu Gothic" pitchFamily="34" charset="-120"/>
              </a:rPr>
              <a:t>を同時に置いた配置</a:t>
            </a:r>
            <a:endParaRPr lang="en-US" sz="1000" dirty="0"/>
          </a:p>
          <a:p>
            <a:pPr indent="0" marL="0">
              <a:buNone/>
            </a:pPr>
            <a:r>
              <a:rPr lang="en-US" sz="1000" b="1" dirty="0">
                <a:solidFill>
                  <a:srgbClr val="1B2A44"/>
                </a:solidFill>
                <a:latin typeface="Yu Gothic" pitchFamily="34" charset="0"/>
                <a:ea typeface="Yu Gothic" pitchFamily="34" charset="-122"/>
                <a:cs typeface="Yu Gothic" pitchFamily="34" charset="-120"/>
              </a:rPr>
              <a:t>→ SEBEで計算済み</a:t>
            </a:r>
            <a:endParaRPr lang="en-US" sz="1000" dirty="0"/>
          </a:p>
        </p:txBody>
      </p:sp>
      <p:sp>
        <p:nvSpPr>
          <p:cNvPr id="83" name="Text 81"/>
          <p:cNvSpPr txBox="1"/>
          <p:nvPr/>
        </p:nvSpPr>
        <p:spPr>
          <a:xfrm>
            <a:off x="9646920" y="3200400"/>
            <a:ext cx="2057400" cy="219456"/>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 南面・帯1 の値 y を使う</a:t>
            </a:r>
            <a:endParaRPr lang="en-US" sz="950" dirty="0"/>
          </a:p>
        </p:txBody>
      </p:sp>
      <p:sp>
        <p:nvSpPr>
          <p:cNvPr id="84" name="Shape 82"/>
          <p:cNvSpPr/>
          <p:nvPr/>
        </p:nvSpPr>
        <p:spPr>
          <a:xfrm>
            <a:off x="7452360" y="3611880"/>
            <a:ext cx="4160520" cy="566928"/>
          </a:xfrm>
          <a:prstGeom prst="roundRect">
            <a:avLst>
              <a:gd name="adj" fmla="val 8065"/>
            </a:avLst>
          </a:prstGeom>
          <a:solidFill>
            <a:srgbClr val="FFFFFF"/>
          </a:solidFill>
          <a:ln/>
        </p:spPr>
      </p:sp>
      <p:sp>
        <p:nvSpPr>
          <p:cNvPr id="85" name="Text 83"/>
          <p:cNvSpPr txBox="1"/>
          <p:nvPr/>
        </p:nvSpPr>
        <p:spPr>
          <a:xfrm>
            <a:off x="7543800" y="3611880"/>
            <a:ext cx="4023360" cy="566928"/>
          </a:xfrm>
          <a:prstGeom prst="rect">
            <a:avLst/>
          </a:prstGeom>
          <a:noFill/>
          <a:ln/>
        </p:spPr>
        <p:txBody>
          <a:bodyPr wrap="square" lIns="508" tIns="508" rIns="508" bIns="508" rtlCol="0" anchor="ctr"/>
          <a:lstStyle/>
          <a:p>
            <a:pPr indent="0" marL="0">
              <a:buNone/>
            </a:pPr>
            <a:r>
              <a:rPr lang="en-US" sz="1050" b="1" dirty="0">
                <a:solidFill>
                  <a:srgbClr val="1B2A44"/>
                </a:solidFill>
                <a:latin typeface="Yu Gothic" pitchFamily="34" charset="0"/>
                <a:ea typeface="Yu Gothic" pitchFamily="34" charset="-122"/>
                <a:cs typeface="Yu Gothic" pitchFamily="34" charset="-120"/>
              </a:rPr>
              <a:t>重み：0.400 × 0.400 ＝ 0.160</a:t>
            </a:r>
            <a:endParaRPr lang="en-US" sz="1050" dirty="0"/>
          </a:p>
          <a:p>
            <a:pPr indent="0" marL="0">
              <a:buNone/>
            </a:pPr>
            <a:r>
              <a:rPr lang="en-US" sz="1050" b="1" dirty="0">
                <a:solidFill>
                  <a:srgbClr val="B04A3F"/>
                </a:solidFill>
                <a:latin typeface="Yu Gothic" pitchFamily="34" charset="0"/>
                <a:ea typeface="Yu Gothic" pitchFamily="34" charset="-122"/>
                <a:cs typeface="Yu Gothic" pitchFamily="34" charset="-120"/>
              </a:rPr>
              <a:t>寄与：0.160 × 600（y は仮）＝ 96</a:t>
            </a:r>
            <a:endParaRPr lang="en-US" sz="1050" dirty="0"/>
          </a:p>
        </p:txBody>
      </p:sp>
      <p:sp>
        <p:nvSpPr>
          <p:cNvPr id="86" name="Shape 84"/>
          <p:cNvSpPr/>
          <p:nvPr/>
        </p:nvSpPr>
        <p:spPr>
          <a:xfrm>
            <a:off x="457200" y="4434840"/>
            <a:ext cx="11292840" cy="1874520"/>
          </a:xfrm>
          <a:prstGeom prst="roundRect">
            <a:avLst>
              <a:gd name="adj" fmla="val 2927"/>
            </a:avLst>
          </a:prstGeom>
          <a:solidFill>
            <a:srgbClr val="1B2A44"/>
          </a:solidFill>
          <a:ln/>
        </p:spPr>
      </p:sp>
      <p:sp>
        <p:nvSpPr>
          <p:cNvPr id="87" name="Text 85"/>
          <p:cNvSpPr txBox="1"/>
          <p:nvPr/>
        </p:nvSpPr>
        <p:spPr>
          <a:xfrm>
            <a:off x="640080" y="4480560"/>
            <a:ext cx="10972800" cy="27432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南面・帯1の予測 ＝ 16マスの「重み × そのマスの配置の保存値 y」を全部足す</a:t>
            </a:r>
            <a:endParaRPr lang="en-US" sz="1150" dirty="0"/>
          </a:p>
        </p:txBody>
      </p:sp>
      <p:sp>
        <p:nvSpPr>
          <p:cNvPr id="88" name="Text 86"/>
          <p:cNvSpPr txBox="1"/>
          <p:nvPr/>
        </p:nvSpPr>
        <p:spPr>
          <a:xfrm>
            <a:off x="640080" y="4800600"/>
            <a:ext cx="10972800" cy="411480"/>
          </a:xfrm>
          <a:prstGeom prst="rect">
            <a:avLst/>
          </a:prstGeom>
          <a:noFill/>
          <a:ln/>
        </p:spPr>
        <p:txBody>
          <a:bodyPr wrap="square" lIns="508" tIns="508" rIns="508" bIns="508"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ŷ</a:t>
            </a:r>
            <a:pPr indent="0" marL="0">
              <a:buNone/>
            </a:pPr>
            <a:r>
              <a:rPr lang="en-US" sz="1300" b="1" baseline="-40000" dirty="0">
                <a:solidFill>
                  <a:srgbClr val="FFFFFF"/>
                </a:solidFill>
                <a:latin typeface="Yu Gothic" pitchFamily="34" charset="0"/>
                <a:ea typeface="Yu Gothic" pitchFamily="34" charset="-122"/>
                <a:cs typeface="Yu Gothic" pitchFamily="34" charset="-120"/>
              </a:rPr>
              <a:t>南面,1</a:t>
            </a:r>
            <a:pPr indent="0" marL="0">
              <a:buNone/>
            </a:pPr>
            <a:r>
              <a:rPr lang="en-US" sz="1300" b="1" dirty="0">
                <a:solidFill>
                  <a:srgbClr val="FFFFFF"/>
                </a:solidFill>
                <a:latin typeface="Yu Gothic" pitchFamily="34" charset="0"/>
                <a:ea typeface="Yu Gothic" pitchFamily="34" charset="-122"/>
                <a:cs typeface="Yu Gothic" pitchFamily="34" charset="-120"/>
              </a:rPr>
              <a:t> ＝ </a:t>
            </a:r>
            <a:pPr indent="0" marL="0">
              <a:buNone/>
            </a:pPr>
            <a:r>
              <a:rPr lang="en-US" sz="1300" b="1" dirty="0">
                <a:solidFill>
                  <a:srgbClr val="F2A65A"/>
                </a:solidFill>
                <a:latin typeface="Yu Gothic" pitchFamily="34" charset="0"/>
                <a:ea typeface="Yu Gothic" pitchFamily="34" charset="-122"/>
                <a:cs typeface="Yu Gothic" pitchFamily="34" charset="-120"/>
              </a:rPr>
              <a:t>Σ</a:t>
            </a:r>
            <a:pPr indent="0" marL="0">
              <a:buNone/>
            </a:pPr>
            <a:r>
              <a:rPr lang="en-US" sz="1300" b="1" baseline="-40000" dirty="0">
                <a:solidFill>
                  <a:srgbClr val="F2A65A"/>
                </a:solidFill>
                <a:latin typeface="Yu Gothic" pitchFamily="34" charset="0"/>
                <a:ea typeface="Yu Gothic" pitchFamily="34" charset="-122"/>
                <a:cs typeface="Yu Gothic" pitchFamily="34" charset="-120"/>
              </a:rPr>
              <a:t>b∈｛0,1｝⁴</a:t>
            </a:r>
            <a:pPr indent="0" marL="0">
              <a:buNone/>
            </a:pPr>
            <a:r>
              <a:rPr lang="en-US" sz="1300" b="1" dirty="0">
                <a:solidFill>
                  <a:srgbClr val="7FD1C7"/>
                </a:solidFill>
                <a:latin typeface="Yu Gothic" pitchFamily="34" charset="0"/>
                <a:ea typeface="Yu Gothic" pitchFamily="34" charset="-122"/>
                <a:cs typeface="Yu Gothic" pitchFamily="34" charset="-120"/>
              </a:rPr>
              <a:t> [ Π</a:t>
            </a:r>
            <a:pPr indent="0" marL="0">
              <a:buNone/>
            </a:pPr>
            <a:r>
              <a:rPr lang="en-US" sz="1300" b="1" baseline="-40000" dirty="0">
                <a:solidFill>
                  <a:srgbClr val="7FD1C7"/>
                </a:solidFill>
                <a:latin typeface="Yu Gothic" pitchFamily="34" charset="0"/>
                <a:ea typeface="Yu Gothic" pitchFamily="34" charset="-122"/>
                <a:cs typeface="Yu Gothic" pitchFamily="34" charset="-120"/>
              </a:rPr>
              <a:t>i=1</a:t>
            </a:r>
            <a:pPr indent="0" marL="0">
              <a:buNone/>
            </a:pPr>
            <a:r>
              <a:rPr lang="en-US" sz="1300" b="1" baseline="30000" dirty="0">
                <a:solidFill>
                  <a:srgbClr val="7FD1C7"/>
                </a:solidFill>
                <a:latin typeface="Yu Gothic" pitchFamily="34" charset="0"/>
                <a:ea typeface="Yu Gothic" pitchFamily="34" charset="-122"/>
                <a:cs typeface="Yu Gothic" pitchFamily="34" charset="-120"/>
              </a:rPr>
              <a:t>4</a:t>
            </a:r>
            <a:pPr indent="0" marL="0">
              <a:buNone/>
            </a:pPr>
            <a:r>
              <a:rPr lang="en-US" sz="1300" b="1" dirty="0">
                <a:solidFill>
                  <a:srgbClr val="7FD1C7"/>
                </a:solidFill>
                <a:latin typeface="Yu Gothic" pitchFamily="34" charset="0"/>
                <a:ea typeface="Yu Gothic" pitchFamily="34" charset="-122"/>
                <a:cs typeface="Yu Gothic" pitchFamily="34" charset="-120"/>
              </a:rPr>
              <a:t> q</a:t>
            </a:r>
            <a:pPr indent="0" marL="0">
              <a:buNone/>
            </a:pPr>
            <a:r>
              <a:rPr lang="en-US" sz="1300" b="1" baseline="-40000" dirty="0">
                <a:solidFill>
                  <a:srgbClr val="7FD1C7"/>
                </a:solidFill>
                <a:latin typeface="Yu Gothic" pitchFamily="34" charset="0"/>
                <a:ea typeface="Yu Gothic" pitchFamily="34" charset="-122"/>
                <a:cs typeface="Yu Gothic" pitchFamily="34" charset="-120"/>
              </a:rPr>
              <a:t>i</a:t>
            </a:r>
            <a:pPr indent="0" marL="0">
              <a:buNone/>
            </a:pPr>
            <a:r>
              <a:rPr lang="en-US" sz="1300" b="1" dirty="0">
                <a:solidFill>
                  <a:srgbClr val="7FD1C7"/>
                </a:solidFill>
                <a:latin typeface="Yu Gothic" pitchFamily="34" charset="0"/>
                <a:ea typeface="Yu Gothic" pitchFamily="34" charset="-122"/>
                <a:cs typeface="Yu Gothic" pitchFamily="34" charset="-120"/>
              </a:rPr>
              <a:t>(b</a:t>
            </a:r>
            <a:pPr indent="0" marL="0">
              <a:buNone/>
            </a:pPr>
            <a:r>
              <a:rPr lang="en-US" sz="1300" b="1" baseline="-40000" dirty="0">
                <a:solidFill>
                  <a:srgbClr val="7FD1C7"/>
                </a:solidFill>
                <a:latin typeface="Yu Gothic" pitchFamily="34" charset="0"/>
                <a:ea typeface="Yu Gothic" pitchFamily="34" charset="-122"/>
                <a:cs typeface="Yu Gothic" pitchFamily="34" charset="-120"/>
              </a:rPr>
              <a:t>i</a:t>
            </a:r>
            <a:pPr indent="0" marL="0">
              <a:buNone/>
            </a:pPr>
            <a:r>
              <a:rPr lang="en-US" sz="1300" b="1" dirty="0">
                <a:solidFill>
                  <a:srgbClr val="7FD1C7"/>
                </a:solidFill>
                <a:latin typeface="Yu Gothic" pitchFamily="34" charset="0"/>
                <a:ea typeface="Yu Gothic" pitchFamily="34" charset="-122"/>
                <a:cs typeface="Yu Gothic" pitchFamily="34" charset="-120"/>
              </a:rPr>
              <a:t>) ] </a:t>
            </a:r>
            <a:pPr indent="0" marL="0">
              <a:buNone/>
            </a:pPr>
            <a:r>
              <a:rPr lang="en-US" sz="1300" b="1" dirty="0">
                <a:solidFill>
                  <a:srgbClr val="F2D16B"/>
                </a:solidFill>
                <a:latin typeface="Yu Gothic" pitchFamily="34" charset="0"/>
                <a:ea typeface="Yu Gothic" pitchFamily="34" charset="-122"/>
                <a:cs typeface="Yu Gothic" pitchFamily="34" charset="-120"/>
              </a:rPr>
              <a:t>× y</a:t>
            </a:r>
            <a:pPr indent="0" marL="0">
              <a:buNone/>
            </a:pPr>
            <a:r>
              <a:rPr lang="en-US" sz="1300" b="1" baseline="-40000" dirty="0">
                <a:solidFill>
                  <a:srgbClr val="F2D16B"/>
                </a:solidFill>
                <a:latin typeface="Yu Gothic" pitchFamily="34" charset="0"/>
                <a:ea typeface="Yu Gothic" pitchFamily="34" charset="-122"/>
                <a:cs typeface="Yu Gothic" pitchFamily="34" charset="-120"/>
              </a:rPr>
              <a:t>b</a:t>
            </a:r>
            <a:pPr indent="0" marL="0">
              <a:buNone/>
            </a:pPr>
            <a:r>
              <a:rPr lang="en-US" sz="1300" b="1" dirty="0">
                <a:solidFill>
                  <a:srgbClr val="FFFFFF"/>
                </a:solidFill>
                <a:latin typeface="Yu Gothic" pitchFamily="34" charset="0"/>
                <a:ea typeface="Yu Gothic" pitchFamily="34" charset="-122"/>
                <a:cs typeface="Yu Gothic" pitchFamily="34" charset="-120"/>
              </a:rPr>
              <a:t>　＝ 0.053×y</a:t>
            </a:r>
            <a:pPr indent="0" marL="0">
              <a:buNone/>
            </a:pPr>
            <a:r>
              <a:rPr lang="en-US" sz="1300" b="1" baseline="-40000" dirty="0">
                <a:solidFill>
                  <a:srgbClr val="FFFFFF"/>
                </a:solidFill>
                <a:latin typeface="Yu Gothic" pitchFamily="34" charset="0"/>
                <a:ea typeface="Yu Gothic" pitchFamily="34" charset="-122"/>
                <a:cs typeface="Yu Gothic" pitchFamily="34" charset="-120"/>
              </a:rPr>
              <a:t>1</a:t>
            </a:r>
            <a:pPr indent="0" marL="0">
              <a:buNone/>
            </a:pPr>
            <a:r>
              <a:rPr lang="en-US" sz="1300" b="1" dirty="0">
                <a:solidFill>
                  <a:srgbClr val="FFFFFF"/>
                </a:solidFill>
                <a:latin typeface="Yu Gothic" pitchFamily="34" charset="0"/>
                <a:ea typeface="Yu Gothic" pitchFamily="34" charset="-122"/>
                <a:cs typeface="Yu Gothic" pitchFamily="34" charset="-120"/>
              </a:rPr>
              <a:t> ＋ 0.107×y</a:t>
            </a:r>
            <a:pPr indent="0" marL="0">
              <a:buNone/>
            </a:pPr>
            <a:r>
              <a:rPr lang="en-US" sz="1300" b="1" baseline="-40000" dirty="0">
                <a:solidFill>
                  <a:srgbClr val="FFFFFF"/>
                </a:solidFill>
                <a:latin typeface="Yu Gothic" pitchFamily="34" charset="0"/>
                <a:ea typeface="Yu Gothic" pitchFamily="34" charset="-122"/>
                <a:cs typeface="Yu Gothic" pitchFamily="34" charset="-120"/>
              </a:rPr>
              <a:t>2</a:t>
            </a:r>
            <a:pPr indent="0" marL="0">
              <a:buNone/>
            </a:pPr>
            <a:r>
              <a:rPr lang="en-US" sz="1300" b="1" dirty="0">
                <a:solidFill>
                  <a:srgbClr val="FFFFFF"/>
                </a:solidFill>
                <a:latin typeface="Yu Gothic" pitchFamily="34" charset="0"/>
                <a:ea typeface="Yu Gothic" pitchFamily="34" charset="-122"/>
                <a:cs typeface="Yu Gothic" pitchFamily="34" charset="-120"/>
              </a:rPr>
              <a:t> ＋ 0.080×y</a:t>
            </a:r>
            <a:pPr indent="0" marL="0">
              <a:buNone/>
            </a:pPr>
            <a:r>
              <a:rPr lang="en-US" sz="1300" b="1" baseline="-40000" dirty="0">
                <a:solidFill>
                  <a:srgbClr val="FFFFFF"/>
                </a:solidFill>
                <a:latin typeface="Yu Gothic" pitchFamily="34" charset="0"/>
                <a:ea typeface="Yu Gothic" pitchFamily="34" charset="-122"/>
                <a:cs typeface="Yu Gothic" pitchFamily="34" charset="-120"/>
              </a:rPr>
              <a:t>3</a:t>
            </a:r>
            <a:pPr indent="0" marL="0">
              <a:buNone/>
            </a:pPr>
            <a:r>
              <a:rPr lang="en-US" sz="1300" b="1" dirty="0">
                <a:solidFill>
                  <a:srgbClr val="FFFFFF"/>
                </a:solidFill>
                <a:latin typeface="Yu Gothic" pitchFamily="34" charset="0"/>
                <a:ea typeface="Yu Gothic" pitchFamily="34" charset="-122"/>
                <a:cs typeface="Yu Gothic" pitchFamily="34" charset="-120"/>
              </a:rPr>
              <a:t> ＋ … ＋ 0.053×y</a:t>
            </a:r>
            <a:pPr indent="0" marL="0">
              <a:buNone/>
            </a:pPr>
            <a:r>
              <a:rPr lang="en-US" sz="1300" b="1" baseline="-40000" dirty="0">
                <a:solidFill>
                  <a:srgbClr val="FFFFFF"/>
                </a:solidFill>
                <a:latin typeface="Yu Gothic" pitchFamily="34" charset="0"/>
                <a:ea typeface="Yu Gothic" pitchFamily="34" charset="-122"/>
                <a:cs typeface="Yu Gothic" pitchFamily="34" charset="-120"/>
              </a:rPr>
              <a:t>16</a:t>
            </a:r>
            <a:endParaRPr lang="en-US" sz="1300" dirty="0"/>
          </a:p>
        </p:txBody>
      </p:sp>
      <p:sp>
        <p:nvSpPr>
          <p:cNvPr id="89" name="Shape 87"/>
          <p:cNvSpPr/>
          <p:nvPr/>
        </p:nvSpPr>
        <p:spPr>
          <a:xfrm>
            <a:off x="640080" y="5321808"/>
            <a:ext cx="548640" cy="274320"/>
          </a:xfrm>
          <a:prstGeom prst="roundRect">
            <a:avLst>
              <a:gd name="adj" fmla="val 16667"/>
            </a:avLst>
          </a:prstGeom>
          <a:solidFill>
            <a:srgbClr val="F2A65A"/>
          </a:solidFill>
          <a:ln/>
        </p:spPr>
      </p:sp>
      <p:sp>
        <p:nvSpPr>
          <p:cNvPr id="90" name="Text 88"/>
          <p:cNvSpPr txBox="1"/>
          <p:nvPr/>
        </p:nvSpPr>
        <p:spPr>
          <a:xfrm>
            <a:off x="640080" y="5321808"/>
            <a:ext cx="548640" cy="274320"/>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Σ</a:t>
            </a:r>
            <a:endParaRPr lang="en-US" sz="1050" dirty="0"/>
          </a:p>
        </p:txBody>
      </p:sp>
      <p:sp>
        <p:nvSpPr>
          <p:cNvPr id="91" name="Text 89"/>
          <p:cNvSpPr txBox="1"/>
          <p:nvPr/>
        </p:nvSpPr>
        <p:spPr>
          <a:xfrm>
            <a:off x="1261872" y="5321808"/>
            <a:ext cx="3063240" cy="274320"/>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16マスを全部足す</a:t>
            </a:r>
            <a:endParaRPr lang="en-US" sz="1000" dirty="0"/>
          </a:p>
        </p:txBody>
      </p:sp>
      <p:sp>
        <p:nvSpPr>
          <p:cNvPr id="92" name="Shape 90"/>
          <p:cNvSpPr/>
          <p:nvPr/>
        </p:nvSpPr>
        <p:spPr>
          <a:xfrm>
            <a:off x="4389120" y="5321808"/>
            <a:ext cx="548640" cy="274320"/>
          </a:xfrm>
          <a:prstGeom prst="roundRect">
            <a:avLst>
              <a:gd name="adj" fmla="val 16667"/>
            </a:avLst>
          </a:prstGeom>
          <a:solidFill>
            <a:srgbClr val="7FD1C7"/>
          </a:solidFill>
          <a:ln/>
        </p:spPr>
      </p:sp>
      <p:sp>
        <p:nvSpPr>
          <p:cNvPr id="93" name="Text 91"/>
          <p:cNvSpPr txBox="1"/>
          <p:nvPr/>
        </p:nvSpPr>
        <p:spPr>
          <a:xfrm>
            <a:off x="4389120" y="5321808"/>
            <a:ext cx="548640" cy="274320"/>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Π q</a:t>
            </a:r>
            <a:endParaRPr lang="en-US" sz="1050" dirty="0"/>
          </a:p>
        </p:txBody>
      </p:sp>
      <p:sp>
        <p:nvSpPr>
          <p:cNvPr id="94" name="Text 92"/>
          <p:cNvSpPr txBox="1"/>
          <p:nvPr/>
        </p:nvSpPr>
        <p:spPr>
          <a:xfrm>
            <a:off x="5010912" y="5321808"/>
            <a:ext cx="3063240" cy="274320"/>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そのマスの重み（南と東の割合の掛け算）</a:t>
            </a:r>
            <a:endParaRPr lang="en-US" sz="1000" dirty="0"/>
          </a:p>
        </p:txBody>
      </p:sp>
      <p:sp>
        <p:nvSpPr>
          <p:cNvPr id="95" name="Shape 93"/>
          <p:cNvSpPr/>
          <p:nvPr/>
        </p:nvSpPr>
        <p:spPr>
          <a:xfrm>
            <a:off x="8138160" y="5321808"/>
            <a:ext cx="548640" cy="274320"/>
          </a:xfrm>
          <a:prstGeom prst="roundRect">
            <a:avLst>
              <a:gd name="adj" fmla="val 16667"/>
            </a:avLst>
          </a:prstGeom>
          <a:solidFill>
            <a:srgbClr val="F2D16B"/>
          </a:solidFill>
          <a:ln/>
        </p:spPr>
      </p:sp>
      <p:sp>
        <p:nvSpPr>
          <p:cNvPr id="96" name="Text 94"/>
          <p:cNvSpPr txBox="1"/>
          <p:nvPr/>
        </p:nvSpPr>
        <p:spPr>
          <a:xfrm>
            <a:off x="8138160" y="5321808"/>
            <a:ext cx="548640" cy="274320"/>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y</a:t>
            </a:r>
            <a:endParaRPr lang="en-US" sz="1050" dirty="0"/>
          </a:p>
        </p:txBody>
      </p:sp>
      <p:sp>
        <p:nvSpPr>
          <p:cNvPr id="97" name="Text 95"/>
          <p:cNvSpPr txBox="1"/>
          <p:nvPr/>
        </p:nvSpPr>
        <p:spPr>
          <a:xfrm>
            <a:off x="8759952" y="5321808"/>
            <a:ext cx="3063240" cy="274320"/>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そのマスの配置のSEBE値</a:t>
            </a:r>
            <a:endParaRPr lang="en-US" sz="1000" dirty="0"/>
          </a:p>
        </p:txBody>
      </p:sp>
      <p:sp>
        <p:nvSpPr>
          <p:cNvPr id="98" name="Text 96"/>
          <p:cNvSpPr txBox="1"/>
          <p:nvPr/>
        </p:nvSpPr>
        <p:spPr>
          <a:xfrm>
            <a:off x="640080" y="5623560"/>
            <a:ext cx="10972800" cy="384048"/>
          </a:xfrm>
          <a:prstGeom prst="rect">
            <a:avLst/>
          </a:prstGeom>
          <a:noFill/>
          <a:ln/>
        </p:spPr>
        <p:txBody>
          <a:bodyPr wrap="square" lIns="508" tIns="508" rIns="508" bIns="508" rtlCol="0" anchor="t"/>
          <a:lstStyle/>
          <a:p>
            <a:pPr indent="0" marL="0">
              <a:buNone/>
            </a:pPr>
            <a:r>
              <a:rPr lang="en-US" sz="900" b="1" dirty="0">
                <a:solidFill>
                  <a:srgbClr val="E8934D"/>
                </a:solidFill>
                <a:latin typeface="Yu Gothic" pitchFamily="34" charset="0"/>
                <a:ea typeface="Yu Gothic" pitchFamily="34" charset="-122"/>
                <a:cs typeface="Yu Gothic" pitchFamily="34" charset="-120"/>
              </a:rPr>
              <a:t>記号　</a:t>
            </a:r>
            <a:pPr indent="0" marL="0">
              <a:buNone/>
            </a:pPr>
            <a:r>
              <a:rPr lang="en-US" sz="900" dirty="0">
                <a:solidFill>
                  <a:srgbClr val="E1E8F2"/>
                </a:solidFill>
                <a:latin typeface="Yu Gothic" pitchFamily="34" charset="0"/>
                <a:ea typeface="Yu Gothic" pitchFamily="34" charset="-122"/>
                <a:cs typeface="Yu Gothic" pitchFamily="34" charset="-120"/>
              </a:rPr>
              <a:t>ŷ</a:t>
            </a:r>
            <a:pPr indent="0" marL="0">
              <a:buNone/>
            </a:pPr>
            <a:r>
              <a:rPr lang="en-US" sz="900" baseline="-40000" dirty="0">
                <a:solidFill>
                  <a:srgbClr val="E1E8F2"/>
                </a:solidFill>
                <a:latin typeface="Yu Gothic" pitchFamily="34" charset="0"/>
                <a:ea typeface="Yu Gothic" pitchFamily="34" charset="-122"/>
                <a:cs typeface="Yu Gothic" pitchFamily="34" charset="-120"/>
              </a:rPr>
              <a:t>南面,1</a:t>
            </a:r>
            <a:pPr indent="0" marL="0">
              <a:buNone/>
            </a:pPr>
            <a:r>
              <a:rPr lang="en-US" sz="900" dirty="0">
                <a:solidFill>
                  <a:srgbClr val="E1E8F2"/>
                </a:solidFill>
                <a:latin typeface="Yu Gothic" pitchFamily="34" charset="0"/>
                <a:ea typeface="Yu Gothic" pitchFamily="34" charset="-122"/>
                <a:cs typeface="Yu Gothic" pitchFamily="34" charset="-120"/>
              </a:rPr>
              <a:t>：南面・帯1の予測値　b：どのマスか（各変数で下側0・上側1を選んだ組、2⁴＝16通り）　i：変数の番号（A南・D南・A東・D東）　t</a:t>
            </a:r>
            <a:pPr indent="0" marL="0">
              <a:buNone/>
            </a:pPr>
            <a:r>
              <a:rPr lang="en-US" sz="900" baseline="-40000" dirty="0">
                <a:solidFill>
                  <a:srgbClr val="E1E8F2"/>
                </a:solidFill>
                <a:latin typeface="Yu Gothic" pitchFamily="34" charset="0"/>
                <a:ea typeface="Yu Gothic" pitchFamily="34" charset="-122"/>
                <a:cs typeface="Yu Gothic" pitchFamily="34" charset="-120"/>
              </a:rPr>
              <a:t>i</a:t>
            </a:r>
            <a:pPr indent="0" marL="0">
              <a:buNone/>
            </a:pPr>
            <a:r>
              <a:rPr lang="en-US" sz="900" dirty="0">
                <a:solidFill>
                  <a:srgbClr val="E1E8F2"/>
                </a:solidFill>
                <a:latin typeface="Yu Gothic" pitchFamily="34" charset="0"/>
                <a:ea typeface="Yu Gothic" pitchFamily="34" charset="-122"/>
                <a:cs typeface="Yu Gothic" pitchFamily="34" charset="-120"/>
              </a:rPr>
              <a:t>：変数iの位置の割合（p.32）　q</a:t>
            </a:r>
            <a:pPr indent="0" marL="0">
              <a:buNone/>
            </a:pPr>
            <a:r>
              <a:rPr lang="en-US" sz="900" baseline="-40000" dirty="0">
                <a:solidFill>
                  <a:srgbClr val="E1E8F2"/>
                </a:solidFill>
                <a:latin typeface="Yu Gothic" pitchFamily="34" charset="0"/>
                <a:ea typeface="Yu Gothic" pitchFamily="34" charset="-122"/>
                <a:cs typeface="Yu Gothic" pitchFamily="34" charset="-120"/>
              </a:rPr>
              <a:t>i</a:t>
            </a:r>
            <a:pPr indent="0" marL="0">
              <a:buNone/>
            </a:pPr>
            <a:r>
              <a:rPr lang="en-US" sz="900" dirty="0">
                <a:solidFill>
                  <a:srgbClr val="E1E8F2"/>
                </a:solidFill>
                <a:latin typeface="Yu Gothic" pitchFamily="34" charset="0"/>
                <a:ea typeface="Yu Gothic" pitchFamily="34" charset="-122"/>
                <a:cs typeface="Yu Gothic" pitchFamily="34" charset="-120"/>
              </a:rPr>
              <a:t>(0)＝1−t</a:t>
            </a:r>
            <a:pPr indent="0" marL="0">
              <a:buNone/>
            </a:pPr>
            <a:r>
              <a:rPr lang="en-US" sz="900" baseline="-40000" dirty="0">
                <a:solidFill>
                  <a:srgbClr val="E1E8F2"/>
                </a:solidFill>
                <a:latin typeface="Yu Gothic" pitchFamily="34" charset="0"/>
                <a:ea typeface="Yu Gothic" pitchFamily="34" charset="-122"/>
                <a:cs typeface="Yu Gothic" pitchFamily="34" charset="-120"/>
              </a:rPr>
              <a:t>i</a:t>
            </a:r>
            <a:pPr indent="0" marL="0">
              <a:buNone/>
            </a:pPr>
            <a:r>
              <a:rPr lang="en-US" sz="900" dirty="0">
                <a:solidFill>
                  <a:srgbClr val="E1E8F2"/>
                </a:solidFill>
                <a:latin typeface="Yu Gothic" pitchFamily="34" charset="0"/>
                <a:ea typeface="Yu Gothic" pitchFamily="34" charset="-122"/>
                <a:cs typeface="Yu Gothic" pitchFamily="34" charset="-120"/>
              </a:rPr>
              <a:t>：下側の割合　q</a:t>
            </a:r>
            <a:pPr indent="0" marL="0">
              <a:buNone/>
            </a:pPr>
            <a:r>
              <a:rPr lang="en-US" sz="900" baseline="-40000" dirty="0">
                <a:solidFill>
                  <a:srgbClr val="E1E8F2"/>
                </a:solidFill>
                <a:latin typeface="Yu Gothic" pitchFamily="34" charset="0"/>
                <a:ea typeface="Yu Gothic" pitchFamily="34" charset="-122"/>
                <a:cs typeface="Yu Gothic" pitchFamily="34" charset="-120"/>
              </a:rPr>
              <a:t>i</a:t>
            </a:r>
            <a:pPr indent="0" marL="0">
              <a:buNone/>
            </a:pPr>
            <a:r>
              <a:rPr lang="en-US" sz="900" dirty="0">
                <a:solidFill>
                  <a:srgbClr val="E1E8F2"/>
                </a:solidFill>
                <a:latin typeface="Yu Gothic" pitchFamily="34" charset="0"/>
                <a:ea typeface="Yu Gothic" pitchFamily="34" charset="-122"/>
                <a:cs typeface="Yu Gothic" pitchFamily="34" charset="-120"/>
              </a:rPr>
              <a:t>(1)＝t</a:t>
            </a:r>
            <a:pPr indent="0" marL="0">
              <a:buNone/>
            </a:pPr>
            <a:r>
              <a:rPr lang="en-US" sz="900" baseline="-40000" dirty="0">
                <a:solidFill>
                  <a:srgbClr val="E1E8F2"/>
                </a:solidFill>
                <a:latin typeface="Yu Gothic" pitchFamily="34" charset="0"/>
                <a:ea typeface="Yu Gothic" pitchFamily="34" charset="-122"/>
                <a:cs typeface="Yu Gothic" pitchFamily="34" charset="-120"/>
              </a:rPr>
              <a:t>i</a:t>
            </a:r>
            <a:pPr indent="0" marL="0">
              <a:buNone/>
            </a:pPr>
            <a:r>
              <a:rPr lang="en-US" sz="900" dirty="0">
                <a:solidFill>
                  <a:srgbClr val="E1E8F2"/>
                </a:solidFill>
                <a:latin typeface="Yu Gothic" pitchFamily="34" charset="0"/>
                <a:ea typeface="Yu Gothic" pitchFamily="34" charset="-122"/>
                <a:cs typeface="Yu Gothic" pitchFamily="34" charset="-120"/>
              </a:rPr>
              <a:t>：上側の割合　y</a:t>
            </a:r>
            <a:pPr indent="0" marL="0">
              <a:buNone/>
            </a:pPr>
            <a:r>
              <a:rPr lang="en-US" sz="900" baseline="-40000" dirty="0">
                <a:solidFill>
                  <a:srgbClr val="E1E8F2"/>
                </a:solidFill>
                <a:latin typeface="Yu Gothic" pitchFamily="34" charset="0"/>
                <a:ea typeface="Yu Gothic" pitchFamily="34" charset="-122"/>
                <a:cs typeface="Yu Gothic" pitchFamily="34" charset="-120"/>
              </a:rPr>
              <a:t>b</a:t>
            </a:r>
            <a:pPr indent="0" marL="0">
              <a:buNone/>
            </a:pPr>
            <a:r>
              <a:rPr lang="en-US" sz="900" dirty="0">
                <a:solidFill>
                  <a:srgbClr val="E1E8F2"/>
                </a:solidFill>
                <a:latin typeface="Yu Gothic" pitchFamily="34" charset="0"/>
                <a:ea typeface="Yu Gothic" pitchFamily="34" charset="-122"/>
                <a:cs typeface="Yu Gothic" pitchFamily="34" charset="-120"/>
              </a:rPr>
              <a:t>・y</a:t>
            </a:r>
            <a:pPr indent="0" marL="0">
              <a:buNone/>
            </a:pPr>
            <a:r>
              <a:rPr lang="en-US" sz="900" baseline="-40000" dirty="0">
                <a:solidFill>
                  <a:srgbClr val="E1E8F2"/>
                </a:solidFill>
                <a:latin typeface="Yu Gothic" pitchFamily="34" charset="0"/>
                <a:ea typeface="Yu Gothic" pitchFamily="34" charset="-122"/>
                <a:cs typeface="Yu Gothic" pitchFamily="34" charset="-120"/>
              </a:rPr>
              <a:t>1</a:t>
            </a:r>
            <a:pPr indent="0" marL="0">
              <a:buNone/>
            </a:pPr>
            <a:r>
              <a:rPr lang="en-US" sz="900" dirty="0">
                <a:solidFill>
                  <a:srgbClr val="E1E8F2"/>
                </a:solidFill>
                <a:latin typeface="Yu Gothic" pitchFamily="34" charset="0"/>
                <a:ea typeface="Yu Gothic" pitchFamily="34" charset="-122"/>
                <a:cs typeface="Yu Gothic" pitchFamily="34" charset="-120"/>
              </a:rPr>
              <a:t>〜y</a:t>
            </a:r>
            <a:pPr indent="0" marL="0">
              <a:buNone/>
            </a:pPr>
            <a:r>
              <a:rPr lang="en-US" sz="900" baseline="-40000" dirty="0">
                <a:solidFill>
                  <a:srgbClr val="E1E8F2"/>
                </a:solidFill>
                <a:latin typeface="Yu Gothic" pitchFamily="34" charset="0"/>
                <a:ea typeface="Yu Gothic" pitchFamily="34" charset="-122"/>
                <a:cs typeface="Yu Gothic" pitchFamily="34" charset="-120"/>
              </a:rPr>
              <a:t>16</a:t>
            </a:r>
            <a:pPr indent="0" marL="0">
              <a:buNone/>
            </a:pPr>
            <a:r>
              <a:rPr lang="en-US" sz="900" dirty="0">
                <a:solidFill>
                  <a:srgbClr val="E1E8F2"/>
                </a:solidFill>
                <a:latin typeface="Yu Gothic" pitchFamily="34" charset="0"/>
                <a:ea typeface="Yu Gothic" pitchFamily="34" charset="-122"/>
                <a:cs typeface="Yu Gothic" pitchFamily="34" charset="-120"/>
              </a:rPr>
              <a:t>：そのマスの配置のSEBE保存値</a:t>
            </a:r>
            <a:endParaRPr lang="en-US" sz="900" dirty="0"/>
          </a:p>
        </p:txBody>
      </p:sp>
      <p:sp>
        <p:nvSpPr>
          <p:cNvPr id="99" name="Text 97"/>
          <p:cNvSpPr txBox="1"/>
          <p:nvPr/>
        </p:nvSpPr>
        <p:spPr>
          <a:xfrm>
            <a:off x="640080" y="6016752"/>
            <a:ext cx="10972800" cy="237744"/>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重みは20個の出力で共通（面・帯が変わると y だけ変わる）。4棟あると 256マス → 表には何個必要？（次のページ）</a:t>
            </a:r>
            <a:endParaRPr lang="en-US" sz="9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学習用データは何個？：1回に使うのは256配置でも、表には全配置が必要</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34 / 45</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8934D"/>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54480"/>
            <a:ext cx="3657600" cy="3246120"/>
          </a:xfrm>
          <a:prstGeom prst="roundRect">
            <a:avLst>
              <a:gd name="adj" fmla="val 1690"/>
            </a:avLst>
          </a:prstGeom>
          <a:solidFill>
            <a:srgbClr val="F3F5F8"/>
          </a:solidFill>
          <a:ln/>
        </p:spPr>
      </p:sp>
      <p:sp>
        <p:nvSpPr>
          <p:cNvPr id="22" name="Text 20"/>
          <p:cNvSpPr txBox="1"/>
          <p:nvPr/>
        </p:nvSpPr>
        <p:spPr>
          <a:xfrm>
            <a:off x="594360" y="1600200"/>
            <a:ext cx="33832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南1棟で考えると（実際のツール）</a:t>
            </a:r>
            <a:endParaRPr lang="en-US" sz="1100" dirty="0"/>
          </a:p>
        </p:txBody>
      </p:sp>
      <p:sp>
        <p:nvSpPr>
          <p:cNvPr id="23" name="Shape 21"/>
          <p:cNvSpPr/>
          <p:nvPr/>
        </p:nvSpPr>
        <p:spPr>
          <a:xfrm>
            <a:off x="914400" y="2011680"/>
            <a:ext cx="2103120" cy="2103120"/>
          </a:xfrm>
          <a:prstGeom prst="rect">
            <a:avLst/>
          </a:prstGeom>
          <a:solidFill>
            <a:srgbClr val="FFFFFF"/>
          </a:solidFill>
          <a:ln w="9525">
            <a:solidFill>
              <a:srgbClr val="C9D0D8"/>
            </a:solidFill>
            <a:prstDash val="solid"/>
          </a:ln>
        </p:spPr>
      </p:sp>
      <p:sp>
        <p:nvSpPr>
          <p:cNvPr id="24" name="Shape 22"/>
          <p:cNvSpPr/>
          <p:nvPr/>
        </p:nvSpPr>
        <p:spPr>
          <a:xfrm>
            <a:off x="914400" y="2011680"/>
            <a:ext cx="91" cy="2103120"/>
          </a:xfrm>
          <a:prstGeom prst="line">
            <a:avLst/>
          </a:prstGeom>
          <a:noFill/>
          <a:ln w="6350">
            <a:solidFill>
              <a:srgbClr val="E1E5EA"/>
            </a:solidFill>
            <a:prstDash val="solid"/>
          </a:ln>
        </p:spPr>
      </p:sp>
      <p:sp>
        <p:nvSpPr>
          <p:cNvPr id="25" name="Shape 23"/>
          <p:cNvSpPr/>
          <p:nvPr/>
        </p:nvSpPr>
        <p:spPr>
          <a:xfrm>
            <a:off x="914400" y="2011680"/>
            <a:ext cx="2103120" cy="91"/>
          </a:xfrm>
          <a:prstGeom prst="line">
            <a:avLst/>
          </a:prstGeom>
          <a:noFill/>
          <a:ln w="6350">
            <a:solidFill>
              <a:srgbClr val="E1E5EA"/>
            </a:solidFill>
            <a:prstDash val="solid"/>
          </a:ln>
        </p:spPr>
      </p:sp>
      <p:sp>
        <p:nvSpPr>
          <p:cNvPr id="26" name="Shape 24"/>
          <p:cNvSpPr/>
          <p:nvPr/>
        </p:nvSpPr>
        <p:spPr>
          <a:xfrm>
            <a:off x="1615440" y="2011680"/>
            <a:ext cx="91" cy="2103120"/>
          </a:xfrm>
          <a:prstGeom prst="line">
            <a:avLst/>
          </a:prstGeom>
          <a:noFill/>
          <a:ln w="6350">
            <a:solidFill>
              <a:srgbClr val="E1E5EA"/>
            </a:solidFill>
            <a:prstDash val="solid"/>
          </a:ln>
        </p:spPr>
      </p:sp>
      <p:sp>
        <p:nvSpPr>
          <p:cNvPr id="27" name="Shape 25"/>
          <p:cNvSpPr/>
          <p:nvPr/>
        </p:nvSpPr>
        <p:spPr>
          <a:xfrm>
            <a:off x="914400" y="2712720"/>
            <a:ext cx="2103120" cy="91"/>
          </a:xfrm>
          <a:prstGeom prst="line">
            <a:avLst/>
          </a:prstGeom>
          <a:noFill/>
          <a:ln w="6350">
            <a:solidFill>
              <a:srgbClr val="E1E5EA"/>
            </a:solidFill>
            <a:prstDash val="solid"/>
          </a:ln>
        </p:spPr>
      </p:sp>
      <p:sp>
        <p:nvSpPr>
          <p:cNvPr id="28" name="Shape 26"/>
          <p:cNvSpPr/>
          <p:nvPr/>
        </p:nvSpPr>
        <p:spPr>
          <a:xfrm>
            <a:off x="2316480" y="2011680"/>
            <a:ext cx="91" cy="2103120"/>
          </a:xfrm>
          <a:prstGeom prst="line">
            <a:avLst/>
          </a:prstGeom>
          <a:noFill/>
          <a:ln w="6350">
            <a:solidFill>
              <a:srgbClr val="E1E5EA"/>
            </a:solidFill>
            <a:prstDash val="solid"/>
          </a:ln>
        </p:spPr>
      </p:sp>
      <p:sp>
        <p:nvSpPr>
          <p:cNvPr id="29" name="Shape 27"/>
          <p:cNvSpPr/>
          <p:nvPr/>
        </p:nvSpPr>
        <p:spPr>
          <a:xfrm>
            <a:off x="914400" y="3413760"/>
            <a:ext cx="2103120" cy="91"/>
          </a:xfrm>
          <a:prstGeom prst="line">
            <a:avLst/>
          </a:prstGeom>
          <a:noFill/>
          <a:ln w="6350">
            <a:solidFill>
              <a:srgbClr val="E1E5EA"/>
            </a:solidFill>
            <a:prstDash val="solid"/>
          </a:ln>
        </p:spPr>
      </p:sp>
      <p:sp>
        <p:nvSpPr>
          <p:cNvPr id="30" name="Shape 28"/>
          <p:cNvSpPr/>
          <p:nvPr/>
        </p:nvSpPr>
        <p:spPr>
          <a:xfrm>
            <a:off x="3017520" y="2011680"/>
            <a:ext cx="91" cy="2103120"/>
          </a:xfrm>
          <a:prstGeom prst="line">
            <a:avLst/>
          </a:prstGeom>
          <a:noFill/>
          <a:ln w="6350">
            <a:solidFill>
              <a:srgbClr val="E1E5EA"/>
            </a:solidFill>
            <a:prstDash val="solid"/>
          </a:ln>
        </p:spPr>
      </p:sp>
      <p:sp>
        <p:nvSpPr>
          <p:cNvPr id="31" name="Shape 29"/>
          <p:cNvSpPr/>
          <p:nvPr/>
        </p:nvSpPr>
        <p:spPr>
          <a:xfrm>
            <a:off x="914400" y="4114800"/>
            <a:ext cx="2103120" cy="91"/>
          </a:xfrm>
          <a:prstGeom prst="line">
            <a:avLst/>
          </a:prstGeom>
          <a:noFill/>
          <a:ln w="6350">
            <a:solidFill>
              <a:srgbClr val="E1E5EA"/>
            </a:solidFill>
            <a:prstDash val="solid"/>
          </a:ln>
        </p:spPr>
      </p:sp>
      <p:sp>
        <p:nvSpPr>
          <p:cNvPr id="32" name="Shape 30"/>
          <p:cNvSpPr/>
          <p:nvPr/>
        </p:nvSpPr>
        <p:spPr>
          <a:xfrm>
            <a:off x="914400" y="3413760"/>
            <a:ext cx="701040" cy="701040"/>
          </a:xfrm>
          <a:prstGeom prst="rect">
            <a:avLst/>
          </a:prstGeom>
          <a:solidFill>
            <a:srgbClr val="FBEBDA"/>
          </a:solidFill>
          <a:ln/>
        </p:spPr>
      </p:sp>
      <p:sp>
        <p:nvSpPr>
          <p:cNvPr id="33" name="Shape 31"/>
          <p:cNvSpPr/>
          <p:nvPr/>
        </p:nvSpPr>
        <p:spPr>
          <a:xfrm>
            <a:off x="2316480" y="2011680"/>
            <a:ext cx="701040" cy="701040"/>
          </a:xfrm>
          <a:prstGeom prst="rect">
            <a:avLst/>
          </a:prstGeom>
          <a:solidFill>
            <a:srgbClr val="DCEAEC"/>
          </a:solidFill>
          <a:ln/>
        </p:spPr>
      </p:sp>
      <p:sp>
        <p:nvSpPr>
          <p:cNvPr id="34" name="Shape 32"/>
          <p:cNvSpPr/>
          <p:nvPr/>
        </p:nvSpPr>
        <p:spPr>
          <a:xfrm>
            <a:off x="836676" y="1933956"/>
            <a:ext cx="155448" cy="155448"/>
          </a:xfrm>
          <a:prstGeom prst="rect">
            <a:avLst/>
          </a:prstGeom>
          <a:solidFill>
            <a:srgbClr val="1B2A44"/>
          </a:solidFill>
          <a:ln w="6350">
            <a:solidFill>
              <a:srgbClr val="FFFFFF"/>
            </a:solidFill>
            <a:prstDash val="solid"/>
          </a:ln>
        </p:spPr>
      </p:sp>
      <p:sp>
        <p:nvSpPr>
          <p:cNvPr id="35" name="Shape 33"/>
          <p:cNvSpPr/>
          <p:nvPr/>
        </p:nvSpPr>
        <p:spPr>
          <a:xfrm>
            <a:off x="836676" y="2634996"/>
            <a:ext cx="155448" cy="155448"/>
          </a:xfrm>
          <a:prstGeom prst="rect">
            <a:avLst/>
          </a:prstGeom>
          <a:solidFill>
            <a:srgbClr val="1B2A44"/>
          </a:solidFill>
          <a:ln w="6350">
            <a:solidFill>
              <a:srgbClr val="FFFFFF"/>
            </a:solidFill>
            <a:prstDash val="solid"/>
          </a:ln>
        </p:spPr>
      </p:sp>
      <p:sp>
        <p:nvSpPr>
          <p:cNvPr id="36" name="Shape 34"/>
          <p:cNvSpPr/>
          <p:nvPr/>
        </p:nvSpPr>
        <p:spPr>
          <a:xfrm>
            <a:off x="836676" y="3336036"/>
            <a:ext cx="155448" cy="155448"/>
          </a:xfrm>
          <a:prstGeom prst="rect">
            <a:avLst/>
          </a:prstGeom>
          <a:solidFill>
            <a:srgbClr val="E8934D"/>
          </a:solidFill>
          <a:ln w="6350">
            <a:solidFill>
              <a:srgbClr val="FFFFFF"/>
            </a:solidFill>
            <a:prstDash val="solid"/>
          </a:ln>
        </p:spPr>
      </p:sp>
      <p:sp>
        <p:nvSpPr>
          <p:cNvPr id="37" name="Shape 35"/>
          <p:cNvSpPr/>
          <p:nvPr/>
        </p:nvSpPr>
        <p:spPr>
          <a:xfrm>
            <a:off x="836676" y="4037076"/>
            <a:ext cx="155448" cy="155448"/>
          </a:xfrm>
          <a:prstGeom prst="rect">
            <a:avLst/>
          </a:prstGeom>
          <a:solidFill>
            <a:srgbClr val="E8934D"/>
          </a:solidFill>
          <a:ln w="6350">
            <a:solidFill>
              <a:srgbClr val="FFFFFF"/>
            </a:solidFill>
            <a:prstDash val="solid"/>
          </a:ln>
        </p:spPr>
      </p:sp>
      <p:sp>
        <p:nvSpPr>
          <p:cNvPr id="38" name="Shape 36"/>
          <p:cNvSpPr/>
          <p:nvPr/>
        </p:nvSpPr>
        <p:spPr>
          <a:xfrm>
            <a:off x="1537716" y="1933956"/>
            <a:ext cx="155448" cy="155448"/>
          </a:xfrm>
          <a:prstGeom prst="rect">
            <a:avLst/>
          </a:prstGeom>
          <a:solidFill>
            <a:srgbClr val="1B2A44"/>
          </a:solidFill>
          <a:ln w="6350">
            <a:solidFill>
              <a:srgbClr val="FFFFFF"/>
            </a:solidFill>
            <a:prstDash val="solid"/>
          </a:ln>
        </p:spPr>
      </p:sp>
      <p:sp>
        <p:nvSpPr>
          <p:cNvPr id="39" name="Shape 37"/>
          <p:cNvSpPr/>
          <p:nvPr/>
        </p:nvSpPr>
        <p:spPr>
          <a:xfrm>
            <a:off x="1537716" y="2634996"/>
            <a:ext cx="155448" cy="155448"/>
          </a:xfrm>
          <a:prstGeom prst="rect">
            <a:avLst/>
          </a:prstGeom>
          <a:solidFill>
            <a:srgbClr val="1B2A44"/>
          </a:solidFill>
          <a:ln w="6350">
            <a:solidFill>
              <a:srgbClr val="FFFFFF"/>
            </a:solidFill>
            <a:prstDash val="solid"/>
          </a:ln>
        </p:spPr>
      </p:sp>
      <p:sp>
        <p:nvSpPr>
          <p:cNvPr id="40" name="Shape 38"/>
          <p:cNvSpPr/>
          <p:nvPr/>
        </p:nvSpPr>
        <p:spPr>
          <a:xfrm>
            <a:off x="1537716" y="3336036"/>
            <a:ext cx="155448" cy="155448"/>
          </a:xfrm>
          <a:prstGeom prst="rect">
            <a:avLst/>
          </a:prstGeom>
          <a:solidFill>
            <a:srgbClr val="E8934D"/>
          </a:solidFill>
          <a:ln w="6350">
            <a:solidFill>
              <a:srgbClr val="FFFFFF"/>
            </a:solidFill>
            <a:prstDash val="solid"/>
          </a:ln>
        </p:spPr>
      </p:sp>
      <p:sp>
        <p:nvSpPr>
          <p:cNvPr id="41" name="Shape 39"/>
          <p:cNvSpPr/>
          <p:nvPr/>
        </p:nvSpPr>
        <p:spPr>
          <a:xfrm>
            <a:off x="1537716" y="4037076"/>
            <a:ext cx="155448" cy="155448"/>
          </a:xfrm>
          <a:prstGeom prst="rect">
            <a:avLst/>
          </a:prstGeom>
          <a:solidFill>
            <a:srgbClr val="E8934D"/>
          </a:solidFill>
          <a:ln w="6350">
            <a:solidFill>
              <a:srgbClr val="FFFFFF"/>
            </a:solidFill>
            <a:prstDash val="solid"/>
          </a:ln>
        </p:spPr>
      </p:sp>
      <p:sp>
        <p:nvSpPr>
          <p:cNvPr id="42" name="Shape 40"/>
          <p:cNvSpPr/>
          <p:nvPr/>
        </p:nvSpPr>
        <p:spPr>
          <a:xfrm>
            <a:off x="2238756" y="1933956"/>
            <a:ext cx="155448" cy="155448"/>
          </a:xfrm>
          <a:prstGeom prst="rect">
            <a:avLst/>
          </a:prstGeom>
          <a:solidFill>
            <a:srgbClr val="1F6F78"/>
          </a:solidFill>
          <a:ln w="6350">
            <a:solidFill>
              <a:srgbClr val="FFFFFF"/>
            </a:solidFill>
            <a:prstDash val="solid"/>
          </a:ln>
        </p:spPr>
      </p:sp>
      <p:sp>
        <p:nvSpPr>
          <p:cNvPr id="43" name="Shape 41"/>
          <p:cNvSpPr/>
          <p:nvPr/>
        </p:nvSpPr>
        <p:spPr>
          <a:xfrm>
            <a:off x="2238756" y="2634996"/>
            <a:ext cx="155448" cy="155448"/>
          </a:xfrm>
          <a:prstGeom prst="rect">
            <a:avLst/>
          </a:prstGeom>
          <a:solidFill>
            <a:srgbClr val="1F6F78"/>
          </a:solidFill>
          <a:ln w="6350">
            <a:solidFill>
              <a:srgbClr val="FFFFFF"/>
            </a:solidFill>
            <a:prstDash val="solid"/>
          </a:ln>
        </p:spPr>
      </p:sp>
      <p:sp>
        <p:nvSpPr>
          <p:cNvPr id="44" name="Shape 42"/>
          <p:cNvSpPr/>
          <p:nvPr/>
        </p:nvSpPr>
        <p:spPr>
          <a:xfrm>
            <a:off x="2238756" y="3336036"/>
            <a:ext cx="155448" cy="155448"/>
          </a:xfrm>
          <a:prstGeom prst="rect">
            <a:avLst/>
          </a:prstGeom>
          <a:solidFill>
            <a:srgbClr val="1B2A44"/>
          </a:solidFill>
          <a:ln w="6350">
            <a:solidFill>
              <a:srgbClr val="FFFFFF"/>
            </a:solidFill>
            <a:prstDash val="solid"/>
          </a:ln>
        </p:spPr>
      </p:sp>
      <p:sp>
        <p:nvSpPr>
          <p:cNvPr id="45" name="Shape 43"/>
          <p:cNvSpPr/>
          <p:nvPr/>
        </p:nvSpPr>
        <p:spPr>
          <a:xfrm>
            <a:off x="2238756" y="4037076"/>
            <a:ext cx="155448" cy="155448"/>
          </a:xfrm>
          <a:prstGeom prst="rect">
            <a:avLst/>
          </a:prstGeom>
          <a:solidFill>
            <a:srgbClr val="1B2A44"/>
          </a:solidFill>
          <a:ln w="6350">
            <a:solidFill>
              <a:srgbClr val="FFFFFF"/>
            </a:solidFill>
            <a:prstDash val="solid"/>
          </a:ln>
        </p:spPr>
      </p:sp>
      <p:sp>
        <p:nvSpPr>
          <p:cNvPr id="46" name="Shape 44"/>
          <p:cNvSpPr/>
          <p:nvPr/>
        </p:nvSpPr>
        <p:spPr>
          <a:xfrm>
            <a:off x="2939796" y="1933956"/>
            <a:ext cx="155448" cy="155448"/>
          </a:xfrm>
          <a:prstGeom prst="rect">
            <a:avLst/>
          </a:prstGeom>
          <a:solidFill>
            <a:srgbClr val="1F6F78"/>
          </a:solidFill>
          <a:ln w="6350">
            <a:solidFill>
              <a:srgbClr val="FFFFFF"/>
            </a:solidFill>
            <a:prstDash val="solid"/>
          </a:ln>
        </p:spPr>
      </p:sp>
      <p:sp>
        <p:nvSpPr>
          <p:cNvPr id="47" name="Shape 45"/>
          <p:cNvSpPr/>
          <p:nvPr/>
        </p:nvSpPr>
        <p:spPr>
          <a:xfrm>
            <a:off x="2939796" y="2634996"/>
            <a:ext cx="155448" cy="155448"/>
          </a:xfrm>
          <a:prstGeom prst="rect">
            <a:avLst/>
          </a:prstGeom>
          <a:solidFill>
            <a:srgbClr val="1F6F78"/>
          </a:solidFill>
          <a:ln w="6350">
            <a:solidFill>
              <a:srgbClr val="FFFFFF"/>
            </a:solidFill>
            <a:prstDash val="solid"/>
          </a:ln>
        </p:spPr>
      </p:sp>
      <p:sp>
        <p:nvSpPr>
          <p:cNvPr id="48" name="Shape 46"/>
          <p:cNvSpPr/>
          <p:nvPr/>
        </p:nvSpPr>
        <p:spPr>
          <a:xfrm>
            <a:off x="2939796" y="3336036"/>
            <a:ext cx="155448" cy="155448"/>
          </a:xfrm>
          <a:prstGeom prst="rect">
            <a:avLst/>
          </a:prstGeom>
          <a:solidFill>
            <a:srgbClr val="1B2A44"/>
          </a:solidFill>
          <a:ln w="6350">
            <a:solidFill>
              <a:srgbClr val="FFFFFF"/>
            </a:solidFill>
            <a:prstDash val="solid"/>
          </a:ln>
        </p:spPr>
      </p:sp>
      <p:sp>
        <p:nvSpPr>
          <p:cNvPr id="49" name="Shape 47"/>
          <p:cNvSpPr/>
          <p:nvPr/>
        </p:nvSpPr>
        <p:spPr>
          <a:xfrm>
            <a:off x="2939796" y="4037076"/>
            <a:ext cx="155448" cy="155448"/>
          </a:xfrm>
          <a:prstGeom prst="rect">
            <a:avLst/>
          </a:prstGeom>
          <a:solidFill>
            <a:srgbClr val="1B2A44"/>
          </a:solidFill>
          <a:ln w="6350">
            <a:solidFill>
              <a:srgbClr val="FFFFFF"/>
            </a:solidFill>
            <a:prstDash val="solid"/>
          </a:ln>
        </p:spPr>
      </p:sp>
      <p:sp>
        <p:nvSpPr>
          <p:cNvPr id="50" name="Shape 48"/>
          <p:cNvSpPr/>
          <p:nvPr/>
        </p:nvSpPr>
        <p:spPr>
          <a:xfrm>
            <a:off x="1050036" y="3724656"/>
            <a:ext cx="219456" cy="219456"/>
          </a:xfrm>
          <a:prstGeom prst="star5">
            <a:avLst/>
          </a:prstGeom>
          <a:solidFill>
            <a:srgbClr val="B04A3F"/>
          </a:solidFill>
          <a:ln w="6350">
            <a:solidFill>
              <a:srgbClr val="FFFFFF"/>
            </a:solidFill>
            <a:prstDash val="solid"/>
          </a:ln>
        </p:spPr>
      </p:sp>
      <p:sp>
        <p:nvSpPr>
          <p:cNvPr id="51" name="Shape 49"/>
          <p:cNvSpPr/>
          <p:nvPr/>
        </p:nvSpPr>
        <p:spPr>
          <a:xfrm>
            <a:off x="2627376" y="2182368"/>
            <a:ext cx="219456" cy="219456"/>
          </a:xfrm>
          <a:prstGeom prst="star5">
            <a:avLst/>
          </a:prstGeom>
          <a:solidFill>
            <a:srgbClr val="B04A3F"/>
          </a:solidFill>
          <a:ln w="6350">
            <a:solidFill>
              <a:srgbClr val="FFFFFF"/>
            </a:solidFill>
            <a:prstDash val="solid"/>
          </a:ln>
        </p:spPr>
      </p:sp>
      <p:sp>
        <p:nvSpPr>
          <p:cNvPr id="52" name="Text 50"/>
          <p:cNvSpPr txBox="1"/>
          <p:nvPr/>
        </p:nvSpPr>
        <p:spPr>
          <a:xfrm>
            <a:off x="1232916" y="3560064"/>
            <a:ext cx="640080" cy="182880"/>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入力①</a:t>
            </a:r>
            <a:endParaRPr lang="en-US" sz="900" dirty="0"/>
          </a:p>
        </p:txBody>
      </p:sp>
      <p:sp>
        <p:nvSpPr>
          <p:cNvPr id="53" name="Text 51"/>
          <p:cNvSpPr txBox="1"/>
          <p:nvPr/>
        </p:nvSpPr>
        <p:spPr>
          <a:xfrm>
            <a:off x="2051304" y="2337816"/>
            <a:ext cx="640080" cy="182880"/>
          </a:xfrm>
          <a:prstGeom prst="rect">
            <a:avLst/>
          </a:prstGeom>
          <a:noFill/>
          <a:ln/>
        </p:spPr>
        <p:txBody>
          <a:bodyPr wrap="square" lIns="508" tIns="508" rIns="508" bIns="508" rtlCol="0" anchor="t"/>
          <a:lstStyle/>
          <a:p>
            <a:pPr algn="r" indent="0" marL="0">
              <a:buNone/>
            </a:pPr>
            <a:r>
              <a:rPr lang="en-US" sz="900" b="1" dirty="0">
                <a:solidFill>
                  <a:srgbClr val="1F6F78"/>
                </a:solidFill>
                <a:latin typeface="Yu Gothic" pitchFamily="34" charset="0"/>
                <a:ea typeface="Yu Gothic" pitchFamily="34" charset="-122"/>
                <a:cs typeface="Yu Gothic" pitchFamily="34" charset="-120"/>
              </a:rPr>
              <a:t>入力②</a:t>
            </a:r>
            <a:endParaRPr lang="en-US" sz="900" dirty="0"/>
          </a:p>
        </p:txBody>
      </p:sp>
      <p:sp>
        <p:nvSpPr>
          <p:cNvPr id="54" name="Text 52"/>
          <p:cNvSpPr txBox="1"/>
          <p:nvPr/>
        </p:nvSpPr>
        <p:spPr>
          <a:xfrm>
            <a:off x="594360" y="4206240"/>
            <a:ext cx="3383280" cy="237744"/>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表に保存：16配置 ／ 1回に使う：4配置</a:t>
            </a:r>
            <a:endParaRPr lang="en-US" sz="1050" dirty="0"/>
          </a:p>
        </p:txBody>
      </p:sp>
      <p:sp>
        <p:nvSpPr>
          <p:cNvPr id="55" name="Text 53"/>
          <p:cNvSpPr txBox="1"/>
          <p:nvPr/>
        </p:nvSpPr>
        <p:spPr>
          <a:xfrm>
            <a:off x="594360" y="4462272"/>
            <a:ext cx="3383280" cy="274320"/>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入力が変わると使う4つも変わる → 16全部が必要</a:t>
            </a:r>
            <a:endParaRPr lang="en-US" sz="950" dirty="0"/>
          </a:p>
        </p:txBody>
      </p:sp>
      <p:sp>
        <p:nvSpPr>
          <p:cNvPr id="56" name="Shape 54"/>
          <p:cNvSpPr/>
          <p:nvPr/>
        </p:nvSpPr>
        <p:spPr>
          <a:xfrm>
            <a:off x="4297680" y="1554480"/>
            <a:ext cx="3291840" cy="3246120"/>
          </a:xfrm>
          <a:prstGeom prst="roundRect">
            <a:avLst>
              <a:gd name="adj" fmla="val 1690"/>
            </a:avLst>
          </a:prstGeom>
          <a:solidFill>
            <a:srgbClr val="F3F5F8"/>
          </a:solidFill>
          <a:ln/>
        </p:spPr>
      </p:sp>
      <p:sp>
        <p:nvSpPr>
          <p:cNvPr id="57" name="Text 55"/>
          <p:cNvSpPr txBox="1"/>
          <p:nvPr/>
        </p:nvSpPr>
        <p:spPr>
          <a:xfrm>
            <a:off x="4434840" y="1600200"/>
            <a:ext cx="3017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4方向（線形補間で作る場合）</a:t>
            </a:r>
            <a:endParaRPr lang="en-US" sz="1100" dirty="0"/>
          </a:p>
        </p:txBody>
      </p:sp>
      <p:sp>
        <p:nvSpPr>
          <p:cNvPr id="58" name="Shape 56"/>
          <p:cNvSpPr/>
          <p:nvPr/>
        </p:nvSpPr>
        <p:spPr>
          <a:xfrm>
            <a:off x="4709160" y="2011680"/>
            <a:ext cx="2468880" cy="2103120"/>
          </a:xfrm>
          <a:prstGeom prst="rect">
            <a:avLst/>
          </a:prstGeom>
          <a:solidFill>
            <a:srgbClr val="D9DEE6"/>
          </a:solidFill>
          <a:ln/>
        </p:spPr>
      </p:sp>
      <p:sp>
        <p:nvSpPr>
          <p:cNvPr id="59" name="Shape 57"/>
          <p:cNvSpPr/>
          <p:nvPr/>
        </p:nvSpPr>
        <p:spPr>
          <a:xfrm>
            <a:off x="4709160" y="2011680"/>
            <a:ext cx="91" cy="2103120"/>
          </a:xfrm>
          <a:prstGeom prst="line">
            <a:avLst/>
          </a:prstGeom>
          <a:noFill/>
          <a:ln w="3810">
            <a:solidFill>
              <a:srgbClr val="C9D0D8"/>
            </a:solidFill>
            <a:prstDash val="solid"/>
          </a:ln>
        </p:spPr>
      </p:sp>
      <p:sp>
        <p:nvSpPr>
          <p:cNvPr id="60" name="Shape 58"/>
          <p:cNvSpPr/>
          <p:nvPr/>
        </p:nvSpPr>
        <p:spPr>
          <a:xfrm>
            <a:off x="4709160" y="2011680"/>
            <a:ext cx="2468880" cy="91"/>
          </a:xfrm>
          <a:prstGeom prst="line">
            <a:avLst/>
          </a:prstGeom>
          <a:noFill/>
          <a:ln w="3810">
            <a:solidFill>
              <a:srgbClr val="C9D0D8"/>
            </a:solidFill>
            <a:prstDash val="solid"/>
          </a:ln>
        </p:spPr>
      </p:sp>
      <p:sp>
        <p:nvSpPr>
          <p:cNvPr id="61" name="Shape 59"/>
          <p:cNvSpPr/>
          <p:nvPr/>
        </p:nvSpPr>
        <p:spPr>
          <a:xfrm>
            <a:off x="4983480" y="2011680"/>
            <a:ext cx="91" cy="2103120"/>
          </a:xfrm>
          <a:prstGeom prst="line">
            <a:avLst/>
          </a:prstGeom>
          <a:noFill/>
          <a:ln w="3810">
            <a:solidFill>
              <a:srgbClr val="C9D0D8"/>
            </a:solidFill>
            <a:prstDash val="solid"/>
          </a:ln>
        </p:spPr>
      </p:sp>
      <p:sp>
        <p:nvSpPr>
          <p:cNvPr id="62" name="Shape 60"/>
          <p:cNvSpPr/>
          <p:nvPr/>
        </p:nvSpPr>
        <p:spPr>
          <a:xfrm>
            <a:off x="4709160" y="2245401"/>
            <a:ext cx="2468880" cy="91"/>
          </a:xfrm>
          <a:prstGeom prst="line">
            <a:avLst/>
          </a:prstGeom>
          <a:noFill/>
          <a:ln w="3810">
            <a:solidFill>
              <a:srgbClr val="C9D0D8"/>
            </a:solidFill>
            <a:prstDash val="solid"/>
          </a:ln>
        </p:spPr>
      </p:sp>
      <p:sp>
        <p:nvSpPr>
          <p:cNvPr id="63" name="Shape 61"/>
          <p:cNvSpPr/>
          <p:nvPr/>
        </p:nvSpPr>
        <p:spPr>
          <a:xfrm>
            <a:off x="5257800" y="2011680"/>
            <a:ext cx="91" cy="2103120"/>
          </a:xfrm>
          <a:prstGeom prst="line">
            <a:avLst/>
          </a:prstGeom>
          <a:noFill/>
          <a:ln w="3810">
            <a:solidFill>
              <a:srgbClr val="C9D0D8"/>
            </a:solidFill>
            <a:prstDash val="solid"/>
          </a:ln>
        </p:spPr>
      </p:sp>
      <p:sp>
        <p:nvSpPr>
          <p:cNvPr id="64" name="Shape 62"/>
          <p:cNvSpPr/>
          <p:nvPr/>
        </p:nvSpPr>
        <p:spPr>
          <a:xfrm>
            <a:off x="4709160" y="2479121"/>
            <a:ext cx="2468880" cy="91"/>
          </a:xfrm>
          <a:prstGeom prst="line">
            <a:avLst/>
          </a:prstGeom>
          <a:noFill/>
          <a:ln w="3810">
            <a:solidFill>
              <a:srgbClr val="C9D0D8"/>
            </a:solidFill>
            <a:prstDash val="solid"/>
          </a:ln>
        </p:spPr>
      </p:sp>
      <p:sp>
        <p:nvSpPr>
          <p:cNvPr id="65" name="Shape 63"/>
          <p:cNvSpPr/>
          <p:nvPr/>
        </p:nvSpPr>
        <p:spPr>
          <a:xfrm>
            <a:off x="5532120" y="2011680"/>
            <a:ext cx="91" cy="2103120"/>
          </a:xfrm>
          <a:prstGeom prst="line">
            <a:avLst/>
          </a:prstGeom>
          <a:noFill/>
          <a:ln w="3810">
            <a:solidFill>
              <a:srgbClr val="C9D0D8"/>
            </a:solidFill>
            <a:prstDash val="solid"/>
          </a:ln>
        </p:spPr>
      </p:sp>
      <p:sp>
        <p:nvSpPr>
          <p:cNvPr id="66" name="Shape 64"/>
          <p:cNvSpPr/>
          <p:nvPr/>
        </p:nvSpPr>
        <p:spPr>
          <a:xfrm>
            <a:off x="4709160" y="2712842"/>
            <a:ext cx="2468880" cy="91"/>
          </a:xfrm>
          <a:prstGeom prst="line">
            <a:avLst/>
          </a:prstGeom>
          <a:noFill/>
          <a:ln w="3810">
            <a:solidFill>
              <a:srgbClr val="C9D0D8"/>
            </a:solidFill>
            <a:prstDash val="solid"/>
          </a:ln>
        </p:spPr>
      </p:sp>
      <p:sp>
        <p:nvSpPr>
          <p:cNvPr id="67" name="Shape 65"/>
          <p:cNvSpPr/>
          <p:nvPr/>
        </p:nvSpPr>
        <p:spPr>
          <a:xfrm>
            <a:off x="5806440" y="2011680"/>
            <a:ext cx="91" cy="2103120"/>
          </a:xfrm>
          <a:prstGeom prst="line">
            <a:avLst/>
          </a:prstGeom>
          <a:noFill/>
          <a:ln w="3810">
            <a:solidFill>
              <a:srgbClr val="C9D0D8"/>
            </a:solidFill>
            <a:prstDash val="solid"/>
          </a:ln>
        </p:spPr>
      </p:sp>
      <p:sp>
        <p:nvSpPr>
          <p:cNvPr id="68" name="Shape 66"/>
          <p:cNvSpPr/>
          <p:nvPr/>
        </p:nvSpPr>
        <p:spPr>
          <a:xfrm>
            <a:off x="4709160" y="2946563"/>
            <a:ext cx="2468880" cy="91"/>
          </a:xfrm>
          <a:prstGeom prst="line">
            <a:avLst/>
          </a:prstGeom>
          <a:noFill/>
          <a:ln w="3810">
            <a:solidFill>
              <a:srgbClr val="C9D0D8"/>
            </a:solidFill>
            <a:prstDash val="solid"/>
          </a:ln>
        </p:spPr>
      </p:sp>
      <p:sp>
        <p:nvSpPr>
          <p:cNvPr id="69" name="Shape 67"/>
          <p:cNvSpPr/>
          <p:nvPr/>
        </p:nvSpPr>
        <p:spPr>
          <a:xfrm>
            <a:off x="6080760" y="2011680"/>
            <a:ext cx="91" cy="2103120"/>
          </a:xfrm>
          <a:prstGeom prst="line">
            <a:avLst/>
          </a:prstGeom>
          <a:noFill/>
          <a:ln w="3810">
            <a:solidFill>
              <a:srgbClr val="C9D0D8"/>
            </a:solidFill>
            <a:prstDash val="solid"/>
          </a:ln>
        </p:spPr>
      </p:sp>
      <p:sp>
        <p:nvSpPr>
          <p:cNvPr id="70" name="Shape 68"/>
          <p:cNvSpPr/>
          <p:nvPr/>
        </p:nvSpPr>
        <p:spPr>
          <a:xfrm>
            <a:off x="4709160" y="3180283"/>
            <a:ext cx="2468880" cy="91"/>
          </a:xfrm>
          <a:prstGeom prst="line">
            <a:avLst/>
          </a:prstGeom>
          <a:noFill/>
          <a:ln w="3810">
            <a:solidFill>
              <a:srgbClr val="C9D0D8"/>
            </a:solidFill>
            <a:prstDash val="solid"/>
          </a:ln>
        </p:spPr>
      </p:sp>
      <p:sp>
        <p:nvSpPr>
          <p:cNvPr id="71" name="Shape 69"/>
          <p:cNvSpPr/>
          <p:nvPr/>
        </p:nvSpPr>
        <p:spPr>
          <a:xfrm>
            <a:off x="6355080" y="2011680"/>
            <a:ext cx="91" cy="2103120"/>
          </a:xfrm>
          <a:prstGeom prst="line">
            <a:avLst/>
          </a:prstGeom>
          <a:noFill/>
          <a:ln w="3810">
            <a:solidFill>
              <a:srgbClr val="C9D0D8"/>
            </a:solidFill>
            <a:prstDash val="solid"/>
          </a:ln>
        </p:spPr>
      </p:sp>
      <p:sp>
        <p:nvSpPr>
          <p:cNvPr id="72" name="Shape 70"/>
          <p:cNvSpPr/>
          <p:nvPr/>
        </p:nvSpPr>
        <p:spPr>
          <a:xfrm>
            <a:off x="4709160" y="3414004"/>
            <a:ext cx="2468880" cy="91"/>
          </a:xfrm>
          <a:prstGeom prst="line">
            <a:avLst/>
          </a:prstGeom>
          <a:noFill/>
          <a:ln w="3810">
            <a:solidFill>
              <a:srgbClr val="C9D0D8"/>
            </a:solidFill>
            <a:prstDash val="solid"/>
          </a:ln>
        </p:spPr>
      </p:sp>
      <p:sp>
        <p:nvSpPr>
          <p:cNvPr id="73" name="Shape 71"/>
          <p:cNvSpPr/>
          <p:nvPr/>
        </p:nvSpPr>
        <p:spPr>
          <a:xfrm>
            <a:off x="6629400" y="2011680"/>
            <a:ext cx="91" cy="2103120"/>
          </a:xfrm>
          <a:prstGeom prst="line">
            <a:avLst/>
          </a:prstGeom>
          <a:noFill/>
          <a:ln w="3810">
            <a:solidFill>
              <a:srgbClr val="C9D0D8"/>
            </a:solidFill>
            <a:prstDash val="solid"/>
          </a:ln>
        </p:spPr>
      </p:sp>
      <p:sp>
        <p:nvSpPr>
          <p:cNvPr id="74" name="Shape 72"/>
          <p:cNvSpPr/>
          <p:nvPr/>
        </p:nvSpPr>
        <p:spPr>
          <a:xfrm>
            <a:off x="4709160" y="3647724"/>
            <a:ext cx="2468880" cy="91"/>
          </a:xfrm>
          <a:prstGeom prst="line">
            <a:avLst/>
          </a:prstGeom>
          <a:noFill/>
          <a:ln w="3810">
            <a:solidFill>
              <a:srgbClr val="C9D0D8"/>
            </a:solidFill>
            <a:prstDash val="solid"/>
          </a:ln>
        </p:spPr>
      </p:sp>
      <p:sp>
        <p:nvSpPr>
          <p:cNvPr id="75" name="Shape 73"/>
          <p:cNvSpPr/>
          <p:nvPr/>
        </p:nvSpPr>
        <p:spPr>
          <a:xfrm>
            <a:off x="6903720" y="2011680"/>
            <a:ext cx="91" cy="2103120"/>
          </a:xfrm>
          <a:prstGeom prst="line">
            <a:avLst/>
          </a:prstGeom>
          <a:noFill/>
          <a:ln w="3810">
            <a:solidFill>
              <a:srgbClr val="C9D0D8"/>
            </a:solidFill>
            <a:prstDash val="solid"/>
          </a:ln>
        </p:spPr>
      </p:sp>
      <p:sp>
        <p:nvSpPr>
          <p:cNvPr id="76" name="Shape 74"/>
          <p:cNvSpPr/>
          <p:nvPr/>
        </p:nvSpPr>
        <p:spPr>
          <a:xfrm>
            <a:off x="4709160" y="3881445"/>
            <a:ext cx="2468880" cy="91"/>
          </a:xfrm>
          <a:prstGeom prst="line">
            <a:avLst/>
          </a:prstGeom>
          <a:noFill/>
          <a:ln w="3810">
            <a:solidFill>
              <a:srgbClr val="C9D0D8"/>
            </a:solidFill>
            <a:prstDash val="solid"/>
          </a:ln>
        </p:spPr>
      </p:sp>
      <p:sp>
        <p:nvSpPr>
          <p:cNvPr id="77" name="Shape 75"/>
          <p:cNvSpPr/>
          <p:nvPr/>
        </p:nvSpPr>
        <p:spPr>
          <a:xfrm>
            <a:off x="4983480" y="3200400"/>
            <a:ext cx="548640" cy="466344"/>
          </a:xfrm>
          <a:prstGeom prst="rect">
            <a:avLst/>
          </a:prstGeom>
          <a:solidFill>
            <a:srgbClr val="E8934D"/>
          </a:solidFill>
          <a:ln/>
        </p:spPr>
      </p:sp>
      <p:sp>
        <p:nvSpPr>
          <p:cNvPr id="78" name="Shape 76"/>
          <p:cNvSpPr/>
          <p:nvPr/>
        </p:nvSpPr>
        <p:spPr>
          <a:xfrm>
            <a:off x="6446520" y="2249424"/>
            <a:ext cx="548640" cy="466344"/>
          </a:xfrm>
          <a:prstGeom prst="rect">
            <a:avLst/>
          </a:prstGeom>
          <a:solidFill>
            <a:srgbClr val="1F6F78"/>
          </a:solidFill>
          <a:ln/>
        </p:spPr>
      </p:sp>
      <p:sp>
        <p:nvSpPr>
          <p:cNvPr id="79" name="Text 77"/>
          <p:cNvSpPr txBox="1"/>
          <p:nvPr/>
        </p:nvSpPr>
        <p:spPr>
          <a:xfrm>
            <a:off x="4983480" y="3200400"/>
            <a:ext cx="548640" cy="46634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256</a:t>
            </a:r>
            <a:endParaRPr lang="en-US" sz="1050" dirty="0"/>
          </a:p>
        </p:txBody>
      </p:sp>
      <p:sp>
        <p:nvSpPr>
          <p:cNvPr id="80" name="Text 78"/>
          <p:cNvSpPr txBox="1"/>
          <p:nvPr/>
        </p:nvSpPr>
        <p:spPr>
          <a:xfrm>
            <a:off x="6446520" y="2249424"/>
            <a:ext cx="548640" cy="46634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256</a:t>
            </a:r>
            <a:endParaRPr lang="en-US" sz="1050" dirty="0"/>
          </a:p>
        </p:txBody>
      </p:sp>
      <p:sp>
        <p:nvSpPr>
          <p:cNvPr id="81" name="Text 79"/>
          <p:cNvSpPr txBox="1"/>
          <p:nvPr/>
        </p:nvSpPr>
        <p:spPr>
          <a:xfrm>
            <a:off x="4434840" y="4206240"/>
            <a:ext cx="301752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表に保存：6,561配置 ／ 1回に使う：256配置</a:t>
            </a:r>
            <a:endParaRPr lang="en-US" sz="1000" dirty="0"/>
          </a:p>
        </p:txBody>
      </p:sp>
      <p:sp>
        <p:nvSpPr>
          <p:cNvPr id="82" name="Text 80"/>
          <p:cNvSpPr txBox="1"/>
          <p:nvPr/>
        </p:nvSpPr>
        <p:spPr>
          <a:xfrm>
            <a:off x="4434840" y="4462272"/>
            <a:ext cx="3017520" cy="274320"/>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（模式図）入力①②で使う256配置は別々</a:t>
            </a:r>
            <a:endParaRPr lang="en-US" sz="950" dirty="0"/>
          </a:p>
        </p:txBody>
      </p:sp>
      <p:sp>
        <p:nvSpPr>
          <p:cNvPr id="83" name="Text 81"/>
          <p:cNvSpPr txBox="1"/>
          <p:nvPr/>
        </p:nvSpPr>
        <p:spPr>
          <a:xfrm>
            <a:off x="7772400" y="1572768"/>
            <a:ext cx="39776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先にSEBEで計算して保存するデータ（学習用）</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772400" y="1874520"/>
          <a:ext cx="3977640" cy="914400"/>
        </p:xfrm>
        <a:graphic>
          <a:graphicData uri="http://schemas.openxmlformats.org/drawingml/2006/table">
            <a:tbl>
              <a:tblPr/>
              <a:tblGrid>
                <a:gridCol w="1508760"/>
                <a:gridCol w="822960"/>
                <a:gridCol w="1645920"/>
              </a:tblGrid>
              <a:tr h="36576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範囲</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配置数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保存する数値</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6576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南1棟（実際）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×5帯 ＝ 80個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4棟あり（各3段階）</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6,561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 ＝ 131,220個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000" b="1" dirty="0">
                          <a:solidFill>
                            <a:srgbClr val="B04A3F"/>
                          </a:solidFill>
                          <a:latin typeface="Yu Gothic" pitchFamily="34" charset="0"/>
                          <a:ea typeface="Yu Gothic" pitchFamily="34" charset="-122"/>
                          <a:cs typeface="Yu Gothic" pitchFamily="34" charset="-120"/>
                        </a:rPr>
                        <a:t>0〜4棟（各3段階）</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04A3F"/>
                          </a:solidFill>
                          <a:latin typeface="Yu Gothic" pitchFamily="34" charset="0"/>
                          <a:ea typeface="Yu Gothic" pitchFamily="34" charset="-122"/>
                          <a:cs typeface="Yu Gothic" pitchFamily="34" charset="-120"/>
                        </a:rPr>
                        <a:t>10,000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04A3F"/>
                          </a:solidFill>
                          <a:latin typeface="Yu Gothic" pitchFamily="34" charset="0"/>
                          <a:ea typeface="Yu Gothic" pitchFamily="34" charset="-122"/>
                          <a:cs typeface="Yu Gothic" pitchFamily="34" charset="-120"/>
                        </a:rPr>
                        <a:t>×20 ＝ 200,000個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0〜4棟（各4段階）</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83,521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 ＝ 1,670,420個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85" name="Text 82"/>
          <p:cNvSpPr txBox="1"/>
          <p:nvPr/>
        </p:nvSpPr>
        <p:spPr>
          <a:xfrm>
            <a:off x="7772400" y="3886200"/>
            <a:ext cx="3977640" cy="237744"/>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×20 ＝ 1配置から 4面×5帯 の20個を保存する</a:t>
            </a:r>
            <a:endParaRPr lang="en-US" sz="950" dirty="0"/>
          </a:p>
        </p:txBody>
      </p:sp>
      <p:sp>
        <p:nvSpPr>
          <p:cNvPr id="86" name="Shape 83"/>
          <p:cNvSpPr/>
          <p:nvPr/>
        </p:nvSpPr>
        <p:spPr>
          <a:xfrm>
            <a:off x="457200" y="4937760"/>
            <a:ext cx="11292840" cy="1371600"/>
          </a:xfrm>
          <a:prstGeom prst="roundRect">
            <a:avLst>
              <a:gd name="adj" fmla="val 4000"/>
            </a:avLst>
          </a:prstGeom>
          <a:solidFill>
            <a:srgbClr val="1B2A44"/>
          </a:solidFill>
          <a:ln/>
        </p:spPr>
      </p:sp>
      <p:sp>
        <p:nvSpPr>
          <p:cNvPr id="87" name="Text 84"/>
          <p:cNvSpPr txBox="1"/>
          <p:nvPr/>
        </p:nvSpPr>
        <p:spPr>
          <a:xfrm>
            <a:off x="640080" y="4992624"/>
            <a:ext cx="914400" cy="274320"/>
          </a:xfrm>
          <a:prstGeom prst="rect">
            <a:avLst/>
          </a:prstGeom>
          <a:noFill/>
          <a:ln/>
        </p:spPr>
        <p:txBody>
          <a:bodyPr wrap="square" lIns="508" tIns="508" rIns="508" bIns="508" rtlCol="0" anchor="t"/>
          <a:lstStyle/>
          <a:p>
            <a:pPr indent="0" marL="0">
              <a:buNone/>
            </a:pPr>
            <a:r>
              <a:rPr lang="en-US" sz="1200" b="1" dirty="0">
                <a:solidFill>
                  <a:srgbClr val="E8934D"/>
                </a:solidFill>
                <a:latin typeface="Yu Gothic" pitchFamily="34" charset="0"/>
                <a:ea typeface="Yu Gothic" pitchFamily="34" charset="-122"/>
                <a:cs typeface="Yu Gothic" pitchFamily="34" charset="-120"/>
              </a:rPr>
              <a:t>答え</a:t>
            </a:r>
            <a:endParaRPr lang="en-US" sz="1200" dirty="0"/>
          </a:p>
        </p:txBody>
      </p:sp>
      <p:sp>
        <p:nvSpPr>
          <p:cNvPr id="88" name="Text 85"/>
          <p:cNvSpPr txBox="1"/>
          <p:nvPr/>
        </p:nvSpPr>
        <p:spPr>
          <a:xfrm>
            <a:off x="640080" y="5303520"/>
            <a:ext cx="10972800" cy="960120"/>
          </a:xfrm>
          <a:prstGeom prst="rect">
            <a:avLst/>
          </a:prstGeom>
          <a:noFill/>
          <a:ln/>
        </p:spPr>
        <p:txBody>
          <a:bodyPr wrap="square" lIns="508" tIns="508" rIns="508" bIns="508" rtlCol="0" anchor="t"/>
          <a:lstStyle/>
          <a:p>
            <a:pPr indent="0" marL="0">
              <a:buNone/>
            </a:pPr>
            <a:r>
              <a:rPr lang="en-US" sz="1100" dirty="0">
                <a:solidFill>
                  <a:srgbClr val="FFFFFF"/>
                </a:solidFill>
                <a:latin typeface="Yu Gothic" pitchFamily="34" charset="0"/>
                <a:ea typeface="Yu Gothic" pitchFamily="34" charset="-122"/>
                <a:cs typeface="Yu Gothic" pitchFamily="34" charset="-120"/>
              </a:rPr>
              <a:t>256個は「1回の予測で使う配置の数」。学習用データ（先にSEBEで計算して表に保存するデータ）は、</a:t>
            </a:r>
            <a:pPr indent="0" marL="0">
              <a:buNone/>
            </a:pPr>
            <a:r>
              <a:rPr lang="en-US" sz="1100" b="1" dirty="0">
                <a:solidFill>
                  <a:srgbClr val="E8934D"/>
                </a:solidFill>
                <a:latin typeface="Yu Gothic" pitchFamily="34" charset="0"/>
                <a:ea typeface="Yu Gothic" pitchFamily="34" charset="-122"/>
                <a:cs typeface="Yu Gothic" pitchFamily="34" charset="-120"/>
              </a:rPr>
              <a:t>4棟ありだけで6,561配置、0〜4棟で10,000配置。</a:t>
            </a:r>
            <a:pPr indent="0" marL="0">
              <a:buNone/>
            </a:pPr>
            <a:r>
              <a:rPr lang="en-US" sz="1100" dirty="0">
                <a:solidFill>
                  <a:srgbClr val="FFFFFF"/>
                </a:solidFill>
                <a:latin typeface="Yu Gothic" pitchFamily="34" charset="0"/>
                <a:ea typeface="Yu Gothic" pitchFamily="34" charset="-122"/>
                <a:cs typeface="Yu Gothic" pitchFamily="34" charset="-120"/>
              </a:rPr>
              <a:t>線形補間は何かを学習するのではなく、この表を保存しておき、入力のたびに周りの256配置を探して重み付き平均する。</a:t>
            </a:r>
            <a:endParaRPr lang="en-US" sz="11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入力・学習用・検証・テストデータ：何に何を使うか</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35 / 45</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8934D"/>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92840" cy="914400"/>
        </p:xfrm>
        <a:graphic>
          <a:graphicData uri="http://schemas.openxmlformats.org/drawingml/2006/table">
            <a:tbl>
              <a:tblPr/>
              <a:tblGrid>
                <a:gridCol w="1828800"/>
                <a:gridCol w="2971800"/>
                <a:gridCol w="3246120"/>
                <a:gridCol w="3246120"/>
              </a:tblGrid>
              <a:tr h="512064">
                <a:tc>
                  <a:txBody>
                    <a:bodyPr/>
                    <a:lstStyle/>
                    <a:p>
                      <a:pPr algn="l"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南1棟（実際に行った）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4方向版を線形補間で作る場合（想定）</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空の遮られ方（代案・未定）</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入力データ</a:t>
                      </a:r>
                      <a:endParaRPr lang="en-US" sz="1000" dirty="0">
                        <a:latin typeface="Yu Gothic" charset="0"/>
                        <a:ea typeface="Yu Gothic" charset="0"/>
                        <a:cs typeface="Yu Gothic" charset="0"/>
                      </a:endParaRPr>
                    </a:p>
                    <a:p>
                      <a:pPr algn="l" indent="0" marL="0">
                        <a:buNone/>
                      </a:pPr>
                      <a:r>
                        <a:rPr lang="en-US" sz="1000" b="1" dirty="0">
                          <a:solidFill>
                            <a:srgbClr val="1B2A44"/>
                          </a:solidFill>
                          <a:latin typeface="Yu Gothic" pitchFamily="34" charset="0"/>
                          <a:ea typeface="Yu Gothic" pitchFamily="34" charset="-122"/>
                          <a:cs typeface="Yu Gothic" pitchFamily="34" charset="-120"/>
                        </a:rPr>
                        <a:t>（ツールに入れる）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高さ A・隙間 D（2個）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有無 s・高さ A・隙間 D × 4方向（12個）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同じ12個 → 空の地図（遮られ方）に変換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正解値</a:t>
                      </a:r>
                      <a:endParaRPr lang="en-US" sz="1000" dirty="0">
                        <a:latin typeface="Yu Gothic" charset="0"/>
                        <a:ea typeface="Yu Gothic" charset="0"/>
                        <a:cs typeface="Yu Gothic" charset="0"/>
                      </a:endParaRPr>
                    </a:p>
                    <a:p>
                      <a:pPr algn="l" indent="0" marL="0">
                        <a:buNone/>
                      </a:pPr>
                      <a:r>
                        <a:rPr lang="en-US" sz="1000" b="1" dirty="0">
                          <a:solidFill>
                            <a:srgbClr val="1B2A44"/>
                          </a:solidFill>
                          <a:latin typeface="Yu Gothic" pitchFamily="34" charset="0"/>
                          <a:ea typeface="Yu Gothic" pitchFamily="34" charset="-122"/>
                          <a:cs typeface="Yu Gothic" pitchFamily="34" charset="-120"/>
                        </a:rPr>
                        <a:t>（SEBEの結果）</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南面5帯の年間日射量</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4面×5帯＝20個の年間日射量</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同じ20個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学習用データ</a:t>
                      </a:r>
                      <a:endParaRPr lang="en-US" sz="1000" dirty="0">
                        <a:latin typeface="Yu Gothic" charset="0"/>
                        <a:ea typeface="Yu Gothic" charset="0"/>
                        <a:cs typeface="Yu Gothic" charset="0"/>
                      </a:endParaRPr>
                    </a:p>
                    <a:p>
                      <a:pPr algn="l" indent="0" marL="0">
                        <a:buNone/>
                      </a:pPr>
                      <a:r>
                        <a:rPr lang="en-US" sz="1000" b="1" dirty="0">
                          <a:solidFill>
                            <a:srgbClr val="1B2A44"/>
                          </a:solidFill>
                          <a:latin typeface="Yu Gothic" pitchFamily="34" charset="0"/>
                          <a:ea typeface="Yu Gothic" pitchFamily="34" charset="-122"/>
                          <a:cs typeface="Yu Gothic" pitchFamily="34" charset="-120"/>
                        </a:rPr>
                        <a:t>（何を学習するか）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16配置の表を保存（学習はしない）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格子の全配置 10,000 の表を保存（学習はしない）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SEBEの結果から「遮られ方→日射量」の関係をモデルが学習</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学習用データの選び方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A・D 各4段階の全組み合わせ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各方向の全組み合わせ（格子がそろう必要）</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格子でなくてよい（ばらばらの配置でよい）。数は未定</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検証データ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8配置：3手法の比較・弱点の確認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例：格子の細かさを決めるための配置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例：モデルの種類・設定を決めるための配置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テストデータ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12配置（＋局所改良の確認6配置）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例：格子点と重ならない配置を棟数ごとに数配置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線形補間と同じテスト配置で比べる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精度の測り方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SEBEとの差（MAE・誤差率）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同じ</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同じ</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2" name="Shape 19"/>
          <p:cNvSpPr/>
          <p:nvPr/>
        </p:nvSpPr>
        <p:spPr>
          <a:xfrm>
            <a:off x="457200" y="5806440"/>
            <a:ext cx="11292840" cy="502920"/>
          </a:xfrm>
          <a:prstGeom prst="roundRect">
            <a:avLst>
              <a:gd name="adj" fmla="val 9091"/>
            </a:avLst>
          </a:prstGeom>
          <a:solidFill>
            <a:srgbClr val="FBEBDA"/>
          </a:solidFill>
          <a:ln/>
        </p:spPr>
      </p:sp>
      <p:sp>
        <p:nvSpPr>
          <p:cNvPr id="23" name="Text 20"/>
          <p:cNvSpPr txBox="1"/>
          <p:nvPr/>
        </p:nvSpPr>
        <p:spPr>
          <a:xfrm>
            <a:off x="594360" y="5806440"/>
            <a:ext cx="11064240" cy="502920"/>
          </a:xfrm>
          <a:prstGeom prst="rect">
            <a:avLst/>
          </a:prstGeom>
          <a:noFill/>
          <a:ln/>
        </p:spPr>
        <p:txBody>
          <a:bodyPr wrap="square" lIns="508" tIns="508" rIns="508" bIns="508" rtlCol="0" anchor="ctr"/>
          <a:lstStyle/>
          <a:p>
            <a:pPr indent="0" marL="0">
              <a:buNone/>
            </a:pPr>
            <a:r>
              <a:rPr lang="en-US" sz="1050" b="1" dirty="0">
                <a:solidFill>
                  <a:srgbClr val="1B2A44"/>
                </a:solidFill>
                <a:latin typeface="Yu Gothic" pitchFamily="34" charset="0"/>
                <a:ea typeface="Yu Gothic" pitchFamily="34" charset="-122"/>
                <a:cs typeface="Yu Gothic" pitchFamily="34" charset="-120"/>
              </a:rPr>
              <a:t>テストデータは、学習にも検証にも使っていない配置で、方法を決めた後に1回だけ使う。</a:t>
            </a:r>
            <a:pPr indent="0" marL="0">
              <a:buNone/>
            </a:pPr>
            <a:r>
              <a:rPr lang="en-US" sz="1050" dirty="0">
                <a:solidFill>
                  <a:srgbClr val="6B7480"/>
                </a:solidFill>
                <a:latin typeface="Yu Gothic" pitchFamily="34" charset="0"/>
                <a:ea typeface="Yu Gothic" pitchFamily="34" charset="-122"/>
                <a:cs typeface="Yu Gothic" pitchFamily="34" charset="-120"/>
              </a:rPr>
              <a:t>　4方向版・代案の数は例で、まだ決めていない。</a:t>
            </a:r>
            <a:endParaRPr lang="en-US" sz="10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計算したデータは追加学習するのか：データの流れと追加のルール</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36 / 45</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8934D"/>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72768"/>
            <a:ext cx="2011680" cy="960120"/>
          </a:xfrm>
          <a:prstGeom prst="roundRect">
            <a:avLst>
              <a:gd name="adj" fmla="val 5714"/>
            </a:avLst>
          </a:prstGeom>
          <a:solidFill>
            <a:srgbClr val="1B2A44"/>
          </a:solidFill>
          <a:ln/>
        </p:spPr>
      </p:sp>
      <p:sp>
        <p:nvSpPr>
          <p:cNvPr id="22" name="Text 20"/>
          <p:cNvSpPr txBox="1"/>
          <p:nvPr/>
        </p:nvSpPr>
        <p:spPr>
          <a:xfrm>
            <a:off x="548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① SEBEで計算</a:t>
            </a:r>
            <a:endParaRPr lang="en-US" sz="1100" dirty="0"/>
          </a:p>
        </p:txBody>
      </p:sp>
      <p:sp>
        <p:nvSpPr>
          <p:cNvPr id="23" name="Text 21"/>
          <p:cNvSpPr txBox="1"/>
          <p:nvPr/>
        </p:nvSpPr>
        <p:spPr>
          <a:xfrm>
            <a:off x="548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配置ごとに20個の値</a:t>
            </a:r>
            <a:endParaRPr lang="en-US" sz="950" dirty="0"/>
          </a:p>
        </p:txBody>
      </p:sp>
      <p:sp>
        <p:nvSpPr>
          <p:cNvPr id="24" name="Shape 22"/>
          <p:cNvSpPr/>
          <p:nvPr/>
        </p:nvSpPr>
        <p:spPr>
          <a:xfrm>
            <a:off x="2487168" y="1920240"/>
            <a:ext cx="237744" cy="274320"/>
          </a:xfrm>
          <a:prstGeom prst="rightArrow">
            <a:avLst/>
          </a:prstGeom>
          <a:solidFill>
            <a:srgbClr val="AEB4BC"/>
          </a:solidFill>
          <a:ln/>
        </p:spPr>
      </p:sp>
      <p:sp>
        <p:nvSpPr>
          <p:cNvPr id="25" name="Shape 23"/>
          <p:cNvSpPr/>
          <p:nvPr/>
        </p:nvSpPr>
        <p:spPr>
          <a:xfrm>
            <a:off x="2743200" y="1572768"/>
            <a:ext cx="2011680" cy="960120"/>
          </a:xfrm>
          <a:prstGeom prst="roundRect">
            <a:avLst>
              <a:gd name="adj" fmla="val 5714"/>
            </a:avLst>
          </a:prstGeom>
          <a:solidFill>
            <a:srgbClr val="1F6F78"/>
          </a:solidFill>
          <a:ln/>
        </p:spPr>
      </p:sp>
      <p:sp>
        <p:nvSpPr>
          <p:cNvPr id="26" name="Text 24"/>
          <p:cNvSpPr txBox="1"/>
          <p:nvPr/>
        </p:nvSpPr>
        <p:spPr>
          <a:xfrm>
            <a:off x="2834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② 学習用データ</a:t>
            </a:r>
            <a:endParaRPr lang="en-US" sz="1100" dirty="0"/>
          </a:p>
        </p:txBody>
      </p:sp>
      <p:sp>
        <p:nvSpPr>
          <p:cNvPr id="27" name="Text 25"/>
          <p:cNvSpPr txBox="1"/>
          <p:nvPr/>
        </p:nvSpPr>
        <p:spPr>
          <a:xfrm>
            <a:off x="2834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線形補間：表に保存</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代案：モデルが学習</a:t>
            </a:r>
            <a:endParaRPr lang="en-US" sz="950" dirty="0"/>
          </a:p>
        </p:txBody>
      </p:sp>
      <p:sp>
        <p:nvSpPr>
          <p:cNvPr id="28" name="Shape 26"/>
          <p:cNvSpPr/>
          <p:nvPr/>
        </p:nvSpPr>
        <p:spPr>
          <a:xfrm>
            <a:off x="4773168" y="1920240"/>
            <a:ext cx="237744" cy="274320"/>
          </a:xfrm>
          <a:prstGeom prst="rightArrow">
            <a:avLst/>
          </a:prstGeom>
          <a:solidFill>
            <a:srgbClr val="AEB4BC"/>
          </a:solidFill>
          <a:ln/>
        </p:spPr>
      </p:sp>
      <p:sp>
        <p:nvSpPr>
          <p:cNvPr id="29" name="Shape 27"/>
          <p:cNvSpPr/>
          <p:nvPr/>
        </p:nvSpPr>
        <p:spPr>
          <a:xfrm>
            <a:off x="5029200" y="1572768"/>
            <a:ext cx="2011680" cy="960120"/>
          </a:xfrm>
          <a:prstGeom prst="roundRect">
            <a:avLst>
              <a:gd name="adj" fmla="val 5714"/>
            </a:avLst>
          </a:prstGeom>
          <a:solidFill>
            <a:srgbClr val="35507D"/>
          </a:solidFill>
          <a:ln/>
        </p:spPr>
      </p:sp>
      <p:sp>
        <p:nvSpPr>
          <p:cNvPr id="30" name="Text 28"/>
          <p:cNvSpPr txBox="1"/>
          <p:nvPr/>
        </p:nvSpPr>
        <p:spPr>
          <a:xfrm>
            <a:off x="5120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③ ツールで予測</a:t>
            </a:r>
            <a:endParaRPr lang="en-US" sz="1100" dirty="0"/>
          </a:p>
        </p:txBody>
      </p:sp>
      <p:sp>
        <p:nvSpPr>
          <p:cNvPr id="31" name="Text 29"/>
          <p:cNvSpPr txBox="1"/>
          <p:nvPr/>
        </p:nvSpPr>
        <p:spPr>
          <a:xfrm>
            <a:off x="5120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SEBEは使わない</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（数秒で結果）</a:t>
            </a:r>
            <a:endParaRPr lang="en-US" sz="950" dirty="0"/>
          </a:p>
        </p:txBody>
      </p:sp>
      <p:sp>
        <p:nvSpPr>
          <p:cNvPr id="32" name="Shape 30"/>
          <p:cNvSpPr/>
          <p:nvPr/>
        </p:nvSpPr>
        <p:spPr>
          <a:xfrm>
            <a:off x="7059168" y="1920240"/>
            <a:ext cx="237744" cy="274320"/>
          </a:xfrm>
          <a:prstGeom prst="rightArrow">
            <a:avLst/>
          </a:prstGeom>
          <a:solidFill>
            <a:srgbClr val="AEB4BC"/>
          </a:solidFill>
          <a:ln/>
        </p:spPr>
      </p:sp>
      <p:sp>
        <p:nvSpPr>
          <p:cNvPr id="33" name="Shape 31"/>
          <p:cNvSpPr/>
          <p:nvPr/>
        </p:nvSpPr>
        <p:spPr>
          <a:xfrm>
            <a:off x="7315200" y="1572768"/>
            <a:ext cx="2011680" cy="960120"/>
          </a:xfrm>
          <a:prstGeom prst="roundRect">
            <a:avLst>
              <a:gd name="adj" fmla="val 5714"/>
            </a:avLst>
          </a:prstGeom>
          <a:solidFill>
            <a:srgbClr val="E8934D"/>
          </a:solidFill>
          <a:ln/>
        </p:spPr>
      </p:sp>
      <p:sp>
        <p:nvSpPr>
          <p:cNvPr id="34" name="Text 32"/>
          <p:cNvSpPr txBox="1"/>
          <p:nvPr/>
        </p:nvSpPr>
        <p:spPr>
          <a:xfrm>
            <a:off x="7406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④ テストで確認</a:t>
            </a:r>
            <a:endParaRPr lang="en-US" sz="1100" dirty="0"/>
          </a:p>
        </p:txBody>
      </p:sp>
      <p:sp>
        <p:nvSpPr>
          <p:cNvPr id="35" name="Text 33"/>
          <p:cNvSpPr txBox="1"/>
          <p:nvPr/>
        </p:nvSpPr>
        <p:spPr>
          <a:xfrm>
            <a:off x="7406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未使用の配置を</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SEBEで計算し比較</a:t>
            </a:r>
            <a:endParaRPr lang="en-US" sz="950" dirty="0"/>
          </a:p>
        </p:txBody>
      </p:sp>
      <p:sp>
        <p:nvSpPr>
          <p:cNvPr id="36" name="Shape 34"/>
          <p:cNvSpPr/>
          <p:nvPr/>
        </p:nvSpPr>
        <p:spPr>
          <a:xfrm>
            <a:off x="9345168" y="1920240"/>
            <a:ext cx="237744" cy="274320"/>
          </a:xfrm>
          <a:prstGeom prst="rightArrow">
            <a:avLst/>
          </a:prstGeom>
          <a:solidFill>
            <a:srgbClr val="AEB4BC"/>
          </a:solidFill>
          <a:ln/>
        </p:spPr>
      </p:sp>
      <p:sp>
        <p:nvSpPr>
          <p:cNvPr id="37" name="Shape 35"/>
          <p:cNvSpPr/>
          <p:nvPr/>
        </p:nvSpPr>
        <p:spPr>
          <a:xfrm>
            <a:off x="9601200" y="1572768"/>
            <a:ext cx="2011680" cy="960120"/>
          </a:xfrm>
          <a:prstGeom prst="roundRect">
            <a:avLst>
              <a:gd name="adj" fmla="val 5714"/>
            </a:avLst>
          </a:prstGeom>
          <a:solidFill>
            <a:srgbClr val="C56A2C"/>
          </a:solidFill>
          <a:ln/>
        </p:spPr>
      </p:sp>
      <p:sp>
        <p:nvSpPr>
          <p:cNvPr id="38" name="Text 36"/>
          <p:cNvSpPr txBox="1"/>
          <p:nvPr/>
        </p:nvSpPr>
        <p:spPr>
          <a:xfrm>
            <a:off x="9692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⑤ 弱い所に追加</a:t>
            </a:r>
            <a:endParaRPr lang="en-US" sz="1100" dirty="0"/>
          </a:p>
        </p:txBody>
      </p:sp>
      <p:sp>
        <p:nvSpPr>
          <p:cNvPr id="39" name="Text 37"/>
          <p:cNvSpPr txBox="1"/>
          <p:nvPr/>
        </p:nvSpPr>
        <p:spPr>
          <a:xfrm>
            <a:off x="9692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配置を追加で計算</a:t>
            </a:r>
            <a:endParaRPr lang="en-US" sz="950" dirty="0"/>
          </a:p>
        </p:txBody>
      </p:sp>
      <p:sp>
        <p:nvSpPr>
          <p:cNvPr id="40" name="Shape 38"/>
          <p:cNvSpPr/>
          <p:nvPr/>
        </p:nvSpPr>
        <p:spPr>
          <a:xfrm>
            <a:off x="10607040" y="2560320"/>
            <a:ext cx="91" cy="228600"/>
          </a:xfrm>
          <a:prstGeom prst="line">
            <a:avLst/>
          </a:prstGeom>
          <a:noFill/>
          <a:ln w="19050">
            <a:solidFill>
              <a:srgbClr val="C56A2C"/>
            </a:solidFill>
            <a:prstDash val="solid"/>
          </a:ln>
        </p:spPr>
      </p:sp>
      <p:sp>
        <p:nvSpPr>
          <p:cNvPr id="41" name="Shape 39"/>
          <p:cNvSpPr/>
          <p:nvPr/>
        </p:nvSpPr>
        <p:spPr>
          <a:xfrm flipH="1">
            <a:off x="3657600" y="2788920"/>
            <a:ext cx="6949440" cy="91"/>
          </a:xfrm>
          <a:prstGeom prst="line">
            <a:avLst/>
          </a:prstGeom>
          <a:noFill/>
          <a:ln w="19050">
            <a:solidFill>
              <a:srgbClr val="C56A2C"/>
            </a:solidFill>
            <a:prstDash val="solid"/>
          </a:ln>
        </p:spPr>
      </p:sp>
      <p:sp>
        <p:nvSpPr>
          <p:cNvPr id="42" name="Shape 40"/>
          <p:cNvSpPr/>
          <p:nvPr/>
        </p:nvSpPr>
        <p:spPr>
          <a:xfrm flipV="1">
            <a:off x="3657600" y="2560320"/>
            <a:ext cx="91" cy="228600"/>
          </a:xfrm>
          <a:prstGeom prst="line">
            <a:avLst/>
          </a:prstGeom>
          <a:noFill/>
          <a:ln w="19050">
            <a:solidFill>
              <a:srgbClr val="C56A2C"/>
            </a:solidFill>
            <a:prstDash val="solid"/>
            <a:tailEnd type="triangle"/>
          </a:ln>
        </p:spPr>
      </p:sp>
      <p:sp>
        <p:nvSpPr>
          <p:cNvPr id="43" name="Text 41"/>
          <p:cNvSpPr txBox="1"/>
          <p:nvPr/>
        </p:nvSpPr>
        <p:spPr>
          <a:xfrm>
            <a:off x="4754880" y="2816352"/>
            <a:ext cx="4572000" cy="219456"/>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⑤で計算した配置を②に加える（追加学習）</a:t>
            </a:r>
            <a:endParaRPr lang="en-US" sz="950" dirty="0"/>
          </a:p>
        </p:txBody>
      </p:sp>
      <p:sp>
        <p:nvSpPr>
          <p:cNvPr id="44" name="Shape 42"/>
          <p:cNvSpPr/>
          <p:nvPr/>
        </p:nvSpPr>
        <p:spPr>
          <a:xfrm>
            <a:off x="457200" y="3154680"/>
            <a:ext cx="5577840" cy="1463040"/>
          </a:xfrm>
          <a:prstGeom prst="roundRect">
            <a:avLst>
              <a:gd name="adj" fmla="val 3750"/>
            </a:avLst>
          </a:prstGeom>
          <a:solidFill>
            <a:srgbClr val="F3F5F8"/>
          </a:solidFill>
          <a:ln/>
        </p:spPr>
      </p:sp>
      <p:sp>
        <p:nvSpPr>
          <p:cNvPr id="45" name="Shape 43"/>
          <p:cNvSpPr/>
          <p:nvPr/>
        </p:nvSpPr>
        <p:spPr>
          <a:xfrm>
            <a:off x="457200" y="3154680"/>
            <a:ext cx="5577840" cy="365760"/>
          </a:xfrm>
          <a:prstGeom prst="roundRect">
            <a:avLst>
              <a:gd name="adj" fmla="val 15000"/>
            </a:avLst>
          </a:prstGeom>
          <a:solidFill>
            <a:srgbClr val="35507D"/>
          </a:solidFill>
          <a:ln/>
        </p:spPr>
      </p:sp>
      <p:sp>
        <p:nvSpPr>
          <p:cNvPr id="46" name="Text 44"/>
          <p:cNvSpPr txBox="1"/>
          <p:nvPr/>
        </p:nvSpPr>
        <p:spPr>
          <a:xfrm>
            <a:off x="594360" y="3154680"/>
            <a:ext cx="5303520"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ツールを使っただけでは増えない</a:t>
            </a:r>
            <a:endParaRPr lang="en-US" sz="1100" dirty="0"/>
          </a:p>
        </p:txBody>
      </p:sp>
      <p:sp>
        <p:nvSpPr>
          <p:cNvPr id="47" name="Text 45"/>
          <p:cNvSpPr txBox="1"/>
          <p:nvPr/>
        </p:nvSpPr>
        <p:spPr>
          <a:xfrm>
            <a:off x="594360" y="3584448"/>
            <a:ext cx="5303520" cy="987552"/>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予測するときはSEBEを実行しないので、新しい正解値はできない。ツールが自動で追加学習することはない。</a:t>
            </a:r>
            <a:endParaRPr lang="en-US" sz="1100" dirty="0"/>
          </a:p>
        </p:txBody>
      </p:sp>
      <p:sp>
        <p:nvSpPr>
          <p:cNvPr id="48" name="Shape 46"/>
          <p:cNvSpPr/>
          <p:nvPr/>
        </p:nvSpPr>
        <p:spPr>
          <a:xfrm>
            <a:off x="6172200" y="3154680"/>
            <a:ext cx="5577840" cy="1463040"/>
          </a:xfrm>
          <a:prstGeom prst="roundRect">
            <a:avLst>
              <a:gd name="adj" fmla="val 3750"/>
            </a:avLst>
          </a:prstGeom>
          <a:solidFill>
            <a:srgbClr val="F3F5F8"/>
          </a:solidFill>
          <a:ln/>
        </p:spPr>
      </p:sp>
      <p:sp>
        <p:nvSpPr>
          <p:cNvPr id="49" name="Shape 47"/>
          <p:cNvSpPr/>
          <p:nvPr/>
        </p:nvSpPr>
        <p:spPr>
          <a:xfrm>
            <a:off x="6172200" y="3154680"/>
            <a:ext cx="5577840" cy="365760"/>
          </a:xfrm>
          <a:prstGeom prst="roundRect">
            <a:avLst>
              <a:gd name="adj" fmla="val 15000"/>
            </a:avLst>
          </a:prstGeom>
          <a:solidFill>
            <a:srgbClr val="1F6F78"/>
          </a:solidFill>
          <a:ln/>
        </p:spPr>
      </p:sp>
      <p:sp>
        <p:nvSpPr>
          <p:cNvPr id="50" name="Text 48"/>
          <p:cNvSpPr txBox="1"/>
          <p:nvPr/>
        </p:nvSpPr>
        <p:spPr>
          <a:xfrm>
            <a:off x="6309360" y="3154680"/>
            <a:ext cx="5303520"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線形補間に追加するとき（南1棟で実際に行った）</a:t>
            </a:r>
            <a:endParaRPr lang="en-US" sz="1100" dirty="0"/>
          </a:p>
        </p:txBody>
      </p:sp>
      <p:sp>
        <p:nvSpPr>
          <p:cNvPr id="51" name="Text 49"/>
          <p:cNvSpPr txBox="1"/>
          <p:nvPr/>
        </p:nvSpPr>
        <p:spPr>
          <a:xfrm>
            <a:off x="6309360" y="3584448"/>
            <a:ext cx="5303520" cy="987552"/>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格子の形がそろわないと使えない。誤差が最大だった A35m・D15m の周りに区切りを加え、3×3格子にするため5配置を追加 → 局所改良版（MAE 43.50→17.81）。1点だけ足しても格子にならない。</a:t>
            </a:r>
            <a:endParaRPr lang="en-US" sz="1100" dirty="0"/>
          </a:p>
        </p:txBody>
      </p:sp>
      <p:sp>
        <p:nvSpPr>
          <p:cNvPr id="52" name="Shape 50"/>
          <p:cNvSpPr/>
          <p:nvPr/>
        </p:nvSpPr>
        <p:spPr>
          <a:xfrm>
            <a:off x="457200" y="4754880"/>
            <a:ext cx="5577840" cy="1463040"/>
          </a:xfrm>
          <a:prstGeom prst="roundRect">
            <a:avLst>
              <a:gd name="adj" fmla="val 3750"/>
            </a:avLst>
          </a:prstGeom>
          <a:solidFill>
            <a:srgbClr val="F3F5F8"/>
          </a:solidFill>
          <a:ln/>
        </p:spPr>
      </p:sp>
      <p:sp>
        <p:nvSpPr>
          <p:cNvPr id="53" name="Shape 51"/>
          <p:cNvSpPr/>
          <p:nvPr/>
        </p:nvSpPr>
        <p:spPr>
          <a:xfrm>
            <a:off x="457200" y="4754880"/>
            <a:ext cx="5577840" cy="365760"/>
          </a:xfrm>
          <a:prstGeom prst="roundRect">
            <a:avLst>
              <a:gd name="adj" fmla="val 15000"/>
            </a:avLst>
          </a:prstGeom>
          <a:solidFill>
            <a:srgbClr val="E8934D"/>
          </a:solidFill>
          <a:ln/>
        </p:spPr>
      </p:sp>
      <p:sp>
        <p:nvSpPr>
          <p:cNvPr id="54" name="Text 52"/>
          <p:cNvSpPr txBox="1"/>
          <p:nvPr/>
        </p:nvSpPr>
        <p:spPr>
          <a:xfrm>
            <a:off x="594360" y="4754880"/>
            <a:ext cx="5303520"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テストデータの扱い</a:t>
            </a:r>
            <a:endParaRPr lang="en-US" sz="1100" dirty="0"/>
          </a:p>
        </p:txBody>
      </p:sp>
      <p:sp>
        <p:nvSpPr>
          <p:cNvPr id="55" name="Text 53"/>
          <p:cNvSpPr txBox="1"/>
          <p:nvPr/>
        </p:nvSpPr>
        <p:spPr>
          <a:xfrm>
            <a:off x="594360" y="5184648"/>
            <a:ext cx="5303520" cy="987552"/>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評価が終わるまで学習に入れない（答えを見たことになるため）。南1棟でも A35m・D15m 自体は入れず、新しい6配置で確かめた。評価後に加えるなら、新しいテストデータを用意する。</a:t>
            </a:r>
            <a:endParaRPr lang="en-US" sz="1100" dirty="0"/>
          </a:p>
        </p:txBody>
      </p:sp>
      <p:sp>
        <p:nvSpPr>
          <p:cNvPr id="56" name="Shape 54"/>
          <p:cNvSpPr/>
          <p:nvPr/>
        </p:nvSpPr>
        <p:spPr>
          <a:xfrm>
            <a:off x="6172200" y="4754880"/>
            <a:ext cx="5577840" cy="1463040"/>
          </a:xfrm>
          <a:prstGeom prst="roundRect">
            <a:avLst>
              <a:gd name="adj" fmla="val 3750"/>
            </a:avLst>
          </a:prstGeom>
          <a:solidFill>
            <a:srgbClr val="F3F5F8"/>
          </a:solidFill>
          <a:ln/>
        </p:spPr>
      </p:sp>
      <p:sp>
        <p:nvSpPr>
          <p:cNvPr id="57" name="Shape 55"/>
          <p:cNvSpPr/>
          <p:nvPr/>
        </p:nvSpPr>
        <p:spPr>
          <a:xfrm>
            <a:off x="6172200" y="4754880"/>
            <a:ext cx="5577840" cy="365760"/>
          </a:xfrm>
          <a:prstGeom prst="roundRect">
            <a:avLst>
              <a:gd name="adj" fmla="val 15000"/>
            </a:avLst>
          </a:prstGeom>
          <a:solidFill>
            <a:srgbClr val="4C8C6B"/>
          </a:solidFill>
          <a:ln/>
        </p:spPr>
      </p:sp>
      <p:sp>
        <p:nvSpPr>
          <p:cNvPr id="58" name="Text 56"/>
          <p:cNvSpPr txBox="1"/>
          <p:nvPr/>
        </p:nvSpPr>
        <p:spPr>
          <a:xfrm>
            <a:off x="6309360" y="4754880"/>
            <a:ext cx="5303520"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空の遮られ方（機械学習）なら</a:t>
            </a:r>
            <a:endParaRPr lang="en-US" sz="1100" dirty="0"/>
          </a:p>
        </p:txBody>
      </p:sp>
      <p:sp>
        <p:nvSpPr>
          <p:cNvPr id="59" name="Text 57"/>
          <p:cNvSpPr txBox="1"/>
          <p:nvPr/>
        </p:nvSpPr>
        <p:spPr>
          <a:xfrm>
            <a:off x="6309360" y="5184648"/>
            <a:ext cx="5303520" cy="987552"/>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計算した配置はどれでも学習データに加えて、モデルを学習し直せる。格子をそろえなくてよいので、追加学習しやすい。</a:t>
            </a:r>
            <a:endParaRPr lang="en-US" sz="11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37</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計算時間：1回30秒〜1分でも、全組み合わせは現実的でない</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37 / 45</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F6D9C0"/>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8934D"/>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Text 19"/>
          <p:cNvSpPr txBox="1"/>
          <p:nvPr/>
        </p:nvSpPr>
        <p:spPr>
          <a:xfrm>
            <a:off x="457200" y="1554480"/>
            <a:ext cx="109728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全組み合わせをSEBEで事前計算する場合（1配置ずつ連続で実行）</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92840" cy="914400"/>
        </p:xfrm>
        <a:graphic>
          <a:graphicData uri="http://schemas.openxmlformats.org/drawingml/2006/table">
            <a:tbl>
              <a:tblPr/>
              <a:tblGrid>
                <a:gridCol w="2514600"/>
                <a:gridCol w="2286000"/>
                <a:gridCol w="2103120"/>
                <a:gridCol w="2194560"/>
                <a:gridCol w="2194560"/>
              </a:tblGrid>
              <a:tr h="347472">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計算対象</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各方向の条件</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配置数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30秒／配置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1分／配置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47472">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南1棟（各3段階）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4.5分</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9分</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47472">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4棟あり（各3段階）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9⁴＝6,561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約55時間（2.3日）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約109時間（4.6日）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47472">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0〜4棟（各3段階）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なし1＋9＝10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10⁴＝10,000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約83時間（3.5日）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約167時間（6.9日）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47472">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0〜4棟（各4段階）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なし1＋16＝17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17⁴＝83,521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約29日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約58日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47472">
                <a:tc>
                  <a:txBody>
                    <a:bodyPr/>
                    <a:lstStyle/>
                    <a:p>
                      <a:pPr algn="l" indent="0" marL="0">
                        <a:buNone/>
                      </a:pPr>
                      <a:r>
                        <a:rPr lang="en-US" sz="1050" b="1" dirty="0">
                          <a:solidFill>
                            <a:srgbClr val="B04A3F"/>
                          </a:solidFill>
                          <a:latin typeface="Yu Gothic" pitchFamily="34" charset="0"/>
                          <a:ea typeface="Yu Gothic" pitchFamily="34" charset="-122"/>
                          <a:cs typeface="Yu Gothic" pitchFamily="34" charset="-120"/>
                        </a:rPr>
                        <a:t>最終目標17変数（各3段階）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なし1＋27＝28，中央高さ4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04A3F"/>
                          </a:solidFill>
                          <a:latin typeface="Yu Gothic" pitchFamily="34" charset="0"/>
                          <a:ea typeface="Yu Gothic" pitchFamily="34" charset="-122"/>
                          <a:cs typeface="Yu Gothic" pitchFamily="34" charset="-120"/>
                        </a:rPr>
                        <a:t>28⁴×4 ≒ 246万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04A3F"/>
                          </a:solidFill>
                          <a:latin typeface="Yu Gothic" pitchFamily="34" charset="0"/>
                          <a:ea typeface="Yu Gothic" pitchFamily="34" charset="-122"/>
                          <a:cs typeface="Yu Gothic" pitchFamily="34" charset="-120"/>
                        </a:rPr>
                        <a:t>約2.3年</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04A3F"/>
                          </a:solidFill>
                          <a:latin typeface="Yu Gothic" pitchFamily="34" charset="0"/>
                          <a:ea typeface="Yu Gothic" pitchFamily="34" charset="-122"/>
                          <a:cs typeface="Yu Gothic" pitchFamily="34" charset="-120"/>
                        </a:rPr>
                        <a:t>約4.7年</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3" name="Shape 20"/>
          <p:cNvSpPr/>
          <p:nvPr/>
        </p:nvSpPr>
        <p:spPr>
          <a:xfrm>
            <a:off x="457200" y="4279392"/>
            <a:ext cx="6583680" cy="2029968"/>
          </a:xfrm>
          <a:prstGeom prst="roundRect">
            <a:avLst>
              <a:gd name="adj" fmla="val 2703"/>
            </a:avLst>
          </a:prstGeom>
          <a:solidFill>
            <a:srgbClr val="F3F5F8"/>
          </a:solidFill>
          <a:ln/>
        </p:spPr>
      </p:sp>
      <p:sp>
        <p:nvSpPr>
          <p:cNvPr id="24" name="Text 21"/>
          <p:cNvSpPr txBox="1"/>
          <p:nvPr/>
        </p:nvSpPr>
        <p:spPr>
          <a:xfrm>
            <a:off x="594360" y="4315968"/>
            <a:ext cx="6309360" cy="237744"/>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1分／配置のときの計算時間（棒は対数目盛）</a:t>
            </a:r>
            <a:endParaRPr lang="en-US" sz="1050" dirty="0"/>
          </a:p>
        </p:txBody>
      </p:sp>
      <p:sp>
        <p:nvSpPr>
          <p:cNvPr id="25" name="Text 22"/>
          <p:cNvSpPr txBox="1"/>
          <p:nvPr/>
        </p:nvSpPr>
        <p:spPr>
          <a:xfrm>
            <a:off x="594360" y="4590288"/>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南1棟</a:t>
            </a:r>
            <a:endParaRPr lang="en-US" sz="950" dirty="0"/>
          </a:p>
        </p:txBody>
      </p:sp>
      <p:sp>
        <p:nvSpPr>
          <p:cNvPr id="26" name="Shape 23"/>
          <p:cNvSpPr/>
          <p:nvPr/>
        </p:nvSpPr>
        <p:spPr>
          <a:xfrm>
            <a:off x="2011680" y="4654296"/>
            <a:ext cx="600758" cy="182880"/>
          </a:xfrm>
          <a:prstGeom prst="rect">
            <a:avLst/>
          </a:prstGeom>
          <a:solidFill>
            <a:srgbClr val="1F6F78"/>
          </a:solidFill>
          <a:ln/>
        </p:spPr>
      </p:sp>
      <p:sp>
        <p:nvSpPr>
          <p:cNvPr id="27" name="Text 24"/>
          <p:cNvSpPr txBox="1"/>
          <p:nvPr/>
        </p:nvSpPr>
        <p:spPr>
          <a:xfrm>
            <a:off x="2658158" y="4590288"/>
            <a:ext cx="82296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9分</a:t>
            </a:r>
            <a:endParaRPr lang="en-US" sz="950" dirty="0"/>
          </a:p>
        </p:txBody>
      </p:sp>
      <p:sp>
        <p:nvSpPr>
          <p:cNvPr id="28" name="Text 25"/>
          <p:cNvSpPr txBox="1"/>
          <p:nvPr/>
        </p:nvSpPr>
        <p:spPr>
          <a:xfrm>
            <a:off x="594360" y="4919472"/>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4棟あり</a:t>
            </a:r>
            <a:endParaRPr lang="en-US" sz="950" dirty="0"/>
          </a:p>
        </p:txBody>
      </p:sp>
      <p:sp>
        <p:nvSpPr>
          <p:cNvPr id="29" name="Shape 26"/>
          <p:cNvSpPr/>
          <p:nvPr/>
        </p:nvSpPr>
        <p:spPr>
          <a:xfrm>
            <a:off x="2011680" y="4983480"/>
            <a:ext cx="2403033" cy="182880"/>
          </a:xfrm>
          <a:prstGeom prst="rect">
            <a:avLst/>
          </a:prstGeom>
          <a:solidFill>
            <a:srgbClr val="E8934D"/>
          </a:solidFill>
          <a:ln/>
        </p:spPr>
      </p:sp>
      <p:sp>
        <p:nvSpPr>
          <p:cNvPr id="30" name="Text 27"/>
          <p:cNvSpPr txBox="1"/>
          <p:nvPr/>
        </p:nvSpPr>
        <p:spPr>
          <a:xfrm>
            <a:off x="4460433" y="4919472"/>
            <a:ext cx="82296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4.6日</a:t>
            </a:r>
            <a:endParaRPr lang="en-US" sz="950" dirty="0"/>
          </a:p>
        </p:txBody>
      </p:sp>
      <p:sp>
        <p:nvSpPr>
          <p:cNvPr id="31" name="Text 28"/>
          <p:cNvSpPr txBox="1"/>
          <p:nvPr/>
        </p:nvSpPr>
        <p:spPr>
          <a:xfrm>
            <a:off x="594360" y="5248656"/>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0〜4棟 3段階</a:t>
            </a:r>
            <a:endParaRPr lang="en-US" sz="950" dirty="0"/>
          </a:p>
        </p:txBody>
      </p:sp>
      <p:sp>
        <p:nvSpPr>
          <p:cNvPr id="32" name="Shape 29"/>
          <p:cNvSpPr/>
          <p:nvPr/>
        </p:nvSpPr>
        <p:spPr>
          <a:xfrm>
            <a:off x="2011680" y="5312664"/>
            <a:ext cx="2518262" cy="182880"/>
          </a:xfrm>
          <a:prstGeom prst="rect">
            <a:avLst/>
          </a:prstGeom>
          <a:solidFill>
            <a:srgbClr val="E8934D"/>
          </a:solidFill>
          <a:ln/>
        </p:spPr>
      </p:sp>
      <p:sp>
        <p:nvSpPr>
          <p:cNvPr id="33" name="Text 30"/>
          <p:cNvSpPr txBox="1"/>
          <p:nvPr/>
        </p:nvSpPr>
        <p:spPr>
          <a:xfrm>
            <a:off x="4575662" y="5248656"/>
            <a:ext cx="82296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6.9日</a:t>
            </a:r>
            <a:endParaRPr lang="en-US" sz="950" dirty="0"/>
          </a:p>
        </p:txBody>
      </p:sp>
      <p:sp>
        <p:nvSpPr>
          <p:cNvPr id="34" name="Text 31"/>
          <p:cNvSpPr txBox="1"/>
          <p:nvPr/>
        </p:nvSpPr>
        <p:spPr>
          <a:xfrm>
            <a:off x="594360" y="5577840"/>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0〜4棟 4段階</a:t>
            </a:r>
            <a:endParaRPr lang="en-US" sz="950" dirty="0"/>
          </a:p>
        </p:txBody>
      </p:sp>
      <p:sp>
        <p:nvSpPr>
          <p:cNvPr id="35" name="Shape 32"/>
          <p:cNvSpPr/>
          <p:nvPr/>
        </p:nvSpPr>
        <p:spPr>
          <a:xfrm>
            <a:off x="2011680" y="5641848"/>
            <a:ext cx="3098593" cy="182880"/>
          </a:xfrm>
          <a:prstGeom prst="rect">
            <a:avLst/>
          </a:prstGeom>
          <a:solidFill>
            <a:srgbClr val="E8934D"/>
          </a:solidFill>
          <a:ln/>
        </p:spPr>
      </p:sp>
      <p:sp>
        <p:nvSpPr>
          <p:cNvPr id="36" name="Text 33"/>
          <p:cNvSpPr txBox="1"/>
          <p:nvPr/>
        </p:nvSpPr>
        <p:spPr>
          <a:xfrm>
            <a:off x="5155993" y="5577840"/>
            <a:ext cx="82296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58日</a:t>
            </a:r>
            <a:endParaRPr lang="en-US" sz="950" dirty="0"/>
          </a:p>
        </p:txBody>
      </p:sp>
      <p:sp>
        <p:nvSpPr>
          <p:cNvPr id="37" name="Text 34"/>
          <p:cNvSpPr txBox="1"/>
          <p:nvPr/>
        </p:nvSpPr>
        <p:spPr>
          <a:xfrm>
            <a:off x="594360" y="5907024"/>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17変数</a:t>
            </a:r>
            <a:endParaRPr lang="en-US" sz="950" dirty="0"/>
          </a:p>
        </p:txBody>
      </p:sp>
      <p:sp>
        <p:nvSpPr>
          <p:cNvPr id="38" name="Shape 35"/>
          <p:cNvSpPr/>
          <p:nvPr/>
        </p:nvSpPr>
        <p:spPr>
          <a:xfrm>
            <a:off x="2011680" y="5971032"/>
            <a:ext cx="4023360" cy="182880"/>
          </a:xfrm>
          <a:prstGeom prst="rect">
            <a:avLst/>
          </a:prstGeom>
          <a:solidFill>
            <a:srgbClr val="B04A3F"/>
          </a:solidFill>
          <a:ln/>
        </p:spPr>
      </p:sp>
      <p:sp>
        <p:nvSpPr>
          <p:cNvPr id="39" name="Text 36"/>
          <p:cNvSpPr txBox="1"/>
          <p:nvPr/>
        </p:nvSpPr>
        <p:spPr>
          <a:xfrm>
            <a:off x="6080760" y="5907024"/>
            <a:ext cx="822960" cy="292608"/>
          </a:xfrm>
          <a:prstGeom prst="rect">
            <a:avLst/>
          </a:prstGeom>
          <a:noFill/>
          <a:ln/>
        </p:spPr>
        <p:txBody>
          <a:bodyPr wrap="square" lIns="508" tIns="508" rIns="508" bIns="508" rtlCol="0" anchor="ctr"/>
          <a:lstStyle/>
          <a:p>
            <a:pPr indent="0" marL="0">
              <a:buNone/>
            </a:pPr>
            <a:r>
              <a:rPr lang="en-US" sz="950" b="1" dirty="0">
                <a:solidFill>
                  <a:srgbClr val="B04A3F"/>
                </a:solidFill>
                <a:latin typeface="Yu Gothic" pitchFamily="34" charset="0"/>
                <a:ea typeface="Yu Gothic" pitchFamily="34" charset="-122"/>
                <a:cs typeface="Yu Gothic" pitchFamily="34" charset="-120"/>
              </a:rPr>
              <a:t>4.7年</a:t>
            </a:r>
            <a:endParaRPr lang="en-US" sz="950" dirty="0"/>
          </a:p>
        </p:txBody>
      </p:sp>
      <p:sp>
        <p:nvSpPr>
          <p:cNvPr id="40" name="Shape 37"/>
          <p:cNvSpPr/>
          <p:nvPr/>
        </p:nvSpPr>
        <p:spPr>
          <a:xfrm>
            <a:off x="7269480" y="4279392"/>
            <a:ext cx="4480560" cy="2029968"/>
          </a:xfrm>
          <a:prstGeom prst="roundRect">
            <a:avLst>
              <a:gd name="adj" fmla="val 2703"/>
            </a:avLst>
          </a:prstGeom>
          <a:solidFill>
            <a:srgbClr val="1B2A44"/>
          </a:solidFill>
          <a:ln/>
        </p:spPr>
      </p:sp>
      <p:sp>
        <p:nvSpPr>
          <p:cNvPr id="41" name="Text 38"/>
          <p:cNvSpPr txBox="1"/>
          <p:nvPr/>
        </p:nvSpPr>
        <p:spPr>
          <a:xfrm>
            <a:off x="7452360" y="4315968"/>
            <a:ext cx="41148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読み取れること</a:t>
            </a:r>
            <a:endParaRPr lang="en-US" sz="1100" dirty="0"/>
          </a:p>
        </p:txBody>
      </p:sp>
      <p:sp>
        <p:nvSpPr>
          <p:cNvPr id="42" name="Text 39"/>
          <p:cNvSpPr txBox="1"/>
          <p:nvPr/>
        </p:nvSpPr>
        <p:spPr>
          <a:xfrm>
            <a:off x="7452360" y="4590288"/>
            <a:ext cx="4160520" cy="1664208"/>
          </a:xfrm>
          <a:prstGeom prst="rect">
            <a:avLst/>
          </a:prstGeom>
          <a:noFill/>
          <a:ln/>
        </p:spPr>
        <p:txBody>
          <a:bodyPr wrap="square" lIns="508" tIns="508" rIns="508" bIns="508" rtlCol="0" anchor="t"/>
          <a:lstStyle/>
          <a:p>
            <a:pPr marL="152400" indent="-152400">
              <a:spcAft>
                <a:spcPts val="300"/>
              </a:spcAft>
              <a:buSzPct val="100000"/>
              <a:buChar char="•"/>
            </a:pPr>
            <a:r>
              <a:rPr lang="en-US" sz="1000" dirty="0">
                <a:solidFill>
                  <a:srgbClr val="FFFFFF"/>
                </a:solidFill>
                <a:latin typeface="Yu Gothic" pitchFamily="34" charset="0"/>
                <a:ea typeface="Yu Gothic" pitchFamily="34" charset="-122"/>
                <a:cs typeface="Yu Gothic" pitchFamily="34" charset="-120"/>
              </a:rPr>
              <a:t>4方向版だけでも、全組み合わせに数日〜約2か月かかる</a:t>
            </a:r>
            <a:endParaRPr lang="en-US" sz="1000" dirty="0"/>
          </a:p>
          <a:p>
            <a:pPr marL="152400" indent="-152400">
              <a:spcAft>
                <a:spcPts val="300"/>
              </a:spcAft>
              <a:buSzPct val="100000"/>
              <a:buChar char="•"/>
            </a:pPr>
            <a:r>
              <a:rPr lang="en-US" sz="1000" dirty="0">
                <a:solidFill>
                  <a:srgbClr val="FFFFFF"/>
                </a:solidFill>
                <a:latin typeface="Yu Gothic" pitchFamily="34" charset="0"/>
                <a:ea typeface="Yu Gothic" pitchFamily="34" charset="-122"/>
                <a:cs typeface="Yu Gothic" pitchFamily="34" charset="-120"/>
              </a:rPr>
              <a:t>17変数では数年 → この方式ではツールが作れない</a:t>
            </a:r>
            <a:endParaRPr lang="en-US" sz="1000" dirty="0"/>
          </a:p>
          <a:p>
            <a:pPr marL="152400" indent="-152400">
              <a:spcAft>
                <a:spcPts val="300"/>
              </a:spcAft>
              <a:buSzPct val="100000"/>
              <a:buChar char="•"/>
            </a:pPr>
            <a:r>
              <a:rPr lang="en-US" sz="1000" dirty="0">
                <a:solidFill>
                  <a:srgbClr val="FFFFFF"/>
                </a:solidFill>
                <a:latin typeface="Yu Gothic" pitchFamily="34" charset="0"/>
                <a:ea typeface="Yu Gothic" pitchFamily="34" charset="-122"/>
                <a:cs typeface="Yu Gothic" pitchFamily="34" charset="-120"/>
              </a:rPr>
              <a:t>これに入力作成・保存・再計算・検証用の配置が加わる</a:t>
            </a:r>
            <a:endParaRPr lang="en-US" sz="1000" dirty="0"/>
          </a:p>
          <a:p>
            <a:pPr marL="152400" indent="-152400">
              <a:spcAft>
                <a:spcPts val="300"/>
              </a:spcAft>
              <a:buSzPct val="100000"/>
              <a:buChar char="•"/>
            </a:pPr>
            <a:r>
              <a:rPr lang="en-US" sz="1000" dirty="0">
                <a:solidFill>
                  <a:srgbClr val="FFFFFF"/>
                </a:solidFill>
                <a:latin typeface="Yu Gothic" pitchFamily="34" charset="0"/>
                <a:ea typeface="Yu Gothic" pitchFamily="34" charset="-122"/>
                <a:cs typeface="Yu Gothic" pitchFamily="34" charset="-120"/>
              </a:rPr>
              <a:t>格子がそろえば点を探すのは簡単。問題は、そろえるための計算時間とデータ量</a:t>
            </a:r>
            <a:endParaRPr lang="en-US" sz="1000" dirty="0"/>
          </a:p>
        </p:txBody>
      </p:sp>
      <p:sp>
        <p:nvSpPr>
          <p:cNvPr id="43" name="Text 40"/>
          <p:cNvSpPr txBox="1"/>
          <p:nvPr/>
        </p:nvSpPr>
        <p:spPr>
          <a:xfrm>
            <a:off x="457200" y="4005072"/>
            <a:ext cx="11292840" cy="219456"/>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17変数の行：各建物「なし＋高さ3×距離3×方位3＝28通り」の4棟分 × 中央高さ4通り。方位3段階は粗すぎるので、実際はさらに多い</a:t>
            </a:r>
            <a:endParaRPr lang="en-US" sz="9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38</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4方向で6,561通り → 17変数では別の学習方法が必要</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38 / 45</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F6D9C0"/>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F6D9C0"/>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8934D"/>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⑥ 17変数は別の方法</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6675120" cy="914400"/>
        </p:xfrm>
        <a:graphic>
          <a:graphicData uri="http://schemas.openxmlformats.org/drawingml/2006/table">
            <a:tbl>
              <a:tblPr/>
              <a:tblGrid>
                <a:gridCol w="1828800"/>
                <a:gridCol w="1280160"/>
                <a:gridCol w="1463040"/>
                <a:gridCol w="2103120"/>
              </a:tblGrid>
              <a:tr h="365760">
                <a:tc>
                  <a:txBody>
                    <a:bodyPr/>
                    <a:lstStyle/>
                    <a:p>
                      <a:pPr algn="l"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南1棟（完成）</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4方向版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最終目標（17変数）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補間する連続変数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2（A, D）</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8（A, D × 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13（中央高さ＋A, D, θ × 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有無の組み合わせ</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2⁴＝16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2⁴＝16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必要な配置（各3段階）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10,000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約246万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1回の予測で使う頂点</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2²＝4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2⁸＝256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2¹³＝8,192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SEBEの計算時間</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数分</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約3.5〜7日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約2.3〜4.7年</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判定</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4C8C6B"/>
                          </a:solidFill>
                          <a:latin typeface="Yu Gothic" pitchFamily="34" charset="0"/>
                          <a:ea typeface="Yu Gothic" pitchFamily="34" charset="-122"/>
                          <a:cs typeface="Yu Gothic" pitchFamily="34" charset="-120"/>
                        </a:rPr>
                        <a:t>○ 作れた</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 負担が大きい</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B04A3F"/>
                          </a:solidFill>
                          <a:latin typeface="Yu Gothic" pitchFamily="34" charset="0"/>
                          <a:ea typeface="Yu Gothic" pitchFamily="34" charset="-122"/>
                          <a:cs typeface="Yu Gothic" pitchFamily="34" charset="-120"/>
                        </a:rPr>
                        <a:t>× 成立しない</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22" name="Shape 19"/>
          <p:cNvSpPr/>
          <p:nvPr/>
        </p:nvSpPr>
        <p:spPr>
          <a:xfrm>
            <a:off x="457200" y="4297680"/>
            <a:ext cx="6675120" cy="2011680"/>
          </a:xfrm>
          <a:prstGeom prst="roundRect">
            <a:avLst>
              <a:gd name="adj" fmla="val 2727"/>
            </a:avLst>
          </a:prstGeom>
          <a:solidFill>
            <a:srgbClr val="FBEBDA"/>
          </a:solidFill>
          <a:ln/>
        </p:spPr>
      </p:sp>
      <p:sp>
        <p:nvSpPr>
          <p:cNvPr id="23" name="Text 20"/>
          <p:cNvSpPr txBox="1"/>
          <p:nvPr/>
        </p:nvSpPr>
        <p:spPr>
          <a:xfrm>
            <a:off x="594360" y="4352544"/>
            <a:ext cx="640080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線形補間（全組み合わせを表にする方式）の限界</a:t>
            </a:r>
            <a:endParaRPr lang="en-US" sz="1100" dirty="0"/>
          </a:p>
        </p:txBody>
      </p:sp>
      <p:sp>
        <p:nvSpPr>
          <p:cNvPr id="24" name="Text 21"/>
          <p:cNvSpPr txBox="1"/>
          <p:nvPr/>
        </p:nvSpPr>
        <p:spPr>
          <a:xfrm>
            <a:off x="594360" y="4663440"/>
            <a:ext cx="6400800" cy="1600200"/>
          </a:xfrm>
          <a:prstGeom prst="rect">
            <a:avLst/>
          </a:prstGeom>
          <a:noFill/>
          <a:ln/>
        </p:spPr>
        <p:txBody>
          <a:bodyPr wrap="square" lIns="508" tIns="508" rIns="508" bIns="508" rtlCol="0" anchor="t"/>
          <a:lstStyle/>
          <a:p>
            <a:pPr marL="152400" indent="-152400">
              <a:spcAft>
                <a:spcPts val="500"/>
              </a:spcAft>
              <a:buSzPct val="100000"/>
              <a:buChar char="•"/>
            </a:pPr>
            <a:r>
              <a:rPr lang="en-US" sz="1100" dirty="0">
                <a:solidFill>
                  <a:srgbClr val="333F4E"/>
                </a:solidFill>
                <a:latin typeface="Yu Gothic" pitchFamily="34" charset="0"/>
                <a:ea typeface="Yu Gothic" pitchFamily="34" charset="-122"/>
                <a:cs typeface="Yu Gothic" pitchFamily="34" charset="-120"/>
              </a:rPr>
              <a:t>変数が1つ増えるごとに、必要な配置が3倍以上に増える</a:t>
            </a:r>
            <a:endParaRPr lang="en-US" sz="1100" dirty="0"/>
          </a:p>
          <a:p>
            <a:pPr marL="152400" indent="-152400">
              <a:spcAft>
                <a:spcPts val="500"/>
              </a:spcAft>
              <a:buSzPct val="100000"/>
              <a:buChar char="•"/>
            </a:pPr>
            <a:r>
              <a:rPr lang="en-US" sz="1100" dirty="0">
                <a:solidFill>
                  <a:srgbClr val="333F4E"/>
                </a:solidFill>
                <a:latin typeface="Yu Gothic" pitchFamily="34" charset="0"/>
                <a:ea typeface="Yu Gothic" pitchFamily="34" charset="-122"/>
                <a:cs typeface="Yu Gothic" pitchFamily="34" charset="-120"/>
              </a:rPr>
              <a:t>表の点が1つでも欠けると、その周りでは補間できない</a:t>
            </a:r>
            <a:endParaRPr lang="en-US" sz="1100" dirty="0"/>
          </a:p>
          <a:p>
            <a:pPr marL="152400" indent="-152400">
              <a:spcAft>
                <a:spcPts val="500"/>
              </a:spcAft>
              <a:buSzPct val="100000"/>
              <a:buChar char="•"/>
            </a:pPr>
            <a:r>
              <a:rPr lang="en-US" sz="1100" dirty="0">
                <a:solidFill>
                  <a:srgbClr val="333F4E"/>
                </a:solidFill>
                <a:latin typeface="Yu Gothic" pitchFamily="34" charset="0"/>
                <a:ea typeface="Yu Gothic" pitchFamily="34" charset="-122"/>
                <a:cs typeface="Yu Gothic" pitchFamily="34" charset="-120"/>
              </a:rPr>
              <a:t>方位 θ や中央の高さは「格子の間」が広いと精度が落ちるので、段階を増やすとさらに急増する</a:t>
            </a:r>
            <a:endParaRPr lang="en-US" sz="1100" dirty="0"/>
          </a:p>
          <a:p>
            <a:pPr marL="152400" indent="-152400">
              <a:spcAft>
                <a:spcPts val="500"/>
              </a:spcAft>
              <a:buSzPct val="100000"/>
              <a:buChar char="•"/>
            </a:pPr>
            <a:r>
              <a:rPr lang="en-US" sz="1100" dirty="0">
                <a:solidFill>
                  <a:srgbClr val="333F4E"/>
                </a:solidFill>
                <a:latin typeface="Yu Gothic" pitchFamily="34" charset="0"/>
                <a:ea typeface="Yu Gothic" pitchFamily="34" charset="-122"/>
                <a:cs typeface="Yu Gothic" pitchFamily="34" charset="-120"/>
              </a:rPr>
              <a:t>数学的には使えるが、研究期間と計算資源の中では、17変数のツールは作れない</a:t>
            </a:r>
            <a:endParaRPr lang="en-US" sz="1100" dirty="0"/>
          </a:p>
        </p:txBody>
      </p:sp>
      <p:sp>
        <p:nvSpPr>
          <p:cNvPr id="25" name="Shape 22"/>
          <p:cNvSpPr/>
          <p:nvPr/>
        </p:nvSpPr>
        <p:spPr>
          <a:xfrm>
            <a:off x="7360920" y="1554480"/>
            <a:ext cx="4389120" cy="4754880"/>
          </a:xfrm>
          <a:prstGeom prst="roundRect">
            <a:avLst>
              <a:gd name="adj" fmla="val 1250"/>
            </a:avLst>
          </a:prstGeom>
          <a:solidFill>
            <a:srgbClr val="1B2A44"/>
          </a:solidFill>
          <a:ln/>
        </p:spPr>
      </p:sp>
      <p:sp>
        <p:nvSpPr>
          <p:cNvPr id="26" name="Text 23"/>
          <p:cNvSpPr txBox="1"/>
          <p:nvPr/>
        </p:nvSpPr>
        <p:spPr>
          <a:xfrm>
            <a:off x="7543800" y="1627632"/>
            <a:ext cx="4023360" cy="457200"/>
          </a:xfrm>
          <a:prstGeom prst="rect">
            <a:avLst/>
          </a:prstGeom>
          <a:noFill/>
          <a:ln/>
        </p:spPr>
        <p:txBody>
          <a:bodyPr wrap="square" lIns="508" tIns="508" rIns="508" bIns="508" rtlCol="0" anchor="t"/>
          <a:lstStyle/>
          <a:p>
            <a:pPr indent="0" marL="0">
              <a:buNone/>
            </a:pPr>
            <a:r>
              <a:rPr lang="en-US" sz="1200" b="1" dirty="0">
                <a:solidFill>
                  <a:srgbClr val="E8934D"/>
                </a:solidFill>
                <a:latin typeface="Yu Gothic" pitchFamily="34" charset="0"/>
                <a:ea typeface="Yu Gothic" pitchFamily="34" charset="-122"/>
                <a:cs typeface="Yu Gothic" pitchFamily="34" charset="-120"/>
              </a:rPr>
              <a:t>そこで：空の遮られ方を使う学習方法へ</a:t>
            </a:r>
            <a:endParaRPr lang="en-US" sz="1200" dirty="0"/>
          </a:p>
        </p:txBody>
      </p:sp>
      <p:sp>
        <p:nvSpPr>
          <p:cNvPr id="27" name="Shape 24"/>
          <p:cNvSpPr/>
          <p:nvPr/>
        </p:nvSpPr>
        <p:spPr>
          <a:xfrm>
            <a:off x="7543800" y="2194560"/>
            <a:ext cx="4023360" cy="621792"/>
          </a:xfrm>
          <a:prstGeom prst="roundRect">
            <a:avLst>
              <a:gd name="adj" fmla="val 7353"/>
            </a:avLst>
          </a:prstGeom>
          <a:solidFill>
            <a:srgbClr val="35507D"/>
          </a:solidFill>
          <a:ln/>
        </p:spPr>
      </p:sp>
      <p:sp>
        <p:nvSpPr>
          <p:cNvPr id="28" name="Text 25"/>
          <p:cNvSpPr txBox="1"/>
          <p:nvPr/>
        </p:nvSpPr>
        <p:spPr>
          <a:xfrm>
            <a:off x="7635240" y="2221992"/>
            <a:ext cx="384048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建物の配置</a:t>
            </a:r>
            <a:endParaRPr lang="en-US" sz="1100" dirty="0"/>
          </a:p>
        </p:txBody>
      </p:sp>
      <p:sp>
        <p:nvSpPr>
          <p:cNvPr id="29" name="Text 26"/>
          <p:cNvSpPr txBox="1"/>
          <p:nvPr/>
        </p:nvSpPr>
        <p:spPr>
          <a:xfrm>
            <a:off x="7635240" y="2487168"/>
            <a:ext cx="3840480" cy="292608"/>
          </a:xfrm>
          <a:prstGeom prst="rect">
            <a:avLst/>
          </a:prstGeom>
          <a:noFill/>
          <a:ln/>
        </p:spPr>
        <p:txBody>
          <a:bodyPr wrap="square" lIns="508" tIns="508" rIns="508" bIns="508" rtlCol="0" anchor="t"/>
          <a:lstStyle/>
          <a:p>
            <a:pPr indent="0" marL="0">
              <a:buNone/>
            </a:pPr>
            <a:r>
              <a:rPr lang="en-US" sz="950" dirty="0">
                <a:solidFill>
                  <a:srgbClr val="E1E8F2"/>
                </a:solidFill>
                <a:latin typeface="Yu Gothic" pitchFamily="34" charset="0"/>
                <a:ea typeface="Yu Gothic" pitchFamily="34" charset="-122"/>
                <a:cs typeface="Yu Gothic" pitchFamily="34" charset="-120"/>
              </a:rPr>
              <a:t>棟数・方位・高さがばらばら（変数17個）</a:t>
            </a:r>
            <a:endParaRPr lang="en-US" sz="950" dirty="0"/>
          </a:p>
        </p:txBody>
      </p:sp>
      <p:sp>
        <p:nvSpPr>
          <p:cNvPr id="30" name="Text 27"/>
          <p:cNvSpPr txBox="1"/>
          <p:nvPr/>
        </p:nvSpPr>
        <p:spPr>
          <a:xfrm>
            <a:off x="9372600" y="2798064"/>
            <a:ext cx="365760" cy="182880"/>
          </a:xfrm>
          <a:prstGeom prst="rect">
            <a:avLst/>
          </a:prstGeom>
          <a:noFill/>
          <a:ln/>
        </p:spPr>
        <p:txBody>
          <a:bodyPr wrap="square" lIns="0" tIns="0" rIns="0" bIns="0" rtlCol="0" anchor="t"/>
          <a:lstStyle/>
          <a:p>
            <a:pPr algn="ctr" indent="0" marL="0">
              <a:buNone/>
            </a:pPr>
            <a:r>
              <a:rPr lang="en-US" sz="850" dirty="0">
                <a:solidFill>
                  <a:srgbClr val="E8934D"/>
                </a:solidFill>
                <a:latin typeface="Yu Gothic" pitchFamily="34" charset="0"/>
                <a:ea typeface="Yu Gothic" pitchFamily="34" charset="-122"/>
                <a:cs typeface="Yu Gothic" pitchFamily="34" charset="-120"/>
              </a:rPr>
              <a:t>▼</a:t>
            </a:r>
            <a:endParaRPr lang="en-US" sz="850" dirty="0"/>
          </a:p>
        </p:txBody>
      </p:sp>
      <p:sp>
        <p:nvSpPr>
          <p:cNvPr id="31" name="Shape 28"/>
          <p:cNvSpPr/>
          <p:nvPr/>
        </p:nvSpPr>
        <p:spPr>
          <a:xfrm>
            <a:off x="7543800" y="2980944"/>
            <a:ext cx="4023360" cy="621792"/>
          </a:xfrm>
          <a:prstGeom prst="roundRect">
            <a:avLst>
              <a:gd name="adj" fmla="val 7353"/>
            </a:avLst>
          </a:prstGeom>
          <a:solidFill>
            <a:srgbClr val="1F6F78"/>
          </a:solidFill>
          <a:ln/>
        </p:spPr>
      </p:sp>
      <p:sp>
        <p:nvSpPr>
          <p:cNvPr id="32" name="Text 29"/>
          <p:cNvSpPr txBox="1"/>
          <p:nvPr/>
        </p:nvSpPr>
        <p:spPr>
          <a:xfrm>
            <a:off x="7635240" y="3008376"/>
            <a:ext cx="384048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空の地図に変換</a:t>
            </a:r>
            <a:endParaRPr lang="en-US" sz="1100" dirty="0"/>
          </a:p>
        </p:txBody>
      </p:sp>
      <p:sp>
        <p:nvSpPr>
          <p:cNvPr id="33" name="Text 30"/>
          <p:cNvSpPr txBox="1"/>
          <p:nvPr/>
        </p:nvSpPr>
        <p:spPr>
          <a:xfrm>
            <a:off x="7635240" y="3273552"/>
            <a:ext cx="3840480" cy="292608"/>
          </a:xfrm>
          <a:prstGeom prst="rect">
            <a:avLst/>
          </a:prstGeom>
          <a:noFill/>
          <a:ln/>
        </p:spPr>
        <p:txBody>
          <a:bodyPr wrap="square" lIns="508" tIns="508" rIns="508" bIns="508" rtlCol="0" anchor="t"/>
          <a:lstStyle/>
          <a:p>
            <a:pPr indent="0" marL="0">
              <a:buNone/>
            </a:pPr>
            <a:r>
              <a:rPr lang="en-US" sz="950" dirty="0">
                <a:solidFill>
                  <a:srgbClr val="E1E8F2"/>
                </a:solidFill>
                <a:latin typeface="Yu Gothic" pitchFamily="34" charset="0"/>
                <a:ea typeface="Yu Gothic" pitchFamily="34" charset="-122"/>
                <a:cs typeface="Yu Gothic" pitchFamily="34" charset="-120"/>
              </a:rPr>
              <a:t>壁の点から見て、どの方向の空がふさがれているか</a:t>
            </a:r>
            <a:endParaRPr lang="en-US" sz="950" dirty="0"/>
          </a:p>
        </p:txBody>
      </p:sp>
      <p:sp>
        <p:nvSpPr>
          <p:cNvPr id="34" name="Text 31"/>
          <p:cNvSpPr txBox="1"/>
          <p:nvPr/>
        </p:nvSpPr>
        <p:spPr>
          <a:xfrm>
            <a:off x="9372600" y="3584448"/>
            <a:ext cx="365760" cy="182880"/>
          </a:xfrm>
          <a:prstGeom prst="rect">
            <a:avLst/>
          </a:prstGeom>
          <a:noFill/>
          <a:ln/>
        </p:spPr>
        <p:txBody>
          <a:bodyPr wrap="square" lIns="0" tIns="0" rIns="0" bIns="0" rtlCol="0" anchor="t"/>
          <a:lstStyle/>
          <a:p>
            <a:pPr algn="ctr" indent="0" marL="0">
              <a:buNone/>
            </a:pPr>
            <a:r>
              <a:rPr lang="en-US" sz="850" dirty="0">
                <a:solidFill>
                  <a:srgbClr val="E8934D"/>
                </a:solidFill>
                <a:latin typeface="Yu Gothic" pitchFamily="34" charset="0"/>
                <a:ea typeface="Yu Gothic" pitchFamily="34" charset="-122"/>
                <a:cs typeface="Yu Gothic" pitchFamily="34" charset="-120"/>
              </a:rPr>
              <a:t>▼</a:t>
            </a:r>
            <a:endParaRPr lang="en-US" sz="850" dirty="0"/>
          </a:p>
        </p:txBody>
      </p:sp>
      <p:sp>
        <p:nvSpPr>
          <p:cNvPr id="35" name="Shape 32"/>
          <p:cNvSpPr/>
          <p:nvPr/>
        </p:nvSpPr>
        <p:spPr>
          <a:xfrm>
            <a:off x="7543800" y="3767328"/>
            <a:ext cx="4023360" cy="621792"/>
          </a:xfrm>
          <a:prstGeom prst="roundRect">
            <a:avLst>
              <a:gd name="adj" fmla="val 7353"/>
            </a:avLst>
          </a:prstGeom>
          <a:solidFill>
            <a:srgbClr val="35507D"/>
          </a:solidFill>
          <a:ln/>
        </p:spPr>
      </p:sp>
      <p:sp>
        <p:nvSpPr>
          <p:cNvPr id="36" name="Text 33"/>
          <p:cNvSpPr txBox="1"/>
          <p:nvPr/>
        </p:nvSpPr>
        <p:spPr>
          <a:xfrm>
            <a:off x="7635240" y="3794760"/>
            <a:ext cx="384048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同じ大きさの入力</a:t>
            </a:r>
            <a:endParaRPr lang="en-US" sz="1100" dirty="0"/>
          </a:p>
        </p:txBody>
      </p:sp>
      <p:sp>
        <p:nvSpPr>
          <p:cNvPr id="37" name="Text 34"/>
          <p:cNvSpPr txBox="1"/>
          <p:nvPr/>
        </p:nvSpPr>
        <p:spPr>
          <a:xfrm>
            <a:off x="7635240" y="4059936"/>
            <a:ext cx="3840480" cy="292608"/>
          </a:xfrm>
          <a:prstGeom prst="rect">
            <a:avLst/>
          </a:prstGeom>
          <a:noFill/>
          <a:ln/>
        </p:spPr>
        <p:txBody>
          <a:bodyPr wrap="square" lIns="508" tIns="508" rIns="508" bIns="508" rtlCol="0" anchor="t"/>
          <a:lstStyle/>
          <a:p>
            <a:pPr indent="0" marL="0">
              <a:buNone/>
            </a:pPr>
            <a:r>
              <a:rPr lang="en-US" sz="950" dirty="0">
                <a:solidFill>
                  <a:srgbClr val="E1E8F2"/>
                </a:solidFill>
                <a:latin typeface="Yu Gothic" pitchFamily="34" charset="0"/>
                <a:ea typeface="Yu Gothic" pitchFamily="34" charset="-122"/>
                <a:cs typeface="Yu Gothic" pitchFamily="34" charset="-120"/>
              </a:rPr>
              <a:t>どんな配置でも、例えば72マスの地図になる</a:t>
            </a:r>
            <a:endParaRPr lang="en-US" sz="950" dirty="0"/>
          </a:p>
        </p:txBody>
      </p:sp>
      <p:sp>
        <p:nvSpPr>
          <p:cNvPr id="38" name="Text 35"/>
          <p:cNvSpPr txBox="1"/>
          <p:nvPr/>
        </p:nvSpPr>
        <p:spPr>
          <a:xfrm>
            <a:off x="9372600" y="4370832"/>
            <a:ext cx="365760" cy="182880"/>
          </a:xfrm>
          <a:prstGeom prst="rect">
            <a:avLst/>
          </a:prstGeom>
          <a:noFill/>
          <a:ln/>
        </p:spPr>
        <p:txBody>
          <a:bodyPr wrap="square" lIns="0" tIns="0" rIns="0" bIns="0" rtlCol="0" anchor="t"/>
          <a:lstStyle/>
          <a:p>
            <a:pPr algn="ctr" indent="0" marL="0">
              <a:buNone/>
            </a:pPr>
            <a:r>
              <a:rPr lang="en-US" sz="850" dirty="0">
                <a:solidFill>
                  <a:srgbClr val="E8934D"/>
                </a:solidFill>
                <a:latin typeface="Yu Gothic" pitchFamily="34" charset="0"/>
                <a:ea typeface="Yu Gothic" pitchFamily="34" charset="-122"/>
                <a:cs typeface="Yu Gothic" pitchFamily="34" charset="-120"/>
              </a:rPr>
              <a:t>▼</a:t>
            </a:r>
            <a:endParaRPr lang="en-US" sz="850" dirty="0"/>
          </a:p>
        </p:txBody>
      </p:sp>
      <p:sp>
        <p:nvSpPr>
          <p:cNvPr id="39" name="Shape 36"/>
          <p:cNvSpPr/>
          <p:nvPr/>
        </p:nvSpPr>
        <p:spPr>
          <a:xfrm>
            <a:off x="7543800" y="4553712"/>
            <a:ext cx="4023360" cy="621792"/>
          </a:xfrm>
          <a:prstGeom prst="roundRect">
            <a:avLst>
              <a:gd name="adj" fmla="val 7353"/>
            </a:avLst>
          </a:prstGeom>
          <a:solidFill>
            <a:srgbClr val="35507D"/>
          </a:solidFill>
          <a:ln/>
        </p:spPr>
      </p:sp>
      <p:sp>
        <p:nvSpPr>
          <p:cNvPr id="40" name="Text 37"/>
          <p:cNvSpPr txBox="1"/>
          <p:nvPr/>
        </p:nvSpPr>
        <p:spPr>
          <a:xfrm>
            <a:off x="7635240" y="4581144"/>
            <a:ext cx="384048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機械学習で予測</a:t>
            </a:r>
            <a:endParaRPr lang="en-US" sz="1100" dirty="0"/>
          </a:p>
        </p:txBody>
      </p:sp>
      <p:sp>
        <p:nvSpPr>
          <p:cNvPr id="41" name="Text 38"/>
          <p:cNvSpPr txBox="1"/>
          <p:nvPr/>
        </p:nvSpPr>
        <p:spPr>
          <a:xfrm>
            <a:off x="7635240" y="4846320"/>
            <a:ext cx="3840480" cy="292608"/>
          </a:xfrm>
          <a:prstGeom prst="rect">
            <a:avLst/>
          </a:prstGeom>
          <a:noFill/>
          <a:ln/>
        </p:spPr>
        <p:txBody>
          <a:bodyPr wrap="square" lIns="508" tIns="508" rIns="508" bIns="508" rtlCol="0" anchor="t"/>
          <a:lstStyle/>
          <a:p>
            <a:pPr indent="0" marL="0">
              <a:buNone/>
            </a:pPr>
            <a:r>
              <a:rPr lang="en-US" sz="950" dirty="0">
                <a:solidFill>
                  <a:srgbClr val="E1E8F2"/>
                </a:solidFill>
                <a:latin typeface="Yu Gothic" pitchFamily="34" charset="0"/>
                <a:ea typeface="Yu Gothic" pitchFamily="34" charset="-122"/>
                <a:cs typeface="Yu Gothic" pitchFamily="34" charset="-120"/>
              </a:rPr>
              <a:t>4面×5帯＝20個の日射量</a:t>
            </a:r>
            <a:endParaRPr lang="en-US" sz="950" dirty="0"/>
          </a:p>
        </p:txBody>
      </p:sp>
      <p:sp>
        <p:nvSpPr>
          <p:cNvPr id="42" name="Text 39"/>
          <p:cNvSpPr txBox="1"/>
          <p:nvPr/>
        </p:nvSpPr>
        <p:spPr>
          <a:xfrm>
            <a:off x="7543800" y="5349240"/>
            <a:ext cx="4069080" cy="914400"/>
          </a:xfrm>
          <a:prstGeom prst="rect">
            <a:avLst/>
          </a:prstGeom>
          <a:noFill/>
          <a:ln/>
        </p:spPr>
        <p:txBody>
          <a:bodyPr wrap="square" lIns="508" tIns="508" rIns="508" bIns="508" rtlCol="0" anchor="t"/>
          <a:lstStyle/>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表の格子をそろえなくてよい（ばらばらな配置で学習できる）</a:t>
            </a:r>
            <a:endParaRPr lang="en-US" sz="950" dirty="0"/>
          </a:p>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変数が増えても、入力の大きさは変わらない</a:t>
            </a:r>
            <a:endParaRPr lang="en-US" sz="950" dirty="0"/>
          </a:p>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必要な配置の数・精度はまだ分からない → 来週詳しく</a:t>
            </a:r>
            <a:endParaRPr lang="en-US" sz="95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39</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代案：空の遮られ方 ― 配置を「壁の点から見た空の地図」に置き換える</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39 / 45</a:t>
            </a:r>
            <a:endParaRPr lang="en-US" sz="1100" dirty="0"/>
          </a:p>
        </p:txBody>
      </p:sp>
      <p:sp>
        <p:nvSpPr>
          <p:cNvPr id="9" name="Shape 7"/>
          <p:cNvSpPr/>
          <p:nvPr/>
        </p:nvSpPr>
        <p:spPr>
          <a:xfrm>
            <a:off x="457200" y="1060704"/>
            <a:ext cx="1955292" cy="329184"/>
          </a:xfrm>
          <a:prstGeom prst="homePlate">
            <a:avLst/>
          </a:prstGeom>
          <a:solidFill>
            <a:srgbClr val="1F6F78"/>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① 考え方（立体）</a:t>
            </a:r>
            <a:endParaRPr lang="en-US" sz="900" dirty="0"/>
          </a:p>
        </p:txBody>
      </p:sp>
      <p:sp>
        <p:nvSpPr>
          <p:cNvPr id="11" name="Shape 9"/>
          <p:cNvSpPr/>
          <p:nvPr/>
        </p:nvSpPr>
        <p:spPr>
          <a:xfrm>
            <a:off x="2339340" y="1060704"/>
            <a:ext cx="1955292" cy="329184"/>
          </a:xfrm>
          <a:prstGeom prst="chevron">
            <a:avLst/>
          </a:prstGeom>
          <a:solidFill>
            <a:srgbClr val="EAEEF2"/>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② 空の地図の作り方</a:t>
            </a:r>
            <a:endParaRPr lang="en-US" sz="900" dirty="0"/>
          </a:p>
        </p:txBody>
      </p:sp>
      <p:sp>
        <p:nvSpPr>
          <p:cNvPr id="13" name="Shape 11"/>
          <p:cNvSpPr/>
          <p:nvPr/>
        </p:nvSpPr>
        <p:spPr>
          <a:xfrm>
            <a:off x="4221480" y="1060704"/>
            <a:ext cx="1955292" cy="329184"/>
          </a:xfrm>
          <a:prstGeom prst="chevron">
            <a:avLst/>
          </a:prstGeom>
          <a:solidFill>
            <a:srgbClr val="EAEEF2"/>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③ 遮蔽高度角 h</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ふさがれた割合 O</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機械学習で予測</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比べ方と来週</a:t>
            </a:r>
            <a:endParaRPr lang="en-US" sz="900" dirty="0"/>
          </a:p>
        </p:txBody>
      </p:sp>
      <p:sp>
        <p:nvSpPr>
          <p:cNvPr id="21" name="Shape 19"/>
          <p:cNvSpPr/>
          <p:nvPr/>
        </p:nvSpPr>
        <p:spPr>
          <a:xfrm>
            <a:off x="457200" y="1508760"/>
            <a:ext cx="6172200" cy="4800600"/>
          </a:xfrm>
          <a:prstGeom prst="roundRect">
            <a:avLst>
              <a:gd name="adj" fmla="val 1143"/>
            </a:avLst>
          </a:prstGeom>
          <a:solidFill>
            <a:srgbClr val="F3F5F8"/>
          </a:solidFill>
          <a:ln/>
        </p:spPr>
      </p:sp>
      <p:sp>
        <p:nvSpPr>
          <p:cNvPr id="22" name="Text 20"/>
          <p:cNvSpPr txBox="1"/>
          <p:nvPr/>
        </p:nvSpPr>
        <p:spPr>
          <a:xfrm>
            <a:off x="594360" y="1563624"/>
            <a:ext cx="59436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立体図（南東の上から）：南面の点Pにかぶせた「空のドーム」</a:t>
            </a:r>
            <a:endParaRPr lang="en-US" sz="1100" dirty="0"/>
          </a:p>
        </p:txBody>
      </p:sp>
      <p:sp>
        <p:nvSpPr>
          <p:cNvPr id="23" name="Shape 21"/>
          <p:cNvSpPr/>
          <p:nvPr/>
        </p:nvSpPr>
        <p:spPr>
          <a:xfrm>
            <a:off x="671383" y="2672334"/>
            <a:ext cx="4707046" cy="2995574"/>
          </a:xfrm>
          <a:custGeom>
            <a:avLst/>
            <a:gdLst/>
            <a:ahLst/>
            <a:cxnLst/>
            <a:rect l="l" t="t" r="r" b="b"/>
            <a:pathLst>
              <a:path w="4707046" h="2995574">
                <a:moveTo>
                  <a:pt x="0" y="1497787"/>
                </a:moveTo>
                <a:lnTo>
                  <a:pt x="2353523" y="2995574"/>
                </a:lnTo>
                <a:lnTo>
                  <a:pt x="4707046" y="1497787"/>
                </a:lnTo>
                <a:lnTo>
                  <a:pt x="2353523" y="0"/>
                </a:lnTo>
                <a:close/>
              </a:path>
            </a:pathLst>
          </a:custGeom>
          <a:solidFill>
            <a:srgbClr val="E3E8EE"/>
          </a:solidFill>
          <a:ln/>
        </p:spPr>
      </p:sp>
      <p:sp>
        <p:nvSpPr>
          <p:cNvPr id="24" name="Shape 22"/>
          <p:cNvSpPr/>
          <p:nvPr/>
        </p:nvSpPr>
        <p:spPr>
          <a:xfrm>
            <a:off x="2268416" y="2523744"/>
            <a:ext cx="840544" cy="1485900"/>
          </a:xfrm>
          <a:custGeom>
            <a:avLst/>
            <a:gdLst/>
            <a:ahLst/>
            <a:cxnLst/>
            <a:rect l="l" t="t" r="r" b="b"/>
            <a:pathLst>
              <a:path w="840544" h="1485900">
                <a:moveTo>
                  <a:pt x="0" y="950976"/>
                </a:moveTo>
                <a:lnTo>
                  <a:pt x="840544" y="1485900"/>
                </a:lnTo>
                <a:lnTo>
                  <a:pt x="840544" y="534924"/>
                </a:lnTo>
                <a:lnTo>
                  <a:pt x="0" y="0"/>
                </a:lnTo>
                <a:close/>
              </a:path>
            </a:pathLst>
          </a:custGeom>
          <a:solidFill>
            <a:srgbClr val="2E4166"/>
          </a:solidFill>
          <a:ln w="6350">
            <a:solidFill>
              <a:srgbClr val="FFFFFF"/>
            </a:solidFill>
            <a:prstDash val="solid"/>
          </a:ln>
        </p:spPr>
      </p:sp>
      <p:sp>
        <p:nvSpPr>
          <p:cNvPr id="25" name="Shape 23"/>
          <p:cNvSpPr/>
          <p:nvPr/>
        </p:nvSpPr>
        <p:spPr>
          <a:xfrm>
            <a:off x="3108960" y="2523744"/>
            <a:ext cx="840544" cy="1485900"/>
          </a:xfrm>
          <a:custGeom>
            <a:avLst/>
            <a:gdLst/>
            <a:ahLst/>
            <a:cxnLst/>
            <a:rect l="l" t="t" r="r" b="b"/>
            <a:pathLst>
              <a:path w="840544" h="1485900">
                <a:moveTo>
                  <a:pt x="0" y="1485900"/>
                </a:moveTo>
                <a:lnTo>
                  <a:pt x="840544" y="950976"/>
                </a:lnTo>
                <a:lnTo>
                  <a:pt x="840544" y="0"/>
                </a:lnTo>
                <a:lnTo>
                  <a:pt x="0" y="534924"/>
                </a:lnTo>
                <a:close/>
              </a:path>
            </a:pathLst>
          </a:custGeom>
          <a:solidFill>
            <a:srgbClr val="24365A"/>
          </a:solidFill>
          <a:ln w="6350">
            <a:solidFill>
              <a:srgbClr val="FFFFFF"/>
            </a:solidFill>
            <a:prstDash val="solid"/>
          </a:ln>
        </p:spPr>
      </p:sp>
      <p:sp>
        <p:nvSpPr>
          <p:cNvPr id="26" name="Shape 24"/>
          <p:cNvSpPr/>
          <p:nvPr/>
        </p:nvSpPr>
        <p:spPr>
          <a:xfrm>
            <a:off x="2268416" y="1988820"/>
            <a:ext cx="1681088" cy="1069848"/>
          </a:xfrm>
          <a:custGeom>
            <a:avLst/>
            <a:gdLst/>
            <a:ahLst/>
            <a:cxnLst/>
            <a:rect l="l" t="t" r="r" b="b"/>
            <a:pathLst>
              <a:path w="1681088" h="1069848">
                <a:moveTo>
                  <a:pt x="0" y="534924"/>
                </a:moveTo>
                <a:lnTo>
                  <a:pt x="840544" y="1069848"/>
                </a:lnTo>
                <a:lnTo>
                  <a:pt x="1681088" y="534924"/>
                </a:lnTo>
                <a:lnTo>
                  <a:pt x="840544" y="0"/>
                </a:lnTo>
                <a:close/>
              </a:path>
            </a:pathLst>
          </a:custGeom>
          <a:solidFill>
            <a:srgbClr val="4A5F85"/>
          </a:solidFill>
          <a:ln w="6350">
            <a:solidFill>
              <a:srgbClr val="FFFFFF"/>
            </a:solidFill>
            <a:prstDash val="solid"/>
          </a:ln>
        </p:spPr>
      </p:sp>
      <p:sp>
        <p:nvSpPr>
          <p:cNvPr id="27" name="Shape 25"/>
          <p:cNvSpPr/>
          <p:nvPr/>
        </p:nvSpPr>
        <p:spPr>
          <a:xfrm>
            <a:off x="2153769" y="2731378"/>
            <a:ext cx="178306" cy="148578"/>
          </a:xfrm>
          <a:custGeom>
            <a:avLst/>
            <a:gdLst/>
            <a:ahLst/>
            <a:cxnLst/>
            <a:rect l="l" t="t" r="r" b="b"/>
            <a:pathLst>
              <a:path w="178306" h="148578">
                <a:moveTo>
                  <a:pt x="0" y="148578"/>
                </a:moveTo>
                <a:lnTo>
                  <a:pt x="28952" y="119656"/>
                </a:lnTo>
                <a:lnTo>
                  <a:pt x="61755" y="92450"/>
                </a:lnTo>
                <a:lnTo>
                  <a:pt x="98159" y="67167"/>
                </a:lnTo>
                <a:lnTo>
                  <a:pt x="98159" y="67167"/>
                </a:lnTo>
                <a:lnTo>
                  <a:pt x="121799" y="40229"/>
                </a:lnTo>
                <a:lnTo>
                  <a:pt x="148582" y="17783"/>
                </a:lnTo>
                <a:lnTo>
                  <a:pt x="178306" y="0"/>
                </a:lnTo>
                <a:lnTo>
                  <a:pt x="178306" y="0"/>
                </a:lnTo>
                <a:lnTo>
                  <a:pt x="148582" y="20644"/>
                </a:lnTo>
                <a:lnTo>
                  <a:pt x="121799" y="42857"/>
                </a:lnTo>
                <a:lnTo>
                  <a:pt x="98159" y="66472"/>
                </a:lnTo>
                <a:lnTo>
                  <a:pt x="98159" y="66472"/>
                </a:lnTo>
                <a:lnTo>
                  <a:pt x="61755" y="89796"/>
                </a:lnTo>
                <a:lnTo>
                  <a:pt x="28952" y="117234"/>
                </a:lnTo>
                <a:lnTo>
                  <a:pt x="0" y="148578"/>
                </a:lnTo>
                <a:close/>
              </a:path>
            </a:pathLst>
          </a:custGeom>
          <a:solidFill>
            <a:srgbClr val="DCEBF7">
              <a:alpha val="75000"/>
            </a:srgbClr>
          </a:solidFill>
          <a:ln w="5080">
            <a:solidFill>
              <a:srgbClr val="7F9DB8"/>
            </a:solidFill>
            <a:prstDash val="solid"/>
          </a:ln>
        </p:spPr>
      </p:sp>
      <p:sp>
        <p:nvSpPr>
          <p:cNvPr id="28" name="Shape 26"/>
          <p:cNvSpPr/>
          <p:nvPr/>
        </p:nvSpPr>
        <p:spPr>
          <a:xfrm>
            <a:off x="2092064" y="2797849"/>
            <a:ext cx="159865" cy="176911"/>
          </a:xfrm>
          <a:custGeom>
            <a:avLst/>
            <a:gdLst/>
            <a:ahLst/>
            <a:cxnLst/>
            <a:rect l="l" t="t" r="r" b="b"/>
            <a:pathLst>
              <a:path w="159865" h="176911">
                <a:moveTo>
                  <a:pt x="0" y="176911"/>
                </a:moveTo>
                <a:lnTo>
                  <a:pt x="16203" y="144206"/>
                </a:lnTo>
                <a:lnTo>
                  <a:pt x="36824" y="112523"/>
                </a:lnTo>
                <a:lnTo>
                  <a:pt x="61706" y="82106"/>
                </a:lnTo>
                <a:lnTo>
                  <a:pt x="61706" y="82106"/>
                </a:lnTo>
                <a:lnTo>
                  <a:pt x="90658" y="50762"/>
                </a:lnTo>
                <a:lnTo>
                  <a:pt x="123461" y="23324"/>
                </a:lnTo>
                <a:lnTo>
                  <a:pt x="159865" y="0"/>
                </a:lnTo>
                <a:lnTo>
                  <a:pt x="159865" y="0"/>
                </a:lnTo>
                <a:lnTo>
                  <a:pt x="139550" y="24836"/>
                </a:lnTo>
                <a:lnTo>
                  <a:pt x="122713" y="50704"/>
                </a:lnTo>
                <a:lnTo>
                  <a:pt x="109483" y="77408"/>
                </a:lnTo>
                <a:lnTo>
                  <a:pt x="109483" y="77408"/>
                </a:lnTo>
                <a:lnTo>
                  <a:pt x="68879" y="107184"/>
                </a:lnTo>
                <a:lnTo>
                  <a:pt x="32292" y="140436"/>
                </a:lnTo>
                <a:lnTo>
                  <a:pt x="0" y="176911"/>
                </a:lnTo>
                <a:close/>
              </a:path>
            </a:pathLst>
          </a:custGeom>
          <a:solidFill>
            <a:srgbClr val="DCEBF7">
              <a:alpha val="75000"/>
            </a:srgbClr>
          </a:solidFill>
          <a:ln w="5080">
            <a:solidFill>
              <a:srgbClr val="7F9DB8"/>
            </a:solidFill>
            <a:prstDash val="solid"/>
          </a:ln>
        </p:spPr>
      </p:sp>
      <p:sp>
        <p:nvSpPr>
          <p:cNvPr id="29" name="Shape 27"/>
          <p:cNvSpPr/>
          <p:nvPr/>
        </p:nvSpPr>
        <p:spPr>
          <a:xfrm>
            <a:off x="1999765" y="2974760"/>
            <a:ext cx="92298" cy="239353"/>
          </a:xfrm>
          <a:custGeom>
            <a:avLst/>
            <a:gdLst/>
            <a:ahLst/>
            <a:cxnLst/>
            <a:rect l="l" t="t" r="r" b="b"/>
            <a:pathLst>
              <a:path w="92298" h="239353">
                <a:moveTo>
                  <a:pt x="0" y="239353"/>
                </a:moveTo>
                <a:lnTo>
                  <a:pt x="2622" y="201141"/>
                </a:lnTo>
                <a:lnTo>
                  <a:pt x="10466" y="163220"/>
                </a:lnTo>
                <a:lnTo>
                  <a:pt x="23474" y="125878"/>
                </a:lnTo>
                <a:lnTo>
                  <a:pt x="23474" y="125878"/>
                </a:lnTo>
                <a:lnTo>
                  <a:pt x="41547" y="81487"/>
                </a:lnTo>
                <a:lnTo>
                  <a:pt x="64547" y="39421"/>
                </a:lnTo>
                <a:lnTo>
                  <a:pt x="92298" y="0"/>
                </a:lnTo>
                <a:lnTo>
                  <a:pt x="92298" y="0"/>
                </a:lnTo>
                <a:lnTo>
                  <a:pt x="80635" y="33480"/>
                </a:lnTo>
                <a:lnTo>
                  <a:pt x="73602" y="67479"/>
                </a:lnTo>
                <a:lnTo>
                  <a:pt x="71251" y="101738"/>
                </a:lnTo>
                <a:lnTo>
                  <a:pt x="71251" y="101738"/>
                </a:lnTo>
                <a:lnTo>
                  <a:pt x="42521" y="145891"/>
                </a:lnTo>
                <a:lnTo>
                  <a:pt x="18710" y="191879"/>
                </a:lnTo>
                <a:lnTo>
                  <a:pt x="0" y="239353"/>
                </a:lnTo>
                <a:close/>
              </a:path>
            </a:pathLst>
          </a:custGeom>
          <a:solidFill>
            <a:srgbClr val="DCEBF7">
              <a:alpha val="75000"/>
            </a:srgbClr>
          </a:solidFill>
          <a:ln w="5080">
            <a:solidFill>
              <a:srgbClr val="7F9DB8"/>
            </a:solidFill>
            <a:prstDash val="solid"/>
          </a:ln>
        </p:spPr>
      </p:sp>
      <p:sp>
        <p:nvSpPr>
          <p:cNvPr id="30" name="Shape 28"/>
          <p:cNvSpPr/>
          <p:nvPr/>
        </p:nvSpPr>
        <p:spPr>
          <a:xfrm>
            <a:off x="1975463" y="3214113"/>
            <a:ext cx="47777" cy="265156"/>
          </a:xfrm>
          <a:custGeom>
            <a:avLst/>
            <a:gdLst/>
            <a:ahLst/>
            <a:cxnLst/>
            <a:rect l="l" t="t" r="r" b="b"/>
            <a:pathLst>
              <a:path w="47777" h="265156">
                <a:moveTo>
                  <a:pt x="24303" y="265156"/>
                </a:moveTo>
                <a:lnTo>
                  <a:pt x="10835" y="226497"/>
                </a:lnTo>
                <a:lnTo>
                  <a:pt x="2714" y="187238"/>
                </a:lnTo>
                <a:lnTo>
                  <a:pt x="0" y="147678"/>
                </a:lnTo>
                <a:lnTo>
                  <a:pt x="0" y="147678"/>
                </a:lnTo>
                <a:lnTo>
                  <a:pt x="2714" y="97949"/>
                </a:lnTo>
                <a:lnTo>
                  <a:pt x="10835" y="48597"/>
                </a:lnTo>
                <a:lnTo>
                  <a:pt x="24303" y="0"/>
                </a:lnTo>
                <a:lnTo>
                  <a:pt x="24303" y="0"/>
                </a:lnTo>
                <a:lnTo>
                  <a:pt x="26924" y="38212"/>
                </a:lnTo>
                <a:lnTo>
                  <a:pt x="34769" y="76133"/>
                </a:lnTo>
                <a:lnTo>
                  <a:pt x="47777" y="113475"/>
                </a:lnTo>
                <a:lnTo>
                  <a:pt x="47777" y="113475"/>
                </a:lnTo>
                <a:lnTo>
                  <a:pt x="34769" y="164290"/>
                </a:lnTo>
                <a:lnTo>
                  <a:pt x="26924" y="214979"/>
                </a:lnTo>
                <a:lnTo>
                  <a:pt x="24303" y="265156"/>
                </a:lnTo>
                <a:close/>
              </a:path>
            </a:pathLst>
          </a:custGeom>
          <a:solidFill>
            <a:srgbClr val="E8934D">
              <a:alpha val="90000"/>
            </a:srgbClr>
          </a:solidFill>
          <a:ln w="5080">
            <a:solidFill>
              <a:srgbClr val="7F9DB8"/>
            </a:solidFill>
            <a:prstDash val="solid"/>
          </a:ln>
        </p:spPr>
      </p:sp>
      <p:sp>
        <p:nvSpPr>
          <p:cNvPr id="31" name="Shape 29"/>
          <p:cNvSpPr/>
          <p:nvPr/>
        </p:nvSpPr>
        <p:spPr>
          <a:xfrm>
            <a:off x="2251929" y="2707173"/>
            <a:ext cx="184596" cy="90677"/>
          </a:xfrm>
          <a:custGeom>
            <a:avLst/>
            <a:gdLst/>
            <a:ahLst/>
            <a:cxnLst/>
            <a:rect l="l" t="t" r="r" b="b"/>
            <a:pathLst>
              <a:path w="184596" h="90677">
                <a:moveTo>
                  <a:pt x="0" y="90677"/>
                </a:moveTo>
                <a:lnTo>
                  <a:pt x="23639" y="67062"/>
                </a:lnTo>
                <a:lnTo>
                  <a:pt x="50423" y="44848"/>
                </a:lnTo>
                <a:lnTo>
                  <a:pt x="80147" y="24205"/>
                </a:lnTo>
                <a:lnTo>
                  <a:pt x="80147" y="24205"/>
                </a:lnTo>
                <a:lnTo>
                  <a:pt x="112585" y="11219"/>
                </a:lnTo>
                <a:lnTo>
                  <a:pt x="147490" y="3131"/>
                </a:lnTo>
                <a:lnTo>
                  <a:pt x="184596" y="0"/>
                </a:lnTo>
                <a:lnTo>
                  <a:pt x="184596" y="0"/>
                </a:lnTo>
                <a:lnTo>
                  <a:pt x="163578" y="14597"/>
                </a:lnTo>
                <a:lnTo>
                  <a:pt x="144640" y="30305"/>
                </a:lnTo>
                <a:lnTo>
                  <a:pt x="127924" y="47003"/>
                </a:lnTo>
                <a:lnTo>
                  <a:pt x="127924" y="47003"/>
                </a:lnTo>
                <a:lnTo>
                  <a:pt x="82478" y="57050"/>
                </a:lnTo>
                <a:lnTo>
                  <a:pt x="39728" y="71645"/>
                </a:lnTo>
                <a:lnTo>
                  <a:pt x="0" y="90677"/>
                </a:lnTo>
                <a:close/>
              </a:path>
            </a:pathLst>
          </a:custGeom>
          <a:solidFill>
            <a:srgbClr val="DCEBF7">
              <a:alpha val="75000"/>
            </a:srgbClr>
          </a:solidFill>
          <a:ln w="5080">
            <a:solidFill>
              <a:srgbClr val="7F9DB8"/>
            </a:solidFill>
            <a:prstDash val="solid"/>
          </a:ln>
        </p:spPr>
      </p:sp>
      <p:sp>
        <p:nvSpPr>
          <p:cNvPr id="32" name="Shape 30"/>
          <p:cNvSpPr/>
          <p:nvPr/>
        </p:nvSpPr>
        <p:spPr>
          <a:xfrm>
            <a:off x="2071017" y="2875258"/>
            <a:ext cx="130529" cy="201241"/>
          </a:xfrm>
          <a:custGeom>
            <a:avLst/>
            <a:gdLst/>
            <a:ahLst/>
            <a:cxnLst/>
            <a:rect l="l" t="t" r="r" b="b"/>
            <a:pathLst>
              <a:path w="130529" h="201241">
                <a:moveTo>
                  <a:pt x="0" y="201241"/>
                </a:moveTo>
                <a:lnTo>
                  <a:pt x="2350" y="166981"/>
                </a:lnTo>
                <a:lnTo>
                  <a:pt x="9384" y="132982"/>
                </a:lnTo>
                <a:lnTo>
                  <a:pt x="21047" y="99503"/>
                </a:lnTo>
                <a:lnTo>
                  <a:pt x="21047" y="99503"/>
                </a:lnTo>
                <a:lnTo>
                  <a:pt x="53339" y="63028"/>
                </a:lnTo>
                <a:lnTo>
                  <a:pt x="89926" y="29776"/>
                </a:lnTo>
                <a:lnTo>
                  <a:pt x="130529" y="0"/>
                </a:lnTo>
                <a:lnTo>
                  <a:pt x="130529" y="0"/>
                </a:lnTo>
                <a:lnTo>
                  <a:pt x="121007" y="27336"/>
                </a:lnTo>
                <a:lnTo>
                  <a:pt x="115264" y="55096"/>
                </a:lnTo>
                <a:lnTo>
                  <a:pt x="113345" y="83069"/>
                </a:lnTo>
                <a:lnTo>
                  <a:pt x="113345" y="83069"/>
                </a:lnTo>
                <a:lnTo>
                  <a:pt x="71309" y="119769"/>
                </a:lnTo>
                <a:lnTo>
                  <a:pt x="33431" y="159260"/>
                </a:lnTo>
                <a:lnTo>
                  <a:pt x="0" y="201241"/>
                </a:lnTo>
                <a:close/>
              </a:path>
            </a:pathLst>
          </a:custGeom>
          <a:solidFill>
            <a:srgbClr val="DCEBF7">
              <a:alpha val="75000"/>
            </a:srgbClr>
          </a:solidFill>
          <a:ln w="5080">
            <a:solidFill>
              <a:srgbClr val="7F9DB8"/>
            </a:solidFill>
            <a:prstDash val="solid"/>
          </a:ln>
        </p:spPr>
      </p:sp>
      <p:sp>
        <p:nvSpPr>
          <p:cNvPr id="33" name="Shape 31"/>
          <p:cNvSpPr/>
          <p:nvPr/>
        </p:nvSpPr>
        <p:spPr>
          <a:xfrm>
            <a:off x="2201546" y="2754175"/>
            <a:ext cx="178306" cy="121082"/>
          </a:xfrm>
          <a:custGeom>
            <a:avLst/>
            <a:gdLst/>
            <a:ahLst/>
            <a:cxnLst/>
            <a:rect l="l" t="t" r="r" b="b"/>
            <a:pathLst>
              <a:path w="178306" h="121082">
                <a:moveTo>
                  <a:pt x="0" y="121082"/>
                </a:moveTo>
                <a:lnTo>
                  <a:pt x="13230" y="94378"/>
                </a:lnTo>
                <a:lnTo>
                  <a:pt x="30067" y="68510"/>
                </a:lnTo>
                <a:lnTo>
                  <a:pt x="50382" y="43674"/>
                </a:lnTo>
                <a:lnTo>
                  <a:pt x="50382" y="43674"/>
                </a:lnTo>
                <a:lnTo>
                  <a:pt x="90111" y="24642"/>
                </a:lnTo>
                <a:lnTo>
                  <a:pt x="132860" y="10047"/>
                </a:lnTo>
                <a:lnTo>
                  <a:pt x="178306" y="0"/>
                </a:lnTo>
                <a:lnTo>
                  <a:pt x="178306" y="0"/>
                </a:lnTo>
                <a:lnTo>
                  <a:pt x="163941" y="17562"/>
                </a:lnTo>
                <a:lnTo>
                  <a:pt x="152036" y="35853"/>
                </a:lnTo>
                <a:lnTo>
                  <a:pt x="142681" y="54736"/>
                </a:lnTo>
                <a:lnTo>
                  <a:pt x="142681" y="54736"/>
                </a:lnTo>
                <a:lnTo>
                  <a:pt x="91992" y="72837"/>
                </a:lnTo>
                <a:lnTo>
                  <a:pt x="44311" y="95009"/>
                </a:lnTo>
                <a:lnTo>
                  <a:pt x="0" y="121082"/>
                </a:lnTo>
                <a:close/>
              </a:path>
            </a:pathLst>
          </a:custGeom>
          <a:solidFill>
            <a:srgbClr val="DCEBF7">
              <a:alpha val="75000"/>
            </a:srgbClr>
          </a:solidFill>
          <a:ln w="5080">
            <a:solidFill>
              <a:srgbClr val="7F9DB8"/>
            </a:solidFill>
            <a:prstDash val="solid"/>
          </a:ln>
        </p:spPr>
      </p:sp>
      <p:sp>
        <p:nvSpPr>
          <p:cNvPr id="34" name="Shape 32"/>
          <p:cNvSpPr/>
          <p:nvPr/>
        </p:nvSpPr>
        <p:spPr>
          <a:xfrm>
            <a:off x="1999765" y="3076499"/>
            <a:ext cx="92298" cy="251089"/>
          </a:xfrm>
          <a:custGeom>
            <a:avLst/>
            <a:gdLst/>
            <a:ahLst/>
            <a:cxnLst/>
            <a:rect l="l" t="t" r="r" b="b"/>
            <a:pathLst>
              <a:path w="92298" h="251089">
                <a:moveTo>
                  <a:pt x="23474" y="251089"/>
                </a:moveTo>
                <a:lnTo>
                  <a:pt x="10466" y="213747"/>
                </a:lnTo>
                <a:lnTo>
                  <a:pt x="2622" y="175826"/>
                </a:lnTo>
                <a:lnTo>
                  <a:pt x="0" y="137614"/>
                </a:lnTo>
                <a:lnTo>
                  <a:pt x="0" y="137614"/>
                </a:lnTo>
                <a:lnTo>
                  <a:pt x="18710" y="90141"/>
                </a:lnTo>
                <a:lnTo>
                  <a:pt x="42521" y="44153"/>
                </a:lnTo>
                <a:lnTo>
                  <a:pt x="71251" y="0"/>
                </a:lnTo>
                <a:lnTo>
                  <a:pt x="71251" y="0"/>
                </a:lnTo>
                <a:lnTo>
                  <a:pt x="73602" y="34260"/>
                </a:lnTo>
                <a:lnTo>
                  <a:pt x="80635" y="68259"/>
                </a:lnTo>
                <a:lnTo>
                  <a:pt x="92298" y="101738"/>
                </a:lnTo>
                <a:lnTo>
                  <a:pt x="92298" y="101738"/>
                </a:lnTo>
                <a:lnTo>
                  <a:pt x="64547" y="150624"/>
                </a:lnTo>
                <a:lnTo>
                  <a:pt x="41547" y="200534"/>
                </a:lnTo>
                <a:lnTo>
                  <a:pt x="23474" y="251089"/>
                </a:lnTo>
                <a:close/>
              </a:path>
            </a:pathLst>
          </a:custGeom>
          <a:solidFill>
            <a:srgbClr val="E8934D">
              <a:alpha val="90000"/>
            </a:srgbClr>
          </a:solidFill>
          <a:ln w="5080">
            <a:solidFill>
              <a:srgbClr val="7F9DB8"/>
            </a:solidFill>
            <a:prstDash val="solid"/>
          </a:ln>
        </p:spPr>
      </p:sp>
      <p:sp>
        <p:nvSpPr>
          <p:cNvPr id="35" name="Shape 33"/>
          <p:cNvSpPr/>
          <p:nvPr/>
        </p:nvSpPr>
        <p:spPr>
          <a:xfrm>
            <a:off x="1999765" y="3327588"/>
            <a:ext cx="92298" cy="261153"/>
          </a:xfrm>
          <a:custGeom>
            <a:avLst/>
            <a:gdLst/>
            <a:ahLst/>
            <a:cxnLst/>
            <a:rect l="l" t="t" r="r" b="b"/>
            <a:pathLst>
              <a:path w="92298" h="261153">
                <a:moveTo>
                  <a:pt x="71251" y="261153"/>
                </a:moveTo>
                <a:lnTo>
                  <a:pt x="42521" y="226030"/>
                </a:lnTo>
                <a:lnTo>
                  <a:pt x="18710" y="189446"/>
                </a:lnTo>
                <a:lnTo>
                  <a:pt x="0" y="151681"/>
                </a:lnTo>
                <a:lnTo>
                  <a:pt x="0" y="151681"/>
                </a:lnTo>
                <a:lnTo>
                  <a:pt x="2622" y="101505"/>
                </a:lnTo>
                <a:lnTo>
                  <a:pt x="10466" y="50815"/>
                </a:lnTo>
                <a:lnTo>
                  <a:pt x="23474" y="0"/>
                </a:lnTo>
                <a:lnTo>
                  <a:pt x="23474" y="0"/>
                </a:lnTo>
                <a:lnTo>
                  <a:pt x="41547" y="36478"/>
                </a:lnTo>
                <a:lnTo>
                  <a:pt x="64547" y="71815"/>
                </a:lnTo>
                <a:lnTo>
                  <a:pt x="92298" y="105741"/>
                </a:lnTo>
                <a:lnTo>
                  <a:pt x="92298" y="105741"/>
                </a:lnTo>
                <a:lnTo>
                  <a:pt x="80635" y="158624"/>
                </a:lnTo>
                <a:lnTo>
                  <a:pt x="73602" y="210560"/>
                </a:lnTo>
                <a:lnTo>
                  <a:pt x="71251" y="261153"/>
                </a:lnTo>
                <a:close/>
              </a:path>
            </a:pathLst>
          </a:custGeom>
          <a:solidFill>
            <a:srgbClr val="E8934D">
              <a:alpha val="90000"/>
            </a:srgbClr>
          </a:solidFill>
          <a:ln w="5080">
            <a:solidFill>
              <a:srgbClr val="7F9DB8"/>
            </a:solidFill>
            <a:prstDash val="solid"/>
          </a:ln>
        </p:spPr>
      </p:sp>
      <p:sp>
        <p:nvSpPr>
          <p:cNvPr id="36" name="Shape 34"/>
          <p:cNvSpPr/>
          <p:nvPr/>
        </p:nvSpPr>
        <p:spPr>
          <a:xfrm>
            <a:off x="2379852" y="2707173"/>
            <a:ext cx="178306" cy="47003"/>
          </a:xfrm>
          <a:custGeom>
            <a:avLst/>
            <a:gdLst/>
            <a:ahLst/>
            <a:cxnLst/>
            <a:rect l="l" t="t" r="r" b="b"/>
            <a:pathLst>
              <a:path w="178306" h="47003">
                <a:moveTo>
                  <a:pt x="0" y="47003"/>
                </a:moveTo>
                <a:lnTo>
                  <a:pt x="16716" y="30305"/>
                </a:lnTo>
                <a:lnTo>
                  <a:pt x="35654" y="14597"/>
                </a:lnTo>
                <a:lnTo>
                  <a:pt x="56672" y="0"/>
                </a:lnTo>
                <a:lnTo>
                  <a:pt x="56672" y="0"/>
                </a:lnTo>
                <a:lnTo>
                  <a:pt x="95698" y="1851"/>
                </a:lnTo>
                <a:lnTo>
                  <a:pt x="136346" y="8671"/>
                </a:lnTo>
                <a:lnTo>
                  <a:pt x="178306" y="20406"/>
                </a:lnTo>
                <a:lnTo>
                  <a:pt x="178306" y="20406"/>
                </a:lnTo>
                <a:lnTo>
                  <a:pt x="167427" y="27962"/>
                </a:lnTo>
                <a:lnTo>
                  <a:pt x="157623" y="36093"/>
                </a:lnTo>
                <a:lnTo>
                  <a:pt x="148971" y="44737"/>
                </a:lnTo>
                <a:lnTo>
                  <a:pt x="148971" y="44737"/>
                </a:lnTo>
                <a:lnTo>
                  <a:pt x="97580" y="40823"/>
                </a:lnTo>
                <a:lnTo>
                  <a:pt x="47796" y="41580"/>
                </a:lnTo>
                <a:lnTo>
                  <a:pt x="0" y="47003"/>
                </a:lnTo>
                <a:close/>
              </a:path>
            </a:pathLst>
          </a:custGeom>
          <a:solidFill>
            <a:srgbClr val="DCEBF7">
              <a:alpha val="75000"/>
            </a:srgbClr>
          </a:solidFill>
          <a:ln w="5080">
            <a:solidFill>
              <a:srgbClr val="7F9DB8"/>
            </a:solidFill>
            <a:prstDash val="solid"/>
          </a:ln>
        </p:spPr>
      </p:sp>
      <p:sp>
        <p:nvSpPr>
          <p:cNvPr id="37" name="Shape 35"/>
          <p:cNvSpPr/>
          <p:nvPr/>
        </p:nvSpPr>
        <p:spPr>
          <a:xfrm>
            <a:off x="2184362" y="2808911"/>
            <a:ext cx="159865" cy="149415"/>
          </a:xfrm>
          <a:custGeom>
            <a:avLst/>
            <a:gdLst/>
            <a:ahLst/>
            <a:cxnLst/>
            <a:rect l="l" t="t" r="r" b="b"/>
            <a:pathLst>
              <a:path w="159865" h="149415">
                <a:moveTo>
                  <a:pt x="0" y="149415"/>
                </a:moveTo>
                <a:lnTo>
                  <a:pt x="1919" y="121442"/>
                </a:lnTo>
                <a:lnTo>
                  <a:pt x="7662" y="93682"/>
                </a:lnTo>
                <a:lnTo>
                  <a:pt x="17185" y="66346"/>
                </a:lnTo>
                <a:lnTo>
                  <a:pt x="17185" y="66346"/>
                </a:lnTo>
                <a:lnTo>
                  <a:pt x="61495" y="40273"/>
                </a:lnTo>
                <a:lnTo>
                  <a:pt x="109177" y="18102"/>
                </a:lnTo>
                <a:lnTo>
                  <a:pt x="159865" y="0"/>
                </a:lnTo>
                <a:lnTo>
                  <a:pt x="159865" y="0"/>
                </a:lnTo>
                <a:lnTo>
                  <a:pt x="153132" y="19329"/>
                </a:lnTo>
                <a:lnTo>
                  <a:pt x="149071" y="38959"/>
                </a:lnTo>
                <a:lnTo>
                  <a:pt x="147714" y="58739"/>
                </a:lnTo>
                <a:lnTo>
                  <a:pt x="147714" y="58739"/>
                </a:lnTo>
                <a:lnTo>
                  <a:pt x="95237" y="85484"/>
                </a:lnTo>
                <a:lnTo>
                  <a:pt x="45874" y="115786"/>
                </a:lnTo>
                <a:lnTo>
                  <a:pt x="0" y="149415"/>
                </a:lnTo>
                <a:close/>
              </a:path>
            </a:pathLst>
          </a:custGeom>
          <a:solidFill>
            <a:srgbClr val="DCEBF7">
              <a:alpha val="75000"/>
            </a:srgbClr>
          </a:solidFill>
          <a:ln w="5080">
            <a:solidFill>
              <a:srgbClr val="7F9DB8"/>
            </a:solidFill>
            <a:prstDash val="solid"/>
          </a:ln>
        </p:spPr>
      </p:sp>
      <p:sp>
        <p:nvSpPr>
          <p:cNvPr id="38" name="Shape 36"/>
          <p:cNvSpPr/>
          <p:nvPr/>
        </p:nvSpPr>
        <p:spPr>
          <a:xfrm>
            <a:off x="2071017" y="2958327"/>
            <a:ext cx="130529" cy="219911"/>
          </a:xfrm>
          <a:custGeom>
            <a:avLst/>
            <a:gdLst/>
            <a:ahLst/>
            <a:cxnLst/>
            <a:rect l="l" t="t" r="r" b="b"/>
            <a:pathLst>
              <a:path w="130529" h="219911">
                <a:moveTo>
                  <a:pt x="21047" y="219911"/>
                </a:moveTo>
                <a:lnTo>
                  <a:pt x="9384" y="186431"/>
                </a:lnTo>
                <a:lnTo>
                  <a:pt x="2350" y="152432"/>
                </a:lnTo>
                <a:lnTo>
                  <a:pt x="0" y="118172"/>
                </a:lnTo>
                <a:lnTo>
                  <a:pt x="0" y="118172"/>
                </a:lnTo>
                <a:lnTo>
                  <a:pt x="33431" y="76190"/>
                </a:lnTo>
                <a:lnTo>
                  <a:pt x="71309" y="36700"/>
                </a:lnTo>
                <a:lnTo>
                  <a:pt x="113345" y="0"/>
                </a:lnTo>
                <a:lnTo>
                  <a:pt x="113345" y="0"/>
                </a:lnTo>
                <a:lnTo>
                  <a:pt x="115264" y="27973"/>
                </a:lnTo>
                <a:lnTo>
                  <a:pt x="121007" y="55733"/>
                </a:lnTo>
                <a:lnTo>
                  <a:pt x="130529" y="83069"/>
                </a:lnTo>
                <a:lnTo>
                  <a:pt x="130529" y="83069"/>
                </a:lnTo>
                <a:lnTo>
                  <a:pt x="89926" y="126693"/>
                </a:lnTo>
                <a:lnTo>
                  <a:pt x="53339" y="172422"/>
                </a:lnTo>
                <a:lnTo>
                  <a:pt x="21047" y="219911"/>
                </a:lnTo>
                <a:close/>
              </a:path>
            </a:pathLst>
          </a:custGeom>
          <a:solidFill>
            <a:srgbClr val="DCEBF7">
              <a:alpha val="75000"/>
            </a:srgbClr>
          </a:solidFill>
          <a:ln w="5080">
            <a:solidFill>
              <a:srgbClr val="7F9DB8"/>
            </a:solidFill>
            <a:prstDash val="solid"/>
          </a:ln>
        </p:spPr>
      </p:sp>
      <p:sp>
        <p:nvSpPr>
          <p:cNvPr id="39" name="Shape 37"/>
          <p:cNvSpPr/>
          <p:nvPr/>
        </p:nvSpPr>
        <p:spPr>
          <a:xfrm>
            <a:off x="2344227" y="2747995"/>
            <a:ext cx="184596" cy="60916"/>
          </a:xfrm>
          <a:custGeom>
            <a:avLst/>
            <a:gdLst/>
            <a:ahLst/>
            <a:cxnLst/>
            <a:rect l="l" t="t" r="r" b="b"/>
            <a:pathLst>
              <a:path w="184596" h="60916">
                <a:moveTo>
                  <a:pt x="0" y="60916"/>
                </a:moveTo>
                <a:lnTo>
                  <a:pt x="9355" y="42033"/>
                </a:lnTo>
                <a:lnTo>
                  <a:pt x="21261" y="23742"/>
                </a:lnTo>
                <a:lnTo>
                  <a:pt x="35626" y="6180"/>
                </a:lnTo>
                <a:lnTo>
                  <a:pt x="35626" y="6180"/>
                </a:lnTo>
                <a:lnTo>
                  <a:pt x="83422" y="757"/>
                </a:lnTo>
                <a:lnTo>
                  <a:pt x="133205" y="0"/>
                </a:lnTo>
                <a:lnTo>
                  <a:pt x="184596" y="3914"/>
                </a:lnTo>
                <a:lnTo>
                  <a:pt x="184596" y="3914"/>
                </a:lnTo>
                <a:lnTo>
                  <a:pt x="177160" y="13005"/>
                </a:lnTo>
                <a:lnTo>
                  <a:pt x="170998" y="22473"/>
                </a:lnTo>
                <a:lnTo>
                  <a:pt x="166155" y="32247"/>
                </a:lnTo>
                <a:lnTo>
                  <a:pt x="166155" y="32247"/>
                </a:lnTo>
                <a:lnTo>
                  <a:pt x="108836" y="37441"/>
                </a:lnTo>
                <a:lnTo>
                  <a:pt x="53310" y="47022"/>
                </a:lnTo>
                <a:lnTo>
                  <a:pt x="0" y="60916"/>
                </a:lnTo>
                <a:close/>
              </a:path>
            </a:pathLst>
          </a:custGeom>
          <a:solidFill>
            <a:srgbClr val="DCEBF7">
              <a:alpha val="75000"/>
            </a:srgbClr>
          </a:solidFill>
          <a:ln w="5080">
            <a:solidFill>
              <a:srgbClr val="7F9DB8"/>
            </a:solidFill>
            <a:prstDash val="solid"/>
          </a:ln>
        </p:spPr>
      </p:sp>
      <p:sp>
        <p:nvSpPr>
          <p:cNvPr id="40" name="Shape 38"/>
          <p:cNvSpPr/>
          <p:nvPr/>
        </p:nvSpPr>
        <p:spPr>
          <a:xfrm>
            <a:off x="2023240" y="3178237"/>
            <a:ext cx="130529" cy="255092"/>
          </a:xfrm>
          <a:custGeom>
            <a:avLst/>
            <a:gdLst/>
            <a:ahLst/>
            <a:cxnLst/>
            <a:rect l="l" t="t" r="r" b="b"/>
            <a:pathLst>
              <a:path w="130529" h="255092">
                <a:moveTo>
                  <a:pt x="68824" y="255092"/>
                </a:moveTo>
                <a:lnTo>
                  <a:pt x="41072" y="221165"/>
                </a:lnTo>
                <a:lnTo>
                  <a:pt x="18073" y="185828"/>
                </a:lnTo>
                <a:lnTo>
                  <a:pt x="0" y="149350"/>
                </a:lnTo>
                <a:lnTo>
                  <a:pt x="0" y="149350"/>
                </a:lnTo>
                <a:lnTo>
                  <a:pt x="18073" y="98795"/>
                </a:lnTo>
                <a:lnTo>
                  <a:pt x="41072" y="48885"/>
                </a:lnTo>
                <a:lnTo>
                  <a:pt x="68824" y="0"/>
                </a:lnTo>
                <a:lnTo>
                  <a:pt x="68824" y="0"/>
                </a:lnTo>
                <a:lnTo>
                  <a:pt x="85027" y="32705"/>
                </a:lnTo>
                <a:lnTo>
                  <a:pt x="105648" y="64387"/>
                </a:lnTo>
                <a:lnTo>
                  <a:pt x="130529" y="94805"/>
                </a:lnTo>
                <a:lnTo>
                  <a:pt x="130529" y="94805"/>
                </a:lnTo>
                <a:lnTo>
                  <a:pt x="105648" y="148100"/>
                </a:lnTo>
                <a:lnTo>
                  <a:pt x="85027" y="201665"/>
                </a:lnTo>
                <a:lnTo>
                  <a:pt x="68824" y="255092"/>
                </a:lnTo>
                <a:close/>
              </a:path>
            </a:pathLst>
          </a:custGeom>
          <a:solidFill>
            <a:srgbClr val="E8934D">
              <a:alpha val="90000"/>
            </a:srgbClr>
          </a:solidFill>
          <a:ln w="5080">
            <a:solidFill>
              <a:srgbClr val="7F9DB8"/>
            </a:solidFill>
            <a:prstDash val="solid"/>
          </a:ln>
        </p:spPr>
      </p:sp>
      <p:sp>
        <p:nvSpPr>
          <p:cNvPr id="41" name="Shape 39"/>
          <p:cNvSpPr/>
          <p:nvPr/>
        </p:nvSpPr>
        <p:spPr>
          <a:xfrm>
            <a:off x="2332075" y="2780243"/>
            <a:ext cx="178306" cy="87407"/>
          </a:xfrm>
          <a:custGeom>
            <a:avLst/>
            <a:gdLst/>
            <a:ahLst/>
            <a:cxnLst/>
            <a:rect l="l" t="t" r="r" b="b"/>
            <a:pathLst>
              <a:path w="178306" h="87407">
                <a:moveTo>
                  <a:pt x="0" y="87407"/>
                </a:moveTo>
                <a:lnTo>
                  <a:pt x="1357" y="67627"/>
                </a:lnTo>
                <a:lnTo>
                  <a:pt x="5418" y="47998"/>
                </a:lnTo>
                <a:lnTo>
                  <a:pt x="12151" y="28668"/>
                </a:lnTo>
                <a:lnTo>
                  <a:pt x="12151" y="28668"/>
                </a:lnTo>
                <a:lnTo>
                  <a:pt x="65461" y="14774"/>
                </a:lnTo>
                <a:lnTo>
                  <a:pt x="120987" y="5194"/>
                </a:lnTo>
                <a:lnTo>
                  <a:pt x="178306" y="0"/>
                </a:lnTo>
                <a:lnTo>
                  <a:pt x="178306" y="0"/>
                </a:lnTo>
                <a:lnTo>
                  <a:pt x="174821" y="10006"/>
                </a:lnTo>
                <a:lnTo>
                  <a:pt x="172719" y="20167"/>
                </a:lnTo>
                <a:lnTo>
                  <a:pt x="172016" y="30405"/>
                </a:lnTo>
                <a:lnTo>
                  <a:pt x="172016" y="30405"/>
                </a:lnTo>
                <a:lnTo>
                  <a:pt x="112675" y="45374"/>
                </a:lnTo>
                <a:lnTo>
                  <a:pt x="55191" y="64423"/>
                </a:lnTo>
                <a:lnTo>
                  <a:pt x="0" y="87407"/>
                </a:lnTo>
                <a:close/>
              </a:path>
            </a:pathLst>
          </a:custGeom>
          <a:solidFill>
            <a:srgbClr val="DCEBF7">
              <a:alpha val="75000"/>
            </a:srgbClr>
          </a:solidFill>
          <a:ln w="5080">
            <a:solidFill>
              <a:srgbClr val="7F9DB8"/>
            </a:solidFill>
            <a:prstDash val="solid"/>
          </a:ln>
        </p:spPr>
      </p:sp>
      <p:sp>
        <p:nvSpPr>
          <p:cNvPr id="42" name="Shape 40"/>
          <p:cNvSpPr/>
          <p:nvPr/>
        </p:nvSpPr>
        <p:spPr>
          <a:xfrm>
            <a:off x="2071017" y="3433329"/>
            <a:ext cx="130529" cy="249417"/>
          </a:xfrm>
          <a:custGeom>
            <a:avLst/>
            <a:gdLst/>
            <a:ahLst/>
            <a:cxnLst/>
            <a:rect l="l" t="t" r="r" b="b"/>
            <a:pathLst>
              <a:path w="130529" h="249417">
                <a:moveTo>
                  <a:pt x="113345" y="249417"/>
                </a:moveTo>
                <a:lnTo>
                  <a:pt x="71309" y="220223"/>
                </a:lnTo>
                <a:lnTo>
                  <a:pt x="33431" y="188808"/>
                </a:lnTo>
                <a:lnTo>
                  <a:pt x="0" y="155412"/>
                </a:lnTo>
                <a:lnTo>
                  <a:pt x="0" y="155412"/>
                </a:lnTo>
                <a:lnTo>
                  <a:pt x="2350" y="104818"/>
                </a:lnTo>
                <a:lnTo>
                  <a:pt x="9384" y="52883"/>
                </a:lnTo>
                <a:lnTo>
                  <a:pt x="21047" y="0"/>
                </a:lnTo>
                <a:lnTo>
                  <a:pt x="21047" y="0"/>
                </a:lnTo>
                <a:lnTo>
                  <a:pt x="53339" y="32258"/>
                </a:lnTo>
                <a:lnTo>
                  <a:pt x="89926" y="62603"/>
                </a:lnTo>
                <a:lnTo>
                  <a:pt x="130529" y="90802"/>
                </a:lnTo>
                <a:lnTo>
                  <a:pt x="130529" y="90802"/>
                </a:lnTo>
                <a:lnTo>
                  <a:pt x="121007" y="145460"/>
                </a:lnTo>
                <a:lnTo>
                  <a:pt x="115264" y="198466"/>
                </a:lnTo>
                <a:lnTo>
                  <a:pt x="113345" y="249417"/>
                </a:lnTo>
                <a:close/>
              </a:path>
            </a:pathLst>
          </a:custGeom>
          <a:solidFill>
            <a:srgbClr val="E8934D">
              <a:alpha val="90000"/>
            </a:srgbClr>
          </a:solidFill>
          <a:ln w="5080">
            <a:solidFill>
              <a:srgbClr val="7F9DB8"/>
            </a:solidFill>
            <a:prstDash val="solid"/>
          </a:ln>
        </p:spPr>
      </p:sp>
      <p:sp>
        <p:nvSpPr>
          <p:cNvPr id="43" name="Shape 41"/>
          <p:cNvSpPr/>
          <p:nvPr/>
        </p:nvSpPr>
        <p:spPr>
          <a:xfrm>
            <a:off x="2528823" y="2727579"/>
            <a:ext cx="159865" cy="63627"/>
          </a:xfrm>
          <a:custGeom>
            <a:avLst/>
            <a:gdLst/>
            <a:ahLst/>
            <a:cxnLst/>
            <a:rect l="l" t="t" r="r" b="b"/>
            <a:pathLst>
              <a:path w="159865" h="63627">
                <a:moveTo>
                  <a:pt x="0" y="24330"/>
                </a:moveTo>
                <a:lnTo>
                  <a:pt x="8653" y="15687"/>
                </a:lnTo>
                <a:lnTo>
                  <a:pt x="18456" y="7556"/>
                </a:lnTo>
                <a:lnTo>
                  <a:pt x="29336" y="0"/>
                </a:lnTo>
                <a:lnTo>
                  <a:pt x="29336" y="0"/>
                </a:lnTo>
                <a:lnTo>
                  <a:pt x="72290" y="16562"/>
                </a:lnTo>
                <a:lnTo>
                  <a:pt x="115910" y="37825"/>
                </a:lnTo>
                <a:lnTo>
                  <a:pt x="159865" y="63627"/>
                </a:lnTo>
                <a:lnTo>
                  <a:pt x="159865" y="63627"/>
                </a:lnTo>
                <a:lnTo>
                  <a:pt x="159865" y="63627"/>
                </a:lnTo>
                <a:lnTo>
                  <a:pt x="159865" y="63627"/>
                </a:lnTo>
                <a:lnTo>
                  <a:pt x="159865" y="63627"/>
                </a:lnTo>
                <a:lnTo>
                  <a:pt x="159865" y="63627"/>
                </a:lnTo>
                <a:lnTo>
                  <a:pt x="106031" y="46018"/>
                </a:lnTo>
                <a:lnTo>
                  <a:pt x="52608" y="32886"/>
                </a:lnTo>
                <a:lnTo>
                  <a:pt x="0" y="24330"/>
                </a:lnTo>
                <a:close/>
              </a:path>
            </a:pathLst>
          </a:custGeom>
          <a:solidFill>
            <a:srgbClr val="DCEBF7">
              <a:alpha val="75000"/>
            </a:srgbClr>
          </a:solidFill>
          <a:ln w="5080">
            <a:solidFill>
              <a:srgbClr val="7F9DB8"/>
            </a:solidFill>
            <a:prstDash val="solid"/>
          </a:ln>
        </p:spPr>
      </p:sp>
      <p:sp>
        <p:nvSpPr>
          <p:cNvPr id="44" name="Shape 42"/>
          <p:cNvSpPr/>
          <p:nvPr/>
        </p:nvSpPr>
        <p:spPr>
          <a:xfrm>
            <a:off x="2184362" y="2867650"/>
            <a:ext cx="159865" cy="173746"/>
          </a:xfrm>
          <a:custGeom>
            <a:avLst/>
            <a:gdLst/>
            <a:ahLst/>
            <a:cxnLst/>
            <a:rect l="l" t="t" r="r" b="b"/>
            <a:pathLst>
              <a:path w="159865" h="173746">
                <a:moveTo>
                  <a:pt x="17185" y="173746"/>
                </a:moveTo>
                <a:lnTo>
                  <a:pt x="7662" y="146410"/>
                </a:lnTo>
                <a:lnTo>
                  <a:pt x="1919" y="118650"/>
                </a:lnTo>
                <a:lnTo>
                  <a:pt x="0" y="90677"/>
                </a:lnTo>
                <a:lnTo>
                  <a:pt x="0" y="90677"/>
                </a:lnTo>
                <a:lnTo>
                  <a:pt x="45874" y="57048"/>
                </a:lnTo>
                <a:lnTo>
                  <a:pt x="95237" y="26745"/>
                </a:lnTo>
                <a:lnTo>
                  <a:pt x="147714" y="0"/>
                </a:lnTo>
                <a:lnTo>
                  <a:pt x="147714" y="0"/>
                </a:lnTo>
                <a:lnTo>
                  <a:pt x="149071" y="19780"/>
                </a:lnTo>
                <a:lnTo>
                  <a:pt x="153132" y="39409"/>
                </a:lnTo>
                <a:lnTo>
                  <a:pt x="159865" y="58739"/>
                </a:lnTo>
                <a:lnTo>
                  <a:pt x="159865" y="58739"/>
                </a:lnTo>
                <a:lnTo>
                  <a:pt x="109177" y="94128"/>
                </a:lnTo>
                <a:lnTo>
                  <a:pt x="61495" y="132561"/>
                </a:lnTo>
                <a:lnTo>
                  <a:pt x="17185" y="173746"/>
                </a:lnTo>
                <a:close/>
              </a:path>
            </a:pathLst>
          </a:custGeom>
          <a:solidFill>
            <a:srgbClr val="DCEBF7">
              <a:alpha val="75000"/>
            </a:srgbClr>
          </a:solidFill>
          <a:ln w="5080">
            <a:solidFill>
              <a:srgbClr val="7F9DB8"/>
            </a:solidFill>
            <a:prstDash val="solid"/>
          </a:ln>
        </p:spPr>
      </p:sp>
      <p:sp>
        <p:nvSpPr>
          <p:cNvPr id="45" name="Shape 43"/>
          <p:cNvSpPr/>
          <p:nvPr/>
        </p:nvSpPr>
        <p:spPr>
          <a:xfrm>
            <a:off x="2510382" y="2751910"/>
            <a:ext cx="178306" cy="39296"/>
          </a:xfrm>
          <a:custGeom>
            <a:avLst/>
            <a:gdLst/>
            <a:ahLst/>
            <a:cxnLst/>
            <a:rect l="l" t="t" r="r" b="b"/>
            <a:pathLst>
              <a:path w="178306" h="39296">
                <a:moveTo>
                  <a:pt x="0" y="28333"/>
                </a:moveTo>
                <a:lnTo>
                  <a:pt x="4843" y="18559"/>
                </a:lnTo>
                <a:lnTo>
                  <a:pt x="11005" y="9091"/>
                </a:lnTo>
                <a:lnTo>
                  <a:pt x="18441" y="0"/>
                </a:lnTo>
                <a:lnTo>
                  <a:pt x="18441" y="0"/>
                </a:lnTo>
                <a:lnTo>
                  <a:pt x="71049" y="8556"/>
                </a:lnTo>
                <a:lnTo>
                  <a:pt x="124473" y="21688"/>
                </a:lnTo>
                <a:lnTo>
                  <a:pt x="178306" y="39296"/>
                </a:lnTo>
                <a:lnTo>
                  <a:pt x="178306" y="39296"/>
                </a:lnTo>
                <a:lnTo>
                  <a:pt x="178306" y="39296"/>
                </a:lnTo>
                <a:lnTo>
                  <a:pt x="178306" y="39296"/>
                </a:lnTo>
                <a:lnTo>
                  <a:pt x="178306" y="39296"/>
                </a:lnTo>
                <a:lnTo>
                  <a:pt x="178306" y="39296"/>
                </a:lnTo>
                <a:lnTo>
                  <a:pt x="118263" y="31229"/>
                </a:lnTo>
                <a:lnTo>
                  <a:pt x="58676" y="27565"/>
                </a:lnTo>
                <a:lnTo>
                  <a:pt x="0" y="28333"/>
                </a:lnTo>
                <a:close/>
              </a:path>
            </a:pathLst>
          </a:custGeom>
          <a:solidFill>
            <a:srgbClr val="DCEBF7">
              <a:alpha val="75000"/>
            </a:srgbClr>
          </a:solidFill>
          <a:ln w="5080">
            <a:solidFill>
              <a:srgbClr val="7F9DB8"/>
            </a:solidFill>
            <a:prstDash val="solid"/>
          </a:ln>
        </p:spPr>
      </p:sp>
      <p:sp>
        <p:nvSpPr>
          <p:cNvPr id="46" name="Shape 44"/>
          <p:cNvSpPr/>
          <p:nvPr/>
        </p:nvSpPr>
        <p:spPr>
          <a:xfrm>
            <a:off x="2504092" y="2779475"/>
            <a:ext cx="184596" cy="31174"/>
          </a:xfrm>
          <a:custGeom>
            <a:avLst/>
            <a:gdLst/>
            <a:ahLst/>
            <a:cxnLst/>
            <a:rect l="l" t="t" r="r" b="b"/>
            <a:pathLst>
              <a:path w="184596" h="31174">
                <a:moveTo>
                  <a:pt x="0" y="31174"/>
                </a:moveTo>
                <a:lnTo>
                  <a:pt x="702" y="20935"/>
                </a:lnTo>
                <a:lnTo>
                  <a:pt x="2804" y="10774"/>
                </a:lnTo>
                <a:lnTo>
                  <a:pt x="6290" y="768"/>
                </a:lnTo>
                <a:lnTo>
                  <a:pt x="6290" y="768"/>
                </a:lnTo>
                <a:lnTo>
                  <a:pt x="64966" y="0"/>
                </a:lnTo>
                <a:lnTo>
                  <a:pt x="124553" y="3664"/>
                </a:lnTo>
                <a:lnTo>
                  <a:pt x="184596" y="11731"/>
                </a:lnTo>
                <a:lnTo>
                  <a:pt x="184596" y="11731"/>
                </a:lnTo>
                <a:lnTo>
                  <a:pt x="184596" y="11731"/>
                </a:lnTo>
                <a:lnTo>
                  <a:pt x="184596" y="11731"/>
                </a:lnTo>
                <a:lnTo>
                  <a:pt x="184596" y="11731"/>
                </a:lnTo>
                <a:lnTo>
                  <a:pt x="184596" y="11731"/>
                </a:lnTo>
                <a:lnTo>
                  <a:pt x="122435" y="13903"/>
                </a:lnTo>
                <a:lnTo>
                  <a:pt x="60746" y="20400"/>
                </a:lnTo>
                <a:lnTo>
                  <a:pt x="0" y="31174"/>
                </a:lnTo>
                <a:close/>
              </a:path>
            </a:pathLst>
          </a:custGeom>
          <a:solidFill>
            <a:srgbClr val="DCEBF7">
              <a:alpha val="75000"/>
            </a:srgbClr>
          </a:solidFill>
          <a:ln w="5080">
            <a:solidFill>
              <a:srgbClr val="7F9DB8"/>
            </a:solidFill>
            <a:prstDash val="solid"/>
          </a:ln>
        </p:spPr>
      </p:sp>
      <p:sp>
        <p:nvSpPr>
          <p:cNvPr id="47" name="Shape 45"/>
          <p:cNvSpPr/>
          <p:nvPr/>
        </p:nvSpPr>
        <p:spPr>
          <a:xfrm>
            <a:off x="2332075" y="2810648"/>
            <a:ext cx="178306" cy="115740"/>
          </a:xfrm>
          <a:custGeom>
            <a:avLst/>
            <a:gdLst/>
            <a:ahLst/>
            <a:cxnLst/>
            <a:rect l="l" t="t" r="r" b="b"/>
            <a:pathLst>
              <a:path w="178306" h="115740">
                <a:moveTo>
                  <a:pt x="12151" y="115740"/>
                </a:moveTo>
                <a:lnTo>
                  <a:pt x="5418" y="96411"/>
                </a:lnTo>
                <a:lnTo>
                  <a:pt x="1357" y="76782"/>
                </a:lnTo>
                <a:lnTo>
                  <a:pt x="0" y="57002"/>
                </a:lnTo>
                <a:lnTo>
                  <a:pt x="0" y="57002"/>
                </a:lnTo>
                <a:lnTo>
                  <a:pt x="55191" y="34017"/>
                </a:lnTo>
                <a:lnTo>
                  <a:pt x="112675" y="14968"/>
                </a:lnTo>
                <a:lnTo>
                  <a:pt x="172016" y="0"/>
                </a:lnTo>
                <a:lnTo>
                  <a:pt x="172016" y="0"/>
                </a:lnTo>
                <a:lnTo>
                  <a:pt x="172719" y="10239"/>
                </a:lnTo>
                <a:lnTo>
                  <a:pt x="174821" y="20400"/>
                </a:lnTo>
                <a:lnTo>
                  <a:pt x="178306" y="30405"/>
                </a:lnTo>
                <a:lnTo>
                  <a:pt x="178306" y="30405"/>
                </a:lnTo>
                <a:lnTo>
                  <a:pt x="120987" y="55148"/>
                </a:lnTo>
                <a:lnTo>
                  <a:pt x="65461" y="83665"/>
                </a:lnTo>
                <a:lnTo>
                  <a:pt x="12151" y="115740"/>
                </a:lnTo>
                <a:close/>
              </a:path>
            </a:pathLst>
          </a:custGeom>
          <a:solidFill>
            <a:srgbClr val="DCEBF7">
              <a:alpha val="75000"/>
            </a:srgbClr>
          </a:solidFill>
          <a:ln w="5080">
            <a:solidFill>
              <a:srgbClr val="7F9DB8"/>
            </a:solidFill>
            <a:prstDash val="solid"/>
          </a:ln>
        </p:spPr>
      </p:sp>
      <p:sp>
        <p:nvSpPr>
          <p:cNvPr id="48" name="Shape 46"/>
          <p:cNvSpPr/>
          <p:nvPr/>
        </p:nvSpPr>
        <p:spPr>
          <a:xfrm>
            <a:off x="2092064" y="3041396"/>
            <a:ext cx="159865" cy="231647"/>
          </a:xfrm>
          <a:custGeom>
            <a:avLst/>
            <a:gdLst/>
            <a:ahLst/>
            <a:cxnLst/>
            <a:rect l="l" t="t" r="r" b="b"/>
            <a:pathLst>
              <a:path w="159865" h="231647">
                <a:moveTo>
                  <a:pt x="61706" y="231647"/>
                </a:moveTo>
                <a:lnTo>
                  <a:pt x="36824" y="201229"/>
                </a:lnTo>
                <a:lnTo>
                  <a:pt x="16203" y="169547"/>
                </a:lnTo>
                <a:lnTo>
                  <a:pt x="0" y="136842"/>
                </a:lnTo>
                <a:lnTo>
                  <a:pt x="0" y="136842"/>
                </a:lnTo>
                <a:lnTo>
                  <a:pt x="32292" y="89353"/>
                </a:lnTo>
                <a:lnTo>
                  <a:pt x="68879" y="43623"/>
                </a:lnTo>
                <a:lnTo>
                  <a:pt x="109483" y="0"/>
                </a:lnTo>
                <a:lnTo>
                  <a:pt x="109483" y="0"/>
                </a:lnTo>
                <a:lnTo>
                  <a:pt x="122713" y="26704"/>
                </a:lnTo>
                <a:lnTo>
                  <a:pt x="139550" y="52572"/>
                </a:lnTo>
                <a:lnTo>
                  <a:pt x="159865" y="77408"/>
                </a:lnTo>
                <a:lnTo>
                  <a:pt x="159865" y="77408"/>
                </a:lnTo>
                <a:lnTo>
                  <a:pt x="123461" y="127484"/>
                </a:lnTo>
                <a:lnTo>
                  <a:pt x="90658" y="179027"/>
                </a:lnTo>
                <a:lnTo>
                  <a:pt x="61706" y="231647"/>
                </a:lnTo>
                <a:close/>
              </a:path>
            </a:pathLst>
          </a:custGeom>
          <a:solidFill>
            <a:srgbClr val="DCEBF7">
              <a:alpha val="75000"/>
            </a:srgbClr>
          </a:solidFill>
          <a:ln w="5080">
            <a:solidFill>
              <a:srgbClr val="7F9DB8"/>
            </a:solidFill>
            <a:prstDash val="solid"/>
          </a:ln>
        </p:spPr>
      </p:sp>
      <p:sp>
        <p:nvSpPr>
          <p:cNvPr id="49" name="Shape 47"/>
          <p:cNvSpPr/>
          <p:nvPr/>
        </p:nvSpPr>
        <p:spPr>
          <a:xfrm>
            <a:off x="2504092" y="2791206"/>
            <a:ext cx="184596" cy="49848"/>
          </a:xfrm>
          <a:custGeom>
            <a:avLst/>
            <a:gdLst/>
            <a:ahLst/>
            <a:cxnLst/>
            <a:rect l="l" t="t" r="r" b="b"/>
            <a:pathLst>
              <a:path w="184596" h="49848">
                <a:moveTo>
                  <a:pt x="6290" y="49848"/>
                </a:moveTo>
                <a:lnTo>
                  <a:pt x="2804" y="39842"/>
                </a:lnTo>
                <a:lnTo>
                  <a:pt x="702" y="29681"/>
                </a:lnTo>
                <a:lnTo>
                  <a:pt x="0" y="19442"/>
                </a:lnTo>
                <a:lnTo>
                  <a:pt x="0" y="19442"/>
                </a:lnTo>
                <a:lnTo>
                  <a:pt x="60746" y="8668"/>
                </a:lnTo>
                <a:lnTo>
                  <a:pt x="122435" y="2171"/>
                </a:lnTo>
                <a:lnTo>
                  <a:pt x="184596" y="0"/>
                </a:lnTo>
                <a:lnTo>
                  <a:pt x="184596" y="0"/>
                </a:lnTo>
                <a:lnTo>
                  <a:pt x="184596" y="0"/>
                </a:lnTo>
                <a:lnTo>
                  <a:pt x="184596" y="0"/>
                </a:lnTo>
                <a:lnTo>
                  <a:pt x="184596" y="0"/>
                </a:lnTo>
                <a:lnTo>
                  <a:pt x="184596" y="0"/>
                </a:lnTo>
                <a:lnTo>
                  <a:pt x="124553" y="12410"/>
                </a:lnTo>
                <a:lnTo>
                  <a:pt x="64966" y="29068"/>
                </a:lnTo>
                <a:lnTo>
                  <a:pt x="6290" y="49848"/>
                </a:lnTo>
                <a:close/>
              </a:path>
            </a:pathLst>
          </a:custGeom>
          <a:solidFill>
            <a:srgbClr val="DCEBF7">
              <a:alpha val="75000"/>
            </a:srgbClr>
          </a:solidFill>
          <a:ln w="5080">
            <a:solidFill>
              <a:srgbClr val="7F9DB8"/>
            </a:solidFill>
            <a:prstDash val="solid"/>
          </a:ln>
        </p:spPr>
      </p:sp>
      <p:sp>
        <p:nvSpPr>
          <p:cNvPr id="50" name="Shape 48"/>
          <p:cNvSpPr/>
          <p:nvPr/>
        </p:nvSpPr>
        <p:spPr>
          <a:xfrm>
            <a:off x="2510382" y="2791206"/>
            <a:ext cx="178306" cy="78181"/>
          </a:xfrm>
          <a:custGeom>
            <a:avLst/>
            <a:gdLst/>
            <a:ahLst/>
            <a:cxnLst/>
            <a:rect l="l" t="t" r="r" b="b"/>
            <a:pathLst>
              <a:path w="178306" h="78181">
                <a:moveTo>
                  <a:pt x="18441" y="78181"/>
                </a:moveTo>
                <a:lnTo>
                  <a:pt x="11005" y="69090"/>
                </a:lnTo>
                <a:lnTo>
                  <a:pt x="4843" y="59622"/>
                </a:lnTo>
                <a:lnTo>
                  <a:pt x="0" y="49848"/>
                </a:lnTo>
                <a:lnTo>
                  <a:pt x="0" y="49848"/>
                </a:lnTo>
                <a:lnTo>
                  <a:pt x="58676" y="29068"/>
                </a:lnTo>
                <a:lnTo>
                  <a:pt x="118263" y="12410"/>
                </a:lnTo>
                <a:lnTo>
                  <a:pt x="178306" y="0"/>
                </a:lnTo>
                <a:lnTo>
                  <a:pt x="178306" y="0"/>
                </a:lnTo>
                <a:lnTo>
                  <a:pt x="178306" y="0"/>
                </a:lnTo>
                <a:lnTo>
                  <a:pt x="178306" y="0"/>
                </a:lnTo>
                <a:lnTo>
                  <a:pt x="178306" y="0"/>
                </a:lnTo>
                <a:lnTo>
                  <a:pt x="178306" y="0"/>
                </a:lnTo>
                <a:lnTo>
                  <a:pt x="124473" y="21951"/>
                </a:lnTo>
                <a:lnTo>
                  <a:pt x="71049" y="48078"/>
                </a:lnTo>
                <a:lnTo>
                  <a:pt x="18441" y="78181"/>
                </a:lnTo>
                <a:close/>
              </a:path>
            </a:pathLst>
          </a:custGeom>
          <a:solidFill>
            <a:srgbClr val="DCEBF7">
              <a:alpha val="75000"/>
            </a:srgbClr>
          </a:solidFill>
          <a:ln w="5080">
            <a:solidFill>
              <a:srgbClr val="7F9DB8"/>
            </a:solidFill>
            <a:prstDash val="solid"/>
          </a:ln>
        </p:spPr>
      </p:sp>
      <p:sp>
        <p:nvSpPr>
          <p:cNvPr id="51" name="Shape 49"/>
          <p:cNvSpPr/>
          <p:nvPr/>
        </p:nvSpPr>
        <p:spPr>
          <a:xfrm>
            <a:off x="2201546" y="2926389"/>
            <a:ext cx="178306" cy="192415"/>
          </a:xfrm>
          <a:custGeom>
            <a:avLst/>
            <a:gdLst/>
            <a:ahLst/>
            <a:cxnLst/>
            <a:rect l="l" t="t" r="r" b="b"/>
            <a:pathLst>
              <a:path w="178306" h="192415">
                <a:moveTo>
                  <a:pt x="50382" y="192415"/>
                </a:moveTo>
                <a:lnTo>
                  <a:pt x="30067" y="167579"/>
                </a:lnTo>
                <a:lnTo>
                  <a:pt x="13230" y="141711"/>
                </a:lnTo>
                <a:lnTo>
                  <a:pt x="0" y="115007"/>
                </a:lnTo>
                <a:lnTo>
                  <a:pt x="0" y="115007"/>
                </a:lnTo>
                <a:lnTo>
                  <a:pt x="44311" y="73822"/>
                </a:lnTo>
                <a:lnTo>
                  <a:pt x="91992" y="35389"/>
                </a:lnTo>
                <a:lnTo>
                  <a:pt x="142681" y="0"/>
                </a:lnTo>
                <a:lnTo>
                  <a:pt x="142681" y="0"/>
                </a:lnTo>
                <a:lnTo>
                  <a:pt x="152036" y="18882"/>
                </a:lnTo>
                <a:lnTo>
                  <a:pt x="163941" y="37174"/>
                </a:lnTo>
                <a:lnTo>
                  <a:pt x="178306" y="54736"/>
                </a:lnTo>
                <a:lnTo>
                  <a:pt x="178306" y="54736"/>
                </a:lnTo>
                <a:lnTo>
                  <a:pt x="132860" y="98179"/>
                </a:lnTo>
                <a:lnTo>
                  <a:pt x="90111" y="144189"/>
                </a:lnTo>
                <a:lnTo>
                  <a:pt x="50382" y="192415"/>
                </a:lnTo>
                <a:close/>
              </a:path>
            </a:pathLst>
          </a:custGeom>
          <a:solidFill>
            <a:srgbClr val="DCEBF7">
              <a:alpha val="75000"/>
            </a:srgbClr>
          </a:solidFill>
          <a:ln w="5080">
            <a:solidFill>
              <a:srgbClr val="7F9DB8"/>
            </a:solidFill>
            <a:prstDash val="solid"/>
          </a:ln>
        </p:spPr>
      </p:sp>
      <p:sp>
        <p:nvSpPr>
          <p:cNvPr id="52" name="Shape 50"/>
          <p:cNvSpPr/>
          <p:nvPr/>
        </p:nvSpPr>
        <p:spPr>
          <a:xfrm>
            <a:off x="2092064" y="3273042"/>
            <a:ext cx="159865" cy="251089"/>
          </a:xfrm>
          <a:custGeom>
            <a:avLst/>
            <a:gdLst/>
            <a:ahLst/>
            <a:cxnLst/>
            <a:rect l="l" t="t" r="r" b="b"/>
            <a:pathLst>
              <a:path w="159865" h="251089">
                <a:moveTo>
                  <a:pt x="109483" y="251089"/>
                </a:moveTo>
                <a:lnTo>
                  <a:pt x="68879" y="222889"/>
                </a:lnTo>
                <a:lnTo>
                  <a:pt x="32292" y="192545"/>
                </a:lnTo>
                <a:lnTo>
                  <a:pt x="0" y="160287"/>
                </a:lnTo>
                <a:lnTo>
                  <a:pt x="0" y="160287"/>
                </a:lnTo>
                <a:lnTo>
                  <a:pt x="16203" y="106860"/>
                </a:lnTo>
                <a:lnTo>
                  <a:pt x="36824" y="53295"/>
                </a:lnTo>
                <a:lnTo>
                  <a:pt x="61706" y="0"/>
                </a:lnTo>
                <a:lnTo>
                  <a:pt x="61706" y="0"/>
                </a:lnTo>
                <a:lnTo>
                  <a:pt x="90658" y="28922"/>
                </a:lnTo>
                <a:lnTo>
                  <a:pt x="123461" y="56128"/>
                </a:lnTo>
                <a:lnTo>
                  <a:pt x="159865" y="81411"/>
                </a:lnTo>
                <a:lnTo>
                  <a:pt x="159865" y="81411"/>
                </a:lnTo>
                <a:lnTo>
                  <a:pt x="139550" y="138493"/>
                </a:lnTo>
                <a:lnTo>
                  <a:pt x="122713" y="195196"/>
                </a:lnTo>
                <a:lnTo>
                  <a:pt x="109483" y="251089"/>
                </a:lnTo>
                <a:close/>
              </a:path>
            </a:pathLst>
          </a:custGeom>
          <a:solidFill>
            <a:srgbClr val="E8934D">
              <a:alpha val="90000"/>
            </a:srgbClr>
          </a:solidFill>
          <a:ln w="5080">
            <a:solidFill>
              <a:srgbClr val="7F9DB8"/>
            </a:solidFill>
            <a:prstDash val="solid"/>
          </a:ln>
        </p:spPr>
      </p:sp>
      <p:sp>
        <p:nvSpPr>
          <p:cNvPr id="53" name="Shape 51"/>
          <p:cNvSpPr/>
          <p:nvPr/>
        </p:nvSpPr>
        <p:spPr>
          <a:xfrm>
            <a:off x="2528823" y="2791206"/>
            <a:ext cx="159865" cy="102511"/>
          </a:xfrm>
          <a:custGeom>
            <a:avLst/>
            <a:gdLst/>
            <a:ahLst/>
            <a:cxnLst/>
            <a:rect l="l" t="t" r="r" b="b"/>
            <a:pathLst>
              <a:path w="159865" h="102511">
                <a:moveTo>
                  <a:pt x="29336" y="102511"/>
                </a:moveTo>
                <a:lnTo>
                  <a:pt x="18456" y="94955"/>
                </a:lnTo>
                <a:lnTo>
                  <a:pt x="8653" y="86825"/>
                </a:lnTo>
                <a:lnTo>
                  <a:pt x="0" y="78181"/>
                </a:lnTo>
                <a:lnTo>
                  <a:pt x="0" y="78181"/>
                </a:lnTo>
                <a:lnTo>
                  <a:pt x="52608" y="48078"/>
                </a:lnTo>
                <a:lnTo>
                  <a:pt x="106031" y="21951"/>
                </a:lnTo>
                <a:lnTo>
                  <a:pt x="159865" y="0"/>
                </a:lnTo>
                <a:lnTo>
                  <a:pt x="159865" y="0"/>
                </a:lnTo>
                <a:lnTo>
                  <a:pt x="159865" y="0"/>
                </a:lnTo>
                <a:lnTo>
                  <a:pt x="159865" y="0"/>
                </a:lnTo>
                <a:lnTo>
                  <a:pt x="159865" y="0"/>
                </a:lnTo>
                <a:lnTo>
                  <a:pt x="159865" y="0"/>
                </a:lnTo>
                <a:lnTo>
                  <a:pt x="115910" y="30144"/>
                </a:lnTo>
                <a:lnTo>
                  <a:pt x="72290" y="64402"/>
                </a:lnTo>
                <a:lnTo>
                  <a:pt x="29336" y="102511"/>
                </a:lnTo>
                <a:close/>
              </a:path>
            </a:pathLst>
          </a:custGeom>
          <a:solidFill>
            <a:srgbClr val="DCEBF7">
              <a:alpha val="75000"/>
            </a:srgbClr>
          </a:solidFill>
          <a:ln w="5080">
            <a:solidFill>
              <a:srgbClr val="7F9DB8"/>
            </a:solidFill>
            <a:prstDash val="solid"/>
          </a:ln>
        </p:spPr>
      </p:sp>
      <p:sp>
        <p:nvSpPr>
          <p:cNvPr id="54" name="Shape 52"/>
          <p:cNvSpPr/>
          <p:nvPr/>
        </p:nvSpPr>
        <p:spPr>
          <a:xfrm>
            <a:off x="2344227" y="2841054"/>
            <a:ext cx="184596" cy="140071"/>
          </a:xfrm>
          <a:custGeom>
            <a:avLst/>
            <a:gdLst/>
            <a:ahLst/>
            <a:cxnLst/>
            <a:rect l="l" t="t" r="r" b="b"/>
            <a:pathLst>
              <a:path w="184596" h="140071">
                <a:moveTo>
                  <a:pt x="35626" y="140071"/>
                </a:moveTo>
                <a:lnTo>
                  <a:pt x="21261" y="122509"/>
                </a:lnTo>
                <a:lnTo>
                  <a:pt x="9355" y="104217"/>
                </a:lnTo>
                <a:lnTo>
                  <a:pt x="0" y="85335"/>
                </a:lnTo>
                <a:lnTo>
                  <a:pt x="0" y="85335"/>
                </a:lnTo>
                <a:lnTo>
                  <a:pt x="53310" y="53260"/>
                </a:lnTo>
                <a:lnTo>
                  <a:pt x="108836" y="24743"/>
                </a:lnTo>
                <a:lnTo>
                  <a:pt x="166155" y="0"/>
                </a:lnTo>
                <a:lnTo>
                  <a:pt x="166155" y="0"/>
                </a:lnTo>
                <a:lnTo>
                  <a:pt x="170998" y="9774"/>
                </a:lnTo>
                <a:lnTo>
                  <a:pt x="177160" y="19243"/>
                </a:lnTo>
                <a:lnTo>
                  <a:pt x="184596" y="28333"/>
                </a:lnTo>
                <a:lnTo>
                  <a:pt x="184596" y="28333"/>
                </a:lnTo>
                <a:lnTo>
                  <a:pt x="133205" y="62184"/>
                </a:lnTo>
                <a:lnTo>
                  <a:pt x="83422" y="99525"/>
                </a:lnTo>
                <a:lnTo>
                  <a:pt x="35626" y="140071"/>
                </a:lnTo>
                <a:close/>
              </a:path>
            </a:pathLst>
          </a:custGeom>
          <a:solidFill>
            <a:srgbClr val="DCEBF7">
              <a:alpha val="75000"/>
            </a:srgbClr>
          </a:solidFill>
          <a:ln w="5080">
            <a:solidFill>
              <a:srgbClr val="7F9DB8"/>
            </a:solidFill>
            <a:prstDash val="solid"/>
          </a:ln>
        </p:spPr>
      </p:sp>
      <p:sp>
        <p:nvSpPr>
          <p:cNvPr id="55" name="Shape 53"/>
          <p:cNvSpPr/>
          <p:nvPr/>
        </p:nvSpPr>
        <p:spPr>
          <a:xfrm>
            <a:off x="2184362" y="3524131"/>
            <a:ext cx="159865" cy="230748"/>
          </a:xfrm>
          <a:custGeom>
            <a:avLst/>
            <a:gdLst/>
            <a:ahLst/>
            <a:cxnLst/>
            <a:rect l="l" t="t" r="r" b="b"/>
            <a:pathLst>
              <a:path w="159865" h="230748">
                <a:moveTo>
                  <a:pt x="147714" y="230748"/>
                </a:moveTo>
                <a:lnTo>
                  <a:pt x="95237" y="209472"/>
                </a:lnTo>
                <a:lnTo>
                  <a:pt x="45874" y="185366"/>
                </a:lnTo>
                <a:lnTo>
                  <a:pt x="0" y="158615"/>
                </a:lnTo>
                <a:lnTo>
                  <a:pt x="0" y="158615"/>
                </a:lnTo>
                <a:lnTo>
                  <a:pt x="1919" y="107664"/>
                </a:lnTo>
                <a:lnTo>
                  <a:pt x="7662" y="54658"/>
                </a:lnTo>
                <a:lnTo>
                  <a:pt x="17185" y="0"/>
                </a:lnTo>
                <a:lnTo>
                  <a:pt x="17185" y="0"/>
                </a:lnTo>
                <a:lnTo>
                  <a:pt x="61495" y="25840"/>
                </a:lnTo>
                <a:lnTo>
                  <a:pt x="109177" y="49124"/>
                </a:lnTo>
                <a:lnTo>
                  <a:pt x="159865" y="69675"/>
                </a:lnTo>
                <a:lnTo>
                  <a:pt x="159865" y="69675"/>
                </a:lnTo>
                <a:lnTo>
                  <a:pt x="153132" y="125695"/>
                </a:lnTo>
                <a:lnTo>
                  <a:pt x="149071" y="179522"/>
                </a:lnTo>
                <a:lnTo>
                  <a:pt x="147714" y="230748"/>
                </a:lnTo>
                <a:close/>
              </a:path>
            </a:pathLst>
          </a:custGeom>
          <a:solidFill>
            <a:srgbClr val="E8934D">
              <a:alpha val="90000"/>
            </a:srgbClr>
          </a:solidFill>
          <a:ln w="5080">
            <a:solidFill>
              <a:srgbClr val="7F9DB8"/>
            </a:solidFill>
            <a:prstDash val="solid"/>
          </a:ln>
        </p:spPr>
      </p:sp>
      <p:sp>
        <p:nvSpPr>
          <p:cNvPr id="56" name="Shape 54"/>
          <p:cNvSpPr/>
          <p:nvPr/>
        </p:nvSpPr>
        <p:spPr>
          <a:xfrm>
            <a:off x="3033149" y="3524131"/>
            <a:ext cx="159865" cy="230748"/>
          </a:xfrm>
          <a:custGeom>
            <a:avLst/>
            <a:gdLst/>
            <a:ahLst/>
            <a:cxnLst/>
            <a:rect l="l" t="t" r="r" b="b"/>
            <a:pathLst>
              <a:path w="159865" h="230748">
                <a:moveTo>
                  <a:pt x="159865" y="158615"/>
                </a:moveTo>
                <a:lnTo>
                  <a:pt x="113991" y="185366"/>
                </a:lnTo>
                <a:lnTo>
                  <a:pt x="64628" y="209472"/>
                </a:lnTo>
                <a:lnTo>
                  <a:pt x="12151" y="230748"/>
                </a:lnTo>
                <a:lnTo>
                  <a:pt x="12151" y="230748"/>
                </a:lnTo>
                <a:lnTo>
                  <a:pt x="10794" y="179522"/>
                </a:lnTo>
                <a:lnTo>
                  <a:pt x="6734" y="125695"/>
                </a:lnTo>
                <a:lnTo>
                  <a:pt x="0" y="69675"/>
                </a:lnTo>
                <a:lnTo>
                  <a:pt x="0" y="69675"/>
                </a:lnTo>
                <a:lnTo>
                  <a:pt x="50688" y="49124"/>
                </a:lnTo>
                <a:lnTo>
                  <a:pt x="98370" y="25840"/>
                </a:lnTo>
                <a:lnTo>
                  <a:pt x="142681" y="0"/>
                </a:lnTo>
                <a:lnTo>
                  <a:pt x="142681" y="0"/>
                </a:lnTo>
                <a:lnTo>
                  <a:pt x="152203" y="54658"/>
                </a:lnTo>
                <a:lnTo>
                  <a:pt x="157946" y="107664"/>
                </a:lnTo>
                <a:lnTo>
                  <a:pt x="159865" y="158615"/>
                </a:lnTo>
                <a:close/>
              </a:path>
            </a:pathLst>
          </a:custGeom>
          <a:solidFill>
            <a:srgbClr val="DCEBF7">
              <a:alpha val="75000"/>
            </a:srgbClr>
          </a:solidFill>
          <a:ln w="5080">
            <a:solidFill>
              <a:srgbClr val="7F9DB8"/>
            </a:solidFill>
            <a:prstDash val="solid"/>
          </a:ln>
        </p:spPr>
      </p:sp>
      <p:sp>
        <p:nvSpPr>
          <p:cNvPr id="57" name="Shape 55"/>
          <p:cNvSpPr/>
          <p:nvPr/>
        </p:nvSpPr>
        <p:spPr>
          <a:xfrm>
            <a:off x="2558159" y="2791206"/>
            <a:ext cx="130529" cy="121181"/>
          </a:xfrm>
          <a:custGeom>
            <a:avLst/>
            <a:gdLst/>
            <a:ahLst/>
            <a:cxnLst/>
            <a:rect l="l" t="t" r="r" b="b"/>
            <a:pathLst>
              <a:path w="130529" h="121181">
                <a:moveTo>
                  <a:pt x="38231" y="121181"/>
                </a:moveTo>
                <a:lnTo>
                  <a:pt x="24649" y="115674"/>
                </a:lnTo>
                <a:lnTo>
                  <a:pt x="11873" y="109435"/>
                </a:lnTo>
                <a:lnTo>
                  <a:pt x="0" y="102511"/>
                </a:lnTo>
                <a:lnTo>
                  <a:pt x="0" y="102511"/>
                </a:lnTo>
                <a:lnTo>
                  <a:pt x="42954" y="64402"/>
                </a:lnTo>
                <a:lnTo>
                  <a:pt x="86574" y="30144"/>
                </a:lnTo>
                <a:lnTo>
                  <a:pt x="130529" y="0"/>
                </a:lnTo>
                <a:lnTo>
                  <a:pt x="130529" y="0"/>
                </a:lnTo>
                <a:lnTo>
                  <a:pt x="130529" y="0"/>
                </a:lnTo>
                <a:lnTo>
                  <a:pt x="130529" y="0"/>
                </a:lnTo>
                <a:lnTo>
                  <a:pt x="130529" y="0"/>
                </a:lnTo>
                <a:lnTo>
                  <a:pt x="130529" y="0"/>
                </a:lnTo>
                <a:lnTo>
                  <a:pt x="99448" y="36431"/>
                </a:lnTo>
                <a:lnTo>
                  <a:pt x="68604" y="76927"/>
                </a:lnTo>
                <a:lnTo>
                  <a:pt x="38231" y="121181"/>
                </a:lnTo>
                <a:close/>
              </a:path>
            </a:pathLst>
          </a:custGeom>
          <a:solidFill>
            <a:srgbClr val="DCEBF7">
              <a:alpha val="75000"/>
            </a:srgbClr>
          </a:solidFill>
          <a:ln w="5080">
            <a:solidFill>
              <a:srgbClr val="7F9DB8"/>
            </a:solidFill>
            <a:prstDash val="solid"/>
          </a:ln>
        </p:spPr>
      </p:sp>
      <p:sp>
        <p:nvSpPr>
          <p:cNvPr id="58" name="Shape 56"/>
          <p:cNvSpPr/>
          <p:nvPr/>
        </p:nvSpPr>
        <p:spPr>
          <a:xfrm>
            <a:off x="2688688" y="2791206"/>
            <a:ext cx="130529" cy="121181"/>
          </a:xfrm>
          <a:custGeom>
            <a:avLst/>
            <a:gdLst/>
            <a:ahLst/>
            <a:cxnLst/>
            <a:rect l="l" t="t" r="r" b="b"/>
            <a:pathLst>
              <a:path w="130529" h="121181">
                <a:moveTo>
                  <a:pt x="130529" y="102511"/>
                </a:moveTo>
                <a:lnTo>
                  <a:pt x="118656" y="109435"/>
                </a:lnTo>
                <a:lnTo>
                  <a:pt x="105880" y="115674"/>
                </a:lnTo>
                <a:lnTo>
                  <a:pt x="92298" y="121181"/>
                </a:lnTo>
                <a:lnTo>
                  <a:pt x="92298" y="121181"/>
                </a:lnTo>
                <a:lnTo>
                  <a:pt x="61925" y="76927"/>
                </a:lnTo>
                <a:lnTo>
                  <a:pt x="31081" y="36431"/>
                </a:lnTo>
                <a:lnTo>
                  <a:pt x="0" y="0"/>
                </a:lnTo>
                <a:lnTo>
                  <a:pt x="0" y="0"/>
                </a:lnTo>
                <a:lnTo>
                  <a:pt x="0" y="0"/>
                </a:lnTo>
                <a:lnTo>
                  <a:pt x="0" y="0"/>
                </a:lnTo>
                <a:lnTo>
                  <a:pt x="0" y="0"/>
                </a:lnTo>
                <a:lnTo>
                  <a:pt x="0" y="0"/>
                </a:lnTo>
                <a:lnTo>
                  <a:pt x="43955" y="30144"/>
                </a:lnTo>
                <a:lnTo>
                  <a:pt x="87575" y="64402"/>
                </a:lnTo>
                <a:lnTo>
                  <a:pt x="130529" y="102511"/>
                </a:lnTo>
                <a:close/>
              </a:path>
            </a:pathLst>
          </a:custGeom>
          <a:solidFill>
            <a:srgbClr val="DCEBF7">
              <a:alpha val="75000"/>
            </a:srgbClr>
          </a:solidFill>
          <a:ln w="5080">
            <a:solidFill>
              <a:srgbClr val="7F9DB8"/>
            </a:solidFill>
            <a:prstDash val="solid"/>
          </a:ln>
        </p:spPr>
      </p:sp>
      <p:sp>
        <p:nvSpPr>
          <p:cNvPr id="59" name="Shape 57"/>
          <p:cNvSpPr/>
          <p:nvPr/>
        </p:nvSpPr>
        <p:spPr>
          <a:xfrm>
            <a:off x="2688688" y="2791206"/>
            <a:ext cx="92298" cy="132917"/>
          </a:xfrm>
          <a:custGeom>
            <a:avLst/>
            <a:gdLst/>
            <a:ahLst/>
            <a:cxnLst/>
            <a:rect l="l" t="t" r="r" b="b"/>
            <a:pathLst>
              <a:path w="92298" h="132917">
                <a:moveTo>
                  <a:pt x="92298" y="121181"/>
                </a:moveTo>
                <a:lnTo>
                  <a:pt x="78014" y="125913"/>
                </a:lnTo>
                <a:lnTo>
                  <a:pt x="63136" y="129835"/>
                </a:lnTo>
                <a:lnTo>
                  <a:pt x="47777" y="132917"/>
                </a:lnTo>
                <a:lnTo>
                  <a:pt x="47777" y="132917"/>
                </a:lnTo>
                <a:lnTo>
                  <a:pt x="32055" y="84801"/>
                </a:lnTo>
                <a:lnTo>
                  <a:pt x="16089" y="40383"/>
                </a:lnTo>
                <a:lnTo>
                  <a:pt x="0" y="0"/>
                </a:lnTo>
                <a:lnTo>
                  <a:pt x="0" y="0"/>
                </a:lnTo>
                <a:lnTo>
                  <a:pt x="0" y="0"/>
                </a:lnTo>
                <a:lnTo>
                  <a:pt x="0" y="0"/>
                </a:lnTo>
                <a:lnTo>
                  <a:pt x="0" y="0"/>
                </a:lnTo>
                <a:lnTo>
                  <a:pt x="0" y="0"/>
                </a:lnTo>
                <a:lnTo>
                  <a:pt x="31081" y="36431"/>
                </a:lnTo>
                <a:lnTo>
                  <a:pt x="61925" y="76927"/>
                </a:lnTo>
                <a:lnTo>
                  <a:pt x="92298" y="121181"/>
                </a:lnTo>
                <a:close/>
              </a:path>
            </a:pathLst>
          </a:custGeom>
          <a:solidFill>
            <a:srgbClr val="DCEBF7">
              <a:alpha val="75000"/>
            </a:srgbClr>
          </a:solidFill>
          <a:ln w="5080">
            <a:solidFill>
              <a:srgbClr val="7F9DB8"/>
            </a:solidFill>
            <a:prstDash val="solid"/>
          </a:ln>
        </p:spPr>
      </p:sp>
      <p:sp>
        <p:nvSpPr>
          <p:cNvPr id="60" name="Shape 58"/>
          <p:cNvSpPr/>
          <p:nvPr/>
        </p:nvSpPr>
        <p:spPr>
          <a:xfrm>
            <a:off x="2596390" y="2791206"/>
            <a:ext cx="92298" cy="132917"/>
          </a:xfrm>
          <a:custGeom>
            <a:avLst/>
            <a:gdLst/>
            <a:ahLst/>
            <a:cxnLst/>
            <a:rect l="l" t="t" r="r" b="b"/>
            <a:pathLst>
              <a:path w="92298" h="132917">
                <a:moveTo>
                  <a:pt x="44521" y="132917"/>
                </a:moveTo>
                <a:lnTo>
                  <a:pt x="29162" y="129835"/>
                </a:lnTo>
                <a:lnTo>
                  <a:pt x="14284" y="125913"/>
                </a:lnTo>
                <a:lnTo>
                  <a:pt x="0" y="121181"/>
                </a:lnTo>
                <a:lnTo>
                  <a:pt x="0" y="121181"/>
                </a:lnTo>
                <a:lnTo>
                  <a:pt x="30373" y="76927"/>
                </a:lnTo>
                <a:lnTo>
                  <a:pt x="61217" y="36431"/>
                </a:lnTo>
                <a:lnTo>
                  <a:pt x="92298" y="0"/>
                </a:lnTo>
                <a:lnTo>
                  <a:pt x="92298" y="0"/>
                </a:lnTo>
                <a:lnTo>
                  <a:pt x="92298" y="0"/>
                </a:lnTo>
                <a:lnTo>
                  <a:pt x="92298" y="0"/>
                </a:lnTo>
                <a:lnTo>
                  <a:pt x="92298" y="0"/>
                </a:lnTo>
                <a:lnTo>
                  <a:pt x="92298" y="0"/>
                </a:lnTo>
                <a:lnTo>
                  <a:pt x="76210" y="40383"/>
                </a:lnTo>
                <a:lnTo>
                  <a:pt x="60243" y="84801"/>
                </a:lnTo>
                <a:lnTo>
                  <a:pt x="44521" y="132917"/>
                </a:lnTo>
                <a:close/>
              </a:path>
            </a:pathLst>
          </a:custGeom>
          <a:solidFill>
            <a:srgbClr val="DCEBF7">
              <a:alpha val="75000"/>
            </a:srgbClr>
          </a:solidFill>
          <a:ln w="5080">
            <a:solidFill>
              <a:srgbClr val="7F9DB8"/>
            </a:solidFill>
            <a:prstDash val="solid"/>
          </a:ln>
        </p:spPr>
      </p:sp>
      <p:sp>
        <p:nvSpPr>
          <p:cNvPr id="61" name="Shape 59"/>
          <p:cNvSpPr/>
          <p:nvPr/>
        </p:nvSpPr>
        <p:spPr>
          <a:xfrm>
            <a:off x="2688688" y="2791206"/>
            <a:ext cx="47777" cy="136920"/>
          </a:xfrm>
          <a:custGeom>
            <a:avLst/>
            <a:gdLst/>
            <a:ahLst/>
            <a:cxnLst/>
            <a:rect l="l" t="t" r="r" b="b"/>
            <a:pathLst>
              <a:path w="47777" h="136920">
                <a:moveTo>
                  <a:pt x="47777" y="132917"/>
                </a:moveTo>
                <a:lnTo>
                  <a:pt x="32055" y="135135"/>
                </a:lnTo>
                <a:lnTo>
                  <a:pt x="16089" y="136473"/>
                </a:lnTo>
                <a:lnTo>
                  <a:pt x="0" y="136920"/>
                </a:lnTo>
                <a:lnTo>
                  <a:pt x="0" y="136920"/>
                </a:lnTo>
                <a:lnTo>
                  <a:pt x="0" y="87487"/>
                </a:lnTo>
                <a:lnTo>
                  <a:pt x="0" y="41731"/>
                </a:lnTo>
                <a:lnTo>
                  <a:pt x="0" y="0"/>
                </a:lnTo>
                <a:lnTo>
                  <a:pt x="0" y="0"/>
                </a:lnTo>
                <a:lnTo>
                  <a:pt x="0" y="0"/>
                </a:lnTo>
                <a:lnTo>
                  <a:pt x="0" y="0"/>
                </a:lnTo>
                <a:lnTo>
                  <a:pt x="0" y="0"/>
                </a:lnTo>
                <a:lnTo>
                  <a:pt x="0" y="0"/>
                </a:lnTo>
                <a:lnTo>
                  <a:pt x="16089" y="40383"/>
                </a:lnTo>
                <a:lnTo>
                  <a:pt x="32055" y="84801"/>
                </a:lnTo>
                <a:lnTo>
                  <a:pt x="47777" y="132917"/>
                </a:lnTo>
                <a:close/>
              </a:path>
            </a:pathLst>
          </a:custGeom>
          <a:solidFill>
            <a:srgbClr val="DCEBF7">
              <a:alpha val="75000"/>
            </a:srgbClr>
          </a:solidFill>
          <a:ln w="5080">
            <a:solidFill>
              <a:srgbClr val="7F9DB8"/>
            </a:solidFill>
            <a:prstDash val="solid"/>
          </a:ln>
        </p:spPr>
      </p:sp>
      <p:sp>
        <p:nvSpPr>
          <p:cNvPr id="62" name="Shape 60"/>
          <p:cNvSpPr/>
          <p:nvPr/>
        </p:nvSpPr>
        <p:spPr>
          <a:xfrm>
            <a:off x="2640911" y="2791206"/>
            <a:ext cx="47777" cy="136920"/>
          </a:xfrm>
          <a:custGeom>
            <a:avLst/>
            <a:gdLst/>
            <a:ahLst/>
            <a:cxnLst/>
            <a:rect l="l" t="t" r="r" b="b"/>
            <a:pathLst>
              <a:path w="47777" h="136920">
                <a:moveTo>
                  <a:pt x="47777" y="136920"/>
                </a:moveTo>
                <a:lnTo>
                  <a:pt x="31688" y="136473"/>
                </a:lnTo>
                <a:lnTo>
                  <a:pt x="15722" y="135135"/>
                </a:lnTo>
                <a:lnTo>
                  <a:pt x="0" y="132917"/>
                </a:lnTo>
                <a:lnTo>
                  <a:pt x="0" y="132917"/>
                </a:lnTo>
                <a:lnTo>
                  <a:pt x="15722" y="84801"/>
                </a:lnTo>
                <a:lnTo>
                  <a:pt x="31688" y="40383"/>
                </a:lnTo>
                <a:lnTo>
                  <a:pt x="47777" y="0"/>
                </a:lnTo>
                <a:lnTo>
                  <a:pt x="47777" y="0"/>
                </a:lnTo>
                <a:lnTo>
                  <a:pt x="47777" y="0"/>
                </a:lnTo>
                <a:lnTo>
                  <a:pt x="47777" y="0"/>
                </a:lnTo>
                <a:lnTo>
                  <a:pt x="47777" y="0"/>
                </a:lnTo>
                <a:lnTo>
                  <a:pt x="47777" y="0"/>
                </a:lnTo>
                <a:lnTo>
                  <a:pt x="47777" y="41731"/>
                </a:lnTo>
                <a:lnTo>
                  <a:pt x="47777" y="87487"/>
                </a:lnTo>
                <a:lnTo>
                  <a:pt x="47777" y="136920"/>
                </a:lnTo>
                <a:close/>
              </a:path>
            </a:pathLst>
          </a:custGeom>
          <a:solidFill>
            <a:srgbClr val="DCEBF7">
              <a:alpha val="75000"/>
            </a:srgbClr>
          </a:solidFill>
          <a:ln w="5080">
            <a:solidFill>
              <a:srgbClr val="7F9DB8"/>
            </a:solidFill>
            <a:prstDash val="solid"/>
          </a:ln>
        </p:spPr>
      </p:sp>
      <p:sp>
        <p:nvSpPr>
          <p:cNvPr id="63" name="Shape 61"/>
          <p:cNvSpPr/>
          <p:nvPr/>
        </p:nvSpPr>
        <p:spPr>
          <a:xfrm>
            <a:off x="2153769" y="3118804"/>
            <a:ext cx="178306" cy="235650"/>
          </a:xfrm>
          <a:custGeom>
            <a:avLst/>
            <a:gdLst/>
            <a:ahLst/>
            <a:cxnLst/>
            <a:rect l="l" t="t" r="r" b="b"/>
            <a:pathLst>
              <a:path w="178306" h="235650">
                <a:moveTo>
                  <a:pt x="98159" y="235650"/>
                </a:moveTo>
                <a:lnTo>
                  <a:pt x="61755" y="210367"/>
                </a:lnTo>
                <a:lnTo>
                  <a:pt x="28952" y="183161"/>
                </a:lnTo>
                <a:lnTo>
                  <a:pt x="0" y="154239"/>
                </a:lnTo>
                <a:lnTo>
                  <a:pt x="0" y="154239"/>
                </a:lnTo>
                <a:lnTo>
                  <a:pt x="28952" y="101619"/>
                </a:lnTo>
                <a:lnTo>
                  <a:pt x="61755" y="50075"/>
                </a:lnTo>
                <a:lnTo>
                  <a:pt x="98159" y="0"/>
                </a:lnTo>
                <a:lnTo>
                  <a:pt x="98159" y="0"/>
                </a:lnTo>
                <a:lnTo>
                  <a:pt x="121799" y="23615"/>
                </a:lnTo>
                <a:lnTo>
                  <a:pt x="148582" y="45828"/>
                </a:lnTo>
                <a:lnTo>
                  <a:pt x="178306" y="66472"/>
                </a:lnTo>
                <a:lnTo>
                  <a:pt x="178306" y="66472"/>
                </a:lnTo>
                <a:lnTo>
                  <a:pt x="148582" y="122088"/>
                </a:lnTo>
                <a:lnTo>
                  <a:pt x="121799" y="178624"/>
                </a:lnTo>
                <a:lnTo>
                  <a:pt x="98159" y="235650"/>
                </a:lnTo>
                <a:close/>
              </a:path>
            </a:pathLst>
          </a:custGeom>
          <a:solidFill>
            <a:srgbClr val="DCEBF7">
              <a:alpha val="75000"/>
            </a:srgbClr>
          </a:solidFill>
          <a:ln w="5080">
            <a:solidFill>
              <a:srgbClr val="7F9DB8"/>
            </a:solidFill>
            <a:prstDash val="solid"/>
          </a:ln>
        </p:spPr>
      </p:sp>
      <p:sp>
        <p:nvSpPr>
          <p:cNvPr id="64" name="Shape 62"/>
          <p:cNvSpPr/>
          <p:nvPr/>
        </p:nvSpPr>
        <p:spPr>
          <a:xfrm>
            <a:off x="2379852" y="2869387"/>
            <a:ext cx="178306" cy="158740"/>
          </a:xfrm>
          <a:custGeom>
            <a:avLst/>
            <a:gdLst/>
            <a:ahLst/>
            <a:cxnLst/>
            <a:rect l="l" t="t" r="r" b="b"/>
            <a:pathLst>
              <a:path w="178306" h="158740">
                <a:moveTo>
                  <a:pt x="56672" y="158740"/>
                </a:moveTo>
                <a:lnTo>
                  <a:pt x="35654" y="144143"/>
                </a:lnTo>
                <a:lnTo>
                  <a:pt x="16716" y="128436"/>
                </a:lnTo>
                <a:lnTo>
                  <a:pt x="0" y="111738"/>
                </a:lnTo>
                <a:lnTo>
                  <a:pt x="0" y="111738"/>
                </a:lnTo>
                <a:lnTo>
                  <a:pt x="47796" y="71191"/>
                </a:lnTo>
                <a:lnTo>
                  <a:pt x="97580" y="33851"/>
                </a:lnTo>
                <a:lnTo>
                  <a:pt x="148971" y="0"/>
                </a:lnTo>
                <a:lnTo>
                  <a:pt x="148971" y="0"/>
                </a:lnTo>
                <a:lnTo>
                  <a:pt x="157623" y="8644"/>
                </a:lnTo>
                <a:lnTo>
                  <a:pt x="167427" y="16774"/>
                </a:lnTo>
                <a:lnTo>
                  <a:pt x="178306" y="24330"/>
                </a:lnTo>
                <a:lnTo>
                  <a:pt x="178306" y="24330"/>
                </a:lnTo>
                <a:lnTo>
                  <a:pt x="136346" y="66002"/>
                </a:lnTo>
                <a:lnTo>
                  <a:pt x="95698" y="110920"/>
                </a:lnTo>
                <a:lnTo>
                  <a:pt x="56672" y="158740"/>
                </a:lnTo>
                <a:close/>
              </a:path>
            </a:pathLst>
          </a:custGeom>
          <a:solidFill>
            <a:srgbClr val="DCEBF7">
              <a:alpha val="75000"/>
            </a:srgbClr>
          </a:solidFill>
          <a:ln w="5080">
            <a:solidFill>
              <a:srgbClr val="7F9DB8"/>
            </a:solidFill>
            <a:prstDash val="solid"/>
          </a:ln>
        </p:spPr>
      </p:sp>
      <p:sp>
        <p:nvSpPr>
          <p:cNvPr id="65" name="Shape 63"/>
          <p:cNvSpPr/>
          <p:nvPr/>
        </p:nvSpPr>
        <p:spPr>
          <a:xfrm>
            <a:off x="2251929" y="2981124"/>
            <a:ext cx="184596" cy="204151"/>
          </a:xfrm>
          <a:custGeom>
            <a:avLst/>
            <a:gdLst/>
            <a:ahLst/>
            <a:cxnLst/>
            <a:rect l="l" t="t" r="r" b="b"/>
            <a:pathLst>
              <a:path w="184596" h="204151">
                <a:moveTo>
                  <a:pt x="80147" y="204151"/>
                </a:moveTo>
                <a:lnTo>
                  <a:pt x="50423" y="183508"/>
                </a:lnTo>
                <a:lnTo>
                  <a:pt x="23639" y="161294"/>
                </a:lnTo>
                <a:lnTo>
                  <a:pt x="0" y="137679"/>
                </a:lnTo>
                <a:lnTo>
                  <a:pt x="0" y="137679"/>
                </a:lnTo>
                <a:lnTo>
                  <a:pt x="39728" y="89453"/>
                </a:lnTo>
                <a:lnTo>
                  <a:pt x="82478" y="43443"/>
                </a:lnTo>
                <a:lnTo>
                  <a:pt x="127924" y="0"/>
                </a:lnTo>
                <a:lnTo>
                  <a:pt x="127924" y="0"/>
                </a:lnTo>
                <a:lnTo>
                  <a:pt x="144640" y="16698"/>
                </a:lnTo>
                <a:lnTo>
                  <a:pt x="163578" y="32406"/>
                </a:lnTo>
                <a:lnTo>
                  <a:pt x="184596" y="47003"/>
                </a:lnTo>
                <a:lnTo>
                  <a:pt x="184596" y="47003"/>
                </a:lnTo>
                <a:lnTo>
                  <a:pt x="147490" y="97363"/>
                </a:lnTo>
                <a:lnTo>
                  <a:pt x="112585" y="149879"/>
                </a:lnTo>
                <a:lnTo>
                  <a:pt x="80147" y="204151"/>
                </a:lnTo>
                <a:close/>
              </a:path>
            </a:pathLst>
          </a:custGeom>
          <a:solidFill>
            <a:srgbClr val="DCEBF7">
              <a:alpha val="75000"/>
            </a:srgbClr>
          </a:solidFill>
          <a:ln w="5080">
            <a:solidFill>
              <a:srgbClr val="7F9DB8"/>
            </a:solidFill>
            <a:prstDash val="solid"/>
          </a:ln>
        </p:spPr>
      </p:sp>
      <p:sp>
        <p:nvSpPr>
          <p:cNvPr id="66" name="Shape 64"/>
          <p:cNvSpPr/>
          <p:nvPr/>
        </p:nvSpPr>
        <p:spPr>
          <a:xfrm>
            <a:off x="2866994" y="3593806"/>
            <a:ext cx="178306" cy="206417"/>
          </a:xfrm>
          <a:custGeom>
            <a:avLst/>
            <a:gdLst/>
            <a:ahLst/>
            <a:cxnLst/>
            <a:rect l="l" t="t" r="r" b="b"/>
            <a:pathLst>
              <a:path w="178306" h="206417">
                <a:moveTo>
                  <a:pt x="178306" y="161073"/>
                </a:moveTo>
                <a:lnTo>
                  <a:pt x="123116" y="179357"/>
                </a:lnTo>
                <a:lnTo>
                  <a:pt x="65631" y="194510"/>
                </a:lnTo>
                <a:lnTo>
                  <a:pt x="6290" y="206417"/>
                </a:lnTo>
                <a:lnTo>
                  <a:pt x="6290" y="206417"/>
                </a:lnTo>
                <a:lnTo>
                  <a:pt x="5588" y="155019"/>
                </a:lnTo>
                <a:lnTo>
                  <a:pt x="3486" y="100675"/>
                </a:lnTo>
                <a:lnTo>
                  <a:pt x="0" y="43800"/>
                </a:lnTo>
                <a:lnTo>
                  <a:pt x="0" y="43800"/>
                </a:lnTo>
                <a:lnTo>
                  <a:pt x="57319" y="32298"/>
                </a:lnTo>
                <a:lnTo>
                  <a:pt x="112845" y="17661"/>
                </a:lnTo>
                <a:lnTo>
                  <a:pt x="166155" y="0"/>
                </a:lnTo>
                <a:lnTo>
                  <a:pt x="166155" y="0"/>
                </a:lnTo>
                <a:lnTo>
                  <a:pt x="172889" y="56020"/>
                </a:lnTo>
                <a:lnTo>
                  <a:pt x="176949" y="109847"/>
                </a:lnTo>
                <a:lnTo>
                  <a:pt x="178306" y="161073"/>
                </a:lnTo>
                <a:close/>
              </a:path>
            </a:pathLst>
          </a:custGeom>
          <a:solidFill>
            <a:srgbClr val="1F6F78">
              <a:alpha val="90000"/>
            </a:srgbClr>
          </a:solidFill>
          <a:ln w="5080">
            <a:solidFill>
              <a:srgbClr val="7F9DB8"/>
            </a:solidFill>
            <a:prstDash val="solid"/>
          </a:ln>
        </p:spPr>
      </p:sp>
      <p:sp>
        <p:nvSpPr>
          <p:cNvPr id="67" name="Shape 65"/>
          <p:cNvSpPr/>
          <p:nvPr/>
        </p:nvSpPr>
        <p:spPr>
          <a:xfrm>
            <a:off x="2332075" y="3593806"/>
            <a:ext cx="178306" cy="206417"/>
          </a:xfrm>
          <a:custGeom>
            <a:avLst/>
            <a:gdLst/>
            <a:ahLst/>
            <a:cxnLst/>
            <a:rect l="l" t="t" r="r" b="b"/>
            <a:pathLst>
              <a:path w="178306" h="206417">
                <a:moveTo>
                  <a:pt x="172016" y="206417"/>
                </a:moveTo>
                <a:lnTo>
                  <a:pt x="112675" y="194510"/>
                </a:lnTo>
                <a:lnTo>
                  <a:pt x="55191" y="179357"/>
                </a:lnTo>
                <a:lnTo>
                  <a:pt x="0" y="161073"/>
                </a:lnTo>
                <a:lnTo>
                  <a:pt x="0" y="161073"/>
                </a:lnTo>
                <a:lnTo>
                  <a:pt x="1357" y="109847"/>
                </a:lnTo>
                <a:lnTo>
                  <a:pt x="5418" y="56020"/>
                </a:lnTo>
                <a:lnTo>
                  <a:pt x="12151" y="0"/>
                </a:lnTo>
                <a:lnTo>
                  <a:pt x="12151" y="0"/>
                </a:lnTo>
                <a:lnTo>
                  <a:pt x="65461" y="17661"/>
                </a:lnTo>
                <a:lnTo>
                  <a:pt x="120987" y="32298"/>
                </a:lnTo>
                <a:lnTo>
                  <a:pt x="178306" y="43800"/>
                </a:lnTo>
                <a:lnTo>
                  <a:pt x="178306" y="43800"/>
                </a:lnTo>
                <a:lnTo>
                  <a:pt x="174821" y="100675"/>
                </a:lnTo>
                <a:lnTo>
                  <a:pt x="172719" y="155019"/>
                </a:lnTo>
                <a:lnTo>
                  <a:pt x="172016" y="206417"/>
                </a:lnTo>
                <a:close/>
              </a:path>
            </a:pathLst>
          </a:custGeom>
          <a:solidFill>
            <a:srgbClr val="E8934D">
              <a:alpha val="90000"/>
            </a:srgbClr>
          </a:solidFill>
          <a:ln w="5080">
            <a:solidFill>
              <a:srgbClr val="7F9DB8"/>
            </a:solidFill>
            <a:prstDash val="solid"/>
          </a:ln>
        </p:spPr>
      </p:sp>
      <p:sp>
        <p:nvSpPr>
          <p:cNvPr id="68" name="Shape 66"/>
          <p:cNvSpPr/>
          <p:nvPr/>
        </p:nvSpPr>
        <p:spPr>
          <a:xfrm>
            <a:off x="2201546" y="3354453"/>
            <a:ext cx="178306" cy="239353"/>
          </a:xfrm>
          <a:custGeom>
            <a:avLst/>
            <a:gdLst/>
            <a:ahLst/>
            <a:cxnLst/>
            <a:rect l="l" t="t" r="r" b="b"/>
            <a:pathLst>
              <a:path w="178306" h="239353">
                <a:moveTo>
                  <a:pt x="142681" y="239353"/>
                </a:moveTo>
                <a:lnTo>
                  <a:pt x="91992" y="218802"/>
                </a:lnTo>
                <a:lnTo>
                  <a:pt x="44311" y="195518"/>
                </a:lnTo>
                <a:lnTo>
                  <a:pt x="0" y="169678"/>
                </a:lnTo>
                <a:lnTo>
                  <a:pt x="0" y="169678"/>
                </a:lnTo>
                <a:lnTo>
                  <a:pt x="13230" y="113785"/>
                </a:lnTo>
                <a:lnTo>
                  <a:pt x="30067" y="57082"/>
                </a:lnTo>
                <a:lnTo>
                  <a:pt x="50382" y="0"/>
                </a:lnTo>
                <a:lnTo>
                  <a:pt x="50382" y="0"/>
                </a:lnTo>
                <a:lnTo>
                  <a:pt x="90111" y="23168"/>
                </a:lnTo>
                <a:lnTo>
                  <a:pt x="132860" y="44044"/>
                </a:lnTo>
                <a:lnTo>
                  <a:pt x="178306" y="62469"/>
                </a:lnTo>
                <a:lnTo>
                  <a:pt x="178306" y="62469"/>
                </a:lnTo>
                <a:lnTo>
                  <a:pt x="163941" y="122456"/>
                </a:lnTo>
                <a:lnTo>
                  <a:pt x="152036" y="181568"/>
                </a:lnTo>
                <a:lnTo>
                  <a:pt x="142681" y="239353"/>
                </a:lnTo>
                <a:close/>
              </a:path>
            </a:pathLst>
          </a:custGeom>
          <a:solidFill>
            <a:srgbClr val="E8934D">
              <a:alpha val="90000"/>
            </a:srgbClr>
          </a:solidFill>
          <a:ln w="5080">
            <a:solidFill>
              <a:srgbClr val="7F9DB8"/>
            </a:solidFill>
            <a:prstDash val="solid"/>
          </a:ln>
        </p:spPr>
      </p:sp>
      <p:sp>
        <p:nvSpPr>
          <p:cNvPr id="69" name="Shape 67"/>
          <p:cNvSpPr/>
          <p:nvPr/>
        </p:nvSpPr>
        <p:spPr>
          <a:xfrm>
            <a:off x="2997524" y="3354453"/>
            <a:ext cx="178306" cy="239353"/>
          </a:xfrm>
          <a:custGeom>
            <a:avLst/>
            <a:gdLst/>
            <a:ahLst/>
            <a:cxnLst/>
            <a:rect l="l" t="t" r="r" b="b"/>
            <a:pathLst>
              <a:path w="178306" h="239353">
                <a:moveTo>
                  <a:pt x="178306" y="169678"/>
                </a:moveTo>
                <a:lnTo>
                  <a:pt x="133995" y="195518"/>
                </a:lnTo>
                <a:lnTo>
                  <a:pt x="86314" y="218802"/>
                </a:lnTo>
                <a:lnTo>
                  <a:pt x="35626" y="239353"/>
                </a:lnTo>
                <a:lnTo>
                  <a:pt x="35626" y="239353"/>
                </a:lnTo>
                <a:lnTo>
                  <a:pt x="26271" y="181568"/>
                </a:lnTo>
                <a:lnTo>
                  <a:pt x="14365" y="122456"/>
                </a:lnTo>
                <a:lnTo>
                  <a:pt x="0" y="62469"/>
                </a:lnTo>
                <a:lnTo>
                  <a:pt x="0" y="62469"/>
                </a:lnTo>
                <a:lnTo>
                  <a:pt x="45446" y="44044"/>
                </a:lnTo>
                <a:lnTo>
                  <a:pt x="88196" y="23168"/>
                </a:lnTo>
                <a:lnTo>
                  <a:pt x="127924" y="0"/>
                </a:lnTo>
                <a:lnTo>
                  <a:pt x="127924" y="0"/>
                </a:lnTo>
                <a:lnTo>
                  <a:pt x="148239" y="57082"/>
                </a:lnTo>
                <a:lnTo>
                  <a:pt x="165076" y="113785"/>
                </a:lnTo>
                <a:lnTo>
                  <a:pt x="178306" y="169678"/>
                </a:lnTo>
                <a:close/>
              </a:path>
            </a:pathLst>
          </a:custGeom>
          <a:solidFill>
            <a:srgbClr val="DCEBF7">
              <a:alpha val="75000"/>
            </a:srgbClr>
          </a:solidFill>
          <a:ln w="5080">
            <a:solidFill>
              <a:srgbClr val="7F9DB8"/>
            </a:solidFill>
            <a:prstDash val="solid"/>
          </a:ln>
        </p:spPr>
      </p:sp>
      <p:sp>
        <p:nvSpPr>
          <p:cNvPr id="70" name="Shape 68"/>
          <p:cNvSpPr/>
          <p:nvPr/>
        </p:nvSpPr>
        <p:spPr>
          <a:xfrm>
            <a:off x="2780986" y="2893717"/>
            <a:ext cx="159865" cy="170476"/>
          </a:xfrm>
          <a:custGeom>
            <a:avLst/>
            <a:gdLst/>
            <a:ahLst/>
            <a:cxnLst/>
            <a:rect l="l" t="t" r="r" b="b"/>
            <a:pathLst>
              <a:path w="159865" h="170476">
                <a:moveTo>
                  <a:pt x="159865" y="134410"/>
                </a:moveTo>
                <a:lnTo>
                  <a:pt x="136928" y="147786"/>
                </a:lnTo>
                <a:lnTo>
                  <a:pt x="112246" y="159838"/>
                </a:lnTo>
                <a:lnTo>
                  <a:pt x="86008" y="170476"/>
                </a:lnTo>
                <a:lnTo>
                  <a:pt x="86008" y="170476"/>
                </a:lnTo>
                <a:lnTo>
                  <a:pt x="58413" y="117074"/>
                </a:lnTo>
                <a:lnTo>
                  <a:pt x="29671" y="66343"/>
                </a:lnTo>
                <a:lnTo>
                  <a:pt x="0" y="18669"/>
                </a:lnTo>
                <a:lnTo>
                  <a:pt x="0" y="18669"/>
                </a:lnTo>
                <a:lnTo>
                  <a:pt x="13582" y="13163"/>
                </a:lnTo>
                <a:lnTo>
                  <a:pt x="26358" y="6924"/>
                </a:lnTo>
                <a:lnTo>
                  <a:pt x="38231" y="0"/>
                </a:lnTo>
                <a:lnTo>
                  <a:pt x="38231" y="0"/>
                </a:lnTo>
                <a:lnTo>
                  <a:pt x="80192" y="41672"/>
                </a:lnTo>
                <a:lnTo>
                  <a:pt x="120839" y="86589"/>
                </a:lnTo>
                <a:lnTo>
                  <a:pt x="159865" y="134410"/>
                </a:lnTo>
                <a:close/>
              </a:path>
            </a:pathLst>
          </a:custGeom>
          <a:solidFill>
            <a:srgbClr val="DCEBF7">
              <a:alpha val="75000"/>
            </a:srgbClr>
          </a:solidFill>
          <a:ln w="5080">
            <a:solidFill>
              <a:srgbClr val="7F9DB8"/>
            </a:solidFill>
            <a:prstDash val="solid"/>
          </a:ln>
        </p:spPr>
      </p:sp>
      <p:sp>
        <p:nvSpPr>
          <p:cNvPr id="71" name="Shape 69"/>
          <p:cNvSpPr/>
          <p:nvPr/>
        </p:nvSpPr>
        <p:spPr>
          <a:xfrm>
            <a:off x="2436525" y="2893717"/>
            <a:ext cx="159865" cy="170476"/>
          </a:xfrm>
          <a:custGeom>
            <a:avLst/>
            <a:gdLst/>
            <a:ahLst/>
            <a:cxnLst/>
            <a:rect l="l" t="t" r="r" b="b"/>
            <a:pathLst>
              <a:path w="159865" h="170476">
                <a:moveTo>
                  <a:pt x="73857" y="170476"/>
                </a:moveTo>
                <a:lnTo>
                  <a:pt x="47619" y="159838"/>
                </a:lnTo>
                <a:lnTo>
                  <a:pt x="22937" y="147786"/>
                </a:lnTo>
                <a:lnTo>
                  <a:pt x="0" y="134410"/>
                </a:lnTo>
                <a:lnTo>
                  <a:pt x="0" y="134410"/>
                </a:lnTo>
                <a:lnTo>
                  <a:pt x="39026" y="86589"/>
                </a:lnTo>
                <a:lnTo>
                  <a:pt x="79673" y="41672"/>
                </a:lnTo>
                <a:lnTo>
                  <a:pt x="121634" y="0"/>
                </a:lnTo>
                <a:lnTo>
                  <a:pt x="121634" y="0"/>
                </a:lnTo>
                <a:lnTo>
                  <a:pt x="133507" y="6924"/>
                </a:lnTo>
                <a:lnTo>
                  <a:pt x="146283" y="13163"/>
                </a:lnTo>
                <a:lnTo>
                  <a:pt x="159865" y="18669"/>
                </a:lnTo>
                <a:lnTo>
                  <a:pt x="159865" y="18669"/>
                </a:lnTo>
                <a:lnTo>
                  <a:pt x="130194" y="66343"/>
                </a:lnTo>
                <a:lnTo>
                  <a:pt x="101452" y="117074"/>
                </a:lnTo>
                <a:lnTo>
                  <a:pt x="73857" y="170476"/>
                </a:lnTo>
                <a:close/>
              </a:path>
            </a:pathLst>
          </a:custGeom>
          <a:solidFill>
            <a:srgbClr val="DCEBF7">
              <a:alpha val="75000"/>
            </a:srgbClr>
          </a:solidFill>
          <a:ln w="5080">
            <a:solidFill>
              <a:srgbClr val="7F9DB8"/>
            </a:solidFill>
            <a:prstDash val="solid"/>
          </a:ln>
        </p:spPr>
      </p:sp>
      <p:sp>
        <p:nvSpPr>
          <p:cNvPr id="72" name="Shape 70"/>
          <p:cNvSpPr/>
          <p:nvPr/>
        </p:nvSpPr>
        <p:spPr>
          <a:xfrm>
            <a:off x="2688688" y="3637606"/>
            <a:ext cx="184596" cy="178084"/>
          </a:xfrm>
          <a:custGeom>
            <a:avLst/>
            <a:gdLst/>
            <a:ahLst/>
            <a:cxnLst/>
            <a:rect l="l" t="t" r="r" b="b"/>
            <a:pathLst>
              <a:path w="184596" h="178084">
                <a:moveTo>
                  <a:pt x="184596" y="162618"/>
                </a:moveTo>
                <a:lnTo>
                  <a:pt x="123850" y="171188"/>
                </a:lnTo>
                <a:lnTo>
                  <a:pt x="62162" y="176357"/>
                </a:lnTo>
                <a:lnTo>
                  <a:pt x="0" y="178084"/>
                </a:lnTo>
                <a:lnTo>
                  <a:pt x="0" y="178084"/>
                </a:lnTo>
                <a:lnTo>
                  <a:pt x="0" y="126627"/>
                </a:lnTo>
                <a:lnTo>
                  <a:pt x="0" y="72107"/>
                </a:lnTo>
                <a:lnTo>
                  <a:pt x="0" y="14939"/>
                </a:lnTo>
                <a:lnTo>
                  <a:pt x="0" y="14939"/>
                </a:lnTo>
                <a:lnTo>
                  <a:pt x="60044" y="13271"/>
                </a:lnTo>
                <a:lnTo>
                  <a:pt x="119630" y="8278"/>
                </a:lnTo>
                <a:lnTo>
                  <a:pt x="178306" y="0"/>
                </a:lnTo>
                <a:lnTo>
                  <a:pt x="178306" y="0"/>
                </a:lnTo>
                <a:lnTo>
                  <a:pt x="181792" y="56876"/>
                </a:lnTo>
                <a:lnTo>
                  <a:pt x="183894" y="111219"/>
                </a:lnTo>
                <a:lnTo>
                  <a:pt x="184596" y="162618"/>
                </a:lnTo>
                <a:close/>
              </a:path>
            </a:pathLst>
          </a:custGeom>
          <a:solidFill>
            <a:srgbClr val="1F6F78">
              <a:alpha val="90000"/>
            </a:srgbClr>
          </a:solidFill>
          <a:ln w="5080">
            <a:solidFill>
              <a:srgbClr val="7F9DB8"/>
            </a:solidFill>
            <a:prstDash val="solid"/>
          </a:ln>
        </p:spPr>
      </p:sp>
      <p:sp>
        <p:nvSpPr>
          <p:cNvPr id="73" name="Shape 71"/>
          <p:cNvSpPr/>
          <p:nvPr/>
        </p:nvSpPr>
        <p:spPr>
          <a:xfrm>
            <a:off x="2504092" y="3637606"/>
            <a:ext cx="184596" cy="178084"/>
          </a:xfrm>
          <a:custGeom>
            <a:avLst/>
            <a:gdLst/>
            <a:ahLst/>
            <a:cxnLst/>
            <a:rect l="l" t="t" r="r" b="b"/>
            <a:pathLst>
              <a:path w="184596" h="178084">
                <a:moveTo>
                  <a:pt x="184596" y="178084"/>
                </a:moveTo>
                <a:lnTo>
                  <a:pt x="122435" y="176357"/>
                </a:lnTo>
                <a:lnTo>
                  <a:pt x="60746" y="171188"/>
                </a:lnTo>
                <a:lnTo>
                  <a:pt x="0" y="162618"/>
                </a:lnTo>
                <a:lnTo>
                  <a:pt x="0" y="162618"/>
                </a:lnTo>
                <a:lnTo>
                  <a:pt x="702" y="111219"/>
                </a:lnTo>
                <a:lnTo>
                  <a:pt x="2804" y="56876"/>
                </a:lnTo>
                <a:lnTo>
                  <a:pt x="6290" y="0"/>
                </a:lnTo>
                <a:lnTo>
                  <a:pt x="6290" y="0"/>
                </a:lnTo>
                <a:lnTo>
                  <a:pt x="64966" y="8278"/>
                </a:lnTo>
                <a:lnTo>
                  <a:pt x="124553" y="13271"/>
                </a:lnTo>
                <a:lnTo>
                  <a:pt x="184596" y="14939"/>
                </a:lnTo>
                <a:lnTo>
                  <a:pt x="184596" y="14939"/>
                </a:lnTo>
                <a:lnTo>
                  <a:pt x="184596" y="72107"/>
                </a:lnTo>
                <a:lnTo>
                  <a:pt x="184596" y="126627"/>
                </a:lnTo>
                <a:lnTo>
                  <a:pt x="184596" y="178084"/>
                </a:lnTo>
                <a:close/>
              </a:path>
            </a:pathLst>
          </a:custGeom>
          <a:solidFill>
            <a:srgbClr val="B04A3F">
              <a:alpha val="90000"/>
            </a:srgbClr>
          </a:solidFill>
          <a:ln w="5080">
            <a:solidFill>
              <a:srgbClr val="7F9DB8"/>
            </a:solidFill>
            <a:prstDash val="solid"/>
          </a:ln>
        </p:spPr>
      </p:sp>
      <p:sp>
        <p:nvSpPr>
          <p:cNvPr id="74" name="Shape 72"/>
          <p:cNvSpPr/>
          <p:nvPr/>
        </p:nvSpPr>
        <p:spPr>
          <a:xfrm>
            <a:off x="2736465" y="2912387"/>
            <a:ext cx="130529" cy="174479"/>
          </a:xfrm>
          <a:custGeom>
            <a:avLst/>
            <a:gdLst/>
            <a:ahLst/>
            <a:cxnLst/>
            <a:rect l="l" t="t" r="r" b="b"/>
            <a:pathLst>
              <a:path w="130529" h="174479">
                <a:moveTo>
                  <a:pt x="130529" y="151807"/>
                </a:moveTo>
                <a:lnTo>
                  <a:pt x="102934" y="160949"/>
                </a:lnTo>
                <a:lnTo>
                  <a:pt x="74192" y="168526"/>
                </a:lnTo>
                <a:lnTo>
                  <a:pt x="44521" y="174479"/>
                </a:lnTo>
                <a:lnTo>
                  <a:pt x="44521" y="174479"/>
                </a:lnTo>
                <a:lnTo>
                  <a:pt x="30237" y="117568"/>
                </a:lnTo>
                <a:lnTo>
                  <a:pt x="15359" y="63182"/>
                </a:lnTo>
                <a:lnTo>
                  <a:pt x="0" y="11736"/>
                </a:lnTo>
                <a:lnTo>
                  <a:pt x="0" y="11736"/>
                </a:lnTo>
                <a:lnTo>
                  <a:pt x="15359" y="8654"/>
                </a:lnTo>
                <a:lnTo>
                  <a:pt x="30237" y="4732"/>
                </a:lnTo>
                <a:lnTo>
                  <a:pt x="44521" y="0"/>
                </a:lnTo>
                <a:lnTo>
                  <a:pt x="44521" y="0"/>
                </a:lnTo>
                <a:lnTo>
                  <a:pt x="74192" y="47674"/>
                </a:lnTo>
                <a:lnTo>
                  <a:pt x="102934" y="98405"/>
                </a:lnTo>
                <a:lnTo>
                  <a:pt x="130529" y="151807"/>
                </a:lnTo>
                <a:close/>
              </a:path>
            </a:pathLst>
          </a:custGeom>
          <a:solidFill>
            <a:srgbClr val="DCEBF7">
              <a:alpha val="75000"/>
            </a:srgbClr>
          </a:solidFill>
          <a:ln w="5080">
            <a:solidFill>
              <a:srgbClr val="7F9DB8"/>
            </a:solidFill>
            <a:prstDash val="solid"/>
          </a:ln>
        </p:spPr>
      </p:sp>
      <p:sp>
        <p:nvSpPr>
          <p:cNvPr id="75" name="Shape 73"/>
          <p:cNvSpPr/>
          <p:nvPr/>
        </p:nvSpPr>
        <p:spPr>
          <a:xfrm>
            <a:off x="2510382" y="2912387"/>
            <a:ext cx="130529" cy="174479"/>
          </a:xfrm>
          <a:custGeom>
            <a:avLst/>
            <a:gdLst/>
            <a:ahLst/>
            <a:cxnLst/>
            <a:rect l="l" t="t" r="r" b="b"/>
            <a:pathLst>
              <a:path w="130529" h="174479">
                <a:moveTo>
                  <a:pt x="86008" y="174479"/>
                </a:moveTo>
                <a:lnTo>
                  <a:pt x="56338" y="168526"/>
                </a:lnTo>
                <a:lnTo>
                  <a:pt x="27595" y="160949"/>
                </a:lnTo>
                <a:lnTo>
                  <a:pt x="0" y="151807"/>
                </a:lnTo>
                <a:lnTo>
                  <a:pt x="0" y="151807"/>
                </a:lnTo>
                <a:lnTo>
                  <a:pt x="27595" y="98405"/>
                </a:lnTo>
                <a:lnTo>
                  <a:pt x="56338" y="47674"/>
                </a:lnTo>
                <a:lnTo>
                  <a:pt x="86008" y="0"/>
                </a:lnTo>
                <a:lnTo>
                  <a:pt x="86008" y="0"/>
                </a:lnTo>
                <a:lnTo>
                  <a:pt x="100293" y="4732"/>
                </a:lnTo>
                <a:lnTo>
                  <a:pt x="115171" y="8654"/>
                </a:lnTo>
                <a:lnTo>
                  <a:pt x="130529" y="11736"/>
                </a:lnTo>
                <a:lnTo>
                  <a:pt x="130529" y="11736"/>
                </a:lnTo>
                <a:lnTo>
                  <a:pt x="115171" y="63182"/>
                </a:lnTo>
                <a:lnTo>
                  <a:pt x="100293" y="117568"/>
                </a:lnTo>
                <a:lnTo>
                  <a:pt x="86008" y="174479"/>
                </a:lnTo>
                <a:close/>
              </a:path>
            </a:pathLst>
          </a:custGeom>
          <a:solidFill>
            <a:srgbClr val="DCEBF7">
              <a:alpha val="75000"/>
            </a:srgbClr>
          </a:solidFill>
          <a:ln w="5080">
            <a:solidFill>
              <a:srgbClr val="7F9DB8"/>
            </a:solidFill>
            <a:prstDash val="solid"/>
          </a:ln>
        </p:spPr>
      </p:sp>
      <p:sp>
        <p:nvSpPr>
          <p:cNvPr id="76" name="Shape 74"/>
          <p:cNvSpPr/>
          <p:nvPr/>
        </p:nvSpPr>
        <p:spPr>
          <a:xfrm>
            <a:off x="2940851" y="3185276"/>
            <a:ext cx="184596" cy="231647"/>
          </a:xfrm>
          <a:custGeom>
            <a:avLst/>
            <a:gdLst/>
            <a:ahLst/>
            <a:cxnLst/>
            <a:rect l="l" t="t" r="r" b="b"/>
            <a:pathLst>
              <a:path w="184596" h="231647">
                <a:moveTo>
                  <a:pt x="184596" y="169178"/>
                </a:moveTo>
                <a:lnTo>
                  <a:pt x="144868" y="192345"/>
                </a:lnTo>
                <a:lnTo>
                  <a:pt x="102118" y="213221"/>
                </a:lnTo>
                <a:lnTo>
                  <a:pt x="56672" y="231647"/>
                </a:lnTo>
                <a:lnTo>
                  <a:pt x="56672" y="231647"/>
                </a:lnTo>
                <a:lnTo>
                  <a:pt x="39957" y="171240"/>
                </a:lnTo>
                <a:lnTo>
                  <a:pt x="21018" y="110873"/>
                </a:lnTo>
                <a:lnTo>
                  <a:pt x="0" y="51006"/>
                </a:lnTo>
                <a:lnTo>
                  <a:pt x="0" y="51006"/>
                </a:lnTo>
                <a:lnTo>
                  <a:pt x="37107" y="35961"/>
                </a:lnTo>
                <a:lnTo>
                  <a:pt x="72012" y="18916"/>
                </a:lnTo>
                <a:lnTo>
                  <a:pt x="104449" y="0"/>
                </a:lnTo>
                <a:lnTo>
                  <a:pt x="104449" y="0"/>
                </a:lnTo>
                <a:lnTo>
                  <a:pt x="134173" y="55616"/>
                </a:lnTo>
                <a:lnTo>
                  <a:pt x="160957" y="112152"/>
                </a:lnTo>
                <a:lnTo>
                  <a:pt x="184596" y="169178"/>
                </a:lnTo>
                <a:close/>
              </a:path>
            </a:pathLst>
          </a:custGeom>
          <a:solidFill>
            <a:srgbClr val="DCEBF7">
              <a:alpha val="75000"/>
            </a:srgbClr>
          </a:solidFill>
          <a:ln w="5080">
            <a:solidFill>
              <a:srgbClr val="7F9DB8"/>
            </a:solidFill>
            <a:prstDash val="solid"/>
          </a:ln>
        </p:spPr>
      </p:sp>
      <p:sp>
        <p:nvSpPr>
          <p:cNvPr id="77" name="Shape 75"/>
          <p:cNvSpPr/>
          <p:nvPr/>
        </p:nvSpPr>
        <p:spPr>
          <a:xfrm>
            <a:off x="2251929" y="3185276"/>
            <a:ext cx="184596" cy="231647"/>
          </a:xfrm>
          <a:custGeom>
            <a:avLst/>
            <a:gdLst/>
            <a:ahLst/>
            <a:cxnLst/>
            <a:rect l="l" t="t" r="r" b="b"/>
            <a:pathLst>
              <a:path w="184596" h="231647">
                <a:moveTo>
                  <a:pt x="127924" y="231647"/>
                </a:moveTo>
                <a:lnTo>
                  <a:pt x="82478" y="213221"/>
                </a:lnTo>
                <a:lnTo>
                  <a:pt x="39728" y="192345"/>
                </a:lnTo>
                <a:lnTo>
                  <a:pt x="0" y="169178"/>
                </a:lnTo>
                <a:lnTo>
                  <a:pt x="0" y="169178"/>
                </a:lnTo>
                <a:lnTo>
                  <a:pt x="23639" y="112152"/>
                </a:lnTo>
                <a:lnTo>
                  <a:pt x="50423" y="55616"/>
                </a:lnTo>
                <a:lnTo>
                  <a:pt x="80147" y="0"/>
                </a:lnTo>
                <a:lnTo>
                  <a:pt x="80147" y="0"/>
                </a:lnTo>
                <a:lnTo>
                  <a:pt x="112585" y="18916"/>
                </a:lnTo>
                <a:lnTo>
                  <a:pt x="147490" y="35961"/>
                </a:lnTo>
                <a:lnTo>
                  <a:pt x="184596" y="51006"/>
                </a:lnTo>
                <a:lnTo>
                  <a:pt x="184596" y="51006"/>
                </a:lnTo>
                <a:lnTo>
                  <a:pt x="163578" y="110873"/>
                </a:lnTo>
                <a:lnTo>
                  <a:pt x="144640" y="171240"/>
                </a:lnTo>
                <a:lnTo>
                  <a:pt x="127924" y="231647"/>
                </a:lnTo>
                <a:close/>
              </a:path>
            </a:pathLst>
          </a:custGeom>
          <a:solidFill>
            <a:srgbClr val="DCEBF7">
              <a:alpha val="75000"/>
            </a:srgbClr>
          </a:solidFill>
          <a:ln w="5080">
            <a:solidFill>
              <a:srgbClr val="7F9DB8"/>
            </a:solidFill>
            <a:prstDash val="solid"/>
          </a:ln>
        </p:spPr>
      </p:sp>
      <p:sp>
        <p:nvSpPr>
          <p:cNvPr id="78" name="Shape 76"/>
          <p:cNvSpPr/>
          <p:nvPr/>
        </p:nvSpPr>
        <p:spPr>
          <a:xfrm>
            <a:off x="2332075" y="3028127"/>
            <a:ext cx="178306" cy="208154"/>
          </a:xfrm>
          <a:custGeom>
            <a:avLst/>
            <a:gdLst/>
            <a:ahLst/>
            <a:cxnLst/>
            <a:rect l="l" t="t" r="r" b="b"/>
            <a:pathLst>
              <a:path w="178306" h="208154">
                <a:moveTo>
                  <a:pt x="104449" y="208154"/>
                </a:moveTo>
                <a:lnTo>
                  <a:pt x="67343" y="193110"/>
                </a:lnTo>
                <a:lnTo>
                  <a:pt x="32438" y="176065"/>
                </a:lnTo>
                <a:lnTo>
                  <a:pt x="0" y="157149"/>
                </a:lnTo>
                <a:lnTo>
                  <a:pt x="0" y="157149"/>
                </a:lnTo>
                <a:lnTo>
                  <a:pt x="32438" y="102876"/>
                </a:lnTo>
                <a:lnTo>
                  <a:pt x="67343" y="50360"/>
                </a:lnTo>
                <a:lnTo>
                  <a:pt x="104449" y="0"/>
                </a:lnTo>
                <a:lnTo>
                  <a:pt x="104449" y="0"/>
                </a:lnTo>
                <a:lnTo>
                  <a:pt x="127386" y="13376"/>
                </a:lnTo>
                <a:lnTo>
                  <a:pt x="152068" y="25429"/>
                </a:lnTo>
                <a:lnTo>
                  <a:pt x="178306" y="36066"/>
                </a:lnTo>
                <a:lnTo>
                  <a:pt x="178306" y="36066"/>
                </a:lnTo>
                <a:lnTo>
                  <a:pt x="152068" y="91734"/>
                </a:lnTo>
                <a:lnTo>
                  <a:pt x="127386" y="149242"/>
                </a:lnTo>
                <a:lnTo>
                  <a:pt x="104449" y="208154"/>
                </a:lnTo>
                <a:close/>
              </a:path>
            </a:pathLst>
          </a:custGeom>
          <a:solidFill>
            <a:srgbClr val="DCEBF7">
              <a:alpha val="75000"/>
            </a:srgbClr>
          </a:solidFill>
          <a:ln w="5080">
            <a:solidFill>
              <a:srgbClr val="7F9DB8"/>
            </a:solidFill>
            <a:prstDash val="solid"/>
          </a:ln>
        </p:spPr>
      </p:sp>
      <p:sp>
        <p:nvSpPr>
          <p:cNvPr id="79" name="Shape 77"/>
          <p:cNvSpPr/>
          <p:nvPr/>
        </p:nvSpPr>
        <p:spPr>
          <a:xfrm>
            <a:off x="2866994" y="3028127"/>
            <a:ext cx="178306" cy="208154"/>
          </a:xfrm>
          <a:custGeom>
            <a:avLst/>
            <a:gdLst/>
            <a:ahLst/>
            <a:cxnLst/>
            <a:rect l="l" t="t" r="r" b="b"/>
            <a:pathLst>
              <a:path w="178306" h="208154">
                <a:moveTo>
                  <a:pt x="178306" y="157149"/>
                </a:moveTo>
                <a:lnTo>
                  <a:pt x="145868" y="176065"/>
                </a:lnTo>
                <a:lnTo>
                  <a:pt x="110963" y="193110"/>
                </a:lnTo>
                <a:lnTo>
                  <a:pt x="73857" y="208154"/>
                </a:lnTo>
                <a:lnTo>
                  <a:pt x="73857" y="208154"/>
                </a:lnTo>
                <a:lnTo>
                  <a:pt x="50920" y="149242"/>
                </a:lnTo>
                <a:lnTo>
                  <a:pt x="26238" y="91734"/>
                </a:lnTo>
                <a:lnTo>
                  <a:pt x="0" y="36066"/>
                </a:lnTo>
                <a:lnTo>
                  <a:pt x="0" y="36066"/>
                </a:lnTo>
                <a:lnTo>
                  <a:pt x="26238" y="25429"/>
                </a:lnTo>
                <a:lnTo>
                  <a:pt x="50920" y="13376"/>
                </a:lnTo>
                <a:lnTo>
                  <a:pt x="73857" y="0"/>
                </a:lnTo>
                <a:lnTo>
                  <a:pt x="73857" y="0"/>
                </a:lnTo>
                <a:lnTo>
                  <a:pt x="110963" y="50360"/>
                </a:lnTo>
                <a:lnTo>
                  <a:pt x="145868" y="102876"/>
                </a:lnTo>
                <a:lnTo>
                  <a:pt x="178306" y="157149"/>
                </a:lnTo>
                <a:close/>
              </a:path>
            </a:pathLst>
          </a:custGeom>
          <a:solidFill>
            <a:srgbClr val="DCEBF7">
              <a:alpha val="75000"/>
            </a:srgbClr>
          </a:solidFill>
          <a:ln w="5080">
            <a:solidFill>
              <a:srgbClr val="7F9DB8"/>
            </a:solidFill>
            <a:prstDash val="solid"/>
          </a:ln>
        </p:spPr>
      </p:sp>
      <p:sp>
        <p:nvSpPr>
          <p:cNvPr id="80" name="Shape 78"/>
          <p:cNvSpPr/>
          <p:nvPr/>
        </p:nvSpPr>
        <p:spPr>
          <a:xfrm>
            <a:off x="2688688" y="2924123"/>
            <a:ext cx="92298" cy="170476"/>
          </a:xfrm>
          <a:custGeom>
            <a:avLst/>
            <a:gdLst/>
            <a:ahLst/>
            <a:cxnLst/>
            <a:rect l="l" t="t" r="r" b="b"/>
            <a:pathLst>
              <a:path w="92298" h="170476">
                <a:moveTo>
                  <a:pt x="92298" y="162743"/>
                </a:moveTo>
                <a:lnTo>
                  <a:pt x="61925" y="167028"/>
                </a:lnTo>
                <a:lnTo>
                  <a:pt x="31081" y="169613"/>
                </a:lnTo>
                <a:lnTo>
                  <a:pt x="0" y="170476"/>
                </a:lnTo>
                <a:lnTo>
                  <a:pt x="0" y="170476"/>
                </a:lnTo>
                <a:lnTo>
                  <a:pt x="0" y="112368"/>
                </a:lnTo>
                <a:lnTo>
                  <a:pt x="0" y="56736"/>
                </a:lnTo>
                <a:lnTo>
                  <a:pt x="0" y="4003"/>
                </a:lnTo>
                <a:lnTo>
                  <a:pt x="0" y="4003"/>
                </a:lnTo>
                <a:lnTo>
                  <a:pt x="16089" y="3556"/>
                </a:lnTo>
                <a:lnTo>
                  <a:pt x="32055" y="2218"/>
                </a:lnTo>
                <a:lnTo>
                  <a:pt x="47777" y="0"/>
                </a:lnTo>
                <a:lnTo>
                  <a:pt x="47777" y="0"/>
                </a:lnTo>
                <a:lnTo>
                  <a:pt x="63136" y="51446"/>
                </a:lnTo>
                <a:lnTo>
                  <a:pt x="78014" y="105832"/>
                </a:lnTo>
                <a:lnTo>
                  <a:pt x="92298" y="162743"/>
                </a:lnTo>
                <a:close/>
              </a:path>
            </a:pathLst>
          </a:custGeom>
          <a:solidFill>
            <a:srgbClr val="DCEBF7">
              <a:alpha val="75000"/>
            </a:srgbClr>
          </a:solidFill>
          <a:ln w="5080">
            <a:solidFill>
              <a:srgbClr val="7F9DB8"/>
            </a:solidFill>
            <a:prstDash val="solid"/>
          </a:ln>
        </p:spPr>
      </p:sp>
      <p:sp>
        <p:nvSpPr>
          <p:cNvPr id="81" name="Shape 79"/>
          <p:cNvSpPr/>
          <p:nvPr/>
        </p:nvSpPr>
        <p:spPr>
          <a:xfrm>
            <a:off x="2596390" y="2924123"/>
            <a:ext cx="92298" cy="170476"/>
          </a:xfrm>
          <a:custGeom>
            <a:avLst/>
            <a:gdLst/>
            <a:ahLst/>
            <a:cxnLst/>
            <a:rect l="l" t="t" r="r" b="b"/>
            <a:pathLst>
              <a:path w="92298" h="170476">
                <a:moveTo>
                  <a:pt x="92298" y="170476"/>
                </a:moveTo>
                <a:lnTo>
                  <a:pt x="61217" y="169613"/>
                </a:lnTo>
                <a:lnTo>
                  <a:pt x="30373" y="167028"/>
                </a:lnTo>
                <a:lnTo>
                  <a:pt x="0" y="162743"/>
                </a:lnTo>
                <a:lnTo>
                  <a:pt x="0" y="162743"/>
                </a:lnTo>
                <a:lnTo>
                  <a:pt x="14284" y="105832"/>
                </a:lnTo>
                <a:lnTo>
                  <a:pt x="29162" y="51446"/>
                </a:lnTo>
                <a:lnTo>
                  <a:pt x="44521" y="0"/>
                </a:lnTo>
                <a:lnTo>
                  <a:pt x="44521" y="0"/>
                </a:lnTo>
                <a:lnTo>
                  <a:pt x="60243" y="2218"/>
                </a:lnTo>
                <a:lnTo>
                  <a:pt x="76210" y="3556"/>
                </a:lnTo>
                <a:lnTo>
                  <a:pt x="92298" y="4003"/>
                </a:lnTo>
                <a:lnTo>
                  <a:pt x="92298" y="4003"/>
                </a:lnTo>
                <a:lnTo>
                  <a:pt x="92298" y="56736"/>
                </a:lnTo>
                <a:lnTo>
                  <a:pt x="92298" y="112368"/>
                </a:lnTo>
                <a:lnTo>
                  <a:pt x="92298" y="170476"/>
                </a:lnTo>
                <a:close/>
              </a:path>
            </a:pathLst>
          </a:custGeom>
          <a:solidFill>
            <a:srgbClr val="DCEBF7">
              <a:alpha val="75000"/>
            </a:srgbClr>
          </a:solidFill>
          <a:ln w="5080">
            <a:solidFill>
              <a:srgbClr val="7F9DB8"/>
            </a:solidFill>
            <a:prstDash val="solid"/>
          </a:ln>
        </p:spPr>
      </p:sp>
      <p:sp>
        <p:nvSpPr>
          <p:cNvPr id="82" name="Shape 80"/>
          <p:cNvSpPr/>
          <p:nvPr/>
        </p:nvSpPr>
        <p:spPr>
          <a:xfrm>
            <a:off x="2848553" y="3416922"/>
            <a:ext cx="184596" cy="220683"/>
          </a:xfrm>
          <a:custGeom>
            <a:avLst/>
            <a:gdLst/>
            <a:ahLst/>
            <a:cxnLst/>
            <a:rect l="l" t="t" r="r" b="b"/>
            <a:pathLst>
              <a:path w="184596" h="220683">
                <a:moveTo>
                  <a:pt x="184596" y="176884"/>
                </a:moveTo>
                <a:lnTo>
                  <a:pt x="131286" y="194545"/>
                </a:lnTo>
                <a:lnTo>
                  <a:pt x="75760" y="209182"/>
                </a:lnTo>
                <a:lnTo>
                  <a:pt x="18441" y="220683"/>
                </a:lnTo>
                <a:lnTo>
                  <a:pt x="18441" y="220683"/>
                </a:lnTo>
                <a:lnTo>
                  <a:pt x="13599" y="161709"/>
                </a:lnTo>
                <a:lnTo>
                  <a:pt x="7436" y="101084"/>
                </a:lnTo>
                <a:lnTo>
                  <a:pt x="0" y="39270"/>
                </a:lnTo>
                <a:lnTo>
                  <a:pt x="0" y="39270"/>
                </a:lnTo>
                <a:lnTo>
                  <a:pt x="51391" y="28958"/>
                </a:lnTo>
                <a:lnTo>
                  <a:pt x="101174" y="15834"/>
                </a:lnTo>
                <a:lnTo>
                  <a:pt x="148971" y="0"/>
                </a:lnTo>
                <a:lnTo>
                  <a:pt x="148971" y="0"/>
                </a:lnTo>
                <a:lnTo>
                  <a:pt x="163336" y="59987"/>
                </a:lnTo>
                <a:lnTo>
                  <a:pt x="175241" y="119099"/>
                </a:lnTo>
                <a:lnTo>
                  <a:pt x="184596" y="176884"/>
                </a:lnTo>
                <a:close/>
              </a:path>
            </a:pathLst>
          </a:custGeom>
          <a:solidFill>
            <a:srgbClr val="DCEBF7">
              <a:alpha val="75000"/>
            </a:srgbClr>
          </a:solidFill>
          <a:ln w="5080">
            <a:solidFill>
              <a:srgbClr val="7F9DB8"/>
            </a:solidFill>
            <a:prstDash val="solid"/>
          </a:ln>
        </p:spPr>
      </p:sp>
      <p:sp>
        <p:nvSpPr>
          <p:cNvPr id="83" name="Shape 81"/>
          <p:cNvSpPr/>
          <p:nvPr/>
        </p:nvSpPr>
        <p:spPr>
          <a:xfrm>
            <a:off x="2344227" y="3416922"/>
            <a:ext cx="184596" cy="220683"/>
          </a:xfrm>
          <a:custGeom>
            <a:avLst/>
            <a:gdLst/>
            <a:ahLst/>
            <a:cxnLst/>
            <a:rect l="l" t="t" r="r" b="b"/>
            <a:pathLst>
              <a:path w="184596" h="220683">
                <a:moveTo>
                  <a:pt x="166155" y="220683"/>
                </a:moveTo>
                <a:lnTo>
                  <a:pt x="108836" y="209182"/>
                </a:lnTo>
                <a:lnTo>
                  <a:pt x="53310" y="194545"/>
                </a:lnTo>
                <a:lnTo>
                  <a:pt x="0" y="176884"/>
                </a:lnTo>
                <a:lnTo>
                  <a:pt x="0" y="176884"/>
                </a:lnTo>
                <a:lnTo>
                  <a:pt x="9355" y="119099"/>
                </a:lnTo>
                <a:lnTo>
                  <a:pt x="21261" y="59987"/>
                </a:lnTo>
                <a:lnTo>
                  <a:pt x="35626" y="0"/>
                </a:lnTo>
                <a:lnTo>
                  <a:pt x="35626" y="0"/>
                </a:lnTo>
                <a:lnTo>
                  <a:pt x="83422" y="15834"/>
                </a:lnTo>
                <a:lnTo>
                  <a:pt x="133205" y="28958"/>
                </a:lnTo>
                <a:lnTo>
                  <a:pt x="184596" y="39270"/>
                </a:lnTo>
                <a:lnTo>
                  <a:pt x="184596" y="39270"/>
                </a:lnTo>
                <a:lnTo>
                  <a:pt x="177160" y="101084"/>
                </a:lnTo>
                <a:lnTo>
                  <a:pt x="170998" y="161709"/>
                </a:lnTo>
                <a:lnTo>
                  <a:pt x="166155" y="220683"/>
                </a:lnTo>
                <a:close/>
              </a:path>
            </a:pathLst>
          </a:custGeom>
          <a:solidFill>
            <a:srgbClr val="E8934D">
              <a:alpha val="90000"/>
            </a:srgbClr>
          </a:solidFill>
          <a:ln w="5080">
            <a:solidFill>
              <a:srgbClr val="7F9DB8"/>
            </a:solidFill>
            <a:prstDash val="solid"/>
          </a:ln>
        </p:spPr>
      </p:sp>
      <p:sp>
        <p:nvSpPr>
          <p:cNvPr id="84" name="Shape 82"/>
          <p:cNvSpPr/>
          <p:nvPr/>
        </p:nvSpPr>
        <p:spPr>
          <a:xfrm>
            <a:off x="2780986" y="3064194"/>
            <a:ext cx="159865" cy="204151"/>
          </a:xfrm>
          <a:custGeom>
            <a:avLst/>
            <a:gdLst/>
            <a:ahLst/>
            <a:cxnLst/>
            <a:rect l="l" t="t" r="r" b="b"/>
            <a:pathLst>
              <a:path w="159865" h="204151">
                <a:moveTo>
                  <a:pt x="159865" y="172088"/>
                </a:moveTo>
                <a:lnTo>
                  <a:pt x="120839" y="185017"/>
                </a:lnTo>
                <a:lnTo>
                  <a:pt x="80192" y="195732"/>
                </a:lnTo>
                <a:lnTo>
                  <a:pt x="38231" y="204151"/>
                </a:lnTo>
                <a:lnTo>
                  <a:pt x="38231" y="204151"/>
                </a:lnTo>
                <a:lnTo>
                  <a:pt x="26358" y="142323"/>
                </a:lnTo>
                <a:lnTo>
                  <a:pt x="13582" y="81676"/>
                </a:lnTo>
                <a:lnTo>
                  <a:pt x="0" y="22672"/>
                </a:lnTo>
                <a:lnTo>
                  <a:pt x="0" y="22672"/>
                </a:lnTo>
                <a:lnTo>
                  <a:pt x="29671" y="16719"/>
                </a:lnTo>
                <a:lnTo>
                  <a:pt x="58413" y="9142"/>
                </a:lnTo>
                <a:lnTo>
                  <a:pt x="86008" y="0"/>
                </a:lnTo>
                <a:lnTo>
                  <a:pt x="86008" y="0"/>
                </a:lnTo>
                <a:lnTo>
                  <a:pt x="112246" y="55667"/>
                </a:lnTo>
                <a:lnTo>
                  <a:pt x="136928" y="113176"/>
                </a:lnTo>
                <a:lnTo>
                  <a:pt x="159865" y="172088"/>
                </a:lnTo>
                <a:close/>
              </a:path>
            </a:pathLst>
          </a:custGeom>
          <a:solidFill>
            <a:srgbClr val="DCEBF7">
              <a:alpha val="75000"/>
            </a:srgbClr>
          </a:solidFill>
          <a:ln w="5080">
            <a:solidFill>
              <a:srgbClr val="7F9DB8"/>
            </a:solidFill>
            <a:prstDash val="solid"/>
          </a:ln>
        </p:spPr>
      </p:sp>
      <p:sp>
        <p:nvSpPr>
          <p:cNvPr id="85" name="Shape 83"/>
          <p:cNvSpPr/>
          <p:nvPr/>
        </p:nvSpPr>
        <p:spPr>
          <a:xfrm>
            <a:off x="2436525" y="3064194"/>
            <a:ext cx="159865" cy="204151"/>
          </a:xfrm>
          <a:custGeom>
            <a:avLst/>
            <a:gdLst/>
            <a:ahLst/>
            <a:cxnLst/>
            <a:rect l="l" t="t" r="r" b="b"/>
            <a:pathLst>
              <a:path w="159865" h="204151">
                <a:moveTo>
                  <a:pt x="121634" y="204151"/>
                </a:moveTo>
                <a:lnTo>
                  <a:pt x="79673" y="195732"/>
                </a:lnTo>
                <a:lnTo>
                  <a:pt x="39026" y="185017"/>
                </a:lnTo>
                <a:lnTo>
                  <a:pt x="0" y="172088"/>
                </a:lnTo>
                <a:lnTo>
                  <a:pt x="0" y="172088"/>
                </a:lnTo>
                <a:lnTo>
                  <a:pt x="22937" y="113176"/>
                </a:lnTo>
                <a:lnTo>
                  <a:pt x="47619" y="55667"/>
                </a:lnTo>
                <a:lnTo>
                  <a:pt x="73857" y="0"/>
                </a:lnTo>
                <a:lnTo>
                  <a:pt x="73857" y="0"/>
                </a:lnTo>
                <a:lnTo>
                  <a:pt x="101452" y="9142"/>
                </a:lnTo>
                <a:lnTo>
                  <a:pt x="130194" y="16719"/>
                </a:lnTo>
                <a:lnTo>
                  <a:pt x="159865" y="22672"/>
                </a:lnTo>
                <a:lnTo>
                  <a:pt x="159865" y="22672"/>
                </a:lnTo>
                <a:lnTo>
                  <a:pt x="146283" y="81676"/>
                </a:lnTo>
                <a:lnTo>
                  <a:pt x="133507" y="142323"/>
                </a:lnTo>
                <a:lnTo>
                  <a:pt x="121634" y="204151"/>
                </a:lnTo>
                <a:close/>
              </a:path>
            </a:pathLst>
          </a:custGeom>
          <a:solidFill>
            <a:srgbClr val="DCEBF7">
              <a:alpha val="75000"/>
            </a:srgbClr>
          </a:solidFill>
          <a:ln w="5080">
            <a:solidFill>
              <a:srgbClr val="7F9DB8"/>
            </a:solidFill>
            <a:prstDash val="solid"/>
          </a:ln>
        </p:spPr>
      </p:sp>
      <p:sp>
        <p:nvSpPr>
          <p:cNvPr id="86" name="Shape 84"/>
          <p:cNvSpPr/>
          <p:nvPr/>
        </p:nvSpPr>
        <p:spPr>
          <a:xfrm>
            <a:off x="2819217" y="3236281"/>
            <a:ext cx="178306" cy="219911"/>
          </a:xfrm>
          <a:custGeom>
            <a:avLst/>
            <a:gdLst/>
            <a:ahLst/>
            <a:cxnLst/>
            <a:rect l="l" t="t" r="r" b="b"/>
            <a:pathLst>
              <a:path w="178306" h="219911">
                <a:moveTo>
                  <a:pt x="178306" y="180641"/>
                </a:moveTo>
                <a:lnTo>
                  <a:pt x="130510" y="196476"/>
                </a:lnTo>
                <a:lnTo>
                  <a:pt x="80727" y="209599"/>
                </a:lnTo>
                <a:lnTo>
                  <a:pt x="29336" y="219911"/>
                </a:lnTo>
                <a:lnTo>
                  <a:pt x="29336" y="219911"/>
                </a:lnTo>
                <a:lnTo>
                  <a:pt x="20683" y="157378"/>
                </a:lnTo>
                <a:lnTo>
                  <a:pt x="10880" y="94603"/>
                </a:lnTo>
                <a:lnTo>
                  <a:pt x="0" y="32063"/>
                </a:lnTo>
                <a:lnTo>
                  <a:pt x="0" y="32063"/>
                </a:lnTo>
                <a:lnTo>
                  <a:pt x="41961" y="23644"/>
                </a:lnTo>
                <a:lnTo>
                  <a:pt x="82608" y="12929"/>
                </a:lnTo>
                <a:lnTo>
                  <a:pt x="121634" y="0"/>
                </a:lnTo>
                <a:lnTo>
                  <a:pt x="121634" y="0"/>
                </a:lnTo>
                <a:lnTo>
                  <a:pt x="142652" y="59867"/>
                </a:lnTo>
                <a:lnTo>
                  <a:pt x="161591" y="120234"/>
                </a:lnTo>
                <a:lnTo>
                  <a:pt x="178306" y="180641"/>
                </a:lnTo>
                <a:close/>
              </a:path>
            </a:pathLst>
          </a:custGeom>
          <a:solidFill>
            <a:srgbClr val="DCEBF7">
              <a:alpha val="75000"/>
            </a:srgbClr>
          </a:solidFill>
          <a:ln w="5080">
            <a:solidFill>
              <a:srgbClr val="7F9DB8"/>
            </a:solidFill>
            <a:prstDash val="solid"/>
          </a:ln>
        </p:spPr>
      </p:sp>
      <p:sp>
        <p:nvSpPr>
          <p:cNvPr id="87" name="Shape 85"/>
          <p:cNvSpPr/>
          <p:nvPr/>
        </p:nvSpPr>
        <p:spPr>
          <a:xfrm>
            <a:off x="2379852" y="3236281"/>
            <a:ext cx="178306" cy="219911"/>
          </a:xfrm>
          <a:custGeom>
            <a:avLst/>
            <a:gdLst/>
            <a:ahLst/>
            <a:cxnLst/>
            <a:rect l="l" t="t" r="r" b="b"/>
            <a:pathLst>
              <a:path w="178306" h="219911">
                <a:moveTo>
                  <a:pt x="148971" y="219911"/>
                </a:moveTo>
                <a:lnTo>
                  <a:pt x="97580" y="209599"/>
                </a:lnTo>
                <a:lnTo>
                  <a:pt x="47796" y="196476"/>
                </a:lnTo>
                <a:lnTo>
                  <a:pt x="0" y="180641"/>
                </a:lnTo>
                <a:lnTo>
                  <a:pt x="0" y="180641"/>
                </a:lnTo>
                <a:lnTo>
                  <a:pt x="16716" y="120234"/>
                </a:lnTo>
                <a:lnTo>
                  <a:pt x="35654" y="59867"/>
                </a:lnTo>
                <a:lnTo>
                  <a:pt x="56672" y="0"/>
                </a:lnTo>
                <a:lnTo>
                  <a:pt x="56672" y="0"/>
                </a:lnTo>
                <a:lnTo>
                  <a:pt x="95698" y="12929"/>
                </a:lnTo>
                <a:lnTo>
                  <a:pt x="136346" y="23644"/>
                </a:lnTo>
                <a:lnTo>
                  <a:pt x="178306" y="32063"/>
                </a:lnTo>
                <a:lnTo>
                  <a:pt x="178306" y="32063"/>
                </a:lnTo>
                <a:lnTo>
                  <a:pt x="167427" y="94603"/>
                </a:lnTo>
                <a:lnTo>
                  <a:pt x="157623" y="157378"/>
                </a:lnTo>
                <a:lnTo>
                  <a:pt x="148971" y="219911"/>
                </a:lnTo>
                <a:close/>
              </a:path>
            </a:pathLst>
          </a:custGeom>
          <a:solidFill>
            <a:srgbClr val="DCEBF7">
              <a:alpha val="75000"/>
            </a:srgbClr>
          </a:solidFill>
          <a:ln w="5080">
            <a:solidFill>
              <a:srgbClr val="7F9DB8"/>
            </a:solidFill>
            <a:prstDash val="solid"/>
          </a:ln>
        </p:spPr>
      </p:sp>
      <p:sp>
        <p:nvSpPr>
          <p:cNvPr id="88" name="Shape 86"/>
          <p:cNvSpPr/>
          <p:nvPr/>
        </p:nvSpPr>
        <p:spPr>
          <a:xfrm>
            <a:off x="2688688" y="3456192"/>
            <a:ext cx="178306" cy="196353"/>
          </a:xfrm>
          <a:custGeom>
            <a:avLst/>
            <a:gdLst/>
            <a:ahLst/>
            <a:cxnLst/>
            <a:rect l="l" t="t" r="r" b="b"/>
            <a:pathLst>
              <a:path w="178306" h="196353">
                <a:moveTo>
                  <a:pt x="178306" y="181414"/>
                </a:moveTo>
                <a:lnTo>
                  <a:pt x="119630" y="189692"/>
                </a:lnTo>
                <a:lnTo>
                  <a:pt x="60044" y="194685"/>
                </a:lnTo>
                <a:lnTo>
                  <a:pt x="0" y="196353"/>
                </a:lnTo>
                <a:lnTo>
                  <a:pt x="0" y="196353"/>
                </a:lnTo>
                <a:lnTo>
                  <a:pt x="0" y="136973"/>
                </a:lnTo>
                <a:lnTo>
                  <a:pt x="0" y="75831"/>
                </a:lnTo>
                <a:lnTo>
                  <a:pt x="0" y="13394"/>
                </a:lnTo>
                <a:lnTo>
                  <a:pt x="0" y="13394"/>
                </a:lnTo>
                <a:lnTo>
                  <a:pt x="53834" y="11898"/>
                </a:lnTo>
                <a:lnTo>
                  <a:pt x="107257" y="7422"/>
                </a:lnTo>
                <a:lnTo>
                  <a:pt x="159865" y="0"/>
                </a:lnTo>
                <a:lnTo>
                  <a:pt x="159865" y="0"/>
                </a:lnTo>
                <a:lnTo>
                  <a:pt x="167301" y="61814"/>
                </a:lnTo>
                <a:lnTo>
                  <a:pt x="173464" y="122439"/>
                </a:lnTo>
                <a:lnTo>
                  <a:pt x="178306" y="181414"/>
                </a:lnTo>
                <a:close/>
              </a:path>
            </a:pathLst>
          </a:custGeom>
          <a:solidFill>
            <a:srgbClr val="DCEBF7">
              <a:alpha val="75000"/>
            </a:srgbClr>
          </a:solidFill>
          <a:ln w="5080">
            <a:solidFill>
              <a:srgbClr val="7F9DB8"/>
            </a:solidFill>
            <a:prstDash val="solid"/>
          </a:ln>
        </p:spPr>
      </p:sp>
      <p:sp>
        <p:nvSpPr>
          <p:cNvPr id="89" name="Shape 87"/>
          <p:cNvSpPr/>
          <p:nvPr/>
        </p:nvSpPr>
        <p:spPr>
          <a:xfrm>
            <a:off x="2510382" y="3456192"/>
            <a:ext cx="178306" cy="196353"/>
          </a:xfrm>
          <a:custGeom>
            <a:avLst/>
            <a:gdLst/>
            <a:ahLst/>
            <a:cxnLst/>
            <a:rect l="l" t="t" r="r" b="b"/>
            <a:pathLst>
              <a:path w="178306" h="196353">
                <a:moveTo>
                  <a:pt x="178306" y="196353"/>
                </a:moveTo>
                <a:lnTo>
                  <a:pt x="118263" y="194685"/>
                </a:lnTo>
                <a:lnTo>
                  <a:pt x="58676" y="189692"/>
                </a:lnTo>
                <a:lnTo>
                  <a:pt x="0" y="181414"/>
                </a:lnTo>
                <a:lnTo>
                  <a:pt x="0" y="181414"/>
                </a:lnTo>
                <a:lnTo>
                  <a:pt x="4843" y="122439"/>
                </a:lnTo>
                <a:lnTo>
                  <a:pt x="11005" y="61814"/>
                </a:lnTo>
                <a:lnTo>
                  <a:pt x="18441" y="0"/>
                </a:lnTo>
                <a:lnTo>
                  <a:pt x="18441" y="0"/>
                </a:lnTo>
                <a:lnTo>
                  <a:pt x="71049" y="7422"/>
                </a:lnTo>
                <a:lnTo>
                  <a:pt x="124473" y="11898"/>
                </a:lnTo>
                <a:lnTo>
                  <a:pt x="178306" y="13394"/>
                </a:lnTo>
                <a:lnTo>
                  <a:pt x="178306" y="13394"/>
                </a:lnTo>
                <a:lnTo>
                  <a:pt x="178306" y="75831"/>
                </a:lnTo>
                <a:lnTo>
                  <a:pt x="178306" y="136973"/>
                </a:lnTo>
                <a:lnTo>
                  <a:pt x="178306" y="196353"/>
                </a:lnTo>
                <a:close/>
              </a:path>
            </a:pathLst>
          </a:custGeom>
          <a:solidFill>
            <a:srgbClr val="E8934D">
              <a:alpha val="90000"/>
            </a:srgbClr>
          </a:solidFill>
          <a:ln w="5080">
            <a:solidFill>
              <a:srgbClr val="7F9DB8"/>
            </a:solidFill>
            <a:prstDash val="solid"/>
          </a:ln>
        </p:spPr>
      </p:sp>
      <p:sp>
        <p:nvSpPr>
          <p:cNvPr id="90" name="Shape 88"/>
          <p:cNvSpPr/>
          <p:nvPr/>
        </p:nvSpPr>
        <p:spPr>
          <a:xfrm>
            <a:off x="2688688" y="3086866"/>
            <a:ext cx="130529" cy="192415"/>
          </a:xfrm>
          <a:custGeom>
            <a:avLst/>
            <a:gdLst/>
            <a:ahLst/>
            <a:cxnLst/>
            <a:rect l="l" t="t" r="r" b="b"/>
            <a:pathLst>
              <a:path w="130529" h="192415">
                <a:moveTo>
                  <a:pt x="130529" y="181479"/>
                </a:moveTo>
                <a:lnTo>
                  <a:pt x="87575" y="187539"/>
                </a:lnTo>
                <a:lnTo>
                  <a:pt x="43955" y="191194"/>
                </a:lnTo>
                <a:lnTo>
                  <a:pt x="0" y="192415"/>
                </a:lnTo>
                <a:lnTo>
                  <a:pt x="0" y="192415"/>
                </a:lnTo>
                <a:lnTo>
                  <a:pt x="0" y="129592"/>
                </a:lnTo>
                <a:lnTo>
                  <a:pt x="0" y="67875"/>
                </a:lnTo>
                <a:lnTo>
                  <a:pt x="0" y="7733"/>
                </a:lnTo>
                <a:lnTo>
                  <a:pt x="0" y="7733"/>
                </a:lnTo>
                <a:lnTo>
                  <a:pt x="31081" y="6869"/>
                </a:lnTo>
                <a:lnTo>
                  <a:pt x="61925" y="4285"/>
                </a:lnTo>
                <a:lnTo>
                  <a:pt x="92298" y="0"/>
                </a:lnTo>
                <a:lnTo>
                  <a:pt x="92298" y="0"/>
                </a:lnTo>
                <a:lnTo>
                  <a:pt x="105880" y="59004"/>
                </a:lnTo>
                <a:lnTo>
                  <a:pt x="118656" y="119650"/>
                </a:lnTo>
                <a:lnTo>
                  <a:pt x="130529" y="181479"/>
                </a:lnTo>
                <a:close/>
              </a:path>
            </a:pathLst>
          </a:custGeom>
          <a:solidFill>
            <a:srgbClr val="DCEBF7">
              <a:alpha val="75000"/>
            </a:srgbClr>
          </a:solidFill>
          <a:ln w="5080">
            <a:solidFill>
              <a:srgbClr val="7F9DB8"/>
            </a:solidFill>
            <a:prstDash val="solid"/>
          </a:ln>
        </p:spPr>
      </p:sp>
      <p:sp>
        <p:nvSpPr>
          <p:cNvPr id="91" name="Shape 89"/>
          <p:cNvSpPr/>
          <p:nvPr/>
        </p:nvSpPr>
        <p:spPr>
          <a:xfrm>
            <a:off x="2558159" y="3086866"/>
            <a:ext cx="130529" cy="192415"/>
          </a:xfrm>
          <a:custGeom>
            <a:avLst/>
            <a:gdLst/>
            <a:ahLst/>
            <a:cxnLst/>
            <a:rect l="l" t="t" r="r" b="b"/>
            <a:pathLst>
              <a:path w="130529" h="192415">
                <a:moveTo>
                  <a:pt x="130529" y="192415"/>
                </a:moveTo>
                <a:lnTo>
                  <a:pt x="86574" y="191194"/>
                </a:lnTo>
                <a:lnTo>
                  <a:pt x="42954" y="187539"/>
                </a:lnTo>
                <a:lnTo>
                  <a:pt x="0" y="181479"/>
                </a:lnTo>
                <a:lnTo>
                  <a:pt x="0" y="181479"/>
                </a:lnTo>
                <a:lnTo>
                  <a:pt x="11873" y="119650"/>
                </a:lnTo>
                <a:lnTo>
                  <a:pt x="24649" y="59004"/>
                </a:lnTo>
                <a:lnTo>
                  <a:pt x="38231" y="0"/>
                </a:lnTo>
                <a:lnTo>
                  <a:pt x="38231" y="0"/>
                </a:lnTo>
                <a:lnTo>
                  <a:pt x="68604" y="4285"/>
                </a:lnTo>
                <a:lnTo>
                  <a:pt x="99448" y="6869"/>
                </a:lnTo>
                <a:lnTo>
                  <a:pt x="130529" y="7733"/>
                </a:lnTo>
                <a:lnTo>
                  <a:pt x="130529" y="7733"/>
                </a:lnTo>
                <a:lnTo>
                  <a:pt x="130529" y="67875"/>
                </a:lnTo>
                <a:lnTo>
                  <a:pt x="130529" y="129592"/>
                </a:lnTo>
                <a:lnTo>
                  <a:pt x="130529" y="192415"/>
                </a:lnTo>
                <a:close/>
              </a:path>
            </a:pathLst>
          </a:custGeom>
          <a:solidFill>
            <a:srgbClr val="DCEBF7">
              <a:alpha val="75000"/>
            </a:srgbClr>
          </a:solidFill>
          <a:ln w="5080">
            <a:solidFill>
              <a:srgbClr val="7F9DB8"/>
            </a:solidFill>
            <a:prstDash val="solid"/>
          </a:ln>
        </p:spPr>
      </p:sp>
      <p:sp>
        <p:nvSpPr>
          <p:cNvPr id="92" name="Shape 90"/>
          <p:cNvSpPr/>
          <p:nvPr/>
        </p:nvSpPr>
        <p:spPr>
          <a:xfrm>
            <a:off x="2688688" y="3268345"/>
            <a:ext cx="159865" cy="201241"/>
          </a:xfrm>
          <a:custGeom>
            <a:avLst/>
            <a:gdLst/>
            <a:ahLst/>
            <a:cxnLst/>
            <a:rect l="l" t="t" r="r" b="b"/>
            <a:pathLst>
              <a:path w="159865" h="201241">
                <a:moveTo>
                  <a:pt x="159865" y="187847"/>
                </a:moveTo>
                <a:lnTo>
                  <a:pt x="107257" y="195269"/>
                </a:lnTo>
                <a:lnTo>
                  <a:pt x="53834" y="199745"/>
                </a:lnTo>
                <a:lnTo>
                  <a:pt x="0" y="201241"/>
                </a:lnTo>
                <a:lnTo>
                  <a:pt x="0" y="201241"/>
                </a:lnTo>
                <a:lnTo>
                  <a:pt x="0" y="137984"/>
                </a:lnTo>
                <a:lnTo>
                  <a:pt x="0" y="74388"/>
                </a:lnTo>
                <a:lnTo>
                  <a:pt x="0" y="10936"/>
                </a:lnTo>
                <a:lnTo>
                  <a:pt x="0" y="10936"/>
                </a:lnTo>
                <a:lnTo>
                  <a:pt x="43955" y="9715"/>
                </a:lnTo>
                <a:lnTo>
                  <a:pt x="87575" y="6060"/>
                </a:lnTo>
                <a:lnTo>
                  <a:pt x="130529" y="0"/>
                </a:lnTo>
                <a:lnTo>
                  <a:pt x="130529" y="0"/>
                </a:lnTo>
                <a:lnTo>
                  <a:pt x="141409" y="62540"/>
                </a:lnTo>
                <a:lnTo>
                  <a:pt x="151212" y="125315"/>
                </a:lnTo>
                <a:lnTo>
                  <a:pt x="159865" y="187847"/>
                </a:lnTo>
                <a:close/>
              </a:path>
            </a:pathLst>
          </a:custGeom>
          <a:solidFill>
            <a:srgbClr val="DCEBF7">
              <a:alpha val="75000"/>
            </a:srgbClr>
          </a:solidFill>
          <a:ln w="5080">
            <a:solidFill>
              <a:srgbClr val="7F9DB8"/>
            </a:solidFill>
            <a:prstDash val="solid"/>
          </a:ln>
        </p:spPr>
      </p:sp>
      <p:sp>
        <p:nvSpPr>
          <p:cNvPr id="93" name="Shape 91"/>
          <p:cNvSpPr/>
          <p:nvPr/>
        </p:nvSpPr>
        <p:spPr>
          <a:xfrm>
            <a:off x="2528823" y="3268345"/>
            <a:ext cx="159865" cy="201241"/>
          </a:xfrm>
          <a:custGeom>
            <a:avLst/>
            <a:gdLst/>
            <a:ahLst/>
            <a:cxnLst/>
            <a:rect l="l" t="t" r="r" b="b"/>
            <a:pathLst>
              <a:path w="159865" h="201241">
                <a:moveTo>
                  <a:pt x="159865" y="201241"/>
                </a:moveTo>
                <a:lnTo>
                  <a:pt x="106031" y="199745"/>
                </a:lnTo>
                <a:lnTo>
                  <a:pt x="52608" y="195269"/>
                </a:lnTo>
                <a:lnTo>
                  <a:pt x="0" y="187847"/>
                </a:lnTo>
                <a:lnTo>
                  <a:pt x="0" y="187847"/>
                </a:lnTo>
                <a:lnTo>
                  <a:pt x="8653" y="125315"/>
                </a:lnTo>
                <a:lnTo>
                  <a:pt x="18456" y="62540"/>
                </a:lnTo>
                <a:lnTo>
                  <a:pt x="29336" y="0"/>
                </a:lnTo>
                <a:lnTo>
                  <a:pt x="29336" y="0"/>
                </a:lnTo>
                <a:lnTo>
                  <a:pt x="72290" y="6060"/>
                </a:lnTo>
                <a:lnTo>
                  <a:pt x="115910" y="9715"/>
                </a:lnTo>
                <a:lnTo>
                  <a:pt x="159865" y="10936"/>
                </a:lnTo>
                <a:lnTo>
                  <a:pt x="159865" y="10936"/>
                </a:lnTo>
                <a:lnTo>
                  <a:pt x="159865" y="74388"/>
                </a:lnTo>
                <a:lnTo>
                  <a:pt x="159865" y="137984"/>
                </a:lnTo>
                <a:lnTo>
                  <a:pt x="159865" y="201241"/>
                </a:lnTo>
                <a:close/>
              </a:path>
            </a:pathLst>
          </a:custGeom>
          <a:solidFill>
            <a:srgbClr val="DCEBF7">
              <a:alpha val="75000"/>
            </a:srgbClr>
          </a:solidFill>
          <a:ln w="5080">
            <a:solidFill>
              <a:srgbClr val="7F9DB8"/>
            </a:solidFill>
            <a:prstDash val="solid"/>
          </a:ln>
        </p:spPr>
      </p:sp>
      <p:sp>
        <p:nvSpPr>
          <p:cNvPr id="94" name="Shape 92"/>
          <p:cNvSpPr/>
          <p:nvPr/>
        </p:nvSpPr>
        <p:spPr>
          <a:xfrm>
            <a:off x="1007600" y="3611423"/>
            <a:ext cx="840544" cy="1200607"/>
          </a:xfrm>
          <a:custGeom>
            <a:avLst/>
            <a:gdLst/>
            <a:ahLst/>
            <a:cxnLst/>
            <a:rect l="l" t="t" r="r" b="b"/>
            <a:pathLst>
              <a:path w="840544" h="1200607">
                <a:moveTo>
                  <a:pt x="0" y="665683"/>
                </a:moveTo>
                <a:lnTo>
                  <a:pt x="840544" y="1200607"/>
                </a:lnTo>
                <a:lnTo>
                  <a:pt x="840544" y="534924"/>
                </a:lnTo>
                <a:lnTo>
                  <a:pt x="0" y="0"/>
                </a:lnTo>
                <a:close/>
              </a:path>
            </a:pathLst>
          </a:custGeom>
          <a:solidFill>
            <a:srgbClr val="E8934D">
              <a:alpha val="55000"/>
            </a:srgbClr>
          </a:solidFill>
          <a:ln w="12700">
            <a:solidFill>
              <a:srgbClr val="E8934D"/>
            </a:solidFill>
            <a:prstDash val="solid"/>
          </a:ln>
        </p:spPr>
      </p:sp>
      <p:sp>
        <p:nvSpPr>
          <p:cNvPr id="95" name="Shape 93"/>
          <p:cNvSpPr/>
          <p:nvPr/>
        </p:nvSpPr>
        <p:spPr>
          <a:xfrm>
            <a:off x="1848144" y="3611423"/>
            <a:ext cx="840544" cy="1200607"/>
          </a:xfrm>
          <a:custGeom>
            <a:avLst/>
            <a:gdLst/>
            <a:ahLst/>
            <a:cxnLst/>
            <a:rect l="l" t="t" r="r" b="b"/>
            <a:pathLst>
              <a:path w="840544" h="1200607">
                <a:moveTo>
                  <a:pt x="0" y="1200607"/>
                </a:moveTo>
                <a:lnTo>
                  <a:pt x="840544" y="665683"/>
                </a:lnTo>
                <a:lnTo>
                  <a:pt x="840544" y="0"/>
                </a:lnTo>
                <a:lnTo>
                  <a:pt x="0" y="534924"/>
                </a:lnTo>
                <a:close/>
              </a:path>
            </a:pathLst>
          </a:custGeom>
          <a:solidFill>
            <a:srgbClr val="C56A2C">
              <a:alpha val="55000"/>
            </a:srgbClr>
          </a:solidFill>
          <a:ln w="12700">
            <a:solidFill>
              <a:srgbClr val="C56A2C"/>
            </a:solidFill>
            <a:prstDash val="solid"/>
          </a:ln>
        </p:spPr>
      </p:sp>
      <p:sp>
        <p:nvSpPr>
          <p:cNvPr id="96" name="Shape 94"/>
          <p:cNvSpPr/>
          <p:nvPr/>
        </p:nvSpPr>
        <p:spPr>
          <a:xfrm>
            <a:off x="1007600" y="3076499"/>
            <a:ext cx="1681088" cy="1069848"/>
          </a:xfrm>
          <a:custGeom>
            <a:avLst/>
            <a:gdLst/>
            <a:ahLst/>
            <a:cxnLst/>
            <a:rect l="l" t="t" r="r" b="b"/>
            <a:pathLst>
              <a:path w="1681088" h="1069848">
                <a:moveTo>
                  <a:pt x="0" y="534924"/>
                </a:moveTo>
                <a:lnTo>
                  <a:pt x="840544" y="1069848"/>
                </a:lnTo>
                <a:lnTo>
                  <a:pt x="1681088" y="534924"/>
                </a:lnTo>
                <a:lnTo>
                  <a:pt x="840544" y="0"/>
                </a:lnTo>
                <a:close/>
              </a:path>
            </a:pathLst>
          </a:custGeom>
          <a:solidFill>
            <a:srgbClr val="F4C9A3">
              <a:alpha val="55000"/>
            </a:srgbClr>
          </a:solidFill>
          <a:ln w="12700">
            <a:solidFill>
              <a:srgbClr val="F4C9A3"/>
            </a:solidFill>
            <a:prstDash val="solid"/>
          </a:ln>
        </p:spPr>
      </p:sp>
      <p:sp>
        <p:nvSpPr>
          <p:cNvPr id="97" name="Shape 95"/>
          <p:cNvSpPr/>
          <p:nvPr/>
        </p:nvSpPr>
        <p:spPr>
          <a:xfrm>
            <a:off x="2184362" y="4360316"/>
            <a:ext cx="840544" cy="1200607"/>
          </a:xfrm>
          <a:custGeom>
            <a:avLst/>
            <a:gdLst/>
            <a:ahLst/>
            <a:cxnLst/>
            <a:rect l="l" t="t" r="r" b="b"/>
            <a:pathLst>
              <a:path w="840544" h="1200607">
                <a:moveTo>
                  <a:pt x="0" y="665683"/>
                </a:moveTo>
                <a:lnTo>
                  <a:pt x="840544" y="1200607"/>
                </a:lnTo>
                <a:lnTo>
                  <a:pt x="840544" y="534924"/>
                </a:lnTo>
                <a:lnTo>
                  <a:pt x="0" y="0"/>
                </a:lnTo>
                <a:close/>
              </a:path>
            </a:pathLst>
          </a:custGeom>
          <a:solidFill>
            <a:srgbClr val="2C8791">
              <a:alpha val="70000"/>
            </a:srgbClr>
          </a:solidFill>
          <a:ln w="12700">
            <a:solidFill>
              <a:srgbClr val="2C8791"/>
            </a:solidFill>
            <a:prstDash val="solid"/>
          </a:ln>
        </p:spPr>
      </p:sp>
      <p:sp>
        <p:nvSpPr>
          <p:cNvPr id="98" name="Shape 96"/>
          <p:cNvSpPr/>
          <p:nvPr/>
        </p:nvSpPr>
        <p:spPr>
          <a:xfrm>
            <a:off x="3024906" y="4360316"/>
            <a:ext cx="840544" cy="1200607"/>
          </a:xfrm>
          <a:custGeom>
            <a:avLst/>
            <a:gdLst/>
            <a:ahLst/>
            <a:cxnLst/>
            <a:rect l="l" t="t" r="r" b="b"/>
            <a:pathLst>
              <a:path w="840544" h="1200607">
                <a:moveTo>
                  <a:pt x="0" y="1200607"/>
                </a:moveTo>
                <a:lnTo>
                  <a:pt x="840544" y="665683"/>
                </a:lnTo>
                <a:lnTo>
                  <a:pt x="840544" y="0"/>
                </a:lnTo>
                <a:lnTo>
                  <a:pt x="0" y="534924"/>
                </a:lnTo>
                <a:close/>
              </a:path>
            </a:pathLst>
          </a:custGeom>
          <a:solidFill>
            <a:srgbClr val="1F6F78">
              <a:alpha val="70000"/>
            </a:srgbClr>
          </a:solidFill>
          <a:ln w="12700">
            <a:solidFill>
              <a:srgbClr val="1F6F78"/>
            </a:solidFill>
            <a:prstDash val="solid"/>
          </a:ln>
        </p:spPr>
      </p:sp>
      <p:sp>
        <p:nvSpPr>
          <p:cNvPr id="99" name="Shape 97"/>
          <p:cNvSpPr/>
          <p:nvPr/>
        </p:nvSpPr>
        <p:spPr>
          <a:xfrm>
            <a:off x="2184362" y="3825392"/>
            <a:ext cx="1681088" cy="1069848"/>
          </a:xfrm>
          <a:custGeom>
            <a:avLst/>
            <a:gdLst/>
            <a:ahLst/>
            <a:cxnLst/>
            <a:rect l="l" t="t" r="r" b="b"/>
            <a:pathLst>
              <a:path w="1681088" h="1069848">
                <a:moveTo>
                  <a:pt x="0" y="534924"/>
                </a:moveTo>
                <a:lnTo>
                  <a:pt x="840544" y="1069848"/>
                </a:lnTo>
                <a:lnTo>
                  <a:pt x="1681088" y="534924"/>
                </a:lnTo>
                <a:lnTo>
                  <a:pt x="840544" y="0"/>
                </a:lnTo>
                <a:close/>
              </a:path>
            </a:pathLst>
          </a:custGeom>
          <a:solidFill>
            <a:srgbClr val="9CC3C7">
              <a:alpha val="70000"/>
            </a:srgbClr>
          </a:solidFill>
          <a:ln w="12700">
            <a:solidFill>
              <a:srgbClr val="9CC3C7"/>
            </a:solidFill>
            <a:prstDash val="solid"/>
          </a:ln>
        </p:spPr>
      </p:sp>
      <p:sp>
        <p:nvSpPr>
          <p:cNvPr id="100" name="Shape 98"/>
          <p:cNvSpPr/>
          <p:nvPr/>
        </p:nvSpPr>
        <p:spPr>
          <a:xfrm flipH="1" flipV="1">
            <a:off x="2268416" y="3343961"/>
            <a:ext cx="420272" cy="17831"/>
          </a:xfrm>
          <a:prstGeom prst="line">
            <a:avLst/>
          </a:prstGeom>
          <a:noFill/>
          <a:ln w="19050">
            <a:solidFill>
              <a:srgbClr val="B04A3F"/>
            </a:solidFill>
            <a:prstDash val="solid"/>
            <a:tailEnd type="oval"/>
          </a:ln>
        </p:spPr>
      </p:sp>
      <p:sp>
        <p:nvSpPr>
          <p:cNvPr id="101" name="Shape 99"/>
          <p:cNvSpPr/>
          <p:nvPr/>
        </p:nvSpPr>
        <p:spPr>
          <a:xfrm>
            <a:off x="2610964" y="3284068"/>
            <a:ext cx="155448" cy="155448"/>
          </a:xfrm>
          <a:prstGeom prst="ellipse">
            <a:avLst/>
          </a:prstGeom>
          <a:solidFill>
            <a:srgbClr val="E8D26E"/>
          </a:solidFill>
          <a:ln w="6350">
            <a:solidFill>
              <a:srgbClr val="FFFFFF"/>
            </a:solidFill>
            <a:prstDash val="solid"/>
          </a:ln>
        </p:spPr>
      </p:sp>
      <p:sp>
        <p:nvSpPr>
          <p:cNvPr id="102" name="Text 100"/>
          <p:cNvSpPr txBox="1"/>
          <p:nvPr/>
        </p:nvSpPr>
        <p:spPr>
          <a:xfrm>
            <a:off x="668216" y="2911450"/>
            <a:ext cx="1463040" cy="384048"/>
          </a:xfrm>
          <a:prstGeom prst="rect">
            <a:avLst/>
          </a:prstGeom>
          <a:noFill/>
          <a:ln/>
        </p:spPr>
        <p:txBody>
          <a:bodyPr wrap="square" lIns="508" tIns="508" rIns="508" bIns="508"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点P</a:t>
            </a:r>
            <a:endParaRPr lang="en-US" sz="900" dirty="0"/>
          </a:p>
          <a:p>
            <a:pPr algn="r" indent="0" marL="0">
              <a:buNone/>
            </a:pPr>
            <a:r>
              <a:rPr lang="en-US" sz="900" b="1" dirty="0">
                <a:solidFill>
                  <a:srgbClr val="1B2A44"/>
                </a:solidFill>
                <a:latin typeface="Yu Gothic" pitchFamily="34" charset="0"/>
                <a:ea typeface="Yu Gothic" pitchFamily="34" charset="-122"/>
                <a:cs typeface="Yu Gothic" pitchFamily="34" charset="-120"/>
              </a:rPr>
              <a:t>（南面・高さ20m）</a:t>
            </a:r>
            <a:endParaRPr lang="en-US" sz="900" dirty="0"/>
          </a:p>
        </p:txBody>
      </p:sp>
      <p:sp>
        <p:nvSpPr>
          <p:cNvPr id="103" name="Shape 101"/>
          <p:cNvSpPr/>
          <p:nvPr/>
        </p:nvSpPr>
        <p:spPr>
          <a:xfrm>
            <a:off x="2158688" y="3094330"/>
            <a:ext cx="438560" cy="267462"/>
          </a:xfrm>
          <a:prstGeom prst="line">
            <a:avLst/>
          </a:prstGeom>
          <a:noFill/>
          <a:ln w="9525">
            <a:solidFill>
              <a:srgbClr val="1B2A44"/>
            </a:solidFill>
            <a:prstDash val="solid"/>
            <a:tailEnd type="triangle"/>
          </a:ln>
        </p:spPr>
      </p:sp>
      <p:sp>
        <p:nvSpPr>
          <p:cNvPr id="104" name="Text 102"/>
          <p:cNvSpPr txBox="1"/>
          <p:nvPr/>
        </p:nvSpPr>
        <p:spPr>
          <a:xfrm>
            <a:off x="594360" y="5440680"/>
            <a:ext cx="2377440" cy="219456"/>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南の建物（高さ35m・隙間25m）</a:t>
            </a:r>
            <a:endParaRPr lang="en-US" sz="900" dirty="0"/>
          </a:p>
        </p:txBody>
      </p:sp>
      <p:sp>
        <p:nvSpPr>
          <p:cNvPr id="105" name="Text 103"/>
          <p:cNvSpPr txBox="1"/>
          <p:nvPr/>
        </p:nvSpPr>
        <p:spPr>
          <a:xfrm>
            <a:off x="3931920" y="4572000"/>
            <a:ext cx="1463040" cy="566928"/>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南東の建物</a:t>
            </a:r>
            <a:endParaRPr lang="en-US" sz="900" dirty="0"/>
          </a:p>
          <a:p>
            <a:pPr indent="0" marL="0">
              <a:buNone/>
            </a:pPr>
            <a:r>
              <a:rPr lang="en-US" sz="900" b="1" dirty="0">
                <a:solidFill>
                  <a:srgbClr val="1F6F78"/>
                </a:solidFill>
                <a:latin typeface="Yu Gothic" pitchFamily="34" charset="0"/>
                <a:ea typeface="Yu Gothic" pitchFamily="34" charset="-122"/>
                <a:cs typeface="Yu Gothic" pitchFamily="34" charset="-120"/>
              </a:rPr>
              <a:t>高さ35m</a:t>
            </a:r>
            <a:endParaRPr lang="en-US" sz="900" dirty="0"/>
          </a:p>
          <a:p>
            <a:pPr indent="0" marL="0">
              <a:buNone/>
            </a:pPr>
            <a:r>
              <a:rPr lang="en-US" sz="900" b="1" dirty="0">
                <a:solidFill>
                  <a:srgbClr val="1F6F78"/>
                </a:solidFill>
                <a:latin typeface="Yu Gothic" pitchFamily="34" charset="0"/>
                <a:ea typeface="Yu Gothic" pitchFamily="34" charset="-122"/>
                <a:cs typeface="Yu Gothic" pitchFamily="34" charset="-120"/>
              </a:rPr>
              <a:t>（方位θで置いた例）</a:t>
            </a:r>
            <a:endParaRPr lang="en-US" sz="900" dirty="0"/>
          </a:p>
        </p:txBody>
      </p:sp>
      <p:sp>
        <p:nvSpPr>
          <p:cNvPr id="106" name="Text 104"/>
          <p:cNvSpPr txBox="1"/>
          <p:nvPr/>
        </p:nvSpPr>
        <p:spPr>
          <a:xfrm>
            <a:off x="4040944" y="2340864"/>
            <a:ext cx="1280160" cy="384048"/>
          </a:xfrm>
          <a:prstGeom prst="rect">
            <a:avLst/>
          </a:prstGeom>
          <a:noFill/>
          <a:ln/>
        </p:spPr>
        <p:txBody>
          <a:bodyPr wrap="square" lIns="508" tIns="508" rIns="508" bIns="508"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中央建物</a:t>
            </a:r>
            <a:endParaRPr lang="en-US" sz="900" dirty="0"/>
          </a:p>
          <a:p>
            <a:pPr algn="l" indent="0" marL="0">
              <a:buNone/>
            </a:pPr>
            <a:r>
              <a:rPr lang="en-US" sz="900" b="1" dirty="0">
                <a:solidFill>
                  <a:srgbClr val="1B2A44"/>
                </a:solidFill>
                <a:latin typeface="Yu Gothic" pitchFamily="34" charset="0"/>
                <a:ea typeface="Yu Gothic" pitchFamily="34" charset="-122"/>
                <a:cs typeface="Yu Gothic" pitchFamily="34" charset="-120"/>
              </a:rPr>
              <a:t>（高さ50m）</a:t>
            </a:r>
            <a:endParaRPr lang="en-US" sz="900" dirty="0"/>
          </a:p>
        </p:txBody>
      </p:sp>
      <p:sp>
        <p:nvSpPr>
          <p:cNvPr id="107" name="Text 105"/>
          <p:cNvSpPr txBox="1"/>
          <p:nvPr/>
        </p:nvSpPr>
        <p:spPr>
          <a:xfrm>
            <a:off x="610712" y="2429121"/>
            <a:ext cx="1554480" cy="384048"/>
          </a:xfrm>
          <a:prstGeom prst="rect">
            <a:avLst/>
          </a:prstGeom>
          <a:noFill/>
          <a:ln/>
        </p:spPr>
        <p:txBody>
          <a:bodyPr wrap="square" lIns="508" tIns="508" rIns="508" bIns="508" rtlCol="0" anchor="t"/>
          <a:lstStyle/>
          <a:p>
            <a:pPr algn="r" indent="0" marL="0">
              <a:buNone/>
            </a:pPr>
            <a:r>
              <a:rPr lang="en-US" sz="900" b="1" dirty="0">
                <a:solidFill>
                  <a:srgbClr val="3D6A93"/>
                </a:solidFill>
                <a:latin typeface="Yu Gothic" pitchFamily="34" charset="0"/>
                <a:ea typeface="Yu Gothic" pitchFamily="34" charset="-122"/>
                <a:cs typeface="Yu Gothic" pitchFamily="34" charset="-120"/>
              </a:rPr>
              <a:t>空のドーム：点Pから</a:t>
            </a:r>
            <a:endParaRPr lang="en-US" sz="900" dirty="0"/>
          </a:p>
          <a:p>
            <a:pPr algn="r" indent="0" marL="0">
              <a:buNone/>
            </a:pPr>
            <a:r>
              <a:rPr lang="en-US" sz="900" b="1" dirty="0">
                <a:solidFill>
                  <a:srgbClr val="3D6A93"/>
                </a:solidFill>
                <a:latin typeface="Yu Gothic" pitchFamily="34" charset="0"/>
                <a:ea typeface="Yu Gothic" pitchFamily="34" charset="-122"/>
                <a:cs typeface="Yu Gothic" pitchFamily="34" charset="-120"/>
              </a:rPr>
              <a:t>見える空（前半分）</a:t>
            </a:r>
            <a:endParaRPr lang="en-US" sz="900" dirty="0"/>
          </a:p>
        </p:txBody>
      </p:sp>
      <p:sp>
        <p:nvSpPr>
          <p:cNvPr id="108" name="Text 106"/>
          <p:cNvSpPr txBox="1"/>
          <p:nvPr/>
        </p:nvSpPr>
        <p:spPr>
          <a:xfrm>
            <a:off x="594360" y="5742432"/>
            <a:ext cx="5943600" cy="219456"/>
          </a:xfrm>
          <a:prstGeom prst="rect">
            <a:avLst/>
          </a:prstGeom>
          <a:noFill/>
          <a:ln/>
        </p:spPr>
        <p:txBody>
          <a:bodyPr wrap="square" lIns="508" tIns="508" rIns="508" bIns="508" rtlCol="0" anchor="t"/>
          <a:lstStyle/>
          <a:p>
            <a:pPr indent="0" marL="0">
              <a:buNone/>
            </a:pPr>
            <a:r>
              <a:rPr lang="en-US" sz="900" dirty="0">
                <a:solidFill>
                  <a:srgbClr val="E8934D"/>
                </a:solidFill>
                <a:latin typeface="Yu Gothic" pitchFamily="34" charset="0"/>
                <a:ea typeface="Yu Gothic" pitchFamily="34" charset="-122"/>
                <a:cs typeface="Yu Gothic" pitchFamily="34" charset="-120"/>
              </a:rPr>
              <a:t>■ </a:t>
            </a:r>
            <a:pPr indent="0" marL="0">
              <a:buNone/>
            </a:pPr>
            <a:r>
              <a:rPr lang="en-US" sz="900" dirty="0">
                <a:solidFill>
                  <a:srgbClr val="333F4E"/>
                </a:solidFill>
                <a:latin typeface="Yu Gothic" pitchFamily="34" charset="0"/>
                <a:ea typeface="Yu Gothic" pitchFamily="34" charset="-122"/>
                <a:cs typeface="Yu Gothic" pitchFamily="34" charset="-120"/>
              </a:rPr>
              <a:t>南の建物でふさがる　</a:t>
            </a:r>
            <a:pPr indent="0" marL="0">
              <a:buNone/>
            </a:pPr>
            <a:r>
              <a:rPr lang="en-US" sz="900" dirty="0">
                <a:solidFill>
                  <a:srgbClr val="1F6F78"/>
                </a:solidFill>
                <a:latin typeface="Yu Gothic" pitchFamily="34" charset="0"/>
                <a:ea typeface="Yu Gothic" pitchFamily="34" charset="-122"/>
                <a:cs typeface="Yu Gothic" pitchFamily="34" charset="-120"/>
              </a:rPr>
              <a:t>■ </a:t>
            </a:r>
            <a:pPr indent="0" marL="0">
              <a:buNone/>
            </a:pPr>
            <a:r>
              <a:rPr lang="en-US" sz="900" dirty="0">
                <a:solidFill>
                  <a:srgbClr val="333F4E"/>
                </a:solidFill>
                <a:latin typeface="Yu Gothic" pitchFamily="34" charset="0"/>
                <a:ea typeface="Yu Gothic" pitchFamily="34" charset="-122"/>
                <a:cs typeface="Yu Gothic" pitchFamily="34" charset="-120"/>
              </a:rPr>
              <a:t>南東の建物でふさがる　</a:t>
            </a:r>
            <a:pPr indent="0" marL="0">
              <a:buNone/>
            </a:pPr>
            <a:r>
              <a:rPr lang="en-US" sz="900" dirty="0">
                <a:solidFill>
                  <a:srgbClr val="B04A3F"/>
                </a:solidFill>
                <a:latin typeface="Yu Gothic" pitchFamily="34" charset="0"/>
                <a:ea typeface="Yu Gothic" pitchFamily="34" charset="-122"/>
                <a:cs typeface="Yu Gothic" pitchFamily="34" charset="-120"/>
              </a:rPr>
              <a:t>■ </a:t>
            </a:r>
            <a:pPr indent="0" marL="0">
              <a:buNone/>
            </a:pPr>
            <a:r>
              <a:rPr lang="en-US" sz="900" dirty="0">
                <a:solidFill>
                  <a:srgbClr val="333F4E"/>
                </a:solidFill>
                <a:latin typeface="Yu Gothic" pitchFamily="34" charset="0"/>
                <a:ea typeface="Yu Gothic" pitchFamily="34" charset="-122"/>
                <a:cs typeface="Yu Gothic" pitchFamily="34" charset="-120"/>
              </a:rPr>
              <a:t>両方　</a:t>
            </a:r>
            <a:pPr indent="0" marL="0">
              <a:buNone/>
            </a:pPr>
            <a:r>
              <a:rPr lang="en-US" sz="900" dirty="0">
                <a:solidFill>
                  <a:srgbClr val="B9D5EC"/>
                </a:solidFill>
                <a:latin typeface="Yu Gothic" pitchFamily="34" charset="0"/>
                <a:ea typeface="Yu Gothic" pitchFamily="34" charset="-122"/>
                <a:cs typeface="Yu Gothic" pitchFamily="34" charset="-120"/>
              </a:rPr>
              <a:t>■ </a:t>
            </a:r>
            <a:pPr indent="0" marL="0">
              <a:buNone/>
            </a:pPr>
            <a:r>
              <a:rPr lang="en-US" sz="900" dirty="0">
                <a:solidFill>
                  <a:srgbClr val="333F4E"/>
                </a:solidFill>
                <a:latin typeface="Yu Gothic" pitchFamily="34" charset="0"/>
                <a:ea typeface="Yu Gothic" pitchFamily="34" charset="-122"/>
                <a:cs typeface="Yu Gothic" pitchFamily="34" charset="-120"/>
              </a:rPr>
              <a:t>空が見える</a:t>
            </a:r>
            <a:endParaRPr lang="en-US" sz="900" dirty="0"/>
          </a:p>
        </p:txBody>
      </p:sp>
      <p:sp>
        <p:nvSpPr>
          <p:cNvPr id="109" name="Text 107"/>
          <p:cNvSpPr txBox="1"/>
          <p:nvPr/>
        </p:nvSpPr>
        <p:spPr>
          <a:xfrm>
            <a:off x="594360" y="5961888"/>
            <a:ext cx="5943600" cy="27432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ドームのマスを平らに広げたものが「空の地図」（右）。北は裏側なので南面の点からは見えない。</a:t>
            </a:r>
            <a:endParaRPr lang="en-US" sz="900" dirty="0"/>
          </a:p>
        </p:txBody>
      </p:sp>
      <p:sp>
        <p:nvSpPr>
          <p:cNvPr id="110" name="Shape 108"/>
          <p:cNvSpPr/>
          <p:nvPr/>
        </p:nvSpPr>
        <p:spPr>
          <a:xfrm>
            <a:off x="6812280" y="1508760"/>
            <a:ext cx="4937760" cy="3246120"/>
          </a:xfrm>
          <a:prstGeom prst="roundRect">
            <a:avLst>
              <a:gd name="adj" fmla="val 1690"/>
            </a:avLst>
          </a:prstGeom>
          <a:solidFill>
            <a:srgbClr val="FFFFFF"/>
          </a:solidFill>
          <a:ln w="9525">
            <a:solidFill>
              <a:srgbClr val="D5DAE1"/>
            </a:solidFill>
            <a:prstDash val="solid"/>
          </a:ln>
        </p:spPr>
      </p:sp>
      <p:sp>
        <p:nvSpPr>
          <p:cNvPr id="111" name="Text 109"/>
          <p:cNvSpPr txBox="1"/>
          <p:nvPr/>
        </p:nvSpPr>
        <p:spPr>
          <a:xfrm>
            <a:off x="6949440" y="1563624"/>
            <a:ext cx="47548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配置がちがっても、入力はいつも「72マスの地図」</a:t>
            </a:r>
            <a:endParaRPr lang="en-US" sz="1100" dirty="0"/>
          </a:p>
        </p:txBody>
      </p:sp>
      <p:sp>
        <p:nvSpPr>
          <p:cNvPr id="112" name="Text 110"/>
          <p:cNvSpPr txBox="1"/>
          <p:nvPr/>
        </p:nvSpPr>
        <p:spPr>
          <a:xfrm>
            <a:off x="6949440" y="2103120"/>
            <a:ext cx="868680" cy="237744"/>
          </a:xfrm>
          <a:prstGeom prst="rect">
            <a:avLst/>
          </a:prstGeom>
          <a:noFill/>
          <a:ln/>
        </p:spPr>
        <p:txBody>
          <a:bodyPr wrap="square" lIns="508" tIns="508" rIns="508" bIns="508" rtlCol="0" anchor="t"/>
          <a:lstStyle/>
          <a:p>
            <a:pPr indent="0" marL="0">
              <a:buNone/>
            </a:pPr>
            <a:r>
              <a:rPr lang="en-US" sz="950" b="1" dirty="0">
                <a:solidFill>
                  <a:srgbClr val="1B2A44"/>
                </a:solidFill>
                <a:latin typeface="Yu Gothic" pitchFamily="34" charset="0"/>
                <a:ea typeface="Yu Gothic" pitchFamily="34" charset="-122"/>
                <a:cs typeface="Yu Gothic" pitchFamily="34" charset="-120"/>
              </a:rPr>
              <a:t>建物なし</a:t>
            </a:r>
            <a:endParaRPr lang="en-US" sz="950" dirty="0"/>
          </a:p>
        </p:txBody>
      </p:sp>
      <p:sp>
        <p:nvSpPr>
          <p:cNvPr id="113" name="Shape 111"/>
          <p:cNvSpPr/>
          <p:nvPr/>
        </p:nvSpPr>
        <p:spPr>
          <a:xfrm>
            <a:off x="7818120" y="1874520"/>
            <a:ext cx="868680" cy="640080"/>
          </a:xfrm>
          <a:prstGeom prst="roundRect">
            <a:avLst>
              <a:gd name="adj" fmla="val 5714"/>
            </a:avLst>
          </a:prstGeom>
          <a:solidFill>
            <a:srgbClr val="F3F5F8"/>
          </a:solidFill>
          <a:ln/>
        </p:spPr>
      </p:sp>
      <p:sp>
        <p:nvSpPr>
          <p:cNvPr id="114" name="Shape 112"/>
          <p:cNvSpPr/>
          <p:nvPr/>
        </p:nvSpPr>
        <p:spPr>
          <a:xfrm>
            <a:off x="8126730" y="2240280"/>
            <a:ext cx="205740" cy="205740"/>
          </a:xfrm>
          <a:prstGeom prst="rect">
            <a:avLst/>
          </a:prstGeom>
          <a:solidFill>
            <a:srgbClr val="1B2A44"/>
          </a:solidFill>
          <a:ln/>
        </p:spPr>
      </p:sp>
      <p:sp>
        <p:nvSpPr>
          <p:cNvPr id="115" name="Text 113"/>
          <p:cNvSpPr txBox="1"/>
          <p:nvPr/>
        </p:nvSpPr>
        <p:spPr>
          <a:xfrm>
            <a:off x="8915400" y="2057400"/>
            <a:ext cx="274320" cy="274320"/>
          </a:xfrm>
          <a:prstGeom prst="rect">
            <a:avLst/>
          </a:prstGeom>
          <a:noFill/>
          <a:ln/>
        </p:spPr>
        <p:txBody>
          <a:bodyPr wrap="square" lIns="0" tIns="0" rIns="0" bIns="0" rtlCol="0" anchor="t"/>
          <a:lstStyle/>
          <a:p>
            <a:pPr algn="ctr" indent="0" marL="0">
              <a:buNone/>
            </a:pPr>
            <a:r>
              <a:rPr lang="en-US" sz="1200" b="1" dirty="0">
                <a:solidFill>
                  <a:srgbClr val="E8934D"/>
                </a:solidFill>
                <a:latin typeface="Yu Gothic" pitchFamily="34" charset="0"/>
                <a:ea typeface="Yu Gothic" pitchFamily="34" charset="-122"/>
                <a:cs typeface="Yu Gothic" pitchFamily="34" charset="-120"/>
              </a:rPr>
              <a:t>→</a:t>
            </a:r>
            <a:endParaRPr lang="en-US" sz="1200" dirty="0"/>
          </a:p>
        </p:txBody>
      </p:sp>
      <p:sp>
        <p:nvSpPr>
          <p:cNvPr id="116" name="Shape 114"/>
          <p:cNvSpPr/>
          <p:nvPr/>
        </p:nvSpPr>
        <p:spPr>
          <a:xfrm>
            <a:off x="9235440" y="2395728"/>
            <a:ext cx="105156" cy="82296"/>
          </a:xfrm>
          <a:prstGeom prst="rect">
            <a:avLst/>
          </a:prstGeom>
          <a:solidFill>
            <a:srgbClr val="FFFFFF"/>
          </a:solidFill>
          <a:ln w="6350">
            <a:solidFill>
              <a:srgbClr val="C9D0D8"/>
            </a:solidFill>
            <a:prstDash val="solid"/>
          </a:ln>
        </p:spPr>
      </p:sp>
      <p:sp>
        <p:nvSpPr>
          <p:cNvPr id="117" name="Shape 115"/>
          <p:cNvSpPr/>
          <p:nvPr/>
        </p:nvSpPr>
        <p:spPr>
          <a:xfrm>
            <a:off x="9235440" y="2295144"/>
            <a:ext cx="105156" cy="82296"/>
          </a:xfrm>
          <a:prstGeom prst="rect">
            <a:avLst/>
          </a:prstGeom>
          <a:solidFill>
            <a:srgbClr val="FFFFFF"/>
          </a:solidFill>
          <a:ln w="6350">
            <a:solidFill>
              <a:srgbClr val="C9D0D8"/>
            </a:solidFill>
            <a:prstDash val="solid"/>
          </a:ln>
        </p:spPr>
      </p:sp>
      <p:sp>
        <p:nvSpPr>
          <p:cNvPr id="118" name="Shape 116"/>
          <p:cNvSpPr/>
          <p:nvPr/>
        </p:nvSpPr>
        <p:spPr>
          <a:xfrm>
            <a:off x="9235440" y="2194560"/>
            <a:ext cx="105156" cy="82296"/>
          </a:xfrm>
          <a:prstGeom prst="rect">
            <a:avLst/>
          </a:prstGeom>
          <a:solidFill>
            <a:srgbClr val="FFFFFF"/>
          </a:solidFill>
          <a:ln w="6350">
            <a:solidFill>
              <a:srgbClr val="C9D0D8"/>
            </a:solidFill>
            <a:prstDash val="solid"/>
          </a:ln>
        </p:spPr>
      </p:sp>
      <p:sp>
        <p:nvSpPr>
          <p:cNvPr id="119" name="Shape 117"/>
          <p:cNvSpPr/>
          <p:nvPr/>
        </p:nvSpPr>
        <p:spPr>
          <a:xfrm>
            <a:off x="9235440" y="2093976"/>
            <a:ext cx="105156" cy="82296"/>
          </a:xfrm>
          <a:prstGeom prst="rect">
            <a:avLst/>
          </a:prstGeom>
          <a:solidFill>
            <a:srgbClr val="FFFFFF"/>
          </a:solidFill>
          <a:ln w="6350">
            <a:solidFill>
              <a:srgbClr val="C9D0D8"/>
            </a:solidFill>
            <a:prstDash val="solid"/>
          </a:ln>
        </p:spPr>
      </p:sp>
      <p:sp>
        <p:nvSpPr>
          <p:cNvPr id="120" name="Shape 118"/>
          <p:cNvSpPr/>
          <p:nvPr/>
        </p:nvSpPr>
        <p:spPr>
          <a:xfrm>
            <a:off x="9235440" y="1993392"/>
            <a:ext cx="105156" cy="82296"/>
          </a:xfrm>
          <a:prstGeom prst="rect">
            <a:avLst/>
          </a:prstGeom>
          <a:solidFill>
            <a:srgbClr val="FFFFFF"/>
          </a:solidFill>
          <a:ln w="6350">
            <a:solidFill>
              <a:srgbClr val="C9D0D8"/>
            </a:solidFill>
            <a:prstDash val="solid"/>
          </a:ln>
        </p:spPr>
      </p:sp>
      <p:sp>
        <p:nvSpPr>
          <p:cNvPr id="121" name="Shape 119"/>
          <p:cNvSpPr/>
          <p:nvPr/>
        </p:nvSpPr>
        <p:spPr>
          <a:xfrm>
            <a:off x="9235440" y="1892808"/>
            <a:ext cx="105156" cy="82296"/>
          </a:xfrm>
          <a:prstGeom prst="rect">
            <a:avLst/>
          </a:prstGeom>
          <a:solidFill>
            <a:srgbClr val="FFFFFF"/>
          </a:solidFill>
          <a:ln w="6350">
            <a:solidFill>
              <a:srgbClr val="C9D0D8"/>
            </a:solidFill>
            <a:prstDash val="solid"/>
          </a:ln>
        </p:spPr>
      </p:sp>
      <p:sp>
        <p:nvSpPr>
          <p:cNvPr id="122" name="Shape 120"/>
          <p:cNvSpPr/>
          <p:nvPr/>
        </p:nvSpPr>
        <p:spPr>
          <a:xfrm>
            <a:off x="9358884" y="2395728"/>
            <a:ext cx="105156" cy="82296"/>
          </a:xfrm>
          <a:prstGeom prst="rect">
            <a:avLst/>
          </a:prstGeom>
          <a:solidFill>
            <a:srgbClr val="FFFFFF"/>
          </a:solidFill>
          <a:ln w="6350">
            <a:solidFill>
              <a:srgbClr val="C9D0D8"/>
            </a:solidFill>
            <a:prstDash val="solid"/>
          </a:ln>
        </p:spPr>
      </p:sp>
      <p:sp>
        <p:nvSpPr>
          <p:cNvPr id="123" name="Shape 121"/>
          <p:cNvSpPr/>
          <p:nvPr/>
        </p:nvSpPr>
        <p:spPr>
          <a:xfrm>
            <a:off x="9358884" y="2295144"/>
            <a:ext cx="105156" cy="82296"/>
          </a:xfrm>
          <a:prstGeom prst="rect">
            <a:avLst/>
          </a:prstGeom>
          <a:solidFill>
            <a:srgbClr val="FFFFFF"/>
          </a:solidFill>
          <a:ln w="6350">
            <a:solidFill>
              <a:srgbClr val="C9D0D8"/>
            </a:solidFill>
            <a:prstDash val="solid"/>
          </a:ln>
        </p:spPr>
      </p:sp>
      <p:sp>
        <p:nvSpPr>
          <p:cNvPr id="124" name="Shape 122"/>
          <p:cNvSpPr/>
          <p:nvPr/>
        </p:nvSpPr>
        <p:spPr>
          <a:xfrm>
            <a:off x="9358884" y="2194560"/>
            <a:ext cx="105156" cy="82296"/>
          </a:xfrm>
          <a:prstGeom prst="rect">
            <a:avLst/>
          </a:prstGeom>
          <a:solidFill>
            <a:srgbClr val="FFFFFF"/>
          </a:solidFill>
          <a:ln w="6350">
            <a:solidFill>
              <a:srgbClr val="C9D0D8"/>
            </a:solidFill>
            <a:prstDash val="solid"/>
          </a:ln>
        </p:spPr>
      </p:sp>
      <p:sp>
        <p:nvSpPr>
          <p:cNvPr id="125" name="Shape 123"/>
          <p:cNvSpPr/>
          <p:nvPr/>
        </p:nvSpPr>
        <p:spPr>
          <a:xfrm>
            <a:off x="9358884" y="2093976"/>
            <a:ext cx="105156" cy="82296"/>
          </a:xfrm>
          <a:prstGeom prst="rect">
            <a:avLst/>
          </a:prstGeom>
          <a:solidFill>
            <a:srgbClr val="FFFFFF"/>
          </a:solidFill>
          <a:ln w="6350">
            <a:solidFill>
              <a:srgbClr val="C9D0D8"/>
            </a:solidFill>
            <a:prstDash val="solid"/>
          </a:ln>
        </p:spPr>
      </p:sp>
      <p:sp>
        <p:nvSpPr>
          <p:cNvPr id="126" name="Shape 124"/>
          <p:cNvSpPr/>
          <p:nvPr/>
        </p:nvSpPr>
        <p:spPr>
          <a:xfrm>
            <a:off x="9358884" y="1993392"/>
            <a:ext cx="105156" cy="82296"/>
          </a:xfrm>
          <a:prstGeom prst="rect">
            <a:avLst/>
          </a:prstGeom>
          <a:solidFill>
            <a:srgbClr val="FFFFFF"/>
          </a:solidFill>
          <a:ln w="6350">
            <a:solidFill>
              <a:srgbClr val="C9D0D8"/>
            </a:solidFill>
            <a:prstDash val="solid"/>
          </a:ln>
        </p:spPr>
      </p:sp>
      <p:sp>
        <p:nvSpPr>
          <p:cNvPr id="127" name="Shape 125"/>
          <p:cNvSpPr/>
          <p:nvPr/>
        </p:nvSpPr>
        <p:spPr>
          <a:xfrm>
            <a:off x="9358884" y="1892808"/>
            <a:ext cx="105156" cy="82296"/>
          </a:xfrm>
          <a:prstGeom prst="rect">
            <a:avLst/>
          </a:prstGeom>
          <a:solidFill>
            <a:srgbClr val="FFFFFF"/>
          </a:solidFill>
          <a:ln w="6350">
            <a:solidFill>
              <a:srgbClr val="C9D0D8"/>
            </a:solidFill>
            <a:prstDash val="solid"/>
          </a:ln>
        </p:spPr>
      </p:sp>
      <p:sp>
        <p:nvSpPr>
          <p:cNvPr id="128" name="Shape 126"/>
          <p:cNvSpPr/>
          <p:nvPr/>
        </p:nvSpPr>
        <p:spPr>
          <a:xfrm>
            <a:off x="9482328" y="2395728"/>
            <a:ext cx="105156" cy="82296"/>
          </a:xfrm>
          <a:prstGeom prst="rect">
            <a:avLst/>
          </a:prstGeom>
          <a:solidFill>
            <a:srgbClr val="FFFFFF"/>
          </a:solidFill>
          <a:ln w="6350">
            <a:solidFill>
              <a:srgbClr val="C9D0D8"/>
            </a:solidFill>
            <a:prstDash val="solid"/>
          </a:ln>
        </p:spPr>
      </p:sp>
      <p:sp>
        <p:nvSpPr>
          <p:cNvPr id="129" name="Shape 127"/>
          <p:cNvSpPr/>
          <p:nvPr/>
        </p:nvSpPr>
        <p:spPr>
          <a:xfrm>
            <a:off x="9482328" y="2295144"/>
            <a:ext cx="105156" cy="82296"/>
          </a:xfrm>
          <a:prstGeom prst="rect">
            <a:avLst/>
          </a:prstGeom>
          <a:solidFill>
            <a:srgbClr val="FFFFFF"/>
          </a:solidFill>
          <a:ln w="6350">
            <a:solidFill>
              <a:srgbClr val="C9D0D8"/>
            </a:solidFill>
            <a:prstDash val="solid"/>
          </a:ln>
        </p:spPr>
      </p:sp>
      <p:sp>
        <p:nvSpPr>
          <p:cNvPr id="130" name="Shape 128"/>
          <p:cNvSpPr/>
          <p:nvPr/>
        </p:nvSpPr>
        <p:spPr>
          <a:xfrm>
            <a:off x="9482328" y="2194560"/>
            <a:ext cx="105156" cy="82296"/>
          </a:xfrm>
          <a:prstGeom prst="rect">
            <a:avLst/>
          </a:prstGeom>
          <a:solidFill>
            <a:srgbClr val="FFFFFF"/>
          </a:solidFill>
          <a:ln w="6350">
            <a:solidFill>
              <a:srgbClr val="C9D0D8"/>
            </a:solidFill>
            <a:prstDash val="solid"/>
          </a:ln>
        </p:spPr>
      </p:sp>
      <p:sp>
        <p:nvSpPr>
          <p:cNvPr id="131" name="Shape 129"/>
          <p:cNvSpPr/>
          <p:nvPr/>
        </p:nvSpPr>
        <p:spPr>
          <a:xfrm>
            <a:off x="9482328" y="2093976"/>
            <a:ext cx="105156" cy="82296"/>
          </a:xfrm>
          <a:prstGeom prst="rect">
            <a:avLst/>
          </a:prstGeom>
          <a:solidFill>
            <a:srgbClr val="FFFFFF"/>
          </a:solidFill>
          <a:ln w="6350">
            <a:solidFill>
              <a:srgbClr val="C9D0D8"/>
            </a:solidFill>
            <a:prstDash val="solid"/>
          </a:ln>
        </p:spPr>
      </p:sp>
      <p:sp>
        <p:nvSpPr>
          <p:cNvPr id="132" name="Shape 130"/>
          <p:cNvSpPr/>
          <p:nvPr/>
        </p:nvSpPr>
        <p:spPr>
          <a:xfrm>
            <a:off x="9482328" y="1993392"/>
            <a:ext cx="105156" cy="82296"/>
          </a:xfrm>
          <a:prstGeom prst="rect">
            <a:avLst/>
          </a:prstGeom>
          <a:solidFill>
            <a:srgbClr val="FFFFFF"/>
          </a:solidFill>
          <a:ln w="6350">
            <a:solidFill>
              <a:srgbClr val="C9D0D8"/>
            </a:solidFill>
            <a:prstDash val="solid"/>
          </a:ln>
        </p:spPr>
      </p:sp>
      <p:sp>
        <p:nvSpPr>
          <p:cNvPr id="133" name="Shape 131"/>
          <p:cNvSpPr/>
          <p:nvPr/>
        </p:nvSpPr>
        <p:spPr>
          <a:xfrm>
            <a:off x="9482328" y="1892808"/>
            <a:ext cx="105156" cy="82296"/>
          </a:xfrm>
          <a:prstGeom prst="rect">
            <a:avLst/>
          </a:prstGeom>
          <a:solidFill>
            <a:srgbClr val="FFFFFF"/>
          </a:solidFill>
          <a:ln w="6350">
            <a:solidFill>
              <a:srgbClr val="C9D0D8"/>
            </a:solidFill>
            <a:prstDash val="solid"/>
          </a:ln>
        </p:spPr>
      </p:sp>
      <p:sp>
        <p:nvSpPr>
          <p:cNvPr id="134" name="Shape 132"/>
          <p:cNvSpPr/>
          <p:nvPr/>
        </p:nvSpPr>
        <p:spPr>
          <a:xfrm>
            <a:off x="9605772" y="2395728"/>
            <a:ext cx="105156" cy="82296"/>
          </a:xfrm>
          <a:prstGeom prst="rect">
            <a:avLst/>
          </a:prstGeom>
          <a:solidFill>
            <a:srgbClr val="FFFFFF"/>
          </a:solidFill>
          <a:ln w="6350">
            <a:solidFill>
              <a:srgbClr val="C9D0D8"/>
            </a:solidFill>
            <a:prstDash val="solid"/>
          </a:ln>
        </p:spPr>
      </p:sp>
      <p:sp>
        <p:nvSpPr>
          <p:cNvPr id="135" name="Shape 133"/>
          <p:cNvSpPr/>
          <p:nvPr/>
        </p:nvSpPr>
        <p:spPr>
          <a:xfrm>
            <a:off x="9605772" y="2295144"/>
            <a:ext cx="105156" cy="82296"/>
          </a:xfrm>
          <a:prstGeom prst="rect">
            <a:avLst/>
          </a:prstGeom>
          <a:solidFill>
            <a:srgbClr val="FFFFFF"/>
          </a:solidFill>
          <a:ln w="6350">
            <a:solidFill>
              <a:srgbClr val="C9D0D8"/>
            </a:solidFill>
            <a:prstDash val="solid"/>
          </a:ln>
        </p:spPr>
      </p:sp>
      <p:sp>
        <p:nvSpPr>
          <p:cNvPr id="136" name="Shape 134"/>
          <p:cNvSpPr/>
          <p:nvPr/>
        </p:nvSpPr>
        <p:spPr>
          <a:xfrm>
            <a:off x="9605772" y="2194560"/>
            <a:ext cx="105156" cy="82296"/>
          </a:xfrm>
          <a:prstGeom prst="rect">
            <a:avLst/>
          </a:prstGeom>
          <a:solidFill>
            <a:srgbClr val="FFFFFF"/>
          </a:solidFill>
          <a:ln w="6350">
            <a:solidFill>
              <a:srgbClr val="C9D0D8"/>
            </a:solidFill>
            <a:prstDash val="solid"/>
          </a:ln>
        </p:spPr>
      </p:sp>
      <p:sp>
        <p:nvSpPr>
          <p:cNvPr id="137" name="Shape 135"/>
          <p:cNvSpPr/>
          <p:nvPr/>
        </p:nvSpPr>
        <p:spPr>
          <a:xfrm>
            <a:off x="9605772" y="2093976"/>
            <a:ext cx="105156" cy="82296"/>
          </a:xfrm>
          <a:prstGeom prst="rect">
            <a:avLst/>
          </a:prstGeom>
          <a:solidFill>
            <a:srgbClr val="FFFFFF"/>
          </a:solidFill>
          <a:ln w="6350">
            <a:solidFill>
              <a:srgbClr val="C9D0D8"/>
            </a:solidFill>
            <a:prstDash val="solid"/>
          </a:ln>
        </p:spPr>
      </p:sp>
      <p:sp>
        <p:nvSpPr>
          <p:cNvPr id="138" name="Shape 136"/>
          <p:cNvSpPr/>
          <p:nvPr/>
        </p:nvSpPr>
        <p:spPr>
          <a:xfrm>
            <a:off x="9605772" y="1993392"/>
            <a:ext cx="105156" cy="82296"/>
          </a:xfrm>
          <a:prstGeom prst="rect">
            <a:avLst/>
          </a:prstGeom>
          <a:solidFill>
            <a:srgbClr val="FFFFFF"/>
          </a:solidFill>
          <a:ln w="6350">
            <a:solidFill>
              <a:srgbClr val="C9D0D8"/>
            </a:solidFill>
            <a:prstDash val="solid"/>
          </a:ln>
        </p:spPr>
      </p:sp>
      <p:sp>
        <p:nvSpPr>
          <p:cNvPr id="139" name="Shape 137"/>
          <p:cNvSpPr/>
          <p:nvPr/>
        </p:nvSpPr>
        <p:spPr>
          <a:xfrm>
            <a:off x="9605772" y="1892808"/>
            <a:ext cx="105156" cy="82296"/>
          </a:xfrm>
          <a:prstGeom prst="rect">
            <a:avLst/>
          </a:prstGeom>
          <a:solidFill>
            <a:srgbClr val="FFFFFF"/>
          </a:solidFill>
          <a:ln w="6350">
            <a:solidFill>
              <a:srgbClr val="C9D0D8"/>
            </a:solidFill>
            <a:prstDash val="solid"/>
          </a:ln>
        </p:spPr>
      </p:sp>
      <p:sp>
        <p:nvSpPr>
          <p:cNvPr id="140" name="Shape 138"/>
          <p:cNvSpPr/>
          <p:nvPr/>
        </p:nvSpPr>
        <p:spPr>
          <a:xfrm>
            <a:off x="9729216" y="2395728"/>
            <a:ext cx="105156" cy="82296"/>
          </a:xfrm>
          <a:prstGeom prst="rect">
            <a:avLst/>
          </a:prstGeom>
          <a:solidFill>
            <a:srgbClr val="FFFFFF"/>
          </a:solidFill>
          <a:ln w="6350">
            <a:solidFill>
              <a:srgbClr val="C9D0D8"/>
            </a:solidFill>
            <a:prstDash val="solid"/>
          </a:ln>
        </p:spPr>
      </p:sp>
      <p:sp>
        <p:nvSpPr>
          <p:cNvPr id="141" name="Shape 139"/>
          <p:cNvSpPr/>
          <p:nvPr/>
        </p:nvSpPr>
        <p:spPr>
          <a:xfrm>
            <a:off x="9729216" y="2295144"/>
            <a:ext cx="105156" cy="82296"/>
          </a:xfrm>
          <a:prstGeom prst="rect">
            <a:avLst/>
          </a:prstGeom>
          <a:solidFill>
            <a:srgbClr val="FFFFFF"/>
          </a:solidFill>
          <a:ln w="6350">
            <a:solidFill>
              <a:srgbClr val="C9D0D8"/>
            </a:solidFill>
            <a:prstDash val="solid"/>
          </a:ln>
        </p:spPr>
      </p:sp>
      <p:sp>
        <p:nvSpPr>
          <p:cNvPr id="142" name="Shape 140"/>
          <p:cNvSpPr/>
          <p:nvPr/>
        </p:nvSpPr>
        <p:spPr>
          <a:xfrm>
            <a:off x="9729216" y="2194560"/>
            <a:ext cx="105156" cy="82296"/>
          </a:xfrm>
          <a:prstGeom prst="rect">
            <a:avLst/>
          </a:prstGeom>
          <a:solidFill>
            <a:srgbClr val="FFFFFF"/>
          </a:solidFill>
          <a:ln w="6350">
            <a:solidFill>
              <a:srgbClr val="C9D0D8"/>
            </a:solidFill>
            <a:prstDash val="solid"/>
          </a:ln>
        </p:spPr>
      </p:sp>
      <p:sp>
        <p:nvSpPr>
          <p:cNvPr id="143" name="Shape 141"/>
          <p:cNvSpPr/>
          <p:nvPr/>
        </p:nvSpPr>
        <p:spPr>
          <a:xfrm>
            <a:off x="9729216" y="2093976"/>
            <a:ext cx="105156" cy="82296"/>
          </a:xfrm>
          <a:prstGeom prst="rect">
            <a:avLst/>
          </a:prstGeom>
          <a:solidFill>
            <a:srgbClr val="FFFFFF"/>
          </a:solidFill>
          <a:ln w="6350">
            <a:solidFill>
              <a:srgbClr val="C9D0D8"/>
            </a:solidFill>
            <a:prstDash val="solid"/>
          </a:ln>
        </p:spPr>
      </p:sp>
      <p:sp>
        <p:nvSpPr>
          <p:cNvPr id="144" name="Shape 142"/>
          <p:cNvSpPr/>
          <p:nvPr/>
        </p:nvSpPr>
        <p:spPr>
          <a:xfrm>
            <a:off x="9729216" y="1993392"/>
            <a:ext cx="105156" cy="82296"/>
          </a:xfrm>
          <a:prstGeom prst="rect">
            <a:avLst/>
          </a:prstGeom>
          <a:solidFill>
            <a:srgbClr val="FFFFFF"/>
          </a:solidFill>
          <a:ln w="6350">
            <a:solidFill>
              <a:srgbClr val="C9D0D8"/>
            </a:solidFill>
            <a:prstDash val="solid"/>
          </a:ln>
        </p:spPr>
      </p:sp>
      <p:sp>
        <p:nvSpPr>
          <p:cNvPr id="145" name="Shape 143"/>
          <p:cNvSpPr/>
          <p:nvPr/>
        </p:nvSpPr>
        <p:spPr>
          <a:xfrm>
            <a:off x="9729216" y="1892808"/>
            <a:ext cx="105156" cy="82296"/>
          </a:xfrm>
          <a:prstGeom prst="rect">
            <a:avLst/>
          </a:prstGeom>
          <a:solidFill>
            <a:srgbClr val="FFFFFF"/>
          </a:solidFill>
          <a:ln w="6350">
            <a:solidFill>
              <a:srgbClr val="C9D0D8"/>
            </a:solidFill>
            <a:prstDash val="solid"/>
          </a:ln>
        </p:spPr>
      </p:sp>
      <p:sp>
        <p:nvSpPr>
          <p:cNvPr id="146" name="Shape 144"/>
          <p:cNvSpPr/>
          <p:nvPr/>
        </p:nvSpPr>
        <p:spPr>
          <a:xfrm>
            <a:off x="9852660" y="2395728"/>
            <a:ext cx="105156" cy="82296"/>
          </a:xfrm>
          <a:prstGeom prst="rect">
            <a:avLst/>
          </a:prstGeom>
          <a:solidFill>
            <a:srgbClr val="FFFFFF"/>
          </a:solidFill>
          <a:ln w="6350">
            <a:solidFill>
              <a:srgbClr val="C9D0D8"/>
            </a:solidFill>
            <a:prstDash val="solid"/>
          </a:ln>
        </p:spPr>
      </p:sp>
      <p:sp>
        <p:nvSpPr>
          <p:cNvPr id="147" name="Shape 145"/>
          <p:cNvSpPr/>
          <p:nvPr/>
        </p:nvSpPr>
        <p:spPr>
          <a:xfrm>
            <a:off x="9852660" y="2295144"/>
            <a:ext cx="105156" cy="82296"/>
          </a:xfrm>
          <a:prstGeom prst="rect">
            <a:avLst/>
          </a:prstGeom>
          <a:solidFill>
            <a:srgbClr val="FFFFFF"/>
          </a:solidFill>
          <a:ln w="6350">
            <a:solidFill>
              <a:srgbClr val="C9D0D8"/>
            </a:solidFill>
            <a:prstDash val="solid"/>
          </a:ln>
        </p:spPr>
      </p:sp>
      <p:sp>
        <p:nvSpPr>
          <p:cNvPr id="148" name="Shape 146"/>
          <p:cNvSpPr/>
          <p:nvPr/>
        </p:nvSpPr>
        <p:spPr>
          <a:xfrm>
            <a:off x="9852660" y="2194560"/>
            <a:ext cx="105156" cy="82296"/>
          </a:xfrm>
          <a:prstGeom prst="rect">
            <a:avLst/>
          </a:prstGeom>
          <a:solidFill>
            <a:srgbClr val="FFFFFF"/>
          </a:solidFill>
          <a:ln w="6350">
            <a:solidFill>
              <a:srgbClr val="C9D0D8"/>
            </a:solidFill>
            <a:prstDash val="solid"/>
          </a:ln>
        </p:spPr>
      </p:sp>
      <p:sp>
        <p:nvSpPr>
          <p:cNvPr id="149" name="Shape 147"/>
          <p:cNvSpPr/>
          <p:nvPr/>
        </p:nvSpPr>
        <p:spPr>
          <a:xfrm>
            <a:off x="9852660" y="2093976"/>
            <a:ext cx="105156" cy="82296"/>
          </a:xfrm>
          <a:prstGeom prst="rect">
            <a:avLst/>
          </a:prstGeom>
          <a:solidFill>
            <a:srgbClr val="FFFFFF"/>
          </a:solidFill>
          <a:ln w="6350">
            <a:solidFill>
              <a:srgbClr val="C9D0D8"/>
            </a:solidFill>
            <a:prstDash val="solid"/>
          </a:ln>
        </p:spPr>
      </p:sp>
      <p:sp>
        <p:nvSpPr>
          <p:cNvPr id="150" name="Shape 148"/>
          <p:cNvSpPr/>
          <p:nvPr/>
        </p:nvSpPr>
        <p:spPr>
          <a:xfrm>
            <a:off x="9852660" y="1993392"/>
            <a:ext cx="105156" cy="82296"/>
          </a:xfrm>
          <a:prstGeom prst="rect">
            <a:avLst/>
          </a:prstGeom>
          <a:solidFill>
            <a:srgbClr val="FFFFFF"/>
          </a:solidFill>
          <a:ln w="6350">
            <a:solidFill>
              <a:srgbClr val="C9D0D8"/>
            </a:solidFill>
            <a:prstDash val="solid"/>
          </a:ln>
        </p:spPr>
      </p:sp>
      <p:sp>
        <p:nvSpPr>
          <p:cNvPr id="151" name="Shape 149"/>
          <p:cNvSpPr/>
          <p:nvPr/>
        </p:nvSpPr>
        <p:spPr>
          <a:xfrm>
            <a:off x="9852660" y="1892808"/>
            <a:ext cx="105156" cy="82296"/>
          </a:xfrm>
          <a:prstGeom prst="rect">
            <a:avLst/>
          </a:prstGeom>
          <a:solidFill>
            <a:srgbClr val="FFFFFF"/>
          </a:solidFill>
          <a:ln w="6350">
            <a:solidFill>
              <a:srgbClr val="C9D0D8"/>
            </a:solidFill>
            <a:prstDash val="solid"/>
          </a:ln>
        </p:spPr>
      </p:sp>
      <p:sp>
        <p:nvSpPr>
          <p:cNvPr id="152" name="Shape 150"/>
          <p:cNvSpPr/>
          <p:nvPr/>
        </p:nvSpPr>
        <p:spPr>
          <a:xfrm>
            <a:off x="9976104" y="2395728"/>
            <a:ext cx="105156" cy="82296"/>
          </a:xfrm>
          <a:prstGeom prst="rect">
            <a:avLst/>
          </a:prstGeom>
          <a:solidFill>
            <a:srgbClr val="FFFFFF"/>
          </a:solidFill>
          <a:ln w="6350">
            <a:solidFill>
              <a:srgbClr val="C9D0D8"/>
            </a:solidFill>
            <a:prstDash val="solid"/>
          </a:ln>
        </p:spPr>
      </p:sp>
      <p:sp>
        <p:nvSpPr>
          <p:cNvPr id="153" name="Shape 151"/>
          <p:cNvSpPr/>
          <p:nvPr/>
        </p:nvSpPr>
        <p:spPr>
          <a:xfrm>
            <a:off x="9976104" y="2295144"/>
            <a:ext cx="105156" cy="82296"/>
          </a:xfrm>
          <a:prstGeom prst="rect">
            <a:avLst/>
          </a:prstGeom>
          <a:solidFill>
            <a:srgbClr val="FFFFFF"/>
          </a:solidFill>
          <a:ln w="6350">
            <a:solidFill>
              <a:srgbClr val="C9D0D8"/>
            </a:solidFill>
            <a:prstDash val="solid"/>
          </a:ln>
        </p:spPr>
      </p:sp>
      <p:sp>
        <p:nvSpPr>
          <p:cNvPr id="154" name="Shape 152"/>
          <p:cNvSpPr/>
          <p:nvPr/>
        </p:nvSpPr>
        <p:spPr>
          <a:xfrm>
            <a:off x="9976104" y="2194560"/>
            <a:ext cx="105156" cy="82296"/>
          </a:xfrm>
          <a:prstGeom prst="rect">
            <a:avLst/>
          </a:prstGeom>
          <a:solidFill>
            <a:srgbClr val="FFFFFF"/>
          </a:solidFill>
          <a:ln w="6350">
            <a:solidFill>
              <a:srgbClr val="C9D0D8"/>
            </a:solidFill>
            <a:prstDash val="solid"/>
          </a:ln>
        </p:spPr>
      </p:sp>
      <p:sp>
        <p:nvSpPr>
          <p:cNvPr id="155" name="Shape 153"/>
          <p:cNvSpPr/>
          <p:nvPr/>
        </p:nvSpPr>
        <p:spPr>
          <a:xfrm>
            <a:off x="9976104" y="2093976"/>
            <a:ext cx="105156" cy="82296"/>
          </a:xfrm>
          <a:prstGeom prst="rect">
            <a:avLst/>
          </a:prstGeom>
          <a:solidFill>
            <a:srgbClr val="FFFFFF"/>
          </a:solidFill>
          <a:ln w="6350">
            <a:solidFill>
              <a:srgbClr val="C9D0D8"/>
            </a:solidFill>
            <a:prstDash val="solid"/>
          </a:ln>
        </p:spPr>
      </p:sp>
      <p:sp>
        <p:nvSpPr>
          <p:cNvPr id="156" name="Shape 154"/>
          <p:cNvSpPr/>
          <p:nvPr/>
        </p:nvSpPr>
        <p:spPr>
          <a:xfrm>
            <a:off x="9976104" y="1993392"/>
            <a:ext cx="105156" cy="82296"/>
          </a:xfrm>
          <a:prstGeom prst="rect">
            <a:avLst/>
          </a:prstGeom>
          <a:solidFill>
            <a:srgbClr val="FFFFFF"/>
          </a:solidFill>
          <a:ln w="6350">
            <a:solidFill>
              <a:srgbClr val="C9D0D8"/>
            </a:solidFill>
            <a:prstDash val="solid"/>
          </a:ln>
        </p:spPr>
      </p:sp>
      <p:sp>
        <p:nvSpPr>
          <p:cNvPr id="157" name="Shape 155"/>
          <p:cNvSpPr/>
          <p:nvPr/>
        </p:nvSpPr>
        <p:spPr>
          <a:xfrm>
            <a:off x="9976104" y="1892808"/>
            <a:ext cx="105156" cy="82296"/>
          </a:xfrm>
          <a:prstGeom prst="rect">
            <a:avLst/>
          </a:prstGeom>
          <a:solidFill>
            <a:srgbClr val="FFFFFF"/>
          </a:solidFill>
          <a:ln w="6350">
            <a:solidFill>
              <a:srgbClr val="C9D0D8"/>
            </a:solidFill>
            <a:prstDash val="solid"/>
          </a:ln>
        </p:spPr>
      </p:sp>
      <p:sp>
        <p:nvSpPr>
          <p:cNvPr id="158" name="Shape 156"/>
          <p:cNvSpPr/>
          <p:nvPr/>
        </p:nvSpPr>
        <p:spPr>
          <a:xfrm>
            <a:off x="10099548" y="2395728"/>
            <a:ext cx="105156" cy="82296"/>
          </a:xfrm>
          <a:prstGeom prst="rect">
            <a:avLst/>
          </a:prstGeom>
          <a:solidFill>
            <a:srgbClr val="FFFFFF"/>
          </a:solidFill>
          <a:ln w="6350">
            <a:solidFill>
              <a:srgbClr val="C9D0D8"/>
            </a:solidFill>
            <a:prstDash val="solid"/>
          </a:ln>
        </p:spPr>
      </p:sp>
      <p:sp>
        <p:nvSpPr>
          <p:cNvPr id="159" name="Shape 157"/>
          <p:cNvSpPr/>
          <p:nvPr/>
        </p:nvSpPr>
        <p:spPr>
          <a:xfrm>
            <a:off x="10099548" y="2295144"/>
            <a:ext cx="105156" cy="82296"/>
          </a:xfrm>
          <a:prstGeom prst="rect">
            <a:avLst/>
          </a:prstGeom>
          <a:solidFill>
            <a:srgbClr val="FFFFFF"/>
          </a:solidFill>
          <a:ln w="6350">
            <a:solidFill>
              <a:srgbClr val="C9D0D8"/>
            </a:solidFill>
            <a:prstDash val="solid"/>
          </a:ln>
        </p:spPr>
      </p:sp>
      <p:sp>
        <p:nvSpPr>
          <p:cNvPr id="160" name="Shape 158"/>
          <p:cNvSpPr/>
          <p:nvPr/>
        </p:nvSpPr>
        <p:spPr>
          <a:xfrm>
            <a:off x="10099548" y="2194560"/>
            <a:ext cx="105156" cy="82296"/>
          </a:xfrm>
          <a:prstGeom prst="rect">
            <a:avLst/>
          </a:prstGeom>
          <a:solidFill>
            <a:srgbClr val="FFFFFF"/>
          </a:solidFill>
          <a:ln w="6350">
            <a:solidFill>
              <a:srgbClr val="C9D0D8"/>
            </a:solidFill>
            <a:prstDash val="solid"/>
          </a:ln>
        </p:spPr>
      </p:sp>
      <p:sp>
        <p:nvSpPr>
          <p:cNvPr id="161" name="Shape 159"/>
          <p:cNvSpPr/>
          <p:nvPr/>
        </p:nvSpPr>
        <p:spPr>
          <a:xfrm>
            <a:off x="10099548" y="2093976"/>
            <a:ext cx="105156" cy="82296"/>
          </a:xfrm>
          <a:prstGeom prst="rect">
            <a:avLst/>
          </a:prstGeom>
          <a:solidFill>
            <a:srgbClr val="FFFFFF"/>
          </a:solidFill>
          <a:ln w="6350">
            <a:solidFill>
              <a:srgbClr val="C9D0D8"/>
            </a:solidFill>
            <a:prstDash val="solid"/>
          </a:ln>
        </p:spPr>
      </p:sp>
      <p:sp>
        <p:nvSpPr>
          <p:cNvPr id="162" name="Shape 160"/>
          <p:cNvSpPr/>
          <p:nvPr/>
        </p:nvSpPr>
        <p:spPr>
          <a:xfrm>
            <a:off x="10099548" y="1993392"/>
            <a:ext cx="105156" cy="82296"/>
          </a:xfrm>
          <a:prstGeom prst="rect">
            <a:avLst/>
          </a:prstGeom>
          <a:solidFill>
            <a:srgbClr val="FFFFFF"/>
          </a:solidFill>
          <a:ln w="6350">
            <a:solidFill>
              <a:srgbClr val="C9D0D8"/>
            </a:solidFill>
            <a:prstDash val="solid"/>
          </a:ln>
        </p:spPr>
      </p:sp>
      <p:sp>
        <p:nvSpPr>
          <p:cNvPr id="163" name="Shape 161"/>
          <p:cNvSpPr/>
          <p:nvPr/>
        </p:nvSpPr>
        <p:spPr>
          <a:xfrm>
            <a:off x="10099548" y="1892808"/>
            <a:ext cx="105156" cy="82296"/>
          </a:xfrm>
          <a:prstGeom prst="rect">
            <a:avLst/>
          </a:prstGeom>
          <a:solidFill>
            <a:srgbClr val="FFFFFF"/>
          </a:solidFill>
          <a:ln w="6350">
            <a:solidFill>
              <a:srgbClr val="C9D0D8"/>
            </a:solidFill>
            <a:prstDash val="solid"/>
          </a:ln>
        </p:spPr>
      </p:sp>
      <p:sp>
        <p:nvSpPr>
          <p:cNvPr id="164" name="Shape 162"/>
          <p:cNvSpPr/>
          <p:nvPr/>
        </p:nvSpPr>
        <p:spPr>
          <a:xfrm>
            <a:off x="10222992" y="2395728"/>
            <a:ext cx="105156" cy="82296"/>
          </a:xfrm>
          <a:prstGeom prst="rect">
            <a:avLst/>
          </a:prstGeom>
          <a:solidFill>
            <a:srgbClr val="FFFFFF"/>
          </a:solidFill>
          <a:ln w="6350">
            <a:solidFill>
              <a:srgbClr val="C9D0D8"/>
            </a:solidFill>
            <a:prstDash val="solid"/>
          </a:ln>
        </p:spPr>
      </p:sp>
      <p:sp>
        <p:nvSpPr>
          <p:cNvPr id="165" name="Shape 163"/>
          <p:cNvSpPr/>
          <p:nvPr/>
        </p:nvSpPr>
        <p:spPr>
          <a:xfrm>
            <a:off x="10222992" y="2295144"/>
            <a:ext cx="105156" cy="82296"/>
          </a:xfrm>
          <a:prstGeom prst="rect">
            <a:avLst/>
          </a:prstGeom>
          <a:solidFill>
            <a:srgbClr val="FFFFFF"/>
          </a:solidFill>
          <a:ln w="6350">
            <a:solidFill>
              <a:srgbClr val="C9D0D8"/>
            </a:solidFill>
            <a:prstDash val="solid"/>
          </a:ln>
        </p:spPr>
      </p:sp>
      <p:sp>
        <p:nvSpPr>
          <p:cNvPr id="166" name="Shape 164"/>
          <p:cNvSpPr/>
          <p:nvPr/>
        </p:nvSpPr>
        <p:spPr>
          <a:xfrm>
            <a:off x="10222992" y="2194560"/>
            <a:ext cx="105156" cy="82296"/>
          </a:xfrm>
          <a:prstGeom prst="rect">
            <a:avLst/>
          </a:prstGeom>
          <a:solidFill>
            <a:srgbClr val="FFFFFF"/>
          </a:solidFill>
          <a:ln w="6350">
            <a:solidFill>
              <a:srgbClr val="C9D0D8"/>
            </a:solidFill>
            <a:prstDash val="solid"/>
          </a:ln>
        </p:spPr>
      </p:sp>
      <p:sp>
        <p:nvSpPr>
          <p:cNvPr id="167" name="Shape 165"/>
          <p:cNvSpPr/>
          <p:nvPr/>
        </p:nvSpPr>
        <p:spPr>
          <a:xfrm>
            <a:off x="10222992" y="2093976"/>
            <a:ext cx="105156" cy="82296"/>
          </a:xfrm>
          <a:prstGeom prst="rect">
            <a:avLst/>
          </a:prstGeom>
          <a:solidFill>
            <a:srgbClr val="FFFFFF"/>
          </a:solidFill>
          <a:ln w="6350">
            <a:solidFill>
              <a:srgbClr val="C9D0D8"/>
            </a:solidFill>
            <a:prstDash val="solid"/>
          </a:ln>
        </p:spPr>
      </p:sp>
      <p:sp>
        <p:nvSpPr>
          <p:cNvPr id="168" name="Shape 166"/>
          <p:cNvSpPr/>
          <p:nvPr/>
        </p:nvSpPr>
        <p:spPr>
          <a:xfrm>
            <a:off x="10222992" y="1993392"/>
            <a:ext cx="105156" cy="82296"/>
          </a:xfrm>
          <a:prstGeom prst="rect">
            <a:avLst/>
          </a:prstGeom>
          <a:solidFill>
            <a:srgbClr val="FFFFFF"/>
          </a:solidFill>
          <a:ln w="6350">
            <a:solidFill>
              <a:srgbClr val="C9D0D8"/>
            </a:solidFill>
            <a:prstDash val="solid"/>
          </a:ln>
        </p:spPr>
      </p:sp>
      <p:sp>
        <p:nvSpPr>
          <p:cNvPr id="169" name="Shape 167"/>
          <p:cNvSpPr/>
          <p:nvPr/>
        </p:nvSpPr>
        <p:spPr>
          <a:xfrm>
            <a:off x="10222992" y="1892808"/>
            <a:ext cx="105156" cy="82296"/>
          </a:xfrm>
          <a:prstGeom prst="rect">
            <a:avLst/>
          </a:prstGeom>
          <a:solidFill>
            <a:srgbClr val="FFFFFF"/>
          </a:solidFill>
          <a:ln w="6350">
            <a:solidFill>
              <a:srgbClr val="C9D0D8"/>
            </a:solidFill>
            <a:prstDash val="solid"/>
          </a:ln>
        </p:spPr>
      </p:sp>
      <p:sp>
        <p:nvSpPr>
          <p:cNvPr id="170" name="Shape 168"/>
          <p:cNvSpPr/>
          <p:nvPr/>
        </p:nvSpPr>
        <p:spPr>
          <a:xfrm>
            <a:off x="10346436" y="2395728"/>
            <a:ext cx="105156" cy="82296"/>
          </a:xfrm>
          <a:prstGeom prst="rect">
            <a:avLst/>
          </a:prstGeom>
          <a:solidFill>
            <a:srgbClr val="FFFFFF"/>
          </a:solidFill>
          <a:ln w="6350">
            <a:solidFill>
              <a:srgbClr val="C9D0D8"/>
            </a:solidFill>
            <a:prstDash val="solid"/>
          </a:ln>
        </p:spPr>
      </p:sp>
      <p:sp>
        <p:nvSpPr>
          <p:cNvPr id="171" name="Shape 169"/>
          <p:cNvSpPr/>
          <p:nvPr/>
        </p:nvSpPr>
        <p:spPr>
          <a:xfrm>
            <a:off x="10346436" y="2295144"/>
            <a:ext cx="105156" cy="82296"/>
          </a:xfrm>
          <a:prstGeom prst="rect">
            <a:avLst/>
          </a:prstGeom>
          <a:solidFill>
            <a:srgbClr val="FFFFFF"/>
          </a:solidFill>
          <a:ln w="6350">
            <a:solidFill>
              <a:srgbClr val="C9D0D8"/>
            </a:solidFill>
            <a:prstDash val="solid"/>
          </a:ln>
        </p:spPr>
      </p:sp>
      <p:sp>
        <p:nvSpPr>
          <p:cNvPr id="172" name="Shape 170"/>
          <p:cNvSpPr/>
          <p:nvPr/>
        </p:nvSpPr>
        <p:spPr>
          <a:xfrm>
            <a:off x="10346436" y="2194560"/>
            <a:ext cx="105156" cy="82296"/>
          </a:xfrm>
          <a:prstGeom prst="rect">
            <a:avLst/>
          </a:prstGeom>
          <a:solidFill>
            <a:srgbClr val="FFFFFF"/>
          </a:solidFill>
          <a:ln w="6350">
            <a:solidFill>
              <a:srgbClr val="C9D0D8"/>
            </a:solidFill>
            <a:prstDash val="solid"/>
          </a:ln>
        </p:spPr>
      </p:sp>
      <p:sp>
        <p:nvSpPr>
          <p:cNvPr id="173" name="Shape 171"/>
          <p:cNvSpPr/>
          <p:nvPr/>
        </p:nvSpPr>
        <p:spPr>
          <a:xfrm>
            <a:off x="10346436" y="2093976"/>
            <a:ext cx="105156" cy="82296"/>
          </a:xfrm>
          <a:prstGeom prst="rect">
            <a:avLst/>
          </a:prstGeom>
          <a:solidFill>
            <a:srgbClr val="FFFFFF"/>
          </a:solidFill>
          <a:ln w="6350">
            <a:solidFill>
              <a:srgbClr val="C9D0D8"/>
            </a:solidFill>
            <a:prstDash val="solid"/>
          </a:ln>
        </p:spPr>
      </p:sp>
      <p:sp>
        <p:nvSpPr>
          <p:cNvPr id="174" name="Shape 172"/>
          <p:cNvSpPr/>
          <p:nvPr/>
        </p:nvSpPr>
        <p:spPr>
          <a:xfrm>
            <a:off x="10346436" y="1993392"/>
            <a:ext cx="105156" cy="82296"/>
          </a:xfrm>
          <a:prstGeom prst="rect">
            <a:avLst/>
          </a:prstGeom>
          <a:solidFill>
            <a:srgbClr val="FFFFFF"/>
          </a:solidFill>
          <a:ln w="6350">
            <a:solidFill>
              <a:srgbClr val="C9D0D8"/>
            </a:solidFill>
            <a:prstDash val="solid"/>
          </a:ln>
        </p:spPr>
      </p:sp>
      <p:sp>
        <p:nvSpPr>
          <p:cNvPr id="175" name="Shape 173"/>
          <p:cNvSpPr/>
          <p:nvPr/>
        </p:nvSpPr>
        <p:spPr>
          <a:xfrm>
            <a:off x="10346436" y="1892808"/>
            <a:ext cx="105156" cy="82296"/>
          </a:xfrm>
          <a:prstGeom prst="rect">
            <a:avLst/>
          </a:prstGeom>
          <a:solidFill>
            <a:srgbClr val="FFFFFF"/>
          </a:solidFill>
          <a:ln w="6350">
            <a:solidFill>
              <a:srgbClr val="C9D0D8"/>
            </a:solidFill>
            <a:prstDash val="solid"/>
          </a:ln>
        </p:spPr>
      </p:sp>
      <p:sp>
        <p:nvSpPr>
          <p:cNvPr id="176" name="Shape 174"/>
          <p:cNvSpPr/>
          <p:nvPr/>
        </p:nvSpPr>
        <p:spPr>
          <a:xfrm>
            <a:off x="10469880" y="2395728"/>
            <a:ext cx="105156" cy="82296"/>
          </a:xfrm>
          <a:prstGeom prst="rect">
            <a:avLst/>
          </a:prstGeom>
          <a:solidFill>
            <a:srgbClr val="FFFFFF"/>
          </a:solidFill>
          <a:ln w="6350">
            <a:solidFill>
              <a:srgbClr val="C9D0D8"/>
            </a:solidFill>
            <a:prstDash val="solid"/>
          </a:ln>
        </p:spPr>
      </p:sp>
      <p:sp>
        <p:nvSpPr>
          <p:cNvPr id="177" name="Shape 175"/>
          <p:cNvSpPr/>
          <p:nvPr/>
        </p:nvSpPr>
        <p:spPr>
          <a:xfrm>
            <a:off x="10469880" y="2295144"/>
            <a:ext cx="105156" cy="82296"/>
          </a:xfrm>
          <a:prstGeom prst="rect">
            <a:avLst/>
          </a:prstGeom>
          <a:solidFill>
            <a:srgbClr val="FFFFFF"/>
          </a:solidFill>
          <a:ln w="6350">
            <a:solidFill>
              <a:srgbClr val="C9D0D8"/>
            </a:solidFill>
            <a:prstDash val="solid"/>
          </a:ln>
        </p:spPr>
      </p:sp>
      <p:sp>
        <p:nvSpPr>
          <p:cNvPr id="178" name="Shape 176"/>
          <p:cNvSpPr/>
          <p:nvPr/>
        </p:nvSpPr>
        <p:spPr>
          <a:xfrm>
            <a:off x="10469880" y="2194560"/>
            <a:ext cx="105156" cy="82296"/>
          </a:xfrm>
          <a:prstGeom prst="rect">
            <a:avLst/>
          </a:prstGeom>
          <a:solidFill>
            <a:srgbClr val="FFFFFF"/>
          </a:solidFill>
          <a:ln w="6350">
            <a:solidFill>
              <a:srgbClr val="C9D0D8"/>
            </a:solidFill>
            <a:prstDash val="solid"/>
          </a:ln>
        </p:spPr>
      </p:sp>
      <p:sp>
        <p:nvSpPr>
          <p:cNvPr id="179" name="Shape 177"/>
          <p:cNvSpPr/>
          <p:nvPr/>
        </p:nvSpPr>
        <p:spPr>
          <a:xfrm>
            <a:off x="10469880" y="2093976"/>
            <a:ext cx="105156" cy="82296"/>
          </a:xfrm>
          <a:prstGeom prst="rect">
            <a:avLst/>
          </a:prstGeom>
          <a:solidFill>
            <a:srgbClr val="FFFFFF"/>
          </a:solidFill>
          <a:ln w="6350">
            <a:solidFill>
              <a:srgbClr val="C9D0D8"/>
            </a:solidFill>
            <a:prstDash val="solid"/>
          </a:ln>
        </p:spPr>
      </p:sp>
      <p:sp>
        <p:nvSpPr>
          <p:cNvPr id="180" name="Shape 178"/>
          <p:cNvSpPr/>
          <p:nvPr/>
        </p:nvSpPr>
        <p:spPr>
          <a:xfrm>
            <a:off x="10469880" y="1993392"/>
            <a:ext cx="105156" cy="82296"/>
          </a:xfrm>
          <a:prstGeom prst="rect">
            <a:avLst/>
          </a:prstGeom>
          <a:solidFill>
            <a:srgbClr val="FFFFFF"/>
          </a:solidFill>
          <a:ln w="6350">
            <a:solidFill>
              <a:srgbClr val="C9D0D8"/>
            </a:solidFill>
            <a:prstDash val="solid"/>
          </a:ln>
        </p:spPr>
      </p:sp>
      <p:sp>
        <p:nvSpPr>
          <p:cNvPr id="181" name="Shape 179"/>
          <p:cNvSpPr/>
          <p:nvPr/>
        </p:nvSpPr>
        <p:spPr>
          <a:xfrm>
            <a:off x="10469880" y="1892808"/>
            <a:ext cx="105156" cy="82296"/>
          </a:xfrm>
          <a:prstGeom prst="rect">
            <a:avLst/>
          </a:prstGeom>
          <a:solidFill>
            <a:srgbClr val="FFFFFF"/>
          </a:solidFill>
          <a:ln w="6350">
            <a:solidFill>
              <a:srgbClr val="C9D0D8"/>
            </a:solidFill>
            <a:prstDash val="solid"/>
          </a:ln>
        </p:spPr>
      </p:sp>
      <p:sp>
        <p:nvSpPr>
          <p:cNvPr id="182" name="Shape 180"/>
          <p:cNvSpPr/>
          <p:nvPr/>
        </p:nvSpPr>
        <p:spPr>
          <a:xfrm>
            <a:off x="10593324" y="2395728"/>
            <a:ext cx="105156" cy="82296"/>
          </a:xfrm>
          <a:prstGeom prst="rect">
            <a:avLst/>
          </a:prstGeom>
          <a:solidFill>
            <a:srgbClr val="FFFFFF"/>
          </a:solidFill>
          <a:ln w="6350">
            <a:solidFill>
              <a:srgbClr val="C9D0D8"/>
            </a:solidFill>
            <a:prstDash val="solid"/>
          </a:ln>
        </p:spPr>
      </p:sp>
      <p:sp>
        <p:nvSpPr>
          <p:cNvPr id="183" name="Shape 181"/>
          <p:cNvSpPr/>
          <p:nvPr/>
        </p:nvSpPr>
        <p:spPr>
          <a:xfrm>
            <a:off x="10593324" y="2295144"/>
            <a:ext cx="105156" cy="82296"/>
          </a:xfrm>
          <a:prstGeom prst="rect">
            <a:avLst/>
          </a:prstGeom>
          <a:solidFill>
            <a:srgbClr val="FFFFFF"/>
          </a:solidFill>
          <a:ln w="6350">
            <a:solidFill>
              <a:srgbClr val="C9D0D8"/>
            </a:solidFill>
            <a:prstDash val="solid"/>
          </a:ln>
        </p:spPr>
      </p:sp>
      <p:sp>
        <p:nvSpPr>
          <p:cNvPr id="184" name="Shape 182"/>
          <p:cNvSpPr/>
          <p:nvPr/>
        </p:nvSpPr>
        <p:spPr>
          <a:xfrm>
            <a:off x="10593324" y="2194560"/>
            <a:ext cx="105156" cy="82296"/>
          </a:xfrm>
          <a:prstGeom prst="rect">
            <a:avLst/>
          </a:prstGeom>
          <a:solidFill>
            <a:srgbClr val="FFFFFF"/>
          </a:solidFill>
          <a:ln w="6350">
            <a:solidFill>
              <a:srgbClr val="C9D0D8"/>
            </a:solidFill>
            <a:prstDash val="solid"/>
          </a:ln>
        </p:spPr>
      </p:sp>
      <p:sp>
        <p:nvSpPr>
          <p:cNvPr id="185" name="Shape 183"/>
          <p:cNvSpPr/>
          <p:nvPr/>
        </p:nvSpPr>
        <p:spPr>
          <a:xfrm>
            <a:off x="10593324" y="2093976"/>
            <a:ext cx="105156" cy="82296"/>
          </a:xfrm>
          <a:prstGeom prst="rect">
            <a:avLst/>
          </a:prstGeom>
          <a:solidFill>
            <a:srgbClr val="FFFFFF"/>
          </a:solidFill>
          <a:ln w="6350">
            <a:solidFill>
              <a:srgbClr val="C9D0D8"/>
            </a:solidFill>
            <a:prstDash val="solid"/>
          </a:ln>
        </p:spPr>
      </p:sp>
      <p:sp>
        <p:nvSpPr>
          <p:cNvPr id="186" name="Shape 184"/>
          <p:cNvSpPr/>
          <p:nvPr/>
        </p:nvSpPr>
        <p:spPr>
          <a:xfrm>
            <a:off x="10593324" y="1993392"/>
            <a:ext cx="105156" cy="82296"/>
          </a:xfrm>
          <a:prstGeom prst="rect">
            <a:avLst/>
          </a:prstGeom>
          <a:solidFill>
            <a:srgbClr val="FFFFFF"/>
          </a:solidFill>
          <a:ln w="6350">
            <a:solidFill>
              <a:srgbClr val="C9D0D8"/>
            </a:solidFill>
            <a:prstDash val="solid"/>
          </a:ln>
        </p:spPr>
      </p:sp>
      <p:sp>
        <p:nvSpPr>
          <p:cNvPr id="187" name="Shape 185"/>
          <p:cNvSpPr/>
          <p:nvPr/>
        </p:nvSpPr>
        <p:spPr>
          <a:xfrm>
            <a:off x="10593324" y="1892808"/>
            <a:ext cx="105156" cy="82296"/>
          </a:xfrm>
          <a:prstGeom prst="rect">
            <a:avLst/>
          </a:prstGeom>
          <a:solidFill>
            <a:srgbClr val="FFFFFF"/>
          </a:solidFill>
          <a:ln w="6350">
            <a:solidFill>
              <a:srgbClr val="C9D0D8"/>
            </a:solidFill>
            <a:prstDash val="solid"/>
          </a:ln>
        </p:spPr>
      </p:sp>
      <p:sp>
        <p:nvSpPr>
          <p:cNvPr id="188" name="Text 186"/>
          <p:cNvSpPr txBox="1"/>
          <p:nvPr/>
        </p:nvSpPr>
        <p:spPr>
          <a:xfrm>
            <a:off x="10789920" y="2057400"/>
            <a:ext cx="868680" cy="237744"/>
          </a:xfrm>
          <a:prstGeom prst="rect">
            <a:avLst/>
          </a:prstGeom>
          <a:noFill/>
          <a:ln/>
        </p:spPr>
        <p:txBody>
          <a:bodyPr wrap="square" lIns="508" tIns="508" rIns="508" bIns="508" rtlCol="0" anchor="t"/>
          <a:lstStyle/>
          <a:p>
            <a:pPr algn="r" indent="0" marL="0">
              <a:buNone/>
            </a:pPr>
            <a:r>
              <a:rPr lang="en-US" sz="950" b="1" dirty="0">
                <a:solidFill>
                  <a:srgbClr val="C56A2C"/>
                </a:solidFill>
                <a:latin typeface="Yu Gothic" pitchFamily="34" charset="0"/>
                <a:ea typeface="Yu Gothic" pitchFamily="34" charset="-122"/>
                <a:cs typeface="Yu Gothic" pitchFamily="34" charset="-120"/>
              </a:rPr>
              <a:t>0マス</a:t>
            </a:r>
            <a:endParaRPr lang="en-US" sz="950" dirty="0"/>
          </a:p>
        </p:txBody>
      </p:sp>
      <p:sp>
        <p:nvSpPr>
          <p:cNvPr id="189" name="Text 187"/>
          <p:cNvSpPr txBox="1"/>
          <p:nvPr/>
        </p:nvSpPr>
        <p:spPr>
          <a:xfrm>
            <a:off x="6949440" y="2880360"/>
            <a:ext cx="868680" cy="237744"/>
          </a:xfrm>
          <a:prstGeom prst="rect">
            <a:avLst/>
          </a:prstGeom>
          <a:noFill/>
          <a:ln/>
        </p:spPr>
        <p:txBody>
          <a:bodyPr wrap="square" lIns="508" tIns="508" rIns="508" bIns="508" rtlCol="0" anchor="t"/>
          <a:lstStyle/>
          <a:p>
            <a:pPr indent="0" marL="0">
              <a:buNone/>
            </a:pPr>
            <a:r>
              <a:rPr lang="en-US" sz="950" b="1" dirty="0">
                <a:solidFill>
                  <a:srgbClr val="1B2A44"/>
                </a:solidFill>
                <a:latin typeface="Yu Gothic" pitchFamily="34" charset="0"/>
                <a:ea typeface="Yu Gothic" pitchFamily="34" charset="-122"/>
                <a:cs typeface="Yu Gothic" pitchFamily="34" charset="-120"/>
              </a:rPr>
              <a:t>南だけ</a:t>
            </a:r>
            <a:endParaRPr lang="en-US" sz="950" dirty="0"/>
          </a:p>
        </p:txBody>
      </p:sp>
      <p:sp>
        <p:nvSpPr>
          <p:cNvPr id="190" name="Shape 188"/>
          <p:cNvSpPr/>
          <p:nvPr/>
        </p:nvSpPr>
        <p:spPr>
          <a:xfrm>
            <a:off x="7818120" y="2651760"/>
            <a:ext cx="868680" cy="640080"/>
          </a:xfrm>
          <a:prstGeom prst="roundRect">
            <a:avLst>
              <a:gd name="adj" fmla="val 5714"/>
            </a:avLst>
          </a:prstGeom>
          <a:solidFill>
            <a:srgbClr val="F3F5F8"/>
          </a:solidFill>
          <a:ln/>
        </p:spPr>
      </p:sp>
      <p:sp>
        <p:nvSpPr>
          <p:cNvPr id="191" name="Shape 189"/>
          <p:cNvSpPr/>
          <p:nvPr/>
        </p:nvSpPr>
        <p:spPr>
          <a:xfrm>
            <a:off x="8126730" y="3017520"/>
            <a:ext cx="205740" cy="205740"/>
          </a:xfrm>
          <a:prstGeom prst="rect">
            <a:avLst/>
          </a:prstGeom>
          <a:solidFill>
            <a:srgbClr val="1B2A44"/>
          </a:solidFill>
          <a:ln/>
        </p:spPr>
      </p:sp>
      <p:sp>
        <p:nvSpPr>
          <p:cNvPr id="192" name="Shape 190"/>
          <p:cNvSpPr/>
          <p:nvPr/>
        </p:nvSpPr>
        <p:spPr>
          <a:xfrm>
            <a:off x="8126730" y="2708910"/>
            <a:ext cx="205740" cy="205740"/>
          </a:xfrm>
          <a:prstGeom prst="rect">
            <a:avLst/>
          </a:prstGeom>
          <a:solidFill>
            <a:srgbClr val="E8934D"/>
          </a:solidFill>
          <a:ln/>
        </p:spPr>
      </p:sp>
      <p:sp>
        <p:nvSpPr>
          <p:cNvPr id="193" name="Text 191"/>
          <p:cNvSpPr txBox="1"/>
          <p:nvPr/>
        </p:nvSpPr>
        <p:spPr>
          <a:xfrm>
            <a:off x="8915400" y="2834640"/>
            <a:ext cx="274320" cy="274320"/>
          </a:xfrm>
          <a:prstGeom prst="rect">
            <a:avLst/>
          </a:prstGeom>
          <a:noFill/>
          <a:ln/>
        </p:spPr>
        <p:txBody>
          <a:bodyPr wrap="square" lIns="0" tIns="0" rIns="0" bIns="0" rtlCol="0" anchor="t"/>
          <a:lstStyle/>
          <a:p>
            <a:pPr algn="ctr" indent="0" marL="0">
              <a:buNone/>
            </a:pPr>
            <a:r>
              <a:rPr lang="en-US" sz="1200" b="1" dirty="0">
                <a:solidFill>
                  <a:srgbClr val="E8934D"/>
                </a:solidFill>
                <a:latin typeface="Yu Gothic" pitchFamily="34" charset="0"/>
                <a:ea typeface="Yu Gothic" pitchFamily="34" charset="-122"/>
                <a:cs typeface="Yu Gothic" pitchFamily="34" charset="-120"/>
              </a:rPr>
              <a:t>→</a:t>
            </a:r>
            <a:endParaRPr lang="en-US" sz="1200" dirty="0"/>
          </a:p>
        </p:txBody>
      </p:sp>
      <p:sp>
        <p:nvSpPr>
          <p:cNvPr id="194" name="Shape 192"/>
          <p:cNvSpPr/>
          <p:nvPr/>
        </p:nvSpPr>
        <p:spPr>
          <a:xfrm>
            <a:off x="9235440" y="3172968"/>
            <a:ext cx="105156" cy="82296"/>
          </a:xfrm>
          <a:prstGeom prst="rect">
            <a:avLst/>
          </a:prstGeom>
          <a:solidFill>
            <a:srgbClr val="FFFFFF"/>
          </a:solidFill>
          <a:ln w="6350">
            <a:solidFill>
              <a:srgbClr val="C9D0D8"/>
            </a:solidFill>
            <a:prstDash val="solid"/>
          </a:ln>
        </p:spPr>
      </p:sp>
      <p:sp>
        <p:nvSpPr>
          <p:cNvPr id="195" name="Shape 193"/>
          <p:cNvSpPr/>
          <p:nvPr/>
        </p:nvSpPr>
        <p:spPr>
          <a:xfrm>
            <a:off x="9235440" y="3072384"/>
            <a:ext cx="105156" cy="82296"/>
          </a:xfrm>
          <a:prstGeom prst="rect">
            <a:avLst/>
          </a:prstGeom>
          <a:solidFill>
            <a:srgbClr val="FFFFFF"/>
          </a:solidFill>
          <a:ln w="6350">
            <a:solidFill>
              <a:srgbClr val="C9D0D8"/>
            </a:solidFill>
            <a:prstDash val="solid"/>
          </a:ln>
        </p:spPr>
      </p:sp>
      <p:sp>
        <p:nvSpPr>
          <p:cNvPr id="196" name="Shape 194"/>
          <p:cNvSpPr/>
          <p:nvPr/>
        </p:nvSpPr>
        <p:spPr>
          <a:xfrm>
            <a:off x="9235440" y="2971800"/>
            <a:ext cx="105156" cy="82296"/>
          </a:xfrm>
          <a:prstGeom prst="rect">
            <a:avLst/>
          </a:prstGeom>
          <a:solidFill>
            <a:srgbClr val="FFFFFF"/>
          </a:solidFill>
          <a:ln w="6350">
            <a:solidFill>
              <a:srgbClr val="C9D0D8"/>
            </a:solidFill>
            <a:prstDash val="solid"/>
          </a:ln>
        </p:spPr>
      </p:sp>
      <p:sp>
        <p:nvSpPr>
          <p:cNvPr id="197" name="Shape 195"/>
          <p:cNvSpPr/>
          <p:nvPr/>
        </p:nvSpPr>
        <p:spPr>
          <a:xfrm>
            <a:off x="9235440" y="2871216"/>
            <a:ext cx="105156" cy="82296"/>
          </a:xfrm>
          <a:prstGeom prst="rect">
            <a:avLst/>
          </a:prstGeom>
          <a:solidFill>
            <a:srgbClr val="FFFFFF"/>
          </a:solidFill>
          <a:ln w="6350">
            <a:solidFill>
              <a:srgbClr val="C9D0D8"/>
            </a:solidFill>
            <a:prstDash val="solid"/>
          </a:ln>
        </p:spPr>
      </p:sp>
      <p:sp>
        <p:nvSpPr>
          <p:cNvPr id="198" name="Shape 196"/>
          <p:cNvSpPr/>
          <p:nvPr/>
        </p:nvSpPr>
        <p:spPr>
          <a:xfrm>
            <a:off x="9235440" y="2770632"/>
            <a:ext cx="105156" cy="82296"/>
          </a:xfrm>
          <a:prstGeom prst="rect">
            <a:avLst/>
          </a:prstGeom>
          <a:solidFill>
            <a:srgbClr val="FFFFFF"/>
          </a:solidFill>
          <a:ln w="6350">
            <a:solidFill>
              <a:srgbClr val="C9D0D8"/>
            </a:solidFill>
            <a:prstDash val="solid"/>
          </a:ln>
        </p:spPr>
      </p:sp>
      <p:sp>
        <p:nvSpPr>
          <p:cNvPr id="199" name="Shape 197"/>
          <p:cNvSpPr/>
          <p:nvPr/>
        </p:nvSpPr>
        <p:spPr>
          <a:xfrm>
            <a:off x="9235440" y="2670048"/>
            <a:ext cx="105156" cy="82296"/>
          </a:xfrm>
          <a:prstGeom prst="rect">
            <a:avLst/>
          </a:prstGeom>
          <a:solidFill>
            <a:srgbClr val="FFFFFF"/>
          </a:solidFill>
          <a:ln w="6350">
            <a:solidFill>
              <a:srgbClr val="C9D0D8"/>
            </a:solidFill>
            <a:prstDash val="solid"/>
          </a:ln>
        </p:spPr>
      </p:sp>
      <p:sp>
        <p:nvSpPr>
          <p:cNvPr id="200" name="Shape 198"/>
          <p:cNvSpPr/>
          <p:nvPr/>
        </p:nvSpPr>
        <p:spPr>
          <a:xfrm>
            <a:off x="9358884" y="3172968"/>
            <a:ext cx="105156" cy="82296"/>
          </a:xfrm>
          <a:prstGeom prst="rect">
            <a:avLst/>
          </a:prstGeom>
          <a:solidFill>
            <a:srgbClr val="FFFFFF"/>
          </a:solidFill>
          <a:ln w="6350">
            <a:solidFill>
              <a:srgbClr val="C9D0D8"/>
            </a:solidFill>
            <a:prstDash val="solid"/>
          </a:ln>
        </p:spPr>
      </p:sp>
      <p:sp>
        <p:nvSpPr>
          <p:cNvPr id="201" name="Shape 199"/>
          <p:cNvSpPr/>
          <p:nvPr/>
        </p:nvSpPr>
        <p:spPr>
          <a:xfrm>
            <a:off x="9358884" y="3072384"/>
            <a:ext cx="105156" cy="82296"/>
          </a:xfrm>
          <a:prstGeom prst="rect">
            <a:avLst/>
          </a:prstGeom>
          <a:solidFill>
            <a:srgbClr val="FFFFFF"/>
          </a:solidFill>
          <a:ln w="6350">
            <a:solidFill>
              <a:srgbClr val="C9D0D8"/>
            </a:solidFill>
            <a:prstDash val="solid"/>
          </a:ln>
        </p:spPr>
      </p:sp>
      <p:sp>
        <p:nvSpPr>
          <p:cNvPr id="202" name="Shape 200"/>
          <p:cNvSpPr/>
          <p:nvPr/>
        </p:nvSpPr>
        <p:spPr>
          <a:xfrm>
            <a:off x="9358884" y="2971800"/>
            <a:ext cx="105156" cy="82296"/>
          </a:xfrm>
          <a:prstGeom prst="rect">
            <a:avLst/>
          </a:prstGeom>
          <a:solidFill>
            <a:srgbClr val="FFFFFF"/>
          </a:solidFill>
          <a:ln w="6350">
            <a:solidFill>
              <a:srgbClr val="C9D0D8"/>
            </a:solidFill>
            <a:prstDash val="solid"/>
          </a:ln>
        </p:spPr>
      </p:sp>
      <p:sp>
        <p:nvSpPr>
          <p:cNvPr id="203" name="Shape 201"/>
          <p:cNvSpPr/>
          <p:nvPr/>
        </p:nvSpPr>
        <p:spPr>
          <a:xfrm>
            <a:off x="9358884" y="2871216"/>
            <a:ext cx="105156" cy="82296"/>
          </a:xfrm>
          <a:prstGeom prst="rect">
            <a:avLst/>
          </a:prstGeom>
          <a:solidFill>
            <a:srgbClr val="FFFFFF"/>
          </a:solidFill>
          <a:ln w="6350">
            <a:solidFill>
              <a:srgbClr val="C9D0D8"/>
            </a:solidFill>
            <a:prstDash val="solid"/>
          </a:ln>
        </p:spPr>
      </p:sp>
      <p:sp>
        <p:nvSpPr>
          <p:cNvPr id="204" name="Shape 202"/>
          <p:cNvSpPr/>
          <p:nvPr/>
        </p:nvSpPr>
        <p:spPr>
          <a:xfrm>
            <a:off x="9358884" y="2770632"/>
            <a:ext cx="105156" cy="82296"/>
          </a:xfrm>
          <a:prstGeom prst="rect">
            <a:avLst/>
          </a:prstGeom>
          <a:solidFill>
            <a:srgbClr val="FFFFFF"/>
          </a:solidFill>
          <a:ln w="6350">
            <a:solidFill>
              <a:srgbClr val="C9D0D8"/>
            </a:solidFill>
            <a:prstDash val="solid"/>
          </a:ln>
        </p:spPr>
      </p:sp>
      <p:sp>
        <p:nvSpPr>
          <p:cNvPr id="205" name="Shape 203"/>
          <p:cNvSpPr/>
          <p:nvPr/>
        </p:nvSpPr>
        <p:spPr>
          <a:xfrm>
            <a:off x="9358884" y="2670048"/>
            <a:ext cx="105156" cy="82296"/>
          </a:xfrm>
          <a:prstGeom prst="rect">
            <a:avLst/>
          </a:prstGeom>
          <a:solidFill>
            <a:srgbClr val="FFFFFF"/>
          </a:solidFill>
          <a:ln w="6350">
            <a:solidFill>
              <a:srgbClr val="C9D0D8"/>
            </a:solidFill>
            <a:prstDash val="solid"/>
          </a:ln>
        </p:spPr>
      </p:sp>
      <p:sp>
        <p:nvSpPr>
          <p:cNvPr id="206" name="Shape 204"/>
          <p:cNvSpPr/>
          <p:nvPr/>
        </p:nvSpPr>
        <p:spPr>
          <a:xfrm>
            <a:off x="9482328" y="3172968"/>
            <a:ext cx="105156" cy="82296"/>
          </a:xfrm>
          <a:prstGeom prst="rect">
            <a:avLst/>
          </a:prstGeom>
          <a:solidFill>
            <a:srgbClr val="FFFFFF"/>
          </a:solidFill>
          <a:ln w="6350">
            <a:solidFill>
              <a:srgbClr val="C9D0D8"/>
            </a:solidFill>
            <a:prstDash val="solid"/>
          </a:ln>
        </p:spPr>
      </p:sp>
      <p:sp>
        <p:nvSpPr>
          <p:cNvPr id="207" name="Shape 205"/>
          <p:cNvSpPr/>
          <p:nvPr/>
        </p:nvSpPr>
        <p:spPr>
          <a:xfrm>
            <a:off x="9482328" y="3072384"/>
            <a:ext cx="105156" cy="82296"/>
          </a:xfrm>
          <a:prstGeom prst="rect">
            <a:avLst/>
          </a:prstGeom>
          <a:solidFill>
            <a:srgbClr val="FFFFFF"/>
          </a:solidFill>
          <a:ln w="6350">
            <a:solidFill>
              <a:srgbClr val="C9D0D8"/>
            </a:solidFill>
            <a:prstDash val="solid"/>
          </a:ln>
        </p:spPr>
      </p:sp>
      <p:sp>
        <p:nvSpPr>
          <p:cNvPr id="208" name="Shape 206"/>
          <p:cNvSpPr/>
          <p:nvPr/>
        </p:nvSpPr>
        <p:spPr>
          <a:xfrm>
            <a:off x="9482328" y="2971800"/>
            <a:ext cx="105156" cy="82296"/>
          </a:xfrm>
          <a:prstGeom prst="rect">
            <a:avLst/>
          </a:prstGeom>
          <a:solidFill>
            <a:srgbClr val="FFFFFF"/>
          </a:solidFill>
          <a:ln w="6350">
            <a:solidFill>
              <a:srgbClr val="C9D0D8"/>
            </a:solidFill>
            <a:prstDash val="solid"/>
          </a:ln>
        </p:spPr>
      </p:sp>
      <p:sp>
        <p:nvSpPr>
          <p:cNvPr id="209" name="Shape 207"/>
          <p:cNvSpPr/>
          <p:nvPr/>
        </p:nvSpPr>
        <p:spPr>
          <a:xfrm>
            <a:off x="9482328" y="2871216"/>
            <a:ext cx="105156" cy="82296"/>
          </a:xfrm>
          <a:prstGeom prst="rect">
            <a:avLst/>
          </a:prstGeom>
          <a:solidFill>
            <a:srgbClr val="FFFFFF"/>
          </a:solidFill>
          <a:ln w="6350">
            <a:solidFill>
              <a:srgbClr val="C9D0D8"/>
            </a:solidFill>
            <a:prstDash val="solid"/>
          </a:ln>
        </p:spPr>
      </p:sp>
      <p:sp>
        <p:nvSpPr>
          <p:cNvPr id="210" name="Shape 208"/>
          <p:cNvSpPr/>
          <p:nvPr/>
        </p:nvSpPr>
        <p:spPr>
          <a:xfrm>
            <a:off x="9482328" y="2770632"/>
            <a:ext cx="105156" cy="82296"/>
          </a:xfrm>
          <a:prstGeom prst="rect">
            <a:avLst/>
          </a:prstGeom>
          <a:solidFill>
            <a:srgbClr val="FFFFFF"/>
          </a:solidFill>
          <a:ln w="6350">
            <a:solidFill>
              <a:srgbClr val="C9D0D8"/>
            </a:solidFill>
            <a:prstDash val="solid"/>
          </a:ln>
        </p:spPr>
      </p:sp>
      <p:sp>
        <p:nvSpPr>
          <p:cNvPr id="211" name="Shape 209"/>
          <p:cNvSpPr/>
          <p:nvPr/>
        </p:nvSpPr>
        <p:spPr>
          <a:xfrm>
            <a:off x="9482328" y="2670048"/>
            <a:ext cx="105156" cy="82296"/>
          </a:xfrm>
          <a:prstGeom prst="rect">
            <a:avLst/>
          </a:prstGeom>
          <a:solidFill>
            <a:srgbClr val="FFFFFF"/>
          </a:solidFill>
          <a:ln w="6350">
            <a:solidFill>
              <a:srgbClr val="C9D0D8"/>
            </a:solidFill>
            <a:prstDash val="solid"/>
          </a:ln>
        </p:spPr>
      </p:sp>
      <p:sp>
        <p:nvSpPr>
          <p:cNvPr id="212" name="Shape 210"/>
          <p:cNvSpPr/>
          <p:nvPr/>
        </p:nvSpPr>
        <p:spPr>
          <a:xfrm>
            <a:off x="9605772" y="3172968"/>
            <a:ext cx="105156" cy="82296"/>
          </a:xfrm>
          <a:prstGeom prst="rect">
            <a:avLst/>
          </a:prstGeom>
          <a:solidFill>
            <a:srgbClr val="E8934D"/>
          </a:solidFill>
          <a:ln w="6350">
            <a:solidFill>
              <a:srgbClr val="C9D0D8"/>
            </a:solidFill>
            <a:prstDash val="solid"/>
          </a:ln>
        </p:spPr>
      </p:sp>
      <p:sp>
        <p:nvSpPr>
          <p:cNvPr id="213" name="Shape 211"/>
          <p:cNvSpPr/>
          <p:nvPr/>
        </p:nvSpPr>
        <p:spPr>
          <a:xfrm>
            <a:off x="9605772" y="3072384"/>
            <a:ext cx="105156" cy="82296"/>
          </a:xfrm>
          <a:prstGeom prst="rect">
            <a:avLst/>
          </a:prstGeom>
          <a:solidFill>
            <a:srgbClr val="E8934D"/>
          </a:solidFill>
          <a:ln w="6350">
            <a:solidFill>
              <a:srgbClr val="C9D0D8"/>
            </a:solidFill>
            <a:prstDash val="solid"/>
          </a:ln>
        </p:spPr>
      </p:sp>
      <p:sp>
        <p:nvSpPr>
          <p:cNvPr id="214" name="Shape 212"/>
          <p:cNvSpPr/>
          <p:nvPr/>
        </p:nvSpPr>
        <p:spPr>
          <a:xfrm>
            <a:off x="9605772" y="2971800"/>
            <a:ext cx="105156" cy="82296"/>
          </a:xfrm>
          <a:prstGeom prst="rect">
            <a:avLst/>
          </a:prstGeom>
          <a:solidFill>
            <a:srgbClr val="FFFFFF"/>
          </a:solidFill>
          <a:ln w="6350">
            <a:solidFill>
              <a:srgbClr val="C9D0D8"/>
            </a:solidFill>
            <a:prstDash val="solid"/>
          </a:ln>
        </p:spPr>
      </p:sp>
      <p:sp>
        <p:nvSpPr>
          <p:cNvPr id="215" name="Shape 213"/>
          <p:cNvSpPr/>
          <p:nvPr/>
        </p:nvSpPr>
        <p:spPr>
          <a:xfrm>
            <a:off x="9605772" y="2871216"/>
            <a:ext cx="105156" cy="82296"/>
          </a:xfrm>
          <a:prstGeom prst="rect">
            <a:avLst/>
          </a:prstGeom>
          <a:solidFill>
            <a:srgbClr val="FFFFFF"/>
          </a:solidFill>
          <a:ln w="6350">
            <a:solidFill>
              <a:srgbClr val="C9D0D8"/>
            </a:solidFill>
            <a:prstDash val="solid"/>
          </a:ln>
        </p:spPr>
      </p:sp>
      <p:sp>
        <p:nvSpPr>
          <p:cNvPr id="216" name="Shape 214"/>
          <p:cNvSpPr/>
          <p:nvPr/>
        </p:nvSpPr>
        <p:spPr>
          <a:xfrm>
            <a:off x="9605772" y="2770632"/>
            <a:ext cx="105156" cy="82296"/>
          </a:xfrm>
          <a:prstGeom prst="rect">
            <a:avLst/>
          </a:prstGeom>
          <a:solidFill>
            <a:srgbClr val="FFFFFF"/>
          </a:solidFill>
          <a:ln w="6350">
            <a:solidFill>
              <a:srgbClr val="C9D0D8"/>
            </a:solidFill>
            <a:prstDash val="solid"/>
          </a:ln>
        </p:spPr>
      </p:sp>
      <p:sp>
        <p:nvSpPr>
          <p:cNvPr id="217" name="Shape 215"/>
          <p:cNvSpPr/>
          <p:nvPr/>
        </p:nvSpPr>
        <p:spPr>
          <a:xfrm>
            <a:off x="9605772" y="2670048"/>
            <a:ext cx="105156" cy="82296"/>
          </a:xfrm>
          <a:prstGeom prst="rect">
            <a:avLst/>
          </a:prstGeom>
          <a:solidFill>
            <a:srgbClr val="FFFFFF"/>
          </a:solidFill>
          <a:ln w="6350">
            <a:solidFill>
              <a:srgbClr val="C9D0D8"/>
            </a:solidFill>
            <a:prstDash val="solid"/>
          </a:ln>
        </p:spPr>
      </p:sp>
      <p:sp>
        <p:nvSpPr>
          <p:cNvPr id="218" name="Shape 216"/>
          <p:cNvSpPr/>
          <p:nvPr/>
        </p:nvSpPr>
        <p:spPr>
          <a:xfrm>
            <a:off x="9729216" y="3172968"/>
            <a:ext cx="105156" cy="82296"/>
          </a:xfrm>
          <a:prstGeom prst="rect">
            <a:avLst/>
          </a:prstGeom>
          <a:solidFill>
            <a:srgbClr val="E8934D"/>
          </a:solidFill>
          <a:ln w="6350">
            <a:solidFill>
              <a:srgbClr val="C9D0D8"/>
            </a:solidFill>
            <a:prstDash val="solid"/>
          </a:ln>
        </p:spPr>
      </p:sp>
      <p:sp>
        <p:nvSpPr>
          <p:cNvPr id="219" name="Shape 217"/>
          <p:cNvSpPr/>
          <p:nvPr/>
        </p:nvSpPr>
        <p:spPr>
          <a:xfrm>
            <a:off x="9729216" y="3072384"/>
            <a:ext cx="105156" cy="82296"/>
          </a:xfrm>
          <a:prstGeom prst="rect">
            <a:avLst/>
          </a:prstGeom>
          <a:solidFill>
            <a:srgbClr val="E8934D"/>
          </a:solidFill>
          <a:ln w="6350">
            <a:solidFill>
              <a:srgbClr val="C9D0D8"/>
            </a:solidFill>
            <a:prstDash val="solid"/>
          </a:ln>
        </p:spPr>
      </p:sp>
      <p:sp>
        <p:nvSpPr>
          <p:cNvPr id="220" name="Shape 218"/>
          <p:cNvSpPr/>
          <p:nvPr/>
        </p:nvSpPr>
        <p:spPr>
          <a:xfrm>
            <a:off x="9729216" y="2971800"/>
            <a:ext cx="105156" cy="82296"/>
          </a:xfrm>
          <a:prstGeom prst="rect">
            <a:avLst/>
          </a:prstGeom>
          <a:solidFill>
            <a:srgbClr val="FFFFFF"/>
          </a:solidFill>
          <a:ln w="6350">
            <a:solidFill>
              <a:srgbClr val="C9D0D8"/>
            </a:solidFill>
            <a:prstDash val="solid"/>
          </a:ln>
        </p:spPr>
      </p:sp>
      <p:sp>
        <p:nvSpPr>
          <p:cNvPr id="221" name="Shape 219"/>
          <p:cNvSpPr/>
          <p:nvPr/>
        </p:nvSpPr>
        <p:spPr>
          <a:xfrm>
            <a:off x="9729216" y="2871216"/>
            <a:ext cx="105156" cy="82296"/>
          </a:xfrm>
          <a:prstGeom prst="rect">
            <a:avLst/>
          </a:prstGeom>
          <a:solidFill>
            <a:srgbClr val="FFFFFF"/>
          </a:solidFill>
          <a:ln w="6350">
            <a:solidFill>
              <a:srgbClr val="C9D0D8"/>
            </a:solidFill>
            <a:prstDash val="solid"/>
          </a:ln>
        </p:spPr>
      </p:sp>
      <p:sp>
        <p:nvSpPr>
          <p:cNvPr id="222" name="Shape 220"/>
          <p:cNvSpPr/>
          <p:nvPr/>
        </p:nvSpPr>
        <p:spPr>
          <a:xfrm>
            <a:off x="9729216" y="2770632"/>
            <a:ext cx="105156" cy="82296"/>
          </a:xfrm>
          <a:prstGeom prst="rect">
            <a:avLst/>
          </a:prstGeom>
          <a:solidFill>
            <a:srgbClr val="FFFFFF"/>
          </a:solidFill>
          <a:ln w="6350">
            <a:solidFill>
              <a:srgbClr val="C9D0D8"/>
            </a:solidFill>
            <a:prstDash val="solid"/>
          </a:ln>
        </p:spPr>
      </p:sp>
      <p:sp>
        <p:nvSpPr>
          <p:cNvPr id="223" name="Shape 221"/>
          <p:cNvSpPr/>
          <p:nvPr/>
        </p:nvSpPr>
        <p:spPr>
          <a:xfrm>
            <a:off x="9729216" y="2670048"/>
            <a:ext cx="105156" cy="82296"/>
          </a:xfrm>
          <a:prstGeom prst="rect">
            <a:avLst/>
          </a:prstGeom>
          <a:solidFill>
            <a:srgbClr val="FFFFFF"/>
          </a:solidFill>
          <a:ln w="6350">
            <a:solidFill>
              <a:srgbClr val="C9D0D8"/>
            </a:solidFill>
            <a:prstDash val="solid"/>
          </a:ln>
        </p:spPr>
      </p:sp>
      <p:sp>
        <p:nvSpPr>
          <p:cNvPr id="224" name="Shape 222"/>
          <p:cNvSpPr/>
          <p:nvPr/>
        </p:nvSpPr>
        <p:spPr>
          <a:xfrm>
            <a:off x="9852660" y="3172968"/>
            <a:ext cx="105156" cy="82296"/>
          </a:xfrm>
          <a:prstGeom prst="rect">
            <a:avLst/>
          </a:prstGeom>
          <a:solidFill>
            <a:srgbClr val="E8934D"/>
          </a:solidFill>
          <a:ln w="6350">
            <a:solidFill>
              <a:srgbClr val="C9D0D8"/>
            </a:solidFill>
            <a:prstDash val="solid"/>
          </a:ln>
        </p:spPr>
      </p:sp>
      <p:sp>
        <p:nvSpPr>
          <p:cNvPr id="225" name="Shape 223"/>
          <p:cNvSpPr/>
          <p:nvPr/>
        </p:nvSpPr>
        <p:spPr>
          <a:xfrm>
            <a:off x="9852660" y="3072384"/>
            <a:ext cx="105156" cy="82296"/>
          </a:xfrm>
          <a:prstGeom prst="rect">
            <a:avLst/>
          </a:prstGeom>
          <a:solidFill>
            <a:srgbClr val="E8934D"/>
          </a:solidFill>
          <a:ln w="6350">
            <a:solidFill>
              <a:srgbClr val="C9D0D8"/>
            </a:solidFill>
            <a:prstDash val="solid"/>
          </a:ln>
        </p:spPr>
      </p:sp>
      <p:sp>
        <p:nvSpPr>
          <p:cNvPr id="226" name="Shape 224"/>
          <p:cNvSpPr/>
          <p:nvPr/>
        </p:nvSpPr>
        <p:spPr>
          <a:xfrm>
            <a:off x="9852660" y="2971800"/>
            <a:ext cx="105156" cy="82296"/>
          </a:xfrm>
          <a:prstGeom prst="rect">
            <a:avLst/>
          </a:prstGeom>
          <a:solidFill>
            <a:srgbClr val="FFFFFF"/>
          </a:solidFill>
          <a:ln w="6350">
            <a:solidFill>
              <a:srgbClr val="C9D0D8"/>
            </a:solidFill>
            <a:prstDash val="solid"/>
          </a:ln>
        </p:spPr>
      </p:sp>
      <p:sp>
        <p:nvSpPr>
          <p:cNvPr id="227" name="Shape 225"/>
          <p:cNvSpPr/>
          <p:nvPr/>
        </p:nvSpPr>
        <p:spPr>
          <a:xfrm>
            <a:off x="9852660" y="2871216"/>
            <a:ext cx="105156" cy="82296"/>
          </a:xfrm>
          <a:prstGeom prst="rect">
            <a:avLst/>
          </a:prstGeom>
          <a:solidFill>
            <a:srgbClr val="FFFFFF"/>
          </a:solidFill>
          <a:ln w="6350">
            <a:solidFill>
              <a:srgbClr val="C9D0D8"/>
            </a:solidFill>
            <a:prstDash val="solid"/>
          </a:ln>
        </p:spPr>
      </p:sp>
      <p:sp>
        <p:nvSpPr>
          <p:cNvPr id="228" name="Shape 226"/>
          <p:cNvSpPr/>
          <p:nvPr/>
        </p:nvSpPr>
        <p:spPr>
          <a:xfrm>
            <a:off x="9852660" y="2770632"/>
            <a:ext cx="105156" cy="82296"/>
          </a:xfrm>
          <a:prstGeom prst="rect">
            <a:avLst/>
          </a:prstGeom>
          <a:solidFill>
            <a:srgbClr val="FFFFFF"/>
          </a:solidFill>
          <a:ln w="6350">
            <a:solidFill>
              <a:srgbClr val="C9D0D8"/>
            </a:solidFill>
            <a:prstDash val="solid"/>
          </a:ln>
        </p:spPr>
      </p:sp>
      <p:sp>
        <p:nvSpPr>
          <p:cNvPr id="229" name="Shape 227"/>
          <p:cNvSpPr/>
          <p:nvPr/>
        </p:nvSpPr>
        <p:spPr>
          <a:xfrm>
            <a:off x="9852660" y="2670048"/>
            <a:ext cx="105156" cy="82296"/>
          </a:xfrm>
          <a:prstGeom prst="rect">
            <a:avLst/>
          </a:prstGeom>
          <a:solidFill>
            <a:srgbClr val="FFFFFF"/>
          </a:solidFill>
          <a:ln w="6350">
            <a:solidFill>
              <a:srgbClr val="C9D0D8"/>
            </a:solidFill>
            <a:prstDash val="solid"/>
          </a:ln>
        </p:spPr>
      </p:sp>
      <p:sp>
        <p:nvSpPr>
          <p:cNvPr id="230" name="Shape 228"/>
          <p:cNvSpPr/>
          <p:nvPr/>
        </p:nvSpPr>
        <p:spPr>
          <a:xfrm>
            <a:off x="9976104" y="3172968"/>
            <a:ext cx="105156" cy="82296"/>
          </a:xfrm>
          <a:prstGeom prst="rect">
            <a:avLst/>
          </a:prstGeom>
          <a:solidFill>
            <a:srgbClr val="E8934D"/>
          </a:solidFill>
          <a:ln w="6350">
            <a:solidFill>
              <a:srgbClr val="C9D0D8"/>
            </a:solidFill>
            <a:prstDash val="solid"/>
          </a:ln>
        </p:spPr>
      </p:sp>
      <p:sp>
        <p:nvSpPr>
          <p:cNvPr id="231" name="Shape 229"/>
          <p:cNvSpPr/>
          <p:nvPr/>
        </p:nvSpPr>
        <p:spPr>
          <a:xfrm>
            <a:off x="9976104" y="3072384"/>
            <a:ext cx="105156" cy="82296"/>
          </a:xfrm>
          <a:prstGeom prst="rect">
            <a:avLst/>
          </a:prstGeom>
          <a:solidFill>
            <a:srgbClr val="E8934D"/>
          </a:solidFill>
          <a:ln w="6350">
            <a:solidFill>
              <a:srgbClr val="C9D0D8"/>
            </a:solidFill>
            <a:prstDash val="solid"/>
          </a:ln>
        </p:spPr>
      </p:sp>
      <p:sp>
        <p:nvSpPr>
          <p:cNvPr id="232" name="Shape 230"/>
          <p:cNvSpPr/>
          <p:nvPr/>
        </p:nvSpPr>
        <p:spPr>
          <a:xfrm>
            <a:off x="9976104" y="2971800"/>
            <a:ext cx="105156" cy="82296"/>
          </a:xfrm>
          <a:prstGeom prst="rect">
            <a:avLst/>
          </a:prstGeom>
          <a:solidFill>
            <a:srgbClr val="FFFFFF"/>
          </a:solidFill>
          <a:ln w="6350">
            <a:solidFill>
              <a:srgbClr val="C9D0D8"/>
            </a:solidFill>
            <a:prstDash val="solid"/>
          </a:ln>
        </p:spPr>
      </p:sp>
      <p:sp>
        <p:nvSpPr>
          <p:cNvPr id="233" name="Shape 231"/>
          <p:cNvSpPr/>
          <p:nvPr/>
        </p:nvSpPr>
        <p:spPr>
          <a:xfrm>
            <a:off x="9976104" y="2871216"/>
            <a:ext cx="105156" cy="82296"/>
          </a:xfrm>
          <a:prstGeom prst="rect">
            <a:avLst/>
          </a:prstGeom>
          <a:solidFill>
            <a:srgbClr val="FFFFFF"/>
          </a:solidFill>
          <a:ln w="6350">
            <a:solidFill>
              <a:srgbClr val="C9D0D8"/>
            </a:solidFill>
            <a:prstDash val="solid"/>
          </a:ln>
        </p:spPr>
      </p:sp>
      <p:sp>
        <p:nvSpPr>
          <p:cNvPr id="234" name="Shape 232"/>
          <p:cNvSpPr/>
          <p:nvPr/>
        </p:nvSpPr>
        <p:spPr>
          <a:xfrm>
            <a:off x="9976104" y="2770632"/>
            <a:ext cx="105156" cy="82296"/>
          </a:xfrm>
          <a:prstGeom prst="rect">
            <a:avLst/>
          </a:prstGeom>
          <a:solidFill>
            <a:srgbClr val="FFFFFF"/>
          </a:solidFill>
          <a:ln w="6350">
            <a:solidFill>
              <a:srgbClr val="C9D0D8"/>
            </a:solidFill>
            <a:prstDash val="solid"/>
          </a:ln>
        </p:spPr>
      </p:sp>
      <p:sp>
        <p:nvSpPr>
          <p:cNvPr id="235" name="Shape 233"/>
          <p:cNvSpPr/>
          <p:nvPr/>
        </p:nvSpPr>
        <p:spPr>
          <a:xfrm>
            <a:off x="9976104" y="2670048"/>
            <a:ext cx="105156" cy="82296"/>
          </a:xfrm>
          <a:prstGeom prst="rect">
            <a:avLst/>
          </a:prstGeom>
          <a:solidFill>
            <a:srgbClr val="FFFFFF"/>
          </a:solidFill>
          <a:ln w="6350">
            <a:solidFill>
              <a:srgbClr val="C9D0D8"/>
            </a:solidFill>
            <a:prstDash val="solid"/>
          </a:ln>
        </p:spPr>
      </p:sp>
      <p:sp>
        <p:nvSpPr>
          <p:cNvPr id="236" name="Shape 234"/>
          <p:cNvSpPr/>
          <p:nvPr/>
        </p:nvSpPr>
        <p:spPr>
          <a:xfrm>
            <a:off x="10099548" y="3172968"/>
            <a:ext cx="105156" cy="82296"/>
          </a:xfrm>
          <a:prstGeom prst="rect">
            <a:avLst/>
          </a:prstGeom>
          <a:solidFill>
            <a:srgbClr val="E8934D"/>
          </a:solidFill>
          <a:ln w="6350">
            <a:solidFill>
              <a:srgbClr val="C9D0D8"/>
            </a:solidFill>
            <a:prstDash val="solid"/>
          </a:ln>
        </p:spPr>
      </p:sp>
      <p:sp>
        <p:nvSpPr>
          <p:cNvPr id="237" name="Shape 235"/>
          <p:cNvSpPr/>
          <p:nvPr/>
        </p:nvSpPr>
        <p:spPr>
          <a:xfrm>
            <a:off x="10099548" y="3072384"/>
            <a:ext cx="105156" cy="82296"/>
          </a:xfrm>
          <a:prstGeom prst="rect">
            <a:avLst/>
          </a:prstGeom>
          <a:solidFill>
            <a:srgbClr val="E8934D"/>
          </a:solidFill>
          <a:ln w="6350">
            <a:solidFill>
              <a:srgbClr val="C9D0D8"/>
            </a:solidFill>
            <a:prstDash val="solid"/>
          </a:ln>
        </p:spPr>
      </p:sp>
      <p:sp>
        <p:nvSpPr>
          <p:cNvPr id="238" name="Shape 236"/>
          <p:cNvSpPr/>
          <p:nvPr/>
        </p:nvSpPr>
        <p:spPr>
          <a:xfrm>
            <a:off x="10099548" y="2971800"/>
            <a:ext cx="105156" cy="82296"/>
          </a:xfrm>
          <a:prstGeom prst="rect">
            <a:avLst/>
          </a:prstGeom>
          <a:solidFill>
            <a:srgbClr val="FFFFFF"/>
          </a:solidFill>
          <a:ln w="6350">
            <a:solidFill>
              <a:srgbClr val="C9D0D8"/>
            </a:solidFill>
            <a:prstDash val="solid"/>
          </a:ln>
        </p:spPr>
      </p:sp>
      <p:sp>
        <p:nvSpPr>
          <p:cNvPr id="239" name="Shape 237"/>
          <p:cNvSpPr/>
          <p:nvPr/>
        </p:nvSpPr>
        <p:spPr>
          <a:xfrm>
            <a:off x="10099548" y="2871216"/>
            <a:ext cx="105156" cy="82296"/>
          </a:xfrm>
          <a:prstGeom prst="rect">
            <a:avLst/>
          </a:prstGeom>
          <a:solidFill>
            <a:srgbClr val="FFFFFF"/>
          </a:solidFill>
          <a:ln w="6350">
            <a:solidFill>
              <a:srgbClr val="C9D0D8"/>
            </a:solidFill>
            <a:prstDash val="solid"/>
          </a:ln>
        </p:spPr>
      </p:sp>
      <p:sp>
        <p:nvSpPr>
          <p:cNvPr id="240" name="Shape 238"/>
          <p:cNvSpPr/>
          <p:nvPr/>
        </p:nvSpPr>
        <p:spPr>
          <a:xfrm>
            <a:off x="10099548" y="2770632"/>
            <a:ext cx="105156" cy="82296"/>
          </a:xfrm>
          <a:prstGeom prst="rect">
            <a:avLst/>
          </a:prstGeom>
          <a:solidFill>
            <a:srgbClr val="FFFFFF"/>
          </a:solidFill>
          <a:ln w="6350">
            <a:solidFill>
              <a:srgbClr val="C9D0D8"/>
            </a:solidFill>
            <a:prstDash val="solid"/>
          </a:ln>
        </p:spPr>
      </p:sp>
      <p:sp>
        <p:nvSpPr>
          <p:cNvPr id="241" name="Shape 239"/>
          <p:cNvSpPr/>
          <p:nvPr/>
        </p:nvSpPr>
        <p:spPr>
          <a:xfrm>
            <a:off x="10099548" y="2670048"/>
            <a:ext cx="105156" cy="82296"/>
          </a:xfrm>
          <a:prstGeom prst="rect">
            <a:avLst/>
          </a:prstGeom>
          <a:solidFill>
            <a:srgbClr val="FFFFFF"/>
          </a:solidFill>
          <a:ln w="6350">
            <a:solidFill>
              <a:srgbClr val="C9D0D8"/>
            </a:solidFill>
            <a:prstDash val="solid"/>
          </a:ln>
        </p:spPr>
      </p:sp>
      <p:sp>
        <p:nvSpPr>
          <p:cNvPr id="242" name="Shape 240"/>
          <p:cNvSpPr/>
          <p:nvPr/>
        </p:nvSpPr>
        <p:spPr>
          <a:xfrm>
            <a:off x="10222992" y="3172968"/>
            <a:ext cx="105156" cy="82296"/>
          </a:xfrm>
          <a:prstGeom prst="rect">
            <a:avLst/>
          </a:prstGeom>
          <a:solidFill>
            <a:srgbClr val="E8934D"/>
          </a:solidFill>
          <a:ln w="6350">
            <a:solidFill>
              <a:srgbClr val="C9D0D8"/>
            </a:solidFill>
            <a:prstDash val="solid"/>
          </a:ln>
        </p:spPr>
      </p:sp>
      <p:sp>
        <p:nvSpPr>
          <p:cNvPr id="243" name="Shape 241"/>
          <p:cNvSpPr/>
          <p:nvPr/>
        </p:nvSpPr>
        <p:spPr>
          <a:xfrm>
            <a:off x="10222992" y="3072384"/>
            <a:ext cx="105156" cy="82296"/>
          </a:xfrm>
          <a:prstGeom prst="rect">
            <a:avLst/>
          </a:prstGeom>
          <a:solidFill>
            <a:srgbClr val="E8934D"/>
          </a:solidFill>
          <a:ln w="6350">
            <a:solidFill>
              <a:srgbClr val="C9D0D8"/>
            </a:solidFill>
            <a:prstDash val="solid"/>
          </a:ln>
        </p:spPr>
      </p:sp>
      <p:sp>
        <p:nvSpPr>
          <p:cNvPr id="244" name="Shape 242"/>
          <p:cNvSpPr/>
          <p:nvPr/>
        </p:nvSpPr>
        <p:spPr>
          <a:xfrm>
            <a:off x="10222992" y="2971800"/>
            <a:ext cx="105156" cy="82296"/>
          </a:xfrm>
          <a:prstGeom prst="rect">
            <a:avLst/>
          </a:prstGeom>
          <a:solidFill>
            <a:srgbClr val="FFFFFF"/>
          </a:solidFill>
          <a:ln w="6350">
            <a:solidFill>
              <a:srgbClr val="C9D0D8"/>
            </a:solidFill>
            <a:prstDash val="solid"/>
          </a:ln>
        </p:spPr>
      </p:sp>
      <p:sp>
        <p:nvSpPr>
          <p:cNvPr id="245" name="Shape 243"/>
          <p:cNvSpPr/>
          <p:nvPr/>
        </p:nvSpPr>
        <p:spPr>
          <a:xfrm>
            <a:off x="10222992" y="2871216"/>
            <a:ext cx="105156" cy="82296"/>
          </a:xfrm>
          <a:prstGeom prst="rect">
            <a:avLst/>
          </a:prstGeom>
          <a:solidFill>
            <a:srgbClr val="FFFFFF"/>
          </a:solidFill>
          <a:ln w="6350">
            <a:solidFill>
              <a:srgbClr val="C9D0D8"/>
            </a:solidFill>
            <a:prstDash val="solid"/>
          </a:ln>
        </p:spPr>
      </p:sp>
      <p:sp>
        <p:nvSpPr>
          <p:cNvPr id="246" name="Shape 244"/>
          <p:cNvSpPr/>
          <p:nvPr/>
        </p:nvSpPr>
        <p:spPr>
          <a:xfrm>
            <a:off x="10222992" y="2770632"/>
            <a:ext cx="105156" cy="82296"/>
          </a:xfrm>
          <a:prstGeom prst="rect">
            <a:avLst/>
          </a:prstGeom>
          <a:solidFill>
            <a:srgbClr val="FFFFFF"/>
          </a:solidFill>
          <a:ln w="6350">
            <a:solidFill>
              <a:srgbClr val="C9D0D8"/>
            </a:solidFill>
            <a:prstDash val="solid"/>
          </a:ln>
        </p:spPr>
      </p:sp>
      <p:sp>
        <p:nvSpPr>
          <p:cNvPr id="247" name="Shape 245"/>
          <p:cNvSpPr/>
          <p:nvPr/>
        </p:nvSpPr>
        <p:spPr>
          <a:xfrm>
            <a:off x="10222992" y="2670048"/>
            <a:ext cx="105156" cy="82296"/>
          </a:xfrm>
          <a:prstGeom prst="rect">
            <a:avLst/>
          </a:prstGeom>
          <a:solidFill>
            <a:srgbClr val="FFFFFF"/>
          </a:solidFill>
          <a:ln w="6350">
            <a:solidFill>
              <a:srgbClr val="C9D0D8"/>
            </a:solidFill>
            <a:prstDash val="solid"/>
          </a:ln>
        </p:spPr>
      </p:sp>
      <p:sp>
        <p:nvSpPr>
          <p:cNvPr id="248" name="Shape 246"/>
          <p:cNvSpPr/>
          <p:nvPr/>
        </p:nvSpPr>
        <p:spPr>
          <a:xfrm>
            <a:off x="10346436" y="3172968"/>
            <a:ext cx="105156" cy="82296"/>
          </a:xfrm>
          <a:prstGeom prst="rect">
            <a:avLst/>
          </a:prstGeom>
          <a:solidFill>
            <a:srgbClr val="FFFFFF"/>
          </a:solidFill>
          <a:ln w="6350">
            <a:solidFill>
              <a:srgbClr val="C9D0D8"/>
            </a:solidFill>
            <a:prstDash val="solid"/>
          </a:ln>
        </p:spPr>
      </p:sp>
      <p:sp>
        <p:nvSpPr>
          <p:cNvPr id="249" name="Shape 247"/>
          <p:cNvSpPr/>
          <p:nvPr/>
        </p:nvSpPr>
        <p:spPr>
          <a:xfrm>
            <a:off x="10346436" y="3072384"/>
            <a:ext cx="105156" cy="82296"/>
          </a:xfrm>
          <a:prstGeom prst="rect">
            <a:avLst/>
          </a:prstGeom>
          <a:solidFill>
            <a:srgbClr val="FFFFFF"/>
          </a:solidFill>
          <a:ln w="6350">
            <a:solidFill>
              <a:srgbClr val="C9D0D8"/>
            </a:solidFill>
            <a:prstDash val="solid"/>
          </a:ln>
        </p:spPr>
      </p:sp>
      <p:sp>
        <p:nvSpPr>
          <p:cNvPr id="250" name="Shape 248"/>
          <p:cNvSpPr/>
          <p:nvPr/>
        </p:nvSpPr>
        <p:spPr>
          <a:xfrm>
            <a:off x="10346436" y="2971800"/>
            <a:ext cx="105156" cy="82296"/>
          </a:xfrm>
          <a:prstGeom prst="rect">
            <a:avLst/>
          </a:prstGeom>
          <a:solidFill>
            <a:srgbClr val="FFFFFF"/>
          </a:solidFill>
          <a:ln w="6350">
            <a:solidFill>
              <a:srgbClr val="C9D0D8"/>
            </a:solidFill>
            <a:prstDash val="solid"/>
          </a:ln>
        </p:spPr>
      </p:sp>
      <p:sp>
        <p:nvSpPr>
          <p:cNvPr id="251" name="Shape 249"/>
          <p:cNvSpPr/>
          <p:nvPr/>
        </p:nvSpPr>
        <p:spPr>
          <a:xfrm>
            <a:off x="10346436" y="2871216"/>
            <a:ext cx="105156" cy="82296"/>
          </a:xfrm>
          <a:prstGeom prst="rect">
            <a:avLst/>
          </a:prstGeom>
          <a:solidFill>
            <a:srgbClr val="FFFFFF"/>
          </a:solidFill>
          <a:ln w="6350">
            <a:solidFill>
              <a:srgbClr val="C9D0D8"/>
            </a:solidFill>
            <a:prstDash val="solid"/>
          </a:ln>
        </p:spPr>
      </p:sp>
      <p:sp>
        <p:nvSpPr>
          <p:cNvPr id="252" name="Shape 250"/>
          <p:cNvSpPr/>
          <p:nvPr/>
        </p:nvSpPr>
        <p:spPr>
          <a:xfrm>
            <a:off x="10346436" y="2770632"/>
            <a:ext cx="105156" cy="82296"/>
          </a:xfrm>
          <a:prstGeom prst="rect">
            <a:avLst/>
          </a:prstGeom>
          <a:solidFill>
            <a:srgbClr val="FFFFFF"/>
          </a:solidFill>
          <a:ln w="6350">
            <a:solidFill>
              <a:srgbClr val="C9D0D8"/>
            </a:solidFill>
            <a:prstDash val="solid"/>
          </a:ln>
        </p:spPr>
      </p:sp>
      <p:sp>
        <p:nvSpPr>
          <p:cNvPr id="253" name="Shape 251"/>
          <p:cNvSpPr/>
          <p:nvPr/>
        </p:nvSpPr>
        <p:spPr>
          <a:xfrm>
            <a:off x="10346436" y="2670048"/>
            <a:ext cx="105156" cy="82296"/>
          </a:xfrm>
          <a:prstGeom prst="rect">
            <a:avLst/>
          </a:prstGeom>
          <a:solidFill>
            <a:srgbClr val="FFFFFF"/>
          </a:solidFill>
          <a:ln w="6350">
            <a:solidFill>
              <a:srgbClr val="C9D0D8"/>
            </a:solidFill>
            <a:prstDash val="solid"/>
          </a:ln>
        </p:spPr>
      </p:sp>
      <p:sp>
        <p:nvSpPr>
          <p:cNvPr id="254" name="Shape 252"/>
          <p:cNvSpPr/>
          <p:nvPr/>
        </p:nvSpPr>
        <p:spPr>
          <a:xfrm>
            <a:off x="10469880" y="3172968"/>
            <a:ext cx="105156" cy="82296"/>
          </a:xfrm>
          <a:prstGeom prst="rect">
            <a:avLst/>
          </a:prstGeom>
          <a:solidFill>
            <a:srgbClr val="FFFFFF"/>
          </a:solidFill>
          <a:ln w="6350">
            <a:solidFill>
              <a:srgbClr val="C9D0D8"/>
            </a:solidFill>
            <a:prstDash val="solid"/>
          </a:ln>
        </p:spPr>
      </p:sp>
      <p:sp>
        <p:nvSpPr>
          <p:cNvPr id="255" name="Shape 253"/>
          <p:cNvSpPr/>
          <p:nvPr/>
        </p:nvSpPr>
        <p:spPr>
          <a:xfrm>
            <a:off x="10469880" y="3072384"/>
            <a:ext cx="105156" cy="82296"/>
          </a:xfrm>
          <a:prstGeom prst="rect">
            <a:avLst/>
          </a:prstGeom>
          <a:solidFill>
            <a:srgbClr val="FFFFFF"/>
          </a:solidFill>
          <a:ln w="6350">
            <a:solidFill>
              <a:srgbClr val="C9D0D8"/>
            </a:solidFill>
            <a:prstDash val="solid"/>
          </a:ln>
        </p:spPr>
      </p:sp>
      <p:sp>
        <p:nvSpPr>
          <p:cNvPr id="256" name="Shape 254"/>
          <p:cNvSpPr/>
          <p:nvPr/>
        </p:nvSpPr>
        <p:spPr>
          <a:xfrm>
            <a:off x="10469880" y="2971800"/>
            <a:ext cx="105156" cy="82296"/>
          </a:xfrm>
          <a:prstGeom prst="rect">
            <a:avLst/>
          </a:prstGeom>
          <a:solidFill>
            <a:srgbClr val="FFFFFF"/>
          </a:solidFill>
          <a:ln w="6350">
            <a:solidFill>
              <a:srgbClr val="C9D0D8"/>
            </a:solidFill>
            <a:prstDash val="solid"/>
          </a:ln>
        </p:spPr>
      </p:sp>
      <p:sp>
        <p:nvSpPr>
          <p:cNvPr id="257" name="Shape 255"/>
          <p:cNvSpPr/>
          <p:nvPr/>
        </p:nvSpPr>
        <p:spPr>
          <a:xfrm>
            <a:off x="10469880" y="2871216"/>
            <a:ext cx="105156" cy="82296"/>
          </a:xfrm>
          <a:prstGeom prst="rect">
            <a:avLst/>
          </a:prstGeom>
          <a:solidFill>
            <a:srgbClr val="FFFFFF"/>
          </a:solidFill>
          <a:ln w="6350">
            <a:solidFill>
              <a:srgbClr val="C9D0D8"/>
            </a:solidFill>
            <a:prstDash val="solid"/>
          </a:ln>
        </p:spPr>
      </p:sp>
      <p:sp>
        <p:nvSpPr>
          <p:cNvPr id="258" name="Shape 256"/>
          <p:cNvSpPr/>
          <p:nvPr/>
        </p:nvSpPr>
        <p:spPr>
          <a:xfrm>
            <a:off x="10469880" y="2770632"/>
            <a:ext cx="105156" cy="82296"/>
          </a:xfrm>
          <a:prstGeom prst="rect">
            <a:avLst/>
          </a:prstGeom>
          <a:solidFill>
            <a:srgbClr val="FFFFFF"/>
          </a:solidFill>
          <a:ln w="6350">
            <a:solidFill>
              <a:srgbClr val="C9D0D8"/>
            </a:solidFill>
            <a:prstDash val="solid"/>
          </a:ln>
        </p:spPr>
      </p:sp>
      <p:sp>
        <p:nvSpPr>
          <p:cNvPr id="259" name="Shape 257"/>
          <p:cNvSpPr/>
          <p:nvPr/>
        </p:nvSpPr>
        <p:spPr>
          <a:xfrm>
            <a:off x="10469880" y="2670048"/>
            <a:ext cx="105156" cy="82296"/>
          </a:xfrm>
          <a:prstGeom prst="rect">
            <a:avLst/>
          </a:prstGeom>
          <a:solidFill>
            <a:srgbClr val="FFFFFF"/>
          </a:solidFill>
          <a:ln w="6350">
            <a:solidFill>
              <a:srgbClr val="C9D0D8"/>
            </a:solidFill>
            <a:prstDash val="solid"/>
          </a:ln>
        </p:spPr>
      </p:sp>
      <p:sp>
        <p:nvSpPr>
          <p:cNvPr id="260" name="Shape 258"/>
          <p:cNvSpPr/>
          <p:nvPr/>
        </p:nvSpPr>
        <p:spPr>
          <a:xfrm>
            <a:off x="10593324" y="3172968"/>
            <a:ext cx="105156" cy="82296"/>
          </a:xfrm>
          <a:prstGeom prst="rect">
            <a:avLst/>
          </a:prstGeom>
          <a:solidFill>
            <a:srgbClr val="FFFFFF"/>
          </a:solidFill>
          <a:ln w="6350">
            <a:solidFill>
              <a:srgbClr val="C9D0D8"/>
            </a:solidFill>
            <a:prstDash val="solid"/>
          </a:ln>
        </p:spPr>
      </p:sp>
      <p:sp>
        <p:nvSpPr>
          <p:cNvPr id="261" name="Shape 259"/>
          <p:cNvSpPr/>
          <p:nvPr/>
        </p:nvSpPr>
        <p:spPr>
          <a:xfrm>
            <a:off x="10593324" y="3072384"/>
            <a:ext cx="105156" cy="82296"/>
          </a:xfrm>
          <a:prstGeom prst="rect">
            <a:avLst/>
          </a:prstGeom>
          <a:solidFill>
            <a:srgbClr val="FFFFFF"/>
          </a:solidFill>
          <a:ln w="6350">
            <a:solidFill>
              <a:srgbClr val="C9D0D8"/>
            </a:solidFill>
            <a:prstDash val="solid"/>
          </a:ln>
        </p:spPr>
      </p:sp>
      <p:sp>
        <p:nvSpPr>
          <p:cNvPr id="262" name="Shape 260"/>
          <p:cNvSpPr/>
          <p:nvPr/>
        </p:nvSpPr>
        <p:spPr>
          <a:xfrm>
            <a:off x="10593324" y="2971800"/>
            <a:ext cx="105156" cy="82296"/>
          </a:xfrm>
          <a:prstGeom prst="rect">
            <a:avLst/>
          </a:prstGeom>
          <a:solidFill>
            <a:srgbClr val="FFFFFF"/>
          </a:solidFill>
          <a:ln w="6350">
            <a:solidFill>
              <a:srgbClr val="C9D0D8"/>
            </a:solidFill>
            <a:prstDash val="solid"/>
          </a:ln>
        </p:spPr>
      </p:sp>
      <p:sp>
        <p:nvSpPr>
          <p:cNvPr id="263" name="Shape 261"/>
          <p:cNvSpPr/>
          <p:nvPr/>
        </p:nvSpPr>
        <p:spPr>
          <a:xfrm>
            <a:off x="10593324" y="2871216"/>
            <a:ext cx="105156" cy="82296"/>
          </a:xfrm>
          <a:prstGeom prst="rect">
            <a:avLst/>
          </a:prstGeom>
          <a:solidFill>
            <a:srgbClr val="FFFFFF"/>
          </a:solidFill>
          <a:ln w="6350">
            <a:solidFill>
              <a:srgbClr val="C9D0D8"/>
            </a:solidFill>
            <a:prstDash val="solid"/>
          </a:ln>
        </p:spPr>
      </p:sp>
      <p:sp>
        <p:nvSpPr>
          <p:cNvPr id="264" name="Shape 262"/>
          <p:cNvSpPr/>
          <p:nvPr/>
        </p:nvSpPr>
        <p:spPr>
          <a:xfrm>
            <a:off x="10593324" y="2770632"/>
            <a:ext cx="105156" cy="82296"/>
          </a:xfrm>
          <a:prstGeom prst="rect">
            <a:avLst/>
          </a:prstGeom>
          <a:solidFill>
            <a:srgbClr val="FFFFFF"/>
          </a:solidFill>
          <a:ln w="6350">
            <a:solidFill>
              <a:srgbClr val="C9D0D8"/>
            </a:solidFill>
            <a:prstDash val="solid"/>
          </a:ln>
        </p:spPr>
      </p:sp>
      <p:sp>
        <p:nvSpPr>
          <p:cNvPr id="265" name="Shape 263"/>
          <p:cNvSpPr/>
          <p:nvPr/>
        </p:nvSpPr>
        <p:spPr>
          <a:xfrm>
            <a:off x="10593324" y="2670048"/>
            <a:ext cx="105156" cy="82296"/>
          </a:xfrm>
          <a:prstGeom prst="rect">
            <a:avLst/>
          </a:prstGeom>
          <a:solidFill>
            <a:srgbClr val="FFFFFF"/>
          </a:solidFill>
          <a:ln w="6350">
            <a:solidFill>
              <a:srgbClr val="C9D0D8"/>
            </a:solidFill>
            <a:prstDash val="solid"/>
          </a:ln>
        </p:spPr>
      </p:sp>
      <p:sp>
        <p:nvSpPr>
          <p:cNvPr id="266" name="Text 264"/>
          <p:cNvSpPr txBox="1"/>
          <p:nvPr/>
        </p:nvSpPr>
        <p:spPr>
          <a:xfrm>
            <a:off x="10789920" y="2834640"/>
            <a:ext cx="868680" cy="237744"/>
          </a:xfrm>
          <a:prstGeom prst="rect">
            <a:avLst/>
          </a:prstGeom>
          <a:noFill/>
          <a:ln/>
        </p:spPr>
        <p:txBody>
          <a:bodyPr wrap="square" lIns="508" tIns="508" rIns="508" bIns="508" rtlCol="0" anchor="t"/>
          <a:lstStyle/>
          <a:p>
            <a:pPr algn="r" indent="0" marL="0">
              <a:buNone/>
            </a:pPr>
            <a:r>
              <a:rPr lang="en-US" sz="950" b="1" dirty="0">
                <a:solidFill>
                  <a:srgbClr val="C56A2C"/>
                </a:solidFill>
                <a:latin typeface="Yu Gothic" pitchFamily="34" charset="0"/>
                <a:ea typeface="Yu Gothic" pitchFamily="34" charset="-122"/>
                <a:cs typeface="Yu Gothic" pitchFamily="34" charset="-120"/>
              </a:rPr>
              <a:t>12マス</a:t>
            </a:r>
            <a:endParaRPr lang="en-US" sz="950" dirty="0"/>
          </a:p>
        </p:txBody>
      </p:sp>
      <p:sp>
        <p:nvSpPr>
          <p:cNvPr id="267" name="Text 265"/>
          <p:cNvSpPr txBox="1"/>
          <p:nvPr/>
        </p:nvSpPr>
        <p:spPr>
          <a:xfrm>
            <a:off x="6949440" y="3657600"/>
            <a:ext cx="868680" cy="237744"/>
          </a:xfrm>
          <a:prstGeom prst="rect">
            <a:avLst/>
          </a:prstGeom>
          <a:noFill/>
          <a:ln/>
        </p:spPr>
        <p:txBody>
          <a:bodyPr wrap="square" lIns="508" tIns="508" rIns="508" bIns="508" rtlCol="0" anchor="t"/>
          <a:lstStyle/>
          <a:p>
            <a:pPr indent="0" marL="0">
              <a:buNone/>
            </a:pPr>
            <a:r>
              <a:rPr lang="en-US" sz="950" b="1" dirty="0">
                <a:solidFill>
                  <a:srgbClr val="1B2A44"/>
                </a:solidFill>
                <a:latin typeface="Yu Gothic" pitchFamily="34" charset="0"/>
                <a:ea typeface="Yu Gothic" pitchFamily="34" charset="-122"/>
                <a:cs typeface="Yu Gothic" pitchFamily="34" charset="-120"/>
              </a:rPr>
              <a:t>南＋南東</a:t>
            </a:r>
            <a:endParaRPr lang="en-US" sz="950" dirty="0"/>
          </a:p>
        </p:txBody>
      </p:sp>
      <p:sp>
        <p:nvSpPr>
          <p:cNvPr id="268" name="Shape 266"/>
          <p:cNvSpPr/>
          <p:nvPr/>
        </p:nvSpPr>
        <p:spPr>
          <a:xfrm>
            <a:off x="7818120" y="3429000"/>
            <a:ext cx="868680" cy="640080"/>
          </a:xfrm>
          <a:prstGeom prst="roundRect">
            <a:avLst>
              <a:gd name="adj" fmla="val 5714"/>
            </a:avLst>
          </a:prstGeom>
          <a:solidFill>
            <a:srgbClr val="F3F5F8"/>
          </a:solidFill>
          <a:ln/>
        </p:spPr>
      </p:sp>
      <p:sp>
        <p:nvSpPr>
          <p:cNvPr id="269" name="Shape 267"/>
          <p:cNvSpPr/>
          <p:nvPr/>
        </p:nvSpPr>
        <p:spPr>
          <a:xfrm>
            <a:off x="8126730" y="3794760"/>
            <a:ext cx="205740" cy="205740"/>
          </a:xfrm>
          <a:prstGeom prst="rect">
            <a:avLst/>
          </a:prstGeom>
          <a:solidFill>
            <a:srgbClr val="1B2A44"/>
          </a:solidFill>
          <a:ln/>
        </p:spPr>
      </p:sp>
      <p:sp>
        <p:nvSpPr>
          <p:cNvPr id="270" name="Shape 268"/>
          <p:cNvSpPr/>
          <p:nvPr/>
        </p:nvSpPr>
        <p:spPr>
          <a:xfrm>
            <a:off x="8126730" y="3486150"/>
            <a:ext cx="205740" cy="205740"/>
          </a:xfrm>
          <a:prstGeom prst="rect">
            <a:avLst/>
          </a:prstGeom>
          <a:solidFill>
            <a:srgbClr val="E8934D"/>
          </a:solidFill>
          <a:ln/>
        </p:spPr>
      </p:sp>
      <p:sp>
        <p:nvSpPr>
          <p:cNvPr id="271" name="Shape 269"/>
          <p:cNvSpPr/>
          <p:nvPr/>
        </p:nvSpPr>
        <p:spPr>
          <a:xfrm>
            <a:off x="7838694" y="3486150"/>
            <a:ext cx="205740" cy="205740"/>
          </a:xfrm>
          <a:prstGeom prst="rect">
            <a:avLst/>
          </a:prstGeom>
          <a:solidFill>
            <a:srgbClr val="1F6F78"/>
          </a:solidFill>
          <a:ln/>
        </p:spPr>
      </p:sp>
      <p:sp>
        <p:nvSpPr>
          <p:cNvPr id="272" name="Text 270"/>
          <p:cNvSpPr txBox="1"/>
          <p:nvPr/>
        </p:nvSpPr>
        <p:spPr>
          <a:xfrm>
            <a:off x="8915400" y="3611880"/>
            <a:ext cx="274320" cy="274320"/>
          </a:xfrm>
          <a:prstGeom prst="rect">
            <a:avLst/>
          </a:prstGeom>
          <a:noFill/>
          <a:ln/>
        </p:spPr>
        <p:txBody>
          <a:bodyPr wrap="square" lIns="0" tIns="0" rIns="0" bIns="0" rtlCol="0" anchor="t"/>
          <a:lstStyle/>
          <a:p>
            <a:pPr algn="ctr" indent="0" marL="0">
              <a:buNone/>
            </a:pPr>
            <a:r>
              <a:rPr lang="en-US" sz="1200" b="1" dirty="0">
                <a:solidFill>
                  <a:srgbClr val="E8934D"/>
                </a:solidFill>
                <a:latin typeface="Yu Gothic" pitchFamily="34" charset="0"/>
                <a:ea typeface="Yu Gothic" pitchFamily="34" charset="-122"/>
                <a:cs typeface="Yu Gothic" pitchFamily="34" charset="-120"/>
              </a:rPr>
              <a:t>→</a:t>
            </a:r>
            <a:endParaRPr lang="en-US" sz="1200" dirty="0"/>
          </a:p>
        </p:txBody>
      </p:sp>
      <p:sp>
        <p:nvSpPr>
          <p:cNvPr id="273" name="Shape 271"/>
          <p:cNvSpPr/>
          <p:nvPr/>
        </p:nvSpPr>
        <p:spPr>
          <a:xfrm>
            <a:off x="9235440" y="3950208"/>
            <a:ext cx="105156" cy="82296"/>
          </a:xfrm>
          <a:prstGeom prst="rect">
            <a:avLst/>
          </a:prstGeom>
          <a:solidFill>
            <a:srgbClr val="FFFFFF"/>
          </a:solidFill>
          <a:ln w="6350">
            <a:solidFill>
              <a:srgbClr val="C9D0D8"/>
            </a:solidFill>
            <a:prstDash val="solid"/>
          </a:ln>
        </p:spPr>
      </p:sp>
      <p:sp>
        <p:nvSpPr>
          <p:cNvPr id="274" name="Shape 272"/>
          <p:cNvSpPr/>
          <p:nvPr/>
        </p:nvSpPr>
        <p:spPr>
          <a:xfrm>
            <a:off x="9235440" y="3849624"/>
            <a:ext cx="105156" cy="82296"/>
          </a:xfrm>
          <a:prstGeom prst="rect">
            <a:avLst/>
          </a:prstGeom>
          <a:solidFill>
            <a:srgbClr val="FFFFFF"/>
          </a:solidFill>
          <a:ln w="6350">
            <a:solidFill>
              <a:srgbClr val="C9D0D8"/>
            </a:solidFill>
            <a:prstDash val="solid"/>
          </a:ln>
        </p:spPr>
      </p:sp>
      <p:sp>
        <p:nvSpPr>
          <p:cNvPr id="275" name="Shape 273"/>
          <p:cNvSpPr/>
          <p:nvPr/>
        </p:nvSpPr>
        <p:spPr>
          <a:xfrm>
            <a:off x="9235440" y="3749040"/>
            <a:ext cx="105156" cy="82296"/>
          </a:xfrm>
          <a:prstGeom prst="rect">
            <a:avLst/>
          </a:prstGeom>
          <a:solidFill>
            <a:srgbClr val="FFFFFF"/>
          </a:solidFill>
          <a:ln w="6350">
            <a:solidFill>
              <a:srgbClr val="C9D0D8"/>
            </a:solidFill>
            <a:prstDash val="solid"/>
          </a:ln>
        </p:spPr>
      </p:sp>
      <p:sp>
        <p:nvSpPr>
          <p:cNvPr id="276" name="Shape 274"/>
          <p:cNvSpPr/>
          <p:nvPr/>
        </p:nvSpPr>
        <p:spPr>
          <a:xfrm>
            <a:off x="9235440" y="3648456"/>
            <a:ext cx="105156" cy="82296"/>
          </a:xfrm>
          <a:prstGeom prst="rect">
            <a:avLst/>
          </a:prstGeom>
          <a:solidFill>
            <a:srgbClr val="FFFFFF"/>
          </a:solidFill>
          <a:ln w="6350">
            <a:solidFill>
              <a:srgbClr val="C9D0D8"/>
            </a:solidFill>
            <a:prstDash val="solid"/>
          </a:ln>
        </p:spPr>
      </p:sp>
      <p:sp>
        <p:nvSpPr>
          <p:cNvPr id="277" name="Shape 275"/>
          <p:cNvSpPr/>
          <p:nvPr/>
        </p:nvSpPr>
        <p:spPr>
          <a:xfrm>
            <a:off x="9235440" y="3547872"/>
            <a:ext cx="105156" cy="82296"/>
          </a:xfrm>
          <a:prstGeom prst="rect">
            <a:avLst/>
          </a:prstGeom>
          <a:solidFill>
            <a:srgbClr val="FFFFFF"/>
          </a:solidFill>
          <a:ln w="6350">
            <a:solidFill>
              <a:srgbClr val="C9D0D8"/>
            </a:solidFill>
            <a:prstDash val="solid"/>
          </a:ln>
        </p:spPr>
      </p:sp>
      <p:sp>
        <p:nvSpPr>
          <p:cNvPr id="278" name="Shape 276"/>
          <p:cNvSpPr/>
          <p:nvPr/>
        </p:nvSpPr>
        <p:spPr>
          <a:xfrm>
            <a:off x="9235440" y="3447288"/>
            <a:ext cx="105156" cy="82296"/>
          </a:xfrm>
          <a:prstGeom prst="rect">
            <a:avLst/>
          </a:prstGeom>
          <a:solidFill>
            <a:srgbClr val="FFFFFF"/>
          </a:solidFill>
          <a:ln w="6350">
            <a:solidFill>
              <a:srgbClr val="C9D0D8"/>
            </a:solidFill>
            <a:prstDash val="solid"/>
          </a:ln>
        </p:spPr>
      </p:sp>
      <p:sp>
        <p:nvSpPr>
          <p:cNvPr id="279" name="Shape 277"/>
          <p:cNvSpPr/>
          <p:nvPr/>
        </p:nvSpPr>
        <p:spPr>
          <a:xfrm>
            <a:off x="9358884" y="3950208"/>
            <a:ext cx="105156" cy="82296"/>
          </a:xfrm>
          <a:prstGeom prst="rect">
            <a:avLst/>
          </a:prstGeom>
          <a:solidFill>
            <a:srgbClr val="1F6F78"/>
          </a:solidFill>
          <a:ln w="6350">
            <a:solidFill>
              <a:srgbClr val="C9D0D8"/>
            </a:solidFill>
            <a:prstDash val="solid"/>
          </a:ln>
        </p:spPr>
      </p:sp>
      <p:sp>
        <p:nvSpPr>
          <p:cNvPr id="280" name="Shape 278"/>
          <p:cNvSpPr/>
          <p:nvPr/>
        </p:nvSpPr>
        <p:spPr>
          <a:xfrm>
            <a:off x="9358884" y="3849624"/>
            <a:ext cx="105156" cy="82296"/>
          </a:xfrm>
          <a:prstGeom prst="rect">
            <a:avLst/>
          </a:prstGeom>
          <a:solidFill>
            <a:srgbClr val="FFFFFF"/>
          </a:solidFill>
          <a:ln w="6350">
            <a:solidFill>
              <a:srgbClr val="C9D0D8"/>
            </a:solidFill>
            <a:prstDash val="solid"/>
          </a:ln>
        </p:spPr>
      </p:sp>
      <p:sp>
        <p:nvSpPr>
          <p:cNvPr id="281" name="Shape 279"/>
          <p:cNvSpPr/>
          <p:nvPr/>
        </p:nvSpPr>
        <p:spPr>
          <a:xfrm>
            <a:off x="9358884" y="3749040"/>
            <a:ext cx="105156" cy="82296"/>
          </a:xfrm>
          <a:prstGeom prst="rect">
            <a:avLst/>
          </a:prstGeom>
          <a:solidFill>
            <a:srgbClr val="FFFFFF"/>
          </a:solidFill>
          <a:ln w="6350">
            <a:solidFill>
              <a:srgbClr val="C9D0D8"/>
            </a:solidFill>
            <a:prstDash val="solid"/>
          </a:ln>
        </p:spPr>
      </p:sp>
      <p:sp>
        <p:nvSpPr>
          <p:cNvPr id="282" name="Shape 280"/>
          <p:cNvSpPr/>
          <p:nvPr/>
        </p:nvSpPr>
        <p:spPr>
          <a:xfrm>
            <a:off x="9358884" y="3648456"/>
            <a:ext cx="105156" cy="82296"/>
          </a:xfrm>
          <a:prstGeom prst="rect">
            <a:avLst/>
          </a:prstGeom>
          <a:solidFill>
            <a:srgbClr val="FFFFFF"/>
          </a:solidFill>
          <a:ln w="6350">
            <a:solidFill>
              <a:srgbClr val="C9D0D8"/>
            </a:solidFill>
            <a:prstDash val="solid"/>
          </a:ln>
        </p:spPr>
      </p:sp>
      <p:sp>
        <p:nvSpPr>
          <p:cNvPr id="283" name="Shape 281"/>
          <p:cNvSpPr/>
          <p:nvPr/>
        </p:nvSpPr>
        <p:spPr>
          <a:xfrm>
            <a:off x="9358884" y="3547872"/>
            <a:ext cx="105156" cy="82296"/>
          </a:xfrm>
          <a:prstGeom prst="rect">
            <a:avLst/>
          </a:prstGeom>
          <a:solidFill>
            <a:srgbClr val="FFFFFF"/>
          </a:solidFill>
          <a:ln w="6350">
            <a:solidFill>
              <a:srgbClr val="C9D0D8"/>
            </a:solidFill>
            <a:prstDash val="solid"/>
          </a:ln>
        </p:spPr>
      </p:sp>
      <p:sp>
        <p:nvSpPr>
          <p:cNvPr id="284" name="Shape 282"/>
          <p:cNvSpPr/>
          <p:nvPr/>
        </p:nvSpPr>
        <p:spPr>
          <a:xfrm>
            <a:off x="9358884" y="3447288"/>
            <a:ext cx="105156" cy="82296"/>
          </a:xfrm>
          <a:prstGeom prst="rect">
            <a:avLst/>
          </a:prstGeom>
          <a:solidFill>
            <a:srgbClr val="FFFFFF"/>
          </a:solidFill>
          <a:ln w="6350">
            <a:solidFill>
              <a:srgbClr val="C9D0D8"/>
            </a:solidFill>
            <a:prstDash val="solid"/>
          </a:ln>
        </p:spPr>
      </p:sp>
      <p:sp>
        <p:nvSpPr>
          <p:cNvPr id="285" name="Shape 283"/>
          <p:cNvSpPr/>
          <p:nvPr/>
        </p:nvSpPr>
        <p:spPr>
          <a:xfrm>
            <a:off x="9482328" y="3950208"/>
            <a:ext cx="105156" cy="82296"/>
          </a:xfrm>
          <a:prstGeom prst="rect">
            <a:avLst/>
          </a:prstGeom>
          <a:solidFill>
            <a:srgbClr val="1F6F78"/>
          </a:solidFill>
          <a:ln w="6350">
            <a:solidFill>
              <a:srgbClr val="C9D0D8"/>
            </a:solidFill>
            <a:prstDash val="solid"/>
          </a:ln>
        </p:spPr>
      </p:sp>
      <p:sp>
        <p:nvSpPr>
          <p:cNvPr id="286" name="Shape 284"/>
          <p:cNvSpPr/>
          <p:nvPr/>
        </p:nvSpPr>
        <p:spPr>
          <a:xfrm>
            <a:off x="9482328" y="3849624"/>
            <a:ext cx="105156" cy="82296"/>
          </a:xfrm>
          <a:prstGeom prst="rect">
            <a:avLst/>
          </a:prstGeom>
          <a:solidFill>
            <a:srgbClr val="FFFFFF"/>
          </a:solidFill>
          <a:ln w="6350">
            <a:solidFill>
              <a:srgbClr val="C9D0D8"/>
            </a:solidFill>
            <a:prstDash val="solid"/>
          </a:ln>
        </p:spPr>
      </p:sp>
      <p:sp>
        <p:nvSpPr>
          <p:cNvPr id="287" name="Shape 285"/>
          <p:cNvSpPr/>
          <p:nvPr/>
        </p:nvSpPr>
        <p:spPr>
          <a:xfrm>
            <a:off x="9482328" y="3749040"/>
            <a:ext cx="105156" cy="82296"/>
          </a:xfrm>
          <a:prstGeom prst="rect">
            <a:avLst/>
          </a:prstGeom>
          <a:solidFill>
            <a:srgbClr val="FFFFFF"/>
          </a:solidFill>
          <a:ln w="6350">
            <a:solidFill>
              <a:srgbClr val="C9D0D8"/>
            </a:solidFill>
            <a:prstDash val="solid"/>
          </a:ln>
        </p:spPr>
      </p:sp>
      <p:sp>
        <p:nvSpPr>
          <p:cNvPr id="288" name="Shape 286"/>
          <p:cNvSpPr/>
          <p:nvPr/>
        </p:nvSpPr>
        <p:spPr>
          <a:xfrm>
            <a:off x="9482328" y="3648456"/>
            <a:ext cx="105156" cy="82296"/>
          </a:xfrm>
          <a:prstGeom prst="rect">
            <a:avLst/>
          </a:prstGeom>
          <a:solidFill>
            <a:srgbClr val="FFFFFF"/>
          </a:solidFill>
          <a:ln w="6350">
            <a:solidFill>
              <a:srgbClr val="C9D0D8"/>
            </a:solidFill>
            <a:prstDash val="solid"/>
          </a:ln>
        </p:spPr>
      </p:sp>
      <p:sp>
        <p:nvSpPr>
          <p:cNvPr id="289" name="Shape 287"/>
          <p:cNvSpPr/>
          <p:nvPr/>
        </p:nvSpPr>
        <p:spPr>
          <a:xfrm>
            <a:off x="9482328" y="3547872"/>
            <a:ext cx="105156" cy="82296"/>
          </a:xfrm>
          <a:prstGeom prst="rect">
            <a:avLst/>
          </a:prstGeom>
          <a:solidFill>
            <a:srgbClr val="FFFFFF"/>
          </a:solidFill>
          <a:ln w="6350">
            <a:solidFill>
              <a:srgbClr val="C9D0D8"/>
            </a:solidFill>
            <a:prstDash val="solid"/>
          </a:ln>
        </p:spPr>
      </p:sp>
      <p:sp>
        <p:nvSpPr>
          <p:cNvPr id="290" name="Shape 288"/>
          <p:cNvSpPr/>
          <p:nvPr/>
        </p:nvSpPr>
        <p:spPr>
          <a:xfrm>
            <a:off x="9482328" y="3447288"/>
            <a:ext cx="105156" cy="82296"/>
          </a:xfrm>
          <a:prstGeom prst="rect">
            <a:avLst/>
          </a:prstGeom>
          <a:solidFill>
            <a:srgbClr val="FFFFFF"/>
          </a:solidFill>
          <a:ln w="6350">
            <a:solidFill>
              <a:srgbClr val="C9D0D8"/>
            </a:solidFill>
            <a:prstDash val="solid"/>
          </a:ln>
        </p:spPr>
      </p:sp>
      <p:sp>
        <p:nvSpPr>
          <p:cNvPr id="291" name="Shape 289"/>
          <p:cNvSpPr/>
          <p:nvPr/>
        </p:nvSpPr>
        <p:spPr>
          <a:xfrm>
            <a:off x="9605772" y="3950208"/>
            <a:ext cx="105156" cy="82296"/>
          </a:xfrm>
          <a:prstGeom prst="rect">
            <a:avLst/>
          </a:prstGeom>
          <a:solidFill>
            <a:srgbClr val="B04A3F"/>
          </a:solidFill>
          <a:ln w="6350">
            <a:solidFill>
              <a:srgbClr val="C9D0D8"/>
            </a:solidFill>
            <a:prstDash val="solid"/>
          </a:ln>
        </p:spPr>
      </p:sp>
      <p:sp>
        <p:nvSpPr>
          <p:cNvPr id="292" name="Shape 290"/>
          <p:cNvSpPr/>
          <p:nvPr/>
        </p:nvSpPr>
        <p:spPr>
          <a:xfrm>
            <a:off x="9605772" y="3849624"/>
            <a:ext cx="105156" cy="82296"/>
          </a:xfrm>
          <a:prstGeom prst="rect">
            <a:avLst/>
          </a:prstGeom>
          <a:solidFill>
            <a:srgbClr val="E8934D"/>
          </a:solidFill>
          <a:ln w="6350">
            <a:solidFill>
              <a:srgbClr val="C9D0D8"/>
            </a:solidFill>
            <a:prstDash val="solid"/>
          </a:ln>
        </p:spPr>
      </p:sp>
      <p:sp>
        <p:nvSpPr>
          <p:cNvPr id="293" name="Shape 291"/>
          <p:cNvSpPr/>
          <p:nvPr/>
        </p:nvSpPr>
        <p:spPr>
          <a:xfrm>
            <a:off x="9605772" y="3749040"/>
            <a:ext cx="105156" cy="82296"/>
          </a:xfrm>
          <a:prstGeom prst="rect">
            <a:avLst/>
          </a:prstGeom>
          <a:solidFill>
            <a:srgbClr val="FFFFFF"/>
          </a:solidFill>
          <a:ln w="6350">
            <a:solidFill>
              <a:srgbClr val="C9D0D8"/>
            </a:solidFill>
            <a:prstDash val="solid"/>
          </a:ln>
        </p:spPr>
      </p:sp>
      <p:sp>
        <p:nvSpPr>
          <p:cNvPr id="294" name="Shape 292"/>
          <p:cNvSpPr/>
          <p:nvPr/>
        </p:nvSpPr>
        <p:spPr>
          <a:xfrm>
            <a:off x="9605772" y="3648456"/>
            <a:ext cx="105156" cy="82296"/>
          </a:xfrm>
          <a:prstGeom prst="rect">
            <a:avLst/>
          </a:prstGeom>
          <a:solidFill>
            <a:srgbClr val="FFFFFF"/>
          </a:solidFill>
          <a:ln w="6350">
            <a:solidFill>
              <a:srgbClr val="C9D0D8"/>
            </a:solidFill>
            <a:prstDash val="solid"/>
          </a:ln>
        </p:spPr>
      </p:sp>
      <p:sp>
        <p:nvSpPr>
          <p:cNvPr id="295" name="Shape 293"/>
          <p:cNvSpPr/>
          <p:nvPr/>
        </p:nvSpPr>
        <p:spPr>
          <a:xfrm>
            <a:off x="9605772" y="3547872"/>
            <a:ext cx="105156" cy="82296"/>
          </a:xfrm>
          <a:prstGeom prst="rect">
            <a:avLst/>
          </a:prstGeom>
          <a:solidFill>
            <a:srgbClr val="FFFFFF"/>
          </a:solidFill>
          <a:ln w="6350">
            <a:solidFill>
              <a:srgbClr val="C9D0D8"/>
            </a:solidFill>
            <a:prstDash val="solid"/>
          </a:ln>
        </p:spPr>
      </p:sp>
      <p:sp>
        <p:nvSpPr>
          <p:cNvPr id="296" name="Shape 294"/>
          <p:cNvSpPr/>
          <p:nvPr/>
        </p:nvSpPr>
        <p:spPr>
          <a:xfrm>
            <a:off x="9605772" y="3447288"/>
            <a:ext cx="105156" cy="82296"/>
          </a:xfrm>
          <a:prstGeom prst="rect">
            <a:avLst/>
          </a:prstGeom>
          <a:solidFill>
            <a:srgbClr val="FFFFFF"/>
          </a:solidFill>
          <a:ln w="6350">
            <a:solidFill>
              <a:srgbClr val="C9D0D8"/>
            </a:solidFill>
            <a:prstDash val="solid"/>
          </a:ln>
        </p:spPr>
      </p:sp>
      <p:sp>
        <p:nvSpPr>
          <p:cNvPr id="297" name="Shape 295"/>
          <p:cNvSpPr/>
          <p:nvPr/>
        </p:nvSpPr>
        <p:spPr>
          <a:xfrm>
            <a:off x="9729216" y="3950208"/>
            <a:ext cx="105156" cy="82296"/>
          </a:xfrm>
          <a:prstGeom prst="rect">
            <a:avLst/>
          </a:prstGeom>
          <a:solidFill>
            <a:srgbClr val="E8934D"/>
          </a:solidFill>
          <a:ln w="6350">
            <a:solidFill>
              <a:srgbClr val="C9D0D8"/>
            </a:solidFill>
            <a:prstDash val="solid"/>
          </a:ln>
        </p:spPr>
      </p:sp>
      <p:sp>
        <p:nvSpPr>
          <p:cNvPr id="298" name="Shape 296"/>
          <p:cNvSpPr/>
          <p:nvPr/>
        </p:nvSpPr>
        <p:spPr>
          <a:xfrm>
            <a:off x="9729216" y="3849624"/>
            <a:ext cx="105156" cy="82296"/>
          </a:xfrm>
          <a:prstGeom prst="rect">
            <a:avLst/>
          </a:prstGeom>
          <a:solidFill>
            <a:srgbClr val="E8934D"/>
          </a:solidFill>
          <a:ln w="6350">
            <a:solidFill>
              <a:srgbClr val="C9D0D8"/>
            </a:solidFill>
            <a:prstDash val="solid"/>
          </a:ln>
        </p:spPr>
      </p:sp>
      <p:sp>
        <p:nvSpPr>
          <p:cNvPr id="299" name="Shape 297"/>
          <p:cNvSpPr/>
          <p:nvPr/>
        </p:nvSpPr>
        <p:spPr>
          <a:xfrm>
            <a:off x="9729216" y="3749040"/>
            <a:ext cx="105156" cy="82296"/>
          </a:xfrm>
          <a:prstGeom prst="rect">
            <a:avLst/>
          </a:prstGeom>
          <a:solidFill>
            <a:srgbClr val="FFFFFF"/>
          </a:solidFill>
          <a:ln w="6350">
            <a:solidFill>
              <a:srgbClr val="C9D0D8"/>
            </a:solidFill>
            <a:prstDash val="solid"/>
          </a:ln>
        </p:spPr>
      </p:sp>
      <p:sp>
        <p:nvSpPr>
          <p:cNvPr id="300" name="Shape 298"/>
          <p:cNvSpPr/>
          <p:nvPr/>
        </p:nvSpPr>
        <p:spPr>
          <a:xfrm>
            <a:off x="9729216" y="3648456"/>
            <a:ext cx="105156" cy="82296"/>
          </a:xfrm>
          <a:prstGeom prst="rect">
            <a:avLst/>
          </a:prstGeom>
          <a:solidFill>
            <a:srgbClr val="FFFFFF"/>
          </a:solidFill>
          <a:ln w="6350">
            <a:solidFill>
              <a:srgbClr val="C9D0D8"/>
            </a:solidFill>
            <a:prstDash val="solid"/>
          </a:ln>
        </p:spPr>
      </p:sp>
      <p:sp>
        <p:nvSpPr>
          <p:cNvPr id="301" name="Shape 299"/>
          <p:cNvSpPr/>
          <p:nvPr/>
        </p:nvSpPr>
        <p:spPr>
          <a:xfrm>
            <a:off x="9729216" y="3547872"/>
            <a:ext cx="105156" cy="82296"/>
          </a:xfrm>
          <a:prstGeom prst="rect">
            <a:avLst/>
          </a:prstGeom>
          <a:solidFill>
            <a:srgbClr val="FFFFFF"/>
          </a:solidFill>
          <a:ln w="6350">
            <a:solidFill>
              <a:srgbClr val="C9D0D8"/>
            </a:solidFill>
            <a:prstDash val="solid"/>
          </a:ln>
        </p:spPr>
      </p:sp>
      <p:sp>
        <p:nvSpPr>
          <p:cNvPr id="302" name="Shape 300"/>
          <p:cNvSpPr/>
          <p:nvPr/>
        </p:nvSpPr>
        <p:spPr>
          <a:xfrm>
            <a:off x="9729216" y="3447288"/>
            <a:ext cx="105156" cy="82296"/>
          </a:xfrm>
          <a:prstGeom prst="rect">
            <a:avLst/>
          </a:prstGeom>
          <a:solidFill>
            <a:srgbClr val="FFFFFF"/>
          </a:solidFill>
          <a:ln w="6350">
            <a:solidFill>
              <a:srgbClr val="C9D0D8"/>
            </a:solidFill>
            <a:prstDash val="solid"/>
          </a:ln>
        </p:spPr>
      </p:sp>
      <p:sp>
        <p:nvSpPr>
          <p:cNvPr id="303" name="Shape 301"/>
          <p:cNvSpPr/>
          <p:nvPr/>
        </p:nvSpPr>
        <p:spPr>
          <a:xfrm>
            <a:off x="9852660" y="3950208"/>
            <a:ext cx="105156" cy="82296"/>
          </a:xfrm>
          <a:prstGeom prst="rect">
            <a:avLst/>
          </a:prstGeom>
          <a:solidFill>
            <a:srgbClr val="E8934D"/>
          </a:solidFill>
          <a:ln w="6350">
            <a:solidFill>
              <a:srgbClr val="C9D0D8"/>
            </a:solidFill>
            <a:prstDash val="solid"/>
          </a:ln>
        </p:spPr>
      </p:sp>
      <p:sp>
        <p:nvSpPr>
          <p:cNvPr id="304" name="Shape 302"/>
          <p:cNvSpPr/>
          <p:nvPr/>
        </p:nvSpPr>
        <p:spPr>
          <a:xfrm>
            <a:off x="9852660" y="3849624"/>
            <a:ext cx="105156" cy="82296"/>
          </a:xfrm>
          <a:prstGeom prst="rect">
            <a:avLst/>
          </a:prstGeom>
          <a:solidFill>
            <a:srgbClr val="E8934D"/>
          </a:solidFill>
          <a:ln w="6350">
            <a:solidFill>
              <a:srgbClr val="C9D0D8"/>
            </a:solidFill>
            <a:prstDash val="solid"/>
          </a:ln>
        </p:spPr>
      </p:sp>
      <p:sp>
        <p:nvSpPr>
          <p:cNvPr id="305" name="Shape 303"/>
          <p:cNvSpPr/>
          <p:nvPr/>
        </p:nvSpPr>
        <p:spPr>
          <a:xfrm>
            <a:off x="9852660" y="3749040"/>
            <a:ext cx="105156" cy="82296"/>
          </a:xfrm>
          <a:prstGeom prst="rect">
            <a:avLst/>
          </a:prstGeom>
          <a:solidFill>
            <a:srgbClr val="FFFFFF"/>
          </a:solidFill>
          <a:ln w="6350">
            <a:solidFill>
              <a:srgbClr val="C9D0D8"/>
            </a:solidFill>
            <a:prstDash val="solid"/>
          </a:ln>
        </p:spPr>
      </p:sp>
      <p:sp>
        <p:nvSpPr>
          <p:cNvPr id="306" name="Shape 304"/>
          <p:cNvSpPr/>
          <p:nvPr/>
        </p:nvSpPr>
        <p:spPr>
          <a:xfrm>
            <a:off x="9852660" y="3648456"/>
            <a:ext cx="105156" cy="82296"/>
          </a:xfrm>
          <a:prstGeom prst="rect">
            <a:avLst/>
          </a:prstGeom>
          <a:solidFill>
            <a:srgbClr val="FFFFFF"/>
          </a:solidFill>
          <a:ln w="6350">
            <a:solidFill>
              <a:srgbClr val="C9D0D8"/>
            </a:solidFill>
            <a:prstDash val="solid"/>
          </a:ln>
        </p:spPr>
      </p:sp>
      <p:sp>
        <p:nvSpPr>
          <p:cNvPr id="307" name="Shape 305"/>
          <p:cNvSpPr/>
          <p:nvPr/>
        </p:nvSpPr>
        <p:spPr>
          <a:xfrm>
            <a:off x="9852660" y="3547872"/>
            <a:ext cx="105156" cy="82296"/>
          </a:xfrm>
          <a:prstGeom prst="rect">
            <a:avLst/>
          </a:prstGeom>
          <a:solidFill>
            <a:srgbClr val="FFFFFF"/>
          </a:solidFill>
          <a:ln w="6350">
            <a:solidFill>
              <a:srgbClr val="C9D0D8"/>
            </a:solidFill>
            <a:prstDash val="solid"/>
          </a:ln>
        </p:spPr>
      </p:sp>
      <p:sp>
        <p:nvSpPr>
          <p:cNvPr id="308" name="Shape 306"/>
          <p:cNvSpPr/>
          <p:nvPr/>
        </p:nvSpPr>
        <p:spPr>
          <a:xfrm>
            <a:off x="9852660" y="3447288"/>
            <a:ext cx="105156" cy="82296"/>
          </a:xfrm>
          <a:prstGeom prst="rect">
            <a:avLst/>
          </a:prstGeom>
          <a:solidFill>
            <a:srgbClr val="FFFFFF"/>
          </a:solidFill>
          <a:ln w="6350">
            <a:solidFill>
              <a:srgbClr val="C9D0D8"/>
            </a:solidFill>
            <a:prstDash val="solid"/>
          </a:ln>
        </p:spPr>
      </p:sp>
      <p:sp>
        <p:nvSpPr>
          <p:cNvPr id="309" name="Shape 307"/>
          <p:cNvSpPr/>
          <p:nvPr/>
        </p:nvSpPr>
        <p:spPr>
          <a:xfrm>
            <a:off x="9976104" y="3950208"/>
            <a:ext cx="105156" cy="82296"/>
          </a:xfrm>
          <a:prstGeom prst="rect">
            <a:avLst/>
          </a:prstGeom>
          <a:solidFill>
            <a:srgbClr val="E8934D"/>
          </a:solidFill>
          <a:ln w="6350">
            <a:solidFill>
              <a:srgbClr val="C9D0D8"/>
            </a:solidFill>
            <a:prstDash val="solid"/>
          </a:ln>
        </p:spPr>
      </p:sp>
      <p:sp>
        <p:nvSpPr>
          <p:cNvPr id="310" name="Shape 308"/>
          <p:cNvSpPr/>
          <p:nvPr/>
        </p:nvSpPr>
        <p:spPr>
          <a:xfrm>
            <a:off x="9976104" y="3849624"/>
            <a:ext cx="105156" cy="82296"/>
          </a:xfrm>
          <a:prstGeom prst="rect">
            <a:avLst/>
          </a:prstGeom>
          <a:solidFill>
            <a:srgbClr val="E8934D"/>
          </a:solidFill>
          <a:ln w="6350">
            <a:solidFill>
              <a:srgbClr val="C9D0D8"/>
            </a:solidFill>
            <a:prstDash val="solid"/>
          </a:ln>
        </p:spPr>
      </p:sp>
      <p:sp>
        <p:nvSpPr>
          <p:cNvPr id="311" name="Shape 309"/>
          <p:cNvSpPr/>
          <p:nvPr/>
        </p:nvSpPr>
        <p:spPr>
          <a:xfrm>
            <a:off x="9976104" y="3749040"/>
            <a:ext cx="105156" cy="82296"/>
          </a:xfrm>
          <a:prstGeom prst="rect">
            <a:avLst/>
          </a:prstGeom>
          <a:solidFill>
            <a:srgbClr val="FFFFFF"/>
          </a:solidFill>
          <a:ln w="6350">
            <a:solidFill>
              <a:srgbClr val="C9D0D8"/>
            </a:solidFill>
            <a:prstDash val="solid"/>
          </a:ln>
        </p:spPr>
      </p:sp>
      <p:sp>
        <p:nvSpPr>
          <p:cNvPr id="312" name="Shape 310"/>
          <p:cNvSpPr/>
          <p:nvPr/>
        </p:nvSpPr>
        <p:spPr>
          <a:xfrm>
            <a:off x="9976104" y="3648456"/>
            <a:ext cx="105156" cy="82296"/>
          </a:xfrm>
          <a:prstGeom prst="rect">
            <a:avLst/>
          </a:prstGeom>
          <a:solidFill>
            <a:srgbClr val="FFFFFF"/>
          </a:solidFill>
          <a:ln w="6350">
            <a:solidFill>
              <a:srgbClr val="C9D0D8"/>
            </a:solidFill>
            <a:prstDash val="solid"/>
          </a:ln>
        </p:spPr>
      </p:sp>
      <p:sp>
        <p:nvSpPr>
          <p:cNvPr id="313" name="Shape 311"/>
          <p:cNvSpPr/>
          <p:nvPr/>
        </p:nvSpPr>
        <p:spPr>
          <a:xfrm>
            <a:off x="9976104" y="3547872"/>
            <a:ext cx="105156" cy="82296"/>
          </a:xfrm>
          <a:prstGeom prst="rect">
            <a:avLst/>
          </a:prstGeom>
          <a:solidFill>
            <a:srgbClr val="FFFFFF"/>
          </a:solidFill>
          <a:ln w="6350">
            <a:solidFill>
              <a:srgbClr val="C9D0D8"/>
            </a:solidFill>
            <a:prstDash val="solid"/>
          </a:ln>
        </p:spPr>
      </p:sp>
      <p:sp>
        <p:nvSpPr>
          <p:cNvPr id="314" name="Shape 312"/>
          <p:cNvSpPr/>
          <p:nvPr/>
        </p:nvSpPr>
        <p:spPr>
          <a:xfrm>
            <a:off x="9976104" y="3447288"/>
            <a:ext cx="105156" cy="82296"/>
          </a:xfrm>
          <a:prstGeom prst="rect">
            <a:avLst/>
          </a:prstGeom>
          <a:solidFill>
            <a:srgbClr val="FFFFFF"/>
          </a:solidFill>
          <a:ln w="6350">
            <a:solidFill>
              <a:srgbClr val="C9D0D8"/>
            </a:solidFill>
            <a:prstDash val="solid"/>
          </a:ln>
        </p:spPr>
      </p:sp>
      <p:sp>
        <p:nvSpPr>
          <p:cNvPr id="315" name="Shape 313"/>
          <p:cNvSpPr/>
          <p:nvPr/>
        </p:nvSpPr>
        <p:spPr>
          <a:xfrm>
            <a:off x="10099548" y="3950208"/>
            <a:ext cx="105156" cy="82296"/>
          </a:xfrm>
          <a:prstGeom prst="rect">
            <a:avLst/>
          </a:prstGeom>
          <a:solidFill>
            <a:srgbClr val="E8934D"/>
          </a:solidFill>
          <a:ln w="6350">
            <a:solidFill>
              <a:srgbClr val="C9D0D8"/>
            </a:solidFill>
            <a:prstDash val="solid"/>
          </a:ln>
        </p:spPr>
      </p:sp>
      <p:sp>
        <p:nvSpPr>
          <p:cNvPr id="316" name="Shape 314"/>
          <p:cNvSpPr/>
          <p:nvPr/>
        </p:nvSpPr>
        <p:spPr>
          <a:xfrm>
            <a:off x="10099548" y="3849624"/>
            <a:ext cx="105156" cy="82296"/>
          </a:xfrm>
          <a:prstGeom prst="rect">
            <a:avLst/>
          </a:prstGeom>
          <a:solidFill>
            <a:srgbClr val="E8934D"/>
          </a:solidFill>
          <a:ln w="6350">
            <a:solidFill>
              <a:srgbClr val="C9D0D8"/>
            </a:solidFill>
            <a:prstDash val="solid"/>
          </a:ln>
        </p:spPr>
      </p:sp>
      <p:sp>
        <p:nvSpPr>
          <p:cNvPr id="317" name="Shape 315"/>
          <p:cNvSpPr/>
          <p:nvPr/>
        </p:nvSpPr>
        <p:spPr>
          <a:xfrm>
            <a:off x="10099548" y="3749040"/>
            <a:ext cx="105156" cy="82296"/>
          </a:xfrm>
          <a:prstGeom prst="rect">
            <a:avLst/>
          </a:prstGeom>
          <a:solidFill>
            <a:srgbClr val="FFFFFF"/>
          </a:solidFill>
          <a:ln w="6350">
            <a:solidFill>
              <a:srgbClr val="C9D0D8"/>
            </a:solidFill>
            <a:prstDash val="solid"/>
          </a:ln>
        </p:spPr>
      </p:sp>
      <p:sp>
        <p:nvSpPr>
          <p:cNvPr id="318" name="Shape 316"/>
          <p:cNvSpPr/>
          <p:nvPr/>
        </p:nvSpPr>
        <p:spPr>
          <a:xfrm>
            <a:off x="10099548" y="3648456"/>
            <a:ext cx="105156" cy="82296"/>
          </a:xfrm>
          <a:prstGeom prst="rect">
            <a:avLst/>
          </a:prstGeom>
          <a:solidFill>
            <a:srgbClr val="FFFFFF"/>
          </a:solidFill>
          <a:ln w="6350">
            <a:solidFill>
              <a:srgbClr val="C9D0D8"/>
            </a:solidFill>
            <a:prstDash val="solid"/>
          </a:ln>
        </p:spPr>
      </p:sp>
      <p:sp>
        <p:nvSpPr>
          <p:cNvPr id="319" name="Shape 317"/>
          <p:cNvSpPr/>
          <p:nvPr/>
        </p:nvSpPr>
        <p:spPr>
          <a:xfrm>
            <a:off x="10099548" y="3547872"/>
            <a:ext cx="105156" cy="82296"/>
          </a:xfrm>
          <a:prstGeom prst="rect">
            <a:avLst/>
          </a:prstGeom>
          <a:solidFill>
            <a:srgbClr val="FFFFFF"/>
          </a:solidFill>
          <a:ln w="6350">
            <a:solidFill>
              <a:srgbClr val="C9D0D8"/>
            </a:solidFill>
            <a:prstDash val="solid"/>
          </a:ln>
        </p:spPr>
      </p:sp>
      <p:sp>
        <p:nvSpPr>
          <p:cNvPr id="320" name="Shape 318"/>
          <p:cNvSpPr/>
          <p:nvPr/>
        </p:nvSpPr>
        <p:spPr>
          <a:xfrm>
            <a:off x="10099548" y="3447288"/>
            <a:ext cx="105156" cy="82296"/>
          </a:xfrm>
          <a:prstGeom prst="rect">
            <a:avLst/>
          </a:prstGeom>
          <a:solidFill>
            <a:srgbClr val="FFFFFF"/>
          </a:solidFill>
          <a:ln w="6350">
            <a:solidFill>
              <a:srgbClr val="C9D0D8"/>
            </a:solidFill>
            <a:prstDash val="solid"/>
          </a:ln>
        </p:spPr>
      </p:sp>
      <p:sp>
        <p:nvSpPr>
          <p:cNvPr id="321" name="Shape 319"/>
          <p:cNvSpPr/>
          <p:nvPr/>
        </p:nvSpPr>
        <p:spPr>
          <a:xfrm>
            <a:off x="10222992" y="3950208"/>
            <a:ext cx="105156" cy="82296"/>
          </a:xfrm>
          <a:prstGeom prst="rect">
            <a:avLst/>
          </a:prstGeom>
          <a:solidFill>
            <a:srgbClr val="E8934D"/>
          </a:solidFill>
          <a:ln w="6350">
            <a:solidFill>
              <a:srgbClr val="C9D0D8"/>
            </a:solidFill>
            <a:prstDash val="solid"/>
          </a:ln>
        </p:spPr>
      </p:sp>
      <p:sp>
        <p:nvSpPr>
          <p:cNvPr id="322" name="Shape 320"/>
          <p:cNvSpPr/>
          <p:nvPr/>
        </p:nvSpPr>
        <p:spPr>
          <a:xfrm>
            <a:off x="10222992" y="3849624"/>
            <a:ext cx="105156" cy="82296"/>
          </a:xfrm>
          <a:prstGeom prst="rect">
            <a:avLst/>
          </a:prstGeom>
          <a:solidFill>
            <a:srgbClr val="E8934D"/>
          </a:solidFill>
          <a:ln w="6350">
            <a:solidFill>
              <a:srgbClr val="C9D0D8"/>
            </a:solidFill>
            <a:prstDash val="solid"/>
          </a:ln>
        </p:spPr>
      </p:sp>
      <p:sp>
        <p:nvSpPr>
          <p:cNvPr id="323" name="Shape 321"/>
          <p:cNvSpPr/>
          <p:nvPr/>
        </p:nvSpPr>
        <p:spPr>
          <a:xfrm>
            <a:off x="10222992" y="3749040"/>
            <a:ext cx="105156" cy="82296"/>
          </a:xfrm>
          <a:prstGeom prst="rect">
            <a:avLst/>
          </a:prstGeom>
          <a:solidFill>
            <a:srgbClr val="FFFFFF"/>
          </a:solidFill>
          <a:ln w="6350">
            <a:solidFill>
              <a:srgbClr val="C9D0D8"/>
            </a:solidFill>
            <a:prstDash val="solid"/>
          </a:ln>
        </p:spPr>
      </p:sp>
      <p:sp>
        <p:nvSpPr>
          <p:cNvPr id="324" name="Shape 322"/>
          <p:cNvSpPr/>
          <p:nvPr/>
        </p:nvSpPr>
        <p:spPr>
          <a:xfrm>
            <a:off x="10222992" y="3648456"/>
            <a:ext cx="105156" cy="82296"/>
          </a:xfrm>
          <a:prstGeom prst="rect">
            <a:avLst/>
          </a:prstGeom>
          <a:solidFill>
            <a:srgbClr val="FFFFFF"/>
          </a:solidFill>
          <a:ln w="6350">
            <a:solidFill>
              <a:srgbClr val="C9D0D8"/>
            </a:solidFill>
            <a:prstDash val="solid"/>
          </a:ln>
        </p:spPr>
      </p:sp>
      <p:sp>
        <p:nvSpPr>
          <p:cNvPr id="325" name="Shape 323"/>
          <p:cNvSpPr/>
          <p:nvPr/>
        </p:nvSpPr>
        <p:spPr>
          <a:xfrm>
            <a:off x="10222992" y="3547872"/>
            <a:ext cx="105156" cy="82296"/>
          </a:xfrm>
          <a:prstGeom prst="rect">
            <a:avLst/>
          </a:prstGeom>
          <a:solidFill>
            <a:srgbClr val="FFFFFF"/>
          </a:solidFill>
          <a:ln w="6350">
            <a:solidFill>
              <a:srgbClr val="C9D0D8"/>
            </a:solidFill>
            <a:prstDash val="solid"/>
          </a:ln>
        </p:spPr>
      </p:sp>
      <p:sp>
        <p:nvSpPr>
          <p:cNvPr id="326" name="Shape 324"/>
          <p:cNvSpPr/>
          <p:nvPr/>
        </p:nvSpPr>
        <p:spPr>
          <a:xfrm>
            <a:off x="10222992" y="3447288"/>
            <a:ext cx="105156" cy="82296"/>
          </a:xfrm>
          <a:prstGeom prst="rect">
            <a:avLst/>
          </a:prstGeom>
          <a:solidFill>
            <a:srgbClr val="FFFFFF"/>
          </a:solidFill>
          <a:ln w="6350">
            <a:solidFill>
              <a:srgbClr val="C9D0D8"/>
            </a:solidFill>
            <a:prstDash val="solid"/>
          </a:ln>
        </p:spPr>
      </p:sp>
      <p:sp>
        <p:nvSpPr>
          <p:cNvPr id="327" name="Shape 325"/>
          <p:cNvSpPr/>
          <p:nvPr/>
        </p:nvSpPr>
        <p:spPr>
          <a:xfrm>
            <a:off x="10346436" y="3950208"/>
            <a:ext cx="105156" cy="82296"/>
          </a:xfrm>
          <a:prstGeom prst="rect">
            <a:avLst/>
          </a:prstGeom>
          <a:solidFill>
            <a:srgbClr val="FFFFFF"/>
          </a:solidFill>
          <a:ln w="6350">
            <a:solidFill>
              <a:srgbClr val="C9D0D8"/>
            </a:solidFill>
            <a:prstDash val="solid"/>
          </a:ln>
        </p:spPr>
      </p:sp>
      <p:sp>
        <p:nvSpPr>
          <p:cNvPr id="328" name="Shape 326"/>
          <p:cNvSpPr/>
          <p:nvPr/>
        </p:nvSpPr>
        <p:spPr>
          <a:xfrm>
            <a:off x="10346436" y="3849624"/>
            <a:ext cx="105156" cy="82296"/>
          </a:xfrm>
          <a:prstGeom prst="rect">
            <a:avLst/>
          </a:prstGeom>
          <a:solidFill>
            <a:srgbClr val="FFFFFF"/>
          </a:solidFill>
          <a:ln w="6350">
            <a:solidFill>
              <a:srgbClr val="C9D0D8"/>
            </a:solidFill>
            <a:prstDash val="solid"/>
          </a:ln>
        </p:spPr>
      </p:sp>
      <p:sp>
        <p:nvSpPr>
          <p:cNvPr id="329" name="Shape 327"/>
          <p:cNvSpPr/>
          <p:nvPr/>
        </p:nvSpPr>
        <p:spPr>
          <a:xfrm>
            <a:off x="10346436" y="3749040"/>
            <a:ext cx="105156" cy="82296"/>
          </a:xfrm>
          <a:prstGeom prst="rect">
            <a:avLst/>
          </a:prstGeom>
          <a:solidFill>
            <a:srgbClr val="FFFFFF"/>
          </a:solidFill>
          <a:ln w="6350">
            <a:solidFill>
              <a:srgbClr val="C9D0D8"/>
            </a:solidFill>
            <a:prstDash val="solid"/>
          </a:ln>
        </p:spPr>
      </p:sp>
      <p:sp>
        <p:nvSpPr>
          <p:cNvPr id="330" name="Shape 328"/>
          <p:cNvSpPr/>
          <p:nvPr/>
        </p:nvSpPr>
        <p:spPr>
          <a:xfrm>
            <a:off x="10346436" y="3648456"/>
            <a:ext cx="105156" cy="82296"/>
          </a:xfrm>
          <a:prstGeom prst="rect">
            <a:avLst/>
          </a:prstGeom>
          <a:solidFill>
            <a:srgbClr val="FFFFFF"/>
          </a:solidFill>
          <a:ln w="6350">
            <a:solidFill>
              <a:srgbClr val="C9D0D8"/>
            </a:solidFill>
            <a:prstDash val="solid"/>
          </a:ln>
        </p:spPr>
      </p:sp>
      <p:sp>
        <p:nvSpPr>
          <p:cNvPr id="331" name="Shape 329"/>
          <p:cNvSpPr/>
          <p:nvPr/>
        </p:nvSpPr>
        <p:spPr>
          <a:xfrm>
            <a:off x="10346436" y="3547872"/>
            <a:ext cx="105156" cy="82296"/>
          </a:xfrm>
          <a:prstGeom prst="rect">
            <a:avLst/>
          </a:prstGeom>
          <a:solidFill>
            <a:srgbClr val="FFFFFF"/>
          </a:solidFill>
          <a:ln w="6350">
            <a:solidFill>
              <a:srgbClr val="C9D0D8"/>
            </a:solidFill>
            <a:prstDash val="solid"/>
          </a:ln>
        </p:spPr>
      </p:sp>
      <p:sp>
        <p:nvSpPr>
          <p:cNvPr id="332" name="Shape 330"/>
          <p:cNvSpPr/>
          <p:nvPr/>
        </p:nvSpPr>
        <p:spPr>
          <a:xfrm>
            <a:off x="10346436" y="3447288"/>
            <a:ext cx="105156" cy="82296"/>
          </a:xfrm>
          <a:prstGeom prst="rect">
            <a:avLst/>
          </a:prstGeom>
          <a:solidFill>
            <a:srgbClr val="FFFFFF"/>
          </a:solidFill>
          <a:ln w="6350">
            <a:solidFill>
              <a:srgbClr val="C9D0D8"/>
            </a:solidFill>
            <a:prstDash val="solid"/>
          </a:ln>
        </p:spPr>
      </p:sp>
      <p:sp>
        <p:nvSpPr>
          <p:cNvPr id="333" name="Shape 331"/>
          <p:cNvSpPr/>
          <p:nvPr/>
        </p:nvSpPr>
        <p:spPr>
          <a:xfrm>
            <a:off x="10469880" y="3950208"/>
            <a:ext cx="105156" cy="82296"/>
          </a:xfrm>
          <a:prstGeom prst="rect">
            <a:avLst/>
          </a:prstGeom>
          <a:solidFill>
            <a:srgbClr val="FFFFFF"/>
          </a:solidFill>
          <a:ln w="6350">
            <a:solidFill>
              <a:srgbClr val="C9D0D8"/>
            </a:solidFill>
            <a:prstDash val="solid"/>
          </a:ln>
        </p:spPr>
      </p:sp>
      <p:sp>
        <p:nvSpPr>
          <p:cNvPr id="334" name="Shape 332"/>
          <p:cNvSpPr/>
          <p:nvPr/>
        </p:nvSpPr>
        <p:spPr>
          <a:xfrm>
            <a:off x="10469880" y="3849624"/>
            <a:ext cx="105156" cy="82296"/>
          </a:xfrm>
          <a:prstGeom prst="rect">
            <a:avLst/>
          </a:prstGeom>
          <a:solidFill>
            <a:srgbClr val="FFFFFF"/>
          </a:solidFill>
          <a:ln w="6350">
            <a:solidFill>
              <a:srgbClr val="C9D0D8"/>
            </a:solidFill>
            <a:prstDash val="solid"/>
          </a:ln>
        </p:spPr>
      </p:sp>
      <p:sp>
        <p:nvSpPr>
          <p:cNvPr id="335" name="Shape 333"/>
          <p:cNvSpPr/>
          <p:nvPr/>
        </p:nvSpPr>
        <p:spPr>
          <a:xfrm>
            <a:off x="10469880" y="3749040"/>
            <a:ext cx="105156" cy="82296"/>
          </a:xfrm>
          <a:prstGeom prst="rect">
            <a:avLst/>
          </a:prstGeom>
          <a:solidFill>
            <a:srgbClr val="FFFFFF"/>
          </a:solidFill>
          <a:ln w="6350">
            <a:solidFill>
              <a:srgbClr val="C9D0D8"/>
            </a:solidFill>
            <a:prstDash val="solid"/>
          </a:ln>
        </p:spPr>
      </p:sp>
      <p:sp>
        <p:nvSpPr>
          <p:cNvPr id="336" name="Shape 334"/>
          <p:cNvSpPr/>
          <p:nvPr/>
        </p:nvSpPr>
        <p:spPr>
          <a:xfrm>
            <a:off x="10469880" y="3648456"/>
            <a:ext cx="105156" cy="82296"/>
          </a:xfrm>
          <a:prstGeom prst="rect">
            <a:avLst/>
          </a:prstGeom>
          <a:solidFill>
            <a:srgbClr val="FFFFFF"/>
          </a:solidFill>
          <a:ln w="6350">
            <a:solidFill>
              <a:srgbClr val="C9D0D8"/>
            </a:solidFill>
            <a:prstDash val="solid"/>
          </a:ln>
        </p:spPr>
      </p:sp>
      <p:sp>
        <p:nvSpPr>
          <p:cNvPr id="337" name="Shape 335"/>
          <p:cNvSpPr/>
          <p:nvPr/>
        </p:nvSpPr>
        <p:spPr>
          <a:xfrm>
            <a:off x="10469880" y="3547872"/>
            <a:ext cx="105156" cy="82296"/>
          </a:xfrm>
          <a:prstGeom prst="rect">
            <a:avLst/>
          </a:prstGeom>
          <a:solidFill>
            <a:srgbClr val="FFFFFF"/>
          </a:solidFill>
          <a:ln w="6350">
            <a:solidFill>
              <a:srgbClr val="C9D0D8"/>
            </a:solidFill>
            <a:prstDash val="solid"/>
          </a:ln>
        </p:spPr>
      </p:sp>
      <p:sp>
        <p:nvSpPr>
          <p:cNvPr id="338" name="Shape 336"/>
          <p:cNvSpPr/>
          <p:nvPr/>
        </p:nvSpPr>
        <p:spPr>
          <a:xfrm>
            <a:off x="10469880" y="3447288"/>
            <a:ext cx="105156" cy="82296"/>
          </a:xfrm>
          <a:prstGeom prst="rect">
            <a:avLst/>
          </a:prstGeom>
          <a:solidFill>
            <a:srgbClr val="FFFFFF"/>
          </a:solidFill>
          <a:ln w="6350">
            <a:solidFill>
              <a:srgbClr val="C9D0D8"/>
            </a:solidFill>
            <a:prstDash val="solid"/>
          </a:ln>
        </p:spPr>
      </p:sp>
      <p:sp>
        <p:nvSpPr>
          <p:cNvPr id="339" name="Shape 337"/>
          <p:cNvSpPr/>
          <p:nvPr/>
        </p:nvSpPr>
        <p:spPr>
          <a:xfrm>
            <a:off x="10593324" y="3950208"/>
            <a:ext cx="105156" cy="82296"/>
          </a:xfrm>
          <a:prstGeom prst="rect">
            <a:avLst/>
          </a:prstGeom>
          <a:solidFill>
            <a:srgbClr val="FFFFFF"/>
          </a:solidFill>
          <a:ln w="6350">
            <a:solidFill>
              <a:srgbClr val="C9D0D8"/>
            </a:solidFill>
            <a:prstDash val="solid"/>
          </a:ln>
        </p:spPr>
      </p:sp>
      <p:sp>
        <p:nvSpPr>
          <p:cNvPr id="340" name="Shape 338"/>
          <p:cNvSpPr/>
          <p:nvPr/>
        </p:nvSpPr>
        <p:spPr>
          <a:xfrm>
            <a:off x="10593324" y="3849624"/>
            <a:ext cx="105156" cy="82296"/>
          </a:xfrm>
          <a:prstGeom prst="rect">
            <a:avLst/>
          </a:prstGeom>
          <a:solidFill>
            <a:srgbClr val="FFFFFF"/>
          </a:solidFill>
          <a:ln w="6350">
            <a:solidFill>
              <a:srgbClr val="C9D0D8"/>
            </a:solidFill>
            <a:prstDash val="solid"/>
          </a:ln>
        </p:spPr>
      </p:sp>
      <p:sp>
        <p:nvSpPr>
          <p:cNvPr id="341" name="Shape 339"/>
          <p:cNvSpPr/>
          <p:nvPr/>
        </p:nvSpPr>
        <p:spPr>
          <a:xfrm>
            <a:off x="10593324" y="3749040"/>
            <a:ext cx="105156" cy="82296"/>
          </a:xfrm>
          <a:prstGeom prst="rect">
            <a:avLst/>
          </a:prstGeom>
          <a:solidFill>
            <a:srgbClr val="FFFFFF"/>
          </a:solidFill>
          <a:ln w="6350">
            <a:solidFill>
              <a:srgbClr val="C9D0D8"/>
            </a:solidFill>
            <a:prstDash val="solid"/>
          </a:ln>
        </p:spPr>
      </p:sp>
      <p:sp>
        <p:nvSpPr>
          <p:cNvPr id="342" name="Shape 340"/>
          <p:cNvSpPr/>
          <p:nvPr/>
        </p:nvSpPr>
        <p:spPr>
          <a:xfrm>
            <a:off x="10593324" y="3648456"/>
            <a:ext cx="105156" cy="82296"/>
          </a:xfrm>
          <a:prstGeom prst="rect">
            <a:avLst/>
          </a:prstGeom>
          <a:solidFill>
            <a:srgbClr val="FFFFFF"/>
          </a:solidFill>
          <a:ln w="6350">
            <a:solidFill>
              <a:srgbClr val="C9D0D8"/>
            </a:solidFill>
            <a:prstDash val="solid"/>
          </a:ln>
        </p:spPr>
      </p:sp>
      <p:sp>
        <p:nvSpPr>
          <p:cNvPr id="343" name="Shape 341"/>
          <p:cNvSpPr/>
          <p:nvPr/>
        </p:nvSpPr>
        <p:spPr>
          <a:xfrm>
            <a:off x="10593324" y="3547872"/>
            <a:ext cx="105156" cy="82296"/>
          </a:xfrm>
          <a:prstGeom prst="rect">
            <a:avLst/>
          </a:prstGeom>
          <a:solidFill>
            <a:srgbClr val="FFFFFF"/>
          </a:solidFill>
          <a:ln w="6350">
            <a:solidFill>
              <a:srgbClr val="C9D0D8"/>
            </a:solidFill>
            <a:prstDash val="solid"/>
          </a:ln>
        </p:spPr>
      </p:sp>
      <p:sp>
        <p:nvSpPr>
          <p:cNvPr id="344" name="Shape 342"/>
          <p:cNvSpPr/>
          <p:nvPr/>
        </p:nvSpPr>
        <p:spPr>
          <a:xfrm>
            <a:off x="10593324" y="3447288"/>
            <a:ext cx="105156" cy="82296"/>
          </a:xfrm>
          <a:prstGeom prst="rect">
            <a:avLst/>
          </a:prstGeom>
          <a:solidFill>
            <a:srgbClr val="FFFFFF"/>
          </a:solidFill>
          <a:ln w="6350">
            <a:solidFill>
              <a:srgbClr val="C9D0D8"/>
            </a:solidFill>
            <a:prstDash val="solid"/>
          </a:ln>
        </p:spPr>
      </p:sp>
      <p:sp>
        <p:nvSpPr>
          <p:cNvPr id="345" name="Text 343"/>
          <p:cNvSpPr txBox="1"/>
          <p:nvPr/>
        </p:nvSpPr>
        <p:spPr>
          <a:xfrm>
            <a:off x="10789920" y="3611880"/>
            <a:ext cx="868680" cy="237744"/>
          </a:xfrm>
          <a:prstGeom prst="rect">
            <a:avLst/>
          </a:prstGeom>
          <a:noFill/>
          <a:ln/>
        </p:spPr>
        <p:txBody>
          <a:bodyPr wrap="square" lIns="508" tIns="508" rIns="508" bIns="508" rtlCol="0" anchor="t"/>
          <a:lstStyle/>
          <a:p>
            <a:pPr algn="r" indent="0" marL="0">
              <a:buNone/>
            </a:pPr>
            <a:r>
              <a:rPr lang="en-US" sz="950" b="1" dirty="0">
                <a:solidFill>
                  <a:srgbClr val="C56A2C"/>
                </a:solidFill>
                <a:latin typeface="Yu Gothic" pitchFamily="34" charset="0"/>
                <a:ea typeface="Yu Gothic" pitchFamily="34" charset="-122"/>
                <a:cs typeface="Yu Gothic" pitchFamily="34" charset="-120"/>
              </a:rPr>
              <a:t>14マス</a:t>
            </a:r>
            <a:endParaRPr lang="en-US" sz="950" dirty="0"/>
          </a:p>
        </p:txBody>
      </p:sp>
      <p:sp>
        <p:nvSpPr>
          <p:cNvPr id="346" name="Text 344"/>
          <p:cNvSpPr txBox="1"/>
          <p:nvPr/>
        </p:nvSpPr>
        <p:spPr>
          <a:xfrm>
            <a:off x="6949440" y="4224528"/>
            <a:ext cx="4754880" cy="45720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棟数・高さ・隙間・方位θが変わっても、表の形（12列×6行）は同じ。17変数でも入力の大きさが増えない。</a:t>
            </a:r>
            <a:endParaRPr lang="en-US" sz="950" dirty="0"/>
          </a:p>
        </p:txBody>
      </p:sp>
      <p:sp>
        <p:nvSpPr>
          <p:cNvPr id="347" name="Shape 345"/>
          <p:cNvSpPr/>
          <p:nvPr/>
        </p:nvSpPr>
        <p:spPr>
          <a:xfrm>
            <a:off x="6812280" y="4892040"/>
            <a:ext cx="4937760" cy="1417320"/>
          </a:xfrm>
          <a:prstGeom prst="roundRect">
            <a:avLst>
              <a:gd name="adj" fmla="val 3871"/>
            </a:avLst>
          </a:prstGeom>
          <a:solidFill>
            <a:srgbClr val="1B2A44"/>
          </a:solidFill>
          <a:ln/>
        </p:spPr>
      </p:sp>
      <p:sp>
        <p:nvSpPr>
          <p:cNvPr id="348" name="Text 346"/>
          <p:cNvSpPr txBox="1"/>
          <p:nvPr/>
        </p:nvSpPr>
        <p:spPr>
          <a:xfrm>
            <a:off x="6949440" y="4946904"/>
            <a:ext cx="4663440" cy="237744"/>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この先の流れ（1つの点につき）</a:t>
            </a:r>
            <a:endParaRPr lang="en-US" sz="1100" dirty="0"/>
          </a:p>
        </p:txBody>
      </p:sp>
      <p:sp>
        <p:nvSpPr>
          <p:cNvPr id="349" name="Shape 347"/>
          <p:cNvSpPr/>
          <p:nvPr/>
        </p:nvSpPr>
        <p:spPr>
          <a:xfrm>
            <a:off x="6949440" y="5285232"/>
            <a:ext cx="1024128" cy="566928"/>
          </a:xfrm>
          <a:prstGeom prst="roundRect">
            <a:avLst>
              <a:gd name="adj" fmla="val 8065"/>
            </a:avLst>
          </a:prstGeom>
          <a:solidFill>
            <a:srgbClr val="1F6F78"/>
          </a:solidFill>
          <a:ln/>
        </p:spPr>
      </p:sp>
      <p:sp>
        <p:nvSpPr>
          <p:cNvPr id="350" name="Text 348"/>
          <p:cNvSpPr txBox="1"/>
          <p:nvPr/>
        </p:nvSpPr>
        <p:spPr>
          <a:xfrm>
            <a:off x="6949440" y="5303520"/>
            <a:ext cx="102412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地図を作る</a:t>
            </a:r>
            <a:endParaRPr lang="en-US" sz="950" dirty="0"/>
          </a:p>
        </p:txBody>
      </p:sp>
      <p:sp>
        <p:nvSpPr>
          <p:cNvPr id="351" name="Text 349"/>
          <p:cNvSpPr txBox="1"/>
          <p:nvPr/>
        </p:nvSpPr>
        <p:spPr>
          <a:xfrm>
            <a:off x="6949440" y="5596128"/>
            <a:ext cx="1024128" cy="219456"/>
          </a:xfrm>
          <a:prstGeom prst="rect">
            <a:avLst/>
          </a:prstGeom>
          <a:noFill/>
          <a:ln/>
        </p:spPr>
        <p:txBody>
          <a:bodyPr wrap="square" lIns="0" tIns="0" rIns="0" bIns="0" rtlCol="0" anchor="t"/>
          <a:lstStyle/>
          <a:p>
            <a:pPr algn="ctr" indent="0" marL="0">
              <a:buNone/>
            </a:pPr>
            <a:r>
              <a:rPr lang="en-US" sz="850" dirty="0">
                <a:solidFill>
                  <a:srgbClr val="E1E8F2"/>
                </a:solidFill>
                <a:latin typeface="Yu Gothic" pitchFamily="34" charset="0"/>
                <a:ea typeface="Yu Gothic" pitchFamily="34" charset="-122"/>
                <a:cs typeface="Yu Gothic" pitchFamily="34" charset="-120"/>
              </a:rPr>
              <a:t>p.40</a:t>
            </a:r>
            <a:endParaRPr lang="en-US" sz="850" dirty="0"/>
          </a:p>
        </p:txBody>
      </p:sp>
      <p:sp>
        <p:nvSpPr>
          <p:cNvPr id="352" name="Text 350"/>
          <p:cNvSpPr txBox="1"/>
          <p:nvPr/>
        </p:nvSpPr>
        <p:spPr>
          <a:xfrm>
            <a:off x="7955280" y="5394960"/>
            <a:ext cx="182880" cy="274320"/>
          </a:xfrm>
          <a:prstGeom prst="rect">
            <a:avLst/>
          </a:prstGeom>
          <a:noFill/>
          <a:ln/>
        </p:spPr>
        <p:txBody>
          <a:bodyPr wrap="square" lIns="0" tIns="0" rIns="0" bIns="0" rtlCol="0" anchor="t"/>
          <a:lstStyle/>
          <a:p>
            <a:pPr algn="ctr" indent="0" marL="0">
              <a:buNone/>
            </a:pPr>
            <a:r>
              <a:rPr lang="en-US" sz="1400" b="1" dirty="0">
                <a:solidFill>
                  <a:srgbClr val="E8934D"/>
                </a:solidFill>
                <a:latin typeface="Yu Gothic" pitchFamily="34" charset="0"/>
                <a:ea typeface="Yu Gothic" pitchFamily="34" charset="-122"/>
                <a:cs typeface="Yu Gothic" pitchFamily="34" charset="-120"/>
              </a:rPr>
              <a:t>›</a:t>
            </a:r>
            <a:endParaRPr lang="en-US" sz="1400" dirty="0"/>
          </a:p>
        </p:txBody>
      </p:sp>
      <p:sp>
        <p:nvSpPr>
          <p:cNvPr id="353" name="Shape 351"/>
          <p:cNvSpPr/>
          <p:nvPr/>
        </p:nvSpPr>
        <p:spPr>
          <a:xfrm>
            <a:off x="8138160" y="5285232"/>
            <a:ext cx="1024128" cy="566928"/>
          </a:xfrm>
          <a:prstGeom prst="roundRect">
            <a:avLst>
              <a:gd name="adj" fmla="val 8065"/>
            </a:avLst>
          </a:prstGeom>
          <a:solidFill>
            <a:srgbClr val="1F6F78"/>
          </a:solidFill>
          <a:ln/>
        </p:spPr>
      </p:sp>
      <p:sp>
        <p:nvSpPr>
          <p:cNvPr id="354" name="Text 352"/>
          <p:cNvSpPr txBox="1"/>
          <p:nvPr/>
        </p:nvSpPr>
        <p:spPr>
          <a:xfrm>
            <a:off x="8138160" y="5303520"/>
            <a:ext cx="102412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h を計算</a:t>
            </a:r>
            <a:endParaRPr lang="en-US" sz="950" dirty="0"/>
          </a:p>
        </p:txBody>
      </p:sp>
      <p:sp>
        <p:nvSpPr>
          <p:cNvPr id="355" name="Text 353"/>
          <p:cNvSpPr txBox="1"/>
          <p:nvPr/>
        </p:nvSpPr>
        <p:spPr>
          <a:xfrm>
            <a:off x="8138160" y="5596128"/>
            <a:ext cx="1024128" cy="219456"/>
          </a:xfrm>
          <a:prstGeom prst="rect">
            <a:avLst/>
          </a:prstGeom>
          <a:noFill/>
          <a:ln/>
        </p:spPr>
        <p:txBody>
          <a:bodyPr wrap="square" lIns="0" tIns="0" rIns="0" bIns="0" rtlCol="0" anchor="t"/>
          <a:lstStyle/>
          <a:p>
            <a:pPr algn="ctr" indent="0" marL="0">
              <a:buNone/>
            </a:pPr>
            <a:r>
              <a:rPr lang="en-US" sz="850" dirty="0">
                <a:solidFill>
                  <a:srgbClr val="E1E8F2"/>
                </a:solidFill>
                <a:latin typeface="Yu Gothic" pitchFamily="34" charset="0"/>
                <a:ea typeface="Yu Gothic" pitchFamily="34" charset="-122"/>
                <a:cs typeface="Yu Gothic" pitchFamily="34" charset="-120"/>
              </a:rPr>
              <a:t>p.41</a:t>
            </a:r>
            <a:endParaRPr lang="en-US" sz="850" dirty="0"/>
          </a:p>
        </p:txBody>
      </p:sp>
      <p:sp>
        <p:nvSpPr>
          <p:cNvPr id="356" name="Text 354"/>
          <p:cNvSpPr txBox="1"/>
          <p:nvPr/>
        </p:nvSpPr>
        <p:spPr>
          <a:xfrm>
            <a:off x="9144000" y="5394960"/>
            <a:ext cx="182880" cy="274320"/>
          </a:xfrm>
          <a:prstGeom prst="rect">
            <a:avLst/>
          </a:prstGeom>
          <a:noFill/>
          <a:ln/>
        </p:spPr>
        <p:txBody>
          <a:bodyPr wrap="square" lIns="0" tIns="0" rIns="0" bIns="0" rtlCol="0" anchor="t"/>
          <a:lstStyle/>
          <a:p>
            <a:pPr algn="ctr" indent="0" marL="0">
              <a:buNone/>
            </a:pPr>
            <a:r>
              <a:rPr lang="en-US" sz="1400" b="1" dirty="0">
                <a:solidFill>
                  <a:srgbClr val="E8934D"/>
                </a:solidFill>
                <a:latin typeface="Yu Gothic" pitchFamily="34" charset="0"/>
                <a:ea typeface="Yu Gothic" pitchFamily="34" charset="-122"/>
                <a:cs typeface="Yu Gothic" pitchFamily="34" charset="-120"/>
              </a:rPr>
              <a:t>›</a:t>
            </a:r>
            <a:endParaRPr lang="en-US" sz="1400" dirty="0"/>
          </a:p>
        </p:txBody>
      </p:sp>
      <p:sp>
        <p:nvSpPr>
          <p:cNvPr id="357" name="Shape 355"/>
          <p:cNvSpPr/>
          <p:nvPr/>
        </p:nvSpPr>
        <p:spPr>
          <a:xfrm>
            <a:off x="9326880" y="5285232"/>
            <a:ext cx="1024128" cy="566928"/>
          </a:xfrm>
          <a:prstGeom prst="roundRect">
            <a:avLst>
              <a:gd name="adj" fmla="val 8065"/>
            </a:avLst>
          </a:prstGeom>
          <a:solidFill>
            <a:srgbClr val="1F6F78"/>
          </a:solidFill>
          <a:ln/>
        </p:spPr>
      </p:sp>
      <p:sp>
        <p:nvSpPr>
          <p:cNvPr id="358" name="Text 356"/>
          <p:cNvSpPr txBox="1"/>
          <p:nvPr/>
        </p:nvSpPr>
        <p:spPr>
          <a:xfrm>
            <a:off x="9326880" y="5303520"/>
            <a:ext cx="102412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O を数える</a:t>
            </a:r>
            <a:endParaRPr lang="en-US" sz="950" dirty="0"/>
          </a:p>
        </p:txBody>
      </p:sp>
      <p:sp>
        <p:nvSpPr>
          <p:cNvPr id="359" name="Text 357"/>
          <p:cNvSpPr txBox="1"/>
          <p:nvPr/>
        </p:nvSpPr>
        <p:spPr>
          <a:xfrm>
            <a:off x="9326880" y="5596128"/>
            <a:ext cx="1024128" cy="219456"/>
          </a:xfrm>
          <a:prstGeom prst="rect">
            <a:avLst/>
          </a:prstGeom>
          <a:noFill/>
          <a:ln/>
        </p:spPr>
        <p:txBody>
          <a:bodyPr wrap="square" lIns="0" tIns="0" rIns="0" bIns="0" rtlCol="0" anchor="t"/>
          <a:lstStyle/>
          <a:p>
            <a:pPr algn="ctr" indent="0" marL="0">
              <a:buNone/>
            </a:pPr>
            <a:r>
              <a:rPr lang="en-US" sz="850" dirty="0">
                <a:solidFill>
                  <a:srgbClr val="E1E8F2"/>
                </a:solidFill>
                <a:latin typeface="Yu Gothic" pitchFamily="34" charset="0"/>
                <a:ea typeface="Yu Gothic" pitchFamily="34" charset="-122"/>
                <a:cs typeface="Yu Gothic" pitchFamily="34" charset="-120"/>
              </a:rPr>
              <a:t>p.42</a:t>
            </a:r>
            <a:endParaRPr lang="en-US" sz="850" dirty="0"/>
          </a:p>
        </p:txBody>
      </p:sp>
      <p:sp>
        <p:nvSpPr>
          <p:cNvPr id="360" name="Text 358"/>
          <p:cNvSpPr txBox="1"/>
          <p:nvPr/>
        </p:nvSpPr>
        <p:spPr>
          <a:xfrm>
            <a:off x="10332720" y="5394960"/>
            <a:ext cx="182880" cy="274320"/>
          </a:xfrm>
          <a:prstGeom prst="rect">
            <a:avLst/>
          </a:prstGeom>
          <a:noFill/>
          <a:ln/>
        </p:spPr>
        <p:txBody>
          <a:bodyPr wrap="square" lIns="0" tIns="0" rIns="0" bIns="0" rtlCol="0" anchor="t"/>
          <a:lstStyle/>
          <a:p>
            <a:pPr algn="ctr" indent="0" marL="0">
              <a:buNone/>
            </a:pPr>
            <a:r>
              <a:rPr lang="en-US" sz="1400" b="1" dirty="0">
                <a:solidFill>
                  <a:srgbClr val="E8934D"/>
                </a:solidFill>
                <a:latin typeface="Yu Gothic" pitchFamily="34" charset="0"/>
                <a:ea typeface="Yu Gothic" pitchFamily="34" charset="-122"/>
                <a:cs typeface="Yu Gothic" pitchFamily="34" charset="-120"/>
              </a:rPr>
              <a:t>›</a:t>
            </a:r>
            <a:endParaRPr lang="en-US" sz="1400" dirty="0"/>
          </a:p>
        </p:txBody>
      </p:sp>
      <p:sp>
        <p:nvSpPr>
          <p:cNvPr id="361" name="Shape 359"/>
          <p:cNvSpPr/>
          <p:nvPr/>
        </p:nvSpPr>
        <p:spPr>
          <a:xfrm>
            <a:off x="10515600" y="5285232"/>
            <a:ext cx="1024128" cy="566928"/>
          </a:xfrm>
          <a:prstGeom prst="roundRect">
            <a:avLst>
              <a:gd name="adj" fmla="val 8065"/>
            </a:avLst>
          </a:prstGeom>
          <a:solidFill>
            <a:srgbClr val="C56A2C"/>
          </a:solidFill>
          <a:ln/>
        </p:spPr>
      </p:sp>
      <p:sp>
        <p:nvSpPr>
          <p:cNvPr id="362" name="Text 360"/>
          <p:cNvSpPr txBox="1"/>
          <p:nvPr/>
        </p:nvSpPr>
        <p:spPr>
          <a:xfrm>
            <a:off x="10515600" y="5303520"/>
            <a:ext cx="102412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モデルで予測</a:t>
            </a:r>
            <a:endParaRPr lang="en-US" sz="950" dirty="0"/>
          </a:p>
        </p:txBody>
      </p:sp>
      <p:sp>
        <p:nvSpPr>
          <p:cNvPr id="363" name="Text 361"/>
          <p:cNvSpPr txBox="1"/>
          <p:nvPr/>
        </p:nvSpPr>
        <p:spPr>
          <a:xfrm>
            <a:off x="10515600" y="5596128"/>
            <a:ext cx="1024128" cy="219456"/>
          </a:xfrm>
          <a:prstGeom prst="rect">
            <a:avLst/>
          </a:prstGeom>
          <a:noFill/>
          <a:ln/>
        </p:spPr>
        <p:txBody>
          <a:bodyPr wrap="square" lIns="0" tIns="0" rIns="0" bIns="0" rtlCol="0" anchor="t"/>
          <a:lstStyle/>
          <a:p>
            <a:pPr algn="ctr" indent="0" marL="0">
              <a:buNone/>
            </a:pPr>
            <a:r>
              <a:rPr lang="en-US" sz="850" dirty="0">
                <a:solidFill>
                  <a:srgbClr val="E1E8F2"/>
                </a:solidFill>
                <a:latin typeface="Yu Gothic" pitchFamily="34" charset="0"/>
                <a:ea typeface="Yu Gothic" pitchFamily="34" charset="-122"/>
                <a:cs typeface="Yu Gothic" pitchFamily="34" charset="-120"/>
              </a:rPr>
              <a:t>p.43</a:t>
            </a:r>
            <a:endParaRPr lang="en-US" sz="850" dirty="0"/>
          </a:p>
        </p:txBody>
      </p:sp>
      <p:sp>
        <p:nvSpPr>
          <p:cNvPr id="364" name="Text 362"/>
          <p:cNvSpPr txBox="1"/>
          <p:nvPr/>
        </p:nvSpPr>
        <p:spPr>
          <a:xfrm>
            <a:off x="6949440" y="5943600"/>
            <a:ext cx="4663440" cy="274320"/>
          </a:xfrm>
          <a:prstGeom prst="rect">
            <a:avLst/>
          </a:prstGeom>
          <a:noFill/>
          <a:ln/>
        </p:spPr>
        <p:txBody>
          <a:bodyPr wrap="square" lIns="508" tIns="508" rIns="508" bIns="508" rtlCol="0" anchor="t"/>
          <a:lstStyle/>
          <a:p>
            <a:pPr indent="0" marL="0">
              <a:buNone/>
            </a:pPr>
            <a:r>
              <a:rPr lang="en-US" sz="900" dirty="0">
                <a:solidFill>
                  <a:srgbClr val="CADCFC"/>
                </a:solidFill>
                <a:latin typeface="Yu Gothic" pitchFamily="34" charset="0"/>
                <a:ea typeface="Yu Gothic" pitchFamily="34" charset="-122"/>
                <a:cs typeface="Yu Gothic" pitchFamily="34" charset="-120"/>
              </a:rPr>
              <a:t>中央建物の4面×5帯の中心点ごとに行う → 20枚の地図 → 20個の日射量</a:t>
            </a:r>
            <a:endParaRPr lang="en-US" sz="9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空の地図の作り方：方位を12、高さの角度を6に分けて 72マスにする</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40 / 45</a:t>
            </a:r>
            <a:endParaRPr lang="en-US" sz="1100" dirty="0"/>
          </a:p>
        </p:txBody>
      </p:sp>
      <p:sp>
        <p:nvSpPr>
          <p:cNvPr id="9" name="Shape 7"/>
          <p:cNvSpPr/>
          <p:nvPr/>
        </p:nvSpPr>
        <p:spPr>
          <a:xfrm>
            <a:off x="457200" y="1060704"/>
            <a:ext cx="1955292" cy="329184"/>
          </a:xfrm>
          <a:prstGeom prst="homePlate">
            <a:avLst/>
          </a:prstGeom>
          <a:solidFill>
            <a:srgbClr val="CFE3E5"/>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① 考え方（立体）</a:t>
            </a:r>
            <a:endParaRPr lang="en-US" sz="900" dirty="0"/>
          </a:p>
        </p:txBody>
      </p:sp>
      <p:sp>
        <p:nvSpPr>
          <p:cNvPr id="11" name="Shape 9"/>
          <p:cNvSpPr/>
          <p:nvPr/>
        </p:nvSpPr>
        <p:spPr>
          <a:xfrm>
            <a:off x="2339340" y="1060704"/>
            <a:ext cx="1955292" cy="329184"/>
          </a:xfrm>
          <a:prstGeom prst="chevron">
            <a:avLst/>
          </a:prstGeom>
          <a:solidFill>
            <a:srgbClr val="1F6F78"/>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② 空の地図の作り方</a:t>
            </a:r>
            <a:endParaRPr lang="en-US" sz="900" dirty="0"/>
          </a:p>
        </p:txBody>
      </p:sp>
      <p:sp>
        <p:nvSpPr>
          <p:cNvPr id="13" name="Shape 11"/>
          <p:cNvSpPr/>
          <p:nvPr/>
        </p:nvSpPr>
        <p:spPr>
          <a:xfrm>
            <a:off x="4221480" y="1060704"/>
            <a:ext cx="1955292" cy="329184"/>
          </a:xfrm>
          <a:prstGeom prst="chevron">
            <a:avLst/>
          </a:prstGeom>
          <a:solidFill>
            <a:srgbClr val="EAEEF2"/>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③ 遮蔽高度角 h</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ふさがれた割合 O</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機械学習で予測</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比べ方と来週</a:t>
            </a:r>
            <a:endParaRPr lang="en-US" sz="900" dirty="0"/>
          </a:p>
        </p:txBody>
      </p:sp>
      <p:sp>
        <p:nvSpPr>
          <p:cNvPr id="21" name="Shape 19"/>
          <p:cNvSpPr/>
          <p:nvPr/>
        </p:nvSpPr>
        <p:spPr>
          <a:xfrm>
            <a:off x="457200" y="1508760"/>
            <a:ext cx="3931920" cy="4800600"/>
          </a:xfrm>
          <a:prstGeom prst="roundRect">
            <a:avLst>
              <a:gd name="adj" fmla="val 1395"/>
            </a:avLst>
          </a:prstGeom>
          <a:solidFill>
            <a:srgbClr val="F3F5F8"/>
          </a:solidFill>
          <a:ln/>
        </p:spPr>
      </p:sp>
      <p:sp>
        <p:nvSpPr>
          <p:cNvPr id="22" name="Text 20"/>
          <p:cNvSpPr txBox="1"/>
          <p:nvPr/>
        </p:nvSpPr>
        <p:spPr>
          <a:xfrm>
            <a:off x="594360" y="1563624"/>
            <a:ext cx="37490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① 上から見た図：方位を15°ずつ12に分ける</a:t>
            </a:r>
            <a:endParaRPr lang="en-US" sz="1100" dirty="0"/>
          </a:p>
        </p:txBody>
      </p:sp>
      <p:sp>
        <p:nvSpPr>
          <p:cNvPr id="23" name="Text 21"/>
          <p:cNvSpPr txBox="1"/>
          <p:nvPr/>
        </p:nvSpPr>
        <p:spPr>
          <a:xfrm>
            <a:off x="594360" y="1810512"/>
            <a:ext cx="3749040" cy="219456"/>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（南を上にした図＝点Pから外を見る向き）</a:t>
            </a:r>
            <a:endParaRPr lang="en-US" sz="900" dirty="0"/>
          </a:p>
        </p:txBody>
      </p:sp>
      <p:sp>
        <p:nvSpPr>
          <p:cNvPr id="24" name="Shape 22"/>
          <p:cNvSpPr/>
          <p:nvPr/>
        </p:nvSpPr>
        <p:spPr>
          <a:xfrm>
            <a:off x="1931670" y="4206240"/>
            <a:ext cx="982980" cy="982980"/>
          </a:xfrm>
          <a:prstGeom prst="rect">
            <a:avLst/>
          </a:prstGeom>
          <a:solidFill>
            <a:srgbClr val="1B2A44"/>
          </a:solidFill>
          <a:ln/>
        </p:spPr>
      </p:sp>
      <p:sp>
        <p:nvSpPr>
          <p:cNvPr id="25" name="Shape 23"/>
          <p:cNvSpPr/>
          <p:nvPr/>
        </p:nvSpPr>
        <p:spPr>
          <a:xfrm>
            <a:off x="1931670" y="2731770"/>
            <a:ext cx="982980" cy="982980"/>
          </a:xfrm>
          <a:prstGeom prst="rect">
            <a:avLst/>
          </a:prstGeom>
          <a:solidFill>
            <a:srgbClr val="E8934D"/>
          </a:solidFill>
          <a:ln/>
        </p:spPr>
      </p:sp>
      <p:sp>
        <p:nvSpPr>
          <p:cNvPr id="26" name="Shape 24"/>
          <p:cNvSpPr/>
          <p:nvPr/>
        </p:nvSpPr>
        <p:spPr>
          <a:xfrm>
            <a:off x="555498" y="2731770"/>
            <a:ext cx="982980" cy="982980"/>
          </a:xfrm>
          <a:prstGeom prst="rect">
            <a:avLst/>
          </a:prstGeom>
          <a:solidFill>
            <a:srgbClr val="1F6F78"/>
          </a:solidFill>
          <a:ln/>
        </p:spPr>
      </p:sp>
      <p:sp>
        <p:nvSpPr>
          <p:cNvPr id="27" name="Shape 25"/>
          <p:cNvSpPr/>
          <p:nvPr/>
        </p:nvSpPr>
        <p:spPr>
          <a:xfrm flipH="1">
            <a:off x="752094" y="4206240"/>
            <a:ext cx="1671066" cy="91"/>
          </a:xfrm>
          <a:prstGeom prst="line">
            <a:avLst/>
          </a:prstGeom>
          <a:noFill/>
          <a:ln w="7620">
            <a:solidFill>
              <a:srgbClr val="8C99A8"/>
            </a:solidFill>
            <a:prstDash val="solid"/>
          </a:ln>
        </p:spPr>
      </p:sp>
      <p:sp>
        <p:nvSpPr>
          <p:cNvPr id="28" name="Shape 26"/>
          <p:cNvSpPr/>
          <p:nvPr/>
        </p:nvSpPr>
        <p:spPr>
          <a:xfrm flipH="1" flipV="1">
            <a:off x="809034" y="3773736"/>
            <a:ext cx="1614126" cy="432504"/>
          </a:xfrm>
          <a:prstGeom prst="line">
            <a:avLst/>
          </a:prstGeom>
          <a:noFill/>
          <a:ln w="7620">
            <a:solidFill>
              <a:srgbClr val="8C99A8"/>
            </a:solidFill>
            <a:prstDash val="dash"/>
          </a:ln>
        </p:spPr>
      </p:sp>
      <p:sp>
        <p:nvSpPr>
          <p:cNvPr id="29" name="Shape 27"/>
          <p:cNvSpPr/>
          <p:nvPr/>
        </p:nvSpPr>
        <p:spPr>
          <a:xfrm flipH="1" flipV="1">
            <a:off x="975974" y="3370707"/>
            <a:ext cx="1447186" cy="835533"/>
          </a:xfrm>
          <a:prstGeom prst="line">
            <a:avLst/>
          </a:prstGeom>
          <a:noFill/>
          <a:ln w="7620">
            <a:solidFill>
              <a:srgbClr val="8C99A8"/>
            </a:solidFill>
            <a:prstDash val="dash"/>
          </a:ln>
        </p:spPr>
      </p:sp>
      <p:sp>
        <p:nvSpPr>
          <p:cNvPr id="30" name="Shape 28"/>
          <p:cNvSpPr/>
          <p:nvPr/>
        </p:nvSpPr>
        <p:spPr>
          <a:xfrm flipH="1" flipV="1">
            <a:off x="1241538" y="3024618"/>
            <a:ext cx="1181622" cy="1181622"/>
          </a:xfrm>
          <a:prstGeom prst="line">
            <a:avLst/>
          </a:prstGeom>
          <a:noFill/>
          <a:ln w="7620">
            <a:solidFill>
              <a:srgbClr val="8C99A8"/>
            </a:solidFill>
            <a:prstDash val="dash"/>
          </a:ln>
        </p:spPr>
      </p:sp>
      <p:sp>
        <p:nvSpPr>
          <p:cNvPr id="31" name="Shape 29"/>
          <p:cNvSpPr/>
          <p:nvPr/>
        </p:nvSpPr>
        <p:spPr>
          <a:xfrm flipH="1" flipV="1">
            <a:off x="1587627" y="2759054"/>
            <a:ext cx="835533" cy="1447186"/>
          </a:xfrm>
          <a:prstGeom prst="line">
            <a:avLst/>
          </a:prstGeom>
          <a:noFill/>
          <a:ln w="7620">
            <a:solidFill>
              <a:srgbClr val="8C99A8"/>
            </a:solidFill>
            <a:prstDash val="dash"/>
          </a:ln>
        </p:spPr>
      </p:sp>
      <p:sp>
        <p:nvSpPr>
          <p:cNvPr id="32" name="Shape 30"/>
          <p:cNvSpPr/>
          <p:nvPr/>
        </p:nvSpPr>
        <p:spPr>
          <a:xfrm flipH="1" flipV="1">
            <a:off x="1990656" y="2592114"/>
            <a:ext cx="432504" cy="1614126"/>
          </a:xfrm>
          <a:prstGeom prst="line">
            <a:avLst/>
          </a:prstGeom>
          <a:noFill/>
          <a:ln w="7620">
            <a:solidFill>
              <a:srgbClr val="8C99A8"/>
            </a:solidFill>
            <a:prstDash val="dash"/>
          </a:ln>
        </p:spPr>
      </p:sp>
      <p:sp>
        <p:nvSpPr>
          <p:cNvPr id="33" name="Shape 31"/>
          <p:cNvSpPr/>
          <p:nvPr/>
        </p:nvSpPr>
        <p:spPr>
          <a:xfrm flipV="1">
            <a:off x="2423160" y="2535174"/>
            <a:ext cx="91" cy="1671066"/>
          </a:xfrm>
          <a:prstGeom prst="line">
            <a:avLst/>
          </a:prstGeom>
          <a:noFill/>
          <a:ln w="7620">
            <a:solidFill>
              <a:srgbClr val="8C99A8"/>
            </a:solidFill>
            <a:prstDash val="dash"/>
          </a:ln>
        </p:spPr>
      </p:sp>
      <p:sp>
        <p:nvSpPr>
          <p:cNvPr id="34" name="Shape 32"/>
          <p:cNvSpPr/>
          <p:nvPr/>
        </p:nvSpPr>
        <p:spPr>
          <a:xfrm flipV="1">
            <a:off x="2423160" y="2592114"/>
            <a:ext cx="432504" cy="1614126"/>
          </a:xfrm>
          <a:prstGeom prst="line">
            <a:avLst/>
          </a:prstGeom>
          <a:noFill/>
          <a:ln w="7620">
            <a:solidFill>
              <a:srgbClr val="8C99A8"/>
            </a:solidFill>
            <a:prstDash val="dash"/>
          </a:ln>
        </p:spPr>
      </p:sp>
      <p:sp>
        <p:nvSpPr>
          <p:cNvPr id="35" name="Shape 33"/>
          <p:cNvSpPr/>
          <p:nvPr/>
        </p:nvSpPr>
        <p:spPr>
          <a:xfrm flipV="1">
            <a:off x="2423160" y="2759054"/>
            <a:ext cx="835533" cy="1447186"/>
          </a:xfrm>
          <a:prstGeom prst="line">
            <a:avLst/>
          </a:prstGeom>
          <a:noFill/>
          <a:ln w="7620">
            <a:solidFill>
              <a:srgbClr val="8C99A8"/>
            </a:solidFill>
            <a:prstDash val="dash"/>
          </a:ln>
        </p:spPr>
      </p:sp>
      <p:sp>
        <p:nvSpPr>
          <p:cNvPr id="36" name="Shape 34"/>
          <p:cNvSpPr/>
          <p:nvPr/>
        </p:nvSpPr>
        <p:spPr>
          <a:xfrm flipV="1">
            <a:off x="2423160" y="3024618"/>
            <a:ext cx="1181622" cy="1181622"/>
          </a:xfrm>
          <a:prstGeom prst="line">
            <a:avLst/>
          </a:prstGeom>
          <a:noFill/>
          <a:ln w="7620">
            <a:solidFill>
              <a:srgbClr val="8C99A8"/>
            </a:solidFill>
            <a:prstDash val="dash"/>
          </a:ln>
        </p:spPr>
      </p:sp>
      <p:sp>
        <p:nvSpPr>
          <p:cNvPr id="37" name="Shape 35"/>
          <p:cNvSpPr/>
          <p:nvPr/>
        </p:nvSpPr>
        <p:spPr>
          <a:xfrm flipV="1">
            <a:off x="2423160" y="3370707"/>
            <a:ext cx="1447186" cy="835533"/>
          </a:xfrm>
          <a:prstGeom prst="line">
            <a:avLst/>
          </a:prstGeom>
          <a:noFill/>
          <a:ln w="7620">
            <a:solidFill>
              <a:srgbClr val="8C99A8"/>
            </a:solidFill>
            <a:prstDash val="dash"/>
          </a:ln>
        </p:spPr>
      </p:sp>
      <p:sp>
        <p:nvSpPr>
          <p:cNvPr id="38" name="Shape 36"/>
          <p:cNvSpPr/>
          <p:nvPr/>
        </p:nvSpPr>
        <p:spPr>
          <a:xfrm flipV="1">
            <a:off x="2423160" y="3773736"/>
            <a:ext cx="1614126" cy="432504"/>
          </a:xfrm>
          <a:prstGeom prst="line">
            <a:avLst/>
          </a:prstGeom>
          <a:noFill/>
          <a:ln w="7620">
            <a:solidFill>
              <a:srgbClr val="8C99A8"/>
            </a:solidFill>
            <a:prstDash val="dash"/>
          </a:ln>
        </p:spPr>
      </p:sp>
      <p:sp>
        <p:nvSpPr>
          <p:cNvPr id="39" name="Shape 37"/>
          <p:cNvSpPr/>
          <p:nvPr/>
        </p:nvSpPr>
        <p:spPr>
          <a:xfrm>
            <a:off x="2423160" y="4206240"/>
            <a:ext cx="1671066" cy="91"/>
          </a:xfrm>
          <a:prstGeom prst="line">
            <a:avLst/>
          </a:prstGeom>
          <a:noFill/>
          <a:ln w="7620">
            <a:solidFill>
              <a:srgbClr val="8C99A8"/>
            </a:solidFill>
            <a:prstDash val="solid"/>
          </a:ln>
        </p:spPr>
      </p:sp>
      <p:sp>
        <p:nvSpPr>
          <p:cNvPr id="40" name="Shape 38"/>
          <p:cNvSpPr/>
          <p:nvPr/>
        </p:nvSpPr>
        <p:spPr>
          <a:xfrm>
            <a:off x="461748" y="3852733"/>
            <a:ext cx="219456" cy="219456"/>
          </a:xfrm>
          <a:prstGeom prst="ellipse">
            <a:avLst/>
          </a:prstGeom>
          <a:solidFill>
            <a:srgbClr val="FFFFFF"/>
          </a:solidFill>
          <a:ln w="9525">
            <a:solidFill>
              <a:srgbClr val="B8C0CA"/>
            </a:solidFill>
            <a:prstDash val="solid"/>
          </a:ln>
        </p:spPr>
      </p:sp>
      <p:sp>
        <p:nvSpPr>
          <p:cNvPr id="41" name="Text 39"/>
          <p:cNvSpPr txBox="1"/>
          <p:nvPr/>
        </p:nvSpPr>
        <p:spPr>
          <a:xfrm>
            <a:off x="443460" y="3861877"/>
            <a:ext cx="256032" cy="201168"/>
          </a:xfrm>
          <a:prstGeom prst="rect">
            <a:avLst/>
          </a:prstGeom>
          <a:noFill/>
          <a:ln/>
        </p:spPr>
        <p:txBody>
          <a:bodyPr wrap="square" lIns="0" tIns="0" rIns="0" bIns="0"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1</a:t>
            </a:r>
            <a:endParaRPr lang="en-US" sz="900" dirty="0"/>
          </a:p>
        </p:txBody>
      </p:sp>
      <p:sp>
        <p:nvSpPr>
          <p:cNvPr id="42" name="Shape 40"/>
          <p:cNvSpPr/>
          <p:nvPr/>
        </p:nvSpPr>
        <p:spPr>
          <a:xfrm>
            <a:off x="587937" y="3381789"/>
            <a:ext cx="219456" cy="219456"/>
          </a:xfrm>
          <a:prstGeom prst="ellipse">
            <a:avLst/>
          </a:prstGeom>
          <a:solidFill>
            <a:srgbClr val="FFFFFF"/>
          </a:solidFill>
          <a:ln w="9525">
            <a:solidFill>
              <a:srgbClr val="C56A2C"/>
            </a:solidFill>
            <a:prstDash val="solid"/>
          </a:ln>
        </p:spPr>
      </p:sp>
      <p:sp>
        <p:nvSpPr>
          <p:cNvPr id="43" name="Text 41"/>
          <p:cNvSpPr txBox="1"/>
          <p:nvPr/>
        </p:nvSpPr>
        <p:spPr>
          <a:xfrm>
            <a:off x="569649" y="3390933"/>
            <a:ext cx="256032" cy="201168"/>
          </a:xfrm>
          <a:prstGeom prst="rect">
            <a:avLst/>
          </a:prstGeom>
          <a:noFill/>
          <a:ln/>
        </p:spPr>
        <p:txBody>
          <a:bodyPr wrap="square" lIns="0" tIns="0" rIns="0" bIns="0"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2</a:t>
            </a:r>
            <a:endParaRPr lang="en-US" sz="900" dirty="0"/>
          </a:p>
        </p:txBody>
      </p:sp>
      <p:sp>
        <p:nvSpPr>
          <p:cNvPr id="44" name="Shape 42"/>
          <p:cNvSpPr/>
          <p:nvPr/>
        </p:nvSpPr>
        <p:spPr>
          <a:xfrm>
            <a:off x="831716" y="2959551"/>
            <a:ext cx="219456" cy="219456"/>
          </a:xfrm>
          <a:prstGeom prst="ellipse">
            <a:avLst/>
          </a:prstGeom>
          <a:solidFill>
            <a:srgbClr val="FFFFFF"/>
          </a:solidFill>
          <a:ln w="9525">
            <a:solidFill>
              <a:srgbClr val="C56A2C"/>
            </a:solidFill>
            <a:prstDash val="solid"/>
          </a:ln>
        </p:spPr>
      </p:sp>
      <p:sp>
        <p:nvSpPr>
          <p:cNvPr id="45" name="Text 43"/>
          <p:cNvSpPr txBox="1"/>
          <p:nvPr/>
        </p:nvSpPr>
        <p:spPr>
          <a:xfrm>
            <a:off x="813428" y="2968695"/>
            <a:ext cx="256032" cy="201168"/>
          </a:xfrm>
          <a:prstGeom prst="rect">
            <a:avLst/>
          </a:prstGeom>
          <a:noFill/>
          <a:ln/>
        </p:spPr>
        <p:txBody>
          <a:bodyPr wrap="square" lIns="0" tIns="0" rIns="0" bIns="0"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3</a:t>
            </a:r>
            <a:endParaRPr lang="en-US" sz="900" dirty="0"/>
          </a:p>
        </p:txBody>
      </p:sp>
      <p:sp>
        <p:nvSpPr>
          <p:cNvPr id="46" name="Shape 44"/>
          <p:cNvSpPr/>
          <p:nvPr/>
        </p:nvSpPr>
        <p:spPr>
          <a:xfrm>
            <a:off x="1176471" y="2614796"/>
            <a:ext cx="219456" cy="219456"/>
          </a:xfrm>
          <a:prstGeom prst="ellipse">
            <a:avLst/>
          </a:prstGeom>
          <a:solidFill>
            <a:srgbClr val="FFFFFF"/>
          </a:solidFill>
          <a:ln w="9525">
            <a:solidFill>
              <a:srgbClr val="C56A2C"/>
            </a:solidFill>
            <a:prstDash val="solid"/>
          </a:ln>
        </p:spPr>
      </p:sp>
      <p:sp>
        <p:nvSpPr>
          <p:cNvPr id="47" name="Text 45"/>
          <p:cNvSpPr txBox="1"/>
          <p:nvPr/>
        </p:nvSpPr>
        <p:spPr>
          <a:xfrm>
            <a:off x="1158183" y="2623940"/>
            <a:ext cx="256032" cy="201168"/>
          </a:xfrm>
          <a:prstGeom prst="rect">
            <a:avLst/>
          </a:prstGeom>
          <a:noFill/>
          <a:ln/>
        </p:spPr>
        <p:txBody>
          <a:bodyPr wrap="square" lIns="0" tIns="0" rIns="0" bIns="0"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4</a:t>
            </a:r>
            <a:endParaRPr lang="en-US" sz="900" dirty="0"/>
          </a:p>
        </p:txBody>
      </p:sp>
      <p:sp>
        <p:nvSpPr>
          <p:cNvPr id="48" name="Shape 46"/>
          <p:cNvSpPr/>
          <p:nvPr/>
        </p:nvSpPr>
        <p:spPr>
          <a:xfrm>
            <a:off x="1598709" y="2371017"/>
            <a:ext cx="219456" cy="219456"/>
          </a:xfrm>
          <a:prstGeom prst="ellipse">
            <a:avLst/>
          </a:prstGeom>
          <a:solidFill>
            <a:srgbClr val="FFFFFF"/>
          </a:solidFill>
          <a:ln w="9525">
            <a:solidFill>
              <a:srgbClr val="C56A2C"/>
            </a:solidFill>
            <a:prstDash val="solid"/>
          </a:ln>
        </p:spPr>
      </p:sp>
      <p:sp>
        <p:nvSpPr>
          <p:cNvPr id="49" name="Text 47"/>
          <p:cNvSpPr txBox="1"/>
          <p:nvPr/>
        </p:nvSpPr>
        <p:spPr>
          <a:xfrm>
            <a:off x="1580421" y="2380161"/>
            <a:ext cx="256032" cy="201168"/>
          </a:xfrm>
          <a:prstGeom prst="rect">
            <a:avLst/>
          </a:prstGeom>
          <a:noFill/>
          <a:ln/>
        </p:spPr>
        <p:txBody>
          <a:bodyPr wrap="square" lIns="0" tIns="0" rIns="0" bIns="0"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a:t>
            </a:r>
            <a:endParaRPr lang="en-US" sz="900" dirty="0"/>
          </a:p>
        </p:txBody>
      </p:sp>
      <p:sp>
        <p:nvSpPr>
          <p:cNvPr id="50" name="Shape 48"/>
          <p:cNvSpPr/>
          <p:nvPr/>
        </p:nvSpPr>
        <p:spPr>
          <a:xfrm>
            <a:off x="2069653" y="2244828"/>
            <a:ext cx="219456" cy="219456"/>
          </a:xfrm>
          <a:prstGeom prst="ellipse">
            <a:avLst/>
          </a:prstGeom>
          <a:solidFill>
            <a:srgbClr val="FFFFFF"/>
          </a:solidFill>
          <a:ln w="9525">
            <a:solidFill>
              <a:srgbClr val="C56A2C"/>
            </a:solidFill>
            <a:prstDash val="solid"/>
          </a:ln>
        </p:spPr>
      </p:sp>
      <p:sp>
        <p:nvSpPr>
          <p:cNvPr id="51" name="Text 49"/>
          <p:cNvSpPr txBox="1"/>
          <p:nvPr/>
        </p:nvSpPr>
        <p:spPr>
          <a:xfrm>
            <a:off x="2051365" y="2253972"/>
            <a:ext cx="256032" cy="201168"/>
          </a:xfrm>
          <a:prstGeom prst="rect">
            <a:avLst/>
          </a:prstGeom>
          <a:noFill/>
          <a:ln/>
        </p:spPr>
        <p:txBody>
          <a:bodyPr wrap="square" lIns="0" tIns="0" rIns="0" bIns="0"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6</a:t>
            </a:r>
            <a:endParaRPr lang="en-US" sz="900" dirty="0"/>
          </a:p>
        </p:txBody>
      </p:sp>
      <p:sp>
        <p:nvSpPr>
          <p:cNvPr id="52" name="Shape 50"/>
          <p:cNvSpPr/>
          <p:nvPr/>
        </p:nvSpPr>
        <p:spPr>
          <a:xfrm>
            <a:off x="2557211" y="2244828"/>
            <a:ext cx="219456" cy="219456"/>
          </a:xfrm>
          <a:prstGeom prst="ellipse">
            <a:avLst/>
          </a:prstGeom>
          <a:solidFill>
            <a:srgbClr val="FFFFFF"/>
          </a:solidFill>
          <a:ln w="9525">
            <a:solidFill>
              <a:srgbClr val="C56A2C"/>
            </a:solidFill>
            <a:prstDash val="solid"/>
          </a:ln>
        </p:spPr>
      </p:sp>
      <p:sp>
        <p:nvSpPr>
          <p:cNvPr id="53" name="Text 51"/>
          <p:cNvSpPr txBox="1"/>
          <p:nvPr/>
        </p:nvSpPr>
        <p:spPr>
          <a:xfrm>
            <a:off x="2538923" y="2253972"/>
            <a:ext cx="256032" cy="201168"/>
          </a:xfrm>
          <a:prstGeom prst="rect">
            <a:avLst/>
          </a:prstGeom>
          <a:noFill/>
          <a:ln/>
        </p:spPr>
        <p:txBody>
          <a:bodyPr wrap="square" lIns="0" tIns="0" rIns="0" bIns="0"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7</a:t>
            </a:r>
            <a:endParaRPr lang="en-US" sz="900" dirty="0"/>
          </a:p>
        </p:txBody>
      </p:sp>
      <p:sp>
        <p:nvSpPr>
          <p:cNvPr id="54" name="Shape 52"/>
          <p:cNvSpPr/>
          <p:nvPr/>
        </p:nvSpPr>
        <p:spPr>
          <a:xfrm>
            <a:off x="3028155" y="2371017"/>
            <a:ext cx="219456" cy="219456"/>
          </a:xfrm>
          <a:prstGeom prst="ellipse">
            <a:avLst/>
          </a:prstGeom>
          <a:solidFill>
            <a:srgbClr val="FFFFFF"/>
          </a:solidFill>
          <a:ln w="9525">
            <a:solidFill>
              <a:srgbClr val="C56A2C"/>
            </a:solidFill>
            <a:prstDash val="solid"/>
          </a:ln>
        </p:spPr>
      </p:sp>
      <p:sp>
        <p:nvSpPr>
          <p:cNvPr id="55" name="Text 53"/>
          <p:cNvSpPr txBox="1"/>
          <p:nvPr/>
        </p:nvSpPr>
        <p:spPr>
          <a:xfrm>
            <a:off x="3009867" y="2380161"/>
            <a:ext cx="256032" cy="201168"/>
          </a:xfrm>
          <a:prstGeom prst="rect">
            <a:avLst/>
          </a:prstGeom>
          <a:noFill/>
          <a:ln/>
        </p:spPr>
        <p:txBody>
          <a:bodyPr wrap="square" lIns="0" tIns="0" rIns="0" bIns="0"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8</a:t>
            </a:r>
            <a:endParaRPr lang="en-US" sz="900" dirty="0"/>
          </a:p>
        </p:txBody>
      </p:sp>
      <p:sp>
        <p:nvSpPr>
          <p:cNvPr id="56" name="Shape 54"/>
          <p:cNvSpPr/>
          <p:nvPr/>
        </p:nvSpPr>
        <p:spPr>
          <a:xfrm>
            <a:off x="3450393" y="2614796"/>
            <a:ext cx="219456" cy="219456"/>
          </a:xfrm>
          <a:prstGeom prst="ellipse">
            <a:avLst/>
          </a:prstGeom>
          <a:solidFill>
            <a:srgbClr val="FFFFFF"/>
          </a:solidFill>
          <a:ln w="9525">
            <a:solidFill>
              <a:srgbClr val="C56A2C"/>
            </a:solidFill>
            <a:prstDash val="solid"/>
          </a:ln>
        </p:spPr>
      </p:sp>
      <p:sp>
        <p:nvSpPr>
          <p:cNvPr id="57" name="Text 55"/>
          <p:cNvSpPr txBox="1"/>
          <p:nvPr/>
        </p:nvSpPr>
        <p:spPr>
          <a:xfrm>
            <a:off x="3432105" y="2623940"/>
            <a:ext cx="256032" cy="201168"/>
          </a:xfrm>
          <a:prstGeom prst="rect">
            <a:avLst/>
          </a:prstGeom>
          <a:noFill/>
          <a:ln/>
        </p:spPr>
        <p:txBody>
          <a:bodyPr wrap="square" lIns="0" tIns="0" rIns="0" bIns="0"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9</a:t>
            </a:r>
            <a:endParaRPr lang="en-US" sz="900" dirty="0"/>
          </a:p>
        </p:txBody>
      </p:sp>
      <p:sp>
        <p:nvSpPr>
          <p:cNvPr id="58" name="Shape 56"/>
          <p:cNvSpPr/>
          <p:nvPr/>
        </p:nvSpPr>
        <p:spPr>
          <a:xfrm>
            <a:off x="3795148" y="2959551"/>
            <a:ext cx="219456" cy="219456"/>
          </a:xfrm>
          <a:prstGeom prst="ellipse">
            <a:avLst/>
          </a:prstGeom>
          <a:solidFill>
            <a:srgbClr val="FFFFFF"/>
          </a:solidFill>
          <a:ln w="9525">
            <a:solidFill>
              <a:srgbClr val="B8C0CA"/>
            </a:solidFill>
            <a:prstDash val="solid"/>
          </a:ln>
        </p:spPr>
      </p:sp>
      <p:sp>
        <p:nvSpPr>
          <p:cNvPr id="59" name="Text 57"/>
          <p:cNvSpPr txBox="1"/>
          <p:nvPr/>
        </p:nvSpPr>
        <p:spPr>
          <a:xfrm>
            <a:off x="3776860" y="2968695"/>
            <a:ext cx="256032" cy="201168"/>
          </a:xfrm>
          <a:prstGeom prst="rect">
            <a:avLst/>
          </a:prstGeom>
          <a:noFill/>
          <a:ln/>
        </p:spPr>
        <p:txBody>
          <a:bodyPr wrap="square" lIns="0" tIns="0" rIns="0" bIns="0"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10</a:t>
            </a:r>
            <a:endParaRPr lang="en-US" sz="900" dirty="0"/>
          </a:p>
        </p:txBody>
      </p:sp>
      <p:sp>
        <p:nvSpPr>
          <p:cNvPr id="60" name="Shape 58"/>
          <p:cNvSpPr/>
          <p:nvPr/>
        </p:nvSpPr>
        <p:spPr>
          <a:xfrm>
            <a:off x="4038927" y="3381789"/>
            <a:ext cx="219456" cy="219456"/>
          </a:xfrm>
          <a:prstGeom prst="ellipse">
            <a:avLst/>
          </a:prstGeom>
          <a:solidFill>
            <a:srgbClr val="FFFFFF"/>
          </a:solidFill>
          <a:ln w="9525">
            <a:solidFill>
              <a:srgbClr val="B8C0CA"/>
            </a:solidFill>
            <a:prstDash val="solid"/>
          </a:ln>
        </p:spPr>
      </p:sp>
      <p:sp>
        <p:nvSpPr>
          <p:cNvPr id="61" name="Text 59"/>
          <p:cNvSpPr txBox="1"/>
          <p:nvPr/>
        </p:nvSpPr>
        <p:spPr>
          <a:xfrm>
            <a:off x="4020639" y="3390933"/>
            <a:ext cx="256032" cy="201168"/>
          </a:xfrm>
          <a:prstGeom prst="rect">
            <a:avLst/>
          </a:prstGeom>
          <a:noFill/>
          <a:ln/>
        </p:spPr>
        <p:txBody>
          <a:bodyPr wrap="square" lIns="0" tIns="0" rIns="0" bIns="0"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11</a:t>
            </a:r>
            <a:endParaRPr lang="en-US" sz="900" dirty="0"/>
          </a:p>
        </p:txBody>
      </p:sp>
      <p:sp>
        <p:nvSpPr>
          <p:cNvPr id="62" name="Shape 60"/>
          <p:cNvSpPr/>
          <p:nvPr/>
        </p:nvSpPr>
        <p:spPr>
          <a:xfrm>
            <a:off x="4165116" y="3852733"/>
            <a:ext cx="219456" cy="219456"/>
          </a:xfrm>
          <a:prstGeom prst="ellipse">
            <a:avLst/>
          </a:prstGeom>
          <a:solidFill>
            <a:srgbClr val="FFFFFF"/>
          </a:solidFill>
          <a:ln w="9525">
            <a:solidFill>
              <a:srgbClr val="B8C0CA"/>
            </a:solidFill>
            <a:prstDash val="solid"/>
          </a:ln>
        </p:spPr>
      </p:sp>
      <p:sp>
        <p:nvSpPr>
          <p:cNvPr id="63" name="Text 61"/>
          <p:cNvSpPr txBox="1"/>
          <p:nvPr/>
        </p:nvSpPr>
        <p:spPr>
          <a:xfrm>
            <a:off x="4146828" y="3861877"/>
            <a:ext cx="256032" cy="201168"/>
          </a:xfrm>
          <a:prstGeom prst="rect">
            <a:avLst/>
          </a:prstGeom>
          <a:noFill/>
          <a:ln/>
        </p:spPr>
        <p:txBody>
          <a:bodyPr wrap="square" lIns="0" tIns="0" rIns="0" bIns="0"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12</a:t>
            </a:r>
            <a:endParaRPr lang="en-US" sz="900" dirty="0"/>
          </a:p>
        </p:txBody>
      </p:sp>
      <p:sp>
        <p:nvSpPr>
          <p:cNvPr id="64" name="Shape 62"/>
          <p:cNvSpPr/>
          <p:nvPr/>
        </p:nvSpPr>
        <p:spPr>
          <a:xfrm>
            <a:off x="2359152" y="4142232"/>
            <a:ext cx="128016" cy="128016"/>
          </a:xfrm>
          <a:prstGeom prst="ellipse">
            <a:avLst/>
          </a:prstGeom>
          <a:solidFill>
            <a:srgbClr val="E8D26E"/>
          </a:solidFill>
          <a:ln w="6350">
            <a:solidFill>
              <a:srgbClr val="FFFFFF"/>
            </a:solidFill>
            <a:prstDash val="solid"/>
          </a:ln>
        </p:spPr>
      </p:sp>
      <p:sp>
        <p:nvSpPr>
          <p:cNvPr id="65" name="Text 63"/>
          <p:cNvSpPr txBox="1"/>
          <p:nvPr/>
        </p:nvSpPr>
        <p:spPr>
          <a:xfrm>
            <a:off x="2496312" y="4224528"/>
            <a:ext cx="365760" cy="182880"/>
          </a:xfrm>
          <a:prstGeom prst="rect">
            <a:avLst/>
          </a:prstGeom>
          <a:noFill/>
          <a:ln/>
        </p:spPr>
        <p:txBody>
          <a:bodyPr wrap="square" lIns="508" tIns="508" rIns="508" bIns="508" rtlCol="0" anchor="t"/>
          <a:lstStyle/>
          <a:p>
            <a:pPr indent="0" marL="0">
              <a:buNone/>
            </a:pPr>
            <a:r>
              <a:rPr lang="en-US" sz="850" b="1" dirty="0">
                <a:solidFill>
                  <a:srgbClr val="FFFFFF"/>
                </a:solidFill>
                <a:latin typeface="Yu Gothic" pitchFamily="34" charset="0"/>
                <a:ea typeface="Yu Gothic" pitchFamily="34" charset="-122"/>
                <a:cs typeface="Yu Gothic" pitchFamily="34" charset="-120"/>
              </a:rPr>
              <a:t>点P</a:t>
            </a:r>
            <a:endParaRPr lang="en-US" sz="850" dirty="0"/>
          </a:p>
        </p:txBody>
      </p:sp>
      <p:sp>
        <p:nvSpPr>
          <p:cNvPr id="66" name="Text 64"/>
          <p:cNvSpPr txBox="1"/>
          <p:nvPr/>
        </p:nvSpPr>
        <p:spPr>
          <a:xfrm>
            <a:off x="1931670" y="4992624"/>
            <a:ext cx="982980" cy="201168"/>
          </a:xfrm>
          <a:prstGeom prst="rect">
            <a:avLst/>
          </a:prstGeom>
          <a:noFill/>
          <a:ln/>
        </p:spPr>
        <p:txBody>
          <a:bodyPr wrap="square" lIns="508" tIns="508" rIns="508" bIns="508" rtlCol="0" anchor="t"/>
          <a:lstStyle/>
          <a:p>
            <a:pPr algn="ctr" indent="0" marL="0">
              <a:buNone/>
            </a:pPr>
            <a:r>
              <a:rPr lang="en-US" sz="850" b="1" dirty="0">
                <a:solidFill>
                  <a:srgbClr val="FFFFFF"/>
                </a:solidFill>
                <a:latin typeface="Yu Gothic" pitchFamily="34" charset="0"/>
                <a:ea typeface="Yu Gothic" pitchFamily="34" charset="-122"/>
                <a:cs typeface="Yu Gothic" pitchFamily="34" charset="-120"/>
              </a:rPr>
              <a:t>中央建物</a:t>
            </a:r>
            <a:endParaRPr lang="en-US" sz="850" dirty="0"/>
          </a:p>
        </p:txBody>
      </p:sp>
      <p:sp>
        <p:nvSpPr>
          <p:cNvPr id="67" name="Text 65"/>
          <p:cNvSpPr txBox="1"/>
          <p:nvPr/>
        </p:nvSpPr>
        <p:spPr>
          <a:xfrm>
            <a:off x="1931670" y="3478835"/>
            <a:ext cx="982980" cy="201168"/>
          </a:xfrm>
          <a:prstGeom prst="rect">
            <a:avLst/>
          </a:prstGeom>
          <a:noFill/>
          <a:ln/>
        </p:spPr>
        <p:txBody>
          <a:bodyPr wrap="square" lIns="508" tIns="508" rIns="508" bIns="508" rtlCol="0" anchor="t"/>
          <a:lstStyle/>
          <a:p>
            <a:pPr algn="ctr" indent="0" marL="0">
              <a:buNone/>
            </a:pPr>
            <a:r>
              <a:rPr lang="en-US" sz="850" b="1" dirty="0">
                <a:solidFill>
                  <a:srgbClr val="FFFFFF"/>
                </a:solidFill>
                <a:latin typeface="Yu Gothic" pitchFamily="34" charset="0"/>
                <a:ea typeface="Yu Gothic" pitchFamily="34" charset="-122"/>
                <a:cs typeface="Yu Gothic" pitchFamily="34" charset="-120"/>
              </a:rPr>
              <a:t>南</a:t>
            </a:r>
            <a:endParaRPr lang="en-US" sz="850" dirty="0"/>
          </a:p>
        </p:txBody>
      </p:sp>
      <p:sp>
        <p:nvSpPr>
          <p:cNvPr id="68" name="Text 66"/>
          <p:cNvSpPr txBox="1"/>
          <p:nvPr/>
        </p:nvSpPr>
        <p:spPr>
          <a:xfrm>
            <a:off x="555498" y="3478835"/>
            <a:ext cx="982980" cy="201168"/>
          </a:xfrm>
          <a:prstGeom prst="rect">
            <a:avLst/>
          </a:prstGeom>
          <a:noFill/>
          <a:ln/>
        </p:spPr>
        <p:txBody>
          <a:bodyPr wrap="square" lIns="508" tIns="508" rIns="508" bIns="508" rtlCol="0" anchor="t"/>
          <a:lstStyle/>
          <a:p>
            <a:pPr algn="ctr" indent="0" marL="0">
              <a:buNone/>
            </a:pPr>
            <a:r>
              <a:rPr lang="en-US" sz="850" b="1" dirty="0">
                <a:solidFill>
                  <a:srgbClr val="FFFFFF"/>
                </a:solidFill>
                <a:latin typeface="Yu Gothic" pitchFamily="34" charset="0"/>
                <a:ea typeface="Yu Gothic" pitchFamily="34" charset="-122"/>
                <a:cs typeface="Yu Gothic" pitchFamily="34" charset="-120"/>
              </a:rPr>
              <a:t>南東</a:t>
            </a:r>
            <a:endParaRPr lang="en-US" sz="850" dirty="0"/>
          </a:p>
        </p:txBody>
      </p:sp>
      <p:sp>
        <p:nvSpPr>
          <p:cNvPr id="69" name="Text 67"/>
          <p:cNvSpPr txBox="1"/>
          <p:nvPr/>
        </p:nvSpPr>
        <p:spPr>
          <a:xfrm>
            <a:off x="594360" y="5596128"/>
            <a:ext cx="3657600" cy="201168"/>
          </a:xfrm>
          <a:prstGeom prst="rect">
            <a:avLst/>
          </a:prstGeom>
          <a:noFill/>
          <a:ln/>
        </p:spPr>
        <p:txBody>
          <a:bodyPr wrap="square" lIns="508" tIns="508" rIns="508" bIns="508"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↑南（前）　東（左）｜西（右）</a:t>
            </a:r>
            <a:endParaRPr lang="en-US" sz="900" dirty="0"/>
          </a:p>
        </p:txBody>
      </p:sp>
      <p:sp>
        <p:nvSpPr>
          <p:cNvPr id="70" name="Text 68"/>
          <p:cNvSpPr txBox="1"/>
          <p:nvPr/>
        </p:nvSpPr>
        <p:spPr>
          <a:xfrm>
            <a:off x="594360" y="5833872"/>
            <a:ext cx="3657600" cy="384048"/>
          </a:xfrm>
          <a:prstGeom prst="rect">
            <a:avLst/>
          </a:prstGeom>
          <a:noFill/>
          <a:ln/>
        </p:spPr>
        <p:txBody>
          <a:bodyPr wrap="square" lIns="508" tIns="508" rIns="508" bIns="508" rtlCol="0" anchor="t"/>
          <a:lstStyle/>
          <a:p>
            <a:pPr algn="ctr" indent="0" marL="0">
              <a:buNone/>
            </a:pPr>
            <a:r>
              <a:rPr lang="en-US" sz="900" dirty="0">
                <a:solidFill>
                  <a:srgbClr val="333F4E"/>
                </a:solidFill>
                <a:latin typeface="Yu Gothic" pitchFamily="34" charset="0"/>
                <a:ea typeface="Yu Gothic" pitchFamily="34" charset="-122"/>
                <a:cs typeface="Yu Gothic" pitchFamily="34" charset="-120"/>
              </a:rPr>
              <a:t>番号 a＝1〜12（方位の番号）。オレンジ文字の方向に建物がある</a:t>
            </a:r>
            <a:endParaRPr lang="en-US" sz="900" dirty="0"/>
          </a:p>
        </p:txBody>
      </p:sp>
      <p:sp>
        <p:nvSpPr>
          <p:cNvPr id="71" name="Shape 69"/>
          <p:cNvSpPr/>
          <p:nvPr/>
        </p:nvSpPr>
        <p:spPr>
          <a:xfrm>
            <a:off x="4526280" y="1508760"/>
            <a:ext cx="3337560" cy="4800600"/>
          </a:xfrm>
          <a:prstGeom prst="roundRect">
            <a:avLst>
              <a:gd name="adj" fmla="val 1644"/>
            </a:avLst>
          </a:prstGeom>
          <a:solidFill>
            <a:srgbClr val="F3F5F8"/>
          </a:solidFill>
          <a:ln/>
        </p:spPr>
      </p:sp>
      <p:sp>
        <p:nvSpPr>
          <p:cNvPr id="72" name="Text 70"/>
          <p:cNvSpPr txBox="1"/>
          <p:nvPr/>
        </p:nvSpPr>
        <p:spPr>
          <a:xfrm>
            <a:off x="4663440" y="1563624"/>
            <a:ext cx="31546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② 横から見た図：見上げる角度を6に分ける</a:t>
            </a:r>
            <a:endParaRPr lang="en-US" sz="1100" dirty="0"/>
          </a:p>
        </p:txBody>
      </p:sp>
      <p:sp>
        <p:nvSpPr>
          <p:cNvPr id="73" name="Shape 71"/>
          <p:cNvSpPr/>
          <p:nvPr/>
        </p:nvSpPr>
        <p:spPr>
          <a:xfrm>
            <a:off x="7406640" y="3017520"/>
            <a:ext cx="274320" cy="1737360"/>
          </a:xfrm>
          <a:prstGeom prst="rect">
            <a:avLst/>
          </a:prstGeom>
          <a:solidFill>
            <a:srgbClr val="1B2A44"/>
          </a:solidFill>
          <a:ln/>
        </p:spPr>
      </p:sp>
      <p:sp>
        <p:nvSpPr>
          <p:cNvPr id="74" name="Shape 72"/>
          <p:cNvSpPr/>
          <p:nvPr/>
        </p:nvSpPr>
        <p:spPr>
          <a:xfrm>
            <a:off x="4709160" y="4754880"/>
            <a:ext cx="3017520" cy="91"/>
          </a:xfrm>
          <a:prstGeom prst="line">
            <a:avLst/>
          </a:prstGeom>
          <a:noFill/>
          <a:ln w="12700">
            <a:solidFill>
              <a:srgbClr val="6B7480"/>
            </a:solidFill>
            <a:prstDash val="solid"/>
          </a:ln>
        </p:spPr>
      </p:sp>
      <p:sp>
        <p:nvSpPr>
          <p:cNvPr id="75" name="Shape 73"/>
          <p:cNvSpPr/>
          <p:nvPr/>
        </p:nvSpPr>
        <p:spPr>
          <a:xfrm>
            <a:off x="5433731" y="3538728"/>
            <a:ext cx="1097280" cy="1216152"/>
          </a:xfrm>
          <a:prstGeom prst="rect">
            <a:avLst/>
          </a:prstGeom>
          <a:solidFill>
            <a:srgbClr val="E8934D">
              <a:alpha val="85000"/>
            </a:srgbClr>
          </a:solidFill>
          <a:ln/>
        </p:spPr>
      </p:sp>
      <p:sp>
        <p:nvSpPr>
          <p:cNvPr id="76" name="Shape 74"/>
          <p:cNvSpPr/>
          <p:nvPr/>
        </p:nvSpPr>
        <p:spPr>
          <a:xfrm flipH="1">
            <a:off x="5577840" y="4059936"/>
            <a:ext cx="1828800" cy="91"/>
          </a:xfrm>
          <a:prstGeom prst="line">
            <a:avLst/>
          </a:prstGeom>
          <a:noFill/>
          <a:ln w="7620">
            <a:solidFill>
              <a:srgbClr val="8C99A8"/>
            </a:solidFill>
            <a:prstDash val="solid"/>
          </a:ln>
        </p:spPr>
      </p:sp>
      <p:sp>
        <p:nvSpPr>
          <p:cNvPr id="77" name="Shape 75"/>
          <p:cNvSpPr/>
          <p:nvPr/>
        </p:nvSpPr>
        <p:spPr>
          <a:xfrm flipH="1" flipV="1">
            <a:off x="5640155" y="3586608"/>
            <a:ext cx="1766485" cy="473328"/>
          </a:xfrm>
          <a:prstGeom prst="line">
            <a:avLst/>
          </a:prstGeom>
          <a:noFill/>
          <a:ln w="7620">
            <a:solidFill>
              <a:srgbClr val="8C99A8"/>
            </a:solidFill>
            <a:prstDash val="dash"/>
          </a:ln>
        </p:spPr>
      </p:sp>
      <p:sp>
        <p:nvSpPr>
          <p:cNvPr id="78" name="Shape 76"/>
          <p:cNvSpPr/>
          <p:nvPr/>
        </p:nvSpPr>
        <p:spPr>
          <a:xfrm flipH="1" flipV="1">
            <a:off x="5822853" y="3145536"/>
            <a:ext cx="1583787" cy="914400"/>
          </a:xfrm>
          <a:prstGeom prst="line">
            <a:avLst/>
          </a:prstGeom>
          <a:noFill/>
          <a:ln w="7620">
            <a:solidFill>
              <a:srgbClr val="8C99A8"/>
            </a:solidFill>
            <a:prstDash val="dash"/>
          </a:ln>
        </p:spPr>
      </p:sp>
      <p:sp>
        <p:nvSpPr>
          <p:cNvPr id="79" name="Shape 77"/>
          <p:cNvSpPr/>
          <p:nvPr/>
        </p:nvSpPr>
        <p:spPr>
          <a:xfrm flipH="1" flipV="1">
            <a:off x="6113483" y="2766779"/>
            <a:ext cx="1293157" cy="1293157"/>
          </a:xfrm>
          <a:prstGeom prst="line">
            <a:avLst/>
          </a:prstGeom>
          <a:noFill/>
          <a:ln w="7620">
            <a:solidFill>
              <a:srgbClr val="8C99A8"/>
            </a:solidFill>
            <a:prstDash val="dash"/>
          </a:ln>
        </p:spPr>
      </p:sp>
      <p:sp>
        <p:nvSpPr>
          <p:cNvPr id="80" name="Shape 78"/>
          <p:cNvSpPr/>
          <p:nvPr/>
        </p:nvSpPr>
        <p:spPr>
          <a:xfrm flipH="1" flipV="1">
            <a:off x="6492240" y="2476149"/>
            <a:ext cx="914400" cy="1583787"/>
          </a:xfrm>
          <a:prstGeom prst="line">
            <a:avLst/>
          </a:prstGeom>
          <a:noFill/>
          <a:ln w="7620">
            <a:solidFill>
              <a:srgbClr val="8C99A8"/>
            </a:solidFill>
            <a:prstDash val="dash"/>
          </a:ln>
        </p:spPr>
      </p:sp>
      <p:sp>
        <p:nvSpPr>
          <p:cNvPr id="81" name="Shape 79"/>
          <p:cNvSpPr/>
          <p:nvPr/>
        </p:nvSpPr>
        <p:spPr>
          <a:xfrm flipH="1" flipV="1">
            <a:off x="6933312" y="2293451"/>
            <a:ext cx="473328" cy="1766485"/>
          </a:xfrm>
          <a:prstGeom prst="line">
            <a:avLst/>
          </a:prstGeom>
          <a:noFill/>
          <a:ln w="7620">
            <a:solidFill>
              <a:srgbClr val="8C99A8"/>
            </a:solidFill>
            <a:prstDash val="dash"/>
          </a:ln>
        </p:spPr>
      </p:sp>
      <p:sp>
        <p:nvSpPr>
          <p:cNvPr id="82" name="Shape 80"/>
          <p:cNvSpPr/>
          <p:nvPr/>
        </p:nvSpPr>
        <p:spPr>
          <a:xfrm flipV="1">
            <a:off x="7406640" y="2231136"/>
            <a:ext cx="91" cy="1828800"/>
          </a:xfrm>
          <a:prstGeom prst="line">
            <a:avLst/>
          </a:prstGeom>
          <a:noFill/>
          <a:ln w="7620">
            <a:solidFill>
              <a:srgbClr val="8C99A8"/>
            </a:solidFill>
            <a:prstDash val="solid"/>
          </a:ln>
        </p:spPr>
      </p:sp>
      <p:sp>
        <p:nvSpPr>
          <p:cNvPr id="83" name="Shape 81"/>
          <p:cNvSpPr/>
          <p:nvPr/>
        </p:nvSpPr>
        <p:spPr>
          <a:xfrm>
            <a:off x="5320574" y="3690018"/>
            <a:ext cx="219456" cy="219456"/>
          </a:xfrm>
          <a:prstGeom prst="ellipse">
            <a:avLst/>
          </a:prstGeom>
          <a:solidFill>
            <a:srgbClr val="FFFFFF"/>
          </a:solidFill>
          <a:ln w="9525">
            <a:solidFill>
              <a:srgbClr val="C56A2C"/>
            </a:solidFill>
            <a:prstDash val="solid"/>
          </a:ln>
        </p:spPr>
      </p:sp>
      <p:sp>
        <p:nvSpPr>
          <p:cNvPr id="84" name="Text 82"/>
          <p:cNvSpPr txBox="1"/>
          <p:nvPr/>
        </p:nvSpPr>
        <p:spPr>
          <a:xfrm>
            <a:off x="5311430" y="3699162"/>
            <a:ext cx="237744" cy="201168"/>
          </a:xfrm>
          <a:prstGeom prst="rect">
            <a:avLst/>
          </a:prstGeom>
          <a:noFill/>
          <a:ln/>
        </p:spPr>
        <p:txBody>
          <a:bodyPr wrap="square" lIns="0" tIns="0" rIns="0" bIns="0"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1</a:t>
            </a:r>
            <a:endParaRPr lang="en-US" sz="900" dirty="0"/>
          </a:p>
        </p:txBody>
      </p:sp>
      <p:sp>
        <p:nvSpPr>
          <p:cNvPr id="85" name="Shape 83"/>
          <p:cNvSpPr/>
          <p:nvPr/>
        </p:nvSpPr>
        <p:spPr>
          <a:xfrm>
            <a:off x="5455258" y="3187370"/>
            <a:ext cx="219456" cy="219456"/>
          </a:xfrm>
          <a:prstGeom prst="ellipse">
            <a:avLst/>
          </a:prstGeom>
          <a:solidFill>
            <a:srgbClr val="FFFFFF"/>
          </a:solidFill>
          <a:ln w="9525">
            <a:solidFill>
              <a:srgbClr val="C56A2C"/>
            </a:solidFill>
            <a:prstDash val="solid"/>
          </a:ln>
        </p:spPr>
      </p:sp>
      <p:sp>
        <p:nvSpPr>
          <p:cNvPr id="86" name="Text 84"/>
          <p:cNvSpPr txBox="1"/>
          <p:nvPr/>
        </p:nvSpPr>
        <p:spPr>
          <a:xfrm>
            <a:off x="5446114" y="3196514"/>
            <a:ext cx="237744" cy="201168"/>
          </a:xfrm>
          <a:prstGeom prst="rect">
            <a:avLst/>
          </a:prstGeom>
          <a:noFill/>
          <a:ln/>
        </p:spPr>
        <p:txBody>
          <a:bodyPr wrap="square" lIns="0" tIns="0" rIns="0" bIns="0"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2</a:t>
            </a:r>
            <a:endParaRPr lang="en-US" sz="900" dirty="0"/>
          </a:p>
        </p:txBody>
      </p:sp>
      <p:sp>
        <p:nvSpPr>
          <p:cNvPr id="87" name="Shape 85"/>
          <p:cNvSpPr/>
          <p:nvPr/>
        </p:nvSpPr>
        <p:spPr>
          <a:xfrm>
            <a:off x="5715448" y="2736708"/>
            <a:ext cx="219456" cy="219456"/>
          </a:xfrm>
          <a:prstGeom prst="ellipse">
            <a:avLst/>
          </a:prstGeom>
          <a:solidFill>
            <a:srgbClr val="FFFFFF"/>
          </a:solidFill>
          <a:ln w="9525">
            <a:solidFill>
              <a:srgbClr val="B8C0CA"/>
            </a:solidFill>
            <a:prstDash val="solid"/>
          </a:ln>
        </p:spPr>
      </p:sp>
      <p:sp>
        <p:nvSpPr>
          <p:cNvPr id="88" name="Text 86"/>
          <p:cNvSpPr txBox="1"/>
          <p:nvPr/>
        </p:nvSpPr>
        <p:spPr>
          <a:xfrm>
            <a:off x="5706304" y="2745852"/>
            <a:ext cx="237744" cy="201168"/>
          </a:xfrm>
          <a:prstGeom prst="rect">
            <a:avLst/>
          </a:prstGeom>
          <a:noFill/>
          <a:ln/>
        </p:spPr>
        <p:txBody>
          <a:bodyPr wrap="square" lIns="0" tIns="0" rIns="0" bIns="0"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3</a:t>
            </a:r>
            <a:endParaRPr lang="en-US" sz="900" dirty="0"/>
          </a:p>
        </p:txBody>
      </p:sp>
      <p:sp>
        <p:nvSpPr>
          <p:cNvPr id="89" name="Shape 87"/>
          <p:cNvSpPr/>
          <p:nvPr/>
        </p:nvSpPr>
        <p:spPr>
          <a:xfrm>
            <a:off x="6083412" y="2368744"/>
            <a:ext cx="219456" cy="219456"/>
          </a:xfrm>
          <a:prstGeom prst="ellipse">
            <a:avLst/>
          </a:prstGeom>
          <a:solidFill>
            <a:srgbClr val="FFFFFF"/>
          </a:solidFill>
          <a:ln w="9525">
            <a:solidFill>
              <a:srgbClr val="B8C0CA"/>
            </a:solidFill>
            <a:prstDash val="solid"/>
          </a:ln>
        </p:spPr>
      </p:sp>
      <p:sp>
        <p:nvSpPr>
          <p:cNvPr id="90" name="Text 88"/>
          <p:cNvSpPr txBox="1"/>
          <p:nvPr/>
        </p:nvSpPr>
        <p:spPr>
          <a:xfrm>
            <a:off x="6074268" y="2377888"/>
            <a:ext cx="237744" cy="201168"/>
          </a:xfrm>
          <a:prstGeom prst="rect">
            <a:avLst/>
          </a:prstGeom>
          <a:noFill/>
          <a:ln/>
        </p:spPr>
        <p:txBody>
          <a:bodyPr wrap="square" lIns="0" tIns="0" rIns="0" bIns="0"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4</a:t>
            </a:r>
            <a:endParaRPr lang="en-US" sz="900" dirty="0"/>
          </a:p>
        </p:txBody>
      </p:sp>
      <p:sp>
        <p:nvSpPr>
          <p:cNvPr id="91" name="Shape 89"/>
          <p:cNvSpPr/>
          <p:nvPr/>
        </p:nvSpPr>
        <p:spPr>
          <a:xfrm>
            <a:off x="6534074" y="2108554"/>
            <a:ext cx="219456" cy="219456"/>
          </a:xfrm>
          <a:prstGeom prst="ellipse">
            <a:avLst/>
          </a:prstGeom>
          <a:solidFill>
            <a:srgbClr val="FFFFFF"/>
          </a:solidFill>
          <a:ln w="9525">
            <a:solidFill>
              <a:srgbClr val="B8C0CA"/>
            </a:solidFill>
            <a:prstDash val="solid"/>
          </a:ln>
        </p:spPr>
      </p:sp>
      <p:sp>
        <p:nvSpPr>
          <p:cNvPr id="92" name="Text 90"/>
          <p:cNvSpPr txBox="1"/>
          <p:nvPr/>
        </p:nvSpPr>
        <p:spPr>
          <a:xfrm>
            <a:off x="6524930" y="2117698"/>
            <a:ext cx="237744" cy="201168"/>
          </a:xfrm>
          <a:prstGeom prst="rect">
            <a:avLst/>
          </a:prstGeom>
          <a:noFill/>
          <a:ln/>
        </p:spPr>
        <p:txBody>
          <a:bodyPr wrap="square" lIns="0" tIns="0" rIns="0" bIns="0"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5</a:t>
            </a:r>
            <a:endParaRPr lang="en-US" sz="900" dirty="0"/>
          </a:p>
        </p:txBody>
      </p:sp>
      <p:sp>
        <p:nvSpPr>
          <p:cNvPr id="93" name="Shape 91"/>
          <p:cNvSpPr/>
          <p:nvPr/>
        </p:nvSpPr>
        <p:spPr>
          <a:xfrm>
            <a:off x="7036722" y="1973870"/>
            <a:ext cx="219456" cy="219456"/>
          </a:xfrm>
          <a:prstGeom prst="ellipse">
            <a:avLst/>
          </a:prstGeom>
          <a:solidFill>
            <a:srgbClr val="FFFFFF"/>
          </a:solidFill>
          <a:ln w="9525">
            <a:solidFill>
              <a:srgbClr val="B8C0CA"/>
            </a:solidFill>
            <a:prstDash val="solid"/>
          </a:ln>
        </p:spPr>
      </p:sp>
      <p:sp>
        <p:nvSpPr>
          <p:cNvPr id="94" name="Text 92"/>
          <p:cNvSpPr txBox="1"/>
          <p:nvPr/>
        </p:nvSpPr>
        <p:spPr>
          <a:xfrm>
            <a:off x="7027578" y="1983014"/>
            <a:ext cx="237744" cy="201168"/>
          </a:xfrm>
          <a:prstGeom prst="rect">
            <a:avLst/>
          </a:prstGeom>
          <a:noFill/>
          <a:ln/>
        </p:spPr>
        <p:txBody>
          <a:bodyPr wrap="square" lIns="0" tIns="0" rIns="0" bIns="0"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6</a:t>
            </a:r>
            <a:endParaRPr lang="en-US" sz="900" dirty="0"/>
          </a:p>
        </p:txBody>
      </p:sp>
      <p:sp>
        <p:nvSpPr>
          <p:cNvPr id="95" name="Shape 93"/>
          <p:cNvSpPr/>
          <p:nvPr/>
        </p:nvSpPr>
        <p:spPr>
          <a:xfrm flipH="1" flipV="1">
            <a:off x="6531011" y="3538728"/>
            <a:ext cx="875629" cy="521208"/>
          </a:xfrm>
          <a:prstGeom prst="line">
            <a:avLst/>
          </a:prstGeom>
          <a:noFill/>
          <a:ln w="19050">
            <a:solidFill>
              <a:srgbClr val="B04A3F"/>
            </a:solidFill>
            <a:prstDash val="solid"/>
          </a:ln>
        </p:spPr>
      </p:sp>
      <p:sp>
        <p:nvSpPr>
          <p:cNvPr id="96" name="Shape 94"/>
          <p:cNvSpPr/>
          <p:nvPr/>
        </p:nvSpPr>
        <p:spPr>
          <a:xfrm>
            <a:off x="7342632" y="3995928"/>
            <a:ext cx="128016" cy="128016"/>
          </a:xfrm>
          <a:prstGeom prst="ellipse">
            <a:avLst/>
          </a:prstGeom>
          <a:solidFill>
            <a:srgbClr val="E8D26E"/>
          </a:solidFill>
          <a:ln w="6350">
            <a:solidFill>
              <a:srgbClr val="FFFFFF"/>
            </a:solidFill>
            <a:prstDash val="solid"/>
          </a:ln>
        </p:spPr>
      </p:sp>
      <p:sp>
        <p:nvSpPr>
          <p:cNvPr id="97" name="Text 95"/>
          <p:cNvSpPr txBox="1"/>
          <p:nvPr/>
        </p:nvSpPr>
        <p:spPr>
          <a:xfrm>
            <a:off x="7360920" y="4105656"/>
            <a:ext cx="365760" cy="182880"/>
          </a:xfrm>
          <a:prstGeom prst="rect">
            <a:avLst/>
          </a:prstGeom>
          <a:noFill/>
          <a:ln/>
        </p:spPr>
        <p:txBody>
          <a:bodyPr wrap="square" lIns="508" tIns="508" rIns="508" bIns="508" rtlCol="0" anchor="t"/>
          <a:lstStyle/>
          <a:p>
            <a:pPr indent="0" marL="0">
              <a:buNone/>
            </a:pPr>
            <a:r>
              <a:rPr lang="en-US" sz="850" b="1" dirty="0">
                <a:solidFill>
                  <a:srgbClr val="FFFFFF"/>
                </a:solidFill>
                <a:latin typeface="Yu Gothic" pitchFamily="34" charset="0"/>
                <a:ea typeface="Yu Gothic" pitchFamily="34" charset="-122"/>
                <a:cs typeface="Yu Gothic" pitchFamily="34" charset="-120"/>
              </a:rPr>
              <a:t>点P</a:t>
            </a:r>
            <a:endParaRPr lang="en-US" sz="850" dirty="0"/>
          </a:p>
        </p:txBody>
      </p:sp>
      <p:sp>
        <p:nvSpPr>
          <p:cNvPr id="98" name="Text 96"/>
          <p:cNvSpPr txBox="1"/>
          <p:nvPr/>
        </p:nvSpPr>
        <p:spPr>
          <a:xfrm>
            <a:off x="5433731" y="4297680"/>
            <a:ext cx="1097280" cy="201168"/>
          </a:xfrm>
          <a:prstGeom prst="rect">
            <a:avLst/>
          </a:prstGeom>
          <a:noFill/>
          <a:ln/>
        </p:spPr>
        <p:txBody>
          <a:bodyPr wrap="square" lIns="508" tIns="508" rIns="508" bIns="508" rtlCol="0" anchor="t"/>
          <a:lstStyle/>
          <a:p>
            <a:pPr algn="ctr" indent="0" marL="0">
              <a:buNone/>
            </a:pPr>
            <a:r>
              <a:rPr lang="en-US" sz="850" b="1" dirty="0">
                <a:solidFill>
                  <a:srgbClr val="FFFFFF"/>
                </a:solidFill>
                <a:latin typeface="Yu Gothic" pitchFamily="34" charset="0"/>
                <a:ea typeface="Yu Gothic" pitchFamily="34" charset="-122"/>
                <a:cs typeface="Yu Gothic" pitchFamily="34" charset="-120"/>
              </a:rPr>
              <a:t>南の建物</a:t>
            </a:r>
            <a:endParaRPr lang="en-US" sz="850" dirty="0"/>
          </a:p>
        </p:txBody>
      </p:sp>
      <p:sp>
        <p:nvSpPr>
          <p:cNvPr id="99" name="Text 97"/>
          <p:cNvSpPr txBox="1"/>
          <p:nvPr/>
        </p:nvSpPr>
        <p:spPr>
          <a:xfrm>
            <a:off x="4663440" y="4846320"/>
            <a:ext cx="3108960" cy="201168"/>
          </a:xfrm>
          <a:prstGeom prst="rect">
            <a:avLst/>
          </a:prstGeom>
          <a:noFill/>
          <a:ln/>
        </p:spPr>
        <p:txBody>
          <a:bodyPr wrap="square" lIns="508" tIns="508" rIns="508" bIns="508" rtlCol="0" anchor="t"/>
          <a:lstStyle/>
          <a:p>
            <a:pPr indent="0" marL="0">
              <a:buNone/>
            </a:pPr>
            <a:r>
              <a:rPr lang="en-US" sz="900" b="1" dirty="0">
                <a:solidFill>
                  <a:srgbClr val="B04A3F"/>
                </a:solidFill>
                <a:latin typeface="Yu Gothic" pitchFamily="34" charset="0"/>
                <a:ea typeface="Yu Gothic" pitchFamily="34" charset="-122"/>
                <a:cs typeface="Yu Gothic" pitchFamily="34" charset="-120"/>
              </a:rPr>
              <a:t>赤線＝建物の上の端（30.7°）</a:t>
            </a:r>
            <a:endParaRPr lang="en-US" sz="900" dirty="0"/>
          </a:p>
        </p:txBody>
      </p:sp>
      <p:sp>
        <p:nvSpPr>
          <p:cNvPr id="100" name="Text 98"/>
          <p:cNvSpPr txBox="1"/>
          <p:nvPr/>
        </p:nvSpPr>
        <p:spPr>
          <a:xfrm>
            <a:off x="4663440" y="5102352"/>
            <a:ext cx="3108960" cy="566928"/>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番号 e＝1〜6（高度の番号）。0°＝水平、90°＝真上。赤線より下の 1・2 番はふさがる</a:t>
            </a:r>
            <a:endParaRPr lang="en-US" sz="900" dirty="0"/>
          </a:p>
        </p:txBody>
      </p:sp>
      <p:sp>
        <p:nvSpPr>
          <p:cNvPr id="101" name="Shape 99"/>
          <p:cNvSpPr/>
          <p:nvPr/>
        </p:nvSpPr>
        <p:spPr>
          <a:xfrm>
            <a:off x="8001000" y="1508760"/>
            <a:ext cx="3749040" cy="4800600"/>
          </a:xfrm>
          <a:prstGeom prst="roundRect">
            <a:avLst>
              <a:gd name="adj" fmla="val 1463"/>
            </a:avLst>
          </a:prstGeom>
          <a:solidFill>
            <a:srgbClr val="FFFFFF"/>
          </a:solidFill>
          <a:ln w="9525">
            <a:solidFill>
              <a:srgbClr val="D5DAE1"/>
            </a:solidFill>
            <a:prstDash val="solid"/>
          </a:ln>
        </p:spPr>
      </p:sp>
      <p:sp>
        <p:nvSpPr>
          <p:cNvPr id="102" name="Text 100"/>
          <p:cNvSpPr txBox="1"/>
          <p:nvPr/>
        </p:nvSpPr>
        <p:spPr>
          <a:xfrm>
            <a:off x="8138160" y="1563624"/>
            <a:ext cx="356616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③ ①×②＝空の地図（12列 × 6行 ＝ 72マス）</a:t>
            </a:r>
            <a:endParaRPr lang="en-US" sz="1100" dirty="0"/>
          </a:p>
        </p:txBody>
      </p:sp>
      <p:sp>
        <p:nvSpPr>
          <p:cNvPr id="103" name="Shape 101"/>
          <p:cNvSpPr/>
          <p:nvPr/>
        </p:nvSpPr>
        <p:spPr>
          <a:xfrm>
            <a:off x="8503920" y="3337560"/>
            <a:ext cx="242316" cy="256032"/>
          </a:xfrm>
          <a:prstGeom prst="rect">
            <a:avLst/>
          </a:prstGeom>
          <a:solidFill>
            <a:srgbClr val="FFFFFF"/>
          </a:solidFill>
          <a:ln w="6350">
            <a:solidFill>
              <a:srgbClr val="C9D0D8"/>
            </a:solidFill>
            <a:prstDash val="solid"/>
          </a:ln>
        </p:spPr>
      </p:sp>
      <p:sp>
        <p:nvSpPr>
          <p:cNvPr id="104" name="Shape 102"/>
          <p:cNvSpPr/>
          <p:nvPr/>
        </p:nvSpPr>
        <p:spPr>
          <a:xfrm>
            <a:off x="8503920" y="3063240"/>
            <a:ext cx="242316" cy="256032"/>
          </a:xfrm>
          <a:prstGeom prst="rect">
            <a:avLst/>
          </a:prstGeom>
          <a:solidFill>
            <a:srgbClr val="FFFFFF"/>
          </a:solidFill>
          <a:ln w="6350">
            <a:solidFill>
              <a:srgbClr val="C9D0D8"/>
            </a:solidFill>
            <a:prstDash val="solid"/>
          </a:ln>
        </p:spPr>
      </p:sp>
      <p:sp>
        <p:nvSpPr>
          <p:cNvPr id="105" name="Shape 103"/>
          <p:cNvSpPr/>
          <p:nvPr/>
        </p:nvSpPr>
        <p:spPr>
          <a:xfrm>
            <a:off x="8503920" y="2788920"/>
            <a:ext cx="242316" cy="256032"/>
          </a:xfrm>
          <a:prstGeom prst="rect">
            <a:avLst/>
          </a:prstGeom>
          <a:solidFill>
            <a:srgbClr val="FFFFFF"/>
          </a:solidFill>
          <a:ln w="6350">
            <a:solidFill>
              <a:srgbClr val="C9D0D8"/>
            </a:solidFill>
            <a:prstDash val="solid"/>
          </a:ln>
        </p:spPr>
      </p:sp>
      <p:sp>
        <p:nvSpPr>
          <p:cNvPr id="106" name="Shape 104"/>
          <p:cNvSpPr/>
          <p:nvPr/>
        </p:nvSpPr>
        <p:spPr>
          <a:xfrm>
            <a:off x="8503920" y="2514600"/>
            <a:ext cx="242316" cy="256032"/>
          </a:xfrm>
          <a:prstGeom prst="rect">
            <a:avLst/>
          </a:prstGeom>
          <a:solidFill>
            <a:srgbClr val="FFFFFF"/>
          </a:solidFill>
          <a:ln w="6350">
            <a:solidFill>
              <a:srgbClr val="C9D0D8"/>
            </a:solidFill>
            <a:prstDash val="solid"/>
          </a:ln>
        </p:spPr>
      </p:sp>
      <p:sp>
        <p:nvSpPr>
          <p:cNvPr id="107" name="Shape 105"/>
          <p:cNvSpPr/>
          <p:nvPr/>
        </p:nvSpPr>
        <p:spPr>
          <a:xfrm>
            <a:off x="8503920" y="2240280"/>
            <a:ext cx="242316" cy="256032"/>
          </a:xfrm>
          <a:prstGeom prst="rect">
            <a:avLst/>
          </a:prstGeom>
          <a:solidFill>
            <a:srgbClr val="FFFFFF"/>
          </a:solidFill>
          <a:ln w="6350">
            <a:solidFill>
              <a:srgbClr val="C9D0D8"/>
            </a:solidFill>
            <a:prstDash val="solid"/>
          </a:ln>
        </p:spPr>
      </p:sp>
      <p:sp>
        <p:nvSpPr>
          <p:cNvPr id="108" name="Shape 106"/>
          <p:cNvSpPr/>
          <p:nvPr/>
        </p:nvSpPr>
        <p:spPr>
          <a:xfrm>
            <a:off x="8503920" y="1965960"/>
            <a:ext cx="242316" cy="256032"/>
          </a:xfrm>
          <a:prstGeom prst="rect">
            <a:avLst/>
          </a:prstGeom>
          <a:solidFill>
            <a:srgbClr val="FFFFFF"/>
          </a:solidFill>
          <a:ln w="6350">
            <a:solidFill>
              <a:srgbClr val="C9D0D8"/>
            </a:solidFill>
            <a:prstDash val="solid"/>
          </a:ln>
        </p:spPr>
      </p:sp>
      <p:sp>
        <p:nvSpPr>
          <p:cNvPr id="109" name="Shape 107"/>
          <p:cNvSpPr/>
          <p:nvPr/>
        </p:nvSpPr>
        <p:spPr>
          <a:xfrm>
            <a:off x="8764524" y="3337560"/>
            <a:ext cx="242316" cy="256032"/>
          </a:xfrm>
          <a:prstGeom prst="rect">
            <a:avLst/>
          </a:prstGeom>
          <a:solidFill>
            <a:srgbClr val="1F6F78"/>
          </a:solidFill>
          <a:ln w="6350">
            <a:solidFill>
              <a:srgbClr val="C9D0D8"/>
            </a:solidFill>
            <a:prstDash val="solid"/>
          </a:ln>
        </p:spPr>
      </p:sp>
      <p:sp>
        <p:nvSpPr>
          <p:cNvPr id="110" name="Shape 108"/>
          <p:cNvSpPr/>
          <p:nvPr/>
        </p:nvSpPr>
        <p:spPr>
          <a:xfrm>
            <a:off x="8764524" y="3063240"/>
            <a:ext cx="242316" cy="256032"/>
          </a:xfrm>
          <a:prstGeom prst="rect">
            <a:avLst/>
          </a:prstGeom>
          <a:solidFill>
            <a:srgbClr val="FFFFFF"/>
          </a:solidFill>
          <a:ln w="6350">
            <a:solidFill>
              <a:srgbClr val="C9D0D8"/>
            </a:solidFill>
            <a:prstDash val="solid"/>
          </a:ln>
        </p:spPr>
      </p:sp>
      <p:sp>
        <p:nvSpPr>
          <p:cNvPr id="111" name="Shape 109"/>
          <p:cNvSpPr/>
          <p:nvPr/>
        </p:nvSpPr>
        <p:spPr>
          <a:xfrm>
            <a:off x="8764524" y="2788920"/>
            <a:ext cx="242316" cy="256032"/>
          </a:xfrm>
          <a:prstGeom prst="rect">
            <a:avLst/>
          </a:prstGeom>
          <a:solidFill>
            <a:srgbClr val="FFFFFF"/>
          </a:solidFill>
          <a:ln w="6350">
            <a:solidFill>
              <a:srgbClr val="C9D0D8"/>
            </a:solidFill>
            <a:prstDash val="solid"/>
          </a:ln>
        </p:spPr>
      </p:sp>
      <p:sp>
        <p:nvSpPr>
          <p:cNvPr id="112" name="Shape 110"/>
          <p:cNvSpPr/>
          <p:nvPr/>
        </p:nvSpPr>
        <p:spPr>
          <a:xfrm>
            <a:off x="8764524" y="2514600"/>
            <a:ext cx="242316" cy="256032"/>
          </a:xfrm>
          <a:prstGeom prst="rect">
            <a:avLst/>
          </a:prstGeom>
          <a:solidFill>
            <a:srgbClr val="FFFFFF"/>
          </a:solidFill>
          <a:ln w="6350">
            <a:solidFill>
              <a:srgbClr val="C9D0D8"/>
            </a:solidFill>
            <a:prstDash val="solid"/>
          </a:ln>
        </p:spPr>
      </p:sp>
      <p:sp>
        <p:nvSpPr>
          <p:cNvPr id="113" name="Shape 111"/>
          <p:cNvSpPr/>
          <p:nvPr/>
        </p:nvSpPr>
        <p:spPr>
          <a:xfrm>
            <a:off x="8764524" y="2240280"/>
            <a:ext cx="242316" cy="256032"/>
          </a:xfrm>
          <a:prstGeom prst="rect">
            <a:avLst/>
          </a:prstGeom>
          <a:solidFill>
            <a:srgbClr val="FFFFFF"/>
          </a:solidFill>
          <a:ln w="6350">
            <a:solidFill>
              <a:srgbClr val="C9D0D8"/>
            </a:solidFill>
            <a:prstDash val="solid"/>
          </a:ln>
        </p:spPr>
      </p:sp>
      <p:sp>
        <p:nvSpPr>
          <p:cNvPr id="114" name="Shape 112"/>
          <p:cNvSpPr/>
          <p:nvPr/>
        </p:nvSpPr>
        <p:spPr>
          <a:xfrm>
            <a:off x="8764524" y="1965960"/>
            <a:ext cx="242316" cy="256032"/>
          </a:xfrm>
          <a:prstGeom prst="rect">
            <a:avLst/>
          </a:prstGeom>
          <a:solidFill>
            <a:srgbClr val="FFFFFF"/>
          </a:solidFill>
          <a:ln w="6350">
            <a:solidFill>
              <a:srgbClr val="C9D0D8"/>
            </a:solidFill>
            <a:prstDash val="solid"/>
          </a:ln>
        </p:spPr>
      </p:sp>
      <p:sp>
        <p:nvSpPr>
          <p:cNvPr id="115" name="Shape 113"/>
          <p:cNvSpPr/>
          <p:nvPr/>
        </p:nvSpPr>
        <p:spPr>
          <a:xfrm>
            <a:off x="9025128" y="3337560"/>
            <a:ext cx="242316" cy="256032"/>
          </a:xfrm>
          <a:prstGeom prst="rect">
            <a:avLst/>
          </a:prstGeom>
          <a:solidFill>
            <a:srgbClr val="1F6F78"/>
          </a:solidFill>
          <a:ln w="6350">
            <a:solidFill>
              <a:srgbClr val="C9D0D8"/>
            </a:solidFill>
            <a:prstDash val="solid"/>
          </a:ln>
        </p:spPr>
      </p:sp>
      <p:sp>
        <p:nvSpPr>
          <p:cNvPr id="116" name="Shape 114"/>
          <p:cNvSpPr/>
          <p:nvPr/>
        </p:nvSpPr>
        <p:spPr>
          <a:xfrm>
            <a:off x="9025128" y="3063240"/>
            <a:ext cx="242316" cy="256032"/>
          </a:xfrm>
          <a:prstGeom prst="rect">
            <a:avLst/>
          </a:prstGeom>
          <a:solidFill>
            <a:srgbClr val="FFFFFF"/>
          </a:solidFill>
          <a:ln w="6350">
            <a:solidFill>
              <a:srgbClr val="C9D0D8"/>
            </a:solidFill>
            <a:prstDash val="solid"/>
          </a:ln>
        </p:spPr>
      </p:sp>
      <p:sp>
        <p:nvSpPr>
          <p:cNvPr id="117" name="Shape 115"/>
          <p:cNvSpPr/>
          <p:nvPr/>
        </p:nvSpPr>
        <p:spPr>
          <a:xfrm>
            <a:off x="9025128" y="2788920"/>
            <a:ext cx="242316" cy="256032"/>
          </a:xfrm>
          <a:prstGeom prst="rect">
            <a:avLst/>
          </a:prstGeom>
          <a:solidFill>
            <a:srgbClr val="FFFFFF"/>
          </a:solidFill>
          <a:ln w="6350">
            <a:solidFill>
              <a:srgbClr val="C9D0D8"/>
            </a:solidFill>
            <a:prstDash val="solid"/>
          </a:ln>
        </p:spPr>
      </p:sp>
      <p:sp>
        <p:nvSpPr>
          <p:cNvPr id="118" name="Shape 116"/>
          <p:cNvSpPr/>
          <p:nvPr/>
        </p:nvSpPr>
        <p:spPr>
          <a:xfrm>
            <a:off x="9025128" y="2514600"/>
            <a:ext cx="242316" cy="256032"/>
          </a:xfrm>
          <a:prstGeom prst="rect">
            <a:avLst/>
          </a:prstGeom>
          <a:solidFill>
            <a:srgbClr val="FFFFFF"/>
          </a:solidFill>
          <a:ln w="6350">
            <a:solidFill>
              <a:srgbClr val="C9D0D8"/>
            </a:solidFill>
            <a:prstDash val="solid"/>
          </a:ln>
        </p:spPr>
      </p:sp>
      <p:sp>
        <p:nvSpPr>
          <p:cNvPr id="119" name="Shape 117"/>
          <p:cNvSpPr/>
          <p:nvPr/>
        </p:nvSpPr>
        <p:spPr>
          <a:xfrm>
            <a:off x="9025128" y="2240280"/>
            <a:ext cx="242316" cy="256032"/>
          </a:xfrm>
          <a:prstGeom prst="rect">
            <a:avLst/>
          </a:prstGeom>
          <a:solidFill>
            <a:srgbClr val="FFFFFF"/>
          </a:solidFill>
          <a:ln w="6350">
            <a:solidFill>
              <a:srgbClr val="C9D0D8"/>
            </a:solidFill>
            <a:prstDash val="solid"/>
          </a:ln>
        </p:spPr>
      </p:sp>
      <p:sp>
        <p:nvSpPr>
          <p:cNvPr id="120" name="Shape 118"/>
          <p:cNvSpPr/>
          <p:nvPr/>
        </p:nvSpPr>
        <p:spPr>
          <a:xfrm>
            <a:off x="9025128" y="1965960"/>
            <a:ext cx="242316" cy="256032"/>
          </a:xfrm>
          <a:prstGeom prst="rect">
            <a:avLst/>
          </a:prstGeom>
          <a:solidFill>
            <a:srgbClr val="FFFFFF"/>
          </a:solidFill>
          <a:ln w="6350">
            <a:solidFill>
              <a:srgbClr val="C9D0D8"/>
            </a:solidFill>
            <a:prstDash val="solid"/>
          </a:ln>
        </p:spPr>
      </p:sp>
      <p:sp>
        <p:nvSpPr>
          <p:cNvPr id="121" name="Shape 119"/>
          <p:cNvSpPr/>
          <p:nvPr/>
        </p:nvSpPr>
        <p:spPr>
          <a:xfrm>
            <a:off x="9285732" y="3337560"/>
            <a:ext cx="242316" cy="256032"/>
          </a:xfrm>
          <a:prstGeom prst="rect">
            <a:avLst/>
          </a:prstGeom>
          <a:solidFill>
            <a:srgbClr val="B04A3F"/>
          </a:solidFill>
          <a:ln w="6350">
            <a:solidFill>
              <a:srgbClr val="C9D0D8"/>
            </a:solidFill>
            <a:prstDash val="solid"/>
          </a:ln>
        </p:spPr>
      </p:sp>
      <p:sp>
        <p:nvSpPr>
          <p:cNvPr id="122" name="Shape 120"/>
          <p:cNvSpPr/>
          <p:nvPr/>
        </p:nvSpPr>
        <p:spPr>
          <a:xfrm>
            <a:off x="9285732" y="3063240"/>
            <a:ext cx="242316" cy="256032"/>
          </a:xfrm>
          <a:prstGeom prst="rect">
            <a:avLst/>
          </a:prstGeom>
          <a:solidFill>
            <a:srgbClr val="E8934D"/>
          </a:solidFill>
          <a:ln w="6350">
            <a:solidFill>
              <a:srgbClr val="C9D0D8"/>
            </a:solidFill>
            <a:prstDash val="solid"/>
          </a:ln>
        </p:spPr>
      </p:sp>
      <p:sp>
        <p:nvSpPr>
          <p:cNvPr id="123" name="Shape 121"/>
          <p:cNvSpPr/>
          <p:nvPr/>
        </p:nvSpPr>
        <p:spPr>
          <a:xfrm>
            <a:off x="9285732" y="2788920"/>
            <a:ext cx="242316" cy="256032"/>
          </a:xfrm>
          <a:prstGeom prst="rect">
            <a:avLst/>
          </a:prstGeom>
          <a:solidFill>
            <a:srgbClr val="FFFFFF"/>
          </a:solidFill>
          <a:ln w="6350">
            <a:solidFill>
              <a:srgbClr val="C9D0D8"/>
            </a:solidFill>
            <a:prstDash val="solid"/>
          </a:ln>
        </p:spPr>
      </p:sp>
      <p:sp>
        <p:nvSpPr>
          <p:cNvPr id="124" name="Shape 122"/>
          <p:cNvSpPr/>
          <p:nvPr/>
        </p:nvSpPr>
        <p:spPr>
          <a:xfrm>
            <a:off x="9285732" y="2514600"/>
            <a:ext cx="242316" cy="256032"/>
          </a:xfrm>
          <a:prstGeom prst="rect">
            <a:avLst/>
          </a:prstGeom>
          <a:solidFill>
            <a:srgbClr val="FFFFFF"/>
          </a:solidFill>
          <a:ln w="6350">
            <a:solidFill>
              <a:srgbClr val="C9D0D8"/>
            </a:solidFill>
            <a:prstDash val="solid"/>
          </a:ln>
        </p:spPr>
      </p:sp>
      <p:sp>
        <p:nvSpPr>
          <p:cNvPr id="125" name="Shape 123"/>
          <p:cNvSpPr/>
          <p:nvPr/>
        </p:nvSpPr>
        <p:spPr>
          <a:xfrm>
            <a:off x="9285732" y="2240280"/>
            <a:ext cx="242316" cy="256032"/>
          </a:xfrm>
          <a:prstGeom prst="rect">
            <a:avLst/>
          </a:prstGeom>
          <a:solidFill>
            <a:srgbClr val="FFFFFF"/>
          </a:solidFill>
          <a:ln w="6350">
            <a:solidFill>
              <a:srgbClr val="C9D0D8"/>
            </a:solidFill>
            <a:prstDash val="solid"/>
          </a:ln>
        </p:spPr>
      </p:sp>
      <p:sp>
        <p:nvSpPr>
          <p:cNvPr id="126" name="Shape 124"/>
          <p:cNvSpPr/>
          <p:nvPr/>
        </p:nvSpPr>
        <p:spPr>
          <a:xfrm>
            <a:off x="9285732" y="1965960"/>
            <a:ext cx="242316" cy="256032"/>
          </a:xfrm>
          <a:prstGeom prst="rect">
            <a:avLst/>
          </a:prstGeom>
          <a:solidFill>
            <a:srgbClr val="FFFFFF"/>
          </a:solidFill>
          <a:ln w="6350">
            <a:solidFill>
              <a:srgbClr val="C9D0D8"/>
            </a:solidFill>
            <a:prstDash val="solid"/>
          </a:ln>
        </p:spPr>
      </p:sp>
      <p:sp>
        <p:nvSpPr>
          <p:cNvPr id="127" name="Shape 125"/>
          <p:cNvSpPr/>
          <p:nvPr/>
        </p:nvSpPr>
        <p:spPr>
          <a:xfrm>
            <a:off x="9546336" y="3337560"/>
            <a:ext cx="242316" cy="256032"/>
          </a:xfrm>
          <a:prstGeom prst="rect">
            <a:avLst/>
          </a:prstGeom>
          <a:solidFill>
            <a:srgbClr val="E8934D"/>
          </a:solidFill>
          <a:ln w="6350">
            <a:solidFill>
              <a:srgbClr val="C9D0D8"/>
            </a:solidFill>
            <a:prstDash val="solid"/>
          </a:ln>
        </p:spPr>
      </p:sp>
      <p:sp>
        <p:nvSpPr>
          <p:cNvPr id="128" name="Shape 126"/>
          <p:cNvSpPr/>
          <p:nvPr/>
        </p:nvSpPr>
        <p:spPr>
          <a:xfrm>
            <a:off x="9546336" y="3063240"/>
            <a:ext cx="242316" cy="256032"/>
          </a:xfrm>
          <a:prstGeom prst="rect">
            <a:avLst/>
          </a:prstGeom>
          <a:solidFill>
            <a:srgbClr val="E8934D"/>
          </a:solidFill>
          <a:ln w="6350">
            <a:solidFill>
              <a:srgbClr val="C9D0D8"/>
            </a:solidFill>
            <a:prstDash val="solid"/>
          </a:ln>
        </p:spPr>
      </p:sp>
      <p:sp>
        <p:nvSpPr>
          <p:cNvPr id="129" name="Shape 127"/>
          <p:cNvSpPr/>
          <p:nvPr/>
        </p:nvSpPr>
        <p:spPr>
          <a:xfrm>
            <a:off x="9546336" y="2788920"/>
            <a:ext cx="242316" cy="256032"/>
          </a:xfrm>
          <a:prstGeom prst="rect">
            <a:avLst/>
          </a:prstGeom>
          <a:solidFill>
            <a:srgbClr val="FFFFFF"/>
          </a:solidFill>
          <a:ln w="6350">
            <a:solidFill>
              <a:srgbClr val="C9D0D8"/>
            </a:solidFill>
            <a:prstDash val="solid"/>
          </a:ln>
        </p:spPr>
      </p:sp>
      <p:sp>
        <p:nvSpPr>
          <p:cNvPr id="130" name="Shape 128"/>
          <p:cNvSpPr/>
          <p:nvPr/>
        </p:nvSpPr>
        <p:spPr>
          <a:xfrm>
            <a:off x="9546336" y="2514600"/>
            <a:ext cx="242316" cy="256032"/>
          </a:xfrm>
          <a:prstGeom prst="rect">
            <a:avLst/>
          </a:prstGeom>
          <a:solidFill>
            <a:srgbClr val="FFFFFF"/>
          </a:solidFill>
          <a:ln w="6350">
            <a:solidFill>
              <a:srgbClr val="C9D0D8"/>
            </a:solidFill>
            <a:prstDash val="solid"/>
          </a:ln>
        </p:spPr>
      </p:sp>
      <p:sp>
        <p:nvSpPr>
          <p:cNvPr id="131" name="Shape 129"/>
          <p:cNvSpPr/>
          <p:nvPr/>
        </p:nvSpPr>
        <p:spPr>
          <a:xfrm>
            <a:off x="9546336" y="2240280"/>
            <a:ext cx="242316" cy="256032"/>
          </a:xfrm>
          <a:prstGeom prst="rect">
            <a:avLst/>
          </a:prstGeom>
          <a:solidFill>
            <a:srgbClr val="FFFFFF"/>
          </a:solidFill>
          <a:ln w="6350">
            <a:solidFill>
              <a:srgbClr val="C9D0D8"/>
            </a:solidFill>
            <a:prstDash val="solid"/>
          </a:ln>
        </p:spPr>
      </p:sp>
      <p:sp>
        <p:nvSpPr>
          <p:cNvPr id="132" name="Shape 130"/>
          <p:cNvSpPr/>
          <p:nvPr/>
        </p:nvSpPr>
        <p:spPr>
          <a:xfrm>
            <a:off x="9546336" y="1965960"/>
            <a:ext cx="242316" cy="256032"/>
          </a:xfrm>
          <a:prstGeom prst="rect">
            <a:avLst/>
          </a:prstGeom>
          <a:solidFill>
            <a:srgbClr val="FFFFFF"/>
          </a:solidFill>
          <a:ln w="6350">
            <a:solidFill>
              <a:srgbClr val="C9D0D8"/>
            </a:solidFill>
            <a:prstDash val="solid"/>
          </a:ln>
        </p:spPr>
      </p:sp>
      <p:sp>
        <p:nvSpPr>
          <p:cNvPr id="133" name="Shape 131"/>
          <p:cNvSpPr/>
          <p:nvPr/>
        </p:nvSpPr>
        <p:spPr>
          <a:xfrm>
            <a:off x="9806940" y="3337560"/>
            <a:ext cx="242316" cy="256032"/>
          </a:xfrm>
          <a:prstGeom prst="rect">
            <a:avLst/>
          </a:prstGeom>
          <a:solidFill>
            <a:srgbClr val="E8934D"/>
          </a:solidFill>
          <a:ln w="6350">
            <a:solidFill>
              <a:srgbClr val="C9D0D8"/>
            </a:solidFill>
            <a:prstDash val="solid"/>
          </a:ln>
        </p:spPr>
      </p:sp>
      <p:sp>
        <p:nvSpPr>
          <p:cNvPr id="134" name="Shape 132"/>
          <p:cNvSpPr/>
          <p:nvPr/>
        </p:nvSpPr>
        <p:spPr>
          <a:xfrm>
            <a:off x="9806940" y="3063240"/>
            <a:ext cx="242316" cy="256032"/>
          </a:xfrm>
          <a:prstGeom prst="rect">
            <a:avLst/>
          </a:prstGeom>
          <a:solidFill>
            <a:srgbClr val="E8934D"/>
          </a:solidFill>
          <a:ln w="6350">
            <a:solidFill>
              <a:srgbClr val="C9D0D8"/>
            </a:solidFill>
            <a:prstDash val="solid"/>
          </a:ln>
        </p:spPr>
      </p:sp>
      <p:sp>
        <p:nvSpPr>
          <p:cNvPr id="135" name="Shape 133"/>
          <p:cNvSpPr/>
          <p:nvPr/>
        </p:nvSpPr>
        <p:spPr>
          <a:xfrm>
            <a:off x="9806940" y="2788920"/>
            <a:ext cx="242316" cy="256032"/>
          </a:xfrm>
          <a:prstGeom prst="rect">
            <a:avLst/>
          </a:prstGeom>
          <a:solidFill>
            <a:srgbClr val="FFFFFF"/>
          </a:solidFill>
          <a:ln w="6350">
            <a:solidFill>
              <a:srgbClr val="C9D0D8"/>
            </a:solidFill>
            <a:prstDash val="solid"/>
          </a:ln>
        </p:spPr>
      </p:sp>
      <p:sp>
        <p:nvSpPr>
          <p:cNvPr id="136" name="Shape 134"/>
          <p:cNvSpPr/>
          <p:nvPr/>
        </p:nvSpPr>
        <p:spPr>
          <a:xfrm>
            <a:off x="9806940" y="2514600"/>
            <a:ext cx="242316" cy="256032"/>
          </a:xfrm>
          <a:prstGeom prst="rect">
            <a:avLst/>
          </a:prstGeom>
          <a:solidFill>
            <a:srgbClr val="FFFFFF"/>
          </a:solidFill>
          <a:ln w="6350">
            <a:solidFill>
              <a:srgbClr val="C9D0D8"/>
            </a:solidFill>
            <a:prstDash val="solid"/>
          </a:ln>
        </p:spPr>
      </p:sp>
      <p:sp>
        <p:nvSpPr>
          <p:cNvPr id="137" name="Shape 135"/>
          <p:cNvSpPr/>
          <p:nvPr/>
        </p:nvSpPr>
        <p:spPr>
          <a:xfrm>
            <a:off x="9806940" y="2240280"/>
            <a:ext cx="242316" cy="256032"/>
          </a:xfrm>
          <a:prstGeom prst="rect">
            <a:avLst/>
          </a:prstGeom>
          <a:solidFill>
            <a:srgbClr val="FFFFFF"/>
          </a:solidFill>
          <a:ln w="6350">
            <a:solidFill>
              <a:srgbClr val="C9D0D8"/>
            </a:solidFill>
            <a:prstDash val="solid"/>
          </a:ln>
        </p:spPr>
      </p:sp>
      <p:sp>
        <p:nvSpPr>
          <p:cNvPr id="138" name="Shape 136"/>
          <p:cNvSpPr/>
          <p:nvPr/>
        </p:nvSpPr>
        <p:spPr>
          <a:xfrm>
            <a:off x="9806940" y="1965960"/>
            <a:ext cx="242316" cy="256032"/>
          </a:xfrm>
          <a:prstGeom prst="rect">
            <a:avLst/>
          </a:prstGeom>
          <a:solidFill>
            <a:srgbClr val="FFFFFF"/>
          </a:solidFill>
          <a:ln w="6350">
            <a:solidFill>
              <a:srgbClr val="C9D0D8"/>
            </a:solidFill>
            <a:prstDash val="solid"/>
          </a:ln>
        </p:spPr>
      </p:sp>
      <p:sp>
        <p:nvSpPr>
          <p:cNvPr id="139" name="Shape 137"/>
          <p:cNvSpPr/>
          <p:nvPr/>
        </p:nvSpPr>
        <p:spPr>
          <a:xfrm>
            <a:off x="10067544" y="3337560"/>
            <a:ext cx="242316" cy="256032"/>
          </a:xfrm>
          <a:prstGeom prst="rect">
            <a:avLst/>
          </a:prstGeom>
          <a:solidFill>
            <a:srgbClr val="E8934D"/>
          </a:solidFill>
          <a:ln w="6350">
            <a:solidFill>
              <a:srgbClr val="C9D0D8"/>
            </a:solidFill>
            <a:prstDash val="solid"/>
          </a:ln>
        </p:spPr>
      </p:sp>
      <p:sp>
        <p:nvSpPr>
          <p:cNvPr id="140" name="Shape 138"/>
          <p:cNvSpPr/>
          <p:nvPr/>
        </p:nvSpPr>
        <p:spPr>
          <a:xfrm>
            <a:off x="10067544" y="3063240"/>
            <a:ext cx="242316" cy="256032"/>
          </a:xfrm>
          <a:prstGeom prst="rect">
            <a:avLst/>
          </a:prstGeom>
          <a:solidFill>
            <a:srgbClr val="E8934D"/>
          </a:solidFill>
          <a:ln w="6350">
            <a:solidFill>
              <a:srgbClr val="C9D0D8"/>
            </a:solidFill>
            <a:prstDash val="solid"/>
          </a:ln>
        </p:spPr>
      </p:sp>
      <p:sp>
        <p:nvSpPr>
          <p:cNvPr id="141" name="Shape 139"/>
          <p:cNvSpPr/>
          <p:nvPr/>
        </p:nvSpPr>
        <p:spPr>
          <a:xfrm>
            <a:off x="10067544" y="2788920"/>
            <a:ext cx="242316" cy="256032"/>
          </a:xfrm>
          <a:prstGeom prst="rect">
            <a:avLst/>
          </a:prstGeom>
          <a:solidFill>
            <a:srgbClr val="FFFFFF"/>
          </a:solidFill>
          <a:ln w="6350">
            <a:solidFill>
              <a:srgbClr val="C9D0D8"/>
            </a:solidFill>
            <a:prstDash val="solid"/>
          </a:ln>
        </p:spPr>
      </p:sp>
      <p:sp>
        <p:nvSpPr>
          <p:cNvPr id="142" name="Shape 140"/>
          <p:cNvSpPr/>
          <p:nvPr/>
        </p:nvSpPr>
        <p:spPr>
          <a:xfrm>
            <a:off x="10067544" y="2514600"/>
            <a:ext cx="242316" cy="256032"/>
          </a:xfrm>
          <a:prstGeom prst="rect">
            <a:avLst/>
          </a:prstGeom>
          <a:solidFill>
            <a:srgbClr val="FFFFFF"/>
          </a:solidFill>
          <a:ln w="6350">
            <a:solidFill>
              <a:srgbClr val="C9D0D8"/>
            </a:solidFill>
            <a:prstDash val="solid"/>
          </a:ln>
        </p:spPr>
      </p:sp>
      <p:sp>
        <p:nvSpPr>
          <p:cNvPr id="143" name="Shape 141"/>
          <p:cNvSpPr/>
          <p:nvPr/>
        </p:nvSpPr>
        <p:spPr>
          <a:xfrm>
            <a:off x="10067544" y="2240280"/>
            <a:ext cx="242316" cy="256032"/>
          </a:xfrm>
          <a:prstGeom prst="rect">
            <a:avLst/>
          </a:prstGeom>
          <a:solidFill>
            <a:srgbClr val="FFFFFF"/>
          </a:solidFill>
          <a:ln w="6350">
            <a:solidFill>
              <a:srgbClr val="C9D0D8"/>
            </a:solidFill>
            <a:prstDash val="solid"/>
          </a:ln>
        </p:spPr>
      </p:sp>
      <p:sp>
        <p:nvSpPr>
          <p:cNvPr id="144" name="Shape 142"/>
          <p:cNvSpPr/>
          <p:nvPr/>
        </p:nvSpPr>
        <p:spPr>
          <a:xfrm>
            <a:off x="10067544" y="1965960"/>
            <a:ext cx="242316" cy="256032"/>
          </a:xfrm>
          <a:prstGeom prst="rect">
            <a:avLst/>
          </a:prstGeom>
          <a:solidFill>
            <a:srgbClr val="FFFFFF"/>
          </a:solidFill>
          <a:ln w="6350">
            <a:solidFill>
              <a:srgbClr val="C9D0D8"/>
            </a:solidFill>
            <a:prstDash val="solid"/>
          </a:ln>
        </p:spPr>
      </p:sp>
      <p:sp>
        <p:nvSpPr>
          <p:cNvPr id="145" name="Shape 143"/>
          <p:cNvSpPr/>
          <p:nvPr/>
        </p:nvSpPr>
        <p:spPr>
          <a:xfrm>
            <a:off x="10328148" y="3337560"/>
            <a:ext cx="242316" cy="256032"/>
          </a:xfrm>
          <a:prstGeom prst="rect">
            <a:avLst/>
          </a:prstGeom>
          <a:solidFill>
            <a:srgbClr val="E8934D"/>
          </a:solidFill>
          <a:ln w="6350">
            <a:solidFill>
              <a:srgbClr val="C9D0D8"/>
            </a:solidFill>
            <a:prstDash val="solid"/>
          </a:ln>
        </p:spPr>
      </p:sp>
      <p:sp>
        <p:nvSpPr>
          <p:cNvPr id="146" name="Shape 144"/>
          <p:cNvSpPr/>
          <p:nvPr/>
        </p:nvSpPr>
        <p:spPr>
          <a:xfrm>
            <a:off x="10328148" y="3063240"/>
            <a:ext cx="242316" cy="256032"/>
          </a:xfrm>
          <a:prstGeom prst="rect">
            <a:avLst/>
          </a:prstGeom>
          <a:solidFill>
            <a:srgbClr val="E8934D"/>
          </a:solidFill>
          <a:ln w="6350">
            <a:solidFill>
              <a:srgbClr val="C9D0D8"/>
            </a:solidFill>
            <a:prstDash val="solid"/>
          </a:ln>
        </p:spPr>
      </p:sp>
      <p:sp>
        <p:nvSpPr>
          <p:cNvPr id="147" name="Shape 145"/>
          <p:cNvSpPr/>
          <p:nvPr/>
        </p:nvSpPr>
        <p:spPr>
          <a:xfrm>
            <a:off x="10328148" y="2788920"/>
            <a:ext cx="242316" cy="256032"/>
          </a:xfrm>
          <a:prstGeom prst="rect">
            <a:avLst/>
          </a:prstGeom>
          <a:solidFill>
            <a:srgbClr val="FFFFFF"/>
          </a:solidFill>
          <a:ln w="6350">
            <a:solidFill>
              <a:srgbClr val="C9D0D8"/>
            </a:solidFill>
            <a:prstDash val="solid"/>
          </a:ln>
        </p:spPr>
      </p:sp>
      <p:sp>
        <p:nvSpPr>
          <p:cNvPr id="148" name="Shape 146"/>
          <p:cNvSpPr/>
          <p:nvPr/>
        </p:nvSpPr>
        <p:spPr>
          <a:xfrm>
            <a:off x="10328148" y="2514600"/>
            <a:ext cx="242316" cy="256032"/>
          </a:xfrm>
          <a:prstGeom prst="rect">
            <a:avLst/>
          </a:prstGeom>
          <a:solidFill>
            <a:srgbClr val="FFFFFF"/>
          </a:solidFill>
          <a:ln w="6350">
            <a:solidFill>
              <a:srgbClr val="C9D0D8"/>
            </a:solidFill>
            <a:prstDash val="solid"/>
          </a:ln>
        </p:spPr>
      </p:sp>
      <p:sp>
        <p:nvSpPr>
          <p:cNvPr id="149" name="Shape 147"/>
          <p:cNvSpPr/>
          <p:nvPr/>
        </p:nvSpPr>
        <p:spPr>
          <a:xfrm>
            <a:off x="10328148" y="2240280"/>
            <a:ext cx="242316" cy="256032"/>
          </a:xfrm>
          <a:prstGeom prst="rect">
            <a:avLst/>
          </a:prstGeom>
          <a:solidFill>
            <a:srgbClr val="FFFFFF"/>
          </a:solidFill>
          <a:ln w="6350">
            <a:solidFill>
              <a:srgbClr val="C9D0D8"/>
            </a:solidFill>
            <a:prstDash val="solid"/>
          </a:ln>
        </p:spPr>
      </p:sp>
      <p:sp>
        <p:nvSpPr>
          <p:cNvPr id="150" name="Shape 148"/>
          <p:cNvSpPr/>
          <p:nvPr/>
        </p:nvSpPr>
        <p:spPr>
          <a:xfrm>
            <a:off x="10328148" y="1965960"/>
            <a:ext cx="242316" cy="256032"/>
          </a:xfrm>
          <a:prstGeom prst="rect">
            <a:avLst/>
          </a:prstGeom>
          <a:solidFill>
            <a:srgbClr val="FFFFFF"/>
          </a:solidFill>
          <a:ln w="6350">
            <a:solidFill>
              <a:srgbClr val="C9D0D8"/>
            </a:solidFill>
            <a:prstDash val="solid"/>
          </a:ln>
        </p:spPr>
      </p:sp>
      <p:sp>
        <p:nvSpPr>
          <p:cNvPr id="151" name="Shape 149"/>
          <p:cNvSpPr/>
          <p:nvPr/>
        </p:nvSpPr>
        <p:spPr>
          <a:xfrm>
            <a:off x="10588752" y="3337560"/>
            <a:ext cx="242316" cy="256032"/>
          </a:xfrm>
          <a:prstGeom prst="rect">
            <a:avLst/>
          </a:prstGeom>
          <a:solidFill>
            <a:srgbClr val="E8934D"/>
          </a:solidFill>
          <a:ln w="6350">
            <a:solidFill>
              <a:srgbClr val="C9D0D8"/>
            </a:solidFill>
            <a:prstDash val="solid"/>
          </a:ln>
        </p:spPr>
      </p:sp>
      <p:sp>
        <p:nvSpPr>
          <p:cNvPr id="152" name="Shape 150"/>
          <p:cNvSpPr/>
          <p:nvPr/>
        </p:nvSpPr>
        <p:spPr>
          <a:xfrm>
            <a:off x="10588752" y="3063240"/>
            <a:ext cx="242316" cy="256032"/>
          </a:xfrm>
          <a:prstGeom prst="rect">
            <a:avLst/>
          </a:prstGeom>
          <a:solidFill>
            <a:srgbClr val="E8934D"/>
          </a:solidFill>
          <a:ln w="6350">
            <a:solidFill>
              <a:srgbClr val="C9D0D8"/>
            </a:solidFill>
            <a:prstDash val="solid"/>
          </a:ln>
        </p:spPr>
      </p:sp>
      <p:sp>
        <p:nvSpPr>
          <p:cNvPr id="153" name="Shape 151"/>
          <p:cNvSpPr/>
          <p:nvPr/>
        </p:nvSpPr>
        <p:spPr>
          <a:xfrm>
            <a:off x="10588752" y="2788920"/>
            <a:ext cx="242316" cy="256032"/>
          </a:xfrm>
          <a:prstGeom prst="rect">
            <a:avLst/>
          </a:prstGeom>
          <a:solidFill>
            <a:srgbClr val="FFFFFF"/>
          </a:solidFill>
          <a:ln w="6350">
            <a:solidFill>
              <a:srgbClr val="C9D0D8"/>
            </a:solidFill>
            <a:prstDash val="solid"/>
          </a:ln>
        </p:spPr>
      </p:sp>
      <p:sp>
        <p:nvSpPr>
          <p:cNvPr id="154" name="Shape 152"/>
          <p:cNvSpPr/>
          <p:nvPr/>
        </p:nvSpPr>
        <p:spPr>
          <a:xfrm>
            <a:off x="10588752" y="2514600"/>
            <a:ext cx="242316" cy="256032"/>
          </a:xfrm>
          <a:prstGeom prst="rect">
            <a:avLst/>
          </a:prstGeom>
          <a:solidFill>
            <a:srgbClr val="FFFFFF"/>
          </a:solidFill>
          <a:ln w="6350">
            <a:solidFill>
              <a:srgbClr val="C9D0D8"/>
            </a:solidFill>
            <a:prstDash val="solid"/>
          </a:ln>
        </p:spPr>
      </p:sp>
      <p:sp>
        <p:nvSpPr>
          <p:cNvPr id="155" name="Shape 153"/>
          <p:cNvSpPr/>
          <p:nvPr/>
        </p:nvSpPr>
        <p:spPr>
          <a:xfrm>
            <a:off x="10588752" y="2240280"/>
            <a:ext cx="242316" cy="256032"/>
          </a:xfrm>
          <a:prstGeom prst="rect">
            <a:avLst/>
          </a:prstGeom>
          <a:solidFill>
            <a:srgbClr val="FFFFFF"/>
          </a:solidFill>
          <a:ln w="6350">
            <a:solidFill>
              <a:srgbClr val="C9D0D8"/>
            </a:solidFill>
            <a:prstDash val="solid"/>
          </a:ln>
        </p:spPr>
      </p:sp>
      <p:sp>
        <p:nvSpPr>
          <p:cNvPr id="156" name="Shape 154"/>
          <p:cNvSpPr/>
          <p:nvPr/>
        </p:nvSpPr>
        <p:spPr>
          <a:xfrm>
            <a:off x="10588752" y="1965960"/>
            <a:ext cx="242316" cy="256032"/>
          </a:xfrm>
          <a:prstGeom prst="rect">
            <a:avLst/>
          </a:prstGeom>
          <a:solidFill>
            <a:srgbClr val="FFFFFF"/>
          </a:solidFill>
          <a:ln w="6350">
            <a:solidFill>
              <a:srgbClr val="C9D0D8"/>
            </a:solidFill>
            <a:prstDash val="solid"/>
          </a:ln>
        </p:spPr>
      </p:sp>
      <p:sp>
        <p:nvSpPr>
          <p:cNvPr id="157" name="Shape 155"/>
          <p:cNvSpPr/>
          <p:nvPr/>
        </p:nvSpPr>
        <p:spPr>
          <a:xfrm>
            <a:off x="10849356" y="3337560"/>
            <a:ext cx="242316" cy="256032"/>
          </a:xfrm>
          <a:prstGeom prst="rect">
            <a:avLst/>
          </a:prstGeom>
          <a:solidFill>
            <a:srgbClr val="FFFFFF"/>
          </a:solidFill>
          <a:ln w="6350">
            <a:solidFill>
              <a:srgbClr val="C9D0D8"/>
            </a:solidFill>
            <a:prstDash val="solid"/>
          </a:ln>
        </p:spPr>
      </p:sp>
      <p:sp>
        <p:nvSpPr>
          <p:cNvPr id="158" name="Shape 156"/>
          <p:cNvSpPr/>
          <p:nvPr/>
        </p:nvSpPr>
        <p:spPr>
          <a:xfrm>
            <a:off x="10849356" y="3063240"/>
            <a:ext cx="242316" cy="256032"/>
          </a:xfrm>
          <a:prstGeom prst="rect">
            <a:avLst/>
          </a:prstGeom>
          <a:solidFill>
            <a:srgbClr val="FFFFFF"/>
          </a:solidFill>
          <a:ln w="6350">
            <a:solidFill>
              <a:srgbClr val="C9D0D8"/>
            </a:solidFill>
            <a:prstDash val="solid"/>
          </a:ln>
        </p:spPr>
      </p:sp>
      <p:sp>
        <p:nvSpPr>
          <p:cNvPr id="159" name="Shape 157"/>
          <p:cNvSpPr/>
          <p:nvPr/>
        </p:nvSpPr>
        <p:spPr>
          <a:xfrm>
            <a:off x="10849356" y="2788920"/>
            <a:ext cx="242316" cy="256032"/>
          </a:xfrm>
          <a:prstGeom prst="rect">
            <a:avLst/>
          </a:prstGeom>
          <a:solidFill>
            <a:srgbClr val="FFFFFF"/>
          </a:solidFill>
          <a:ln w="6350">
            <a:solidFill>
              <a:srgbClr val="C9D0D8"/>
            </a:solidFill>
            <a:prstDash val="solid"/>
          </a:ln>
        </p:spPr>
      </p:sp>
      <p:sp>
        <p:nvSpPr>
          <p:cNvPr id="160" name="Shape 158"/>
          <p:cNvSpPr/>
          <p:nvPr/>
        </p:nvSpPr>
        <p:spPr>
          <a:xfrm>
            <a:off x="10849356" y="2514600"/>
            <a:ext cx="242316" cy="256032"/>
          </a:xfrm>
          <a:prstGeom prst="rect">
            <a:avLst/>
          </a:prstGeom>
          <a:solidFill>
            <a:srgbClr val="FFFFFF"/>
          </a:solidFill>
          <a:ln w="6350">
            <a:solidFill>
              <a:srgbClr val="C9D0D8"/>
            </a:solidFill>
            <a:prstDash val="solid"/>
          </a:ln>
        </p:spPr>
      </p:sp>
      <p:sp>
        <p:nvSpPr>
          <p:cNvPr id="161" name="Shape 159"/>
          <p:cNvSpPr/>
          <p:nvPr/>
        </p:nvSpPr>
        <p:spPr>
          <a:xfrm>
            <a:off x="10849356" y="2240280"/>
            <a:ext cx="242316" cy="256032"/>
          </a:xfrm>
          <a:prstGeom prst="rect">
            <a:avLst/>
          </a:prstGeom>
          <a:solidFill>
            <a:srgbClr val="FFFFFF"/>
          </a:solidFill>
          <a:ln w="6350">
            <a:solidFill>
              <a:srgbClr val="C9D0D8"/>
            </a:solidFill>
            <a:prstDash val="solid"/>
          </a:ln>
        </p:spPr>
      </p:sp>
      <p:sp>
        <p:nvSpPr>
          <p:cNvPr id="162" name="Shape 160"/>
          <p:cNvSpPr/>
          <p:nvPr/>
        </p:nvSpPr>
        <p:spPr>
          <a:xfrm>
            <a:off x="10849356" y="1965960"/>
            <a:ext cx="242316" cy="256032"/>
          </a:xfrm>
          <a:prstGeom prst="rect">
            <a:avLst/>
          </a:prstGeom>
          <a:solidFill>
            <a:srgbClr val="FFFFFF"/>
          </a:solidFill>
          <a:ln w="6350">
            <a:solidFill>
              <a:srgbClr val="C9D0D8"/>
            </a:solidFill>
            <a:prstDash val="solid"/>
          </a:ln>
        </p:spPr>
      </p:sp>
      <p:sp>
        <p:nvSpPr>
          <p:cNvPr id="163" name="Shape 161"/>
          <p:cNvSpPr/>
          <p:nvPr/>
        </p:nvSpPr>
        <p:spPr>
          <a:xfrm>
            <a:off x="11109960" y="3337560"/>
            <a:ext cx="242316" cy="256032"/>
          </a:xfrm>
          <a:prstGeom prst="rect">
            <a:avLst/>
          </a:prstGeom>
          <a:solidFill>
            <a:srgbClr val="FFFFFF"/>
          </a:solidFill>
          <a:ln w="6350">
            <a:solidFill>
              <a:srgbClr val="C9D0D8"/>
            </a:solidFill>
            <a:prstDash val="solid"/>
          </a:ln>
        </p:spPr>
      </p:sp>
      <p:sp>
        <p:nvSpPr>
          <p:cNvPr id="164" name="Shape 162"/>
          <p:cNvSpPr/>
          <p:nvPr/>
        </p:nvSpPr>
        <p:spPr>
          <a:xfrm>
            <a:off x="11109960" y="3063240"/>
            <a:ext cx="242316" cy="256032"/>
          </a:xfrm>
          <a:prstGeom prst="rect">
            <a:avLst/>
          </a:prstGeom>
          <a:solidFill>
            <a:srgbClr val="FFFFFF"/>
          </a:solidFill>
          <a:ln w="6350">
            <a:solidFill>
              <a:srgbClr val="C9D0D8"/>
            </a:solidFill>
            <a:prstDash val="solid"/>
          </a:ln>
        </p:spPr>
      </p:sp>
      <p:sp>
        <p:nvSpPr>
          <p:cNvPr id="165" name="Shape 163"/>
          <p:cNvSpPr/>
          <p:nvPr/>
        </p:nvSpPr>
        <p:spPr>
          <a:xfrm>
            <a:off x="11109960" y="2788920"/>
            <a:ext cx="242316" cy="256032"/>
          </a:xfrm>
          <a:prstGeom prst="rect">
            <a:avLst/>
          </a:prstGeom>
          <a:solidFill>
            <a:srgbClr val="FFFFFF"/>
          </a:solidFill>
          <a:ln w="6350">
            <a:solidFill>
              <a:srgbClr val="C9D0D8"/>
            </a:solidFill>
            <a:prstDash val="solid"/>
          </a:ln>
        </p:spPr>
      </p:sp>
      <p:sp>
        <p:nvSpPr>
          <p:cNvPr id="166" name="Shape 164"/>
          <p:cNvSpPr/>
          <p:nvPr/>
        </p:nvSpPr>
        <p:spPr>
          <a:xfrm>
            <a:off x="11109960" y="2514600"/>
            <a:ext cx="242316" cy="256032"/>
          </a:xfrm>
          <a:prstGeom prst="rect">
            <a:avLst/>
          </a:prstGeom>
          <a:solidFill>
            <a:srgbClr val="FFFFFF"/>
          </a:solidFill>
          <a:ln w="6350">
            <a:solidFill>
              <a:srgbClr val="C9D0D8"/>
            </a:solidFill>
            <a:prstDash val="solid"/>
          </a:ln>
        </p:spPr>
      </p:sp>
      <p:sp>
        <p:nvSpPr>
          <p:cNvPr id="167" name="Shape 165"/>
          <p:cNvSpPr/>
          <p:nvPr/>
        </p:nvSpPr>
        <p:spPr>
          <a:xfrm>
            <a:off x="11109960" y="2240280"/>
            <a:ext cx="242316" cy="256032"/>
          </a:xfrm>
          <a:prstGeom prst="rect">
            <a:avLst/>
          </a:prstGeom>
          <a:solidFill>
            <a:srgbClr val="FFFFFF"/>
          </a:solidFill>
          <a:ln w="6350">
            <a:solidFill>
              <a:srgbClr val="C9D0D8"/>
            </a:solidFill>
            <a:prstDash val="solid"/>
          </a:ln>
        </p:spPr>
      </p:sp>
      <p:sp>
        <p:nvSpPr>
          <p:cNvPr id="168" name="Shape 166"/>
          <p:cNvSpPr/>
          <p:nvPr/>
        </p:nvSpPr>
        <p:spPr>
          <a:xfrm>
            <a:off x="11109960" y="1965960"/>
            <a:ext cx="242316" cy="256032"/>
          </a:xfrm>
          <a:prstGeom prst="rect">
            <a:avLst/>
          </a:prstGeom>
          <a:solidFill>
            <a:srgbClr val="FFFFFF"/>
          </a:solidFill>
          <a:ln w="6350">
            <a:solidFill>
              <a:srgbClr val="C9D0D8"/>
            </a:solidFill>
            <a:prstDash val="solid"/>
          </a:ln>
        </p:spPr>
      </p:sp>
      <p:sp>
        <p:nvSpPr>
          <p:cNvPr id="169" name="Shape 167"/>
          <p:cNvSpPr/>
          <p:nvPr/>
        </p:nvSpPr>
        <p:spPr>
          <a:xfrm>
            <a:off x="11370564" y="3337560"/>
            <a:ext cx="242316" cy="256032"/>
          </a:xfrm>
          <a:prstGeom prst="rect">
            <a:avLst/>
          </a:prstGeom>
          <a:solidFill>
            <a:srgbClr val="FFFFFF"/>
          </a:solidFill>
          <a:ln w="6350">
            <a:solidFill>
              <a:srgbClr val="C9D0D8"/>
            </a:solidFill>
            <a:prstDash val="solid"/>
          </a:ln>
        </p:spPr>
      </p:sp>
      <p:sp>
        <p:nvSpPr>
          <p:cNvPr id="170" name="Shape 168"/>
          <p:cNvSpPr/>
          <p:nvPr/>
        </p:nvSpPr>
        <p:spPr>
          <a:xfrm>
            <a:off x="11370564" y="3063240"/>
            <a:ext cx="242316" cy="256032"/>
          </a:xfrm>
          <a:prstGeom prst="rect">
            <a:avLst/>
          </a:prstGeom>
          <a:solidFill>
            <a:srgbClr val="FFFFFF"/>
          </a:solidFill>
          <a:ln w="6350">
            <a:solidFill>
              <a:srgbClr val="C9D0D8"/>
            </a:solidFill>
            <a:prstDash val="solid"/>
          </a:ln>
        </p:spPr>
      </p:sp>
      <p:sp>
        <p:nvSpPr>
          <p:cNvPr id="171" name="Shape 169"/>
          <p:cNvSpPr/>
          <p:nvPr/>
        </p:nvSpPr>
        <p:spPr>
          <a:xfrm>
            <a:off x="11370564" y="2788920"/>
            <a:ext cx="242316" cy="256032"/>
          </a:xfrm>
          <a:prstGeom prst="rect">
            <a:avLst/>
          </a:prstGeom>
          <a:solidFill>
            <a:srgbClr val="FFFFFF"/>
          </a:solidFill>
          <a:ln w="6350">
            <a:solidFill>
              <a:srgbClr val="C9D0D8"/>
            </a:solidFill>
            <a:prstDash val="solid"/>
          </a:ln>
        </p:spPr>
      </p:sp>
      <p:sp>
        <p:nvSpPr>
          <p:cNvPr id="172" name="Shape 170"/>
          <p:cNvSpPr/>
          <p:nvPr/>
        </p:nvSpPr>
        <p:spPr>
          <a:xfrm>
            <a:off x="11370564" y="2514600"/>
            <a:ext cx="242316" cy="256032"/>
          </a:xfrm>
          <a:prstGeom prst="rect">
            <a:avLst/>
          </a:prstGeom>
          <a:solidFill>
            <a:srgbClr val="FFFFFF"/>
          </a:solidFill>
          <a:ln w="6350">
            <a:solidFill>
              <a:srgbClr val="C9D0D8"/>
            </a:solidFill>
            <a:prstDash val="solid"/>
          </a:ln>
        </p:spPr>
      </p:sp>
      <p:sp>
        <p:nvSpPr>
          <p:cNvPr id="173" name="Shape 171"/>
          <p:cNvSpPr/>
          <p:nvPr/>
        </p:nvSpPr>
        <p:spPr>
          <a:xfrm>
            <a:off x="11370564" y="2240280"/>
            <a:ext cx="242316" cy="256032"/>
          </a:xfrm>
          <a:prstGeom prst="rect">
            <a:avLst/>
          </a:prstGeom>
          <a:solidFill>
            <a:srgbClr val="FFFFFF"/>
          </a:solidFill>
          <a:ln w="6350">
            <a:solidFill>
              <a:srgbClr val="C9D0D8"/>
            </a:solidFill>
            <a:prstDash val="solid"/>
          </a:ln>
        </p:spPr>
      </p:sp>
      <p:sp>
        <p:nvSpPr>
          <p:cNvPr id="174" name="Shape 172"/>
          <p:cNvSpPr/>
          <p:nvPr/>
        </p:nvSpPr>
        <p:spPr>
          <a:xfrm>
            <a:off x="11370564" y="1965960"/>
            <a:ext cx="242316" cy="256032"/>
          </a:xfrm>
          <a:prstGeom prst="rect">
            <a:avLst/>
          </a:prstGeom>
          <a:solidFill>
            <a:srgbClr val="FFFFFF"/>
          </a:solidFill>
          <a:ln w="6350">
            <a:solidFill>
              <a:srgbClr val="C9D0D8"/>
            </a:solidFill>
            <a:prstDash val="solid"/>
          </a:ln>
        </p:spPr>
      </p:sp>
      <p:sp>
        <p:nvSpPr>
          <p:cNvPr id="175" name="Shape 173"/>
          <p:cNvSpPr/>
          <p:nvPr/>
        </p:nvSpPr>
        <p:spPr>
          <a:xfrm>
            <a:off x="9788652" y="3044952"/>
            <a:ext cx="278892" cy="292608"/>
          </a:xfrm>
          <a:prstGeom prst="rect">
            <a:avLst/>
          </a:prstGeom>
          <a:solidFill>
            <a:srgbClr val="FFFFFF">
              <a:alpha val="0"/>
            </a:srgbClr>
          </a:solidFill>
          <a:ln w="28575">
            <a:solidFill>
              <a:srgbClr val="1B2A44"/>
            </a:solidFill>
            <a:prstDash val="solid"/>
          </a:ln>
        </p:spPr>
      </p:sp>
      <p:sp>
        <p:nvSpPr>
          <p:cNvPr id="176" name="Text 174"/>
          <p:cNvSpPr txBox="1"/>
          <p:nvPr/>
        </p:nvSpPr>
        <p:spPr>
          <a:xfrm>
            <a:off x="8503920" y="3611880"/>
            <a:ext cx="260604" cy="182880"/>
          </a:xfrm>
          <a:prstGeom prst="rect">
            <a:avLst/>
          </a:prstGeom>
          <a:noFill/>
          <a:ln/>
        </p:spPr>
        <p:txBody>
          <a:bodyPr wrap="square" lIns="0" tIns="0" rIns="0" bIns="0"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a:t>
            </a:r>
            <a:endParaRPr lang="en-US" sz="800" dirty="0"/>
          </a:p>
        </p:txBody>
      </p:sp>
      <p:sp>
        <p:nvSpPr>
          <p:cNvPr id="177" name="Text 175"/>
          <p:cNvSpPr txBox="1"/>
          <p:nvPr/>
        </p:nvSpPr>
        <p:spPr>
          <a:xfrm>
            <a:off x="8764524" y="3611880"/>
            <a:ext cx="260604" cy="182880"/>
          </a:xfrm>
          <a:prstGeom prst="rect">
            <a:avLst/>
          </a:prstGeom>
          <a:noFill/>
          <a:ln/>
        </p:spPr>
        <p:txBody>
          <a:bodyPr wrap="square" lIns="0" tIns="0" rIns="0" bIns="0"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2</a:t>
            </a:r>
            <a:endParaRPr lang="en-US" sz="800" dirty="0"/>
          </a:p>
        </p:txBody>
      </p:sp>
      <p:sp>
        <p:nvSpPr>
          <p:cNvPr id="178" name="Text 176"/>
          <p:cNvSpPr txBox="1"/>
          <p:nvPr/>
        </p:nvSpPr>
        <p:spPr>
          <a:xfrm>
            <a:off x="9025128" y="3611880"/>
            <a:ext cx="260604" cy="182880"/>
          </a:xfrm>
          <a:prstGeom prst="rect">
            <a:avLst/>
          </a:prstGeom>
          <a:noFill/>
          <a:ln/>
        </p:spPr>
        <p:txBody>
          <a:bodyPr wrap="square" lIns="0" tIns="0" rIns="0" bIns="0"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3</a:t>
            </a:r>
            <a:endParaRPr lang="en-US" sz="800" dirty="0"/>
          </a:p>
        </p:txBody>
      </p:sp>
      <p:sp>
        <p:nvSpPr>
          <p:cNvPr id="179" name="Text 177"/>
          <p:cNvSpPr txBox="1"/>
          <p:nvPr/>
        </p:nvSpPr>
        <p:spPr>
          <a:xfrm>
            <a:off x="9285732" y="3611880"/>
            <a:ext cx="260604" cy="182880"/>
          </a:xfrm>
          <a:prstGeom prst="rect">
            <a:avLst/>
          </a:prstGeom>
          <a:noFill/>
          <a:ln/>
        </p:spPr>
        <p:txBody>
          <a:bodyPr wrap="square" lIns="0" tIns="0" rIns="0" bIns="0"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4</a:t>
            </a:r>
            <a:endParaRPr lang="en-US" sz="800" dirty="0"/>
          </a:p>
        </p:txBody>
      </p:sp>
      <p:sp>
        <p:nvSpPr>
          <p:cNvPr id="180" name="Text 178"/>
          <p:cNvSpPr txBox="1"/>
          <p:nvPr/>
        </p:nvSpPr>
        <p:spPr>
          <a:xfrm>
            <a:off x="9546336" y="3611880"/>
            <a:ext cx="260604" cy="182880"/>
          </a:xfrm>
          <a:prstGeom prst="rect">
            <a:avLst/>
          </a:prstGeom>
          <a:noFill/>
          <a:ln/>
        </p:spPr>
        <p:txBody>
          <a:bodyPr wrap="square" lIns="0" tIns="0" rIns="0" bIns="0"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5</a:t>
            </a:r>
            <a:endParaRPr lang="en-US" sz="800" dirty="0"/>
          </a:p>
        </p:txBody>
      </p:sp>
      <p:sp>
        <p:nvSpPr>
          <p:cNvPr id="181" name="Text 179"/>
          <p:cNvSpPr txBox="1"/>
          <p:nvPr/>
        </p:nvSpPr>
        <p:spPr>
          <a:xfrm>
            <a:off x="9806940" y="3611880"/>
            <a:ext cx="260604" cy="182880"/>
          </a:xfrm>
          <a:prstGeom prst="rect">
            <a:avLst/>
          </a:prstGeom>
          <a:noFill/>
          <a:ln/>
        </p:spPr>
        <p:txBody>
          <a:bodyPr wrap="square" lIns="0" tIns="0" rIns="0" bIns="0"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6</a:t>
            </a:r>
            <a:endParaRPr lang="en-US" sz="800" dirty="0"/>
          </a:p>
        </p:txBody>
      </p:sp>
      <p:sp>
        <p:nvSpPr>
          <p:cNvPr id="182" name="Text 180"/>
          <p:cNvSpPr txBox="1"/>
          <p:nvPr/>
        </p:nvSpPr>
        <p:spPr>
          <a:xfrm>
            <a:off x="10067544" y="3611880"/>
            <a:ext cx="260604" cy="182880"/>
          </a:xfrm>
          <a:prstGeom prst="rect">
            <a:avLst/>
          </a:prstGeom>
          <a:noFill/>
          <a:ln/>
        </p:spPr>
        <p:txBody>
          <a:bodyPr wrap="square" lIns="0" tIns="0" rIns="0" bIns="0"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7</a:t>
            </a:r>
            <a:endParaRPr lang="en-US" sz="800" dirty="0"/>
          </a:p>
        </p:txBody>
      </p:sp>
      <p:sp>
        <p:nvSpPr>
          <p:cNvPr id="183" name="Text 181"/>
          <p:cNvSpPr txBox="1"/>
          <p:nvPr/>
        </p:nvSpPr>
        <p:spPr>
          <a:xfrm>
            <a:off x="10328148" y="3611880"/>
            <a:ext cx="260604" cy="182880"/>
          </a:xfrm>
          <a:prstGeom prst="rect">
            <a:avLst/>
          </a:prstGeom>
          <a:noFill/>
          <a:ln/>
        </p:spPr>
        <p:txBody>
          <a:bodyPr wrap="square" lIns="0" tIns="0" rIns="0" bIns="0"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8</a:t>
            </a:r>
            <a:endParaRPr lang="en-US" sz="800" dirty="0"/>
          </a:p>
        </p:txBody>
      </p:sp>
      <p:sp>
        <p:nvSpPr>
          <p:cNvPr id="184" name="Text 182"/>
          <p:cNvSpPr txBox="1"/>
          <p:nvPr/>
        </p:nvSpPr>
        <p:spPr>
          <a:xfrm>
            <a:off x="10588752" y="3611880"/>
            <a:ext cx="260604" cy="182880"/>
          </a:xfrm>
          <a:prstGeom prst="rect">
            <a:avLst/>
          </a:prstGeom>
          <a:noFill/>
          <a:ln/>
        </p:spPr>
        <p:txBody>
          <a:bodyPr wrap="square" lIns="0" tIns="0" rIns="0" bIns="0"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9</a:t>
            </a:r>
            <a:endParaRPr lang="en-US" sz="800" dirty="0"/>
          </a:p>
        </p:txBody>
      </p:sp>
      <p:sp>
        <p:nvSpPr>
          <p:cNvPr id="185" name="Text 183"/>
          <p:cNvSpPr txBox="1"/>
          <p:nvPr/>
        </p:nvSpPr>
        <p:spPr>
          <a:xfrm>
            <a:off x="10849356" y="3611880"/>
            <a:ext cx="260604" cy="182880"/>
          </a:xfrm>
          <a:prstGeom prst="rect">
            <a:avLst/>
          </a:prstGeom>
          <a:noFill/>
          <a:ln/>
        </p:spPr>
        <p:txBody>
          <a:bodyPr wrap="square" lIns="0" tIns="0" rIns="0" bIns="0"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10</a:t>
            </a:r>
            <a:endParaRPr lang="en-US" sz="800" dirty="0"/>
          </a:p>
        </p:txBody>
      </p:sp>
      <p:sp>
        <p:nvSpPr>
          <p:cNvPr id="186" name="Text 184"/>
          <p:cNvSpPr txBox="1"/>
          <p:nvPr/>
        </p:nvSpPr>
        <p:spPr>
          <a:xfrm>
            <a:off x="11109960" y="3611880"/>
            <a:ext cx="260604" cy="182880"/>
          </a:xfrm>
          <a:prstGeom prst="rect">
            <a:avLst/>
          </a:prstGeom>
          <a:noFill/>
          <a:ln/>
        </p:spPr>
        <p:txBody>
          <a:bodyPr wrap="square" lIns="0" tIns="0" rIns="0" bIns="0"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11</a:t>
            </a:r>
            <a:endParaRPr lang="en-US" sz="800" dirty="0"/>
          </a:p>
        </p:txBody>
      </p:sp>
      <p:sp>
        <p:nvSpPr>
          <p:cNvPr id="187" name="Text 185"/>
          <p:cNvSpPr txBox="1"/>
          <p:nvPr/>
        </p:nvSpPr>
        <p:spPr>
          <a:xfrm>
            <a:off x="11370564" y="3611880"/>
            <a:ext cx="260604" cy="182880"/>
          </a:xfrm>
          <a:prstGeom prst="rect">
            <a:avLst/>
          </a:prstGeom>
          <a:noFill/>
          <a:ln/>
        </p:spPr>
        <p:txBody>
          <a:bodyPr wrap="square" lIns="0" tIns="0" rIns="0" bIns="0"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12</a:t>
            </a:r>
            <a:endParaRPr lang="en-US" sz="800" dirty="0"/>
          </a:p>
        </p:txBody>
      </p:sp>
      <p:sp>
        <p:nvSpPr>
          <p:cNvPr id="188" name="Text 186"/>
          <p:cNvSpPr txBox="1"/>
          <p:nvPr/>
        </p:nvSpPr>
        <p:spPr>
          <a:xfrm>
            <a:off x="8229600" y="3337560"/>
            <a:ext cx="201168" cy="274320"/>
          </a:xfrm>
          <a:prstGeom prst="rect">
            <a:avLst/>
          </a:prstGeom>
          <a:noFill/>
          <a:ln/>
        </p:spPr>
        <p:txBody>
          <a:bodyPr wrap="square" lIns="0" tIns="0" rIns="0" bIns="0" rtlCol="0" anchor="ctr"/>
          <a:lstStyle/>
          <a:p>
            <a:pPr algn="r" indent="0" marL="0">
              <a:buNone/>
            </a:pPr>
            <a:r>
              <a:rPr lang="en-US" sz="800" dirty="0">
                <a:solidFill>
                  <a:srgbClr val="6B7480"/>
                </a:solidFill>
                <a:latin typeface="Yu Gothic" pitchFamily="34" charset="0"/>
                <a:ea typeface="Yu Gothic" pitchFamily="34" charset="-122"/>
                <a:cs typeface="Yu Gothic" pitchFamily="34" charset="-120"/>
              </a:rPr>
              <a:t>1</a:t>
            </a:r>
            <a:endParaRPr lang="en-US" sz="800" dirty="0"/>
          </a:p>
        </p:txBody>
      </p:sp>
      <p:sp>
        <p:nvSpPr>
          <p:cNvPr id="189" name="Text 187"/>
          <p:cNvSpPr txBox="1"/>
          <p:nvPr/>
        </p:nvSpPr>
        <p:spPr>
          <a:xfrm>
            <a:off x="8229600" y="3063240"/>
            <a:ext cx="201168" cy="274320"/>
          </a:xfrm>
          <a:prstGeom prst="rect">
            <a:avLst/>
          </a:prstGeom>
          <a:noFill/>
          <a:ln/>
        </p:spPr>
        <p:txBody>
          <a:bodyPr wrap="square" lIns="0" tIns="0" rIns="0" bIns="0" rtlCol="0" anchor="ctr"/>
          <a:lstStyle/>
          <a:p>
            <a:pPr algn="r" indent="0" marL="0">
              <a:buNone/>
            </a:pPr>
            <a:r>
              <a:rPr lang="en-US" sz="800" dirty="0">
                <a:solidFill>
                  <a:srgbClr val="6B7480"/>
                </a:solidFill>
                <a:latin typeface="Yu Gothic" pitchFamily="34" charset="0"/>
                <a:ea typeface="Yu Gothic" pitchFamily="34" charset="-122"/>
                <a:cs typeface="Yu Gothic" pitchFamily="34" charset="-120"/>
              </a:rPr>
              <a:t>2</a:t>
            </a:r>
            <a:endParaRPr lang="en-US" sz="800" dirty="0"/>
          </a:p>
        </p:txBody>
      </p:sp>
      <p:sp>
        <p:nvSpPr>
          <p:cNvPr id="190" name="Text 188"/>
          <p:cNvSpPr txBox="1"/>
          <p:nvPr/>
        </p:nvSpPr>
        <p:spPr>
          <a:xfrm>
            <a:off x="8229600" y="2788920"/>
            <a:ext cx="201168" cy="274320"/>
          </a:xfrm>
          <a:prstGeom prst="rect">
            <a:avLst/>
          </a:prstGeom>
          <a:noFill/>
          <a:ln/>
        </p:spPr>
        <p:txBody>
          <a:bodyPr wrap="square" lIns="0" tIns="0" rIns="0" bIns="0" rtlCol="0" anchor="ctr"/>
          <a:lstStyle/>
          <a:p>
            <a:pPr algn="r" indent="0" marL="0">
              <a:buNone/>
            </a:pPr>
            <a:r>
              <a:rPr lang="en-US" sz="800" dirty="0">
                <a:solidFill>
                  <a:srgbClr val="6B7480"/>
                </a:solidFill>
                <a:latin typeface="Yu Gothic" pitchFamily="34" charset="0"/>
                <a:ea typeface="Yu Gothic" pitchFamily="34" charset="-122"/>
                <a:cs typeface="Yu Gothic" pitchFamily="34" charset="-120"/>
              </a:rPr>
              <a:t>3</a:t>
            </a:r>
            <a:endParaRPr lang="en-US" sz="800" dirty="0"/>
          </a:p>
        </p:txBody>
      </p:sp>
      <p:sp>
        <p:nvSpPr>
          <p:cNvPr id="191" name="Text 189"/>
          <p:cNvSpPr txBox="1"/>
          <p:nvPr/>
        </p:nvSpPr>
        <p:spPr>
          <a:xfrm>
            <a:off x="8229600" y="2514600"/>
            <a:ext cx="201168" cy="274320"/>
          </a:xfrm>
          <a:prstGeom prst="rect">
            <a:avLst/>
          </a:prstGeom>
          <a:noFill/>
          <a:ln/>
        </p:spPr>
        <p:txBody>
          <a:bodyPr wrap="square" lIns="0" tIns="0" rIns="0" bIns="0" rtlCol="0" anchor="ctr"/>
          <a:lstStyle/>
          <a:p>
            <a:pPr algn="r" indent="0" marL="0">
              <a:buNone/>
            </a:pPr>
            <a:r>
              <a:rPr lang="en-US" sz="800" dirty="0">
                <a:solidFill>
                  <a:srgbClr val="6B7480"/>
                </a:solidFill>
                <a:latin typeface="Yu Gothic" pitchFamily="34" charset="0"/>
                <a:ea typeface="Yu Gothic" pitchFamily="34" charset="-122"/>
                <a:cs typeface="Yu Gothic" pitchFamily="34" charset="-120"/>
              </a:rPr>
              <a:t>4</a:t>
            </a:r>
            <a:endParaRPr lang="en-US" sz="800" dirty="0"/>
          </a:p>
        </p:txBody>
      </p:sp>
      <p:sp>
        <p:nvSpPr>
          <p:cNvPr id="192" name="Text 190"/>
          <p:cNvSpPr txBox="1"/>
          <p:nvPr/>
        </p:nvSpPr>
        <p:spPr>
          <a:xfrm>
            <a:off x="8229600" y="2240280"/>
            <a:ext cx="201168" cy="274320"/>
          </a:xfrm>
          <a:prstGeom prst="rect">
            <a:avLst/>
          </a:prstGeom>
          <a:noFill/>
          <a:ln/>
        </p:spPr>
        <p:txBody>
          <a:bodyPr wrap="square" lIns="0" tIns="0" rIns="0" bIns="0" rtlCol="0" anchor="ctr"/>
          <a:lstStyle/>
          <a:p>
            <a:pPr algn="r" indent="0" marL="0">
              <a:buNone/>
            </a:pPr>
            <a:r>
              <a:rPr lang="en-US" sz="800" dirty="0">
                <a:solidFill>
                  <a:srgbClr val="6B7480"/>
                </a:solidFill>
                <a:latin typeface="Yu Gothic" pitchFamily="34" charset="0"/>
                <a:ea typeface="Yu Gothic" pitchFamily="34" charset="-122"/>
                <a:cs typeface="Yu Gothic" pitchFamily="34" charset="-120"/>
              </a:rPr>
              <a:t>5</a:t>
            </a:r>
            <a:endParaRPr lang="en-US" sz="800" dirty="0"/>
          </a:p>
        </p:txBody>
      </p:sp>
      <p:sp>
        <p:nvSpPr>
          <p:cNvPr id="193" name="Text 191"/>
          <p:cNvSpPr txBox="1"/>
          <p:nvPr/>
        </p:nvSpPr>
        <p:spPr>
          <a:xfrm>
            <a:off x="8229600" y="1965960"/>
            <a:ext cx="201168" cy="274320"/>
          </a:xfrm>
          <a:prstGeom prst="rect">
            <a:avLst/>
          </a:prstGeom>
          <a:noFill/>
          <a:ln/>
        </p:spPr>
        <p:txBody>
          <a:bodyPr wrap="square" lIns="0" tIns="0" rIns="0" bIns="0" rtlCol="0" anchor="ctr"/>
          <a:lstStyle/>
          <a:p>
            <a:pPr algn="r" indent="0" marL="0">
              <a:buNone/>
            </a:pPr>
            <a:r>
              <a:rPr lang="en-US" sz="800" dirty="0">
                <a:solidFill>
                  <a:srgbClr val="6B7480"/>
                </a:solidFill>
                <a:latin typeface="Yu Gothic" pitchFamily="34" charset="0"/>
                <a:ea typeface="Yu Gothic" pitchFamily="34" charset="-122"/>
                <a:cs typeface="Yu Gothic" pitchFamily="34" charset="-120"/>
              </a:rPr>
              <a:t>6</a:t>
            </a:r>
            <a:endParaRPr lang="en-US" sz="800" dirty="0"/>
          </a:p>
        </p:txBody>
      </p:sp>
      <p:sp>
        <p:nvSpPr>
          <p:cNvPr id="194" name="Text 192"/>
          <p:cNvSpPr txBox="1"/>
          <p:nvPr/>
        </p:nvSpPr>
        <p:spPr>
          <a:xfrm>
            <a:off x="8503920" y="3776472"/>
            <a:ext cx="3127248" cy="182880"/>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a →（東 … 南 … 西）</a:t>
            </a:r>
            <a:endParaRPr lang="en-US" sz="850" dirty="0"/>
          </a:p>
        </p:txBody>
      </p:sp>
      <p:sp>
        <p:nvSpPr>
          <p:cNvPr id="195" name="Text 193"/>
          <p:cNvSpPr txBox="1"/>
          <p:nvPr/>
        </p:nvSpPr>
        <p:spPr>
          <a:xfrm>
            <a:off x="8092440" y="1783080"/>
            <a:ext cx="457200" cy="18288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e ↑</a:t>
            </a:r>
            <a:endParaRPr lang="en-US" sz="850" dirty="0"/>
          </a:p>
        </p:txBody>
      </p:sp>
      <p:sp>
        <p:nvSpPr>
          <p:cNvPr id="196" name="Shape 194"/>
          <p:cNvSpPr/>
          <p:nvPr/>
        </p:nvSpPr>
        <p:spPr>
          <a:xfrm>
            <a:off x="8138160" y="4069080"/>
            <a:ext cx="3474720" cy="914400"/>
          </a:xfrm>
          <a:prstGeom prst="roundRect">
            <a:avLst>
              <a:gd name="adj" fmla="val 5000"/>
            </a:avLst>
          </a:prstGeom>
          <a:solidFill>
            <a:srgbClr val="F3F5F8"/>
          </a:solidFill>
          <a:ln/>
        </p:spPr>
      </p:sp>
      <p:sp>
        <p:nvSpPr>
          <p:cNvPr id="197" name="Text 195"/>
          <p:cNvSpPr txBox="1"/>
          <p:nvPr/>
        </p:nvSpPr>
        <p:spPr>
          <a:xfrm>
            <a:off x="8229600" y="4114800"/>
            <a:ext cx="3337560" cy="822960"/>
          </a:xfrm>
          <a:prstGeom prst="rect">
            <a:avLst/>
          </a:prstGeom>
          <a:noFill/>
          <a:ln/>
        </p:spPr>
        <p:txBody>
          <a:bodyPr wrap="square" lIns="508" tIns="508" rIns="508" bIns="508" rtlCol="0" anchor="t"/>
          <a:lstStyle/>
          <a:p>
            <a:pPr indent="0" marL="0">
              <a:lnSpc>
                <a:spcPct val="110000"/>
              </a:lnSpc>
              <a:buNone/>
            </a:pPr>
            <a:r>
              <a:rPr lang="en-US" sz="950" b="1" dirty="0">
                <a:solidFill>
                  <a:srgbClr val="1B2A44"/>
                </a:solidFill>
                <a:latin typeface="Yu Gothic" pitchFamily="34" charset="0"/>
                <a:ea typeface="Yu Gothic" pitchFamily="34" charset="-122"/>
                <a:cs typeface="Yu Gothic" pitchFamily="34" charset="-120"/>
              </a:rPr>
              <a:t>黒枠のマス：a＝6, e＝2</a:t>
            </a:r>
            <a:endParaRPr lang="en-US" sz="950" dirty="0"/>
          </a:p>
          <a:p>
            <a:pPr indent="0" marL="0">
              <a:lnSpc>
                <a:spcPct val="110000"/>
              </a:lnSpc>
              <a:buNone/>
            </a:pPr>
            <a:r>
              <a:rPr lang="en-US" sz="950" dirty="0">
                <a:solidFill>
                  <a:srgbClr val="333F4E"/>
                </a:solidFill>
                <a:latin typeface="Yu Gothic" pitchFamily="34" charset="0"/>
                <a:ea typeface="Yu Gothic" pitchFamily="34" charset="-122"/>
                <a:cs typeface="Yu Gothic" pitchFamily="34" charset="-120"/>
              </a:rPr>
              <a:t>＝ 南から少し東寄り、見上げる角度15〜30°の空</a:t>
            </a:r>
            <a:endParaRPr lang="en-US" sz="950" dirty="0"/>
          </a:p>
          <a:p>
            <a:pPr indent="0" marL="0">
              <a:lnSpc>
                <a:spcPct val="110000"/>
              </a:lnSpc>
              <a:buNone/>
            </a:pPr>
            <a:r>
              <a:rPr lang="en-US" sz="950" dirty="0">
                <a:solidFill>
                  <a:srgbClr val="C56A2C"/>
                </a:solidFill>
                <a:latin typeface="Yu Gothic" pitchFamily="34" charset="0"/>
                <a:ea typeface="Yu Gothic" pitchFamily="34" charset="-122"/>
                <a:cs typeface="Yu Gothic" pitchFamily="34" charset="-120"/>
              </a:rPr>
              <a:t>→ 南の建物でふさがれている（オレンジ）</a:t>
            </a:r>
            <a:endParaRPr lang="en-US" sz="950" dirty="0"/>
          </a:p>
        </p:txBody>
      </p:sp>
      <p:sp>
        <p:nvSpPr>
          <p:cNvPr id="198" name="Text 196"/>
          <p:cNvSpPr txBox="1"/>
          <p:nvPr/>
        </p:nvSpPr>
        <p:spPr>
          <a:xfrm>
            <a:off x="8138160" y="5074920"/>
            <a:ext cx="3474720" cy="502920"/>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記号　</a:t>
            </a:r>
            <a:pPr indent="0" marL="0">
              <a:buNone/>
            </a:pPr>
            <a:r>
              <a:rPr lang="en-US" sz="900" dirty="0">
                <a:solidFill>
                  <a:srgbClr val="333F4E"/>
                </a:solidFill>
                <a:latin typeface="Yu Gothic" pitchFamily="34" charset="0"/>
                <a:ea typeface="Yu Gothic" pitchFamily="34" charset="-122"/>
                <a:cs typeface="Yu Gothic" pitchFamily="34" charset="-120"/>
              </a:rPr>
              <a:t>j：マスの番号（＝(a, e) の組）　J＝12×6＝72：マスの数　a：方位の番号　e：高度の番号</a:t>
            </a:r>
            <a:endParaRPr lang="en-US" sz="900" dirty="0"/>
          </a:p>
        </p:txBody>
      </p:sp>
      <p:sp>
        <p:nvSpPr>
          <p:cNvPr id="199" name="Text 197"/>
          <p:cNvSpPr txBox="1"/>
          <p:nvPr/>
        </p:nvSpPr>
        <p:spPr>
          <a:xfrm>
            <a:off x="8138160" y="5669280"/>
            <a:ext cx="3474720" cy="502920"/>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次：それぞれのマスがふさがれているかを、角度 h で決める（p.41）</a:t>
            </a:r>
            <a:endParaRPr lang="en-US" sz="9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遮蔽高度角 h：その方向で「どこまでの高さが建物に隠れるか」を角度で表す</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41 / 45</a:t>
            </a:r>
            <a:endParaRPr lang="en-US" sz="1100" dirty="0"/>
          </a:p>
        </p:txBody>
      </p:sp>
      <p:sp>
        <p:nvSpPr>
          <p:cNvPr id="9" name="Shape 7"/>
          <p:cNvSpPr/>
          <p:nvPr/>
        </p:nvSpPr>
        <p:spPr>
          <a:xfrm>
            <a:off x="457200" y="1060704"/>
            <a:ext cx="1955292" cy="329184"/>
          </a:xfrm>
          <a:prstGeom prst="homePlate">
            <a:avLst/>
          </a:prstGeom>
          <a:solidFill>
            <a:srgbClr val="CFE3E5"/>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① 考え方（立体）</a:t>
            </a:r>
            <a:endParaRPr lang="en-US" sz="900" dirty="0"/>
          </a:p>
        </p:txBody>
      </p:sp>
      <p:sp>
        <p:nvSpPr>
          <p:cNvPr id="11" name="Shape 9"/>
          <p:cNvSpPr/>
          <p:nvPr/>
        </p:nvSpPr>
        <p:spPr>
          <a:xfrm>
            <a:off x="2339340" y="1060704"/>
            <a:ext cx="1955292" cy="329184"/>
          </a:xfrm>
          <a:prstGeom prst="chevron">
            <a:avLst/>
          </a:prstGeom>
          <a:solidFill>
            <a:srgbClr val="CFE3E5"/>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② 空の地図の作り方</a:t>
            </a:r>
            <a:endParaRPr lang="en-US" sz="900" dirty="0"/>
          </a:p>
        </p:txBody>
      </p:sp>
      <p:sp>
        <p:nvSpPr>
          <p:cNvPr id="13" name="Shape 11"/>
          <p:cNvSpPr/>
          <p:nvPr/>
        </p:nvSpPr>
        <p:spPr>
          <a:xfrm>
            <a:off x="4221480" y="1060704"/>
            <a:ext cx="1955292" cy="329184"/>
          </a:xfrm>
          <a:prstGeom prst="chevron">
            <a:avLst/>
          </a:prstGeom>
          <a:solidFill>
            <a:srgbClr val="1F6F78"/>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③ 遮蔽高度角 h</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ふさがれた割合 O</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機械学習で予測</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比べ方と来週</a:t>
            </a:r>
            <a:endParaRPr lang="en-US" sz="900" dirty="0"/>
          </a:p>
        </p:txBody>
      </p:sp>
      <p:sp>
        <p:nvSpPr>
          <p:cNvPr id="21" name="Shape 19"/>
          <p:cNvSpPr/>
          <p:nvPr/>
        </p:nvSpPr>
        <p:spPr>
          <a:xfrm>
            <a:off x="457200" y="1508760"/>
            <a:ext cx="3794760" cy="3246120"/>
          </a:xfrm>
          <a:prstGeom prst="roundRect">
            <a:avLst>
              <a:gd name="adj" fmla="val 1690"/>
            </a:avLst>
          </a:prstGeom>
          <a:solidFill>
            <a:srgbClr val="F3F5F8"/>
          </a:solidFill>
          <a:ln/>
        </p:spPr>
      </p:sp>
      <p:sp>
        <p:nvSpPr>
          <p:cNvPr id="22" name="Text 20"/>
          <p:cNvSpPr txBox="1"/>
          <p:nvPr/>
        </p:nvSpPr>
        <p:spPr>
          <a:xfrm>
            <a:off x="594360" y="1563624"/>
            <a:ext cx="36576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① 横から見た図（方位 a＝6）</a:t>
            </a:r>
            <a:endParaRPr lang="en-US" sz="1100" dirty="0"/>
          </a:p>
        </p:txBody>
      </p:sp>
      <p:sp>
        <p:nvSpPr>
          <p:cNvPr id="23" name="Shape 21"/>
          <p:cNvSpPr/>
          <p:nvPr/>
        </p:nvSpPr>
        <p:spPr>
          <a:xfrm>
            <a:off x="640080" y="4206240"/>
            <a:ext cx="3474720" cy="91"/>
          </a:xfrm>
          <a:prstGeom prst="line">
            <a:avLst/>
          </a:prstGeom>
          <a:noFill/>
          <a:ln w="12700">
            <a:solidFill>
              <a:srgbClr val="6B7480"/>
            </a:solidFill>
            <a:prstDash val="solid"/>
          </a:ln>
        </p:spPr>
      </p:sp>
      <p:sp>
        <p:nvSpPr>
          <p:cNvPr id="24" name="Shape 22"/>
          <p:cNvSpPr/>
          <p:nvPr/>
        </p:nvSpPr>
        <p:spPr>
          <a:xfrm>
            <a:off x="3566160" y="1828800"/>
            <a:ext cx="274320" cy="2377440"/>
          </a:xfrm>
          <a:prstGeom prst="rect">
            <a:avLst/>
          </a:prstGeom>
          <a:solidFill>
            <a:srgbClr val="1B2A44"/>
          </a:solidFill>
          <a:ln/>
        </p:spPr>
      </p:sp>
      <p:sp>
        <p:nvSpPr>
          <p:cNvPr id="25" name="Shape 23"/>
          <p:cNvSpPr/>
          <p:nvPr/>
        </p:nvSpPr>
        <p:spPr>
          <a:xfrm>
            <a:off x="1178463" y="2542032"/>
            <a:ext cx="1188720" cy="1664208"/>
          </a:xfrm>
          <a:prstGeom prst="rect">
            <a:avLst/>
          </a:prstGeom>
          <a:solidFill>
            <a:srgbClr val="E8934D">
              <a:alpha val="80000"/>
            </a:srgbClr>
          </a:solidFill>
          <a:ln/>
        </p:spPr>
      </p:sp>
      <p:sp>
        <p:nvSpPr>
          <p:cNvPr id="26" name="Shape 24"/>
          <p:cNvSpPr/>
          <p:nvPr/>
        </p:nvSpPr>
        <p:spPr>
          <a:xfrm>
            <a:off x="2367183" y="2542032"/>
            <a:ext cx="1198977" cy="713232"/>
          </a:xfrm>
          <a:custGeom>
            <a:avLst/>
            <a:gdLst/>
            <a:ahLst/>
            <a:cxnLst/>
            <a:rect l="l" t="t" r="r" b="b"/>
            <a:pathLst>
              <a:path w="1198977" h="713232">
                <a:moveTo>
                  <a:pt x="1198977" y="713232"/>
                </a:moveTo>
                <a:lnTo>
                  <a:pt x="0" y="713232"/>
                </a:lnTo>
                <a:lnTo>
                  <a:pt x="0" y="0"/>
                </a:lnTo>
                <a:close/>
              </a:path>
            </a:pathLst>
          </a:custGeom>
          <a:solidFill>
            <a:srgbClr val="E8D26E">
              <a:alpha val="45000"/>
            </a:srgbClr>
          </a:solidFill>
          <a:ln w="15875">
            <a:solidFill>
              <a:srgbClr val="B04A3F"/>
            </a:solidFill>
            <a:prstDash val="solid"/>
          </a:ln>
        </p:spPr>
      </p:sp>
      <p:sp>
        <p:nvSpPr>
          <p:cNvPr id="27" name="Shape 25"/>
          <p:cNvSpPr/>
          <p:nvPr/>
        </p:nvSpPr>
        <p:spPr>
          <a:xfrm flipH="1" flipV="1">
            <a:off x="2367183" y="2542032"/>
            <a:ext cx="1198977" cy="713232"/>
          </a:xfrm>
          <a:prstGeom prst="line">
            <a:avLst/>
          </a:prstGeom>
          <a:noFill/>
          <a:ln w="25400">
            <a:solidFill>
              <a:srgbClr val="B04A3F"/>
            </a:solidFill>
            <a:prstDash val="solid"/>
          </a:ln>
        </p:spPr>
      </p:sp>
      <p:sp>
        <p:nvSpPr>
          <p:cNvPr id="28" name="Shape 26"/>
          <p:cNvSpPr/>
          <p:nvPr/>
        </p:nvSpPr>
        <p:spPr>
          <a:xfrm>
            <a:off x="3502152" y="3191256"/>
            <a:ext cx="128016" cy="128016"/>
          </a:xfrm>
          <a:prstGeom prst="ellipse">
            <a:avLst/>
          </a:prstGeom>
          <a:solidFill>
            <a:srgbClr val="E8D26E"/>
          </a:solidFill>
          <a:ln w="6350">
            <a:solidFill>
              <a:srgbClr val="FFFFFF"/>
            </a:solidFill>
            <a:prstDash val="solid"/>
          </a:ln>
        </p:spPr>
      </p:sp>
      <p:sp>
        <p:nvSpPr>
          <p:cNvPr id="29" name="Text 27"/>
          <p:cNvSpPr txBox="1"/>
          <p:nvPr/>
        </p:nvSpPr>
        <p:spPr>
          <a:xfrm>
            <a:off x="3584448" y="2980944"/>
            <a:ext cx="365760" cy="182880"/>
          </a:xfrm>
          <a:prstGeom prst="rect">
            <a:avLst/>
          </a:prstGeom>
          <a:noFill/>
          <a:ln/>
        </p:spPr>
        <p:txBody>
          <a:bodyPr wrap="square" lIns="508" tIns="508" rIns="508" bIns="508" rtlCol="0" anchor="t"/>
          <a:lstStyle/>
          <a:p>
            <a:pPr indent="0" marL="0">
              <a:buNone/>
            </a:pPr>
            <a:r>
              <a:rPr lang="en-US" sz="850" b="1" dirty="0">
                <a:solidFill>
                  <a:srgbClr val="FFFFFF"/>
                </a:solidFill>
                <a:latin typeface="Yu Gothic" pitchFamily="34" charset="0"/>
                <a:ea typeface="Yu Gothic" pitchFamily="34" charset="-122"/>
                <a:cs typeface="Yu Gothic" pitchFamily="34" charset="-120"/>
              </a:rPr>
              <a:t>点P</a:t>
            </a:r>
            <a:endParaRPr lang="en-US" sz="850" dirty="0"/>
          </a:p>
        </p:txBody>
      </p:sp>
      <p:sp>
        <p:nvSpPr>
          <p:cNvPr id="30" name="Text 28"/>
          <p:cNvSpPr txBox="1"/>
          <p:nvPr/>
        </p:nvSpPr>
        <p:spPr>
          <a:xfrm>
            <a:off x="2403759" y="2587752"/>
            <a:ext cx="914400" cy="201168"/>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A</a:t>
            </a:r>
            <a:pPr indent="0" marL="0">
              <a:buNone/>
            </a:pPr>
            <a:r>
              <a:rPr lang="en-US" sz="900" b="1" baseline="-40000" dirty="0">
                <a:solidFill>
                  <a:srgbClr val="1B2A44"/>
                </a:solidFill>
                <a:latin typeface="Yu Gothic" pitchFamily="34" charset="0"/>
                <a:ea typeface="Yu Gothic" pitchFamily="34" charset="-122"/>
                <a:cs typeface="Yu Gothic" pitchFamily="34" charset="-120"/>
              </a:rPr>
              <a:t>i</a:t>
            </a:r>
            <a:pPr indent="0" marL="0">
              <a:buNone/>
            </a:pPr>
            <a:r>
              <a:rPr lang="en-US" sz="900" b="1" dirty="0">
                <a:solidFill>
                  <a:srgbClr val="1B2A44"/>
                </a:solidFill>
                <a:latin typeface="Yu Gothic" pitchFamily="34" charset="0"/>
                <a:ea typeface="Yu Gothic" pitchFamily="34" charset="-122"/>
                <a:cs typeface="Yu Gothic" pitchFamily="34" charset="-120"/>
              </a:rPr>
              <a:t>−z＝15m</a:t>
            </a:r>
            <a:endParaRPr lang="en-US" sz="900" dirty="0"/>
          </a:p>
        </p:txBody>
      </p:sp>
      <p:sp>
        <p:nvSpPr>
          <p:cNvPr id="31" name="Text 29"/>
          <p:cNvSpPr txBox="1"/>
          <p:nvPr/>
        </p:nvSpPr>
        <p:spPr>
          <a:xfrm>
            <a:off x="1178463" y="2633472"/>
            <a:ext cx="1188720" cy="201168"/>
          </a:xfrm>
          <a:prstGeom prst="rect">
            <a:avLst/>
          </a:prstGeom>
          <a:noFill/>
          <a:ln/>
        </p:spPr>
        <p:txBody>
          <a:bodyPr wrap="square" lIns="508" tIns="508" rIns="508" bIns="508" rtlCol="0" anchor="t"/>
          <a:lstStyle/>
          <a:p>
            <a:pPr algn="ctr" indent="0" marL="0">
              <a:buNone/>
            </a:pPr>
            <a:r>
              <a:rPr lang="en-US" sz="900" b="1" dirty="0">
                <a:solidFill>
                  <a:srgbClr val="FFFFFF"/>
                </a:solidFill>
                <a:latin typeface="Yu Gothic" pitchFamily="34" charset="0"/>
                <a:ea typeface="Yu Gothic" pitchFamily="34" charset="-122"/>
                <a:cs typeface="Yu Gothic" pitchFamily="34" charset="-120"/>
              </a:rPr>
              <a:t>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i</a:t>
            </a:r>
            <a:pPr algn="ctr" indent="0" marL="0">
              <a:buNone/>
            </a:pPr>
            <a:r>
              <a:rPr lang="en-US" sz="900" b="1" dirty="0">
                <a:solidFill>
                  <a:srgbClr val="FFFFFF"/>
                </a:solidFill>
                <a:latin typeface="Yu Gothic" pitchFamily="34" charset="0"/>
                <a:ea typeface="Yu Gothic" pitchFamily="34" charset="-122"/>
                <a:cs typeface="Yu Gothic" pitchFamily="34" charset="-120"/>
              </a:rPr>
              <a:t>＝35m</a:t>
            </a:r>
            <a:endParaRPr lang="en-US" sz="900" dirty="0"/>
          </a:p>
        </p:txBody>
      </p:sp>
      <p:sp>
        <p:nvSpPr>
          <p:cNvPr id="32" name="Text 30"/>
          <p:cNvSpPr txBox="1"/>
          <p:nvPr/>
        </p:nvSpPr>
        <p:spPr>
          <a:xfrm>
            <a:off x="2367183" y="3273552"/>
            <a:ext cx="1198977" cy="219456"/>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d</a:t>
            </a:r>
            <a:pPr algn="ctr" indent="0" marL="0">
              <a:buNone/>
            </a:pPr>
            <a:r>
              <a:rPr lang="en-US" sz="950" b="1" baseline="-40000" dirty="0">
                <a:solidFill>
                  <a:srgbClr val="1B2A44"/>
                </a:solidFill>
                <a:latin typeface="Yu Gothic" pitchFamily="34" charset="0"/>
                <a:ea typeface="Yu Gothic" pitchFamily="34" charset="-122"/>
                <a:cs typeface="Yu Gothic" pitchFamily="34" charset="-120"/>
              </a:rPr>
              <a:t>i,a</a:t>
            </a:r>
            <a:pPr algn="ctr" indent="0" marL="0">
              <a:buNone/>
            </a:pPr>
            <a:r>
              <a:rPr lang="en-US" sz="950" b="1" dirty="0">
                <a:solidFill>
                  <a:srgbClr val="1B2A44"/>
                </a:solidFill>
                <a:latin typeface="Yu Gothic" pitchFamily="34" charset="0"/>
                <a:ea typeface="Yu Gothic" pitchFamily="34" charset="-122"/>
                <a:cs typeface="Yu Gothic" pitchFamily="34" charset="-120"/>
              </a:rPr>
              <a:t> ＝ 25.2m</a:t>
            </a:r>
            <a:endParaRPr lang="en-US" sz="950" dirty="0"/>
          </a:p>
        </p:txBody>
      </p:sp>
      <p:sp>
        <p:nvSpPr>
          <p:cNvPr id="33" name="Text 31"/>
          <p:cNvSpPr txBox="1"/>
          <p:nvPr/>
        </p:nvSpPr>
        <p:spPr>
          <a:xfrm>
            <a:off x="3108960" y="3026664"/>
            <a:ext cx="228600" cy="219456"/>
          </a:xfrm>
          <a:prstGeom prst="rect">
            <a:avLst/>
          </a:prstGeom>
          <a:noFill/>
          <a:ln/>
        </p:spPr>
        <p:txBody>
          <a:bodyPr wrap="square" lIns="0" tIns="0" rIns="0" bIns="0" rtlCol="0" anchor="t"/>
          <a:lstStyle/>
          <a:p>
            <a:pPr indent="0" marL="0">
              <a:buNone/>
            </a:pPr>
            <a:r>
              <a:rPr lang="en-US" sz="1200" b="1" dirty="0">
                <a:solidFill>
                  <a:srgbClr val="B04A3F"/>
                </a:solidFill>
                <a:latin typeface="Yu Gothic" pitchFamily="34" charset="0"/>
                <a:ea typeface="Yu Gothic" pitchFamily="34" charset="-122"/>
                <a:cs typeface="Yu Gothic" pitchFamily="34" charset="-120"/>
              </a:rPr>
              <a:t>h</a:t>
            </a:r>
            <a:endParaRPr lang="en-US" sz="1200" dirty="0"/>
          </a:p>
        </p:txBody>
      </p:sp>
      <p:sp>
        <p:nvSpPr>
          <p:cNvPr id="34" name="Text 32"/>
          <p:cNvSpPr txBox="1"/>
          <p:nvPr/>
        </p:nvSpPr>
        <p:spPr>
          <a:xfrm>
            <a:off x="1178463" y="3931920"/>
            <a:ext cx="1188720" cy="201168"/>
          </a:xfrm>
          <a:prstGeom prst="rect">
            <a:avLst/>
          </a:prstGeom>
          <a:noFill/>
          <a:ln/>
        </p:spPr>
        <p:txBody>
          <a:bodyPr wrap="square" lIns="508" tIns="508" rIns="508" bIns="508" rtlCol="0" anchor="t"/>
          <a:lstStyle/>
          <a:p>
            <a:pPr algn="ctr" indent="0" marL="0">
              <a:buNone/>
            </a:pPr>
            <a:r>
              <a:rPr lang="en-US" sz="850" b="1" dirty="0">
                <a:solidFill>
                  <a:srgbClr val="FFFFFF"/>
                </a:solidFill>
                <a:latin typeface="Yu Gothic" pitchFamily="34" charset="0"/>
                <a:ea typeface="Yu Gothic" pitchFamily="34" charset="-122"/>
                <a:cs typeface="Yu Gothic" pitchFamily="34" charset="-120"/>
              </a:rPr>
              <a:t>南の建物</a:t>
            </a:r>
            <a:endParaRPr lang="en-US" sz="850" dirty="0"/>
          </a:p>
        </p:txBody>
      </p:sp>
      <p:sp>
        <p:nvSpPr>
          <p:cNvPr id="35" name="Text 33"/>
          <p:cNvSpPr txBox="1"/>
          <p:nvPr/>
        </p:nvSpPr>
        <p:spPr>
          <a:xfrm>
            <a:off x="3520440" y="3950208"/>
            <a:ext cx="411480" cy="201168"/>
          </a:xfrm>
          <a:prstGeom prst="rect">
            <a:avLst/>
          </a:prstGeom>
          <a:noFill/>
          <a:ln/>
        </p:spPr>
        <p:txBody>
          <a:bodyPr wrap="square" lIns="0" tIns="0" rIns="0" bIns="0" rtlCol="0" anchor="t"/>
          <a:lstStyle/>
          <a:p>
            <a:pPr algn="ctr" indent="0" marL="0">
              <a:buNone/>
            </a:pPr>
            <a:r>
              <a:rPr lang="en-US" sz="800" b="1" dirty="0">
                <a:solidFill>
                  <a:srgbClr val="FFFFFF"/>
                </a:solidFill>
                <a:latin typeface="Yu Gothic" pitchFamily="34" charset="0"/>
                <a:ea typeface="Yu Gothic" pitchFamily="34" charset="-122"/>
                <a:cs typeface="Yu Gothic" pitchFamily="34" charset="-120"/>
              </a:rPr>
              <a:t>z＝20m</a:t>
            </a:r>
            <a:endParaRPr lang="en-US" sz="800" dirty="0"/>
          </a:p>
        </p:txBody>
      </p:sp>
      <p:sp>
        <p:nvSpPr>
          <p:cNvPr id="36" name="Text 34"/>
          <p:cNvSpPr txBox="1"/>
          <p:nvPr/>
        </p:nvSpPr>
        <p:spPr>
          <a:xfrm>
            <a:off x="594360" y="4315968"/>
            <a:ext cx="3657600" cy="274320"/>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h ＝ arctan(15 ÷ 25.2) ＝ 30.7°</a:t>
            </a:r>
            <a:endParaRPr lang="en-US" sz="1100" dirty="0"/>
          </a:p>
        </p:txBody>
      </p:sp>
      <p:sp>
        <p:nvSpPr>
          <p:cNvPr id="37" name="Shape 35"/>
          <p:cNvSpPr/>
          <p:nvPr/>
        </p:nvSpPr>
        <p:spPr>
          <a:xfrm>
            <a:off x="4389120" y="1508760"/>
            <a:ext cx="3657600" cy="3246120"/>
          </a:xfrm>
          <a:prstGeom prst="roundRect">
            <a:avLst>
              <a:gd name="adj" fmla="val 1690"/>
            </a:avLst>
          </a:prstGeom>
          <a:solidFill>
            <a:srgbClr val="1B2A44"/>
          </a:solidFill>
          <a:ln/>
        </p:spPr>
      </p:sp>
      <p:sp>
        <p:nvSpPr>
          <p:cNvPr id="38" name="Text 36"/>
          <p:cNvSpPr txBox="1"/>
          <p:nvPr/>
        </p:nvSpPr>
        <p:spPr>
          <a:xfrm>
            <a:off x="4526280" y="1563624"/>
            <a:ext cx="347472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式（建物 i・方位 a ごと → 一番高いもの）</a:t>
            </a:r>
            <a:endParaRPr lang="en-US" sz="1100" dirty="0"/>
          </a:p>
        </p:txBody>
      </p:sp>
      <p:sp>
        <p:nvSpPr>
          <p:cNvPr id="39" name="Text 37"/>
          <p:cNvSpPr txBox="1"/>
          <p:nvPr/>
        </p:nvSpPr>
        <p:spPr>
          <a:xfrm>
            <a:off x="4526280" y="1874520"/>
            <a:ext cx="3474720" cy="310896"/>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h</a:t>
            </a:r>
            <a:pPr indent="0" marL="0">
              <a:buNone/>
            </a:pPr>
            <a:r>
              <a:rPr lang="en-US" sz="1250" b="1" baseline="-40000" dirty="0">
                <a:solidFill>
                  <a:srgbClr val="FFFFFF"/>
                </a:solidFill>
                <a:latin typeface="Yu Gothic" pitchFamily="34" charset="0"/>
                <a:ea typeface="Yu Gothic" pitchFamily="34" charset="-122"/>
                <a:cs typeface="Yu Gothic" pitchFamily="34" charset="-120"/>
              </a:rPr>
              <a:t>i,a</a:t>
            </a:r>
            <a:pPr indent="0" marL="0">
              <a:buNone/>
            </a:pPr>
            <a:r>
              <a:rPr lang="en-US" sz="1250" b="1" dirty="0">
                <a:solidFill>
                  <a:srgbClr val="FFFFFF"/>
                </a:solidFill>
                <a:latin typeface="Yu Gothic" pitchFamily="34" charset="0"/>
                <a:ea typeface="Yu Gothic" pitchFamily="34" charset="-122"/>
                <a:cs typeface="Yu Gothic" pitchFamily="34" charset="-120"/>
              </a:rPr>
              <a:t> ＝ arctan( (A</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 z) / d</a:t>
            </a:r>
            <a:pPr indent="0" marL="0">
              <a:buNone/>
            </a:pPr>
            <a:r>
              <a:rPr lang="en-US" sz="1250" b="1" baseline="-40000" dirty="0">
                <a:solidFill>
                  <a:srgbClr val="FFFFFF"/>
                </a:solidFill>
                <a:latin typeface="Yu Gothic" pitchFamily="34" charset="0"/>
                <a:ea typeface="Yu Gothic" pitchFamily="34" charset="-122"/>
                <a:cs typeface="Yu Gothic" pitchFamily="34" charset="-120"/>
              </a:rPr>
              <a:t>i,a</a:t>
            </a:r>
            <a:pPr indent="0" marL="0">
              <a:buNone/>
            </a:pPr>
            <a:r>
              <a:rPr lang="en-US" sz="1250" b="1" dirty="0">
                <a:solidFill>
                  <a:srgbClr val="FFFFFF"/>
                </a:solidFill>
                <a:latin typeface="Yu Gothic" pitchFamily="34" charset="0"/>
                <a:ea typeface="Yu Gothic" pitchFamily="34" charset="-122"/>
                <a:cs typeface="Yu Gothic" pitchFamily="34" charset="-120"/>
              </a:rPr>
              <a:t> )</a:t>
            </a:r>
            <a:endParaRPr lang="en-US" sz="1250" dirty="0"/>
          </a:p>
        </p:txBody>
      </p:sp>
      <p:sp>
        <p:nvSpPr>
          <p:cNvPr id="40" name="Text 38"/>
          <p:cNvSpPr txBox="1"/>
          <p:nvPr/>
        </p:nvSpPr>
        <p:spPr>
          <a:xfrm>
            <a:off x="4526280" y="2194560"/>
            <a:ext cx="3429000" cy="411480"/>
          </a:xfrm>
          <a:prstGeom prst="rect">
            <a:avLst/>
          </a:prstGeom>
          <a:noFill/>
          <a:ln/>
        </p:spPr>
        <p:txBody>
          <a:bodyPr wrap="square" lIns="508" tIns="508" rIns="508" bIns="508" rtlCol="0" anchor="t"/>
          <a:lstStyle/>
          <a:p>
            <a:pPr indent="0" marL="0">
              <a:buNone/>
            </a:pPr>
            <a:r>
              <a:rPr lang="en-US" sz="900" dirty="0">
                <a:solidFill>
                  <a:srgbClr val="CADCFC"/>
                </a:solidFill>
                <a:latin typeface="Yu Gothic" pitchFamily="34" charset="0"/>
                <a:ea typeface="Yu Gothic" pitchFamily="34" charset="-122"/>
                <a:cs typeface="Yu Gothic" pitchFamily="34" charset="-120"/>
              </a:rPr>
              <a:t>tan（角度）＝ 高さの差 ÷ 水平の距離。arctan はその逆で、比から角度を出す</a:t>
            </a:r>
            <a:endParaRPr lang="en-US" sz="900" dirty="0"/>
          </a:p>
        </p:txBody>
      </p:sp>
      <p:sp>
        <p:nvSpPr>
          <p:cNvPr id="41" name="Text 39"/>
          <p:cNvSpPr txBox="1"/>
          <p:nvPr/>
        </p:nvSpPr>
        <p:spPr>
          <a:xfrm>
            <a:off x="4526280" y="2697480"/>
            <a:ext cx="3474720" cy="310896"/>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h</a:t>
            </a:r>
            <a:pPr indent="0" marL="0">
              <a:buNone/>
            </a:pPr>
            <a:r>
              <a:rPr lang="en-US" sz="1250" b="1" baseline="-40000" dirty="0">
                <a:solidFill>
                  <a:srgbClr val="FFFFFF"/>
                </a:solidFill>
                <a:latin typeface="Yu Gothic" pitchFamily="34" charset="0"/>
                <a:ea typeface="Yu Gothic" pitchFamily="34" charset="-122"/>
                <a:cs typeface="Yu Gothic" pitchFamily="34" charset="-120"/>
              </a:rPr>
              <a:t>a</a:t>
            </a:r>
            <a:pPr indent="0" marL="0">
              <a:buNone/>
            </a:pPr>
            <a:r>
              <a:rPr lang="en-US" sz="1250" b="1" dirty="0">
                <a:solidFill>
                  <a:srgbClr val="FFFFFF"/>
                </a:solidFill>
                <a:latin typeface="Yu Gothic" pitchFamily="34" charset="0"/>
                <a:ea typeface="Yu Gothic" pitchFamily="34" charset="-122"/>
                <a:cs typeface="Yu Gothic" pitchFamily="34" charset="-120"/>
              </a:rPr>
              <a:t> ＝ max</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h</a:t>
            </a:r>
            <a:pPr indent="0" marL="0">
              <a:buNone/>
            </a:pPr>
            <a:r>
              <a:rPr lang="en-US" sz="1250" b="1" baseline="-40000" dirty="0">
                <a:solidFill>
                  <a:srgbClr val="FFFFFF"/>
                </a:solidFill>
                <a:latin typeface="Yu Gothic" pitchFamily="34" charset="0"/>
                <a:ea typeface="Yu Gothic" pitchFamily="34" charset="-122"/>
                <a:cs typeface="Yu Gothic" pitchFamily="34" charset="-120"/>
              </a:rPr>
              <a:t>i,a</a:t>
            </a:r>
            <a:endParaRPr lang="en-US" sz="1250" dirty="0"/>
          </a:p>
        </p:txBody>
      </p:sp>
      <p:sp>
        <p:nvSpPr>
          <p:cNvPr id="42" name="Text 40"/>
          <p:cNvSpPr txBox="1"/>
          <p:nvPr/>
        </p:nvSpPr>
        <p:spPr>
          <a:xfrm>
            <a:off x="4526280" y="3017520"/>
            <a:ext cx="3429000" cy="411480"/>
          </a:xfrm>
          <a:prstGeom prst="rect">
            <a:avLst/>
          </a:prstGeom>
          <a:noFill/>
          <a:ln/>
        </p:spPr>
        <p:txBody>
          <a:bodyPr wrap="square" lIns="508" tIns="508" rIns="508" bIns="508" rtlCol="0" anchor="t"/>
          <a:lstStyle/>
          <a:p>
            <a:pPr indent="0" marL="0">
              <a:buNone/>
            </a:pPr>
            <a:r>
              <a:rPr lang="en-US" sz="900" dirty="0">
                <a:solidFill>
                  <a:srgbClr val="CADCFC"/>
                </a:solidFill>
                <a:latin typeface="Yu Gothic" pitchFamily="34" charset="0"/>
                <a:ea typeface="Yu Gothic" pitchFamily="34" charset="-122"/>
                <a:cs typeface="Yu Gothic" pitchFamily="34" charset="-120"/>
              </a:rPr>
              <a:t>同じ方位に建物が2つ以上あれば、一番高く見える角度だけを使う（③）</a:t>
            </a:r>
            <a:endParaRPr lang="en-US" sz="900" dirty="0"/>
          </a:p>
        </p:txBody>
      </p:sp>
      <p:sp>
        <p:nvSpPr>
          <p:cNvPr id="43" name="Text 41"/>
          <p:cNvSpPr txBox="1"/>
          <p:nvPr/>
        </p:nvSpPr>
        <p:spPr>
          <a:xfrm>
            <a:off x="4526280" y="3520440"/>
            <a:ext cx="3429000" cy="1143000"/>
          </a:xfrm>
          <a:prstGeom prst="rect">
            <a:avLst/>
          </a:prstGeom>
          <a:noFill/>
          <a:ln/>
        </p:spPr>
        <p:txBody>
          <a:bodyPr wrap="square" lIns="508" tIns="508" rIns="508" bIns="508" rtlCol="0" anchor="t"/>
          <a:lstStyle/>
          <a:p>
            <a:pPr indent="0" marL="0">
              <a:buNone/>
            </a:pPr>
            <a:r>
              <a:rPr lang="en-US" sz="900" dirty="0">
                <a:solidFill>
                  <a:srgbClr val="FFFFFF"/>
                </a:solidFill>
                <a:latin typeface="Yu Gothic" pitchFamily="34" charset="0"/>
                <a:ea typeface="Yu Gothic" pitchFamily="34" charset="-122"/>
                <a:cs typeface="Yu Gothic" pitchFamily="34" charset="-120"/>
              </a:rPr>
              <a:t>記号　i：建物の番号　A</a:t>
            </a:r>
            <a:pPr indent="0" marL="0">
              <a:buNone/>
            </a:pPr>
            <a:r>
              <a:rPr lang="en-US" sz="900" baseline="-40000" dirty="0">
                <a:solidFill>
                  <a:srgbClr val="FFFFFF"/>
                </a:solidFill>
                <a:latin typeface="Yu Gothic" pitchFamily="34" charset="0"/>
                <a:ea typeface="Yu Gothic" pitchFamily="34" charset="-122"/>
                <a:cs typeface="Yu Gothic" pitchFamily="34" charset="-120"/>
              </a:rPr>
              <a:t>i</a:t>
            </a:r>
            <a:pPr indent="0" marL="0">
              <a:buNone/>
            </a:pPr>
            <a:r>
              <a:rPr lang="en-US" sz="900" dirty="0">
                <a:solidFill>
                  <a:srgbClr val="FFFFFF"/>
                </a:solidFill>
                <a:latin typeface="Yu Gothic" pitchFamily="34" charset="0"/>
                <a:ea typeface="Yu Gothic" pitchFamily="34" charset="-122"/>
                <a:cs typeface="Yu Gothic" pitchFamily="34" charset="-120"/>
              </a:rPr>
              <a:t>：建物iの高さ　z：点Pの高さ　a：方位の番号（1〜12）　d</a:t>
            </a:r>
            <a:pPr indent="0" marL="0">
              <a:buNone/>
            </a:pPr>
            <a:r>
              <a:rPr lang="en-US" sz="900" baseline="-40000" dirty="0">
                <a:solidFill>
                  <a:srgbClr val="FFFFFF"/>
                </a:solidFill>
                <a:latin typeface="Yu Gothic" pitchFamily="34" charset="0"/>
                <a:ea typeface="Yu Gothic" pitchFamily="34" charset="-122"/>
                <a:cs typeface="Yu Gothic" pitchFamily="34" charset="-120"/>
              </a:rPr>
              <a:t>i,a</a:t>
            </a:r>
            <a:pPr indent="0" marL="0">
              <a:buNone/>
            </a:pPr>
            <a:r>
              <a:rPr lang="en-US" sz="900" dirty="0">
                <a:solidFill>
                  <a:srgbClr val="FFFFFF"/>
                </a:solidFill>
                <a:latin typeface="Yu Gothic" pitchFamily="34" charset="0"/>
                <a:ea typeface="Yu Gothic" pitchFamily="34" charset="-122"/>
                <a:cs typeface="Yu Gothic" pitchFamily="34" charset="-120"/>
              </a:rPr>
              <a:t>：方位aに進んで建物iに当たるまでの水平距離　h：遮蔽高度角　max</a:t>
            </a:r>
            <a:pPr indent="0" marL="0">
              <a:buNone/>
            </a:pPr>
            <a:r>
              <a:rPr lang="en-US" sz="900" baseline="-40000" dirty="0">
                <a:solidFill>
                  <a:srgbClr val="FFFFFF"/>
                </a:solidFill>
                <a:latin typeface="Yu Gothic" pitchFamily="34" charset="0"/>
                <a:ea typeface="Yu Gothic" pitchFamily="34" charset="-122"/>
                <a:cs typeface="Yu Gothic" pitchFamily="34" charset="-120"/>
              </a:rPr>
              <a:t>i</a:t>
            </a:r>
            <a:pPr indent="0" marL="0">
              <a:buNone/>
            </a:pPr>
            <a:r>
              <a:rPr lang="en-US" sz="900" dirty="0">
                <a:solidFill>
                  <a:srgbClr val="FFFFFF"/>
                </a:solidFill>
                <a:latin typeface="Yu Gothic" pitchFamily="34" charset="0"/>
                <a:ea typeface="Yu Gothic" pitchFamily="34" charset="-122"/>
                <a:cs typeface="Yu Gothic" pitchFamily="34" charset="-120"/>
              </a:rPr>
              <a:t>：建物の中で最大</a:t>
            </a:r>
            <a:endParaRPr lang="en-US" sz="900" dirty="0"/>
          </a:p>
        </p:txBody>
      </p:sp>
      <p:sp>
        <p:nvSpPr>
          <p:cNvPr id="44" name="Shape 42"/>
          <p:cNvSpPr/>
          <p:nvPr/>
        </p:nvSpPr>
        <p:spPr>
          <a:xfrm>
            <a:off x="8183880" y="1508760"/>
            <a:ext cx="3566160" cy="3246120"/>
          </a:xfrm>
          <a:prstGeom prst="roundRect">
            <a:avLst>
              <a:gd name="adj" fmla="val 1690"/>
            </a:avLst>
          </a:prstGeom>
          <a:solidFill>
            <a:srgbClr val="F3F5F8"/>
          </a:solidFill>
          <a:ln/>
        </p:spPr>
      </p:sp>
      <p:sp>
        <p:nvSpPr>
          <p:cNvPr id="45" name="Text 43"/>
          <p:cNvSpPr txBox="1"/>
          <p:nvPr/>
        </p:nvSpPr>
        <p:spPr>
          <a:xfrm>
            <a:off x="8321040" y="1563624"/>
            <a:ext cx="33832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③ 方位 a＝4：建物が2つ並ぶとき</a:t>
            </a:r>
            <a:endParaRPr lang="en-US" sz="1100" dirty="0"/>
          </a:p>
        </p:txBody>
      </p:sp>
      <p:sp>
        <p:nvSpPr>
          <p:cNvPr id="46" name="Shape 44"/>
          <p:cNvSpPr/>
          <p:nvPr/>
        </p:nvSpPr>
        <p:spPr>
          <a:xfrm>
            <a:off x="8275320" y="3840480"/>
            <a:ext cx="3383280" cy="91"/>
          </a:xfrm>
          <a:prstGeom prst="line">
            <a:avLst/>
          </a:prstGeom>
          <a:noFill/>
          <a:ln w="12700">
            <a:solidFill>
              <a:srgbClr val="6B7480"/>
            </a:solidFill>
            <a:prstDash val="solid"/>
          </a:ln>
        </p:spPr>
      </p:sp>
      <p:sp>
        <p:nvSpPr>
          <p:cNvPr id="47" name="Shape 45"/>
          <p:cNvSpPr/>
          <p:nvPr/>
        </p:nvSpPr>
        <p:spPr>
          <a:xfrm>
            <a:off x="11475720" y="2103120"/>
            <a:ext cx="182880" cy="1737360"/>
          </a:xfrm>
          <a:prstGeom prst="rect">
            <a:avLst/>
          </a:prstGeom>
          <a:solidFill>
            <a:srgbClr val="1B2A44"/>
          </a:solidFill>
          <a:ln/>
        </p:spPr>
      </p:sp>
      <p:sp>
        <p:nvSpPr>
          <p:cNvPr id="48" name="Shape 46"/>
          <p:cNvSpPr/>
          <p:nvPr/>
        </p:nvSpPr>
        <p:spPr>
          <a:xfrm>
            <a:off x="9935482" y="2688336"/>
            <a:ext cx="502920" cy="1152144"/>
          </a:xfrm>
          <a:prstGeom prst="rect">
            <a:avLst/>
          </a:prstGeom>
          <a:solidFill>
            <a:srgbClr val="E8934D">
              <a:alpha val="85000"/>
            </a:srgbClr>
          </a:solidFill>
          <a:ln/>
        </p:spPr>
      </p:sp>
      <p:sp>
        <p:nvSpPr>
          <p:cNvPr id="49" name="Shape 47"/>
          <p:cNvSpPr/>
          <p:nvPr/>
        </p:nvSpPr>
        <p:spPr>
          <a:xfrm>
            <a:off x="8402293" y="2688336"/>
            <a:ext cx="640080" cy="1152144"/>
          </a:xfrm>
          <a:prstGeom prst="rect">
            <a:avLst/>
          </a:prstGeom>
          <a:solidFill>
            <a:srgbClr val="1F6F78">
              <a:alpha val="85000"/>
            </a:srgbClr>
          </a:solidFill>
          <a:ln/>
        </p:spPr>
      </p:sp>
      <p:sp>
        <p:nvSpPr>
          <p:cNvPr id="50" name="Shape 48"/>
          <p:cNvSpPr/>
          <p:nvPr/>
        </p:nvSpPr>
        <p:spPr>
          <a:xfrm flipH="1" flipV="1">
            <a:off x="10438402" y="2688336"/>
            <a:ext cx="1037318" cy="493776"/>
          </a:xfrm>
          <a:prstGeom prst="line">
            <a:avLst/>
          </a:prstGeom>
          <a:noFill/>
          <a:ln w="22225">
            <a:solidFill>
              <a:srgbClr val="C56A2C"/>
            </a:solidFill>
            <a:prstDash val="solid"/>
          </a:ln>
        </p:spPr>
      </p:sp>
      <p:sp>
        <p:nvSpPr>
          <p:cNvPr id="51" name="Shape 49"/>
          <p:cNvSpPr/>
          <p:nvPr/>
        </p:nvSpPr>
        <p:spPr>
          <a:xfrm flipH="1" flipV="1">
            <a:off x="9042373" y="2688336"/>
            <a:ext cx="2433347" cy="493776"/>
          </a:xfrm>
          <a:prstGeom prst="line">
            <a:avLst/>
          </a:prstGeom>
          <a:noFill/>
          <a:ln w="15875">
            <a:solidFill>
              <a:srgbClr val="1F6F78"/>
            </a:solidFill>
            <a:prstDash val="dash"/>
          </a:ln>
        </p:spPr>
      </p:sp>
      <p:sp>
        <p:nvSpPr>
          <p:cNvPr id="52" name="Shape 50"/>
          <p:cNvSpPr/>
          <p:nvPr/>
        </p:nvSpPr>
        <p:spPr>
          <a:xfrm>
            <a:off x="11416284" y="3122676"/>
            <a:ext cx="118872" cy="118872"/>
          </a:xfrm>
          <a:prstGeom prst="ellipse">
            <a:avLst/>
          </a:prstGeom>
          <a:solidFill>
            <a:srgbClr val="E8D26E"/>
          </a:solidFill>
          <a:ln w="6350">
            <a:solidFill>
              <a:srgbClr val="FFFFFF"/>
            </a:solidFill>
            <a:prstDash val="solid"/>
          </a:ln>
        </p:spPr>
      </p:sp>
      <p:sp>
        <p:nvSpPr>
          <p:cNvPr id="53" name="Text 51"/>
          <p:cNvSpPr txBox="1"/>
          <p:nvPr/>
        </p:nvSpPr>
        <p:spPr>
          <a:xfrm>
            <a:off x="9935482" y="3566160"/>
            <a:ext cx="502920" cy="201168"/>
          </a:xfrm>
          <a:prstGeom prst="rect">
            <a:avLst/>
          </a:prstGeom>
          <a:noFill/>
          <a:ln/>
        </p:spPr>
        <p:txBody>
          <a:bodyPr wrap="square" lIns="508" tIns="508" rIns="508" bIns="508" rtlCol="0" anchor="t"/>
          <a:lstStyle/>
          <a:p>
            <a:pPr algn="ctr" indent="0" marL="0">
              <a:buNone/>
            </a:pPr>
            <a:r>
              <a:rPr lang="en-US" sz="850" b="1" dirty="0">
                <a:solidFill>
                  <a:srgbClr val="FFFFFF"/>
                </a:solidFill>
                <a:latin typeface="Yu Gothic" pitchFamily="34" charset="0"/>
                <a:ea typeface="Yu Gothic" pitchFamily="34" charset="-122"/>
                <a:cs typeface="Yu Gothic" pitchFamily="34" charset="-120"/>
              </a:rPr>
              <a:t>南</a:t>
            </a:r>
            <a:endParaRPr lang="en-US" sz="850" dirty="0"/>
          </a:p>
        </p:txBody>
      </p:sp>
      <p:sp>
        <p:nvSpPr>
          <p:cNvPr id="54" name="Text 52"/>
          <p:cNvSpPr txBox="1"/>
          <p:nvPr/>
        </p:nvSpPr>
        <p:spPr>
          <a:xfrm>
            <a:off x="8402293" y="3566160"/>
            <a:ext cx="640080" cy="201168"/>
          </a:xfrm>
          <a:prstGeom prst="rect">
            <a:avLst/>
          </a:prstGeom>
          <a:noFill/>
          <a:ln/>
        </p:spPr>
        <p:txBody>
          <a:bodyPr wrap="square" lIns="508" tIns="508" rIns="508" bIns="508" rtlCol="0" anchor="t"/>
          <a:lstStyle/>
          <a:p>
            <a:pPr algn="ctr" indent="0" marL="0">
              <a:buNone/>
            </a:pPr>
            <a:r>
              <a:rPr lang="en-US" sz="850" b="1" dirty="0">
                <a:solidFill>
                  <a:srgbClr val="FFFFFF"/>
                </a:solidFill>
                <a:latin typeface="Yu Gothic" pitchFamily="34" charset="0"/>
                <a:ea typeface="Yu Gothic" pitchFamily="34" charset="-122"/>
                <a:cs typeface="Yu Gothic" pitchFamily="34" charset="-120"/>
              </a:rPr>
              <a:t>南東</a:t>
            </a:r>
            <a:endParaRPr lang="en-US" sz="850" dirty="0"/>
          </a:p>
        </p:txBody>
      </p:sp>
      <p:sp>
        <p:nvSpPr>
          <p:cNvPr id="55" name="Text 53"/>
          <p:cNvSpPr txBox="1"/>
          <p:nvPr/>
        </p:nvSpPr>
        <p:spPr>
          <a:xfrm>
            <a:off x="8321040" y="3931920"/>
            <a:ext cx="3383280" cy="219456"/>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南：d＝31.5m → 25.5°</a:t>
            </a:r>
            <a:endParaRPr lang="en-US" sz="950" dirty="0"/>
          </a:p>
        </p:txBody>
      </p:sp>
      <p:sp>
        <p:nvSpPr>
          <p:cNvPr id="56" name="Text 54"/>
          <p:cNvSpPr txBox="1"/>
          <p:nvPr/>
        </p:nvSpPr>
        <p:spPr>
          <a:xfrm>
            <a:off x="8321040" y="4151376"/>
            <a:ext cx="338328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南東：d＝73.9m → 11.5°（南に隠れている）</a:t>
            </a:r>
            <a:endParaRPr lang="en-US" sz="950" dirty="0"/>
          </a:p>
        </p:txBody>
      </p:sp>
      <p:sp>
        <p:nvSpPr>
          <p:cNvPr id="57" name="Text 55"/>
          <p:cNvSpPr txBox="1"/>
          <p:nvPr/>
        </p:nvSpPr>
        <p:spPr>
          <a:xfrm>
            <a:off x="8321040" y="4389120"/>
            <a:ext cx="338328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h</a:t>
            </a:r>
            <a:pPr indent="0" marL="0">
              <a:buNone/>
            </a:pPr>
            <a:r>
              <a:rPr lang="en-US" sz="1100" b="1" baseline="-40000" dirty="0">
                <a:solidFill>
                  <a:srgbClr val="1B2A44"/>
                </a:solidFill>
                <a:latin typeface="Yu Gothic" pitchFamily="34" charset="0"/>
                <a:ea typeface="Yu Gothic" pitchFamily="34" charset="-122"/>
                <a:cs typeface="Yu Gothic" pitchFamily="34" charset="-120"/>
              </a:rPr>
              <a:t>4</a:t>
            </a:r>
            <a:pPr indent="0" marL="0">
              <a:buNone/>
            </a:pPr>
            <a:r>
              <a:rPr lang="en-US" sz="1100" b="1" dirty="0">
                <a:solidFill>
                  <a:srgbClr val="1B2A44"/>
                </a:solidFill>
                <a:latin typeface="Yu Gothic" pitchFamily="34" charset="0"/>
                <a:ea typeface="Yu Gothic" pitchFamily="34" charset="-122"/>
                <a:cs typeface="Yu Gothic" pitchFamily="34" charset="-120"/>
              </a:rPr>
              <a:t> ＝ max(25.5, 11.5) ＝ 25.5°</a:t>
            </a:r>
            <a:endParaRPr lang="en-US" sz="1100" dirty="0"/>
          </a:p>
        </p:txBody>
      </p:sp>
      <p:sp>
        <p:nvSpPr>
          <p:cNvPr id="58" name="Text 56"/>
          <p:cNvSpPr txBox="1"/>
          <p:nvPr/>
        </p:nvSpPr>
        <p:spPr>
          <a:xfrm>
            <a:off x="457200" y="4846320"/>
            <a:ext cx="73152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12方位すべての h（例の配置・点P：南面 高さ20m）</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120640"/>
          <a:ext cx="11292840" cy="914400"/>
        </p:xfrm>
        <a:graphic>
          <a:graphicData uri="http://schemas.openxmlformats.org/drawingml/2006/table">
            <a:tbl>
              <a:tblPr/>
              <a:tblGrid>
                <a:gridCol w="1417320"/>
                <a:gridCol w="822960"/>
                <a:gridCol w="822960"/>
                <a:gridCol w="822960"/>
                <a:gridCol w="822960"/>
                <a:gridCol w="822960"/>
                <a:gridCol w="822960"/>
                <a:gridCol w="822960"/>
                <a:gridCol w="822960"/>
                <a:gridCol w="822960"/>
                <a:gridCol w="822960"/>
                <a:gridCol w="822960"/>
                <a:gridCol w="822960"/>
              </a:tblGrid>
              <a:tr h="228600">
                <a:tc>
                  <a:txBody>
                    <a:bodyPr/>
                    <a:lstStyle/>
                    <a:p>
                      <a:pPr algn="l" indent="0" marL="0">
                        <a:buNone/>
                      </a:pPr>
                      <a:r>
                        <a:rPr lang="en-US" sz="850" b="1" dirty="0">
                          <a:solidFill>
                            <a:srgbClr val="FFFFFF"/>
                          </a:solidFill>
                          <a:latin typeface="Yu Gothic" pitchFamily="34" charset="0"/>
                          <a:ea typeface="Yu Gothic" pitchFamily="34" charset="-122"/>
                          <a:cs typeface="Yu Gothic" pitchFamily="34" charset="-120"/>
                        </a:rPr>
                        <a:t>方位 a</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1</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2</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3</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4</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5</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6</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7</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8</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9</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10</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11</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12</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28600">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向き ψ（＋は東）</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82.5°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67.5°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52.5°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37.5°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22.5°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7.5°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-7.5°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-22.5°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-37.5°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-52.5°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-67.5°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-82.5°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南の建物 h</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25.5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29.0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30.7</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30.7</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29.0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25.5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28600">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南東の建物 h</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12.9</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14.8</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11.5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B04A3F"/>
                          </a:solidFill>
                          <a:latin typeface="Yu Gothic" pitchFamily="34" charset="0"/>
                          <a:ea typeface="Yu Gothic" pitchFamily="34" charset="-122"/>
                          <a:cs typeface="Yu Gothic" pitchFamily="34" charset="-120"/>
                        </a:rPr>
                        <a:t>h</a:t>
                      </a:r>
                      <a:pPr algn="l" indent="0" marL="0">
                        <a:buNone/>
                      </a:pPr>
                      <a:r>
                        <a:rPr lang="en-US" sz="900" b="1" baseline="-40000" dirty="0">
                          <a:solidFill>
                            <a:srgbClr val="B04A3F"/>
                          </a:solidFill>
                          <a:latin typeface="Yu Gothic" pitchFamily="34" charset="0"/>
                          <a:ea typeface="Yu Gothic" pitchFamily="34" charset="-122"/>
                          <a:cs typeface="Yu Gothic" pitchFamily="34" charset="-120"/>
                        </a:rPr>
                        <a:t>a</a:t>
                      </a:r>
                      <a:pPr algn="l" indent="0" marL="0">
                        <a:buNone/>
                      </a:pPr>
                      <a:r>
                        <a:rPr lang="en-US" sz="900" b="1" dirty="0">
                          <a:solidFill>
                            <a:srgbClr val="B04A3F"/>
                          </a:solidFill>
                          <a:latin typeface="Yu Gothic" pitchFamily="34" charset="0"/>
                          <a:ea typeface="Yu Gothic" pitchFamily="34" charset="-122"/>
                          <a:cs typeface="Yu Gothic" pitchFamily="34" charset="-120"/>
                        </a:rPr>
                        <a:t>（max）</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B04A3F"/>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B04A3F"/>
                          </a:solidFill>
                          <a:latin typeface="Yu Gothic" pitchFamily="34" charset="0"/>
                          <a:ea typeface="Yu Gothic" pitchFamily="34" charset="-122"/>
                          <a:cs typeface="Yu Gothic" pitchFamily="34" charset="-120"/>
                        </a:rPr>
                        <a:t>12.9</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B04A3F"/>
                          </a:solidFill>
                          <a:latin typeface="Yu Gothic" pitchFamily="34" charset="0"/>
                          <a:ea typeface="Yu Gothic" pitchFamily="34" charset="-122"/>
                          <a:cs typeface="Yu Gothic" pitchFamily="34" charset="-120"/>
                        </a:rPr>
                        <a:t>14.8</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B04A3F"/>
                          </a:solidFill>
                          <a:latin typeface="Yu Gothic" pitchFamily="34" charset="0"/>
                          <a:ea typeface="Yu Gothic" pitchFamily="34" charset="-122"/>
                          <a:cs typeface="Yu Gothic" pitchFamily="34" charset="-120"/>
                        </a:rPr>
                        <a:t>25.5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B04A3F"/>
                          </a:solidFill>
                          <a:latin typeface="Yu Gothic" pitchFamily="34" charset="0"/>
                          <a:ea typeface="Yu Gothic" pitchFamily="34" charset="-122"/>
                          <a:cs typeface="Yu Gothic" pitchFamily="34" charset="-120"/>
                        </a:rPr>
                        <a:t>29.0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B04A3F"/>
                          </a:solidFill>
                          <a:latin typeface="Yu Gothic" pitchFamily="34" charset="0"/>
                          <a:ea typeface="Yu Gothic" pitchFamily="34" charset="-122"/>
                          <a:cs typeface="Yu Gothic" pitchFamily="34" charset="-120"/>
                        </a:rPr>
                        <a:t>30.7</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B04A3F"/>
                          </a:solidFill>
                          <a:latin typeface="Yu Gothic" pitchFamily="34" charset="0"/>
                          <a:ea typeface="Yu Gothic" pitchFamily="34" charset="-122"/>
                          <a:cs typeface="Yu Gothic" pitchFamily="34" charset="-120"/>
                        </a:rPr>
                        <a:t>30.7</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B04A3F"/>
                          </a:solidFill>
                          <a:latin typeface="Yu Gothic" pitchFamily="34" charset="0"/>
                          <a:ea typeface="Yu Gothic" pitchFamily="34" charset="-122"/>
                          <a:cs typeface="Yu Gothic" pitchFamily="34" charset="-120"/>
                        </a:rPr>
                        <a:t>29.0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B04A3F"/>
                          </a:solidFill>
                          <a:latin typeface="Yu Gothic" pitchFamily="34" charset="0"/>
                          <a:ea typeface="Yu Gothic" pitchFamily="34" charset="-122"/>
                          <a:cs typeface="Yu Gothic" pitchFamily="34" charset="-120"/>
                        </a:rPr>
                        <a:t>25.5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B04A3F"/>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B04A3F"/>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B04A3F"/>
                          </a:solidFill>
                          <a:latin typeface="Yu Gothic" pitchFamily="34" charset="0"/>
                          <a:ea typeface="Yu Gothic" pitchFamily="34" charset="-122"/>
                          <a:cs typeface="Yu Gothic" pitchFamily="34" charset="-120"/>
                        </a:rPr>
                        <a:t>−</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60" name="Text 57"/>
          <p:cNvSpPr txBox="1"/>
          <p:nvPr/>
        </p:nvSpPr>
        <p:spPr>
          <a:xfrm>
            <a:off x="457200" y="6291072"/>
            <a:ext cx="7315200" cy="18288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−：その方位には建物がない（空が地面まで見える → h＝0）。単位は度。</a:t>
            </a:r>
            <a:endParaRPr lang="en-US" sz="8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ふさがれた割合 O：h より低いマスを 1、それ以外を 0 にして数える</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42 / 45</a:t>
            </a:r>
            <a:endParaRPr lang="en-US" sz="1100" dirty="0"/>
          </a:p>
        </p:txBody>
      </p:sp>
      <p:sp>
        <p:nvSpPr>
          <p:cNvPr id="9" name="Shape 7"/>
          <p:cNvSpPr/>
          <p:nvPr/>
        </p:nvSpPr>
        <p:spPr>
          <a:xfrm>
            <a:off x="457200" y="1060704"/>
            <a:ext cx="1955292" cy="329184"/>
          </a:xfrm>
          <a:prstGeom prst="homePlate">
            <a:avLst/>
          </a:prstGeom>
          <a:solidFill>
            <a:srgbClr val="CFE3E5"/>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① 考え方（立体）</a:t>
            </a:r>
            <a:endParaRPr lang="en-US" sz="900" dirty="0"/>
          </a:p>
        </p:txBody>
      </p:sp>
      <p:sp>
        <p:nvSpPr>
          <p:cNvPr id="11" name="Shape 9"/>
          <p:cNvSpPr/>
          <p:nvPr/>
        </p:nvSpPr>
        <p:spPr>
          <a:xfrm>
            <a:off x="2339340" y="1060704"/>
            <a:ext cx="1955292" cy="329184"/>
          </a:xfrm>
          <a:prstGeom prst="chevron">
            <a:avLst/>
          </a:prstGeom>
          <a:solidFill>
            <a:srgbClr val="CFE3E5"/>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② 空の地図の作り方</a:t>
            </a:r>
            <a:endParaRPr lang="en-US" sz="900" dirty="0"/>
          </a:p>
        </p:txBody>
      </p:sp>
      <p:sp>
        <p:nvSpPr>
          <p:cNvPr id="13" name="Shape 11"/>
          <p:cNvSpPr/>
          <p:nvPr/>
        </p:nvSpPr>
        <p:spPr>
          <a:xfrm>
            <a:off x="4221480" y="1060704"/>
            <a:ext cx="1955292" cy="329184"/>
          </a:xfrm>
          <a:prstGeom prst="chevron">
            <a:avLst/>
          </a:prstGeom>
          <a:solidFill>
            <a:srgbClr val="CFE3E5"/>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③ 遮蔽高度角 h</a:t>
            </a:r>
            <a:endParaRPr lang="en-US" sz="900" dirty="0"/>
          </a:p>
        </p:txBody>
      </p:sp>
      <p:sp>
        <p:nvSpPr>
          <p:cNvPr id="15" name="Shape 13"/>
          <p:cNvSpPr/>
          <p:nvPr/>
        </p:nvSpPr>
        <p:spPr>
          <a:xfrm>
            <a:off x="6103620" y="1060704"/>
            <a:ext cx="1955292" cy="329184"/>
          </a:xfrm>
          <a:prstGeom prst="chevron">
            <a:avLst/>
          </a:prstGeom>
          <a:solidFill>
            <a:srgbClr val="1F6F78"/>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④ ふさがれた割合 O</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機械学習で予測</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比べ方と来週</a:t>
            </a:r>
            <a:endParaRPr lang="en-US" sz="900" dirty="0"/>
          </a:p>
        </p:txBody>
      </p:sp>
      <p:sp>
        <p:nvSpPr>
          <p:cNvPr id="21" name="Shape 19"/>
          <p:cNvSpPr/>
          <p:nvPr/>
        </p:nvSpPr>
        <p:spPr>
          <a:xfrm>
            <a:off x="457200" y="1508760"/>
            <a:ext cx="6309360" cy="4800600"/>
          </a:xfrm>
          <a:prstGeom prst="roundRect">
            <a:avLst>
              <a:gd name="adj" fmla="val 1143"/>
            </a:avLst>
          </a:prstGeom>
          <a:solidFill>
            <a:srgbClr val="F3F5F8"/>
          </a:solidFill>
          <a:ln/>
        </p:spPr>
      </p:sp>
      <p:sp>
        <p:nvSpPr>
          <p:cNvPr id="22" name="Text 20"/>
          <p:cNvSpPr txBox="1"/>
          <p:nvPr/>
        </p:nvSpPr>
        <p:spPr>
          <a:xfrm>
            <a:off x="594360" y="1563624"/>
            <a:ext cx="60350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空の地図に 0 と 1 を書き込む（線＝その列の h）</a:t>
            </a:r>
            <a:endParaRPr lang="en-US" sz="1100" dirty="0"/>
          </a:p>
        </p:txBody>
      </p:sp>
      <p:sp>
        <p:nvSpPr>
          <p:cNvPr id="23" name="Shape 21"/>
          <p:cNvSpPr/>
          <p:nvPr/>
        </p:nvSpPr>
        <p:spPr>
          <a:xfrm>
            <a:off x="1417320" y="3931920"/>
            <a:ext cx="411480" cy="374904"/>
          </a:xfrm>
          <a:prstGeom prst="rect">
            <a:avLst/>
          </a:prstGeom>
          <a:solidFill>
            <a:srgbClr val="FFFFFF"/>
          </a:solidFill>
          <a:ln w="6350">
            <a:solidFill>
              <a:srgbClr val="C9D0D8"/>
            </a:solidFill>
            <a:prstDash val="solid"/>
          </a:ln>
        </p:spPr>
      </p:sp>
      <p:sp>
        <p:nvSpPr>
          <p:cNvPr id="24" name="Text 22"/>
          <p:cNvSpPr txBox="1"/>
          <p:nvPr/>
        </p:nvSpPr>
        <p:spPr>
          <a:xfrm>
            <a:off x="1417320" y="393192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25" name="Shape 23"/>
          <p:cNvSpPr/>
          <p:nvPr/>
        </p:nvSpPr>
        <p:spPr>
          <a:xfrm>
            <a:off x="1417320" y="3538728"/>
            <a:ext cx="411480" cy="374904"/>
          </a:xfrm>
          <a:prstGeom prst="rect">
            <a:avLst/>
          </a:prstGeom>
          <a:solidFill>
            <a:srgbClr val="FFFFFF"/>
          </a:solidFill>
          <a:ln w="6350">
            <a:solidFill>
              <a:srgbClr val="C9D0D8"/>
            </a:solidFill>
            <a:prstDash val="solid"/>
          </a:ln>
        </p:spPr>
      </p:sp>
      <p:sp>
        <p:nvSpPr>
          <p:cNvPr id="26" name="Text 24"/>
          <p:cNvSpPr txBox="1"/>
          <p:nvPr/>
        </p:nvSpPr>
        <p:spPr>
          <a:xfrm>
            <a:off x="1417320" y="3538728"/>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27" name="Shape 25"/>
          <p:cNvSpPr/>
          <p:nvPr/>
        </p:nvSpPr>
        <p:spPr>
          <a:xfrm>
            <a:off x="1417320" y="3145536"/>
            <a:ext cx="411480" cy="374904"/>
          </a:xfrm>
          <a:prstGeom prst="rect">
            <a:avLst/>
          </a:prstGeom>
          <a:solidFill>
            <a:srgbClr val="FFFFFF"/>
          </a:solidFill>
          <a:ln w="6350">
            <a:solidFill>
              <a:srgbClr val="C9D0D8"/>
            </a:solidFill>
            <a:prstDash val="solid"/>
          </a:ln>
        </p:spPr>
      </p:sp>
      <p:sp>
        <p:nvSpPr>
          <p:cNvPr id="28" name="Text 26"/>
          <p:cNvSpPr txBox="1"/>
          <p:nvPr/>
        </p:nvSpPr>
        <p:spPr>
          <a:xfrm>
            <a:off x="1417320" y="3145536"/>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29" name="Shape 27"/>
          <p:cNvSpPr/>
          <p:nvPr/>
        </p:nvSpPr>
        <p:spPr>
          <a:xfrm>
            <a:off x="1417320" y="2752344"/>
            <a:ext cx="411480" cy="374904"/>
          </a:xfrm>
          <a:prstGeom prst="rect">
            <a:avLst/>
          </a:prstGeom>
          <a:solidFill>
            <a:srgbClr val="FFFFFF"/>
          </a:solidFill>
          <a:ln w="6350">
            <a:solidFill>
              <a:srgbClr val="C9D0D8"/>
            </a:solidFill>
            <a:prstDash val="solid"/>
          </a:ln>
        </p:spPr>
      </p:sp>
      <p:sp>
        <p:nvSpPr>
          <p:cNvPr id="30" name="Text 28"/>
          <p:cNvSpPr txBox="1"/>
          <p:nvPr/>
        </p:nvSpPr>
        <p:spPr>
          <a:xfrm>
            <a:off x="1417320" y="2752344"/>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31" name="Shape 29"/>
          <p:cNvSpPr/>
          <p:nvPr/>
        </p:nvSpPr>
        <p:spPr>
          <a:xfrm>
            <a:off x="1417320" y="2359152"/>
            <a:ext cx="411480" cy="374904"/>
          </a:xfrm>
          <a:prstGeom prst="rect">
            <a:avLst/>
          </a:prstGeom>
          <a:solidFill>
            <a:srgbClr val="FFFFFF"/>
          </a:solidFill>
          <a:ln w="6350">
            <a:solidFill>
              <a:srgbClr val="C9D0D8"/>
            </a:solidFill>
            <a:prstDash val="solid"/>
          </a:ln>
        </p:spPr>
      </p:sp>
      <p:sp>
        <p:nvSpPr>
          <p:cNvPr id="32" name="Text 30"/>
          <p:cNvSpPr txBox="1"/>
          <p:nvPr/>
        </p:nvSpPr>
        <p:spPr>
          <a:xfrm>
            <a:off x="1417320" y="2359152"/>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33" name="Shape 31"/>
          <p:cNvSpPr/>
          <p:nvPr/>
        </p:nvSpPr>
        <p:spPr>
          <a:xfrm>
            <a:off x="1417320" y="1965960"/>
            <a:ext cx="411480" cy="374904"/>
          </a:xfrm>
          <a:prstGeom prst="rect">
            <a:avLst/>
          </a:prstGeom>
          <a:solidFill>
            <a:srgbClr val="FFFFFF"/>
          </a:solidFill>
          <a:ln w="6350">
            <a:solidFill>
              <a:srgbClr val="C9D0D8"/>
            </a:solidFill>
            <a:prstDash val="solid"/>
          </a:ln>
        </p:spPr>
      </p:sp>
      <p:sp>
        <p:nvSpPr>
          <p:cNvPr id="34" name="Text 32"/>
          <p:cNvSpPr txBox="1"/>
          <p:nvPr/>
        </p:nvSpPr>
        <p:spPr>
          <a:xfrm>
            <a:off x="1417320" y="196596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35" name="Shape 33"/>
          <p:cNvSpPr/>
          <p:nvPr/>
        </p:nvSpPr>
        <p:spPr>
          <a:xfrm>
            <a:off x="1847088" y="3931920"/>
            <a:ext cx="411480" cy="374904"/>
          </a:xfrm>
          <a:prstGeom prst="rect">
            <a:avLst/>
          </a:prstGeom>
          <a:solidFill>
            <a:srgbClr val="1F6F78"/>
          </a:solidFill>
          <a:ln w="6350">
            <a:solidFill>
              <a:srgbClr val="C9D0D8"/>
            </a:solidFill>
            <a:prstDash val="solid"/>
          </a:ln>
        </p:spPr>
      </p:sp>
      <p:sp>
        <p:nvSpPr>
          <p:cNvPr id="36" name="Text 34"/>
          <p:cNvSpPr txBox="1"/>
          <p:nvPr/>
        </p:nvSpPr>
        <p:spPr>
          <a:xfrm>
            <a:off x="1847088" y="3931920"/>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37" name="Shape 35"/>
          <p:cNvSpPr/>
          <p:nvPr/>
        </p:nvSpPr>
        <p:spPr>
          <a:xfrm>
            <a:off x="1847088" y="3538728"/>
            <a:ext cx="411480" cy="374904"/>
          </a:xfrm>
          <a:prstGeom prst="rect">
            <a:avLst/>
          </a:prstGeom>
          <a:solidFill>
            <a:srgbClr val="FFFFFF"/>
          </a:solidFill>
          <a:ln w="6350">
            <a:solidFill>
              <a:srgbClr val="C9D0D8"/>
            </a:solidFill>
            <a:prstDash val="solid"/>
          </a:ln>
        </p:spPr>
      </p:sp>
      <p:sp>
        <p:nvSpPr>
          <p:cNvPr id="38" name="Text 36"/>
          <p:cNvSpPr txBox="1"/>
          <p:nvPr/>
        </p:nvSpPr>
        <p:spPr>
          <a:xfrm>
            <a:off x="1847088" y="3538728"/>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39" name="Shape 37"/>
          <p:cNvSpPr/>
          <p:nvPr/>
        </p:nvSpPr>
        <p:spPr>
          <a:xfrm>
            <a:off x="1847088" y="3145536"/>
            <a:ext cx="411480" cy="374904"/>
          </a:xfrm>
          <a:prstGeom prst="rect">
            <a:avLst/>
          </a:prstGeom>
          <a:solidFill>
            <a:srgbClr val="FFFFFF"/>
          </a:solidFill>
          <a:ln w="6350">
            <a:solidFill>
              <a:srgbClr val="C9D0D8"/>
            </a:solidFill>
            <a:prstDash val="solid"/>
          </a:ln>
        </p:spPr>
      </p:sp>
      <p:sp>
        <p:nvSpPr>
          <p:cNvPr id="40" name="Text 38"/>
          <p:cNvSpPr txBox="1"/>
          <p:nvPr/>
        </p:nvSpPr>
        <p:spPr>
          <a:xfrm>
            <a:off x="1847088" y="3145536"/>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41" name="Shape 39"/>
          <p:cNvSpPr/>
          <p:nvPr/>
        </p:nvSpPr>
        <p:spPr>
          <a:xfrm>
            <a:off x="1847088" y="2752344"/>
            <a:ext cx="411480" cy="374904"/>
          </a:xfrm>
          <a:prstGeom prst="rect">
            <a:avLst/>
          </a:prstGeom>
          <a:solidFill>
            <a:srgbClr val="FFFFFF"/>
          </a:solidFill>
          <a:ln w="6350">
            <a:solidFill>
              <a:srgbClr val="C9D0D8"/>
            </a:solidFill>
            <a:prstDash val="solid"/>
          </a:ln>
        </p:spPr>
      </p:sp>
      <p:sp>
        <p:nvSpPr>
          <p:cNvPr id="42" name="Text 40"/>
          <p:cNvSpPr txBox="1"/>
          <p:nvPr/>
        </p:nvSpPr>
        <p:spPr>
          <a:xfrm>
            <a:off x="1847088" y="2752344"/>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43" name="Shape 41"/>
          <p:cNvSpPr/>
          <p:nvPr/>
        </p:nvSpPr>
        <p:spPr>
          <a:xfrm>
            <a:off x="1847088" y="2359152"/>
            <a:ext cx="411480" cy="374904"/>
          </a:xfrm>
          <a:prstGeom prst="rect">
            <a:avLst/>
          </a:prstGeom>
          <a:solidFill>
            <a:srgbClr val="FFFFFF"/>
          </a:solidFill>
          <a:ln w="6350">
            <a:solidFill>
              <a:srgbClr val="C9D0D8"/>
            </a:solidFill>
            <a:prstDash val="solid"/>
          </a:ln>
        </p:spPr>
      </p:sp>
      <p:sp>
        <p:nvSpPr>
          <p:cNvPr id="44" name="Text 42"/>
          <p:cNvSpPr txBox="1"/>
          <p:nvPr/>
        </p:nvSpPr>
        <p:spPr>
          <a:xfrm>
            <a:off x="1847088" y="2359152"/>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45" name="Shape 43"/>
          <p:cNvSpPr/>
          <p:nvPr/>
        </p:nvSpPr>
        <p:spPr>
          <a:xfrm>
            <a:off x="1847088" y="1965960"/>
            <a:ext cx="411480" cy="374904"/>
          </a:xfrm>
          <a:prstGeom prst="rect">
            <a:avLst/>
          </a:prstGeom>
          <a:solidFill>
            <a:srgbClr val="FFFFFF"/>
          </a:solidFill>
          <a:ln w="6350">
            <a:solidFill>
              <a:srgbClr val="C9D0D8"/>
            </a:solidFill>
            <a:prstDash val="solid"/>
          </a:ln>
        </p:spPr>
      </p:sp>
      <p:sp>
        <p:nvSpPr>
          <p:cNvPr id="46" name="Text 44"/>
          <p:cNvSpPr txBox="1"/>
          <p:nvPr/>
        </p:nvSpPr>
        <p:spPr>
          <a:xfrm>
            <a:off x="1847088" y="196596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47" name="Shape 45"/>
          <p:cNvSpPr/>
          <p:nvPr/>
        </p:nvSpPr>
        <p:spPr>
          <a:xfrm>
            <a:off x="2276856" y="3931920"/>
            <a:ext cx="411480" cy="374904"/>
          </a:xfrm>
          <a:prstGeom prst="rect">
            <a:avLst/>
          </a:prstGeom>
          <a:solidFill>
            <a:srgbClr val="1F6F78"/>
          </a:solidFill>
          <a:ln w="6350">
            <a:solidFill>
              <a:srgbClr val="C9D0D8"/>
            </a:solidFill>
            <a:prstDash val="solid"/>
          </a:ln>
        </p:spPr>
      </p:sp>
      <p:sp>
        <p:nvSpPr>
          <p:cNvPr id="48" name="Text 46"/>
          <p:cNvSpPr txBox="1"/>
          <p:nvPr/>
        </p:nvSpPr>
        <p:spPr>
          <a:xfrm>
            <a:off x="2276856" y="3931920"/>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49" name="Shape 47"/>
          <p:cNvSpPr/>
          <p:nvPr/>
        </p:nvSpPr>
        <p:spPr>
          <a:xfrm>
            <a:off x="2276856" y="3538728"/>
            <a:ext cx="411480" cy="374904"/>
          </a:xfrm>
          <a:prstGeom prst="rect">
            <a:avLst/>
          </a:prstGeom>
          <a:solidFill>
            <a:srgbClr val="FFFFFF"/>
          </a:solidFill>
          <a:ln w="6350">
            <a:solidFill>
              <a:srgbClr val="C9D0D8"/>
            </a:solidFill>
            <a:prstDash val="solid"/>
          </a:ln>
        </p:spPr>
      </p:sp>
      <p:sp>
        <p:nvSpPr>
          <p:cNvPr id="50" name="Text 48"/>
          <p:cNvSpPr txBox="1"/>
          <p:nvPr/>
        </p:nvSpPr>
        <p:spPr>
          <a:xfrm>
            <a:off x="2276856" y="3538728"/>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51" name="Shape 49"/>
          <p:cNvSpPr/>
          <p:nvPr/>
        </p:nvSpPr>
        <p:spPr>
          <a:xfrm>
            <a:off x="2276856" y="3145536"/>
            <a:ext cx="411480" cy="374904"/>
          </a:xfrm>
          <a:prstGeom prst="rect">
            <a:avLst/>
          </a:prstGeom>
          <a:solidFill>
            <a:srgbClr val="FFFFFF"/>
          </a:solidFill>
          <a:ln w="6350">
            <a:solidFill>
              <a:srgbClr val="C9D0D8"/>
            </a:solidFill>
            <a:prstDash val="solid"/>
          </a:ln>
        </p:spPr>
      </p:sp>
      <p:sp>
        <p:nvSpPr>
          <p:cNvPr id="52" name="Text 50"/>
          <p:cNvSpPr txBox="1"/>
          <p:nvPr/>
        </p:nvSpPr>
        <p:spPr>
          <a:xfrm>
            <a:off x="2276856" y="3145536"/>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53" name="Shape 51"/>
          <p:cNvSpPr/>
          <p:nvPr/>
        </p:nvSpPr>
        <p:spPr>
          <a:xfrm>
            <a:off x="2276856" y="2752344"/>
            <a:ext cx="411480" cy="374904"/>
          </a:xfrm>
          <a:prstGeom prst="rect">
            <a:avLst/>
          </a:prstGeom>
          <a:solidFill>
            <a:srgbClr val="FFFFFF"/>
          </a:solidFill>
          <a:ln w="6350">
            <a:solidFill>
              <a:srgbClr val="C9D0D8"/>
            </a:solidFill>
            <a:prstDash val="solid"/>
          </a:ln>
        </p:spPr>
      </p:sp>
      <p:sp>
        <p:nvSpPr>
          <p:cNvPr id="54" name="Text 52"/>
          <p:cNvSpPr txBox="1"/>
          <p:nvPr/>
        </p:nvSpPr>
        <p:spPr>
          <a:xfrm>
            <a:off x="2276856" y="2752344"/>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55" name="Shape 53"/>
          <p:cNvSpPr/>
          <p:nvPr/>
        </p:nvSpPr>
        <p:spPr>
          <a:xfrm>
            <a:off x="2276856" y="2359152"/>
            <a:ext cx="411480" cy="374904"/>
          </a:xfrm>
          <a:prstGeom prst="rect">
            <a:avLst/>
          </a:prstGeom>
          <a:solidFill>
            <a:srgbClr val="FFFFFF"/>
          </a:solidFill>
          <a:ln w="6350">
            <a:solidFill>
              <a:srgbClr val="C9D0D8"/>
            </a:solidFill>
            <a:prstDash val="solid"/>
          </a:ln>
        </p:spPr>
      </p:sp>
      <p:sp>
        <p:nvSpPr>
          <p:cNvPr id="56" name="Text 54"/>
          <p:cNvSpPr txBox="1"/>
          <p:nvPr/>
        </p:nvSpPr>
        <p:spPr>
          <a:xfrm>
            <a:off x="2276856" y="2359152"/>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57" name="Shape 55"/>
          <p:cNvSpPr/>
          <p:nvPr/>
        </p:nvSpPr>
        <p:spPr>
          <a:xfrm>
            <a:off x="2276856" y="1965960"/>
            <a:ext cx="411480" cy="374904"/>
          </a:xfrm>
          <a:prstGeom prst="rect">
            <a:avLst/>
          </a:prstGeom>
          <a:solidFill>
            <a:srgbClr val="FFFFFF"/>
          </a:solidFill>
          <a:ln w="6350">
            <a:solidFill>
              <a:srgbClr val="C9D0D8"/>
            </a:solidFill>
            <a:prstDash val="solid"/>
          </a:ln>
        </p:spPr>
      </p:sp>
      <p:sp>
        <p:nvSpPr>
          <p:cNvPr id="58" name="Text 56"/>
          <p:cNvSpPr txBox="1"/>
          <p:nvPr/>
        </p:nvSpPr>
        <p:spPr>
          <a:xfrm>
            <a:off x="2276856" y="196596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59" name="Shape 57"/>
          <p:cNvSpPr/>
          <p:nvPr/>
        </p:nvSpPr>
        <p:spPr>
          <a:xfrm>
            <a:off x="2706624" y="3931920"/>
            <a:ext cx="411480" cy="374904"/>
          </a:xfrm>
          <a:prstGeom prst="rect">
            <a:avLst/>
          </a:prstGeom>
          <a:solidFill>
            <a:srgbClr val="B04A3F"/>
          </a:solidFill>
          <a:ln w="6350">
            <a:solidFill>
              <a:srgbClr val="C9D0D8"/>
            </a:solidFill>
            <a:prstDash val="solid"/>
          </a:ln>
        </p:spPr>
      </p:sp>
      <p:sp>
        <p:nvSpPr>
          <p:cNvPr id="60" name="Text 58"/>
          <p:cNvSpPr txBox="1"/>
          <p:nvPr/>
        </p:nvSpPr>
        <p:spPr>
          <a:xfrm>
            <a:off x="2706624" y="3931920"/>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61" name="Shape 59"/>
          <p:cNvSpPr/>
          <p:nvPr/>
        </p:nvSpPr>
        <p:spPr>
          <a:xfrm>
            <a:off x="2706624" y="3538728"/>
            <a:ext cx="411480" cy="374904"/>
          </a:xfrm>
          <a:prstGeom prst="rect">
            <a:avLst/>
          </a:prstGeom>
          <a:solidFill>
            <a:srgbClr val="E8934D"/>
          </a:solidFill>
          <a:ln w="6350">
            <a:solidFill>
              <a:srgbClr val="C9D0D8"/>
            </a:solidFill>
            <a:prstDash val="solid"/>
          </a:ln>
        </p:spPr>
      </p:sp>
      <p:sp>
        <p:nvSpPr>
          <p:cNvPr id="62" name="Text 60"/>
          <p:cNvSpPr txBox="1"/>
          <p:nvPr/>
        </p:nvSpPr>
        <p:spPr>
          <a:xfrm>
            <a:off x="2706624" y="3538728"/>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63" name="Shape 61"/>
          <p:cNvSpPr/>
          <p:nvPr/>
        </p:nvSpPr>
        <p:spPr>
          <a:xfrm>
            <a:off x="2706624" y="3145536"/>
            <a:ext cx="411480" cy="374904"/>
          </a:xfrm>
          <a:prstGeom prst="rect">
            <a:avLst/>
          </a:prstGeom>
          <a:solidFill>
            <a:srgbClr val="FFFFFF"/>
          </a:solidFill>
          <a:ln w="6350">
            <a:solidFill>
              <a:srgbClr val="C9D0D8"/>
            </a:solidFill>
            <a:prstDash val="solid"/>
          </a:ln>
        </p:spPr>
      </p:sp>
      <p:sp>
        <p:nvSpPr>
          <p:cNvPr id="64" name="Text 62"/>
          <p:cNvSpPr txBox="1"/>
          <p:nvPr/>
        </p:nvSpPr>
        <p:spPr>
          <a:xfrm>
            <a:off x="2706624" y="3145536"/>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65" name="Shape 63"/>
          <p:cNvSpPr/>
          <p:nvPr/>
        </p:nvSpPr>
        <p:spPr>
          <a:xfrm>
            <a:off x="2706624" y="2752344"/>
            <a:ext cx="411480" cy="374904"/>
          </a:xfrm>
          <a:prstGeom prst="rect">
            <a:avLst/>
          </a:prstGeom>
          <a:solidFill>
            <a:srgbClr val="FFFFFF"/>
          </a:solidFill>
          <a:ln w="6350">
            <a:solidFill>
              <a:srgbClr val="C9D0D8"/>
            </a:solidFill>
            <a:prstDash val="solid"/>
          </a:ln>
        </p:spPr>
      </p:sp>
      <p:sp>
        <p:nvSpPr>
          <p:cNvPr id="66" name="Text 64"/>
          <p:cNvSpPr txBox="1"/>
          <p:nvPr/>
        </p:nvSpPr>
        <p:spPr>
          <a:xfrm>
            <a:off x="2706624" y="2752344"/>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67" name="Shape 65"/>
          <p:cNvSpPr/>
          <p:nvPr/>
        </p:nvSpPr>
        <p:spPr>
          <a:xfrm>
            <a:off x="2706624" y="2359152"/>
            <a:ext cx="411480" cy="374904"/>
          </a:xfrm>
          <a:prstGeom prst="rect">
            <a:avLst/>
          </a:prstGeom>
          <a:solidFill>
            <a:srgbClr val="FFFFFF"/>
          </a:solidFill>
          <a:ln w="6350">
            <a:solidFill>
              <a:srgbClr val="C9D0D8"/>
            </a:solidFill>
            <a:prstDash val="solid"/>
          </a:ln>
        </p:spPr>
      </p:sp>
      <p:sp>
        <p:nvSpPr>
          <p:cNvPr id="68" name="Text 66"/>
          <p:cNvSpPr txBox="1"/>
          <p:nvPr/>
        </p:nvSpPr>
        <p:spPr>
          <a:xfrm>
            <a:off x="2706624" y="2359152"/>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69" name="Shape 67"/>
          <p:cNvSpPr/>
          <p:nvPr/>
        </p:nvSpPr>
        <p:spPr>
          <a:xfrm>
            <a:off x="2706624" y="1965960"/>
            <a:ext cx="411480" cy="374904"/>
          </a:xfrm>
          <a:prstGeom prst="rect">
            <a:avLst/>
          </a:prstGeom>
          <a:solidFill>
            <a:srgbClr val="FFFFFF"/>
          </a:solidFill>
          <a:ln w="6350">
            <a:solidFill>
              <a:srgbClr val="C9D0D8"/>
            </a:solidFill>
            <a:prstDash val="solid"/>
          </a:ln>
        </p:spPr>
      </p:sp>
      <p:sp>
        <p:nvSpPr>
          <p:cNvPr id="70" name="Text 68"/>
          <p:cNvSpPr txBox="1"/>
          <p:nvPr/>
        </p:nvSpPr>
        <p:spPr>
          <a:xfrm>
            <a:off x="2706624" y="196596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71" name="Shape 69"/>
          <p:cNvSpPr/>
          <p:nvPr/>
        </p:nvSpPr>
        <p:spPr>
          <a:xfrm>
            <a:off x="3136392" y="3931920"/>
            <a:ext cx="411480" cy="374904"/>
          </a:xfrm>
          <a:prstGeom prst="rect">
            <a:avLst/>
          </a:prstGeom>
          <a:solidFill>
            <a:srgbClr val="E8934D"/>
          </a:solidFill>
          <a:ln w="6350">
            <a:solidFill>
              <a:srgbClr val="C9D0D8"/>
            </a:solidFill>
            <a:prstDash val="solid"/>
          </a:ln>
        </p:spPr>
      </p:sp>
      <p:sp>
        <p:nvSpPr>
          <p:cNvPr id="72" name="Text 70"/>
          <p:cNvSpPr txBox="1"/>
          <p:nvPr/>
        </p:nvSpPr>
        <p:spPr>
          <a:xfrm>
            <a:off x="3136392" y="3931920"/>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73" name="Shape 71"/>
          <p:cNvSpPr/>
          <p:nvPr/>
        </p:nvSpPr>
        <p:spPr>
          <a:xfrm>
            <a:off x="3136392" y="3538728"/>
            <a:ext cx="411480" cy="374904"/>
          </a:xfrm>
          <a:prstGeom prst="rect">
            <a:avLst/>
          </a:prstGeom>
          <a:solidFill>
            <a:srgbClr val="E8934D"/>
          </a:solidFill>
          <a:ln w="6350">
            <a:solidFill>
              <a:srgbClr val="C9D0D8"/>
            </a:solidFill>
            <a:prstDash val="solid"/>
          </a:ln>
        </p:spPr>
      </p:sp>
      <p:sp>
        <p:nvSpPr>
          <p:cNvPr id="74" name="Text 72"/>
          <p:cNvSpPr txBox="1"/>
          <p:nvPr/>
        </p:nvSpPr>
        <p:spPr>
          <a:xfrm>
            <a:off x="3136392" y="3538728"/>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75" name="Shape 73"/>
          <p:cNvSpPr/>
          <p:nvPr/>
        </p:nvSpPr>
        <p:spPr>
          <a:xfrm>
            <a:off x="3136392" y="3145536"/>
            <a:ext cx="411480" cy="374904"/>
          </a:xfrm>
          <a:prstGeom prst="rect">
            <a:avLst/>
          </a:prstGeom>
          <a:solidFill>
            <a:srgbClr val="FFFFFF"/>
          </a:solidFill>
          <a:ln w="6350">
            <a:solidFill>
              <a:srgbClr val="C9D0D8"/>
            </a:solidFill>
            <a:prstDash val="solid"/>
          </a:ln>
        </p:spPr>
      </p:sp>
      <p:sp>
        <p:nvSpPr>
          <p:cNvPr id="76" name="Text 74"/>
          <p:cNvSpPr txBox="1"/>
          <p:nvPr/>
        </p:nvSpPr>
        <p:spPr>
          <a:xfrm>
            <a:off x="3136392" y="3145536"/>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77" name="Shape 75"/>
          <p:cNvSpPr/>
          <p:nvPr/>
        </p:nvSpPr>
        <p:spPr>
          <a:xfrm>
            <a:off x="3136392" y="2752344"/>
            <a:ext cx="411480" cy="374904"/>
          </a:xfrm>
          <a:prstGeom prst="rect">
            <a:avLst/>
          </a:prstGeom>
          <a:solidFill>
            <a:srgbClr val="FFFFFF"/>
          </a:solidFill>
          <a:ln w="6350">
            <a:solidFill>
              <a:srgbClr val="C9D0D8"/>
            </a:solidFill>
            <a:prstDash val="solid"/>
          </a:ln>
        </p:spPr>
      </p:sp>
      <p:sp>
        <p:nvSpPr>
          <p:cNvPr id="78" name="Text 76"/>
          <p:cNvSpPr txBox="1"/>
          <p:nvPr/>
        </p:nvSpPr>
        <p:spPr>
          <a:xfrm>
            <a:off x="3136392" y="2752344"/>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79" name="Shape 77"/>
          <p:cNvSpPr/>
          <p:nvPr/>
        </p:nvSpPr>
        <p:spPr>
          <a:xfrm>
            <a:off x="3136392" y="2359152"/>
            <a:ext cx="411480" cy="374904"/>
          </a:xfrm>
          <a:prstGeom prst="rect">
            <a:avLst/>
          </a:prstGeom>
          <a:solidFill>
            <a:srgbClr val="FFFFFF"/>
          </a:solidFill>
          <a:ln w="6350">
            <a:solidFill>
              <a:srgbClr val="C9D0D8"/>
            </a:solidFill>
            <a:prstDash val="solid"/>
          </a:ln>
        </p:spPr>
      </p:sp>
      <p:sp>
        <p:nvSpPr>
          <p:cNvPr id="80" name="Text 78"/>
          <p:cNvSpPr txBox="1"/>
          <p:nvPr/>
        </p:nvSpPr>
        <p:spPr>
          <a:xfrm>
            <a:off x="3136392" y="2359152"/>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81" name="Shape 79"/>
          <p:cNvSpPr/>
          <p:nvPr/>
        </p:nvSpPr>
        <p:spPr>
          <a:xfrm>
            <a:off x="3136392" y="1965960"/>
            <a:ext cx="411480" cy="374904"/>
          </a:xfrm>
          <a:prstGeom prst="rect">
            <a:avLst/>
          </a:prstGeom>
          <a:solidFill>
            <a:srgbClr val="FFFFFF"/>
          </a:solidFill>
          <a:ln w="6350">
            <a:solidFill>
              <a:srgbClr val="C9D0D8"/>
            </a:solidFill>
            <a:prstDash val="solid"/>
          </a:ln>
        </p:spPr>
      </p:sp>
      <p:sp>
        <p:nvSpPr>
          <p:cNvPr id="82" name="Text 80"/>
          <p:cNvSpPr txBox="1"/>
          <p:nvPr/>
        </p:nvSpPr>
        <p:spPr>
          <a:xfrm>
            <a:off x="3136392" y="196596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83" name="Shape 81"/>
          <p:cNvSpPr/>
          <p:nvPr/>
        </p:nvSpPr>
        <p:spPr>
          <a:xfrm>
            <a:off x="3566160" y="3931920"/>
            <a:ext cx="411480" cy="374904"/>
          </a:xfrm>
          <a:prstGeom prst="rect">
            <a:avLst/>
          </a:prstGeom>
          <a:solidFill>
            <a:srgbClr val="E8934D"/>
          </a:solidFill>
          <a:ln w="6350">
            <a:solidFill>
              <a:srgbClr val="C9D0D8"/>
            </a:solidFill>
            <a:prstDash val="solid"/>
          </a:ln>
        </p:spPr>
      </p:sp>
      <p:sp>
        <p:nvSpPr>
          <p:cNvPr id="84" name="Text 82"/>
          <p:cNvSpPr txBox="1"/>
          <p:nvPr/>
        </p:nvSpPr>
        <p:spPr>
          <a:xfrm>
            <a:off x="3566160" y="3931920"/>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85" name="Shape 83"/>
          <p:cNvSpPr/>
          <p:nvPr/>
        </p:nvSpPr>
        <p:spPr>
          <a:xfrm>
            <a:off x="3566160" y="3538728"/>
            <a:ext cx="411480" cy="374904"/>
          </a:xfrm>
          <a:prstGeom prst="rect">
            <a:avLst/>
          </a:prstGeom>
          <a:solidFill>
            <a:srgbClr val="E8934D"/>
          </a:solidFill>
          <a:ln w="6350">
            <a:solidFill>
              <a:srgbClr val="C9D0D8"/>
            </a:solidFill>
            <a:prstDash val="solid"/>
          </a:ln>
        </p:spPr>
      </p:sp>
      <p:sp>
        <p:nvSpPr>
          <p:cNvPr id="86" name="Text 84"/>
          <p:cNvSpPr txBox="1"/>
          <p:nvPr/>
        </p:nvSpPr>
        <p:spPr>
          <a:xfrm>
            <a:off x="3566160" y="3538728"/>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87" name="Shape 85"/>
          <p:cNvSpPr/>
          <p:nvPr/>
        </p:nvSpPr>
        <p:spPr>
          <a:xfrm>
            <a:off x="3566160" y="3145536"/>
            <a:ext cx="411480" cy="374904"/>
          </a:xfrm>
          <a:prstGeom prst="rect">
            <a:avLst/>
          </a:prstGeom>
          <a:solidFill>
            <a:srgbClr val="FFFFFF"/>
          </a:solidFill>
          <a:ln w="6350">
            <a:solidFill>
              <a:srgbClr val="C9D0D8"/>
            </a:solidFill>
            <a:prstDash val="solid"/>
          </a:ln>
        </p:spPr>
      </p:sp>
      <p:sp>
        <p:nvSpPr>
          <p:cNvPr id="88" name="Text 86"/>
          <p:cNvSpPr txBox="1"/>
          <p:nvPr/>
        </p:nvSpPr>
        <p:spPr>
          <a:xfrm>
            <a:off x="3566160" y="3145536"/>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89" name="Shape 87"/>
          <p:cNvSpPr/>
          <p:nvPr/>
        </p:nvSpPr>
        <p:spPr>
          <a:xfrm>
            <a:off x="3566160" y="2752344"/>
            <a:ext cx="411480" cy="374904"/>
          </a:xfrm>
          <a:prstGeom prst="rect">
            <a:avLst/>
          </a:prstGeom>
          <a:solidFill>
            <a:srgbClr val="FFFFFF"/>
          </a:solidFill>
          <a:ln w="6350">
            <a:solidFill>
              <a:srgbClr val="C9D0D8"/>
            </a:solidFill>
            <a:prstDash val="solid"/>
          </a:ln>
        </p:spPr>
      </p:sp>
      <p:sp>
        <p:nvSpPr>
          <p:cNvPr id="90" name="Text 88"/>
          <p:cNvSpPr txBox="1"/>
          <p:nvPr/>
        </p:nvSpPr>
        <p:spPr>
          <a:xfrm>
            <a:off x="3566160" y="2752344"/>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91" name="Shape 89"/>
          <p:cNvSpPr/>
          <p:nvPr/>
        </p:nvSpPr>
        <p:spPr>
          <a:xfrm>
            <a:off x="3566160" y="2359152"/>
            <a:ext cx="411480" cy="374904"/>
          </a:xfrm>
          <a:prstGeom prst="rect">
            <a:avLst/>
          </a:prstGeom>
          <a:solidFill>
            <a:srgbClr val="FFFFFF"/>
          </a:solidFill>
          <a:ln w="6350">
            <a:solidFill>
              <a:srgbClr val="C9D0D8"/>
            </a:solidFill>
            <a:prstDash val="solid"/>
          </a:ln>
        </p:spPr>
      </p:sp>
      <p:sp>
        <p:nvSpPr>
          <p:cNvPr id="92" name="Text 90"/>
          <p:cNvSpPr txBox="1"/>
          <p:nvPr/>
        </p:nvSpPr>
        <p:spPr>
          <a:xfrm>
            <a:off x="3566160" y="2359152"/>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93" name="Shape 91"/>
          <p:cNvSpPr/>
          <p:nvPr/>
        </p:nvSpPr>
        <p:spPr>
          <a:xfrm>
            <a:off x="3566160" y="1965960"/>
            <a:ext cx="411480" cy="374904"/>
          </a:xfrm>
          <a:prstGeom prst="rect">
            <a:avLst/>
          </a:prstGeom>
          <a:solidFill>
            <a:srgbClr val="FFFFFF"/>
          </a:solidFill>
          <a:ln w="6350">
            <a:solidFill>
              <a:srgbClr val="C9D0D8"/>
            </a:solidFill>
            <a:prstDash val="solid"/>
          </a:ln>
        </p:spPr>
      </p:sp>
      <p:sp>
        <p:nvSpPr>
          <p:cNvPr id="94" name="Text 92"/>
          <p:cNvSpPr txBox="1"/>
          <p:nvPr/>
        </p:nvSpPr>
        <p:spPr>
          <a:xfrm>
            <a:off x="3566160" y="196596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95" name="Shape 93"/>
          <p:cNvSpPr/>
          <p:nvPr/>
        </p:nvSpPr>
        <p:spPr>
          <a:xfrm>
            <a:off x="3995928" y="3931920"/>
            <a:ext cx="411480" cy="374904"/>
          </a:xfrm>
          <a:prstGeom prst="rect">
            <a:avLst/>
          </a:prstGeom>
          <a:solidFill>
            <a:srgbClr val="E8934D"/>
          </a:solidFill>
          <a:ln w="6350">
            <a:solidFill>
              <a:srgbClr val="C9D0D8"/>
            </a:solidFill>
            <a:prstDash val="solid"/>
          </a:ln>
        </p:spPr>
      </p:sp>
      <p:sp>
        <p:nvSpPr>
          <p:cNvPr id="96" name="Text 94"/>
          <p:cNvSpPr txBox="1"/>
          <p:nvPr/>
        </p:nvSpPr>
        <p:spPr>
          <a:xfrm>
            <a:off x="3995928" y="3931920"/>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97" name="Shape 95"/>
          <p:cNvSpPr/>
          <p:nvPr/>
        </p:nvSpPr>
        <p:spPr>
          <a:xfrm>
            <a:off x="3995928" y="3538728"/>
            <a:ext cx="411480" cy="374904"/>
          </a:xfrm>
          <a:prstGeom prst="rect">
            <a:avLst/>
          </a:prstGeom>
          <a:solidFill>
            <a:srgbClr val="E8934D"/>
          </a:solidFill>
          <a:ln w="6350">
            <a:solidFill>
              <a:srgbClr val="C9D0D8"/>
            </a:solidFill>
            <a:prstDash val="solid"/>
          </a:ln>
        </p:spPr>
      </p:sp>
      <p:sp>
        <p:nvSpPr>
          <p:cNvPr id="98" name="Text 96"/>
          <p:cNvSpPr txBox="1"/>
          <p:nvPr/>
        </p:nvSpPr>
        <p:spPr>
          <a:xfrm>
            <a:off x="3995928" y="3538728"/>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99" name="Shape 97"/>
          <p:cNvSpPr/>
          <p:nvPr/>
        </p:nvSpPr>
        <p:spPr>
          <a:xfrm>
            <a:off x="3995928" y="3145536"/>
            <a:ext cx="411480" cy="374904"/>
          </a:xfrm>
          <a:prstGeom prst="rect">
            <a:avLst/>
          </a:prstGeom>
          <a:solidFill>
            <a:srgbClr val="FFFFFF"/>
          </a:solidFill>
          <a:ln w="6350">
            <a:solidFill>
              <a:srgbClr val="C9D0D8"/>
            </a:solidFill>
            <a:prstDash val="solid"/>
          </a:ln>
        </p:spPr>
      </p:sp>
      <p:sp>
        <p:nvSpPr>
          <p:cNvPr id="100" name="Text 98"/>
          <p:cNvSpPr txBox="1"/>
          <p:nvPr/>
        </p:nvSpPr>
        <p:spPr>
          <a:xfrm>
            <a:off x="3995928" y="3145536"/>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01" name="Shape 99"/>
          <p:cNvSpPr/>
          <p:nvPr/>
        </p:nvSpPr>
        <p:spPr>
          <a:xfrm>
            <a:off x="3995928" y="2752344"/>
            <a:ext cx="411480" cy="374904"/>
          </a:xfrm>
          <a:prstGeom prst="rect">
            <a:avLst/>
          </a:prstGeom>
          <a:solidFill>
            <a:srgbClr val="FFFFFF"/>
          </a:solidFill>
          <a:ln w="6350">
            <a:solidFill>
              <a:srgbClr val="C9D0D8"/>
            </a:solidFill>
            <a:prstDash val="solid"/>
          </a:ln>
        </p:spPr>
      </p:sp>
      <p:sp>
        <p:nvSpPr>
          <p:cNvPr id="102" name="Text 100"/>
          <p:cNvSpPr txBox="1"/>
          <p:nvPr/>
        </p:nvSpPr>
        <p:spPr>
          <a:xfrm>
            <a:off x="3995928" y="2752344"/>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03" name="Shape 101"/>
          <p:cNvSpPr/>
          <p:nvPr/>
        </p:nvSpPr>
        <p:spPr>
          <a:xfrm>
            <a:off x="3995928" y="2359152"/>
            <a:ext cx="411480" cy="374904"/>
          </a:xfrm>
          <a:prstGeom prst="rect">
            <a:avLst/>
          </a:prstGeom>
          <a:solidFill>
            <a:srgbClr val="FFFFFF"/>
          </a:solidFill>
          <a:ln w="6350">
            <a:solidFill>
              <a:srgbClr val="C9D0D8"/>
            </a:solidFill>
            <a:prstDash val="solid"/>
          </a:ln>
        </p:spPr>
      </p:sp>
      <p:sp>
        <p:nvSpPr>
          <p:cNvPr id="104" name="Text 102"/>
          <p:cNvSpPr txBox="1"/>
          <p:nvPr/>
        </p:nvSpPr>
        <p:spPr>
          <a:xfrm>
            <a:off x="3995928" y="2359152"/>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05" name="Shape 103"/>
          <p:cNvSpPr/>
          <p:nvPr/>
        </p:nvSpPr>
        <p:spPr>
          <a:xfrm>
            <a:off x="3995928" y="1965960"/>
            <a:ext cx="411480" cy="374904"/>
          </a:xfrm>
          <a:prstGeom prst="rect">
            <a:avLst/>
          </a:prstGeom>
          <a:solidFill>
            <a:srgbClr val="FFFFFF"/>
          </a:solidFill>
          <a:ln w="6350">
            <a:solidFill>
              <a:srgbClr val="C9D0D8"/>
            </a:solidFill>
            <a:prstDash val="solid"/>
          </a:ln>
        </p:spPr>
      </p:sp>
      <p:sp>
        <p:nvSpPr>
          <p:cNvPr id="106" name="Text 104"/>
          <p:cNvSpPr txBox="1"/>
          <p:nvPr/>
        </p:nvSpPr>
        <p:spPr>
          <a:xfrm>
            <a:off x="3995928" y="196596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07" name="Shape 105"/>
          <p:cNvSpPr/>
          <p:nvPr/>
        </p:nvSpPr>
        <p:spPr>
          <a:xfrm>
            <a:off x="4425696" y="3931920"/>
            <a:ext cx="411480" cy="374904"/>
          </a:xfrm>
          <a:prstGeom prst="rect">
            <a:avLst/>
          </a:prstGeom>
          <a:solidFill>
            <a:srgbClr val="E8934D"/>
          </a:solidFill>
          <a:ln w="6350">
            <a:solidFill>
              <a:srgbClr val="C9D0D8"/>
            </a:solidFill>
            <a:prstDash val="solid"/>
          </a:ln>
        </p:spPr>
      </p:sp>
      <p:sp>
        <p:nvSpPr>
          <p:cNvPr id="108" name="Text 106"/>
          <p:cNvSpPr txBox="1"/>
          <p:nvPr/>
        </p:nvSpPr>
        <p:spPr>
          <a:xfrm>
            <a:off x="4425696" y="3931920"/>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109" name="Shape 107"/>
          <p:cNvSpPr/>
          <p:nvPr/>
        </p:nvSpPr>
        <p:spPr>
          <a:xfrm>
            <a:off x="4425696" y="3538728"/>
            <a:ext cx="411480" cy="374904"/>
          </a:xfrm>
          <a:prstGeom prst="rect">
            <a:avLst/>
          </a:prstGeom>
          <a:solidFill>
            <a:srgbClr val="E8934D"/>
          </a:solidFill>
          <a:ln w="6350">
            <a:solidFill>
              <a:srgbClr val="C9D0D8"/>
            </a:solidFill>
            <a:prstDash val="solid"/>
          </a:ln>
        </p:spPr>
      </p:sp>
      <p:sp>
        <p:nvSpPr>
          <p:cNvPr id="110" name="Text 108"/>
          <p:cNvSpPr txBox="1"/>
          <p:nvPr/>
        </p:nvSpPr>
        <p:spPr>
          <a:xfrm>
            <a:off x="4425696" y="3538728"/>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111" name="Shape 109"/>
          <p:cNvSpPr/>
          <p:nvPr/>
        </p:nvSpPr>
        <p:spPr>
          <a:xfrm>
            <a:off x="4425696" y="3145536"/>
            <a:ext cx="411480" cy="374904"/>
          </a:xfrm>
          <a:prstGeom prst="rect">
            <a:avLst/>
          </a:prstGeom>
          <a:solidFill>
            <a:srgbClr val="FFFFFF"/>
          </a:solidFill>
          <a:ln w="6350">
            <a:solidFill>
              <a:srgbClr val="C9D0D8"/>
            </a:solidFill>
            <a:prstDash val="solid"/>
          </a:ln>
        </p:spPr>
      </p:sp>
      <p:sp>
        <p:nvSpPr>
          <p:cNvPr id="112" name="Text 110"/>
          <p:cNvSpPr txBox="1"/>
          <p:nvPr/>
        </p:nvSpPr>
        <p:spPr>
          <a:xfrm>
            <a:off x="4425696" y="3145536"/>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13" name="Shape 111"/>
          <p:cNvSpPr/>
          <p:nvPr/>
        </p:nvSpPr>
        <p:spPr>
          <a:xfrm>
            <a:off x="4425696" y="2752344"/>
            <a:ext cx="411480" cy="374904"/>
          </a:xfrm>
          <a:prstGeom prst="rect">
            <a:avLst/>
          </a:prstGeom>
          <a:solidFill>
            <a:srgbClr val="FFFFFF"/>
          </a:solidFill>
          <a:ln w="6350">
            <a:solidFill>
              <a:srgbClr val="C9D0D8"/>
            </a:solidFill>
            <a:prstDash val="solid"/>
          </a:ln>
        </p:spPr>
      </p:sp>
      <p:sp>
        <p:nvSpPr>
          <p:cNvPr id="114" name="Text 112"/>
          <p:cNvSpPr txBox="1"/>
          <p:nvPr/>
        </p:nvSpPr>
        <p:spPr>
          <a:xfrm>
            <a:off x="4425696" y="2752344"/>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15" name="Shape 113"/>
          <p:cNvSpPr/>
          <p:nvPr/>
        </p:nvSpPr>
        <p:spPr>
          <a:xfrm>
            <a:off x="4425696" y="2359152"/>
            <a:ext cx="411480" cy="374904"/>
          </a:xfrm>
          <a:prstGeom prst="rect">
            <a:avLst/>
          </a:prstGeom>
          <a:solidFill>
            <a:srgbClr val="FFFFFF"/>
          </a:solidFill>
          <a:ln w="6350">
            <a:solidFill>
              <a:srgbClr val="C9D0D8"/>
            </a:solidFill>
            <a:prstDash val="solid"/>
          </a:ln>
        </p:spPr>
      </p:sp>
      <p:sp>
        <p:nvSpPr>
          <p:cNvPr id="116" name="Text 114"/>
          <p:cNvSpPr txBox="1"/>
          <p:nvPr/>
        </p:nvSpPr>
        <p:spPr>
          <a:xfrm>
            <a:off x="4425696" y="2359152"/>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17" name="Shape 115"/>
          <p:cNvSpPr/>
          <p:nvPr/>
        </p:nvSpPr>
        <p:spPr>
          <a:xfrm>
            <a:off x="4425696" y="1965960"/>
            <a:ext cx="411480" cy="374904"/>
          </a:xfrm>
          <a:prstGeom prst="rect">
            <a:avLst/>
          </a:prstGeom>
          <a:solidFill>
            <a:srgbClr val="FFFFFF"/>
          </a:solidFill>
          <a:ln w="6350">
            <a:solidFill>
              <a:srgbClr val="C9D0D8"/>
            </a:solidFill>
            <a:prstDash val="solid"/>
          </a:ln>
        </p:spPr>
      </p:sp>
      <p:sp>
        <p:nvSpPr>
          <p:cNvPr id="118" name="Text 116"/>
          <p:cNvSpPr txBox="1"/>
          <p:nvPr/>
        </p:nvSpPr>
        <p:spPr>
          <a:xfrm>
            <a:off x="4425696" y="196596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19" name="Shape 117"/>
          <p:cNvSpPr/>
          <p:nvPr/>
        </p:nvSpPr>
        <p:spPr>
          <a:xfrm>
            <a:off x="4855464" y="3931920"/>
            <a:ext cx="411480" cy="374904"/>
          </a:xfrm>
          <a:prstGeom prst="rect">
            <a:avLst/>
          </a:prstGeom>
          <a:solidFill>
            <a:srgbClr val="E8934D"/>
          </a:solidFill>
          <a:ln w="6350">
            <a:solidFill>
              <a:srgbClr val="C9D0D8"/>
            </a:solidFill>
            <a:prstDash val="solid"/>
          </a:ln>
        </p:spPr>
      </p:sp>
      <p:sp>
        <p:nvSpPr>
          <p:cNvPr id="120" name="Text 118"/>
          <p:cNvSpPr txBox="1"/>
          <p:nvPr/>
        </p:nvSpPr>
        <p:spPr>
          <a:xfrm>
            <a:off x="4855464" y="3931920"/>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121" name="Shape 119"/>
          <p:cNvSpPr/>
          <p:nvPr/>
        </p:nvSpPr>
        <p:spPr>
          <a:xfrm>
            <a:off x="4855464" y="3538728"/>
            <a:ext cx="411480" cy="374904"/>
          </a:xfrm>
          <a:prstGeom prst="rect">
            <a:avLst/>
          </a:prstGeom>
          <a:solidFill>
            <a:srgbClr val="E8934D"/>
          </a:solidFill>
          <a:ln w="6350">
            <a:solidFill>
              <a:srgbClr val="C9D0D8"/>
            </a:solidFill>
            <a:prstDash val="solid"/>
          </a:ln>
        </p:spPr>
      </p:sp>
      <p:sp>
        <p:nvSpPr>
          <p:cNvPr id="122" name="Text 120"/>
          <p:cNvSpPr txBox="1"/>
          <p:nvPr/>
        </p:nvSpPr>
        <p:spPr>
          <a:xfrm>
            <a:off x="4855464" y="3538728"/>
            <a:ext cx="411480" cy="37490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a:t>
            </a:r>
            <a:endParaRPr lang="en-US" sz="1050" dirty="0"/>
          </a:p>
        </p:txBody>
      </p:sp>
      <p:sp>
        <p:nvSpPr>
          <p:cNvPr id="123" name="Shape 121"/>
          <p:cNvSpPr/>
          <p:nvPr/>
        </p:nvSpPr>
        <p:spPr>
          <a:xfrm>
            <a:off x="4855464" y="3145536"/>
            <a:ext cx="411480" cy="374904"/>
          </a:xfrm>
          <a:prstGeom prst="rect">
            <a:avLst/>
          </a:prstGeom>
          <a:solidFill>
            <a:srgbClr val="FFFFFF"/>
          </a:solidFill>
          <a:ln w="6350">
            <a:solidFill>
              <a:srgbClr val="C9D0D8"/>
            </a:solidFill>
            <a:prstDash val="solid"/>
          </a:ln>
        </p:spPr>
      </p:sp>
      <p:sp>
        <p:nvSpPr>
          <p:cNvPr id="124" name="Text 122"/>
          <p:cNvSpPr txBox="1"/>
          <p:nvPr/>
        </p:nvSpPr>
        <p:spPr>
          <a:xfrm>
            <a:off x="4855464" y="3145536"/>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25" name="Shape 123"/>
          <p:cNvSpPr/>
          <p:nvPr/>
        </p:nvSpPr>
        <p:spPr>
          <a:xfrm>
            <a:off x="4855464" y="2752344"/>
            <a:ext cx="411480" cy="374904"/>
          </a:xfrm>
          <a:prstGeom prst="rect">
            <a:avLst/>
          </a:prstGeom>
          <a:solidFill>
            <a:srgbClr val="FFFFFF"/>
          </a:solidFill>
          <a:ln w="6350">
            <a:solidFill>
              <a:srgbClr val="C9D0D8"/>
            </a:solidFill>
            <a:prstDash val="solid"/>
          </a:ln>
        </p:spPr>
      </p:sp>
      <p:sp>
        <p:nvSpPr>
          <p:cNvPr id="126" name="Text 124"/>
          <p:cNvSpPr txBox="1"/>
          <p:nvPr/>
        </p:nvSpPr>
        <p:spPr>
          <a:xfrm>
            <a:off x="4855464" y="2752344"/>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27" name="Shape 125"/>
          <p:cNvSpPr/>
          <p:nvPr/>
        </p:nvSpPr>
        <p:spPr>
          <a:xfrm>
            <a:off x="4855464" y="2359152"/>
            <a:ext cx="411480" cy="374904"/>
          </a:xfrm>
          <a:prstGeom prst="rect">
            <a:avLst/>
          </a:prstGeom>
          <a:solidFill>
            <a:srgbClr val="FFFFFF"/>
          </a:solidFill>
          <a:ln w="6350">
            <a:solidFill>
              <a:srgbClr val="C9D0D8"/>
            </a:solidFill>
            <a:prstDash val="solid"/>
          </a:ln>
        </p:spPr>
      </p:sp>
      <p:sp>
        <p:nvSpPr>
          <p:cNvPr id="128" name="Text 126"/>
          <p:cNvSpPr txBox="1"/>
          <p:nvPr/>
        </p:nvSpPr>
        <p:spPr>
          <a:xfrm>
            <a:off x="4855464" y="2359152"/>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29" name="Shape 127"/>
          <p:cNvSpPr/>
          <p:nvPr/>
        </p:nvSpPr>
        <p:spPr>
          <a:xfrm>
            <a:off x="4855464" y="1965960"/>
            <a:ext cx="411480" cy="374904"/>
          </a:xfrm>
          <a:prstGeom prst="rect">
            <a:avLst/>
          </a:prstGeom>
          <a:solidFill>
            <a:srgbClr val="FFFFFF"/>
          </a:solidFill>
          <a:ln w="6350">
            <a:solidFill>
              <a:srgbClr val="C9D0D8"/>
            </a:solidFill>
            <a:prstDash val="solid"/>
          </a:ln>
        </p:spPr>
      </p:sp>
      <p:sp>
        <p:nvSpPr>
          <p:cNvPr id="130" name="Text 128"/>
          <p:cNvSpPr txBox="1"/>
          <p:nvPr/>
        </p:nvSpPr>
        <p:spPr>
          <a:xfrm>
            <a:off x="4855464" y="196596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31" name="Shape 129"/>
          <p:cNvSpPr/>
          <p:nvPr/>
        </p:nvSpPr>
        <p:spPr>
          <a:xfrm>
            <a:off x="5285232" y="3931920"/>
            <a:ext cx="411480" cy="374904"/>
          </a:xfrm>
          <a:prstGeom prst="rect">
            <a:avLst/>
          </a:prstGeom>
          <a:solidFill>
            <a:srgbClr val="FFFFFF"/>
          </a:solidFill>
          <a:ln w="6350">
            <a:solidFill>
              <a:srgbClr val="C9D0D8"/>
            </a:solidFill>
            <a:prstDash val="solid"/>
          </a:ln>
        </p:spPr>
      </p:sp>
      <p:sp>
        <p:nvSpPr>
          <p:cNvPr id="132" name="Text 130"/>
          <p:cNvSpPr txBox="1"/>
          <p:nvPr/>
        </p:nvSpPr>
        <p:spPr>
          <a:xfrm>
            <a:off x="5285232" y="393192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33" name="Shape 131"/>
          <p:cNvSpPr/>
          <p:nvPr/>
        </p:nvSpPr>
        <p:spPr>
          <a:xfrm>
            <a:off x="5285232" y="3538728"/>
            <a:ext cx="411480" cy="374904"/>
          </a:xfrm>
          <a:prstGeom prst="rect">
            <a:avLst/>
          </a:prstGeom>
          <a:solidFill>
            <a:srgbClr val="FFFFFF"/>
          </a:solidFill>
          <a:ln w="6350">
            <a:solidFill>
              <a:srgbClr val="C9D0D8"/>
            </a:solidFill>
            <a:prstDash val="solid"/>
          </a:ln>
        </p:spPr>
      </p:sp>
      <p:sp>
        <p:nvSpPr>
          <p:cNvPr id="134" name="Text 132"/>
          <p:cNvSpPr txBox="1"/>
          <p:nvPr/>
        </p:nvSpPr>
        <p:spPr>
          <a:xfrm>
            <a:off x="5285232" y="3538728"/>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35" name="Shape 133"/>
          <p:cNvSpPr/>
          <p:nvPr/>
        </p:nvSpPr>
        <p:spPr>
          <a:xfrm>
            <a:off x="5285232" y="3145536"/>
            <a:ext cx="411480" cy="374904"/>
          </a:xfrm>
          <a:prstGeom prst="rect">
            <a:avLst/>
          </a:prstGeom>
          <a:solidFill>
            <a:srgbClr val="FFFFFF"/>
          </a:solidFill>
          <a:ln w="6350">
            <a:solidFill>
              <a:srgbClr val="C9D0D8"/>
            </a:solidFill>
            <a:prstDash val="solid"/>
          </a:ln>
        </p:spPr>
      </p:sp>
      <p:sp>
        <p:nvSpPr>
          <p:cNvPr id="136" name="Text 134"/>
          <p:cNvSpPr txBox="1"/>
          <p:nvPr/>
        </p:nvSpPr>
        <p:spPr>
          <a:xfrm>
            <a:off x="5285232" y="3145536"/>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37" name="Shape 135"/>
          <p:cNvSpPr/>
          <p:nvPr/>
        </p:nvSpPr>
        <p:spPr>
          <a:xfrm>
            <a:off x="5285232" y="2752344"/>
            <a:ext cx="411480" cy="374904"/>
          </a:xfrm>
          <a:prstGeom prst="rect">
            <a:avLst/>
          </a:prstGeom>
          <a:solidFill>
            <a:srgbClr val="FFFFFF"/>
          </a:solidFill>
          <a:ln w="6350">
            <a:solidFill>
              <a:srgbClr val="C9D0D8"/>
            </a:solidFill>
            <a:prstDash val="solid"/>
          </a:ln>
        </p:spPr>
      </p:sp>
      <p:sp>
        <p:nvSpPr>
          <p:cNvPr id="138" name="Text 136"/>
          <p:cNvSpPr txBox="1"/>
          <p:nvPr/>
        </p:nvSpPr>
        <p:spPr>
          <a:xfrm>
            <a:off x="5285232" y="2752344"/>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39" name="Shape 137"/>
          <p:cNvSpPr/>
          <p:nvPr/>
        </p:nvSpPr>
        <p:spPr>
          <a:xfrm>
            <a:off x="5285232" y="2359152"/>
            <a:ext cx="411480" cy="374904"/>
          </a:xfrm>
          <a:prstGeom prst="rect">
            <a:avLst/>
          </a:prstGeom>
          <a:solidFill>
            <a:srgbClr val="FFFFFF"/>
          </a:solidFill>
          <a:ln w="6350">
            <a:solidFill>
              <a:srgbClr val="C9D0D8"/>
            </a:solidFill>
            <a:prstDash val="solid"/>
          </a:ln>
        </p:spPr>
      </p:sp>
      <p:sp>
        <p:nvSpPr>
          <p:cNvPr id="140" name="Text 138"/>
          <p:cNvSpPr txBox="1"/>
          <p:nvPr/>
        </p:nvSpPr>
        <p:spPr>
          <a:xfrm>
            <a:off x="5285232" y="2359152"/>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41" name="Shape 139"/>
          <p:cNvSpPr/>
          <p:nvPr/>
        </p:nvSpPr>
        <p:spPr>
          <a:xfrm>
            <a:off x="5285232" y="1965960"/>
            <a:ext cx="411480" cy="374904"/>
          </a:xfrm>
          <a:prstGeom prst="rect">
            <a:avLst/>
          </a:prstGeom>
          <a:solidFill>
            <a:srgbClr val="FFFFFF"/>
          </a:solidFill>
          <a:ln w="6350">
            <a:solidFill>
              <a:srgbClr val="C9D0D8"/>
            </a:solidFill>
            <a:prstDash val="solid"/>
          </a:ln>
        </p:spPr>
      </p:sp>
      <p:sp>
        <p:nvSpPr>
          <p:cNvPr id="142" name="Text 140"/>
          <p:cNvSpPr txBox="1"/>
          <p:nvPr/>
        </p:nvSpPr>
        <p:spPr>
          <a:xfrm>
            <a:off x="5285232" y="196596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43" name="Shape 141"/>
          <p:cNvSpPr/>
          <p:nvPr/>
        </p:nvSpPr>
        <p:spPr>
          <a:xfrm>
            <a:off x="5715000" y="3931920"/>
            <a:ext cx="411480" cy="374904"/>
          </a:xfrm>
          <a:prstGeom prst="rect">
            <a:avLst/>
          </a:prstGeom>
          <a:solidFill>
            <a:srgbClr val="FFFFFF"/>
          </a:solidFill>
          <a:ln w="6350">
            <a:solidFill>
              <a:srgbClr val="C9D0D8"/>
            </a:solidFill>
            <a:prstDash val="solid"/>
          </a:ln>
        </p:spPr>
      </p:sp>
      <p:sp>
        <p:nvSpPr>
          <p:cNvPr id="144" name="Text 142"/>
          <p:cNvSpPr txBox="1"/>
          <p:nvPr/>
        </p:nvSpPr>
        <p:spPr>
          <a:xfrm>
            <a:off x="5715000" y="393192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45" name="Shape 143"/>
          <p:cNvSpPr/>
          <p:nvPr/>
        </p:nvSpPr>
        <p:spPr>
          <a:xfrm>
            <a:off x="5715000" y="3538728"/>
            <a:ext cx="411480" cy="374904"/>
          </a:xfrm>
          <a:prstGeom prst="rect">
            <a:avLst/>
          </a:prstGeom>
          <a:solidFill>
            <a:srgbClr val="FFFFFF"/>
          </a:solidFill>
          <a:ln w="6350">
            <a:solidFill>
              <a:srgbClr val="C9D0D8"/>
            </a:solidFill>
            <a:prstDash val="solid"/>
          </a:ln>
        </p:spPr>
      </p:sp>
      <p:sp>
        <p:nvSpPr>
          <p:cNvPr id="146" name="Text 144"/>
          <p:cNvSpPr txBox="1"/>
          <p:nvPr/>
        </p:nvSpPr>
        <p:spPr>
          <a:xfrm>
            <a:off x="5715000" y="3538728"/>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47" name="Shape 145"/>
          <p:cNvSpPr/>
          <p:nvPr/>
        </p:nvSpPr>
        <p:spPr>
          <a:xfrm>
            <a:off x="5715000" y="3145536"/>
            <a:ext cx="411480" cy="374904"/>
          </a:xfrm>
          <a:prstGeom prst="rect">
            <a:avLst/>
          </a:prstGeom>
          <a:solidFill>
            <a:srgbClr val="FFFFFF"/>
          </a:solidFill>
          <a:ln w="6350">
            <a:solidFill>
              <a:srgbClr val="C9D0D8"/>
            </a:solidFill>
            <a:prstDash val="solid"/>
          </a:ln>
        </p:spPr>
      </p:sp>
      <p:sp>
        <p:nvSpPr>
          <p:cNvPr id="148" name="Text 146"/>
          <p:cNvSpPr txBox="1"/>
          <p:nvPr/>
        </p:nvSpPr>
        <p:spPr>
          <a:xfrm>
            <a:off x="5715000" y="3145536"/>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49" name="Shape 147"/>
          <p:cNvSpPr/>
          <p:nvPr/>
        </p:nvSpPr>
        <p:spPr>
          <a:xfrm>
            <a:off x="5715000" y="2752344"/>
            <a:ext cx="411480" cy="374904"/>
          </a:xfrm>
          <a:prstGeom prst="rect">
            <a:avLst/>
          </a:prstGeom>
          <a:solidFill>
            <a:srgbClr val="FFFFFF"/>
          </a:solidFill>
          <a:ln w="6350">
            <a:solidFill>
              <a:srgbClr val="C9D0D8"/>
            </a:solidFill>
            <a:prstDash val="solid"/>
          </a:ln>
        </p:spPr>
      </p:sp>
      <p:sp>
        <p:nvSpPr>
          <p:cNvPr id="150" name="Text 148"/>
          <p:cNvSpPr txBox="1"/>
          <p:nvPr/>
        </p:nvSpPr>
        <p:spPr>
          <a:xfrm>
            <a:off x="5715000" y="2752344"/>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51" name="Shape 149"/>
          <p:cNvSpPr/>
          <p:nvPr/>
        </p:nvSpPr>
        <p:spPr>
          <a:xfrm>
            <a:off x="5715000" y="2359152"/>
            <a:ext cx="411480" cy="374904"/>
          </a:xfrm>
          <a:prstGeom prst="rect">
            <a:avLst/>
          </a:prstGeom>
          <a:solidFill>
            <a:srgbClr val="FFFFFF"/>
          </a:solidFill>
          <a:ln w="6350">
            <a:solidFill>
              <a:srgbClr val="C9D0D8"/>
            </a:solidFill>
            <a:prstDash val="solid"/>
          </a:ln>
        </p:spPr>
      </p:sp>
      <p:sp>
        <p:nvSpPr>
          <p:cNvPr id="152" name="Text 150"/>
          <p:cNvSpPr txBox="1"/>
          <p:nvPr/>
        </p:nvSpPr>
        <p:spPr>
          <a:xfrm>
            <a:off x="5715000" y="2359152"/>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53" name="Shape 151"/>
          <p:cNvSpPr/>
          <p:nvPr/>
        </p:nvSpPr>
        <p:spPr>
          <a:xfrm>
            <a:off x="5715000" y="1965960"/>
            <a:ext cx="411480" cy="374904"/>
          </a:xfrm>
          <a:prstGeom prst="rect">
            <a:avLst/>
          </a:prstGeom>
          <a:solidFill>
            <a:srgbClr val="FFFFFF"/>
          </a:solidFill>
          <a:ln w="6350">
            <a:solidFill>
              <a:srgbClr val="C9D0D8"/>
            </a:solidFill>
            <a:prstDash val="solid"/>
          </a:ln>
        </p:spPr>
      </p:sp>
      <p:sp>
        <p:nvSpPr>
          <p:cNvPr id="154" name="Text 152"/>
          <p:cNvSpPr txBox="1"/>
          <p:nvPr/>
        </p:nvSpPr>
        <p:spPr>
          <a:xfrm>
            <a:off x="5715000" y="196596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55" name="Shape 153"/>
          <p:cNvSpPr/>
          <p:nvPr/>
        </p:nvSpPr>
        <p:spPr>
          <a:xfrm>
            <a:off x="6144768" y="3931920"/>
            <a:ext cx="411480" cy="374904"/>
          </a:xfrm>
          <a:prstGeom prst="rect">
            <a:avLst/>
          </a:prstGeom>
          <a:solidFill>
            <a:srgbClr val="FFFFFF"/>
          </a:solidFill>
          <a:ln w="6350">
            <a:solidFill>
              <a:srgbClr val="C9D0D8"/>
            </a:solidFill>
            <a:prstDash val="solid"/>
          </a:ln>
        </p:spPr>
      </p:sp>
      <p:sp>
        <p:nvSpPr>
          <p:cNvPr id="156" name="Text 154"/>
          <p:cNvSpPr txBox="1"/>
          <p:nvPr/>
        </p:nvSpPr>
        <p:spPr>
          <a:xfrm>
            <a:off x="6144768" y="393192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57" name="Shape 155"/>
          <p:cNvSpPr/>
          <p:nvPr/>
        </p:nvSpPr>
        <p:spPr>
          <a:xfrm>
            <a:off x="6144768" y="3538728"/>
            <a:ext cx="411480" cy="374904"/>
          </a:xfrm>
          <a:prstGeom prst="rect">
            <a:avLst/>
          </a:prstGeom>
          <a:solidFill>
            <a:srgbClr val="FFFFFF"/>
          </a:solidFill>
          <a:ln w="6350">
            <a:solidFill>
              <a:srgbClr val="C9D0D8"/>
            </a:solidFill>
            <a:prstDash val="solid"/>
          </a:ln>
        </p:spPr>
      </p:sp>
      <p:sp>
        <p:nvSpPr>
          <p:cNvPr id="158" name="Text 156"/>
          <p:cNvSpPr txBox="1"/>
          <p:nvPr/>
        </p:nvSpPr>
        <p:spPr>
          <a:xfrm>
            <a:off x="6144768" y="3538728"/>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59" name="Shape 157"/>
          <p:cNvSpPr/>
          <p:nvPr/>
        </p:nvSpPr>
        <p:spPr>
          <a:xfrm>
            <a:off x="6144768" y="3145536"/>
            <a:ext cx="411480" cy="374904"/>
          </a:xfrm>
          <a:prstGeom prst="rect">
            <a:avLst/>
          </a:prstGeom>
          <a:solidFill>
            <a:srgbClr val="FFFFFF"/>
          </a:solidFill>
          <a:ln w="6350">
            <a:solidFill>
              <a:srgbClr val="C9D0D8"/>
            </a:solidFill>
            <a:prstDash val="solid"/>
          </a:ln>
        </p:spPr>
      </p:sp>
      <p:sp>
        <p:nvSpPr>
          <p:cNvPr id="160" name="Text 158"/>
          <p:cNvSpPr txBox="1"/>
          <p:nvPr/>
        </p:nvSpPr>
        <p:spPr>
          <a:xfrm>
            <a:off x="6144768" y="3145536"/>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61" name="Shape 159"/>
          <p:cNvSpPr/>
          <p:nvPr/>
        </p:nvSpPr>
        <p:spPr>
          <a:xfrm>
            <a:off x="6144768" y="2752344"/>
            <a:ext cx="411480" cy="374904"/>
          </a:xfrm>
          <a:prstGeom prst="rect">
            <a:avLst/>
          </a:prstGeom>
          <a:solidFill>
            <a:srgbClr val="FFFFFF"/>
          </a:solidFill>
          <a:ln w="6350">
            <a:solidFill>
              <a:srgbClr val="C9D0D8"/>
            </a:solidFill>
            <a:prstDash val="solid"/>
          </a:ln>
        </p:spPr>
      </p:sp>
      <p:sp>
        <p:nvSpPr>
          <p:cNvPr id="162" name="Text 160"/>
          <p:cNvSpPr txBox="1"/>
          <p:nvPr/>
        </p:nvSpPr>
        <p:spPr>
          <a:xfrm>
            <a:off x="6144768" y="2752344"/>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63" name="Shape 161"/>
          <p:cNvSpPr/>
          <p:nvPr/>
        </p:nvSpPr>
        <p:spPr>
          <a:xfrm>
            <a:off x="6144768" y="2359152"/>
            <a:ext cx="411480" cy="374904"/>
          </a:xfrm>
          <a:prstGeom prst="rect">
            <a:avLst/>
          </a:prstGeom>
          <a:solidFill>
            <a:srgbClr val="FFFFFF"/>
          </a:solidFill>
          <a:ln w="6350">
            <a:solidFill>
              <a:srgbClr val="C9D0D8"/>
            </a:solidFill>
            <a:prstDash val="solid"/>
          </a:ln>
        </p:spPr>
      </p:sp>
      <p:sp>
        <p:nvSpPr>
          <p:cNvPr id="164" name="Text 162"/>
          <p:cNvSpPr txBox="1"/>
          <p:nvPr/>
        </p:nvSpPr>
        <p:spPr>
          <a:xfrm>
            <a:off x="6144768" y="2359152"/>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65" name="Shape 163"/>
          <p:cNvSpPr/>
          <p:nvPr/>
        </p:nvSpPr>
        <p:spPr>
          <a:xfrm>
            <a:off x="6144768" y="1965960"/>
            <a:ext cx="411480" cy="374904"/>
          </a:xfrm>
          <a:prstGeom prst="rect">
            <a:avLst/>
          </a:prstGeom>
          <a:solidFill>
            <a:srgbClr val="FFFFFF"/>
          </a:solidFill>
          <a:ln w="6350">
            <a:solidFill>
              <a:srgbClr val="C9D0D8"/>
            </a:solidFill>
            <a:prstDash val="solid"/>
          </a:ln>
        </p:spPr>
      </p:sp>
      <p:sp>
        <p:nvSpPr>
          <p:cNvPr id="166" name="Text 164"/>
          <p:cNvSpPr txBox="1"/>
          <p:nvPr/>
        </p:nvSpPr>
        <p:spPr>
          <a:xfrm>
            <a:off x="6144768" y="1965960"/>
            <a:ext cx="411480" cy="374904"/>
          </a:xfrm>
          <a:prstGeom prst="rect">
            <a:avLst/>
          </a:prstGeom>
          <a:noFill/>
          <a:ln/>
        </p:spPr>
        <p:txBody>
          <a:bodyPr wrap="square" lIns="0" tIns="0" rIns="0" bIns="0" rtlCol="0" anchor="ctr"/>
          <a:lstStyle/>
          <a:p>
            <a:pPr algn="ctr" indent="0" marL="0">
              <a:buNone/>
            </a:pPr>
            <a:r>
              <a:rPr lang="en-US" sz="1050" dirty="0">
                <a:solidFill>
                  <a:srgbClr val="AEB4BC"/>
                </a:solidFill>
                <a:latin typeface="Yu Gothic" pitchFamily="34" charset="0"/>
                <a:ea typeface="Yu Gothic" pitchFamily="34" charset="-122"/>
                <a:cs typeface="Yu Gothic" pitchFamily="34" charset="-120"/>
              </a:rPr>
              <a:t>0</a:t>
            </a:r>
            <a:endParaRPr lang="en-US" sz="1050" dirty="0"/>
          </a:p>
        </p:txBody>
      </p:sp>
      <p:sp>
        <p:nvSpPr>
          <p:cNvPr id="167" name="Shape 165"/>
          <p:cNvSpPr/>
          <p:nvPr/>
        </p:nvSpPr>
        <p:spPr>
          <a:xfrm>
            <a:off x="1847088" y="3986140"/>
            <a:ext cx="411480" cy="91"/>
          </a:xfrm>
          <a:prstGeom prst="line">
            <a:avLst/>
          </a:prstGeom>
          <a:noFill/>
          <a:ln w="25400">
            <a:solidFill>
              <a:srgbClr val="1B2A44"/>
            </a:solidFill>
            <a:prstDash val="solid"/>
          </a:ln>
        </p:spPr>
      </p:sp>
      <p:sp>
        <p:nvSpPr>
          <p:cNvPr id="168" name="Shape 166"/>
          <p:cNvSpPr/>
          <p:nvPr/>
        </p:nvSpPr>
        <p:spPr>
          <a:xfrm>
            <a:off x="2276856" y="3936826"/>
            <a:ext cx="411480" cy="91"/>
          </a:xfrm>
          <a:prstGeom prst="line">
            <a:avLst/>
          </a:prstGeom>
          <a:noFill/>
          <a:ln w="25400">
            <a:solidFill>
              <a:srgbClr val="1B2A44"/>
            </a:solidFill>
            <a:prstDash val="solid"/>
          </a:ln>
        </p:spPr>
      </p:sp>
      <p:sp>
        <p:nvSpPr>
          <p:cNvPr id="169" name="Shape 167"/>
          <p:cNvSpPr/>
          <p:nvPr/>
        </p:nvSpPr>
        <p:spPr>
          <a:xfrm>
            <a:off x="2706624" y="3657865"/>
            <a:ext cx="411480" cy="91"/>
          </a:xfrm>
          <a:prstGeom prst="line">
            <a:avLst/>
          </a:prstGeom>
          <a:noFill/>
          <a:ln w="25400">
            <a:solidFill>
              <a:srgbClr val="1B2A44"/>
            </a:solidFill>
            <a:prstDash val="solid"/>
          </a:ln>
        </p:spPr>
      </p:sp>
      <p:sp>
        <p:nvSpPr>
          <p:cNvPr id="170" name="Shape 168"/>
          <p:cNvSpPr/>
          <p:nvPr/>
        </p:nvSpPr>
        <p:spPr>
          <a:xfrm>
            <a:off x="3136392" y="3564919"/>
            <a:ext cx="411480" cy="91"/>
          </a:xfrm>
          <a:prstGeom prst="line">
            <a:avLst/>
          </a:prstGeom>
          <a:noFill/>
          <a:ln w="25400">
            <a:solidFill>
              <a:srgbClr val="1B2A44"/>
            </a:solidFill>
            <a:prstDash val="solid"/>
          </a:ln>
        </p:spPr>
      </p:sp>
      <p:sp>
        <p:nvSpPr>
          <p:cNvPr id="171" name="Shape 169"/>
          <p:cNvSpPr/>
          <p:nvPr/>
        </p:nvSpPr>
        <p:spPr>
          <a:xfrm>
            <a:off x="3566160" y="3519147"/>
            <a:ext cx="411480" cy="91"/>
          </a:xfrm>
          <a:prstGeom prst="line">
            <a:avLst/>
          </a:prstGeom>
          <a:noFill/>
          <a:ln w="25400">
            <a:solidFill>
              <a:srgbClr val="1B2A44"/>
            </a:solidFill>
            <a:prstDash val="solid"/>
          </a:ln>
        </p:spPr>
      </p:sp>
      <p:sp>
        <p:nvSpPr>
          <p:cNvPr id="172" name="Shape 170"/>
          <p:cNvSpPr/>
          <p:nvPr/>
        </p:nvSpPr>
        <p:spPr>
          <a:xfrm>
            <a:off x="3995928" y="3519147"/>
            <a:ext cx="411480" cy="91"/>
          </a:xfrm>
          <a:prstGeom prst="line">
            <a:avLst/>
          </a:prstGeom>
          <a:noFill/>
          <a:ln w="25400">
            <a:solidFill>
              <a:srgbClr val="1B2A44"/>
            </a:solidFill>
            <a:prstDash val="solid"/>
          </a:ln>
        </p:spPr>
      </p:sp>
      <p:sp>
        <p:nvSpPr>
          <p:cNvPr id="173" name="Shape 171"/>
          <p:cNvSpPr/>
          <p:nvPr/>
        </p:nvSpPr>
        <p:spPr>
          <a:xfrm>
            <a:off x="4425696" y="3564919"/>
            <a:ext cx="411480" cy="91"/>
          </a:xfrm>
          <a:prstGeom prst="line">
            <a:avLst/>
          </a:prstGeom>
          <a:noFill/>
          <a:ln w="25400">
            <a:solidFill>
              <a:srgbClr val="1B2A44"/>
            </a:solidFill>
            <a:prstDash val="solid"/>
          </a:ln>
        </p:spPr>
      </p:sp>
      <p:sp>
        <p:nvSpPr>
          <p:cNvPr id="174" name="Shape 172"/>
          <p:cNvSpPr/>
          <p:nvPr/>
        </p:nvSpPr>
        <p:spPr>
          <a:xfrm>
            <a:off x="4855464" y="3657865"/>
            <a:ext cx="411480" cy="91"/>
          </a:xfrm>
          <a:prstGeom prst="line">
            <a:avLst/>
          </a:prstGeom>
          <a:noFill/>
          <a:ln w="25400">
            <a:solidFill>
              <a:srgbClr val="1B2A44"/>
            </a:solidFill>
            <a:prstDash val="solid"/>
          </a:ln>
        </p:spPr>
      </p:sp>
      <p:sp>
        <p:nvSpPr>
          <p:cNvPr id="175" name="Text 173"/>
          <p:cNvSpPr txBox="1"/>
          <p:nvPr/>
        </p:nvSpPr>
        <p:spPr>
          <a:xfrm>
            <a:off x="548640" y="3931920"/>
            <a:ext cx="822960" cy="393192"/>
          </a:xfrm>
          <a:prstGeom prst="rect">
            <a:avLst/>
          </a:prstGeom>
          <a:noFill/>
          <a:ln/>
        </p:spPr>
        <p:txBody>
          <a:bodyPr wrap="square" lIns="508" tIns="508" rIns="508" bIns="508"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0〜15°</a:t>
            </a:r>
            <a:endParaRPr lang="en-US" sz="850" dirty="0"/>
          </a:p>
        </p:txBody>
      </p:sp>
      <p:sp>
        <p:nvSpPr>
          <p:cNvPr id="176" name="Text 174"/>
          <p:cNvSpPr txBox="1"/>
          <p:nvPr/>
        </p:nvSpPr>
        <p:spPr>
          <a:xfrm>
            <a:off x="548640" y="3538728"/>
            <a:ext cx="822960" cy="393192"/>
          </a:xfrm>
          <a:prstGeom prst="rect">
            <a:avLst/>
          </a:prstGeom>
          <a:noFill/>
          <a:ln/>
        </p:spPr>
        <p:txBody>
          <a:bodyPr wrap="square" lIns="508" tIns="508" rIns="508" bIns="508"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15〜30°</a:t>
            </a:r>
            <a:endParaRPr lang="en-US" sz="850" dirty="0"/>
          </a:p>
        </p:txBody>
      </p:sp>
      <p:sp>
        <p:nvSpPr>
          <p:cNvPr id="177" name="Text 175"/>
          <p:cNvSpPr txBox="1"/>
          <p:nvPr/>
        </p:nvSpPr>
        <p:spPr>
          <a:xfrm>
            <a:off x="548640" y="3145536"/>
            <a:ext cx="822960" cy="393192"/>
          </a:xfrm>
          <a:prstGeom prst="rect">
            <a:avLst/>
          </a:prstGeom>
          <a:noFill/>
          <a:ln/>
        </p:spPr>
        <p:txBody>
          <a:bodyPr wrap="square" lIns="508" tIns="508" rIns="508" bIns="508"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30〜45°</a:t>
            </a:r>
            <a:endParaRPr lang="en-US" sz="850" dirty="0"/>
          </a:p>
        </p:txBody>
      </p:sp>
      <p:sp>
        <p:nvSpPr>
          <p:cNvPr id="178" name="Text 176"/>
          <p:cNvSpPr txBox="1"/>
          <p:nvPr/>
        </p:nvSpPr>
        <p:spPr>
          <a:xfrm>
            <a:off x="548640" y="2752344"/>
            <a:ext cx="822960" cy="393192"/>
          </a:xfrm>
          <a:prstGeom prst="rect">
            <a:avLst/>
          </a:prstGeom>
          <a:noFill/>
          <a:ln/>
        </p:spPr>
        <p:txBody>
          <a:bodyPr wrap="square" lIns="508" tIns="508" rIns="508" bIns="508"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45〜60°</a:t>
            </a:r>
            <a:endParaRPr lang="en-US" sz="850" dirty="0"/>
          </a:p>
        </p:txBody>
      </p:sp>
      <p:sp>
        <p:nvSpPr>
          <p:cNvPr id="179" name="Text 177"/>
          <p:cNvSpPr txBox="1"/>
          <p:nvPr/>
        </p:nvSpPr>
        <p:spPr>
          <a:xfrm>
            <a:off x="548640" y="2359152"/>
            <a:ext cx="822960" cy="393192"/>
          </a:xfrm>
          <a:prstGeom prst="rect">
            <a:avLst/>
          </a:prstGeom>
          <a:noFill/>
          <a:ln/>
        </p:spPr>
        <p:txBody>
          <a:bodyPr wrap="square" lIns="508" tIns="508" rIns="508" bIns="508"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60〜75°</a:t>
            </a:r>
            <a:endParaRPr lang="en-US" sz="850" dirty="0"/>
          </a:p>
        </p:txBody>
      </p:sp>
      <p:sp>
        <p:nvSpPr>
          <p:cNvPr id="180" name="Text 178"/>
          <p:cNvSpPr txBox="1"/>
          <p:nvPr/>
        </p:nvSpPr>
        <p:spPr>
          <a:xfrm>
            <a:off x="548640" y="1965960"/>
            <a:ext cx="822960" cy="393192"/>
          </a:xfrm>
          <a:prstGeom prst="rect">
            <a:avLst/>
          </a:prstGeom>
          <a:noFill/>
          <a:ln/>
        </p:spPr>
        <p:txBody>
          <a:bodyPr wrap="square" lIns="508" tIns="508" rIns="508" bIns="508"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75〜90°</a:t>
            </a:r>
            <a:endParaRPr lang="en-US" sz="850" dirty="0"/>
          </a:p>
        </p:txBody>
      </p:sp>
      <p:sp>
        <p:nvSpPr>
          <p:cNvPr id="181" name="Text 179"/>
          <p:cNvSpPr txBox="1"/>
          <p:nvPr/>
        </p:nvSpPr>
        <p:spPr>
          <a:xfrm>
            <a:off x="1417320" y="4343400"/>
            <a:ext cx="429768"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1</a:t>
            </a:r>
            <a:endParaRPr lang="en-US" sz="850" dirty="0"/>
          </a:p>
        </p:txBody>
      </p:sp>
      <p:sp>
        <p:nvSpPr>
          <p:cNvPr id="182" name="Shape 180"/>
          <p:cNvSpPr/>
          <p:nvPr/>
        </p:nvSpPr>
        <p:spPr>
          <a:xfrm>
            <a:off x="1417320" y="4581144"/>
            <a:ext cx="411480" cy="274320"/>
          </a:xfrm>
          <a:prstGeom prst="rect">
            <a:avLst/>
          </a:prstGeom>
          <a:solidFill>
            <a:srgbClr val="FFFFFF"/>
          </a:solidFill>
          <a:ln w="6350">
            <a:solidFill>
              <a:srgbClr val="D5DAE1"/>
            </a:solidFill>
            <a:prstDash val="solid"/>
          </a:ln>
        </p:spPr>
      </p:sp>
      <p:sp>
        <p:nvSpPr>
          <p:cNvPr id="183" name="Text 181"/>
          <p:cNvSpPr txBox="1"/>
          <p:nvPr/>
        </p:nvSpPr>
        <p:spPr>
          <a:xfrm>
            <a:off x="1417320" y="4581144"/>
            <a:ext cx="411480" cy="274320"/>
          </a:xfrm>
          <a:prstGeom prst="rect">
            <a:avLst/>
          </a:prstGeom>
          <a:noFill/>
          <a:ln/>
        </p:spPr>
        <p:txBody>
          <a:bodyPr wrap="square" lIns="0" tIns="0" rIns="0" bIns="0" rtlCol="0" anchor="ctr"/>
          <a:lstStyle/>
          <a:p>
            <a:pPr algn="ctr" indent="0" marL="0">
              <a:buNone/>
            </a:pPr>
            <a:r>
              <a:rPr lang="en-US" sz="1050" b="1" dirty="0">
                <a:solidFill>
                  <a:srgbClr val="AEB4BC"/>
                </a:solidFill>
                <a:latin typeface="Yu Gothic" pitchFamily="34" charset="0"/>
                <a:ea typeface="Yu Gothic" pitchFamily="34" charset="-122"/>
                <a:cs typeface="Yu Gothic" pitchFamily="34" charset="-120"/>
              </a:rPr>
              <a:t>0</a:t>
            </a:r>
            <a:endParaRPr lang="en-US" sz="1050" dirty="0"/>
          </a:p>
        </p:txBody>
      </p:sp>
      <p:sp>
        <p:nvSpPr>
          <p:cNvPr id="184" name="Text 182"/>
          <p:cNvSpPr txBox="1"/>
          <p:nvPr/>
        </p:nvSpPr>
        <p:spPr>
          <a:xfrm>
            <a:off x="1847088" y="4343400"/>
            <a:ext cx="429768"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2</a:t>
            </a:r>
            <a:endParaRPr lang="en-US" sz="850" dirty="0"/>
          </a:p>
        </p:txBody>
      </p:sp>
      <p:sp>
        <p:nvSpPr>
          <p:cNvPr id="185" name="Shape 183"/>
          <p:cNvSpPr/>
          <p:nvPr/>
        </p:nvSpPr>
        <p:spPr>
          <a:xfrm>
            <a:off x="1847088" y="4581144"/>
            <a:ext cx="411480" cy="274320"/>
          </a:xfrm>
          <a:prstGeom prst="rect">
            <a:avLst/>
          </a:prstGeom>
          <a:solidFill>
            <a:srgbClr val="FBEBDA"/>
          </a:solidFill>
          <a:ln w="6350">
            <a:solidFill>
              <a:srgbClr val="D5DAE1"/>
            </a:solidFill>
            <a:prstDash val="solid"/>
          </a:ln>
        </p:spPr>
      </p:sp>
      <p:sp>
        <p:nvSpPr>
          <p:cNvPr id="186" name="Text 184"/>
          <p:cNvSpPr txBox="1"/>
          <p:nvPr/>
        </p:nvSpPr>
        <p:spPr>
          <a:xfrm>
            <a:off x="1847088" y="4581144"/>
            <a:ext cx="411480" cy="274320"/>
          </a:xfrm>
          <a:prstGeom prst="rect">
            <a:avLst/>
          </a:prstGeom>
          <a:noFill/>
          <a:ln/>
        </p:spPr>
        <p:txBody>
          <a:bodyPr wrap="square" lIns="0" tIns="0" rIns="0" bIns="0" rtlCol="0" anchor="ctr"/>
          <a:lstStyle/>
          <a:p>
            <a:pPr algn="ctr" indent="0" marL="0">
              <a:buNone/>
            </a:pPr>
            <a:r>
              <a:rPr lang="en-US" sz="1050" b="1" dirty="0">
                <a:solidFill>
                  <a:srgbClr val="C56A2C"/>
                </a:solidFill>
                <a:latin typeface="Yu Gothic" pitchFamily="34" charset="0"/>
                <a:ea typeface="Yu Gothic" pitchFamily="34" charset="-122"/>
                <a:cs typeface="Yu Gothic" pitchFamily="34" charset="-120"/>
              </a:rPr>
              <a:t>1</a:t>
            </a:r>
            <a:endParaRPr lang="en-US" sz="1050" dirty="0"/>
          </a:p>
        </p:txBody>
      </p:sp>
      <p:sp>
        <p:nvSpPr>
          <p:cNvPr id="187" name="Text 185"/>
          <p:cNvSpPr txBox="1"/>
          <p:nvPr/>
        </p:nvSpPr>
        <p:spPr>
          <a:xfrm>
            <a:off x="2276856" y="4343400"/>
            <a:ext cx="429768"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3</a:t>
            </a:r>
            <a:endParaRPr lang="en-US" sz="850" dirty="0"/>
          </a:p>
        </p:txBody>
      </p:sp>
      <p:sp>
        <p:nvSpPr>
          <p:cNvPr id="188" name="Shape 186"/>
          <p:cNvSpPr/>
          <p:nvPr/>
        </p:nvSpPr>
        <p:spPr>
          <a:xfrm>
            <a:off x="2276856" y="4581144"/>
            <a:ext cx="411480" cy="274320"/>
          </a:xfrm>
          <a:prstGeom prst="rect">
            <a:avLst/>
          </a:prstGeom>
          <a:solidFill>
            <a:srgbClr val="FBEBDA"/>
          </a:solidFill>
          <a:ln w="6350">
            <a:solidFill>
              <a:srgbClr val="D5DAE1"/>
            </a:solidFill>
            <a:prstDash val="solid"/>
          </a:ln>
        </p:spPr>
      </p:sp>
      <p:sp>
        <p:nvSpPr>
          <p:cNvPr id="189" name="Text 187"/>
          <p:cNvSpPr txBox="1"/>
          <p:nvPr/>
        </p:nvSpPr>
        <p:spPr>
          <a:xfrm>
            <a:off x="2276856" y="4581144"/>
            <a:ext cx="411480" cy="274320"/>
          </a:xfrm>
          <a:prstGeom prst="rect">
            <a:avLst/>
          </a:prstGeom>
          <a:noFill/>
          <a:ln/>
        </p:spPr>
        <p:txBody>
          <a:bodyPr wrap="square" lIns="0" tIns="0" rIns="0" bIns="0" rtlCol="0" anchor="ctr"/>
          <a:lstStyle/>
          <a:p>
            <a:pPr algn="ctr" indent="0" marL="0">
              <a:buNone/>
            </a:pPr>
            <a:r>
              <a:rPr lang="en-US" sz="1050" b="1" dirty="0">
                <a:solidFill>
                  <a:srgbClr val="C56A2C"/>
                </a:solidFill>
                <a:latin typeface="Yu Gothic" pitchFamily="34" charset="0"/>
                <a:ea typeface="Yu Gothic" pitchFamily="34" charset="-122"/>
                <a:cs typeface="Yu Gothic" pitchFamily="34" charset="-120"/>
              </a:rPr>
              <a:t>1</a:t>
            </a:r>
            <a:endParaRPr lang="en-US" sz="1050" dirty="0"/>
          </a:p>
        </p:txBody>
      </p:sp>
      <p:sp>
        <p:nvSpPr>
          <p:cNvPr id="190" name="Text 188"/>
          <p:cNvSpPr txBox="1"/>
          <p:nvPr/>
        </p:nvSpPr>
        <p:spPr>
          <a:xfrm>
            <a:off x="2706624" y="4343400"/>
            <a:ext cx="429768"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4</a:t>
            </a:r>
            <a:endParaRPr lang="en-US" sz="850" dirty="0"/>
          </a:p>
        </p:txBody>
      </p:sp>
      <p:sp>
        <p:nvSpPr>
          <p:cNvPr id="191" name="Shape 189"/>
          <p:cNvSpPr/>
          <p:nvPr/>
        </p:nvSpPr>
        <p:spPr>
          <a:xfrm>
            <a:off x="2706624" y="4581144"/>
            <a:ext cx="411480" cy="274320"/>
          </a:xfrm>
          <a:prstGeom prst="rect">
            <a:avLst/>
          </a:prstGeom>
          <a:solidFill>
            <a:srgbClr val="FBEBDA"/>
          </a:solidFill>
          <a:ln w="6350">
            <a:solidFill>
              <a:srgbClr val="D5DAE1"/>
            </a:solidFill>
            <a:prstDash val="solid"/>
          </a:ln>
        </p:spPr>
      </p:sp>
      <p:sp>
        <p:nvSpPr>
          <p:cNvPr id="192" name="Text 190"/>
          <p:cNvSpPr txBox="1"/>
          <p:nvPr/>
        </p:nvSpPr>
        <p:spPr>
          <a:xfrm>
            <a:off x="2706624" y="4581144"/>
            <a:ext cx="411480" cy="274320"/>
          </a:xfrm>
          <a:prstGeom prst="rect">
            <a:avLst/>
          </a:prstGeom>
          <a:noFill/>
          <a:ln/>
        </p:spPr>
        <p:txBody>
          <a:bodyPr wrap="square" lIns="0" tIns="0" rIns="0" bIns="0" rtlCol="0" anchor="ctr"/>
          <a:lstStyle/>
          <a:p>
            <a:pPr algn="ctr" indent="0" marL="0">
              <a:buNone/>
            </a:pPr>
            <a:r>
              <a:rPr lang="en-US" sz="1050" b="1" dirty="0">
                <a:solidFill>
                  <a:srgbClr val="C56A2C"/>
                </a:solidFill>
                <a:latin typeface="Yu Gothic" pitchFamily="34" charset="0"/>
                <a:ea typeface="Yu Gothic" pitchFamily="34" charset="-122"/>
                <a:cs typeface="Yu Gothic" pitchFamily="34" charset="-120"/>
              </a:rPr>
              <a:t>2</a:t>
            </a:r>
            <a:endParaRPr lang="en-US" sz="1050" dirty="0"/>
          </a:p>
        </p:txBody>
      </p:sp>
      <p:sp>
        <p:nvSpPr>
          <p:cNvPr id="193" name="Text 191"/>
          <p:cNvSpPr txBox="1"/>
          <p:nvPr/>
        </p:nvSpPr>
        <p:spPr>
          <a:xfrm>
            <a:off x="3136392" y="4343400"/>
            <a:ext cx="429768"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5</a:t>
            </a:r>
            <a:endParaRPr lang="en-US" sz="850" dirty="0"/>
          </a:p>
        </p:txBody>
      </p:sp>
      <p:sp>
        <p:nvSpPr>
          <p:cNvPr id="194" name="Shape 192"/>
          <p:cNvSpPr/>
          <p:nvPr/>
        </p:nvSpPr>
        <p:spPr>
          <a:xfrm>
            <a:off x="3136392" y="4581144"/>
            <a:ext cx="411480" cy="274320"/>
          </a:xfrm>
          <a:prstGeom prst="rect">
            <a:avLst/>
          </a:prstGeom>
          <a:solidFill>
            <a:srgbClr val="FBEBDA"/>
          </a:solidFill>
          <a:ln w="6350">
            <a:solidFill>
              <a:srgbClr val="D5DAE1"/>
            </a:solidFill>
            <a:prstDash val="solid"/>
          </a:ln>
        </p:spPr>
      </p:sp>
      <p:sp>
        <p:nvSpPr>
          <p:cNvPr id="195" name="Text 193"/>
          <p:cNvSpPr txBox="1"/>
          <p:nvPr/>
        </p:nvSpPr>
        <p:spPr>
          <a:xfrm>
            <a:off x="3136392" y="4581144"/>
            <a:ext cx="411480" cy="274320"/>
          </a:xfrm>
          <a:prstGeom prst="rect">
            <a:avLst/>
          </a:prstGeom>
          <a:noFill/>
          <a:ln/>
        </p:spPr>
        <p:txBody>
          <a:bodyPr wrap="square" lIns="0" tIns="0" rIns="0" bIns="0" rtlCol="0" anchor="ctr"/>
          <a:lstStyle/>
          <a:p>
            <a:pPr algn="ctr" indent="0" marL="0">
              <a:buNone/>
            </a:pPr>
            <a:r>
              <a:rPr lang="en-US" sz="1050" b="1" dirty="0">
                <a:solidFill>
                  <a:srgbClr val="C56A2C"/>
                </a:solidFill>
                <a:latin typeface="Yu Gothic" pitchFamily="34" charset="0"/>
                <a:ea typeface="Yu Gothic" pitchFamily="34" charset="-122"/>
                <a:cs typeface="Yu Gothic" pitchFamily="34" charset="-120"/>
              </a:rPr>
              <a:t>2</a:t>
            </a:r>
            <a:endParaRPr lang="en-US" sz="1050" dirty="0"/>
          </a:p>
        </p:txBody>
      </p:sp>
      <p:sp>
        <p:nvSpPr>
          <p:cNvPr id="196" name="Text 194"/>
          <p:cNvSpPr txBox="1"/>
          <p:nvPr/>
        </p:nvSpPr>
        <p:spPr>
          <a:xfrm>
            <a:off x="3566160" y="4343400"/>
            <a:ext cx="429768"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6</a:t>
            </a:r>
            <a:endParaRPr lang="en-US" sz="850" dirty="0"/>
          </a:p>
        </p:txBody>
      </p:sp>
      <p:sp>
        <p:nvSpPr>
          <p:cNvPr id="197" name="Shape 195"/>
          <p:cNvSpPr/>
          <p:nvPr/>
        </p:nvSpPr>
        <p:spPr>
          <a:xfrm>
            <a:off x="3566160" y="4581144"/>
            <a:ext cx="411480" cy="274320"/>
          </a:xfrm>
          <a:prstGeom prst="rect">
            <a:avLst/>
          </a:prstGeom>
          <a:solidFill>
            <a:srgbClr val="FBEBDA"/>
          </a:solidFill>
          <a:ln w="6350">
            <a:solidFill>
              <a:srgbClr val="D5DAE1"/>
            </a:solidFill>
            <a:prstDash val="solid"/>
          </a:ln>
        </p:spPr>
      </p:sp>
      <p:sp>
        <p:nvSpPr>
          <p:cNvPr id="198" name="Text 196"/>
          <p:cNvSpPr txBox="1"/>
          <p:nvPr/>
        </p:nvSpPr>
        <p:spPr>
          <a:xfrm>
            <a:off x="3566160" y="4581144"/>
            <a:ext cx="411480" cy="274320"/>
          </a:xfrm>
          <a:prstGeom prst="rect">
            <a:avLst/>
          </a:prstGeom>
          <a:noFill/>
          <a:ln/>
        </p:spPr>
        <p:txBody>
          <a:bodyPr wrap="square" lIns="0" tIns="0" rIns="0" bIns="0" rtlCol="0" anchor="ctr"/>
          <a:lstStyle/>
          <a:p>
            <a:pPr algn="ctr" indent="0" marL="0">
              <a:buNone/>
            </a:pPr>
            <a:r>
              <a:rPr lang="en-US" sz="1050" b="1" dirty="0">
                <a:solidFill>
                  <a:srgbClr val="C56A2C"/>
                </a:solidFill>
                <a:latin typeface="Yu Gothic" pitchFamily="34" charset="0"/>
                <a:ea typeface="Yu Gothic" pitchFamily="34" charset="-122"/>
                <a:cs typeface="Yu Gothic" pitchFamily="34" charset="-120"/>
              </a:rPr>
              <a:t>2</a:t>
            </a:r>
            <a:endParaRPr lang="en-US" sz="1050" dirty="0"/>
          </a:p>
        </p:txBody>
      </p:sp>
      <p:sp>
        <p:nvSpPr>
          <p:cNvPr id="199" name="Text 197"/>
          <p:cNvSpPr txBox="1"/>
          <p:nvPr/>
        </p:nvSpPr>
        <p:spPr>
          <a:xfrm>
            <a:off x="3995928" y="4343400"/>
            <a:ext cx="429768"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7</a:t>
            </a:r>
            <a:endParaRPr lang="en-US" sz="850" dirty="0"/>
          </a:p>
        </p:txBody>
      </p:sp>
      <p:sp>
        <p:nvSpPr>
          <p:cNvPr id="200" name="Shape 198"/>
          <p:cNvSpPr/>
          <p:nvPr/>
        </p:nvSpPr>
        <p:spPr>
          <a:xfrm>
            <a:off x="3995928" y="4581144"/>
            <a:ext cx="411480" cy="274320"/>
          </a:xfrm>
          <a:prstGeom prst="rect">
            <a:avLst/>
          </a:prstGeom>
          <a:solidFill>
            <a:srgbClr val="FBEBDA"/>
          </a:solidFill>
          <a:ln w="6350">
            <a:solidFill>
              <a:srgbClr val="D5DAE1"/>
            </a:solidFill>
            <a:prstDash val="solid"/>
          </a:ln>
        </p:spPr>
      </p:sp>
      <p:sp>
        <p:nvSpPr>
          <p:cNvPr id="201" name="Text 199"/>
          <p:cNvSpPr txBox="1"/>
          <p:nvPr/>
        </p:nvSpPr>
        <p:spPr>
          <a:xfrm>
            <a:off x="3995928" y="4581144"/>
            <a:ext cx="411480" cy="274320"/>
          </a:xfrm>
          <a:prstGeom prst="rect">
            <a:avLst/>
          </a:prstGeom>
          <a:noFill/>
          <a:ln/>
        </p:spPr>
        <p:txBody>
          <a:bodyPr wrap="square" lIns="0" tIns="0" rIns="0" bIns="0" rtlCol="0" anchor="ctr"/>
          <a:lstStyle/>
          <a:p>
            <a:pPr algn="ctr" indent="0" marL="0">
              <a:buNone/>
            </a:pPr>
            <a:r>
              <a:rPr lang="en-US" sz="1050" b="1" dirty="0">
                <a:solidFill>
                  <a:srgbClr val="C56A2C"/>
                </a:solidFill>
                <a:latin typeface="Yu Gothic" pitchFamily="34" charset="0"/>
                <a:ea typeface="Yu Gothic" pitchFamily="34" charset="-122"/>
                <a:cs typeface="Yu Gothic" pitchFamily="34" charset="-120"/>
              </a:rPr>
              <a:t>2</a:t>
            </a:r>
            <a:endParaRPr lang="en-US" sz="1050" dirty="0"/>
          </a:p>
        </p:txBody>
      </p:sp>
      <p:sp>
        <p:nvSpPr>
          <p:cNvPr id="202" name="Text 200"/>
          <p:cNvSpPr txBox="1"/>
          <p:nvPr/>
        </p:nvSpPr>
        <p:spPr>
          <a:xfrm>
            <a:off x="4425696" y="4343400"/>
            <a:ext cx="429768"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8</a:t>
            </a:r>
            <a:endParaRPr lang="en-US" sz="850" dirty="0"/>
          </a:p>
        </p:txBody>
      </p:sp>
      <p:sp>
        <p:nvSpPr>
          <p:cNvPr id="203" name="Shape 201"/>
          <p:cNvSpPr/>
          <p:nvPr/>
        </p:nvSpPr>
        <p:spPr>
          <a:xfrm>
            <a:off x="4425696" y="4581144"/>
            <a:ext cx="411480" cy="274320"/>
          </a:xfrm>
          <a:prstGeom prst="rect">
            <a:avLst/>
          </a:prstGeom>
          <a:solidFill>
            <a:srgbClr val="FBEBDA"/>
          </a:solidFill>
          <a:ln w="6350">
            <a:solidFill>
              <a:srgbClr val="D5DAE1"/>
            </a:solidFill>
            <a:prstDash val="solid"/>
          </a:ln>
        </p:spPr>
      </p:sp>
      <p:sp>
        <p:nvSpPr>
          <p:cNvPr id="204" name="Text 202"/>
          <p:cNvSpPr txBox="1"/>
          <p:nvPr/>
        </p:nvSpPr>
        <p:spPr>
          <a:xfrm>
            <a:off x="4425696" y="4581144"/>
            <a:ext cx="411480" cy="274320"/>
          </a:xfrm>
          <a:prstGeom prst="rect">
            <a:avLst/>
          </a:prstGeom>
          <a:noFill/>
          <a:ln/>
        </p:spPr>
        <p:txBody>
          <a:bodyPr wrap="square" lIns="0" tIns="0" rIns="0" bIns="0" rtlCol="0" anchor="ctr"/>
          <a:lstStyle/>
          <a:p>
            <a:pPr algn="ctr" indent="0" marL="0">
              <a:buNone/>
            </a:pPr>
            <a:r>
              <a:rPr lang="en-US" sz="1050" b="1" dirty="0">
                <a:solidFill>
                  <a:srgbClr val="C56A2C"/>
                </a:solidFill>
                <a:latin typeface="Yu Gothic" pitchFamily="34" charset="0"/>
                <a:ea typeface="Yu Gothic" pitchFamily="34" charset="-122"/>
                <a:cs typeface="Yu Gothic" pitchFamily="34" charset="-120"/>
              </a:rPr>
              <a:t>2</a:t>
            </a:r>
            <a:endParaRPr lang="en-US" sz="1050" dirty="0"/>
          </a:p>
        </p:txBody>
      </p:sp>
      <p:sp>
        <p:nvSpPr>
          <p:cNvPr id="205" name="Text 203"/>
          <p:cNvSpPr txBox="1"/>
          <p:nvPr/>
        </p:nvSpPr>
        <p:spPr>
          <a:xfrm>
            <a:off x="4855464" y="4343400"/>
            <a:ext cx="429768"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9</a:t>
            </a:r>
            <a:endParaRPr lang="en-US" sz="850" dirty="0"/>
          </a:p>
        </p:txBody>
      </p:sp>
      <p:sp>
        <p:nvSpPr>
          <p:cNvPr id="206" name="Shape 204"/>
          <p:cNvSpPr/>
          <p:nvPr/>
        </p:nvSpPr>
        <p:spPr>
          <a:xfrm>
            <a:off x="4855464" y="4581144"/>
            <a:ext cx="411480" cy="274320"/>
          </a:xfrm>
          <a:prstGeom prst="rect">
            <a:avLst/>
          </a:prstGeom>
          <a:solidFill>
            <a:srgbClr val="FBEBDA"/>
          </a:solidFill>
          <a:ln w="6350">
            <a:solidFill>
              <a:srgbClr val="D5DAE1"/>
            </a:solidFill>
            <a:prstDash val="solid"/>
          </a:ln>
        </p:spPr>
      </p:sp>
      <p:sp>
        <p:nvSpPr>
          <p:cNvPr id="207" name="Text 205"/>
          <p:cNvSpPr txBox="1"/>
          <p:nvPr/>
        </p:nvSpPr>
        <p:spPr>
          <a:xfrm>
            <a:off x="4855464" y="4581144"/>
            <a:ext cx="411480" cy="274320"/>
          </a:xfrm>
          <a:prstGeom prst="rect">
            <a:avLst/>
          </a:prstGeom>
          <a:noFill/>
          <a:ln/>
        </p:spPr>
        <p:txBody>
          <a:bodyPr wrap="square" lIns="0" tIns="0" rIns="0" bIns="0" rtlCol="0" anchor="ctr"/>
          <a:lstStyle/>
          <a:p>
            <a:pPr algn="ctr" indent="0" marL="0">
              <a:buNone/>
            </a:pPr>
            <a:r>
              <a:rPr lang="en-US" sz="1050" b="1" dirty="0">
                <a:solidFill>
                  <a:srgbClr val="C56A2C"/>
                </a:solidFill>
                <a:latin typeface="Yu Gothic" pitchFamily="34" charset="0"/>
                <a:ea typeface="Yu Gothic" pitchFamily="34" charset="-122"/>
                <a:cs typeface="Yu Gothic" pitchFamily="34" charset="-120"/>
              </a:rPr>
              <a:t>2</a:t>
            </a:r>
            <a:endParaRPr lang="en-US" sz="1050" dirty="0"/>
          </a:p>
        </p:txBody>
      </p:sp>
      <p:sp>
        <p:nvSpPr>
          <p:cNvPr id="208" name="Text 206"/>
          <p:cNvSpPr txBox="1"/>
          <p:nvPr/>
        </p:nvSpPr>
        <p:spPr>
          <a:xfrm>
            <a:off x="5285232" y="4343400"/>
            <a:ext cx="429768"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10</a:t>
            </a:r>
            <a:endParaRPr lang="en-US" sz="850" dirty="0"/>
          </a:p>
        </p:txBody>
      </p:sp>
      <p:sp>
        <p:nvSpPr>
          <p:cNvPr id="209" name="Shape 207"/>
          <p:cNvSpPr/>
          <p:nvPr/>
        </p:nvSpPr>
        <p:spPr>
          <a:xfrm>
            <a:off x="5285232" y="4581144"/>
            <a:ext cx="411480" cy="274320"/>
          </a:xfrm>
          <a:prstGeom prst="rect">
            <a:avLst/>
          </a:prstGeom>
          <a:solidFill>
            <a:srgbClr val="FFFFFF"/>
          </a:solidFill>
          <a:ln w="6350">
            <a:solidFill>
              <a:srgbClr val="D5DAE1"/>
            </a:solidFill>
            <a:prstDash val="solid"/>
          </a:ln>
        </p:spPr>
      </p:sp>
      <p:sp>
        <p:nvSpPr>
          <p:cNvPr id="210" name="Text 208"/>
          <p:cNvSpPr txBox="1"/>
          <p:nvPr/>
        </p:nvSpPr>
        <p:spPr>
          <a:xfrm>
            <a:off x="5285232" y="4581144"/>
            <a:ext cx="411480" cy="274320"/>
          </a:xfrm>
          <a:prstGeom prst="rect">
            <a:avLst/>
          </a:prstGeom>
          <a:noFill/>
          <a:ln/>
        </p:spPr>
        <p:txBody>
          <a:bodyPr wrap="square" lIns="0" tIns="0" rIns="0" bIns="0" rtlCol="0" anchor="ctr"/>
          <a:lstStyle/>
          <a:p>
            <a:pPr algn="ctr" indent="0" marL="0">
              <a:buNone/>
            </a:pPr>
            <a:r>
              <a:rPr lang="en-US" sz="1050" b="1" dirty="0">
                <a:solidFill>
                  <a:srgbClr val="AEB4BC"/>
                </a:solidFill>
                <a:latin typeface="Yu Gothic" pitchFamily="34" charset="0"/>
                <a:ea typeface="Yu Gothic" pitchFamily="34" charset="-122"/>
                <a:cs typeface="Yu Gothic" pitchFamily="34" charset="-120"/>
              </a:rPr>
              <a:t>0</a:t>
            </a:r>
            <a:endParaRPr lang="en-US" sz="1050" dirty="0"/>
          </a:p>
        </p:txBody>
      </p:sp>
      <p:sp>
        <p:nvSpPr>
          <p:cNvPr id="211" name="Text 209"/>
          <p:cNvSpPr txBox="1"/>
          <p:nvPr/>
        </p:nvSpPr>
        <p:spPr>
          <a:xfrm>
            <a:off x="5715000" y="4343400"/>
            <a:ext cx="429768"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11</a:t>
            </a:r>
            <a:endParaRPr lang="en-US" sz="850" dirty="0"/>
          </a:p>
        </p:txBody>
      </p:sp>
      <p:sp>
        <p:nvSpPr>
          <p:cNvPr id="212" name="Shape 210"/>
          <p:cNvSpPr/>
          <p:nvPr/>
        </p:nvSpPr>
        <p:spPr>
          <a:xfrm>
            <a:off x="5715000" y="4581144"/>
            <a:ext cx="411480" cy="274320"/>
          </a:xfrm>
          <a:prstGeom prst="rect">
            <a:avLst/>
          </a:prstGeom>
          <a:solidFill>
            <a:srgbClr val="FFFFFF"/>
          </a:solidFill>
          <a:ln w="6350">
            <a:solidFill>
              <a:srgbClr val="D5DAE1"/>
            </a:solidFill>
            <a:prstDash val="solid"/>
          </a:ln>
        </p:spPr>
      </p:sp>
      <p:sp>
        <p:nvSpPr>
          <p:cNvPr id="213" name="Text 211"/>
          <p:cNvSpPr txBox="1"/>
          <p:nvPr/>
        </p:nvSpPr>
        <p:spPr>
          <a:xfrm>
            <a:off x="5715000" y="4581144"/>
            <a:ext cx="411480" cy="274320"/>
          </a:xfrm>
          <a:prstGeom prst="rect">
            <a:avLst/>
          </a:prstGeom>
          <a:noFill/>
          <a:ln/>
        </p:spPr>
        <p:txBody>
          <a:bodyPr wrap="square" lIns="0" tIns="0" rIns="0" bIns="0" rtlCol="0" anchor="ctr"/>
          <a:lstStyle/>
          <a:p>
            <a:pPr algn="ctr" indent="0" marL="0">
              <a:buNone/>
            </a:pPr>
            <a:r>
              <a:rPr lang="en-US" sz="1050" b="1" dirty="0">
                <a:solidFill>
                  <a:srgbClr val="AEB4BC"/>
                </a:solidFill>
                <a:latin typeface="Yu Gothic" pitchFamily="34" charset="0"/>
                <a:ea typeface="Yu Gothic" pitchFamily="34" charset="-122"/>
                <a:cs typeface="Yu Gothic" pitchFamily="34" charset="-120"/>
              </a:rPr>
              <a:t>0</a:t>
            </a:r>
            <a:endParaRPr lang="en-US" sz="1050" dirty="0"/>
          </a:p>
        </p:txBody>
      </p:sp>
      <p:sp>
        <p:nvSpPr>
          <p:cNvPr id="214" name="Text 212"/>
          <p:cNvSpPr txBox="1"/>
          <p:nvPr/>
        </p:nvSpPr>
        <p:spPr>
          <a:xfrm>
            <a:off x="6144768" y="4343400"/>
            <a:ext cx="429768"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12</a:t>
            </a:r>
            <a:endParaRPr lang="en-US" sz="850" dirty="0"/>
          </a:p>
        </p:txBody>
      </p:sp>
      <p:sp>
        <p:nvSpPr>
          <p:cNvPr id="215" name="Shape 213"/>
          <p:cNvSpPr/>
          <p:nvPr/>
        </p:nvSpPr>
        <p:spPr>
          <a:xfrm>
            <a:off x="6144768" y="4581144"/>
            <a:ext cx="411480" cy="274320"/>
          </a:xfrm>
          <a:prstGeom prst="rect">
            <a:avLst/>
          </a:prstGeom>
          <a:solidFill>
            <a:srgbClr val="FFFFFF"/>
          </a:solidFill>
          <a:ln w="6350">
            <a:solidFill>
              <a:srgbClr val="D5DAE1"/>
            </a:solidFill>
            <a:prstDash val="solid"/>
          </a:ln>
        </p:spPr>
      </p:sp>
      <p:sp>
        <p:nvSpPr>
          <p:cNvPr id="216" name="Text 214"/>
          <p:cNvSpPr txBox="1"/>
          <p:nvPr/>
        </p:nvSpPr>
        <p:spPr>
          <a:xfrm>
            <a:off x="6144768" y="4581144"/>
            <a:ext cx="411480" cy="274320"/>
          </a:xfrm>
          <a:prstGeom prst="rect">
            <a:avLst/>
          </a:prstGeom>
          <a:noFill/>
          <a:ln/>
        </p:spPr>
        <p:txBody>
          <a:bodyPr wrap="square" lIns="0" tIns="0" rIns="0" bIns="0" rtlCol="0" anchor="ctr"/>
          <a:lstStyle/>
          <a:p>
            <a:pPr algn="ctr" indent="0" marL="0">
              <a:buNone/>
            </a:pPr>
            <a:r>
              <a:rPr lang="en-US" sz="1050" b="1" dirty="0">
                <a:solidFill>
                  <a:srgbClr val="AEB4BC"/>
                </a:solidFill>
                <a:latin typeface="Yu Gothic" pitchFamily="34" charset="0"/>
                <a:ea typeface="Yu Gothic" pitchFamily="34" charset="-122"/>
                <a:cs typeface="Yu Gothic" pitchFamily="34" charset="-120"/>
              </a:rPr>
              <a:t>0</a:t>
            </a:r>
            <a:endParaRPr lang="en-US" sz="1050" dirty="0"/>
          </a:p>
        </p:txBody>
      </p:sp>
      <p:sp>
        <p:nvSpPr>
          <p:cNvPr id="217" name="Text 215"/>
          <p:cNvSpPr txBox="1"/>
          <p:nvPr/>
        </p:nvSpPr>
        <p:spPr>
          <a:xfrm>
            <a:off x="548640" y="4325112"/>
            <a:ext cx="822960" cy="201168"/>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方位 a</a:t>
            </a:r>
            <a:endParaRPr lang="en-US" sz="850" dirty="0"/>
          </a:p>
        </p:txBody>
      </p:sp>
      <p:sp>
        <p:nvSpPr>
          <p:cNvPr id="218" name="Text 216"/>
          <p:cNvSpPr txBox="1"/>
          <p:nvPr/>
        </p:nvSpPr>
        <p:spPr>
          <a:xfrm>
            <a:off x="502920" y="4581144"/>
            <a:ext cx="868680" cy="274320"/>
          </a:xfrm>
          <a:prstGeom prst="rect">
            <a:avLst/>
          </a:prstGeom>
          <a:noFill/>
          <a:ln/>
        </p:spPr>
        <p:txBody>
          <a:bodyPr wrap="square" lIns="508" tIns="508" rIns="508" bIns="508" rtlCol="0" anchor="ctr"/>
          <a:lstStyle/>
          <a:p>
            <a:pPr algn="r" indent="0" marL="0">
              <a:buNone/>
            </a:pPr>
            <a:r>
              <a:rPr lang="en-US" sz="850" b="1" dirty="0">
                <a:solidFill>
                  <a:srgbClr val="C56A2C"/>
                </a:solidFill>
                <a:latin typeface="Yu Gothic" pitchFamily="34" charset="0"/>
                <a:ea typeface="Yu Gothic" pitchFamily="34" charset="-122"/>
                <a:cs typeface="Yu Gothic" pitchFamily="34" charset="-120"/>
              </a:rPr>
              <a:t>列の1の数</a:t>
            </a:r>
            <a:endParaRPr lang="en-US" sz="850" dirty="0"/>
          </a:p>
        </p:txBody>
      </p:sp>
      <p:sp>
        <p:nvSpPr>
          <p:cNvPr id="219" name="Text 217"/>
          <p:cNvSpPr txBox="1"/>
          <p:nvPr/>
        </p:nvSpPr>
        <p:spPr>
          <a:xfrm>
            <a:off x="594360" y="4937760"/>
            <a:ext cx="603504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合計 0＋1＋1＋2＋2＋2＋2＋2＋2＋0＋0＋0 ＝ 14マス</a:t>
            </a:r>
            <a:endParaRPr lang="en-US" sz="1100" dirty="0"/>
          </a:p>
        </p:txBody>
      </p:sp>
      <p:sp>
        <p:nvSpPr>
          <p:cNvPr id="220" name="Text 218"/>
          <p:cNvSpPr txBox="1"/>
          <p:nvPr/>
        </p:nvSpPr>
        <p:spPr>
          <a:xfrm>
            <a:off x="594360" y="5230368"/>
            <a:ext cx="6035040" cy="219456"/>
          </a:xfrm>
          <a:prstGeom prst="rect">
            <a:avLst/>
          </a:prstGeom>
          <a:noFill/>
          <a:ln/>
        </p:spPr>
        <p:txBody>
          <a:bodyPr wrap="square" lIns="508" tIns="508" rIns="508" bIns="508" rtlCol="0" anchor="t"/>
          <a:lstStyle/>
          <a:p>
            <a:pPr algn="ctr" indent="0" marL="0">
              <a:buNone/>
            </a:pPr>
            <a:r>
              <a:rPr lang="en-US" sz="900" dirty="0">
                <a:solidFill>
                  <a:srgbClr val="E8934D"/>
                </a:solidFill>
                <a:latin typeface="Yu Gothic" pitchFamily="34" charset="0"/>
                <a:ea typeface="Yu Gothic" pitchFamily="34" charset="-122"/>
                <a:cs typeface="Yu Gothic" pitchFamily="34" charset="-120"/>
              </a:rPr>
              <a:t>■ </a:t>
            </a:r>
            <a:pPr algn="ctr" indent="0" marL="0">
              <a:buNone/>
            </a:pPr>
            <a:r>
              <a:rPr lang="en-US" sz="900" dirty="0">
                <a:solidFill>
                  <a:srgbClr val="333F4E"/>
                </a:solidFill>
                <a:latin typeface="Yu Gothic" pitchFamily="34" charset="0"/>
                <a:ea typeface="Yu Gothic" pitchFamily="34" charset="-122"/>
                <a:cs typeface="Yu Gothic" pitchFamily="34" charset="-120"/>
              </a:rPr>
              <a:t>南だけ　</a:t>
            </a:r>
            <a:pPr algn="ctr" indent="0" marL="0">
              <a:buNone/>
            </a:pPr>
            <a:r>
              <a:rPr lang="en-US" sz="900" dirty="0">
                <a:solidFill>
                  <a:srgbClr val="1F6F78"/>
                </a:solidFill>
                <a:latin typeface="Yu Gothic" pitchFamily="34" charset="0"/>
                <a:ea typeface="Yu Gothic" pitchFamily="34" charset="-122"/>
                <a:cs typeface="Yu Gothic" pitchFamily="34" charset="-120"/>
              </a:rPr>
              <a:t>■ </a:t>
            </a:r>
            <a:pPr algn="ctr" indent="0" marL="0">
              <a:buNone/>
            </a:pPr>
            <a:r>
              <a:rPr lang="en-US" sz="900" dirty="0">
                <a:solidFill>
                  <a:srgbClr val="333F4E"/>
                </a:solidFill>
                <a:latin typeface="Yu Gothic" pitchFamily="34" charset="0"/>
                <a:ea typeface="Yu Gothic" pitchFamily="34" charset="-122"/>
                <a:cs typeface="Yu Gothic" pitchFamily="34" charset="-120"/>
              </a:rPr>
              <a:t>南東だけ　</a:t>
            </a:r>
            <a:pPr algn="ctr" indent="0" marL="0">
              <a:buNone/>
            </a:pPr>
            <a:r>
              <a:rPr lang="en-US" sz="900" dirty="0">
                <a:solidFill>
                  <a:srgbClr val="B04A3F"/>
                </a:solidFill>
                <a:latin typeface="Yu Gothic" pitchFamily="34" charset="0"/>
                <a:ea typeface="Yu Gothic" pitchFamily="34" charset="-122"/>
                <a:cs typeface="Yu Gothic" pitchFamily="34" charset="-120"/>
              </a:rPr>
              <a:t>■ </a:t>
            </a:r>
            <a:pPr algn="ctr" indent="0" marL="0">
              <a:buNone/>
            </a:pPr>
            <a:r>
              <a:rPr lang="en-US" sz="900" dirty="0">
                <a:solidFill>
                  <a:srgbClr val="333F4E"/>
                </a:solidFill>
                <a:latin typeface="Yu Gothic" pitchFamily="34" charset="0"/>
                <a:ea typeface="Yu Gothic" pitchFamily="34" charset="-122"/>
                <a:cs typeface="Yu Gothic" pitchFamily="34" charset="-120"/>
              </a:rPr>
              <a:t>両方（1回だけ数える）　</a:t>
            </a:r>
            <a:pPr algn="ctr" indent="0" marL="0">
              <a:buNone/>
            </a:pPr>
            <a:r>
              <a:rPr lang="en-US" sz="900" dirty="0">
                <a:solidFill>
                  <a:srgbClr val="1B2A44"/>
                </a:solidFill>
                <a:latin typeface="Yu Gothic" pitchFamily="34" charset="0"/>
                <a:ea typeface="Yu Gothic" pitchFamily="34" charset="-122"/>
                <a:cs typeface="Yu Gothic" pitchFamily="34" charset="-120"/>
              </a:rPr>
              <a:t>━ </a:t>
            </a:r>
            <a:pPr algn="ctr" indent="0" marL="0">
              <a:buNone/>
            </a:pPr>
            <a:r>
              <a:rPr lang="en-US" sz="900" dirty="0">
                <a:solidFill>
                  <a:srgbClr val="333F4E"/>
                </a:solidFill>
                <a:latin typeface="Yu Gothic" pitchFamily="34" charset="0"/>
                <a:ea typeface="Yu Gothic" pitchFamily="34" charset="-122"/>
                <a:cs typeface="Yu Gothic" pitchFamily="34" charset="-120"/>
              </a:rPr>
              <a:t>h の高さ</a:t>
            </a:r>
            <a:endParaRPr lang="en-US" sz="900" dirty="0"/>
          </a:p>
        </p:txBody>
      </p:sp>
      <p:sp>
        <p:nvSpPr>
          <p:cNvPr id="221" name="Text 219"/>
          <p:cNvSpPr txBox="1"/>
          <p:nvPr/>
        </p:nvSpPr>
        <p:spPr>
          <a:xfrm>
            <a:off x="685800" y="5532120"/>
            <a:ext cx="5852160" cy="548640"/>
          </a:xfrm>
          <a:prstGeom prst="rect">
            <a:avLst/>
          </a:prstGeom>
          <a:noFill/>
          <a:ln/>
        </p:spPr>
        <p:txBody>
          <a:bodyPr wrap="square" lIns="508" tIns="508" rIns="508" bIns="508" rtlCol="0" anchor="t"/>
          <a:lstStyle/>
          <a:p>
            <a:pPr algn="ctr" indent="0" marL="0">
              <a:buNone/>
            </a:pPr>
            <a:r>
              <a:rPr lang="en-US" sz="950" dirty="0">
                <a:solidFill>
                  <a:srgbClr val="333F4E"/>
                </a:solidFill>
                <a:latin typeface="Yu Gothic" pitchFamily="34" charset="0"/>
                <a:ea typeface="Yu Gothic" pitchFamily="34" charset="-122"/>
                <a:cs typeface="Yu Gothic" pitchFamily="34" charset="-120"/>
              </a:rPr>
              <a:t>マスの中心の角度（7.5°, 22.5°, …）が線より下なら 1。例：a＝6 は h＝30.7° なので 7.5°・22.5° の2マスが1</a:t>
            </a:r>
            <a:endParaRPr lang="en-US" sz="950" dirty="0"/>
          </a:p>
        </p:txBody>
      </p:sp>
      <p:sp>
        <p:nvSpPr>
          <p:cNvPr id="222" name="Shape 220"/>
          <p:cNvSpPr/>
          <p:nvPr/>
        </p:nvSpPr>
        <p:spPr>
          <a:xfrm>
            <a:off x="6949440" y="1508760"/>
            <a:ext cx="4800600" cy="2697480"/>
          </a:xfrm>
          <a:prstGeom prst="roundRect">
            <a:avLst>
              <a:gd name="adj" fmla="val 2034"/>
            </a:avLst>
          </a:prstGeom>
          <a:solidFill>
            <a:srgbClr val="1B2A44"/>
          </a:solidFill>
          <a:ln/>
        </p:spPr>
      </p:sp>
      <p:sp>
        <p:nvSpPr>
          <p:cNvPr id="223" name="Text 221"/>
          <p:cNvSpPr txBox="1"/>
          <p:nvPr/>
        </p:nvSpPr>
        <p:spPr>
          <a:xfrm>
            <a:off x="7086600" y="1563624"/>
            <a:ext cx="45720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式と代入</a:t>
            </a:r>
            <a:endParaRPr lang="en-US" sz="1100" dirty="0"/>
          </a:p>
        </p:txBody>
      </p:sp>
      <p:sp>
        <p:nvSpPr>
          <p:cNvPr id="224" name="Text 222"/>
          <p:cNvSpPr txBox="1"/>
          <p:nvPr/>
        </p:nvSpPr>
        <p:spPr>
          <a:xfrm>
            <a:off x="7086600" y="1874520"/>
            <a:ext cx="45720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b</a:t>
            </a:r>
            <a:pPr indent="0" marL="0">
              <a:buNone/>
            </a:pPr>
            <a:r>
              <a:rPr lang="en-US" sz="1100" b="1" baseline="-40000" dirty="0">
                <a:solidFill>
                  <a:srgbClr val="FFFFFF"/>
                </a:solidFill>
                <a:latin typeface="Yu Gothic" pitchFamily="34" charset="0"/>
                <a:ea typeface="Yu Gothic" pitchFamily="34" charset="-122"/>
                <a:cs typeface="Yu Gothic" pitchFamily="34" charset="-120"/>
              </a:rPr>
              <a:t>a,e</a:t>
            </a:r>
            <a:pPr indent="0" marL="0">
              <a:buNone/>
            </a:pPr>
            <a:r>
              <a:rPr lang="en-US" sz="1100" b="1" dirty="0">
                <a:solidFill>
                  <a:srgbClr val="FFFFFF"/>
                </a:solidFill>
                <a:latin typeface="Yu Gothic" pitchFamily="34" charset="0"/>
                <a:ea typeface="Yu Gothic" pitchFamily="34" charset="-122"/>
                <a:cs typeface="Yu Gothic" pitchFamily="34" charset="-120"/>
              </a:rPr>
              <a:t> ＝ 1（マスの中心の角度 ＜ h</a:t>
            </a:r>
            <a:pPr indent="0" marL="0">
              <a:buNone/>
            </a:pPr>
            <a:r>
              <a:rPr lang="en-US" sz="1100" b="1" baseline="-40000" dirty="0">
                <a:solidFill>
                  <a:srgbClr val="FFFFFF"/>
                </a:solidFill>
                <a:latin typeface="Yu Gothic" pitchFamily="34" charset="0"/>
                <a:ea typeface="Yu Gothic" pitchFamily="34" charset="-122"/>
                <a:cs typeface="Yu Gothic" pitchFamily="34" charset="-120"/>
              </a:rPr>
              <a:t>a</a:t>
            </a:r>
            <a:pPr indent="0" marL="0">
              <a:buNone/>
            </a:pPr>
            <a:r>
              <a:rPr lang="en-US" sz="1100" b="1" dirty="0">
                <a:solidFill>
                  <a:srgbClr val="FFFFFF"/>
                </a:solidFill>
                <a:latin typeface="Yu Gothic" pitchFamily="34" charset="0"/>
                <a:ea typeface="Yu Gothic" pitchFamily="34" charset="-122"/>
                <a:cs typeface="Yu Gothic" pitchFamily="34" charset="-120"/>
              </a:rPr>
              <a:t>）／ 0（それ以外）</a:t>
            </a:r>
            <a:endParaRPr lang="en-US" sz="1100" dirty="0"/>
          </a:p>
        </p:txBody>
      </p:sp>
      <p:sp>
        <p:nvSpPr>
          <p:cNvPr id="225" name="Text 223"/>
          <p:cNvSpPr txBox="1"/>
          <p:nvPr/>
        </p:nvSpPr>
        <p:spPr>
          <a:xfrm>
            <a:off x="7086600" y="2286000"/>
            <a:ext cx="4572000" cy="310896"/>
          </a:xfrm>
          <a:prstGeom prst="rect">
            <a:avLst/>
          </a:prstGeom>
          <a:noFill/>
          <a:ln/>
        </p:spPr>
        <p:txBody>
          <a:bodyPr wrap="square" lIns="508" tIns="508" rIns="508" bIns="508" rtlCol="0" anchor="t"/>
          <a:lstStyle/>
          <a:p>
            <a:pPr indent="0" marL="0">
              <a:buNone/>
            </a:pPr>
            <a:r>
              <a:rPr lang="en-US" sz="1300" b="1" dirty="0">
                <a:solidFill>
                  <a:srgbClr val="FFFFFF"/>
                </a:solidFill>
                <a:latin typeface="Yu Gothic" pitchFamily="34" charset="0"/>
                <a:ea typeface="Yu Gothic" pitchFamily="34" charset="-122"/>
                <a:cs typeface="Yu Gothic" pitchFamily="34" charset="-120"/>
              </a:rPr>
              <a:t>O ＝ (1/J) Σ</a:t>
            </a:r>
            <a:pPr indent="0" marL="0">
              <a:buNone/>
            </a:pPr>
            <a:r>
              <a:rPr lang="en-US" sz="1300" b="1" baseline="-40000" dirty="0">
                <a:solidFill>
                  <a:srgbClr val="FFFFFF"/>
                </a:solidFill>
                <a:latin typeface="Yu Gothic" pitchFamily="34" charset="0"/>
                <a:ea typeface="Yu Gothic" pitchFamily="34" charset="-122"/>
                <a:cs typeface="Yu Gothic" pitchFamily="34" charset="-120"/>
              </a:rPr>
              <a:t>a=1</a:t>
            </a:r>
            <a:pPr indent="0" marL="0">
              <a:buNone/>
            </a:pPr>
            <a:r>
              <a:rPr lang="en-US" sz="1300" b="1" baseline="30000" dirty="0">
                <a:solidFill>
                  <a:srgbClr val="FFFFFF"/>
                </a:solidFill>
                <a:latin typeface="Yu Gothic" pitchFamily="34" charset="0"/>
                <a:ea typeface="Yu Gothic" pitchFamily="34" charset="-122"/>
                <a:cs typeface="Yu Gothic" pitchFamily="34" charset="-120"/>
              </a:rPr>
              <a:t>12</a:t>
            </a:r>
            <a:pPr indent="0" marL="0">
              <a:buNone/>
            </a:pPr>
            <a:r>
              <a:rPr lang="en-US" sz="1300" b="1" dirty="0">
                <a:solidFill>
                  <a:srgbClr val="FFFFFF"/>
                </a:solidFill>
                <a:latin typeface="Yu Gothic" pitchFamily="34" charset="0"/>
                <a:ea typeface="Yu Gothic" pitchFamily="34" charset="-122"/>
                <a:cs typeface="Yu Gothic" pitchFamily="34" charset="-120"/>
              </a:rPr>
              <a:t> Σ</a:t>
            </a:r>
            <a:pPr indent="0" marL="0">
              <a:buNone/>
            </a:pPr>
            <a:r>
              <a:rPr lang="en-US" sz="1300" b="1" baseline="-40000" dirty="0">
                <a:solidFill>
                  <a:srgbClr val="FFFFFF"/>
                </a:solidFill>
                <a:latin typeface="Yu Gothic" pitchFamily="34" charset="0"/>
                <a:ea typeface="Yu Gothic" pitchFamily="34" charset="-122"/>
                <a:cs typeface="Yu Gothic" pitchFamily="34" charset="-120"/>
              </a:rPr>
              <a:t>e=1</a:t>
            </a:r>
            <a:pPr indent="0" marL="0">
              <a:buNone/>
            </a:pPr>
            <a:r>
              <a:rPr lang="en-US" sz="1300" b="1" baseline="30000" dirty="0">
                <a:solidFill>
                  <a:srgbClr val="FFFFFF"/>
                </a:solidFill>
                <a:latin typeface="Yu Gothic" pitchFamily="34" charset="0"/>
                <a:ea typeface="Yu Gothic" pitchFamily="34" charset="-122"/>
                <a:cs typeface="Yu Gothic" pitchFamily="34" charset="-120"/>
              </a:rPr>
              <a:t>6</a:t>
            </a:r>
            <a:pPr indent="0" marL="0">
              <a:buNone/>
            </a:pPr>
            <a:r>
              <a:rPr lang="en-US" sz="1300" b="1" dirty="0">
                <a:solidFill>
                  <a:srgbClr val="FFFFFF"/>
                </a:solidFill>
                <a:latin typeface="Yu Gothic" pitchFamily="34" charset="0"/>
                <a:ea typeface="Yu Gothic" pitchFamily="34" charset="-122"/>
                <a:cs typeface="Yu Gothic" pitchFamily="34" charset="-120"/>
              </a:rPr>
              <a:t> b</a:t>
            </a:r>
            <a:pPr indent="0" marL="0">
              <a:buNone/>
            </a:pPr>
            <a:r>
              <a:rPr lang="en-US" sz="1300" b="1" baseline="-40000" dirty="0">
                <a:solidFill>
                  <a:srgbClr val="FFFFFF"/>
                </a:solidFill>
                <a:latin typeface="Yu Gothic" pitchFamily="34" charset="0"/>
                <a:ea typeface="Yu Gothic" pitchFamily="34" charset="-122"/>
                <a:cs typeface="Yu Gothic" pitchFamily="34" charset="-120"/>
              </a:rPr>
              <a:t>a,e</a:t>
            </a:r>
            <a:endParaRPr lang="en-US" sz="1300" dirty="0"/>
          </a:p>
        </p:txBody>
      </p:sp>
      <p:sp>
        <p:nvSpPr>
          <p:cNvPr id="226" name="Text 224"/>
          <p:cNvSpPr txBox="1"/>
          <p:nvPr/>
        </p:nvSpPr>
        <p:spPr>
          <a:xfrm>
            <a:off x="7086600" y="2633472"/>
            <a:ext cx="4572000" cy="292608"/>
          </a:xfrm>
          <a:prstGeom prst="rect">
            <a:avLst/>
          </a:prstGeom>
          <a:noFill/>
          <a:ln/>
        </p:spPr>
        <p:txBody>
          <a:bodyPr wrap="square" lIns="508" tIns="508" rIns="508" bIns="508" rtlCol="0" anchor="t"/>
          <a:lstStyle/>
          <a:p>
            <a:pPr indent="0" marL="0">
              <a:buNone/>
            </a:pPr>
            <a:r>
              <a:rPr lang="en-US" sz="1200" b="1" dirty="0">
                <a:solidFill>
                  <a:srgbClr val="E8934D"/>
                </a:solidFill>
                <a:latin typeface="Yu Gothic" pitchFamily="34" charset="0"/>
                <a:ea typeface="Yu Gothic" pitchFamily="34" charset="-122"/>
                <a:cs typeface="Yu Gothic" pitchFamily="34" charset="-120"/>
              </a:rPr>
              <a:t>＝ 14 / 72 ＝ 0.194（19.4%）</a:t>
            </a:r>
            <a:endParaRPr lang="en-US" sz="1200" dirty="0"/>
          </a:p>
        </p:txBody>
      </p:sp>
      <p:sp>
        <p:nvSpPr>
          <p:cNvPr id="227" name="Text 225"/>
          <p:cNvSpPr txBox="1"/>
          <p:nvPr/>
        </p:nvSpPr>
        <p:spPr>
          <a:xfrm>
            <a:off x="7086600" y="3017520"/>
            <a:ext cx="4572000" cy="1143000"/>
          </a:xfrm>
          <a:prstGeom prst="rect">
            <a:avLst/>
          </a:prstGeom>
          <a:noFill/>
          <a:ln/>
        </p:spPr>
        <p:txBody>
          <a:bodyPr wrap="square" lIns="508" tIns="508" rIns="508" bIns="508" rtlCol="0" anchor="t"/>
          <a:lstStyle/>
          <a:p>
            <a:pPr indent="0" marL="0">
              <a:buNone/>
            </a:pPr>
            <a:r>
              <a:rPr lang="en-US" sz="900" dirty="0">
                <a:solidFill>
                  <a:srgbClr val="E1E8F2"/>
                </a:solidFill>
                <a:latin typeface="Yu Gothic" pitchFamily="34" charset="0"/>
                <a:ea typeface="Yu Gothic" pitchFamily="34" charset="-122"/>
                <a:cs typeface="Yu Gothic" pitchFamily="34" charset="-120"/>
              </a:rPr>
              <a:t>記号　b</a:t>
            </a:r>
            <a:pPr indent="0" marL="0">
              <a:buNone/>
            </a:pPr>
            <a:r>
              <a:rPr lang="en-US" sz="900" baseline="-40000" dirty="0">
                <a:solidFill>
                  <a:srgbClr val="E1E8F2"/>
                </a:solidFill>
                <a:latin typeface="Yu Gothic" pitchFamily="34" charset="0"/>
                <a:ea typeface="Yu Gothic" pitchFamily="34" charset="-122"/>
                <a:cs typeface="Yu Gothic" pitchFamily="34" charset="-120"/>
              </a:rPr>
              <a:t>a,e</a:t>
            </a:r>
            <a:pPr indent="0" marL="0">
              <a:buNone/>
            </a:pPr>
            <a:r>
              <a:rPr lang="en-US" sz="900" dirty="0">
                <a:solidFill>
                  <a:srgbClr val="E1E8F2"/>
                </a:solidFill>
                <a:latin typeface="Yu Gothic" pitchFamily="34" charset="0"/>
                <a:ea typeface="Yu Gothic" pitchFamily="34" charset="-122"/>
                <a:cs typeface="Yu Gothic" pitchFamily="34" charset="-120"/>
              </a:rPr>
              <a:t>：方位a・高度eのマスがふさがれていれば1　Σ</a:t>
            </a:r>
            <a:pPr indent="0" marL="0">
              <a:buNone/>
            </a:pPr>
            <a:r>
              <a:rPr lang="en-US" sz="900" baseline="-40000" dirty="0">
                <a:solidFill>
                  <a:srgbClr val="E1E8F2"/>
                </a:solidFill>
                <a:latin typeface="Yu Gothic" pitchFamily="34" charset="0"/>
                <a:ea typeface="Yu Gothic" pitchFamily="34" charset="-122"/>
                <a:cs typeface="Yu Gothic" pitchFamily="34" charset="-120"/>
              </a:rPr>
              <a:t>e=1</a:t>
            </a:r>
            <a:pPr indent="0" marL="0">
              <a:buNone/>
            </a:pPr>
            <a:r>
              <a:rPr lang="en-US" sz="900" baseline="30000" dirty="0">
                <a:solidFill>
                  <a:srgbClr val="E1E8F2"/>
                </a:solidFill>
                <a:latin typeface="Yu Gothic" pitchFamily="34" charset="0"/>
                <a:ea typeface="Yu Gothic" pitchFamily="34" charset="-122"/>
                <a:cs typeface="Yu Gothic" pitchFamily="34" charset="-120"/>
              </a:rPr>
              <a:t>6</a:t>
            </a:r>
            <a:pPr indent="0" marL="0">
              <a:buNone/>
            </a:pPr>
            <a:r>
              <a:rPr lang="en-US" sz="900" dirty="0">
                <a:solidFill>
                  <a:srgbClr val="E1E8F2"/>
                </a:solidFill>
                <a:latin typeface="Yu Gothic" pitchFamily="34" charset="0"/>
                <a:ea typeface="Yu Gothic" pitchFamily="34" charset="-122"/>
                <a:cs typeface="Yu Gothic" pitchFamily="34" charset="-120"/>
              </a:rPr>
              <a:t>：1つの列（下から上へ6マス）を足す　Σ</a:t>
            </a:r>
            <a:pPr indent="0" marL="0">
              <a:buNone/>
            </a:pPr>
            <a:r>
              <a:rPr lang="en-US" sz="900" baseline="-40000" dirty="0">
                <a:solidFill>
                  <a:srgbClr val="E1E8F2"/>
                </a:solidFill>
                <a:latin typeface="Yu Gothic" pitchFamily="34" charset="0"/>
                <a:ea typeface="Yu Gothic" pitchFamily="34" charset="-122"/>
                <a:cs typeface="Yu Gothic" pitchFamily="34" charset="-120"/>
              </a:rPr>
              <a:t>a=1</a:t>
            </a:r>
            <a:pPr indent="0" marL="0">
              <a:buNone/>
            </a:pPr>
            <a:r>
              <a:rPr lang="en-US" sz="900" baseline="30000" dirty="0">
                <a:solidFill>
                  <a:srgbClr val="E1E8F2"/>
                </a:solidFill>
                <a:latin typeface="Yu Gothic" pitchFamily="34" charset="0"/>
                <a:ea typeface="Yu Gothic" pitchFamily="34" charset="-122"/>
                <a:cs typeface="Yu Gothic" pitchFamily="34" charset="-120"/>
              </a:rPr>
              <a:t>12</a:t>
            </a:r>
            <a:pPr indent="0" marL="0">
              <a:buNone/>
            </a:pPr>
            <a:r>
              <a:rPr lang="en-US" sz="900" dirty="0">
                <a:solidFill>
                  <a:srgbClr val="E1E8F2"/>
                </a:solidFill>
                <a:latin typeface="Yu Gothic" pitchFamily="34" charset="0"/>
                <a:ea typeface="Yu Gothic" pitchFamily="34" charset="-122"/>
                <a:cs typeface="Yu Gothic" pitchFamily="34" charset="-120"/>
              </a:rPr>
              <a:t>：その列の合計を12列ぶん足す＝ふさがれたマスの数　J＝72：全マス数　O：0〜1の割合（0＝空が全部見える）</a:t>
            </a:r>
            <a:endParaRPr lang="en-US" sz="900" dirty="0"/>
          </a:p>
        </p:txBody>
      </p:sp>
      <p:sp>
        <p:nvSpPr>
          <p:cNvPr id="228" name="Shape 226"/>
          <p:cNvSpPr/>
          <p:nvPr/>
        </p:nvSpPr>
        <p:spPr>
          <a:xfrm>
            <a:off x="6949440" y="4343400"/>
            <a:ext cx="4800600" cy="1965960"/>
          </a:xfrm>
          <a:prstGeom prst="roundRect">
            <a:avLst>
              <a:gd name="adj" fmla="val 2791"/>
            </a:avLst>
          </a:prstGeom>
          <a:solidFill>
            <a:srgbClr val="FFFFFF"/>
          </a:solidFill>
          <a:ln w="9525">
            <a:solidFill>
              <a:srgbClr val="D5DAE1"/>
            </a:solidFill>
            <a:prstDash val="solid"/>
          </a:ln>
        </p:spPr>
      </p:sp>
      <p:sp>
        <p:nvSpPr>
          <p:cNvPr id="229" name="Text 227"/>
          <p:cNvSpPr txBox="1"/>
          <p:nvPr/>
        </p:nvSpPr>
        <p:spPr>
          <a:xfrm>
            <a:off x="7086600" y="4398264"/>
            <a:ext cx="45720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影の重なりを二重に数えない理由</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086600" y="4709160"/>
          <a:ext cx="4526280" cy="914400"/>
        </p:xfrm>
        <a:graphic>
          <a:graphicData uri="http://schemas.openxmlformats.org/drawingml/2006/table">
            <a:tbl>
              <a:tblPr/>
              <a:tblGrid>
                <a:gridCol w="1783080"/>
                <a:gridCol w="548640"/>
                <a:gridCol w="594360"/>
                <a:gridCol w="640080"/>
                <a:gridCol w="960120"/>
              </a:tblGrid>
              <a:tr h="274320">
                <a:tc>
                  <a:txBody>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数え方</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南</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南東</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合計</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O</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建物ごとに数えて足す</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04A3F"/>
                          </a:solidFill>
                          <a:latin typeface="Yu Gothic" pitchFamily="34" charset="0"/>
                          <a:ea typeface="Yu Gothic" pitchFamily="34" charset="-122"/>
                          <a:cs typeface="Yu Gothic" pitchFamily="34" charset="-120"/>
                        </a:rPr>
                        <a:t>0.208 ×</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マスごとに1回（max）</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4C8C6B"/>
                          </a:solidFill>
                          <a:latin typeface="Yu Gothic" pitchFamily="34" charset="0"/>
                          <a:ea typeface="Yu Gothic" pitchFamily="34" charset="-122"/>
                          <a:cs typeface="Yu Gothic" pitchFamily="34" charset="-120"/>
                        </a:rPr>
                        <a:t>0.194 ○</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231" name="Text 228"/>
          <p:cNvSpPr txBox="1"/>
          <p:nvPr/>
        </p:nvSpPr>
        <p:spPr>
          <a:xfrm>
            <a:off x="7086600" y="5623560"/>
            <a:ext cx="4526280" cy="59436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赤いマスは2つの建物が同じ空をふさぐところ（影の重なり）。地図では1マスは1回しか数えないので、自動的に正しくなる。</a:t>
            </a:r>
            <a:endParaRPr lang="en-US" sz="95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機械学習：「h・O → 日射量」の関係 F を SEBE の結果から学ぶ</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43 / 45</a:t>
            </a:r>
            <a:endParaRPr lang="en-US" sz="1100" dirty="0"/>
          </a:p>
        </p:txBody>
      </p:sp>
      <p:sp>
        <p:nvSpPr>
          <p:cNvPr id="9" name="Shape 7"/>
          <p:cNvSpPr/>
          <p:nvPr/>
        </p:nvSpPr>
        <p:spPr>
          <a:xfrm>
            <a:off x="457200" y="1060704"/>
            <a:ext cx="1955292" cy="329184"/>
          </a:xfrm>
          <a:prstGeom prst="homePlate">
            <a:avLst/>
          </a:prstGeom>
          <a:solidFill>
            <a:srgbClr val="CFE3E5"/>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① 考え方（立体）</a:t>
            </a:r>
            <a:endParaRPr lang="en-US" sz="900" dirty="0"/>
          </a:p>
        </p:txBody>
      </p:sp>
      <p:sp>
        <p:nvSpPr>
          <p:cNvPr id="11" name="Shape 9"/>
          <p:cNvSpPr/>
          <p:nvPr/>
        </p:nvSpPr>
        <p:spPr>
          <a:xfrm>
            <a:off x="2339340" y="1060704"/>
            <a:ext cx="1955292" cy="329184"/>
          </a:xfrm>
          <a:prstGeom prst="chevron">
            <a:avLst/>
          </a:prstGeom>
          <a:solidFill>
            <a:srgbClr val="CFE3E5"/>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② 空の地図の作り方</a:t>
            </a:r>
            <a:endParaRPr lang="en-US" sz="900" dirty="0"/>
          </a:p>
        </p:txBody>
      </p:sp>
      <p:sp>
        <p:nvSpPr>
          <p:cNvPr id="13" name="Shape 11"/>
          <p:cNvSpPr/>
          <p:nvPr/>
        </p:nvSpPr>
        <p:spPr>
          <a:xfrm>
            <a:off x="4221480" y="1060704"/>
            <a:ext cx="1955292" cy="329184"/>
          </a:xfrm>
          <a:prstGeom prst="chevron">
            <a:avLst/>
          </a:prstGeom>
          <a:solidFill>
            <a:srgbClr val="CFE3E5"/>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③ 遮蔽高度角 h</a:t>
            </a:r>
            <a:endParaRPr lang="en-US" sz="900" dirty="0"/>
          </a:p>
        </p:txBody>
      </p:sp>
      <p:sp>
        <p:nvSpPr>
          <p:cNvPr id="15" name="Shape 13"/>
          <p:cNvSpPr/>
          <p:nvPr/>
        </p:nvSpPr>
        <p:spPr>
          <a:xfrm>
            <a:off x="6103620" y="1060704"/>
            <a:ext cx="1955292" cy="329184"/>
          </a:xfrm>
          <a:prstGeom prst="chevron">
            <a:avLst/>
          </a:prstGeom>
          <a:solidFill>
            <a:srgbClr val="CFE3E5"/>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④ ふさがれた割合 O</a:t>
            </a:r>
            <a:endParaRPr lang="en-US" sz="900" dirty="0"/>
          </a:p>
        </p:txBody>
      </p:sp>
      <p:sp>
        <p:nvSpPr>
          <p:cNvPr id="17" name="Shape 15"/>
          <p:cNvSpPr/>
          <p:nvPr/>
        </p:nvSpPr>
        <p:spPr>
          <a:xfrm>
            <a:off x="7985760" y="1060704"/>
            <a:ext cx="1955292" cy="329184"/>
          </a:xfrm>
          <a:prstGeom prst="chevron">
            <a:avLst/>
          </a:prstGeom>
          <a:solidFill>
            <a:srgbClr val="1F6F78"/>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⑤ 機械学習で予測</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比べ方と来週</a:t>
            </a:r>
            <a:endParaRPr lang="en-US" sz="900" dirty="0"/>
          </a:p>
        </p:txBody>
      </p:sp>
      <p:sp>
        <p:nvSpPr>
          <p:cNvPr id="21" name="Text 19"/>
          <p:cNvSpPr txBox="1"/>
          <p:nvPr/>
        </p:nvSpPr>
        <p:spPr>
          <a:xfrm>
            <a:off x="457200" y="1508760"/>
            <a:ext cx="109728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1つの点の入力（特徴量 x）を1行にまとめる：どの配置でも同じ列の並び</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810512"/>
          <a:ext cx="11292840" cy="914400"/>
        </p:xfrm>
        <a:graphic>
          <a:graphicData uri="http://schemas.openxmlformats.org/drawingml/2006/table">
            <a:tbl>
              <a:tblPr/>
              <a:tblGrid>
                <a:gridCol w="1051560"/>
                <a:gridCol w="457200"/>
                <a:gridCol w="685800"/>
                <a:gridCol w="585216"/>
                <a:gridCol w="585216"/>
                <a:gridCol w="585216"/>
                <a:gridCol w="585216"/>
                <a:gridCol w="585216"/>
                <a:gridCol w="585216"/>
                <a:gridCol w="585216"/>
                <a:gridCol w="585216"/>
                <a:gridCol w="585216"/>
                <a:gridCol w="585216"/>
                <a:gridCol w="585216"/>
                <a:gridCol w="585216"/>
                <a:gridCol w="731520"/>
                <a:gridCol w="1344168"/>
              </a:tblGrid>
              <a:tr h="246888">
                <a:tc>
                  <a:txBody>
                    <a:bodyPr/>
                    <a:lstStyle/>
                    <a:p>
                      <a:pPr algn="l" indent="0" marL="0">
                        <a:buNone/>
                      </a:pPr>
                      <a:r>
                        <a:rPr lang="en-US" sz="850" b="1" dirty="0">
                          <a:solidFill>
                            <a:srgbClr val="FFFFFF"/>
                          </a:solidFill>
                          <a:latin typeface="Yu Gothic" pitchFamily="34" charset="0"/>
                          <a:ea typeface="Yu Gothic" pitchFamily="34" charset="-122"/>
                          <a:cs typeface="Yu Gothic" pitchFamily="34" charset="-120"/>
                        </a:rPr>
                        <a:t>配置</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面</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高さ z</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h</a:t>
                      </a:r>
                      <a:pPr algn="ctr" indent="0" marL="0">
                        <a:buNone/>
                      </a:pPr>
                      <a:r>
                        <a:rPr lang="en-US" sz="850" b="1" baseline="-40000" dirty="0">
                          <a:solidFill>
                            <a:srgbClr val="FFFFFF"/>
                          </a:solidFill>
                          <a:latin typeface="Yu Gothic" pitchFamily="34" charset="0"/>
                          <a:ea typeface="Yu Gothic" pitchFamily="34" charset="-122"/>
                          <a:cs typeface="Yu Gothic" pitchFamily="34" charset="-120"/>
                        </a:rPr>
                        <a:t>1</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h</a:t>
                      </a:r>
                      <a:pPr algn="ctr" indent="0" marL="0">
                        <a:buNone/>
                      </a:pPr>
                      <a:r>
                        <a:rPr lang="en-US" sz="850" b="1" baseline="-40000" dirty="0">
                          <a:solidFill>
                            <a:srgbClr val="FFFFFF"/>
                          </a:solidFill>
                          <a:latin typeface="Yu Gothic" pitchFamily="34" charset="0"/>
                          <a:ea typeface="Yu Gothic" pitchFamily="34" charset="-122"/>
                          <a:cs typeface="Yu Gothic" pitchFamily="34" charset="-120"/>
                        </a:rPr>
                        <a:t>2</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h</a:t>
                      </a:r>
                      <a:pPr algn="ctr" indent="0" marL="0">
                        <a:buNone/>
                      </a:pPr>
                      <a:r>
                        <a:rPr lang="en-US" sz="850" b="1" baseline="-40000" dirty="0">
                          <a:solidFill>
                            <a:srgbClr val="FFFFFF"/>
                          </a:solidFill>
                          <a:latin typeface="Yu Gothic" pitchFamily="34" charset="0"/>
                          <a:ea typeface="Yu Gothic" pitchFamily="34" charset="-122"/>
                          <a:cs typeface="Yu Gothic" pitchFamily="34" charset="-120"/>
                        </a:rPr>
                        <a:t>3</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h</a:t>
                      </a:r>
                      <a:pPr algn="ctr" indent="0" marL="0">
                        <a:buNone/>
                      </a:pPr>
                      <a:r>
                        <a:rPr lang="en-US" sz="850" b="1" baseline="-40000" dirty="0">
                          <a:solidFill>
                            <a:srgbClr val="FFFFFF"/>
                          </a:solidFill>
                          <a:latin typeface="Yu Gothic" pitchFamily="34" charset="0"/>
                          <a:ea typeface="Yu Gothic" pitchFamily="34" charset="-122"/>
                          <a:cs typeface="Yu Gothic" pitchFamily="34" charset="-120"/>
                        </a:rPr>
                        <a:t>4</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h</a:t>
                      </a:r>
                      <a:pPr algn="ctr" indent="0" marL="0">
                        <a:buNone/>
                      </a:pPr>
                      <a:r>
                        <a:rPr lang="en-US" sz="850" b="1" baseline="-40000" dirty="0">
                          <a:solidFill>
                            <a:srgbClr val="FFFFFF"/>
                          </a:solidFill>
                          <a:latin typeface="Yu Gothic" pitchFamily="34" charset="0"/>
                          <a:ea typeface="Yu Gothic" pitchFamily="34" charset="-122"/>
                          <a:cs typeface="Yu Gothic" pitchFamily="34" charset="-120"/>
                        </a:rPr>
                        <a:t>5</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h</a:t>
                      </a:r>
                      <a:pPr algn="ctr" indent="0" marL="0">
                        <a:buNone/>
                      </a:pPr>
                      <a:r>
                        <a:rPr lang="en-US" sz="850" b="1" baseline="-40000" dirty="0">
                          <a:solidFill>
                            <a:srgbClr val="FFFFFF"/>
                          </a:solidFill>
                          <a:latin typeface="Yu Gothic" pitchFamily="34" charset="0"/>
                          <a:ea typeface="Yu Gothic" pitchFamily="34" charset="-122"/>
                          <a:cs typeface="Yu Gothic" pitchFamily="34" charset="-120"/>
                        </a:rPr>
                        <a:t>6</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h</a:t>
                      </a:r>
                      <a:pPr algn="ctr" indent="0" marL="0">
                        <a:buNone/>
                      </a:pPr>
                      <a:r>
                        <a:rPr lang="en-US" sz="850" b="1" baseline="-40000" dirty="0">
                          <a:solidFill>
                            <a:srgbClr val="FFFFFF"/>
                          </a:solidFill>
                          <a:latin typeface="Yu Gothic" pitchFamily="34" charset="0"/>
                          <a:ea typeface="Yu Gothic" pitchFamily="34" charset="-122"/>
                          <a:cs typeface="Yu Gothic" pitchFamily="34" charset="-120"/>
                        </a:rPr>
                        <a:t>7</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h</a:t>
                      </a:r>
                      <a:pPr algn="ctr" indent="0" marL="0">
                        <a:buNone/>
                      </a:pPr>
                      <a:r>
                        <a:rPr lang="en-US" sz="850" b="1" baseline="-40000" dirty="0">
                          <a:solidFill>
                            <a:srgbClr val="FFFFFF"/>
                          </a:solidFill>
                          <a:latin typeface="Yu Gothic" pitchFamily="34" charset="0"/>
                          <a:ea typeface="Yu Gothic" pitchFamily="34" charset="-122"/>
                          <a:cs typeface="Yu Gothic" pitchFamily="34" charset="-120"/>
                        </a:rPr>
                        <a:t>8</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h</a:t>
                      </a:r>
                      <a:pPr algn="ctr" indent="0" marL="0">
                        <a:buNone/>
                      </a:pPr>
                      <a:r>
                        <a:rPr lang="en-US" sz="850" b="1" baseline="-40000" dirty="0">
                          <a:solidFill>
                            <a:srgbClr val="FFFFFF"/>
                          </a:solidFill>
                          <a:latin typeface="Yu Gothic" pitchFamily="34" charset="0"/>
                          <a:ea typeface="Yu Gothic" pitchFamily="34" charset="-122"/>
                          <a:cs typeface="Yu Gothic" pitchFamily="34" charset="-120"/>
                        </a:rPr>
                        <a:t>9</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h</a:t>
                      </a:r>
                      <a:pPr algn="ctr" indent="0" marL="0">
                        <a:buNone/>
                      </a:pPr>
                      <a:r>
                        <a:rPr lang="en-US" sz="850" b="1" baseline="-40000" dirty="0">
                          <a:solidFill>
                            <a:srgbClr val="FFFFFF"/>
                          </a:solidFill>
                          <a:latin typeface="Yu Gothic" pitchFamily="34" charset="0"/>
                          <a:ea typeface="Yu Gothic" pitchFamily="34" charset="-122"/>
                          <a:cs typeface="Yu Gothic" pitchFamily="34" charset="-120"/>
                        </a:rPr>
                        <a:t>10</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h</a:t>
                      </a:r>
                      <a:pPr algn="ctr" indent="0" marL="0">
                        <a:buNone/>
                      </a:pPr>
                      <a:r>
                        <a:rPr lang="en-US" sz="850" b="1" baseline="-40000" dirty="0">
                          <a:solidFill>
                            <a:srgbClr val="FFFFFF"/>
                          </a:solidFill>
                          <a:latin typeface="Yu Gothic" pitchFamily="34" charset="0"/>
                          <a:ea typeface="Yu Gothic" pitchFamily="34" charset="-122"/>
                          <a:cs typeface="Yu Gothic" pitchFamily="34" charset="-120"/>
                        </a:rPr>
                        <a:t>11</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h</a:t>
                      </a:r>
                      <a:pPr algn="ctr" indent="0" marL="0">
                        <a:buNone/>
                      </a:pPr>
                      <a:r>
                        <a:rPr lang="en-US" sz="850" b="1" baseline="-40000" dirty="0">
                          <a:solidFill>
                            <a:srgbClr val="FFFFFF"/>
                          </a:solidFill>
                          <a:latin typeface="Yu Gothic" pitchFamily="34" charset="0"/>
                          <a:ea typeface="Yu Gothic" pitchFamily="34" charset="-122"/>
                          <a:cs typeface="Yu Gothic" pitchFamily="34" charset="-120"/>
                        </a:rPr>
                        <a:t>12</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O</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正解 y</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46888">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南＋南東</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南</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20m</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13</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15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29</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31</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31</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29</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0.194</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56A2C"/>
                          </a:solidFill>
                          <a:latin typeface="Yu Gothic" pitchFamily="34" charset="0"/>
                          <a:ea typeface="Yu Gothic" pitchFamily="34" charset="-122"/>
                          <a:cs typeface="Yu Gothic" pitchFamily="34" charset="-120"/>
                        </a:rPr>
                        <a:t>SEBE値</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南だけ</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南</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20m</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29</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31</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31</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29</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25</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0.167</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C56A2C"/>
                          </a:solidFill>
                          <a:latin typeface="Yu Gothic" pitchFamily="34" charset="0"/>
                          <a:ea typeface="Yu Gothic" pitchFamily="34" charset="-122"/>
                          <a:cs typeface="Yu Gothic" pitchFamily="34" charset="-120"/>
                        </a:rPr>
                        <a:t>SEBE値</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46888">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南＋南東</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南</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40m</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0.000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56A2C"/>
                          </a:solidFill>
                          <a:latin typeface="Yu Gothic" pitchFamily="34" charset="0"/>
                          <a:ea typeface="Yu Gothic" pitchFamily="34" charset="-122"/>
                          <a:cs typeface="Yu Gothic" pitchFamily="34" charset="-120"/>
                        </a:rPr>
                        <a:t>SEBE値</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建物なし</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南</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20m</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0.000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C56A2C"/>
                          </a:solidFill>
                          <a:latin typeface="Yu Gothic" pitchFamily="34" charset="0"/>
                          <a:ea typeface="Yu Gothic" pitchFamily="34" charset="-122"/>
                          <a:cs typeface="Yu Gothic" pitchFamily="34" charset="-120"/>
                        </a:rPr>
                        <a:t>SEBE値</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23" name="Text 20"/>
          <p:cNvSpPr txBox="1"/>
          <p:nvPr/>
        </p:nvSpPr>
        <p:spPr>
          <a:xfrm>
            <a:off x="457200" y="3090672"/>
            <a:ext cx="11292840" cy="384048"/>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h は度（整数に丸め）。3行目：点が建物より高い（40m＞35m）ので h・O は全部0＝空が全部見える。面の向きも入力に入れる（同じ遮られ方でも、南面と北面では太陽の当たり方が違うため）。</a:t>
            </a:r>
            <a:endParaRPr lang="en-US" sz="900" dirty="0"/>
          </a:p>
        </p:txBody>
      </p:sp>
      <p:sp>
        <p:nvSpPr>
          <p:cNvPr id="24" name="Shape 21"/>
          <p:cNvSpPr/>
          <p:nvPr/>
        </p:nvSpPr>
        <p:spPr>
          <a:xfrm>
            <a:off x="457200" y="3566160"/>
            <a:ext cx="6035040" cy="2743200"/>
          </a:xfrm>
          <a:prstGeom prst="roundRect">
            <a:avLst>
              <a:gd name="adj" fmla="val 2000"/>
            </a:avLst>
          </a:prstGeom>
          <a:solidFill>
            <a:srgbClr val="F3F5F8"/>
          </a:solidFill>
          <a:ln/>
        </p:spPr>
      </p:sp>
      <p:sp>
        <p:nvSpPr>
          <p:cNvPr id="25" name="Text 22"/>
          <p:cNvSpPr txBox="1"/>
          <p:nvPr/>
        </p:nvSpPr>
        <p:spPr>
          <a:xfrm>
            <a:off x="594360" y="3621024"/>
            <a:ext cx="5760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学習（準備で1回）と予測（ツールで毎回）</a:t>
            </a:r>
            <a:endParaRPr lang="en-US" sz="1100" dirty="0"/>
          </a:p>
        </p:txBody>
      </p:sp>
      <p:sp>
        <p:nvSpPr>
          <p:cNvPr id="26" name="Text 23"/>
          <p:cNvSpPr txBox="1"/>
          <p:nvPr/>
        </p:nvSpPr>
        <p:spPr>
          <a:xfrm>
            <a:off x="594360" y="4114800"/>
            <a:ext cx="548640" cy="274320"/>
          </a:xfrm>
          <a:prstGeom prst="rect">
            <a:avLst/>
          </a:prstGeom>
          <a:noFill/>
          <a:ln/>
        </p:spPr>
        <p:txBody>
          <a:bodyPr wrap="square" lIns="508" tIns="508" rIns="508" bIns="508" rtlCol="0" anchor="t"/>
          <a:lstStyle/>
          <a:p>
            <a:pPr indent="0" marL="0">
              <a:buNone/>
            </a:pPr>
            <a:r>
              <a:rPr lang="en-US" sz="1050" b="1" dirty="0">
                <a:solidFill>
                  <a:srgbClr val="1F6F78"/>
                </a:solidFill>
                <a:latin typeface="Yu Gothic" pitchFamily="34" charset="0"/>
                <a:ea typeface="Yu Gothic" pitchFamily="34" charset="-122"/>
                <a:cs typeface="Yu Gothic" pitchFamily="34" charset="-120"/>
              </a:rPr>
              <a:t>学習</a:t>
            </a:r>
            <a:endParaRPr lang="en-US" sz="1050" dirty="0"/>
          </a:p>
        </p:txBody>
      </p:sp>
      <p:sp>
        <p:nvSpPr>
          <p:cNvPr id="27" name="Shape 24"/>
          <p:cNvSpPr/>
          <p:nvPr/>
        </p:nvSpPr>
        <p:spPr>
          <a:xfrm>
            <a:off x="1143000" y="3959352"/>
            <a:ext cx="1600200" cy="658368"/>
          </a:xfrm>
          <a:prstGeom prst="roundRect">
            <a:avLst>
              <a:gd name="adj" fmla="val 6944"/>
            </a:avLst>
          </a:prstGeom>
          <a:solidFill>
            <a:srgbClr val="35507D"/>
          </a:solidFill>
          <a:ln/>
        </p:spPr>
      </p:sp>
      <p:sp>
        <p:nvSpPr>
          <p:cNvPr id="28" name="Text 25"/>
          <p:cNvSpPr txBox="1"/>
          <p:nvPr/>
        </p:nvSpPr>
        <p:spPr>
          <a:xfrm>
            <a:off x="1197864" y="3995928"/>
            <a:ext cx="1490472" cy="256032"/>
          </a:xfrm>
          <a:prstGeom prst="rect">
            <a:avLst/>
          </a:prstGeom>
          <a:noFill/>
          <a:ln/>
        </p:spPr>
        <p:txBody>
          <a:bodyPr wrap="square" lIns="508" tIns="508" rIns="508" bIns="508" rtlCol="0" anchor="t"/>
          <a:lstStyle/>
          <a:p>
            <a:pPr algn="ctr" indent="0" marL="0">
              <a:buNone/>
            </a:pPr>
            <a:r>
              <a:rPr lang="en-US" sz="1000" b="1" dirty="0">
                <a:solidFill>
                  <a:srgbClr val="FFFFFF"/>
                </a:solidFill>
                <a:latin typeface="Yu Gothic" pitchFamily="34" charset="0"/>
                <a:ea typeface="Yu Gothic" pitchFamily="34" charset="-122"/>
                <a:cs typeface="Yu Gothic" pitchFamily="34" charset="-120"/>
              </a:rPr>
              <a:t>SEBEで計算</a:t>
            </a:r>
            <a:endParaRPr lang="en-US" sz="1000" dirty="0"/>
          </a:p>
        </p:txBody>
      </p:sp>
      <p:sp>
        <p:nvSpPr>
          <p:cNvPr id="29" name="Text 26"/>
          <p:cNvSpPr txBox="1"/>
          <p:nvPr/>
        </p:nvSpPr>
        <p:spPr>
          <a:xfrm>
            <a:off x="1197864" y="4251960"/>
            <a:ext cx="1490472" cy="347472"/>
          </a:xfrm>
          <a:prstGeom prst="rect">
            <a:avLst/>
          </a:prstGeom>
          <a:noFill/>
          <a:ln/>
        </p:spPr>
        <p:txBody>
          <a:bodyPr wrap="square" lIns="508" tIns="508" rIns="508" bIns="508" rtlCol="0" anchor="t"/>
          <a:lstStyle/>
          <a:p>
            <a:pPr algn="ctr" indent="0" marL="0">
              <a:buNone/>
            </a:pPr>
            <a:r>
              <a:rPr lang="en-US" sz="850" dirty="0">
                <a:solidFill>
                  <a:srgbClr val="E1E8F2"/>
                </a:solidFill>
                <a:latin typeface="Yu Gothic" pitchFamily="34" charset="0"/>
                <a:ea typeface="Yu Gothic" pitchFamily="34" charset="-122"/>
                <a:cs typeface="Yu Gothic" pitchFamily="34" charset="-120"/>
              </a:rPr>
              <a:t>学習用の配置（ばらばらでよい）</a:t>
            </a:r>
            <a:endParaRPr lang="en-US" sz="850" dirty="0"/>
          </a:p>
        </p:txBody>
      </p:sp>
      <p:sp>
        <p:nvSpPr>
          <p:cNvPr id="30" name="Shape 27"/>
          <p:cNvSpPr/>
          <p:nvPr/>
        </p:nvSpPr>
        <p:spPr>
          <a:xfrm>
            <a:off x="2926080" y="3959352"/>
            <a:ext cx="1600200" cy="658368"/>
          </a:xfrm>
          <a:prstGeom prst="roundRect">
            <a:avLst>
              <a:gd name="adj" fmla="val 6944"/>
            </a:avLst>
          </a:prstGeom>
          <a:solidFill>
            <a:srgbClr val="1F6F78"/>
          </a:solidFill>
          <a:ln/>
        </p:spPr>
      </p:sp>
      <p:sp>
        <p:nvSpPr>
          <p:cNvPr id="31" name="Text 28"/>
          <p:cNvSpPr txBox="1"/>
          <p:nvPr/>
        </p:nvSpPr>
        <p:spPr>
          <a:xfrm>
            <a:off x="2980944" y="3995928"/>
            <a:ext cx="1490472" cy="256032"/>
          </a:xfrm>
          <a:prstGeom prst="rect">
            <a:avLst/>
          </a:prstGeom>
          <a:noFill/>
          <a:ln/>
        </p:spPr>
        <p:txBody>
          <a:bodyPr wrap="square" lIns="508" tIns="508" rIns="508" bIns="508" rtlCol="0" anchor="t"/>
          <a:lstStyle/>
          <a:p>
            <a:pPr algn="ctr" indent="0" marL="0">
              <a:buNone/>
            </a:pPr>
            <a:r>
              <a:rPr lang="en-US" sz="1000" b="1" dirty="0">
                <a:solidFill>
                  <a:srgbClr val="FFFFFF"/>
                </a:solidFill>
                <a:latin typeface="Yu Gothic" pitchFamily="34" charset="0"/>
                <a:ea typeface="Yu Gothic" pitchFamily="34" charset="-122"/>
                <a:cs typeface="Yu Gothic" pitchFamily="34" charset="-120"/>
              </a:rPr>
              <a:t>特徴量 x と正解 y</a:t>
            </a:r>
            <a:endParaRPr lang="en-US" sz="1000" dirty="0"/>
          </a:p>
        </p:txBody>
      </p:sp>
      <p:sp>
        <p:nvSpPr>
          <p:cNvPr id="32" name="Text 29"/>
          <p:cNvSpPr txBox="1"/>
          <p:nvPr/>
        </p:nvSpPr>
        <p:spPr>
          <a:xfrm>
            <a:off x="2980944" y="4251960"/>
            <a:ext cx="1490472" cy="347472"/>
          </a:xfrm>
          <a:prstGeom prst="rect">
            <a:avLst/>
          </a:prstGeom>
          <a:noFill/>
          <a:ln/>
        </p:spPr>
        <p:txBody>
          <a:bodyPr wrap="square" lIns="508" tIns="508" rIns="508" bIns="508" rtlCol="0" anchor="t"/>
          <a:lstStyle/>
          <a:p>
            <a:pPr algn="ctr" indent="0" marL="0">
              <a:buNone/>
            </a:pPr>
            <a:r>
              <a:rPr lang="en-US" sz="850" dirty="0">
                <a:solidFill>
                  <a:srgbClr val="E1E8F2"/>
                </a:solidFill>
                <a:latin typeface="Yu Gothic" pitchFamily="34" charset="0"/>
                <a:ea typeface="Yu Gothic" pitchFamily="34" charset="-122"/>
                <a:cs typeface="Yu Gothic" pitchFamily="34" charset="-120"/>
              </a:rPr>
              <a:t>1配置 → 4面×5帯＝20行</a:t>
            </a:r>
            <a:endParaRPr lang="en-US" sz="850" dirty="0"/>
          </a:p>
        </p:txBody>
      </p:sp>
      <p:sp>
        <p:nvSpPr>
          <p:cNvPr id="33" name="Shape 30"/>
          <p:cNvSpPr/>
          <p:nvPr/>
        </p:nvSpPr>
        <p:spPr>
          <a:xfrm>
            <a:off x="4709160" y="3959352"/>
            <a:ext cx="1645920" cy="658368"/>
          </a:xfrm>
          <a:prstGeom prst="roundRect">
            <a:avLst>
              <a:gd name="adj" fmla="val 6944"/>
            </a:avLst>
          </a:prstGeom>
          <a:solidFill>
            <a:srgbClr val="C56A2C"/>
          </a:solidFill>
          <a:ln/>
        </p:spPr>
      </p:sp>
      <p:sp>
        <p:nvSpPr>
          <p:cNvPr id="34" name="Text 31"/>
          <p:cNvSpPr txBox="1"/>
          <p:nvPr/>
        </p:nvSpPr>
        <p:spPr>
          <a:xfrm>
            <a:off x="4764024" y="3995928"/>
            <a:ext cx="1536192" cy="256032"/>
          </a:xfrm>
          <a:prstGeom prst="rect">
            <a:avLst/>
          </a:prstGeom>
          <a:noFill/>
          <a:ln/>
        </p:spPr>
        <p:txBody>
          <a:bodyPr wrap="square" lIns="508" tIns="508" rIns="508" bIns="508" rtlCol="0" anchor="t"/>
          <a:lstStyle/>
          <a:p>
            <a:pPr algn="ctr" indent="0" marL="0">
              <a:buNone/>
            </a:pPr>
            <a:r>
              <a:rPr lang="en-US" sz="1000" b="1" dirty="0">
                <a:solidFill>
                  <a:srgbClr val="FFFFFF"/>
                </a:solidFill>
                <a:latin typeface="Yu Gothic" pitchFamily="34" charset="0"/>
                <a:ea typeface="Yu Gothic" pitchFamily="34" charset="-122"/>
                <a:cs typeface="Yu Gothic" pitchFamily="34" charset="-120"/>
              </a:rPr>
              <a:t>F を決める</a:t>
            </a:r>
            <a:endParaRPr lang="en-US" sz="1000" dirty="0"/>
          </a:p>
        </p:txBody>
      </p:sp>
      <p:sp>
        <p:nvSpPr>
          <p:cNvPr id="35" name="Text 32"/>
          <p:cNvSpPr txBox="1"/>
          <p:nvPr/>
        </p:nvSpPr>
        <p:spPr>
          <a:xfrm>
            <a:off x="4764024" y="4251960"/>
            <a:ext cx="1536192" cy="347472"/>
          </a:xfrm>
          <a:prstGeom prst="rect">
            <a:avLst/>
          </a:prstGeom>
          <a:noFill/>
          <a:ln/>
        </p:spPr>
        <p:txBody>
          <a:bodyPr wrap="square" lIns="508" tIns="508" rIns="508" bIns="508" rtlCol="0" anchor="t"/>
          <a:lstStyle/>
          <a:p>
            <a:pPr algn="ctr" indent="0" marL="0">
              <a:buNone/>
            </a:pPr>
            <a:r>
              <a:rPr lang="en-US" sz="850" dirty="0">
                <a:solidFill>
                  <a:srgbClr val="E1E8F2"/>
                </a:solidFill>
                <a:latin typeface="Yu Gothic" pitchFamily="34" charset="0"/>
                <a:ea typeface="Yu Gothic" pitchFamily="34" charset="-122"/>
                <a:cs typeface="Yu Gothic" pitchFamily="34" charset="-120"/>
              </a:rPr>
              <a:t>下の式が小さくなるように</a:t>
            </a:r>
            <a:endParaRPr lang="en-US" sz="850" dirty="0"/>
          </a:p>
        </p:txBody>
      </p:sp>
      <p:sp>
        <p:nvSpPr>
          <p:cNvPr id="36" name="Text 33"/>
          <p:cNvSpPr txBox="1"/>
          <p:nvPr/>
        </p:nvSpPr>
        <p:spPr>
          <a:xfrm>
            <a:off x="594360" y="4937760"/>
            <a:ext cx="548640" cy="274320"/>
          </a:xfrm>
          <a:prstGeom prst="rect">
            <a:avLst/>
          </a:prstGeom>
          <a:noFill/>
          <a:ln/>
        </p:spPr>
        <p:txBody>
          <a:bodyPr wrap="square" lIns="508" tIns="508" rIns="508" bIns="508" rtlCol="0" anchor="t"/>
          <a:lstStyle/>
          <a:p>
            <a:pPr indent="0" marL="0">
              <a:buNone/>
            </a:pPr>
            <a:r>
              <a:rPr lang="en-US" sz="1050" b="1" dirty="0">
                <a:solidFill>
                  <a:srgbClr val="1F6F78"/>
                </a:solidFill>
                <a:latin typeface="Yu Gothic" pitchFamily="34" charset="0"/>
                <a:ea typeface="Yu Gothic" pitchFamily="34" charset="-122"/>
                <a:cs typeface="Yu Gothic" pitchFamily="34" charset="-120"/>
              </a:rPr>
              <a:t>予測</a:t>
            </a:r>
            <a:endParaRPr lang="en-US" sz="1050" dirty="0"/>
          </a:p>
        </p:txBody>
      </p:sp>
      <p:sp>
        <p:nvSpPr>
          <p:cNvPr id="37" name="Shape 34"/>
          <p:cNvSpPr/>
          <p:nvPr/>
        </p:nvSpPr>
        <p:spPr>
          <a:xfrm>
            <a:off x="1143000" y="4782312"/>
            <a:ext cx="1600200" cy="658368"/>
          </a:xfrm>
          <a:prstGeom prst="roundRect">
            <a:avLst>
              <a:gd name="adj" fmla="val 6944"/>
            </a:avLst>
          </a:prstGeom>
          <a:solidFill>
            <a:srgbClr val="35507D"/>
          </a:solidFill>
          <a:ln/>
        </p:spPr>
      </p:sp>
      <p:sp>
        <p:nvSpPr>
          <p:cNvPr id="38" name="Text 35"/>
          <p:cNvSpPr txBox="1"/>
          <p:nvPr/>
        </p:nvSpPr>
        <p:spPr>
          <a:xfrm>
            <a:off x="1197864" y="4818888"/>
            <a:ext cx="1490472" cy="256032"/>
          </a:xfrm>
          <a:prstGeom prst="rect">
            <a:avLst/>
          </a:prstGeom>
          <a:noFill/>
          <a:ln/>
        </p:spPr>
        <p:txBody>
          <a:bodyPr wrap="square" lIns="508" tIns="508" rIns="508" bIns="508" rtlCol="0" anchor="t"/>
          <a:lstStyle/>
          <a:p>
            <a:pPr algn="ctr" indent="0" marL="0">
              <a:buNone/>
            </a:pPr>
            <a:r>
              <a:rPr lang="en-US" sz="1000" b="1" dirty="0">
                <a:solidFill>
                  <a:srgbClr val="FFFFFF"/>
                </a:solidFill>
                <a:latin typeface="Yu Gothic" pitchFamily="34" charset="0"/>
                <a:ea typeface="Yu Gothic" pitchFamily="34" charset="-122"/>
                <a:cs typeface="Yu Gothic" pitchFamily="34" charset="-120"/>
              </a:rPr>
              <a:t>新しい配置</a:t>
            </a:r>
            <a:endParaRPr lang="en-US" sz="1000" dirty="0"/>
          </a:p>
        </p:txBody>
      </p:sp>
      <p:sp>
        <p:nvSpPr>
          <p:cNvPr id="39" name="Text 36"/>
          <p:cNvSpPr txBox="1"/>
          <p:nvPr/>
        </p:nvSpPr>
        <p:spPr>
          <a:xfrm>
            <a:off x="1197864" y="5074920"/>
            <a:ext cx="1490472" cy="347472"/>
          </a:xfrm>
          <a:prstGeom prst="rect">
            <a:avLst/>
          </a:prstGeom>
          <a:noFill/>
          <a:ln/>
        </p:spPr>
        <p:txBody>
          <a:bodyPr wrap="square" lIns="508" tIns="508" rIns="508" bIns="508" rtlCol="0" anchor="t"/>
          <a:lstStyle/>
          <a:p>
            <a:pPr algn="ctr" indent="0" marL="0">
              <a:buNone/>
            </a:pPr>
            <a:r>
              <a:rPr lang="en-US" sz="850" dirty="0">
                <a:solidFill>
                  <a:srgbClr val="E1E8F2"/>
                </a:solidFill>
                <a:latin typeface="Yu Gothic" pitchFamily="34" charset="0"/>
                <a:ea typeface="Yu Gothic" pitchFamily="34" charset="-122"/>
                <a:cs typeface="Yu Gothic" pitchFamily="34" charset="-120"/>
              </a:rPr>
              <a:t>17変数の値を入力</a:t>
            </a:r>
            <a:endParaRPr lang="en-US" sz="850" dirty="0"/>
          </a:p>
        </p:txBody>
      </p:sp>
      <p:sp>
        <p:nvSpPr>
          <p:cNvPr id="40" name="Shape 37"/>
          <p:cNvSpPr/>
          <p:nvPr/>
        </p:nvSpPr>
        <p:spPr>
          <a:xfrm>
            <a:off x="2926080" y="4782312"/>
            <a:ext cx="1600200" cy="658368"/>
          </a:xfrm>
          <a:prstGeom prst="roundRect">
            <a:avLst>
              <a:gd name="adj" fmla="val 6944"/>
            </a:avLst>
          </a:prstGeom>
          <a:solidFill>
            <a:srgbClr val="1F6F78"/>
          </a:solidFill>
          <a:ln/>
        </p:spPr>
      </p:sp>
      <p:sp>
        <p:nvSpPr>
          <p:cNvPr id="41" name="Text 38"/>
          <p:cNvSpPr txBox="1"/>
          <p:nvPr/>
        </p:nvSpPr>
        <p:spPr>
          <a:xfrm>
            <a:off x="2980944" y="4818888"/>
            <a:ext cx="1490472" cy="256032"/>
          </a:xfrm>
          <a:prstGeom prst="rect">
            <a:avLst/>
          </a:prstGeom>
          <a:noFill/>
          <a:ln/>
        </p:spPr>
        <p:txBody>
          <a:bodyPr wrap="square" lIns="508" tIns="508" rIns="508" bIns="508" rtlCol="0" anchor="t"/>
          <a:lstStyle/>
          <a:p>
            <a:pPr algn="ctr" indent="0" marL="0">
              <a:buNone/>
            </a:pPr>
            <a:r>
              <a:rPr lang="en-US" sz="1000" b="1" dirty="0">
                <a:solidFill>
                  <a:srgbClr val="FFFFFF"/>
                </a:solidFill>
                <a:latin typeface="Yu Gothic" pitchFamily="34" charset="0"/>
                <a:ea typeface="Yu Gothic" pitchFamily="34" charset="-122"/>
                <a:cs typeface="Yu Gothic" pitchFamily="34" charset="-120"/>
              </a:rPr>
              <a:t>特徴量 x を計算</a:t>
            </a:r>
            <a:endParaRPr lang="en-US" sz="1000" dirty="0"/>
          </a:p>
        </p:txBody>
      </p:sp>
      <p:sp>
        <p:nvSpPr>
          <p:cNvPr id="42" name="Text 39"/>
          <p:cNvSpPr txBox="1"/>
          <p:nvPr/>
        </p:nvSpPr>
        <p:spPr>
          <a:xfrm>
            <a:off x="2980944" y="5074920"/>
            <a:ext cx="1490472" cy="347472"/>
          </a:xfrm>
          <a:prstGeom prst="rect">
            <a:avLst/>
          </a:prstGeom>
          <a:noFill/>
          <a:ln/>
        </p:spPr>
        <p:txBody>
          <a:bodyPr wrap="square" lIns="508" tIns="508" rIns="508" bIns="508" rtlCol="0" anchor="t"/>
          <a:lstStyle/>
          <a:p>
            <a:pPr algn="ctr" indent="0" marL="0">
              <a:buNone/>
            </a:pPr>
            <a:r>
              <a:rPr lang="en-US" sz="850" dirty="0">
                <a:solidFill>
                  <a:srgbClr val="E1E8F2"/>
                </a:solidFill>
                <a:latin typeface="Yu Gothic" pitchFamily="34" charset="0"/>
                <a:ea typeface="Yu Gothic" pitchFamily="34" charset="-122"/>
                <a:cs typeface="Yu Gothic" pitchFamily="34" charset="-120"/>
              </a:rPr>
              <a:t>地図 → h・O（SEBE不要）</a:t>
            </a:r>
            <a:endParaRPr lang="en-US" sz="850" dirty="0"/>
          </a:p>
        </p:txBody>
      </p:sp>
      <p:sp>
        <p:nvSpPr>
          <p:cNvPr id="43" name="Shape 40"/>
          <p:cNvSpPr/>
          <p:nvPr/>
        </p:nvSpPr>
        <p:spPr>
          <a:xfrm>
            <a:off x="4709160" y="4782312"/>
            <a:ext cx="1645920" cy="658368"/>
          </a:xfrm>
          <a:prstGeom prst="roundRect">
            <a:avLst>
              <a:gd name="adj" fmla="val 6944"/>
            </a:avLst>
          </a:prstGeom>
          <a:solidFill>
            <a:srgbClr val="C56A2C"/>
          </a:solidFill>
          <a:ln/>
        </p:spPr>
      </p:sp>
      <p:sp>
        <p:nvSpPr>
          <p:cNvPr id="44" name="Text 41"/>
          <p:cNvSpPr txBox="1"/>
          <p:nvPr/>
        </p:nvSpPr>
        <p:spPr>
          <a:xfrm>
            <a:off x="4764024" y="4818888"/>
            <a:ext cx="1536192" cy="256032"/>
          </a:xfrm>
          <a:prstGeom prst="rect">
            <a:avLst/>
          </a:prstGeom>
          <a:noFill/>
          <a:ln/>
        </p:spPr>
        <p:txBody>
          <a:bodyPr wrap="square" lIns="508" tIns="508" rIns="508" bIns="508" rtlCol="0" anchor="t"/>
          <a:lstStyle/>
          <a:p>
            <a:pPr algn="ctr" indent="0" marL="0">
              <a:buNone/>
            </a:pPr>
            <a:r>
              <a:rPr lang="en-US" sz="1000" b="1" dirty="0">
                <a:solidFill>
                  <a:srgbClr val="FFFFFF"/>
                </a:solidFill>
                <a:latin typeface="Yu Gothic" pitchFamily="34" charset="0"/>
                <a:ea typeface="Yu Gothic" pitchFamily="34" charset="-122"/>
                <a:cs typeface="Yu Gothic" pitchFamily="34" charset="-120"/>
              </a:rPr>
              <a:t>Ŷ ＝ F(x)</a:t>
            </a:r>
            <a:endParaRPr lang="en-US" sz="1000" dirty="0"/>
          </a:p>
        </p:txBody>
      </p:sp>
      <p:sp>
        <p:nvSpPr>
          <p:cNvPr id="45" name="Text 42"/>
          <p:cNvSpPr txBox="1"/>
          <p:nvPr/>
        </p:nvSpPr>
        <p:spPr>
          <a:xfrm>
            <a:off x="4764024" y="5074920"/>
            <a:ext cx="1536192" cy="347472"/>
          </a:xfrm>
          <a:prstGeom prst="rect">
            <a:avLst/>
          </a:prstGeom>
          <a:noFill/>
          <a:ln/>
        </p:spPr>
        <p:txBody>
          <a:bodyPr wrap="square" lIns="508" tIns="508" rIns="508" bIns="508" rtlCol="0" anchor="t"/>
          <a:lstStyle/>
          <a:p>
            <a:pPr algn="ctr" indent="0" marL="0">
              <a:buNone/>
            </a:pPr>
            <a:r>
              <a:rPr lang="en-US" sz="850" dirty="0">
                <a:solidFill>
                  <a:srgbClr val="E1E8F2"/>
                </a:solidFill>
                <a:latin typeface="Yu Gothic" pitchFamily="34" charset="0"/>
                <a:ea typeface="Yu Gothic" pitchFamily="34" charset="-122"/>
                <a:cs typeface="Yu Gothic" pitchFamily="34" charset="-120"/>
              </a:rPr>
              <a:t>20個の日射量が一瞬で出る</a:t>
            </a:r>
            <a:endParaRPr lang="en-US" sz="850" dirty="0"/>
          </a:p>
        </p:txBody>
      </p:sp>
      <p:sp>
        <p:nvSpPr>
          <p:cNvPr id="46" name="Text 43"/>
          <p:cNvSpPr txBox="1"/>
          <p:nvPr/>
        </p:nvSpPr>
        <p:spPr>
          <a:xfrm>
            <a:off x="2743200" y="4133088"/>
            <a:ext cx="182880" cy="274320"/>
          </a:xfrm>
          <a:prstGeom prst="rect">
            <a:avLst/>
          </a:prstGeom>
          <a:noFill/>
          <a:ln/>
        </p:spPr>
        <p:txBody>
          <a:bodyPr wrap="square" lIns="0" tIns="0" rIns="0" bIns="0" rtlCol="0" anchor="t"/>
          <a:lstStyle/>
          <a:p>
            <a:pPr algn="ctr" indent="0" marL="0">
              <a:buNone/>
            </a:pPr>
            <a:r>
              <a:rPr lang="en-US" sz="1400" b="1" dirty="0">
                <a:solidFill>
                  <a:srgbClr val="E8934D"/>
                </a:solidFill>
                <a:latin typeface="Yu Gothic" pitchFamily="34" charset="0"/>
                <a:ea typeface="Yu Gothic" pitchFamily="34" charset="-122"/>
                <a:cs typeface="Yu Gothic" pitchFamily="34" charset="-120"/>
              </a:rPr>
              <a:t>›</a:t>
            </a:r>
            <a:endParaRPr lang="en-US" sz="1400" dirty="0"/>
          </a:p>
        </p:txBody>
      </p:sp>
      <p:sp>
        <p:nvSpPr>
          <p:cNvPr id="47" name="Text 44"/>
          <p:cNvSpPr txBox="1"/>
          <p:nvPr/>
        </p:nvSpPr>
        <p:spPr>
          <a:xfrm>
            <a:off x="4526280" y="4133088"/>
            <a:ext cx="182880" cy="274320"/>
          </a:xfrm>
          <a:prstGeom prst="rect">
            <a:avLst/>
          </a:prstGeom>
          <a:noFill/>
          <a:ln/>
        </p:spPr>
        <p:txBody>
          <a:bodyPr wrap="square" lIns="0" tIns="0" rIns="0" bIns="0" rtlCol="0" anchor="t"/>
          <a:lstStyle/>
          <a:p>
            <a:pPr algn="ctr" indent="0" marL="0">
              <a:buNone/>
            </a:pPr>
            <a:r>
              <a:rPr lang="en-US" sz="1400" b="1" dirty="0">
                <a:solidFill>
                  <a:srgbClr val="E8934D"/>
                </a:solidFill>
                <a:latin typeface="Yu Gothic" pitchFamily="34" charset="0"/>
                <a:ea typeface="Yu Gothic" pitchFamily="34" charset="-122"/>
                <a:cs typeface="Yu Gothic" pitchFamily="34" charset="-120"/>
              </a:rPr>
              <a:t>›</a:t>
            </a:r>
            <a:endParaRPr lang="en-US" sz="1400" dirty="0"/>
          </a:p>
        </p:txBody>
      </p:sp>
      <p:sp>
        <p:nvSpPr>
          <p:cNvPr id="48" name="Text 45"/>
          <p:cNvSpPr txBox="1"/>
          <p:nvPr/>
        </p:nvSpPr>
        <p:spPr>
          <a:xfrm>
            <a:off x="2743200" y="4956048"/>
            <a:ext cx="182880" cy="274320"/>
          </a:xfrm>
          <a:prstGeom prst="rect">
            <a:avLst/>
          </a:prstGeom>
          <a:noFill/>
          <a:ln/>
        </p:spPr>
        <p:txBody>
          <a:bodyPr wrap="square" lIns="0" tIns="0" rIns="0" bIns="0" rtlCol="0" anchor="t"/>
          <a:lstStyle/>
          <a:p>
            <a:pPr algn="ctr" indent="0" marL="0">
              <a:buNone/>
            </a:pPr>
            <a:r>
              <a:rPr lang="en-US" sz="1400" b="1" dirty="0">
                <a:solidFill>
                  <a:srgbClr val="E8934D"/>
                </a:solidFill>
                <a:latin typeface="Yu Gothic" pitchFamily="34" charset="0"/>
                <a:ea typeface="Yu Gothic" pitchFamily="34" charset="-122"/>
                <a:cs typeface="Yu Gothic" pitchFamily="34" charset="-120"/>
              </a:rPr>
              <a:t>›</a:t>
            </a:r>
            <a:endParaRPr lang="en-US" sz="1400" dirty="0"/>
          </a:p>
        </p:txBody>
      </p:sp>
      <p:sp>
        <p:nvSpPr>
          <p:cNvPr id="49" name="Text 46"/>
          <p:cNvSpPr txBox="1"/>
          <p:nvPr/>
        </p:nvSpPr>
        <p:spPr>
          <a:xfrm>
            <a:off x="4526280" y="4956048"/>
            <a:ext cx="182880" cy="274320"/>
          </a:xfrm>
          <a:prstGeom prst="rect">
            <a:avLst/>
          </a:prstGeom>
          <a:noFill/>
          <a:ln/>
        </p:spPr>
        <p:txBody>
          <a:bodyPr wrap="square" lIns="0" tIns="0" rIns="0" bIns="0" rtlCol="0" anchor="t"/>
          <a:lstStyle/>
          <a:p>
            <a:pPr algn="ctr" indent="0" marL="0">
              <a:buNone/>
            </a:pPr>
            <a:r>
              <a:rPr lang="en-US" sz="1400" b="1" dirty="0">
                <a:solidFill>
                  <a:srgbClr val="E8934D"/>
                </a:solidFill>
                <a:latin typeface="Yu Gothic" pitchFamily="34" charset="0"/>
                <a:ea typeface="Yu Gothic" pitchFamily="34" charset="-122"/>
                <a:cs typeface="Yu Gothic" pitchFamily="34" charset="-120"/>
              </a:rPr>
              <a:t>›</a:t>
            </a:r>
            <a:endParaRPr lang="en-US" sz="1400" dirty="0"/>
          </a:p>
        </p:txBody>
      </p:sp>
      <p:sp>
        <p:nvSpPr>
          <p:cNvPr id="50" name="Text 47"/>
          <p:cNvSpPr txBox="1"/>
          <p:nvPr/>
        </p:nvSpPr>
        <p:spPr>
          <a:xfrm>
            <a:off x="594360" y="5577840"/>
            <a:ext cx="5760720" cy="45720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学習・検証・テストの分け方は線形補間のときと同じ（p.35）。テスト配置は最後まで学習に使わない。</a:t>
            </a:r>
            <a:endParaRPr lang="en-US" sz="950" dirty="0"/>
          </a:p>
        </p:txBody>
      </p:sp>
      <p:sp>
        <p:nvSpPr>
          <p:cNvPr id="51" name="Shape 48"/>
          <p:cNvSpPr/>
          <p:nvPr/>
        </p:nvSpPr>
        <p:spPr>
          <a:xfrm>
            <a:off x="6675120" y="3566160"/>
            <a:ext cx="5074920" cy="2743200"/>
          </a:xfrm>
          <a:prstGeom prst="roundRect">
            <a:avLst>
              <a:gd name="adj" fmla="val 2000"/>
            </a:avLst>
          </a:prstGeom>
          <a:solidFill>
            <a:srgbClr val="1B2A44"/>
          </a:solidFill>
          <a:ln/>
        </p:spPr>
      </p:sp>
      <p:sp>
        <p:nvSpPr>
          <p:cNvPr id="52" name="Text 49"/>
          <p:cNvSpPr txBox="1"/>
          <p:nvPr/>
        </p:nvSpPr>
        <p:spPr>
          <a:xfrm>
            <a:off x="6812280" y="3621024"/>
            <a:ext cx="484632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F の決め方（学習）</a:t>
            </a:r>
            <a:endParaRPr lang="en-US" sz="1100" dirty="0"/>
          </a:p>
        </p:txBody>
      </p:sp>
      <p:sp>
        <p:nvSpPr>
          <p:cNvPr id="53" name="Text 50"/>
          <p:cNvSpPr txBox="1"/>
          <p:nvPr/>
        </p:nvSpPr>
        <p:spPr>
          <a:xfrm>
            <a:off x="6812280" y="3931920"/>
            <a:ext cx="48463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Ŷ</a:t>
            </a:r>
            <a:pPr indent="0" marL="0">
              <a:buNone/>
            </a:pPr>
            <a:r>
              <a:rPr lang="en-US" sz="1100" b="1" baseline="-40000" dirty="0">
                <a:solidFill>
                  <a:srgbClr val="FFFFFF"/>
                </a:solidFill>
                <a:latin typeface="Yu Gothic" pitchFamily="34" charset="0"/>
                <a:ea typeface="Yu Gothic" pitchFamily="34" charset="-122"/>
                <a:cs typeface="Yu Gothic" pitchFamily="34" charset="-120"/>
              </a:rPr>
              <a:t>f,k</a:t>
            </a:r>
            <a:pPr indent="0" marL="0">
              <a:buNone/>
            </a:pPr>
            <a:r>
              <a:rPr lang="en-US" sz="1100" b="1" dirty="0">
                <a:solidFill>
                  <a:srgbClr val="FFFFFF"/>
                </a:solidFill>
                <a:latin typeface="Yu Gothic" pitchFamily="34" charset="0"/>
                <a:ea typeface="Yu Gothic" pitchFamily="34" charset="-122"/>
                <a:cs typeface="Yu Gothic" pitchFamily="34" charset="-120"/>
              </a:rPr>
              <a:t> ＝ F( x</a:t>
            </a:r>
            <a:pPr indent="0" marL="0">
              <a:buNone/>
            </a:pPr>
            <a:r>
              <a:rPr lang="en-US" sz="1100" b="1" baseline="-40000" dirty="0">
                <a:solidFill>
                  <a:srgbClr val="FFFFFF"/>
                </a:solidFill>
                <a:latin typeface="Yu Gothic" pitchFamily="34" charset="0"/>
                <a:ea typeface="Yu Gothic" pitchFamily="34" charset="-122"/>
                <a:cs typeface="Yu Gothic" pitchFamily="34" charset="-120"/>
              </a:rPr>
              <a:t>f,k</a:t>
            </a:r>
            <a:pPr indent="0" marL="0">
              <a:buNone/>
            </a:pPr>
            <a:r>
              <a:rPr lang="en-US" sz="1100" b="1" dirty="0">
                <a:solidFill>
                  <a:srgbClr val="FFFFFF"/>
                </a:solidFill>
                <a:latin typeface="Yu Gothic" pitchFamily="34" charset="0"/>
                <a:ea typeface="Yu Gothic" pitchFamily="34" charset="-122"/>
                <a:cs typeface="Yu Gothic" pitchFamily="34" charset="-120"/>
              </a:rPr>
              <a:t> )　x ＝ ( h</a:t>
            </a:r>
            <a:pPr indent="0" marL="0">
              <a:buNone/>
            </a:pPr>
            <a:r>
              <a:rPr lang="en-US" sz="1100" b="1" baseline="-40000" dirty="0">
                <a:solidFill>
                  <a:srgbClr val="FFFFFF"/>
                </a:solidFill>
                <a:latin typeface="Yu Gothic" pitchFamily="34" charset="0"/>
                <a:ea typeface="Yu Gothic" pitchFamily="34" charset="-122"/>
                <a:cs typeface="Yu Gothic" pitchFamily="34" charset="-120"/>
              </a:rPr>
              <a:t>1</a:t>
            </a:r>
            <a:pPr indent="0" marL="0">
              <a:buNone/>
            </a:pPr>
            <a:r>
              <a:rPr lang="en-US" sz="1100" b="1" dirty="0">
                <a:solidFill>
                  <a:srgbClr val="FFFFFF"/>
                </a:solidFill>
                <a:latin typeface="Yu Gothic" pitchFamily="34" charset="0"/>
                <a:ea typeface="Yu Gothic" pitchFamily="34" charset="-122"/>
                <a:cs typeface="Yu Gothic" pitchFamily="34" charset="-120"/>
              </a:rPr>
              <a:t>, …, h</a:t>
            </a:r>
            <a:pPr indent="0" marL="0">
              <a:buNone/>
            </a:pPr>
            <a:r>
              <a:rPr lang="en-US" sz="1100" b="1" baseline="-40000" dirty="0">
                <a:solidFill>
                  <a:srgbClr val="FFFFFF"/>
                </a:solidFill>
                <a:latin typeface="Yu Gothic" pitchFamily="34" charset="0"/>
                <a:ea typeface="Yu Gothic" pitchFamily="34" charset="-122"/>
                <a:cs typeface="Yu Gothic" pitchFamily="34" charset="-120"/>
              </a:rPr>
              <a:t>12</a:t>
            </a:r>
            <a:pPr indent="0" marL="0">
              <a:buNone/>
            </a:pPr>
            <a:r>
              <a:rPr lang="en-US" sz="1100" b="1" dirty="0">
                <a:solidFill>
                  <a:srgbClr val="FFFFFF"/>
                </a:solidFill>
                <a:latin typeface="Yu Gothic" pitchFamily="34" charset="0"/>
                <a:ea typeface="Yu Gothic" pitchFamily="34" charset="-122"/>
                <a:cs typeface="Yu Gothic" pitchFamily="34" charset="-120"/>
              </a:rPr>
              <a:t>, O, z, 面の向き )</a:t>
            </a:r>
            <a:endParaRPr lang="en-US" sz="1100" dirty="0"/>
          </a:p>
        </p:txBody>
      </p:sp>
      <p:sp>
        <p:nvSpPr>
          <p:cNvPr id="54" name="Text 51"/>
          <p:cNvSpPr txBox="1"/>
          <p:nvPr/>
        </p:nvSpPr>
        <p:spPr>
          <a:xfrm>
            <a:off x="6812280" y="4315968"/>
            <a:ext cx="4846320" cy="292608"/>
          </a:xfrm>
          <a:prstGeom prst="rect">
            <a:avLst/>
          </a:prstGeom>
          <a:noFill/>
          <a:ln/>
        </p:spPr>
        <p:txBody>
          <a:bodyPr wrap="square" lIns="508" tIns="508" rIns="508" bIns="508" rtlCol="0" anchor="t"/>
          <a:lstStyle/>
          <a:p>
            <a:pPr indent="0" marL="0">
              <a:buNone/>
            </a:pPr>
            <a:r>
              <a:rPr lang="en-US" sz="1150" b="1" dirty="0">
                <a:solidFill>
                  <a:srgbClr val="FFFFFF"/>
                </a:solidFill>
                <a:latin typeface="Yu Gothic" pitchFamily="34" charset="0"/>
                <a:ea typeface="Yu Gothic" pitchFamily="34" charset="-122"/>
                <a:cs typeface="Yu Gothic" pitchFamily="34" charset="-120"/>
              </a:rPr>
              <a:t>Σ</a:t>
            </a:r>
            <a:pPr indent="0" marL="0">
              <a:buNone/>
            </a:pPr>
            <a:r>
              <a:rPr lang="en-US" sz="1150" b="1" baseline="-40000" dirty="0">
                <a:solidFill>
                  <a:srgbClr val="FFFFFF"/>
                </a:solidFill>
                <a:latin typeface="Yu Gothic" pitchFamily="34" charset="0"/>
                <a:ea typeface="Yu Gothic" pitchFamily="34" charset="-122"/>
                <a:cs typeface="Yu Gothic" pitchFamily="34" charset="-120"/>
              </a:rPr>
              <a:t>n=1</a:t>
            </a:r>
            <a:pPr indent="0" marL="0">
              <a:buNone/>
            </a:pPr>
            <a:r>
              <a:rPr lang="en-US" sz="1150" b="1" baseline="30000" dirty="0">
                <a:solidFill>
                  <a:srgbClr val="FFFFFF"/>
                </a:solidFill>
                <a:latin typeface="Yu Gothic" pitchFamily="34" charset="0"/>
                <a:ea typeface="Yu Gothic" pitchFamily="34" charset="-122"/>
                <a:cs typeface="Yu Gothic" pitchFamily="34" charset="-120"/>
              </a:rPr>
              <a:t>N</a:t>
            </a:r>
            <a:pPr indent="0" marL="0">
              <a:buNone/>
            </a:pPr>
            <a:r>
              <a:rPr lang="en-US" sz="1150" b="1" dirty="0">
                <a:solidFill>
                  <a:srgbClr val="FFFFFF"/>
                </a:solidFill>
                <a:latin typeface="Yu Gothic" pitchFamily="34" charset="0"/>
                <a:ea typeface="Yu Gothic" pitchFamily="34" charset="-122"/>
                <a:cs typeface="Yu Gothic" pitchFamily="34" charset="-120"/>
              </a:rPr>
              <a:t> ( F(x</a:t>
            </a:r>
            <a:pPr indent="0" marL="0">
              <a:buNone/>
            </a:pPr>
            <a:r>
              <a:rPr lang="en-US" sz="1150" b="1" baseline="-40000" dirty="0">
                <a:solidFill>
                  <a:srgbClr val="FFFFFF"/>
                </a:solidFill>
                <a:latin typeface="Yu Gothic" pitchFamily="34" charset="0"/>
                <a:ea typeface="Yu Gothic" pitchFamily="34" charset="-122"/>
                <a:cs typeface="Yu Gothic" pitchFamily="34" charset="-120"/>
              </a:rPr>
              <a:t>n</a:t>
            </a:r>
            <a:pPr indent="0" marL="0">
              <a:buNone/>
            </a:pPr>
            <a:r>
              <a:rPr lang="en-US" sz="1150" b="1" dirty="0">
                <a:solidFill>
                  <a:srgbClr val="FFFFFF"/>
                </a:solidFill>
                <a:latin typeface="Yu Gothic" pitchFamily="34" charset="0"/>
                <a:ea typeface="Yu Gothic" pitchFamily="34" charset="-122"/>
                <a:cs typeface="Yu Gothic" pitchFamily="34" charset="-120"/>
              </a:rPr>
              <a:t>) − y</a:t>
            </a:r>
            <a:pPr indent="0" marL="0">
              <a:buNone/>
            </a:pPr>
            <a:r>
              <a:rPr lang="en-US" sz="1150" b="1" baseline="-40000" dirty="0">
                <a:solidFill>
                  <a:srgbClr val="FFFFFF"/>
                </a:solidFill>
                <a:latin typeface="Yu Gothic" pitchFamily="34" charset="0"/>
                <a:ea typeface="Yu Gothic" pitchFamily="34" charset="-122"/>
                <a:cs typeface="Yu Gothic" pitchFamily="34" charset="-120"/>
              </a:rPr>
              <a:t>n</a:t>
            </a:r>
            <a:pPr indent="0" marL="0">
              <a:buNone/>
            </a:pPr>
            <a:r>
              <a:rPr lang="en-US" sz="1150" b="1" dirty="0">
                <a:solidFill>
                  <a:srgbClr val="FFFFFF"/>
                </a:solidFill>
                <a:latin typeface="Yu Gothic" pitchFamily="34" charset="0"/>
                <a:ea typeface="Yu Gothic" pitchFamily="34" charset="-122"/>
                <a:cs typeface="Yu Gothic" pitchFamily="34" charset="-120"/>
              </a:rPr>
              <a:t> )</a:t>
            </a:r>
            <a:pPr indent="0" marL="0">
              <a:buNone/>
            </a:pPr>
            <a:r>
              <a:rPr lang="en-US" sz="1150" b="1" baseline="30000" dirty="0">
                <a:solidFill>
                  <a:srgbClr val="FFFFFF"/>
                </a:solidFill>
                <a:latin typeface="Yu Gothic" pitchFamily="34" charset="0"/>
                <a:ea typeface="Yu Gothic" pitchFamily="34" charset="-122"/>
                <a:cs typeface="Yu Gothic" pitchFamily="34" charset="-120"/>
              </a:rPr>
              <a:t>2</a:t>
            </a:r>
            <a:pPr indent="0" marL="0">
              <a:buNone/>
            </a:pPr>
            <a:r>
              <a:rPr lang="en-US" sz="1150" b="1" dirty="0">
                <a:solidFill>
                  <a:srgbClr val="FFFFFF"/>
                </a:solidFill>
                <a:latin typeface="Yu Gothic" pitchFamily="34" charset="0"/>
                <a:ea typeface="Yu Gothic" pitchFamily="34" charset="-122"/>
                <a:cs typeface="Yu Gothic" pitchFamily="34" charset="-120"/>
              </a:rPr>
              <a:t> が一番小さくなる F を選ぶ</a:t>
            </a:r>
            <a:endParaRPr lang="en-US" sz="1150" dirty="0"/>
          </a:p>
        </p:txBody>
      </p:sp>
      <p:sp>
        <p:nvSpPr>
          <p:cNvPr id="55" name="Text 52"/>
          <p:cNvSpPr txBox="1"/>
          <p:nvPr/>
        </p:nvSpPr>
        <p:spPr>
          <a:xfrm>
            <a:off x="6812280" y="4645152"/>
            <a:ext cx="4846320" cy="411480"/>
          </a:xfrm>
          <a:prstGeom prst="rect">
            <a:avLst/>
          </a:prstGeom>
          <a:noFill/>
          <a:ln/>
        </p:spPr>
        <p:txBody>
          <a:bodyPr wrap="square" lIns="508" tIns="508" rIns="508" bIns="508" rtlCol="0" anchor="t"/>
          <a:lstStyle/>
          <a:p>
            <a:pPr indent="0" marL="0">
              <a:buNone/>
            </a:pPr>
            <a:r>
              <a:rPr lang="en-US" sz="900" dirty="0">
                <a:solidFill>
                  <a:srgbClr val="CADCFC"/>
                </a:solidFill>
                <a:latin typeface="Yu Gothic" pitchFamily="34" charset="0"/>
                <a:ea typeface="Yu Gothic" pitchFamily="34" charset="-122"/>
                <a:cs typeface="Yu Gothic" pitchFamily="34" charset="-120"/>
              </a:rPr>
              <a:t>＝ 学習用の全部の行で「予測 − SEBE」の差を2乗して足し、それが最小になるように F の中の係数を調整する（最小二乗）</a:t>
            </a:r>
            <a:endParaRPr lang="en-US" sz="900" dirty="0"/>
          </a:p>
        </p:txBody>
      </p:sp>
      <p:sp>
        <p:nvSpPr>
          <p:cNvPr id="56" name="Text 53"/>
          <p:cNvSpPr txBox="1"/>
          <p:nvPr/>
        </p:nvSpPr>
        <p:spPr>
          <a:xfrm>
            <a:off x="6812280" y="5102352"/>
            <a:ext cx="4846320" cy="777240"/>
          </a:xfrm>
          <a:prstGeom prst="rect">
            <a:avLst/>
          </a:prstGeom>
          <a:noFill/>
          <a:ln/>
        </p:spPr>
        <p:txBody>
          <a:bodyPr wrap="square" lIns="508" tIns="508" rIns="508" bIns="508" rtlCol="0" anchor="t"/>
          <a:lstStyle/>
          <a:p>
            <a:pPr indent="0" marL="0">
              <a:buNone/>
            </a:pPr>
            <a:r>
              <a:rPr lang="en-US" sz="900" dirty="0">
                <a:solidFill>
                  <a:srgbClr val="E1E8F2"/>
                </a:solidFill>
                <a:latin typeface="Yu Gothic" pitchFamily="34" charset="0"/>
                <a:ea typeface="Yu Gothic" pitchFamily="34" charset="-122"/>
                <a:cs typeface="Yu Gothic" pitchFamily="34" charset="-120"/>
              </a:rPr>
              <a:t>記号　F：学習で作る関数（モデル）　x</a:t>
            </a:r>
            <a:pPr indent="0" marL="0">
              <a:buNone/>
            </a:pPr>
            <a:r>
              <a:rPr lang="en-US" sz="900" baseline="-40000" dirty="0">
                <a:solidFill>
                  <a:srgbClr val="E1E8F2"/>
                </a:solidFill>
                <a:latin typeface="Yu Gothic" pitchFamily="34" charset="0"/>
                <a:ea typeface="Yu Gothic" pitchFamily="34" charset="-122"/>
                <a:cs typeface="Yu Gothic" pitchFamily="34" charset="-120"/>
              </a:rPr>
              <a:t>n</a:t>
            </a:r>
            <a:pPr indent="0" marL="0">
              <a:buNone/>
            </a:pPr>
            <a:r>
              <a:rPr lang="en-US" sz="900" dirty="0">
                <a:solidFill>
                  <a:srgbClr val="E1E8F2"/>
                </a:solidFill>
                <a:latin typeface="Yu Gothic" pitchFamily="34" charset="0"/>
                <a:ea typeface="Yu Gothic" pitchFamily="34" charset="-122"/>
                <a:cs typeface="Yu Gothic" pitchFamily="34" charset="-120"/>
              </a:rPr>
              <a:t>：n行目の特徴量　y</a:t>
            </a:r>
            <a:pPr indent="0" marL="0">
              <a:buNone/>
            </a:pPr>
            <a:r>
              <a:rPr lang="en-US" sz="900" baseline="-40000" dirty="0">
                <a:solidFill>
                  <a:srgbClr val="E1E8F2"/>
                </a:solidFill>
                <a:latin typeface="Yu Gothic" pitchFamily="34" charset="0"/>
                <a:ea typeface="Yu Gothic" pitchFamily="34" charset="-122"/>
                <a:cs typeface="Yu Gothic" pitchFamily="34" charset="-120"/>
              </a:rPr>
              <a:t>n</a:t>
            </a:r>
            <a:pPr indent="0" marL="0">
              <a:buNone/>
            </a:pPr>
            <a:r>
              <a:rPr lang="en-US" sz="900" dirty="0">
                <a:solidFill>
                  <a:srgbClr val="E1E8F2"/>
                </a:solidFill>
                <a:latin typeface="Yu Gothic" pitchFamily="34" charset="0"/>
                <a:ea typeface="Yu Gothic" pitchFamily="34" charset="-122"/>
                <a:cs typeface="Yu Gothic" pitchFamily="34" charset="-120"/>
              </a:rPr>
              <a:t>：n行目の SEBE の値　n：行の番号　N：行の数（配置数×20。例：100配置なら2,000行＝仮の数）　f：面　k：帯　2乗：プラスとマイナスの差を打ち消さないため</a:t>
            </a:r>
            <a:endParaRPr lang="en-US" sz="900" dirty="0"/>
          </a:p>
        </p:txBody>
      </p:sp>
      <p:sp>
        <p:nvSpPr>
          <p:cNvPr id="57" name="Text 54"/>
          <p:cNvSpPr txBox="1"/>
          <p:nvPr/>
        </p:nvSpPr>
        <p:spPr>
          <a:xfrm>
            <a:off x="6812280" y="5925312"/>
            <a:ext cx="4846320" cy="274320"/>
          </a:xfrm>
          <a:prstGeom prst="rect">
            <a:avLst/>
          </a:prstGeom>
          <a:noFill/>
          <a:ln/>
        </p:spPr>
        <p:txBody>
          <a:bodyPr wrap="square" lIns="508" tIns="508" rIns="508" bIns="508" rtlCol="0" anchor="t"/>
          <a:lstStyle/>
          <a:p>
            <a:pPr indent="0" marL="0">
              <a:buNone/>
            </a:pPr>
            <a:r>
              <a:rPr lang="en-US" sz="950" b="1" dirty="0">
                <a:solidFill>
                  <a:srgbClr val="E8934D"/>
                </a:solidFill>
                <a:latin typeface="Yu Gothic" pitchFamily="34" charset="0"/>
                <a:ea typeface="Yu Gothic" pitchFamily="34" charset="-122"/>
                <a:cs typeface="Yu Gothic" pitchFamily="34" charset="-120"/>
              </a:rPr>
              <a:t>F の候補：重回帰・ランダムフォレスト・ニューラルネットなど（来週決める）</a:t>
            </a:r>
            <a:endParaRPr lang="en-US" sz="95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線形補間との比較：同じテスト配置で精度を比べて、どちらを使うか決める</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44 / 45</a:t>
            </a:r>
            <a:endParaRPr lang="en-US" sz="1100" dirty="0"/>
          </a:p>
        </p:txBody>
      </p:sp>
      <p:sp>
        <p:nvSpPr>
          <p:cNvPr id="9" name="Shape 7"/>
          <p:cNvSpPr/>
          <p:nvPr/>
        </p:nvSpPr>
        <p:spPr>
          <a:xfrm>
            <a:off x="457200" y="1060704"/>
            <a:ext cx="1955292" cy="329184"/>
          </a:xfrm>
          <a:prstGeom prst="homePlate">
            <a:avLst/>
          </a:prstGeom>
          <a:solidFill>
            <a:srgbClr val="CFE3E5"/>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① 考え方（立体）</a:t>
            </a:r>
            <a:endParaRPr lang="en-US" sz="900" dirty="0"/>
          </a:p>
        </p:txBody>
      </p:sp>
      <p:sp>
        <p:nvSpPr>
          <p:cNvPr id="11" name="Shape 9"/>
          <p:cNvSpPr/>
          <p:nvPr/>
        </p:nvSpPr>
        <p:spPr>
          <a:xfrm>
            <a:off x="2339340" y="1060704"/>
            <a:ext cx="1955292" cy="329184"/>
          </a:xfrm>
          <a:prstGeom prst="chevron">
            <a:avLst/>
          </a:prstGeom>
          <a:solidFill>
            <a:srgbClr val="CFE3E5"/>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② 空の地図の作り方</a:t>
            </a:r>
            <a:endParaRPr lang="en-US" sz="900" dirty="0"/>
          </a:p>
        </p:txBody>
      </p:sp>
      <p:sp>
        <p:nvSpPr>
          <p:cNvPr id="13" name="Shape 11"/>
          <p:cNvSpPr/>
          <p:nvPr/>
        </p:nvSpPr>
        <p:spPr>
          <a:xfrm>
            <a:off x="4221480" y="1060704"/>
            <a:ext cx="1955292" cy="329184"/>
          </a:xfrm>
          <a:prstGeom prst="chevron">
            <a:avLst/>
          </a:prstGeom>
          <a:solidFill>
            <a:srgbClr val="CFE3E5"/>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③ 遮蔽高度角 h</a:t>
            </a:r>
            <a:endParaRPr lang="en-US" sz="900" dirty="0"/>
          </a:p>
        </p:txBody>
      </p:sp>
      <p:sp>
        <p:nvSpPr>
          <p:cNvPr id="15" name="Shape 13"/>
          <p:cNvSpPr/>
          <p:nvPr/>
        </p:nvSpPr>
        <p:spPr>
          <a:xfrm>
            <a:off x="6103620" y="1060704"/>
            <a:ext cx="1955292" cy="329184"/>
          </a:xfrm>
          <a:prstGeom prst="chevron">
            <a:avLst/>
          </a:prstGeom>
          <a:solidFill>
            <a:srgbClr val="CFE3E5"/>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④ ふさがれた割合 O</a:t>
            </a:r>
            <a:endParaRPr lang="en-US" sz="900" dirty="0"/>
          </a:p>
        </p:txBody>
      </p:sp>
      <p:sp>
        <p:nvSpPr>
          <p:cNvPr id="17" name="Shape 15"/>
          <p:cNvSpPr/>
          <p:nvPr/>
        </p:nvSpPr>
        <p:spPr>
          <a:xfrm>
            <a:off x="7985760" y="1060704"/>
            <a:ext cx="1955292" cy="329184"/>
          </a:xfrm>
          <a:prstGeom prst="chevron">
            <a:avLst/>
          </a:prstGeom>
          <a:solidFill>
            <a:srgbClr val="CFE3E5"/>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1F6F78"/>
                </a:solidFill>
                <a:latin typeface="Yu Gothic" pitchFamily="34" charset="0"/>
                <a:ea typeface="Yu Gothic" pitchFamily="34" charset="-122"/>
                <a:cs typeface="Yu Gothic" pitchFamily="34" charset="-120"/>
              </a:rPr>
              <a:t>⑤ 機械学習で予測</a:t>
            </a:r>
            <a:endParaRPr lang="en-US" sz="900" dirty="0"/>
          </a:p>
        </p:txBody>
      </p:sp>
      <p:sp>
        <p:nvSpPr>
          <p:cNvPr id="19" name="Shape 17"/>
          <p:cNvSpPr/>
          <p:nvPr/>
        </p:nvSpPr>
        <p:spPr>
          <a:xfrm>
            <a:off x="9867900" y="1060704"/>
            <a:ext cx="1955292" cy="329184"/>
          </a:xfrm>
          <a:prstGeom prst="chevron">
            <a:avLst/>
          </a:prstGeom>
          <a:solidFill>
            <a:srgbClr val="1F6F78"/>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⑥ 比べ方と来週</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6949440" cy="914400"/>
        </p:xfrm>
        <a:graphic>
          <a:graphicData uri="http://schemas.openxmlformats.org/drawingml/2006/table">
            <a:tbl>
              <a:tblPr/>
              <a:tblGrid>
                <a:gridCol w="1463040"/>
                <a:gridCol w="2560320"/>
                <a:gridCol w="2926080"/>
              </a:tblGrid>
              <a:tr h="420624">
                <a:tc>
                  <a:txBody>
                    <a:bodyPr/>
                    <a:lstStyle/>
                    <a:p>
                      <a:pPr algn="l"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線形補間（今の方法）</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空の遮られ方（代案）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42062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入力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 D などの配置の変数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同じ（内部で空の地図 → h・O に変換）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学習に使う配置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格子の全組み合わせ（4方向で1万、17変数で約246万）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格子をそろえなくてよい（ばらばらな配置で学べる）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2062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変数が増えたとき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必要な配置が3倍以上ずつ増える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入力の大きさは同じ（12方位＋O＋z＋面）</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影の重なり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全配置の SEBE 値にそのまま含む</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マスを1回だけ数える（max）ので二重に数えない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2062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予測の計算</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256頂点の重み付き平均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地図を作って F に入れる（SEBE不要）</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弱いところ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表の外は計算できない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学習データが少ないと精度が出ない／地図の細かさで誤差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22" name="Shape 19"/>
          <p:cNvSpPr/>
          <p:nvPr/>
        </p:nvSpPr>
        <p:spPr>
          <a:xfrm>
            <a:off x="7589520" y="1554480"/>
            <a:ext cx="4160520" cy="2834640"/>
          </a:xfrm>
          <a:prstGeom prst="roundRect">
            <a:avLst>
              <a:gd name="adj" fmla="val 1935"/>
            </a:avLst>
          </a:prstGeom>
          <a:solidFill>
            <a:srgbClr val="1B2A44"/>
          </a:solidFill>
          <a:ln/>
        </p:spPr>
      </p:sp>
      <p:sp>
        <p:nvSpPr>
          <p:cNvPr id="23" name="Text 20"/>
          <p:cNvSpPr txBox="1"/>
          <p:nvPr/>
        </p:nvSpPr>
        <p:spPr>
          <a:xfrm>
            <a:off x="7726680" y="1609344"/>
            <a:ext cx="393192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来週の確かめ方（案）</a:t>
            </a:r>
            <a:endParaRPr lang="en-US" sz="1100" dirty="0"/>
          </a:p>
        </p:txBody>
      </p:sp>
      <p:sp>
        <p:nvSpPr>
          <p:cNvPr id="24" name="Shape 21"/>
          <p:cNvSpPr/>
          <p:nvPr/>
        </p:nvSpPr>
        <p:spPr>
          <a:xfrm>
            <a:off x="7726680" y="2002536"/>
            <a:ext cx="274320" cy="274320"/>
          </a:xfrm>
          <a:prstGeom prst="ellipse">
            <a:avLst/>
          </a:prstGeom>
          <a:solidFill>
            <a:srgbClr val="E8934D"/>
          </a:solidFill>
          <a:ln/>
        </p:spPr>
      </p:sp>
      <p:sp>
        <p:nvSpPr>
          <p:cNvPr id="25" name="Text 22"/>
          <p:cNvSpPr txBox="1"/>
          <p:nvPr/>
        </p:nvSpPr>
        <p:spPr>
          <a:xfrm>
            <a:off x="7726680" y="200253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1</a:t>
            </a:r>
            <a:endParaRPr lang="en-US" sz="1100" dirty="0"/>
          </a:p>
        </p:txBody>
      </p:sp>
      <p:sp>
        <p:nvSpPr>
          <p:cNvPr id="26" name="Text 23"/>
          <p:cNvSpPr txBox="1"/>
          <p:nvPr/>
        </p:nvSpPr>
        <p:spPr>
          <a:xfrm>
            <a:off x="8092440" y="1965960"/>
            <a:ext cx="3566160" cy="50292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南1棟の既存データで、各帯の点の h・O を計算する</a:t>
            </a:r>
            <a:endParaRPr lang="en-US" sz="1000" dirty="0"/>
          </a:p>
        </p:txBody>
      </p:sp>
      <p:sp>
        <p:nvSpPr>
          <p:cNvPr id="27" name="Shape 24"/>
          <p:cNvSpPr/>
          <p:nvPr/>
        </p:nvSpPr>
        <p:spPr>
          <a:xfrm>
            <a:off x="7726680" y="2578608"/>
            <a:ext cx="274320" cy="274320"/>
          </a:xfrm>
          <a:prstGeom prst="ellipse">
            <a:avLst/>
          </a:prstGeom>
          <a:solidFill>
            <a:srgbClr val="E8934D"/>
          </a:solidFill>
          <a:ln/>
        </p:spPr>
      </p:sp>
      <p:sp>
        <p:nvSpPr>
          <p:cNvPr id="28" name="Text 25"/>
          <p:cNvSpPr txBox="1"/>
          <p:nvPr/>
        </p:nvSpPr>
        <p:spPr>
          <a:xfrm>
            <a:off x="7726680" y="257860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a:t>
            </a:r>
            <a:endParaRPr lang="en-US" sz="1100" dirty="0"/>
          </a:p>
        </p:txBody>
      </p:sp>
      <p:sp>
        <p:nvSpPr>
          <p:cNvPr id="29" name="Text 26"/>
          <p:cNvSpPr txBox="1"/>
          <p:nvPr/>
        </p:nvSpPr>
        <p:spPr>
          <a:xfrm>
            <a:off x="8092440" y="2542032"/>
            <a:ext cx="3566160" cy="50292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学習16配置で F を作り、検証8配置でモデルを選ぶ</a:t>
            </a:r>
            <a:endParaRPr lang="en-US" sz="1000" dirty="0"/>
          </a:p>
        </p:txBody>
      </p:sp>
      <p:sp>
        <p:nvSpPr>
          <p:cNvPr id="30" name="Shape 27"/>
          <p:cNvSpPr/>
          <p:nvPr/>
        </p:nvSpPr>
        <p:spPr>
          <a:xfrm>
            <a:off x="7726680" y="3154680"/>
            <a:ext cx="274320" cy="274320"/>
          </a:xfrm>
          <a:prstGeom prst="ellipse">
            <a:avLst/>
          </a:prstGeom>
          <a:solidFill>
            <a:srgbClr val="E8934D"/>
          </a:solidFill>
          <a:ln/>
        </p:spPr>
      </p:sp>
      <p:sp>
        <p:nvSpPr>
          <p:cNvPr id="31" name="Text 28"/>
          <p:cNvSpPr txBox="1"/>
          <p:nvPr/>
        </p:nvSpPr>
        <p:spPr>
          <a:xfrm>
            <a:off x="7726680" y="31546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3</a:t>
            </a:r>
            <a:endParaRPr lang="en-US" sz="1100" dirty="0"/>
          </a:p>
        </p:txBody>
      </p:sp>
      <p:sp>
        <p:nvSpPr>
          <p:cNvPr id="32" name="Text 29"/>
          <p:cNvSpPr txBox="1"/>
          <p:nvPr/>
        </p:nvSpPr>
        <p:spPr>
          <a:xfrm>
            <a:off x="8092440" y="3118104"/>
            <a:ext cx="3566160" cy="50292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テスト12配置で MAE を出し、線形補間（MAE 18.40）と比べる</a:t>
            </a:r>
            <a:endParaRPr lang="en-US" sz="1000" dirty="0"/>
          </a:p>
        </p:txBody>
      </p:sp>
      <p:sp>
        <p:nvSpPr>
          <p:cNvPr id="33" name="Shape 30"/>
          <p:cNvSpPr/>
          <p:nvPr/>
        </p:nvSpPr>
        <p:spPr>
          <a:xfrm>
            <a:off x="7726680" y="3730752"/>
            <a:ext cx="274320" cy="274320"/>
          </a:xfrm>
          <a:prstGeom prst="ellipse">
            <a:avLst/>
          </a:prstGeom>
          <a:solidFill>
            <a:srgbClr val="E8934D"/>
          </a:solidFill>
          <a:ln/>
        </p:spPr>
      </p:sp>
      <p:sp>
        <p:nvSpPr>
          <p:cNvPr id="34" name="Text 31"/>
          <p:cNvSpPr txBox="1"/>
          <p:nvPr/>
        </p:nvSpPr>
        <p:spPr>
          <a:xfrm>
            <a:off x="7726680" y="373075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4</a:t>
            </a:r>
            <a:endParaRPr lang="en-US" sz="1100" dirty="0"/>
          </a:p>
        </p:txBody>
      </p:sp>
      <p:sp>
        <p:nvSpPr>
          <p:cNvPr id="35" name="Text 32"/>
          <p:cNvSpPr txBox="1"/>
          <p:nvPr/>
        </p:nvSpPr>
        <p:spPr>
          <a:xfrm>
            <a:off x="8092440" y="3694176"/>
            <a:ext cx="3566160" cy="50292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良ければ4方向・方位θのある配置へ広げる</a:t>
            </a:r>
            <a:endParaRPr lang="en-US" sz="1000" dirty="0"/>
          </a:p>
        </p:txBody>
      </p:sp>
      <p:sp>
        <p:nvSpPr>
          <p:cNvPr id="36" name="Shape 33"/>
          <p:cNvSpPr/>
          <p:nvPr/>
        </p:nvSpPr>
        <p:spPr>
          <a:xfrm>
            <a:off x="7589520" y="4526280"/>
            <a:ext cx="4160520" cy="1783080"/>
          </a:xfrm>
          <a:prstGeom prst="roundRect">
            <a:avLst>
              <a:gd name="adj" fmla="val 3077"/>
            </a:avLst>
          </a:prstGeom>
          <a:solidFill>
            <a:srgbClr val="FBEBDA"/>
          </a:solidFill>
          <a:ln/>
        </p:spPr>
      </p:sp>
      <p:sp>
        <p:nvSpPr>
          <p:cNvPr id="37" name="Text 34"/>
          <p:cNvSpPr txBox="1"/>
          <p:nvPr/>
        </p:nvSpPr>
        <p:spPr>
          <a:xfrm>
            <a:off x="7726680" y="4581144"/>
            <a:ext cx="393192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まだ決めていないこと</a:t>
            </a:r>
            <a:endParaRPr lang="en-US" sz="1100" dirty="0"/>
          </a:p>
        </p:txBody>
      </p:sp>
      <p:sp>
        <p:nvSpPr>
          <p:cNvPr id="38" name="Text 35"/>
          <p:cNvSpPr txBox="1"/>
          <p:nvPr/>
        </p:nvSpPr>
        <p:spPr>
          <a:xfrm>
            <a:off x="7726680" y="4873752"/>
            <a:ext cx="3931920" cy="1371600"/>
          </a:xfrm>
          <a:prstGeom prst="rect">
            <a:avLst/>
          </a:prstGeom>
          <a:noFill/>
          <a:ln/>
        </p:spPr>
        <p:txBody>
          <a:bodyPr wrap="square" lIns="508" tIns="508" rIns="508" bIns="508" rtlCol="0" anchor="t"/>
          <a:lstStyle/>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地図の細かさ（12×6 で足りるか）</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点の選び方（帯の中心1点か、複数点の平均か）</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モデルの種類と、必要な配置の数</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採用の基準（誤差率何%以内か）</a:t>
            </a:r>
            <a:endParaRPr lang="en-US" sz="1000" dirty="0"/>
          </a:p>
        </p:txBody>
      </p:sp>
      <p:sp>
        <p:nvSpPr>
          <p:cNvPr id="39" name="Text 36"/>
          <p:cNvSpPr txBox="1"/>
          <p:nvPr/>
        </p:nvSpPr>
        <p:spPr>
          <a:xfrm>
            <a:off x="457200" y="4617720"/>
            <a:ext cx="6949440" cy="54864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どちらが良いかはまだ分からない。17変数へ広げられる見通しがあるのは空の遮られ方なので、まず南1棟で線形補間と同じ条件で比べる。</a:t>
            </a:r>
            <a:endParaRPr lang="en-US" sz="1050" dirty="0"/>
          </a:p>
        </p:txBody>
      </p:sp>
      <p:sp>
        <p:nvSpPr>
          <p:cNvPr id="40" name="Text 37"/>
          <p:cNvSpPr txBox="1"/>
          <p:nvPr/>
        </p:nvSpPr>
        <p:spPr>
          <a:xfrm>
            <a:off x="457200" y="5212080"/>
            <a:ext cx="6949440" cy="4572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 南1棟の既存データは南面5帯だけなので、南面で比べる。4方向の学習データは新たに SEBE で計算が必要。</a:t>
            </a:r>
            <a:endParaRPr lang="en-US" sz="9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457200"/>
            <a:ext cx="45720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SUMMARY</a:t>
            </a:r>
            <a:endParaRPr lang="en-US" sz="1100" dirty="0"/>
          </a:p>
        </p:txBody>
      </p:sp>
      <p:sp>
        <p:nvSpPr>
          <p:cNvPr id="3" name="Text 1"/>
          <p:cNvSpPr txBox="1"/>
          <p:nvPr/>
        </p:nvSpPr>
        <p:spPr>
          <a:xfrm>
            <a:off x="640080" y="731520"/>
            <a:ext cx="10972800" cy="548640"/>
          </a:xfrm>
          <a:prstGeom prst="rect">
            <a:avLst/>
          </a:prstGeom>
          <a:noFill/>
          <a:ln/>
        </p:spPr>
        <p:txBody>
          <a:bodyPr wrap="square" lIns="508" tIns="508" rIns="508" bIns="508" rtlCol="0" anchor="t"/>
          <a:lstStyle/>
          <a:p>
            <a:pPr indent="0" marL="0">
              <a:buNone/>
            </a:pPr>
            <a:r>
              <a:rPr lang="en-US" sz="2600" b="1" dirty="0">
                <a:solidFill>
                  <a:srgbClr val="FFFFFF"/>
                </a:solidFill>
                <a:latin typeface="Yu Gothic" pitchFamily="34" charset="0"/>
                <a:ea typeface="Yu Gothic" pitchFamily="34" charset="-122"/>
                <a:cs typeface="Yu Gothic" pitchFamily="34" charset="-120"/>
              </a:rPr>
              <a:t>まとめ：今回整理したことと、来週やること</a:t>
            </a:r>
            <a:endParaRPr lang="en-US" sz="2600" dirty="0"/>
          </a:p>
        </p:txBody>
      </p:sp>
      <p:sp>
        <p:nvSpPr>
          <p:cNvPr id="4" name="Shape 2"/>
          <p:cNvSpPr/>
          <p:nvPr/>
        </p:nvSpPr>
        <p:spPr>
          <a:xfrm>
            <a:off x="640080" y="1554480"/>
            <a:ext cx="3474720" cy="4434840"/>
          </a:xfrm>
          <a:prstGeom prst="roundRect">
            <a:avLst>
              <a:gd name="adj" fmla="val 1579"/>
            </a:avLst>
          </a:prstGeom>
          <a:solidFill>
            <a:srgbClr val="24365A"/>
          </a:solidFill>
          <a:ln/>
        </p:spPr>
      </p:sp>
      <p:sp>
        <p:nvSpPr>
          <p:cNvPr id="5" name="Shape 3"/>
          <p:cNvSpPr/>
          <p:nvPr/>
        </p:nvSpPr>
        <p:spPr>
          <a:xfrm>
            <a:off x="640080" y="1554480"/>
            <a:ext cx="3474720" cy="502920"/>
          </a:xfrm>
          <a:prstGeom prst="roundRect">
            <a:avLst>
              <a:gd name="adj" fmla="val 10909"/>
            </a:avLst>
          </a:prstGeom>
          <a:solidFill>
            <a:srgbClr val="1F6F78"/>
          </a:solidFill>
          <a:ln/>
        </p:spPr>
      </p:sp>
      <p:sp>
        <p:nvSpPr>
          <p:cNvPr id="6" name="Text 4"/>
          <p:cNvSpPr txBox="1"/>
          <p:nvPr/>
        </p:nvSpPr>
        <p:spPr>
          <a:xfrm>
            <a:off x="8229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今回整理したこと</a:t>
            </a:r>
            <a:endParaRPr lang="en-US" sz="1400" dirty="0"/>
          </a:p>
        </p:txBody>
      </p:sp>
      <p:sp>
        <p:nvSpPr>
          <p:cNvPr id="7" name="Text 5"/>
          <p:cNvSpPr txBox="1"/>
          <p:nvPr/>
        </p:nvSpPr>
        <p:spPr>
          <a:xfrm>
            <a:off x="822960" y="2240280"/>
            <a:ext cx="3108960" cy="3657600"/>
          </a:xfrm>
          <a:prstGeom prst="rect">
            <a:avLst/>
          </a:prstGeom>
          <a:noFill/>
          <a:ln/>
        </p:spPr>
        <p:txBody>
          <a:bodyPr wrap="square" lIns="508" tIns="508" rIns="508" bIns="508" rtlCol="0" anchor="t"/>
          <a:lstStyle/>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データの役割（47配置）と、2,500区画→5帯→4隅の重み付き平均（Σ）の計算</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線形補間は4方向で 6,561〜10,000配置・256頂点。SEBE 1回30秒〜1分でも約3.5〜7日、17変数では数年 → 成立しない</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代案：壁の点から見た空の地図（72マス）→ 遮蔽高度角 h・ふさがれた割合 O → 機械学習 F</a:t>
            </a:r>
            <a:endParaRPr lang="en-US" sz="1250" dirty="0"/>
          </a:p>
        </p:txBody>
      </p:sp>
      <p:sp>
        <p:nvSpPr>
          <p:cNvPr id="8" name="Shape 6"/>
          <p:cNvSpPr/>
          <p:nvPr/>
        </p:nvSpPr>
        <p:spPr>
          <a:xfrm>
            <a:off x="4297680" y="1554480"/>
            <a:ext cx="3474720" cy="4434840"/>
          </a:xfrm>
          <a:prstGeom prst="roundRect">
            <a:avLst>
              <a:gd name="adj" fmla="val 1579"/>
            </a:avLst>
          </a:prstGeom>
          <a:solidFill>
            <a:srgbClr val="24365A"/>
          </a:solidFill>
          <a:ln/>
        </p:spPr>
      </p:sp>
      <p:sp>
        <p:nvSpPr>
          <p:cNvPr id="9" name="Shape 7"/>
          <p:cNvSpPr/>
          <p:nvPr/>
        </p:nvSpPr>
        <p:spPr>
          <a:xfrm>
            <a:off x="4297680" y="1554480"/>
            <a:ext cx="3474720" cy="502920"/>
          </a:xfrm>
          <a:prstGeom prst="roundRect">
            <a:avLst>
              <a:gd name="adj" fmla="val 10909"/>
            </a:avLst>
          </a:prstGeom>
          <a:solidFill>
            <a:srgbClr val="E8934D"/>
          </a:solidFill>
          <a:ln/>
        </p:spPr>
      </p:sp>
      <p:sp>
        <p:nvSpPr>
          <p:cNvPr id="10" name="Text 8"/>
          <p:cNvSpPr txBox="1"/>
          <p:nvPr/>
        </p:nvSpPr>
        <p:spPr>
          <a:xfrm>
            <a:off x="44805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来週やること</a:t>
            </a:r>
            <a:endParaRPr lang="en-US" sz="1400" dirty="0"/>
          </a:p>
        </p:txBody>
      </p:sp>
      <p:sp>
        <p:nvSpPr>
          <p:cNvPr id="11" name="Text 9"/>
          <p:cNvSpPr txBox="1"/>
          <p:nvPr/>
        </p:nvSpPr>
        <p:spPr>
          <a:xfrm>
            <a:off x="4480560" y="2240280"/>
            <a:ext cx="3108960" cy="3657600"/>
          </a:xfrm>
          <a:prstGeom prst="rect">
            <a:avLst/>
          </a:prstGeom>
          <a:noFill/>
          <a:ln/>
        </p:spPr>
        <p:txBody>
          <a:bodyPr wrap="square" lIns="508" tIns="508" rIns="508" bIns="508" rtlCol="0" anchor="t"/>
          <a:lstStyle/>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南1棟の既存データで h・O を計算する</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学習16・検証8で F を作り、テスト12配置で線形補間（MAE 18.40）と比べる</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地図の細かさ・点の選び方を決める</a:t>
            </a:r>
            <a:endParaRPr lang="en-US" sz="1250" dirty="0"/>
          </a:p>
        </p:txBody>
      </p:sp>
      <p:sp>
        <p:nvSpPr>
          <p:cNvPr id="12" name="Shape 10"/>
          <p:cNvSpPr/>
          <p:nvPr/>
        </p:nvSpPr>
        <p:spPr>
          <a:xfrm>
            <a:off x="7955280" y="1554480"/>
            <a:ext cx="3474720" cy="4434840"/>
          </a:xfrm>
          <a:prstGeom prst="roundRect">
            <a:avLst>
              <a:gd name="adj" fmla="val 1579"/>
            </a:avLst>
          </a:prstGeom>
          <a:solidFill>
            <a:srgbClr val="24365A"/>
          </a:solidFill>
          <a:ln/>
        </p:spPr>
      </p:sp>
      <p:sp>
        <p:nvSpPr>
          <p:cNvPr id="13" name="Shape 11"/>
          <p:cNvSpPr/>
          <p:nvPr/>
        </p:nvSpPr>
        <p:spPr>
          <a:xfrm>
            <a:off x="7955280" y="1554480"/>
            <a:ext cx="3474720" cy="502920"/>
          </a:xfrm>
          <a:prstGeom prst="roundRect">
            <a:avLst>
              <a:gd name="adj" fmla="val 10909"/>
            </a:avLst>
          </a:prstGeom>
          <a:solidFill>
            <a:srgbClr val="8FA0BC"/>
          </a:solidFill>
          <a:ln/>
        </p:spPr>
      </p:sp>
      <p:sp>
        <p:nvSpPr>
          <p:cNvPr id="14" name="Text 12"/>
          <p:cNvSpPr txBox="1"/>
          <p:nvPr/>
        </p:nvSpPr>
        <p:spPr>
          <a:xfrm>
            <a:off x="81381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まだ決めていないこと</a:t>
            </a:r>
            <a:endParaRPr lang="en-US" sz="1400" dirty="0"/>
          </a:p>
        </p:txBody>
      </p:sp>
      <p:sp>
        <p:nvSpPr>
          <p:cNvPr id="15" name="Text 13"/>
          <p:cNvSpPr txBox="1"/>
          <p:nvPr/>
        </p:nvSpPr>
        <p:spPr>
          <a:xfrm>
            <a:off x="8138160" y="2240280"/>
            <a:ext cx="3108960" cy="3657600"/>
          </a:xfrm>
          <a:prstGeom prst="rect">
            <a:avLst/>
          </a:prstGeom>
          <a:noFill/>
          <a:ln/>
        </p:spPr>
        <p:txBody>
          <a:bodyPr wrap="square" lIns="508" tIns="508" rIns="508" bIns="508" rtlCol="0" anchor="t"/>
          <a:lstStyle/>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機械学習モデルの種類</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空の遮られ方で必要な配置の数</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採用の基準（誤差率何%以内か）</a:t>
            </a:r>
            <a:endParaRPr lang="en-US" sz="1250" dirty="0"/>
          </a:p>
        </p:txBody>
      </p:sp>
      <p:sp>
        <p:nvSpPr>
          <p:cNvPr id="16" name="Text 14"/>
          <p:cNvSpPr txBox="1"/>
          <p:nvPr/>
        </p:nvSpPr>
        <p:spPr>
          <a:xfrm>
            <a:off x="640080" y="6053328"/>
            <a:ext cx="10881360" cy="32004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線形補間で全組み合わせを事前計算する方式は、17変数では成立しない。次は「空の遮られ方」を南1棟で試して比べる。</a:t>
            </a:r>
            <a:endParaRPr lang="en-US" sz="1150" dirty="0"/>
          </a:p>
        </p:txBody>
      </p:sp>
      <p:sp>
        <p:nvSpPr>
          <p:cNvPr id="17" name="Text 1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8FA0BC"/>
                </a:solidFill>
                <a:latin typeface="Yu Gothic" pitchFamily="34" charset="0"/>
                <a:ea typeface="Yu Gothic" pitchFamily="34" charset="-122"/>
                <a:cs typeface="Yu Gothic" pitchFamily="34" charset="-120"/>
              </a:rPr>
              <a:t>壁面日射量予測ツールの開発</a:t>
            </a:r>
            <a:endParaRPr lang="en-US" sz="950" dirty="0"/>
          </a:p>
        </p:txBody>
      </p:sp>
      <p:sp>
        <p:nvSpPr>
          <p:cNvPr id="18" name="Text 1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45 / 45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2527</Words>
  <Application>Microsoft Office PowerPoint</Application>
  <PresentationFormat>ワイド画面</PresentationFormat>
  <Paragraphs>639</Paragraphs>
  <Slides>18</Slides>
  <Notes>18</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18</vt:i4>
      </vt:variant>
    </vt:vector>
  </HeadingPairs>
  <TitlesOfParts>
    <vt:vector size="21" baseType="lpstr">
      <vt:lpstr>Yu Gothic</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光陽 吉野</cp:lastModifiedBy>
  <cp:revision>2</cp:revision>
  <dcterms:created xsi:type="dcterms:W3CDTF">2026-09-23T13:40:34Z</dcterms:created>
  <dcterms:modified xsi:type="dcterms:W3CDTF">2026-09-23T13:41:50Z</dcterms:modified>
</cp:coreProperties>
</file>