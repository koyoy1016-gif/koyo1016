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charts/chart2.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charts/chart3.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4.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5.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1B2A3A"/>
                </a:solidFill>
                <a:latin typeface="Yu Gothic"/>
              </a:defRPr>
            </a:pPr>
            <a:r>
              <a:rPr sz="1800" b="0" i="0" u="none" strike="noStrike">
                <a:solidFill>
                  <a:srgbClr val="1B2A3A"/>
                </a:solidFill>
                <a:latin typeface="Yu Gothic"/>
              </a:rPr>
              <a:t>往復時間（ms）※説明用の仮定</a:t>
            </a:r>
          </a:p>
        </c:rich>
      </c:tx>
      <c:layout/>
      <c:overlay val="0"/>
    </c:title>
    <c:autoTitleDeleted val="0"/>
    <c:plotArea>
      <c:layout/>
      <c:barChart>
        <c:barDir val="bar"/>
        <c:grouping val="clustered"/>
        <c:varyColors val="0"/>
        <c:ser>
          <c:idx val="0"/>
          <c:order val="0"/>
          <c:tx>
            <c:strRef>
              <c:f>Sheet1!$B$1</c:f>
              <c:strCache>
                <c:ptCount val="1"/>
                <c:pt idx="0">
                  <c:v>値</c:v>
                </c:pt>
              </c:strCache>
            </c:strRef>
          </c:tx>
          <c:spPr>
            <a:solidFill>
              <a:srgbClr val="C0392B"/>
            </a:solidFill>
            <a:effectLst/>
          </c:spPr>
          <c:invertIfNegative val="0"/>
          <c:dLbls>
            <c:numFmt formatCode="#,##0&quot;ms&quot;"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237A48"/>
              </a:solidFill>
              <a:effectLst/>
            </c:spPr>
          </c:dPt>
          <c:cat>
            <c:multiLvlStrRef>
              <c:f>Sheet1!$A$2:$A$3</c:f>
              <c:multiLvlStrCache>
                <c:ptCount val="2"/>
                <c:lvl>
                  <c:pt idx="0">
                    <c:v>回線A（大容量・往復200ms）</c:v>
                  </c:pt>
                  <c:pt idx="1">
                    <c:v>回線B（往復30ms・安定）</c:v>
                  </c:pt>
                </c:lvl>
              </c:multiLvlStrCache>
            </c:multiLvlStrRef>
          </c:cat>
          <c:val>
            <c:numRef>
              <c:f>Sheet1!$B$2:$B$3</c:f>
              <c:numCache>
                <c:formatCode>General</c:formatCode>
                <c:ptCount val="2"/>
                <c:pt idx="0">
                  <c:v>200</c:v>
                </c:pt>
                <c:pt idx="1">
                  <c:v>30</c:v>
                </c:pt>
              </c:numCache>
            </c:numRef>
          </c:val>
        </c:ser>
        <c:dLbls>
          <c:numFmt formatCode="#,##0&quot;ms&quot;"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1B2A3A"/>
                </a:solidFill>
                <a:latin typeface="Yu Gothic"/>
              </a:defRPr>
            </a:pPr>
            <a:endParaRPr lang="en-US"/>
          </a:p>
        </c:txPr>
        <c:crossAx val="2094734552"/>
        <c:crosses val="autoZero"/>
        <c:auto val="1"/>
        <c:lblAlgn val="ctr"/>
        <c:noMultiLvlLbl val="1"/>
      </c:catAx>
      <c:valAx>
        <c:axId val="2094734552"/>
        <c:scaling>
          <c:orientation val="minMax"/>
          <c:max val="2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600" b="0" i="0" u="none" strike="noStrike">
                <a:solidFill>
                  <a:srgbClr val="5B6B7B"/>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1B2A3A"/>
                </a:solidFill>
                <a:latin typeface="Yu Gothic"/>
              </a:defRPr>
            </a:pPr>
            <a:r>
              <a:rPr sz="1800" b="0" i="0" u="none" strike="noStrike">
                <a:solidFill>
                  <a:srgbClr val="1B2A3A"/>
                </a:solidFill>
                <a:latin typeface="Yu Gothic"/>
              </a:rPr>
              <a:t>世界のデータセンター電力消費（TWh）</a:t>
            </a:r>
          </a:p>
        </c:rich>
      </c:tx>
      <c:layout/>
      <c:overlay val="0"/>
    </c:title>
    <c:autoTitleDeleted val="0"/>
    <c:plotArea>
      <c:layout/>
      <c:barChart>
        <c:barDir val="col"/>
        <c:grouping val="clustered"/>
        <c:varyColors val="0"/>
        <c:ser>
          <c:idx val="0"/>
          <c:order val="0"/>
          <c:tx>
            <c:strRef>
              <c:f>Sheet1!$B$1</c:f>
              <c:strCache>
                <c:ptCount val="1"/>
                <c:pt idx="0">
                  <c:v>値</c:v>
                </c:pt>
              </c:strCache>
            </c:strRef>
          </c:tx>
          <c:spPr>
            <a:solidFill>
              <a:srgbClr val="2F6BC2"/>
            </a:solidFill>
            <a:effectLst/>
          </c:spPr>
          <c:invertIfNegative val="0"/>
          <c:dLbls>
            <c:numFmt formatCode="#,##0&quot;TWh&quot;"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dPt>
            <c:idx val="0"/>
            <c:invertIfNegative val="0"/>
            <c:bubble3D val="0"/>
            <c:spPr>
              <a:solidFill>
                <a:srgbClr val="2F6BC2"/>
              </a:solidFill>
              <a:effectLst/>
            </c:spPr>
          </c:dPt>
          <c:dPt>
            <c:idx val="1"/>
            <c:invertIfNegative val="0"/>
            <c:bubble3D val="0"/>
            <c:spPr>
              <a:solidFill>
                <a:srgbClr val="C0392B"/>
              </a:solidFill>
              <a:effectLst/>
            </c:spPr>
          </c:dPt>
          <c:cat>
            <c:multiLvlStrRef>
              <c:f>Sheet1!$A$2:$A$3</c:f>
              <c:multiLvlStrCache>
                <c:ptCount val="2"/>
                <c:lvl>
                  <c:pt idx="0">
                    <c:v>2024年（推計）</c:v>
                  </c:pt>
                  <c:pt idx="1">
                    <c:v>2030年（基本ケースの予測）</c:v>
                  </c:pt>
                </c:lvl>
              </c:multiLvlStrCache>
            </c:multiLvlStrRef>
          </c:cat>
          <c:val>
            <c:numRef>
              <c:f>Sheet1!$B$2:$B$3</c:f>
              <c:numCache>
                <c:formatCode>General</c:formatCode>
                <c:ptCount val="2"/>
                <c:pt idx="0">
                  <c:v>415</c:v>
                </c:pt>
                <c:pt idx="1">
                  <c:v>945</c:v>
                </c:pt>
              </c:numCache>
            </c:numRef>
          </c:val>
        </c:ser>
        <c:dLbls>
          <c:numFmt formatCode="#,##0&quot;TWh&quot;"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B2A3A"/>
                </a:solidFill>
                <a:latin typeface="Yu Gothic"/>
              </a:defRPr>
            </a:pPr>
            <a:endParaRPr lang="en-US"/>
          </a:p>
        </c:txPr>
        <c:crossAx val="2094734552"/>
        <c:crosses val="autoZero"/>
        <c:auto val="1"/>
        <c:lblAlgn val="ctr"/>
        <c:noMultiLvlLbl val="1"/>
      </c:catAx>
      <c:valAx>
        <c:axId val="2094734552"/>
        <c:scaling>
          <c:orientation val="minMax"/>
          <c:max val="1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5B6B7B"/>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1B2A3A"/>
                </a:solidFill>
                <a:latin typeface="Yu Gothic"/>
              </a:defRPr>
            </a:pPr>
            <a:r>
              <a:rPr sz="1800" b="0" i="0" u="none" strike="noStrike">
                <a:solidFill>
                  <a:srgbClr val="1B2A3A"/>
                </a:solidFill>
                <a:latin typeface="Yu Gothic"/>
              </a:rPr>
              <a:t>2025年の「注目すべきモデル」の開発数</a:t>
            </a:r>
          </a:p>
        </c:rich>
      </c:tx>
      <c:layout/>
      <c:overlay val="0"/>
    </c:title>
    <c:autoTitleDeleted val="0"/>
    <c:plotArea>
      <c:layout/>
      <c:barChart>
        <c:barDir val="col"/>
        <c:grouping val="clustered"/>
        <c:varyColors val="0"/>
        <c:ser>
          <c:idx val="0"/>
          <c:order val="0"/>
          <c:tx>
            <c:strRef>
              <c:f>Sheet1!$B$1</c:f>
              <c:strCache>
                <c:ptCount val="1"/>
                <c:pt idx="0">
                  <c:v>値</c:v>
                </c:pt>
              </c:strCache>
            </c:strRef>
          </c:tx>
          <c:spPr>
            <a:solidFill>
              <a:srgbClr val="1F4E79"/>
            </a:solidFill>
            <a:effectLst/>
          </c:spPr>
          <c:invertIfNegative val="0"/>
          <c:dLbls>
            <c:numFmt formatCode="#,##0"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dPt>
            <c:idx val="0"/>
            <c:invertIfNegative val="0"/>
            <c:bubble3D val="0"/>
            <c:spPr>
              <a:solidFill>
                <a:srgbClr val="1F4E79"/>
              </a:solidFill>
              <a:effectLst/>
            </c:spPr>
          </c:dPt>
          <c:dPt>
            <c:idx val="1"/>
            <c:invertIfNegative val="0"/>
            <c:bubble3D val="0"/>
            <c:spPr>
              <a:solidFill>
                <a:srgbClr val="B7791F"/>
              </a:solidFill>
              <a:effectLst/>
            </c:spPr>
          </c:dPt>
          <c:cat>
            <c:multiLvlStrRef>
              <c:f>Sheet1!$A$2:$A$3</c:f>
              <c:multiLvlStrCache>
                <c:ptCount val="2"/>
                <c:lvl>
                  <c:pt idx="0">
                    <c:v>米国</c:v>
                  </c:pt>
                  <c:pt idx="1">
                    <c:v>中国</c:v>
                  </c:pt>
                </c:lvl>
              </c:multiLvlStrCache>
            </c:multiLvlStrRef>
          </c:cat>
          <c:val>
            <c:numRef>
              <c:f>Sheet1!$B$2:$B$3</c:f>
              <c:numCache>
                <c:formatCode>General</c:formatCode>
                <c:ptCount val="2"/>
                <c:pt idx="0">
                  <c:v>59</c:v>
                </c:pt>
                <c:pt idx="1">
                  <c:v>35</c:v>
                </c:pt>
              </c:numCache>
            </c:numRef>
          </c:val>
        </c:ser>
        <c:dLbls>
          <c:numFmt formatCode="#,##0"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A3A"/>
                </a:solidFill>
                <a:latin typeface="Yu Gothic"/>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600" b="0" i="0" u="none" strike="noStrike">
                <a:solidFill>
                  <a:srgbClr val="5B6B7B"/>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1B2A3A"/>
                </a:solidFill>
                <a:latin typeface="Yu Gothic"/>
              </a:defRPr>
            </a:pPr>
            <a:r>
              <a:rPr sz="1800" b="0" i="0" u="none" strike="noStrike">
                <a:solidFill>
                  <a:srgbClr val="1B2A3A"/>
                </a:solidFill>
                <a:latin typeface="Yu Gothic"/>
              </a:rPr>
              <a:t>仮定の算数例（入力2万＋出力1万）credits</a:t>
            </a:r>
          </a:p>
        </c:rich>
      </c:tx>
      <c:layout/>
      <c:overlay val="0"/>
    </c:title>
    <c:autoTitleDeleted val="0"/>
    <c:plotArea>
      <c:layout/>
      <c:barChart>
        <c:barDir val="bar"/>
        <c:grouping val="clustered"/>
        <c:varyColors val="0"/>
        <c:ser>
          <c:idx val="0"/>
          <c:order val="0"/>
          <c:tx>
            <c:strRef>
              <c:f>Sheet1!$B$1</c:f>
              <c:strCache>
                <c:ptCount val="1"/>
                <c:pt idx="0">
                  <c:v>値</c:v>
                </c:pt>
              </c:strCache>
            </c:strRef>
          </c:tx>
          <c:spPr>
            <a:solidFill>
              <a:srgbClr val="1F4E79"/>
            </a:solidFill>
            <a:effectLst/>
          </c:spPr>
          <c:invertIfNegative val="0"/>
          <c:dLbls>
            <c:numFmt formatCode="#,##0.0##"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dPt>
            <c:idx val="0"/>
            <c:invertIfNegative val="0"/>
            <c:bubble3D val="0"/>
            <c:spPr>
              <a:solidFill>
                <a:srgbClr val="1F4E79"/>
              </a:solidFill>
              <a:effectLst/>
            </c:spPr>
          </c:dPt>
          <c:dPt>
            <c:idx val="1"/>
            <c:invertIfNegative val="0"/>
            <c:bubble3D val="0"/>
            <c:spPr>
              <a:solidFill>
                <a:srgbClr val="1F4E79"/>
              </a:solidFill>
              <a:effectLst/>
            </c:spPr>
          </c:dPt>
          <c:dPt>
            <c:idx val="2"/>
            <c:invertIfNegative val="0"/>
            <c:bubble3D val="0"/>
            <c:spPr>
              <a:solidFill>
                <a:srgbClr val="1F4E79"/>
              </a:solidFill>
              <a:effectLst/>
            </c:spPr>
          </c:dPt>
          <c:cat>
            <c:multiLvlStrRef>
              <c:f>Sheet1!$A$2:$A$4</c:f>
              <c:multiLvlStrCache>
                <c:ptCount val="3"/>
                <c:lvl>
                  <c:pt idx="0">
                    <c:v>Sol</c:v>
                  </c:pt>
                  <c:pt idx="1">
                    <c:v>Astra</c:v>
                  </c:pt>
                  <c:pt idx="2">
                    <c:v>Luna</c:v>
                  </c:pt>
                </c:lvl>
              </c:multiLvlStrCache>
            </c:multiLvlStrRef>
          </c:cat>
          <c:val>
            <c:numRef>
              <c:f>Sheet1!$B$2:$B$4</c:f>
              <c:numCache>
                <c:formatCode>General</c:formatCode>
                <c:ptCount val="3"/>
                <c:pt idx="0">
                  <c:v>3.5</c:v>
                </c:pt>
                <c:pt idx="1">
                  <c:v>17.5</c:v>
                </c:pt>
                <c:pt idx="2">
                  <c:v>0.175</c:v>
                </c:pt>
              </c:numCache>
            </c:numRef>
          </c:val>
        </c:ser>
        <c:dLbls>
          <c:numFmt formatCode="#,##0.0##"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1B2A3A"/>
                </a:solidFill>
                <a:latin typeface="Yu Gothic"/>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600" b="0" i="0" u="none" strike="noStrike">
                <a:solidFill>
                  <a:srgbClr val="5B6B7B"/>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1B2A3A"/>
                </a:solidFill>
                <a:latin typeface="Yu Gothic"/>
              </a:defRPr>
            </a:pPr>
            <a:r>
              <a:rPr sz="1800" b="0" i="0" u="none" strike="noStrike">
                <a:solidFill>
                  <a:srgbClr val="1B2A3A"/>
                </a:solidFill>
                <a:latin typeface="Yu Gothic"/>
              </a:rPr>
              <a:t>仮定の算数例（米ドル）</a:t>
            </a:r>
          </a:p>
        </c:rich>
      </c:tx>
      <c:layout/>
      <c:overlay val="0"/>
    </c:title>
    <c:autoTitleDeleted val="0"/>
    <c:plotArea>
      <c:layout/>
      <c:barChart>
        <c:barDir val="bar"/>
        <c:grouping val="clustered"/>
        <c:varyColors val="0"/>
        <c:ser>
          <c:idx val="0"/>
          <c:order val="0"/>
          <c:tx>
            <c:strRef>
              <c:f>Sheet1!$B$1</c:f>
              <c:strCache>
                <c:ptCount val="1"/>
                <c:pt idx="0">
                  <c:v>値</c:v>
                </c:pt>
              </c:strCache>
            </c:strRef>
          </c:tx>
          <c:spPr>
            <a:solidFill>
              <a:srgbClr val="1F4E79"/>
            </a:solidFill>
            <a:effectLst/>
          </c:spPr>
          <c:invertIfNegative val="0"/>
          <c:dLbls>
            <c:numFmt formatCode="$0.00#"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dPt>
            <c:idx val="0"/>
            <c:invertIfNegative val="0"/>
            <c:bubble3D val="0"/>
            <c:spPr>
              <a:solidFill>
                <a:srgbClr val="1F4E79"/>
              </a:solidFill>
              <a:effectLst/>
            </c:spPr>
          </c:dPt>
          <c:dPt>
            <c:idx val="1"/>
            <c:invertIfNegative val="0"/>
            <c:bubble3D val="0"/>
            <c:spPr>
              <a:solidFill>
                <a:srgbClr val="1F4E79"/>
              </a:solidFill>
              <a:effectLst/>
            </c:spPr>
          </c:dPt>
          <c:dPt>
            <c:idx val="2"/>
            <c:invertIfNegative val="0"/>
            <c:bubble3D val="0"/>
            <c:spPr>
              <a:solidFill>
                <a:srgbClr val="1F4E79"/>
              </a:solidFill>
              <a:effectLst/>
            </c:spPr>
          </c:dPt>
          <c:dPt>
            <c:idx val="3"/>
            <c:invertIfNegative val="0"/>
            <c:bubble3D val="0"/>
            <c:spPr>
              <a:solidFill>
                <a:srgbClr val="B7791F"/>
              </a:solidFill>
              <a:effectLst/>
            </c:spPr>
          </c:dPt>
          <c:dPt>
            <c:idx val="4"/>
            <c:invertIfNegative val="0"/>
            <c:bubble3D val="0"/>
            <c:spPr>
              <a:solidFill>
                <a:srgbClr val="B7791F"/>
              </a:solidFill>
              <a:effectLst/>
            </c:spPr>
          </c:dPt>
          <c:dPt>
            <c:idx val="5"/>
            <c:invertIfNegative val="0"/>
            <c:bubble3D val="0"/>
            <c:spPr>
              <a:solidFill>
                <a:srgbClr val="B7791F"/>
              </a:solidFill>
              <a:effectLst/>
            </c:spPr>
          </c:dPt>
          <c:cat>
            <c:multiLvlStrRef>
              <c:f>Sheet1!$A$2:$A$7</c:f>
              <c:multiLvlStrCache>
                <c:ptCount val="6"/>
                <c:lvl>
                  <c:pt idx="0">
                    <c:v>Sol</c:v>
                  </c:pt>
                  <c:pt idx="1">
                    <c:v>Astra</c:v>
                  </c:pt>
                  <c:pt idx="2">
                    <c:v>Luna</c:v>
                  </c:pt>
                  <c:pt idx="3">
                    <c:v>Opus</c:v>
                  </c:pt>
                  <c:pt idx="4">
                    <c:v>Sonnet</c:v>
                  </c:pt>
                  <c:pt idx="5">
                    <c:v>Haiku</c:v>
                  </c:pt>
                </c:lvl>
              </c:multiLvlStrCache>
            </c:multiLvlStrRef>
          </c:cat>
          <c:val>
            <c:numRef>
              <c:f>Sheet1!$B$2:$B$7</c:f>
              <c:numCache>
                <c:formatCode>General</c:formatCode>
                <c:ptCount val="6"/>
                <c:pt idx="0">
                  <c:v>0.14</c:v>
                </c:pt>
                <c:pt idx="1">
                  <c:v>0.7</c:v>
                </c:pt>
                <c:pt idx="2">
                  <c:v>0.007</c:v>
                </c:pt>
                <c:pt idx="3">
                  <c:v>0.28</c:v>
                </c:pt>
                <c:pt idx="4">
                  <c:v>0.14</c:v>
                </c:pt>
                <c:pt idx="5">
                  <c:v>0.07</c:v>
                </c:pt>
              </c:numCache>
            </c:numRef>
          </c:val>
        </c:ser>
        <c:dLbls>
          <c:numFmt formatCode="$0.00#" sourceLinked="0"/>
          <c:txPr>
            <a:bodyPr/>
            <a:lstStyle/>
            <a:p>
              <a:pPr>
                <a:defRPr b="0" i="0" strike="noStrike" sz="1800" u="none">
                  <a:solidFill>
                    <a:srgbClr val="1B2A3A"/>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1B2A3A"/>
                </a:solidFill>
                <a:latin typeface="Yu Gothic"/>
              </a:defRPr>
            </a:pPr>
            <a:endParaRPr lang="en-US"/>
          </a:p>
        </c:txPr>
        <c:crossAx val="2094734552"/>
        <c:crosses val="autoZero"/>
        <c:auto val="1"/>
        <c:lblAlgn val="ctr"/>
        <c:noMultiLvlLbl val="1"/>
      </c:catAx>
      <c:valAx>
        <c:axId val="2094734552"/>
        <c:scaling>
          <c:orientation val="minMax"/>
          <c:max val="0.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600" b="0" i="0" u="none" strike="noStrike">
                <a:solidFill>
                  <a:srgbClr val="5B6B7B"/>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この教材は、2027年に日本ヒューレット・パッカード（HPE）へシステムエンジニアとして入社する方の、入社前〜社会人2年目の自己学習用です。右側の4つの箱は、教材全体で使う「端末（青緑）→ネットワーク（青）→サーバー・AI基盤（紫）→データセンター（灰）」の流れを表します。
【補足】
・本資料は学習用の独自教材であり、日本ヒューレット・パッカードの公式資料ではありません（ロゴ・体裁も似せていません）。
・情報の確認時点は2026年9月30日〜10月1日（日本時間）。価格・製品・採用条件は将来を保証しません。
・スマホで見る場合は、同梱のPDFを横向きで開くと崩れません。PowerPointアプリでも、文字は最小18pt（出典表記を除く）に揃えてあります。
【情報の区分】
一般的な技術説明・教材上の整理
（スライド1／資料の該当箇所：表紙）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左の6つが「第1部：身近な通信から学ぶITインフラ」、右の6つが「第2部：AIの使い分けとHPEのSEに向けた準備」です。各タイルの下にスライド番号の範囲を示しています。
【なぜ重要か】
ゴールは「端末から送った情報が、どこで、どんな処理を受けるのか」を自分の言葉で説明でき、その知識をSEの仕事（要件・設計・検証・構築・移行・納入）に結び付けられることです。
【補足】
・第1部は本人が添付した前回の回答の収録、第2部は今回の追加調査です。
・下段のラベルは、各スライドの右上に付く「情報の区分」です。公式資料・公開口コミ・OB訪問で聞いた個別例・一般的な技術説明・教材の提案を混ぜないために付けています。
【情報の区分】
一般的な技術説明・教材上の整理
（スライド2／資料の該当箇所：冒頭の目次表）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図では、端末は青緑、ネットワークは青、サーバー・AI基盤は紫、補助的・管理用の通信はオレンジの破線、暗号化・安全は緑、注意・よくある誤解は赤で統一しています。
【用語】
・プライベートIPアドレス：家庭・会社などの内部で使う住所（例：192.168.1.20）。
・文書用アドレス：説明のために国際的に予約された例示専用の住所（例：203.0.113.10、198.51.100.7）。実在の利用者や本当のChatGPTのアドレスではありません。
【成立条件・例外】
IPv4のNAPTの例と、IPv6の例は別です。IPv6では通常、IPv4のようなアドレス共有のNATを必要としません。混同しないよう、説明するスライドを分けています。
【補足】
・「一般例」と表示した図は、多くのサービスで使われる一般的な構成を示すもので、ChatGPTやブロスタ、荒野行動の非公開の実装を断定するものではありません。
・「仮定の算数例」は、条件を固定した計算練習であり、本人の実際の料金や使用量ではありません。
【情報の区分】
一般的な技術説明・教材上の整理
（スライド3／資料の該当箇所：冒頭・情報区分の説明）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左の積み重ねは、アプリが動くまでの「層」を上から下に並べたものです。上の層は下の層の上で動きます。右の3つの箱は、混同しやすい点です。
【用語】
・ネットワーク：機器同士で情報をやり取りする仕組み（自宅LAN、携帯会社の通信網）。
・サーバー：他の機器の要求に応じて、情報や処理を提供する「役割」。
・ストレージ：データを保存する装置・仕組み（SSD、HDD、クラウドのファイル保存）。
・データセンター：多数のサーバーや通信機器を置く施設。電源・冷却・入退室管理を備える。
・クラウド：計算・保存・通信などをネットワーク経由で利用する提供方式（AWS、Microsoft Azure、Google Cloud）。
・OS：コンピューターの部品やプログラムを管理する基本ソフト（Windows、Linux、iOS）。
・アプリ：OSの上で動き、利用者に機能を提供するソフト（ブラウザー、ChatGPTアプリ、ゲーム）。
【身近な例】
クラウドで借りた仮想サーバーも、実際にはデータセンター内の物理コンピューターの上で動いています。自分のWindowsパソコンでWebページを返すプログラムを動かせば、そのパソコンもWebサーバーとして働きます。
【よくある誤解】
「クラウドだからサーバーが存在しない」は誤りです。サーバーは「役割の名前」でもあり、機器の種類だけを指す言葉ではありません。
【なぜ重要か】
以降の章で「どの層の話をしているか」を見失わないための地図です。障害の切り分けでも、端末・LAN・名前解決・到達性・暗号／認証・サービスのどこを見ているかを意識します。
【情報の区分】
一般的な技術説明
（スライド4／資料の該当箇所：第1部・1）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左の7つが、インフラエンジニアの仕事です。「サーバーを設置して終わり」ではありません。右の表は、クラウドなどの提供方式ごとに、利用者が主に管理するものの違いです。
【用語】
・SRE：サービスの信頼性を、ソフトウェアや運用の工夫で高める考え方・役割。
・オンプレミス：自社で持つ機器で運用する方式。IaaS：仮想サーバーなどを借りる。PaaS：アプリの実行基盤を借りる。SaaS：完成したサービスを利用する。
【処理の詳細】
・分野によって中心になるものが変わります：ネットワーク（ルーター、スイッチ、Wi-Fi、経路、通信制御）、サーバー（Linux・Windows Server、サービス、権限、保存装置）、クラウド（仮想サーバー、仮想ネットワーク、権限、費用）、セキュリティ（認証、アクセス制御、脆弱性、ログ）、運用・SRE（監視、可用性、障害対応、自動化、改善）、データセンター設備（電源、冷却、ラック、配線、施設）、AI基盤（GPU、メモリ、高速通信、ストレージ、計算の割り当て）。
・クラウドを使っていても、通信やサーバーの知識は必要です。クラウド上では、実機を触る代わりに仮想ネットワークや仮想サーバーを設定する場面が増えます。
【成立条件・例外】
責任の境界はサービスごとに異なります。クラウド事業者が設備を管理してくれても、利用者側の権限設定や公開設定を誤れば問題が起こります。
【情報の区分】
一般的な技術説明
（スライド5／資料の該当箇所：第1部・10）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左から右へ、あなたの端末から出た質問がたどる3つの区間です。①は家の中（端末と自宅LAN）、②は通信会社とインターネット、③はサービスの内部です。最後（スライド21）で全体を結び付けます。
【処理の詳細】
・①端末と自宅LAN：Wi-Fiに参加し、DHCPで設定を受け取り、OSが渡し先を決め、ルーターがNATを行う。
・②ISPとインターネット：パケットを各ネットワークのルーターが次へ転送する。
・③サービス内部：入口で受け付け、負荷分散・認証・アプリ処理を経てAI処理へ渡る。
【成立条件・例外】
家の構成は「アクセスポイント・ルーター・ONUが一体」「マンション共用回線」「ホームルーター」などで変わります。携帯回線の場合は①が基地局と携帯会社のコアネットワークに置き換わります（スライド23）。
【よくある誤解】
DNSや時刻同期（NTP）は質問本文が順番に通過する中継地点ではありません。別の補助的な通信です。
【情報の区分】
一般的な技術説明
（スライド6／資料の該当箇所：第1部・2（概略））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左の端末が電波（Wi-Fi）で家のルーターにつながり、ルーターの中にはアクセスポイント・ルーター・DHCPなどの機能が同居します。その先のONU（光回線の終端装置）から通信会社へ出ます。
【用語】
・Wi-Fi：端末とアクセスポイントの間を電波でつなぐ技術。
・インターネット回線：自宅から通信会社のネットワークにつながる回線。
・ルーター：異なるネットワークの間で、データの行き先を決める機器。
・ONU：光回線の終端装置。
【成立条件・例外】
アクセスポイント・ルーター・ONUが一体の場合や、マンション共用回線・ホームルーターでは途中の構成が変わります。自宅の実機で、どの箱が何の役割かを確認してみましょう。
【よくある誤解】
「Wi-Fi＝インターネット」ではありません。Wi-Fiは近距離の無線区間の名前で、インターネット回線やルーターとは別のものです。
【情報の区分】
一般的な技術説明
（スライド7／資料の該当箇所：第1部・2（図とWi-Fi・回線・ルーターの区別））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4つの段階を左から右へ順に満たすと「インターネットの先へ通信できる」状態になります。Wi-Fi接続済みは最初の1段階にすぎません。各段階の下に、Windowsで観察できるコマンドを示しました。
【処理の詳細】
・①Wi-Fi参加：アクセスポイントと接続の手続きを行う。家庭ではWPA2・WPA3などの仕組みで接続を保護する。
・②アドレス設定：IPv4の一般的な家庭環境ではDHCPから設定を受け取る。
・③出口と名前解決：デフォルトゲートウェイ（出口）とDNSサーバーが使える。
・④到達：宛先のサービスへTCP（またはQUIC）で接続できる。さらにサービス自体が正常かは別問題。
【よくある誤解】
・Wi-Fiのリンク速度は、インターネット全体の速度と同じではありません。
・TCPの443番への接続成功だけでは、ChatGPTの全機能が正常とは言えません。
・アンテナ（電波）表示が十分でも、DHCPやDNSの不具合で外へ出られないことがあります。
【自分でやってみる】
ipconfig /all で自分のIP・出口・DNSを確認し、Test-NetConnection chatgpt.com -Port 443 で到達性を見て、段階ごとにどこまで通っているかを記録しましょう。
【情報の区分】
一般的な技術説明
【出典（資料名・URL）】
[B21] Microsoft：ネットワーク・DNSの確認
    https://learn.microsoft.com/en-us/powershell/module/nettcpip/test-netconnection?view=windowsserver2025-ps
    https://learn.microsoft.com/windows-server/networking/dns/troubleshoot/troubleshoot-dns-client
確認時点：原資料の記載は2026年9月30日〜10月1日（日本時間）。変わりやすい情報（価格・製品・採用条件）は最新の公式ページで再確認してください。
（スライド8／資料の該当箇所：第1部・2①／11）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左は、端末が接続したときにDHCP（家ではルーターの機能）へ設定を求め、IPアドレス・マスク・出口・DNSを受け取る様子です。右の表が受け取る4つの設定です。
【用語】
・IPアドレス：この端末の、ネットワーク上の住所。
・サブネットマスク：どこまでを同じネットワークとして扱うか（255.255.255.0なら192.168.1.xが同じLAN）。
・デフォルトゲートウェイ：外のネットワークに出るときの出口。
・DNSサーバー：接続先の名前を問い合わせる相手。
【処理の詳細】
設定には有効期間（リース）があり、必要に応じて更新します。一般的な流れは、端末の探索→DHCPの提案→端末の要求→確定の応答の4段階です（補足）。この例なら端末は「外に出る通信は基本的に192.168.1.1へ渡す」と判断できます。
【成立条件・例外】
携帯回線ではIPアドレスの設定は携帯会社側の仕組みで行われ、家庭のDHCPとは別です。IPv6では別の仕組み（近隣探索・RAなど）が関わります。
【よくある誤解】
DHCPは質問を送信するたびに実行されるわけではありません。接続時や有効期間の更新時に行われます。
【情報の区分】
一般的な技術説明
（スライド9／資料の該当箇所：第1部・2①）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4つの役割が左から並びます。端末が再帰DNS（窓口）に尋ね、再帰DNSが上位DNSで「次に聞く相手」を調べ、権威DNSから正式な情報を得て、端末へ返します。実線が要求、破線が応答です。
【用語】
・DNS：名前（chatgpt.com）からIPアドレスを調べる仕組み。
・キャッシュ：一度調べた答えの一時保存。端末やブラウザー、DNS窓口に保存があれば調査を省略できる。
・再帰DNSサーバー：端末の代わりに必要な問い合わせを進める窓口。
・権威DNSサーバー：そのドメインの正式な情報を管理するサーバー。
【処理の詳細】
実際にはルートDNS、.comのDNSなどを順に参照する場合があります。ただし毎回すべてに問い合わせるわけではありません。自宅ルーターがDNSの窓口になる場合もあれば、ブラウザーがDoH（DNS over HTTPS）を使い、暗号化した通信で別のDNSサービスに問い合わせる場合もあります[B01]。
【よくある誤解】
DNSの仕事は接続先を調べることです。質問本文をChatGPTへ転送する仕事ではありません。
【自分でやってみる】
nslookup chatgpt.com を実行して、名前から得られるIPアドレスを確認しましょう。ただし nslookup の結果とブラウザーが使うDNSの結果は一致しない場合があります。
【情報の区分】
一般的な技術説明
【出典（資料名・URL）】
[B01] 暗号化DNSの説明
    https://www.cloudflare.com/en-ca/learning/dns/dns-over-tls/
確認時点：原資料の記載は2026年9月30日〜10月1日（日本時間）。変わりやすい情報（価格・製品・採用条件）は最新の公式ページで再確認してください。
（スライド10／資料の該当箇所：第1部・2②）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上の青い実線が質問本文（暗号化して送る）の通り道です。下のオレンジの破線が、端末が別に行う補助的な通信です。補助通信は、質問本文を運ばず、端末が必要なときだけ行います。
【用語】
・NTP：コンピューターの時刻を合わせる仕組み[B04]。証明書の有効期限の確認、ログイン情報の期限管理、障害ログの時刻順の整理、複数サーバーでの問題の突き合わせに正確な時刻が必要。
【成立条件・例外】
・キャッシュ：DNSの答えが保存されていれば、DNSへの問い合わせは省略される。
・既存接続：ChatGPTを開いたままなら、接続やDNS結果を再利用できる場合がある。
・IPv6：DHCPの代わりに近隣探索やRAなどで設定されることがある。
・CGNAT：通信会社側でもNATが行われ、経路や見え方が変わる場合がある。
・端末・OSによって時刻同期の方法は異なり、質問送信のたびに同期する必要もない。
【よくある誤解】
「質問がDNSサーバーやNTPサーバーを順番に通ってChatGPTに届く」という理解は誤りです。
【情報の区分】
一般的な技術説明
【出典（資料名・URL）】
[B01] 暗号化DNSの説明
    https://www.cloudflare.com/en-ca/learning/dns/dns-over-tls/
[B04] NTP：RFC 5905
    https://www.rfc-editor.org/info/rfc5905/
確認時点：原資料の記載は2026年9月30日〜10月1日（日本時間）。変わりやすい情報（価格・製品・採用条件）は最新の公式ページで再確認してください。
（スライド11／資料の該当箇所：第1部・2／3）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端末（192.168.1.20）は、宛先ごとに渡し先を変えます。同じLAN内の別端末なら直接届け、インターネット上の宛先なら出口（デフォルトゲートウェイ 192.168.1.1）へ渡します。下の表が、OSが持つ経路の一覧（ルーティングテーブル）の例です。
【用語】
・ルーティングテーブル：「この宛先なら、この出口を使う」という経路の一覧。
・デフォルトゲートウェイ：一覧のどれにも当てはまらない宛先をまとめて渡す出口。
【処理の詳細】
宛先IPがサブネットマスクで決まる自分のネットワークの範囲内か、範囲外かを判定します。192.168.1.20/24なら192.168.1.0〜255が同じLANです。203.0.113.50は説明用の文書用アドレスで、実在の宛先ではありません。
【自分でやってみる】
route print を実行し、自分のPCの経路の一覧とデフォルトゲートウェイを確認しましょう。
【情報の区分】
一般的な技術説明
（スライド12／資料の該当箇所：第1部・2③）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上の3枚が、3つの識別子の役割です。下左は、同じLAN内でIPアドレスに対応するMACアドレスを調べるARPの様子です。
【用語】
・IPアドレス：ネットワークをまたいで、最終的な宛先を指定する。
・MACアドレス：EthernetやWi-Fiなど近くのネットワーク内で機器を識別する。例の00-00-5E-00-53-01は文書用に予約された架空の値。
・ポート番号：その機器のどの通信・プログラムに届けるかを区別する（HTTPSは通常443）。
・ARP：IPv4で、LAN内のIPアドレスに対応するMACアドレスを調べる仕組み。IPv6では近隣探索という別の仕組みを使う。
【よくある誤解】
インターネット上のサーバーのMACアドレスを、あなたのパソコンが調べるわけではありません。まず近くの出口（ルーター）へ届け、そこから先は各ネットワークが引き継ぎます。
【自分でやってみる】
arp -a を実行して、IPv4で近くのIPとMACの対応を確認しましょう。
【情報の区分】
一般的な技術説明
（スライド13／資料の該当箇所：第1部・2③）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段は家の中で端末が出した通信の「送信元」と「宛先」、下段はルーターを通過した後です。宛先は変わらず、送信元だけが家のプライベートアドレスからルーターの外側のアドレス・ポートに書き換わります。下の表がルーターの対応表の例です。
【用語】
・プライベートIP：家庭・会社などの内部で使う住所。
・グローバルIP：インターネット上で到達可能な住所。
・NAPT：IPアドレスとポート番号の対応を管理して、複数端末が1つのグローバルIPv4アドレスを共有する仕組み。一般にはまとめて「NAT」と呼ぶ[B02]。
【処理の詳細】
例のアドレスはすべて説明用です。203.0.113.10と198.51.100.7は文書用アドレスで、実際のChatGPTのアドレスではありません。端末自身のIPアドレス設定が、そのたびにグローバルIPへ変更されるわけではありません。ルーターが通信データの送信元情報を書き換えます。
【成立条件・例外】
IPv4の例です。IPv6では通常、IPv4のようなアドレス共有のNATを必要としません（混同しないこと）。
【よくある誤解】
NATは暗号化ではありません。通信を暗号化するのはTLSなどの仕事です。
【情報の区分】
一般例（個別サービスの仕様ではない）
【出典（資料名・URL）】
[B02] Traditional NAT／NAPT：RFC 3022
    https://www.rfc-editor.org/rfc/rfc3022.html
確認時点：原資料の記載は2026年9月30日〜10月1日（日本時間）。変わりやすい情報（価格・製品・採用条件）は最新の公式ページで再確認してください。
（スライド14／資料の該当箇所：第1部・2④）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上は返信の流れです。サーバーは外側のアドレス・ポート宛てに返し、ルーターが対応表を見て内側の端末へ書き戻します。下の表は、環境ごとのNATの違いです。
【用語】
CGNAT：通信会社側で多数の利用者がグローバルIPv4を共有する仕組み。
【処理の詳細】
対応表の例：「外側の203.0.113.10:62001宛てに返ってきた通信は、内側の192.168.1.20:51000へ戻す」。これでWindowsとiPhoneが同じ51000番を使っていても、返信を取り違えません。
【成立条件・例外】
・家庭の一般的なIPv4：自宅ルーターでNATする。
・携帯回線や一部の固定回線：通信会社側でもNATする場合がある。
・IPv6：通常、IPv4のようなアドレス共有のNATを必要としない。
・IPv4とIPv6を組み合わせる回線：トンネルや変換など、追加の処理が入る場合がある。
【よくある誤解】
IPv4のNAPTの例とIPv6の例を混同しないこと。NATは暗号化ではない。
【情報の区分】
一般的な技術説明
【出典（資料名・URL）】
[B02] Traditional NAT／NAPT：RFC 3022
    https://www.rfc-editor.org/rfc/rfc3022.html
確認時点：原資料の記載は2026年9月30日〜10月1日（日本時間）。変わりやすい情報（価格・製品・採用条件）は最新の公式ページで再確認してください。
（スライド15／資料の該当箇所：第1部・2④）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4つの雲は、プロバイダー、通信会社、クラウド事業者などの別々のネットワークです。その間をルーターが転送してつなぎます。左下は、途中のルーターがすること、右下は、ネットワーク間で到達先を交換するBGPです。
【用語】
・パケット：通信しやすい単位に分けたデータの塊。
・BGP：ネットワーク間で、到達できる宛先の情報を交換する代表的な仕組み。
【処理の詳細】
・途中のルーターは、宛先IPアドレスを読み、経路の一覧から次に渡す相手を選び、次の回線へ送ります。
・物理的には、光ファイバー、通信機器、必要なら海底ケーブルなどを通ります。
・Wi-Fiや携帯回線でも、電波が主に使われるのは端末の近くで、遠距離の通信の多くは有線の通信網に引き継がれます。
【よくある誤解】
・途中のルーターが質問の日本語を読んで回答を考えるわけではありません。
・往路と復路が、まったく同じ経路になるとは限りません。
【情報の区分】
一般的な技術説明
（スライド16／資料の該当箇所：第1部・2⑤）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左はHTTP/2までのWebの積み重ね（HTTP→TLS→TCP→IP）、右はHTTP/3の積み重ね（HTTP→QUIC→UDP→IP）です。QUICは暗号化と信頼性のある通信の仕組みを自前で備えます。
【用語】
・TCP：届いたかを確認し、順序を整え、必要なら再送する通信方式。
・UDP：TCPのような確認・順序管理を標準では行わず、データを送る通信方式。
・QUIC：UDP上で動く通信方式。暗号化や信頼性のある通信の仕組みを備え、HTTP/3で使う[B03]。
・HTTP／HTTPS：Webの要求・応答の約束事／TLSで保護されたHTTP。
【よくある誤解】
「UDPなら暗号化されない・必ず届かない」という理解は正しくありません（QUICはUDP上で暗号化と信頼性の仕組みを備えます）。
【自分でやってみる】
ChatGPTをブラウザーで開き、開発者ツールのNetworkタブでHTTPの方式（h2／h3）を観察しましょう。今回の通信がどの方式かは実際に観察して確かめる必要があります。
【情報の区分】
一般的な技術説明
【出典（資料名・URL）】
[B03] HTTP/3とQUICの説明
    https://www.cloudflare.com/en-ca/learning/performance/what-is-http3/
確認時点：原資料の記載は2026年9月30日〜10月1日（日本時間）。変わりやすい情報（価格・製品・採用条件）は最新の公式ページで再確認してください。
（スライド17／資料の該当箇所：第1部・2⑥）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図は、TCPの場合の接続の順序です。①〜③でTCP接続、④でTLSの手続き（証明書の確認と暗号化の鍵の合意）、⑤⑥で暗号化したHTTPの要求・応答をやり取りします。右は、1つのパケットのうち、どこまでが暗号化されるかを表します。
【用語】
・TCP接続：SYN→SYN/ACK→ACKで接続を開始する。
・TLS：通信相手を確認し、内容を暗号化する仕組み。
・証明書：接続先がそのドメインを使う正当な相手か確認するための情報。
【処理の詳細】
転送に必要な宛先IP・送信元IP・ポート番号は暗号化の外にあり、途中のルーターやNATが読み書きします。質問や回答の本文はTLSで暗号化されます。接続先の名前などが途中で見える場合があるかどうかは、方式や設定（例：ECH）で異なるため、ここでは断定しません。HTTP/3ではTCPの代わりにQUICが暗号化も担います。
【よくある誤解】
NATは暗号化ではありません。また、自宅ルーターが質問の中身を読むことを前提にした仕組みでもありません。
【情報の区分】
一般的な技術説明
【出典（資料名・URL）】
[B03] HTTP/3とQUICの説明
    https://www.cloudflare.com/en-ca/learning/performance/what-is-http3/
確認時点：原資料の記載は2026年9月30日〜10月1日（日本時間）。変わりやすい情報（価格・製品・採用条件）は最新の公式ページで再確認してください。
（スライド18／資料の該当箇所：第1部・2⑥）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大規模AIサービスの「一般的な構成例」です（ChatGPTの非公開の内部構成を断定するものではありません）。実線が要求、左向きの破線が応答です。番号は処理の順序です。
【処理の詳細】
・①入口が外部からの通信を受け付け・保護（ファイアウォール・WAF）。
・②負荷分散装置が要求を複数の処理先へ振り分ける。
・③アプリサーバーが質問や会話情報を扱う。
・④認証（誰からの要求か）、データ保存（会話など）、AI処理の割り当て・待ち行列を呼ぶ。
・⑤GPUなどで回答を生成。学習済みモデルはストレージから必要に応じて読み込んでおく。
・⑥生成結果がアプリ→入口を通って応答として戻る。
【成立条件・例外】
一つの役割につき必ず一台のサーバーがあるわけではありません。一台で複数の役割を担うことも、一つの役割を何千台にも分散することもあります。
【よくある誤解】
入口のIPアドレスだけでは、回答を計算したGPUの所在地までは分かりません。
【情報の区分】
一般例（個別サービスの仕様ではない）
【出典（資料名・URL）】
[B05] MicrosoftとOpenAIの協業に関する2026年4月発表
    https://blogs.microsoft.com/blog/2026/04/27/the-next-phase-of-the-microsoft-openai-partnership/
確認時点：原資料の記載は2026年9月30日〜10月1日（日本時間）。変わりやすい情報（価格・製品・採用条件）は最新の公式ページで再確認してください。
（スライド19／資料の該当箇所：第1部・3）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9つの役割の一覧です。どれも「機能の名前」であり、機器1台の名前とは限りません。
【用語】
・ファイアウォール：許可した通信を通し、不要な通信を制限する。
・WAF：Webへの不正な要求を検知・制限する。
・負荷分散装置：要求を複数の処理先に振り分ける。
・認証：誰からの要求かを確認する。
・データベース：データを整理して保存・検索する。
・AI推論サーバー：学習済みAIを使い、回答を計算する。
・監視基盤：エラー、遅延、温度、CPU・GPU使用率などを観察する。
【処理の詳細】
Microsoftは2026年4月の発表で、Azureを引き続きOpenAIの主要クラウドパートナーとしつつ、OpenAIがどのクラウド事業者でも製品を提供できると説明しています[B05]。したがって「ChatGPTのすべての要求は必ず同じAzureの施設へ行く」とは言えません。
【よくある誤解】
入口のIPアドレスから、質問を計算したGPUの建物・サーバーまでは外部から特定できません。
【情報の区分】
一般例（個別サービスの仕様ではない） / 公式資料で確認
【出典（資料名・URL）】
[B05] MicrosoftとOpenAIの協業に関する2026年4月発表
    https://blogs.microsoft.com/blog/2026/04/27/the-next-phase-of-the-microsoft-openai-partnership/
確認時点：原資料の記載は2026年9月30日〜10月1日（日本時間）。変わりやすい情報（価格・製品・採用条件）は最新の公式ページで再確認してください。
（スライド20／資料の該当箇所：第1部・3）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上の図は、質問がたどる本文の道（実線）と、途中で変わるもの（アドレスの書き換え、暗号化の範囲）です。下の8つが処理の順序です。①②は補助的な通信で、質問のたびにやり直しません。
【処理の詳細】
・アドレスが変わる場所：家のルーターで、送信元がプライベートIP（例192.168.1.20）から外側のIP・ポート（例203.0.113.10:62001）に書き換わる。
・暗号化の範囲：端末〜サービス入口の間でTLSが本文を保護する（入口以降の内部通信は別の設計）。
・返信は、ルーターが対応表で元の端末へ戻す。
【成立条件・例外】
キャッシュ・既存接続・IPv6・CGNAT・携帯回線などの条件で、省略される処理や経路が変わります。
【よくある誤解】
質問1回ごとに、Wi-Fi接続・DHCP・DNS・TCP・TLSを全部やり直すわけではありません。
【自分でやってみる】
自分の環境で ipconfig /all → nslookup → Test-NetConnection → 開発者ツールのNetwork の順に観察し、各ステップを実機で確認します。
【情報の区分】
一般的な技術説明
【出典（資料名・URL）】
[B01] 暗号化DNSの説明
    https://www.cloudflare.com/en-ca/learning/dns/dns-over-tls/
[B02] Traditional NAT／NAPT：RFC 3022
    https://www.rfc-editor.org/rfc/rfc3022.html
[B03] HTTP/3とQUICの説明
    https://www.cloudflare.com/en-ca/learning/performance/what-is-http3/
[B05] MicrosoftとOpenAIの協業に関する2026年4月発表
    https://blogs.microsoft.com/blog/2026/04/27/the-next-phase-of-the-microsoft-openai-partnership/
確認時点：原資料の記載は2026年9月30日〜10月1日（日本時間）。変わりやすい情報（価格・製品・採用条件）は最新の公式ページで再確認してください。
（スライド21／資料の該当箇所：第1部・2全体）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4つの仕組みを「いつ」「どこで」「何をするか」で並べた表です。どれも質問1回ごとにすべて実行されるわけではありません。
【処理の詳細】
・DNS：名前→IPの調査。ブラウザー・OS・ルーター・再帰DNSなど各層にキャッシュがある。
・NTP：時刻合わせ。証明書の有効期限の確認に時刻が必要なので、時刻が大きくずれるとTLSが失敗することがある。
・NAT：IPv4の家庭では自宅ルーター、携帯回線などでは通信会社側（CGNAT）でも行う。
・TLS：TCP（またはQUIC）の接続を確立したあと、通信の開始時に行い、既存接続は再利用できる。
【よくある誤解】
・NATは暗号化ではない。
・DNSやNTPは質問本文の中継地点ではない。
・質問1回ごとにWi-Fi接続・DHCP・DNS・TCP・TLSを全部やり直すわけではない。
【情報の区分】
一般的な技術説明
【出典（資料名・URL）】
[B01] 暗号化DNSの説明
    https://www.cloudflare.com/en-ca/learning/dns/dns-over-tls/
[B02] Traditional NAT／NAPT：RFC 3022
    https://www.rfc-editor.org/rfc/rfc3022.html
[B04] NTP：RFC 5905
    https://www.rfc-editor.org/info/rfc5905/
確認時点：原資料の記載は2026年9月30日〜10月1日（日本時間）。変わりやすい情報（価格・製品・採用条件）は最新の公式ページで再確認してください。
（スライド22／資料の該当箇所：第1部・2／3）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上の図は、iPhoneが基地局につながり、基地局の後ろ側の回線（バックホール）を通って携帯会社のコアネットワークへ入り、そこからインターネットへ出る流れです。下の表は自宅Wi-Fiとの違いです。
【用語】
・コアネットワーク：携帯会社の中核ネットワーク。
・バックホール：基地局とコアネットワークの間の回線（光回線など）。
・UPF：5Gの構成で、利用者データを外部ネットワークへ送り出す機能の一つ。
・ハンドオーバー：移動中に接続先の基地局を切り替える処理。
【処理の詳細】
・携帯回線では、接続を管理する処理（契約の確認、基地局の切り替え、通信の設定）と、利用者のデータを運ぶ処理（質問文やゲームの操作情報など）が並行して動く。
・4G設備と組み合わせる5Gなどもあるため、5G表示なら必ず一つの同じ構成とは限らない。
【成立条件・例外】
iPhoneを自宅Wi-Fiにつないでいるときは、基本的に先ほどの家庭回線の経路です。IPv4のアドレス共有では、通信会社でNATする場合があります。
【情報の区分】
一般的な技術説明
（スライド23／資料の該当箇所：第1部・4）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断面図は、地上の基地局から出た電波が、土・コンクリート・金属を通るたびに弱まり、地下の端末に届く量が少なくなる様子です（太さは強さのイメージで、数値ではありません）。右の表は、電波が届きにくくなる6つの原因です。
【用語】
・減衰：電波が吸収・反射されて、届くエネルギーが減ること。
・遮蔽物：電波をさえぎるもの（土、コンクリート、金属）。
・干渉：ほかの通信などが受信の邪魔になること。
【身近な例】
エレベーターの中、地下街、建物の奥の部屋、山間部などで電波が弱くなるのはこの原因の組み合わせです。
【処理の詳細】
電波は壁をまったく通れないわけではありません。しかし通過するときに吸収されたり反射したりして、端末に届くエネルギーが減ります。NTTドコモも、地下や半地下、建物の構造などによって電波が届きにくくなることを説明しています[B06]。
【成立条件・例外】
反対に、地下でも専用のアンテナや基地局、トンネル内の通信設備があれば、よくつながります。
【情報の区分】
一般的な技術説明 / 公式資料で確認
【出典（資料名・URL）】
[B06] NTTドコモ：電波に影響する環境
    https://www.docomo.ne.jp/area/connect/environs/
確認時点：原資料の記載は2026年9月30日〜10月1日（日本時間）。変わりやすい情報（価格・製品・採用条件）は最新の公式ページで再確認してください。
（スライド24／資料の該当箇所：第1部・5）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左の図は「通信の枠」を12個のマスで表したイメージです（数は説明用）。空いている時間は自分の取り分が大きく、混雑時は小さくなります。右は周波数による一般的な傾向です。
【処理の詳細】
・基地局では、多数のスマホが通信のための時間・周波数などを共有します。人が集中すると、自分に割り当てられる通信資源が少なくなり、待ち時間が増える場合があります。
・5Gは一つの周波数ではありません。一般に、低い周波数は広い範囲や建物内をカバーしやすく、高い周波数は広い帯域を確保できる一方、遮蔽物や配置の影響を受けやすい傾向があります。実際の品質には、基地局の位置、電波の強さ、混雑、端末なども関係します。
・Wi-Fiでも、2.4GHzは比較的遠くまで届きやすい反面、周囲のWi-Fiやほかの機器と混雑しやすいです。5GHz・6GHzは利用できる帯域などに利点がありますが、壁や距離によって届きにくくなる場合があります。
【よくある誤解】
・「アンテナ表示は十分あるのに、ゲームが遅い」という状況は実際に起きます。
・「5Gだから地下に強い」とは限りません。
【情報の区分】
一般的な技術説明
（スライド25／資料の該当箇所：第1部・5）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上の4段階が、弱い電波から症状までの因果の流れです。下の3つが、ゲームで実際に見える症状です。
【身近な例】
「相手が瞬間移動する」のは、位置の更新が届かずにまとめて届き、表示が急に修正されるためです。
【処理の詳細】
・1.受信した電波からデータを正しく読み取れないと、無線区間で再送が発生する。
・2.正しく届けやすい、低い通信速度の方式へ切り替える。
・3.届くまでの時間が増えたり、ばらついたりする。
・4.間に合わないデータや、失われるデータが増える。
【なぜ重要か】
症状だけを見て「回線が遅い」と決めずに、電波・混雑・端末・ゲーム側のどこに原因があるかを分けて考える必要があります（次の切り分けのスライド）。
【情報の区分】
一般的な技術説明
（スライド26／資料の該当箇所：第1部・5）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7つの指標と、ゲームでの見え方です。青は通信、青緑は端末、紫はサーバーに関わる指標です。
【用語】
・帯域・スループット：単位時間に運べるデータ量。
・遅延：情報が届くまでの時間。
・RTT：送ってから返事が戻るまでの往復時間。Ping表示の基になることが多い。
・ジッター：遅延のばらつき。
・パケットロス：通信データが失われること。
・FPS：端末が1秒間に描く画像の枚数。
・サーバー処理周期：サーバーがゲーム状態を更新する頻度。
【よくある誤解】
Pingの往復時間の半分が、必ず片道の時間になるわけではありません。行きと帰りで経路や混雑が違う場合があるためです。
【情報の区分】
一般的な技術説明
（スライド27／資料の該当箇所：第1部・6）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グラフは説明用の仮定です。大量のデータを運べても往復に200msかかる回線Aと、データ量はそれほど多くなくても往復30msで安定する回線Bを比べています。必要な帯域を満たしている対戦ゲームなら、Bのほうが操作しやすいことがあります。
【用語】
バッファブロート：回線やルーター内にデータがたまり、遅延が増える現象。
【処理の詳細】
・家のWi-Fiで誰かが大容量通信をすると、ルーターの待ち行列にデータがたまり、ゲームの遅延が増えることがあります。
・帯域は「1秒に運べる量（太さ）」、遅延は「届くまでの時間（長さ）」と考えると区別しやすいです。
【よくある誤解】
・帯域が大きい＝ゲームが快適、とは限りません。
・Pingの往復時間の半分が、必ず片道の時間になるわけではありません。
【情報の区分】
仮定の算数例
（スライド28／資料の該当箇所：第1部・6）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左の列が観察できる症状、右の列が最初に疑う場所です。複数の症状が重なる場合もあるので、一つずつ切り分けます。
【処理の詳細】
例：地上に出ると戻るなら電波・地下の通信設備を疑う。同じ場所でも人が多い時間だけ悪化するなら基地局・Wi-Fi・回線の混雑。画面全体がカクつき端末が熱いなら、通信ではなく端末のCPU・GPU・発熱・描画設定。Wi-Fiでも携帯回線でも多くの人が同時に不調なら、ゲーム側や広域ネットワークの問題。
【なぜ重要か】
SEの障害切り分けも同じ考え方です。「どこまで正常で、どこから異常か」を観察で絞り込みます（後半の障害切り分けのスライドで一般化します）。
【情報の区分】
一般的な技術説明
（スライド29／資料の該当箇所：第1部・6）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通常のスマホ対戦ゲーム、右がクラウドゲームです。通常は、キャラクターやマップの映像を主にあなたのスマホが描画し、通信するのは操作と状態です。クラウドゲームは遠隔サーバーが映像を作り、動画として届けます。
【用語】
クラウドゲーム：遠隔のサーバーが映像を作り、圧縮した映像・音声として端末へ届ける方式。
【処理の詳細】
・通常のスマホ対戦で対戦中にやり取りする中心は、移動や攻撃などの入力、プレイヤーの位置・向き・状態、HPや攻撃の結果、試合の進行に必要な情報。
・クラウドゲームでは、遅延・揺らぎ・損失に加えて、映像を送れる帯域も重要になる。
【よくある誤解】
「ゲームの映像全部を毎回サーバーへ送っている」のではありません（ブロスタや荒野行動は通常型）。ただし両タイトルの内部方式の詳細は非公開です。
【情報の区分】
一般的な技術説明
（スライド30／資料の該当箇所：第1部・6）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上から下へ、ゲームを始めてから終わるまでの6つの場面です。対戦開始（マッチメイキング）と対戦中は、待ち時間の種類が違います。
【用語】
・マッチメイキング：対戦相手を探し、参加する試合を決める処理。
・アカウント認証：ログインで、利用者が誰かを確認する処理。
【処理の詳細】
Supercellは、ブロスタについて、世界各地にサーバーを置き、地域ごとのサーバーでマッチメイキングすることを説明しています[B07]。相手を見つける待ち時間と、試合中の通信遅延は、別の問題です。
【成立条件・例外】
荒野行動については、今回の資料では公式の通信仕様を確認していません。内部の構成は断定しません。
【よくある誤解】
「マッチングが遅い＝回線が悪い」とは限りません。対戦が始まってからの遅延（ping・ジッター）とは別に、参加者が集まるまでの待ち時間があります。
【情報の区分】
公式資料で確認 / 一般的な技術説明
【出典（資料名・URL）】
[B07] Supercell：Brawl Starsの対戦地域・マッチング
    https://support.supercell.com/brawl-stars/en/articles/battle-sites.html
    https://support.supercell.com/brawl-stars/ja/articles/slow-matchmaking.html
確認時点：原資料の記載は2026年9月30日〜10月1日（日本時間）。変わりやすい情報（価格・製品・採用条件）は最新の公式ページで再確認してください。
（スライド31／資料の該当箇所：第1部・6）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一般的な対戦ゲームの構成例です。両プレイヤーの操作がサーバーへ集まり、サーバーがルールに従って状態と結果を計算し、更新されたゲーム状態を両方へ返します。各端末は受信した情報を使って自分で画面を描きます。
【用語】
クライアント：サービスを利用する側のソフトや端末。ここではあなたのゲームアプリ。
【成立条件・例外】
ブロスタや荒野行動の通信方式・ポート・処理周期などを、公開情報なしに断定するものではありません。実際の処理は周期的に繰り返され、途中に予測や補間などが入ります。
【情報の区分】
一般例（個別サービスの仕様ではない）
（スライド32／資料の該当箇所：第1部・6）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は、サーバー権威型の考え方です。端末の「命中した」という申告をそのまま信じず、サーバーが位置・タイミング・ルールを確認して結果を決めます。右は、それでも操作がすぐ動いて見えるようにする4つの技術です。
【用語】
・サーバー権威型（server authoritative）：サーバー側を結果の最終的な基準にする方式。
・クライアント側予測：サーバーの返事を待つ間、端末が自分の動きを先に予測する。
・補間：受け取った複数の位置情報の間を、なめらかにつないで表示する。
・整合・補正：サーバーの結果と予測が違ったら、表示を修正する。
・遅延補償：通信の遅れを考慮して判定などを調整する。
【処理の詳細】
こうした技術はUnityの公式資料でも説明されています[B08]。通信が不安定だと、予測とサーバーの情報との差が大きくなり、急な位置の修正などが目立つことがあります。
【成立条件・例外】
どの処理までサーバーが判断するかはゲームごとに異なります。具体的なタイトルの実装は非公開のことが多く、ここでは一般的な考え方として扱います。
【情報の区分】
一般例（個別サービスの仕様ではない）
【出典（資料名・URL）】
[B08] Unity：一般的なゲームネットワークと遅延処理
    https://docs.unity.com/en-us/multiplayer/netcode/netcode
    https://docs-multiplayer.unity3d.com/netcode/1.11.0/learn/dealing-with-latency/
確認時点：原資料の記載は2026年9月30日〜10月1日（日本時間）。変わりやすい情報（価格・製品・採用条件）は最新の公式ページで再確認してください。
（スライド33／資料の該当箇所：第1部・6）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3枚のカードは、それぞれ「言えること」と「言えないこと」を分けて並べたものです。緑が確認できること、赤が断定しないことです。
【処理の詳細】
・ブロスタ：Supercellのサポート資料で、世界各地のサーバーと地域ごとのマッチメイキングの説明がある[B07]。通信方式・ポート・処理周期などは公開情報なしに断定しない。
・荒野行動：今回の資料では公式の通信仕様を確認していない。そのため、サーバー構成やプロトコルを断定しない。
・一般的な対戦ゲーム：Unityの資料で、予測・補間・補正・遅延補償などが説明されている[B08]。特定タイトルが同じ実装とは言えない。
【なぜ重要か】
「公式に確認できたこと」と「一般的な技術説明」と「推測」を混ぜない習慣は、顧客への説明や設計書でもそのまま必要になります。
【情報の区分】
公式資料で確認 / 一般例（個別サービスの仕様ではない）
【出典（資料名・URL）】
[B07] Supercell：Brawl Starsの対戦地域・マッチング
    https://support.supercell.com/brawl-stars/en/articles/battle-sites.html
    https://support.supercell.com/brawl-stars/ja/articles/slow-matchmaking.html
[B08] Unity：一般的なゲームネットワークと遅延処理
    https://docs.unity.com/en-us/multiplayer/netcode/netcode
    https://docs-multiplayer.unity3d.com/netcode/1.11.0/learn/dealing-with-latency/
確認時点：原資料の記載は2026年9月30日〜10月1日（日本時間）。変わりやすい情報（価格・製品・採用条件）は最新の公式ページで再確認してください。
（スライド34／資料の該当箇所：第1部・6）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外側ほど広い言葉で、内側ほど特定の方法・用途を指します。ChatGPTは、LLM（大規模言語モデル）を使った生成AIサービスの一種です。
【用語】
・AI：人の知的な作業に関わる処理を機械で実現する技術の総称。画像認識、需要予測、翻訳、ゲームの判断なども含む。
・機械学習：データから、判断に使う規則や数値を学ぶ方法。
・深層学習：多層のニューラルネットワークを使う機械学習。
・生成AI：文章・画像・音声などを生成するAI。
・LLM：大量の言語データなどから学んだ大規模言語モデル。
・モデル：学習した数値と、それを使う計算の構造。
【よくある誤解】
AIは「ChatGPTのようなもの」だけを指す言葉ではありません。学習の方法・モデル・サービス（ChatGPTなど）は別の層の言葉です。
【情報の区分】
一般的な技術説明
（スライド35／資料の該当箇所：第1部・7）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上段が学習、下段が推論です。学習はデータを使ってモデル内部の数値を調整する重い処理で、推論は学習済みモデルに入力を与えて出力を計算する処理です。
【処理の詳細】
・学習：多数の計算装置を長時間動かすことがある。
・推論：応答速度や、多数の利用者への対応が重要になる。
【よくある誤解】
質問のたびに、一からモデルを学習し直しているわけではありません。
【なぜ重要か】
インフラの要件が違います。学習は「計算と通信を長時間まとめて使う」、推論は「多数の同時利用者に素早く返す」が課題になり、SEが聞くべき問い（同時利用者数・最初の応答までの秒数など）が変わります。
【情報の区分】
一般的な技術説明
（スライド36／資料の該当箇所：第1部・7）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上の流れは、質問がトークンに分かれ、モデルの計算で次のトークンが決まり、それを繰り返して文章ができる様子です。下の5つの用語はその部品です。
【用語】
・トークン：文章を扱うための単位。日本語の一文字や単語と常に一対一で対応するわけではない。
・重み・パラメーター：モデルの学習済みの数値。大規模モデルでは、保存し、計算中に高速に読み出す必要がある。
・プリフィル：入力全体を最初に処理する段階。デコード：続きを順次生成する段階。
・KVキャッシュ：過去に計算した一部の情報を保持し、同じ計算を繰り返さないための仕組み。長い会話や多数の同時利用者は、こうしたメモリの必要量にも影響する。
・ストリーミング：生成結果を順次届け、文章が少しずつ表示される体験を作る仕組み。
【処理の詳細】
OpenAIの公式ドキュメントでも、APIで生成結果を順次受信する方法が説明されています[B09]。ただしAPI資料だけからChatGPT画面の内部通信方式を完全に断定することはできません。
【よくある誤解】
AIの回答は、必ずどこかのデータベースから正解をそのまま取り出したものではありません。モデルの計算で生成する部分があり、必要に応じて検索などの別機能を使う構成もあります。
【情報の区分】
一般的な技術説明
【出典（資料名・URL）】
[B09] OpenAI：応答のストリーミング
    https://developers.openai.com/api/docs/guides/streaming-responses
確認時点：原資料の記載は2026年9月30日〜10月1日（日本時間）。変わりやすい情報（価格・製品・採用条件）は最新の公式ページで再確認してください。
（スライド37／資料の該当箇所：第1部・7）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中央の「計算」を中心に、左が保存→メモリ→計算というデータの供給経路、右が計算同士・外部との通信、上が電力、下が冷却です。全体が「データセンター」の中にあり、最下段のソフトウェア・運用が全体を動かします。
【処理の詳細】
・保存（SSD）に置いたモデルやデータは、あらかじめメモリへ読み込んで使う。質問のたびにモデル全体をSSDから読み直すのではない。
・メモリ（HBMなど）は計算中のデータを高速に供給する。容量・読み出しの速さ・電力効率が重要。
・通信：多数のGPUを共同で動かすと計算途中の情報を交換する。学習では特に、通信の待ち時間が大きいと高価なGPUが待ってしまう。
・電力と冷却：IT機器が消費した電力の多くは最終的に熱になる。十分に冷やせなければ性能を落として発熱を抑えたり停止したりする。
・ソフト・運用：OS、ドライバー、AI計算ライブラリー、監視、ログ、認証、自動化、バックアップ。
【よくある誤解】
・GPU＝メモリではない。HBM＝SSDでもない。
・NVIDIA＝メモリ製造会社でもない。
【なぜ重要か】
「計算能力だけ高くても、データが届かなければ待ち時間が発生する」ため、計算・メモリ・保存・通信・電力・冷却の組み合わせで性能が決まります。
【情報の区分】
一般的な技術説明
（スライド38／資料の該当箇所：第1部・8）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上の表は、部品ごとの役割と身近なたとえです。下の6つは、AIの性能を左右する条件で、どれか一つが遅いと全体が待たされます（ボトルネック）。
【用語】
・ボトルネック：全体の速さを制限する部分。
・NIC：コンピューターをネットワークにつなぐインターフェース。
・光トランシーバー：電気信号と光信号を変換する部品。
【身近な例】
たとえ：GPUが作業する大きなチーム、メモリが作業机、SSDが倉庫、通信機器が搬送路。机が小さい・搬送が遅いと、チームは待つしかありません。
【処理の詳細】
AIでは、行列という数値の集まりを使う計算が多く、GPUなどが得意とする並列処理と相性があります。ただし計算能力だけ高くても、データが届かなければ待ち時間が発生します。
【情報の区分】
一般的な技術説明
（スライド39／資料の該当箇所：第1部・8）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半導体を「何をするか」で4つに分けた地図です。GPUは「計算する」、メモリは「データを一時的に持つ」、NANDは「保存する」で、別の種類です。
【用語】
・ロジック半導体：計算や制御を行う（CPU・GPU。NVIDIA、AMDなど）。
・AI向けASIC：特定のAI処理に適した計算を行う（Google TPUなど）。
・DRAM：計算中のデータを保持する（SK hynix、Samsung、Micron）。
・HBM：DRAMを積層するなどして高い転送能力を実現する。AI用GPUなどの近くで使う。
・SRAM：高速な小容量の記憶。CPU・GPU内部のキャッシュなどに使う。
・NANDフラッシュ：電源を切ってもデータを保存する（SSD、スマホの保存領域、キオクシアなど）。
・NORフラッシュ：制御用プログラム保存などに使う（組み込み機器）。
・アナログ・RF半導体：電波や連続的な電気信号を扱う（スマホの無線回路）。
・パワー半導体：電力の変換・制御を行う（サーバー電源、設備の電力変換）。
【よくある誤解】
GPU＝メモリではありません。また、HBMとNANDも別物です（次のスライド）。
【情報の区分】
一般的な技術説明
（スライド40／資料の該当箇所：第1部・8）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上の表はHBMとNAND・SSDの比較、下の図はAI用GPUができるまでの分担です。NVIDIAは主にGPUや関連システムを設計・提供する企業です。
【処理の詳細】
・GPUの設計、チップの製造、HBMの供給、パッケージへの実装などを、複数の企業が分担します。
・NVIDIAとSK hynixは、2026年にもHBMを含む次世代メモリの協業を発表しています[B10]。
【よくある誤解】
・「GPU＝メモリ」「HBM＝SSD」「NVIDIAがGPUと周りのメモリを全部自社工場で作る」は、いずれも誤解です。
・SSDがそのままHBMと同じ速さになるわけではありません。GPUメモリだけでは容量や費用が厳しい場面で、SSDなどを組み合わせるメモリ階層の工夫が進んでいます。
【情報の区分】
一般的な技術説明 / 公式資料で確認
【出典（資料名・URL）】
[B10] NVIDIAとSK Group：AI基盤・メモリの協業
    https://nvidianews.nvidia.com/news/sk-group-and-nvidia-expand-strategic-partnership-across-ai-factories-and-next-generation-memory
確認時点：原資料の記載は2026年9月30日〜10月1日（日本時間）。変わりやすい情報（価格・製品・採用条件）は最新の公式ページで再確認してください。
（スライド41／資料の該当箇所：第1部・8）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5社が「何を売るか」と「AI需要との接点」の表です。どれもAIを支える重要企業ですが、同じ種類の商品ではありません。
【用語】
・ファウンドリー：ほかの企業が設計した半導体を受託製造する企業。TSMCが代表例。
・EUV露光装置：先端半導体の微細な回路を作る露光装置。ASMLが提供[B20]。
【処理の詳細】
・キオクシア：2026年7月30日、AI推論やコンテキストキャッシュ向けに、PCIe 6.0や直接液冷に対応する企業向けSSDを発表し、限定顧客へのサンプル出荷を説明している[B11]。保存装置もAI基盤の性能を左右する例。
・東京エレクトロン：成膜・エッチング・洗浄などの製造装置を提供。2026年にAI半導体製造ソリューションに関する受賞を発表している[B12]。
【よくある誤解】
「東京エレクトロンはAIで注目されていない」と一般化するより、キオクシアとは売っているものが違うと理解します。ニュースの扱われ方や株価の動きの違いは、AIとの関係だけでなく、メモリ価格、生産量、設備投資の時期、輸出規制、業績への織り込みなどでも変わります。
【情報の区分】
公式資料で確認 / 一般的な技術説明
【出典（資料名・URL）】
[B11] キオクシア：2026年7月30日の製品発表
    https://www.kioxia.com/ja-jp/business/news/2026/20260730-1.html
[B12] 東京エレクトロン：2026年6月26日の発表
    https://www.tel.co.jp/news/topics/2026/20260626_001.html
[B20] ASML：EUV露光装置
    https://www.asml.com/en/products/euv-lithography-systems
確認時点：原資料の記載は2026年9月30日〜10月1日（日本時間）。変わりやすい情報（価格・製品・採用条件）は最新の公式ページで再確認してください。
（スライド42／資料の該当箇所：第1部・8）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上の6つは、AI用の半導体ができるまでの分担です。企業名は役割を理解するための例で、一つのAIサービスがすべての企業を使うという意味ではありません。下の4つが、製造装置が担う主な工程です。
【用語】
・成膜：材料の薄い層を作る。
・エッチング：不要な部分を削り、形を作る。
・洗浄：汚れなどを取り除く。
・露光：光を使って、微細な回路のパターンを形成する工程。
・先端パッケージ：GPUやメモリを高密度で接続する（積層、チップレット、微細配線）。
【処理の詳細】
・検査装置：不良や性能を確認する（アドバンテスト、KLAなど）。
・材料：シリコンウエハー、薬品、ガス、基板。
・半導体工場でも、洗浄などに高純度の水を使う。AIと水の関係には、データセンターの冷却、発電、半導体製造などの異なる経路がある。
【成立条件・例外】
AI需要が増えると、GPU・メモリなどの需要が増え、その生産能力を増やすための設備投資につながり得ます。影響の現れ方は、メモリ価格、生産量、設備投資の時期、輸出規制などで変わります。
【情報の区分】
一般的な技術説明
（スライド43／資料の該当箇所：第1部・8）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IEA（国際エネルギー機関）の2025年報告の数値です。世界のデータセンターの電力消費を2024年に約415TWh（推計）、基本ケースでは2030年に約945TWhへ増えると予測しています。倍率（約2.3倍）は、この2つの数値から計算した単純な比です。
【用語】
TWh（テラワット時）：電力量の単位。1TWh＝10億kWh。
【処理の詳細】
IT機器が消費した電力の多くは、最終的に熱になります。十分に冷やせなければ、性能を落として発熱を抑えたり、停止したりします。そのため電力の確保と冷却はセットで考える必要があります。
【成立条件・例外】
これはAIだけの電力消費ではなく、データセンター全体の推計・予測です。将来の予測であり、確定値ではありません。
【なぜ重要か】
SEがAI基盤の要件を聞くとき、「GPUを何枚」より前に、電力と冷却を確保して実際に置き、動かせるかを確認する必要があります。
【情報の区分】
公式資料で確認
【出典（資料名・URL）】
[B13] IEA：Energy and AI
    https://www.iea.org/reports/energy-and-ai/executive-summary
確認時点：原資料の記載は2026年9月30日〜10月1日（日本時間）。変わりやすい情報（価格・製品・採用条件）は最新の公式ページで再確認してください。
（スライド44／資料の該当箇所：第1部・8）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冷却方式ごとに、水との関係が違います。下の3つは、AIと水が関わる3つの別々の経路です。
【用語】
・コールドプレート：チップの上に接触させて熱を冷却液へ移す部品。
・CDU：冷却液の循環や熱交換などを管理する装置。
・閉回路の液冷：同じ液体を循環させる方式。
【処理の詳細】
チップ側の回路が閉じていても、建物側で冷却塔などを使えば水を消費する場合があります。Microsoftは、蒸発を抑える閉回路のチップ冷却や、地域に応じた冷却方式を説明しています[B14]。
【よくある誤解】
「水を使って熱を運ぶこと」と「水を消費すること」は同じではありません。「液冷＝水を大量に使う」「空冷＝水を使わない」とも単純には言えません。
【情報の区分】
公式資料で確認 / 一般的な技術説明
【出典（資料名・URL）】
[B14] Microsoft：データセンターの水利用
    https://local.microsoft.com/blog/understanding-water-use-at-microsoft-datacenters/
確認時点：原資料の記載は2026年9月30日〜10月1日（日本時間）。変わりやすい情報（価格・製品・採用条件）は最新の公式ページで再確認してください。
（スライド45／資料の該当箇所：第1部・8）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4つの地域を同じ軸（強み・課題・代表例）で並べた表です。企業名は代表例であり、国全体のAI能力の順位ではありません。
【処理の詳細】
・最先端モデル、研究論文、資金、半導体、企業での利用を、一つの順位にまとめると見誤ります。
・米国：最先端モデル、大規模民間投資、巨大クラウド、GPU設計。課題は電力・設備建設・費用など。
・中国：大きな国内市場、研究活動、公開重みモデル、産業への導入。課題は先端半導体・装置へのアクセス制約など。
・欧州：研究人材、産業技術、半導体製造装置、企業向けAI。課題は大型資金調達、計算基盤、域内市場の分断など。
・日本：半導体材料・装置、製造業、産業データ。課題は巨大モデル開発の資金・計算基盤など。
【よくある誤解】
地域の優劣を単純化しないこと。例えば「欧州は規制のせいで遅れている」「中国にGPUは一切売れない」のような一括りは誤りです（次の2枚で詳しく）。
【情報の区分】
公式資料で確認 / 一般的な技術説明
【出典（資料名・URL）】
[B15] Stanford AI Index 2026：研究開発
    https://hai.stanford.edu/ai-index/2026-ai-index-report/research-and-development
[B17] 米商務省BIS：半導体の輸出管理
    https://www.bis.gov/press-release/commerce-strengthens-export-controls-restrict-chinas-capability-produce-advanced-semiconductors-military
    https://media.bis.gov/press-release/department-commerce-revises-license-review-policy-semiconductors-exported-china
[B18] 欧州投資銀行：成長企業の資金調達
    https://www.eib.org/en/publications/online/all/the-scale-up-gap
[B20] ASML：EUV露光装置
    https://www.asml.com/en/products/euv-lithography-systems
確認時点：原資料の記載は2026年9月30日〜10月1日（日本時間）。変わりやすい情報（価格・製品・採用条件）は最新の公式ページで再確認してください。
（スライド46／資料の該当箇所：第1部・9）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左のグラフは、Stanford AI Index 2026が報告した、2025年の「注目すべきモデル」の開発数（米国59、中国35）です。これは定義に沿った集計であり、国全体のAI能力を完全に表す点数ではありません。
【処理の詳細】
・中国は論文数や引用などの研究指標で強さを示しています[B15]。
・同報告では、米国の民間AI投資が中国を大きく上回る一方、中国の政府関連資金を民間投資の集計だけでは十分に捉えられないことも説明しています[B16]。
・中国については、ソフトウェアとしてのモデル開発力と、必要なチップを確保する条件を分けて考えます。先端計算用半導体や製造装置には米国などの輸出管理が関係しますが、規則や許可条件は変化するため、「中国には一切GPUを売れない」と一括りにはできません[B17]。
【よくある誤解】
モデル数の多寡だけで優劣を決めないこと。定義・集計方法・資金の見え方で結論が変わります。
【情報の区分】
公式資料で確認
【出典（資料名・URL）】
[B15] Stanford AI Index 2026：研究開発
    https://hai.stanford.edu/ai-index/2026-ai-index-report/research-and-development
[B16] Stanford AI Index 2026：経済
    https://hai.stanford.edu/ai-index/2026-ai-index-report/economy
[B17] 米商務省BIS：半導体の輸出管理
    https://www.bis.gov/press-release/commerce-strengthens-export-controls-restrict-chinas-capability-produce-advanced-semiconductors-military
    https://media.bis.gov/press-release/department-commerce-revises-license-review-policy-semiconductors-exported-china
確認時点：原資料の記載は2026年9月30日〜10月1日（日本時間）。変わりやすい情報（価格・製品・採用条件）は最新の公式ページで再確認してください。
（スライド47／資料の該当箇所：第1部・9）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左の表は、大規模AI開発に影響する6つの観点です。右は、資金面の分析、計算基盤の整備、半導体製造装置という3つの事実です。
【処理の詳細】
・欧州投資銀行は、欧州の資本市場、とくにベンチャー資金の浅さや分断が、企業の規模拡大を妨げる要因と説明しています[B18]。「規制だけが原因」とするのは単純化しすぎです。
・欧州委員会は2026年7月、最大7か所のAI Gigafactory設立に向けた公募を発表し、19のAI Factoryとともに計算能力を強化すると説明しています[B19]。公募や計画は、すべての施設が稼働済みという意味ではありません。
・オランダのASMLは、先端半導体を作るEUV露光装置を提供しています[B20]。欧州は、AIモデルの話題だけでは見えにくいところでも、AIの土台を支えています。
【よくある誤解】
欧州の現状を「規制が原因」の一言で説明しないこと。資金・計算設備・市場・電力・人材・法制度など複数の観点が絡みます。
【情報の区分】
公式資料で確認
【出典（資料名・URL）】
[B18] 欧州投資銀行：成長企業の資金調達
    https://www.eib.org/en/publications/online/all/the-scale-up-gap
[B19] 欧州委員会：AI Gigafactories
    https://digital-strategy.ec.europa.eu/en/news/eu-launches-ai-gigafactories-call-boost-europes-computing-capacity-and-unlock-more-eu30-billion
[B20] ASML：EUV露光装置
    https://www.asml.com/en/products/euv-lithography-systems
確認時点：原資料の記載は2026年9月30日〜10月1日（日本時間）。変わりやすい情報（価格・製品・採用条件）は最新の公式ページで再確認してください。
（スライド48／資料の該当箇所：第1部・9）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5つの層を、OpenAIとAnthropicで並べた表です。同じ「AI」でも、提供企業・サービス・モデル・ツール・作業環境は別々の言葉です。
【処理の詳細】
・モデルは頭脳に相当し、ツールと実行環境は作業するための道具や机に相当します。
・同じモデルでも、コードを実行できるか、ブラウザーで表示を確認できるか、必要な資料を読めるかによって完成物が変わります。
・ChatGPTの画像生成は、文章を扱うモデルが画像生成機能を呼び出す構成を含みます[N04]。したがって「Solの文章能力が、そのまま写真生成能力」ではありません。
・ClaudeのPowerPoint生成も、モデルの理解・構成力とファイル作成機能が組み合わさります[N05]。
【なぜ重要か】
モデルとツールを変えると成果物と使用量が変わる理由は、この層の違いにあります（使用量は後のスライドで扱います）。
【情報の区分】
公式資料で確認
【出典（資料名・URL）】
[N04] OpenAI：画像生成機能
    https://learn.chatgpt.com/docs/image-generation
[N05] Anthropic：Claudeでファイルを作成・編集
    https://support.claude.com/en/articles/12111783-create-and-edit-files-with-claude
確認時点：原資料の記載は2026年9月30日〜10月1日（日本時間）。変わりやすい情報（価格・製品・採用条件）は最新の公式ページで再確認してください。
（スライド49／資料の該当箇所：第2部・13）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6つのサービスの、公式機能に基づく用途の選び方です。すべてを同じ課題で独自に実験して決めたランキングではありません。公式発表のベンチマークや利用者事例は条件が異なる場合があり、そのまま絶対的な順位にしません。
【処理の詳細】
・ChatGPT／Work：調査、説明、分析、コード実行、ファイル作成、画像生成を一連の作業として進める。調査・画像専用ではなく、使える機能はプランや環境による。
・Claude／Claude Code：長い資料の整理、文章、コードの編集・実行、文書・スライド作成。PowerPoint専用ではなく、出典付きWeb検索もある[N05][N07]。
・Gemini：Google Workspaceと合わせた作業、画像・音声・動画などの対応機能、Googleのサービスとの連携[N24]。Google連携があっても、すべての業務で他社より正確とは限らない。
・Microsoft 365 Copilot：Word・Excel・PowerPointなど既存業務の中で資料を作成・編集する[N09]。利用できる機能・社内資料へのアクセスは契約や権限による。
・Perplexity：出典をたどりながら検索・調査を進める[N25]。検索中心のサービスでも他社モデルを使う場合がある。
・Grok：Xの投稿・話題を含む調査に関連する機能[N26]。投稿の人気と情報の正しさは別で、一次情報の確認が必要。
【成立条件・例外】
情報と出典を整えた原稿を作る工程と、PowerPointの図・文字量・配置を作る工程を分けるのは有効です。途中で別のAIへ渡すときは、目的、前提、原稿、出典、未確認事項をセットで渡します。
【よくある誤解】
「調査はChatGPTしかできない」という区別はしません。調査は、検索機能、読める資料、出典の確認方法、モデルの判断、調査をやり直す仕組みで品質が決まります。
【情報の区分】
公式資料で確認 / 教材の提案
【出典（資料名・URL）】
[N05] Anthropic：Claudeでファイルを作成・編集
    https://support.claude.com/en/articles/12111783-create-and-edit-files-with-claude
[N07] Anthropic：ClaudeのWeb検索
    https://support.claude.com/en/articles/10684626-enable-and-use-web-search
[N09] Microsoft：Copilot in PowerPoint
    https://support.microsoft.com/en-us/powerpoint/frequently-asked-questions-about-copilot-in-powerpoint
[N24] Google：Gemini・GoogleサービスのAI機能
    https://blog.google/products-and-platforms/products/google-one/fall-2026-ai-plan-updates/
    https://blog.google/innovation-and-ai/technology/developers-tools/google-io-2026-collection/
    https://blog.google/products-and-platforms/products/workspace/voice-features-gmail-docs-keep/
[N25] Perplexity：Researchと提供機能
    https://www.perplexity.ai/help-center/en/articles/10738684-what-is-research-mode
    https://www.perplexity.ai/help-center/en/articles/11187416-which-perplexity-subscription-plan-is-right-for-you
[N26] xAI：X Search
    https://docs.x.ai/developers/tools/x-search
確認時点：原資料の記載は2026年9月30日〜10月1日（日本時間）。変わりやすい情報（価格・製品・採用条件）は最新の公式ページで再確認してください。
（スライド50／資料の該当箇所：第2部・14）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6つのモデルについて、主に検討する用途と、この学習での例を並べた表です。左列の色は、紫がOpenAI（GPT）、橙がAnthropic（Claude）です。
【用語】
・名称の読み：Opusは「オーパス」、Sonnetは「ソネット」（「オップス」「ソネント」ではない）。
・AstraはGPT-6 Astra。GPT-6.1 Solと番号を混同しない。
【処理の詳細】
・OpenAIの選択指針では、Solを費用も重視する複雑な作業、Astraを深い判断、Lunaを範囲の明確な作業に位置付けている[N03]。
・AnthropicではOpus 5.5（2026年9月22日発表）とSonnet 5.5（同28日発表）が公開され、Haiku 5.5は2026年9月28日のSonnet発表時点では今後の予定（coming weeks）と説明されている[N06][N08]。Haiku 4.5を、未確認のHaiku 5.5と入れ替えない[N10]。
【成立条件・例外】
この表の「この学習での例」は、本教材の提案であり、同じ課題で実験して決めた結論ではありません。制作時点（2026年9月30日）にAnthropicの公式ページで、Sonnet 5.5の発表日・価格、Opus 5.5の価格、Haiku 5.5が今後の予定であることを再確認しました。OpenAI側のページはこの制作環境から確認できなかったため、原資料の時点の情報です。
【情報の区分】
公式資料で確認 / 教材の提案
【出典（資料名・URL）】
[N03] OpenAI：モデルの選び方
    https://learn.chatgpt.com/docs/model-selection
[N06] Anthropic：Claude Sonnet 5.5、2026年9月28日発表
    https://www.anthropic.com/claude-sonnet-5-5
[N08] Anthropic：Claude Opus 5.5、2026年9月22日発表
    https://www.anthropic.com/claude-opus-5-5
[N10] Anthropic：Claude Haiku
    https://www.anthropic.com/claude/haiku
確認時点：原資料の記載は2026年9月30日〜10月1日（日本時間）。変わりやすい情報（価格・製品・採用条件）は最新の公式ページで再確認してください。
（スライド51／資料の該当箇所：第2部・15）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左のバーは、その画面が対象にする利用枠のうち4％を消費したことのイメージです（枠の大きさ・期間は未確認）。右の表は、混同しやすい5つの言葉です。
【処理の詳細】
・「使用済み4％」という表示は、その画面が対象にする利用枠に対して消費した割合を表します。AIの知能の4％を使ったことでも、モデル全体の記憶容量の4％を埋めたことでもありません。
・集計期間、契約プラン、表示が使用済みか残量か、通常速度か高速設定かを確認しないと正確には換算できません。この会話ではWorkの表示であることは確認できたが、契約プラン・集計期間・詳細な使用ログは確認できていません。
・OpenAIの公式資料では、ChatGPT WorkとCodexは使用量を共有します[N01][N02]。
【よくある誤解】
・「今回4％だから同じ質問をあと24回できる」とは保証できません。会話が長くなる、ファイルを生成・確認する、複数回修正する、期間が切り替わる、といった条件が変わるためです。
・4％は、コンテキスト容量（一度に扱える情報の上限）の使用率でもありません。
【情報の区分】
公式資料で確認
【出典（資料名・URL）】
[N01] OpenAI：Work／Codexの料金・使用量
    https://learn.chatgpt.com/docs/pricing
[N02] OpenAI：ChatGPT Workの使用量とコスト
    https://learn.chatgpt.com/docs/enterprise/chatgpt-work-usage-and-cost
確認時点：原資料の記載は2026年9月30日〜10月1日（日本時間）。変わりやすい情報（価格・製品・採用条件）は最新の公式ページで再確認してください。
（スライド52／資料の該当箇所：第2部・12）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上の7つが、使用量を左右する条件です。下は、調べ物の範囲が広くても割合が小さく見えることがある理由の仮説で、今回の4％の内訳だったと断定はできません。
【処理の詳細】
・使用量は一回の質問につき一定ではなく、モデル、入出力、会話や添付ファイル、ツール結果、推論・速度の設定、反復作業などに左右される[N01][N02]。
・推論の強さを上げると、複雑な問題に役立つ場合がある一方、時間とトークンを多く使う。深い推論と、高速モードは別の設定[N03]。FastやUltrafastなどの速度モードにも別の倍率がある。
・調べ物の範囲が広くても、画面で眺めた全文をすべて長大な入力として何度も使うとは限らない。Webサイトの応答を待つ時間も、そのまま同じ長さのモデル計算ではない。
【成立条件・例外】
Solを使う、同じ情報がキャッシュとして再利用される、利用枠の分母が大きい、といった理由で割合が小さくなる可能性がある。ただし今回の4％の内訳がこれらだったと断定はできない。
【なぜ重要か】
モデルとツールを変えると成果物と使用量が変わるのは、入出力の量・反復回数・ツールの使い方が変わるためです。
【情報の区分】
公式資料で確認
【出典（資料名・URL）】
[N01] OpenAI：Work／Codexの料金・使用量
    https://learn.chatgpt.com/docs/pricing
[N02] OpenAI：ChatGPT Workの使用量とコスト
    https://learn.chatgpt.com/docs/enterprise/chatgpt-work-usage-and-cost
[N03] OpenAI：モデルの選び方
    https://learn.chatgpt.com/docs/model-selection
確認時点：原資料の記載は2026年9月30日〜10月1日（日本時間）。変わりやすい情報（価格・製品・採用条件）は最新の公式ページで再確認してください。
（スライド53／資料の該当箇所：第2部・12）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表はWorkの公開Standardレート（100万トークンあたりのクレジット）です。購入クレジットや対応する従量契約向けの単位で、個人プランの使用率をこの表だけで計算してはいけません[N01]。下のグラフは、仮に「非キャッシュ入力2万トークン＋課金対象出力1万トークン」としたときの算数の例です。
【処理の詳細】
・計算：Sol＝2万÷100万×50＋1万÷100万×250＝1.0＋2.5＝3.5 credits。Astra＝2万÷100万×250＋1万÷100万×1,250＝5＋12.5＝17.5 credits。Luna＝0.05＋0.125＝0.175 credits。
・これは実測値ではありません。同じ仕事をするとき各モデルが使うトークン数は違い得るので、仕事一回の消費比率が常にこの倍率になるわけではありません。
・FastやUltrafastなどの速度モードには別の倍率があります[N01][N03]。
【よくある誤解】
質問1回の固定料金はありません。この表の単位を、本人の実費やWorkの使用率（％）と同じものとして扱わないでください。
【情報の区分】
公式資料で確認 / 仮定の算数例
【出典（資料名・URL）】
[N01] OpenAI：Work／Codexの料金・使用量
    https://learn.chatgpt.com/docs/pricing
[N03] OpenAI：モデルの選び方
    https://learn.chatgpt.com/docs/model-selection
確認時点：原資料の記載は2026年9月30日〜10月1日（日本時間）。変わりやすい情報（価格・製品・採用条件）は最新の公式ページで再確認してください。
（スライド54／資料の該当箇所：第2部・12）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表はAPIのStandard・通常のコンテキスト帯での基本価格（100万トークンあたり、米ドル）です。右のグラフは、仮に「入力2万トークン＋課金対象出力1万トークン」としたときの算数の例です（青：OpenAI、橙：Anthropic）。
【処理の詳細】
・計算式：入力トークン数÷100万×入力単価＋課金対象出力トークン数÷100万×出力単価。
・例：Sol＝2万÷100万×$2＋1万÷100万×$10＝$0.04＋$0.10＝$0.14。Luna＝$0.002＋$0.005＝$0.007。
・推論トークンや複数のモデル呼び出し、キャッシュの扱い、検索・画像などの費用により実際は変わります。キャッシュ、長大入力、ツール、速度・地域設定などは別条件です。
【成立条件・例外】
サブスクリプションの使用率や月額料金とは別です。制作時点（2026年9月30日）にAnthropicの公式料金ページでOpus 5.5（$4/$20）、Sonnet 5.5（$2/$10）、Haiku 4.5（$1/$5）を再確認しました。OpenAI側の料金ページはこの制作環境から確認できなかったため、原資料の時点の情報です。
【よくある誤解】
これは条件を固定した算数の例で、仕事一回の実費ではありません。
【情報の区分】
公式資料で確認 / 仮定の算数例
【出典（資料名・URL）】
[N11] OpenAI：API料金
    https://developers.openai.com/api/docs/pricing
[N12] Anthropic：API料金
    https://platform.claude.com/docs/en/about-claude/pricing
確認時点：原資料の記載は2026年9月30日〜10月1日（日本時間）。変わりやすい情報（価格・製品・採用条件）は最新の公式ページで再確認してください。
（スライド55／資料の該当箇所：第2部・15）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左の3段階は、モデルの使い分けの提案です。修正回数まで含めて安くなるかを、同じ入力と評価基準で比べることが大切です。
【処理の詳細】
・選び方の例：普段はSolまたはSonnetで進め、曖昧な設計・複雑な矛盾・品質に不満が残るところでAstraまたはOpusを試す。単純な整形はLuna・Haikuを検討する。
・ただし修正回数まで含めて安くなるか、同じ入力と評価基準で比べる。強いモデルを使うほど、常に正解になるわけではない。
【成立条件・例外】
・AIモデル、価格、製品提供状況、会社組織などの変わりやすい情報は、更新時に公式ページで再確認する。
・Haiku 5.5は2026年9月28日のSonnet発表時点では今後の予定。Haiku 4.5を未確認のHaiku 5.5と入れ替えない。
・別のAIへ途中で渡すときは、目的、前提、原稿、出典、未確認事項をセットで渡す。
【なぜ重要か】
これは教材の提案であり、独自実験に基づく順位ではありません。SEの仕事でも、要件・評価基準を先に決めてから道具を比べる習慣が役立ちます。
【情報の区分】
教材の提案
【出典（資料名・URL）】
[N03] OpenAI：モデルの選び方
    https://learn.chatgpt.com/docs/model-selection
[N06] Anthropic：Claude Sonnet 5.5、2026年9月28日発表
    https://www.anthropic.com/claude-sonnet-5-5
[N10] Anthropic：Claude Haiku
    https://www.anthropic.com/claude/haiku
確認時点：原資料の記載は2026年9月30日〜10月1日（日本時間）。変わりやすい情報（価格・製品・採用条件）は最新の公式ページで再確認してください。
（スライド56／資料の該当箇所：第2部・14・15）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7つの要因を並べた表です。Xで見る動画と、自分の出力の差は、この複数の要因から生じます。
【処理の詳細】
・特定の投稿のURL・制作履歴は提供されていないため、その人の実際のモデルや作業時間は特定できません。
・モデルと設定：同じブランドでもモデルや推論の強さが異なる。
・実行環境：回答にコードを表示するだけか、実際にファイルを編集・実行できるか。
・仕様の具体性：「ゲームを作って」か、操作・勝敗・画面・完成条件を定めるか。
・素材：画像、音声、3Dモデル、テンプレートを使っているか。
・反復：初回の出力か、動かして数十回改善した結果か。
・人間の知識：エラーや見た目の問題を具体的に指摘できるか。
・公開された範囲：成功した場面の短い動画か、起動・長時間動作まで確認した成果か。
【よくある誤解】
「うまい人は特別なプロンプトを知っている」とは限りません。プロンプトの長さより、必要な条件と反復の質が重要です。
【情報の区分】
一般的な技術説明 / 教材の提案
【出典（資料名・URL）】
[N13] Anthropic：Claude Codeと開発作業
    https://www.anthropic.com/news/claude-code-on-team-and-enterprise
確認時点：原資料の記載は2026年9月30日〜10月1日（日本時間）。変わりやすい情報（価格・製品・採用条件）は最新の公式ページで再確認してください。
（スライド57／資料の該当箇所：第2部・16）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上段が、仕様から実装・実行・確認へ進む流れです。問題があれば原因を絞って修正し、もう一度実行します。条件を満たしたら完成物を確認します。参考画像・素材は実装に入ります。
【用語】
成果物を作るAIエージェント：モデルとツールを組み合わせ、作業を複数段階進めるもの。コードを生成→実行→エラーを見る→修正→画面で確認、というループが重要になる。Claude CodeとCodex／Workは、こうした実行を含む作業に関連する[N13]。
【なぜ重要か】
SEの構築・検証も同じループです。設定（実装）→確認（実行・観察）→修正→再確認を、手順書と結果で記録します。
【情報の区分】
一般的な技術説明
【出典（資料名・URL）】
[N13] Anthropic：Claude Codeと開発作業
    https://www.anthropic.com/news/claude-code-on-team-and-enterprise
確認時点：原資料の記載は2026年9月30日〜10月1日（日本時間）。変わりやすい情報（価格・製品・採用条件）は最新の公式ページで再確認してください。
（スライド58／資料の該当箇所：第2部・16）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左の5点を依頼時に渡します。右は、改善を依頼するときの良い指摘と悪い指摘の例です。下は、最初の練習題材の提案です。
【処理の詳細】
・依頼時には「仕様」「実行する環境」「使ってよい素材」「完成条件」「確認方法」を渡す。
・改善時は「もっとよく」だけでなく、「文字が切れる」「当たり判定が見た目より大きい」「低FPSでも移動速度が変わらないように」と、観察できる問題にする。
・練習するなら最初は一人用の小さな2Dゲームにする。例：Windowsのブラウザーで動く、WASDで移動、マウスで狙う、敵を倒す、HP・スコア・開始・再挑戦画面がある、という範囲。
・オンライン対戦は、サーバー同期、認証、攻撃対策など別の問題が増える。
【なぜ重要か】
これは要件定義の練習そのものです。「何を満たせば完了か」「どうやって確認するか」を先に書く習慣が、SEの仕事でも役立ちます。
【情報の区分】
教材の提案
（スライド59／資料の該当箇所：第2部・16）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6つの工程を左から右へ進み、各工程でSEが行う作業（上段）と、残す成果物（下段）を示しています。企業自身が掲載した新卒採用情報では、HPEのシステムエンジニアは顧客との要件定義、ITプラットフォーム設計、構築、品質確認、納入に関わり、ハードウェア、ネットワーク、セキュリティ、クラウドなどの土台を扱い、顧客やパートナーと認識を合わせる、と説明されています[N14][N15]。
【用語】
非機能要件：画面のボタンなどの機能以外の条件。性能、可用性、セキュリティ、運用性、拡張性など（次のスライド）。
【処理の詳細】
・要件定義：利用者数、性能、停止許容、予算、期限を確認 → 要件一覧、前提・制約。
・設計：サーバー・保存・ネットワーク・冗長化を選ぶ → 構成図、基本・詳細設計書。
・検証：必要な性能、障害時の動作、互換性を確かめる → 検証計画、結果、課題一覧。
・構築：設定・自動化、パートナーとの作業調整 → 設定値、手順、変更記録。
・テスト・移行：切り替え、失敗時の戻し方、受入条件を確認 → 試験結果、移行・切戻し計画。
・納入・運用引継ぎ：顧客に説明し、運用できる形にする → 運用設計書、手引き、完了記録。
【成立条件・例外】
サービスエンジニアにも導入や技術支援などが含まれる場合があり、単純に「サービス職は部品交換だけ」とはしません。本書では本人の採用職種であるシステムエンジニアを中心にします。
【なぜ重要か】
SEは「なぜこの構成で要件を満たせるか」を説明する必要があります。成果物は、その説明の記録です。
【情報の区分】
公式資料で確認
【出典（資料名・URL）】
[N14] LabBase：HPEが掲載した2027年新卒SE採用情報
    https://compass.labbase.jp/company/1916/recruit/41029
[N15] マイナビ2027：HPEの採用データ・給与例
    https://job.mynavi.jp/27/pc/corpinfo/displayEmployment/index/?corpId=515&amp;recruitingCourseId=27058348
確認時点：原資料の記載は2026年9月30日〜10月1日（日本時間）。変わりやすい情報（価格・製品・採用条件）は最新の公式ページで再確認してください。
（スライド60／資料の該当箇所：第2部・17）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上の5枚が非機能要件の代表的な観点です。下の5つは、SEの仕事の一日を構成する活動の例です。
【用語】
非機能要件：画面のボタンなどの機能以外の条件。性能、可用性、セキュリティ、運用性、拡張性などである。
【処理の詳細】
仕事の一日の例としては、顧客との打合せ、設計書の作成、設定・検証、パートナーとの確認、課題や進捗の報告が組み合わさります。ただし実際の割合は部署・顧客・工程によります。常にコードを書く仕事でも、常に会議だけの仕事でもありません。
【成立条件・例外】
サービスエンジニアにも導入や技術支援などが含まれる場合があります。職種の区別は採用企業自身の採用情報で確認してください。
【なぜ重要か】
「なぜこの構成で要件を満たせるか」を説明するには、性能・可用性などの条件を数値や基準で合意しておく必要があります。
【情報の区分】
公式資料で確認 / 一般的な技術説明
【出典（資料名・URL）】
[N14] LabBase：HPEが掲載した2027年新卒SE採用情報
    https://compass.labbase.jp/company/1916/recruit/41029
[N15] マイナビ2027：HPEの採用データ・給与例
    https://job.mynavi.jp/27/pc/corpinfo/displayEmployment/index/?corpId=515&amp;recruitingCourseId=27058348
確認時点：原資料の記載は2026年9月30日〜10月1日（日本時間）。変わりやすい情報（価格・製品・採用条件）は最新の公式ページで再確認してください。
（スライド61／資料の該当箇所：第2部・17）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下の3つの基盤機器（サーバー・ストレージ・ネットワーク）の上に、AI基盤、さらに利用・管理のソフトウェアが載る、という理解のための地図です。製品名の位置付けは学習のための整理で、実際の契約・構成は案件ごとに異なります。
【処理の詳細】
・HPE ProLiant：企業向けサーバー（iLOで管理）。
・HPE Alletraなど：企業向けストレージ。
・HPE Aruba／Juniper：LAN、Wi-Fi、データセンター、広域ネットワーク。HPEは2025年7月2日にJuniper買収完了を発表している[N17]。
・HPE Private Cloud AI：企業がAIを導入・運用するための統合基盤。NVIDIAとの協業に関連する[N20]。
・HPE GreenLake：ハイブリッド環境などの利用・管理に関する基盤。HPE Morpheus／VM Essentials：仮想化・クラウド資源の管理に関連するソフトウェア。
・HPE NonStop：高い継続稼働が求められる業務の基盤。
【成立条件・例外】
組織の詳細や個人の配属は別問題であり、買収だけから推測しません。製品ごとに提供時期が異なるため、発表済み・利用可能・将来予定を区別します。補助的な製品・採用資料：HPE Morpheus https://www.hpe.com/jp/ja/products/software/morpheus-software.html ／ HPE NonStop https://www.hpe.com/jp/ja/collaterals/collateral.a50013513jpn.html ／ HPE日本向け学生・新卒採用 https://careers.hpe.com/us/en/students-graduates-japan
【情報の区分】
公式資料で確認 / 一般的な技術説明
【出典（資料名・URL）】
[N17] HPE：Juniper買収完了、2025年7月2日
    https://www.hpe.com/us/en/newsroom/press-release/2025/07/hewlett-packard-enterprise-closes-acquisition-of-juniper-networks-to-offer-industry-leading-comprehensive-cloud-native-ai-driven-portfolio.html
[N18] HPE：iLO
    https://www.hpe.com/us/en/collaterals/collateral.c04154343.html
[N20] HPE：NVIDIAとのAI基盤の協業、2026年3月
    https://www.hpe.com/us/en/newsroom/press-release/2026/03/hpe-accelerates-secure-scalable-production-ready-ai-through-new-innovations-with-nvidia.html
確認時点：原資料の記載は2026年9月30日〜10月1日（日本時間）。変わりやすい情報（価格・製品・採用条件）は最新の公式ページで再確認してください。
（スライド62／資料の該当箇所：第2部・18）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4つの製品・分野について、理解する役割と、一緒に学ぶ基礎を並べた表です。製品名を覚えるより、左の製品が右の基礎技術の上に成り立っていることを理解するのが目的です。
【処理の詳細】
・iLOはサーバーのOSが止まったときにも管理の手段になります。通常のアプリ通信と管理用通信を分け、誰が管理画面へ接続できるかを考えます[N18]。
・HPEはiLOのRedfish APIとPythonライブラリーを公開しており、構成や状態の取得などを自動化できます[N19]。
・HPEは2025年7月2日にJuniper買収完了を発表している。2026年のHPEを理解するときは、従来のサーバーとArubaだけでなくJuniperの役割も見る[N17]。組織の詳細や個人の配属は別問題で、買収だけから推測しない。
【情報の区分】
公式資料で確認 / 一般的な技術説明
【出典（資料名・URL）】
[N17] HPE：Juniper買収完了、2025年7月2日
    https://www.hpe.com/us/en/newsroom/press-release/2025/07/hewlett-packard-enterprise-closes-acquisition-of-juniper-networks-to-offer-industry-leading-comprehensive-cloud-native-ai-driven-portfolio.html
[N18] HPE：iLO
    https://www.hpe.com/us/en/collaterals/collateral.c04154343.html
[N19] HPE：iLO Redfish APIとPython
    https://developer.hpe.com/platform/ilo-restful-api/home/
    https://servermanagementportal.ext.hpe.com/docs/redfishclients/python-redfish-library
確認時点：原資料の記載は2026年9月30日〜10月1日（日本時間）。変わりやすい情報（価格・製品・採用条件）は最新の公式ページで再確認してください。
（スライド63／資料の該当箇所：第2部・18）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管理・仮想化・AI基盤・高可用性の4つの製品について、理解する役割と、一緒に学ぶ基礎を並べた表です。
【処理の詳細】
・HPE Private Cloud AIはNVIDIAとの協業に関連します。2026年3月の公式発表では、隔離された環境への導入などが説明されています[N20]。
・製品ごとに提供時期が異なるため、発表済み・利用可能・将来予定を区別します。
・Morpheus／VM Essentialsは仮想化・クラウド資源の管理に関連するソフトウェア。NonStopは高い継続稼働が求められる業務の基盤で、可用性・障害分離・トランザクションと結び付けて学びます。
【成立条件・例外】
補助的な製品資料：HPE Morpheus https://www.hpe.com/jp/ja/products/software/morpheus-software.html ／ HPE NonStop https://www.hpe.com/jp/ja/collaterals/collateral.a50013513jpn.html。これらは公式の製品ページですが、個別の導入条件や契約は非公開の情報で、本教材では扱いません。
【情報の区分】
公式資料で確認 / 一般的な技術説明
【出典（資料名・URL）】
[N20] HPE：NVIDIAとのAI基盤の協業、2026年3月
    https://www.hpe.com/us/en/newsroom/press-release/2026/03/hpe-accelerates-secure-scalable-production-ready-ai-through-new-innovations-with-nvidia.html
確認時点：原資料の記載は2026年9月30日〜10月1日（日本時間）。変わりやすい情報（価格・製品・採用条件）は最新の公式ページで再確認してください。
（スライド64／資料の該当箇所：第2部・18）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左の図は、サーバーの中に「OS・アプリ」と「iLO」が別系統で存在し、利用者は業務ネットワークでOS・アプリへ、管理者は管理ネットワークでiLOへつながる様子です。右は3つのポイントです。
【用語】
・iLO：OSとは別系統でサーバーを管理する機能。管理ネットワーク、電源操作、ログ、遠隔コンソールなど。
・Redfish API：サーバーの構成や状態を取得・操作するAPI。HTTPは通信の約束、RESTはAPIの設計でよく使う考え方、JSONは受け取るデータ形式。
【処理の詳細】
iLOはサーバーのOSが止まったときにも管理の手段になります。通常のアプリ通信と管理用通信を分け、誰が管理画面へ接続できるかを考えます[N18]。HPEはiLOのRedfish APIとPythonライブラリーを公開しており、構成や状態の取得などを自動化できます[N19]。
【なぜ重要か】
一般的な基礎（HTTP・REST・JSON・Python）と製品固有の操作がつながる例です。SEは、管理用通信を分けることで、セキュリティと運用の両方を考えます。
【情報の区分】
公式資料で確認
【出典（資料名・URL）】
[N18] HPE：iLO
    https://www.hpe.com/us/en/collaterals/collateral.c04154343.html
[N19] HPE：iLO Redfish APIとPython
    https://developer.hpe.com/platform/ilo-restful-api/home/
    https://servermanagementportal.ext.hpe.com/docs/redfishclients/python-redfish-library
確認時点：原資料の記載は2026年9月30日〜10月1日（日本時間）。変わりやすい情報（価格・製品・採用条件）は最新の公式ページで再確認してください。
（スライド65／資料の該当箇所：第2部・18）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企業のAI基盤の相談を受けたとき、SEが最初に聞く問いと、その理由です。「GPUを何枚買うか」の前に、用途を聞きます。社内文書への質問、画像検査、需要予測、モデルの追加学習などで要件は違うからです。
【処理の詳細】
・同時利用者と会話の長さは、GPUとKVキャッシュ（過去の計算を保持するメモリ）の必要量に影響します。
・最初の応答まで何秒を許すか（TTFT：最初のトークンまでの時間）が、応答速度の目標になります。
・電力と冷却を確保できるかは、機器を実際に置き、動かせるかの判断に直結します。
【成立条件・例外】
これは教材の提案です。HPEの実際の提案プロセスや、顧客との非公開の契約内容を示すものではありません。
【なぜ重要か】
要件定義の練習です。各問いの答えが、構成・性能・運用・費用の条件になります。
【情報の区分】
教材の提案
【出典（資料名・URL）】
[N20] HPE：NVIDIAとのAI基盤の協業、2026年3月
    https://www.hpe.com/us/en/newsroom/press-release/2026/03/hpe-accelerates-secure-scalable-production-ready-ai-through-new-innovations-with-nvidia.html
確認時点：原資料の記載は2026年9月30日〜10月1日（日本時間）。変わりやすい情報（価格・製品・採用条件）は最新の公式ページで再確認してください。
（スライド66／資料の該当箇所：第2部・18）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上の流れは、RAGの仕組みです。質問に関連する社内文書を検索し、その内容を質問と一緒にモデルへ渡して、回答に利用します。下の2枚が、RAGとファインチューニングの違いです。
【用語】
・RAG：関連する文書を検索し、その内容をモデルへ渡して回答に利用する構成。
・ファインチューニング：モデルの重みを追加学習で調整すること。
【処理の詳細】
・社内文書への質問で必ず追加学習が必要とは限りません。
・RAGでも、文書の閲覧権限、検索精度、出典、誤答の評価が必要です。「検索で渡した文書を、質問した人が見てよいか」を検索の段階で確認する必要があります。
【成立条件・例外】
教材の提案です。どちらを選ぶかは、更新頻度、文書量、求める精度、費用、運用体制で決まります。
【情報の区分】
一般的な技術説明 / 教材の提案
（スライド67／資料の該当箇所：第2部・18）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縦軸が顧客の業界、横軸が担当する技術分野です。水色の3マスは「こういう組み合わせもあり得る」という例で、特定の配属を予測するものではありません。
【処理の詳細】
・金融担当でもクラウドやAIに関わることがあり、通信担当でもすべての人が基地局を設計するわけではありません。
・技術分野：ネットワーク、サーバー・仮想化、ストレージ・バックアップ、パブリッククラウド、セキュリティ、SRE・運用自動化、AI・HPC基盤、設備（電源・冷却・建設・配線）。
【成立条件・例外】
HPEの配属は非公開の情報で、本人の配属や顧客との契約はこの資料では推測しません。下表の例は一般的な可能性の例示です。
【なぜ重要か】
配属面談では「どの業界か」だけでなく、「その業界で、どの技術分野のどの層を担当するか」を確認することが重要です。
【情報の区分】
公式資料で確認 / 教材の提案
（スライド68／資料の該当箇所：第2部・19）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上の4枚は、同じ案件に関わる4つの立場です。下の8つは技術分野です。各分野の主な仕事と企業例（立ち位置）は、次のとおりです。
【用語】
SIer（システムインテグレーター）：顧客の要件に合わせ、複数の製品やサービスを組み合わせてシステムを作る企業。製品を売るメーカー、クラウド提供者、顧客企業は、同じ案件でも異なる責任を持つ。
【処理の詳細】
・ネットワーク：経路、LAN、Wi-Fi、接続・通信制御。HPE Aruba／Juniper、Ciscoなどは製品提供。通信会社やSIerも設計・運用。
・サーバー・仮想化：OS、計算資源、VM、性能、冗長化。HPE、Dellなどの製品。SIer、事業会社の基盤部門。
・ストレージ・バックアップ：保存、性能、複製、復旧。HPE、NetApp、Dellなどの製品、導入・運用企業。
・パブリッククラウド：仮想ネットワーク、権限、構築、費用。AWS、Microsoft Azure、Google Cloudは提供基盤。
・セキュリティ：アクセス制御、検知、対策、監査。Palo Alto Networks、Fortinetなどの製品、セキュリティ企業。
・SRE・運用自動化：監視、信頼性、障害対応、自動化。Webサービス企業、クラウド事業者、SIerなど。
・AI・HPC基盤：GPU、メモリ、高速通信、計算資源管理。HPE、NVIDIA、クラウド事業者、研究機関など。
・設備：電源、冷却、建設、配線。データセンター事業者、設備メーカーなど。
【成立条件・例外】
企業名は立ち位置を理解するための例で、そのHPEでの担当・取引関係を示すものではありません。
【情報の区分】
一般的な技術説明
（スライド69／資料の該当箇所：第2部・19）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同じ軸で3つの業界を比べた表です（前半：経験し得る技術と、将来につながる経験）。典型的な案件から得られる可能性のある経験であり、HPEの現行の配属別保証ではありません。
【用語】
・OT（Operational Technology）：工場設備など物理的な装置を制御・監視する技術。ITと違い、生産の停止や安全、長い機器寿命などが条件に入る。
・エッジ：データの発生場所に近いところで処理する考え方。
【処理の詳細】
・金融：高可用性、災害対策、変更管理、大規模移行、監査・セキュリティ、調整 → 金融基盤、企業クラウド、アーキテクト、大規模PM。
・通信：大規模ネットワーク、分散システム、仮想化・コンテナ、自動化、性能・運用 → ネットワーク、クラウド、SRE、プラットフォーム、技術リード。
・製造：工場・拠点、ITとOT、エッジ、産業データ、AI・HPC、継続稼働 → 産業AI、エッジ、OTセキュリティ、製造DX、アーキテクト・PM。
【成立条件・例外】
業界名だけで年収や市場価値は決まりません。市場価値は、持ち運べる技術と、顧客課題を説明できる経験で決まります（後のスライド）。
【情報の区分】
教材の提案
（スライド70／資料の該当箇所：第2部・20）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同じ3つの業界を、働き方を決める条件と面談での確認事項で比べた表です（後半）。働き方の条件には、OB訪問で聞いた個別例を含めています。個別例は業界全体の制度ではありません。
【処理の詳細】
・金融：OB訪問で、日本銀行関連システムの仕事について、人数が多く代替要員を見つけやすいので休暇を取りやすい一方、機密性のためリモートが制限されると聞いた。
・通信：リモートが可能でも、少人数で代わりが利かず休みにくいと聞いた。
・製造：工場・OT環境では、生産の停止や安全、長い機器寿命などが条件に入る（OTの一般的な説明）。
【成立条件・例外】
確認すべき点：金融は若手が設計・検証を担当できるか、分業が細かすぎないか。通信は実際の担当がどの層か、少人数でも相互にカバーできるか。製造は工場基盤、全社基盤、HPCなどのどこを担当するか。
【よくある誤解】
「金融は休める」「通信は休めない」と一般化しないこと。
【情報の区分】
OB訪問で聞いた個別例 / 教材の提案
（スライド71／資料の該当箇所：第2部・20）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上の2枚が、本人がOB訪問で聞いた個別の話です。下は、その扱い方と、休暇・リモートを実際に決める条件です。
【処理の詳細】
・金融では日本銀行関連のシステムの仕事について聞いた。人数が多く代替要員を見つけやすいので休暇を取りやすい一方、機密性のためリモートが制限されると聞いた。
・通信ではリモートが可能でも、少人数で代わりが利かず休みにくいと聞いた。
・これは具体的なチームの実例として重要です。ただし日本銀行の現在の契約、本人が行く部署、金融全体・通信全体の制度を確認した情報ではありません。
【成立条件・例外】
・休暇の取りやすさは、人数に加え、複数人が業務を理解する仕組み、手順の整備、繁忙期、夜間・休日作業、上司の運営によって決まります。
・リモートの可否は業界名だけでなく、顧客の規則、情報区分、担当作業、アクセス環境で変わります。
【よくある誤解】
「金融は休める」「通信は休めない」と一般化しないこと。
【情報の区分】
OB訪問で聞いた個別例
（スライド72／資料の該当箇所：第2部・20）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左の5つの条件を満たす配属を優先する、という提案です。右の3つは、いまの情報だけでの暫定提案で、業界だけの一位は決められません。
【処理の詳細】
・推奨は「特定業界なら必ず高年収」ではなく、持ち運べる技術と顧客課題を説明できる経験を得ること。
・市場価値を主に考えるなら、クラウド・自動化・大規模ネットワーク・AI基盤に実際に関わる案件は有力な候補。ただし、通信という名前だけで優先しない。製造の産業AI基盤や金融のモダナイゼーションも同様に有力。
・暫定提案：金融で若手にも設計・検証・移行経験があり、チームの育成と代替体制が良いなら、金融は新卒の土台作りとして十分よい選択。通信でクラウド・自動化を担当でき、少人数でもレビューと代替が整っていれば、通信は技術の幅を得る候補。製造でAI・HPC・エッジ案件が具体的にあるなら、AIインフラ志向に合う。
【成立条件・例外】
これは採用企業が約束したキャリアではなく、学習・キャリアに関する提案です。HPEの現行の配属別保証ではありません。
【情報の区分】
教材の提案
（スライド73／資料の該当箇所：第2部・20）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上の4つの数字は、確認できた値と、その条件です。左の3つは企業自身が掲載した採用データ（マイナビ2027）、右の1つはOpenWorkの公開集計で、性質が違います。下の3つが注意点です。
【処理の詳細】
・HPEのマイナビ2027掲載採用データ：大卒基本月額256,300円、院卒274,300円（2025年4月実績で、2027年入社の保証額ではない）[N15]。
・同採用データのモデル例：院卒2年目以降、月例基本給27万円の場合、想定年収約530万円（賞与、残業手当、業績報酬などを含む条件付き例）[N15]。
・OpenWork公開集計：会社全体の回答者平均年収820万円、平均年齢37歳、正社員453人の年収データ（2026年10月1日閲覧時の値）。ワークライフバランスの集計には残業月26.8時間、有給消化率56.9％が表示されていた[N16]。
【成立条件・例外】
給与は基本給、固定・業績賞与、残業手当、株式報酬等の適用、職位、昇格、担当責任を分けて見ます。今回確認した公開情報から、HPEの金融SEと通信SEと製造SEの年収差は算定できません。個別口コミの全文には会員登録・ログインが必要な部分があり、読めない内容は確認済みとして扱いません。
【よくある誤解】
・OpenWorkの会社全体の平均年収を、新卒SEの年収と扱わないこと。職種、年次、在籍時期などが混ざっており、新卒SEの待遇をそのまま表す値ではありません。公式人事統計でもありません。
・HPE、PCなどを扱うHP、過去の事業分離前の日本HP、別会社へ移った事業の経験は区別して見ること。
【情報の区分】
公式資料で確認 / 公開口コミの集計
【出典（資料名・URL）】
[N15] マイナビ2027：HPEの採用データ・給与例
    https://job.mynavi.jp/27/pc/corpinfo/displayEmployment/index/?corpId=515&amp;recruitingCourseId=27058348
[N16] OpenWork：日本ヒューレット・パッカードの公開集計
    https://www.openwork.jp/company.php?m_id=a0910000000G22E
確認時点：原資料の記載は2026年9月30日〜10月1日（日本時間）。変わりやすい情報（価格・製品・採用条件）は最新の公式ページで再確認してください。
（スライド74／資料の該当箇所：第2部・17・20）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上の表は、PMに必要な6つの管理と、それが技術とどうつながるかの例です。下は、最初の1〜2年とその後の選択肢です。
【用語】
PM（Project Manager）：プロジェクトの範囲・品質・納期・費用・リスクなどを管理し、関係者を調整する役割。
【処理の詳細】
・すべての機器を最も詳しく設定できる必要はないが、技術的な依存関係や影響を判断するための理解は必要。
・最初の1〜2年は、一つの小さな担当範囲を自分で説明できることを目標にする。その後は技術リード、アーキテクト、PM、プリセールスなどへ進む可能性がある。時期や異動は会社・本人・案件に依存し、固定された昇進表ではない。
・PM志向の2年目なら、自分の担当のWBS、課題一覧、リスク一覧、週次の状況説明を作り、作業の依存関係を説明できるようにする。「作業をしました」より「何を満たし、何が未解決で、いつ誰の判断が必要か」を伝える。
【成立条件・例外】
教材の提案であり、採用企業が約束したキャリアではありません。
【情報の区分】
教材の提案
（スライド75／資料の該当箇所：第2部・21）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上から右下へ、1〜9の順に学びます。各ボックスの上が学ぶ内容、下が「自分で説明できるようにすること」です。前の段階が次の段階の土台になります。この順序は、第1部の通信の説明（ネットワーク→Web接続）と結び付けて作られています。
【処理の詳細】
・1.CPU、メモリ、SSD、OS、プロセス：コンピューターがプログラムを動かす仕組み。
・2.IP、サブネット、ゲートウェイ、ARP：同じLANと外部への通信の違い。
・3.DHCP、DNS、NAT、TCP／UDP、TLS：Webへ接続するまでの流れ。
・4.Linux・Windowsのサービス、権限、ログ：サーバーを起動・停止し、状態を調べる。
・5.Webサーバーとデータベース：要求を受け、データを扱い、応答を返す流れ。
・6.仮想化・クラウド：物理機器と仮想資源の関係。
・7.監視、バックアップ、冗長化：故障を見つけ、復旧する方法。
・8.スクリプト、Git、構成の自動化：変更を記録し、再現できる形にする。
・9.コンテナ・高度な運用：複数のアプリや機器を効率よく管理する。
【成立条件・例外】
教材の提案であり、採用企業が定めた研修順序ではありません。配属によって優先順位は変わります。
【情報の区分】
教材の提案
（スライド76／資料の該当箇所：第1部・10）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9つの手順を、左上から右下へ進めます。緑の①〜⑤が「安全・保護」、青緑の⑥〜⑨が「学習環境」です。個人のWindows 11学習用PCを想定した例です。
【処理の詳細】
・1.Windowsとメーカー提供の更新：修正や互換性を反映する。
・2.アカウントの回復手段、MFA、パスワード管理：ログインできなくなる事態や不正アクセスに備える。
・3.Defender、ファイアウォール、UACの状態：基本的な保護を維持する。
・4.デバイス暗号化・BitLockerの状態と回復キー保存：紛失や復旧時に備える。
・5.個人ファイルのバックアップと復元確認：故障・削除時に戻せるようにする。
・6.拡張子表示、学習用フォルダー、編集ソフト：ファイル形式と変更を把握する。
・7.Windows Terminal、Git、必要に応じてVS Code：作業と記録の環境を整える。
・8.WSLまたは仮想マシン：Linuxを学習する。
・9.自宅のIP・DNS・ゲートウェイを記録：通信を観察する出発点を作る。
【成立条件・例外】
・Microsoftは暗号化の回復キーをなくした場合に再生成できないことを説明しています。回復キーを、PC本体と同時に失う場所だけに置かないこと。バックアップは保存したことだけでなく、戻せることを確認すること[N21]。
・WSLはWindows上でLinux環境を利用する仕組み。対応するWindowsでは wsl --install が導入の入り口になる。仮想化の要件や組織の制限を確認する[N22]。
・学習のためにファイアウォールを全部無効にしたり、ルーターの外部公開を行う必要はありません。
【よくある誤解】
会社支給PCは会社の指定に従います。無断のソフト導入、管理設定変更、機密情報の外部AI投入をしないこと。
【情報の区分】
公式資料で確認 / 教材の提案
【出典（資料名・URL）】
[N21] Microsoft：BitLocker回復キー・デバイス暗号化
    https://support.microsoft.com/en-us/windows/security/encryption/back-up-your-bitlocker-recovery-key
    https://support.microsoft.com/en-us/windows/security/encryption/device-encryption-in-windows
[N22] Microsoft：WSL学習環境
    https://learn.microsoft.com/en-us/windows/wsl/setup/environment
確認時点：原資料の記載は2026年9月30日〜10月1日（日本時間）。変わりやすい情報（価格・製品・採用条件）は最新の公式ページで再確認してください。
（スライド77／資料の該当箇所：第2部・22）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左の列が実行するコマンド、右の列が見るものです。まずは設定を変更せず、観察だけを行います。PowerShellやコマンドプロンプトで使います。
【処理の詳細】
・ブラウザーの開発者ツールでは、Network（ネットワーク）を開くと、要求、応答の状態、所要時間などを観察できます。画面によっては、HTTPの方式や接続先アドレスも確認できます。
・Microsoftの資料でも、DNSの切り分けにnslookup、接続確認にTest-NetConnectionなどが使われています[B21]。
【成立条件・例外】
・nslookupの結果と、ブラウザーが使うDNSの結果が一致しない場合があります。
・tracertの「*」は、その中継点から応答が得られなかった表示です。直ちに故障を意味しません。
・TCPの443番への接続成功だけでは、ChatGPTの全機能の正常動作までは確認できません。
・Wi-Fiのリンク速度は、インターネット全体の速度と同じではありません。
・外から経路を調べても、サービス内部のGPUまでは見えません。
【自分でやってみる】
最初の実習：ipconfig /all で自分の住所と出口を確認 → nslookup chatgpt.com で名前から得られる住所を確認 → 開発者ツールでページの取得と質問送信を観察 → 自宅Wi-Fiと携帯回線でゲームの遅延表示や症状を比較。
【情報の区分】
公式資料で確認 / 教材の提案
【出典（資料名・URL）】
[B21] Microsoft：ネットワーク・DNSの確認
    https://learn.microsoft.com/en-us/powershell/module/nettcpip/test-netconnection?view=windowsserver2025-ps
    https://learn.microsoft.com/windows-server/networking/dns/troubleshoot/troubleshoot-dns-client
確認時点：原資料の記載は2026年9月30日〜10月1日（日本時間）。変わりやすい情報（価格・製品・採用条件）は最新の公式ページで再確認してください。
（スライド78／資料の該当箇所：第1部・11）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左の7つの実習を順に進めます。観察→小さなサービスを動かす→わざと壊して違いを見る→記録して再現する、という流れです。
【処理の詳細】
・1.ipconfig /all、route print、nslookupで自分の環境を記録する。
・2.WSLやVMのLinuxでファイル、権限、プロセス、サービス、ログを観察する。
・3.自分の管理する環境でWebサーバーを起動し、自分のブラウザーからアクセスする。
・4.サービス停止、名前解決不良などを一つずつ起こし、正常時との違いを記録する。
・5.スクリプトでログを集計し、結果をCSVにする。
・6.データをバックアップし、別の場所へ復元する。
・7.構成図と手順書を作り、同じ環境を再現する。
【成立条件・例外】
WSLとVMではネットワークの仕組みが異なる場合があるので、別の端末からの到達性を同じと考えないこと。実習では本番・他人の環境を変更しないこと[N22]。
【なぜ重要か】
「ネットワークにつながっていても、アプリは使えない」を自分で確かめる（Webサーバーを停止する）ことが、障害切り分けの基礎になります。
【情報の区分】
教材の提案
【出典（資料名・URL）】
[N22] Microsoft：WSL学習環境
    https://learn.microsoft.com/en-us/windows/wsl/setup/environment
確認時点：原資料の記載は2026年9月30日〜10月1日（日本時間）。変わりやすい情報（価格・製品・採用条件）は最新の公式ページで再確認してください。
（スライド79／資料の該当箇所：第2部・22）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4つの名前について、分類・使い道・最初の目標を並べた表です。
【処理の詳細】
・Bash／シェル：Linuxの操作、自動実行。変数、条件分岐、繰り返し、終了コードから。
・PowerShell：Windows・Microsoft系の管理。オブジェクト、パイプライン、一覧出力から。
・Python：API、ログ解析、構成情報の取得。関数、ファイル、CSV、JSON、HTTPから。
・SQL：データベースの確認・集計。SELECT、WHERE、JOIN、集計から。
・HPEの例では、PythonからRedfish APIを使い、サーバーの状態を取得します。HTTPは通信の約束、RESTはAPIの設計でよく使う考え方、JSONは受け取るデータ形式。一般的な基礎と製品固有の操作がつながります[N19]。
【成立条件・例外】
最初はLinuxのシェルとPython、Windows系の担当ならPowerShell、SQLを必要に応じて加える。すべてを入社前に習得する必要はありません。
【情報の区分】
公式資料で確認 / 教材の提案
【出典（資料名・URL）】
[N19] HPE：iLO Redfish APIとPython
    https://developer.hpe.com/platform/ilo-restful-api/home/
    https://servermanagementportal.ext.hpe.com/docs/redfishclients/python-redfish-library
確認時点：原資料の記載は2026年9月30日〜10月1日（日本時間）。変わりやすい情報（価格・製品・採用条件）は最新の公式ページで再確認してください。
（スライド80／資料の該当箇所：第2部・23）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5つの名前を、分類で分けた表です。YAML・JSONは記述形式、Terraform・Ansibleはツールで、プログラミング言語とは別物です。
【処理の詳細】
・YAML／JSON：データ・設定の記述形式。APIデータ、構成設定。構造、型、インデント、妥当性から。
・HCL／Terraform：構成を宣言する記述とツール。クラウド等の資源をコードで管理。計画と反映、差分、状態管理から。
・Ansible Playbook：自動化ツールの設定記述。OSやソフトの設定を繰り返す。対象、変数、同じ設定にそろえる処理から。
・Go：プログラミング言語。基盤用ツール、クラウド関連ソフト。必要な担当になってから学ぶ候補。
・JavaScript／TypeScript：プログラミング言語。Webや業務ツールのUI。アプリ側との境界を理解する用途。
【成立条件・例外】
YAML、JSON、Terraform、Ansibleをすべて同じ意味の「プログラミング言語」としてまとめません。すべてを入社前に習得する必要はありません。
【情報の区分】
一般的な技術説明 / 教材の提案
（スライド81／資料の該当箇所：第2部・23）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4つの時期を左から右へ。各時期の技術の目標、実務の目標、残すものです。年次だけで全員が同じ仕事をするわけではありません。これは成長の目安であり、HPEの評価基準ではありません。
【処理の詳細】
・入社前：IP・DNS・TCP、Linux入門、Python等の小さな自動化／学んだことを説明できる／実習メモ、構成図、Git履歴。
・入社後〜半年：担当製品、基本設定、ログの読み方／手順を理解し、不明点とリスクを伝える／手順、確認結果、議事メモ。
・半年〜1年：検証、試験、障害切り分け／小さな範囲をレビュー付きで担当する／設計の一部、試験結果、課題一覧。
・2年目：小規模な設計・構築・自動化／顧客への説明、見積・影響・切戻しの理解／改善前後の比較、判断の根拠。
【なぜ重要か】
PM志向の2年目なら、自分の担当のWBS、課題一覧、リスク一覧、週次の状況説明を作り、作業の依存関係を説明できるようにします。
【情報の区分】
教材の提案
（スライド82／資料の該当箇所：第2部・24）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左の5つが、2年目に特に強くしたい力です。右は、資格・英語・業務でのAI利用の方針です。
【処理の詳細】
・資格は基礎の整理に使う。基本情報の学習を土台に、配属に合わせてネットワーク、Linux、クラウド、HPE製品の認定のうち必要なものを選ぶ。名称や有効期間は受験前に公式で確認する。資格数だけで市場価値を判断しない。HPEにも製品別・ネットワーク・AIなどの教育と認定がある[N23]。
・英語は、まず製品マニュアル、エラーメッセージ、短いチケットを読めることを目標にする。完璧な英会話を待つより、正確な事実、時刻、再現条件、影響を書く力を付ける。
・業務でAIを使うなら、公開・匿名化した例で説明や下書きを作らせ、設定変更は自分で理解してレビューする。顧客の機密情報や認証情報は、会社と顧客が認めた環境・手順で扱う。
【成立条件・例外】
HPEの教育・認定の名称や提供状況は変わるため、受験前に公式ページで確認してください。
【情報の区分】
教材の提案 / 公式資料で確認
【出典（資料名・URL）】
[N23] HPE：技術トレーニングと認定
    https://education.hpe.com/ww/en/training/index.html
    https://education.hpe.com/ww/en/training/certification.html
確認時点：原資料の記載は2026年9月30日〜10月1日（日本時間）。変わりやすい情報（価格・製品・採用条件）は最新の公式ページで再確認してください。
（スライド83／資料の該当箇所：第2部・24）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色は分野を表します（紺：進め方・管理、緑：信頼性、青：ネットワーク・保存、紫：基盤・運用・AI）。左列の用語と意味を1行で示し、使う場面はこのノートに示します。
【用語】
・要件定義：必要なこと・制約・完了条件を決める（使う場面：顧客との合意）
・基本設計／詳細設計：全体方式／具体的な設定を決める（使う場面：構成と手順）
・PoC：実現性を小さく検証する（使う場面：AI・新技術の導入前）
・サイジング：必要な台数・容量・性能を見積もる（使う場面：サーバー・GPUの選定）
・ボトルネック：全体の速さを制限する部分（使う場面：CPU・メモリ・通信・保存）
・可用性・HA：使える状態を維持する性質（使う場面：故障時もサービスを続ける）
・DR：災害時などに復旧する備え（使う場面：別拠点への切替）
・RTO／RPO：復旧の許容時間／失ってよいデータ幅（使う場面：バックアップ・DRの設計）
・SLA／SLO：契約上のサービス水準／運用上の目標（使う場面：稼働率・応答時間など）
・VLAN：LANを論理的に分ける仕組み（使う場面：部門・用途の分離）
・LAN／WAN：近い範囲／広域のネットワーク（使う場面：拠点内・拠点間）
・SAN／NAS：保存装置用の網／ファイル提供型の保存装置（使う場面：ストレージ構成）
・ブロック／ファイル／オブジェクト：保存を提供・扱う方式の違い（使う場面：VM・共有フォルダー・大量データ）
・IOPS／レイテンシー：秒あたりの入出力回数／処理の遅れ（使う場面：ストレージ性能）
【なぜ重要か】
用語は単語の暗記ではなく、「どの場面で、誰と、何を決めるときに使う言葉か」とセットで覚えると、顧客との会話や設計書で使えます。
【情報の区分】
一般的な技術説明
（スライド84／資料の該当箇所：第2部・25）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色は分野を表します（紺：進め方・管理、緑：信頼性、青：ネットワーク・保存、紫：基盤・運用・AI）。左列の用語と意味を1行で示し、使う場面はこのノートに示します。
【用語】
・NIC／HBA：通信の接続部／保存網などの接続部（使う場面：サーバーの接続）
・ハイパーバイザー：仮想マシンを動かす基盤（使う場面：仮想化）
・クラスター：複数の機器をまとまりとして使う（使う場面：冗長化・分散計算）
・IaC：構成をコード等で管理する考え方（使う場面：再現・変更差分の管理）
・オーケストレーション：複数の作業・資源をまとめて制御（使う場面：構築・配備）
・監視・可観測性：状態の把握／内部状態を調べられる性質（使う場面：メトリクス・ログ・トレース）
・ロールバック・切戻し：変更前の状態へ戻す（使う場面：移行・障害対応）
・責任分界：誰がどこまで責任を持つか（使う場面：顧客・HPE・パートナー）
・WBS：作業を分解した一覧（使う場面：担当・期限・依存の管理）
・RACI：実行・最終責任・相談・共有先を整理する表（使う場面：役割分担）
・エスカレーション：必要な判断や支援を上位・専門へ求める（使う場面：障害や課題）
・インシデント／問題：サービスの事象／原因と再発防止の対象（使う場面：復旧と改善）
・TTFT／生成速度：最初のトークンまでの時間／出力の速さ（使う場面：AIの応答性能）
・MLOps／LLMOps：AIモデル・LLMを継続運用する方法（使う場面：配備・監視・更新・評価）
【なぜ重要か】
用語は単語の暗記ではなく、「どの場面で、誰と、何を決めるときに使う言葉か」とセットで覚えると、顧客との会話や設計書で使えます。
【情報の区分】
一般的な技術説明
（スライド85／資料の該当箇所：第2部・25）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左の列が区別したい2つの言葉、右の列が違いです。どちらも大切ですが、役割が違います。
【用語】
・認証：誰か（本人確認）。認可：何をしてよいか（権限）。
・冗長化：故障時も動かす工夫。バックアップ：過去のデータを戻す備え。
・仮想マシン：OSごと分ける方式。コンテナ：通常、ホストのOSカーネルを共有してアプリ環境を分ける方式。
・高可用性：止まりにくさ。高性能：処理能力。
・障害復旧：まず使える状態へ戻すこと。原因究明：再発防止につなげること。
【身近な例】
同じデータを二台に複製していても、誤った削除が両方へ反映されると戻せません。冗長化だけでバックアップを代用できない理由です。
【なぜ重要か】
SEは顧客の要件で「止まらないこと（可用性）」と「戻せること（バックアップ・RPO）」を別々に確認します。用語索引のRTO／RPOとつなげて理解しましょう。
【情報の区分】
一般的な技術説明
（スライド86／資料の該当箇所：第1部・10）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端末→LAN→名前解決→到達性→暗号・認証→サービスの順に、上から下へ通信の段階を確認します。各段階で「何を見るか」と「確認の手がかり」を示しています。どこまで正常で、どこから異常かを観察で絞り込みます。
【処理の詳細】
・端末：Wi-Fiが接続しているか、電源・OSの状態。netsh wlan show interfaces。
・LAN：IPアドレス・出口・DHCPが正しいか。ipconfig /all、出口（ゲートウェイ）へ届くか。
・名前解決：DNSで名前からIPが得られるか。nslookup。
・到達性：経路・ルーター・ポートに届くか。route print、tracert、Test-NetConnection -Port 443。
・暗号・認証：TLS・証明書・時刻（NTP）・ログインが正しいか。
・サービス：アプリ・サーバーの状態、ログ。
【よくある誤解】
・pingが成功しても、アプリが正常とは言えません（pingが確認するのは、ICMPという別の通信の到達だけです）。
・tracertの「*」は応答なしの表示で、直ちに故障を意味しません。
・TCPの443番への接続成功だけでは、サービスの全機能の正常動作は分かりません。
【なぜ重要か】
障害復旧（まず使える状態へ戻す）と、原因究明（再発防止につなげる）は別の仕事です。切り分けの結果と時刻・事実を記録して、報告に使います。
【情報の区分】
一般的な技術説明
（スライド87／資料の該当箇所：第1部・11・今回の整理）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各カードの右下の「→p.」は、答えの中心になるスライドです。声に出して、図を描きながら説明できるかを確かめましょう。
【処理の詳細】
・1.Wi-Fiにつながることと、インターネットに届くことは何が違うか。
・2.DNS・NTP・NAT・TLSは、いつ・どこで・何をするか。
・3.IPv4の宛先・送信元とポート、ローカルの相手を選ぶ仕組みは何か。
・4.地下や混雑時、ゲームはなぜ遅くなるか。帯域と遅延は何が違うか。
・5.AIに必要なGPU・HBM・SSD・高速通信・電力・冷却はどうつながるか。
・6.AIモデルとツールを変えると、成果物と使用量はなぜ変わるか。
・7.HPEのSEは、顧客の要件からどの成果物を作り、何を検証するか。
・8.金融・通信・製造という業界と、ネットワーク・サーバーなどの専門はどう違うか。
・9.2年目までに、具体的に何を自分で説明・実施できる状態を目指すか。
・10.出典で確認できたことと、個別の話・提案・未確認事項は区別されているか。
【なぜ重要か】
説明練習：「ChatGPTに質問を送ってから回答が表示されるまで」を、端末→LAN→ISP→サービス内部の順に、アドレスとポートが変わる場所、暗号化される範囲を含めて3分で話してみましょう。
【情報の区分】
教材の提案
（スライド88／資料の該当箇所：作成指示・品質確認）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左は、資料自身が「今回確認できていない」と明記している5項目です。右は、この教材を作った時点（2026年9月30日）の再確認の状況です。
【処理の詳細】
・本人のWorkの契約プラン、使用率の集計期間、4％の内訳。
・個別のX投稿の制作履歴・モデル・素材・作業時間。
・HPEの本人の配属、顧客との非公開契約、チーム別の年収・リモート・休暇条件。
・OpenWorkで会員登録・ログインを要する個別投稿の全文。
・まだ提供されていない、将来の質問・回答。
【成立条件・例外】
・再確認できたもの（2026年9月30日）：Anthropic公式ページ（Claude Sonnet 5.5の発表［2026年9月28日、$2/$10、Haiku 5.5は今後の予定］、Claude Opus 5.5［$4/$20］、Claude Haiku 4.5［$1/$5］、API料金ページ、Claudeのファイル作成［.pptx対応］）は、資料の記述と一致しました。
・再確認できなかったもの：OpenAI（learn.chatgpt.com）、HPE（採用・ニュースリリース）、ASML、IEA、キオクシア、東京エレクトロンの各ページは、この制作環境からアクセスが拒否され、確認できませんでした。その他の出典は今回再確認していません。これらは原資料の時点（2026年9月30日〜10月1日）の情報です。
【なぜ重要か】
価格・製品・採用条件などの変わりやすい情報は、更新時に公式ページで再確認してください。
【情報の区分】
教材の提案
（スライド89／資料の該当箇所：今回確認できていないこと）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表の7つの項目を書いて、既存の章に反映します。Claudeなど別のAIは、このChatGPT会話を自動で読めるとは限らないため、統合資料と作成指示、追記した内容を添付して渡します。
【処理の詳細】
・追記ID・日付：どの追加情報か。
・質問：知りたかったこと。
・回答・具体例：結論、理由、処理の流れ。
・根拠：出典URL、資料の日付、閲覧日。
・情報の種類：公式、口コミ、本人の話、推論・提案。
・教材に入れる場所：既存章への追加、新しい章、付録。
・更新箇所：古い記載の修正、追加のみ、未確認事項。
【成立条件・例外】
まだ提供されていない将来の回答を想像して埋めないこと。モデル価格・製品・給与・採用情報は更新時に再確認する。公開情報では確認できないことは、学習資料でも未確認と表示する。
【自分でやってみる】
更新時は、日付・質問・回答・出典・更新箇所を記録して既存の章へ反映し、古い情報が残る場合は訂正します。
【情報の区分】
教材の提案
（スライド90／資料の該当箇所：第2部・26）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【出典の読み方】
本文のスライドにある[Bxx]は第1部（前回の回答）、[Nxx]は第2部（今回の追加調査）の出典です。完全なURLは、このノートと各スライドのノートに記載しています。
公式文書と企業自身の募集情報を優先し、OpenWorkは公開口コミの集計として区別しています。閲覧基準日は2026年9月30日〜10月1日（日本時間）。モデル価格・製品・採用情報は制作・更新時に再確認してください。
【一覧（資料名・URL）】
[B01] 暗号化DNSの説明
    https://www.cloudflare.com/en-ca/learning/dns/dns-over-tls/
[B02] Traditional NAT／NAPT：RFC 3022
    https://www.rfc-editor.org/rfc/rfc3022.html
[B03] HTTP/3とQUICの説明
    https://www.cloudflare.com/en-ca/learning/performance/what-is-http3/
[B04] NTP：RFC 5905
    https://www.rfc-editor.org/info/rfc5905/
[B05] MicrosoftとOpenAIの協業に関する2026年4月発表
    https://blogs.microsoft.com/blog/2026/04/27/the-next-phase-of-the-microsoft-openai-partnership/
[B06] NTTドコモ：電波に影響する環境
    https://www.docomo.ne.jp/area/connect/environs/
[B07] Supercell：Brawl Starsの対戦地域・マッチング
    https://support.supercell.com/brawl-stars/en/articles/battle-sites.html
    https://support.supercell.com/brawl-stars/ja/articles/slow-matchmaking.html
[B08] Unity：一般的なゲームネットワークと遅延処理
    https://docs.unity.com/en-us/multiplayer/netcode/netcode
    https://docs-multiplayer.unity3d.com/netcode/1.11.0/learn/dealing-with-latency/
[B09] OpenAI：応答のストリーミング
    https://developers.openai.com/api/docs/guides/streaming-responses
[B10] NVIDIAとSK Group：AI基盤・メモリの協業
    https://nvidianews.nvidia.com/news/sk-group-and-nvidia-expand-strategic-partnership-across-ai-factories-and-next-generation-memory
[B11] キオクシア：2026年7月30日の製品発表
    https://www.kioxia.com/ja-jp/business/news/2026/20260730-1.html
[B12] 東京エレクトロン：2026年6月26日の発表
    https://www.tel.co.jp/news/topics/2026/20260626_001.html
[B13] IEA：Energy and AI
    https://www.iea.org/reports/energy-and-ai/executive-summary
[B14] Microsoft：データセンターの水利用
    https://local.microsoft.com/blog/understanding-water-use-at-microsoft-datacenters/
[B15] Stanford AI Index 2026：研究開発
    https://hai.stanford.edu/ai-index/2026-ai-index-report/research-and-development
[B16] Stanford AI Index 2026：経済
    https://hai.stanford.edu/ai-index/2026-ai-index-report/economy
[B17] 米商務省BIS：半導体の輸出管理
    https://www.bis.gov/press-release/commerce-strengthens-export-controls-restrict-chinas-capability-produce-advanced-semiconductors-military
    https://media.bis.gov/press-release/department-commerce-revises-license-review-policy-semiconductors-exported-china
[B18] 欧州投資銀行：成長企業の資金調達
    https://www.eib.org/en/publications/online/all/the-scale-up-gap
[B19] 欧州委員会：AI Gigafactories
    https://digital-strategy.ec.europa.eu/en/news/eu-launches-ai-gigafactories-call-boost-europes-computing-capacity-and-unlock-more-eu30-billion
[B20] ASML：EUV露光装置
    https://www.asml.com/en/products/euv-lithography-systems
[B21] Microsoft：ネットワーク・DNSの確認
    https://learn.microsoft.com/en-us/powershell/module/nettcpip/test-netconnection?view=windowsserver2025-ps
    https://learn.microsoft.com/windows-server/networking/dns/troubleshoot/troubleshoot-dns-client
[N01] OpenAI：Work／Codexの料金・使用量
    https://learn.chatgpt.com/docs/pricing
[N02] OpenAI：ChatGPT Workの使用量とコスト
    https://learn.chatgpt.com/docs/enterprise/chatgpt-work-usage-and-cost
[N03] OpenAI：モデルの選び方
    https://learn.chatgpt.com/docs/model-selection
[N04] OpenAI：画像生成機能
    https://learn.chatgpt.com/docs/image-generation
[N05] Anthropic：Claudeでファイルを作成・編集
    https://support.claude.com/en/articles/12111783-create-and-edit-files-with-claude
【情報の区分】
一般的な技術説明
（スライド91／資料の該当箇所：出典一覧）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【出典の読み方】
本文のスライドにある[Bxx]は第1部（前回の回答）、[Nxx]は第2部（今回の追加調査）の出典です。完全なURLは、このノートと各スライドのノートに記載しています。
公式文書と企業自身の募集情報を優先し、OpenWorkは公開口コミの集計として区別しています。閲覧基準日は2026年9月30日〜10月1日（日本時間）。モデル価格・製品・採用情報は制作・更新時に再確認してください。
【一覧（資料名・URL）】
[N06] Anthropic：Claude Sonnet 5.5、2026年9月28日発表
    https://www.anthropic.com/claude-sonnet-5-5
[N07] Anthropic：ClaudeのWeb検索
    https://support.claude.com/en/articles/10684626-enable-and-use-web-search
[N08] Anthropic：Claude Opus 5.5、2026年9月22日発表
    https://www.anthropic.com/claude-opus-5-5
[N09] Microsoft：Copilot in PowerPoint
    https://support.microsoft.com/en-us/powerpoint/frequently-asked-questions-about-copilot-in-powerpoint
[N10] Anthropic：Claude Haiku
    https://www.anthropic.com/claude/haiku
[N11] OpenAI：API料金
    https://developers.openai.com/api/docs/pricing
[N12] Anthropic：API料金
    https://platform.claude.com/docs/en/about-claude/pricing
[N13] Anthropic：Claude Codeと開発作業
    https://www.anthropic.com/news/claude-code-on-team-and-enterprise
[N14] LabBase：HPEが掲載した2027年新卒SE採用情報
    https://compass.labbase.jp/company/1916/recruit/41029
[N15] マイナビ2027：HPEの採用データ・給与例
    https://job.mynavi.jp/27/pc/corpinfo/displayEmployment/index/?corpId=515&amp;recruitingCourseId=27058348
[N16] OpenWork：日本ヒューレット・パッカードの公開集計
    https://www.openwork.jp/company.php?m_id=a0910000000G22E
[N17] HPE：Juniper買収完了、2025年7月2日
    https://www.hpe.com/us/en/newsroom/press-release/2025/07/hewlett-packard-enterprise-closes-acquisition-of-juniper-networks-to-offer-industry-leading-comprehensive-cloud-native-ai-driven-portfolio.html
[N18] HPE：iLO
    https://www.hpe.com/us/en/collaterals/collateral.c04154343.html
[N19] HPE：iLO Redfish APIとPython
    https://developer.hpe.com/platform/ilo-restful-api/home/
    https://servermanagementportal.ext.hpe.com/docs/redfishclients/python-redfish-library
[N20] HPE：NVIDIAとのAI基盤の協業、2026年3月
    https://www.hpe.com/us/en/newsroom/press-release/2026/03/hpe-accelerates-secure-scalable-production-ready-ai-through-new-innovations-with-nvidia.html
[N21] Microsoft：BitLocker回復キー・デバイス暗号化
    https://support.microsoft.com/en-us/windows/security/encryption/back-up-your-bitlocker-recovery-key
    https://support.microsoft.com/en-us/windows/security/encryption/device-encryption-in-windows
[N22] Microsoft：WSL学習環境
    https://learn.microsoft.com/en-us/windows/wsl/setup/environment
[N23] HPE：技術トレーニングと認定
    https://education.hpe.com/ww/en/training/index.html
    https://education.hpe.com/ww/en/training/certification.html
[N24] Google：Gemini・GoogleサービスのAI機能
    https://blog.google/products-and-platforms/products/google-one/fall-2026-ai-plan-updates/
    https://blog.google/innovation-and-ai/technology/developers-tools/google-io-2026-collection/
    https://blog.google/products-and-platforms/products/workspace/voice-features-gmail-docs-keep/
[N25] Perplexity：Researchと提供機能
    https://www.perplexity.ai/help-center/en/articles/10738684-what-is-research-mode
    https://www.perplexity.ai/help-center/en/articles/11187416-which-perplexity-subscription-plan-is-right-for-you
[N26] xAI：X Search
    https://docs.x.ai/developers/tools/x-search
[補] HPEの日本向け学生・新卒採用
    https://careers.hpe.com/us/en/students-graduates-japan
[補] HPE Morpheus（製品ページ）
    https://www.hpe.com/jp/ja/products/software/morpheus-software.html
[補] HPE NonStop（製品資料）
    https://www.hpe.com/jp/ja/collaterals/collateral.a50013513jpn.html
【情報の区分】
一般的な技術説明
（スライド92／資料の該当箇所：出典一覧）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slideLayout" Target="../slideLayouts/slideLayout1.xml"/><Relationship Id="rId1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8-1.png"/><Relationship Id="rId3" Type="http://schemas.openxmlformats.org/officeDocument/2006/relationships/image" Target="../media/image-28-2.png"/><Relationship Id="rId4" Type="http://schemas.openxmlformats.org/officeDocument/2006/relationships/image" Target="../media/image-28-3.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4-1.png"/><Relationship Id="rId3" Type="http://schemas.openxmlformats.org/officeDocument/2006/relationships/image" Target="../media/image-44-2.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47-1.png"/><Relationship Id="rId3" Type="http://schemas.openxmlformats.org/officeDocument/2006/relationships/image" Target="../media/image-47-2.png"/><Relationship Id="rId4" Type="http://schemas.openxmlformats.org/officeDocument/2006/relationships/image" Target="../media/image-47-3.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54-1.png"/><Relationship Id="rId3" Type="http://schemas.openxmlformats.org/officeDocument/2006/relationships/image" Target="../media/image-54-2.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55-1.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slideLayout" Target="../slideLayouts/slideLayout1.xml"/><Relationship Id="rId9"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1.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slideLayout" Target="../slideLayouts/slideLayout1.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1.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slideLayout" Target="../slideLayouts/slideLayout1.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slideLayout" Target="../slideLayouts/slideLayout1.xm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38"/>
        </a:solidFill>
      </p:bgPr>
    </p:bg>
    <p:spTree>
      <p:nvGrpSpPr>
        <p:cNvPr id="1" name=""/>
        <p:cNvGrpSpPr/>
        <p:nvPr/>
      </p:nvGrpSpPr>
      <p:grpSpPr>
        <a:xfrm>
          <a:off x="0" y="0"/>
          <a:ext cx="0" cy="0"/>
          <a:chOff x="0" y="0"/>
          <a:chExt cx="0" cy="0"/>
        </a:xfrm>
      </p:grpSpPr>
      <p:sp>
        <p:nvSpPr>
          <p:cNvPr id="3" name="Text 0"/>
          <p:cNvSpPr txBox="1"/>
          <p:nvPr/>
        </p:nvSpPr>
        <p:spPr>
          <a:xfrm>
            <a:off x="731520" y="640080"/>
            <a:ext cx="27432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9FB6D1"/>
                </a:solidFill>
                <a:latin typeface="Yu Gothic" pitchFamily="34" charset="0"/>
                <a:ea typeface="Yu Gothic" pitchFamily="34" charset="-122"/>
                <a:cs typeface="Yu Gothic" pitchFamily="34" charset="-120"/>
              </a:rPr>
              <a:t>学習資料</a:t>
            </a:r>
            <a:endParaRPr lang="en-US" sz="2000" dirty="0"/>
          </a:p>
        </p:txBody>
      </p:sp>
      <p:sp>
        <p:nvSpPr>
          <p:cNvPr id="4" name="Text 1"/>
          <p:cNvSpPr txBox="1"/>
          <p:nvPr/>
        </p:nvSpPr>
        <p:spPr>
          <a:xfrm>
            <a:off x="731520" y="1234440"/>
            <a:ext cx="7498080" cy="2514600"/>
          </a:xfrm>
          <a:prstGeom prst="rect">
            <a:avLst/>
          </a:prstGeom>
          <a:noFill/>
          <a:ln/>
        </p:spPr>
        <p:txBody>
          <a:bodyPr wrap="square" lIns="0" tIns="0" rIns="0" bIns="0" rtlCol="0" anchor="t"/>
          <a:lstStyle/>
          <a:p>
            <a:pPr algn="l" indent="0" marL="0">
              <a:lnSpc>
                <a:spcPts val="6100"/>
              </a:lnSpc>
              <a:buNone/>
            </a:pPr>
            <a:r>
              <a:rPr lang="ja-JP" altLang="en-US" sz="4600" b="1" dirty="0">
                <a:solidFill>
                  <a:srgbClr val="FFFFFF"/>
                </a:solidFill>
                <a:latin typeface="Yu Gothic" pitchFamily="34" charset="0"/>
                <a:ea typeface="Yu Gothic" pitchFamily="34" charset="-122"/>
                <a:cs typeface="Yu Gothic" pitchFamily="34" charset="-120"/>
              </a:rPr>
              <a:t>ITインフラ・AI</a:t>
            </a:r>
            <a:endParaRPr lang="en-US" sz="4600" dirty="0"/>
          </a:p>
          <a:p>
            <a:pPr algn="l" indent="0" marL="0">
              <a:lnSpc>
                <a:spcPts val="6100"/>
              </a:lnSpc>
              <a:buNone/>
            </a:pPr>
            <a:r>
              <a:rPr lang="ja-JP" altLang="en-US" sz="4600" b="1" dirty="0">
                <a:solidFill>
                  <a:srgbClr val="FFFFFF"/>
                </a:solidFill>
                <a:latin typeface="Yu Gothic" pitchFamily="34" charset="0"/>
                <a:ea typeface="Yu Gothic" pitchFamily="34" charset="-122"/>
                <a:cs typeface="Yu Gothic" pitchFamily="34" charset="-120"/>
              </a:rPr>
              <a:t>HPEのSEに向けた</a:t>
            </a:r>
            <a:endParaRPr lang="en-US" sz="4600" dirty="0"/>
          </a:p>
          <a:p>
            <a:pPr algn="l" indent="0" marL="0">
              <a:lnSpc>
                <a:spcPts val="6100"/>
              </a:lnSpc>
              <a:buNone/>
            </a:pPr>
            <a:r>
              <a:rPr lang="ja-JP" altLang="en-US" sz="4600" b="1" dirty="0">
                <a:solidFill>
                  <a:srgbClr val="FFFFFF"/>
                </a:solidFill>
                <a:latin typeface="Yu Gothic" pitchFamily="34" charset="0"/>
                <a:ea typeface="Yu Gothic" pitchFamily="34" charset="-122"/>
                <a:cs typeface="Yu Gothic" pitchFamily="34" charset="-120"/>
              </a:rPr>
              <a:t>統合学習資料</a:t>
            </a:r>
            <a:endParaRPr lang="en-US" sz="4600" dirty="0"/>
          </a:p>
        </p:txBody>
      </p:sp>
      <p:sp>
        <p:nvSpPr>
          <p:cNvPr id="5" name="Text 2"/>
          <p:cNvSpPr txBox="1"/>
          <p:nvPr/>
        </p:nvSpPr>
        <p:spPr>
          <a:xfrm>
            <a:off x="731520" y="3977640"/>
            <a:ext cx="7315200" cy="868680"/>
          </a:xfrm>
          <a:prstGeom prst="rect">
            <a:avLst/>
          </a:prstGeom>
          <a:noFill/>
          <a:ln/>
        </p:spPr>
        <p:txBody>
          <a:bodyPr wrap="square" lIns="0" tIns="0" rIns="0" bIns="0" rtlCol="0" anchor="t"/>
          <a:lstStyle/>
          <a:p>
            <a:pPr algn="l" indent="0" marL="0">
              <a:lnSpc>
                <a:spcPts val="2900"/>
              </a:lnSpc>
              <a:buNone/>
            </a:pPr>
            <a:r>
              <a:rPr lang="ja-JP" altLang="en-US" sz="2200" dirty="0">
                <a:solidFill>
                  <a:srgbClr val="CADCFC"/>
                </a:solidFill>
                <a:latin typeface="Yu Gothic" pitchFamily="34" charset="0"/>
                <a:ea typeface="Yu Gothic" pitchFamily="34" charset="-122"/>
                <a:cs typeface="Yu Gothic" pitchFamily="34" charset="-120"/>
              </a:rPr>
              <a:t>2027年に日本ヒューレット・パッカードへSEとして入社する方の、入社前〜社会人2年目の自己学習のために</a:t>
            </a:r>
            <a:endParaRPr lang="en-US" sz="2200" dirty="0"/>
          </a:p>
        </p:txBody>
      </p:sp>
      <p:sp>
        <p:nvSpPr>
          <p:cNvPr id="6" name="Text 3"/>
          <p:cNvSpPr txBox="1"/>
          <p:nvPr/>
        </p:nvSpPr>
        <p:spPr>
          <a:xfrm>
            <a:off x="731520" y="4983480"/>
            <a:ext cx="7680960" cy="1325880"/>
          </a:xfrm>
          <a:prstGeom prst="rect">
            <a:avLst/>
          </a:prstGeom>
          <a:noFill/>
          <a:ln/>
        </p:spPr>
        <p:txBody>
          <a:bodyPr wrap="square" lIns="0" tIns="0" rIns="0" bIns="0" rtlCol="0" anchor="t"/>
          <a:lstStyle/>
          <a:p>
            <a:pPr algn="l" indent="0" marL="0">
              <a:lnSpc>
                <a:spcPts val="2400"/>
              </a:lnSpc>
              <a:buNone/>
            </a:pPr>
            <a:r>
              <a:rPr lang="ja-JP" altLang="en-US" sz="1800" dirty="0">
                <a:solidFill>
                  <a:srgbClr val="9FB6D1"/>
                </a:solidFill>
                <a:latin typeface="Yu Gothic" pitchFamily="34" charset="0"/>
                <a:ea typeface="Yu Gothic" pitchFamily="34" charset="-122"/>
                <a:cs typeface="Yu Gothic" pitchFamily="34" charset="-120"/>
              </a:rPr>
              <a:t>資料の確認時点：2026年9月30日〜10月1日（日本時間）</a:t>
            </a:r>
            <a:endParaRPr lang="en-US" sz="1800" dirty="0"/>
          </a:p>
          <a:p>
            <a:pPr algn="l" indent="0" marL="0">
              <a:lnSpc>
                <a:spcPts val="2400"/>
              </a:lnSpc>
              <a:buNone/>
            </a:pPr>
            <a:r>
              <a:rPr lang="ja-JP" altLang="en-US" sz="1800" dirty="0">
                <a:solidFill>
                  <a:srgbClr val="9FB6D1"/>
                </a:solidFill>
                <a:latin typeface="Yu Gothic" pitchFamily="34" charset="0"/>
                <a:ea typeface="Yu Gothic" pitchFamily="34" charset="-122"/>
                <a:cs typeface="Yu Gothic" pitchFamily="34" charset="-120"/>
              </a:rPr>
              <a:t>将来の価格・製品・採用条件を保証するものではありません。</a:t>
            </a:r>
            <a:endParaRPr lang="en-US" sz="1800" dirty="0"/>
          </a:p>
          <a:p>
            <a:pPr algn="l" indent="0" marL="0">
              <a:lnSpc>
                <a:spcPts val="2400"/>
              </a:lnSpc>
              <a:buNone/>
            </a:pPr>
            <a:r>
              <a:rPr lang="ja-JP" altLang="en-US" sz="1800" dirty="0">
                <a:solidFill>
                  <a:srgbClr val="9FB6D1"/>
                </a:solidFill>
                <a:latin typeface="Yu Gothic" pitchFamily="34" charset="0"/>
                <a:ea typeface="Yu Gothic" pitchFamily="34" charset="-122"/>
                <a:cs typeface="Yu Gothic" pitchFamily="34" charset="-120"/>
              </a:rPr>
              <a:t>学習用の独自教材です。</a:t>
            </a:r>
            <a:endParaRPr lang="en-US" sz="1800" dirty="0"/>
          </a:p>
          <a:p>
            <a:pPr algn="l" indent="0" marL="0">
              <a:lnSpc>
                <a:spcPts val="2400"/>
              </a:lnSpc>
              <a:buNone/>
            </a:pPr>
            <a:r>
              <a:rPr lang="ja-JP" altLang="en-US" sz="1800" dirty="0">
                <a:solidFill>
                  <a:srgbClr val="9FB6D1"/>
                </a:solidFill>
                <a:latin typeface="Yu Gothic" pitchFamily="34" charset="0"/>
                <a:ea typeface="Yu Gothic" pitchFamily="34" charset="-122"/>
                <a:cs typeface="Yu Gothic" pitchFamily="34" charset="-120"/>
              </a:rPr>
              <a:t>日本ヒューレット・パッカードの公式資料ではありません。</a:t>
            </a:r>
            <a:endParaRPr lang="en-US" sz="1800" dirty="0"/>
          </a:p>
        </p:txBody>
      </p:sp>
      <p:sp>
        <p:nvSpPr>
          <p:cNvPr id="7" name="Shape 4"/>
          <p:cNvSpPr/>
          <p:nvPr/>
        </p:nvSpPr>
        <p:spPr>
          <a:xfrm>
            <a:off x="8732520" y="914400"/>
            <a:ext cx="3017520" cy="960120"/>
          </a:xfrm>
          <a:prstGeom prst="roundRect">
            <a:avLst>
              <a:gd name="adj" fmla="val 11429"/>
            </a:avLst>
          </a:prstGeom>
          <a:solidFill>
            <a:srgbClr val="0B7A7A"/>
          </a:solidFill>
          <a:ln/>
        </p:spPr>
      </p:sp>
      <p:sp>
        <p:nvSpPr>
          <p:cNvPr id="8" name="Shape 5"/>
          <p:cNvSpPr/>
          <p:nvPr/>
        </p:nvSpPr>
        <p:spPr>
          <a:xfrm>
            <a:off x="8860536" y="1120140"/>
            <a:ext cx="548640" cy="54864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8981237" y="1240841"/>
            <a:ext cx="307238" cy="307238"/>
          </a:xfrm>
          <a:prstGeom prst="rect">
            <a:avLst/>
          </a:prstGeom>
        </p:spPr>
      </p:pic>
      <p:sp>
        <p:nvSpPr>
          <p:cNvPr id="10" name="Text 6"/>
          <p:cNvSpPr txBox="1"/>
          <p:nvPr/>
        </p:nvSpPr>
        <p:spPr>
          <a:xfrm>
            <a:off x="9500616" y="914400"/>
            <a:ext cx="2157984" cy="9601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あなたの端末</a:t>
            </a:r>
            <a:endParaRPr lang="en-US" sz="2000" dirty="0"/>
          </a:p>
        </p:txBody>
      </p:sp>
      <p:sp>
        <p:nvSpPr>
          <p:cNvPr id="11" name="Shape 7"/>
          <p:cNvSpPr/>
          <p:nvPr/>
        </p:nvSpPr>
        <p:spPr>
          <a:xfrm>
            <a:off x="10241280" y="1892808"/>
            <a:ext cx="0" cy="374904"/>
          </a:xfrm>
          <a:prstGeom prst="line">
            <a:avLst/>
          </a:prstGeom>
          <a:noFill/>
          <a:ln w="38100">
            <a:solidFill>
              <a:srgbClr val="CADCFC"/>
            </a:solidFill>
            <a:prstDash val="solid"/>
            <a:tailEnd type="triangle"/>
          </a:ln>
        </p:spPr>
      </p:sp>
      <p:sp>
        <p:nvSpPr>
          <p:cNvPr id="12" name="Shape 8"/>
          <p:cNvSpPr/>
          <p:nvPr/>
        </p:nvSpPr>
        <p:spPr>
          <a:xfrm>
            <a:off x="8732520" y="2286000"/>
            <a:ext cx="3017520" cy="960120"/>
          </a:xfrm>
          <a:prstGeom prst="roundRect">
            <a:avLst>
              <a:gd name="adj" fmla="val 11429"/>
            </a:avLst>
          </a:prstGeom>
          <a:solidFill>
            <a:srgbClr val="2F6BC2"/>
          </a:solidFill>
          <a:ln/>
        </p:spPr>
      </p:sp>
      <p:sp>
        <p:nvSpPr>
          <p:cNvPr id="13" name="Shape 9"/>
          <p:cNvSpPr/>
          <p:nvPr/>
        </p:nvSpPr>
        <p:spPr>
          <a:xfrm>
            <a:off x="8860536" y="2491740"/>
            <a:ext cx="548640" cy="548640"/>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8981237" y="2612441"/>
            <a:ext cx="307238" cy="307238"/>
          </a:xfrm>
          <a:prstGeom prst="rect">
            <a:avLst/>
          </a:prstGeom>
        </p:spPr>
      </p:pic>
      <p:sp>
        <p:nvSpPr>
          <p:cNvPr id="15" name="Text 10"/>
          <p:cNvSpPr txBox="1"/>
          <p:nvPr/>
        </p:nvSpPr>
        <p:spPr>
          <a:xfrm>
            <a:off x="9500616" y="2286000"/>
            <a:ext cx="2157984" cy="9601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通信網（Wi-Fi・携帯）</a:t>
            </a:r>
            <a:endParaRPr lang="en-US" sz="2000" dirty="0"/>
          </a:p>
        </p:txBody>
      </p:sp>
      <p:sp>
        <p:nvSpPr>
          <p:cNvPr id="16" name="Shape 11"/>
          <p:cNvSpPr/>
          <p:nvPr/>
        </p:nvSpPr>
        <p:spPr>
          <a:xfrm>
            <a:off x="10241280" y="3264408"/>
            <a:ext cx="0" cy="374904"/>
          </a:xfrm>
          <a:prstGeom prst="line">
            <a:avLst/>
          </a:prstGeom>
          <a:noFill/>
          <a:ln w="38100">
            <a:solidFill>
              <a:srgbClr val="CADCFC"/>
            </a:solidFill>
            <a:prstDash val="solid"/>
            <a:tailEnd type="triangle"/>
          </a:ln>
        </p:spPr>
      </p:sp>
      <p:sp>
        <p:nvSpPr>
          <p:cNvPr id="17" name="Shape 12"/>
          <p:cNvSpPr/>
          <p:nvPr/>
        </p:nvSpPr>
        <p:spPr>
          <a:xfrm>
            <a:off x="8732520" y="3657600"/>
            <a:ext cx="3017520" cy="960120"/>
          </a:xfrm>
          <a:prstGeom prst="roundRect">
            <a:avLst>
              <a:gd name="adj" fmla="val 11429"/>
            </a:avLst>
          </a:prstGeom>
          <a:solidFill>
            <a:srgbClr val="5B46B8"/>
          </a:solidFill>
          <a:ln/>
        </p:spPr>
      </p:sp>
      <p:sp>
        <p:nvSpPr>
          <p:cNvPr id="18" name="Shape 13"/>
          <p:cNvSpPr/>
          <p:nvPr/>
        </p:nvSpPr>
        <p:spPr>
          <a:xfrm>
            <a:off x="8860536" y="3863340"/>
            <a:ext cx="548640" cy="548640"/>
          </a:xfrm>
          <a:prstGeom prst="ellipse">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8981237" y="3984041"/>
            <a:ext cx="307238" cy="307238"/>
          </a:xfrm>
          <a:prstGeom prst="rect">
            <a:avLst/>
          </a:prstGeom>
        </p:spPr>
      </p:pic>
      <p:sp>
        <p:nvSpPr>
          <p:cNvPr id="20" name="Text 14"/>
          <p:cNvSpPr txBox="1"/>
          <p:nvPr/>
        </p:nvSpPr>
        <p:spPr>
          <a:xfrm>
            <a:off x="9500616" y="3657600"/>
            <a:ext cx="2157984" cy="9601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サーバー・AI基盤</a:t>
            </a:r>
            <a:endParaRPr lang="en-US" sz="2000" dirty="0"/>
          </a:p>
        </p:txBody>
      </p:sp>
      <p:sp>
        <p:nvSpPr>
          <p:cNvPr id="21" name="Shape 15"/>
          <p:cNvSpPr/>
          <p:nvPr/>
        </p:nvSpPr>
        <p:spPr>
          <a:xfrm>
            <a:off x="10241280" y="4636008"/>
            <a:ext cx="0" cy="374904"/>
          </a:xfrm>
          <a:prstGeom prst="line">
            <a:avLst/>
          </a:prstGeom>
          <a:noFill/>
          <a:ln w="38100">
            <a:solidFill>
              <a:srgbClr val="CADCFC"/>
            </a:solidFill>
            <a:prstDash val="solid"/>
            <a:tailEnd type="triangle"/>
          </a:ln>
        </p:spPr>
      </p:sp>
      <p:sp>
        <p:nvSpPr>
          <p:cNvPr id="22" name="Shape 16"/>
          <p:cNvSpPr/>
          <p:nvPr/>
        </p:nvSpPr>
        <p:spPr>
          <a:xfrm>
            <a:off x="8732520" y="5029200"/>
            <a:ext cx="3017520" cy="960120"/>
          </a:xfrm>
          <a:prstGeom prst="roundRect">
            <a:avLst>
              <a:gd name="adj" fmla="val 11429"/>
            </a:avLst>
          </a:prstGeom>
          <a:solidFill>
            <a:srgbClr val="475569"/>
          </a:solidFill>
          <a:ln/>
        </p:spPr>
      </p:sp>
      <p:sp>
        <p:nvSpPr>
          <p:cNvPr id="23" name="Shape 17"/>
          <p:cNvSpPr/>
          <p:nvPr/>
        </p:nvSpPr>
        <p:spPr>
          <a:xfrm>
            <a:off x="8860536" y="5234940"/>
            <a:ext cx="548640" cy="548640"/>
          </a:xfrm>
          <a:prstGeom prst="ellipse">
            <a:avLst/>
          </a:prstGeom>
          <a:solidFill>
            <a:srgbClr val="FFFFFF"/>
          </a:solidFill>
          <a:ln/>
        </p:spPr>
      </p:sp>
      <p:pic>
        <p:nvPicPr>
          <p:cNvPr id="24" name="Image 3" descr="preencoded.png">    </p:cNvPr>
          <p:cNvPicPr>
            <a:picLocks noChangeAspect="1"/>
          </p:cNvPicPr>
          <p:nvPr/>
        </p:nvPicPr>
        <p:blipFill>
          <a:blip r:embed="rId4"/>
          <a:stretch>
            <a:fillRect/>
          </a:stretch>
        </p:blipFill>
        <p:spPr>
          <a:xfrm>
            <a:off x="8981237" y="5355641"/>
            <a:ext cx="307238" cy="307238"/>
          </a:xfrm>
          <a:prstGeom prst="rect">
            <a:avLst/>
          </a:prstGeom>
        </p:spPr>
      </p:pic>
      <p:sp>
        <p:nvSpPr>
          <p:cNvPr id="25" name="Text 18"/>
          <p:cNvSpPr txBox="1"/>
          <p:nvPr/>
        </p:nvSpPr>
        <p:spPr>
          <a:xfrm>
            <a:off x="9500616" y="5029200"/>
            <a:ext cx="2157984" cy="9601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データセンター（電力・冷却）</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全体像</a:t>
            </a:r>
            <a:endParaRPr lang="ja-JP" sz="1400" dirty="0"/>
          </a:p>
        </p:txBody>
      </p:sp>
      <p:sp>
        <p:nvSpPr>
          <p:cNvPr id="3" name="Text 1"/>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通信から入り、AIインフラとHPEのSEの仕事へつなぐ</a:t>
            </a:r>
            <a:endParaRPr lang="ja-JP" sz="3000" dirty="0"/>
          </a:p>
        </p:txBody>
      </p:sp>
      <p:sp>
        <p:nvSpPr>
          <p:cNvPr id="4" name="Text 2"/>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この資料は、まずスマホやWi-Fiなど身近な通信の仕組みを学び、そこからAIとデータセンター、HPEのSEの仕事へつなげていきます。下の12個のタイルが章の地図です。</a:t>
            </a:r>
            <a:endParaRPr lang="en-US" sz="1800" dirty="0"/>
          </a:p>
        </p:txBody>
      </p:sp>
      <p:sp>
        <p:nvSpPr>
          <p:cNvPr id="6" name="Shape 3"/>
          <p:cNvSpPr/>
          <p:nvPr/>
        </p:nvSpPr>
        <p:spPr>
          <a:xfrm>
            <a:off x="457200" y="1691640"/>
            <a:ext cx="5532120" cy="475488"/>
          </a:xfrm>
          <a:prstGeom prst="roundRect">
            <a:avLst>
              <a:gd name="adj" fmla="val 19231"/>
            </a:avLst>
          </a:prstGeom>
          <a:solidFill>
            <a:srgbClr val="2F6BC2"/>
          </a:solidFill>
          <a:ln/>
        </p:spPr>
      </p:sp>
      <p:sp>
        <p:nvSpPr>
          <p:cNvPr id="7" name="Text 4"/>
          <p:cNvSpPr txBox="1"/>
          <p:nvPr/>
        </p:nvSpPr>
        <p:spPr>
          <a:xfrm>
            <a:off x="548640" y="1691640"/>
            <a:ext cx="5349240" cy="475488"/>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第1部　身近な通信から学ぶITインフラ</a:t>
            </a:r>
            <a:endParaRPr lang="en-US" sz="2000" dirty="0"/>
          </a:p>
        </p:txBody>
      </p:sp>
      <p:sp>
        <p:nvSpPr>
          <p:cNvPr id="8" name="Shape 5"/>
          <p:cNvSpPr/>
          <p:nvPr/>
        </p:nvSpPr>
        <p:spPr>
          <a:xfrm>
            <a:off x="457200" y="2286000"/>
            <a:ext cx="2697480" cy="960120"/>
          </a:xfrm>
          <a:prstGeom prst="roundRect">
            <a:avLst>
              <a:gd name="adj" fmla="val 11429"/>
            </a:avLst>
          </a:prstGeom>
          <a:solidFill>
            <a:srgbClr val="DCE8F8"/>
          </a:solidFill>
          <a:ln w="25400">
            <a:solidFill>
              <a:srgbClr val="2F6BC2"/>
            </a:solidFill>
            <a:prstDash val="solid"/>
          </a:ln>
        </p:spPr>
      </p:sp>
      <p:sp>
        <p:nvSpPr>
          <p:cNvPr id="9" name="Text 6"/>
          <p:cNvSpPr txBox="1"/>
          <p:nvPr/>
        </p:nvSpPr>
        <p:spPr>
          <a:xfrm>
            <a:off x="548640" y="228600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① 全体像</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p.1–5</a:t>
            </a:r>
            <a:endParaRPr lang="en-US" sz="2000" dirty="0"/>
          </a:p>
        </p:txBody>
      </p:sp>
      <p:sp>
        <p:nvSpPr>
          <p:cNvPr id="10" name="Shape 7"/>
          <p:cNvSpPr/>
          <p:nvPr/>
        </p:nvSpPr>
        <p:spPr>
          <a:xfrm>
            <a:off x="3246120" y="2286000"/>
            <a:ext cx="2697480" cy="960120"/>
          </a:xfrm>
          <a:prstGeom prst="roundRect">
            <a:avLst>
              <a:gd name="adj" fmla="val 11429"/>
            </a:avLst>
          </a:prstGeom>
          <a:solidFill>
            <a:srgbClr val="DCE8F8"/>
          </a:solidFill>
          <a:ln w="25400">
            <a:solidFill>
              <a:srgbClr val="2F6BC2"/>
            </a:solidFill>
            <a:prstDash val="solid"/>
          </a:ln>
        </p:spPr>
      </p:sp>
      <p:sp>
        <p:nvSpPr>
          <p:cNvPr id="11" name="Text 8"/>
          <p:cNvSpPr txBox="1"/>
          <p:nvPr/>
        </p:nvSpPr>
        <p:spPr>
          <a:xfrm>
            <a:off x="3337560" y="228600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② 端末→ChatGPT</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p.6–23</a:t>
            </a:r>
            <a:endParaRPr lang="en-US" sz="2000" dirty="0"/>
          </a:p>
        </p:txBody>
      </p:sp>
      <p:sp>
        <p:nvSpPr>
          <p:cNvPr id="12" name="Shape 9"/>
          <p:cNvSpPr/>
          <p:nvPr/>
        </p:nvSpPr>
        <p:spPr>
          <a:xfrm>
            <a:off x="457200" y="3337560"/>
            <a:ext cx="2697480" cy="960120"/>
          </a:xfrm>
          <a:prstGeom prst="roundRect">
            <a:avLst>
              <a:gd name="adj" fmla="val 11429"/>
            </a:avLst>
          </a:prstGeom>
          <a:solidFill>
            <a:srgbClr val="DCE8F8"/>
          </a:solidFill>
          <a:ln w="25400">
            <a:solidFill>
              <a:srgbClr val="2F6BC2"/>
            </a:solidFill>
            <a:prstDash val="solid"/>
          </a:ln>
        </p:spPr>
      </p:sp>
      <p:sp>
        <p:nvSpPr>
          <p:cNvPr id="13" name="Text 10"/>
          <p:cNvSpPr txBox="1"/>
          <p:nvPr/>
        </p:nvSpPr>
        <p:spPr>
          <a:xfrm>
            <a:off x="548640" y="333756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③ 地下と通信品質</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p.24–29</a:t>
            </a:r>
            <a:endParaRPr lang="en-US" sz="2000" dirty="0"/>
          </a:p>
        </p:txBody>
      </p:sp>
      <p:sp>
        <p:nvSpPr>
          <p:cNvPr id="14" name="Shape 11"/>
          <p:cNvSpPr/>
          <p:nvPr/>
        </p:nvSpPr>
        <p:spPr>
          <a:xfrm>
            <a:off x="3246120" y="3337560"/>
            <a:ext cx="2697480" cy="960120"/>
          </a:xfrm>
          <a:prstGeom prst="roundRect">
            <a:avLst>
              <a:gd name="adj" fmla="val 11429"/>
            </a:avLst>
          </a:prstGeom>
          <a:solidFill>
            <a:srgbClr val="DCE8F8"/>
          </a:solidFill>
          <a:ln w="25400">
            <a:solidFill>
              <a:srgbClr val="2F6BC2"/>
            </a:solidFill>
            <a:prstDash val="solid"/>
          </a:ln>
        </p:spPr>
      </p:sp>
      <p:sp>
        <p:nvSpPr>
          <p:cNvPr id="15" name="Text 12"/>
          <p:cNvSpPr txBox="1"/>
          <p:nvPr/>
        </p:nvSpPr>
        <p:spPr>
          <a:xfrm>
            <a:off x="3337560" y="333756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④ ゲームの通信</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p.30–34</a:t>
            </a:r>
            <a:endParaRPr lang="en-US" sz="2000" dirty="0"/>
          </a:p>
        </p:txBody>
      </p:sp>
      <p:sp>
        <p:nvSpPr>
          <p:cNvPr id="16" name="Shape 13"/>
          <p:cNvSpPr/>
          <p:nvPr/>
        </p:nvSpPr>
        <p:spPr>
          <a:xfrm>
            <a:off x="457200" y="4389120"/>
            <a:ext cx="2697480" cy="960120"/>
          </a:xfrm>
          <a:prstGeom prst="roundRect">
            <a:avLst>
              <a:gd name="adj" fmla="val 11429"/>
            </a:avLst>
          </a:prstGeom>
          <a:solidFill>
            <a:srgbClr val="DCE8F8"/>
          </a:solidFill>
          <a:ln w="25400">
            <a:solidFill>
              <a:srgbClr val="2F6BC2"/>
            </a:solidFill>
            <a:prstDash val="solid"/>
          </a:ln>
        </p:spPr>
      </p:sp>
      <p:sp>
        <p:nvSpPr>
          <p:cNvPr id="17" name="Text 14"/>
          <p:cNvSpPr txBox="1"/>
          <p:nvPr/>
        </p:nvSpPr>
        <p:spPr>
          <a:xfrm>
            <a:off x="548640" y="438912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⑤ AI・半導体</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p.35–45</a:t>
            </a:r>
            <a:endParaRPr lang="en-US" sz="2000" dirty="0"/>
          </a:p>
        </p:txBody>
      </p:sp>
      <p:sp>
        <p:nvSpPr>
          <p:cNvPr id="18" name="Shape 15"/>
          <p:cNvSpPr/>
          <p:nvPr/>
        </p:nvSpPr>
        <p:spPr>
          <a:xfrm>
            <a:off x="3246120" y="4389120"/>
            <a:ext cx="2697480" cy="960120"/>
          </a:xfrm>
          <a:prstGeom prst="roundRect">
            <a:avLst>
              <a:gd name="adj" fmla="val 11429"/>
            </a:avLst>
          </a:prstGeom>
          <a:solidFill>
            <a:srgbClr val="DCE8F8"/>
          </a:solidFill>
          <a:ln w="25400">
            <a:solidFill>
              <a:srgbClr val="2F6BC2"/>
            </a:solidFill>
            <a:prstDash val="solid"/>
          </a:ln>
        </p:spPr>
      </p:sp>
      <p:sp>
        <p:nvSpPr>
          <p:cNvPr id="19" name="Text 16"/>
          <p:cNvSpPr txBox="1"/>
          <p:nvPr/>
        </p:nvSpPr>
        <p:spPr>
          <a:xfrm>
            <a:off x="3337560" y="438912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⑥ 米・中・欧</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p.46–48</a:t>
            </a:r>
            <a:endParaRPr lang="en-US" sz="2000" dirty="0"/>
          </a:p>
        </p:txBody>
      </p:sp>
      <p:sp>
        <p:nvSpPr>
          <p:cNvPr id="20" name="Shape 17"/>
          <p:cNvSpPr/>
          <p:nvPr/>
        </p:nvSpPr>
        <p:spPr>
          <a:xfrm>
            <a:off x="6199632" y="1691640"/>
            <a:ext cx="5532120" cy="475488"/>
          </a:xfrm>
          <a:prstGeom prst="roundRect">
            <a:avLst>
              <a:gd name="adj" fmla="val 19231"/>
            </a:avLst>
          </a:prstGeom>
          <a:solidFill>
            <a:srgbClr val="5B46B8"/>
          </a:solidFill>
          <a:ln/>
        </p:spPr>
      </p:sp>
      <p:sp>
        <p:nvSpPr>
          <p:cNvPr id="21" name="Text 18"/>
          <p:cNvSpPr txBox="1"/>
          <p:nvPr/>
        </p:nvSpPr>
        <p:spPr>
          <a:xfrm>
            <a:off x="6291072" y="1691640"/>
            <a:ext cx="5349240" cy="475488"/>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第2部　AIの使い分けとHPEのSE準備</a:t>
            </a:r>
            <a:endParaRPr lang="en-US" sz="2000" dirty="0"/>
          </a:p>
        </p:txBody>
      </p:sp>
      <p:sp>
        <p:nvSpPr>
          <p:cNvPr id="22" name="Shape 19"/>
          <p:cNvSpPr/>
          <p:nvPr/>
        </p:nvSpPr>
        <p:spPr>
          <a:xfrm>
            <a:off x="6199632" y="2286000"/>
            <a:ext cx="2697480" cy="960120"/>
          </a:xfrm>
          <a:prstGeom prst="roundRect">
            <a:avLst>
              <a:gd name="adj" fmla="val 11429"/>
            </a:avLst>
          </a:prstGeom>
          <a:solidFill>
            <a:srgbClr val="E6E1F7"/>
          </a:solidFill>
          <a:ln w="25400">
            <a:solidFill>
              <a:srgbClr val="5B46B8"/>
            </a:solidFill>
            <a:prstDash val="solid"/>
          </a:ln>
        </p:spPr>
      </p:sp>
      <p:sp>
        <p:nvSpPr>
          <p:cNvPr id="23" name="Text 20"/>
          <p:cNvSpPr txBox="1"/>
          <p:nvPr/>
        </p:nvSpPr>
        <p:spPr>
          <a:xfrm>
            <a:off x="6291072" y="228600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⑦ AIサービス</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p.49–56</a:t>
            </a:r>
            <a:endParaRPr lang="en-US" sz="2000" dirty="0"/>
          </a:p>
        </p:txBody>
      </p:sp>
      <p:sp>
        <p:nvSpPr>
          <p:cNvPr id="24" name="Shape 21"/>
          <p:cNvSpPr/>
          <p:nvPr/>
        </p:nvSpPr>
        <p:spPr>
          <a:xfrm>
            <a:off x="8988552" y="2286000"/>
            <a:ext cx="2697480" cy="960120"/>
          </a:xfrm>
          <a:prstGeom prst="roundRect">
            <a:avLst>
              <a:gd name="adj" fmla="val 11429"/>
            </a:avLst>
          </a:prstGeom>
          <a:solidFill>
            <a:srgbClr val="E6E1F7"/>
          </a:solidFill>
          <a:ln w="25400">
            <a:solidFill>
              <a:srgbClr val="5B46B8"/>
            </a:solidFill>
            <a:prstDash val="solid"/>
          </a:ln>
        </p:spPr>
      </p:sp>
      <p:sp>
        <p:nvSpPr>
          <p:cNvPr id="25" name="Text 22"/>
          <p:cNvSpPr txBox="1"/>
          <p:nvPr/>
        </p:nvSpPr>
        <p:spPr>
          <a:xfrm>
            <a:off x="9079992" y="228600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⑧ ゲーム制作</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p.57–59</a:t>
            </a:r>
            <a:endParaRPr lang="en-US" sz="2000" dirty="0"/>
          </a:p>
        </p:txBody>
      </p:sp>
      <p:sp>
        <p:nvSpPr>
          <p:cNvPr id="26" name="Shape 23"/>
          <p:cNvSpPr/>
          <p:nvPr/>
        </p:nvSpPr>
        <p:spPr>
          <a:xfrm>
            <a:off x="6199632" y="3337560"/>
            <a:ext cx="2697480" cy="960120"/>
          </a:xfrm>
          <a:prstGeom prst="roundRect">
            <a:avLst>
              <a:gd name="adj" fmla="val 11429"/>
            </a:avLst>
          </a:prstGeom>
          <a:solidFill>
            <a:srgbClr val="E6E1F7"/>
          </a:solidFill>
          <a:ln w="25400">
            <a:solidFill>
              <a:srgbClr val="5B46B8"/>
            </a:solidFill>
            <a:prstDash val="solid"/>
          </a:ln>
        </p:spPr>
      </p:sp>
      <p:sp>
        <p:nvSpPr>
          <p:cNvPr id="27" name="Text 24"/>
          <p:cNvSpPr txBox="1"/>
          <p:nvPr/>
        </p:nvSpPr>
        <p:spPr>
          <a:xfrm>
            <a:off x="6291072" y="333756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⑨ HPEのSE</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p.60–67</a:t>
            </a:r>
            <a:endParaRPr lang="en-US" sz="2000" dirty="0"/>
          </a:p>
        </p:txBody>
      </p:sp>
      <p:sp>
        <p:nvSpPr>
          <p:cNvPr id="28" name="Shape 25"/>
          <p:cNvSpPr/>
          <p:nvPr/>
        </p:nvSpPr>
        <p:spPr>
          <a:xfrm>
            <a:off x="8988552" y="3337560"/>
            <a:ext cx="2697480" cy="960120"/>
          </a:xfrm>
          <a:prstGeom prst="roundRect">
            <a:avLst>
              <a:gd name="adj" fmla="val 11429"/>
            </a:avLst>
          </a:prstGeom>
          <a:solidFill>
            <a:srgbClr val="E6E1F7"/>
          </a:solidFill>
          <a:ln w="25400">
            <a:solidFill>
              <a:srgbClr val="5B46B8"/>
            </a:solidFill>
            <a:prstDash val="solid"/>
          </a:ln>
        </p:spPr>
      </p:sp>
      <p:sp>
        <p:nvSpPr>
          <p:cNvPr id="29" name="Text 26"/>
          <p:cNvSpPr txBox="1"/>
          <p:nvPr/>
        </p:nvSpPr>
        <p:spPr>
          <a:xfrm>
            <a:off x="9079992" y="333756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⑩ 専門・配属</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p.68–75</a:t>
            </a:r>
            <a:endParaRPr lang="en-US" sz="2000" dirty="0"/>
          </a:p>
        </p:txBody>
      </p:sp>
      <p:sp>
        <p:nvSpPr>
          <p:cNvPr id="30" name="Shape 27"/>
          <p:cNvSpPr/>
          <p:nvPr/>
        </p:nvSpPr>
        <p:spPr>
          <a:xfrm>
            <a:off x="6199632" y="4389120"/>
            <a:ext cx="2697480" cy="960120"/>
          </a:xfrm>
          <a:prstGeom prst="roundRect">
            <a:avLst>
              <a:gd name="adj" fmla="val 11429"/>
            </a:avLst>
          </a:prstGeom>
          <a:solidFill>
            <a:srgbClr val="E6E1F7"/>
          </a:solidFill>
          <a:ln w="25400">
            <a:solidFill>
              <a:srgbClr val="5B46B8"/>
            </a:solidFill>
            <a:prstDash val="solid"/>
          </a:ln>
        </p:spPr>
      </p:sp>
      <p:sp>
        <p:nvSpPr>
          <p:cNvPr id="31" name="Text 28"/>
          <p:cNvSpPr txBox="1"/>
          <p:nvPr/>
        </p:nvSpPr>
        <p:spPr>
          <a:xfrm>
            <a:off x="6291072" y="438912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⑪ 準備・計画</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p.76–83</a:t>
            </a:r>
            <a:endParaRPr lang="en-US" sz="2000" dirty="0"/>
          </a:p>
        </p:txBody>
      </p:sp>
      <p:sp>
        <p:nvSpPr>
          <p:cNvPr id="32" name="Shape 29"/>
          <p:cNvSpPr/>
          <p:nvPr/>
        </p:nvSpPr>
        <p:spPr>
          <a:xfrm>
            <a:off x="8988552" y="4389120"/>
            <a:ext cx="2697480" cy="960120"/>
          </a:xfrm>
          <a:prstGeom prst="roundRect">
            <a:avLst>
              <a:gd name="adj" fmla="val 11429"/>
            </a:avLst>
          </a:prstGeom>
          <a:solidFill>
            <a:srgbClr val="E6E1F7"/>
          </a:solidFill>
          <a:ln w="25400">
            <a:solidFill>
              <a:srgbClr val="5B46B8"/>
            </a:solidFill>
            <a:prstDash val="solid"/>
          </a:ln>
        </p:spPr>
      </p:sp>
      <p:sp>
        <p:nvSpPr>
          <p:cNvPr id="33" name="Text 30"/>
          <p:cNvSpPr txBox="1"/>
          <p:nvPr/>
        </p:nvSpPr>
        <p:spPr>
          <a:xfrm>
            <a:off x="9079992" y="4389120"/>
            <a:ext cx="251460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⑫ 復習・出典</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p.84–92</a:t>
            </a:r>
            <a:endParaRPr lang="en-US" sz="2000" dirty="0"/>
          </a:p>
        </p:txBody>
      </p:sp>
      <p:sp>
        <p:nvSpPr>
          <p:cNvPr id="34" name="Text 31"/>
          <p:cNvSpPr txBox="1"/>
          <p:nvPr/>
        </p:nvSpPr>
        <p:spPr>
          <a:xfrm>
            <a:off x="457200" y="5468112"/>
            <a:ext cx="548640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情報の区分（各スライドの右上に表示）</a:t>
            </a:r>
            <a:endParaRPr lang="en-US" sz="1800" dirty="0"/>
          </a:p>
        </p:txBody>
      </p:sp>
      <p:sp>
        <p:nvSpPr>
          <p:cNvPr id="35" name="Text 32"/>
          <p:cNvSpPr txBox="1"/>
          <p:nvPr/>
        </p:nvSpPr>
        <p:spPr>
          <a:xfrm>
            <a:off x="457200" y="5852160"/>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36" name="Text 33"/>
          <p:cNvSpPr txBox="1"/>
          <p:nvPr/>
        </p:nvSpPr>
        <p:spPr>
          <a:xfrm>
            <a:off x="2223008" y="5852160"/>
            <a:ext cx="1833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公開口コミの集計</a:t>
            </a:r>
            <a:endParaRPr lang="ja-JP" sz="1400" dirty="0"/>
          </a:p>
        </p:txBody>
      </p:sp>
      <p:sp>
        <p:nvSpPr>
          <p:cNvPr id="37" name="Text 34"/>
          <p:cNvSpPr txBox="1"/>
          <p:nvPr/>
        </p:nvSpPr>
        <p:spPr>
          <a:xfrm>
            <a:off x="4166616" y="5852160"/>
            <a:ext cx="2232152" cy="310896"/>
          </a:xfrm>
          <a:prstGeom prst="roundRect">
            <a:avLst>
              <a:gd name="adj" fmla="val 50000"/>
            </a:avLst>
          </a:prstGeom>
          <a:solidFill>
            <a:srgbClr val="E6E1F7"/>
          </a:solidFill>
          <a:ln w="9525">
            <a:solidFill>
              <a:srgbClr val="3B2A8C"/>
            </a:solidFill>
          </a:ln>
        </p:spPr>
        <p:txBody>
          <a:bodyPr wrap="square" lIns="0" tIns="0" rIns="0" bIns="0" rtlCol="0" anchor="ctr"/>
          <a:lstStyle/>
          <a:p>
            <a:pPr algn="ctr" indent="0" marL="0">
              <a:buNone/>
            </a:pPr>
            <a:r>
              <a:rPr lang="ja-JP" altLang="en-US" sz="1400" b="1" dirty="0">
                <a:solidFill>
                  <a:srgbClr val="3B2A8C"/>
                </a:solidFill>
                <a:latin typeface="Yu Gothic" pitchFamily="34" charset="0"/>
                <a:ea typeface="Yu Gothic" pitchFamily="34" charset="-122"/>
                <a:cs typeface="Yu Gothic" pitchFamily="34" charset="-120"/>
              </a:rPr>
              <a:t>OB訪問で聞いた個別例</a:t>
            </a:r>
            <a:endParaRPr lang="ja-JP" sz="1400" dirty="0"/>
          </a:p>
        </p:txBody>
      </p:sp>
      <p:sp>
        <p:nvSpPr>
          <p:cNvPr id="38" name="Text 35"/>
          <p:cNvSpPr txBox="1"/>
          <p:nvPr/>
        </p:nvSpPr>
        <p:spPr>
          <a:xfrm>
            <a:off x="6508496" y="5852160"/>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39" name="Text 36"/>
          <p:cNvSpPr txBox="1"/>
          <p:nvPr/>
        </p:nvSpPr>
        <p:spPr>
          <a:xfrm>
            <a:off x="7918704" y="5852160"/>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0" name="Text 37"/>
          <p:cNvSpPr txBox="1"/>
          <p:nvPr/>
        </p:nvSpPr>
        <p:spPr>
          <a:xfrm>
            <a:off x="457200" y="6236208"/>
            <a:ext cx="3611880" cy="310896"/>
          </a:xfrm>
          <a:prstGeom prst="roundRect">
            <a:avLst>
              <a:gd name="adj" fmla="val 50000"/>
            </a:avLst>
          </a:prstGeom>
          <a:solidFill>
            <a:srgbClr val="DCE8F8"/>
          </a:solidFill>
          <a:ln w="9525">
            <a:solidFill>
              <a:srgbClr val="1E3A8A"/>
            </a:solidFill>
          </a:ln>
        </p:spPr>
        <p:txBody>
          <a:bodyPr wrap="square" lIns="0" tIns="0" rIns="0" bIns="0" rtlCol="0" anchor="ctr"/>
          <a:lstStyle/>
          <a:p>
            <a:pPr algn="ctr" indent="0" marL="0">
              <a:buNone/>
            </a:pPr>
            <a:r>
              <a:rPr lang="ja-JP" altLang="en-US" sz="1400" b="1" dirty="0">
                <a:solidFill>
                  <a:srgbClr val="1E3A8A"/>
                </a:solidFill>
                <a:latin typeface="Yu Gothic" pitchFamily="34" charset="0"/>
                <a:ea typeface="Yu Gothic" pitchFamily="34" charset="-122"/>
                <a:cs typeface="Yu Gothic" pitchFamily="34" charset="-120"/>
              </a:rPr>
              <a:t>一般例（個別サービスの仕様ではない）</a:t>
            </a:r>
            <a:endParaRPr lang="ja-JP" sz="1400" dirty="0"/>
          </a:p>
        </p:txBody>
      </p:sp>
      <p:sp>
        <p:nvSpPr>
          <p:cNvPr id="41" name="Text 38"/>
          <p:cNvSpPr txBox="1"/>
          <p:nvPr/>
        </p:nvSpPr>
        <p:spPr>
          <a:xfrm>
            <a:off x="4178808" y="6236208"/>
            <a:ext cx="1478280" cy="310896"/>
          </a:xfrm>
          <a:prstGeom prst="roundRect">
            <a:avLst>
              <a:gd name="adj" fmla="val 50000"/>
            </a:avLst>
          </a:prstGeom>
          <a:solidFill>
            <a:srgbClr val="FBE3E0"/>
          </a:solidFill>
          <a:ln w="9525">
            <a:solidFill>
              <a:srgbClr val="7F1D1D"/>
            </a:solidFill>
          </a:ln>
        </p:spPr>
        <p:txBody>
          <a:bodyPr wrap="square" lIns="0" tIns="0" rIns="0" bIns="0" rtlCol="0" anchor="ctr"/>
          <a:lstStyle/>
          <a:p>
            <a:pPr algn="ctr" indent="0" marL="0">
              <a:buNone/>
            </a:pPr>
            <a:r>
              <a:rPr lang="ja-JP" altLang="en-US" sz="1400" b="1" dirty="0">
                <a:solidFill>
                  <a:srgbClr val="7F1D1D"/>
                </a:solidFill>
                <a:latin typeface="Yu Gothic" pitchFamily="34" charset="0"/>
                <a:ea typeface="Yu Gothic" pitchFamily="34" charset="-122"/>
                <a:cs typeface="Yu Gothic" pitchFamily="34" charset="-120"/>
              </a:rPr>
              <a:t>仮定の算数例</a:t>
            </a:r>
            <a:endParaRPr lang="ja-JP" sz="14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全体像</a:t>
            </a:r>
            <a:endParaRPr lang="ja-JP" sz="1400" dirty="0"/>
          </a:p>
        </p:txBody>
      </p:sp>
      <p:sp>
        <p:nvSpPr>
          <p:cNvPr id="3" name="Text 1"/>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色と表示には役割がある。同じ色は同じ意味で使う</a:t>
            </a:r>
            <a:endParaRPr lang="ja-JP" sz="3000" dirty="0"/>
          </a:p>
        </p:txBody>
      </p:sp>
      <p:sp>
        <p:nvSpPr>
          <p:cNvPr id="4" name="Text 2"/>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図の色にはルールがあります。同じ色は同じ意味（端末＝青緑、ネットワーク＝青など）です。右上のラベルは、その情報が公式か、提案かなどを示します。</a:t>
            </a:r>
            <a:endParaRPr lang="en-US" sz="1800" dirty="0"/>
          </a:p>
        </p:txBody>
      </p:sp>
      <p:sp>
        <p:nvSpPr>
          <p:cNvPr id="6" name="Shape 3"/>
          <p:cNvSpPr/>
          <p:nvPr/>
        </p:nvSpPr>
        <p:spPr>
          <a:xfrm>
            <a:off x="457200" y="1691640"/>
            <a:ext cx="5486400" cy="457200"/>
          </a:xfrm>
          <a:prstGeom prst="roundRect">
            <a:avLst>
              <a:gd name="adj" fmla="val 20000"/>
            </a:avLst>
          </a:prstGeom>
          <a:solidFill>
            <a:srgbClr val="16324F"/>
          </a:solidFill>
          <a:ln/>
        </p:spPr>
      </p:sp>
      <p:sp>
        <p:nvSpPr>
          <p:cNvPr id="7" name="Text 4"/>
          <p:cNvSpPr txBox="1"/>
          <p:nvPr/>
        </p:nvSpPr>
        <p:spPr>
          <a:xfrm>
            <a:off x="548640" y="1691640"/>
            <a:ext cx="530352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図の色（役割）</a:t>
            </a:r>
            <a:endParaRPr lang="en-US" sz="2000" dirty="0"/>
          </a:p>
        </p:txBody>
      </p:sp>
      <p:sp>
        <p:nvSpPr>
          <p:cNvPr id="8" name="Shape 5"/>
          <p:cNvSpPr/>
          <p:nvPr/>
        </p:nvSpPr>
        <p:spPr>
          <a:xfrm>
            <a:off x="457200" y="2286000"/>
            <a:ext cx="5486400" cy="585216"/>
          </a:xfrm>
          <a:prstGeom prst="roundRect">
            <a:avLst>
              <a:gd name="adj" fmla="val 18750"/>
            </a:avLst>
          </a:prstGeom>
          <a:solidFill>
            <a:srgbClr val="D9F2F1"/>
          </a:solidFill>
          <a:ln w="25400">
            <a:solidFill>
              <a:srgbClr val="0B7A7A"/>
            </a:solidFill>
            <a:prstDash val="solid"/>
          </a:ln>
        </p:spPr>
      </p:sp>
      <p:sp>
        <p:nvSpPr>
          <p:cNvPr id="9" name="Shape 6"/>
          <p:cNvSpPr/>
          <p:nvPr/>
        </p:nvSpPr>
        <p:spPr>
          <a:xfrm>
            <a:off x="585216" y="2377440"/>
            <a:ext cx="402336" cy="402336"/>
          </a:xfrm>
          <a:prstGeom prst="ellipse">
            <a:avLst/>
          </a:prstGeom>
          <a:solidFill>
            <a:srgbClr val="0B7A7A"/>
          </a:solidFill>
          <a:ln/>
        </p:spPr>
      </p:sp>
      <p:pic>
        <p:nvPicPr>
          <p:cNvPr id="10" name="Image 0" descr="preencoded.png">    </p:cNvPr>
          <p:cNvPicPr>
            <a:picLocks noChangeAspect="1"/>
          </p:cNvPicPr>
          <p:nvPr/>
        </p:nvPicPr>
        <p:blipFill>
          <a:blip r:embed="rId1"/>
          <a:stretch>
            <a:fillRect/>
          </a:stretch>
        </p:blipFill>
        <p:spPr>
          <a:xfrm>
            <a:off x="673730" y="2465954"/>
            <a:ext cx="225308" cy="225308"/>
          </a:xfrm>
          <a:prstGeom prst="rect">
            <a:avLst/>
          </a:prstGeom>
        </p:spPr>
      </p:pic>
      <p:sp>
        <p:nvSpPr>
          <p:cNvPr id="11" name="Text 7"/>
          <p:cNvSpPr txBox="1"/>
          <p:nvPr/>
        </p:nvSpPr>
        <p:spPr>
          <a:xfrm>
            <a:off x="1078992" y="2286000"/>
            <a:ext cx="4773168" cy="58521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端末・利用者</a:t>
            </a:r>
            <a:endParaRPr lang="en-US" sz="2000" dirty="0"/>
          </a:p>
        </p:txBody>
      </p:sp>
      <p:sp>
        <p:nvSpPr>
          <p:cNvPr id="12" name="Shape 8"/>
          <p:cNvSpPr/>
          <p:nvPr/>
        </p:nvSpPr>
        <p:spPr>
          <a:xfrm>
            <a:off x="457200" y="2944368"/>
            <a:ext cx="5486400" cy="585216"/>
          </a:xfrm>
          <a:prstGeom prst="roundRect">
            <a:avLst>
              <a:gd name="adj" fmla="val 18750"/>
            </a:avLst>
          </a:prstGeom>
          <a:solidFill>
            <a:srgbClr val="DCE8F8"/>
          </a:solidFill>
          <a:ln w="25400">
            <a:solidFill>
              <a:srgbClr val="2F6BC2"/>
            </a:solidFill>
            <a:prstDash val="solid"/>
          </a:ln>
        </p:spPr>
      </p:sp>
      <p:sp>
        <p:nvSpPr>
          <p:cNvPr id="13" name="Shape 9"/>
          <p:cNvSpPr/>
          <p:nvPr/>
        </p:nvSpPr>
        <p:spPr>
          <a:xfrm>
            <a:off x="585216" y="3035808"/>
            <a:ext cx="402336" cy="402336"/>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73730" y="3124322"/>
            <a:ext cx="225308" cy="225308"/>
          </a:xfrm>
          <a:prstGeom prst="rect">
            <a:avLst/>
          </a:prstGeom>
        </p:spPr>
      </p:pic>
      <p:sp>
        <p:nvSpPr>
          <p:cNvPr id="15" name="Text 10"/>
          <p:cNvSpPr txBox="1"/>
          <p:nvPr/>
        </p:nvSpPr>
        <p:spPr>
          <a:xfrm>
            <a:off x="1078992" y="2944368"/>
            <a:ext cx="4773168" cy="58521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ネットワーク・通信経路</a:t>
            </a:r>
            <a:endParaRPr lang="en-US" sz="2000" dirty="0"/>
          </a:p>
        </p:txBody>
      </p:sp>
      <p:sp>
        <p:nvSpPr>
          <p:cNvPr id="16" name="Shape 11"/>
          <p:cNvSpPr/>
          <p:nvPr/>
        </p:nvSpPr>
        <p:spPr>
          <a:xfrm>
            <a:off x="457200" y="3602736"/>
            <a:ext cx="5486400" cy="585216"/>
          </a:xfrm>
          <a:prstGeom prst="roundRect">
            <a:avLst>
              <a:gd name="adj" fmla="val 18750"/>
            </a:avLst>
          </a:prstGeom>
          <a:solidFill>
            <a:srgbClr val="E6E1F7"/>
          </a:solidFill>
          <a:ln w="25400">
            <a:solidFill>
              <a:srgbClr val="5B46B8"/>
            </a:solidFill>
            <a:prstDash val="solid"/>
          </a:ln>
        </p:spPr>
      </p:sp>
      <p:sp>
        <p:nvSpPr>
          <p:cNvPr id="17" name="Shape 12"/>
          <p:cNvSpPr/>
          <p:nvPr/>
        </p:nvSpPr>
        <p:spPr>
          <a:xfrm>
            <a:off x="585216" y="3694176"/>
            <a:ext cx="402336" cy="402336"/>
          </a:xfrm>
          <a:prstGeom prst="ellipse">
            <a:avLst/>
          </a:prstGeom>
          <a:solidFill>
            <a:srgbClr val="5B46B8"/>
          </a:solidFill>
          <a:ln/>
        </p:spPr>
      </p:sp>
      <p:pic>
        <p:nvPicPr>
          <p:cNvPr id="18" name="Image 2" descr="preencoded.png">    </p:cNvPr>
          <p:cNvPicPr>
            <a:picLocks noChangeAspect="1"/>
          </p:cNvPicPr>
          <p:nvPr/>
        </p:nvPicPr>
        <p:blipFill>
          <a:blip r:embed="rId3"/>
          <a:stretch>
            <a:fillRect/>
          </a:stretch>
        </p:blipFill>
        <p:spPr>
          <a:xfrm>
            <a:off x="673730" y="3782690"/>
            <a:ext cx="225308" cy="225308"/>
          </a:xfrm>
          <a:prstGeom prst="rect">
            <a:avLst/>
          </a:prstGeom>
        </p:spPr>
      </p:pic>
      <p:sp>
        <p:nvSpPr>
          <p:cNvPr id="19" name="Text 13"/>
          <p:cNvSpPr txBox="1"/>
          <p:nvPr/>
        </p:nvSpPr>
        <p:spPr>
          <a:xfrm>
            <a:off x="1078992" y="3602736"/>
            <a:ext cx="4773168" cy="58521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サーバー・サービス・AI基盤</a:t>
            </a:r>
            <a:endParaRPr lang="en-US" sz="2000" dirty="0"/>
          </a:p>
        </p:txBody>
      </p:sp>
      <p:sp>
        <p:nvSpPr>
          <p:cNvPr id="20" name="Shape 14"/>
          <p:cNvSpPr/>
          <p:nvPr/>
        </p:nvSpPr>
        <p:spPr>
          <a:xfrm>
            <a:off x="457200" y="4261104"/>
            <a:ext cx="5486400" cy="585216"/>
          </a:xfrm>
          <a:prstGeom prst="roundRect">
            <a:avLst>
              <a:gd name="adj" fmla="val 18750"/>
            </a:avLst>
          </a:prstGeom>
          <a:solidFill>
            <a:srgbClr val="FDEBD0"/>
          </a:solidFill>
          <a:ln w="25400">
            <a:solidFill>
              <a:srgbClr val="B45309"/>
            </a:solidFill>
            <a:prstDash val="dash"/>
          </a:ln>
        </p:spPr>
      </p:sp>
      <p:sp>
        <p:nvSpPr>
          <p:cNvPr id="21" name="Shape 15"/>
          <p:cNvSpPr/>
          <p:nvPr/>
        </p:nvSpPr>
        <p:spPr>
          <a:xfrm>
            <a:off x="585216" y="4352544"/>
            <a:ext cx="402336" cy="402336"/>
          </a:xfrm>
          <a:prstGeom prst="ellipse">
            <a:avLst/>
          </a:prstGeom>
          <a:solidFill>
            <a:srgbClr val="B45309"/>
          </a:solidFill>
          <a:ln/>
        </p:spPr>
      </p:sp>
      <p:pic>
        <p:nvPicPr>
          <p:cNvPr id="22" name="Image 3" descr="preencoded.png">    </p:cNvPr>
          <p:cNvPicPr>
            <a:picLocks noChangeAspect="1"/>
          </p:cNvPicPr>
          <p:nvPr/>
        </p:nvPicPr>
        <p:blipFill>
          <a:blip r:embed="rId4"/>
          <a:stretch>
            <a:fillRect/>
          </a:stretch>
        </p:blipFill>
        <p:spPr>
          <a:xfrm>
            <a:off x="673730" y="4441058"/>
            <a:ext cx="225308" cy="225308"/>
          </a:xfrm>
          <a:prstGeom prst="rect">
            <a:avLst/>
          </a:prstGeom>
        </p:spPr>
      </p:pic>
      <p:sp>
        <p:nvSpPr>
          <p:cNvPr id="23" name="Text 16"/>
          <p:cNvSpPr txBox="1"/>
          <p:nvPr/>
        </p:nvSpPr>
        <p:spPr>
          <a:xfrm>
            <a:off x="1078992" y="4261104"/>
            <a:ext cx="4773168" cy="58521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管理・補助通信（破線）</a:t>
            </a:r>
            <a:endParaRPr lang="en-US" sz="2000" dirty="0"/>
          </a:p>
        </p:txBody>
      </p:sp>
      <p:sp>
        <p:nvSpPr>
          <p:cNvPr id="24" name="Shape 17"/>
          <p:cNvSpPr/>
          <p:nvPr/>
        </p:nvSpPr>
        <p:spPr>
          <a:xfrm>
            <a:off x="457200" y="4919472"/>
            <a:ext cx="5486400" cy="585216"/>
          </a:xfrm>
          <a:prstGeom prst="roundRect">
            <a:avLst>
              <a:gd name="adj" fmla="val 18750"/>
            </a:avLst>
          </a:prstGeom>
          <a:solidFill>
            <a:srgbClr val="DDF1E4"/>
          </a:solidFill>
          <a:ln w="25400">
            <a:solidFill>
              <a:srgbClr val="237A48"/>
            </a:solidFill>
            <a:prstDash val="solid"/>
          </a:ln>
        </p:spPr>
      </p:sp>
      <p:sp>
        <p:nvSpPr>
          <p:cNvPr id="25" name="Shape 18"/>
          <p:cNvSpPr/>
          <p:nvPr/>
        </p:nvSpPr>
        <p:spPr>
          <a:xfrm>
            <a:off x="585216" y="5010912"/>
            <a:ext cx="402336" cy="402336"/>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73730" y="5099426"/>
            <a:ext cx="225308" cy="225308"/>
          </a:xfrm>
          <a:prstGeom prst="rect">
            <a:avLst/>
          </a:prstGeom>
        </p:spPr>
      </p:pic>
      <p:sp>
        <p:nvSpPr>
          <p:cNvPr id="27" name="Text 19"/>
          <p:cNvSpPr txBox="1"/>
          <p:nvPr/>
        </p:nvSpPr>
        <p:spPr>
          <a:xfrm>
            <a:off x="1078992" y="4919472"/>
            <a:ext cx="4773168" cy="58521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暗号化・安全</a:t>
            </a:r>
            <a:endParaRPr lang="en-US" sz="2000" dirty="0"/>
          </a:p>
        </p:txBody>
      </p:sp>
      <p:sp>
        <p:nvSpPr>
          <p:cNvPr id="28" name="Shape 20"/>
          <p:cNvSpPr/>
          <p:nvPr/>
        </p:nvSpPr>
        <p:spPr>
          <a:xfrm>
            <a:off x="457200" y="5577840"/>
            <a:ext cx="5486400" cy="585216"/>
          </a:xfrm>
          <a:prstGeom prst="roundRect">
            <a:avLst>
              <a:gd name="adj" fmla="val 18750"/>
            </a:avLst>
          </a:prstGeom>
          <a:solidFill>
            <a:srgbClr val="FBE3E0"/>
          </a:solidFill>
          <a:ln w="25400">
            <a:solidFill>
              <a:srgbClr val="C0392B"/>
            </a:solidFill>
            <a:prstDash val="solid"/>
          </a:ln>
        </p:spPr>
      </p:sp>
      <p:sp>
        <p:nvSpPr>
          <p:cNvPr id="29" name="Shape 21"/>
          <p:cNvSpPr/>
          <p:nvPr/>
        </p:nvSpPr>
        <p:spPr>
          <a:xfrm>
            <a:off x="585216" y="5669280"/>
            <a:ext cx="402336" cy="402336"/>
          </a:xfrm>
          <a:prstGeom prst="ellipse">
            <a:avLst/>
          </a:prstGeom>
          <a:solidFill>
            <a:srgbClr val="C0392B"/>
          </a:solidFill>
          <a:ln/>
        </p:spPr>
      </p:sp>
      <p:pic>
        <p:nvPicPr>
          <p:cNvPr id="30" name="Image 5" descr="preencoded.png">    </p:cNvPr>
          <p:cNvPicPr>
            <a:picLocks noChangeAspect="1"/>
          </p:cNvPicPr>
          <p:nvPr/>
        </p:nvPicPr>
        <p:blipFill>
          <a:blip r:embed="rId6"/>
          <a:stretch>
            <a:fillRect/>
          </a:stretch>
        </p:blipFill>
        <p:spPr>
          <a:xfrm>
            <a:off x="673730" y="5757794"/>
            <a:ext cx="225308" cy="225308"/>
          </a:xfrm>
          <a:prstGeom prst="rect">
            <a:avLst/>
          </a:prstGeom>
        </p:spPr>
      </p:pic>
      <p:sp>
        <p:nvSpPr>
          <p:cNvPr id="31" name="Text 22"/>
          <p:cNvSpPr txBox="1"/>
          <p:nvPr/>
        </p:nvSpPr>
        <p:spPr>
          <a:xfrm>
            <a:off x="1078992" y="5577840"/>
            <a:ext cx="4773168" cy="58521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注意・よくある誤解</a:t>
            </a:r>
            <a:endParaRPr lang="en-US" sz="2000" dirty="0"/>
          </a:p>
        </p:txBody>
      </p:sp>
      <p:sp>
        <p:nvSpPr>
          <p:cNvPr id="32" name="Shape 23"/>
          <p:cNvSpPr/>
          <p:nvPr/>
        </p:nvSpPr>
        <p:spPr>
          <a:xfrm>
            <a:off x="6263640" y="1691640"/>
            <a:ext cx="5486400" cy="457200"/>
          </a:xfrm>
          <a:prstGeom prst="roundRect">
            <a:avLst>
              <a:gd name="adj" fmla="val 20000"/>
            </a:avLst>
          </a:prstGeom>
          <a:solidFill>
            <a:srgbClr val="16324F"/>
          </a:solidFill>
          <a:ln/>
        </p:spPr>
      </p:sp>
      <p:sp>
        <p:nvSpPr>
          <p:cNvPr id="33" name="Text 24"/>
          <p:cNvSpPr txBox="1"/>
          <p:nvPr/>
        </p:nvSpPr>
        <p:spPr>
          <a:xfrm>
            <a:off x="6355080" y="1691640"/>
            <a:ext cx="530352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例示アドレスの決まり</a:t>
            </a:r>
            <a:endParaRPr lang="en-US" sz="2000" dirty="0"/>
          </a:p>
        </p:txBody>
      </p:sp>
      <p:sp>
        <p:nvSpPr>
          <p:cNvPr id="34" name="Shape 25"/>
          <p:cNvSpPr/>
          <p:nvPr/>
        </p:nvSpPr>
        <p:spPr>
          <a:xfrm>
            <a:off x="6263640" y="2286000"/>
            <a:ext cx="5486400" cy="1783080"/>
          </a:xfrm>
          <a:prstGeom prst="roundRect">
            <a:avLst>
              <a:gd name="adj" fmla="val 7179"/>
            </a:avLst>
          </a:prstGeom>
          <a:solidFill>
            <a:srgbClr val="D9F2F1"/>
          </a:solidFill>
          <a:ln/>
        </p:spPr>
      </p:sp>
      <p:sp>
        <p:nvSpPr>
          <p:cNvPr id="35" name="Shape 26"/>
          <p:cNvSpPr/>
          <p:nvPr/>
        </p:nvSpPr>
        <p:spPr>
          <a:xfrm>
            <a:off x="6428232" y="2414016"/>
            <a:ext cx="512064" cy="512064"/>
          </a:xfrm>
          <a:prstGeom prst="ellipse">
            <a:avLst/>
          </a:prstGeom>
          <a:solidFill>
            <a:srgbClr val="0B7A7A"/>
          </a:solidFill>
          <a:ln/>
        </p:spPr>
      </p:sp>
      <p:pic>
        <p:nvPicPr>
          <p:cNvPr id="36" name="Image 6" descr="preencoded.png">    </p:cNvPr>
          <p:cNvPicPr>
            <a:picLocks noChangeAspect="1"/>
          </p:cNvPicPr>
          <p:nvPr/>
        </p:nvPicPr>
        <p:blipFill>
          <a:blip r:embed="rId7"/>
          <a:stretch>
            <a:fillRect/>
          </a:stretch>
        </p:blipFill>
        <p:spPr>
          <a:xfrm>
            <a:off x="6540886" y="2526670"/>
            <a:ext cx="286756" cy="286756"/>
          </a:xfrm>
          <a:prstGeom prst="rect">
            <a:avLst/>
          </a:prstGeom>
        </p:spPr>
      </p:pic>
      <p:sp>
        <p:nvSpPr>
          <p:cNvPr id="37" name="Text 27"/>
          <p:cNvSpPr txBox="1"/>
          <p:nvPr/>
        </p:nvSpPr>
        <p:spPr>
          <a:xfrm>
            <a:off x="7050024" y="2414016"/>
            <a:ext cx="456285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プライベートIP</a:t>
            </a:r>
            <a:endParaRPr lang="en-US" sz="2200" dirty="0"/>
          </a:p>
        </p:txBody>
      </p:sp>
      <p:sp>
        <p:nvSpPr>
          <p:cNvPr id="38" name="Text 28"/>
          <p:cNvSpPr txBox="1"/>
          <p:nvPr/>
        </p:nvSpPr>
        <p:spPr>
          <a:xfrm>
            <a:off x="6446520" y="3017520"/>
            <a:ext cx="5120640" cy="96012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192.168.x.x：家の中の住所</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外のネットワークには直接出ない</a:t>
            </a:r>
            <a:endParaRPr lang="en-US" sz="2000" dirty="0"/>
          </a:p>
        </p:txBody>
      </p:sp>
      <p:sp>
        <p:nvSpPr>
          <p:cNvPr id="39" name="Shape 29"/>
          <p:cNvSpPr/>
          <p:nvPr/>
        </p:nvSpPr>
        <p:spPr>
          <a:xfrm>
            <a:off x="6263640" y="4160520"/>
            <a:ext cx="5486400" cy="2103120"/>
          </a:xfrm>
          <a:prstGeom prst="roundRect">
            <a:avLst>
              <a:gd name="adj" fmla="val 6087"/>
            </a:avLst>
          </a:prstGeom>
          <a:solidFill>
            <a:srgbClr val="DCE8F8"/>
          </a:solidFill>
          <a:ln/>
        </p:spPr>
      </p:sp>
      <p:sp>
        <p:nvSpPr>
          <p:cNvPr id="40" name="Shape 30"/>
          <p:cNvSpPr/>
          <p:nvPr/>
        </p:nvSpPr>
        <p:spPr>
          <a:xfrm>
            <a:off x="6428232" y="4288536"/>
            <a:ext cx="512064" cy="512064"/>
          </a:xfrm>
          <a:prstGeom prst="ellipse">
            <a:avLst/>
          </a:prstGeom>
          <a:solidFill>
            <a:srgbClr val="2F6BC2"/>
          </a:solidFill>
          <a:ln/>
        </p:spPr>
      </p:sp>
      <p:pic>
        <p:nvPicPr>
          <p:cNvPr id="41" name="Image 7" descr="preencoded.png">    </p:cNvPr>
          <p:cNvPicPr>
            <a:picLocks noChangeAspect="1"/>
          </p:cNvPicPr>
          <p:nvPr/>
        </p:nvPicPr>
        <p:blipFill>
          <a:blip r:embed="rId8"/>
          <a:stretch>
            <a:fillRect/>
          </a:stretch>
        </p:blipFill>
        <p:spPr>
          <a:xfrm>
            <a:off x="6540886" y="4401190"/>
            <a:ext cx="286756" cy="286756"/>
          </a:xfrm>
          <a:prstGeom prst="rect">
            <a:avLst/>
          </a:prstGeom>
        </p:spPr>
      </p:pic>
      <p:sp>
        <p:nvSpPr>
          <p:cNvPr id="42" name="Text 31"/>
          <p:cNvSpPr txBox="1"/>
          <p:nvPr/>
        </p:nvSpPr>
        <p:spPr>
          <a:xfrm>
            <a:off x="7050024" y="4288536"/>
            <a:ext cx="456285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文書用アドレス</a:t>
            </a:r>
            <a:endParaRPr lang="en-US" sz="2200" dirty="0"/>
          </a:p>
        </p:txBody>
      </p:sp>
      <p:sp>
        <p:nvSpPr>
          <p:cNvPr id="43" name="Text 32"/>
          <p:cNvSpPr txBox="1"/>
          <p:nvPr/>
        </p:nvSpPr>
        <p:spPr>
          <a:xfrm>
            <a:off x="6446520" y="4892040"/>
            <a:ext cx="5120640" cy="1280160"/>
          </a:xfrm>
          <a:prstGeom prst="rect">
            <a:avLst/>
          </a:prstGeom>
          <a:noFill/>
          <a:ln/>
        </p:spPr>
        <p:txBody>
          <a:bodyPr wrap="square" lIns="0" tIns="0" rIns="0" bIns="0" rtlCol="0" anchor="t"/>
          <a:lstStyle/>
          <a:p>
            <a:pPr algn="l" marL="279400" indent="-279400">
              <a:lnSpc>
                <a:spcPts val="2600"/>
              </a:lnSpc>
              <a:spcAft>
                <a:spcPts val="2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203.0.113.x／198.51.100.x：説明専用</a:t>
            </a:r>
            <a:endParaRPr lang="en-US" sz="2000" dirty="0"/>
          </a:p>
          <a:p>
            <a:pPr algn="l" marL="279400" indent="-279400">
              <a:lnSpc>
                <a:spcPts val="2600"/>
              </a:lnSpc>
              <a:spcAft>
                <a:spcPts val="2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実在の機器・ChatGPTの住所ではない</a:t>
            </a:r>
            <a:endParaRPr lang="en-US" sz="2000" dirty="0"/>
          </a:p>
          <a:p>
            <a:pPr algn="l" marL="279400" indent="-279400">
              <a:lnSpc>
                <a:spcPts val="2600"/>
              </a:lnSpc>
              <a:spcAft>
                <a:spcPts val="2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IPv4のNAPTとIPv6は別の例</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全体像</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ネットワーク・サーバー・クラウドは別の分類の言葉</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IT用語は同じ種類の言葉ではありません。積み重なる「層」と、それを借りる「提供方式（クラウド）」に分けて整理すると、混乱しなくなります。</a:t>
            </a:r>
            <a:endParaRPr lang="en-US" sz="1800" dirty="0"/>
          </a:p>
        </p:txBody>
      </p:sp>
      <p:sp>
        <p:nvSpPr>
          <p:cNvPr id="7" name="Shape 4"/>
          <p:cNvSpPr/>
          <p:nvPr/>
        </p:nvSpPr>
        <p:spPr>
          <a:xfrm>
            <a:off x="457200" y="1737360"/>
            <a:ext cx="2103120" cy="676656"/>
          </a:xfrm>
          <a:prstGeom prst="roundRect">
            <a:avLst>
              <a:gd name="adj" fmla="val 16216"/>
            </a:avLst>
          </a:prstGeom>
          <a:solidFill>
            <a:srgbClr val="5B46B8"/>
          </a:solidFill>
          <a:ln/>
        </p:spPr>
      </p:sp>
      <p:sp>
        <p:nvSpPr>
          <p:cNvPr id="8" name="Text 5"/>
          <p:cNvSpPr txBox="1"/>
          <p:nvPr/>
        </p:nvSpPr>
        <p:spPr>
          <a:xfrm>
            <a:off x="548640" y="1737360"/>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a:t>
            </a:r>
            <a:endParaRPr lang="en-US" sz="2000" dirty="0"/>
          </a:p>
        </p:txBody>
      </p:sp>
      <p:sp>
        <p:nvSpPr>
          <p:cNvPr id="9" name="Shape 6"/>
          <p:cNvSpPr/>
          <p:nvPr/>
        </p:nvSpPr>
        <p:spPr>
          <a:xfrm>
            <a:off x="2651760" y="1737360"/>
            <a:ext cx="5120640" cy="676656"/>
          </a:xfrm>
          <a:prstGeom prst="roundRect">
            <a:avLst>
              <a:gd name="adj" fmla="val 16216"/>
            </a:avLst>
          </a:prstGeom>
          <a:solidFill>
            <a:srgbClr val="E6E1F7"/>
          </a:solidFill>
          <a:ln w="25400">
            <a:solidFill>
              <a:srgbClr val="5B46B8"/>
            </a:solidFill>
            <a:prstDash val="solid"/>
          </a:ln>
        </p:spPr>
      </p:sp>
      <p:sp>
        <p:nvSpPr>
          <p:cNvPr id="10" name="Text 7"/>
          <p:cNvSpPr txBox="1"/>
          <p:nvPr/>
        </p:nvSpPr>
        <p:spPr>
          <a:xfrm>
            <a:off x="2743200" y="1737360"/>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OSの上で機能を提供（ブラウザー・ゲーム）</a:t>
            </a:r>
            <a:endParaRPr lang="en-US" sz="1800" dirty="0"/>
          </a:p>
        </p:txBody>
      </p:sp>
      <p:sp>
        <p:nvSpPr>
          <p:cNvPr id="11" name="Shape 8"/>
          <p:cNvSpPr/>
          <p:nvPr/>
        </p:nvSpPr>
        <p:spPr>
          <a:xfrm>
            <a:off x="457200" y="2496312"/>
            <a:ext cx="2103120" cy="676656"/>
          </a:xfrm>
          <a:prstGeom prst="roundRect">
            <a:avLst>
              <a:gd name="adj" fmla="val 16216"/>
            </a:avLst>
          </a:prstGeom>
          <a:solidFill>
            <a:srgbClr val="5B46B8"/>
          </a:solidFill>
          <a:ln/>
        </p:spPr>
      </p:sp>
      <p:sp>
        <p:nvSpPr>
          <p:cNvPr id="12" name="Text 9"/>
          <p:cNvSpPr txBox="1"/>
          <p:nvPr/>
        </p:nvSpPr>
        <p:spPr>
          <a:xfrm>
            <a:off x="548640" y="2496312"/>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OS</a:t>
            </a:r>
            <a:endParaRPr lang="en-US" sz="2000" dirty="0"/>
          </a:p>
        </p:txBody>
      </p:sp>
      <p:sp>
        <p:nvSpPr>
          <p:cNvPr id="13" name="Shape 10"/>
          <p:cNvSpPr/>
          <p:nvPr/>
        </p:nvSpPr>
        <p:spPr>
          <a:xfrm>
            <a:off x="2651760" y="2496312"/>
            <a:ext cx="5120640" cy="676656"/>
          </a:xfrm>
          <a:prstGeom prst="roundRect">
            <a:avLst>
              <a:gd name="adj" fmla="val 16216"/>
            </a:avLst>
          </a:prstGeom>
          <a:solidFill>
            <a:srgbClr val="E6E1F7"/>
          </a:solidFill>
          <a:ln w="25400">
            <a:solidFill>
              <a:srgbClr val="5B46B8"/>
            </a:solidFill>
            <a:prstDash val="solid"/>
          </a:ln>
        </p:spPr>
      </p:sp>
      <p:sp>
        <p:nvSpPr>
          <p:cNvPr id="14" name="Text 11"/>
          <p:cNvSpPr txBox="1"/>
          <p:nvPr/>
        </p:nvSpPr>
        <p:spPr>
          <a:xfrm>
            <a:off x="2743200" y="2496312"/>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部品とプログラムを管理（Windows・Linux・iOS）</a:t>
            </a:r>
            <a:endParaRPr lang="en-US" sz="1800" dirty="0"/>
          </a:p>
        </p:txBody>
      </p:sp>
      <p:sp>
        <p:nvSpPr>
          <p:cNvPr id="15" name="Shape 12"/>
          <p:cNvSpPr/>
          <p:nvPr/>
        </p:nvSpPr>
        <p:spPr>
          <a:xfrm>
            <a:off x="457200" y="3255264"/>
            <a:ext cx="2103120" cy="676656"/>
          </a:xfrm>
          <a:prstGeom prst="roundRect">
            <a:avLst>
              <a:gd name="adj" fmla="val 16216"/>
            </a:avLst>
          </a:prstGeom>
          <a:solidFill>
            <a:srgbClr val="5B46B8"/>
          </a:solidFill>
          <a:ln/>
        </p:spPr>
      </p:sp>
      <p:sp>
        <p:nvSpPr>
          <p:cNvPr id="16" name="Text 13"/>
          <p:cNvSpPr txBox="1"/>
          <p:nvPr/>
        </p:nvSpPr>
        <p:spPr>
          <a:xfrm>
            <a:off x="548640" y="3255264"/>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サーバー</a:t>
            </a:r>
            <a:endParaRPr lang="en-US" sz="2000" dirty="0"/>
          </a:p>
        </p:txBody>
      </p:sp>
      <p:sp>
        <p:nvSpPr>
          <p:cNvPr id="17" name="Shape 14"/>
          <p:cNvSpPr/>
          <p:nvPr/>
        </p:nvSpPr>
        <p:spPr>
          <a:xfrm>
            <a:off x="2651760" y="3255264"/>
            <a:ext cx="5120640" cy="676656"/>
          </a:xfrm>
          <a:prstGeom prst="roundRect">
            <a:avLst>
              <a:gd name="adj" fmla="val 16216"/>
            </a:avLst>
          </a:prstGeom>
          <a:solidFill>
            <a:srgbClr val="E6E1F7"/>
          </a:solidFill>
          <a:ln w="25400">
            <a:solidFill>
              <a:srgbClr val="5B46B8"/>
            </a:solidFill>
            <a:prstDash val="solid"/>
          </a:ln>
        </p:spPr>
      </p:sp>
      <p:sp>
        <p:nvSpPr>
          <p:cNvPr id="18" name="Text 15"/>
          <p:cNvSpPr txBox="1"/>
          <p:nvPr/>
        </p:nvSpPr>
        <p:spPr>
          <a:xfrm>
            <a:off x="2743200" y="3255264"/>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要求に応じて情報や処理を返す「役割」</a:t>
            </a:r>
            <a:endParaRPr lang="en-US" sz="1800" dirty="0"/>
          </a:p>
        </p:txBody>
      </p:sp>
      <p:sp>
        <p:nvSpPr>
          <p:cNvPr id="19" name="Shape 16"/>
          <p:cNvSpPr/>
          <p:nvPr/>
        </p:nvSpPr>
        <p:spPr>
          <a:xfrm>
            <a:off x="457200" y="4014216"/>
            <a:ext cx="2103120" cy="676656"/>
          </a:xfrm>
          <a:prstGeom prst="roundRect">
            <a:avLst>
              <a:gd name="adj" fmla="val 16216"/>
            </a:avLst>
          </a:prstGeom>
          <a:solidFill>
            <a:srgbClr val="5B46B8"/>
          </a:solidFill>
          <a:ln/>
        </p:spPr>
      </p:sp>
      <p:sp>
        <p:nvSpPr>
          <p:cNvPr id="20" name="Text 17"/>
          <p:cNvSpPr txBox="1"/>
          <p:nvPr/>
        </p:nvSpPr>
        <p:spPr>
          <a:xfrm>
            <a:off x="548640" y="4014216"/>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ストレージ</a:t>
            </a:r>
            <a:endParaRPr lang="en-US" sz="2000" dirty="0"/>
          </a:p>
        </p:txBody>
      </p:sp>
      <p:sp>
        <p:nvSpPr>
          <p:cNvPr id="21" name="Shape 18"/>
          <p:cNvSpPr/>
          <p:nvPr/>
        </p:nvSpPr>
        <p:spPr>
          <a:xfrm>
            <a:off x="2651760" y="4014216"/>
            <a:ext cx="5120640" cy="676656"/>
          </a:xfrm>
          <a:prstGeom prst="roundRect">
            <a:avLst>
              <a:gd name="adj" fmla="val 16216"/>
            </a:avLst>
          </a:prstGeom>
          <a:solidFill>
            <a:srgbClr val="E6E1F7"/>
          </a:solidFill>
          <a:ln w="25400">
            <a:solidFill>
              <a:srgbClr val="5B46B8"/>
            </a:solidFill>
            <a:prstDash val="solid"/>
          </a:ln>
        </p:spPr>
      </p:sp>
      <p:sp>
        <p:nvSpPr>
          <p:cNvPr id="22" name="Text 19"/>
          <p:cNvSpPr txBox="1"/>
          <p:nvPr/>
        </p:nvSpPr>
        <p:spPr>
          <a:xfrm>
            <a:off x="2743200" y="4014216"/>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データを保存（SSD・HDD・クラウド保存）</a:t>
            </a:r>
            <a:endParaRPr lang="en-US" sz="1800" dirty="0"/>
          </a:p>
        </p:txBody>
      </p:sp>
      <p:sp>
        <p:nvSpPr>
          <p:cNvPr id="23" name="Shape 20"/>
          <p:cNvSpPr/>
          <p:nvPr/>
        </p:nvSpPr>
        <p:spPr>
          <a:xfrm>
            <a:off x="457200" y="4773168"/>
            <a:ext cx="2103120" cy="676656"/>
          </a:xfrm>
          <a:prstGeom prst="roundRect">
            <a:avLst>
              <a:gd name="adj" fmla="val 16216"/>
            </a:avLst>
          </a:prstGeom>
          <a:solidFill>
            <a:srgbClr val="2F6BC2"/>
          </a:solidFill>
          <a:ln/>
        </p:spPr>
      </p:sp>
      <p:sp>
        <p:nvSpPr>
          <p:cNvPr id="24" name="Text 21"/>
          <p:cNvSpPr txBox="1"/>
          <p:nvPr/>
        </p:nvSpPr>
        <p:spPr>
          <a:xfrm>
            <a:off x="548640" y="4773168"/>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ネットワーク</a:t>
            </a:r>
            <a:endParaRPr lang="en-US" sz="2000" dirty="0"/>
          </a:p>
        </p:txBody>
      </p:sp>
      <p:sp>
        <p:nvSpPr>
          <p:cNvPr id="25" name="Shape 22"/>
          <p:cNvSpPr/>
          <p:nvPr/>
        </p:nvSpPr>
        <p:spPr>
          <a:xfrm>
            <a:off x="2651760" y="4773168"/>
            <a:ext cx="5120640" cy="676656"/>
          </a:xfrm>
          <a:prstGeom prst="roundRect">
            <a:avLst>
              <a:gd name="adj" fmla="val 16216"/>
            </a:avLst>
          </a:prstGeom>
          <a:solidFill>
            <a:srgbClr val="DCE8F8"/>
          </a:solidFill>
          <a:ln w="25400">
            <a:solidFill>
              <a:srgbClr val="2F6BC2"/>
            </a:solidFill>
            <a:prstDash val="solid"/>
          </a:ln>
        </p:spPr>
      </p:sp>
      <p:sp>
        <p:nvSpPr>
          <p:cNvPr id="26" name="Text 23"/>
          <p:cNvSpPr txBox="1"/>
          <p:nvPr/>
        </p:nvSpPr>
        <p:spPr>
          <a:xfrm>
            <a:off x="2743200" y="4773168"/>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機器同士で情報をやり取りする仕組み</a:t>
            </a:r>
            <a:endParaRPr lang="en-US" sz="1800" dirty="0"/>
          </a:p>
        </p:txBody>
      </p:sp>
      <p:sp>
        <p:nvSpPr>
          <p:cNvPr id="27" name="Shape 24"/>
          <p:cNvSpPr/>
          <p:nvPr/>
        </p:nvSpPr>
        <p:spPr>
          <a:xfrm>
            <a:off x="457200" y="5532120"/>
            <a:ext cx="2103120" cy="676656"/>
          </a:xfrm>
          <a:prstGeom prst="roundRect">
            <a:avLst>
              <a:gd name="adj" fmla="val 16216"/>
            </a:avLst>
          </a:prstGeom>
          <a:solidFill>
            <a:srgbClr val="475569"/>
          </a:solidFill>
          <a:ln/>
        </p:spPr>
      </p:sp>
      <p:sp>
        <p:nvSpPr>
          <p:cNvPr id="28" name="Text 25"/>
          <p:cNvSpPr txBox="1"/>
          <p:nvPr/>
        </p:nvSpPr>
        <p:spPr>
          <a:xfrm>
            <a:off x="548640" y="5532120"/>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データセンター</a:t>
            </a:r>
            <a:endParaRPr lang="en-US" sz="2000" dirty="0"/>
          </a:p>
        </p:txBody>
      </p:sp>
      <p:sp>
        <p:nvSpPr>
          <p:cNvPr id="29" name="Shape 26"/>
          <p:cNvSpPr/>
          <p:nvPr/>
        </p:nvSpPr>
        <p:spPr>
          <a:xfrm>
            <a:off x="2651760" y="5532120"/>
            <a:ext cx="5120640" cy="676656"/>
          </a:xfrm>
          <a:prstGeom prst="roundRect">
            <a:avLst>
              <a:gd name="adj" fmla="val 16216"/>
            </a:avLst>
          </a:prstGeom>
          <a:solidFill>
            <a:srgbClr val="E2E8F0"/>
          </a:solidFill>
          <a:ln w="25400">
            <a:solidFill>
              <a:srgbClr val="475569"/>
            </a:solidFill>
            <a:prstDash val="solid"/>
          </a:ln>
        </p:spPr>
      </p:sp>
      <p:sp>
        <p:nvSpPr>
          <p:cNvPr id="30" name="Text 27"/>
          <p:cNvSpPr txBox="1"/>
          <p:nvPr/>
        </p:nvSpPr>
        <p:spPr>
          <a:xfrm>
            <a:off x="2743200" y="5532120"/>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サーバー・通信機器を置く施設（電源・冷却）</a:t>
            </a:r>
            <a:endParaRPr lang="en-US" sz="1800" dirty="0"/>
          </a:p>
        </p:txBody>
      </p:sp>
      <p:sp>
        <p:nvSpPr>
          <p:cNvPr id="31" name="Shape 28"/>
          <p:cNvSpPr/>
          <p:nvPr/>
        </p:nvSpPr>
        <p:spPr>
          <a:xfrm>
            <a:off x="8092440" y="1737360"/>
            <a:ext cx="3657600" cy="1417320"/>
          </a:xfrm>
          <a:prstGeom prst="roundRect">
            <a:avLst>
              <a:gd name="adj" fmla="val 7742"/>
            </a:avLst>
          </a:prstGeom>
          <a:solidFill>
            <a:srgbClr val="DCE8F8"/>
          </a:solidFill>
          <a:ln w="19050">
            <a:solidFill>
              <a:srgbClr val="2F6BC2"/>
            </a:solidFill>
            <a:prstDash val="solid"/>
          </a:ln>
        </p:spPr>
      </p:sp>
      <p:sp>
        <p:nvSpPr>
          <p:cNvPr id="32" name="Shape 29"/>
          <p:cNvSpPr/>
          <p:nvPr/>
        </p:nvSpPr>
        <p:spPr>
          <a:xfrm>
            <a:off x="8229600" y="2217420"/>
            <a:ext cx="457200" cy="457200"/>
          </a:xfrm>
          <a:prstGeom prst="ellipse">
            <a:avLst/>
          </a:prstGeom>
          <a:solidFill>
            <a:srgbClr val="2F6BC2"/>
          </a:solidFill>
          <a:ln/>
        </p:spPr>
      </p:sp>
      <p:pic>
        <p:nvPicPr>
          <p:cNvPr id="33" name="Image 0" descr="preencoded.png">    </p:cNvPr>
          <p:cNvPicPr>
            <a:picLocks noChangeAspect="1"/>
          </p:cNvPicPr>
          <p:nvPr/>
        </p:nvPicPr>
        <p:blipFill>
          <a:blip r:embed="rId1"/>
          <a:stretch>
            <a:fillRect/>
          </a:stretch>
        </p:blipFill>
        <p:spPr>
          <a:xfrm>
            <a:off x="8330184" y="2318004"/>
            <a:ext cx="256032" cy="256032"/>
          </a:xfrm>
          <a:prstGeom prst="rect">
            <a:avLst/>
          </a:prstGeom>
        </p:spPr>
      </p:pic>
      <p:sp>
        <p:nvSpPr>
          <p:cNvPr id="34" name="Text 30"/>
          <p:cNvSpPr txBox="1"/>
          <p:nvPr/>
        </p:nvSpPr>
        <p:spPr>
          <a:xfrm>
            <a:off x="8823960" y="1783080"/>
            <a:ext cx="2788920" cy="13258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クラウド＝これらをネット経由で借りる提供方式（AWS・Azure・Google Cloud）</a:t>
            </a:r>
            <a:endParaRPr lang="en-US" sz="1800" dirty="0"/>
          </a:p>
        </p:txBody>
      </p:sp>
      <p:sp>
        <p:nvSpPr>
          <p:cNvPr id="35" name="Shape 31"/>
          <p:cNvSpPr/>
          <p:nvPr/>
        </p:nvSpPr>
        <p:spPr>
          <a:xfrm>
            <a:off x="8092440" y="3291840"/>
            <a:ext cx="3657600" cy="1417320"/>
          </a:xfrm>
          <a:prstGeom prst="roundRect">
            <a:avLst>
              <a:gd name="adj" fmla="val 7742"/>
            </a:avLst>
          </a:prstGeom>
          <a:solidFill>
            <a:srgbClr val="FBE3E0"/>
          </a:solidFill>
          <a:ln w="19050">
            <a:solidFill>
              <a:srgbClr val="C0392B"/>
            </a:solidFill>
            <a:prstDash val="solid"/>
          </a:ln>
        </p:spPr>
      </p:sp>
      <p:sp>
        <p:nvSpPr>
          <p:cNvPr id="36" name="Shape 32"/>
          <p:cNvSpPr/>
          <p:nvPr/>
        </p:nvSpPr>
        <p:spPr>
          <a:xfrm>
            <a:off x="8229600" y="3771900"/>
            <a:ext cx="457200" cy="457200"/>
          </a:xfrm>
          <a:prstGeom prst="ellipse">
            <a:avLst/>
          </a:prstGeom>
          <a:solidFill>
            <a:srgbClr val="C0392B"/>
          </a:solidFill>
          <a:ln/>
        </p:spPr>
      </p:sp>
      <p:pic>
        <p:nvPicPr>
          <p:cNvPr id="37" name="Image 1" descr="preencoded.png">    </p:cNvPr>
          <p:cNvPicPr>
            <a:picLocks noChangeAspect="1"/>
          </p:cNvPicPr>
          <p:nvPr/>
        </p:nvPicPr>
        <p:blipFill>
          <a:blip r:embed="rId2"/>
          <a:stretch>
            <a:fillRect/>
          </a:stretch>
        </p:blipFill>
        <p:spPr>
          <a:xfrm>
            <a:off x="8330184" y="3872484"/>
            <a:ext cx="256032" cy="256032"/>
          </a:xfrm>
          <a:prstGeom prst="rect">
            <a:avLst/>
          </a:prstGeom>
        </p:spPr>
      </p:pic>
      <p:sp>
        <p:nvSpPr>
          <p:cNvPr id="38" name="Text 33"/>
          <p:cNvSpPr txBox="1"/>
          <p:nvPr/>
        </p:nvSpPr>
        <p:spPr>
          <a:xfrm>
            <a:off x="8823960" y="3337560"/>
            <a:ext cx="2788920" cy="13258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実体はデータセンター内の物理コンピューター。「サーバーが存在しない」わけではない</a:t>
            </a:r>
            <a:endParaRPr lang="en-US" sz="1800" dirty="0"/>
          </a:p>
        </p:txBody>
      </p:sp>
      <p:sp>
        <p:nvSpPr>
          <p:cNvPr id="39" name="Shape 34"/>
          <p:cNvSpPr/>
          <p:nvPr/>
        </p:nvSpPr>
        <p:spPr>
          <a:xfrm>
            <a:off x="8092440" y="4846320"/>
            <a:ext cx="3657600" cy="1417320"/>
          </a:xfrm>
          <a:prstGeom prst="roundRect">
            <a:avLst>
              <a:gd name="adj" fmla="val 7742"/>
            </a:avLst>
          </a:prstGeom>
          <a:solidFill>
            <a:srgbClr val="FDEBD0"/>
          </a:solidFill>
          <a:ln w="19050">
            <a:solidFill>
              <a:srgbClr val="B45309"/>
            </a:solidFill>
            <a:prstDash val="solid"/>
          </a:ln>
        </p:spPr>
      </p:sp>
      <p:sp>
        <p:nvSpPr>
          <p:cNvPr id="40" name="Shape 35"/>
          <p:cNvSpPr/>
          <p:nvPr/>
        </p:nvSpPr>
        <p:spPr>
          <a:xfrm>
            <a:off x="8229600" y="5326380"/>
            <a:ext cx="457200" cy="457200"/>
          </a:xfrm>
          <a:prstGeom prst="ellipse">
            <a:avLst/>
          </a:prstGeom>
          <a:solidFill>
            <a:srgbClr val="B45309"/>
          </a:solidFill>
          <a:ln/>
        </p:spPr>
      </p:sp>
      <p:pic>
        <p:nvPicPr>
          <p:cNvPr id="41" name="Image 2" descr="preencoded.png">    </p:cNvPr>
          <p:cNvPicPr>
            <a:picLocks noChangeAspect="1"/>
          </p:cNvPicPr>
          <p:nvPr/>
        </p:nvPicPr>
        <p:blipFill>
          <a:blip r:embed="rId3"/>
          <a:stretch>
            <a:fillRect/>
          </a:stretch>
        </p:blipFill>
        <p:spPr>
          <a:xfrm>
            <a:off x="8330184" y="5426964"/>
            <a:ext cx="256032" cy="256032"/>
          </a:xfrm>
          <a:prstGeom prst="rect">
            <a:avLst/>
          </a:prstGeom>
        </p:spPr>
      </p:pic>
      <p:sp>
        <p:nvSpPr>
          <p:cNvPr id="42" name="Text 36"/>
          <p:cNvSpPr txBox="1"/>
          <p:nvPr/>
        </p:nvSpPr>
        <p:spPr>
          <a:xfrm>
            <a:off x="8823960" y="4892040"/>
            <a:ext cx="2788920" cy="13258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サーバーは役割の名前。自分のPCもWebサーバーとして働ける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全体像</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インフラの仕事は、動く状態にして維持すること</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インフラはアプリを動かし続ける土台です。つくって終わりではなく、監視・復旧・更新まで続けるのが仕事で、クラウドの方式で自分の担当範囲が変わります。</a:t>
            </a:r>
            <a:endParaRPr lang="en-US" sz="1800" dirty="0"/>
          </a:p>
        </p:txBody>
      </p:sp>
      <p:sp>
        <p:nvSpPr>
          <p:cNvPr id="7" name="Text 4"/>
          <p:cNvSpPr txBox="1"/>
          <p:nvPr/>
        </p:nvSpPr>
        <p:spPr>
          <a:xfrm>
            <a:off x="457200" y="1691640"/>
            <a:ext cx="5486400" cy="384048"/>
          </a:xfrm>
          <a:prstGeom prst="rect">
            <a:avLst/>
          </a:prstGeom>
          <a:noFill/>
          <a:ln/>
        </p:spPr>
        <p:txBody>
          <a:bodyPr wrap="square" lIns="0" tIns="0" rIns="0" bIns="0" rtlCol="0" anchor="t"/>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インフラエンジニアの7つの仕事</a:t>
            </a:r>
            <a:endParaRPr lang="en-US" sz="2000" dirty="0"/>
          </a:p>
        </p:txBody>
      </p:sp>
      <p:sp>
        <p:nvSpPr>
          <p:cNvPr id="8" name="Shape 5"/>
          <p:cNvSpPr/>
          <p:nvPr/>
        </p:nvSpPr>
        <p:spPr>
          <a:xfrm>
            <a:off x="475488" y="2231136"/>
            <a:ext cx="420624" cy="420624"/>
          </a:xfrm>
          <a:prstGeom prst="ellipse">
            <a:avLst/>
          </a:prstGeom>
          <a:solidFill>
            <a:srgbClr val="16324F"/>
          </a:solidFill>
          <a:ln w="19050">
            <a:solidFill>
              <a:srgbClr val="FFFFFF"/>
            </a:solidFill>
            <a:prstDash val="solid"/>
          </a:ln>
        </p:spPr>
      </p:sp>
      <p:sp>
        <p:nvSpPr>
          <p:cNvPr id="9" name="Text 6"/>
          <p:cNvSpPr txBox="1"/>
          <p:nvPr/>
        </p:nvSpPr>
        <p:spPr>
          <a:xfrm>
            <a:off x="475488" y="22311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0" name="Text 7"/>
          <p:cNvSpPr txBox="1"/>
          <p:nvPr/>
        </p:nvSpPr>
        <p:spPr>
          <a:xfrm>
            <a:off x="1051560" y="2148840"/>
            <a:ext cx="48920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必要な性能を出せる構成を設計する</a:t>
            </a:r>
            <a:endParaRPr lang="en-US" sz="1800" dirty="0"/>
          </a:p>
        </p:txBody>
      </p:sp>
      <p:sp>
        <p:nvSpPr>
          <p:cNvPr id="11" name="Shape 8"/>
          <p:cNvSpPr/>
          <p:nvPr/>
        </p:nvSpPr>
        <p:spPr>
          <a:xfrm>
            <a:off x="475488" y="2816352"/>
            <a:ext cx="420624" cy="420624"/>
          </a:xfrm>
          <a:prstGeom prst="ellipse">
            <a:avLst/>
          </a:prstGeom>
          <a:solidFill>
            <a:srgbClr val="16324F"/>
          </a:solidFill>
          <a:ln w="19050">
            <a:solidFill>
              <a:srgbClr val="FFFFFF"/>
            </a:solidFill>
            <a:prstDash val="solid"/>
          </a:ln>
        </p:spPr>
      </p:sp>
      <p:sp>
        <p:nvSpPr>
          <p:cNvPr id="12" name="Text 9"/>
          <p:cNvSpPr txBox="1"/>
          <p:nvPr/>
        </p:nvSpPr>
        <p:spPr>
          <a:xfrm>
            <a:off x="475488" y="281635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3" name="Text 10"/>
          <p:cNvSpPr txBox="1"/>
          <p:nvPr/>
        </p:nvSpPr>
        <p:spPr>
          <a:xfrm>
            <a:off x="1051560" y="2734056"/>
            <a:ext cx="48920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機器・OS・クラウドなどを設定する</a:t>
            </a:r>
            <a:endParaRPr lang="en-US" sz="1800" dirty="0"/>
          </a:p>
        </p:txBody>
      </p:sp>
      <p:sp>
        <p:nvSpPr>
          <p:cNvPr id="14" name="Shape 11"/>
          <p:cNvSpPr/>
          <p:nvPr/>
        </p:nvSpPr>
        <p:spPr>
          <a:xfrm>
            <a:off x="475488" y="3401568"/>
            <a:ext cx="420624" cy="420624"/>
          </a:xfrm>
          <a:prstGeom prst="ellipse">
            <a:avLst/>
          </a:prstGeom>
          <a:solidFill>
            <a:srgbClr val="16324F"/>
          </a:solidFill>
          <a:ln w="19050">
            <a:solidFill>
              <a:srgbClr val="FFFFFF"/>
            </a:solidFill>
            <a:prstDash val="solid"/>
          </a:ln>
        </p:spPr>
      </p:sp>
      <p:sp>
        <p:nvSpPr>
          <p:cNvPr id="15" name="Text 12"/>
          <p:cNvSpPr txBox="1"/>
          <p:nvPr/>
        </p:nvSpPr>
        <p:spPr>
          <a:xfrm>
            <a:off x="475488" y="34015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6" name="Text 13"/>
          <p:cNvSpPr txBox="1"/>
          <p:nvPr/>
        </p:nvSpPr>
        <p:spPr>
          <a:xfrm>
            <a:off x="1051560" y="3319272"/>
            <a:ext cx="48920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利用者が安全に接続できるようにする</a:t>
            </a:r>
            <a:endParaRPr lang="en-US" sz="1800" dirty="0"/>
          </a:p>
        </p:txBody>
      </p:sp>
      <p:sp>
        <p:nvSpPr>
          <p:cNvPr id="17" name="Shape 14"/>
          <p:cNvSpPr/>
          <p:nvPr/>
        </p:nvSpPr>
        <p:spPr>
          <a:xfrm>
            <a:off x="475488" y="3986784"/>
            <a:ext cx="420624" cy="420624"/>
          </a:xfrm>
          <a:prstGeom prst="ellipse">
            <a:avLst/>
          </a:prstGeom>
          <a:solidFill>
            <a:srgbClr val="16324F"/>
          </a:solidFill>
          <a:ln w="19050">
            <a:solidFill>
              <a:srgbClr val="FFFFFF"/>
            </a:solidFill>
            <a:prstDash val="solid"/>
          </a:ln>
        </p:spPr>
      </p:sp>
      <p:sp>
        <p:nvSpPr>
          <p:cNvPr id="18" name="Text 15"/>
          <p:cNvSpPr txBox="1"/>
          <p:nvPr/>
        </p:nvSpPr>
        <p:spPr>
          <a:xfrm>
            <a:off x="475488" y="398678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9" name="Text 16"/>
          <p:cNvSpPr txBox="1"/>
          <p:nvPr/>
        </p:nvSpPr>
        <p:spPr>
          <a:xfrm>
            <a:off x="1051560" y="3904488"/>
            <a:ext cx="48920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監視して、異常を見つける</a:t>
            </a:r>
            <a:endParaRPr lang="en-US" sz="1800" dirty="0"/>
          </a:p>
        </p:txBody>
      </p:sp>
      <p:sp>
        <p:nvSpPr>
          <p:cNvPr id="20" name="Shape 17"/>
          <p:cNvSpPr/>
          <p:nvPr/>
        </p:nvSpPr>
        <p:spPr>
          <a:xfrm>
            <a:off x="475488" y="4572000"/>
            <a:ext cx="420624" cy="420624"/>
          </a:xfrm>
          <a:prstGeom prst="ellipse">
            <a:avLst/>
          </a:prstGeom>
          <a:solidFill>
            <a:srgbClr val="16324F"/>
          </a:solidFill>
          <a:ln w="19050">
            <a:solidFill>
              <a:srgbClr val="FFFFFF"/>
            </a:solidFill>
            <a:prstDash val="solid"/>
          </a:ln>
        </p:spPr>
      </p:sp>
      <p:sp>
        <p:nvSpPr>
          <p:cNvPr id="21" name="Text 18"/>
          <p:cNvSpPr txBox="1"/>
          <p:nvPr/>
        </p:nvSpPr>
        <p:spPr>
          <a:xfrm>
            <a:off x="475488" y="45720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2" name="Text 19"/>
          <p:cNvSpPr txBox="1"/>
          <p:nvPr/>
        </p:nvSpPr>
        <p:spPr>
          <a:xfrm>
            <a:off x="1051560" y="4489704"/>
            <a:ext cx="48920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障害の原因を切り分け、復旧する</a:t>
            </a:r>
            <a:endParaRPr lang="en-US" sz="1800" dirty="0"/>
          </a:p>
        </p:txBody>
      </p:sp>
      <p:sp>
        <p:nvSpPr>
          <p:cNvPr id="23" name="Shape 20"/>
          <p:cNvSpPr/>
          <p:nvPr/>
        </p:nvSpPr>
        <p:spPr>
          <a:xfrm>
            <a:off x="475488" y="5157216"/>
            <a:ext cx="420624" cy="420624"/>
          </a:xfrm>
          <a:prstGeom prst="ellipse">
            <a:avLst/>
          </a:prstGeom>
          <a:solidFill>
            <a:srgbClr val="16324F"/>
          </a:solidFill>
          <a:ln w="19050">
            <a:solidFill>
              <a:srgbClr val="FFFFFF"/>
            </a:solidFill>
            <a:prstDash val="solid"/>
          </a:ln>
        </p:spPr>
      </p:sp>
      <p:sp>
        <p:nvSpPr>
          <p:cNvPr id="24" name="Text 21"/>
          <p:cNvSpPr txBox="1"/>
          <p:nvPr/>
        </p:nvSpPr>
        <p:spPr>
          <a:xfrm>
            <a:off x="475488" y="515721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25" name="Text 22"/>
          <p:cNvSpPr txBox="1"/>
          <p:nvPr/>
        </p:nvSpPr>
        <p:spPr>
          <a:xfrm>
            <a:off x="1051560" y="5074920"/>
            <a:ext cx="48920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更新や構成変更を安全に行う</a:t>
            </a:r>
            <a:endParaRPr lang="en-US" sz="1800" dirty="0"/>
          </a:p>
        </p:txBody>
      </p:sp>
      <p:sp>
        <p:nvSpPr>
          <p:cNvPr id="26" name="Shape 23"/>
          <p:cNvSpPr/>
          <p:nvPr/>
        </p:nvSpPr>
        <p:spPr>
          <a:xfrm>
            <a:off x="475488" y="5742432"/>
            <a:ext cx="420624" cy="420624"/>
          </a:xfrm>
          <a:prstGeom prst="ellipse">
            <a:avLst/>
          </a:prstGeom>
          <a:solidFill>
            <a:srgbClr val="16324F"/>
          </a:solidFill>
          <a:ln w="19050">
            <a:solidFill>
              <a:srgbClr val="FFFFFF"/>
            </a:solidFill>
            <a:prstDash val="solid"/>
          </a:ln>
        </p:spPr>
      </p:sp>
      <p:sp>
        <p:nvSpPr>
          <p:cNvPr id="27" name="Text 24"/>
          <p:cNvSpPr txBox="1"/>
          <p:nvPr/>
        </p:nvSpPr>
        <p:spPr>
          <a:xfrm>
            <a:off x="475488" y="574243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7</a:t>
            </a:r>
            <a:endParaRPr lang="en-US" sz="1800" dirty="0"/>
          </a:p>
        </p:txBody>
      </p:sp>
      <p:sp>
        <p:nvSpPr>
          <p:cNvPr id="28" name="Text 25"/>
          <p:cNvSpPr txBox="1"/>
          <p:nvPr/>
        </p:nvSpPr>
        <p:spPr>
          <a:xfrm>
            <a:off x="1051560" y="5660136"/>
            <a:ext cx="48920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性能と費用のバランスを調整する</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17920" y="1691640"/>
          <a:ext cx="5513832" cy="914400"/>
        </p:xfrm>
        <a:graphic>
          <a:graphicData uri="http://schemas.openxmlformats.org/drawingml/2006/table">
            <a:tbl>
              <a:tblPr/>
              <a:tblGrid>
                <a:gridCol w="1737360"/>
                <a:gridCol w="37764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方式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利用者が主に管理するもの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40080">
                <a:tc>
                  <a:txBody>
                    <a:bodyPr/>
                    <a:lstStyle/>
                    <a:p>
                      <a:pPr algn="l" indent="0" marL="0">
                        <a:lnSpc>
                          <a:spcPts val="2400"/>
                        </a:lnSpc>
                        <a:buNone/>
                      </a:pPr>
                      <a:r>
                        <a:rPr lang="ja-JP" altLang="en-US" sz="1800" b="1" dirty="0">
                          <a:solidFill>
                            <a:srgbClr val="475569"/>
                          </a:solidFill>
                          <a:latin typeface="Yu Gothic" pitchFamily="34" charset="0"/>
                          <a:ea typeface="Yu Gothic" pitchFamily="34" charset="-122"/>
                          <a:cs typeface="Yu Gothic" pitchFamily="34" charset="-120"/>
                        </a:rPr>
                        <a:t>オンプレミス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自社の機器・OS・アプリなど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5104">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IaaS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借りた仮想サーバーのOS・アプリ</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0510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PaaS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主にアプリとデータ（実行基盤は多くを事業者が管理）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5104">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SaaS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完成したサービスの設定・利用者・データの扱い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30" name="Shape 26"/>
          <p:cNvSpPr/>
          <p:nvPr/>
        </p:nvSpPr>
        <p:spPr>
          <a:xfrm>
            <a:off x="6217920" y="5257800"/>
            <a:ext cx="5513832" cy="1051560"/>
          </a:xfrm>
          <a:prstGeom prst="roundRect">
            <a:avLst>
              <a:gd name="adj" fmla="val 10435"/>
            </a:avLst>
          </a:prstGeom>
          <a:solidFill>
            <a:srgbClr val="FBE3E0"/>
          </a:solidFill>
          <a:ln w="19050">
            <a:solidFill>
              <a:srgbClr val="C0392B"/>
            </a:solidFill>
            <a:prstDash val="solid"/>
          </a:ln>
        </p:spPr>
      </p:sp>
      <p:sp>
        <p:nvSpPr>
          <p:cNvPr id="31" name="Shape 27"/>
          <p:cNvSpPr/>
          <p:nvPr/>
        </p:nvSpPr>
        <p:spPr>
          <a:xfrm>
            <a:off x="6355080" y="5554980"/>
            <a:ext cx="457200" cy="457200"/>
          </a:xfrm>
          <a:prstGeom prst="ellipse">
            <a:avLst/>
          </a:prstGeom>
          <a:solidFill>
            <a:srgbClr val="C0392B"/>
          </a:solidFill>
          <a:ln/>
        </p:spPr>
      </p:sp>
      <p:pic>
        <p:nvPicPr>
          <p:cNvPr id="32" name="Image 0" descr="preencoded.png">    </p:cNvPr>
          <p:cNvPicPr>
            <a:picLocks noChangeAspect="1"/>
          </p:cNvPicPr>
          <p:nvPr/>
        </p:nvPicPr>
        <p:blipFill>
          <a:blip r:embed="rId1"/>
          <a:stretch>
            <a:fillRect/>
          </a:stretch>
        </p:blipFill>
        <p:spPr>
          <a:xfrm>
            <a:off x="6455664" y="5655564"/>
            <a:ext cx="256032" cy="256032"/>
          </a:xfrm>
          <a:prstGeom prst="rect">
            <a:avLst/>
          </a:prstGeom>
        </p:spPr>
      </p:pic>
      <p:sp>
        <p:nvSpPr>
          <p:cNvPr id="33" name="Text 28"/>
          <p:cNvSpPr txBox="1"/>
          <p:nvPr/>
        </p:nvSpPr>
        <p:spPr>
          <a:xfrm>
            <a:off x="6949440" y="5303520"/>
            <a:ext cx="4645152" cy="9601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責任の境界はサービスごとに違う。権限・公開設定の誤りは利用者の責任</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質問が届くまでを3つの区間に分けて考える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ChatGPTに質問すると、①家の中 ②インターネット ③サービスの中、の3区間を通って回答が返ります。区間ごとに起きる処理が違うので、分けて理解します。</a:t>
            </a:r>
            <a:endParaRPr lang="en-US" sz="1800" dirty="0"/>
          </a:p>
        </p:txBody>
      </p:sp>
      <p:sp>
        <p:nvSpPr>
          <p:cNvPr id="7" name="Shape 4"/>
          <p:cNvSpPr/>
          <p:nvPr/>
        </p:nvSpPr>
        <p:spPr>
          <a:xfrm>
            <a:off x="457200" y="1691640"/>
            <a:ext cx="3611880" cy="3520440"/>
          </a:xfrm>
          <a:prstGeom prst="roundRect">
            <a:avLst>
              <a:gd name="adj" fmla="val 4156"/>
            </a:avLst>
          </a:prstGeom>
          <a:solidFill>
            <a:srgbClr val="D9F2F1"/>
          </a:solidFill>
          <a:ln/>
        </p:spPr>
      </p:sp>
      <p:sp>
        <p:nvSpPr>
          <p:cNvPr id="8" name="Shape 5"/>
          <p:cNvSpPr/>
          <p:nvPr/>
        </p:nvSpPr>
        <p:spPr>
          <a:xfrm>
            <a:off x="594360" y="1810512"/>
            <a:ext cx="3337560" cy="475488"/>
          </a:xfrm>
          <a:prstGeom prst="roundRect">
            <a:avLst>
              <a:gd name="adj" fmla="val 19231"/>
            </a:avLst>
          </a:prstGeom>
          <a:solidFill>
            <a:srgbClr val="0B7A7A"/>
          </a:solidFill>
          <a:ln/>
        </p:spPr>
      </p:sp>
      <p:sp>
        <p:nvSpPr>
          <p:cNvPr id="9" name="Text 6"/>
          <p:cNvSpPr txBox="1"/>
          <p:nvPr/>
        </p:nvSpPr>
        <p:spPr>
          <a:xfrm>
            <a:off x="685800" y="1810512"/>
            <a:ext cx="3154680" cy="475488"/>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① 端末と自宅LAN</a:t>
            </a:r>
            <a:endParaRPr lang="en-US" sz="2000" dirty="0"/>
          </a:p>
        </p:txBody>
      </p:sp>
      <p:sp>
        <p:nvSpPr>
          <p:cNvPr id="10" name="Shape 7"/>
          <p:cNvSpPr/>
          <p:nvPr/>
        </p:nvSpPr>
        <p:spPr>
          <a:xfrm>
            <a:off x="640080" y="2423160"/>
            <a:ext cx="3246120" cy="566928"/>
          </a:xfrm>
          <a:prstGeom prst="roundRect">
            <a:avLst>
              <a:gd name="adj" fmla="val 19355"/>
            </a:avLst>
          </a:prstGeom>
          <a:solidFill>
            <a:srgbClr val="D9F2F1"/>
          </a:solidFill>
          <a:ln w="25400">
            <a:solidFill>
              <a:srgbClr val="0B7A7A"/>
            </a:solidFill>
            <a:prstDash val="solid"/>
          </a:ln>
        </p:spPr>
      </p:sp>
      <p:sp>
        <p:nvSpPr>
          <p:cNvPr id="11" name="Shape 8"/>
          <p:cNvSpPr/>
          <p:nvPr/>
        </p:nvSpPr>
        <p:spPr>
          <a:xfrm>
            <a:off x="768096" y="2514600"/>
            <a:ext cx="384048" cy="384048"/>
          </a:xfrm>
          <a:prstGeom prst="ellipse">
            <a:avLst/>
          </a:prstGeom>
          <a:solidFill>
            <a:srgbClr val="0B7A7A"/>
          </a:solidFill>
          <a:ln/>
        </p:spPr>
      </p:sp>
      <p:pic>
        <p:nvPicPr>
          <p:cNvPr id="12" name="Image 0" descr="preencoded.png">    </p:cNvPr>
          <p:cNvPicPr>
            <a:picLocks noChangeAspect="1"/>
          </p:cNvPicPr>
          <p:nvPr/>
        </p:nvPicPr>
        <p:blipFill>
          <a:blip r:embed="rId1"/>
          <a:stretch>
            <a:fillRect/>
          </a:stretch>
        </p:blipFill>
        <p:spPr>
          <a:xfrm>
            <a:off x="852587" y="2599091"/>
            <a:ext cx="215067" cy="215067"/>
          </a:xfrm>
          <a:prstGeom prst="rect">
            <a:avLst/>
          </a:prstGeom>
        </p:spPr>
      </p:pic>
      <p:sp>
        <p:nvSpPr>
          <p:cNvPr id="13" name="Text 9"/>
          <p:cNvSpPr txBox="1"/>
          <p:nvPr/>
        </p:nvSpPr>
        <p:spPr>
          <a:xfrm>
            <a:off x="1243584" y="2423160"/>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端末（PC・iPhone）</a:t>
            </a:r>
            <a:endParaRPr lang="en-US" sz="1800" dirty="0"/>
          </a:p>
        </p:txBody>
      </p:sp>
      <p:sp>
        <p:nvSpPr>
          <p:cNvPr id="14" name="Shape 10"/>
          <p:cNvSpPr/>
          <p:nvPr/>
        </p:nvSpPr>
        <p:spPr>
          <a:xfrm>
            <a:off x="640080" y="3081528"/>
            <a:ext cx="3246120" cy="566928"/>
          </a:xfrm>
          <a:prstGeom prst="roundRect">
            <a:avLst>
              <a:gd name="adj" fmla="val 19355"/>
            </a:avLst>
          </a:prstGeom>
          <a:solidFill>
            <a:srgbClr val="DCE8F8"/>
          </a:solidFill>
          <a:ln w="25400">
            <a:solidFill>
              <a:srgbClr val="2F6BC2"/>
            </a:solidFill>
            <a:prstDash val="solid"/>
          </a:ln>
        </p:spPr>
      </p:sp>
      <p:sp>
        <p:nvSpPr>
          <p:cNvPr id="15" name="Shape 11"/>
          <p:cNvSpPr/>
          <p:nvPr/>
        </p:nvSpPr>
        <p:spPr>
          <a:xfrm>
            <a:off x="768096" y="3172968"/>
            <a:ext cx="384048" cy="384048"/>
          </a:xfrm>
          <a:prstGeom prst="ellipse">
            <a:avLst/>
          </a:prstGeom>
          <a:solidFill>
            <a:srgbClr val="2F6BC2"/>
          </a:solidFill>
          <a:ln/>
        </p:spPr>
      </p:sp>
      <p:pic>
        <p:nvPicPr>
          <p:cNvPr id="16" name="Image 1" descr="preencoded.png">    </p:cNvPr>
          <p:cNvPicPr>
            <a:picLocks noChangeAspect="1"/>
          </p:cNvPicPr>
          <p:nvPr/>
        </p:nvPicPr>
        <p:blipFill>
          <a:blip r:embed="rId2"/>
          <a:stretch>
            <a:fillRect/>
          </a:stretch>
        </p:blipFill>
        <p:spPr>
          <a:xfrm>
            <a:off x="852587" y="3257459"/>
            <a:ext cx="215067" cy="215067"/>
          </a:xfrm>
          <a:prstGeom prst="rect">
            <a:avLst/>
          </a:prstGeom>
        </p:spPr>
      </p:pic>
      <p:sp>
        <p:nvSpPr>
          <p:cNvPr id="17" name="Text 12"/>
          <p:cNvSpPr txBox="1"/>
          <p:nvPr/>
        </p:nvSpPr>
        <p:spPr>
          <a:xfrm>
            <a:off x="1243584" y="3081528"/>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アクセスポイント</a:t>
            </a:r>
            <a:endParaRPr lang="en-US" sz="1800" dirty="0"/>
          </a:p>
        </p:txBody>
      </p:sp>
      <p:sp>
        <p:nvSpPr>
          <p:cNvPr id="18" name="Shape 13"/>
          <p:cNvSpPr/>
          <p:nvPr/>
        </p:nvSpPr>
        <p:spPr>
          <a:xfrm>
            <a:off x="640080" y="3739896"/>
            <a:ext cx="3246120" cy="566928"/>
          </a:xfrm>
          <a:prstGeom prst="roundRect">
            <a:avLst>
              <a:gd name="adj" fmla="val 19355"/>
            </a:avLst>
          </a:prstGeom>
          <a:solidFill>
            <a:srgbClr val="DCE8F8"/>
          </a:solidFill>
          <a:ln w="25400">
            <a:solidFill>
              <a:srgbClr val="2F6BC2"/>
            </a:solidFill>
            <a:prstDash val="solid"/>
          </a:ln>
        </p:spPr>
      </p:sp>
      <p:sp>
        <p:nvSpPr>
          <p:cNvPr id="19" name="Shape 14"/>
          <p:cNvSpPr/>
          <p:nvPr/>
        </p:nvSpPr>
        <p:spPr>
          <a:xfrm>
            <a:off x="768096" y="3831336"/>
            <a:ext cx="384048" cy="384048"/>
          </a:xfrm>
          <a:prstGeom prst="ellipse">
            <a:avLst/>
          </a:prstGeom>
          <a:solidFill>
            <a:srgbClr val="2F6BC2"/>
          </a:solidFill>
          <a:ln/>
        </p:spPr>
      </p:sp>
      <p:pic>
        <p:nvPicPr>
          <p:cNvPr id="20" name="Image 2" descr="preencoded.png">    </p:cNvPr>
          <p:cNvPicPr>
            <a:picLocks noChangeAspect="1"/>
          </p:cNvPicPr>
          <p:nvPr/>
        </p:nvPicPr>
        <p:blipFill>
          <a:blip r:embed="rId3"/>
          <a:stretch>
            <a:fillRect/>
          </a:stretch>
        </p:blipFill>
        <p:spPr>
          <a:xfrm>
            <a:off x="852587" y="3915827"/>
            <a:ext cx="215067" cy="215067"/>
          </a:xfrm>
          <a:prstGeom prst="rect">
            <a:avLst/>
          </a:prstGeom>
        </p:spPr>
      </p:pic>
      <p:sp>
        <p:nvSpPr>
          <p:cNvPr id="21" name="Text 15"/>
          <p:cNvSpPr txBox="1"/>
          <p:nvPr/>
        </p:nvSpPr>
        <p:spPr>
          <a:xfrm>
            <a:off x="1243584" y="3739896"/>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自宅ルーター・ONU</a:t>
            </a:r>
            <a:endParaRPr lang="en-US" sz="1800" dirty="0"/>
          </a:p>
        </p:txBody>
      </p:sp>
      <p:sp>
        <p:nvSpPr>
          <p:cNvPr id="22" name="Text 16"/>
          <p:cNvSpPr txBox="1"/>
          <p:nvPr/>
        </p:nvSpPr>
        <p:spPr>
          <a:xfrm>
            <a:off x="640080" y="4462272"/>
            <a:ext cx="3246120" cy="6400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問い：どの出口へ渡す？</a:t>
            </a:r>
            <a:endParaRPr lang="en-US" sz="2000" dirty="0"/>
          </a:p>
        </p:txBody>
      </p:sp>
      <p:sp>
        <p:nvSpPr>
          <p:cNvPr id="23" name="Shape 17"/>
          <p:cNvSpPr/>
          <p:nvPr/>
        </p:nvSpPr>
        <p:spPr>
          <a:xfrm>
            <a:off x="4069080" y="3429000"/>
            <a:ext cx="228600" cy="0"/>
          </a:xfrm>
          <a:prstGeom prst="line">
            <a:avLst/>
          </a:prstGeom>
          <a:noFill/>
          <a:ln w="38100">
            <a:solidFill>
              <a:srgbClr val="1B2A3A"/>
            </a:solidFill>
            <a:prstDash val="solid"/>
            <a:tailEnd type="triangle"/>
          </a:ln>
        </p:spPr>
      </p:sp>
      <p:sp>
        <p:nvSpPr>
          <p:cNvPr id="24" name="Shape 18"/>
          <p:cNvSpPr/>
          <p:nvPr/>
        </p:nvSpPr>
        <p:spPr>
          <a:xfrm>
            <a:off x="4297680" y="1691640"/>
            <a:ext cx="3611880" cy="3520440"/>
          </a:xfrm>
          <a:prstGeom prst="roundRect">
            <a:avLst>
              <a:gd name="adj" fmla="val 4156"/>
            </a:avLst>
          </a:prstGeom>
          <a:solidFill>
            <a:srgbClr val="DCE8F8"/>
          </a:solidFill>
          <a:ln/>
        </p:spPr>
      </p:sp>
      <p:sp>
        <p:nvSpPr>
          <p:cNvPr id="25" name="Shape 19"/>
          <p:cNvSpPr/>
          <p:nvPr/>
        </p:nvSpPr>
        <p:spPr>
          <a:xfrm>
            <a:off x="4434840" y="1810512"/>
            <a:ext cx="3337560" cy="475488"/>
          </a:xfrm>
          <a:prstGeom prst="roundRect">
            <a:avLst>
              <a:gd name="adj" fmla="val 19231"/>
            </a:avLst>
          </a:prstGeom>
          <a:solidFill>
            <a:srgbClr val="2F6BC2"/>
          </a:solidFill>
          <a:ln/>
        </p:spPr>
      </p:sp>
      <p:sp>
        <p:nvSpPr>
          <p:cNvPr id="26" name="Text 20"/>
          <p:cNvSpPr txBox="1"/>
          <p:nvPr/>
        </p:nvSpPr>
        <p:spPr>
          <a:xfrm>
            <a:off x="4526280" y="1810512"/>
            <a:ext cx="3154680" cy="475488"/>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② ISPとインターネット</a:t>
            </a:r>
            <a:endParaRPr lang="en-US" sz="2000" dirty="0"/>
          </a:p>
        </p:txBody>
      </p:sp>
      <p:sp>
        <p:nvSpPr>
          <p:cNvPr id="27" name="Shape 21"/>
          <p:cNvSpPr/>
          <p:nvPr/>
        </p:nvSpPr>
        <p:spPr>
          <a:xfrm>
            <a:off x="4480560" y="2423160"/>
            <a:ext cx="3246120" cy="566928"/>
          </a:xfrm>
          <a:prstGeom prst="roundRect">
            <a:avLst>
              <a:gd name="adj" fmla="val 19355"/>
            </a:avLst>
          </a:prstGeom>
          <a:solidFill>
            <a:srgbClr val="DCE8F8"/>
          </a:solidFill>
          <a:ln w="25400">
            <a:solidFill>
              <a:srgbClr val="2F6BC2"/>
            </a:solidFill>
            <a:prstDash val="solid"/>
          </a:ln>
        </p:spPr>
      </p:sp>
      <p:sp>
        <p:nvSpPr>
          <p:cNvPr id="28" name="Shape 22"/>
          <p:cNvSpPr/>
          <p:nvPr/>
        </p:nvSpPr>
        <p:spPr>
          <a:xfrm>
            <a:off x="4608576" y="2514600"/>
            <a:ext cx="384048" cy="384048"/>
          </a:xfrm>
          <a:prstGeom prst="ellipse">
            <a:avLst/>
          </a:prstGeom>
          <a:solidFill>
            <a:srgbClr val="2F6BC2"/>
          </a:solidFill>
          <a:ln/>
        </p:spPr>
      </p:sp>
      <p:pic>
        <p:nvPicPr>
          <p:cNvPr id="29" name="Image 3" descr="preencoded.png">    </p:cNvPr>
          <p:cNvPicPr>
            <a:picLocks noChangeAspect="1"/>
          </p:cNvPicPr>
          <p:nvPr/>
        </p:nvPicPr>
        <p:blipFill>
          <a:blip r:embed="rId4"/>
          <a:stretch>
            <a:fillRect/>
          </a:stretch>
        </p:blipFill>
        <p:spPr>
          <a:xfrm>
            <a:off x="4693067" y="2599091"/>
            <a:ext cx="215067" cy="215067"/>
          </a:xfrm>
          <a:prstGeom prst="rect">
            <a:avLst/>
          </a:prstGeom>
        </p:spPr>
      </p:pic>
      <p:sp>
        <p:nvSpPr>
          <p:cNvPr id="30" name="Text 23"/>
          <p:cNvSpPr txBox="1"/>
          <p:nvPr/>
        </p:nvSpPr>
        <p:spPr>
          <a:xfrm>
            <a:off x="5084064" y="2423160"/>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プロバイダー</a:t>
            </a:r>
            <a:endParaRPr lang="en-US" sz="1800" dirty="0"/>
          </a:p>
        </p:txBody>
      </p:sp>
      <p:sp>
        <p:nvSpPr>
          <p:cNvPr id="31" name="Shape 24"/>
          <p:cNvSpPr/>
          <p:nvPr/>
        </p:nvSpPr>
        <p:spPr>
          <a:xfrm>
            <a:off x="4480560" y="3081528"/>
            <a:ext cx="3246120" cy="566928"/>
          </a:xfrm>
          <a:prstGeom prst="roundRect">
            <a:avLst>
              <a:gd name="adj" fmla="val 19355"/>
            </a:avLst>
          </a:prstGeom>
          <a:solidFill>
            <a:srgbClr val="DCE8F8"/>
          </a:solidFill>
          <a:ln w="25400">
            <a:solidFill>
              <a:srgbClr val="2F6BC2"/>
            </a:solidFill>
            <a:prstDash val="solid"/>
          </a:ln>
        </p:spPr>
      </p:sp>
      <p:sp>
        <p:nvSpPr>
          <p:cNvPr id="32" name="Shape 25"/>
          <p:cNvSpPr/>
          <p:nvPr/>
        </p:nvSpPr>
        <p:spPr>
          <a:xfrm>
            <a:off x="4608576" y="3172968"/>
            <a:ext cx="384048" cy="384048"/>
          </a:xfrm>
          <a:prstGeom prst="ellipse">
            <a:avLst/>
          </a:prstGeom>
          <a:solidFill>
            <a:srgbClr val="2F6BC2"/>
          </a:solidFill>
          <a:ln/>
        </p:spPr>
      </p:sp>
      <p:pic>
        <p:nvPicPr>
          <p:cNvPr id="33" name="Image 4" descr="preencoded.png">    </p:cNvPr>
          <p:cNvPicPr>
            <a:picLocks noChangeAspect="1"/>
          </p:cNvPicPr>
          <p:nvPr/>
        </p:nvPicPr>
        <p:blipFill>
          <a:blip r:embed="rId5"/>
          <a:stretch>
            <a:fillRect/>
          </a:stretch>
        </p:blipFill>
        <p:spPr>
          <a:xfrm>
            <a:off x="4693067" y="3257459"/>
            <a:ext cx="215067" cy="215067"/>
          </a:xfrm>
          <a:prstGeom prst="rect">
            <a:avLst/>
          </a:prstGeom>
        </p:spPr>
      </p:pic>
      <p:sp>
        <p:nvSpPr>
          <p:cNvPr id="34" name="Text 26"/>
          <p:cNvSpPr txBox="1"/>
          <p:nvPr/>
        </p:nvSpPr>
        <p:spPr>
          <a:xfrm>
            <a:off x="5084064" y="3081528"/>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各ネットワーク</a:t>
            </a:r>
            <a:endParaRPr lang="en-US" sz="1800" dirty="0"/>
          </a:p>
        </p:txBody>
      </p:sp>
      <p:sp>
        <p:nvSpPr>
          <p:cNvPr id="35" name="Shape 27"/>
          <p:cNvSpPr/>
          <p:nvPr/>
        </p:nvSpPr>
        <p:spPr>
          <a:xfrm>
            <a:off x="4480560" y="3739896"/>
            <a:ext cx="3246120" cy="566928"/>
          </a:xfrm>
          <a:prstGeom prst="roundRect">
            <a:avLst>
              <a:gd name="adj" fmla="val 19355"/>
            </a:avLst>
          </a:prstGeom>
          <a:solidFill>
            <a:srgbClr val="DCE8F8"/>
          </a:solidFill>
          <a:ln w="25400">
            <a:solidFill>
              <a:srgbClr val="2F6BC2"/>
            </a:solidFill>
            <a:prstDash val="solid"/>
          </a:ln>
        </p:spPr>
      </p:sp>
      <p:sp>
        <p:nvSpPr>
          <p:cNvPr id="36" name="Shape 28"/>
          <p:cNvSpPr/>
          <p:nvPr/>
        </p:nvSpPr>
        <p:spPr>
          <a:xfrm>
            <a:off x="4608576" y="3831336"/>
            <a:ext cx="384048" cy="384048"/>
          </a:xfrm>
          <a:prstGeom prst="ellipse">
            <a:avLst/>
          </a:prstGeom>
          <a:solidFill>
            <a:srgbClr val="2F6BC2"/>
          </a:solidFill>
          <a:ln/>
        </p:spPr>
      </p:sp>
      <p:pic>
        <p:nvPicPr>
          <p:cNvPr id="37" name="Image 5" descr="preencoded.png">    </p:cNvPr>
          <p:cNvPicPr>
            <a:picLocks noChangeAspect="1"/>
          </p:cNvPicPr>
          <p:nvPr/>
        </p:nvPicPr>
        <p:blipFill>
          <a:blip r:embed="rId6"/>
          <a:stretch>
            <a:fillRect/>
          </a:stretch>
        </p:blipFill>
        <p:spPr>
          <a:xfrm>
            <a:off x="4693067" y="3915827"/>
            <a:ext cx="215067" cy="215067"/>
          </a:xfrm>
          <a:prstGeom prst="rect">
            <a:avLst/>
          </a:prstGeom>
        </p:spPr>
      </p:pic>
      <p:sp>
        <p:nvSpPr>
          <p:cNvPr id="38" name="Text 29"/>
          <p:cNvSpPr txBox="1"/>
          <p:nvPr/>
        </p:nvSpPr>
        <p:spPr>
          <a:xfrm>
            <a:off x="5084064" y="3739896"/>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ルーター群</a:t>
            </a:r>
            <a:endParaRPr lang="en-US" sz="1800" dirty="0"/>
          </a:p>
        </p:txBody>
      </p:sp>
      <p:sp>
        <p:nvSpPr>
          <p:cNvPr id="39" name="Text 30"/>
          <p:cNvSpPr txBox="1"/>
          <p:nvPr/>
        </p:nvSpPr>
        <p:spPr>
          <a:xfrm>
            <a:off x="4480560" y="4462272"/>
            <a:ext cx="3246120" cy="6400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問い：次の行き先は？</a:t>
            </a:r>
            <a:endParaRPr lang="en-US" sz="2000" dirty="0"/>
          </a:p>
        </p:txBody>
      </p:sp>
      <p:sp>
        <p:nvSpPr>
          <p:cNvPr id="40" name="Shape 31"/>
          <p:cNvSpPr/>
          <p:nvPr/>
        </p:nvSpPr>
        <p:spPr>
          <a:xfrm>
            <a:off x="7909560" y="3429000"/>
            <a:ext cx="228600" cy="0"/>
          </a:xfrm>
          <a:prstGeom prst="line">
            <a:avLst/>
          </a:prstGeom>
          <a:noFill/>
          <a:ln w="38100">
            <a:solidFill>
              <a:srgbClr val="1B2A3A"/>
            </a:solidFill>
            <a:prstDash val="solid"/>
            <a:tailEnd type="triangle"/>
          </a:ln>
        </p:spPr>
      </p:sp>
      <p:sp>
        <p:nvSpPr>
          <p:cNvPr id="41" name="Shape 32"/>
          <p:cNvSpPr/>
          <p:nvPr/>
        </p:nvSpPr>
        <p:spPr>
          <a:xfrm>
            <a:off x="8138160" y="1691640"/>
            <a:ext cx="3611880" cy="3520440"/>
          </a:xfrm>
          <a:prstGeom prst="roundRect">
            <a:avLst>
              <a:gd name="adj" fmla="val 4156"/>
            </a:avLst>
          </a:prstGeom>
          <a:solidFill>
            <a:srgbClr val="E6E1F7"/>
          </a:solidFill>
          <a:ln/>
        </p:spPr>
      </p:sp>
      <p:sp>
        <p:nvSpPr>
          <p:cNvPr id="42" name="Shape 33"/>
          <p:cNvSpPr/>
          <p:nvPr/>
        </p:nvSpPr>
        <p:spPr>
          <a:xfrm>
            <a:off x="8275320" y="1810512"/>
            <a:ext cx="3337560" cy="475488"/>
          </a:xfrm>
          <a:prstGeom prst="roundRect">
            <a:avLst>
              <a:gd name="adj" fmla="val 19231"/>
            </a:avLst>
          </a:prstGeom>
          <a:solidFill>
            <a:srgbClr val="5B46B8"/>
          </a:solidFill>
          <a:ln/>
        </p:spPr>
      </p:sp>
      <p:sp>
        <p:nvSpPr>
          <p:cNvPr id="43" name="Text 34"/>
          <p:cNvSpPr txBox="1"/>
          <p:nvPr/>
        </p:nvSpPr>
        <p:spPr>
          <a:xfrm>
            <a:off x="8366760" y="1810512"/>
            <a:ext cx="3154680" cy="475488"/>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③ サービス内部</a:t>
            </a:r>
            <a:endParaRPr lang="en-US" sz="2000" dirty="0"/>
          </a:p>
        </p:txBody>
      </p:sp>
      <p:sp>
        <p:nvSpPr>
          <p:cNvPr id="44" name="Shape 35"/>
          <p:cNvSpPr/>
          <p:nvPr/>
        </p:nvSpPr>
        <p:spPr>
          <a:xfrm>
            <a:off x="8321040" y="2423160"/>
            <a:ext cx="3246120" cy="566928"/>
          </a:xfrm>
          <a:prstGeom prst="roundRect">
            <a:avLst>
              <a:gd name="adj" fmla="val 19355"/>
            </a:avLst>
          </a:prstGeom>
          <a:solidFill>
            <a:srgbClr val="E6E1F7"/>
          </a:solidFill>
          <a:ln w="25400">
            <a:solidFill>
              <a:srgbClr val="5B46B8"/>
            </a:solidFill>
            <a:prstDash val="solid"/>
          </a:ln>
        </p:spPr>
      </p:sp>
      <p:sp>
        <p:nvSpPr>
          <p:cNvPr id="45" name="Shape 36"/>
          <p:cNvSpPr/>
          <p:nvPr/>
        </p:nvSpPr>
        <p:spPr>
          <a:xfrm>
            <a:off x="8449056" y="2514600"/>
            <a:ext cx="384048" cy="384048"/>
          </a:xfrm>
          <a:prstGeom prst="ellipse">
            <a:avLst/>
          </a:prstGeom>
          <a:solidFill>
            <a:srgbClr val="5B46B8"/>
          </a:solidFill>
          <a:ln/>
        </p:spPr>
      </p:sp>
      <p:pic>
        <p:nvPicPr>
          <p:cNvPr id="46" name="Image 6" descr="preencoded.png">    </p:cNvPr>
          <p:cNvPicPr>
            <a:picLocks noChangeAspect="1"/>
          </p:cNvPicPr>
          <p:nvPr/>
        </p:nvPicPr>
        <p:blipFill>
          <a:blip r:embed="rId7"/>
          <a:stretch>
            <a:fillRect/>
          </a:stretch>
        </p:blipFill>
        <p:spPr>
          <a:xfrm>
            <a:off x="8533547" y="2599091"/>
            <a:ext cx="215067" cy="215067"/>
          </a:xfrm>
          <a:prstGeom prst="rect">
            <a:avLst/>
          </a:prstGeom>
        </p:spPr>
      </p:pic>
      <p:sp>
        <p:nvSpPr>
          <p:cNvPr id="47" name="Text 37"/>
          <p:cNvSpPr txBox="1"/>
          <p:nvPr/>
        </p:nvSpPr>
        <p:spPr>
          <a:xfrm>
            <a:off x="8924544" y="2423160"/>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サービスの入口</a:t>
            </a:r>
            <a:endParaRPr lang="en-US" sz="1800" dirty="0"/>
          </a:p>
        </p:txBody>
      </p:sp>
      <p:sp>
        <p:nvSpPr>
          <p:cNvPr id="48" name="Shape 38"/>
          <p:cNvSpPr/>
          <p:nvPr/>
        </p:nvSpPr>
        <p:spPr>
          <a:xfrm>
            <a:off x="8321040" y="3081528"/>
            <a:ext cx="3246120" cy="566928"/>
          </a:xfrm>
          <a:prstGeom prst="roundRect">
            <a:avLst>
              <a:gd name="adj" fmla="val 19355"/>
            </a:avLst>
          </a:prstGeom>
          <a:solidFill>
            <a:srgbClr val="E6E1F7"/>
          </a:solidFill>
          <a:ln w="25400">
            <a:solidFill>
              <a:srgbClr val="5B46B8"/>
            </a:solidFill>
            <a:prstDash val="solid"/>
          </a:ln>
        </p:spPr>
      </p:sp>
      <p:sp>
        <p:nvSpPr>
          <p:cNvPr id="49" name="Shape 39"/>
          <p:cNvSpPr/>
          <p:nvPr/>
        </p:nvSpPr>
        <p:spPr>
          <a:xfrm>
            <a:off x="8449056" y="3172968"/>
            <a:ext cx="384048" cy="384048"/>
          </a:xfrm>
          <a:prstGeom prst="ellipse">
            <a:avLst/>
          </a:prstGeom>
          <a:solidFill>
            <a:srgbClr val="5B46B8"/>
          </a:solidFill>
          <a:ln/>
        </p:spPr>
      </p:sp>
      <p:pic>
        <p:nvPicPr>
          <p:cNvPr id="50" name="Image 7" descr="preencoded.png">    </p:cNvPr>
          <p:cNvPicPr>
            <a:picLocks noChangeAspect="1"/>
          </p:cNvPicPr>
          <p:nvPr/>
        </p:nvPicPr>
        <p:blipFill>
          <a:blip r:embed="rId8"/>
          <a:stretch>
            <a:fillRect/>
          </a:stretch>
        </p:blipFill>
        <p:spPr>
          <a:xfrm>
            <a:off x="8533547" y="3257459"/>
            <a:ext cx="215067" cy="215067"/>
          </a:xfrm>
          <a:prstGeom prst="rect">
            <a:avLst/>
          </a:prstGeom>
        </p:spPr>
      </p:pic>
      <p:sp>
        <p:nvSpPr>
          <p:cNvPr id="51" name="Text 40"/>
          <p:cNvSpPr txBox="1"/>
          <p:nvPr/>
        </p:nvSpPr>
        <p:spPr>
          <a:xfrm>
            <a:off x="8924544" y="3081528"/>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アプリ・認証</a:t>
            </a:r>
            <a:endParaRPr lang="en-US" sz="1800" dirty="0"/>
          </a:p>
        </p:txBody>
      </p:sp>
      <p:sp>
        <p:nvSpPr>
          <p:cNvPr id="52" name="Shape 41"/>
          <p:cNvSpPr/>
          <p:nvPr/>
        </p:nvSpPr>
        <p:spPr>
          <a:xfrm>
            <a:off x="8321040" y="3739896"/>
            <a:ext cx="3246120" cy="566928"/>
          </a:xfrm>
          <a:prstGeom prst="roundRect">
            <a:avLst>
              <a:gd name="adj" fmla="val 19355"/>
            </a:avLst>
          </a:prstGeom>
          <a:solidFill>
            <a:srgbClr val="E6E1F7"/>
          </a:solidFill>
          <a:ln w="25400">
            <a:solidFill>
              <a:srgbClr val="5B46B8"/>
            </a:solidFill>
            <a:prstDash val="solid"/>
          </a:ln>
        </p:spPr>
      </p:sp>
      <p:sp>
        <p:nvSpPr>
          <p:cNvPr id="53" name="Shape 42"/>
          <p:cNvSpPr/>
          <p:nvPr/>
        </p:nvSpPr>
        <p:spPr>
          <a:xfrm>
            <a:off x="8449056" y="3831336"/>
            <a:ext cx="384048" cy="384048"/>
          </a:xfrm>
          <a:prstGeom prst="ellipse">
            <a:avLst/>
          </a:prstGeom>
          <a:solidFill>
            <a:srgbClr val="5B46B8"/>
          </a:solidFill>
          <a:ln/>
        </p:spPr>
      </p:sp>
      <p:pic>
        <p:nvPicPr>
          <p:cNvPr id="54" name="Image 8" descr="preencoded.png">    </p:cNvPr>
          <p:cNvPicPr>
            <a:picLocks noChangeAspect="1"/>
          </p:cNvPicPr>
          <p:nvPr/>
        </p:nvPicPr>
        <p:blipFill>
          <a:blip r:embed="rId9"/>
          <a:stretch>
            <a:fillRect/>
          </a:stretch>
        </p:blipFill>
        <p:spPr>
          <a:xfrm>
            <a:off x="8533547" y="3915827"/>
            <a:ext cx="215067" cy="215067"/>
          </a:xfrm>
          <a:prstGeom prst="rect">
            <a:avLst/>
          </a:prstGeom>
        </p:spPr>
      </p:pic>
      <p:sp>
        <p:nvSpPr>
          <p:cNvPr id="55" name="Text 43"/>
          <p:cNvSpPr txBox="1"/>
          <p:nvPr/>
        </p:nvSpPr>
        <p:spPr>
          <a:xfrm>
            <a:off x="8924544" y="3739896"/>
            <a:ext cx="2551176"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AI処理（GPU）</a:t>
            </a:r>
            <a:endParaRPr lang="en-US" sz="1800" dirty="0"/>
          </a:p>
        </p:txBody>
      </p:sp>
      <p:sp>
        <p:nvSpPr>
          <p:cNvPr id="56" name="Text 44"/>
          <p:cNvSpPr txBox="1"/>
          <p:nvPr/>
        </p:nvSpPr>
        <p:spPr>
          <a:xfrm>
            <a:off x="8321040" y="4462272"/>
            <a:ext cx="3246120" cy="6400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問い：どこで処理する？</a:t>
            </a:r>
            <a:endParaRPr lang="en-US" sz="2000" dirty="0"/>
          </a:p>
        </p:txBody>
      </p:sp>
      <p:sp>
        <p:nvSpPr>
          <p:cNvPr id="57" name="Shape 45"/>
          <p:cNvSpPr/>
          <p:nvPr/>
        </p:nvSpPr>
        <p:spPr>
          <a:xfrm>
            <a:off x="457200" y="5394960"/>
            <a:ext cx="11274552" cy="868680"/>
          </a:xfrm>
          <a:prstGeom prst="roundRect">
            <a:avLst>
              <a:gd name="adj" fmla="val 12632"/>
            </a:avLst>
          </a:prstGeom>
          <a:solidFill>
            <a:srgbClr val="FDEBD0"/>
          </a:solidFill>
          <a:ln w="19050">
            <a:solidFill>
              <a:srgbClr val="B45309"/>
            </a:solidFill>
            <a:prstDash val="solid"/>
          </a:ln>
        </p:spPr>
      </p:sp>
      <p:sp>
        <p:nvSpPr>
          <p:cNvPr id="58" name="Shape 46"/>
          <p:cNvSpPr/>
          <p:nvPr/>
        </p:nvSpPr>
        <p:spPr>
          <a:xfrm>
            <a:off x="594360" y="5600700"/>
            <a:ext cx="457200" cy="457200"/>
          </a:xfrm>
          <a:prstGeom prst="ellipse">
            <a:avLst/>
          </a:prstGeom>
          <a:solidFill>
            <a:srgbClr val="B45309"/>
          </a:solidFill>
          <a:ln/>
        </p:spPr>
      </p:sp>
      <p:pic>
        <p:nvPicPr>
          <p:cNvPr id="59" name="Image 9" descr="preencoded.png">    </p:cNvPr>
          <p:cNvPicPr>
            <a:picLocks noChangeAspect="1"/>
          </p:cNvPicPr>
          <p:nvPr/>
        </p:nvPicPr>
        <p:blipFill>
          <a:blip r:embed="rId10"/>
          <a:stretch>
            <a:fillRect/>
          </a:stretch>
        </p:blipFill>
        <p:spPr>
          <a:xfrm>
            <a:off x="694944" y="5701284"/>
            <a:ext cx="256032" cy="256032"/>
          </a:xfrm>
          <a:prstGeom prst="rect">
            <a:avLst/>
          </a:prstGeom>
        </p:spPr>
      </p:pic>
      <p:sp>
        <p:nvSpPr>
          <p:cNvPr id="60" name="Text 47"/>
          <p:cNvSpPr txBox="1"/>
          <p:nvPr/>
        </p:nvSpPr>
        <p:spPr>
          <a:xfrm>
            <a:off x="1188720" y="5440680"/>
            <a:ext cx="10405872" cy="77724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DHCP・DNS・NTPは別の補助通信。質問本文が順番に通る道ではない（次ページ以降で確認）</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家のWi-Fiルーターは複数の機能を1台にまとめている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家のWi-Fiルーターは、電波の受付・行き先の案内・設定の配布などを1台で兼ねています。「Wi-Fi」「回線」「ルーター」は、それぞれ別のものです。</a:t>
            </a:r>
            <a:endParaRPr lang="en-US" sz="1800" dirty="0"/>
          </a:p>
        </p:txBody>
      </p:sp>
      <p:sp>
        <p:nvSpPr>
          <p:cNvPr id="7" name="Shape 4"/>
          <p:cNvSpPr/>
          <p:nvPr/>
        </p:nvSpPr>
        <p:spPr>
          <a:xfrm>
            <a:off x="457200" y="1920240"/>
            <a:ext cx="2103120" cy="868680"/>
          </a:xfrm>
          <a:prstGeom prst="roundRect">
            <a:avLst>
              <a:gd name="adj" fmla="val 12632"/>
            </a:avLst>
          </a:prstGeom>
          <a:solidFill>
            <a:srgbClr val="D9F2F1"/>
          </a:solidFill>
          <a:ln w="25400">
            <a:solidFill>
              <a:srgbClr val="0B7A7A"/>
            </a:solidFill>
            <a:prstDash val="solid"/>
          </a:ln>
        </p:spPr>
      </p:sp>
      <p:sp>
        <p:nvSpPr>
          <p:cNvPr id="8" name="Shape 5"/>
          <p:cNvSpPr/>
          <p:nvPr/>
        </p:nvSpPr>
        <p:spPr>
          <a:xfrm>
            <a:off x="585216" y="2080260"/>
            <a:ext cx="548640" cy="548640"/>
          </a:xfrm>
          <a:prstGeom prst="ellipse">
            <a:avLst/>
          </a:prstGeom>
          <a:solidFill>
            <a:srgbClr val="0B7A7A"/>
          </a:solidFill>
          <a:ln/>
        </p:spPr>
      </p:sp>
      <p:pic>
        <p:nvPicPr>
          <p:cNvPr id="9" name="Image 0" descr="preencoded.png">    </p:cNvPr>
          <p:cNvPicPr>
            <a:picLocks noChangeAspect="1"/>
          </p:cNvPicPr>
          <p:nvPr/>
        </p:nvPicPr>
        <p:blipFill>
          <a:blip r:embed="rId1"/>
          <a:stretch>
            <a:fillRect/>
          </a:stretch>
        </p:blipFill>
        <p:spPr>
          <a:xfrm>
            <a:off x="705917" y="2200961"/>
            <a:ext cx="307238" cy="307238"/>
          </a:xfrm>
          <a:prstGeom prst="rect">
            <a:avLst/>
          </a:prstGeom>
        </p:spPr>
      </p:pic>
      <p:sp>
        <p:nvSpPr>
          <p:cNvPr id="10" name="Text 6"/>
          <p:cNvSpPr txBox="1"/>
          <p:nvPr/>
        </p:nvSpPr>
        <p:spPr>
          <a:xfrm>
            <a:off x="1225296" y="1920240"/>
            <a:ext cx="1243584" cy="86868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Windows PC</a:t>
            </a:r>
            <a:endParaRPr lang="en-US" sz="1800" dirty="0"/>
          </a:p>
        </p:txBody>
      </p:sp>
      <p:sp>
        <p:nvSpPr>
          <p:cNvPr id="11" name="Shape 7"/>
          <p:cNvSpPr/>
          <p:nvPr/>
        </p:nvSpPr>
        <p:spPr>
          <a:xfrm>
            <a:off x="457200" y="3108960"/>
            <a:ext cx="2103120" cy="868680"/>
          </a:xfrm>
          <a:prstGeom prst="roundRect">
            <a:avLst>
              <a:gd name="adj" fmla="val 12632"/>
            </a:avLst>
          </a:prstGeom>
          <a:solidFill>
            <a:srgbClr val="D9F2F1"/>
          </a:solidFill>
          <a:ln w="25400">
            <a:solidFill>
              <a:srgbClr val="0B7A7A"/>
            </a:solidFill>
            <a:prstDash val="solid"/>
          </a:ln>
        </p:spPr>
      </p:sp>
      <p:sp>
        <p:nvSpPr>
          <p:cNvPr id="12" name="Shape 8"/>
          <p:cNvSpPr/>
          <p:nvPr/>
        </p:nvSpPr>
        <p:spPr>
          <a:xfrm>
            <a:off x="585216" y="3268980"/>
            <a:ext cx="548640" cy="548640"/>
          </a:xfrm>
          <a:prstGeom prst="ellipse">
            <a:avLst/>
          </a:prstGeom>
          <a:solidFill>
            <a:srgbClr val="0B7A7A"/>
          </a:solidFill>
          <a:ln/>
        </p:spPr>
      </p:sp>
      <p:pic>
        <p:nvPicPr>
          <p:cNvPr id="13" name="Image 1" descr="preencoded.png">    </p:cNvPr>
          <p:cNvPicPr>
            <a:picLocks noChangeAspect="1"/>
          </p:cNvPicPr>
          <p:nvPr/>
        </p:nvPicPr>
        <p:blipFill>
          <a:blip r:embed="rId2"/>
          <a:stretch>
            <a:fillRect/>
          </a:stretch>
        </p:blipFill>
        <p:spPr>
          <a:xfrm>
            <a:off x="705917" y="3389681"/>
            <a:ext cx="307238" cy="307238"/>
          </a:xfrm>
          <a:prstGeom prst="rect">
            <a:avLst/>
          </a:prstGeom>
        </p:spPr>
      </p:pic>
      <p:sp>
        <p:nvSpPr>
          <p:cNvPr id="14" name="Text 9"/>
          <p:cNvSpPr txBox="1"/>
          <p:nvPr/>
        </p:nvSpPr>
        <p:spPr>
          <a:xfrm>
            <a:off x="1225296" y="3108960"/>
            <a:ext cx="1243584" cy="86868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iPhone</a:t>
            </a:r>
            <a:endParaRPr lang="en-US" sz="1800" dirty="0"/>
          </a:p>
        </p:txBody>
      </p:sp>
      <p:sp>
        <p:nvSpPr>
          <p:cNvPr id="15" name="Shape 10"/>
          <p:cNvSpPr/>
          <p:nvPr/>
        </p:nvSpPr>
        <p:spPr>
          <a:xfrm>
            <a:off x="3977640" y="1810512"/>
            <a:ext cx="4206240" cy="2331720"/>
          </a:xfrm>
          <a:prstGeom prst="roundRect">
            <a:avLst>
              <a:gd name="adj" fmla="val 6275"/>
            </a:avLst>
          </a:prstGeom>
          <a:solidFill>
            <a:srgbClr val="F1F5F9"/>
          </a:solidFill>
          <a:ln w="25400">
            <a:solidFill>
              <a:srgbClr val="2F6BC2"/>
            </a:solidFill>
            <a:prstDash val="dash"/>
          </a:ln>
        </p:spPr>
      </p:sp>
      <p:sp>
        <p:nvSpPr>
          <p:cNvPr id="16" name="Text 11"/>
          <p:cNvSpPr txBox="1"/>
          <p:nvPr/>
        </p:nvSpPr>
        <p:spPr>
          <a:xfrm>
            <a:off x="4069080" y="1856232"/>
            <a:ext cx="4023360"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家のWi-Fiルーター（一体型）</a:t>
            </a:r>
            <a:endParaRPr lang="en-US" sz="1800" dirty="0"/>
          </a:p>
        </p:txBody>
      </p:sp>
      <p:sp>
        <p:nvSpPr>
          <p:cNvPr id="17" name="Shape 12"/>
          <p:cNvSpPr/>
          <p:nvPr/>
        </p:nvSpPr>
        <p:spPr>
          <a:xfrm>
            <a:off x="4114800" y="2304288"/>
            <a:ext cx="3931920" cy="512064"/>
          </a:xfrm>
          <a:prstGeom prst="roundRect">
            <a:avLst>
              <a:gd name="adj" fmla="val 21429"/>
            </a:avLst>
          </a:prstGeom>
          <a:solidFill>
            <a:srgbClr val="FFFFFF"/>
          </a:solidFill>
          <a:ln/>
        </p:spPr>
      </p:sp>
      <p:sp>
        <p:nvSpPr>
          <p:cNvPr id="18" name="Text 13"/>
          <p:cNvSpPr txBox="1"/>
          <p:nvPr/>
        </p:nvSpPr>
        <p:spPr>
          <a:xfrm>
            <a:off x="4206240" y="2304288"/>
            <a:ext cx="3749040" cy="512064"/>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アクセスポイント（電波）</a:t>
            </a:r>
            <a:endParaRPr lang="en-US" sz="1800" dirty="0"/>
          </a:p>
        </p:txBody>
      </p:sp>
      <p:sp>
        <p:nvSpPr>
          <p:cNvPr id="19" name="Shape 14"/>
          <p:cNvSpPr/>
          <p:nvPr/>
        </p:nvSpPr>
        <p:spPr>
          <a:xfrm>
            <a:off x="4114800" y="2880360"/>
            <a:ext cx="3931920" cy="512064"/>
          </a:xfrm>
          <a:prstGeom prst="roundRect">
            <a:avLst>
              <a:gd name="adj" fmla="val 21429"/>
            </a:avLst>
          </a:prstGeom>
          <a:solidFill>
            <a:srgbClr val="FFFFFF"/>
          </a:solidFill>
          <a:ln/>
        </p:spPr>
      </p:sp>
      <p:sp>
        <p:nvSpPr>
          <p:cNvPr id="20" name="Text 15"/>
          <p:cNvSpPr txBox="1"/>
          <p:nvPr/>
        </p:nvSpPr>
        <p:spPr>
          <a:xfrm>
            <a:off x="4206240" y="2880360"/>
            <a:ext cx="3749040" cy="512064"/>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ルーター（行き先を決める）</a:t>
            </a:r>
            <a:endParaRPr lang="en-US" sz="1800" dirty="0"/>
          </a:p>
        </p:txBody>
      </p:sp>
      <p:sp>
        <p:nvSpPr>
          <p:cNvPr id="21" name="Shape 16"/>
          <p:cNvSpPr/>
          <p:nvPr/>
        </p:nvSpPr>
        <p:spPr>
          <a:xfrm>
            <a:off x="4114800" y="3456432"/>
            <a:ext cx="3931920" cy="512064"/>
          </a:xfrm>
          <a:prstGeom prst="roundRect">
            <a:avLst>
              <a:gd name="adj" fmla="val 21429"/>
            </a:avLst>
          </a:prstGeom>
          <a:solidFill>
            <a:srgbClr val="FFFFFF"/>
          </a:solidFill>
          <a:ln/>
        </p:spPr>
      </p:sp>
      <p:sp>
        <p:nvSpPr>
          <p:cNvPr id="22" name="Text 17"/>
          <p:cNvSpPr txBox="1"/>
          <p:nvPr/>
        </p:nvSpPr>
        <p:spPr>
          <a:xfrm>
            <a:off x="4206240" y="3456432"/>
            <a:ext cx="3749040" cy="512064"/>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DHCPなど（設定を配る）</a:t>
            </a:r>
            <a:endParaRPr lang="en-US" sz="1800" dirty="0"/>
          </a:p>
        </p:txBody>
      </p:sp>
      <p:sp>
        <p:nvSpPr>
          <p:cNvPr id="23" name="Shape 18"/>
          <p:cNvSpPr/>
          <p:nvPr/>
        </p:nvSpPr>
        <p:spPr>
          <a:xfrm>
            <a:off x="2560320" y="2350008"/>
            <a:ext cx="1417320" cy="256032"/>
          </a:xfrm>
          <a:prstGeom prst="line">
            <a:avLst/>
          </a:prstGeom>
          <a:noFill/>
          <a:ln w="38100">
            <a:solidFill>
              <a:srgbClr val="0B7A7A"/>
            </a:solidFill>
            <a:prstDash val="solid"/>
            <a:tailEnd type="triangle"/>
          </a:ln>
        </p:spPr>
      </p:sp>
      <p:sp>
        <p:nvSpPr>
          <p:cNvPr id="24" name="Text 19"/>
          <p:cNvSpPr txBox="1"/>
          <p:nvPr/>
        </p:nvSpPr>
        <p:spPr>
          <a:xfrm>
            <a:off x="2903220" y="2007108"/>
            <a:ext cx="73152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Wi-Fi</a:t>
            </a:r>
            <a:endParaRPr lang="en-US" sz="1800" dirty="0"/>
          </a:p>
        </p:txBody>
      </p:sp>
      <p:sp>
        <p:nvSpPr>
          <p:cNvPr id="25" name="Shape 20"/>
          <p:cNvSpPr/>
          <p:nvPr/>
        </p:nvSpPr>
        <p:spPr>
          <a:xfrm flipV="1">
            <a:off x="2560320" y="3337560"/>
            <a:ext cx="1417320" cy="201168"/>
          </a:xfrm>
          <a:prstGeom prst="line">
            <a:avLst/>
          </a:prstGeom>
          <a:noFill/>
          <a:ln w="38100">
            <a:solidFill>
              <a:srgbClr val="0B7A7A"/>
            </a:solidFill>
            <a:prstDash val="solid"/>
            <a:tailEnd type="triangle"/>
          </a:ln>
        </p:spPr>
      </p:sp>
      <p:sp>
        <p:nvSpPr>
          <p:cNvPr id="26" name="Shape 21"/>
          <p:cNvSpPr/>
          <p:nvPr/>
        </p:nvSpPr>
        <p:spPr>
          <a:xfrm>
            <a:off x="8595360" y="2267712"/>
            <a:ext cx="1554480" cy="1371600"/>
          </a:xfrm>
          <a:prstGeom prst="roundRect">
            <a:avLst>
              <a:gd name="adj" fmla="val 8000"/>
            </a:avLst>
          </a:prstGeom>
          <a:solidFill>
            <a:srgbClr val="DCE8F8"/>
          </a:solidFill>
          <a:ln w="25400">
            <a:solidFill>
              <a:srgbClr val="2F6BC2"/>
            </a:solidFill>
            <a:prstDash val="solid"/>
          </a:ln>
        </p:spPr>
      </p:sp>
      <p:sp>
        <p:nvSpPr>
          <p:cNvPr id="27" name="Text 22"/>
          <p:cNvSpPr txBox="1"/>
          <p:nvPr/>
        </p:nvSpPr>
        <p:spPr>
          <a:xfrm>
            <a:off x="8686800" y="2267712"/>
            <a:ext cx="1371600" cy="13716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ONU</a:t>
            </a:r>
            <a:endParaRPr lang="en-US" sz="18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光回線</a:t>
            </a:r>
            <a:endParaRPr lang="en-US" sz="1800" dirty="0"/>
          </a:p>
        </p:txBody>
      </p:sp>
      <p:sp>
        <p:nvSpPr>
          <p:cNvPr id="28" name="Shape 23"/>
          <p:cNvSpPr/>
          <p:nvPr/>
        </p:nvSpPr>
        <p:spPr>
          <a:xfrm>
            <a:off x="10424160" y="2267712"/>
            <a:ext cx="1307592" cy="1371600"/>
          </a:xfrm>
          <a:prstGeom prst="roundRect">
            <a:avLst>
              <a:gd name="adj" fmla="val 8392"/>
            </a:avLst>
          </a:prstGeom>
          <a:solidFill>
            <a:srgbClr val="DCE8F8"/>
          </a:solidFill>
          <a:ln w="25400">
            <a:solidFill>
              <a:srgbClr val="2F6BC2"/>
            </a:solidFill>
            <a:prstDash val="solid"/>
          </a:ln>
        </p:spPr>
      </p:sp>
      <p:sp>
        <p:nvSpPr>
          <p:cNvPr id="29" name="Text 24"/>
          <p:cNvSpPr txBox="1"/>
          <p:nvPr/>
        </p:nvSpPr>
        <p:spPr>
          <a:xfrm>
            <a:off x="10515600" y="2267712"/>
            <a:ext cx="1124712" cy="13716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ISP</a:t>
            </a:r>
            <a:endParaRPr lang="en-US" sz="18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通信会社</a:t>
            </a:r>
            <a:endParaRPr lang="en-US" sz="1800" dirty="0"/>
          </a:p>
        </p:txBody>
      </p:sp>
      <p:sp>
        <p:nvSpPr>
          <p:cNvPr id="30" name="Shape 25"/>
          <p:cNvSpPr/>
          <p:nvPr/>
        </p:nvSpPr>
        <p:spPr>
          <a:xfrm>
            <a:off x="8183880" y="2953512"/>
            <a:ext cx="411480" cy="0"/>
          </a:xfrm>
          <a:prstGeom prst="line">
            <a:avLst/>
          </a:prstGeom>
          <a:noFill/>
          <a:ln w="38100">
            <a:solidFill>
              <a:srgbClr val="2F6BC2"/>
            </a:solidFill>
            <a:prstDash val="solid"/>
            <a:tailEnd type="triangle"/>
          </a:ln>
        </p:spPr>
      </p:sp>
      <p:sp>
        <p:nvSpPr>
          <p:cNvPr id="31" name="Shape 26"/>
          <p:cNvSpPr/>
          <p:nvPr/>
        </p:nvSpPr>
        <p:spPr>
          <a:xfrm>
            <a:off x="10149840" y="2953512"/>
            <a:ext cx="274320" cy="0"/>
          </a:xfrm>
          <a:prstGeom prst="line">
            <a:avLst/>
          </a:prstGeom>
          <a:noFill/>
          <a:ln w="38100">
            <a:solidFill>
              <a:srgbClr val="2F6BC2"/>
            </a:solidFill>
            <a:prstDash val="solid"/>
            <a:tailEnd type="triangle"/>
          </a:ln>
        </p:spPr>
      </p:sp>
      <p:sp>
        <p:nvSpPr>
          <p:cNvPr id="32" name="Shape 27"/>
          <p:cNvSpPr/>
          <p:nvPr/>
        </p:nvSpPr>
        <p:spPr>
          <a:xfrm>
            <a:off x="457200" y="4297680"/>
            <a:ext cx="3611880" cy="2011680"/>
          </a:xfrm>
          <a:prstGeom prst="roundRect">
            <a:avLst>
              <a:gd name="adj" fmla="val 6364"/>
            </a:avLst>
          </a:prstGeom>
          <a:solidFill>
            <a:srgbClr val="D9F2F1"/>
          </a:solidFill>
          <a:ln/>
        </p:spPr>
      </p:sp>
      <p:sp>
        <p:nvSpPr>
          <p:cNvPr id="33" name="Shape 28"/>
          <p:cNvSpPr/>
          <p:nvPr/>
        </p:nvSpPr>
        <p:spPr>
          <a:xfrm>
            <a:off x="621792" y="4425696"/>
            <a:ext cx="512064" cy="512064"/>
          </a:xfrm>
          <a:prstGeom prst="ellipse">
            <a:avLst/>
          </a:prstGeom>
          <a:solidFill>
            <a:srgbClr val="0B7A7A"/>
          </a:solidFill>
          <a:ln/>
        </p:spPr>
      </p:sp>
      <p:pic>
        <p:nvPicPr>
          <p:cNvPr id="34" name="Image 2" descr="preencoded.png">    </p:cNvPr>
          <p:cNvPicPr>
            <a:picLocks noChangeAspect="1"/>
          </p:cNvPicPr>
          <p:nvPr/>
        </p:nvPicPr>
        <p:blipFill>
          <a:blip r:embed="rId3"/>
          <a:stretch>
            <a:fillRect/>
          </a:stretch>
        </p:blipFill>
        <p:spPr>
          <a:xfrm>
            <a:off x="734446" y="4538350"/>
            <a:ext cx="286756" cy="286756"/>
          </a:xfrm>
          <a:prstGeom prst="rect">
            <a:avLst/>
          </a:prstGeom>
        </p:spPr>
      </p:pic>
      <p:sp>
        <p:nvSpPr>
          <p:cNvPr id="35" name="Text 29"/>
          <p:cNvSpPr txBox="1"/>
          <p:nvPr/>
        </p:nvSpPr>
        <p:spPr>
          <a:xfrm>
            <a:off x="1243584" y="442569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Wi-Fi</a:t>
            </a:r>
            <a:endParaRPr lang="en-US" sz="2200" dirty="0"/>
          </a:p>
        </p:txBody>
      </p:sp>
      <p:sp>
        <p:nvSpPr>
          <p:cNvPr id="36" name="Text 30"/>
          <p:cNvSpPr txBox="1"/>
          <p:nvPr/>
        </p:nvSpPr>
        <p:spPr>
          <a:xfrm>
            <a:off x="640080" y="5029200"/>
            <a:ext cx="3246120" cy="118872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端末とアクセスポイントを電波でつなぐ技術。近くの区間だけ</a:t>
            </a:r>
            <a:endParaRPr lang="en-US" sz="2000" dirty="0"/>
          </a:p>
        </p:txBody>
      </p:sp>
      <p:sp>
        <p:nvSpPr>
          <p:cNvPr id="37" name="Shape 31"/>
          <p:cNvSpPr/>
          <p:nvPr/>
        </p:nvSpPr>
        <p:spPr>
          <a:xfrm>
            <a:off x="4288536" y="4297680"/>
            <a:ext cx="3611880" cy="2011680"/>
          </a:xfrm>
          <a:prstGeom prst="roundRect">
            <a:avLst>
              <a:gd name="adj" fmla="val 6364"/>
            </a:avLst>
          </a:prstGeom>
          <a:solidFill>
            <a:srgbClr val="DCE8F8"/>
          </a:solidFill>
          <a:ln/>
        </p:spPr>
      </p:sp>
      <p:sp>
        <p:nvSpPr>
          <p:cNvPr id="38" name="Shape 32"/>
          <p:cNvSpPr/>
          <p:nvPr/>
        </p:nvSpPr>
        <p:spPr>
          <a:xfrm>
            <a:off x="4453128" y="4425696"/>
            <a:ext cx="512064" cy="512064"/>
          </a:xfrm>
          <a:prstGeom prst="ellipse">
            <a:avLst/>
          </a:prstGeom>
          <a:solidFill>
            <a:srgbClr val="2F6BC2"/>
          </a:solidFill>
          <a:ln/>
        </p:spPr>
      </p:sp>
      <p:pic>
        <p:nvPicPr>
          <p:cNvPr id="39" name="Image 3" descr="preencoded.png">    </p:cNvPr>
          <p:cNvPicPr>
            <a:picLocks noChangeAspect="1"/>
          </p:cNvPicPr>
          <p:nvPr/>
        </p:nvPicPr>
        <p:blipFill>
          <a:blip r:embed="rId4"/>
          <a:stretch>
            <a:fillRect/>
          </a:stretch>
        </p:blipFill>
        <p:spPr>
          <a:xfrm>
            <a:off x="4565782" y="4538350"/>
            <a:ext cx="286756" cy="286756"/>
          </a:xfrm>
          <a:prstGeom prst="rect">
            <a:avLst/>
          </a:prstGeom>
        </p:spPr>
      </p:pic>
      <p:sp>
        <p:nvSpPr>
          <p:cNvPr id="40" name="Text 33"/>
          <p:cNvSpPr txBox="1"/>
          <p:nvPr/>
        </p:nvSpPr>
        <p:spPr>
          <a:xfrm>
            <a:off x="5074920" y="442569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インターネット回線</a:t>
            </a:r>
            <a:endParaRPr lang="en-US" sz="2200" dirty="0"/>
          </a:p>
        </p:txBody>
      </p:sp>
      <p:sp>
        <p:nvSpPr>
          <p:cNvPr id="41" name="Text 34"/>
          <p:cNvSpPr txBox="1"/>
          <p:nvPr/>
        </p:nvSpPr>
        <p:spPr>
          <a:xfrm>
            <a:off x="4471416" y="5029200"/>
            <a:ext cx="3246120" cy="118872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自宅から通信会社のネットワークへつながる回線（光など）</a:t>
            </a:r>
            <a:endParaRPr lang="en-US" sz="2000" dirty="0"/>
          </a:p>
        </p:txBody>
      </p:sp>
      <p:sp>
        <p:nvSpPr>
          <p:cNvPr id="42" name="Shape 35"/>
          <p:cNvSpPr/>
          <p:nvPr/>
        </p:nvSpPr>
        <p:spPr>
          <a:xfrm>
            <a:off x="8119872" y="4297680"/>
            <a:ext cx="3611880" cy="2011680"/>
          </a:xfrm>
          <a:prstGeom prst="roundRect">
            <a:avLst>
              <a:gd name="adj" fmla="val 6364"/>
            </a:avLst>
          </a:prstGeom>
          <a:solidFill>
            <a:srgbClr val="DCE8F8"/>
          </a:solidFill>
          <a:ln/>
        </p:spPr>
      </p:sp>
      <p:sp>
        <p:nvSpPr>
          <p:cNvPr id="43" name="Shape 36"/>
          <p:cNvSpPr/>
          <p:nvPr/>
        </p:nvSpPr>
        <p:spPr>
          <a:xfrm>
            <a:off x="8284464" y="4425696"/>
            <a:ext cx="512064" cy="512064"/>
          </a:xfrm>
          <a:prstGeom prst="ellipse">
            <a:avLst/>
          </a:prstGeom>
          <a:solidFill>
            <a:srgbClr val="2F6BC2"/>
          </a:solidFill>
          <a:ln/>
        </p:spPr>
      </p:sp>
      <p:pic>
        <p:nvPicPr>
          <p:cNvPr id="44" name="Image 4" descr="preencoded.png">    </p:cNvPr>
          <p:cNvPicPr>
            <a:picLocks noChangeAspect="1"/>
          </p:cNvPicPr>
          <p:nvPr/>
        </p:nvPicPr>
        <p:blipFill>
          <a:blip r:embed="rId5"/>
          <a:stretch>
            <a:fillRect/>
          </a:stretch>
        </p:blipFill>
        <p:spPr>
          <a:xfrm>
            <a:off x="8397118" y="4538350"/>
            <a:ext cx="286756" cy="286756"/>
          </a:xfrm>
          <a:prstGeom prst="rect">
            <a:avLst/>
          </a:prstGeom>
        </p:spPr>
      </p:pic>
      <p:sp>
        <p:nvSpPr>
          <p:cNvPr id="45" name="Text 37"/>
          <p:cNvSpPr txBox="1"/>
          <p:nvPr/>
        </p:nvSpPr>
        <p:spPr>
          <a:xfrm>
            <a:off x="8906256" y="442569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ルーター</a:t>
            </a:r>
            <a:endParaRPr lang="en-US" sz="2200" dirty="0"/>
          </a:p>
        </p:txBody>
      </p:sp>
      <p:sp>
        <p:nvSpPr>
          <p:cNvPr id="46" name="Text 38"/>
          <p:cNvSpPr txBox="1"/>
          <p:nvPr/>
        </p:nvSpPr>
        <p:spPr>
          <a:xfrm>
            <a:off x="8302752" y="5029200"/>
            <a:ext cx="3246120" cy="118872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異なるネットワークの間でデータの行き先を決める機器</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Wi-Fiにつながっても、インターネットに届くとは限らない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Wi-Fiマークが出ていても、外に出られるとは限りません。①参加 ②設定の受取 ③名前の解決 ④宛先への到達、の順に確認すると、止まっている場所が分かります。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出典：[B21]</a:t>
            </a:r>
            <a:endParaRPr lang="ja-JP" sz="1200" dirty="0"/>
          </a:p>
        </p:txBody>
      </p:sp>
      <p:sp>
        <p:nvSpPr>
          <p:cNvPr id="8" name="Shape 5"/>
          <p:cNvSpPr/>
          <p:nvPr/>
        </p:nvSpPr>
        <p:spPr>
          <a:xfrm>
            <a:off x="457200" y="1874520"/>
            <a:ext cx="2697480" cy="914400"/>
          </a:xfrm>
          <a:prstGeom prst="roundRect">
            <a:avLst>
              <a:gd name="adj" fmla="val 12000"/>
            </a:avLst>
          </a:prstGeom>
          <a:solidFill>
            <a:srgbClr val="0B7A7A"/>
          </a:solidFill>
          <a:ln/>
        </p:spPr>
      </p:sp>
      <p:sp>
        <p:nvSpPr>
          <p:cNvPr id="9" name="Text 6"/>
          <p:cNvSpPr txBox="1"/>
          <p:nvPr/>
        </p:nvSpPr>
        <p:spPr>
          <a:xfrm>
            <a:off x="548640" y="1874520"/>
            <a:ext cx="251460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① Wi-Fiに参加</a:t>
            </a:r>
            <a:endParaRPr lang="en-US" sz="2000" dirty="0"/>
          </a:p>
        </p:txBody>
      </p:sp>
      <p:sp>
        <p:nvSpPr>
          <p:cNvPr id="10" name="Text 7"/>
          <p:cNvSpPr txBox="1"/>
          <p:nvPr/>
        </p:nvSpPr>
        <p:spPr>
          <a:xfrm>
            <a:off x="457200" y="2880360"/>
            <a:ext cx="2697480" cy="9144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アクセスポイントと接続・保護（WPA2/3）</a:t>
            </a:r>
            <a:endParaRPr lang="en-US" sz="1800" dirty="0"/>
          </a:p>
        </p:txBody>
      </p:sp>
      <p:sp>
        <p:nvSpPr>
          <p:cNvPr id="11" name="Shape 8"/>
          <p:cNvSpPr/>
          <p:nvPr/>
        </p:nvSpPr>
        <p:spPr>
          <a:xfrm>
            <a:off x="457200" y="3886200"/>
            <a:ext cx="2697480" cy="868680"/>
          </a:xfrm>
          <a:prstGeom prst="roundRect">
            <a:avLst>
              <a:gd name="adj" fmla="val 10526"/>
            </a:avLst>
          </a:prstGeom>
          <a:solidFill>
            <a:srgbClr val="0F2438"/>
          </a:solidFill>
          <a:ln/>
        </p:spPr>
      </p:sp>
      <p:sp>
        <p:nvSpPr>
          <p:cNvPr id="12" name="Text 9"/>
          <p:cNvSpPr txBox="1"/>
          <p:nvPr/>
        </p:nvSpPr>
        <p:spPr>
          <a:xfrm>
            <a:off x="548640" y="3886200"/>
            <a:ext cx="251460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E2E8F0"/>
                </a:solidFill>
                <a:latin typeface="Yu Gothic" pitchFamily="34" charset="0"/>
                <a:ea typeface="Yu Gothic" pitchFamily="34" charset="-122"/>
                <a:cs typeface="Yu Gothic" pitchFamily="34" charset="-120"/>
              </a:rPr>
              <a:t>netsh wlan show interfaces</a:t>
            </a:r>
            <a:endParaRPr lang="en-US" sz="1800" dirty="0"/>
          </a:p>
        </p:txBody>
      </p:sp>
      <p:sp>
        <p:nvSpPr>
          <p:cNvPr id="13" name="Shape 10"/>
          <p:cNvSpPr/>
          <p:nvPr/>
        </p:nvSpPr>
        <p:spPr>
          <a:xfrm>
            <a:off x="3154680" y="2331720"/>
            <a:ext cx="155448" cy="0"/>
          </a:xfrm>
          <a:prstGeom prst="line">
            <a:avLst/>
          </a:prstGeom>
          <a:noFill/>
          <a:ln w="38100">
            <a:solidFill>
              <a:srgbClr val="1B2A3A"/>
            </a:solidFill>
            <a:prstDash val="solid"/>
            <a:tailEnd type="triangle"/>
          </a:ln>
        </p:spPr>
      </p:sp>
      <p:sp>
        <p:nvSpPr>
          <p:cNvPr id="14" name="Shape 11"/>
          <p:cNvSpPr/>
          <p:nvPr/>
        </p:nvSpPr>
        <p:spPr>
          <a:xfrm>
            <a:off x="3310128" y="1874520"/>
            <a:ext cx="2697480" cy="914400"/>
          </a:xfrm>
          <a:prstGeom prst="roundRect">
            <a:avLst>
              <a:gd name="adj" fmla="val 12000"/>
            </a:avLst>
          </a:prstGeom>
          <a:solidFill>
            <a:srgbClr val="2F6BC2"/>
          </a:solidFill>
          <a:ln/>
        </p:spPr>
      </p:sp>
      <p:sp>
        <p:nvSpPr>
          <p:cNvPr id="15" name="Text 12"/>
          <p:cNvSpPr txBox="1"/>
          <p:nvPr/>
        </p:nvSpPr>
        <p:spPr>
          <a:xfrm>
            <a:off x="3401568" y="1874520"/>
            <a:ext cx="251460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② 設定を受け取る</a:t>
            </a:r>
            <a:endParaRPr lang="en-US" sz="2000" dirty="0"/>
          </a:p>
        </p:txBody>
      </p:sp>
      <p:sp>
        <p:nvSpPr>
          <p:cNvPr id="16" name="Text 13"/>
          <p:cNvSpPr txBox="1"/>
          <p:nvPr/>
        </p:nvSpPr>
        <p:spPr>
          <a:xfrm>
            <a:off x="3310128" y="2880360"/>
            <a:ext cx="2697480" cy="9144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DHCPで住所・出口・DNSを受け取る</a:t>
            </a:r>
            <a:endParaRPr lang="en-US" sz="1800" dirty="0"/>
          </a:p>
        </p:txBody>
      </p:sp>
      <p:sp>
        <p:nvSpPr>
          <p:cNvPr id="17" name="Shape 14"/>
          <p:cNvSpPr/>
          <p:nvPr/>
        </p:nvSpPr>
        <p:spPr>
          <a:xfrm>
            <a:off x="3310128" y="3886200"/>
            <a:ext cx="2697480" cy="868680"/>
          </a:xfrm>
          <a:prstGeom prst="roundRect">
            <a:avLst>
              <a:gd name="adj" fmla="val 10526"/>
            </a:avLst>
          </a:prstGeom>
          <a:solidFill>
            <a:srgbClr val="0F2438"/>
          </a:solidFill>
          <a:ln/>
        </p:spPr>
      </p:sp>
      <p:sp>
        <p:nvSpPr>
          <p:cNvPr id="18" name="Text 15"/>
          <p:cNvSpPr txBox="1"/>
          <p:nvPr/>
        </p:nvSpPr>
        <p:spPr>
          <a:xfrm>
            <a:off x="3401568" y="3886200"/>
            <a:ext cx="251460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E2E8F0"/>
                </a:solidFill>
                <a:latin typeface="Yu Gothic" pitchFamily="34" charset="0"/>
                <a:ea typeface="Yu Gothic" pitchFamily="34" charset="-122"/>
                <a:cs typeface="Yu Gothic" pitchFamily="34" charset="-120"/>
              </a:rPr>
              <a:t>ipconfig /all</a:t>
            </a:r>
            <a:endParaRPr lang="en-US" sz="1800" dirty="0"/>
          </a:p>
        </p:txBody>
      </p:sp>
      <p:sp>
        <p:nvSpPr>
          <p:cNvPr id="19" name="Shape 16"/>
          <p:cNvSpPr/>
          <p:nvPr/>
        </p:nvSpPr>
        <p:spPr>
          <a:xfrm>
            <a:off x="6007608" y="2331720"/>
            <a:ext cx="155448" cy="0"/>
          </a:xfrm>
          <a:prstGeom prst="line">
            <a:avLst/>
          </a:prstGeom>
          <a:noFill/>
          <a:ln w="38100">
            <a:solidFill>
              <a:srgbClr val="1B2A3A"/>
            </a:solidFill>
            <a:prstDash val="solid"/>
            <a:tailEnd type="triangle"/>
          </a:ln>
        </p:spPr>
      </p:sp>
      <p:sp>
        <p:nvSpPr>
          <p:cNvPr id="20" name="Shape 17"/>
          <p:cNvSpPr/>
          <p:nvPr/>
        </p:nvSpPr>
        <p:spPr>
          <a:xfrm>
            <a:off x="6163056" y="1874520"/>
            <a:ext cx="2697480" cy="914400"/>
          </a:xfrm>
          <a:prstGeom prst="roundRect">
            <a:avLst>
              <a:gd name="adj" fmla="val 12000"/>
            </a:avLst>
          </a:prstGeom>
          <a:solidFill>
            <a:srgbClr val="2F6BC2"/>
          </a:solidFill>
          <a:ln/>
        </p:spPr>
      </p:sp>
      <p:sp>
        <p:nvSpPr>
          <p:cNvPr id="21" name="Text 18"/>
          <p:cNvSpPr txBox="1"/>
          <p:nvPr/>
        </p:nvSpPr>
        <p:spPr>
          <a:xfrm>
            <a:off x="6254496" y="1874520"/>
            <a:ext cx="251460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③ 名前を調べられる</a:t>
            </a:r>
            <a:endParaRPr lang="en-US" sz="2000" dirty="0"/>
          </a:p>
        </p:txBody>
      </p:sp>
      <p:sp>
        <p:nvSpPr>
          <p:cNvPr id="22" name="Text 19"/>
          <p:cNvSpPr txBox="1"/>
          <p:nvPr/>
        </p:nvSpPr>
        <p:spPr>
          <a:xfrm>
            <a:off x="6163056" y="2880360"/>
            <a:ext cx="2697480" cy="9144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出口とDNSが使える</a:t>
            </a:r>
            <a:endParaRPr lang="en-US" sz="1800" dirty="0"/>
          </a:p>
        </p:txBody>
      </p:sp>
      <p:sp>
        <p:nvSpPr>
          <p:cNvPr id="23" name="Shape 20"/>
          <p:cNvSpPr/>
          <p:nvPr/>
        </p:nvSpPr>
        <p:spPr>
          <a:xfrm>
            <a:off x="6163056" y="3886200"/>
            <a:ext cx="2697480" cy="868680"/>
          </a:xfrm>
          <a:prstGeom prst="roundRect">
            <a:avLst>
              <a:gd name="adj" fmla="val 10526"/>
            </a:avLst>
          </a:prstGeom>
          <a:solidFill>
            <a:srgbClr val="0F2438"/>
          </a:solidFill>
          <a:ln/>
        </p:spPr>
      </p:sp>
      <p:sp>
        <p:nvSpPr>
          <p:cNvPr id="24" name="Text 21"/>
          <p:cNvSpPr txBox="1"/>
          <p:nvPr/>
        </p:nvSpPr>
        <p:spPr>
          <a:xfrm>
            <a:off x="6254496" y="3886200"/>
            <a:ext cx="251460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E2E8F0"/>
                </a:solidFill>
                <a:latin typeface="Yu Gothic" pitchFamily="34" charset="0"/>
                <a:ea typeface="Yu Gothic" pitchFamily="34" charset="-122"/>
                <a:cs typeface="Yu Gothic" pitchFamily="34" charset="-120"/>
              </a:rPr>
              <a:t>nslookup chatgpt.com</a:t>
            </a:r>
            <a:endParaRPr lang="en-US" sz="1800" dirty="0"/>
          </a:p>
        </p:txBody>
      </p:sp>
      <p:sp>
        <p:nvSpPr>
          <p:cNvPr id="25" name="Shape 22"/>
          <p:cNvSpPr/>
          <p:nvPr/>
        </p:nvSpPr>
        <p:spPr>
          <a:xfrm>
            <a:off x="8860536" y="2331720"/>
            <a:ext cx="155448" cy="0"/>
          </a:xfrm>
          <a:prstGeom prst="line">
            <a:avLst/>
          </a:prstGeom>
          <a:noFill/>
          <a:ln w="38100">
            <a:solidFill>
              <a:srgbClr val="1B2A3A"/>
            </a:solidFill>
            <a:prstDash val="solid"/>
            <a:tailEnd type="triangle"/>
          </a:ln>
        </p:spPr>
      </p:sp>
      <p:sp>
        <p:nvSpPr>
          <p:cNvPr id="26" name="Shape 23"/>
          <p:cNvSpPr/>
          <p:nvPr/>
        </p:nvSpPr>
        <p:spPr>
          <a:xfrm>
            <a:off x="9015984" y="1874520"/>
            <a:ext cx="2697480" cy="914400"/>
          </a:xfrm>
          <a:prstGeom prst="roundRect">
            <a:avLst>
              <a:gd name="adj" fmla="val 12000"/>
            </a:avLst>
          </a:prstGeom>
          <a:solidFill>
            <a:srgbClr val="2F6BC2"/>
          </a:solidFill>
          <a:ln/>
        </p:spPr>
      </p:sp>
      <p:sp>
        <p:nvSpPr>
          <p:cNvPr id="27" name="Text 24"/>
          <p:cNvSpPr txBox="1"/>
          <p:nvPr/>
        </p:nvSpPr>
        <p:spPr>
          <a:xfrm>
            <a:off x="9107424" y="1874520"/>
            <a:ext cx="251460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④ 宛先に届く</a:t>
            </a:r>
            <a:endParaRPr lang="en-US" sz="2000" dirty="0"/>
          </a:p>
        </p:txBody>
      </p:sp>
      <p:sp>
        <p:nvSpPr>
          <p:cNvPr id="28" name="Text 25"/>
          <p:cNvSpPr txBox="1"/>
          <p:nvPr/>
        </p:nvSpPr>
        <p:spPr>
          <a:xfrm>
            <a:off x="9015984" y="2880360"/>
            <a:ext cx="2697480" cy="9144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 443番へ接続できる</a:t>
            </a:r>
            <a:endParaRPr lang="en-US" sz="1800" dirty="0"/>
          </a:p>
        </p:txBody>
      </p:sp>
      <p:sp>
        <p:nvSpPr>
          <p:cNvPr id="29" name="Shape 26"/>
          <p:cNvSpPr/>
          <p:nvPr/>
        </p:nvSpPr>
        <p:spPr>
          <a:xfrm>
            <a:off x="9015984" y="3886200"/>
            <a:ext cx="2697480" cy="868680"/>
          </a:xfrm>
          <a:prstGeom prst="roundRect">
            <a:avLst>
              <a:gd name="adj" fmla="val 10526"/>
            </a:avLst>
          </a:prstGeom>
          <a:solidFill>
            <a:srgbClr val="0F2438"/>
          </a:solidFill>
          <a:ln/>
        </p:spPr>
      </p:sp>
      <p:sp>
        <p:nvSpPr>
          <p:cNvPr id="30" name="Text 27"/>
          <p:cNvSpPr txBox="1"/>
          <p:nvPr/>
        </p:nvSpPr>
        <p:spPr>
          <a:xfrm>
            <a:off x="9107424" y="3886200"/>
            <a:ext cx="251460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E2E8F0"/>
                </a:solidFill>
                <a:latin typeface="Yu Gothic" pitchFamily="34" charset="0"/>
                <a:ea typeface="Yu Gothic" pitchFamily="34" charset="-122"/>
                <a:cs typeface="Yu Gothic" pitchFamily="34" charset="-120"/>
              </a:rPr>
              <a:t>Test-NetConnection chatgpt.com -Port 443</a:t>
            </a:r>
            <a:endParaRPr lang="en-US" sz="1800" dirty="0"/>
          </a:p>
        </p:txBody>
      </p:sp>
      <p:sp>
        <p:nvSpPr>
          <p:cNvPr id="31" name="Text 28"/>
          <p:cNvSpPr txBox="1"/>
          <p:nvPr/>
        </p:nvSpPr>
        <p:spPr>
          <a:xfrm>
            <a:off x="457200" y="4846320"/>
            <a:ext cx="11274552"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「Wi-Fi接続済み」は①だけ。インターネットに届くには①〜④がそろう必要がある</a:t>
            </a:r>
            <a:endParaRPr lang="en-US" sz="2000" dirty="0"/>
          </a:p>
        </p:txBody>
      </p:sp>
      <p:sp>
        <p:nvSpPr>
          <p:cNvPr id="32" name="Shape 29"/>
          <p:cNvSpPr/>
          <p:nvPr/>
        </p:nvSpPr>
        <p:spPr>
          <a:xfrm>
            <a:off x="457200" y="5303520"/>
            <a:ext cx="11274552" cy="960120"/>
          </a:xfrm>
          <a:prstGeom prst="roundRect">
            <a:avLst>
              <a:gd name="adj" fmla="val 11429"/>
            </a:avLst>
          </a:prstGeom>
          <a:solidFill>
            <a:srgbClr val="FBE3E0"/>
          </a:solidFill>
          <a:ln w="19050">
            <a:solidFill>
              <a:srgbClr val="C0392B"/>
            </a:solidFill>
            <a:prstDash val="solid"/>
          </a:ln>
        </p:spPr>
      </p:sp>
      <p:sp>
        <p:nvSpPr>
          <p:cNvPr id="33" name="Shape 30"/>
          <p:cNvSpPr/>
          <p:nvPr/>
        </p:nvSpPr>
        <p:spPr>
          <a:xfrm>
            <a:off x="594360" y="5554980"/>
            <a:ext cx="457200" cy="457200"/>
          </a:xfrm>
          <a:prstGeom prst="ellipse">
            <a:avLst/>
          </a:prstGeom>
          <a:solidFill>
            <a:srgbClr val="C0392B"/>
          </a:solidFill>
          <a:ln/>
        </p:spPr>
      </p:sp>
      <p:pic>
        <p:nvPicPr>
          <p:cNvPr id="34" name="Image 0" descr="preencoded.png">    </p:cNvPr>
          <p:cNvPicPr>
            <a:picLocks noChangeAspect="1"/>
          </p:cNvPicPr>
          <p:nvPr/>
        </p:nvPicPr>
        <p:blipFill>
          <a:blip r:embed="rId1"/>
          <a:stretch>
            <a:fillRect/>
          </a:stretch>
        </p:blipFill>
        <p:spPr>
          <a:xfrm>
            <a:off x="694944" y="5655564"/>
            <a:ext cx="256032" cy="256032"/>
          </a:xfrm>
          <a:prstGeom prst="rect">
            <a:avLst/>
          </a:prstGeom>
        </p:spPr>
      </p:pic>
      <p:sp>
        <p:nvSpPr>
          <p:cNvPr id="35" name="Text 31"/>
          <p:cNvSpPr txBox="1"/>
          <p:nvPr/>
        </p:nvSpPr>
        <p:spPr>
          <a:xfrm>
            <a:off x="1188720" y="5349240"/>
            <a:ext cx="10405872" cy="8686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Wi-Fiのリンク速度やアンテナ表示だけでは、外へ届くか・アプリが正常かは分からない。段階ごとに確認する</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DHCPは住所と出口などの設定を端末に渡す</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DHCPは、Wi-Fiにつないだ端末に「あなたの住所はこれ、外へ出る出口はここ」と自動で設定を渡す仕組みです。ホテルで部屋番号を渡されるイメージです。</a:t>
            </a:r>
            <a:endParaRPr lang="en-US" sz="1800" dirty="0"/>
          </a:p>
        </p:txBody>
      </p:sp>
      <p:sp>
        <p:nvSpPr>
          <p:cNvPr id="7" name="Shape 4"/>
          <p:cNvSpPr/>
          <p:nvPr/>
        </p:nvSpPr>
        <p:spPr>
          <a:xfrm>
            <a:off x="548640" y="1737360"/>
            <a:ext cx="1920240" cy="658368"/>
          </a:xfrm>
          <a:prstGeom prst="roundRect">
            <a:avLst>
              <a:gd name="adj" fmla="val 13889"/>
            </a:avLst>
          </a:prstGeom>
          <a:solidFill>
            <a:srgbClr val="0B7A7A"/>
          </a:solidFill>
          <a:ln w="25400">
            <a:solidFill>
              <a:srgbClr val="0B7A7A"/>
            </a:solidFill>
            <a:prstDash val="solid"/>
          </a:ln>
        </p:spPr>
      </p:sp>
      <p:sp>
        <p:nvSpPr>
          <p:cNvPr id="8" name="Text 5"/>
          <p:cNvSpPr txBox="1"/>
          <p:nvPr/>
        </p:nvSpPr>
        <p:spPr>
          <a:xfrm>
            <a:off x="640080" y="1737360"/>
            <a:ext cx="1737360" cy="65836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端末</a:t>
            </a:r>
            <a:endParaRPr lang="en-US" sz="1800" dirty="0"/>
          </a:p>
        </p:txBody>
      </p:sp>
      <p:sp>
        <p:nvSpPr>
          <p:cNvPr id="9" name="Shape 6"/>
          <p:cNvSpPr/>
          <p:nvPr/>
        </p:nvSpPr>
        <p:spPr>
          <a:xfrm>
            <a:off x="2651760" y="1737360"/>
            <a:ext cx="1920240" cy="658368"/>
          </a:xfrm>
          <a:prstGeom prst="roundRect">
            <a:avLst>
              <a:gd name="adj" fmla="val 13889"/>
            </a:avLst>
          </a:prstGeom>
          <a:solidFill>
            <a:srgbClr val="B45309"/>
          </a:solidFill>
          <a:ln w="25400">
            <a:solidFill>
              <a:srgbClr val="B45309"/>
            </a:solidFill>
            <a:prstDash val="solid"/>
          </a:ln>
        </p:spPr>
      </p:sp>
      <p:sp>
        <p:nvSpPr>
          <p:cNvPr id="10" name="Text 7"/>
          <p:cNvSpPr txBox="1"/>
          <p:nvPr/>
        </p:nvSpPr>
        <p:spPr>
          <a:xfrm>
            <a:off x="2743200" y="1737360"/>
            <a:ext cx="1737360" cy="65836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DHCP</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ルーター内</a:t>
            </a:r>
            <a:endParaRPr lang="en-US" sz="1800" dirty="0"/>
          </a:p>
        </p:txBody>
      </p:sp>
      <p:sp>
        <p:nvSpPr>
          <p:cNvPr id="11" name="Shape 8"/>
          <p:cNvSpPr/>
          <p:nvPr/>
        </p:nvSpPr>
        <p:spPr>
          <a:xfrm>
            <a:off x="1508760" y="2395728"/>
            <a:ext cx="0" cy="2633472"/>
          </a:xfrm>
          <a:prstGeom prst="line">
            <a:avLst/>
          </a:prstGeom>
          <a:noFill/>
          <a:ln w="19050">
            <a:solidFill>
              <a:srgbClr val="94A3B8"/>
            </a:solidFill>
            <a:prstDash val="dash"/>
          </a:ln>
        </p:spPr>
      </p:sp>
      <p:sp>
        <p:nvSpPr>
          <p:cNvPr id="12" name="Shape 9"/>
          <p:cNvSpPr/>
          <p:nvPr/>
        </p:nvSpPr>
        <p:spPr>
          <a:xfrm>
            <a:off x="3611880" y="2395728"/>
            <a:ext cx="0" cy="2633472"/>
          </a:xfrm>
          <a:prstGeom prst="line">
            <a:avLst/>
          </a:prstGeom>
          <a:noFill/>
          <a:ln w="19050">
            <a:solidFill>
              <a:srgbClr val="94A3B8"/>
            </a:solidFill>
            <a:prstDash val="dash"/>
          </a:ln>
        </p:spPr>
      </p:sp>
      <p:sp>
        <p:nvSpPr>
          <p:cNvPr id="13" name="Text 10"/>
          <p:cNvSpPr txBox="1"/>
          <p:nvPr/>
        </p:nvSpPr>
        <p:spPr>
          <a:xfrm>
            <a:off x="1645920" y="3264408"/>
            <a:ext cx="182880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① 設定を要求</a:t>
            </a:r>
            <a:endParaRPr lang="en-US" sz="1800" dirty="0"/>
          </a:p>
        </p:txBody>
      </p:sp>
      <p:sp>
        <p:nvSpPr>
          <p:cNvPr id="14" name="Shape 11"/>
          <p:cNvSpPr/>
          <p:nvPr/>
        </p:nvSpPr>
        <p:spPr>
          <a:xfrm>
            <a:off x="1545336" y="3602736"/>
            <a:ext cx="2029968" cy="0"/>
          </a:xfrm>
          <a:prstGeom prst="line">
            <a:avLst/>
          </a:prstGeom>
          <a:noFill/>
          <a:ln w="31750">
            <a:solidFill>
              <a:srgbClr val="B45309"/>
            </a:solidFill>
            <a:prstDash val="dash"/>
            <a:tailEnd type="triangle"/>
          </a:ln>
        </p:spPr>
      </p:sp>
      <p:sp>
        <p:nvSpPr>
          <p:cNvPr id="15" name="Text 12"/>
          <p:cNvSpPr txBox="1"/>
          <p:nvPr/>
        </p:nvSpPr>
        <p:spPr>
          <a:xfrm>
            <a:off x="1645920" y="4535424"/>
            <a:ext cx="182880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② 住所・出口</a:t>
            </a:r>
            <a:endParaRPr lang="en-US" sz="1800" dirty="0"/>
          </a:p>
        </p:txBody>
      </p:sp>
      <p:sp>
        <p:nvSpPr>
          <p:cNvPr id="16" name="Shape 13"/>
          <p:cNvSpPr/>
          <p:nvPr/>
        </p:nvSpPr>
        <p:spPr>
          <a:xfrm flipH="1">
            <a:off x="1545336" y="4873752"/>
            <a:ext cx="2029968" cy="0"/>
          </a:xfrm>
          <a:prstGeom prst="line">
            <a:avLst/>
          </a:prstGeom>
          <a:noFill/>
          <a:ln w="31750">
            <a:solidFill>
              <a:srgbClr val="B45309"/>
            </a:solidFill>
            <a:prstDash val="dash"/>
            <a:tailEnd type="triangle"/>
          </a:ln>
        </p:spPr>
      </p:sp>
      <p:sp>
        <p:nvSpPr>
          <p:cNvPr id="17" name="Shape 14"/>
          <p:cNvSpPr/>
          <p:nvPr/>
        </p:nvSpPr>
        <p:spPr>
          <a:xfrm>
            <a:off x="457200" y="5166360"/>
            <a:ext cx="4206240" cy="1097280"/>
          </a:xfrm>
          <a:prstGeom prst="roundRect">
            <a:avLst>
              <a:gd name="adj" fmla="val 10000"/>
            </a:avLst>
          </a:prstGeom>
          <a:solidFill>
            <a:srgbClr val="FDEBD0"/>
          </a:solidFill>
          <a:ln w="19050">
            <a:solidFill>
              <a:srgbClr val="B45309"/>
            </a:solidFill>
            <a:prstDash val="solid"/>
          </a:ln>
        </p:spPr>
      </p:sp>
      <p:sp>
        <p:nvSpPr>
          <p:cNvPr id="18" name="Shape 15"/>
          <p:cNvSpPr/>
          <p:nvPr/>
        </p:nvSpPr>
        <p:spPr>
          <a:xfrm>
            <a:off x="594360" y="5486400"/>
            <a:ext cx="457200" cy="457200"/>
          </a:xfrm>
          <a:prstGeom prst="ellipse">
            <a:avLst/>
          </a:prstGeom>
          <a:solidFill>
            <a:srgbClr val="B45309"/>
          </a:solidFill>
          <a:ln/>
        </p:spPr>
      </p:sp>
      <p:pic>
        <p:nvPicPr>
          <p:cNvPr id="19" name="Image 0" descr="preencoded.png">    </p:cNvPr>
          <p:cNvPicPr>
            <a:picLocks noChangeAspect="1"/>
          </p:cNvPicPr>
          <p:nvPr/>
        </p:nvPicPr>
        <p:blipFill>
          <a:blip r:embed="rId1"/>
          <a:stretch>
            <a:fillRect/>
          </a:stretch>
        </p:blipFill>
        <p:spPr>
          <a:xfrm>
            <a:off x="694944" y="5586984"/>
            <a:ext cx="256032" cy="256032"/>
          </a:xfrm>
          <a:prstGeom prst="rect">
            <a:avLst/>
          </a:prstGeom>
        </p:spPr>
      </p:pic>
      <p:sp>
        <p:nvSpPr>
          <p:cNvPr id="20" name="Text 16"/>
          <p:cNvSpPr txBox="1"/>
          <p:nvPr/>
        </p:nvSpPr>
        <p:spPr>
          <a:xfrm>
            <a:off x="1188720" y="5212080"/>
            <a:ext cx="3337560" cy="10058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質問のたびではなく、接続時と期限の更新時</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937760" y="1737360"/>
          <a:ext cx="6793992" cy="914400"/>
        </p:xfrm>
        <a:graphic>
          <a:graphicData uri="http://schemas.openxmlformats.org/drawingml/2006/table">
            <a:tbl>
              <a:tblPr/>
              <a:tblGrid>
                <a:gridCol w="2880360"/>
                <a:gridCol w="1691640"/>
                <a:gridCol w="22219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受け取る設定</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30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IPアドレス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192.168.1.20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この端末の住所</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0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サブネットマスク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255.255.255.0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どこまでが同じネットワークか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デフォルトゲートウェイ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192.168.1.1</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外へ出る出口</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0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DNSサーバー</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192.168.1.1</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名前を問い合わせる相手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DNSは名前から接続先のIPアドレスを調べる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DNSは、chatgpt.comのような名前を、通信に必要な住所（IPアドレス）に変換する電話帳のような仕組みです。答えを覚えている（キャッシュ）間は調べ直しません。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出典：[B01]</a:t>
            </a:r>
            <a:endParaRPr lang="ja-JP" sz="1200" dirty="0"/>
          </a:p>
        </p:txBody>
      </p:sp>
      <p:sp>
        <p:nvSpPr>
          <p:cNvPr id="8" name="Shape 5"/>
          <p:cNvSpPr/>
          <p:nvPr/>
        </p:nvSpPr>
        <p:spPr>
          <a:xfrm>
            <a:off x="632079" y="1691640"/>
            <a:ext cx="2468880" cy="685800"/>
          </a:xfrm>
          <a:prstGeom prst="roundRect">
            <a:avLst>
              <a:gd name="adj" fmla="val 13333"/>
            </a:avLst>
          </a:prstGeom>
          <a:solidFill>
            <a:srgbClr val="0B7A7A"/>
          </a:solidFill>
          <a:ln w="25400">
            <a:solidFill>
              <a:srgbClr val="0B7A7A"/>
            </a:solidFill>
            <a:prstDash val="solid"/>
          </a:ln>
        </p:spPr>
      </p:sp>
      <p:sp>
        <p:nvSpPr>
          <p:cNvPr id="9" name="Shape 6"/>
          <p:cNvSpPr/>
          <p:nvPr/>
        </p:nvSpPr>
        <p:spPr>
          <a:xfrm>
            <a:off x="760095" y="1783080"/>
            <a:ext cx="502920" cy="502920"/>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870737" y="1893722"/>
            <a:ext cx="281635" cy="281635"/>
          </a:xfrm>
          <a:prstGeom prst="rect">
            <a:avLst/>
          </a:prstGeom>
        </p:spPr>
      </p:pic>
      <p:sp>
        <p:nvSpPr>
          <p:cNvPr id="11" name="Text 7"/>
          <p:cNvSpPr txBox="1"/>
          <p:nvPr/>
        </p:nvSpPr>
        <p:spPr>
          <a:xfrm>
            <a:off x="1354455" y="1691640"/>
            <a:ext cx="1655064" cy="68580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端末</a:t>
            </a:r>
            <a:endParaRPr lang="en-US" sz="1800" dirty="0"/>
          </a:p>
        </p:txBody>
      </p:sp>
      <p:sp>
        <p:nvSpPr>
          <p:cNvPr id="12" name="Shape 8"/>
          <p:cNvSpPr/>
          <p:nvPr/>
        </p:nvSpPr>
        <p:spPr>
          <a:xfrm>
            <a:off x="3450717" y="1691640"/>
            <a:ext cx="2468880" cy="685800"/>
          </a:xfrm>
          <a:prstGeom prst="roundRect">
            <a:avLst>
              <a:gd name="adj" fmla="val 13333"/>
            </a:avLst>
          </a:prstGeom>
          <a:solidFill>
            <a:srgbClr val="B45309"/>
          </a:solidFill>
          <a:ln w="25400">
            <a:solidFill>
              <a:srgbClr val="B45309"/>
            </a:solidFill>
            <a:prstDash val="solid"/>
          </a:ln>
        </p:spPr>
      </p:sp>
      <p:sp>
        <p:nvSpPr>
          <p:cNvPr id="13" name="Text 9"/>
          <p:cNvSpPr txBox="1"/>
          <p:nvPr/>
        </p:nvSpPr>
        <p:spPr>
          <a:xfrm>
            <a:off x="3542157" y="1691640"/>
            <a:ext cx="2286000"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再帰DNS</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窓口</a:t>
            </a:r>
            <a:endParaRPr lang="en-US" sz="1800" dirty="0"/>
          </a:p>
        </p:txBody>
      </p:sp>
      <p:sp>
        <p:nvSpPr>
          <p:cNvPr id="14" name="Shape 10"/>
          <p:cNvSpPr/>
          <p:nvPr/>
        </p:nvSpPr>
        <p:spPr>
          <a:xfrm>
            <a:off x="6269355" y="1691640"/>
            <a:ext cx="2468880" cy="685800"/>
          </a:xfrm>
          <a:prstGeom prst="roundRect">
            <a:avLst>
              <a:gd name="adj" fmla="val 13333"/>
            </a:avLst>
          </a:prstGeom>
          <a:solidFill>
            <a:srgbClr val="B45309"/>
          </a:solidFill>
          <a:ln w="25400">
            <a:solidFill>
              <a:srgbClr val="B45309"/>
            </a:solidFill>
            <a:prstDash val="solid"/>
          </a:ln>
        </p:spPr>
      </p:sp>
      <p:sp>
        <p:nvSpPr>
          <p:cNvPr id="15" name="Text 11"/>
          <p:cNvSpPr txBox="1"/>
          <p:nvPr/>
        </p:nvSpPr>
        <p:spPr>
          <a:xfrm>
            <a:off x="6360795" y="1691640"/>
            <a:ext cx="2286000"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上位のDNS</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ルート・.comなど</a:t>
            </a:r>
            <a:endParaRPr lang="en-US" sz="1800" dirty="0"/>
          </a:p>
        </p:txBody>
      </p:sp>
      <p:sp>
        <p:nvSpPr>
          <p:cNvPr id="16" name="Shape 12"/>
          <p:cNvSpPr/>
          <p:nvPr/>
        </p:nvSpPr>
        <p:spPr>
          <a:xfrm>
            <a:off x="9087993" y="1691640"/>
            <a:ext cx="2468880" cy="685800"/>
          </a:xfrm>
          <a:prstGeom prst="roundRect">
            <a:avLst>
              <a:gd name="adj" fmla="val 13333"/>
            </a:avLst>
          </a:prstGeom>
          <a:solidFill>
            <a:srgbClr val="B45309"/>
          </a:solidFill>
          <a:ln w="25400">
            <a:solidFill>
              <a:srgbClr val="B45309"/>
            </a:solidFill>
            <a:prstDash val="solid"/>
          </a:ln>
        </p:spPr>
      </p:sp>
      <p:sp>
        <p:nvSpPr>
          <p:cNvPr id="17" name="Text 13"/>
          <p:cNvSpPr txBox="1"/>
          <p:nvPr/>
        </p:nvSpPr>
        <p:spPr>
          <a:xfrm>
            <a:off x="9179433" y="1691640"/>
            <a:ext cx="2286000"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権威DNS</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正式な情報</a:t>
            </a:r>
            <a:endParaRPr lang="en-US" sz="1800" dirty="0"/>
          </a:p>
        </p:txBody>
      </p:sp>
      <p:sp>
        <p:nvSpPr>
          <p:cNvPr id="18" name="Shape 14"/>
          <p:cNvSpPr/>
          <p:nvPr/>
        </p:nvSpPr>
        <p:spPr>
          <a:xfrm>
            <a:off x="1866519" y="2377440"/>
            <a:ext cx="0" cy="3977640"/>
          </a:xfrm>
          <a:prstGeom prst="line">
            <a:avLst/>
          </a:prstGeom>
          <a:noFill/>
          <a:ln w="19050">
            <a:solidFill>
              <a:srgbClr val="94A3B8"/>
            </a:solidFill>
            <a:prstDash val="dash"/>
          </a:ln>
        </p:spPr>
      </p:sp>
      <p:sp>
        <p:nvSpPr>
          <p:cNvPr id="19" name="Shape 15"/>
          <p:cNvSpPr/>
          <p:nvPr/>
        </p:nvSpPr>
        <p:spPr>
          <a:xfrm>
            <a:off x="4685157" y="2377440"/>
            <a:ext cx="0" cy="3977640"/>
          </a:xfrm>
          <a:prstGeom prst="line">
            <a:avLst/>
          </a:prstGeom>
          <a:noFill/>
          <a:ln w="19050">
            <a:solidFill>
              <a:srgbClr val="94A3B8"/>
            </a:solidFill>
            <a:prstDash val="dash"/>
          </a:ln>
        </p:spPr>
      </p:sp>
      <p:sp>
        <p:nvSpPr>
          <p:cNvPr id="20" name="Shape 16"/>
          <p:cNvSpPr/>
          <p:nvPr/>
        </p:nvSpPr>
        <p:spPr>
          <a:xfrm>
            <a:off x="7503795" y="2377440"/>
            <a:ext cx="0" cy="3977640"/>
          </a:xfrm>
          <a:prstGeom prst="line">
            <a:avLst/>
          </a:prstGeom>
          <a:noFill/>
          <a:ln w="19050">
            <a:solidFill>
              <a:srgbClr val="94A3B8"/>
            </a:solidFill>
            <a:prstDash val="dash"/>
          </a:ln>
        </p:spPr>
      </p:sp>
      <p:sp>
        <p:nvSpPr>
          <p:cNvPr id="21" name="Shape 17"/>
          <p:cNvSpPr/>
          <p:nvPr/>
        </p:nvSpPr>
        <p:spPr>
          <a:xfrm>
            <a:off x="10322433" y="2377440"/>
            <a:ext cx="0" cy="3977640"/>
          </a:xfrm>
          <a:prstGeom prst="line">
            <a:avLst/>
          </a:prstGeom>
          <a:noFill/>
          <a:ln w="19050">
            <a:solidFill>
              <a:srgbClr val="94A3B8"/>
            </a:solidFill>
            <a:prstDash val="dash"/>
          </a:ln>
        </p:spPr>
      </p:sp>
      <p:sp>
        <p:nvSpPr>
          <p:cNvPr id="22" name="Text 18"/>
          <p:cNvSpPr txBox="1"/>
          <p:nvPr/>
        </p:nvSpPr>
        <p:spPr>
          <a:xfrm>
            <a:off x="2003679" y="2525050"/>
            <a:ext cx="2544318"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① chatgpt.comは？</a:t>
            </a:r>
            <a:endParaRPr lang="en-US" sz="1800" dirty="0"/>
          </a:p>
        </p:txBody>
      </p:sp>
      <p:sp>
        <p:nvSpPr>
          <p:cNvPr id="23" name="Shape 19"/>
          <p:cNvSpPr/>
          <p:nvPr/>
        </p:nvSpPr>
        <p:spPr>
          <a:xfrm>
            <a:off x="1903095" y="2863378"/>
            <a:ext cx="2745486" cy="0"/>
          </a:xfrm>
          <a:prstGeom prst="line">
            <a:avLst/>
          </a:prstGeom>
          <a:noFill/>
          <a:ln w="31750">
            <a:solidFill>
              <a:srgbClr val="B45309"/>
            </a:solidFill>
            <a:prstDash val="solid"/>
            <a:tailEnd type="triangle"/>
          </a:ln>
        </p:spPr>
      </p:sp>
      <p:sp>
        <p:nvSpPr>
          <p:cNvPr id="24" name="Text 20"/>
          <p:cNvSpPr txBox="1"/>
          <p:nvPr/>
        </p:nvSpPr>
        <p:spPr>
          <a:xfrm>
            <a:off x="4822317" y="3074997"/>
            <a:ext cx="2544318"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② 問い合わせ先は？</a:t>
            </a:r>
            <a:endParaRPr lang="en-US" sz="1800" dirty="0"/>
          </a:p>
        </p:txBody>
      </p:sp>
      <p:sp>
        <p:nvSpPr>
          <p:cNvPr id="25" name="Shape 21"/>
          <p:cNvSpPr/>
          <p:nvPr/>
        </p:nvSpPr>
        <p:spPr>
          <a:xfrm>
            <a:off x="4721733" y="3413325"/>
            <a:ext cx="2745486" cy="0"/>
          </a:xfrm>
          <a:prstGeom prst="line">
            <a:avLst/>
          </a:prstGeom>
          <a:noFill/>
          <a:ln w="31750">
            <a:solidFill>
              <a:srgbClr val="B45309"/>
            </a:solidFill>
            <a:prstDash val="solid"/>
            <a:tailEnd type="triangle"/>
          </a:ln>
        </p:spPr>
      </p:sp>
      <p:sp>
        <p:nvSpPr>
          <p:cNvPr id="26" name="Text 22"/>
          <p:cNvSpPr txBox="1"/>
          <p:nvPr/>
        </p:nvSpPr>
        <p:spPr>
          <a:xfrm>
            <a:off x="4822317" y="3624943"/>
            <a:ext cx="2544318"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③ 次のDNSを案内</a:t>
            </a:r>
            <a:endParaRPr lang="en-US" sz="1800" dirty="0"/>
          </a:p>
        </p:txBody>
      </p:sp>
      <p:sp>
        <p:nvSpPr>
          <p:cNvPr id="27" name="Shape 23"/>
          <p:cNvSpPr/>
          <p:nvPr/>
        </p:nvSpPr>
        <p:spPr>
          <a:xfrm flipH="1">
            <a:off x="4721733" y="3963271"/>
            <a:ext cx="2745486" cy="0"/>
          </a:xfrm>
          <a:prstGeom prst="line">
            <a:avLst/>
          </a:prstGeom>
          <a:noFill/>
          <a:ln w="31750">
            <a:solidFill>
              <a:srgbClr val="B45309"/>
            </a:solidFill>
            <a:prstDash val="dash"/>
            <a:tailEnd type="triangle"/>
          </a:ln>
        </p:spPr>
      </p:sp>
      <p:sp>
        <p:nvSpPr>
          <p:cNvPr id="28" name="Text 24"/>
          <p:cNvSpPr txBox="1"/>
          <p:nvPr/>
        </p:nvSpPr>
        <p:spPr>
          <a:xfrm>
            <a:off x="4822317" y="4174889"/>
            <a:ext cx="5362956"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④ 名前の情報は？</a:t>
            </a:r>
            <a:endParaRPr lang="en-US" sz="1800" dirty="0"/>
          </a:p>
        </p:txBody>
      </p:sp>
      <p:sp>
        <p:nvSpPr>
          <p:cNvPr id="29" name="Shape 25"/>
          <p:cNvSpPr/>
          <p:nvPr/>
        </p:nvSpPr>
        <p:spPr>
          <a:xfrm>
            <a:off x="4721733" y="4513217"/>
            <a:ext cx="5564124" cy="0"/>
          </a:xfrm>
          <a:prstGeom prst="line">
            <a:avLst/>
          </a:prstGeom>
          <a:noFill/>
          <a:ln w="31750">
            <a:solidFill>
              <a:srgbClr val="B45309"/>
            </a:solidFill>
            <a:prstDash val="solid"/>
            <a:tailEnd type="triangle"/>
          </a:ln>
        </p:spPr>
      </p:sp>
      <p:sp>
        <p:nvSpPr>
          <p:cNvPr id="30" name="Text 26"/>
          <p:cNvSpPr txBox="1"/>
          <p:nvPr/>
        </p:nvSpPr>
        <p:spPr>
          <a:xfrm>
            <a:off x="4822317" y="4724835"/>
            <a:ext cx="5362956"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⑤ IPアドレスなど</a:t>
            </a:r>
            <a:endParaRPr lang="en-US" sz="1800" dirty="0"/>
          </a:p>
        </p:txBody>
      </p:sp>
      <p:sp>
        <p:nvSpPr>
          <p:cNvPr id="31" name="Shape 27"/>
          <p:cNvSpPr/>
          <p:nvPr/>
        </p:nvSpPr>
        <p:spPr>
          <a:xfrm flipH="1">
            <a:off x="4721733" y="5063163"/>
            <a:ext cx="5564124" cy="0"/>
          </a:xfrm>
          <a:prstGeom prst="line">
            <a:avLst/>
          </a:prstGeom>
          <a:noFill/>
          <a:ln w="31750">
            <a:solidFill>
              <a:srgbClr val="B45309"/>
            </a:solidFill>
            <a:prstDash val="dash"/>
            <a:tailEnd type="triangle"/>
          </a:ln>
        </p:spPr>
      </p:sp>
      <p:sp>
        <p:nvSpPr>
          <p:cNvPr id="32" name="Text 28"/>
          <p:cNvSpPr txBox="1"/>
          <p:nvPr/>
        </p:nvSpPr>
        <p:spPr>
          <a:xfrm>
            <a:off x="2003679" y="5274782"/>
            <a:ext cx="2544318"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⑥ 調べた結果</a:t>
            </a:r>
            <a:endParaRPr lang="en-US" sz="1800" dirty="0"/>
          </a:p>
        </p:txBody>
      </p:sp>
      <p:sp>
        <p:nvSpPr>
          <p:cNvPr id="33" name="Shape 29"/>
          <p:cNvSpPr/>
          <p:nvPr/>
        </p:nvSpPr>
        <p:spPr>
          <a:xfrm flipH="1">
            <a:off x="1903095" y="5613110"/>
            <a:ext cx="2745486" cy="0"/>
          </a:xfrm>
          <a:prstGeom prst="line">
            <a:avLst/>
          </a:prstGeom>
          <a:noFill/>
          <a:ln w="31750">
            <a:solidFill>
              <a:srgbClr val="B45309"/>
            </a:solidFill>
            <a:prstDash val="dash"/>
            <a:tailEnd type="triangle"/>
          </a:ln>
        </p:spPr>
      </p:sp>
      <p:sp>
        <p:nvSpPr>
          <p:cNvPr id="34" name="Shape 30"/>
          <p:cNvSpPr/>
          <p:nvPr/>
        </p:nvSpPr>
        <p:spPr>
          <a:xfrm>
            <a:off x="532638" y="5805134"/>
            <a:ext cx="5486400" cy="513370"/>
          </a:xfrm>
          <a:prstGeom prst="roundRect">
            <a:avLst>
              <a:gd name="adj" fmla="val 17812"/>
            </a:avLst>
          </a:prstGeom>
          <a:solidFill>
            <a:srgbClr val="FDEBD0"/>
          </a:solidFill>
          <a:ln w="15875">
            <a:solidFill>
              <a:srgbClr val="B45309"/>
            </a:solidFill>
            <a:prstDash val="solid"/>
          </a:ln>
        </p:spPr>
      </p:sp>
      <p:sp>
        <p:nvSpPr>
          <p:cNvPr id="35" name="Text 31"/>
          <p:cNvSpPr txBox="1"/>
          <p:nvPr/>
        </p:nvSpPr>
        <p:spPr>
          <a:xfrm>
            <a:off x="669798" y="5805134"/>
            <a:ext cx="5212080" cy="513370"/>
          </a:xfrm>
          <a:prstGeom prst="rect">
            <a:avLst/>
          </a:prstGeom>
          <a:noFill/>
          <a:ln/>
        </p:spPr>
        <p:txBody>
          <a:bodyPr wrap="square" lIns="0" tIns="0" rIns="0" bIns="0" rtlCol="0" anchor="ctr"/>
          <a:lstStyle/>
          <a:p>
            <a:pPr algn="ct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保存済み（キャッシュ）なら調査を省略</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DHCP・DNS・NTPは補助通信。本文の通り道ではない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DHCP・DNS・NTPは、質問を運ぶ道ではなく、通信の準備のための別の通信です。質問の本文は、これらのサーバーを通らず、ルーターを経てサービスへ向かいます。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出典：[B01] [B04]</a:t>
            </a:r>
            <a:endParaRPr lang="ja-JP" sz="1200" dirty="0"/>
          </a:p>
        </p:txBody>
      </p:sp>
      <p:sp>
        <p:nvSpPr>
          <p:cNvPr id="8" name="Shape 5"/>
          <p:cNvSpPr/>
          <p:nvPr/>
        </p:nvSpPr>
        <p:spPr>
          <a:xfrm>
            <a:off x="457200" y="1783080"/>
            <a:ext cx="2377440" cy="914400"/>
          </a:xfrm>
          <a:prstGeom prst="roundRect">
            <a:avLst>
              <a:gd name="adj" fmla="val 12000"/>
            </a:avLst>
          </a:prstGeom>
          <a:solidFill>
            <a:srgbClr val="0B7A7A"/>
          </a:solidFill>
          <a:ln/>
        </p:spPr>
      </p:sp>
      <p:sp>
        <p:nvSpPr>
          <p:cNvPr id="9" name="Text 6"/>
          <p:cNvSpPr txBox="1"/>
          <p:nvPr/>
        </p:nvSpPr>
        <p:spPr>
          <a:xfrm>
            <a:off x="548640" y="1783080"/>
            <a:ext cx="219456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端末</a:t>
            </a:r>
            <a:endParaRPr lang="en-US" sz="2000" dirty="0"/>
          </a:p>
        </p:txBody>
      </p:sp>
      <p:sp>
        <p:nvSpPr>
          <p:cNvPr id="10" name="Shape 7"/>
          <p:cNvSpPr/>
          <p:nvPr/>
        </p:nvSpPr>
        <p:spPr>
          <a:xfrm>
            <a:off x="3383280" y="1783080"/>
            <a:ext cx="2377440" cy="914400"/>
          </a:xfrm>
          <a:prstGeom prst="roundRect">
            <a:avLst>
              <a:gd name="adj" fmla="val 12000"/>
            </a:avLst>
          </a:prstGeom>
          <a:solidFill>
            <a:srgbClr val="2F6BC2"/>
          </a:solidFill>
          <a:ln/>
        </p:spPr>
      </p:sp>
      <p:sp>
        <p:nvSpPr>
          <p:cNvPr id="11" name="Text 8"/>
          <p:cNvSpPr txBox="1"/>
          <p:nvPr/>
        </p:nvSpPr>
        <p:spPr>
          <a:xfrm>
            <a:off x="3474720" y="1783080"/>
            <a:ext cx="219456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ルーター</a:t>
            </a:r>
            <a:endParaRPr lang="en-US" sz="2000" dirty="0"/>
          </a:p>
        </p:txBody>
      </p:sp>
      <p:sp>
        <p:nvSpPr>
          <p:cNvPr id="12" name="Shape 9"/>
          <p:cNvSpPr/>
          <p:nvPr/>
        </p:nvSpPr>
        <p:spPr>
          <a:xfrm>
            <a:off x="6309360" y="1783080"/>
            <a:ext cx="2377440" cy="914400"/>
          </a:xfrm>
          <a:prstGeom prst="roundRect">
            <a:avLst>
              <a:gd name="adj" fmla="val 12000"/>
            </a:avLst>
          </a:prstGeom>
          <a:solidFill>
            <a:srgbClr val="2F6BC2"/>
          </a:solidFill>
          <a:ln/>
        </p:spPr>
      </p:sp>
      <p:sp>
        <p:nvSpPr>
          <p:cNvPr id="13" name="Text 10"/>
          <p:cNvSpPr txBox="1"/>
          <p:nvPr/>
        </p:nvSpPr>
        <p:spPr>
          <a:xfrm>
            <a:off x="6400800" y="1783080"/>
            <a:ext cx="219456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インターネット</a:t>
            </a:r>
            <a:endParaRPr lang="en-US" sz="2000" dirty="0"/>
          </a:p>
        </p:txBody>
      </p:sp>
      <p:sp>
        <p:nvSpPr>
          <p:cNvPr id="14" name="Shape 11"/>
          <p:cNvSpPr/>
          <p:nvPr/>
        </p:nvSpPr>
        <p:spPr>
          <a:xfrm>
            <a:off x="9235440" y="1783080"/>
            <a:ext cx="2377440" cy="914400"/>
          </a:xfrm>
          <a:prstGeom prst="roundRect">
            <a:avLst>
              <a:gd name="adj" fmla="val 12000"/>
            </a:avLst>
          </a:prstGeom>
          <a:solidFill>
            <a:srgbClr val="5B46B8"/>
          </a:solidFill>
          <a:ln/>
        </p:spPr>
      </p:sp>
      <p:sp>
        <p:nvSpPr>
          <p:cNvPr id="15" name="Text 12"/>
          <p:cNvSpPr txBox="1"/>
          <p:nvPr/>
        </p:nvSpPr>
        <p:spPr>
          <a:xfrm>
            <a:off x="9326880" y="1783080"/>
            <a:ext cx="219456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サービス入口</a:t>
            </a:r>
            <a:endParaRPr lang="en-US" sz="2000" dirty="0"/>
          </a:p>
        </p:txBody>
      </p:sp>
      <p:sp>
        <p:nvSpPr>
          <p:cNvPr id="16" name="Shape 13"/>
          <p:cNvSpPr/>
          <p:nvPr/>
        </p:nvSpPr>
        <p:spPr>
          <a:xfrm>
            <a:off x="2834640" y="2240280"/>
            <a:ext cx="548640" cy="0"/>
          </a:xfrm>
          <a:prstGeom prst="line">
            <a:avLst/>
          </a:prstGeom>
          <a:noFill/>
          <a:ln w="50800">
            <a:solidFill>
              <a:srgbClr val="2F6BC2"/>
            </a:solidFill>
            <a:prstDash val="solid"/>
            <a:tailEnd type="triangle"/>
          </a:ln>
        </p:spPr>
      </p:sp>
      <p:sp>
        <p:nvSpPr>
          <p:cNvPr id="17" name="Shape 14"/>
          <p:cNvSpPr/>
          <p:nvPr/>
        </p:nvSpPr>
        <p:spPr>
          <a:xfrm>
            <a:off x="5760720" y="2240280"/>
            <a:ext cx="548640" cy="0"/>
          </a:xfrm>
          <a:prstGeom prst="line">
            <a:avLst/>
          </a:prstGeom>
          <a:noFill/>
          <a:ln w="50800">
            <a:solidFill>
              <a:srgbClr val="2F6BC2"/>
            </a:solidFill>
            <a:prstDash val="solid"/>
            <a:tailEnd type="triangle"/>
          </a:ln>
        </p:spPr>
      </p:sp>
      <p:sp>
        <p:nvSpPr>
          <p:cNvPr id="18" name="Shape 15"/>
          <p:cNvSpPr/>
          <p:nvPr/>
        </p:nvSpPr>
        <p:spPr>
          <a:xfrm>
            <a:off x="8686800" y="2240280"/>
            <a:ext cx="548640" cy="0"/>
          </a:xfrm>
          <a:prstGeom prst="line">
            <a:avLst/>
          </a:prstGeom>
          <a:noFill/>
          <a:ln w="50800">
            <a:solidFill>
              <a:srgbClr val="2F6BC2"/>
            </a:solidFill>
            <a:prstDash val="solid"/>
            <a:tailEnd type="triangle"/>
          </a:ln>
        </p:spPr>
      </p:sp>
      <p:sp>
        <p:nvSpPr>
          <p:cNvPr id="19" name="Text 16"/>
          <p:cNvSpPr txBox="1"/>
          <p:nvPr/>
        </p:nvSpPr>
        <p:spPr>
          <a:xfrm>
            <a:off x="5486400" y="2743200"/>
            <a:ext cx="6245352" cy="365760"/>
          </a:xfrm>
          <a:prstGeom prst="rect">
            <a:avLst/>
          </a:prstGeom>
          <a:noFill/>
          <a:ln/>
        </p:spPr>
        <p:txBody>
          <a:bodyPr wrap="square" lIns="0" tIns="0" rIns="0" bIns="0" rtlCol="0" anchor="t"/>
          <a:lstStyle/>
          <a:p>
            <a:pPr algn="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質問本文（TLSで暗号化して送る）</a:t>
            </a:r>
            <a:endParaRPr lang="en-US" sz="1800" dirty="0"/>
          </a:p>
        </p:txBody>
      </p:sp>
      <p:sp>
        <p:nvSpPr>
          <p:cNvPr id="20" name="Shape 17"/>
          <p:cNvSpPr/>
          <p:nvPr/>
        </p:nvSpPr>
        <p:spPr>
          <a:xfrm>
            <a:off x="457200" y="3611880"/>
            <a:ext cx="3611880" cy="914400"/>
          </a:xfrm>
          <a:prstGeom prst="roundRect">
            <a:avLst>
              <a:gd name="adj" fmla="val 12000"/>
            </a:avLst>
          </a:prstGeom>
          <a:solidFill>
            <a:srgbClr val="FDEBD0"/>
          </a:solidFill>
          <a:ln w="25400">
            <a:solidFill>
              <a:srgbClr val="B45309"/>
            </a:solidFill>
            <a:prstDash val="dash"/>
          </a:ln>
        </p:spPr>
      </p:sp>
      <p:sp>
        <p:nvSpPr>
          <p:cNvPr id="21" name="Shape 18"/>
          <p:cNvSpPr/>
          <p:nvPr/>
        </p:nvSpPr>
        <p:spPr>
          <a:xfrm>
            <a:off x="585216" y="3794760"/>
            <a:ext cx="548640" cy="548640"/>
          </a:xfrm>
          <a:prstGeom prst="ellipse">
            <a:avLst/>
          </a:prstGeom>
          <a:solidFill>
            <a:srgbClr val="B45309"/>
          </a:solidFill>
          <a:ln/>
        </p:spPr>
      </p:sp>
      <p:pic>
        <p:nvPicPr>
          <p:cNvPr id="22" name="Image 0" descr="preencoded.png">    </p:cNvPr>
          <p:cNvPicPr>
            <a:picLocks noChangeAspect="1"/>
          </p:cNvPicPr>
          <p:nvPr/>
        </p:nvPicPr>
        <p:blipFill>
          <a:blip r:embed="rId1"/>
          <a:stretch>
            <a:fillRect/>
          </a:stretch>
        </p:blipFill>
        <p:spPr>
          <a:xfrm>
            <a:off x="705917" y="3915461"/>
            <a:ext cx="307238" cy="307238"/>
          </a:xfrm>
          <a:prstGeom prst="rect">
            <a:avLst/>
          </a:prstGeom>
        </p:spPr>
      </p:pic>
      <p:sp>
        <p:nvSpPr>
          <p:cNvPr id="23" name="Text 19"/>
          <p:cNvSpPr txBox="1"/>
          <p:nvPr/>
        </p:nvSpPr>
        <p:spPr>
          <a:xfrm>
            <a:off x="1225296" y="3611880"/>
            <a:ext cx="2752344" cy="9144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DHCP</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設定を受け取る</a:t>
            </a:r>
            <a:endParaRPr lang="en-US" sz="2000" dirty="0"/>
          </a:p>
        </p:txBody>
      </p:sp>
      <p:sp>
        <p:nvSpPr>
          <p:cNvPr id="24" name="Shape 20"/>
          <p:cNvSpPr/>
          <p:nvPr/>
        </p:nvSpPr>
        <p:spPr>
          <a:xfrm>
            <a:off x="1645920" y="2697480"/>
            <a:ext cx="548640" cy="914400"/>
          </a:xfrm>
          <a:prstGeom prst="line">
            <a:avLst/>
          </a:prstGeom>
          <a:noFill/>
          <a:ln w="31750">
            <a:solidFill>
              <a:srgbClr val="B45309"/>
            </a:solidFill>
            <a:prstDash val="dash"/>
            <a:tailEnd type="triangle"/>
          </a:ln>
        </p:spPr>
      </p:sp>
      <p:sp>
        <p:nvSpPr>
          <p:cNvPr id="25" name="Text 21"/>
          <p:cNvSpPr txBox="1"/>
          <p:nvPr/>
        </p:nvSpPr>
        <p:spPr>
          <a:xfrm>
            <a:off x="502920" y="4590288"/>
            <a:ext cx="3520440" cy="6858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接続時・更新時</a:t>
            </a:r>
            <a:endParaRPr lang="en-US" sz="1800" dirty="0"/>
          </a:p>
        </p:txBody>
      </p:sp>
      <p:sp>
        <p:nvSpPr>
          <p:cNvPr id="26" name="Shape 22"/>
          <p:cNvSpPr/>
          <p:nvPr/>
        </p:nvSpPr>
        <p:spPr>
          <a:xfrm>
            <a:off x="4297680" y="3611880"/>
            <a:ext cx="3611880" cy="914400"/>
          </a:xfrm>
          <a:prstGeom prst="roundRect">
            <a:avLst>
              <a:gd name="adj" fmla="val 12000"/>
            </a:avLst>
          </a:prstGeom>
          <a:solidFill>
            <a:srgbClr val="FDEBD0"/>
          </a:solidFill>
          <a:ln w="25400">
            <a:solidFill>
              <a:srgbClr val="B45309"/>
            </a:solidFill>
            <a:prstDash val="dash"/>
          </a:ln>
        </p:spPr>
      </p:sp>
      <p:sp>
        <p:nvSpPr>
          <p:cNvPr id="27" name="Shape 23"/>
          <p:cNvSpPr/>
          <p:nvPr/>
        </p:nvSpPr>
        <p:spPr>
          <a:xfrm>
            <a:off x="4425696" y="3794760"/>
            <a:ext cx="548640" cy="548640"/>
          </a:xfrm>
          <a:prstGeom prst="ellipse">
            <a:avLst/>
          </a:prstGeom>
          <a:solidFill>
            <a:srgbClr val="B45309"/>
          </a:solidFill>
          <a:ln/>
        </p:spPr>
      </p:sp>
      <p:pic>
        <p:nvPicPr>
          <p:cNvPr id="28" name="Image 1" descr="preencoded.png">    </p:cNvPr>
          <p:cNvPicPr>
            <a:picLocks noChangeAspect="1"/>
          </p:cNvPicPr>
          <p:nvPr/>
        </p:nvPicPr>
        <p:blipFill>
          <a:blip r:embed="rId2"/>
          <a:stretch>
            <a:fillRect/>
          </a:stretch>
        </p:blipFill>
        <p:spPr>
          <a:xfrm>
            <a:off x="4546397" y="3915461"/>
            <a:ext cx="307238" cy="307238"/>
          </a:xfrm>
          <a:prstGeom prst="rect">
            <a:avLst/>
          </a:prstGeom>
        </p:spPr>
      </p:pic>
      <p:sp>
        <p:nvSpPr>
          <p:cNvPr id="29" name="Text 24"/>
          <p:cNvSpPr txBox="1"/>
          <p:nvPr/>
        </p:nvSpPr>
        <p:spPr>
          <a:xfrm>
            <a:off x="5065776" y="3611880"/>
            <a:ext cx="2752344" cy="9144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DNS</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名前からIPを調べる</a:t>
            </a:r>
            <a:endParaRPr lang="en-US" sz="2000" dirty="0"/>
          </a:p>
        </p:txBody>
      </p:sp>
      <p:sp>
        <p:nvSpPr>
          <p:cNvPr id="30" name="Shape 25"/>
          <p:cNvSpPr/>
          <p:nvPr/>
        </p:nvSpPr>
        <p:spPr>
          <a:xfrm>
            <a:off x="1645920" y="2697480"/>
            <a:ext cx="4389120" cy="914400"/>
          </a:xfrm>
          <a:prstGeom prst="line">
            <a:avLst/>
          </a:prstGeom>
          <a:noFill/>
          <a:ln w="31750">
            <a:solidFill>
              <a:srgbClr val="B45309"/>
            </a:solidFill>
            <a:prstDash val="dash"/>
            <a:tailEnd type="triangle"/>
          </a:ln>
        </p:spPr>
      </p:sp>
      <p:sp>
        <p:nvSpPr>
          <p:cNvPr id="31" name="Text 26"/>
          <p:cNvSpPr txBox="1"/>
          <p:nvPr/>
        </p:nvSpPr>
        <p:spPr>
          <a:xfrm>
            <a:off x="4343400" y="4590288"/>
            <a:ext cx="3520440" cy="6858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必要なとき（保存があれば省略）</a:t>
            </a:r>
            <a:endParaRPr lang="en-US" sz="1800" dirty="0"/>
          </a:p>
        </p:txBody>
      </p:sp>
      <p:sp>
        <p:nvSpPr>
          <p:cNvPr id="32" name="Shape 27"/>
          <p:cNvSpPr/>
          <p:nvPr/>
        </p:nvSpPr>
        <p:spPr>
          <a:xfrm>
            <a:off x="8138160" y="3611880"/>
            <a:ext cx="3611880" cy="914400"/>
          </a:xfrm>
          <a:prstGeom prst="roundRect">
            <a:avLst>
              <a:gd name="adj" fmla="val 12000"/>
            </a:avLst>
          </a:prstGeom>
          <a:solidFill>
            <a:srgbClr val="FDEBD0"/>
          </a:solidFill>
          <a:ln w="25400">
            <a:solidFill>
              <a:srgbClr val="B45309"/>
            </a:solidFill>
            <a:prstDash val="dash"/>
          </a:ln>
        </p:spPr>
      </p:sp>
      <p:sp>
        <p:nvSpPr>
          <p:cNvPr id="33" name="Shape 28"/>
          <p:cNvSpPr/>
          <p:nvPr/>
        </p:nvSpPr>
        <p:spPr>
          <a:xfrm>
            <a:off x="8266176" y="3794760"/>
            <a:ext cx="548640" cy="548640"/>
          </a:xfrm>
          <a:prstGeom prst="ellipse">
            <a:avLst/>
          </a:prstGeom>
          <a:solidFill>
            <a:srgbClr val="B45309"/>
          </a:solidFill>
          <a:ln/>
        </p:spPr>
      </p:sp>
      <p:pic>
        <p:nvPicPr>
          <p:cNvPr id="34" name="Image 2" descr="preencoded.png">    </p:cNvPr>
          <p:cNvPicPr>
            <a:picLocks noChangeAspect="1"/>
          </p:cNvPicPr>
          <p:nvPr/>
        </p:nvPicPr>
        <p:blipFill>
          <a:blip r:embed="rId3"/>
          <a:stretch>
            <a:fillRect/>
          </a:stretch>
        </p:blipFill>
        <p:spPr>
          <a:xfrm>
            <a:off x="8386877" y="3915461"/>
            <a:ext cx="307238" cy="307238"/>
          </a:xfrm>
          <a:prstGeom prst="rect">
            <a:avLst/>
          </a:prstGeom>
        </p:spPr>
      </p:pic>
      <p:sp>
        <p:nvSpPr>
          <p:cNvPr id="35" name="Text 29"/>
          <p:cNvSpPr txBox="1"/>
          <p:nvPr/>
        </p:nvSpPr>
        <p:spPr>
          <a:xfrm>
            <a:off x="8906256" y="3611880"/>
            <a:ext cx="2752344" cy="9144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NTP</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時刻を合わせる</a:t>
            </a:r>
            <a:endParaRPr lang="en-US" sz="2000" dirty="0"/>
          </a:p>
        </p:txBody>
      </p:sp>
      <p:sp>
        <p:nvSpPr>
          <p:cNvPr id="36" name="Shape 30"/>
          <p:cNvSpPr/>
          <p:nvPr/>
        </p:nvSpPr>
        <p:spPr>
          <a:xfrm>
            <a:off x="1645920" y="2697480"/>
            <a:ext cx="8229600" cy="914400"/>
          </a:xfrm>
          <a:prstGeom prst="line">
            <a:avLst/>
          </a:prstGeom>
          <a:noFill/>
          <a:ln w="31750">
            <a:solidFill>
              <a:srgbClr val="B45309"/>
            </a:solidFill>
            <a:prstDash val="dash"/>
            <a:tailEnd type="triangle"/>
          </a:ln>
        </p:spPr>
      </p:sp>
      <p:sp>
        <p:nvSpPr>
          <p:cNvPr id="37" name="Text 31"/>
          <p:cNvSpPr txBox="1"/>
          <p:nvPr/>
        </p:nvSpPr>
        <p:spPr>
          <a:xfrm>
            <a:off x="8183880" y="4590288"/>
            <a:ext cx="3520440" cy="6858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OSが定期的に行う</a:t>
            </a:r>
            <a:endParaRPr lang="en-US" sz="1800" dirty="0"/>
          </a:p>
        </p:txBody>
      </p:sp>
      <p:sp>
        <p:nvSpPr>
          <p:cNvPr id="38" name="Shape 32"/>
          <p:cNvSpPr/>
          <p:nvPr/>
        </p:nvSpPr>
        <p:spPr>
          <a:xfrm>
            <a:off x="457200" y="5376672"/>
            <a:ext cx="365760" cy="237744"/>
          </a:xfrm>
          <a:prstGeom prst="roundRect">
            <a:avLst>
              <a:gd name="adj" fmla="val 19231"/>
            </a:avLst>
          </a:prstGeom>
          <a:solidFill>
            <a:srgbClr val="DCE8F8"/>
          </a:solidFill>
          <a:ln w="25400">
            <a:solidFill>
              <a:srgbClr val="2F6BC2"/>
            </a:solidFill>
            <a:prstDash val="solid"/>
          </a:ln>
        </p:spPr>
      </p:sp>
      <p:sp>
        <p:nvSpPr>
          <p:cNvPr id="39" name="Text 33"/>
          <p:cNvSpPr txBox="1"/>
          <p:nvPr/>
        </p:nvSpPr>
        <p:spPr>
          <a:xfrm>
            <a:off x="914400" y="5321808"/>
            <a:ext cx="21945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本文の通信（実線）</a:t>
            </a:r>
            <a:endParaRPr lang="ja-JP" sz="1800" dirty="0"/>
          </a:p>
        </p:txBody>
      </p:sp>
      <p:sp>
        <p:nvSpPr>
          <p:cNvPr id="40" name="Shape 34"/>
          <p:cNvSpPr/>
          <p:nvPr/>
        </p:nvSpPr>
        <p:spPr>
          <a:xfrm>
            <a:off x="3383280" y="5376672"/>
            <a:ext cx="365760" cy="237744"/>
          </a:xfrm>
          <a:prstGeom prst="roundRect">
            <a:avLst>
              <a:gd name="adj" fmla="val 19231"/>
            </a:avLst>
          </a:prstGeom>
          <a:solidFill>
            <a:srgbClr val="FDEBD0"/>
          </a:solidFill>
          <a:ln w="25400">
            <a:solidFill>
              <a:srgbClr val="B45309"/>
            </a:solidFill>
            <a:prstDash val="dash"/>
          </a:ln>
        </p:spPr>
      </p:sp>
      <p:sp>
        <p:nvSpPr>
          <p:cNvPr id="41" name="Text 35"/>
          <p:cNvSpPr txBox="1"/>
          <p:nvPr/>
        </p:nvSpPr>
        <p:spPr>
          <a:xfrm>
            <a:off x="3840480" y="5321808"/>
            <a:ext cx="19659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補助通信（破線）</a:t>
            </a:r>
            <a:endParaRPr lang="ja-JP" sz="1800" dirty="0"/>
          </a:p>
        </p:txBody>
      </p:sp>
      <p:sp>
        <p:nvSpPr>
          <p:cNvPr id="42" name="Shape 36"/>
          <p:cNvSpPr/>
          <p:nvPr/>
        </p:nvSpPr>
        <p:spPr>
          <a:xfrm>
            <a:off x="457200" y="5733288"/>
            <a:ext cx="11274552" cy="576072"/>
          </a:xfrm>
          <a:prstGeom prst="roundRect">
            <a:avLst>
              <a:gd name="adj" fmla="val 19048"/>
            </a:avLst>
          </a:prstGeom>
          <a:solidFill>
            <a:srgbClr val="FBE3E0"/>
          </a:solidFill>
          <a:ln w="19050">
            <a:solidFill>
              <a:srgbClr val="C0392B"/>
            </a:solidFill>
            <a:prstDash val="solid"/>
          </a:ln>
        </p:spPr>
      </p:sp>
      <p:sp>
        <p:nvSpPr>
          <p:cNvPr id="43" name="Shape 37"/>
          <p:cNvSpPr/>
          <p:nvPr/>
        </p:nvSpPr>
        <p:spPr>
          <a:xfrm>
            <a:off x="594360" y="5824728"/>
            <a:ext cx="393192" cy="393192"/>
          </a:xfrm>
          <a:prstGeom prst="ellipse">
            <a:avLst/>
          </a:prstGeom>
          <a:solidFill>
            <a:srgbClr val="C0392B"/>
          </a:solidFill>
          <a:ln/>
        </p:spPr>
      </p:sp>
      <p:pic>
        <p:nvPicPr>
          <p:cNvPr id="44" name="Image 3" descr="preencoded.png">    </p:cNvPr>
          <p:cNvPicPr>
            <a:picLocks noChangeAspect="1"/>
          </p:cNvPicPr>
          <p:nvPr/>
        </p:nvPicPr>
        <p:blipFill>
          <a:blip r:embed="rId4"/>
          <a:stretch>
            <a:fillRect/>
          </a:stretch>
        </p:blipFill>
        <p:spPr>
          <a:xfrm>
            <a:off x="680862" y="5911230"/>
            <a:ext cx="220188" cy="220188"/>
          </a:xfrm>
          <a:prstGeom prst="rect">
            <a:avLst/>
          </a:prstGeom>
        </p:spPr>
      </p:pic>
      <p:sp>
        <p:nvSpPr>
          <p:cNvPr id="45" name="Text 38"/>
          <p:cNvSpPr txBox="1"/>
          <p:nvPr/>
        </p:nvSpPr>
        <p:spPr>
          <a:xfrm>
            <a:off x="1124712" y="5779008"/>
            <a:ext cx="10469880" cy="484632"/>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質問本文がDNSやNTPのサーバーを順番に通るわけではない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OSは宛先IPと経路の一覧を照合して、渡し先を決める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端末のOSは、宛先が家の中なら直接、外の世界なら出口（ルーター）へ渡すと、経路の一覧表で判断します。迷ったら「出口へ」が基本ルールです。</a:t>
            </a:r>
            <a:endParaRPr lang="en-US" sz="1800" dirty="0"/>
          </a:p>
        </p:txBody>
      </p:sp>
      <p:sp>
        <p:nvSpPr>
          <p:cNvPr id="7" name="Shape 4"/>
          <p:cNvSpPr/>
          <p:nvPr/>
        </p:nvSpPr>
        <p:spPr>
          <a:xfrm>
            <a:off x="457200" y="2103120"/>
            <a:ext cx="2560320" cy="1463040"/>
          </a:xfrm>
          <a:prstGeom prst="roundRect">
            <a:avLst>
              <a:gd name="adj" fmla="val 7500"/>
            </a:avLst>
          </a:prstGeom>
          <a:solidFill>
            <a:srgbClr val="D9F2F1"/>
          </a:solidFill>
          <a:ln w="25400">
            <a:solidFill>
              <a:srgbClr val="0B7A7A"/>
            </a:solidFill>
            <a:prstDash val="solid"/>
          </a:ln>
        </p:spPr>
      </p:sp>
      <p:sp>
        <p:nvSpPr>
          <p:cNvPr id="8" name="Shape 5"/>
          <p:cNvSpPr/>
          <p:nvPr/>
        </p:nvSpPr>
        <p:spPr>
          <a:xfrm>
            <a:off x="585216" y="2560320"/>
            <a:ext cx="548640" cy="548640"/>
          </a:xfrm>
          <a:prstGeom prst="ellipse">
            <a:avLst/>
          </a:prstGeom>
          <a:solidFill>
            <a:srgbClr val="0B7A7A"/>
          </a:solidFill>
          <a:ln/>
        </p:spPr>
      </p:sp>
      <p:pic>
        <p:nvPicPr>
          <p:cNvPr id="9" name="Image 0" descr="preencoded.png">    </p:cNvPr>
          <p:cNvPicPr>
            <a:picLocks noChangeAspect="1"/>
          </p:cNvPicPr>
          <p:nvPr/>
        </p:nvPicPr>
        <p:blipFill>
          <a:blip r:embed="rId1"/>
          <a:stretch>
            <a:fillRect/>
          </a:stretch>
        </p:blipFill>
        <p:spPr>
          <a:xfrm>
            <a:off x="705917" y="2681021"/>
            <a:ext cx="307238" cy="307238"/>
          </a:xfrm>
          <a:prstGeom prst="rect">
            <a:avLst/>
          </a:prstGeom>
        </p:spPr>
      </p:pic>
      <p:sp>
        <p:nvSpPr>
          <p:cNvPr id="10" name="Text 6"/>
          <p:cNvSpPr txBox="1"/>
          <p:nvPr/>
        </p:nvSpPr>
        <p:spPr>
          <a:xfrm>
            <a:off x="1225296" y="2103120"/>
            <a:ext cx="1700784" cy="14630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端末</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192.168.1.20</a:t>
            </a:r>
            <a:endParaRPr lang="en-US" sz="2000" dirty="0"/>
          </a:p>
        </p:txBody>
      </p:sp>
      <p:sp>
        <p:nvSpPr>
          <p:cNvPr id="11" name="Shape 7"/>
          <p:cNvSpPr/>
          <p:nvPr/>
        </p:nvSpPr>
        <p:spPr>
          <a:xfrm>
            <a:off x="6766560" y="1737360"/>
            <a:ext cx="2743200" cy="914400"/>
          </a:xfrm>
          <a:prstGeom prst="roundRect">
            <a:avLst>
              <a:gd name="adj" fmla="val 12000"/>
            </a:avLst>
          </a:prstGeom>
          <a:solidFill>
            <a:srgbClr val="D9F2F1"/>
          </a:solidFill>
          <a:ln w="25400">
            <a:solidFill>
              <a:srgbClr val="0B7A7A"/>
            </a:solidFill>
            <a:prstDash val="solid"/>
          </a:ln>
        </p:spPr>
      </p:sp>
      <p:sp>
        <p:nvSpPr>
          <p:cNvPr id="12" name="Text 8"/>
          <p:cNvSpPr txBox="1"/>
          <p:nvPr/>
        </p:nvSpPr>
        <p:spPr>
          <a:xfrm>
            <a:off x="6858000" y="1737360"/>
            <a:ext cx="256032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同じLANの端末</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192.168.1.30</a:t>
            </a:r>
            <a:endParaRPr lang="en-US" sz="2000" dirty="0"/>
          </a:p>
        </p:txBody>
      </p:sp>
      <p:sp>
        <p:nvSpPr>
          <p:cNvPr id="13" name="Shape 9"/>
          <p:cNvSpPr/>
          <p:nvPr/>
        </p:nvSpPr>
        <p:spPr>
          <a:xfrm>
            <a:off x="6766560" y="3063240"/>
            <a:ext cx="2743200" cy="914400"/>
          </a:xfrm>
          <a:prstGeom prst="roundRect">
            <a:avLst>
              <a:gd name="adj" fmla="val 12000"/>
            </a:avLst>
          </a:prstGeom>
          <a:solidFill>
            <a:srgbClr val="DCE8F8"/>
          </a:solidFill>
          <a:ln w="25400">
            <a:solidFill>
              <a:srgbClr val="2F6BC2"/>
            </a:solidFill>
            <a:prstDash val="solid"/>
          </a:ln>
        </p:spPr>
      </p:sp>
      <p:sp>
        <p:nvSpPr>
          <p:cNvPr id="14" name="Text 10"/>
          <p:cNvSpPr txBox="1"/>
          <p:nvPr/>
        </p:nvSpPr>
        <p:spPr>
          <a:xfrm>
            <a:off x="6858000" y="3063240"/>
            <a:ext cx="256032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ルーター（出口）</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192.168.1.1</a:t>
            </a:r>
            <a:endParaRPr lang="en-US" sz="2000" dirty="0"/>
          </a:p>
        </p:txBody>
      </p:sp>
      <p:sp>
        <p:nvSpPr>
          <p:cNvPr id="15" name="Shape 11"/>
          <p:cNvSpPr/>
          <p:nvPr/>
        </p:nvSpPr>
        <p:spPr>
          <a:xfrm>
            <a:off x="9829800" y="3063240"/>
            <a:ext cx="1901952" cy="914400"/>
          </a:xfrm>
          <a:prstGeom prst="roundRect">
            <a:avLst>
              <a:gd name="adj" fmla="val 12000"/>
            </a:avLst>
          </a:prstGeom>
          <a:solidFill>
            <a:srgbClr val="E6E1F7"/>
          </a:solidFill>
          <a:ln w="25400">
            <a:solidFill>
              <a:srgbClr val="5B46B8"/>
            </a:solidFill>
            <a:prstDash val="solid"/>
          </a:ln>
        </p:spPr>
      </p:sp>
      <p:sp>
        <p:nvSpPr>
          <p:cNvPr id="16" name="Text 12"/>
          <p:cNvSpPr txBox="1"/>
          <p:nvPr/>
        </p:nvSpPr>
        <p:spPr>
          <a:xfrm>
            <a:off x="9921240" y="3063240"/>
            <a:ext cx="1719072"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外部の宛先</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203.0.113.50</a:t>
            </a:r>
            <a:endParaRPr lang="en-US" sz="2000" dirty="0"/>
          </a:p>
        </p:txBody>
      </p:sp>
      <p:sp>
        <p:nvSpPr>
          <p:cNvPr id="17" name="Shape 13"/>
          <p:cNvSpPr/>
          <p:nvPr/>
        </p:nvSpPr>
        <p:spPr>
          <a:xfrm flipV="1">
            <a:off x="3017520" y="2194560"/>
            <a:ext cx="3749040" cy="365760"/>
          </a:xfrm>
          <a:prstGeom prst="line">
            <a:avLst/>
          </a:prstGeom>
          <a:noFill/>
          <a:ln w="38100">
            <a:solidFill>
              <a:srgbClr val="0B7A7A"/>
            </a:solidFill>
            <a:prstDash val="solid"/>
            <a:tailEnd type="triangle"/>
          </a:ln>
        </p:spPr>
      </p:sp>
      <p:sp>
        <p:nvSpPr>
          <p:cNvPr id="18" name="Text 14"/>
          <p:cNvSpPr txBox="1"/>
          <p:nvPr/>
        </p:nvSpPr>
        <p:spPr>
          <a:xfrm>
            <a:off x="3383280" y="1815084"/>
            <a:ext cx="301752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宛先がLAN内 → 直接</a:t>
            </a:r>
            <a:endParaRPr lang="en-US" sz="1800" dirty="0"/>
          </a:p>
        </p:txBody>
      </p:sp>
      <p:sp>
        <p:nvSpPr>
          <p:cNvPr id="19" name="Shape 15"/>
          <p:cNvSpPr/>
          <p:nvPr/>
        </p:nvSpPr>
        <p:spPr>
          <a:xfrm>
            <a:off x="3017520" y="3108960"/>
            <a:ext cx="3749040" cy="411480"/>
          </a:xfrm>
          <a:prstGeom prst="line">
            <a:avLst/>
          </a:prstGeom>
          <a:noFill/>
          <a:ln w="38100">
            <a:solidFill>
              <a:srgbClr val="2F6BC2"/>
            </a:solidFill>
            <a:prstDash val="solid"/>
            <a:tailEnd type="triangle"/>
          </a:ln>
        </p:spPr>
      </p:sp>
      <p:sp>
        <p:nvSpPr>
          <p:cNvPr id="20" name="Text 16"/>
          <p:cNvSpPr txBox="1"/>
          <p:nvPr/>
        </p:nvSpPr>
        <p:spPr>
          <a:xfrm>
            <a:off x="3474720" y="3520440"/>
            <a:ext cx="283464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外部宛て → 出口へ</a:t>
            </a:r>
            <a:endParaRPr lang="en-US" sz="1800" dirty="0"/>
          </a:p>
        </p:txBody>
      </p:sp>
      <p:sp>
        <p:nvSpPr>
          <p:cNvPr id="21" name="Shape 17"/>
          <p:cNvSpPr/>
          <p:nvPr/>
        </p:nvSpPr>
        <p:spPr>
          <a:xfrm>
            <a:off x="9509760" y="3520440"/>
            <a:ext cx="320040" cy="0"/>
          </a:xfrm>
          <a:prstGeom prst="line">
            <a:avLst/>
          </a:prstGeom>
          <a:noFill/>
          <a:ln w="38100">
            <a:solidFill>
              <a:srgbClr val="2F6BC2"/>
            </a:solidFill>
            <a:prstDash val="solid"/>
            <a:tailEnd type="triangle"/>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4434840"/>
          <a:ext cx="11274552" cy="914400"/>
        </p:xfrm>
        <a:graphic>
          <a:graphicData uri="http://schemas.openxmlformats.org/drawingml/2006/table">
            <a:tbl>
              <a:tblPr/>
              <a:tblGrid>
                <a:gridCol w="3017520"/>
                <a:gridCol w="3017520"/>
                <a:gridCol w="52395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宛先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渡し先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192.168.1.0/24</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直接（LAN内）</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同じLANの相手へ直接届ける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それ以外すべて</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192.168.1.1</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外へ出る通信は出口のルーターへ</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IP・MAC・ポートは、宛先を決める範囲が違う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IPは最終的な宛先の住所、MACは同じLAN内の相手の識別番号、ポートは相手の機器の中のどのプログラムかを示す窓口番号です。使う範囲がそれぞれ違います。</a:t>
            </a:r>
            <a:endParaRPr lang="en-US" sz="1800" dirty="0"/>
          </a:p>
        </p:txBody>
      </p:sp>
      <p:sp>
        <p:nvSpPr>
          <p:cNvPr id="7" name="Shape 4"/>
          <p:cNvSpPr/>
          <p:nvPr/>
        </p:nvSpPr>
        <p:spPr>
          <a:xfrm>
            <a:off x="457200" y="1691640"/>
            <a:ext cx="3611880" cy="1828800"/>
          </a:xfrm>
          <a:prstGeom prst="roundRect">
            <a:avLst>
              <a:gd name="adj" fmla="val 7000"/>
            </a:avLst>
          </a:prstGeom>
          <a:solidFill>
            <a:srgbClr val="DCE8F8"/>
          </a:solidFill>
          <a:ln/>
        </p:spPr>
      </p:sp>
      <p:sp>
        <p:nvSpPr>
          <p:cNvPr id="8" name="Shape 5"/>
          <p:cNvSpPr/>
          <p:nvPr/>
        </p:nvSpPr>
        <p:spPr>
          <a:xfrm>
            <a:off x="621792" y="1819656"/>
            <a:ext cx="512064" cy="512064"/>
          </a:xfrm>
          <a:prstGeom prst="ellipse">
            <a:avLst/>
          </a:prstGeom>
          <a:solidFill>
            <a:srgbClr val="2F6BC2"/>
          </a:solidFill>
          <a:ln/>
        </p:spPr>
      </p:sp>
      <p:pic>
        <p:nvPicPr>
          <p:cNvPr id="9" name="Image 0" descr="preencoded.png">    </p:cNvPr>
          <p:cNvPicPr>
            <a:picLocks noChangeAspect="1"/>
          </p:cNvPicPr>
          <p:nvPr/>
        </p:nvPicPr>
        <p:blipFill>
          <a:blip r:embed="rId1"/>
          <a:stretch>
            <a:fillRect/>
          </a:stretch>
        </p:blipFill>
        <p:spPr>
          <a:xfrm>
            <a:off x="734446" y="1932310"/>
            <a:ext cx="286756" cy="286756"/>
          </a:xfrm>
          <a:prstGeom prst="rect">
            <a:avLst/>
          </a:prstGeom>
        </p:spPr>
      </p:pic>
      <p:sp>
        <p:nvSpPr>
          <p:cNvPr id="10" name="Text 6"/>
          <p:cNvSpPr txBox="1"/>
          <p:nvPr/>
        </p:nvSpPr>
        <p:spPr>
          <a:xfrm>
            <a:off x="1243584" y="181965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IPアドレス</a:t>
            </a:r>
            <a:endParaRPr lang="en-US" sz="2200" dirty="0"/>
          </a:p>
        </p:txBody>
      </p:sp>
      <p:sp>
        <p:nvSpPr>
          <p:cNvPr id="11" name="Text 7"/>
          <p:cNvSpPr txBox="1"/>
          <p:nvPr/>
        </p:nvSpPr>
        <p:spPr>
          <a:xfrm>
            <a:off x="640080" y="2423160"/>
            <a:ext cx="3246120" cy="100584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最終的な宛先を指定</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例：192.168.1.20</a:t>
            </a:r>
            <a:endParaRPr lang="en-US" sz="2000" dirty="0"/>
          </a:p>
        </p:txBody>
      </p:sp>
      <p:sp>
        <p:nvSpPr>
          <p:cNvPr id="12" name="Shape 8"/>
          <p:cNvSpPr/>
          <p:nvPr/>
        </p:nvSpPr>
        <p:spPr>
          <a:xfrm>
            <a:off x="4288536" y="1691640"/>
            <a:ext cx="3611880" cy="1828800"/>
          </a:xfrm>
          <a:prstGeom prst="roundRect">
            <a:avLst>
              <a:gd name="adj" fmla="val 7000"/>
            </a:avLst>
          </a:prstGeom>
          <a:solidFill>
            <a:srgbClr val="D9F2F1"/>
          </a:solidFill>
          <a:ln/>
        </p:spPr>
      </p:sp>
      <p:sp>
        <p:nvSpPr>
          <p:cNvPr id="13" name="Shape 9"/>
          <p:cNvSpPr/>
          <p:nvPr/>
        </p:nvSpPr>
        <p:spPr>
          <a:xfrm>
            <a:off x="4453128" y="1819656"/>
            <a:ext cx="512064" cy="512064"/>
          </a:xfrm>
          <a:prstGeom prst="ellipse">
            <a:avLst/>
          </a:prstGeom>
          <a:solidFill>
            <a:srgbClr val="0B7A7A"/>
          </a:solidFill>
          <a:ln/>
        </p:spPr>
      </p:sp>
      <p:pic>
        <p:nvPicPr>
          <p:cNvPr id="14" name="Image 1" descr="preencoded.png">    </p:cNvPr>
          <p:cNvPicPr>
            <a:picLocks noChangeAspect="1"/>
          </p:cNvPicPr>
          <p:nvPr/>
        </p:nvPicPr>
        <p:blipFill>
          <a:blip r:embed="rId2"/>
          <a:stretch>
            <a:fillRect/>
          </a:stretch>
        </p:blipFill>
        <p:spPr>
          <a:xfrm>
            <a:off x="4565782" y="1932310"/>
            <a:ext cx="286756" cy="286756"/>
          </a:xfrm>
          <a:prstGeom prst="rect">
            <a:avLst/>
          </a:prstGeom>
        </p:spPr>
      </p:pic>
      <p:sp>
        <p:nvSpPr>
          <p:cNvPr id="15" name="Text 10"/>
          <p:cNvSpPr txBox="1"/>
          <p:nvPr/>
        </p:nvSpPr>
        <p:spPr>
          <a:xfrm>
            <a:off x="5074920" y="181965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MACアドレス</a:t>
            </a:r>
            <a:endParaRPr lang="en-US" sz="2200" dirty="0"/>
          </a:p>
        </p:txBody>
      </p:sp>
      <p:sp>
        <p:nvSpPr>
          <p:cNvPr id="16" name="Text 11"/>
          <p:cNvSpPr txBox="1"/>
          <p:nvPr/>
        </p:nvSpPr>
        <p:spPr>
          <a:xfrm>
            <a:off x="4471416" y="2423160"/>
            <a:ext cx="3246120" cy="100584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近くの相手を識別</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例：00-00-5E-00-53-01</a:t>
            </a:r>
            <a:endParaRPr lang="en-US" sz="1800" dirty="0"/>
          </a:p>
        </p:txBody>
      </p:sp>
      <p:sp>
        <p:nvSpPr>
          <p:cNvPr id="17" name="Shape 12"/>
          <p:cNvSpPr/>
          <p:nvPr/>
        </p:nvSpPr>
        <p:spPr>
          <a:xfrm>
            <a:off x="8119872" y="1691640"/>
            <a:ext cx="3611880" cy="1828800"/>
          </a:xfrm>
          <a:prstGeom prst="roundRect">
            <a:avLst>
              <a:gd name="adj" fmla="val 7000"/>
            </a:avLst>
          </a:prstGeom>
          <a:solidFill>
            <a:srgbClr val="E6E1F7"/>
          </a:solidFill>
          <a:ln/>
        </p:spPr>
      </p:sp>
      <p:sp>
        <p:nvSpPr>
          <p:cNvPr id="18" name="Shape 13"/>
          <p:cNvSpPr/>
          <p:nvPr/>
        </p:nvSpPr>
        <p:spPr>
          <a:xfrm>
            <a:off x="8284464" y="1819656"/>
            <a:ext cx="512064" cy="512064"/>
          </a:xfrm>
          <a:prstGeom prst="ellipse">
            <a:avLst/>
          </a:prstGeom>
          <a:solidFill>
            <a:srgbClr val="5B46B8"/>
          </a:solidFill>
          <a:ln/>
        </p:spPr>
      </p:sp>
      <p:pic>
        <p:nvPicPr>
          <p:cNvPr id="19" name="Image 2" descr="preencoded.png">    </p:cNvPr>
          <p:cNvPicPr>
            <a:picLocks noChangeAspect="1"/>
          </p:cNvPicPr>
          <p:nvPr/>
        </p:nvPicPr>
        <p:blipFill>
          <a:blip r:embed="rId3"/>
          <a:stretch>
            <a:fillRect/>
          </a:stretch>
        </p:blipFill>
        <p:spPr>
          <a:xfrm>
            <a:off x="8397118" y="1932310"/>
            <a:ext cx="286756" cy="286756"/>
          </a:xfrm>
          <a:prstGeom prst="rect">
            <a:avLst/>
          </a:prstGeom>
        </p:spPr>
      </p:pic>
      <p:sp>
        <p:nvSpPr>
          <p:cNvPr id="20" name="Text 14"/>
          <p:cNvSpPr txBox="1"/>
          <p:nvPr/>
        </p:nvSpPr>
        <p:spPr>
          <a:xfrm>
            <a:off x="8906256" y="181965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ポート番号</a:t>
            </a:r>
            <a:endParaRPr lang="en-US" sz="2200" dirty="0"/>
          </a:p>
        </p:txBody>
      </p:sp>
      <p:sp>
        <p:nvSpPr>
          <p:cNvPr id="21" name="Text 15"/>
          <p:cNvSpPr txBox="1"/>
          <p:nvPr/>
        </p:nvSpPr>
        <p:spPr>
          <a:xfrm>
            <a:off x="8302752" y="2423160"/>
            <a:ext cx="3246120" cy="100584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機器内のどの通信か</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例：443（HTTPS）</a:t>
            </a:r>
            <a:endParaRPr lang="en-US" sz="2000" dirty="0"/>
          </a:p>
        </p:txBody>
      </p:sp>
      <p:sp>
        <p:nvSpPr>
          <p:cNvPr id="22" name="Shape 16"/>
          <p:cNvSpPr/>
          <p:nvPr/>
        </p:nvSpPr>
        <p:spPr>
          <a:xfrm>
            <a:off x="822960" y="3703320"/>
            <a:ext cx="2468880" cy="658368"/>
          </a:xfrm>
          <a:prstGeom prst="roundRect">
            <a:avLst>
              <a:gd name="adj" fmla="val 13889"/>
            </a:avLst>
          </a:prstGeom>
          <a:solidFill>
            <a:srgbClr val="0B7A7A"/>
          </a:solidFill>
          <a:ln w="25400">
            <a:solidFill>
              <a:srgbClr val="0B7A7A"/>
            </a:solidFill>
            <a:prstDash val="solid"/>
          </a:ln>
        </p:spPr>
      </p:sp>
      <p:sp>
        <p:nvSpPr>
          <p:cNvPr id="23" name="Text 17"/>
          <p:cNvSpPr txBox="1"/>
          <p:nvPr/>
        </p:nvSpPr>
        <p:spPr>
          <a:xfrm>
            <a:off x="914400" y="3703320"/>
            <a:ext cx="2286000" cy="65836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端末</a:t>
            </a:r>
            <a:endParaRPr lang="en-US" sz="1800" dirty="0"/>
          </a:p>
        </p:txBody>
      </p:sp>
      <p:sp>
        <p:nvSpPr>
          <p:cNvPr id="24" name="Shape 18"/>
          <p:cNvSpPr/>
          <p:nvPr/>
        </p:nvSpPr>
        <p:spPr>
          <a:xfrm>
            <a:off x="4023360" y="3703320"/>
            <a:ext cx="2468880" cy="658368"/>
          </a:xfrm>
          <a:prstGeom prst="roundRect">
            <a:avLst>
              <a:gd name="adj" fmla="val 13889"/>
            </a:avLst>
          </a:prstGeom>
          <a:solidFill>
            <a:srgbClr val="2F6BC2"/>
          </a:solidFill>
          <a:ln w="25400">
            <a:solidFill>
              <a:srgbClr val="2F6BC2"/>
            </a:solidFill>
            <a:prstDash val="solid"/>
          </a:ln>
        </p:spPr>
      </p:sp>
      <p:sp>
        <p:nvSpPr>
          <p:cNvPr id="25" name="Text 19"/>
          <p:cNvSpPr txBox="1"/>
          <p:nvPr/>
        </p:nvSpPr>
        <p:spPr>
          <a:xfrm>
            <a:off x="4114800" y="3703320"/>
            <a:ext cx="2286000" cy="65836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ルーター</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192.168.1.1</a:t>
            </a:r>
            <a:endParaRPr lang="en-US" sz="1800" dirty="0"/>
          </a:p>
        </p:txBody>
      </p:sp>
      <p:sp>
        <p:nvSpPr>
          <p:cNvPr id="26" name="Shape 20"/>
          <p:cNvSpPr/>
          <p:nvPr/>
        </p:nvSpPr>
        <p:spPr>
          <a:xfrm>
            <a:off x="2057400" y="4361688"/>
            <a:ext cx="0" cy="1947672"/>
          </a:xfrm>
          <a:prstGeom prst="line">
            <a:avLst/>
          </a:prstGeom>
          <a:noFill/>
          <a:ln w="19050">
            <a:solidFill>
              <a:srgbClr val="94A3B8"/>
            </a:solidFill>
            <a:prstDash val="dash"/>
          </a:ln>
        </p:spPr>
      </p:sp>
      <p:sp>
        <p:nvSpPr>
          <p:cNvPr id="27" name="Shape 21"/>
          <p:cNvSpPr/>
          <p:nvPr/>
        </p:nvSpPr>
        <p:spPr>
          <a:xfrm>
            <a:off x="5257800" y="4361688"/>
            <a:ext cx="0" cy="1947672"/>
          </a:xfrm>
          <a:prstGeom prst="line">
            <a:avLst/>
          </a:prstGeom>
          <a:noFill/>
          <a:ln w="19050">
            <a:solidFill>
              <a:srgbClr val="94A3B8"/>
            </a:solidFill>
            <a:prstDash val="dash"/>
          </a:ln>
        </p:spPr>
      </p:sp>
      <p:sp>
        <p:nvSpPr>
          <p:cNvPr id="28" name="Text 22"/>
          <p:cNvSpPr txBox="1"/>
          <p:nvPr/>
        </p:nvSpPr>
        <p:spPr>
          <a:xfrm>
            <a:off x="2194560" y="4736592"/>
            <a:ext cx="2926080" cy="603504"/>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① 192.168.1.1のMACは？</a:t>
            </a:r>
            <a:endParaRPr lang="en-US" sz="1800" dirty="0"/>
          </a:p>
        </p:txBody>
      </p:sp>
      <p:sp>
        <p:nvSpPr>
          <p:cNvPr id="29" name="Shape 23"/>
          <p:cNvSpPr/>
          <p:nvPr/>
        </p:nvSpPr>
        <p:spPr>
          <a:xfrm>
            <a:off x="2093976" y="5376672"/>
            <a:ext cx="3127248" cy="0"/>
          </a:xfrm>
          <a:prstGeom prst="line">
            <a:avLst/>
          </a:prstGeom>
          <a:noFill/>
          <a:ln w="31750">
            <a:solidFill>
              <a:srgbClr val="2F6BC2"/>
            </a:solidFill>
            <a:prstDash val="solid"/>
            <a:tailEnd type="triangle"/>
          </a:ln>
        </p:spPr>
      </p:sp>
      <p:sp>
        <p:nvSpPr>
          <p:cNvPr id="30" name="Text 24"/>
          <p:cNvSpPr txBox="1"/>
          <p:nvPr/>
        </p:nvSpPr>
        <p:spPr>
          <a:xfrm>
            <a:off x="2194560" y="5815584"/>
            <a:ext cx="292608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② 私です（MAC）</a:t>
            </a:r>
            <a:endParaRPr lang="en-US" sz="1800" dirty="0"/>
          </a:p>
        </p:txBody>
      </p:sp>
      <p:sp>
        <p:nvSpPr>
          <p:cNvPr id="31" name="Shape 25"/>
          <p:cNvSpPr/>
          <p:nvPr/>
        </p:nvSpPr>
        <p:spPr>
          <a:xfrm flipH="1">
            <a:off x="2093976" y="6153912"/>
            <a:ext cx="3127248" cy="0"/>
          </a:xfrm>
          <a:prstGeom prst="line">
            <a:avLst/>
          </a:prstGeom>
          <a:noFill/>
          <a:ln w="31750">
            <a:solidFill>
              <a:srgbClr val="2F6BC2"/>
            </a:solidFill>
            <a:prstDash val="dash"/>
            <a:tailEnd type="triangle"/>
          </a:ln>
        </p:spPr>
      </p:sp>
      <p:sp>
        <p:nvSpPr>
          <p:cNvPr id="32" name="Shape 26"/>
          <p:cNvSpPr/>
          <p:nvPr/>
        </p:nvSpPr>
        <p:spPr>
          <a:xfrm>
            <a:off x="7132320" y="3703320"/>
            <a:ext cx="4599432" cy="2606040"/>
          </a:xfrm>
          <a:prstGeom prst="roundRect">
            <a:avLst>
              <a:gd name="adj" fmla="val 4211"/>
            </a:avLst>
          </a:prstGeom>
          <a:solidFill>
            <a:srgbClr val="FBE3E0"/>
          </a:solidFill>
          <a:ln w="19050">
            <a:solidFill>
              <a:srgbClr val="C0392B"/>
            </a:solidFill>
            <a:prstDash val="solid"/>
          </a:ln>
        </p:spPr>
      </p:sp>
      <p:sp>
        <p:nvSpPr>
          <p:cNvPr id="33" name="Shape 27"/>
          <p:cNvSpPr/>
          <p:nvPr/>
        </p:nvSpPr>
        <p:spPr>
          <a:xfrm>
            <a:off x="7269480" y="4777740"/>
            <a:ext cx="457200" cy="457200"/>
          </a:xfrm>
          <a:prstGeom prst="ellipse">
            <a:avLst/>
          </a:prstGeom>
          <a:solidFill>
            <a:srgbClr val="C0392B"/>
          </a:solidFill>
          <a:ln/>
        </p:spPr>
      </p:sp>
      <p:pic>
        <p:nvPicPr>
          <p:cNvPr id="34" name="Image 3" descr="preencoded.png">    </p:cNvPr>
          <p:cNvPicPr>
            <a:picLocks noChangeAspect="1"/>
          </p:cNvPicPr>
          <p:nvPr/>
        </p:nvPicPr>
        <p:blipFill>
          <a:blip r:embed="rId4"/>
          <a:stretch>
            <a:fillRect/>
          </a:stretch>
        </p:blipFill>
        <p:spPr>
          <a:xfrm>
            <a:off x="7370064" y="4878324"/>
            <a:ext cx="256032" cy="256032"/>
          </a:xfrm>
          <a:prstGeom prst="rect">
            <a:avLst/>
          </a:prstGeom>
        </p:spPr>
      </p:pic>
      <p:sp>
        <p:nvSpPr>
          <p:cNvPr id="35" name="Text 28"/>
          <p:cNvSpPr txBox="1"/>
          <p:nvPr/>
        </p:nvSpPr>
        <p:spPr>
          <a:xfrm>
            <a:off x="7863840" y="3749040"/>
            <a:ext cx="3730752" cy="25146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外部のサーバーのMACは調べない。まず近くの出口へ届け、先は各ネットワークが引き継ぐ。IPv6はARPでなく近隣探索</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8122615" y="237744"/>
            <a:ext cx="3611880" cy="310896"/>
          </a:xfrm>
          <a:prstGeom prst="roundRect">
            <a:avLst>
              <a:gd name="adj" fmla="val 50000"/>
            </a:avLst>
          </a:prstGeom>
          <a:solidFill>
            <a:srgbClr val="DCE8F8"/>
          </a:solidFill>
          <a:ln w="9525">
            <a:solidFill>
              <a:srgbClr val="1E3A8A"/>
            </a:solidFill>
          </a:ln>
        </p:spPr>
        <p:txBody>
          <a:bodyPr wrap="square" lIns="0" tIns="0" rIns="0" bIns="0" rtlCol="0" anchor="ctr"/>
          <a:lstStyle/>
          <a:p>
            <a:pPr algn="ctr" indent="0" marL="0">
              <a:buNone/>
            </a:pPr>
            <a:r>
              <a:rPr lang="ja-JP" altLang="en-US" sz="1400" b="1" dirty="0">
                <a:solidFill>
                  <a:srgbClr val="1E3A8A"/>
                </a:solidFill>
                <a:latin typeface="Yu Gothic" pitchFamily="34" charset="0"/>
                <a:ea typeface="Yu Gothic" pitchFamily="34" charset="-122"/>
                <a:cs typeface="Yu Gothic" pitchFamily="34" charset="-120"/>
              </a:rPr>
              <a:t>一般例（個別サービスの仕様ではない）</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家庭ルーターのNATは、送信元のIPとポートを書き換える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家の中の住所（192.168.x.x）は外では使えません。そこでルーターが、送信元を外向きの共有の住所とポート番号に書き換えて送ります。代表電話と内線に似ています。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出典：[B02]</a:t>
            </a:r>
            <a:endParaRPr lang="ja-JP" sz="1200" dirty="0"/>
          </a:p>
        </p:txBody>
      </p:sp>
      <p:sp>
        <p:nvSpPr>
          <p:cNvPr id="8" name="Text 5"/>
          <p:cNvSpPr txBox="1"/>
          <p:nvPr/>
        </p:nvSpPr>
        <p:spPr>
          <a:xfrm>
            <a:off x="457200" y="1783080"/>
            <a:ext cx="1737360" cy="7772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① 家の中</a:t>
            </a:r>
            <a:endParaRPr lang="en-US" sz="2000" dirty="0"/>
          </a:p>
        </p:txBody>
      </p:sp>
      <p:sp>
        <p:nvSpPr>
          <p:cNvPr id="9" name="Shape 6"/>
          <p:cNvSpPr/>
          <p:nvPr/>
        </p:nvSpPr>
        <p:spPr>
          <a:xfrm>
            <a:off x="2286000" y="1783080"/>
            <a:ext cx="4846320" cy="777240"/>
          </a:xfrm>
          <a:prstGeom prst="roundRect">
            <a:avLst>
              <a:gd name="adj" fmla="val 14118"/>
            </a:avLst>
          </a:prstGeom>
          <a:solidFill>
            <a:srgbClr val="D9F2F1"/>
          </a:solidFill>
          <a:ln w="25400">
            <a:solidFill>
              <a:srgbClr val="0B7A7A"/>
            </a:solidFill>
            <a:prstDash val="solid"/>
          </a:ln>
        </p:spPr>
      </p:sp>
      <p:sp>
        <p:nvSpPr>
          <p:cNvPr id="10" name="Text 7"/>
          <p:cNvSpPr txBox="1"/>
          <p:nvPr/>
        </p:nvSpPr>
        <p:spPr>
          <a:xfrm>
            <a:off x="2377440" y="1783080"/>
            <a:ext cx="4663440"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送信元 192.168.1.20:51000</a:t>
            </a:r>
            <a:endParaRPr lang="en-US" sz="2000" dirty="0"/>
          </a:p>
        </p:txBody>
      </p:sp>
      <p:sp>
        <p:nvSpPr>
          <p:cNvPr id="11" name="Shape 8"/>
          <p:cNvSpPr/>
          <p:nvPr/>
        </p:nvSpPr>
        <p:spPr>
          <a:xfrm>
            <a:off x="7132320" y="2171700"/>
            <a:ext cx="548640" cy="0"/>
          </a:xfrm>
          <a:prstGeom prst="line">
            <a:avLst/>
          </a:prstGeom>
          <a:noFill/>
          <a:ln w="38100">
            <a:solidFill>
              <a:srgbClr val="1B2A3A"/>
            </a:solidFill>
            <a:prstDash val="solid"/>
            <a:tailEnd type="triangle"/>
          </a:ln>
        </p:spPr>
      </p:sp>
      <p:sp>
        <p:nvSpPr>
          <p:cNvPr id="12" name="Shape 9"/>
          <p:cNvSpPr/>
          <p:nvPr/>
        </p:nvSpPr>
        <p:spPr>
          <a:xfrm>
            <a:off x="7680960" y="1783080"/>
            <a:ext cx="4050792" cy="777240"/>
          </a:xfrm>
          <a:prstGeom prst="roundRect">
            <a:avLst>
              <a:gd name="adj" fmla="val 14118"/>
            </a:avLst>
          </a:prstGeom>
          <a:solidFill>
            <a:srgbClr val="E6E1F7"/>
          </a:solidFill>
          <a:ln w="25400">
            <a:solidFill>
              <a:srgbClr val="5B46B8"/>
            </a:solidFill>
            <a:prstDash val="solid"/>
          </a:ln>
        </p:spPr>
      </p:sp>
      <p:sp>
        <p:nvSpPr>
          <p:cNvPr id="13" name="Text 10"/>
          <p:cNvSpPr txBox="1"/>
          <p:nvPr/>
        </p:nvSpPr>
        <p:spPr>
          <a:xfrm>
            <a:off x="7772400" y="1783080"/>
            <a:ext cx="3867912"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宛先 198.51.100.7:443</a:t>
            </a:r>
            <a:endParaRPr lang="en-US" sz="2000" dirty="0"/>
          </a:p>
        </p:txBody>
      </p:sp>
      <p:sp>
        <p:nvSpPr>
          <p:cNvPr id="14" name="Shape 11"/>
          <p:cNvSpPr/>
          <p:nvPr/>
        </p:nvSpPr>
        <p:spPr>
          <a:xfrm>
            <a:off x="2286000" y="2697480"/>
            <a:ext cx="4846320" cy="548640"/>
          </a:xfrm>
          <a:prstGeom prst="roundRect">
            <a:avLst>
              <a:gd name="adj" fmla="val 20000"/>
            </a:avLst>
          </a:prstGeom>
          <a:solidFill>
            <a:srgbClr val="B45309"/>
          </a:solidFill>
          <a:ln/>
        </p:spPr>
      </p:sp>
      <p:sp>
        <p:nvSpPr>
          <p:cNvPr id="15" name="Text 12"/>
          <p:cNvSpPr txBox="1"/>
          <p:nvPr/>
        </p:nvSpPr>
        <p:spPr>
          <a:xfrm>
            <a:off x="2377440" y="2697480"/>
            <a:ext cx="4663440" cy="5486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ルーター：送信元を書換え、対応表に記録</a:t>
            </a:r>
            <a:endParaRPr lang="en-US" sz="1800" dirty="0"/>
          </a:p>
        </p:txBody>
      </p:sp>
      <p:sp>
        <p:nvSpPr>
          <p:cNvPr id="16" name="Shape 13"/>
          <p:cNvSpPr/>
          <p:nvPr/>
        </p:nvSpPr>
        <p:spPr>
          <a:xfrm>
            <a:off x="4709160" y="2560320"/>
            <a:ext cx="0" cy="137160"/>
          </a:xfrm>
          <a:prstGeom prst="line">
            <a:avLst/>
          </a:prstGeom>
          <a:noFill/>
          <a:ln w="38100">
            <a:solidFill>
              <a:srgbClr val="B45309"/>
            </a:solidFill>
            <a:prstDash val="solid"/>
            <a:tailEnd type="triangle"/>
          </a:ln>
        </p:spPr>
      </p:sp>
      <p:sp>
        <p:nvSpPr>
          <p:cNvPr id="17" name="Shape 14"/>
          <p:cNvSpPr/>
          <p:nvPr/>
        </p:nvSpPr>
        <p:spPr>
          <a:xfrm>
            <a:off x="4709160" y="3246120"/>
            <a:ext cx="0" cy="137160"/>
          </a:xfrm>
          <a:prstGeom prst="line">
            <a:avLst/>
          </a:prstGeom>
          <a:noFill/>
          <a:ln w="38100">
            <a:solidFill>
              <a:srgbClr val="B45309"/>
            </a:solidFill>
            <a:prstDash val="solid"/>
            <a:tailEnd type="triangle"/>
          </a:ln>
        </p:spPr>
      </p:sp>
      <p:sp>
        <p:nvSpPr>
          <p:cNvPr id="18" name="Text 15"/>
          <p:cNvSpPr txBox="1"/>
          <p:nvPr/>
        </p:nvSpPr>
        <p:spPr>
          <a:xfrm>
            <a:off x="457200" y="3383280"/>
            <a:ext cx="1737360" cy="7772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② 外側へ</a:t>
            </a:r>
            <a:endParaRPr lang="en-US" sz="2000" dirty="0"/>
          </a:p>
        </p:txBody>
      </p:sp>
      <p:sp>
        <p:nvSpPr>
          <p:cNvPr id="19" name="Shape 16"/>
          <p:cNvSpPr/>
          <p:nvPr/>
        </p:nvSpPr>
        <p:spPr>
          <a:xfrm>
            <a:off x="2286000" y="3383280"/>
            <a:ext cx="4846320" cy="777240"/>
          </a:xfrm>
          <a:prstGeom prst="roundRect">
            <a:avLst>
              <a:gd name="adj" fmla="val 14118"/>
            </a:avLst>
          </a:prstGeom>
          <a:solidFill>
            <a:srgbClr val="DCE8F8"/>
          </a:solidFill>
          <a:ln w="25400">
            <a:solidFill>
              <a:srgbClr val="2F6BC2"/>
            </a:solidFill>
            <a:prstDash val="solid"/>
          </a:ln>
        </p:spPr>
      </p:sp>
      <p:sp>
        <p:nvSpPr>
          <p:cNvPr id="20" name="Text 17"/>
          <p:cNvSpPr txBox="1"/>
          <p:nvPr/>
        </p:nvSpPr>
        <p:spPr>
          <a:xfrm>
            <a:off x="2377440" y="3383280"/>
            <a:ext cx="4663440"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送信元 203.0.113.10:62001</a:t>
            </a:r>
            <a:endParaRPr lang="en-US" sz="2000" dirty="0"/>
          </a:p>
        </p:txBody>
      </p:sp>
      <p:sp>
        <p:nvSpPr>
          <p:cNvPr id="21" name="Shape 18"/>
          <p:cNvSpPr/>
          <p:nvPr/>
        </p:nvSpPr>
        <p:spPr>
          <a:xfrm>
            <a:off x="7132320" y="3771900"/>
            <a:ext cx="548640" cy="0"/>
          </a:xfrm>
          <a:prstGeom prst="line">
            <a:avLst/>
          </a:prstGeom>
          <a:noFill/>
          <a:ln w="38100">
            <a:solidFill>
              <a:srgbClr val="1B2A3A"/>
            </a:solidFill>
            <a:prstDash val="solid"/>
            <a:tailEnd type="triangle"/>
          </a:ln>
        </p:spPr>
      </p:sp>
      <p:sp>
        <p:nvSpPr>
          <p:cNvPr id="22" name="Shape 19"/>
          <p:cNvSpPr/>
          <p:nvPr/>
        </p:nvSpPr>
        <p:spPr>
          <a:xfrm>
            <a:off x="7680960" y="3383280"/>
            <a:ext cx="4050792" cy="777240"/>
          </a:xfrm>
          <a:prstGeom prst="roundRect">
            <a:avLst>
              <a:gd name="adj" fmla="val 14118"/>
            </a:avLst>
          </a:prstGeom>
          <a:solidFill>
            <a:srgbClr val="E6E1F7"/>
          </a:solidFill>
          <a:ln w="25400">
            <a:solidFill>
              <a:srgbClr val="5B46B8"/>
            </a:solidFill>
            <a:prstDash val="solid"/>
          </a:ln>
        </p:spPr>
      </p:sp>
      <p:sp>
        <p:nvSpPr>
          <p:cNvPr id="23" name="Text 20"/>
          <p:cNvSpPr txBox="1"/>
          <p:nvPr/>
        </p:nvSpPr>
        <p:spPr>
          <a:xfrm>
            <a:off x="7772400" y="3383280"/>
            <a:ext cx="3867912"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宛先 198.51.100.7:443</a:t>
            </a:r>
            <a:endParaRPr lang="en-US" sz="2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4343400"/>
          <a:ext cx="11274552" cy="914400"/>
        </p:xfrm>
        <a:graphic>
          <a:graphicData uri="http://schemas.openxmlformats.org/drawingml/2006/table">
            <a:tbl>
              <a:tblPr/>
              <a:tblGrid>
                <a:gridCol w="2377440"/>
                <a:gridCol w="4480560"/>
                <a:gridCol w="44165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通信する端末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自宅内での送信元</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ルーターが外側に使う送信元</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Windows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192.168.1.20:51000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203.0.113.10:62001</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iPhone</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192.168.1.21:51000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203.0.113.10:62002</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hape 21"/>
          <p:cNvSpPr/>
          <p:nvPr/>
        </p:nvSpPr>
        <p:spPr>
          <a:xfrm>
            <a:off x="457200" y="5806440"/>
            <a:ext cx="11274552" cy="548640"/>
          </a:xfrm>
          <a:prstGeom prst="roundRect">
            <a:avLst>
              <a:gd name="adj" fmla="val 20000"/>
            </a:avLst>
          </a:prstGeom>
          <a:solidFill>
            <a:srgbClr val="FBE3E0"/>
          </a:solidFill>
          <a:ln w="19050">
            <a:solidFill>
              <a:srgbClr val="C0392B"/>
            </a:solidFill>
            <a:prstDash val="solid"/>
          </a:ln>
        </p:spPr>
      </p:sp>
      <p:sp>
        <p:nvSpPr>
          <p:cNvPr id="26" name="Shape 22"/>
          <p:cNvSpPr/>
          <p:nvPr/>
        </p:nvSpPr>
        <p:spPr>
          <a:xfrm>
            <a:off x="594360" y="5897880"/>
            <a:ext cx="365760" cy="365760"/>
          </a:xfrm>
          <a:prstGeom prst="ellipse">
            <a:avLst/>
          </a:prstGeom>
          <a:solidFill>
            <a:srgbClr val="C0392B"/>
          </a:solidFill>
          <a:ln/>
        </p:spPr>
      </p:sp>
      <p:pic>
        <p:nvPicPr>
          <p:cNvPr id="27" name="Image 0" descr="preencoded.png">    </p:cNvPr>
          <p:cNvPicPr>
            <a:picLocks noChangeAspect="1"/>
          </p:cNvPicPr>
          <p:nvPr/>
        </p:nvPicPr>
        <p:blipFill>
          <a:blip r:embed="rId1"/>
          <a:stretch>
            <a:fillRect/>
          </a:stretch>
        </p:blipFill>
        <p:spPr>
          <a:xfrm>
            <a:off x="674827" y="5978347"/>
            <a:ext cx="204826" cy="204826"/>
          </a:xfrm>
          <a:prstGeom prst="rect">
            <a:avLst/>
          </a:prstGeom>
        </p:spPr>
      </p:pic>
      <p:sp>
        <p:nvSpPr>
          <p:cNvPr id="28" name="Text 23"/>
          <p:cNvSpPr txBox="1"/>
          <p:nvPr/>
        </p:nvSpPr>
        <p:spPr>
          <a:xfrm>
            <a:off x="1097280" y="5852160"/>
            <a:ext cx="10497312" cy="4572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端末のIP設定は変わらない。書き換えるのはルーター。NATは暗号化ではない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返信は対応表で端末へ戻す。NATは環境で変わる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ルーターは「どの端末の通信か」を対応表に記録しているので、返信を正しい端末へ戻せます。NATの有無は、家庭・携帯回線・IPv6などの環境で変わります。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出典：[B02]</a:t>
            </a:r>
            <a:endParaRPr lang="ja-JP" sz="1200" dirty="0"/>
          </a:p>
        </p:txBody>
      </p:sp>
      <p:sp>
        <p:nvSpPr>
          <p:cNvPr id="8" name="Shape 5"/>
          <p:cNvSpPr/>
          <p:nvPr/>
        </p:nvSpPr>
        <p:spPr>
          <a:xfrm>
            <a:off x="457200" y="1737360"/>
            <a:ext cx="2651760" cy="868680"/>
          </a:xfrm>
          <a:prstGeom prst="roundRect">
            <a:avLst>
              <a:gd name="adj" fmla="val 12632"/>
            </a:avLst>
          </a:prstGeom>
          <a:solidFill>
            <a:srgbClr val="5B46B8"/>
          </a:solidFill>
          <a:ln/>
        </p:spPr>
      </p:sp>
      <p:sp>
        <p:nvSpPr>
          <p:cNvPr id="9" name="Shape 6"/>
          <p:cNvSpPr/>
          <p:nvPr/>
        </p:nvSpPr>
        <p:spPr>
          <a:xfrm>
            <a:off x="585216" y="1897380"/>
            <a:ext cx="548640" cy="548640"/>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705917" y="2018081"/>
            <a:ext cx="307238" cy="307238"/>
          </a:xfrm>
          <a:prstGeom prst="rect">
            <a:avLst/>
          </a:prstGeom>
        </p:spPr>
      </p:pic>
      <p:sp>
        <p:nvSpPr>
          <p:cNvPr id="11" name="Text 7"/>
          <p:cNvSpPr txBox="1"/>
          <p:nvPr/>
        </p:nvSpPr>
        <p:spPr>
          <a:xfrm>
            <a:off x="1225296" y="1737360"/>
            <a:ext cx="179222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サーバー</a:t>
            </a:r>
            <a:endParaRPr lang="en-US" sz="2000" dirty="0"/>
          </a:p>
        </p:txBody>
      </p:sp>
      <p:sp>
        <p:nvSpPr>
          <p:cNvPr id="12" name="Shape 8"/>
          <p:cNvSpPr/>
          <p:nvPr/>
        </p:nvSpPr>
        <p:spPr>
          <a:xfrm>
            <a:off x="3108960" y="2171700"/>
            <a:ext cx="1097280" cy="0"/>
          </a:xfrm>
          <a:prstGeom prst="line">
            <a:avLst/>
          </a:prstGeom>
          <a:noFill/>
          <a:ln w="38100">
            <a:solidFill>
              <a:srgbClr val="2F6BC2"/>
            </a:solidFill>
            <a:prstDash val="solid"/>
            <a:tailEnd type="triangle"/>
          </a:ln>
        </p:spPr>
      </p:sp>
      <p:sp>
        <p:nvSpPr>
          <p:cNvPr id="13" name="Text 9"/>
          <p:cNvSpPr txBox="1"/>
          <p:nvPr/>
        </p:nvSpPr>
        <p:spPr>
          <a:xfrm>
            <a:off x="3429000" y="1976628"/>
            <a:ext cx="457200" cy="390144"/>
          </a:xfrm>
          <a:prstGeom prst="rect">
            <a:avLst/>
          </a:prstGeom>
          <a:solidFill>
            <a:srgbClr val="FFFFFF"/>
          </a:solidFill>
          <a:ln/>
        </p:spPr>
        <p:txBody>
          <a:bodyPr wrap="square" lIns="0" tIns="0" rIns="0" bIns="0" rtlCol="0" anchor="ctr"/>
          <a:lstStyle/>
          <a:p>
            <a:pPr algn="ctr"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①</a:t>
            </a:r>
            <a:endParaRPr lang="en-US" sz="2000" dirty="0"/>
          </a:p>
        </p:txBody>
      </p:sp>
      <p:sp>
        <p:nvSpPr>
          <p:cNvPr id="14" name="Shape 10"/>
          <p:cNvSpPr/>
          <p:nvPr/>
        </p:nvSpPr>
        <p:spPr>
          <a:xfrm>
            <a:off x="4206240" y="1737360"/>
            <a:ext cx="3291840" cy="868680"/>
          </a:xfrm>
          <a:prstGeom prst="roundRect">
            <a:avLst>
              <a:gd name="adj" fmla="val 12632"/>
            </a:avLst>
          </a:prstGeom>
          <a:solidFill>
            <a:srgbClr val="B45309"/>
          </a:solidFill>
          <a:ln/>
        </p:spPr>
      </p:sp>
      <p:sp>
        <p:nvSpPr>
          <p:cNvPr id="15" name="Shape 11"/>
          <p:cNvSpPr/>
          <p:nvPr/>
        </p:nvSpPr>
        <p:spPr>
          <a:xfrm>
            <a:off x="4334256" y="1897380"/>
            <a:ext cx="548640" cy="548640"/>
          </a:xfrm>
          <a:prstGeom prst="ellipse">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4454957" y="2018081"/>
            <a:ext cx="307238" cy="307238"/>
          </a:xfrm>
          <a:prstGeom prst="rect">
            <a:avLst/>
          </a:prstGeom>
        </p:spPr>
      </p:pic>
      <p:sp>
        <p:nvSpPr>
          <p:cNvPr id="17" name="Text 12"/>
          <p:cNvSpPr txBox="1"/>
          <p:nvPr/>
        </p:nvSpPr>
        <p:spPr>
          <a:xfrm>
            <a:off x="4974336" y="1737360"/>
            <a:ext cx="243230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自宅ルーター</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対応表で書き戻す</a:t>
            </a:r>
            <a:endParaRPr lang="en-US" sz="2000" dirty="0"/>
          </a:p>
        </p:txBody>
      </p:sp>
      <p:sp>
        <p:nvSpPr>
          <p:cNvPr id="18" name="Shape 13"/>
          <p:cNvSpPr/>
          <p:nvPr/>
        </p:nvSpPr>
        <p:spPr>
          <a:xfrm>
            <a:off x="7498080" y="2171700"/>
            <a:ext cx="1097280" cy="0"/>
          </a:xfrm>
          <a:prstGeom prst="line">
            <a:avLst/>
          </a:prstGeom>
          <a:noFill/>
          <a:ln w="38100">
            <a:solidFill>
              <a:srgbClr val="0B7A7A"/>
            </a:solidFill>
            <a:prstDash val="solid"/>
            <a:tailEnd type="triangle"/>
          </a:ln>
        </p:spPr>
      </p:sp>
      <p:sp>
        <p:nvSpPr>
          <p:cNvPr id="19" name="Text 14"/>
          <p:cNvSpPr txBox="1"/>
          <p:nvPr/>
        </p:nvSpPr>
        <p:spPr>
          <a:xfrm>
            <a:off x="7818120" y="1976628"/>
            <a:ext cx="457200" cy="390144"/>
          </a:xfrm>
          <a:prstGeom prst="rect">
            <a:avLst/>
          </a:prstGeom>
          <a:solidFill>
            <a:srgbClr val="FFFFFF"/>
          </a:solidFill>
          <a:ln/>
        </p:spPr>
        <p:txBody>
          <a:bodyPr wrap="square" lIns="0" tIns="0" rIns="0" bIns="0" rtlCol="0" anchor="ctr"/>
          <a:lstStyle/>
          <a:p>
            <a:pPr algn="ctr"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②</a:t>
            </a:r>
            <a:endParaRPr lang="en-US" sz="2000" dirty="0"/>
          </a:p>
        </p:txBody>
      </p:sp>
      <p:sp>
        <p:nvSpPr>
          <p:cNvPr id="20" name="Shape 15"/>
          <p:cNvSpPr/>
          <p:nvPr/>
        </p:nvSpPr>
        <p:spPr>
          <a:xfrm>
            <a:off x="8595360" y="1737360"/>
            <a:ext cx="3136392" cy="868680"/>
          </a:xfrm>
          <a:prstGeom prst="roundRect">
            <a:avLst>
              <a:gd name="adj" fmla="val 12632"/>
            </a:avLst>
          </a:prstGeom>
          <a:solidFill>
            <a:srgbClr val="0B7A7A"/>
          </a:solidFill>
          <a:ln/>
        </p:spPr>
      </p:sp>
      <p:sp>
        <p:nvSpPr>
          <p:cNvPr id="21" name="Shape 16"/>
          <p:cNvSpPr/>
          <p:nvPr/>
        </p:nvSpPr>
        <p:spPr>
          <a:xfrm>
            <a:off x="8723376" y="1897380"/>
            <a:ext cx="548640" cy="54864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844077" y="2018081"/>
            <a:ext cx="307238" cy="307238"/>
          </a:xfrm>
          <a:prstGeom prst="rect">
            <a:avLst/>
          </a:prstGeom>
        </p:spPr>
      </p:pic>
      <p:sp>
        <p:nvSpPr>
          <p:cNvPr id="23" name="Text 17"/>
          <p:cNvSpPr txBox="1"/>
          <p:nvPr/>
        </p:nvSpPr>
        <p:spPr>
          <a:xfrm>
            <a:off x="9363456" y="1737360"/>
            <a:ext cx="2276856"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Windows</a:t>
            </a:r>
            <a:endParaRPr lang="en-US" sz="2000" dirty="0"/>
          </a:p>
        </p:txBody>
      </p:sp>
      <p:sp>
        <p:nvSpPr>
          <p:cNvPr id="24" name="Shape 18"/>
          <p:cNvSpPr/>
          <p:nvPr/>
        </p:nvSpPr>
        <p:spPr>
          <a:xfrm>
            <a:off x="457200" y="2743200"/>
            <a:ext cx="5532120" cy="640080"/>
          </a:xfrm>
          <a:prstGeom prst="roundRect">
            <a:avLst>
              <a:gd name="adj" fmla="val 17143"/>
            </a:avLst>
          </a:prstGeom>
          <a:solidFill>
            <a:srgbClr val="DCE8F8"/>
          </a:solidFill>
          <a:ln w="25400">
            <a:solidFill>
              <a:srgbClr val="2F6BC2"/>
            </a:solidFill>
            <a:prstDash val="solid"/>
          </a:ln>
        </p:spPr>
      </p:sp>
      <p:sp>
        <p:nvSpPr>
          <p:cNvPr id="25" name="Text 19"/>
          <p:cNvSpPr txBox="1"/>
          <p:nvPr/>
        </p:nvSpPr>
        <p:spPr>
          <a:xfrm>
            <a:off x="548640" y="2743200"/>
            <a:ext cx="5349240" cy="6400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① 返信の宛先：203.0.113.10:62001</a:t>
            </a:r>
            <a:endParaRPr lang="en-US" sz="1800" dirty="0"/>
          </a:p>
        </p:txBody>
      </p:sp>
      <p:sp>
        <p:nvSpPr>
          <p:cNvPr id="26" name="Shape 20"/>
          <p:cNvSpPr/>
          <p:nvPr/>
        </p:nvSpPr>
        <p:spPr>
          <a:xfrm>
            <a:off x="6199632" y="2743200"/>
            <a:ext cx="5532120" cy="640080"/>
          </a:xfrm>
          <a:prstGeom prst="roundRect">
            <a:avLst>
              <a:gd name="adj" fmla="val 17143"/>
            </a:avLst>
          </a:prstGeom>
          <a:solidFill>
            <a:srgbClr val="D9F2F1"/>
          </a:solidFill>
          <a:ln w="25400">
            <a:solidFill>
              <a:srgbClr val="0B7A7A"/>
            </a:solidFill>
            <a:prstDash val="solid"/>
          </a:ln>
        </p:spPr>
      </p:sp>
      <p:sp>
        <p:nvSpPr>
          <p:cNvPr id="27" name="Text 21"/>
          <p:cNvSpPr txBox="1"/>
          <p:nvPr/>
        </p:nvSpPr>
        <p:spPr>
          <a:xfrm>
            <a:off x="6291072" y="2743200"/>
            <a:ext cx="5349240" cy="6400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② 書き戻し後：192.168.1.20:51000</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11274552" cy="914400"/>
        </p:xfrm>
        <a:graphic>
          <a:graphicData uri="http://schemas.openxmlformats.org/drawingml/2006/table">
            <a:tbl>
              <a:tblPr/>
              <a:tblGrid>
                <a:gridCol w="3931920"/>
                <a:gridCol w="73426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環境</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よくある動き</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0233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家庭の一般的なIPv4</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自宅ルーターでNATする</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携帯回線・一部の固定回線</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通信会社側でもNAT（CGNAT）する場合がある</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0233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IPv6</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通常、IPv4のようなアドレス共有のNATは不要</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IPv4とIPv6の組み合わせ</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トンネルや変換など追加の処理が入る場合がある</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9" name="Shape 22"/>
          <p:cNvSpPr/>
          <p:nvPr/>
        </p:nvSpPr>
        <p:spPr>
          <a:xfrm>
            <a:off x="457200" y="5669280"/>
            <a:ext cx="5532120" cy="640080"/>
          </a:xfrm>
          <a:prstGeom prst="roundRect">
            <a:avLst>
              <a:gd name="adj" fmla="val 17143"/>
            </a:avLst>
          </a:prstGeom>
          <a:solidFill>
            <a:srgbClr val="DCE8F8"/>
          </a:solidFill>
          <a:ln w="19050">
            <a:solidFill>
              <a:srgbClr val="2F6BC2"/>
            </a:solidFill>
            <a:prstDash val="solid"/>
          </a:ln>
        </p:spPr>
      </p:sp>
      <p:sp>
        <p:nvSpPr>
          <p:cNvPr id="30" name="Shape 23"/>
          <p:cNvSpPr/>
          <p:nvPr/>
        </p:nvSpPr>
        <p:spPr>
          <a:xfrm>
            <a:off x="594360" y="5760720"/>
            <a:ext cx="457200" cy="457200"/>
          </a:xfrm>
          <a:prstGeom prst="ellipse">
            <a:avLst/>
          </a:prstGeom>
          <a:solidFill>
            <a:srgbClr val="2F6BC2"/>
          </a:solidFill>
          <a:ln/>
        </p:spPr>
      </p:sp>
      <p:pic>
        <p:nvPicPr>
          <p:cNvPr id="31" name="Image 3" descr="preencoded.png">    </p:cNvPr>
          <p:cNvPicPr>
            <a:picLocks noChangeAspect="1"/>
          </p:cNvPicPr>
          <p:nvPr/>
        </p:nvPicPr>
        <p:blipFill>
          <a:blip r:embed="rId4"/>
          <a:stretch>
            <a:fillRect/>
          </a:stretch>
        </p:blipFill>
        <p:spPr>
          <a:xfrm>
            <a:off x="694944" y="5861304"/>
            <a:ext cx="256032" cy="256032"/>
          </a:xfrm>
          <a:prstGeom prst="rect">
            <a:avLst/>
          </a:prstGeom>
        </p:spPr>
      </p:pic>
      <p:sp>
        <p:nvSpPr>
          <p:cNvPr id="32" name="Text 24"/>
          <p:cNvSpPr txBox="1"/>
          <p:nvPr/>
        </p:nvSpPr>
        <p:spPr>
          <a:xfrm>
            <a:off x="1188720" y="5715000"/>
            <a:ext cx="46634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CGNAT＝通信会社側でIPv4を共有</a:t>
            </a:r>
            <a:endParaRPr lang="en-US" sz="1800" dirty="0"/>
          </a:p>
        </p:txBody>
      </p:sp>
      <p:sp>
        <p:nvSpPr>
          <p:cNvPr id="33" name="Shape 25"/>
          <p:cNvSpPr/>
          <p:nvPr/>
        </p:nvSpPr>
        <p:spPr>
          <a:xfrm>
            <a:off x="6199632" y="5669280"/>
            <a:ext cx="5532120" cy="640080"/>
          </a:xfrm>
          <a:prstGeom prst="roundRect">
            <a:avLst>
              <a:gd name="adj" fmla="val 17143"/>
            </a:avLst>
          </a:prstGeom>
          <a:solidFill>
            <a:srgbClr val="FBE3E0"/>
          </a:solidFill>
          <a:ln w="19050">
            <a:solidFill>
              <a:srgbClr val="C0392B"/>
            </a:solidFill>
            <a:prstDash val="solid"/>
          </a:ln>
        </p:spPr>
      </p:sp>
      <p:sp>
        <p:nvSpPr>
          <p:cNvPr id="34" name="Shape 26"/>
          <p:cNvSpPr/>
          <p:nvPr/>
        </p:nvSpPr>
        <p:spPr>
          <a:xfrm>
            <a:off x="6336792" y="5760720"/>
            <a:ext cx="457200" cy="457200"/>
          </a:xfrm>
          <a:prstGeom prst="ellipse">
            <a:avLst/>
          </a:prstGeom>
          <a:solidFill>
            <a:srgbClr val="C0392B"/>
          </a:solidFill>
          <a:ln/>
        </p:spPr>
      </p:sp>
      <p:pic>
        <p:nvPicPr>
          <p:cNvPr id="35" name="Image 4" descr="preencoded.png">    </p:cNvPr>
          <p:cNvPicPr>
            <a:picLocks noChangeAspect="1"/>
          </p:cNvPicPr>
          <p:nvPr/>
        </p:nvPicPr>
        <p:blipFill>
          <a:blip r:embed="rId5"/>
          <a:stretch>
            <a:fillRect/>
          </a:stretch>
        </p:blipFill>
        <p:spPr>
          <a:xfrm>
            <a:off x="6437376" y="5861304"/>
            <a:ext cx="256032" cy="256032"/>
          </a:xfrm>
          <a:prstGeom prst="rect">
            <a:avLst/>
          </a:prstGeom>
        </p:spPr>
      </p:pic>
      <p:sp>
        <p:nvSpPr>
          <p:cNvPr id="36" name="Text 27"/>
          <p:cNvSpPr txBox="1"/>
          <p:nvPr/>
        </p:nvSpPr>
        <p:spPr>
          <a:xfrm>
            <a:off x="6931152" y="5715000"/>
            <a:ext cx="4663440"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NATは暗号化ではない。暗号化はTLS</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インターネットは網の集合。ルーターが順に渡す</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インターネットは、多数の会社のネットワークをつないだ集合体です。途中のルーターは宛先の住所だけを見て次の渡し先へ送ります（質問の中身は読みません）。</a:t>
            </a:r>
            <a:endParaRPr lang="en-US" sz="1800" dirty="0"/>
          </a:p>
        </p:txBody>
      </p:sp>
      <p:sp>
        <p:nvSpPr>
          <p:cNvPr id="7" name="Shape 4"/>
          <p:cNvSpPr/>
          <p:nvPr/>
        </p:nvSpPr>
        <p:spPr>
          <a:xfrm>
            <a:off x="457200" y="1737360"/>
            <a:ext cx="2377440" cy="1051560"/>
          </a:xfrm>
          <a:prstGeom prst="roundRect">
            <a:avLst>
              <a:gd name="adj" fmla="val 10435"/>
            </a:avLst>
          </a:prstGeom>
          <a:solidFill>
            <a:srgbClr val="2F6BC2"/>
          </a:solidFill>
          <a:ln/>
        </p:spPr>
      </p:sp>
      <p:sp>
        <p:nvSpPr>
          <p:cNvPr id="8" name="Text 5"/>
          <p:cNvSpPr txBox="1"/>
          <p:nvPr/>
        </p:nvSpPr>
        <p:spPr>
          <a:xfrm>
            <a:off x="548640" y="1737360"/>
            <a:ext cx="219456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プロバイダー</a:t>
            </a:r>
            <a:endParaRPr lang="en-US" sz="2000" dirty="0"/>
          </a:p>
        </p:txBody>
      </p:sp>
      <p:sp>
        <p:nvSpPr>
          <p:cNvPr id="9" name="Shape 6"/>
          <p:cNvSpPr/>
          <p:nvPr/>
        </p:nvSpPr>
        <p:spPr>
          <a:xfrm>
            <a:off x="2834640" y="2263140"/>
            <a:ext cx="548640" cy="0"/>
          </a:xfrm>
          <a:prstGeom prst="line">
            <a:avLst/>
          </a:prstGeom>
          <a:noFill/>
          <a:ln w="50800">
            <a:solidFill>
              <a:srgbClr val="2F6BC2"/>
            </a:solidFill>
            <a:prstDash val="solid"/>
            <a:headEnd type="triangle"/>
            <a:tailEnd type="triangle"/>
          </a:ln>
        </p:spPr>
      </p:sp>
      <p:sp>
        <p:nvSpPr>
          <p:cNvPr id="10" name="Shape 7"/>
          <p:cNvSpPr/>
          <p:nvPr/>
        </p:nvSpPr>
        <p:spPr>
          <a:xfrm>
            <a:off x="3383280" y="1737360"/>
            <a:ext cx="2377440" cy="1051560"/>
          </a:xfrm>
          <a:prstGeom prst="roundRect">
            <a:avLst>
              <a:gd name="adj" fmla="val 10435"/>
            </a:avLst>
          </a:prstGeom>
          <a:solidFill>
            <a:srgbClr val="DCE8F8"/>
          </a:solidFill>
          <a:ln/>
        </p:spPr>
      </p:sp>
      <p:sp>
        <p:nvSpPr>
          <p:cNvPr id="11" name="Text 8"/>
          <p:cNvSpPr txBox="1"/>
          <p:nvPr/>
        </p:nvSpPr>
        <p:spPr>
          <a:xfrm>
            <a:off x="3474720" y="1737360"/>
            <a:ext cx="219456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通信会社</a:t>
            </a:r>
            <a:endParaRPr lang="en-US" sz="2000" dirty="0"/>
          </a:p>
        </p:txBody>
      </p:sp>
      <p:sp>
        <p:nvSpPr>
          <p:cNvPr id="12" name="Shape 9"/>
          <p:cNvSpPr/>
          <p:nvPr/>
        </p:nvSpPr>
        <p:spPr>
          <a:xfrm>
            <a:off x="5760720" y="2263140"/>
            <a:ext cx="548640" cy="0"/>
          </a:xfrm>
          <a:prstGeom prst="line">
            <a:avLst/>
          </a:prstGeom>
          <a:noFill/>
          <a:ln w="50800">
            <a:solidFill>
              <a:srgbClr val="2F6BC2"/>
            </a:solidFill>
            <a:prstDash val="solid"/>
            <a:headEnd type="triangle"/>
            <a:tailEnd type="triangle"/>
          </a:ln>
        </p:spPr>
      </p:sp>
      <p:sp>
        <p:nvSpPr>
          <p:cNvPr id="13" name="Shape 10"/>
          <p:cNvSpPr/>
          <p:nvPr/>
        </p:nvSpPr>
        <p:spPr>
          <a:xfrm>
            <a:off x="6309360" y="1737360"/>
            <a:ext cx="2377440" cy="1051560"/>
          </a:xfrm>
          <a:prstGeom prst="roundRect">
            <a:avLst>
              <a:gd name="adj" fmla="val 10435"/>
            </a:avLst>
          </a:prstGeom>
          <a:solidFill>
            <a:srgbClr val="2F6BC2"/>
          </a:solidFill>
          <a:ln/>
        </p:spPr>
      </p:sp>
      <p:sp>
        <p:nvSpPr>
          <p:cNvPr id="14" name="Text 11"/>
          <p:cNvSpPr txBox="1"/>
          <p:nvPr/>
        </p:nvSpPr>
        <p:spPr>
          <a:xfrm>
            <a:off x="6400800" y="1737360"/>
            <a:ext cx="219456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相互接続</a:t>
            </a:r>
            <a:endParaRPr lang="en-US" sz="2000" dirty="0"/>
          </a:p>
        </p:txBody>
      </p:sp>
      <p:sp>
        <p:nvSpPr>
          <p:cNvPr id="15" name="Shape 12"/>
          <p:cNvSpPr/>
          <p:nvPr/>
        </p:nvSpPr>
        <p:spPr>
          <a:xfrm>
            <a:off x="8686800" y="2263140"/>
            <a:ext cx="548640" cy="0"/>
          </a:xfrm>
          <a:prstGeom prst="line">
            <a:avLst/>
          </a:prstGeom>
          <a:noFill/>
          <a:ln w="50800">
            <a:solidFill>
              <a:srgbClr val="2F6BC2"/>
            </a:solidFill>
            <a:prstDash val="solid"/>
            <a:headEnd type="triangle"/>
            <a:tailEnd type="triangle"/>
          </a:ln>
        </p:spPr>
      </p:sp>
      <p:sp>
        <p:nvSpPr>
          <p:cNvPr id="16" name="Shape 13"/>
          <p:cNvSpPr/>
          <p:nvPr/>
        </p:nvSpPr>
        <p:spPr>
          <a:xfrm>
            <a:off x="9235440" y="1737360"/>
            <a:ext cx="2377440" cy="1051560"/>
          </a:xfrm>
          <a:prstGeom prst="roundRect">
            <a:avLst>
              <a:gd name="adj" fmla="val 10435"/>
            </a:avLst>
          </a:prstGeom>
          <a:solidFill>
            <a:srgbClr val="DCE8F8"/>
          </a:solidFill>
          <a:ln/>
        </p:spPr>
      </p:sp>
      <p:sp>
        <p:nvSpPr>
          <p:cNvPr id="17" name="Text 14"/>
          <p:cNvSpPr txBox="1"/>
          <p:nvPr/>
        </p:nvSpPr>
        <p:spPr>
          <a:xfrm>
            <a:off x="9326880" y="1737360"/>
            <a:ext cx="219456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クラウド事業者</a:t>
            </a:r>
            <a:endParaRPr lang="en-US" sz="2000" dirty="0"/>
          </a:p>
        </p:txBody>
      </p:sp>
      <p:sp>
        <p:nvSpPr>
          <p:cNvPr id="18" name="Shape 15"/>
          <p:cNvSpPr/>
          <p:nvPr/>
        </p:nvSpPr>
        <p:spPr>
          <a:xfrm>
            <a:off x="457200" y="3017520"/>
            <a:ext cx="5532120" cy="2194560"/>
          </a:xfrm>
          <a:prstGeom prst="roundRect">
            <a:avLst>
              <a:gd name="adj" fmla="val 5833"/>
            </a:avLst>
          </a:prstGeom>
          <a:solidFill>
            <a:srgbClr val="DCE8F8"/>
          </a:solidFill>
          <a:ln/>
        </p:spPr>
      </p:sp>
      <p:sp>
        <p:nvSpPr>
          <p:cNvPr id="19" name="Shape 16"/>
          <p:cNvSpPr/>
          <p:nvPr/>
        </p:nvSpPr>
        <p:spPr>
          <a:xfrm>
            <a:off x="621792" y="3145536"/>
            <a:ext cx="512064" cy="512064"/>
          </a:xfrm>
          <a:prstGeom prst="ellipse">
            <a:avLst/>
          </a:prstGeom>
          <a:solidFill>
            <a:srgbClr val="2F6BC2"/>
          </a:solidFill>
          <a:ln/>
        </p:spPr>
      </p:sp>
      <p:pic>
        <p:nvPicPr>
          <p:cNvPr id="20" name="Image 0" descr="preencoded.png">    </p:cNvPr>
          <p:cNvPicPr>
            <a:picLocks noChangeAspect="1"/>
          </p:cNvPicPr>
          <p:nvPr/>
        </p:nvPicPr>
        <p:blipFill>
          <a:blip r:embed="rId1"/>
          <a:stretch>
            <a:fillRect/>
          </a:stretch>
        </p:blipFill>
        <p:spPr>
          <a:xfrm>
            <a:off x="734446" y="3258190"/>
            <a:ext cx="286756" cy="286756"/>
          </a:xfrm>
          <a:prstGeom prst="rect">
            <a:avLst/>
          </a:prstGeom>
        </p:spPr>
      </p:pic>
      <p:sp>
        <p:nvSpPr>
          <p:cNvPr id="21" name="Text 17"/>
          <p:cNvSpPr txBox="1"/>
          <p:nvPr/>
        </p:nvSpPr>
        <p:spPr>
          <a:xfrm>
            <a:off x="1243584" y="3145536"/>
            <a:ext cx="460857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途中のルーターの3つの仕事</a:t>
            </a:r>
            <a:endParaRPr lang="en-US" sz="2200" dirty="0"/>
          </a:p>
        </p:txBody>
      </p:sp>
      <p:sp>
        <p:nvSpPr>
          <p:cNvPr id="22" name="Text 18"/>
          <p:cNvSpPr txBox="1"/>
          <p:nvPr/>
        </p:nvSpPr>
        <p:spPr>
          <a:xfrm>
            <a:off x="640080" y="3749040"/>
            <a:ext cx="5166360" cy="137160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① 宛先IPアドレスを読む</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② 経路の一覧から、次の相手を選ぶ</a:t>
            </a:r>
            <a:endParaRPr lang="en-US" sz="2000" dirty="0"/>
          </a:p>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③ 次の回線へ送る</a:t>
            </a:r>
            <a:endParaRPr lang="en-US" sz="2000" dirty="0"/>
          </a:p>
        </p:txBody>
      </p:sp>
      <p:sp>
        <p:nvSpPr>
          <p:cNvPr id="23" name="Shape 19"/>
          <p:cNvSpPr/>
          <p:nvPr/>
        </p:nvSpPr>
        <p:spPr>
          <a:xfrm>
            <a:off x="6199632" y="3017520"/>
            <a:ext cx="5532120" cy="2194560"/>
          </a:xfrm>
          <a:prstGeom prst="roundRect">
            <a:avLst>
              <a:gd name="adj" fmla="val 5833"/>
            </a:avLst>
          </a:prstGeom>
          <a:solidFill>
            <a:srgbClr val="DCE8F8"/>
          </a:solidFill>
          <a:ln/>
        </p:spPr>
      </p:sp>
      <p:sp>
        <p:nvSpPr>
          <p:cNvPr id="24" name="Shape 20"/>
          <p:cNvSpPr/>
          <p:nvPr/>
        </p:nvSpPr>
        <p:spPr>
          <a:xfrm>
            <a:off x="6364224" y="3145536"/>
            <a:ext cx="512064" cy="512064"/>
          </a:xfrm>
          <a:prstGeom prst="ellipse">
            <a:avLst/>
          </a:prstGeom>
          <a:solidFill>
            <a:srgbClr val="2F6BC2"/>
          </a:solidFill>
          <a:ln/>
        </p:spPr>
      </p:sp>
      <p:pic>
        <p:nvPicPr>
          <p:cNvPr id="25" name="Image 1" descr="preencoded.png">    </p:cNvPr>
          <p:cNvPicPr>
            <a:picLocks noChangeAspect="1"/>
          </p:cNvPicPr>
          <p:nvPr/>
        </p:nvPicPr>
        <p:blipFill>
          <a:blip r:embed="rId2"/>
          <a:stretch>
            <a:fillRect/>
          </a:stretch>
        </p:blipFill>
        <p:spPr>
          <a:xfrm>
            <a:off x="6476878" y="3258190"/>
            <a:ext cx="286756" cy="286756"/>
          </a:xfrm>
          <a:prstGeom prst="rect">
            <a:avLst/>
          </a:prstGeom>
        </p:spPr>
      </p:pic>
      <p:sp>
        <p:nvSpPr>
          <p:cNvPr id="26" name="Text 21"/>
          <p:cNvSpPr txBox="1"/>
          <p:nvPr/>
        </p:nvSpPr>
        <p:spPr>
          <a:xfrm>
            <a:off x="6986016" y="3145536"/>
            <a:ext cx="460857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BGP</a:t>
            </a:r>
            <a:endParaRPr lang="en-US" sz="2200" dirty="0"/>
          </a:p>
        </p:txBody>
      </p:sp>
      <p:sp>
        <p:nvSpPr>
          <p:cNvPr id="27" name="Text 22"/>
          <p:cNvSpPr txBox="1"/>
          <p:nvPr/>
        </p:nvSpPr>
        <p:spPr>
          <a:xfrm>
            <a:off x="6382512" y="3749040"/>
            <a:ext cx="5166360" cy="1371600"/>
          </a:xfrm>
          <a:prstGeom prst="rect">
            <a:avLst/>
          </a:prstGeom>
          <a:noFill/>
          <a:ln/>
        </p:spPr>
        <p:txBody>
          <a:bodyPr wrap="square" lIns="0" tIns="0" rIns="0" bIns="0" rtlCol="0" anchor="t"/>
          <a:lstStyle/>
          <a:p>
            <a:pPr algn="l" marL="279400" indent="-279400">
              <a:lnSpc>
                <a:spcPts val="2600"/>
              </a:lnSpc>
              <a:spcAft>
                <a:spcPts val="4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ネットワーク間で「到達できる宛先」の情報を交換する代表的な仕組み</a:t>
            </a:r>
            <a:endParaRPr lang="en-US" sz="2000" dirty="0"/>
          </a:p>
        </p:txBody>
      </p:sp>
      <p:sp>
        <p:nvSpPr>
          <p:cNvPr id="28" name="Shape 23"/>
          <p:cNvSpPr/>
          <p:nvPr/>
        </p:nvSpPr>
        <p:spPr>
          <a:xfrm>
            <a:off x="457200" y="5349240"/>
            <a:ext cx="3657600" cy="960120"/>
          </a:xfrm>
          <a:prstGeom prst="roundRect">
            <a:avLst>
              <a:gd name="adj" fmla="val 11429"/>
            </a:avLst>
          </a:prstGeom>
          <a:solidFill>
            <a:srgbClr val="DCE8F8"/>
          </a:solidFill>
          <a:ln w="19050">
            <a:solidFill>
              <a:srgbClr val="2F6BC2"/>
            </a:solidFill>
            <a:prstDash val="solid"/>
          </a:ln>
        </p:spPr>
      </p:sp>
      <p:sp>
        <p:nvSpPr>
          <p:cNvPr id="29" name="Shape 24"/>
          <p:cNvSpPr/>
          <p:nvPr/>
        </p:nvSpPr>
        <p:spPr>
          <a:xfrm>
            <a:off x="594360" y="5600700"/>
            <a:ext cx="457200" cy="457200"/>
          </a:xfrm>
          <a:prstGeom prst="ellipse">
            <a:avLst/>
          </a:prstGeom>
          <a:solidFill>
            <a:srgbClr val="2F6BC2"/>
          </a:solidFill>
          <a:ln/>
        </p:spPr>
      </p:sp>
      <p:pic>
        <p:nvPicPr>
          <p:cNvPr id="30" name="Image 2" descr="preencoded.png">    </p:cNvPr>
          <p:cNvPicPr>
            <a:picLocks noChangeAspect="1"/>
          </p:cNvPicPr>
          <p:nvPr/>
        </p:nvPicPr>
        <p:blipFill>
          <a:blip r:embed="rId3"/>
          <a:stretch>
            <a:fillRect/>
          </a:stretch>
        </p:blipFill>
        <p:spPr>
          <a:xfrm>
            <a:off x="694944" y="5701284"/>
            <a:ext cx="256032" cy="256032"/>
          </a:xfrm>
          <a:prstGeom prst="rect">
            <a:avLst/>
          </a:prstGeom>
        </p:spPr>
      </p:pic>
      <p:sp>
        <p:nvSpPr>
          <p:cNvPr id="31" name="Text 25"/>
          <p:cNvSpPr txBox="1"/>
          <p:nvPr/>
        </p:nvSpPr>
        <p:spPr>
          <a:xfrm>
            <a:off x="1188720" y="5394960"/>
            <a:ext cx="278892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往路と復路が同じ経路とは限らない</a:t>
            </a:r>
            <a:endParaRPr lang="en-US" sz="1800" dirty="0"/>
          </a:p>
        </p:txBody>
      </p:sp>
      <p:sp>
        <p:nvSpPr>
          <p:cNvPr id="32" name="Shape 26"/>
          <p:cNvSpPr/>
          <p:nvPr/>
        </p:nvSpPr>
        <p:spPr>
          <a:xfrm>
            <a:off x="4270248" y="5349240"/>
            <a:ext cx="3657600" cy="960120"/>
          </a:xfrm>
          <a:prstGeom prst="roundRect">
            <a:avLst>
              <a:gd name="adj" fmla="val 11429"/>
            </a:avLst>
          </a:prstGeom>
          <a:solidFill>
            <a:srgbClr val="FBE3E0"/>
          </a:solidFill>
          <a:ln w="19050">
            <a:solidFill>
              <a:srgbClr val="C0392B"/>
            </a:solidFill>
            <a:prstDash val="solid"/>
          </a:ln>
        </p:spPr>
      </p:sp>
      <p:sp>
        <p:nvSpPr>
          <p:cNvPr id="33" name="Shape 27"/>
          <p:cNvSpPr/>
          <p:nvPr/>
        </p:nvSpPr>
        <p:spPr>
          <a:xfrm>
            <a:off x="4407408" y="5600700"/>
            <a:ext cx="457200" cy="457200"/>
          </a:xfrm>
          <a:prstGeom prst="ellipse">
            <a:avLst/>
          </a:prstGeom>
          <a:solidFill>
            <a:srgbClr val="C0392B"/>
          </a:solidFill>
          <a:ln/>
        </p:spPr>
      </p:sp>
      <p:pic>
        <p:nvPicPr>
          <p:cNvPr id="34" name="Image 3" descr="preencoded.png">    </p:cNvPr>
          <p:cNvPicPr>
            <a:picLocks noChangeAspect="1"/>
          </p:cNvPicPr>
          <p:nvPr/>
        </p:nvPicPr>
        <p:blipFill>
          <a:blip r:embed="rId4"/>
          <a:stretch>
            <a:fillRect/>
          </a:stretch>
        </p:blipFill>
        <p:spPr>
          <a:xfrm>
            <a:off x="4507992" y="5701284"/>
            <a:ext cx="256032" cy="256032"/>
          </a:xfrm>
          <a:prstGeom prst="rect">
            <a:avLst/>
          </a:prstGeom>
        </p:spPr>
      </p:pic>
      <p:sp>
        <p:nvSpPr>
          <p:cNvPr id="35" name="Text 28"/>
          <p:cNvSpPr txBox="1"/>
          <p:nvPr/>
        </p:nvSpPr>
        <p:spPr>
          <a:xfrm>
            <a:off x="5001768" y="5394960"/>
            <a:ext cx="278892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ルーターは質問の日本語を読まない</a:t>
            </a:r>
            <a:endParaRPr lang="en-US" sz="1800" dirty="0"/>
          </a:p>
        </p:txBody>
      </p:sp>
      <p:sp>
        <p:nvSpPr>
          <p:cNvPr id="36" name="Shape 29"/>
          <p:cNvSpPr/>
          <p:nvPr/>
        </p:nvSpPr>
        <p:spPr>
          <a:xfrm>
            <a:off x="8074152" y="5349240"/>
            <a:ext cx="3657600" cy="960120"/>
          </a:xfrm>
          <a:prstGeom prst="roundRect">
            <a:avLst>
              <a:gd name="adj" fmla="val 11429"/>
            </a:avLst>
          </a:prstGeom>
          <a:solidFill>
            <a:srgbClr val="DCE8F8"/>
          </a:solidFill>
          <a:ln w="19050">
            <a:solidFill>
              <a:srgbClr val="2F6BC2"/>
            </a:solidFill>
            <a:prstDash val="solid"/>
          </a:ln>
        </p:spPr>
      </p:sp>
      <p:sp>
        <p:nvSpPr>
          <p:cNvPr id="37" name="Shape 30"/>
          <p:cNvSpPr/>
          <p:nvPr/>
        </p:nvSpPr>
        <p:spPr>
          <a:xfrm>
            <a:off x="8211312" y="5600700"/>
            <a:ext cx="457200" cy="457200"/>
          </a:xfrm>
          <a:prstGeom prst="ellipse">
            <a:avLst/>
          </a:prstGeom>
          <a:solidFill>
            <a:srgbClr val="2F6BC2"/>
          </a:solidFill>
          <a:ln/>
        </p:spPr>
      </p:sp>
      <p:pic>
        <p:nvPicPr>
          <p:cNvPr id="38" name="Image 4" descr="preencoded.png">    </p:cNvPr>
          <p:cNvPicPr>
            <a:picLocks noChangeAspect="1"/>
          </p:cNvPicPr>
          <p:nvPr/>
        </p:nvPicPr>
        <p:blipFill>
          <a:blip r:embed="rId5"/>
          <a:stretch>
            <a:fillRect/>
          </a:stretch>
        </p:blipFill>
        <p:spPr>
          <a:xfrm>
            <a:off x="8311896" y="5701284"/>
            <a:ext cx="256032" cy="256032"/>
          </a:xfrm>
          <a:prstGeom prst="rect">
            <a:avLst/>
          </a:prstGeom>
        </p:spPr>
      </p:pic>
      <p:sp>
        <p:nvSpPr>
          <p:cNvPr id="39" name="Text 31"/>
          <p:cNvSpPr txBox="1"/>
          <p:nvPr/>
        </p:nvSpPr>
        <p:spPr>
          <a:xfrm>
            <a:off x="8805672" y="5394960"/>
            <a:ext cx="278892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電波は端末の近くだけ。遠くは主に有線</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TCP・UDP・QUICは届け方の約束が違う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TCPは「届いたか確認し、抜けたら再送」する丁寧な方式、UDPは確認せず速く送る方式です。QUICはUDPの上で、確認と暗号化を備えた新しい方式です。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出典：[B03]</a:t>
            </a:r>
            <a:endParaRPr lang="ja-JP" sz="1200" dirty="0"/>
          </a:p>
        </p:txBody>
      </p:sp>
      <p:sp>
        <p:nvSpPr>
          <p:cNvPr id="8" name="Shape 5"/>
          <p:cNvSpPr/>
          <p:nvPr/>
        </p:nvSpPr>
        <p:spPr>
          <a:xfrm>
            <a:off x="457200" y="1737360"/>
            <a:ext cx="3840480" cy="457200"/>
          </a:xfrm>
          <a:prstGeom prst="roundRect">
            <a:avLst>
              <a:gd name="adj" fmla="val 20000"/>
            </a:avLst>
          </a:prstGeom>
          <a:solidFill>
            <a:srgbClr val="2F6BC2"/>
          </a:solidFill>
          <a:ln/>
        </p:spPr>
      </p:sp>
      <p:sp>
        <p:nvSpPr>
          <p:cNvPr id="9" name="Text 6"/>
          <p:cNvSpPr txBox="1"/>
          <p:nvPr/>
        </p:nvSpPr>
        <p:spPr>
          <a:xfrm>
            <a:off x="548640" y="1737360"/>
            <a:ext cx="365760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HTTP/2（TCP）</a:t>
            </a:r>
            <a:endParaRPr lang="en-US" sz="2000" dirty="0"/>
          </a:p>
        </p:txBody>
      </p:sp>
      <p:sp>
        <p:nvSpPr>
          <p:cNvPr id="10" name="Shape 7"/>
          <p:cNvSpPr/>
          <p:nvPr/>
        </p:nvSpPr>
        <p:spPr>
          <a:xfrm>
            <a:off x="457200" y="2240280"/>
            <a:ext cx="3840480" cy="493776"/>
          </a:xfrm>
          <a:prstGeom prst="roundRect">
            <a:avLst>
              <a:gd name="adj" fmla="val 22222"/>
            </a:avLst>
          </a:prstGeom>
          <a:solidFill>
            <a:srgbClr val="E6E1F7"/>
          </a:solidFill>
          <a:ln/>
        </p:spPr>
      </p:sp>
      <p:sp>
        <p:nvSpPr>
          <p:cNvPr id="11" name="Text 8"/>
          <p:cNvSpPr txBox="1"/>
          <p:nvPr/>
        </p:nvSpPr>
        <p:spPr>
          <a:xfrm>
            <a:off x="548640" y="2240280"/>
            <a:ext cx="3657600" cy="49377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HTTP</a:t>
            </a:r>
            <a:endParaRPr lang="en-US" sz="1800" dirty="0"/>
          </a:p>
        </p:txBody>
      </p:sp>
      <p:sp>
        <p:nvSpPr>
          <p:cNvPr id="12" name="Shape 9"/>
          <p:cNvSpPr/>
          <p:nvPr/>
        </p:nvSpPr>
        <p:spPr>
          <a:xfrm>
            <a:off x="457200" y="2788920"/>
            <a:ext cx="3840480" cy="493776"/>
          </a:xfrm>
          <a:prstGeom prst="roundRect">
            <a:avLst>
              <a:gd name="adj" fmla="val 22222"/>
            </a:avLst>
          </a:prstGeom>
          <a:solidFill>
            <a:srgbClr val="237A48"/>
          </a:solidFill>
          <a:ln/>
        </p:spPr>
      </p:sp>
      <p:sp>
        <p:nvSpPr>
          <p:cNvPr id="13" name="Text 10"/>
          <p:cNvSpPr txBox="1"/>
          <p:nvPr/>
        </p:nvSpPr>
        <p:spPr>
          <a:xfrm>
            <a:off x="548640" y="2788920"/>
            <a:ext cx="3657600" cy="49377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TLS（暗号化）</a:t>
            </a:r>
            <a:endParaRPr lang="en-US" sz="1800" dirty="0"/>
          </a:p>
        </p:txBody>
      </p:sp>
      <p:sp>
        <p:nvSpPr>
          <p:cNvPr id="14" name="Shape 11"/>
          <p:cNvSpPr/>
          <p:nvPr/>
        </p:nvSpPr>
        <p:spPr>
          <a:xfrm>
            <a:off x="457200" y="3337560"/>
            <a:ext cx="3840480" cy="493776"/>
          </a:xfrm>
          <a:prstGeom prst="roundRect">
            <a:avLst>
              <a:gd name="adj" fmla="val 22222"/>
            </a:avLst>
          </a:prstGeom>
          <a:solidFill>
            <a:srgbClr val="DCE8F8"/>
          </a:solidFill>
          <a:ln/>
        </p:spPr>
      </p:sp>
      <p:sp>
        <p:nvSpPr>
          <p:cNvPr id="15" name="Text 12"/>
          <p:cNvSpPr txBox="1"/>
          <p:nvPr/>
        </p:nvSpPr>
        <p:spPr>
          <a:xfrm>
            <a:off x="548640" y="3337560"/>
            <a:ext cx="3657600" cy="49377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TCP（確認・順序・再送）</a:t>
            </a:r>
            <a:endParaRPr lang="en-US" sz="1800" dirty="0"/>
          </a:p>
        </p:txBody>
      </p:sp>
      <p:sp>
        <p:nvSpPr>
          <p:cNvPr id="16" name="Shape 13"/>
          <p:cNvSpPr/>
          <p:nvPr/>
        </p:nvSpPr>
        <p:spPr>
          <a:xfrm>
            <a:off x="457200" y="3886200"/>
            <a:ext cx="3840480" cy="493776"/>
          </a:xfrm>
          <a:prstGeom prst="roundRect">
            <a:avLst>
              <a:gd name="adj" fmla="val 22222"/>
            </a:avLst>
          </a:prstGeom>
          <a:solidFill>
            <a:srgbClr val="E2E8F0"/>
          </a:solidFill>
          <a:ln/>
        </p:spPr>
      </p:sp>
      <p:sp>
        <p:nvSpPr>
          <p:cNvPr id="17" name="Text 14"/>
          <p:cNvSpPr txBox="1"/>
          <p:nvPr/>
        </p:nvSpPr>
        <p:spPr>
          <a:xfrm>
            <a:off x="548640" y="3886200"/>
            <a:ext cx="3657600" cy="49377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a:t>
            </a:r>
            <a:endParaRPr lang="en-US" sz="1800" dirty="0"/>
          </a:p>
        </p:txBody>
      </p:sp>
      <p:sp>
        <p:nvSpPr>
          <p:cNvPr id="18" name="Shape 15"/>
          <p:cNvSpPr/>
          <p:nvPr/>
        </p:nvSpPr>
        <p:spPr>
          <a:xfrm>
            <a:off x="4572000" y="1737360"/>
            <a:ext cx="3840480" cy="457200"/>
          </a:xfrm>
          <a:prstGeom prst="roundRect">
            <a:avLst>
              <a:gd name="adj" fmla="val 20000"/>
            </a:avLst>
          </a:prstGeom>
          <a:solidFill>
            <a:srgbClr val="2F6BC2"/>
          </a:solidFill>
          <a:ln/>
        </p:spPr>
      </p:sp>
      <p:sp>
        <p:nvSpPr>
          <p:cNvPr id="19" name="Text 16"/>
          <p:cNvSpPr txBox="1"/>
          <p:nvPr/>
        </p:nvSpPr>
        <p:spPr>
          <a:xfrm>
            <a:off x="4663440" y="1737360"/>
            <a:ext cx="365760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HTTP/3（QUIC）</a:t>
            </a:r>
            <a:endParaRPr lang="en-US" sz="2000" dirty="0"/>
          </a:p>
        </p:txBody>
      </p:sp>
      <p:sp>
        <p:nvSpPr>
          <p:cNvPr id="20" name="Shape 17"/>
          <p:cNvSpPr/>
          <p:nvPr/>
        </p:nvSpPr>
        <p:spPr>
          <a:xfrm>
            <a:off x="4572000" y="2240280"/>
            <a:ext cx="3840480" cy="493776"/>
          </a:xfrm>
          <a:prstGeom prst="roundRect">
            <a:avLst>
              <a:gd name="adj" fmla="val 22222"/>
            </a:avLst>
          </a:prstGeom>
          <a:solidFill>
            <a:srgbClr val="E6E1F7"/>
          </a:solidFill>
          <a:ln/>
        </p:spPr>
      </p:sp>
      <p:sp>
        <p:nvSpPr>
          <p:cNvPr id="21" name="Text 18"/>
          <p:cNvSpPr txBox="1"/>
          <p:nvPr/>
        </p:nvSpPr>
        <p:spPr>
          <a:xfrm>
            <a:off x="4663440" y="2240280"/>
            <a:ext cx="3657600" cy="49377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HTTP</a:t>
            </a:r>
            <a:endParaRPr lang="en-US" sz="1800" dirty="0"/>
          </a:p>
        </p:txBody>
      </p:sp>
      <p:sp>
        <p:nvSpPr>
          <p:cNvPr id="22" name="Shape 19"/>
          <p:cNvSpPr/>
          <p:nvPr/>
        </p:nvSpPr>
        <p:spPr>
          <a:xfrm>
            <a:off x="4572000" y="2788920"/>
            <a:ext cx="3840480" cy="493776"/>
          </a:xfrm>
          <a:prstGeom prst="roundRect">
            <a:avLst>
              <a:gd name="adj" fmla="val 22222"/>
            </a:avLst>
          </a:prstGeom>
          <a:solidFill>
            <a:srgbClr val="237A48"/>
          </a:solidFill>
          <a:ln/>
        </p:spPr>
      </p:sp>
      <p:sp>
        <p:nvSpPr>
          <p:cNvPr id="23" name="Text 20"/>
          <p:cNvSpPr txBox="1"/>
          <p:nvPr/>
        </p:nvSpPr>
        <p:spPr>
          <a:xfrm>
            <a:off x="4663440" y="2788920"/>
            <a:ext cx="3657600" cy="49377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QUIC（暗号化・信頼性を内蔵）</a:t>
            </a:r>
            <a:endParaRPr lang="en-US" sz="1800" dirty="0"/>
          </a:p>
        </p:txBody>
      </p:sp>
      <p:sp>
        <p:nvSpPr>
          <p:cNvPr id="24" name="Shape 21"/>
          <p:cNvSpPr/>
          <p:nvPr/>
        </p:nvSpPr>
        <p:spPr>
          <a:xfrm>
            <a:off x="4572000" y="3337560"/>
            <a:ext cx="3840480" cy="493776"/>
          </a:xfrm>
          <a:prstGeom prst="roundRect">
            <a:avLst>
              <a:gd name="adj" fmla="val 22222"/>
            </a:avLst>
          </a:prstGeom>
          <a:solidFill>
            <a:srgbClr val="DCE8F8"/>
          </a:solidFill>
          <a:ln/>
        </p:spPr>
      </p:sp>
      <p:sp>
        <p:nvSpPr>
          <p:cNvPr id="25" name="Text 22"/>
          <p:cNvSpPr txBox="1"/>
          <p:nvPr/>
        </p:nvSpPr>
        <p:spPr>
          <a:xfrm>
            <a:off x="4663440" y="3337560"/>
            <a:ext cx="3657600" cy="49377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UDP（確認しない）</a:t>
            </a:r>
            <a:endParaRPr lang="en-US" sz="1800" dirty="0"/>
          </a:p>
        </p:txBody>
      </p:sp>
      <p:sp>
        <p:nvSpPr>
          <p:cNvPr id="26" name="Shape 23"/>
          <p:cNvSpPr/>
          <p:nvPr/>
        </p:nvSpPr>
        <p:spPr>
          <a:xfrm>
            <a:off x="4572000" y="3886200"/>
            <a:ext cx="3840480" cy="493776"/>
          </a:xfrm>
          <a:prstGeom prst="roundRect">
            <a:avLst>
              <a:gd name="adj" fmla="val 22222"/>
            </a:avLst>
          </a:prstGeom>
          <a:solidFill>
            <a:srgbClr val="E2E8F0"/>
          </a:solidFill>
          <a:ln/>
        </p:spPr>
      </p:sp>
      <p:sp>
        <p:nvSpPr>
          <p:cNvPr id="27" name="Text 24"/>
          <p:cNvSpPr txBox="1"/>
          <p:nvPr/>
        </p:nvSpPr>
        <p:spPr>
          <a:xfrm>
            <a:off x="4663440" y="3886200"/>
            <a:ext cx="3657600" cy="493776"/>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a:t>
            </a:r>
            <a:endParaRPr lang="en-US" sz="1800" dirty="0"/>
          </a:p>
        </p:txBody>
      </p:sp>
      <p:sp>
        <p:nvSpPr>
          <p:cNvPr id="28" name="Shape 25"/>
          <p:cNvSpPr/>
          <p:nvPr/>
        </p:nvSpPr>
        <p:spPr>
          <a:xfrm>
            <a:off x="8686800" y="1737360"/>
            <a:ext cx="3044952" cy="2651760"/>
          </a:xfrm>
          <a:prstGeom prst="roundRect">
            <a:avLst>
              <a:gd name="adj" fmla="val 4138"/>
            </a:avLst>
          </a:prstGeom>
          <a:solidFill>
            <a:srgbClr val="FBE3E0"/>
          </a:solidFill>
          <a:ln w="19050">
            <a:solidFill>
              <a:srgbClr val="C0392B"/>
            </a:solidFill>
            <a:prstDash val="solid"/>
          </a:ln>
        </p:spPr>
      </p:sp>
      <p:sp>
        <p:nvSpPr>
          <p:cNvPr id="29" name="Shape 26"/>
          <p:cNvSpPr/>
          <p:nvPr/>
        </p:nvSpPr>
        <p:spPr>
          <a:xfrm>
            <a:off x="8823960" y="2834640"/>
            <a:ext cx="457200" cy="457200"/>
          </a:xfrm>
          <a:prstGeom prst="ellipse">
            <a:avLst/>
          </a:prstGeom>
          <a:solidFill>
            <a:srgbClr val="C0392B"/>
          </a:solidFill>
          <a:ln/>
        </p:spPr>
      </p:sp>
      <p:pic>
        <p:nvPicPr>
          <p:cNvPr id="30" name="Image 0" descr="preencoded.png">    </p:cNvPr>
          <p:cNvPicPr>
            <a:picLocks noChangeAspect="1"/>
          </p:cNvPicPr>
          <p:nvPr/>
        </p:nvPicPr>
        <p:blipFill>
          <a:blip r:embed="rId1"/>
          <a:stretch>
            <a:fillRect/>
          </a:stretch>
        </p:blipFill>
        <p:spPr>
          <a:xfrm>
            <a:off x="8924544" y="2935224"/>
            <a:ext cx="256032" cy="256032"/>
          </a:xfrm>
          <a:prstGeom prst="rect">
            <a:avLst/>
          </a:prstGeom>
        </p:spPr>
      </p:pic>
      <p:sp>
        <p:nvSpPr>
          <p:cNvPr id="31" name="Text 27"/>
          <p:cNvSpPr txBox="1"/>
          <p:nvPr/>
        </p:nvSpPr>
        <p:spPr>
          <a:xfrm>
            <a:off x="9418320" y="1783080"/>
            <a:ext cx="2176272" cy="25603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「UDPなら暗号化されない・必ず届かない」は誤解</a:t>
            </a:r>
            <a:endParaRPr lang="en-US" sz="2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526280"/>
          <a:ext cx="7863840" cy="914400"/>
        </p:xfrm>
        <a:graphic>
          <a:graphicData uri="http://schemas.openxmlformats.org/drawingml/2006/table">
            <a:tbl>
              <a:tblPr/>
              <a:tblGrid>
                <a:gridCol w="1463040"/>
                <a:gridCol w="3108960"/>
                <a:gridCol w="329184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方式</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届いたか確認</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暗号化</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0233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TCP</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する（再送あり）</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TLSが別に担当</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UDP</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標準ではしない</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しない</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0233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QUIC</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UDP上で自前</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内蔵</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33" name="Text 28"/>
          <p:cNvSpPr txBox="1"/>
          <p:nvPr/>
        </p:nvSpPr>
        <p:spPr>
          <a:xfrm>
            <a:off x="8686800" y="4526280"/>
            <a:ext cx="3044952" cy="1645920"/>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今回のChatGPT通信の方式は、ブラウザーで観察して確かめる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TLSは相手を確認して内容を暗号化する。NATとは別の仕事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TLSは、通信相手が本物かを確認し、内容を暗号化して封をする仕組みです。NATは住所の書き換えで暗号化ではありません。封筒と宛名の違いに似ています。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出典：[B03]</a:t>
            </a:r>
            <a:endParaRPr lang="ja-JP" sz="1200" dirty="0"/>
          </a:p>
        </p:txBody>
      </p:sp>
      <p:sp>
        <p:nvSpPr>
          <p:cNvPr id="8" name="Shape 5"/>
          <p:cNvSpPr/>
          <p:nvPr/>
        </p:nvSpPr>
        <p:spPr>
          <a:xfrm>
            <a:off x="914400" y="1691640"/>
            <a:ext cx="2468880" cy="640080"/>
          </a:xfrm>
          <a:prstGeom prst="roundRect">
            <a:avLst>
              <a:gd name="adj" fmla="val 14286"/>
            </a:avLst>
          </a:prstGeom>
          <a:solidFill>
            <a:srgbClr val="0B7A7A"/>
          </a:solidFill>
          <a:ln w="25400">
            <a:solidFill>
              <a:srgbClr val="0B7A7A"/>
            </a:solidFill>
            <a:prstDash val="solid"/>
          </a:ln>
        </p:spPr>
      </p:sp>
      <p:sp>
        <p:nvSpPr>
          <p:cNvPr id="9" name="Text 6"/>
          <p:cNvSpPr txBox="1"/>
          <p:nvPr/>
        </p:nvSpPr>
        <p:spPr>
          <a:xfrm>
            <a:off x="1005840" y="1691640"/>
            <a:ext cx="2286000" cy="6400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端末</a:t>
            </a:r>
            <a:endParaRPr lang="en-US" sz="1800" dirty="0"/>
          </a:p>
        </p:txBody>
      </p:sp>
      <p:sp>
        <p:nvSpPr>
          <p:cNvPr id="10" name="Shape 7"/>
          <p:cNvSpPr/>
          <p:nvPr/>
        </p:nvSpPr>
        <p:spPr>
          <a:xfrm>
            <a:off x="4297680" y="1691640"/>
            <a:ext cx="2468880" cy="640080"/>
          </a:xfrm>
          <a:prstGeom prst="roundRect">
            <a:avLst>
              <a:gd name="adj" fmla="val 14286"/>
            </a:avLst>
          </a:prstGeom>
          <a:solidFill>
            <a:srgbClr val="5B46B8"/>
          </a:solidFill>
          <a:ln w="25400">
            <a:solidFill>
              <a:srgbClr val="5B46B8"/>
            </a:solidFill>
            <a:prstDash val="solid"/>
          </a:ln>
        </p:spPr>
      </p:sp>
      <p:sp>
        <p:nvSpPr>
          <p:cNvPr id="11" name="Text 8"/>
          <p:cNvSpPr txBox="1"/>
          <p:nvPr/>
        </p:nvSpPr>
        <p:spPr>
          <a:xfrm>
            <a:off x="4389120" y="1691640"/>
            <a:ext cx="2286000" cy="6400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サービス入口</a:t>
            </a:r>
            <a:endParaRPr lang="en-US" sz="1800" dirty="0"/>
          </a:p>
        </p:txBody>
      </p:sp>
      <p:sp>
        <p:nvSpPr>
          <p:cNvPr id="12" name="Shape 9"/>
          <p:cNvSpPr/>
          <p:nvPr/>
        </p:nvSpPr>
        <p:spPr>
          <a:xfrm>
            <a:off x="2148840" y="2331720"/>
            <a:ext cx="0" cy="4023360"/>
          </a:xfrm>
          <a:prstGeom prst="line">
            <a:avLst/>
          </a:prstGeom>
          <a:noFill/>
          <a:ln w="19050">
            <a:solidFill>
              <a:srgbClr val="94A3B8"/>
            </a:solidFill>
            <a:prstDash val="dash"/>
          </a:ln>
        </p:spPr>
      </p:sp>
      <p:sp>
        <p:nvSpPr>
          <p:cNvPr id="13" name="Shape 10"/>
          <p:cNvSpPr/>
          <p:nvPr/>
        </p:nvSpPr>
        <p:spPr>
          <a:xfrm>
            <a:off x="5532120" y="2331720"/>
            <a:ext cx="0" cy="4023360"/>
          </a:xfrm>
          <a:prstGeom prst="line">
            <a:avLst/>
          </a:prstGeom>
          <a:noFill/>
          <a:ln w="19050">
            <a:solidFill>
              <a:srgbClr val="94A3B8"/>
            </a:solidFill>
            <a:prstDash val="dash"/>
          </a:ln>
        </p:spPr>
      </p:sp>
      <p:sp>
        <p:nvSpPr>
          <p:cNvPr id="14" name="Text 11"/>
          <p:cNvSpPr txBox="1"/>
          <p:nvPr/>
        </p:nvSpPr>
        <p:spPr>
          <a:xfrm>
            <a:off x="2286000" y="2584704"/>
            <a:ext cx="310896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① SYN</a:t>
            </a:r>
            <a:endParaRPr lang="en-US" sz="1800" dirty="0"/>
          </a:p>
        </p:txBody>
      </p:sp>
      <p:sp>
        <p:nvSpPr>
          <p:cNvPr id="15" name="Shape 12"/>
          <p:cNvSpPr/>
          <p:nvPr/>
        </p:nvSpPr>
        <p:spPr>
          <a:xfrm>
            <a:off x="2185416" y="2923032"/>
            <a:ext cx="3310128" cy="0"/>
          </a:xfrm>
          <a:prstGeom prst="line">
            <a:avLst/>
          </a:prstGeom>
          <a:noFill/>
          <a:ln w="31750">
            <a:solidFill>
              <a:srgbClr val="2F6BC2"/>
            </a:solidFill>
            <a:prstDash val="solid"/>
            <a:tailEnd type="triangle"/>
          </a:ln>
        </p:spPr>
      </p:sp>
      <p:sp>
        <p:nvSpPr>
          <p:cNvPr id="16" name="Text 13"/>
          <p:cNvSpPr txBox="1"/>
          <p:nvPr/>
        </p:nvSpPr>
        <p:spPr>
          <a:xfrm>
            <a:off x="2286000" y="3240024"/>
            <a:ext cx="310896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② SYN/ACK</a:t>
            </a:r>
            <a:endParaRPr lang="en-US" sz="1800" dirty="0"/>
          </a:p>
        </p:txBody>
      </p:sp>
      <p:sp>
        <p:nvSpPr>
          <p:cNvPr id="17" name="Shape 14"/>
          <p:cNvSpPr/>
          <p:nvPr/>
        </p:nvSpPr>
        <p:spPr>
          <a:xfrm flipH="1">
            <a:off x="2185416" y="3578352"/>
            <a:ext cx="3310128" cy="0"/>
          </a:xfrm>
          <a:prstGeom prst="line">
            <a:avLst/>
          </a:prstGeom>
          <a:noFill/>
          <a:ln w="31750">
            <a:solidFill>
              <a:srgbClr val="2F6BC2"/>
            </a:solidFill>
            <a:prstDash val="dash"/>
            <a:tailEnd type="triangle"/>
          </a:ln>
        </p:spPr>
      </p:sp>
      <p:sp>
        <p:nvSpPr>
          <p:cNvPr id="18" name="Text 15"/>
          <p:cNvSpPr txBox="1"/>
          <p:nvPr/>
        </p:nvSpPr>
        <p:spPr>
          <a:xfrm>
            <a:off x="2286000" y="3895344"/>
            <a:ext cx="310896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③ ACK（TCP確立）</a:t>
            </a:r>
            <a:endParaRPr lang="en-US" sz="1800" dirty="0"/>
          </a:p>
        </p:txBody>
      </p:sp>
      <p:sp>
        <p:nvSpPr>
          <p:cNvPr id="19" name="Shape 16"/>
          <p:cNvSpPr/>
          <p:nvPr/>
        </p:nvSpPr>
        <p:spPr>
          <a:xfrm>
            <a:off x="2185416" y="4233672"/>
            <a:ext cx="3310128" cy="0"/>
          </a:xfrm>
          <a:prstGeom prst="line">
            <a:avLst/>
          </a:prstGeom>
          <a:noFill/>
          <a:ln w="31750">
            <a:solidFill>
              <a:srgbClr val="2F6BC2"/>
            </a:solidFill>
            <a:prstDash val="solid"/>
            <a:tailEnd type="triangle"/>
          </a:ln>
        </p:spPr>
      </p:sp>
      <p:sp>
        <p:nvSpPr>
          <p:cNvPr id="20" name="Text 17"/>
          <p:cNvSpPr txBox="1"/>
          <p:nvPr/>
        </p:nvSpPr>
        <p:spPr>
          <a:xfrm>
            <a:off x="2286000" y="4550664"/>
            <a:ext cx="310896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④ 証明書・鍵の合意</a:t>
            </a:r>
            <a:endParaRPr lang="en-US" sz="1800" dirty="0"/>
          </a:p>
        </p:txBody>
      </p:sp>
      <p:sp>
        <p:nvSpPr>
          <p:cNvPr id="21" name="Shape 18"/>
          <p:cNvSpPr/>
          <p:nvPr/>
        </p:nvSpPr>
        <p:spPr>
          <a:xfrm flipH="1">
            <a:off x="2185416" y="4888992"/>
            <a:ext cx="3310128" cy="0"/>
          </a:xfrm>
          <a:prstGeom prst="line">
            <a:avLst/>
          </a:prstGeom>
          <a:noFill/>
          <a:ln w="31750">
            <a:solidFill>
              <a:srgbClr val="237A48"/>
            </a:solidFill>
            <a:prstDash val="dash"/>
            <a:tailEnd type="triangle"/>
          </a:ln>
        </p:spPr>
      </p:sp>
      <p:sp>
        <p:nvSpPr>
          <p:cNvPr id="22" name="Text 19"/>
          <p:cNvSpPr txBox="1"/>
          <p:nvPr/>
        </p:nvSpPr>
        <p:spPr>
          <a:xfrm>
            <a:off x="2286000" y="5205984"/>
            <a:ext cx="310896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⑤ 暗号化した質問</a:t>
            </a:r>
            <a:endParaRPr lang="en-US" sz="1800" dirty="0"/>
          </a:p>
        </p:txBody>
      </p:sp>
      <p:sp>
        <p:nvSpPr>
          <p:cNvPr id="23" name="Shape 20"/>
          <p:cNvSpPr/>
          <p:nvPr/>
        </p:nvSpPr>
        <p:spPr>
          <a:xfrm>
            <a:off x="2185416" y="5544312"/>
            <a:ext cx="3310128" cy="0"/>
          </a:xfrm>
          <a:prstGeom prst="line">
            <a:avLst/>
          </a:prstGeom>
          <a:noFill/>
          <a:ln w="31750">
            <a:solidFill>
              <a:srgbClr val="237A48"/>
            </a:solidFill>
            <a:prstDash val="solid"/>
            <a:tailEnd type="triangle"/>
          </a:ln>
        </p:spPr>
      </p:sp>
      <p:sp>
        <p:nvSpPr>
          <p:cNvPr id="24" name="Text 21"/>
          <p:cNvSpPr txBox="1"/>
          <p:nvPr/>
        </p:nvSpPr>
        <p:spPr>
          <a:xfrm>
            <a:off x="2286000" y="5861304"/>
            <a:ext cx="3108960"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⑥ 暗号化した回答</a:t>
            </a:r>
            <a:endParaRPr lang="en-US" sz="1800" dirty="0"/>
          </a:p>
        </p:txBody>
      </p:sp>
      <p:sp>
        <p:nvSpPr>
          <p:cNvPr id="25" name="Shape 22"/>
          <p:cNvSpPr/>
          <p:nvPr/>
        </p:nvSpPr>
        <p:spPr>
          <a:xfrm flipH="1">
            <a:off x="2185416" y="6199632"/>
            <a:ext cx="3310128" cy="0"/>
          </a:xfrm>
          <a:prstGeom prst="line">
            <a:avLst/>
          </a:prstGeom>
          <a:noFill/>
          <a:ln w="31750">
            <a:solidFill>
              <a:srgbClr val="237A48"/>
            </a:solidFill>
            <a:prstDash val="dash"/>
            <a:tailEnd type="triangle"/>
          </a:ln>
        </p:spPr>
      </p:sp>
      <p:sp>
        <p:nvSpPr>
          <p:cNvPr id="26" name="Shape 23"/>
          <p:cNvSpPr/>
          <p:nvPr/>
        </p:nvSpPr>
        <p:spPr>
          <a:xfrm>
            <a:off x="7543800" y="1691640"/>
            <a:ext cx="4187952" cy="457200"/>
          </a:xfrm>
          <a:prstGeom prst="roundRect">
            <a:avLst>
              <a:gd name="adj" fmla="val 20000"/>
            </a:avLst>
          </a:prstGeom>
          <a:solidFill>
            <a:srgbClr val="237A48"/>
          </a:solidFill>
          <a:ln/>
        </p:spPr>
      </p:sp>
      <p:sp>
        <p:nvSpPr>
          <p:cNvPr id="27" name="Text 24"/>
          <p:cNvSpPr txBox="1"/>
          <p:nvPr/>
        </p:nvSpPr>
        <p:spPr>
          <a:xfrm>
            <a:off x="7635240" y="1691640"/>
            <a:ext cx="4005072"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どこまで暗号化される？</a:t>
            </a:r>
            <a:endParaRPr lang="en-US" sz="2000" dirty="0"/>
          </a:p>
        </p:txBody>
      </p:sp>
      <p:sp>
        <p:nvSpPr>
          <p:cNvPr id="28" name="Shape 25"/>
          <p:cNvSpPr/>
          <p:nvPr/>
        </p:nvSpPr>
        <p:spPr>
          <a:xfrm>
            <a:off x="7543800" y="2240280"/>
            <a:ext cx="4187952" cy="4023360"/>
          </a:xfrm>
          <a:prstGeom prst="roundRect">
            <a:avLst>
              <a:gd name="adj" fmla="val 3182"/>
            </a:avLst>
          </a:prstGeom>
          <a:solidFill>
            <a:srgbClr val="E2E8F0"/>
          </a:solidFill>
          <a:ln/>
        </p:spPr>
      </p:sp>
      <p:sp>
        <p:nvSpPr>
          <p:cNvPr id="29" name="Shape 26"/>
          <p:cNvSpPr/>
          <p:nvPr/>
        </p:nvSpPr>
        <p:spPr>
          <a:xfrm>
            <a:off x="7680960" y="2377440"/>
            <a:ext cx="3913632" cy="685800"/>
          </a:xfrm>
          <a:prstGeom prst="roundRect">
            <a:avLst>
              <a:gd name="adj" fmla="val 16000"/>
            </a:avLst>
          </a:prstGeom>
          <a:solidFill>
            <a:srgbClr val="FFFFFF"/>
          </a:solidFill>
          <a:ln w="25400">
            <a:solidFill>
              <a:srgbClr val="475569"/>
            </a:solidFill>
            <a:prstDash val="solid"/>
          </a:ln>
        </p:spPr>
      </p:sp>
      <p:sp>
        <p:nvSpPr>
          <p:cNvPr id="30" name="Text 27"/>
          <p:cNvSpPr txBox="1"/>
          <p:nvPr/>
        </p:nvSpPr>
        <p:spPr>
          <a:xfrm>
            <a:off x="7772400" y="2377440"/>
            <a:ext cx="3730752"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IPヘッダー：宛先・送信元IP</a:t>
            </a:r>
            <a:endParaRPr lang="en-US" sz="1800" dirty="0"/>
          </a:p>
        </p:txBody>
      </p:sp>
      <p:sp>
        <p:nvSpPr>
          <p:cNvPr id="31" name="Shape 28"/>
          <p:cNvSpPr/>
          <p:nvPr/>
        </p:nvSpPr>
        <p:spPr>
          <a:xfrm>
            <a:off x="7680960" y="3154680"/>
            <a:ext cx="3913632" cy="685800"/>
          </a:xfrm>
          <a:prstGeom prst="roundRect">
            <a:avLst>
              <a:gd name="adj" fmla="val 16000"/>
            </a:avLst>
          </a:prstGeom>
          <a:solidFill>
            <a:srgbClr val="FFFFFF"/>
          </a:solidFill>
          <a:ln w="25400">
            <a:solidFill>
              <a:srgbClr val="475569"/>
            </a:solidFill>
            <a:prstDash val="solid"/>
          </a:ln>
        </p:spPr>
      </p:sp>
      <p:sp>
        <p:nvSpPr>
          <p:cNvPr id="32" name="Text 29"/>
          <p:cNvSpPr txBox="1"/>
          <p:nvPr/>
        </p:nvSpPr>
        <p:spPr>
          <a:xfrm>
            <a:off x="7772400" y="3154680"/>
            <a:ext cx="3730752"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ポート番号（TCP/UDP）</a:t>
            </a:r>
            <a:endParaRPr lang="en-US" sz="1800" dirty="0"/>
          </a:p>
        </p:txBody>
      </p:sp>
      <p:sp>
        <p:nvSpPr>
          <p:cNvPr id="33" name="Shape 30"/>
          <p:cNvSpPr/>
          <p:nvPr/>
        </p:nvSpPr>
        <p:spPr>
          <a:xfrm>
            <a:off x="7680960" y="3931920"/>
            <a:ext cx="3913632" cy="1463040"/>
          </a:xfrm>
          <a:prstGeom prst="roundRect">
            <a:avLst>
              <a:gd name="adj" fmla="val 7500"/>
            </a:avLst>
          </a:prstGeom>
          <a:solidFill>
            <a:srgbClr val="237A48"/>
          </a:solidFill>
          <a:ln/>
        </p:spPr>
      </p:sp>
      <p:sp>
        <p:nvSpPr>
          <p:cNvPr id="34" name="Shape 31"/>
          <p:cNvSpPr/>
          <p:nvPr/>
        </p:nvSpPr>
        <p:spPr>
          <a:xfrm>
            <a:off x="7808976" y="4389120"/>
            <a:ext cx="548640" cy="548640"/>
          </a:xfrm>
          <a:prstGeom prst="ellipse">
            <a:avLst/>
          </a:prstGeom>
          <a:solidFill>
            <a:srgbClr val="FFFFFF"/>
          </a:solidFill>
          <a:ln/>
        </p:spPr>
      </p:sp>
      <p:pic>
        <p:nvPicPr>
          <p:cNvPr id="35" name="Image 0" descr="preencoded.png">    </p:cNvPr>
          <p:cNvPicPr>
            <a:picLocks noChangeAspect="1"/>
          </p:cNvPicPr>
          <p:nvPr/>
        </p:nvPicPr>
        <p:blipFill>
          <a:blip r:embed="rId1"/>
          <a:stretch>
            <a:fillRect/>
          </a:stretch>
        </p:blipFill>
        <p:spPr>
          <a:xfrm>
            <a:off x="7929677" y="4509821"/>
            <a:ext cx="307238" cy="307238"/>
          </a:xfrm>
          <a:prstGeom prst="rect">
            <a:avLst/>
          </a:prstGeom>
        </p:spPr>
      </p:pic>
      <p:sp>
        <p:nvSpPr>
          <p:cNvPr id="36" name="Text 32"/>
          <p:cNvSpPr txBox="1"/>
          <p:nvPr/>
        </p:nvSpPr>
        <p:spPr>
          <a:xfrm>
            <a:off x="8449056" y="3931920"/>
            <a:ext cx="3054096" cy="146304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TLSで暗号化：質問・回答・ログイン情報など</a:t>
            </a:r>
            <a:endParaRPr lang="en-US" sz="1800" dirty="0"/>
          </a:p>
        </p:txBody>
      </p:sp>
      <p:sp>
        <p:nvSpPr>
          <p:cNvPr id="37" name="Text 33"/>
          <p:cNvSpPr txBox="1"/>
          <p:nvPr/>
        </p:nvSpPr>
        <p:spPr>
          <a:xfrm>
            <a:off x="7680960" y="5486400"/>
            <a:ext cx="3913632" cy="685800"/>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上の2段は転送に必要。ルーターやNATが扱う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8122615" y="237744"/>
            <a:ext cx="3611880" cy="310896"/>
          </a:xfrm>
          <a:prstGeom prst="roundRect">
            <a:avLst>
              <a:gd name="adj" fmla="val 50000"/>
            </a:avLst>
          </a:prstGeom>
          <a:solidFill>
            <a:srgbClr val="DCE8F8"/>
          </a:solidFill>
          <a:ln w="9525">
            <a:solidFill>
              <a:srgbClr val="1E3A8A"/>
            </a:solidFill>
          </a:ln>
        </p:spPr>
        <p:txBody>
          <a:bodyPr wrap="square" lIns="0" tIns="0" rIns="0" bIns="0" rtlCol="0" anchor="ctr"/>
          <a:lstStyle/>
          <a:p>
            <a:pPr algn="ctr" indent="0" marL="0">
              <a:buNone/>
            </a:pPr>
            <a:r>
              <a:rPr lang="ja-JP" altLang="en-US" sz="1400" b="1" dirty="0">
                <a:solidFill>
                  <a:srgbClr val="1E3A8A"/>
                </a:solidFill>
                <a:latin typeface="Yu Gothic" pitchFamily="34" charset="0"/>
                <a:ea typeface="Yu Gothic" pitchFamily="34" charset="-122"/>
                <a:cs typeface="Yu Gothic" pitchFamily="34" charset="-120"/>
              </a:rPr>
              <a:t>一般例（個別サービスの仕様ではない）</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入口から先は、役割ごとに分かれて処理する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サービスの入口から先は、受付→振り分け→アプリ処理→認証・保存→AI計算、と仕事が分かれています。これは一般的な例で、ChatGPTの実際の内部構成ではありません。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出典：[B05]</a:t>
            </a:r>
            <a:endParaRPr lang="ja-JP" sz="1200" dirty="0"/>
          </a:p>
        </p:txBody>
      </p:sp>
      <p:sp>
        <p:nvSpPr>
          <p:cNvPr id="8" name="Shape 5"/>
          <p:cNvSpPr/>
          <p:nvPr/>
        </p:nvSpPr>
        <p:spPr>
          <a:xfrm>
            <a:off x="457200" y="2743200"/>
            <a:ext cx="2011680" cy="1188720"/>
          </a:xfrm>
          <a:prstGeom prst="roundRect">
            <a:avLst>
              <a:gd name="adj" fmla="val 9231"/>
            </a:avLst>
          </a:prstGeom>
          <a:solidFill>
            <a:srgbClr val="5B46B8"/>
          </a:solidFill>
          <a:ln/>
        </p:spPr>
      </p:sp>
      <p:sp>
        <p:nvSpPr>
          <p:cNvPr id="9" name="Text 6"/>
          <p:cNvSpPr txBox="1"/>
          <p:nvPr/>
        </p:nvSpPr>
        <p:spPr>
          <a:xfrm>
            <a:off x="548640" y="2743200"/>
            <a:ext cx="182880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① 入口</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受付・保護</a:t>
            </a:r>
            <a:endParaRPr lang="en-US" sz="2000" dirty="0"/>
          </a:p>
        </p:txBody>
      </p:sp>
      <p:sp>
        <p:nvSpPr>
          <p:cNvPr id="10" name="Shape 7"/>
          <p:cNvSpPr/>
          <p:nvPr/>
        </p:nvSpPr>
        <p:spPr>
          <a:xfrm>
            <a:off x="2834640" y="2743200"/>
            <a:ext cx="2011680" cy="1188720"/>
          </a:xfrm>
          <a:prstGeom prst="roundRect">
            <a:avLst>
              <a:gd name="adj" fmla="val 9231"/>
            </a:avLst>
          </a:prstGeom>
          <a:solidFill>
            <a:srgbClr val="5B46B8"/>
          </a:solidFill>
          <a:ln/>
        </p:spPr>
      </p:sp>
      <p:sp>
        <p:nvSpPr>
          <p:cNvPr id="11" name="Text 8"/>
          <p:cNvSpPr txBox="1"/>
          <p:nvPr/>
        </p:nvSpPr>
        <p:spPr>
          <a:xfrm>
            <a:off x="2926080" y="2743200"/>
            <a:ext cx="182880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② 負荷分散</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振り分け</a:t>
            </a:r>
            <a:endParaRPr lang="en-US" sz="2000" dirty="0"/>
          </a:p>
        </p:txBody>
      </p:sp>
      <p:sp>
        <p:nvSpPr>
          <p:cNvPr id="12" name="Shape 9"/>
          <p:cNvSpPr/>
          <p:nvPr/>
        </p:nvSpPr>
        <p:spPr>
          <a:xfrm>
            <a:off x="5212080" y="2743200"/>
            <a:ext cx="2011680" cy="1188720"/>
          </a:xfrm>
          <a:prstGeom prst="roundRect">
            <a:avLst>
              <a:gd name="adj" fmla="val 9231"/>
            </a:avLst>
          </a:prstGeom>
          <a:solidFill>
            <a:srgbClr val="5B46B8"/>
          </a:solidFill>
          <a:ln/>
        </p:spPr>
      </p:sp>
      <p:sp>
        <p:nvSpPr>
          <p:cNvPr id="13" name="Text 10"/>
          <p:cNvSpPr txBox="1"/>
          <p:nvPr/>
        </p:nvSpPr>
        <p:spPr>
          <a:xfrm>
            <a:off x="5303520" y="2743200"/>
            <a:ext cx="182880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③ アプリ処理</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質問・会話</a:t>
            </a:r>
            <a:endParaRPr lang="en-US" sz="2000" dirty="0"/>
          </a:p>
        </p:txBody>
      </p:sp>
      <p:sp>
        <p:nvSpPr>
          <p:cNvPr id="14" name="Shape 11"/>
          <p:cNvSpPr/>
          <p:nvPr/>
        </p:nvSpPr>
        <p:spPr>
          <a:xfrm>
            <a:off x="7772400" y="1737360"/>
            <a:ext cx="2103120" cy="914400"/>
          </a:xfrm>
          <a:prstGeom prst="roundRect">
            <a:avLst>
              <a:gd name="adj" fmla="val 12000"/>
            </a:avLst>
          </a:prstGeom>
          <a:solidFill>
            <a:srgbClr val="DDF1E4"/>
          </a:solidFill>
          <a:ln w="25400">
            <a:solidFill>
              <a:srgbClr val="237A48"/>
            </a:solidFill>
            <a:prstDash val="solid"/>
          </a:ln>
        </p:spPr>
      </p:sp>
      <p:sp>
        <p:nvSpPr>
          <p:cNvPr id="15" name="Text 12"/>
          <p:cNvSpPr txBox="1"/>
          <p:nvPr/>
        </p:nvSpPr>
        <p:spPr>
          <a:xfrm>
            <a:off x="7863840" y="1737360"/>
            <a:ext cx="192024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④ 認証</a:t>
            </a:r>
            <a:endParaRPr lang="en-US" sz="2000" dirty="0"/>
          </a:p>
        </p:txBody>
      </p:sp>
      <p:sp>
        <p:nvSpPr>
          <p:cNvPr id="16" name="Shape 13"/>
          <p:cNvSpPr/>
          <p:nvPr/>
        </p:nvSpPr>
        <p:spPr>
          <a:xfrm>
            <a:off x="7772400" y="2880360"/>
            <a:ext cx="2103120" cy="914400"/>
          </a:xfrm>
          <a:prstGeom prst="roundRect">
            <a:avLst>
              <a:gd name="adj" fmla="val 12000"/>
            </a:avLst>
          </a:prstGeom>
          <a:solidFill>
            <a:srgbClr val="E6E1F7"/>
          </a:solidFill>
          <a:ln w="25400">
            <a:solidFill>
              <a:srgbClr val="5B46B8"/>
            </a:solidFill>
            <a:prstDash val="solid"/>
          </a:ln>
        </p:spPr>
      </p:sp>
      <p:sp>
        <p:nvSpPr>
          <p:cNvPr id="17" name="Text 14"/>
          <p:cNvSpPr txBox="1"/>
          <p:nvPr/>
        </p:nvSpPr>
        <p:spPr>
          <a:xfrm>
            <a:off x="7863840" y="2880360"/>
            <a:ext cx="192024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④ 会話の保存</a:t>
            </a:r>
            <a:endParaRPr lang="en-US" sz="2000" dirty="0"/>
          </a:p>
        </p:txBody>
      </p:sp>
      <p:sp>
        <p:nvSpPr>
          <p:cNvPr id="18" name="Shape 15"/>
          <p:cNvSpPr/>
          <p:nvPr/>
        </p:nvSpPr>
        <p:spPr>
          <a:xfrm>
            <a:off x="7772400" y="4023360"/>
            <a:ext cx="2103120" cy="914400"/>
          </a:xfrm>
          <a:prstGeom prst="roundRect">
            <a:avLst>
              <a:gd name="adj" fmla="val 12000"/>
            </a:avLst>
          </a:prstGeom>
          <a:solidFill>
            <a:srgbClr val="E6E1F7"/>
          </a:solidFill>
          <a:ln w="25400">
            <a:solidFill>
              <a:srgbClr val="5B46B8"/>
            </a:solidFill>
            <a:prstDash val="solid"/>
          </a:ln>
        </p:spPr>
      </p:sp>
      <p:sp>
        <p:nvSpPr>
          <p:cNvPr id="19" name="Text 16"/>
          <p:cNvSpPr txBox="1"/>
          <p:nvPr/>
        </p:nvSpPr>
        <p:spPr>
          <a:xfrm>
            <a:off x="7863840" y="4023360"/>
            <a:ext cx="1920240" cy="9144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④ 待ち行列</a:t>
            </a:r>
            <a:endParaRPr lang="en-US" sz="2000" dirty="0"/>
          </a:p>
        </p:txBody>
      </p:sp>
      <p:sp>
        <p:nvSpPr>
          <p:cNvPr id="20" name="Shape 17"/>
          <p:cNvSpPr/>
          <p:nvPr/>
        </p:nvSpPr>
        <p:spPr>
          <a:xfrm>
            <a:off x="10241280" y="4023360"/>
            <a:ext cx="1490472" cy="914400"/>
          </a:xfrm>
          <a:prstGeom prst="roundRect">
            <a:avLst>
              <a:gd name="adj" fmla="val 12000"/>
            </a:avLst>
          </a:prstGeom>
          <a:solidFill>
            <a:srgbClr val="5B46B8"/>
          </a:solidFill>
          <a:ln/>
        </p:spPr>
      </p:sp>
      <p:sp>
        <p:nvSpPr>
          <p:cNvPr id="21" name="Text 18"/>
          <p:cNvSpPr txBox="1"/>
          <p:nvPr/>
        </p:nvSpPr>
        <p:spPr>
          <a:xfrm>
            <a:off x="10332720" y="4023360"/>
            <a:ext cx="1307592"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⑤ GPU推論</a:t>
            </a:r>
            <a:endParaRPr lang="en-US" sz="1800" dirty="0"/>
          </a:p>
        </p:txBody>
      </p:sp>
      <p:sp>
        <p:nvSpPr>
          <p:cNvPr id="22" name="Shape 19"/>
          <p:cNvSpPr/>
          <p:nvPr/>
        </p:nvSpPr>
        <p:spPr>
          <a:xfrm>
            <a:off x="10241280" y="5166360"/>
            <a:ext cx="1490472" cy="1097280"/>
          </a:xfrm>
          <a:prstGeom prst="roundRect">
            <a:avLst>
              <a:gd name="adj" fmla="val 10000"/>
            </a:avLst>
          </a:prstGeom>
          <a:solidFill>
            <a:srgbClr val="E6E1F7"/>
          </a:solidFill>
          <a:ln w="25400">
            <a:solidFill>
              <a:srgbClr val="5B46B8"/>
            </a:solidFill>
            <a:prstDash val="solid"/>
          </a:ln>
        </p:spPr>
      </p:sp>
      <p:sp>
        <p:nvSpPr>
          <p:cNvPr id="23" name="Text 20"/>
          <p:cNvSpPr txBox="1"/>
          <p:nvPr/>
        </p:nvSpPr>
        <p:spPr>
          <a:xfrm>
            <a:off x="10332720" y="5166360"/>
            <a:ext cx="1307592" cy="10972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モデル保存</a:t>
            </a:r>
            <a:endParaRPr lang="en-US" sz="1800" dirty="0"/>
          </a:p>
        </p:txBody>
      </p:sp>
      <p:sp>
        <p:nvSpPr>
          <p:cNvPr id="24" name="Shape 21"/>
          <p:cNvSpPr/>
          <p:nvPr/>
        </p:nvSpPr>
        <p:spPr>
          <a:xfrm>
            <a:off x="2468880" y="3337560"/>
            <a:ext cx="365760" cy="0"/>
          </a:xfrm>
          <a:prstGeom prst="line">
            <a:avLst/>
          </a:prstGeom>
          <a:noFill/>
          <a:ln w="38100">
            <a:solidFill>
              <a:srgbClr val="2F6BC2"/>
            </a:solidFill>
            <a:prstDash val="solid"/>
            <a:tailEnd type="triangle"/>
          </a:ln>
        </p:spPr>
      </p:sp>
      <p:sp>
        <p:nvSpPr>
          <p:cNvPr id="25" name="Shape 22"/>
          <p:cNvSpPr/>
          <p:nvPr/>
        </p:nvSpPr>
        <p:spPr>
          <a:xfrm>
            <a:off x="4846320" y="3337560"/>
            <a:ext cx="365760" cy="0"/>
          </a:xfrm>
          <a:prstGeom prst="line">
            <a:avLst/>
          </a:prstGeom>
          <a:noFill/>
          <a:ln w="38100">
            <a:solidFill>
              <a:srgbClr val="2F6BC2"/>
            </a:solidFill>
            <a:prstDash val="solid"/>
            <a:tailEnd type="triangle"/>
          </a:ln>
        </p:spPr>
      </p:sp>
      <p:sp>
        <p:nvSpPr>
          <p:cNvPr id="26" name="Shape 23"/>
          <p:cNvSpPr/>
          <p:nvPr/>
        </p:nvSpPr>
        <p:spPr>
          <a:xfrm flipV="1">
            <a:off x="7223760" y="2194560"/>
            <a:ext cx="548640" cy="914400"/>
          </a:xfrm>
          <a:prstGeom prst="line">
            <a:avLst/>
          </a:prstGeom>
          <a:noFill/>
          <a:ln w="31750">
            <a:solidFill>
              <a:srgbClr val="1B2A3A"/>
            </a:solidFill>
            <a:prstDash val="solid"/>
            <a:tailEnd type="triangle"/>
          </a:ln>
        </p:spPr>
      </p:sp>
      <p:sp>
        <p:nvSpPr>
          <p:cNvPr id="27" name="Shape 24"/>
          <p:cNvSpPr/>
          <p:nvPr/>
        </p:nvSpPr>
        <p:spPr>
          <a:xfrm>
            <a:off x="7223760" y="3337560"/>
            <a:ext cx="548640" cy="0"/>
          </a:xfrm>
          <a:prstGeom prst="line">
            <a:avLst/>
          </a:prstGeom>
          <a:noFill/>
          <a:ln w="31750">
            <a:solidFill>
              <a:srgbClr val="1B2A3A"/>
            </a:solidFill>
            <a:prstDash val="solid"/>
            <a:tailEnd type="triangle"/>
          </a:ln>
        </p:spPr>
      </p:sp>
      <p:sp>
        <p:nvSpPr>
          <p:cNvPr id="28" name="Shape 25"/>
          <p:cNvSpPr/>
          <p:nvPr/>
        </p:nvSpPr>
        <p:spPr>
          <a:xfrm>
            <a:off x="7223760" y="3566160"/>
            <a:ext cx="548640" cy="914400"/>
          </a:xfrm>
          <a:prstGeom prst="line">
            <a:avLst/>
          </a:prstGeom>
          <a:noFill/>
          <a:ln w="31750">
            <a:solidFill>
              <a:srgbClr val="1B2A3A"/>
            </a:solidFill>
            <a:prstDash val="solid"/>
            <a:tailEnd type="triangle"/>
          </a:ln>
        </p:spPr>
      </p:sp>
      <p:sp>
        <p:nvSpPr>
          <p:cNvPr id="29" name="Shape 26"/>
          <p:cNvSpPr/>
          <p:nvPr/>
        </p:nvSpPr>
        <p:spPr>
          <a:xfrm>
            <a:off x="9875520" y="4480560"/>
            <a:ext cx="365760" cy="0"/>
          </a:xfrm>
          <a:prstGeom prst="line">
            <a:avLst/>
          </a:prstGeom>
          <a:noFill/>
          <a:ln w="31750">
            <a:solidFill>
              <a:srgbClr val="1B2A3A"/>
            </a:solidFill>
            <a:prstDash val="solid"/>
            <a:tailEnd type="triangle"/>
          </a:ln>
        </p:spPr>
      </p:sp>
      <p:sp>
        <p:nvSpPr>
          <p:cNvPr id="30" name="Shape 27"/>
          <p:cNvSpPr/>
          <p:nvPr/>
        </p:nvSpPr>
        <p:spPr>
          <a:xfrm flipV="1">
            <a:off x="10972800" y="4937760"/>
            <a:ext cx="0" cy="228600"/>
          </a:xfrm>
          <a:prstGeom prst="line">
            <a:avLst/>
          </a:prstGeom>
          <a:noFill/>
          <a:ln w="31750">
            <a:solidFill>
              <a:srgbClr val="1B2A3A"/>
            </a:solidFill>
            <a:prstDash val="solid"/>
            <a:tailEnd type="triangle"/>
          </a:ln>
        </p:spPr>
      </p:sp>
      <p:sp>
        <p:nvSpPr>
          <p:cNvPr id="31" name="Shape 28"/>
          <p:cNvSpPr/>
          <p:nvPr/>
        </p:nvSpPr>
        <p:spPr>
          <a:xfrm>
            <a:off x="457200" y="4206240"/>
            <a:ext cx="6949440" cy="1051560"/>
          </a:xfrm>
          <a:prstGeom prst="roundRect">
            <a:avLst>
              <a:gd name="adj" fmla="val 10435"/>
            </a:avLst>
          </a:prstGeom>
          <a:solidFill>
            <a:srgbClr val="DCE8F8"/>
          </a:solidFill>
          <a:ln w="19050">
            <a:solidFill>
              <a:srgbClr val="2F6BC2"/>
            </a:solidFill>
            <a:prstDash val="solid"/>
          </a:ln>
        </p:spPr>
      </p:sp>
      <p:sp>
        <p:nvSpPr>
          <p:cNvPr id="32" name="Shape 29"/>
          <p:cNvSpPr/>
          <p:nvPr/>
        </p:nvSpPr>
        <p:spPr>
          <a:xfrm>
            <a:off x="594360" y="4503420"/>
            <a:ext cx="457200" cy="457200"/>
          </a:xfrm>
          <a:prstGeom prst="ellipse">
            <a:avLst/>
          </a:prstGeom>
          <a:solidFill>
            <a:srgbClr val="2F6BC2"/>
          </a:solidFill>
          <a:ln/>
        </p:spPr>
      </p:sp>
      <p:pic>
        <p:nvPicPr>
          <p:cNvPr id="33" name="Image 0" descr="preencoded.png">    </p:cNvPr>
          <p:cNvPicPr>
            <a:picLocks noChangeAspect="1"/>
          </p:cNvPicPr>
          <p:nvPr/>
        </p:nvPicPr>
        <p:blipFill>
          <a:blip r:embed="rId1"/>
          <a:stretch>
            <a:fillRect/>
          </a:stretch>
        </p:blipFill>
        <p:spPr>
          <a:xfrm>
            <a:off x="694944" y="4604004"/>
            <a:ext cx="256032" cy="256032"/>
          </a:xfrm>
          <a:prstGeom prst="rect">
            <a:avLst/>
          </a:prstGeom>
        </p:spPr>
      </p:pic>
      <p:sp>
        <p:nvSpPr>
          <p:cNvPr id="34" name="Text 30"/>
          <p:cNvSpPr txBox="1"/>
          <p:nvPr/>
        </p:nvSpPr>
        <p:spPr>
          <a:xfrm>
            <a:off x="1188720" y="4251960"/>
            <a:ext cx="6080760" cy="9601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⑥ 生成結果は、アプリ→入口を通って応答として戻る</a:t>
            </a:r>
            <a:endParaRPr lang="en-US" sz="1800" dirty="0"/>
          </a:p>
        </p:txBody>
      </p:sp>
      <p:sp>
        <p:nvSpPr>
          <p:cNvPr id="35" name="Shape 31"/>
          <p:cNvSpPr/>
          <p:nvPr/>
        </p:nvSpPr>
        <p:spPr>
          <a:xfrm>
            <a:off x="457200" y="5440680"/>
            <a:ext cx="9418320" cy="777240"/>
          </a:xfrm>
          <a:prstGeom prst="roundRect">
            <a:avLst>
              <a:gd name="adj" fmla="val 14118"/>
            </a:avLst>
          </a:prstGeom>
          <a:solidFill>
            <a:srgbClr val="E2E8F0"/>
          </a:solidFill>
          <a:ln w="25400">
            <a:solidFill>
              <a:srgbClr val="475569"/>
            </a:solidFill>
            <a:prstDash val="solid"/>
          </a:ln>
        </p:spPr>
      </p:sp>
      <p:sp>
        <p:nvSpPr>
          <p:cNvPr id="36" name="Text 32"/>
          <p:cNvSpPr txBox="1"/>
          <p:nvPr/>
        </p:nvSpPr>
        <p:spPr>
          <a:xfrm>
            <a:off x="548640" y="5440680"/>
            <a:ext cx="923544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監視基盤：エラー・遅延・温度・CPU/GPU使用率などを観察</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6356807" y="237744"/>
            <a:ext cx="3611880" cy="310896"/>
          </a:xfrm>
          <a:prstGeom prst="roundRect">
            <a:avLst>
              <a:gd name="adj" fmla="val 50000"/>
            </a:avLst>
          </a:prstGeom>
          <a:solidFill>
            <a:srgbClr val="DCE8F8"/>
          </a:solidFill>
          <a:ln w="9525">
            <a:solidFill>
              <a:srgbClr val="1E3A8A"/>
            </a:solidFill>
          </a:ln>
        </p:spPr>
        <p:txBody>
          <a:bodyPr wrap="square" lIns="0" tIns="0" rIns="0" bIns="0" rtlCol="0" anchor="ctr"/>
          <a:lstStyle/>
          <a:p>
            <a:pPr algn="ctr" indent="0" marL="0">
              <a:buNone/>
            </a:pPr>
            <a:r>
              <a:rPr lang="ja-JP" altLang="en-US" sz="1400" b="1" dirty="0">
                <a:solidFill>
                  <a:srgbClr val="1E3A8A"/>
                </a:solidFill>
                <a:latin typeface="Yu Gothic" pitchFamily="34" charset="0"/>
                <a:ea typeface="Yu Gothic" pitchFamily="34" charset="-122"/>
                <a:cs typeface="Yu Gothic" pitchFamily="34" charset="-120"/>
              </a:rPr>
              <a:t>一般例（個別サービスの仕様ではない）</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役割は台数と1対1ではなく、設置先も断定できない</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「入口」「認証」などは機能の名前で、1台とは限りません。1台が複数を兼ねることも、1つの機能を何千台で分担することもあります。設置場所も断定できません。</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出典：[B05]</a:t>
            </a:r>
            <a:endParaRPr lang="ja-JP" sz="1200" dirty="0"/>
          </a:p>
        </p:txBody>
      </p:sp>
      <p:sp>
        <p:nvSpPr>
          <p:cNvPr id="9" name="Shape 6"/>
          <p:cNvSpPr/>
          <p:nvPr/>
        </p:nvSpPr>
        <p:spPr>
          <a:xfrm>
            <a:off x="457200" y="1691640"/>
            <a:ext cx="3611880" cy="1069848"/>
          </a:xfrm>
          <a:prstGeom prst="roundRect">
            <a:avLst>
              <a:gd name="adj" fmla="val 10256"/>
            </a:avLst>
          </a:prstGeom>
          <a:solidFill>
            <a:srgbClr val="E6E1F7"/>
          </a:solidFill>
          <a:ln w="25400">
            <a:solidFill>
              <a:srgbClr val="5B46B8"/>
            </a:solidFill>
            <a:prstDash val="solid"/>
          </a:ln>
        </p:spPr>
      </p:sp>
      <p:sp>
        <p:nvSpPr>
          <p:cNvPr id="10" name="Shape 7"/>
          <p:cNvSpPr/>
          <p:nvPr/>
        </p:nvSpPr>
        <p:spPr>
          <a:xfrm>
            <a:off x="585216" y="1952244"/>
            <a:ext cx="548640" cy="548640"/>
          </a:xfrm>
          <a:prstGeom prst="ellipse">
            <a:avLst/>
          </a:prstGeom>
          <a:solidFill>
            <a:srgbClr val="5B46B8"/>
          </a:solidFill>
          <a:ln/>
        </p:spPr>
      </p:sp>
      <p:pic>
        <p:nvPicPr>
          <p:cNvPr id="11" name="Image 0" descr="preencoded.png">    </p:cNvPr>
          <p:cNvPicPr>
            <a:picLocks noChangeAspect="1"/>
          </p:cNvPicPr>
          <p:nvPr/>
        </p:nvPicPr>
        <p:blipFill>
          <a:blip r:embed="rId1"/>
          <a:stretch>
            <a:fillRect/>
          </a:stretch>
        </p:blipFill>
        <p:spPr>
          <a:xfrm>
            <a:off x="705917" y="2072945"/>
            <a:ext cx="307238" cy="307238"/>
          </a:xfrm>
          <a:prstGeom prst="rect">
            <a:avLst/>
          </a:prstGeom>
        </p:spPr>
      </p:pic>
      <p:sp>
        <p:nvSpPr>
          <p:cNvPr id="12" name="Text 8"/>
          <p:cNvSpPr txBox="1"/>
          <p:nvPr/>
        </p:nvSpPr>
        <p:spPr>
          <a:xfrm>
            <a:off x="1225296" y="1691640"/>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サービス入口</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外部の通信を受付</a:t>
            </a:r>
            <a:endParaRPr lang="en-US" sz="2000" dirty="0"/>
          </a:p>
        </p:txBody>
      </p:sp>
      <p:sp>
        <p:nvSpPr>
          <p:cNvPr id="13" name="Shape 9"/>
          <p:cNvSpPr/>
          <p:nvPr/>
        </p:nvSpPr>
        <p:spPr>
          <a:xfrm>
            <a:off x="4288536" y="1691640"/>
            <a:ext cx="3611880" cy="1069848"/>
          </a:xfrm>
          <a:prstGeom prst="roundRect">
            <a:avLst>
              <a:gd name="adj" fmla="val 10256"/>
            </a:avLst>
          </a:prstGeom>
          <a:solidFill>
            <a:srgbClr val="E6E1F7"/>
          </a:solidFill>
          <a:ln w="25400">
            <a:solidFill>
              <a:srgbClr val="5B46B8"/>
            </a:solidFill>
            <a:prstDash val="solid"/>
          </a:ln>
        </p:spPr>
      </p:sp>
      <p:sp>
        <p:nvSpPr>
          <p:cNvPr id="14" name="Shape 10"/>
          <p:cNvSpPr/>
          <p:nvPr/>
        </p:nvSpPr>
        <p:spPr>
          <a:xfrm>
            <a:off x="4416552" y="1952244"/>
            <a:ext cx="548640" cy="548640"/>
          </a:xfrm>
          <a:prstGeom prst="ellipse">
            <a:avLst/>
          </a:prstGeom>
          <a:solidFill>
            <a:srgbClr val="5B46B8"/>
          </a:solidFill>
          <a:ln/>
        </p:spPr>
      </p:sp>
      <p:pic>
        <p:nvPicPr>
          <p:cNvPr id="15" name="Image 1" descr="preencoded.png">    </p:cNvPr>
          <p:cNvPicPr>
            <a:picLocks noChangeAspect="1"/>
          </p:cNvPicPr>
          <p:nvPr/>
        </p:nvPicPr>
        <p:blipFill>
          <a:blip r:embed="rId2"/>
          <a:stretch>
            <a:fillRect/>
          </a:stretch>
        </p:blipFill>
        <p:spPr>
          <a:xfrm>
            <a:off x="4537253" y="2072945"/>
            <a:ext cx="307238" cy="307238"/>
          </a:xfrm>
          <a:prstGeom prst="rect">
            <a:avLst/>
          </a:prstGeom>
        </p:spPr>
      </p:pic>
      <p:sp>
        <p:nvSpPr>
          <p:cNvPr id="16" name="Text 11"/>
          <p:cNvSpPr txBox="1"/>
          <p:nvPr/>
        </p:nvSpPr>
        <p:spPr>
          <a:xfrm>
            <a:off x="5056632" y="1691640"/>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ファイアウォール</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許可した通信だけ通す</a:t>
            </a:r>
            <a:endParaRPr lang="en-US" sz="2000" dirty="0"/>
          </a:p>
        </p:txBody>
      </p:sp>
      <p:sp>
        <p:nvSpPr>
          <p:cNvPr id="17" name="Shape 12"/>
          <p:cNvSpPr/>
          <p:nvPr/>
        </p:nvSpPr>
        <p:spPr>
          <a:xfrm>
            <a:off x="8119872" y="1691640"/>
            <a:ext cx="3611880" cy="1069848"/>
          </a:xfrm>
          <a:prstGeom prst="roundRect">
            <a:avLst>
              <a:gd name="adj" fmla="val 10256"/>
            </a:avLst>
          </a:prstGeom>
          <a:solidFill>
            <a:srgbClr val="E6E1F7"/>
          </a:solidFill>
          <a:ln w="25400">
            <a:solidFill>
              <a:srgbClr val="5B46B8"/>
            </a:solidFill>
            <a:prstDash val="solid"/>
          </a:ln>
        </p:spPr>
      </p:sp>
      <p:sp>
        <p:nvSpPr>
          <p:cNvPr id="18" name="Shape 13"/>
          <p:cNvSpPr/>
          <p:nvPr/>
        </p:nvSpPr>
        <p:spPr>
          <a:xfrm>
            <a:off x="8247888" y="1952244"/>
            <a:ext cx="548640" cy="548640"/>
          </a:xfrm>
          <a:prstGeom prst="ellipse">
            <a:avLst/>
          </a:prstGeom>
          <a:solidFill>
            <a:srgbClr val="5B46B8"/>
          </a:solidFill>
          <a:ln/>
        </p:spPr>
      </p:sp>
      <p:pic>
        <p:nvPicPr>
          <p:cNvPr id="19" name="Image 2" descr="preencoded.png">    </p:cNvPr>
          <p:cNvPicPr>
            <a:picLocks noChangeAspect="1"/>
          </p:cNvPicPr>
          <p:nvPr/>
        </p:nvPicPr>
        <p:blipFill>
          <a:blip r:embed="rId3"/>
          <a:stretch>
            <a:fillRect/>
          </a:stretch>
        </p:blipFill>
        <p:spPr>
          <a:xfrm>
            <a:off x="8368589" y="2072945"/>
            <a:ext cx="307238" cy="307238"/>
          </a:xfrm>
          <a:prstGeom prst="rect">
            <a:avLst/>
          </a:prstGeom>
        </p:spPr>
      </p:pic>
      <p:sp>
        <p:nvSpPr>
          <p:cNvPr id="20" name="Text 14"/>
          <p:cNvSpPr txBox="1"/>
          <p:nvPr/>
        </p:nvSpPr>
        <p:spPr>
          <a:xfrm>
            <a:off x="8887968" y="1691640"/>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WAF</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Webの不正要求を制限</a:t>
            </a:r>
            <a:endParaRPr lang="en-US" sz="2000" dirty="0"/>
          </a:p>
        </p:txBody>
      </p:sp>
      <p:sp>
        <p:nvSpPr>
          <p:cNvPr id="21" name="Shape 15"/>
          <p:cNvSpPr/>
          <p:nvPr/>
        </p:nvSpPr>
        <p:spPr>
          <a:xfrm>
            <a:off x="457200" y="2852928"/>
            <a:ext cx="3611880" cy="1069848"/>
          </a:xfrm>
          <a:prstGeom prst="roundRect">
            <a:avLst>
              <a:gd name="adj" fmla="val 10256"/>
            </a:avLst>
          </a:prstGeom>
          <a:solidFill>
            <a:srgbClr val="E6E1F7"/>
          </a:solidFill>
          <a:ln w="25400">
            <a:solidFill>
              <a:srgbClr val="5B46B8"/>
            </a:solidFill>
            <a:prstDash val="solid"/>
          </a:ln>
        </p:spPr>
      </p:sp>
      <p:sp>
        <p:nvSpPr>
          <p:cNvPr id="22" name="Shape 16"/>
          <p:cNvSpPr/>
          <p:nvPr/>
        </p:nvSpPr>
        <p:spPr>
          <a:xfrm>
            <a:off x="585216" y="3113532"/>
            <a:ext cx="548640" cy="548640"/>
          </a:xfrm>
          <a:prstGeom prst="ellipse">
            <a:avLst/>
          </a:prstGeom>
          <a:solidFill>
            <a:srgbClr val="5B46B8"/>
          </a:solidFill>
          <a:ln/>
        </p:spPr>
      </p:sp>
      <p:pic>
        <p:nvPicPr>
          <p:cNvPr id="23" name="Image 3" descr="preencoded.png">    </p:cNvPr>
          <p:cNvPicPr>
            <a:picLocks noChangeAspect="1"/>
          </p:cNvPicPr>
          <p:nvPr/>
        </p:nvPicPr>
        <p:blipFill>
          <a:blip r:embed="rId4"/>
          <a:stretch>
            <a:fillRect/>
          </a:stretch>
        </p:blipFill>
        <p:spPr>
          <a:xfrm>
            <a:off x="705917" y="3234233"/>
            <a:ext cx="307238" cy="307238"/>
          </a:xfrm>
          <a:prstGeom prst="rect">
            <a:avLst/>
          </a:prstGeom>
        </p:spPr>
      </p:pic>
      <p:sp>
        <p:nvSpPr>
          <p:cNvPr id="24" name="Text 17"/>
          <p:cNvSpPr txBox="1"/>
          <p:nvPr/>
        </p:nvSpPr>
        <p:spPr>
          <a:xfrm>
            <a:off x="1225296" y="2852928"/>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負荷分散装置</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要求を複数の処理先へ</a:t>
            </a:r>
            <a:endParaRPr lang="en-US" sz="2000" dirty="0"/>
          </a:p>
        </p:txBody>
      </p:sp>
      <p:sp>
        <p:nvSpPr>
          <p:cNvPr id="25" name="Shape 18"/>
          <p:cNvSpPr/>
          <p:nvPr/>
        </p:nvSpPr>
        <p:spPr>
          <a:xfrm>
            <a:off x="4288536" y="2852928"/>
            <a:ext cx="3611880" cy="1069848"/>
          </a:xfrm>
          <a:prstGeom prst="roundRect">
            <a:avLst>
              <a:gd name="adj" fmla="val 10256"/>
            </a:avLst>
          </a:prstGeom>
          <a:solidFill>
            <a:srgbClr val="DDF1E4"/>
          </a:solidFill>
          <a:ln w="25400">
            <a:solidFill>
              <a:srgbClr val="237A48"/>
            </a:solidFill>
            <a:prstDash val="solid"/>
          </a:ln>
        </p:spPr>
      </p:sp>
      <p:sp>
        <p:nvSpPr>
          <p:cNvPr id="26" name="Shape 19"/>
          <p:cNvSpPr/>
          <p:nvPr/>
        </p:nvSpPr>
        <p:spPr>
          <a:xfrm>
            <a:off x="4416552" y="3113532"/>
            <a:ext cx="548640" cy="548640"/>
          </a:xfrm>
          <a:prstGeom prst="ellipse">
            <a:avLst/>
          </a:prstGeom>
          <a:solidFill>
            <a:srgbClr val="237A48"/>
          </a:solidFill>
          <a:ln/>
        </p:spPr>
      </p:sp>
      <p:pic>
        <p:nvPicPr>
          <p:cNvPr id="27" name="Image 4" descr="preencoded.png">    </p:cNvPr>
          <p:cNvPicPr>
            <a:picLocks noChangeAspect="1"/>
          </p:cNvPicPr>
          <p:nvPr/>
        </p:nvPicPr>
        <p:blipFill>
          <a:blip r:embed="rId5"/>
          <a:stretch>
            <a:fillRect/>
          </a:stretch>
        </p:blipFill>
        <p:spPr>
          <a:xfrm>
            <a:off x="4537253" y="3234233"/>
            <a:ext cx="307238" cy="307238"/>
          </a:xfrm>
          <a:prstGeom prst="rect">
            <a:avLst/>
          </a:prstGeom>
        </p:spPr>
      </p:pic>
      <p:sp>
        <p:nvSpPr>
          <p:cNvPr id="28" name="Text 20"/>
          <p:cNvSpPr txBox="1"/>
          <p:nvPr/>
        </p:nvSpPr>
        <p:spPr>
          <a:xfrm>
            <a:off x="5056632" y="2852928"/>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認証</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誰からの要求か確認</a:t>
            </a:r>
            <a:endParaRPr lang="en-US" sz="2000" dirty="0"/>
          </a:p>
        </p:txBody>
      </p:sp>
      <p:sp>
        <p:nvSpPr>
          <p:cNvPr id="29" name="Shape 21"/>
          <p:cNvSpPr/>
          <p:nvPr/>
        </p:nvSpPr>
        <p:spPr>
          <a:xfrm>
            <a:off x="8119872" y="2852928"/>
            <a:ext cx="3611880" cy="1069848"/>
          </a:xfrm>
          <a:prstGeom prst="roundRect">
            <a:avLst>
              <a:gd name="adj" fmla="val 10256"/>
            </a:avLst>
          </a:prstGeom>
          <a:solidFill>
            <a:srgbClr val="E6E1F7"/>
          </a:solidFill>
          <a:ln w="25400">
            <a:solidFill>
              <a:srgbClr val="5B46B8"/>
            </a:solidFill>
            <a:prstDash val="solid"/>
          </a:ln>
        </p:spPr>
      </p:sp>
      <p:sp>
        <p:nvSpPr>
          <p:cNvPr id="30" name="Shape 22"/>
          <p:cNvSpPr/>
          <p:nvPr/>
        </p:nvSpPr>
        <p:spPr>
          <a:xfrm>
            <a:off x="8247888" y="3113532"/>
            <a:ext cx="548640" cy="548640"/>
          </a:xfrm>
          <a:prstGeom prst="ellipse">
            <a:avLst/>
          </a:prstGeom>
          <a:solidFill>
            <a:srgbClr val="5B46B8"/>
          </a:solidFill>
          <a:ln/>
        </p:spPr>
      </p:sp>
      <p:pic>
        <p:nvPicPr>
          <p:cNvPr id="31" name="Image 5" descr="preencoded.png">    </p:cNvPr>
          <p:cNvPicPr>
            <a:picLocks noChangeAspect="1"/>
          </p:cNvPicPr>
          <p:nvPr/>
        </p:nvPicPr>
        <p:blipFill>
          <a:blip r:embed="rId6"/>
          <a:stretch>
            <a:fillRect/>
          </a:stretch>
        </p:blipFill>
        <p:spPr>
          <a:xfrm>
            <a:off x="8368589" y="3234233"/>
            <a:ext cx="307238" cy="307238"/>
          </a:xfrm>
          <a:prstGeom prst="rect">
            <a:avLst/>
          </a:prstGeom>
        </p:spPr>
      </p:pic>
      <p:sp>
        <p:nvSpPr>
          <p:cNvPr id="32" name="Text 23"/>
          <p:cNvSpPr txBox="1"/>
          <p:nvPr/>
        </p:nvSpPr>
        <p:spPr>
          <a:xfrm>
            <a:off x="8887968" y="2852928"/>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アプリサーバー</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質問・会話を扱う</a:t>
            </a:r>
            <a:endParaRPr lang="en-US" sz="2000" dirty="0"/>
          </a:p>
        </p:txBody>
      </p:sp>
      <p:sp>
        <p:nvSpPr>
          <p:cNvPr id="33" name="Shape 24"/>
          <p:cNvSpPr/>
          <p:nvPr/>
        </p:nvSpPr>
        <p:spPr>
          <a:xfrm>
            <a:off x="457200" y="4014216"/>
            <a:ext cx="3611880" cy="1069848"/>
          </a:xfrm>
          <a:prstGeom prst="roundRect">
            <a:avLst>
              <a:gd name="adj" fmla="val 10256"/>
            </a:avLst>
          </a:prstGeom>
          <a:solidFill>
            <a:srgbClr val="E6E1F7"/>
          </a:solidFill>
          <a:ln w="25400">
            <a:solidFill>
              <a:srgbClr val="5B46B8"/>
            </a:solidFill>
            <a:prstDash val="solid"/>
          </a:ln>
        </p:spPr>
      </p:sp>
      <p:sp>
        <p:nvSpPr>
          <p:cNvPr id="34" name="Shape 25"/>
          <p:cNvSpPr/>
          <p:nvPr/>
        </p:nvSpPr>
        <p:spPr>
          <a:xfrm>
            <a:off x="585216" y="4274820"/>
            <a:ext cx="548640" cy="548640"/>
          </a:xfrm>
          <a:prstGeom prst="ellipse">
            <a:avLst/>
          </a:prstGeom>
          <a:solidFill>
            <a:srgbClr val="5B46B8"/>
          </a:solidFill>
          <a:ln/>
        </p:spPr>
      </p:sp>
      <p:pic>
        <p:nvPicPr>
          <p:cNvPr id="35" name="Image 6" descr="preencoded.png">    </p:cNvPr>
          <p:cNvPicPr>
            <a:picLocks noChangeAspect="1"/>
          </p:cNvPicPr>
          <p:nvPr/>
        </p:nvPicPr>
        <p:blipFill>
          <a:blip r:embed="rId7"/>
          <a:stretch>
            <a:fillRect/>
          </a:stretch>
        </p:blipFill>
        <p:spPr>
          <a:xfrm>
            <a:off x="705917" y="4395521"/>
            <a:ext cx="307238" cy="307238"/>
          </a:xfrm>
          <a:prstGeom prst="rect">
            <a:avLst/>
          </a:prstGeom>
        </p:spPr>
      </p:pic>
      <p:sp>
        <p:nvSpPr>
          <p:cNvPr id="36" name="Text 26"/>
          <p:cNvSpPr txBox="1"/>
          <p:nvPr/>
        </p:nvSpPr>
        <p:spPr>
          <a:xfrm>
            <a:off x="1225296" y="4014216"/>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データベース</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整理して保存・検索</a:t>
            </a:r>
            <a:endParaRPr lang="en-US" sz="2000" dirty="0"/>
          </a:p>
        </p:txBody>
      </p:sp>
      <p:sp>
        <p:nvSpPr>
          <p:cNvPr id="37" name="Shape 27"/>
          <p:cNvSpPr/>
          <p:nvPr/>
        </p:nvSpPr>
        <p:spPr>
          <a:xfrm>
            <a:off x="4288536" y="4014216"/>
            <a:ext cx="3611880" cy="1069848"/>
          </a:xfrm>
          <a:prstGeom prst="roundRect">
            <a:avLst>
              <a:gd name="adj" fmla="val 10256"/>
            </a:avLst>
          </a:prstGeom>
          <a:solidFill>
            <a:srgbClr val="E6E1F7"/>
          </a:solidFill>
          <a:ln w="25400">
            <a:solidFill>
              <a:srgbClr val="5B46B8"/>
            </a:solidFill>
            <a:prstDash val="solid"/>
          </a:ln>
        </p:spPr>
      </p:sp>
      <p:sp>
        <p:nvSpPr>
          <p:cNvPr id="38" name="Shape 28"/>
          <p:cNvSpPr/>
          <p:nvPr/>
        </p:nvSpPr>
        <p:spPr>
          <a:xfrm>
            <a:off x="4416552" y="4274820"/>
            <a:ext cx="548640" cy="548640"/>
          </a:xfrm>
          <a:prstGeom prst="ellipse">
            <a:avLst/>
          </a:prstGeom>
          <a:solidFill>
            <a:srgbClr val="5B46B8"/>
          </a:solidFill>
          <a:ln/>
        </p:spPr>
      </p:sp>
      <p:pic>
        <p:nvPicPr>
          <p:cNvPr id="39" name="Image 7" descr="preencoded.png">    </p:cNvPr>
          <p:cNvPicPr>
            <a:picLocks noChangeAspect="1"/>
          </p:cNvPicPr>
          <p:nvPr/>
        </p:nvPicPr>
        <p:blipFill>
          <a:blip r:embed="rId8"/>
          <a:stretch>
            <a:fillRect/>
          </a:stretch>
        </p:blipFill>
        <p:spPr>
          <a:xfrm>
            <a:off x="4537253" y="4395521"/>
            <a:ext cx="307238" cy="307238"/>
          </a:xfrm>
          <a:prstGeom prst="rect">
            <a:avLst/>
          </a:prstGeom>
        </p:spPr>
      </p:pic>
      <p:sp>
        <p:nvSpPr>
          <p:cNvPr id="40" name="Text 29"/>
          <p:cNvSpPr txBox="1"/>
          <p:nvPr/>
        </p:nvSpPr>
        <p:spPr>
          <a:xfrm>
            <a:off x="5056632" y="4014216"/>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AI推論サーバー</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学習済みAIで計算</a:t>
            </a:r>
            <a:endParaRPr lang="en-US" sz="2000" dirty="0"/>
          </a:p>
        </p:txBody>
      </p:sp>
      <p:sp>
        <p:nvSpPr>
          <p:cNvPr id="41" name="Shape 30"/>
          <p:cNvSpPr/>
          <p:nvPr/>
        </p:nvSpPr>
        <p:spPr>
          <a:xfrm>
            <a:off x="8119872" y="4014216"/>
            <a:ext cx="3611880" cy="1069848"/>
          </a:xfrm>
          <a:prstGeom prst="roundRect">
            <a:avLst>
              <a:gd name="adj" fmla="val 10256"/>
            </a:avLst>
          </a:prstGeom>
          <a:solidFill>
            <a:srgbClr val="E6E1F7"/>
          </a:solidFill>
          <a:ln w="25400">
            <a:solidFill>
              <a:srgbClr val="5B46B8"/>
            </a:solidFill>
            <a:prstDash val="solid"/>
          </a:ln>
        </p:spPr>
      </p:sp>
      <p:sp>
        <p:nvSpPr>
          <p:cNvPr id="42" name="Shape 31"/>
          <p:cNvSpPr/>
          <p:nvPr/>
        </p:nvSpPr>
        <p:spPr>
          <a:xfrm>
            <a:off x="8247888" y="4274820"/>
            <a:ext cx="548640" cy="548640"/>
          </a:xfrm>
          <a:prstGeom prst="ellipse">
            <a:avLst/>
          </a:prstGeom>
          <a:solidFill>
            <a:srgbClr val="5B46B8"/>
          </a:solidFill>
          <a:ln/>
        </p:spPr>
      </p:sp>
      <p:pic>
        <p:nvPicPr>
          <p:cNvPr id="43" name="Image 8" descr="preencoded.png">    </p:cNvPr>
          <p:cNvPicPr>
            <a:picLocks noChangeAspect="1"/>
          </p:cNvPicPr>
          <p:nvPr/>
        </p:nvPicPr>
        <p:blipFill>
          <a:blip r:embed="rId9"/>
          <a:stretch>
            <a:fillRect/>
          </a:stretch>
        </p:blipFill>
        <p:spPr>
          <a:xfrm>
            <a:off x="8368589" y="4395521"/>
            <a:ext cx="307238" cy="307238"/>
          </a:xfrm>
          <a:prstGeom prst="rect">
            <a:avLst/>
          </a:prstGeom>
        </p:spPr>
      </p:pic>
      <p:sp>
        <p:nvSpPr>
          <p:cNvPr id="44" name="Text 32"/>
          <p:cNvSpPr txBox="1"/>
          <p:nvPr/>
        </p:nvSpPr>
        <p:spPr>
          <a:xfrm>
            <a:off x="8887968" y="4014216"/>
            <a:ext cx="2752344" cy="1069848"/>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監視基盤</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遅延・温度を観察</a:t>
            </a:r>
            <a:endParaRPr lang="en-US" sz="2000" dirty="0"/>
          </a:p>
        </p:txBody>
      </p:sp>
      <p:sp>
        <p:nvSpPr>
          <p:cNvPr id="45" name="Shape 33"/>
          <p:cNvSpPr/>
          <p:nvPr/>
        </p:nvSpPr>
        <p:spPr>
          <a:xfrm>
            <a:off x="457200" y="5257800"/>
            <a:ext cx="5532120" cy="1051560"/>
          </a:xfrm>
          <a:prstGeom prst="roundRect">
            <a:avLst>
              <a:gd name="adj" fmla="val 10435"/>
            </a:avLst>
          </a:prstGeom>
          <a:solidFill>
            <a:srgbClr val="DCE8F8"/>
          </a:solidFill>
          <a:ln w="19050">
            <a:solidFill>
              <a:srgbClr val="2F6BC2"/>
            </a:solidFill>
            <a:prstDash val="solid"/>
          </a:ln>
        </p:spPr>
      </p:sp>
      <p:sp>
        <p:nvSpPr>
          <p:cNvPr id="46" name="Shape 34"/>
          <p:cNvSpPr/>
          <p:nvPr/>
        </p:nvSpPr>
        <p:spPr>
          <a:xfrm>
            <a:off x="594360" y="5554980"/>
            <a:ext cx="457200" cy="457200"/>
          </a:xfrm>
          <a:prstGeom prst="ellipse">
            <a:avLst/>
          </a:prstGeom>
          <a:solidFill>
            <a:srgbClr val="2F6BC2"/>
          </a:solidFill>
          <a:ln/>
        </p:spPr>
      </p:sp>
      <p:pic>
        <p:nvPicPr>
          <p:cNvPr id="47" name="Image 9" descr="preencoded.png">    </p:cNvPr>
          <p:cNvPicPr>
            <a:picLocks noChangeAspect="1"/>
          </p:cNvPicPr>
          <p:nvPr/>
        </p:nvPicPr>
        <p:blipFill>
          <a:blip r:embed="rId10"/>
          <a:stretch>
            <a:fillRect/>
          </a:stretch>
        </p:blipFill>
        <p:spPr>
          <a:xfrm>
            <a:off x="694944" y="5655564"/>
            <a:ext cx="256032" cy="256032"/>
          </a:xfrm>
          <a:prstGeom prst="rect">
            <a:avLst/>
          </a:prstGeom>
        </p:spPr>
      </p:pic>
      <p:sp>
        <p:nvSpPr>
          <p:cNvPr id="48" name="Text 35"/>
          <p:cNvSpPr txBox="1"/>
          <p:nvPr/>
        </p:nvSpPr>
        <p:spPr>
          <a:xfrm>
            <a:off x="1188720" y="5303520"/>
            <a:ext cx="4663440" cy="9601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1つの役割＝1台とは限らない。1台に複数も、何千台に分散も</a:t>
            </a:r>
            <a:endParaRPr lang="en-US" sz="1800" dirty="0"/>
          </a:p>
        </p:txBody>
      </p:sp>
      <p:sp>
        <p:nvSpPr>
          <p:cNvPr id="49" name="Shape 36"/>
          <p:cNvSpPr/>
          <p:nvPr/>
        </p:nvSpPr>
        <p:spPr>
          <a:xfrm>
            <a:off x="6199632" y="5257800"/>
            <a:ext cx="5532120" cy="1051560"/>
          </a:xfrm>
          <a:prstGeom prst="roundRect">
            <a:avLst>
              <a:gd name="adj" fmla="val 10435"/>
            </a:avLst>
          </a:prstGeom>
          <a:solidFill>
            <a:srgbClr val="FBE3E0"/>
          </a:solidFill>
          <a:ln w="19050">
            <a:solidFill>
              <a:srgbClr val="C0392B"/>
            </a:solidFill>
            <a:prstDash val="solid"/>
          </a:ln>
        </p:spPr>
      </p:sp>
      <p:sp>
        <p:nvSpPr>
          <p:cNvPr id="50" name="Shape 37"/>
          <p:cNvSpPr/>
          <p:nvPr/>
        </p:nvSpPr>
        <p:spPr>
          <a:xfrm>
            <a:off x="6336792" y="5554980"/>
            <a:ext cx="457200" cy="457200"/>
          </a:xfrm>
          <a:prstGeom prst="ellipse">
            <a:avLst/>
          </a:prstGeom>
          <a:solidFill>
            <a:srgbClr val="C0392B"/>
          </a:solidFill>
          <a:ln/>
        </p:spPr>
      </p:sp>
      <p:pic>
        <p:nvPicPr>
          <p:cNvPr id="51" name="Image 10" descr="preencoded.png">    </p:cNvPr>
          <p:cNvPicPr>
            <a:picLocks noChangeAspect="1"/>
          </p:cNvPicPr>
          <p:nvPr/>
        </p:nvPicPr>
        <p:blipFill>
          <a:blip r:embed="rId11"/>
          <a:stretch>
            <a:fillRect/>
          </a:stretch>
        </p:blipFill>
        <p:spPr>
          <a:xfrm>
            <a:off x="6437376" y="5655564"/>
            <a:ext cx="256032" cy="256032"/>
          </a:xfrm>
          <a:prstGeom prst="rect">
            <a:avLst/>
          </a:prstGeom>
        </p:spPr>
      </p:pic>
      <p:sp>
        <p:nvSpPr>
          <p:cNvPr id="52" name="Text 38"/>
          <p:cNvSpPr txBox="1"/>
          <p:nvPr/>
        </p:nvSpPr>
        <p:spPr>
          <a:xfrm>
            <a:off x="6931152" y="5303520"/>
            <a:ext cx="4663440" cy="9601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Azureは主要パートナーだが、OpenAIは他のクラウドでも提供できる[B05]。設置先は断定不可</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端末から回答表示までを8ステップで結び付ける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ここまでの仕組みを、端末から回答の表示まで8つの順に並べます。①②は準備、③〜⑥は送信、⑦⑧は処理と返信です。質問のたびに全部をやり直すわけではありません。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出典：[B01] [B02] [B03] [B05]</a:t>
            </a:r>
            <a:endParaRPr lang="ja-JP" sz="1200" dirty="0"/>
          </a:p>
        </p:txBody>
      </p:sp>
      <p:sp>
        <p:nvSpPr>
          <p:cNvPr id="8" name="Shape 5"/>
          <p:cNvSpPr/>
          <p:nvPr/>
        </p:nvSpPr>
        <p:spPr>
          <a:xfrm>
            <a:off x="457200" y="1691640"/>
            <a:ext cx="1874520" cy="914400"/>
          </a:xfrm>
          <a:prstGeom prst="roundRect">
            <a:avLst>
              <a:gd name="adj" fmla="val 12000"/>
            </a:avLst>
          </a:prstGeom>
          <a:solidFill>
            <a:srgbClr val="0B7A7A"/>
          </a:solidFill>
          <a:ln/>
        </p:spPr>
      </p:sp>
      <p:sp>
        <p:nvSpPr>
          <p:cNvPr id="9" name="Text 6"/>
          <p:cNvSpPr txBox="1"/>
          <p:nvPr/>
        </p:nvSpPr>
        <p:spPr>
          <a:xfrm>
            <a:off x="548640" y="1691640"/>
            <a:ext cx="169164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端末</a:t>
            </a:r>
            <a:endParaRPr lang="en-US" sz="1800" dirty="0"/>
          </a:p>
        </p:txBody>
      </p:sp>
      <p:sp>
        <p:nvSpPr>
          <p:cNvPr id="10" name="Shape 7"/>
          <p:cNvSpPr/>
          <p:nvPr/>
        </p:nvSpPr>
        <p:spPr>
          <a:xfrm>
            <a:off x="2807208" y="1691640"/>
            <a:ext cx="1874520" cy="914400"/>
          </a:xfrm>
          <a:prstGeom prst="roundRect">
            <a:avLst>
              <a:gd name="adj" fmla="val 12000"/>
            </a:avLst>
          </a:prstGeom>
          <a:solidFill>
            <a:srgbClr val="2F6BC2"/>
          </a:solidFill>
          <a:ln/>
        </p:spPr>
      </p:sp>
      <p:sp>
        <p:nvSpPr>
          <p:cNvPr id="11" name="Text 8"/>
          <p:cNvSpPr txBox="1"/>
          <p:nvPr/>
        </p:nvSpPr>
        <p:spPr>
          <a:xfrm>
            <a:off x="2898648" y="1691640"/>
            <a:ext cx="169164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自宅ルーター</a:t>
            </a:r>
            <a:endParaRPr lang="en-US" sz="1800" dirty="0"/>
          </a:p>
        </p:txBody>
      </p:sp>
      <p:sp>
        <p:nvSpPr>
          <p:cNvPr id="12" name="Shape 9"/>
          <p:cNvSpPr/>
          <p:nvPr/>
        </p:nvSpPr>
        <p:spPr>
          <a:xfrm>
            <a:off x="5157216" y="1691640"/>
            <a:ext cx="1874520" cy="914400"/>
          </a:xfrm>
          <a:prstGeom prst="roundRect">
            <a:avLst>
              <a:gd name="adj" fmla="val 12000"/>
            </a:avLst>
          </a:prstGeom>
          <a:solidFill>
            <a:srgbClr val="2F6BC2"/>
          </a:solidFill>
          <a:ln/>
        </p:spPr>
      </p:sp>
      <p:sp>
        <p:nvSpPr>
          <p:cNvPr id="13" name="Text 10"/>
          <p:cNvSpPr txBox="1"/>
          <p:nvPr/>
        </p:nvSpPr>
        <p:spPr>
          <a:xfrm>
            <a:off x="5248656" y="1691640"/>
            <a:ext cx="169164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インターネット</a:t>
            </a:r>
            <a:endParaRPr lang="en-US" sz="1800" dirty="0"/>
          </a:p>
        </p:txBody>
      </p:sp>
      <p:sp>
        <p:nvSpPr>
          <p:cNvPr id="14" name="Shape 11"/>
          <p:cNvSpPr/>
          <p:nvPr/>
        </p:nvSpPr>
        <p:spPr>
          <a:xfrm>
            <a:off x="7507224" y="1691640"/>
            <a:ext cx="1874520" cy="914400"/>
          </a:xfrm>
          <a:prstGeom prst="roundRect">
            <a:avLst>
              <a:gd name="adj" fmla="val 12000"/>
            </a:avLst>
          </a:prstGeom>
          <a:solidFill>
            <a:srgbClr val="5B46B8"/>
          </a:solidFill>
          <a:ln/>
        </p:spPr>
      </p:sp>
      <p:sp>
        <p:nvSpPr>
          <p:cNvPr id="15" name="Text 12"/>
          <p:cNvSpPr txBox="1"/>
          <p:nvPr/>
        </p:nvSpPr>
        <p:spPr>
          <a:xfrm>
            <a:off x="7598664" y="1691640"/>
            <a:ext cx="169164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サービス入口</a:t>
            </a:r>
            <a:endParaRPr lang="en-US" sz="1800" dirty="0"/>
          </a:p>
        </p:txBody>
      </p:sp>
      <p:sp>
        <p:nvSpPr>
          <p:cNvPr id="16" name="Shape 13"/>
          <p:cNvSpPr/>
          <p:nvPr/>
        </p:nvSpPr>
        <p:spPr>
          <a:xfrm>
            <a:off x="9857232" y="1691640"/>
            <a:ext cx="1874520" cy="914400"/>
          </a:xfrm>
          <a:prstGeom prst="roundRect">
            <a:avLst>
              <a:gd name="adj" fmla="val 12000"/>
            </a:avLst>
          </a:prstGeom>
          <a:solidFill>
            <a:srgbClr val="5B46B8"/>
          </a:solidFill>
          <a:ln/>
        </p:spPr>
      </p:sp>
      <p:sp>
        <p:nvSpPr>
          <p:cNvPr id="17" name="Text 14"/>
          <p:cNvSpPr txBox="1"/>
          <p:nvPr/>
        </p:nvSpPr>
        <p:spPr>
          <a:xfrm>
            <a:off x="9948672" y="1691640"/>
            <a:ext cx="169164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アプリ・AI</a:t>
            </a:r>
            <a:endParaRPr lang="en-US" sz="1800" dirty="0"/>
          </a:p>
        </p:txBody>
      </p:sp>
      <p:sp>
        <p:nvSpPr>
          <p:cNvPr id="18" name="Shape 15"/>
          <p:cNvSpPr/>
          <p:nvPr/>
        </p:nvSpPr>
        <p:spPr>
          <a:xfrm>
            <a:off x="2331720" y="2148840"/>
            <a:ext cx="475488" cy="0"/>
          </a:xfrm>
          <a:prstGeom prst="line">
            <a:avLst/>
          </a:prstGeom>
          <a:noFill/>
          <a:ln w="38100">
            <a:solidFill>
              <a:srgbClr val="1B2A3A"/>
            </a:solidFill>
            <a:prstDash val="solid"/>
            <a:tailEnd type="triangle"/>
          </a:ln>
        </p:spPr>
      </p:sp>
      <p:sp>
        <p:nvSpPr>
          <p:cNvPr id="19" name="Shape 16"/>
          <p:cNvSpPr/>
          <p:nvPr/>
        </p:nvSpPr>
        <p:spPr>
          <a:xfrm>
            <a:off x="4681728" y="2148840"/>
            <a:ext cx="475488" cy="0"/>
          </a:xfrm>
          <a:prstGeom prst="line">
            <a:avLst/>
          </a:prstGeom>
          <a:noFill/>
          <a:ln w="38100">
            <a:solidFill>
              <a:srgbClr val="1B2A3A"/>
            </a:solidFill>
            <a:prstDash val="solid"/>
            <a:tailEnd type="triangle"/>
          </a:ln>
        </p:spPr>
      </p:sp>
      <p:sp>
        <p:nvSpPr>
          <p:cNvPr id="20" name="Shape 17"/>
          <p:cNvSpPr/>
          <p:nvPr/>
        </p:nvSpPr>
        <p:spPr>
          <a:xfrm>
            <a:off x="7031736" y="2148840"/>
            <a:ext cx="475488" cy="0"/>
          </a:xfrm>
          <a:prstGeom prst="line">
            <a:avLst/>
          </a:prstGeom>
          <a:noFill/>
          <a:ln w="38100">
            <a:solidFill>
              <a:srgbClr val="1B2A3A"/>
            </a:solidFill>
            <a:prstDash val="solid"/>
            <a:tailEnd type="triangle"/>
          </a:ln>
        </p:spPr>
      </p:sp>
      <p:sp>
        <p:nvSpPr>
          <p:cNvPr id="21" name="Shape 18"/>
          <p:cNvSpPr/>
          <p:nvPr/>
        </p:nvSpPr>
        <p:spPr>
          <a:xfrm>
            <a:off x="9381744" y="2148840"/>
            <a:ext cx="475488" cy="0"/>
          </a:xfrm>
          <a:prstGeom prst="line">
            <a:avLst/>
          </a:prstGeom>
          <a:noFill/>
          <a:ln w="38100">
            <a:solidFill>
              <a:srgbClr val="1B2A3A"/>
            </a:solidFill>
            <a:prstDash val="solid"/>
            <a:tailEnd type="triangle"/>
          </a:ln>
        </p:spPr>
      </p:sp>
      <p:sp>
        <p:nvSpPr>
          <p:cNvPr id="22" name="Shape 19"/>
          <p:cNvSpPr/>
          <p:nvPr/>
        </p:nvSpPr>
        <p:spPr>
          <a:xfrm>
            <a:off x="457200" y="2724912"/>
            <a:ext cx="8924544" cy="457200"/>
          </a:xfrm>
          <a:prstGeom prst="roundRect">
            <a:avLst>
              <a:gd name="adj" fmla="val 20000"/>
            </a:avLst>
          </a:prstGeom>
          <a:solidFill>
            <a:srgbClr val="DDF1E4"/>
          </a:solidFill>
          <a:ln w="19050">
            <a:solidFill>
              <a:srgbClr val="237A48"/>
            </a:solidFill>
            <a:prstDash val="solid"/>
          </a:ln>
        </p:spPr>
      </p:sp>
      <p:sp>
        <p:nvSpPr>
          <p:cNvPr id="23" name="Text 20"/>
          <p:cNvSpPr txBox="1"/>
          <p:nvPr/>
        </p:nvSpPr>
        <p:spPr>
          <a:xfrm>
            <a:off x="548640" y="2724912"/>
            <a:ext cx="8741664"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TLSで暗号化（端末〜サービス入口）</a:t>
            </a:r>
            <a:endParaRPr lang="en-US" sz="1800" dirty="0"/>
          </a:p>
        </p:txBody>
      </p:sp>
      <p:sp>
        <p:nvSpPr>
          <p:cNvPr id="24" name="Shape 21"/>
          <p:cNvSpPr/>
          <p:nvPr/>
        </p:nvSpPr>
        <p:spPr>
          <a:xfrm>
            <a:off x="2331720" y="3255264"/>
            <a:ext cx="2834640" cy="457200"/>
          </a:xfrm>
          <a:prstGeom prst="roundRect">
            <a:avLst>
              <a:gd name="adj" fmla="val 20000"/>
            </a:avLst>
          </a:prstGeom>
          <a:solidFill>
            <a:srgbClr val="FDEBD0"/>
          </a:solidFill>
          <a:ln w="19050">
            <a:solidFill>
              <a:srgbClr val="B45309"/>
            </a:solidFill>
            <a:prstDash val="solid"/>
          </a:ln>
        </p:spPr>
      </p:sp>
      <p:sp>
        <p:nvSpPr>
          <p:cNvPr id="25" name="Text 22"/>
          <p:cNvSpPr txBox="1"/>
          <p:nvPr/>
        </p:nvSpPr>
        <p:spPr>
          <a:xfrm>
            <a:off x="2331720" y="3255264"/>
            <a:ext cx="283464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NAT：送信元を書換え</a:t>
            </a:r>
            <a:endParaRPr lang="en-US" sz="1800" dirty="0"/>
          </a:p>
        </p:txBody>
      </p:sp>
      <p:sp>
        <p:nvSpPr>
          <p:cNvPr id="26" name="Shape 23"/>
          <p:cNvSpPr/>
          <p:nvPr/>
        </p:nvSpPr>
        <p:spPr>
          <a:xfrm>
            <a:off x="466344" y="3922776"/>
            <a:ext cx="384048" cy="384048"/>
          </a:xfrm>
          <a:prstGeom prst="ellipse">
            <a:avLst/>
          </a:prstGeom>
          <a:solidFill>
            <a:srgbClr val="B45309"/>
          </a:solidFill>
          <a:ln w="19050">
            <a:solidFill>
              <a:srgbClr val="FFFFFF"/>
            </a:solidFill>
            <a:prstDash val="solid"/>
          </a:ln>
        </p:spPr>
      </p:sp>
      <p:sp>
        <p:nvSpPr>
          <p:cNvPr id="27" name="Text 24"/>
          <p:cNvSpPr txBox="1"/>
          <p:nvPr/>
        </p:nvSpPr>
        <p:spPr>
          <a:xfrm>
            <a:off x="466344" y="39227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28" name="Text 25"/>
          <p:cNvSpPr txBox="1"/>
          <p:nvPr/>
        </p:nvSpPr>
        <p:spPr>
          <a:xfrm>
            <a:off x="960120" y="3840480"/>
            <a:ext cx="512064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Wi-Fi参加とDHCPで設定を受け取る（補助）</a:t>
            </a:r>
            <a:endParaRPr lang="en-US" sz="1800" dirty="0"/>
          </a:p>
        </p:txBody>
      </p:sp>
      <p:sp>
        <p:nvSpPr>
          <p:cNvPr id="29" name="Shape 26"/>
          <p:cNvSpPr/>
          <p:nvPr/>
        </p:nvSpPr>
        <p:spPr>
          <a:xfrm>
            <a:off x="466344" y="4544568"/>
            <a:ext cx="384048" cy="384048"/>
          </a:xfrm>
          <a:prstGeom prst="ellipse">
            <a:avLst/>
          </a:prstGeom>
          <a:solidFill>
            <a:srgbClr val="B45309"/>
          </a:solidFill>
          <a:ln w="19050">
            <a:solidFill>
              <a:srgbClr val="FFFFFF"/>
            </a:solidFill>
            <a:prstDash val="solid"/>
          </a:ln>
        </p:spPr>
      </p:sp>
      <p:sp>
        <p:nvSpPr>
          <p:cNvPr id="30" name="Text 27"/>
          <p:cNvSpPr txBox="1"/>
          <p:nvPr/>
        </p:nvSpPr>
        <p:spPr>
          <a:xfrm>
            <a:off x="466344" y="45445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31" name="Text 28"/>
          <p:cNvSpPr txBox="1"/>
          <p:nvPr/>
        </p:nvSpPr>
        <p:spPr>
          <a:xfrm>
            <a:off x="960120" y="4462272"/>
            <a:ext cx="512064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DNSで接続先のIPを調べる（補助・省略可）</a:t>
            </a:r>
            <a:endParaRPr lang="en-US" sz="1800" dirty="0"/>
          </a:p>
        </p:txBody>
      </p:sp>
      <p:sp>
        <p:nvSpPr>
          <p:cNvPr id="32" name="Shape 29"/>
          <p:cNvSpPr/>
          <p:nvPr/>
        </p:nvSpPr>
        <p:spPr>
          <a:xfrm>
            <a:off x="466344" y="5166360"/>
            <a:ext cx="384048" cy="384048"/>
          </a:xfrm>
          <a:prstGeom prst="ellipse">
            <a:avLst/>
          </a:prstGeom>
          <a:solidFill>
            <a:srgbClr val="16324F"/>
          </a:solidFill>
          <a:ln w="19050">
            <a:solidFill>
              <a:srgbClr val="FFFFFF"/>
            </a:solidFill>
            <a:prstDash val="solid"/>
          </a:ln>
        </p:spPr>
      </p:sp>
      <p:sp>
        <p:nvSpPr>
          <p:cNvPr id="33" name="Text 30"/>
          <p:cNvSpPr txBox="1"/>
          <p:nvPr/>
        </p:nvSpPr>
        <p:spPr>
          <a:xfrm>
            <a:off x="466344" y="51663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34" name="Text 31"/>
          <p:cNvSpPr txBox="1"/>
          <p:nvPr/>
        </p:nvSpPr>
        <p:spPr>
          <a:xfrm>
            <a:off x="960120" y="5084064"/>
            <a:ext cx="512064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OSが宛先IPで渡し先を決める（外部は出口へ）</a:t>
            </a:r>
            <a:endParaRPr lang="en-US" sz="1800" dirty="0"/>
          </a:p>
        </p:txBody>
      </p:sp>
      <p:sp>
        <p:nvSpPr>
          <p:cNvPr id="35" name="Shape 32"/>
          <p:cNvSpPr/>
          <p:nvPr/>
        </p:nvSpPr>
        <p:spPr>
          <a:xfrm>
            <a:off x="466344" y="5788152"/>
            <a:ext cx="384048" cy="384048"/>
          </a:xfrm>
          <a:prstGeom prst="ellipse">
            <a:avLst/>
          </a:prstGeom>
          <a:solidFill>
            <a:srgbClr val="16324F"/>
          </a:solidFill>
          <a:ln w="19050">
            <a:solidFill>
              <a:srgbClr val="FFFFFF"/>
            </a:solidFill>
            <a:prstDash val="solid"/>
          </a:ln>
        </p:spPr>
      </p:sp>
      <p:sp>
        <p:nvSpPr>
          <p:cNvPr id="36" name="Text 33"/>
          <p:cNvSpPr txBox="1"/>
          <p:nvPr/>
        </p:nvSpPr>
        <p:spPr>
          <a:xfrm>
            <a:off x="466344" y="57881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4</a:t>
            </a:r>
            <a:endParaRPr lang="en-US" sz="1600" dirty="0"/>
          </a:p>
        </p:txBody>
      </p:sp>
      <p:sp>
        <p:nvSpPr>
          <p:cNvPr id="37" name="Text 34"/>
          <p:cNvSpPr txBox="1"/>
          <p:nvPr/>
        </p:nvSpPr>
        <p:spPr>
          <a:xfrm>
            <a:off x="960120" y="5705856"/>
            <a:ext cx="512064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自宅ルーターがNATで送信元を書き換える</a:t>
            </a:r>
            <a:endParaRPr lang="en-US" sz="1800" dirty="0"/>
          </a:p>
        </p:txBody>
      </p:sp>
      <p:sp>
        <p:nvSpPr>
          <p:cNvPr id="38" name="Shape 35"/>
          <p:cNvSpPr/>
          <p:nvPr/>
        </p:nvSpPr>
        <p:spPr>
          <a:xfrm>
            <a:off x="6181344" y="3922776"/>
            <a:ext cx="384048" cy="384048"/>
          </a:xfrm>
          <a:prstGeom prst="ellipse">
            <a:avLst/>
          </a:prstGeom>
          <a:solidFill>
            <a:srgbClr val="16324F"/>
          </a:solidFill>
          <a:ln w="19050">
            <a:solidFill>
              <a:srgbClr val="FFFFFF"/>
            </a:solidFill>
            <a:prstDash val="solid"/>
          </a:ln>
        </p:spPr>
      </p:sp>
      <p:sp>
        <p:nvSpPr>
          <p:cNvPr id="39" name="Text 36"/>
          <p:cNvSpPr txBox="1"/>
          <p:nvPr/>
        </p:nvSpPr>
        <p:spPr>
          <a:xfrm>
            <a:off x="6181344" y="39227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5</a:t>
            </a:r>
            <a:endParaRPr lang="en-US" sz="1600" dirty="0"/>
          </a:p>
        </p:txBody>
      </p:sp>
      <p:sp>
        <p:nvSpPr>
          <p:cNvPr id="40" name="Text 37"/>
          <p:cNvSpPr txBox="1"/>
          <p:nvPr/>
        </p:nvSpPr>
        <p:spPr>
          <a:xfrm>
            <a:off x="6675120" y="3840480"/>
            <a:ext cx="512064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各ネットワークのルーターが宛先IPを見て転送</a:t>
            </a:r>
            <a:endParaRPr lang="en-US" sz="1800" dirty="0"/>
          </a:p>
        </p:txBody>
      </p:sp>
      <p:sp>
        <p:nvSpPr>
          <p:cNvPr id="41" name="Shape 38"/>
          <p:cNvSpPr/>
          <p:nvPr/>
        </p:nvSpPr>
        <p:spPr>
          <a:xfrm>
            <a:off x="6181344" y="4544568"/>
            <a:ext cx="384048" cy="384048"/>
          </a:xfrm>
          <a:prstGeom prst="ellipse">
            <a:avLst/>
          </a:prstGeom>
          <a:solidFill>
            <a:srgbClr val="16324F"/>
          </a:solidFill>
          <a:ln w="19050">
            <a:solidFill>
              <a:srgbClr val="FFFFFF"/>
            </a:solidFill>
            <a:prstDash val="solid"/>
          </a:ln>
        </p:spPr>
      </p:sp>
      <p:sp>
        <p:nvSpPr>
          <p:cNvPr id="42" name="Text 39"/>
          <p:cNvSpPr txBox="1"/>
          <p:nvPr/>
        </p:nvSpPr>
        <p:spPr>
          <a:xfrm>
            <a:off x="6181344" y="45445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6</a:t>
            </a:r>
            <a:endParaRPr lang="en-US" sz="1600" dirty="0"/>
          </a:p>
        </p:txBody>
      </p:sp>
      <p:sp>
        <p:nvSpPr>
          <p:cNvPr id="43" name="Text 40"/>
          <p:cNvSpPr txBox="1"/>
          <p:nvPr/>
        </p:nvSpPr>
        <p:spPr>
          <a:xfrm>
            <a:off x="6675120" y="4462272"/>
            <a:ext cx="512064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TCP／QUICで接続し、TLSで暗号化を始める</a:t>
            </a:r>
            <a:endParaRPr lang="en-US" sz="1800" dirty="0"/>
          </a:p>
        </p:txBody>
      </p:sp>
      <p:sp>
        <p:nvSpPr>
          <p:cNvPr id="44" name="Shape 41"/>
          <p:cNvSpPr/>
          <p:nvPr/>
        </p:nvSpPr>
        <p:spPr>
          <a:xfrm>
            <a:off x="6181344" y="5166360"/>
            <a:ext cx="384048" cy="384048"/>
          </a:xfrm>
          <a:prstGeom prst="ellipse">
            <a:avLst/>
          </a:prstGeom>
          <a:solidFill>
            <a:srgbClr val="16324F"/>
          </a:solidFill>
          <a:ln w="19050">
            <a:solidFill>
              <a:srgbClr val="FFFFFF"/>
            </a:solidFill>
            <a:prstDash val="solid"/>
          </a:ln>
        </p:spPr>
      </p:sp>
      <p:sp>
        <p:nvSpPr>
          <p:cNvPr id="45" name="Text 42"/>
          <p:cNvSpPr txBox="1"/>
          <p:nvPr/>
        </p:nvSpPr>
        <p:spPr>
          <a:xfrm>
            <a:off x="6181344" y="51663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7</a:t>
            </a:r>
            <a:endParaRPr lang="en-US" sz="1600" dirty="0"/>
          </a:p>
        </p:txBody>
      </p:sp>
      <p:sp>
        <p:nvSpPr>
          <p:cNvPr id="46" name="Text 43"/>
          <p:cNvSpPr txBox="1"/>
          <p:nvPr/>
        </p:nvSpPr>
        <p:spPr>
          <a:xfrm>
            <a:off x="6675120" y="5084064"/>
            <a:ext cx="512064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入口→アプリ→AI推論へ質問が渡る</a:t>
            </a:r>
            <a:endParaRPr lang="en-US" sz="1800" dirty="0"/>
          </a:p>
        </p:txBody>
      </p:sp>
      <p:sp>
        <p:nvSpPr>
          <p:cNvPr id="47" name="Shape 44"/>
          <p:cNvSpPr/>
          <p:nvPr/>
        </p:nvSpPr>
        <p:spPr>
          <a:xfrm>
            <a:off x="6181344" y="5788152"/>
            <a:ext cx="384048" cy="384048"/>
          </a:xfrm>
          <a:prstGeom prst="ellipse">
            <a:avLst/>
          </a:prstGeom>
          <a:solidFill>
            <a:srgbClr val="16324F"/>
          </a:solidFill>
          <a:ln w="19050">
            <a:solidFill>
              <a:srgbClr val="FFFFFF"/>
            </a:solidFill>
            <a:prstDash val="solid"/>
          </a:ln>
        </p:spPr>
      </p:sp>
      <p:sp>
        <p:nvSpPr>
          <p:cNvPr id="48" name="Text 45"/>
          <p:cNvSpPr txBox="1"/>
          <p:nvPr/>
        </p:nvSpPr>
        <p:spPr>
          <a:xfrm>
            <a:off x="6181344" y="57881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8</a:t>
            </a:r>
            <a:endParaRPr lang="en-US" sz="1600" dirty="0"/>
          </a:p>
        </p:txBody>
      </p:sp>
      <p:sp>
        <p:nvSpPr>
          <p:cNvPr id="49" name="Text 46"/>
          <p:cNvSpPr txBox="1"/>
          <p:nvPr/>
        </p:nvSpPr>
        <p:spPr>
          <a:xfrm>
            <a:off x="6675120" y="5705856"/>
            <a:ext cx="512064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回答が同じ道を戻り、NAT・復号を経て表示</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DNS・NTP・NAT・TLSは役割も実行時期も違う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4つの仕組みは、働くタイミングと場所が違います。「いつ」「どこで」「何をする」で整理すると、混同しません。下の帯は、時間の流れの一例です。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出典：[B01] [B02] [B04]</a:t>
            </a:r>
            <a:endParaRPr lang="ja-JP"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1097280"/>
                <a:gridCol w="3017520"/>
                <a:gridCol w="2743200"/>
                <a:gridCol w="44165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仕組み</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いつ</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どこで</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何をする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DNS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名前からIPが必要なとき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端末・DNS窓口</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名前→IPを調べる。本文は運ばない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NTP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OSが時刻を合わせるとき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端末とNTPサーバー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時刻を合わせる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NAT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IPv4で外へ出る通信ごと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自宅ルーター等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送信元IP・ポートを書換え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TLS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接続を始めるとき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端末↔サービス入口</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相手確認と暗号化</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9" name="Shape 5"/>
          <p:cNvSpPr/>
          <p:nvPr/>
        </p:nvSpPr>
        <p:spPr>
          <a:xfrm>
            <a:off x="457200" y="4754880"/>
            <a:ext cx="2011680" cy="868680"/>
          </a:xfrm>
          <a:prstGeom prst="roundRect">
            <a:avLst>
              <a:gd name="adj" fmla="val 12632"/>
            </a:avLst>
          </a:prstGeom>
          <a:solidFill>
            <a:srgbClr val="B45309"/>
          </a:solidFill>
          <a:ln/>
        </p:spPr>
      </p:sp>
      <p:sp>
        <p:nvSpPr>
          <p:cNvPr id="10" name="Text 6"/>
          <p:cNvSpPr txBox="1"/>
          <p:nvPr/>
        </p:nvSpPr>
        <p:spPr>
          <a:xfrm>
            <a:off x="548640" y="4754880"/>
            <a:ext cx="182880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DHCP</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Wi-Fi接続時</a:t>
            </a:r>
            <a:endParaRPr lang="en-US" sz="2000" dirty="0"/>
          </a:p>
        </p:txBody>
      </p:sp>
      <p:sp>
        <p:nvSpPr>
          <p:cNvPr id="11" name="Shape 7"/>
          <p:cNvSpPr/>
          <p:nvPr/>
        </p:nvSpPr>
        <p:spPr>
          <a:xfrm>
            <a:off x="2468880" y="5189220"/>
            <a:ext cx="274320" cy="0"/>
          </a:xfrm>
          <a:prstGeom prst="line">
            <a:avLst/>
          </a:prstGeom>
          <a:noFill/>
          <a:ln w="31750">
            <a:solidFill>
              <a:srgbClr val="1B2A3A"/>
            </a:solidFill>
            <a:prstDash val="solid"/>
            <a:tailEnd type="triangle"/>
          </a:ln>
        </p:spPr>
      </p:sp>
      <p:sp>
        <p:nvSpPr>
          <p:cNvPr id="12" name="Shape 8"/>
          <p:cNvSpPr/>
          <p:nvPr/>
        </p:nvSpPr>
        <p:spPr>
          <a:xfrm>
            <a:off x="2743200" y="4754880"/>
            <a:ext cx="2011680" cy="868680"/>
          </a:xfrm>
          <a:prstGeom prst="roundRect">
            <a:avLst>
              <a:gd name="adj" fmla="val 12632"/>
            </a:avLst>
          </a:prstGeom>
          <a:solidFill>
            <a:srgbClr val="B45309"/>
          </a:solidFill>
          <a:ln/>
        </p:spPr>
      </p:sp>
      <p:sp>
        <p:nvSpPr>
          <p:cNvPr id="13" name="Text 9"/>
          <p:cNvSpPr txBox="1"/>
          <p:nvPr/>
        </p:nvSpPr>
        <p:spPr>
          <a:xfrm>
            <a:off x="2834640" y="4754880"/>
            <a:ext cx="182880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DNS</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名前が必要</a:t>
            </a:r>
            <a:endParaRPr lang="en-US" sz="2000" dirty="0"/>
          </a:p>
        </p:txBody>
      </p:sp>
      <p:sp>
        <p:nvSpPr>
          <p:cNvPr id="14" name="Shape 10"/>
          <p:cNvSpPr/>
          <p:nvPr/>
        </p:nvSpPr>
        <p:spPr>
          <a:xfrm>
            <a:off x="4754880" y="5189220"/>
            <a:ext cx="274320" cy="0"/>
          </a:xfrm>
          <a:prstGeom prst="line">
            <a:avLst/>
          </a:prstGeom>
          <a:noFill/>
          <a:ln w="31750">
            <a:solidFill>
              <a:srgbClr val="1B2A3A"/>
            </a:solidFill>
            <a:prstDash val="solid"/>
            <a:tailEnd type="triangle"/>
          </a:ln>
        </p:spPr>
      </p:sp>
      <p:sp>
        <p:nvSpPr>
          <p:cNvPr id="15" name="Shape 11"/>
          <p:cNvSpPr/>
          <p:nvPr/>
        </p:nvSpPr>
        <p:spPr>
          <a:xfrm>
            <a:off x="5029200" y="4754880"/>
            <a:ext cx="2011680" cy="868680"/>
          </a:xfrm>
          <a:prstGeom prst="roundRect">
            <a:avLst>
              <a:gd name="adj" fmla="val 12632"/>
            </a:avLst>
          </a:prstGeom>
          <a:solidFill>
            <a:srgbClr val="2F6BC2"/>
          </a:solidFill>
          <a:ln/>
        </p:spPr>
      </p:sp>
      <p:sp>
        <p:nvSpPr>
          <p:cNvPr id="16" name="Text 12"/>
          <p:cNvSpPr txBox="1"/>
          <p:nvPr/>
        </p:nvSpPr>
        <p:spPr>
          <a:xfrm>
            <a:off x="5120640" y="4754880"/>
            <a:ext cx="182880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NAT</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外へ出る通信</a:t>
            </a:r>
            <a:endParaRPr lang="en-US" sz="2000" dirty="0"/>
          </a:p>
        </p:txBody>
      </p:sp>
      <p:sp>
        <p:nvSpPr>
          <p:cNvPr id="17" name="Shape 13"/>
          <p:cNvSpPr/>
          <p:nvPr/>
        </p:nvSpPr>
        <p:spPr>
          <a:xfrm>
            <a:off x="7040880" y="5189220"/>
            <a:ext cx="274320" cy="0"/>
          </a:xfrm>
          <a:prstGeom prst="line">
            <a:avLst/>
          </a:prstGeom>
          <a:noFill/>
          <a:ln w="31750">
            <a:solidFill>
              <a:srgbClr val="1B2A3A"/>
            </a:solidFill>
            <a:prstDash val="solid"/>
            <a:tailEnd type="triangle"/>
          </a:ln>
        </p:spPr>
      </p:sp>
      <p:sp>
        <p:nvSpPr>
          <p:cNvPr id="18" name="Shape 14"/>
          <p:cNvSpPr/>
          <p:nvPr/>
        </p:nvSpPr>
        <p:spPr>
          <a:xfrm>
            <a:off x="7315200" y="4754880"/>
            <a:ext cx="2011680" cy="868680"/>
          </a:xfrm>
          <a:prstGeom prst="roundRect">
            <a:avLst>
              <a:gd name="adj" fmla="val 12632"/>
            </a:avLst>
          </a:prstGeom>
          <a:solidFill>
            <a:srgbClr val="237A48"/>
          </a:solidFill>
          <a:ln/>
        </p:spPr>
      </p:sp>
      <p:sp>
        <p:nvSpPr>
          <p:cNvPr id="19" name="Text 15"/>
          <p:cNvSpPr txBox="1"/>
          <p:nvPr/>
        </p:nvSpPr>
        <p:spPr>
          <a:xfrm>
            <a:off x="7406640" y="4754880"/>
            <a:ext cx="182880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TLS</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接続開始</a:t>
            </a:r>
            <a:endParaRPr lang="en-US" sz="2000" dirty="0"/>
          </a:p>
        </p:txBody>
      </p:sp>
      <p:sp>
        <p:nvSpPr>
          <p:cNvPr id="20" name="Shape 16"/>
          <p:cNvSpPr/>
          <p:nvPr/>
        </p:nvSpPr>
        <p:spPr>
          <a:xfrm>
            <a:off x="9326880" y="5189220"/>
            <a:ext cx="274320" cy="0"/>
          </a:xfrm>
          <a:prstGeom prst="line">
            <a:avLst/>
          </a:prstGeom>
          <a:noFill/>
          <a:ln w="31750">
            <a:solidFill>
              <a:srgbClr val="1B2A3A"/>
            </a:solidFill>
            <a:prstDash val="solid"/>
            <a:tailEnd type="triangle"/>
          </a:ln>
        </p:spPr>
      </p:sp>
      <p:sp>
        <p:nvSpPr>
          <p:cNvPr id="21" name="Shape 17"/>
          <p:cNvSpPr/>
          <p:nvPr/>
        </p:nvSpPr>
        <p:spPr>
          <a:xfrm>
            <a:off x="9601200" y="4754880"/>
            <a:ext cx="2011680" cy="868680"/>
          </a:xfrm>
          <a:prstGeom prst="roundRect">
            <a:avLst>
              <a:gd name="adj" fmla="val 12632"/>
            </a:avLst>
          </a:prstGeom>
          <a:solidFill>
            <a:srgbClr val="B45309"/>
          </a:solidFill>
          <a:ln/>
        </p:spPr>
      </p:sp>
      <p:sp>
        <p:nvSpPr>
          <p:cNvPr id="22" name="Text 18"/>
          <p:cNvSpPr txBox="1"/>
          <p:nvPr/>
        </p:nvSpPr>
        <p:spPr>
          <a:xfrm>
            <a:off x="9692640" y="4754880"/>
            <a:ext cx="182880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NTP</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定期的に</a:t>
            </a:r>
            <a:endParaRPr lang="en-US" sz="2000" dirty="0"/>
          </a:p>
        </p:txBody>
      </p:sp>
      <p:sp>
        <p:nvSpPr>
          <p:cNvPr id="23" name="Text 19"/>
          <p:cNvSpPr txBox="1"/>
          <p:nvPr/>
        </p:nvSpPr>
        <p:spPr>
          <a:xfrm>
            <a:off x="457200" y="4343400"/>
            <a:ext cx="3657600" cy="36576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時間の流れの例</a:t>
            </a:r>
            <a:endParaRPr lang="en-US" sz="1800" dirty="0"/>
          </a:p>
        </p:txBody>
      </p:sp>
      <p:sp>
        <p:nvSpPr>
          <p:cNvPr id="24" name="Shape 20"/>
          <p:cNvSpPr/>
          <p:nvPr/>
        </p:nvSpPr>
        <p:spPr>
          <a:xfrm>
            <a:off x="457200" y="5760720"/>
            <a:ext cx="11274552" cy="548640"/>
          </a:xfrm>
          <a:prstGeom prst="roundRect">
            <a:avLst>
              <a:gd name="adj" fmla="val 20000"/>
            </a:avLst>
          </a:prstGeom>
          <a:solidFill>
            <a:srgbClr val="FDEBD0"/>
          </a:solidFill>
          <a:ln w="19050">
            <a:solidFill>
              <a:srgbClr val="B45309"/>
            </a:solidFill>
            <a:prstDash val="solid"/>
          </a:ln>
        </p:spPr>
      </p:sp>
      <p:sp>
        <p:nvSpPr>
          <p:cNvPr id="25" name="Shape 21"/>
          <p:cNvSpPr/>
          <p:nvPr/>
        </p:nvSpPr>
        <p:spPr>
          <a:xfrm>
            <a:off x="594360" y="5852160"/>
            <a:ext cx="365760" cy="365760"/>
          </a:xfrm>
          <a:prstGeom prst="ellipse">
            <a:avLst/>
          </a:prstGeom>
          <a:solidFill>
            <a:srgbClr val="B45309"/>
          </a:solidFill>
          <a:ln/>
        </p:spPr>
      </p:sp>
      <p:pic>
        <p:nvPicPr>
          <p:cNvPr id="26" name="Image 0" descr="preencoded.png">    </p:cNvPr>
          <p:cNvPicPr>
            <a:picLocks noChangeAspect="1"/>
          </p:cNvPicPr>
          <p:nvPr/>
        </p:nvPicPr>
        <p:blipFill>
          <a:blip r:embed="rId1"/>
          <a:stretch>
            <a:fillRect/>
          </a:stretch>
        </p:blipFill>
        <p:spPr>
          <a:xfrm>
            <a:off x="674827" y="5932627"/>
            <a:ext cx="204826" cy="204826"/>
          </a:xfrm>
          <a:prstGeom prst="rect">
            <a:avLst/>
          </a:prstGeom>
        </p:spPr>
      </p:pic>
      <p:sp>
        <p:nvSpPr>
          <p:cNvPr id="27" name="Text 22"/>
          <p:cNvSpPr txBox="1"/>
          <p:nvPr/>
        </p:nvSpPr>
        <p:spPr>
          <a:xfrm>
            <a:off x="1097280" y="5806440"/>
            <a:ext cx="10497312" cy="4572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質問1回ごとに、接続・DNS・TLSを全部やり直すわけではない（再利用される）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27431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端末からChatGPTへ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4G／5Gは、家のルーターの代わりに携帯会社の網を通る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スマホを携帯回線で使うと、家のルーターの代わりに「基地局→携帯会社のコア網」を通ってインターネットへ出ます。契約（SIM）の確認も、ここで行われます。</a:t>
            </a:r>
            <a:endParaRPr lang="en-US" sz="1800" dirty="0"/>
          </a:p>
        </p:txBody>
      </p:sp>
      <p:sp>
        <p:nvSpPr>
          <p:cNvPr id="7" name="Shape 4"/>
          <p:cNvSpPr/>
          <p:nvPr/>
        </p:nvSpPr>
        <p:spPr>
          <a:xfrm>
            <a:off x="457200" y="1691640"/>
            <a:ext cx="1828800" cy="914400"/>
          </a:xfrm>
          <a:prstGeom prst="roundRect">
            <a:avLst>
              <a:gd name="adj" fmla="val 12000"/>
            </a:avLst>
          </a:prstGeom>
          <a:solidFill>
            <a:srgbClr val="0B7A7A"/>
          </a:solidFill>
          <a:ln/>
        </p:spPr>
      </p:sp>
      <p:sp>
        <p:nvSpPr>
          <p:cNvPr id="8" name="Text 5"/>
          <p:cNvSpPr txBox="1"/>
          <p:nvPr/>
        </p:nvSpPr>
        <p:spPr>
          <a:xfrm>
            <a:off x="548640" y="1691640"/>
            <a:ext cx="164592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iPhone</a:t>
            </a:r>
            <a:endParaRPr lang="en-US" sz="1800" dirty="0"/>
          </a:p>
        </p:txBody>
      </p:sp>
      <p:sp>
        <p:nvSpPr>
          <p:cNvPr id="9" name="Shape 6"/>
          <p:cNvSpPr/>
          <p:nvPr/>
        </p:nvSpPr>
        <p:spPr>
          <a:xfrm>
            <a:off x="2697480" y="1691640"/>
            <a:ext cx="1828800" cy="914400"/>
          </a:xfrm>
          <a:prstGeom prst="roundRect">
            <a:avLst>
              <a:gd name="adj" fmla="val 12000"/>
            </a:avLst>
          </a:prstGeom>
          <a:solidFill>
            <a:srgbClr val="2F6BC2"/>
          </a:solidFill>
          <a:ln/>
        </p:spPr>
      </p:sp>
      <p:sp>
        <p:nvSpPr>
          <p:cNvPr id="10" name="Text 7"/>
          <p:cNvSpPr txBox="1"/>
          <p:nvPr/>
        </p:nvSpPr>
        <p:spPr>
          <a:xfrm>
            <a:off x="2788920" y="1691640"/>
            <a:ext cx="164592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基地局</a:t>
            </a:r>
            <a:endParaRPr lang="en-US" sz="1800" dirty="0"/>
          </a:p>
        </p:txBody>
      </p:sp>
      <p:sp>
        <p:nvSpPr>
          <p:cNvPr id="11" name="Shape 8"/>
          <p:cNvSpPr/>
          <p:nvPr/>
        </p:nvSpPr>
        <p:spPr>
          <a:xfrm>
            <a:off x="4937760" y="1691640"/>
            <a:ext cx="2194560" cy="914400"/>
          </a:xfrm>
          <a:prstGeom prst="roundRect">
            <a:avLst>
              <a:gd name="adj" fmla="val 12000"/>
            </a:avLst>
          </a:prstGeom>
          <a:solidFill>
            <a:srgbClr val="2F6BC2"/>
          </a:solidFill>
          <a:ln/>
        </p:spPr>
      </p:sp>
      <p:sp>
        <p:nvSpPr>
          <p:cNvPr id="12" name="Text 9"/>
          <p:cNvSpPr txBox="1"/>
          <p:nvPr/>
        </p:nvSpPr>
        <p:spPr>
          <a:xfrm>
            <a:off x="5029200" y="1691640"/>
            <a:ext cx="201168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コア網</a:t>
            </a:r>
            <a:endParaRPr lang="en-US" sz="1800" dirty="0"/>
          </a:p>
        </p:txBody>
      </p:sp>
      <p:sp>
        <p:nvSpPr>
          <p:cNvPr id="13" name="Shape 10"/>
          <p:cNvSpPr/>
          <p:nvPr/>
        </p:nvSpPr>
        <p:spPr>
          <a:xfrm>
            <a:off x="7543800" y="1691640"/>
            <a:ext cx="1920240" cy="914400"/>
          </a:xfrm>
          <a:prstGeom prst="roundRect">
            <a:avLst>
              <a:gd name="adj" fmla="val 12000"/>
            </a:avLst>
          </a:prstGeom>
          <a:solidFill>
            <a:srgbClr val="2F6BC2"/>
          </a:solidFill>
          <a:ln/>
        </p:spPr>
      </p:sp>
      <p:sp>
        <p:nvSpPr>
          <p:cNvPr id="14" name="Text 11"/>
          <p:cNvSpPr txBox="1"/>
          <p:nvPr/>
        </p:nvSpPr>
        <p:spPr>
          <a:xfrm>
            <a:off x="7635240" y="1691640"/>
            <a:ext cx="173736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インターネット</a:t>
            </a:r>
            <a:endParaRPr lang="en-US" sz="1800" dirty="0"/>
          </a:p>
        </p:txBody>
      </p:sp>
      <p:sp>
        <p:nvSpPr>
          <p:cNvPr id="15" name="Shape 12"/>
          <p:cNvSpPr/>
          <p:nvPr/>
        </p:nvSpPr>
        <p:spPr>
          <a:xfrm>
            <a:off x="9921240" y="1691640"/>
            <a:ext cx="1810512" cy="914400"/>
          </a:xfrm>
          <a:prstGeom prst="roundRect">
            <a:avLst>
              <a:gd name="adj" fmla="val 12000"/>
            </a:avLst>
          </a:prstGeom>
          <a:solidFill>
            <a:srgbClr val="5B46B8"/>
          </a:solidFill>
          <a:ln/>
        </p:spPr>
      </p:sp>
      <p:sp>
        <p:nvSpPr>
          <p:cNvPr id="16" name="Text 13"/>
          <p:cNvSpPr txBox="1"/>
          <p:nvPr/>
        </p:nvSpPr>
        <p:spPr>
          <a:xfrm>
            <a:off x="10012680" y="1691640"/>
            <a:ext cx="1627632"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サービス</a:t>
            </a:r>
            <a:endParaRPr lang="en-US" sz="1800" dirty="0"/>
          </a:p>
        </p:txBody>
      </p:sp>
      <p:sp>
        <p:nvSpPr>
          <p:cNvPr id="17" name="Shape 14"/>
          <p:cNvSpPr/>
          <p:nvPr/>
        </p:nvSpPr>
        <p:spPr>
          <a:xfrm>
            <a:off x="2286000" y="2148840"/>
            <a:ext cx="411480" cy="0"/>
          </a:xfrm>
          <a:prstGeom prst="line">
            <a:avLst/>
          </a:prstGeom>
          <a:noFill/>
          <a:ln w="38100">
            <a:solidFill>
              <a:srgbClr val="1B2A3A"/>
            </a:solidFill>
            <a:prstDash val="dash"/>
            <a:tailEnd type="triangle"/>
          </a:ln>
        </p:spPr>
      </p:sp>
      <p:sp>
        <p:nvSpPr>
          <p:cNvPr id="18" name="Shape 15"/>
          <p:cNvSpPr/>
          <p:nvPr/>
        </p:nvSpPr>
        <p:spPr>
          <a:xfrm>
            <a:off x="4526280" y="2148840"/>
            <a:ext cx="411480" cy="0"/>
          </a:xfrm>
          <a:prstGeom prst="line">
            <a:avLst/>
          </a:prstGeom>
          <a:noFill/>
          <a:ln w="38100">
            <a:solidFill>
              <a:srgbClr val="1B2A3A"/>
            </a:solidFill>
            <a:prstDash val="solid"/>
            <a:tailEnd type="triangle"/>
          </a:ln>
        </p:spPr>
      </p:sp>
      <p:sp>
        <p:nvSpPr>
          <p:cNvPr id="19" name="Shape 16"/>
          <p:cNvSpPr/>
          <p:nvPr/>
        </p:nvSpPr>
        <p:spPr>
          <a:xfrm>
            <a:off x="7132320" y="2148840"/>
            <a:ext cx="411480" cy="0"/>
          </a:xfrm>
          <a:prstGeom prst="line">
            <a:avLst/>
          </a:prstGeom>
          <a:noFill/>
          <a:ln w="38100">
            <a:solidFill>
              <a:srgbClr val="1B2A3A"/>
            </a:solidFill>
            <a:prstDash val="solid"/>
            <a:tailEnd type="triangle"/>
          </a:ln>
        </p:spPr>
      </p:sp>
      <p:sp>
        <p:nvSpPr>
          <p:cNvPr id="20" name="Shape 17"/>
          <p:cNvSpPr/>
          <p:nvPr/>
        </p:nvSpPr>
        <p:spPr>
          <a:xfrm>
            <a:off x="9464040" y="2148840"/>
            <a:ext cx="457200" cy="0"/>
          </a:xfrm>
          <a:prstGeom prst="line">
            <a:avLst/>
          </a:prstGeom>
          <a:noFill/>
          <a:ln w="38100">
            <a:solidFill>
              <a:srgbClr val="1B2A3A"/>
            </a:solidFill>
            <a:prstDash val="solid"/>
            <a:tailEnd type="triangle"/>
          </a:ln>
        </p:spPr>
      </p:sp>
      <p:sp>
        <p:nvSpPr>
          <p:cNvPr id="21" name="Text 18"/>
          <p:cNvSpPr txBox="1"/>
          <p:nvPr/>
        </p:nvSpPr>
        <p:spPr>
          <a:xfrm>
            <a:off x="2286000" y="2651760"/>
            <a:ext cx="822960" cy="32004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電波</a:t>
            </a:r>
            <a:endParaRPr lang="en-US" sz="1800" dirty="0"/>
          </a:p>
        </p:txBody>
      </p:sp>
      <p:sp>
        <p:nvSpPr>
          <p:cNvPr id="22" name="Text 19"/>
          <p:cNvSpPr txBox="1"/>
          <p:nvPr/>
        </p:nvSpPr>
        <p:spPr>
          <a:xfrm>
            <a:off x="3154680" y="2651760"/>
            <a:ext cx="3291840"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バックホール（光回線など）</a:t>
            </a:r>
            <a:endParaRPr lang="en-US" sz="1800" dirty="0"/>
          </a:p>
        </p:txBody>
      </p:sp>
      <p:sp>
        <p:nvSpPr>
          <p:cNvPr id="23" name="Shape 20"/>
          <p:cNvSpPr/>
          <p:nvPr/>
        </p:nvSpPr>
        <p:spPr>
          <a:xfrm>
            <a:off x="457200" y="3108960"/>
            <a:ext cx="5532120" cy="731520"/>
          </a:xfrm>
          <a:prstGeom prst="roundRect">
            <a:avLst>
              <a:gd name="adj" fmla="val 15000"/>
            </a:avLst>
          </a:prstGeom>
          <a:solidFill>
            <a:srgbClr val="FDEBD0"/>
          </a:solidFill>
          <a:ln w="25400">
            <a:solidFill>
              <a:srgbClr val="B45309"/>
            </a:solidFill>
            <a:prstDash val="dash"/>
          </a:ln>
        </p:spPr>
      </p:sp>
      <p:sp>
        <p:nvSpPr>
          <p:cNvPr id="24" name="Text 21"/>
          <p:cNvSpPr txBox="1"/>
          <p:nvPr/>
        </p:nvSpPr>
        <p:spPr>
          <a:xfrm>
            <a:off x="548640" y="3108960"/>
            <a:ext cx="5349240" cy="7315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接続を管理：契約確認・基地局の切替・設定</a:t>
            </a:r>
            <a:endParaRPr lang="en-US" sz="1800" dirty="0"/>
          </a:p>
        </p:txBody>
      </p:sp>
      <p:sp>
        <p:nvSpPr>
          <p:cNvPr id="25" name="Shape 22"/>
          <p:cNvSpPr/>
          <p:nvPr/>
        </p:nvSpPr>
        <p:spPr>
          <a:xfrm>
            <a:off x="6199632" y="3108960"/>
            <a:ext cx="5532120" cy="731520"/>
          </a:xfrm>
          <a:prstGeom prst="roundRect">
            <a:avLst>
              <a:gd name="adj" fmla="val 15000"/>
            </a:avLst>
          </a:prstGeom>
          <a:solidFill>
            <a:srgbClr val="DCE8F8"/>
          </a:solidFill>
          <a:ln w="25400">
            <a:solidFill>
              <a:srgbClr val="2F6BC2"/>
            </a:solidFill>
            <a:prstDash val="solid"/>
          </a:ln>
        </p:spPr>
      </p:sp>
      <p:sp>
        <p:nvSpPr>
          <p:cNvPr id="26" name="Text 23"/>
          <p:cNvSpPr txBox="1"/>
          <p:nvPr/>
        </p:nvSpPr>
        <p:spPr>
          <a:xfrm>
            <a:off x="6291072" y="3108960"/>
            <a:ext cx="5349240" cy="7315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データを運ぶ：質問文・ゲーム操作など</a:t>
            </a:r>
            <a:endParaRPr lang="en-US" sz="1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3977640"/>
          <a:ext cx="11274552" cy="914400"/>
        </p:xfrm>
        <a:graphic>
          <a:graphicData uri="http://schemas.openxmlformats.org/drawingml/2006/table">
            <a:tbl>
              <a:tblPr/>
              <a:tblGrid>
                <a:gridCol w="2651760"/>
                <a:gridCol w="4297680"/>
                <a:gridCol w="43251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段階</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自宅Wi-Fi</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4G／5G</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2062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最初の接続先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自宅のアクセスポイント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携帯電話の基地局</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本人確認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Wi-Fiの設定など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SIM／eSIMの契約情報</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2062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外へ出る経路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自宅ルーターと固定回線</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携帯会社のコア網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アドレス設定・NAT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家庭のDHCP・自宅でNAT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携帯会社側（NATの場合あり）</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地下と通信品質</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8134807"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地下で電波が弱いのは、遮蔽物が電波を弱めるから</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地下では、土やコンクリートが電波を吸収し、金属が反射するため、端末に届く電波が弱くなります。左の図は電波が弱まる様子、右の表は原因の一覧です。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出典：[B06]</a:t>
            </a:r>
            <a:endParaRPr lang="ja-JP" sz="1200" dirty="0"/>
          </a:p>
        </p:txBody>
      </p:sp>
      <p:sp>
        <p:nvSpPr>
          <p:cNvPr id="9" name="Shape 6"/>
          <p:cNvSpPr/>
          <p:nvPr/>
        </p:nvSpPr>
        <p:spPr>
          <a:xfrm>
            <a:off x="457200" y="1691640"/>
            <a:ext cx="3931920" cy="777240"/>
          </a:xfrm>
          <a:prstGeom prst="roundRect">
            <a:avLst>
              <a:gd name="adj" fmla="val 14118"/>
            </a:avLst>
          </a:prstGeom>
          <a:solidFill>
            <a:srgbClr val="2F6BC2"/>
          </a:solidFill>
          <a:ln/>
        </p:spPr>
      </p:sp>
      <p:sp>
        <p:nvSpPr>
          <p:cNvPr id="10" name="Shape 7"/>
          <p:cNvSpPr/>
          <p:nvPr/>
        </p:nvSpPr>
        <p:spPr>
          <a:xfrm>
            <a:off x="585216" y="1805940"/>
            <a:ext cx="548640" cy="548640"/>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705917" y="1926641"/>
            <a:ext cx="307238" cy="307238"/>
          </a:xfrm>
          <a:prstGeom prst="rect">
            <a:avLst/>
          </a:prstGeom>
        </p:spPr>
      </p:pic>
      <p:sp>
        <p:nvSpPr>
          <p:cNvPr id="12" name="Text 8"/>
          <p:cNvSpPr txBox="1"/>
          <p:nvPr/>
        </p:nvSpPr>
        <p:spPr>
          <a:xfrm>
            <a:off x="1225296" y="1691640"/>
            <a:ext cx="3072384" cy="7772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地上の基地局</a:t>
            </a:r>
            <a:endParaRPr lang="en-US" sz="2000" dirty="0"/>
          </a:p>
        </p:txBody>
      </p:sp>
      <p:sp>
        <p:nvSpPr>
          <p:cNvPr id="13" name="Shape 9"/>
          <p:cNvSpPr/>
          <p:nvPr/>
        </p:nvSpPr>
        <p:spPr>
          <a:xfrm>
            <a:off x="2423160" y="2487168"/>
            <a:ext cx="0" cy="393192"/>
          </a:xfrm>
          <a:prstGeom prst="line">
            <a:avLst/>
          </a:prstGeom>
          <a:noFill/>
          <a:ln w="88900">
            <a:solidFill>
              <a:srgbClr val="2F6BC2"/>
            </a:solidFill>
            <a:prstDash val="solid"/>
            <a:tailEnd type="triangle"/>
          </a:ln>
        </p:spPr>
      </p:sp>
      <p:sp>
        <p:nvSpPr>
          <p:cNvPr id="14" name="Shape 10"/>
          <p:cNvSpPr/>
          <p:nvPr/>
        </p:nvSpPr>
        <p:spPr>
          <a:xfrm>
            <a:off x="457200" y="2880360"/>
            <a:ext cx="3931920" cy="685800"/>
          </a:xfrm>
          <a:prstGeom prst="roundRect">
            <a:avLst>
              <a:gd name="adj" fmla="val 10667"/>
            </a:avLst>
          </a:prstGeom>
          <a:solidFill>
            <a:srgbClr val="D6D3D1"/>
          </a:solidFill>
          <a:ln/>
        </p:spPr>
      </p:sp>
      <p:sp>
        <p:nvSpPr>
          <p:cNvPr id="15" name="Text 11"/>
          <p:cNvSpPr txBox="1"/>
          <p:nvPr/>
        </p:nvSpPr>
        <p:spPr>
          <a:xfrm>
            <a:off x="548640" y="2880360"/>
            <a:ext cx="3749040"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土・コンクリート（吸収）</a:t>
            </a:r>
            <a:endParaRPr lang="en-US" sz="1800" dirty="0"/>
          </a:p>
        </p:txBody>
      </p:sp>
      <p:sp>
        <p:nvSpPr>
          <p:cNvPr id="16" name="Shape 12"/>
          <p:cNvSpPr/>
          <p:nvPr/>
        </p:nvSpPr>
        <p:spPr>
          <a:xfrm>
            <a:off x="2423160" y="3584448"/>
            <a:ext cx="0" cy="256032"/>
          </a:xfrm>
          <a:prstGeom prst="line">
            <a:avLst/>
          </a:prstGeom>
          <a:noFill/>
          <a:ln w="50800">
            <a:solidFill>
              <a:srgbClr val="2F6BC2"/>
            </a:solidFill>
            <a:prstDash val="solid"/>
            <a:tailEnd type="triangle"/>
          </a:ln>
        </p:spPr>
      </p:sp>
      <p:sp>
        <p:nvSpPr>
          <p:cNvPr id="17" name="Shape 13"/>
          <p:cNvSpPr/>
          <p:nvPr/>
        </p:nvSpPr>
        <p:spPr>
          <a:xfrm>
            <a:off x="457200" y="3840480"/>
            <a:ext cx="3931920" cy="685800"/>
          </a:xfrm>
          <a:prstGeom prst="roundRect">
            <a:avLst>
              <a:gd name="adj" fmla="val 10667"/>
            </a:avLst>
          </a:prstGeom>
          <a:solidFill>
            <a:srgbClr val="CBD5E1"/>
          </a:solidFill>
          <a:ln/>
        </p:spPr>
      </p:sp>
      <p:sp>
        <p:nvSpPr>
          <p:cNvPr id="18" name="Text 14"/>
          <p:cNvSpPr txBox="1"/>
          <p:nvPr/>
        </p:nvSpPr>
        <p:spPr>
          <a:xfrm>
            <a:off x="548640" y="3840480"/>
            <a:ext cx="3749040"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金属（反射）</a:t>
            </a:r>
            <a:endParaRPr lang="en-US" sz="1800" dirty="0"/>
          </a:p>
        </p:txBody>
      </p:sp>
      <p:sp>
        <p:nvSpPr>
          <p:cNvPr id="19" name="Shape 15"/>
          <p:cNvSpPr/>
          <p:nvPr/>
        </p:nvSpPr>
        <p:spPr>
          <a:xfrm>
            <a:off x="2423160" y="4544568"/>
            <a:ext cx="0" cy="530352"/>
          </a:xfrm>
          <a:prstGeom prst="line">
            <a:avLst/>
          </a:prstGeom>
          <a:noFill/>
          <a:ln w="19050">
            <a:solidFill>
              <a:srgbClr val="2F6BC2"/>
            </a:solidFill>
            <a:prstDash val="solid"/>
            <a:tailEnd type="triangle"/>
          </a:ln>
        </p:spPr>
      </p:sp>
      <p:sp>
        <p:nvSpPr>
          <p:cNvPr id="20" name="Shape 16"/>
          <p:cNvSpPr/>
          <p:nvPr/>
        </p:nvSpPr>
        <p:spPr>
          <a:xfrm>
            <a:off x="457200" y="5120640"/>
            <a:ext cx="3931920" cy="1143000"/>
          </a:xfrm>
          <a:prstGeom prst="roundRect">
            <a:avLst>
              <a:gd name="adj" fmla="val 9600"/>
            </a:avLst>
          </a:prstGeom>
          <a:solidFill>
            <a:srgbClr val="0B7A7A"/>
          </a:solidFill>
          <a:ln/>
        </p:spPr>
      </p:sp>
      <p:sp>
        <p:nvSpPr>
          <p:cNvPr id="21" name="Shape 17"/>
          <p:cNvSpPr/>
          <p:nvPr/>
        </p:nvSpPr>
        <p:spPr>
          <a:xfrm>
            <a:off x="585216" y="5417820"/>
            <a:ext cx="548640" cy="548640"/>
          </a:xfrm>
          <a:prstGeom prst="ellipse">
            <a:avLst/>
          </a:prstGeom>
          <a:solidFill>
            <a:srgbClr val="FFFFFF"/>
          </a:solidFill>
          <a:ln/>
        </p:spPr>
      </p:sp>
      <p:pic>
        <p:nvPicPr>
          <p:cNvPr id="22" name="Image 1" descr="preencoded.png">    </p:cNvPr>
          <p:cNvPicPr>
            <a:picLocks noChangeAspect="1"/>
          </p:cNvPicPr>
          <p:nvPr/>
        </p:nvPicPr>
        <p:blipFill>
          <a:blip r:embed="rId2"/>
          <a:stretch>
            <a:fillRect/>
          </a:stretch>
        </p:blipFill>
        <p:spPr>
          <a:xfrm>
            <a:off x="705917" y="5538521"/>
            <a:ext cx="307238" cy="307238"/>
          </a:xfrm>
          <a:prstGeom prst="rect">
            <a:avLst/>
          </a:prstGeom>
        </p:spPr>
      </p:pic>
      <p:sp>
        <p:nvSpPr>
          <p:cNvPr id="23" name="Text 18"/>
          <p:cNvSpPr txBox="1"/>
          <p:nvPr/>
        </p:nvSpPr>
        <p:spPr>
          <a:xfrm>
            <a:off x="1225296" y="5120640"/>
            <a:ext cx="3072384"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地下の端末</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届く電波は少ない</a:t>
            </a:r>
            <a:endParaRPr lang="en-US" sz="2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663440" y="1691640"/>
          <a:ext cx="7068312" cy="914400"/>
        </p:xfrm>
        <a:graphic>
          <a:graphicData uri="http://schemas.openxmlformats.org/drawingml/2006/table">
            <a:tbl>
              <a:tblPr/>
              <a:tblGrid>
                <a:gridCol w="1783080"/>
                <a:gridCol w="3108960"/>
                <a:gridCol w="21762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原因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起きていること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場所</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遮蔽物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土やコンクリートで減衰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地下・建物の奥</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金属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電波を反射して届きにくい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エレベーター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距離</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基地局やAPから遠い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範囲の端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建物構造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入口や窓の電波が奥まで届かない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地下街・半地下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干渉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他の通信が受信の邪魔をする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混雑したWi-Fi</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基地局の配置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その場所をカバーする設備がない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山間部など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地下と通信品質</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電波が届くことと速いことは別。混雑と周波数も効く</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電波が強くても、人が多いと通信の取り分が減って遅くなります。また周波数によって「届きやすさ」と「速さ」の得意不得意が違います。</a:t>
            </a:r>
            <a:endParaRPr lang="en-US" sz="1800" dirty="0"/>
          </a:p>
        </p:txBody>
      </p:sp>
      <p:sp>
        <p:nvSpPr>
          <p:cNvPr id="7" name="Text 4"/>
          <p:cNvSpPr txBox="1"/>
          <p:nvPr/>
        </p:nvSpPr>
        <p:spPr>
          <a:xfrm>
            <a:off x="457200" y="1783080"/>
            <a:ext cx="59436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空いている時間（自分の取り分：大）</a:t>
            </a:r>
            <a:endParaRPr lang="en-US" sz="2000" dirty="0"/>
          </a:p>
        </p:txBody>
      </p:sp>
      <p:sp>
        <p:nvSpPr>
          <p:cNvPr id="8" name="Shape 5"/>
          <p:cNvSpPr/>
          <p:nvPr/>
        </p:nvSpPr>
        <p:spPr>
          <a:xfrm>
            <a:off x="457200" y="2240280"/>
            <a:ext cx="402336" cy="457200"/>
          </a:xfrm>
          <a:prstGeom prst="roundRect">
            <a:avLst>
              <a:gd name="adj" fmla="val 13636"/>
            </a:avLst>
          </a:prstGeom>
          <a:solidFill>
            <a:srgbClr val="0B7A7A"/>
          </a:solidFill>
          <a:ln/>
        </p:spPr>
      </p:sp>
      <p:sp>
        <p:nvSpPr>
          <p:cNvPr id="9" name="Shape 6"/>
          <p:cNvSpPr/>
          <p:nvPr/>
        </p:nvSpPr>
        <p:spPr>
          <a:xfrm>
            <a:off x="932688" y="2240280"/>
            <a:ext cx="402336" cy="457200"/>
          </a:xfrm>
          <a:prstGeom prst="roundRect">
            <a:avLst>
              <a:gd name="adj" fmla="val 13636"/>
            </a:avLst>
          </a:prstGeom>
          <a:solidFill>
            <a:srgbClr val="0B7A7A"/>
          </a:solidFill>
          <a:ln/>
        </p:spPr>
      </p:sp>
      <p:sp>
        <p:nvSpPr>
          <p:cNvPr id="10" name="Shape 7"/>
          <p:cNvSpPr/>
          <p:nvPr/>
        </p:nvSpPr>
        <p:spPr>
          <a:xfrm>
            <a:off x="1408176" y="2240280"/>
            <a:ext cx="402336" cy="457200"/>
          </a:xfrm>
          <a:prstGeom prst="roundRect">
            <a:avLst>
              <a:gd name="adj" fmla="val 13636"/>
            </a:avLst>
          </a:prstGeom>
          <a:solidFill>
            <a:srgbClr val="0B7A7A"/>
          </a:solidFill>
          <a:ln/>
        </p:spPr>
      </p:sp>
      <p:sp>
        <p:nvSpPr>
          <p:cNvPr id="11" name="Shape 8"/>
          <p:cNvSpPr/>
          <p:nvPr/>
        </p:nvSpPr>
        <p:spPr>
          <a:xfrm>
            <a:off x="1883664" y="2240280"/>
            <a:ext cx="402336" cy="457200"/>
          </a:xfrm>
          <a:prstGeom prst="roundRect">
            <a:avLst>
              <a:gd name="adj" fmla="val 13636"/>
            </a:avLst>
          </a:prstGeom>
          <a:solidFill>
            <a:srgbClr val="0B7A7A"/>
          </a:solidFill>
          <a:ln/>
        </p:spPr>
      </p:sp>
      <p:sp>
        <p:nvSpPr>
          <p:cNvPr id="12" name="Shape 9"/>
          <p:cNvSpPr/>
          <p:nvPr/>
        </p:nvSpPr>
        <p:spPr>
          <a:xfrm>
            <a:off x="2359152" y="2240280"/>
            <a:ext cx="402336" cy="457200"/>
          </a:xfrm>
          <a:prstGeom prst="roundRect">
            <a:avLst>
              <a:gd name="adj" fmla="val 13636"/>
            </a:avLst>
          </a:prstGeom>
          <a:solidFill>
            <a:srgbClr val="CBD5E1"/>
          </a:solidFill>
          <a:ln/>
        </p:spPr>
      </p:sp>
      <p:sp>
        <p:nvSpPr>
          <p:cNvPr id="13" name="Shape 10"/>
          <p:cNvSpPr/>
          <p:nvPr/>
        </p:nvSpPr>
        <p:spPr>
          <a:xfrm>
            <a:off x="2834640" y="2240280"/>
            <a:ext cx="402336" cy="457200"/>
          </a:xfrm>
          <a:prstGeom prst="roundRect">
            <a:avLst>
              <a:gd name="adj" fmla="val 13636"/>
            </a:avLst>
          </a:prstGeom>
          <a:solidFill>
            <a:srgbClr val="CBD5E1"/>
          </a:solidFill>
          <a:ln/>
        </p:spPr>
      </p:sp>
      <p:sp>
        <p:nvSpPr>
          <p:cNvPr id="14" name="Shape 11"/>
          <p:cNvSpPr/>
          <p:nvPr/>
        </p:nvSpPr>
        <p:spPr>
          <a:xfrm>
            <a:off x="3310128" y="2240280"/>
            <a:ext cx="402336" cy="457200"/>
          </a:xfrm>
          <a:prstGeom prst="roundRect">
            <a:avLst>
              <a:gd name="adj" fmla="val 13636"/>
            </a:avLst>
          </a:prstGeom>
          <a:solidFill>
            <a:srgbClr val="CBD5E1"/>
          </a:solidFill>
          <a:ln/>
        </p:spPr>
      </p:sp>
      <p:sp>
        <p:nvSpPr>
          <p:cNvPr id="15" name="Shape 12"/>
          <p:cNvSpPr/>
          <p:nvPr/>
        </p:nvSpPr>
        <p:spPr>
          <a:xfrm>
            <a:off x="3785616" y="2240280"/>
            <a:ext cx="402336" cy="457200"/>
          </a:xfrm>
          <a:prstGeom prst="roundRect">
            <a:avLst>
              <a:gd name="adj" fmla="val 13636"/>
            </a:avLst>
          </a:prstGeom>
          <a:solidFill>
            <a:srgbClr val="CBD5E1"/>
          </a:solidFill>
          <a:ln/>
        </p:spPr>
      </p:sp>
      <p:sp>
        <p:nvSpPr>
          <p:cNvPr id="16" name="Shape 13"/>
          <p:cNvSpPr/>
          <p:nvPr/>
        </p:nvSpPr>
        <p:spPr>
          <a:xfrm>
            <a:off x="4261104" y="2240280"/>
            <a:ext cx="402336" cy="457200"/>
          </a:xfrm>
          <a:prstGeom prst="roundRect">
            <a:avLst>
              <a:gd name="adj" fmla="val 13636"/>
            </a:avLst>
          </a:prstGeom>
          <a:solidFill>
            <a:srgbClr val="CBD5E1"/>
          </a:solidFill>
          <a:ln/>
        </p:spPr>
      </p:sp>
      <p:sp>
        <p:nvSpPr>
          <p:cNvPr id="17" name="Shape 14"/>
          <p:cNvSpPr/>
          <p:nvPr/>
        </p:nvSpPr>
        <p:spPr>
          <a:xfrm>
            <a:off x="4736592" y="2240280"/>
            <a:ext cx="402336" cy="457200"/>
          </a:xfrm>
          <a:prstGeom prst="roundRect">
            <a:avLst>
              <a:gd name="adj" fmla="val 13636"/>
            </a:avLst>
          </a:prstGeom>
          <a:solidFill>
            <a:srgbClr val="CBD5E1"/>
          </a:solidFill>
          <a:ln/>
        </p:spPr>
      </p:sp>
      <p:sp>
        <p:nvSpPr>
          <p:cNvPr id="18" name="Shape 15"/>
          <p:cNvSpPr/>
          <p:nvPr/>
        </p:nvSpPr>
        <p:spPr>
          <a:xfrm>
            <a:off x="5212080" y="2240280"/>
            <a:ext cx="402336" cy="457200"/>
          </a:xfrm>
          <a:prstGeom prst="roundRect">
            <a:avLst>
              <a:gd name="adj" fmla="val 13636"/>
            </a:avLst>
          </a:prstGeom>
          <a:solidFill>
            <a:srgbClr val="CBD5E1"/>
          </a:solidFill>
          <a:ln/>
        </p:spPr>
      </p:sp>
      <p:sp>
        <p:nvSpPr>
          <p:cNvPr id="19" name="Shape 16"/>
          <p:cNvSpPr/>
          <p:nvPr/>
        </p:nvSpPr>
        <p:spPr>
          <a:xfrm>
            <a:off x="5687568" y="2240280"/>
            <a:ext cx="402336" cy="457200"/>
          </a:xfrm>
          <a:prstGeom prst="roundRect">
            <a:avLst>
              <a:gd name="adj" fmla="val 13636"/>
            </a:avLst>
          </a:prstGeom>
          <a:solidFill>
            <a:srgbClr val="CBD5E1"/>
          </a:solidFill>
          <a:ln/>
        </p:spPr>
      </p:sp>
      <p:sp>
        <p:nvSpPr>
          <p:cNvPr id="20" name="Text 17"/>
          <p:cNvSpPr txBox="1"/>
          <p:nvPr/>
        </p:nvSpPr>
        <p:spPr>
          <a:xfrm>
            <a:off x="457200" y="3063240"/>
            <a:ext cx="59436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C0392B"/>
                </a:solidFill>
                <a:latin typeface="Yu Gothic" pitchFamily="34" charset="0"/>
                <a:ea typeface="Yu Gothic" pitchFamily="34" charset="-122"/>
                <a:cs typeface="Yu Gothic" pitchFamily="34" charset="-120"/>
              </a:rPr>
              <a:t>混雑時（自分の取り分：小）</a:t>
            </a:r>
            <a:endParaRPr lang="en-US" sz="2000" dirty="0"/>
          </a:p>
        </p:txBody>
      </p:sp>
      <p:sp>
        <p:nvSpPr>
          <p:cNvPr id="21" name="Shape 18"/>
          <p:cNvSpPr/>
          <p:nvPr/>
        </p:nvSpPr>
        <p:spPr>
          <a:xfrm>
            <a:off x="457200" y="3520440"/>
            <a:ext cx="402336" cy="457200"/>
          </a:xfrm>
          <a:prstGeom prst="roundRect">
            <a:avLst>
              <a:gd name="adj" fmla="val 13636"/>
            </a:avLst>
          </a:prstGeom>
          <a:solidFill>
            <a:srgbClr val="0B7A7A"/>
          </a:solidFill>
          <a:ln/>
        </p:spPr>
      </p:sp>
      <p:sp>
        <p:nvSpPr>
          <p:cNvPr id="22" name="Shape 19"/>
          <p:cNvSpPr/>
          <p:nvPr/>
        </p:nvSpPr>
        <p:spPr>
          <a:xfrm>
            <a:off x="932688" y="3520440"/>
            <a:ext cx="402336" cy="457200"/>
          </a:xfrm>
          <a:prstGeom prst="roundRect">
            <a:avLst>
              <a:gd name="adj" fmla="val 13636"/>
            </a:avLst>
          </a:prstGeom>
          <a:solidFill>
            <a:srgbClr val="CBD5E1"/>
          </a:solidFill>
          <a:ln/>
        </p:spPr>
      </p:sp>
      <p:sp>
        <p:nvSpPr>
          <p:cNvPr id="23" name="Shape 20"/>
          <p:cNvSpPr/>
          <p:nvPr/>
        </p:nvSpPr>
        <p:spPr>
          <a:xfrm>
            <a:off x="1408176" y="3520440"/>
            <a:ext cx="402336" cy="457200"/>
          </a:xfrm>
          <a:prstGeom prst="roundRect">
            <a:avLst>
              <a:gd name="adj" fmla="val 13636"/>
            </a:avLst>
          </a:prstGeom>
          <a:solidFill>
            <a:srgbClr val="CBD5E1"/>
          </a:solidFill>
          <a:ln/>
        </p:spPr>
      </p:sp>
      <p:sp>
        <p:nvSpPr>
          <p:cNvPr id="24" name="Shape 21"/>
          <p:cNvSpPr/>
          <p:nvPr/>
        </p:nvSpPr>
        <p:spPr>
          <a:xfrm>
            <a:off x="1883664" y="3520440"/>
            <a:ext cx="402336" cy="457200"/>
          </a:xfrm>
          <a:prstGeom prst="roundRect">
            <a:avLst>
              <a:gd name="adj" fmla="val 13636"/>
            </a:avLst>
          </a:prstGeom>
          <a:solidFill>
            <a:srgbClr val="CBD5E1"/>
          </a:solidFill>
          <a:ln/>
        </p:spPr>
      </p:sp>
      <p:sp>
        <p:nvSpPr>
          <p:cNvPr id="25" name="Shape 22"/>
          <p:cNvSpPr/>
          <p:nvPr/>
        </p:nvSpPr>
        <p:spPr>
          <a:xfrm>
            <a:off x="2359152" y="3520440"/>
            <a:ext cx="402336" cy="457200"/>
          </a:xfrm>
          <a:prstGeom prst="roundRect">
            <a:avLst>
              <a:gd name="adj" fmla="val 13636"/>
            </a:avLst>
          </a:prstGeom>
          <a:solidFill>
            <a:srgbClr val="CBD5E1"/>
          </a:solidFill>
          <a:ln/>
        </p:spPr>
      </p:sp>
      <p:sp>
        <p:nvSpPr>
          <p:cNvPr id="26" name="Shape 23"/>
          <p:cNvSpPr/>
          <p:nvPr/>
        </p:nvSpPr>
        <p:spPr>
          <a:xfrm>
            <a:off x="2834640" y="3520440"/>
            <a:ext cx="402336" cy="457200"/>
          </a:xfrm>
          <a:prstGeom prst="roundRect">
            <a:avLst>
              <a:gd name="adj" fmla="val 13636"/>
            </a:avLst>
          </a:prstGeom>
          <a:solidFill>
            <a:srgbClr val="CBD5E1"/>
          </a:solidFill>
          <a:ln/>
        </p:spPr>
      </p:sp>
      <p:sp>
        <p:nvSpPr>
          <p:cNvPr id="27" name="Shape 24"/>
          <p:cNvSpPr/>
          <p:nvPr/>
        </p:nvSpPr>
        <p:spPr>
          <a:xfrm>
            <a:off x="3310128" y="3520440"/>
            <a:ext cx="402336" cy="457200"/>
          </a:xfrm>
          <a:prstGeom prst="roundRect">
            <a:avLst>
              <a:gd name="adj" fmla="val 13636"/>
            </a:avLst>
          </a:prstGeom>
          <a:solidFill>
            <a:srgbClr val="CBD5E1"/>
          </a:solidFill>
          <a:ln/>
        </p:spPr>
      </p:sp>
      <p:sp>
        <p:nvSpPr>
          <p:cNvPr id="28" name="Shape 25"/>
          <p:cNvSpPr/>
          <p:nvPr/>
        </p:nvSpPr>
        <p:spPr>
          <a:xfrm>
            <a:off x="3785616" y="3520440"/>
            <a:ext cx="402336" cy="457200"/>
          </a:xfrm>
          <a:prstGeom prst="roundRect">
            <a:avLst>
              <a:gd name="adj" fmla="val 13636"/>
            </a:avLst>
          </a:prstGeom>
          <a:solidFill>
            <a:srgbClr val="CBD5E1"/>
          </a:solidFill>
          <a:ln/>
        </p:spPr>
      </p:sp>
      <p:sp>
        <p:nvSpPr>
          <p:cNvPr id="29" name="Shape 26"/>
          <p:cNvSpPr/>
          <p:nvPr/>
        </p:nvSpPr>
        <p:spPr>
          <a:xfrm>
            <a:off x="4261104" y="3520440"/>
            <a:ext cx="402336" cy="457200"/>
          </a:xfrm>
          <a:prstGeom prst="roundRect">
            <a:avLst>
              <a:gd name="adj" fmla="val 13636"/>
            </a:avLst>
          </a:prstGeom>
          <a:solidFill>
            <a:srgbClr val="CBD5E1"/>
          </a:solidFill>
          <a:ln/>
        </p:spPr>
      </p:sp>
      <p:sp>
        <p:nvSpPr>
          <p:cNvPr id="30" name="Shape 27"/>
          <p:cNvSpPr/>
          <p:nvPr/>
        </p:nvSpPr>
        <p:spPr>
          <a:xfrm>
            <a:off x="4736592" y="3520440"/>
            <a:ext cx="402336" cy="457200"/>
          </a:xfrm>
          <a:prstGeom prst="roundRect">
            <a:avLst>
              <a:gd name="adj" fmla="val 13636"/>
            </a:avLst>
          </a:prstGeom>
          <a:solidFill>
            <a:srgbClr val="CBD5E1"/>
          </a:solidFill>
          <a:ln/>
        </p:spPr>
      </p:sp>
      <p:sp>
        <p:nvSpPr>
          <p:cNvPr id="31" name="Shape 28"/>
          <p:cNvSpPr/>
          <p:nvPr/>
        </p:nvSpPr>
        <p:spPr>
          <a:xfrm>
            <a:off x="5212080" y="3520440"/>
            <a:ext cx="402336" cy="457200"/>
          </a:xfrm>
          <a:prstGeom prst="roundRect">
            <a:avLst>
              <a:gd name="adj" fmla="val 13636"/>
            </a:avLst>
          </a:prstGeom>
          <a:solidFill>
            <a:srgbClr val="CBD5E1"/>
          </a:solidFill>
          <a:ln/>
        </p:spPr>
      </p:sp>
      <p:sp>
        <p:nvSpPr>
          <p:cNvPr id="32" name="Shape 29"/>
          <p:cNvSpPr/>
          <p:nvPr/>
        </p:nvSpPr>
        <p:spPr>
          <a:xfrm>
            <a:off x="5687568" y="3520440"/>
            <a:ext cx="402336" cy="457200"/>
          </a:xfrm>
          <a:prstGeom prst="roundRect">
            <a:avLst>
              <a:gd name="adj" fmla="val 13636"/>
            </a:avLst>
          </a:prstGeom>
          <a:solidFill>
            <a:srgbClr val="CBD5E1"/>
          </a:solidFill>
          <a:ln/>
        </p:spPr>
      </p:sp>
      <p:sp>
        <p:nvSpPr>
          <p:cNvPr id="33" name="Shape 30"/>
          <p:cNvSpPr/>
          <p:nvPr/>
        </p:nvSpPr>
        <p:spPr>
          <a:xfrm>
            <a:off x="457200" y="4169664"/>
            <a:ext cx="365760" cy="237744"/>
          </a:xfrm>
          <a:prstGeom prst="roundRect">
            <a:avLst>
              <a:gd name="adj" fmla="val 19231"/>
            </a:avLst>
          </a:prstGeom>
          <a:solidFill>
            <a:srgbClr val="D9F2F1"/>
          </a:solidFill>
          <a:ln w="25400">
            <a:solidFill>
              <a:srgbClr val="0B7A7A"/>
            </a:solidFill>
            <a:prstDash val="solid"/>
          </a:ln>
        </p:spPr>
      </p:sp>
      <p:sp>
        <p:nvSpPr>
          <p:cNvPr id="34" name="Text 31"/>
          <p:cNvSpPr txBox="1"/>
          <p:nvPr/>
        </p:nvSpPr>
        <p:spPr>
          <a:xfrm>
            <a:off x="914400" y="4114800"/>
            <a:ext cx="15087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自分の取り分</a:t>
            </a:r>
            <a:endParaRPr lang="ja-JP" sz="1800" dirty="0"/>
          </a:p>
        </p:txBody>
      </p:sp>
      <p:sp>
        <p:nvSpPr>
          <p:cNvPr id="35" name="Shape 32"/>
          <p:cNvSpPr/>
          <p:nvPr/>
        </p:nvSpPr>
        <p:spPr>
          <a:xfrm>
            <a:off x="2697480" y="4169664"/>
            <a:ext cx="365760" cy="237744"/>
          </a:xfrm>
          <a:prstGeom prst="roundRect">
            <a:avLst>
              <a:gd name="adj" fmla="val 19231"/>
            </a:avLst>
          </a:prstGeom>
          <a:solidFill>
            <a:srgbClr val="E2E8F0"/>
          </a:solidFill>
          <a:ln w="25400">
            <a:solidFill>
              <a:srgbClr val="475569"/>
            </a:solidFill>
            <a:prstDash val="solid"/>
          </a:ln>
        </p:spPr>
      </p:sp>
      <p:sp>
        <p:nvSpPr>
          <p:cNvPr id="36" name="Text 33"/>
          <p:cNvSpPr txBox="1"/>
          <p:nvPr/>
        </p:nvSpPr>
        <p:spPr>
          <a:xfrm>
            <a:off x="3154680" y="4114800"/>
            <a:ext cx="8229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他の人</a:t>
            </a:r>
            <a:endParaRPr lang="ja-JP" sz="1800" dirty="0"/>
          </a:p>
        </p:txBody>
      </p:sp>
      <p:sp>
        <p:nvSpPr>
          <p:cNvPr id="37" name="Text 34"/>
          <p:cNvSpPr txBox="1"/>
          <p:nvPr/>
        </p:nvSpPr>
        <p:spPr>
          <a:xfrm>
            <a:off x="457200" y="4526280"/>
            <a:ext cx="5943600" cy="365760"/>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イメージ図（数は説明用）</a:t>
            </a:r>
            <a:endParaRPr lang="en-US" sz="1800" dirty="0"/>
          </a:p>
        </p:txBody>
      </p:sp>
      <p:sp>
        <p:nvSpPr>
          <p:cNvPr id="38" name="Shape 35"/>
          <p:cNvSpPr/>
          <p:nvPr/>
        </p:nvSpPr>
        <p:spPr>
          <a:xfrm>
            <a:off x="6675120" y="1691640"/>
            <a:ext cx="5056632" cy="3246120"/>
          </a:xfrm>
          <a:prstGeom prst="roundRect">
            <a:avLst>
              <a:gd name="adj" fmla="val 3944"/>
            </a:avLst>
          </a:prstGeom>
          <a:solidFill>
            <a:srgbClr val="DCE8F8"/>
          </a:solidFill>
          <a:ln/>
        </p:spPr>
      </p:sp>
      <p:sp>
        <p:nvSpPr>
          <p:cNvPr id="39" name="Shape 36"/>
          <p:cNvSpPr/>
          <p:nvPr/>
        </p:nvSpPr>
        <p:spPr>
          <a:xfrm>
            <a:off x="6839712" y="1819656"/>
            <a:ext cx="512064" cy="512064"/>
          </a:xfrm>
          <a:prstGeom prst="ellipse">
            <a:avLst/>
          </a:prstGeom>
          <a:solidFill>
            <a:srgbClr val="2F6BC2"/>
          </a:solidFill>
          <a:ln/>
        </p:spPr>
      </p:sp>
      <p:pic>
        <p:nvPicPr>
          <p:cNvPr id="40" name="Image 0" descr="preencoded.png">    </p:cNvPr>
          <p:cNvPicPr>
            <a:picLocks noChangeAspect="1"/>
          </p:cNvPicPr>
          <p:nvPr/>
        </p:nvPicPr>
        <p:blipFill>
          <a:blip r:embed="rId1"/>
          <a:stretch>
            <a:fillRect/>
          </a:stretch>
        </p:blipFill>
        <p:spPr>
          <a:xfrm>
            <a:off x="6952366" y="1932310"/>
            <a:ext cx="286756" cy="286756"/>
          </a:xfrm>
          <a:prstGeom prst="rect">
            <a:avLst/>
          </a:prstGeom>
        </p:spPr>
      </p:pic>
      <p:sp>
        <p:nvSpPr>
          <p:cNvPr id="41" name="Text 37"/>
          <p:cNvSpPr txBox="1"/>
          <p:nvPr/>
        </p:nvSpPr>
        <p:spPr>
          <a:xfrm>
            <a:off x="7461504" y="1819656"/>
            <a:ext cx="4133088"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周波数の一般的な傾向</a:t>
            </a:r>
            <a:endParaRPr lang="en-US" sz="2200" dirty="0"/>
          </a:p>
        </p:txBody>
      </p:sp>
      <p:sp>
        <p:nvSpPr>
          <p:cNvPr id="42" name="Text 38"/>
          <p:cNvSpPr txBox="1"/>
          <p:nvPr/>
        </p:nvSpPr>
        <p:spPr>
          <a:xfrm>
            <a:off x="6858000" y="2423160"/>
            <a:ext cx="4690872" cy="2423160"/>
          </a:xfrm>
          <a:prstGeom prst="rect">
            <a:avLst/>
          </a:prstGeom>
          <a:noFill/>
          <a:ln/>
        </p:spPr>
        <p:txBody>
          <a:bodyPr wrap="square" lIns="0" tIns="0" rIns="0" bIns="0" rtlCol="0" anchor="t"/>
          <a:lstStyle/>
          <a:p>
            <a:pPr algn="l" marL="279400" indent="-279400">
              <a:lnSpc>
                <a:spcPts val="2400"/>
              </a:lnSpc>
              <a:spcAft>
                <a:spcPts val="6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低い周波数：広い範囲・建物内に届きやすい</a:t>
            </a:r>
            <a:endParaRPr lang="en-US" sz="1800" dirty="0"/>
          </a:p>
          <a:p>
            <a:pPr algn="l" marL="279400" indent="-279400">
              <a:lnSpc>
                <a:spcPts val="2400"/>
              </a:lnSpc>
              <a:spcAft>
                <a:spcPts val="6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高い周波数：広い帯域を確保しやすいが遮蔽に弱い</a:t>
            </a:r>
            <a:endParaRPr lang="en-US" sz="1800" dirty="0"/>
          </a:p>
          <a:p>
            <a:pPr algn="l" marL="279400" indent="-279400">
              <a:lnSpc>
                <a:spcPts val="2400"/>
              </a:lnSpc>
              <a:spcAft>
                <a:spcPts val="6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Wi-Fi 2.4GHz：届きやすいが混雑しやすい</a:t>
            </a:r>
            <a:endParaRPr lang="en-US" sz="1800" dirty="0"/>
          </a:p>
          <a:p>
            <a:pPr algn="l" marL="279400" indent="-279400">
              <a:lnSpc>
                <a:spcPts val="2400"/>
              </a:lnSpc>
              <a:spcAft>
                <a:spcPts val="6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Wi-Fi 5・6GHz：帯域に利点。壁や距離に弱い場合</a:t>
            </a:r>
            <a:endParaRPr lang="en-US" sz="1800" dirty="0"/>
          </a:p>
        </p:txBody>
      </p:sp>
      <p:sp>
        <p:nvSpPr>
          <p:cNvPr id="43" name="Shape 39"/>
          <p:cNvSpPr/>
          <p:nvPr/>
        </p:nvSpPr>
        <p:spPr>
          <a:xfrm>
            <a:off x="457200" y="5120640"/>
            <a:ext cx="11274552" cy="1188720"/>
          </a:xfrm>
          <a:prstGeom prst="roundRect">
            <a:avLst>
              <a:gd name="adj" fmla="val 9231"/>
            </a:avLst>
          </a:prstGeom>
          <a:solidFill>
            <a:srgbClr val="FBE3E0"/>
          </a:solidFill>
          <a:ln w="19050">
            <a:solidFill>
              <a:srgbClr val="C0392B"/>
            </a:solidFill>
            <a:prstDash val="solid"/>
          </a:ln>
        </p:spPr>
      </p:sp>
      <p:sp>
        <p:nvSpPr>
          <p:cNvPr id="44" name="Shape 40"/>
          <p:cNvSpPr/>
          <p:nvPr/>
        </p:nvSpPr>
        <p:spPr>
          <a:xfrm>
            <a:off x="594360" y="5486400"/>
            <a:ext cx="457200" cy="457200"/>
          </a:xfrm>
          <a:prstGeom prst="ellipse">
            <a:avLst/>
          </a:prstGeom>
          <a:solidFill>
            <a:srgbClr val="C0392B"/>
          </a:solidFill>
          <a:ln/>
        </p:spPr>
      </p:sp>
      <p:pic>
        <p:nvPicPr>
          <p:cNvPr id="45" name="Image 1" descr="preencoded.png">    </p:cNvPr>
          <p:cNvPicPr>
            <a:picLocks noChangeAspect="1"/>
          </p:cNvPicPr>
          <p:nvPr/>
        </p:nvPicPr>
        <p:blipFill>
          <a:blip r:embed="rId2"/>
          <a:stretch>
            <a:fillRect/>
          </a:stretch>
        </p:blipFill>
        <p:spPr>
          <a:xfrm>
            <a:off x="694944" y="5586984"/>
            <a:ext cx="256032" cy="256032"/>
          </a:xfrm>
          <a:prstGeom prst="rect">
            <a:avLst/>
          </a:prstGeom>
        </p:spPr>
      </p:pic>
      <p:sp>
        <p:nvSpPr>
          <p:cNvPr id="46" name="Text 41"/>
          <p:cNvSpPr txBox="1"/>
          <p:nvPr/>
        </p:nvSpPr>
        <p:spPr>
          <a:xfrm>
            <a:off x="1188720" y="5166360"/>
            <a:ext cx="10405872" cy="10972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アンテナ表示が十分でもゲームが遅いことがある。「5Gだから地下に強い」とも限らない</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地下と通信品質</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電波が弱いと、再送・低速化・遅延・損失が重なる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電波が弱いと、データの再送や低速化が起き、届く時間が増えてばらつきます。ゲームでは「相手が瞬間移動する」「操作が遅れる」「切れる」として見えます。</a:t>
            </a:r>
            <a:endParaRPr lang="en-US" sz="1800" dirty="0"/>
          </a:p>
        </p:txBody>
      </p:sp>
      <p:sp>
        <p:nvSpPr>
          <p:cNvPr id="7" name="Shape 4"/>
          <p:cNvSpPr/>
          <p:nvPr/>
        </p:nvSpPr>
        <p:spPr>
          <a:xfrm>
            <a:off x="457200" y="1965960"/>
            <a:ext cx="2606040" cy="1463040"/>
          </a:xfrm>
          <a:prstGeom prst="roundRect">
            <a:avLst>
              <a:gd name="adj" fmla="val 7500"/>
            </a:avLst>
          </a:prstGeom>
          <a:solidFill>
            <a:srgbClr val="DCE8F8"/>
          </a:solidFill>
          <a:ln/>
        </p:spPr>
      </p:sp>
      <p:sp>
        <p:nvSpPr>
          <p:cNvPr id="8" name="Text 5"/>
          <p:cNvSpPr txBox="1"/>
          <p:nvPr/>
        </p:nvSpPr>
        <p:spPr>
          <a:xfrm>
            <a:off x="548640" y="1965960"/>
            <a:ext cx="2423160" cy="14630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無線区間で再送が起きる</a:t>
            </a:r>
            <a:endParaRPr lang="en-US" sz="2000" dirty="0"/>
          </a:p>
        </p:txBody>
      </p:sp>
      <p:sp>
        <p:nvSpPr>
          <p:cNvPr id="9" name="Shape 6"/>
          <p:cNvSpPr/>
          <p:nvPr/>
        </p:nvSpPr>
        <p:spPr>
          <a:xfrm>
            <a:off x="530352" y="1764792"/>
            <a:ext cx="402336" cy="402336"/>
          </a:xfrm>
          <a:prstGeom prst="ellipse">
            <a:avLst/>
          </a:prstGeom>
          <a:solidFill>
            <a:srgbClr val="16324F"/>
          </a:solidFill>
          <a:ln w="19050">
            <a:solidFill>
              <a:srgbClr val="FFFFFF"/>
            </a:solidFill>
            <a:prstDash val="solid"/>
          </a:ln>
        </p:spPr>
      </p:sp>
      <p:sp>
        <p:nvSpPr>
          <p:cNvPr id="10" name="Text 7"/>
          <p:cNvSpPr txBox="1"/>
          <p:nvPr/>
        </p:nvSpPr>
        <p:spPr>
          <a:xfrm>
            <a:off x="530352" y="176479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1" name="Shape 8"/>
          <p:cNvSpPr/>
          <p:nvPr/>
        </p:nvSpPr>
        <p:spPr>
          <a:xfrm>
            <a:off x="3063240" y="2697480"/>
            <a:ext cx="265176" cy="0"/>
          </a:xfrm>
          <a:prstGeom prst="line">
            <a:avLst/>
          </a:prstGeom>
          <a:noFill/>
          <a:ln w="38100">
            <a:solidFill>
              <a:srgbClr val="1B2A3A"/>
            </a:solidFill>
            <a:prstDash val="solid"/>
            <a:tailEnd type="triangle"/>
          </a:ln>
        </p:spPr>
      </p:sp>
      <p:sp>
        <p:nvSpPr>
          <p:cNvPr id="12" name="Shape 9"/>
          <p:cNvSpPr/>
          <p:nvPr/>
        </p:nvSpPr>
        <p:spPr>
          <a:xfrm>
            <a:off x="3328416" y="1965960"/>
            <a:ext cx="2606040" cy="1463040"/>
          </a:xfrm>
          <a:prstGeom prst="roundRect">
            <a:avLst>
              <a:gd name="adj" fmla="val 7500"/>
            </a:avLst>
          </a:prstGeom>
          <a:solidFill>
            <a:srgbClr val="DCE8F8"/>
          </a:solidFill>
          <a:ln/>
        </p:spPr>
      </p:sp>
      <p:sp>
        <p:nvSpPr>
          <p:cNvPr id="13" name="Text 10"/>
          <p:cNvSpPr txBox="1"/>
          <p:nvPr/>
        </p:nvSpPr>
        <p:spPr>
          <a:xfrm>
            <a:off x="3419856" y="1965960"/>
            <a:ext cx="2423160" cy="14630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届けやすい低速の方式へ切り替わる</a:t>
            </a:r>
            <a:endParaRPr lang="en-US" sz="2000" dirty="0"/>
          </a:p>
        </p:txBody>
      </p:sp>
      <p:sp>
        <p:nvSpPr>
          <p:cNvPr id="14" name="Shape 11"/>
          <p:cNvSpPr/>
          <p:nvPr/>
        </p:nvSpPr>
        <p:spPr>
          <a:xfrm>
            <a:off x="3401568" y="1764792"/>
            <a:ext cx="402336" cy="402336"/>
          </a:xfrm>
          <a:prstGeom prst="ellipse">
            <a:avLst/>
          </a:prstGeom>
          <a:solidFill>
            <a:srgbClr val="16324F"/>
          </a:solidFill>
          <a:ln w="19050">
            <a:solidFill>
              <a:srgbClr val="FFFFFF"/>
            </a:solidFill>
            <a:prstDash val="solid"/>
          </a:ln>
        </p:spPr>
      </p:sp>
      <p:sp>
        <p:nvSpPr>
          <p:cNvPr id="15" name="Text 12"/>
          <p:cNvSpPr txBox="1"/>
          <p:nvPr/>
        </p:nvSpPr>
        <p:spPr>
          <a:xfrm>
            <a:off x="3401568" y="176479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6" name="Shape 13"/>
          <p:cNvSpPr/>
          <p:nvPr/>
        </p:nvSpPr>
        <p:spPr>
          <a:xfrm>
            <a:off x="5934456" y="2697480"/>
            <a:ext cx="265176" cy="0"/>
          </a:xfrm>
          <a:prstGeom prst="line">
            <a:avLst/>
          </a:prstGeom>
          <a:noFill/>
          <a:ln w="38100">
            <a:solidFill>
              <a:srgbClr val="1B2A3A"/>
            </a:solidFill>
            <a:prstDash val="solid"/>
            <a:tailEnd type="triangle"/>
          </a:ln>
        </p:spPr>
      </p:sp>
      <p:sp>
        <p:nvSpPr>
          <p:cNvPr id="17" name="Shape 14"/>
          <p:cNvSpPr/>
          <p:nvPr/>
        </p:nvSpPr>
        <p:spPr>
          <a:xfrm>
            <a:off x="6199632" y="1965960"/>
            <a:ext cx="2606040" cy="1463040"/>
          </a:xfrm>
          <a:prstGeom prst="roundRect">
            <a:avLst>
              <a:gd name="adj" fmla="val 7500"/>
            </a:avLst>
          </a:prstGeom>
          <a:solidFill>
            <a:srgbClr val="DCE8F8"/>
          </a:solidFill>
          <a:ln/>
        </p:spPr>
      </p:sp>
      <p:sp>
        <p:nvSpPr>
          <p:cNvPr id="18" name="Text 15"/>
          <p:cNvSpPr txBox="1"/>
          <p:nvPr/>
        </p:nvSpPr>
        <p:spPr>
          <a:xfrm>
            <a:off x="6291072" y="1965960"/>
            <a:ext cx="2423160" cy="14630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届く時間が増え、ばらつく</a:t>
            </a:r>
            <a:endParaRPr lang="en-US" sz="2000" dirty="0"/>
          </a:p>
        </p:txBody>
      </p:sp>
      <p:sp>
        <p:nvSpPr>
          <p:cNvPr id="19" name="Shape 16"/>
          <p:cNvSpPr/>
          <p:nvPr/>
        </p:nvSpPr>
        <p:spPr>
          <a:xfrm>
            <a:off x="6272784" y="1764792"/>
            <a:ext cx="402336" cy="402336"/>
          </a:xfrm>
          <a:prstGeom prst="ellipse">
            <a:avLst/>
          </a:prstGeom>
          <a:solidFill>
            <a:srgbClr val="16324F"/>
          </a:solidFill>
          <a:ln w="19050">
            <a:solidFill>
              <a:srgbClr val="FFFFFF"/>
            </a:solidFill>
            <a:prstDash val="solid"/>
          </a:ln>
        </p:spPr>
      </p:sp>
      <p:sp>
        <p:nvSpPr>
          <p:cNvPr id="20" name="Text 17"/>
          <p:cNvSpPr txBox="1"/>
          <p:nvPr/>
        </p:nvSpPr>
        <p:spPr>
          <a:xfrm>
            <a:off x="6272784" y="176479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1" name="Shape 18"/>
          <p:cNvSpPr/>
          <p:nvPr/>
        </p:nvSpPr>
        <p:spPr>
          <a:xfrm>
            <a:off x="8805672" y="2697480"/>
            <a:ext cx="265176" cy="0"/>
          </a:xfrm>
          <a:prstGeom prst="line">
            <a:avLst/>
          </a:prstGeom>
          <a:noFill/>
          <a:ln w="38100">
            <a:solidFill>
              <a:srgbClr val="1B2A3A"/>
            </a:solidFill>
            <a:prstDash val="solid"/>
            <a:tailEnd type="triangle"/>
          </a:ln>
        </p:spPr>
      </p:sp>
      <p:sp>
        <p:nvSpPr>
          <p:cNvPr id="22" name="Shape 19"/>
          <p:cNvSpPr/>
          <p:nvPr/>
        </p:nvSpPr>
        <p:spPr>
          <a:xfrm>
            <a:off x="9070848" y="1965960"/>
            <a:ext cx="2606040" cy="1463040"/>
          </a:xfrm>
          <a:prstGeom prst="roundRect">
            <a:avLst>
              <a:gd name="adj" fmla="val 7500"/>
            </a:avLst>
          </a:prstGeom>
          <a:solidFill>
            <a:srgbClr val="2F6BC2"/>
          </a:solidFill>
          <a:ln/>
        </p:spPr>
      </p:sp>
      <p:sp>
        <p:nvSpPr>
          <p:cNvPr id="23" name="Text 20"/>
          <p:cNvSpPr txBox="1"/>
          <p:nvPr/>
        </p:nvSpPr>
        <p:spPr>
          <a:xfrm>
            <a:off x="9162288" y="1965960"/>
            <a:ext cx="2423160" cy="14630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間に合わない・失われるデータが増える</a:t>
            </a:r>
            <a:endParaRPr lang="en-US" sz="2000" dirty="0"/>
          </a:p>
        </p:txBody>
      </p:sp>
      <p:sp>
        <p:nvSpPr>
          <p:cNvPr id="24" name="Shape 21"/>
          <p:cNvSpPr/>
          <p:nvPr/>
        </p:nvSpPr>
        <p:spPr>
          <a:xfrm>
            <a:off x="9144000" y="1764792"/>
            <a:ext cx="402336" cy="402336"/>
          </a:xfrm>
          <a:prstGeom prst="ellipse">
            <a:avLst/>
          </a:prstGeom>
          <a:solidFill>
            <a:srgbClr val="16324F"/>
          </a:solidFill>
          <a:ln w="19050">
            <a:solidFill>
              <a:srgbClr val="FFFFFF"/>
            </a:solidFill>
            <a:prstDash val="solid"/>
          </a:ln>
        </p:spPr>
      </p:sp>
      <p:sp>
        <p:nvSpPr>
          <p:cNvPr id="25" name="Text 22"/>
          <p:cNvSpPr txBox="1"/>
          <p:nvPr/>
        </p:nvSpPr>
        <p:spPr>
          <a:xfrm>
            <a:off x="9144000" y="176479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6" name="Text 23"/>
          <p:cNvSpPr txBox="1"/>
          <p:nvPr/>
        </p:nvSpPr>
        <p:spPr>
          <a:xfrm>
            <a:off x="457200" y="3657600"/>
            <a:ext cx="5486400" cy="411480"/>
          </a:xfrm>
          <a:prstGeom prst="rect">
            <a:avLst/>
          </a:prstGeom>
          <a:noFill/>
          <a:ln/>
        </p:spPr>
        <p:txBody>
          <a:bodyPr wrap="square" lIns="0" tIns="0" rIns="0" bIns="0" rtlCol="0" anchor="t"/>
          <a:lstStyle/>
          <a:p>
            <a:pPr algn="l" indent="0" marL="0">
              <a:lnSpc>
                <a:spcPts val="2900"/>
              </a:lnSpc>
              <a:buNone/>
            </a:pPr>
            <a:r>
              <a:rPr lang="ja-JP" altLang="en-US" sz="2200" b="1" dirty="0">
                <a:solidFill>
                  <a:srgbClr val="C0392B"/>
                </a:solidFill>
                <a:latin typeface="Yu Gothic" pitchFamily="34" charset="0"/>
                <a:ea typeface="Yu Gothic" pitchFamily="34" charset="-122"/>
                <a:cs typeface="Yu Gothic" pitchFamily="34" charset="-120"/>
              </a:rPr>
              <a:t>ゲームで見える症状</a:t>
            </a:r>
            <a:endParaRPr lang="en-US" sz="2200" dirty="0"/>
          </a:p>
        </p:txBody>
      </p:sp>
      <p:sp>
        <p:nvSpPr>
          <p:cNvPr id="27" name="Shape 24"/>
          <p:cNvSpPr/>
          <p:nvPr/>
        </p:nvSpPr>
        <p:spPr>
          <a:xfrm>
            <a:off x="457200" y="4206240"/>
            <a:ext cx="3611880" cy="1188720"/>
          </a:xfrm>
          <a:prstGeom prst="roundRect">
            <a:avLst>
              <a:gd name="adj" fmla="val 9231"/>
            </a:avLst>
          </a:prstGeom>
          <a:solidFill>
            <a:srgbClr val="FBE3E0"/>
          </a:solidFill>
          <a:ln w="25400">
            <a:solidFill>
              <a:srgbClr val="C0392B"/>
            </a:solidFill>
            <a:prstDash val="solid"/>
          </a:ln>
        </p:spPr>
      </p:sp>
      <p:sp>
        <p:nvSpPr>
          <p:cNvPr id="28" name="Shape 25"/>
          <p:cNvSpPr/>
          <p:nvPr/>
        </p:nvSpPr>
        <p:spPr>
          <a:xfrm>
            <a:off x="585216" y="4526280"/>
            <a:ext cx="548640" cy="548640"/>
          </a:xfrm>
          <a:prstGeom prst="ellipse">
            <a:avLst/>
          </a:prstGeom>
          <a:solidFill>
            <a:srgbClr val="C0392B"/>
          </a:solidFill>
          <a:ln/>
        </p:spPr>
      </p:sp>
      <p:pic>
        <p:nvPicPr>
          <p:cNvPr id="29" name="Image 0" descr="preencoded.png">    </p:cNvPr>
          <p:cNvPicPr>
            <a:picLocks noChangeAspect="1"/>
          </p:cNvPicPr>
          <p:nvPr/>
        </p:nvPicPr>
        <p:blipFill>
          <a:blip r:embed="rId1"/>
          <a:stretch>
            <a:fillRect/>
          </a:stretch>
        </p:blipFill>
        <p:spPr>
          <a:xfrm>
            <a:off x="705917" y="4646981"/>
            <a:ext cx="307238" cy="307238"/>
          </a:xfrm>
          <a:prstGeom prst="rect">
            <a:avLst/>
          </a:prstGeom>
        </p:spPr>
      </p:pic>
      <p:sp>
        <p:nvSpPr>
          <p:cNvPr id="30" name="Text 26"/>
          <p:cNvSpPr txBox="1"/>
          <p:nvPr/>
        </p:nvSpPr>
        <p:spPr>
          <a:xfrm>
            <a:off x="1225296" y="4206240"/>
            <a:ext cx="2752344" cy="118872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相手が瞬間移動する</a:t>
            </a:r>
            <a:endParaRPr lang="en-US" sz="2200" dirty="0"/>
          </a:p>
        </p:txBody>
      </p:sp>
      <p:sp>
        <p:nvSpPr>
          <p:cNvPr id="31" name="Shape 27"/>
          <p:cNvSpPr/>
          <p:nvPr/>
        </p:nvSpPr>
        <p:spPr>
          <a:xfrm>
            <a:off x="4288536" y="4206240"/>
            <a:ext cx="3611880" cy="1188720"/>
          </a:xfrm>
          <a:prstGeom prst="roundRect">
            <a:avLst>
              <a:gd name="adj" fmla="val 9231"/>
            </a:avLst>
          </a:prstGeom>
          <a:solidFill>
            <a:srgbClr val="FBE3E0"/>
          </a:solidFill>
          <a:ln w="25400">
            <a:solidFill>
              <a:srgbClr val="C0392B"/>
            </a:solidFill>
            <a:prstDash val="solid"/>
          </a:ln>
        </p:spPr>
      </p:sp>
      <p:sp>
        <p:nvSpPr>
          <p:cNvPr id="32" name="Shape 28"/>
          <p:cNvSpPr/>
          <p:nvPr/>
        </p:nvSpPr>
        <p:spPr>
          <a:xfrm>
            <a:off x="4416552" y="4526280"/>
            <a:ext cx="548640" cy="548640"/>
          </a:xfrm>
          <a:prstGeom prst="ellipse">
            <a:avLst/>
          </a:prstGeom>
          <a:solidFill>
            <a:srgbClr val="C0392B"/>
          </a:solidFill>
          <a:ln/>
        </p:spPr>
      </p:sp>
      <p:pic>
        <p:nvPicPr>
          <p:cNvPr id="33" name="Image 1" descr="preencoded.png">    </p:cNvPr>
          <p:cNvPicPr>
            <a:picLocks noChangeAspect="1"/>
          </p:cNvPicPr>
          <p:nvPr/>
        </p:nvPicPr>
        <p:blipFill>
          <a:blip r:embed="rId2"/>
          <a:stretch>
            <a:fillRect/>
          </a:stretch>
        </p:blipFill>
        <p:spPr>
          <a:xfrm>
            <a:off x="4537253" y="4646981"/>
            <a:ext cx="307238" cy="307238"/>
          </a:xfrm>
          <a:prstGeom prst="rect">
            <a:avLst/>
          </a:prstGeom>
        </p:spPr>
      </p:pic>
      <p:sp>
        <p:nvSpPr>
          <p:cNvPr id="34" name="Text 29"/>
          <p:cNvSpPr txBox="1"/>
          <p:nvPr/>
        </p:nvSpPr>
        <p:spPr>
          <a:xfrm>
            <a:off x="5056632" y="4206240"/>
            <a:ext cx="2752344" cy="118872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操作の反映が遅れる</a:t>
            </a:r>
            <a:endParaRPr lang="en-US" sz="2200" dirty="0"/>
          </a:p>
        </p:txBody>
      </p:sp>
      <p:sp>
        <p:nvSpPr>
          <p:cNvPr id="35" name="Shape 30"/>
          <p:cNvSpPr/>
          <p:nvPr/>
        </p:nvSpPr>
        <p:spPr>
          <a:xfrm>
            <a:off x="8119872" y="4206240"/>
            <a:ext cx="3611880" cy="1188720"/>
          </a:xfrm>
          <a:prstGeom prst="roundRect">
            <a:avLst>
              <a:gd name="adj" fmla="val 9231"/>
            </a:avLst>
          </a:prstGeom>
          <a:solidFill>
            <a:srgbClr val="FBE3E0"/>
          </a:solidFill>
          <a:ln w="25400">
            <a:solidFill>
              <a:srgbClr val="C0392B"/>
            </a:solidFill>
            <a:prstDash val="solid"/>
          </a:ln>
        </p:spPr>
      </p:sp>
      <p:sp>
        <p:nvSpPr>
          <p:cNvPr id="36" name="Shape 31"/>
          <p:cNvSpPr/>
          <p:nvPr/>
        </p:nvSpPr>
        <p:spPr>
          <a:xfrm>
            <a:off x="8247888" y="4526280"/>
            <a:ext cx="548640" cy="548640"/>
          </a:xfrm>
          <a:prstGeom prst="ellipse">
            <a:avLst/>
          </a:prstGeom>
          <a:solidFill>
            <a:srgbClr val="C0392B"/>
          </a:solidFill>
          <a:ln/>
        </p:spPr>
      </p:sp>
      <p:pic>
        <p:nvPicPr>
          <p:cNvPr id="37" name="Image 2" descr="preencoded.png">    </p:cNvPr>
          <p:cNvPicPr>
            <a:picLocks noChangeAspect="1"/>
          </p:cNvPicPr>
          <p:nvPr/>
        </p:nvPicPr>
        <p:blipFill>
          <a:blip r:embed="rId3"/>
          <a:stretch>
            <a:fillRect/>
          </a:stretch>
        </p:blipFill>
        <p:spPr>
          <a:xfrm>
            <a:off x="8368589" y="4646981"/>
            <a:ext cx="307238" cy="307238"/>
          </a:xfrm>
          <a:prstGeom prst="rect">
            <a:avLst/>
          </a:prstGeom>
        </p:spPr>
      </p:pic>
      <p:sp>
        <p:nvSpPr>
          <p:cNvPr id="38" name="Text 32"/>
          <p:cNvSpPr txBox="1"/>
          <p:nvPr/>
        </p:nvSpPr>
        <p:spPr>
          <a:xfrm>
            <a:off x="8887968" y="4206240"/>
            <a:ext cx="2752344" cy="118872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接続が切れる</a:t>
            </a:r>
            <a:endParaRPr lang="en-US" sz="2200" dirty="0"/>
          </a:p>
        </p:txBody>
      </p:sp>
      <p:sp>
        <p:nvSpPr>
          <p:cNvPr id="39" name="Shape 33"/>
          <p:cNvSpPr/>
          <p:nvPr/>
        </p:nvSpPr>
        <p:spPr>
          <a:xfrm>
            <a:off x="457200" y="5577840"/>
            <a:ext cx="11274552" cy="731520"/>
          </a:xfrm>
          <a:prstGeom prst="roundRect">
            <a:avLst>
              <a:gd name="adj" fmla="val 15000"/>
            </a:avLst>
          </a:prstGeom>
          <a:solidFill>
            <a:srgbClr val="DCE8F8"/>
          </a:solidFill>
          <a:ln w="19050">
            <a:solidFill>
              <a:srgbClr val="2F6BC2"/>
            </a:solidFill>
            <a:prstDash val="solid"/>
          </a:ln>
        </p:spPr>
      </p:sp>
      <p:sp>
        <p:nvSpPr>
          <p:cNvPr id="40" name="Shape 34"/>
          <p:cNvSpPr/>
          <p:nvPr/>
        </p:nvSpPr>
        <p:spPr>
          <a:xfrm>
            <a:off x="594360" y="5715000"/>
            <a:ext cx="457200" cy="457200"/>
          </a:xfrm>
          <a:prstGeom prst="ellipse">
            <a:avLst/>
          </a:prstGeom>
          <a:solidFill>
            <a:srgbClr val="2F6BC2"/>
          </a:solidFill>
          <a:ln/>
        </p:spPr>
      </p:sp>
      <p:pic>
        <p:nvPicPr>
          <p:cNvPr id="41" name="Image 3" descr="preencoded.png">    </p:cNvPr>
          <p:cNvPicPr>
            <a:picLocks noChangeAspect="1"/>
          </p:cNvPicPr>
          <p:nvPr/>
        </p:nvPicPr>
        <p:blipFill>
          <a:blip r:embed="rId4"/>
          <a:stretch>
            <a:fillRect/>
          </a:stretch>
        </p:blipFill>
        <p:spPr>
          <a:xfrm>
            <a:off x="694944" y="5815584"/>
            <a:ext cx="256032" cy="256032"/>
          </a:xfrm>
          <a:prstGeom prst="rect">
            <a:avLst/>
          </a:prstGeom>
        </p:spPr>
      </p:pic>
      <p:sp>
        <p:nvSpPr>
          <p:cNvPr id="42" name="Text 35"/>
          <p:cNvSpPr txBox="1"/>
          <p:nvPr/>
        </p:nvSpPr>
        <p:spPr>
          <a:xfrm>
            <a:off x="1188720" y="5623560"/>
            <a:ext cx="10405872" cy="6400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症状だけで「回線が遅い」と決めない。原因の場所を分けて考える</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地下と通信品質</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ゲームの品質は「回線速度」だけでは判断できない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ゲームの快適さは、速度だけでなく、遅延・ジッター（ばらつき）・パケットロス（欠落）などで決まります。各指標と、ゲームでの影響を一覧にしました。</a:t>
            </a:r>
            <a:endParaRPr lang="en-US" sz="1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3017520"/>
                <a:gridCol w="4023360"/>
                <a:gridCol w="42336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指標</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ゲームへの影響</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0292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帯域・スループット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単位時間に運べるデータ量</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更新ファイルの取得に影響</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遅延</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情報が届くまでの時間</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操作の反映に影響</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RTT</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送って戻るまでの往復時間</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Ping表示の基になる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ジッター</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遅延のばらつき</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動きや更新が不規則に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パケットロス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通信データが失われること</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更新の欠落・再送・切断</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FPS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端末が1秒に描く画像の枚数</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見た目のなめらかさ</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サーバー処理周期</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ゲーム状態を更新する頻度</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状態反映の間隔など</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6044184"/>
            <a:ext cx="365760" cy="237744"/>
          </a:xfrm>
          <a:prstGeom prst="roundRect">
            <a:avLst>
              <a:gd name="adj" fmla="val 19231"/>
            </a:avLst>
          </a:prstGeom>
          <a:solidFill>
            <a:srgbClr val="DCE8F8"/>
          </a:solidFill>
          <a:ln w="25400">
            <a:solidFill>
              <a:srgbClr val="2F6BC2"/>
            </a:solidFill>
            <a:prstDash val="solid"/>
          </a:ln>
        </p:spPr>
      </p:sp>
      <p:sp>
        <p:nvSpPr>
          <p:cNvPr id="9" name="Text 5"/>
          <p:cNvSpPr txBox="1"/>
          <p:nvPr/>
        </p:nvSpPr>
        <p:spPr>
          <a:xfrm>
            <a:off x="914400" y="5989320"/>
            <a:ext cx="5943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通信</a:t>
            </a:r>
            <a:endParaRPr lang="ja-JP" sz="1800" dirty="0"/>
          </a:p>
        </p:txBody>
      </p:sp>
      <p:sp>
        <p:nvSpPr>
          <p:cNvPr id="10" name="Shape 6"/>
          <p:cNvSpPr/>
          <p:nvPr/>
        </p:nvSpPr>
        <p:spPr>
          <a:xfrm>
            <a:off x="1783080" y="6044184"/>
            <a:ext cx="365760" cy="237744"/>
          </a:xfrm>
          <a:prstGeom prst="roundRect">
            <a:avLst>
              <a:gd name="adj" fmla="val 19231"/>
            </a:avLst>
          </a:prstGeom>
          <a:solidFill>
            <a:srgbClr val="D9F2F1"/>
          </a:solidFill>
          <a:ln w="25400">
            <a:solidFill>
              <a:srgbClr val="0B7A7A"/>
            </a:solidFill>
            <a:prstDash val="solid"/>
          </a:ln>
        </p:spPr>
      </p:sp>
      <p:sp>
        <p:nvSpPr>
          <p:cNvPr id="11" name="Text 7"/>
          <p:cNvSpPr txBox="1"/>
          <p:nvPr/>
        </p:nvSpPr>
        <p:spPr>
          <a:xfrm>
            <a:off x="2240280" y="5989320"/>
            <a:ext cx="5943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端末</a:t>
            </a:r>
            <a:endParaRPr lang="ja-JP" sz="1800" dirty="0"/>
          </a:p>
        </p:txBody>
      </p:sp>
      <p:sp>
        <p:nvSpPr>
          <p:cNvPr id="12" name="Shape 8"/>
          <p:cNvSpPr/>
          <p:nvPr/>
        </p:nvSpPr>
        <p:spPr>
          <a:xfrm>
            <a:off x="3108960" y="6044184"/>
            <a:ext cx="365760" cy="237744"/>
          </a:xfrm>
          <a:prstGeom prst="roundRect">
            <a:avLst>
              <a:gd name="adj" fmla="val 19231"/>
            </a:avLst>
          </a:prstGeom>
          <a:solidFill>
            <a:srgbClr val="E6E1F7"/>
          </a:solidFill>
          <a:ln w="25400">
            <a:solidFill>
              <a:srgbClr val="5B46B8"/>
            </a:solidFill>
            <a:prstDash val="solid"/>
          </a:ln>
        </p:spPr>
      </p:sp>
      <p:sp>
        <p:nvSpPr>
          <p:cNvPr id="13" name="Text 9"/>
          <p:cNvSpPr txBox="1"/>
          <p:nvPr/>
        </p:nvSpPr>
        <p:spPr>
          <a:xfrm>
            <a:off x="3566160" y="5989320"/>
            <a:ext cx="10515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サーバー</a:t>
            </a:r>
            <a:endParaRPr lang="ja-JP"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地下と通信品質</a:t>
            </a:r>
            <a:endParaRPr lang="ja-JP" sz="1400" dirty="0"/>
          </a:p>
        </p:txBody>
      </p:sp>
      <p:sp>
        <p:nvSpPr>
          <p:cNvPr id="3" name="Text 1"/>
          <p:cNvSpPr txBox="1"/>
          <p:nvPr/>
        </p:nvSpPr>
        <p:spPr>
          <a:xfrm>
            <a:off x="10256215" y="237744"/>
            <a:ext cx="1478280" cy="310896"/>
          </a:xfrm>
          <a:prstGeom prst="roundRect">
            <a:avLst>
              <a:gd name="adj" fmla="val 50000"/>
            </a:avLst>
          </a:prstGeom>
          <a:solidFill>
            <a:srgbClr val="FBE3E0"/>
          </a:solidFill>
          <a:ln w="9525">
            <a:solidFill>
              <a:srgbClr val="7F1D1D"/>
            </a:solidFill>
          </a:ln>
        </p:spPr>
        <p:txBody>
          <a:bodyPr wrap="square" lIns="0" tIns="0" rIns="0" bIns="0" rtlCol="0" anchor="ctr"/>
          <a:lstStyle/>
          <a:p>
            <a:pPr algn="ctr" indent="0" marL="0">
              <a:buNone/>
            </a:pPr>
            <a:r>
              <a:rPr lang="ja-JP" altLang="en-US" sz="1400" b="1" dirty="0">
                <a:solidFill>
                  <a:srgbClr val="7F1D1D"/>
                </a:solidFill>
                <a:latin typeface="Yu Gothic" pitchFamily="34" charset="0"/>
                <a:ea typeface="Yu Gothic" pitchFamily="34" charset="-122"/>
                <a:cs typeface="Yu Gothic" pitchFamily="34" charset="-120"/>
              </a:rPr>
              <a:t>仮定の算数例</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遅延が小さく安定した回線のほうが、操作しやすい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大量のデータを運べても往復に時間がかかる回線Aより、データ量は普通でも往復が短く安定する回線Bのほうが、対戦ゲームは操作しやすいことがあります（仮定の例）。</a:t>
            </a:r>
            <a:endParaRPr lang="en-US" sz="1800" dirty="0"/>
          </a:p>
        </p:txBody>
      </p:sp>
      <p:graphicFrame>
        <p:nvGraphicFramePr>
          <p:cNvPr id="7" name="Chart 0" descr=""/>
          <p:cNvGraphicFramePr/>
          <p:nvPr/>
        </p:nvGraphicFramePr>
        <p:xfrm>
          <a:off x="457200" y="1691640"/>
          <a:ext cx="6675120" cy="329184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406640" y="1691640"/>
            <a:ext cx="4325112" cy="3291840"/>
          </a:xfrm>
          <a:prstGeom prst="roundRect">
            <a:avLst>
              <a:gd name="adj" fmla="val 3889"/>
            </a:avLst>
          </a:prstGeom>
          <a:solidFill>
            <a:srgbClr val="DCE8F8"/>
          </a:solidFill>
          <a:ln/>
        </p:spPr>
      </p:sp>
      <p:sp>
        <p:nvSpPr>
          <p:cNvPr id="9" name="Shape 5"/>
          <p:cNvSpPr/>
          <p:nvPr/>
        </p:nvSpPr>
        <p:spPr>
          <a:xfrm>
            <a:off x="7571232" y="1819656"/>
            <a:ext cx="512064" cy="512064"/>
          </a:xfrm>
          <a:prstGeom prst="ellipse">
            <a:avLst/>
          </a:prstGeom>
          <a:solidFill>
            <a:srgbClr val="2F6BC2"/>
          </a:solidFill>
          <a:ln/>
        </p:spPr>
      </p:sp>
      <p:pic>
        <p:nvPicPr>
          <p:cNvPr id="10" name="Image 0" descr="preencoded.png">    </p:cNvPr>
          <p:cNvPicPr>
            <a:picLocks noChangeAspect="1"/>
          </p:cNvPicPr>
          <p:nvPr/>
        </p:nvPicPr>
        <p:blipFill>
          <a:blip r:embed="rId2"/>
          <a:stretch>
            <a:fillRect/>
          </a:stretch>
        </p:blipFill>
        <p:spPr>
          <a:xfrm>
            <a:off x="7683886" y="1932310"/>
            <a:ext cx="286756" cy="286756"/>
          </a:xfrm>
          <a:prstGeom prst="rect">
            <a:avLst/>
          </a:prstGeom>
        </p:spPr>
      </p:pic>
      <p:sp>
        <p:nvSpPr>
          <p:cNvPr id="11" name="Text 6"/>
          <p:cNvSpPr txBox="1"/>
          <p:nvPr/>
        </p:nvSpPr>
        <p:spPr>
          <a:xfrm>
            <a:off x="8193024" y="1819656"/>
            <a:ext cx="3401568"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帯域と遅延の違い</a:t>
            </a:r>
            <a:endParaRPr lang="en-US" sz="2200" dirty="0"/>
          </a:p>
        </p:txBody>
      </p:sp>
      <p:sp>
        <p:nvSpPr>
          <p:cNvPr id="12" name="Text 7"/>
          <p:cNvSpPr txBox="1"/>
          <p:nvPr/>
        </p:nvSpPr>
        <p:spPr>
          <a:xfrm>
            <a:off x="7589520" y="2423160"/>
            <a:ext cx="3959352" cy="2468880"/>
          </a:xfrm>
          <a:prstGeom prst="rect">
            <a:avLst/>
          </a:prstGeom>
          <a:noFill/>
          <a:ln/>
        </p:spPr>
        <p:txBody>
          <a:bodyPr wrap="square" lIns="0" tIns="0" rIns="0" bIns="0" rtlCol="0" anchor="t"/>
          <a:lstStyle/>
          <a:p>
            <a:pPr algn="l" marL="279400" indent="-279400">
              <a:lnSpc>
                <a:spcPts val="2400"/>
              </a:lnSpc>
              <a:spcAft>
                <a:spcPts val="6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帯域：1秒に運べるデータ量（道の太さ）</a:t>
            </a:r>
            <a:endParaRPr lang="en-US" sz="1800" dirty="0"/>
          </a:p>
          <a:p>
            <a:pPr algn="l" marL="279400" indent="-279400">
              <a:lnSpc>
                <a:spcPts val="2400"/>
              </a:lnSpc>
              <a:spcAft>
                <a:spcPts val="6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遅延：届くまでの時間（道の長さ）</a:t>
            </a:r>
            <a:endParaRPr lang="en-US" sz="1800" dirty="0"/>
          </a:p>
          <a:p>
            <a:pPr algn="l" marL="279400" indent="-279400">
              <a:lnSpc>
                <a:spcPts val="2400"/>
              </a:lnSpc>
              <a:spcAft>
                <a:spcPts val="6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ゲームの操作は遅延・揺らぎ・損失に敏感</a:t>
            </a:r>
            <a:endParaRPr lang="en-US" sz="1800" dirty="0"/>
          </a:p>
        </p:txBody>
      </p:sp>
      <p:sp>
        <p:nvSpPr>
          <p:cNvPr id="13" name="Shape 8"/>
          <p:cNvSpPr/>
          <p:nvPr/>
        </p:nvSpPr>
        <p:spPr>
          <a:xfrm>
            <a:off x="457200" y="5166360"/>
            <a:ext cx="5532120" cy="1143000"/>
          </a:xfrm>
          <a:prstGeom prst="roundRect">
            <a:avLst>
              <a:gd name="adj" fmla="val 9600"/>
            </a:avLst>
          </a:prstGeom>
          <a:solidFill>
            <a:srgbClr val="FBE3E0"/>
          </a:solidFill>
          <a:ln w="19050">
            <a:solidFill>
              <a:srgbClr val="C0392B"/>
            </a:solidFill>
            <a:prstDash val="solid"/>
          </a:ln>
        </p:spPr>
      </p:sp>
      <p:sp>
        <p:nvSpPr>
          <p:cNvPr id="14" name="Shape 9"/>
          <p:cNvSpPr/>
          <p:nvPr/>
        </p:nvSpPr>
        <p:spPr>
          <a:xfrm>
            <a:off x="594360" y="5509260"/>
            <a:ext cx="457200" cy="457200"/>
          </a:xfrm>
          <a:prstGeom prst="ellipse">
            <a:avLst/>
          </a:prstGeom>
          <a:solidFill>
            <a:srgbClr val="C0392B"/>
          </a:solidFill>
          <a:ln/>
        </p:spPr>
      </p:sp>
      <p:pic>
        <p:nvPicPr>
          <p:cNvPr id="15" name="Image 1" descr="preencoded.png">    </p:cNvPr>
          <p:cNvPicPr>
            <a:picLocks noChangeAspect="1"/>
          </p:cNvPicPr>
          <p:nvPr/>
        </p:nvPicPr>
        <p:blipFill>
          <a:blip r:embed="rId3"/>
          <a:stretch>
            <a:fillRect/>
          </a:stretch>
        </p:blipFill>
        <p:spPr>
          <a:xfrm>
            <a:off x="694944" y="5609844"/>
            <a:ext cx="256032" cy="256032"/>
          </a:xfrm>
          <a:prstGeom prst="rect">
            <a:avLst/>
          </a:prstGeom>
        </p:spPr>
      </p:pic>
      <p:sp>
        <p:nvSpPr>
          <p:cNvPr id="16" name="Text 10"/>
          <p:cNvSpPr txBox="1"/>
          <p:nvPr/>
        </p:nvSpPr>
        <p:spPr>
          <a:xfrm>
            <a:off x="1188720" y="5212080"/>
            <a:ext cx="4663440" cy="10515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Pingの往復時間の半分が、必ず片道の時間とは限らない</a:t>
            </a:r>
            <a:endParaRPr lang="en-US" sz="1800" dirty="0"/>
          </a:p>
        </p:txBody>
      </p:sp>
      <p:sp>
        <p:nvSpPr>
          <p:cNvPr id="17" name="Shape 11"/>
          <p:cNvSpPr/>
          <p:nvPr/>
        </p:nvSpPr>
        <p:spPr>
          <a:xfrm>
            <a:off x="6199632" y="5166360"/>
            <a:ext cx="5532120" cy="1143000"/>
          </a:xfrm>
          <a:prstGeom prst="roundRect">
            <a:avLst>
              <a:gd name="adj" fmla="val 9600"/>
            </a:avLst>
          </a:prstGeom>
          <a:solidFill>
            <a:srgbClr val="FDEBD0"/>
          </a:solidFill>
          <a:ln w="19050">
            <a:solidFill>
              <a:srgbClr val="B45309"/>
            </a:solidFill>
            <a:prstDash val="solid"/>
          </a:ln>
        </p:spPr>
      </p:sp>
      <p:sp>
        <p:nvSpPr>
          <p:cNvPr id="18" name="Shape 12"/>
          <p:cNvSpPr/>
          <p:nvPr/>
        </p:nvSpPr>
        <p:spPr>
          <a:xfrm>
            <a:off x="6336792" y="5509260"/>
            <a:ext cx="457200" cy="457200"/>
          </a:xfrm>
          <a:prstGeom prst="ellipse">
            <a:avLst/>
          </a:prstGeom>
          <a:solidFill>
            <a:srgbClr val="B45309"/>
          </a:solidFill>
          <a:ln/>
        </p:spPr>
      </p:sp>
      <p:pic>
        <p:nvPicPr>
          <p:cNvPr id="19" name="Image 2" descr="preencoded.png">    </p:cNvPr>
          <p:cNvPicPr>
            <a:picLocks noChangeAspect="1"/>
          </p:cNvPicPr>
          <p:nvPr/>
        </p:nvPicPr>
        <p:blipFill>
          <a:blip r:embed="rId4"/>
          <a:stretch>
            <a:fillRect/>
          </a:stretch>
        </p:blipFill>
        <p:spPr>
          <a:xfrm>
            <a:off x="6437376" y="5609844"/>
            <a:ext cx="256032" cy="256032"/>
          </a:xfrm>
          <a:prstGeom prst="rect">
            <a:avLst/>
          </a:prstGeom>
        </p:spPr>
      </p:pic>
      <p:sp>
        <p:nvSpPr>
          <p:cNvPr id="20" name="Text 13"/>
          <p:cNvSpPr txBox="1"/>
          <p:nvPr/>
        </p:nvSpPr>
        <p:spPr>
          <a:xfrm>
            <a:off x="6931152" y="5212080"/>
            <a:ext cx="4663440" cy="10515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バッファブロート：ルーター内にデータがたまり遅延が増える現象</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地下と通信品質</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「ゲームが重い」は、症状から疑う場所を分ける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「重い」の原因は、電波・混雑・端末・ゲーム側など複数あります。症状から疑う場所を決めると、原因を絞り込めます。SEの障害切り分けと同じ考え方です。</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6035040"/>
                <a:gridCol w="5239512"/>
              </a:tblGrid>
              <a:tr h="487680">
                <a:tc>
                  <a:txBody>
                    <a:bodyP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症状</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疑う場所</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66928">
                <a:tc>
                  <a:txBody>
                    <a:bodyP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地下に入ると悪化し、地上で戻る</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電波、地下の通信設備</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同じ場所でも人が多い時間だけ悪化</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基地局・Wi-Fi・回線の混雑</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66928">
                <a:tc>
                  <a:txBody>
                    <a:bodyP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相手が飛ぶ・位置が急に戻る</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遅延・ジッター・損失</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画面全体がカクつき、スマホが熱い</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端末のCPU・GPU、発熱、描画設定</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66928">
                <a:tc>
                  <a:txBody>
                    <a:bodyP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家で誰かが大容量通信をすると悪化</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回線の混雑、ルーターの待ち行列</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Wi-Fiでも携帯でも多くの人が不調</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ゲーム側や広域ネットワーク</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8" name="Shape 4"/>
          <p:cNvSpPr/>
          <p:nvPr/>
        </p:nvSpPr>
        <p:spPr>
          <a:xfrm>
            <a:off x="457200" y="6044184"/>
            <a:ext cx="365760" cy="237744"/>
          </a:xfrm>
          <a:prstGeom prst="roundRect">
            <a:avLst>
              <a:gd name="adj" fmla="val 19231"/>
            </a:avLst>
          </a:prstGeom>
          <a:solidFill>
            <a:srgbClr val="DCE8F8"/>
          </a:solidFill>
          <a:ln w="25400">
            <a:solidFill>
              <a:srgbClr val="2F6BC2"/>
            </a:solidFill>
            <a:prstDash val="solid"/>
          </a:ln>
        </p:spPr>
      </p:sp>
      <p:sp>
        <p:nvSpPr>
          <p:cNvPr id="9" name="Text 5"/>
          <p:cNvSpPr txBox="1"/>
          <p:nvPr/>
        </p:nvSpPr>
        <p:spPr>
          <a:xfrm>
            <a:off x="914400" y="5989320"/>
            <a:ext cx="5943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通信</a:t>
            </a:r>
            <a:endParaRPr lang="ja-JP" sz="1800" dirty="0"/>
          </a:p>
        </p:txBody>
      </p:sp>
      <p:sp>
        <p:nvSpPr>
          <p:cNvPr id="10" name="Shape 6"/>
          <p:cNvSpPr/>
          <p:nvPr/>
        </p:nvSpPr>
        <p:spPr>
          <a:xfrm>
            <a:off x="1783080" y="6044184"/>
            <a:ext cx="365760" cy="237744"/>
          </a:xfrm>
          <a:prstGeom prst="roundRect">
            <a:avLst>
              <a:gd name="adj" fmla="val 19231"/>
            </a:avLst>
          </a:prstGeom>
          <a:solidFill>
            <a:srgbClr val="D9F2F1"/>
          </a:solidFill>
          <a:ln w="25400">
            <a:solidFill>
              <a:srgbClr val="0B7A7A"/>
            </a:solidFill>
            <a:prstDash val="solid"/>
          </a:ln>
        </p:spPr>
      </p:sp>
      <p:sp>
        <p:nvSpPr>
          <p:cNvPr id="11" name="Text 7"/>
          <p:cNvSpPr txBox="1"/>
          <p:nvPr/>
        </p:nvSpPr>
        <p:spPr>
          <a:xfrm>
            <a:off x="2240280" y="5989320"/>
            <a:ext cx="5943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端末</a:t>
            </a:r>
            <a:endParaRPr lang="ja-JP" sz="1800" dirty="0"/>
          </a:p>
        </p:txBody>
      </p:sp>
      <p:sp>
        <p:nvSpPr>
          <p:cNvPr id="12" name="Shape 8"/>
          <p:cNvSpPr/>
          <p:nvPr/>
        </p:nvSpPr>
        <p:spPr>
          <a:xfrm>
            <a:off x="3108960" y="6044184"/>
            <a:ext cx="365760" cy="237744"/>
          </a:xfrm>
          <a:prstGeom prst="roundRect">
            <a:avLst>
              <a:gd name="adj" fmla="val 19231"/>
            </a:avLst>
          </a:prstGeom>
          <a:solidFill>
            <a:srgbClr val="E6E1F7"/>
          </a:solidFill>
          <a:ln w="25400">
            <a:solidFill>
              <a:srgbClr val="5B46B8"/>
            </a:solidFill>
            <a:prstDash val="solid"/>
          </a:ln>
        </p:spPr>
      </p:sp>
      <p:sp>
        <p:nvSpPr>
          <p:cNvPr id="13" name="Text 9"/>
          <p:cNvSpPr txBox="1"/>
          <p:nvPr/>
        </p:nvSpPr>
        <p:spPr>
          <a:xfrm>
            <a:off x="3566160" y="5989320"/>
            <a:ext cx="12801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サーバー側</a:t>
            </a:r>
            <a:endParaRPr lang="ja-JP"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ゲームの通信</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スマホ対戦ゲームは、映像でなく操作と状態をやり取りする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多くのスマホ対戦ゲームでは、映像は自分のスマホが描き、通信するのは「操作」と「ゲームの状態」です。映像をサーバーが作って送るクラウドゲームは、別の方式です。</a:t>
            </a:r>
            <a:endParaRPr lang="en-US" sz="1800" dirty="0"/>
          </a:p>
        </p:txBody>
      </p:sp>
      <p:sp>
        <p:nvSpPr>
          <p:cNvPr id="7" name="Shape 4"/>
          <p:cNvSpPr/>
          <p:nvPr/>
        </p:nvSpPr>
        <p:spPr>
          <a:xfrm>
            <a:off x="457200" y="1691640"/>
            <a:ext cx="5532120" cy="457200"/>
          </a:xfrm>
          <a:prstGeom prst="roundRect">
            <a:avLst>
              <a:gd name="adj" fmla="val 20000"/>
            </a:avLst>
          </a:prstGeom>
          <a:solidFill>
            <a:srgbClr val="2F6BC2"/>
          </a:solidFill>
          <a:ln/>
        </p:spPr>
      </p:sp>
      <p:sp>
        <p:nvSpPr>
          <p:cNvPr id="8" name="Text 5"/>
          <p:cNvSpPr txBox="1"/>
          <p:nvPr/>
        </p:nvSpPr>
        <p:spPr>
          <a:xfrm>
            <a:off x="548640" y="1691640"/>
            <a:ext cx="53492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通常のスマホ対戦ゲーム</a:t>
            </a:r>
            <a:endParaRPr lang="en-US" sz="2000" dirty="0"/>
          </a:p>
        </p:txBody>
      </p:sp>
      <p:sp>
        <p:nvSpPr>
          <p:cNvPr id="9" name="Shape 6"/>
          <p:cNvSpPr/>
          <p:nvPr/>
        </p:nvSpPr>
        <p:spPr>
          <a:xfrm>
            <a:off x="457200" y="2286000"/>
            <a:ext cx="1920240" cy="1143000"/>
          </a:xfrm>
          <a:prstGeom prst="roundRect">
            <a:avLst>
              <a:gd name="adj" fmla="val 9600"/>
            </a:avLst>
          </a:prstGeom>
          <a:solidFill>
            <a:srgbClr val="D9F2F1"/>
          </a:solidFill>
          <a:ln w="25400">
            <a:solidFill>
              <a:srgbClr val="0B7A7A"/>
            </a:solidFill>
            <a:prstDash val="solid"/>
          </a:ln>
        </p:spPr>
      </p:sp>
      <p:sp>
        <p:nvSpPr>
          <p:cNvPr id="10" name="Text 7"/>
          <p:cNvSpPr txBox="1"/>
          <p:nvPr/>
        </p:nvSpPr>
        <p:spPr>
          <a:xfrm>
            <a:off x="548640" y="2286000"/>
            <a:ext cx="1737360" cy="11430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端末</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映像を描く</a:t>
            </a:r>
            <a:endParaRPr lang="en-US" sz="2000" dirty="0"/>
          </a:p>
        </p:txBody>
      </p:sp>
      <p:sp>
        <p:nvSpPr>
          <p:cNvPr id="11" name="Shape 8"/>
          <p:cNvSpPr/>
          <p:nvPr/>
        </p:nvSpPr>
        <p:spPr>
          <a:xfrm>
            <a:off x="4069080" y="2286000"/>
            <a:ext cx="1920240" cy="1143000"/>
          </a:xfrm>
          <a:prstGeom prst="roundRect">
            <a:avLst>
              <a:gd name="adj" fmla="val 9600"/>
            </a:avLst>
          </a:prstGeom>
          <a:solidFill>
            <a:srgbClr val="E6E1F7"/>
          </a:solidFill>
          <a:ln w="25400">
            <a:solidFill>
              <a:srgbClr val="5B46B8"/>
            </a:solidFill>
            <a:prstDash val="solid"/>
          </a:ln>
        </p:spPr>
      </p:sp>
      <p:sp>
        <p:nvSpPr>
          <p:cNvPr id="12" name="Text 9"/>
          <p:cNvSpPr txBox="1"/>
          <p:nvPr/>
        </p:nvSpPr>
        <p:spPr>
          <a:xfrm>
            <a:off x="4160520" y="2286000"/>
            <a:ext cx="1737360" cy="11430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サーバー</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結果を決定</a:t>
            </a:r>
            <a:endParaRPr lang="en-US" sz="2000" dirty="0"/>
          </a:p>
        </p:txBody>
      </p:sp>
      <p:sp>
        <p:nvSpPr>
          <p:cNvPr id="13" name="Shape 10"/>
          <p:cNvSpPr/>
          <p:nvPr/>
        </p:nvSpPr>
        <p:spPr>
          <a:xfrm>
            <a:off x="2377440" y="2606040"/>
            <a:ext cx="1691640" cy="0"/>
          </a:xfrm>
          <a:prstGeom prst="line">
            <a:avLst/>
          </a:prstGeom>
          <a:noFill/>
          <a:ln w="38100">
            <a:solidFill>
              <a:srgbClr val="0B7A7A"/>
            </a:solidFill>
            <a:prstDash val="solid"/>
            <a:tailEnd type="triangle"/>
          </a:ln>
        </p:spPr>
      </p:sp>
      <p:sp>
        <p:nvSpPr>
          <p:cNvPr id="14" name="Text 11"/>
          <p:cNvSpPr txBox="1"/>
          <p:nvPr/>
        </p:nvSpPr>
        <p:spPr>
          <a:xfrm>
            <a:off x="2857500" y="2199132"/>
            <a:ext cx="73152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操作</a:t>
            </a:r>
            <a:endParaRPr lang="en-US" sz="1800" dirty="0"/>
          </a:p>
        </p:txBody>
      </p:sp>
      <p:sp>
        <p:nvSpPr>
          <p:cNvPr id="15" name="Shape 12"/>
          <p:cNvSpPr/>
          <p:nvPr/>
        </p:nvSpPr>
        <p:spPr>
          <a:xfrm flipH="1">
            <a:off x="2377440" y="3108960"/>
            <a:ext cx="1691640" cy="0"/>
          </a:xfrm>
          <a:prstGeom prst="line">
            <a:avLst/>
          </a:prstGeom>
          <a:noFill/>
          <a:ln w="38100">
            <a:solidFill>
              <a:srgbClr val="5B46B8"/>
            </a:solidFill>
            <a:prstDash val="solid"/>
            <a:tailEnd type="triangle"/>
          </a:ln>
        </p:spPr>
      </p:sp>
      <p:sp>
        <p:nvSpPr>
          <p:cNvPr id="16" name="Text 13"/>
          <p:cNvSpPr txBox="1"/>
          <p:nvPr/>
        </p:nvSpPr>
        <p:spPr>
          <a:xfrm>
            <a:off x="2491740" y="3159252"/>
            <a:ext cx="146304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ゲーム状態</a:t>
            </a:r>
            <a:endParaRPr lang="en-US" sz="1800" dirty="0"/>
          </a:p>
        </p:txBody>
      </p:sp>
      <p:sp>
        <p:nvSpPr>
          <p:cNvPr id="17" name="Shape 14"/>
          <p:cNvSpPr/>
          <p:nvPr/>
        </p:nvSpPr>
        <p:spPr>
          <a:xfrm>
            <a:off x="6199632" y="1691640"/>
            <a:ext cx="5532120" cy="457200"/>
          </a:xfrm>
          <a:prstGeom prst="roundRect">
            <a:avLst>
              <a:gd name="adj" fmla="val 20000"/>
            </a:avLst>
          </a:prstGeom>
          <a:solidFill>
            <a:srgbClr val="5B46B8"/>
          </a:solidFill>
          <a:ln/>
        </p:spPr>
      </p:sp>
      <p:sp>
        <p:nvSpPr>
          <p:cNvPr id="18" name="Text 15"/>
          <p:cNvSpPr txBox="1"/>
          <p:nvPr/>
        </p:nvSpPr>
        <p:spPr>
          <a:xfrm>
            <a:off x="6291072" y="1691640"/>
            <a:ext cx="53492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クラウドゲーム（別方式）</a:t>
            </a:r>
            <a:endParaRPr lang="en-US" sz="2000" dirty="0"/>
          </a:p>
        </p:txBody>
      </p:sp>
      <p:sp>
        <p:nvSpPr>
          <p:cNvPr id="19" name="Shape 16"/>
          <p:cNvSpPr/>
          <p:nvPr/>
        </p:nvSpPr>
        <p:spPr>
          <a:xfrm>
            <a:off x="6199632" y="2286000"/>
            <a:ext cx="1920240" cy="1143000"/>
          </a:xfrm>
          <a:prstGeom prst="roundRect">
            <a:avLst>
              <a:gd name="adj" fmla="val 9600"/>
            </a:avLst>
          </a:prstGeom>
          <a:solidFill>
            <a:srgbClr val="D9F2F1"/>
          </a:solidFill>
          <a:ln w="25400">
            <a:solidFill>
              <a:srgbClr val="0B7A7A"/>
            </a:solidFill>
            <a:prstDash val="solid"/>
          </a:ln>
        </p:spPr>
      </p:sp>
      <p:sp>
        <p:nvSpPr>
          <p:cNvPr id="20" name="Text 17"/>
          <p:cNvSpPr txBox="1"/>
          <p:nvPr/>
        </p:nvSpPr>
        <p:spPr>
          <a:xfrm>
            <a:off x="6291072" y="2286000"/>
            <a:ext cx="1737360" cy="11430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端末</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映像を見る</a:t>
            </a:r>
            <a:endParaRPr lang="en-US" sz="2000" dirty="0"/>
          </a:p>
        </p:txBody>
      </p:sp>
      <p:sp>
        <p:nvSpPr>
          <p:cNvPr id="21" name="Shape 18"/>
          <p:cNvSpPr/>
          <p:nvPr/>
        </p:nvSpPr>
        <p:spPr>
          <a:xfrm>
            <a:off x="9811512" y="2286000"/>
            <a:ext cx="1920240" cy="1143000"/>
          </a:xfrm>
          <a:prstGeom prst="roundRect">
            <a:avLst>
              <a:gd name="adj" fmla="val 9600"/>
            </a:avLst>
          </a:prstGeom>
          <a:solidFill>
            <a:srgbClr val="E6E1F7"/>
          </a:solidFill>
          <a:ln w="25400">
            <a:solidFill>
              <a:srgbClr val="5B46B8"/>
            </a:solidFill>
            <a:prstDash val="solid"/>
          </a:ln>
        </p:spPr>
      </p:sp>
      <p:sp>
        <p:nvSpPr>
          <p:cNvPr id="22" name="Text 19"/>
          <p:cNvSpPr txBox="1"/>
          <p:nvPr/>
        </p:nvSpPr>
        <p:spPr>
          <a:xfrm>
            <a:off x="9902952" y="2286000"/>
            <a:ext cx="1737360" cy="11430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サーバー</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映像を作る</a:t>
            </a:r>
            <a:endParaRPr lang="en-US" sz="2000" dirty="0"/>
          </a:p>
        </p:txBody>
      </p:sp>
      <p:sp>
        <p:nvSpPr>
          <p:cNvPr id="23" name="Shape 20"/>
          <p:cNvSpPr/>
          <p:nvPr/>
        </p:nvSpPr>
        <p:spPr>
          <a:xfrm>
            <a:off x="8119872" y="2606040"/>
            <a:ext cx="1691640" cy="0"/>
          </a:xfrm>
          <a:prstGeom prst="line">
            <a:avLst/>
          </a:prstGeom>
          <a:noFill/>
          <a:ln w="38100">
            <a:solidFill>
              <a:srgbClr val="0B7A7A"/>
            </a:solidFill>
            <a:prstDash val="solid"/>
            <a:tailEnd type="triangle"/>
          </a:ln>
        </p:spPr>
      </p:sp>
      <p:sp>
        <p:nvSpPr>
          <p:cNvPr id="24" name="Text 21"/>
          <p:cNvSpPr txBox="1"/>
          <p:nvPr/>
        </p:nvSpPr>
        <p:spPr>
          <a:xfrm>
            <a:off x="8599932" y="2199132"/>
            <a:ext cx="73152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操作</a:t>
            </a:r>
            <a:endParaRPr lang="en-US" sz="1800" dirty="0"/>
          </a:p>
        </p:txBody>
      </p:sp>
      <p:sp>
        <p:nvSpPr>
          <p:cNvPr id="25" name="Shape 22"/>
          <p:cNvSpPr/>
          <p:nvPr/>
        </p:nvSpPr>
        <p:spPr>
          <a:xfrm flipH="1">
            <a:off x="8119872" y="3108960"/>
            <a:ext cx="1691640" cy="0"/>
          </a:xfrm>
          <a:prstGeom prst="line">
            <a:avLst/>
          </a:prstGeom>
          <a:noFill/>
          <a:ln w="38100">
            <a:solidFill>
              <a:srgbClr val="5B46B8"/>
            </a:solidFill>
            <a:prstDash val="solid"/>
            <a:tailEnd type="triangle"/>
          </a:ln>
        </p:spPr>
      </p:sp>
      <p:sp>
        <p:nvSpPr>
          <p:cNvPr id="26" name="Text 23"/>
          <p:cNvSpPr txBox="1"/>
          <p:nvPr/>
        </p:nvSpPr>
        <p:spPr>
          <a:xfrm>
            <a:off x="8234172" y="3159252"/>
            <a:ext cx="146304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映像・音声</a:t>
            </a:r>
            <a:endParaRPr lang="en-US" sz="1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3794760"/>
          <a:ext cx="11274552" cy="914400"/>
        </p:xfrm>
        <a:graphic>
          <a:graphicData uri="http://schemas.openxmlformats.org/drawingml/2006/table">
            <a:tbl>
              <a:tblPr/>
              <a:tblGrid>
                <a:gridCol w="2743200"/>
                <a:gridCol w="4206240"/>
                <a:gridCol w="43251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通常のスマホ対戦</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クラウドゲーム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映像を作る場所</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主に自分の端末</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主に遠隔サーバー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主に受信するもの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ゲーム状態の更新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圧縮された映像・音声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主に送信するもの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操作情報など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操作情報など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通信で重要なこと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遅延・揺らぎ・損失</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それらに加え、映像の帯域</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ゲームの通信</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ゲームは場面ごとに違うサーバー機能を使う</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ゲームは、起動・ログイン・マッチング・対戦・保存と、場面ごとに別のサーバー機能を使います。「相手探しの待ち時間」と「試合中の遅延」は、別の問題です。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出典：[B07]</a:t>
            </a:r>
            <a:endParaRPr lang="ja-JP" sz="1200" dirty="0"/>
          </a:p>
        </p:txBody>
      </p:sp>
      <p:sp>
        <p:nvSpPr>
          <p:cNvPr id="9" name="Shape 6"/>
          <p:cNvSpPr/>
          <p:nvPr/>
        </p:nvSpPr>
        <p:spPr>
          <a:xfrm>
            <a:off x="457200" y="1691640"/>
            <a:ext cx="2103120" cy="676656"/>
          </a:xfrm>
          <a:prstGeom prst="roundRect">
            <a:avLst>
              <a:gd name="adj" fmla="val 16216"/>
            </a:avLst>
          </a:prstGeom>
          <a:solidFill>
            <a:srgbClr val="2F6BC2"/>
          </a:solidFill>
          <a:ln/>
        </p:spPr>
      </p:sp>
      <p:sp>
        <p:nvSpPr>
          <p:cNvPr id="10" name="Text 7"/>
          <p:cNvSpPr txBox="1"/>
          <p:nvPr/>
        </p:nvSpPr>
        <p:spPr>
          <a:xfrm>
            <a:off x="548640" y="1691640"/>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起動・更新</a:t>
            </a:r>
            <a:endParaRPr lang="en-US" sz="2000" dirty="0"/>
          </a:p>
        </p:txBody>
      </p:sp>
      <p:sp>
        <p:nvSpPr>
          <p:cNvPr id="11" name="Shape 8"/>
          <p:cNvSpPr/>
          <p:nvPr/>
        </p:nvSpPr>
        <p:spPr>
          <a:xfrm>
            <a:off x="2651760" y="1691640"/>
            <a:ext cx="5120640" cy="676656"/>
          </a:xfrm>
          <a:prstGeom prst="roundRect">
            <a:avLst>
              <a:gd name="adj" fmla="val 16216"/>
            </a:avLst>
          </a:prstGeom>
          <a:solidFill>
            <a:srgbClr val="DCE8F8"/>
          </a:solidFill>
          <a:ln w="25400">
            <a:solidFill>
              <a:srgbClr val="2F6BC2"/>
            </a:solidFill>
            <a:prstDash val="solid"/>
          </a:ln>
        </p:spPr>
      </p:sp>
      <p:sp>
        <p:nvSpPr>
          <p:cNvPr id="12" name="Text 9"/>
          <p:cNvSpPr txBox="1"/>
          <p:nvPr/>
        </p:nvSpPr>
        <p:spPr>
          <a:xfrm>
            <a:off x="2743200" y="1691640"/>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更新情報を確認し、必要なファイルを取得</a:t>
            </a:r>
            <a:endParaRPr lang="en-US" sz="1800" dirty="0"/>
          </a:p>
        </p:txBody>
      </p:sp>
      <p:sp>
        <p:nvSpPr>
          <p:cNvPr id="13" name="Shape 10"/>
          <p:cNvSpPr/>
          <p:nvPr/>
        </p:nvSpPr>
        <p:spPr>
          <a:xfrm>
            <a:off x="1508760" y="2368296"/>
            <a:ext cx="0" cy="82296"/>
          </a:xfrm>
          <a:prstGeom prst="line">
            <a:avLst/>
          </a:prstGeom>
          <a:noFill/>
          <a:ln w="25400">
            <a:solidFill>
              <a:srgbClr val="1B2A3A"/>
            </a:solidFill>
            <a:prstDash val="solid"/>
            <a:tailEnd type="triangle"/>
          </a:ln>
        </p:spPr>
      </p:sp>
      <p:sp>
        <p:nvSpPr>
          <p:cNvPr id="14" name="Shape 11"/>
          <p:cNvSpPr/>
          <p:nvPr/>
        </p:nvSpPr>
        <p:spPr>
          <a:xfrm>
            <a:off x="457200" y="2450592"/>
            <a:ext cx="2103120" cy="676656"/>
          </a:xfrm>
          <a:prstGeom prst="roundRect">
            <a:avLst>
              <a:gd name="adj" fmla="val 16216"/>
            </a:avLst>
          </a:prstGeom>
          <a:solidFill>
            <a:srgbClr val="237A48"/>
          </a:solidFill>
          <a:ln/>
        </p:spPr>
      </p:sp>
      <p:sp>
        <p:nvSpPr>
          <p:cNvPr id="15" name="Text 12"/>
          <p:cNvSpPr txBox="1"/>
          <p:nvPr/>
        </p:nvSpPr>
        <p:spPr>
          <a:xfrm>
            <a:off x="548640" y="2450592"/>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ログイン</a:t>
            </a:r>
            <a:endParaRPr lang="en-US" sz="2000" dirty="0"/>
          </a:p>
        </p:txBody>
      </p:sp>
      <p:sp>
        <p:nvSpPr>
          <p:cNvPr id="16" name="Shape 13"/>
          <p:cNvSpPr/>
          <p:nvPr/>
        </p:nvSpPr>
        <p:spPr>
          <a:xfrm>
            <a:off x="2651760" y="2450592"/>
            <a:ext cx="5120640" cy="676656"/>
          </a:xfrm>
          <a:prstGeom prst="roundRect">
            <a:avLst>
              <a:gd name="adj" fmla="val 16216"/>
            </a:avLst>
          </a:prstGeom>
          <a:solidFill>
            <a:srgbClr val="DDF1E4"/>
          </a:solidFill>
          <a:ln w="25400">
            <a:solidFill>
              <a:srgbClr val="237A48"/>
            </a:solidFill>
            <a:prstDash val="solid"/>
          </a:ln>
        </p:spPr>
      </p:sp>
      <p:sp>
        <p:nvSpPr>
          <p:cNvPr id="17" name="Text 14"/>
          <p:cNvSpPr txBox="1"/>
          <p:nvPr/>
        </p:nvSpPr>
        <p:spPr>
          <a:xfrm>
            <a:off x="2743200" y="2450592"/>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アカウントを確認</a:t>
            </a:r>
            <a:endParaRPr lang="en-US" sz="1800" dirty="0"/>
          </a:p>
        </p:txBody>
      </p:sp>
      <p:sp>
        <p:nvSpPr>
          <p:cNvPr id="18" name="Shape 15"/>
          <p:cNvSpPr/>
          <p:nvPr/>
        </p:nvSpPr>
        <p:spPr>
          <a:xfrm>
            <a:off x="1508760" y="3127248"/>
            <a:ext cx="0" cy="82296"/>
          </a:xfrm>
          <a:prstGeom prst="line">
            <a:avLst/>
          </a:prstGeom>
          <a:noFill/>
          <a:ln w="25400">
            <a:solidFill>
              <a:srgbClr val="1B2A3A"/>
            </a:solidFill>
            <a:prstDash val="solid"/>
            <a:tailEnd type="triangle"/>
          </a:ln>
        </p:spPr>
      </p:sp>
      <p:sp>
        <p:nvSpPr>
          <p:cNvPr id="19" name="Shape 16"/>
          <p:cNvSpPr/>
          <p:nvPr/>
        </p:nvSpPr>
        <p:spPr>
          <a:xfrm>
            <a:off x="457200" y="3209544"/>
            <a:ext cx="2103120" cy="676656"/>
          </a:xfrm>
          <a:prstGeom prst="roundRect">
            <a:avLst>
              <a:gd name="adj" fmla="val 16216"/>
            </a:avLst>
          </a:prstGeom>
          <a:solidFill>
            <a:srgbClr val="5B46B8"/>
          </a:solidFill>
          <a:ln/>
        </p:spPr>
      </p:sp>
      <p:sp>
        <p:nvSpPr>
          <p:cNvPr id="20" name="Text 17"/>
          <p:cNvSpPr txBox="1"/>
          <p:nvPr/>
        </p:nvSpPr>
        <p:spPr>
          <a:xfrm>
            <a:off x="548640" y="3209544"/>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ホーム画面</a:t>
            </a:r>
            <a:endParaRPr lang="en-US" sz="2000" dirty="0"/>
          </a:p>
        </p:txBody>
      </p:sp>
      <p:sp>
        <p:nvSpPr>
          <p:cNvPr id="21" name="Shape 18"/>
          <p:cNvSpPr/>
          <p:nvPr/>
        </p:nvSpPr>
        <p:spPr>
          <a:xfrm>
            <a:off x="2651760" y="3209544"/>
            <a:ext cx="5120640" cy="676656"/>
          </a:xfrm>
          <a:prstGeom prst="roundRect">
            <a:avLst>
              <a:gd name="adj" fmla="val 16216"/>
            </a:avLst>
          </a:prstGeom>
          <a:solidFill>
            <a:srgbClr val="E6E1F7"/>
          </a:solidFill>
          <a:ln w="25400">
            <a:solidFill>
              <a:srgbClr val="5B46B8"/>
            </a:solidFill>
            <a:prstDash val="solid"/>
          </a:ln>
        </p:spPr>
      </p:sp>
      <p:sp>
        <p:nvSpPr>
          <p:cNvPr id="22" name="Text 19"/>
          <p:cNvSpPr txBox="1"/>
          <p:nvPr/>
        </p:nvSpPr>
        <p:spPr>
          <a:xfrm>
            <a:off x="2743200" y="3209544"/>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所持キャラクター・アイテムを取得</a:t>
            </a:r>
            <a:endParaRPr lang="en-US" sz="1800" dirty="0"/>
          </a:p>
        </p:txBody>
      </p:sp>
      <p:sp>
        <p:nvSpPr>
          <p:cNvPr id="23" name="Shape 20"/>
          <p:cNvSpPr/>
          <p:nvPr/>
        </p:nvSpPr>
        <p:spPr>
          <a:xfrm>
            <a:off x="1508760" y="3886200"/>
            <a:ext cx="0" cy="82296"/>
          </a:xfrm>
          <a:prstGeom prst="line">
            <a:avLst/>
          </a:prstGeom>
          <a:noFill/>
          <a:ln w="25400">
            <a:solidFill>
              <a:srgbClr val="1B2A3A"/>
            </a:solidFill>
            <a:prstDash val="solid"/>
            <a:tailEnd type="triangle"/>
          </a:ln>
        </p:spPr>
      </p:sp>
      <p:sp>
        <p:nvSpPr>
          <p:cNvPr id="24" name="Shape 21"/>
          <p:cNvSpPr/>
          <p:nvPr/>
        </p:nvSpPr>
        <p:spPr>
          <a:xfrm>
            <a:off x="457200" y="3968496"/>
            <a:ext cx="2103120" cy="676656"/>
          </a:xfrm>
          <a:prstGeom prst="roundRect">
            <a:avLst>
              <a:gd name="adj" fmla="val 16216"/>
            </a:avLst>
          </a:prstGeom>
          <a:solidFill>
            <a:srgbClr val="B45309"/>
          </a:solidFill>
          <a:ln/>
        </p:spPr>
      </p:sp>
      <p:sp>
        <p:nvSpPr>
          <p:cNvPr id="25" name="Text 22"/>
          <p:cNvSpPr txBox="1"/>
          <p:nvPr/>
        </p:nvSpPr>
        <p:spPr>
          <a:xfrm>
            <a:off x="548640" y="3968496"/>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対戦開始</a:t>
            </a:r>
            <a:endParaRPr lang="en-US" sz="2000" dirty="0"/>
          </a:p>
        </p:txBody>
      </p:sp>
      <p:sp>
        <p:nvSpPr>
          <p:cNvPr id="26" name="Shape 23"/>
          <p:cNvSpPr/>
          <p:nvPr/>
        </p:nvSpPr>
        <p:spPr>
          <a:xfrm>
            <a:off x="2651760" y="3968496"/>
            <a:ext cx="5120640" cy="676656"/>
          </a:xfrm>
          <a:prstGeom prst="roundRect">
            <a:avLst>
              <a:gd name="adj" fmla="val 16216"/>
            </a:avLst>
          </a:prstGeom>
          <a:solidFill>
            <a:srgbClr val="FDEBD0"/>
          </a:solidFill>
          <a:ln w="25400">
            <a:solidFill>
              <a:srgbClr val="B45309"/>
            </a:solidFill>
            <a:prstDash val="solid"/>
          </a:ln>
        </p:spPr>
      </p:sp>
      <p:sp>
        <p:nvSpPr>
          <p:cNvPr id="27" name="Text 24"/>
          <p:cNvSpPr txBox="1"/>
          <p:nvPr/>
        </p:nvSpPr>
        <p:spPr>
          <a:xfrm>
            <a:off x="2743200" y="3968496"/>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対戦相手を探す（マッチメイキング）</a:t>
            </a:r>
            <a:endParaRPr lang="en-US" sz="1800" dirty="0"/>
          </a:p>
        </p:txBody>
      </p:sp>
      <p:sp>
        <p:nvSpPr>
          <p:cNvPr id="28" name="Shape 25"/>
          <p:cNvSpPr/>
          <p:nvPr/>
        </p:nvSpPr>
        <p:spPr>
          <a:xfrm>
            <a:off x="1508760" y="4645152"/>
            <a:ext cx="0" cy="82296"/>
          </a:xfrm>
          <a:prstGeom prst="line">
            <a:avLst/>
          </a:prstGeom>
          <a:noFill/>
          <a:ln w="25400">
            <a:solidFill>
              <a:srgbClr val="1B2A3A"/>
            </a:solidFill>
            <a:prstDash val="solid"/>
            <a:tailEnd type="triangle"/>
          </a:ln>
        </p:spPr>
      </p:sp>
      <p:sp>
        <p:nvSpPr>
          <p:cNvPr id="29" name="Shape 26"/>
          <p:cNvSpPr/>
          <p:nvPr/>
        </p:nvSpPr>
        <p:spPr>
          <a:xfrm>
            <a:off x="457200" y="4727448"/>
            <a:ext cx="2103120" cy="676656"/>
          </a:xfrm>
          <a:prstGeom prst="roundRect">
            <a:avLst>
              <a:gd name="adj" fmla="val 16216"/>
            </a:avLst>
          </a:prstGeom>
          <a:solidFill>
            <a:srgbClr val="0B7A7A"/>
          </a:solidFill>
          <a:ln/>
        </p:spPr>
      </p:sp>
      <p:sp>
        <p:nvSpPr>
          <p:cNvPr id="30" name="Text 27"/>
          <p:cNvSpPr txBox="1"/>
          <p:nvPr/>
        </p:nvSpPr>
        <p:spPr>
          <a:xfrm>
            <a:off x="548640" y="4727448"/>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対戦中</a:t>
            </a:r>
            <a:endParaRPr lang="en-US" sz="2000" dirty="0"/>
          </a:p>
        </p:txBody>
      </p:sp>
      <p:sp>
        <p:nvSpPr>
          <p:cNvPr id="31" name="Shape 28"/>
          <p:cNvSpPr/>
          <p:nvPr/>
        </p:nvSpPr>
        <p:spPr>
          <a:xfrm>
            <a:off x="2651760" y="4727448"/>
            <a:ext cx="5120640" cy="676656"/>
          </a:xfrm>
          <a:prstGeom prst="roundRect">
            <a:avLst>
              <a:gd name="adj" fmla="val 16216"/>
            </a:avLst>
          </a:prstGeom>
          <a:solidFill>
            <a:srgbClr val="D9F2F1"/>
          </a:solidFill>
          <a:ln w="25400">
            <a:solidFill>
              <a:srgbClr val="0B7A7A"/>
            </a:solidFill>
            <a:prstDash val="solid"/>
          </a:ln>
        </p:spPr>
      </p:sp>
      <p:sp>
        <p:nvSpPr>
          <p:cNvPr id="32" name="Text 29"/>
          <p:cNvSpPr txBox="1"/>
          <p:nvPr/>
        </p:nvSpPr>
        <p:spPr>
          <a:xfrm>
            <a:off x="2743200" y="4727448"/>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操作や状態の情報を継続して交換</a:t>
            </a:r>
            <a:endParaRPr lang="en-US" sz="1800" dirty="0"/>
          </a:p>
        </p:txBody>
      </p:sp>
      <p:sp>
        <p:nvSpPr>
          <p:cNvPr id="33" name="Shape 30"/>
          <p:cNvSpPr/>
          <p:nvPr/>
        </p:nvSpPr>
        <p:spPr>
          <a:xfrm>
            <a:off x="1508760" y="5404104"/>
            <a:ext cx="0" cy="82296"/>
          </a:xfrm>
          <a:prstGeom prst="line">
            <a:avLst/>
          </a:prstGeom>
          <a:noFill/>
          <a:ln w="25400">
            <a:solidFill>
              <a:srgbClr val="1B2A3A"/>
            </a:solidFill>
            <a:prstDash val="solid"/>
            <a:tailEnd type="triangle"/>
          </a:ln>
        </p:spPr>
      </p:sp>
      <p:sp>
        <p:nvSpPr>
          <p:cNvPr id="34" name="Shape 31"/>
          <p:cNvSpPr/>
          <p:nvPr/>
        </p:nvSpPr>
        <p:spPr>
          <a:xfrm>
            <a:off x="457200" y="5486400"/>
            <a:ext cx="2103120" cy="676656"/>
          </a:xfrm>
          <a:prstGeom prst="roundRect">
            <a:avLst>
              <a:gd name="adj" fmla="val 16216"/>
            </a:avLst>
          </a:prstGeom>
          <a:solidFill>
            <a:srgbClr val="5B46B8"/>
          </a:solidFill>
          <a:ln/>
        </p:spPr>
      </p:sp>
      <p:sp>
        <p:nvSpPr>
          <p:cNvPr id="35" name="Text 32"/>
          <p:cNvSpPr txBox="1"/>
          <p:nvPr/>
        </p:nvSpPr>
        <p:spPr>
          <a:xfrm>
            <a:off x="548640" y="5486400"/>
            <a:ext cx="1920240" cy="6766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対戦終了</a:t>
            </a:r>
            <a:endParaRPr lang="en-US" sz="2000" dirty="0"/>
          </a:p>
        </p:txBody>
      </p:sp>
      <p:sp>
        <p:nvSpPr>
          <p:cNvPr id="36" name="Shape 33"/>
          <p:cNvSpPr/>
          <p:nvPr/>
        </p:nvSpPr>
        <p:spPr>
          <a:xfrm>
            <a:off x="2651760" y="5486400"/>
            <a:ext cx="5120640" cy="676656"/>
          </a:xfrm>
          <a:prstGeom prst="roundRect">
            <a:avLst>
              <a:gd name="adj" fmla="val 16216"/>
            </a:avLst>
          </a:prstGeom>
          <a:solidFill>
            <a:srgbClr val="E6E1F7"/>
          </a:solidFill>
          <a:ln w="25400">
            <a:solidFill>
              <a:srgbClr val="5B46B8"/>
            </a:solidFill>
            <a:prstDash val="solid"/>
          </a:ln>
        </p:spPr>
      </p:sp>
      <p:sp>
        <p:nvSpPr>
          <p:cNvPr id="37" name="Text 34"/>
          <p:cNvSpPr txBox="1"/>
          <p:nvPr/>
        </p:nvSpPr>
        <p:spPr>
          <a:xfrm>
            <a:off x="2743200" y="5486400"/>
            <a:ext cx="4937760" cy="676656"/>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勝敗・報酬・戦績を保存</a:t>
            </a:r>
            <a:endParaRPr lang="en-US" sz="1800" dirty="0"/>
          </a:p>
        </p:txBody>
      </p:sp>
      <p:sp>
        <p:nvSpPr>
          <p:cNvPr id="38" name="Shape 35"/>
          <p:cNvSpPr/>
          <p:nvPr/>
        </p:nvSpPr>
        <p:spPr>
          <a:xfrm>
            <a:off x="8092440" y="1691640"/>
            <a:ext cx="3639312" cy="2103120"/>
          </a:xfrm>
          <a:prstGeom prst="roundRect">
            <a:avLst>
              <a:gd name="adj" fmla="val 5217"/>
            </a:avLst>
          </a:prstGeom>
          <a:solidFill>
            <a:srgbClr val="DDF1E4"/>
          </a:solidFill>
          <a:ln w="19050">
            <a:solidFill>
              <a:srgbClr val="237A48"/>
            </a:solidFill>
            <a:prstDash val="solid"/>
          </a:ln>
        </p:spPr>
      </p:sp>
      <p:sp>
        <p:nvSpPr>
          <p:cNvPr id="39" name="Shape 36"/>
          <p:cNvSpPr/>
          <p:nvPr/>
        </p:nvSpPr>
        <p:spPr>
          <a:xfrm>
            <a:off x="8229600" y="2514600"/>
            <a:ext cx="457200" cy="457200"/>
          </a:xfrm>
          <a:prstGeom prst="ellipse">
            <a:avLst/>
          </a:prstGeom>
          <a:solidFill>
            <a:srgbClr val="237A48"/>
          </a:solidFill>
          <a:ln/>
        </p:spPr>
      </p:sp>
      <p:pic>
        <p:nvPicPr>
          <p:cNvPr id="40" name="Image 0" descr="preencoded.png">    </p:cNvPr>
          <p:cNvPicPr>
            <a:picLocks noChangeAspect="1"/>
          </p:cNvPicPr>
          <p:nvPr/>
        </p:nvPicPr>
        <p:blipFill>
          <a:blip r:embed="rId1"/>
          <a:stretch>
            <a:fillRect/>
          </a:stretch>
        </p:blipFill>
        <p:spPr>
          <a:xfrm>
            <a:off x="8330184" y="2615184"/>
            <a:ext cx="256032" cy="256032"/>
          </a:xfrm>
          <a:prstGeom prst="rect">
            <a:avLst/>
          </a:prstGeom>
        </p:spPr>
      </p:pic>
      <p:sp>
        <p:nvSpPr>
          <p:cNvPr id="41" name="Text 37"/>
          <p:cNvSpPr txBox="1"/>
          <p:nvPr/>
        </p:nvSpPr>
        <p:spPr>
          <a:xfrm>
            <a:off x="8823960" y="1737360"/>
            <a:ext cx="2770632" cy="2011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Supercellは世界各地にサーバーを置き、地域ごとにマッチメイキングする[B07]</a:t>
            </a:r>
            <a:endParaRPr lang="en-US" sz="1800" dirty="0"/>
          </a:p>
        </p:txBody>
      </p:sp>
      <p:sp>
        <p:nvSpPr>
          <p:cNvPr id="42" name="Shape 38"/>
          <p:cNvSpPr/>
          <p:nvPr/>
        </p:nvSpPr>
        <p:spPr>
          <a:xfrm>
            <a:off x="8092440" y="3931920"/>
            <a:ext cx="3639312" cy="2331720"/>
          </a:xfrm>
          <a:prstGeom prst="roundRect">
            <a:avLst>
              <a:gd name="adj" fmla="val 4706"/>
            </a:avLst>
          </a:prstGeom>
          <a:solidFill>
            <a:srgbClr val="FBE3E0"/>
          </a:solidFill>
          <a:ln w="19050">
            <a:solidFill>
              <a:srgbClr val="C0392B"/>
            </a:solidFill>
            <a:prstDash val="solid"/>
          </a:ln>
        </p:spPr>
      </p:sp>
      <p:sp>
        <p:nvSpPr>
          <p:cNvPr id="43" name="Shape 39"/>
          <p:cNvSpPr/>
          <p:nvPr/>
        </p:nvSpPr>
        <p:spPr>
          <a:xfrm>
            <a:off x="8229600" y="4869180"/>
            <a:ext cx="457200" cy="457200"/>
          </a:xfrm>
          <a:prstGeom prst="ellipse">
            <a:avLst/>
          </a:prstGeom>
          <a:solidFill>
            <a:srgbClr val="C0392B"/>
          </a:solidFill>
          <a:ln/>
        </p:spPr>
      </p:sp>
      <p:pic>
        <p:nvPicPr>
          <p:cNvPr id="44" name="Image 1" descr="preencoded.png">    </p:cNvPr>
          <p:cNvPicPr>
            <a:picLocks noChangeAspect="1"/>
          </p:cNvPicPr>
          <p:nvPr/>
        </p:nvPicPr>
        <p:blipFill>
          <a:blip r:embed="rId2"/>
          <a:stretch>
            <a:fillRect/>
          </a:stretch>
        </p:blipFill>
        <p:spPr>
          <a:xfrm>
            <a:off x="8330184" y="4969764"/>
            <a:ext cx="256032" cy="256032"/>
          </a:xfrm>
          <a:prstGeom prst="rect">
            <a:avLst/>
          </a:prstGeom>
        </p:spPr>
      </p:pic>
      <p:sp>
        <p:nvSpPr>
          <p:cNvPr id="45" name="Text 40"/>
          <p:cNvSpPr txBox="1"/>
          <p:nvPr/>
        </p:nvSpPr>
        <p:spPr>
          <a:xfrm>
            <a:off x="8823960" y="3977640"/>
            <a:ext cx="2770632" cy="22402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相手を見つける待ち時間と、試合中の遅延は別の問題</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ゲームの通信</a:t>
            </a:r>
            <a:endParaRPr lang="ja-JP" sz="1400" dirty="0"/>
          </a:p>
        </p:txBody>
      </p:sp>
      <p:sp>
        <p:nvSpPr>
          <p:cNvPr id="3" name="Text 1"/>
          <p:cNvSpPr txBox="1"/>
          <p:nvPr/>
        </p:nvSpPr>
        <p:spPr>
          <a:xfrm>
            <a:off x="8122615" y="237744"/>
            <a:ext cx="3611880" cy="310896"/>
          </a:xfrm>
          <a:prstGeom prst="roundRect">
            <a:avLst>
              <a:gd name="adj" fmla="val 50000"/>
            </a:avLst>
          </a:prstGeom>
          <a:solidFill>
            <a:srgbClr val="DCE8F8"/>
          </a:solidFill>
          <a:ln w="9525">
            <a:solidFill>
              <a:srgbClr val="1E3A8A"/>
            </a:solidFill>
          </a:ln>
        </p:spPr>
        <p:txBody>
          <a:bodyPr wrap="square" lIns="0" tIns="0" rIns="0" bIns="0" rtlCol="0" anchor="ctr"/>
          <a:lstStyle/>
          <a:p>
            <a:pPr algn="ctr" indent="0" marL="0">
              <a:buNone/>
            </a:pPr>
            <a:r>
              <a:rPr lang="ja-JP" altLang="en-US" sz="1400" b="1" dirty="0">
                <a:solidFill>
                  <a:srgbClr val="1E3A8A"/>
                </a:solidFill>
                <a:latin typeface="Yu Gothic" pitchFamily="34" charset="0"/>
                <a:ea typeface="Yu Gothic" pitchFamily="34" charset="-122"/>
                <a:cs typeface="Yu Gothic" pitchFamily="34" charset="-120"/>
              </a:rPr>
              <a:t>一般例（個別サービスの仕様ではない）</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対戦中は操作を送り、サーバーが決め、端末が描く</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（一般例）両者の操作がサーバーに集まり、サーバーが結果を決めて両方へ返し、各スマホが自分で画面を描きます。ブロスタ・荒野行動の内部方式は非公開です。</a:t>
            </a:r>
            <a:endParaRPr lang="en-US" sz="1800" dirty="0"/>
          </a:p>
        </p:txBody>
      </p:sp>
      <p:sp>
        <p:nvSpPr>
          <p:cNvPr id="7" name="Shape 4"/>
          <p:cNvSpPr/>
          <p:nvPr/>
        </p:nvSpPr>
        <p:spPr>
          <a:xfrm>
            <a:off x="1101852" y="1691640"/>
            <a:ext cx="2468880" cy="658368"/>
          </a:xfrm>
          <a:prstGeom prst="roundRect">
            <a:avLst>
              <a:gd name="adj" fmla="val 13889"/>
            </a:avLst>
          </a:prstGeom>
          <a:solidFill>
            <a:srgbClr val="0B7A7A"/>
          </a:solidFill>
          <a:ln w="25400">
            <a:solidFill>
              <a:srgbClr val="0B7A7A"/>
            </a:solidFill>
            <a:prstDash val="solid"/>
          </a:ln>
        </p:spPr>
      </p:sp>
      <p:sp>
        <p:nvSpPr>
          <p:cNvPr id="8" name="Shape 5"/>
          <p:cNvSpPr/>
          <p:nvPr/>
        </p:nvSpPr>
        <p:spPr>
          <a:xfrm>
            <a:off x="1229868" y="1783080"/>
            <a:ext cx="475488" cy="475488"/>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1334475" y="1887687"/>
            <a:ext cx="266273" cy="266273"/>
          </a:xfrm>
          <a:prstGeom prst="rect">
            <a:avLst/>
          </a:prstGeom>
        </p:spPr>
      </p:pic>
      <p:sp>
        <p:nvSpPr>
          <p:cNvPr id="10" name="Text 6"/>
          <p:cNvSpPr txBox="1"/>
          <p:nvPr/>
        </p:nvSpPr>
        <p:spPr>
          <a:xfrm>
            <a:off x="1796796" y="1691640"/>
            <a:ext cx="1682496" cy="65836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あなたのスマホ</a:t>
            </a:r>
            <a:endParaRPr lang="en-US" sz="1800" dirty="0"/>
          </a:p>
        </p:txBody>
      </p:sp>
      <p:sp>
        <p:nvSpPr>
          <p:cNvPr id="11" name="Shape 7"/>
          <p:cNvSpPr/>
          <p:nvPr/>
        </p:nvSpPr>
        <p:spPr>
          <a:xfrm>
            <a:off x="4860036" y="1691640"/>
            <a:ext cx="2468880" cy="658368"/>
          </a:xfrm>
          <a:prstGeom prst="roundRect">
            <a:avLst>
              <a:gd name="adj" fmla="val 13889"/>
            </a:avLst>
          </a:prstGeom>
          <a:solidFill>
            <a:srgbClr val="5B46B8"/>
          </a:solidFill>
          <a:ln w="25400">
            <a:solidFill>
              <a:srgbClr val="5B46B8"/>
            </a:solidFill>
            <a:prstDash val="solid"/>
          </a:ln>
        </p:spPr>
      </p:sp>
      <p:sp>
        <p:nvSpPr>
          <p:cNvPr id="12" name="Shape 8"/>
          <p:cNvSpPr/>
          <p:nvPr/>
        </p:nvSpPr>
        <p:spPr>
          <a:xfrm>
            <a:off x="4988052" y="1783080"/>
            <a:ext cx="475488" cy="475488"/>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5092659" y="1887687"/>
            <a:ext cx="266273" cy="266273"/>
          </a:xfrm>
          <a:prstGeom prst="rect">
            <a:avLst/>
          </a:prstGeom>
        </p:spPr>
      </p:pic>
      <p:sp>
        <p:nvSpPr>
          <p:cNvPr id="14" name="Text 9"/>
          <p:cNvSpPr txBox="1"/>
          <p:nvPr/>
        </p:nvSpPr>
        <p:spPr>
          <a:xfrm>
            <a:off x="5554980" y="1691640"/>
            <a:ext cx="1682496" cy="65836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対戦サーバー</a:t>
            </a:r>
            <a:endParaRPr lang="en-US" sz="1800" dirty="0"/>
          </a:p>
        </p:txBody>
      </p:sp>
      <p:sp>
        <p:nvSpPr>
          <p:cNvPr id="15" name="Shape 10"/>
          <p:cNvSpPr/>
          <p:nvPr/>
        </p:nvSpPr>
        <p:spPr>
          <a:xfrm>
            <a:off x="8618220" y="1691640"/>
            <a:ext cx="2468880" cy="658368"/>
          </a:xfrm>
          <a:prstGeom prst="roundRect">
            <a:avLst>
              <a:gd name="adj" fmla="val 13889"/>
            </a:avLst>
          </a:prstGeom>
          <a:solidFill>
            <a:srgbClr val="0B7A7A"/>
          </a:solidFill>
          <a:ln w="25400">
            <a:solidFill>
              <a:srgbClr val="0B7A7A"/>
            </a:solidFill>
            <a:prstDash val="solid"/>
          </a:ln>
        </p:spPr>
      </p:sp>
      <p:sp>
        <p:nvSpPr>
          <p:cNvPr id="16" name="Shape 11"/>
          <p:cNvSpPr/>
          <p:nvPr/>
        </p:nvSpPr>
        <p:spPr>
          <a:xfrm>
            <a:off x="8746236" y="1783080"/>
            <a:ext cx="475488" cy="475488"/>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8850843" y="1887687"/>
            <a:ext cx="266273" cy="266273"/>
          </a:xfrm>
          <a:prstGeom prst="rect">
            <a:avLst/>
          </a:prstGeom>
        </p:spPr>
      </p:pic>
      <p:sp>
        <p:nvSpPr>
          <p:cNvPr id="18" name="Text 12"/>
          <p:cNvSpPr txBox="1"/>
          <p:nvPr/>
        </p:nvSpPr>
        <p:spPr>
          <a:xfrm>
            <a:off x="9313164" y="1691640"/>
            <a:ext cx="1682496" cy="65836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相手のスマホ</a:t>
            </a:r>
            <a:endParaRPr lang="en-US" sz="1800" dirty="0"/>
          </a:p>
        </p:txBody>
      </p:sp>
      <p:sp>
        <p:nvSpPr>
          <p:cNvPr id="19" name="Shape 13"/>
          <p:cNvSpPr/>
          <p:nvPr/>
        </p:nvSpPr>
        <p:spPr>
          <a:xfrm>
            <a:off x="2336292" y="2350008"/>
            <a:ext cx="0" cy="4005072"/>
          </a:xfrm>
          <a:prstGeom prst="line">
            <a:avLst/>
          </a:prstGeom>
          <a:noFill/>
          <a:ln w="19050">
            <a:solidFill>
              <a:srgbClr val="94A3B8"/>
            </a:solidFill>
            <a:prstDash val="dash"/>
          </a:ln>
        </p:spPr>
      </p:sp>
      <p:sp>
        <p:nvSpPr>
          <p:cNvPr id="20" name="Shape 14"/>
          <p:cNvSpPr/>
          <p:nvPr/>
        </p:nvSpPr>
        <p:spPr>
          <a:xfrm>
            <a:off x="6094476" y="2350008"/>
            <a:ext cx="0" cy="4005072"/>
          </a:xfrm>
          <a:prstGeom prst="line">
            <a:avLst/>
          </a:prstGeom>
          <a:noFill/>
          <a:ln w="19050">
            <a:solidFill>
              <a:srgbClr val="94A3B8"/>
            </a:solidFill>
            <a:prstDash val="dash"/>
          </a:ln>
        </p:spPr>
      </p:sp>
      <p:sp>
        <p:nvSpPr>
          <p:cNvPr id="21" name="Shape 15"/>
          <p:cNvSpPr/>
          <p:nvPr/>
        </p:nvSpPr>
        <p:spPr>
          <a:xfrm>
            <a:off x="9852660" y="2350008"/>
            <a:ext cx="0" cy="4005072"/>
          </a:xfrm>
          <a:prstGeom prst="line">
            <a:avLst/>
          </a:prstGeom>
          <a:noFill/>
          <a:ln w="19050">
            <a:solidFill>
              <a:srgbClr val="94A3B8"/>
            </a:solidFill>
            <a:prstDash val="dash"/>
          </a:ln>
        </p:spPr>
      </p:sp>
      <p:sp>
        <p:nvSpPr>
          <p:cNvPr id="22" name="Text 16"/>
          <p:cNvSpPr txBox="1"/>
          <p:nvPr/>
        </p:nvSpPr>
        <p:spPr>
          <a:xfrm>
            <a:off x="2473452" y="2587752"/>
            <a:ext cx="3483864"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① 移動・攻撃の操作情報</a:t>
            </a:r>
            <a:endParaRPr lang="en-US" sz="1800" dirty="0"/>
          </a:p>
        </p:txBody>
      </p:sp>
      <p:sp>
        <p:nvSpPr>
          <p:cNvPr id="23" name="Shape 17"/>
          <p:cNvSpPr/>
          <p:nvPr/>
        </p:nvSpPr>
        <p:spPr>
          <a:xfrm>
            <a:off x="2372868" y="2926080"/>
            <a:ext cx="3685032" cy="0"/>
          </a:xfrm>
          <a:prstGeom prst="line">
            <a:avLst/>
          </a:prstGeom>
          <a:noFill/>
          <a:ln w="31750">
            <a:solidFill>
              <a:srgbClr val="0B7A7A"/>
            </a:solidFill>
            <a:prstDash val="solid"/>
            <a:tailEnd type="triangle"/>
          </a:ln>
        </p:spPr>
      </p:sp>
      <p:sp>
        <p:nvSpPr>
          <p:cNvPr id="24" name="Text 18"/>
          <p:cNvSpPr txBox="1"/>
          <p:nvPr/>
        </p:nvSpPr>
        <p:spPr>
          <a:xfrm>
            <a:off x="6231636" y="3227832"/>
            <a:ext cx="3483864"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② 相手の操作情報</a:t>
            </a:r>
            <a:endParaRPr lang="en-US" sz="1800" dirty="0"/>
          </a:p>
        </p:txBody>
      </p:sp>
      <p:sp>
        <p:nvSpPr>
          <p:cNvPr id="25" name="Shape 19"/>
          <p:cNvSpPr/>
          <p:nvPr/>
        </p:nvSpPr>
        <p:spPr>
          <a:xfrm flipH="1">
            <a:off x="6131052" y="3566160"/>
            <a:ext cx="3685032" cy="0"/>
          </a:xfrm>
          <a:prstGeom prst="line">
            <a:avLst/>
          </a:prstGeom>
          <a:noFill/>
          <a:ln w="31750">
            <a:solidFill>
              <a:srgbClr val="0B7A7A"/>
            </a:solidFill>
            <a:prstDash val="solid"/>
            <a:tailEnd type="triangle"/>
          </a:ln>
        </p:spPr>
      </p:sp>
      <p:sp>
        <p:nvSpPr>
          <p:cNvPr id="26" name="Shape 20"/>
          <p:cNvSpPr/>
          <p:nvPr/>
        </p:nvSpPr>
        <p:spPr>
          <a:xfrm>
            <a:off x="3991356" y="3758184"/>
            <a:ext cx="4206240" cy="603504"/>
          </a:xfrm>
          <a:prstGeom prst="roundRect">
            <a:avLst>
              <a:gd name="adj" fmla="val 15152"/>
            </a:avLst>
          </a:prstGeom>
          <a:solidFill>
            <a:srgbClr val="E6E1F7"/>
          </a:solidFill>
          <a:ln w="15875">
            <a:solidFill>
              <a:srgbClr val="5B46B8"/>
            </a:solidFill>
            <a:prstDash val="solid"/>
          </a:ln>
        </p:spPr>
      </p:sp>
      <p:sp>
        <p:nvSpPr>
          <p:cNvPr id="27" name="Text 21"/>
          <p:cNvSpPr txBox="1"/>
          <p:nvPr/>
        </p:nvSpPr>
        <p:spPr>
          <a:xfrm>
            <a:off x="4128516" y="3758184"/>
            <a:ext cx="3931920" cy="603504"/>
          </a:xfrm>
          <a:prstGeom prst="rect">
            <a:avLst/>
          </a:prstGeom>
          <a:noFill/>
          <a:ln/>
        </p:spPr>
        <p:txBody>
          <a:bodyPr wrap="square" lIns="0" tIns="0" rIns="0" bIns="0" rtlCol="0" anchor="ctr"/>
          <a:lstStyle/>
          <a:p>
            <a:pPr algn="ct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ルールに従って状態や結果を計算</a:t>
            </a:r>
            <a:endParaRPr lang="en-US" sz="1800" dirty="0"/>
          </a:p>
        </p:txBody>
      </p:sp>
      <p:sp>
        <p:nvSpPr>
          <p:cNvPr id="28" name="Text 22"/>
          <p:cNvSpPr txBox="1"/>
          <p:nvPr/>
        </p:nvSpPr>
        <p:spPr>
          <a:xfrm>
            <a:off x="2473452" y="4544568"/>
            <a:ext cx="3483864"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③ 更新されたゲーム状態</a:t>
            </a:r>
            <a:endParaRPr lang="en-US" sz="1800" dirty="0"/>
          </a:p>
        </p:txBody>
      </p:sp>
      <p:sp>
        <p:nvSpPr>
          <p:cNvPr id="29" name="Shape 23"/>
          <p:cNvSpPr/>
          <p:nvPr/>
        </p:nvSpPr>
        <p:spPr>
          <a:xfrm flipH="1">
            <a:off x="2372868" y="4882896"/>
            <a:ext cx="3685032" cy="0"/>
          </a:xfrm>
          <a:prstGeom prst="line">
            <a:avLst/>
          </a:prstGeom>
          <a:noFill/>
          <a:ln w="31750">
            <a:solidFill>
              <a:srgbClr val="5B46B8"/>
            </a:solidFill>
            <a:prstDash val="dash"/>
            <a:tailEnd type="triangle"/>
          </a:ln>
        </p:spPr>
      </p:sp>
      <p:sp>
        <p:nvSpPr>
          <p:cNvPr id="30" name="Text 24"/>
          <p:cNvSpPr txBox="1"/>
          <p:nvPr/>
        </p:nvSpPr>
        <p:spPr>
          <a:xfrm>
            <a:off x="6231636" y="5184648"/>
            <a:ext cx="3483864"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④ 更新されたゲーム状態</a:t>
            </a:r>
            <a:endParaRPr lang="en-US" sz="1800" dirty="0"/>
          </a:p>
        </p:txBody>
      </p:sp>
      <p:sp>
        <p:nvSpPr>
          <p:cNvPr id="31" name="Shape 25"/>
          <p:cNvSpPr/>
          <p:nvPr/>
        </p:nvSpPr>
        <p:spPr>
          <a:xfrm>
            <a:off x="6131052" y="5522976"/>
            <a:ext cx="3685032" cy="0"/>
          </a:xfrm>
          <a:prstGeom prst="line">
            <a:avLst/>
          </a:prstGeom>
          <a:noFill/>
          <a:ln w="31750">
            <a:solidFill>
              <a:srgbClr val="5B46B8"/>
            </a:solidFill>
            <a:prstDash val="dash"/>
            <a:tailEnd type="triangle"/>
          </a:ln>
        </p:spPr>
      </p:sp>
      <p:sp>
        <p:nvSpPr>
          <p:cNvPr id="32" name="Shape 26"/>
          <p:cNvSpPr/>
          <p:nvPr/>
        </p:nvSpPr>
        <p:spPr>
          <a:xfrm>
            <a:off x="2665476" y="5715000"/>
            <a:ext cx="6858000" cy="603504"/>
          </a:xfrm>
          <a:prstGeom prst="roundRect">
            <a:avLst>
              <a:gd name="adj" fmla="val 15152"/>
            </a:avLst>
          </a:prstGeom>
          <a:solidFill>
            <a:srgbClr val="D9F2F1"/>
          </a:solidFill>
          <a:ln w="15875">
            <a:solidFill>
              <a:srgbClr val="0B7A7A"/>
            </a:solidFill>
            <a:prstDash val="solid"/>
          </a:ln>
        </p:spPr>
      </p:sp>
      <p:sp>
        <p:nvSpPr>
          <p:cNvPr id="33" name="Text 27"/>
          <p:cNvSpPr txBox="1"/>
          <p:nvPr/>
        </p:nvSpPr>
        <p:spPr>
          <a:xfrm>
            <a:off x="2802636" y="5715000"/>
            <a:ext cx="6583680" cy="603504"/>
          </a:xfrm>
          <a:prstGeom prst="rect">
            <a:avLst/>
          </a:prstGeom>
          <a:noFill/>
          <a:ln/>
        </p:spPr>
        <p:txBody>
          <a:bodyPr wrap="square" lIns="0" tIns="0" rIns="0" bIns="0" rtlCol="0" anchor="ctr"/>
          <a:lstStyle/>
          <a:p>
            <a:pPr algn="ct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受信情報を使って、各端末が画面を描画</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ゲームの通信</a:t>
            </a:r>
            <a:endParaRPr lang="ja-JP" sz="1400" dirty="0"/>
          </a:p>
        </p:txBody>
      </p:sp>
      <p:sp>
        <p:nvSpPr>
          <p:cNvPr id="3" name="Text 1"/>
          <p:cNvSpPr txBox="1"/>
          <p:nvPr/>
        </p:nvSpPr>
        <p:spPr>
          <a:xfrm>
            <a:off x="8122615" y="237744"/>
            <a:ext cx="3611880" cy="310896"/>
          </a:xfrm>
          <a:prstGeom prst="roundRect">
            <a:avLst>
              <a:gd name="adj" fmla="val 50000"/>
            </a:avLst>
          </a:prstGeom>
          <a:solidFill>
            <a:srgbClr val="DCE8F8"/>
          </a:solidFill>
          <a:ln w="9525">
            <a:solidFill>
              <a:srgbClr val="1E3A8A"/>
            </a:solidFill>
          </a:ln>
        </p:spPr>
        <p:txBody>
          <a:bodyPr wrap="square" lIns="0" tIns="0" rIns="0" bIns="0" rtlCol="0" anchor="ctr"/>
          <a:lstStyle/>
          <a:p>
            <a:pPr algn="ctr" indent="0" marL="0">
              <a:buNone/>
            </a:pPr>
            <a:r>
              <a:rPr lang="ja-JP" altLang="en-US" sz="1400" b="1" dirty="0">
                <a:solidFill>
                  <a:srgbClr val="1E3A8A"/>
                </a:solidFill>
                <a:latin typeface="Yu Gothic" pitchFamily="34" charset="0"/>
                <a:ea typeface="Yu Gothic" pitchFamily="34" charset="-122"/>
                <a:cs typeface="Yu Gothic" pitchFamily="34" charset="-120"/>
              </a:rPr>
              <a:t>一般例（個別サービスの仕様ではない）</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サーバーが最終判断し、端末は予測で先に動かす</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端末の「命中した」という申告をそのまま信じると不正に弱いので、サーバーが最終判断します。待つと遅く感じるため、端末は予測で先に動き、あとで補正します。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出典：[B08]</a:t>
            </a:r>
            <a:endParaRPr lang="ja-JP" sz="1200" dirty="0"/>
          </a:p>
        </p:txBody>
      </p:sp>
      <p:sp>
        <p:nvSpPr>
          <p:cNvPr id="8" name="Shape 5"/>
          <p:cNvSpPr/>
          <p:nvPr/>
        </p:nvSpPr>
        <p:spPr>
          <a:xfrm>
            <a:off x="457200" y="1737360"/>
            <a:ext cx="2377440" cy="1188720"/>
          </a:xfrm>
          <a:prstGeom prst="roundRect">
            <a:avLst>
              <a:gd name="adj" fmla="val 9231"/>
            </a:avLst>
          </a:prstGeom>
          <a:solidFill>
            <a:srgbClr val="D9F2F1"/>
          </a:solidFill>
          <a:ln w="25400">
            <a:solidFill>
              <a:srgbClr val="0B7A7A"/>
            </a:solidFill>
            <a:prstDash val="solid"/>
          </a:ln>
        </p:spPr>
      </p:sp>
      <p:sp>
        <p:nvSpPr>
          <p:cNvPr id="9" name="Text 6"/>
          <p:cNvSpPr txBox="1"/>
          <p:nvPr/>
        </p:nvSpPr>
        <p:spPr>
          <a:xfrm>
            <a:off x="548640" y="1737360"/>
            <a:ext cx="219456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端末</a:t>
            </a:r>
            <a:endParaRPr lang="en-US" sz="20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命中したと申告</a:t>
            </a:r>
            <a:endParaRPr lang="en-US" sz="2000" dirty="0"/>
          </a:p>
        </p:txBody>
      </p:sp>
      <p:sp>
        <p:nvSpPr>
          <p:cNvPr id="10" name="Shape 7"/>
          <p:cNvSpPr/>
          <p:nvPr/>
        </p:nvSpPr>
        <p:spPr>
          <a:xfrm>
            <a:off x="3200400" y="1737360"/>
            <a:ext cx="2651760" cy="1188720"/>
          </a:xfrm>
          <a:prstGeom prst="roundRect">
            <a:avLst>
              <a:gd name="adj" fmla="val 9231"/>
            </a:avLst>
          </a:prstGeom>
          <a:solidFill>
            <a:srgbClr val="5B46B8"/>
          </a:solidFill>
          <a:ln/>
        </p:spPr>
      </p:sp>
      <p:sp>
        <p:nvSpPr>
          <p:cNvPr id="11" name="Text 8"/>
          <p:cNvSpPr txBox="1"/>
          <p:nvPr/>
        </p:nvSpPr>
        <p:spPr>
          <a:xfrm>
            <a:off x="3291840" y="1737360"/>
            <a:ext cx="246888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位置・時間を確認</a:t>
            </a:r>
            <a:endParaRPr lang="en-US" sz="2000" dirty="0"/>
          </a:p>
        </p:txBody>
      </p:sp>
      <p:sp>
        <p:nvSpPr>
          <p:cNvPr id="12" name="Shape 9"/>
          <p:cNvSpPr/>
          <p:nvPr/>
        </p:nvSpPr>
        <p:spPr>
          <a:xfrm>
            <a:off x="2834640" y="2331720"/>
            <a:ext cx="365760" cy="0"/>
          </a:xfrm>
          <a:prstGeom prst="line">
            <a:avLst/>
          </a:prstGeom>
          <a:noFill/>
          <a:ln w="38100">
            <a:solidFill>
              <a:srgbClr val="0B7A7A"/>
            </a:solidFill>
            <a:prstDash val="solid"/>
            <a:tailEnd type="triangle"/>
          </a:ln>
        </p:spPr>
      </p:sp>
      <p:sp>
        <p:nvSpPr>
          <p:cNvPr id="13" name="Shape 10"/>
          <p:cNvSpPr/>
          <p:nvPr/>
        </p:nvSpPr>
        <p:spPr>
          <a:xfrm>
            <a:off x="457200" y="3154680"/>
            <a:ext cx="5394960" cy="1143000"/>
          </a:xfrm>
          <a:prstGeom prst="roundRect">
            <a:avLst>
              <a:gd name="adj" fmla="val 9600"/>
            </a:avLst>
          </a:prstGeom>
          <a:solidFill>
            <a:srgbClr val="FBE3E0"/>
          </a:solidFill>
          <a:ln w="19050">
            <a:solidFill>
              <a:srgbClr val="C0392B"/>
            </a:solidFill>
            <a:prstDash val="solid"/>
          </a:ln>
        </p:spPr>
      </p:sp>
      <p:sp>
        <p:nvSpPr>
          <p:cNvPr id="14" name="Shape 11"/>
          <p:cNvSpPr/>
          <p:nvPr/>
        </p:nvSpPr>
        <p:spPr>
          <a:xfrm>
            <a:off x="594360" y="3497580"/>
            <a:ext cx="457200" cy="457200"/>
          </a:xfrm>
          <a:prstGeom prst="ellipse">
            <a:avLst/>
          </a:prstGeom>
          <a:solidFill>
            <a:srgbClr val="C0392B"/>
          </a:solidFill>
          <a:ln/>
        </p:spPr>
      </p:sp>
      <p:pic>
        <p:nvPicPr>
          <p:cNvPr id="15" name="Image 0" descr="preencoded.png">    </p:cNvPr>
          <p:cNvPicPr>
            <a:picLocks noChangeAspect="1"/>
          </p:cNvPicPr>
          <p:nvPr/>
        </p:nvPicPr>
        <p:blipFill>
          <a:blip r:embed="rId1"/>
          <a:stretch>
            <a:fillRect/>
          </a:stretch>
        </p:blipFill>
        <p:spPr>
          <a:xfrm>
            <a:off x="694944" y="3598164"/>
            <a:ext cx="256032" cy="256032"/>
          </a:xfrm>
          <a:prstGeom prst="rect">
            <a:avLst/>
          </a:prstGeom>
        </p:spPr>
      </p:pic>
      <p:sp>
        <p:nvSpPr>
          <p:cNvPr id="16" name="Text 12"/>
          <p:cNvSpPr txBox="1"/>
          <p:nvPr/>
        </p:nvSpPr>
        <p:spPr>
          <a:xfrm>
            <a:off x="1188720" y="3200400"/>
            <a:ext cx="4526280" cy="10515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申告を信じると、不正な改変に弱い</a:t>
            </a:r>
            <a:endParaRPr lang="en-US" sz="1800" dirty="0"/>
          </a:p>
        </p:txBody>
      </p:sp>
      <p:sp>
        <p:nvSpPr>
          <p:cNvPr id="17" name="Shape 13"/>
          <p:cNvSpPr/>
          <p:nvPr/>
        </p:nvSpPr>
        <p:spPr>
          <a:xfrm>
            <a:off x="457200" y="4434840"/>
            <a:ext cx="5394960" cy="1828800"/>
          </a:xfrm>
          <a:prstGeom prst="roundRect">
            <a:avLst>
              <a:gd name="adj" fmla="val 6000"/>
            </a:avLst>
          </a:prstGeom>
          <a:solidFill>
            <a:srgbClr val="DDF1E4"/>
          </a:solidFill>
          <a:ln w="19050">
            <a:solidFill>
              <a:srgbClr val="237A48"/>
            </a:solidFill>
            <a:prstDash val="solid"/>
          </a:ln>
        </p:spPr>
      </p:sp>
      <p:sp>
        <p:nvSpPr>
          <p:cNvPr id="18" name="Shape 14"/>
          <p:cNvSpPr/>
          <p:nvPr/>
        </p:nvSpPr>
        <p:spPr>
          <a:xfrm>
            <a:off x="594360" y="5120640"/>
            <a:ext cx="457200" cy="457200"/>
          </a:xfrm>
          <a:prstGeom prst="ellipse">
            <a:avLst/>
          </a:prstGeom>
          <a:solidFill>
            <a:srgbClr val="237A48"/>
          </a:solidFill>
          <a:ln/>
        </p:spPr>
      </p:sp>
      <p:pic>
        <p:nvPicPr>
          <p:cNvPr id="19" name="Image 1" descr="preencoded.png">    </p:cNvPr>
          <p:cNvPicPr>
            <a:picLocks noChangeAspect="1"/>
          </p:cNvPicPr>
          <p:nvPr/>
        </p:nvPicPr>
        <p:blipFill>
          <a:blip r:embed="rId2"/>
          <a:stretch>
            <a:fillRect/>
          </a:stretch>
        </p:blipFill>
        <p:spPr>
          <a:xfrm>
            <a:off x="694944" y="5221224"/>
            <a:ext cx="256032" cy="256032"/>
          </a:xfrm>
          <a:prstGeom prst="rect">
            <a:avLst/>
          </a:prstGeom>
        </p:spPr>
      </p:pic>
      <p:sp>
        <p:nvSpPr>
          <p:cNvPr id="20" name="Text 15"/>
          <p:cNvSpPr txBox="1"/>
          <p:nvPr/>
        </p:nvSpPr>
        <p:spPr>
          <a:xfrm>
            <a:off x="1188720" y="4480560"/>
            <a:ext cx="4526280" cy="17373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サーバーが確認して結果を決める。どこまで判断するかはゲームごとに違う</a:t>
            </a:r>
            <a:endParaRPr lang="en-US" sz="1800" dirty="0"/>
          </a:p>
        </p:txBody>
      </p:sp>
      <p:sp>
        <p:nvSpPr>
          <p:cNvPr id="21" name="Shape 16"/>
          <p:cNvSpPr/>
          <p:nvPr/>
        </p:nvSpPr>
        <p:spPr>
          <a:xfrm>
            <a:off x="6126480" y="5257800"/>
            <a:ext cx="5605272" cy="1005840"/>
          </a:xfrm>
          <a:prstGeom prst="roundRect">
            <a:avLst>
              <a:gd name="adj" fmla="val 10909"/>
            </a:avLst>
          </a:prstGeom>
          <a:solidFill>
            <a:srgbClr val="FDEBD0"/>
          </a:solidFill>
          <a:ln w="19050">
            <a:solidFill>
              <a:srgbClr val="B45309"/>
            </a:solidFill>
            <a:prstDash val="solid"/>
          </a:ln>
        </p:spPr>
      </p:sp>
      <p:sp>
        <p:nvSpPr>
          <p:cNvPr id="22" name="Shape 17"/>
          <p:cNvSpPr/>
          <p:nvPr/>
        </p:nvSpPr>
        <p:spPr>
          <a:xfrm>
            <a:off x="6263640" y="5532120"/>
            <a:ext cx="457200" cy="457200"/>
          </a:xfrm>
          <a:prstGeom prst="ellipse">
            <a:avLst/>
          </a:prstGeom>
          <a:solidFill>
            <a:srgbClr val="B45309"/>
          </a:solidFill>
          <a:ln/>
        </p:spPr>
      </p:sp>
      <p:pic>
        <p:nvPicPr>
          <p:cNvPr id="23" name="Image 2" descr="preencoded.png">    </p:cNvPr>
          <p:cNvPicPr>
            <a:picLocks noChangeAspect="1"/>
          </p:cNvPicPr>
          <p:nvPr/>
        </p:nvPicPr>
        <p:blipFill>
          <a:blip r:embed="rId3"/>
          <a:stretch>
            <a:fillRect/>
          </a:stretch>
        </p:blipFill>
        <p:spPr>
          <a:xfrm>
            <a:off x="6364224" y="5632704"/>
            <a:ext cx="256032" cy="256032"/>
          </a:xfrm>
          <a:prstGeom prst="rect">
            <a:avLst/>
          </a:prstGeom>
        </p:spPr>
      </p:pic>
      <p:sp>
        <p:nvSpPr>
          <p:cNvPr id="24" name="Text 18"/>
          <p:cNvSpPr txBox="1"/>
          <p:nvPr/>
        </p:nvSpPr>
        <p:spPr>
          <a:xfrm>
            <a:off x="6858000" y="5303520"/>
            <a:ext cx="4736592" cy="9144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不安定だと予測との差が大きく、急な位置の修正が目立つ[B08]</a:t>
            </a:r>
            <a:endParaRPr lang="en-US" sz="1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126480" y="1737360"/>
          <a:ext cx="5605272" cy="914400"/>
        </p:xfrm>
        <a:graphic>
          <a:graphicData uri="http://schemas.openxmlformats.org/drawingml/2006/table">
            <a:tbl>
              <a:tblPr/>
              <a:tblGrid>
                <a:gridCol w="2103120"/>
                <a:gridCol w="35021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技術</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やっていること</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3152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クライアント側予測</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返事を待つ間、自分の動きを先に予測</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補間</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位置情報の間をなめらかにつなぐ</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3152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整合・補正</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サーバーの結果と違えば表示を修正</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遅延補償</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通信の遅れを考慮して判定を調整</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ゲームの通信</a:t>
            </a:r>
            <a:endParaRPr lang="ja-JP" sz="1400" dirty="0"/>
          </a:p>
        </p:txBody>
      </p:sp>
      <p:sp>
        <p:nvSpPr>
          <p:cNvPr id="3" name="Text 1"/>
          <p:cNvSpPr txBox="1"/>
          <p:nvPr/>
        </p:nvSpPr>
        <p:spPr>
          <a:xfrm>
            <a:off x="8122615" y="237744"/>
            <a:ext cx="3611880" cy="310896"/>
          </a:xfrm>
          <a:prstGeom prst="roundRect">
            <a:avLst>
              <a:gd name="adj" fmla="val 50000"/>
            </a:avLst>
          </a:prstGeom>
          <a:solidFill>
            <a:srgbClr val="DCE8F8"/>
          </a:solidFill>
          <a:ln w="9525">
            <a:solidFill>
              <a:srgbClr val="1E3A8A"/>
            </a:solidFill>
          </a:ln>
        </p:spPr>
        <p:txBody>
          <a:bodyPr wrap="square" lIns="0" tIns="0" rIns="0" bIns="0" rtlCol="0" anchor="ctr"/>
          <a:lstStyle/>
          <a:p>
            <a:pPr algn="ctr" indent="0" marL="0">
              <a:buNone/>
            </a:pPr>
            <a:r>
              <a:rPr lang="ja-JP" altLang="en-US" sz="1400" b="1" dirty="0">
                <a:solidFill>
                  <a:srgbClr val="1E3A8A"/>
                </a:solidFill>
                <a:latin typeface="Yu Gothic" pitchFamily="34" charset="0"/>
                <a:ea typeface="Yu Gothic" pitchFamily="34" charset="-122"/>
                <a:cs typeface="Yu Gothic" pitchFamily="34" charset="-120"/>
              </a:rPr>
              <a:t>一般例（個別サービスの仕様ではない）</a:t>
            </a:r>
            <a:endParaRPr lang="ja-JP" sz="1400" dirty="0"/>
          </a:p>
        </p:txBody>
      </p:sp>
      <p:sp>
        <p:nvSpPr>
          <p:cNvPr id="4" name="Text 2"/>
          <p:cNvSpPr txBox="1"/>
          <p:nvPr/>
        </p:nvSpPr>
        <p:spPr>
          <a:xfrm>
            <a:off x="6356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公式が示す範囲と、一般的な構成例は区別する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公式資料で確認できることと、一般的な技術説明は区別して読みます。特にブロスタ・荒野行動の通信方式は、公開情報がない部分を断定しません。</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出典：[B07] [B08]</a:t>
            </a:r>
            <a:endParaRPr lang="ja-JP" sz="1200" dirty="0"/>
          </a:p>
        </p:txBody>
      </p:sp>
      <p:sp>
        <p:nvSpPr>
          <p:cNvPr id="9" name="Shape 6"/>
          <p:cNvSpPr/>
          <p:nvPr/>
        </p:nvSpPr>
        <p:spPr>
          <a:xfrm>
            <a:off x="457200" y="1691640"/>
            <a:ext cx="3611880" cy="502920"/>
          </a:xfrm>
          <a:prstGeom prst="roundRect">
            <a:avLst>
              <a:gd name="adj" fmla="val 18182"/>
            </a:avLst>
          </a:prstGeom>
          <a:solidFill>
            <a:srgbClr val="16324F"/>
          </a:solidFill>
          <a:ln/>
        </p:spPr>
      </p:sp>
      <p:sp>
        <p:nvSpPr>
          <p:cNvPr id="10" name="Text 7"/>
          <p:cNvSpPr txBox="1"/>
          <p:nvPr/>
        </p:nvSpPr>
        <p:spPr>
          <a:xfrm>
            <a:off x="548640" y="1691640"/>
            <a:ext cx="3429000" cy="50292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ブロスタ</a:t>
            </a:r>
            <a:endParaRPr lang="en-US" sz="2200" dirty="0"/>
          </a:p>
        </p:txBody>
      </p:sp>
      <p:sp>
        <p:nvSpPr>
          <p:cNvPr id="11" name="Shape 8"/>
          <p:cNvSpPr/>
          <p:nvPr/>
        </p:nvSpPr>
        <p:spPr>
          <a:xfrm>
            <a:off x="457200" y="2286000"/>
            <a:ext cx="3611880" cy="3017520"/>
          </a:xfrm>
          <a:prstGeom prst="roundRect">
            <a:avLst>
              <a:gd name="adj" fmla="val 4242"/>
            </a:avLst>
          </a:prstGeom>
          <a:solidFill>
            <a:srgbClr val="F1F5F9"/>
          </a:solidFill>
          <a:ln/>
        </p:spPr>
      </p:sp>
      <p:sp>
        <p:nvSpPr>
          <p:cNvPr id="12" name="Text 9"/>
          <p:cNvSpPr txBox="1"/>
          <p:nvPr/>
        </p:nvSpPr>
        <p:spPr>
          <a:xfrm>
            <a:off x="640080" y="2377440"/>
            <a:ext cx="324612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言えること</a:t>
            </a:r>
            <a:endParaRPr lang="en-US" sz="2000" dirty="0"/>
          </a:p>
        </p:txBody>
      </p:sp>
      <p:sp>
        <p:nvSpPr>
          <p:cNvPr id="13" name="Text 10"/>
          <p:cNvSpPr txBox="1"/>
          <p:nvPr/>
        </p:nvSpPr>
        <p:spPr>
          <a:xfrm>
            <a:off x="640080" y="2788920"/>
            <a:ext cx="3246120" cy="100584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世界各地にサーバー・地域ごとのマッチメイキング[B07]</a:t>
            </a:r>
            <a:endParaRPr lang="en-US" sz="2000" dirty="0"/>
          </a:p>
        </p:txBody>
      </p:sp>
      <p:sp>
        <p:nvSpPr>
          <p:cNvPr id="14" name="Text 11"/>
          <p:cNvSpPr txBox="1"/>
          <p:nvPr/>
        </p:nvSpPr>
        <p:spPr>
          <a:xfrm>
            <a:off x="640080" y="3840480"/>
            <a:ext cx="324612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C0392B"/>
                </a:solidFill>
                <a:latin typeface="Yu Gothic" pitchFamily="34" charset="0"/>
                <a:ea typeface="Yu Gothic" pitchFamily="34" charset="-122"/>
                <a:cs typeface="Yu Gothic" pitchFamily="34" charset="-120"/>
              </a:rPr>
              <a:t>断定しないこと</a:t>
            </a:r>
            <a:endParaRPr lang="en-US" sz="2000" dirty="0"/>
          </a:p>
        </p:txBody>
      </p:sp>
      <p:sp>
        <p:nvSpPr>
          <p:cNvPr id="15" name="Text 12"/>
          <p:cNvSpPr txBox="1"/>
          <p:nvPr/>
        </p:nvSpPr>
        <p:spPr>
          <a:xfrm>
            <a:off x="640080" y="4251960"/>
            <a:ext cx="3246120" cy="96012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通信方式・ポート・処理周期</a:t>
            </a:r>
            <a:endParaRPr lang="en-US" sz="2000" dirty="0"/>
          </a:p>
        </p:txBody>
      </p:sp>
      <p:sp>
        <p:nvSpPr>
          <p:cNvPr id="16" name="Shape 13"/>
          <p:cNvSpPr/>
          <p:nvPr/>
        </p:nvSpPr>
        <p:spPr>
          <a:xfrm>
            <a:off x="4288536" y="1691640"/>
            <a:ext cx="3611880" cy="502920"/>
          </a:xfrm>
          <a:prstGeom prst="roundRect">
            <a:avLst>
              <a:gd name="adj" fmla="val 18182"/>
            </a:avLst>
          </a:prstGeom>
          <a:solidFill>
            <a:srgbClr val="16324F"/>
          </a:solidFill>
          <a:ln/>
        </p:spPr>
      </p:sp>
      <p:sp>
        <p:nvSpPr>
          <p:cNvPr id="17" name="Text 14"/>
          <p:cNvSpPr txBox="1"/>
          <p:nvPr/>
        </p:nvSpPr>
        <p:spPr>
          <a:xfrm>
            <a:off x="4379976" y="1691640"/>
            <a:ext cx="3429000" cy="50292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荒野行動</a:t>
            </a:r>
            <a:endParaRPr lang="en-US" sz="2200" dirty="0"/>
          </a:p>
        </p:txBody>
      </p:sp>
      <p:sp>
        <p:nvSpPr>
          <p:cNvPr id="18" name="Shape 15"/>
          <p:cNvSpPr/>
          <p:nvPr/>
        </p:nvSpPr>
        <p:spPr>
          <a:xfrm>
            <a:off x="4288536" y="2286000"/>
            <a:ext cx="3611880" cy="3017520"/>
          </a:xfrm>
          <a:prstGeom prst="roundRect">
            <a:avLst>
              <a:gd name="adj" fmla="val 4242"/>
            </a:avLst>
          </a:prstGeom>
          <a:solidFill>
            <a:srgbClr val="F1F5F9"/>
          </a:solidFill>
          <a:ln/>
        </p:spPr>
      </p:sp>
      <p:sp>
        <p:nvSpPr>
          <p:cNvPr id="19" name="Text 16"/>
          <p:cNvSpPr txBox="1"/>
          <p:nvPr/>
        </p:nvSpPr>
        <p:spPr>
          <a:xfrm>
            <a:off x="4471416" y="2377440"/>
            <a:ext cx="324612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言えること</a:t>
            </a:r>
            <a:endParaRPr lang="en-US" sz="2000" dirty="0"/>
          </a:p>
        </p:txBody>
      </p:sp>
      <p:sp>
        <p:nvSpPr>
          <p:cNvPr id="20" name="Text 17"/>
          <p:cNvSpPr txBox="1"/>
          <p:nvPr/>
        </p:nvSpPr>
        <p:spPr>
          <a:xfrm>
            <a:off x="4471416" y="2788920"/>
            <a:ext cx="3246120" cy="100584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今回の資料では公式の通信仕様は未確認</a:t>
            </a:r>
            <a:endParaRPr lang="en-US" sz="2000" dirty="0"/>
          </a:p>
        </p:txBody>
      </p:sp>
      <p:sp>
        <p:nvSpPr>
          <p:cNvPr id="21" name="Text 18"/>
          <p:cNvSpPr txBox="1"/>
          <p:nvPr/>
        </p:nvSpPr>
        <p:spPr>
          <a:xfrm>
            <a:off x="4471416" y="3840480"/>
            <a:ext cx="324612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C0392B"/>
                </a:solidFill>
                <a:latin typeface="Yu Gothic" pitchFamily="34" charset="0"/>
                <a:ea typeface="Yu Gothic" pitchFamily="34" charset="-122"/>
                <a:cs typeface="Yu Gothic" pitchFamily="34" charset="-120"/>
              </a:rPr>
              <a:t>断定しないこと</a:t>
            </a:r>
            <a:endParaRPr lang="en-US" sz="2000" dirty="0"/>
          </a:p>
        </p:txBody>
      </p:sp>
      <p:sp>
        <p:nvSpPr>
          <p:cNvPr id="22" name="Text 19"/>
          <p:cNvSpPr txBox="1"/>
          <p:nvPr/>
        </p:nvSpPr>
        <p:spPr>
          <a:xfrm>
            <a:off x="4471416" y="4251960"/>
            <a:ext cx="3246120" cy="96012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サーバー構成・プロトコル</a:t>
            </a:r>
            <a:endParaRPr lang="en-US" sz="2000" dirty="0"/>
          </a:p>
        </p:txBody>
      </p:sp>
      <p:sp>
        <p:nvSpPr>
          <p:cNvPr id="23" name="Shape 20"/>
          <p:cNvSpPr/>
          <p:nvPr/>
        </p:nvSpPr>
        <p:spPr>
          <a:xfrm>
            <a:off x="8119872" y="1691640"/>
            <a:ext cx="3611880" cy="502920"/>
          </a:xfrm>
          <a:prstGeom prst="roundRect">
            <a:avLst>
              <a:gd name="adj" fmla="val 18182"/>
            </a:avLst>
          </a:prstGeom>
          <a:solidFill>
            <a:srgbClr val="16324F"/>
          </a:solidFill>
          <a:ln/>
        </p:spPr>
      </p:sp>
      <p:sp>
        <p:nvSpPr>
          <p:cNvPr id="24" name="Text 21"/>
          <p:cNvSpPr txBox="1"/>
          <p:nvPr/>
        </p:nvSpPr>
        <p:spPr>
          <a:xfrm>
            <a:off x="8211312" y="1691640"/>
            <a:ext cx="3429000" cy="50292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一般的な対戦ゲーム</a:t>
            </a:r>
            <a:endParaRPr lang="en-US" sz="2200" dirty="0"/>
          </a:p>
        </p:txBody>
      </p:sp>
      <p:sp>
        <p:nvSpPr>
          <p:cNvPr id="25" name="Shape 22"/>
          <p:cNvSpPr/>
          <p:nvPr/>
        </p:nvSpPr>
        <p:spPr>
          <a:xfrm>
            <a:off x="8119872" y="2286000"/>
            <a:ext cx="3611880" cy="3017520"/>
          </a:xfrm>
          <a:prstGeom prst="roundRect">
            <a:avLst>
              <a:gd name="adj" fmla="val 4242"/>
            </a:avLst>
          </a:prstGeom>
          <a:solidFill>
            <a:srgbClr val="F1F5F9"/>
          </a:solidFill>
          <a:ln/>
        </p:spPr>
      </p:sp>
      <p:sp>
        <p:nvSpPr>
          <p:cNvPr id="26" name="Text 23"/>
          <p:cNvSpPr txBox="1"/>
          <p:nvPr/>
        </p:nvSpPr>
        <p:spPr>
          <a:xfrm>
            <a:off x="8302752" y="2377440"/>
            <a:ext cx="324612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言えること</a:t>
            </a:r>
            <a:endParaRPr lang="en-US" sz="2000" dirty="0"/>
          </a:p>
        </p:txBody>
      </p:sp>
      <p:sp>
        <p:nvSpPr>
          <p:cNvPr id="27" name="Text 24"/>
          <p:cNvSpPr txBox="1"/>
          <p:nvPr/>
        </p:nvSpPr>
        <p:spPr>
          <a:xfrm>
            <a:off x="8302752" y="2788920"/>
            <a:ext cx="3246120" cy="100584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予測・補間・補正・遅延補償の考え方[B08]</a:t>
            </a:r>
            <a:endParaRPr lang="en-US" sz="2000" dirty="0"/>
          </a:p>
        </p:txBody>
      </p:sp>
      <p:sp>
        <p:nvSpPr>
          <p:cNvPr id="28" name="Text 25"/>
          <p:cNvSpPr txBox="1"/>
          <p:nvPr/>
        </p:nvSpPr>
        <p:spPr>
          <a:xfrm>
            <a:off x="8302752" y="3840480"/>
            <a:ext cx="324612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C0392B"/>
                </a:solidFill>
                <a:latin typeface="Yu Gothic" pitchFamily="34" charset="0"/>
                <a:ea typeface="Yu Gothic" pitchFamily="34" charset="-122"/>
                <a:cs typeface="Yu Gothic" pitchFamily="34" charset="-120"/>
              </a:rPr>
              <a:t>断定しないこと</a:t>
            </a:r>
            <a:endParaRPr lang="en-US" sz="2000" dirty="0"/>
          </a:p>
        </p:txBody>
      </p:sp>
      <p:sp>
        <p:nvSpPr>
          <p:cNvPr id="29" name="Text 26"/>
          <p:cNvSpPr txBox="1"/>
          <p:nvPr/>
        </p:nvSpPr>
        <p:spPr>
          <a:xfrm>
            <a:off x="8302752" y="4251960"/>
            <a:ext cx="3246120" cy="960120"/>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特定タイトルが同じ実装であること</a:t>
            </a:r>
            <a:endParaRPr lang="en-US" sz="2000" dirty="0"/>
          </a:p>
        </p:txBody>
      </p:sp>
      <p:sp>
        <p:nvSpPr>
          <p:cNvPr id="30" name="Shape 27"/>
          <p:cNvSpPr/>
          <p:nvPr/>
        </p:nvSpPr>
        <p:spPr>
          <a:xfrm>
            <a:off x="457200" y="5468112"/>
            <a:ext cx="11274552" cy="822960"/>
          </a:xfrm>
          <a:prstGeom prst="roundRect">
            <a:avLst>
              <a:gd name="adj" fmla="val 13333"/>
            </a:avLst>
          </a:prstGeom>
          <a:solidFill>
            <a:srgbClr val="DCE8F8"/>
          </a:solidFill>
          <a:ln w="19050">
            <a:solidFill>
              <a:srgbClr val="2F6BC2"/>
            </a:solidFill>
            <a:prstDash val="solid"/>
          </a:ln>
        </p:spPr>
      </p:sp>
      <p:sp>
        <p:nvSpPr>
          <p:cNvPr id="31" name="Shape 28"/>
          <p:cNvSpPr/>
          <p:nvPr/>
        </p:nvSpPr>
        <p:spPr>
          <a:xfrm>
            <a:off x="594360" y="5650992"/>
            <a:ext cx="457200" cy="457200"/>
          </a:xfrm>
          <a:prstGeom prst="ellipse">
            <a:avLst/>
          </a:prstGeom>
          <a:solidFill>
            <a:srgbClr val="2F6BC2"/>
          </a:solidFill>
          <a:ln/>
        </p:spPr>
      </p:sp>
      <p:pic>
        <p:nvPicPr>
          <p:cNvPr id="32" name="Image 0" descr="preencoded.png">    </p:cNvPr>
          <p:cNvPicPr>
            <a:picLocks noChangeAspect="1"/>
          </p:cNvPicPr>
          <p:nvPr/>
        </p:nvPicPr>
        <p:blipFill>
          <a:blip r:embed="rId1"/>
          <a:stretch>
            <a:fillRect/>
          </a:stretch>
        </p:blipFill>
        <p:spPr>
          <a:xfrm>
            <a:off x="694944" y="5751576"/>
            <a:ext cx="256032" cy="256032"/>
          </a:xfrm>
          <a:prstGeom prst="rect">
            <a:avLst/>
          </a:prstGeom>
        </p:spPr>
      </p:pic>
      <p:sp>
        <p:nvSpPr>
          <p:cNvPr id="33" name="Text 29"/>
          <p:cNvSpPr txBox="1"/>
          <p:nvPr/>
        </p:nvSpPr>
        <p:spPr>
          <a:xfrm>
            <a:off x="1188720" y="5513832"/>
            <a:ext cx="10405872" cy="7315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公式に確認できたこと・一般的な技術説明・推測を混ぜない</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AI・機械学習・深層学習・生成AI・LLMは入れ子の関係</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AI・機械学習・深層学習・生成AI・LLMは、外側が広く内側が狭い入れ子の関係です。ChatGPTは、LLMを使った生成AIサービスの一つです。</a:t>
            </a:r>
            <a:endParaRPr lang="en-US" sz="1800" dirty="0"/>
          </a:p>
        </p:txBody>
      </p:sp>
      <p:sp>
        <p:nvSpPr>
          <p:cNvPr id="7" name="Shape 4"/>
          <p:cNvSpPr/>
          <p:nvPr/>
        </p:nvSpPr>
        <p:spPr>
          <a:xfrm>
            <a:off x="457200" y="1691640"/>
            <a:ext cx="6766560" cy="4572000"/>
          </a:xfrm>
          <a:prstGeom prst="roundRect">
            <a:avLst>
              <a:gd name="adj" fmla="val 2400"/>
            </a:avLst>
          </a:prstGeom>
          <a:solidFill>
            <a:srgbClr val="F1F5F9"/>
          </a:solidFill>
          <a:ln w="15875">
            <a:solidFill>
              <a:srgbClr val="5B46B8"/>
            </a:solidFill>
            <a:prstDash val="solid"/>
          </a:ln>
        </p:spPr>
      </p:sp>
      <p:sp>
        <p:nvSpPr>
          <p:cNvPr id="8" name="Text 5"/>
          <p:cNvSpPr txBox="1"/>
          <p:nvPr/>
        </p:nvSpPr>
        <p:spPr>
          <a:xfrm>
            <a:off x="594360" y="1764792"/>
            <a:ext cx="6492240" cy="384048"/>
          </a:xfrm>
          <a:prstGeom prst="rect">
            <a:avLst/>
          </a:prstGeom>
          <a:noFill/>
          <a:ln/>
        </p:spPr>
        <p:txBody>
          <a:bodyPr wrap="square" lIns="0" tIns="0" rIns="0" bIns="0" rtlCol="0" anchor="t"/>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AI：人の知的な作業を機械で実現する技術の総称</a:t>
            </a:r>
            <a:endParaRPr lang="en-US" sz="1800" dirty="0"/>
          </a:p>
        </p:txBody>
      </p:sp>
      <p:sp>
        <p:nvSpPr>
          <p:cNvPr id="9" name="Shape 6"/>
          <p:cNvSpPr/>
          <p:nvPr/>
        </p:nvSpPr>
        <p:spPr>
          <a:xfrm>
            <a:off x="731520" y="2194560"/>
            <a:ext cx="6217920" cy="3931920"/>
          </a:xfrm>
          <a:prstGeom prst="roundRect">
            <a:avLst>
              <a:gd name="adj" fmla="val 2791"/>
            </a:avLst>
          </a:prstGeom>
          <a:solidFill>
            <a:srgbClr val="E2E8F0"/>
          </a:solidFill>
          <a:ln w="15875">
            <a:solidFill>
              <a:srgbClr val="5B46B8"/>
            </a:solidFill>
            <a:prstDash val="solid"/>
          </a:ln>
        </p:spPr>
      </p:sp>
      <p:sp>
        <p:nvSpPr>
          <p:cNvPr id="10" name="Text 7"/>
          <p:cNvSpPr txBox="1"/>
          <p:nvPr/>
        </p:nvSpPr>
        <p:spPr>
          <a:xfrm>
            <a:off x="868680" y="2267712"/>
            <a:ext cx="5943600" cy="384048"/>
          </a:xfrm>
          <a:prstGeom prst="rect">
            <a:avLst/>
          </a:prstGeom>
          <a:noFill/>
          <a:ln/>
        </p:spPr>
        <p:txBody>
          <a:bodyPr wrap="square" lIns="0" tIns="0" rIns="0" bIns="0" rtlCol="0" anchor="t"/>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機械学習：データから規則や数値を学ぶ</a:t>
            </a:r>
            <a:endParaRPr lang="en-US" sz="1800" dirty="0"/>
          </a:p>
        </p:txBody>
      </p:sp>
      <p:sp>
        <p:nvSpPr>
          <p:cNvPr id="11" name="Shape 8"/>
          <p:cNvSpPr/>
          <p:nvPr/>
        </p:nvSpPr>
        <p:spPr>
          <a:xfrm>
            <a:off x="1005840" y="2697480"/>
            <a:ext cx="5669280" cy="3291840"/>
          </a:xfrm>
          <a:prstGeom prst="roundRect">
            <a:avLst>
              <a:gd name="adj" fmla="val 3333"/>
            </a:avLst>
          </a:prstGeom>
          <a:solidFill>
            <a:srgbClr val="E6E1F7"/>
          </a:solidFill>
          <a:ln w="15875">
            <a:solidFill>
              <a:srgbClr val="5B46B8"/>
            </a:solidFill>
            <a:prstDash val="solid"/>
          </a:ln>
        </p:spPr>
      </p:sp>
      <p:sp>
        <p:nvSpPr>
          <p:cNvPr id="12" name="Text 9"/>
          <p:cNvSpPr txBox="1"/>
          <p:nvPr/>
        </p:nvSpPr>
        <p:spPr>
          <a:xfrm>
            <a:off x="1143000" y="2770632"/>
            <a:ext cx="5394960" cy="384048"/>
          </a:xfrm>
          <a:prstGeom prst="rect">
            <a:avLst/>
          </a:prstGeom>
          <a:noFill/>
          <a:ln/>
        </p:spPr>
        <p:txBody>
          <a:bodyPr wrap="square" lIns="0" tIns="0" rIns="0" bIns="0" rtlCol="0" anchor="t"/>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深層学習：多層のニューラルネットワーク</a:t>
            </a:r>
            <a:endParaRPr lang="en-US" sz="1800" dirty="0"/>
          </a:p>
        </p:txBody>
      </p:sp>
      <p:sp>
        <p:nvSpPr>
          <p:cNvPr id="13" name="Shape 10"/>
          <p:cNvSpPr/>
          <p:nvPr/>
        </p:nvSpPr>
        <p:spPr>
          <a:xfrm>
            <a:off x="1280160" y="3200400"/>
            <a:ext cx="5120640" cy="2651760"/>
          </a:xfrm>
          <a:prstGeom prst="roundRect">
            <a:avLst>
              <a:gd name="adj" fmla="val 4138"/>
            </a:avLst>
          </a:prstGeom>
          <a:solidFill>
            <a:srgbClr val="D5CCF0"/>
          </a:solidFill>
          <a:ln w="15875">
            <a:solidFill>
              <a:srgbClr val="5B46B8"/>
            </a:solidFill>
            <a:prstDash val="solid"/>
          </a:ln>
        </p:spPr>
      </p:sp>
      <p:sp>
        <p:nvSpPr>
          <p:cNvPr id="14" name="Text 11"/>
          <p:cNvSpPr txBox="1"/>
          <p:nvPr/>
        </p:nvSpPr>
        <p:spPr>
          <a:xfrm>
            <a:off x="1417320" y="3273552"/>
            <a:ext cx="4846320" cy="384048"/>
          </a:xfrm>
          <a:prstGeom prst="rect">
            <a:avLst/>
          </a:prstGeom>
          <a:noFill/>
          <a:ln/>
        </p:spPr>
        <p:txBody>
          <a:bodyPr wrap="square" lIns="0" tIns="0" rIns="0" bIns="0" rtlCol="0" anchor="t"/>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生成AI：文章・画像・音声などを生成</a:t>
            </a:r>
            <a:endParaRPr lang="en-US" sz="1800" dirty="0"/>
          </a:p>
        </p:txBody>
      </p:sp>
      <p:sp>
        <p:nvSpPr>
          <p:cNvPr id="15" name="Shape 12"/>
          <p:cNvSpPr/>
          <p:nvPr/>
        </p:nvSpPr>
        <p:spPr>
          <a:xfrm>
            <a:off x="1554480" y="3703320"/>
            <a:ext cx="4572000" cy="2011680"/>
          </a:xfrm>
          <a:prstGeom prst="roundRect">
            <a:avLst>
              <a:gd name="adj" fmla="val 5455"/>
            </a:avLst>
          </a:prstGeom>
          <a:solidFill>
            <a:srgbClr val="C3B5E8"/>
          </a:solidFill>
          <a:ln w="15875">
            <a:solidFill>
              <a:srgbClr val="5B46B8"/>
            </a:solidFill>
            <a:prstDash val="solid"/>
          </a:ln>
        </p:spPr>
      </p:sp>
      <p:sp>
        <p:nvSpPr>
          <p:cNvPr id="16" name="Text 13"/>
          <p:cNvSpPr txBox="1"/>
          <p:nvPr/>
        </p:nvSpPr>
        <p:spPr>
          <a:xfrm>
            <a:off x="1691640" y="3776472"/>
            <a:ext cx="4297680" cy="384048"/>
          </a:xfrm>
          <a:prstGeom prst="rect">
            <a:avLst/>
          </a:prstGeom>
          <a:noFill/>
          <a:ln/>
        </p:spPr>
        <p:txBody>
          <a:bodyPr wrap="square" lIns="0" tIns="0" rIns="0" bIns="0" rtlCol="0" anchor="t"/>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LLM：大規模言語モデル</a:t>
            </a:r>
            <a:endParaRPr lang="en-US" sz="1800" dirty="0"/>
          </a:p>
        </p:txBody>
      </p:sp>
      <p:sp>
        <p:nvSpPr>
          <p:cNvPr id="17" name="Text 14"/>
          <p:cNvSpPr txBox="1"/>
          <p:nvPr/>
        </p:nvSpPr>
        <p:spPr>
          <a:xfrm>
            <a:off x="1691640" y="4389120"/>
            <a:ext cx="4297680" cy="384048"/>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ChatGPTなどが使うモデル</a:t>
            </a:r>
            <a:endParaRPr lang="en-US" sz="1800" dirty="0"/>
          </a:p>
        </p:txBody>
      </p:sp>
      <p:sp>
        <p:nvSpPr>
          <p:cNvPr id="18" name="Shape 15"/>
          <p:cNvSpPr/>
          <p:nvPr/>
        </p:nvSpPr>
        <p:spPr>
          <a:xfrm>
            <a:off x="7589520" y="1691640"/>
            <a:ext cx="4142232" cy="1463040"/>
          </a:xfrm>
          <a:prstGeom prst="roundRect">
            <a:avLst>
              <a:gd name="adj" fmla="val 7500"/>
            </a:avLst>
          </a:prstGeom>
          <a:solidFill>
            <a:srgbClr val="E6E1F7"/>
          </a:solidFill>
          <a:ln w="25400">
            <a:solidFill>
              <a:srgbClr val="5B46B8"/>
            </a:solidFill>
            <a:prstDash val="solid"/>
          </a:ln>
        </p:spPr>
      </p:sp>
      <p:sp>
        <p:nvSpPr>
          <p:cNvPr id="19" name="Shape 16"/>
          <p:cNvSpPr/>
          <p:nvPr/>
        </p:nvSpPr>
        <p:spPr>
          <a:xfrm>
            <a:off x="7717536" y="2148840"/>
            <a:ext cx="548640" cy="548640"/>
          </a:xfrm>
          <a:prstGeom prst="ellipse">
            <a:avLst/>
          </a:prstGeom>
          <a:solidFill>
            <a:srgbClr val="5B46B8"/>
          </a:solidFill>
          <a:ln/>
        </p:spPr>
      </p:sp>
      <p:pic>
        <p:nvPicPr>
          <p:cNvPr id="20" name="Image 0" descr="preencoded.png">    </p:cNvPr>
          <p:cNvPicPr>
            <a:picLocks noChangeAspect="1"/>
          </p:cNvPicPr>
          <p:nvPr/>
        </p:nvPicPr>
        <p:blipFill>
          <a:blip r:embed="rId1"/>
          <a:stretch>
            <a:fillRect/>
          </a:stretch>
        </p:blipFill>
        <p:spPr>
          <a:xfrm>
            <a:off x="7838237" y="2269541"/>
            <a:ext cx="307238" cy="307238"/>
          </a:xfrm>
          <a:prstGeom prst="rect">
            <a:avLst/>
          </a:prstGeom>
        </p:spPr>
      </p:pic>
      <p:sp>
        <p:nvSpPr>
          <p:cNvPr id="21" name="Text 17"/>
          <p:cNvSpPr txBox="1"/>
          <p:nvPr/>
        </p:nvSpPr>
        <p:spPr>
          <a:xfrm>
            <a:off x="8357616" y="1691640"/>
            <a:ext cx="3282696" cy="14630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モデル</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学習した数値と、それを使う計算の構造</a:t>
            </a:r>
            <a:endParaRPr lang="en-US" sz="2000" dirty="0"/>
          </a:p>
        </p:txBody>
      </p:sp>
      <p:sp>
        <p:nvSpPr>
          <p:cNvPr id="22" name="Shape 18"/>
          <p:cNvSpPr/>
          <p:nvPr/>
        </p:nvSpPr>
        <p:spPr>
          <a:xfrm>
            <a:off x="7589520" y="3337560"/>
            <a:ext cx="4142232" cy="1417320"/>
          </a:xfrm>
          <a:prstGeom prst="roundRect">
            <a:avLst>
              <a:gd name="adj" fmla="val 7742"/>
            </a:avLst>
          </a:prstGeom>
          <a:solidFill>
            <a:srgbClr val="DCE8F8"/>
          </a:solidFill>
          <a:ln w="19050">
            <a:solidFill>
              <a:srgbClr val="2F6BC2"/>
            </a:solidFill>
            <a:prstDash val="solid"/>
          </a:ln>
        </p:spPr>
      </p:sp>
      <p:sp>
        <p:nvSpPr>
          <p:cNvPr id="23" name="Shape 19"/>
          <p:cNvSpPr/>
          <p:nvPr/>
        </p:nvSpPr>
        <p:spPr>
          <a:xfrm>
            <a:off x="7726680" y="3817620"/>
            <a:ext cx="457200" cy="457200"/>
          </a:xfrm>
          <a:prstGeom prst="ellipse">
            <a:avLst/>
          </a:prstGeom>
          <a:solidFill>
            <a:srgbClr val="2F6BC2"/>
          </a:solidFill>
          <a:ln/>
        </p:spPr>
      </p:sp>
      <p:pic>
        <p:nvPicPr>
          <p:cNvPr id="24" name="Image 1" descr="preencoded.png">    </p:cNvPr>
          <p:cNvPicPr>
            <a:picLocks noChangeAspect="1"/>
          </p:cNvPicPr>
          <p:nvPr/>
        </p:nvPicPr>
        <p:blipFill>
          <a:blip r:embed="rId2"/>
          <a:stretch>
            <a:fillRect/>
          </a:stretch>
        </p:blipFill>
        <p:spPr>
          <a:xfrm>
            <a:off x="7827264" y="3918204"/>
            <a:ext cx="256032" cy="256032"/>
          </a:xfrm>
          <a:prstGeom prst="rect">
            <a:avLst/>
          </a:prstGeom>
        </p:spPr>
      </p:pic>
      <p:sp>
        <p:nvSpPr>
          <p:cNvPr id="25" name="Text 20"/>
          <p:cNvSpPr txBox="1"/>
          <p:nvPr/>
        </p:nvSpPr>
        <p:spPr>
          <a:xfrm>
            <a:off x="8321040" y="3383280"/>
            <a:ext cx="3273552" cy="13258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ChatGPTは、LLMを使った生成AIサービスの一種</a:t>
            </a:r>
            <a:endParaRPr lang="en-US" sz="2000" dirty="0"/>
          </a:p>
        </p:txBody>
      </p:sp>
      <p:sp>
        <p:nvSpPr>
          <p:cNvPr id="26" name="Shape 21"/>
          <p:cNvSpPr/>
          <p:nvPr/>
        </p:nvSpPr>
        <p:spPr>
          <a:xfrm>
            <a:off x="7589520" y="4937760"/>
            <a:ext cx="4142232" cy="1325880"/>
          </a:xfrm>
          <a:prstGeom prst="roundRect">
            <a:avLst>
              <a:gd name="adj" fmla="val 8276"/>
            </a:avLst>
          </a:prstGeom>
          <a:solidFill>
            <a:srgbClr val="FBE3E0"/>
          </a:solidFill>
          <a:ln w="19050">
            <a:solidFill>
              <a:srgbClr val="C0392B"/>
            </a:solidFill>
            <a:prstDash val="solid"/>
          </a:ln>
        </p:spPr>
      </p:sp>
      <p:sp>
        <p:nvSpPr>
          <p:cNvPr id="27" name="Shape 22"/>
          <p:cNvSpPr/>
          <p:nvPr/>
        </p:nvSpPr>
        <p:spPr>
          <a:xfrm>
            <a:off x="7726680" y="5372100"/>
            <a:ext cx="457200" cy="457200"/>
          </a:xfrm>
          <a:prstGeom prst="ellipse">
            <a:avLst/>
          </a:prstGeom>
          <a:solidFill>
            <a:srgbClr val="C0392B"/>
          </a:solidFill>
          <a:ln/>
        </p:spPr>
      </p:sp>
      <p:pic>
        <p:nvPicPr>
          <p:cNvPr id="28" name="Image 2" descr="preencoded.png">    </p:cNvPr>
          <p:cNvPicPr>
            <a:picLocks noChangeAspect="1"/>
          </p:cNvPicPr>
          <p:nvPr/>
        </p:nvPicPr>
        <p:blipFill>
          <a:blip r:embed="rId3"/>
          <a:stretch>
            <a:fillRect/>
          </a:stretch>
        </p:blipFill>
        <p:spPr>
          <a:xfrm>
            <a:off x="7827264" y="5472684"/>
            <a:ext cx="256032" cy="256032"/>
          </a:xfrm>
          <a:prstGeom prst="rect">
            <a:avLst/>
          </a:prstGeom>
        </p:spPr>
      </p:pic>
      <p:sp>
        <p:nvSpPr>
          <p:cNvPr id="29" name="Text 23"/>
          <p:cNvSpPr txBox="1"/>
          <p:nvPr/>
        </p:nvSpPr>
        <p:spPr>
          <a:xfrm>
            <a:off x="8321040" y="4983480"/>
            <a:ext cx="3273552" cy="123444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AIは広い言葉。画像認識・需要予測・翻訳も含む</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ChatGPTへの質問の中心は推論。毎回学習し直さない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AIの仕事は「学習（勉強）」と「推論（使う）」に分かれます。ChatGPTに質問したとき動いているのは推論で、毎回ゼロから学習し直してはいません。</a:t>
            </a:r>
            <a:endParaRPr lang="en-US" sz="1800" dirty="0"/>
          </a:p>
        </p:txBody>
      </p:sp>
      <p:sp>
        <p:nvSpPr>
          <p:cNvPr id="7" name="Shape 4"/>
          <p:cNvSpPr/>
          <p:nvPr/>
        </p:nvSpPr>
        <p:spPr>
          <a:xfrm>
            <a:off x="457200" y="1691640"/>
            <a:ext cx="1645920" cy="868680"/>
          </a:xfrm>
          <a:prstGeom prst="roundRect">
            <a:avLst>
              <a:gd name="adj" fmla="val 10526"/>
            </a:avLst>
          </a:prstGeom>
          <a:solidFill>
            <a:srgbClr val="2F6BC2"/>
          </a:solidFill>
          <a:ln/>
        </p:spPr>
      </p:sp>
      <p:sp>
        <p:nvSpPr>
          <p:cNvPr id="8" name="Text 5"/>
          <p:cNvSpPr txBox="1"/>
          <p:nvPr/>
        </p:nvSpPr>
        <p:spPr>
          <a:xfrm>
            <a:off x="548640" y="1691640"/>
            <a:ext cx="1463040" cy="86868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学習</a:t>
            </a:r>
            <a:endParaRPr lang="en-US" sz="2200" dirty="0"/>
          </a:p>
        </p:txBody>
      </p:sp>
      <p:sp>
        <p:nvSpPr>
          <p:cNvPr id="9" name="Shape 6"/>
          <p:cNvSpPr/>
          <p:nvPr/>
        </p:nvSpPr>
        <p:spPr>
          <a:xfrm>
            <a:off x="2331720" y="1691640"/>
            <a:ext cx="2743200" cy="868680"/>
          </a:xfrm>
          <a:prstGeom prst="roundRect">
            <a:avLst>
              <a:gd name="adj" fmla="val 12632"/>
            </a:avLst>
          </a:prstGeom>
          <a:solidFill>
            <a:srgbClr val="DCE8F8"/>
          </a:solidFill>
          <a:ln w="25400">
            <a:solidFill>
              <a:srgbClr val="2F6BC2"/>
            </a:solidFill>
            <a:prstDash val="solid"/>
          </a:ln>
        </p:spPr>
      </p:sp>
      <p:sp>
        <p:nvSpPr>
          <p:cNvPr id="10" name="Text 7"/>
          <p:cNvSpPr txBox="1"/>
          <p:nvPr/>
        </p:nvSpPr>
        <p:spPr>
          <a:xfrm>
            <a:off x="2423160" y="1691640"/>
            <a:ext cx="256032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データ</a:t>
            </a:r>
            <a:endParaRPr lang="en-US" sz="2000" dirty="0"/>
          </a:p>
        </p:txBody>
      </p:sp>
      <p:sp>
        <p:nvSpPr>
          <p:cNvPr id="11" name="Shape 8"/>
          <p:cNvSpPr/>
          <p:nvPr/>
        </p:nvSpPr>
        <p:spPr>
          <a:xfrm>
            <a:off x="5074920" y="2125980"/>
            <a:ext cx="411480" cy="0"/>
          </a:xfrm>
          <a:prstGeom prst="line">
            <a:avLst/>
          </a:prstGeom>
          <a:noFill/>
          <a:ln w="38100">
            <a:solidFill>
              <a:srgbClr val="1B2A3A"/>
            </a:solidFill>
            <a:prstDash val="solid"/>
            <a:tailEnd type="triangle"/>
          </a:ln>
        </p:spPr>
      </p:sp>
      <p:sp>
        <p:nvSpPr>
          <p:cNvPr id="12" name="Shape 9"/>
          <p:cNvSpPr/>
          <p:nvPr/>
        </p:nvSpPr>
        <p:spPr>
          <a:xfrm>
            <a:off x="5486400" y="1691640"/>
            <a:ext cx="2743200" cy="868680"/>
          </a:xfrm>
          <a:prstGeom prst="roundRect">
            <a:avLst>
              <a:gd name="adj" fmla="val 12632"/>
            </a:avLst>
          </a:prstGeom>
          <a:solidFill>
            <a:srgbClr val="DCE8F8"/>
          </a:solidFill>
          <a:ln w="25400">
            <a:solidFill>
              <a:srgbClr val="2F6BC2"/>
            </a:solidFill>
            <a:prstDash val="solid"/>
          </a:ln>
        </p:spPr>
      </p:sp>
      <p:sp>
        <p:nvSpPr>
          <p:cNvPr id="13" name="Text 10"/>
          <p:cNvSpPr txBox="1"/>
          <p:nvPr/>
        </p:nvSpPr>
        <p:spPr>
          <a:xfrm>
            <a:off x="5577840" y="1691640"/>
            <a:ext cx="256032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計算（長時間）</a:t>
            </a:r>
            <a:endParaRPr lang="en-US" sz="2000" dirty="0"/>
          </a:p>
        </p:txBody>
      </p:sp>
      <p:sp>
        <p:nvSpPr>
          <p:cNvPr id="14" name="Shape 11"/>
          <p:cNvSpPr/>
          <p:nvPr/>
        </p:nvSpPr>
        <p:spPr>
          <a:xfrm>
            <a:off x="8229600" y="2125980"/>
            <a:ext cx="411480" cy="0"/>
          </a:xfrm>
          <a:prstGeom prst="line">
            <a:avLst/>
          </a:prstGeom>
          <a:noFill/>
          <a:ln w="38100">
            <a:solidFill>
              <a:srgbClr val="1B2A3A"/>
            </a:solidFill>
            <a:prstDash val="solid"/>
            <a:tailEnd type="triangle"/>
          </a:ln>
        </p:spPr>
      </p:sp>
      <p:sp>
        <p:nvSpPr>
          <p:cNvPr id="15" name="Shape 12"/>
          <p:cNvSpPr/>
          <p:nvPr/>
        </p:nvSpPr>
        <p:spPr>
          <a:xfrm>
            <a:off x="8641080" y="1691640"/>
            <a:ext cx="2743200" cy="868680"/>
          </a:xfrm>
          <a:prstGeom prst="roundRect">
            <a:avLst>
              <a:gd name="adj" fmla="val 12632"/>
            </a:avLst>
          </a:prstGeom>
          <a:solidFill>
            <a:srgbClr val="DCE8F8"/>
          </a:solidFill>
          <a:ln w="25400">
            <a:solidFill>
              <a:srgbClr val="2F6BC2"/>
            </a:solidFill>
            <a:prstDash val="solid"/>
          </a:ln>
        </p:spPr>
      </p:sp>
      <p:sp>
        <p:nvSpPr>
          <p:cNvPr id="16" name="Text 13"/>
          <p:cNvSpPr txBox="1"/>
          <p:nvPr/>
        </p:nvSpPr>
        <p:spPr>
          <a:xfrm>
            <a:off x="8732520" y="1691640"/>
            <a:ext cx="256032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モデルの数値を調整</a:t>
            </a:r>
            <a:endParaRPr lang="en-US" sz="2000" dirty="0"/>
          </a:p>
        </p:txBody>
      </p:sp>
      <p:sp>
        <p:nvSpPr>
          <p:cNvPr id="17" name="Shape 14"/>
          <p:cNvSpPr/>
          <p:nvPr/>
        </p:nvSpPr>
        <p:spPr>
          <a:xfrm>
            <a:off x="457200" y="2788920"/>
            <a:ext cx="1645920" cy="868680"/>
          </a:xfrm>
          <a:prstGeom prst="roundRect">
            <a:avLst>
              <a:gd name="adj" fmla="val 10526"/>
            </a:avLst>
          </a:prstGeom>
          <a:solidFill>
            <a:srgbClr val="5B46B8"/>
          </a:solidFill>
          <a:ln/>
        </p:spPr>
      </p:sp>
      <p:sp>
        <p:nvSpPr>
          <p:cNvPr id="18" name="Text 15"/>
          <p:cNvSpPr txBox="1"/>
          <p:nvPr/>
        </p:nvSpPr>
        <p:spPr>
          <a:xfrm>
            <a:off x="548640" y="2788920"/>
            <a:ext cx="1463040" cy="86868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推論</a:t>
            </a:r>
            <a:endParaRPr lang="en-US" sz="2200" dirty="0"/>
          </a:p>
        </p:txBody>
      </p:sp>
      <p:sp>
        <p:nvSpPr>
          <p:cNvPr id="19" name="Shape 16"/>
          <p:cNvSpPr/>
          <p:nvPr/>
        </p:nvSpPr>
        <p:spPr>
          <a:xfrm>
            <a:off x="2331720" y="2788920"/>
            <a:ext cx="2743200" cy="868680"/>
          </a:xfrm>
          <a:prstGeom prst="roundRect">
            <a:avLst>
              <a:gd name="adj" fmla="val 12632"/>
            </a:avLst>
          </a:prstGeom>
          <a:solidFill>
            <a:srgbClr val="E6E1F7"/>
          </a:solidFill>
          <a:ln w="25400">
            <a:solidFill>
              <a:srgbClr val="5B46B8"/>
            </a:solidFill>
            <a:prstDash val="solid"/>
          </a:ln>
        </p:spPr>
      </p:sp>
      <p:sp>
        <p:nvSpPr>
          <p:cNvPr id="20" name="Text 17"/>
          <p:cNvSpPr txBox="1"/>
          <p:nvPr/>
        </p:nvSpPr>
        <p:spPr>
          <a:xfrm>
            <a:off x="2423160" y="2788920"/>
            <a:ext cx="256032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質問（入力）</a:t>
            </a:r>
            <a:endParaRPr lang="en-US" sz="2000" dirty="0"/>
          </a:p>
        </p:txBody>
      </p:sp>
      <p:sp>
        <p:nvSpPr>
          <p:cNvPr id="21" name="Shape 18"/>
          <p:cNvSpPr/>
          <p:nvPr/>
        </p:nvSpPr>
        <p:spPr>
          <a:xfrm>
            <a:off x="5074920" y="3223260"/>
            <a:ext cx="411480" cy="0"/>
          </a:xfrm>
          <a:prstGeom prst="line">
            <a:avLst/>
          </a:prstGeom>
          <a:noFill/>
          <a:ln w="38100">
            <a:solidFill>
              <a:srgbClr val="1B2A3A"/>
            </a:solidFill>
            <a:prstDash val="solid"/>
            <a:tailEnd type="triangle"/>
          </a:ln>
        </p:spPr>
      </p:sp>
      <p:sp>
        <p:nvSpPr>
          <p:cNvPr id="22" name="Shape 19"/>
          <p:cNvSpPr/>
          <p:nvPr/>
        </p:nvSpPr>
        <p:spPr>
          <a:xfrm>
            <a:off x="5486400" y="2788920"/>
            <a:ext cx="2743200" cy="868680"/>
          </a:xfrm>
          <a:prstGeom prst="roundRect">
            <a:avLst>
              <a:gd name="adj" fmla="val 12632"/>
            </a:avLst>
          </a:prstGeom>
          <a:solidFill>
            <a:srgbClr val="E6E1F7"/>
          </a:solidFill>
          <a:ln w="25400">
            <a:solidFill>
              <a:srgbClr val="5B46B8"/>
            </a:solidFill>
            <a:prstDash val="solid"/>
          </a:ln>
        </p:spPr>
      </p:sp>
      <p:sp>
        <p:nvSpPr>
          <p:cNvPr id="23" name="Text 20"/>
          <p:cNvSpPr txBox="1"/>
          <p:nvPr/>
        </p:nvSpPr>
        <p:spPr>
          <a:xfrm>
            <a:off x="5577840" y="2788920"/>
            <a:ext cx="256032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学習済みモデル</a:t>
            </a:r>
            <a:endParaRPr lang="en-US" sz="2000" dirty="0"/>
          </a:p>
        </p:txBody>
      </p:sp>
      <p:sp>
        <p:nvSpPr>
          <p:cNvPr id="24" name="Shape 21"/>
          <p:cNvSpPr/>
          <p:nvPr/>
        </p:nvSpPr>
        <p:spPr>
          <a:xfrm>
            <a:off x="8229600" y="3223260"/>
            <a:ext cx="411480" cy="0"/>
          </a:xfrm>
          <a:prstGeom prst="line">
            <a:avLst/>
          </a:prstGeom>
          <a:noFill/>
          <a:ln w="38100">
            <a:solidFill>
              <a:srgbClr val="1B2A3A"/>
            </a:solidFill>
            <a:prstDash val="solid"/>
            <a:tailEnd type="triangle"/>
          </a:ln>
        </p:spPr>
      </p:sp>
      <p:sp>
        <p:nvSpPr>
          <p:cNvPr id="25" name="Shape 22"/>
          <p:cNvSpPr/>
          <p:nvPr/>
        </p:nvSpPr>
        <p:spPr>
          <a:xfrm>
            <a:off x="8641080" y="2788920"/>
            <a:ext cx="2743200" cy="868680"/>
          </a:xfrm>
          <a:prstGeom prst="roundRect">
            <a:avLst>
              <a:gd name="adj" fmla="val 12632"/>
            </a:avLst>
          </a:prstGeom>
          <a:solidFill>
            <a:srgbClr val="E6E1F7"/>
          </a:solidFill>
          <a:ln w="25400">
            <a:solidFill>
              <a:srgbClr val="5B46B8"/>
            </a:solidFill>
            <a:prstDash val="solid"/>
          </a:ln>
        </p:spPr>
      </p:sp>
      <p:sp>
        <p:nvSpPr>
          <p:cNvPr id="26" name="Text 23"/>
          <p:cNvSpPr txBox="1"/>
          <p:nvPr/>
        </p:nvSpPr>
        <p:spPr>
          <a:xfrm>
            <a:off x="8732520" y="2788920"/>
            <a:ext cx="2560320"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回答（出力）</a:t>
            </a:r>
            <a:endParaRPr lang="en-US" sz="2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3931920"/>
          <a:ext cx="11274552" cy="914400"/>
        </p:xfrm>
        <a:graphic>
          <a:graphicData uri="http://schemas.openxmlformats.org/drawingml/2006/table">
            <a:tbl>
              <a:tblPr/>
              <a:tblGrid>
                <a:gridCol w="2377440"/>
                <a:gridCol w="4480560"/>
                <a:gridCol w="44165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観点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学習</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推論</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やっていること</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データでモデルの数値を調整</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学習済みモデルで出力を計算</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インフラの特徴</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多数の装置を長時間動かす</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応答速度・多数の利用者への対応</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8" name="Shape 24"/>
          <p:cNvSpPr/>
          <p:nvPr/>
        </p:nvSpPr>
        <p:spPr>
          <a:xfrm>
            <a:off x="457200" y="5486400"/>
            <a:ext cx="11274552" cy="804672"/>
          </a:xfrm>
          <a:prstGeom prst="roundRect">
            <a:avLst>
              <a:gd name="adj" fmla="val 13636"/>
            </a:avLst>
          </a:prstGeom>
          <a:solidFill>
            <a:srgbClr val="FBE3E0"/>
          </a:solidFill>
          <a:ln w="19050">
            <a:solidFill>
              <a:srgbClr val="C0392B"/>
            </a:solidFill>
            <a:prstDash val="solid"/>
          </a:ln>
        </p:spPr>
      </p:sp>
      <p:sp>
        <p:nvSpPr>
          <p:cNvPr id="29" name="Shape 25"/>
          <p:cNvSpPr/>
          <p:nvPr/>
        </p:nvSpPr>
        <p:spPr>
          <a:xfrm>
            <a:off x="594360" y="5660136"/>
            <a:ext cx="457200" cy="457200"/>
          </a:xfrm>
          <a:prstGeom prst="ellipse">
            <a:avLst/>
          </a:prstGeom>
          <a:solidFill>
            <a:srgbClr val="C0392B"/>
          </a:solidFill>
          <a:ln/>
        </p:spPr>
      </p:sp>
      <p:pic>
        <p:nvPicPr>
          <p:cNvPr id="30" name="Image 0" descr="preencoded.png">    </p:cNvPr>
          <p:cNvPicPr>
            <a:picLocks noChangeAspect="1"/>
          </p:cNvPicPr>
          <p:nvPr/>
        </p:nvPicPr>
        <p:blipFill>
          <a:blip r:embed="rId1"/>
          <a:stretch>
            <a:fillRect/>
          </a:stretch>
        </p:blipFill>
        <p:spPr>
          <a:xfrm>
            <a:off x="694944" y="5760720"/>
            <a:ext cx="256032" cy="256032"/>
          </a:xfrm>
          <a:prstGeom prst="rect">
            <a:avLst/>
          </a:prstGeom>
        </p:spPr>
      </p:pic>
      <p:sp>
        <p:nvSpPr>
          <p:cNvPr id="31" name="Text 26"/>
          <p:cNvSpPr txBox="1"/>
          <p:nvPr/>
        </p:nvSpPr>
        <p:spPr>
          <a:xfrm>
            <a:off x="1188720" y="5532120"/>
            <a:ext cx="10405872" cy="713232"/>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あなたの質問は推論。質問のたびに学習し直しているわけではない</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推論は、トークンに分けて計算し、1つずつ続きを生成する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質問はトークン（文章の部品）に分けられ、モデルが次のトークンを1つずつ決めながら文章を作ります。途中経過を順に届けるので、文字が少しずつ表示されます。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出典：[B09]</a:t>
            </a:r>
            <a:endParaRPr lang="ja-JP" sz="1200" dirty="0"/>
          </a:p>
        </p:txBody>
      </p:sp>
      <p:sp>
        <p:nvSpPr>
          <p:cNvPr id="8" name="Shape 5"/>
          <p:cNvSpPr/>
          <p:nvPr/>
        </p:nvSpPr>
        <p:spPr>
          <a:xfrm>
            <a:off x="457200" y="1965960"/>
            <a:ext cx="1947672" cy="1188720"/>
          </a:xfrm>
          <a:prstGeom prst="roundRect">
            <a:avLst>
              <a:gd name="adj" fmla="val 9231"/>
            </a:avLst>
          </a:prstGeom>
          <a:solidFill>
            <a:srgbClr val="0B7A7A"/>
          </a:solidFill>
          <a:ln/>
        </p:spPr>
      </p:sp>
      <p:sp>
        <p:nvSpPr>
          <p:cNvPr id="9" name="Text 6"/>
          <p:cNvSpPr txBox="1"/>
          <p:nvPr/>
        </p:nvSpPr>
        <p:spPr>
          <a:xfrm>
            <a:off x="548640" y="1965960"/>
            <a:ext cx="1764792"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質問を</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トークン化</a:t>
            </a:r>
            <a:endParaRPr lang="en-US" sz="1800" dirty="0"/>
          </a:p>
        </p:txBody>
      </p:sp>
      <p:sp>
        <p:nvSpPr>
          <p:cNvPr id="10" name="Shape 7"/>
          <p:cNvSpPr/>
          <p:nvPr/>
        </p:nvSpPr>
        <p:spPr>
          <a:xfrm>
            <a:off x="448056" y="1773936"/>
            <a:ext cx="384048" cy="384048"/>
          </a:xfrm>
          <a:prstGeom prst="ellipse">
            <a:avLst/>
          </a:prstGeom>
          <a:solidFill>
            <a:srgbClr val="16324F"/>
          </a:solidFill>
          <a:ln w="19050">
            <a:solidFill>
              <a:srgbClr val="FFFFFF"/>
            </a:solidFill>
            <a:prstDash val="solid"/>
          </a:ln>
        </p:spPr>
      </p:sp>
      <p:sp>
        <p:nvSpPr>
          <p:cNvPr id="11" name="Text 8"/>
          <p:cNvSpPr txBox="1"/>
          <p:nvPr/>
        </p:nvSpPr>
        <p:spPr>
          <a:xfrm>
            <a:off x="448056" y="1773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12" name="Shape 9"/>
          <p:cNvSpPr/>
          <p:nvPr/>
        </p:nvSpPr>
        <p:spPr>
          <a:xfrm>
            <a:off x="2404872" y="2560320"/>
            <a:ext cx="384048" cy="0"/>
          </a:xfrm>
          <a:prstGeom prst="line">
            <a:avLst/>
          </a:prstGeom>
          <a:noFill/>
          <a:ln w="38100">
            <a:solidFill>
              <a:srgbClr val="1B2A3A"/>
            </a:solidFill>
            <a:prstDash val="solid"/>
            <a:tailEnd type="triangle"/>
          </a:ln>
        </p:spPr>
      </p:sp>
      <p:sp>
        <p:nvSpPr>
          <p:cNvPr id="13" name="Shape 10"/>
          <p:cNvSpPr/>
          <p:nvPr/>
        </p:nvSpPr>
        <p:spPr>
          <a:xfrm>
            <a:off x="2788920" y="1965960"/>
            <a:ext cx="1947672" cy="1188720"/>
          </a:xfrm>
          <a:prstGeom prst="roundRect">
            <a:avLst>
              <a:gd name="adj" fmla="val 9231"/>
            </a:avLst>
          </a:prstGeom>
          <a:solidFill>
            <a:srgbClr val="5B46B8"/>
          </a:solidFill>
          <a:ln/>
        </p:spPr>
      </p:sp>
      <p:sp>
        <p:nvSpPr>
          <p:cNvPr id="14" name="Text 11"/>
          <p:cNvSpPr txBox="1"/>
          <p:nvPr/>
        </p:nvSpPr>
        <p:spPr>
          <a:xfrm>
            <a:off x="2880360" y="1965960"/>
            <a:ext cx="1764792"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数値として</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モデルへ入力</a:t>
            </a:r>
            <a:endParaRPr lang="en-US" sz="1800" dirty="0"/>
          </a:p>
        </p:txBody>
      </p:sp>
      <p:sp>
        <p:nvSpPr>
          <p:cNvPr id="15" name="Shape 12"/>
          <p:cNvSpPr/>
          <p:nvPr/>
        </p:nvSpPr>
        <p:spPr>
          <a:xfrm>
            <a:off x="2779776" y="1773936"/>
            <a:ext cx="384048" cy="384048"/>
          </a:xfrm>
          <a:prstGeom prst="ellipse">
            <a:avLst/>
          </a:prstGeom>
          <a:solidFill>
            <a:srgbClr val="16324F"/>
          </a:solidFill>
          <a:ln w="19050">
            <a:solidFill>
              <a:srgbClr val="FFFFFF"/>
            </a:solidFill>
            <a:prstDash val="solid"/>
          </a:ln>
        </p:spPr>
      </p:sp>
      <p:sp>
        <p:nvSpPr>
          <p:cNvPr id="16" name="Text 13"/>
          <p:cNvSpPr txBox="1"/>
          <p:nvPr/>
        </p:nvSpPr>
        <p:spPr>
          <a:xfrm>
            <a:off x="2779776" y="1773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7" name="Shape 14"/>
          <p:cNvSpPr/>
          <p:nvPr/>
        </p:nvSpPr>
        <p:spPr>
          <a:xfrm>
            <a:off x="4736592" y="2560320"/>
            <a:ext cx="384048" cy="0"/>
          </a:xfrm>
          <a:prstGeom prst="line">
            <a:avLst/>
          </a:prstGeom>
          <a:noFill/>
          <a:ln w="38100">
            <a:solidFill>
              <a:srgbClr val="1B2A3A"/>
            </a:solidFill>
            <a:prstDash val="solid"/>
            <a:tailEnd type="triangle"/>
          </a:ln>
        </p:spPr>
      </p:sp>
      <p:sp>
        <p:nvSpPr>
          <p:cNvPr id="18" name="Shape 15"/>
          <p:cNvSpPr/>
          <p:nvPr/>
        </p:nvSpPr>
        <p:spPr>
          <a:xfrm>
            <a:off x="5120640" y="1965960"/>
            <a:ext cx="1947672" cy="1188720"/>
          </a:xfrm>
          <a:prstGeom prst="roundRect">
            <a:avLst>
              <a:gd name="adj" fmla="val 9231"/>
            </a:avLst>
          </a:prstGeom>
          <a:solidFill>
            <a:srgbClr val="5B46B8"/>
          </a:solidFill>
          <a:ln/>
        </p:spPr>
      </p:sp>
      <p:sp>
        <p:nvSpPr>
          <p:cNvPr id="19" name="Text 16"/>
          <p:cNvSpPr txBox="1"/>
          <p:nvPr/>
        </p:nvSpPr>
        <p:spPr>
          <a:xfrm>
            <a:off x="5212080" y="1965960"/>
            <a:ext cx="1764792"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入力に対する</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計算を行う</a:t>
            </a:r>
            <a:endParaRPr lang="en-US" sz="1800" dirty="0"/>
          </a:p>
        </p:txBody>
      </p:sp>
      <p:sp>
        <p:nvSpPr>
          <p:cNvPr id="20" name="Shape 17"/>
          <p:cNvSpPr/>
          <p:nvPr/>
        </p:nvSpPr>
        <p:spPr>
          <a:xfrm>
            <a:off x="5111496" y="1773936"/>
            <a:ext cx="384048" cy="384048"/>
          </a:xfrm>
          <a:prstGeom prst="ellipse">
            <a:avLst/>
          </a:prstGeom>
          <a:solidFill>
            <a:srgbClr val="16324F"/>
          </a:solidFill>
          <a:ln w="19050">
            <a:solidFill>
              <a:srgbClr val="FFFFFF"/>
            </a:solidFill>
            <a:prstDash val="solid"/>
          </a:ln>
        </p:spPr>
      </p:sp>
      <p:sp>
        <p:nvSpPr>
          <p:cNvPr id="21" name="Text 18"/>
          <p:cNvSpPr txBox="1"/>
          <p:nvPr/>
        </p:nvSpPr>
        <p:spPr>
          <a:xfrm>
            <a:off x="5111496" y="1773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22" name="Shape 19"/>
          <p:cNvSpPr/>
          <p:nvPr/>
        </p:nvSpPr>
        <p:spPr>
          <a:xfrm>
            <a:off x="7068312" y="2560320"/>
            <a:ext cx="384048" cy="0"/>
          </a:xfrm>
          <a:prstGeom prst="line">
            <a:avLst/>
          </a:prstGeom>
          <a:noFill/>
          <a:ln w="38100">
            <a:solidFill>
              <a:srgbClr val="1B2A3A"/>
            </a:solidFill>
            <a:prstDash val="solid"/>
            <a:tailEnd type="triangle"/>
          </a:ln>
        </p:spPr>
      </p:sp>
      <p:sp>
        <p:nvSpPr>
          <p:cNvPr id="23" name="Shape 20"/>
          <p:cNvSpPr/>
          <p:nvPr/>
        </p:nvSpPr>
        <p:spPr>
          <a:xfrm>
            <a:off x="7452360" y="1965960"/>
            <a:ext cx="1947672" cy="1188720"/>
          </a:xfrm>
          <a:prstGeom prst="roundRect">
            <a:avLst>
              <a:gd name="adj" fmla="val 9231"/>
            </a:avLst>
          </a:prstGeom>
          <a:solidFill>
            <a:srgbClr val="5B46B8"/>
          </a:solidFill>
          <a:ln/>
        </p:spPr>
      </p:sp>
      <p:sp>
        <p:nvSpPr>
          <p:cNvPr id="24" name="Text 21"/>
          <p:cNvSpPr txBox="1"/>
          <p:nvPr/>
        </p:nvSpPr>
        <p:spPr>
          <a:xfrm>
            <a:off x="7543800" y="1965960"/>
            <a:ext cx="1764792"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次のトークンを</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決める</a:t>
            </a:r>
            <a:endParaRPr lang="en-US" sz="1800" dirty="0"/>
          </a:p>
        </p:txBody>
      </p:sp>
      <p:sp>
        <p:nvSpPr>
          <p:cNvPr id="25" name="Shape 22"/>
          <p:cNvSpPr/>
          <p:nvPr/>
        </p:nvSpPr>
        <p:spPr>
          <a:xfrm>
            <a:off x="7443216" y="1773936"/>
            <a:ext cx="384048" cy="384048"/>
          </a:xfrm>
          <a:prstGeom prst="ellipse">
            <a:avLst/>
          </a:prstGeom>
          <a:solidFill>
            <a:srgbClr val="16324F"/>
          </a:solidFill>
          <a:ln w="19050">
            <a:solidFill>
              <a:srgbClr val="FFFFFF"/>
            </a:solidFill>
            <a:prstDash val="solid"/>
          </a:ln>
        </p:spPr>
      </p:sp>
      <p:sp>
        <p:nvSpPr>
          <p:cNvPr id="26" name="Text 23"/>
          <p:cNvSpPr txBox="1"/>
          <p:nvPr/>
        </p:nvSpPr>
        <p:spPr>
          <a:xfrm>
            <a:off x="7443216" y="1773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4</a:t>
            </a:r>
            <a:endParaRPr lang="en-US" sz="1600" dirty="0"/>
          </a:p>
        </p:txBody>
      </p:sp>
      <p:sp>
        <p:nvSpPr>
          <p:cNvPr id="27" name="Shape 24"/>
          <p:cNvSpPr/>
          <p:nvPr/>
        </p:nvSpPr>
        <p:spPr>
          <a:xfrm>
            <a:off x="9400032" y="2560320"/>
            <a:ext cx="384048" cy="0"/>
          </a:xfrm>
          <a:prstGeom prst="line">
            <a:avLst/>
          </a:prstGeom>
          <a:noFill/>
          <a:ln w="38100">
            <a:solidFill>
              <a:srgbClr val="1B2A3A"/>
            </a:solidFill>
            <a:prstDash val="solid"/>
            <a:tailEnd type="triangle"/>
          </a:ln>
        </p:spPr>
      </p:sp>
      <p:sp>
        <p:nvSpPr>
          <p:cNvPr id="28" name="Shape 25"/>
          <p:cNvSpPr/>
          <p:nvPr/>
        </p:nvSpPr>
        <p:spPr>
          <a:xfrm>
            <a:off x="9784080" y="1965960"/>
            <a:ext cx="1947672" cy="1188720"/>
          </a:xfrm>
          <a:prstGeom prst="roundRect">
            <a:avLst>
              <a:gd name="adj" fmla="val 9231"/>
            </a:avLst>
          </a:prstGeom>
          <a:solidFill>
            <a:srgbClr val="0B7A7A"/>
          </a:solidFill>
          <a:ln/>
        </p:spPr>
      </p:sp>
      <p:sp>
        <p:nvSpPr>
          <p:cNvPr id="29" name="Text 26"/>
          <p:cNvSpPr txBox="1"/>
          <p:nvPr/>
        </p:nvSpPr>
        <p:spPr>
          <a:xfrm>
            <a:off x="9875520" y="1965960"/>
            <a:ext cx="1764792"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文章に戻して</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利用者へ返す</a:t>
            </a:r>
            <a:endParaRPr lang="en-US" sz="1800" dirty="0"/>
          </a:p>
        </p:txBody>
      </p:sp>
      <p:sp>
        <p:nvSpPr>
          <p:cNvPr id="30" name="Shape 27"/>
          <p:cNvSpPr/>
          <p:nvPr/>
        </p:nvSpPr>
        <p:spPr>
          <a:xfrm>
            <a:off x="9774936" y="1773936"/>
            <a:ext cx="384048" cy="384048"/>
          </a:xfrm>
          <a:prstGeom prst="ellipse">
            <a:avLst/>
          </a:prstGeom>
          <a:solidFill>
            <a:srgbClr val="16324F"/>
          </a:solidFill>
          <a:ln w="19050">
            <a:solidFill>
              <a:srgbClr val="FFFFFF"/>
            </a:solidFill>
            <a:prstDash val="solid"/>
          </a:ln>
        </p:spPr>
      </p:sp>
      <p:sp>
        <p:nvSpPr>
          <p:cNvPr id="31" name="Text 28"/>
          <p:cNvSpPr txBox="1"/>
          <p:nvPr/>
        </p:nvSpPr>
        <p:spPr>
          <a:xfrm>
            <a:off x="9774936" y="1773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5</a:t>
            </a:r>
            <a:endParaRPr lang="en-US" sz="1600" dirty="0"/>
          </a:p>
        </p:txBody>
      </p:sp>
      <p:sp>
        <p:nvSpPr>
          <p:cNvPr id="32" name="Shape 29"/>
          <p:cNvSpPr/>
          <p:nvPr/>
        </p:nvSpPr>
        <p:spPr>
          <a:xfrm flipH="1">
            <a:off x="6126480" y="3246120"/>
            <a:ext cx="2286000" cy="0"/>
          </a:xfrm>
          <a:prstGeom prst="line">
            <a:avLst/>
          </a:prstGeom>
          <a:noFill/>
          <a:ln w="31750">
            <a:solidFill>
              <a:srgbClr val="B45309"/>
            </a:solidFill>
            <a:prstDash val="dash"/>
            <a:tailEnd type="triangle"/>
          </a:ln>
        </p:spPr>
      </p:sp>
      <p:sp>
        <p:nvSpPr>
          <p:cNvPr id="33" name="Text 30"/>
          <p:cNvSpPr txBox="1"/>
          <p:nvPr/>
        </p:nvSpPr>
        <p:spPr>
          <a:xfrm>
            <a:off x="5166360" y="3204972"/>
            <a:ext cx="420624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生成した内容も使って繰り返す</a:t>
            </a:r>
            <a:endParaRPr lang="en-US" sz="1800" dirty="0"/>
          </a:p>
        </p:txBody>
      </p:sp>
      <p:sp>
        <p:nvSpPr>
          <p:cNvPr id="34" name="Shape 31"/>
          <p:cNvSpPr/>
          <p:nvPr/>
        </p:nvSpPr>
        <p:spPr>
          <a:xfrm>
            <a:off x="457200" y="3749040"/>
            <a:ext cx="2130552" cy="1874520"/>
          </a:xfrm>
          <a:prstGeom prst="roundRect">
            <a:avLst>
              <a:gd name="adj" fmla="val 6829"/>
            </a:avLst>
          </a:prstGeom>
          <a:solidFill>
            <a:srgbClr val="E6E1F7"/>
          </a:solidFill>
          <a:ln/>
        </p:spPr>
      </p:sp>
      <p:sp>
        <p:nvSpPr>
          <p:cNvPr id="35" name="Text 32"/>
          <p:cNvSpPr txBox="1"/>
          <p:nvPr/>
        </p:nvSpPr>
        <p:spPr>
          <a:xfrm>
            <a:off x="640080" y="3877056"/>
            <a:ext cx="1764792" cy="301752"/>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トークン</a:t>
            </a:r>
            <a:endParaRPr lang="en-US" sz="1800" dirty="0"/>
          </a:p>
        </p:txBody>
      </p:sp>
      <p:sp>
        <p:nvSpPr>
          <p:cNvPr id="36" name="Text 33"/>
          <p:cNvSpPr txBox="1"/>
          <p:nvPr/>
        </p:nvSpPr>
        <p:spPr>
          <a:xfrm>
            <a:off x="640080" y="4270248"/>
            <a:ext cx="1764792" cy="126187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文章を扱う単位。文字と1対1ではない</a:t>
            </a:r>
            <a:endParaRPr lang="en-US" sz="1800" dirty="0"/>
          </a:p>
        </p:txBody>
      </p:sp>
      <p:sp>
        <p:nvSpPr>
          <p:cNvPr id="37" name="Shape 34"/>
          <p:cNvSpPr/>
          <p:nvPr/>
        </p:nvSpPr>
        <p:spPr>
          <a:xfrm>
            <a:off x="2743200" y="3749040"/>
            <a:ext cx="2130552" cy="1874520"/>
          </a:xfrm>
          <a:prstGeom prst="roundRect">
            <a:avLst>
              <a:gd name="adj" fmla="val 6829"/>
            </a:avLst>
          </a:prstGeom>
          <a:solidFill>
            <a:srgbClr val="E6E1F7"/>
          </a:solidFill>
          <a:ln/>
        </p:spPr>
      </p:sp>
      <p:sp>
        <p:nvSpPr>
          <p:cNvPr id="38" name="Text 35"/>
          <p:cNvSpPr txBox="1"/>
          <p:nvPr/>
        </p:nvSpPr>
        <p:spPr>
          <a:xfrm>
            <a:off x="2926080" y="3877056"/>
            <a:ext cx="1764792" cy="301752"/>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重み</a:t>
            </a:r>
            <a:endParaRPr lang="en-US" sz="1800" dirty="0"/>
          </a:p>
        </p:txBody>
      </p:sp>
      <p:sp>
        <p:nvSpPr>
          <p:cNvPr id="39" name="Text 36"/>
          <p:cNvSpPr txBox="1"/>
          <p:nvPr/>
        </p:nvSpPr>
        <p:spPr>
          <a:xfrm>
            <a:off x="2926080" y="4270248"/>
            <a:ext cx="1764792" cy="126187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学習済みの数値。高速に読み出す</a:t>
            </a:r>
            <a:endParaRPr lang="en-US" sz="1800" dirty="0"/>
          </a:p>
        </p:txBody>
      </p:sp>
      <p:sp>
        <p:nvSpPr>
          <p:cNvPr id="40" name="Shape 37"/>
          <p:cNvSpPr/>
          <p:nvPr/>
        </p:nvSpPr>
        <p:spPr>
          <a:xfrm>
            <a:off x="5029200" y="3749040"/>
            <a:ext cx="2130552" cy="1874520"/>
          </a:xfrm>
          <a:prstGeom prst="roundRect">
            <a:avLst>
              <a:gd name="adj" fmla="val 6829"/>
            </a:avLst>
          </a:prstGeom>
          <a:solidFill>
            <a:srgbClr val="E6E1F7"/>
          </a:solidFill>
          <a:ln/>
        </p:spPr>
      </p:sp>
      <p:sp>
        <p:nvSpPr>
          <p:cNvPr id="41" name="Text 38"/>
          <p:cNvSpPr txBox="1"/>
          <p:nvPr/>
        </p:nvSpPr>
        <p:spPr>
          <a:xfrm>
            <a:off x="5212080" y="3877056"/>
            <a:ext cx="1764792" cy="60350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プリフィル・</a:t>
            </a:r>
            <a:endParaRPr lang="en-US" sz="1800" dirty="0"/>
          </a:p>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デコード</a:t>
            </a:r>
            <a:endParaRPr lang="en-US" sz="1800" dirty="0"/>
          </a:p>
        </p:txBody>
      </p:sp>
      <p:sp>
        <p:nvSpPr>
          <p:cNvPr id="42" name="Text 39"/>
          <p:cNvSpPr txBox="1"/>
          <p:nvPr/>
        </p:nvSpPr>
        <p:spPr>
          <a:xfrm>
            <a:off x="5212080" y="4572000"/>
            <a:ext cx="1764792" cy="96012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入力を処理／続きを順次生成</a:t>
            </a:r>
            <a:endParaRPr lang="en-US" sz="1800" dirty="0"/>
          </a:p>
        </p:txBody>
      </p:sp>
      <p:sp>
        <p:nvSpPr>
          <p:cNvPr id="43" name="Shape 40"/>
          <p:cNvSpPr/>
          <p:nvPr/>
        </p:nvSpPr>
        <p:spPr>
          <a:xfrm>
            <a:off x="7315200" y="3749040"/>
            <a:ext cx="2130552" cy="1874520"/>
          </a:xfrm>
          <a:prstGeom prst="roundRect">
            <a:avLst>
              <a:gd name="adj" fmla="val 6829"/>
            </a:avLst>
          </a:prstGeom>
          <a:solidFill>
            <a:srgbClr val="E6E1F7"/>
          </a:solidFill>
          <a:ln/>
        </p:spPr>
      </p:sp>
      <p:sp>
        <p:nvSpPr>
          <p:cNvPr id="44" name="Text 41"/>
          <p:cNvSpPr txBox="1"/>
          <p:nvPr/>
        </p:nvSpPr>
        <p:spPr>
          <a:xfrm>
            <a:off x="7498080" y="3877056"/>
            <a:ext cx="1764792" cy="301752"/>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KVキャッシュ</a:t>
            </a:r>
            <a:endParaRPr lang="en-US" sz="1800" dirty="0"/>
          </a:p>
        </p:txBody>
      </p:sp>
      <p:sp>
        <p:nvSpPr>
          <p:cNvPr id="45" name="Text 42"/>
          <p:cNvSpPr txBox="1"/>
          <p:nvPr/>
        </p:nvSpPr>
        <p:spPr>
          <a:xfrm>
            <a:off x="7498080" y="4270248"/>
            <a:ext cx="1764792" cy="126187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計算済みの情報を保持して再計算を避ける</a:t>
            </a:r>
            <a:endParaRPr lang="en-US" sz="1800" dirty="0"/>
          </a:p>
        </p:txBody>
      </p:sp>
      <p:sp>
        <p:nvSpPr>
          <p:cNvPr id="46" name="Shape 43"/>
          <p:cNvSpPr/>
          <p:nvPr/>
        </p:nvSpPr>
        <p:spPr>
          <a:xfrm>
            <a:off x="9601200" y="3749040"/>
            <a:ext cx="2130552" cy="1874520"/>
          </a:xfrm>
          <a:prstGeom prst="roundRect">
            <a:avLst>
              <a:gd name="adj" fmla="val 6829"/>
            </a:avLst>
          </a:prstGeom>
          <a:solidFill>
            <a:srgbClr val="E6E1F7"/>
          </a:solidFill>
          <a:ln/>
        </p:spPr>
      </p:sp>
      <p:sp>
        <p:nvSpPr>
          <p:cNvPr id="47" name="Text 44"/>
          <p:cNvSpPr txBox="1"/>
          <p:nvPr/>
        </p:nvSpPr>
        <p:spPr>
          <a:xfrm>
            <a:off x="9784080" y="3877056"/>
            <a:ext cx="1764792" cy="301752"/>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ストリーミング</a:t>
            </a:r>
            <a:endParaRPr lang="en-US" sz="1800" dirty="0"/>
          </a:p>
        </p:txBody>
      </p:sp>
      <p:sp>
        <p:nvSpPr>
          <p:cNvPr id="48" name="Text 45"/>
          <p:cNvSpPr txBox="1"/>
          <p:nvPr/>
        </p:nvSpPr>
        <p:spPr>
          <a:xfrm>
            <a:off x="9784080" y="4270248"/>
            <a:ext cx="1764792" cy="126187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生成結果を順次届ける</a:t>
            </a:r>
            <a:endParaRPr lang="en-US" sz="1800" dirty="0"/>
          </a:p>
        </p:txBody>
      </p:sp>
      <p:sp>
        <p:nvSpPr>
          <p:cNvPr id="49" name="Shape 46"/>
          <p:cNvSpPr/>
          <p:nvPr/>
        </p:nvSpPr>
        <p:spPr>
          <a:xfrm>
            <a:off x="457200" y="5760720"/>
            <a:ext cx="11274552" cy="548640"/>
          </a:xfrm>
          <a:prstGeom prst="roundRect">
            <a:avLst>
              <a:gd name="adj" fmla="val 20000"/>
            </a:avLst>
          </a:prstGeom>
          <a:solidFill>
            <a:srgbClr val="DCE8F8"/>
          </a:solidFill>
          <a:ln w="19050">
            <a:solidFill>
              <a:srgbClr val="2F6BC2"/>
            </a:solidFill>
            <a:prstDash val="solid"/>
          </a:ln>
        </p:spPr>
      </p:sp>
      <p:sp>
        <p:nvSpPr>
          <p:cNvPr id="50" name="Shape 47"/>
          <p:cNvSpPr/>
          <p:nvPr/>
        </p:nvSpPr>
        <p:spPr>
          <a:xfrm>
            <a:off x="594360" y="5852160"/>
            <a:ext cx="365760" cy="365760"/>
          </a:xfrm>
          <a:prstGeom prst="ellipse">
            <a:avLst/>
          </a:prstGeom>
          <a:solidFill>
            <a:srgbClr val="2F6BC2"/>
          </a:solidFill>
          <a:ln/>
        </p:spPr>
      </p:sp>
      <p:pic>
        <p:nvPicPr>
          <p:cNvPr id="51" name="Image 0" descr="preencoded.png">    </p:cNvPr>
          <p:cNvPicPr>
            <a:picLocks noChangeAspect="1"/>
          </p:cNvPicPr>
          <p:nvPr/>
        </p:nvPicPr>
        <p:blipFill>
          <a:blip r:embed="rId1"/>
          <a:stretch>
            <a:fillRect/>
          </a:stretch>
        </p:blipFill>
        <p:spPr>
          <a:xfrm>
            <a:off x="674827" y="5932627"/>
            <a:ext cx="204826" cy="204826"/>
          </a:xfrm>
          <a:prstGeom prst="rect">
            <a:avLst/>
          </a:prstGeom>
        </p:spPr>
      </p:pic>
      <p:sp>
        <p:nvSpPr>
          <p:cNvPr id="52" name="Text 48"/>
          <p:cNvSpPr txBox="1"/>
          <p:nvPr/>
        </p:nvSpPr>
        <p:spPr>
          <a:xfrm>
            <a:off x="1097280" y="5806440"/>
            <a:ext cx="10497312" cy="4572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長い会話や多数の同時利用者は、KVキャッシュなどメモリの必要量を増やす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AIは計算・メモリ・保存・通信・電力・冷却・運用が支える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AIは、計算（GPU）だけでは動きません。メモリ・保存・通信、電力と冷却、ソフトと運用がそろって動きます。点線の枠はデータセンターの中を表します。</a:t>
            </a:r>
            <a:endParaRPr lang="en-US" sz="1800" dirty="0"/>
          </a:p>
        </p:txBody>
      </p:sp>
      <p:sp>
        <p:nvSpPr>
          <p:cNvPr id="7" name="Shape 4"/>
          <p:cNvSpPr/>
          <p:nvPr/>
        </p:nvSpPr>
        <p:spPr>
          <a:xfrm>
            <a:off x="365760" y="1783080"/>
            <a:ext cx="11457432" cy="4572000"/>
          </a:xfrm>
          <a:prstGeom prst="roundRect">
            <a:avLst>
              <a:gd name="adj" fmla="val 3200"/>
            </a:avLst>
          </a:prstGeom>
          <a:solidFill>
            <a:srgbClr val="F8FAFC"/>
          </a:solidFill>
          <a:ln w="19050">
            <a:solidFill>
              <a:srgbClr val="475569"/>
            </a:solidFill>
            <a:prstDash val="dash"/>
          </a:ln>
        </p:spPr>
      </p:sp>
      <p:sp>
        <p:nvSpPr>
          <p:cNvPr id="8" name="Shape 5"/>
          <p:cNvSpPr/>
          <p:nvPr/>
        </p:nvSpPr>
        <p:spPr>
          <a:xfrm>
            <a:off x="548640" y="3154680"/>
            <a:ext cx="2468880" cy="1280160"/>
          </a:xfrm>
          <a:prstGeom prst="roundRect">
            <a:avLst>
              <a:gd name="adj" fmla="val 8571"/>
            </a:avLst>
          </a:prstGeom>
          <a:solidFill>
            <a:srgbClr val="E6E1F7"/>
          </a:solidFill>
          <a:ln w="25400">
            <a:solidFill>
              <a:srgbClr val="5B46B8"/>
            </a:solidFill>
            <a:prstDash val="solid"/>
          </a:ln>
        </p:spPr>
      </p:sp>
      <p:sp>
        <p:nvSpPr>
          <p:cNvPr id="9" name="Shape 6"/>
          <p:cNvSpPr/>
          <p:nvPr/>
        </p:nvSpPr>
        <p:spPr>
          <a:xfrm>
            <a:off x="676656" y="3520440"/>
            <a:ext cx="548640" cy="548640"/>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797357" y="3641141"/>
            <a:ext cx="307238" cy="307238"/>
          </a:xfrm>
          <a:prstGeom prst="rect">
            <a:avLst/>
          </a:prstGeom>
        </p:spPr>
      </p:pic>
      <p:sp>
        <p:nvSpPr>
          <p:cNvPr id="11" name="Text 7"/>
          <p:cNvSpPr txBox="1"/>
          <p:nvPr/>
        </p:nvSpPr>
        <p:spPr>
          <a:xfrm>
            <a:off x="1316736" y="3154680"/>
            <a:ext cx="1609344" cy="12801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保存</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SSD・NAND</a:t>
            </a:r>
            <a:endParaRPr lang="en-US" sz="2000" dirty="0"/>
          </a:p>
        </p:txBody>
      </p:sp>
      <p:sp>
        <p:nvSpPr>
          <p:cNvPr id="12" name="Shape 8"/>
          <p:cNvSpPr/>
          <p:nvPr/>
        </p:nvSpPr>
        <p:spPr>
          <a:xfrm>
            <a:off x="3291840" y="3154680"/>
            <a:ext cx="2468880" cy="1280160"/>
          </a:xfrm>
          <a:prstGeom prst="roundRect">
            <a:avLst>
              <a:gd name="adj" fmla="val 8571"/>
            </a:avLst>
          </a:prstGeom>
          <a:solidFill>
            <a:srgbClr val="E6E1F7"/>
          </a:solidFill>
          <a:ln w="25400">
            <a:solidFill>
              <a:srgbClr val="5B46B8"/>
            </a:solidFill>
            <a:prstDash val="solid"/>
          </a:ln>
        </p:spPr>
      </p:sp>
      <p:sp>
        <p:nvSpPr>
          <p:cNvPr id="13" name="Shape 9"/>
          <p:cNvSpPr/>
          <p:nvPr/>
        </p:nvSpPr>
        <p:spPr>
          <a:xfrm>
            <a:off x="3419856" y="3520440"/>
            <a:ext cx="548640" cy="548640"/>
          </a:xfrm>
          <a:prstGeom prst="ellipse">
            <a:avLst/>
          </a:prstGeom>
          <a:solidFill>
            <a:srgbClr val="5B46B8"/>
          </a:solidFill>
          <a:ln/>
        </p:spPr>
      </p:sp>
      <p:pic>
        <p:nvPicPr>
          <p:cNvPr id="14" name="Image 1" descr="preencoded.png">    </p:cNvPr>
          <p:cNvPicPr>
            <a:picLocks noChangeAspect="1"/>
          </p:cNvPicPr>
          <p:nvPr/>
        </p:nvPicPr>
        <p:blipFill>
          <a:blip r:embed="rId2"/>
          <a:stretch>
            <a:fillRect/>
          </a:stretch>
        </p:blipFill>
        <p:spPr>
          <a:xfrm>
            <a:off x="3540557" y="3641141"/>
            <a:ext cx="307238" cy="307238"/>
          </a:xfrm>
          <a:prstGeom prst="rect">
            <a:avLst/>
          </a:prstGeom>
        </p:spPr>
      </p:pic>
      <p:sp>
        <p:nvSpPr>
          <p:cNvPr id="15" name="Text 10"/>
          <p:cNvSpPr txBox="1"/>
          <p:nvPr/>
        </p:nvSpPr>
        <p:spPr>
          <a:xfrm>
            <a:off x="4059936" y="3154680"/>
            <a:ext cx="1609344" cy="12801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メモリ</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HBM・DRAM</a:t>
            </a:r>
            <a:endParaRPr lang="en-US" sz="2000" dirty="0"/>
          </a:p>
        </p:txBody>
      </p:sp>
      <p:sp>
        <p:nvSpPr>
          <p:cNvPr id="16" name="Shape 11"/>
          <p:cNvSpPr/>
          <p:nvPr/>
        </p:nvSpPr>
        <p:spPr>
          <a:xfrm>
            <a:off x="6035040" y="3154680"/>
            <a:ext cx="2468880" cy="1280160"/>
          </a:xfrm>
          <a:prstGeom prst="roundRect">
            <a:avLst>
              <a:gd name="adj" fmla="val 8571"/>
            </a:avLst>
          </a:prstGeom>
          <a:solidFill>
            <a:srgbClr val="5B46B8"/>
          </a:solidFill>
          <a:ln/>
        </p:spPr>
      </p:sp>
      <p:sp>
        <p:nvSpPr>
          <p:cNvPr id="17" name="Shape 12"/>
          <p:cNvSpPr/>
          <p:nvPr/>
        </p:nvSpPr>
        <p:spPr>
          <a:xfrm>
            <a:off x="6163056" y="3520440"/>
            <a:ext cx="548640" cy="54864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6283757" y="3641141"/>
            <a:ext cx="307238" cy="307238"/>
          </a:xfrm>
          <a:prstGeom prst="rect">
            <a:avLst/>
          </a:prstGeom>
        </p:spPr>
      </p:pic>
      <p:sp>
        <p:nvSpPr>
          <p:cNvPr id="19" name="Text 13"/>
          <p:cNvSpPr txBox="1"/>
          <p:nvPr/>
        </p:nvSpPr>
        <p:spPr>
          <a:xfrm>
            <a:off x="6803136" y="3154680"/>
            <a:ext cx="1609344" cy="128016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計算</a:t>
            </a:r>
            <a:endParaRPr lang="en-US" sz="2200" dirty="0"/>
          </a:p>
          <a:p>
            <a:pPr algn="l" indent="0" marL="0">
              <a:lnSpc>
                <a:spcPts val="2600"/>
              </a:lnSpc>
              <a:buNone/>
            </a:pPr>
            <a:r>
              <a:rPr lang="ja-JP" altLang="en-US" sz="2000" dirty="0">
                <a:solidFill>
                  <a:srgbClr val="F1F5F9"/>
                </a:solidFill>
                <a:latin typeface="Yu Gothic" pitchFamily="34" charset="0"/>
                <a:ea typeface="Yu Gothic" pitchFamily="34" charset="-122"/>
                <a:cs typeface="Yu Gothic" pitchFamily="34" charset="-120"/>
              </a:rPr>
              <a:t>GPU・AI専用チップ</a:t>
            </a:r>
            <a:endParaRPr lang="en-US" sz="2200" dirty="0"/>
          </a:p>
        </p:txBody>
      </p:sp>
      <p:sp>
        <p:nvSpPr>
          <p:cNvPr id="20" name="Shape 14"/>
          <p:cNvSpPr/>
          <p:nvPr/>
        </p:nvSpPr>
        <p:spPr>
          <a:xfrm>
            <a:off x="8915400" y="3154680"/>
            <a:ext cx="2697480" cy="1280160"/>
          </a:xfrm>
          <a:prstGeom prst="roundRect">
            <a:avLst>
              <a:gd name="adj" fmla="val 8571"/>
            </a:avLst>
          </a:prstGeom>
          <a:solidFill>
            <a:srgbClr val="DCE8F8"/>
          </a:solidFill>
          <a:ln w="25400">
            <a:solidFill>
              <a:srgbClr val="2F6BC2"/>
            </a:solidFill>
            <a:prstDash val="solid"/>
          </a:ln>
        </p:spPr>
      </p:sp>
      <p:sp>
        <p:nvSpPr>
          <p:cNvPr id="21" name="Shape 15"/>
          <p:cNvSpPr/>
          <p:nvPr/>
        </p:nvSpPr>
        <p:spPr>
          <a:xfrm>
            <a:off x="9043416" y="3520440"/>
            <a:ext cx="548640" cy="548640"/>
          </a:xfrm>
          <a:prstGeom prst="ellipse">
            <a:avLst/>
          </a:prstGeom>
          <a:solidFill>
            <a:srgbClr val="2F6BC2"/>
          </a:solidFill>
          <a:ln/>
        </p:spPr>
      </p:sp>
      <p:pic>
        <p:nvPicPr>
          <p:cNvPr id="22" name="Image 3" descr="preencoded.png">    </p:cNvPr>
          <p:cNvPicPr>
            <a:picLocks noChangeAspect="1"/>
          </p:cNvPicPr>
          <p:nvPr/>
        </p:nvPicPr>
        <p:blipFill>
          <a:blip r:embed="rId4"/>
          <a:stretch>
            <a:fillRect/>
          </a:stretch>
        </p:blipFill>
        <p:spPr>
          <a:xfrm>
            <a:off x="9164117" y="3641141"/>
            <a:ext cx="307238" cy="307238"/>
          </a:xfrm>
          <a:prstGeom prst="rect">
            <a:avLst/>
          </a:prstGeom>
        </p:spPr>
      </p:pic>
      <p:sp>
        <p:nvSpPr>
          <p:cNvPr id="23" name="Text 16"/>
          <p:cNvSpPr txBox="1"/>
          <p:nvPr/>
        </p:nvSpPr>
        <p:spPr>
          <a:xfrm>
            <a:off x="9683496" y="3154680"/>
            <a:ext cx="1837944" cy="12801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ネットワーク</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NIC・光通信</a:t>
            </a:r>
            <a:endParaRPr lang="en-US" sz="2000" dirty="0"/>
          </a:p>
        </p:txBody>
      </p:sp>
      <p:sp>
        <p:nvSpPr>
          <p:cNvPr id="24" name="Shape 17"/>
          <p:cNvSpPr/>
          <p:nvPr/>
        </p:nvSpPr>
        <p:spPr>
          <a:xfrm>
            <a:off x="3017520" y="3794760"/>
            <a:ext cx="274320" cy="0"/>
          </a:xfrm>
          <a:prstGeom prst="line">
            <a:avLst/>
          </a:prstGeom>
          <a:noFill/>
          <a:ln w="38100">
            <a:solidFill>
              <a:srgbClr val="1B2A3A"/>
            </a:solidFill>
            <a:prstDash val="solid"/>
            <a:tailEnd type="triangle"/>
          </a:ln>
        </p:spPr>
      </p:sp>
      <p:sp>
        <p:nvSpPr>
          <p:cNvPr id="25" name="Shape 18"/>
          <p:cNvSpPr/>
          <p:nvPr/>
        </p:nvSpPr>
        <p:spPr>
          <a:xfrm>
            <a:off x="5760720" y="3794760"/>
            <a:ext cx="274320" cy="0"/>
          </a:xfrm>
          <a:prstGeom prst="line">
            <a:avLst/>
          </a:prstGeom>
          <a:noFill/>
          <a:ln w="38100">
            <a:solidFill>
              <a:srgbClr val="1B2A3A"/>
            </a:solidFill>
            <a:prstDash val="solid"/>
            <a:tailEnd type="triangle"/>
          </a:ln>
        </p:spPr>
      </p:sp>
      <p:sp>
        <p:nvSpPr>
          <p:cNvPr id="26" name="Shape 19"/>
          <p:cNvSpPr/>
          <p:nvPr/>
        </p:nvSpPr>
        <p:spPr>
          <a:xfrm>
            <a:off x="8503920" y="3794760"/>
            <a:ext cx="411480" cy="0"/>
          </a:xfrm>
          <a:prstGeom prst="line">
            <a:avLst/>
          </a:prstGeom>
          <a:noFill/>
          <a:ln w="38100">
            <a:solidFill>
              <a:srgbClr val="2F6BC2"/>
            </a:solidFill>
            <a:prstDash val="solid"/>
            <a:headEnd type="triangle"/>
            <a:tailEnd type="triangle"/>
          </a:ln>
        </p:spPr>
      </p:sp>
      <p:sp>
        <p:nvSpPr>
          <p:cNvPr id="27" name="Shape 20"/>
          <p:cNvSpPr/>
          <p:nvPr/>
        </p:nvSpPr>
        <p:spPr>
          <a:xfrm>
            <a:off x="6035040" y="2057400"/>
            <a:ext cx="2468880" cy="868680"/>
          </a:xfrm>
          <a:prstGeom prst="roundRect">
            <a:avLst>
              <a:gd name="adj" fmla="val 12632"/>
            </a:avLst>
          </a:prstGeom>
          <a:solidFill>
            <a:srgbClr val="E2E8F0"/>
          </a:solidFill>
          <a:ln w="25400">
            <a:solidFill>
              <a:srgbClr val="475569"/>
            </a:solidFill>
            <a:prstDash val="solid"/>
          </a:ln>
        </p:spPr>
      </p:sp>
      <p:sp>
        <p:nvSpPr>
          <p:cNvPr id="28" name="Shape 21"/>
          <p:cNvSpPr/>
          <p:nvPr/>
        </p:nvSpPr>
        <p:spPr>
          <a:xfrm>
            <a:off x="6163056" y="2217420"/>
            <a:ext cx="548640" cy="548640"/>
          </a:xfrm>
          <a:prstGeom prst="ellipse">
            <a:avLst/>
          </a:prstGeom>
          <a:solidFill>
            <a:srgbClr val="475569"/>
          </a:solidFill>
          <a:ln/>
        </p:spPr>
      </p:sp>
      <p:pic>
        <p:nvPicPr>
          <p:cNvPr id="29" name="Image 4" descr="preencoded.png">    </p:cNvPr>
          <p:cNvPicPr>
            <a:picLocks noChangeAspect="1"/>
          </p:cNvPicPr>
          <p:nvPr/>
        </p:nvPicPr>
        <p:blipFill>
          <a:blip r:embed="rId5"/>
          <a:stretch>
            <a:fillRect/>
          </a:stretch>
        </p:blipFill>
        <p:spPr>
          <a:xfrm>
            <a:off x="6283757" y="2338121"/>
            <a:ext cx="307238" cy="307238"/>
          </a:xfrm>
          <a:prstGeom prst="rect">
            <a:avLst/>
          </a:prstGeom>
        </p:spPr>
      </p:pic>
      <p:sp>
        <p:nvSpPr>
          <p:cNvPr id="30" name="Text 22"/>
          <p:cNvSpPr txBox="1"/>
          <p:nvPr/>
        </p:nvSpPr>
        <p:spPr>
          <a:xfrm>
            <a:off x="6803136" y="2057400"/>
            <a:ext cx="160934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電力</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発電・送電</a:t>
            </a:r>
            <a:endParaRPr lang="en-US" sz="2000" dirty="0"/>
          </a:p>
        </p:txBody>
      </p:sp>
      <p:sp>
        <p:nvSpPr>
          <p:cNvPr id="31" name="Shape 23"/>
          <p:cNvSpPr/>
          <p:nvPr/>
        </p:nvSpPr>
        <p:spPr>
          <a:xfrm>
            <a:off x="7269480" y="2926080"/>
            <a:ext cx="0" cy="228600"/>
          </a:xfrm>
          <a:prstGeom prst="line">
            <a:avLst/>
          </a:prstGeom>
          <a:noFill/>
          <a:ln w="38100">
            <a:solidFill>
              <a:srgbClr val="C0392B"/>
            </a:solidFill>
            <a:prstDash val="solid"/>
            <a:tailEnd type="triangle"/>
          </a:ln>
        </p:spPr>
      </p:sp>
      <p:sp>
        <p:nvSpPr>
          <p:cNvPr id="32" name="Shape 24"/>
          <p:cNvSpPr/>
          <p:nvPr/>
        </p:nvSpPr>
        <p:spPr>
          <a:xfrm>
            <a:off x="6035040" y="4800600"/>
            <a:ext cx="2468880" cy="914400"/>
          </a:xfrm>
          <a:prstGeom prst="roundRect">
            <a:avLst>
              <a:gd name="adj" fmla="val 12000"/>
            </a:avLst>
          </a:prstGeom>
          <a:solidFill>
            <a:srgbClr val="E2E8F0"/>
          </a:solidFill>
          <a:ln w="25400">
            <a:solidFill>
              <a:srgbClr val="475569"/>
            </a:solidFill>
            <a:prstDash val="solid"/>
          </a:ln>
        </p:spPr>
      </p:sp>
      <p:sp>
        <p:nvSpPr>
          <p:cNvPr id="33" name="Shape 25"/>
          <p:cNvSpPr/>
          <p:nvPr/>
        </p:nvSpPr>
        <p:spPr>
          <a:xfrm>
            <a:off x="6163056" y="4983480"/>
            <a:ext cx="548640" cy="548640"/>
          </a:xfrm>
          <a:prstGeom prst="ellipse">
            <a:avLst/>
          </a:prstGeom>
          <a:solidFill>
            <a:srgbClr val="475569"/>
          </a:solidFill>
          <a:ln/>
        </p:spPr>
      </p:sp>
      <p:pic>
        <p:nvPicPr>
          <p:cNvPr id="34" name="Image 5" descr="preencoded.png">    </p:cNvPr>
          <p:cNvPicPr>
            <a:picLocks noChangeAspect="1"/>
          </p:cNvPicPr>
          <p:nvPr/>
        </p:nvPicPr>
        <p:blipFill>
          <a:blip r:embed="rId6"/>
          <a:stretch>
            <a:fillRect/>
          </a:stretch>
        </p:blipFill>
        <p:spPr>
          <a:xfrm>
            <a:off x="6283757" y="5104181"/>
            <a:ext cx="307238" cy="307238"/>
          </a:xfrm>
          <a:prstGeom prst="rect">
            <a:avLst/>
          </a:prstGeom>
        </p:spPr>
      </p:pic>
      <p:sp>
        <p:nvSpPr>
          <p:cNvPr id="35" name="Text 26"/>
          <p:cNvSpPr txBox="1"/>
          <p:nvPr/>
        </p:nvSpPr>
        <p:spPr>
          <a:xfrm>
            <a:off x="6803136" y="4800600"/>
            <a:ext cx="1609344" cy="9144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冷却</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空冷・液冷</a:t>
            </a:r>
            <a:endParaRPr lang="en-US" sz="2000" dirty="0"/>
          </a:p>
        </p:txBody>
      </p:sp>
      <p:sp>
        <p:nvSpPr>
          <p:cNvPr id="36" name="Shape 27"/>
          <p:cNvSpPr/>
          <p:nvPr/>
        </p:nvSpPr>
        <p:spPr>
          <a:xfrm>
            <a:off x="7269480" y="4434840"/>
            <a:ext cx="0" cy="365760"/>
          </a:xfrm>
          <a:prstGeom prst="line">
            <a:avLst/>
          </a:prstGeom>
          <a:noFill/>
          <a:ln w="38100">
            <a:solidFill>
              <a:srgbClr val="C0392B"/>
            </a:solidFill>
            <a:prstDash val="solid"/>
            <a:tailEnd type="triangle"/>
          </a:ln>
        </p:spPr>
      </p:sp>
      <p:sp>
        <p:nvSpPr>
          <p:cNvPr id="37" name="Text 28"/>
          <p:cNvSpPr txBox="1"/>
          <p:nvPr/>
        </p:nvSpPr>
        <p:spPr>
          <a:xfrm>
            <a:off x="7360920" y="4462272"/>
            <a:ext cx="548640" cy="365760"/>
          </a:xfrm>
          <a:prstGeom prst="rect">
            <a:avLst/>
          </a:prstGeom>
          <a:noFill/>
          <a:ln/>
        </p:spPr>
        <p:txBody>
          <a:bodyPr wrap="square" lIns="0" tIns="0" rIns="0" bIns="0" rtlCol="0" anchor="t"/>
          <a:lstStyle/>
          <a:p>
            <a:pPr algn="l"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熱</a:t>
            </a:r>
            <a:endParaRPr lang="en-US" sz="1800" dirty="0"/>
          </a:p>
        </p:txBody>
      </p:sp>
      <p:sp>
        <p:nvSpPr>
          <p:cNvPr id="38" name="Shape 29"/>
          <p:cNvSpPr/>
          <p:nvPr/>
        </p:nvSpPr>
        <p:spPr>
          <a:xfrm>
            <a:off x="548640" y="2057400"/>
            <a:ext cx="5120640" cy="960120"/>
          </a:xfrm>
          <a:prstGeom prst="roundRect">
            <a:avLst>
              <a:gd name="adj" fmla="val 11429"/>
            </a:avLst>
          </a:prstGeom>
          <a:solidFill>
            <a:srgbClr val="DCE8F8"/>
          </a:solidFill>
          <a:ln w="19050">
            <a:solidFill>
              <a:srgbClr val="2F6BC2"/>
            </a:solidFill>
            <a:prstDash val="solid"/>
          </a:ln>
        </p:spPr>
      </p:sp>
      <p:sp>
        <p:nvSpPr>
          <p:cNvPr id="39" name="Shape 30"/>
          <p:cNvSpPr/>
          <p:nvPr/>
        </p:nvSpPr>
        <p:spPr>
          <a:xfrm>
            <a:off x="685800" y="2308860"/>
            <a:ext cx="457200" cy="457200"/>
          </a:xfrm>
          <a:prstGeom prst="ellipse">
            <a:avLst/>
          </a:prstGeom>
          <a:solidFill>
            <a:srgbClr val="2F6BC2"/>
          </a:solidFill>
          <a:ln/>
        </p:spPr>
      </p:sp>
      <p:pic>
        <p:nvPicPr>
          <p:cNvPr id="40" name="Image 6" descr="preencoded.png">    </p:cNvPr>
          <p:cNvPicPr>
            <a:picLocks noChangeAspect="1"/>
          </p:cNvPicPr>
          <p:nvPr/>
        </p:nvPicPr>
        <p:blipFill>
          <a:blip r:embed="rId7"/>
          <a:stretch>
            <a:fillRect/>
          </a:stretch>
        </p:blipFill>
        <p:spPr>
          <a:xfrm>
            <a:off x="786384" y="2409444"/>
            <a:ext cx="256032" cy="256032"/>
          </a:xfrm>
          <a:prstGeom prst="rect">
            <a:avLst/>
          </a:prstGeom>
        </p:spPr>
      </p:pic>
      <p:sp>
        <p:nvSpPr>
          <p:cNvPr id="41" name="Text 31"/>
          <p:cNvSpPr txBox="1"/>
          <p:nvPr/>
        </p:nvSpPr>
        <p:spPr>
          <a:xfrm>
            <a:off x="1280160" y="2103120"/>
            <a:ext cx="425196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需要：大量の計算・データ・安定運用</a:t>
            </a:r>
            <a:endParaRPr lang="en-US" sz="1800" dirty="0"/>
          </a:p>
        </p:txBody>
      </p:sp>
      <p:sp>
        <p:nvSpPr>
          <p:cNvPr id="42" name="Shape 32"/>
          <p:cNvSpPr/>
          <p:nvPr/>
        </p:nvSpPr>
        <p:spPr>
          <a:xfrm>
            <a:off x="8915400" y="2057400"/>
            <a:ext cx="2697480" cy="960120"/>
          </a:xfrm>
          <a:prstGeom prst="roundRect">
            <a:avLst>
              <a:gd name="adj" fmla="val 11429"/>
            </a:avLst>
          </a:prstGeom>
          <a:solidFill>
            <a:srgbClr val="FBE3E0"/>
          </a:solidFill>
          <a:ln w="19050">
            <a:solidFill>
              <a:srgbClr val="C0392B"/>
            </a:solidFill>
            <a:prstDash val="solid"/>
          </a:ln>
        </p:spPr>
      </p:sp>
      <p:sp>
        <p:nvSpPr>
          <p:cNvPr id="43" name="Shape 33"/>
          <p:cNvSpPr/>
          <p:nvPr/>
        </p:nvSpPr>
        <p:spPr>
          <a:xfrm>
            <a:off x="9052560" y="2308860"/>
            <a:ext cx="457200" cy="457200"/>
          </a:xfrm>
          <a:prstGeom prst="ellipse">
            <a:avLst/>
          </a:prstGeom>
          <a:solidFill>
            <a:srgbClr val="C0392B"/>
          </a:solidFill>
          <a:ln/>
        </p:spPr>
      </p:sp>
      <p:pic>
        <p:nvPicPr>
          <p:cNvPr id="44" name="Image 7" descr="preencoded.png">    </p:cNvPr>
          <p:cNvPicPr>
            <a:picLocks noChangeAspect="1"/>
          </p:cNvPicPr>
          <p:nvPr/>
        </p:nvPicPr>
        <p:blipFill>
          <a:blip r:embed="rId8"/>
          <a:stretch>
            <a:fillRect/>
          </a:stretch>
        </p:blipFill>
        <p:spPr>
          <a:xfrm>
            <a:off x="9153144" y="2409444"/>
            <a:ext cx="256032" cy="256032"/>
          </a:xfrm>
          <a:prstGeom prst="rect">
            <a:avLst/>
          </a:prstGeom>
        </p:spPr>
      </p:pic>
      <p:sp>
        <p:nvSpPr>
          <p:cNvPr id="45" name="Text 34"/>
          <p:cNvSpPr txBox="1"/>
          <p:nvPr/>
        </p:nvSpPr>
        <p:spPr>
          <a:xfrm>
            <a:off x="9646920" y="2103120"/>
            <a:ext cx="1828800"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GPUとメモリは別の種類</a:t>
            </a:r>
            <a:endParaRPr lang="en-US" sz="1800" dirty="0"/>
          </a:p>
        </p:txBody>
      </p:sp>
      <p:sp>
        <p:nvSpPr>
          <p:cNvPr id="46" name="Shape 35"/>
          <p:cNvSpPr/>
          <p:nvPr/>
        </p:nvSpPr>
        <p:spPr>
          <a:xfrm>
            <a:off x="548640" y="4663440"/>
            <a:ext cx="5120640" cy="1051560"/>
          </a:xfrm>
          <a:prstGeom prst="roundRect">
            <a:avLst>
              <a:gd name="adj" fmla="val 10435"/>
            </a:avLst>
          </a:prstGeom>
          <a:solidFill>
            <a:srgbClr val="E2E8F0"/>
          </a:solidFill>
          <a:ln w="19050">
            <a:solidFill>
              <a:srgbClr val="475569"/>
            </a:solidFill>
            <a:prstDash val="solid"/>
          </a:ln>
        </p:spPr>
      </p:sp>
      <p:sp>
        <p:nvSpPr>
          <p:cNvPr id="47" name="Shape 36"/>
          <p:cNvSpPr/>
          <p:nvPr/>
        </p:nvSpPr>
        <p:spPr>
          <a:xfrm>
            <a:off x="685800" y="4960620"/>
            <a:ext cx="457200" cy="457200"/>
          </a:xfrm>
          <a:prstGeom prst="ellipse">
            <a:avLst/>
          </a:prstGeom>
          <a:solidFill>
            <a:srgbClr val="475569"/>
          </a:solidFill>
          <a:ln/>
        </p:spPr>
      </p:sp>
      <p:pic>
        <p:nvPicPr>
          <p:cNvPr id="48" name="Image 8" descr="preencoded.png">    </p:cNvPr>
          <p:cNvPicPr>
            <a:picLocks noChangeAspect="1"/>
          </p:cNvPicPr>
          <p:nvPr/>
        </p:nvPicPr>
        <p:blipFill>
          <a:blip r:embed="rId9"/>
          <a:stretch>
            <a:fillRect/>
          </a:stretch>
        </p:blipFill>
        <p:spPr>
          <a:xfrm>
            <a:off x="786384" y="5061204"/>
            <a:ext cx="256032" cy="256032"/>
          </a:xfrm>
          <a:prstGeom prst="rect">
            <a:avLst/>
          </a:prstGeom>
        </p:spPr>
      </p:pic>
      <p:sp>
        <p:nvSpPr>
          <p:cNvPr id="49" name="Text 37"/>
          <p:cNvSpPr txBox="1"/>
          <p:nvPr/>
        </p:nvSpPr>
        <p:spPr>
          <a:xfrm>
            <a:off x="1280160" y="4709160"/>
            <a:ext cx="4251960" cy="9601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モデルはあらかじめメモリへ読み込んで使う</a:t>
            </a:r>
            <a:endParaRPr lang="en-US" sz="1800" dirty="0"/>
          </a:p>
        </p:txBody>
      </p:sp>
      <p:sp>
        <p:nvSpPr>
          <p:cNvPr id="50" name="Shape 38"/>
          <p:cNvSpPr/>
          <p:nvPr/>
        </p:nvSpPr>
        <p:spPr>
          <a:xfrm>
            <a:off x="8915400" y="4663440"/>
            <a:ext cx="2697480" cy="1051560"/>
          </a:xfrm>
          <a:prstGeom prst="roundRect">
            <a:avLst>
              <a:gd name="adj" fmla="val 10435"/>
            </a:avLst>
          </a:prstGeom>
          <a:solidFill>
            <a:srgbClr val="FDEBD0"/>
          </a:solidFill>
          <a:ln w="19050">
            <a:solidFill>
              <a:srgbClr val="B45309"/>
            </a:solidFill>
            <a:prstDash val="solid"/>
          </a:ln>
        </p:spPr>
      </p:sp>
      <p:sp>
        <p:nvSpPr>
          <p:cNvPr id="51" name="Shape 39"/>
          <p:cNvSpPr/>
          <p:nvPr/>
        </p:nvSpPr>
        <p:spPr>
          <a:xfrm>
            <a:off x="9052560" y="4960620"/>
            <a:ext cx="457200" cy="457200"/>
          </a:xfrm>
          <a:prstGeom prst="ellipse">
            <a:avLst/>
          </a:prstGeom>
          <a:solidFill>
            <a:srgbClr val="B45309"/>
          </a:solidFill>
          <a:ln/>
        </p:spPr>
      </p:sp>
      <p:pic>
        <p:nvPicPr>
          <p:cNvPr id="52" name="Image 9" descr="preencoded.png">    </p:cNvPr>
          <p:cNvPicPr>
            <a:picLocks noChangeAspect="1"/>
          </p:cNvPicPr>
          <p:nvPr/>
        </p:nvPicPr>
        <p:blipFill>
          <a:blip r:embed="rId10"/>
          <a:stretch>
            <a:fillRect/>
          </a:stretch>
        </p:blipFill>
        <p:spPr>
          <a:xfrm>
            <a:off x="9153144" y="5061204"/>
            <a:ext cx="256032" cy="256032"/>
          </a:xfrm>
          <a:prstGeom prst="rect">
            <a:avLst/>
          </a:prstGeom>
        </p:spPr>
      </p:pic>
      <p:sp>
        <p:nvSpPr>
          <p:cNvPr id="53" name="Text 40"/>
          <p:cNvSpPr txBox="1"/>
          <p:nvPr/>
        </p:nvSpPr>
        <p:spPr>
          <a:xfrm>
            <a:off x="9646920" y="4709160"/>
            <a:ext cx="1828800" cy="9601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通信が遅いとGPUが待つ</a:t>
            </a:r>
            <a:endParaRPr lang="en-US" sz="1800" dirty="0"/>
          </a:p>
        </p:txBody>
      </p:sp>
      <p:sp>
        <p:nvSpPr>
          <p:cNvPr id="54" name="Shape 41"/>
          <p:cNvSpPr/>
          <p:nvPr/>
        </p:nvSpPr>
        <p:spPr>
          <a:xfrm>
            <a:off x="548640" y="5806440"/>
            <a:ext cx="11064240" cy="457200"/>
          </a:xfrm>
          <a:prstGeom prst="roundRect">
            <a:avLst>
              <a:gd name="adj" fmla="val 24000"/>
            </a:avLst>
          </a:prstGeom>
          <a:solidFill>
            <a:srgbClr val="DDF1E4"/>
          </a:solidFill>
          <a:ln w="25400">
            <a:solidFill>
              <a:srgbClr val="237A48"/>
            </a:solidFill>
            <a:prstDash val="solid"/>
          </a:ln>
        </p:spPr>
      </p:sp>
      <p:sp>
        <p:nvSpPr>
          <p:cNvPr id="55" name="Text 42"/>
          <p:cNvSpPr txBox="1"/>
          <p:nvPr/>
        </p:nvSpPr>
        <p:spPr>
          <a:xfrm>
            <a:off x="640080" y="5806440"/>
            <a:ext cx="1088136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ソフト・運用：OS・ドライバー・監視・認証・自動化・バックアップ</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CPU・GPU・メモリ・SSDは役割が違う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部品をたとえると、GPUは同時に作業する大きなチーム、メモリは作業机、SSDは倉庫です。机が小さい、運ぶ道が遅いと、チームは待たされてしまいます。</a:t>
            </a:r>
            <a:endParaRPr lang="en-US" sz="1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94560"/>
                <a:gridCol w="4754880"/>
                <a:gridCol w="43251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部品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主な役割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たとえ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CPU</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OSやアプリの制御など幅広い処理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仕事を取り仕切る担当者</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GPU</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多数の似た計算を並行して行う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同時に作業する大きなチーム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AI専用チップ</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AI向けの計算を効率よく行う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特定作業の専用設備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メモリ</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計算中に使うデータを保持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作業机</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SSDなど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モデルやデータを保存</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倉庫</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通信機器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装置同士でデータを移動</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搬送路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8" name="Text 4"/>
          <p:cNvSpPr txBox="1"/>
          <p:nvPr/>
        </p:nvSpPr>
        <p:spPr>
          <a:xfrm>
            <a:off x="457200" y="4983480"/>
            <a:ext cx="11274552"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性能は組み合わせで決まる。6つの条件のどれかが遅いと待つ</a:t>
            </a:r>
            <a:endParaRPr lang="en-US" sz="2000" dirty="0"/>
          </a:p>
        </p:txBody>
      </p:sp>
      <p:sp>
        <p:nvSpPr>
          <p:cNvPr id="9" name="Shape 5"/>
          <p:cNvSpPr/>
          <p:nvPr/>
        </p:nvSpPr>
        <p:spPr>
          <a:xfrm>
            <a:off x="457200" y="5394960"/>
            <a:ext cx="1783080" cy="868680"/>
          </a:xfrm>
          <a:prstGeom prst="roundRect">
            <a:avLst>
              <a:gd name="adj" fmla="val 12632"/>
            </a:avLst>
          </a:prstGeom>
          <a:solidFill>
            <a:srgbClr val="E6E1F7"/>
          </a:solidFill>
          <a:ln w="25400">
            <a:solidFill>
              <a:srgbClr val="5B46B8"/>
            </a:solidFill>
            <a:prstDash val="solid"/>
          </a:ln>
        </p:spPr>
      </p:sp>
      <p:sp>
        <p:nvSpPr>
          <p:cNvPr id="10" name="Text 6"/>
          <p:cNvSpPr txBox="1"/>
          <p:nvPr/>
        </p:nvSpPr>
        <p:spPr>
          <a:xfrm>
            <a:off x="548640" y="5394960"/>
            <a:ext cx="160020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計算の速さ</a:t>
            </a:r>
            <a:endParaRPr lang="en-US" sz="1800" dirty="0"/>
          </a:p>
        </p:txBody>
      </p:sp>
      <p:sp>
        <p:nvSpPr>
          <p:cNvPr id="11" name="Shape 7"/>
          <p:cNvSpPr/>
          <p:nvPr/>
        </p:nvSpPr>
        <p:spPr>
          <a:xfrm>
            <a:off x="2340864" y="5394960"/>
            <a:ext cx="1783080" cy="868680"/>
          </a:xfrm>
          <a:prstGeom prst="roundRect">
            <a:avLst>
              <a:gd name="adj" fmla="val 12632"/>
            </a:avLst>
          </a:prstGeom>
          <a:solidFill>
            <a:srgbClr val="E6E1F7"/>
          </a:solidFill>
          <a:ln w="25400">
            <a:solidFill>
              <a:srgbClr val="5B46B8"/>
            </a:solidFill>
            <a:prstDash val="solid"/>
          </a:ln>
        </p:spPr>
      </p:sp>
      <p:sp>
        <p:nvSpPr>
          <p:cNvPr id="12" name="Text 8"/>
          <p:cNvSpPr txBox="1"/>
          <p:nvPr/>
        </p:nvSpPr>
        <p:spPr>
          <a:xfrm>
            <a:off x="2432304" y="5394960"/>
            <a:ext cx="160020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メモリ容量</a:t>
            </a:r>
            <a:endParaRPr lang="en-US" sz="1800" dirty="0"/>
          </a:p>
        </p:txBody>
      </p:sp>
      <p:sp>
        <p:nvSpPr>
          <p:cNvPr id="13" name="Shape 9"/>
          <p:cNvSpPr/>
          <p:nvPr/>
        </p:nvSpPr>
        <p:spPr>
          <a:xfrm>
            <a:off x="4224528" y="5394960"/>
            <a:ext cx="1783080" cy="868680"/>
          </a:xfrm>
          <a:prstGeom prst="roundRect">
            <a:avLst>
              <a:gd name="adj" fmla="val 12632"/>
            </a:avLst>
          </a:prstGeom>
          <a:solidFill>
            <a:srgbClr val="E6E1F7"/>
          </a:solidFill>
          <a:ln w="25400">
            <a:solidFill>
              <a:srgbClr val="5B46B8"/>
            </a:solidFill>
            <a:prstDash val="solid"/>
          </a:ln>
        </p:spPr>
      </p:sp>
      <p:sp>
        <p:nvSpPr>
          <p:cNvPr id="14" name="Text 10"/>
          <p:cNvSpPr txBox="1"/>
          <p:nvPr/>
        </p:nvSpPr>
        <p:spPr>
          <a:xfrm>
            <a:off x="4315968" y="5394960"/>
            <a:ext cx="160020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メモリの読み出し速度</a:t>
            </a:r>
            <a:endParaRPr lang="en-US" sz="1800" dirty="0"/>
          </a:p>
        </p:txBody>
      </p:sp>
      <p:sp>
        <p:nvSpPr>
          <p:cNvPr id="15" name="Shape 11"/>
          <p:cNvSpPr/>
          <p:nvPr/>
        </p:nvSpPr>
        <p:spPr>
          <a:xfrm>
            <a:off x="6108192" y="5394960"/>
            <a:ext cx="1783080" cy="868680"/>
          </a:xfrm>
          <a:prstGeom prst="roundRect">
            <a:avLst>
              <a:gd name="adj" fmla="val 12632"/>
            </a:avLst>
          </a:prstGeom>
          <a:solidFill>
            <a:srgbClr val="DCE8F8"/>
          </a:solidFill>
          <a:ln w="25400">
            <a:solidFill>
              <a:srgbClr val="2F6BC2"/>
            </a:solidFill>
            <a:prstDash val="solid"/>
          </a:ln>
        </p:spPr>
      </p:sp>
      <p:sp>
        <p:nvSpPr>
          <p:cNvPr id="16" name="Text 12"/>
          <p:cNvSpPr txBox="1"/>
          <p:nvPr/>
        </p:nvSpPr>
        <p:spPr>
          <a:xfrm>
            <a:off x="6199632" y="5394960"/>
            <a:ext cx="160020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GPU同士の通信速度</a:t>
            </a:r>
            <a:endParaRPr lang="en-US" sz="1800" dirty="0"/>
          </a:p>
        </p:txBody>
      </p:sp>
      <p:sp>
        <p:nvSpPr>
          <p:cNvPr id="17" name="Shape 13"/>
          <p:cNvSpPr/>
          <p:nvPr/>
        </p:nvSpPr>
        <p:spPr>
          <a:xfrm>
            <a:off x="7991856" y="5394960"/>
            <a:ext cx="1783080" cy="868680"/>
          </a:xfrm>
          <a:prstGeom prst="roundRect">
            <a:avLst>
              <a:gd name="adj" fmla="val 12632"/>
            </a:avLst>
          </a:prstGeom>
          <a:solidFill>
            <a:srgbClr val="E2E8F0"/>
          </a:solidFill>
          <a:ln w="25400">
            <a:solidFill>
              <a:srgbClr val="475569"/>
            </a:solidFill>
            <a:prstDash val="solid"/>
          </a:ln>
        </p:spPr>
      </p:sp>
      <p:sp>
        <p:nvSpPr>
          <p:cNvPr id="18" name="Text 14"/>
          <p:cNvSpPr txBox="1"/>
          <p:nvPr/>
        </p:nvSpPr>
        <p:spPr>
          <a:xfrm>
            <a:off x="8083296" y="5394960"/>
            <a:ext cx="160020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ストレージの取り出し</a:t>
            </a:r>
            <a:endParaRPr lang="en-US" sz="1800" dirty="0"/>
          </a:p>
        </p:txBody>
      </p:sp>
      <p:sp>
        <p:nvSpPr>
          <p:cNvPr id="19" name="Shape 15"/>
          <p:cNvSpPr/>
          <p:nvPr/>
        </p:nvSpPr>
        <p:spPr>
          <a:xfrm>
            <a:off x="9875520" y="5394960"/>
            <a:ext cx="1783080" cy="868680"/>
          </a:xfrm>
          <a:prstGeom prst="roundRect">
            <a:avLst>
              <a:gd name="adj" fmla="val 12632"/>
            </a:avLst>
          </a:prstGeom>
          <a:solidFill>
            <a:srgbClr val="E2E8F0"/>
          </a:solidFill>
          <a:ln w="25400">
            <a:solidFill>
              <a:srgbClr val="475569"/>
            </a:solidFill>
            <a:prstDash val="solid"/>
          </a:ln>
        </p:spPr>
      </p:sp>
      <p:sp>
        <p:nvSpPr>
          <p:cNvPr id="20" name="Text 16"/>
          <p:cNvSpPr txBox="1"/>
          <p:nvPr/>
        </p:nvSpPr>
        <p:spPr>
          <a:xfrm>
            <a:off x="9966960" y="5394960"/>
            <a:ext cx="160020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電力と冷却</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「半導体」は広い分類。GPUとメモリは別の種類</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「半導体」は広い分類です。計算するもの（GPUなど）、一時的にデータを持つもの（DRAM・HBM）、電源を切っても保存するもの（NAND）などに分かれます。</a:t>
            </a:r>
            <a:endParaRPr lang="en-US" sz="1800" dirty="0"/>
          </a:p>
        </p:txBody>
      </p:sp>
      <p:sp>
        <p:nvSpPr>
          <p:cNvPr id="7" name="Shape 4"/>
          <p:cNvSpPr/>
          <p:nvPr/>
        </p:nvSpPr>
        <p:spPr>
          <a:xfrm>
            <a:off x="457200" y="1691640"/>
            <a:ext cx="2697480" cy="3886200"/>
          </a:xfrm>
          <a:prstGeom prst="roundRect">
            <a:avLst>
              <a:gd name="adj" fmla="val 4746"/>
            </a:avLst>
          </a:prstGeom>
          <a:solidFill>
            <a:srgbClr val="DCE6F2"/>
          </a:solidFill>
          <a:ln/>
        </p:spPr>
      </p:sp>
      <p:sp>
        <p:nvSpPr>
          <p:cNvPr id="8" name="Shape 5"/>
          <p:cNvSpPr/>
          <p:nvPr/>
        </p:nvSpPr>
        <p:spPr>
          <a:xfrm>
            <a:off x="594360" y="1801368"/>
            <a:ext cx="502920" cy="502920"/>
          </a:xfrm>
          <a:prstGeom prst="ellipse">
            <a:avLst/>
          </a:prstGeom>
          <a:solidFill>
            <a:srgbClr val="16324F"/>
          </a:solidFill>
          <a:ln/>
        </p:spPr>
      </p:sp>
      <p:pic>
        <p:nvPicPr>
          <p:cNvPr id="9" name="Image 0" descr="preencoded.png">    </p:cNvPr>
          <p:cNvPicPr>
            <a:picLocks noChangeAspect="1"/>
          </p:cNvPicPr>
          <p:nvPr/>
        </p:nvPicPr>
        <p:blipFill>
          <a:blip r:embed="rId1"/>
          <a:stretch>
            <a:fillRect/>
          </a:stretch>
        </p:blipFill>
        <p:spPr>
          <a:xfrm>
            <a:off x="705002" y="1912010"/>
            <a:ext cx="281635" cy="281635"/>
          </a:xfrm>
          <a:prstGeom prst="rect">
            <a:avLst/>
          </a:prstGeom>
        </p:spPr>
      </p:pic>
      <p:sp>
        <p:nvSpPr>
          <p:cNvPr id="10" name="Text 6"/>
          <p:cNvSpPr txBox="1"/>
          <p:nvPr/>
        </p:nvSpPr>
        <p:spPr>
          <a:xfrm>
            <a:off x="1188720" y="1764792"/>
            <a:ext cx="1874520" cy="64008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計算する</a:t>
            </a:r>
            <a:endParaRPr lang="en-US" sz="1800" dirty="0"/>
          </a:p>
        </p:txBody>
      </p:sp>
      <p:sp>
        <p:nvSpPr>
          <p:cNvPr id="11" name="Text 7"/>
          <p:cNvSpPr txBox="1"/>
          <p:nvPr/>
        </p:nvSpPr>
        <p:spPr>
          <a:xfrm>
            <a:off x="640080" y="246888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ロジック半導体</a:t>
            </a:r>
            <a:endParaRPr lang="en-US" sz="1800" dirty="0"/>
          </a:p>
        </p:txBody>
      </p:sp>
      <p:sp>
        <p:nvSpPr>
          <p:cNvPr id="12" name="Text 8"/>
          <p:cNvSpPr txBox="1"/>
          <p:nvPr/>
        </p:nvSpPr>
        <p:spPr>
          <a:xfrm>
            <a:off x="640080" y="279806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CPU・GPU</a:t>
            </a:r>
            <a:endParaRPr lang="en-US" sz="1800" dirty="0"/>
          </a:p>
        </p:txBody>
      </p:sp>
      <p:sp>
        <p:nvSpPr>
          <p:cNvPr id="13" name="Text 9"/>
          <p:cNvSpPr txBox="1"/>
          <p:nvPr/>
        </p:nvSpPr>
        <p:spPr>
          <a:xfrm>
            <a:off x="640080" y="347472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AI向けASIC</a:t>
            </a:r>
            <a:endParaRPr lang="en-US" sz="1800" dirty="0"/>
          </a:p>
        </p:txBody>
      </p:sp>
      <p:sp>
        <p:nvSpPr>
          <p:cNvPr id="14" name="Text 10"/>
          <p:cNvSpPr txBox="1"/>
          <p:nvPr/>
        </p:nvSpPr>
        <p:spPr>
          <a:xfrm>
            <a:off x="640080" y="380390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特定のAI処理</a:t>
            </a:r>
            <a:endParaRPr lang="en-US" sz="1800" dirty="0"/>
          </a:p>
        </p:txBody>
      </p:sp>
      <p:sp>
        <p:nvSpPr>
          <p:cNvPr id="15" name="Shape 11"/>
          <p:cNvSpPr/>
          <p:nvPr/>
        </p:nvSpPr>
        <p:spPr>
          <a:xfrm>
            <a:off x="3291840" y="1691640"/>
            <a:ext cx="2697480" cy="3886200"/>
          </a:xfrm>
          <a:prstGeom prst="roundRect">
            <a:avLst>
              <a:gd name="adj" fmla="val 4746"/>
            </a:avLst>
          </a:prstGeom>
          <a:solidFill>
            <a:srgbClr val="DCE6F2"/>
          </a:solidFill>
          <a:ln/>
        </p:spPr>
      </p:sp>
      <p:sp>
        <p:nvSpPr>
          <p:cNvPr id="16" name="Shape 12"/>
          <p:cNvSpPr/>
          <p:nvPr/>
        </p:nvSpPr>
        <p:spPr>
          <a:xfrm>
            <a:off x="3429000" y="1801368"/>
            <a:ext cx="502920" cy="502920"/>
          </a:xfrm>
          <a:prstGeom prst="ellipse">
            <a:avLst/>
          </a:prstGeom>
          <a:solidFill>
            <a:srgbClr val="16324F"/>
          </a:solidFill>
          <a:ln/>
        </p:spPr>
      </p:sp>
      <p:pic>
        <p:nvPicPr>
          <p:cNvPr id="17" name="Image 1" descr="preencoded.png">    </p:cNvPr>
          <p:cNvPicPr>
            <a:picLocks noChangeAspect="1"/>
          </p:cNvPicPr>
          <p:nvPr/>
        </p:nvPicPr>
        <p:blipFill>
          <a:blip r:embed="rId2"/>
          <a:stretch>
            <a:fillRect/>
          </a:stretch>
        </p:blipFill>
        <p:spPr>
          <a:xfrm>
            <a:off x="3539642" y="1912010"/>
            <a:ext cx="281635" cy="281635"/>
          </a:xfrm>
          <a:prstGeom prst="rect">
            <a:avLst/>
          </a:prstGeom>
        </p:spPr>
      </p:pic>
      <p:sp>
        <p:nvSpPr>
          <p:cNvPr id="18" name="Text 13"/>
          <p:cNvSpPr txBox="1"/>
          <p:nvPr/>
        </p:nvSpPr>
        <p:spPr>
          <a:xfrm>
            <a:off x="4023360" y="1764792"/>
            <a:ext cx="1874520" cy="64008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データを一時的に持つ</a:t>
            </a:r>
            <a:endParaRPr lang="en-US" sz="1800" dirty="0"/>
          </a:p>
        </p:txBody>
      </p:sp>
      <p:sp>
        <p:nvSpPr>
          <p:cNvPr id="19" name="Text 14"/>
          <p:cNvSpPr txBox="1"/>
          <p:nvPr/>
        </p:nvSpPr>
        <p:spPr>
          <a:xfrm>
            <a:off x="3474720" y="246888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DRAM</a:t>
            </a:r>
            <a:endParaRPr lang="en-US" sz="1800" dirty="0"/>
          </a:p>
        </p:txBody>
      </p:sp>
      <p:sp>
        <p:nvSpPr>
          <p:cNvPr id="20" name="Text 15"/>
          <p:cNvSpPr txBox="1"/>
          <p:nvPr/>
        </p:nvSpPr>
        <p:spPr>
          <a:xfrm>
            <a:off x="3474720" y="279806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計算中のデータを保持</a:t>
            </a:r>
            <a:endParaRPr lang="en-US" sz="1800" dirty="0"/>
          </a:p>
        </p:txBody>
      </p:sp>
      <p:sp>
        <p:nvSpPr>
          <p:cNvPr id="21" name="Text 16"/>
          <p:cNvSpPr txBox="1"/>
          <p:nvPr/>
        </p:nvSpPr>
        <p:spPr>
          <a:xfrm>
            <a:off x="3474720" y="347472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HBM</a:t>
            </a:r>
            <a:endParaRPr lang="en-US" sz="1800" dirty="0"/>
          </a:p>
        </p:txBody>
      </p:sp>
      <p:sp>
        <p:nvSpPr>
          <p:cNvPr id="22" name="Text 17"/>
          <p:cNvSpPr txBox="1"/>
          <p:nvPr/>
        </p:nvSpPr>
        <p:spPr>
          <a:xfrm>
            <a:off x="3474720" y="380390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DRAMを積層し高転送</a:t>
            </a:r>
            <a:endParaRPr lang="en-US" sz="1800" dirty="0"/>
          </a:p>
        </p:txBody>
      </p:sp>
      <p:sp>
        <p:nvSpPr>
          <p:cNvPr id="23" name="Text 18"/>
          <p:cNvSpPr txBox="1"/>
          <p:nvPr/>
        </p:nvSpPr>
        <p:spPr>
          <a:xfrm>
            <a:off x="3474720" y="448056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SRAM</a:t>
            </a:r>
            <a:endParaRPr lang="en-US" sz="1800" dirty="0"/>
          </a:p>
        </p:txBody>
      </p:sp>
      <p:sp>
        <p:nvSpPr>
          <p:cNvPr id="24" name="Text 19"/>
          <p:cNvSpPr txBox="1"/>
          <p:nvPr/>
        </p:nvSpPr>
        <p:spPr>
          <a:xfrm>
            <a:off x="3474720" y="480974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高速・小容量</a:t>
            </a:r>
            <a:endParaRPr lang="en-US" sz="1800" dirty="0"/>
          </a:p>
        </p:txBody>
      </p:sp>
      <p:sp>
        <p:nvSpPr>
          <p:cNvPr id="25" name="Shape 20"/>
          <p:cNvSpPr/>
          <p:nvPr/>
        </p:nvSpPr>
        <p:spPr>
          <a:xfrm>
            <a:off x="6126480" y="1691640"/>
            <a:ext cx="2697480" cy="3886200"/>
          </a:xfrm>
          <a:prstGeom prst="roundRect">
            <a:avLst>
              <a:gd name="adj" fmla="val 4746"/>
            </a:avLst>
          </a:prstGeom>
          <a:solidFill>
            <a:srgbClr val="DCE6F2"/>
          </a:solidFill>
          <a:ln/>
        </p:spPr>
      </p:sp>
      <p:sp>
        <p:nvSpPr>
          <p:cNvPr id="26" name="Shape 21"/>
          <p:cNvSpPr/>
          <p:nvPr/>
        </p:nvSpPr>
        <p:spPr>
          <a:xfrm>
            <a:off x="6263640" y="1801368"/>
            <a:ext cx="502920" cy="502920"/>
          </a:xfrm>
          <a:prstGeom prst="ellipse">
            <a:avLst/>
          </a:prstGeom>
          <a:solidFill>
            <a:srgbClr val="16324F"/>
          </a:solidFill>
          <a:ln/>
        </p:spPr>
      </p:sp>
      <p:pic>
        <p:nvPicPr>
          <p:cNvPr id="27" name="Image 2" descr="preencoded.png">    </p:cNvPr>
          <p:cNvPicPr>
            <a:picLocks noChangeAspect="1"/>
          </p:cNvPicPr>
          <p:nvPr/>
        </p:nvPicPr>
        <p:blipFill>
          <a:blip r:embed="rId3"/>
          <a:stretch>
            <a:fillRect/>
          </a:stretch>
        </p:blipFill>
        <p:spPr>
          <a:xfrm>
            <a:off x="6374282" y="1912010"/>
            <a:ext cx="281635" cy="281635"/>
          </a:xfrm>
          <a:prstGeom prst="rect">
            <a:avLst/>
          </a:prstGeom>
        </p:spPr>
      </p:pic>
      <p:sp>
        <p:nvSpPr>
          <p:cNvPr id="28" name="Text 22"/>
          <p:cNvSpPr txBox="1"/>
          <p:nvPr/>
        </p:nvSpPr>
        <p:spPr>
          <a:xfrm>
            <a:off x="6858000" y="1764792"/>
            <a:ext cx="1874520" cy="64008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電源を切っても保存</a:t>
            </a:r>
            <a:endParaRPr lang="en-US" sz="1800" dirty="0"/>
          </a:p>
        </p:txBody>
      </p:sp>
      <p:sp>
        <p:nvSpPr>
          <p:cNvPr id="29" name="Text 23"/>
          <p:cNvSpPr txBox="1"/>
          <p:nvPr/>
        </p:nvSpPr>
        <p:spPr>
          <a:xfrm>
            <a:off x="6309360" y="246888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NANDフラッシュ</a:t>
            </a:r>
            <a:endParaRPr lang="en-US" sz="1800" dirty="0"/>
          </a:p>
        </p:txBody>
      </p:sp>
      <p:sp>
        <p:nvSpPr>
          <p:cNvPr id="30" name="Text 24"/>
          <p:cNvSpPr txBox="1"/>
          <p:nvPr/>
        </p:nvSpPr>
        <p:spPr>
          <a:xfrm>
            <a:off x="6309360" y="279806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SSD・スマホの保存</a:t>
            </a:r>
            <a:endParaRPr lang="en-US" sz="1800" dirty="0"/>
          </a:p>
        </p:txBody>
      </p:sp>
      <p:sp>
        <p:nvSpPr>
          <p:cNvPr id="31" name="Text 25"/>
          <p:cNvSpPr txBox="1"/>
          <p:nvPr/>
        </p:nvSpPr>
        <p:spPr>
          <a:xfrm>
            <a:off x="6309360" y="347472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NORフラッシュ</a:t>
            </a:r>
            <a:endParaRPr lang="en-US" sz="1800" dirty="0"/>
          </a:p>
        </p:txBody>
      </p:sp>
      <p:sp>
        <p:nvSpPr>
          <p:cNvPr id="32" name="Text 26"/>
          <p:cNvSpPr txBox="1"/>
          <p:nvPr/>
        </p:nvSpPr>
        <p:spPr>
          <a:xfrm>
            <a:off x="6309360" y="380390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制御用プログラム保存</a:t>
            </a:r>
            <a:endParaRPr lang="en-US" sz="1800" dirty="0"/>
          </a:p>
        </p:txBody>
      </p:sp>
      <p:sp>
        <p:nvSpPr>
          <p:cNvPr id="33" name="Shape 27"/>
          <p:cNvSpPr/>
          <p:nvPr/>
        </p:nvSpPr>
        <p:spPr>
          <a:xfrm>
            <a:off x="8961120" y="1691640"/>
            <a:ext cx="2697480" cy="3886200"/>
          </a:xfrm>
          <a:prstGeom prst="roundRect">
            <a:avLst>
              <a:gd name="adj" fmla="val 4746"/>
            </a:avLst>
          </a:prstGeom>
          <a:solidFill>
            <a:srgbClr val="DCE6F2"/>
          </a:solidFill>
          <a:ln/>
        </p:spPr>
      </p:sp>
      <p:sp>
        <p:nvSpPr>
          <p:cNvPr id="34" name="Shape 28"/>
          <p:cNvSpPr/>
          <p:nvPr/>
        </p:nvSpPr>
        <p:spPr>
          <a:xfrm>
            <a:off x="9098280" y="1801368"/>
            <a:ext cx="502920" cy="502920"/>
          </a:xfrm>
          <a:prstGeom prst="ellipse">
            <a:avLst/>
          </a:prstGeom>
          <a:solidFill>
            <a:srgbClr val="16324F"/>
          </a:solidFill>
          <a:ln/>
        </p:spPr>
      </p:sp>
      <p:pic>
        <p:nvPicPr>
          <p:cNvPr id="35" name="Image 3" descr="preencoded.png">    </p:cNvPr>
          <p:cNvPicPr>
            <a:picLocks noChangeAspect="1"/>
          </p:cNvPicPr>
          <p:nvPr/>
        </p:nvPicPr>
        <p:blipFill>
          <a:blip r:embed="rId4"/>
          <a:stretch>
            <a:fillRect/>
          </a:stretch>
        </p:blipFill>
        <p:spPr>
          <a:xfrm>
            <a:off x="9208922" y="1912010"/>
            <a:ext cx="281635" cy="281635"/>
          </a:xfrm>
          <a:prstGeom prst="rect">
            <a:avLst/>
          </a:prstGeom>
        </p:spPr>
      </p:pic>
      <p:sp>
        <p:nvSpPr>
          <p:cNvPr id="36" name="Text 29"/>
          <p:cNvSpPr txBox="1"/>
          <p:nvPr/>
        </p:nvSpPr>
        <p:spPr>
          <a:xfrm>
            <a:off x="9692640" y="1764792"/>
            <a:ext cx="1874520" cy="64008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その他</a:t>
            </a:r>
            <a:endParaRPr lang="en-US" sz="1800" dirty="0"/>
          </a:p>
        </p:txBody>
      </p:sp>
      <p:sp>
        <p:nvSpPr>
          <p:cNvPr id="37" name="Text 30"/>
          <p:cNvSpPr txBox="1"/>
          <p:nvPr/>
        </p:nvSpPr>
        <p:spPr>
          <a:xfrm>
            <a:off x="9144000" y="246888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アナログ・RF</a:t>
            </a:r>
            <a:endParaRPr lang="en-US" sz="1800" dirty="0"/>
          </a:p>
        </p:txBody>
      </p:sp>
      <p:sp>
        <p:nvSpPr>
          <p:cNvPr id="38" name="Text 31"/>
          <p:cNvSpPr txBox="1"/>
          <p:nvPr/>
        </p:nvSpPr>
        <p:spPr>
          <a:xfrm>
            <a:off x="9144000" y="279806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スマホの無線回路</a:t>
            </a:r>
            <a:endParaRPr lang="en-US" sz="1800" dirty="0"/>
          </a:p>
        </p:txBody>
      </p:sp>
      <p:sp>
        <p:nvSpPr>
          <p:cNvPr id="39" name="Text 32"/>
          <p:cNvSpPr txBox="1"/>
          <p:nvPr/>
        </p:nvSpPr>
        <p:spPr>
          <a:xfrm>
            <a:off x="9144000" y="3474720"/>
            <a:ext cx="2377440" cy="32004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パワー半導体</a:t>
            </a:r>
            <a:endParaRPr lang="en-US" sz="1800" dirty="0"/>
          </a:p>
        </p:txBody>
      </p:sp>
      <p:sp>
        <p:nvSpPr>
          <p:cNvPr id="40" name="Text 33"/>
          <p:cNvSpPr txBox="1"/>
          <p:nvPr/>
        </p:nvSpPr>
        <p:spPr>
          <a:xfrm>
            <a:off x="9144000" y="3803904"/>
            <a:ext cx="237744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電力の変換・制御</a:t>
            </a:r>
            <a:endParaRPr lang="en-US" sz="1800" dirty="0"/>
          </a:p>
        </p:txBody>
      </p:sp>
      <p:sp>
        <p:nvSpPr>
          <p:cNvPr id="41" name="Shape 34"/>
          <p:cNvSpPr/>
          <p:nvPr/>
        </p:nvSpPr>
        <p:spPr>
          <a:xfrm>
            <a:off x="457200" y="5715000"/>
            <a:ext cx="11274552" cy="594360"/>
          </a:xfrm>
          <a:prstGeom prst="roundRect">
            <a:avLst>
              <a:gd name="adj" fmla="val 18462"/>
            </a:avLst>
          </a:prstGeom>
          <a:solidFill>
            <a:srgbClr val="FBE3E0"/>
          </a:solidFill>
          <a:ln w="19050">
            <a:solidFill>
              <a:srgbClr val="C0392B"/>
            </a:solidFill>
            <a:prstDash val="solid"/>
          </a:ln>
        </p:spPr>
      </p:sp>
      <p:sp>
        <p:nvSpPr>
          <p:cNvPr id="42" name="Shape 35"/>
          <p:cNvSpPr/>
          <p:nvPr/>
        </p:nvSpPr>
        <p:spPr>
          <a:xfrm>
            <a:off x="594360" y="5806440"/>
            <a:ext cx="411480" cy="411480"/>
          </a:xfrm>
          <a:prstGeom prst="ellipse">
            <a:avLst/>
          </a:prstGeom>
          <a:solidFill>
            <a:srgbClr val="C0392B"/>
          </a:solidFill>
          <a:ln/>
        </p:spPr>
      </p:sp>
      <p:pic>
        <p:nvPicPr>
          <p:cNvPr id="43" name="Image 4" descr="preencoded.png">    </p:cNvPr>
          <p:cNvPicPr>
            <a:picLocks noChangeAspect="1"/>
          </p:cNvPicPr>
          <p:nvPr/>
        </p:nvPicPr>
        <p:blipFill>
          <a:blip r:embed="rId5"/>
          <a:stretch>
            <a:fillRect/>
          </a:stretch>
        </p:blipFill>
        <p:spPr>
          <a:xfrm>
            <a:off x="684886" y="5896966"/>
            <a:ext cx="230429" cy="230429"/>
          </a:xfrm>
          <a:prstGeom prst="rect">
            <a:avLst/>
          </a:prstGeom>
        </p:spPr>
      </p:pic>
      <p:sp>
        <p:nvSpPr>
          <p:cNvPr id="44" name="Text 36"/>
          <p:cNvSpPr txBox="1"/>
          <p:nvPr/>
        </p:nvSpPr>
        <p:spPr>
          <a:xfrm>
            <a:off x="1143000" y="5760720"/>
            <a:ext cx="10451592" cy="5029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GPU（計算）・DRAM／HBM（一時記憶）・NAND（保存）は別の種類</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8134807"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HBMは作業机、SSDは倉庫。役割が違う</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HBMは計算中のデータを高速に渡す「作業机」、NAND・SSDは大量に保存する「倉庫」です。NVIDIAはGPUの設計会社で、HBMなどは別の会社が作ります。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出典：[B10]</a:t>
            </a:r>
            <a:endParaRPr lang="ja-JP" sz="1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94560"/>
                <a:gridCol w="4480560"/>
                <a:gridCol w="45994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HBM</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NAND・SSD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主な仕事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計算中のデータを高速に供給</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データを大容量で保存</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電源を切ると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データ保持には電力が必要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データを保持する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重視される点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帯域・容量・電力効率</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容量・読み書き性能・耐久性・価格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主な企業例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SK hynix・Samsung・Micron</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キオクシア・Sandiskなど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4434840"/>
            <a:ext cx="2011680" cy="1005840"/>
          </a:xfrm>
          <a:prstGeom prst="roundRect">
            <a:avLst>
              <a:gd name="adj" fmla="val 10909"/>
            </a:avLst>
          </a:prstGeom>
          <a:solidFill>
            <a:srgbClr val="5B46B8"/>
          </a:solidFill>
          <a:ln/>
        </p:spPr>
      </p:sp>
      <p:sp>
        <p:nvSpPr>
          <p:cNvPr id="11" name="Text 7"/>
          <p:cNvSpPr txBox="1"/>
          <p:nvPr/>
        </p:nvSpPr>
        <p:spPr>
          <a:xfrm>
            <a:off x="548640" y="4434840"/>
            <a:ext cx="182880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設計</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NVIDIAなど</a:t>
            </a:r>
            <a:endParaRPr lang="en-US" sz="1800" dirty="0"/>
          </a:p>
        </p:txBody>
      </p:sp>
      <p:sp>
        <p:nvSpPr>
          <p:cNvPr id="12" name="Shape 8"/>
          <p:cNvSpPr/>
          <p:nvPr/>
        </p:nvSpPr>
        <p:spPr>
          <a:xfrm>
            <a:off x="2468880" y="4937760"/>
            <a:ext cx="274320" cy="0"/>
          </a:xfrm>
          <a:prstGeom prst="line">
            <a:avLst/>
          </a:prstGeom>
          <a:noFill/>
          <a:ln w="31750">
            <a:solidFill>
              <a:srgbClr val="1B2A3A"/>
            </a:solidFill>
            <a:prstDash val="solid"/>
            <a:tailEnd type="triangle"/>
          </a:ln>
        </p:spPr>
      </p:sp>
      <p:sp>
        <p:nvSpPr>
          <p:cNvPr id="13" name="Shape 9"/>
          <p:cNvSpPr/>
          <p:nvPr/>
        </p:nvSpPr>
        <p:spPr>
          <a:xfrm>
            <a:off x="2743200" y="4434840"/>
            <a:ext cx="2011680" cy="1005840"/>
          </a:xfrm>
          <a:prstGeom prst="roundRect">
            <a:avLst>
              <a:gd name="adj" fmla="val 10909"/>
            </a:avLst>
          </a:prstGeom>
          <a:solidFill>
            <a:srgbClr val="2F6BC2"/>
          </a:solidFill>
          <a:ln/>
        </p:spPr>
      </p:sp>
      <p:sp>
        <p:nvSpPr>
          <p:cNvPr id="14" name="Text 10"/>
          <p:cNvSpPr txBox="1"/>
          <p:nvPr/>
        </p:nvSpPr>
        <p:spPr>
          <a:xfrm>
            <a:off x="2834640" y="4434840"/>
            <a:ext cx="182880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製造</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TSMCなど</a:t>
            </a:r>
            <a:endParaRPr lang="en-US" sz="1800" dirty="0"/>
          </a:p>
        </p:txBody>
      </p:sp>
      <p:sp>
        <p:nvSpPr>
          <p:cNvPr id="15" name="Shape 11"/>
          <p:cNvSpPr/>
          <p:nvPr/>
        </p:nvSpPr>
        <p:spPr>
          <a:xfrm>
            <a:off x="4754880" y="4937760"/>
            <a:ext cx="274320" cy="0"/>
          </a:xfrm>
          <a:prstGeom prst="line">
            <a:avLst/>
          </a:prstGeom>
          <a:noFill/>
          <a:ln w="31750">
            <a:solidFill>
              <a:srgbClr val="1B2A3A"/>
            </a:solidFill>
            <a:prstDash val="solid"/>
            <a:tailEnd type="triangle"/>
          </a:ln>
        </p:spPr>
      </p:sp>
      <p:sp>
        <p:nvSpPr>
          <p:cNvPr id="16" name="Shape 12"/>
          <p:cNvSpPr/>
          <p:nvPr/>
        </p:nvSpPr>
        <p:spPr>
          <a:xfrm>
            <a:off x="5029200" y="4434840"/>
            <a:ext cx="2011680" cy="1005840"/>
          </a:xfrm>
          <a:prstGeom prst="roundRect">
            <a:avLst>
              <a:gd name="adj" fmla="val 10909"/>
            </a:avLst>
          </a:prstGeom>
          <a:solidFill>
            <a:srgbClr val="5B46B8"/>
          </a:solidFill>
          <a:ln/>
        </p:spPr>
      </p:sp>
      <p:sp>
        <p:nvSpPr>
          <p:cNvPr id="17" name="Text 13"/>
          <p:cNvSpPr txBox="1"/>
          <p:nvPr/>
        </p:nvSpPr>
        <p:spPr>
          <a:xfrm>
            <a:off x="5120640" y="4434840"/>
            <a:ext cx="182880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HBMの供給</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SK hynixなど</a:t>
            </a:r>
            <a:endParaRPr lang="en-US" sz="1800" dirty="0"/>
          </a:p>
        </p:txBody>
      </p:sp>
      <p:sp>
        <p:nvSpPr>
          <p:cNvPr id="18" name="Shape 14"/>
          <p:cNvSpPr/>
          <p:nvPr/>
        </p:nvSpPr>
        <p:spPr>
          <a:xfrm>
            <a:off x="7040880" y="4937760"/>
            <a:ext cx="274320" cy="0"/>
          </a:xfrm>
          <a:prstGeom prst="line">
            <a:avLst/>
          </a:prstGeom>
          <a:noFill/>
          <a:ln w="31750">
            <a:solidFill>
              <a:srgbClr val="1B2A3A"/>
            </a:solidFill>
            <a:prstDash val="solid"/>
            <a:tailEnd type="triangle"/>
          </a:ln>
        </p:spPr>
      </p:sp>
      <p:sp>
        <p:nvSpPr>
          <p:cNvPr id="19" name="Shape 15"/>
          <p:cNvSpPr/>
          <p:nvPr/>
        </p:nvSpPr>
        <p:spPr>
          <a:xfrm>
            <a:off x="7315200" y="4434840"/>
            <a:ext cx="2011680" cy="1005840"/>
          </a:xfrm>
          <a:prstGeom prst="roundRect">
            <a:avLst>
              <a:gd name="adj" fmla="val 10909"/>
            </a:avLst>
          </a:prstGeom>
          <a:solidFill>
            <a:srgbClr val="2F6BC2"/>
          </a:solidFill>
          <a:ln/>
        </p:spPr>
      </p:sp>
      <p:sp>
        <p:nvSpPr>
          <p:cNvPr id="20" name="Text 16"/>
          <p:cNvSpPr txBox="1"/>
          <p:nvPr/>
        </p:nvSpPr>
        <p:spPr>
          <a:xfrm>
            <a:off x="7406640" y="4434840"/>
            <a:ext cx="182880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実装</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パッケージ工程</a:t>
            </a:r>
            <a:endParaRPr lang="en-US" sz="1800" dirty="0"/>
          </a:p>
        </p:txBody>
      </p:sp>
      <p:sp>
        <p:nvSpPr>
          <p:cNvPr id="21" name="Shape 17"/>
          <p:cNvSpPr/>
          <p:nvPr/>
        </p:nvSpPr>
        <p:spPr>
          <a:xfrm>
            <a:off x="9326880" y="4937760"/>
            <a:ext cx="274320" cy="0"/>
          </a:xfrm>
          <a:prstGeom prst="line">
            <a:avLst/>
          </a:prstGeom>
          <a:noFill/>
          <a:ln w="31750">
            <a:solidFill>
              <a:srgbClr val="1B2A3A"/>
            </a:solidFill>
            <a:prstDash val="solid"/>
            <a:tailEnd type="triangle"/>
          </a:ln>
        </p:spPr>
      </p:sp>
      <p:sp>
        <p:nvSpPr>
          <p:cNvPr id="22" name="Shape 18"/>
          <p:cNvSpPr/>
          <p:nvPr/>
        </p:nvSpPr>
        <p:spPr>
          <a:xfrm>
            <a:off x="9601200" y="4434840"/>
            <a:ext cx="2011680" cy="1005840"/>
          </a:xfrm>
          <a:prstGeom prst="roundRect">
            <a:avLst>
              <a:gd name="adj" fmla="val 10909"/>
            </a:avLst>
          </a:prstGeom>
          <a:solidFill>
            <a:srgbClr val="475569"/>
          </a:solidFill>
          <a:ln/>
        </p:spPr>
      </p:sp>
      <p:sp>
        <p:nvSpPr>
          <p:cNvPr id="23" name="Text 19"/>
          <p:cNvSpPr txBox="1"/>
          <p:nvPr/>
        </p:nvSpPr>
        <p:spPr>
          <a:xfrm>
            <a:off x="9692640" y="4434840"/>
            <a:ext cx="182880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AI計算設備</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サーバー・DC</a:t>
            </a:r>
            <a:endParaRPr lang="en-US" sz="1800" dirty="0"/>
          </a:p>
        </p:txBody>
      </p:sp>
      <p:sp>
        <p:nvSpPr>
          <p:cNvPr id="24" name="Shape 20"/>
          <p:cNvSpPr/>
          <p:nvPr/>
        </p:nvSpPr>
        <p:spPr>
          <a:xfrm>
            <a:off x="457200" y="5577840"/>
            <a:ext cx="11274552" cy="731520"/>
          </a:xfrm>
          <a:prstGeom prst="roundRect">
            <a:avLst>
              <a:gd name="adj" fmla="val 15000"/>
            </a:avLst>
          </a:prstGeom>
          <a:solidFill>
            <a:srgbClr val="FBE3E0"/>
          </a:solidFill>
          <a:ln w="19050">
            <a:solidFill>
              <a:srgbClr val="C0392B"/>
            </a:solidFill>
            <a:prstDash val="solid"/>
          </a:ln>
        </p:spPr>
      </p:sp>
      <p:sp>
        <p:nvSpPr>
          <p:cNvPr id="25" name="Shape 21"/>
          <p:cNvSpPr/>
          <p:nvPr/>
        </p:nvSpPr>
        <p:spPr>
          <a:xfrm>
            <a:off x="594360" y="5715000"/>
            <a:ext cx="457200" cy="457200"/>
          </a:xfrm>
          <a:prstGeom prst="ellipse">
            <a:avLst/>
          </a:prstGeom>
          <a:solidFill>
            <a:srgbClr val="C0392B"/>
          </a:solidFill>
          <a:ln/>
        </p:spPr>
      </p:sp>
      <p:pic>
        <p:nvPicPr>
          <p:cNvPr id="26" name="Image 0" descr="preencoded.png">    </p:cNvPr>
          <p:cNvPicPr>
            <a:picLocks noChangeAspect="1"/>
          </p:cNvPicPr>
          <p:nvPr/>
        </p:nvPicPr>
        <p:blipFill>
          <a:blip r:embed="rId1"/>
          <a:stretch>
            <a:fillRect/>
          </a:stretch>
        </p:blipFill>
        <p:spPr>
          <a:xfrm>
            <a:off x="694944" y="5815584"/>
            <a:ext cx="256032" cy="256032"/>
          </a:xfrm>
          <a:prstGeom prst="rect">
            <a:avLst/>
          </a:prstGeom>
        </p:spPr>
      </p:pic>
      <p:sp>
        <p:nvSpPr>
          <p:cNvPr id="27" name="Text 22"/>
          <p:cNvSpPr txBox="1"/>
          <p:nvPr/>
        </p:nvSpPr>
        <p:spPr>
          <a:xfrm>
            <a:off x="1188720" y="5623560"/>
            <a:ext cx="10405872" cy="6400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NVIDIAがGPUとメモリを全部自社で作るのではない。複数の企業が分担する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AI半導体の主要5社は、売るものが違う</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AIに関わる半導体の会社は、設計・保存・製造・製造装置など、売るものが違います。役割で整理すると、キオクシアと東京エレクトロンの違いも分かります。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出典：[B11] [B12] [B20]</a:t>
            </a:r>
            <a:endParaRPr lang="ja-JP"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651760"/>
                <a:gridCol w="4846320"/>
                <a:gridCol w="37764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企業</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主な立ち位置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AI需要とのつながり</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NVIDIA</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GPUなどの設計・システム提供</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AI計算設備の需要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キオクシア</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NAND・SSDなどの供給</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保存容量・高速ストレージの需要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TSMC</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顧客設計の半導体を製造（ファウンドリー）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GPUなどの製造需要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東京エレクトロン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半導体の製造装置（成膜・洗浄など）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メーカーの設備投資</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ASML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微細な回路を作る露光装置（EUV）</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先端半導体の製造設備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6"/>
          <p:cNvSpPr/>
          <p:nvPr/>
        </p:nvSpPr>
        <p:spPr>
          <a:xfrm>
            <a:off x="457200" y="5120640"/>
            <a:ext cx="11274552" cy="1143000"/>
          </a:xfrm>
          <a:prstGeom prst="roundRect">
            <a:avLst>
              <a:gd name="adj" fmla="val 9600"/>
            </a:avLst>
          </a:prstGeom>
          <a:solidFill>
            <a:srgbClr val="DDF1E4"/>
          </a:solidFill>
          <a:ln w="19050">
            <a:solidFill>
              <a:srgbClr val="237A48"/>
            </a:solidFill>
            <a:prstDash val="solid"/>
          </a:ln>
        </p:spPr>
      </p:sp>
      <p:sp>
        <p:nvSpPr>
          <p:cNvPr id="11" name="Shape 7"/>
          <p:cNvSpPr/>
          <p:nvPr/>
        </p:nvSpPr>
        <p:spPr>
          <a:xfrm>
            <a:off x="594360" y="5463540"/>
            <a:ext cx="457200" cy="457200"/>
          </a:xfrm>
          <a:prstGeom prst="ellipse">
            <a:avLst/>
          </a:prstGeom>
          <a:solidFill>
            <a:srgbClr val="237A48"/>
          </a:solidFill>
          <a:ln/>
        </p:spPr>
      </p:sp>
      <p:pic>
        <p:nvPicPr>
          <p:cNvPr id="12" name="Image 0" descr="preencoded.png">    </p:cNvPr>
          <p:cNvPicPr>
            <a:picLocks noChangeAspect="1"/>
          </p:cNvPicPr>
          <p:nvPr/>
        </p:nvPicPr>
        <p:blipFill>
          <a:blip r:embed="rId1"/>
          <a:stretch>
            <a:fillRect/>
          </a:stretch>
        </p:blipFill>
        <p:spPr>
          <a:xfrm>
            <a:off x="694944" y="5564124"/>
            <a:ext cx="256032" cy="256032"/>
          </a:xfrm>
          <a:prstGeom prst="rect">
            <a:avLst/>
          </a:prstGeom>
        </p:spPr>
      </p:pic>
      <p:sp>
        <p:nvSpPr>
          <p:cNvPr id="13" name="Text 8"/>
          <p:cNvSpPr txBox="1"/>
          <p:nvPr/>
        </p:nvSpPr>
        <p:spPr>
          <a:xfrm>
            <a:off x="1188720" y="5166360"/>
            <a:ext cx="10405872" cy="10515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キオクシアは2026年7月、AI推論向けのPCIe 6.0・直接液冷対応の企業向けSSDを発表し、限定顧客へサンプル出荷[B11]</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AI用チップは多くの企業が工程を分担してつくる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AI用チップは、設計から製造・装置・材料・検査・実装まで、多くの企業が工程を分担してつくります。AI需要の増加は、製造装置メーカーへの投資にも波及します。</a:t>
            </a:r>
            <a:endParaRPr lang="en-US" sz="1800" dirty="0"/>
          </a:p>
        </p:txBody>
      </p:sp>
      <p:sp>
        <p:nvSpPr>
          <p:cNvPr id="7" name="Shape 4"/>
          <p:cNvSpPr/>
          <p:nvPr/>
        </p:nvSpPr>
        <p:spPr>
          <a:xfrm>
            <a:off x="457200" y="1737360"/>
            <a:ext cx="1764792" cy="1280160"/>
          </a:xfrm>
          <a:prstGeom prst="roundRect">
            <a:avLst>
              <a:gd name="adj" fmla="val 8571"/>
            </a:avLst>
          </a:prstGeom>
          <a:solidFill>
            <a:srgbClr val="5B46B8"/>
          </a:solidFill>
          <a:ln/>
        </p:spPr>
      </p:sp>
      <p:sp>
        <p:nvSpPr>
          <p:cNvPr id="8" name="Text 5"/>
          <p:cNvSpPr txBox="1"/>
          <p:nvPr/>
        </p:nvSpPr>
        <p:spPr>
          <a:xfrm>
            <a:off x="548640" y="1737360"/>
            <a:ext cx="1581912" cy="12801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設計</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NVIDIA・AMD</a:t>
            </a:r>
            <a:endParaRPr lang="en-US" sz="2000" dirty="0"/>
          </a:p>
        </p:txBody>
      </p:sp>
      <p:sp>
        <p:nvSpPr>
          <p:cNvPr id="9" name="Shape 6"/>
          <p:cNvSpPr/>
          <p:nvPr/>
        </p:nvSpPr>
        <p:spPr>
          <a:xfrm>
            <a:off x="2340864" y="1737360"/>
            <a:ext cx="1764792" cy="1280160"/>
          </a:xfrm>
          <a:prstGeom prst="roundRect">
            <a:avLst>
              <a:gd name="adj" fmla="val 8571"/>
            </a:avLst>
          </a:prstGeom>
          <a:solidFill>
            <a:srgbClr val="2F6BC2"/>
          </a:solidFill>
          <a:ln/>
        </p:spPr>
      </p:sp>
      <p:sp>
        <p:nvSpPr>
          <p:cNvPr id="10" name="Text 7"/>
          <p:cNvSpPr txBox="1"/>
          <p:nvPr/>
        </p:nvSpPr>
        <p:spPr>
          <a:xfrm>
            <a:off x="2432304" y="1737360"/>
            <a:ext cx="1581912" cy="12801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製造</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TSMCなど</a:t>
            </a:r>
            <a:endParaRPr lang="en-US" sz="2000" dirty="0"/>
          </a:p>
        </p:txBody>
      </p:sp>
      <p:sp>
        <p:nvSpPr>
          <p:cNvPr id="11" name="Shape 8"/>
          <p:cNvSpPr/>
          <p:nvPr/>
        </p:nvSpPr>
        <p:spPr>
          <a:xfrm>
            <a:off x="4224528" y="1737360"/>
            <a:ext cx="1764792" cy="1280160"/>
          </a:xfrm>
          <a:prstGeom prst="roundRect">
            <a:avLst>
              <a:gd name="adj" fmla="val 8571"/>
            </a:avLst>
          </a:prstGeom>
          <a:solidFill>
            <a:srgbClr val="5B46B8"/>
          </a:solidFill>
          <a:ln/>
        </p:spPr>
      </p:sp>
      <p:sp>
        <p:nvSpPr>
          <p:cNvPr id="12" name="Text 9"/>
          <p:cNvSpPr txBox="1"/>
          <p:nvPr/>
        </p:nvSpPr>
        <p:spPr>
          <a:xfrm>
            <a:off x="4315968" y="1737360"/>
            <a:ext cx="1581912" cy="12801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製造装置</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TEL・ASML</a:t>
            </a:r>
            <a:endParaRPr lang="en-US" sz="2000" dirty="0"/>
          </a:p>
        </p:txBody>
      </p:sp>
      <p:sp>
        <p:nvSpPr>
          <p:cNvPr id="13" name="Shape 10"/>
          <p:cNvSpPr/>
          <p:nvPr/>
        </p:nvSpPr>
        <p:spPr>
          <a:xfrm>
            <a:off x="6108192" y="1737360"/>
            <a:ext cx="1764792" cy="1280160"/>
          </a:xfrm>
          <a:prstGeom prst="roundRect">
            <a:avLst>
              <a:gd name="adj" fmla="val 8571"/>
            </a:avLst>
          </a:prstGeom>
          <a:solidFill>
            <a:srgbClr val="2F6BC2"/>
          </a:solidFill>
          <a:ln/>
        </p:spPr>
      </p:sp>
      <p:sp>
        <p:nvSpPr>
          <p:cNvPr id="14" name="Text 11"/>
          <p:cNvSpPr txBox="1"/>
          <p:nvPr/>
        </p:nvSpPr>
        <p:spPr>
          <a:xfrm>
            <a:off x="6199632" y="1737360"/>
            <a:ext cx="1581912" cy="12801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材料</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ウエハーなど</a:t>
            </a:r>
            <a:endParaRPr lang="en-US" sz="2000" dirty="0"/>
          </a:p>
        </p:txBody>
      </p:sp>
      <p:sp>
        <p:nvSpPr>
          <p:cNvPr id="15" name="Shape 12"/>
          <p:cNvSpPr/>
          <p:nvPr/>
        </p:nvSpPr>
        <p:spPr>
          <a:xfrm>
            <a:off x="7991856" y="1737360"/>
            <a:ext cx="1764792" cy="1280160"/>
          </a:xfrm>
          <a:prstGeom prst="roundRect">
            <a:avLst>
              <a:gd name="adj" fmla="val 8571"/>
            </a:avLst>
          </a:prstGeom>
          <a:solidFill>
            <a:srgbClr val="5B46B8"/>
          </a:solidFill>
          <a:ln/>
        </p:spPr>
      </p:sp>
      <p:sp>
        <p:nvSpPr>
          <p:cNvPr id="16" name="Text 13"/>
          <p:cNvSpPr txBox="1"/>
          <p:nvPr/>
        </p:nvSpPr>
        <p:spPr>
          <a:xfrm>
            <a:off x="8083296" y="1737360"/>
            <a:ext cx="1581912" cy="12801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検査</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KLAなど</a:t>
            </a:r>
            <a:endParaRPr lang="en-US" sz="2000" dirty="0"/>
          </a:p>
        </p:txBody>
      </p:sp>
      <p:sp>
        <p:nvSpPr>
          <p:cNvPr id="17" name="Shape 14"/>
          <p:cNvSpPr/>
          <p:nvPr/>
        </p:nvSpPr>
        <p:spPr>
          <a:xfrm>
            <a:off x="9875520" y="1737360"/>
            <a:ext cx="1764792" cy="1280160"/>
          </a:xfrm>
          <a:prstGeom prst="roundRect">
            <a:avLst>
              <a:gd name="adj" fmla="val 8571"/>
            </a:avLst>
          </a:prstGeom>
          <a:solidFill>
            <a:srgbClr val="2F6BC2"/>
          </a:solidFill>
          <a:ln/>
        </p:spPr>
      </p:sp>
      <p:sp>
        <p:nvSpPr>
          <p:cNvPr id="18" name="Text 15"/>
          <p:cNvSpPr txBox="1"/>
          <p:nvPr/>
        </p:nvSpPr>
        <p:spPr>
          <a:xfrm>
            <a:off x="9966960" y="1737360"/>
            <a:ext cx="1581912" cy="12801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実装</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積層など</a:t>
            </a:r>
            <a:endParaRPr lang="en-US" sz="2000" dirty="0"/>
          </a:p>
        </p:txBody>
      </p:sp>
      <p:sp>
        <p:nvSpPr>
          <p:cNvPr id="19" name="Text 16"/>
          <p:cNvSpPr txBox="1"/>
          <p:nvPr/>
        </p:nvSpPr>
        <p:spPr>
          <a:xfrm>
            <a:off x="457200" y="3200400"/>
            <a:ext cx="54864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製造装置が担う主な工程</a:t>
            </a:r>
            <a:endParaRPr lang="en-US" sz="2000" dirty="0"/>
          </a:p>
        </p:txBody>
      </p:sp>
      <p:sp>
        <p:nvSpPr>
          <p:cNvPr id="20" name="Shape 17"/>
          <p:cNvSpPr/>
          <p:nvPr/>
        </p:nvSpPr>
        <p:spPr>
          <a:xfrm>
            <a:off x="457200" y="3611880"/>
            <a:ext cx="2697480" cy="1691640"/>
          </a:xfrm>
          <a:prstGeom prst="roundRect">
            <a:avLst>
              <a:gd name="adj" fmla="val 7568"/>
            </a:avLst>
          </a:prstGeom>
          <a:solidFill>
            <a:srgbClr val="E6E1F7"/>
          </a:solidFill>
          <a:ln/>
        </p:spPr>
      </p:sp>
      <p:sp>
        <p:nvSpPr>
          <p:cNvPr id="21" name="Text 18"/>
          <p:cNvSpPr txBox="1"/>
          <p:nvPr/>
        </p:nvSpPr>
        <p:spPr>
          <a:xfrm>
            <a:off x="640080" y="3739896"/>
            <a:ext cx="233172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成膜</a:t>
            </a:r>
            <a:endParaRPr lang="en-US" sz="2000" dirty="0"/>
          </a:p>
        </p:txBody>
      </p:sp>
      <p:sp>
        <p:nvSpPr>
          <p:cNvPr id="22" name="Text 19"/>
          <p:cNvSpPr txBox="1"/>
          <p:nvPr/>
        </p:nvSpPr>
        <p:spPr>
          <a:xfrm>
            <a:off x="640080" y="4166616"/>
            <a:ext cx="2331720" cy="104546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材料の薄い層を作る</a:t>
            </a:r>
            <a:endParaRPr lang="en-US" sz="1800" dirty="0"/>
          </a:p>
        </p:txBody>
      </p:sp>
      <p:sp>
        <p:nvSpPr>
          <p:cNvPr id="23" name="Shape 20"/>
          <p:cNvSpPr/>
          <p:nvPr/>
        </p:nvSpPr>
        <p:spPr>
          <a:xfrm>
            <a:off x="3291840" y="3611880"/>
            <a:ext cx="2697480" cy="1691640"/>
          </a:xfrm>
          <a:prstGeom prst="roundRect">
            <a:avLst>
              <a:gd name="adj" fmla="val 7568"/>
            </a:avLst>
          </a:prstGeom>
          <a:solidFill>
            <a:srgbClr val="E6E1F7"/>
          </a:solidFill>
          <a:ln/>
        </p:spPr>
      </p:sp>
      <p:sp>
        <p:nvSpPr>
          <p:cNvPr id="24" name="Text 21"/>
          <p:cNvSpPr txBox="1"/>
          <p:nvPr/>
        </p:nvSpPr>
        <p:spPr>
          <a:xfrm>
            <a:off x="3474720" y="3739896"/>
            <a:ext cx="233172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エッチング</a:t>
            </a:r>
            <a:endParaRPr lang="en-US" sz="2000" dirty="0"/>
          </a:p>
        </p:txBody>
      </p:sp>
      <p:sp>
        <p:nvSpPr>
          <p:cNvPr id="25" name="Text 22"/>
          <p:cNvSpPr txBox="1"/>
          <p:nvPr/>
        </p:nvSpPr>
        <p:spPr>
          <a:xfrm>
            <a:off x="3474720" y="4166616"/>
            <a:ext cx="2331720" cy="104546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不要な部分を削り形にする</a:t>
            </a:r>
            <a:endParaRPr lang="en-US" sz="1800" dirty="0"/>
          </a:p>
        </p:txBody>
      </p:sp>
      <p:sp>
        <p:nvSpPr>
          <p:cNvPr id="26" name="Shape 23"/>
          <p:cNvSpPr/>
          <p:nvPr/>
        </p:nvSpPr>
        <p:spPr>
          <a:xfrm>
            <a:off x="6126480" y="3611880"/>
            <a:ext cx="2697480" cy="1691640"/>
          </a:xfrm>
          <a:prstGeom prst="roundRect">
            <a:avLst>
              <a:gd name="adj" fmla="val 7568"/>
            </a:avLst>
          </a:prstGeom>
          <a:solidFill>
            <a:srgbClr val="E6E1F7"/>
          </a:solidFill>
          <a:ln/>
        </p:spPr>
      </p:sp>
      <p:sp>
        <p:nvSpPr>
          <p:cNvPr id="27" name="Text 24"/>
          <p:cNvSpPr txBox="1"/>
          <p:nvPr/>
        </p:nvSpPr>
        <p:spPr>
          <a:xfrm>
            <a:off x="6309360" y="3739896"/>
            <a:ext cx="233172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洗浄</a:t>
            </a:r>
            <a:endParaRPr lang="en-US" sz="2000" dirty="0"/>
          </a:p>
        </p:txBody>
      </p:sp>
      <p:sp>
        <p:nvSpPr>
          <p:cNvPr id="28" name="Text 25"/>
          <p:cNvSpPr txBox="1"/>
          <p:nvPr/>
        </p:nvSpPr>
        <p:spPr>
          <a:xfrm>
            <a:off x="6309360" y="4166616"/>
            <a:ext cx="2331720" cy="104546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汚れなどを取り除く</a:t>
            </a:r>
            <a:endParaRPr lang="en-US" sz="1800" dirty="0"/>
          </a:p>
        </p:txBody>
      </p:sp>
      <p:sp>
        <p:nvSpPr>
          <p:cNvPr id="29" name="Shape 26"/>
          <p:cNvSpPr/>
          <p:nvPr/>
        </p:nvSpPr>
        <p:spPr>
          <a:xfrm>
            <a:off x="8961120" y="3611880"/>
            <a:ext cx="2697480" cy="1691640"/>
          </a:xfrm>
          <a:prstGeom prst="roundRect">
            <a:avLst>
              <a:gd name="adj" fmla="val 7568"/>
            </a:avLst>
          </a:prstGeom>
          <a:solidFill>
            <a:srgbClr val="E6E1F7"/>
          </a:solidFill>
          <a:ln/>
        </p:spPr>
      </p:sp>
      <p:sp>
        <p:nvSpPr>
          <p:cNvPr id="30" name="Text 27"/>
          <p:cNvSpPr txBox="1"/>
          <p:nvPr/>
        </p:nvSpPr>
        <p:spPr>
          <a:xfrm>
            <a:off x="9144000" y="3739896"/>
            <a:ext cx="233172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露光</a:t>
            </a:r>
            <a:endParaRPr lang="en-US" sz="2000" dirty="0"/>
          </a:p>
        </p:txBody>
      </p:sp>
      <p:sp>
        <p:nvSpPr>
          <p:cNvPr id="31" name="Text 28"/>
          <p:cNvSpPr txBox="1"/>
          <p:nvPr/>
        </p:nvSpPr>
        <p:spPr>
          <a:xfrm>
            <a:off x="9144000" y="4166616"/>
            <a:ext cx="2331720" cy="104546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光で微細な回路パターンを形成</a:t>
            </a:r>
            <a:endParaRPr lang="en-US" sz="1800" dirty="0"/>
          </a:p>
        </p:txBody>
      </p:sp>
      <p:sp>
        <p:nvSpPr>
          <p:cNvPr id="32" name="Shape 29"/>
          <p:cNvSpPr/>
          <p:nvPr/>
        </p:nvSpPr>
        <p:spPr>
          <a:xfrm>
            <a:off x="457200" y="5440680"/>
            <a:ext cx="11274552" cy="868680"/>
          </a:xfrm>
          <a:prstGeom prst="roundRect">
            <a:avLst>
              <a:gd name="adj" fmla="val 12632"/>
            </a:avLst>
          </a:prstGeom>
          <a:solidFill>
            <a:srgbClr val="DCE8F8"/>
          </a:solidFill>
          <a:ln w="19050">
            <a:solidFill>
              <a:srgbClr val="2F6BC2"/>
            </a:solidFill>
            <a:prstDash val="solid"/>
          </a:ln>
        </p:spPr>
      </p:sp>
      <p:sp>
        <p:nvSpPr>
          <p:cNvPr id="33" name="Shape 30"/>
          <p:cNvSpPr/>
          <p:nvPr/>
        </p:nvSpPr>
        <p:spPr>
          <a:xfrm>
            <a:off x="594360" y="5646420"/>
            <a:ext cx="457200" cy="457200"/>
          </a:xfrm>
          <a:prstGeom prst="ellipse">
            <a:avLst/>
          </a:prstGeom>
          <a:solidFill>
            <a:srgbClr val="2F6BC2"/>
          </a:solidFill>
          <a:ln/>
        </p:spPr>
      </p:sp>
      <p:pic>
        <p:nvPicPr>
          <p:cNvPr id="34" name="Image 0" descr="preencoded.png">    </p:cNvPr>
          <p:cNvPicPr>
            <a:picLocks noChangeAspect="1"/>
          </p:cNvPicPr>
          <p:nvPr/>
        </p:nvPicPr>
        <p:blipFill>
          <a:blip r:embed="rId1"/>
          <a:stretch>
            <a:fillRect/>
          </a:stretch>
        </p:blipFill>
        <p:spPr>
          <a:xfrm>
            <a:off x="694944" y="5747004"/>
            <a:ext cx="256032" cy="256032"/>
          </a:xfrm>
          <a:prstGeom prst="rect">
            <a:avLst/>
          </a:prstGeom>
        </p:spPr>
      </p:pic>
      <p:sp>
        <p:nvSpPr>
          <p:cNvPr id="35" name="Text 31"/>
          <p:cNvSpPr txBox="1"/>
          <p:nvPr/>
        </p:nvSpPr>
        <p:spPr>
          <a:xfrm>
            <a:off x="1188720" y="5486400"/>
            <a:ext cx="10405872" cy="7772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AI需要 → GPU・メモリ需要 → 生産能力の設備投資 → 製造装置メーカーへ（影響の現れ方は時期・価格・規制で変わる）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データセンターの電力は2030年に約2.3倍と予測される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IEAは、世界のデータセンターの電力消費が2024年の約415TWhから、2030年に約945TWhへ増えると予測しています（AI専用ではなく全体の推計）。</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出典：[B13]</a:t>
            </a:r>
            <a:endParaRPr lang="ja-JP" sz="1200" dirty="0"/>
          </a:p>
        </p:txBody>
      </p:sp>
      <p:graphicFrame>
        <p:nvGraphicFramePr>
          <p:cNvPr id="8" name="Chart 0" descr=""/>
          <p:cNvGraphicFramePr/>
          <p:nvPr/>
        </p:nvGraphicFramePr>
        <p:xfrm>
          <a:off x="457200" y="169164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766560" y="1691640"/>
            <a:ext cx="4965192" cy="1737360"/>
          </a:xfrm>
          <a:prstGeom prst="roundRect">
            <a:avLst>
              <a:gd name="adj" fmla="val 7368"/>
            </a:avLst>
          </a:prstGeom>
          <a:solidFill>
            <a:srgbClr val="FBE3E0"/>
          </a:solidFill>
          <a:ln/>
        </p:spPr>
      </p:sp>
      <p:sp>
        <p:nvSpPr>
          <p:cNvPr id="10" name="Text 6"/>
          <p:cNvSpPr txBox="1"/>
          <p:nvPr/>
        </p:nvSpPr>
        <p:spPr>
          <a:xfrm>
            <a:off x="6858000" y="1801368"/>
            <a:ext cx="4782312" cy="783336"/>
          </a:xfrm>
          <a:prstGeom prst="rect">
            <a:avLst/>
          </a:prstGeom>
          <a:noFill/>
          <a:ln/>
        </p:spPr>
        <p:txBody>
          <a:bodyPr wrap="square" lIns="0" tIns="0" rIns="0" bIns="0" rtlCol="0" anchor="t"/>
          <a:lstStyle/>
          <a:p>
            <a:pPr algn="ctr" indent="0" marL="0">
              <a:lnSpc>
                <a:spcPts val="5800"/>
              </a:lnSpc>
              <a:buNone/>
            </a:pPr>
            <a:r>
              <a:rPr lang="ja-JP" altLang="en-US" sz="4400" b="1" dirty="0">
                <a:solidFill>
                  <a:srgbClr val="C0392B"/>
                </a:solidFill>
                <a:latin typeface="Yu Gothic" pitchFamily="34" charset="0"/>
                <a:ea typeface="Yu Gothic" pitchFamily="34" charset="-122"/>
                <a:cs typeface="Yu Gothic" pitchFamily="34" charset="-120"/>
              </a:rPr>
              <a:t>約2.3倍</a:t>
            </a:r>
            <a:endParaRPr lang="en-US" sz="4400" dirty="0"/>
          </a:p>
        </p:txBody>
      </p:sp>
      <p:sp>
        <p:nvSpPr>
          <p:cNvPr id="11" name="Text 7"/>
          <p:cNvSpPr txBox="1"/>
          <p:nvPr/>
        </p:nvSpPr>
        <p:spPr>
          <a:xfrm>
            <a:off x="6903720" y="2612136"/>
            <a:ext cx="4690872" cy="725424"/>
          </a:xfrm>
          <a:prstGeom prst="rect">
            <a:avLst/>
          </a:prstGeom>
          <a:noFill/>
          <a:ln/>
        </p:spPr>
        <p:txBody>
          <a:bodyPr wrap="square" lIns="0" tIns="0" rIns="0" bIns="0" rtlCol="0" anchor="t"/>
          <a:lstStyle/>
          <a:p>
            <a:pPr algn="ct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2024年→2030年（基本ケース、2つの数値から計算）</a:t>
            </a:r>
            <a:endParaRPr lang="en-US" sz="1800" dirty="0"/>
          </a:p>
        </p:txBody>
      </p:sp>
      <p:sp>
        <p:nvSpPr>
          <p:cNvPr id="12" name="Shape 8"/>
          <p:cNvSpPr/>
          <p:nvPr/>
        </p:nvSpPr>
        <p:spPr>
          <a:xfrm>
            <a:off x="6766560" y="3611880"/>
            <a:ext cx="4965192" cy="960120"/>
          </a:xfrm>
          <a:prstGeom prst="roundRect">
            <a:avLst>
              <a:gd name="adj" fmla="val 11429"/>
            </a:avLst>
          </a:prstGeom>
          <a:solidFill>
            <a:srgbClr val="FBE3E0"/>
          </a:solidFill>
          <a:ln w="19050">
            <a:solidFill>
              <a:srgbClr val="C0392B"/>
            </a:solidFill>
            <a:prstDash val="solid"/>
          </a:ln>
        </p:spPr>
      </p:sp>
      <p:sp>
        <p:nvSpPr>
          <p:cNvPr id="13" name="Shape 9"/>
          <p:cNvSpPr/>
          <p:nvPr/>
        </p:nvSpPr>
        <p:spPr>
          <a:xfrm>
            <a:off x="6903720" y="3863340"/>
            <a:ext cx="457200" cy="457200"/>
          </a:xfrm>
          <a:prstGeom prst="ellipse">
            <a:avLst/>
          </a:prstGeom>
          <a:solidFill>
            <a:srgbClr val="C0392B"/>
          </a:solidFill>
          <a:ln/>
        </p:spPr>
      </p:sp>
      <p:pic>
        <p:nvPicPr>
          <p:cNvPr id="14" name="Image 0" descr="preencoded.png">    </p:cNvPr>
          <p:cNvPicPr>
            <a:picLocks noChangeAspect="1"/>
          </p:cNvPicPr>
          <p:nvPr/>
        </p:nvPicPr>
        <p:blipFill>
          <a:blip r:embed="rId2"/>
          <a:stretch>
            <a:fillRect/>
          </a:stretch>
        </p:blipFill>
        <p:spPr>
          <a:xfrm>
            <a:off x="7004304" y="3963924"/>
            <a:ext cx="256032" cy="256032"/>
          </a:xfrm>
          <a:prstGeom prst="rect">
            <a:avLst/>
          </a:prstGeom>
        </p:spPr>
      </p:pic>
      <p:sp>
        <p:nvSpPr>
          <p:cNvPr id="15" name="Text 10"/>
          <p:cNvSpPr txBox="1"/>
          <p:nvPr/>
        </p:nvSpPr>
        <p:spPr>
          <a:xfrm>
            <a:off x="7498080" y="3657600"/>
            <a:ext cx="4096512" cy="8686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AIだけでなく、データセンター全体の推計・予測</a:t>
            </a:r>
            <a:endParaRPr lang="en-US" sz="1800" dirty="0"/>
          </a:p>
        </p:txBody>
      </p:sp>
      <p:sp>
        <p:nvSpPr>
          <p:cNvPr id="16" name="Shape 11"/>
          <p:cNvSpPr/>
          <p:nvPr/>
        </p:nvSpPr>
        <p:spPr>
          <a:xfrm>
            <a:off x="6766560" y="4709160"/>
            <a:ext cx="4965192" cy="1554480"/>
          </a:xfrm>
          <a:prstGeom prst="roundRect">
            <a:avLst>
              <a:gd name="adj" fmla="val 7059"/>
            </a:avLst>
          </a:prstGeom>
          <a:solidFill>
            <a:srgbClr val="FDEBD0"/>
          </a:solidFill>
          <a:ln w="19050">
            <a:solidFill>
              <a:srgbClr val="B45309"/>
            </a:solidFill>
            <a:prstDash val="solid"/>
          </a:ln>
        </p:spPr>
      </p:sp>
      <p:sp>
        <p:nvSpPr>
          <p:cNvPr id="17" name="Shape 12"/>
          <p:cNvSpPr/>
          <p:nvPr/>
        </p:nvSpPr>
        <p:spPr>
          <a:xfrm>
            <a:off x="6903720" y="5257800"/>
            <a:ext cx="457200" cy="457200"/>
          </a:xfrm>
          <a:prstGeom prst="ellipse">
            <a:avLst/>
          </a:prstGeom>
          <a:solidFill>
            <a:srgbClr val="B45309"/>
          </a:solidFill>
          <a:ln/>
        </p:spPr>
      </p:sp>
      <p:pic>
        <p:nvPicPr>
          <p:cNvPr id="18" name="Image 1" descr="preencoded.png">    </p:cNvPr>
          <p:cNvPicPr>
            <a:picLocks noChangeAspect="1"/>
          </p:cNvPicPr>
          <p:nvPr/>
        </p:nvPicPr>
        <p:blipFill>
          <a:blip r:embed="rId3"/>
          <a:stretch>
            <a:fillRect/>
          </a:stretch>
        </p:blipFill>
        <p:spPr>
          <a:xfrm>
            <a:off x="7004304" y="5358384"/>
            <a:ext cx="256032" cy="256032"/>
          </a:xfrm>
          <a:prstGeom prst="rect">
            <a:avLst/>
          </a:prstGeom>
        </p:spPr>
      </p:pic>
      <p:sp>
        <p:nvSpPr>
          <p:cNvPr id="19" name="Text 13"/>
          <p:cNvSpPr txBox="1"/>
          <p:nvPr/>
        </p:nvSpPr>
        <p:spPr>
          <a:xfrm>
            <a:off x="7498080" y="4754880"/>
            <a:ext cx="4096512" cy="14630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電力の多くは最終的に熱になる。冷やせなければ、性能を落とすか停止する</a:t>
            </a:r>
            <a:endParaRPr lang="en-US" sz="1800" dirty="0"/>
          </a:p>
        </p:txBody>
      </p:sp>
      <p:sp>
        <p:nvSpPr>
          <p:cNvPr id="20" name="Text 14"/>
          <p:cNvSpPr txBox="1"/>
          <p:nvPr/>
        </p:nvSpPr>
        <p:spPr>
          <a:xfrm>
            <a:off x="457200" y="5669280"/>
            <a:ext cx="6035040" cy="365760"/>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出典：IEA「Energy and AI」（2025年報告）</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5125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AI・半導体・インフラ</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水は「熱を運ぶこと」と「消費すること」を分けて考える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冷却では「水で熱を運ぶこと」と「水を消費すること」は別です。方式ごとの違いと、AIに関わる水の3つの経路（冷却・発電・半導体製造）を整理します。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出典：[B14]</a:t>
            </a:r>
            <a:endParaRPr lang="ja-JP" sz="1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377440"/>
                <a:gridCol w="4206240"/>
                <a:gridCol w="46908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冷却方式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仕組み</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水との関係</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空冷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空気を流して熱を運ぶ</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建物側の方式により水も使う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直接液冷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チップ上に冷却液を流す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液を循環して熱を運べる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液浸冷却</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絶縁性の液体に機器を浸す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通常の水とは別の液体の方式あり</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蒸発冷却</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水の蒸発で熱を奪う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蒸発分などの補充が必要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閉回路の液冷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同じ液体を循環させる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循環と消費は別</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457200" y="4983480"/>
            <a:ext cx="54864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AIと水の3つの経路</a:t>
            </a:r>
            <a:endParaRPr lang="en-US" sz="2000" dirty="0"/>
          </a:p>
        </p:txBody>
      </p:sp>
      <p:sp>
        <p:nvSpPr>
          <p:cNvPr id="11" name="Shape 7"/>
          <p:cNvSpPr/>
          <p:nvPr/>
        </p:nvSpPr>
        <p:spPr>
          <a:xfrm>
            <a:off x="457200" y="5394960"/>
            <a:ext cx="3611880" cy="868680"/>
          </a:xfrm>
          <a:prstGeom prst="roundRect">
            <a:avLst>
              <a:gd name="adj" fmla="val 12632"/>
            </a:avLst>
          </a:prstGeom>
          <a:solidFill>
            <a:srgbClr val="E2E8F0"/>
          </a:solidFill>
          <a:ln w="25400">
            <a:solidFill>
              <a:srgbClr val="475569"/>
            </a:solidFill>
            <a:prstDash val="solid"/>
          </a:ln>
        </p:spPr>
      </p:sp>
      <p:sp>
        <p:nvSpPr>
          <p:cNvPr id="12" name="Shape 8"/>
          <p:cNvSpPr/>
          <p:nvPr/>
        </p:nvSpPr>
        <p:spPr>
          <a:xfrm>
            <a:off x="585216" y="5554980"/>
            <a:ext cx="548640" cy="548640"/>
          </a:xfrm>
          <a:prstGeom prst="ellipse">
            <a:avLst/>
          </a:prstGeom>
          <a:solidFill>
            <a:srgbClr val="475569"/>
          </a:solidFill>
          <a:ln/>
        </p:spPr>
      </p:sp>
      <p:pic>
        <p:nvPicPr>
          <p:cNvPr id="13" name="Image 0" descr="preencoded.png">    </p:cNvPr>
          <p:cNvPicPr>
            <a:picLocks noChangeAspect="1"/>
          </p:cNvPicPr>
          <p:nvPr/>
        </p:nvPicPr>
        <p:blipFill>
          <a:blip r:embed="rId1"/>
          <a:stretch>
            <a:fillRect/>
          </a:stretch>
        </p:blipFill>
        <p:spPr>
          <a:xfrm>
            <a:off x="705917" y="5675681"/>
            <a:ext cx="307238" cy="307238"/>
          </a:xfrm>
          <a:prstGeom prst="rect">
            <a:avLst/>
          </a:prstGeom>
        </p:spPr>
      </p:pic>
      <p:sp>
        <p:nvSpPr>
          <p:cNvPr id="14" name="Text 9"/>
          <p:cNvSpPr txBox="1"/>
          <p:nvPr/>
        </p:nvSpPr>
        <p:spPr>
          <a:xfrm>
            <a:off x="1225296" y="5394960"/>
            <a:ext cx="275234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データセンターの冷却</a:t>
            </a:r>
            <a:endParaRPr lang="en-US" sz="2000" dirty="0"/>
          </a:p>
        </p:txBody>
      </p:sp>
      <p:sp>
        <p:nvSpPr>
          <p:cNvPr id="15" name="Shape 10"/>
          <p:cNvSpPr/>
          <p:nvPr/>
        </p:nvSpPr>
        <p:spPr>
          <a:xfrm>
            <a:off x="4288536" y="5394960"/>
            <a:ext cx="3611880" cy="868680"/>
          </a:xfrm>
          <a:prstGeom prst="roundRect">
            <a:avLst>
              <a:gd name="adj" fmla="val 12632"/>
            </a:avLst>
          </a:prstGeom>
          <a:solidFill>
            <a:srgbClr val="E2E8F0"/>
          </a:solidFill>
          <a:ln w="25400">
            <a:solidFill>
              <a:srgbClr val="475569"/>
            </a:solidFill>
            <a:prstDash val="solid"/>
          </a:ln>
        </p:spPr>
      </p:sp>
      <p:sp>
        <p:nvSpPr>
          <p:cNvPr id="16" name="Shape 11"/>
          <p:cNvSpPr/>
          <p:nvPr/>
        </p:nvSpPr>
        <p:spPr>
          <a:xfrm>
            <a:off x="4416552" y="5554980"/>
            <a:ext cx="548640" cy="548640"/>
          </a:xfrm>
          <a:prstGeom prst="ellipse">
            <a:avLst/>
          </a:prstGeom>
          <a:solidFill>
            <a:srgbClr val="475569"/>
          </a:solidFill>
          <a:ln/>
        </p:spPr>
      </p:sp>
      <p:pic>
        <p:nvPicPr>
          <p:cNvPr id="17" name="Image 1" descr="preencoded.png">    </p:cNvPr>
          <p:cNvPicPr>
            <a:picLocks noChangeAspect="1"/>
          </p:cNvPicPr>
          <p:nvPr/>
        </p:nvPicPr>
        <p:blipFill>
          <a:blip r:embed="rId2"/>
          <a:stretch>
            <a:fillRect/>
          </a:stretch>
        </p:blipFill>
        <p:spPr>
          <a:xfrm>
            <a:off x="4537253" y="5675681"/>
            <a:ext cx="307238" cy="307238"/>
          </a:xfrm>
          <a:prstGeom prst="rect">
            <a:avLst/>
          </a:prstGeom>
        </p:spPr>
      </p:pic>
      <p:sp>
        <p:nvSpPr>
          <p:cNvPr id="18" name="Text 12"/>
          <p:cNvSpPr txBox="1"/>
          <p:nvPr/>
        </p:nvSpPr>
        <p:spPr>
          <a:xfrm>
            <a:off x="5056632" y="5394960"/>
            <a:ext cx="275234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発電</a:t>
            </a:r>
            <a:endParaRPr lang="en-US" sz="2000" dirty="0"/>
          </a:p>
        </p:txBody>
      </p:sp>
      <p:sp>
        <p:nvSpPr>
          <p:cNvPr id="19" name="Shape 13"/>
          <p:cNvSpPr/>
          <p:nvPr/>
        </p:nvSpPr>
        <p:spPr>
          <a:xfrm>
            <a:off x="8119872" y="5394960"/>
            <a:ext cx="3611880" cy="868680"/>
          </a:xfrm>
          <a:prstGeom prst="roundRect">
            <a:avLst>
              <a:gd name="adj" fmla="val 12632"/>
            </a:avLst>
          </a:prstGeom>
          <a:solidFill>
            <a:srgbClr val="E2E8F0"/>
          </a:solidFill>
          <a:ln w="25400">
            <a:solidFill>
              <a:srgbClr val="475569"/>
            </a:solidFill>
            <a:prstDash val="solid"/>
          </a:ln>
        </p:spPr>
      </p:sp>
      <p:sp>
        <p:nvSpPr>
          <p:cNvPr id="20" name="Shape 14"/>
          <p:cNvSpPr/>
          <p:nvPr/>
        </p:nvSpPr>
        <p:spPr>
          <a:xfrm>
            <a:off x="8247888" y="5554980"/>
            <a:ext cx="548640" cy="548640"/>
          </a:xfrm>
          <a:prstGeom prst="ellipse">
            <a:avLst/>
          </a:prstGeom>
          <a:solidFill>
            <a:srgbClr val="475569"/>
          </a:solidFill>
          <a:ln/>
        </p:spPr>
      </p:sp>
      <p:pic>
        <p:nvPicPr>
          <p:cNvPr id="21" name="Image 2" descr="preencoded.png">    </p:cNvPr>
          <p:cNvPicPr>
            <a:picLocks noChangeAspect="1"/>
          </p:cNvPicPr>
          <p:nvPr/>
        </p:nvPicPr>
        <p:blipFill>
          <a:blip r:embed="rId3"/>
          <a:stretch>
            <a:fillRect/>
          </a:stretch>
        </p:blipFill>
        <p:spPr>
          <a:xfrm>
            <a:off x="8368589" y="5675681"/>
            <a:ext cx="307238" cy="307238"/>
          </a:xfrm>
          <a:prstGeom prst="rect">
            <a:avLst/>
          </a:prstGeom>
        </p:spPr>
      </p:pic>
      <p:sp>
        <p:nvSpPr>
          <p:cNvPr id="22" name="Text 15"/>
          <p:cNvSpPr txBox="1"/>
          <p:nvPr/>
        </p:nvSpPr>
        <p:spPr>
          <a:xfrm>
            <a:off x="8887968" y="5394960"/>
            <a:ext cx="275234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半導体の製造</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米国・中国・欧州</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米国・中国・欧州・日本は、比べる軸で評価が変わる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AIの強さは、モデル・資金・計算資源・半導体・人材など、比べる軸で変わります。一つの順位で優劣を決めず、軸ごとに見るのが基本です。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出典：[B15] [B17] [B18] [B20]</a:t>
            </a:r>
            <a:endParaRPr lang="ja-JP"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1188720"/>
                <a:gridCol w="4206240"/>
                <a:gridCol w="3017520"/>
                <a:gridCol w="28620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地域</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代表的な強み</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課題・制約</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8229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米国</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最先端モデル・大規模民間投資・巨大クラウド・GPU設計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電力・設備建設・費用</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OpenAI・Google・Anthropic・NVIDIA</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229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中国</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大きな国内市場・研究・公開重みモデル・産業導入</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先端半導体・装置へのアクセス制約</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Alibaba・DeepSeek・Huawei</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8229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欧州</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研究人材・産業技術・半導体製造装置・企業向けAI</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大型資金調達・計算基盤・市場の分断</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Mistral AI・ASML・産業企業</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229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日本</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半導体材料・装置・製造業・産業データ</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巨大モデル開発の資金・計算基盤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キオクシア・東京エレクトロン</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5760720"/>
            <a:ext cx="11274552" cy="566928"/>
          </a:xfrm>
          <a:prstGeom prst="roundRect">
            <a:avLst>
              <a:gd name="adj" fmla="val 19355"/>
            </a:avLst>
          </a:prstGeom>
          <a:solidFill>
            <a:srgbClr val="FBE3E0"/>
          </a:solidFill>
          <a:ln w="19050">
            <a:solidFill>
              <a:srgbClr val="C0392B"/>
            </a:solidFill>
            <a:prstDash val="solid"/>
          </a:ln>
        </p:spPr>
      </p:sp>
      <p:sp>
        <p:nvSpPr>
          <p:cNvPr id="11" name="Shape 7"/>
          <p:cNvSpPr/>
          <p:nvPr/>
        </p:nvSpPr>
        <p:spPr>
          <a:xfrm>
            <a:off x="594360" y="5852160"/>
            <a:ext cx="384048" cy="384048"/>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78851" y="5936651"/>
            <a:ext cx="215067" cy="215067"/>
          </a:xfrm>
          <a:prstGeom prst="rect">
            <a:avLst/>
          </a:prstGeom>
        </p:spPr>
      </p:pic>
      <p:sp>
        <p:nvSpPr>
          <p:cNvPr id="13" name="Text 8"/>
          <p:cNvSpPr txBox="1"/>
          <p:nvPr/>
        </p:nvSpPr>
        <p:spPr>
          <a:xfrm>
            <a:off x="1115568" y="5806440"/>
            <a:ext cx="10479024" cy="47548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最先端モデル・論文・資金・半導体・企業利用を1つの順位にまとめない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米国・中国・欧州</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注目モデル数は米国59・中国35。優劣の点数ではない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Stanford AI Index 2026では、2025年の注目モデルの開発数は米国59・中国35でした。これは定義に沿った集計で、国のAI能力そのものの点数ではありません。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出典：[B15] [B16] [B17]</a:t>
            </a:r>
            <a:endParaRPr lang="ja-JP" sz="1200" dirty="0"/>
          </a:p>
        </p:txBody>
      </p:sp>
      <p:graphicFrame>
        <p:nvGraphicFramePr>
          <p:cNvPr id="8" name="Chart 0" descr=""/>
          <p:cNvGraphicFramePr/>
          <p:nvPr/>
        </p:nvGraphicFramePr>
        <p:xfrm>
          <a:off x="457200" y="1691640"/>
          <a:ext cx="4937760" cy="384048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457200" y="5623560"/>
            <a:ext cx="4937760" cy="365760"/>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出典：Stanford AI Index 2026</a:t>
            </a:r>
            <a:endParaRPr lang="en-US" sz="1800" dirty="0"/>
          </a:p>
        </p:txBody>
      </p:sp>
      <p:sp>
        <p:nvSpPr>
          <p:cNvPr id="10" name="Shape 6"/>
          <p:cNvSpPr/>
          <p:nvPr/>
        </p:nvSpPr>
        <p:spPr>
          <a:xfrm>
            <a:off x="5669280" y="1691640"/>
            <a:ext cx="6062472" cy="1417320"/>
          </a:xfrm>
          <a:prstGeom prst="roundRect">
            <a:avLst>
              <a:gd name="adj" fmla="val 9032"/>
            </a:avLst>
          </a:prstGeom>
          <a:solidFill>
            <a:srgbClr val="DCE8F8"/>
          </a:solidFill>
          <a:ln/>
        </p:spPr>
      </p:sp>
      <p:sp>
        <p:nvSpPr>
          <p:cNvPr id="11" name="Shape 7"/>
          <p:cNvSpPr/>
          <p:nvPr/>
        </p:nvSpPr>
        <p:spPr>
          <a:xfrm>
            <a:off x="5833872" y="1819656"/>
            <a:ext cx="512064" cy="512064"/>
          </a:xfrm>
          <a:prstGeom prst="ellipse">
            <a:avLst/>
          </a:prstGeom>
          <a:solidFill>
            <a:srgbClr val="2F6BC2"/>
          </a:solidFill>
          <a:ln/>
        </p:spPr>
      </p:sp>
      <p:pic>
        <p:nvPicPr>
          <p:cNvPr id="12" name="Image 0" descr="preencoded.png">    </p:cNvPr>
          <p:cNvPicPr>
            <a:picLocks noChangeAspect="1"/>
          </p:cNvPicPr>
          <p:nvPr/>
        </p:nvPicPr>
        <p:blipFill>
          <a:blip r:embed="rId2"/>
          <a:stretch>
            <a:fillRect/>
          </a:stretch>
        </p:blipFill>
        <p:spPr>
          <a:xfrm>
            <a:off x="5946526" y="1932310"/>
            <a:ext cx="286756" cy="286756"/>
          </a:xfrm>
          <a:prstGeom prst="rect">
            <a:avLst/>
          </a:prstGeom>
        </p:spPr>
      </p:pic>
      <p:sp>
        <p:nvSpPr>
          <p:cNvPr id="13" name="Text 8"/>
          <p:cNvSpPr txBox="1"/>
          <p:nvPr/>
        </p:nvSpPr>
        <p:spPr>
          <a:xfrm>
            <a:off x="6455664" y="1819656"/>
            <a:ext cx="513892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研究指標</a:t>
            </a:r>
            <a:endParaRPr lang="en-US" sz="2000" dirty="0"/>
          </a:p>
        </p:txBody>
      </p:sp>
      <p:sp>
        <p:nvSpPr>
          <p:cNvPr id="14" name="Text 9"/>
          <p:cNvSpPr txBox="1"/>
          <p:nvPr/>
        </p:nvSpPr>
        <p:spPr>
          <a:xfrm>
            <a:off x="5852160" y="2423160"/>
            <a:ext cx="5696712" cy="59436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論文数・引用などでは、中国も強さを示している</a:t>
            </a:r>
            <a:endParaRPr lang="en-US" sz="1800" dirty="0"/>
          </a:p>
        </p:txBody>
      </p:sp>
      <p:sp>
        <p:nvSpPr>
          <p:cNvPr id="15" name="Shape 10"/>
          <p:cNvSpPr/>
          <p:nvPr/>
        </p:nvSpPr>
        <p:spPr>
          <a:xfrm>
            <a:off x="5669280" y="3246120"/>
            <a:ext cx="6062472" cy="1417320"/>
          </a:xfrm>
          <a:prstGeom prst="roundRect">
            <a:avLst>
              <a:gd name="adj" fmla="val 9032"/>
            </a:avLst>
          </a:prstGeom>
          <a:solidFill>
            <a:srgbClr val="DCE8F8"/>
          </a:solidFill>
          <a:ln/>
        </p:spPr>
      </p:sp>
      <p:sp>
        <p:nvSpPr>
          <p:cNvPr id="16" name="Shape 11"/>
          <p:cNvSpPr/>
          <p:nvPr/>
        </p:nvSpPr>
        <p:spPr>
          <a:xfrm>
            <a:off x="5833872" y="3374136"/>
            <a:ext cx="512064" cy="512064"/>
          </a:xfrm>
          <a:prstGeom prst="ellipse">
            <a:avLst/>
          </a:prstGeom>
          <a:solidFill>
            <a:srgbClr val="2F6BC2"/>
          </a:solidFill>
          <a:ln/>
        </p:spPr>
      </p:sp>
      <p:pic>
        <p:nvPicPr>
          <p:cNvPr id="17" name="Image 1" descr="preencoded.png">    </p:cNvPr>
          <p:cNvPicPr>
            <a:picLocks noChangeAspect="1"/>
          </p:cNvPicPr>
          <p:nvPr/>
        </p:nvPicPr>
        <p:blipFill>
          <a:blip r:embed="rId3"/>
          <a:stretch>
            <a:fillRect/>
          </a:stretch>
        </p:blipFill>
        <p:spPr>
          <a:xfrm>
            <a:off x="5946526" y="3486790"/>
            <a:ext cx="286756" cy="286756"/>
          </a:xfrm>
          <a:prstGeom prst="rect">
            <a:avLst/>
          </a:prstGeom>
        </p:spPr>
      </p:pic>
      <p:sp>
        <p:nvSpPr>
          <p:cNvPr id="18" name="Text 12"/>
          <p:cNvSpPr txBox="1"/>
          <p:nvPr/>
        </p:nvSpPr>
        <p:spPr>
          <a:xfrm>
            <a:off x="6455664" y="3374136"/>
            <a:ext cx="513892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資金の見え方</a:t>
            </a:r>
            <a:endParaRPr lang="en-US" sz="2000" dirty="0"/>
          </a:p>
        </p:txBody>
      </p:sp>
      <p:sp>
        <p:nvSpPr>
          <p:cNvPr id="19" name="Text 13"/>
          <p:cNvSpPr txBox="1"/>
          <p:nvPr/>
        </p:nvSpPr>
        <p:spPr>
          <a:xfrm>
            <a:off x="5852160" y="3977640"/>
            <a:ext cx="5696712" cy="59436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米国の民間投資は大きいが、中国の政府関連資金は民間集計だけでは捉えにくい</a:t>
            </a:r>
            <a:endParaRPr lang="en-US" sz="1800" dirty="0"/>
          </a:p>
        </p:txBody>
      </p:sp>
      <p:sp>
        <p:nvSpPr>
          <p:cNvPr id="20" name="Shape 14"/>
          <p:cNvSpPr/>
          <p:nvPr/>
        </p:nvSpPr>
        <p:spPr>
          <a:xfrm>
            <a:off x="5669280" y="4800600"/>
            <a:ext cx="6062472" cy="1463040"/>
          </a:xfrm>
          <a:prstGeom prst="roundRect">
            <a:avLst>
              <a:gd name="adj" fmla="val 8750"/>
            </a:avLst>
          </a:prstGeom>
          <a:solidFill>
            <a:srgbClr val="FBE3E0"/>
          </a:solidFill>
          <a:ln/>
        </p:spPr>
      </p:sp>
      <p:sp>
        <p:nvSpPr>
          <p:cNvPr id="21" name="Shape 15"/>
          <p:cNvSpPr/>
          <p:nvPr/>
        </p:nvSpPr>
        <p:spPr>
          <a:xfrm>
            <a:off x="5833872" y="4928616"/>
            <a:ext cx="512064" cy="512064"/>
          </a:xfrm>
          <a:prstGeom prst="ellipse">
            <a:avLst/>
          </a:prstGeom>
          <a:solidFill>
            <a:srgbClr val="C0392B"/>
          </a:solidFill>
          <a:ln/>
        </p:spPr>
      </p:sp>
      <p:pic>
        <p:nvPicPr>
          <p:cNvPr id="22" name="Image 2" descr="preencoded.png">    </p:cNvPr>
          <p:cNvPicPr>
            <a:picLocks noChangeAspect="1"/>
          </p:cNvPicPr>
          <p:nvPr/>
        </p:nvPicPr>
        <p:blipFill>
          <a:blip r:embed="rId4"/>
          <a:stretch>
            <a:fillRect/>
          </a:stretch>
        </p:blipFill>
        <p:spPr>
          <a:xfrm>
            <a:off x="5946526" y="5041270"/>
            <a:ext cx="286756" cy="286756"/>
          </a:xfrm>
          <a:prstGeom prst="rect">
            <a:avLst/>
          </a:prstGeom>
        </p:spPr>
      </p:pic>
      <p:sp>
        <p:nvSpPr>
          <p:cNvPr id="23" name="Text 16"/>
          <p:cNvSpPr txBox="1"/>
          <p:nvPr/>
        </p:nvSpPr>
        <p:spPr>
          <a:xfrm>
            <a:off x="6455664" y="4928616"/>
            <a:ext cx="513892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C0392B"/>
                </a:solidFill>
                <a:latin typeface="Yu Gothic" pitchFamily="34" charset="0"/>
                <a:ea typeface="Yu Gothic" pitchFamily="34" charset="-122"/>
                <a:cs typeface="Yu Gothic" pitchFamily="34" charset="-120"/>
              </a:rPr>
              <a:t>チップの条件</a:t>
            </a:r>
            <a:endParaRPr lang="en-US" sz="2000" dirty="0"/>
          </a:p>
        </p:txBody>
      </p:sp>
      <p:sp>
        <p:nvSpPr>
          <p:cNvPr id="24" name="Text 17"/>
          <p:cNvSpPr txBox="1"/>
          <p:nvPr/>
        </p:nvSpPr>
        <p:spPr>
          <a:xfrm>
            <a:off x="5852160" y="5532120"/>
            <a:ext cx="5696712"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モデル開発力とチップ確保は別。輸出管理の規則は変化し、一切不可と一括りにはできない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米国・中国・欧州</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欧州が目立たない理由は一つではない。土台は支えている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欧州が最先端モデルで目立たない理由は、資金調達・計算基盤・市場の分断など複数あり、「規制のせい」だけでは説明できません。半導体装置（ASML）などの土台は担っています。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出典：[B18] [B19] [B20]</a:t>
            </a:r>
            <a:endParaRPr lang="ja-JP"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6035040" cy="914400"/>
        </p:xfrm>
        <a:graphic>
          <a:graphicData uri="http://schemas.openxmlformats.org/drawingml/2006/table">
            <a:tbl>
              <a:tblPr/>
              <a:tblGrid>
                <a:gridCol w="2377440"/>
                <a:gridCol w="365760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観点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大規模AI開発への影響</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30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大型の資金調達</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長期・大規模の設備投資を続けられるか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クラウドと計算設備</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大量の計算資源を確保できるか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30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市場のまとまり</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多数の顧客へ事業を拡大しやすいか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電力・施設の整備</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計算設備を早く稼働させられるか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人材と研究</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モデルやシステムを開発できるか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0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法制度</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データ利用・事業運営の条件を明確にできるか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9" name="Shape 5"/>
          <p:cNvSpPr/>
          <p:nvPr/>
        </p:nvSpPr>
        <p:spPr>
          <a:xfrm>
            <a:off x="6766560" y="1691640"/>
            <a:ext cx="4965192" cy="1417320"/>
          </a:xfrm>
          <a:prstGeom prst="roundRect">
            <a:avLst>
              <a:gd name="adj" fmla="val 9032"/>
            </a:avLst>
          </a:prstGeom>
          <a:solidFill>
            <a:srgbClr val="DCE8F8"/>
          </a:solidFill>
          <a:ln/>
        </p:spPr>
      </p:sp>
      <p:sp>
        <p:nvSpPr>
          <p:cNvPr id="10" name="Shape 6"/>
          <p:cNvSpPr/>
          <p:nvPr/>
        </p:nvSpPr>
        <p:spPr>
          <a:xfrm>
            <a:off x="6931152" y="1819656"/>
            <a:ext cx="512064" cy="512064"/>
          </a:xfrm>
          <a:prstGeom prst="ellipse">
            <a:avLst/>
          </a:prstGeom>
          <a:solidFill>
            <a:srgbClr val="2F6BC2"/>
          </a:solidFill>
          <a:ln/>
        </p:spPr>
      </p:sp>
      <p:pic>
        <p:nvPicPr>
          <p:cNvPr id="11" name="Image 0" descr="preencoded.png">    </p:cNvPr>
          <p:cNvPicPr>
            <a:picLocks noChangeAspect="1"/>
          </p:cNvPicPr>
          <p:nvPr/>
        </p:nvPicPr>
        <p:blipFill>
          <a:blip r:embed="rId1"/>
          <a:stretch>
            <a:fillRect/>
          </a:stretch>
        </p:blipFill>
        <p:spPr>
          <a:xfrm>
            <a:off x="7043806" y="1932310"/>
            <a:ext cx="286756" cy="286756"/>
          </a:xfrm>
          <a:prstGeom prst="rect">
            <a:avLst/>
          </a:prstGeom>
        </p:spPr>
      </p:pic>
      <p:sp>
        <p:nvSpPr>
          <p:cNvPr id="12" name="Text 7"/>
          <p:cNvSpPr txBox="1"/>
          <p:nvPr/>
        </p:nvSpPr>
        <p:spPr>
          <a:xfrm>
            <a:off x="7552944" y="1819656"/>
            <a:ext cx="404164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資金の分析（EIB）</a:t>
            </a:r>
            <a:endParaRPr lang="en-US" sz="2000" dirty="0"/>
          </a:p>
        </p:txBody>
      </p:sp>
      <p:sp>
        <p:nvSpPr>
          <p:cNvPr id="13" name="Text 8"/>
          <p:cNvSpPr txBox="1"/>
          <p:nvPr/>
        </p:nvSpPr>
        <p:spPr>
          <a:xfrm>
            <a:off x="6949440" y="2423160"/>
            <a:ext cx="4599432" cy="59436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ベンチャー資金の浅さ・分断が一因。規制だけが原因ではない</a:t>
            </a:r>
            <a:endParaRPr lang="en-US" sz="1800" dirty="0"/>
          </a:p>
        </p:txBody>
      </p:sp>
      <p:sp>
        <p:nvSpPr>
          <p:cNvPr id="14" name="Shape 9"/>
          <p:cNvSpPr/>
          <p:nvPr/>
        </p:nvSpPr>
        <p:spPr>
          <a:xfrm>
            <a:off x="6766560" y="3246120"/>
            <a:ext cx="4965192" cy="1508760"/>
          </a:xfrm>
          <a:prstGeom prst="roundRect">
            <a:avLst>
              <a:gd name="adj" fmla="val 8485"/>
            </a:avLst>
          </a:prstGeom>
          <a:solidFill>
            <a:srgbClr val="E6E1F7"/>
          </a:solidFill>
          <a:ln/>
        </p:spPr>
      </p:sp>
      <p:sp>
        <p:nvSpPr>
          <p:cNvPr id="15" name="Shape 10"/>
          <p:cNvSpPr/>
          <p:nvPr/>
        </p:nvSpPr>
        <p:spPr>
          <a:xfrm>
            <a:off x="6931152" y="3374136"/>
            <a:ext cx="512064" cy="512064"/>
          </a:xfrm>
          <a:prstGeom prst="ellipse">
            <a:avLst/>
          </a:prstGeom>
          <a:solidFill>
            <a:srgbClr val="5B46B8"/>
          </a:solidFill>
          <a:ln/>
        </p:spPr>
      </p:sp>
      <p:pic>
        <p:nvPicPr>
          <p:cNvPr id="16" name="Image 1" descr="preencoded.png">    </p:cNvPr>
          <p:cNvPicPr>
            <a:picLocks noChangeAspect="1"/>
          </p:cNvPicPr>
          <p:nvPr/>
        </p:nvPicPr>
        <p:blipFill>
          <a:blip r:embed="rId2"/>
          <a:stretch>
            <a:fillRect/>
          </a:stretch>
        </p:blipFill>
        <p:spPr>
          <a:xfrm>
            <a:off x="7043806" y="3486790"/>
            <a:ext cx="286756" cy="286756"/>
          </a:xfrm>
          <a:prstGeom prst="rect">
            <a:avLst/>
          </a:prstGeom>
        </p:spPr>
      </p:pic>
      <p:sp>
        <p:nvSpPr>
          <p:cNvPr id="17" name="Text 11"/>
          <p:cNvSpPr txBox="1"/>
          <p:nvPr/>
        </p:nvSpPr>
        <p:spPr>
          <a:xfrm>
            <a:off x="7552944" y="3374136"/>
            <a:ext cx="404164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計算基盤（EU）</a:t>
            </a:r>
            <a:endParaRPr lang="en-US" sz="2000" dirty="0"/>
          </a:p>
        </p:txBody>
      </p:sp>
      <p:sp>
        <p:nvSpPr>
          <p:cNvPr id="18" name="Text 12"/>
          <p:cNvSpPr txBox="1"/>
          <p:nvPr/>
        </p:nvSpPr>
        <p:spPr>
          <a:xfrm>
            <a:off x="6949440" y="3977640"/>
            <a:ext cx="4599432" cy="6858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2026年7月にAI Gigafactory公募（最大7か所）。計画≠稼働済み</a:t>
            </a:r>
            <a:endParaRPr lang="en-US" sz="1800" dirty="0"/>
          </a:p>
        </p:txBody>
      </p:sp>
      <p:sp>
        <p:nvSpPr>
          <p:cNvPr id="19" name="Shape 13"/>
          <p:cNvSpPr/>
          <p:nvPr/>
        </p:nvSpPr>
        <p:spPr>
          <a:xfrm>
            <a:off x="6766560" y="4892040"/>
            <a:ext cx="4965192" cy="1371600"/>
          </a:xfrm>
          <a:prstGeom prst="roundRect">
            <a:avLst>
              <a:gd name="adj" fmla="val 9333"/>
            </a:avLst>
          </a:prstGeom>
          <a:solidFill>
            <a:srgbClr val="DDF1E4"/>
          </a:solidFill>
          <a:ln/>
        </p:spPr>
      </p:sp>
      <p:sp>
        <p:nvSpPr>
          <p:cNvPr id="20" name="Shape 14"/>
          <p:cNvSpPr/>
          <p:nvPr/>
        </p:nvSpPr>
        <p:spPr>
          <a:xfrm>
            <a:off x="6931152" y="5020056"/>
            <a:ext cx="512064" cy="512064"/>
          </a:xfrm>
          <a:prstGeom prst="ellipse">
            <a:avLst/>
          </a:prstGeom>
          <a:solidFill>
            <a:srgbClr val="237A48"/>
          </a:solidFill>
          <a:ln/>
        </p:spPr>
      </p:sp>
      <p:pic>
        <p:nvPicPr>
          <p:cNvPr id="21" name="Image 2" descr="preencoded.png">    </p:cNvPr>
          <p:cNvPicPr>
            <a:picLocks noChangeAspect="1"/>
          </p:cNvPicPr>
          <p:nvPr/>
        </p:nvPicPr>
        <p:blipFill>
          <a:blip r:embed="rId3"/>
          <a:stretch>
            <a:fillRect/>
          </a:stretch>
        </p:blipFill>
        <p:spPr>
          <a:xfrm>
            <a:off x="7043806" y="5132710"/>
            <a:ext cx="286756" cy="286756"/>
          </a:xfrm>
          <a:prstGeom prst="rect">
            <a:avLst/>
          </a:prstGeom>
        </p:spPr>
      </p:pic>
      <p:sp>
        <p:nvSpPr>
          <p:cNvPr id="22" name="Text 15"/>
          <p:cNvSpPr txBox="1"/>
          <p:nvPr/>
        </p:nvSpPr>
        <p:spPr>
          <a:xfrm>
            <a:off x="7552944" y="5020056"/>
            <a:ext cx="404164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製造装置（ASML）</a:t>
            </a:r>
            <a:endParaRPr lang="en-US" sz="2000" dirty="0"/>
          </a:p>
        </p:txBody>
      </p:sp>
      <p:sp>
        <p:nvSpPr>
          <p:cNvPr id="23" name="Text 16"/>
          <p:cNvSpPr txBox="1"/>
          <p:nvPr/>
        </p:nvSpPr>
        <p:spPr>
          <a:xfrm>
            <a:off x="6949440" y="5623560"/>
            <a:ext cx="4599432" cy="5486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先端半導体のEUV露光装置を提供</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3347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AIサービスと使用量</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会社・サービス・モデル・ツールは別の層</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OpenAIやAnthropicのような「会社」、ChatGPTやClaudeの「サービス」、GPTやClaudeの「モデル」、検索やファイル作成の「ツール」は、別の層の言葉です。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出典：[N04] [N05]</a:t>
            </a:r>
            <a:endParaRPr lang="ja-JP"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7680960" cy="914400"/>
        </p:xfrm>
        <a:graphic>
          <a:graphicData uri="http://schemas.openxmlformats.org/drawingml/2006/table">
            <a:tbl>
              <a:tblPr/>
              <a:tblGrid>
                <a:gridCol w="1463040"/>
                <a:gridCol w="3291840"/>
                <a:gridCol w="292608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OpenAIの例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Anthropicの例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40080">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提供企業</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OpenAI</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Anthropic</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サービス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ChatGPT・Codex</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Claude・Claude Code</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3050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モデル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GPT-6.1 Sol・GPT-6 Astra・GPT-6 Luna</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Claude Opus・Sonnet・Haiku</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0504">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ツール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Web検索・画像生成・ファイル作成・コード実行</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Web検索・ファイル作成・コード実行</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30504">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作業環境</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チャット・開発環境・ブラウザー・ファイル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チャット・Claude Code・ファイル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5"/>
          <p:cNvSpPr/>
          <p:nvPr/>
        </p:nvSpPr>
        <p:spPr>
          <a:xfrm>
            <a:off x="8412480" y="1691640"/>
            <a:ext cx="3319272" cy="2148840"/>
          </a:xfrm>
          <a:prstGeom prst="roundRect">
            <a:avLst>
              <a:gd name="adj" fmla="val 5106"/>
            </a:avLst>
          </a:prstGeom>
          <a:solidFill>
            <a:srgbClr val="FBE3E0"/>
          </a:solidFill>
          <a:ln w="19050">
            <a:solidFill>
              <a:srgbClr val="C0392B"/>
            </a:solidFill>
            <a:prstDash val="solid"/>
          </a:ln>
        </p:spPr>
      </p:sp>
      <p:sp>
        <p:nvSpPr>
          <p:cNvPr id="10" name="Shape 6"/>
          <p:cNvSpPr/>
          <p:nvPr/>
        </p:nvSpPr>
        <p:spPr>
          <a:xfrm>
            <a:off x="8549640" y="2537460"/>
            <a:ext cx="457200" cy="457200"/>
          </a:xfrm>
          <a:prstGeom prst="ellipse">
            <a:avLst/>
          </a:prstGeom>
          <a:solidFill>
            <a:srgbClr val="C0392B"/>
          </a:solidFill>
          <a:ln/>
        </p:spPr>
      </p:sp>
      <p:pic>
        <p:nvPicPr>
          <p:cNvPr id="11" name="Image 0" descr="preencoded.png">    </p:cNvPr>
          <p:cNvPicPr>
            <a:picLocks noChangeAspect="1"/>
          </p:cNvPicPr>
          <p:nvPr/>
        </p:nvPicPr>
        <p:blipFill>
          <a:blip r:embed="rId1"/>
          <a:stretch>
            <a:fillRect/>
          </a:stretch>
        </p:blipFill>
        <p:spPr>
          <a:xfrm>
            <a:off x="8650224" y="2638044"/>
            <a:ext cx="256032" cy="256032"/>
          </a:xfrm>
          <a:prstGeom prst="rect">
            <a:avLst/>
          </a:prstGeom>
        </p:spPr>
      </p:pic>
      <p:sp>
        <p:nvSpPr>
          <p:cNvPr id="12" name="Text 7"/>
          <p:cNvSpPr txBox="1"/>
          <p:nvPr/>
        </p:nvSpPr>
        <p:spPr>
          <a:xfrm>
            <a:off x="9144000" y="1737360"/>
            <a:ext cx="2450592" cy="20574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画像生成は、文章モデルが画像生成機能を呼び出す構成を含む。文章能力＝写真生成能力ではない</a:t>
            </a:r>
            <a:endParaRPr lang="en-US" sz="1800" dirty="0"/>
          </a:p>
        </p:txBody>
      </p:sp>
      <p:sp>
        <p:nvSpPr>
          <p:cNvPr id="13" name="Shape 8"/>
          <p:cNvSpPr/>
          <p:nvPr/>
        </p:nvSpPr>
        <p:spPr>
          <a:xfrm>
            <a:off x="8412480" y="3977640"/>
            <a:ext cx="3319272" cy="2286000"/>
          </a:xfrm>
          <a:prstGeom prst="roundRect">
            <a:avLst>
              <a:gd name="adj" fmla="val 4800"/>
            </a:avLst>
          </a:prstGeom>
          <a:solidFill>
            <a:srgbClr val="DCE8F8"/>
          </a:solidFill>
          <a:ln w="19050">
            <a:solidFill>
              <a:srgbClr val="2F6BC2"/>
            </a:solidFill>
            <a:prstDash val="solid"/>
          </a:ln>
        </p:spPr>
      </p:sp>
      <p:sp>
        <p:nvSpPr>
          <p:cNvPr id="14" name="Shape 9"/>
          <p:cNvSpPr/>
          <p:nvPr/>
        </p:nvSpPr>
        <p:spPr>
          <a:xfrm>
            <a:off x="8549640" y="4892040"/>
            <a:ext cx="457200" cy="457200"/>
          </a:xfrm>
          <a:prstGeom prst="ellipse">
            <a:avLst/>
          </a:prstGeom>
          <a:solidFill>
            <a:srgbClr val="2F6BC2"/>
          </a:solidFill>
          <a:ln/>
        </p:spPr>
      </p:sp>
      <p:pic>
        <p:nvPicPr>
          <p:cNvPr id="15" name="Image 1" descr="preencoded.png">    </p:cNvPr>
          <p:cNvPicPr>
            <a:picLocks noChangeAspect="1"/>
          </p:cNvPicPr>
          <p:nvPr/>
        </p:nvPicPr>
        <p:blipFill>
          <a:blip r:embed="rId2"/>
          <a:stretch>
            <a:fillRect/>
          </a:stretch>
        </p:blipFill>
        <p:spPr>
          <a:xfrm>
            <a:off x="8650224" y="4992624"/>
            <a:ext cx="256032" cy="256032"/>
          </a:xfrm>
          <a:prstGeom prst="rect">
            <a:avLst/>
          </a:prstGeom>
        </p:spPr>
      </p:pic>
      <p:sp>
        <p:nvSpPr>
          <p:cNvPr id="16" name="Text 10"/>
          <p:cNvSpPr txBox="1"/>
          <p:nvPr/>
        </p:nvSpPr>
        <p:spPr>
          <a:xfrm>
            <a:off x="9144000" y="4023360"/>
            <a:ext cx="2450592" cy="21945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PowerPoint生成は、モデルの理解・構成力とファイル作成機能の組み合わせ</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3347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AIサービスと使用量</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6682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AIサービスは機能で選ぶ。これは独自ランキングではない</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各AIサービスの得意な使い道を、公式の機能説明に基づいて整理しました。実験して決めた順位ではないので、条件が変われば向き不向きも変わります。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出典：[N05] [N07] [N09] [N24] [N25] [N26]</a:t>
            </a:r>
            <a:endParaRPr lang="ja-JP" sz="1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3017520"/>
                <a:gridCol w="82570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サービス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選ぶ理由・用途例（公式機能に基づく）</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ChatGPT／Work</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調査・分析・コード実行・ファイル作成・画像生成を一連の作業で</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Claude／Claude Code</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長い資料の整理・文章・コードの編集実行・文書やスライド作成</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Gemini</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Google Workspace連携・画像や音声などの機能</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Microsoft 365 Copilot</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Word・Excel・PowerPointなど既存業務の中で作成・編集</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Perplexity</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出典をたどりながら検索・調査</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Grok</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Xの投稿・話題を含む調査（人気≠正しさ）</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5715000"/>
            <a:ext cx="11274552" cy="594360"/>
          </a:xfrm>
          <a:prstGeom prst="roundRect">
            <a:avLst>
              <a:gd name="adj" fmla="val 18462"/>
            </a:avLst>
          </a:prstGeom>
          <a:solidFill>
            <a:srgbClr val="FBE3E0"/>
          </a:solidFill>
          <a:ln w="19050">
            <a:solidFill>
              <a:srgbClr val="C0392B"/>
            </a:solidFill>
            <a:prstDash val="solid"/>
          </a:ln>
        </p:spPr>
      </p:sp>
      <p:sp>
        <p:nvSpPr>
          <p:cNvPr id="11" name="Shape 7"/>
          <p:cNvSpPr/>
          <p:nvPr/>
        </p:nvSpPr>
        <p:spPr>
          <a:xfrm>
            <a:off x="594360" y="5806440"/>
            <a:ext cx="411480" cy="41148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84886" y="5896966"/>
            <a:ext cx="230429" cy="230429"/>
          </a:xfrm>
          <a:prstGeom prst="rect">
            <a:avLst/>
          </a:prstGeom>
        </p:spPr>
      </p:pic>
      <p:sp>
        <p:nvSpPr>
          <p:cNvPr id="13" name="Text 8"/>
          <p:cNvSpPr txBox="1"/>
          <p:nvPr/>
        </p:nvSpPr>
        <p:spPr>
          <a:xfrm>
            <a:off x="1143000" y="5760720"/>
            <a:ext cx="10451592" cy="5029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どれも万能ではない。機能はプラン・契約・権限で変わる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3347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AIサービスと使用量</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6682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モデルは難しさと費用で使い分ける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同じ会社のモデルにも、難しい仕事向け・普段使い向け・軽い作業向けがあります。仕事の難しさと費用で使い分けるのが基本です。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出典：[N03] [N06] [N08] [N10]</a:t>
            </a:r>
            <a:endParaRPr lang="ja-JP" sz="1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743200"/>
                <a:gridCol w="8531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モデル</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主に検討する用途（この学習での例）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0292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GPT-6.1 Sol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複雑なコード・実務を費用も考えて進める（学習原稿・構成比較）</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GPT-6 Astra</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曖昧な課題・深い分析が要る難しい仕事（矛盾する要件の設計）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GPT-6 Luna</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範囲の明確な作業・抽出・定型処理（用語整理・形式変換）</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Claude Opus 5.5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長時間の複雑な開発・知識作業・慎重な判断（教材構成のレビュー）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Claude Sonnet 5.5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日常のコード・文書・スライド作成の速度と品質の両立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Claude Haiku 4.5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軽量・高速・費用を抑えた多量の処理（章ごとの分類）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5669280"/>
            <a:ext cx="11274552" cy="640080"/>
          </a:xfrm>
          <a:prstGeom prst="roundRect">
            <a:avLst>
              <a:gd name="adj" fmla="val 17143"/>
            </a:avLst>
          </a:prstGeom>
          <a:solidFill>
            <a:srgbClr val="DCE8F8"/>
          </a:solidFill>
          <a:ln w="19050">
            <a:solidFill>
              <a:srgbClr val="2F6BC2"/>
            </a:solidFill>
            <a:prstDash val="solid"/>
          </a:ln>
        </p:spPr>
      </p:sp>
      <p:sp>
        <p:nvSpPr>
          <p:cNvPr id="11" name="Shape 7"/>
          <p:cNvSpPr/>
          <p:nvPr/>
        </p:nvSpPr>
        <p:spPr>
          <a:xfrm>
            <a:off x="594360" y="5760720"/>
            <a:ext cx="457200" cy="457200"/>
          </a:xfrm>
          <a:prstGeom prst="ellipse">
            <a:avLst/>
          </a:prstGeom>
          <a:solidFill>
            <a:srgbClr val="2F6BC2"/>
          </a:solidFill>
          <a:ln/>
        </p:spPr>
      </p:sp>
      <p:pic>
        <p:nvPicPr>
          <p:cNvPr id="12" name="Image 0" descr="preencoded.png">    </p:cNvPr>
          <p:cNvPicPr>
            <a:picLocks noChangeAspect="1"/>
          </p:cNvPicPr>
          <p:nvPr/>
        </p:nvPicPr>
        <p:blipFill>
          <a:blip r:embed="rId1"/>
          <a:stretch>
            <a:fillRect/>
          </a:stretch>
        </p:blipFill>
        <p:spPr>
          <a:xfrm>
            <a:off x="694944" y="5861304"/>
            <a:ext cx="256032" cy="256032"/>
          </a:xfrm>
          <a:prstGeom prst="rect">
            <a:avLst/>
          </a:prstGeom>
        </p:spPr>
      </p:pic>
      <p:sp>
        <p:nvSpPr>
          <p:cNvPr id="13" name="Text 8"/>
          <p:cNvSpPr txBox="1"/>
          <p:nvPr/>
        </p:nvSpPr>
        <p:spPr>
          <a:xfrm>
            <a:off x="1188720" y="5715000"/>
            <a:ext cx="10405872"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読み：Opus＝オーパス、Sonnet＝ソネット。Haiku 5.5は2026/9/28時点で今後の予定</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3347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AIサービスと使用量</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Workの「4％」は利用枠の消費率。知能の4％ではない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Workの「4％」は、契約の利用枠のうち使った割合です。AIの賢さや記憶容量の4％ではありません。プランや期間は未確認なので、あと何回できるかも断言できません。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出典：[N01] [N02]</a:t>
            </a:r>
            <a:endParaRPr lang="ja-JP" sz="1200" dirty="0"/>
          </a:p>
        </p:txBody>
      </p:sp>
      <p:sp>
        <p:nvSpPr>
          <p:cNvPr id="8" name="Text 5"/>
          <p:cNvSpPr txBox="1"/>
          <p:nvPr/>
        </p:nvSpPr>
        <p:spPr>
          <a:xfrm>
            <a:off x="457200" y="1645920"/>
            <a:ext cx="4206240" cy="1005840"/>
          </a:xfrm>
          <a:prstGeom prst="rect">
            <a:avLst/>
          </a:prstGeom>
          <a:noFill/>
          <a:ln/>
        </p:spPr>
        <p:txBody>
          <a:bodyPr wrap="square" lIns="0" tIns="0" rIns="0" bIns="0" rtlCol="0" anchor="t"/>
          <a:lstStyle/>
          <a:p>
            <a:pPr algn="l" indent="0" marL="0">
              <a:lnSpc>
                <a:spcPts val="7100"/>
              </a:lnSpc>
              <a:buNone/>
            </a:pPr>
            <a:r>
              <a:rPr lang="ja-JP" altLang="en-US" sz="5400" b="1" dirty="0">
                <a:solidFill>
                  <a:srgbClr val="5B46B8"/>
                </a:solidFill>
                <a:latin typeface="Yu Gothic" pitchFamily="34" charset="0"/>
                <a:ea typeface="Yu Gothic" pitchFamily="34" charset="-122"/>
                <a:cs typeface="Yu Gothic" pitchFamily="34" charset="-120"/>
              </a:rPr>
              <a:t>4％</a:t>
            </a:r>
            <a:endParaRPr lang="en-US" sz="5400" dirty="0"/>
          </a:p>
        </p:txBody>
      </p:sp>
      <p:sp>
        <p:nvSpPr>
          <p:cNvPr id="9" name="Shape 6"/>
          <p:cNvSpPr/>
          <p:nvPr/>
        </p:nvSpPr>
        <p:spPr>
          <a:xfrm>
            <a:off x="457200" y="2743200"/>
            <a:ext cx="4206240" cy="502920"/>
          </a:xfrm>
          <a:prstGeom prst="roundRect">
            <a:avLst>
              <a:gd name="adj" fmla="val 18182"/>
            </a:avLst>
          </a:prstGeom>
          <a:solidFill>
            <a:srgbClr val="E2E8F0"/>
          </a:solidFill>
          <a:ln w="19050">
            <a:solidFill>
              <a:srgbClr val="5B46B8"/>
            </a:solidFill>
            <a:prstDash val="solid"/>
          </a:ln>
        </p:spPr>
      </p:sp>
      <p:sp>
        <p:nvSpPr>
          <p:cNvPr id="10" name="Shape 7"/>
          <p:cNvSpPr/>
          <p:nvPr/>
        </p:nvSpPr>
        <p:spPr>
          <a:xfrm>
            <a:off x="457200" y="2743200"/>
            <a:ext cx="182880" cy="502920"/>
          </a:xfrm>
          <a:prstGeom prst="roundRect">
            <a:avLst>
              <a:gd name="adj" fmla="val 25000"/>
            </a:avLst>
          </a:prstGeom>
          <a:solidFill>
            <a:srgbClr val="5B46B8"/>
          </a:solidFill>
          <a:ln/>
        </p:spPr>
      </p:sp>
      <p:sp>
        <p:nvSpPr>
          <p:cNvPr id="11" name="Text 8"/>
          <p:cNvSpPr txBox="1"/>
          <p:nvPr/>
        </p:nvSpPr>
        <p:spPr>
          <a:xfrm>
            <a:off x="457200" y="3337560"/>
            <a:ext cx="4206240" cy="685800"/>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その画面の利用枠（契約・期間は未確認）</a:t>
            </a:r>
            <a:endParaRPr lang="en-US" sz="1800" dirty="0"/>
          </a:p>
        </p:txBody>
      </p:sp>
      <p:sp>
        <p:nvSpPr>
          <p:cNvPr id="12" name="Shape 9"/>
          <p:cNvSpPr/>
          <p:nvPr/>
        </p:nvSpPr>
        <p:spPr>
          <a:xfrm>
            <a:off x="457200" y="4114800"/>
            <a:ext cx="4206240" cy="2148840"/>
          </a:xfrm>
          <a:prstGeom prst="roundRect">
            <a:avLst>
              <a:gd name="adj" fmla="val 5106"/>
            </a:avLst>
          </a:prstGeom>
          <a:solidFill>
            <a:srgbClr val="FBE3E0"/>
          </a:solidFill>
          <a:ln w="19050">
            <a:solidFill>
              <a:srgbClr val="C0392B"/>
            </a:solidFill>
            <a:prstDash val="solid"/>
          </a:ln>
        </p:spPr>
      </p:sp>
      <p:sp>
        <p:nvSpPr>
          <p:cNvPr id="13" name="Shape 10"/>
          <p:cNvSpPr/>
          <p:nvPr/>
        </p:nvSpPr>
        <p:spPr>
          <a:xfrm>
            <a:off x="594360" y="4960620"/>
            <a:ext cx="457200" cy="457200"/>
          </a:xfrm>
          <a:prstGeom prst="ellipse">
            <a:avLst/>
          </a:prstGeom>
          <a:solidFill>
            <a:srgbClr val="C0392B"/>
          </a:solidFill>
          <a:ln/>
        </p:spPr>
      </p:sp>
      <p:pic>
        <p:nvPicPr>
          <p:cNvPr id="14" name="Image 0" descr="preencoded.png">    </p:cNvPr>
          <p:cNvPicPr>
            <a:picLocks noChangeAspect="1"/>
          </p:cNvPicPr>
          <p:nvPr/>
        </p:nvPicPr>
        <p:blipFill>
          <a:blip r:embed="rId1"/>
          <a:stretch>
            <a:fillRect/>
          </a:stretch>
        </p:blipFill>
        <p:spPr>
          <a:xfrm>
            <a:off x="694944" y="5061204"/>
            <a:ext cx="256032" cy="256032"/>
          </a:xfrm>
          <a:prstGeom prst="rect">
            <a:avLst/>
          </a:prstGeom>
        </p:spPr>
      </p:pic>
      <p:sp>
        <p:nvSpPr>
          <p:cNvPr id="15" name="Text 11"/>
          <p:cNvSpPr txBox="1"/>
          <p:nvPr/>
        </p:nvSpPr>
        <p:spPr>
          <a:xfrm>
            <a:off x="1188720" y="4160520"/>
            <a:ext cx="3337560" cy="20574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確認できていない：契約プラン・集計期間・4％の内訳</a:t>
            </a:r>
            <a:endParaRPr lang="en-US" sz="2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937760" y="1691640"/>
          <a:ext cx="6793992" cy="914400"/>
        </p:xfrm>
        <a:graphic>
          <a:graphicData uri="http://schemas.openxmlformats.org/drawingml/2006/table">
            <a:tbl>
              <a:tblPr/>
              <a:tblGrid>
                <a:gridCol w="2286000"/>
                <a:gridCol w="45079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区別するもの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利用枠の消費率</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契約・期間ごとの枠の使用状況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トークン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入出力の計数単位。文字数と同じではない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コンテキスト容量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一度に扱える情報の上限</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クレジット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従量利用に支払う単位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API料金</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開発者向けAPIの料金。割合とは別</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7" name="Shape 12"/>
          <p:cNvSpPr/>
          <p:nvPr/>
        </p:nvSpPr>
        <p:spPr>
          <a:xfrm>
            <a:off x="4937760" y="5532120"/>
            <a:ext cx="6793992" cy="777240"/>
          </a:xfrm>
          <a:prstGeom prst="roundRect">
            <a:avLst>
              <a:gd name="adj" fmla="val 14118"/>
            </a:avLst>
          </a:prstGeom>
          <a:solidFill>
            <a:srgbClr val="FBE3E0"/>
          </a:solidFill>
          <a:ln w="19050">
            <a:solidFill>
              <a:srgbClr val="C0392B"/>
            </a:solidFill>
            <a:prstDash val="solid"/>
          </a:ln>
        </p:spPr>
      </p:sp>
      <p:sp>
        <p:nvSpPr>
          <p:cNvPr id="18" name="Shape 13"/>
          <p:cNvSpPr/>
          <p:nvPr/>
        </p:nvSpPr>
        <p:spPr>
          <a:xfrm>
            <a:off x="5074920" y="5692140"/>
            <a:ext cx="457200" cy="457200"/>
          </a:xfrm>
          <a:prstGeom prst="ellipse">
            <a:avLst/>
          </a:prstGeom>
          <a:solidFill>
            <a:srgbClr val="C0392B"/>
          </a:solidFill>
          <a:ln/>
        </p:spPr>
      </p:sp>
      <p:pic>
        <p:nvPicPr>
          <p:cNvPr id="19" name="Image 1" descr="preencoded.png">    </p:cNvPr>
          <p:cNvPicPr>
            <a:picLocks noChangeAspect="1"/>
          </p:cNvPicPr>
          <p:nvPr/>
        </p:nvPicPr>
        <p:blipFill>
          <a:blip r:embed="rId2"/>
          <a:stretch>
            <a:fillRect/>
          </a:stretch>
        </p:blipFill>
        <p:spPr>
          <a:xfrm>
            <a:off x="5175504" y="5792724"/>
            <a:ext cx="256032" cy="256032"/>
          </a:xfrm>
          <a:prstGeom prst="rect">
            <a:avLst/>
          </a:prstGeom>
        </p:spPr>
      </p:pic>
      <p:sp>
        <p:nvSpPr>
          <p:cNvPr id="20" name="Text 14"/>
          <p:cNvSpPr txBox="1"/>
          <p:nvPr/>
        </p:nvSpPr>
        <p:spPr>
          <a:xfrm>
            <a:off x="5669280" y="5577840"/>
            <a:ext cx="5925312" cy="685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「あと24回できる」とは保証できない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3347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AIサービスと使用量</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使用量は質問1回で一定ではなく、条件で大きく変わる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使用量は、モデル・入出力の量・添付ファイル・ツールの結果・反復回数などで大きく変わります。質問1回あたりの固定料金はありません。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出典：[N01] [N02] [N03]</a:t>
            </a:r>
            <a:endParaRPr lang="ja-JP" sz="1200" dirty="0"/>
          </a:p>
        </p:txBody>
      </p:sp>
      <p:sp>
        <p:nvSpPr>
          <p:cNvPr id="8" name="Shape 5"/>
          <p:cNvSpPr/>
          <p:nvPr/>
        </p:nvSpPr>
        <p:spPr>
          <a:xfrm>
            <a:off x="457200" y="1737360"/>
            <a:ext cx="2697480" cy="1051560"/>
          </a:xfrm>
          <a:prstGeom prst="roundRect">
            <a:avLst>
              <a:gd name="adj" fmla="val 10435"/>
            </a:avLst>
          </a:prstGeom>
          <a:solidFill>
            <a:srgbClr val="E6E1F7"/>
          </a:solidFill>
          <a:ln w="25400">
            <a:solidFill>
              <a:srgbClr val="5B46B8"/>
            </a:solidFill>
            <a:prstDash val="solid"/>
          </a:ln>
        </p:spPr>
      </p:sp>
      <p:sp>
        <p:nvSpPr>
          <p:cNvPr id="9" name="Text 6"/>
          <p:cNvSpPr txBox="1"/>
          <p:nvPr/>
        </p:nvSpPr>
        <p:spPr>
          <a:xfrm>
            <a:off x="548640" y="1737360"/>
            <a:ext cx="251460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モデルの種類</a:t>
            </a:r>
            <a:endParaRPr lang="en-US" sz="2000" dirty="0"/>
          </a:p>
        </p:txBody>
      </p:sp>
      <p:sp>
        <p:nvSpPr>
          <p:cNvPr id="10" name="Shape 7"/>
          <p:cNvSpPr/>
          <p:nvPr/>
        </p:nvSpPr>
        <p:spPr>
          <a:xfrm>
            <a:off x="3316529" y="1737360"/>
            <a:ext cx="2697480" cy="1051560"/>
          </a:xfrm>
          <a:prstGeom prst="roundRect">
            <a:avLst>
              <a:gd name="adj" fmla="val 10435"/>
            </a:avLst>
          </a:prstGeom>
          <a:solidFill>
            <a:srgbClr val="E6E1F7"/>
          </a:solidFill>
          <a:ln w="25400">
            <a:solidFill>
              <a:srgbClr val="5B46B8"/>
            </a:solidFill>
            <a:prstDash val="solid"/>
          </a:ln>
        </p:spPr>
      </p:sp>
      <p:sp>
        <p:nvSpPr>
          <p:cNvPr id="11" name="Text 8"/>
          <p:cNvSpPr txBox="1"/>
          <p:nvPr/>
        </p:nvSpPr>
        <p:spPr>
          <a:xfrm>
            <a:off x="3407969" y="1737360"/>
            <a:ext cx="251460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入力・出力の量</a:t>
            </a:r>
            <a:endParaRPr lang="en-US" sz="2000" dirty="0"/>
          </a:p>
        </p:txBody>
      </p:sp>
      <p:sp>
        <p:nvSpPr>
          <p:cNvPr id="12" name="Shape 9"/>
          <p:cNvSpPr/>
          <p:nvPr/>
        </p:nvSpPr>
        <p:spPr>
          <a:xfrm>
            <a:off x="6175858" y="1737360"/>
            <a:ext cx="2697480" cy="1051560"/>
          </a:xfrm>
          <a:prstGeom prst="roundRect">
            <a:avLst>
              <a:gd name="adj" fmla="val 10435"/>
            </a:avLst>
          </a:prstGeom>
          <a:solidFill>
            <a:srgbClr val="E6E1F7"/>
          </a:solidFill>
          <a:ln w="25400">
            <a:solidFill>
              <a:srgbClr val="5B46B8"/>
            </a:solidFill>
            <a:prstDash val="solid"/>
          </a:ln>
        </p:spPr>
      </p:sp>
      <p:sp>
        <p:nvSpPr>
          <p:cNvPr id="13" name="Text 10"/>
          <p:cNvSpPr txBox="1"/>
          <p:nvPr/>
        </p:nvSpPr>
        <p:spPr>
          <a:xfrm>
            <a:off x="6267298" y="1737360"/>
            <a:ext cx="251460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会話・添付ファイル</a:t>
            </a:r>
            <a:endParaRPr lang="en-US" sz="2000" dirty="0"/>
          </a:p>
        </p:txBody>
      </p:sp>
      <p:sp>
        <p:nvSpPr>
          <p:cNvPr id="14" name="Shape 11"/>
          <p:cNvSpPr/>
          <p:nvPr/>
        </p:nvSpPr>
        <p:spPr>
          <a:xfrm>
            <a:off x="9035186" y="1737360"/>
            <a:ext cx="2697480" cy="1051560"/>
          </a:xfrm>
          <a:prstGeom prst="roundRect">
            <a:avLst>
              <a:gd name="adj" fmla="val 10435"/>
            </a:avLst>
          </a:prstGeom>
          <a:solidFill>
            <a:srgbClr val="E6E1F7"/>
          </a:solidFill>
          <a:ln w="25400">
            <a:solidFill>
              <a:srgbClr val="5B46B8"/>
            </a:solidFill>
            <a:prstDash val="solid"/>
          </a:ln>
        </p:spPr>
      </p:sp>
      <p:sp>
        <p:nvSpPr>
          <p:cNvPr id="15" name="Text 12"/>
          <p:cNvSpPr txBox="1"/>
          <p:nvPr/>
        </p:nvSpPr>
        <p:spPr>
          <a:xfrm>
            <a:off x="9126626" y="1737360"/>
            <a:ext cx="251460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ツールの結果</a:t>
            </a:r>
            <a:endParaRPr lang="en-US" sz="2000" dirty="0"/>
          </a:p>
        </p:txBody>
      </p:sp>
      <p:sp>
        <p:nvSpPr>
          <p:cNvPr id="16" name="Shape 13"/>
          <p:cNvSpPr/>
          <p:nvPr/>
        </p:nvSpPr>
        <p:spPr>
          <a:xfrm>
            <a:off x="457200" y="2971800"/>
            <a:ext cx="3611880" cy="1051560"/>
          </a:xfrm>
          <a:prstGeom prst="roundRect">
            <a:avLst>
              <a:gd name="adj" fmla="val 10435"/>
            </a:avLst>
          </a:prstGeom>
          <a:solidFill>
            <a:srgbClr val="E6E1F7"/>
          </a:solidFill>
          <a:ln w="25400">
            <a:solidFill>
              <a:srgbClr val="5B46B8"/>
            </a:solidFill>
            <a:prstDash val="solid"/>
          </a:ln>
        </p:spPr>
      </p:sp>
      <p:sp>
        <p:nvSpPr>
          <p:cNvPr id="17" name="Text 14"/>
          <p:cNvSpPr txBox="1"/>
          <p:nvPr/>
        </p:nvSpPr>
        <p:spPr>
          <a:xfrm>
            <a:off x="548640" y="2971800"/>
            <a:ext cx="342900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推論の強さ・速度設定</a:t>
            </a:r>
            <a:endParaRPr lang="en-US" sz="2000" dirty="0"/>
          </a:p>
        </p:txBody>
      </p:sp>
      <p:sp>
        <p:nvSpPr>
          <p:cNvPr id="18" name="Shape 15"/>
          <p:cNvSpPr/>
          <p:nvPr/>
        </p:nvSpPr>
        <p:spPr>
          <a:xfrm>
            <a:off x="4288536" y="2971800"/>
            <a:ext cx="3611880" cy="1051560"/>
          </a:xfrm>
          <a:prstGeom prst="roundRect">
            <a:avLst>
              <a:gd name="adj" fmla="val 10435"/>
            </a:avLst>
          </a:prstGeom>
          <a:solidFill>
            <a:srgbClr val="E6E1F7"/>
          </a:solidFill>
          <a:ln w="25400">
            <a:solidFill>
              <a:srgbClr val="5B46B8"/>
            </a:solidFill>
            <a:prstDash val="solid"/>
          </a:ln>
        </p:spPr>
      </p:sp>
      <p:sp>
        <p:nvSpPr>
          <p:cNvPr id="19" name="Text 16"/>
          <p:cNvSpPr txBox="1"/>
          <p:nvPr/>
        </p:nvSpPr>
        <p:spPr>
          <a:xfrm>
            <a:off x="4379976" y="2971800"/>
            <a:ext cx="342900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反復・修正の回数</a:t>
            </a:r>
            <a:endParaRPr lang="en-US" sz="2000" dirty="0"/>
          </a:p>
        </p:txBody>
      </p:sp>
      <p:sp>
        <p:nvSpPr>
          <p:cNvPr id="20" name="Shape 17"/>
          <p:cNvSpPr/>
          <p:nvPr/>
        </p:nvSpPr>
        <p:spPr>
          <a:xfrm>
            <a:off x="8119872" y="2971800"/>
            <a:ext cx="3611880" cy="1051560"/>
          </a:xfrm>
          <a:prstGeom prst="roundRect">
            <a:avLst>
              <a:gd name="adj" fmla="val 10435"/>
            </a:avLst>
          </a:prstGeom>
          <a:solidFill>
            <a:srgbClr val="E6E1F7"/>
          </a:solidFill>
          <a:ln w="25400">
            <a:solidFill>
              <a:srgbClr val="5B46B8"/>
            </a:solidFill>
            <a:prstDash val="solid"/>
          </a:ln>
        </p:spPr>
      </p:sp>
      <p:sp>
        <p:nvSpPr>
          <p:cNvPr id="21" name="Text 18"/>
          <p:cNvSpPr txBox="1"/>
          <p:nvPr/>
        </p:nvSpPr>
        <p:spPr>
          <a:xfrm>
            <a:off x="8211312" y="2971800"/>
            <a:ext cx="3429000" cy="10515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キャッシュの再利用</a:t>
            </a:r>
            <a:endParaRPr lang="en-US" sz="2000" dirty="0"/>
          </a:p>
        </p:txBody>
      </p:sp>
      <p:sp>
        <p:nvSpPr>
          <p:cNvPr id="22" name="Shape 19"/>
          <p:cNvSpPr/>
          <p:nvPr/>
        </p:nvSpPr>
        <p:spPr>
          <a:xfrm>
            <a:off x="457200" y="4343400"/>
            <a:ext cx="5532120" cy="1920240"/>
          </a:xfrm>
          <a:prstGeom prst="roundRect">
            <a:avLst>
              <a:gd name="adj" fmla="val 5714"/>
            </a:avLst>
          </a:prstGeom>
          <a:solidFill>
            <a:srgbClr val="DCE8F8"/>
          </a:solidFill>
          <a:ln w="19050">
            <a:solidFill>
              <a:srgbClr val="2F6BC2"/>
            </a:solidFill>
            <a:prstDash val="solid"/>
          </a:ln>
        </p:spPr>
      </p:sp>
      <p:sp>
        <p:nvSpPr>
          <p:cNvPr id="23" name="Shape 20"/>
          <p:cNvSpPr/>
          <p:nvPr/>
        </p:nvSpPr>
        <p:spPr>
          <a:xfrm>
            <a:off x="594360" y="5074920"/>
            <a:ext cx="457200" cy="457200"/>
          </a:xfrm>
          <a:prstGeom prst="ellipse">
            <a:avLst/>
          </a:prstGeom>
          <a:solidFill>
            <a:srgbClr val="2F6BC2"/>
          </a:solidFill>
          <a:ln/>
        </p:spPr>
      </p:sp>
      <p:pic>
        <p:nvPicPr>
          <p:cNvPr id="24" name="Image 0" descr="preencoded.png">    </p:cNvPr>
          <p:cNvPicPr>
            <a:picLocks noChangeAspect="1"/>
          </p:cNvPicPr>
          <p:nvPr/>
        </p:nvPicPr>
        <p:blipFill>
          <a:blip r:embed="rId1"/>
          <a:stretch>
            <a:fillRect/>
          </a:stretch>
        </p:blipFill>
        <p:spPr>
          <a:xfrm>
            <a:off x="694944" y="5175504"/>
            <a:ext cx="256032" cy="256032"/>
          </a:xfrm>
          <a:prstGeom prst="rect">
            <a:avLst/>
          </a:prstGeom>
        </p:spPr>
      </p:pic>
      <p:sp>
        <p:nvSpPr>
          <p:cNvPr id="25" name="Text 21"/>
          <p:cNvSpPr txBox="1"/>
          <p:nvPr/>
        </p:nvSpPr>
        <p:spPr>
          <a:xfrm>
            <a:off x="1188720" y="4389120"/>
            <a:ext cx="4663440" cy="1828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調べ物が広くても、全文を何度も入力に使うとは限らない。待ち時間＝モデル計算の長さでもない</a:t>
            </a:r>
            <a:endParaRPr lang="en-US" sz="1800" dirty="0"/>
          </a:p>
        </p:txBody>
      </p:sp>
      <p:sp>
        <p:nvSpPr>
          <p:cNvPr id="26" name="Shape 22"/>
          <p:cNvSpPr/>
          <p:nvPr/>
        </p:nvSpPr>
        <p:spPr>
          <a:xfrm>
            <a:off x="6199632" y="4343400"/>
            <a:ext cx="5532120" cy="1920240"/>
          </a:xfrm>
          <a:prstGeom prst="roundRect">
            <a:avLst>
              <a:gd name="adj" fmla="val 5714"/>
            </a:avLst>
          </a:prstGeom>
          <a:solidFill>
            <a:srgbClr val="FBE3E0"/>
          </a:solidFill>
          <a:ln w="19050">
            <a:solidFill>
              <a:srgbClr val="C0392B"/>
            </a:solidFill>
            <a:prstDash val="solid"/>
          </a:ln>
        </p:spPr>
      </p:sp>
      <p:sp>
        <p:nvSpPr>
          <p:cNvPr id="27" name="Shape 23"/>
          <p:cNvSpPr/>
          <p:nvPr/>
        </p:nvSpPr>
        <p:spPr>
          <a:xfrm>
            <a:off x="6336792" y="5074920"/>
            <a:ext cx="457200" cy="457200"/>
          </a:xfrm>
          <a:prstGeom prst="ellipse">
            <a:avLst/>
          </a:prstGeom>
          <a:solidFill>
            <a:srgbClr val="C0392B"/>
          </a:solidFill>
          <a:ln/>
        </p:spPr>
      </p:sp>
      <p:pic>
        <p:nvPicPr>
          <p:cNvPr id="28" name="Image 1" descr="preencoded.png">    </p:cNvPr>
          <p:cNvPicPr>
            <a:picLocks noChangeAspect="1"/>
          </p:cNvPicPr>
          <p:nvPr/>
        </p:nvPicPr>
        <p:blipFill>
          <a:blip r:embed="rId2"/>
          <a:stretch>
            <a:fillRect/>
          </a:stretch>
        </p:blipFill>
        <p:spPr>
          <a:xfrm>
            <a:off x="6437376" y="5175504"/>
            <a:ext cx="256032" cy="256032"/>
          </a:xfrm>
          <a:prstGeom prst="rect">
            <a:avLst/>
          </a:prstGeom>
        </p:spPr>
      </p:pic>
      <p:sp>
        <p:nvSpPr>
          <p:cNvPr id="29" name="Text 24"/>
          <p:cNvSpPr txBox="1"/>
          <p:nvPr/>
        </p:nvSpPr>
        <p:spPr>
          <a:xfrm>
            <a:off x="6931152" y="4389120"/>
            <a:ext cx="4663440" cy="1828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Sol・キャッシュ・分母が大きい等で割合が小さく見える可能性。ただし今回の内訳は断定できない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3347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AIサービスと使用量</a:t>
            </a:r>
            <a:endParaRPr lang="ja-JP" sz="1400" dirty="0"/>
          </a:p>
        </p:txBody>
      </p:sp>
      <p:sp>
        <p:nvSpPr>
          <p:cNvPr id="3" name="Text 1"/>
          <p:cNvSpPr txBox="1"/>
          <p:nvPr/>
        </p:nvSpPr>
        <p:spPr>
          <a:xfrm>
            <a:off x="10256215" y="237744"/>
            <a:ext cx="1478280" cy="310896"/>
          </a:xfrm>
          <a:prstGeom prst="roundRect">
            <a:avLst>
              <a:gd name="adj" fmla="val 50000"/>
            </a:avLst>
          </a:prstGeom>
          <a:solidFill>
            <a:srgbClr val="FBE3E0"/>
          </a:solidFill>
          <a:ln w="9525">
            <a:solidFill>
              <a:srgbClr val="7F1D1D"/>
            </a:solidFill>
          </a:ln>
        </p:spPr>
        <p:txBody>
          <a:bodyPr wrap="square" lIns="0" tIns="0" rIns="0" bIns="0" rtlCol="0" anchor="ctr"/>
          <a:lstStyle/>
          <a:p>
            <a:pPr algn="ctr" indent="0" marL="0">
              <a:buNone/>
            </a:pPr>
            <a:r>
              <a:rPr lang="ja-JP" altLang="en-US" sz="1400" b="1" dirty="0">
                <a:solidFill>
                  <a:srgbClr val="7F1D1D"/>
                </a:solidFill>
                <a:latin typeface="Yu Gothic" pitchFamily="34" charset="0"/>
                <a:ea typeface="Yu Gothic" pitchFamily="34" charset="-122"/>
                <a:cs typeface="Yu Gothic" pitchFamily="34" charset="-120"/>
              </a:rPr>
              <a:t>仮定の算数例</a:t>
            </a:r>
            <a:endParaRPr lang="ja-JP" sz="1400" dirty="0"/>
          </a:p>
        </p:txBody>
      </p:sp>
      <p:sp>
        <p:nvSpPr>
          <p:cNvPr id="4" name="Text 2"/>
          <p:cNvSpPr txBox="1"/>
          <p:nvPr/>
        </p:nvSpPr>
        <p:spPr>
          <a:xfrm>
            <a:off x="84904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Workのクレジットは、APIの米ドル価格とは別の表</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Workのクレジットは、使った分だけ消費する単位で、APIの米ドル価格とは別の表です。下のグラフは「入力2万＋出力1万トークン」と仮定した計算例です。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出典：[N01] [N03]</a:t>
            </a:r>
            <a:endParaRPr lang="ja-JP" sz="1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3108960"/>
                <a:gridCol w="2651760"/>
                <a:gridCol w="3017520"/>
                <a:gridCol w="24963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モデル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入力100万</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キャッシュ入力100万</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出力100万</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GPT-6.1 Sol</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50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250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GPT-6 Astra</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250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1,250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GPT-6 Luna</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0.25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12.5 credits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0" name="Chart 0" descr=""/>
          <p:cNvGraphicFramePr/>
          <p:nvPr/>
        </p:nvGraphicFramePr>
        <p:xfrm>
          <a:off x="457200" y="3703320"/>
          <a:ext cx="6035040" cy="2606040"/>
        </p:xfrm>
        <a:graphic xmlns:a="http://schemas.openxmlformats.org/drawingml/2006/main">
          <a:graphicData uri="http://schemas.openxmlformats.org/drawingml/2006/chart">
            <c:chart xmlns:c="http://schemas.openxmlformats.org/drawingml/2006/chart" r:id="rId1"/>
          </a:graphicData>
        </a:graphic>
      </p:graphicFrame>
      <p:sp>
        <p:nvSpPr>
          <p:cNvPr id="11" name="Shape 6"/>
          <p:cNvSpPr/>
          <p:nvPr/>
        </p:nvSpPr>
        <p:spPr>
          <a:xfrm>
            <a:off x="6766560" y="3703320"/>
            <a:ext cx="4965192" cy="1234440"/>
          </a:xfrm>
          <a:prstGeom prst="roundRect">
            <a:avLst>
              <a:gd name="adj" fmla="val 8889"/>
            </a:avLst>
          </a:prstGeom>
          <a:solidFill>
            <a:srgbClr val="FBE3E0"/>
          </a:solidFill>
          <a:ln w="19050">
            <a:solidFill>
              <a:srgbClr val="C0392B"/>
            </a:solidFill>
            <a:prstDash val="solid"/>
          </a:ln>
        </p:spPr>
      </p:sp>
      <p:sp>
        <p:nvSpPr>
          <p:cNvPr id="12" name="Shape 7"/>
          <p:cNvSpPr/>
          <p:nvPr/>
        </p:nvSpPr>
        <p:spPr>
          <a:xfrm>
            <a:off x="6903720" y="4091940"/>
            <a:ext cx="457200" cy="457200"/>
          </a:xfrm>
          <a:prstGeom prst="ellipse">
            <a:avLst/>
          </a:prstGeom>
          <a:solidFill>
            <a:srgbClr val="C0392B"/>
          </a:solidFill>
          <a:ln/>
        </p:spPr>
      </p:sp>
      <p:pic>
        <p:nvPicPr>
          <p:cNvPr id="13" name="Image 0" descr="preencoded.png">    </p:cNvPr>
          <p:cNvPicPr>
            <a:picLocks noChangeAspect="1"/>
          </p:cNvPicPr>
          <p:nvPr/>
        </p:nvPicPr>
        <p:blipFill>
          <a:blip r:embed="rId2"/>
          <a:stretch>
            <a:fillRect/>
          </a:stretch>
        </p:blipFill>
        <p:spPr>
          <a:xfrm>
            <a:off x="7004304" y="4192524"/>
            <a:ext cx="256032" cy="256032"/>
          </a:xfrm>
          <a:prstGeom prst="rect">
            <a:avLst/>
          </a:prstGeom>
        </p:spPr>
      </p:pic>
      <p:sp>
        <p:nvSpPr>
          <p:cNvPr id="14" name="Text 8"/>
          <p:cNvSpPr txBox="1"/>
          <p:nvPr/>
        </p:nvSpPr>
        <p:spPr>
          <a:xfrm>
            <a:off x="7498080" y="3749040"/>
            <a:ext cx="4096512" cy="11430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実測値ではない。モデルごとに使うトークン数は違い得る</a:t>
            </a:r>
            <a:endParaRPr lang="en-US" sz="1800" dirty="0"/>
          </a:p>
        </p:txBody>
      </p:sp>
      <p:sp>
        <p:nvSpPr>
          <p:cNvPr id="15" name="Shape 9"/>
          <p:cNvSpPr/>
          <p:nvPr/>
        </p:nvSpPr>
        <p:spPr>
          <a:xfrm>
            <a:off x="6766560" y="5074920"/>
            <a:ext cx="4965192" cy="1234440"/>
          </a:xfrm>
          <a:prstGeom prst="roundRect">
            <a:avLst>
              <a:gd name="adj" fmla="val 8889"/>
            </a:avLst>
          </a:prstGeom>
          <a:solidFill>
            <a:srgbClr val="FBE3E0"/>
          </a:solidFill>
          <a:ln w="19050">
            <a:solidFill>
              <a:srgbClr val="C0392B"/>
            </a:solidFill>
            <a:prstDash val="solid"/>
          </a:ln>
        </p:spPr>
      </p:sp>
      <p:sp>
        <p:nvSpPr>
          <p:cNvPr id="16" name="Shape 10"/>
          <p:cNvSpPr/>
          <p:nvPr/>
        </p:nvSpPr>
        <p:spPr>
          <a:xfrm>
            <a:off x="6903720" y="5463540"/>
            <a:ext cx="457200" cy="457200"/>
          </a:xfrm>
          <a:prstGeom prst="ellipse">
            <a:avLst/>
          </a:prstGeom>
          <a:solidFill>
            <a:srgbClr val="C0392B"/>
          </a:solidFill>
          <a:ln/>
        </p:spPr>
      </p:sp>
      <p:pic>
        <p:nvPicPr>
          <p:cNvPr id="17" name="Image 1" descr="preencoded.png">    </p:cNvPr>
          <p:cNvPicPr>
            <a:picLocks noChangeAspect="1"/>
          </p:cNvPicPr>
          <p:nvPr/>
        </p:nvPicPr>
        <p:blipFill>
          <a:blip r:embed="rId3"/>
          <a:stretch>
            <a:fillRect/>
          </a:stretch>
        </p:blipFill>
        <p:spPr>
          <a:xfrm>
            <a:off x="7004304" y="5564124"/>
            <a:ext cx="256032" cy="256032"/>
          </a:xfrm>
          <a:prstGeom prst="rect">
            <a:avLst/>
          </a:prstGeom>
        </p:spPr>
      </p:pic>
      <p:sp>
        <p:nvSpPr>
          <p:cNvPr id="18" name="Text 11"/>
          <p:cNvSpPr txBox="1"/>
          <p:nvPr/>
        </p:nvSpPr>
        <p:spPr>
          <a:xfrm>
            <a:off x="7498080" y="5120640"/>
            <a:ext cx="4096512" cy="11430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個人プランの使用率は、この表だけで計算できない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3347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AIサービスと使用量</a:t>
            </a:r>
            <a:endParaRPr lang="ja-JP" sz="1400" dirty="0"/>
          </a:p>
        </p:txBody>
      </p:sp>
      <p:sp>
        <p:nvSpPr>
          <p:cNvPr id="3" name="Text 1"/>
          <p:cNvSpPr txBox="1"/>
          <p:nvPr/>
        </p:nvSpPr>
        <p:spPr>
          <a:xfrm>
            <a:off x="10256215" y="237744"/>
            <a:ext cx="1478280" cy="310896"/>
          </a:xfrm>
          <a:prstGeom prst="roundRect">
            <a:avLst>
              <a:gd name="adj" fmla="val 50000"/>
            </a:avLst>
          </a:prstGeom>
          <a:solidFill>
            <a:srgbClr val="FBE3E0"/>
          </a:solidFill>
          <a:ln w="9525">
            <a:solidFill>
              <a:srgbClr val="7F1D1D"/>
            </a:solidFill>
          </a:ln>
        </p:spPr>
        <p:txBody>
          <a:bodyPr wrap="square" lIns="0" tIns="0" rIns="0" bIns="0" rtlCol="0" anchor="ctr"/>
          <a:lstStyle/>
          <a:p>
            <a:pPr algn="ctr" indent="0" marL="0">
              <a:buNone/>
            </a:pPr>
            <a:r>
              <a:rPr lang="ja-JP" altLang="en-US" sz="1400" b="1" dirty="0">
                <a:solidFill>
                  <a:srgbClr val="7F1D1D"/>
                </a:solidFill>
                <a:latin typeface="Yu Gothic" pitchFamily="34" charset="0"/>
                <a:ea typeface="Yu Gothic" pitchFamily="34" charset="-122"/>
                <a:cs typeface="Yu Gothic" pitchFamily="34" charset="-120"/>
              </a:rPr>
              <a:t>仮定の算数例</a:t>
            </a:r>
            <a:endParaRPr lang="ja-JP" sz="1400" dirty="0"/>
          </a:p>
        </p:txBody>
      </p:sp>
      <p:sp>
        <p:nvSpPr>
          <p:cNvPr id="4" name="Text 2"/>
          <p:cNvSpPr txBox="1"/>
          <p:nvPr/>
        </p:nvSpPr>
        <p:spPr>
          <a:xfrm>
            <a:off x="84904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APIの料金は米ドルで、トークン数から計算する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API料金は「入力トークン×単価＋出力トークン×単価」で計算し、単位は100万トークンあたりの米ドルです。下のグラフは、仮定した計算の例です。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出典：[N11] [N12]</a:t>
            </a:r>
            <a:endParaRPr lang="ja-JP"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6400800" cy="914400"/>
        </p:xfrm>
        <a:graphic>
          <a:graphicData uri="http://schemas.openxmlformats.org/drawingml/2006/table">
            <a:tbl>
              <a:tblPr/>
              <a:tblGrid>
                <a:gridCol w="2743200"/>
                <a:gridCol w="1097280"/>
                <a:gridCol w="1097280"/>
                <a:gridCol w="146304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モデル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入力</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出力</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仮定の例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GPT-6.1 Sol</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$0.14</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GPT-6 Astra</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$0.70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GPT-6 Luna</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$0.10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$0.50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$0.007</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Claude Opus 5.5</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$0.28</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Claude Sonnet 5.5</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$0.14</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Claude Haiku 4.5</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$0.07</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graphicFrame>
        <p:nvGraphicFramePr>
          <p:cNvPr id="10" name="Chart 0" descr=""/>
          <p:cNvGraphicFramePr/>
          <p:nvPr/>
        </p:nvGraphicFramePr>
        <p:xfrm>
          <a:off x="7040880" y="1691640"/>
          <a:ext cx="4690872" cy="3611880"/>
        </p:xfrm>
        <a:graphic xmlns:a="http://schemas.openxmlformats.org/drawingml/2006/main">
          <a:graphicData uri="http://schemas.openxmlformats.org/drawingml/2006/chart">
            <c:chart xmlns:c="http://schemas.openxmlformats.org/drawingml/2006/chart" r:id="rId1"/>
          </a:graphicData>
        </a:graphic>
      </p:graphicFrame>
      <p:sp>
        <p:nvSpPr>
          <p:cNvPr id="11" name="Shape 6"/>
          <p:cNvSpPr/>
          <p:nvPr/>
        </p:nvSpPr>
        <p:spPr>
          <a:xfrm>
            <a:off x="457200" y="5440680"/>
            <a:ext cx="11274552" cy="868680"/>
          </a:xfrm>
          <a:prstGeom prst="roundRect">
            <a:avLst>
              <a:gd name="adj" fmla="val 12632"/>
            </a:avLst>
          </a:prstGeom>
          <a:solidFill>
            <a:srgbClr val="FBE3E0"/>
          </a:solidFill>
          <a:ln w="19050">
            <a:solidFill>
              <a:srgbClr val="C0392B"/>
            </a:solidFill>
            <a:prstDash val="solid"/>
          </a:ln>
        </p:spPr>
      </p:sp>
      <p:sp>
        <p:nvSpPr>
          <p:cNvPr id="12" name="Shape 7"/>
          <p:cNvSpPr/>
          <p:nvPr/>
        </p:nvSpPr>
        <p:spPr>
          <a:xfrm>
            <a:off x="594360" y="5646420"/>
            <a:ext cx="457200" cy="457200"/>
          </a:xfrm>
          <a:prstGeom prst="ellipse">
            <a:avLst/>
          </a:prstGeom>
          <a:solidFill>
            <a:srgbClr val="C0392B"/>
          </a:solidFill>
          <a:ln/>
        </p:spPr>
      </p:sp>
      <p:pic>
        <p:nvPicPr>
          <p:cNvPr id="13" name="Image 0" descr="preencoded.png">    </p:cNvPr>
          <p:cNvPicPr>
            <a:picLocks noChangeAspect="1"/>
          </p:cNvPicPr>
          <p:nvPr/>
        </p:nvPicPr>
        <p:blipFill>
          <a:blip r:embed="rId2"/>
          <a:stretch>
            <a:fillRect/>
          </a:stretch>
        </p:blipFill>
        <p:spPr>
          <a:xfrm>
            <a:off x="694944" y="5747004"/>
            <a:ext cx="256032" cy="256032"/>
          </a:xfrm>
          <a:prstGeom prst="rect">
            <a:avLst/>
          </a:prstGeom>
        </p:spPr>
      </p:pic>
      <p:sp>
        <p:nvSpPr>
          <p:cNvPr id="14" name="Text 8"/>
          <p:cNvSpPr txBox="1"/>
          <p:nvPr/>
        </p:nvSpPr>
        <p:spPr>
          <a:xfrm>
            <a:off x="1188720" y="5486400"/>
            <a:ext cx="10405872" cy="7772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計算式：入力÷100万×入力単価＋出力÷100万×出力単価。実費ではなく算数の例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3347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AIサービスと使用量</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普段は中位モデル、難所で上位、単純作業で軽量を試す</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まず普段使いのモデルで進め、行き詰まる難所だけ上位モデルを試し、単純作業は軽量モデルに任せる、という使い分けの提案です。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出典：[N03] [N06] [N10]</a:t>
            </a:r>
            <a:endParaRPr lang="ja-JP" sz="1200" dirty="0"/>
          </a:p>
        </p:txBody>
      </p:sp>
      <p:sp>
        <p:nvSpPr>
          <p:cNvPr id="8" name="Shape 5"/>
          <p:cNvSpPr/>
          <p:nvPr/>
        </p:nvSpPr>
        <p:spPr>
          <a:xfrm>
            <a:off x="457200" y="1691640"/>
            <a:ext cx="5486400" cy="1188720"/>
          </a:xfrm>
          <a:prstGeom prst="roundRect">
            <a:avLst>
              <a:gd name="adj" fmla="val 9231"/>
            </a:avLst>
          </a:prstGeom>
          <a:solidFill>
            <a:srgbClr val="5B46B8"/>
          </a:solidFill>
          <a:ln/>
        </p:spPr>
      </p:sp>
      <p:sp>
        <p:nvSpPr>
          <p:cNvPr id="9" name="Text 6"/>
          <p:cNvSpPr txBox="1"/>
          <p:nvPr/>
        </p:nvSpPr>
        <p:spPr>
          <a:xfrm>
            <a:off x="548640" y="1691640"/>
            <a:ext cx="5303520" cy="118872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① 普段：Sol／Sonnet</a:t>
            </a:r>
            <a:endParaRPr lang="en-US" sz="2200" dirty="0"/>
          </a:p>
          <a:p>
            <a:pPr algn="ctr" indent="0" marL="0">
              <a:lnSpc>
                <a:spcPts val="2600"/>
              </a:lnSpc>
              <a:buNone/>
            </a:pPr>
            <a:r>
              <a:rPr lang="ja-JP" altLang="en-US" sz="2000" dirty="0">
                <a:solidFill>
                  <a:srgbClr val="F1F5F9"/>
                </a:solidFill>
                <a:latin typeface="Yu Gothic" pitchFamily="34" charset="0"/>
                <a:ea typeface="Yu Gothic" pitchFamily="34" charset="-122"/>
                <a:cs typeface="Yu Gothic" pitchFamily="34" charset="-120"/>
              </a:rPr>
              <a:t>学習原稿・資料作成・実習支援</a:t>
            </a:r>
            <a:endParaRPr lang="en-US" sz="2200" dirty="0"/>
          </a:p>
        </p:txBody>
      </p:sp>
      <p:sp>
        <p:nvSpPr>
          <p:cNvPr id="10" name="Shape 7"/>
          <p:cNvSpPr/>
          <p:nvPr/>
        </p:nvSpPr>
        <p:spPr>
          <a:xfrm>
            <a:off x="3200400" y="2880360"/>
            <a:ext cx="0" cy="365760"/>
          </a:xfrm>
          <a:prstGeom prst="line">
            <a:avLst/>
          </a:prstGeom>
          <a:noFill/>
          <a:ln w="38100">
            <a:solidFill>
              <a:srgbClr val="1B2A3A"/>
            </a:solidFill>
            <a:prstDash val="solid"/>
            <a:tailEnd type="triangle"/>
          </a:ln>
        </p:spPr>
      </p:sp>
      <p:sp>
        <p:nvSpPr>
          <p:cNvPr id="11" name="Shape 8"/>
          <p:cNvSpPr/>
          <p:nvPr/>
        </p:nvSpPr>
        <p:spPr>
          <a:xfrm>
            <a:off x="457200" y="3246120"/>
            <a:ext cx="5486400" cy="1188720"/>
          </a:xfrm>
          <a:prstGeom prst="roundRect">
            <a:avLst>
              <a:gd name="adj" fmla="val 9231"/>
            </a:avLst>
          </a:prstGeom>
          <a:solidFill>
            <a:srgbClr val="2F6BC2"/>
          </a:solidFill>
          <a:ln/>
        </p:spPr>
      </p:sp>
      <p:sp>
        <p:nvSpPr>
          <p:cNvPr id="12" name="Text 9"/>
          <p:cNvSpPr txBox="1"/>
          <p:nvPr/>
        </p:nvSpPr>
        <p:spPr>
          <a:xfrm>
            <a:off x="548640" y="3246120"/>
            <a:ext cx="5303520" cy="118872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② 難所：Astra／Opus</a:t>
            </a:r>
            <a:endParaRPr lang="en-US" sz="2200" dirty="0"/>
          </a:p>
          <a:p>
            <a:pPr algn="ctr" indent="0" marL="0">
              <a:lnSpc>
                <a:spcPts val="2600"/>
              </a:lnSpc>
              <a:buNone/>
            </a:pPr>
            <a:r>
              <a:rPr lang="ja-JP" altLang="en-US" sz="2000" dirty="0">
                <a:solidFill>
                  <a:srgbClr val="F1F5F9"/>
                </a:solidFill>
                <a:latin typeface="Yu Gothic" pitchFamily="34" charset="0"/>
                <a:ea typeface="Yu Gothic" pitchFamily="34" charset="-122"/>
                <a:cs typeface="Yu Gothic" pitchFamily="34" charset="-120"/>
              </a:rPr>
              <a:t>曖昧・矛盾・品質に不満なとき</a:t>
            </a:r>
            <a:endParaRPr lang="en-US" sz="2200" dirty="0"/>
          </a:p>
        </p:txBody>
      </p:sp>
      <p:sp>
        <p:nvSpPr>
          <p:cNvPr id="13" name="Shape 10"/>
          <p:cNvSpPr/>
          <p:nvPr/>
        </p:nvSpPr>
        <p:spPr>
          <a:xfrm>
            <a:off x="457200" y="4709160"/>
            <a:ext cx="5486400" cy="1188720"/>
          </a:xfrm>
          <a:prstGeom prst="roundRect">
            <a:avLst>
              <a:gd name="adj" fmla="val 9231"/>
            </a:avLst>
          </a:prstGeom>
          <a:solidFill>
            <a:srgbClr val="237A48"/>
          </a:solidFill>
          <a:ln/>
        </p:spPr>
      </p:sp>
      <p:sp>
        <p:nvSpPr>
          <p:cNvPr id="14" name="Text 11"/>
          <p:cNvSpPr txBox="1"/>
          <p:nvPr/>
        </p:nvSpPr>
        <p:spPr>
          <a:xfrm>
            <a:off x="548640" y="4709160"/>
            <a:ext cx="5303520" cy="118872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③ 単純作業：Luna／Haiku</a:t>
            </a:r>
            <a:endParaRPr lang="en-US" sz="2200" dirty="0"/>
          </a:p>
          <a:p>
            <a:pPr algn="ctr" indent="0" marL="0">
              <a:lnSpc>
                <a:spcPts val="2600"/>
              </a:lnSpc>
              <a:buNone/>
            </a:pPr>
            <a:r>
              <a:rPr lang="ja-JP" altLang="en-US" sz="2000" dirty="0">
                <a:solidFill>
                  <a:srgbClr val="F1F5F9"/>
                </a:solidFill>
                <a:latin typeface="Yu Gothic" pitchFamily="34" charset="0"/>
                <a:ea typeface="Yu Gothic" pitchFamily="34" charset="-122"/>
                <a:cs typeface="Yu Gothic" pitchFamily="34" charset="-120"/>
              </a:rPr>
              <a:t>整形・分類・定型要約</a:t>
            </a:r>
            <a:endParaRPr lang="en-US" sz="2200" dirty="0"/>
          </a:p>
        </p:txBody>
      </p:sp>
      <p:sp>
        <p:nvSpPr>
          <p:cNvPr id="15" name="Shape 12"/>
          <p:cNvSpPr/>
          <p:nvPr/>
        </p:nvSpPr>
        <p:spPr>
          <a:xfrm>
            <a:off x="6217920" y="1691640"/>
            <a:ext cx="5513832" cy="1371600"/>
          </a:xfrm>
          <a:prstGeom prst="roundRect">
            <a:avLst>
              <a:gd name="adj" fmla="val 9333"/>
            </a:avLst>
          </a:prstGeom>
          <a:solidFill>
            <a:srgbClr val="DCE6F2"/>
          </a:solidFill>
          <a:ln/>
        </p:spPr>
      </p:sp>
      <p:sp>
        <p:nvSpPr>
          <p:cNvPr id="16" name="Shape 13"/>
          <p:cNvSpPr/>
          <p:nvPr/>
        </p:nvSpPr>
        <p:spPr>
          <a:xfrm>
            <a:off x="6382512" y="1819656"/>
            <a:ext cx="512064" cy="512064"/>
          </a:xfrm>
          <a:prstGeom prst="ellipse">
            <a:avLst/>
          </a:prstGeom>
          <a:solidFill>
            <a:srgbClr val="16324F"/>
          </a:solidFill>
          <a:ln/>
        </p:spPr>
      </p:sp>
      <p:pic>
        <p:nvPicPr>
          <p:cNvPr id="17" name="Image 0" descr="preencoded.png">    </p:cNvPr>
          <p:cNvPicPr>
            <a:picLocks noChangeAspect="1"/>
          </p:cNvPicPr>
          <p:nvPr/>
        </p:nvPicPr>
        <p:blipFill>
          <a:blip r:embed="rId1"/>
          <a:stretch>
            <a:fillRect/>
          </a:stretch>
        </p:blipFill>
        <p:spPr>
          <a:xfrm>
            <a:off x="6495166" y="1932310"/>
            <a:ext cx="286756" cy="286756"/>
          </a:xfrm>
          <a:prstGeom prst="rect">
            <a:avLst/>
          </a:prstGeom>
        </p:spPr>
      </p:pic>
      <p:sp>
        <p:nvSpPr>
          <p:cNvPr id="18" name="Text 14"/>
          <p:cNvSpPr txBox="1"/>
          <p:nvPr/>
        </p:nvSpPr>
        <p:spPr>
          <a:xfrm>
            <a:off x="7004304" y="1819656"/>
            <a:ext cx="459028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同じ条件で比べる</a:t>
            </a:r>
            <a:endParaRPr lang="en-US" sz="2000" dirty="0"/>
          </a:p>
        </p:txBody>
      </p:sp>
      <p:sp>
        <p:nvSpPr>
          <p:cNvPr id="19" name="Text 15"/>
          <p:cNvSpPr txBox="1"/>
          <p:nvPr/>
        </p:nvSpPr>
        <p:spPr>
          <a:xfrm>
            <a:off x="6400800" y="2423160"/>
            <a:ext cx="5148072" cy="5486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同じ入力・評価基準で、修正回数まで比べる</a:t>
            </a:r>
            <a:endParaRPr lang="en-US" sz="1800" dirty="0"/>
          </a:p>
        </p:txBody>
      </p:sp>
      <p:sp>
        <p:nvSpPr>
          <p:cNvPr id="20" name="Shape 16"/>
          <p:cNvSpPr/>
          <p:nvPr/>
        </p:nvSpPr>
        <p:spPr>
          <a:xfrm>
            <a:off x="6217920" y="3200400"/>
            <a:ext cx="5513832" cy="1371600"/>
          </a:xfrm>
          <a:prstGeom prst="roundRect">
            <a:avLst>
              <a:gd name="adj" fmla="val 9333"/>
            </a:avLst>
          </a:prstGeom>
          <a:solidFill>
            <a:srgbClr val="FBE3E0"/>
          </a:solidFill>
          <a:ln/>
        </p:spPr>
      </p:sp>
      <p:sp>
        <p:nvSpPr>
          <p:cNvPr id="21" name="Shape 17"/>
          <p:cNvSpPr/>
          <p:nvPr/>
        </p:nvSpPr>
        <p:spPr>
          <a:xfrm>
            <a:off x="6382512" y="3328416"/>
            <a:ext cx="512064" cy="512064"/>
          </a:xfrm>
          <a:prstGeom prst="ellipse">
            <a:avLst/>
          </a:prstGeom>
          <a:solidFill>
            <a:srgbClr val="C0392B"/>
          </a:solidFill>
          <a:ln/>
        </p:spPr>
      </p:sp>
      <p:pic>
        <p:nvPicPr>
          <p:cNvPr id="22" name="Image 1" descr="preencoded.png">    </p:cNvPr>
          <p:cNvPicPr>
            <a:picLocks noChangeAspect="1"/>
          </p:cNvPicPr>
          <p:nvPr/>
        </p:nvPicPr>
        <p:blipFill>
          <a:blip r:embed="rId2"/>
          <a:stretch>
            <a:fillRect/>
          </a:stretch>
        </p:blipFill>
        <p:spPr>
          <a:xfrm>
            <a:off x="6495166" y="3441070"/>
            <a:ext cx="286756" cy="286756"/>
          </a:xfrm>
          <a:prstGeom prst="rect">
            <a:avLst/>
          </a:prstGeom>
        </p:spPr>
      </p:pic>
      <p:sp>
        <p:nvSpPr>
          <p:cNvPr id="23" name="Text 18"/>
          <p:cNvSpPr txBox="1"/>
          <p:nvPr/>
        </p:nvSpPr>
        <p:spPr>
          <a:xfrm>
            <a:off x="7004304" y="3328416"/>
            <a:ext cx="459028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C0392B"/>
                </a:solidFill>
                <a:latin typeface="Yu Gothic" pitchFamily="34" charset="0"/>
                <a:ea typeface="Yu Gothic" pitchFamily="34" charset="-122"/>
                <a:cs typeface="Yu Gothic" pitchFamily="34" charset="-120"/>
              </a:rPr>
              <a:t>常に正解とは限らない</a:t>
            </a:r>
            <a:endParaRPr lang="en-US" sz="2000" dirty="0"/>
          </a:p>
        </p:txBody>
      </p:sp>
      <p:sp>
        <p:nvSpPr>
          <p:cNvPr id="24" name="Text 19"/>
          <p:cNvSpPr txBox="1"/>
          <p:nvPr/>
        </p:nvSpPr>
        <p:spPr>
          <a:xfrm>
            <a:off x="6400800" y="3931920"/>
            <a:ext cx="5148072" cy="5486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強いモデルほど必ず正解になるわけではない</a:t>
            </a:r>
            <a:endParaRPr lang="en-US" sz="1800" dirty="0"/>
          </a:p>
        </p:txBody>
      </p:sp>
      <p:sp>
        <p:nvSpPr>
          <p:cNvPr id="25" name="Shape 20"/>
          <p:cNvSpPr/>
          <p:nvPr/>
        </p:nvSpPr>
        <p:spPr>
          <a:xfrm>
            <a:off x="6217920" y="4709160"/>
            <a:ext cx="5513832" cy="1554480"/>
          </a:xfrm>
          <a:prstGeom prst="roundRect">
            <a:avLst>
              <a:gd name="adj" fmla="val 8235"/>
            </a:avLst>
          </a:prstGeom>
          <a:solidFill>
            <a:srgbClr val="FDEBD0"/>
          </a:solidFill>
          <a:ln/>
        </p:spPr>
      </p:sp>
      <p:sp>
        <p:nvSpPr>
          <p:cNvPr id="26" name="Shape 21"/>
          <p:cNvSpPr/>
          <p:nvPr/>
        </p:nvSpPr>
        <p:spPr>
          <a:xfrm>
            <a:off x="6382512" y="4837176"/>
            <a:ext cx="512064" cy="512064"/>
          </a:xfrm>
          <a:prstGeom prst="ellipse">
            <a:avLst/>
          </a:prstGeom>
          <a:solidFill>
            <a:srgbClr val="B45309"/>
          </a:solidFill>
          <a:ln/>
        </p:spPr>
      </p:sp>
      <p:pic>
        <p:nvPicPr>
          <p:cNvPr id="27" name="Image 2" descr="preencoded.png">    </p:cNvPr>
          <p:cNvPicPr>
            <a:picLocks noChangeAspect="1"/>
          </p:cNvPicPr>
          <p:nvPr/>
        </p:nvPicPr>
        <p:blipFill>
          <a:blip r:embed="rId3"/>
          <a:stretch>
            <a:fillRect/>
          </a:stretch>
        </p:blipFill>
        <p:spPr>
          <a:xfrm>
            <a:off x="6495166" y="4949830"/>
            <a:ext cx="286756" cy="286756"/>
          </a:xfrm>
          <a:prstGeom prst="rect">
            <a:avLst/>
          </a:prstGeom>
        </p:spPr>
      </p:pic>
      <p:sp>
        <p:nvSpPr>
          <p:cNvPr id="28" name="Text 22"/>
          <p:cNvSpPr txBox="1"/>
          <p:nvPr/>
        </p:nvSpPr>
        <p:spPr>
          <a:xfrm>
            <a:off x="7004304" y="4837176"/>
            <a:ext cx="459028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情報は更新する</a:t>
            </a:r>
            <a:endParaRPr lang="en-US" sz="2000" dirty="0"/>
          </a:p>
        </p:txBody>
      </p:sp>
      <p:sp>
        <p:nvSpPr>
          <p:cNvPr id="29" name="Text 23"/>
          <p:cNvSpPr txBox="1"/>
          <p:nvPr/>
        </p:nvSpPr>
        <p:spPr>
          <a:xfrm>
            <a:off x="6400800" y="5440680"/>
            <a:ext cx="5148072" cy="73152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価格・モデル・製品は変わる。Haiku 5.5は2026/9/28時点で今後の予定</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ゲーム制作の差</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490407"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出力の差は、プロンプトだけでなく7つの要因の組み合わせ</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Xで見る上手な制作例との差は、プロンプトのうまさだけでなく、モデル・実行環境・仕様・素材・反復などの組み合わせで生まれます。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出典：[N13]</a:t>
            </a:r>
            <a:endParaRPr lang="ja-JP" sz="1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651760"/>
                <a:gridCol w="86227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差の要因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具体的な差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モデルと設定</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同じブランドでもモデルや推論の強さが異なる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実行環境</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コードを表示するだけか、実際に編集・実行できるか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仕様の具体性</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「ゲームを作って」か、操作・勝敗・完成条件を定めるか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素材</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画像・音声・3Dモデル・テンプレートを使うか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反復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初回の出力か、動かして数十回改善した結果か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人間の知識</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エラーや見た目の問題を具体的に指摘できるか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公開された範囲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成功場面の短い動画か、起動・長時間動作まで確認したか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6"/>
          <p:cNvSpPr/>
          <p:nvPr/>
        </p:nvSpPr>
        <p:spPr>
          <a:xfrm>
            <a:off x="457200" y="5715000"/>
            <a:ext cx="11274552" cy="594360"/>
          </a:xfrm>
          <a:prstGeom prst="roundRect">
            <a:avLst>
              <a:gd name="adj" fmla="val 18462"/>
            </a:avLst>
          </a:prstGeom>
          <a:solidFill>
            <a:srgbClr val="FBE3E0"/>
          </a:solidFill>
          <a:ln w="19050">
            <a:solidFill>
              <a:srgbClr val="C0392B"/>
            </a:solidFill>
            <a:prstDash val="solid"/>
          </a:ln>
        </p:spPr>
      </p:sp>
      <p:sp>
        <p:nvSpPr>
          <p:cNvPr id="11" name="Shape 7"/>
          <p:cNvSpPr/>
          <p:nvPr/>
        </p:nvSpPr>
        <p:spPr>
          <a:xfrm>
            <a:off x="594360" y="5806440"/>
            <a:ext cx="411480" cy="41148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84886" y="5896966"/>
            <a:ext cx="230429" cy="230429"/>
          </a:xfrm>
          <a:prstGeom prst="rect">
            <a:avLst/>
          </a:prstGeom>
        </p:spPr>
      </p:pic>
      <p:sp>
        <p:nvSpPr>
          <p:cNvPr id="13" name="Text 8"/>
          <p:cNvSpPr txBox="1"/>
          <p:nvPr/>
        </p:nvSpPr>
        <p:spPr>
          <a:xfrm>
            <a:off x="1143000" y="5760720"/>
            <a:ext cx="10451592" cy="5029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特定の投稿の制作履歴は不明。その人のモデルや作業時間は特定できない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ゲーム制作の差</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成果物は「実行して観察し、修正する」ループで作る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AIが成果物を作るときは、作る→動かす→画面で確認→直す、を繰り返します。この反復の質が成果物を決めます。SEの構築・検証と同じ流れです。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出典：[N13]</a:t>
            </a:r>
            <a:endParaRPr lang="ja-JP" sz="1200" dirty="0"/>
          </a:p>
        </p:txBody>
      </p:sp>
      <p:sp>
        <p:nvSpPr>
          <p:cNvPr id="8" name="Shape 5"/>
          <p:cNvSpPr/>
          <p:nvPr/>
        </p:nvSpPr>
        <p:spPr>
          <a:xfrm>
            <a:off x="457200" y="1783080"/>
            <a:ext cx="2514600" cy="1188720"/>
          </a:xfrm>
          <a:prstGeom prst="roundRect">
            <a:avLst>
              <a:gd name="adj" fmla="val 9231"/>
            </a:avLst>
          </a:prstGeom>
          <a:solidFill>
            <a:srgbClr val="16324F"/>
          </a:solidFill>
          <a:ln/>
        </p:spPr>
      </p:sp>
      <p:sp>
        <p:nvSpPr>
          <p:cNvPr id="9" name="Text 6"/>
          <p:cNvSpPr txBox="1"/>
          <p:nvPr/>
        </p:nvSpPr>
        <p:spPr>
          <a:xfrm>
            <a:off x="548640" y="1783080"/>
            <a:ext cx="233172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仕様と</a:t>
            </a:r>
            <a:endParaRPr lang="en-US" sz="2000" dirty="0"/>
          </a:p>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完成条件</a:t>
            </a:r>
            <a:endParaRPr lang="en-US" sz="2000" dirty="0"/>
          </a:p>
        </p:txBody>
      </p:sp>
      <p:sp>
        <p:nvSpPr>
          <p:cNvPr id="10" name="Shape 7"/>
          <p:cNvSpPr/>
          <p:nvPr/>
        </p:nvSpPr>
        <p:spPr>
          <a:xfrm>
            <a:off x="2971800" y="2377440"/>
            <a:ext cx="274320" cy="0"/>
          </a:xfrm>
          <a:prstGeom prst="line">
            <a:avLst/>
          </a:prstGeom>
          <a:noFill/>
          <a:ln w="38100">
            <a:solidFill>
              <a:srgbClr val="1B2A3A"/>
            </a:solidFill>
            <a:prstDash val="solid"/>
            <a:tailEnd type="triangle"/>
          </a:ln>
        </p:spPr>
      </p:sp>
      <p:sp>
        <p:nvSpPr>
          <p:cNvPr id="11" name="Shape 8"/>
          <p:cNvSpPr/>
          <p:nvPr/>
        </p:nvSpPr>
        <p:spPr>
          <a:xfrm>
            <a:off x="3246120" y="1783080"/>
            <a:ext cx="2514600" cy="1188720"/>
          </a:xfrm>
          <a:prstGeom prst="roundRect">
            <a:avLst>
              <a:gd name="adj" fmla="val 9231"/>
            </a:avLst>
          </a:prstGeom>
          <a:solidFill>
            <a:srgbClr val="5B46B8"/>
          </a:solidFill>
          <a:ln/>
        </p:spPr>
      </p:sp>
      <p:sp>
        <p:nvSpPr>
          <p:cNvPr id="12" name="Text 9"/>
          <p:cNvSpPr txBox="1"/>
          <p:nvPr/>
        </p:nvSpPr>
        <p:spPr>
          <a:xfrm>
            <a:off x="3337560" y="1783080"/>
            <a:ext cx="233172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実装</a:t>
            </a:r>
            <a:endParaRPr lang="en-US" sz="2000" dirty="0"/>
          </a:p>
        </p:txBody>
      </p:sp>
      <p:sp>
        <p:nvSpPr>
          <p:cNvPr id="13" name="Shape 10"/>
          <p:cNvSpPr/>
          <p:nvPr/>
        </p:nvSpPr>
        <p:spPr>
          <a:xfrm>
            <a:off x="5760720" y="2377440"/>
            <a:ext cx="274320" cy="0"/>
          </a:xfrm>
          <a:prstGeom prst="line">
            <a:avLst/>
          </a:prstGeom>
          <a:noFill/>
          <a:ln w="38100">
            <a:solidFill>
              <a:srgbClr val="1B2A3A"/>
            </a:solidFill>
            <a:prstDash val="solid"/>
            <a:tailEnd type="triangle"/>
          </a:ln>
        </p:spPr>
      </p:sp>
      <p:sp>
        <p:nvSpPr>
          <p:cNvPr id="14" name="Shape 11"/>
          <p:cNvSpPr/>
          <p:nvPr/>
        </p:nvSpPr>
        <p:spPr>
          <a:xfrm>
            <a:off x="6035040" y="1783080"/>
            <a:ext cx="2514600" cy="1188720"/>
          </a:xfrm>
          <a:prstGeom prst="roundRect">
            <a:avLst>
              <a:gd name="adj" fmla="val 9231"/>
            </a:avLst>
          </a:prstGeom>
          <a:solidFill>
            <a:srgbClr val="5B46B8"/>
          </a:solidFill>
          <a:ln/>
        </p:spPr>
      </p:sp>
      <p:sp>
        <p:nvSpPr>
          <p:cNvPr id="15" name="Text 12"/>
          <p:cNvSpPr txBox="1"/>
          <p:nvPr/>
        </p:nvSpPr>
        <p:spPr>
          <a:xfrm>
            <a:off x="6126480" y="1783080"/>
            <a:ext cx="233172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実行</a:t>
            </a:r>
            <a:endParaRPr lang="en-US" sz="2000" dirty="0"/>
          </a:p>
        </p:txBody>
      </p:sp>
      <p:sp>
        <p:nvSpPr>
          <p:cNvPr id="16" name="Shape 13"/>
          <p:cNvSpPr/>
          <p:nvPr/>
        </p:nvSpPr>
        <p:spPr>
          <a:xfrm>
            <a:off x="8549640" y="2377440"/>
            <a:ext cx="274320" cy="0"/>
          </a:xfrm>
          <a:prstGeom prst="line">
            <a:avLst/>
          </a:prstGeom>
          <a:noFill/>
          <a:ln w="38100">
            <a:solidFill>
              <a:srgbClr val="1B2A3A"/>
            </a:solidFill>
            <a:prstDash val="solid"/>
            <a:tailEnd type="triangle"/>
          </a:ln>
        </p:spPr>
      </p:sp>
      <p:sp>
        <p:nvSpPr>
          <p:cNvPr id="17" name="Shape 14"/>
          <p:cNvSpPr/>
          <p:nvPr/>
        </p:nvSpPr>
        <p:spPr>
          <a:xfrm>
            <a:off x="8823960" y="1783080"/>
            <a:ext cx="2514600" cy="1188720"/>
          </a:xfrm>
          <a:prstGeom prst="roundRect">
            <a:avLst>
              <a:gd name="adj" fmla="val 9231"/>
            </a:avLst>
          </a:prstGeom>
          <a:solidFill>
            <a:srgbClr val="2F6BC2"/>
          </a:solidFill>
          <a:ln/>
        </p:spPr>
      </p:sp>
      <p:sp>
        <p:nvSpPr>
          <p:cNvPr id="18" name="Text 15"/>
          <p:cNvSpPr txBox="1"/>
          <p:nvPr/>
        </p:nvSpPr>
        <p:spPr>
          <a:xfrm>
            <a:off x="8915400" y="1783080"/>
            <a:ext cx="233172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画面・挙動・</a:t>
            </a:r>
            <a:endParaRPr lang="en-US" sz="2000" dirty="0"/>
          </a:p>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エラーを確認</a:t>
            </a:r>
            <a:endParaRPr lang="en-US" sz="2000" dirty="0"/>
          </a:p>
        </p:txBody>
      </p:sp>
      <p:sp>
        <p:nvSpPr>
          <p:cNvPr id="19" name="Shape 16"/>
          <p:cNvSpPr/>
          <p:nvPr/>
        </p:nvSpPr>
        <p:spPr>
          <a:xfrm>
            <a:off x="3246120" y="4023360"/>
            <a:ext cx="2514600" cy="1097280"/>
          </a:xfrm>
          <a:prstGeom prst="roundRect">
            <a:avLst>
              <a:gd name="adj" fmla="val 10000"/>
            </a:avLst>
          </a:prstGeom>
          <a:solidFill>
            <a:srgbClr val="D9F2F1"/>
          </a:solidFill>
          <a:ln w="25400">
            <a:solidFill>
              <a:srgbClr val="0B7A7A"/>
            </a:solidFill>
            <a:prstDash val="solid"/>
          </a:ln>
        </p:spPr>
      </p:sp>
      <p:sp>
        <p:nvSpPr>
          <p:cNvPr id="20" name="Text 17"/>
          <p:cNvSpPr txBox="1"/>
          <p:nvPr/>
        </p:nvSpPr>
        <p:spPr>
          <a:xfrm>
            <a:off x="3337560" y="4023360"/>
            <a:ext cx="2331720" cy="10972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参考画像・素材</a:t>
            </a:r>
            <a:endParaRPr lang="en-US" sz="2000" dirty="0"/>
          </a:p>
        </p:txBody>
      </p:sp>
      <p:sp>
        <p:nvSpPr>
          <p:cNvPr id="21" name="Shape 18"/>
          <p:cNvSpPr/>
          <p:nvPr/>
        </p:nvSpPr>
        <p:spPr>
          <a:xfrm flipV="1">
            <a:off x="4503420" y="2971800"/>
            <a:ext cx="0" cy="1051560"/>
          </a:xfrm>
          <a:prstGeom prst="line">
            <a:avLst/>
          </a:prstGeom>
          <a:noFill/>
          <a:ln w="38100">
            <a:solidFill>
              <a:srgbClr val="0B7A7A"/>
            </a:solidFill>
            <a:prstDash val="solid"/>
            <a:tailEnd type="triangle"/>
          </a:ln>
        </p:spPr>
      </p:sp>
      <p:sp>
        <p:nvSpPr>
          <p:cNvPr id="22" name="Shape 19"/>
          <p:cNvSpPr/>
          <p:nvPr/>
        </p:nvSpPr>
        <p:spPr>
          <a:xfrm>
            <a:off x="6035040" y="4023360"/>
            <a:ext cx="2514600" cy="1097280"/>
          </a:xfrm>
          <a:prstGeom prst="roundRect">
            <a:avLst>
              <a:gd name="adj" fmla="val 10000"/>
            </a:avLst>
          </a:prstGeom>
          <a:solidFill>
            <a:srgbClr val="FBE3E0"/>
          </a:solidFill>
          <a:ln w="25400">
            <a:solidFill>
              <a:srgbClr val="C0392B"/>
            </a:solidFill>
            <a:prstDash val="solid"/>
          </a:ln>
        </p:spPr>
      </p:sp>
      <p:sp>
        <p:nvSpPr>
          <p:cNvPr id="23" name="Text 20"/>
          <p:cNvSpPr txBox="1"/>
          <p:nvPr/>
        </p:nvSpPr>
        <p:spPr>
          <a:xfrm>
            <a:off x="6126480" y="4023360"/>
            <a:ext cx="2331720" cy="10972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原因を絞って修正</a:t>
            </a:r>
            <a:endParaRPr lang="en-US" sz="2000" dirty="0"/>
          </a:p>
        </p:txBody>
      </p:sp>
      <p:sp>
        <p:nvSpPr>
          <p:cNvPr id="24" name="Shape 21"/>
          <p:cNvSpPr/>
          <p:nvPr/>
        </p:nvSpPr>
        <p:spPr>
          <a:xfrm flipV="1">
            <a:off x="7292340" y="2971800"/>
            <a:ext cx="0" cy="1051560"/>
          </a:xfrm>
          <a:prstGeom prst="line">
            <a:avLst/>
          </a:prstGeom>
          <a:noFill/>
          <a:ln w="38100">
            <a:solidFill>
              <a:srgbClr val="C0392B"/>
            </a:solidFill>
            <a:prstDash val="solid"/>
            <a:tailEnd type="triangle"/>
          </a:ln>
        </p:spPr>
      </p:sp>
      <p:sp>
        <p:nvSpPr>
          <p:cNvPr id="25" name="Text 22"/>
          <p:cNvSpPr txBox="1"/>
          <p:nvPr/>
        </p:nvSpPr>
        <p:spPr>
          <a:xfrm>
            <a:off x="6057900" y="3319272"/>
            <a:ext cx="100584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再実行</a:t>
            </a:r>
            <a:endParaRPr lang="en-US" sz="1800" dirty="0"/>
          </a:p>
        </p:txBody>
      </p:sp>
      <p:sp>
        <p:nvSpPr>
          <p:cNvPr id="26" name="Shape 23"/>
          <p:cNvSpPr/>
          <p:nvPr/>
        </p:nvSpPr>
        <p:spPr>
          <a:xfrm flipH="1">
            <a:off x="8503920" y="2971800"/>
            <a:ext cx="822960" cy="1051560"/>
          </a:xfrm>
          <a:prstGeom prst="line">
            <a:avLst/>
          </a:prstGeom>
          <a:noFill/>
          <a:ln w="38100">
            <a:solidFill>
              <a:srgbClr val="C0392B"/>
            </a:solidFill>
            <a:prstDash val="solid"/>
            <a:tailEnd type="triangle"/>
          </a:ln>
        </p:spPr>
      </p:sp>
      <p:sp>
        <p:nvSpPr>
          <p:cNvPr id="27" name="Text 24"/>
          <p:cNvSpPr txBox="1"/>
          <p:nvPr/>
        </p:nvSpPr>
        <p:spPr>
          <a:xfrm>
            <a:off x="9052560" y="3319272"/>
            <a:ext cx="128016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問題あり</a:t>
            </a:r>
            <a:endParaRPr lang="en-US" sz="1800" dirty="0"/>
          </a:p>
        </p:txBody>
      </p:sp>
      <p:sp>
        <p:nvSpPr>
          <p:cNvPr id="28" name="Shape 25"/>
          <p:cNvSpPr/>
          <p:nvPr/>
        </p:nvSpPr>
        <p:spPr>
          <a:xfrm>
            <a:off x="8823960" y="4023360"/>
            <a:ext cx="2514600" cy="1097280"/>
          </a:xfrm>
          <a:prstGeom prst="roundRect">
            <a:avLst>
              <a:gd name="adj" fmla="val 10000"/>
            </a:avLst>
          </a:prstGeom>
          <a:solidFill>
            <a:srgbClr val="237A48"/>
          </a:solidFill>
          <a:ln/>
        </p:spPr>
      </p:sp>
      <p:sp>
        <p:nvSpPr>
          <p:cNvPr id="29" name="Text 26"/>
          <p:cNvSpPr txBox="1"/>
          <p:nvPr/>
        </p:nvSpPr>
        <p:spPr>
          <a:xfrm>
            <a:off x="8915400" y="4023360"/>
            <a:ext cx="2331720" cy="10972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完成物を確認</a:t>
            </a:r>
            <a:endParaRPr lang="en-US" sz="2000" dirty="0"/>
          </a:p>
        </p:txBody>
      </p:sp>
      <p:sp>
        <p:nvSpPr>
          <p:cNvPr id="30" name="Shape 27"/>
          <p:cNvSpPr/>
          <p:nvPr/>
        </p:nvSpPr>
        <p:spPr>
          <a:xfrm>
            <a:off x="10698480" y="2971800"/>
            <a:ext cx="0" cy="1051560"/>
          </a:xfrm>
          <a:prstGeom prst="line">
            <a:avLst/>
          </a:prstGeom>
          <a:noFill/>
          <a:ln w="38100">
            <a:solidFill>
              <a:srgbClr val="237A48"/>
            </a:solidFill>
            <a:prstDash val="solid"/>
            <a:tailEnd type="triangle"/>
          </a:ln>
        </p:spPr>
      </p:sp>
      <p:sp>
        <p:nvSpPr>
          <p:cNvPr id="31" name="Text 28"/>
          <p:cNvSpPr txBox="1"/>
          <p:nvPr/>
        </p:nvSpPr>
        <p:spPr>
          <a:xfrm>
            <a:off x="10789920" y="3168396"/>
            <a:ext cx="914400" cy="658368"/>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条件を</a:t>
            </a:r>
            <a:endParaRPr lang="en-US" sz="1800" dirty="0"/>
          </a:p>
          <a:p>
            <a:pPr algn="ct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満たす</a:t>
            </a:r>
            <a:endParaRPr lang="en-US" sz="1800" dirty="0"/>
          </a:p>
        </p:txBody>
      </p:sp>
      <p:sp>
        <p:nvSpPr>
          <p:cNvPr id="32" name="Shape 29"/>
          <p:cNvSpPr/>
          <p:nvPr/>
        </p:nvSpPr>
        <p:spPr>
          <a:xfrm>
            <a:off x="457200" y="5349240"/>
            <a:ext cx="11274552" cy="914400"/>
          </a:xfrm>
          <a:prstGeom prst="roundRect">
            <a:avLst>
              <a:gd name="adj" fmla="val 12000"/>
            </a:avLst>
          </a:prstGeom>
          <a:solidFill>
            <a:srgbClr val="DCE8F8"/>
          </a:solidFill>
          <a:ln w="19050">
            <a:solidFill>
              <a:srgbClr val="2F6BC2"/>
            </a:solidFill>
            <a:prstDash val="solid"/>
          </a:ln>
        </p:spPr>
      </p:sp>
      <p:sp>
        <p:nvSpPr>
          <p:cNvPr id="33" name="Shape 30"/>
          <p:cNvSpPr/>
          <p:nvPr/>
        </p:nvSpPr>
        <p:spPr>
          <a:xfrm>
            <a:off x="594360" y="5577840"/>
            <a:ext cx="457200" cy="457200"/>
          </a:xfrm>
          <a:prstGeom prst="ellipse">
            <a:avLst/>
          </a:prstGeom>
          <a:solidFill>
            <a:srgbClr val="2F6BC2"/>
          </a:solidFill>
          <a:ln/>
        </p:spPr>
      </p:sp>
      <p:pic>
        <p:nvPicPr>
          <p:cNvPr id="34" name="Image 0" descr="preencoded.png">    </p:cNvPr>
          <p:cNvPicPr>
            <a:picLocks noChangeAspect="1"/>
          </p:cNvPicPr>
          <p:nvPr/>
        </p:nvPicPr>
        <p:blipFill>
          <a:blip r:embed="rId1"/>
          <a:stretch>
            <a:fillRect/>
          </a:stretch>
        </p:blipFill>
        <p:spPr>
          <a:xfrm>
            <a:off x="694944" y="5678424"/>
            <a:ext cx="256032" cy="256032"/>
          </a:xfrm>
          <a:prstGeom prst="rect">
            <a:avLst/>
          </a:prstGeom>
        </p:spPr>
      </p:pic>
      <p:sp>
        <p:nvSpPr>
          <p:cNvPr id="35" name="Text 31"/>
          <p:cNvSpPr txBox="1"/>
          <p:nvPr/>
        </p:nvSpPr>
        <p:spPr>
          <a:xfrm>
            <a:off x="1188720" y="5394960"/>
            <a:ext cx="10405872" cy="82296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生成→実行→エラーを見る→修正→画面で確認。この反復の質が成果物を決める</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ゲーム制作の差</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依頼は5点を渡し、指摘は観察できる形で伝える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AIへ依頼するときは、仕様・環境・素材・完成条件・確認方法の5点を渡します。直してほしいときは「もっと良く」ではなく、観察できる問題を具体的に伝えます。</a:t>
            </a:r>
            <a:endParaRPr lang="en-US" sz="1800" dirty="0"/>
          </a:p>
        </p:txBody>
      </p:sp>
      <p:sp>
        <p:nvSpPr>
          <p:cNvPr id="7" name="Text 4"/>
          <p:cNvSpPr txBox="1"/>
          <p:nvPr/>
        </p:nvSpPr>
        <p:spPr>
          <a:xfrm>
            <a:off x="457200" y="1691640"/>
            <a:ext cx="5120640" cy="411480"/>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依頼時に渡す5点</a:t>
            </a:r>
            <a:endParaRPr lang="en-US" sz="2200" dirty="0"/>
          </a:p>
        </p:txBody>
      </p:sp>
      <p:sp>
        <p:nvSpPr>
          <p:cNvPr id="8" name="Shape 5"/>
          <p:cNvSpPr/>
          <p:nvPr/>
        </p:nvSpPr>
        <p:spPr>
          <a:xfrm>
            <a:off x="475488" y="2313432"/>
            <a:ext cx="420624" cy="420624"/>
          </a:xfrm>
          <a:prstGeom prst="ellipse">
            <a:avLst/>
          </a:prstGeom>
          <a:solidFill>
            <a:srgbClr val="16324F"/>
          </a:solidFill>
          <a:ln w="19050">
            <a:solidFill>
              <a:srgbClr val="FFFFFF"/>
            </a:solidFill>
            <a:prstDash val="solid"/>
          </a:ln>
        </p:spPr>
      </p:sp>
      <p:sp>
        <p:nvSpPr>
          <p:cNvPr id="9" name="Text 6"/>
          <p:cNvSpPr txBox="1"/>
          <p:nvPr/>
        </p:nvSpPr>
        <p:spPr>
          <a:xfrm>
            <a:off x="475488" y="231343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0" name="Text 7"/>
          <p:cNvSpPr txBox="1"/>
          <p:nvPr/>
        </p:nvSpPr>
        <p:spPr>
          <a:xfrm>
            <a:off x="1051560" y="2194560"/>
            <a:ext cx="4526280" cy="621792"/>
          </a:xfrm>
          <a:prstGeom prst="rect">
            <a:avLst/>
          </a:prstGeom>
          <a:noFill/>
          <a:ln/>
        </p:spPr>
        <p:txBody>
          <a:bodyPr wrap="square" lIns="0" tIns="0" rIns="0" bIns="0" rtlCol="0" anchor="ctr"/>
          <a:lstStyle/>
          <a:p>
            <a:pPr algn="l" indent="0" marL="0">
              <a:lnSpc>
                <a:spcPts val="2900"/>
              </a:lnSpc>
              <a:buNone/>
            </a:pPr>
            <a:r>
              <a:rPr lang="ja-JP" altLang="en-US" sz="2200" dirty="0">
                <a:solidFill>
                  <a:srgbClr val="1B2A3A"/>
                </a:solidFill>
                <a:latin typeface="Yu Gothic" pitchFamily="34" charset="0"/>
                <a:ea typeface="Yu Gothic" pitchFamily="34" charset="-122"/>
                <a:cs typeface="Yu Gothic" pitchFamily="34" charset="-120"/>
              </a:rPr>
              <a:t>仕様</a:t>
            </a:r>
            <a:endParaRPr lang="en-US" sz="2200" dirty="0"/>
          </a:p>
        </p:txBody>
      </p:sp>
      <p:sp>
        <p:nvSpPr>
          <p:cNvPr id="11" name="Shape 8"/>
          <p:cNvSpPr/>
          <p:nvPr/>
        </p:nvSpPr>
        <p:spPr>
          <a:xfrm>
            <a:off x="475488" y="2971800"/>
            <a:ext cx="420624" cy="420624"/>
          </a:xfrm>
          <a:prstGeom prst="ellipse">
            <a:avLst/>
          </a:prstGeom>
          <a:solidFill>
            <a:srgbClr val="16324F"/>
          </a:solidFill>
          <a:ln w="19050">
            <a:solidFill>
              <a:srgbClr val="FFFFFF"/>
            </a:solidFill>
            <a:prstDash val="solid"/>
          </a:ln>
        </p:spPr>
      </p:sp>
      <p:sp>
        <p:nvSpPr>
          <p:cNvPr id="12" name="Text 9"/>
          <p:cNvSpPr txBox="1"/>
          <p:nvPr/>
        </p:nvSpPr>
        <p:spPr>
          <a:xfrm>
            <a:off x="475488" y="29718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3" name="Text 10"/>
          <p:cNvSpPr txBox="1"/>
          <p:nvPr/>
        </p:nvSpPr>
        <p:spPr>
          <a:xfrm>
            <a:off x="1051560" y="2852928"/>
            <a:ext cx="4526280" cy="621792"/>
          </a:xfrm>
          <a:prstGeom prst="rect">
            <a:avLst/>
          </a:prstGeom>
          <a:noFill/>
          <a:ln/>
        </p:spPr>
        <p:txBody>
          <a:bodyPr wrap="square" lIns="0" tIns="0" rIns="0" bIns="0" rtlCol="0" anchor="ctr"/>
          <a:lstStyle/>
          <a:p>
            <a:pPr algn="l" indent="0" marL="0">
              <a:lnSpc>
                <a:spcPts val="2900"/>
              </a:lnSpc>
              <a:buNone/>
            </a:pPr>
            <a:r>
              <a:rPr lang="ja-JP" altLang="en-US" sz="2200" dirty="0">
                <a:solidFill>
                  <a:srgbClr val="1B2A3A"/>
                </a:solidFill>
                <a:latin typeface="Yu Gothic" pitchFamily="34" charset="0"/>
                <a:ea typeface="Yu Gothic" pitchFamily="34" charset="-122"/>
                <a:cs typeface="Yu Gothic" pitchFamily="34" charset="-120"/>
              </a:rPr>
              <a:t>実行する環境</a:t>
            </a:r>
            <a:endParaRPr lang="en-US" sz="2200" dirty="0"/>
          </a:p>
        </p:txBody>
      </p:sp>
      <p:sp>
        <p:nvSpPr>
          <p:cNvPr id="14" name="Shape 11"/>
          <p:cNvSpPr/>
          <p:nvPr/>
        </p:nvSpPr>
        <p:spPr>
          <a:xfrm>
            <a:off x="475488" y="3630168"/>
            <a:ext cx="420624" cy="420624"/>
          </a:xfrm>
          <a:prstGeom prst="ellipse">
            <a:avLst/>
          </a:prstGeom>
          <a:solidFill>
            <a:srgbClr val="16324F"/>
          </a:solidFill>
          <a:ln w="19050">
            <a:solidFill>
              <a:srgbClr val="FFFFFF"/>
            </a:solidFill>
            <a:prstDash val="solid"/>
          </a:ln>
        </p:spPr>
      </p:sp>
      <p:sp>
        <p:nvSpPr>
          <p:cNvPr id="15" name="Text 12"/>
          <p:cNvSpPr txBox="1"/>
          <p:nvPr/>
        </p:nvSpPr>
        <p:spPr>
          <a:xfrm>
            <a:off x="475488" y="36301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6" name="Text 13"/>
          <p:cNvSpPr txBox="1"/>
          <p:nvPr/>
        </p:nvSpPr>
        <p:spPr>
          <a:xfrm>
            <a:off x="1051560" y="3511296"/>
            <a:ext cx="4526280" cy="621792"/>
          </a:xfrm>
          <a:prstGeom prst="rect">
            <a:avLst/>
          </a:prstGeom>
          <a:noFill/>
          <a:ln/>
        </p:spPr>
        <p:txBody>
          <a:bodyPr wrap="square" lIns="0" tIns="0" rIns="0" bIns="0" rtlCol="0" anchor="ctr"/>
          <a:lstStyle/>
          <a:p>
            <a:pPr algn="l" indent="0" marL="0">
              <a:lnSpc>
                <a:spcPts val="2900"/>
              </a:lnSpc>
              <a:buNone/>
            </a:pPr>
            <a:r>
              <a:rPr lang="ja-JP" altLang="en-US" sz="2200" dirty="0">
                <a:solidFill>
                  <a:srgbClr val="1B2A3A"/>
                </a:solidFill>
                <a:latin typeface="Yu Gothic" pitchFamily="34" charset="0"/>
                <a:ea typeface="Yu Gothic" pitchFamily="34" charset="-122"/>
                <a:cs typeface="Yu Gothic" pitchFamily="34" charset="-120"/>
              </a:rPr>
              <a:t>使ってよい素材</a:t>
            </a:r>
            <a:endParaRPr lang="en-US" sz="2200" dirty="0"/>
          </a:p>
        </p:txBody>
      </p:sp>
      <p:sp>
        <p:nvSpPr>
          <p:cNvPr id="17" name="Shape 14"/>
          <p:cNvSpPr/>
          <p:nvPr/>
        </p:nvSpPr>
        <p:spPr>
          <a:xfrm>
            <a:off x="475488" y="4288536"/>
            <a:ext cx="420624" cy="420624"/>
          </a:xfrm>
          <a:prstGeom prst="ellipse">
            <a:avLst/>
          </a:prstGeom>
          <a:solidFill>
            <a:srgbClr val="16324F"/>
          </a:solidFill>
          <a:ln w="19050">
            <a:solidFill>
              <a:srgbClr val="FFFFFF"/>
            </a:solidFill>
            <a:prstDash val="solid"/>
          </a:ln>
        </p:spPr>
      </p:sp>
      <p:sp>
        <p:nvSpPr>
          <p:cNvPr id="18" name="Text 15"/>
          <p:cNvSpPr txBox="1"/>
          <p:nvPr/>
        </p:nvSpPr>
        <p:spPr>
          <a:xfrm>
            <a:off x="475488" y="42885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9" name="Text 16"/>
          <p:cNvSpPr txBox="1"/>
          <p:nvPr/>
        </p:nvSpPr>
        <p:spPr>
          <a:xfrm>
            <a:off x="1051560" y="4169664"/>
            <a:ext cx="4526280" cy="621792"/>
          </a:xfrm>
          <a:prstGeom prst="rect">
            <a:avLst/>
          </a:prstGeom>
          <a:noFill/>
          <a:ln/>
        </p:spPr>
        <p:txBody>
          <a:bodyPr wrap="square" lIns="0" tIns="0" rIns="0" bIns="0" rtlCol="0" anchor="ctr"/>
          <a:lstStyle/>
          <a:p>
            <a:pPr algn="l" indent="0" marL="0">
              <a:lnSpc>
                <a:spcPts val="2900"/>
              </a:lnSpc>
              <a:buNone/>
            </a:pPr>
            <a:r>
              <a:rPr lang="ja-JP" altLang="en-US" sz="2200" dirty="0">
                <a:solidFill>
                  <a:srgbClr val="1B2A3A"/>
                </a:solidFill>
                <a:latin typeface="Yu Gothic" pitchFamily="34" charset="0"/>
                <a:ea typeface="Yu Gothic" pitchFamily="34" charset="-122"/>
                <a:cs typeface="Yu Gothic" pitchFamily="34" charset="-120"/>
              </a:rPr>
              <a:t>完成条件</a:t>
            </a:r>
            <a:endParaRPr lang="en-US" sz="2200" dirty="0"/>
          </a:p>
        </p:txBody>
      </p:sp>
      <p:sp>
        <p:nvSpPr>
          <p:cNvPr id="20" name="Shape 17"/>
          <p:cNvSpPr/>
          <p:nvPr/>
        </p:nvSpPr>
        <p:spPr>
          <a:xfrm>
            <a:off x="475488" y="4946904"/>
            <a:ext cx="420624" cy="420624"/>
          </a:xfrm>
          <a:prstGeom prst="ellipse">
            <a:avLst/>
          </a:prstGeom>
          <a:solidFill>
            <a:srgbClr val="16324F"/>
          </a:solidFill>
          <a:ln w="19050">
            <a:solidFill>
              <a:srgbClr val="FFFFFF"/>
            </a:solidFill>
            <a:prstDash val="solid"/>
          </a:ln>
        </p:spPr>
      </p:sp>
      <p:sp>
        <p:nvSpPr>
          <p:cNvPr id="21" name="Text 18"/>
          <p:cNvSpPr txBox="1"/>
          <p:nvPr/>
        </p:nvSpPr>
        <p:spPr>
          <a:xfrm>
            <a:off x="475488" y="494690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2" name="Text 19"/>
          <p:cNvSpPr txBox="1"/>
          <p:nvPr/>
        </p:nvSpPr>
        <p:spPr>
          <a:xfrm>
            <a:off x="1051560" y="4828032"/>
            <a:ext cx="4526280" cy="621792"/>
          </a:xfrm>
          <a:prstGeom prst="rect">
            <a:avLst/>
          </a:prstGeom>
          <a:noFill/>
          <a:ln/>
        </p:spPr>
        <p:txBody>
          <a:bodyPr wrap="square" lIns="0" tIns="0" rIns="0" bIns="0" rtlCol="0" anchor="ctr"/>
          <a:lstStyle/>
          <a:p>
            <a:pPr algn="l" indent="0" marL="0">
              <a:lnSpc>
                <a:spcPts val="2900"/>
              </a:lnSpc>
              <a:buNone/>
            </a:pPr>
            <a:r>
              <a:rPr lang="ja-JP" altLang="en-US" sz="2200" dirty="0">
                <a:solidFill>
                  <a:srgbClr val="1B2A3A"/>
                </a:solidFill>
                <a:latin typeface="Yu Gothic" pitchFamily="34" charset="0"/>
                <a:ea typeface="Yu Gothic" pitchFamily="34" charset="-122"/>
                <a:cs typeface="Yu Gothic" pitchFamily="34" charset="-120"/>
              </a:rPr>
              <a:t>確認方法</a:t>
            </a:r>
            <a:endParaRPr lang="en-US" sz="2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852160" y="1691640"/>
          <a:ext cx="5879592" cy="914400"/>
        </p:xfrm>
        <a:graphic>
          <a:graphicData uri="http://schemas.openxmlformats.org/drawingml/2006/table">
            <a:tbl>
              <a:tblPr/>
              <a:tblGrid>
                <a:gridCol w="4114800"/>
                <a:gridCol w="17647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指摘の例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判定</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5836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「もっとよく」</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観察できない</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「文字が切れる」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観察できる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5836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「当たり判定が見た目より大きい」</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観察できる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0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「低FPSでも移動速度が変わらないように」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観察できる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4" name="Shape 20"/>
          <p:cNvSpPr/>
          <p:nvPr/>
        </p:nvSpPr>
        <p:spPr>
          <a:xfrm>
            <a:off x="457200" y="5577840"/>
            <a:ext cx="11274552" cy="731520"/>
          </a:xfrm>
          <a:prstGeom prst="roundRect">
            <a:avLst>
              <a:gd name="adj" fmla="val 15000"/>
            </a:avLst>
          </a:prstGeom>
          <a:solidFill>
            <a:srgbClr val="DCE8F8"/>
          </a:solidFill>
          <a:ln w="19050">
            <a:solidFill>
              <a:srgbClr val="2F6BC2"/>
            </a:solidFill>
            <a:prstDash val="solid"/>
          </a:ln>
        </p:spPr>
      </p:sp>
      <p:sp>
        <p:nvSpPr>
          <p:cNvPr id="25" name="Shape 21"/>
          <p:cNvSpPr/>
          <p:nvPr/>
        </p:nvSpPr>
        <p:spPr>
          <a:xfrm>
            <a:off x="594360" y="5715000"/>
            <a:ext cx="457200" cy="457200"/>
          </a:xfrm>
          <a:prstGeom prst="ellipse">
            <a:avLst/>
          </a:prstGeom>
          <a:solidFill>
            <a:srgbClr val="2F6BC2"/>
          </a:solidFill>
          <a:ln/>
        </p:spPr>
      </p:sp>
      <p:pic>
        <p:nvPicPr>
          <p:cNvPr id="26" name="Image 0" descr="preencoded.png">    </p:cNvPr>
          <p:cNvPicPr>
            <a:picLocks noChangeAspect="1"/>
          </p:cNvPicPr>
          <p:nvPr/>
        </p:nvPicPr>
        <p:blipFill>
          <a:blip r:embed="rId1"/>
          <a:stretch>
            <a:fillRect/>
          </a:stretch>
        </p:blipFill>
        <p:spPr>
          <a:xfrm>
            <a:off x="694944" y="5815584"/>
            <a:ext cx="256032" cy="256032"/>
          </a:xfrm>
          <a:prstGeom prst="rect">
            <a:avLst/>
          </a:prstGeom>
        </p:spPr>
      </p:pic>
      <p:sp>
        <p:nvSpPr>
          <p:cNvPr id="27" name="Text 22"/>
          <p:cNvSpPr txBox="1"/>
          <p:nvPr/>
        </p:nvSpPr>
        <p:spPr>
          <a:xfrm>
            <a:off x="1188720" y="5623560"/>
            <a:ext cx="10405872" cy="6400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最初の題材は一人用の小さな2Dゲーム。オンライン対戦は同期・認証・攻撃対策が増える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2087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HPEのSE</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HPEのSEは、要件定義から納入まで顧客と進める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HPEのSEは、顧客と要件を決め、設計し、検証・構築・移行を経て納入します。各工程で「成果物」（設計書・試験結果など）を残し、理由を説明します。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出典：[N14] [N15]</a:t>
            </a:r>
            <a:endParaRPr lang="ja-JP" sz="1200" dirty="0"/>
          </a:p>
        </p:txBody>
      </p:sp>
      <p:sp>
        <p:nvSpPr>
          <p:cNvPr id="8" name="Shape 5"/>
          <p:cNvSpPr/>
          <p:nvPr/>
        </p:nvSpPr>
        <p:spPr>
          <a:xfrm>
            <a:off x="457200" y="1691640"/>
            <a:ext cx="1764792" cy="685800"/>
          </a:xfrm>
          <a:prstGeom prst="roundRect">
            <a:avLst>
              <a:gd name="adj" fmla="val 16000"/>
            </a:avLst>
          </a:prstGeom>
          <a:solidFill>
            <a:srgbClr val="16324F"/>
          </a:solidFill>
          <a:ln/>
        </p:spPr>
      </p:sp>
      <p:sp>
        <p:nvSpPr>
          <p:cNvPr id="9" name="Text 6"/>
          <p:cNvSpPr txBox="1"/>
          <p:nvPr/>
        </p:nvSpPr>
        <p:spPr>
          <a:xfrm>
            <a:off x="548640" y="1691640"/>
            <a:ext cx="1581912"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要件定義</a:t>
            </a:r>
            <a:endParaRPr lang="en-US" sz="1800" dirty="0"/>
          </a:p>
        </p:txBody>
      </p:sp>
      <p:sp>
        <p:nvSpPr>
          <p:cNvPr id="10" name="Shape 7"/>
          <p:cNvSpPr/>
          <p:nvPr/>
        </p:nvSpPr>
        <p:spPr>
          <a:xfrm>
            <a:off x="2221992" y="2034540"/>
            <a:ext cx="118872" cy="0"/>
          </a:xfrm>
          <a:prstGeom prst="line">
            <a:avLst/>
          </a:prstGeom>
          <a:noFill/>
          <a:ln w="31750">
            <a:solidFill>
              <a:srgbClr val="1B2A3A"/>
            </a:solidFill>
            <a:prstDash val="solid"/>
            <a:tailEnd type="triangle"/>
          </a:ln>
        </p:spPr>
      </p:sp>
      <p:sp>
        <p:nvSpPr>
          <p:cNvPr id="11" name="Shape 8"/>
          <p:cNvSpPr/>
          <p:nvPr/>
        </p:nvSpPr>
        <p:spPr>
          <a:xfrm>
            <a:off x="457200" y="2788920"/>
            <a:ext cx="1764792" cy="1600200"/>
          </a:xfrm>
          <a:prstGeom prst="roundRect">
            <a:avLst>
              <a:gd name="adj" fmla="val 6857"/>
            </a:avLst>
          </a:prstGeom>
          <a:solidFill>
            <a:srgbClr val="DCE6F2"/>
          </a:solidFill>
          <a:ln w="25400">
            <a:solidFill>
              <a:srgbClr val="16324F"/>
            </a:solidFill>
            <a:prstDash val="solid"/>
          </a:ln>
        </p:spPr>
      </p:sp>
      <p:sp>
        <p:nvSpPr>
          <p:cNvPr id="12" name="Text 9"/>
          <p:cNvSpPr txBox="1"/>
          <p:nvPr/>
        </p:nvSpPr>
        <p:spPr>
          <a:xfrm>
            <a:off x="548640" y="2788920"/>
            <a:ext cx="1581912" cy="1600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利用者数・性能・停止許容・予算・期限を確認</a:t>
            </a:r>
            <a:endParaRPr lang="en-US" sz="1800" dirty="0"/>
          </a:p>
        </p:txBody>
      </p:sp>
      <p:sp>
        <p:nvSpPr>
          <p:cNvPr id="13" name="Shape 10"/>
          <p:cNvSpPr/>
          <p:nvPr/>
        </p:nvSpPr>
        <p:spPr>
          <a:xfrm>
            <a:off x="457200" y="4800600"/>
            <a:ext cx="1764792" cy="868680"/>
          </a:xfrm>
          <a:prstGeom prst="roundRect">
            <a:avLst>
              <a:gd name="adj" fmla="val 12632"/>
            </a:avLst>
          </a:prstGeom>
          <a:solidFill>
            <a:srgbClr val="FFFFFF"/>
          </a:solidFill>
          <a:ln w="25400">
            <a:solidFill>
              <a:srgbClr val="475569"/>
            </a:solidFill>
            <a:prstDash val="solid"/>
          </a:ln>
        </p:spPr>
      </p:sp>
      <p:sp>
        <p:nvSpPr>
          <p:cNvPr id="14" name="Text 11"/>
          <p:cNvSpPr txBox="1"/>
          <p:nvPr/>
        </p:nvSpPr>
        <p:spPr>
          <a:xfrm>
            <a:off x="548640" y="4800600"/>
            <a:ext cx="158191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要件一覧</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前提・制約</a:t>
            </a:r>
            <a:endParaRPr lang="en-US" sz="1800" dirty="0"/>
          </a:p>
        </p:txBody>
      </p:sp>
      <p:sp>
        <p:nvSpPr>
          <p:cNvPr id="15" name="Shape 12"/>
          <p:cNvSpPr/>
          <p:nvPr/>
        </p:nvSpPr>
        <p:spPr>
          <a:xfrm>
            <a:off x="2340864" y="1691640"/>
            <a:ext cx="1764792" cy="685800"/>
          </a:xfrm>
          <a:prstGeom prst="roundRect">
            <a:avLst>
              <a:gd name="adj" fmla="val 16000"/>
            </a:avLst>
          </a:prstGeom>
          <a:solidFill>
            <a:srgbClr val="5B46B8"/>
          </a:solidFill>
          <a:ln/>
        </p:spPr>
      </p:sp>
      <p:sp>
        <p:nvSpPr>
          <p:cNvPr id="16" name="Text 13"/>
          <p:cNvSpPr txBox="1"/>
          <p:nvPr/>
        </p:nvSpPr>
        <p:spPr>
          <a:xfrm>
            <a:off x="2432304" y="1691640"/>
            <a:ext cx="1581912"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設計</a:t>
            </a:r>
            <a:endParaRPr lang="en-US" sz="1800" dirty="0"/>
          </a:p>
        </p:txBody>
      </p:sp>
      <p:sp>
        <p:nvSpPr>
          <p:cNvPr id="17" name="Shape 14"/>
          <p:cNvSpPr/>
          <p:nvPr/>
        </p:nvSpPr>
        <p:spPr>
          <a:xfrm>
            <a:off x="4105656" y="2034540"/>
            <a:ext cx="118872" cy="0"/>
          </a:xfrm>
          <a:prstGeom prst="line">
            <a:avLst/>
          </a:prstGeom>
          <a:noFill/>
          <a:ln w="31750">
            <a:solidFill>
              <a:srgbClr val="1B2A3A"/>
            </a:solidFill>
            <a:prstDash val="solid"/>
            <a:tailEnd type="triangle"/>
          </a:ln>
        </p:spPr>
      </p:sp>
      <p:sp>
        <p:nvSpPr>
          <p:cNvPr id="18" name="Shape 15"/>
          <p:cNvSpPr/>
          <p:nvPr/>
        </p:nvSpPr>
        <p:spPr>
          <a:xfrm>
            <a:off x="2340864" y="2788920"/>
            <a:ext cx="1764792" cy="1600200"/>
          </a:xfrm>
          <a:prstGeom prst="roundRect">
            <a:avLst>
              <a:gd name="adj" fmla="val 6857"/>
            </a:avLst>
          </a:prstGeom>
          <a:solidFill>
            <a:srgbClr val="E6E1F7"/>
          </a:solidFill>
          <a:ln w="25400">
            <a:solidFill>
              <a:srgbClr val="5B46B8"/>
            </a:solidFill>
            <a:prstDash val="solid"/>
          </a:ln>
        </p:spPr>
      </p:sp>
      <p:sp>
        <p:nvSpPr>
          <p:cNvPr id="19" name="Text 16"/>
          <p:cNvSpPr txBox="1"/>
          <p:nvPr/>
        </p:nvSpPr>
        <p:spPr>
          <a:xfrm>
            <a:off x="2432304" y="2788920"/>
            <a:ext cx="1581912" cy="1600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サーバー・保存・ネットワーク・冗長化を選ぶ</a:t>
            </a:r>
            <a:endParaRPr lang="en-US" sz="1800" dirty="0"/>
          </a:p>
        </p:txBody>
      </p:sp>
      <p:sp>
        <p:nvSpPr>
          <p:cNvPr id="20" name="Shape 17"/>
          <p:cNvSpPr/>
          <p:nvPr/>
        </p:nvSpPr>
        <p:spPr>
          <a:xfrm>
            <a:off x="2340864" y="4800600"/>
            <a:ext cx="1764792" cy="868680"/>
          </a:xfrm>
          <a:prstGeom prst="roundRect">
            <a:avLst>
              <a:gd name="adj" fmla="val 12632"/>
            </a:avLst>
          </a:prstGeom>
          <a:solidFill>
            <a:srgbClr val="FFFFFF"/>
          </a:solidFill>
          <a:ln w="25400">
            <a:solidFill>
              <a:srgbClr val="475569"/>
            </a:solidFill>
            <a:prstDash val="solid"/>
          </a:ln>
        </p:spPr>
      </p:sp>
      <p:sp>
        <p:nvSpPr>
          <p:cNvPr id="21" name="Text 18"/>
          <p:cNvSpPr txBox="1"/>
          <p:nvPr/>
        </p:nvSpPr>
        <p:spPr>
          <a:xfrm>
            <a:off x="2432304" y="4800600"/>
            <a:ext cx="158191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構成図</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設計書</a:t>
            </a:r>
            <a:endParaRPr lang="en-US" sz="1800" dirty="0"/>
          </a:p>
        </p:txBody>
      </p:sp>
      <p:sp>
        <p:nvSpPr>
          <p:cNvPr id="22" name="Shape 19"/>
          <p:cNvSpPr/>
          <p:nvPr/>
        </p:nvSpPr>
        <p:spPr>
          <a:xfrm>
            <a:off x="4224528" y="1691640"/>
            <a:ext cx="1764792" cy="685800"/>
          </a:xfrm>
          <a:prstGeom prst="roundRect">
            <a:avLst>
              <a:gd name="adj" fmla="val 16000"/>
            </a:avLst>
          </a:prstGeom>
          <a:solidFill>
            <a:srgbClr val="237A48"/>
          </a:solidFill>
          <a:ln/>
        </p:spPr>
      </p:sp>
      <p:sp>
        <p:nvSpPr>
          <p:cNvPr id="23" name="Text 20"/>
          <p:cNvSpPr txBox="1"/>
          <p:nvPr/>
        </p:nvSpPr>
        <p:spPr>
          <a:xfrm>
            <a:off x="4315968" y="1691640"/>
            <a:ext cx="1581912"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検証</a:t>
            </a:r>
            <a:endParaRPr lang="en-US" sz="1800" dirty="0"/>
          </a:p>
        </p:txBody>
      </p:sp>
      <p:sp>
        <p:nvSpPr>
          <p:cNvPr id="24" name="Shape 21"/>
          <p:cNvSpPr/>
          <p:nvPr/>
        </p:nvSpPr>
        <p:spPr>
          <a:xfrm>
            <a:off x="5989320" y="2034540"/>
            <a:ext cx="118872" cy="0"/>
          </a:xfrm>
          <a:prstGeom prst="line">
            <a:avLst/>
          </a:prstGeom>
          <a:noFill/>
          <a:ln w="31750">
            <a:solidFill>
              <a:srgbClr val="1B2A3A"/>
            </a:solidFill>
            <a:prstDash val="solid"/>
            <a:tailEnd type="triangle"/>
          </a:ln>
        </p:spPr>
      </p:sp>
      <p:sp>
        <p:nvSpPr>
          <p:cNvPr id="25" name="Shape 22"/>
          <p:cNvSpPr/>
          <p:nvPr/>
        </p:nvSpPr>
        <p:spPr>
          <a:xfrm>
            <a:off x="4224528" y="2788920"/>
            <a:ext cx="1764792" cy="1600200"/>
          </a:xfrm>
          <a:prstGeom prst="roundRect">
            <a:avLst>
              <a:gd name="adj" fmla="val 6857"/>
            </a:avLst>
          </a:prstGeom>
          <a:solidFill>
            <a:srgbClr val="DDF1E4"/>
          </a:solidFill>
          <a:ln w="25400">
            <a:solidFill>
              <a:srgbClr val="237A48"/>
            </a:solidFill>
            <a:prstDash val="solid"/>
          </a:ln>
        </p:spPr>
      </p:sp>
      <p:sp>
        <p:nvSpPr>
          <p:cNvPr id="26" name="Text 23"/>
          <p:cNvSpPr txBox="1"/>
          <p:nvPr/>
        </p:nvSpPr>
        <p:spPr>
          <a:xfrm>
            <a:off x="4315968" y="2788920"/>
            <a:ext cx="1581912" cy="1600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性能・障害時の動作・互換性を確かめる</a:t>
            </a:r>
            <a:endParaRPr lang="en-US" sz="1800" dirty="0"/>
          </a:p>
        </p:txBody>
      </p:sp>
      <p:sp>
        <p:nvSpPr>
          <p:cNvPr id="27" name="Shape 24"/>
          <p:cNvSpPr/>
          <p:nvPr/>
        </p:nvSpPr>
        <p:spPr>
          <a:xfrm>
            <a:off x="4224528" y="4800600"/>
            <a:ext cx="1764792" cy="868680"/>
          </a:xfrm>
          <a:prstGeom prst="roundRect">
            <a:avLst>
              <a:gd name="adj" fmla="val 12632"/>
            </a:avLst>
          </a:prstGeom>
          <a:solidFill>
            <a:srgbClr val="FFFFFF"/>
          </a:solidFill>
          <a:ln w="25400">
            <a:solidFill>
              <a:srgbClr val="475569"/>
            </a:solidFill>
            <a:prstDash val="solid"/>
          </a:ln>
        </p:spPr>
      </p:sp>
      <p:sp>
        <p:nvSpPr>
          <p:cNvPr id="28" name="Text 25"/>
          <p:cNvSpPr txBox="1"/>
          <p:nvPr/>
        </p:nvSpPr>
        <p:spPr>
          <a:xfrm>
            <a:off x="4315968" y="4800600"/>
            <a:ext cx="158191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検証計画</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結果・課題</a:t>
            </a:r>
            <a:endParaRPr lang="en-US" sz="1800" dirty="0"/>
          </a:p>
        </p:txBody>
      </p:sp>
      <p:sp>
        <p:nvSpPr>
          <p:cNvPr id="29" name="Shape 26"/>
          <p:cNvSpPr/>
          <p:nvPr/>
        </p:nvSpPr>
        <p:spPr>
          <a:xfrm>
            <a:off x="6108192" y="1691640"/>
            <a:ext cx="1764792" cy="685800"/>
          </a:xfrm>
          <a:prstGeom prst="roundRect">
            <a:avLst>
              <a:gd name="adj" fmla="val 16000"/>
            </a:avLst>
          </a:prstGeom>
          <a:solidFill>
            <a:srgbClr val="2F6BC2"/>
          </a:solidFill>
          <a:ln/>
        </p:spPr>
      </p:sp>
      <p:sp>
        <p:nvSpPr>
          <p:cNvPr id="30" name="Text 27"/>
          <p:cNvSpPr txBox="1"/>
          <p:nvPr/>
        </p:nvSpPr>
        <p:spPr>
          <a:xfrm>
            <a:off x="6199632" y="1691640"/>
            <a:ext cx="1581912"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構築</a:t>
            </a:r>
            <a:endParaRPr lang="en-US" sz="1800" dirty="0"/>
          </a:p>
        </p:txBody>
      </p:sp>
      <p:sp>
        <p:nvSpPr>
          <p:cNvPr id="31" name="Shape 28"/>
          <p:cNvSpPr/>
          <p:nvPr/>
        </p:nvSpPr>
        <p:spPr>
          <a:xfrm>
            <a:off x="7872984" y="2034540"/>
            <a:ext cx="118872" cy="0"/>
          </a:xfrm>
          <a:prstGeom prst="line">
            <a:avLst/>
          </a:prstGeom>
          <a:noFill/>
          <a:ln w="31750">
            <a:solidFill>
              <a:srgbClr val="1B2A3A"/>
            </a:solidFill>
            <a:prstDash val="solid"/>
            <a:tailEnd type="triangle"/>
          </a:ln>
        </p:spPr>
      </p:sp>
      <p:sp>
        <p:nvSpPr>
          <p:cNvPr id="32" name="Shape 29"/>
          <p:cNvSpPr/>
          <p:nvPr/>
        </p:nvSpPr>
        <p:spPr>
          <a:xfrm>
            <a:off x="6108192" y="2788920"/>
            <a:ext cx="1764792" cy="1600200"/>
          </a:xfrm>
          <a:prstGeom prst="roundRect">
            <a:avLst>
              <a:gd name="adj" fmla="val 6857"/>
            </a:avLst>
          </a:prstGeom>
          <a:solidFill>
            <a:srgbClr val="DCE8F8"/>
          </a:solidFill>
          <a:ln w="25400">
            <a:solidFill>
              <a:srgbClr val="2F6BC2"/>
            </a:solidFill>
            <a:prstDash val="solid"/>
          </a:ln>
        </p:spPr>
      </p:sp>
      <p:sp>
        <p:nvSpPr>
          <p:cNvPr id="33" name="Text 30"/>
          <p:cNvSpPr txBox="1"/>
          <p:nvPr/>
        </p:nvSpPr>
        <p:spPr>
          <a:xfrm>
            <a:off x="6199632" y="2788920"/>
            <a:ext cx="1581912" cy="1600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設定・自動化・パートナーとの調整</a:t>
            </a:r>
            <a:endParaRPr lang="en-US" sz="1800" dirty="0"/>
          </a:p>
        </p:txBody>
      </p:sp>
      <p:sp>
        <p:nvSpPr>
          <p:cNvPr id="34" name="Shape 31"/>
          <p:cNvSpPr/>
          <p:nvPr/>
        </p:nvSpPr>
        <p:spPr>
          <a:xfrm>
            <a:off x="6108192" y="4800600"/>
            <a:ext cx="1764792" cy="868680"/>
          </a:xfrm>
          <a:prstGeom prst="roundRect">
            <a:avLst>
              <a:gd name="adj" fmla="val 12632"/>
            </a:avLst>
          </a:prstGeom>
          <a:solidFill>
            <a:srgbClr val="FFFFFF"/>
          </a:solidFill>
          <a:ln w="25400">
            <a:solidFill>
              <a:srgbClr val="475569"/>
            </a:solidFill>
            <a:prstDash val="solid"/>
          </a:ln>
        </p:spPr>
      </p:sp>
      <p:sp>
        <p:nvSpPr>
          <p:cNvPr id="35" name="Text 32"/>
          <p:cNvSpPr txBox="1"/>
          <p:nvPr/>
        </p:nvSpPr>
        <p:spPr>
          <a:xfrm>
            <a:off x="6199632" y="4800600"/>
            <a:ext cx="158191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設定値・手順</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変更記録</a:t>
            </a:r>
            <a:endParaRPr lang="en-US" sz="1800" dirty="0"/>
          </a:p>
        </p:txBody>
      </p:sp>
      <p:sp>
        <p:nvSpPr>
          <p:cNvPr id="36" name="Shape 33"/>
          <p:cNvSpPr/>
          <p:nvPr/>
        </p:nvSpPr>
        <p:spPr>
          <a:xfrm>
            <a:off x="7991856" y="1691640"/>
            <a:ext cx="1764792" cy="685800"/>
          </a:xfrm>
          <a:prstGeom prst="roundRect">
            <a:avLst>
              <a:gd name="adj" fmla="val 16000"/>
            </a:avLst>
          </a:prstGeom>
          <a:solidFill>
            <a:srgbClr val="B45309"/>
          </a:solidFill>
          <a:ln/>
        </p:spPr>
      </p:sp>
      <p:sp>
        <p:nvSpPr>
          <p:cNvPr id="37" name="Text 34"/>
          <p:cNvSpPr txBox="1"/>
          <p:nvPr/>
        </p:nvSpPr>
        <p:spPr>
          <a:xfrm>
            <a:off x="8083296" y="1691640"/>
            <a:ext cx="1581912"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テスト・移行</a:t>
            </a:r>
            <a:endParaRPr lang="en-US" sz="1800" dirty="0"/>
          </a:p>
        </p:txBody>
      </p:sp>
      <p:sp>
        <p:nvSpPr>
          <p:cNvPr id="38" name="Shape 35"/>
          <p:cNvSpPr/>
          <p:nvPr/>
        </p:nvSpPr>
        <p:spPr>
          <a:xfrm>
            <a:off x="9756648" y="2034540"/>
            <a:ext cx="118872" cy="0"/>
          </a:xfrm>
          <a:prstGeom prst="line">
            <a:avLst/>
          </a:prstGeom>
          <a:noFill/>
          <a:ln w="31750">
            <a:solidFill>
              <a:srgbClr val="1B2A3A"/>
            </a:solidFill>
            <a:prstDash val="solid"/>
            <a:tailEnd type="triangle"/>
          </a:ln>
        </p:spPr>
      </p:sp>
      <p:sp>
        <p:nvSpPr>
          <p:cNvPr id="39" name="Shape 36"/>
          <p:cNvSpPr/>
          <p:nvPr/>
        </p:nvSpPr>
        <p:spPr>
          <a:xfrm>
            <a:off x="7991856" y="2788920"/>
            <a:ext cx="1764792" cy="1600200"/>
          </a:xfrm>
          <a:prstGeom prst="roundRect">
            <a:avLst>
              <a:gd name="adj" fmla="val 6857"/>
            </a:avLst>
          </a:prstGeom>
          <a:solidFill>
            <a:srgbClr val="FDEBD0"/>
          </a:solidFill>
          <a:ln w="25400">
            <a:solidFill>
              <a:srgbClr val="B45309"/>
            </a:solidFill>
            <a:prstDash val="solid"/>
          </a:ln>
        </p:spPr>
      </p:sp>
      <p:sp>
        <p:nvSpPr>
          <p:cNvPr id="40" name="Text 37"/>
          <p:cNvSpPr txBox="1"/>
          <p:nvPr/>
        </p:nvSpPr>
        <p:spPr>
          <a:xfrm>
            <a:off x="8083296" y="2788920"/>
            <a:ext cx="1581912" cy="1600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切替・戻し方・受入条件を確認</a:t>
            </a:r>
            <a:endParaRPr lang="en-US" sz="1800" dirty="0"/>
          </a:p>
        </p:txBody>
      </p:sp>
      <p:sp>
        <p:nvSpPr>
          <p:cNvPr id="41" name="Shape 38"/>
          <p:cNvSpPr/>
          <p:nvPr/>
        </p:nvSpPr>
        <p:spPr>
          <a:xfrm>
            <a:off x="7991856" y="4800600"/>
            <a:ext cx="1764792" cy="868680"/>
          </a:xfrm>
          <a:prstGeom prst="roundRect">
            <a:avLst>
              <a:gd name="adj" fmla="val 12632"/>
            </a:avLst>
          </a:prstGeom>
          <a:solidFill>
            <a:srgbClr val="FFFFFF"/>
          </a:solidFill>
          <a:ln w="25400">
            <a:solidFill>
              <a:srgbClr val="475569"/>
            </a:solidFill>
            <a:prstDash val="solid"/>
          </a:ln>
        </p:spPr>
      </p:sp>
      <p:sp>
        <p:nvSpPr>
          <p:cNvPr id="42" name="Text 39"/>
          <p:cNvSpPr txBox="1"/>
          <p:nvPr/>
        </p:nvSpPr>
        <p:spPr>
          <a:xfrm>
            <a:off x="8083296" y="4800600"/>
            <a:ext cx="158191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試験結果</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切戻し計画</a:t>
            </a:r>
            <a:endParaRPr lang="en-US" sz="1800" dirty="0"/>
          </a:p>
        </p:txBody>
      </p:sp>
      <p:sp>
        <p:nvSpPr>
          <p:cNvPr id="43" name="Shape 40"/>
          <p:cNvSpPr/>
          <p:nvPr/>
        </p:nvSpPr>
        <p:spPr>
          <a:xfrm>
            <a:off x="9875520" y="1691640"/>
            <a:ext cx="1764792" cy="685800"/>
          </a:xfrm>
          <a:prstGeom prst="roundRect">
            <a:avLst>
              <a:gd name="adj" fmla="val 16000"/>
            </a:avLst>
          </a:prstGeom>
          <a:solidFill>
            <a:srgbClr val="0B7A7A"/>
          </a:solidFill>
          <a:ln/>
        </p:spPr>
      </p:sp>
      <p:sp>
        <p:nvSpPr>
          <p:cNvPr id="44" name="Text 41"/>
          <p:cNvSpPr txBox="1"/>
          <p:nvPr/>
        </p:nvSpPr>
        <p:spPr>
          <a:xfrm>
            <a:off x="9966960" y="1691640"/>
            <a:ext cx="1581912" cy="6858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納入・引継ぎ</a:t>
            </a:r>
            <a:endParaRPr lang="en-US" sz="1800" dirty="0"/>
          </a:p>
        </p:txBody>
      </p:sp>
      <p:sp>
        <p:nvSpPr>
          <p:cNvPr id="45" name="Shape 42"/>
          <p:cNvSpPr/>
          <p:nvPr/>
        </p:nvSpPr>
        <p:spPr>
          <a:xfrm>
            <a:off x="9875520" y="2788920"/>
            <a:ext cx="1764792" cy="1600200"/>
          </a:xfrm>
          <a:prstGeom prst="roundRect">
            <a:avLst>
              <a:gd name="adj" fmla="val 6857"/>
            </a:avLst>
          </a:prstGeom>
          <a:solidFill>
            <a:srgbClr val="D9F2F1"/>
          </a:solidFill>
          <a:ln w="25400">
            <a:solidFill>
              <a:srgbClr val="0B7A7A"/>
            </a:solidFill>
            <a:prstDash val="solid"/>
          </a:ln>
        </p:spPr>
      </p:sp>
      <p:sp>
        <p:nvSpPr>
          <p:cNvPr id="46" name="Text 43"/>
          <p:cNvSpPr txBox="1"/>
          <p:nvPr/>
        </p:nvSpPr>
        <p:spPr>
          <a:xfrm>
            <a:off x="9966960" y="2788920"/>
            <a:ext cx="1581912" cy="1600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顧客に説明し、運用できる形にする</a:t>
            </a:r>
            <a:endParaRPr lang="en-US" sz="1800" dirty="0"/>
          </a:p>
        </p:txBody>
      </p:sp>
      <p:sp>
        <p:nvSpPr>
          <p:cNvPr id="47" name="Shape 44"/>
          <p:cNvSpPr/>
          <p:nvPr/>
        </p:nvSpPr>
        <p:spPr>
          <a:xfrm>
            <a:off x="9875520" y="4800600"/>
            <a:ext cx="1764792" cy="868680"/>
          </a:xfrm>
          <a:prstGeom prst="roundRect">
            <a:avLst>
              <a:gd name="adj" fmla="val 12632"/>
            </a:avLst>
          </a:prstGeom>
          <a:solidFill>
            <a:srgbClr val="FFFFFF"/>
          </a:solidFill>
          <a:ln w="25400">
            <a:solidFill>
              <a:srgbClr val="475569"/>
            </a:solidFill>
            <a:prstDash val="solid"/>
          </a:ln>
        </p:spPr>
      </p:sp>
      <p:sp>
        <p:nvSpPr>
          <p:cNvPr id="48" name="Text 45"/>
          <p:cNvSpPr txBox="1"/>
          <p:nvPr/>
        </p:nvSpPr>
        <p:spPr>
          <a:xfrm>
            <a:off x="9966960" y="4800600"/>
            <a:ext cx="158191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運用設計書</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完了記録</a:t>
            </a:r>
            <a:endParaRPr lang="en-US" sz="1800" dirty="0"/>
          </a:p>
        </p:txBody>
      </p:sp>
      <p:sp>
        <p:nvSpPr>
          <p:cNvPr id="49" name="Text 46"/>
          <p:cNvSpPr txBox="1"/>
          <p:nvPr/>
        </p:nvSpPr>
        <p:spPr>
          <a:xfrm>
            <a:off x="457200" y="2432304"/>
            <a:ext cx="365760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SEの作業例</a:t>
            </a:r>
            <a:endParaRPr lang="en-US" sz="1800" dirty="0"/>
          </a:p>
        </p:txBody>
      </p:sp>
      <p:sp>
        <p:nvSpPr>
          <p:cNvPr id="50" name="Text 47"/>
          <p:cNvSpPr txBox="1"/>
          <p:nvPr/>
        </p:nvSpPr>
        <p:spPr>
          <a:xfrm>
            <a:off x="457200" y="4443984"/>
            <a:ext cx="365760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残す成果物</a:t>
            </a:r>
            <a:endParaRPr lang="en-US" sz="1800" dirty="0"/>
          </a:p>
        </p:txBody>
      </p:sp>
      <p:sp>
        <p:nvSpPr>
          <p:cNvPr id="51" name="Shape 48"/>
          <p:cNvSpPr/>
          <p:nvPr/>
        </p:nvSpPr>
        <p:spPr>
          <a:xfrm>
            <a:off x="457200" y="5806440"/>
            <a:ext cx="11274552" cy="502920"/>
          </a:xfrm>
          <a:prstGeom prst="roundRect">
            <a:avLst>
              <a:gd name="adj" fmla="val 21818"/>
            </a:avLst>
          </a:prstGeom>
          <a:solidFill>
            <a:srgbClr val="DCE8F8"/>
          </a:solidFill>
          <a:ln w="19050">
            <a:solidFill>
              <a:srgbClr val="2F6BC2"/>
            </a:solidFill>
            <a:prstDash val="solid"/>
          </a:ln>
        </p:spPr>
      </p:sp>
      <p:sp>
        <p:nvSpPr>
          <p:cNvPr id="52" name="Shape 49"/>
          <p:cNvSpPr/>
          <p:nvPr/>
        </p:nvSpPr>
        <p:spPr>
          <a:xfrm>
            <a:off x="594360" y="5897880"/>
            <a:ext cx="320040" cy="320040"/>
          </a:xfrm>
          <a:prstGeom prst="ellipse">
            <a:avLst/>
          </a:prstGeom>
          <a:solidFill>
            <a:srgbClr val="2F6BC2"/>
          </a:solidFill>
          <a:ln/>
        </p:spPr>
      </p:sp>
      <p:pic>
        <p:nvPicPr>
          <p:cNvPr id="53" name="Image 0" descr="preencoded.png">    </p:cNvPr>
          <p:cNvPicPr>
            <a:picLocks noChangeAspect="1"/>
          </p:cNvPicPr>
          <p:nvPr/>
        </p:nvPicPr>
        <p:blipFill>
          <a:blip r:embed="rId1"/>
          <a:stretch>
            <a:fillRect/>
          </a:stretch>
        </p:blipFill>
        <p:spPr>
          <a:xfrm>
            <a:off x="664769" y="5968289"/>
            <a:ext cx="179222" cy="179222"/>
          </a:xfrm>
          <a:prstGeom prst="rect">
            <a:avLst/>
          </a:prstGeom>
        </p:spPr>
      </p:pic>
      <p:sp>
        <p:nvSpPr>
          <p:cNvPr id="54" name="Text 50"/>
          <p:cNvSpPr txBox="1"/>
          <p:nvPr/>
        </p:nvSpPr>
        <p:spPr>
          <a:xfrm>
            <a:off x="1051560" y="5852160"/>
            <a:ext cx="10543032" cy="4114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SEは「なぜこの構成で要件を満たせるか」を説明する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2087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HPEのSE</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非機能要件は機能以外の条件。一日の仕事は組み合わせ</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非機能要件は、画面の機能以外の条件（性能・止まりにくさ・安全など）です。SEの一日は、打合せ・設計・設定・確認・報告の組み合わせで進みます。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出典：[N14] [N15]</a:t>
            </a:r>
            <a:endParaRPr lang="ja-JP" sz="1200" dirty="0"/>
          </a:p>
        </p:txBody>
      </p:sp>
      <p:sp>
        <p:nvSpPr>
          <p:cNvPr id="9" name="Shape 6"/>
          <p:cNvSpPr/>
          <p:nvPr/>
        </p:nvSpPr>
        <p:spPr>
          <a:xfrm>
            <a:off x="457200" y="1691640"/>
            <a:ext cx="2130552" cy="2103120"/>
          </a:xfrm>
          <a:prstGeom prst="roundRect">
            <a:avLst>
              <a:gd name="adj" fmla="val 6087"/>
            </a:avLst>
          </a:prstGeom>
          <a:solidFill>
            <a:srgbClr val="E6E1F7"/>
          </a:solidFill>
          <a:ln/>
        </p:spPr>
      </p:sp>
      <p:sp>
        <p:nvSpPr>
          <p:cNvPr id="10" name="Text 7"/>
          <p:cNvSpPr txBox="1"/>
          <p:nvPr/>
        </p:nvSpPr>
        <p:spPr>
          <a:xfrm>
            <a:off x="640080" y="1819656"/>
            <a:ext cx="176479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性能</a:t>
            </a:r>
            <a:endParaRPr lang="en-US" sz="2000" dirty="0"/>
          </a:p>
        </p:txBody>
      </p:sp>
      <p:sp>
        <p:nvSpPr>
          <p:cNvPr id="11" name="Text 8"/>
          <p:cNvSpPr txBox="1"/>
          <p:nvPr/>
        </p:nvSpPr>
        <p:spPr>
          <a:xfrm>
            <a:off x="640080" y="2246376"/>
            <a:ext cx="1764792" cy="145694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応答時間・処理量</a:t>
            </a:r>
            <a:endParaRPr lang="en-US" sz="1800" dirty="0"/>
          </a:p>
        </p:txBody>
      </p:sp>
      <p:sp>
        <p:nvSpPr>
          <p:cNvPr id="12" name="Shape 9"/>
          <p:cNvSpPr/>
          <p:nvPr/>
        </p:nvSpPr>
        <p:spPr>
          <a:xfrm>
            <a:off x="2743200" y="1691640"/>
            <a:ext cx="2130552" cy="2103120"/>
          </a:xfrm>
          <a:prstGeom prst="roundRect">
            <a:avLst>
              <a:gd name="adj" fmla="val 6087"/>
            </a:avLst>
          </a:prstGeom>
          <a:solidFill>
            <a:srgbClr val="E6E1F7"/>
          </a:solidFill>
          <a:ln/>
        </p:spPr>
      </p:sp>
      <p:sp>
        <p:nvSpPr>
          <p:cNvPr id="13" name="Text 10"/>
          <p:cNvSpPr txBox="1"/>
          <p:nvPr/>
        </p:nvSpPr>
        <p:spPr>
          <a:xfrm>
            <a:off x="2926080" y="1819656"/>
            <a:ext cx="176479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可用性</a:t>
            </a:r>
            <a:endParaRPr lang="en-US" sz="2000" dirty="0"/>
          </a:p>
        </p:txBody>
      </p:sp>
      <p:sp>
        <p:nvSpPr>
          <p:cNvPr id="14" name="Text 11"/>
          <p:cNvSpPr txBox="1"/>
          <p:nvPr/>
        </p:nvSpPr>
        <p:spPr>
          <a:xfrm>
            <a:off x="2926080" y="2246376"/>
            <a:ext cx="1764792" cy="145694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止まりにくさ・停止許容</a:t>
            </a:r>
            <a:endParaRPr lang="en-US" sz="1800" dirty="0"/>
          </a:p>
        </p:txBody>
      </p:sp>
      <p:sp>
        <p:nvSpPr>
          <p:cNvPr id="15" name="Shape 12"/>
          <p:cNvSpPr/>
          <p:nvPr/>
        </p:nvSpPr>
        <p:spPr>
          <a:xfrm>
            <a:off x="5029200" y="1691640"/>
            <a:ext cx="2130552" cy="2103120"/>
          </a:xfrm>
          <a:prstGeom prst="roundRect">
            <a:avLst>
              <a:gd name="adj" fmla="val 6087"/>
            </a:avLst>
          </a:prstGeom>
          <a:solidFill>
            <a:srgbClr val="E6E1F7"/>
          </a:solidFill>
          <a:ln/>
        </p:spPr>
      </p:sp>
      <p:sp>
        <p:nvSpPr>
          <p:cNvPr id="16" name="Text 13"/>
          <p:cNvSpPr txBox="1"/>
          <p:nvPr/>
        </p:nvSpPr>
        <p:spPr>
          <a:xfrm>
            <a:off x="5212080" y="1819656"/>
            <a:ext cx="176479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セキュリティ</a:t>
            </a:r>
            <a:endParaRPr lang="en-US" sz="2000" dirty="0"/>
          </a:p>
        </p:txBody>
      </p:sp>
      <p:sp>
        <p:nvSpPr>
          <p:cNvPr id="17" name="Text 14"/>
          <p:cNvSpPr txBox="1"/>
          <p:nvPr/>
        </p:nvSpPr>
        <p:spPr>
          <a:xfrm>
            <a:off x="5212080" y="2246376"/>
            <a:ext cx="1764792" cy="145694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誰が何に触れるか</a:t>
            </a:r>
            <a:endParaRPr lang="en-US" sz="1800" dirty="0"/>
          </a:p>
        </p:txBody>
      </p:sp>
      <p:sp>
        <p:nvSpPr>
          <p:cNvPr id="18" name="Shape 15"/>
          <p:cNvSpPr/>
          <p:nvPr/>
        </p:nvSpPr>
        <p:spPr>
          <a:xfrm>
            <a:off x="7315200" y="1691640"/>
            <a:ext cx="2130552" cy="2103120"/>
          </a:xfrm>
          <a:prstGeom prst="roundRect">
            <a:avLst>
              <a:gd name="adj" fmla="val 6087"/>
            </a:avLst>
          </a:prstGeom>
          <a:solidFill>
            <a:srgbClr val="E6E1F7"/>
          </a:solidFill>
          <a:ln/>
        </p:spPr>
      </p:sp>
      <p:sp>
        <p:nvSpPr>
          <p:cNvPr id="19" name="Text 16"/>
          <p:cNvSpPr txBox="1"/>
          <p:nvPr/>
        </p:nvSpPr>
        <p:spPr>
          <a:xfrm>
            <a:off x="7498080" y="1819656"/>
            <a:ext cx="176479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運用性</a:t>
            </a:r>
            <a:endParaRPr lang="en-US" sz="2000" dirty="0"/>
          </a:p>
        </p:txBody>
      </p:sp>
      <p:sp>
        <p:nvSpPr>
          <p:cNvPr id="20" name="Text 17"/>
          <p:cNvSpPr txBox="1"/>
          <p:nvPr/>
        </p:nvSpPr>
        <p:spPr>
          <a:xfrm>
            <a:off x="7498080" y="2246376"/>
            <a:ext cx="1764792" cy="145694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監視・更新・復旧</a:t>
            </a:r>
            <a:endParaRPr lang="en-US" sz="1800" dirty="0"/>
          </a:p>
        </p:txBody>
      </p:sp>
      <p:sp>
        <p:nvSpPr>
          <p:cNvPr id="21" name="Shape 18"/>
          <p:cNvSpPr/>
          <p:nvPr/>
        </p:nvSpPr>
        <p:spPr>
          <a:xfrm>
            <a:off x="9601200" y="1691640"/>
            <a:ext cx="2130552" cy="2103120"/>
          </a:xfrm>
          <a:prstGeom prst="roundRect">
            <a:avLst>
              <a:gd name="adj" fmla="val 6087"/>
            </a:avLst>
          </a:prstGeom>
          <a:solidFill>
            <a:srgbClr val="E6E1F7"/>
          </a:solidFill>
          <a:ln/>
        </p:spPr>
      </p:sp>
      <p:sp>
        <p:nvSpPr>
          <p:cNvPr id="22" name="Text 19"/>
          <p:cNvSpPr txBox="1"/>
          <p:nvPr/>
        </p:nvSpPr>
        <p:spPr>
          <a:xfrm>
            <a:off x="9784080" y="1819656"/>
            <a:ext cx="176479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拡張性</a:t>
            </a:r>
            <a:endParaRPr lang="en-US" sz="2000" dirty="0"/>
          </a:p>
        </p:txBody>
      </p:sp>
      <p:sp>
        <p:nvSpPr>
          <p:cNvPr id="23" name="Text 20"/>
          <p:cNvSpPr txBox="1"/>
          <p:nvPr/>
        </p:nvSpPr>
        <p:spPr>
          <a:xfrm>
            <a:off x="9784080" y="2246376"/>
            <a:ext cx="1764792" cy="145694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増えても対応できるか</a:t>
            </a:r>
            <a:endParaRPr lang="en-US" sz="1800" dirty="0"/>
          </a:p>
        </p:txBody>
      </p:sp>
      <p:sp>
        <p:nvSpPr>
          <p:cNvPr id="24" name="Text 21"/>
          <p:cNvSpPr txBox="1"/>
          <p:nvPr/>
        </p:nvSpPr>
        <p:spPr>
          <a:xfrm>
            <a:off x="457200" y="4023360"/>
            <a:ext cx="11274552"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一日の仕事の例（割合は部署・顧客・工程による）</a:t>
            </a:r>
            <a:endParaRPr lang="en-US" sz="2000" dirty="0"/>
          </a:p>
        </p:txBody>
      </p:sp>
      <p:sp>
        <p:nvSpPr>
          <p:cNvPr id="25" name="Shape 22"/>
          <p:cNvSpPr/>
          <p:nvPr/>
        </p:nvSpPr>
        <p:spPr>
          <a:xfrm>
            <a:off x="457200" y="4480560"/>
            <a:ext cx="2130552" cy="868680"/>
          </a:xfrm>
          <a:prstGeom prst="roundRect">
            <a:avLst>
              <a:gd name="adj" fmla="val 12632"/>
            </a:avLst>
          </a:prstGeom>
          <a:solidFill>
            <a:srgbClr val="DCE6F2"/>
          </a:solidFill>
          <a:ln w="25400">
            <a:solidFill>
              <a:srgbClr val="16324F"/>
            </a:solidFill>
            <a:prstDash val="solid"/>
          </a:ln>
        </p:spPr>
      </p:sp>
      <p:sp>
        <p:nvSpPr>
          <p:cNvPr id="26" name="Text 23"/>
          <p:cNvSpPr txBox="1"/>
          <p:nvPr/>
        </p:nvSpPr>
        <p:spPr>
          <a:xfrm>
            <a:off x="548640" y="4480560"/>
            <a:ext cx="194767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顧客との打合せ</a:t>
            </a:r>
            <a:endParaRPr lang="en-US" sz="1800" dirty="0"/>
          </a:p>
        </p:txBody>
      </p:sp>
      <p:sp>
        <p:nvSpPr>
          <p:cNvPr id="27" name="Shape 24"/>
          <p:cNvSpPr/>
          <p:nvPr/>
        </p:nvSpPr>
        <p:spPr>
          <a:xfrm>
            <a:off x="2743200" y="4480560"/>
            <a:ext cx="2130552" cy="868680"/>
          </a:xfrm>
          <a:prstGeom prst="roundRect">
            <a:avLst>
              <a:gd name="adj" fmla="val 12632"/>
            </a:avLst>
          </a:prstGeom>
          <a:solidFill>
            <a:srgbClr val="DCE6F2"/>
          </a:solidFill>
          <a:ln w="25400">
            <a:solidFill>
              <a:srgbClr val="16324F"/>
            </a:solidFill>
            <a:prstDash val="solid"/>
          </a:ln>
        </p:spPr>
      </p:sp>
      <p:sp>
        <p:nvSpPr>
          <p:cNvPr id="28" name="Text 25"/>
          <p:cNvSpPr txBox="1"/>
          <p:nvPr/>
        </p:nvSpPr>
        <p:spPr>
          <a:xfrm>
            <a:off x="2834640" y="4480560"/>
            <a:ext cx="194767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設計書の作成</a:t>
            </a:r>
            <a:endParaRPr lang="en-US" sz="1800" dirty="0"/>
          </a:p>
        </p:txBody>
      </p:sp>
      <p:sp>
        <p:nvSpPr>
          <p:cNvPr id="29" name="Shape 26"/>
          <p:cNvSpPr/>
          <p:nvPr/>
        </p:nvSpPr>
        <p:spPr>
          <a:xfrm>
            <a:off x="5029200" y="4480560"/>
            <a:ext cx="2130552" cy="868680"/>
          </a:xfrm>
          <a:prstGeom prst="roundRect">
            <a:avLst>
              <a:gd name="adj" fmla="val 12632"/>
            </a:avLst>
          </a:prstGeom>
          <a:solidFill>
            <a:srgbClr val="DCE6F2"/>
          </a:solidFill>
          <a:ln w="25400">
            <a:solidFill>
              <a:srgbClr val="16324F"/>
            </a:solidFill>
            <a:prstDash val="solid"/>
          </a:ln>
        </p:spPr>
      </p:sp>
      <p:sp>
        <p:nvSpPr>
          <p:cNvPr id="30" name="Text 27"/>
          <p:cNvSpPr txBox="1"/>
          <p:nvPr/>
        </p:nvSpPr>
        <p:spPr>
          <a:xfrm>
            <a:off x="5120640" y="4480560"/>
            <a:ext cx="194767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設定・検証</a:t>
            </a:r>
            <a:endParaRPr lang="en-US" sz="1800" dirty="0"/>
          </a:p>
        </p:txBody>
      </p:sp>
      <p:sp>
        <p:nvSpPr>
          <p:cNvPr id="31" name="Shape 28"/>
          <p:cNvSpPr/>
          <p:nvPr/>
        </p:nvSpPr>
        <p:spPr>
          <a:xfrm>
            <a:off x="7315200" y="4480560"/>
            <a:ext cx="2130552" cy="868680"/>
          </a:xfrm>
          <a:prstGeom prst="roundRect">
            <a:avLst>
              <a:gd name="adj" fmla="val 12632"/>
            </a:avLst>
          </a:prstGeom>
          <a:solidFill>
            <a:srgbClr val="DCE6F2"/>
          </a:solidFill>
          <a:ln w="25400">
            <a:solidFill>
              <a:srgbClr val="16324F"/>
            </a:solidFill>
            <a:prstDash val="solid"/>
          </a:ln>
        </p:spPr>
      </p:sp>
      <p:sp>
        <p:nvSpPr>
          <p:cNvPr id="32" name="Text 29"/>
          <p:cNvSpPr txBox="1"/>
          <p:nvPr/>
        </p:nvSpPr>
        <p:spPr>
          <a:xfrm>
            <a:off x="7406640" y="4480560"/>
            <a:ext cx="194767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パートナーとの確認</a:t>
            </a:r>
            <a:endParaRPr lang="en-US" sz="1800" dirty="0"/>
          </a:p>
        </p:txBody>
      </p:sp>
      <p:sp>
        <p:nvSpPr>
          <p:cNvPr id="33" name="Shape 30"/>
          <p:cNvSpPr/>
          <p:nvPr/>
        </p:nvSpPr>
        <p:spPr>
          <a:xfrm>
            <a:off x="9601200" y="4480560"/>
            <a:ext cx="2130552" cy="868680"/>
          </a:xfrm>
          <a:prstGeom prst="roundRect">
            <a:avLst>
              <a:gd name="adj" fmla="val 12632"/>
            </a:avLst>
          </a:prstGeom>
          <a:solidFill>
            <a:srgbClr val="DCE6F2"/>
          </a:solidFill>
          <a:ln w="25400">
            <a:solidFill>
              <a:srgbClr val="16324F"/>
            </a:solidFill>
            <a:prstDash val="solid"/>
          </a:ln>
        </p:spPr>
      </p:sp>
      <p:sp>
        <p:nvSpPr>
          <p:cNvPr id="34" name="Text 31"/>
          <p:cNvSpPr txBox="1"/>
          <p:nvPr/>
        </p:nvSpPr>
        <p:spPr>
          <a:xfrm>
            <a:off x="9692640" y="4480560"/>
            <a:ext cx="1947672"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課題・進捗の報告</a:t>
            </a:r>
            <a:endParaRPr lang="en-US" sz="1800" dirty="0"/>
          </a:p>
        </p:txBody>
      </p:sp>
      <p:sp>
        <p:nvSpPr>
          <p:cNvPr id="35" name="Shape 32"/>
          <p:cNvSpPr/>
          <p:nvPr/>
        </p:nvSpPr>
        <p:spPr>
          <a:xfrm>
            <a:off x="457200" y="5532120"/>
            <a:ext cx="11274552" cy="777240"/>
          </a:xfrm>
          <a:prstGeom prst="roundRect">
            <a:avLst>
              <a:gd name="adj" fmla="val 14118"/>
            </a:avLst>
          </a:prstGeom>
          <a:solidFill>
            <a:srgbClr val="DCE8F8"/>
          </a:solidFill>
          <a:ln w="19050">
            <a:solidFill>
              <a:srgbClr val="2F6BC2"/>
            </a:solidFill>
            <a:prstDash val="solid"/>
          </a:ln>
        </p:spPr>
      </p:sp>
      <p:sp>
        <p:nvSpPr>
          <p:cNvPr id="36" name="Shape 33"/>
          <p:cNvSpPr/>
          <p:nvPr/>
        </p:nvSpPr>
        <p:spPr>
          <a:xfrm>
            <a:off x="594360" y="5692140"/>
            <a:ext cx="457200" cy="457200"/>
          </a:xfrm>
          <a:prstGeom prst="ellipse">
            <a:avLst/>
          </a:prstGeom>
          <a:solidFill>
            <a:srgbClr val="2F6BC2"/>
          </a:solidFill>
          <a:ln/>
        </p:spPr>
      </p:sp>
      <p:pic>
        <p:nvPicPr>
          <p:cNvPr id="37" name="Image 0" descr="preencoded.png">    </p:cNvPr>
          <p:cNvPicPr>
            <a:picLocks noChangeAspect="1"/>
          </p:cNvPicPr>
          <p:nvPr/>
        </p:nvPicPr>
        <p:blipFill>
          <a:blip r:embed="rId1"/>
          <a:stretch>
            <a:fillRect/>
          </a:stretch>
        </p:blipFill>
        <p:spPr>
          <a:xfrm>
            <a:off x="694944" y="5792724"/>
            <a:ext cx="256032" cy="256032"/>
          </a:xfrm>
          <a:prstGeom prst="rect">
            <a:avLst/>
          </a:prstGeom>
        </p:spPr>
      </p:pic>
      <p:sp>
        <p:nvSpPr>
          <p:cNvPr id="38" name="Text 34"/>
          <p:cNvSpPr txBox="1"/>
          <p:nvPr/>
        </p:nvSpPr>
        <p:spPr>
          <a:xfrm>
            <a:off x="1188720" y="5577840"/>
            <a:ext cx="10405872" cy="6858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常にコードを書く仕事でも、常に会議だけの仕事でもない</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2087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HPEのSE</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HPEの製品は層で整理すると理解しやすい</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HPEの製品名は、下からサーバー・ストレージ・ネットワーク、その上にAI基盤、さらに管理・利用のソフト、と層で整理すると理解しやすくなります。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出典：[N17] [N18] [N20]</a:t>
            </a:r>
            <a:endParaRPr lang="ja-JP" sz="1200" dirty="0"/>
          </a:p>
        </p:txBody>
      </p:sp>
      <p:sp>
        <p:nvSpPr>
          <p:cNvPr id="9" name="Shape 6"/>
          <p:cNvSpPr/>
          <p:nvPr/>
        </p:nvSpPr>
        <p:spPr>
          <a:xfrm>
            <a:off x="457200" y="1691640"/>
            <a:ext cx="5532120" cy="960120"/>
          </a:xfrm>
          <a:prstGeom prst="roundRect">
            <a:avLst>
              <a:gd name="adj" fmla="val 11429"/>
            </a:avLst>
          </a:prstGeom>
          <a:solidFill>
            <a:srgbClr val="FDEBD0"/>
          </a:solidFill>
          <a:ln w="25400">
            <a:solidFill>
              <a:srgbClr val="B45309"/>
            </a:solidFill>
            <a:prstDash val="solid"/>
          </a:ln>
        </p:spPr>
      </p:sp>
      <p:sp>
        <p:nvSpPr>
          <p:cNvPr id="10" name="Shape 7"/>
          <p:cNvSpPr/>
          <p:nvPr/>
        </p:nvSpPr>
        <p:spPr>
          <a:xfrm>
            <a:off x="585216" y="1897380"/>
            <a:ext cx="548640" cy="548640"/>
          </a:xfrm>
          <a:prstGeom prst="ellipse">
            <a:avLst/>
          </a:prstGeom>
          <a:solidFill>
            <a:srgbClr val="B45309"/>
          </a:solidFill>
          <a:ln/>
        </p:spPr>
      </p:sp>
      <p:pic>
        <p:nvPicPr>
          <p:cNvPr id="11" name="Image 0" descr="preencoded.png">    </p:cNvPr>
          <p:cNvPicPr>
            <a:picLocks noChangeAspect="1"/>
          </p:cNvPicPr>
          <p:nvPr/>
        </p:nvPicPr>
        <p:blipFill>
          <a:blip r:embed="rId1"/>
          <a:stretch>
            <a:fillRect/>
          </a:stretch>
        </p:blipFill>
        <p:spPr>
          <a:xfrm>
            <a:off x="705917" y="2018081"/>
            <a:ext cx="307238" cy="307238"/>
          </a:xfrm>
          <a:prstGeom prst="rect">
            <a:avLst/>
          </a:prstGeom>
        </p:spPr>
      </p:pic>
      <p:sp>
        <p:nvSpPr>
          <p:cNvPr id="12" name="Text 8"/>
          <p:cNvSpPr txBox="1"/>
          <p:nvPr/>
        </p:nvSpPr>
        <p:spPr>
          <a:xfrm>
            <a:off x="1225296" y="1691640"/>
            <a:ext cx="4672584" cy="9601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GreenLake：ハイブリッド環境の管理</a:t>
            </a:r>
            <a:endParaRPr lang="en-US" sz="1800" dirty="0"/>
          </a:p>
        </p:txBody>
      </p:sp>
      <p:sp>
        <p:nvSpPr>
          <p:cNvPr id="13" name="Shape 9"/>
          <p:cNvSpPr/>
          <p:nvPr/>
        </p:nvSpPr>
        <p:spPr>
          <a:xfrm>
            <a:off x="6199632" y="1691640"/>
            <a:ext cx="5532120" cy="960120"/>
          </a:xfrm>
          <a:prstGeom prst="roundRect">
            <a:avLst>
              <a:gd name="adj" fmla="val 11429"/>
            </a:avLst>
          </a:prstGeom>
          <a:solidFill>
            <a:srgbClr val="FDEBD0"/>
          </a:solidFill>
          <a:ln w="25400">
            <a:solidFill>
              <a:srgbClr val="B45309"/>
            </a:solidFill>
            <a:prstDash val="solid"/>
          </a:ln>
        </p:spPr>
      </p:sp>
      <p:sp>
        <p:nvSpPr>
          <p:cNvPr id="14" name="Shape 10"/>
          <p:cNvSpPr/>
          <p:nvPr/>
        </p:nvSpPr>
        <p:spPr>
          <a:xfrm>
            <a:off x="6327648" y="1897380"/>
            <a:ext cx="548640" cy="548640"/>
          </a:xfrm>
          <a:prstGeom prst="ellipse">
            <a:avLst/>
          </a:prstGeom>
          <a:solidFill>
            <a:srgbClr val="B45309"/>
          </a:solidFill>
          <a:ln/>
        </p:spPr>
      </p:sp>
      <p:pic>
        <p:nvPicPr>
          <p:cNvPr id="15" name="Image 1" descr="preencoded.png">    </p:cNvPr>
          <p:cNvPicPr>
            <a:picLocks noChangeAspect="1"/>
          </p:cNvPicPr>
          <p:nvPr/>
        </p:nvPicPr>
        <p:blipFill>
          <a:blip r:embed="rId2"/>
          <a:stretch>
            <a:fillRect/>
          </a:stretch>
        </p:blipFill>
        <p:spPr>
          <a:xfrm>
            <a:off x="6448349" y="2018081"/>
            <a:ext cx="307238" cy="307238"/>
          </a:xfrm>
          <a:prstGeom prst="rect">
            <a:avLst/>
          </a:prstGeom>
        </p:spPr>
      </p:pic>
      <p:sp>
        <p:nvSpPr>
          <p:cNvPr id="16" name="Text 11"/>
          <p:cNvSpPr txBox="1"/>
          <p:nvPr/>
        </p:nvSpPr>
        <p:spPr>
          <a:xfrm>
            <a:off x="6967728" y="1691640"/>
            <a:ext cx="4672584" cy="9601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Morpheus／VM Essentials：仮想化の管理</a:t>
            </a:r>
            <a:endParaRPr lang="en-US" sz="1800" dirty="0"/>
          </a:p>
        </p:txBody>
      </p:sp>
      <p:sp>
        <p:nvSpPr>
          <p:cNvPr id="17" name="Shape 12"/>
          <p:cNvSpPr/>
          <p:nvPr/>
        </p:nvSpPr>
        <p:spPr>
          <a:xfrm>
            <a:off x="457200" y="2788920"/>
            <a:ext cx="11274552" cy="914400"/>
          </a:xfrm>
          <a:prstGeom prst="roundRect">
            <a:avLst>
              <a:gd name="adj" fmla="val 12000"/>
            </a:avLst>
          </a:prstGeom>
          <a:solidFill>
            <a:srgbClr val="5B46B8"/>
          </a:solidFill>
          <a:ln/>
        </p:spPr>
      </p:sp>
      <p:sp>
        <p:nvSpPr>
          <p:cNvPr id="18" name="Shape 13"/>
          <p:cNvSpPr/>
          <p:nvPr/>
        </p:nvSpPr>
        <p:spPr>
          <a:xfrm>
            <a:off x="585216" y="2971800"/>
            <a:ext cx="548640" cy="548640"/>
          </a:xfrm>
          <a:prstGeom prst="ellipse">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705917" y="3092501"/>
            <a:ext cx="307238" cy="307238"/>
          </a:xfrm>
          <a:prstGeom prst="rect">
            <a:avLst/>
          </a:prstGeom>
        </p:spPr>
      </p:pic>
      <p:sp>
        <p:nvSpPr>
          <p:cNvPr id="20" name="Text 14"/>
          <p:cNvSpPr txBox="1"/>
          <p:nvPr/>
        </p:nvSpPr>
        <p:spPr>
          <a:xfrm>
            <a:off x="1225296" y="2788920"/>
            <a:ext cx="10415016" cy="9144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Private Cloud AI：企業がAIを導入・運用する統合基盤（NVIDIAとの協業）</a:t>
            </a:r>
            <a:endParaRPr lang="en-US" sz="2000" dirty="0"/>
          </a:p>
        </p:txBody>
      </p:sp>
      <p:sp>
        <p:nvSpPr>
          <p:cNvPr id="21" name="Shape 15"/>
          <p:cNvSpPr/>
          <p:nvPr/>
        </p:nvSpPr>
        <p:spPr>
          <a:xfrm>
            <a:off x="457200" y="3840480"/>
            <a:ext cx="3611880" cy="1188720"/>
          </a:xfrm>
          <a:prstGeom prst="roundRect">
            <a:avLst>
              <a:gd name="adj" fmla="val 9231"/>
            </a:avLst>
          </a:prstGeom>
          <a:solidFill>
            <a:srgbClr val="E6E1F7"/>
          </a:solidFill>
          <a:ln w="25400">
            <a:solidFill>
              <a:srgbClr val="5B46B8"/>
            </a:solidFill>
            <a:prstDash val="solid"/>
          </a:ln>
        </p:spPr>
      </p:sp>
      <p:sp>
        <p:nvSpPr>
          <p:cNvPr id="22" name="Shape 16"/>
          <p:cNvSpPr/>
          <p:nvPr/>
        </p:nvSpPr>
        <p:spPr>
          <a:xfrm>
            <a:off x="585216" y="4160520"/>
            <a:ext cx="548640" cy="548640"/>
          </a:xfrm>
          <a:prstGeom prst="ellipse">
            <a:avLst/>
          </a:prstGeom>
          <a:solidFill>
            <a:srgbClr val="5B46B8"/>
          </a:solidFill>
          <a:ln/>
        </p:spPr>
      </p:sp>
      <p:pic>
        <p:nvPicPr>
          <p:cNvPr id="23" name="Image 3" descr="preencoded.png">    </p:cNvPr>
          <p:cNvPicPr>
            <a:picLocks noChangeAspect="1"/>
          </p:cNvPicPr>
          <p:nvPr/>
        </p:nvPicPr>
        <p:blipFill>
          <a:blip r:embed="rId4"/>
          <a:stretch>
            <a:fillRect/>
          </a:stretch>
        </p:blipFill>
        <p:spPr>
          <a:xfrm>
            <a:off x="705917" y="4281221"/>
            <a:ext cx="307238" cy="307238"/>
          </a:xfrm>
          <a:prstGeom prst="rect">
            <a:avLst/>
          </a:prstGeom>
        </p:spPr>
      </p:pic>
      <p:sp>
        <p:nvSpPr>
          <p:cNvPr id="24" name="Text 17"/>
          <p:cNvSpPr txBox="1"/>
          <p:nvPr/>
        </p:nvSpPr>
        <p:spPr>
          <a:xfrm>
            <a:off x="1225296" y="3840480"/>
            <a:ext cx="2752344" cy="11887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サーバー</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ProLiant（iLOで管理）</a:t>
            </a:r>
            <a:endParaRPr lang="en-US" sz="2000" dirty="0"/>
          </a:p>
        </p:txBody>
      </p:sp>
      <p:sp>
        <p:nvSpPr>
          <p:cNvPr id="25" name="Shape 18"/>
          <p:cNvSpPr/>
          <p:nvPr/>
        </p:nvSpPr>
        <p:spPr>
          <a:xfrm>
            <a:off x="4288536" y="3840480"/>
            <a:ext cx="3611880" cy="1188720"/>
          </a:xfrm>
          <a:prstGeom prst="roundRect">
            <a:avLst>
              <a:gd name="adj" fmla="val 9231"/>
            </a:avLst>
          </a:prstGeom>
          <a:solidFill>
            <a:srgbClr val="E6E1F7"/>
          </a:solidFill>
          <a:ln w="25400">
            <a:solidFill>
              <a:srgbClr val="5B46B8"/>
            </a:solidFill>
            <a:prstDash val="solid"/>
          </a:ln>
        </p:spPr>
      </p:sp>
      <p:sp>
        <p:nvSpPr>
          <p:cNvPr id="26" name="Shape 19"/>
          <p:cNvSpPr/>
          <p:nvPr/>
        </p:nvSpPr>
        <p:spPr>
          <a:xfrm>
            <a:off x="4416552" y="4160520"/>
            <a:ext cx="548640" cy="548640"/>
          </a:xfrm>
          <a:prstGeom prst="ellipse">
            <a:avLst/>
          </a:prstGeom>
          <a:solidFill>
            <a:srgbClr val="5B46B8"/>
          </a:solidFill>
          <a:ln/>
        </p:spPr>
      </p:sp>
      <p:pic>
        <p:nvPicPr>
          <p:cNvPr id="27" name="Image 4" descr="preencoded.png">    </p:cNvPr>
          <p:cNvPicPr>
            <a:picLocks noChangeAspect="1"/>
          </p:cNvPicPr>
          <p:nvPr/>
        </p:nvPicPr>
        <p:blipFill>
          <a:blip r:embed="rId5"/>
          <a:stretch>
            <a:fillRect/>
          </a:stretch>
        </p:blipFill>
        <p:spPr>
          <a:xfrm>
            <a:off x="4537253" y="4281221"/>
            <a:ext cx="307238" cy="307238"/>
          </a:xfrm>
          <a:prstGeom prst="rect">
            <a:avLst/>
          </a:prstGeom>
        </p:spPr>
      </p:pic>
      <p:sp>
        <p:nvSpPr>
          <p:cNvPr id="28" name="Text 20"/>
          <p:cNvSpPr txBox="1"/>
          <p:nvPr/>
        </p:nvSpPr>
        <p:spPr>
          <a:xfrm>
            <a:off x="5056632" y="3840480"/>
            <a:ext cx="2752344" cy="11887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ストレージ</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Alletraなど</a:t>
            </a:r>
            <a:endParaRPr lang="en-US" sz="2000" dirty="0"/>
          </a:p>
        </p:txBody>
      </p:sp>
      <p:sp>
        <p:nvSpPr>
          <p:cNvPr id="29" name="Shape 21"/>
          <p:cNvSpPr/>
          <p:nvPr/>
        </p:nvSpPr>
        <p:spPr>
          <a:xfrm>
            <a:off x="8119872" y="3840480"/>
            <a:ext cx="3611880" cy="1188720"/>
          </a:xfrm>
          <a:prstGeom prst="roundRect">
            <a:avLst>
              <a:gd name="adj" fmla="val 9231"/>
            </a:avLst>
          </a:prstGeom>
          <a:solidFill>
            <a:srgbClr val="DCE8F8"/>
          </a:solidFill>
          <a:ln w="25400">
            <a:solidFill>
              <a:srgbClr val="2F6BC2"/>
            </a:solidFill>
            <a:prstDash val="solid"/>
          </a:ln>
        </p:spPr>
      </p:sp>
      <p:sp>
        <p:nvSpPr>
          <p:cNvPr id="30" name="Shape 22"/>
          <p:cNvSpPr/>
          <p:nvPr/>
        </p:nvSpPr>
        <p:spPr>
          <a:xfrm>
            <a:off x="8247888" y="4160520"/>
            <a:ext cx="548640" cy="548640"/>
          </a:xfrm>
          <a:prstGeom prst="ellipse">
            <a:avLst/>
          </a:prstGeom>
          <a:solidFill>
            <a:srgbClr val="2F6BC2"/>
          </a:solidFill>
          <a:ln/>
        </p:spPr>
      </p:sp>
      <p:pic>
        <p:nvPicPr>
          <p:cNvPr id="31" name="Image 5" descr="preencoded.png">    </p:cNvPr>
          <p:cNvPicPr>
            <a:picLocks noChangeAspect="1"/>
          </p:cNvPicPr>
          <p:nvPr/>
        </p:nvPicPr>
        <p:blipFill>
          <a:blip r:embed="rId6"/>
          <a:stretch>
            <a:fillRect/>
          </a:stretch>
        </p:blipFill>
        <p:spPr>
          <a:xfrm>
            <a:off x="8368589" y="4281221"/>
            <a:ext cx="307238" cy="307238"/>
          </a:xfrm>
          <a:prstGeom prst="rect">
            <a:avLst/>
          </a:prstGeom>
        </p:spPr>
      </p:pic>
      <p:sp>
        <p:nvSpPr>
          <p:cNvPr id="32" name="Text 23"/>
          <p:cNvSpPr txBox="1"/>
          <p:nvPr/>
        </p:nvSpPr>
        <p:spPr>
          <a:xfrm>
            <a:off x="8887968" y="3840480"/>
            <a:ext cx="2752344" cy="11887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ネットワーク</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Aruba／Juniper</a:t>
            </a:r>
            <a:endParaRPr lang="en-US" sz="2000" dirty="0"/>
          </a:p>
        </p:txBody>
      </p:sp>
      <p:sp>
        <p:nvSpPr>
          <p:cNvPr id="33" name="Shape 24"/>
          <p:cNvSpPr/>
          <p:nvPr/>
        </p:nvSpPr>
        <p:spPr>
          <a:xfrm>
            <a:off x="457200" y="5166360"/>
            <a:ext cx="11274552" cy="868680"/>
          </a:xfrm>
          <a:prstGeom prst="roundRect">
            <a:avLst>
              <a:gd name="adj" fmla="val 12632"/>
            </a:avLst>
          </a:prstGeom>
          <a:solidFill>
            <a:srgbClr val="DDF1E4"/>
          </a:solidFill>
          <a:ln w="25400">
            <a:solidFill>
              <a:srgbClr val="237A48"/>
            </a:solidFill>
            <a:prstDash val="solid"/>
          </a:ln>
        </p:spPr>
      </p:sp>
      <p:sp>
        <p:nvSpPr>
          <p:cNvPr id="34" name="Shape 25"/>
          <p:cNvSpPr/>
          <p:nvPr/>
        </p:nvSpPr>
        <p:spPr>
          <a:xfrm>
            <a:off x="585216" y="5326380"/>
            <a:ext cx="548640" cy="548640"/>
          </a:xfrm>
          <a:prstGeom prst="ellipse">
            <a:avLst/>
          </a:prstGeom>
          <a:solidFill>
            <a:srgbClr val="237A48"/>
          </a:solidFill>
          <a:ln/>
        </p:spPr>
      </p:sp>
      <p:pic>
        <p:nvPicPr>
          <p:cNvPr id="35" name="Image 6" descr="preencoded.png">    </p:cNvPr>
          <p:cNvPicPr>
            <a:picLocks noChangeAspect="1"/>
          </p:cNvPicPr>
          <p:nvPr/>
        </p:nvPicPr>
        <p:blipFill>
          <a:blip r:embed="rId7"/>
          <a:stretch>
            <a:fillRect/>
          </a:stretch>
        </p:blipFill>
        <p:spPr>
          <a:xfrm>
            <a:off x="705917" y="5447081"/>
            <a:ext cx="307238" cy="307238"/>
          </a:xfrm>
          <a:prstGeom prst="rect">
            <a:avLst/>
          </a:prstGeom>
        </p:spPr>
      </p:pic>
      <p:sp>
        <p:nvSpPr>
          <p:cNvPr id="36" name="Text 26"/>
          <p:cNvSpPr txBox="1"/>
          <p:nvPr/>
        </p:nvSpPr>
        <p:spPr>
          <a:xfrm>
            <a:off x="1225296" y="5166360"/>
            <a:ext cx="10415016"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NonStop：高い継続稼働が求められる業務の基盤</a:t>
            </a:r>
            <a:endParaRPr lang="en-US" sz="2000" dirty="0"/>
          </a:p>
        </p:txBody>
      </p:sp>
      <p:sp>
        <p:nvSpPr>
          <p:cNvPr id="37" name="Shape 27"/>
          <p:cNvSpPr/>
          <p:nvPr/>
        </p:nvSpPr>
        <p:spPr>
          <a:xfrm>
            <a:off x="457200" y="6135624"/>
            <a:ext cx="365760" cy="237744"/>
          </a:xfrm>
          <a:prstGeom prst="roundRect">
            <a:avLst>
              <a:gd name="adj" fmla="val 19231"/>
            </a:avLst>
          </a:prstGeom>
          <a:solidFill>
            <a:srgbClr val="FDEBD0"/>
          </a:solidFill>
          <a:ln w="25400">
            <a:solidFill>
              <a:srgbClr val="B45309"/>
            </a:solidFill>
            <a:prstDash val="solid"/>
          </a:ln>
        </p:spPr>
      </p:sp>
      <p:sp>
        <p:nvSpPr>
          <p:cNvPr id="38" name="Text 28"/>
          <p:cNvSpPr txBox="1"/>
          <p:nvPr/>
        </p:nvSpPr>
        <p:spPr>
          <a:xfrm>
            <a:off x="914400" y="6080760"/>
            <a:ext cx="12801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利用・管理</a:t>
            </a:r>
            <a:endParaRPr lang="ja-JP" sz="1800" dirty="0"/>
          </a:p>
        </p:txBody>
      </p:sp>
      <p:sp>
        <p:nvSpPr>
          <p:cNvPr id="39" name="Shape 29"/>
          <p:cNvSpPr/>
          <p:nvPr/>
        </p:nvSpPr>
        <p:spPr>
          <a:xfrm>
            <a:off x="2468880" y="6135624"/>
            <a:ext cx="365760" cy="237744"/>
          </a:xfrm>
          <a:prstGeom prst="roundRect">
            <a:avLst>
              <a:gd name="adj" fmla="val 19231"/>
            </a:avLst>
          </a:prstGeom>
          <a:solidFill>
            <a:srgbClr val="E6E1F7"/>
          </a:solidFill>
          <a:ln w="25400">
            <a:solidFill>
              <a:srgbClr val="5B46B8"/>
            </a:solidFill>
            <a:prstDash val="solid"/>
          </a:ln>
        </p:spPr>
      </p:sp>
      <p:sp>
        <p:nvSpPr>
          <p:cNvPr id="40" name="Text 30"/>
          <p:cNvSpPr txBox="1"/>
          <p:nvPr/>
        </p:nvSpPr>
        <p:spPr>
          <a:xfrm>
            <a:off x="2926080" y="6080760"/>
            <a:ext cx="12801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計算・保存</a:t>
            </a:r>
            <a:endParaRPr lang="ja-JP" sz="1800" dirty="0"/>
          </a:p>
        </p:txBody>
      </p:sp>
      <p:sp>
        <p:nvSpPr>
          <p:cNvPr id="41" name="Shape 31"/>
          <p:cNvSpPr/>
          <p:nvPr/>
        </p:nvSpPr>
        <p:spPr>
          <a:xfrm>
            <a:off x="4480560" y="6135624"/>
            <a:ext cx="365760" cy="237744"/>
          </a:xfrm>
          <a:prstGeom prst="roundRect">
            <a:avLst>
              <a:gd name="adj" fmla="val 19231"/>
            </a:avLst>
          </a:prstGeom>
          <a:solidFill>
            <a:srgbClr val="DCE8F8"/>
          </a:solidFill>
          <a:ln w="25400">
            <a:solidFill>
              <a:srgbClr val="2F6BC2"/>
            </a:solidFill>
            <a:prstDash val="solid"/>
          </a:ln>
        </p:spPr>
      </p:sp>
      <p:sp>
        <p:nvSpPr>
          <p:cNvPr id="42" name="Text 32"/>
          <p:cNvSpPr txBox="1"/>
          <p:nvPr/>
        </p:nvSpPr>
        <p:spPr>
          <a:xfrm>
            <a:off x="4937760" y="6080760"/>
            <a:ext cx="15087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ネットワーク</a:t>
            </a:r>
            <a:endParaRPr lang="ja-JP" sz="1800" dirty="0"/>
          </a:p>
        </p:txBody>
      </p:sp>
      <p:sp>
        <p:nvSpPr>
          <p:cNvPr id="43" name="Shape 33"/>
          <p:cNvSpPr/>
          <p:nvPr/>
        </p:nvSpPr>
        <p:spPr>
          <a:xfrm>
            <a:off x="6720840" y="6135624"/>
            <a:ext cx="365760" cy="237744"/>
          </a:xfrm>
          <a:prstGeom prst="roundRect">
            <a:avLst>
              <a:gd name="adj" fmla="val 19231"/>
            </a:avLst>
          </a:prstGeom>
          <a:solidFill>
            <a:srgbClr val="DDF1E4"/>
          </a:solidFill>
          <a:ln w="25400">
            <a:solidFill>
              <a:srgbClr val="237A48"/>
            </a:solidFill>
            <a:prstDash val="solid"/>
          </a:ln>
        </p:spPr>
      </p:sp>
      <p:sp>
        <p:nvSpPr>
          <p:cNvPr id="44" name="Text 34"/>
          <p:cNvSpPr txBox="1"/>
          <p:nvPr/>
        </p:nvSpPr>
        <p:spPr>
          <a:xfrm>
            <a:off x="7178040" y="6080760"/>
            <a:ext cx="1508760" cy="347472"/>
          </a:xfrm>
          <a:prstGeom prst="rect">
            <a:avLst/>
          </a:prstGeom>
          <a:noFill/>
          <a:ln/>
        </p:spPr>
        <p:txBody>
          <a:bodyPr wrap="square" lIns="0" tIns="0" rIns="0" bIns="0" rtlCol="0" anchor="ctr"/>
          <a:lstStyle/>
          <a:p>
            <a:pPr indent="0" marL="0">
              <a:buNone/>
            </a:pPr>
            <a:r>
              <a:rPr lang="ja-JP" altLang="en-US" sz="1800" dirty="0">
                <a:solidFill>
                  <a:srgbClr val="1B2A3A"/>
                </a:solidFill>
                <a:latin typeface="Yu Gothic" pitchFamily="34" charset="0"/>
                <a:ea typeface="Yu Gothic" pitchFamily="34" charset="-122"/>
                <a:cs typeface="Yu Gothic" pitchFamily="34" charset="-120"/>
              </a:rPr>
              <a:t>高い継続稼働</a:t>
            </a:r>
            <a:endParaRPr lang="ja-JP"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2087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HPEのSE</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サーバー・iLO・ストレージ・ネットワークと基礎技術</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製品名を暗記するのではなく、「何をする製品か」と「一緒に学ぶ基礎技術」をセットで覚えます。ここは、サーバー・管理機能・ストレージ・ネットワークです。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出典：[N17] [N18] [N19]</a:t>
            </a:r>
            <a:endParaRPr lang="ja-JP" sz="1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468880"/>
                <a:gridCol w="4206240"/>
                <a:gridCol w="45994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製品・分野</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理解する役割</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一緒に学ぶ基礎</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7724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HPE ProLiant</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企業向けサーバー</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CPU・メモリ・PCIe・ディスク・電源・OS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HPE iLO</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OSとは別系統でサーバーを管理する機能</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管理ネットワーク・電源操作・ログ・遠隔コンソール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7724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HPE Alletraなど</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企業向けストレージ</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ブロック・ファイル・オブジェクト・性能・冗長化</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HPE Aruba／Juniper</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LAN・Wi-Fi・データセンター・広域ネットワーク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VLAN・経路・冗長化・監視</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5577840"/>
            <a:ext cx="11274552" cy="731520"/>
          </a:xfrm>
          <a:prstGeom prst="roundRect">
            <a:avLst>
              <a:gd name="adj" fmla="val 15000"/>
            </a:avLst>
          </a:prstGeom>
          <a:solidFill>
            <a:srgbClr val="DCE8F8"/>
          </a:solidFill>
          <a:ln w="19050">
            <a:solidFill>
              <a:srgbClr val="2F6BC2"/>
            </a:solidFill>
            <a:prstDash val="solid"/>
          </a:ln>
        </p:spPr>
      </p:sp>
      <p:sp>
        <p:nvSpPr>
          <p:cNvPr id="11" name="Shape 7"/>
          <p:cNvSpPr/>
          <p:nvPr/>
        </p:nvSpPr>
        <p:spPr>
          <a:xfrm>
            <a:off x="594360" y="5715000"/>
            <a:ext cx="457200" cy="457200"/>
          </a:xfrm>
          <a:prstGeom prst="ellipse">
            <a:avLst/>
          </a:prstGeom>
          <a:solidFill>
            <a:srgbClr val="2F6BC2"/>
          </a:solidFill>
          <a:ln/>
        </p:spPr>
      </p:sp>
      <p:pic>
        <p:nvPicPr>
          <p:cNvPr id="12" name="Image 0" descr="preencoded.png">    </p:cNvPr>
          <p:cNvPicPr>
            <a:picLocks noChangeAspect="1"/>
          </p:cNvPicPr>
          <p:nvPr/>
        </p:nvPicPr>
        <p:blipFill>
          <a:blip r:embed="rId1"/>
          <a:stretch>
            <a:fillRect/>
          </a:stretch>
        </p:blipFill>
        <p:spPr>
          <a:xfrm>
            <a:off x="694944" y="5815584"/>
            <a:ext cx="256032" cy="256032"/>
          </a:xfrm>
          <a:prstGeom prst="rect">
            <a:avLst/>
          </a:prstGeom>
        </p:spPr>
      </p:pic>
      <p:sp>
        <p:nvSpPr>
          <p:cNvPr id="13" name="Text 8"/>
          <p:cNvSpPr txBox="1"/>
          <p:nvPr/>
        </p:nvSpPr>
        <p:spPr>
          <a:xfrm>
            <a:off x="1188720" y="5623560"/>
            <a:ext cx="10405872" cy="6400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HPEは2025年7月2日にJuniper買収完了を発表[N17]。配属は買収だけから推測しない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2087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HPEのSE</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管理・AI・高可用性の製品も基礎技術と結び付く</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続いて、利用・管理の基盤（GreenLake）、仮想化の管理、AI基盤、高い継続稼働の基盤（NonStop）を、基礎技術と結び付けます。提供時期は製品ごとに違います。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出典：[N20]</a:t>
            </a:r>
            <a:endParaRPr lang="ja-JP" sz="12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3017520"/>
                <a:gridCol w="4206240"/>
                <a:gridCol w="40507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製品・分野</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理解する役割</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一緒に学ぶ基礎</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7724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HPE GreenLake</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ハイブリッド環境などの利用・管理の基盤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オンプレミスとクラウド・運用・従量利用・契約</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HPE Morpheus／VM Essentials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仮想化・クラウド資源の管理ソフト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VM・ハイパーバイザー・構築の自動化</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7724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HPE Private Cloud AI</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企業がAIを導入・運用する統合基盤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GPU・メモリ・データ・推論・アクセス制御</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HPE NonStop</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高い継続稼働が求められる業務の基盤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可用性・障害分離・トランザクション</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5577840"/>
            <a:ext cx="11274552" cy="731520"/>
          </a:xfrm>
          <a:prstGeom prst="roundRect">
            <a:avLst>
              <a:gd name="adj" fmla="val 15000"/>
            </a:avLst>
          </a:prstGeom>
          <a:solidFill>
            <a:srgbClr val="FBE3E0"/>
          </a:solidFill>
          <a:ln w="19050">
            <a:solidFill>
              <a:srgbClr val="C0392B"/>
            </a:solidFill>
            <a:prstDash val="solid"/>
          </a:ln>
        </p:spPr>
      </p:sp>
      <p:sp>
        <p:nvSpPr>
          <p:cNvPr id="11" name="Shape 7"/>
          <p:cNvSpPr/>
          <p:nvPr/>
        </p:nvSpPr>
        <p:spPr>
          <a:xfrm>
            <a:off x="594360" y="5715000"/>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94944" y="5815584"/>
            <a:ext cx="256032" cy="256032"/>
          </a:xfrm>
          <a:prstGeom prst="rect">
            <a:avLst/>
          </a:prstGeom>
        </p:spPr>
      </p:pic>
      <p:sp>
        <p:nvSpPr>
          <p:cNvPr id="13" name="Text 8"/>
          <p:cNvSpPr txBox="1"/>
          <p:nvPr/>
        </p:nvSpPr>
        <p:spPr>
          <a:xfrm>
            <a:off x="1188720" y="5623560"/>
            <a:ext cx="10405872" cy="6400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製品ごとに提供時期が違う。「発表済み・利用可能・将来予定」を区別する[N20]</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2087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HPEのSE</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iLOはOSが止まっても使える管理の入口</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iLOは、サーバー本体のOSが止まっても電源操作や状態の確認ができる、管理専用の入口です。業務の通信と分けて、接続できる人を絞ります。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出典：[N18] [N19]</a:t>
            </a:r>
            <a:endParaRPr lang="ja-JP" sz="1200" dirty="0"/>
          </a:p>
        </p:txBody>
      </p:sp>
      <p:sp>
        <p:nvSpPr>
          <p:cNvPr id="8" name="Shape 5"/>
          <p:cNvSpPr/>
          <p:nvPr/>
        </p:nvSpPr>
        <p:spPr>
          <a:xfrm>
            <a:off x="457200" y="1828800"/>
            <a:ext cx="2011680" cy="1097280"/>
          </a:xfrm>
          <a:prstGeom prst="roundRect">
            <a:avLst>
              <a:gd name="adj" fmla="val 10000"/>
            </a:avLst>
          </a:prstGeom>
          <a:solidFill>
            <a:srgbClr val="D9F2F1"/>
          </a:solidFill>
          <a:ln w="25400">
            <a:solidFill>
              <a:srgbClr val="0B7A7A"/>
            </a:solidFill>
            <a:prstDash val="solid"/>
          </a:ln>
        </p:spPr>
      </p:sp>
      <p:sp>
        <p:nvSpPr>
          <p:cNvPr id="9" name="Shape 6"/>
          <p:cNvSpPr/>
          <p:nvPr/>
        </p:nvSpPr>
        <p:spPr>
          <a:xfrm>
            <a:off x="585216" y="2103120"/>
            <a:ext cx="548640" cy="548640"/>
          </a:xfrm>
          <a:prstGeom prst="ellipse">
            <a:avLst/>
          </a:prstGeom>
          <a:solidFill>
            <a:srgbClr val="0B7A7A"/>
          </a:solidFill>
          <a:ln/>
        </p:spPr>
      </p:sp>
      <p:pic>
        <p:nvPicPr>
          <p:cNvPr id="10" name="Image 0" descr="preencoded.png">    </p:cNvPr>
          <p:cNvPicPr>
            <a:picLocks noChangeAspect="1"/>
          </p:cNvPicPr>
          <p:nvPr/>
        </p:nvPicPr>
        <p:blipFill>
          <a:blip r:embed="rId1"/>
          <a:stretch>
            <a:fillRect/>
          </a:stretch>
        </p:blipFill>
        <p:spPr>
          <a:xfrm>
            <a:off x="705917" y="2223821"/>
            <a:ext cx="307238" cy="307238"/>
          </a:xfrm>
          <a:prstGeom prst="rect">
            <a:avLst/>
          </a:prstGeom>
        </p:spPr>
      </p:pic>
      <p:sp>
        <p:nvSpPr>
          <p:cNvPr id="11" name="Text 7"/>
          <p:cNvSpPr txBox="1"/>
          <p:nvPr/>
        </p:nvSpPr>
        <p:spPr>
          <a:xfrm>
            <a:off x="1225296" y="1828800"/>
            <a:ext cx="1152144" cy="10972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利用者</a:t>
            </a:r>
            <a:endParaRPr lang="en-US" sz="2000" dirty="0"/>
          </a:p>
        </p:txBody>
      </p:sp>
      <p:sp>
        <p:nvSpPr>
          <p:cNvPr id="12" name="Shape 8"/>
          <p:cNvSpPr/>
          <p:nvPr/>
        </p:nvSpPr>
        <p:spPr>
          <a:xfrm>
            <a:off x="457200" y="3931920"/>
            <a:ext cx="2011680" cy="1280160"/>
          </a:xfrm>
          <a:prstGeom prst="roundRect">
            <a:avLst>
              <a:gd name="adj" fmla="val 8571"/>
            </a:avLst>
          </a:prstGeom>
          <a:solidFill>
            <a:srgbClr val="D9F2F1"/>
          </a:solidFill>
          <a:ln w="25400">
            <a:solidFill>
              <a:srgbClr val="0B7A7A"/>
            </a:solidFill>
            <a:prstDash val="solid"/>
          </a:ln>
        </p:spPr>
      </p:sp>
      <p:sp>
        <p:nvSpPr>
          <p:cNvPr id="13" name="Shape 9"/>
          <p:cNvSpPr/>
          <p:nvPr/>
        </p:nvSpPr>
        <p:spPr>
          <a:xfrm>
            <a:off x="585216" y="4297680"/>
            <a:ext cx="548640" cy="548640"/>
          </a:xfrm>
          <a:prstGeom prst="ellipse">
            <a:avLst/>
          </a:prstGeom>
          <a:solidFill>
            <a:srgbClr val="0B7A7A"/>
          </a:solidFill>
          <a:ln/>
        </p:spPr>
      </p:sp>
      <p:pic>
        <p:nvPicPr>
          <p:cNvPr id="14" name="Image 1" descr="preencoded.png">    </p:cNvPr>
          <p:cNvPicPr>
            <a:picLocks noChangeAspect="1"/>
          </p:cNvPicPr>
          <p:nvPr/>
        </p:nvPicPr>
        <p:blipFill>
          <a:blip r:embed="rId2"/>
          <a:stretch>
            <a:fillRect/>
          </a:stretch>
        </p:blipFill>
        <p:spPr>
          <a:xfrm>
            <a:off x="705917" y="4418381"/>
            <a:ext cx="307238" cy="307238"/>
          </a:xfrm>
          <a:prstGeom prst="rect">
            <a:avLst/>
          </a:prstGeom>
        </p:spPr>
      </p:pic>
      <p:sp>
        <p:nvSpPr>
          <p:cNvPr id="15" name="Text 10"/>
          <p:cNvSpPr txBox="1"/>
          <p:nvPr/>
        </p:nvSpPr>
        <p:spPr>
          <a:xfrm>
            <a:off x="1225296" y="3931920"/>
            <a:ext cx="1152144" cy="12801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管理者</a:t>
            </a:r>
            <a:endParaRPr lang="en-US" sz="1800" dirty="0"/>
          </a:p>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スクリプト</a:t>
            </a:r>
            <a:endParaRPr lang="en-US" sz="1800" dirty="0"/>
          </a:p>
        </p:txBody>
      </p:sp>
      <p:sp>
        <p:nvSpPr>
          <p:cNvPr id="16" name="Shape 11"/>
          <p:cNvSpPr/>
          <p:nvPr/>
        </p:nvSpPr>
        <p:spPr>
          <a:xfrm>
            <a:off x="4480560" y="1691640"/>
            <a:ext cx="2743200" cy="3840480"/>
          </a:xfrm>
          <a:prstGeom prst="roundRect">
            <a:avLst>
              <a:gd name="adj" fmla="val 5333"/>
            </a:avLst>
          </a:prstGeom>
          <a:solidFill>
            <a:srgbClr val="F8FAFC"/>
          </a:solidFill>
          <a:ln w="19050">
            <a:solidFill>
              <a:srgbClr val="475569"/>
            </a:solidFill>
            <a:prstDash val="dash"/>
          </a:ln>
        </p:spPr>
      </p:sp>
      <p:sp>
        <p:nvSpPr>
          <p:cNvPr id="17" name="Text 12"/>
          <p:cNvSpPr txBox="1"/>
          <p:nvPr/>
        </p:nvSpPr>
        <p:spPr>
          <a:xfrm>
            <a:off x="4572000" y="1737360"/>
            <a:ext cx="2560320"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475569"/>
                </a:solidFill>
                <a:latin typeface="Yu Gothic" pitchFamily="34" charset="0"/>
                <a:ea typeface="Yu Gothic" pitchFamily="34" charset="-122"/>
                <a:cs typeface="Yu Gothic" pitchFamily="34" charset="-120"/>
              </a:rPr>
              <a:t>サーバー</a:t>
            </a:r>
            <a:endParaRPr lang="en-US" sz="1800" dirty="0"/>
          </a:p>
        </p:txBody>
      </p:sp>
      <p:sp>
        <p:nvSpPr>
          <p:cNvPr id="18" name="Shape 13"/>
          <p:cNvSpPr/>
          <p:nvPr/>
        </p:nvSpPr>
        <p:spPr>
          <a:xfrm>
            <a:off x="4617720" y="2194560"/>
            <a:ext cx="2468880" cy="1188720"/>
          </a:xfrm>
          <a:prstGeom prst="roundRect">
            <a:avLst>
              <a:gd name="adj" fmla="val 9231"/>
            </a:avLst>
          </a:prstGeom>
          <a:solidFill>
            <a:srgbClr val="5B46B8"/>
          </a:solidFill>
          <a:ln/>
        </p:spPr>
      </p:sp>
      <p:sp>
        <p:nvSpPr>
          <p:cNvPr id="19" name="Text 14"/>
          <p:cNvSpPr txBox="1"/>
          <p:nvPr/>
        </p:nvSpPr>
        <p:spPr>
          <a:xfrm>
            <a:off x="4709160" y="2194560"/>
            <a:ext cx="2286000" cy="11887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OS・アプリ</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業務の通信</a:t>
            </a:r>
            <a:endParaRPr lang="en-US" sz="2000" dirty="0"/>
          </a:p>
        </p:txBody>
      </p:sp>
      <p:sp>
        <p:nvSpPr>
          <p:cNvPr id="20" name="Shape 15"/>
          <p:cNvSpPr/>
          <p:nvPr/>
        </p:nvSpPr>
        <p:spPr>
          <a:xfrm>
            <a:off x="4617720" y="3886200"/>
            <a:ext cx="2468880" cy="1371600"/>
          </a:xfrm>
          <a:prstGeom prst="roundRect">
            <a:avLst>
              <a:gd name="adj" fmla="val 8000"/>
            </a:avLst>
          </a:prstGeom>
          <a:solidFill>
            <a:srgbClr val="B45309"/>
          </a:solidFill>
          <a:ln/>
        </p:spPr>
      </p:sp>
      <p:sp>
        <p:nvSpPr>
          <p:cNvPr id="21" name="Text 16"/>
          <p:cNvSpPr txBox="1"/>
          <p:nvPr/>
        </p:nvSpPr>
        <p:spPr>
          <a:xfrm>
            <a:off x="4709160" y="3886200"/>
            <a:ext cx="2286000" cy="137160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iLO</a:t>
            </a:r>
            <a:endParaRPr lang="en-US" sz="2200" dirty="0"/>
          </a:p>
          <a:p>
            <a:pPr algn="ctr" indent="0" marL="0">
              <a:lnSpc>
                <a:spcPts val="2600"/>
              </a:lnSpc>
              <a:buNone/>
            </a:pPr>
            <a:r>
              <a:rPr lang="ja-JP" altLang="en-US" sz="2000" dirty="0">
                <a:solidFill>
                  <a:srgbClr val="F1F5F9"/>
                </a:solidFill>
                <a:latin typeface="Yu Gothic" pitchFamily="34" charset="0"/>
                <a:ea typeface="Yu Gothic" pitchFamily="34" charset="-122"/>
                <a:cs typeface="Yu Gothic" pitchFamily="34" charset="-120"/>
              </a:rPr>
              <a:t>OS停止時も使える</a:t>
            </a:r>
            <a:endParaRPr lang="en-US" sz="2200" dirty="0"/>
          </a:p>
        </p:txBody>
      </p:sp>
      <p:sp>
        <p:nvSpPr>
          <p:cNvPr id="22" name="Shape 17"/>
          <p:cNvSpPr/>
          <p:nvPr/>
        </p:nvSpPr>
        <p:spPr>
          <a:xfrm>
            <a:off x="2468880" y="2377440"/>
            <a:ext cx="2148840" cy="411480"/>
          </a:xfrm>
          <a:prstGeom prst="line">
            <a:avLst/>
          </a:prstGeom>
          <a:noFill/>
          <a:ln w="38100">
            <a:solidFill>
              <a:srgbClr val="2F6BC2"/>
            </a:solidFill>
            <a:prstDash val="solid"/>
            <a:tailEnd type="triangle"/>
          </a:ln>
        </p:spPr>
      </p:sp>
      <p:sp>
        <p:nvSpPr>
          <p:cNvPr id="23" name="Text 18"/>
          <p:cNvSpPr txBox="1"/>
          <p:nvPr/>
        </p:nvSpPr>
        <p:spPr>
          <a:xfrm>
            <a:off x="2583180" y="2039112"/>
            <a:ext cx="192024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業務ネットワーク</a:t>
            </a:r>
            <a:endParaRPr lang="en-US" sz="1800" dirty="0"/>
          </a:p>
        </p:txBody>
      </p:sp>
      <p:sp>
        <p:nvSpPr>
          <p:cNvPr id="24" name="Shape 19"/>
          <p:cNvSpPr/>
          <p:nvPr/>
        </p:nvSpPr>
        <p:spPr>
          <a:xfrm>
            <a:off x="2468880" y="4572000"/>
            <a:ext cx="2148840" cy="0"/>
          </a:xfrm>
          <a:prstGeom prst="line">
            <a:avLst/>
          </a:prstGeom>
          <a:noFill/>
          <a:ln w="38100">
            <a:solidFill>
              <a:srgbClr val="B45309"/>
            </a:solidFill>
            <a:prstDash val="dash"/>
            <a:tailEnd type="triangle"/>
          </a:ln>
        </p:spPr>
      </p:sp>
      <p:sp>
        <p:nvSpPr>
          <p:cNvPr id="25" name="Text 20"/>
          <p:cNvSpPr txBox="1"/>
          <p:nvPr/>
        </p:nvSpPr>
        <p:spPr>
          <a:xfrm>
            <a:off x="2583180" y="4759452"/>
            <a:ext cx="192024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管理ネットワーク</a:t>
            </a:r>
            <a:endParaRPr lang="en-US" sz="1800" dirty="0"/>
          </a:p>
        </p:txBody>
      </p:sp>
      <p:sp>
        <p:nvSpPr>
          <p:cNvPr id="26" name="Shape 21"/>
          <p:cNvSpPr/>
          <p:nvPr/>
        </p:nvSpPr>
        <p:spPr>
          <a:xfrm>
            <a:off x="7498080" y="1691640"/>
            <a:ext cx="4233672" cy="1280160"/>
          </a:xfrm>
          <a:prstGeom prst="roundRect">
            <a:avLst>
              <a:gd name="adj" fmla="val 10000"/>
            </a:avLst>
          </a:prstGeom>
          <a:solidFill>
            <a:srgbClr val="FDEBD0"/>
          </a:solidFill>
          <a:ln/>
        </p:spPr>
      </p:sp>
      <p:sp>
        <p:nvSpPr>
          <p:cNvPr id="27" name="Text 22"/>
          <p:cNvSpPr txBox="1"/>
          <p:nvPr/>
        </p:nvSpPr>
        <p:spPr>
          <a:xfrm>
            <a:off x="7680960" y="1819656"/>
            <a:ext cx="386791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通信を分ける</a:t>
            </a:r>
            <a:endParaRPr lang="en-US" sz="2000" dirty="0"/>
          </a:p>
        </p:txBody>
      </p:sp>
      <p:sp>
        <p:nvSpPr>
          <p:cNvPr id="28" name="Text 23"/>
          <p:cNvSpPr txBox="1"/>
          <p:nvPr/>
        </p:nvSpPr>
        <p:spPr>
          <a:xfrm>
            <a:off x="7680960" y="2246376"/>
            <a:ext cx="3867912" cy="63398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業務と管理の通信を分け、接続できる人を絞る</a:t>
            </a:r>
            <a:endParaRPr lang="en-US" sz="1800" dirty="0"/>
          </a:p>
        </p:txBody>
      </p:sp>
      <p:sp>
        <p:nvSpPr>
          <p:cNvPr id="29" name="Shape 24"/>
          <p:cNvSpPr/>
          <p:nvPr/>
        </p:nvSpPr>
        <p:spPr>
          <a:xfrm>
            <a:off x="7498080" y="3063240"/>
            <a:ext cx="4233672" cy="1280160"/>
          </a:xfrm>
          <a:prstGeom prst="roundRect">
            <a:avLst>
              <a:gd name="adj" fmla="val 10000"/>
            </a:avLst>
          </a:prstGeom>
          <a:solidFill>
            <a:srgbClr val="FDEBD0"/>
          </a:solidFill>
          <a:ln/>
        </p:spPr>
      </p:sp>
      <p:sp>
        <p:nvSpPr>
          <p:cNvPr id="30" name="Text 25"/>
          <p:cNvSpPr txBox="1"/>
          <p:nvPr/>
        </p:nvSpPr>
        <p:spPr>
          <a:xfrm>
            <a:off x="7680960" y="3191256"/>
            <a:ext cx="386791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管理の機能</a:t>
            </a:r>
            <a:endParaRPr lang="en-US" sz="2000" dirty="0"/>
          </a:p>
        </p:txBody>
      </p:sp>
      <p:sp>
        <p:nvSpPr>
          <p:cNvPr id="31" name="Text 26"/>
          <p:cNvSpPr txBox="1"/>
          <p:nvPr/>
        </p:nvSpPr>
        <p:spPr>
          <a:xfrm>
            <a:off x="7680960" y="3617976"/>
            <a:ext cx="3867912" cy="63398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電源操作・ログ・遠隔コンソール</a:t>
            </a:r>
            <a:endParaRPr lang="en-US" sz="1800" dirty="0"/>
          </a:p>
        </p:txBody>
      </p:sp>
      <p:sp>
        <p:nvSpPr>
          <p:cNvPr id="32" name="Shape 27"/>
          <p:cNvSpPr/>
          <p:nvPr/>
        </p:nvSpPr>
        <p:spPr>
          <a:xfrm>
            <a:off x="7498080" y="4434840"/>
            <a:ext cx="4233672" cy="1280160"/>
          </a:xfrm>
          <a:prstGeom prst="roundRect">
            <a:avLst>
              <a:gd name="adj" fmla="val 10000"/>
            </a:avLst>
          </a:prstGeom>
          <a:solidFill>
            <a:srgbClr val="E6E1F7"/>
          </a:solidFill>
          <a:ln/>
        </p:spPr>
      </p:sp>
      <p:sp>
        <p:nvSpPr>
          <p:cNvPr id="33" name="Text 28"/>
          <p:cNvSpPr txBox="1"/>
          <p:nvPr/>
        </p:nvSpPr>
        <p:spPr>
          <a:xfrm>
            <a:off x="7680960" y="4562856"/>
            <a:ext cx="386791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自動化</a:t>
            </a:r>
            <a:endParaRPr lang="en-US" sz="2000" dirty="0"/>
          </a:p>
        </p:txBody>
      </p:sp>
      <p:sp>
        <p:nvSpPr>
          <p:cNvPr id="34" name="Text 29"/>
          <p:cNvSpPr txBox="1"/>
          <p:nvPr/>
        </p:nvSpPr>
        <p:spPr>
          <a:xfrm>
            <a:off x="7680960" y="4989576"/>
            <a:ext cx="3867912" cy="63398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Redfish API＋Pythonで状態を自動取得</a:t>
            </a:r>
            <a:endParaRPr lang="en-US" sz="1800" dirty="0"/>
          </a:p>
        </p:txBody>
      </p:sp>
      <p:sp>
        <p:nvSpPr>
          <p:cNvPr id="35" name="Shape 30"/>
          <p:cNvSpPr/>
          <p:nvPr/>
        </p:nvSpPr>
        <p:spPr>
          <a:xfrm>
            <a:off x="457200" y="5806440"/>
            <a:ext cx="11274552" cy="502920"/>
          </a:xfrm>
          <a:prstGeom prst="roundRect">
            <a:avLst>
              <a:gd name="adj" fmla="val 21818"/>
            </a:avLst>
          </a:prstGeom>
          <a:solidFill>
            <a:srgbClr val="FBE3E0"/>
          </a:solidFill>
          <a:ln w="19050">
            <a:solidFill>
              <a:srgbClr val="C0392B"/>
            </a:solidFill>
            <a:prstDash val="solid"/>
          </a:ln>
        </p:spPr>
      </p:sp>
      <p:sp>
        <p:nvSpPr>
          <p:cNvPr id="36" name="Shape 31"/>
          <p:cNvSpPr/>
          <p:nvPr/>
        </p:nvSpPr>
        <p:spPr>
          <a:xfrm>
            <a:off x="594360" y="5897880"/>
            <a:ext cx="320040" cy="320040"/>
          </a:xfrm>
          <a:prstGeom prst="ellipse">
            <a:avLst/>
          </a:prstGeom>
          <a:solidFill>
            <a:srgbClr val="C0392B"/>
          </a:solidFill>
          <a:ln/>
        </p:spPr>
      </p:sp>
      <p:pic>
        <p:nvPicPr>
          <p:cNvPr id="37" name="Image 2" descr="preencoded.png">    </p:cNvPr>
          <p:cNvPicPr>
            <a:picLocks noChangeAspect="1"/>
          </p:cNvPicPr>
          <p:nvPr/>
        </p:nvPicPr>
        <p:blipFill>
          <a:blip r:embed="rId3"/>
          <a:stretch>
            <a:fillRect/>
          </a:stretch>
        </p:blipFill>
        <p:spPr>
          <a:xfrm>
            <a:off x="664769" y="5968289"/>
            <a:ext cx="179222" cy="179222"/>
          </a:xfrm>
          <a:prstGeom prst="rect">
            <a:avLst/>
          </a:prstGeom>
        </p:spPr>
      </p:pic>
      <p:sp>
        <p:nvSpPr>
          <p:cNvPr id="38" name="Text 32"/>
          <p:cNvSpPr txBox="1"/>
          <p:nvPr/>
        </p:nvSpPr>
        <p:spPr>
          <a:xfrm>
            <a:off x="1051560" y="5852160"/>
            <a:ext cx="10543032" cy="4114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誰が管理画面に接続できるかを設計で決める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2087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HPEのSE</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GPUを何枚買うかの前に、用途と運用の8つを聞く</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企業からAI基盤を頼まれたら、GPUの枚数の前に「何に使うか・データは・何人が・どの速さで」など8つを聞いて要件を決めます（教材の提案）。</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出典：[N20]</a:t>
            </a:r>
            <a:endParaRPr lang="ja-JP" sz="1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5852160"/>
                <a:gridCol w="54223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SEが聞く問い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なぜ必要か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何をAIで改善するか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成果の測り方を決める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データはどこにあり、誰が閲覧できるか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権限と情報漏えいの条件を決める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学習か推論か、どのモデルか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計算・メモリの要件が変わる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同時利用者と会話の長さは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GPU・KVキャッシュの必要量に影響</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最初の応答まで何秒を許すか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応答速度の目標を定める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外部クラウドを使えるか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設置先・接続・契約を決める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どう監視・更新・停止・復旧するか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運用の責任を明確にする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電力と冷却を確保できるか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機器を実際に置き動かせるか判断</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2087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HPEのSE</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490407"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社内文書への質問は、まず検索（RAG）を検討する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社内文書への質問では、関連する文書を先に検索してAIへ渡すRAGが有力です。追加学習（ファインチューニング）が必ず必要とは限りません。</a:t>
            </a:r>
            <a:endParaRPr lang="en-US" sz="1800" dirty="0"/>
          </a:p>
        </p:txBody>
      </p:sp>
      <p:sp>
        <p:nvSpPr>
          <p:cNvPr id="8" name="Shape 5"/>
          <p:cNvSpPr/>
          <p:nvPr/>
        </p:nvSpPr>
        <p:spPr>
          <a:xfrm>
            <a:off x="457200" y="1737360"/>
            <a:ext cx="2606040" cy="1051560"/>
          </a:xfrm>
          <a:prstGeom prst="roundRect">
            <a:avLst>
              <a:gd name="adj" fmla="val 10435"/>
            </a:avLst>
          </a:prstGeom>
          <a:solidFill>
            <a:srgbClr val="0B7A7A"/>
          </a:solidFill>
          <a:ln/>
        </p:spPr>
      </p:sp>
      <p:sp>
        <p:nvSpPr>
          <p:cNvPr id="9" name="Text 6"/>
          <p:cNvSpPr txBox="1"/>
          <p:nvPr/>
        </p:nvSpPr>
        <p:spPr>
          <a:xfrm>
            <a:off x="548640" y="1737360"/>
            <a:ext cx="242316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質問</a:t>
            </a:r>
            <a:endParaRPr lang="en-US" sz="1800" dirty="0"/>
          </a:p>
        </p:txBody>
      </p:sp>
      <p:sp>
        <p:nvSpPr>
          <p:cNvPr id="10" name="Shape 7"/>
          <p:cNvSpPr/>
          <p:nvPr/>
        </p:nvSpPr>
        <p:spPr>
          <a:xfrm>
            <a:off x="3063240" y="2263140"/>
            <a:ext cx="265176" cy="0"/>
          </a:xfrm>
          <a:prstGeom prst="line">
            <a:avLst/>
          </a:prstGeom>
          <a:noFill/>
          <a:ln w="38100">
            <a:solidFill>
              <a:srgbClr val="1B2A3A"/>
            </a:solidFill>
            <a:prstDash val="solid"/>
            <a:tailEnd type="triangle"/>
          </a:ln>
        </p:spPr>
      </p:sp>
      <p:sp>
        <p:nvSpPr>
          <p:cNvPr id="11" name="Shape 8"/>
          <p:cNvSpPr/>
          <p:nvPr/>
        </p:nvSpPr>
        <p:spPr>
          <a:xfrm>
            <a:off x="3328416" y="1737360"/>
            <a:ext cx="2606040" cy="1051560"/>
          </a:xfrm>
          <a:prstGeom prst="roundRect">
            <a:avLst>
              <a:gd name="adj" fmla="val 10435"/>
            </a:avLst>
          </a:prstGeom>
          <a:solidFill>
            <a:srgbClr val="2F6BC2"/>
          </a:solidFill>
          <a:ln/>
        </p:spPr>
      </p:sp>
      <p:sp>
        <p:nvSpPr>
          <p:cNvPr id="12" name="Text 9"/>
          <p:cNvSpPr txBox="1"/>
          <p:nvPr/>
        </p:nvSpPr>
        <p:spPr>
          <a:xfrm>
            <a:off x="3419856" y="1737360"/>
            <a:ext cx="242316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関連文書を検索</a:t>
            </a:r>
            <a:endParaRPr lang="en-US" sz="1800" dirty="0"/>
          </a:p>
        </p:txBody>
      </p:sp>
      <p:sp>
        <p:nvSpPr>
          <p:cNvPr id="13" name="Shape 10"/>
          <p:cNvSpPr/>
          <p:nvPr/>
        </p:nvSpPr>
        <p:spPr>
          <a:xfrm>
            <a:off x="5934456" y="2263140"/>
            <a:ext cx="265176" cy="0"/>
          </a:xfrm>
          <a:prstGeom prst="line">
            <a:avLst/>
          </a:prstGeom>
          <a:noFill/>
          <a:ln w="38100">
            <a:solidFill>
              <a:srgbClr val="1B2A3A"/>
            </a:solidFill>
            <a:prstDash val="solid"/>
            <a:tailEnd type="triangle"/>
          </a:ln>
        </p:spPr>
      </p:sp>
      <p:sp>
        <p:nvSpPr>
          <p:cNvPr id="14" name="Shape 11"/>
          <p:cNvSpPr/>
          <p:nvPr/>
        </p:nvSpPr>
        <p:spPr>
          <a:xfrm>
            <a:off x="6199632" y="1737360"/>
            <a:ext cx="2606040" cy="1051560"/>
          </a:xfrm>
          <a:prstGeom prst="roundRect">
            <a:avLst>
              <a:gd name="adj" fmla="val 10435"/>
            </a:avLst>
          </a:prstGeom>
          <a:solidFill>
            <a:srgbClr val="5B46B8"/>
          </a:solidFill>
          <a:ln/>
        </p:spPr>
      </p:sp>
      <p:sp>
        <p:nvSpPr>
          <p:cNvPr id="15" name="Text 12"/>
          <p:cNvSpPr txBox="1"/>
          <p:nvPr/>
        </p:nvSpPr>
        <p:spPr>
          <a:xfrm>
            <a:off x="6291072" y="1737360"/>
            <a:ext cx="242316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質問＋文書をモデルへ</a:t>
            </a:r>
            <a:endParaRPr lang="en-US" sz="1800" dirty="0"/>
          </a:p>
        </p:txBody>
      </p:sp>
      <p:sp>
        <p:nvSpPr>
          <p:cNvPr id="16" name="Shape 13"/>
          <p:cNvSpPr/>
          <p:nvPr/>
        </p:nvSpPr>
        <p:spPr>
          <a:xfrm>
            <a:off x="8805672" y="2263140"/>
            <a:ext cx="265176" cy="0"/>
          </a:xfrm>
          <a:prstGeom prst="line">
            <a:avLst/>
          </a:prstGeom>
          <a:noFill/>
          <a:ln w="38100">
            <a:solidFill>
              <a:srgbClr val="1B2A3A"/>
            </a:solidFill>
            <a:prstDash val="solid"/>
            <a:tailEnd type="triangle"/>
          </a:ln>
        </p:spPr>
      </p:sp>
      <p:sp>
        <p:nvSpPr>
          <p:cNvPr id="17" name="Shape 14"/>
          <p:cNvSpPr/>
          <p:nvPr/>
        </p:nvSpPr>
        <p:spPr>
          <a:xfrm>
            <a:off x="9070848" y="1737360"/>
            <a:ext cx="2606040" cy="1051560"/>
          </a:xfrm>
          <a:prstGeom prst="roundRect">
            <a:avLst>
              <a:gd name="adj" fmla="val 10435"/>
            </a:avLst>
          </a:prstGeom>
          <a:solidFill>
            <a:srgbClr val="5B46B8"/>
          </a:solidFill>
          <a:ln/>
        </p:spPr>
      </p:sp>
      <p:sp>
        <p:nvSpPr>
          <p:cNvPr id="18" name="Text 15"/>
          <p:cNvSpPr txBox="1"/>
          <p:nvPr/>
        </p:nvSpPr>
        <p:spPr>
          <a:xfrm>
            <a:off x="9162288" y="1737360"/>
            <a:ext cx="242316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出典付きで回答</a:t>
            </a:r>
            <a:endParaRPr lang="en-US" sz="1800" dirty="0"/>
          </a:p>
        </p:txBody>
      </p:sp>
      <p:sp>
        <p:nvSpPr>
          <p:cNvPr id="19" name="Shape 16"/>
          <p:cNvSpPr/>
          <p:nvPr/>
        </p:nvSpPr>
        <p:spPr>
          <a:xfrm>
            <a:off x="457200" y="3063240"/>
            <a:ext cx="5532120" cy="2194560"/>
          </a:xfrm>
          <a:prstGeom prst="roundRect">
            <a:avLst>
              <a:gd name="adj" fmla="val 5833"/>
            </a:avLst>
          </a:prstGeom>
          <a:solidFill>
            <a:srgbClr val="DCE8F8"/>
          </a:solidFill>
          <a:ln/>
        </p:spPr>
      </p:sp>
      <p:sp>
        <p:nvSpPr>
          <p:cNvPr id="20" name="Shape 17"/>
          <p:cNvSpPr/>
          <p:nvPr/>
        </p:nvSpPr>
        <p:spPr>
          <a:xfrm>
            <a:off x="621792" y="3191256"/>
            <a:ext cx="512064" cy="512064"/>
          </a:xfrm>
          <a:prstGeom prst="ellipse">
            <a:avLst/>
          </a:prstGeom>
          <a:solidFill>
            <a:srgbClr val="2F6BC2"/>
          </a:solidFill>
          <a:ln/>
        </p:spPr>
      </p:sp>
      <p:pic>
        <p:nvPicPr>
          <p:cNvPr id="21" name="Image 0" descr="preencoded.png">    </p:cNvPr>
          <p:cNvPicPr>
            <a:picLocks noChangeAspect="1"/>
          </p:cNvPicPr>
          <p:nvPr/>
        </p:nvPicPr>
        <p:blipFill>
          <a:blip r:embed="rId1"/>
          <a:stretch>
            <a:fillRect/>
          </a:stretch>
        </p:blipFill>
        <p:spPr>
          <a:xfrm>
            <a:off x="734446" y="3303910"/>
            <a:ext cx="286756" cy="286756"/>
          </a:xfrm>
          <a:prstGeom prst="rect">
            <a:avLst/>
          </a:prstGeom>
        </p:spPr>
      </p:pic>
      <p:sp>
        <p:nvSpPr>
          <p:cNvPr id="22" name="Text 18"/>
          <p:cNvSpPr txBox="1"/>
          <p:nvPr/>
        </p:nvSpPr>
        <p:spPr>
          <a:xfrm>
            <a:off x="1243584" y="3191256"/>
            <a:ext cx="460857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RAG</a:t>
            </a:r>
            <a:endParaRPr lang="en-US" sz="2200" dirty="0"/>
          </a:p>
        </p:txBody>
      </p:sp>
      <p:sp>
        <p:nvSpPr>
          <p:cNvPr id="23" name="Text 19"/>
          <p:cNvSpPr txBox="1"/>
          <p:nvPr/>
        </p:nvSpPr>
        <p:spPr>
          <a:xfrm>
            <a:off x="640080" y="3794760"/>
            <a:ext cx="5166360" cy="137160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関連文書を検索して渡す</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閲覧権限・検索精度・出典・誤答の評価が必要</a:t>
            </a:r>
            <a:endParaRPr lang="en-US" sz="1800" dirty="0"/>
          </a:p>
        </p:txBody>
      </p:sp>
      <p:sp>
        <p:nvSpPr>
          <p:cNvPr id="24" name="Shape 20"/>
          <p:cNvSpPr/>
          <p:nvPr/>
        </p:nvSpPr>
        <p:spPr>
          <a:xfrm>
            <a:off x="6199632" y="3063240"/>
            <a:ext cx="5532120" cy="2194560"/>
          </a:xfrm>
          <a:prstGeom prst="roundRect">
            <a:avLst>
              <a:gd name="adj" fmla="val 5833"/>
            </a:avLst>
          </a:prstGeom>
          <a:solidFill>
            <a:srgbClr val="E6E1F7"/>
          </a:solidFill>
          <a:ln/>
        </p:spPr>
      </p:sp>
      <p:sp>
        <p:nvSpPr>
          <p:cNvPr id="25" name="Shape 21"/>
          <p:cNvSpPr/>
          <p:nvPr/>
        </p:nvSpPr>
        <p:spPr>
          <a:xfrm>
            <a:off x="6364224" y="3191256"/>
            <a:ext cx="512064" cy="512064"/>
          </a:xfrm>
          <a:prstGeom prst="ellipse">
            <a:avLst/>
          </a:prstGeom>
          <a:solidFill>
            <a:srgbClr val="5B46B8"/>
          </a:solidFill>
          <a:ln/>
        </p:spPr>
      </p:sp>
      <p:pic>
        <p:nvPicPr>
          <p:cNvPr id="26" name="Image 1" descr="preencoded.png">    </p:cNvPr>
          <p:cNvPicPr>
            <a:picLocks noChangeAspect="1"/>
          </p:cNvPicPr>
          <p:nvPr/>
        </p:nvPicPr>
        <p:blipFill>
          <a:blip r:embed="rId2"/>
          <a:stretch>
            <a:fillRect/>
          </a:stretch>
        </p:blipFill>
        <p:spPr>
          <a:xfrm>
            <a:off x="6476878" y="3303910"/>
            <a:ext cx="286756" cy="286756"/>
          </a:xfrm>
          <a:prstGeom prst="rect">
            <a:avLst/>
          </a:prstGeom>
        </p:spPr>
      </p:pic>
      <p:sp>
        <p:nvSpPr>
          <p:cNvPr id="27" name="Text 22"/>
          <p:cNvSpPr txBox="1"/>
          <p:nvPr/>
        </p:nvSpPr>
        <p:spPr>
          <a:xfrm>
            <a:off x="6986016" y="3191256"/>
            <a:ext cx="460857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ファインチューニング</a:t>
            </a:r>
            <a:endParaRPr lang="en-US" sz="2200" dirty="0"/>
          </a:p>
        </p:txBody>
      </p:sp>
      <p:sp>
        <p:nvSpPr>
          <p:cNvPr id="28" name="Text 23"/>
          <p:cNvSpPr txBox="1"/>
          <p:nvPr/>
        </p:nvSpPr>
        <p:spPr>
          <a:xfrm>
            <a:off x="6382512" y="3794760"/>
            <a:ext cx="5166360" cy="137160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モデルの重みを追加学習で調整</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社内文書への質問で必ず必要とは限らない</a:t>
            </a:r>
            <a:endParaRPr lang="en-US" sz="1800" dirty="0"/>
          </a:p>
        </p:txBody>
      </p:sp>
      <p:sp>
        <p:nvSpPr>
          <p:cNvPr id="29" name="Shape 24"/>
          <p:cNvSpPr/>
          <p:nvPr/>
        </p:nvSpPr>
        <p:spPr>
          <a:xfrm>
            <a:off x="457200" y="5440680"/>
            <a:ext cx="11274552" cy="868680"/>
          </a:xfrm>
          <a:prstGeom prst="roundRect">
            <a:avLst>
              <a:gd name="adj" fmla="val 12632"/>
            </a:avLst>
          </a:prstGeom>
          <a:solidFill>
            <a:srgbClr val="FBE3E0"/>
          </a:solidFill>
          <a:ln w="19050">
            <a:solidFill>
              <a:srgbClr val="C0392B"/>
            </a:solidFill>
            <a:prstDash val="solid"/>
          </a:ln>
        </p:spPr>
      </p:sp>
      <p:sp>
        <p:nvSpPr>
          <p:cNvPr id="30" name="Shape 25"/>
          <p:cNvSpPr/>
          <p:nvPr/>
        </p:nvSpPr>
        <p:spPr>
          <a:xfrm>
            <a:off x="594360" y="5646420"/>
            <a:ext cx="457200" cy="457200"/>
          </a:xfrm>
          <a:prstGeom prst="ellipse">
            <a:avLst/>
          </a:prstGeom>
          <a:solidFill>
            <a:srgbClr val="C0392B"/>
          </a:solidFill>
          <a:ln/>
        </p:spPr>
      </p:sp>
      <p:pic>
        <p:nvPicPr>
          <p:cNvPr id="31" name="Image 2" descr="preencoded.png">    </p:cNvPr>
          <p:cNvPicPr>
            <a:picLocks noChangeAspect="1"/>
          </p:cNvPicPr>
          <p:nvPr/>
        </p:nvPicPr>
        <p:blipFill>
          <a:blip r:embed="rId3"/>
          <a:stretch>
            <a:fillRect/>
          </a:stretch>
        </p:blipFill>
        <p:spPr>
          <a:xfrm>
            <a:off x="694944" y="5747004"/>
            <a:ext cx="256032" cy="256032"/>
          </a:xfrm>
          <a:prstGeom prst="rect">
            <a:avLst/>
          </a:prstGeom>
        </p:spPr>
      </p:pic>
      <p:sp>
        <p:nvSpPr>
          <p:cNvPr id="32" name="Text 26"/>
          <p:cNvSpPr txBox="1"/>
          <p:nvPr/>
        </p:nvSpPr>
        <p:spPr>
          <a:xfrm>
            <a:off x="1188720" y="5486400"/>
            <a:ext cx="10405872" cy="77724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検索で渡す文書を、質問した人が見てよいかを、検索の段階で確認する</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469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専門・配属・キャリア</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6682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顧客の業界と、担当する技術分野は別の軸</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「どの業界の顧客か（金融・通信・製造）」と「どの技術を担当するか（ネットワーク・サーバーなど）」は別の軸です。組み合わせは配属次第です。</a:t>
            </a:r>
            <a:endParaRPr lang="en-US" sz="1800" dirty="0"/>
          </a:p>
        </p:txBody>
      </p:sp>
      <p:sp>
        <p:nvSpPr>
          <p:cNvPr id="8" name="Shape 5"/>
          <p:cNvSpPr/>
          <p:nvPr/>
        </p:nvSpPr>
        <p:spPr>
          <a:xfrm>
            <a:off x="2148840" y="1691640"/>
            <a:ext cx="1856232" cy="777240"/>
          </a:xfrm>
          <a:prstGeom prst="roundRect">
            <a:avLst>
              <a:gd name="adj" fmla="val 14118"/>
            </a:avLst>
          </a:prstGeom>
          <a:solidFill>
            <a:srgbClr val="16324F"/>
          </a:solidFill>
          <a:ln/>
        </p:spPr>
      </p:sp>
      <p:sp>
        <p:nvSpPr>
          <p:cNvPr id="9" name="Text 6"/>
          <p:cNvSpPr txBox="1"/>
          <p:nvPr/>
        </p:nvSpPr>
        <p:spPr>
          <a:xfrm>
            <a:off x="2240280" y="1691640"/>
            <a:ext cx="1673352"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ネットワーク</a:t>
            </a:r>
            <a:endParaRPr lang="en-US" sz="1800" dirty="0"/>
          </a:p>
        </p:txBody>
      </p:sp>
      <p:sp>
        <p:nvSpPr>
          <p:cNvPr id="10" name="Shape 7"/>
          <p:cNvSpPr/>
          <p:nvPr/>
        </p:nvSpPr>
        <p:spPr>
          <a:xfrm>
            <a:off x="4069080" y="1691640"/>
            <a:ext cx="1856232" cy="777240"/>
          </a:xfrm>
          <a:prstGeom prst="roundRect">
            <a:avLst>
              <a:gd name="adj" fmla="val 14118"/>
            </a:avLst>
          </a:prstGeom>
          <a:solidFill>
            <a:srgbClr val="16324F"/>
          </a:solidFill>
          <a:ln/>
        </p:spPr>
      </p:sp>
      <p:sp>
        <p:nvSpPr>
          <p:cNvPr id="11" name="Text 8"/>
          <p:cNvSpPr txBox="1"/>
          <p:nvPr/>
        </p:nvSpPr>
        <p:spPr>
          <a:xfrm>
            <a:off x="4160520" y="1691640"/>
            <a:ext cx="1673352"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サーバー・</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仮想化</a:t>
            </a:r>
            <a:endParaRPr lang="en-US" sz="1800" dirty="0"/>
          </a:p>
        </p:txBody>
      </p:sp>
      <p:sp>
        <p:nvSpPr>
          <p:cNvPr id="12" name="Shape 9"/>
          <p:cNvSpPr/>
          <p:nvPr/>
        </p:nvSpPr>
        <p:spPr>
          <a:xfrm>
            <a:off x="5989320" y="1691640"/>
            <a:ext cx="1856232" cy="777240"/>
          </a:xfrm>
          <a:prstGeom prst="roundRect">
            <a:avLst>
              <a:gd name="adj" fmla="val 14118"/>
            </a:avLst>
          </a:prstGeom>
          <a:solidFill>
            <a:srgbClr val="16324F"/>
          </a:solidFill>
          <a:ln/>
        </p:spPr>
      </p:sp>
      <p:sp>
        <p:nvSpPr>
          <p:cNvPr id="13" name="Text 10"/>
          <p:cNvSpPr txBox="1"/>
          <p:nvPr/>
        </p:nvSpPr>
        <p:spPr>
          <a:xfrm>
            <a:off x="6080760" y="1691640"/>
            <a:ext cx="1673352"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a:t>
            </a:r>
            <a:endParaRPr lang="en-US" sz="1800" dirty="0"/>
          </a:p>
        </p:txBody>
      </p:sp>
      <p:sp>
        <p:nvSpPr>
          <p:cNvPr id="14" name="Shape 11"/>
          <p:cNvSpPr/>
          <p:nvPr/>
        </p:nvSpPr>
        <p:spPr>
          <a:xfrm>
            <a:off x="7909560" y="1691640"/>
            <a:ext cx="1856232" cy="777240"/>
          </a:xfrm>
          <a:prstGeom prst="roundRect">
            <a:avLst>
              <a:gd name="adj" fmla="val 14118"/>
            </a:avLst>
          </a:prstGeom>
          <a:solidFill>
            <a:srgbClr val="16324F"/>
          </a:solidFill>
          <a:ln/>
        </p:spPr>
      </p:sp>
      <p:sp>
        <p:nvSpPr>
          <p:cNvPr id="15" name="Text 12"/>
          <p:cNvSpPr txBox="1"/>
          <p:nvPr/>
        </p:nvSpPr>
        <p:spPr>
          <a:xfrm>
            <a:off x="8001000" y="1691640"/>
            <a:ext cx="1673352"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セキュリティ</a:t>
            </a:r>
            <a:endParaRPr lang="en-US" sz="1800" dirty="0"/>
          </a:p>
        </p:txBody>
      </p:sp>
      <p:sp>
        <p:nvSpPr>
          <p:cNvPr id="16" name="Shape 13"/>
          <p:cNvSpPr/>
          <p:nvPr/>
        </p:nvSpPr>
        <p:spPr>
          <a:xfrm>
            <a:off x="9829800" y="1691640"/>
            <a:ext cx="1856232" cy="777240"/>
          </a:xfrm>
          <a:prstGeom prst="roundRect">
            <a:avLst>
              <a:gd name="adj" fmla="val 14118"/>
            </a:avLst>
          </a:prstGeom>
          <a:solidFill>
            <a:srgbClr val="16324F"/>
          </a:solidFill>
          <a:ln/>
        </p:spPr>
      </p:sp>
      <p:sp>
        <p:nvSpPr>
          <p:cNvPr id="17" name="Text 14"/>
          <p:cNvSpPr txBox="1"/>
          <p:nvPr/>
        </p:nvSpPr>
        <p:spPr>
          <a:xfrm>
            <a:off x="9921240" y="1691640"/>
            <a:ext cx="1673352"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AI・HPC基盤</a:t>
            </a:r>
            <a:endParaRPr lang="en-US" sz="1800" dirty="0"/>
          </a:p>
        </p:txBody>
      </p:sp>
      <p:sp>
        <p:nvSpPr>
          <p:cNvPr id="18" name="Shape 15"/>
          <p:cNvSpPr/>
          <p:nvPr/>
        </p:nvSpPr>
        <p:spPr>
          <a:xfrm>
            <a:off x="457200" y="2560320"/>
            <a:ext cx="1600200" cy="777240"/>
          </a:xfrm>
          <a:prstGeom prst="roundRect">
            <a:avLst>
              <a:gd name="adj" fmla="val 14118"/>
            </a:avLst>
          </a:prstGeom>
          <a:solidFill>
            <a:srgbClr val="16324F"/>
          </a:solidFill>
          <a:ln/>
        </p:spPr>
      </p:sp>
      <p:sp>
        <p:nvSpPr>
          <p:cNvPr id="19" name="Text 16"/>
          <p:cNvSpPr txBox="1"/>
          <p:nvPr/>
        </p:nvSpPr>
        <p:spPr>
          <a:xfrm>
            <a:off x="548640" y="2560320"/>
            <a:ext cx="1417320"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金融</a:t>
            </a:r>
            <a:endParaRPr lang="en-US" sz="2000" dirty="0"/>
          </a:p>
        </p:txBody>
      </p:sp>
      <p:sp>
        <p:nvSpPr>
          <p:cNvPr id="20" name="Shape 17"/>
          <p:cNvSpPr/>
          <p:nvPr/>
        </p:nvSpPr>
        <p:spPr>
          <a:xfrm>
            <a:off x="2148840" y="2560320"/>
            <a:ext cx="1856232" cy="777240"/>
          </a:xfrm>
          <a:prstGeom prst="roundRect">
            <a:avLst>
              <a:gd name="adj" fmla="val 9412"/>
            </a:avLst>
          </a:prstGeom>
          <a:solidFill>
            <a:srgbClr val="F1F5F9"/>
          </a:solidFill>
          <a:ln w="12700">
            <a:solidFill>
              <a:srgbClr val="CBD5E1"/>
            </a:solidFill>
            <a:prstDash val="solid"/>
          </a:ln>
        </p:spPr>
      </p:sp>
      <p:sp>
        <p:nvSpPr>
          <p:cNvPr id="21" name="Shape 18"/>
          <p:cNvSpPr/>
          <p:nvPr/>
        </p:nvSpPr>
        <p:spPr>
          <a:xfrm>
            <a:off x="4069080" y="2560320"/>
            <a:ext cx="1856232" cy="777240"/>
          </a:xfrm>
          <a:prstGeom prst="roundRect">
            <a:avLst>
              <a:gd name="adj" fmla="val 9412"/>
            </a:avLst>
          </a:prstGeom>
          <a:solidFill>
            <a:srgbClr val="F1F5F9"/>
          </a:solidFill>
          <a:ln w="12700">
            <a:solidFill>
              <a:srgbClr val="CBD5E1"/>
            </a:solidFill>
            <a:prstDash val="solid"/>
          </a:ln>
        </p:spPr>
      </p:sp>
      <p:sp>
        <p:nvSpPr>
          <p:cNvPr id="22" name="Shape 19"/>
          <p:cNvSpPr/>
          <p:nvPr/>
        </p:nvSpPr>
        <p:spPr>
          <a:xfrm>
            <a:off x="5989320" y="2560320"/>
            <a:ext cx="1856232" cy="777240"/>
          </a:xfrm>
          <a:prstGeom prst="roundRect">
            <a:avLst>
              <a:gd name="adj" fmla="val 9412"/>
            </a:avLst>
          </a:prstGeom>
          <a:solidFill>
            <a:srgbClr val="D9F2F1"/>
          </a:solidFill>
          <a:ln w="25400">
            <a:solidFill>
              <a:srgbClr val="0B7A7A"/>
            </a:solidFill>
            <a:prstDash val="solid"/>
          </a:ln>
        </p:spPr>
      </p:sp>
      <p:sp>
        <p:nvSpPr>
          <p:cNvPr id="23" name="Text 20"/>
          <p:cNvSpPr txBox="1"/>
          <p:nvPr/>
        </p:nvSpPr>
        <p:spPr>
          <a:xfrm>
            <a:off x="5989320" y="2560320"/>
            <a:ext cx="1856232"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例</a:t>
            </a:r>
            <a:endParaRPr lang="en-US" sz="2000" dirty="0"/>
          </a:p>
        </p:txBody>
      </p:sp>
      <p:sp>
        <p:nvSpPr>
          <p:cNvPr id="24" name="Shape 21"/>
          <p:cNvSpPr/>
          <p:nvPr/>
        </p:nvSpPr>
        <p:spPr>
          <a:xfrm>
            <a:off x="7909560" y="2560320"/>
            <a:ext cx="1856232" cy="777240"/>
          </a:xfrm>
          <a:prstGeom prst="roundRect">
            <a:avLst>
              <a:gd name="adj" fmla="val 9412"/>
            </a:avLst>
          </a:prstGeom>
          <a:solidFill>
            <a:srgbClr val="F1F5F9"/>
          </a:solidFill>
          <a:ln w="12700">
            <a:solidFill>
              <a:srgbClr val="CBD5E1"/>
            </a:solidFill>
            <a:prstDash val="solid"/>
          </a:ln>
        </p:spPr>
      </p:sp>
      <p:sp>
        <p:nvSpPr>
          <p:cNvPr id="25" name="Shape 22"/>
          <p:cNvSpPr/>
          <p:nvPr/>
        </p:nvSpPr>
        <p:spPr>
          <a:xfrm>
            <a:off x="9829800" y="2560320"/>
            <a:ext cx="1856232" cy="777240"/>
          </a:xfrm>
          <a:prstGeom prst="roundRect">
            <a:avLst>
              <a:gd name="adj" fmla="val 9412"/>
            </a:avLst>
          </a:prstGeom>
          <a:solidFill>
            <a:srgbClr val="F1F5F9"/>
          </a:solidFill>
          <a:ln w="12700">
            <a:solidFill>
              <a:srgbClr val="CBD5E1"/>
            </a:solidFill>
            <a:prstDash val="solid"/>
          </a:ln>
        </p:spPr>
      </p:sp>
      <p:sp>
        <p:nvSpPr>
          <p:cNvPr id="26" name="Shape 23"/>
          <p:cNvSpPr/>
          <p:nvPr/>
        </p:nvSpPr>
        <p:spPr>
          <a:xfrm>
            <a:off x="457200" y="3429000"/>
            <a:ext cx="1600200" cy="777240"/>
          </a:xfrm>
          <a:prstGeom prst="roundRect">
            <a:avLst>
              <a:gd name="adj" fmla="val 14118"/>
            </a:avLst>
          </a:prstGeom>
          <a:solidFill>
            <a:srgbClr val="16324F"/>
          </a:solidFill>
          <a:ln/>
        </p:spPr>
      </p:sp>
      <p:sp>
        <p:nvSpPr>
          <p:cNvPr id="27" name="Text 24"/>
          <p:cNvSpPr txBox="1"/>
          <p:nvPr/>
        </p:nvSpPr>
        <p:spPr>
          <a:xfrm>
            <a:off x="548640" y="3429000"/>
            <a:ext cx="1417320"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通信</a:t>
            </a:r>
            <a:endParaRPr lang="en-US" sz="2000" dirty="0"/>
          </a:p>
        </p:txBody>
      </p:sp>
      <p:sp>
        <p:nvSpPr>
          <p:cNvPr id="28" name="Shape 25"/>
          <p:cNvSpPr/>
          <p:nvPr/>
        </p:nvSpPr>
        <p:spPr>
          <a:xfrm>
            <a:off x="2148840" y="3429000"/>
            <a:ext cx="1856232" cy="777240"/>
          </a:xfrm>
          <a:prstGeom prst="roundRect">
            <a:avLst>
              <a:gd name="adj" fmla="val 9412"/>
            </a:avLst>
          </a:prstGeom>
          <a:solidFill>
            <a:srgbClr val="F1F5F9"/>
          </a:solidFill>
          <a:ln w="12700">
            <a:solidFill>
              <a:srgbClr val="CBD5E1"/>
            </a:solidFill>
            <a:prstDash val="solid"/>
          </a:ln>
        </p:spPr>
      </p:sp>
      <p:sp>
        <p:nvSpPr>
          <p:cNvPr id="29" name="Shape 26"/>
          <p:cNvSpPr/>
          <p:nvPr/>
        </p:nvSpPr>
        <p:spPr>
          <a:xfrm>
            <a:off x="4069080" y="3429000"/>
            <a:ext cx="1856232" cy="777240"/>
          </a:xfrm>
          <a:prstGeom prst="roundRect">
            <a:avLst>
              <a:gd name="adj" fmla="val 9412"/>
            </a:avLst>
          </a:prstGeom>
          <a:solidFill>
            <a:srgbClr val="D9F2F1"/>
          </a:solidFill>
          <a:ln w="25400">
            <a:solidFill>
              <a:srgbClr val="0B7A7A"/>
            </a:solidFill>
            <a:prstDash val="solid"/>
          </a:ln>
        </p:spPr>
      </p:sp>
      <p:sp>
        <p:nvSpPr>
          <p:cNvPr id="30" name="Text 27"/>
          <p:cNvSpPr txBox="1"/>
          <p:nvPr/>
        </p:nvSpPr>
        <p:spPr>
          <a:xfrm>
            <a:off x="4069080" y="3429000"/>
            <a:ext cx="1856232"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例</a:t>
            </a:r>
            <a:endParaRPr lang="en-US" sz="2000" dirty="0"/>
          </a:p>
        </p:txBody>
      </p:sp>
      <p:sp>
        <p:nvSpPr>
          <p:cNvPr id="31" name="Shape 28"/>
          <p:cNvSpPr/>
          <p:nvPr/>
        </p:nvSpPr>
        <p:spPr>
          <a:xfrm>
            <a:off x="5989320" y="3429000"/>
            <a:ext cx="1856232" cy="777240"/>
          </a:xfrm>
          <a:prstGeom prst="roundRect">
            <a:avLst>
              <a:gd name="adj" fmla="val 9412"/>
            </a:avLst>
          </a:prstGeom>
          <a:solidFill>
            <a:srgbClr val="F1F5F9"/>
          </a:solidFill>
          <a:ln w="12700">
            <a:solidFill>
              <a:srgbClr val="CBD5E1"/>
            </a:solidFill>
            <a:prstDash val="solid"/>
          </a:ln>
        </p:spPr>
      </p:sp>
      <p:sp>
        <p:nvSpPr>
          <p:cNvPr id="32" name="Shape 29"/>
          <p:cNvSpPr/>
          <p:nvPr/>
        </p:nvSpPr>
        <p:spPr>
          <a:xfrm>
            <a:off x="7909560" y="3429000"/>
            <a:ext cx="1856232" cy="777240"/>
          </a:xfrm>
          <a:prstGeom prst="roundRect">
            <a:avLst>
              <a:gd name="adj" fmla="val 9412"/>
            </a:avLst>
          </a:prstGeom>
          <a:solidFill>
            <a:srgbClr val="F1F5F9"/>
          </a:solidFill>
          <a:ln w="12700">
            <a:solidFill>
              <a:srgbClr val="CBD5E1"/>
            </a:solidFill>
            <a:prstDash val="solid"/>
          </a:ln>
        </p:spPr>
      </p:sp>
      <p:sp>
        <p:nvSpPr>
          <p:cNvPr id="33" name="Shape 30"/>
          <p:cNvSpPr/>
          <p:nvPr/>
        </p:nvSpPr>
        <p:spPr>
          <a:xfrm>
            <a:off x="9829800" y="3429000"/>
            <a:ext cx="1856232" cy="777240"/>
          </a:xfrm>
          <a:prstGeom prst="roundRect">
            <a:avLst>
              <a:gd name="adj" fmla="val 9412"/>
            </a:avLst>
          </a:prstGeom>
          <a:solidFill>
            <a:srgbClr val="F1F5F9"/>
          </a:solidFill>
          <a:ln w="12700">
            <a:solidFill>
              <a:srgbClr val="CBD5E1"/>
            </a:solidFill>
            <a:prstDash val="solid"/>
          </a:ln>
        </p:spPr>
      </p:sp>
      <p:sp>
        <p:nvSpPr>
          <p:cNvPr id="34" name="Shape 31"/>
          <p:cNvSpPr/>
          <p:nvPr/>
        </p:nvSpPr>
        <p:spPr>
          <a:xfrm>
            <a:off x="457200" y="4297680"/>
            <a:ext cx="1600200" cy="777240"/>
          </a:xfrm>
          <a:prstGeom prst="roundRect">
            <a:avLst>
              <a:gd name="adj" fmla="val 14118"/>
            </a:avLst>
          </a:prstGeom>
          <a:solidFill>
            <a:srgbClr val="16324F"/>
          </a:solidFill>
          <a:ln/>
        </p:spPr>
      </p:sp>
      <p:sp>
        <p:nvSpPr>
          <p:cNvPr id="35" name="Text 32"/>
          <p:cNvSpPr txBox="1"/>
          <p:nvPr/>
        </p:nvSpPr>
        <p:spPr>
          <a:xfrm>
            <a:off x="548640" y="4297680"/>
            <a:ext cx="1417320"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製造</a:t>
            </a:r>
            <a:endParaRPr lang="en-US" sz="2000" dirty="0"/>
          </a:p>
        </p:txBody>
      </p:sp>
      <p:sp>
        <p:nvSpPr>
          <p:cNvPr id="36" name="Shape 33"/>
          <p:cNvSpPr/>
          <p:nvPr/>
        </p:nvSpPr>
        <p:spPr>
          <a:xfrm>
            <a:off x="2148840" y="4297680"/>
            <a:ext cx="1856232" cy="777240"/>
          </a:xfrm>
          <a:prstGeom prst="roundRect">
            <a:avLst>
              <a:gd name="adj" fmla="val 9412"/>
            </a:avLst>
          </a:prstGeom>
          <a:solidFill>
            <a:srgbClr val="F1F5F9"/>
          </a:solidFill>
          <a:ln w="12700">
            <a:solidFill>
              <a:srgbClr val="CBD5E1"/>
            </a:solidFill>
            <a:prstDash val="solid"/>
          </a:ln>
        </p:spPr>
      </p:sp>
      <p:sp>
        <p:nvSpPr>
          <p:cNvPr id="37" name="Shape 34"/>
          <p:cNvSpPr/>
          <p:nvPr/>
        </p:nvSpPr>
        <p:spPr>
          <a:xfrm>
            <a:off x="4069080" y="4297680"/>
            <a:ext cx="1856232" cy="777240"/>
          </a:xfrm>
          <a:prstGeom prst="roundRect">
            <a:avLst>
              <a:gd name="adj" fmla="val 9412"/>
            </a:avLst>
          </a:prstGeom>
          <a:solidFill>
            <a:srgbClr val="F1F5F9"/>
          </a:solidFill>
          <a:ln w="12700">
            <a:solidFill>
              <a:srgbClr val="CBD5E1"/>
            </a:solidFill>
            <a:prstDash val="solid"/>
          </a:ln>
        </p:spPr>
      </p:sp>
      <p:sp>
        <p:nvSpPr>
          <p:cNvPr id="38" name="Shape 35"/>
          <p:cNvSpPr/>
          <p:nvPr/>
        </p:nvSpPr>
        <p:spPr>
          <a:xfrm>
            <a:off x="5989320" y="4297680"/>
            <a:ext cx="1856232" cy="777240"/>
          </a:xfrm>
          <a:prstGeom prst="roundRect">
            <a:avLst>
              <a:gd name="adj" fmla="val 9412"/>
            </a:avLst>
          </a:prstGeom>
          <a:solidFill>
            <a:srgbClr val="F1F5F9"/>
          </a:solidFill>
          <a:ln w="12700">
            <a:solidFill>
              <a:srgbClr val="CBD5E1"/>
            </a:solidFill>
            <a:prstDash val="solid"/>
          </a:ln>
        </p:spPr>
      </p:sp>
      <p:sp>
        <p:nvSpPr>
          <p:cNvPr id="39" name="Shape 36"/>
          <p:cNvSpPr/>
          <p:nvPr/>
        </p:nvSpPr>
        <p:spPr>
          <a:xfrm>
            <a:off x="7909560" y="4297680"/>
            <a:ext cx="1856232" cy="777240"/>
          </a:xfrm>
          <a:prstGeom prst="roundRect">
            <a:avLst>
              <a:gd name="adj" fmla="val 9412"/>
            </a:avLst>
          </a:prstGeom>
          <a:solidFill>
            <a:srgbClr val="F1F5F9"/>
          </a:solidFill>
          <a:ln w="12700">
            <a:solidFill>
              <a:srgbClr val="CBD5E1"/>
            </a:solidFill>
            <a:prstDash val="solid"/>
          </a:ln>
        </p:spPr>
      </p:sp>
      <p:sp>
        <p:nvSpPr>
          <p:cNvPr id="40" name="Shape 37"/>
          <p:cNvSpPr/>
          <p:nvPr/>
        </p:nvSpPr>
        <p:spPr>
          <a:xfrm>
            <a:off x="9829800" y="4297680"/>
            <a:ext cx="1856232" cy="777240"/>
          </a:xfrm>
          <a:prstGeom prst="roundRect">
            <a:avLst>
              <a:gd name="adj" fmla="val 9412"/>
            </a:avLst>
          </a:prstGeom>
          <a:solidFill>
            <a:srgbClr val="D9F2F1"/>
          </a:solidFill>
          <a:ln w="25400">
            <a:solidFill>
              <a:srgbClr val="0B7A7A"/>
            </a:solidFill>
            <a:prstDash val="solid"/>
          </a:ln>
        </p:spPr>
      </p:sp>
      <p:sp>
        <p:nvSpPr>
          <p:cNvPr id="41" name="Text 38"/>
          <p:cNvSpPr txBox="1"/>
          <p:nvPr/>
        </p:nvSpPr>
        <p:spPr>
          <a:xfrm>
            <a:off x="9829800" y="4297680"/>
            <a:ext cx="1856232" cy="7772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例</a:t>
            </a:r>
            <a:endParaRPr lang="en-US" sz="2000" dirty="0"/>
          </a:p>
        </p:txBody>
      </p:sp>
      <p:sp>
        <p:nvSpPr>
          <p:cNvPr id="42" name="Text 39"/>
          <p:cNvSpPr txBox="1"/>
          <p:nvPr/>
        </p:nvSpPr>
        <p:spPr>
          <a:xfrm>
            <a:off x="457200" y="5166360"/>
            <a:ext cx="11274552" cy="36576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縦：顧客の業界　／　横：担当する技術分野（代表的な5分野。全8分野は次のスライド）</a:t>
            </a:r>
            <a:endParaRPr lang="en-US" sz="1800" dirty="0"/>
          </a:p>
        </p:txBody>
      </p:sp>
      <p:sp>
        <p:nvSpPr>
          <p:cNvPr id="43" name="Shape 40"/>
          <p:cNvSpPr/>
          <p:nvPr/>
        </p:nvSpPr>
        <p:spPr>
          <a:xfrm>
            <a:off x="457200" y="5577840"/>
            <a:ext cx="5532120" cy="731520"/>
          </a:xfrm>
          <a:prstGeom prst="roundRect">
            <a:avLst>
              <a:gd name="adj" fmla="val 15000"/>
            </a:avLst>
          </a:prstGeom>
          <a:solidFill>
            <a:srgbClr val="DCE8F8"/>
          </a:solidFill>
          <a:ln w="19050">
            <a:solidFill>
              <a:srgbClr val="2F6BC2"/>
            </a:solidFill>
            <a:prstDash val="solid"/>
          </a:ln>
        </p:spPr>
      </p:sp>
      <p:sp>
        <p:nvSpPr>
          <p:cNvPr id="44" name="Shape 41"/>
          <p:cNvSpPr/>
          <p:nvPr/>
        </p:nvSpPr>
        <p:spPr>
          <a:xfrm>
            <a:off x="594360" y="5715000"/>
            <a:ext cx="457200" cy="457200"/>
          </a:xfrm>
          <a:prstGeom prst="ellipse">
            <a:avLst/>
          </a:prstGeom>
          <a:solidFill>
            <a:srgbClr val="2F6BC2"/>
          </a:solidFill>
          <a:ln/>
        </p:spPr>
      </p:sp>
      <p:pic>
        <p:nvPicPr>
          <p:cNvPr id="45" name="Image 0" descr="preencoded.png">    </p:cNvPr>
          <p:cNvPicPr>
            <a:picLocks noChangeAspect="1"/>
          </p:cNvPicPr>
          <p:nvPr/>
        </p:nvPicPr>
        <p:blipFill>
          <a:blip r:embed="rId1"/>
          <a:stretch>
            <a:fillRect/>
          </a:stretch>
        </p:blipFill>
        <p:spPr>
          <a:xfrm>
            <a:off x="694944" y="5815584"/>
            <a:ext cx="256032" cy="256032"/>
          </a:xfrm>
          <a:prstGeom prst="rect">
            <a:avLst/>
          </a:prstGeom>
        </p:spPr>
      </p:pic>
      <p:sp>
        <p:nvSpPr>
          <p:cNvPr id="46" name="Text 42"/>
          <p:cNvSpPr txBox="1"/>
          <p:nvPr/>
        </p:nvSpPr>
        <p:spPr>
          <a:xfrm>
            <a:off x="1188720" y="5623560"/>
            <a:ext cx="4663440" cy="6400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金融担当でも、クラウドやAIに関わることがある</a:t>
            </a:r>
            <a:endParaRPr lang="en-US" sz="1800" dirty="0"/>
          </a:p>
        </p:txBody>
      </p:sp>
      <p:sp>
        <p:nvSpPr>
          <p:cNvPr id="47" name="Shape 43"/>
          <p:cNvSpPr/>
          <p:nvPr/>
        </p:nvSpPr>
        <p:spPr>
          <a:xfrm>
            <a:off x="6199632" y="5577840"/>
            <a:ext cx="5532120" cy="731520"/>
          </a:xfrm>
          <a:prstGeom prst="roundRect">
            <a:avLst>
              <a:gd name="adj" fmla="val 15000"/>
            </a:avLst>
          </a:prstGeom>
          <a:solidFill>
            <a:srgbClr val="DCE8F8"/>
          </a:solidFill>
          <a:ln w="19050">
            <a:solidFill>
              <a:srgbClr val="2F6BC2"/>
            </a:solidFill>
            <a:prstDash val="solid"/>
          </a:ln>
        </p:spPr>
      </p:sp>
      <p:sp>
        <p:nvSpPr>
          <p:cNvPr id="48" name="Shape 44"/>
          <p:cNvSpPr/>
          <p:nvPr/>
        </p:nvSpPr>
        <p:spPr>
          <a:xfrm>
            <a:off x="6336792" y="5715000"/>
            <a:ext cx="457200" cy="457200"/>
          </a:xfrm>
          <a:prstGeom prst="ellipse">
            <a:avLst/>
          </a:prstGeom>
          <a:solidFill>
            <a:srgbClr val="2F6BC2"/>
          </a:solidFill>
          <a:ln/>
        </p:spPr>
      </p:sp>
      <p:pic>
        <p:nvPicPr>
          <p:cNvPr id="49" name="Image 1" descr="preencoded.png">    </p:cNvPr>
          <p:cNvPicPr>
            <a:picLocks noChangeAspect="1"/>
          </p:cNvPicPr>
          <p:nvPr/>
        </p:nvPicPr>
        <p:blipFill>
          <a:blip r:embed="rId2"/>
          <a:stretch>
            <a:fillRect/>
          </a:stretch>
        </p:blipFill>
        <p:spPr>
          <a:xfrm>
            <a:off x="6437376" y="5815584"/>
            <a:ext cx="256032" cy="256032"/>
          </a:xfrm>
          <a:prstGeom prst="rect">
            <a:avLst/>
          </a:prstGeom>
        </p:spPr>
      </p:pic>
      <p:sp>
        <p:nvSpPr>
          <p:cNvPr id="50" name="Text 45"/>
          <p:cNvSpPr txBox="1"/>
          <p:nvPr/>
        </p:nvSpPr>
        <p:spPr>
          <a:xfrm>
            <a:off x="6931152" y="5623560"/>
            <a:ext cx="4663440" cy="6400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通信担当でも、全員が基地局を設計するわけではない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469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専門・配属・キャリア</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技術分野は8つ。立場も4つに分かれる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技術分野は8つあり、メーカー・クラウド事業者・SIer・顧客企業の4つの立場が関わります。同じ案件でも、立場によって責任が違います。</a:t>
            </a:r>
            <a:endParaRPr lang="en-US" sz="1800" dirty="0"/>
          </a:p>
        </p:txBody>
      </p:sp>
      <p:sp>
        <p:nvSpPr>
          <p:cNvPr id="7" name="Shape 4"/>
          <p:cNvSpPr/>
          <p:nvPr/>
        </p:nvSpPr>
        <p:spPr>
          <a:xfrm>
            <a:off x="457200" y="1691640"/>
            <a:ext cx="2697480" cy="2103120"/>
          </a:xfrm>
          <a:prstGeom prst="roundRect">
            <a:avLst>
              <a:gd name="adj" fmla="val 6087"/>
            </a:avLst>
          </a:prstGeom>
          <a:solidFill>
            <a:srgbClr val="E6E1F7"/>
          </a:solidFill>
          <a:ln/>
        </p:spPr>
      </p:sp>
      <p:sp>
        <p:nvSpPr>
          <p:cNvPr id="8" name="Shape 5"/>
          <p:cNvSpPr/>
          <p:nvPr/>
        </p:nvSpPr>
        <p:spPr>
          <a:xfrm>
            <a:off x="621792" y="1819656"/>
            <a:ext cx="512064" cy="512064"/>
          </a:xfrm>
          <a:prstGeom prst="ellipse">
            <a:avLst/>
          </a:prstGeom>
          <a:solidFill>
            <a:srgbClr val="5B46B8"/>
          </a:solidFill>
          <a:ln/>
        </p:spPr>
      </p:sp>
      <p:pic>
        <p:nvPicPr>
          <p:cNvPr id="9" name="Image 0" descr="preencoded.png">    </p:cNvPr>
          <p:cNvPicPr>
            <a:picLocks noChangeAspect="1"/>
          </p:cNvPicPr>
          <p:nvPr/>
        </p:nvPicPr>
        <p:blipFill>
          <a:blip r:embed="rId1"/>
          <a:stretch>
            <a:fillRect/>
          </a:stretch>
        </p:blipFill>
        <p:spPr>
          <a:xfrm>
            <a:off x="734446" y="1932310"/>
            <a:ext cx="286756" cy="286756"/>
          </a:xfrm>
          <a:prstGeom prst="rect">
            <a:avLst/>
          </a:prstGeom>
        </p:spPr>
      </p:pic>
      <p:sp>
        <p:nvSpPr>
          <p:cNvPr id="10" name="Text 6"/>
          <p:cNvSpPr txBox="1"/>
          <p:nvPr/>
        </p:nvSpPr>
        <p:spPr>
          <a:xfrm>
            <a:off x="1243584" y="1819656"/>
            <a:ext cx="1773936"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メーカー</a:t>
            </a:r>
            <a:endParaRPr lang="en-US" sz="2000" dirty="0"/>
          </a:p>
        </p:txBody>
      </p:sp>
      <p:sp>
        <p:nvSpPr>
          <p:cNvPr id="11" name="Text 7"/>
          <p:cNvSpPr txBox="1"/>
          <p:nvPr/>
        </p:nvSpPr>
        <p:spPr>
          <a:xfrm>
            <a:off x="640080" y="2423160"/>
            <a:ext cx="2331720" cy="128016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製品を提供</a:t>
            </a:r>
            <a:endParaRPr lang="en-US" sz="1800" dirty="0"/>
          </a:p>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HPE・Dell・Cisco</a:t>
            </a:r>
            <a:endParaRPr lang="en-US" sz="1800" dirty="0"/>
          </a:p>
        </p:txBody>
      </p:sp>
      <p:sp>
        <p:nvSpPr>
          <p:cNvPr id="12" name="Shape 8"/>
          <p:cNvSpPr/>
          <p:nvPr/>
        </p:nvSpPr>
        <p:spPr>
          <a:xfrm>
            <a:off x="3291840" y="1691640"/>
            <a:ext cx="2697480" cy="2103120"/>
          </a:xfrm>
          <a:prstGeom prst="roundRect">
            <a:avLst>
              <a:gd name="adj" fmla="val 6087"/>
            </a:avLst>
          </a:prstGeom>
          <a:solidFill>
            <a:srgbClr val="DCE8F8"/>
          </a:solidFill>
          <a:ln/>
        </p:spPr>
      </p:sp>
      <p:sp>
        <p:nvSpPr>
          <p:cNvPr id="13" name="Shape 9"/>
          <p:cNvSpPr/>
          <p:nvPr/>
        </p:nvSpPr>
        <p:spPr>
          <a:xfrm>
            <a:off x="3456432" y="1819656"/>
            <a:ext cx="512064" cy="512064"/>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3569086" y="1932310"/>
            <a:ext cx="286756" cy="286756"/>
          </a:xfrm>
          <a:prstGeom prst="rect">
            <a:avLst/>
          </a:prstGeom>
        </p:spPr>
      </p:pic>
      <p:sp>
        <p:nvSpPr>
          <p:cNvPr id="15" name="Text 10"/>
          <p:cNvSpPr txBox="1"/>
          <p:nvPr/>
        </p:nvSpPr>
        <p:spPr>
          <a:xfrm>
            <a:off x="4078224" y="1819656"/>
            <a:ext cx="1773936"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クラウド</a:t>
            </a:r>
            <a:endParaRPr lang="en-US" sz="2000" dirty="0"/>
          </a:p>
        </p:txBody>
      </p:sp>
      <p:sp>
        <p:nvSpPr>
          <p:cNvPr id="16" name="Text 11"/>
          <p:cNvSpPr txBox="1"/>
          <p:nvPr/>
        </p:nvSpPr>
        <p:spPr>
          <a:xfrm>
            <a:off x="3474720" y="2423160"/>
            <a:ext cx="2331720" cy="128016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基盤を提供</a:t>
            </a:r>
            <a:endParaRPr lang="en-US" sz="1800" dirty="0"/>
          </a:p>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AWS・Azure・Google</a:t>
            </a:r>
            <a:endParaRPr lang="en-US" sz="1800" dirty="0"/>
          </a:p>
        </p:txBody>
      </p:sp>
      <p:sp>
        <p:nvSpPr>
          <p:cNvPr id="17" name="Shape 12"/>
          <p:cNvSpPr/>
          <p:nvPr/>
        </p:nvSpPr>
        <p:spPr>
          <a:xfrm>
            <a:off x="6126480" y="1691640"/>
            <a:ext cx="2697480" cy="2103120"/>
          </a:xfrm>
          <a:prstGeom prst="roundRect">
            <a:avLst>
              <a:gd name="adj" fmla="val 6087"/>
            </a:avLst>
          </a:prstGeom>
          <a:solidFill>
            <a:srgbClr val="FDEBD0"/>
          </a:solidFill>
          <a:ln/>
        </p:spPr>
      </p:sp>
      <p:sp>
        <p:nvSpPr>
          <p:cNvPr id="18" name="Shape 13"/>
          <p:cNvSpPr/>
          <p:nvPr/>
        </p:nvSpPr>
        <p:spPr>
          <a:xfrm>
            <a:off x="6291072" y="1819656"/>
            <a:ext cx="512064" cy="512064"/>
          </a:xfrm>
          <a:prstGeom prst="ellipse">
            <a:avLst/>
          </a:prstGeom>
          <a:solidFill>
            <a:srgbClr val="B45309"/>
          </a:solidFill>
          <a:ln/>
        </p:spPr>
      </p:sp>
      <p:pic>
        <p:nvPicPr>
          <p:cNvPr id="19" name="Image 2" descr="preencoded.png">    </p:cNvPr>
          <p:cNvPicPr>
            <a:picLocks noChangeAspect="1"/>
          </p:cNvPicPr>
          <p:nvPr/>
        </p:nvPicPr>
        <p:blipFill>
          <a:blip r:embed="rId3"/>
          <a:stretch>
            <a:fillRect/>
          </a:stretch>
        </p:blipFill>
        <p:spPr>
          <a:xfrm>
            <a:off x="6403726" y="1932310"/>
            <a:ext cx="286756" cy="286756"/>
          </a:xfrm>
          <a:prstGeom prst="rect">
            <a:avLst/>
          </a:prstGeom>
        </p:spPr>
      </p:pic>
      <p:sp>
        <p:nvSpPr>
          <p:cNvPr id="20" name="Text 14"/>
          <p:cNvSpPr txBox="1"/>
          <p:nvPr/>
        </p:nvSpPr>
        <p:spPr>
          <a:xfrm>
            <a:off x="6912864" y="1819656"/>
            <a:ext cx="1773936"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SIer</a:t>
            </a:r>
            <a:endParaRPr lang="en-US" sz="2000" dirty="0"/>
          </a:p>
        </p:txBody>
      </p:sp>
      <p:sp>
        <p:nvSpPr>
          <p:cNvPr id="21" name="Text 15"/>
          <p:cNvSpPr txBox="1"/>
          <p:nvPr/>
        </p:nvSpPr>
        <p:spPr>
          <a:xfrm>
            <a:off x="6309360" y="2423160"/>
            <a:ext cx="2331720" cy="128016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製品を組み合わせて構築</a:t>
            </a:r>
            <a:endParaRPr lang="en-US" sz="1800" dirty="0"/>
          </a:p>
        </p:txBody>
      </p:sp>
      <p:sp>
        <p:nvSpPr>
          <p:cNvPr id="22" name="Shape 16"/>
          <p:cNvSpPr/>
          <p:nvPr/>
        </p:nvSpPr>
        <p:spPr>
          <a:xfrm>
            <a:off x="8961120" y="1691640"/>
            <a:ext cx="2697480" cy="2103120"/>
          </a:xfrm>
          <a:prstGeom prst="roundRect">
            <a:avLst>
              <a:gd name="adj" fmla="val 6087"/>
            </a:avLst>
          </a:prstGeom>
          <a:solidFill>
            <a:srgbClr val="D9F2F1"/>
          </a:solidFill>
          <a:ln/>
        </p:spPr>
      </p:sp>
      <p:sp>
        <p:nvSpPr>
          <p:cNvPr id="23" name="Shape 17"/>
          <p:cNvSpPr/>
          <p:nvPr/>
        </p:nvSpPr>
        <p:spPr>
          <a:xfrm>
            <a:off x="9125712" y="1819656"/>
            <a:ext cx="512064" cy="512064"/>
          </a:xfrm>
          <a:prstGeom prst="ellipse">
            <a:avLst/>
          </a:prstGeom>
          <a:solidFill>
            <a:srgbClr val="0B7A7A"/>
          </a:solidFill>
          <a:ln/>
        </p:spPr>
      </p:sp>
      <p:pic>
        <p:nvPicPr>
          <p:cNvPr id="24" name="Image 3" descr="preencoded.png">    </p:cNvPr>
          <p:cNvPicPr>
            <a:picLocks noChangeAspect="1"/>
          </p:cNvPicPr>
          <p:nvPr/>
        </p:nvPicPr>
        <p:blipFill>
          <a:blip r:embed="rId4"/>
          <a:stretch>
            <a:fillRect/>
          </a:stretch>
        </p:blipFill>
        <p:spPr>
          <a:xfrm>
            <a:off x="9238366" y="1932310"/>
            <a:ext cx="286756" cy="286756"/>
          </a:xfrm>
          <a:prstGeom prst="rect">
            <a:avLst/>
          </a:prstGeom>
        </p:spPr>
      </p:pic>
      <p:sp>
        <p:nvSpPr>
          <p:cNvPr id="25" name="Text 18"/>
          <p:cNvSpPr txBox="1"/>
          <p:nvPr/>
        </p:nvSpPr>
        <p:spPr>
          <a:xfrm>
            <a:off x="9747504" y="1819656"/>
            <a:ext cx="1773936"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顧客企業</a:t>
            </a:r>
            <a:endParaRPr lang="en-US" sz="2000" dirty="0"/>
          </a:p>
        </p:txBody>
      </p:sp>
      <p:sp>
        <p:nvSpPr>
          <p:cNvPr id="26" name="Text 19"/>
          <p:cNvSpPr txBox="1"/>
          <p:nvPr/>
        </p:nvSpPr>
        <p:spPr>
          <a:xfrm>
            <a:off x="9144000" y="2423160"/>
            <a:ext cx="2331720" cy="128016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業務と最終責任</a:t>
            </a:r>
            <a:endParaRPr lang="en-US" sz="1800" dirty="0"/>
          </a:p>
        </p:txBody>
      </p:sp>
      <p:sp>
        <p:nvSpPr>
          <p:cNvPr id="27" name="Text 20"/>
          <p:cNvSpPr txBox="1"/>
          <p:nvPr/>
        </p:nvSpPr>
        <p:spPr>
          <a:xfrm>
            <a:off x="457200" y="3931920"/>
            <a:ext cx="73152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技術分野（主な仕事はノート参照）</a:t>
            </a:r>
            <a:endParaRPr lang="en-US" sz="2000" dirty="0"/>
          </a:p>
        </p:txBody>
      </p:sp>
      <p:sp>
        <p:nvSpPr>
          <p:cNvPr id="28" name="Shape 21"/>
          <p:cNvSpPr/>
          <p:nvPr/>
        </p:nvSpPr>
        <p:spPr>
          <a:xfrm>
            <a:off x="457200" y="4434840"/>
            <a:ext cx="2697480" cy="777240"/>
          </a:xfrm>
          <a:prstGeom prst="roundRect">
            <a:avLst>
              <a:gd name="adj" fmla="val 14118"/>
            </a:avLst>
          </a:prstGeom>
          <a:solidFill>
            <a:srgbClr val="DCE6F2"/>
          </a:solidFill>
          <a:ln w="25400">
            <a:solidFill>
              <a:srgbClr val="16324F"/>
            </a:solidFill>
            <a:prstDash val="solid"/>
          </a:ln>
        </p:spPr>
      </p:sp>
      <p:sp>
        <p:nvSpPr>
          <p:cNvPr id="29" name="Text 22"/>
          <p:cNvSpPr txBox="1"/>
          <p:nvPr/>
        </p:nvSpPr>
        <p:spPr>
          <a:xfrm>
            <a:off x="548640" y="4434840"/>
            <a:ext cx="25146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ネットワーク</a:t>
            </a:r>
            <a:endParaRPr lang="en-US" sz="1800" dirty="0"/>
          </a:p>
        </p:txBody>
      </p:sp>
      <p:sp>
        <p:nvSpPr>
          <p:cNvPr id="30" name="Shape 23"/>
          <p:cNvSpPr/>
          <p:nvPr/>
        </p:nvSpPr>
        <p:spPr>
          <a:xfrm>
            <a:off x="3291840" y="4434840"/>
            <a:ext cx="2697480" cy="777240"/>
          </a:xfrm>
          <a:prstGeom prst="roundRect">
            <a:avLst>
              <a:gd name="adj" fmla="val 14118"/>
            </a:avLst>
          </a:prstGeom>
          <a:solidFill>
            <a:srgbClr val="DCE6F2"/>
          </a:solidFill>
          <a:ln w="25400">
            <a:solidFill>
              <a:srgbClr val="16324F"/>
            </a:solidFill>
            <a:prstDash val="solid"/>
          </a:ln>
        </p:spPr>
      </p:sp>
      <p:sp>
        <p:nvSpPr>
          <p:cNvPr id="31" name="Text 24"/>
          <p:cNvSpPr txBox="1"/>
          <p:nvPr/>
        </p:nvSpPr>
        <p:spPr>
          <a:xfrm>
            <a:off x="3383280" y="4434840"/>
            <a:ext cx="25146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サーバー・仮想化</a:t>
            </a:r>
            <a:endParaRPr lang="en-US" sz="1800" dirty="0"/>
          </a:p>
        </p:txBody>
      </p:sp>
      <p:sp>
        <p:nvSpPr>
          <p:cNvPr id="32" name="Shape 25"/>
          <p:cNvSpPr/>
          <p:nvPr/>
        </p:nvSpPr>
        <p:spPr>
          <a:xfrm>
            <a:off x="6126480" y="4434840"/>
            <a:ext cx="2697480" cy="777240"/>
          </a:xfrm>
          <a:prstGeom prst="roundRect">
            <a:avLst>
              <a:gd name="adj" fmla="val 14118"/>
            </a:avLst>
          </a:prstGeom>
          <a:solidFill>
            <a:srgbClr val="DCE6F2"/>
          </a:solidFill>
          <a:ln w="25400">
            <a:solidFill>
              <a:srgbClr val="16324F"/>
            </a:solidFill>
            <a:prstDash val="solid"/>
          </a:ln>
        </p:spPr>
      </p:sp>
      <p:sp>
        <p:nvSpPr>
          <p:cNvPr id="33" name="Text 26"/>
          <p:cNvSpPr txBox="1"/>
          <p:nvPr/>
        </p:nvSpPr>
        <p:spPr>
          <a:xfrm>
            <a:off x="6217920" y="4434840"/>
            <a:ext cx="25146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ストレージ・</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バックアップ</a:t>
            </a:r>
            <a:endParaRPr lang="en-US" sz="1800" dirty="0"/>
          </a:p>
        </p:txBody>
      </p:sp>
      <p:sp>
        <p:nvSpPr>
          <p:cNvPr id="34" name="Shape 27"/>
          <p:cNvSpPr/>
          <p:nvPr/>
        </p:nvSpPr>
        <p:spPr>
          <a:xfrm>
            <a:off x="8961120" y="4434840"/>
            <a:ext cx="2697480" cy="777240"/>
          </a:xfrm>
          <a:prstGeom prst="roundRect">
            <a:avLst>
              <a:gd name="adj" fmla="val 14118"/>
            </a:avLst>
          </a:prstGeom>
          <a:solidFill>
            <a:srgbClr val="DCE6F2"/>
          </a:solidFill>
          <a:ln w="25400">
            <a:solidFill>
              <a:srgbClr val="16324F"/>
            </a:solidFill>
            <a:prstDash val="solid"/>
          </a:ln>
        </p:spPr>
      </p:sp>
      <p:sp>
        <p:nvSpPr>
          <p:cNvPr id="35" name="Text 28"/>
          <p:cNvSpPr txBox="1"/>
          <p:nvPr/>
        </p:nvSpPr>
        <p:spPr>
          <a:xfrm>
            <a:off x="9052560" y="4434840"/>
            <a:ext cx="25146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パブリッククラウド</a:t>
            </a:r>
            <a:endParaRPr lang="en-US" sz="1800" dirty="0"/>
          </a:p>
        </p:txBody>
      </p:sp>
      <p:sp>
        <p:nvSpPr>
          <p:cNvPr id="36" name="Shape 29"/>
          <p:cNvSpPr/>
          <p:nvPr/>
        </p:nvSpPr>
        <p:spPr>
          <a:xfrm>
            <a:off x="457200" y="5349240"/>
            <a:ext cx="2697480" cy="777240"/>
          </a:xfrm>
          <a:prstGeom prst="roundRect">
            <a:avLst>
              <a:gd name="adj" fmla="val 14118"/>
            </a:avLst>
          </a:prstGeom>
          <a:solidFill>
            <a:srgbClr val="DCE6F2"/>
          </a:solidFill>
          <a:ln w="25400">
            <a:solidFill>
              <a:srgbClr val="16324F"/>
            </a:solidFill>
            <a:prstDash val="solid"/>
          </a:ln>
        </p:spPr>
      </p:sp>
      <p:sp>
        <p:nvSpPr>
          <p:cNvPr id="37" name="Text 30"/>
          <p:cNvSpPr txBox="1"/>
          <p:nvPr/>
        </p:nvSpPr>
        <p:spPr>
          <a:xfrm>
            <a:off x="548640" y="5349240"/>
            <a:ext cx="25146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セキュリティ</a:t>
            </a:r>
            <a:endParaRPr lang="en-US" sz="1800" dirty="0"/>
          </a:p>
        </p:txBody>
      </p:sp>
      <p:sp>
        <p:nvSpPr>
          <p:cNvPr id="38" name="Shape 31"/>
          <p:cNvSpPr/>
          <p:nvPr/>
        </p:nvSpPr>
        <p:spPr>
          <a:xfrm>
            <a:off x="3291840" y="5349240"/>
            <a:ext cx="2697480" cy="777240"/>
          </a:xfrm>
          <a:prstGeom prst="roundRect">
            <a:avLst>
              <a:gd name="adj" fmla="val 14118"/>
            </a:avLst>
          </a:prstGeom>
          <a:solidFill>
            <a:srgbClr val="DCE6F2"/>
          </a:solidFill>
          <a:ln w="25400">
            <a:solidFill>
              <a:srgbClr val="16324F"/>
            </a:solidFill>
            <a:prstDash val="solid"/>
          </a:ln>
        </p:spPr>
      </p:sp>
      <p:sp>
        <p:nvSpPr>
          <p:cNvPr id="39" name="Text 32"/>
          <p:cNvSpPr txBox="1"/>
          <p:nvPr/>
        </p:nvSpPr>
        <p:spPr>
          <a:xfrm>
            <a:off x="3383280" y="5349240"/>
            <a:ext cx="25146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SRE・運用自動化</a:t>
            </a:r>
            <a:endParaRPr lang="en-US" sz="1800" dirty="0"/>
          </a:p>
        </p:txBody>
      </p:sp>
      <p:sp>
        <p:nvSpPr>
          <p:cNvPr id="40" name="Shape 33"/>
          <p:cNvSpPr/>
          <p:nvPr/>
        </p:nvSpPr>
        <p:spPr>
          <a:xfrm>
            <a:off x="6126480" y="5349240"/>
            <a:ext cx="2697480" cy="777240"/>
          </a:xfrm>
          <a:prstGeom prst="roundRect">
            <a:avLst>
              <a:gd name="adj" fmla="val 14118"/>
            </a:avLst>
          </a:prstGeom>
          <a:solidFill>
            <a:srgbClr val="DCE6F2"/>
          </a:solidFill>
          <a:ln w="25400">
            <a:solidFill>
              <a:srgbClr val="16324F"/>
            </a:solidFill>
            <a:prstDash val="solid"/>
          </a:ln>
        </p:spPr>
      </p:sp>
      <p:sp>
        <p:nvSpPr>
          <p:cNvPr id="41" name="Text 34"/>
          <p:cNvSpPr txBox="1"/>
          <p:nvPr/>
        </p:nvSpPr>
        <p:spPr>
          <a:xfrm>
            <a:off x="6217920" y="5349240"/>
            <a:ext cx="25146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AI・HPC基盤</a:t>
            </a:r>
            <a:endParaRPr lang="en-US" sz="1800" dirty="0"/>
          </a:p>
        </p:txBody>
      </p:sp>
      <p:sp>
        <p:nvSpPr>
          <p:cNvPr id="42" name="Shape 35"/>
          <p:cNvSpPr/>
          <p:nvPr/>
        </p:nvSpPr>
        <p:spPr>
          <a:xfrm>
            <a:off x="8961120" y="5349240"/>
            <a:ext cx="2697480" cy="777240"/>
          </a:xfrm>
          <a:prstGeom prst="roundRect">
            <a:avLst>
              <a:gd name="adj" fmla="val 14118"/>
            </a:avLst>
          </a:prstGeom>
          <a:solidFill>
            <a:srgbClr val="DCE6F2"/>
          </a:solidFill>
          <a:ln w="25400">
            <a:solidFill>
              <a:srgbClr val="16324F"/>
            </a:solidFill>
            <a:prstDash val="solid"/>
          </a:ln>
        </p:spPr>
      </p:sp>
      <p:sp>
        <p:nvSpPr>
          <p:cNvPr id="43" name="Text 36"/>
          <p:cNvSpPr txBox="1"/>
          <p:nvPr/>
        </p:nvSpPr>
        <p:spPr>
          <a:xfrm>
            <a:off x="9052560" y="5349240"/>
            <a:ext cx="251460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設備（電源・冷却）</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469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専門・配属・キャリア</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金融・通信・製造では、得やすい技術と将来の方向が違う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同じ軸（得やすい技術・将来につながる経験）で3つの業界を比べます。あくまで典型例で、HPEの配属を保証するものではありません。</a:t>
            </a:r>
            <a:endParaRPr lang="en-US" sz="18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1371600"/>
                <a:gridCol w="5120640"/>
                <a:gridCol w="47823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業界</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経験し得る技術</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将来につながる経験</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1051560">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金融</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高可用性・災害対策・変更管理・大規模移行・監査とセキュリティ</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金融基盤・企業クラウド・アーキテクト・大規模PM</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051560">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通信</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大規模ネットワーク・分散システム・仮想化とコンテナ・自動化</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ネットワーク・クラウド・SRE・プラットフォーム・技術リード</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1051560">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製造</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工場・拠点・ITとOT・エッジ・産業データ・AIとHPC・継続稼働</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産業AI・エッジ・OTセキュリティ・製造DX・アーキテクト・PM</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5532120"/>
            <a:ext cx="11274552" cy="777240"/>
          </a:xfrm>
          <a:prstGeom prst="roundRect">
            <a:avLst>
              <a:gd name="adj" fmla="val 14118"/>
            </a:avLst>
          </a:prstGeom>
          <a:solidFill>
            <a:srgbClr val="FBE3E0"/>
          </a:solidFill>
          <a:ln w="19050">
            <a:solidFill>
              <a:srgbClr val="C0392B"/>
            </a:solidFill>
            <a:prstDash val="solid"/>
          </a:ln>
        </p:spPr>
      </p:sp>
      <p:sp>
        <p:nvSpPr>
          <p:cNvPr id="9" name="Shape 5"/>
          <p:cNvSpPr/>
          <p:nvPr/>
        </p:nvSpPr>
        <p:spPr>
          <a:xfrm>
            <a:off x="594360" y="5692140"/>
            <a:ext cx="457200" cy="457200"/>
          </a:xfrm>
          <a:prstGeom prst="ellipse">
            <a:avLst/>
          </a:prstGeom>
          <a:solidFill>
            <a:srgbClr val="C0392B"/>
          </a:solidFill>
          <a:ln/>
        </p:spPr>
      </p:sp>
      <p:pic>
        <p:nvPicPr>
          <p:cNvPr id="10" name="Image 0" descr="preencoded.png">    </p:cNvPr>
          <p:cNvPicPr>
            <a:picLocks noChangeAspect="1"/>
          </p:cNvPicPr>
          <p:nvPr/>
        </p:nvPicPr>
        <p:blipFill>
          <a:blip r:embed="rId1"/>
          <a:stretch>
            <a:fillRect/>
          </a:stretch>
        </p:blipFill>
        <p:spPr>
          <a:xfrm>
            <a:off x="694944" y="5792724"/>
            <a:ext cx="256032" cy="256032"/>
          </a:xfrm>
          <a:prstGeom prst="rect">
            <a:avLst/>
          </a:prstGeom>
        </p:spPr>
      </p:pic>
      <p:sp>
        <p:nvSpPr>
          <p:cNvPr id="11" name="Text 6"/>
          <p:cNvSpPr txBox="1"/>
          <p:nvPr/>
        </p:nvSpPr>
        <p:spPr>
          <a:xfrm>
            <a:off x="1188720" y="5577840"/>
            <a:ext cx="10405872" cy="685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典型的な案件から得やすい経験の例。HPEの配属別の保証ではない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469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専門・配属・キャリア</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092135" y="237744"/>
            <a:ext cx="2232152" cy="310896"/>
          </a:xfrm>
          <a:prstGeom prst="roundRect">
            <a:avLst>
              <a:gd name="adj" fmla="val 50000"/>
            </a:avLst>
          </a:prstGeom>
          <a:solidFill>
            <a:srgbClr val="E6E1F7"/>
          </a:solidFill>
          <a:ln w="9525">
            <a:solidFill>
              <a:srgbClr val="3B2A8C"/>
            </a:solidFill>
          </a:ln>
        </p:spPr>
        <p:txBody>
          <a:bodyPr wrap="square" lIns="0" tIns="0" rIns="0" bIns="0" rtlCol="0" anchor="ctr"/>
          <a:lstStyle/>
          <a:p>
            <a:pPr algn="ctr" indent="0" marL="0">
              <a:buNone/>
            </a:pPr>
            <a:r>
              <a:rPr lang="ja-JP" altLang="en-US" sz="1400" b="1" dirty="0">
                <a:solidFill>
                  <a:srgbClr val="3B2A8C"/>
                </a:solidFill>
                <a:latin typeface="Yu Gothic" pitchFamily="34" charset="0"/>
                <a:ea typeface="Yu Gothic" pitchFamily="34" charset="-122"/>
                <a:cs typeface="Yu Gothic" pitchFamily="34" charset="-120"/>
              </a:rPr>
              <a:t>OB訪問で聞いた個別例</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働き方は業界名では決まらない。面談で確認する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働き方（休みやすさ・リモート）は、業界名より、人数・代替体制・顧客の規則で決まります。配属面談で確認すべき点をまとめました。</a:t>
            </a:r>
            <a:endParaRPr lang="en-US" sz="18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1371600"/>
                <a:gridCol w="5486400"/>
                <a:gridCol w="44165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業界</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働き方を決める条件（個別例を含む）</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面談での確認事項</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1051560">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金融</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人数・代替体制・顧客の規則。OB例：人数が多く休みやすいが、機密性でリモートに制限</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若手が設計・検証を担当できるか。分業が細かすぎないか</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051560">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通信</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人数・相互カバー。OB例：リモート可だが、少人数で代わりが利かず休みにくい</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実際の担当がどの層か。少人数でも相互にカバーできるか</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1051560">
                <a:tc>
                  <a:txBody>
                    <a:bodyPr/>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製造</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6F2"/>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生産の停止・安全・長い機器寿命など、OT環境の条件</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工場基盤・全社基盤・HPCのどこを担当するか</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5532120"/>
            <a:ext cx="11274552" cy="777240"/>
          </a:xfrm>
          <a:prstGeom prst="roundRect">
            <a:avLst>
              <a:gd name="adj" fmla="val 14118"/>
            </a:avLst>
          </a:prstGeom>
          <a:solidFill>
            <a:srgbClr val="FBE3E0"/>
          </a:solidFill>
          <a:ln w="19050">
            <a:solidFill>
              <a:srgbClr val="C0392B"/>
            </a:solidFill>
            <a:prstDash val="solid"/>
          </a:ln>
        </p:spPr>
      </p:sp>
      <p:sp>
        <p:nvSpPr>
          <p:cNvPr id="10" name="Shape 6"/>
          <p:cNvSpPr/>
          <p:nvPr/>
        </p:nvSpPr>
        <p:spPr>
          <a:xfrm>
            <a:off x="594360" y="5692140"/>
            <a:ext cx="457200" cy="457200"/>
          </a:xfrm>
          <a:prstGeom prst="ellipse">
            <a:avLst/>
          </a:prstGeom>
          <a:solidFill>
            <a:srgbClr val="C0392B"/>
          </a:solidFill>
          <a:ln/>
        </p:spPr>
      </p:sp>
      <p:pic>
        <p:nvPicPr>
          <p:cNvPr id="11" name="Image 0" descr="preencoded.png">    </p:cNvPr>
          <p:cNvPicPr>
            <a:picLocks noChangeAspect="1"/>
          </p:cNvPicPr>
          <p:nvPr/>
        </p:nvPicPr>
        <p:blipFill>
          <a:blip r:embed="rId1"/>
          <a:stretch>
            <a:fillRect/>
          </a:stretch>
        </p:blipFill>
        <p:spPr>
          <a:xfrm>
            <a:off x="694944" y="5792724"/>
            <a:ext cx="256032" cy="256032"/>
          </a:xfrm>
          <a:prstGeom prst="rect">
            <a:avLst/>
          </a:prstGeom>
        </p:spPr>
      </p:pic>
      <p:sp>
        <p:nvSpPr>
          <p:cNvPr id="12" name="Text 7"/>
          <p:cNvSpPr txBox="1"/>
          <p:nvPr/>
        </p:nvSpPr>
        <p:spPr>
          <a:xfrm>
            <a:off x="1188720" y="5577840"/>
            <a:ext cx="10405872" cy="685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OB訪問の話は個別例。業界全体の制度ではない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469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専門・配属・キャリア</a:t>
            </a:r>
            <a:endParaRPr lang="ja-JP" sz="1400" dirty="0"/>
          </a:p>
        </p:txBody>
      </p:sp>
      <p:sp>
        <p:nvSpPr>
          <p:cNvPr id="3" name="Text 1"/>
          <p:cNvSpPr txBox="1"/>
          <p:nvPr/>
        </p:nvSpPr>
        <p:spPr>
          <a:xfrm>
            <a:off x="9502343" y="237744"/>
            <a:ext cx="2232152" cy="310896"/>
          </a:xfrm>
          <a:prstGeom prst="roundRect">
            <a:avLst>
              <a:gd name="adj" fmla="val 50000"/>
            </a:avLst>
          </a:prstGeom>
          <a:solidFill>
            <a:srgbClr val="E6E1F7"/>
          </a:solidFill>
          <a:ln w="9525">
            <a:solidFill>
              <a:srgbClr val="3B2A8C"/>
            </a:solidFill>
          </a:ln>
        </p:spPr>
        <p:txBody>
          <a:bodyPr wrap="square" lIns="0" tIns="0" rIns="0" bIns="0" rtlCol="0" anchor="ctr"/>
          <a:lstStyle/>
          <a:p>
            <a:pPr algn="ctr" indent="0" marL="0">
              <a:buNone/>
            </a:pPr>
            <a:r>
              <a:rPr lang="ja-JP" altLang="en-US" sz="1400" b="1" dirty="0">
                <a:solidFill>
                  <a:srgbClr val="3B2A8C"/>
                </a:solidFill>
                <a:latin typeface="Yu Gothic" pitchFamily="34" charset="0"/>
                <a:ea typeface="Yu Gothic" pitchFamily="34" charset="-122"/>
                <a:cs typeface="Yu Gothic" pitchFamily="34" charset="-120"/>
              </a:rPr>
              <a:t>OB訪問で聞いた個別例</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OB訪問で聞いた話は貴重な個別例。ただし一般化しない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OB訪問で聞いた話は、あるチームの実例として貴重です。ただし「金融は休める、通信は休めない」のような一般化は避けます。</a:t>
            </a:r>
            <a:endParaRPr lang="en-US" sz="1800" dirty="0"/>
          </a:p>
        </p:txBody>
      </p:sp>
      <p:sp>
        <p:nvSpPr>
          <p:cNvPr id="7" name="Shape 4"/>
          <p:cNvSpPr/>
          <p:nvPr/>
        </p:nvSpPr>
        <p:spPr>
          <a:xfrm>
            <a:off x="457200" y="1691640"/>
            <a:ext cx="5532120" cy="1920240"/>
          </a:xfrm>
          <a:prstGeom prst="roundRect">
            <a:avLst>
              <a:gd name="adj" fmla="val 6667"/>
            </a:avLst>
          </a:prstGeom>
          <a:solidFill>
            <a:srgbClr val="DCE6F2"/>
          </a:solidFill>
          <a:ln/>
        </p:spPr>
      </p:sp>
      <p:sp>
        <p:nvSpPr>
          <p:cNvPr id="8" name="Shape 5"/>
          <p:cNvSpPr/>
          <p:nvPr/>
        </p:nvSpPr>
        <p:spPr>
          <a:xfrm>
            <a:off x="621792" y="1819656"/>
            <a:ext cx="512064" cy="512064"/>
          </a:xfrm>
          <a:prstGeom prst="ellipse">
            <a:avLst/>
          </a:prstGeom>
          <a:solidFill>
            <a:srgbClr val="16324F"/>
          </a:solidFill>
          <a:ln/>
        </p:spPr>
      </p:sp>
      <p:pic>
        <p:nvPicPr>
          <p:cNvPr id="9" name="Image 0" descr="preencoded.png">    </p:cNvPr>
          <p:cNvPicPr>
            <a:picLocks noChangeAspect="1"/>
          </p:cNvPicPr>
          <p:nvPr/>
        </p:nvPicPr>
        <p:blipFill>
          <a:blip r:embed="rId1"/>
          <a:stretch>
            <a:fillRect/>
          </a:stretch>
        </p:blipFill>
        <p:spPr>
          <a:xfrm>
            <a:off x="734446" y="1932310"/>
            <a:ext cx="286756" cy="286756"/>
          </a:xfrm>
          <a:prstGeom prst="rect">
            <a:avLst/>
          </a:prstGeom>
        </p:spPr>
      </p:pic>
      <p:sp>
        <p:nvSpPr>
          <p:cNvPr id="10" name="Text 6"/>
          <p:cNvSpPr txBox="1"/>
          <p:nvPr/>
        </p:nvSpPr>
        <p:spPr>
          <a:xfrm>
            <a:off x="1243584" y="1819656"/>
            <a:ext cx="4608576"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金融（日本銀行関連のチーム）</a:t>
            </a:r>
            <a:endParaRPr lang="en-US" sz="2000" dirty="0"/>
          </a:p>
        </p:txBody>
      </p:sp>
      <p:sp>
        <p:nvSpPr>
          <p:cNvPr id="11" name="Text 7"/>
          <p:cNvSpPr txBox="1"/>
          <p:nvPr/>
        </p:nvSpPr>
        <p:spPr>
          <a:xfrm>
            <a:off x="640080" y="2423160"/>
            <a:ext cx="5166360" cy="109728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人数が多く、代替要員が見つかる</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機密性のためリモートに制限</a:t>
            </a:r>
            <a:endParaRPr lang="en-US" sz="1800" dirty="0"/>
          </a:p>
        </p:txBody>
      </p:sp>
      <p:sp>
        <p:nvSpPr>
          <p:cNvPr id="12" name="Shape 8"/>
          <p:cNvSpPr/>
          <p:nvPr/>
        </p:nvSpPr>
        <p:spPr>
          <a:xfrm>
            <a:off x="6199632" y="1691640"/>
            <a:ext cx="5532120" cy="1920240"/>
          </a:xfrm>
          <a:prstGeom prst="roundRect">
            <a:avLst>
              <a:gd name="adj" fmla="val 6667"/>
            </a:avLst>
          </a:prstGeom>
          <a:solidFill>
            <a:srgbClr val="DCE6F2"/>
          </a:solidFill>
          <a:ln/>
        </p:spPr>
      </p:sp>
      <p:sp>
        <p:nvSpPr>
          <p:cNvPr id="13" name="Shape 9"/>
          <p:cNvSpPr/>
          <p:nvPr/>
        </p:nvSpPr>
        <p:spPr>
          <a:xfrm>
            <a:off x="6364224" y="1819656"/>
            <a:ext cx="512064" cy="512064"/>
          </a:xfrm>
          <a:prstGeom prst="ellipse">
            <a:avLst/>
          </a:prstGeom>
          <a:solidFill>
            <a:srgbClr val="16324F"/>
          </a:solidFill>
          <a:ln/>
        </p:spPr>
      </p:sp>
      <p:pic>
        <p:nvPicPr>
          <p:cNvPr id="14" name="Image 1" descr="preencoded.png">    </p:cNvPr>
          <p:cNvPicPr>
            <a:picLocks noChangeAspect="1"/>
          </p:cNvPicPr>
          <p:nvPr/>
        </p:nvPicPr>
        <p:blipFill>
          <a:blip r:embed="rId2"/>
          <a:stretch>
            <a:fillRect/>
          </a:stretch>
        </p:blipFill>
        <p:spPr>
          <a:xfrm>
            <a:off x="6476878" y="1932310"/>
            <a:ext cx="286756" cy="286756"/>
          </a:xfrm>
          <a:prstGeom prst="rect">
            <a:avLst/>
          </a:prstGeom>
        </p:spPr>
      </p:pic>
      <p:sp>
        <p:nvSpPr>
          <p:cNvPr id="15" name="Text 10"/>
          <p:cNvSpPr txBox="1"/>
          <p:nvPr/>
        </p:nvSpPr>
        <p:spPr>
          <a:xfrm>
            <a:off x="6986016" y="1819656"/>
            <a:ext cx="4608576"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通信（あるチーム）</a:t>
            </a:r>
            <a:endParaRPr lang="en-US" sz="2000" dirty="0"/>
          </a:p>
        </p:txBody>
      </p:sp>
      <p:sp>
        <p:nvSpPr>
          <p:cNvPr id="16" name="Text 11"/>
          <p:cNvSpPr txBox="1"/>
          <p:nvPr/>
        </p:nvSpPr>
        <p:spPr>
          <a:xfrm>
            <a:off x="6382512" y="2423160"/>
            <a:ext cx="5166360" cy="109728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リモートは可能</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少人数で代わりが利かず休みにくい</a:t>
            </a:r>
            <a:endParaRPr lang="en-US" sz="1800" dirty="0"/>
          </a:p>
        </p:txBody>
      </p:sp>
      <p:sp>
        <p:nvSpPr>
          <p:cNvPr id="17" name="Shape 12"/>
          <p:cNvSpPr/>
          <p:nvPr/>
        </p:nvSpPr>
        <p:spPr>
          <a:xfrm>
            <a:off x="457200" y="3749040"/>
            <a:ext cx="11274552" cy="777240"/>
          </a:xfrm>
          <a:prstGeom prst="roundRect">
            <a:avLst>
              <a:gd name="adj" fmla="val 14118"/>
            </a:avLst>
          </a:prstGeom>
          <a:solidFill>
            <a:srgbClr val="FBE3E0"/>
          </a:solidFill>
          <a:ln w="19050">
            <a:solidFill>
              <a:srgbClr val="C0392B"/>
            </a:solidFill>
            <a:prstDash val="solid"/>
          </a:ln>
        </p:spPr>
      </p:sp>
      <p:sp>
        <p:nvSpPr>
          <p:cNvPr id="18" name="Shape 13"/>
          <p:cNvSpPr/>
          <p:nvPr/>
        </p:nvSpPr>
        <p:spPr>
          <a:xfrm>
            <a:off x="594360" y="3909060"/>
            <a:ext cx="457200" cy="457200"/>
          </a:xfrm>
          <a:prstGeom prst="ellipse">
            <a:avLst/>
          </a:prstGeom>
          <a:solidFill>
            <a:srgbClr val="C0392B"/>
          </a:solidFill>
          <a:ln/>
        </p:spPr>
      </p:sp>
      <p:pic>
        <p:nvPicPr>
          <p:cNvPr id="19" name="Image 2" descr="preencoded.png">    </p:cNvPr>
          <p:cNvPicPr>
            <a:picLocks noChangeAspect="1"/>
          </p:cNvPicPr>
          <p:nvPr/>
        </p:nvPicPr>
        <p:blipFill>
          <a:blip r:embed="rId3"/>
          <a:stretch>
            <a:fillRect/>
          </a:stretch>
        </p:blipFill>
        <p:spPr>
          <a:xfrm>
            <a:off x="694944" y="4009644"/>
            <a:ext cx="256032" cy="256032"/>
          </a:xfrm>
          <a:prstGeom prst="rect">
            <a:avLst/>
          </a:prstGeom>
        </p:spPr>
      </p:pic>
      <p:sp>
        <p:nvSpPr>
          <p:cNvPr id="20" name="Text 14"/>
          <p:cNvSpPr txBox="1"/>
          <p:nvPr/>
        </p:nvSpPr>
        <p:spPr>
          <a:xfrm>
            <a:off x="1188720" y="3794760"/>
            <a:ext cx="10405872" cy="6858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本人が行く部署・現在の契約・業界全体の制度は確認していない</a:t>
            </a:r>
            <a:endParaRPr lang="en-US" sz="2000" dirty="0"/>
          </a:p>
        </p:txBody>
      </p:sp>
      <p:sp>
        <p:nvSpPr>
          <p:cNvPr id="21" name="Shape 15"/>
          <p:cNvSpPr/>
          <p:nvPr/>
        </p:nvSpPr>
        <p:spPr>
          <a:xfrm>
            <a:off x="457200" y="4663440"/>
            <a:ext cx="5532120" cy="1645920"/>
          </a:xfrm>
          <a:prstGeom prst="roundRect">
            <a:avLst>
              <a:gd name="adj" fmla="val 7778"/>
            </a:avLst>
          </a:prstGeom>
          <a:solidFill>
            <a:srgbClr val="FDEBD0"/>
          </a:solidFill>
          <a:ln/>
        </p:spPr>
      </p:sp>
      <p:sp>
        <p:nvSpPr>
          <p:cNvPr id="22" name="Text 16"/>
          <p:cNvSpPr txBox="1"/>
          <p:nvPr/>
        </p:nvSpPr>
        <p:spPr>
          <a:xfrm>
            <a:off x="640080" y="4791456"/>
            <a:ext cx="516636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休暇を決める条件</a:t>
            </a:r>
            <a:endParaRPr lang="en-US" sz="2000" dirty="0"/>
          </a:p>
        </p:txBody>
      </p:sp>
      <p:sp>
        <p:nvSpPr>
          <p:cNvPr id="23" name="Text 17"/>
          <p:cNvSpPr txBox="1"/>
          <p:nvPr/>
        </p:nvSpPr>
        <p:spPr>
          <a:xfrm>
            <a:off x="640080" y="5218176"/>
            <a:ext cx="5166360" cy="99974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人数・複数人が業務を理解する仕組み・手順・繁忙期・夜間休日作業・上司</a:t>
            </a:r>
            <a:endParaRPr lang="en-US" sz="1800" dirty="0"/>
          </a:p>
        </p:txBody>
      </p:sp>
      <p:sp>
        <p:nvSpPr>
          <p:cNvPr id="24" name="Shape 18"/>
          <p:cNvSpPr/>
          <p:nvPr/>
        </p:nvSpPr>
        <p:spPr>
          <a:xfrm>
            <a:off x="6199632" y="4663440"/>
            <a:ext cx="5532120" cy="1645920"/>
          </a:xfrm>
          <a:prstGeom prst="roundRect">
            <a:avLst>
              <a:gd name="adj" fmla="val 7778"/>
            </a:avLst>
          </a:prstGeom>
          <a:solidFill>
            <a:srgbClr val="FDEBD0"/>
          </a:solidFill>
          <a:ln/>
        </p:spPr>
      </p:sp>
      <p:sp>
        <p:nvSpPr>
          <p:cNvPr id="25" name="Text 19"/>
          <p:cNvSpPr txBox="1"/>
          <p:nvPr/>
        </p:nvSpPr>
        <p:spPr>
          <a:xfrm>
            <a:off x="6382512" y="4791456"/>
            <a:ext cx="516636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リモートを決める条件</a:t>
            </a:r>
            <a:endParaRPr lang="en-US" sz="2000" dirty="0"/>
          </a:p>
        </p:txBody>
      </p:sp>
      <p:sp>
        <p:nvSpPr>
          <p:cNvPr id="26" name="Text 20"/>
          <p:cNvSpPr txBox="1"/>
          <p:nvPr/>
        </p:nvSpPr>
        <p:spPr>
          <a:xfrm>
            <a:off x="6382512" y="5218176"/>
            <a:ext cx="5166360" cy="99974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顧客の規則・情報区分・担当作業・アクセス環境</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469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専門・配属・キャリア</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選ぶ基準は、持ち運べる技術と説明できる経験</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業界名で決めず、「設計・検証を任されるか」「教えてくれる人がいるか」など、持ち運べる技術が身につく条件で選ぶ、という提案です。</a:t>
            </a:r>
            <a:endParaRPr lang="en-US" sz="1800" dirty="0"/>
          </a:p>
        </p:txBody>
      </p:sp>
      <p:sp>
        <p:nvSpPr>
          <p:cNvPr id="7" name="Text 4"/>
          <p:cNvSpPr txBox="1"/>
          <p:nvPr/>
        </p:nvSpPr>
        <p:spPr>
          <a:xfrm>
            <a:off x="457200" y="1691640"/>
            <a:ext cx="5394960" cy="411480"/>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優先したい5つの条件</a:t>
            </a:r>
            <a:endParaRPr lang="en-US" sz="2200" dirty="0"/>
          </a:p>
        </p:txBody>
      </p:sp>
      <p:sp>
        <p:nvSpPr>
          <p:cNvPr id="8" name="Shape 5"/>
          <p:cNvSpPr/>
          <p:nvPr/>
        </p:nvSpPr>
        <p:spPr>
          <a:xfrm>
            <a:off x="475488" y="2295144"/>
            <a:ext cx="420624" cy="420624"/>
          </a:xfrm>
          <a:prstGeom prst="ellipse">
            <a:avLst/>
          </a:prstGeom>
          <a:solidFill>
            <a:srgbClr val="16324F"/>
          </a:solidFill>
          <a:ln w="19050">
            <a:solidFill>
              <a:srgbClr val="FFFFFF"/>
            </a:solidFill>
            <a:prstDash val="solid"/>
          </a:ln>
        </p:spPr>
      </p:sp>
      <p:sp>
        <p:nvSpPr>
          <p:cNvPr id="9" name="Text 6"/>
          <p:cNvSpPr txBox="1"/>
          <p:nvPr/>
        </p:nvSpPr>
        <p:spPr>
          <a:xfrm>
            <a:off x="475488" y="229514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0" name="Text 7"/>
          <p:cNvSpPr txBox="1"/>
          <p:nvPr/>
        </p:nvSpPr>
        <p:spPr>
          <a:xfrm>
            <a:off x="1051560" y="2148840"/>
            <a:ext cx="4800600" cy="676656"/>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設計・検証・構築の一部を責任を持って担当できる</a:t>
            </a:r>
            <a:endParaRPr lang="en-US" sz="1800" dirty="0"/>
          </a:p>
        </p:txBody>
      </p:sp>
      <p:sp>
        <p:nvSpPr>
          <p:cNvPr id="11" name="Shape 8"/>
          <p:cNvSpPr/>
          <p:nvPr/>
        </p:nvSpPr>
        <p:spPr>
          <a:xfrm>
            <a:off x="475488" y="3008376"/>
            <a:ext cx="420624" cy="420624"/>
          </a:xfrm>
          <a:prstGeom prst="ellipse">
            <a:avLst/>
          </a:prstGeom>
          <a:solidFill>
            <a:srgbClr val="16324F"/>
          </a:solidFill>
          <a:ln w="19050">
            <a:solidFill>
              <a:srgbClr val="FFFFFF"/>
            </a:solidFill>
            <a:prstDash val="solid"/>
          </a:ln>
        </p:spPr>
      </p:sp>
      <p:sp>
        <p:nvSpPr>
          <p:cNvPr id="12" name="Text 9"/>
          <p:cNvSpPr txBox="1"/>
          <p:nvPr/>
        </p:nvSpPr>
        <p:spPr>
          <a:xfrm>
            <a:off x="475488" y="300837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3" name="Text 10"/>
          <p:cNvSpPr txBox="1"/>
          <p:nvPr/>
        </p:nvSpPr>
        <p:spPr>
          <a:xfrm>
            <a:off x="1051560" y="2862072"/>
            <a:ext cx="4800600" cy="676656"/>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Linux・ネットワーク・クラウド・自動化を実際に使う</a:t>
            </a:r>
            <a:endParaRPr lang="en-US" sz="1800" dirty="0"/>
          </a:p>
        </p:txBody>
      </p:sp>
      <p:sp>
        <p:nvSpPr>
          <p:cNvPr id="14" name="Shape 11"/>
          <p:cNvSpPr/>
          <p:nvPr/>
        </p:nvSpPr>
        <p:spPr>
          <a:xfrm>
            <a:off x="475488" y="3721608"/>
            <a:ext cx="420624" cy="420624"/>
          </a:xfrm>
          <a:prstGeom prst="ellipse">
            <a:avLst/>
          </a:prstGeom>
          <a:solidFill>
            <a:srgbClr val="16324F"/>
          </a:solidFill>
          <a:ln w="19050">
            <a:solidFill>
              <a:srgbClr val="FFFFFF"/>
            </a:solidFill>
            <a:prstDash val="solid"/>
          </a:ln>
        </p:spPr>
      </p:sp>
      <p:sp>
        <p:nvSpPr>
          <p:cNvPr id="15" name="Text 12"/>
          <p:cNvSpPr txBox="1"/>
          <p:nvPr/>
        </p:nvSpPr>
        <p:spPr>
          <a:xfrm>
            <a:off x="475488" y="372160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6" name="Text 13"/>
          <p:cNvSpPr txBox="1"/>
          <p:nvPr/>
        </p:nvSpPr>
        <p:spPr>
          <a:xfrm>
            <a:off x="1051560" y="3575304"/>
            <a:ext cx="4800600" cy="676656"/>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構成を選んだ理由と、性能・復旧の確認方法を説明できる</a:t>
            </a:r>
            <a:endParaRPr lang="en-US" sz="1800" dirty="0"/>
          </a:p>
        </p:txBody>
      </p:sp>
      <p:sp>
        <p:nvSpPr>
          <p:cNvPr id="17" name="Shape 14"/>
          <p:cNvSpPr/>
          <p:nvPr/>
        </p:nvSpPr>
        <p:spPr>
          <a:xfrm>
            <a:off x="475488" y="4434840"/>
            <a:ext cx="420624" cy="420624"/>
          </a:xfrm>
          <a:prstGeom prst="ellipse">
            <a:avLst/>
          </a:prstGeom>
          <a:solidFill>
            <a:srgbClr val="16324F"/>
          </a:solidFill>
          <a:ln w="19050">
            <a:solidFill>
              <a:srgbClr val="FFFFFF"/>
            </a:solidFill>
            <a:prstDash val="solid"/>
          </a:ln>
        </p:spPr>
      </p:sp>
      <p:sp>
        <p:nvSpPr>
          <p:cNvPr id="18" name="Text 15"/>
          <p:cNvSpPr txBox="1"/>
          <p:nvPr/>
        </p:nvSpPr>
        <p:spPr>
          <a:xfrm>
            <a:off x="475488" y="443484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9" name="Text 16"/>
          <p:cNvSpPr txBox="1"/>
          <p:nvPr/>
        </p:nvSpPr>
        <p:spPr>
          <a:xfrm>
            <a:off x="1051560" y="4288536"/>
            <a:ext cx="4800600" cy="676656"/>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顧客との要件確認やレビューに参加できる</a:t>
            </a:r>
            <a:endParaRPr lang="en-US" sz="1800" dirty="0"/>
          </a:p>
        </p:txBody>
      </p:sp>
      <p:sp>
        <p:nvSpPr>
          <p:cNvPr id="20" name="Shape 17"/>
          <p:cNvSpPr/>
          <p:nvPr/>
        </p:nvSpPr>
        <p:spPr>
          <a:xfrm>
            <a:off x="475488" y="5148072"/>
            <a:ext cx="420624" cy="420624"/>
          </a:xfrm>
          <a:prstGeom prst="ellipse">
            <a:avLst/>
          </a:prstGeom>
          <a:solidFill>
            <a:srgbClr val="16324F"/>
          </a:solidFill>
          <a:ln w="19050">
            <a:solidFill>
              <a:srgbClr val="FFFFFF"/>
            </a:solidFill>
            <a:prstDash val="solid"/>
          </a:ln>
        </p:spPr>
      </p:sp>
      <p:sp>
        <p:nvSpPr>
          <p:cNvPr id="21" name="Text 18"/>
          <p:cNvSpPr txBox="1"/>
          <p:nvPr/>
        </p:nvSpPr>
        <p:spPr>
          <a:xfrm>
            <a:off x="475488" y="514807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2" name="Text 19"/>
          <p:cNvSpPr txBox="1"/>
          <p:nvPr/>
        </p:nvSpPr>
        <p:spPr>
          <a:xfrm>
            <a:off x="1051560" y="5001768"/>
            <a:ext cx="4800600" cy="676656"/>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教えてくれる先輩と、休暇時のバックアップがある</a:t>
            </a:r>
            <a:endParaRPr lang="en-US" sz="1800" dirty="0"/>
          </a:p>
        </p:txBody>
      </p:sp>
      <p:sp>
        <p:nvSpPr>
          <p:cNvPr id="23" name="Shape 20"/>
          <p:cNvSpPr/>
          <p:nvPr/>
        </p:nvSpPr>
        <p:spPr>
          <a:xfrm>
            <a:off x="6126480" y="1691640"/>
            <a:ext cx="5605272" cy="1371600"/>
          </a:xfrm>
          <a:prstGeom prst="roundRect">
            <a:avLst>
              <a:gd name="adj" fmla="val 9333"/>
            </a:avLst>
          </a:prstGeom>
          <a:solidFill>
            <a:srgbClr val="DCE6F2"/>
          </a:solidFill>
          <a:ln/>
        </p:spPr>
      </p:sp>
      <p:sp>
        <p:nvSpPr>
          <p:cNvPr id="24" name="Text 21"/>
          <p:cNvSpPr txBox="1"/>
          <p:nvPr/>
        </p:nvSpPr>
        <p:spPr>
          <a:xfrm>
            <a:off x="6309360" y="1819656"/>
            <a:ext cx="523951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金融なら</a:t>
            </a:r>
            <a:endParaRPr lang="en-US" sz="2000" dirty="0"/>
          </a:p>
        </p:txBody>
      </p:sp>
      <p:sp>
        <p:nvSpPr>
          <p:cNvPr id="25" name="Text 22"/>
          <p:cNvSpPr txBox="1"/>
          <p:nvPr/>
        </p:nvSpPr>
        <p:spPr>
          <a:xfrm>
            <a:off x="6309360" y="2246376"/>
            <a:ext cx="5239512" cy="72542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若手にも設計・検証・移行の経験があり、育成と代替体制が良ければ、土台作りに十分よい</a:t>
            </a:r>
            <a:endParaRPr lang="en-US" sz="1800" dirty="0"/>
          </a:p>
        </p:txBody>
      </p:sp>
      <p:sp>
        <p:nvSpPr>
          <p:cNvPr id="26" name="Shape 23"/>
          <p:cNvSpPr/>
          <p:nvPr/>
        </p:nvSpPr>
        <p:spPr>
          <a:xfrm>
            <a:off x="6126480" y="3200400"/>
            <a:ext cx="5605272" cy="1371600"/>
          </a:xfrm>
          <a:prstGeom prst="roundRect">
            <a:avLst>
              <a:gd name="adj" fmla="val 9333"/>
            </a:avLst>
          </a:prstGeom>
          <a:solidFill>
            <a:srgbClr val="DCE6F2"/>
          </a:solidFill>
          <a:ln/>
        </p:spPr>
      </p:sp>
      <p:sp>
        <p:nvSpPr>
          <p:cNvPr id="27" name="Text 24"/>
          <p:cNvSpPr txBox="1"/>
          <p:nvPr/>
        </p:nvSpPr>
        <p:spPr>
          <a:xfrm>
            <a:off x="6309360" y="3328416"/>
            <a:ext cx="523951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通信なら</a:t>
            </a:r>
            <a:endParaRPr lang="en-US" sz="2000" dirty="0"/>
          </a:p>
        </p:txBody>
      </p:sp>
      <p:sp>
        <p:nvSpPr>
          <p:cNvPr id="28" name="Text 25"/>
          <p:cNvSpPr txBox="1"/>
          <p:nvPr/>
        </p:nvSpPr>
        <p:spPr>
          <a:xfrm>
            <a:off x="6309360" y="3755136"/>
            <a:ext cx="5239512" cy="72542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クラウド・自動化を担当でき、少人数でもレビューと代替が整えば、技術の幅を得られる</a:t>
            </a:r>
            <a:endParaRPr lang="en-US" sz="1800" dirty="0"/>
          </a:p>
        </p:txBody>
      </p:sp>
      <p:sp>
        <p:nvSpPr>
          <p:cNvPr id="29" name="Shape 26"/>
          <p:cNvSpPr/>
          <p:nvPr/>
        </p:nvSpPr>
        <p:spPr>
          <a:xfrm>
            <a:off x="6126480" y="4709160"/>
            <a:ext cx="5605272" cy="1280160"/>
          </a:xfrm>
          <a:prstGeom prst="roundRect">
            <a:avLst>
              <a:gd name="adj" fmla="val 10000"/>
            </a:avLst>
          </a:prstGeom>
          <a:solidFill>
            <a:srgbClr val="DCE6F2"/>
          </a:solidFill>
          <a:ln/>
        </p:spPr>
      </p:sp>
      <p:sp>
        <p:nvSpPr>
          <p:cNvPr id="30" name="Text 27"/>
          <p:cNvSpPr txBox="1"/>
          <p:nvPr/>
        </p:nvSpPr>
        <p:spPr>
          <a:xfrm>
            <a:off x="6309360" y="4837176"/>
            <a:ext cx="5239512"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製造なら</a:t>
            </a:r>
            <a:endParaRPr lang="en-US" sz="2000" dirty="0"/>
          </a:p>
        </p:txBody>
      </p:sp>
      <p:sp>
        <p:nvSpPr>
          <p:cNvPr id="31" name="Text 28"/>
          <p:cNvSpPr txBox="1"/>
          <p:nvPr/>
        </p:nvSpPr>
        <p:spPr>
          <a:xfrm>
            <a:off x="6309360" y="5263896"/>
            <a:ext cx="5239512" cy="63398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AI・HPC・エッジ案件が具体的にあれば、AIインフラ志向に合う</a:t>
            </a:r>
            <a:endParaRPr lang="en-US" sz="1800" dirty="0"/>
          </a:p>
        </p:txBody>
      </p:sp>
      <p:sp>
        <p:nvSpPr>
          <p:cNvPr id="32" name="Shape 29"/>
          <p:cNvSpPr/>
          <p:nvPr/>
        </p:nvSpPr>
        <p:spPr>
          <a:xfrm>
            <a:off x="457200" y="5779008"/>
            <a:ext cx="5394960" cy="530352"/>
          </a:xfrm>
          <a:prstGeom prst="roundRect">
            <a:avLst>
              <a:gd name="adj" fmla="val 20690"/>
            </a:avLst>
          </a:prstGeom>
          <a:solidFill>
            <a:srgbClr val="FBE3E0"/>
          </a:solidFill>
          <a:ln w="19050">
            <a:solidFill>
              <a:srgbClr val="C0392B"/>
            </a:solidFill>
            <a:prstDash val="solid"/>
          </a:ln>
        </p:spPr>
      </p:sp>
      <p:sp>
        <p:nvSpPr>
          <p:cNvPr id="33" name="Shape 30"/>
          <p:cNvSpPr/>
          <p:nvPr/>
        </p:nvSpPr>
        <p:spPr>
          <a:xfrm>
            <a:off x="594360" y="5870448"/>
            <a:ext cx="347472" cy="347472"/>
          </a:xfrm>
          <a:prstGeom prst="ellipse">
            <a:avLst/>
          </a:prstGeom>
          <a:solidFill>
            <a:srgbClr val="C0392B"/>
          </a:solidFill>
          <a:ln/>
        </p:spPr>
      </p:sp>
      <p:pic>
        <p:nvPicPr>
          <p:cNvPr id="34" name="Image 0" descr="preencoded.png">    </p:cNvPr>
          <p:cNvPicPr>
            <a:picLocks noChangeAspect="1"/>
          </p:cNvPicPr>
          <p:nvPr/>
        </p:nvPicPr>
        <p:blipFill>
          <a:blip r:embed="rId1"/>
          <a:stretch>
            <a:fillRect/>
          </a:stretch>
        </p:blipFill>
        <p:spPr>
          <a:xfrm>
            <a:off x="670804" y="5946892"/>
            <a:ext cx="194584" cy="194584"/>
          </a:xfrm>
          <a:prstGeom prst="rect">
            <a:avLst/>
          </a:prstGeom>
        </p:spPr>
      </p:pic>
      <p:sp>
        <p:nvSpPr>
          <p:cNvPr id="35" name="Text 31"/>
          <p:cNvSpPr txBox="1"/>
          <p:nvPr/>
        </p:nvSpPr>
        <p:spPr>
          <a:xfrm>
            <a:off x="1078992" y="5824728"/>
            <a:ext cx="4636008" cy="438912"/>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業界だけの一位は決められない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469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専門・配属・キャリア</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公開口コミの集計</a:t>
            </a:r>
            <a:endParaRPr lang="ja-JP" sz="1400" dirty="0"/>
          </a:p>
        </p:txBody>
      </p:sp>
      <p:sp>
        <p:nvSpPr>
          <p:cNvPr id="4" name="Text 2"/>
          <p:cNvSpPr txBox="1"/>
          <p:nvPr/>
        </p:nvSpPr>
        <p:spPr>
          <a:xfrm>
            <a:off x="81348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確認できた給与は条件つき。業界別の年収差は算定できない</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確認できた給与は、いずれも条件つきです。採用データの初任給・モデル年収と、OpenWorkの会社全体の平均は別物で、業界別の年収差は算定できません。</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出典：[N15] [N16]</a:t>
            </a:r>
            <a:endParaRPr lang="ja-JP" sz="1200" dirty="0"/>
          </a:p>
        </p:txBody>
      </p:sp>
      <p:sp>
        <p:nvSpPr>
          <p:cNvPr id="9" name="Shape 6"/>
          <p:cNvSpPr/>
          <p:nvPr/>
        </p:nvSpPr>
        <p:spPr>
          <a:xfrm>
            <a:off x="457200" y="1691640"/>
            <a:ext cx="2697480" cy="1783080"/>
          </a:xfrm>
          <a:prstGeom prst="roundRect">
            <a:avLst>
              <a:gd name="adj" fmla="val 7179"/>
            </a:avLst>
          </a:prstGeom>
          <a:solidFill>
            <a:srgbClr val="DCE6F2"/>
          </a:solidFill>
          <a:ln/>
        </p:spPr>
      </p:sp>
      <p:sp>
        <p:nvSpPr>
          <p:cNvPr id="10" name="Text 7"/>
          <p:cNvSpPr txBox="1"/>
          <p:nvPr/>
        </p:nvSpPr>
        <p:spPr>
          <a:xfrm>
            <a:off x="548640" y="1801368"/>
            <a:ext cx="2514600" cy="515112"/>
          </a:xfrm>
          <a:prstGeom prst="rect">
            <a:avLst/>
          </a:prstGeom>
          <a:noFill/>
          <a:ln/>
        </p:spPr>
        <p:txBody>
          <a:bodyPr wrap="square" lIns="0" tIns="0" rIns="0" bIns="0" rtlCol="0" anchor="t"/>
          <a:lstStyle/>
          <a:p>
            <a:pPr algn="ctr" indent="0" marL="0">
              <a:lnSpc>
                <a:spcPts val="3700"/>
              </a:lnSpc>
              <a:buNone/>
            </a:pPr>
            <a:r>
              <a:rPr lang="ja-JP" altLang="en-US" sz="2800" b="1" dirty="0">
                <a:solidFill>
                  <a:srgbClr val="16324F"/>
                </a:solidFill>
                <a:latin typeface="Yu Gothic" pitchFamily="34" charset="0"/>
                <a:ea typeface="Yu Gothic" pitchFamily="34" charset="-122"/>
                <a:cs typeface="Yu Gothic" pitchFamily="34" charset="-120"/>
              </a:rPr>
              <a:t>256,300円</a:t>
            </a:r>
            <a:endParaRPr lang="en-US" sz="2800" dirty="0"/>
          </a:p>
        </p:txBody>
      </p:sp>
      <p:sp>
        <p:nvSpPr>
          <p:cNvPr id="11" name="Text 8"/>
          <p:cNvSpPr txBox="1"/>
          <p:nvPr/>
        </p:nvSpPr>
        <p:spPr>
          <a:xfrm>
            <a:off x="594360" y="2343912"/>
            <a:ext cx="2423160" cy="1039368"/>
          </a:xfrm>
          <a:prstGeom prst="rect">
            <a:avLst/>
          </a:prstGeom>
          <a:noFill/>
          <a:ln/>
        </p:spPr>
        <p:txBody>
          <a:bodyPr wrap="square" lIns="0" tIns="0" rIns="0" bIns="0" rtlCol="0" anchor="t"/>
          <a:lstStyle/>
          <a:p>
            <a:pPr algn="ct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大卒の基本月額（2025年4月実績）</a:t>
            </a:r>
            <a:endParaRPr lang="en-US" sz="1800" dirty="0"/>
          </a:p>
        </p:txBody>
      </p:sp>
      <p:sp>
        <p:nvSpPr>
          <p:cNvPr id="12" name="Shape 9"/>
          <p:cNvSpPr/>
          <p:nvPr/>
        </p:nvSpPr>
        <p:spPr>
          <a:xfrm>
            <a:off x="3300984" y="1691640"/>
            <a:ext cx="2697480" cy="1783080"/>
          </a:xfrm>
          <a:prstGeom prst="roundRect">
            <a:avLst>
              <a:gd name="adj" fmla="val 7179"/>
            </a:avLst>
          </a:prstGeom>
          <a:solidFill>
            <a:srgbClr val="DCE6F2"/>
          </a:solidFill>
          <a:ln/>
        </p:spPr>
      </p:sp>
      <p:sp>
        <p:nvSpPr>
          <p:cNvPr id="13" name="Text 10"/>
          <p:cNvSpPr txBox="1"/>
          <p:nvPr/>
        </p:nvSpPr>
        <p:spPr>
          <a:xfrm>
            <a:off x="3392424" y="1801368"/>
            <a:ext cx="2514600" cy="515112"/>
          </a:xfrm>
          <a:prstGeom prst="rect">
            <a:avLst/>
          </a:prstGeom>
          <a:noFill/>
          <a:ln/>
        </p:spPr>
        <p:txBody>
          <a:bodyPr wrap="square" lIns="0" tIns="0" rIns="0" bIns="0" rtlCol="0" anchor="t"/>
          <a:lstStyle/>
          <a:p>
            <a:pPr algn="ctr" indent="0" marL="0">
              <a:lnSpc>
                <a:spcPts val="3700"/>
              </a:lnSpc>
              <a:buNone/>
            </a:pPr>
            <a:r>
              <a:rPr lang="ja-JP" altLang="en-US" sz="2800" b="1" dirty="0">
                <a:solidFill>
                  <a:srgbClr val="16324F"/>
                </a:solidFill>
                <a:latin typeface="Yu Gothic" pitchFamily="34" charset="0"/>
                <a:ea typeface="Yu Gothic" pitchFamily="34" charset="-122"/>
                <a:cs typeface="Yu Gothic" pitchFamily="34" charset="-120"/>
              </a:rPr>
              <a:t>274,300円</a:t>
            </a:r>
            <a:endParaRPr lang="en-US" sz="2800" dirty="0"/>
          </a:p>
        </p:txBody>
      </p:sp>
      <p:sp>
        <p:nvSpPr>
          <p:cNvPr id="14" name="Text 11"/>
          <p:cNvSpPr txBox="1"/>
          <p:nvPr/>
        </p:nvSpPr>
        <p:spPr>
          <a:xfrm>
            <a:off x="3438144" y="2343912"/>
            <a:ext cx="2423160" cy="1039368"/>
          </a:xfrm>
          <a:prstGeom prst="rect">
            <a:avLst/>
          </a:prstGeom>
          <a:noFill/>
          <a:ln/>
        </p:spPr>
        <p:txBody>
          <a:bodyPr wrap="square" lIns="0" tIns="0" rIns="0" bIns="0" rtlCol="0" anchor="t"/>
          <a:lstStyle/>
          <a:p>
            <a:pPr algn="ct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院卒の基本月額（2025年4月実績）</a:t>
            </a:r>
            <a:endParaRPr lang="en-US" sz="1800" dirty="0"/>
          </a:p>
        </p:txBody>
      </p:sp>
      <p:sp>
        <p:nvSpPr>
          <p:cNvPr id="15" name="Shape 12"/>
          <p:cNvSpPr/>
          <p:nvPr/>
        </p:nvSpPr>
        <p:spPr>
          <a:xfrm>
            <a:off x="6144768" y="1691640"/>
            <a:ext cx="2697480" cy="1783080"/>
          </a:xfrm>
          <a:prstGeom prst="roundRect">
            <a:avLst>
              <a:gd name="adj" fmla="val 7179"/>
            </a:avLst>
          </a:prstGeom>
          <a:solidFill>
            <a:srgbClr val="DCE6F2"/>
          </a:solidFill>
          <a:ln/>
        </p:spPr>
      </p:sp>
      <p:sp>
        <p:nvSpPr>
          <p:cNvPr id="16" name="Text 13"/>
          <p:cNvSpPr txBox="1"/>
          <p:nvPr/>
        </p:nvSpPr>
        <p:spPr>
          <a:xfrm>
            <a:off x="6236208" y="1801368"/>
            <a:ext cx="2514600" cy="515112"/>
          </a:xfrm>
          <a:prstGeom prst="rect">
            <a:avLst/>
          </a:prstGeom>
          <a:noFill/>
          <a:ln/>
        </p:spPr>
        <p:txBody>
          <a:bodyPr wrap="square" lIns="0" tIns="0" rIns="0" bIns="0" rtlCol="0" anchor="t"/>
          <a:lstStyle/>
          <a:p>
            <a:pPr algn="ctr" indent="0" marL="0">
              <a:lnSpc>
                <a:spcPts val="3700"/>
              </a:lnSpc>
              <a:buNone/>
            </a:pPr>
            <a:r>
              <a:rPr lang="ja-JP" altLang="en-US" sz="2800" b="1" dirty="0">
                <a:solidFill>
                  <a:srgbClr val="16324F"/>
                </a:solidFill>
                <a:latin typeface="Yu Gothic" pitchFamily="34" charset="0"/>
                <a:ea typeface="Yu Gothic" pitchFamily="34" charset="-122"/>
                <a:cs typeface="Yu Gothic" pitchFamily="34" charset="-120"/>
              </a:rPr>
              <a:t>約530万円</a:t>
            </a:r>
            <a:endParaRPr lang="en-US" sz="2800" dirty="0"/>
          </a:p>
        </p:txBody>
      </p:sp>
      <p:sp>
        <p:nvSpPr>
          <p:cNvPr id="17" name="Text 14"/>
          <p:cNvSpPr txBox="1"/>
          <p:nvPr/>
        </p:nvSpPr>
        <p:spPr>
          <a:xfrm>
            <a:off x="6281928" y="2343912"/>
            <a:ext cx="2423160" cy="1039368"/>
          </a:xfrm>
          <a:prstGeom prst="rect">
            <a:avLst/>
          </a:prstGeom>
          <a:noFill/>
          <a:ln/>
        </p:spPr>
        <p:txBody>
          <a:bodyPr wrap="square" lIns="0" tIns="0" rIns="0" bIns="0" rtlCol="0" anchor="t"/>
          <a:lstStyle/>
          <a:p>
            <a:pPr algn="ct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モデル例：院卒2年目以降（条件付き）</a:t>
            </a:r>
            <a:endParaRPr lang="en-US" sz="1800" dirty="0"/>
          </a:p>
        </p:txBody>
      </p:sp>
      <p:sp>
        <p:nvSpPr>
          <p:cNvPr id="18" name="Shape 15"/>
          <p:cNvSpPr/>
          <p:nvPr/>
        </p:nvSpPr>
        <p:spPr>
          <a:xfrm>
            <a:off x="8988552" y="1691640"/>
            <a:ext cx="2743200" cy="1783080"/>
          </a:xfrm>
          <a:prstGeom prst="roundRect">
            <a:avLst>
              <a:gd name="adj" fmla="val 7179"/>
            </a:avLst>
          </a:prstGeom>
          <a:solidFill>
            <a:srgbClr val="E2E8F0"/>
          </a:solidFill>
          <a:ln/>
        </p:spPr>
      </p:sp>
      <p:sp>
        <p:nvSpPr>
          <p:cNvPr id="19" name="Text 16"/>
          <p:cNvSpPr txBox="1"/>
          <p:nvPr/>
        </p:nvSpPr>
        <p:spPr>
          <a:xfrm>
            <a:off x="9079992" y="1801368"/>
            <a:ext cx="2560320" cy="515112"/>
          </a:xfrm>
          <a:prstGeom prst="rect">
            <a:avLst/>
          </a:prstGeom>
          <a:noFill/>
          <a:ln/>
        </p:spPr>
        <p:txBody>
          <a:bodyPr wrap="square" lIns="0" tIns="0" rIns="0" bIns="0" rtlCol="0" anchor="t"/>
          <a:lstStyle/>
          <a:p>
            <a:pPr algn="ctr" indent="0" marL="0">
              <a:lnSpc>
                <a:spcPts val="3700"/>
              </a:lnSpc>
              <a:buNone/>
            </a:pPr>
            <a:r>
              <a:rPr lang="ja-JP" altLang="en-US" sz="2800" b="1" dirty="0">
                <a:solidFill>
                  <a:srgbClr val="475569"/>
                </a:solidFill>
                <a:latin typeface="Yu Gothic" pitchFamily="34" charset="0"/>
                <a:ea typeface="Yu Gothic" pitchFamily="34" charset="-122"/>
                <a:cs typeface="Yu Gothic" pitchFamily="34" charset="-120"/>
              </a:rPr>
              <a:t>820万円</a:t>
            </a:r>
            <a:endParaRPr lang="en-US" sz="2800" dirty="0"/>
          </a:p>
        </p:txBody>
      </p:sp>
      <p:sp>
        <p:nvSpPr>
          <p:cNvPr id="20" name="Text 17"/>
          <p:cNvSpPr txBox="1"/>
          <p:nvPr/>
        </p:nvSpPr>
        <p:spPr>
          <a:xfrm>
            <a:off x="9125712" y="2343912"/>
            <a:ext cx="2468880" cy="1039368"/>
          </a:xfrm>
          <a:prstGeom prst="rect">
            <a:avLst/>
          </a:prstGeom>
          <a:noFill/>
          <a:ln/>
        </p:spPr>
        <p:txBody>
          <a:bodyPr wrap="square" lIns="0" tIns="0" rIns="0" bIns="0" rtlCol="0" anchor="t"/>
          <a:lstStyle/>
          <a:p>
            <a:pPr algn="ct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OpenWork：会社全体の回答者平均</a:t>
            </a:r>
            <a:endParaRPr lang="en-US" sz="1800" dirty="0"/>
          </a:p>
        </p:txBody>
      </p:sp>
      <p:sp>
        <p:nvSpPr>
          <p:cNvPr id="21" name="Shape 18"/>
          <p:cNvSpPr/>
          <p:nvPr/>
        </p:nvSpPr>
        <p:spPr>
          <a:xfrm>
            <a:off x="457200" y="3657600"/>
            <a:ext cx="5532120" cy="1325880"/>
          </a:xfrm>
          <a:prstGeom prst="roundRect">
            <a:avLst>
              <a:gd name="adj" fmla="val 8276"/>
            </a:avLst>
          </a:prstGeom>
          <a:solidFill>
            <a:srgbClr val="FBE3E0"/>
          </a:solidFill>
          <a:ln w="19050">
            <a:solidFill>
              <a:srgbClr val="C0392B"/>
            </a:solidFill>
            <a:prstDash val="solid"/>
          </a:ln>
        </p:spPr>
      </p:sp>
      <p:sp>
        <p:nvSpPr>
          <p:cNvPr id="22" name="Shape 19"/>
          <p:cNvSpPr/>
          <p:nvPr/>
        </p:nvSpPr>
        <p:spPr>
          <a:xfrm>
            <a:off x="594360" y="4091940"/>
            <a:ext cx="457200" cy="457200"/>
          </a:xfrm>
          <a:prstGeom prst="ellipse">
            <a:avLst/>
          </a:prstGeom>
          <a:solidFill>
            <a:srgbClr val="C0392B"/>
          </a:solidFill>
          <a:ln/>
        </p:spPr>
      </p:sp>
      <p:pic>
        <p:nvPicPr>
          <p:cNvPr id="23" name="Image 0" descr="preencoded.png">    </p:cNvPr>
          <p:cNvPicPr>
            <a:picLocks noChangeAspect="1"/>
          </p:cNvPicPr>
          <p:nvPr/>
        </p:nvPicPr>
        <p:blipFill>
          <a:blip r:embed="rId1"/>
          <a:stretch>
            <a:fillRect/>
          </a:stretch>
        </p:blipFill>
        <p:spPr>
          <a:xfrm>
            <a:off x="694944" y="4192524"/>
            <a:ext cx="256032" cy="256032"/>
          </a:xfrm>
          <a:prstGeom prst="rect">
            <a:avLst/>
          </a:prstGeom>
        </p:spPr>
      </p:pic>
      <p:sp>
        <p:nvSpPr>
          <p:cNvPr id="24" name="Text 20"/>
          <p:cNvSpPr txBox="1"/>
          <p:nvPr/>
        </p:nvSpPr>
        <p:spPr>
          <a:xfrm>
            <a:off x="1188720" y="3703320"/>
            <a:ext cx="4663440" cy="12344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256,300円・274,300円は2025年4月の実績。2027年入社の保証額ではない</a:t>
            </a:r>
            <a:endParaRPr lang="en-US" sz="1800" dirty="0"/>
          </a:p>
        </p:txBody>
      </p:sp>
      <p:sp>
        <p:nvSpPr>
          <p:cNvPr id="25" name="Shape 21"/>
          <p:cNvSpPr/>
          <p:nvPr/>
        </p:nvSpPr>
        <p:spPr>
          <a:xfrm>
            <a:off x="6199632" y="3657600"/>
            <a:ext cx="5532120" cy="1325880"/>
          </a:xfrm>
          <a:prstGeom prst="roundRect">
            <a:avLst>
              <a:gd name="adj" fmla="val 8276"/>
            </a:avLst>
          </a:prstGeom>
          <a:solidFill>
            <a:srgbClr val="FBE3E0"/>
          </a:solidFill>
          <a:ln w="19050">
            <a:solidFill>
              <a:srgbClr val="C0392B"/>
            </a:solidFill>
            <a:prstDash val="solid"/>
          </a:ln>
        </p:spPr>
      </p:sp>
      <p:sp>
        <p:nvSpPr>
          <p:cNvPr id="26" name="Shape 22"/>
          <p:cNvSpPr/>
          <p:nvPr/>
        </p:nvSpPr>
        <p:spPr>
          <a:xfrm>
            <a:off x="6336792" y="4091940"/>
            <a:ext cx="457200" cy="457200"/>
          </a:xfrm>
          <a:prstGeom prst="ellipse">
            <a:avLst/>
          </a:prstGeom>
          <a:solidFill>
            <a:srgbClr val="C0392B"/>
          </a:solidFill>
          <a:ln/>
        </p:spPr>
      </p:sp>
      <p:pic>
        <p:nvPicPr>
          <p:cNvPr id="27" name="Image 1" descr="preencoded.png">    </p:cNvPr>
          <p:cNvPicPr>
            <a:picLocks noChangeAspect="1"/>
          </p:cNvPicPr>
          <p:nvPr/>
        </p:nvPicPr>
        <p:blipFill>
          <a:blip r:embed="rId2"/>
          <a:stretch>
            <a:fillRect/>
          </a:stretch>
        </p:blipFill>
        <p:spPr>
          <a:xfrm>
            <a:off x="6437376" y="4192524"/>
            <a:ext cx="256032" cy="256032"/>
          </a:xfrm>
          <a:prstGeom prst="rect">
            <a:avLst/>
          </a:prstGeom>
        </p:spPr>
      </p:pic>
      <p:sp>
        <p:nvSpPr>
          <p:cNvPr id="28" name="Text 23"/>
          <p:cNvSpPr txBox="1"/>
          <p:nvPr/>
        </p:nvSpPr>
        <p:spPr>
          <a:xfrm>
            <a:off x="6931152" y="3703320"/>
            <a:ext cx="4663440" cy="12344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約530万円は、賞与・残業手当・業績報酬などを含む条件付きの例</a:t>
            </a:r>
            <a:endParaRPr lang="en-US" sz="1800" dirty="0"/>
          </a:p>
        </p:txBody>
      </p:sp>
      <p:sp>
        <p:nvSpPr>
          <p:cNvPr id="29" name="Shape 24"/>
          <p:cNvSpPr/>
          <p:nvPr/>
        </p:nvSpPr>
        <p:spPr>
          <a:xfrm>
            <a:off x="457200" y="5120640"/>
            <a:ext cx="11274552" cy="1188720"/>
          </a:xfrm>
          <a:prstGeom prst="roundRect">
            <a:avLst>
              <a:gd name="adj" fmla="val 9231"/>
            </a:avLst>
          </a:prstGeom>
          <a:solidFill>
            <a:srgbClr val="FBE3E0"/>
          </a:solidFill>
          <a:ln w="19050">
            <a:solidFill>
              <a:srgbClr val="C0392B"/>
            </a:solidFill>
            <a:prstDash val="solid"/>
          </a:ln>
        </p:spPr>
      </p:sp>
      <p:sp>
        <p:nvSpPr>
          <p:cNvPr id="30" name="Shape 25"/>
          <p:cNvSpPr/>
          <p:nvPr/>
        </p:nvSpPr>
        <p:spPr>
          <a:xfrm>
            <a:off x="594360" y="5486400"/>
            <a:ext cx="457200" cy="457200"/>
          </a:xfrm>
          <a:prstGeom prst="ellipse">
            <a:avLst/>
          </a:prstGeom>
          <a:solidFill>
            <a:srgbClr val="C0392B"/>
          </a:solidFill>
          <a:ln/>
        </p:spPr>
      </p:sp>
      <p:pic>
        <p:nvPicPr>
          <p:cNvPr id="31" name="Image 2" descr="preencoded.png">    </p:cNvPr>
          <p:cNvPicPr>
            <a:picLocks noChangeAspect="1"/>
          </p:cNvPicPr>
          <p:nvPr/>
        </p:nvPicPr>
        <p:blipFill>
          <a:blip r:embed="rId3"/>
          <a:stretch>
            <a:fillRect/>
          </a:stretch>
        </p:blipFill>
        <p:spPr>
          <a:xfrm>
            <a:off x="694944" y="5586984"/>
            <a:ext cx="256032" cy="256032"/>
          </a:xfrm>
          <a:prstGeom prst="rect">
            <a:avLst/>
          </a:prstGeom>
        </p:spPr>
      </p:pic>
      <p:sp>
        <p:nvSpPr>
          <p:cNvPr id="32" name="Text 26"/>
          <p:cNvSpPr txBox="1"/>
          <p:nvPr/>
        </p:nvSpPr>
        <p:spPr>
          <a:xfrm>
            <a:off x="1188720" y="5166360"/>
            <a:ext cx="10405872" cy="10972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820万円は会社全体の回答者平均（平均年齢37歳・正社員453人）。新卒SEの予測でも、金融・通信・製造別の比較でもない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469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専門・配属・キャリア</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PMは範囲・期限・品質・リスク・費用・関係者を管理する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PMは、範囲・期限・品質・リスク・費用・関係者を管理する役割です。技術を理解しているほど、影響や依存関係を正しく判断できます。</a:t>
            </a:r>
            <a:endParaRPr lang="en-US" sz="18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743200"/>
                <a:gridCol w="8531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PMに必要なこと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技術とつながる例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範囲の管理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今回どこまで作るか、運用・移行も含むか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期限の管理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回線開通や機器納期が、試験や切替の前提になる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品質の管理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「完了」の条件、性能・障害・復旧試験を決める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リスクの管理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停止できる時間、切戻し、互換性、要員不足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費用・契約の管理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設計変更や追加作業の影響を把握する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関係者の調整</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顧客・営業・SE・パートナー・保守の責任分界</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8" name="Shape 4"/>
          <p:cNvSpPr/>
          <p:nvPr/>
        </p:nvSpPr>
        <p:spPr>
          <a:xfrm>
            <a:off x="457200" y="5440680"/>
            <a:ext cx="3840480" cy="868680"/>
          </a:xfrm>
          <a:prstGeom prst="roundRect">
            <a:avLst>
              <a:gd name="adj" fmla="val 12632"/>
            </a:avLst>
          </a:prstGeom>
          <a:solidFill>
            <a:srgbClr val="16324F"/>
          </a:solidFill>
          <a:ln/>
        </p:spPr>
      </p:sp>
      <p:sp>
        <p:nvSpPr>
          <p:cNvPr id="9" name="Text 5"/>
          <p:cNvSpPr txBox="1"/>
          <p:nvPr/>
        </p:nvSpPr>
        <p:spPr>
          <a:xfrm>
            <a:off x="548640" y="5440680"/>
            <a:ext cx="365760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最初の1〜2年：小さな担当範囲を説明</a:t>
            </a:r>
            <a:endParaRPr lang="en-US" sz="1800" dirty="0"/>
          </a:p>
        </p:txBody>
      </p:sp>
      <p:sp>
        <p:nvSpPr>
          <p:cNvPr id="10" name="Shape 6"/>
          <p:cNvSpPr/>
          <p:nvPr/>
        </p:nvSpPr>
        <p:spPr>
          <a:xfrm>
            <a:off x="4572000" y="5440680"/>
            <a:ext cx="1600200" cy="868680"/>
          </a:xfrm>
          <a:prstGeom prst="roundRect">
            <a:avLst>
              <a:gd name="adj" fmla="val 12632"/>
            </a:avLst>
          </a:prstGeom>
          <a:solidFill>
            <a:srgbClr val="E2E8F0"/>
          </a:solidFill>
          <a:ln w="25400">
            <a:solidFill>
              <a:srgbClr val="475569"/>
            </a:solidFill>
            <a:prstDash val="solid"/>
          </a:ln>
        </p:spPr>
      </p:sp>
      <p:sp>
        <p:nvSpPr>
          <p:cNvPr id="11" name="Text 7"/>
          <p:cNvSpPr txBox="1"/>
          <p:nvPr/>
        </p:nvSpPr>
        <p:spPr>
          <a:xfrm>
            <a:off x="4663440" y="5440680"/>
            <a:ext cx="141732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技術リード</a:t>
            </a:r>
            <a:endParaRPr lang="en-US" sz="1800" dirty="0"/>
          </a:p>
        </p:txBody>
      </p:sp>
      <p:sp>
        <p:nvSpPr>
          <p:cNvPr id="12" name="Shape 8"/>
          <p:cNvSpPr/>
          <p:nvPr/>
        </p:nvSpPr>
        <p:spPr>
          <a:xfrm>
            <a:off x="6355080" y="5440680"/>
            <a:ext cx="1600200" cy="868680"/>
          </a:xfrm>
          <a:prstGeom prst="roundRect">
            <a:avLst>
              <a:gd name="adj" fmla="val 12632"/>
            </a:avLst>
          </a:prstGeom>
          <a:solidFill>
            <a:srgbClr val="E2E8F0"/>
          </a:solidFill>
          <a:ln w="25400">
            <a:solidFill>
              <a:srgbClr val="475569"/>
            </a:solidFill>
            <a:prstDash val="solid"/>
          </a:ln>
        </p:spPr>
      </p:sp>
      <p:sp>
        <p:nvSpPr>
          <p:cNvPr id="13" name="Text 9"/>
          <p:cNvSpPr txBox="1"/>
          <p:nvPr/>
        </p:nvSpPr>
        <p:spPr>
          <a:xfrm>
            <a:off x="6446520" y="5440680"/>
            <a:ext cx="141732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アーキテクト</a:t>
            </a:r>
            <a:endParaRPr lang="en-US" sz="1800" dirty="0"/>
          </a:p>
        </p:txBody>
      </p:sp>
      <p:sp>
        <p:nvSpPr>
          <p:cNvPr id="14" name="Shape 10"/>
          <p:cNvSpPr/>
          <p:nvPr/>
        </p:nvSpPr>
        <p:spPr>
          <a:xfrm>
            <a:off x="8138160" y="5440680"/>
            <a:ext cx="1600200" cy="868680"/>
          </a:xfrm>
          <a:prstGeom prst="roundRect">
            <a:avLst>
              <a:gd name="adj" fmla="val 12632"/>
            </a:avLst>
          </a:prstGeom>
          <a:solidFill>
            <a:srgbClr val="E2E8F0"/>
          </a:solidFill>
          <a:ln w="25400">
            <a:solidFill>
              <a:srgbClr val="475569"/>
            </a:solidFill>
            <a:prstDash val="solid"/>
          </a:ln>
        </p:spPr>
      </p:sp>
      <p:sp>
        <p:nvSpPr>
          <p:cNvPr id="15" name="Text 11"/>
          <p:cNvSpPr txBox="1"/>
          <p:nvPr/>
        </p:nvSpPr>
        <p:spPr>
          <a:xfrm>
            <a:off x="8229600" y="5440680"/>
            <a:ext cx="141732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PM</a:t>
            </a:r>
            <a:endParaRPr lang="en-US" sz="1800" dirty="0"/>
          </a:p>
        </p:txBody>
      </p:sp>
      <p:sp>
        <p:nvSpPr>
          <p:cNvPr id="16" name="Shape 12"/>
          <p:cNvSpPr/>
          <p:nvPr/>
        </p:nvSpPr>
        <p:spPr>
          <a:xfrm>
            <a:off x="9921240" y="5440680"/>
            <a:ext cx="1600200" cy="868680"/>
          </a:xfrm>
          <a:prstGeom prst="roundRect">
            <a:avLst>
              <a:gd name="adj" fmla="val 12632"/>
            </a:avLst>
          </a:prstGeom>
          <a:solidFill>
            <a:srgbClr val="E2E8F0"/>
          </a:solidFill>
          <a:ln w="25400">
            <a:solidFill>
              <a:srgbClr val="475569"/>
            </a:solidFill>
            <a:prstDash val="solid"/>
          </a:ln>
        </p:spPr>
      </p:sp>
      <p:sp>
        <p:nvSpPr>
          <p:cNvPr id="17" name="Text 13"/>
          <p:cNvSpPr txBox="1"/>
          <p:nvPr/>
        </p:nvSpPr>
        <p:spPr>
          <a:xfrm>
            <a:off x="10012680" y="5440680"/>
            <a:ext cx="1417320" cy="8686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プリセールス</a:t>
            </a:r>
            <a:endParaRPr lang="en-US" sz="1800" dirty="0"/>
          </a:p>
        </p:txBody>
      </p:sp>
      <p:sp>
        <p:nvSpPr>
          <p:cNvPr id="18" name="Shape 14"/>
          <p:cNvSpPr/>
          <p:nvPr/>
        </p:nvSpPr>
        <p:spPr>
          <a:xfrm>
            <a:off x="4297680" y="5875020"/>
            <a:ext cx="274320" cy="0"/>
          </a:xfrm>
          <a:prstGeom prst="line">
            <a:avLst/>
          </a:prstGeom>
          <a:noFill/>
          <a:ln w="38100">
            <a:solidFill>
              <a:srgbClr val="1B2A3A"/>
            </a:solidFill>
            <a:prstDash val="solid"/>
            <a:tailEnd type="triangle"/>
          </a:ln>
        </p:spPr>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準備と学習計画</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未経験からの学習は、9段階の順序で進める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未経験から学ぶ順序の提案です。1から9へ、コンピューターの基礎→ネットワーク→サーバー→クラウド→運用・自動化の順に広げていきます。</a:t>
            </a:r>
            <a:endParaRPr lang="en-US" sz="1800" dirty="0"/>
          </a:p>
        </p:txBody>
      </p:sp>
      <p:sp>
        <p:nvSpPr>
          <p:cNvPr id="7" name="Shape 4"/>
          <p:cNvSpPr/>
          <p:nvPr/>
        </p:nvSpPr>
        <p:spPr>
          <a:xfrm>
            <a:off x="457200" y="1920240"/>
            <a:ext cx="3657600" cy="1417320"/>
          </a:xfrm>
          <a:prstGeom prst="roundRect">
            <a:avLst>
              <a:gd name="adj" fmla="val 7742"/>
            </a:avLst>
          </a:prstGeom>
          <a:solidFill>
            <a:srgbClr val="DCE8F8"/>
          </a:solidFill>
          <a:ln w="25400">
            <a:solidFill>
              <a:srgbClr val="2F6BC2"/>
            </a:solidFill>
            <a:prstDash val="solid"/>
          </a:ln>
        </p:spPr>
      </p:sp>
      <p:sp>
        <p:nvSpPr>
          <p:cNvPr id="8" name="Text 5"/>
          <p:cNvSpPr txBox="1"/>
          <p:nvPr/>
        </p:nvSpPr>
        <p:spPr>
          <a:xfrm>
            <a:off x="548640" y="192024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CPU・メモリ・SSD・OS・プロセス</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プログラムを動かす仕組み</a:t>
            </a:r>
            <a:endParaRPr lang="en-US" sz="1800" dirty="0"/>
          </a:p>
        </p:txBody>
      </p:sp>
      <p:sp>
        <p:nvSpPr>
          <p:cNvPr id="9" name="Shape 6"/>
          <p:cNvSpPr/>
          <p:nvPr/>
        </p:nvSpPr>
        <p:spPr>
          <a:xfrm>
            <a:off x="310896" y="1773936"/>
            <a:ext cx="384048" cy="384048"/>
          </a:xfrm>
          <a:prstGeom prst="ellipse">
            <a:avLst/>
          </a:prstGeom>
          <a:solidFill>
            <a:srgbClr val="2F6BC2"/>
          </a:solidFill>
          <a:ln w="19050">
            <a:solidFill>
              <a:srgbClr val="FFFFFF"/>
            </a:solidFill>
            <a:prstDash val="solid"/>
          </a:ln>
        </p:spPr>
      </p:sp>
      <p:sp>
        <p:nvSpPr>
          <p:cNvPr id="10" name="Text 7"/>
          <p:cNvSpPr txBox="1"/>
          <p:nvPr/>
        </p:nvSpPr>
        <p:spPr>
          <a:xfrm>
            <a:off x="310896" y="1773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11" name="Shape 8"/>
          <p:cNvSpPr/>
          <p:nvPr/>
        </p:nvSpPr>
        <p:spPr>
          <a:xfrm>
            <a:off x="4265676" y="1920240"/>
            <a:ext cx="3657600" cy="1417320"/>
          </a:xfrm>
          <a:prstGeom prst="roundRect">
            <a:avLst>
              <a:gd name="adj" fmla="val 7742"/>
            </a:avLst>
          </a:prstGeom>
          <a:solidFill>
            <a:srgbClr val="DCE8F8"/>
          </a:solidFill>
          <a:ln w="25400">
            <a:solidFill>
              <a:srgbClr val="2F6BC2"/>
            </a:solidFill>
            <a:prstDash val="solid"/>
          </a:ln>
        </p:spPr>
      </p:sp>
      <p:sp>
        <p:nvSpPr>
          <p:cNvPr id="12" name="Text 9"/>
          <p:cNvSpPr txBox="1"/>
          <p:nvPr/>
        </p:nvSpPr>
        <p:spPr>
          <a:xfrm>
            <a:off x="4357116" y="192024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IP・サブネット・ゲートウェイ・ARP</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同じLANと外部への違い</a:t>
            </a:r>
            <a:endParaRPr lang="en-US" sz="1800" dirty="0"/>
          </a:p>
        </p:txBody>
      </p:sp>
      <p:sp>
        <p:nvSpPr>
          <p:cNvPr id="13" name="Shape 10"/>
          <p:cNvSpPr/>
          <p:nvPr/>
        </p:nvSpPr>
        <p:spPr>
          <a:xfrm>
            <a:off x="4119372" y="1773936"/>
            <a:ext cx="384048" cy="384048"/>
          </a:xfrm>
          <a:prstGeom prst="ellipse">
            <a:avLst/>
          </a:prstGeom>
          <a:solidFill>
            <a:srgbClr val="2F6BC2"/>
          </a:solidFill>
          <a:ln w="19050">
            <a:solidFill>
              <a:srgbClr val="FFFFFF"/>
            </a:solidFill>
            <a:prstDash val="solid"/>
          </a:ln>
        </p:spPr>
      </p:sp>
      <p:sp>
        <p:nvSpPr>
          <p:cNvPr id="14" name="Text 11"/>
          <p:cNvSpPr txBox="1"/>
          <p:nvPr/>
        </p:nvSpPr>
        <p:spPr>
          <a:xfrm>
            <a:off x="4119372" y="1773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5" name="Shape 12"/>
          <p:cNvSpPr/>
          <p:nvPr/>
        </p:nvSpPr>
        <p:spPr>
          <a:xfrm>
            <a:off x="8074152" y="1920240"/>
            <a:ext cx="3657600" cy="1417320"/>
          </a:xfrm>
          <a:prstGeom prst="roundRect">
            <a:avLst>
              <a:gd name="adj" fmla="val 7742"/>
            </a:avLst>
          </a:prstGeom>
          <a:solidFill>
            <a:srgbClr val="DCE8F8"/>
          </a:solidFill>
          <a:ln w="25400">
            <a:solidFill>
              <a:srgbClr val="2F6BC2"/>
            </a:solidFill>
            <a:prstDash val="solid"/>
          </a:ln>
        </p:spPr>
      </p:sp>
      <p:sp>
        <p:nvSpPr>
          <p:cNvPr id="16" name="Text 13"/>
          <p:cNvSpPr txBox="1"/>
          <p:nvPr/>
        </p:nvSpPr>
        <p:spPr>
          <a:xfrm>
            <a:off x="8165592" y="192024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DHCP・DNS・NAT・TCP/UDP・TLS</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Webへ接続するまでの流れ</a:t>
            </a:r>
            <a:endParaRPr lang="en-US" sz="1800" dirty="0"/>
          </a:p>
        </p:txBody>
      </p:sp>
      <p:sp>
        <p:nvSpPr>
          <p:cNvPr id="17" name="Shape 14"/>
          <p:cNvSpPr/>
          <p:nvPr/>
        </p:nvSpPr>
        <p:spPr>
          <a:xfrm>
            <a:off x="7927848" y="1773936"/>
            <a:ext cx="384048" cy="384048"/>
          </a:xfrm>
          <a:prstGeom prst="ellipse">
            <a:avLst/>
          </a:prstGeom>
          <a:solidFill>
            <a:srgbClr val="2F6BC2"/>
          </a:solidFill>
          <a:ln w="19050">
            <a:solidFill>
              <a:srgbClr val="FFFFFF"/>
            </a:solidFill>
            <a:prstDash val="solid"/>
          </a:ln>
        </p:spPr>
      </p:sp>
      <p:sp>
        <p:nvSpPr>
          <p:cNvPr id="18" name="Text 15"/>
          <p:cNvSpPr txBox="1"/>
          <p:nvPr/>
        </p:nvSpPr>
        <p:spPr>
          <a:xfrm>
            <a:off x="7927848" y="1773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19" name="Shape 16"/>
          <p:cNvSpPr/>
          <p:nvPr/>
        </p:nvSpPr>
        <p:spPr>
          <a:xfrm>
            <a:off x="457200" y="3383280"/>
            <a:ext cx="3657600" cy="1417320"/>
          </a:xfrm>
          <a:prstGeom prst="roundRect">
            <a:avLst>
              <a:gd name="adj" fmla="val 7742"/>
            </a:avLst>
          </a:prstGeom>
          <a:solidFill>
            <a:srgbClr val="E6E1F7"/>
          </a:solidFill>
          <a:ln w="25400">
            <a:solidFill>
              <a:srgbClr val="5B46B8"/>
            </a:solidFill>
            <a:prstDash val="solid"/>
          </a:ln>
        </p:spPr>
      </p:sp>
      <p:sp>
        <p:nvSpPr>
          <p:cNvPr id="20" name="Text 17"/>
          <p:cNvSpPr txBox="1"/>
          <p:nvPr/>
        </p:nvSpPr>
        <p:spPr>
          <a:xfrm>
            <a:off x="548640" y="338328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Linux・Windowsのサービス・権限・ログ</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サーバーの起動・停止と状態確認</a:t>
            </a:r>
            <a:endParaRPr lang="en-US" sz="1800" dirty="0"/>
          </a:p>
        </p:txBody>
      </p:sp>
      <p:sp>
        <p:nvSpPr>
          <p:cNvPr id="21" name="Shape 18"/>
          <p:cNvSpPr/>
          <p:nvPr/>
        </p:nvSpPr>
        <p:spPr>
          <a:xfrm>
            <a:off x="310896" y="3236976"/>
            <a:ext cx="384048" cy="384048"/>
          </a:xfrm>
          <a:prstGeom prst="ellipse">
            <a:avLst/>
          </a:prstGeom>
          <a:solidFill>
            <a:srgbClr val="5B46B8"/>
          </a:solidFill>
          <a:ln w="19050">
            <a:solidFill>
              <a:srgbClr val="FFFFFF"/>
            </a:solidFill>
            <a:prstDash val="solid"/>
          </a:ln>
        </p:spPr>
      </p:sp>
      <p:sp>
        <p:nvSpPr>
          <p:cNvPr id="22" name="Text 19"/>
          <p:cNvSpPr txBox="1"/>
          <p:nvPr/>
        </p:nvSpPr>
        <p:spPr>
          <a:xfrm>
            <a:off x="310896" y="32369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4</a:t>
            </a:r>
            <a:endParaRPr lang="en-US" sz="1600" dirty="0"/>
          </a:p>
        </p:txBody>
      </p:sp>
      <p:sp>
        <p:nvSpPr>
          <p:cNvPr id="23" name="Shape 20"/>
          <p:cNvSpPr/>
          <p:nvPr/>
        </p:nvSpPr>
        <p:spPr>
          <a:xfrm>
            <a:off x="4265676" y="3383280"/>
            <a:ext cx="3657600" cy="1417320"/>
          </a:xfrm>
          <a:prstGeom prst="roundRect">
            <a:avLst>
              <a:gd name="adj" fmla="val 7742"/>
            </a:avLst>
          </a:prstGeom>
          <a:solidFill>
            <a:srgbClr val="E6E1F7"/>
          </a:solidFill>
          <a:ln w="25400">
            <a:solidFill>
              <a:srgbClr val="5B46B8"/>
            </a:solidFill>
            <a:prstDash val="solid"/>
          </a:ln>
        </p:spPr>
      </p:sp>
      <p:sp>
        <p:nvSpPr>
          <p:cNvPr id="24" name="Text 21"/>
          <p:cNvSpPr txBox="1"/>
          <p:nvPr/>
        </p:nvSpPr>
        <p:spPr>
          <a:xfrm>
            <a:off x="4357116" y="338328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Webサーバーとデータベース</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要求を受け、応答を返す流れ</a:t>
            </a:r>
            <a:endParaRPr lang="en-US" sz="1800" dirty="0"/>
          </a:p>
        </p:txBody>
      </p:sp>
      <p:sp>
        <p:nvSpPr>
          <p:cNvPr id="25" name="Shape 22"/>
          <p:cNvSpPr/>
          <p:nvPr/>
        </p:nvSpPr>
        <p:spPr>
          <a:xfrm>
            <a:off x="4119372" y="3236976"/>
            <a:ext cx="384048" cy="384048"/>
          </a:xfrm>
          <a:prstGeom prst="ellipse">
            <a:avLst/>
          </a:prstGeom>
          <a:solidFill>
            <a:srgbClr val="5B46B8"/>
          </a:solidFill>
          <a:ln w="19050">
            <a:solidFill>
              <a:srgbClr val="FFFFFF"/>
            </a:solidFill>
            <a:prstDash val="solid"/>
          </a:ln>
        </p:spPr>
      </p:sp>
      <p:sp>
        <p:nvSpPr>
          <p:cNvPr id="26" name="Text 23"/>
          <p:cNvSpPr txBox="1"/>
          <p:nvPr/>
        </p:nvSpPr>
        <p:spPr>
          <a:xfrm>
            <a:off x="4119372" y="32369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5</a:t>
            </a:r>
            <a:endParaRPr lang="en-US" sz="1600" dirty="0"/>
          </a:p>
        </p:txBody>
      </p:sp>
      <p:sp>
        <p:nvSpPr>
          <p:cNvPr id="27" name="Shape 24"/>
          <p:cNvSpPr/>
          <p:nvPr/>
        </p:nvSpPr>
        <p:spPr>
          <a:xfrm>
            <a:off x="8074152" y="3383280"/>
            <a:ext cx="3657600" cy="1417320"/>
          </a:xfrm>
          <a:prstGeom prst="roundRect">
            <a:avLst>
              <a:gd name="adj" fmla="val 7742"/>
            </a:avLst>
          </a:prstGeom>
          <a:solidFill>
            <a:srgbClr val="E6E1F7"/>
          </a:solidFill>
          <a:ln w="25400">
            <a:solidFill>
              <a:srgbClr val="5B46B8"/>
            </a:solidFill>
            <a:prstDash val="solid"/>
          </a:ln>
        </p:spPr>
      </p:sp>
      <p:sp>
        <p:nvSpPr>
          <p:cNvPr id="28" name="Text 25"/>
          <p:cNvSpPr txBox="1"/>
          <p:nvPr/>
        </p:nvSpPr>
        <p:spPr>
          <a:xfrm>
            <a:off x="8165592" y="338328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仮想化・クラウド</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物理機器と仮想資源の関係</a:t>
            </a:r>
            <a:endParaRPr lang="en-US" sz="1800" dirty="0"/>
          </a:p>
        </p:txBody>
      </p:sp>
      <p:sp>
        <p:nvSpPr>
          <p:cNvPr id="29" name="Shape 26"/>
          <p:cNvSpPr/>
          <p:nvPr/>
        </p:nvSpPr>
        <p:spPr>
          <a:xfrm>
            <a:off x="7927848" y="3236976"/>
            <a:ext cx="384048" cy="384048"/>
          </a:xfrm>
          <a:prstGeom prst="ellipse">
            <a:avLst/>
          </a:prstGeom>
          <a:solidFill>
            <a:srgbClr val="5B46B8"/>
          </a:solidFill>
          <a:ln w="19050">
            <a:solidFill>
              <a:srgbClr val="FFFFFF"/>
            </a:solidFill>
            <a:prstDash val="solid"/>
          </a:ln>
        </p:spPr>
      </p:sp>
      <p:sp>
        <p:nvSpPr>
          <p:cNvPr id="30" name="Text 27"/>
          <p:cNvSpPr txBox="1"/>
          <p:nvPr/>
        </p:nvSpPr>
        <p:spPr>
          <a:xfrm>
            <a:off x="7927848" y="32369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6</a:t>
            </a:r>
            <a:endParaRPr lang="en-US" sz="1600" dirty="0"/>
          </a:p>
        </p:txBody>
      </p:sp>
      <p:sp>
        <p:nvSpPr>
          <p:cNvPr id="31" name="Shape 28"/>
          <p:cNvSpPr/>
          <p:nvPr/>
        </p:nvSpPr>
        <p:spPr>
          <a:xfrm>
            <a:off x="457200" y="4846320"/>
            <a:ext cx="3657600" cy="1417320"/>
          </a:xfrm>
          <a:prstGeom prst="roundRect">
            <a:avLst>
              <a:gd name="adj" fmla="val 7742"/>
            </a:avLst>
          </a:prstGeom>
          <a:solidFill>
            <a:srgbClr val="DDF1E4"/>
          </a:solidFill>
          <a:ln w="25400">
            <a:solidFill>
              <a:srgbClr val="237A48"/>
            </a:solidFill>
            <a:prstDash val="solid"/>
          </a:ln>
        </p:spPr>
      </p:sp>
      <p:sp>
        <p:nvSpPr>
          <p:cNvPr id="32" name="Text 29"/>
          <p:cNvSpPr txBox="1"/>
          <p:nvPr/>
        </p:nvSpPr>
        <p:spPr>
          <a:xfrm>
            <a:off x="548640" y="484632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監視・バックアップ・冗長化</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故障を見つけ、復旧する方法</a:t>
            </a:r>
            <a:endParaRPr lang="en-US" sz="1800" dirty="0"/>
          </a:p>
        </p:txBody>
      </p:sp>
      <p:sp>
        <p:nvSpPr>
          <p:cNvPr id="33" name="Shape 30"/>
          <p:cNvSpPr/>
          <p:nvPr/>
        </p:nvSpPr>
        <p:spPr>
          <a:xfrm>
            <a:off x="310896" y="4700016"/>
            <a:ext cx="384048" cy="384048"/>
          </a:xfrm>
          <a:prstGeom prst="ellipse">
            <a:avLst/>
          </a:prstGeom>
          <a:solidFill>
            <a:srgbClr val="237A48"/>
          </a:solidFill>
          <a:ln w="19050">
            <a:solidFill>
              <a:srgbClr val="FFFFFF"/>
            </a:solidFill>
            <a:prstDash val="solid"/>
          </a:ln>
        </p:spPr>
      </p:sp>
      <p:sp>
        <p:nvSpPr>
          <p:cNvPr id="34" name="Text 31"/>
          <p:cNvSpPr txBox="1"/>
          <p:nvPr/>
        </p:nvSpPr>
        <p:spPr>
          <a:xfrm>
            <a:off x="310896" y="47000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7</a:t>
            </a:r>
            <a:endParaRPr lang="en-US" sz="1600" dirty="0"/>
          </a:p>
        </p:txBody>
      </p:sp>
      <p:sp>
        <p:nvSpPr>
          <p:cNvPr id="35" name="Shape 32"/>
          <p:cNvSpPr/>
          <p:nvPr/>
        </p:nvSpPr>
        <p:spPr>
          <a:xfrm>
            <a:off x="4265676" y="4846320"/>
            <a:ext cx="3657600" cy="1417320"/>
          </a:xfrm>
          <a:prstGeom prst="roundRect">
            <a:avLst>
              <a:gd name="adj" fmla="val 7742"/>
            </a:avLst>
          </a:prstGeom>
          <a:solidFill>
            <a:srgbClr val="DDF1E4"/>
          </a:solidFill>
          <a:ln w="25400">
            <a:solidFill>
              <a:srgbClr val="237A48"/>
            </a:solidFill>
            <a:prstDash val="solid"/>
          </a:ln>
        </p:spPr>
      </p:sp>
      <p:sp>
        <p:nvSpPr>
          <p:cNvPr id="36" name="Text 33"/>
          <p:cNvSpPr txBox="1"/>
          <p:nvPr/>
        </p:nvSpPr>
        <p:spPr>
          <a:xfrm>
            <a:off x="4357116" y="484632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スクリプト・Git・構成の自動化</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変更を記録し、再現できる形に</a:t>
            </a:r>
            <a:endParaRPr lang="en-US" sz="1800" dirty="0"/>
          </a:p>
        </p:txBody>
      </p:sp>
      <p:sp>
        <p:nvSpPr>
          <p:cNvPr id="37" name="Shape 34"/>
          <p:cNvSpPr/>
          <p:nvPr/>
        </p:nvSpPr>
        <p:spPr>
          <a:xfrm>
            <a:off x="4119372" y="4700016"/>
            <a:ext cx="384048" cy="384048"/>
          </a:xfrm>
          <a:prstGeom prst="ellipse">
            <a:avLst/>
          </a:prstGeom>
          <a:solidFill>
            <a:srgbClr val="237A48"/>
          </a:solidFill>
          <a:ln w="19050">
            <a:solidFill>
              <a:srgbClr val="FFFFFF"/>
            </a:solidFill>
            <a:prstDash val="solid"/>
          </a:ln>
        </p:spPr>
      </p:sp>
      <p:sp>
        <p:nvSpPr>
          <p:cNvPr id="38" name="Text 35"/>
          <p:cNvSpPr txBox="1"/>
          <p:nvPr/>
        </p:nvSpPr>
        <p:spPr>
          <a:xfrm>
            <a:off x="4119372" y="47000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8</a:t>
            </a:r>
            <a:endParaRPr lang="en-US" sz="1600" dirty="0"/>
          </a:p>
        </p:txBody>
      </p:sp>
      <p:sp>
        <p:nvSpPr>
          <p:cNvPr id="39" name="Shape 36"/>
          <p:cNvSpPr/>
          <p:nvPr/>
        </p:nvSpPr>
        <p:spPr>
          <a:xfrm>
            <a:off x="8074152" y="4846320"/>
            <a:ext cx="3657600" cy="1417320"/>
          </a:xfrm>
          <a:prstGeom prst="roundRect">
            <a:avLst>
              <a:gd name="adj" fmla="val 7742"/>
            </a:avLst>
          </a:prstGeom>
          <a:solidFill>
            <a:srgbClr val="DDF1E4"/>
          </a:solidFill>
          <a:ln w="25400">
            <a:solidFill>
              <a:srgbClr val="237A48"/>
            </a:solidFill>
            <a:prstDash val="solid"/>
          </a:ln>
        </p:spPr>
      </p:sp>
      <p:sp>
        <p:nvSpPr>
          <p:cNvPr id="40" name="Text 37"/>
          <p:cNvSpPr txBox="1"/>
          <p:nvPr/>
        </p:nvSpPr>
        <p:spPr>
          <a:xfrm>
            <a:off x="8165592" y="4846320"/>
            <a:ext cx="3474720" cy="141732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コンテナ・高度な運用</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複数のアプリ・機器を効率管理</a:t>
            </a:r>
            <a:endParaRPr lang="en-US" sz="1800" dirty="0"/>
          </a:p>
        </p:txBody>
      </p:sp>
      <p:sp>
        <p:nvSpPr>
          <p:cNvPr id="41" name="Shape 38"/>
          <p:cNvSpPr/>
          <p:nvPr/>
        </p:nvSpPr>
        <p:spPr>
          <a:xfrm>
            <a:off x="7927848" y="4700016"/>
            <a:ext cx="384048" cy="384048"/>
          </a:xfrm>
          <a:prstGeom prst="ellipse">
            <a:avLst/>
          </a:prstGeom>
          <a:solidFill>
            <a:srgbClr val="237A48"/>
          </a:solidFill>
          <a:ln w="19050">
            <a:solidFill>
              <a:srgbClr val="FFFFFF"/>
            </a:solidFill>
            <a:prstDash val="solid"/>
          </a:ln>
        </p:spPr>
      </p:sp>
      <p:sp>
        <p:nvSpPr>
          <p:cNvPr id="42" name="Text 39"/>
          <p:cNvSpPr txBox="1"/>
          <p:nvPr/>
        </p:nvSpPr>
        <p:spPr>
          <a:xfrm>
            <a:off x="7927848" y="47000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9</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準備と学習計画</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6682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学習用PCは、保護を整えてから学習環境を作る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学習用PCは、更新・保護・暗号化・バックアップを先に整え、そのあとでLinuxなどの学習環境を作ります。会社のPCは会社の指示に従います。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出典：[N21] [N22]</a:t>
            </a:r>
            <a:endParaRPr lang="ja-JP" sz="1200" dirty="0"/>
          </a:p>
        </p:txBody>
      </p:sp>
      <p:sp>
        <p:nvSpPr>
          <p:cNvPr id="9" name="Shape 6"/>
          <p:cNvSpPr/>
          <p:nvPr/>
        </p:nvSpPr>
        <p:spPr>
          <a:xfrm>
            <a:off x="457200" y="1901952"/>
            <a:ext cx="3657600" cy="1143000"/>
          </a:xfrm>
          <a:prstGeom prst="roundRect">
            <a:avLst>
              <a:gd name="adj" fmla="val 9600"/>
            </a:avLst>
          </a:prstGeom>
          <a:solidFill>
            <a:srgbClr val="DDF1E4"/>
          </a:solidFill>
          <a:ln w="25400">
            <a:solidFill>
              <a:srgbClr val="237A48"/>
            </a:solidFill>
            <a:prstDash val="solid"/>
          </a:ln>
        </p:spPr>
      </p:sp>
      <p:sp>
        <p:nvSpPr>
          <p:cNvPr id="10" name="Text 7"/>
          <p:cNvSpPr txBox="1"/>
          <p:nvPr/>
        </p:nvSpPr>
        <p:spPr>
          <a:xfrm>
            <a:off x="548640" y="1901952"/>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更新</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Windowsとメーカー提供の更新</a:t>
            </a:r>
            <a:endParaRPr lang="en-US" sz="2000" dirty="0"/>
          </a:p>
        </p:txBody>
      </p:sp>
      <p:sp>
        <p:nvSpPr>
          <p:cNvPr id="11" name="Shape 8"/>
          <p:cNvSpPr/>
          <p:nvPr/>
        </p:nvSpPr>
        <p:spPr>
          <a:xfrm>
            <a:off x="320040" y="1764792"/>
            <a:ext cx="365760" cy="365760"/>
          </a:xfrm>
          <a:prstGeom prst="ellipse">
            <a:avLst/>
          </a:prstGeom>
          <a:solidFill>
            <a:srgbClr val="237A48"/>
          </a:solidFill>
          <a:ln w="19050">
            <a:solidFill>
              <a:srgbClr val="FFFFFF"/>
            </a:solidFill>
            <a:prstDash val="solid"/>
          </a:ln>
        </p:spPr>
      </p:sp>
      <p:sp>
        <p:nvSpPr>
          <p:cNvPr id="12" name="Text 9"/>
          <p:cNvSpPr txBox="1"/>
          <p:nvPr/>
        </p:nvSpPr>
        <p:spPr>
          <a:xfrm>
            <a:off x="320040" y="176479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13" name="Shape 10"/>
          <p:cNvSpPr/>
          <p:nvPr/>
        </p:nvSpPr>
        <p:spPr>
          <a:xfrm>
            <a:off x="4265676" y="1901952"/>
            <a:ext cx="3657600" cy="1143000"/>
          </a:xfrm>
          <a:prstGeom prst="roundRect">
            <a:avLst>
              <a:gd name="adj" fmla="val 9600"/>
            </a:avLst>
          </a:prstGeom>
          <a:solidFill>
            <a:srgbClr val="DDF1E4"/>
          </a:solidFill>
          <a:ln w="25400">
            <a:solidFill>
              <a:srgbClr val="237A48"/>
            </a:solidFill>
            <a:prstDash val="solid"/>
          </a:ln>
        </p:spPr>
      </p:sp>
      <p:sp>
        <p:nvSpPr>
          <p:cNvPr id="14" name="Text 11"/>
          <p:cNvSpPr txBox="1"/>
          <p:nvPr/>
        </p:nvSpPr>
        <p:spPr>
          <a:xfrm>
            <a:off x="4357116" y="1901952"/>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回復手段</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MFA・パスワード管理</a:t>
            </a:r>
            <a:endParaRPr lang="en-US" sz="2000" dirty="0"/>
          </a:p>
        </p:txBody>
      </p:sp>
      <p:sp>
        <p:nvSpPr>
          <p:cNvPr id="15" name="Shape 12"/>
          <p:cNvSpPr/>
          <p:nvPr/>
        </p:nvSpPr>
        <p:spPr>
          <a:xfrm>
            <a:off x="4128516" y="1764792"/>
            <a:ext cx="365760" cy="365760"/>
          </a:xfrm>
          <a:prstGeom prst="ellipse">
            <a:avLst/>
          </a:prstGeom>
          <a:solidFill>
            <a:srgbClr val="237A48"/>
          </a:solidFill>
          <a:ln w="19050">
            <a:solidFill>
              <a:srgbClr val="FFFFFF"/>
            </a:solidFill>
            <a:prstDash val="solid"/>
          </a:ln>
        </p:spPr>
      </p:sp>
      <p:sp>
        <p:nvSpPr>
          <p:cNvPr id="16" name="Text 13"/>
          <p:cNvSpPr txBox="1"/>
          <p:nvPr/>
        </p:nvSpPr>
        <p:spPr>
          <a:xfrm>
            <a:off x="4128516" y="176479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7" name="Shape 14"/>
          <p:cNvSpPr/>
          <p:nvPr/>
        </p:nvSpPr>
        <p:spPr>
          <a:xfrm>
            <a:off x="8074152" y="1901952"/>
            <a:ext cx="3657600" cy="1143000"/>
          </a:xfrm>
          <a:prstGeom prst="roundRect">
            <a:avLst>
              <a:gd name="adj" fmla="val 9600"/>
            </a:avLst>
          </a:prstGeom>
          <a:solidFill>
            <a:srgbClr val="DDF1E4"/>
          </a:solidFill>
          <a:ln w="25400">
            <a:solidFill>
              <a:srgbClr val="237A48"/>
            </a:solidFill>
            <a:prstDash val="solid"/>
          </a:ln>
        </p:spPr>
      </p:sp>
      <p:sp>
        <p:nvSpPr>
          <p:cNvPr id="18" name="Text 15"/>
          <p:cNvSpPr txBox="1"/>
          <p:nvPr/>
        </p:nvSpPr>
        <p:spPr>
          <a:xfrm>
            <a:off x="8165592" y="1901952"/>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保護の確認</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Defender・FW・UAC</a:t>
            </a:r>
            <a:endParaRPr lang="en-US" sz="2000" dirty="0"/>
          </a:p>
        </p:txBody>
      </p:sp>
      <p:sp>
        <p:nvSpPr>
          <p:cNvPr id="19" name="Shape 16"/>
          <p:cNvSpPr/>
          <p:nvPr/>
        </p:nvSpPr>
        <p:spPr>
          <a:xfrm>
            <a:off x="7936992" y="1764792"/>
            <a:ext cx="365760" cy="365760"/>
          </a:xfrm>
          <a:prstGeom prst="ellipse">
            <a:avLst/>
          </a:prstGeom>
          <a:solidFill>
            <a:srgbClr val="237A48"/>
          </a:solidFill>
          <a:ln w="19050">
            <a:solidFill>
              <a:srgbClr val="FFFFFF"/>
            </a:solidFill>
            <a:prstDash val="solid"/>
          </a:ln>
        </p:spPr>
      </p:sp>
      <p:sp>
        <p:nvSpPr>
          <p:cNvPr id="20" name="Text 17"/>
          <p:cNvSpPr txBox="1"/>
          <p:nvPr/>
        </p:nvSpPr>
        <p:spPr>
          <a:xfrm>
            <a:off x="7936992" y="176479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21" name="Shape 18"/>
          <p:cNvSpPr/>
          <p:nvPr/>
        </p:nvSpPr>
        <p:spPr>
          <a:xfrm>
            <a:off x="457200" y="3099816"/>
            <a:ext cx="3657600" cy="1143000"/>
          </a:xfrm>
          <a:prstGeom prst="roundRect">
            <a:avLst>
              <a:gd name="adj" fmla="val 9600"/>
            </a:avLst>
          </a:prstGeom>
          <a:solidFill>
            <a:srgbClr val="DDF1E4"/>
          </a:solidFill>
          <a:ln w="25400">
            <a:solidFill>
              <a:srgbClr val="237A48"/>
            </a:solidFill>
            <a:prstDash val="solid"/>
          </a:ln>
        </p:spPr>
      </p:sp>
      <p:sp>
        <p:nvSpPr>
          <p:cNvPr id="22" name="Text 19"/>
          <p:cNvSpPr txBox="1"/>
          <p:nvPr/>
        </p:nvSpPr>
        <p:spPr>
          <a:xfrm>
            <a:off x="548640" y="3099816"/>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暗号化</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BitLocker・回復キー保存</a:t>
            </a:r>
            <a:endParaRPr lang="en-US" sz="2000" dirty="0"/>
          </a:p>
        </p:txBody>
      </p:sp>
      <p:sp>
        <p:nvSpPr>
          <p:cNvPr id="23" name="Shape 20"/>
          <p:cNvSpPr/>
          <p:nvPr/>
        </p:nvSpPr>
        <p:spPr>
          <a:xfrm>
            <a:off x="320040" y="2962656"/>
            <a:ext cx="365760" cy="365760"/>
          </a:xfrm>
          <a:prstGeom prst="ellipse">
            <a:avLst/>
          </a:prstGeom>
          <a:solidFill>
            <a:srgbClr val="237A48"/>
          </a:solidFill>
          <a:ln w="19050">
            <a:solidFill>
              <a:srgbClr val="FFFFFF"/>
            </a:solidFill>
            <a:prstDash val="solid"/>
          </a:ln>
        </p:spPr>
      </p:sp>
      <p:sp>
        <p:nvSpPr>
          <p:cNvPr id="24" name="Text 21"/>
          <p:cNvSpPr txBox="1"/>
          <p:nvPr/>
        </p:nvSpPr>
        <p:spPr>
          <a:xfrm>
            <a:off x="320040" y="296265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4</a:t>
            </a:r>
            <a:endParaRPr lang="en-US" sz="1600" dirty="0"/>
          </a:p>
        </p:txBody>
      </p:sp>
      <p:sp>
        <p:nvSpPr>
          <p:cNvPr id="25" name="Shape 22"/>
          <p:cNvSpPr/>
          <p:nvPr/>
        </p:nvSpPr>
        <p:spPr>
          <a:xfrm>
            <a:off x="4265676" y="3099816"/>
            <a:ext cx="3657600" cy="1143000"/>
          </a:xfrm>
          <a:prstGeom prst="roundRect">
            <a:avLst>
              <a:gd name="adj" fmla="val 9600"/>
            </a:avLst>
          </a:prstGeom>
          <a:solidFill>
            <a:srgbClr val="DDF1E4"/>
          </a:solidFill>
          <a:ln w="25400">
            <a:solidFill>
              <a:srgbClr val="237A48"/>
            </a:solidFill>
            <a:prstDash val="solid"/>
          </a:ln>
        </p:spPr>
      </p:sp>
      <p:sp>
        <p:nvSpPr>
          <p:cNvPr id="26" name="Text 23"/>
          <p:cNvSpPr txBox="1"/>
          <p:nvPr/>
        </p:nvSpPr>
        <p:spPr>
          <a:xfrm>
            <a:off x="4357116" y="3099816"/>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バックアップ</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保存と復元確認</a:t>
            </a:r>
            <a:endParaRPr lang="en-US" sz="2000" dirty="0"/>
          </a:p>
        </p:txBody>
      </p:sp>
      <p:sp>
        <p:nvSpPr>
          <p:cNvPr id="27" name="Shape 24"/>
          <p:cNvSpPr/>
          <p:nvPr/>
        </p:nvSpPr>
        <p:spPr>
          <a:xfrm>
            <a:off x="4128516" y="2962656"/>
            <a:ext cx="365760" cy="365760"/>
          </a:xfrm>
          <a:prstGeom prst="ellipse">
            <a:avLst/>
          </a:prstGeom>
          <a:solidFill>
            <a:srgbClr val="237A48"/>
          </a:solidFill>
          <a:ln w="19050">
            <a:solidFill>
              <a:srgbClr val="FFFFFF"/>
            </a:solidFill>
            <a:prstDash val="solid"/>
          </a:ln>
        </p:spPr>
      </p:sp>
      <p:sp>
        <p:nvSpPr>
          <p:cNvPr id="28" name="Text 25"/>
          <p:cNvSpPr txBox="1"/>
          <p:nvPr/>
        </p:nvSpPr>
        <p:spPr>
          <a:xfrm>
            <a:off x="4128516" y="296265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5</a:t>
            </a:r>
            <a:endParaRPr lang="en-US" sz="1600" dirty="0"/>
          </a:p>
        </p:txBody>
      </p:sp>
      <p:sp>
        <p:nvSpPr>
          <p:cNvPr id="29" name="Shape 26"/>
          <p:cNvSpPr/>
          <p:nvPr/>
        </p:nvSpPr>
        <p:spPr>
          <a:xfrm>
            <a:off x="8074152" y="3099816"/>
            <a:ext cx="3657600" cy="1143000"/>
          </a:xfrm>
          <a:prstGeom prst="roundRect">
            <a:avLst>
              <a:gd name="adj" fmla="val 9600"/>
            </a:avLst>
          </a:prstGeom>
          <a:solidFill>
            <a:srgbClr val="D9F2F1"/>
          </a:solidFill>
          <a:ln w="25400">
            <a:solidFill>
              <a:srgbClr val="0B7A7A"/>
            </a:solidFill>
            <a:prstDash val="solid"/>
          </a:ln>
        </p:spPr>
      </p:sp>
      <p:sp>
        <p:nvSpPr>
          <p:cNvPr id="30" name="Text 27"/>
          <p:cNvSpPr txBox="1"/>
          <p:nvPr/>
        </p:nvSpPr>
        <p:spPr>
          <a:xfrm>
            <a:off x="8165592" y="3099816"/>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表示・フォルダー</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拡張子表示・編集ソフト</a:t>
            </a:r>
            <a:endParaRPr lang="en-US" sz="2000" dirty="0"/>
          </a:p>
        </p:txBody>
      </p:sp>
      <p:sp>
        <p:nvSpPr>
          <p:cNvPr id="31" name="Shape 28"/>
          <p:cNvSpPr/>
          <p:nvPr/>
        </p:nvSpPr>
        <p:spPr>
          <a:xfrm>
            <a:off x="7936992" y="2962656"/>
            <a:ext cx="365760" cy="365760"/>
          </a:xfrm>
          <a:prstGeom prst="ellipse">
            <a:avLst/>
          </a:prstGeom>
          <a:solidFill>
            <a:srgbClr val="0B7A7A"/>
          </a:solidFill>
          <a:ln w="19050">
            <a:solidFill>
              <a:srgbClr val="FFFFFF"/>
            </a:solidFill>
            <a:prstDash val="solid"/>
          </a:ln>
        </p:spPr>
      </p:sp>
      <p:sp>
        <p:nvSpPr>
          <p:cNvPr id="32" name="Text 29"/>
          <p:cNvSpPr txBox="1"/>
          <p:nvPr/>
        </p:nvSpPr>
        <p:spPr>
          <a:xfrm>
            <a:off x="7936992" y="296265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6</a:t>
            </a:r>
            <a:endParaRPr lang="en-US" sz="1600" dirty="0"/>
          </a:p>
        </p:txBody>
      </p:sp>
      <p:sp>
        <p:nvSpPr>
          <p:cNvPr id="33" name="Shape 30"/>
          <p:cNvSpPr/>
          <p:nvPr/>
        </p:nvSpPr>
        <p:spPr>
          <a:xfrm>
            <a:off x="457200" y="4297680"/>
            <a:ext cx="3657600" cy="1143000"/>
          </a:xfrm>
          <a:prstGeom prst="roundRect">
            <a:avLst>
              <a:gd name="adj" fmla="val 9600"/>
            </a:avLst>
          </a:prstGeom>
          <a:solidFill>
            <a:srgbClr val="D9F2F1"/>
          </a:solidFill>
          <a:ln w="25400">
            <a:solidFill>
              <a:srgbClr val="0B7A7A"/>
            </a:solidFill>
            <a:prstDash val="solid"/>
          </a:ln>
        </p:spPr>
      </p:sp>
      <p:sp>
        <p:nvSpPr>
          <p:cNvPr id="34" name="Text 31"/>
          <p:cNvSpPr txBox="1"/>
          <p:nvPr/>
        </p:nvSpPr>
        <p:spPr>
          <a:xfrm>
            <a:off x="548640" y="4297680"/>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作業環境</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Terminal・Git・VS Code</a:t>
            </a:r>
            <a:endParaRPr lang="en-US" sz="2000" dirty="0"/>
          </a:p>
        </p:txBody>
      </p:sp>
      <p:sp>
        <p:nvSpPr>
          <p:cNvPr id="35" name="Shape 32"/>
          <p:cNvSpPr/>
          <p:nvPr/>
        </p:nvSpPr>
        <p:spPr>
          <a:xfrm>
            <a:off x="320040" y="4160520"/>
            <a:ext cx="365760" cy="365760"/>
          </a:xfrm>
          <a:prstGeom prst="ellipse">
            <a:avLst/>
          </a:prstGeom>
          <a:solidFill>
            <a:srgbClr val="0B7A7A"/>
          </a:solidFill>
          <a:ln w="19050">
            <a:solidFill>
              <a:srgbClr val="FFFFFF"/>
            </a:solidFill>
            <a:prstDash val="solid"/>
          </a:ln>
        </p:spPr>
      </p:sp>
      <p:sp>
        <p:nvSpPr>
          <p:cNvPr id="36" name="Text 33"/>
          <p:cNvSpPr txBox="1"/>
          <p:nvPr/>
        </p:nvSpPr>
        <p:spPr>
          <a:xfrm>
            <a:off x="320040" y="41605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7</a:t>
            </a:r>
            <a:endParaRPr lang="en-US" sz="1600" dirty="0"/>
          </a:p>
        </p:txBody>
      </p:sp>
      <p:sp>
        <p:nvSpPr>
          <p:cNvPr id="37" name="Shape 34"/>
          <p:cNvSpPr/>
          <p:nvPr/>
        </p:nvSpPr>
        <p:spPr>
          <a:xfrm>
            <a:off x="4265676" y="4297680"/>
            <a:ext cx="3657600" cy="1143000"/>
          </a:xfrm>
          <a:prstGeom prst="roundRect">
            <a:avLst>
              <a:gd name="adj" fmla="val 9600"/>
            </a:avLst>
          </a:prstGeom>
          <a:solidFill>
            <a:srgbClr val="D9F2F1"/>
          </a:solidFill>
          <a:ln w="25400">
            <a:solidFill>
              <a:srgbClr val="0B7A7A"/>
            </a:solidFill>
            <a:prstDash val="solid"/>
          </a:ln>
        </p:spPr>
      </p:sp>
      <p:sp>
        <p:nvSpPr>
          <p:cNvPr id="38" name="Text 35"/>
          <p:cNvSpPr txBox="1"/>
          <p:nvPr/>
        </p:nvSpPr>
        <p:spPr>
          <a:xfrm>
            <a:off x="4357116" y="4297680"/>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Linux</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WSLまたは仮想マシン</a:t>
            </a:r>
            <a:endParaRPr lang="en-US" sz="2000" dirty="0"/>
          </a:p>
        </p:txBody>
      </p:sp>
      <p:sp>
        <p:nvSpPr>
          <p:cNvPr id="39" name="Shape 36"/>
          <p:cNvSpPr/>
          <p:nvPr/>
        </p:nvSpPr>
        <p:spPr>
          <a:xfrm>
            <a:off x="4128516" y="4160520"/>
            <a:ext cx="365760" cy="365760"/>
          </a:xfrm>
          <a:prstGeom prst="ellipse">
            <a:avLst/>
          </a:prstGeom>
          <a:solidFill>
            <a:srgbClr val="0B7A7A"/>
          </a:solidFill>
          <a:ln w="19050">
            <a:solidFill>
              <a:srgbClr val="FFFFFF"/>
            </a:solidFill>
            <a:prstDash val="solid"/>
          </a:ln>
        </p:spPr>
      </p:sp>
      <p:sp>
        <p:nvSpPr>
          <p:cNvPr id="40" name="Text 37"/>
          <p:cNvSpPr txBox="1"/>
          <p:nvPr/>
        </p:nvSpPr>
        <p:spPr>
          <a:xfrm>
            <a:off x="4128516" y="41605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8</a:t>
            </a:r>
            <a:endParaRPr lang="en-US" sz="1600" dirty="0"/>
          </a:p>
        </p:txBody>
      </p:sp>
      <p:sp>
        <p:nvSpPr>
          <p:cNvPr id="41" name="Shape 38"/>
          <p:cNvSpPr/>
          <p:nvPr/>
        </p:nvSpPr>
        <p:spPr>
          <a:xfrm>
            <a:off x="8074152" y="4297680"/>
            <a:ext cx="3657600" cy="1143000"/>
          </a:xfrm>
          <a:prstGeom prst="roundRect">
            <a:avLst>
              <a:gd name="adj" fmla="val 9600"/>
            </a:avLst>
          </a:prstGeom>
          <a:solidFill>
            <a:srgbClr val="D9F2F1"/>
          </a:solidFill>
          <a:ln w="25400">
            <a:solidFill>
              <a:srgbClr val="0B7A7A"/>
            </a:solidFill>
            <a:prstDash val="solid"/>
          </a:ln>
        </p:spPr>
      </p:sp>
      <p:sp>
        <p:nvSpPr>
          <p:cNvPr id="42" name="Text 39"/>
          <p:cNvSpPr txBox="1"/>
          <p:nvPr/>
        </p:nvSpPr>
        <p:spPr>
          <a:xfrm>
            <a:off x="8165592" y="4297680"/>
            <a:ext cx="3474720" cy="114300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通信の記録</a:t>
            </a:r>
            <a:endParaRPr lang="en-US" sz="20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自宅のIP・DNS・出口</a:t>
            </a:r>
            <a:endParaRPr lang="en-US" sz="2000" dirty="0"/>
          </a:p>
        </p:txBody>
      </p:sp>
      <p:sp>
        <p:nvSpPr>
          <p:cNvPr id="43" name="Shape 40"/>
          <p:cNvSpPr/>
          <p:nvPr/>
        </p:nvSpPr>
        <p:spPr>
          <a:xfrm>
            <a:off x="7936992" y="4160520"/>
            <a:ext cx="365760" cy="365760"/>
          </a:xfrm>
          <a:prstGeom prst="ellipse">
            <a:avLst/>
          </a:prstGeom>
          <a:solidFill>
            <a:srgbClr val="0B7A7A"/>
          </a:solidFill>
          <a:ln w="19050">
            <a:solidFill>
              <a:srgbClr val="FFFFFF"/>
            </a:solidFill>
            <a:prstDash val="solid"/>
          </a:ln>
        </p:spPr>
      </p:sp>
      <p:sp>
        <p:nvSpPr>
          <p:cNvPr id="44" name="Text 41"/>
          <p:cNvSpPr txBox="1"/>
          <p:nvPr/>
        </p:nvSpPr>
        <p:spPr>
          <a:xfrm>
            <a:off x="7936992" y="41605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9</a:t>
            </a:r>
            <a:endParaRPr lang="en-US" sz="1600" dirty="0"/>
          </a:p>
        </p:txBody>
      </p:sp>
      <p:sp>
        <p:nvSpPr>
          <p:cNvPr id="45" name="Shape 42"/>
          <p:cNvSpPr/>
          <p:nvPr/>
        </p:nvSpPr>
        <p:spPr>
          <a:xfrm>
            <a:off x="457200" y="5532120"/>
            <a:ext cx="5532120" cy="777240"/>
          </a:xfrm>
          <a:prstGeom prst="roundRect">
            <a:avLst>
              <a:gd name="adj" fmla="val 14118"/>
            </a:avLst>
          </a:prstGeom>
          <a:solidFill>
            <a:srgbClr val="FBE3E0"/>
          </a:solidFill>
          <a:ln w="19050">
            <a:solidFill>
              <a:srgbClr val="C0392B"/>
            </a:solidFill>
            <a:prstDash val="solid"/>
          </a:ln>
        </p:spPr>
      </p:sp>
      <p:sp>
        <p:nvSpPr>
          <p:cNvPr id="46" name="Shape 43"/>
          <p:cNvSpPr/>
          <p:nvPr/>
        </p:nvSpPr>
        <p:spPr>
          <a:xfrm>
            <a:off x="594360" y="5692140"/>
            <a:ext cx="457200" cy="457200"/>
          </a:xfrm>
          <a:prstGeom prst="ellipse">
            <a:avLst/>
          </a:prstGeom>
          <a:solidFill>
            <a:srgbClr val="C0392B"/>
          </a:solidFill>
          <a:ln/>
        </p:spPr>
      </p:sp>
      <p:pic>
        <p:nvPicPr>
          <p:cNvPr id="47" name="Image 0" descr="preencoded.png">    </p:cNvPr>
          <p:cNvPicPr>
            <a:picLocks noChangeAspect="1"/>
          </p:cNvPicPr>
          <p:nvPr/>
        </p:nvPicPr>
        <p:blipFill>
          <a:blip r:embed="rId1"/>
          <a:stretch>
            <a:fillRect/>
          </a:stretch>
        </p:blipFill>
        <p:spPr>
          <a:xfrm>
            <a:off x="694944" y="5792724"/>
            <a:ext cx="256032" cy="256032"/>
          </a:xfrm>
          <a:prstGeom prst="rect">
            <a:avLst/>
          </a:prstGeom>
        </p:spPr>
      </p:pic>
      <p:sp>
        <p:nvSpPr>
          <p:cNvPr id="48" name="Text 44"/>
          <p:cNvSpPr txBox="1"/>
          <p:nvPr/>
        </p:nvSpPr>
        <p:spPr>
          <a:xfrm>
            <a:off x="1188720" y="5577840"/>
            <a:ext cx="4663440" cy="685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回復キーは再生成できない。PC本体と同時に失う場所だけに置かない[N21]</a:t>
            </a:r>
            <a:endParaRPr lang="en-US" sz="1800" dirty="0"/>
          </a:p>
        </p:txBody>
      </p:sp>
      <p:sp>
        <p:nvSpPr>
          <p:cNvPr id="49" name="Shape 45"/>
          <p:cNvSpPr/>
          <p:nvPr/>
        </p:nvSpPr>
        <p:spPr>
          <a:xfrm>
            <a:off x="6199632" y="5532120"/>
            <a:ext cx="5532120" cy="777240"/>
          </a:xfrm>
          <a:prstGeom prst="roundRect">
            <a:avLst>
              <a:gd name="adj" fmla="val 14118"/>
            </a:avLst>
          </a:prstGeom>
          <a:solidFill>
            <a:srgbClr val="DCE8F8"/>
          </a:solidFill>
          <a:ln w="19050">
            <a:solidFill>
              <a:srgbClr val="2F6BC2"/>
            </a:solidFill>
            <a:prstDash val="solid"/>
          </a:ln>
        </p:spPr>
      </p:sp>
      <p:sp>
        <p:nvSpPr>
          <p:cNvPr id="50" name="Shape 46"/>
          <p:cNvSpPr/>
          <p:nvPr/>
        </p:nvSpPr>
        <p:spPr>
          <a:xfrm>
            <a:off x="6336792" y="5692140"/>
            <a:ext cx="457200" cy="457200"/>
          </a:xfrm>
          <a:prstGeom prst="ellipse">
            <a:avLst/>
          </a:prstGeom>
          <a:solidFill>
            <a:srgbClr val="2F6BC2"/>
          </a:solidFill>
          <a:ln/>
        </p:spPr>
      </p:sp>
      <p:pic>
        <p:nvPicPr>
          <p:cNvPr id="51" name="Image 1" descr="preencoded.png">    </p:cNvPr>
          <p:cNvPicPr>
            <a:picLocks noChangeAspect="1"/>
          </p:cNvPicPr>
          <p:nvPr/>
        </p:nvPicPr>
        <p:blipFill>
          <a:blip r:embed="rId2"/>
          <a:stretch>
            <a:fillRect/>
          </a:stretch>
        </p:blipFill>
        <p:spPr>
          <a:xfrm>
            <a:off x="6437376" y="5792724"/>
            <a:ext cx="256032" cy="256032"/>
          </a:xfrm>
          <a:prstGeom prst="rect">
            <a:avLst/>
          </a:prstGeom>
        </p:spPr>
      </p:pic>
      <p:sp>
        <p:nvSpPr>
          <p:cNvPr id="52" name="Text 47"/>
          <p:cNvSpPr txBox="1"/>
          <p:nvPr/>
        </p:nvSpPr>
        <p:spPr>
          <a:xfrm>
            <a:off x="6931152" y="5577840"/>
            <a:ext cx="4663440" cy="685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会社支給PCは会社の指定に従う。機密情報を外部AIへ入れない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準備と学習計画</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6682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Windowsのコマンドで、通信の用語を実際に観察できる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Windowsのコマンドで、自宅の通信を観察できます。設定は変えず「見るだけ」で、IP・DNS・経路・接続がどう動くかを確かめられます。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出典：[B21]</a:t>
            </a:r>
            <a:endParaRPr lang="ja-JP" sz="12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5669280"/>
                <a:gridCol w="56052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コマンド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見るもの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ipconfig /all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自分のIP・DNS・DHCP・ゲートウェイ</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route print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OSが使う経路の一覧</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arp -a</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IPv4の、近くのIPとMACの対応</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nslookup chatgpt.com</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DNSで調べたIPアドレスなど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Test-NetConnection chatgpt.com -Port 443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 443番への接続（PowerShell）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tracert -d chatgpt.com</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経路上の中継点から得られる応答</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netsh wlan show interfaces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Wi-Fi接続の状態など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6"/>
          <p:cNvSpPr/>
          <p:nvPr/>
        </p:nvSpPr>
        <p:spPr>
          <a:xfrm>
            <a:off x="457200" y="5532120"/>
            <a:ext cx="5532120" cy="777240"/>
          </a:xfrm>
          <a:prstGeom prst="roundRect">
            <a:avLst>
              <a:gd name="adj" fmla="val 14118"/>
            </a:avLst>
          </a:prstGeom>
          <a:solidFill>
            <a:srgbClr val="FBE3E0"/>
          </a:solidFill>
          <a:ln w="19050">
            <a:solidFill>
              <a:srgbClr val="C0392B"/>
            </a:solidFill>
            <a:prstDash val="solid"/>
          </a:ln>
        </p:spPr>
      </p:sp>
      <p:sp>
        <p:nvSpPr>
          <p:cNvPr id="11" name="Shape 7"/>
          <p:cNvSpPr/>
          <p:nvPr/>
        </p:nvSpPr>
        <p:spPr>
          <a:xfrm>
            <a:off x="594360" y="5692140"/>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94944" y="5792724"/>
            <a:ext cx="256032" cy="256032"/>
          </a:xfrm>
          <a:prstGeom prst="rect">
            <a:avLst/>
          </a:prstGeom>
        </p:spPr>
      </p:pic>
      <p:sp>
        <p:nvSpPr>
          <p:cNvPr id="13" name="Text 8"/>
          <p:cNvSpPr txBox="1"/>
          <p:nvPr/>
        </p:nvSpPr>
        <p:spPr>
          <a:xfrm>
            <a:off x="1188720" y="5577840"/>
            <a:ext cx="4663440" cy="685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nslookupとブラウザーのDNS結果は違うことがある。tracertの＊は故障と限らない</a:t>
            </a:r>
            <a:endParaRPr lang="en-US" sz="1800" dirty="0"/>
          </a:p>
        </p:txBody>
      </p:sp>
      <p:sp>
        <p:nvSpPr>
          <p:cNvPr id="14" name="Shape 9"/>
          <p:cNvSpPr/>
          <p:nvPr/>
        </p:nvSpPr>
        <p:spPr>
          <a:xfrm>
            <a:off x="6199632" y="5532120"/>
            <a:ext cx="5532120" cy="777240"/>
          </a:xfrm>
          <a:prstGeom prst="roundRect">
            <a:avLst>
              <a:gd name="adj" fmla="val 14118"/>
            </a:avLst>
          </a:prstGeom>
          <a:solidFill>
            <a:srgbClr val="FBE3E0"/>
          </a:solidFill>
          <a:ln w="19050">
            <a:solidFill>
              <a:srgbClr val="C0392B"/>
            </a:solidFill>
            <a:prstDash val="solid"/>
          </a:ln>
        </p:spPr>
      </p:sp>
      <p:sp>
        <p:nvSpPr>
          <p:cNvPr id="15" name="Shape 10"/>
          <p:cNvSpPr/>
          <p:nvPr/>
        </p:nvSpPr>
        <p:spPr>
          <a:xfrm>
            <a:off x="6336792" y="5692140"/>
            <a:ext cx="457200" cy="457200"/>
          </a:xfrm>
          <a:prstGeom prst="ellipse">
            <a:avLst/>
          </a:prstGeom>
          <a:solidFill>
            <a:srgbClr val="C0392B"/>
          </a:solidFill>
          <a:ln/>
        </p:spPr>
      </p:sp>
      <p:pic>
        <p:nvPicPr>
          <p:cNvPr id="16" name="Image 1" descr="preencoded.png">    </p:cNvPr>
          <p:cNvPicPr>
            <a:picLocks noChangeAspect="1"/>
          </p:cNvPicPr>
          <p:nvPr/>
        </p:nvPicPr>
        <p:blipFill>
          <a:blip r:embed="rId2"/>
          <a:stretch>
            <a:fillRect/>
          </a:stretch>
        </p:blipFill>
        <p:spPr>
          <a:xfrm>
            <a:off x="6437376" y="5792724"/>
            <a:ext cx="256032" cy="256032"/>
          </a:xfrm>
          <a:prstGeom prst="rect">
            <a:avLst/>
          </a:prstGeom>
        </p:spPr>
      </p:pic>
      <p:sp>
        <p:nvSpPr>
          <p:cNvPr id="17" name="Text 11"/>
          <p:cNvSpPr txBox="1"/>
          <p:nvPr/>
        </p:nvSpPr>
        <p:spPr>
          <a:xfrm>
            <a:off x="6931152" y="5577840"/>
            <a:ext cx="4663440" cy="6858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443接続成功≠全機能が正常。Wi-Fiリンク速度≠インターネット速度</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準備と学習計画</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入社前は、自分の環境で7つの実習を順に行う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入社前に、自分の環境で7つの実習を順に行う提案です。観察→小さなサービスを動かす→わざと止めて違いを見る→記録して再現する、の流れです。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出典：[N22]</a:t>
            </a:r>
            <a:endParaRPr lang="ja-JP" sz="1200" dirty="0"/>
          </a:p>
        </p:txBody>
      </p:sp>
      <p:sp>
        <p:nvSpPr>
          <p:cNvPr id="8" name="Shape 5"/>
          <p:cNvSpPr/>
          <p:nvPr/>
        </p:nvSpPr>
        <p:spPr>
          <a:xfrm>
            <a:off x="475488" y="1801368"/>
            <a:ext cx="420624" cy="420624"/>
          </a:xfrm>
          <a:prstGeom prst="ellipse">
            <a:avLst/>
          </a:prstGeom>
          <a:solidFill>
            <a:srgbClr val="16324F"/>
          </a:solidFill>
          <a:ln w="19050">
            <a:solidFill>
              <a:srgbClr val="FFFFFF"/>
            </a:solidFill>
            <a:prstDash val="solid"/>
          </a:ln>
        </p:spPr>
      </p:sp>
      <p:sp>
        <p:nvSpPr>
          <p:cNvPr id="9" name="Text 6"/>
          <p:cNvSpPr txBox="1"/>
          <p:nvPr/>
        </p:nvSpPr>
        <p:spPr>
          <a:xfrm>
            <a:off x="475488" y="18013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0" name="Text 7"/>
          <p:cNvSpPr txBox="1"/>
          <p:nvPr/>
        </p:nvSpPr>
        <p:spPr>
          <a:xfrm>
            <a:off x="1051560" y="1691640"/>
            <a:ext cx="6995160" cy="6035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自分の環境を記録（ipconfig・route・nslookup）</a:t>
            </a:r>
            <a:endParaRPr lang="en-US" sz="1800" dirty="0"/>
          </a:p>
        </p:txBody>
      </p:sp>
      <p:sp>
        <p:nvSpPr>
          <p:cNvPr id="11" name="Shape 8"/>
          <p:cNvSpPr/>
          <p:nvPr/>
        </p:nvSpPr>
        <p:spPr>
          <a:xfrm>
            <a:off x="475488" y="2441448"/>
            <a:ext cx="420624" cy="420624"/>
          </a:xfrm>
          <a:prstGeom prst="ellipse">
            <a:avLst/>
          </a:prstGeom>
          <a:solidFill>
            <a:srgbClr val="16324F"/>
          </a:solidFill>
          <a:ln w="19050">
            <a:solidFill>
              <a:srgbClr val="FFFFFF"/>
            </a:solidFill>
            <a:prstDash val="solid"/>
          </a:ln>
        </p:spPr>
      </p:sp>
      <p:sp>
        <p:nvSpPr>
          <p:cNvPr id="12" name="Text 9"/>
          <p:cNvSpPr txBox="1"/>
          <p:nvPr/>
        </p:nvSpPr>
        <p:spPr>
          <a:xfrm>
            <a:off x="475488" y="24414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3" name="Text 10"/>
          <p:cNvSpPr txBox="1"/>
          <p:nvPr/>
        </p:nvSpPr>
        <p:spPr>
          <a:xfrm>
            <a:off x="1051560" y="2331720"/>
            <a:ext cx="6995160" cy="6035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Linuxでファイル・権限・プロセス・サービス・ログを観察</a:t>
            </a:r>
            <a:endParaRPr lang="en-US" sz="1800" dirty="0"/>
          </a:p>
        </p:txBody>
      </p:sp>
      <p:sp>
        <p:nvSpPr>
          <p:cNvPr id="14" name="Shape 11"/>
          <p:cNvSpPr/>
          <p:nvPr/>
        </p:nvSpPr>
        <p:spPr>
          <a:xfrm>
            <a:off x="475488" y="3081528"/>
            <a:ext cx="420624" cy="420624"/>
          </a:xfrm>
          <a:prstGeom prst="ellipse">
            <a:avLst/>
          </a:prstGeom>
          <a:solidFill>
            <a:srgbClr val="16324F"/>
          </a:solidFill>
          <a:ln w="19050">
            <a:solidFill>
              <a:srgbClr val="FFFFFF"/>
            </a:solidFill>
            <a:prstDash val="solid"/>
          </a:ln>
        </p:spPr>
      </p:sp>
      <p:sp>
        <p:nvSpPr>
          <p:cNvPr id="15" name="Text 12"/>
          <p:cNvSpPr txBox="1"/>
          <p:nvPr/>
        </p:nvSpPr>
        <p:spPr>
          <a:xfrm>
            <a:off x="475488" y="308152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6" name="Text 13"/>
          <p:cNvSpPr txBox="1"/>
          <p:nvPr/>
        </p:nvSpPr>
        <p:spPr>
          <a:xfrm>
            <a:off x="1051560" y="2971800"/>
            <a:ext cx="6995160" cy="6035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自分の環境でWebサーバーを起動し、自分のブラウザーで開く</a:t>
            </a:r>
            <a:endParaRPr lang="en-US" sz="1800" dirty="0"/>
          </a:p>
        </p:txBody>
      </p:sp>
      <p:sp>
        <p:nvSpPr>
          <p:cNvPr id="17" name="Shape 14"/>
          <p:cNvSpPr/>
          <p:nvPr/>
        </p:nvSpPr>
        <p:spPr>
          <a:xfrm>
            <a:off x="475488" y="3721608"/>
            <a:ext cx="420624" cy="420624"/>
          </a:xfrm>
          <a:prstGeom prst="ellipse">
            <a:avLst/>
          </a:prstGeom>
          <a:solidFill>
            <a:srgbClr val="16324F"/>
          </a:solidFill>
          <a:ln w="19050">
            <a:solidFill>
              <a:srgbClr val="FFFFFF"/>
            </a:solidFill>
            <a:prstDash val="solid"/>
          </a:ln>
        </p:spPr>
      </p:sp>
      <p:sp>
        <p:nvSpPr>
          <p:cNvPr id="18" name="Text 15"/>
          <p:cNvSpPr txBox="1"/>
          <p:nvPr/>
        </p:nvSpPr>
        <p:spPr>
          <a:xfrm>
            <a:off x="475488" y="372160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9" name="Text 16"/>
          <p:cNvSpPr txBox="1"/>
          <p:nvPr/>
        </p:nvSpPr>
        <p:spPr>
          <a:xfrm>
            <a:off x="1051560" y="3611880"/>
            <a:ext cx="6995160" cy="6035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サービス停止や名前解決不良を起こし、正常時との違いを記録</a:t>
            </a:r>
            <a:endParaRPr lang="en-US" sz="1800" dirty="0"/>
          </a:p>
        </p:txBody>
      </p:sp>
      <p:sp>
        <p:nvSpPr>
          <p:cNvPr id="20" name="Shape 17"/>
          <p:cNvSpPr/>
          <p:nvPr/>
        </p:nvSpPr>
        <p:spPr>
          <a:xfrm>
            <a:off x="475488" y="4361688"/>
            <a:ext cx="420624" cy="420624"/>
          </a:xfrm>
          <a:prstGeom prst="ellipse">
            <a:avLst/>
          </a:prstGeom>
          <a:solidFill>
            <a:srgbClr val="16324F"/>
          </a:solidFill>
          <a:ln w="19050">
            <a:solidFill>
              <a:srgbClr val="FFFFFF"/>
            </a:solidFill>
            <a:prstDash val="solid"/>
          </a:ln>
        </p:spPr>
      </p:sp>
      <p:sp>
        <p:nvSpPr>
          <p:cNvPr id="21" name="Text 18"/>
          <p:cNvSpPr txBox="1"/>
          <p:nvPr/>
        </p:nvSpPr>
        <p:spPr>
          <a:xfrm>
            <a:off x="475488" y="43616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2" name="Text 19"/>
          <p:cNvSpPr txBox="1"/>
          <p:nvPr/>
        </p:nvSpPr>
        <p:spPr>
          <a:xfrm>
            <a:off x="1051560" y="4251960"/>
            <a:ext cx="6995160" cy="6035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スクリプトでログを集計し、CSVにする</a:t>
            </a:r>
            <a:endParaRPr lang="en-US" sz="1800" dirty="0"/>
          </a:p>
        </p:txBody>
      </p:sp>
      <p:sp>
        <p:nvSpPr>
          <p:cNvPr id="23" name="Shape 20"/>
          <p:cNvSpPr/>
          <p:nvPr/>
        </p:nvSpPr>
        <p:spPr>
          <a:xfrm>
            <a:off x="475488" y="5001768"/>
            <a:ext cx="420624" cy="420624"/>
          </a:xfrm>
          <a:prstGeom prst="ellipse">
            <a:avLst/>
          </a:prstGeom>
          <a:solidFill>
            <a:srgbClr val="16324F"/>
          </a:solidFill>
          <a:ln w="19050">
            <a:solidFill>
              <a:srgbClr val="FFFFFF"/>
            </a:solidFill>
            <a:prstDash val="solid"/>
          </a:ln>
        </p:spPr>
      </p:sp>
      <p:sp>
        <p:nvSpPr>
          <p:cNvPr id="24" name="Text 21"/>
          <p:cNvSpPr txBox="1"/>
          <p:nvPr/>
        </p:nvSpPr>
        <p:spPr>
          <a:xfrm>
            <a:off x="475488" y="50017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25" name="Text 22"/>
          <p:cNvSpPr txBox="1"/>
          <p:nvPr/>
        </p:nvSpPr>
        <p:spPr>
          <a:xfrm>
            <a:off x="1051560" y="4892040"/>
            <a:ext cx="6995160" cy="6035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バックアップを取り、別の場所へ復元する</a:t>
            </a:r>
            <a:endParaRPr lang="en-US" sz="1800" dirty="0"/>
          </a:p>
        </p:txBody>
      </p:sp>
      <p:sp>
        <p:nvSpPr>
          <p:cNvPr id="26" name="Shape 23"/>
          <p:cNvSpPr/>
          <p:nvPr/>
        </p:nvSpPr>
        <p:spPr>
          <a:xfrm>
            <a:off x="475488" y="5641848"/>
            <a:ext cx="420624" cy="420624"/>
          </a:xfrm>
          <a:prstGeom prst="ellipse">
            <a:avLst/>
          </a:prstGeom>
          <a:solidFill>
            <a:srgbClr val="16324F"/>
          </a:solidFill>
          <a:ln w="19050">
            <a:solidFill>
              <a:srgbClr val="FFFFFF"/>
            </a:solidFill>
            <a:prstDash val="solid"/>
          </a:ln>
        </p:spPr>
      </p:sp>
      <p:sp>
        <p:nvSpPr>
          <p:cNvPr id="27" name="Text 24"/>
          <p:cNvSpPr txBox="1"/>
          <p:nvPr/>
        </p:nvSpPr>
        <p:spPr>
          <a:xfrm>
            <a:off x="475488" y="56418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7</a:t>
            </a:r>
            <a:endParaRPr lang="en-US" sz="1800" dirty="0"/>
          </a:p>
        </p:txBody>
      </p:sp>
      <p:sp>
        <p:nvSpPr>
          <p:cNvPr id="28" name="Text 25"/>
          <p:cNvSpPr txBox="1"/>
          <p:nvPr/>
        </p:nvSpPr>
        <p:spPr>
          <a:xfrm>
            <a:off x="1051560" y="5532120"/>
            <a:ext cx="6995160" cy="6035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構成図と手順書を作り、同じ環境を再現する</a:t>
            </a:r>
            <a:endParaRPr lang="en-US" sz="1800" dirty="0"/>
          </a:p>
        </p:txBody>
      </p:sp>
      <p:sp>
        <p:nvSpPr>
          <p:cNvPr id="29" name="Shape 26"/>
          <p:cNvSpPr/>
          <p:nvPr/>
        </p:nvSpPr>
        <p:spPr>
          <a:xfrm>
            <a:off x="8321040" y="1691640"/>
            <a:ext cx="3410712" cy="2194560"/>
          </a:xfrm>
          <a:prstGeom prst="roundRect">
            <a:avLst>
              <a:gd name="adj" fmla="val 5000"/>
            </a:avLst>
          </a:prstGeom>
          <a:solidFill>
            <a:srgbClr val="FBE3E0"/>
          </a:solidFill>
          <a:ln w="19050">
            <a:solidFill>
              <a:srgbClr val="C0392B"/>
            </a:solidFill>
            <a:prstDash val="solid"/>
          </a:ln>
        </p:spPr>
      </p:sp>
      <p:sp>
        <p:nvSpPr>
          <p:cNvPr id="30" name="Shape 27"/>
          <p:cNvSpPr/>
          <p:nvPr/>
        </p:nvSpPr>
        <p:spPr>
          <a:xfrm>
            <a:off x="8458200" y="2560320"/>
            <a:ext cx="457200" cy="457200"/>
          </a:xfrm>
          <a:prstGeom prst="ellipse">
            <a:avLst/>
          </a:prstGeom>
          <a:solidFill>
            <a:srgbClr val="C0392B"/>
          </a:solidFill>
          <a:ln/>
        </p:spPr>
      </p:sp>
      <p:pic>
        <p:nvPicPr>
          <p:cNvPr id="31" name="Image 0" descr="preencoded.png">    </p:cNvPr>
          <p:cNvPicPr>
            <a:picLocks noChangeAspect="1"/>
          </p:cNvPicPr>
          <p:nvPr/>
        </p:nvPicPr>
        <p:blipFill>
          <a:blip r:embed="rId1"/>
          <a:stretch>
            <a:fillRect/>
          </a:stretch>
        </p:blipFill>
        <p:spPr>
          <a:xfrm>
            <a:off x="8558784" y="2660904"/>
            <a:ext cx="256032" cy="256032"/>
          </a:xfrm>
          <a:prstGeom prst="rect">
            <a:avLst/>
          </a:prstGeom>
        </p:spPr>
      </p:pic>
      <p:sp>
        <p:nvSpPr>
          <p:cNvPr id="32" name="Text 28"/>
          <p:cNvSpPr txBox="1"/>
          <p:nvPr/>
        </p:nvSpPr>
        <p:spPr>
          <a:xfrm>
            <a:off x="9052560" y="1737360"/>
            <a:ext cx="2542032" cy="21031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WSLとVMはネットワークの仕組みが違う。別端末からの到達性を同じと考えない</a:t>
            </a:r>
            <a:endParaRPr lang="en-US" sz="1800" dirty="0"/>
          </a:p>
        </p:txBody>
      </p:sp>
      <p:sp>
        <p:nvSpPr>
          <p:cNvPr id="33" name="Shape 29"/>
          <p:cNvSpPr/>
          <p:nvPr/>
        </p:nvSpPr>
        <p:spPr>
          <a:xfrm>
            <a:off x="8321040" y="4023360"/>
            <a:ext cx="3410712" cy="2240280"/>
          </a:xfrm>
          <a:prstGeom prst="roundRect">
            <a:avLst>
              <a:gd name="adj" fmla="val 4898"/>
            </a:avLst>
          </a:prstGeom>
          <a:solidFill>
            <a:srgbClr val="FBE3E0"/>
          </a:solidFill>
          <a:ln w="19050">
            <a:solidFill>
              <a:srgbClr val="C0392B"/>
            </a:solidFill>
            <a:prstDash val="solid"/>
          </a:ln>
        </p:spPr>
      </p:sp>
      <p:sp>
        <p:nvSpPr>
          <p:cNvPr id="34" name="Shape 30"/>
          <p:cNvSpPr/>
          <p:nvPr/>
        </p:nvSpPr>
        <p:spPr>
          <a:xfrm>
            <a:off x="8458200" y="4914900"/>
            <a:ext cx="457200" cy="457200"/>
          </a:xfrm>
          <a:prstGeom prst="ellipse">
            <a:avLst/>
          </a:prstGeom>
          <a:solidFill>
            <a:srgbClr val="C0392B"/>
          </a:solidFill>
          <a:ln/>
        </p:spPr>
      </p:sp>
      <p:pic>
        <p:nvPicPr>
          <p:cNvPr id="35" name="Image 1" descr="preencoded.png">    </p:cNvPr>
          <p:cNvPicPr>
            <a:picLocks noChangeAspect="1"/>
          </p:cNvPicPr>
          <p:nvPr/>
        </p:nvPicPr>
        <p:blipFill>
          <a:blip r:embed="rId2"/>
          <a:stretch>
            <a:fillRect/>
          </a:stretch>
        </p:blipFill>
        <p:spPr>
          <a:xfrm>
            <a:off x="8558784" y="5015484"/>
            <a:ext cx="256032" cy="256032"/>
          </a:xfrm>
          <a:prstGeom prst="rect">
            <a:avLst/>
          </a:prstGeom>
        </p:spPr>
      </p:pic>
      <p:sp>
        <p:nvSpPr>
          <p:cNvPr id="36" name="Text 31"/>
          <p:cNvSpPr txBox="1"/>
          <p:nvPr/>
        </p:nvSpPr>
        <p:spPr>
          <a:xfrm>
            <a:off x="9052560" y="4069080"/>
            <a:ext cx="2542032" cy="21488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本番や他人の環境は変更しない。自分で管理する環境だけで行う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準備と学習計画</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668207"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最初はLinuxのシェルとPython。他は必要に応じて</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最初に学ぶ言語は、Linuxのシェルと Python です。PowerShell（Windows系）やSQL（データベース）は、担当に合わせて追加します。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出典：[N19]</a:t>
            </a:r>
            <a:endParaRPr lang="ja-JP" sz="12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03120"/>
                <a:gridCol w="2468880"/>
                <a:gridCol w="3108960"/>
                <a:gridCol w="35935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名前</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分類</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使い道</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最初の目標</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7724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Bash／シェル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コマンド処理・スクリプト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Linuxの操作・自動実行</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変数・条件分岐・繰り返し・終了コード</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PowerShell</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シェル・スクリプト言語</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Windows・Microsoft系の管理</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オブジェクト・パイプライン・一覧出力</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7724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Python</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プログラミング言語</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API・ログ解析・構成情報の取得</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関数・ファイル・CSV・JSON・HTTP</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SQL</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データ問い合わせ言語</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データベースの確認・集計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SELECT・WHERE・JOIN・集計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5440680"/>
            <a:ext cx="11274552" cy="868680"/>
          </a:xfrm>
          <a:prstGeom prst="roundRect">
            <a:avLst>
              <a:gd name="adj" fmla="val 12632"/>
            </a:avLst>
          </a:prstGeom>
          <a:solidFill>
            <a:srgbClr val="DCE8F8"/>
          </a:solidFill>
          <a:ln w="19050">
            <a:solidFill>
              <a:srgbClr val="2F6BC2"/>
            </a:solidFill>
            <a:prstDash val="solid"/>
          </a:ln>
        </p:spPr>
      </p:sp>
      <p:sp>
        <p:nvSpPr>
          <p:cNvPr id="11" name="Shape 7"/>
          <p:cNvSpPr/>
          <p:nvPr/>
        </p:nvSpPr>
        <p:spPr>
          <a:xfrm>
            <a:off x="594360" y="5646420"/>
            <a:ext cx="457200" cy="457200"/>
          </a:xfrm>
          <a:prstGeom prst="ellipse">
            <a:avLst/>
          </a:prstGeom>
          <a:solidFill>
            <a:srgbClr val="2F6BC2"/>
          </a:solidFill>
          <a:ln/>
        </p:spPr>
      </p:sp>
      <p:pic>
        <p:nvPicPr>
          <p:cNvPr id="12" name="Image 0" descr="preencoded.png">    </p:cNvPr>
          <p:cNvPicPr>
            <a:picLocks noChangeAspect="1"/>
          </p:cNvPicPr>
          <p:nvPr/>
        </p:nvPicPr>
        <p:blipFill>
          <a:blip r:embed="rId1"/>
          <a:stretch>
            <a:fillRect/>
          </a:stretch>
        </p:blipFill>
        <p:spPr>
          <a:xfrm>
            <a:off x="694944" y="5747004"/>
            <a:ext cx="256032" cy="256032"/>
          </a:xfrm>
          <a:prstGeom prst="rect">
            <a:avLst/>
          </a:prstGeom>
        </p:spPr>
      </p:pic>
      <p:sp>
        <p:nvSpPr>
          <p:cNvPr id="13" name="Text 8"/>
          <p:cNvSpPr txBox="1"/>
          <p:nvPr/>
        </p:nvSpPr>
        <p:spPr>
          <a:xfrm>
            <a:off x="1188720" y="5486400"/>
            <a:ext cx="10405872" cy="7772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HPEの例：PythonからRedfish APIでサーバーの状態を取得。HTTPは通信の約束、RESTはAPIの設計の考え方、JSONはデータ形式[N19]</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準備と学習計画</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490407"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YAML・Terraformなどは「プログラミング言語」と別物</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YAML・JSON・Terraform・Ansibleは、プログラミング言語とは分類が違います。「形式」「ツール」「言語」を区別して学びます。</a:t>
            </a:r>
            <a:endParaRPr lang="en-US" sz="18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3108960"/>
                <a:gridCol w="2377440"/>
                <a:gridCol w="3017520"/>
                <a:gridCol w="27706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名前</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分類</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使い道</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最初の目標</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79704">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YAML／JSON</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記述形式</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APIデータ・構成設定</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構造・型・インデント・妥当性</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9704">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HCL／Terraform</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宣言の記述とツール</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クラウド等の資源をコードで管理</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計画と反映・差分・状態管理</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79704">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Ansible Playbook</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自動化ツールの記述</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OSやソフトの設定を繰り返す</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対象・変数・同じ設定にそろえる</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970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Go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プログラミング言語</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基盤用ツール・クラウド関連</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担当になってから学ぶ候補</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JavaScript／TypeScript</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プログラミング言語</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Webや業務ツールのUI</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アプリ側との境界を理解</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5852160"/>
            <a:ext cx="11274552" cy="457200"/>
          </a:xfrm>
          <a:prstGeom prst="roundRect">
            <a:avLst>
              <a:gd name="adj" fmla="val 24000"/>
            </a:avLst>
          </a:prstGeom>
          <a:solidFill>
            <a:srgbClr val="DCE8F8"/>
          </a:solidFill>
          <a:ln w="19050">
            <a:solidFill>
              <a:srgbClr val="2F6BC2"/>
            </a:solidFill>
            <a:prstDash val="solid"/>
          </a:ln>
        </p:spPr>
      </p:sp>
      <p:sp>
        <p:nvSpPr>
          <p:cNvPr id="10" name="Shape 6"/>
          <p:cNvSpPr/>
          <p:nvPr/>
        </p:nvSpPr>
        <p:spPr>
          <a:xfrm>
            <a:off x="594360" y="5943600"/>
            <a:ext cx="274320" cy="274320"/>
          </a:xfrm>
          <a:prstGeom prst="ellipse">
            <a:avLst/>
          </a:prstGeom>
          <a:solidFill>
            <a:srgbClr val="2F6BC2"/>
          </a:solidFill>
          <a:ln/>
        </p:spPr>
      </p:sp>
      <p:pic>
        <p:nvPicPr>
          <p:cNvPr id="11" name="Image 0" descr="preencoded.png">    </p:cNvPr>
          <p:cNvPicPr>
            <a:picLocks noChangeAspect="1"/>
          </p:cNvPicPr>
          <p:nvPr/>
        </p:nvPicPr>
        <p:blipFill>
          <a:blip r:embed="rId1"/>
          <a:stretch>
            <a:fillRect/>
          </a:stretch>
        </p:blipFill>
        <p:spPr>
          <a:xfrm>
            <a:off x="654710" y="6003950"/>
            <a:ext cx="153619" cy="153619"/>
          </a:xfrm>
          <a:prstGeom prst="rect">
            <a:avLst/>
          </a:prstGeom>
        </p:spPr>
      </p:pic>
      <p:sp>
        <p:nvSpPr>
          <p:cNvPr id="12" name="Text 7"/>
          <p:cNvSpPr txBox="1"/>
          <p:nvPr/>
        </p:nvSpPr>
        <p:spPr>
          <a:xfrm>
            <a:off x="1005840" y="5897880"/>
            <a:ext cx="10588752" cy="3657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橙は形式・ツール、紫は言語。最初はシェルとPython</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準備と学習計画</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入社前から2年目まで、段階ごとに説明できる範囲を広げる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入社前→半年→1年→2年目と、技術・実務・残すものの3つの面で、段階的に「説明できる範囲」を広げる目安です。HPEの評価基準ではありません。</a:t>
            </a:r>
            <a:endParaRPr lang="en-US" sz="1800" dirty="0"/>
          </a:p>
        </p:txBody>
      </p:sp>
      <p:sp>
        <p:nvSpPr>
          <p:cNvPr id="7" name="Shape 4"/>
          <p:cNvSpPr/>
          <p:nvPr/>
        </p:nvSpPr>
        <p:spPr>
          <a:xfrm>
            <a:off x="457200" y="1691640"/>
            <a:ext cx="2697480" cy="502920"/>
          </a:xfrm>
          <a:prstGeom prst="roundRect">
            <a:avLst>
              <a:gd name="adj" fmla="val 18182"/>
            </a:avLst>
          </a:prstGeom>
          <a:solidFill>
            <a:srgbClr val="16324F"/>
          </a:solidFill>
          <a:ln/>
        </p:spPr>
      </p:sp>
      <p:sp>
        <p:nvSpPr>
          <p:cNvPr id="8" name="Text 5"/>
          <p:cNvSpPr txBox="1"/>
          <p:nvPr/>
        </p:nvSpPr>
        <p:spPr>
          <a:xfrm>
            <a:off x="548640" y="1691640"/>
            <a:ext cx="2514600"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入社前</a:t>
            </a:r>
            <a:endParaRPr lang="en-US" sz="2000" dirty="0"/>
          </a:p>
        </p:txBody>
      </p:sp>
      <p:sp>
        <p:nvSpPr>
          <p:cNvPr id="9" name="Shape 6"/>
          <p:cNvSpPr/>
          <p:nvPr/>
        </p:nvSpPr>
        <p:spPr>
          <a:xfrm>
            <a:off x="3154680" y="1943100"/>
            <a:ext cx="173736" cy="0"/>
          </a:xfrm>
          <a:prstGeom prst="line">
            <a:avLst/>
          </a:prstGeom>
          <a:noFill/>
          <a:ln w="38100">
            <a:solidFill>
              <a:srgbClr val="1B2A3A"/>
            </a:solidFill>
            <a:prstDash val="solid"/>
            <a:tailEnd type="triangle"/>
          </a:ln>
        </p:spPr>
      </p:sp>
      <p:sp>
        <p:nvSpPr>
          <p:cNvPr id="10" name="Shape 7"/>
          <p:cNvSpPr/>
          <p:nvPr/>
        </p:nvSpPr>
        <p:spPr>
          <a:xfrm>
            <a:off x="457200" y="2286000"/>
            <a:ext cx="2697480" cy="3520440"/>
          </a:xfrm>
          <a:prstGeom prst="roundRect">
            <a:avLst>
              <a:gd name="adj" fmla="val 4068"/>
            </a:avLst>
          </a:prstGeom>
          <a:solidFill>
            <a:srgbClr val="F1F5F9"/>
          </a:solidFill>
          <a:ln/>
        </p:spPr>
      </p:sp>
      <p:sp>
        <p:nvSpPr>
          <p:cNvPr id="11" name="Text 8"/>
          <p:cNvSpPr txBox="1"/>
          <p:nvPr/>
        </p:nvSpPr>
        <p:spPr>
          <a:xfrm>
            <a:off x="594360" y="2395728"/>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技術</a:t>
            </a:r>
            <a:endParaRPr lang="en-US" sz="1800" dirty="0"/>
          </a:p>
        </p:txBody>
      </p:sp>
      <p:sp>
        <p:nvSpPr>
          <p:cNvPr id="12" name="Text 9"/>
          <p:cNvSpPr txBox="1"/>
          <p:nvPr/>
        </p:nvSpPr>
        <p:spPr>
          <a:xfrm>
            <a:off x="594360" y="2724912"/>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IP・DNS・TCP</a:t>
            </a:r>
            <a:endParaRPr lang="en-US" sz="1800" dirty="0"/>
          </a:p>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Linux・Python</a:t>
            </a:r>
            <a:endParaRPr lang="en-US" sz="1800" dirty="0"/>
          </a:p>
        </p:txBody>
      </p:sp>
      <p:sp>
        <p:nvSpPr>
          <p:cNvPr id="13" name="Text 10"/>
          <p:cNvSpPr txBox="1"/>
          <p:nvPr/>
        </p:nvSpPr>
        <p:spPr>
          <a:xfrm>
            <a:off x="594360" y="3511296"/>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実務</a:t>
            </a:r>
            <a:endParaRPr lang="en-US" sz="1800" dirty="0"/>
          </a:p>
        </p:txBody>
      </p:sp>
      <p:sp>
        <p:nvSpPr>
          <p:cNvPr id="14" name="Text 11"/>
          <p:cNvSpPr txBox="1"/>
          <p:nvPr/>
        </p:nvSpPr>
        <p:spPr>
          <a:xfrm>
            <a:off x="594360" y="3840480"/>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学んだことを説明できる</a:t>
            </a:r>
            <a:endParaRPr lang="en-US" sz="1800" dirty="0"/>
          </a:p>
        </p:txBody>
      </p:sp>
      <p:sp>
        <p:nvSpPr>
          <p:cNvPr id="15" name="Text 12"/>
          <p:cNvSpPr txBox="1"/>
          <p:nvPr/>
        </p:nvSpPr>
        <p:spPr>
          <a:xfrm>
            <a:off x="594360" y="4626864"/>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残す</a:t>
            </a:r>
            <a:endParaRPr lang="en-US" sz="1800" dirty="0"/>
          </a:p>
        </p:txBody>
      </p:sp>
      <p:sp>
        <p:nvSpPr>
          <p:cNvPr id="16" name="Text 13"/>
          <p:cNvSpPr txBox="1"/>
          <p:nvPr/>
        </p:nvSpPr>
        <p:spPr>
          <a:xfrm>
            <a:off x="594360" y="4956048"/>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実習メモ・構成図・Git履歴</a:t>
            </a:r>
            <a:endParaRPr lang="en-US" sz="1800" dirty="0"/>
          </a:p>
        </p:txBody>
      </p:sp>
      <p:sp>
        <p:nvSpPr>
          <p:cNvPr id="17" name="Shape 14"/>
          <p:cNvSpPr/>
          <p:nvPr/>
        </p:nvSpPr>
        <p:spPr>
          <a:xfrm>
            <a:off x="3328416" y="1691640"/>
            <a:ext cx="2697480" cy="502920"/>
          </a:xfrm>
          <a:prstGeom prst="roundRect">
            <a:avLst>
              <a:gd name="adj" fmla="val 18182"/>
            </a:avLst>
          </a:prstGeom>
          <a:solidFill>
            <a:srgbClr val="2F6BC2"/>
          </a:solidFill>
          <a:ln/>
        </p:spPr>
      </p:sp>
      <p:sp>
        <p:nvSpPr>
          <p:cNvPr id="18" name="Text 15"/>
          <p:cNvSpPr txBox="1"/>
          <p:nvPr/>
        </p:nvSpPr>
        <p:spPr>
          <a:xfrm>
            <a:off x="3419856" y="1691640"/>
            <a:ext cx="2514600"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入社後〜半年</a:t>
            </a:r>
            <a:endParaRPr lang="en-US" sz="2000" dirty="0"/>
          </a:p>
        </p:txBody>
      </p:sp>
      <p:sp>
        <p:nvSpPr>
          <p:cNvPr id="19" name="Shape 16"/>
          <p:cNvSpPr/>
          <p:nvPr/>
        </p:nvSpPr>
        <p:spPr>
          <a:xfrm>
            <a:off x="6025896" y="1943100"/>
            <a:ext cx="173736" cy="0"/>
          </a:xfrm>
          <a:prstGeom prst="line">
            <a:avLst/>
          </a:prstGeom>
          <a:noFill/>
          <a:ln w="38100">
            <a:solidFill>
              <a:srgbClr val="1B2A3A"/>
            </a:solidFill>
            <a:prstDash val="solid"/>
            <a:tailEnd type="triangle"/>
          </a:ln>
        </p:spPr>
      </p:sp>
      <p:sp>
        <p:nvSpPr>
          <p:cNvPr id="20" name="Shape 17"/>
          <p:cNvSpPr/>
          <p:nvPr/>
        </p:nvSpPr>
        <p:spPr>
          <a:xfrm>
            <a:off x="3328416" y="2286000"/>
            <a:ext cx="2697480" cy="3520440"/>
          </a:xfrm>
          <a:prstGeom prst="roundRect">
            <a:avLst>
              <a:gd name="adj" fmla="val 4068"/>
            </a:avLst>
          </a:prstGeom>
          <a:solidFill>
            <a:srgbClr val="F1F5F9"/>
          </a:solidFill>
          <a:ln/>
        </p:spPr>
      </p:sp>
      <p:sp>
        <p:nvSpPr>
          <p:cNvPr id="21" name="Text 18"/>
          <p:cNvSpPr txBox="1"/>
          <p:nvPr/>
        </p:nvSpPr>
        <p:spPr>
          <a:xfrm>
            <a:off x="3465576" y="2395728"/>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技術</a:t>
            </a:r>
            <a:endParaRPr lang="en-US" sz="1800" dirty="0"/>
          </a:p>
        </p:txBody>
      </p:sp>
      <p:sp>
        <p:nvSpPr>
          <p:cNvPr id="22" name="Text 19"/>
          <p:cNvSpPr txBox="1"/>
          <p:nvPr/>
        </p:nvSpPr>
        <p:spPr>
          <a:xfrm>
            <a:off x="3465576" y="2724912"/>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担当製品・基本設定・ログ</a:t>
            </a:r>
            <a:endParaRPr lang="en-US" sz="1800" dirty="0"/>
          </a:p>
        </p:txBody>
      </p:sp>
      <p:sp>
        <p:nvSpPr>
          <p:cNvPr id="23" name="Text 20"/>
          <p:cNvSpPr txBox="1"/>
          <p:nvPr/>
        </p:nvSpPr>
        <p:spPr>
          <a:xfrm>
            <a:off x="3465576" y="3511296"/>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実務</a:t>
            </a:r>
            <a:endParaRPr lang="en-US" sz="1800" dirty="0"/>
          </a:p>
        </p:txBody>
      </p:sp>
      <p:sp>
        <p:nvSpPr>
          <p:cNvPr id="24" name="Text 21"/>
          <p:cNvSpPr txBox="1"/>
          <p:nvPr/>
        </p:nvSpPr>
        <p:spPr>
          <a:xfrm>
            <a:off x="3465576" y="3840480"/>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手順を理解し不明点を伝える</a:t>
            </a:r>
            <a:endParaRPr lang="en-US" sz="1800" dirty="0"/>
          </a:p>
        </p:txBody>
      </p:sp>
      <p:sp>
        <p:nvSpPr>
          <p:cNvPr id="25" name="Text 22"/>
          <p:cNvSpPr txBox="1"/>
          <p:nvPr/>
        </p:nvSpPr>
        <p:spPr>
          <a:xfrm>
            <a:off x="3465576" y="4626864"/>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残す</a:t>
            </a:r>
            <a:endParaRPr lang="en-US" sz="1800" dirty="0"/>
          </a:p>
        </p:txBody>
      </p:sp>
      <p:sp>
        <p:nvSpPr>
          <p:cNvPr id="26" name="Text 23"/>
          <p:cNvSpPr txBox="1"/>
          <p:nvPr/>
        </p:nvSpPr>
        <p:spPr>
          <a:xfrm>
            <a:off x="3465576" y="4956048"/>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手順・確認結果・議事メモ</a:t>
            </a:r>
            <a:endParaRPr lang="en-US" sz="1800" dirty="0"/>
          </a:p>
        </p:txBody>
      </p:sp>
      <p:sp>
        <p:nvSpPr>
          <p:cNvPr id="27" name="Shape 24"/>
          <p:cNvSpPr/>
          <p:nvPr/>
        </p:nvSpPr>
        <p:spPr>
          <a:xfrm>
            <a:off x="6199632" y="1691640"/>
            <a:ext cx="2697480" cy="502920"/>
          </a:xfrm>
          <a:prstGeom prst="roundRect">
            <a:avLst>
              <a:gd name="adj" fmla="val 18182"/>
            </a:avLst>
          </a:prstGeom>
          <a:solidFill>
            <a:srgbClr val="5B46B8"/>
          </a:solidFill>
          <a:ln/>
        </p:spPr>
      </p:sp>
      <p:sp>
        <p:nvSpPr>
          <p:cNvPr id="28" name="Text 25"/>
          <p:cNvSpPr txBox="1"/>
          <p:nvPr/>
        </p:nvSpPr>
        <p:spPr>
          <a:xfrm>
            <a:off x="6291072" y="1691640"/>
            <a:ext cx="2514600"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半年〜1年</a:t>
            </a:r>
            <a:endParaRPr lang="en-US" sz="2000" dirty="0"/>
          </a:p>
        </p:txBody>
      </p:sp>
      <p:sp>
        <p:nvSpPr>
          <p:cNvPr id="29" name="Shape 26"/>
          <p:cNvSpPr/>
          <p:nvPr/>
        </p:nvSpPr>
        <p:spPr>
          <a:xfrm>
            <a:off x="8897112" y="1943100"/>
            <a:ext cx="173736" cy="0"/>
          </a:xfrm>
          <a:prstGeom prst="line">
            <a:avLst/>
          </a:prstGeom>
          <a:noFill/>
          <a:ln w="38100">
            <a:solidFill>
              <a:srgbClr val="1B2A3A"/>
            </a:solidFill>
            <a:prstDash val="solid"/>
            <a:tailEnd type="triangle"/>
          </a:ln>
        </p:spPr>
      </p:sp>
      <p:sp>
        <p:nvSpPr>
          <p:cNvPr id="30" name="Shape 27"/>
          <p:cNvSpPr/>
          <p:nvPr/>
        </p:nvSpPr>
        <p:spPr>
          <a:xfrm>
            <a:off x="6199632" y="2286000"/>
            <a:ext cx="2697480" cy="3520440"/>
          </a:xfrm>
          <a:prstGeom prst="roundRect">
            <a:avLst>
              <a:gd name="adj" fmla="val 4068"/>
            </a:avLst>
          </a:prstGeom>
          <a:solidFill>
            <a:srgbClr val="F1F5F9"/>
          </a:solidFill>
          <a:ln/>
        </p:spPr>
      </p:sp>
      <p:sp>
        <p:nvSpPr>
          <p:cNvPr id="31" name="Text 28"/>
          <p:cNvSpPr txBox="1"/>
          <p:nvPr/>
        </p:nvSpPr>
        <p:spPr>
          <a:xfrm>
            <a:off x="6336792" y="2395728"/>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技術</a:t>
            </a:r>
            <a:endParaRPr lang="en-US" sz="1800" dirty="0"/>
          </a:p>
        </p:txBody>
      </p:sp>
      <p:sp>
        <p:nvSpPr>
          <p:cNvPr id="32" name="Text 29"/>
          <p:cNvSpPr txBox="1"/>
          <p:nvPr/>
        </p:nvSpPr>
        <p:spPr>
          <a:xfrm>
            <a:off x="6336792" y="2724912"/>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検証・試験・障害切り分け</a:t>
            </a:r>
            <a:endParaRPr lang="en-US" sz="1800" dirty="0"/>
          </a:p>
        </p:txBody>
      </p:sp>
      <p:sp>
        <p:nvSpPr>
          <p:cNvPr id="33" name="Text 30"/>
          <p:cNvSpPr txBox="1"/>
          <p:nvPr/>
        </p:nvSpPr>
        <p:spPr>
          <a:xfrm>
            <a:off x="6336792" y="3511296"/>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実務</a:t>
            </a:r>
            <a:endParaRPr lang="en-US" sz="1800" dirty="0"/>
          </a:p>
        </p:txBody>
      </p:sp>
      <p:sp>
        <p:nvSpPr>
          <p:cNvPr id="34" name="Text 31"/>
          <p:cNvSpPr txBox="1"/>
          <p:nvPr/>
        </p:nvSpPr>
        <p:spPr>
          <a:xfrm>
            <a:off x="6336792" y="3840480"/>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小さな範囲をレビュー付きで担当</a:t>
            </a:r>
            <a:endParaRPr lang="en-US" sz="1800" dirty="0"/>
          </a:p>
        </p:txBody>
      </p:sp>
      <p:sp>
        <p:nvSpPr>
          <p:cNvPr id="35" name="Text 32"/>
          <p:cNvSpPr txBox="1"/>
          <p:nvPr/>
        </p:nvSpPr>
        <p:spPr>
          <a:xfrm>
            <a:off x="6336792" y="4626864"/>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残す</a:t>
            </a:r>
            <a:endParaRPr lang="en-US" sz="1800" dirty="0"/>
          </a:p>
        </p:txBody>
      </p:sp>
      <p:sp>
        <p:nvSpPr>
          <p:cNvPr id="36" name="Text 33"/>
          <p:cNvSpPr txBox="1"/>
          <p:nvPr/>
        </p:nvSpPr>
        <p:spPr>
          <a:xfrm>
            <a:off x="6336792" y="4956048"/>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設計の一部・試験結果・課題一覧</a:t>
            </a:r>
            <a:endParaRPr lang="en-US" sz="1800" dirty="0"/>
          </a:p>
        </p:txBody>
      </p:sp>
      <p:sp>
        <p:nvSpPr>
          <p:cNvPr id="37" name="Shape 34"/>
          <p:cNvSpPr/>
          <p:nvPr/>
        </p:nvSpPr>
        <p:spPr>
          <a:xfrm>
            <a:off x="9070848" y="1691640"/>
            <a:ext cx="2697480" cy="502920"/>
          </a:xfrm>
          <a:prstGeom prst="roundRect">
            <a:avLst>
              <a:gd name="adj" fmla="val 18182"/>
            </a:avLst>
          </a:prstGeom>
          <a:solidFill>
            <a:srgbClr val="237A48"/>
          </a:solidFill>
          <a:ln/>
        </p:spPr>
      </p:sp>
      <p:sp>
        <p:nvSpPr>
          <p:cNvPr id="38" name="Text 35"/>
          <p:cNvSpPr txBox="1"/>
          <p:nvPr/>
        </p:nvSpPr>
        <p:spPr>
          <a:xfrm>
            <a:off x="9162288" y="1691640"/>
            <a:ext cx="2514600"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2年目</a:t>
            </a:r>
            <a:endParaRPr lang="en-US" sz="2000" dirty="0"/>
          </a:p>
        </p:txBody>
      </p:sp>
      <p:sp>
        <p:nvSpPr>
          <p:cNvPr id="39" name="Shape 36"/>
          <p:cNvSpPr/>
          <p:nvPr/>
        </p:nvSpPr>
        <p:spPr>
          <a:xfrm>
            <a:off x="9070848" y="2286000"/>
            <a:ext cx="2697480" cy="3520440"/>
          </a:xfrm>
          <a:prstGeom prst="roundRect">
            <a:avLst>
              <a:gd name="adj" fmla="val 4068"/>
            </a:avLst>
          </a:prstGeom>
          <a:solidFill>
            <a:srgbClr val="F1F5F9"/>
          </a:solidFill>
          <a:ln/>
        </p:spPr>
      </p:sp>
      <p:sp>
        <p:nvSpPr>
          <p:cNvPr id="40" name="Text 37"/>
          <p:cNvSpPr txBox="1"/>
          <p:nvPr/>
        </p:nvSpPr>
        <p:spPr>
          <a:xfrm>
            <a:off x="9208008" y="2395728"/>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技術</a:t>
            </a:r>
            <a:endParaRPr lang="en-US" sz="1800" dirty="0"/>
          </a:p>
        </p:txBody>
      </p:sp>
      <p:sp>
        <p:nvSpPr>
          <p:cNvPr id="41" name="Text 38"/>
          <p:cNvSpPr txBox="1"/>
          <p:nvPr/>
        </p:nvSpPr>
        <p:spPr>
          <a:xfrm>
            <a:off x="9208008" y="2724912"/>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小規模な設計・構築・自動化</a:t>
            </a:r>
            <a:endParaRPr lang="en-US" sz="1800" dirty="0"/>
          </a:p>
        </p:txBody>
      </p:sp>
      <p:sp>
        <p:nvSpPr>
          <p:cNvPr id="42" name="Text 39"/>
          <p:cNvSpPr txBox="1"/>
          <p:nvPr/>
        </p:nvSpPr>
        <p:spPr>
          <a:xfrm>
            <a:off x="9208008" y="3511296"/>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実務</a:t>
            </a:r>
            <a:endParaRPr lang="en-US" sz="1800" dirty="0"/>
          </a:p>
        </p:txBody>
      </p:sp>
      <p:sp>
        <p:nvSpPr>
          <p:cNvPr id="43" name="Text 40"/>
          <p:cNvSpPr txBox="1"/>
          <p:nvPr/>
        </p:nvSpPr>
        <p:spPr>
          <a:xfrm>
            <a:off x="9208008" y="3840480"/>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顧客説明・影響と切戻しの理解</a:t>
            </a:r>
            <a:endParaRPr lang="en-US" sz="1800" dirty="0"/>
          </a:p>
        </p:txBody>
      </p:sp>
      <p:sp>
        <p:nvSpPr>
          <p:cNvPr id="44" name="Text 41"/>
          <p:cNvSpPr txBox="1"/>
          <p:nvPr/>
        </p:nvSpPr>
        <p:spPr>
          <a:xfrm>
            <a:off x="9208008" y="4626864"/>
            <a:ext cx="237744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残す</a:t>
            </a:r>
            <a:endParaRPr lang="en-US" sz="1800" dirty="0"/>
          </a:p>
        </p:txBody>
      </p:sp>
      <p:sp>
        <p:nvSpPr>
          <p:cNvPr id="45" name="Text 42"/>
          <p:cNvSpPr txBox="1"/>
          <p:nvPr/>
        </p:nvSpPr>
        <p:spPr>
          <a:xfrm>
            <a:off x="9208008" y="4956048"/>
            <a:ext cx="2423160"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改善前後の比較・判断の根拠</a:t>
            </a:r>
            <a:endParaRPr lang="en-US" sz="1800" dirty="0"/>
          </a:p>
        </p:txBody>
      </p:sp>
      <p:sp>
        <p:nvSpPr>
          <p:cNvPr id="46" name="Shape 43"/>
          <p:cNvSpPr/>
          <p:nvPr/>
        </p:nvSpPr>
        <p:spPr>
          <a:xfrm>
            <a:off x="457200" y="5897880"/>
            <a:ext cx="11274552" cy="411480"/>
          </a:xfrm>
          <a:prstGeom prst="roundRect">
            <a:avLst>
              <a:gd name="adj" fmla="val 26667"/>
            </a:avLst>
          </a:prstGeom>
          <a:solidFill>
            <a:srgbClr val="FBE3E0"/>
          </a:solidFill>
          <a:ln w="19050">
            <a:solidFill>
              <a:srgbClr val="C0392B"/>
            </a:solidFill>
            <a:prstDash val="solid"/>
          </a:ln>
        </p:spPr>
      </p:sp>
      <p:sp>
        <p:nvSpPr>
          <p:cNvPr id="47" name="Shape 44"/>
          <p:cNvSpPr/>
          <p:nvPr/>
        </p:nvSpPr>
        <p:spPr>
          <a:xfrm>
            <a:off x="594360" y="5989320"/>
            <a:ext cx="228600" cy="228600"/>
          </a:xfrm>
          <a:prstGeom prst="ellipse">
            <a:avLst/>
          </a:prstGeom>
          <a:solidFill>
            <a:srgbClr val="C0392B"/>
          </a:solidFill>
          <a:ln/>
        </p:spPr>
      </p:sp>
      <p:pic>
        <p:nvPicPr>
          <p:cNvPr id="48" name="Image 0" descr="preencoded.png">    </p:cNvPr>
          <p:cNvPicPr>
            <a:picLocks noChangeAspect="1"/>
          </p:cNvPicPr>
          <p:nvPr/>
        </p:nvPicPr>
        <p:blipFill>
          <a:blip r:embed="rId1"/>
          <a:stretch>
            <a:fillRect/>
          </a:stretch>
        </p:blipFill>
        <p:spPr>
          <a:xfrm>
            <a:off x="644652" y="6039612"/>
            <a:ext cx="128016" cy="128016"/>
          </a:xfrm>
          <a:prstGeom prst="rect">
            <a:avLst/>
          </a:prstGeom>
        </p:spPr>
      </p:pic>
      <p:sp>
        <p:nvSpPr>
          <p:cNvPr id="49" name="Text 45"/>
          <p:cNvSpPr txBox="1"/>
          <p:nvPr/>
        </p:nvSpPr>
        <p:spPr>
          <a:xfrm>
            <a:off x="960120" y="5943600"/>
            <a:ext cx="10634472" cy="3200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成長の目安であり、HPEの評価基準ではない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36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準備と学習計画</a:t>
            </a:r>
            <a:endParaRPr lang="ja-JP" sz="1400" dirty="0"/>
          </a:p>
        </p:txBody>
      </p:sp>
      <p:sp>
        <p:nvSpPr>
          <p:cNvPr id="3" name="Text 1"/>
          <p:cNvSpPr txBox="1"/>
          <p:nvPr/>
        </p:nvSpPr>
        <p:spPr>
          <a:xfrm>
            <a:off x="10078415" y="237744"/>
            <a:ext cx="16560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公式資料で確認</a:t>
            </a:r>
            <a:endParaRPr lang="ja-JP" sz="1400" dirty="0"/>
          </a:p>
        </p:txBody>
      </p:sp>
      <p:sp>
        <p:nvSpPr>
          <p:cNvPr id="4" name="Text 2"/>
          <p:cNvSpPr txBox="1"/>
          <p:nvPr/>
        </p:nvSpPr>
        <p:spPr>
          <a:xfrm>
            <a:off x="8668207"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2年目に強くしたい5つと、英語・資格・AIの使い方</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2年目に強くしたい5つの力（構成図・原因の絞り込み・影響の説明・再現性・報告）と、資格・英語・AI利用の考え方を示します。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出典：[N23]</a:t>
            </a:r>
            <a:endParaRPr lang="ja-JP" sz="1200" dirty="0"/>
          </a:p>
        </p:txBody>
      </p:sp>
      <p:sp>
        <p:nvSpPr>
          <p:cNvPr id="9" name="Text 6"/>
          <p:cNvSpPr txBox="1"/>
          <p:nvPr/>
        </p:nvSpPr>
        <p:spPr>
          <a:xfrm>
            <a:off x="457200" y="1691640"/>
            <a:ext cx="5394960" cy="411480"/>
          </a:xfrm>
          <a:prstGeom prst="rect">
            <a:avLst/>
          </a:prstGeom>
          <a:noFill/>
          <a:ln/>
        </p:spPr>
        <p:txBody>
          <a:bodyPr wrap="square" lIns="0" tIns="0" rIns="0" bIns="0" rtlCol="0" anchor="t"/>
          <a:lstStyle/>
          <a:p>
            <a:pPr algn="l" indent="0" marL="0">
              <a:lnSpc>
                <a:spcPts val="2900"/>
              </a:lnSpc>
              <a:buNone/>
            </a:pPr>
            <a:r>
              <a:rPr lang="ja-JP" altLang="en-US" sz="2200" b="1" dirty="0">
                <a:solidFill>
                  <a:srgbClr val="16324F"/>
                </a:solidFill>
                <a:latin typeface="Yu Gothic" pitchFamily="34" charset="0"/>
                <a:ea typeface="Yu Gothic" pitchFamily="34" charset="-122"/>
                <a:cs typeface="Yu Gothic" pitchFamily="34" charset="-120"/>
              </a:rPr>
              <a:t>2年目に強くしたい5つ</a:t>
            </a:r>
            <a:endParaRPr lang="en-US" sz="2200" dirty="0"/>
          </a:p>
        </p:txBody>
      </p:sp>
      <p:sp>
        <p:nvSpPr>
          <p:cNvPr id="10" name="Shape 7"/>
          <p:cNvSpPr/>
          <p:nvPr/>
        </p:nvSpPr>
        <p:spPr>
          <a:xfrm>
            <a:off x="475488" y="2377440"/>
            <a:ext cx="420624" cy="420624"/>
          </a:xfrm>
          <a:prstGeom prst="ellipse">
            <a:avLst/>
          </a:prstGeom>
          <a:solidFill>
            <a:srgbClr val="16324F"/>
          </a:solidFill>
          <a:ln w="19050">
            <a:solidFill>
              <a:srgbClr val="FFFFFF"/>
            </a:solidFill>
            <a:prstDash val="solid"/>
          </a:ln>
        </p:spPr>
      </p:sp>
      <p:sp>
        <p:nvSpPr>
          <p:cNvPr id="11" name="Text 8"/>
          <p:cNvSpPr txBox="1"/>
          <p:nvPr/>
        </p:nvSpPr>
        <p:spPr>
          <a:xfrm>
            <a:off x="475488" y="237744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2" name="Text 9"/>
          <p:cNvSpPr txBox="1"/>
          <p:nvPr/>
        </p:nvSpPr>
        <p:spPr>
          <a:xfrm>
            <a:off x="1051560" y="2194560"/>
            <a:ext cx="4800600" cy="749808"/>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構成図を描く</a:t>
            </a:r>
            <a:endParaRPr lang="en-US" sz="2000" dirty="0"/>
          </a:p>
        </p:txBody>
      </p:sp>
      <p:sp>
        <p:nvSpPr>
          <p:cNvPr id="13" name="Shape 10"/>
          <p:cNvSpPr/>
          <p:nvPr/>
        </p:nvSpPr>
        <p:spPr>
          <a:xfrm>
            <a:off x="475488" y="3163824"/>
            <a:ext cx="420624" cy="420624"/>
          </a:xfrm>
          <a:prstGeom prst="ellipse">
            <a:avLst/>
          </a:prstGeom>
          <a:solidFill>
            <a:srgbClr val="16324F"/>
          </a:solidFill>
          <a:ln w="19050">
            <a:solidFill>
              <a:srgbClr val="FFFFFF"/>
            </a:solidFill>
            <a:prstDash val="solid"/>
          </a:ln>
        </p:spPr>
      </p:sp>
      <p:sp>
        <p:nvSpPr>
          <p:cNvPr id="14" name="Text 11"/>
          <p:cNvSpPr txBox="1"/>
          <p:nvPr/>
        </p:nvSpPr>
        <p:spPr>
          <a:xfrm>
            <a:off x="475488" y="316382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5" name="Text 12"/>
          <p:cNvSpPr txBox="1"/>
          <p:nvPr/>
        </p:nvSpPr>
        <p:spPr>
          <a:xfrm>
            <a:off x="1051560" y="2980944"/>
            <a:ext cx="4800600" cy="749808"/>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ログと事実から原因を絞る</a:t>
            </a:r>
            <a:endParaRPr lang="en-US" sz="2000" dirty="0"/>
          </a:p>
        </p:txBody>
      </p:sp>
      <p:sp>
        <p:nvSpPr>
          <p:cNvPr id="16" name="Shape 13"/>
          <p:cNvSpPr/>
          <p:nvPr/>
        </p:nvSpPr>
        <p:spPr>
          <a:xfrm>
            <a:off x="475488" y="3950208"/>
            <a:ext cx="420624" cy="420624"/>
          </a:xfrm>
          <a:prstGeom prst="ellipse">
            <a:avLst/>
          </a:prstGeom>
          <a:solidFill>
            <a:srgbClr val="16324F"/>
          </a:solidFill>
          <a:ln w="19050">
            <a:solidFill>
              <a:srgbClr val="FFFFFF"/>
            </a:solidFill>
            <a:prstDash val="solid"/>
          </a:ln>
        </p:spPr>
      </p:sp>
      <p:sp>
        <p:nvSpPr>
          <p:cNvPr id="17" name="Text 14"/>
          <p:cNvSpPr txBox="1"/>
          <p:nvPr/>
        </p:nvSpPr>
        <p:spPr>
          <a:xfrm>
            <a:off x="475488" y="395020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8" name="Text 15"/>
          <p:cNvSpPr txBox="1"/>
          <p:nvPr/>
        </p:nvSpPr>
        <p:spPr>
          <a:xfrm>
            <a:off x="1051560" y="3767328"/>
            <a:ext cx="4800600" cy="749808"/>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変更の影響と戻し方を説明する</a:t>
            </a:r>
            <a:endParaRPr lang="en-US" sz="2000" dirty="0"/>
          </a:p>
        </p:txBody>
      </p:sp>
      <p:sp>
        <p:nvSpPr>
          <p:cNvPr id="19" name="Shape 16"/>
          <p:cNvSpPr/>
          <p:nvPr/>
        </p:nvSpPr>
        <p:spPr>
          <a:xfrm>
            <a:off x="475488" y="4736592"/>
            <a:ext cx="420624" cy="420624"/>
          </a:xfrm>
          <a:prstGeom prst="ellipse">
            <a:avLst/>
          </a:prstGeom>
          <a:solidFill>
            <a:srgbClr val="16324F"/>
          </a:solidFill>
          <a:ln w="19050">
            <a:solidFill>
              <a:srgbClr val="FFFFFF"/>
            </a:solidFill>
            <a:prstDash val="solid"/>
          </a:ln>
        </p:spPr>
      </p:sp>
      <p:sp>
        <p:nvSpPr>
          <p:cNvPr id="20" name="Text 17"/>
          <p:cNvSpPr txBox="1"/>
          <p:nvPr/>
        </p:nvSpPr>
        <p:spPr>
          <a:xfrm>
            <a:off x="475488" y="473659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1" name="Text 18"/>
          <p:cNvSpPr txBox="1"/>
          <p:nvPr/>
        </p:nvSpPr>
        <p:spPr>
          <a:xfrm>
            <a:off x="1051560" y="4553712"/>
            <a:ext cx="4800600" cy="749808"/>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作業を再現可能にする</a:t>
            </a:r>
            <a:endParaRPr lang="en-US" sz="2000" dirty="0"/>
          </a:p>
        </p:txBody>
      </p:sp>
      <p:sp>
        <p:nvSpPr>
          <p:cNvPr id="22" name="Shape 19"/>
          <p:cNvSpPr/>
          <p:nvPr/>
        </p:nvSpPr>
        <p:spPr>
          <a:xfrm>
            <a:off x="475488" y="5522976"/>
            <a:ext cx="420624" cy="420624"/>
          </a:xfrm>
          <a:prstGeom prst="ellipse">
            <a:avLst/>
          </a:prstGeom>
          <a:solidFill>
            <a:srgbClr val="16324F"/>
          </a:solidFill>
          <a:ln w="19050">
            <a:solidFill>
              <a:srgbClr val="FFFFFF"/>
            </a:solidFill>
            <a:prstDash val="solid"/>
          </a:ln>
        </p:spPr>
      </p:sp>
      <p:sp>
        <p:nvSpPr>
          <p:cNvPr id="23" name="Text 20"/>
          <p:cNvSpPr txBox="1"/>
          <p:nvPr/>
        </p:nvSpPr>
        <p:spPr>
          <a:xfrm>
            <a:off x="475488" y="552297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4" name="Text 21"/>
          <p:cNvSpPr txBox="1"/>
          <p:nvPr/>
        </p:nvSpPr>
        <p:spPr>
          <a:xfrm>
            <a:off x="1051560" y="5340096"/>
            <a:ext cx="4800600" cy="749808"/>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必要な情報を短く報告する</a:t>
            </a:r>
            <a:endParaRPr lang="en-US" sz="2000" dirty="0"/>
          </a:p>
        </p:txBody>
      </p:sp>
      <p:sp>
        <p:nvSpPr>
          <p:cNvPr id="25" name="Shape 22"/>
          <p:cNvSpPr/>
          <p:nvPr/>
        </p:nvSpPr>
        <p:spPr>
          <a:xfrm>
            <a:off x="6126480" y="1691640"/>
            <a:ext cx="5605272" cy="1463040"/>
          </a:xfrm>
          <a:prstGeom prst="roundRect">
            <a:avLst>
              <a:gd name="adj" fmla="val 8750"/>
            </a:avLst>
          </a:prstGeom>
          <a:solidFill>
            <a:srgbClr val="DCE6F2"/>
          </a:solidFill>
          <a:ln/>
        </p:spPr>
      </p:sp>
      <p:sp>
        <p:nvSpPr>
          <p:cNvPr id="26" name="Shape 23"/>
          <p:cNvSpPr/>
          <p:nvPr/>
        </p:nvSpPr>
        <p:spPr>
          <a:xfrm>
            <a:off x="6291072" y="1819656"/>
            <a:ext cx="512064" cy="512064"/>
          </a:xfrm>
          <a:prstGeom prst="ellipse">
            <a:avLst/>
          </a:prstGeom>
          <a:solidFill>
            <a:srgbClr val="16324F"/>
          </a:solidFill>
          <a:ln/>
        </p:spPr>
      </p:sp>
      <p:pic>
        <p:nvPicPr>
          <p:cNvPr id="27" name="Image 0" descr="preencoded.png">    </p:cNvPr>
          <p:cNvPicPr>
            <a:picLocks noChangeAspect="1"/>
          </p:cNvPicPr>
          <p:nvPr/>
        </p:nvPicPr>
        <p:blipFill>
          <a:blip r:embed="rId1"/>
          <a:stretch>
            <a:fillRect/>
          </a:stretch>
        </p:blipFill>
        <p:spPr>
          <a:xfrm>
            <a:off x="6403726" y="1932310"/>
            <a:ext cx="286756" cy="286756"/>
          </a:xfrm>
          <a:prstGeom prst="rect">
            <a:avLst/>
          </a:prstGeom>
        </p:spPr>
      </p:pic>
      <p:sp>
        <p:nvSpPr>
          <p:cNvPr id="28" name="Text 24"/>
          <p:cNvSpPr txBox="1"/>
          <p:nvPr/>
        </p:nvSpPr>
        <p:spPr>
          <a:xfrm>
            <a:off x="6912864" y="1819656"/>
            <a:ext cx="468172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資格</a:t>
            </a:r>
            <a:endParaRPr lang="en-US" sz="2000" dirty="0"/>
          </a:p>
        </p:txBody>
      </p:sp>
      <p:sp>
        <p:nvSpPr>
          <p:cNvPr id="29" name="Text 25"/>
          <p:cNvSpPr txBox="1"/>
          <p:nvPr/>
        </p:nvSpPr>
        <p:spPr>
          <a:xfrm>
            <a:off x="6309360" y="2423160"/>
            <a:ext cx="5239512"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基礎の整理に使う。配属に合わせて選ぶ。名称・有効期間は公式で確認[N23]</a:t>
            </a:r>
            <a:endParaRPr lang="en-US" sz="1800" dirty="0"/>
          </a:p>
        </p:txBody>
      </p:sp>
      <p:sp>
        <p:nvSpPr>
          <p:cNvPr id="30" name="Shape 26"/>
          <p:cNvSpPr/>
          <p:nvPr/>
        </p:nvSpPr>
        <p:spPr>
          <a:xfrm>
            <a:off x="6126480" y="3291840"/>
            <a:ext cx="5605272" cy="1463040"/>
          </a:xfrm>
          <a:prstGeom prst="roundRect">
            <a:avLst>
              <a:gd name="adj" fmla="val 8750"/>
            </a:avLst>
          </a:prstGeom>
          <a:solidFill>
            <a:srgbClr val="DCE6F2"/>
          </a:solidFill>
          <a:ln/>
        </p:spPr>
      </p:sp>
      <p:sp>
        <p:nvSpPr>
          <p:cNvPr id="31" name="Shape 27"/>
          <p:cNvSpPr/>
          <p:nvPr/>
        </p:nvSpPr>
        <p:spPr>
          <a:xfrm>
            <a:off x="6291072" y="3419856"/>
            <a:ext cx="512064" cy="512064"/>
          </a:xfrm>
          <a:prstGeom prst="ellipse">
            <a:avLst/>
          </a:prstGeom>
          <a:solidFill>
            <a:srgbClr val="16324F"/>
          </a:solidFill>
          <a:ln/>
        </p:spPr>
      </p:sp>
      <p:pic>
        <p:nvPicPr>
          <p:cNvPr id="32" name="Image 1" descr="preencoded.png">    </p:cNvPr>
          <p:cNvPicPr>
            <a:picLocks noChangeAspect="1"/>
          </p:cNvPicPr>
          <p:nvPr/>
        </p:nvPicPr>
        <p:blipFill>
          <a:blip r:embed="rId2"/>
          <a:stretch>
            <a:fillRect/>
          </a:stretch>
        </p:blipFill>
        <p:spPr>
          <a:xfrm>
            <a:off x="6403726" y="3532510"/>
            <a:ext cx="286756" cy="286756"/>
          </a:xfrm>
          <a:prstGeom prst="rect">
            <a:avLst/>
          </a:prstGeom>
        </p:spPr>
      </p:pic>
      <p:sp>
        <p:nvSpPr>
          <p:cNvPr id="33" name="Text 28"/>
          <p:cNvSpPr txBox="1"/>
          <p:nvPr/>
        </p:nvSpPr>
        <p:spPr>
          <a:xfrm>
            <a:off x="6912864" y="3419856"/>
            <a:ext cx="468172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英語</a:t>
            </a:r>
            <a:endParaRPr lang="en-US" sz="2000" dirty="0"/>
          </a:p>
        </p:txBody>
      </p:sp>
      <p:sp>
        <p:nvSpPr>
          <p:cNvPr id="34" name="Text 29"/>
          <p:cNvSpPr txBox="1"/>
          <p:nvPr/>
        </p:nvSpPr>
        <p:spPr>
          <a:xfrm>
            <a:off x="6309360" y="4023360"/>
            <a:ext cx="5239512" cy="6400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まず、マニュアル・エラー・短いチケットを読む。事実・時刻・再現条件・影響を書く</a:t>
            </a:r>
            <a:endParaRPr lang="en-US" sz="1800" dirty="0"/>
          </a:p>
        </p:txBody>
      </p:sp>
      <p:sp>
        <p:nvSpPr>
          <p:cNvPr id="35" name="Shape 30"/>
          <p:cNvSpPr/>
          <p:nvPr/>
        </p:nvSpPr>
        <p:spPr>
          <a:xfrm>
            <a:off x="6126480" y="4892040"/>
            <a:ext cx="5605272" cy="1417320"/>
          </a:xfrm>
          <a:prstGeom prst="roundRect">
            <a:avLst>
              <a:gd name="adj" fmla="val 9032"/>
            </a:avLst>
          </a:prstGeom>
          <a:solidFill>
            <a:srgbClr val="FBE3E0"/>
          </a:solidFill>
          <a:ln/>
        </p:spPr>
      </p:sp>
      <p:sp>
        <p:nvSpPr>
          <p:cNvPr id="36" name="Shape 31"/>
          <p:cNvSpPr/>
          <p:nvPr/>
        </p:nvSpPr>
        <p:spPr>
          <a:xfrm>
            <a:off x="6291072" y="5020056"/>
            <a:ext cx="512064" cy="512064"/>
          </a:xfrm>
          <a:prstGeom prst="ellipse">
            <a:avLst/>
          </a:prstGeom>
          <a:solidFill>
            <a:srgbClr val="C0392B"/>
          </a:solidFill>
          <a:ln/>
        </p:spPr>
      </p:sp>
      <p:pic>
        <p:nvPicPr>
          <p:cNvPr id="37" name="Image 2" descr="preencoded.png">    </p:cNvPr>
          <p:cNvPicPr>
            <a:picLocks noChangeAspect="1"/>
          </p:cNvPicPr>
          <p:nvPr/>
        </p:nvPicPr>
        <p:blipFill>
          <a:blip r:embed="rId3"/>
          <a:stretch>
            <a:fillRect/>
          </a:stretch>
        </p:blipFill>
        <p:spPr>
          <a:xfrm>
            <a:off x="6403726" y="5132710"/>
            <a:ext cx="286756" cy="286756"/>
          </a:xfrm>
          <a:prstGeom prst="rect">
            <a:avLst/>
          </a:prstGeom>
        </p:spPr>
      </p:pic>
      <p:sp>
        <p:nvSpPr>
          <p:cNvPr id="38" name="Text 32"/>
          <p:cNvSpPr txBox="1"/>
          <p:nvPr/>
        </p:nvSpPr>
        <p:spPr>
          <a:xfrm>
            <a:off x="6912864" y="5020056"/>
            <a:ext cx="4681728" cy="512064"/>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C0392B"/>
                </a:solidFill>
                <a:latin typeface="Yu Gothic" pitchFamily="34" charset="0"/>
                <a:ea typeface="Yu Gothic" pitchFamily="34" charset="-122"/>
                <a:cs typeface="Yu Gothic" pitchFamily="34" charset="-120"/>
              </a:rPr>
              <a:t>AIの利用</a:t>
            </a:r>
            <a:endParaRPr lang="en-US" sz="2000" dirty="0"/>
          </a:p>
        </p:txBody>
      </p:sp>
      <p:sp>
        <p:nvSpPr>
          <p:cNvPr id="39" name="Text 33"/>
          <p:cNvSpPr txBox="1"/>
          <p:nvPr/>
        </p:nvSpPr>
        <p:spPr>
          <a:xfrm>
            <a:off x="6309360" y="5623560"/>
            <a:ext cx="5239512" cy="59436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公開・匿名化した例で。設定変更は自分で理解してレビュー。機密は認められた環境で</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用語索引①：進め方・設計・信頼性・ネットワーク・保存</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SEの会話でよく使う用語を、意味と使う場面とセットで並べた索引です。前半は、進め方・設計・信頼性・ネットワーク・保存の用語です。</a:t>
            </a:r>
            <a:endParaRPr lang="en-US" sz="1800" dirty="0"/>
          </a:p>
        </p:txBody>
      </p:sp>
      <p:sp>
        <p:nvSpPr>
          <p:cNvPr id="7" name="Shape 4"/>
          <p:cNvSpPr/>
          <p:nvPr/>
        </p:nvSpPr>
        <p:spPr>
          <a:xfrm>
            <a:off x="457200" y="1691640"/>
            <a:ext cx="5532120" cy="621792"/>
          </a:xfrm>
          <a:prstGeom prst="roundRect">
            <a:avLst>
              <a:gd name="adj" fmla="val 11765"/>
            </a:avLst>
          </a:prstGeom>
          <a:solidFill>
            <a:srgbClr val="DCE6F2"/>
          </a:solidFill>
          <a:ln/>
        </p:spPr>
      </p:sp>
      <p:sp>
        <p:nvSpPr>
          <p:cNvPr id="8" name="Text 5"/>
          <p:cNvSpPr txBox="1"/>
          <p:nvPr/>
        </p:nvSpPr>
        <p:spPr>
          <a:xfrm>
            <a:off x="566928" y="1700784"/>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要件定義</a:t>
            </a:r>
            <a:endParaRPr lang="en-US" sz="1800" dirty="0"/>
          </a:p>
        </p:txBody>
      </p:sp>
      <p:sp>
        <p:nvSpPr>
          <p:cNvPr id="9" name="Text 6"/>
          <p:cNvSpPr txBox="1"/>
          <p:nvPr/>
        </p:nvSpPr>
        <p:spPr>
          <a:xfrm>
            <a:off x="566928" y="2002536"/>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必要なこと・制約・完了条件を決める</a:t>
            </a:r>
            <a:endParaRPr lang="en-US" sz="1800" dirty="0"/>
          </a:p>
        </p:txBody>
      </p:sp>
      <p:sp>
        <p:nvSpPr>
          <p:cNvPr id="10" name="Shape 7"/>
          <p:cNvSpPr/>
          <p:nvPr/>
        </p:nvSpPr>
        <p:spPr>
          <a:xfrm>
            <a:off x="457200" y="2340864"/>
            <a:ext cx="5532120" cy="621792"/>
          </a:xfrm>
          <a:prstGeom prst="roundRect">
            <a:avLst>
              <a:gd name="adj" fmla="val 11765"/>
            </a:avLst>
          </a:prstGeom>
          <a:solidFill>
            <a:srgbClr val="DCE6F2"/>
          </a:solidFill>
          <a:ln/>
        </p:spPr>
      </p:sp>
      <p:sp>
        <p:nvSpPr>
          <p:cNvPr id="11" name="Text 8"/>
          <p:cNvSpPr txBox="1"/>
          <p:nvPr/>
        </p:nvSpPr>
        <p:spPr>
          <a:xfrm>
            <a:off x="566928" y="2350008"/>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基本設計／詳細設計</a:t>
            </a:r>
            <a:endParaRPr lang="en-US" sz="1800" dirty="0"/>
          </a:p>
        </p:txBody>
      </p:sp>
      <p:sp>
        <p:nvSpPr>
          <p:cNvPr id="12" name="Text 9"/>
          <p:cNvSpPr txBox="1"/>
          <p:nvPr/>
        </p:nvSpPr>
        <p:spPr>
          <a:xfrm>
            <a:off x="566928" y="2651760"/>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全体方式／具体的な設定を決める</a:t>
            </a:r>
            <a:endParaRPr lang="en-US" sz="1800" dirty="0"/>
          </a:p>
        </p:txBody>
      </p:sp>
      <p:sp>
        <p:nvSpPr>
          <p:cNvPr id="13" name="Shape 10"/>
          <p:cNvSpPr/>
          <p:nvPr/>
        </p:nvSpPr>
        <p:spPr>
          <a:xfrm>
            <a:off x="457200" y="2990088"/>
            <a:ext cx="5532120" cy="621792"/>
          </a:xfrm>
          <a:prstGeom prst="roundRect">
            <a:avLst>
              <a:gd name="adj" fmla="val 11765"/>
            </a:avLst>
          </a:prstGeom>
          <a:solidFill>
            <a:srgbClr val="DCE6F2"/>
          </a:solidFill>
          <a:ln/>
        </p:spPr>
      </p:sp>
      <p:sp>
        <p:nvSpPr>
          <p:cNvPr id="14" name="Text 11"/>
          <p:cNvSpPr txBox="1"/>
          <p:nvPr/>
        </p:nvSpPr>
        <p:spPr>
          <a:xfrm>
            <a:off x="566928" y="2999232"/>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PoC</a:t>
            </a:r>
            <a:endParaRPr lang="en-US" sz="1800" dirty="0"/>
          </a:p>
        </p:txBody>
      </p:sp>
      <p:sp>
        <p:nvSpPr>
          <p:cNvPr id="15" name="Text 12"/>
          <p:cNvSpPr txBox="1"/>
          <p:nvPr/>
        </p:nvSpPr>
        <p:spPr>
          <a:xfrm>
            <a:off x="566928" y="3300984"/>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実現性を小さく検証する</a:t>
            </a:r>
            <a:endParaRPr lang="en-US" sz="1800" dirty="0"/>
          </a:p>
        </p:txBody>
      </p:sp>
      <p:sp>
        <p:nvSpPr>
          <p:cNvPr id="16" name="Shape 13"/>
          <p:cNvSpPr/>
          <p:nvPr/>
        </p:nvSpPr>
        <p:spPr>
          <a:xfrm>
            <a:off x="457200" y="3639312"/>
            <a:ext cx="5532120" cy="621792"/>
          </a:xfrm>
          <a:prstGeom prst="roundRect">
            <a:avLst>
              <a:gd name="adj" fmla="val 11765"/>
            </a:avLst>
          </a:prstGeom>
          <a:solidFill>
            <a:srgbClr val="DCE6F2"/>
          </a:solidFill>
          <a:ln/>
        </p:spPr>
      </p:sp>
      <p:sp>
        <p:nvSpPr>
          <p:cNvPr id="17" name="Text 14"/>
          <p:cNvSpPr txBox="1"/>
          <p:nvPr/>
        </p:nvSpPr>
        <p:spPr>
          <a:xfrm>
            <a:off x="566928" y="3648456"/>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サイジング</a:t>
            </a:r>
            <a:endParaRPr lang="en-US" sz="1800" dirty="0"/>
          </a:p>
        </p:txBody>
      </p:sp>
      <p:sp>
        <p:nvSpPr>
          <p:cNvPr id="18" name="Text 15"/>
          <p:cNvSpPr txBox="1"/>
          <p:nvPr/>
        </p:nvSpPr>
        <p:spPr>
          <a:xfrm>
            <a:off x="566928" y="3950208"/>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必要な台数・容量・性能を見積もる</a:t>
            </a:r>
            <a:endParaRPr lang="en-US" sz="1800" dirty="0"/>
          </a:p>
        </p:txBody>
      </p:sp>
      <p:sp>
        <p:nvSpPr>
          <p:cNvPr id="19" name="Shape 16"/>
          <p:cNvSpPr/>
          <p:nvPr/>
        </p:nvSpPr>
        <p:spPr>
          <a:xfrm>
            <a:off x="457200" y="4288536"/>
            <a:ext cx="5532120" cy="621792"/>
          </a:xfrm>
          <a:prstGeom prst="roundRect">
            <a:avLst>
              <a:gd name="adj" fmla="val 11765"/>
            </a:avLst>
          </a:prstGeom>
          <a:solidFill>
            <a:srgbClr val="DDF1E4"/>
          </a:solidFill>
          <a:ln/>
        </p:spPr>
      </p:sp>
      <p:sp>
        <p:nvSpPr>
          <p:cNvPr id="20" name="Text 17"/>
          <p:cNvSpPr txBox="1"/>
          <p:nvPr/>
        </p:nvSpPr>
        <p:spPr>
          <a:xfrm>
            <a:off x="566928" y="4297680"/>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ボトルネック</a:t>
            </a:r>
            <a:endParaRPr lang="en-US" sz="1800" dirty="0"/>
          </a:p>
        </p:txBody>
      </p:sp>
      <p:sp>
        <p:nvSpPr>
          <p:cNvPr id="21" name="Text 18"/>
          <p:cNvSpPr txBox="1"/>
          <p:nvPr/>
        </p:nvSpPr>
        <p:spPr>
          <a:xfrm>
            <a:off x="566928" y="4599432"/>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全体の速さを制限する部分</a:t>
            </a:r>
            <a:endParaRPr lang="en-US" sz="1800" dirty="0"/>
          </a:p>
        </p:txBody>
      </p:sp>
      <p:sp>
        <p:nvSpPr>
          <p:cNvPr id="22" name="Shape 19"/>
          <p:cNvSpPr/>
          <p:nvPr/>
        </p:nvSpPr>
        <p:spPr>
          <a:xfrm>
            <a:off x="457200" y="4937760"/>
            <a:ext cx="5532120" cy="621792"/>
          </a:xfrm>
          <a:prstGeom prst="roundRect">
            <a:avLst>
              <a:gd name="adj" fmla="val 11765"/>
            </a:avLst>
          </a:prstGeom>
          <a:solidFill>
            <a:srgbClr val="DDF1E4"/>
          </a:solidFill>
          <a:ln/>
        </p:spPr>
      </p:sp>
      <p:sp>
        <p:nvSpPr>
          <p:cNvPr id="23" name="Text 20"/>
          <p:cNvSpPr txBox="1"/>
          <p:nvPr/>
        </p:nvSpPr>
        <p:spPr>
          <a:xfrm>
            <a:off x="566928" y="4946904"/>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可用性・HA</a:t>
            </a:r>
            <a:endParaRPr lang="en-US" sz="1800" dirty="0"/>
          </a:p>
        </p:txBody>
      </p:sp>
      <p:sp>
        <p:nvSpPr>
          <p:cNvPr id="24" name="Text 21"/>
          <p:cNvSpPr txBox="1"/>
          <p:nvPr/>
        </p:nvSpPr>
        <p:spPr>
          <a:xfrm>
            <a:off x="566928" y="5248656"/>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使える状態を維持する性質</a:t>
            </a:r>
            <a:endParaRPr lang="en-US" sz="1800" dirty="0"/>
          </a:p>
        </p:txBody>
      </p:sp>
      <p:sp>
        <p:nvSpPr>
          <p:cNvPr id="25" name="Shape 22"/>
          <p:cNvSpPr/>
          <p:nvPr/>
        </p:nvSpPr>
        <p:spPr>
          <a:xfrm>
            <a:off x="457200" y="5586984"/>
            <a:ext cx="5532120" cy="621792"/>
          </a:xfrm>
          <a:prstGeom prst="roundRect">
            <a:avLst>
              <a:gd name="adj" fmla="val 11765"/>
            </a:avLst>
          </a:prstGeom>
          <a:solidFill>
            <a:srgbClr val="DDF1E4"/>
          </a:solidFill>
          <a:ln/>
        </p:spPr>
      </p:sp>
      <p:sp>
        <p:nvSpPr>
          <p:cNvPr id="26" name="Text 23"/>
          <p:cNvSpPr txBox="1"/>
          <p:nvPr/>
        </p:nvSpPr>
        <p:spPr>
          <a:xfrm>
            <a:off x="566928" y="5596128"/>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DR</a:t>
            </a:r>
            <a:endParaRPr lang="en-US" sz="1800" dirty="0"/>
          </a:p>
        </p:txBody>
      </p:sp>
      <p:sp>
        <p:nvSpPr>
          <p:cNvPr id="27" name="Text 24"/>
          <p:cNvSpPr txBox="1"/>
          <p:nvPr/>
        </p:nvSpPr>
        <p:spPr>
          <a:xfrm>
            <a:off x="566928" y="5897880"/>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災害時などに復旧する備え</a:t>
            </a:r>
            <a:endParaRPr lang="en-US" sz="1800" dirty="0"/>
          </a:p>
        </p:txBody>
      </p:sp>
      <p:sp>
        <p:nvSpPr>
          <p:cNvPr id="28" name="Shape 25"/>
          <p:cNvSpPr/>
          <p:nvPr/>
        </p:nvSpPr>
        <p:spPr>
          <a:xfrm>
            <a:off x="6199632" y="1691640"/>
            <a:ext cx="5532120" cy="621792"/>
          </a:xfrm>
          <a:prstGeom prst="roundRect">
            <a:avLst>
              <a:gd name="adj" fmla="val 11765"/>
            </a:avLst>
          </a:prstGeom>
          <a:solidFill>
            <a:srgbClr val="DDF1E4"/>
          </a:solidFill>
          <a:ln/>
        </p:spPr>
      </p:sp>
      <p:sp>
        <p:nvSpPr>
          <p:cNvPr id="29" name="Text 26"/>
          <p:cNvSpPr txBox="1"/>
          <p:nvPr/>
        </p:nvSpPr>
        <p:spPr>
          <a:xfrm>
            <a:off x="6309360" y="1700784"/>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RTO／RPO</a:t>
            </a:r>
            <a:endParaRPr lang="en-US" sz="1800" dirty="0"/>
          </a:p>
        </p:txBody>
      </p:sp>
      <p:sp>
        <p:nvSpPr>
          <p:cNvPr id="30" name="Text 27"/>
          <p:cNvSpPr txBox="1"/>
          <p:nvPr/>
        </p:nvSpPr>
        <p:spPr>
          <a:xfrm>
            <a:off x="6309360" y="2002536"/>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復旧の許容時間／失ってよいデータ幅</a:t>
            </a:r>
            <a:endParaRPr lang="en-US" sz="1800" dirty="0"/>
          </a:p>
        </p:txBody>
      </p:sp>
      <p:sp>
        <p:nvSpPr>
          <p:cNvPr id="31" name="Shape 28"/>
          <p:cNvSpPr/>
          <p:nvPr/>
        </p:nvSpPr>
        <p:spPr>
          <a:xfrm>
            <a:off x="6199632" y="2340864"/>
            <a:ext cx="5532120" cy="621792"/>
          </a:xfrm>
          <a:prstGeom prst="roundRect">
            <a:avLst>
              <a:gd name="adj" fmla="val 11765"/>
            </a:avLst>
          </a:prstGeom>
          <a:solidFill>
            <a:srgbClr val="DDF1E4"/>
          </a:solidFill>
          <a:ln/>
        </p:spPr>
      </p:sp>
      <p:sp>
        <p:nvSpPr>
          <p:cNvPr id="32" name="Text 29"/>
          <p:cNvSpPr txBox="1"/>
          <p:nvPr/>
        </p:nvSpPr>
        <p:spPr>
          <a:xfrm>
            <a:off x="6309360" y="2350008"/>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SLA／SLO</a:t>
            </a:r>
            <a:endParaRPr lang="en-US" sz="1800" dirty="0"/>
          </a:p>
        </p:txBody>
      </p:sp>
      <p:sp>
        <p:nvSpPr>
          <p:cNvPr id="33" name="Text 30"/>
          <p:cNvSpPr txBox="1"/>
          <p:nvPr/>
        </p:nvSpPr>
        <p:spPr>
          <a:xfrm>
            <a:off x="6309360" y="2651760"/>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契約上のサービス水準／運用上の目標</a:t>
            </a:r>
            <a:endParaRPr lang="en-US" sz="1800" dirty="0"/>
          </a:p>
        </p:txBody>
      </p:sp>
      <p:sp>
        <p:nvSpPr>
          <p:cNvPr id="34" name="Shape 31"/>
          <p:cNvSpPr/>
          <p:nvPr/>
        </p:nvSpPr>
        <p:spPr>
          <a:xfrm>
            <a:off x="6199632" y="2990088"/>
            <a:ext cx="5532120" cy="621792"/>
          </a:xfrm>
          <a:prstGeom prst="roundRect">
            <a:avLst>
              <a:gd name="adj" fmla="val 11765"/>
            </a:avLst>
          </a:prstGeom>
          <a:solidFill>
            <a:srgbClr val="DCE8F8"/>
          </a:solidFill>
          <a:ln/>
        </p:spPr>
      </p:sp>
      <p:sp>
        <p:nvSpPr>
          <p:cNvPr id="35" name="Text 32"/>
          <p:cNvSpPr txBox="1"/>
          <p:nvPr/>
        </p:nvSpPr>
        <p:spPr>
          <a:xfrm>
            <a:off x="6309360" y="2999232"/>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VLAN</a:t>
            </a:r>
            <a:endParaRPr lang="en-US" sz="1800" dirty="0"/>
          </a:p>
        </p:txBody>
      </p:sp>
      <p:sp>
        <p:nvSpPr>
          <p:cNvPr id="36" name="Text 33"/>
          <p:cNvSpPr txBox="1"/>
          <p:nvPr/>
        </p:nvSpPr>
        <p:spPr>
          <a:xfrm>
            <a:off x="6309360" y="3300984"/>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LANを論理的に分ける仕組み</a:t>
            </a:r>
            <a:endParaRPr lang="en-US" sz="1800" dirty="0"/>
          </a:p>
        </p:txBody>
      </p:sp>
      <p:sp>
        <p:nvSpPr>
          <p:cNvPr id="37" name="Shape 34"/>
          <p:cNvSpPr/>
          <p:nvPr/>
        </p:nvSpPr>
        <p:spPr>
          <a:xfrm>
            <a:off x="6199632" y="3639312"/>
            <a:ext cx="5532120" cy="621792"/>
          </a:xfrm>
          <a:prstGeom prst="roundRect">
            <a:avLst>
              <a:gd name="adj" fmla="val 11765"/>
            </a:avLst>
          </a:prstGeom>
          <a:solidFill>
            <a:srgbClr val="DCE8F8"/>
          </a:solidFill>
          <a:ln/>
        </p:spPr>
      </p:sp>
      <p:sp>
        <p:nvSpPr>
          <p:cNvPr id="38" name="Text 35"/>
          <p:cNvSpPr txBox="1"/>
          <p:nvPr/>
        </p:nvSpPr>
        <p:spPr>
          <a:xfrm>
            <a:off x="6309360" y="3648456"/>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LAN／WAN</a:t>
            </a:r>
            <a:endParaRPr lang="en-US" sz="1800" dirty="0"/>
          </a:p>
        </p:txBody>
      </p:sp>
      <p:sp>
        <p:nvSpPr>
          <p:cNvPr id="39" name="Text 36"/>
          <p:cNvSpPr txBox="1"/>
          <p:nvPr/>
        </p:nvSpPr>
        <p:spPr>
          <a:xfrm>
            <a:off x="6309360" y="3950208"/>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近い範囲／広域のネットワーク</a:t>
            </a:r>
            <a:endParaRPr lang="en-US" sz="1800" dirty="0"/>
          </a:p>
        </p:txBody>
      </p:sp>
      <p:sp>
        <p:nvSpPr>
          <p:cNvPr id="40" name="Shape 37"/>
          <p:cNvSpPr/>
          <p:nvPr/>
        </p:nvSpPr>
        <p:spPr>
          <a:xfrm>
            <a:off x="6199632" y="4288536"/>
            <a:ext cx="5532120" cy="621792"/>
          </a:xfrm>
          <a:prstGeom prst="roundRect">
            <a:avLst>
              <a:gd name="adj" fmla="val 11765"/>
            </a:avLst>
          </a:prstGeom>
          <a:solidFill>
            <a:srgbClr val="DCE8F8"/>
          </a:solidFill>
          <a:ln/>
        </p:spPr>
      </p:sp>
      <p:sp>
        <p:nvSpPr>
          <p:cNvPr id="41" name="Text 38"/>
          <p:cNvSpPr txBox="1"/>
          <p:nvPr/>
        </p:nvSpPr>
        <p:spPr>
          <a:xfrm>
            <a:off x="6309360" y="4297680"/>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SAN／NAS</a:t>
            </a:r>
            <a:endParaRPr lang="en-US" sz="1800" dirty="0"/>
          </a:p>
        </p:txBody>
      </p:sp>
      <p:sp>
        <p:nvSpPr>
          <p:cNvPr id="42" name="Text 39"/>
          <p:cNvSpPr txBox="1"/>
          <p:nvPr/>
        </p:nvSpPr>
        <p:spPr>
          <a:xfrm>
            <a:off x="6309360" y="4599432"/>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保存装置用の網／ファイル提供型の保存装置</a:t>
            </a:r>
            <a:endParaRPr lang="en-US" sz="1800" dirty="0"/>
          </a:p>
        </p:txBody>
      </p:sp>
      <p:sp>
        <p:nvSpPr>
          <p:cNvPr id="43" name="Shape 40"/>
          <p:cNvSpPr/>
          <p:nvPr/>
        </p:nvSpPr>
        <p:spPr>
          <a:xfrm>
            <a:off x="6199632" y="4937760"/>
            <a:ext cx="5532120" cy="621792"/>
          </a:xfrm>
          <a:prstGeom prst="roundRect">
            <a:avLst>
              <a:gd name="adj" fmla="val 11765"/>
            </a:avLst>
          </a:prstGeom>
          <a:solidFill>
            <a:srgbClr val="DCE8F8"/>
          </a:solidFill>
          <a:ln/>
        </p:spPr>
      </p:sp>
      <p:sp>
        <p:nvSpPr>
          <p:cNvPr id="44" name="Text 41"/>
          <p:cNvSpPr txBox="1"/>
          <p:nvPr/>
        </p:nvSpPr>
        <p:spPr>
          <a:xfrm>
            <a:off x="6309360" y="4946904"/>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ブロック／ファイル／オブジェクト</a:t>
            </a:r>
            <a:endParaRPr lang="en-US" sz="1800" dirty="0"/>
          </a:p>
        </p:txBody>
      </p:sp>
      <p:sp>
        <p:nvSpPr>
          <p:cNvPr id="45" name="Text 42"/>
          <p:cNvSpPr txBox="1"/>
          <p:nvPr/>
        </p:nvSpPr>
        <p:spPr>
          <a:xfrm>
            <a:off x="6309360" y="5248656"/>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保存を提供・扱う方式の違い</a:t>
            </a:r>
            <a:endParaRPr lang="en-US" sz="1800" dirty="0"/>
          </a:p>
        </p:txBody>
      </p:sp>
      <p:sp>
        <p:nvSpPr>
          <p:cNvPr id="46" name="Shape 43"/>
          <p:cNvSpPr/>
          <p:nvPr/>
        </p:nvSpPr>
        <p:spPr>
          <a:xfrm>
            <a:off x="6199632" y="5586984"/>
            <a:ext cx="5532120" cy="621792"/>
          </a:xfrm>
          <a:prstGeom prst="roundRect">
            <a:avLst>
              <a:gd name="adj" fmla="val 11765"/>
            </a:avLst>
          </a:prstGeom>
          <a:solidFill>
            <a:srgbClr val="DCE8F8"/>
          </a:solidFill>
          <a:ln/>
        </p:spPr>
      </p:sp>
      <p:sp>
        <p:nvSpPr>
          <p:cNvPr id="47" name="Text 44"/>
          <p:cNvSpPr txBox="1"/>
          <p:nvPr/>
        </p:nvSpPr>
        <p:spPr>
          <a:xfrm>
            <a:off x="6309360" y="5596128"/>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IOPS／レイテンシー</a:t>
            </a:r>
            <a:endParaRPr lang="en-US" sz="1800" dirty="0"/>
          </a:p>
        </p:txBody>
      </p:sp>
      <p:sp>
        <p:nvSpPr>
          <p:cNvPr id="48" name="Text 45"/>
          <p:cNvSpPr txBox="1"/>
          <p:nvPr/>
        </p:nvSpPr>
        <p:spPr>
          <a:xfrm>
            <a:off x="6309360" y="5897880"/>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秒あたりの入出力回数／処理の遅れ</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用語索引②：基盤・運用・プロジェクト管理・AI</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用語索引の後半です（基盤・運用・プロジェクト管理・AI）。意味は1行で示し、使う場面はノートにも書いています。</a:t>
            </a:r>
            <a:endParaRPr lang="en-US" sz="1800" dirty="0"/>
          </a:p>
        </p:txBody>
      </p:sp>
      <p:sp>
        <p:nvSpPr>
          <p:cNvPr id="7" name="Shape 4"/>
          <p:cNvSpPr/>
          <p:nvPr/>
        </p:nvSpPr>
        <p:spPr>
          <a:xfrm>
            <a:off x="457200" y="1691640"/>
            <a:ext cx="5532120" cy="621792"/>
          </a:xfrm>
          <a:prstGeom prst="roundRect">
            <a:avLst>
              <a:gd name="adj" fmla="val 11765"/>
            </a:avLst>
          </a:prstGeom>
          <a:solidFill>
            <a:srgbClr val="DCE8F8"/>
          </a:solidFill>
          <a:ln/>
        </p:spPr>
      </p:sp>
      <p:sp>
        <p:nvSpPr>
          <p:cNvPr id="8" name="Text 5"/>
          <p:cNvSpPr txBox="1"/>
          <p:nvPr/>
        </p:nvSpPr>
        <p:spPr>
          <a:xfrm>
            <a:off x="566928" y="1700784"/>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NIC／HBA</a:t>
            </a:r>
            <a:endParaRPr lang="en-US" sz="1800" dirty="0"/>
          </a:p>
        </p:txBody>
      </p:sp>
      <p:sp>
        <p:nvSpPr>
          <p:cNvPr id="9" name="Text 6"/>
          <p:cNvSpPr txBox="1"/>
          <p:nvPr/>
        </p:nvSpPr>
        <p:spPr>
          <a:xfrm>
            <a:off x="566928" y="2002536"/>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通信の接続部／保存網などの接続部</a:t>
            </a:r>
            <a:endParaRPr lang="en-US" sz="1800" dirty="0"/>
          </a:p>
        </p:txBody>
      </p:sp>
      <p:sp>
        <p:nvSpPr>
          <p:cNvPr id="10" name="Shape 7"/>
          <p:cNvSpPr/>
          <p:nvPr/>
        </p:nvSpPr>
        <p:spPr>
          <a:xfrm>
            <a:off x="457200" y="2340864"/>
            <a:ext cx="5532120" cy="621792"/>
          </a:xfrm>
          <a:prstGeom prst="roundRect">
            <a:avLst>
              <a:gd name="adj" fmla="val 11765"/>
            </a:avLst>
          </a:prstGeom>
          <a:solidFill>
            <a:srgbClr val="E6E1F7"/>
          </a:solidFill>
          <a:ln/>
        </p:spPr>
      </p:sp>
      <p:sp>
        <p:nvSpPr>
          <p:cNvPr id="11" name="Text 8"/>
          <p:cNvSpPr txBox="1"/>
          <p:nvPr/>
        </p:nvSpPr>
        <p:spPr>
          <a:xfrm>
            <a:off x="566928" y="2350008"/>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ハイパーバイザー</a:t>
            </a:r>
            <a:endParaRPr lang="en-US" sz="1800" dirty="0"/>
          </a:p>
        </p:txBody>
      </p:sp>
      <p:sp>
        <p:nvSpPr>
          <p:cNvPr id="12" name="Text 9"/>
          <p:cNvSpPr txBox="1"/>
          <p:nvPr/>
        </p:nvSpPr>
        <p:spPr>
          <a:xfrm>
            <a:off x="566928" y="2651760"/>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仮想マシンを動かす基盤</a:t>
            </a:r>
            <a:endParaRPr lang="en-US" sz="1800" dirty="0"/>
          </a:p>
        </p:txBody>
      </p:sp>
      <p:sp>
        <p:nvSpPr>
          <p:cNvPr id="13" name="Shape 10"/>
          <p:cNvSpPr/>
          <p:nvPr/>
        </p:nvSpPr>
        <p:spPr>
          <a:xfrm>
            <a:off x="457200" y="2990088"/>
            <a:ext cx="5532120" cy="621792"/>
          </a:xfrm>
          <a:prstGeom prst="roundRect">
            <a:avLst>
              <a:gd name="adj" fmla="val 11765"/>
            </a:avLst>
          </a:prstGeom>
          <a:solidFill>
            <a:srgbClr val="E6E1F7"/>
          </a:solidFill>
          <a:ln/>
        </p:spPr>
      </p:sp>
      <p:sp>
        <p:nvSpPr>
          <p:cNvPr id="14" name="Text 11"/>
          <p:cNvSpPr txBox="1"/>
          <p:nvPr/>
        </p:nvSpPr>
        <p:spPr>
          <a:xfrm>
            <a:off x="566928" y="2999232"/>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クラスター</a:t>
            </a:r>
            <a:endParaRPr lang="en-US" sz="1800" dirty="0"/>
          </a:p>
        </p:txBody>
      </p:sp>
      <p:sp>
        <p:nvSpPr>
          <p:cNvPr id="15" name="Text 12"/>
          <p:cNvSpPr txBox="1"/>
          <p:nvPr/>
        </p:nvSpPr>
        <p:spPr>
          <a:xfrm>
            <a:off x="566928" y="3300984"/>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複数の機器をまとまりとして使う</a:t>
            </a:r>
            <a:endParaRPr lang="en-US" sz="1800" dirty="0"/>
          </a:p>
        </p:txBody>
      </p:sp>
      <p:sp>
        <p:nvSpPr>
          <p:cNvPr id="16" name="Shape 13"/>
          <p:cNvSpPr/>
          <p:nvPr/>
        </p:nvSpPr>
        <p:spPr>
          <a:xfrm>
            <a:off x="457200" y="3639312"/>
            <a:ext cx="5532120" cy="621792"/>
          </a:xfrm>
          <a:prstGeom prst="roundRect">
            <a:avLst>
              <a:gd name="adj" fmla="val 11765"/>
            </a:avLst>
          </a:prstGeom>
          <a:solidFill>
            <a:srgbClr val="E6E1F7"/>
          </a:solidFill>
          <a:ln/>
        </p:spPr>
      </p:sp>
      <p:sp>
        <p:nvSpPr>
          <p:cNvPr id="17" name="Text 14"/>
          <p:cNvSpPr txBox="1"/>
          <p:nvPr/>
        </p:nvSpPr>
        <p:spPr>
          <a:xfrm>
            <a:off x="566928" y="3648456"/>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IaC</a:t>
            </a:r>
            <a:endParaRPr lang="en-US" sz="1800" dirty="0"/>
          </a:p>
        </p:txBody>
      </p:sp>
      <p:sp>
        <p:nvSpPr>
          <p:cNvPr id="18" name="Text 15"/>
          <p:cNvSpPr txBox="1"/>
          <p:nvPr/>
        </p:nvSpPr>
        <p:spPr>
          <a:xfrm>
            <a:off x="566928" y="3950208"/>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構成をコード等で管理する考え方</a:t>
            </a:r>
            <a:endParaRPr lang="en-US" sz="1800" dirty="0"/>
          </a:p>
        </p:txBody>
      </p:sp>
      <p:sp>
        <p:nvSpPr>
          <p:cNvPr id="19" name="Shape 16"/>
          <p:cNvSpPr/>
          <p:nvPr/>
        </p:nvSpPr>
        <p:spPr>
          <a:xfrm>
            <a:off x="457200" y="4288536"/>
            <a:ext cx="5532120" cy="621792"/>
          </a:xfrm>
          <a:prstGeom prst="roundRect">
            <a:avLst>
              <a:gd name="adj" fmla="val 11765"/>
            </a:avLst>
          </a:prstGeom>
          <a:solidFill>
            <a:srgbClr val="E6E1F7"/>
          </a:solidFill>
          <a:ln/>
        </p:spPr>
      </p:sp>
      <p:sp>
        <p:nvSpPr>
          <p:cNvPr id="20" name="Text 17"/>
          <p:cNvSpPr txBox="1"/>
          <p:nvPr/>
        </p:nvSpPr>
        <p:spPr>
          <a:xfrm>
            <a:off x="566928" y="4297680"/>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オーケストレーション</a:t>
            </a:r>
            <a:endParaRPr lang="en-US" sz="1800" dirty="0"/>
          </a:p>
        </p:txBody>
      </p:sp>
      <p:sp>
        <p:nvSpPr>
          <p:cNvPr id="21" name="Text 18"/>
          <p:cNvSpPr txBox="1"/>
          <p:nvPr/>
        </p:nvSpPr>
        <p:spPr>
          <a:xfrm>
            <a:off x="566928" y="4599432"/>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複数の作業・資源をまとめて制御</a:t>
            </a:r>
            <a:endParaRPr lang="en-US" sz="1800" dirty="0"/>
          </a:p>
        </p:txBody>
      </p:sp>
      <p:sp>
        <p:nvSpPr>
          <p:cNvPr id="22" name="Shape 19"/>
          <p:cNvSpPr/>
          <p:nvPr/>
        </p:nvSpPr>
        <p:spPr>
          <a:xfrm>
            <a:off x="457200" y="4937760"/>
            <a:ext cx="5532120" cy="621792"/>
          </a:xfrm>
          <a:prstGeom prst="roundRect">
            <a:avLst>
              <a:gd name="adj" fmla="val 11765"/>
            </a:avLst>
          </a:prstGeom>
          <a:solidFill>
            <a:srgbClr val="E6E1F7"/>
          </a:solidFill>
          <a:ln/>
        </p:spPr>
      </p:sp>
      <p:sp>
        <p:nvSpPr>
          <p:cNvPr id="23" name="Text 20"/>
          <p:cNvSpPr txBox="1"/>
          <p:nvPr/>
        </p:nvSpPr>
        <p:spPr>
          <a:xfrm>
            <a:off x="566928" y="4946904"/>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監視・可観測性</a:t>
            </a:r>
            <a:endParaRPr lang="en-US" sz="1800" dirty="0"/>
          </a:p>
        </p:txBody>
      </p:sp>
      <p:sp>
        <p:nvSpPr>
          <p:cNvPr id="24" name="Text 21"/>
          <p:cNvSpPr txBox="1"/>
          <p:nvPr/>
        </p:nvSpPr>
        <p:spPr>
          <a:xfrm>
            <a:off x="566928" y="5248656"/>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状態の把握／内部状態を調べられる性質</a:t>
            </a:r>
            <a:endParaRPr lang="en-US" sz="1800" dirty="0"/>
          </a:p>
        </p:txBody>
      </p:sp>
      <p:sp>
        <p:nvSpPr>
          <p:cNvPr id="25" name="Shape 22"/>
          <p:cNvSpPr/>
          <p:nvPr/>
        </p:nvSpPr>
        <p:spPr>
          <a:xfrm>
            <a:off x="457200" y="5586984"/>
            <a:ext cx="5532120" cy="621792"/>
          </a:xfrm>
          <a:prstGeom prst="roundRect">
            <a:avLst>
              <a:gd name="adj" fmla="val 11765"/>
            </a:avLst>
          </a:prstGeom>
          <a:solidFill>
            <a:srgbClr val="E6E1F7"/>
          </a:solidFill>
          <a:ln/>
        </p:spPr>
      </p:sp>
      <p:sp>
        <p:nvSpPr>
          <p:cNvPr id="26" name="Text 23"/>
          <p:cNvSpPr txBox="1"/>
          <p:nvPr/>
        </p:nvSpPr>
        <p:spPr>
          <a:xfrm>
            <a:off x="566928" y="5596128"/>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ロールバック・切戻し</a:t>
            </a:r>
            <a:endParaRPr lang="en-US" sz="1800" dirty="0"/>
          </a:p>
        </p:txBody>
      </p:sp>
      <p:sp>
        <p:nvSpPr>
          <p:cNvPr id="27" name="Text 24"/>
          <p:cNvSpPr txBox="1"/>
          <p:nvPr/>
        </p:nvSpPr>
        <p:spPr>
          <a:xfrm>
            <a:off x="566928" y="5897880"/>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変更前の状態へ戻す</a:t>
            </a:r>
            <a:endParaRPr lang="en-US" sz="1800" dirty="0"/>
          </a:p>
        </p:txBody>
      </p:sp>
      <p:sp>
        <p:nvSpPr>
          <p:cNvPr id="28" name="Shape 25"/>
          <p:cNvSpPr/>
          <p:nvPr/>
        </p:nvSpPr>
        <p:spPr>
          <a:xfrm>
            <a:off x="6199632" y="1691640"/>
            <a:ext cx="5532120" cy="621792"/>
          </a:xfrm>
          <a:prstGeom prst="roundRect">
            <a:avLst>
              <a:gd name="adj" fmla="val 11765"/>
            </a:avLst>
          </a:prstGeom>
          <a:solidFill>
            <a:srgbClr val="DCE6F2"/>
          </a:solidFill>
          <a:ln/>
        </p:spPr>
      </p:sp>
      <p:sp>
        <p:nvSpPr>
          <p:cNvPr id="29" name="Text 26"/>
          <p:cNvSpPr txBox="1"/>
          <p:nvPr/>
        </p:nvSpPr>
        <p:spPr>
          <a:xfrm>
            <a:off x="6309360" y="1700784"/>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責任分界</a:t>
            </a:r>
            <a:endParaRPr lang="en-US" sz="1800" dirty="0"/>
          </a:p>
        </p:txBody>
      </p:sp>
      <p:sp>
        <p:nvSpPr>
          <p:cNvPr id="30" name="Text 27"/>
          <p:cNvSpPr txBox="1"/>
          <p:nvPr/>
        </p:nvSpPr>
        <p:spPr>
          <a:xfrm>
            <a:off x="6309360" y="2002536"/>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誰がどこまで責任を持つか</a:t>
            </a:r>
            <a:endParaRPr lang="en-US" sz="1800" dirty="0"/>
          </a:p>
        </p:txBody>
      </p:sp>
      <p:sp>
        <p:nvSpPr>
          <p:cNvPr id="31" name="Shape 28"/>
          <p:cNvSpPr/>
          <p:nvPr/>
        </p:nvSpPr>
        <p:spPr>
          <a:xfrm>
            <a:off x="6199632" y="2340864"/>
            <a:ext cx="5532120" cy="621792"/>
          </a:xfrm>
          <a:prstGeom prst="roundRect">
            <a:avLst>
              <a:gd name="adj" fmla="val 11765"/>
            </a:avLst>
          </a:prstGeom>
          <a:solidFill>
            <a:srgbClr val="DCE6F2"/>
          </a:solidFill>
          <a:ln/>
        </p:spPr>
      </p:sp>
      <p:sp>
        <p:nvSpPr>
          <p:cNvPr id="32" name="Text 29"/>
          <p:cNvSpPr txBox="1"/>
          <p:nvPr/>
        </p:nvSpPr>
        <p:spPr>
          <a:xfrm>
            <a:off x="6309360" y="2350008"/>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WBS</a:t>
            </a:r>
            <a:endParaRPr lang="en-US" sz="1800" dirty="0"/>
          </a:p>
        </p:txBody>
      </p:sp>
      <p:sp>
        <p:nvSpPr>
          <p:cNvPr id="33" name="Text 30"/>
          <p:cNvSpPr txBox="1"/>
          <p:nvPr/>
        </p:nvSpPr>
        <p:spPr>
          <a:xfrm>
            <a:off x="6309360" y="2651760"/>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作業を分解した一覧</a:t>
            </a:r>
            <a:endParaRPr lang="en-US" sz="1800" dirty="0"/>
          </a:p>
        </p:txBody>
      </p:sp>
      <p:sp>
        <p:nvSpPr>
          <p:cNvPr id="34" name="Shape 31"/>
          <p:cNvSpPr/>
          <p:nvPr/>
        </p:nvSpPr>
        <p:spPr>
          <a:xfrm>
            <a:off x="6199632" y="2990088"/>
            <a:ext cx="5532120" cy="621792"/>
          </a:xfrm>
          <a:prstGeom prst="roundRect">
            <a:avLst>
              <a:gd name="adj" fmla="val 11765"/>
            </a:avLst>
          </a:prstGeom>
          <a:solidFill>
            <a:srgbClr val="DCE6F2"/>
          </a:solidFill>
          <a:ln/>
        </p:spPr>
      </p:sp>
      <p:sp>
        <p:nvSpPr>
          <p:cNvPr id="35" name="Text 32"/>
          <p:cNvSpPr txBox="1"/>
          <p:nvPr/>
        </p:nvSpPr>
        <p:spPr>
          <a:xfrm>
            <a:off x="6309360" y="2999232"/>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RACI</a:t>
            </a:r>
            <a:endParaRPr lang="en-US" sz="1800" dirty="0"/>
          </a:p>
        </p:txBody>
      </p:sp>
      <p:sp>
        <p:nvSpPr>
          <p:cNvPr id="36" name="Text 33"/>
          <p:cNvSpPr txBox="1"/>
          <p:nvPr/>
        </p:nvSpPr>
        <p:spPr>
          <a:xfrm>
            <a:off x="6309360" y="3300984"/>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実行・最終責任・相談・共有先を整理する表</a:t>
            </a:r>
            <a:endParaRPr lang="en-US" sz="1800" dirty="0"/>
          </a:p>
        </p:txBody>
      </p:sp>
      <p:sp>
        <p:nvSpPr>
          <p:cNvPr id="37" name="Shape 34"/>
          <p:cNvSpPr/>
          <p:nvPr/>
        </p:nvSpPr>
        <p:spPr>
          <a:xfrm>
            <a:off x="6199632" y="3639312"/>
            <a:ext cx="5532120" cy="621792"/>
          </a:xfrm>
          <a:prstGeom prst="roundRect">
            <a:avLst>
              <a:gd name="adj" fmla="val 11765"/>
            </a:avLst>
          </a:prstGeom>
          <a:solidFill>
            <a:srgbClr val="DCE6F2"/>
          </a:solidFill>
          <a:ln/>
        </p:spPr>
      </p:sp>
      <p:sp>
        <p:nvSpPr>
          <p:cNvPr id="38" name="Text 35"/>
          <p:cNvSpPr txBox="1"/>
          <p:nvPr/>
        </p:nvSpPr>
        <p:spPr>
          <a:xfrm>
            <a:off x="6309360" y="3648456"/>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エスカレーション</a:t>
            </a:r>
            <a:endParaRPr lang="en-US" sz="1800" dirty="0"/>
          </a:p>
        </p:txBody>
      </p:sp>
      <p:sp>
        <p:nvSpPr>
          <p:cNvPr id="39" name="Text 36"/>
          <p:cNvSpPr txBox="1"/>
          <p:nvPr/>
        </p:nvSpPr>
        <p:spPr>
          <a:xfrm>
            <a:off x="6309360" y="3950208"/>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必要な判断や支援を上位・専門へ求める</a:t>
            </a:r>
            <a:endParaRPr lang="en-US" sz="1800" dirty="0"/>
          </a:p>
        </p:txBody>
      </p:sp>
      <p:sp>
        <p:nvSpPr>
          <p:cNvPr id="40" name="Shape 37"/>
          <p:cNvSpPr/>
          <p:nvPr/>
        </p:nvSpPr>
        <p:spPr>
          <a:xfrm>
            <a:off x="6199632" y="4288536"/>
            <a:ext cx="5532120" cy="621792"/>
          </a:xfrm>
          <a:prstGeom prst="roundRect">
            <a:avLst>
              <a:gd name="adj" fmla="val 11765"/>
            </a:avLst>
          </a:prstGeom>
          <a:solidFill>
            <a:srgbClr val="DDF1E4"/>
          </a:solidFill>
          <a:ln/>
        </p:spPr>
      </p:sp>
      <p:sp>
        <p:nvSpPr>
          <p:cNvPr id="41" name="Text 38"/>
          <p:cNvSpPr txBox="1"/>
          <p:nvPr/>
        </p:nvSpPr>
        <p:spPr>
          <a:xfrm>
            <a:off x="6309360" y="4297680"/>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インシデント／問題</a:t>
            </a:r>
            <a:endParaRPr lang="en-US" sz="1800" dirty="0"/>
          </a:p>
        </p:txBody>
      </p:sp>
      <p:sp>
        <p:nvSpPr>
          <p:cNvPr id="42" name="Text 39"/>
          <p:cNvSpPr txBox="1"/>
          <p:nvPr/>
        </p:nvSpPr>
        <p:spPr>
          <a:xfrm>
            <a:off x="6309360" y="4599432"/>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サービスの事象／原因と再発防止の対象</a:t>
            </a:r>
            <a:endParaRPr lang="en-US" sz="1800" dirty="0"/>
          </a:p>
        </p:txBody>
      </p:sp>
      <p:sp>
        <p:nvSpPr>
          <p:cNvPr id="43" name="Shape 40"/>
          <p:cNvSpPr/>
          <p:nvPr/>
        </p:nvSpPr>
        <p:spPr>
          <a:xfrm>
            <a:off x="6199632" y="4937760"/>
            <a:ext cx="5532120" cy="621792"/>
          </a:xfrm>
          <a:prstGeom prst="roundRect">
            <a:avLst>
              <a:gd name="adj" fmla="val 11765"/>
            </a:avLst>
          </a:prstGeom>
          <a:solidFill>
            <a:srgbClr val="E6E1F7"/>
          </a:solidFill>
          <a:ln/>
        </p:spPr>
      </p:sp>
      <p:sp>
        <p:nvSpPr>
          <p:cNvPr id="44" name="Text 41"/>
          <p:cNvSpPr txBox="1"/>
          <p:nvPr/>
        </p:nvSpPr>
        <p:spPr>
          <a:xfrm>
            <a:off x="6309360" y="4946904"/>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TTFT／生成速度</a:t>
            </a:r>
            <a:endParaRPr lang="en-US" sz="1800" dirty="0"/>
          </a:p>
        </p:txBody>
      </p:sp>
      <p:sp>
        <p:nvSpPr>
          <p:cNvPr id="45" name="Text 42"/>
          <p:cNvSpPr txBox="1"/>
          <p:nvPr/>
        </p:nvSpPr>
        <p:spPr>
          <a:xfrm>
            <a:off x="6309360" y="5248656"/>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最初のトークンまでの時間／出力の速さ</a:t>
            </a:r>
            <a:endParaRPr lang="en-US" sz="1800" dirty="0"/>
          </a:p>
        </p:txBody>
      </p:sp>
      <p:sp>
        <p:nvSpPr>
          <p:cNvPr id="46" name="Shape 43"/>
          <p:cNvSpPr/>
          <p:nvPr/>
        </p:nvSpPr>
        <p:spPr>
          <a:xfrm>
            <a:off x="6199632" y="5586984"/>
            <a:ext cx="5532120" cy="621792"/>
          </a:xfrm>
          <a:prstGeom prst="roundRect">
            <a:avLst>
              <a:gd name="adj" fmla="val 11765"/>
            </a:avLst>
          </a:prstGeom>
          <a:solidFill>
            <a:srgbClr val="E6E1F7"/>
          </a:solidFill>
          <a:ln/>
        </p:spPr>
      </p:sp>
      <p:sp>
        <p:nvSpPr>
          <p:cNvPr id="47" name="Text 44"/>
          <p:cNvSpPr txBox="1"/>
          <p:nvPr/>
        </p:nvSpPr>
        <p:spPr>
          <a:xfrm>
            <a:off x="6309360" y="5596128"/>
            <a:ext cx="5349240" cy="310896"/>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MLOps／LLMOps</a:t>
            </a:r>
            <a:endParaRPr lang="en-US" sz="1800" dirty="0"/>
          </a:p>
        </p:txBody>
      </p:sp>
      <p:sp>
        <p:nvSpPr>
          <p:cNvPr id="48" name="Text 45"/>
          <p:cNvSpPr txBox="1"/>
          <p:nvPr/>
        </p:nvSpPr>
        <p:spPr>
          <a:xfrm>
            <a:off x="6309360" y="5897880"/>
            <a:ext cx="5349240" cy="301752"/>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AIモデル・LLMを継続運用する方法</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紛らわしい5組の違いを区別する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「冗長化とバックアップ」「認証と認可」など、混同しやすい言葉の違いを並べます。冗長化は誤削除まで複製するため、バックアップの代わりにはなりません。</a:t>
            </a:r>
            <a:endParaRPr lang="en-US" sz="18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3017520"/>
                <a:gridCol w="82570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二つの言葉</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違い</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03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認証／認可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認証は「誰か」、認可は「何をしてよいか」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冗長化／バックアップ</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冗長化は故障時も動かす工夫。バックアップは過去のデータを戻す備え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30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仮想マシン／コンテナ</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仮想マシンはOSごと分ける。コンテナは通常、ホストのOSカーネルを共有してアプリ環境を分ける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高可用性／高性能</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高可用性は止まりにくさ、高性能は処理能力</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035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障害復旧／原因究明</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復旧はまず使える状態へ戻すこと、原因究明は再発防止につなげること</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5486400"/>
            <a:ext cx="11274552" cy="822960"/>
          </a:xfrm>
          <a:prstGeom prst="roundRect">
            <a:avLst>
              <a:gd name="adj" fmla="val 13333"/>
            </a:avLst>
          </a:prstGeom>
          <a:solidFill>
            <a:srgbClr val="FBE3E0"/>
          </a:solidFill>
          <a:ln w="19050">
            <a:solidFill>
              <a:srgbClr val="C0392B"/>
            </a:solidFill>
            <a:prstDash val="solid"/>
          </a:ln>
        </p:spPr>
      </p:sp>
      <p:sp>
        <p:nvSpPr>
          <p:cNvPr id="9" name="Shape 5"/>
          <p:cNvSpPr/>
          <p:nvPr/>
        </p:nvSpPr>
        <p:spPr>
          <a:xfrm>
            <a:off x="594360" y="5669280"/>
            <a:ext cx="457200" cy="457200"/>
          </a:xfrm>
          <a:prstGeom prst="ellipse">
            <a:avLst/>
          </a:prstGeom>
          <a:solidFill>
            <a:srgbClr val="C0392B"/>
          </a:solidFill>
          <a:ln/>
        </p:spPr>
      </p:sp>
      <p:pic>
        <p:nvPicPr>
          <p:cNvPr id="10" name="Image 0" descr="preencoded.png">    </p:cNvPr>
          <p:cNvPicPr>
            <a:picLocks noChangeAspect="1"/>
          </p:cNvPicPr>
          <p:nvPr/>
        </p:nvPicPr>
        <p:blipFill>
          <a:blip r:embed="rId1"/>
          <a:stretch>
            <a:fillRect/>
          </a:stretch>
        </p:blipFill>
        <p:spPr>
          <a:xfrm>
            <a:off x="694944" y="5769864"/>
            <a:ext cx="256032" cy="256032"/>
          </a:xfrm>
          <a:prstGeom prst="rect">
            <a:avLst/>
          </a:prstGeom>
        </p:spPr>
      </p:pic>
      <p:sp>
        <p:nvSpPr>
          <p:cNvPr id="11" name="Text 6"/>
          <p:cNvSpPr txBox="1"/>
          <p:nvPr/>
        </p:nvSpPr>
        <p:spPr>
          <a:xfrm>
            <a:off x="1188720" y="5532120"/>
            <a:ext cx="10405872" cy="7315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同じデータを2台に複製しても、誤削除が両方に反映されれば戻せない。冗長化≠バックアップ</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障害は6つの段階に分けて切り分ける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通信の不具合は、端末→LAN→名前解決→到達性→暗号・認証→サービスの順に確認すると絞れます。pingが通っても、アプリが正常とは限りません。</a:t>
            </a:r>
            <a:endParaRPr lang="en-US" sz="1800" dirty="0"/>
          </a:p>
        </p:txBody>
      </p:sp>
      <p:sp>
        <p:nvSpPr>
          <p:cNvPr id="7" name="Text 4"/>
          <p:cNvSpPr txBox="1"/>
          <p:nvPr/>
        </p:nvSpPr>
        <p:spPr>
          <a:xfrm>
            <a:off x="2971800" y="1700784"/>
            <a:ext cx="411480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何を見るか</a:t>
            </a:r>
            <a:endParaRPr lang="en-US" sz="1800" dirty="0"/>
          </a:p>
        </p:txBody>
      </p:sp>
      <p:sp>
        <p:nvSpPr>
          <p:cNvPr id="8" name="Text 5"/>
          <p:cNvSpPr txBox="1"/>
          <p:nvPr/>
        </p:nvSpPr>
        <p:spPr>
          <a:xfrm>
            <a:off x="7178040" y="1700784"/>
            <a:ext cx="4480560" cy="329184"/>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確認の手がかり</a:t>
            </a:r>
            <a:endParaRPr lang="en-US" sz="1800" dirty="0"/>
          </a:p>
        </p:txBody>
      </p:sp>
      <p:sp>
        <p:nvSpPr>
          <p:cNvPr id="9" name="Shape 6"/>
          <p:cNvSpPr/>
          <p:nvPr/>
        </p:nvSpPr>
        <p:spPr>
          <a:xfrm>
            <a:off x="457200" y="2011680"/>
            <a:ext cx="2377440" cy="566928"/>
          </a:xfrm>
          <a:prstGeom prst="roundRect">
            <a:avLst>
              <a:gd name="adj" fmla="val 19355"/>
            </a:avLst>
          </a:prstGeom>
          <a:solidFill>
            <a:srgbClr val="0B7A7A"/>
          </a:solidFill>
          <a:ln/>
        </p:spPr>
      </p:sp>
      <p:sp>
        <p:nvSpPr>
          <p:cNvPr id="10" name="Text 7"/>
          <p:cNvSpPr txBox="1"/>
          <p:nvPr/>
        </p:nvSpPr>
        <p:spPr>
          <a:xfrm>
            <a:off x="548640" y="2011680"/>
            <a:ext cx="21945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① 端末</a:t>
            </a:r>
            <a:endParaRPr lang="en-US" sz="1800" dirty="0"/>
          </a:p>
        </p:txBody>
      </p:sp>
      <p:sp>
        <p:nvSpPr>
          <p:cNvPr id="11" name="Shape 8"/>
          <p:cNvSpPr/>
          <p:nvPr/>
        </p:nvSpPr>
        <p:spPr>
          <a:xfrm>
            <a:off x="1645920" y="2578608"/>
            <a:ext cx="0" cy="73152"/>
          </a:xfrm>
          <a:prstGeom prst="line">
            <a:avLst/>
          </a:prstGeom>
          <a:noFill/>
          <a:ln w="25400">
            <a:solidFill>
              <a:srgbClr val="1B2A3A"/>
            </a:solidFill>
            <a:prstDash val="solid"/>
            <a:tailEnd type="triangle"/>
          </a:ln>
        </p:spPr>
      </p:sp>
      <p:sp>
        <p:nvSpPr>
          <p:cNvPr id="12" name="Shape 9"/>
          <p:cNvSpPr/>
          <p:nvPr/>
        </p:nvSpPr>
        <p:spPr>
          <a:xfrm>
            <a:off x="2971800" y="2011680"/>
            <a:ext cx="4114800" cy="566928"/>
          </a:xfrm>
          <a:prstGeom prst="roundRect">
            <a:avLst>
              <a:gd name="adj" fmla="val 12903"/>
            </a:avLst>
          </a:prstGeom>
          <a:solidFill>
            <a:srgbClr val="D9F2F1"/>
          </a:solidFill>
          <a:ln/>
        </p:spPr>
      </p:sp>
      <p:sp>
        <p:nvSpPr>
          <p:cNvPr id="13" name="Text 10"/>
          <p:cNvSpPr txBox="1"/>
          <p:nvPr/>
        </p:nvSpPr>
        <p:spPr>
          <a:xfrm>
            <a:off x="3063240" y="2011680"/>
            <a:ext cx="39319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Wi-Fi接続・電源・OSの状態</a:t>
            </a:r>
            <a:endParaRPr lang="en-US" sz="1800" dirty="0"/>
          </a:p>
        </p:txBody>
      </p:sp>
      <p:sp>
        <p:nvSpPr>
          <p:cNvPr id="14" name="Shape 11"/>
          <p:cNvSpPr/>
          <p:nvPr/>
        </p:nvSpPr>
        <p:spPr>
          <a:xfrm>
            <a:off x="7178040" y="2011680"/>
            <a:ext cx="4553712" cy="566928"/>
          </a:xfrm>
          <a:prstGeom prst="roundRect">
            <a:avLst>
              <a:gd name="adj" fmla="val 12903"/>
            </a:avLst>
          </a:prstGeom>
          <a:solidFill>
            <a:srgbClr val="F1F5F9"/>
          </a:solidFill>
          <a:ln/>
        </p:spPr>
      </p:sp>
      <p:sp>
        <p:nvSpPr>
          <p:cNvPr id="15" name="Text 12"/>
          <p:cNvSpPr txBox="1"/>
          <p:nvPr/>
        </p:nvSpPr>
        <p:spPr>
          <a:xfrm>
            <a:off x="7269480" y="2011680"/>
            <a:ext cx="43891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netsh wlan show interfaces</a:t>
            </a:r>
            <a:endParaRPr lang="en-US" sz="1800" dirty="0"/>
          </a:p>
        </p:txBody>
      </p:sp>
      <p:sp>
        <p:nvSpPr>
          <p:cNvPr id="16" name="Shape 13"/>
          <p:cNvSpPr/>
          <p:nvPr/>
        </p:nvSpPr>
        <p:spPr>
          <a:xfrm>
            <a:off x="457200" y="2651760"/>
            <a:ext cx="2377440" cy="566928"/>
          </a:xfrm>
          <a:prstGeom prst="roundRect">
            <a:avLst>
              <a:gd name="adj" fmla="val 19355"/>
            </a:avLst>
          </a:prstGeom>
          <a:solidFill>
            <a:srgbClr val="2F6BC2"/>
          </a:solidFill>
          <a:ln/>
        </p:spPr>
      </p:sp>
      <p:sp>
        <p:nvSpPr>
          <p:cNvPr id="17" name="Text 14"/>
          <p:cNvSpPr txBox="1"/>
          <p:nvPr/>
        </p:nvSpPr>
        <p:spPr>
          <a:xfrm>
            <a:off x="548640" y="2651760"/>
            <a:ext cx="21945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② LAN</a:t>
            </a:r>
            <a:endParaRPr lang="en-US" sz="1800" dirty="0"/>
          </a:p>
        </p:txBody>
      </p:sp>
      <p:sp>
        <p:nvSpPr>
          <p:cNvPr id="18" name="Shape 15"/>
          <p:cNvSpPr/>
          <p:nvPr/>
        </p:nvSpPr>
        <p:spPr>
          <a:xfrm>
            <a:off x="1645920" y="3218688"/>
            <a:ext cx="0" cy="73152"/>
          </a:xfrm>
          <a:prstGeom prst="line">
            <a:avLst/>
          </a:prstGeom>
          <a:noFill/>
          <a:ln w="25400">
            <a:solidFill>
              <a:srgbClr val="1B2A3A"/>
            </a:solidFill>
            <a:prstDash val="solid"/>
            <a:tailEnd type="triangle"/>
          </a:ln>
        </p:spPr>
      </p:sp>
      <p:sp>
        <p:nvSpPr>
          <p:cNvPr id="19" name="Shape 16"/>
          <p:cNvSpPr/>
          <p:nvPr/>
        </p:nvSpPr>
        <p:spPr>
          <a:xfrm>
            <a:off x="2971800" y="2651760"/>
            <a:ext cx="4114800" cy="566928"/>
          </a:xfrm>
          <a:prstGeom prst="roundRect">
            <a:avLst>
              <a:gd name="adj" fmla="val 12903"/>
            </a:avLst>
          </a:prstGeom>
          <a:solidFill>
            <a:srgbClr val="DCE8F8"/>
          </a:solidFill>
          <a:ln/>
        </p:spPr>
      </p:sp>
      <p:sp>
        <p:nvSpPr>
          <p:cNvPr id="20" name="Text 17"/>
          <p:cNvSpPr txBox="1"/>
          <p:nvPr/>
        </p:nvSpPr>
        <p:spPr>
          <a:xfrm>
            <a:off x="3063240" y="2651760"/>
            <a:ext cx="39319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IP・出口・DHCPの設定</a:t>
            </a:r>
            <a:endParaRPr lang="en-US" sz="1800" dirty="0"/>
          </a:p>
        </p:txBody>
      </p:sp>
      <p:sp>
        <p:nvSpPr>
          <p:cNvPr id="21" name="Shape 18"/>
          <p:cNvSpPr/>
          <p:nvPr/>
        </p:nvSpPr>
        <p:spPr>
          <a:xfrm>
            <a:off x="7178040" y="2651760"/>
            <a:ext cx="4553712" cy="566928"/>
          </a:xfrm>
          <a:prstGeom prst="roundRect">
            <a:avLst>
              <a:gd name="adj" fmla="val 12903"/>
            </a:avLst>
          </a:prstGeom>
          <a:solidFill>
            <a:srgbClr val="F1F5F9"/>
          </a:solidFill>
          <a:ln/>
        </p:spPr>
      </p:sp>
      <p:sp>
        <p:nvSpPr>
          <p:cNvPr id="22" name="Text 19"/>
          <p:cNvSpPr txBox="1"/>
          <p:nvPr/>
        </p:nvSpPr>
        <p:spPr>
          <a:xfrm>
            <a:off x="7269480" y="2651760"/>
            <a:ext cx="43891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ipconfig /all、出口への到達</a:t>
            </a:r>
            <a:endParaRPr lang="en-US" sz="1800" dirty="0"/>
          </a:p>
        </p:txBody>
      </p:sp>
      <p:sp>
        <p:nvSpPr>
          <p:cNvPr id="23" name="Shape 20"/>
          <p:cNvSpPr/>
          <p:nvPr/>
        </p:nvSpPr>
        <p:spPr>
          <a:xfrm>
            <a:off x="457200" y="3291840"/>
            <a:ext cx="2377440" cy="566928"/>
          </a:xfrm>
          <a:prstGeom prst="roundRect">
            <a:avLst>
              <a:gd name="adj" fmla="val 19355"/>
            </a:avLst>
          </a:prstGeom>
          <a:solidFill>
            <a:srgbClr val="B45309"/>
          </a:solidFill>
          <a:ln/>
        </p:spPr>
      </p:sp>
      <p:sp>
        <p:nvSpPr>
          <p:cNvPr id="24" name="Text 21"/>
          <p:cNvSpPr txBox="1"/>
          <p:nvPr/>
        </p:nvSpPr>
        <p:spPr>
          <a:xfrm>
            <a:off x="548640" y="3291840"/>
            <a:ext cx="21945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③ 名前解決</a:t>
            </a:r>
            <a:endParaRPr lang="en-US" sz="1800" dirty="0"/>
          </a:p>
        </p:txBody>
      </p:sp>
      <p:sp>
        <p:nvSpPr>
          <p:cNvPr id="25" name="Shape 22"/>
          <p:cNvSpPr/>
          <p:nvPr/>
        </p:nvSpPr>
        <p:spPr>
          <a:xfrm>
            <a:off x="1645920" y="3858768"/>
            <a:ext cx="0" cy="73152"/>
          </a:xfrm>
          <a:prstGeom prst="line">
            <a:avLst/>
          </a:prstGeom>
          <a:noFill/>
          <a:ln w="25400">
            <a:solidFill>
              <a:srgbClr val="1B2A3A"/>
            </a:solidFill>
            <a:prstDash val="solid"/>
            <a:tailEnd type="triangle"/>
          </a:ln>
        </p:spPr>
      </p:sp>
      <p:sp>
        <p:nvSpPr>
          <p:cNvPr id="26" name="Shape 23"/>
          <p:cNvSpPr/>
          <p:nvPr/>
        </p:nvSpPr>
        <p:spPr>
          <a:xfrm>
            <a:off x="2971800" y="3291840"/>
            <a:ext cx="4114800" cy="566928"/>
          </a:xfrm>
          <a:prstGeom prst="roundRect">
            <a:avLst>
              <a:gd name="adj" fmla="val 12903"/>
            </a:avLst>
          </a:prstGeom>
          <a:solidFill>
            <a:srgbClr val="FDEBD0"/>
          </a:solidFill>
          <a:ln/>
        </p:spPr>
      </p:sp>
      <p:sp>
        <p:nvSpPr>
          <p:cNvPr id="27" name="Text 24"/>
          <p:cNvSpPr txBox="1"/>
          <p:nvPr/>
        </p:nvSpPr>
        <p:spPr>
          <a:xfrm>
            <a:off x="3063240" y="3291840"/>
            <a:ext cx="39319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DNSで名前からIPが得られるか</a:t>
            </a:r>
            <a:endParaRPr lang="en-US" sz="1800" dirty="0"/>
          </a:p>
        </p:txBody>
      </p:sp>
      <p:sp>
        <p:nvSpPr>
          <p:cNvPr id="28" name="Shape 25"/>
          <p:cNvSpPr/>
          <p:nvPr/>
        </p:nvSpPr>
        <p:spPr>
          <a:xfrm>
            <a:off x="7178040" y="3291840"/>
            <a:ext cx="4553712" cy="566928"/>
          </a:xfrm>
          <a:prstGeom prst="roundRect">
            <a:avLst>
              <a:gd name="adj" fmla="val 12903"/>
            </a:avLst>
          </a:prstGeom>
          <a:solidFill>
            <a:srgbClr val="F1F5F9"/>
          </a:solidFill>
          <a:ln/>
        </p:spPr>
      </p:sp>
      <p:sp>
        <p:nvSpPr>
          <p:cNvPr id="29" name="Text 26"/>
          <p:cNvSpPr txBox="1"/>
          <p:nvPr/>
        </p:nvSpPr>
        <p:spPr>
          <a:xfrm>
            <a:off x="7269480" y="3291840"/>
            <a:ext cx="43891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nslookup chatgpt.com</a:t>
            </a:r>
            <a:endParaRPr lang="en-US" sz="1800" dirty="0"/>
          </a:p>
        </p:txBody>
      </p:sp>
      <p:sp>
        <p:nvSpPr>
          <p:cNvPr id="30" name="Shape 27"/>
          <p:cNvSpPr/>
          <p:nvPr/>
        </p:nvSpPr>
        <p:spPr>
          <a:xfrm>
            <a:off x="457200" y="3931920"/>
            <a:ext cx="2377440" cy="566928"/>
          </a:xfrm>
          <a:prstGeom prst="roundRect">
            <a:avLst>
              <a:gd name="adj" fmla="val 19355"/>
            </a:avLst>
          </a:prstGeom>
          <a:solidFill>
            <a:srgbClr val="2F6BC2"/>
          </a:solidFill>
          <a:ln/>
        </p:spPr>
      </p:sp>
      <p:sp>
        <p:nvSpPr>
          <p:cNvPr id="31" name="Text 28"/>
          <p:cNvSpPr txBox="1"/>
          <p:nvPr/>
        </p:nvSpPr>
        <p:spPr>
          <a:xfrm>
            <a:off x="548640" y="3931920"/>
            <a:ext cx="21945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④ 到達性</a:t>
            </a:r>
            <a:endParaRPr lang="en-US" sz="1800" dirty="0"/>
          </a:p>
        </p:txBody>
      </p:sp>
      <p:sp>
        <p:nvSpPr>
          <p:cNvPr id="32" name="Shape 29"/>
          <p:cNvSpPr/>
          <p:nvPr/>
        </p:nvSpPr>
        <p:spPr>
          <a:xfrm>
            <a:off x="1645920" y="4498848"/>
            <a:ext cx="0" cy="73152"/>
          </a:xfrm>
          <a:prstGeom prst="line">
            <a:avLst/>
          </a:prstGeom>
          <a:noFill/>
          <a:ln w="25400">
            <a:solidFill>
              <a:srgbClr val="1B2A3A"/>
            </a:solidFill>
            <a:prstDash val="solid"/>
            <a:tailEnd type="triangle"/>
          </a:ln>
        </p:spPr>
      </p:sp>
      <p:sp>
        <p:nvSpPr>
          <p:cNvPr id="33" name="Shape 30"/>
          <p:cNvSpPr/>
          <p:nvPr/>
        </p:nvSpPr>
        <p:spPr>
          <a:xfrm>
            <a:off x="2971800" y="3931920"/>
            <a:ext cx="4114800" cy="566928"/>
          </a:xfrm>
          <a:prstGeom prst="roundRect">
            <a:avLst>
              <a:gd name="adj" fmla="val 12903"/>
            </a:avLst>
          </a:prstGeom>
          <a:solidFill>
            <a:srgbClr val="DCE8F8"/>
          </a:solidFill>
          <a:ln/>
        </p:spPr>
      </p:sp>
      <p:sp>
        <p:nvSpPr>
          <p:cNvPr id="34" name="Text 31"/>
          <p:cNvSpPr txBox="1"/>
          <p:nvPr/>
        </p:nvSpPr>
        <p:spPr>
          <a:xfrm>
            <a:off x="3063240" y="3931920"/>
            <a:ext cx="39319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経路・ルーター・ポートに届くか</a:t>
            </a:r>
            <a:endParaRPr lang="en-US" sz="1800" dirty="0"/>
          </a:p>
        </p:txBody>
      </p:sp>
      <p:sp>
        <p:nvSpPr>
          <p:cNvPr id="35" name="Shape 32"/>
          <p:cNvSpPr/>
          <p:nvPr/>
        </p:nvSpPr>
        <p:spPr>
          <a:xfrm>
            <a:off x="7178040" y="3931920"/>
            <a:ext cx="4553712" cy="566928"/>
          </a:xfrm>
          <a:prstGeom prst="roundRect">
            <a:avLst>
              <a:gd name="adj" fmla="val 12903"/>
            </a:avLst>
          </a:prstGeom>
          <a:solidFill>
            <a:srgbClr val="F1F5F9"/>
          </a:solidFill>
          <a:ln/>
        </p:spPr>
      </p:sp>
      <p:sp>
        <p:nvSpPr>
          <p:cNvPr id="36" name="Text 33"/>
          <p:cNvSpPr txBox="1"/>
          <p:nvPr/>
        </p:nvSpPr>
        <p:spPr>
          <a:xfrm>
            <a:off x="7269480" y="3931920"/>
            <a:ext cx="43891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tracert、Test-NetConnection -Port 443</a:t>
            </a:r>
            <a:endParaRPr lang="en-US" sz="1800" dirty="0"/>
          </a:p>
        </p:txBody>
      </p:sp>
      <p:sp>
        <p:nvSpPr>
          <p:cNvPr id="37" name="Shape 34"/>
          <p:cNvSpPr/>
          <p:nvPr/>
        </p:nvSpPr>
        <p:spPr>
          <a:xfrm>
            <a:off x="457200" y="4572000"/>
            <a:ext cx="2377440" cy="566928"/>
          </a:xfrm>
          <a:prstGeom prst="roundRect">
            <a:avLst>
              <a:gd name="adj" fmla="val 19355"/>
            </a:avLst>
          </a:prstGeom>
          <a:solidFill>
            <a:srgbClr val="237A48"/>
          </a:solidFill>
          <a:ln/>
        </p:spPr>
      </p:sp>
      <p:sp>
        <p:nvSpPr>
          <p:cNvPr id="38" name="Text 35"/>
          <p:cNvSpPr txBox="1"/>
          <p:nvPr/>
        </p:nvSpPr>
        <p:spPr>
          <a:xfrm>
            <a:off x="548640" y="4572000"/>
            <a:ext cx="21945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⑤ 暗号・認証</a:t>
            </a:r>
            <a:endParaRPr lang="en-US" sz="1800" dirty="0"/>
          </a:p>
        </p:txBody>
      </p:sp>
      <p:sp>
        <p:nvSpPr>
          <p:cNvPr id="39" name="Shape 36"/>
          <p:cNvSpPr/>
          <p:nvPr/>
        </p:nvSpPr>
        <p:spPr>
          <a:xfrm>
            <a:off x="1645920" y="5138928"/>
            <a:ext cx="0" cy="73152"/>
          </a:xfrm>
          <a:prstGeom prst="line">
            <a:avLst/>
          </a:prstGeom>
          <a:noFill/>
          <a:ln w="25400">
            <a:solidFill>
              <a:srgbClr val="1B2A3A"/>
            </a:solidFill>
            <a:prstDash val="solid"/>
            <a:tailEnd type="triangle"/>
          </a:ln>
        </p:spPr>
      </p:sp>
      <p:sp>
        <p:nvSpPr>
          <p:cNvPr id="40" name="Shape 37"/>
          <p:cNvSpPr/>
          <p:nvPr/>
        </p:nvSpPr>
        <p:spPr>
          <a:xfrm>
            <a:off x="2971800" y="4572000"/>
            <a:ext cx="4114800" cy="566928"/>
          </a:xfrm>
          <a:prstGeom prst="roundRect">
            <a:avLst>
              <a:gd name="adj" fmla="val 12903"/>
            </a:avLst>
          </a:prstGeom>
          <a:solidFill>
            <a:srgbClr val="DDF1E4"/>
          </a:solidFill>
          <a:ln/>
        </p:spPr>
      </p:sp>
      <p:sp>
        <p:nvSpPr>
          <p:cNvPr id="41" name="Text 38"/>
          <p:cNvSpPr txBox="1"/>
          <p:nvPr/>
        </p:nvSpPr>
        <p:spPr>
          <a:xfrm>
            <a:off x="3063240" y="4572000"/>
            <a:ext cx="39319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TLS・証明書・時刻・ログイン</a:t>
            </a:r>
            <a:endParaRPr lang="en-US" sz="1800" dirty="0"/>
          </a:p>
        </p:txBody>
      </p:sp>
      <p:sp>
        <p:nvSpPr>
          <p:cNvPr id="42" name="Shape 39"/>
          <p:cNvSpPr/>
          <p:nvPr/>
        </p:nvSpPr>
        <p:spPr>
          <a:xfrm>
            <a:off x="7178040" y="4572000"/>
            <a:ext cx="4553712" cy="566928"/>
          </a:xfrm>
          <a:prstGeom prst="roundRect">
            <a:avLst>
              <a:gd name="adj" fmla="val 12903"/>
            </a:avLst>
          </a:prstGeom>
          <a:solidFill>
            <a:srgbClr val="F1F5F9"/>
          </a:solidFill>
          <a:ln/>
        </p:spPr>
      </p:sp>
      <p:sp>
        <p:nvSpPr>
          <p:cNvPr id="43" name="Text 40"/>
          <p:cNvSpPr txBox="1"/>
          <p:nvPr/>
        </p:nvSpPr>
        <p:spPr>
          <a:xfrm>
            <a:off x="7269480" y="4572000"/>
            <a:ext cx="43891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時刻のずれ・証明書・ログイン状態</a:t>
            </a:r>
            <a:endParaRPr lang="en-US" sz="1800" dirty="0"/>
          </a:p>
        </p:txBody>
      </p:sp>
      <p:sp>
        <p:nvSpPr>
          <p:cNvPr id="44" name="Shape 41"/>
          <p:cNvSpPr/>
          <p:nvPr/>
        </p:nvSpPr>
        <p:spPr>
          <a:xfrm>
            <a:off x="457200" y="5212080"/>
            <a:ext cx="2377440" cy="566928"/>
          </a:xfrm>
          <a:prstGeom prst="roundRect">
            <a:avLst>
              <a:gd name="adj" fmla="val 19355"/>
            </a:avLst>
          </a:prstGeom>
          <a:solidFill>
            <a:srgbClr val="5B46B8"/>
          </a:solidFill>
          <a:ln/>
        </p:spPr>
      </p:sp>
      <p:sp>
        <p:nvSpPr>
          <p:cNvPr id="45" name="Text 42"/>
          <p:cNvSpPr txBox="1"/>
          <p:nvPr/>
        </p:nvSpPr>
        <p:spPr>
          <a:xfrm>
            <a:off x="548640" y="5212080"/>
            <a:ext cx="21945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⑥ サービス</a:t>
            </a:r>
            <a:endParaRPr lang="en-US" sz="1800" dirty="0"/>
          </a:p>
        </p:txBody>
      </p:sp>
      <p:sp>
        <p:nvSpPr>
          <p:cNvPr id="46" name="Shape 43"/>
          <p:cNvSpPr/>
          <p:nvPr/>
        </p:nvSpPr>
        <p:spPr>
          <a:xfrm>
            <a:off x="2971800" y="5212080"/>
            <a:ext cx="4114800" cy="566928"/>
          </a:xfrm>
          <a:prstGeom prst="roundRect">
            <a:avLst>
              <a:gd name="adj" fmla="val 12903"/>
            </a:avLst>
          </a:prstGeom>
          <a:solidFill>
            <a:srgbClr val="E6E1F7"/>
          </a:solidFill>
          <a:ln/>
        </p:spPr>
      </p:sp>
      <p:sp>
        <p:nvSpPr>
          <p:cNvPr id="47" name="Text 44"/>
          <p:cNvSpPr txBox="1"/>
          <p:nvPr/>
        </p:nvSpPr>
        <p:spPr>
          <a:xfrm>
            <a:off x="3063240" y="5212080"/>
            <a:ext cx="39319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アプリ・サーバーの状態</a:t>
            </a:r>
            <a:endParaRPr lang="en-US" sz="1800" dirty="0"/>
          </a:p>
        </p:txBody>
      </p:sp>
      <p:sp>
        <p:nvSpPr>
          <p:cNvPr id="48" name="Shape 45"/>
          <p:cNvSpPr/>
          <p:nvPr/>
        </p:nvSpPr>
        <p:spPr>
          <a:xfrm>
            <a:off x="7178040" y="5212080"/>
            <a:ext cx="4553712" cy="566928"/>
          </a:xfrm>
          <a:prstGeom prst="roundRect">
            <a:avLst>
              <a:gd name="adj" fmla="val 12903"/>
            </a:avLst>
          </a:prstGeom>
          <a:solidFill>
            <a:srgbClr val="F1F5F9"/>
          </a:solidFill>
          <a:ln/>
        </p:spPr>
      </p:sp>
      <p:sp>
        <p:nvSpPr>
          <p:cNvPr id="49" name="Text 46"/>
          <p:cNvSpPr txBox="1"/>
          <p:nvPr/>
        </p:nvSpPr>
        <p:spPr>
          <a:xfrm>
            <a:off x="7269480" y="5212080"/>
            <a:ext cx="4389120" cy="566928"/>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サービスの状態・ログ</a:t>
            </a:r>
            <a:endParaRPr lang="en-US" sz="1800" dirty="0"/>
          </a:p>
        </p:txBody>
      </p:sp>
      <p:sp>
        <p:nvSpPr>
          <p:cNvPr id="50" name="Shape 47"/>
          <p:cNvSpPr/>
          <p:nvPr/>
        </p:nvSpPr>
        <p:spPr>
          <a:xfrm>
            <a:off x="457200" y="5852160"/>
            <a:ext cx="11274552" cy="457200"/>
          </a:xfrm>
          <a:prstGeom prst="roundRect">
            <a:avLst>
              <a:gd name="adj" fmla="val 24000"/>
            </a:avLst>
          </a:prstGeom>
          <a:solidFill>
            <a:srgbClr val="FBE3E0"/>
          </a:solidFill>
          <a:ln w="19050">
            <a:solidFill>
              <a:srgbClr val="C0392B"/>
            </a:solidFill>
            <a:prstDash val="solid"/>
          </a:ln>
        </p:spPr>
      </p:sp>
      <p:sp>
        <p:nvSpPr>
          <p:cNvPr id="51" name="Shape 48"/>
          <p:cNvSpPr/>
          <p:nvPr/>
        </p:nvSpPr>
        <p:spPr>
          <a:xfrm>
            <a:off x="594360" y="5943600"/>
            <a:ext cx="274320" cy="274320"/>
          </a:xfrm>
          <a:prstGeom prst="ellipse">
            <a:avLst/>
          </a:prstGeom>
          <a:solidFill>
            <a:srgbClr val="C0392B"/>
          </a:solidFill>
          <a:ln/>
        </p:spPr>
      </p:sp>
      <p:pic>
        <p:nvPicPr>
          <p:cNvPr id="52" name="Image 0" descr="preencoded.png">    </p:cNvPr>
          <p:cNvPicPr>
            <a:picLocks noChangeAspect="1"/>
          </p:cNvPicPr>
          <p:nvPr/>
        </p:nvPicPr>
        <p:blipFill>
          <a:blip r:embed="rId1"/>
          <a:stretch>
            <a:fillRect/>
          </a:stretch>
        </p:blipFill>
        <p:spPr>
          <a:xfrm>
            <a:off x="654710" y="6003950"/>
            <a:ext cx="153619" cy="153619"/>
          </a:xfrm>
          <a:prstGeom prst="rect">
            <a:avLst/>
          </a:prstGeom>
        </p:spPr>
      </p:pic>
      <p:sp>
        <p:nvSpPr>
          <p:cNvPr id="53" name="Text 49"/>
          <p:cNvSpPr txBox="1"/>
          <p:nvPr/>
        </p:nvSpPr>
        <p:spPr>
          <a:xfrm>
            <a:off x="1005840" y="5897880"/>
            <a:ext cx="10588752" cy="3657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pingが成功しても、アプリが正常とは限らない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10の問いに、本体とノートだけで答えられるか確かめる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学習の理解度チェックです。各問いを声に出し、図を描きながら説明できるか試してください。右の番号が、答えの中心となるスライドです。</a:t>
            </a:r>
            <a:endParaRPr lang="en-US" sz="1800" dirty="0"/>
          </a:p>
        </p:txBody>
      </p:sp>
      <p:sp>
        <p:nvSpPr>
          <p:cNvPr id="7" name="Shape 4"/>
          <p:cNvSpPr/>
          <p:nvPr/>
        </p:nvSpPr>
        <p:spPr>
          <a:xfrm>
            <a:off x="457200" y="1691640"/>
            <a:ext cx="5532120" cy="841248"/>
          </a:xfrm>
          <a:prstGeom prst="roundRect">
            <a:avLst>
              <a:gd name="adj" fmla="val 10870"/>
            </a:avLst>
          </a:prstGeom>
          <a:solidFill>
            <a:srgbClr val="DCE6F2"/>
          </a:solidFill>
          <a:ln/>
        </p:spPr>
      </p:sp>
      <p:sp>
        <p:nvSpPr>
          <p:cNvPr id="8" name="Shape 5"/>
          <p:cNvSpPr/>
          <p:nvPr/>
        </p:nvSpPr>
        <p:spPr>
          <a:xfrm>
            <a:off x="530352" y="1911096"/>
            <a:ext cx="402336" cy="402336"/>
          </a:xfrm>
          <a:prstGeom prst="ellipse">
            <a:avLst/>
          </a:prstGeom>
          <a:solidFill>
            <a:srgbClr val="16324F"/>
          </a:solidFill>
          <a:ln w="19050">
            <a:solidFill>
              <a:srgbClr val="FFFFFF"/>
            </a:solidFill>
            <a:prstDash val="solid"/>
          </a:ln>
        </p:spPr>
      </p:sp>
      <p:sp>
        <p:nvSpPr>
          <p:cNvPr id="9" name="Text 6"/>
          <p:cNvSpPr txBox="1"/>
          <p:nvPr/>
        </p:nvSpPr>
        <p:spPr>
          <a:xfrm>
            <a:off x="530352" y="19110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0" name="Text 7"/>
          <p:cNvSpPr txBox="1"/>
          <p:nvPr/>
        </p:nvSpPr>
        <p:spPr>
          <a:xfrm>
            <a:off x="1051560" y="17190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Wi-Fiにつながることと、インターネットに届くことは何が違う？</a:t>
            </a:r>
            <a:endParaRPr lang="en-US" sz="1800" dirty="0"/>
          </a:p>
        </p:txBody>
      </p:sp>
      <p:sp>
        <p:nvSpPr>
          <p:cNvPr id="11" name="Text 8"/>
          <p:cNvSpPr txBox="1"/>
          <p:nvPr/>
        </p:nvSpPr>
        <p:spPr>
          <a:xfrm>
            <a:off x="4937760" y="17190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p.8・21</a:t>
            </a:r>
            <a:endParaRPr lang="en-US" sz="1800" dirty="0"/>
          </a:p>
        </p:txBody>
      </p:sp>
      <p:sp>
        <p:nvSpPr>
          <p:cNvPr id="12" name="Shape 9"/>
          <p:cNvSpPr/>
          <p:nvPr/>
        </p:nvSpPr>
        <p:spPr>
          <a:xfrm>
            <a:off x="457200" y="2606040"/>
            <a:ext cx="5532120" cy="841248"/>
          </a:xfrm>
          <a:prstGeom prst="roundRect">
            <a:avLst>
              <a:gd name="adj" fmla="val 10870"/>
            </a:avLst>
          </a:prstGeom>
          <a:solidFill>
            <a:srgbClr val="DCE6F2"/>
          </a:solidFill>
          <a:ln/>
        </p:spPr>
      </p:sp>
      <p:sp>
        <p:nvSpPr>
          <p:cNvPr id="13" name="Shape 10"/>
          <p:cNvSpPr/>
          <p:nvPr/>
        </p:nvSpPr>
        <p:spPr>
          <a:xfrm>
            <a:off x="530352" y="2825496"/>
            <a:ext cx="402336" cy="402336"/>
          </a:xfrm>
          <a:prstGeom prst="ellipse">
            <a:avLst/>
          </a:prstGeom>
          <a:solidFill>
            <a:srgbClr val="16324F"/>
          </a:solidFill>
          <a:ln w="19050">
            <a:solidFill>
              <a:srgbClr val="FFFFFF"/>
            </a:solidFill>
            <a:prstDash val="solid"/>
          </a:ln>
        </p:spPr>
      </p:sp>
      <p:sp>
        <p:nvSpPr>
          <p:cNvPr id="14" name="Text 11"/>
          <p:cNvSpPr txBox="1"/>
          <p:nvPr/>
        </p:nvSpPr>
        <p:spPr>
          <a:xfrm>
            <a:off x="530352" y="28254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5" name="Text 12"/>
          <p:cNvSpPr txBox="1"/>
          <p:nvPr/>
        </p:nvSpPr>
        <p:spPr>
          <a:xfrm>
            <a:off x="1051560" y="26334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DNS・NTP・NAT・TLSは、いつ・どこで・何をする？</a:t>
            </a:r>
            <a:endParaRPr lang="en-US" sz="1800" dirty="0"/>
          </a:p>
        </p:txBody>
      </p:sp>
      <p:sp>
        <p:nvSpPr>
          <p:cNvPr id="16" name="Text 13"/>
          <p:cNvSpPr txBox="1"/>
          <p:nvPr/>
        </p:nvSpPr>
        <p:spPr>
          <a:xfrm>
            <a:off x="4937760" y="26334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p.22</a:t>
            </a:r>
            <a:endParaRPr lang="en-US" sz="1800" dirty="0"/>
          </a:p>
        </p:txBody>
      </p:sp>
      <p:sp>
        <p:nvSpPr>
          <p:cNvPr id="17" name="Shape 14"/>
          <p:cNvSpPr/>
          <p:nvPr/>
        </p:nvSpPr>
        <p:spPr>
          <a:xfrm>
            <a:off x="457200" y="3520440"/>
            <a:ext cx="5532120" cy="841248"/>
          </a:xfrm>
          <a:prstGeom prst="roundRect">
            <a:avLst>
              <a:gd name="adj" fmla="val 10870"/>
            </a:avLst>
          </a:prstGeom>
          <a:solidFill>
            <a:srgbClr val="DCE6F2"/>
          </a:solidFill>
          <a:ln/>
        </p:spPr>
      </p:sp>
      <p:sp>
        <p:nvSpPr>
          <p:cNvPr id="18" name="Shape 15"/>
          <p:cNvSpPr/>
          <p:nvPr/>
        </p:nvSpPr>
        <p:spPr>
          <a:xfrm>
            <a:off x="530352" y="3739896"/>
            <a:ext cx="402336" cy="402336"/>
          </a:xfrm>
          <a:prstGeom prst="ellipse">
            <a:avLst/>
          </a:prstGeom>
          <a:solidFill>
            <a:srgbClr val="16324F"/>
          </a:solidFill>
          <a:ln w="19050">
            <a:solidFill>
              <a:srgbClr val="FFFFFF"/>
            </a:solidFill>
            <a:prstDash val="solid"/>
          </a:ln>
        </p:spPr>
      </p:sp>
      <p:sp>
        <p:nvSpPr>
          <p:cNvPr id="19" name="Text 16"/>
          <p:cNvSpPr txBox="1"/>
          <p:nvPr/>
        </p:nvSpPr>
        <p:spPr>
          <a:xfrm>
            <a:off x="530352" y="37398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0" name="Text 17"/>
          <p:cNvSpPr txBox="1"/>
          <p:nvPr/>
        </p:nvSpPr>
        <p:spPr>
          <a:xfrm>
            <a:off x="1051560" y="35478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IPv4の宛先・送信元、ポート、近くの相手を選ぶ仕組みは？</a:t>
            </a:r>
            <a:endParaRPr lang="en-US" sz="1800" dirty="0"/>
          </a:p>
        </p:txBody>
      </p:sp>
      <p:sp>
        <p:nvSpPr>
          <p:cNvPr id="21" name="Text 18"/>
          <p:cNvSpPr txBox="1"/>
          <p:nvPr/>
        </p:nvSpPr>
        <p:spPr>
          <a:xfrm>
            <a:off x="4937760" y="35478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p.13・14</a:t>
            </a:r>
            <a:endParaRPr lang="en-US" sz="1800" dirty="0"/>
          </a:p>
        </p:txBody>
      </p:sp>
      <p:sp>
        <p:nvSpPr>
          <p:cNvPr id="22" name="Shape 19"/>
          <p:cNvSpPr/>
          <p:nvPr/>
        </p:nvSpPr>
        <p:spPr>
          <a:xfrm>
            <a:off x="457200" y="4434840"/>
            <a:ext cx="5532120" cy="841248"/>
          </a:xfrm>
          <a:prstGeom prst="roundRect">
            <a:avLst>
              <a:gd name="adj" fmla="val 10870"/>
            </a:avLst>
          </a:prstGeom>
          <a:solidFill>
            <a:srgbClr val="DCE6F2"/>
          </a:solidFill>
          <a:ln/>
        </p:spPr>
      </p:sp>
      <p:sp>
        <p:nvSpPr>
          <p:cNvPr id="23" name="Shape 20"/>
          <p:cNvSpPr/>
          <p:nvPr/>
        </p:nvSpPr>
        <p:spPr>
          <a:xfrm>
            <a:off x="530352" y="4654296"/>
            <a:ext cx="402336" cy="402336"/>
          </a:xfrm>
          <a:prstGeom prst="ellipse">
            <a:avLst/>
          </a:prstGeom>
          <a:solidFill>
            <a:srgbClr val="16324F"/>
          </a:solidFill>
          <a:ln w="19050">
            <a:solidFill>
              <a:srgbClr val="FFFFFF"/>
            </a:solidFill>
            <a:prstDash val="solid"/>
          </a:ln>
        </p:spPr>
      </p:sp>
      <p:sp>
        <p:nvSpPr>
          <p:cNvPr id="24" name="Text 21"/>
          <p:cNvSpPr txBox="1"/>
          <p:nvPr/>
        </p:nvSpPr>
        <p:spPr>
          <a:xfrm>
            <a:off x="530352" y="46542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5" name="Text 22"/>
          <p:cNvSpPr txBox="1"/>
          <p:nvPr/>
        </p:nvSpPr>
        <p:spPr>
          <a:xfrm>
            <a:off x="1051560" y="44622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地下や混雑時にゲームが遅い理由。帯域と遅延の違いは？</a:t>
            </a:r>
            <a:endParaRPr lang="en-US" sz="1800" dirty="0"/>
          </a:p>
        </p:txBody>
      </p:sp>
      <p:sp>
        <p:nvSpPr>
          <p:cNvPr id="26" name="Text 23"/>
          <p:cNvSpPr txBox="1"/>
          <p:nvPr/>
        </p:nvSpPr>
        <p:spPr>
          <a:xfrm>
            <a:off x="4937760" y="44622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p.25・28</a:t>
            </a:r>
            <a:endParaRPr lang="en-US" sz="1800" dirty="0"/>
          </a:p>
        </p:txBody>
      </p:sp>
      <p:sp>
        <p:nvSpPr>
          <p:cNvPr id="27" name="Shape 24"/>
          <p:cNvSpPr/>
          <p:nvPr/>
        </p:nvSpPr>
        <p:spPr>
          <a:xfrm>
            <a:off x="457200" y="5349240"/>
            <a:ext cx="5532120" cy="841248"/>
          </a:xfrm>
          <a:prstGeom prst="roundRect">
            <a:avLst>
              <a:gd name="adj" fmla="val 10870"/>
            </a:avLst>
          </a:prstGeom>
          <a:solidFill>
            <a:srgbClr val="DCE6F2"/>
          </a:solidFill>
          <a:ln/>
        </p:spPr>
      </p:sp>
      <p:sp>
        <p:nvSpPr>
          <p:cNvPr id="28" name="Shape 25"/>
          <p:cNvSpPr/>
          <p:nvPr/>
        </p:nvSpPr>
        <p:spPr>
          <a:xfrm>
            <a:off x="530352" y="5568696"/>
            <a:ext cx="402336" cy="402336"/>
          </a:xfrm>
          <a:prstGeom prst="ellipse">
            <a:avLst/>
          </a:prstGeom>
          <a:solidFill>
            <a:srgbClr val="16324F"/>
          </a:solidFill>
          <a:ln w="19050">
            <a:solidFill>
              <a:srgbClr val="FFFFFF"/>
            </a:solidFill>
            <a:prstDash val="solid"/>
          </a:ln>
        </p:spPr>
      </p:sp>
      <p:sp>
        <p:nvSpPr>
          <p:cNvPr id="29" name="Text 26"/>
          <p:cNvSpPr txBox="1"/>
          <p:nvPr/>
        </p:nvSpPr>
        <p:spPr>
          <a:xfrm>
            <a:off x="530352" y="55686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30" name="Text 27"/>
          <p:cNvSpPr txBox="1"/>
          <p:nvPr/>
        </p:nvSpPr>
        <p:spPr>
          <a:xfrm>
            <a:off x="1051560" y="53766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GPU・HBM・SSD・通信・電力・冷却はどうつながる？</a:t>
            </a:r>
            <a:endParaRPr lang="en-US" sz="1800" dirty="0"/>
          </a:p>
        </p:txBody>
      </p:sp>
      <p:sp>
        <p:nvSpPr>
          <p:cNvPr id="31" name="Text 28"/>
          <p:cNvSpPr txBox="1"/>
          <p:nvPr/>
        </p:nvSpPr>
        <p:spPr>
          <a:xfrm>
            <a:off x="4937760" y="53766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p.38</a:t>
            </a:r>
            <a:endParaRPr lang="en-US" sz="1800" dirty="0"/>
          </a:p>
        </p:txBody>
      </p:sp>
      <p:sp>
        <p:nvSpPr>
          <p:cNvPr id="32" name="Shape 29"/>
          <p:cNvSpPr/>
          <p:nvPr/>
        </p:nvSpPr>
        <p:spPr>
          <a:xfrm>
            <a:off x="6199632" y="1691640"/>
            <a:ext cx="5532120" cy="841248"/>
          </a:xfrm>
          <a:prstGeom prst="roundRect">
            <a:avLst>
              <a:gd name="adj" fmla="val 10870"/>
            </a:avLst>
          </a:prstGeom>
          <a:solidFill>
            <a:srgbClr val="DCE6F2"/>
          </a:solidFill>
          <a:ln/>
        </p:spPr>
      </p:sp>
      <p:sp>
        <p:nvSpPr>
          <p:cNvPr id="33" name="Shape 30"/>
          <p:cNvSpPr/>
          <p:nvPr/>
        </p:nvSpPr>
        <p:spPr>
          <a:xfrm>
            <a:off x="6272784" y="1911096"/>
            <a:ext cx="402336" cy="402336"/>
          </a:xfrm>
          <a:prstGeom prst="ellipse">
            <a:avLst/>
          </a:prstGeom>
          <a:solidFill>
            <a:srgbClr val="16324F"/>
          </a:solidFill>
          <a:ln w="19050">
            <a:solidFill>
              <a:srgbClr val="FFFFFF"/>
            </a:solidFill>
            <a:prstDash val="solid"/>
          </a:ln>
        </p:spPr>
      </p:sp>
      <p:sp>
        <p:nvSpPr>
          <p:cNvPr id="34" name="Text 31"/>
          <p:cNvSpPr txBox="1"/>
          <p:nvPr/>
        </p:nvSpPr>
        <p:spPr>
          <a:xfrm>
            <a:off x="6272784" y="19110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35" name="Text 32"/>
          <p:cNvSpPr txBox="1"/>
          <p:nvPr/>
        </p:nvSpPr>
        <p:spPr>
          <a:xfrm>
            <a:off x="6793992" y="17190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モデルとツールを変えると成果物と使用量が変わる理由は？</a:t>
            </a:r>
            <a:endParaRPr lang="en-US" sz="1800" dirty="0"/>
          </a:p>
        </p:txBody>
      </p:sp>
      <p:sp>
        <p:nvSpPr>
          <p:cNvPr id="36" name="Text 33"/>
          <p:cNvSpPr txBox="1"/>
          <p:nvPr/>
        </p:nvSpPr>
        <p:spPr>
          <a:xfrm>
            <a:off x="10680192" y="17190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p.49・53</a:t>
            </a:r>
            <a:endParaRPr lang="en-US" sz="1800" dirty="0"/>
          </a:p>
        </p:txBody>
      </p:sp>
      <p:sp>
        <p:nvSpPr>
          <p:cNvPr id="37" name="Shape 34"/>
          <p:cNvSpPr/>
          <p:nvPr/>
        </p:nvSpPr>
        <p:spPr>
          <a:xfrm>
            <a:off x="6199632" y="2606040"/>
            <a:ext cx="5532120" cy="841248"/>
          </a:xfrm>
          <a:prstGeom prst="roundRect">
            <a:avLst>
              <a:gd name="adj" fmla="val 10870"/>
            </a:avLst>
          </a:prstGeom>
          <a:solidFill>
            <a:srgbClr val="DCE6F2"/>
          </a:solidFill>
          <a:ln/>
        </p:spPr>
      </p:sp>
      <p:sp>
        <p:nvSpPr>
          <p:cNvPr id="38" name="Shape 35"/>
          <p:cNvSpPr/>
          <p:nvPr/>
        </p:nvSpPr>
        <p:spPr>
          <a:xfrm>
            <a:off x="6272784" y="2825496"/>
            <a:ext cx="402336" cy="402336"/>
          </a:xfrm>
          <a:prstGeom prst="ellipse">
            <a:avLst/>
          </a:prstGeom>
          <a:solidFill>
            <a:srgbClr val="16324F"/>
          </a:solidFill>
          <a:ln w="19050">
            <a:solidFill>
              <a:srgbClr val="FFFFFF"/>
            </a:solidFill>
            <a:prstDash val="solid"/>
          </a:ln>
        </p:spPr>
      </p:sp>
      <p:sp>
        <p:nvSpPr>
          <p:cNvPr id="39" name="Text 36"/>
          <p:cNvSpPr txBox="1"/>
          <p:nvPr/>
        </p:nvSpPr>
        <p:spPr>
          <a:xfrm>
            <a:off x="6272784" y="28254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7</a:t>
            </a:r>
            <a:endParaRPr lang="en-US" sz="1800" dirty="0"/>
          </a:p>
        </p:txBody>
      </p:sp>
      <p:sp>
        <p:nvSpPr>
          <p:cNvPr id="40" name="Text 37"/>
          <p:cNvSpPr txBox="1"/>
          <p:nvPr/>
        </p:nvSpPr>
        <p:spPr>
          <a:xfrm>
            <a:off x="6793992" y="26334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HPEのSEは、要件からどの成果物を作り、何を検証する？</a:t>
            </a:r>
            <a:endParaRPr lang="en-US" sz="1800" dirty="0"/>
          </a:p>
        </p:txBody>
      </p:sp>
      <p:sp>
        <p:nvSpPr>
          <p:cNvPr id="41" name="Text 38"/>
          <p:cNvSpPr txBox="1"/>
          <p:nvPr/>
        </p:nvSpPr>
        <p:spPr>
          <a:xfrm>
            <a:off x="10680192" y="26334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p.60</a:t>
            </a:r>
            <a:endParaRPr lang="en-US" sz="1800" dirty="0"/>
          </a:p>
        </p:txBody>
      </p:sp>
      <p:sp>
        <p:nvSpPr>
          <p:cNvPr id="42" name="Shape 39"/>
          <p:cNvSpPr/>
          <p:nvPr/>
        </p:nvSpPr>
        <p:spPr>
          <a:xfrm>
            <a:off x="6199632" y="3520440"/>
            <a:ext cx="5532120" cy="841248"/>
          </a:xfrm>
          <a:prstGeom prst="roundRect">
            <a:avLst>
              <a:gd name="adj" fmla="val 10870"/>
            </a:avLst>
          </a:prstGeom>
          <a:solidFill>
            <a:srgbClr val="DCE6F2"/>
          </a:solidFill>
          <a:ln/>
        </p:spPr>
      </p:sp>
      <p:sp>
        <p:nvSpPr>
          <p:cNvPr id="43" name="Shape 40"/>
          <p:cNvSpPr/>
          <p:nvPr/>
        </p:nvSpPr>
        <p:spPr>
          <a:xfrm>
            <a:off x="6272784" y="3739896"/>
            <a:ext cx="402336" cy="402336"/>
          </a:xfrm>
          <a:prstGeom prst="ellipse">
            <a:avLst/>
          </a:prstGeom>
          <a:solidFill>
            <a:srgbClr val="16324F"/>
          </a:solidFill>
          <a:ln w="19050">
            <a:solidFill>
              <a:srgbClr val="FFFFFF"/>
            </a:solidFill>
            <a:prstDash val="solid"/>
          </a:ln>
        </p:spPr>
      </p:sp>
      <p:sp>
        <p:nvSpPr>
          <p:cNvPr id="44" name="Text 41"/>
          <p:cNvSpPr txBox="1"/>
          <p:nvPr/>
        </p:nvSpPr>
        <p:spPr>
          <a:xfrm>
            <a:off x="6272784" y="37398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8</a:t>
            </a:r>
            <a:endParaRPr lang="en-US" sz="1800" dirty="0"/>
          </a:p>
        </p:txBody>
      </p:sp>
      <p:sp>
        <p:nvSpPr>
          <p:cNvPr id="45" name="Text 42"/>
          <p:cNvSpPr txBox="1"/>
          <p:nvPr/>
        </p:nvSpPr>
        <p:spPr>
          <a:xfrm>
            <a:off x="6793992" y="35478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業界（金融・通信・製造）と専門分野の違いは？</a:t>
            </a:r>
            <a:endParaRPr lang="en-US" sz="1800" dirty="0"/>
          </a:p>
        </p:txBody>
      </p:sp>
      <p:sp>
        <p:nvSpPr>
          <p:cNvPr id="46" name="Text 43"/>
          <p:cNvSpPr txBox="1"/>
          <p:nvPr/>
        </p:nvSpPr>
        <p:spPr>
          <a:xfrm>
            <a:off x="10680192" y="35478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p.68</a:t>
            </a:r>
            <a:endParaRPr lang="en-US" sz="1800" dirty="0"/>
          </a:p>
        </p:txBody>
      </p:sp>
      <p:sp>
        <p:nvSpPr>
          <p:cNvPr id="47" name="Shape 44"/>
          <p:cNvSpPr/>
          <p:nvPr/>
        </p:nvSpPr>
        <p:spPr>
          <a:xfrm>
            <a:off x="6199632" y="4434840"/>
            <a:ext cx="5532120" cy="841248"/>
          </a:xfrm>
          <a:prstGeom prst="roundRect">
            <a:avLst>
              <a:gd name="adj" fmla="val 10870"/>
            </a:avLst>
          </a:prstGeom>
          <a:solidFill>
            <a:srgbClr val="DCE6F2"/>
          </a:solidFill>
          <a:ln/>
        </p:spPr>
      </p:sp>
      <p:sp>
        <p:nvSpPr>
          <p:cNvPr id="48" name="Shape 45"/>
          <p:cNvSpPr/>
          <p:nvPr/>
        </p:nvSpPr>
        <p:spPr>
          <a:xfrm>
            <a:off x="6272784" y="4654296"/>
            <a:ext cx="402336" cy="402336"/>
          </a:xfrm>
          <a:prstGeom prst="ellipse">
            <a:avLst/>
          </a:prstGeom>
          <a:solidFill>
            <a:srgbClr val="16324F"/>
          </a:solidFill>
          <a:ln w="19050">
            <a:solidFill>
              <a:srgbClr val="FFFFFF"/>
            </a:solidFill>
            <a:prstDash val="solid"/>
          </a:ln>
        </p:spPr>
      </p:sp>
      <p:sp>
        <p:nvSpPr>
          <p:cNvPr id="49" name="Text 46"/>
          <p:cNvSpPr txBox="1"/>
          <p:nvPr/>
        </p:nvSpPr>
        <p:spPr>
          <a:xfrm>
            <a:off x="6272784" y="46542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9</a:t>
            </a:r>
            <a:endParaRPr lang="en-US" sz="1800" dirty="0"/>
          </a:p>
        </p:txBody>
      </p:sp>
      <p:sp>
        <p:nvSpPr>
          <p:cNvPr id="50" name="Text 47"/>
          <p:cNvSpPr txBox="1"/>
          <p:nvPr/>
        </p:nvSpPr>
        <p:spPr>
          <a:xfrm>
            <a:off x="6793992" y="44622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2年目までに、何を自分で説明・実施できるようにする？</a:t>
            </a:r>
            <a:endParaRPr lang="en-US" sz="1800" dirty="0"/>
          </a:p>
        </p:txBody>
      </p:sp>
      <p:sp>
        <p:nvSpPr>
          <p:cNvPr id="51" name="Text 48"/>
          <p:cNvSpPr txBox="1"/>
          <p:nvPr/>
        </p:nvSpPr>
        <p:spPr>
          <a:xfrm>
            <a:off x="10680192" y="44622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p.82</a:t>
            </a:r>
            <a:endParaRPr lang="en-US" sz="1800" dirty="0"/>
          </a:p>
        </p:txBody>
      </p:sp>
      <p:sp>
        <p:nvSpPr>
          <p:cNvPr id="52" name="Shape 49"/>
          <p:cNvSpPr/>
          <p:nvPr/>
        </p:nvSpPr>
        <p:spPr>
          <a:xfrm>
            <a:off x="6199632" y="5349240"/>
            <a:ext cx="5532120" cy="841248"/>
          </a:xfrm>
          <a:prstGeom prst="roundRect">
            <a:avLst>
              <a:gd name="adj" fmla="val 10870"/>
            </a:avLst>
          </a:prstGeom>
          <a:solidFill>
            <a:srgbClr val="DCE6F2"/>
          </a:solidFill>
          <a:ln/>
        </p:spPr>
      </p:sp>
      <p:sp>
        <p:nvSpPr>
          <p:cNvPr id="53" name="Shape 50"/>
          <p:cNvSpPr/>
          <p:nvPr/>
        </p:nvSpPr>
        <p:spPr>
          <a:xfrm>
            <a:off x="6272784" y="5568696"/>
            <a:ext cx="402336" cy="402336"/>
          </a:xfrm>
          <a:prstGeom prst="ellipse">
            <a:avLst/>
          </a:prstGeom>
          <a:solidFill>
            <a:srgbClr val="16324F"/>
          </a:solidFill>
          <a:ln w="19050">
            <a:solidFill>
              <a:srgbClr val="FFFFFF"/>
            </a:solidFill>
            <a:prstDash val="solid"/>
          </a:ln>
        </p:spPr>
      </p:sp>
      <p:sp>
        <p:nvSpPr>
          <p:cNvPr id="54" name="Text 51"/>
          <p:cNvSpPr txBox="1"/>
          <p:nvPr/>
        </p:nvSpPr>
        <p:spPr>
          <a:xfrm>
            <a:off x="6272784" y="556869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10</a:t>
            </a:r>
            <a:endParaRPr lang="en-US" sz="1800" dirty="0"/>
          </a:p>
        </p:txBody>
      </p:sp>
      <p:sp>
        <p:nvSpPr>
          <p:cNvPr id="55" name="Text 52"/>
          <p:cNvSpPr txBox="1"/>
          <p:nvPr/>
        </p:nvSpPr>
        <p:spPr>
          <a:xfrm>
            <a:off x="6793992" y="5376672"/>
            <a:ext cx="3886200"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確認できたこと・個別の話・提案・未確認を区別できる？</a:t>
            </a:r>
            <a:endParaRPr lang="en-US" sz="1800" dirty="0"/>
          </a:p>
        </p:txBody>
      </p:sp>
      <p:sp>
        <p:nvSpPr>
          <p:cNvPr id="56" name="Text 53"/>
          <p:cNvSpPr txBox="1"/>
          <p:nvPr/>
        </p:nvSpPr>
        <p:spPr>
          <a:xfrm>
            <a:off x="10680192" y="5376672"/>
            <a:ext cx="960120" cy="786384"/>
          </a:xfrm>
          <a:prstGeom prst="rect">
            <a:avLst/>
          </a:prstGeom>
          <a:noFill/>
          <a:ln/>
        </p:spPr>
        <p:txBody>
          <a:bodyPr wrap="square" lIns="0" tIns="0" rIns="0" bIns="0" rtlCol="0" anchor="ctr"/>
          <a:lstStyle/>
          <a:p>
            <a:pPr algn="r" indent="0" marL="0">
              <a:lnSpc>
                <a:spcPts val="2400"/>
              </a:lnSpc>
              <a:buNone/>
            </a:pPr>
            <a:r>
              <a:rPr lang="ja-JP" altLang="en-US" sz="1800" b="1" dirty="0">
                <a:solidFill>
                  <a:srgbClr val="16324F"/>
                </a:solidFill>
                <a:latin typeface="Yu Gothic" pitchFamily="34" charset="0"/>
                <a:ea typeface="Yu Gothic" pitchFamily="34" charset="-122"/>
                <a:cs typeface="Yu Gothic" pitchFamily="34" charset="-120"/>
              </a:rPr>
              <a:t>p.2・89</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確認できていないことは、確認できていないと書く</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この資料で確認できていないことを、最初に明示します。また、制作時に公式ページで再確認できたものと、できなかったものを分けて示します。</a:t>
            </a:r>
            <a:endParaRPr lang="en-US" sz="1800" dirty="0"/>
          </a:p>
        </p:txBody>
      </p:sp>
      <p:sp>
        <p:nvSpPr>
          <p:cNvPr id="7" name="Shape 4"/>
          <p:cNvSpPr/>
          <p:nvPr/>
        </p:nvSpPr>
        <p:spPr>
          <a:xfrm>
            <a:off x="457200" y="1691640"/>
            <a:ext cx="5532120" cy="457200"/>
          </a:xfrm>
          <a:prstGeom prst="roundRect">
            <a:avLst>
              <a:gd name="adj" fmla="val 20000"/>
            </a:avLst>
          </a:prstGeom>
          <a:solidFill>
            <a:srgbClr val="C0392B"/>
          </a:solidFill>
          <a:ln/>
        </p:spPr>
      </p:sp>
      <p:sp>
        <p:nvSpPr>
          <p:cNvPr id="8" name="Text 5"/>
          <p:cNvSpPr txBox="1"/>
          <p:nvPr/>
        </p:nvSpPr>
        <p:spPr>
          <a:xfrm>
            <a:off x="548640" y="1691640"/>
            <a:ext cx="53492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今回確認できていないこと</a:t>
            </a:r>
            <a:endParaRPr lang="en-US" sz="2000" dirty="0"/>
          </a:p>
        </p:txBody>
      </p:sp>
      <p:sp>
        <p:nvSpPr>
          <p:cNvPr id="9" name="Shape 6"/>
          <p:cNvSpPr/>
          <p:nvPr/>
        </p:nvSpPr>
        <p:spPr>
          <a:xfrm>
            <a:off x="457200" y="2286000"/>
            <a:ext cx="5532120" cy="685800"/>
          </a:xfrm>
          <a:prstGeom prst="roundRect">
            <a:avLst>
              <a:gd name="adj" fmla="val 16000"/>
            </a:avLst>
          </a:prstGeom>
          <a:solidFill>
            <a:srgbClr val="FBE3E0"/>
          </a:solidFill>
          <a:ln w="25400">
            <a:solidFill>
              <a:srgbClr val="C0392B"/>
            </a:solidFill>
            <a:prstDash val="solid"/>
          </a:ln>
        </p:spPr>
      </p:sp>
      <p:sp>
        <p:nvSpPr>
          <p:cNvPr id="10" name="Text 7"/>
          <p:cNvSpPr txBox="1"/>
          <p:nvPr/>
        </p:nvSpPr>
        <p:spPr>
          <a:xfrm>
            <a:off x="548640" y="2286000"/>
            <a:ext cx="5349240" cy="68580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Workの契約プラン・集計期間・4％の内訳</a:t>
            </a:r>
            <a:endParaRPr lang="en-US" sz="1800" dirty="0"/>
          </a:p>
        </p:txBody>
      </p:sp>
      <p:sp>
        <p:nvSpPr>
          <p:cNvPr id="11" name="Shape 8"/>
          <p:cNvSpPr/>
          <p:nvPr/>
        </p:nvSpPr>
        <p:spPr>
          <a:xfrm>
            <a:off x="457200" y="3063240"/>
            <a:ext cx="5532120" cy="685800"/>
          </a:xfrm>
          <a:prstGeom prst="roundRect">
            <a:avLst>
              <a:gd name="adj" fmla="val 16000"/>
            </a:avLst>
          </a:prstGeom>
          <a:solidFill>
            <a:srgbClr val="FBE3E0"/>
          </a:solidFill>
          <a:ln w="25400">
            <a:solidFill>
              <a:srgbClr val="C0392B"/>
            </a:solidFill>
            <a:prstDash val="solid"/>
          </a:ln>
        </p:spPr>
      </p:sp>
      <p:sp>
        <p:nvSpPr>
          <p:cNvPr id="12" name="Text 9"/>
          <p:cNvSpPr txBox="1"/>
          <p:nvPr/>
        </p:nvSpPr>
        <p:spPr>
          <a:xfrm>
            <a:off x="548640" y="3063240"/>
            <a:ext cx="5349240" cy="68580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個別のX投稿の制作履歴・モデル・素材</a:t>
            </a:r>
            <a:endParaRPr lang="en-US" sz="1800" dirty="0"/>
          </a:p>
        </p:txBody>
      </p:sp>
      <p:sp>
        <p:nvSpPr>
          <p:cNvPr id="13" name="Shape 10"/>
          <p:cNvSpPr/>
          <p:nvPr/>
        </p:nvSpPr>
        <p:spPr>
          <a:xfrm>
            <a:off x="457200" y="3840480"/>
            <a:ext cx="5532120" cy="685800"/>
          </a:xfrm>
          <a:prstGeom prst="roundRect">
            <a:avLst>
              <a:gd name="adj" fmla="val 16000"/>
            </a:avLst>
          </a:prstGeom>
          <a:solidFill>
            <a:srgbClr val="FBE3E0"/>
          </a:solidFill>
          <a:ln w="25400">
            <a:solidFill>
              <a:srgbClr val="C0392B"/>
            </a:solidFill>
            <a:prstDash val="solid"/>
          </a:ln>
        </p:spPr>
      </p:sp>
      <p:sp>
        <p:nvSpPr>
          <p:cNvPr id="14" name="Text 11"/>
          <p:cNvSpPr txBox="1"/>
          <p:nvPr/>
        </p:nvSpPr>
        <p:spPr>
          <a:xfrm>
            <a:off x="548640" y="3840480"/>
            <a:ext cx="5349240" cy="68580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HPEの本人の配属・非公開契約・チーム別の条件</a:t>
            </a:r>
            <a:endParaRPr lang="en-US" sz="1800" dirty="0"/>
          </a:p>
        </p:txBody>
      </p:sp>
      <p:sp>
        <p:nvSpPr>
          <p:cNvPr id="15" name="Shape 12"/>
          <p:cNvSpPr/>
          <p:nvPr/>
        </p:nvSpPr>
        <p:spPr>
          <a:xfrm>
            <a:off x="457200" y="4617720"/>
            <a:ext cx="5532120" cy="685800"/>
          </a:xfrm>
          <a:prstGeom prst="roundRect">
            <a:avLst>
              <a:gd name="adj" fmla="val 16000"/>
            </a:avLst>
          </a:prstGeom>
          <a:solidFill>
            <a:srgbClr val="FBE3E0"/>
          </a:solidFill>
          <a:ln w="25400">
            <a:solidFill>
              <a:srgbClr val="C0392B"/>
            </a:solidFill>
            <a:prstDash val="solid"/>
          </a:ln>
        </p:spPr>
      </p:sp>
      <p:sp>
        <p:nvSpPr>
          <p:cNvPr id="16" name="Text 13"/>
          <p:cNvSpPr txBox="1"/>
          <p:nvPr/>
        </p:nvSpPr>
        <p:spPr>
          <a:xfrm>
            <a:off x="548640" y="4617720"/>
            <a:ext cx="5349240" cy="68580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OpenWorkの登録・ログインが必要な投稿の全文</a:t>
            </a:r>
            <a:endParaRPr lang="en-US" sz="1800" dirty="0"/>
          </a:p>
        </p:txBody>
      </p:sp>
      <p:sp>
        <p:nvSpPr>
          <p:cNvPr id="17" name="Shape 14"/>
          <p:cNvSpPr/>
          <p:nvPr/>
        </p:nvSpPr>
        <p:spPr>
          <a:xfrm>
            <a:off x="457200" y="5394960"/>
            <a:ext cx="5532120" cy="685800"/>
          </a:xfrm>
          <a:prstGeom prst="roundRect">
            <a:avLst>
              <a:gd name="adj" fmla="val 16000"/>
            </a:avLst>
          </a:prstGeom>
          <a:solidFill>
            <a:srgbClr val="FBE3E0"/>
          </a:solidFill>
          <a:ln w="25400">
            <a:solidFill>
              <a:srgbClr val="C0392B"/>
            </a:solidFill>
            <a:prstDash val="solid"/>
          </a:ln>
        </p:spPr>
      </p:sp>
      <p:sp>
        <p:nvSpPr>
          <p:cNvPr id="18" name="Text 15"/>
          <p:cNvSpPr txBox="1"/>
          <p:nvPr/>
        </p:nvSpPr>
        <p:spPr>
          <a:xfrm>
            <a:off x="548640" y="5394960"/>
            <a:ext cx="5349240" cy="68580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まだ提供されていない、将来の質問・回答</a:t>
            </a:r>
            <a:endParaRPr lang="en-US" sz="1800" dirty="0"/>
          </a:p>
        </p:txBody>
      </p:sp>
      <p:sp>
        <p:nvSpPr>
          <p:cNvPr id="19" name="Shape 16"/>
          <p:cNvSpPr/>
          <p:nvPr/>
        </p:nvSpPr>
        <p:spPr>
          <a:xfrm>
            <a:off x="6199632" y="1691640"/>
            <a:ext cx="5532120" cy="457200"/>
          </a:xfrm>
          <a:prstGeom prst="roundRect">
            <a:avLst>
              <a:gd name="adj" fmla="val 20000"/>
            </a:avLst>
          </a:prstGeom>
          <a:solidFill>
            <a:srgbClr val="16324F"/>
          </a:solidFill>
          <a:ln/>
        </p:spPr>
      </p:sp>
      <p:sp>
        <p:nvSpPr>
          <p:cNvPr id="20" name="Text 17"/>
          <p:cNvSpPr txBox="1"/>
          <p:nvPr/>
        </p:nvSpPr>
        <p:spPr>
          <a:xfrm>
            <a:off x="6291072" y="1691640"/>
            <a:ext cx="53492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制作時点（2026/9/30）の再確認</a:t>
            </a:r>
            <a:endParaRPr lang="en-US" sz="20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6199632" y="2286000"/>
          <a:ext cx="5532120" cy="914400"/>
        </p:xfrm>
        <a:graphic>
          <a:graphicData uri="http://schemas.openxmlformats.org/drawingml/2006/table">
            <a:tbl>
              <a:tblPr/>
              <a:tblGrid>
                <a:gridCol w="3108960"/>
                <a:gridCol w="242316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情報</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結果</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772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Anthropic公式（モデル・料金・ファイル作成）</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資料と一致を確認</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OpenAI・HPE・ASML・IEA・キオクシア・TEL</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環境から接続できず未確認</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7724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上記以外の出典</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再確認していない（原資料の時点）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今後のQ&amp;Aは、形式を決めて資料に追記してから渡す</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今後の質問と回答を、この資料に足すときの書き方です。日付・質問・回答・出典・更新箇所をそろえて記録し、古い情報は訂正します。</a:t>
            </a:r>
            <a:endParaRPr lang="en-US" sz="18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3108960"/>
                <a:gridCol w="81655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書く内容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追記ID・日付</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どの追加情報か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質問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知りたかったこと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回答・具体例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結論・理由・処理の流れ</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根拠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出典URL・資料の日付・閲覧日</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情報の種類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公式・口コミ・本人の話・推論／提案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教材に入れる場所</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既存章に追加・新しい章・付録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更新箇所</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古い記載の修正・追加のみ・未確認事項</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5760720"/>
            <a:ext cx="11274552" cy="548640"/>
          </a:xfrm>
          <a:prstGeom prst="roundRect">
            <a:avLst>
              <a:gd name="adj" fmla="val 20000"/>
            </a:avLst>
          </a:prstGeom>
          <a:solidFill>
            <a:srgbClr val="FBE3E0"/>
          </a:solidFill>
          <a:ln w="19050">
            <a:solidFill>
              <a:srgbClr val="C0392B"/>
            </a:solidFill>
            <a:prstDash val="solid"/>
          </a:ln>
        </p:spPr>
      </p:sp>
      <p:sp>
        <p:nvSpPr>
          <p:cNvPr id="9" name="Shape 5"/>
          <p:cNvSpPr/>
          <p:nvPr/>
        </p:nvSpPr>
        <p:spPr>
          <a:xfrm>
            <a:off x="594360" y="5852160"/>
            <a:ext cx="365760" cy="365760"/>
          </a:xfrm>
          <a:prstGeom prst="ellipse">
            <a:avLst/>
          </a:prstGeom>
          <a:solidFill>
            <a:srgbClr val="C0392B"/>
          </a:solidFill>
          <a:ln/>
        </p:spPr>
      </p:sp>
      <p:pic>
        <p:nvPicPr>
          <p:cNvPr id="10" name="Image 0" descr="preencoded.png">    </p:cNvPr>
          <p:cNvPicPr>
            <a:picLocks noChangeAspect="1"/>
          </p:cNvPicPr>
          <p:nvPr/>
        </p:nvPicPr>
        <p:blipFill>
          <a:blip r:embed="rId1"/>
          <a:stretch>
            <a:fillRect/>
          </a:stretch>
        </p:blipFill>
        <p:spPr>
          <a:xfrm>
            <a:off x="674827" y="5932627"/>
            <a:ext cx="204826" cy="204826"/>
          </a:xfrm>
          <a:prstGeom prst="rect">
            <a:avLst/>
          </a:prstGeom>
        </p:spPr>
      </p:pic>
      <p:sp>
        <p:nvSpPr>
          <p:cNvPr id="11" name="Text 6"/>
          <p:cNvSpPr txBox="1"/>
          <p:nvPr/>
        </p:nvSpPr>
        <p:spPr>
          <a:xfrm>
            <a:off x="1097280" y="5806440"/>
            <a:ext cx="10497312" cy="4572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将来の回答を想像して埋めない。変わりやすい情報は更新時に再確認する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出典一覧 1／2：[B01]〜[N05]</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本文の[B01]・[N05]などの番号と、資料名の対応表です。完全なURLは、このスライドと各スライドのノートに載せています。</a:t>
            </a:r>
            <a:endParaRPr lang="en-US" sz="18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532120" cy="914400"/>
        </p:xfrm>
        <a:graphic>
          <a:graphicData uri="http://schemas.openxmlformats.org/drawingml/2006/table">
            <a:tbl>
              <a:tblPr/>
              <a:tblGrid>
                <a:gridCol w="640080"/>
                <a:gridCol w="4892040"/>
              </a:tblGrid>
              <a:tr h="457200">
                <a:tc>
                  <a:txBody>
                    <a:bodyPr/>
                    <a:lstStyle/>
                    <a:p>
                      <a:pPr algn="ctr" indent="0" marL="0">
                        <a:lnSpc>
                          <a:spcPts val="1800"/>
                        </a:lnSpc>
                        <a:buNone/>
                      </a:pPr>
                      <a:r>
                        <a:rPr lang="ja-JP" altLang="en-US" sz="1400" b="1" dirty="0">
                          <a:solidFill>
                            <a:srgbClr val="FFFFFF"/>
                          </a:solidFill>
                          <a:latin typeface="Yu Gothic" pitchFamily="34" charset="0"/>
                          <a:ea typeface="Yu Gothic" pitchFamily="34" charset="-122"/>
                          <a:cs typeface="Yu Gothic" pitchFamily="34" charset="-120"/>
                        </a:rPr>
                        <a:t>ID</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1800"/>
                        </a:lnSpc>
                        <a:buNone/>
                      </a:pPr>
                      <a:r>
                        <a:rPr lang="ja-JP" altLang="en-US" sz="1400" b="1" dirty="0">
                          <a:solidFill>
                            <a:srgbClr val="FFFFFF"/>
                          </a:solidFill>
                          <a:latin typeface="Yu Gothic" pitchFamily="34" charset="0"/>
                          <a:ea typeface="Yu Gothic" pitchFamily="34" charset="-122"/>
                          <a:cs typeface="Yu Gothic" pitchFamily="34" charset="-120"/>
                        </a:rPr>
                        <a:t>資料名</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B01</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暗号化DNSの説明</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B02</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Traditional NAT／NAPT：RFC 3022</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B03</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HTTP/3とQUICの説明</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B04</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NTP：RFC 5905</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B05</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MicrosoftとOpenAIの協業に関する2026年4月発表</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B06</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NTTドコモ：電波に影響する環境</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B07</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Supercell：Brawl Starsの対戦地域・マッチング</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B08</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Unity：一般的なゲームネットワークと遅延処理</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B09</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OpenAI：応答のストリーミング</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B10</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NVIDIAとSK Group：AI基盤・メモリの協業</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B11</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キオクシア：2026年7月30日の製品発表</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B12</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東京エレクトロン：2026年6月26日の発表</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B13</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IEA：Energy and AI</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83" name="Table 1"/>
          <p:cNvGraphicFramePr>
            <a:graphicFrameLocks noGrp="1"/>
          </p:cNvGraphicFramePr>
          <p:nvPr>
            <p:extLst>
              <p:ext uri="{D42A27DB-BD31-4B8C-83A1-F6EECF244321}">
                <p14:modId xmlns:p14="http://schemas.microsoft.com/office/powerpoint/2010/main" val="1579011935"/>
              </p:ext>
            </p:extLst>
          </p:nvPr>
        </p:nvGraphicFramePr>
        <p:xfrm>
          <a:off x="6199632" y="1691640"/>
          <a:ext cx="5532120" cy="914400"/>
        </p:xfrm>
        <a:graphic>
          <a:graphicData uri="http://schemas.openxmlformats.org/drawingml/2006/table">
            <a:tbl>
              <a:tblPr/>
              <a:tblGrid>
                <a:gridCol w="640080"/>
                <a:gridCol w="4892040"/>
              </a:tblGrid>
              <a:tr h="457200">
                <a:tc>
                  <a:txBody>
                    <a:bodyPr/>
                    <a:lstStyle/>
                    <a:p>
                      <a:pPr algn="ctr" indent="0" marL="0">
                        <a:lnSpc>
                          <a:spcPts val="1800"/>
                        </a:lnSpc>
                        <a:buNone/>
                      </a:pPr>
                      <a:r>
                        <a:rPr lang="ja-JP" altLang="en-US" sz="1400" b="1" dirty="0">
                          <a:solidFill>
                            <a:srgbClr val="FFFFFF"/>
                          </a:solidFill>
                          <a:latin typeface="Yu Gothic" pitchFamily="34" charset="0"/>
                          <a:ea typeface="Yu Gothic" pitchFamily="34" charset="-122"/>
                          <a:cs typeface="Yu Gothic" pitchFamily="34" charset="-120"/>
                        </a:rPr>
                        <a:t>ID</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1800"/>
                        </a:lnSpc>
                        <a:buNone/>
                      </a:pPr>
                      <a:r>
                        <a:rPr lang="ja-JP" altLang="en-US" sz="1400" b="1" dirty="0">
                          <a:solidFill>
                            <a:srgbClr val="FFFFFF"/>
                          </a:solidFill>
                          <a:latin typeface="Yu Gothic" pitchFamily="34" charset="0"/>
                          <a:ea typeface="Yu Gothic" pitchFamily="34" charset="-122"/>
                          <a:cs typeface="Yu Gothic" pitchFamily="34" charset="-120"/>
                        </a:rPr>
                        <a:t>資料名</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B14</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Microsoft：データセンターの水利用</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B15</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Stanford AI Index 2026：研究開発</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B16</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Stanford AI Index 2026：経済</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B17</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米商務省BIS：半導体の輸出管理</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B18</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欧州投資銀行：成長企業の資金調達</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B19</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欧州委員会：AI Gigafactories</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B20</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ASML：EUV露光装置</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B21</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Microsoft：ネットワーク・DNSの確認</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N01</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OpenAI：Work／Codexの料金・使用量</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N02</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OpenAI：ChatGPT Workの使用量とコスト</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N03</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OpenAI：モデルの選び方</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N04</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OpenAI：画像生成機能</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N05</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Anthropic：Claudeでファイルを作成・編集</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457200" y="6144768"/>
            <a:ext cx="11274552" cy="274320"/>
          </a:xfrm>
          <a:prstGeom prst="rect">
            <a:avLst/>
          </a:prstGeom>
          <a:noFill/>
          <a:ln/>
        </p:spPr>
        <p:txBody>
          <a:bodyPr wrap="square" lIns="0" tIns="0" rIns="0" bIns="0" rtlCol="0" anchor="t"/>
          <a:lstStyle/>
          <a:p>
            <a:pPr algn="l"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完全なURLは、このスライドのノートと各スライドのノートに記載。補＝補助的な製品・採用資料</a:t>
            </a:r>
            <a:endParaRPr lang="en-US" sz="14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復習・出典</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出典一覧 2／2：[N06]〜[補]</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出典一覧の後半です。[補]は、補助的な製品・採用資料です。完全なURLは、このスライドと各スライドのノートに載せています。</a:t>
            </a:r>
            <a:endParaRPr lang="en-US" sz="18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532120" cy="914400"/>
        </p:xfrm>
        <a:graphic>
          <a:graphicData uri="http://schemas.openxmlformats.org/drawingml/2006/table">
            <a:tbl>
              <a:tblPr/>
              <a:tblGrid>
                <a:gridCol w="640080"/>
                <a:gridCol w="4892040"/>
              </a:tblGrid>
              <a:tr h="457200">
                <a:tc>
                  <a:txBody>
                    <a:bodyPr/>
                    <a:lstStyle/>
                    <a:p>
                      <a:pPr algn="ctr" indent="0" marL="0">
                        <a:lnSpc>
                          <a:spcPts val="1800"/>
                        </a:lnSpc>
                        <a:buNone/>
                      </a:pPr>
                      <a:r>
                        <a:rPr lang="ja-JP" altLang="en-US" sz="1400" b="1" dirty="0">
                          <a:solidFill>
                            <a:srgbClr val="FFFFFF"/>
                          </a:solidFill>
                          <a:latin typeface="Yu Gothic" pitchFamily="34" charset="0"/>
                          <a:ea typeface="Yu Gothic" pitchFamily="34" charset="-122"/>
                          <a:cs typeface="Yu Gothic" pitchFamily="34" charset="-120"/>
                        </a:rPr>
                        <a:t>ID</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1800"/>
                        </a:lnSpc>
                        <a:buNone/>
                      </a:pPr>
                      <a:r>
                        <a:rPr lang="ja-JP" altLang="en-US" sz="1400" b="1" dirty="0">
                          <a:solidFill>
                            <a:srgbClr val="FFFFFF"/>
                          </a:solidFill>
                          <a:latin typeface="Yu Gothic" pitchFamily="34" charset="0"/>
                          <a:ea typeface="Yu Gothic" pitchFamily="34" charset="-122"/>
                          <a:cs typeface="Yu Gothic" pitchFamily="34" charset="-120"/>
                        </a:rPr>
                        <a:t>資料名</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N06</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Anthropic：Claude Sonnet 5.5、2026年9月28日発表</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N07</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Anthropic：ClaudeのWeb検索</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N08</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Anthropic：Claude Opus 5.5、2026年9月22日発表</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N09</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Microsoft：Copilot in PowerPoint</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N10</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Anthropic：Claude Haiku</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N11</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OpenAI：API料金</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N12</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Anthropic：API料金</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N13</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Anthropic：Claude Codeと開発作業</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N14</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LabBase：HPEが掲載した2027年新卒SE採用情報</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N15</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マイナビ2027：HPEの採用データ・給与例</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N16</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OpenWork：日本ヒューレット・パッカードの公開集計</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N17</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HPE：Juniper買収完了、2025年7月2日</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N18</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HPE：iLO</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85" name="Table 1"/>
          <p:cNvGraphicFramePr>
            <a:graphicFrameLocks noGrp="1"/>
          </p:cNvGraphicFramePr>
          <p:nvPr>
            <p:extLst>
              <p:ext uri="{D42A27DB-BD31-4B8C-83A1-F6EECF244321}">
                <p14:modId xmlns:p14="http://schemas.microsoft.com/office/powerpoint/2010/main" val="1579011935"/>
              </p:ext>
            </p:extLst>
          </p:nvPr>
        </p:nvGraphicFramePr>
        <p:xfrm>
          <a:off x="6199632" y="1691640"/>
          <a:ext cx="5532120" cy="914400"/>
        </p:xfrm>
        <a:graphic>
          <a:graphicData uri="http://schemas.openxmlformats.org/drawingml/2006/table">
            <a:tbl>
              <a:tblPr/>
              <a:tblGrid>
                <a:gridCol w="640080"/>
                <a:gridCol w="4892040"/>
              </a:tblGrid>
              <a:tr h="457200">
                <a:tc>
                  <a:txBody>
                    <a:bodyPr/>
                    <a:lstStyle/>
                    <a:p>
                      <a:pPr algn="ctr" indent="0" marL="0">
                        <a:lnSpc>
                          <a:spcPts val="1800"/>
                        </a:lnSpc>
                        <a:buNone/>
                      </a:pPr>
                      <a:r>
                        <a:rPr lang="ja-JP" altLang="en-US" sz="1400" b="1" dirty="0">
                          <a:solidFill>
                            <a:srgbClr val="FFFFFF"/>
                          </a:solidFill>
                          <a:latin typeface="Yu Gothic" pitchFamily="34" charset="0"/>
                          <a:ea typeface="Yu Gothic" pitchFamily="34" charset="-122"/>
                          <a:cs typeface="Yu Gothic" pitchFamily="34" charset="-120"/>
                        </a:rPr>
                        <a:t>ID</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1800"/>
                        </a:lnSpc>
                        <a:buNone/>
                      </a:pPr>
                      <a:r>
                        <a:rPr lang="ja-JP" altLang="en-US" sz="1400" b="1" dirty="0">
                          <a:solidFill>
                            <a:srgbClr val="FFFFFF"/>
                          </a:solidFill>
                          <a:latin typeface="Yu Gothic" pitchFamily="34" charset="0"/>
                          <a:ea typeface="Yu Gothic" pitchFamily="34" charset="-122"/>
                          <a:cs typeface="Yu Gothic" pitchFamily="34" charset="-120"/>
                        </a:rPr>
                        <a:t>資料名</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N19</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HPE：iLO Redfish APIとPython</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N20</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HPE：NVIDIAとのAI基盤の協業、2026年3月</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N21</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Microsoft：BitLocker回復キー・デバイス暗号化</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N22</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Microsoft：WSL学習環境</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N23</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HPE：技術トレーニングと認定</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N24</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Google：Gemini・GoogleサービスのAI機能</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N25</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Perplexity：Researchと提供機能</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N26</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xAI：X Search</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補</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HPEの日本向け学生・新卒採用</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補</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HPE Morpheus（製品ページ）</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274320">
                <a:tc>
                  <a:txBody>
                    <a:bodyPr/>
                    <a:lstStyle/>
                    <a:p>
                      <a:pPr algn="l"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補</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1800"/>
                        </a:lnSpc>
                        <a:buNone/>
                      </a:pPr>
                      <a:r>
                        <a:rPr lang="ja-JP" altLang="en-US" sz="1400" dirty="0">
                          <a:solidFill>
                            <a:srgbClr val="1B2A3A"/>
                          </a:solidFill>
                          <a:latin typeface="Yu Gothic" pitchFamily="34" charset="0"/>
                          <a:ea typeface="Yu Gothic" pitchFamily="34" charset="-122"/>
                          <a:cs typeface="Yu Gothic" pitchFamily="34" charset="-120"/>
                        </a:rPr>
                        <a:t>HPE NonStop（製品資料）</a:t>
                      </a:r>
                      <a:endParaRPr lang="en-US" sz="1200" dirty="0"/>
                    </a:p>
                  </a:txBody>
                  <a:tcPr marL="63500" marR="63500" marT="12700" marB="127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457200" y="6144768"/>
            <a:ext cx="11274552" cy="274320"/>
          </a:xfrm>
          <a:prstGeom prst="rect">
            <a:avLst/>
          </a:prstGeom>
          <a:noFill/>
          <a:ln/>
        </p:spPr>
        <p:txBody>
          <a:bodyPr wrap="square" lIns="0" tIns="0" rIns="0" bIns="0" rtlCol="0" anchor="t"/>
          <a:lstStyle/>
          <a:p>
            <a:pPr algn="l"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完全なURLは、このスライドのノートと各スライドのノートに記載。補＝補助的な製品・採用資料</a:t>
            </a:r>
            <a:endParaRPr lang="en-US" sz="14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ITインフラ・AI・HPEのSEに向けた統合学習資料</dc:title>
  <dc:subject>PptxGenJS Presentation</dc:subject>
  <dc:creator>学習教材（未経験者向け）</dc:creator>
  <cp:lastModifiedBy>学習教材（未経験者向け）</cp:lastModifiedBy>
  <cp:revision>1</cp:revision>
  <dcterms:created xsi:type="dcterms:W3CDTF">2026-09-30T19:20:35Z</dcterms:created>
  <dcterms:modified xsi:type="dcterms:W3CDTF">2026-09-30T19:20:35Z</dcterms:modified>
</cp:coreProperties>
</file>