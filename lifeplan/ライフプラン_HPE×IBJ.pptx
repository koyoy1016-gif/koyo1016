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9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万円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通常月の黒字</c:v>
                  </c:pt>
                  <c:pt idx="1">
                    <c:v>通信費</c:v>
                  </c:pt>
                  <c:pt idx="2">
                    <c:v>光熱費</c:v>
                  </c:pt>
                  <c:pt idx="3">
                    <c:v>日用品・保険・医療・交通</c:v>
                  </c:pt>
                  <c:pt idx="4">
                    <c:v>旅行などの積立</c:v>
                  </c:pt>
                  <c:pt idx="5">
                    <c:v>特別費・家電の積立</c:v>
                  </c:pt>
                  <c:pt idx="6">
                    <c:v>食費</c:v>
                  </c:pt>
                  <c:pt idx="7">
                    <c:v>個人費（2人分）</c:v>
                  </c:pt>
                  <c:pt idx="8">
                    <c:v>家賃・管理費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5.7</c:v>
                </c:pt>
                <c:pt idx="1">
                  <c:v>1.1</c:v>
                </c:pt>
                <c:pt idx="2">
                  <c:v>1.8</c:v>
                </c:pt>
                <c:pt idx="3">
                  <c:v>2.5</c:v>
                </c:pt>
                <c:pt idx="4">
                  <c:v>2.5</c:v>
                </c:pt>
                <c:pt idx="5">
                  <c:v>3.5</c:v>
                </c:pt>
                <c:pt idx="6">
                  <c:v>5</c:v>
                </c:pt>
                <c:pt idx="7">
                  <c:v>9.5</c:v>
                </c:pt>
                <c:pt idx="8">
                  <c:v>11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男性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2027年度</c:v>
                  </c:pt>
                  <c:pt idx="1">
                    <c:v>2028年度</c:v>
                  </c:pt>
                  <c:pt idx="2">
                    <c:v>2029年度</c:v>
                  </c:pt>
                  <c:pt idx="3">
                    <c:v>2030年度</c:v>
                  </c:pt>
                  <c:pt idx="4">
                    <c:v>2031年度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199</c:v>
                </c:pt>
                <c:pt idx="1">
                  <c:v>304</c:v>
                </c:pt>
                <c:pt idx="2">
                  <c:v>368</c:v>
                </c:pt>
                <c:pt idx="3">
                  <c:v>540</c:v>
                </c:pt>
                <c:pt idx="4">
                  <c:v>722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女性</c:v>
                </c:pt>
              </c:strCache>
            </c:strRef>
          </c:tx>
          <c:spPr>
            <a:solidFill>
              <a:srgbClr val="E860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2027年度</c:v>
                  </c:pt>
                  <c:pt idx="1">
                    <c:v>2028年度</c:v>
                  </c:pt>
                  <c:pt idx="2">
                    <c:v>2029年度</c:v>
                  </c:pt>
                  <c:pt idx="3">
                    <c:v>2030年度</c:v>
                  </c:pt>
                  <c:pt idx="4">
                    <c:v>2031年度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160</c:v>
                </c:pt>
                <c:pt idx="1">
                  <c:v>143</c:v>
                </c:pt>
                <c:pt idx="2">
                  <c:v>118</c:v>
                </c:pt>
                <c:pt idx="3">
                  <c:v>175</c:v>
                </c:pt>
                <c:pt idx="4">
                  <c:v>241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Meiryo"/>
              </a:defRPr>
            </a:pPr>
            <a:r>
              <a:rPr sz="1100" b="0" i="0" u="none" strike="noStrike">
                <a:solidFill>
                  <a:srgbClr val="1F2933"/>
                </a:solidFill>
                <a:latin typeface="Meiryo"/>
              </a:rPr>
              <a:t>累計金融資産（万円、シナリオA）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好調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22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55</c:v>
                  </c:pt>
                  <c:pt idx="8">
                    <c:v>60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359</c:v>
                </c:pt>
                <c:pt idx="1">
                  <c:v>607</c:v>
                </c:pt>
                <c:pt idx="2">
                  <c:v>2083</c:v>
                </c:pt>
                <c:pt idx="3">
                  <c:v>4141</c:v>
                </c:pt>
                <c:pt idx="4">
                  <c:v>6687</c:v>
                </c:pt>
                <c:pt idx="5">
                  <c:v>9506</c:v>
                </c:pt>
                <c:pt idx="6">
                  <c:v>12504</c:v>
                </c:pt>
                <c:pt idx="7">
                  <c:v>15515</c:v>
                </c:pt>
                <c:pt idx="8">
                  <c:v>17963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標準</c:v>
                </c:pt>
              </c:strCache>
            </c:strRef>
          </c:tx>
          <c:spPr>
            <a:solidFill>
              <a:srgbClr val="114B5F"/>
            </a:solidFill>
            <a:ln w="25400" cap="flat">
              <a:solidFill>
                <a:srgbClr val="114B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14B5F"/>
              </a:solidFill>
              <a:ln w="9525" cap="flat">
                <a:solidFill>
                  <a:srgbClr val="114B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22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55</c:v>
                  </c:pt>
                  <c:pt idx="8">
                    <c:v>60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359</c:v>
                </c:pt>
                <c:pt idx="1">
                  <c:v>510</c:v>
                </c:pt>
                <c:pt idx="2">
                  <c:v>1534</c:v>
                </c:pt>
                <c:pt idx="3">
                  <c:v>2899</c:v>
                </c:pt>
                <c:pt idx="4">
                  <c:v>4518</c:v>
                </c:pt>
                <c:pt idx="5">
                  <c:v>6221</c:v>
                </c:pt>
                <c:pt idx="6">
                  <c:v>8002</c:v>
                </c:pt>
                <c:pt idx="7">
                  <c:v>9760</c:v>
                </c:pt>
                <c:pt idx="8">
                  <c:v>11140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保守</c:v>
                </c:pt>
              </c:strCache>
            </c:strRef>
          </c:tx>
          <c:spPr>
            <a:solidFill>
              <a:srgbClr val="E8603C"/>
            </a:solidFill>
            <a:ln w="25400" cap="flat">
              <a:solidFill>
                <a:srgbClr val="E860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603C"/>
              </a:solidFill>
              <a:ln w="9525" cap="flat">
                <a:solidFill>
                  <a:srgbClr val="E860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22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55</c:v>
                  </c:pt>
                  <c:pt idx="8">
                    <c:v>60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359</c:v>
                </c:pt>
                <c:pt idx="1">
                  <c:v>452</c:v>
                </c:pt>
                <c:pt idx="2">
                  <c:v>1168</c:v>
                </c:pt>
                <c:pt idx="3">
                  <c:v>2022</c:v>
                </c:pt>
                <c:pt idx="4">
                  <c:v>3007</c:v>
                </c:pt>
                <c:pt idx="5">
                  <c:v>3994</c:v>
                </c:pt>
                <c:pt idx="6">
                  <c:v>4998</c:v>
                </c:pt>
                <c:pt idx="7">
                  <c:v>5963</c:v>
                </c:pt>
                <c:pt idx="8">
                  <c:v>6628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770"/>
                    </a:solidFill>
                    <a:latin typeface="Arial"/>
                  </a:rPr>
                  <a:t>年齢（歳）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Meiryo"/>
              </a:defRPr>
            </a:pPr>
            <a:r>
              <a:rPr sz="1100" b="0" i="0" u="none" strike="noStrike">
                <a:solidFill>
                  <a:srgbClr val="1F2933"/>
                </a:solidFill>
                <a:latin typeface="Meiryo"/>
              </a:rPr>
              <a:t>男性の額面年収（万円）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 好調</c:v>
                </c:pt>
              </c:strCache>
            </c:strRef>
          </c:tx>
          <c:spPr>
            <a:solidFill>
              <a:srgbClr val="9CCFD8"/>
            </a:solidFill>
            <a:ln w="25400" cap="flat">
              <a:solidFill>
                <a:srgbClr val="9CCF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CCFD8"/>
              </a:solidFill>
              <a:ln w="9525" cap="flat">
                <a:solidFill>
                  <a:srgbClr val="9CCF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28</c:v>
                  </c:pt>
                  <c:pt idx="1">
                    <c:v>30</c:v>
                  </c:pt>
                  <c:pt idx="2">
                    <c:v>35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850</c:v>
                </c:pt>
                <c:pt idx="1">
                  <c:v>920</c:v>
                </c:pt>
                <c:pt idx="2">
                  <c:v>1150</c:v>
                </c:pt>
                <c:pt idx="3">
                  <c:v>1350</c:v>
                </c:pt>
                <c:pt idx="4">
                  <c:v>1500</c:v>
                </c:pt>
                <c:pt idx="5">
                  <c:v>1100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標準（転職）</c:v>
                </c:pt>
              </c:strCache>
            </c:strRef>
          </c:tx>
          <c:spPr>
            <a:solidFill>
              <a:srgbClr val="E8603C"/>
            </a:solidFill>
            <a:ln w="25400" cap="flat">
              <a:solidFill>
                <a:srgbClr val="E860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603C"/>
              </a:solidFill>
              <a:ln w="9525" cap="flat">
                <a:solidFill>
                  <a:srgbClr val="E860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28</c:v>
                  </c:pt>
                  <c:pt idx="1">
                    <c:v>30</c:v>
                  </c:pt>
                  <c:pt idx="2">
                    <c:v>35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715</c:v>
                </c:pt>
                <c:pt idx="1">
                  <c:v>760</c:v>
                </c:pt>
                <c:pt idx="2">
                  <c:v>900</c:v>
                </c:pt>
                <c:pt idx="3">
                  <c:v>980</c:v>
                </c:pt>
                <c:pt idx="4">
                  <c:v>1050</c:v>
                </c:pt>
                <c:pt idx="5">
                  <c:v>760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 標準（HPE残留）</c:v>
                </c:pt>
              </c:strCache>
            </c:strRef>
          </c:tx>
          <c:spPr>
            <a:solidFill>
              <a:srgbClr val="114B5F"/>
            </a:solidFill>
            <a:ln w="25400" cap="flat">
              <a:solidFill>
                <a:srgbClr val="114B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14B5F"/>
              </a:solidFill>
              <a:ln w="9525" cap="flat">
                <a:solidFill>
                  <a:srgbClr val="114B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28</c:v>
                  </c:pt>
                  <c:pt idx="1">
                    <c:v>30</c:v>
                  </c:pt>
                  <c:pt idx="2">
                    <c:v>35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610</c:v>
                </c:pt>
                <c:pt idx="1">
                  <c:v>680</c:v>
                </c:pt>
                <c:pt idx="2">
                  <c:v>800</c:v>
                </c:pt>
                <c:pt idx="3">
                  <c:v>880</c:v>
                </c:pt>
                <c:pt idx="4">
                  <c:v>950</c:v>
                </c:pt>
                <c:pt idx="5">
                  <c:v>720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 保守</c:v>
                </c:pt>
              </c:strCache>
            </c:strRef>
          </c:tx>
          <c:spPr>
            <a:solidFill>
              <a:srgbClr val="F2B8A6"/>
            </a:solidFill>
            <a:ln w="25400" cap="flat">
              <a:solidFill>
                <a:srgbClr val="F2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B8A6"/>
              </a:solidFill>
              <a:ln w="9525" cap="flat">
                <a:solidFill>
                  <a:srgbClr val="F2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28</c:v>
                  </c:pt>
                  <c:pt idx="1">
                    <c:v>30</c:v>
                  </c:pt>
                  <c:pt idx="2">
                    <c:v>35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560</c:v>
                </c:pt>
                <c:pt idx="1">
                  <c:v>590</c:v>
                </c:pt>
                <c:pt idx="2">
                  <c:v>650</c:v>
                </c:pt>
                <c:pt idx="3">
                  <c:v>690</c:v>
                </c:pt>
                <c:pt idx="4">
                  <c:v>700</c:v>
                </c:pt>
                <c:pt idx="5">
                  <c:v>520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契約時の費用</c:v>
                </c:pt>
              </c:strCache>
            </c:strRef>
          </c:tx>
          <c:spPr>
            <a:solidFill>
              <a:srgbClr val="114B5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節約</c:v>
                  </c:pt>
                  <c:pt idx="1">
                    <c:v>標準</c:v>
                  </c:pt>
                  <c:pt idx="2">
                    <c:v>余裕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22.8</c:v>
                </c:pt>
                <c:pt idx="1">
                  <c:v>59</c:v>
                </c:pt>
                <c:pt idx="2">
                  <c:v>76.5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家具家電・生活用品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節約</c:v>
                  </c:pt>
                  <c:pt idx="1">
                    <c:v>標準</c:v>
                  </c:pt>
                  <c:pt idx="2">
                    <c:v>余裕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62</c:v>
                </c:pt>
                <c:pt idx="2">
                  <c:v>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在宅設備・回線</c:v>
                </c:pt>
              </c:strCache>
            </c:strRef>
          </c:tx>
          <c:spPr>
            <a:solidFill>
              <a:srgbClr val="7FB7C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節約</c:v>
                  </c:pt>
                  <c:pt idx="1">
                    <c:v>標準</c:v>
                  </c:pt>
                  <c:pt idx="2">
                    <c:v>余裕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27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生活防衛資金</c:v>
                </c:pt>
              </c:strCache>
            </c:strRef>
          </c:tx>
          <c:spPr>
            <a:solidFill>
              <a:srgbClr val="E8603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節約</c:v>
                  </c:pt>
                  <c:pt idx="1">
                    <c:v>標準</c:v>
                  </c:pt>
                  <c:pt idx="2">
                    <c:v>余裕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55</c:v>
                </c:pt>
                <c:pt idx="1">
                  <c:v>74</c:v>
                </c:pt>
                <c:pt idx="2">
                  <c:v>111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Meiryo"/>
              </a:defRPr>
            </a:pPr>
            <a:r>
              <a:rPr sz="1000" b="0" i="0" u="none" strike="noStrike">
                <a:solidFill>
                  <a:srgbClr val="1F2933"/>
                </a:solidFill>
                <a:latin typeface="Meiryo"/>
              </a:rPr>
              <a:t>月末残高（万円、2027年4月〜2028年3月）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二人の合計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  <c:pt idx="6">
                    <c:v>10月</c:v>
                  </c:pt>
                  <c:pt idx="7">
                    <c:v>11月</c:v>
                  </c:pt>
                  <c:pt idx="8">
                    <c:v>12月</c:v>
                  </c:pt>
                  <c:pt idx="9">
                    <c:v>1月</c:v>
                  </c:pt>
                  <c:pt idx="10">
                    <c:v>2月</c:v>
                  </c:pt>
                  <c:pt idx="11">
                    <c:v>3月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23.6</c:v>
                </c:pt>
                <c:pt idx="1">
                  <c:v>49.6</c:v>
                </c:pt>
                <c:pt idx="2">
                  <c:v>75.7</c:v>
                </c:pt>
                <c:pt idx="3">
                  <c:v>103.3</c:v>
                </c:pt>
                <c:pt idx="4">
                  <c:v>130.8</c:v>
                </c:pt>
                <c:pt idx="5">
                  <c:v>158.4</c:v>
                </c:pt>
                <c:pt idx="6">
                  <c:v>185.9</c:v>
                </c:pt>
                <c:pt idx="7">
                  <c:v>213.5</c:v>
                </c:pt>
                <c:pt idx="8">
                  <c:v>278.9</c:v>
                </c:pt>
                <c:pt idx="9">
                  <c:v>305.7</c:v>
                </c:pt>
                <c:pt idx="10">
                  <c:v>332.4</c:v>
                </c:pt>
                <c:pt idx="11">
                  <c:v>359.2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男性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  <c:pt idx="6">
                    <c:v>10月</c:v>
                  </c:pt>
                  <c:pt idx="7">
                    <c:v>11月</c:v>
                  </c:pt>
                  <c:pt idx="8">
                    <c:v>12月</c:v>
                  </c:pt>
                  <c:pt idx="9">
                    <c:v>1月</c:v>
                  </c:pt>
                  <c:pt idx="10">
                    <c:v>2月</c:v>
                  </c:pt>
                  <c:pt idx="11">
                    <c:v>3月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11.8</c:v>
                </c:pt>
                <c:pt idx="1">
                  <c:v>24.8</c:v>
                </c:pt>
                <c:pt idx="2">
                  <c:v>37.8</c:v>
                </c:pt>
                <c:pt idx="3">
                  <c:v>52.3</c:v>
                </c:pt>
                <c:pt idx="4">
                  <c:v>66.8</c:v>
                </c:pt>
                <c:pt idx="5">
                  <c:v>81.3</c:v>
                </c:pt>
                <c:pt idx="6">
                  <c:v>95.8</c:v>
                </c:pt>
                <c:pt idx="7">
                  <c:v>110.3</c:v>
                </c:pt>
                <c:pt idx="8">
                  <c:v>157.3</c:v>
                </c:pt>
                <c:pt idx="9">
                  <c:v>171.4</c:v>
                </c:pt>
                <c:pt idx="10">
                  <c:v>185.4</c:v>
                </c:pt>
                <c:pt idx="11">
                  <c:v>199.5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女性</c:v>
                </c:pt>
              </c:strCache>
            </c:strRef>
          </c:tx>
          <c:spPr>
            <a:solidFill>
              <a:srgbClr val="E8603C"/>
            </a:solidFill>
            <a:ln w="25400" cap="flat">
              <a:solidFill>
                <a:srgbClr val="E860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8603C"/>
              </a:solidFill>
              <a:ln w="9525" cap="flat">
                <a:solidFill>
                  <a:srgbClr val="E860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  <c:pt idx="6">
                    <c:v>10月</c:v>
                  </c:pt>
                  <c:pt idx="7">
                    <c:v>11月</c:v>
                  </c:pt>
                  <c:pt idx="8">
                    <c:v>12月</c:v>
                  </c:pt>
                  <c:pt idx="9">
                    <c:v>1月</c:v>
                  </c:pt>
                  <c:pt idx="10">
                    <c:v>2月</c:v>
                  </c:pt>
                  <c:pt idx="11">
                    <c:v>3月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11.8</c:v>
                </c:pt>
                <c:pt idx="1">
                  <c:v>24.8</c:v>
                </c:pt>
                <c:pt idx="2">
                  <c:v>37.9</c:v>
                </c:pt>
                <c:pt idx="3">
                  <c:v>51</c:v>
                </c:pt>
                <c:pt idx="4">
                  <c:v>64</c:v>
                </c:pt>
                <c:pt idx="5">
                  <c:v>77.1</c:v>
                </c:pt>
                <c:pt idx="6">
                  <c:v>90.1</c:v>
                </c:pt>
                <c:pt idx="7">
                  <c:v>103.2</c:v>
                </c:pt>
                <c:pt idx="8">
                  <c:v>121.6</c:v>
                </c:pt>
                <c:pt idx="9">
                  <c:v>134.3</c:v>
                </c:pt>
                <c:pt idx="10">
                  <c:v>147</c:v>
                </c:pt>
                <c:pt idx="11">
                  <c:v>159.7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Meiryo"/>
              </a:defRPr>
            </a:pPr>
            <a:r>
              <a:rPr sz="1000" b="0" i="0" u="none" strike="noStrike">
                <a:solidFill>
                  <a:srgbClr val="1F2933"/>
                </a:solidFill>
                <a:latin typeface="Meiryo"/>
              </a:rPr>
              <a:t>男女別の負担（万円）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男性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節約型</c:v>
                  </c:pt>
                  <c:pt idx="1">
                    <c:v>標準型</c:v>
                  </c:pt>
                  <c:pt idx="2">
                    <c:v>余裕型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56.5</c:v>
                </c:pt>
                <c:pt idx="1">
                  <c:v>102.5</c:v>
                </c:pt>
                <c:pt idx="2">
                  <c:v>154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女性</c:v>
                </c:pt>
              </c:strCache>
            </c:strRef>
          </c:tx>
          <c:spPr>
            <a:solidFill>
              <a:srgbClr val="E860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節約型</c:v>
                  </c:pt>
                  <c:pt idx="1">
                    <c:v>標準型</c:v>
                  </c:pt>
                  <c:pt idx="2">
                    <c:v>余裕型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41.5</c:v>
                </c:pt>
                <c:pt idx="1">
                  <c:v>77.5</c:v>
                </c:pt>
                <c:pt idx="2">
                  <c:v>114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Meiryo"/>
              </a:defRPr>
            </a:pPr>
            <a:r>
              <a:rPr sz="1000" b="0" i="0" u="none" strike="noStrike">
                <a:solidFill>
                  <a:srgbClr val="1F2933"/>
                </a:solidFill>
                <a:latin typeface="Meiryo"/>
              </a:rPr>
              <a:t>C：IBJ加盟店の年間試算（万円）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事業利益</c:v>
                </c:pt>
              </c:strCache>
            </c:strRef>
          </c:tx>
          <c:spPr>
            <a:solidFill>
              <a:srgbClr val="114B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少ない（新規6人）</c:v>
                  </c:pt>
                  <c:pt idx="1">
                    <c:v>中程度（新規15人）</c:v>
                  </c:pt>
                  <c:pt idx="2">
                    <c:v>多い（新規30人）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342</c:v>
                </c:pt>
                <c:pt idx="2">
                  <c:v>811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本人の手取り</c:v>
                </c:pt>
              </c:strCache>
            </c:strRef>
          </c:tx>
          <c:spPr>
            <a:solidFill>
              <a:srgbClr val="E860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少ない（新規6人）</c:v>
                  </c:pt>
                  <c:pt idx="1">
                    <c:v>中程度（新規15人）</c:v>
                  </c:pt>
                  <c:pt idx="2">
                    <c:v>多い（新規30人）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</c:v>
                </c:pt>
                <c:pt idx="1">
                  <c:v>260</c:v>
                </c:pt>
                <c:pt idx="2">
                  <c:v>546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Meiryo"/>
              </a:defRPr>
            </a:pPr>
            <a:r>
              <a:rPr sz="1000" b="0" i="0" u="none" strike="noStrike">
                <a:solidFill>
                  <a:srgbClr val="1F2933"/>
                </a:solidFill>
                <a:latin typeface="Meiryo"/>
              </a:rPr>
              <a:t>額面の年間世帯所得（万円）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万円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世帯主29歳以下の平均</c:v>
                  </c:pt>
                  <c:pt idx="1">
                    <c:v>全世帯の中央値</c:v>
                  </c:pt>
                  <c:pt idx="2">
                    <c:v>全世帯の平均</c:v>
                  </c:pt>
                  <c:pt idx="3">
                    <c:v>二人の世帯（25歳・標準）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336.4</c:v>
                </c:pt>
                <c:pt idx="1">
                  <c:v>451</c:v>
                </c:pt>
                <c:pt idx="2">
                  <c:v>575.2</c:v>
                </c:pt>
                <c:pt idx="3">
                  <c:v>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4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9D3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LIFE PLAN 2027–2067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HPE SE × IBJ総合職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共働きライフプラン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F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キャリア・家計・住居・結婚を一体で考える｜入社から60歳まで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0B3645"/>
          </a:solidFill>
          <a:ln w="12700">
            <a:solidFill>
              <a:srgbClr val="0B36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47872"/>
            <a:ext cx="4937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F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作成日：2026年9月26日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F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金額は2027年の物価基準（実質）・運用益なし・単位は万円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結論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同棲・結婚は計画どおり可能。苦しいのは最初の1〜2年だけ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2028年4月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同棲開始（推奨）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1月も可能だが女性の手元が約58万円まで減る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23444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3472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2029年春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入籍・挙式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33472" y="224028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標準型（約180万円）が4月同棲なら可能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23444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18304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28〜30歳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718304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余裕を感じ始める時期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18304" y="224028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自由に使えるお金が月12〜13万円に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11696" y="123444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03136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約1.1億円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60歳時点の資産（標準）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03136" y="224028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保守でも約6,600万円。転職なしで十分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DEEE9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最大の論点：二人の収入差 ×「すべて折半」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03320"/>
            <a:ext cx="78638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2年目の手取りは男性 約397万円・女性 約270万円（約6:4）。折半だと女性の貯蓄は年50〜60万円にとどまり、同棲・挙式・防衛資金の制約は常に女性側で先に効く。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家賃と共同費を手取り比（59:41）で分けると、挙式できる時期が約半年早まる（家計全体の総額は同じ）。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標準ケース：HPE実質昇給年2%、IBJ賞与年1か月、残業月約10時間（男性）。詳細は各章。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57784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最初の2年で土台を固め、30歳前後から選択肢が広がる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6F1F4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2027.4〜2028.3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22歳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実家で貯蓄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2人で約360万円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6F1F4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67128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同棲期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67128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2028.4〜2029.3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23歳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167128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同棲を開始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住民税が始まる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5616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114B5F"/>
          </a:solidFill>
          <a:ln w="12700">
            <a:solidFill>
              <a:srgbClr val="114B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31336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結婚・基盤期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31336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F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2029.4〜2032.3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F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24〜26歳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831336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入籍・挙式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防衛資金6か月分へ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9824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6F1F4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95544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伸長期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95544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2032〜2034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27〜29歳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95544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転職を判断（B）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資産1,000万円超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14032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6F1F4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59752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選択期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59752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2035〜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30歳〜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159752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住み替え13〜14万円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独立は1人ずつ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19050">
            <a:solidFill>
              <a:srgbClr val="C9D6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38528" y="3712464"/>
            <a:ext cx="256032" cy="256032"/>
          </a:xfrm>
          <a:prstGeom prst="diamond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35024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2028年4月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02736" y="3712464"/>
            <a:ext cx="256032" cy="256032"/>
          </a:xfrm>
          <a:prstGeom prst="diamond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99232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入籍・挙式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66944" y="3712464"/>
            <a:ext cx="256032" cy="256032"/>
          </a:xfrm>
          <a:prstGeom prst="diamond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5年目評価で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転職を判断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31152" y="3712464"/>
            <a:ext cx="256032" cy="256032"/>
          </a:xfrm>
          <a:prstGeom prst="diamond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住み替え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29〜30歳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◆＝判断点。標準ケースの時期。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前提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確定しているのは初任給・固定賞与・税と社保の料率だけ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確認できた事実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45920"/>
            <a:ext cx="37490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HPE（学部卒27卒）：月給256,300円＋固定賞与6か月分＋業績賞与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IBJ（総合職27卒）：月給25万円以上。固定残業45時間分を含む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勤務地：HPE本社は江東区大島、IBJ本社は新宿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健保（協会けんぽ東京 2026年度）9.85%＋支援金0.23%、厚年18.3%、雇用保険 本人0.5%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2026・27年分は基礎控除の特例あり（所得489万円以下は＋42万円）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DF3EF"/>
          </a:solidFill>
          <a:ln w="12700">
            <a:solidFill>
              <a:srgbClr val="FDF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計算の仮定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645920"/>
            <a:ext cx="37490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金額は2027年の物価基準。昇給は物価を超える分のみ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HPE：残業月約10時間、35歳以降0。業績賞与は含めない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初年度の賞与：HPEは12月に1.5か月、IBJは少額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IBJ賞与：保守0.5／標準1／好調2か月（年）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社保は両社とも協会けんぽ東京で代用。運用益は含めない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家賃・共同費は折半が基本（比較で手取り比59:41も試算）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要確認（結論を左右）：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①IBJ賞与の実績月数 ②両社の初年度賞与 ③在宅勤務の実態 ④配属先と勤務地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この環境ではウェブページ本体を開けず、検索結果から数値を取得。出典は最終スライドと元資料を参照。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5年間の収支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昇給しても住民税が始まり、通常月の手取りは5年間ほぼ横ばい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25880"/>
                <a:gridCol w="1325880"/>
                <a:gridCol w="1097280"/>
                <a:gridCol w="1371600"/>
                <a:gridCol w="118872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年度（年齢）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世帯 額面／手取り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世帯 通常月／月平均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住民税 男／女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主な一時出費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年度末資産 男／女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世帯資産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2027（22）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668／567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44.1／47.3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0／0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入社準備 10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199／160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2028（23）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825／667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42.7／55.6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8.7／6.5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同棲の初期費用 133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304／143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447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2029（24）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843／663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42.1／55.2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21.2／12.3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挙式・指輪 180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368／118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2030（25）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861／673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43.0／56.1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23.9／13.6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540／175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2031（26）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880／691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43.9／57.6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24.5／14.1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722／241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962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「月平均」は振込額ではない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HPEは年収の約4割が6月・12月の賞与。毎月の生活は月給の範囲で賄い、賞与は大きな支出と貯蓄に回す。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DF3EF"/>
          </a:solidFill>
          <a:ln w="12700">
            <a:solidFill>
              <a:srgbClr val="FD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資産の偏りに注意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折半のままだと5年目末は男性約720万・女性約240万円。手取り比で分けると約590万・約370万円に縮まる。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単位：万円。標準ケース、2028年4月同棲、2029年4月挙式（標準型）、家賃・管理費11万円、折半。保守ケースの5年目末は約780万円、好調は約1,200万円。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33272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月額家計表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同棲後の通常月：手取り42.7万円のうち黒字は5.7万円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3444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280160"/>
            <a:ext cx="283464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家賃11万円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通常月の手取りの25.8%。目安の25〜30%に収まる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21031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0" y="2148840"/>
            <a:ext cx="283464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 5.7万円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男性3.35万・女性2.35万円（折半の場合）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9718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3017520"/>
            <a:ext cx="283464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賞与の手取り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世帯で年約150万円。これが貯蓄の柱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38404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3886200"/>
            <a:ext cx="283464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家賃12万円なら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黒字は4.7万円に。貯蓄はほぼ賞与頼み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2028年度6月以降の通常月・世帯合計（万円）。支出計37.0万円。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89888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資産の積み上がり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5年目末の世帯資産は約960万円。ただし女性側の伸びが遅い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344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72200" y="1325880"/>
            <a:ext cx="23774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2028年度は同棲の初期費用133万円、2029年度は挙式・指輪180万円を支払った後の残高。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女性の資産は2029年度に一度118万円まで下がる。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手取り比（59:41）で分担すれば、家計の総額は同じまま偏りが縮まる。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単位：万円。標準ケース・家賃折半・年度末（3月末）残高。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95528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年齢別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世帯の額面は30歳 約1,130万・40歳 約1,420万円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417320"/>
                <a:gridCol w="960120"/>
                <a:gridCol w="960120"/>
                <a:gridCol w="1051560"/>
                <a:gridCol w="960120"/>
                <a:gridCol w="914400"/>
                <a:gridCol w="731520"/>
                <a:gridCol w="960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年齢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男性の職務（HPE）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男性 額面／手取り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女性 額面／手取り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世帯 額面／手取り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通常月／月平均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自由に使える額／月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年間貯蓄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累計資産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研修・OJT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362／306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306／261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668／567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44.1／47.2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担当SE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530／410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360／284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890／693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44.2／57.8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シニアSE・案件リード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680／517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450／351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1,130／868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55.2／72.3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1,534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アーキテクト・課長相当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800／591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500／388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1,300／979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61.2／81.6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2,899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マネージャー等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880／635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540／413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1,420／1,049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65.4／87.4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4,518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920／659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560／428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1,480／1,087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67.7／90.6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19.4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6,221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950／678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560／428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1,510／1,105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68.6／92.1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20.0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8,002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役職見直し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920／659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550／420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1,470／1,080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67.2／90.0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19.2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9,760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継続雇用等（未確認）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720／537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450／348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1,170／886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55.4／73.8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11,140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単位：万円（2027年の物価基準）。家賃は29歳まで11万円・30歳から14万円。自由に使える額＝家賃と基本生活費を引いた残りの40%（残り60%を貯蓄）。業績賞与・株式報酬・運用益なし。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89888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保守・標準・好調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昇進しなくても生活は破綻しない。差は「ゆとり」と住居の幅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34440"/>
          <a:ext cx="29260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594360"/>
                <a:gridCol w="594360"/>
                <a:gridCol w="594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世帯額面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好調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940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1,130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1,080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60歳の資産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6,628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11,140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17,963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自由に使える額（30歳・月）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76072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年2%（実質）で運用すると60歳の資産は保守約9,400万・標準約1.56億円。利回りは保証されない。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保守：男性は30代前半で昇進停止（最高約680万円）、女性は一般職層（約420万円）。好調：男性は30代前半で管理職・上級職。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71016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4-5 残留と転職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転職の価値は「+100万円」より、その後の昇給カーブで決まる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3444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298448"/>
            <a:ext cx="27432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額面+100万円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手取りでは年+60〜70万円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60720" y="2350008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DF3EF"/>
          </a:solidFill>
          <a:ln w="12700">
            <a:solidFill>
              <a:srgbClr val="FD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2414016"/>
            <a:ext cx="27432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60歳の資産差（標準同士）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約1.11億 → B 約1.23億円（+約1,160万円）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3465576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3529584"/>
            <a:ext cx="27432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B保守（+40万円で頭打ち）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Aの保守とほぼ同じ。転職しただけでは差がつかない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転職先の給与は月給×12＋賞与3か月と仮定。株式報酬・インセンティブは含めない。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転職候補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設計と顧客対応の実績があれば＋100万円は現実的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08760"/>
                <a:gridCol w="1463040"/>
                <a:gridCol w="777240"/>
                <a:gridCol w="1600200"/>
                <a:gridCol w="9601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候補（企業例・職種）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HPEで積みたい経験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必要な能力・英語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年収目安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報酬と働き方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外資インフラベンダーのプリセールス（Dell、Cisco、NetApp等）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提案・設計、デモ・検証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製品知識、TOEIC730〜800+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750〜1,000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変動報酬20〜30%・RSU。人員削減リスク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A7F6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つながりやすい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国内大手SIerのインフラアーキテクト（NTTデータ、NRI、CTC等）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大規模基盤の要件定義・設計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設計書、品質管理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650〜900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月給＋賞与中心。繁忙期の残業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C729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条件次第で現実的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ITコンサル（アクセンチュア、デロイト等）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要件定義・比較検討・資料作成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資料作成、顧客調整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700〜1,000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職位で大きく伸びる。負荷は重め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C729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条件次第で現実的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クラウド大手のSA（AWS、Microsoft等）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クラウド移行・ハイブリッド設計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上級資格、TOEIC850+、発表力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900〜1,400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基本給＋RSU。成果主義・英語会議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SaaS・セキュリティのSE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NW・セキュリティ製品の提案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製品資格、英語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850〜1,300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インセンティブ＋RSU。目標数字あり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事業会社の社内SE・IT企画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発注者側での基盤更新・ベンダー管理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社内調整、幅広い知識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600〜850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日系の給与体系。時間は安定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A7F6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つながりやすい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+100万円の条件：</a:t>
            </a:r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①数字で書ける実績 ②4年目までに設計・提案を担当 ③変動報酬は達成率70〜80%で再計算 ④6年目前後に活動 ⑤転職前に防衛資金6か月分（約200万円）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年収は27〜30歳・経験5〜7年の額面目安（公開求人・口コミ・転職記事からの推定、会社公式値ではない）。比較基準：転職直前のHPE標準 約610万円。内定確率は算出不可。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95528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住まい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予算内の2LDKは下総中山が最も見つけやすい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05840"/>
                <a:gridCol w="265176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駅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1LDK相場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2LDK相場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予算内で見つけやすい条件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妥協が必要な条件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下総中山（船橋市・市川市）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約8〜10（推定）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10〜13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2LDKで築20〜35年、徒歩10〜15分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駅近・築浅の2LDK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平井（江戸川区）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8.2〜10.5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12〜15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1LDKは築15年前後。2LDKは築40年超のリノベ物件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築浅の2LDK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新小岩（葛飾区）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9〜12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約13〜14.7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1LDKは徒歩10分前後。2LDKは徒歩10分超か築古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駅近の2LDK（快速停車駅）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募集例（検索結果で確認・詳細ページ未確認、2026年9月26日）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2377440"/>
                <a:gridCol w="173736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間取り・面積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家賃／管理費／合計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築年・徒歩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敷金／礼金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下総中山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2LDK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10.5／0.3／10.8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1か月／1か月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平井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2LDK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11.0／1.0／12.0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1975年築・徒歩5分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新小岩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2LDK 58.60㎡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11.0／1.0／12.0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1か月／1か月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新小岩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2LDK（築22年）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12.7／1.1／13.8（予算超）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築22年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単位：万円/月。相場はSUUMO・CHINTAI・RENTO等の検索結果。1LDKの具体的な募集例は得られず。現在の募集が2028年の入居時期に空いているとは限らない。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通勤と間取り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HPE（大島）とIBJ（新宿）は都営新宿線でつながっている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237744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居住駅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男性 → HPE（大島）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女性 → IBJ（新宿）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注意点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下総中山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本八幡で都営新宿線に乗換 約25〜30分・乗換1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総武線各停で直通 約41〜46分・乗換0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総武線の朝は混雑。始発に近い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平井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亀戸経由でバス等 約25〜35分・乗換1（自転車 約15〜20分）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総武線各停で直通 約35分・乗換0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男性は自転車通勤が有力（規定確認）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新小岩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バス等 約30〜40分・乗換1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快速＋各停 約30〜40分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快速は混雑。バスの定時性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（参考）船堀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都営新宿線で直通 約5〜10分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都営新宿線で直通 約30分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二人とも乗換なし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（参考）本八幡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都営新宿線で直通 約15〜20分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都営新宿線で直通 約35〜45分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始発駅で座れる可能性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657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3721608"/>
            <a:ext cx="8138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在宅勤務と間取り：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Eはフルフレックスで在宅も使われている一方、IBJは一部の社員のみとの口コミ。毎日二人の在宅が重なる可能性は低いので、2LDKにこだわらず「2DK・2K・45㎡以上の1LDK」も候補に（2LDKより1〜3万円安い傾向）。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所要時間は徒歩を含まない目安。下総中山→新宿のみ乗換案内の検索結果で確認、他は路線からの推定。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71016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同棲の初期費用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同棲の必要資金は標準で約207万円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188720"/>
          <a:ext cx="3383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契約時の費用（標準）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返還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敷金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預け金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礼金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仲介手数料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保証会社（初回）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火災保険（2年）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鍵交換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前家賃＋日割り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オプション（外せる）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家賃10万円＋管理費1万円の2LDKの場合、二人分（万円）。引っ越し費用は0円の前提。実家の家具家電を持ち込めば20〜30万円減らせる。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月次貯蓄計画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2027年12月末に約279万円、2028年3月末に約359万円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4805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18872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2028年1月入居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2028年4月入居（推奨）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物件探し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11〜12月（交渉しやすい）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2〜3月（繁忙期）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入居前の貯蓄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約279万円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約359万円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支払後の手元 男／女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約95万／約58万円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約136万／約95万円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女性の防衛資金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約3か月分（薄い）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約5か月分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挙式の最短（標準・折半）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2029年6月ごろ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2028年12月ごろ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983480" y="3611880"/>
            <a:ext cx="3749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毎月の先取り貯蓄：男性 約14万円・女性 約13万円。賞与は全額貯蓄。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標準ケース。実家への入金0円、個人の生活費は男性8.5万・女性8万円/月。初年度の賞与が0円でも二人で約240万円あり、必要資金207万円は賄える。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結婚費用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結婚費用は節約型98万・標準型180万・余裕型268万円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2103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内訳（標準型）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挙式料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料理・飲み物（22名分）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39.6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衣装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写真・動画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装花・引出物・ヘアメイク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会場使用料・雑費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顔合わせ・遠方ゲスト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結婚指輪（男性全額）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188720"/>
          <a:ext cx="1920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"/>
                <a:gridCol w="5486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追加の選択肢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余裕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婚約指輪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新婚旅行（2人）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25（国内）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70（海外）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ご祝儀（受領時）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約−70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812280" y="2651760"/>
            <a:ext cx="1920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ご祝儀は当てにしない。受け取れば標準型の最終負担は約110万円（男67.5・女42.5）。婚約指輪は計算上男性負担。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計算上の人数：ゲスト20名＋新郎新婦2名＝料理22名分。結婚指輪以外は折半。参考：ゲスト10〜20人未満の式の平均は約180万円（ゼクシィ）。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33272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結婚の時期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4月同棲なら2029年春の挙式に間に合う。制約は常に女性側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同棲開始・分担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節約型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標準型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余裕型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2028年1月・折半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2028年11月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2029年6月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2030年4月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2028年1月・手取り比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2028年9月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2028年12月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2029年4月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2028年4月・折半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2028年9月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60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2028年12月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2029年7月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2028年4月・手取り比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2028年9月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2028年9月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2028年12月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保守ケース・1月・折半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2029年3月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2030年6月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2031年10月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3474720"/>
            <a:ext cx="4754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判定条件：二人とも「防衛資金50万円＋自分の負担分」を持っている最初の月。判断は2028年夏なので最短でも9月。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303520" y="11887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DF3EF"/>
          </a:solidFill>
          <a:ln w="12700">
            <a:solidFill>
              <a:srgbClr val="FD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94960" y="1252728"/>
            <a:ext cx="3200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①同時　</a:t>
            </a:r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入籍・挙式とも2029年4月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4月同棲で標準型まで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03520" y="214884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94960" y="2212848"/>
            <a:ext cx="3200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②入籍を先に　</a:t>
            </a:r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2029年4月入籍・10〜11月挙式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1月同棲・折半や余裕型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03520" y="310896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3172968"/>
            <a:ext cx="3200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③式は翌春　</a:t>
            </a:r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2029年4月入籍・2030年4月挙式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資金に最も余裕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1月同棲なら半年後の判断は2028年7月、4月同棲なら10月。10月判断でも少人数のレストラン婚なら準備4〜6か月で2029年4月に間に合う。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福利厚生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両社とも住宅手当なし。働き方と休職時の補償が重要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  <a:gridCol w="3474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制度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HPE（日本ヒューレット・パッカード合同会社）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IBJ（株式会社IBJ本体）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住宅手当・社宅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なし（口コミ）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なし（口コミ）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通勤費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全額支給（口コミ）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支給あり（口コミ）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フレックス・在宅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フルフレックス（公式）。在宅可、出社ルールは未確認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IBJ流フレックス（公式）。在宅は一部の社員との口コミ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休暇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休みが取りやすい。出産・育児・介護・社外活動の休暇（口コミ）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5日間の連続休暇制度（公式）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健康・健保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健康保険組合あり、35歳以上は人間ドック（口コミ）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法定健診。健保の加入先は要確認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年金・退職金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確定拠出年金、退職金制度あり（口コミ）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ITS企業年金基金（公式）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持株制度の記載あり（詳細未確認）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持株会・RS・ストックオプション（公式）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研修・資格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トレーニング費用・クラウド利用費の補助（口コミ）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人材育成の取り組みを公開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結婚休暇・祝い金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人事に確認：</a:t>
            </a:r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初年度の賞与／IBJ賞与の実績／健保と料率・付加給付／在宅の対象と頻度／結婚休暇の期限と祝い金／通勤規定（自転車）／退職金・DCの受給権／休職中の給与／IBJの副業・競業規定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福利厚生の金銭効果は給与と二重計上しないよう、家計の計算には入れていない。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資格・英語・スキル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応用情報の4月受験は不可。基本情報は12月27日まで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9050">
            <a:solidFill>
              <a:srgbClr val="C9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" y="1572768"/>
            <a:ext cx="14264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2026/10/6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応用情報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申込開始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58568" y="132588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36776" y="1572768"/>
            <a:ext cx="14264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2026/11ごろ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応用情報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前期（CBT）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39896" y="1325880"/>
            <a:ext cx="182880" cy="18288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18104" y="1572768"/>
            <a:ext cx="14264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2026/12/27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基本情報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現行の最終日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21224" y="132588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9432" y="1572768"/>
            <a:ext cx="14264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2027/2ごろ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応用情報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後期＝最後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02552" y="132588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572768"/>
            <a:ext cx="14264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2027/4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応用情報なし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83880" y="132588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62088" y="1572768"/>
            <a:ext cx="14264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2027年度夏〜秋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新試験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（仮称）開始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2103120"/>
                <a:gridCol w="109728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技術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英語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仕事の実績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入社前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基本情報（12月まで）。応用情報は余力があれば2月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Linux基本操作、仮想環境、TCP/IP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TOEIC 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配属に合わせLPIC/LinuC 1かCCNA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担当製品の設計書を読み込む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TOEIC 730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議事録・手順書を正確に。記録を始める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AWS SAA、ベンダー資格、新試験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ハイブリッド構成、自動化（Ansible・Python）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800＋会話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小さな案件の基本設計を一人で担当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4〜7年目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クラウド上級、CCNP、セキュリティ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アーキテクチャ設計、移行計画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850＋か英語発表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案件リード。実績を2〜3件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出典：IPA、経済産業省（2026年3月31日公表の見直し案）ほか。タイムラインの間隔は時間の長さに比例しない。資格の数より「何を設計し、どんな成果が出たか」が年収に直結する。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71016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独立シナリオ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加盟店で会社員並みの手取りを得るには年約19人の新規入会が必要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4805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114800"/>
            <a:ext cx="4480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比較：会社員を続けた場合の手取り 約351万円（30歳・標準）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0" y="118872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1234440"/>
            <a:ext cx="34747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損益分岐点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新規入会 年4〜6人（集客費で変わる）。赤字にならないだけで、生活費はまだ稼げていない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0" y="205740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2103120"/>
            <a:ext cx="34747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必要資金 約590万円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加盟金220＋開業50＋初年度の固定費100＋本人の生活費1年分220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0" y="292608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20640" y="2971800"/>
            <a:ext cx="34747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D：男性のB2B独立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月単価100万円で手取り約700万円。会社員（40歳・約635万）比+60万円程度。有利なのは月130〜150万円以上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0" y="379476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DF3EF"/>
          </a:solidFill>
          <a:ln w="12700">
            <a:solidFill>
              <a:srgbClr val="FDF3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0" y="3840480"/>
            <a:ext cx="34747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二人同時に独立しない。1人ずつ、もう1人が会社員の間に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加盟金200万円（税抜）、月会費1.5万円＋仲人3,800円（IBJ公式）。会員料金は入会15万・月1.5万・成婚料20万、成婚率30%と仮定。本部の成婚料等の有無は未確認。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71016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世間との比較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25歳時点の世帯所得は全世帯中央値の約2倍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188720"/>
          <a:ext cx="33832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1430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比較対象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二人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25〜29歳 個人の平均給与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407（2024年分）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男530・女360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全世帯（2024年の所得）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平均575・中央値451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世帯890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勤労者世帯の月の実収入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65.4（2025年）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月約74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東京・子なし共働き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分布なし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順位は作らない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30352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手取りで順位を出せる統計はなく、額面の順位を手取りの順位として扱わない。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出典：国税庁 民間給与実態統計調査、厚生労働省 国民生活基礎調査（2025年・2024年）、総務省 家計調査。単位：万円。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生活水準と住み替え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住み替えは29〜30歳・家賃13〜14万円が目安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234440"/>
                <a:gridCol w="1097280"/>
                <a:gridCol w="109728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年齢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自由に使える額/月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無理なく払える家賃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資産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男性が休職・失業したら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23〜24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約8万＋旅行年30万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挙式前後は薄い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数か月〜1年程度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約9.5万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約510万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約4年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約13万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13〜14万円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約1,530万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10年以上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約17万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約15万円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約2,900万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十分に長い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40〜55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約18〜20万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約16万円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約4,500〜9,800万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十分に長い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3474720"/>
            <a:ext cx="5120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家賃上限＝世帯の通常月手取りの25%。休職期間は給付を含めない最も厳しい計算。女性が休職しても男性の手取りでほぼ賄える。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0" y="1188720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FDF3EF"/>
          </a:solidFill>
          <a:ln w="12700">
            <a:solidFill>
              <a:srgbClr val="FD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1216152"/>
            <a:ext cx="28346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現在の家を維持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11万円｜60歳の資産が約760万円多い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874520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1901952"/>
            <a:ext cx="28346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都内東側の良い物件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13〜16万円｜29〜30歳ごろ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560320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0" y="2587752"/>
            <a:ext cx="28346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都心寄りの東側（東日本橋・森下）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16〜20万円｜1LDK・33〜35歳ごろ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3246120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3273552"/>
            <a:ext cx="28346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都心3区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1LDK 18〜25万円｜2LDKは好調ケースのみ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3977640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年収700〜800万円でも家賃10万円台は不相応ではない（35歳で手取りの約18%）。住み替えは収入ではなく生活上の理由で決める。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都心3区の家賃は目安で、実際の募集では未検証。「都内」は23区全体、「都心」は千代田・中央・港。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率直な回答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苦しいのは、生活の立ち上げ費用を最初の2年で払うから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61872"/>
            <a:ext cx="2514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入社直後の余裕のなさは一時的？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一時的。初期費用＋挙式313万円、2年目からの住民税、賞与比率の高い給与が重なるため。26歳で資産約960万円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82112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1261872"/>
            <a:ext cx="2514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いつ気にせず暮らせる？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標準で28〜30歳、保守で35歳前後。防衛資金6か月分・自由に使える額が月10万円超・賞与を生活費に使わない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98464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9904" y="1261872"/>
            <a:ext cx="2514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都心・旅行・貯蓄の両立は？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35歳前後から都心寄り1LDK（16〜18万円）なら可能。自由に使える額は月約15万円、年間貯蓄は約280万円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44952"/>
            <a:ext cx="2514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両立しやすい／優先順位が必要なもの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両立しやすい：旅行・趣味・貯蓄・手取りの25%以内の家賃。要優先：都心×広さ×築浅、早い挙式×余裕型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2971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73552" y="3044952"/>
            <a:ext cx="2514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転職・独立なしで十分？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十分。保守でも家賃14万円で月約10万円の自由に使えるお金、60歳で約6,600万円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98464" y="2971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9904" y="3044952"/>
            <a:ext cx="2514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家賃や生活水準の期待は？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家賃10〜12万円は妥当で堅実。ただし23歳で駅近・きれいな2LDKを11万円は相場的にやや高望み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学歴や会社名ではなく、可処分所得と支出で評価。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89888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今からやること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最初の3つは入社前の今しかできない、または影響が最も大きい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" cy="41148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188720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基本情報を12月27日までに取得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応用情報の2月受験は12月に判断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56816"/>
            <a:ext cx="411480" cy="41148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956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883664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賞与・在宅・配属を人事に確認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IBJ賞与の月数、初年度の賞与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411480" cy="41148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578608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家賃・共同費の分担ルールを決める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折半か手取り比か、折衷案も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11480" cy="411480"/>
          </a:xfrm>
          <a:prstGeom prst="ellipse">
            <a:avLst/>
          </a:prstGeom>
          <a:solidFill>
            <a:srgbClr val="114B5F"/>
          </a:solidFill>
          <a:ln w="12700">
            <a:solidFill>
              <a:srgbClr val="114B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273552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入社月から先取り貯蓄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男性 月約14万・女性 月約13万＋賞与全額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411480" cy="411480"/>
          </a:xfrm>
          <a:prstGeom prst="ellipse">
            <a:avLst/>
          </a:prstGeom>
          <a:solidFill>
            <a:srgbClr val="114B5F"/>
          </a:solidFill>
          <a:ln w="12700">
            <a:solidFill>
              <a:srgbClr val="114B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968496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同棲は2028年4月、1月から物件探し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下総中山・本八幡・平井・船堀。2DKも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61872"/>
            <a:ext cx="411480" cy="411480"/>
          </a:xfrm>
          <a:prstGeom prst="ellipse">
            <a:avLst/>
          </a:prstGeom>
          <a:solidFill>
            <a:srgbClr val="114B5F"/>
          </a:solidFill>
          <a:ln w="12700">
            <a:solidFill>
              <a:srgbClr val="114B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1188720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防衛資金と長期運用を分ける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挙式までは預金、6か月分超からNISA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956816"/>
            <a:ext cx="411480" cy="411480"/>
          </a:xfrm>
          <a:prstGeom prst="ellipse">
            <a:avLst/>
          </a:prstGeom>
          <a:solidFill>
            <a:srgbClr val="114B5F"/>
          </a:solidFill>
          <a:ln w="12700">
            <a:solidFill>
              <a:srgbClr val="114B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1956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1883664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2028年夏に結婚と式の規模を決める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標準型を基本に。ご祝儀は当てにしない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2651760"/>
            <a:ext cx="411480" cy="411480"/>
          </a:xfrm>
          <a:prstGeom prst="ellipse">
            <a:avLst/>
          </a:prstGeom>
          <a:solidFill>
            <a:srgbClr val="114B5F"/>
          </a:solidFill>
          <a:ln w="12700">
            <a:solidFill>
              <a:srgbClr val="114B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2578608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2年目から案件ごとに記録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範囲・技術・顧客・成果を数字で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346704"/>
            <a:ext cx="411480" cy="411480"/>
          </a:xfrm>
          <a:prstGeom prst="ellipse">
            <a:avLst/>
          </a:prstGeom>
          <a:solidFill>
            <a:srgbClr val="114B5F"/>
          </a:solidFill>
          <a:ln w="12700">
            <a:solidFill>
              <a:srgbClr val="114B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1772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3273552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英語を継続（600→730→800）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3年目ごろから会話も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4041648"/>
            <a:ext cx="411480" cy="411480"/>
          </a:xfrm>
          <a:prstGeom prst="ellipse">
            <a:avLst/>
          </a:prstGeom>
          <a:solidFill>
            <a:srgbClr val="114B5F"/>
          </a:solidFill>
          <a:ln w="12700">
            <a:solidFill>
              <a:srgbClr val="114B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1772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3968496"/>
            <a:ext cx="36118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独立を考えるならアドバイザー経験を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副業・競業規定を確認。資金約590万円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オレンジは最優先（入社前）。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出典と注意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数字を使う前に、必ず元のページで確認を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企業：HPE採用情報・職種紹介、ワンキャリア（27卒初任給）、OpenMoney・転職会議・エンカイシャの評判（口コミ）、IBJ新卒採用・社内制度・会社概要、日経（IBJ平均年収）、IBJ開業資金（加盟店）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税・社保：国税庁（令和8年度の基礎控除）、財務省（税制改正大綱）、協会けんぽ（令和8年度保険料率）、厚生労働省（雇用保険料率）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試験：IPA（令和8年度の申込期間・CBT方式・試験区分の見直し案）、経済産業省、アイテック、TAC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住居：SUUMO・CHINTAI・RENTO・アットホーム・ホームズ・エイブルの検索結果、大和不動産鑑定（東京都区部の家賃）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結婚：リクルートブライダル総研 結婚マーケット調査2025、ゼクシィ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統計：国税庁 民間給与実態統計調査、厚生労働省 国民生活基礎調査、総務省 家計調査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DF3EF"/>
          </a:solidFill>
          <a:ln w="12700">
            <a:solidFill>
              <a:srgbClr val="FD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090672"/>
            <a:ext cx="79552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0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情報は2026年9月26日時点。この環境ではページ本体を開けず、検索結果から取得。将来の年収・昇進・賞与・独立後の利益は断定できないため幅で示した。URLの一覧はドキュメント版の14章を参照。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HPE SE × IBJ総合職 共働きライフプラン</dc:title>
  <dc:subject>PptxGenJS Presentation</dc:subject>
  <dc:creator>PptxGenJS</dc:creator>
  <cp:lastModifiedBy>PptxGenJS</cp:lastModifiedBy>
  <cp:revision>1</cp:revision>
  <dcterms:created xsi:type="dcterms:W3CDTF">2026-09-26T17:44:58Z</dcterms:created>
  <dcterms:modified xsi:type="dcterms:W3CDTF">2026-09-26T17:44:58Z</dcterms:modified>
</cp:coreProperties>
</file>