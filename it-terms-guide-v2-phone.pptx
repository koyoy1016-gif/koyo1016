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slideMasters/slideMaster328.xml" ContentType="application/vnd.openxmlformats-officedocument.presentationml.slideMaster+xml"/>
  <Override PartName="/ppt/slides/slide328.xml" ContentType="application/vnd.openxmlformats-officedocument.presentationml.slide+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slideMasters/slideMaster334.xml" ContentType="application/vnd.openxmlformats-officedocument.presentationml.slideMaster+xml"/>
  <Override PartName="/ppt/slides/slide334.xml" ContentType="application/vnd.openxmlformats-officedocument.presentationml.slide+xml"/>
  <Override PartName="/ppt/slideMasters/slideMaster335.xml" ContentType="application/vnd.openxmlformats-officedocument.presentationml.slideMaster+xml"/>
  <Override PartName="/ppt/slides/slide335.xml" ContentType="application/vnd.openxmlformats-officedocument.presentationml.slide+xml"/>
  <Override PartName="/ppt/slideMasters/slideMaster336.xml" ContentType="application/vnd.openxmlformats-officedocument.presentationml.slideMaster+xml"/>
  <Override PartName="/ppt/slides/slide336.xml" ContentType="application/vnd.openxmlformats-officedocument.presentationml.slide+xml"/>
  <Override PartName="/ppt/slideMasters/slideMaster337.xml" ContentType="application/vnd.openxmlformats-officedocument.presentationml.slideMaster+xml"/>
  <Override PartName="/ppt/slides/slide337.xml" ContentType="application/vnd.openxmlformats-officedocument.presentationml.slide+xml"/>
  <Override PartName="/ppt/slideMasters/slideMaster338.xml" ContentType="application/vnd.openxmlformats-officedocument.presentationml.slideMaster+xml"/>
  <Override PartName="/ppt/slides/slide338.xml" ContentType="application/vnd.openxmlformats-officedocument.presentationml.slide+xml"/>
  <Override PartName="/ppt/slideMasters/slideMaster339.xml" ContentType="application/vnd.openxmlformats-officedocument.presentationml.slideMaster+xml"/>
  <Override PartName="/ppt/slides/slide339.xml" ContentType="application/vnd.openxmlformats-officedocument.presentationml.slide+xml"/>
  <Override PartName="/ppt/slideMasters/slideMaster340.xml" ContentType="application/vnd.openxmlformats-officedocument.presentationml.slideMaster+xml"/>
  <Override PartName="/ppt/slides/slide340.xml" ContentType="application/vnd.openxmlformats-officedocument.presentationml.slide+xml"/>
  <Override PartName="/ppt/slideMasters/slideMaster341.xml" ContentType="application/vnd.openxmlformats-officedocument.presentationml.slideMaster+xml"/>
  <Override PartName="/ppt/slides/slide341.xml" ContentType="application/vnd.openxmlformats-officedocument.presentationml.slide+xml"/>
  <Override PartName="/ppt/slideMasters/slideMaster342.xml" ContentType="application/vnd.openxmlformats-officedocument.presentationml.slideMaster+xml"/>
  <Override PartName="/ppt/slides/slide342.xml" ContentType="application/vnd.openxmlformats-officedocument.presentationml.slide+xml"/>
  <Override PartName="/ppt/slideMasters/slideMaster343.xml" ContentType="application/vnd.openxmlformats-officedocument.presentationml.slideMaster+xml"/>
  <Override PartName="/ppt/slides/slide343.xml" ContentType="application/vnd.openxmlformats-officedocument.presentationml.slide+xml"/>
  <Override PartName="/ppt/slideMasters/slideMaster344.xml" ContentType="application/vnd.openxmlformats-officedocument.presentationml.slideMaster+xml"/>
  <Override PartName="/ppt/slides/slide344.xml" ContentType="application/vnd.openxmlformats-officedocument.presentationml.slide+xml"/>
  <Override PartName="/ppt/slideMasters/slideMaster345.xml" ContentType="application/vnd.openxmlformats-officedocument.presentationml.slideMaster+xml"/>
  <Override PartName="/ppt/slides/slide345.xml" ContentType="application/vnd.openxmlformats-officedocument.presentationml.slide+xml"/>
  <Override PartName="/ppt/slideMasters/slideMaster346.xml" ContentType="application/vnd.openxmlformats-officedocument.presentationml.slideMaster+xml"/>
  <Override PartName="/ppt/slides/slide346.xml" ContentType="application/vnd.openxmlformats-officedocument.presentationml.slide+xml"/>
  <Override PartName="/ppt/slideMasters/slideMaster347.xml" ContentType="application/vnd.openxmlformats-officedocument.presentationml.slideMaster+xml"/>
  <Override PartName="/ppt/slides/slide347.xml" ContentType="application/vnd.openxmlformats-officedocument.presentationml.slide+xml"/>
  <Override PartName="/ppt/slideMasters/slideMaster348.xml" ContentType="application/vnd.openxmlformats-officedocument.presentationml.slideMaster+xml"/>
  <Override PartName="/ppt/slides/slide348.xml" ContentType="application/vnd.openxmlformats-officedocument.presentationml.slide+xml"/>
  <Override PartName="/ppt/slideMasters/slideMaster349.xml" ContentType="application/vnd.openxmlformats-officedocument.presentationml.slideMaster+xml"/>
  <Override PartName="/ppt/slides/slide349.xml" ContentType="application/vnd.openxmlformats-officedocument.presentationml.slide+xml"/>
  <Override PartName="/ppt/slideMasters/slideMaster350.xml" ContentType="application/vnd.openxmlformats-officedocument.presentationml.slideMaster+xml"/>
  <Override PartName="/ppt/slides/slide350.xml" ContentType="application/vnd.openxmlformats-officedocument.presentationml.slide+xml"/>
  <Override PartName="/ppt/slideMasters/slideMaster351.xml" ContentType="application/vnd.openxmlformats-officedocument.presentationml.slideMaster+xml"/>
  <Override PartName="/ppt/slides/slide351.xml" ContentType="application/vnd.openxmlformats-officedocument.presentationml.slide+xml"/>
  <Override PartName="/ppt/slideMasters/slideMaster352.xml" ContentType="application/vnd.openxmlformats-officedocument.presentationml.slideMaster+xml"/>
  <Override PartName="/ppt/slides/slide352.xml" ContentType="application/vnd.openxmlformats-officedocument.presentationml.slide+xml"/>
  <Override PartName="/ppt/slideMasters/slideMaster353.xml" ContentType="application/vnd.openxmlformats-officedocument.presentationml.slideMaster+xml"/>
  <Override PartName="/ppt/slides/slide353.xml" ContentType="application/vnd.openxmlformats-officedocument.presentationml.slide+xml"/>
  <Override PartName="/ppt/slideMasters/slideMaster354.xml" ContentType="application/vnd.openxmlformats-officedocument.presentationml.slideMaster+xml"/>
  <Override PartName="/ppt/slides/slide354.xml" ContentType="application/vnd.openxmlformats-officedocument.presentationml.slide+xml"/>
  <Override PartName="/ppt/slideMasters/slideMaster355.xml" ContentType="application/vnd.openxmlformats-officedocument.presentationml.slideMaster+xml"/>
  <Override PartName="/ppt/slides/slide355.xml" ContentType="application/vnd.openxmlformats-officedocument.presentationml.slide+xml"/>
  <Override PartName="/ppt/slideMasters/slideMaster356.xml" ContentType="application/vnd.openxmlformats-officedocument.presentationml.slideMaster+xml"/>
  <Override PartName="/ppt/slides/slide356.xml" ContentType="application/vnd.openxmlformats-officedocument.presentationml.slide+xml"/>
  <Override PartName="/ppt/slideMasters/slideMaster357.xml" ContentType="application/vnd.openxmlformats-officedocument.presentationml.slideMaster+xml"/>
  <Override PartName="/ppt/slides/slide357.xml" ContentType="application/vnd.openxmlformats-officedocument.presentationml.slide+xml"/>
  <Override PartName="/ppt/slideMasters/slideMaster358.xml" ContentType="application/vnd.openxmlformats-officedocument.presentationml.slideMaster+xml"/>
  <Override PartName="/ppt/slides/slide358.xml" ContentType="application/vnd.openxmlformats-officedocument.presentationml.slide+xml"/>
  <Override PartName="/ppt/slideMasters/slideMaster359.xml" ContentType="application/vnd.openxmlformats-officedocument.presentationml.slideMaster+xml"/>
  <Override PartName="/ppt/slides/slide359.xml" ContentType="application/vnd.openxmlformats-officedocument.presentationml.slide+xml"/>
  <Override PartName="/ppt/slideMasters/slideMaster360.xml" ContentType="application/vnd.openxmlformats-officedocument.presentationml.slideMaster+xml"/>
  <Override PartName="/ppt/slides/slide360.xml" ContentType="application/vnd.openxmlformats-officedocument.presentationml.slide+xml"/>
  <Override PartName="/ppt/slideMasters/slideMaster361.xml" ContentType="application/vnd.openxmlformats-officedocument.presentationml.slideMaster+xml"/>
  <Override PartName="/ppt/slides/slide361.xml" ContentType="application/vnd.openxmlformats-officedocument.presentationml.slide+xml"/>
  <Override PartName="/ppt/slideMasters/slideMaster362.xml" ContentType="application/vnd.openxmlformats-officedocument.presentationml.slideMaster+xml"/>
  <Override PartName="/ppt/slides/slide362.xml" ContentType="application/vnd.openxmlformats-officedocument.presentationml.slide+xml"/>
  <Override PartName="/ppt/slideMasters/slideMaster363.xml" ContentType="application/vnd.openxmlformats-officedocument.presentationml.slideMaster+xml"/>
  <Override PartName="/ppt/slides/slide363.xml" ContentType="application/vnd.openxmlformats-officedocument.presentationml.slide+xml"/>
  <Override PartName="/ppt/slideMasters/slideMaster364.xml" ContentType="application/vnd.openxmlformats-officedocument.presentationml.slideMaster+xml"/>
  <Override PartName="/ppt/slides/slide364.xml" ContentType="application/vnd.openxmlformats-officedocument.presentationml.slide+xml"/>
  <Override PartName="/ppt/slideMasters/slideMaster365.xml" ContentType="application/vnd.openxmlformats-officedocument.presentationml.slideMaster+xml"/>
  <Override PartName="/ppt/slides/slide365.xml" ContentType="application/vnd.openxmlformats-officedocument.presentationml.slide+xml"/>
  <Override PartName="/ppt/slideMasters/slideMaster366.xml" ContentType="application/vnd.openxmlformats-officedocument.presentationml.slideMaster+xml"/>
  <Override PartName="/ppt/slides/slide366.xml" ContentType="application/vnd.openxmlformats-officedocument.presentationml.slide+xml"/>
  <Override PartName="/ppt/slideMasters/slideMaster367.xml" ContentType="application/vnd.openxmlformats-officedocument.presentationml.slideMaster+xml"/>
  <Override PartName="/ppt/slides/slide367.xml" ContentType="application/vnd.openxmlformats-officedocument.presentationml.slide+xml"/>
  <Override PartName="/ppt/slideMasters/slideMaster368.xml" ContentType="application/vnd.openxmlformats-officedocument.presentationml.slideMaster+xml"/>
  <Override PartName="/ppt/slides/slide368.xml" ContentType="application/vnd.openxmlformats-officedocument.presentationml.slide+xml"/>
  <Override PartName="/ppt/slideMasters/slideMaster369.xml" ContentType="application/vnd.openxmlformats-officedocument.presentationml.slideMaster+xml"/>
  <Override PartName="/ppt/slides/slide369.xml" ContentType="application/vnd.openxmlformats-officedocument.presentationml.slide+xml"/>
  <Override PartName="/ppt/slideMasters/slideMaster370.xml" ContentType="application/vnd.openxmlformats-officedocument.presentationml.slideMaster+xml"/>
  <Override PartName="/ppt/slides/slide370.xml" ContentType="application/vnd.openxmlformats-officedocument.presentationml.slide+xml"/>
  <Override PartName="/ppt/slideMasters/slideMaster371.xml" ContentType="application/vnd.openxmlformats-officedocument.presentationml.slideMaster+xml"/>
  <Override PartName="/ppt/slides/slide371.xml" ContentType="application/vnd.openxmlformats-officedocument.presentationml.slide+xml"/>
  <Override PartName="/ppt/slideMasters/slideMaster372.xml" ContentType="application/vnd.openxmlformats-officedocument.presentationml.slideMaster+xml"/>
  <Override PartName="/ppt/slides/slide372.xml" ContentType="application/vnd.openxmlformats-officedocument.presentationml.slide+xml"/>
  <Override PartName="/ppt/slideMasters/slideMaster373.xml" ContentType="application/vnd.openxmlformats-officedocument.presentationml.slideMaster+xml"/>
  <Override PartName="/ppt/slides/slide373.xml" ContentType="application/vnd.openxmlformats-officedocument.presentationml.slide+xml"/>
  <Override PartName="/ppt/slideMasters/slideMaster374.xml" ContentType="application/vnd.openxmlformats-officedocument.presentationml.slideMaster+xml"/>
  <Override PartName="/ppt/slides/slide374.xml" ContentType="application/vnd.openxmlformats-officedocument.presentationml.slide+xml"/>
  <Override PartName="/ppt/slideMasters/slideMaster375.xml" ContentType="application/vnd.openxmlformats-officedocument.presentationml.slideMaster+xml"/>
  <Override PartName="/ppt/slides/slide375.xml" ContentType="application/vnd.openxmlformats-officedocument.presentationml.slide+xml"/>
  <Override PartName="/ppt/slideMasters/slideMaster376.xml" ContentType="application/vnd.openxmlformats-officedocument.presentationml.slideMaster+xml"/>
  <Override PartName="/ppt/slides/slide376.xml" ContentType="application/vnd.openxmlformats-officedocument.presentationml.slide+xml"/>
  <Override PartName="/ppt/slideMasters/slideMaster377.xml" ContentType="application/vnd.openxmlformats-officedocument.presentationml.slideMaster+xml"/>
  <Override PartName="/ppt/slides/slide377.xml" ContentType="application/vnd.openxmlformats-officedocument.presentationml.slide+xml"/>
  <Override PartName="/ppt/slideMasters/slideMaster378.xml" ContentType="application/vnd.openxmlformats-officedocument.presentationml.slideMaster+xml"/>
  <Override PartName="/ppt/slides/slide378.xml" ContentType="application/vnd.openxmlformats-officedocument.presentationml.slide+xml"/>
  <Override PartName="/ppt/slideMasters/slideMaster379.xml" ContentType="application/vnd.openxmlformats-officedocument.presentationml.slideMaster+xml"/>
  <Override PartName="/ppt/slides/slide379.xml" ContentType="application/vnd.openxmlformats-officedocument.presentationml.slide+xml"/>
  <Override PartName="/ppt/slideMasters/slideMaster380.xml" ContentType="application/vnd.openxmlformats-officedocument.presentationml.slideMaster+xml"/>
  <Override PartName="/ppt/slides/slide380.xml" ContentType="application/vnd.openxmlformats-officedocument.presentationml.slide+xml"/>
  <Override PartName="/ppt/slideMasters/slideMaster381.xml" ContentType="application/vnd.openxmlformats-officedocument.presentationml.slideMaster+xml"/>
  <Override PartName="/ppt/slides/slide381.xml" ContentType="application/vnd.openxmlformats-officedocument.presentationml.slide+xml"/>
  <Override PartName="/ppt/slideMasters/slideMaster382.xml" ContentType="application/vnd.openxmlformats-officedocument.presentationml.slideMaster+xml"/>
  <Override PartName="/ppt/slides/slide382.xml" ContentType="application/vnd.openxmlformats-officedocument.presentationml.slide+xml"/>
  <Override PartName="/ppt/slideMasters/slideMaster383.xml" ContentType="application/vnd.openxmlformats-officedocument.presentationml.slideMaster+xml"/>
  <Override PartName="/ppt/slides/slide383.xml" ContentType="application/vnd.openxmlformats-officedocument.presentationml.slide+xml"/>
  <Override PartName="/ppt/slideMasters/slideMaster384.xml" ContentType="application/vnd.openxmlformats-officedocument.presentationml.slideMaster+xml"/>
  <Override PartName="/ppt/slides/slide384.xml" ContentType="application/vnd.openxmlformats-officedocument.presentationml.slide+xml"/>
  <Override PartName="/ppt/slideMasters/slideMaster385.xml" ContentType="application/vnd.openxmlformats-officedocument.presentationml.slideMaster+xml"/>
  <Override PartName="/ppt/slides/slide385.xml" ContentType="application/vnd.openxmlformats-officedocument.presentationml.slide+xml"/>
  <Override PartName="/ppt/slideMasters/slideMaster386.xml" ContentType="application/vnd.openxmlformats-officedocument.presentationml.slideMaster+xml"/>
  <Override PartName="/ppt/slides/slide386.xml" ContentType="application/vnd.openxmlformats-officedocument.presentationml.slide+xml"/>
  <Override PartName="/ppt/slideMasters/slideMaster387.xml" ContentType="application/vnd.openxmlformats-officedocument.presentationml.slideMaster+xml"/>
  <Override PartName="/ppt/slides/slide387.xml" ContentType="application/vnd.openxmlformats-officedocument.presentationml.slide+xml"/>
  <Override PartName="/ppt/slideMasters/slideMaster388.xml" ContentType="application/vnd.openxmlformats-officedocument.presentationml.slideMaster+xml"/>
  <Override PartName="/ppt/slides/slide388.xml" ContentType="application/vnd.openxmlformats-officedocument.presentationml.slide+xml"/>
  <Override PartName="/ppt/slideMasters/slideMaster389.xml" ContentType="application/vnd.openxmlformats-officedocument.presentationml.slideMaster+xml"/>
  <Override PartName="/ppt/slides/slide389.xml" ContentType="application/vnd.openxmlformats-officedocument.presentationml.slide+xml"/>
  <Override PartName="/ppt/slideMasters/slideMaster390.xml" ContentType="application/vnd.openxmlformats-officedocument.presentationml.slideMaster+xml"/>
  <Override PartName="/ppt/slides/slide390.xml" ContentType="application/vnd.openxmlformats-officedocument.presentationml.slide+xml"/>
  <Override PartName="/ppt/slideMasters/slideMaster391.xml" ContentType="application/vnd.openxmlformats-officedocument.presentationml.slideMaster+xml"/>
  <Override PartName="/ppt/slides/slide391.xml" ContentType="application/vnd.openxmlformats-officedocument.presentationml.slide+xml"/>
  <Override PartName="/ppt/slideMasters/slideMaster392.xml" ContentType="application/vnd.openxmlformats-officedocument.presentationml.slideMaster+xml"/>
  <Override PartName="/ppt/slides/slide392.xml" ContentType="application/vnd.openxmlformats-officedocument.presentationml.slide+xml"/>
  <Override PartName="/ppt/slideMasters/slideMaster393.xml" ContentType="application/vnd.openxmlformats-officedocument.presentationml.slideMaster+xml"/>
  <Override PartName="/ppt/slides/slide393.xml" ContentType="application/vnd.openxmlformats-officedocument.presentationml.slide+xml"/>
  <Override PartName="/ppt/slideMasters/slideMaster394.xml" ContentType="application/vnd.openxmlformats-officedocument.presentationml.slideMaster+xml"/>
  <Override PartName="/ppt/slides/slide394.xml" ContentType="application/vnd.openxmlformats-officedocument.presentationml.slide+xml"/>
  <Override PartName="/ppt/slideMasters/slideMaster395.xml" ContentType="application/vnd.openxmlformats-officedocument.presentationml.slideMaster+xml"/>
  <Override PartName="/ppt/slides/slide395.xml" ContentType="application/vnd.openxmlformats-officedocument.presentationml.slide+xml"/>
  <Override PartName="/ppt/slideMasters/slideMaster396.xml" ContentType="application/vnd.openxmlformats-officedocument.presentationml.slideMaster+xml"/>
  <Override PartName="/ppt/slides/slide396.xml" ContentType="application/vnd.openxmlformats-officedocument.presentationml.slide+xml"/>
  <Override PartName="/ppt/slideMasters/slideMaster397.xml" ContentType="application/vnd.openxmlformats-officedocument.presentationml.slideMaster+xml"/>
  <Override PartName="/ppt/slides/slide397.xml" ContentType="application/vnd.openxmlformats-officedocument.presentationml.slide+xml"/>
  <Override PartName="/ppt/slideMasters/slideMaster398.xml" ContentType="application/vnd.openxmlformats-officedocument.presentationml.slideMaster+xml"/>
  <Override PartName="/ppt/slides/slide398.xml" ContentType="application/vnd.openxmlformats-officedocument.presentationml.slide+xml"/>
  <Override PartName="/ppt/slideMasters/slideMaster399.xml" ContentType="application/vnd.openxmlformats-officedocument.presentationml.slideMaster+xml"/>
  <Override PartName="/ppt/slides/slide399.xml" ContentType="application/vnd.openxmlformats-officedocument.presentationml.slide+xml"/>
  <Override PartName="/ppt/slideMasters/slideMaster400.xml" ContentType="application/vnd.openxmlformats-officedocument.presentationml.slideMaster+xml"/>
  <Override PartName="/ppt/slides/slide400.xml" ContentType="application/vnd.openxmlformats-officedocument.presentationml.slide+xml"/>
  <Override PartName="/ppt/slideMasters/slideMaster401.xml" ContentType="application/vnd.openxmlformats-officedocument.presentationml.slideMaster+xml"/>
  <Override PartName="/ppt/slides/slide401.xml" ContentType="application/vnd.openxmlformats-officedocument.presentationml.slide+xml"/>
  <Override PartName="/ppt/slideMasters/slideMaster402.xml" ContentType="application/vnd.openxmlformats-officedocument.presentationml.slideMaster+xml"/>
  <Override PartName="/ppt/slides/slide4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Lst>
  <p:notesMasterIdLst>
    <p:notesMasterId r:id="rId404"/>
  </p:notesMasterIdLst>
  <p:sldSz cx="5486400" cy="10972800"/>
  <p:notesSz cx="10972800" cy="548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notesMaster" Target="notesMasters/notesMaster1.xml"/><Relationship Id="rId405" Type="http://schemas.openxmlformats.org/officeDocument/2006/relationships/presProps" Target="presProps.xml"/><Relationship Id="rId406" Type="http://schemas.openxmlformats.org/officeDocument/2006/relationships/viewProps" Target="viewProps.xml"/><Relationship Id="rId407" Type="http://schemas.openxmlformats.org/officeDocument/2006/relationships/theme" Target="theme/theme1.xml"/><Relationship Id="rId40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_rels/notesSlide3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4.xml"/>
		</Relationships>
</file>

<file path=ppt/notesSlides/_rels/notesSlide3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5.xml"/>
		</Relationships>
</file>

<file path=ppt/notesSlides/_rels/notesSlide3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6.xml"/>
		</Relationships>
</file>

<file path=ppt/notesSlides/_rels/notesSlide3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7.xml"/>
		</Relationships>
</file>

<file path=ppt/notesSlides/_rels/notesSlide3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8.xml"/>
		</Relationships>
</file>

<file path=ppt/notesSlides/_rels/notesSlide3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9.xml"/>
		</Relationships>
</file>

<file path=ppt/notesSlides/_rels/notesSlide3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0.xml"/>
		</Relationships>
</file>

<file path=ppt/notesSlides/_rels/notesSlide3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1.xml"/>
		</Relationships>
</file>

<file path=ppt/notesSlides/_rels/notesSlide3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2.xml"/>
		</Relationships>
</file>

<file path=ppt/notesSlides/_rels/notesSlide3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3.xml"/>
		</Relationships>
</file>

<file path=ppt/notesSlides/_rels/notesSlide3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4.xml"/>
		</Relationships>
</file>

<file path=ppt/notesSlides/_rels/notesSlide3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5.xml"/>
		</Relationships>
</file>

<file path=ppt/notesSlides/_rels/notesSlide3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6.xml"/>
		</Relationships>
</file>

<file path=ppt/notesSlides/_rels/notesSlide3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7.xml"/>
		</Relationships>
</file>

<file path=ppt/notesSlides/_rels/notesSlide3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8.xml"/>
		</Relationships>
</file>

<file path=ppt/notesSlides/_rels/notesSlide3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9.xml"/>
		</Relationships>
</file>

<file path=ppt/notesSlides/_rels/notesSlide3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0.xml"/>
		</Relationships>
</file>

<file path=ppt/notesSlides/_rels/notesSlide3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1.xml"/>
		</Relationships>
</file>

<file path=ppt/notesSlides/_rels/notesSlide3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2.xml"/>
		</Relationships>
</file>

<file path=ppt/notesSlides/_rels/notesSlide3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3.xml"/>
		</Relationships>
</file>

<file path=ppt/notesSlides/_rels/notesSlide3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4.xml"/>
		</Relationships>
</file>

<file path=ppt/notesSlides/_rels/notesSlide3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5.xml"/>
		</Relationships>
</file>

<file path=ppt/notesSlides/_rels/notesSlide3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6.xml"/>
		</Relationships>
</file>

<file path=ppt/notesSlides/_rels/notesSlide3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7.xml"/>
		</Relationships>
</file>

<file path=ppt/notesSlides/_rels/notesSlide3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8.xml"/>
		</Relationships>
</file>

<file path=ppt/notesSlides/_rels/notesSlide3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9.xml"/>
		</Relationships>
</file>

<file path=ppt/notesSlides/_rels/notesSlide3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0.xml"/>
		</Relationships>
</file>

<file path=ppt/notesSlides/_rels/notesSlide3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1.xml"/>
		</Relationships>
</file>

<file path=ppt/notesSlides/_rels/notesSlide3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2.xml"/>
		</Relationships>
</file>

<file path=ppt/notesSlides/_rels/notesSlide3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3.xml"/>
		</Relationships>
</file>

<file path=ppt/notesSlides/_rels/notesSlide3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4.xml"/>
		</Relationships>
</file>

<file path=ppt/notesSlides/_rels/notesSlide3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5.xml"/>
		</Relationships>
</file>

<file path=ppt/notesSlides/_rels/notesSlide3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6.xml"/>
		</Relationships>
</file>

<file path=ppt/notesSlides/_rels/notesSlide3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7.xml"/>
		</Relationships>
</file>

<file path=ppt/notesSlides/_rels/notesSlide3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8.xml"/>
		</Relationships>
</file>

<file path=ppt/notesSlides/_rels/notesSlide3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9.xml"/>
		</Relationships>
</file>

<file path=ppt/notesSlides/_rels/notesSlide3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0.xml"/>
		</Relationships>
</file>

<file path=ppt/notesSlides/_rels/notesSlide3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1.xml"/>
		</Relationships>
</file>

<file path=ppt/notesSlides/_rels/notesSlide3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2.xml"/>
		</Relationships>
</file>

<file path=ppt/notesSlides/_rels/notesSlide3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3.xml"/>
		</Relationships>
</file>

<file path=ppt/notesSlides/_rels/notesSlide3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4.xml"/>
		</Relationships>
</file>

<file path=ppt/notesSlides/_rels/notesSlide3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5.xml"/>
		</Relationships>
</file>

<file path=ppt/notesSlides/_rels/notesSlide3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6.xml"/>
		</Relationships>
</file>

<file path=ppt/notesSlides/_rels/notesSlide3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7.xml"/>
		</Relationships>
</file>

<file path=ppt/notesSlides/_rels/notesSlide3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8.xml"/>
		</Relationships>
</file>

<file path=ppt/notesSlides/_rels/notesSlide3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9.xml"/>
		</Relationships>
</file>

<file path=ppt/notesSlides/_rels/notesSlide3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0.xml"/>
		</Relationships>
</file>

<file path=ppt/notesSlides/_rels/notesSlide3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1.xml"/>
		</Relationships>
</file>

<file path=ppt/notesSlides/_rels/notesSlide3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2.xml"/>
		</Relationships>
</file>

<file path=ppt/notesSlides/_rels/notesSlide3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3.xml"/>
		</Relationships>
</file>

<file path=ppt/notesSlides/_rels/notesSlide3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4.xml"/>
		</Relationships>
</file>

<file path=ppt/notesSlides/_rels/notesSlide3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5.xml"/>
		</Relationships>
</file>

<file path=ppt/notesSlides/_rels/notesSlide3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6.xml"/>
		</Relationships>
</file>

<file path=ppt/notesSlides/_rels/notesSlide3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7.xml"/>
		</Relationships>
</file>

<file path=ppt/notesSlides/_rels/notesSlide3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8.xml"/>
		</Relationships>
</file>

<file path=ppt/notesSlides/_rels/notesSlide3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9.xml"/>
		</Relationships>
</file>

<file path=ppt/notesSlides/_rels/notesSlide3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0.xml"/>
		</Relationships>
</file>

<file path=ppt/notesSlides/_rels/notesSlide3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1.xml"/>
		</Relationships>
</file>

<file path=ppt/notesSlides/_rels/notesSlide3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2.xml"/>
		</Relationships>
</file>

<file path=ppt/notesSlides/_rels/notesSlide3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3.xml"/>
		</Relationships>
</file>

<file path=ppt/notesSlides/_rels/notesSlide3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4.xml"/>
		</Relationships>
</file>

<file path=ppt/notesSlides/_rels/notesSlide3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5.xml"/>
		</Relationships>
</file>

<file path=ppt/notesSlides/_rels/notesSlide3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6.xml"/>
		</Relationships>
</file>

<file path=ppt/notesSlides/_rels/notesSlide3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7.xml"/>
		</Relationships>
</file>

<file path=ppt/notesSlides/_rels/notesSlide3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8.xml"/>
		</Relationships>
</file>

<file path=ppt/notesSlides/_rels/notesSlide3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9.xml"/>
		</Relationships>
</file>

<file path=ppt/notesSlides/_rels/notesSlide4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0.xml"/>
		</Relationships>
</file>

<file path=ppt/notesSlides/_rels/notesSlide4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1.xml"/>
		</Relationships>
</file>

<file path=ppt/notesSlides/_rels/notesSlide4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この資料は、IT経験を尋ねる質問票に出てくる用語を、高校生でも分かるように、図・関係図・たとえ話で説明するものです。
【補足】
・すべての用語ページの上には、「どこの話？」の帯があります。ハードウェア・OS・仮想化・ミドルウェア・アプリ・ネットワーク・置き場所の7つのうち、今の用語がどこにあたるかを色で示します。
・用語の意味・用途は、貼り付けていただいた質問票の解説を土台にしています。「たとえ」や図、前後の用語の補足は、一般的な技術知識で足しました（「補足」ラベル）。
・パソコン版（横長）と、スマホ版（縦長）の2種類があります。
【情報の区分】
一般的な技術説明・教材上の整理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（スライド1／資料の該当箇所：表紙）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3つのカードが、この資料の工夫です。
【処理の詳細】
・① どこの話か：すべての用語ページの上に「層」の帯を付け、色で位置を示す。
・② つながり：用語どうしを矢印で結んだ関係図を、用語ごとと章ごとに載せる。
・③ 具体像：実際の機械や場面の図、身近なたとえと具体例で示す。
【補足】
対象の読み手は高校生くらいです。専門用語は、初めて出たときに言い換えを付けています。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（スライド2／資料の該当箇所：資料の読み方）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色付きの7つの札が「層」です。ページ上部の帯では、今の用語がある層だけが色付きで光ります。
【処理の詳細】
・関係図：左が今の用語、右がつながる用語。矢印の向きは「〜が〜に（ラベル）する」と読む。例：メモリ →データを渡す→ CPU は「メモリがCPUにデータを渡す」。
・右の用語の色は、その用語の層の色。
【補足】
「補足」ラベル：貼り付けた資料の表にはなく、一般的な説明で補った用語や項目に付けています。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（スライド3／資料の該当箇所：資料の読み方）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色付きの7つの札が「層」です。ページ上部の帯では、今の用語がある層だけが色付きで光ります。
【処理の詳細】
・関係図：左が今の用語、右がつながる用語。矢印の向きは「〜が〜に（ラベル）する」と読む。例：メモリ →データを渡す→ CPU は「メモリがCPUにデータを渡す」。
・右の用語の色は、その用語の層の色。
【補足】
「補足」ラベル：貼り付けた資料の表にはなく、一般的な説明で補った用語や項目に付けています。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（スライド4／資料の該当箇所：資料の読み方）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下から上へ、ハードウェア→OS→仮想化→ミドルウェア→アプリの順に積み重なります。各段に、この資料に出てくる用語の例を並べました。
【処理の詳細】
・ハードウェア：CPU・メモリ・SSD・HDDなどの機械と部品。
・OS：機械を動かす基本ソフト。Windows・Linuxなど。
・仮想化：1台の機械を分けて使う（VM）、アプリを箱に詰めて動かす（コンテナ）技術。
・ミドルウェア：データベース・Webサーバーなど、アプリを支える土台のソフト。
・アプリ：使う人・作る人が直接さわるソフト。
【補足】
上の層は、すぐ下の層の働きを使って動きます。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行の左が層の名前と役目、右がその層に属する主な用語です。全用語の一覧は、巻末の「用語の層別さくいん」にあります。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行の左が層の名前と役目、右がその層に属する主な用語です。全用語の一覧は、巻末の「用語の層別さくいん」にあります。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ネットワークは機械どうしをつなぐ道、置き場所は機械がどこにあるか・どう借りるかの話です。活動・資格は技術の層ではなく、人の活動です。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左から右へ、手元（スマホ・PC）→通信（Wi-Fi・ルーター・固定回線・インターネット）→サーバーの置き場所（会社のサーバー室／クラウド）です。
【処理の詳細】
・サーバー室：会社や学校の建物の中にある、サーバーを置く部屋。
・クラウド：事業者が持つデータセンターの機械を、インターネット越しに借りる使い方。
・上の「層」（ハードウェア・OSなど）は1台の機械の中の話、この地図は「どこに何があるか」の話です。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1から7の順に、情報が進みます。かっこの中は、その用語がある層です。
【補足】
この流れの一部（Webサーバー・アプリケーションサーバー・データベース）の役割は、④⑤の章で詳しく説明します。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（スライド10／資料の該当箇所：全体の見取り図）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色付きの10個のチップが、この資料のテーマです。ストレージは貼り付けの途中から（ファイルシステムの行の途中から）始まっています。
【処理の詳細】
・質問12・13：データベース／質問14・15：アプリケーションサーバー／質問16・17：仮想化・コンテナ・プライベートクラウド／質問18・19：クラウド／質問20・21：研究・独学での取り組み／質問22・23：プレゼン・学会発表／質問24：IT系の資格／質問25：その他のIT経験／質問26：リモート就業のネットワーク環境。
・ストレージの質問番号は、貼り付け範囲に含まれていないため、この資料では番号を示しません。
【成立条件・例外】
貼り付けは、ストレージの表の途中（「FAT、ext4、APFSなど」の行）から始まり、質問26の「Wi-Fi」の行の途中で終わっています。範囲外（それより前後）の用語は、この資料に含まれていません。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（スライド11／資料の該当箇所：貼り付け全体）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手でさわれる機械や部品のこと。コンピューターの一番下の土台。
【どこの話？】
層：ハードウェア（機械・部品そのもの）
場所：パソコン・スマホ・サーバーなど、手でさわれる機械そのもの。層でいちばん下。
【くわしく】
ハードウェアは、手でさわれる機械や部品のことです。パソコンやスマホの本体、CPU（計算をする頭脳）、メモリ、SSD、画面、キーボード、ケーブルなどが、すべて含まれます。
機械の層は、おおむね下から、ハードウェア、OS、ミドルウェア（アプリを支えるソフト）、アプリの順に積み重なります。仮想化（1台を分けて使う技術）は、OSの下や上に入ります。右側の「ネットワーク」と「置き場所」は、機械の外の話です。
ハードウェアだけでは何もできません。「何をするか」を教えるソフトウェアが必要です。また部品は壊れるので、RAIDやバックアップのように、故障に備える工夫が後の章に出てきます。
【たとえるなら】
ゲーム機の本体やコントローラー。ソフト（ゲームのディスク）を入れないと遊べませんが、本体がなければソフトも動きません。
【こんな場面で】
パソコンの「スペック（性能）」にCPUやメモリの数字が並んでいます。あれがハードウェアの仕様です。「このPCは古いから重い」と言うときも、ハードの話です。
【勘違い・つまずき】
「ハード」と「ソフト」は別物です。Windowsやアプリはソフトウェアです。クラウドのサーバーも、実体は事業者のデータセンターにあるハードウェアです。
【最初の学び方】
お使いのPCやスマホの「設定」でバージョン情報（システム情報）を開き、CPUの名前・メモリ・ストレージの容量を書き出してみましょう。
【つながり】
・ハードウェア →（含む）→ CPU
・ハードウェア →（含む）→ メモリ
・OS →（制御する）→ ハードウェア
・仮想化 →（分けて使う）→ ハードウェア
・ハードウェア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（スライド12／資料の該当箇所：編集者による補足（ハードウェア））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手でさわれる機械や部品のこと。コンピューターの一番下の土台。
【どこの話？】
層：ハードウェア（機械・部品そのもの）
場所：パソコン・スマホ・サーバーなど、手でさわれる機械そのもの。層でいちばん下。
【くわしく】
ハードウェアは、手でさわれる機械や部品のことです。パソコンやスマホの本体、CPU（計算をする頭脳）、メモリ、SSD、画面、キーボード、ケーブルなどが、すべて含まれます。
機械の層は、おおむね下から、ハードウェア、OS、ミドルウェア（アプリを支えるソフト）、アプリの順に積み重なります。仮想化（1台を分けて使う技術）は、OSの下や上に入ります。右側の「ネットワーク」と「置き場所」は、機械の外の話です。
ハードウェアだけでは何もできません。「何をするか」を教えるソフトウェアが必要です。また部品は壊れるので、RAIDやバックアップのように、故障に備える工夫が後の章に出てきます。
【たとえるなら】
ゲーム機の本体やコントローラー。ソフト（ゲームのディスク）を入れないと遊べませんが、本体がなければソフトも動きません。
【こんな場面で】
パソコンの「スペック（性能）」にCPUやメモリの数字が並んでいます。あれがハードウェアの仕様です。「このPCは古いから重い」と言うときも、ハードの話です。
【勘違い・つまずき】
「ハード」と「ソフト」は別物です。Windowsやアプリはソフトウェアです。クラウドのサーバーも、実体は事業者のデータセンターにあるハードウェアです。
【最初の学び方】
お使いのPCやスマホの「設定」でバージョン情報（システム情報）を開き、CPUの名前・メモリ・ストレージの容量を書き出してみましょう。
【つながり】
・ハードウェア →（含む）→ CPU
・ハードウェア →（含む）→ メモリ
・OS →（制御する）→ ハードウェア
・仮想化 →（分けて使う）→ ハードウェア
・ハードウェア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（スライド13／資料の該当箇所：編集者による補足（ハードウェア））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手でさわれる機械や部品のこと。コンピューターの一番下の土台。
【どこの話？】
層：ハードウェア（機械・部品そのもの）
場所：パソコン・スマホ・サーバーなど、手でさわれる機械そのもの。層でいちばん下。
【くわしく】
ハードウェアは、手でさわれる機械や部品のことです。パソコンやスマホの本体、CPU（計算をする頭脳）、メモリ、SSD、画面、キーボード、ケーブルなどが、すべて含まれます。
機械の層は、おおむね下から、ハードウェア、OS、ミドルウェア（アプリを支えるソフト）、アプリの順に積み重なります。仮想化（1台を分けて使う技術）は、OSの下や上に入ります。右側の「ネットワーク」と「置き場所」は、機械の外の話です。
ハードウェアだけでは何もできません。「何をするか」を教えるソフトウェアが必要です。また部品は壊れるので、RAIDやバックアップのように、故障に備える工夫が後の章に出てきます。
【たとえるなら】
ゲーム機の本体やコントローラー。ソフト（ゲームのディスク）を入れないと遊べませんが、本体がなければソフトも動きません。
【こんな場面で】
パソコンの「スペック（性能）」にCPUやメモリの数字が並んでいます。あれがハードウェアの仕様です。「このPCは古いから重い」と言うときも、ハードの話です。
【勘違い・つまずき】
「ハード」と「ソフト」は別物です。Windowsやアプリはソフトウェアです。クラウドのサーバーも、実体は事業者のデータセンターにあるハードウェアです。
【最初の学び方】
お使いのPCやスマホの「設定」でバージョン情報（システム情報）を開き、CPUの名前・メモリ・ストレージの容量を書き出してみましょう。
【つながり】
・ハードウェア →（含む）→ CPU
・ハードウェア →（含む）→ メモリ
・OS →（制御する）→ ハードウェア
・仮想化 →（分けて使う）→ ハードウェア
・ハードウェア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（スライド14／資料の該当箇所：編集者による補足（ハードウェア））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プログラムの命令を読み取って計算する、コンピューターの頭脳。
【どこの話？】
層：ハードウェア（機械・部品そのもの）
場所：パソコン・スマホ・サーバーの中にある、小さな計算用チップ。
【くわしく】
CPUは、ソフトウェアの命令（プログラム）を1つずつ読み取り、足し算や比較などの計算を実行する部品です。画面表示もゲームの動きもメッセージ送信も、突き詰めれば小さな計算の積み重ねです。
CPUは、数GHz（1秒間に数十億回のリズム）という速さで動きます。計算に使うデータは、メモリから受け取ります。メモリより遅いストレージのデータは、いったんメモリに読み込まれてから使われます。
CPUの中には、計算の単位「コア」が複数入っているものがあります。コアが多いと、複数の作業を同時に進めやすくなります。パソコン用でも複数、サーバー用では数十個以上のコアを持つ製品があります。
【たとえるなら】
キッチンで包丁を握って調理する料理人。レシピ（プログラム）どおりに手を動かします。作業台（メモリ）が広いほど、材料を並べて効率よく作れます。
【こんな場面で】
パソコンの仕様に「Intel Core i5」「AMD Ryzen 7」と書いてあるのがCPUの名前です。動画の書き出しやゲームでCPU使用率が100%近くになると、動作が重くなります。
【勘違い・つまずき】
CPUは「パソコン本体」ではなく、部品の1つです。データを長く保存する場所でもありません。保存はストレージ、作業中のデータの置き場はメモリの役目です。
【最初の学び方】
Windowsのタスクマネージャー（Ctrl+Shift+Esc）の「パフォーマンス」で、CPUの名前・コア数・使用率を見ましょう。アプリを開くと数字が動きます。
【つながり】
・メモリ →（データを渡す）→ CPU
・OS →（仕事を配る）→ CPU
・CPU →（部品の一つ）→ ハードウェア
・仮想化 →（分けて使う）→ CPU
・PC自作 →（選んで買う）→ CPU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（スライド15／資料の該当箇所：編集者による補足（CPU））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プログラムの命令を読み取って計算する、コンピューターの頭脳。
【どこの話？】
層：ハードウェア（機械・部品そのもの）
場所：パソコン・スマホ・サーバーの中にある、小さな計算用チップ。
【くわしく】
CPUは、ソフトウェアの命令（プログラム）を1つずつ読み取り、足し算や比較などの計算を実行する部品です。画面表示もゲームの動きもメッセージ送信も、突き詰めれば小さな計算の積み重ねです。
CPUは、数GHz（1秒間に数十億回のリズム）という速さで動きます。計算に使うデータは、メモリから受け取ります。メモリより遅いストレージのデータは、いったんメモリに読み込まれてから使われます。
CPUの中には、計算の単位「コア」が複数入っているものがあります。コアが多いと、複数の作業を同時に進めやすくなります。パソコン用でも複数、サーバー用では数十個以上のコアを持つ製品があります。
【たとえるなら】
キッチンで包丁を握って調理する料理人。レシピ（プログラム）どおりに手を動かします。作業台（メモリ）が広いほど、材料を並べて効率よく作れます。
【こんな場面で】
パソコンの仕様に「Intel Core i5」「AMD Ryzen 7」と書いてあるのがCPUの名前です。動画の書き出しやゲームでCPU使用率が100%近くになると、動作が重くなります。
【勘違い・つまずき】
CPUは「パソコン本体」ではなく、部品の1つです。データを長く保存する場所でもありません。保存はストレージ、作業中のデータの置き場はメモリの役目です。
【最初の学び方】
Windowsのタスクマネージャー（Ctrl+Shift+Esc）の「パフォーマンス」で、CPUの名前・コア数・使用率を見ましょう。アプリを開くと数字が動きます。
【つながり】
・メモリ →（データを渡す）→ CPU
・OS →（仕事を配る）→ CPU
・CPU →（部品の一つ）→ ハードウェア
・仮想化 →（分けて使う）→ CPU
・PC自作 →（選んで買う）→ CPU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（スライド16／資料の該当箇所：編集者による補足（CPU））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プログラムの命令を読み取って計算する、コンピューターの頭脳。
【どこの話？】
層：ハードウェア（機械・部品そのもの）
場所：パソコン・スマホ・サーバーの中にある、小さな計算用チップ。
【くわしく】
CPUは、ソフトウェアの命令（プログラム）を1つずつ読み取り、足し算や比較などの計算を実行する部品です。画面表示もゲームの動きもメッセージ送信も、突き詰めれば小さな計算の積み重ねです。
CPUは、数GHz（1秒間に数十億回のリズム）という速さで動きます。計算に使うデータは、メモリから受け取ります。メモリより遅いストレージのデータは、いったんメモリに読み込まれてから使われます。
CPUの中には、計算の単位「コア」が複数入っているものがあります。コアが多いと、複数の作業を同時に進めやすくなります。パソコン用でも複数、サーバー用では数十個以上のコアを持つ製品があります。
【たとえるなら】
キッチンで包丁を握って調理する料理人。レシピ（プログラム）どおりに手を動かします。作業台（メモリ）が広いほど、材料を並べて効率よく作れます。
【こんな場面で】
パソコンの仕様に「Intel Core i5」「AMD Ryzen 7」と書いてあるのがCPUの名前です。動画の書き出しやゲームでCPU使用率が100%近くになると、動作が重くなります。
【勘違い・つまずき】
CPUは「パソコン本体」ではなく、部品の1つです。データを長く保存する場所でもありません。保存はストレージ、作業中のデータの置き場はメモリの役目です。
【最初の学び方】
Windowsのタスクマネージャー（Ctrl+Shift+Esc）の「パフォーマンス」で、CPUの名前・コア数・使用率を見ましょう。アプリを開くと数字が動きます。
【つながり】
・メモリ →（データを渡す）→ CPU
・OS →（仕事を配る）→ CPU
・CPU →（部品の一つ）→ ハードウェア
・仮想化 →（分けて使う）→ CPU
・PC自作 →（選んで買う）→ CPU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（スライド17／資料の該当箇所：編集者による補足（CPU））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ハードウェアを管理し、アプリが動く土台になる基本ソフト。
【どこの話？】
層：OS（機械を動かす基本ソフト）
場所：ハードウェアのすぐ上で動く基本ソフト。ハードとアプリの間に入る。
【くわしく】
OS（Operating System）は、電源を入れると起動する、いちばん基本のソフトウェアです。CPU・メモリ・ストレージ・画面などのハードウェアを管理します。
アプリは、ハードウェアを直接さわりません。「ファイルを保存したい」「画面に表示したい」とOSにお願いし、OSが代わりに実行します。そのため、対応するOSがないと、同じアプリでも動きません。
OSは、メモリをアプリに割り当て、CPUの時間を順番に配り、ファイルシステムでデータを整理し、ネットワーク通信も扱います。代表例は、Windows、macOS、Linux、スマホのAndroidとiOSです。
【たとえるなら】
ホテルのフロント。宿泊客（アプリ）は、部屋（メモリ）や設備（ハード）を勝手に使えず、フロント（OS）に頼んで割り当ててもらいます。
【こんな場面で】
Windowsのアップデートで再起動を求められる、スマホのOSを更新したら画面が変わった、「このアプリはWindows専用です」と表示された、といった場面で出てきます。
【勘違い・つまずき】
OSとアプリは別物です。Google ChromeやExcelはOSではなくアプリです。また、WindowsとLinuxなどOSが違うと、同じアプリがそのままでは動かないことがあります。
【最初の学び方】
お使いのPCやスマホの「設定」にある「バージョン情報」で、OSの名前とバージョンを確認しましょう。メモに書いておくと、後の章で役立ちます。
【つながり】
・OS →（制御する）→ ハードウェア
・OS →（割り当てる）→ メモリ
・OS →（提供する）→ ファイルシステム
・OS →（アプリの土台）→ ソフトウェア
・仮想マシン →（中で動かす）→ OS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（スライド18／資料の該当箇所：編集者による補足（OS（基本ソフト）））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ハードウェアを管理し、アプリが動く土台になる基本ソフト。
【どこの話？】
層：OS（機械を動かす基本ソフト）
場所：ハードウェアのすぐ上で動く基本ソフト。ハードとアプリの間に入る。
【くわしく】
OS（Operating System）は、電源を入れると起動する、いちばん基本のソフトウェアです。CPU・メモリ・ストレージ・画面などのハードウェアを管理します。
アプリは、ハードウェアを直接さわりません。「ファイルを保存したい」「画面に表示したい」とOSにお願いし、OSが代わりに実行します。そのため、対応するOSがないと、同じアプリでも動きません。
OSは、メモリをアプリに割り当て、CPUの時間を順番に配り、ファイルシステムでデータを整理し、ネットワーク通信も扱います。代表例は、Windows、macOS、Linux、スマホのAndroidとiOSです。
【たとえるなら】
ホテルのフロント。宿泊客（アプリ）は、部屋（メモリ）や設備（ハード）を勝手に使えず、フロント（OS）に頼んで割り当ててもらいます。
【こんな場面で】
Windowsのアップデートで再起動を求められる、スマホのOSを更新したら画面が変わった、「このアプリはWindows専用です」と表示された、といった場面で出てきます。
【勘違い・つまずき】
OSとアプリは別物です。Google ChromeやExcelはOSではなくアプリです。また、WindowsとLinuxなどOSが違うと、同じアプリがそのままでは動かないことがあります。
【最初の学び方】
お使いのPCやスマホの「設定」にある「バージョン情報」で、OSの名前とバージョンを確認しましょう。メモに書いておくと、後の章で役立ちます。
【つながり】
・OS →（制御する）→ ハードウェア
・OS →（割り当てる）→ メモリ
・OS →（提供する）→ ファイルシステム
・OS →（アプリの土台）→ ソフトウェア
・仮想マシン →（中で動かす）→ OS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（スライド19／資料の該当箇所：編集者による補足（OS（基本ソフト）））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ハードウェアを管理し、アプリが動く土台になる基本ソフト。
【どこの話？】
層：OS（機械を動かす基本ソフト）
場所：ハードウェアのすぐ上で動く基本ソフト。ハードとアプリの間に入る。
【くわしく】
OS（Operating System）は、電源を入れると起動する、いちばん基本のソフトウェアです。CPU・メモリ・ストレージ・画面などのハードウェアを管理します。
アプリは、ハードウェアを直接さわりません。「ファイルを保存したい」「画面に表示したい」とOSにお願いし、OSが代わりに実行します。そのため、対応するOSがないと、同じアプリでも動きません。
OSは、メモリをアプリに割り当て、CPUの時間を順番に配り、ファイルシステムでデータを整理し、ネットワーク通信も扱います。代表例は、Windows、macOS、Linux、スマホのAndroidとiOSです。
【たとえるなら】
ホテルのフロント。宿泊客（アプリ）は、部屋（メモリ）や設備（ハード）を勝手に使えず、フロント（OS）に頼んで割り当ててもらいます。
【こんな場面で】
Windowsのアップデートで再起動を求められる、スマホのOSを更新したら画面が変わった、「このアプリはWindows専用です」と表示された、といった場面で出てきます。
【勘違い・つまずき】
OSとアプリは別物です。Google ChromeやExcelはOSではなくアプリです。また、WindowsとLinuxなどOSが違うと、同じアプリがそのままでは動かないことがあります。
【最初の学び方】
お使いのPCやスマホの「設定」にある「バージョン情報」で、OSの名前とバージョンを確認しましょう。メモに書いておくと、後の章で役立ちます。
【つながり】
・OS →（制御する）→ ハードウェア
・OS →（割り当てる）→ メモリ
・OS →（提供する）→ ファイルシステム
・OS →（アプリの土台）→ ソフトウェア
・仮想マシン →（中で動かす）→ OS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（スライド20／資料の該当箇所：編集者による補足（OS（基本ソフト）））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コンピューターに動きを教えるプログラム全体。OS・ミドルウェア・アプリに分かれる。
【どこの話？】
層：OS・ミドルウェア・アプリ（機械を動かす基本ソフト）
場所：ハードウェアの上で動くものの総称。OS・ミドルウェア・アプリの3つの層にまたがる。
【くわしく】
ソフトウェアは、ハードウェアに「何をするか」を指示するプログラム（命令の集まり）の総称です。手でさわれるハードウェアに対して、さわれないのがソフトウェアです。大きく3種類に分けて考えます。
1つ目はOS（基本ソフト）で、ハードを管理します。2つ目はミドルウェアで、データベースやWebサーバーなど、アプリを支える裏方のソフトです。3つ目がアプリ（アプリケーション）で、人が直接使う、または作る対象のソフトです。
スマホでメッセージアプリを使うとき、アプリが画面を作り、裏のサーバーではミドルウェアがデータを保存し、その土台でOSがハードを動かしています。どの層の話かを意識すると、用語を整理しやすくなります。
【たとえるなら】
学校にたとえると、OSは校舎の設備管理（電気・水道・鍵）、ミドルウェアは図書室や保健室などの共通施設、アプリは各クラスの授業です。
【こんな場面で】
LINEやYouTube、Excel、Google Chromeはアプリです。それが動くWindowsやAndroidはOSです。サーバーで動くデータベースなどは、利用者には見えないミドルウェアです。
【勘違い・つまずき】
「ソフトウェア」と「アプリ」は同じ意味ではありません。アプリはソフトウェアの一種で、OSやミドルウェアもソフトウェアです。日常では、アプリだけを「ソフト」と呼ぶことも多いです。
【最初の学び方】
パソコンに入っているものを、「OS」「ミドルウェア（データベースなど）」「アプリ」の3グループに分けてメモしましょう。迷ったものは調べると勉強になります。
【つながり】
・ソフトウェア →（指示する）→ ハードウェア
・ソフトウェア →（含む）→ OS
・ソフトウェア →（含む）→ ミドルウェア
・Excel集計 →（例の一つ）→ ソフトウェア
・デプロイ →（配置する）→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（スライド21／資料の該当箇所：編集者による補足（ソフトウェアとアプリ））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コンピューターに動きを教えるプログラム全体。OS・ミドルウェア・アプリに分かれる。
【どこの話？】
層：OS・ミドルウェア・アプリ（機械を動かす基本ソフト）
場所：ハードウェアの上で動くものの総称。OS・ミドルウェア・アプリの3つの層にまたがる。
【くわしく】
ソフトウェアは、ハードウェアに「何をするか」を指示するプログラム（命令の集まり）の総称です。手でさわれるハードウェアに対して、さわれないのがソフトウェアです。大きく3種類に分けて考えます。
1つ目はOS（基本ソフト）で、ハードを管理します。2つ目はミドルウェアで、データベースやWebサーバーなど、アプリを支える裏方のソフトです。3つ目がアプリ（アプリケーション）で、人が直接使う、または作る対象のソフトです。
スマホでメッセージアプリを使うとき、アプリが画面を作り、裏のサーバーではミドルウェアがデータを保存し、その土台でOSがハードを動かしています。どの層の話かを意識すると、用語を整理しやすくなります。
【たとえるなら】
学校にたとえると、OSは校舎の設備管理（電気・水道・鍵）、ミドルウェアは図書室や保健室などの共通施設、アプリは各クラスの授業です。
【こんな場面で】
LINEやYouTube、Excel、Google Chromeはアプリです。それが動くWindowsやAndroidはOSです。サーバーで動くデータベースなどは、利用者には見えないミドルウェアです。
【勘違い・つまずき】
「ソフトウェア」と「アプリ」は同じ意味ではありません。アプリはソフトウェアの一種で、OSやミドルウェアもソフトウェアです。日常では、アプリだけを「ソフト」と呼ぶことも多いです。
【最初の学び方】
パソコンに入っているものを、「OS」「ミドルウェア（データベースなど）」「アプリ」の3グループに分けてメモしましょう。迷ったものは調べると勉強になります。
【つながり】
・ソフトウェア →（指示する）→ ハードウェア
・ソフトウェア →（含む）→ OS
・ソフトウェア →（含む）→ ミドルウェア
・Excel集計 →（例の一つ）→ ソフトウェア
・デプロイ →（配置する）→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（スライド22／資料の該当箇所：編集者による補足（ソフトウェアとアプリ））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コンピューターに動きを教えるプログラム全体。OS・ミドルウェア・アプリに分かれる。
【どこの話？】
層：OS・ミドルウェア・アプリ（機械を動かす基本ソフト）
場所：ハードウェアの上で動くものの総称。OS・ミドルウェア・アプリの3つの層にまたがる。
【くわしく】
ソフトウェアは、ハードウェアに「何をするか」を指示するプログラム（命令の集まり）の総称です。手でさわれるハードウェアに対して、さわれないのがソフトウェアです。大きく3種類に分けて考えます。
1つ目はOS（基本ソフト）で、ハードを管理します。2つ目はミドルウェアで、データベースやWebサーバーなど、アプリを支える裏方のソフトです。3つ目がアプリ（アプリケーション）で、人が直接使う、または作る対象のソフトです。
スマホでメッセージアプリを使うとき、アプリが画面を作り、裏のサーバーではミドルウェアがデータを保存し、その土台でOSがハードを動かしています。どの層の話かを意識すると、用語を整理しやすくなります。
【たとえるなら】
学校にたとえると、OSは校舎の設備管理（電気・水道・鍵）、ミドルウェアは図書室や保健室などの共通施設、アプリは各クラスの授業です。
【こんな場面で】
LINEやYouTube、Excel、Google Chromeはアプリです。それが動くWindowsやAndroidはOSです。サーバーで動くデータベースなどは、利用者には見えないミドルウェアです。
【勘違い・つまずき】
「ソフトウェア」と「アプリ」は同じ意味ではありません。アプリはソフトウェアの一種で、OSやミドルウェアもソフトウェアです。日常では、アプリだけを「ソフト」と呼ぶことも多いです。
【最初の学び方】
パソコンに入っているものを、「OS」「ミドルウェア（データベースなど）」「アプリ」の3グループに分けてメモしましょう。迷ったものは調べると勉強になります。
【つながり】
・ソフトウェア →（指示する）→ ハードウェア
・ソフトウェア →（含む）→ OS
・ソフトウェア →（含む）→ ミドルウェア
・Excel集計 →（例の一つ）→ ソフトウェア
・デプロイ →（配置する）→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（スライド23／資料の該当箇所：編集者による補足（ソフトウェアとアプリ））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コンピューターに動きを教えるプログラム全体。OS・ミドルウェア・アプリに分かれる。
【どこの話？】
層：OS・ミドルウェア・アプリ（機械を動かす基本ソフト）
場所：ハードウェアの上で動くものの総称。OS・ミドルウェア・アプリの3つの層にまたがる。
【くわしく】
ソフトウェアは、ハードウェアに「何をするか」を指示するプログラム（命令の集まり）の総称です。手でさわれるハードウェアに対して、さわれないのがソフトウェアです。大きく3種類に分けて考えます。
1つ目はOS（基本ソフト）で、ハードを管理します。2つ目はミドルウェアで、データベースやWebサーバーなど、アプリを支える裏方のソフトです。3つ目がアプリ（アプリケーション）で、人が直接使う、または作る対象のソフトです。
スマホでメッセージアプリを使うとき、アプリが画面を作り、裏のサーバーではミドルウェアがデータを保存し、その土台でOSがハードを動かしています。どの層の話かを意識すると、用語を整理しやすくなります。
【たとえるなら】
学校にたとえると、OSは校舎の設備管理（電気・水道・鍵）、ミドルウェアは図書室や保健室などの共通施設、アプリは各クラスの授業です。
【こんな場面で】
LINEやYouTube、Excel、Google Chromeはアプリです。それが動くWindowsやAndroidはOSです。サーバーで動くデータベースなどは、利用者には見えないミドルウェアです。
【勘違い・つまずき】
「ソフトウェア」と「アプリ」は同じ意味ではありません。アプリはソフトウェアの一種で、OSやミドルウェアもソフトウェアです。日常では、アプリだけを「ソフト」と呼ぶことも多いです。
【最初の学び方】
パソコンに入っているものを、「OS」「ミドルウェア（データベースなど）」「アプリ」の3グループに分けてメモしましょう。迷ったものは調べると勉強になります。
【つながり】
・ソフトウェア →（指示する）→ ハードウェア
・ソフトウェア →（含む）→ OS
・ソフトウェア →（含む）→ ミドルウェア
・Excel集計 →（例の一つ）→ ソフトウェア
・デプロイ →（配置する）→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（スライド24／資料の該当箇所：編集者による補足（ソフトウェアとアプリ））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情報やサービスを提供する側（サーバー）と、利用する側（クライアント）。
【どこの話？】
層：ハードウェア・ミドルウェア・ネットワーク（機械・部品そのもの）
場所：ネットワークでつながった「提供する側」と「利用する側」。機械でもソフトでも使う言葉。
【くわしく】
サーバーは、ほかのコンピューターからの要求（リクエスト）を受け、情報や機能を返す側です。クライアントは、要求を出して利用する側です。どちらも「役割」の呼び名です。
Webサイトを見るとき、あなたのスマホやPCのブラウザーがクライアントで、サイトのデータを持つコンピューターがサーバーです。両者はネットワークでつながり、要求と返事（レスポンス）をやりとりします。
「サーバー」は、サーバー用の機械（ハードウェア）を指すことも、サーバーとして働くソフト（Webサーバーなど）を指すこともあります。1台のコンピューターが、サーバーとクライアントの両方を兼ねることもあります。
【たとえるなら】
レストランのお客さんと店。お客さん（クライアント）が注文（リクエスト）すると、厨房のある店（サーバー）が料理（レスポンス）を出します。
【こんな場面で】
YouTubeを開く、LINEでメッセージを送る、学校の成績システムにログインする。どれも、スマホやPC（クライアント）が、どこかのサーバーに要求を送っています。
【勘違い・つまずき】
サーバーは「特別な機械」と決まっているわけではありません。ふつうのパソコンでも、サーバー用のソフトを動かせばサーバーになります。立場しだいで、1台が両方の役にもなります。
【最初の学び方】
Webサイトを開く場面で、自分のブラウザーがクライアント、データを返すのがサーバーだと図に描いて説明してみましょう。矢印の向き（要求と返事）も書きます。
【つながり】
・ネットワーク →（つなぐ）→ サーバーとクライアント
・Webサーバー →（例の一つ）→ サーバーとクライアント
・DBサーバー →（例の一つ）→ サーバーとクライアント
・サーバーとクライアント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（スライド25／資料の該当箇所：編集者による補足（サーバーとクライアント））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情報やサービスを提供する側（サーバー）と、利用する側（クライアント）。
【どこの話？】
層：ハードウェア・ミドルウェア・ネットワーク（機械・部品そのもの）
場所：ネットワークでつながった「提供する側」と「利用する側」。機械でもソフトでも使う言葉。
【くわしく】
サーバーは、ほかのコンピューターからの要求（リクエスト）を受け、情報や機能を返す側です。クライアントは、要求を出して利用する側です。どちらも「役割」の呼び名です。
Webサイトを見るとき、あなたのスマホやPCのブラウザーがクライアントで、サイトのデータを持つコンピューターがサーバーです。両者はネットワークでつながり、要求と返事（レスポンス）をやりとりします。
「サーバー」は、サーバー用の機械（ハードウェア）を指すことも、サーバーとして働くソフト（Webサーバーなど）を指すこともあります。1台のコンピューターが、サーバーとクライアントの両方を兼ねることもあります。
【たとえるなら】
レストランのお客さんと店。お客さん（クライアント）が注文（リクエスト）すると、厨房のある店（サーバー）が料理（レスポンス）を出します。
【こんな場面で】
YouTubeを開く、LINEでメッセージを送る、学校の成績システムにログインする。どれも、スマホやPC（クライアント）が、どこかのサーバーに要求を送っています。
【勘違い・つまずき】
サーバーは「特別な機械」と決まっているわけではありません。ふつうのパソコンでも、サーバー用のソフトを動かせばサーバーになります。立場しだいで、1台が両方の役にもなります。
【最初の学び方】
Webサイトを開く場面で、自分のブラウザーがクライアント、データを返すのがサーバーだと図に描いて説明してみましょう。矢印の向き（要求と返事）も書きます。
【つながり】
・ネットワーク →（つなぐ）→ サーバーとクライアント
・Webサーバー →（例の一つ）→ サーバーとクライアント
・DBサーバー →（例の一つ）→ サーバーとクライアント
・サーバーとクライアント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（スライド26／資料の該当箇所：編集者による補足（サーバーとクライアント））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情報やサービスを提供する側（サーバー）と、利用する側（クライアント）。
【どこの話？】
層：ハードウェア・ミドルウェア・ネットワーク（機械・部品そのもの）
場所：ネットワークでつながった「提供する側」と「利用する側」。機械でもソフトでも使う言葉。
【くわしく】
サーバーは、ほかのコンピューターからの要求（リクエスト）を受け、情報や機能を返す側です。クライアントは、要求を出して利用する側です。どちらも「役割」の呼び名です。
Webサイトを見るとき、あなたのスマホやPCのブラウザーがクライアントで、サイトのデータを持つコンピューターがサーバーです。両者はネットワークでつながり、要求と返事（レスポンス）をやりとりします。
「サーバー」は、サーバー用の機械（ハードウェア）を指すことも、サーバーとして働くソフト（Webサーバーなど）を指すこともあります。1台のコンピューターが、サーバーとクライアントの両方を兼ねることもあります。
【たとえるなら】
レストランのお客さんと店。お客さん（クライアント）が注文（リクエスト）すると、厨房のある店（サーバー）が料理（レスポンス）を出します。
【こんな場面で】
YouTubeを開く、LINEでメッセージを送る、学校の成績システムにログインする。どれも、スマホやPC（クライアント）が、どこかのサーバーに要求を送っています。
【勘違い・つまずき】
サーバーは「特別な機械」と決まっているわけではありません。ふつうのパソコンでも、サーバー用のソフトを動かせばサーバーになります。立場しだいで、1台が両方の役にもなります。
【最初の学び方】
Webサイトを開く場面で、自分のブラウザーがクライアント、データを返すのがサーバーだと図に描いて説明してみましょう。矢印の向き（要求と返事）も書きます。
【つながり】
・ネットワーク →（つなぐ）→ サーバーとクライアント
・Webサーバー →（例の一つ）→ サーバーとクライアント
・DBサーバー →（例の一つ）→ サーバーとクライアント
・サーバーとクライアント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（スライド27／資料の該当箇所：編集者による補足（サーバーとクライアント））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情報やサービスを提供する側（サーバー）と、利用する側（クライアント）。
【どこの話？】
層：ハードウェア・ミドルウェア・ネットワーク（機械・部品そのもの）
場所：ネットワークでつながった「提供する側」と「利用する側」。機械でもソフトでも使う言葉。
【くわしく】
サーバーは、ほかのコンピューターからの要求（リクエスト）を受け、情報や機能を返す側です。クライアントは、要求を出して利用する側です。どちらも「役割」の呼び名です。
Webサイトを見るとき、あなたのスマホやPCのブラウザーがクライアントで、サイトのデータを持つコンピューターがサーバーです。両者はネットワークでつながり、要求と返事（レスポンス）をやりとりします。
「サーバー」は、サーバー用の機械（ハードウェア）を指すことも、サーバーとして働くソフト（Webサーバーなど）を指すこともあります。1台のコンピューターが、サーバーとクライアントの両方を兼ねることもあります。
【たとえるなら】
レストランのお客さんと店。お客さん（クライアント）が注文（リクエスト）すると、厨房のある店（サーバー）が料理（レスポンス）を出します。
【こんな場面で】
YouTubeを開く、LINEでメッセージを送る、学校の成績システムにログインする。どれも、スマホやPC（クライアント）が、どこかのサーバーに要求を送っています。
【勘違い・つまずき】
サーバーは「特別な機械」と決まっているわけではありません。ふつうのパソコンでも、サーバー用のソフトを動かせばサーバーになります。立場しだいで、1台が両方の役にもなります。
【最初の学び方】
Webサイトを開く場面で、自分のブラウザーがクライアント、データを返すのがサーバーだと図に描いて説明してみましょう。矢印の向き（要求と返事）も書きます。
【つながり】
・ネットワーク →（つなぐ）→ サーバーとクライアント
・Webサーバー →（例の一つ）→ サーバーとクライアント
・DBサーバー →（例の一つ）→ サーバーとクライアント
・サーバーとクライアント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（スライド28／資料の該当箇所：編集者による補足（サーバーとクライアント））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コンピューターどうしをつないで、データをやりとりできるようにする仕組み。
【どこの話？】
層：ネットワーク（機械どうしをつなぐ道）
場所：機械の外側。コンピューターどうしをつなぐ道（ケーブル・Wi-Fi・ルーター）。
【くわしく】
ネットワークは、複数のコンピューターや機器をケーブルや電波でつなぎ、データを送り合えるようにした仕組みです。学校や会社の中だけをつなぐものはLAN（ラン）、離れた場所どうしをつなぐものはWAN（ワン）と呼びます。
機器どうしの通信には、共通の約束（プロトコル）があります。データは小さな単位（パケット）に分けて送られ、ルーターなどの機器が行き先を見て中継します。
ネットワークは、コンピューターの「外」の話です。ハードウェアやOSが「機械の中身」なら、ネットワークは機械どうしをつなぐ「道路」です。サーバーとクライアントも、ネットワークがあって成り立ちます。
【たとえるなら】
町の道路網。家（コンピューター）どうしを道路（ケーブル・電波）でつなぎ、荷物（パケット）を運びます。交差点で行き先を案内するのがルーターです。
【こんな場面で】
家のWi-Fiにスマホをつなぐ、学校のPCで共有プリンターを使う、会社のPCから社内のサーバーにつなぐ。どれもネットワークを使っています。
【勘違い・つまずき】
「ネットワーク」と「インターネット」は同じではありません。学校内のLANのように、インターネットにつながらないネットワークもあります。インターネットは、無数のネットワークをつないだ世界規模のものです。
【最初の学び方】
PCのコマンドプロンプトで ipconfig と打ち、自分のIPアドレス（ネットワーク上の住所）を確認してみましょう。家のWi-Fiにつながっていれば表示されます。
【つながり】
・インターネット →（最大の例）→ ネットワーク
・有線LAN →（線でつなぐ）→ ネットワーク
・Wi-Fi →（電波でつなぐ）→ ネットワーク
・ルーター →（中継する）→ ネットワーク
・ネットワーク →（つなぐ）→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（スライド29／資料の該当箇所：編集者による補足（ネットワーク））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コンピューターどうしをつないで、データをやりとりできるようにする仕組み。
【どこの話？】
層：ネットワーク（機械どうしをつなぐ道）
場所：機械の外側。コンピューターどうしをつなぐ道（ケーブル・Wi-Fi・ルーター）。
【くわしく】
ネットワークは、複数のコンピューターや機器をケーブルや電波でつなぎ、データを送り合えるようにした仕組みです。学校や会社の中だけをつなぐものはLAN（ラン）、離れた場所どうしをつなぐものはWAN（ワン）と呼びます。
機器どうしの通信には、共通の約束（プロトコル）があります。データは小さな単位（パケット）に分けて送られ、ルーターなどの機器が行き先を見て中継します。
ネットワークは、コンピューターの「外」の話です。ハードウェアやOSが「機械の中身」なら、ネットワークは機械どうしをつなぐ「道路」です。サーバーとクライアントも、ネットワークがあって成り立ちます。
【たとえるなら】
町の道路網。家（コンピューター）どうしを道路（ケーブル・電波）でつなぎ、荷物（パケット）を運びます。交差点で行き先を案内するのがルーターです。
【こんな場面で】
家のWi-Fiにスマホをつなぐ、学校のPCで共有プリンターを使う、会社のPCから社内のサーバーにつなぐ。どれもネットワークを使っています。
【勘違い・つまずき】
「ネットワーク」と「インターネット」は同じではありません。学校内のLANのように、インターネットにつながらないネットワークもあります。インターネットは、無数のネットワークをつないだ世界規模のものです。
【最初の学び方】
PCのコマンドプロンプトで ipconfig と打ち、自分のIPアドレス（ネットワーク上の住所）を確認してみましょう。家のWi-Fiにつながっていれば表示されます。
【つながり】
・インターネット →（最大の例）→ ネットワーク
・有線LAN →（線でつなぐ）→ ネットワーク
・Wi-Fi →（電波でつなぐ）→ ネットワーク
・ルーター →（中継する）→ ネットワーク
・ネットワーク →（つなぐ）→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（スライド30／資料の該当箇所：編集者による補足（ネットワーク））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コンピューターどうしをつないで、データをやりとりできるようにする仕組み。
【どこの話？】
層：ネットワーク（機械どうしをつなぐ道）
場所：機械の外側。コンピューターどうしをつなぐ道（ケーブル・Wi-Fi・ルーター）。
【くわしく】
ネットワークは、複数のコンピューターや機器をケーブルや電波でつなぎ、データを送り合えるようにした仕組みです。学校や会社の中だけをつなぐものはLAN（ラン）、離れた場所どうしをつなぐものはWAN（ワン）と呼びます。
機器どうしの通信には、共通の約束（プロトコル）があります。データは小さな単位（パケット）に分けて送られ、ルーターなどの機器が行き先を見て中継します。
ネットワークは、コンピューターの「外」の話です。ハードウェアやOSが「機械の中身」なら、ネットワークは機械どうしをつなぐ「道路」です。サーバーとクライアントも、ネットワークがあって成り立ちます。
【たとえるなら】
町の道路網。家（コンピューター）どうしを道路（ケーブル・電波）でつなぎ、荷物（パケット）を運びます。交差点で行き先を案内するのがルーターです。
【こんな場面で】
家のWi-Fiにスマホをつなぐ、学校のPCで共有プリンターを使う、会社のPCから社内のサーバーにつなぐ。どれもネットワークを使っています。
【勘違い・つまずき】
「ネットワーク」と「インターネット」は同じではありません。学校内のLANのように、インターネットにつながらないネットワークもあります。インターネットは、無数のネットワークをつないだ世界規模のものです。
【最初の学び方】
PCのコマンドプロンプトで ipconfig と打ち、自分のIPアドレス（ネットワーク上の住所）を確認してみましょう。家のWi-Fiにつながっていれば表示されます。
【つながり】
・インターネット →（最大の例）→ ネットワーク
・有線LAN →（線でつなぐ）→ ネットワーク
・Wi-Fi →（電波でつなぐ）→ ネットワーク
・ルーター →（中継する）→ ネットワーク
・ネットワーク →（つなぐ）→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（スライド31／資料の該当箇所：編集者による補足（ネットワーク））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世界中のネットワークをつないだ、世界規模のネットワーク。
【どこの話？】
層：ネットワーク（機械どうしをつなぐ道）
場所：機械の外側。世界中のネットワークがつながった、大きな通信の道。
【くわしく】
インターネットは、世界中の無数のネットワーク（家庭、学校、会社、通信会社など）を相互につないだ、世界規模のネットワークです。1社が運営しているのではなく、多数の組織のネットワークが共通のルールでつながっています。
つながるための共通ルールがIP（アイピー）です。機器にはIPアドレスという住所が付き、小分けのデータ（パケット）が中継されて届きます。Webサイトの閲覧には、HTTP（ブラウザーとWebサーバーの会話のルール）が使われます。
家庭では、光回線などでISP（インターネット・サービス・プロバイダー。接続を提供する会社）につなぎ、そこからインターネットへ出ます。WebやメールなどのサービスはIPの上で動くもので、インターネットそのものではありません。
【たとえるなら】
市町村の道路がつながって全国の道路網になるように、小さなネットワークがつながって世界中に届く道になったもの。住所（IPアドレス）を頼りに荷物が届きます。
【こんな場面で】
YouTubeの動画を見る、友だちとオンラインゲームをする、LINEで連絡する。家のWi-Fiからインターネットに出て、世界のどこかのサーバーとやりとりしています。
【勘違い・つまずき】
「インターネット」と「Web（ウェブ）」は別物です。Webは、HTTPで見るWebサイトの仕組みで、インターネット上のサービスの1つです。メールやオンラインゲームも、インターネットを使っています。
【最初の学び方】
家のWi-Fiを切り、モバイル通信で同じWebサイトを開いてみましょう。つなぎ方が違っても、同じインターネットにつながっていることが確かめられます。
【つながり】
・インターネット →（最大の例）→ ネットワーク
・光回線 →（つなぐ）→ インターネット
・ルーター →（つなぐ）→ インターネット
・パブリッククラウド →（経由する）→ インターネット
・Webサーバー →（公開する）→ インターネット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（スライド32／資料の該当箇所：編集者による補足（インターネット））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世界中のネットワークをつないだ、世界規模のネットワーク。
【どこの話？】
層：ネットワーク（機械どうしをつなぐ道）
場所：機械の外側。世界中のネットワークがつながった、大きな通信の道。
【くわしく】
インターネットは、世界中の無数のネットワーク（家庭、学校、会社、通信会社など）を相互につないだ、世界規模のネットワークです。1社が運営しているのではなく、多数の組織のネットワークが共通のルールでつながっています。
つながるための共通ルールがIP（アイピー）です。機器にはIPアドレスという住所が付き、小分けのデータ（パケット）が中継されて届きます。Webサイトの閲覧には、HTTP（ブラウザーとWebサーバーの会話のルール）が使われます。
家庭では、光回線などでISP（インターネット・サービス・プロバイダー。接続を提供する会社）につなぎ、そこからインターネットへ出ます。WebやメールなどのサービスはIPの上で動くもので、インターネットそのものではありません。
【たとえるなら】
市町村の道路がつながって全国の道路網になるように、小さなネットワークがつながって世界中に届く道になったもの。住所（IPアドレス）を頼りに荷物が届きます。
【こんな場面で】
YouTubeの動画を見る、友だちとオンラインゲームをする、LINEで連絡する。家のWi-Fiからインターネットに出て、世界のどこかのサーバーとやりとりしています。
【勘違い・つまずき】
「インターネット」と「Web（ウェブ）」は別物です。Webは、HTTPで見るWebサイトの仕組みで、インターネット上のサービスの1つです。メールやオンラインゲームも、インターネットを使っています。
【最初の学び方】
家のWi-Fiを切り、モバイル通信で同じWebサイトを開いてみましょう。つなぎ方が違っても、同じインターネットにつながっていることが確かめられます。
【つながり】
・インターネット →（最大の例）→ ネットワーク
・光回線 →（つなぐ）→ インターネット
・ルーター →（つなぐ）→ インターネット
・パブリッククラウド →（経由する）→ インターネット
・Webサーバー →（公開する）→ インターネット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（スライド33／資料の該当箇所：編集者による補足（インターネット））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世界中のネットワークをつないだ、世界規模のネットワーク。
【どこの話？】
層：ネットワーク（機械どうしをつなぐ道）
場所：機械の外側。世界中のネットワークがつながった、大きな通信の道。
【くわしく】
インターネットは、世界中の無数のネットワーク（家庭、学校、会社、通信会社など）を相互につないだ、世界規模のネットワークです。1社が運営しているのではなく、多数の組織のネットワークが共通のルールでつながっています。
つながるための共通ルールがIP（アイピー）です。機器にはIPアドレスという住所が付き、小分けのデータ（パケット）が中継されて届きます。Webサイトの閲覧には、HTTP（ブラウザーとWebサーバーの会話のルール）が使われます。
家庭では、光回線などでISP（インターネット・サービス・プロバイダー。接続を提供する会社）につなぎ、そこからインターネットへ出ます。WebやメールなどのサービスはIPの上で動くもので、インターネットそのものではありません。
【たとえるなら】
市町村の道路がつながって全国の道路網になるように、小さなネットワークがつながって世界中に届く道になったもの。住所（IPアドレス）を頼りに荷物が届きます。
【こんな場面で】
YouTubeの動画を見る、友だちとオンラインゲームをする、LINEで連絡する。家のWi-Fiからインターネットに出て、世界のどこかのサーバーとやりとりしています。
【勘違い・つまずき】
「インターネット」と「Web（ウェブ）」は別物です。Webは、HTTPで見るWebサイトの仕組みで、インターネット上のサービスの1つです。メールやオンラインゲームも、インターネットを使っています。
【最初の学び方】
家のWi-Fiを切り、モバイル通信で同じWebサイトを開いてみましょう。つなぎ方が違っても、同じインターネットにつながっていることが確かめられます。
【つながり】
・インターネット →（最大の例）→ ネットワーク
・光回線 →（つなぐ）→ インターネット
・ルーター →（つなぐ）→ インターネット
・パブリッククラウド →（経由する）→ インターネット
・Webサーバー →（公開する）→ インターネット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（スライド34／資料の該当箇所：編集者による補足（インターネット））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世界中のネットワークをつないだ、世界規模のネットワーク。
【どこの話？】
層：ネットワーク（機械どうしをつなぐ道）
場所：機械の外側。世界中のネットワークがつながった、大きな通信の道。
【くわしく】
インターネットは、世界中の無数のネットワーク（家庭、学校、会社、通信会社など）を相互につないだ、世界規模のネットワークです。1社が運営しているのではなく、多数の組織のネットワークが共通のルールでつながっています。
つながるための共通ルールがIP（アイピー）です。機器にはIPアドレスという住所が付き、小分けのデータ（パケット）が中継されて届きます。Webサイトの閲覧には、HTTP（ブラウザーとWebサーバーの会話のルール）が使われます。
家庭では、光回線などでISP（インターネット・サービス・プロバイダー。接続を提供する会社）につなぎ、そこからインターネットへ出ます。WebやメールなどのサービスはIPの上で動くもので、インターネットそのものではありません。
【たとえるなら】
市町村の道路がつながって全国の道路網になるように、小さなネットワークがつながって世界中に届く道になったもの。住所（IPアドレス）を頼りに荷物が届きます。
【こんな場面で】
YouTubeの動画を見る、友だちとオンラインゲームをする、LINEで連絡する。家のWi-Fiからインターネットに出て、世界のどこかのサーバーとやりとりしています。
【勘違い・つまずき】
「インターネット」と「Web（ウェブ）」は別物です。Webは、HTTPで見るWebサイトの仕組みで、インターネット上のサービスの1つです。メールやオンラインゲームも、インターネットを使っています。
【最初の学び方】
家のWi-Fiを切り、モバイル通信で同じWebサイトを開いてみましょう。つなぎ方が違っても、同じインターネットにつながっていることが確かめられます。
【つながり】
・インターネット →（最大の例）→ ネットワーク
・光回線 →（つなぐ）→ インターネット
・ルーター →（つなぐ）→ インターネット
・パブリッククラウド →（経由する）→ インターネット
・Webサーバー →（公開する）→ インターネット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（スライド35／資料の該当箇所：編集者による補足（インターネット））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サーバーを置く場所。自社の部屋か、事業者の専用施設かで意味が変わる。
【どこの話？】
層：置き場所（サーバー室・クラウド）
場所：サーバーを置く場所の話。自社のサーバー室か、事業者のデータセンターか。
【くわしく】
サーバーなどのハードウェアは、どこかに置かなければなりません。会社や学校の建物の中の「サーバー室」に、自分たちで置いて管理するやり方を、オンプレミス（on-premises。自社設備）と呼びます。
データセンターは、サーバーを大量に置くための専用の建物です。止まりにくい電源、熱を逃がす空調、入退室の管理、通信回線が整っています。自社のサーバーを預けるデータセンターも、クラウド事業者が自分で運営するものもあります。
クラウドは、事業者のデータセンターにある機械を、インターネット経由で借りて使うものです。自社のサーバー室では、機械の購入・設置・保守を自分でやりますが、クラウドではそれを事業者が引き受けます。
【たとえるなら】
学校の教室の隅にロッカーを置く（サーバー室）か、駅前の巨大なコインロッカー施設を借りる（データセンター）かの違い。大きな施設は警備・電源・空調が整っています。
【こんな場面で】
学校のサーバー室を管理する先生、システム障害のニュースで「データセンターの設備トラブル」と報じられる、AWSなどのクラウドを使う、といった場面で出てきます。
【勘違い・つまずき】
クラウドに実体の機械がないわけではありません。クラウドの実体も、どこかのデータセンターにある本物のサーバーです。見えない、遠くにあるだけで、物理的な機械が動いています。
【最初の学び方】
AWSの「リージョン」（東京など、データセンターが集まる地域）の一覧を調べ、クラウドの機械が世界のどこにあるのか、地図で確認してみましょう。
【つながり】
・データセンター →（収容する）→ ハードウェア
・データセンター →（実体になる）→ クラウド
・データセンター →（置き場所になる）→ パブリッククラウド
・ネットワーク →（つなぐ）→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（スライド36／資料の該当箇所：編集者による補足（サーバー室とデータセンター））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サーバーを置く場所。自社の部屋か、事業者の専用施設かで意味が変わる。
【どこの話？】
層：置き場所（サーバー室・クラウド）
場所：サーバーを置く場所の話。自社のサーバー室か、事業者のデータセンターか。
【くわしく】
サーバーなどのハードウェアは、どこかに置かなければなりません。会社や学校の建物の中の「サーバー室」に、自分たちで置いて管理するやり方を、オンプレミス（on-premises。自社設備）と呼びます。
データセンターは、サーバーを大量に置くための専用の建物です。止まりにくい電源、熱を逃がす空調、入退室の管理、通信回線が整っています。自社のサーバーを預けるデータセンターも、クラウド事業者が自分で運営するものもあります。
クラウドは、事業者のデータセンターにある機械を、インターネット経由で借りて使うものです。自社のサーバー室では、機械の購入・設置・保守を自分でやりますが、クラウドではそれを事業者が引き受けます。
【たとえるなら】
学校の教室の隅にロッカーを置く（サーバー室）か、駅前の巨大なコインロッカー施設を借りる（データセンター）かの違い。大きな施設は警備・電源・空調が整っています。
【こんな場面で】
学校のサーバー室を管理する先生、システム障害のニュースで「データセンターの設備トラブル」と報じられる、AWSなどのクラウドを使う、といった場面で出てきます。
【勘違い・つまずき】
クラウドに実体の機械がないわけではありません。クラウドの実体も、どこかのデータセンターにある本物のサーバーです。見えない、遠くにあるだけで、物理的な機械が動いています。
【最初の学び方】
AWSの「リージョン」（東京など、データセンターが集まる地域）の一覧を調べ、クラウドの機械が世界のどこにあるのか、地図で確認してみましょう。
【つながり】
・データセンター →（収容する）→ ハードウェア
・データセンター →（実体になる）→ クラウド
・データセンター →（置き場所になる）→ パブリッククラウド
・ネットワーク →（つなぐ）→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（スライド37／資料の該当箇所：編集者による補足（サーバー室とデータセンター））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サーバーを置く場所。自社の部屋か、事業者の専用施設かで意味が変わる。
【どこの話？】
層：置き場所（サーバー室・クラウド）
場所：サーバーを置く場所の話。自社のサーバー室か、事業者のデータセンターか。
【くわしく】
サーバーなどのハードウェアは、どこかに置かなければなりません。会社や学校の建物の中の「サーバー室」に、自分たちで置いて管理するやり方を、オンプレミス（on-premises。自社設備）と呼びます。
データセンターは、サーバーを大量に置くための専用の建物です。止まりにくい電源、熱を逃がす空調、入退室の管理、通信回線が整っています。自社のサーバーを預けるデータセンターも、クラウド事業者が自分で運営するものもあります。
クラウドは、事業者のデータセンターにある機械を、インターネット経由で借りて使うものです。自社のサーバー室では、機械の購入・設置・保守を自分でやりますが、クラウドではそれを事業者が引き受けます。
【たとえるなら】
学校の教室の隅にロッカーを置く（サーバー室）か、駅前の巨大なコインロッカー施設を借りる（データセンター）かの違い。大きな施設は警備・電源・空調が整っています。
【こんな場面で】
学校のサーバー室を管理する先生、システム障害のニュースで「データセンターの設備トラブル」と報じられる、AWSなどのクラウドを使う、といった場面で出てきます。
【勘違い・つまずき】
クラウドに実体の機械がないわけではありません。クラウドの実体も、どこかのデータセンターにある本物のサーバーです。見えない、遠くにあるだけで、物理的な機械が動いています。
【最初の学び方】
AWSの「リージョン」（東京など、データセンターが集まる地域）の一覧を調べ、クラウドの機械が世界のどこにあるのか、地図で確認してみましょう。
【つながり】
・データセンター →（収容する）→ ハードウェア
・データセンター →（実体になる）→ クラウド
・データセンター →（置き場所になる）→ パブリッククラウド
・ネットワーク →（つなぐ）→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（スライド38／資料の該当箇所：編集者による補足（サーバー室とデータセンター））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サーバーを置く場所。自社の部屋か、事業者の専用施設かで意味が変わる。
【どこの話？】
層：置き場所（サーバー室・クラウド）
場所：サーバーを置く場所の話。自社のサーバー室か、事業者のデータセンターか。
【くわしく】
サーバーなどのハードウェアは、どこかに置かなければなりません。会社や学校の建物の中の「サーバー室」に、自分たちで置いて管理するやり方を、オンプレミス（on-premises。自社設備）と呼びます。
データセンターは、サーバーを大量に置くための専用の建物です。止まりにくい電源、熱を逃がす空調、入退室の管理、通信回線が整っています。自社のサーバーを預けるデータセンターも、クラウド事業者が自分で運営するものもあります。
クラウドは、事業者のデータセンターにある機械を、インターネット経由で借りて使うものです。自社のサーバー室では、機械の購入・設置・保守を自分でやりますが、クラウドではそれを事業者が引き受けます。
【たとえるなら】
学校の教室の隅にロッカーを置く（サーバー室）か、駅前の巨大なコインロッカー施設を借りる（データセンター）かの違い。大きな施設は警備・電源・空調が整っています。
【こんな場面で】
学校のサーバー室を管理する先生、システム障害のニュースで「データセンターの設備トラブル」と報じられる、AWSなどのクラウドを使う、といった場面で出てきます。
【勘違い・つまずき】
クラウドに実体の機械がないわけではありません。クラウドの実体も、どこかのデータセンターにある本物のサーバーです。見えない、遠くにあるだけで、物理的な機械が動いています。
【最初の学び方】
AWSの「リージョン」（東京など、データセンターが集まる地域）の一覧を調べ、クラウドの機械が世界のどこにあるのか、地図で確認してみましょう。
【つながり】
・データセンター →（収容する）→ ハードウェア
・データセンター →（実体になる）→ クラウド
・データセンター →（置き場所になる）→ パブリッククラウド
・ネットワーク →（つなぐ）→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（スライド39／資料の該当箇所：編集者による補足（サーバー室とデータセンター））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OSとアプリの間に入り、アプリが共通して使う機能を提供する土台のソフト。
【どこの話？】
層：ミドルウェア（アプリを支える土台のソフト）
場所：サーバーの中で動く、OSとアプリの間のソフト。利用者には見えない裏方。
【くわしく】
ミドルウェアは、OS（基本ソフト）と、利用者が使うアプリの「中間（ミドル）」で働くソフトです。データの保存・検索、Webページの配信、アプリの実行など、多くのアプリが共通で必要とする機能を引き受けます。
代表例は、データベース（データを整理して保存・検索するソフト）、Webサーバー（ブラウザーにページを返すソフト）、アプリケーションサーバー（業務アプリを動かす土台）です。このあとの章で詳しく出てきます。
なぜ必要でしょうか。アプリごとにデータ保存の仕組みを一から作ると大変ですし、品質もばらつきます。共通部分をミドルウェアに任せると、アプリの開発者は、そのアプリならではの部分に集中できます。
【たとえるなら】
モールの共用の倉庫や搬入口。各店（アプリ）が自前で用意せず、共通の設備を使います。建物の土台（OS）と、各店（アプリ）の間にあります。
【こんな場面で】
ネットショップで商品を検索して注文すると、裏でデータベースが商品や在庫を探し、Webサーバーがページを返しています。この裏方がミドルウェアです。
【勘違い・つまずき】
OSとの境目はあいまいです。「ミドルウェア」は役割での呼び名で、製品ごとに決まった分類ではありません。まずは「アプリを裏で支える共通ソフト」と覚えましょう。
【最初の学び方】
好きなWebサービスを1つ選び、「画面（アプリ）」「データを保存する所（データベース）」「ページを返す役（Webサーバー）」を図に描いて整理してみましょう。
【つながり】
・OS →（土台になる）→ ミドルウェア
・DB →（例の一つ）→ ミドルウェア
・Webサーバー →（例の一つ）→ ミドルウェア
・アプリサーバー →（例の一つ）→ ミドルウェア
・ミドルウェア →（アプリを支える）→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（スライド40／資料の該当箇所：編集者による補足（ミドルウェア））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OSとアプリの間に入り、アプリが共通して使う機能を提供する土台のソフト。
【どこの話？】
層：ミドルウェア（アプリを支える土台のソフト）
場所：サーバーの中で動く、OSとアプリの間のソフト。利用者には見えない裏方。
【くわしく】
ミドルウェアは、OS（基本ソフト）と、利用者が使うアプリの「中間（ミドル）」で働くソフトです。データの保存・検索、Webページの配信、アプリの実行など、多くのアプリが共通で必要とする機能を引き受けます。
代表例は、データベース（データを整理して保存・検索するソフト）、Webサーバー（ブラウザーにページを返すソフト）、アプリケーションサーバー（業務アプリを動かす土台）です。このあとの章で詳しく出てきます。
なぜ必要でしょうか。アプリごとにデータ保存の仕組みを一から作ると大変ですし、品質もばらつきます。共通部分をミドルウェアに任せると、アプリの開発者は、そのアプリならではの部分に集中できます。
【たとえるなら】
モールの共用の倉庫や搬入口。各店（アプリ）が自前で用意せず、共通の設備を使います。建物の土台（OS）と、各店（アプリ）の間にあります。
【こんな場面で】
ネットショップで商品を検索して注文すると、裏でデータベースが商品や在庫を探し、Webサーバーがページを返しています。この裏方がミドルウェアです。
【勘違い・つまずき】
OSとの境目はあいまいです。「ミドルウェア」は役割での呼び名で、製品ごとに決まった分類ではありません。まずは「アプリを裏で支える共通ソフト」と覚えましょう。
【最初の学び方】
好きなWebサービスを1つ選び、「画面（アプリ）」「データを保存する所（データベース）」「ページを返す役（Webサーバー）」を図に描いて整理してみましょう。
【つながり】
・OS →（土台になる）→ ミドルウェア
・DB →（例の一つ）→ ミドルウェア
・Webサーバー →（例の一つ）→ ミドルウェア
・アプリサーバー →（例の一つ）→ ミドルウェア
・ミドルウェア →（アプリを支える）→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（スライド41／資料の該当箇所：編集者による補足（ミドルウェア））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OSとアプリの間に入り、アプリが共通して使う機能を提供する土台のソフト。
【どこの話？】
層：ミドルウェア（アプリを支える土台のソフト）
場所：サーバーの中で動く、OSとアプリの間のソフト。利用者には見えない裏方。
【くわしく】
ミドルウェアは、OS（基本ソフト）と、利用者が使うアプリの「中間（ミドル）」で働くソフトです。データの保存・検索、Webページの配信、アプリの実行など、多くのアプリが共通で必要とする機能を引き受けます。
代表例は、データベース（データを整理して保存・検索するソフト）、Webサーバー（ブラウザーにページを返すソフト）、アプリケーションサーバー（業務アプリを動かす土台）です。このあとの章で詳しく出てきます。
なぜ必要でしょうか。アプリごとにデータ保存の仕組みを一から作ると大変ですし、品質もばらつきます。共通部分をミドルウェアに任せると、アプリの開発者は、そのアプリならではの部分に集中できます。
【たとえるなら】
モールの共用の倉庫や搬入口。各店（アプリ）が自前で用意せず、共通の設備を使います。建物の土台（OS）と、各店（アプリ）の間にあります。
【こんな場面で】
ネットショップで商品を検索して注文すると、裏でデータベースが商品や在庫を探し、Webサーバーがページを返しています。この裏方がミドルウェアです。
【勘違い・つまずき】
OSとの境目はあいまいです。「ミドルウェア」は役割での呼び名で、製品ごとに決まった分類ではありません。まずは「アプリを裏で支える共通ソフト」と覚えましょう。
【最初の学び方】
好きなWebサービスを1つ選び、「画面（アプリ）」「データを保存する所（データベース）」「ページを返す役（Webサーバー）」を図に描いて整理してみましょう。
【つながり】
・OS →（土台になる）→ ミドルウェア
・DB →（例の一つ）→ ミドルウェア
・Webサーバー →（例の一つ）→ ミドルウェア
・アプリサーバー →（例の一つ）→ ミドルウェア
・ミドルウェア →（アプリを支える）→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（スライド42／資料の該当箇所：編集者による補足（ミドルウェア））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中央のメモリが「作業机」、右のストレージが「倉庫」です。CPUは、作業机の上のデータで計算します。
【用語】
・メモリ：作業中の一時的な置き場（貼り付けの記載）。速いが小さく、電源を切ると消える。
・ストレージ：長期保存の置き場（貼り付けの記載）。大きく、電源を切っても残る。
【よくある誤解】
メモリとストレージは「どちらもデータを置く」ので混同されます。「速さと一時性」か「容量と長期保存」かで区別します。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（スライド43／資料の該当箇所：ストレージ「混同しやすい点」）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中央のメモリが「作業机」、右のストレージが「倉庫」です。CPUは、作業机の上のデータで計算します。
【用語】
・メモリ：作業中の一時的な置き場（貼り付けの記載）。速いが小さく、電源を切ると消える。
・ストレージ：長期保存の置き場（貼り付けの記載）。大きく、電源を切っても残る。
【よくある誤解】
メモリとストレージは「どちらもデータを置く」ので混同されます。「速さと一時性」か「容量と長期保存」かで区別します。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（スライド44／資料の該当箇所：ストレージ「混同しやすい点」）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左がPCの中（CPU・メモリ・SSD・HDDが直接つながる）、右が会社のサーバー室（サーバー・NAS・ストレージ装置）です。
【処理の詳細】
・PCの中：CPUはメモリのデータで計算し、メモリへはSSDやHDDから読み込む。
・NAS：PCからLAN越しに「共有フォルダー」として使う（貼り付けの記載：主に共有ファイル）。
・SAN：サーバーからは「ディスク」のように見える保存領域（貼り付けの記載：主にディスクに相当する保存領域）。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（スライド45／資料の該当箇所：ストレージ（NAS・SANの説明））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3つのカードが、データの扱い方の違いです。貼り付けの説明では、NASは主に共有ファイル、SANは主にディスクに相当する保存領域、Amazon S3はオブジェクトストレージとされています。
【処理の詳細】
・ファイル方式：フォルダー階層の中の「ファイル」を、名前で出し入れする。
・ブロック方式：ディスクを一定の大きさの区画（ブロック）として扱う。上にファイルシステムやデータベースを作る。
・オブジェクト方式：データに名前（キー）と付加情報を付けて「オブジェクト」として保存する[D04]。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（スライド46／資料の該当箇所：ストレージ（NAS・SAN・S3の説明））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3つのカードが、データの扱い方の違いです。貼り付けの説明では、NASは主に共有ファイル、SANは主にディスクに相当する保存領域、Amazon S3はオブジェクトストレージとされています。
【処理の詳細】
・ファイル方式：フォルダー階層の中の「ファイル」を、名前で出し入れする。
・ブロック方式：ディスクを一定の大きさの区画（ブロック）として扱う。上にファイルシステムやデータベースを作る。
・オブジェクト方式：データに名前（キー）と付加情報を付けて「オブジェクト」として保存する[D04]。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（スライド47／資料の該当箇所：ストレージ（NAS・SAN・S3の説明））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上がNAS（共有フォルダーとして使う）、下がSAN（ディスクとして使う）です。
【処理の詳細】
・NAS：PCやサーバーが「フォルダーを開く」操作で使う。
・SAN：サーバーが「自分のディスク」のように認識して使う。接続はFibre Channelなどの専用方式や、iSCSI・FCoEのようにEthernet上の方式がある。
・FCoEは、Fibre Channelの通信をEthernetに載せる技術で、対応した機器やネットワークが必要（貼り付けの記載）。
【よくある誤解】
NASとSANは「どちらも保存装置」ですが、使う側から見える形（共有フォルダーかディスクか）が違います。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（スライド48／資料の該当箇所：ストレージ（NAS・SANの説明））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上がNAS（共有フォルダーとして使う）、下がSAN（ディスクとして使う）です。
【処理の詳細】
・NAS：PCやサーバーが「フォルダーを開く」操作で使う。
・SAN：サーバーが「自分のディスク」のように認識して使う。接続はFibre Channelなどの専用方式や、iSCSI・FCoEのようにEthernet上の方式がある。
・FCoEは、Fibre Channelの通信をEthernetに載せる技術で、対応した機器やネットワークが必要（貼り付けの記載）。
【よくある誤解】
NASとSANは「どちらも保存装置」ですが、使う側から見える形（共有フォルダーかディスクか）が違います。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（スライド49／資料の該当箇所：ストレージ（NAS・SANの説明））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上から下へ読みます。CPUがメモリのデータで計算し、メモリはストレージから読み込みます。ストレージの種類がSSDとHDD、SSDを速く使う規格がNVMe、SSDの部品の形がM.2、複数のドライブを束ねるのがRAIDです。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（スライド50／資料の該当箇所：ストレージ）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段が3つの方式、中段がその代表的な装置・サービスです。NASはファイル、SANはブロック（ディスクとして見える領域）、S3はオブジェクトを提供します。FCoEはSANの通信をEthernetに載せる技術、RAIDは故障に備える仕組みです。
【情報の区分】
補足（一般的な説明）
【出典（資料名・URL）】
[G01] 編集者による補足（一般的な技術知識。たとえ話・図・補足用語）
[U01] ご提供の質問票用語解説（質問12〜26ほか。貼り付けられた本文。範囲は途中から途中まで）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（スライド51／資料の該当箇所：ストレージ）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計算中のデータを一時的に置いておく、速くて小さな作業スペース。
【どこの話？】
層：ハードウェア（機械・部品そのもの）
場所：パソコンやサーバーの中にある部品（ハードウェア）。多くはマザーボードに取り付けられている。
【くわしく】
メモリは、パソコンの中で「いま使っているデータ」をいったん置いておく部品です。CPU（計算をする頭脳）は、保存場所（ストレージ）から直接ではなく、まずメモリに読み込んだデータを使って計算します。
とても速く読み書きできる代わりに、容量は小さめで（PCなら8〜32GB程度）、電源を切ると中身が消えます。アプリをたくさん開くとPCが重くなる原因の一つは、このメモリがいっぱいになることです。
【たとえるなら】
勉強机の上のスペース。広いほど教科書やノートを一度にたくさん広げて作業できますが、片づける（電源を切る）と机の上は空になります。
【こんな場面で】
ブラウザのタブを20個開いたらPCが遅くなった、ゲームの必要スペックに「メモリ16GB」と書いてある、といった場面で出てきます。
【勘違い・つまずき】
「メモリ」と「ストレージ（保存容量）」は別物です。スマホの「容量128GB」はストレージのことで、メモリ（RAM）ではありません。
【最初の学び方】
Windowsのタスクマネージャー（Ctrl+Shift+Esc）を開き、メモリの使用量を見ましょう。アプリを開閉すると数字が変わります。
【つながり】
・メモリ →（データを渡す）→ CPU
・ストレージ →（読み込まれる）→ メモリ
・OS →（割り当てる）→ メモリ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（スライド52／資料の該当箇所：編集者による補足（メモリ））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計算中のデータを一時的に置いておく、速くて小さな作業スペース。
【どこの話？】
層：ハードウェア（機械・部品そのもの）
場所：パソコンやサーバーの中にある部品（ハードウェア）。多くはマザーボードに取り付けられている。
【くわしく】
メモリは、パソコンの中で「いま使っているデータ」をいったん置いておく部品です。CPU（計算をする頭脳）は、保存場所（ストレージ）から直接ではなく、まずメモリに読み込んだデータを使って計算します。
とても速く読み書きできる代わりに、容量は小さめで（PCなら8〜32GB程度）、電源を切ると中身が消えます。アプリをたくさん開くとPCが重くなる原因の一つは、このメモリがいっぱいになることです。
【たとえるなら】
勉強机の上のスペース。広いほど教科書やノートを一度にたくさん広げて作業できますが、片づける（電源を切る）と机の上は空になります。
【こんな場面で】
ブラウザのタブを20個開いたらPCが遅くなった、ゲームの必要スペックに「メモリ16GB」と書いてある、といった場面で出てきます。
【勘違い・つまずき】
「メモリ」と「ストレージ（保存容量）」は別物です。スマホの「容量128GB」はストレージのことで、メモリ（RAM）ではありません。
【最初の学び方】
Windowsのタスクマネージャー（Ctrl+Shift+Esc）を開き、メモリの使用量を見ましょう。アプリを開閉すると数字が変わります。
【つながり】
・メモリ →（データを渡す）→ CPU
・ストレージ →（読み込まれる）→ メモリ
・OS →（割り当てる）→ メモリ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（スライド53／資料の該当箇所：編集者による補足（メモリ））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計算中のデータを一時的に置いておく、速くて小さな作業スペース。
【どこの話？】
層：ハードウェア（機械・部品そのもの）
場所：パソコンやサーバーの中にある部品（ハードウェア）。多くはマザーボードに取り付けられている。
【くわしく】
メモリは、パソコンの中で「いま使っているデータ」をいったん置いておく部品です。CPU（計算をする頭脳）は、保存場所（ストレージ）から直接ではなく、まずメモリに読み込んだデータを使って計算します。
とても速く読み書きできる代わりに、容量は小さめで（PCなら8〜32GB程度）、電源を切ると中身が消えます。アプリをたくさん開くとPCが重くなる原因の一つは、このメモリがいっぱいになることです。
【たとえるなら】
勉強机の上のスペース。広いほど教科書やノートを一度にたくさん広げて作業できますが、片づける（電源を切る）と机の上は空になります。
【こんな場面で】
ブラウザのタブを20個開いたらPCが遅くなった、ゲームの必要スペックに「メモリ16GB」と書いてある、といった場面で出てきます。
【勘違い・つまずき】
「メモリ」と「ストレージ（保存容量）」は別物です。スマホの「容量128GB」はストレージのことで、メモリ（RAM）ではありません。
【最初の学び方】
Windowsのタスクマネージャー（Ctrl+Shift+Esc）を開き、メモリの使用量を見ましょう。アプリを開閉すると数字が変わります。
【つながり】
・メモリ →（データを渡す）→ CPU
・ストレージ →（読み込まれる）→ メモリ
・OS →（割り当てる）→ メモリ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（スライド54／資料の該当箇所：編集者による補足（メモリ））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データを長期に保存する置き場。電源を切っても中身が残る。
【どこの話？】
層：ハードウェア（機械・部品そのもの）
場所：パソコン・スマホ・サーバーの中（または外付け）にある保存用の部品。
【くわしく】
ストレージは、写真・文書・アプリ・OSなどのデータを長く保存しておく装置です。電源を切っても中身が消えないのが特徴で、作業中のデータを置くメモリとは、ここが違います。
代表的な種類は、SSD（フラッシュメモリという半導体を使う）とHDD（回転する円盤に磁気で記録する）です。SSDは速くて静か、HDDは大きな容量を用意しやすい、という違いがあります。
使うときは、ストレージのデータをいったんメモリに読み込み、CPUが計算します。ストレージの中身は、OSのファイルシステムが、ファイルとフォルダーの形に整理して管理します。
【たとえるなら】
倉庫。作業机（メモリ）よりたくさんしまえて、電源を切っても残りますが、荷物を取り出すには少し時間がかかります。
【こんな場面で】
スマホの「ストレージの空き容量が少ない」という警告、PCのCドライブの空き容量、USBメモリやSDカードに写真をコピーする場面で出てきます。
【勘違い・つまずき】
ストレージは「壊れない金庫」ではありません。SSDもHDDも寿命や故障があり、誤って消すこともあります。大事なデータは、別の場所にバックアップを取りましょう。
【最初の学び方】
お使いのPCやスマホの設定で、ストレージの総容量と空き容量を確認し、何がいちばん容量を使っているか見てみましょう。
【つながり】
・ストレージ →（読み込まれる）→ メモリ
・SSD →（種類の一つ）→ ストレージ
・HDD →（種類の一つ）→ ストレージ
・ファイルシステム →（整理する）→ ストレージ
・クラウドストレージ →（種類の一つ）→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（スライド55／資料の該当箇所：編集者による補足（ストレージ））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データを長期に保存する置き場。電源を切っても中身が残る。
【どこの話？】
層：ハードウェア（機械・部品そのもの）
場所：パソコン・スマホ・サーバーの中（または外付け）にある保存用の部品。
【くわしく】
ストレージは、写真・文書・アプリ・OSなどのデータを長く保存しておく装置です。電源を切っても中身が消えないのが特徴で、作業中のデータを置くメモリとは、ここが違います。
代表的な種類は、SSD（フラッシュメモリという半導体を使う）とHDD（回転する円盤に磁気で記録する）です。SSDは速くて静か、HDDは大きな容量を用意しやすい、という違いがあります。
使うときは、ストレージのデータをいったんメモリに読み込み、CPUが計算します。ストレージの中身は、OSのファイルシステムが、ファイルとフォルダーの形に整理して管理します。
【たとえるなら】
倉庫。作業机（メモリ）よりたくさんしまえて、電源を切っても残りますが、荷物を取り出すには少し時間がかかります。
【こんな場面で】
スマホの「ストレージの空き容量が少ない」という警告、PCのCドライブの空き容量、USBメモリやSDカードに写真をコピーする場面で出てきます。
【勘違い・つまずき】
ストレージは「壊れない金庫」ではありません。SSDもHDDも寿命や故障があり、誤って消すこともあります。大事なデータは、別の場所にバックアップを取りましょう。
【最初の学び方】
お使いのPCやスマホの設定で、ストレージの総容量と空き容量を確認し、何がいちばん容量を使っているか見てみましょう。
【つながり】
・ストレージ →（読み込まれる）→ メモリ
・SSD →（種類の一つ）→ ストレージ
・HDD →（種類の一つ）→ ストレージ
・ファイルシステム →（整理する）→ ストレージ
・クラウドストレージ →（種類の一つ）→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（スライド56／資料の該当箇所：編集者による補足（ストレージ））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データを長期に保存する置き場。電源を切っても中身が残る。
【どこの話？】
層：ハードウェア（機械・部品そのもの）
場所：パソコン・スマホ・サーバーの中（または外付け）にある保存用の部品。
【くわしく】
ストレージは、写真・文書・アプリ・OSなどのデータを長く保存しておく装置です。電源を切っても中身が消えないのが特徴で、作業中のデータを置くメモリとは、ここが違います。
代表的な種類は、SSD（フラッシュメモリという半導体を使う）とHDD（回転する円盤に磁気で記録する）です。SSDは速くて静か、HDDは大きな容量を用意しやすい、という違いがあります。
使うときは、ストレージのデータをいったんメモリに読み込み、CPUが計算します。ストレージの中身は、OSのファイルシステムが、ファイルとフォルダーの形に整理して管理します。
【たとえるなら】
倉庫。作業机（メモリ）よりたくさんしまえて、電源を切っても残りますが、荷物を取り出すには少し時間がかかります。
【こんな場面で】
スマホの「ストレージの空き容量が少ない」という警告、PCのCドライブの空き容量、USBメモリやSDカードに写真をコピーする場面で出てきます。
【勘違い・つまずき】
ストレージは「壊れない金庫」ではありません。SSDもHDDも寿命や故障があり、誤って消すこともあります。大事なデータは、別の場所にバックアップを取りましょう。
【最初の学び方】
お使いのPCやスマホの設定で、ストレージの総容量と空き容量を確認し、何がいちばん容量を使っているか見てみましょう。
【つながり】
・ストレージ →（読み込まれる）→ メモリ
・SSD →（種類の一つ）→ ストレージ
・HDD →（種類の一つ）→ ストレージ
・ファイルシステム →（整理する）→ ストレージ
・クラウドストレージ →（種類の一つ）→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（スライド57／資料の該当箇所：編集者による補足（ストレージ））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フラッシュメモリでデータを保存する、動く部品のない高速なストレージ。
【どこの話？】
層：ハードウェア（機械・部品そのもの）
場所：パソコンやサーバーの中に入っている保存用の部品。ストレージの一種。
【くわしく】
SSD（Solid State Drive）は、フラッシュメモリという半導体にデータを記録するストレージです。HDDのような回転する円盤や動く部品がなく、読み書きが速く、動作音もしません。
フラッシュメモリは、電気を切ってもデータが残る半導体です。ただし、同じ場所に書き換えられる回数には限りがあり、使うほど少しずつ劣化します。そのためSSDの中には、書き込みを全体に分散させる制御用のチップが入っています。
SSDには、HDDと同じ接続方式（SATA）で使うものと、さらに高速なNVMeで使うものがあります。形も、2.5インチの箱型や、細長い基板型（M.2）などがあります。
【たとえるなら】
番号を言えばどの棚にもすぐ手が届く倉庫。棚を回して探す必要がなく、動く部品もないので、取り出しがとても速いのです。
【こんな場面で】
PCを買い換えたら起動が一瞬で速くなった、ゲームのロード時間が短くなった、仕様に「SSD 512GB」と書いてある、といった場面で出てきます。
【勘違い・つまずき】
SSDは「壊れない」ものではありません。書き換え回数に限りがあり、突然故障することもあります。また「SSD＝NVMe」でもなく、SATA接続のSSDもあります。
【最初の学び方】
PCのタスクマネージャーの「パフォーマンス」で、ディスクの種類（SSDかHDDか）を確認しましょう。型番を検索すると、容量や速度の仕様も分かります。
【つながり】
・SSD →（種類の一つ）→ ストレージ
・SSD ⇄（ちがい）⇄ HDD
・NVMe →（高速に使う）→ SSD
・M.2 →（形を決める）→ SSD
・RAID →（束ねる）→ SSD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（スライド58／資料の該当箇所：編集者による補足（SSD））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フラッシュメモリでデータを保存する、動く部品のない高速なストレージ。
【どこの話？】
層：ハードウェア（機械・部品そのもの）
場所：パソコンやサーバーの中に入っている保存用の部品。ストレージの一種。
【くわしく】
SSD（Solid State Drive）は、フラッシュメモリという半導体にデータを記録するストレージです。HDDのような回転する円盤や動く部品がなく、読み書きが速く、動作音もしません。
フラッシュメモリは、電気を切ってもデータが残る半導体です。ただし、同じ場所に書き換えられる回数には限りがあり、使うほど少しずつ劣化します。そのためSSDの中には、書き込みを全体に分散させる制御用のチップが入っています。
SSDには、HDDと同じ接続方式（SATA）で使うものと、さらに高速なNVMeで使うものがあります。形も、2.5インチの箱型や、細長い基板型（M.2）などがあります。
【たとえるなら】
番号を言えばどの棚にもすぐ手が届く倉庫。棚を回して探す必要がなく、動く部品もないので、取り出しがとても速いのです。
【こんな場面で】
PCを買い換えたら起動が一瞬で速くなった、ゲームのロード時間が短くなった、仕様に「SSD 512GB」と書いてある、といった場面で出てきます。
【勘違い・つまずき】
SSDは「壊れない」ものではありません。書き換え回数に限りがあり、突然故障することもあります。また「SSD＝NVMe」でもなく、SATA接続のSSDもあります。
【最初の学び方】
PCのタスクマネージャーの「パフォーマンス」で、ディスクの種類（SSDかHDDか）を確認しましょう。型番を検索すると、容量や速度の仕様も分かります。
【つながり】
・SSD →（種類の一つ）→ ストレージ
・SSD ⇄（ちがい）⇄ HDD
・NVMe →（高速に使う）→ SSD
・M.2 →（形を決める）→ SSD
・RAID →（束ねる）→ SSD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（スライド59／資料の該当箇所：編集者による補足（SSD））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フラッシュメモリでデータを保存する、動く部品のない高速なストレージ。
【どこの話？】
層：ハードウェア（機械・部品そのもの）
場所：パソコンやサーバーの中に入っている保存用の部品。ストレージの一種。
【くわしく】
SSD（Solid State Drive）は、フラッシュメモリという半導体にデータを記録するストレージです。HDDのような回転する円盤や動く部品がなく、読み書きが速く、動作音もしません。
フラッシュメモリは、電気を切ってもデータが残る半導体です。ただし、同じ場所に書き換えられる回数には限りがあり、使うほど少しずつ劣化します。そのためSSDの中には、書き込みを全体に分散させる制御用のチップが入っています。
SSDには、HDDと同じ接続方式（SATA）で使うものと、さらに高速なNVMeで使うものがあります。形も、2.5インチの箱型や、細長い基板型（M.2）などがあります。
【たとえるなら】
番号を言えばどの棚にもすぐ手が届く倉庫。棚を回して探す必要がなく、動く部品もないので、取り出しがとても速いのです。
【こんな場面で】
PCを買い換えたら起動が一瞬で速くなった、ゲームのロード時間が短くなった、仕様に「SSD 512GB」と書いてある、といった場面で出てきます。
【勘違い・つまずき】
SSDは「壊れない」ものではありません。書き換え回数に限りがあり、突然故障することもあります。また「SSD＝NVMe」でもなく、SATA接続のSSDもあります。
【最初の学び方】
PCのタスクマネージャーの「パフォーマンス」で、ディスクの種類（SSDかHDDか）を確認しましょう。型番を検索すると、容量や速度の仕様も分かります。
【つながり】
・SSD →（種類の一つ）→ ストレージ
・SSD ⇄（ちがい）⇄ HDD
・NVMe →（高速に使う）→ SSD
・M.2 →（形を決める）→ SSD
・RAID →（束ねる）→ SSD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（スライド60／資料の該当箇所：編集者による補足（SSD））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回転する円盤に磁気でデータを記録する、大容量のストレージ。
【どこの話？】
層：ハードウェア（機械・部品そのもの）
場所：パソコンやサーバー、録画機などの中や外付けにある、箱型の保存装置。
【くわしく】
HDD（Hard Disk Drive）は、プラッターという円盤に、磁気でデータを記録するストレージです。円盤を高速で回転させ、ヘッドという針のような部品を動かして、データを読み書きします。
動く部品があるため、SSDより読み書きは遅く、音や振動が出ます。動作中の衝撃にも弱く、落とすと壊れやすいです。一方、大きな容量を用意しやすいので、動画の保存やバックアップに使われます。
データが円盤の離れた場所にばらばらにあると、ヘッドの移動と円盤の回転待ちが増えて、さらに遅くなります。サーバーやNASでは、複数のHDDをRAIDで組み合わせて使うことがあります。
【たとえるなら】
回転する棚から本を探す図書館。棚（円盤）が回り、司書（ヘッド）が本の場所まで取りに行きます。場所が遠いほど、時間がかかります。
【こんな場面で】
古いノートPCが遅い原因がHDDだった、外付けHDDにPCのバックアップを取る、テレビの録画用ハードディスク、といった場面で出てきます。
【勘違い・つまずき】
「ハードディスク」は本来HDDのことですが、日常ではSSDも含めて呼ぶ人もいます。また、HDDは動作中に動かしたり落としたりすると、故障の原因になります。
【最初の学び方】
PCの「ドライブのプロパティ」で容量と使用量を見て、自分のPCがHDDかSSDかを調べましょう。HDDなら、起動時に小さな回転音がすることがあります。
【つながり】
・HDD →（種類の一つ）→ ストレージ
・HDD ⇄（ちがい）⇄ SSD
・RAID →（束ねる）→ HDD
・NAS →（使う）→ HDD
・バックアップ →（保存先にする）→ HDD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（スライド61／資料の該当箇所：編集者による補足（HDD））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回転する円盤に磁気でデータを記録する、大容量のストレージ。
【どこの話？】
層：ハードウェア（機械・部品そのもの）
場所：パソコンやサーバー、録画機などの中や外付けにある、箱型の保存装置。
【くわしく】
HDD（Hard Disk Drive）は、プラッターという円盤に、磁気でデータを記録するストレージです。円盤を高速で回転させ、ヘッドという針のような部品を動かして、データを読み書きします。
動く部品があるため、SSDより読み書きは遅く、音や振動が出ます。動作中の衝撃にも弱く、落とすと壊れやすいです。一方、大きな容量を用意しやすいので、動画の保存やバックアップに使われます。
データが円盤の離れた場所にばらばらにあると、ヘッドの移動と円盤の回転待ちが増えて、さらに遅くなります。サーバーやNASでは、複数のHDDをRAIDで組み合わせて使うことがあります。
【たとえるなら】
回転する棚から本を探す図書館。棚（円盤）が回り、司書（ヘッド）が本の場所まで取りに行きます。場所が遠いほど、時間がかかります。
【こんな場面で】
古いノートPCが遅い原因がHDDだった、外付けHDDにPCのバックアップを取る、テレビの録画用ハードディスク、といった場面で出てきます。
【勘違い・つまずき】
「ハードディスク」は本来HDDのことですが、日常ではSSDも含めて呼ぶ人もいます。また、HDDは動作中に動かしたり落としたりすると、故障の原因になります。
【最初の学び方】
PCの「ドライブのプロパティ」で容量と使用量を見て、自分のPCがHDDかSSDかを調べましょう。HDDなら、起動時に小さな回転音がすることがあります。
【つながり】
・HDD →（種類の一つ）→ ストレージ
・HDD ⇄（ちがい）⇄ SSD
・RAID →（束ねる）→ HDD
・NAS →（使う）→ HDD
・バックアップ →（保存先にする）→ HDD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（スライド62／資料の該当箇所：編集者による補足（HDD））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回転する円盤に磁気でデータを記録する、大容量のストレージ。
【どこの話？】
層：ハードウェア（機械・部品そのもの）
場所：パソコンやサーバー、録画機などの中や外付けにある、箱型の保存装置。
【くわしく】
HDD（Hard Disk Drive）は、プラッターという円盤に、磁気でデータを記録するストレージです。円盤を高速で回転させ、ヘッドという針のような部品を動かして、データを読み書きします。
動く部品があるため、SSDより読み書きは遅く、音や振動が出ます。動作中の衝撃にも弱く、落とすと壊れやすいです。一方、大きな容量を用意しやすいので、動画の保存やバックアップに使われます。
データが円盤の離れた場所にばらばらにあると、ヘッドの移動と円盤の回転待ちが増えて、さらに遅くなります。サーバーやNASでは、複数のHDDをRAIDで組み合わせて使うことがあります。
【たとえるなら】
回転する棚から本を探す図書館。棚（円盤）が回り、司書（ヘッド）が本の場所まで取りに行きます。場所が遠いほど、時間がかかります。
【こんな場面で】
古いノートPCが遅い原因がHDDだった、外付けHDDにPCのバックアップを取る、テレビの録画用ハードディスク、といった場面で出てきます。
【勘違い・つまずき】
「ハードディスク」は本来HDDのことですが、日常ではSSDも含めて呼ぶ人もいます。また、HDDは動作中に動かしたり落としたりすると、故障の原因になります。
【最初の学び方】
PCの「ドライブのプロパティ」で容量と使用量を見て、自分のPCがHDDかSSDかを調べましょう。HDDなら、起動時に小さな回転音がすることがあります。
【つながり】
・HDD →（種類の一つ）→ ストレージ
・HDD ⇄（ちがい）⇄ SSD
・RAID →（束ねる）→ HDD
・NAS →（使う）→ HDD
・バックアップ →（保存先にする）→ HDD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（スライド63／資料の該当箇所：編集者による補足（HDD））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SSDを高速に使うために作られた、PCIe接続のための通信規格。
【どこの話？】
層：ハードウェア（機械・部品そのもの）
場所：パソコンやサーバーの中で、SSDとCPUをつなぐ通信の約束事（規格）。
【くわしく】
NVMe（NVM Express）は、SSDとコンピューターの間でデータをやりとりするための規格（約束事）です。フラッシュメモリを使うSSD向けに作られました。
従来のSATAは、HDDの時代に作られた方式で、命令を1列に並べて処理します。NVMeは、PCIe（パソコン内部の高速な通信路）につなぎ、たくさんの命令の列を同時に処理できます。
そのため、同じSSDでも、SATAよりNVMeのほうが速くなる場合が多いです。ただし、実際の速さはSSD本体の性能やパソコンの対応にも左右されます。形はM.2が多いですが、M.2のSSDにはSATA版もあります。
【たとえるなら】
一般道路（SATA）と高速道路（NVMe）。NVMeは車線が多く、同時にたくさんの車（データ）が走れます。ただし、車（SSD本体）が遅いと、道だけ速くても意味がありません。
【こんな場面で】
PCの仕様に「SSD 512GB（NVMe）」と書かれている、ゲームの読み込みを速くしたくてNVMe SSDに交換する、サーバーの高速ストレージに使う、といった場面で出てきます。
【勘違い・つまずき】
「M.2」と「NVMe」は別の話です。M.2は形（端子）の規格、NVMeは通信の規格で、M.2のSSDにもSATA接続のものがあります。買う前にPCの対応を確認しましょう。
【最初の学び方】
お使いのSSDの型番を検索して、NVMeかSATAかを調べ、メーカーが公開している読み込み速度の数字を比べてみましょう。
【つながり】
・NVMe →（高速に使う）→ SSD
・NVMe ⇄（ちがい）⇄ M.2
・NVMe →（つなぐ）→ CPU
・NVMe →（高速化する）→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（スライド64／資料の該当箇所：編集者による補足（NVMe））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SSDを高速に使うために作られた、PCIe接続のための通信規格。
【どこの話？】
層：ハードウェア（機械・部品そのもの）
場所：パソコンやサーバーの中で、SSDとCPUをつなぐ通信の約束事（規格）。
【くわしく】
NVMe（NVM Express）は、SSDとコンピューターの間でデータをやりとりするための規格（約束事）です。フラッシュメモリを使うSSD向けに作られました。
従来のSATAは、HDDの時代に作られた方式で、命令を1列に並べて処理します。NVMeは、PCIe（パソコン内部の高速な通信路）につなぎ、たくさんの命令の列を同時に処理できます。
そのため、同じSSDでも、SATAよりNVMeのほうが速くなる場合が多いです。ただし、実際の速さはSSD本体の性能やパソコンの対応にも左右されます。形はM.2が多いですが、M.2のSSDにはSATA版もあります。
【たとえるなら】
一般道路（SATA）と高速道路（NVMe）。NVMeは車線が多く、同時にたくさんの車（データ）が走れます。ただし、車（SSD本体）が遅いと、道だけ速くても意味がありません。
【こんな場面で】
PCの仕様に「SSD 512GB（NVMe）」と書かれている、ゲームの読み込みを速くしたくてNVMe SSDに交換する、サーバーの高速ストレージに使う、といった場面で出てきます。
【勘違い・つまずき】
「M.2」と「NVMe」は別の話です。M.2は形（端子）の規格、NVMeは通信の規格で、M.2のSSDにもSATA接続のものがあります。買う前にPCの対応を確認しましょう。
【最初の学び方】
お使いのSSDの型番を検索して、NVMeかSATAかを調べ、メーカーが公開している読み込み速度の数字を比べてみましょう。
【つながり】
・NVMe →（高速に使う）→ SSD
・NVMe ⇄（ちがい）⇄ M.2
・NVMe →（つなぐ）→ CPU
・NVMe →（高速化する）→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（スライド65／資料の該当箇所：編集者による補足（NVMe））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SSDを高速に使うために作られた、PCIe接続のための通信規格。
【どこの話？】
層：ハードウェア（機械・部品そのもの）
場所：パソコンやサーバーの中で、SSDとCPUをつなぐ通信の約束事（規格）。
【くわしく】
NVMe（NVM Express）は、SSDとコンピューターの間でデータをやりとりするための規格（約束事）です。フラッシュメモリを使うSSD向けに作られました。
従来のSATAは、HDDの時代に作られた方式で、命令を1列に並べて処理します。NVMeは、PCIe（パソコン内部の高速な通信路）につなぎ、たくさんの命令の列を同時に処理できます。
そのため、同じSSDでも、SATAよりNVMeのほうが速くなる場合が多いです。ただし、実際の速さはSSD本体の性能やパソコンの対応にも左右されます。形はM.2が多いですが、M.2のSSDにはSATA版もあります。
【たとえるなら】
一般道路（SATA）と高速道路（NVMe）。NVMeは車線が多く、同時にたくさんの車（データ）が走れます。ただし、車（SSD本体）が遅いと、道だけ速くても意味がありません。
【こんな場面で】
PCの仕様に「SSD 512GB（NVMe）」と書かれている、ゲームの読み込みを速くしたくてNVMe SSDに交換する、サーバーの高速ストレージに使う、といった場面で出てきます。
【勘違い・つまずき】
「M.2」と「NVMe」は別の話です。M.2は形（端子）の規格、NVMeは通信の規格で、M.2のSSDにもSATA接続のものがあります。買う前にPCの対応を確認しましょう。
【最初の学び方】
お使いのSSDの型番を検索して、NVMeかSATAかを調べ、メーカーが公開している読み込み速度の数字を比べてみましょう。
【つながり】
・NVMe →（高速に使う）→ SSD
・NVMe ⇄（ちがい）⇄ M.2
・NVMe →（つなぐ）→ CPU
・NVMe →（高速化する）→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（スライド66／資料の該当箇所：編集者による補足（NVMe））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小さな基板型の部品（主にSSD）を取り付けるための、形と端子の規格。
【どこの話？】
層：ハードウェア（機械・部品そのもの）
場所：マザーボードやノートPCの基板にある、小型基板用の差し込み口の規格。
【くわしく】
M.2は、ガムほどの細長い小さな基板を、パソコンのマザーボード（部品をつなぐ大きな基板）に差し込むための、形と端子の規格です。SSDによく使われますが、Wi-Fiカードなどにも使われます。
大事なのは、M.2は「形」の規格で、中身の通信方式は別だという点です。M.2のSSDには、PCIe接続のNVMe版と、SATA接続のSATA版があります。端子の切り欠き（キー）の位置で、差し込める種類が決まります。
サイズは「2280」のように書き、幅22mm・長さ80mmを表します。長さ（2242・2260・2280など）や、スロットが対応する通信方式は、機種ごとに違います。
【たとえるなら】
コンセントの形。形が合えば差し込めますが、流れてくるもの（NVMeかSATAか）は別です。同じ形でも、中の配線が違えば、使える機器が変わります。
【こんな場面で】
ノートPCの底を開けてSSDを増設しようとしたら、説明書に「M.2 2280」「NVMe対応」などの条件を確認するよう書いてあった、といった場面で出てきます。
【勘違い・つまずき】
M.2の形が合っていても、使えるとは限りません。スロットがNVMe専用だとSATA版は動かない場合があります（逆もあります）。「M.2＝NVMe」と思い込まないようにしましょう。
【最初の学び方】
PCやマザーボードの説明書（またはメーカーの仕様ページ）で、M.2スロットの「長さ」と「NVMe／SATAの対応」を確認する習慣をつけましょう。
【つながり】
・M.2 →（形を決める）→ SSD
・M.2 ⇄（ちがい）⇄ NVMe
・PC自作 →（取り付ける）→ M.2
・M.2 →（つなぐ形）→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（スライド67／資料の該当箇所：編集者による補足（M.2））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小さな基板型の部品（主にSSD）を取り付けるための、形と端子の規格。
【どこの話？】
層：ハードウェア（機械・部品そのもの）
場所：マザーボードやノートPCの基板にある、小型基板用の差し込み口の規格。
【くわしく】
M.2は、ガムほどの細長い小さな基板を、パソコンのマザーボード（部品をつなぐ大きな基板）に差し込むための、形と端子の規格です。SSDによく使われますが、Wi-Fiカードなどにも使われます。
大事なのは、M.2は「形」の規格で、中身の通信方式は別だという点です。M.2のSSDには、PCIe接続のNVMe版と、SATA接続のSATA版があります。端子の切り欠き（キー）の位置で、差し込める種類が決まります。
サイズは「2280」のように書き、幅22mm・長さ80mmを表します。長さ（2242・2260・2280など）や、スロットが対応する通信方式は、機種ごとに違います。
【たとえるなら】
コンセントの形。形が合えば差し込めますが、流れてくるもの（NVMeかSATAか）は別です。同じ形でも、中の配線が違えば、使える機器が変わります。
【こんな場面で】
ノートPCの底を開けてSSDを増設しようとしたら、説明書に「M.2 2280」「NVMe対応」などの条件を確認するよう書いてあった、といった場面で出てきます。
【勘違い・つまずき】
M.2の形が合っていても、使えるとは限りません。スロットがNVMe専用だとSATA版は動かない場合があります（逆もあります）。「M.2＝NVMe」と思い込まないようにしましょう。
【最初の学び方】
PCやマザーボードの説明書（またはメーカーの仕様ページ）で、M.2スロットの「長さ」と「NVMe／SATAの対応」を確認する習慣をつけましょう。
【つながり】
・M.2 →（形を決める）→ SSD
・M.2 ⇄（ちがい）⇄ NVMe
・PC自作 →（取り付ける）→ M.2
・M.2 →（つなぐ形）→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（スライド68／資料の該当箇所：編集者による補足（M.2））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小さな基板型の部品（主にSSD）を取り付けるための、形と端子の規格。
【どこの話？】
層：ハードウェア（機械・部品そのもの）
場所：マザーボードやノートPCの基板にある、小型基板用の差し込み口の規格。
【くわしく】
M.2は、ガムほどの細長い小さな基板を、パソコンのマザーボード（部品をつなぐ大きな基板）に差し込むための、形と端子の規格です。SSDによく使われますが、Wi-Fiカードなどにも使われます。
大事なのは、M.2は「形」の規格で、中身の通信方式は別だという点です。M.2のSSDには、PCIe接続のNVMe版と、SATA接続のSATA版があります。端子の切り欠き（キー）の位置で、差し込める種類が決まります。
サイズは「2280」のように書き、幅22mm・長さ80mmを表します。長さ（2242・2260・2280など）や、スロットが対応する通信方式は、機種ごとに違います。
【たとえるなら】
コンセントの形。形が合えば差し込めますが、流れてくるもの（NVMeかSATAか）は別です。同じ形でも、中の配線が違えば、使える機器が変わります。
【こんな場面で】
ノートPCの底を開けてSSDを増設しようとしたら、説明書に「M.2 2280」「NVMe対応」などの条件を確認するよう書いてあった、といった場面で出てきます。
【勘違い・つまずき】
M.2の形が合っていても、使えるとは限りません。スロットがNVMe専用だとSATA版は動かない場合があります（逆もあります）。「M.2＝NVMe」と思い込まないようにしましょう。
【最初の学び方】
PCやマザーボードの説明書（またはメーカーの仕様ページ）で、M.2スロットの「長さ」と「NVMe／SATAの対応」を確認する習慣をつけましょう。
【つながり】
・M.2 →（形を決める）→ SSD
・M.2 ⇄（ちがい）⇄ NVMe
・PC自作 →（取り付ける）→ M.2
・M.2 →（つなぐ形）→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（スライド69／資料の該当箇所：編集者による補足（M.2））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ストレージの中を、ファイルとフォルダーの形に整理して出し入れする決まり。
【どこの話？】
層：OS（機械を動かす基本ソフト）
場所：OSの機能。ストレージの上に、ファイルとフォルダーの構造を作る。
【くわしく】
ストレージ（SSDやHDD）の中身は、そのままでは、0と1が並んだ大きな領域にすぎません。ここに「ファイル名」「フォルダー」「どこに何を書いたか」を整理して記録する決まりが、ファイルシステムです。
代表例は、Windowsで使うNTFS、USBメモリなどで広く使われるFAT系（FAT32・exFAT）、Linuxのext4、Apple製品のAPFSです。OSごとに得意なものが違い、他のOSでは読めないこともあります。
ストレージを使い始める前の「フォーマット（初期化）」は、ファイルシステムを作る作業です。フォーマットすると、基本的に中のデータは使えなくなります。OSは、ファイルシステムを通してデータを出し入れします。
【たとえるなら】
図書館の本棚のルール。「分類番号」と「棚の位置」の台帳があるから、本（ファイル）を探せます。台帳がないと、本は山積みで見つかりません。
【こんな場面で】
USBメモリをフォーマットする、4GB以上の大きな動画がUSBにコピーできない、Macで使ったUSBメモリがWindowsで開けない、といった場面で出てきます。
【勘違い・つまずき】
ファイルシステムとストレージ（SSDなどの部品）は別物です。同じSSDでも、ファイルシステムが違えば、使えるOSや1ファイルの大きさの上限が変わります。
【最初の学び方】
Windowsのエクスプローラーで、ドライブを右クリックして「プロパティ」を開くと、ファイルシステムの種類（NTFSなど）が見られます。
【つながり】
・OS →（提供する）→ ファイルシステム
・ファイルシステム →（整理する）→ ストレージ
・ブロックストレージ →（土台になる）→ ファイルシステム
・ファイルシステム ⇄（ちがい）⇄ オブジェクトストレージ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（スライド70／資料の該当箇所：編集者による補足（ファイルシステム））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ストレージの中を、ファイルとフォルダーの形に整理して出し入れする決まり。
【どこの話？】
層：OS（機械を動かす基本ソフト）
場所：OSの機能。ストレージの上に、ファイルとフォルダーの構造を作る。
【くわしく】
ストレージ（SSDやHDD）の中身は、そのままでは、0と1が並んだ大きな領域にすぎません。ここに「ファイル名」「フォルダー」「どこに何を書いたか」を整理して記録する決まりが、ファイルシステムです。
代表例は、Windowsで使うNTFS、USBメモリなどで広く使われるFAT系（FAT32・exFAT）、Linuxのext4、Apple製品のAPFSです。OSごとに得意なものが違い、他のOSでは読めないこともあります。
ストレージを使い始める前の「フォーマット（初期化）」は、ファイルシステムを作る作業です。フォーマットすると、基本的に中のデータは使えなくなります。OSは、ファイルシステムを通してデータを出し入れします。
【たとえるなら】
図書館の本棚のルール。「分類番号」と「棚の位置」の台帳があるから、本（ファイル）を探せます。台帳がないと、本は山積みで見つかりません。
【こんな場面で】
USBメモリをフォーマットする、4GB以上の大きな動画がUSBにコピーできない、Macで使ったUSBメモリがWindowsで開けない、といった場面で出てきます。
【勘違い・つまずき】
ファイルシステムとストレージ（SSDなどの部品）は別物です。同じSSDでも、ファイルシステムが違えば、使えるOSや1ファイルの大きさの上限が変わります。
【最初の学び方】
Windowsのエクスプローラーで、ドライブを右クリックして「プロパティ」を開くと、ファイルシステムの種類（NTFSなど）が見られます。
【つながり】
・OS →（提供する）→ ファイルシステム
・ファイルシステム →（整理する）→ ストレージ
・ブロックストレージ →（土台になる）→ ファイルシステム
・ファイルシステム ⇄（ちがい）⇄ オブジェクトストレージ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（スライド71／資料の該当箇所：編集者による補足（ファイルシステム））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ストレージの中を、ファイルとフォルダーの形に整理して出し入れする決まり。
【どこの話？】
層：OS（機械を動かす基本ソフト）
場所：OSの機能。ストレージの上に、ファイルとフォルダーの構造を作る。
【くわしく】
ストレージ（SSDやHDD）の中身は、そのままでは、0と1が並んだ大きな領域にすぎません。ここに「ファイル名」「フォルダー」「どこに何を書いたか」を整理して記録する決まりが、ファイルシステムです。
代表例は、Windowsで使うNTFS、USBメモリなどで広く使われるFAT系（FAT32・exFAT）、Linuxのext4、Apple製品のAPFSです。OSごとに得意なものが違い、他のOSでは読めないこともあります。
ストレージを使い始める前の「フォーマット（初期化）」は、ファイルシステムを作る作業です。フォーマットすると、基本的に中のデータは使えなくなります。OSは、ファイルシステムを通してデータを出し入れします。
【たとえるなら】
図書館の本棚のルール。「分類番号」と「棚の位置」の台帳があるから、本（ファイル）を探せます。台帳がないと、本は山積みで見つかりません。
【こんな場面で】
USBメモリをフォーマットする、4GB以上の大きな動画がUSBにコピーできない、Macで使ったUSBメモリがWindowsで開けない、といった場面で出てきます。
【勘違い・つまずき】
ファイルシステムとストレージ（SSDなどの部品）は別物です。同じSSDでも、ファイルシステムが違えば、使えるOSや1ファイルの大きさの上限が変わります。
【最初の学び方】
Windowsのエクスプローラーで、ドライブを右クリックして「プロパティ」を開くと、ファイルシステムの種類（NTFSなど）が見られます。
【つながり】
・OS →（提供する）→ ファイルシステム
・ファイルシステム →（整理する）→ ストレージ
・ブロックストレージ →（土台になる）→ ファイルシステム
・ファイルシステム ⇄（ちがい）⇄ オブジェクトストレージ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（スライド72／資料の該当箇所：編集者による補足（ファイルシステム））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保存領域を同じ大きさの区画（ブロック）に分け、ディスクとして渡す方式。
【どこの話？】
層：ハードウェア・OS（機械・部品そのもの）
場所：OSから見える「ディスク」の形でストレージを提供する方式。機械の中にも外にもある。
【くわしく】
ブロックストレージは、保存領域を一定の大きさの区画（ブロック）に分け、「1台のディスク」として使える形で提供する方式です。中にどんなデータをどう置くかは決めず、区画だけを貸します。
借りた側（OSやデータベース）が、その上にファイルシステムを作ったり、データベースの保存形式で直接使ったりします。ブロックの位置は番号で指定するので、データの一部だけを素早く書き換えられます。
パソコンの内蔵SSDも、OSから見ればブロックストレージです。SANは、これをネットワーク越しにサーバーへ渡す仕組みで、クラウドの仮想サーバー用ディスク（Amazon EBSなど）もブロックストレージです。
【たとえるなら】
何も置かれていない倉庫の区画を借りること。棚をどう並べ、何をしまうかは借りた側が自由に決めます。NASは「棚ごと整理された倉庫」に近いイメージです。
【こんな場面で】
クラウドで仮想サーバーを作るときに「ディスクを50GB追加」を選ぶ、データベースサーバーが高速なSANのディスクを使う、といった場面で出てきます。
【勘違い・つまずき】
ブロックストレージは、そのままではファイルとして見えません。ファイルシステムを作って初めて、フォルダーやファイルとして使えます。「ブロック＝ファイル」ではありません。
【最初の学び方】
仮想マシン（VirtualBoxなど）に仮想ディスクを追加し、OSからフォーマットして使ってみましょう。「ディスクにファイルシステムを作る」流れが分かります。
【つながり】
・ブロックストレージ →（土台になる）→ ファイルシステム
・SAN →（提供する）→ ブロックストレージ
・ブロックストレージ ⇄（ちがい）⇄ オブジェクトストレージ
・ブロックストレージ ⇄（ちがい）⇄ NAS
・ブロックストレージ →（貸し出す）→ クラウド仮想サーバー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（スライド73／資料の該当箇所：編集者による補足（ブロックストレージ））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保存領域を同じ大きさの区画（ブロック）に分け、ディスクとして渡す方式。
【どこの話？】
層：ハードウェア・OS（機械・部品そのもの）
場所：OSから見える「ディスク」の形でストレージを提供する方式。機械の中にも外にもある。
【くわしく】
ブロックストレージは、保存領域を一定の大きさの区画（ブロック）に分け、「1台のディスク」として使える形で提供する方式です。中にどんなデータをどう置くかは決めず、区画だけを貸します。
借りた側（OSやデータベース）が、その上にファイルシステムを作ったり、データベースの保存形式で直接使ったりします。ブロックの位置は番号で指定するので、データの一部だけを素早く書き換えられます。
パソコンの内蔵SSDも、OSから見ればブロックストレージです。SANは、これをネットワーク越しにサーバーへ渡す仕組みで、クラウドの仮想サーバー用ディスク（Amazon EBSなど）もブロックストレージです。
【たとえるなら】
何も置かれていない倉庫の区画を借りること。棚をどう並べ、何をしまうかは借りた側が自由に決めます。NASは「棚ごと整理された倉庫」に近いイメージです。
【こんな場面で】
クラウドで仮想サーバーを作るときに「ディスクを50GB追加」を選ぶ、データベースサーバーが高速なSANのディスクを使う、といった場面で出てきます。
【勘違い・つまずき】
ブロックストレージは、そのままではファイルとして見えません。ファイルシステムを作って初めて、フォルダーやファイルとして使えます。「ブロック＝ファイル」ではありません。
【最初の学び方】
仮想マシン（VirtualBoxなど）に仮想ディスクを追加し、OSからフォーマットして使ってみましょう。「ディスクにファイルシステムを作る」流れが分かります。
【つながり】
・ブロックストレージ →（土台になる）→ ファイルシステム
・SAN →（提供する）→ ブロックストレージ
・ブロックストレージ ⇄（ちがい）⇄ オブジェクトストレージ
・ブロックストレージ ⇄（ちがい）⇄ NAS
・ブロックストレージ →（貸し出す）→ クラウド仮想サーバー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（スライド74／資料の該当箇所：編集者による補足（ブロックストレージ））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保存領域を同じ大きさの区画（ブロック）に分け、ディスクとして渡す方式。
【どこの話？】
層：ハードウェア・OS（機械・部品そのもの）
場所：OSから見える「ディスク」の形でストレージを提供する方式。機械の中にも外にもある。
【くわしく】
ブロックストレージは、保存領域を一定の大きさの区画（ブロック）に分け、「1台のディスク」として使える形で提供する方式です。中にどんなデータをどう置くかは決めず、区画だけを貸します。
借りた側（OSやデータベース）が、その上にファイルシステムを作ったり、データベースの保存形式で直接使ったりします。ブロックの位置は番号で指定するので、データの一部だけを素早く書き換えられます。
パソコンの内蔵SSDも、OSから見ればブロックストレージです。SANは、これをネットワーク越しにサーバーへ渡す仕組みで、クラウドの仮想サーバー用ディスク（Amazon EBSなど）もブロックストレージです。
【たとえるなら】
何も置かれていない倉庫の区画を借りること。棚をどう並べ、何をしまうかは借りた側が自由に決めます。NASは「棚ごと整理された倉庫」に近いイメージです。
【こんな場面で】
クラウドで仮想サーバーを作るときに「ディスクを50GB追加」を選ぶ、データベースサーバーが高速なSANのディスクを使う、といった場面で出てきます。
【勘違い・つまずき】
ブロックストレージは、そのままではファイルとして見えません。ファイルシステムを作って初めて、フォルダーやファイルとして使えます。「ブロック＝ファイル」ではありません。
【最初の学び方】
仮想マシン（VirtualBoxなど）に仮想ディスクを追加し、OSからフォーマットして使ってみましょう。「ディスクにファイルシステムを作る」流れが分かります。
【つながり】
・ブロックストレージ →（土台になる）→ ファイルシステム
・SAN →（提供する）→ ブロックストレージ
・ブロックストレージ ⇄（ちがい）⇄ オブジェクトストレージ
・ブロックストレージ ⇄（ちがい）⇄ NAS
・ブロックストレージ →（貸し出す）→ クラウド仮想サーバー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（スライド75／資料の該当箇所：編集者による補足（ブロックストレージ））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データを名前や付加情報とセットで丸ごと保存する、大容量向けの置き場。
【どこの話？】
層：置き場所・アプリ（サーバー室・クラウド）
場所：クラウド上のサービスとして使うことが多い、ネット越しの保存場所。
【くわしく】
オブジェクトストレージは、データ本体（写真や動画など）に、名前（キー）や付加情報（メタデータ。作成日や種類などの説明）をセットにした「オブジェクト」を、まとめて保存する仕組みです。
フォルダーの階層はなく、巨大なひとつの置き場に、名前を頼りにオブジェクトを出し入れします。操作は、フォルダーを開くのではなく、HTTP（Web通信）を使ったAPI（プログラムから使うための窓口）で行います。
ファイルの一部だけを書き換えるのは得意ではなく、丸ごと置き換えるのが基本です。その代わり、容量を大きく増やしやすく、インターネット経由でも使えます。写真・動画・バックアップの保管によく使われます。
【たとえるなら】
巨大な倉庫に、荷物へ名札（名前とメモ）を付けて預けるイメージ。棚の場所は倉庫が管理し、利用者は名札を伝えるだけで荷物を取り出せます。
【こんな場面で】
Webサービスに大量の写真や動画を保存する、システムのバックアップをクラウドに置く、分析用の大量のデータを保管する、といった場面で使われます。
【勘違い・つまずき】
パソコンのフォルダーのような階層は、基本的にありません。名前に「/」を含めて、フォルダーのように見せている場合があります。また、一部だけの書き換えには向きません。
【最初の学び方】
無料で試せる学習用のクラウド環境で、保存場所を作り、ファイルのアップロード・ダウンロード・公開範囲（権限）の設定を試してみましょう。
【つながり】
・Amazon S3 →（例の一つ）→ オブジェクトストレージ
・オブジェクトストレージ ⇄（ちがい）⇄ ブロックストレージ
・オブジェクトストレージ ⇄（ちがい）⇄ ファイルシステム
・オブジェクトストレージ →（主な仕組み）→ クラウドストレージ
・オブジェクトストレージ →（保存先になる）→ バックアップ
【貼り付け資料の記載（要旨）】
データを、識別する名前や付加情報とセットで「オブジェクト」として保存する仕組み。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（スライド76／資料の該当箇所：ご提供の用語解説（オブジェクトストレージ））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データを名前や付加情報とセットで丸ごと保存する、大容量向けの置き場。
【どこの話？】
層：置き場所・アプリ（サーバー室・クラウド）
場所：クラウド上のサービスとして使うことが多い、ネット越しの保存場所。
【くわしく】
オブジェクトストレージは、データ本体（写真や動画など）に、名前（キー）や付加情報（メタデータ。作成日や種類などの説明）をセットにした「オブジェクト」を、まとめて保存する仕組みです。
フォルダーの階層はなく、巨大なひとつの置き場に、名前を頼りにオブジェクトを出し入れします。操作は、フォルダーを開くのではなく、HTTP（Web通信）を使ったAPI（プログラムから使うための窓口）で行います。
ファイルの一部だけを書き換えるのは得意ではなく、丸ごと置き換えるのが基本です。その代わり、容量を大きく増やしやすく、インターネット経由でも使えます。写真・動画・バックアップの保管によく使われます。
【たとえるなら】
巨大な倉庫に、荷物へ名札（名前とメモ）を付けて預けるイメージ。棚の場所は倉庫が管理し、利用者は名札を伝えるだけで荷物を取り出せます。
【こんな場面で】
Webサービスに大量の写真や動画を保存する、システムのバックアップをクラウドに置く、分析用の大量のデータを保管する、といった場面で使われます。
【勘違い・つまずき】
パソコンのフォルダーのような階層は、基本的にありません。名前に「/」を含めて、フォルダーのように見せている場合があります。また、一部だけの書き換えには向きません。
【最初の学び方】
無料で試せる学習用のクラウド環境で、保存場所を作り、ファイルのアップロード・ダウンロード・公開範囲（権限）の設定を試してみましょう。
【つながり】
・Amazon S3 →（例の一つ）→ オブジェクトストレージ
・オブジェクトストレージ ⇄（ちがい）⇄ ブロックストレージ
・オブジェクトストレージ ⇄（ちがい）⇄ ファイルシステム
・オブジェクトストレージ →（主な仕組み）→ クラウドストレージ
・オブジェクトストレージ →（保存先になる）→ バックアップ
【貼り付け資料の記載（要旨）】
データを、識別する名前や付加情報とセットで「オブジェクト」として保存する仕組み。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（スライド77／資料の該当箇所：ご提供の用語解説（オブジェクトストレージ））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データを名前や付加情報とセットで丸ごと保存する、大容量向けの置き場。
【どこの話？】
層：置き場所・アプリ（サーバー室・クラウド）
場所：クラウド上のサービスとして使うことが多い、ネット越しの保存場所。
【くわしく】
オブジェクトストレージは、データ本体（写真や動画など）に、名前（キー）や付加情報（メタデータ。作成日や種類などの説明）をセットにした「オブジェクト」を、まとめて保存する仕組みです。
フォルダーの階層はなく、巨大なひとつの置き場に、名前を頼りにオブジェクトを出し入れします。操作は、フォルダーを開くのではなく、HTTP（Web通信）を使ったAPI（プログラムから使うための窓口）で行います。
ファイルの一部だけを書き換えるのは得意ではなく、丸ごと置き換えるのが基本です。その代わり、容量を大きく増やしやすく、インターネット経由でも使えます。写真・動画・バックアップの保管によく使われます。
【たとえるなら】
巨大な倉庫に、荷物へ名札（名前とメモ）を付けて預けるイメージ。棚の場所は倉庫が管理し、利用者は名札を伝えるだけで荷物を取り出せます。
【こんな場面で】
Webサービスに大量の写真や動画を保存する、システムのバックアップをクラウドに置く、分析用の大量のデータを保管する、といった場面で使われます。
【勘違い・つまずき】
パソコンのフォルダーのような階層は、基本的にありません。名前に「/」を含めて、フォルダーのように見せている場合があります。また、一部だけの書き換えには向きません。
【最初の学び方】
無料で試せる学習用のクラウド環境で、保存場所を作り、ファイルのアップロード・ダウンロード・公開範囲（権限）の設定を試してみましょう。
【つながり】
・Amazon S3 →（例の一つ）→ オブジェクトストレージ
・オブジェクトストレージ ⇄（ちがい）⇄ ブロックストレージ
・オブジェクトストレージ ⇄（ちがい）⇄ ファイルシステム
・オブジェクトストレージ →（主な仕組み）→ クラウドストレージ
・オブジェクトストレージ →（保存先になる）→ バックアップ
【貼り付け資料の記載（要旨）】
データを、識別する名前や付加情報とセットで「オブジェクト」として保存する仕組み。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（スライド78／資料の該当箇所：ご提供の用語解説（オブジェクトストレージ））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AWSで使えるオブジェクトストレージのサービス。バケットにデータを入れる。
【どこの話？】
層：置き場所（サーバー室・クラウド）
場所：インターネットの向こう側（AWSのデータセンター）にあるクラウドのサービス。
【くわしく】
Amazon S3（Amazon Simple Storage Service）は、クラウド「AWS」で使えるオブジェクトストレージのサービスです。写真・動画・文書など、さまざまなファイルを保存できます。
S3では、データ（オブジェクト）を「バケット」という入れ物に入れます。バケットの中では、「photos/trip/a.jpg」のような名前（キー）で、1つ1つを区別します。
バケット名は、標準では他のAWS利用者とも重ならない名前にします。誰が読み書きできるかは権限で決め、設定を誤ると、見せたくないデータが公開されてしまいます。
ほかのAWSのサービスからもよく使われ、バックアップや分析データの置き場になります。料金は、保存量や通信量に応じて決まります。
【たとえるなら】
ネットの向こうにある巨大なロッカー室。バケットが「ロッカー」、キーが「中の荷物につけた名札」です。ロッカーの鍵（権限）の管理は利用者の責任です。
【こんな場面で】
Webサイトの画像置き場にする、システムのバックアップを置く、集めたデータを分析用にためておく、といった場面で使われます。
【勘違い・つまずき】
S3はパソコンのフォルダーとは違う仕組みです。また、公開範囲の設定ミスで情報が見えてしまう事故が、実際に起きています。最初は「非公開」のままで使いましょう。
【最初の学び方】
AWSの公式ドキュメント「What is Amazon S3?」を読み、バケット・オブジェクト・キーの3つの言葉を、自分の言葉で説明してみましょう。
【つながり】
・Amazon S3 →（例の一つ）→ オブジェクトストレージ
・AWS →（提供する）→ Amazon S3
・Amazon S3 →（例の一つ）→ クラウドストレージ
・Amazon S3 →（保存先になる）→ バックアップ
・クラウド仮想サーバー →（使う）→ Amazon S3
【情報の区分】
補足（一般的な説明）
【出典（資料名・URL）】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（スライド79／資料の該当箇所：編集者による補足（Amazon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AWSで使えるオブジェクトストレージのサービス。バケットにデータを入れる。
【どこの話？】
層：置き場所（サーバー室・クラウド）
場所：インターネットの向こう側（AWSのデータセンター）にあるクラウドのサービス。
【くわしく】
Amazon S3（Amazon Simple Storage Service）は、クラウド「AWS」で使えるオブジェクトストレージのサービスです。写真・動画・文書など、さまざまなファイルを保存できます。
S3では、データ（オブジェクト）を「バケット」という入れ物に入れます。バケットの中では、「photos/trip/a.jpg」のような名前（キー）で、1つ1つを区別します。
バケット名は、標準では他のAWS利用者とも重ならない名前にします。誰が読み書きできるかは権限で決め、設定を誤ると、見せたくないデータが公開されてしまいます。
ほかのAWSのサービスからもよく使われ、バックアップや分析データの置き場になります。料金は、保存量や通信量に応じて決まります。
【たとえるなら】
ネットの向こうにある巨大なロッカー室。バケットが「ロッカー」、キーが「中の荷物につけた名札」です。ロッカーの鍵（権限）の管理は利用者の責任です。
【こんな場面で】
Webサイトの画像置き場にする、システムのバックアップを置く、集めたデータを分析用にためておく、といった場面で使われます。
【勘違い・つまずき】
S3はパソコンのフォルダーとは違う仕組みです。また、公開範囲の設定ミスで情報が見えてしまう事故が、実際に起きています。最初は「非公開」のままで使いましょう。
【最初の学び方】
AWSの公式ドキュメント「What is Amazon S3?」を読み、バケット・オブジェクト・キーの3つの言葉を、自分の言葉で説明してみましょう。
【つながり】
・Amazon S3 →（例の一つ）→ オブジェクトストレージ
・AWS →（提供する）→ Amazon S3
・Amazon S3 →（例の一つ）→ クラウドストレージ
・Amazon S3 →（保存先になる）→ バックアップ
・クラウド仮想サーバー →（使う）→ Amazon S3
【情報の区分】
補足（一般的な説明）
【出典（資料名・URL）】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（スライド80／資料の該当箇所：編集者による補足（Amazon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AWSで使えるオブジェクトストレージのサービス。バケットにデータを入れる。
【どこの話？】
層：置き場所（サーバー室・クラウド）
場所：インターネットの向こう側（AWSのデータセンター）にあるクラウドのサービス。
【くわしく】
Amazon S3（Amazon Simple Storage Service）は、クラウド「AWS」で使えるオブジェクトストレージのサービスです。写真・動画・文書など、さまざまなファイルを保存できます。
S3では、データ（オブジェクト）を「バケット」という入れ物に入れます。バケットの中では、「photos/trip/a.jpg」のような名前（キー）で、1つ1つを区別します。
バケット名は、標準では他のAWS利用者とも重ならない名前にします。誰が読み書きできるかは権限で決め、設定を誤ると、見せたくないデータが公開されてしまいます。
ほかのAWSのサービスからもよく使われ、バックアップや分析データの置き場になります。料金は、保存量や通信量に応じて決まります。
【たとえるなら】
ネットの向こうにある巨大なロッカー室。バケットが「ロッカー」、キーが「中の荷物につけた名札」です。ロッカーの鍵（権限）の管理は利用者の責任です。
【こんな場面で】
Webサイトの画像置き場にする、システムのバックアップを置く、集めたデータを分析用にためておく、といった場面で使われます。
【勘違い・つまずき】
S3はパソコンのフォルダーとは違う仕組みです。また、公開範囲の設定ミスで情報が見えてしまう事故が、実際に起きています。最初は「非公開」のままで使いましょう。
【最初の学び方】
AWSの公式ドキュメント「What is Amazon S3?」を読み、バケット・オブジェクト・キーの3つの言葉を、自分の言葉で説明してみましょう。
【つながり】
・Amazon S3 →（例の一つ）→ オブジェクトストレージ
・AWS →（提供する）→ Amazon S3
・Amazon S3 →（例の一つ）→ クラウドストレージ
・Amazon S3 →（保存先になる）→ バックアップ
・クラウド仮想サーバー →（使う）→ Amazon S3
【情報の区分】
補足（一般的な説明）
【出典（資料名・URL）】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（スライド81／資料の該当箇所：編集者による補足（Amazon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AWSで使えるオブジェクトストレージのサービス。バケットにデータを入れる。
【どこの話？】
層：置き場所（サーバー室・クラウド）
場所：インターネットの向こう側（AWSのデータセンター）にあるクラウドのサービス。
【くわしく】
Amazon S3（Amazon Simple Storage Service）は、クラウド「AWS」で使えるオブジェクトストレージのサービスです。写真・動画・文書など、さまざまなファイルを保存できます。
S3では、データ（オブジェクト）を「バケット」という入れ物に入れます。バケットの中では、「photos/trip/a.jpg」のような名前（キー）で、1つ1つを区別します。
バケット名は、標準では他のAWS利用者とも重ならない名前にします。誰が読み書きできるかは権限で決め、設定を誤ると、見せたくないデータが公開されてしまいます。
ほかのAWSのサービスからもよく使われ、バックアップや分析データの置き場になります。料金は、保存量や通信量に応じて決まります。
【たとえるなら】
ネットの向こうにある巨大なロッカー室。バケットが「ロッカー」、キーが「中の荷物につけた名札」です。ロッカーの鍵（権限）の管理は利用者の責任です。
【こんな場面で】
Webサイトの画像置き場にする、システムのバックアップを置く、集めたデータを分析用にためておく、といった場面で使われます。
【勘違い・つまずき】
S3はパソコンのフォルダーとは違う仕組みです。また、公開範囲の設定ミスで情報が見えてしまう事故が、実際に起きています。最初は「非公開」のままで使いましょう。
【最初の学び方】
AWSの公式ドキュメント「What is Amazon S3?」を読み、バケット・オブジェクト・キーの3つの言葉を、自分の言葉で説明してみましょう。
【つながり】
・Amazon S3 →（例の一つ）→ オブジェクトストレージ
・AWS →（提供する）→ Amazon S3
・Amazon S3 →（例の一つ）→ クラウドストレージ
・Amazon S3 →（保存先になる）→ バックアップ
・クラウド仮想サーバー →（使う）→ Amazon S3
【情報の区分】
補足（一般的な説明）
【出典（資料名・URL）】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（スライド82／資料の該当箇所：編集者による補足（Amazon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ネットワークにつなぎ、共有フォルダーとして使える保存装置。
【どこの話？】
層：ハードウェア・ネットワーク（機械・部品そのもの）
場所：LANなどのネットワークにつなぐ保存装置。家や会社の中に置くことが多い。
【くわしく】
NAS（Network Attached Storage）は、ネットワーク（LANなど）につないで使う、ファイル共有用のストレージ装置です。中にHDDやSSDが入った小さなコンピューターで、専用のOSが動いています。
パソコンやスマホからは「共有フォルダー」として見えます。ファイルとフォルダーの形で出し入れし、同じネットワークの複数人が同じファイルを開けます。ファイルを整理する仕組み（ファイルシステム）は、NAS側が持っています。
家庭では写真や動画の保管・バックアップ、会社では部署のファイル共有に使われます。HDDを複数入れ、RAIDで故障に備える製品も多くあります。ただし、それだけでバックアップの代わりにはなりません。
【たとえるなら】
学校の職員室にある共有の書類棚。先生方（複数のパソコン）が自分の席から取りに行き、同じ書類を使えます。棚の中は、すでにフォルダーごとに整理されています。
【こんな場面で】
家族の写真をNASに集めてスマホやPCから見る、会社の部署用の共有フォルダーにファイルを保存する、といった場面で出てきます。
【勘違い・つまずき】
NASは「ファイル単位」で共有する装置で、サーバーにディスクとして見せるSANとは使い方が違います。故障や誤操作が起きれば、共有データも失われます。バックアップは別に必要です。
【最初の学び方】
LAN内で、あるPCに共有フォルダーを作り、別のPCやスマホからネットワーク経由で開いてみましょう。Windowsの共有機能で試せます。
【つながり】
・NAS →（つながる）→ 有線LAN
・NAS ⇄（ちがい）⇄ SAN
・NAS →（使う）→ RAID
・NAS →（使う）→ HDD
・NAS →（保存先になる）→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（スライド83／資料の該当箇所：編集者による補足（NAS））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ネットワークにつなぎ、共有フォルダーとして使える保存装置。
【どこの話？】
層：ハードウェア・ネットワーク（機械・部品そのもの）
場所：LANなどのネットワークにつなぐ保存装置。家や会社の中に置くことが多い。
【くわしく】
NAS（Network Attached Storage）は、ネットワーク（LANなど）につないで使う、ファイル共有用のストレージ装置です。中にHDDやSSDが入った小さなコンピューターで、専用のOSが動いています。
パソコンやスマホからは「共有フォルダー」として見えます。ファイルとフォルダーの形で出し入れし、同じネットワークの複数人が同じファイルを開けます。ファイルを整理する仕組み（ファイルシステム）は、NAS側が持っています。
家庭では写真や動画の保管・バックアップ、会社では部署のファイル共有に使われます。HDDを複数入れ、RAIDで故障に備える製品も多くあります。ただし、それだけでバックアップの代わりにはなりません。
【たとえるなら】
学校の職員室にある共有の書類棚。先生方（複数のパソコン）が自分の席から取りに行き、同じ書類を使えます。棚の中は、すでにフォルダーごとに整理されています。
【こんな場面で】
家族の写真をNASに集めてスマホやPCから見る、会社の部署用の共有フォルダーにファイルを保存する、といった場面で出てきます。
【勘違い・つまずき】
NASは「ファイル単位」で共有する装置で、サーバーにディスクとして見せるSANとは使い方が違います。故障や誤操作が起きれば、共有データも失われます。バックアップは別に必要です。
【最初の学び方】
LAN内で、あるPCに共有フォルダーを作り、別のPCやスマホからネットワーク経由で開いてみましょう。Windowsの共有機能で試せます。
【つながり】
・NAS →（つながる）→ 有線LAN
・NAS ⇄（ちがい）⇄ SAN
・NAS →（使う）→ RAID
・NAS →（使う）→ HDD
・NAS →（保存先になる）→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（スライド84／資料の該当箇所：編集者による補足（NAS））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ネットワークにつなぎ、共有フォルダーとして使える保存装置。
【どこの話？】
層：ハードウェア・ネットワーク（機械・部品そのもの）
場所：LANなどのネットワークにつなぐ保存装置。家や会社の中に置くことが多い。
【くわしく】
NAS（Network Attached Storage）は、ネットワーク（LANなど）につないで使う、ファイル共有用のストレージ装置です。中にHDDやSSDが入った小さなコンピューターで、専用のOSが動いています。
パソコンやスマホからは「共有フォルダー」として見えます。ファイルとフォルダーの形で出し入れし、同じネットワークの複数人が同じファイルを開けます。ファイルを整理する仕組み（ファイルシステム）は、NAS側が持っています。
家庭では写真や動画の保管・バックアップ、会社では部署のファイル共有に使われます。HDDを複数入れ、RAIDで故障に備える製品も多くあります。ただし、それだけでバックアップの代わりにはなりません。
【たとえるなら】
学校の職員室にある共有の書類棚。先生方（複数のパソコン）が自分の席から取りに行き、同じ書類を使えます。棚の中は、すでにフォルダーごとに整理されています。
【こんな場面で】
家族の写真をNASに集めてスマホやPCから見る、会社の部署用の共有フォルダーにファイルを保存する、といった場面で出てきます。
【勘違い・つまずき】
NASは「ファイル単位」で共有する装置で、サーバーにディスクとして見せるSANとは使い方が違います。故障や誤操作が起きれば、共有データも失われます。バックアップは別に必要です。
【最初の学び方】
LAN内で、あるPCに共有フォルダーを作り、別のPCやスマホからネットワーク経由で開いてみましょう。Windowsの共有機能で試せます。
【つながり】
・NAS →（つながる）→ 有線LAN
・NAS ⇄（ちがい）⇄ SAN
・NAS →（使う）→ RAID
・NAS →（使う）→ HDD
・NAS →（保存先になる）→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（スライド85／資料の該当箇所：編集者による補足（NAS））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保存装置をディスクのように見せて提供する、サーバー用の専用ネットワーク。
【どこの話？】
層：ハードウェア・ネットワーク（機械・部品そのもの）
場所：会社のサーバー室やデータセンターの中にある、サーバーと保存装置をつなぐ専用の通信網。
【くわしく】
SAN（Storage Area Network）は、サーバーと大きな保存装置（ストレージ装置）をつなぐ、専用のネットワークです。サーバーから見ると、ネットワークの先の保存領域が「自分の中のディスク」のように見えます。
ブロックストレージを提供する点が、NASとの大きな違いです。サーバー側のOSが、そのディスクにファイルシステムを作って使います。内蔵ディスクに近い感覚で使えるため、データベースなどの用途に向きます。
代表的な接続方式は、専用の高速通信規格のFibre Channel（ファイバーチャネル）です。通常のEthernetを使う方式（iSCSIなど）もあります。専用の機器が必要なので、主に企業やデータセンターで使われます。
【たとえるなら】
サーバーの机の引き出しが、実は別の建物にある巨大な書庫につながっているイメージ。引き出しに見えても、実体は専用の通路の先にあります。
【こんな場面で】
会社の基幹システムのデータベースサーバーがSANの高速ディスクを使う、仮想化基盤の複数のサーバーが共通のSANストレージを使う、といった場面で出てきます。
【勘違い・つまずき】
SANは「ネットワークで共有するフォルダー」ではありません。それはNASです。SANは、サーバーに専用のディスクとして渡すのが基本で、複数のサーバーで同時に使うには特別な仕組みが必要です。
【最初の学び方】
紙に「サーバー→SAN→ストレージ装置」と描き、同じ形でNASの図も描いて、ファイルシステムがどこにあるかの違いを書き込んでみましょう。
【つながり】
・SAN →（提供する）→ ブロックストレージ
・SAN ⇄（ちがい）⇄ NAS
・FCoE →（通信を運ぶ）→ SAN
・SAN →（ディスクを渡す）→ DBサーバー
・SAN →（保存先になる）→ 仮想マシン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（スライド86／資料の該当箇所：編集者による補足（SAN））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保存装置をディスクのように見せて提供する、サーバー用の専用ネットワーク。
【どこの話？】
層：ハードウェア・ネットワーク（機械・部品そのもの）
場所：会社のサーバー室やデータセンターの中にある、サーバーと保存装置をつなぐ専用の通信網。
【くわしく】
SAN（Storage Area Network）は、サーバーと大きな保存装置（ストレージ装置）をつなぐ、専用のネットワークです。サーバーから見ると、ネットワークの先の保存領域が「自分の中のディスク」のように見えます。
ブロックストレージを提供する点が、NASとの大きな違いです。サーバー側のOSが、そのディスクにファイルシステムを作って使います。内蔵ディスクに近い感覚で使えるため、データベースなどの用途に向きます。
代表的な接続方式は、専用の高速通信規格のFibre Channel（ファイバーチャネル）です。通常のEthernetを使う方式（iSCSIなど）もあります。専用の機器が必要なので、主に企業やデータセンターで使われます。
【たとえるなら】
サーバーの机の引き出しが、実は別の建物にある巨大な書庫につながっているイメージ。引き出しに見えても、実体は専用の通路の先にあります。
【こんな場面で】
会社の基幹システムのデータベースサーバーがSANの高速ディスクを使う、仮想化基盤の複数のサーバーが共通のSANストレージを使う、といった場面で出てきます。
【勘違い・つまずき】
SANは「ネットワークで共有するフォルダー」ではありません。それはNASです。SANは、サーバーに専用のディスクとして渡すのが基本で、複数のサーバーで同時に使うには特別な仕組みが必要です。
【最初の学び方】
紙に「サーバー→SAN→ストレージ装置」と描き、同じ形でNASの図も描いて、ファイルシステムがどこにあるかの違いを書き込んでみましょう。
【つながり】
・SAN →（提供する）→ ブロックストレージ
・SAN ⇄（ちがい）⇄ NAS
・FCoE →（通信を運ぶ）→ SAN
・SAN →（ディスクを渡す）→ DBサーバー
・SAN →（保存先になる）→ 仮想マシン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（スライド87／資料の該当箇所：編集者による補足（SAN））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保存装置をディスクのように見せて提供する、サーバー用の専用ネットワーク。
【どこの話？】
層：ハードウェア・ネットワーク（機械・部品そのもの）
場所：会社のサーバー室やデータセンターの中にある、サーバーと保存装置をつなぐ専用の通信網。
【くわしく】
SAN（Storage Area Network）は、サーバーと大きな保存装置（ストレージ装置）をつなぐ、専用のネットワークです。サーバーから見ると、ネットワークの先の保存領域が「自分の中のディスク」のように見えます。
ブロックストレージを提供する点が、NASとの大きな違いです。サーバー側のOSが、そのディスクにファイルシステムを作って使います。内蔵ディスクに近い感覚で使えるため、データベースなどの用途に向きます。
代表的な接続方式は、専用の高速通信規格のFibre Channel（ファイバーチャネル）です。通常のEthernetを使う方式（iSCSIなど）もあります。専用の機器が必要なので、主に企業やデータセンターで使われます。
【たとえるなら】
サーバーの机の引き出しが、実は別の建物にある巨大な書庫につながっているイメージ。引き出しに見えても、実体は専用の通路の先にあります。
【こんな場面で】
会社の基幹システムのデータベースサーバーがSANの高速ディスクを使う、仮想化基盤の複数のサーバーが共通のSANストレージを使う、といった場面で出てきます。
【勘違い・つまずき】
SANは「ネットワークで共有するフォルダー」ではありません。それはNASです。SANは、サーバーに専用のディスクとして渡すのが基本で、複数のサーバーで同時に使うには特別な仕組みが必要です。
【最初の学び方】
紙に「サーバー→SAN→ストレージ装置」と描き、同じ形でNASの図も描いて、ファイルシステムがどこにあるかの違いを書き込んでみましょう。
【つながり】
・SAN →（提供する）→ ブロックストレージ
・SAN ⇄（ちがい）⇄ NAS
・FCoE →（通信を運ぶ）→ SAN
・SAN →（ディスクを渡す）→ DBサーバー
・SAN →（保存先になる）→ 仮想マシン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（スライド88／資料の該当箇所：編集者による補足（SAN））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保存装置をディスクのように見せて提供する、サーバー用の専用ネットワーク。
【どこの話？】
層：ハードウェア・ネットワーク（機械・部品そのもの）
場所：会社のサーバー室やデータセンターの中にある、サーバーと保存装置をつなぐ専用の通信網。
【くわしく】
SAN（Storage Area Network）は、サーバーと大きな保存装置（ストレージ装置）をつなぐ、専用のネットワークです。サーバーから見ると、ネットワークの先の保存領域が「自分の中のディスク」のように見えます。
ブロックストレージを提供する点が、NASとの大きな違いです。サーバー側のOSが、そのディスクにファイルシステムを作って使います。内蔵ディスクに近い感覚で使えるため、データベースなどの用途に向きます。
代表的な接続方式は、専用の高速通信規格のFibre Channel（ファイバーチャネル）です。通常のEthernetを使う方式（iSCSIなど）もあります。専用の機器が必要なので、主に企業やデータセンターで使われます。
【たとえるなら】
サーバーの机の引き出しが、実は別の建物にある巨大な書庫につながっているイメージ。引き出しに見えても、実体は専用の通路の先にあります。
【こんな場面で】
会社の基幹システムのデータベースサーバーがSANの高速ディスクを使う、仮想化基盤の複数のサーバーが共通のSANストレージを使う、といった場面で出てきます。
【勘違い・つまずき】
SANは「ネットワークで共有するフォルダー」ではありません。それはNASです。SANは、サーバーに専用のディスクとして渡すのが基本で、複数のサーバーで同時に使うには特別な仕組みが必要です。
【最初の学び方】
紙に「サーバー→SAN→ストレージ装置」と描き、同じ形でNASの図も描いて、ファイルシステムがどこにあるかの違いを書き込んでみましょう。
【つながり】
・SAN →（提供する）→ ブロックストレージ
・SAN ⇄（ちがい）⇄ NAS
・FCoE →（通信を運ぶ）→ SAN
・SAN →（ディスクを渡す）→ DBサーバー
・SAN →（保存先になる）→ 仮想マシン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（スライド89／資料の該当箇所：編集者による補足（SAN））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Fibre Channelの通信を、Ethernetのケーブルに載せて運ぶ技術。
【どこの話？】
層：ネットワーク（機械どうしをつなぐ道）
場所：データセンターなどのネットワーク機器の間。SANの通信をEthernet上で運ぶ。
【くわしく】
FCoE（Fibre Channel over Ethernet）は、SANで使うFibre Channelの通信を、Ethernet（イーサネット。LANで広く使われる有線規格）のケーブル上で運べるようにする技術です。
従来は、SAN用のFibre Channelの配線と、通常のLANの配線の2系統が必要でした。FCoEなら1本のケーブルにまとめられ、ケーブルや機器の数を減らせる可能性があります。
ただしFibre Channelは、データを落とさずに運ぶことを前提にしています。そのため、通信を落とさずに運べるEthernetの拡張に対応した、専用のスイッチやネットワークカードが必要です。
【たとえるなら】
専用の鉄道（Fibre Channel）の列車を、一般道路（Ethernet）にも走らせる技術。荷物を落とさないために、道路の側にも専用の整備（対応機器）が必要です。
【こんな場面で】
データセンターで、サーバーにつなぐSAN用とLAN用のケーブルを1本にまとめたい、という場面で検討されます。専用のスイッチが必要です。
【勘違い・つまずき】
FCoEは「インターネット経由でストレージを使う」技術ではありません。データセンター内で、専用に整えたEthernetで使うものです。普通のLANにつなぐだけでは動きません。
【最初の学び方】
「Fibre Channel」「Ethernet」「iSCSI」の3つを調べ、SANとLANのどの部分を担うかを、1枚の図にまとめてみましょう。
【つながり】
・FCoE →（通信を運ぶ）→ SAN
・FCoE ⇄（同じ線を使う）⇄ 有線LAN
・FCoE →（使われる）→ データセンター
・FCoE →（運ぶ）→ ブロックストレージ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（スライド90／資料の該当箇所：編集者による補足（FCoE））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Fibre Channelの通信を、Ethernetのケーブルに載せて運ぶ技術。
【どこの話？】
層：ネットワーク（機械どうしをつなぐ道）
場所：データセンターなどのネットワーク機器の間。SANの通信をEthernet上で運ぶ。
【くわしく】
FCoE（Fibre Channel over Ethernet）は、SANで使うFibre Channelの通信を、Ethernet（イーサネット。LANで広く使われる有線規格）のケーブル上で運べるようにする技術です。
従来は、SAN用のFibre Channelの配線と、通常のLANの配線の2系統が必要でした。FCoEなら1本のケーブルにまとめられ、ケーブルや機器の数を減らせる可能性があります。
ただしFibre Channelは、データを落とさずに運ぶことを前提にしています。そのため、通信を落とさずに運べるEthernetの拡張に対応した、専用のスイッチやネットワークカードが必要です。
【たとえるなら】
専用の鉄道（Fibre Channel）の列車を、一般道路（Ethernet）にも走らせる技術。荷物を落とさないために、道路の側にも専用の整備（対応機器）が必要です。
【こんな場面で】
データセンターで、サーバーにつなぐSAN用とLAN用のケーブルを1本にまとめたい、という場面で検討されます。専用のスイッチが必要です。
【勘違い・つまずき】
FCoEは「インターネット経由でストレージを使う」技術ではありません。データセンター内で、専用に整えたEthernetで使うものです。普通のLANにつなぐだけでは動きません。
【最初の学び方】
「Fibre Channel」「Ethernet」「iSCSI」の3つを調べ、SANとLANのどの部分を担うかを、1枚の図にまとめてみましょう。
【つながり】
・FCoE →（通信を運ぶ）→ SAN
・FCoE ⇄（同じ線を使う）⇄ 有線LAN
・FCoE →（使われる）→ データセンター
・FCoE →（運ぶ）→ ブロックストレージ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（スライド91／資料の該当箇所：編集者による補足（FCoE））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Fibre Channelの通信を、Ethernetのケーブルに載せて運ぶ技術。
【どこの話？】
層：ネットワーク（機械どうしをつなぐ道）
場所：データセンターなどのネットワーク機器の間。SANの通信をEthernet上で運ぶ。
【くわしく】
FCoE（Fibre Channel over Ethernet）は、SANで使うFibre Channelの通信を、Ethernet（イーサネット。LANで広く使われる有線規格）のケーブル上で運べるようにする技術です。
従来は、SAN用のFibre Channelの配線と、通常のLANの配線の2系統が必要でした。FCoEなら1本のケーブルにまとめられ、ケーブルや機器の数を減らせる可能性があります。
ただしFibre Channelは、データを落とさずに運ぶことを前提にしています。そのため、通信を落とさずに運べるEthernetの拡張に対応した、専用のスイッチやネットワークカードが必要です。
【たとえるなら】
専用の鉄道（Fibre Channel）の列車を、一般道路（Ethernet）にも走らせる技術。荷物を落とさないために、道路の側にも専用の整備（対応機器）が必要です。
【こんな場面で】
データセンターで、サーバーにつなぐSAN用とLAN用のケーブルを1本にまとめたい、という場面で検討されます。専用のスイッチが必要です。
【勘違い・つまずき】
FCoEは「インターネット経由でストレージを使う」技術ではありません。データセンター内で、専用に整えたEthernetで使うものです。普通のLANにつなぐだけでは動きません。
【最初の学び方】
「Fibre Channel」「Ethernet」「iSCSI」の3つを調べ、SANとLANのどの部分を担うかを、1枚の図にまとめてみましょう。
【つながり】
・FCoE →（通信を運ぶ）→ SAN
・FCoE ⇄（同じ線を使う）⇄ 有線LAN
・FCoE →（使われる）→ データセンター
・FCoE →（運ぶ）→ ブロックストレージ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（スライド92／資料の該当箇所：編集者による補足（FCoE））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複数のドライブを組み合わせて、速さや故障への強さを高める技術。
【どこの話？】
層：ハードウェア（機械・部品そのもの）
場所：パソコン・サーバー・NASの中にある、複数のドライブを組み合わせて使う技術。
【くわしく】
RAIDは、複数のHDDやSSDを、1つの大きなドライブのように組み合わせる技術です。組み合わせ方（RAIDレベル）で、速さ・容量・故障への強さの性格が変わります。
RAID 0は、データを複数のドライブに分けて書き、速さと容量を増やしますが、1台壊れると全体が失われます。RAID 1は、同じデータを2台に同時に書き（ミラーリング）、1台壊れても残りで使えます。
RAID 5は、3台以上で、データと「パリティ」（失われたデータを計算で復元するための情報）を分散して書きます。1台壊れても復元でき、容量の無駄も少ない方式です。2台壊れると失われます。
OSの機能（ソフトウェアRAID）や専用の部品（RAIDコントローラー）で実現し、サーバーやNASで、故障に備えるために使われます。
【たとえるなら】
同じ本を2冊持つ図書館（RAID 1）。1冊をなくしても読めますが、落書きは両方に付きます。故障には強くても、書き間違いや削除は防げません。
【こんな場面で】
NASを買うとき「RAID 1に対応」と書いてある、サーバーのHDDが1台壊れても止めずに交換できる、といった場面で出てきます。
【勘違い・つまずき】
RAIDはバックアップの代わりになりません。ドライブの故障には備えられますが、誤って消したファイルや、ウイルスで壊されたデータは、すべてのドライブで同じように失われます。
【最初の学び方】
紙にドライブ3〜4台の図を描き、RAID 0・1・5で「データがどう分かれて書かれるか」「1台壊れたらどうなるか」を矢印で書き込んでみましょう。
【つながり】
・RAID →（束ねる）→ HDD
・RAID →（束ねる）→ SSD
・NAS →（使う）→ RAID
・RAID ⇄（ちがい）⇄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（スライド93／資料の該当箇所：編集者による補足（RAID））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複数のドライブを組み合わせて、速さや故障への強さを高める技術。
【どこの話？】
層：ハードウェア（機械・部品そのもの）
場所：パソコン・サーバー・NASの中にある、複数のドライブを組み合わせて使う技術。
【くわしく】
RAIDは、複数のHDDやSSDを、1つの大きなドライブのように組み合わせる技術です。組み合わせ方（RAIDレベル）で、速さ・容量・故障への強さの性格が変わります。
RAID 0は、データを複数のドライブに分けて書き、速さと容量を増やしますが、1台壊れると全体が失われます。RAID 1は、同じデータを2台に同時に書き（ミラーリング）、1台壊れても残りで使えます。
RAID 5は、3台以上で、データと「パリティ」（失われたデータを計算で復元するための情報）を分散して書きます。1台壊れても復元でき、容量の無駄も少ない方式です。2台壊れると失われます。
OSの機能（ソフトウェアRAID）や専用の部品（RAIDコントローラー）で実現し、サーバーやNASで、故障に備えるために使われます。
【たとえるなら】
同じ本を2冊持つ図書館（RAID 1）。1冊をなくしても読めますが、落書きは両方に付きます。故障には強くても、書き間違いや削除は防げません。
【こんな場面で】
NASを買うとき「RAID 1に対応」と書いてある、サーバーのHDDが1台壊れても止めずに交換できる、といった場面で出てきます。
【勘違い・つまずき】
RAIDはバックアップの代わりになりません。ドライブの故障には備えられますが、誤って消したファイルや、ウイルスで壊されたデータは、すべてのドライブで同じように失われます。
【最初の学び方】
紙にドライブ3〜4台の図を描き、RAID 0・1・5で「データがどう分かれて書かれるか」「1台壊れたらどうなるか」を矢印で書き込んでみましょう。
【つながり】
・RAID →（束ねる）→ HDD
・RAID →（束ねる）→ SSD
・NAS →（使う）→ RAID
・RAID ⇄（ちがい）⇄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（スライド94／資料の該当箇所：編集者による補足（RAID））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複数のドライブを組み合わせて、速さや故障への強さを高める技術。
【どこの話？】
層：ハードウェア（機械・部品そのもの）
場所：パソコン・サーバー・NASの中にある、複数のドライブを組み合わせて使う技術。
【くわしく】
RAIDは、複数のHDDやSSDを、1つの大きなドライブのように組み合わせる技術です。組み合わせ方（RAIDレベル）で、速さ・容量・故障への強さの性格が変わります。
RAID 0は、データを複数のドライブに分けて書き、速さと容量を増やしますが、1台壊れると全体が失われます。RAID 1は、同じデータを2台に同時に書き（ミラーリング）、1台壊れても残りで使えます。
RAID 5は、3台以上で、データと「パリティ」（失われたデータを計算で復元するための情報）を分散して書きます。1台壊れても復元でき、容量の無駄も少ない方式です。2台壊れると失われます。
OSの機能（ソフトウェアRAID）や専用の部品（RAIDコントローラー）で実現し、サーバーやNASで、故障に備えるために使われます。
【たとえるなら】
同じ本を2冊持つ図書館（RAID 1）。1冊をなくしても読めますが、落書きは両方に付きます。故障には強くても、書き間違いや削除は防げません。
【こんな場面で】
NASを買うとき「RAID 1に対応」と書いてある、サーバーのHDDが1台壊れても止めずに交換できる、といった場面で出てきます。
【勘違い・つまずき】
RAIDはバックアップの代わりになりません。ドライブの故障には備えられますが、誤って消したファイルや、ウイルスで壊されたデータは、すべてのドライブで同じように失われます。
【最初の学び方】
紙にドライブ3〜4台の図を描き、RAID 0・1・5で「データがどう分かれて書かれるか」「1台壊れたらどうなるか」を矢印で書き込んでみましょう。
【つながり】
・RAID →（束ねる）→ HDD
・RAID →（束ねる）→ SSD
・NAS →（使う）→ RAID
・RAID ⇄（ちがい）⇄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（スライド95／資料の該当箇所：編集者による補足（RAID））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複数のドライブを組み合わせて、速さや故障への強さを高める技術。
【どこの話？】
層：ハードウェア（機械・部品そのもの）
場所：パソコン・サーバー・NASの中にある、複数のドライブを組み合わせて使う技術。
【くわしく】
RAIDは、複数のHDDやSSDを、1つの大きなドライブのように組み合わせる技術です。組み合わせ方（RAIDレベル）で、速さ・容量・故障への強さの性格が変わります。
RAID 0は、データを複数のドライブに分けて書き、速さと容量を増やしますが、1台壊れると全体が失われます。RAID 1は、同じデータを2台に同時に書き（ミラーリング）、1台壊れても残りで使えます。
RAID 5は、3台以上で、データと「パリティ」（失われたデータを計算で復元するための情報）を分散して書きます。1台壊れても復元でき、容量の無駄も少ない方式です。2台壊れると失われます。
OSの機能（ソフトウェアRAID）や専用の部品（RAIDコントローラー）で実現し、サーバーやNASで、故障に備えるために使われます。
【たとえるなら】
同じ本を2冊持つ図書館（RAID 1）。1冊をなくしても読めますが、落書きは両方に付きます。故障には強くても、書き間違いや削除は防げません。
【こんな場面で】
NASを買うとき「RAID 1に対応」と書いてある、サーバーのHDDが1台壊れても止めずに交換できる、といった場面で出てきます。
【勘違い・つまずき】
RAIDはバックアップの代わりになりません。ドライブの故障には備えられますが、誤って消したファイルや、ウイルスで壊されたデータは、すべてのドライブで同じように失われます。
【最初の学び方】
紙にドライブ3〜4台の図を描き、RAID 0・1・5で「データがどう分かれて書かれるか」「1台壊れたらどうなるか」を矢印で書き込んでみましょう。
【つながり】
・RAID →（束ねる）→ HDD
・RAID →（束ねる）→ SSD
・NAS →（使う）→ RAID
・RAID ⇄（ちがい）⇄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（スライド96／資料の該当箇所：編集者による補足（RAID））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表は代表的なRAIDの種類です。「1台故障」列で、1台壊れたときにデータが残るかを示します。
【用語】
・RAID 0：複数のドライブに分けて書く（ストライピング）。速いが冗長性がない。
・RAID 1：同じデータを2台に書く（ミラーリング）。
・RAID 5：データと「パリティ（誤り訂正の情報）」を分散して書く。3台以上。
・RAID 6：パリティを2種類書く。2台の故障まで耐える。4台以上。
・RAID 10：ミラーリングとストライピングの組み合わせ。
【よくある誤解】
RAIDを組んでいれば「バックアップ不要」ではありません。誤って消した、ウイルスで壊された、といった変更は、すべてのドライブに同じように反映されます（貼り付けの記載：バックアップは別に必要）。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（スライド97／資料の該当箇所：ストレージ「混同しやすい点：RAIDとバックアップ」）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表は代表的なRAIDの種類です。「1台故障」列で、1台壊れたときにデータが残るかを示します。
【用語】
・RAID 0：複数のドライブに分けて書く（ストライピング）。速いが冗長性がない。
・RAID 1：同じデータを2台に書く（ミラーリング）。
・RAID 5：データと「パリティ（誤り訂正の情報）」を分散して書く。3台以上。
・RAID 6：パリティを2種類書く。2台の故障まで耐える。4台以上。
・RAID 10：ミラーリングとストライピングの組み合わせ。
【よくある誤解】
RAIDを組んでいれば「バックアップ不要」ではありません。誤って消した、ウイルスで壊された、といった変更は、すべてのドライブに同じように反映されます（貼り付けの記載：バックアップは別に必要）。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（スライド98／資料の該当箇所：ストレージ「混同しやすい点：RAIDとバックアップ」）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左が混同しやすい組、右が違いです。本文は貼り付けの記載のとおりです。
【身近な例】
・メモリとストレージ：作業机と倉庫
・RAIDとバックアップ：「壊れても動く」と「消しても戻せる」
・NVMeとM.2：道路の種類と、コンセントの形
・ストレージとデータベース：倉庫と、倉庫の中の整理棚
【なぜ重要か】
この4組は、質問票の回答や面談で聞かれたときに、取り違えやすい用語です。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（スライド99／資料の該当箇所：ストレージ「混同しやすい点」）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左が混同しやすい組、右が違いです。本文は貼り付けの記載のとおりです。
【身近な例】
・メモリとストレージ：作業机と倉庫
・RAIDとバックアップ：「壊れても動く」と「消しても戻せる」
・NVMeとM.2：道路の種類と、コンセントの形
・ストレージとデータベース：倉庫と、倉庫の中の整理棚
【なぜ重要か】
この4組は、質問票の回答や面談で聞かれたときに、取り違えやすい用語です。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（スライド100／資料の該当箇所：ストレージ「混同しやすい点」）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左から右へ、利用者の依頼が下の層へ進みます。注文表のデータは、最後にSSDなどのストレージにファイルとして保存されます。
【よくある誤解】
「データベースを使う」と「ストレージに保存する」は同じではありません。データベースは、保存の上に「整理・検索・更新の仕組み」を足したものです。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（スライド101／資料の該当箇所：ストレージ「ストレージとデータベース」）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上の表が、注文情報を管理する例（貼り付けの例）です。下の3つが、データベースでできることです。
【処理の詳細】
・注文番号101は田中さんがノートを2個、102は鈴木さんがペンを1個、という情報です。
・「田中さんの注文だけを取り出す」「商品ごとの売上を集計する」は、貼り付けにある処理の例です。
【よくある誤解】
Excelの表との違い：データベースは、多人数が同時に使う・大量のデータを扱う・間違いを防ぐ、といった仕組みを備えています。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（スライド102／資料の該当箇所：データベース「質問12・13」）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表の横一列（行）が1件のデータ、縦の並び（列）が項目です。
【用語】
・行（レコード）：1件分のデータ。
・列（カラム）：データの項目（購入者、商品など）。
・主キー：行を1つに特定できる値。注文番号のように重複しない。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（スライド103／資料の該当箇所：データベース「質問12・13」）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左のアプリが、SQLでDBMSにお願いします。DBMSがデータベース（表）を読み書きします。DBMSが動くコンピューターを、データベースサーバーと呼びます。
【用語】
・DB：データのまとまり。
・DBMS：データベースを管理するソフトウェア（貼り付けの記載）。
・DBサーバー：データベースの機能を他のアプリやPCに提供するサーバー（貼り付けの記載）。
・SQL：データベースの検索・登録・更新などに使う言語（貼り付けの記載）。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（スライド104／資料の該当箇所：データベース「用語」）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上から下へ読みます。アプリがSQLでDBMSにお願いし、DBMSがDB（データの表）を管理し、最後はストレージに保存されます。DBサーバーは、DBMSを動かす機械です。RDBは、DBが表でデータを管理する方式です。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（スライド105／資料の該当箇所：データベース）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たくさんの情報を、探しやすく壊れにくいように整理して蓄えたもの。
【どこの話？】
層：ミドルウェア（アプリを支える土台のソフト）
場所：Webアプリなどの裏側にある、データを預かる土台（ミドルウェア）の層の話。
【くわしく】
データベース（DB）は、情報を決まった形に整理してためておく仕組みです。学校の生徒名簿、成績表、図書室の貸出記録のように、あとで探したり書き換えたりするデータを入れておきます。
ただのファイルと違い、大勢が同時に使っても内容が食い違わないように守る仕組みと、大量のデータから素早く探す仕組みを備えています。そのためネットのサービスの裏側で広く使われます。
ここで3つを区別しましょう。データベース＝中身のデータ（整理された情報の集まり）、DBMS＝それを管理するソフト、データベースサーバー＝DBMSを動かす機械です。日常では全部まとめて「DB」と呼ぶこともあります。
【たとえるなら】
学校の図書室の蔵書。本（データ）が分類されて棚に並び、貸出の記録も残っているので、誰がどの本を借りたかがすぐ分かります。
【こんな場面で】
ゲームのアカウントと持ち物、ネット通販の商品と注文履歴、コンビニの商品と在庫数など、記録して後で取り出す情報はデータベースで管理されています。
【勘違い・つまずき】
「DB」は、データそのものを指す場合と、DBを動かす製品（OracleやMySQLなど）を指す場合があります。話の中で、どちらの意味か確かめましょう。
【最初の学び方】
好きな本やゲームを10個、「タイトル・ジャンル・評価」の表に書き出してみましょう。これがデータベースの「表」の考え方の第一歩です。
【つながり】
・DBMS →（管理する）→ DB
・SQL →（操作する）→ DB
・RDB →（種類のひとつ）→ DB
・ストレージ →（置き場になる）→ DB
・アプリサーバー →（使う）→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（スライド106／資料の該当箇所：ご提供の用語解説（DB（データベース）））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たくさんの情報を、探しやすく壊れにくいように整理して蓄えたもの。
【どこの話？】
層：ミドルウェア（アプリを支える土台のソフト）
場所：Webアプリなどの裏側にある、データを預かる土台（ミドルウェア）の層の話。
【くわしく】
データベース（DB）は、情報を決まった形に整理してためておく仕組みです。学校の生徒名簿、成績表、図書室の貸出記録のように、あとで探したり書き換えたりするデータを入れておきます。
ただのファイルと違い、大勢が同時に使っても内容が食い違わないように守る仕組みと、大量のデータから素早く探す仕組みを備えています。そのためネットのサービスの裏側で広く使われます。
ここで3つを区別しましょう。データベース＝中身のデータ（整理された情報の集まり）、DBMS＝それを管理するソフト、データベースサーバー＝DBMSを動かす機械です。日常では全部まとめて「DB」と呼ぶこともあります。
【たとえるなら】
学校の図書室の蔵書。本（データ）が分類されて棚に並び、貸出の記録も残っているので、誰がどの本を借りたかがすぐ分かります。
【こんな場面で】
ゲームのアカウントと持ち物、ネット通販の商品と注文履歴、コンビニの商品と在庫数など、記録して後で取り出す情報はデータベースで管理されています。
【勘違い・つまずき】
「DB」は、データそのものを指す場合と、DBを動かす製品（OracleやMySQLなど）を指す場合があります。話の中で、どちらの意味か確かめましょう。
【最初の学び方】
好きな本やゲームを10個、「タイトル・ジャンル・評価」の表に書き出してみましょう。これがデータベースの「表」の考え方の第一歩です。
【つながり】
・DBMS →（管理する）→ DB
・SQL →（操作する）→ DB
・RDB →（種類のひとつ）→ DB
・ストレージ →（置き場になる）→ DB
・アプリサーバー →（使う）→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（スライド107／資料の該当箇所：ご提供の用語解説（DB（データベース）））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たくさんの情報を、探しやすく壊れにくいように整理して蓄えたもの。
【どこの話？】
層：ミドルウェア（アプリを支える土台のソフト）
場所：Webアプリなどの裏側にある、データを預かる土台（ミドルウェア）の層の話。
【くわしく】
データベース（DB）は、情報を決まった形に整理してためておく仕組みです。学校の生徒名簿、成績表、図書室の貸出記録のように、あとで探したり書き換えたりするデータを入れておきます。
ただのファイルと違い、大勢が同時に使っても内容が食い違わないように守る仕組みと、大量のデータから素早く探す仕組みを備えています。そのためネットのサービスの裏側で広く使われます。
ここで3つを区別しましょう。データベース＝中身のデータ（整理された情報の集まり）、DBMS＝それを管理するソフト、データベースサーバー＝DBMSを動かす機械です。日常では全部まとめて「DB」と呼ぶこともあります。
【たとえるなら】
学校の図書室の蔵書。本（データ）が分類されて棚に並び、貸出の記録も残っているので、誰がどの本を借りたかがすぐ分かります。
【こんな場面で】
ゲームのアカウントと持ち物、ネット通販の商品と注文履歴、コンビニの商品と在庫数など、記録して後で取り出す情報はデータベースで管理されています。
【勘違い・つまずき】
「DB」は、データそのものを指す場合と、DBを動かす製品（OracleやMySQLなど）を指す場合があります。話の中で、どちらの意味か確かめましょう。
【最初の学び方】
好きな本やゲームを10個、「タイトル・ジャンル・評価」の表に書き出してみましょう。これがデータベースの「表」の考え方の第一歩です。
【つながり】
・DBMS →（管理する）→ DB
・SQL →（操作する）→ DB
・RDB →（種類のひとつ）→ DB
・ストレージ →（置き場になる）→ DB
・アプリサーバー →（使う）→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（スライド108／資料の該当箇所：ご提供の用語解説（DB（データベース）））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データの出し入れ・アクセス権・同時利用の順番を、まとめて管理するソフトウェア。
【どこの話？】
層：ミドルウェア（アプリを支える土台のソフト）
場所：サーバーやクラウドの中で動き続ける、データ管理専用のソフトウェア。
【くわしく】
DBMS（データベース管理システム）は、データベースを管理するソフトウェアです。アプリから「このデータを保存して」「この条件で探して」と頼まれると、DBMSが実際にデータを書き込んだり読み出したりします。
主な仕事は、保存と検索、誰が見てよいかの権限（鍵）の管理、同時に使う人の順番の整理、故障したときの復旧などです。アプリは、データがどこにどう並んでいるかを気にしなくて済みます。
この章に出てくるOracle Database、PostgreSQL、MySQL、MongoDBなどの製品名は、どれもDBMSの名前です。データはSSDなどのストレージに保存され、DBMSがそれを出し入れします。
【たとえるなら】
図書室の司書さん。本（データ）の貸出・返却の受付、借りてよい人の確認、同じ本を2人が借りないようにする調整をしてくれます。
【こんな場面で】
チケット販売で同じ席を2人が同時に申し込んでも、二重に売れないようにする。そのために、DBMSが処理の順番を整理し、データが食い違わないよう守っています。
【勘違い・つまずき】
「データベース」と「DBMS」は別物です。データベースは中身のデータ、DBMSはそれを管理するソフトです。製品名（MySQLなど）はDBMSの名前です。
【最初の学び方】
「DBMSという大きな箱の中にデータベースがあり、その中に表がある」という絵を描いてみましょう。三つの言葉の関係が整理できます。
【つながり】
・DBMS →（管理する）→ DB
・SQL →（命令を送る）→ DBMS
・DBサーバー →（動かす）→ DBMS
・DBMS →（書き込む）→ ストレージ
・OS →（土台になる）→ DBMS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（スライド109／資料の該当箇所：ご提供の用語解説（DBMS））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データの出し入れ・アクセス権・同時利用の順番を、まとめて管理するソフトウェア。
【どこの話？】
層：ミドルウェア（アプリを支える土台のソフト）
場所：サーバーやクラウドの中で動き続ける、データ管理専用のソフトウェア。
【くわしく】
DBMS（データベース管理システム）は、データベースを管理するソフトウェアです。アプリから「このデータを保存して」「この条件で探して」と頼まれると、DBMSが実際にデータを書き込んだり読み出したりします。
主な仕事は、保存と検索、誰が見てよいかの権限（鍵）の管理、同時に使う人の順番の整理、故障したときの復旧などです。アプリは、データがどこにどう並んでいるかを気にしなくて済みます。
この章に出てくるOracle Database、PostgreSQL、MySQL、MongoDBなどの製品名は、どれもDBMSの名前です。データはSSDなどのストレージに保存され、DBMSがそれを出し入れします。
【たとえるなら】
図書室の司書さん。本（データ）の貸出・返却の受付、借りてよい人の確認、同じ本を2人が借りないようにする調整をしてくれます。
【こんな場面で】
チケット販売で同じ席を2人が同時に申し込んでも、二重に売れないようにする。そのために、DBMSが処理の順番を整理し、データが食い違わないよう守っています。
【勘違い・つまずき】
「データベース」と「DBMS」は別物です。データベースは中身のデータ、DBMSはそれを管理するソフトです。製品名（MySQLなど）はDBMSの名前です。
【最初の学び方】
「DBMSという大きな箱の中にデータベースがあり、その中に表がある」という絵を描いてみましょう。三つの言葉の関係が整理できます。
【つながり】
・DBMS →（管理する）→ DB
・SQL →（命令を送る）→ DBMS
・DBサーバー →（動かす）→ DBMS
・DBMS →（書き込む）→ ストレージ
・OS →（土台になる）→ DBMS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（スライド110／資料の該当箇所：ご提供の用語解説（DBMS））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データの出し入れ・アクセス権・同時利用の順番を、まとめて管理するソフトウェア。
【どこの話？】
層：ミドルウェア（アプリを支える土台のソフト）
場所：サーバーやクラウドの中で動き続ける、データ管理専用のソフトウェア。
【くわしく】
DBMS（データベース管理システム）は、データベースを管理するソフトウェアです。アプリから「このデータを保存して」「この条件で探して」と頼まれると、DBMSが実際にデータを書き込んだり読み出したりします。
主な仕事は、保存と検索、誰が見てよいかの権限（鍵）の管理、同時に使う人の順番の整理、故障したときの復旧などです。アプリは、データがどこにどう並んでいるかを気にしなくて済みます。
この章に出てくるOracle Database、PostgreSQL、MySQL、MongoDBなどの製品名は、どれもDBMSの名前です。データはSSDなどのストレージに保存され、DBMSがそれを出し入れします。
【たとえるなら】
図書室の司書さん。本（データ）の貸出・返却の受付、借りてよい人の確認、同じ本を2人が借りないようにする調整をしてくれます。
【こんな場面で】
チケット販売で同じ席を2人が同時に申し込んでも、二重に売れないようにする。そのために、DBMSが処理の順番を整理し、データが食い違わないよう守っています。
【勘違い・つまずき】
「データベース」と「DBMS」は別物です。データベースは中身のデータ、DBMSはそれを管理するソフトです。製品名（MySQLなど）はDBMSの名前です。
【最初の学び方】
「DBMSという大きな箱の中にデータベースがあり、その中に表がある」という絵を描いてみましょう。三つの言葉の関係が整理できます。
【つながり】
・DBMS →（管理する）→ DB
・SQL →（命令を送る）→ DBMS
・DBサーバー →（動かす）→ DBMS
・DBMS →（書き込む）→ ストレージ
・OS →（土台になる）→ DBMS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（スライド111／資料の該当箇所：ご提供の用語解説（DBMS））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行と列の「表」を作り、表どうしを共通の番号でつないで管理するデータベース。
【どこの話？】
層：ミドルウェア（アプリを支える土台のソフト）
場所：アプリの裏側でデータを預かる、データベースの作り方（方式）のひとつ。
【くわしく】
リレーショナルデータベース（RDB）は、データを「表」の形で保存する方式です。表は、1件分のデータを入れる行と、項目を表す列でできていて、Excelの表によく似ています。
RDBの特徴は、表どうしを共通の番号（キー）でつなげられることです。「顧客表」と「注文表」を顧客番号でつなぐと、名前や住所を何度も書かずに、注文から顧客を調べられます。
このように1つの情報を1か所にだけ書くので、住所が変わっても直すのは1か所で済みます。操作にはSQLを使い、Oracle Database、PostgreSQL、MySQL、Db2、SQL Serverなどが代表的な製品です。
【たとえるなら】
学校の「生徒名簿」と「部活の出席表」。出席表には生徒番号だけを書き、名前や住所は名簿で調べます。番号が2つの表をつなぐ橋です。
【こんな場面で】
たとえば通販サイトの「注文履歴」は、あなたの注文の行と、商品表の名前や価格を、番号でつないで表示する作りにできます。
【勘違い・つまずき】
RDBは方式の名前で、製品名ではありません。MySQLやOracle Databaseなどの個別の製品がRDBの仲間です。MongoDBのように表を使わないDBもあります。
【最初の学び方】
「顧客表（顧客番号・名前）」と「注文表（注文番号・顧客番号・商品名）」を紙に書き、顧客番号を使って「誰の注文か」を追ってみましょう。
【つながり】
・RDB →（種類のひとつ）→ DB
・SQL →（操作する）→ RDB
・PostgreSQL →（製品の例）→ RDB
・RDB ⇄（ちがい）⇄ MongoDB
・RDB ⇄（見た目が似る）⇄ Excel集計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（スライド112／資料の該当箇所：ご提供の用語解説（リレーショナルデータベース（RDB）））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行と列の「表」を作り、表どうしを共通の番号でつないで管理するデータベース。
【どこの話？】
層：ミドルウェア（アプリを支える土台のソフト）
場所：アプリの裏側でデータを預かる、データベースの作り方（方式）のひとつ。
【くわしく】
リレーショナルデータベース（RDB）は、データを「表」の形で保存する方式です。表は、1件分のデータを入れる行と、項目を表す列でできていて、Excelの表によく似ています。
RDBの特徴は、表どうしを共通の番号（キー）でつなげられることです。「顧客表」と「注文表」を顧客番号でつなぐと、名前や住所を何度も書かずに、注文から顧客を調べられます。
このように1つの情報を1か所にだけ書くので、住所が変わっても直すのは1か所で済みます。操作にはSQLを使い、Oracle Database、PostgreSQL、MySQL、Db2、SQL Serverなどが代表的な製品です。
【たとえるなら】
学校の「生徒名簿」と「部活の出席表」。出席表には生徒番号だけを書き、名前や住所は名簿で調べます。番号が2つの表をつなぐ橋です。
【こんな場面で】
たとえば通販サイトの「注文履歴」は、あなたの注文の行と、商品表の名前や価格を、番号でつないで表示する作りにできます。
【勘違い・つまずき】
RDBは方式の名前で、製品名ではありません。MySQLやOracle Databaseなどの個別の製品がRDBの仲間です。MongoDBのように表を使わないDBもあります。
【最初の学び方】
「顧客表（顧客番号・名前）」と「注文表（注文番号・顧客番号・商品名）」を紙に書き、顧客番号を使って「誰の注文か」を追ってみましょう。
【つながり】
・RDB →（種類のひとつ）→ DB
・SQL →（操作する）→ RDB
・PostgreSQL →（製品の例）→ RDB
・RDB ⇄（ちがい）⇄ MongoDB
・RDB ⇄（見た目が似る）⇄ Excel集計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（スライド113／資料の該当箇所：ご提供の用語解説（リレーショナルデータベース（RDB）））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行と列の「表」を作り、表どうしを共通の番号でつないで管理するデータベース。
【どこの話？】
層：ミドルウェア（アプリを支える土台のソフト）
場所：アプリの裏側でデータを預かる、データベースの作り方（方式）のひとつ。
【くわしく】
リレーショナルデータベース（RDB）は、データを「表」の形で保存する方式です。表は、1件分のデータを入れる行と、項目を表す列でできていて、Excelの表によく似ています。
RDBの特徴は、表どうしを共通の番号（キー）でつなげられることです。「顧客表」と「注文表」を顧客番号でつなぐと、名前や住所を何度も書かずに、注文から顧客を調べられます。
このように1つの情報を1か所にだけ書くので、住所が変わっても直すのは1か所で済みます。操作にはSQLを使い、Oracle Database、PostgreSQL、MySQL、Db2、SQL Serverなどが代表的な製品です。
【たとえるなら】
学校の「生徒名簿」と「部活の出席表」。出席表には生徒番号だけを書き、名前や住所は名簿で調べます。番号が2つの表をつなぐ橋です。
【こんな場面で】
たとえば通販サイトの「注文履歴」は、あなたの注文の行と、商品表の名前や価格を、番号でつないで表示する作りにできます。
【勘違い・つまずき】
RDBは方式の名前で、製品名ではありません。MySQLやOracle Databaseなどの個別の製品がRDBの仲間です。MongoDBのように表を使わないDBもあります。
【最初の学び方】
「顧客表（顧客番号・名前）」と「注文表（注文番号・顧客番号・商品名）」を紙に書き、顧客番号を使って「誰の注文か」を追ってみましょう。
【つながり】
・RDB →（種類のひとつ）→ DB
・SQL →（操作する）→ RDB
・PostgreSQL →（製品の例）→ RDB
・RDB ⇄（ちがい）⇄ MongoDB
・RDB ⇄（見た目が似る）⇄ Excel集計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（スライド114／資料の該当箇所：ご提供の用語解説（リレーショナルデータベース（RDB）））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行と列の「表」を作り、表どうしを共通の番号でつないで管理するデータベース。
【どこの話？】
層：ミドルウェア（アプリを支える土台のソフト）
場所：アプリの裏側でデータを預かる、データベースの作り方（方式）のひとつ。
【くわしく】
リレーショナルデータベース（RDB）は、データを「表」の形で保存する方式です。表は、1件分のデータを入れる行と、項目を表す列でできていて、Excelの表によく似ています。
RDBの特徴は、表どうしを共通の番号（キー）でつなげられることです。「顧客表」と「注文表」を顧客番号でつなぐと、名前や住所を何度も書かずに、注文から顧客を調べられます。
このように1つの情報を1か所にだけ書くので、住所が変わっても直すのは1か所で済みます。操作にはSQLを使い、Oracle Database、PostgreSQL、MySQL、Db2、SQL Serverなどが代表的な製品です。
【たとえるなら】
学校の「生徒名簿」と「部活の出席表」。出席表には生徒番号だけを書き、名前や住所は名簿で調べます。番号が2つの表をつなぐ橋です。
【こんな場面で】
たとえば通販サイトの「注文履歴」は、あなたの注文の行と、商品表の名前や価格を、番号でつないで表示する作りにできます。
【勘違い・つまずき】
RDBは方式の名前で、製品名ではありません。MySQLやOracle Databaseなどの個別の製品がRDBの仲間です。MongoDBのように表を使わないDBもあります。
【最初の学び方】
「顧客表（顧客番号・名前）」と「注文表（注文番号・顧客番号・商品名）」を紙に書き、顧客番号を使って「誰の注文か」を追ってみましょう。
【つながり】
・RDB →（種類のひとつ）→ DB
・SQL →（操作する）→ RDB
・PostgreSQL →（製品の例）→ RDB
・RDB ⇄（ちがい）⇄ MongoDB
・RDB ⇄（見た目が似る）⇄ Excel集計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（スライド115／資料の該当箇所：ご提供の用語解説（リレーショナルデータベース（RDB）））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データベースに「こういうデータを探して・足して・直して」と頼む言語。
【どこの話？】
層：ミドルウェア・アプリ（アプリを支える土台のソフト）
場所：アプリからDBMSへ送る命令文。頼む側と受ける側をつなぐ言葉。
【くわしく】
SQL（エスキューエル）は、リレーショナルデータベースを操作するための言語です。手順を細かく書くのではなく、「何がほしいか」を英語に近い文で伝えると、DBMSが探し方を考えてくれます。
基本は4つの命令です。SELECT（探して取り出す）、INSERT（追加する）、UPDATE（書き換える）、DELETE（消す）。例えば「商品表から値段が500円の商品名を取り出す」は SELECT name FROM products WHERE price = 500; と書きます。
SQLには国際的な標準（決まり）があるため、Oracle Database、PostgreSQL、MySQLなど多くの製品で基本の書き方は共通です。ただし製品ごとの独自の書き方もあり、細かい点は違います。
【たとえるなら】
司書さんに渡す依頼メモ。「小説の棚から、夏目漱石の本を全部持ってきて」と書いて渡せば、探し方は司書さん（DBMS）が考えてくれます。
【こんな場面で】
多くのWebサービスは、検索やログインのたびにプログラムがSQLを作ってデータベースへ送っています。データ分析の仕事でも、SQLで必要な集計を取り出します。
【勘違い・つまずき】
SQLは「頼むための言語」で、データベースの種類や製品ではありません。MySQLやSQL Serverは名前にSQLを含みますが、言語ではなく製品名です。
【最初の学び方】
無料のSQL練習サイト（ブラウザで動くもの）で、SELECT文を5問解いてみましょう。インストール不要で、「条件を書いて探す」感覚がつかめます。
【つながり】
・SQL →（操作する）→ RDB
・SQL →（命令を送る）→ DBMS
・アプリサーバー →（書いて送る）→ SQL
・データ分析 →（使う）→ SQL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（スライド116／資料の該当箇所：ご提供の用語解説（SQL））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データベースに「こういうデータを探して・足して・直して」と頼む言語。
【どこの話？】
層：ミドルウェア・アプリ（アプリを支える土台のソフト）
場所：アプリからDBMSへ送る命令文。頼む側と受ける側をつなぐ言葉。
【くわしく】
SQL（エスキューエル）は、リレーショナルデータベースを操作するための言語です。手順を細かく書くのではなく、「何がほしいか」を英語に近い文で伝えると、DBMSが探し方を考えてくれます。
基本は4つの命令です。SELECT（探して取り出す）、INSERT（追加する）、UPDATE（書き換える）、DELETE（消す）。例えば「商品表から値段が500円の商品名を取り出す」は SELECT name FROM products WHERE price = 500; と書きます。
SQLには国際的な標準（決まり）があるため、Oracle Database、PostgreSQL、MySQLなど多くの製品で基本の書き方は共通です。ただし製品ごとの独自の書き方もあり、細かい点は違います。
【たとえるなら】
司書さんに渡す依頼メモ。「小説の棚から、夏目漱石の本を全部持ってきて」と書いて渡せば、探し方は司書さん（DBMS）が考えてくれます。
【こんな場面で】
多くのWebサービスは、検索やログインのたびにプログラムがSQLを作ってデータベースへ送っています。データ分析の仕事でも、SQLで必要な集計を取り出します。
【勘違い・つまずき】
SQLは「頼むための言語」で、データベースの種類や製品ではありません。MySQLやSQL Serverは名前にSQLを含みますが、言語ではなく製品名です。
【最初の学び方】
無料のSQL練習サイト（ブラウザで動くもの）で、SELECT文を5問解いてみましょう。インストール不要で、「条件を書いて探す」感覚がつかめます。
【つながり】
・SQL →（操作する）→ RDB
・SQL →（命令を送る）→ DBMS
・アプリサーバー →（書いて送る）→ SQL
・データ分析 →（使う）→ SQL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（スライド117／資料の該当箇所：ご提供の用語解説（SQL））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データベースに「こういうデータを探して・足して・直して」と頼む言語。
【どこの話？】
層：ミドルウェア・アプリ（アプリを支える土台のソフト）
場所：アプリからDBMSへ送る命令文。頼む側と受ける側をつなぐ言葉。
【くわしく】
SQL（エスキューエル）は、リレーショナルデータベースを操作するための言語です。手順を細かく書くのではなく、「何がほしいか」を英語に近い文で伝えると、DBMSが探し方を考えてくれます。
基本は4つの命令です。SELECT（探して取り出す）、INSERT（追加する）、UPDATE（書き換える）、DELETE（消す）。例えば「商品表から値段が500円の商品名を取り出す」は SELECT name FROM products WHERE price = 500; と書きます。
SQLには国際的な標準（決まり）があるため、Oracle Database、PostgreSQL、MySQLなど多くの製品で基本の書き方は共通です。ただし製品ごとの独自の書き方もあり、細かい点は違います。
【たとえるなら】
司書さんに渡す依頼メモ。「小説の棚から、夏目漱石の本を全部持ってきて」と書いて渡せば、探し方は司書さん（DBMS）が考えてくれます。
【こんな場面で】
多くのWebサービスは、検索やログインのたびにプログラムがSQLを作ってデータベースへ送っています。データ分析の仕事でも、SQLで必要な集計を取り出します。
【勘違い・つまずき】
SQLは「頼むための言語」で、データベースの種類や製品ではありません。MySQLやSQL Serverは名前にSQLを含みますが、言語ではなく製品名です。
【最初の学び方】
無料のSQL練習サイト（ブラウザで動くもの）で、SELECT文を5問解いてみましょう。インストール不要で、「条件を書いて探す」感覚がつかめます。
【つながり】
・SQL →（操作する）→ RDB
・SQL →（命令を送る）→ DBMS
・アプリサーバー →（書いて送る）→ SQL
・データ分析 →（使う）→ SQL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（スライド118／資料の該当箇所：ご提供の用語解説（SQL））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データベースに「こういうデータを探して・足して・直して」と頼む言語。
【どこの話？】
層：ミドルウェア・アプリ（アプリを支える土台のソフト）
場所：アプリからDBMSへ送る命令文。頼む側と受ける側をつなぐ言葉。
【くわしく】
SQL（エスキューエル）は、リレーショナルデータベースを操作するための言語です。手順を細かく書くのではなく、「何がほしいか」を英語に近い文で伝えると、DBMSが探し方を考えてくれます。
基本は4つの命令です。SELECT（探して取り出す）、INSERT（追加する）、UPDATE（書き換える）、DELETE（消す）。例えば「商品表から値段が500円の商品名を取り出す」は SELECT name FROM products WHERE price = 500; と書きます。
SQLには国際的な標準（決まり）があるため、Oracle Database、PostgreSQL、MySQLなど多くの製品で基本の書き方は共通です。ただし製品ごとの独自の書き方もあり、細かい点は違います。
【たとえるなら】
司書さんに渡す依頼メモ。「小説の棚から、夏目漱石の本を全部持ってきて」と書いて渡せば、探し方は司書さん（DBMS）が考えてくれます。
【こんな場面で】
多くのWebサービスは、検索やログインのたびにプログラムがSQLを作ってデータベースへ送っています。データ分析の仕事でも、SQLで必要な集計を取り出します。
【勘違い・つまずき】
SQLは「頼むための言語」で、データベースの種類や製品ではありません。MySQLやSQL Serverは名前にSQLを含みますが、言語ではなく製品名です。
【最初の学び方】
無料のSQL練習サイト（ブラウザで動くもの）で、SELECT文を5問解いてみましょう。インストール不要で、「条件を書いて探す」感覚がつかめます。
【つながり】
・SQL →（操作する）→ RDB
・SQL →（命令を送る）→ DBMS
・アプリサーバー →（書いて送る）→ SQL
・データ分析 →（使う）→ SQL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（スライド119／資料の該当箇所：ご提供の用語解説（SQL））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データベース（DBMS）を動かして、他のアプリやPCに提供する専用の機械。
【どこの話？】
層：ハードウェア・ミドルウェア（機械・部品そのもの）
場所：会社のサーバー室やクラウドにある、データベース専用の機械（とその上のソフト）。
【くわしく】
データベースサーバーは、DBMS（データベースを管理するソフト）を動かし、データの出し入れをネットワーク越しに引き受けるサーバーです。機械そのもの（ハードウェア）を指すことも、その上のDBMSを指すこともあります。
3つの区別を確認しましょう。データベース＝中身のデータ（整理された情報の集まり）、DBMS＝それを管理するソフト、データベースサーバー＝DBMSを動かす機械です。この3つがそろって「DBが動いている」状態になります。
DBを専用の機械に分けるのは、アプリの処理とDBの処理を別々に強くできるからです。大きなメモリや速いストレージ（SSDなど）を積み、故障に備えて同じ機械を複数台そろえることもあります。
【たとえるなら】
図書館の建物。書庫（ストレージ）に本（データ）が並び、司書さん（DBMS）が常駐しています。利用者は窓口から頼み、書庫には直接入りません。
【こんな場面で】
会社の業務システムでは、画面を動かすアプリのサーバーとは別に、データだけを預かるDBサーバーが置かれます。クラウドでは、運用を提供会社に任せる形もあります。
【勘違い・つまずき】
「データベース」「DBMS」「DBサーバー」は同じではありません。データ、管理ソフト、動かす機械の3つです。練習では1台のPCに全部入れることもあります。
【最初の学び方】
PostgreSQLなどをPCに入れ、別のプログラムから接続してみましょう。自分のPCがDBサーバーになり、サーバーとクライアントの関係を体験できます。
【つながり】
・DBサーバー →（動かす）→ DBMS
・DBサーバー →（データを置く）→ ストレージ
・ハードウェア →（実体になる）→ DBサーバー
・アプリサーバー →（接続する）→ DBサーバー
・DBサーバー →（サーバーの一種）→ サーバーとクライアント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（スライド120／資料の該当箇所：ご提供の用語解説（データベースサーバー））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データベース（DBMS）を動かして、他のアプリやPCに提供する専用の機械。
【どこの話？】
層：ハードウェア・ミドルウェア（機械・部品そのもの）
場所：会社のサーバー室やクラウドにある、データベース専用の機械（とその上のソフト）。
【くわしく】
データベースサーバーは、DBMS（データベースを管理するソフト）を動かし、データの出し入れをネットワーク越しに引き受けるサーバーです。機械そのもの（ハードウェア）を指すことも、その上のDBMSを指すこともあります。
3つの区別を確認しましょう。データベース＝中身のデータ（整理された情報の集まり）、DBMS＝それを管理するソフト、データベースサーバー＝DBMSを動かす機械です。この3つがそろって「DBが動いている」状態になります。
DBを専用の機械に分けるのは、アプリの処理とDBの処理を別々に強くできるからです。大きなメモリや速いストレージ（SSDなど）を積み、故障に備えて同じ機械を複数台そろえることもあります。
【たとえるなら】
図書館の建物。書庫（ストレージ）に本（データ）が並び、司書さん（DBMS）が常駐しています。利用者は窓口から頼み、書庫には直接入りません。
【こんな場面で】
会社の業務システムでは、画面を動かすアプリのサーバーとは別に、データだけを預かるDBサーバーが置かれます。クラウドでは、運用を提供会社に任せる形もあります。
【勘違い・つまずき】
「データベース」「DBMS」「DBサーバー」は同じではありません。データ、管理ソフト、動かす機械の3つです。練習では1台のPCに全部入れることもあります。
【最初の学び方】
PostgreSQLなどをPCに入れ、別のプログラムから接続してみましょう。自分のPCがDBサーバーになり、サーバーとクライアントの関係を体験できます。
【つながり】
・DBサーバー →（動かす）→ DBMS
・DBサーバー →（データを置く）→ ストレージ
・ハードウェア →（実体になる）→ DBサーバー
・アプリサーバー →（接続する）→ DBサーバー
・DBサーバー →（サーバーの一種）→ サーバーとクライアント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（スライド121／資料の該当箇所：ご提供の用語解説（データベースサーバー））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データベース（DBMS）を動かして、他のアプリやPCに提供する専用の機械。
【どこの話？】
層：ハードウェア・ミドルウェア（機械・部品そのもの）
場所：会社のサーバー室やクラウドにある、データベース専用の機械（とその上のソフト）。
【くわしく】
データベースサーバーは、DBMS（データベースを管理するソフト）を動かし、データの出し入れをネットワーク越しに引き受けるサーバーです。機械そのもの（ハードウェア）を指すことも、その上のDBMSを指すこともあります。
3つの区別を確認しましょう。データベース＝中身のデータ（整理された情報の集まり）、DBMS＝それを管理するソフト、データベースサーバー＝DBMSを動かす機械です。この3つがそろって「DBが動いている」状態になります。
DBを専用の機械に分けるのは、アプリの処理とDBの処理を別々に強くできるからです。大きなメモリや速いストレージ（SSDなど）を積み、故障に備えて同じ機械を複数台そろえることもあります。
【たとえるなら】
図書館の建物。書庫（ストレージ）に本（データ）が並び、司書さん（DBMS）が常駐しています。利用者は窓口から頼み、書庫には直接入りません。
【こんな場面で】
会社の業務システムでは、画面を動かすアプリのサーバーとは別に、データだけを預かるDBサーバーが置かれます。クラウドでは、運用を提供会社に任せる形もあります。
【勘違い・つまずき】
「データベース」「DBMS」「DBサーバー」は同じではありません。データ、管理ソフト、動かす機械の3つです。練習では1台のPCに全部入れることもあります。
【最初の学び方】
PostgreSQLなどをPCに入れ、別のプログラムから接続してみましょう。自分のPCがDBサーバーになり、サーバーとクライアントの関係を体験できます。
【つながり】
・DBサーバー →（動かす）→ DBMS
・DBサーバー →（データを置く）→ ストレージ
・ハードウェア →（実体になる）→ DBサーバー
・アプリサーバー →（接続する）→ DBサーバー
・DBサーバー →（サーバーの一種）→ サーバーとクライアント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（スライド122／資料の該当箇所：ご提供の用語解説（データベースサーバー））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黒い枠がSQL、下の3つのカードが読み方です。
【身近な例】
意味は「商品という表から、価格が1,000円未満の商品名と価格を取り出す」です（貼り付けの記載）。
【処理の詳細】
・SELECT：取り出す項目（列）を選ぶ。
・FROM：どの表から取り出すか。
・WHERE：どの条件の行だけを取り出すか。「価格 &lt; 1000」は、価格が1,000未満。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（スライド123／資料の該当箇所：データベース「SQLの例」）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黒い枠がSQL、下の3つのカードが読み方です。
【身近な例】
意味は「商品という表から、価格が1,000円未満の商品名と価格を取り出す」です（貼り付けの記載）。
【処理の詳細】
・SELECT：取り出す項目（列）を選ぶ。
・FROM：どの表から取り出すか。
・WHERE：どの条件の行だけを取り出すか。「価格 &lt; 1000」は、価格が1,000未満。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（スライド124／資料の該当箇所：データベース「SQLの例」）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左が元の商品表、右が結果です。価格が1,000円未満の2行だけが残ります。商品名・価格は説明用の例です。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（スライド125／資料の該当箇所：データベース「SQLの例」）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貼り付けは、SQLの学び方として「SELECT、INSERT、UPDATE、DELETEから学ぶ」としています。右の例は説明用です。
【よくある誤解】
UPDATEやDELETEは、WHEREを付け忘れると「すべての行」が対象になります。実行前に、同じ条件のSELECTで対象を確認する習慣が安全です。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（スライド126／資料の該当箇所：データベース「SQLの学び方」）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貼り付けは、SQLの学び方として「SELECT、INSERT、UPDATE、DELETEから学ぶ」としています。右の例は説明用です。
【よくある誤解】
UPDATEやDELETEは、WHEREを付け忘れると「すべての行」が対象になります。実行前に、同じ条件のSELECTで対象を確認する習慣が安全です。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（スライド127／資料の該当箇所：データベース「SQLの学び方」）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左が顧客表、右が注文表です。注文表の「顧客番号」が、顧客表の番号を指しています。貼り付けの学び方：顧客表と注文表を、顧客番号で結び付ける練習をする。
【用語】
・外部キー：他の表の主キーを参照する列。ここでは注文表の「顧客番号」。
【処理の詳細】
・田中さん（顧客番号1）の注文は、注文101（ノート）と103（定規）です。
・このように、情報を表に分けて、番号で結び付けることで、同じ情報（顧客の名前など）を何度も書かずに済みます。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（スライド128／資料の該当箇所：データベース「リレーショナルデータベース」）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Oracle社が提供する、企業の大きな業務システムで使われる商用のRDBMS。
【どこの話？】
層：ミドルウェア（アプリを支える土台のソフト）
場所：会社のサーバー室やクラウドで動く、有料のデータベース管理ソフト。
【くわしく】
Oracle Database（オラクル・データベース）は、ソフトウェア会社のOracleが開発・販売しているリレーショナルデータベース管理システム（RDBMS）です。有料のライセンスで使う商用製品として知られています。
会社の売上・在庫・会計などを扱う基幹システム（会社の中心になる業務システム）で、長く使われてきました。大量のデータの処理や、止まると困る場面のための機能が用意されています。
操作にはSQLを使いますが、Oracle独自の拡張（PL/SQLというプログラム言語など）もあります。他のDBへ移すときはSQLの書き換えが必要になることがあります。AWSなどのクラウドでも使えます。
【たとえるなら】
ショッピングモール全体の在庫を管理する業務用システム。市販のメーカー製品として導入し、メーカーのサポートを受けながら使う形が基本です。
【こんな場面で】
大企業の売上・在庫・会計を扱う基幹システムの設計資料に、「データベースはOracle」と書かれている場面があります。企業向けのシステムで名前を目にすることがあります。
【勘違い・つまずき】
「Oracle」は会社名でもあり、DB製品名でもあります。会社にはMySQLやWebLogicなどの製品もあるので、「Oracle」と聞いたらどの製品か確認しましょう。
【最初の学び方】
Oracleが用意する学習用の環境や無料で使える版（条件は公式サイトで確認）でSQLを試し、表の作成と検索をしてみましょう。
【つながり】
・Oracle Database →（種類のひとつ）→ DBMS
・SQL →（操作する）→ Oracle Database
・Oracle Database →（AWSで使える）→ AWSのDB
・Oracle Database ⇄（同じ会社）⇄ MySQL
・Oracle Database ⇄（同じ会社）⇄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（スライド129／資料の該当箇所：ご提供の用語解説（Oracle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Oracle社が提供する、企業の大きな業務システムで使われる商用のRDBMS。
【どこの話？】
層：ミドルウェア（アプリを支える土台のソフト）
場所：会社のサーバー室やクラウドで動く、有料のデータベース管理ソフト。
【くわしく】
Oracle Database（オラクル・データベース）は、ソフトウェア会社のOracleが開発・販売しているリレーショナルデータベース管理システム（RDBMS）です。有料のライセンスで使う商用製品として知られています。
会社の売上・在庫・会計などを扱う基幹システム（会社の中心になる業務システム）で、長く使われてきました。大量のデータの処理や、止まると困る場面のための機能が用意されています。
操作にはSQLを使いますが、Oracle独自の拡張（PL/SQLというプログラム言語など）もあります。他のDBへ移すときはSQLの書き換えが必要になることがあります。AWSなどのクラウドでも使えます。
【たとえるなら】
ショッピングモール全体の在庫を管理する業務用システム。市販のメーカー製品として導入し、メーカーのサポートを受けながら使う形が基本です。
【こんな場面で】
大企業の売上・在庫・会計を扱う基幹システムの設計資料に、「データベースはOracle」と書かれている場面があります。企業向けのシステムで名前を目にすることがあります。
【勘違い・つまずき】
「Oracle」は会社名でもあり、DB製品名でもあります。会社にはMySQLやWebLogicなどの製品もあるので、「Oracle」と聞いたらどの製品か確認しましょう。
【最初の学び方】
Oracleが用意する学習用の環境や無料で使える版（条件は公式サイトで確認）でSQLを試し、表の作成と検索をしてみましょう。
【つながり】
・Oracle Database →（種類のひとつ）→ DBMS
・SQL →（操作する）→ Oracle Database
・Oracle Database →（AWSで使える）→ AWSのDB
・Oracle Database ⇄（同じ会社）⇄ MySQL
・Oracle Database ⇄（同じ会社）⇄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（スライド130／資料の該当箇所：ご提供の用語解説（Oracle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Oracle社が提供する、企業の大きな業務システムで使われる商用のRDBMS。
【どこの話？】
層：ミドルウェア（アプリを支える土台のソフト）
場所：会社のサーバー室やクラウドで動く、有料のデータベース管理ソフト。
【くわしく】
Oracle Database（オラクル・データベース）は、ソフトウェア会社のOracleが開発・販売しているリレーショナルデータベース管理システム（RDBMS）です。有料のライセンスで使う商用製品として知られています。
会社の売上・在庫・会計などを扱う基幹システム（会社の中心になる業務システム）で、長く使われてきました。大量のデータの処理や、止まると困る場面のための機能が用意されています。
操作にはSQLを使いますが、Oracle独自の拡張（PL/SQLというプログラム言語など）もあります。他のDBへ移すときはSQLの書き換えが必要になることがあります。AWSなどのクラウドでも使えます。
【たとえるなら】
ショッピングモール全体の在庫を管理する業務用システム。市販のメーカー製品として導入し、メーカーのサポートを受けながら使う形が基本です。
【こんな場面で】
大企業の売上・在庫・会計を扱う基幹システムの設計資料に、「データベースはOracle」と書かれている場面があります。企業向けのシステムで名前を目にすることがあります。
【勘違い・つまずき】
「Oracle」は会社名でもあり、DB製品名でもあります。会社にはMySQLやWebLogicなどの製品もあるので、「Oracle」と聞いたらどの製品か確認しましょう。
【最初の学び方】
Oracleが用意する学習用の環境や無料で使える版（条件は公式サイトで確認）でSQLを試し、表の作成と検索をしてみましょう。
【つながり】
・Oracle Database →（種類のひとつ）→ DBMS
・SQL →（操作する）→ Oracle Database
・Oracle Database →（AWSで使える）→ AWSのDB
・Oracle Database ⇄（同じ会社）⇄ MySQL
・Oracle Database ⇄（同じ会社）⇄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（スライド131／資料の該当箇所：ご提供の用語解説（Oracle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オープンソースで誰でも無料で使える、リレーショナルデータベース。
【どこの話？】
層：ミドルウェア（アプリを支える土台のソフト）
場所：サーバーや自分のPCにインストールして使う、無料のデータベース管理ソフト。
【くわしく】
PostgreSQL（ポストグレスキューエル）は、設計図（ソースコード）が公開されているオープンソースのRDBMSです。特定の1社の製品ではなく、世界中の開発者のコミュニティ（PostgreSQL Global Development Group）が開発しています。
大学の研究プロジェクトから始まった歴史があり、個人も会社も無料で使えます。標準的なSQLの多くの機能に対応し、Webサービス、業務システム、データ分析など幅広い場面で使われます。
AWSなどのクラウドでも、運用の一部を任せられるマネージドサービスとして選べます。自分のPCにも入れられるので、SQLの学習用としても使いやすい製品です。
【たとえるなら】
みんなで作って誰でも使える、公開のレシピ集。世界中の人が改良に参加でき、レシピの設計図（ソースコード）も見ることができます。
【こんな場面で】
自分のPCに入れて商品表を作り、SQLで検索する練習をしたり、Webサービスの裏側のデータ管理や、データ分析の集計に使ったりします。
【勘違い・つまずき】
「無料」でも、運用（バックアップ、更新、障害対応）には人の手間がかかります。無料は「何もしなくてよい」ではありません。
【最初の学び方】
PostgreSQLをPCに導入し、公式の入門（チュートリアル）の通りに商品表を作ってみましょう。作成、登録、検索、複数の表の組み合わせの順に進められます。
【つながり】
・PostgreSQL →（製品の例）→ RDB
・SQL →（操作する）→ PostgreSQL
・PostgreSQL ⇄（同じ仲間）⇄ MySQL
・PostgreSQL →（AWSで使える）→ AWSのDB
・OS →（土台になる）→ PostgreSQL
【貼り付け資料の記載（要旨）】
公式の入門には、表の作成、データの登録、検索、複数の表を組み合わせる操作などが含まれます。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確認時点：原資料の記載は2026年9月30日〜10月1日（日本時間）。変わりやすい情報（価格・製品・採用条件）は最新の公式ページで再確認してください。
（スライド132／資料の該当箇所：ご提供の用語解説（PostgreSQL））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オープンソースで誰でも無料で使える、リレーショナルデータベース。
【どこの話？】
層：ミドルウェア（アプリを支える土台のソフト）
場所：サーバーや自分のPCにインストールして使う、無料のデータベース管理ソフト。
【くわしく】
PostgreSQL（ポストグレスキューエル）は、設計図（ソースコード）が公開されているオープンソースのRDBMSです。特定の1社の製品ではなく、世界中の開発者のコミュニティ（PostgreSQL Global Development Group）が開発しています。
大学の研究プロジェクトから始まった歴史があり、個人も会社も無料で使えます。標準的なSQLの多くの機能に対応し、Webサービス、業務システム、データ分析など幅広い場面で使われます。
AWSなどのクラウドでも、運用の一部を任せられるマネージドサービスとして選べます。自分のPCにも入れられるので、SQLの学習用としても使いやすい製品です。
【たとえるなら】
みんなで作って誰でも使える、公開のレシピ集。世界中の人が改良に参加でき、レシピの設計図（ソースコード）も見ることができます。
【こんな場面で】
自分のPCに入れて商品表を作り、SQLで検索する練習をしたり、Webサービスの裏側のデータ管理や、データ分析の集計に使ったりします。
【勘違い・つまずき】
「無料」でも、運用（バックアップ、更新、障害対応）には人の手間がかかります。無料は「何もしなくてよい」ではありません。
【最初の学び方】
PostgreSQLをPCに導入し、公式の入門（チュートリアル）の通りに商品表を作ってみましょう。作成、登録、検索、複数の表の組み合わせの順に進められます。
【つながり】
・PostgreSQL →（製品の例）→ RDB
・SQL →（操作する）→ PostgreSQL
・PostgreSQL ⇄（同じ仲間）⇄ MySQL
・PostgreSQL →（AWSで使える）→ AWSのDB
・OS →（土台になる）→ PostgreSQL
【貼り付け資料の記載（要旨）】
公式の入門には、表の作成、データの登録、検索、複数の表を組み合わせる操作などが含まれます。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確認時点：原資料の記載は2026年9月30日〜10月1日（日本時間）。変わりやすい情報（価格・製品・採用条件）は最新の公式ページで再確認してください。
（スライド133／資料の該当箇所：ご提供の用語解説（PostgreSQL））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オープンソースで誰でも無料で使える、リレーショナルデータベース。
【どこの話？】
層：ミドルウェア（アプリを支える土台のソフト）
場所：サーバーや自分のPCにインストールして使う、無料のデータベース管理ソフト。
【くわしく】
PostgreSQL（ポストグレスキューエル）は、設計図（ソースコード）が公開されているオープンソースのRDBMSです。特定の1社の製品ではなく、世界中の開発者のコミュニティ（PostgreSQL Global Development Group）が開発しています。
大学の研究プロジェクトから始まった歴史があり、個人も会社も無料で使えます。標準的なSQLの多くの機能に対応し、Webサービス、業務システム、データ分析など幅広い場面で使われます。
AWSなどのクラウドでも、運用の一部を任せられるマネージドサービスとして選べます。自分のPCにも入れられるので、SQLの学習用としても使いやすい製品です。
【たとえるなら】
みんなで作って誰でも使える、公開のレシピ集。世界中の人が改良に参加でき、レシピの設計図（ソースコード）も見ることができます。
【こんな場面で】
自分のPCに入れて商品表を作り、SQLで検索する練習をしたり、Webサービスの裏側のデータ管理や、データ分析の集計に使ったりします。
【勘違い・つまずき】
「無料」でも、運用（バックアップ、更新、障害対応）には人の手間がかかります。無料は「何もしなくてよい」ではありません。
【最初の学び方】
PostgreSQLをPCに導入し、公式の入門（チュートリアル）の通りに商品表を作ってみましょう。作成、登録、検索、複数の表の組み合わせの順に進められます。
【つながり】
・PostgreSQL →（製品の例）→ RDB
・SQL →（操作する）→ PostgreSQL
・PostgreSQL ⇄（同じ仲間）⇄ MySQL
・PostgreSQL →（AWSで使える）→ AWSのDB
・OS →（土台になる）→ PostgreSQL
【貼り付け資料の記載（要旨）】
公式の入門には、表の作成、データの登録、検索、複数の表を組み合わせる操作などが含まれます。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確認時点：原資料の記載は2026年9月30日〜10月1日（日本時間）。変わりやすい情報（価格・製品・採用条件）は最新の公式ページで再確認してください。
（スライド134／資料の該当箇所：ご提供の用語解説（PostgreSQL））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IBMが提供する、大きな企業システム向けの商用RDBMS。
【どこの話？】
層：ミドルウェア（アプリを支える土台のソフト）
場所：IBMの大型コンピューターやサーバー、クラウドの中で動くデータベース管理ソフト。
【くわしく】
Db2（ディービーツー）は、IBM（アイビーエム）が提供するリレーショナルデータベース管理システム（RDBMS）です。以前は「DB2」と書かれ、いまの表記は「Db2」です。
IBMは大型コンピューター（メインフレーム。大企業が使う大型の業務用コンピューター）も作る会社で、Db2にはメインフレームで動く版があります。ほかにLinux・UNIX・Windowsで動く版や、クラウドで使える形もあります。
企業の基幹業務や、データの管理・分析に使われます。操作にはSQLを使います。AWSにもDb2を使えるサービスがあります。版によって機能の細部が異なるため、使う版を確認します。
【たとえるなら】
大企業の本社にある大型の台帳システム。大型コンピューターの時代から使われてきた、IBM製のデータ管理の仕組みです。
【こんな場面で】
企業の基幹システム（売上や取引の記録など）や、IBMの大型コンピューターを使い続けている会社で出てきます。AWSでもDb2を選べるサービスがあります。
【勘違い・つまずき】
「DB2」は旧い表記、「Db2」は現在の表記です。また、メインフレーム用とLinux・UNIX・Windows用など別の版があり、同じ名前でも細部は違います。
【最初の学び方】
IBMの公式ドキュメントや学習用の環境（条件は公式サイトで確認）でSQLを試しましょう。他のRDBMSと見比べると、共通点と違いが分かります。
【つながり】
・Db2 →（種類のひとつ）→ DBMS
・SQL →（操作する）→ Db2
・Db2 ⇄（商用の仲間）⇄ Oracle Database
・Db2 →（AWSで使える）→ AWSのDB
・メインフレーム →（動かす）→ Db2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（スライド135／資料の該当箇所：ご提供の用語解説（Db2））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IBMが提供する、大きな企業システム向けの商用RDBMS。
【どこの話？】
層：ミドルウェア（アプリを支える土台のソフト）
場所：IBMの大型コンピューターやサーバー、クラウドの中で動くデータベース管理ソフト。
【くわしく】
Db2（ディービーツー）は、IBM（アイビーエム）が提供するリレーショナルデータベース管理システム（RDBMS）です。以前は「DB2」と書かれ、いまの表記は「Db2」です。
IBMは大型コンピューター（メインフレーム。大企業が使う大型の業務用コンピューター）も作る会社で、Db2にはメインフレームで動く版があります。ほかにLinux・UNIX・Windowsで動く版や、クラウドで使える形もあります。
企業の基幹業務や、データの管理・分析に使われます。操作にはSQLを使います。AWSにもDb2を使えるサービスがあります。版によって機能の細部が異なるため、使う版を確認します。
【たとえるなら】
大企業の本社にある大型の台帳システム。大型コンピューターの時代から使われてきた、IBM製のデータ管理の仕組みです。
【こんな場面で】
企業の基幹システム（売上や取引の記録など）や、IBMの大型コンピューターを使い続けている会社で出てきます。AWSでもDb2を選べるサービスがあります。
【勘違い・つまずき】
「DB2」は旧い表記、「Db2」は現在の表記です。また、メインフレーム用とLinux・UNIX・Windows用など別の版があり、同じ名前でも細部は違います。
【最初の学び方】
IBMの公式ドキュメントや学習用の環境（条件は公式サイトで確認）でSQLを試しましょう。他のRDBMSと見比べると、共通点と違いが分かります。
【つながり】
・Db2 →（種類のひとつ）→ DBMS
・SQL →（操作する）→ Db2
・Db2 ⇄（商用の仲間）⇄ Oracle Database
・Db2 →（AWSで使える）→ AWSのDB
・メインフレーム →（動かす）→ Db2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（スライド136／資料の該当箇所：ご提供の用語解説（Db2））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IBMが提供する、大きな企業システム向けの商用RDBMS。
【どこの話？】
層：ミドルウェア（アプリを支える土台のソフト）
場所：IBMの大型コンピューターやサーバー、クラウドの中で動くデータベース管理ソフト。
【くわしく】
Db2（ディービーツー）は、IBM（アイビーエム）が提供するリレーショナルデータベース管理システム（RDBMS）です。以前は「DB2」と書かれ、いまの表記は「Db2」です。
IBMは大型コンピューター（メインフレーム。大企業が使う大型の業務用コンピューター）も作る会社で、Db2にはメインフレームで動く版があります。ほかにLinux・UNIX・Windowsで動く版や、クラウドで使える形もあります。
企業の基幹業務や、データの管理・分析に使われます。操作にはSQLを使います。AWSにもDb2を使えるサービスがあります。版によって機能の細部が異なるため、使う版を確認します。
【たとえるなら】
大企業の本社にある大型の台帳システム。大型コンピューターの時代から使われてきた、IBM製のデータ管理の仕組みです。
【こんな場面で】
企業の基幹システム（売上や取引の記録など）や、IBMの大型コンピューターを使い続けている会社で出てきます。AWSでもDb2を選べるサービスがあります。
【勘違い・つまずき】
「DB2」は旧い表記、「Db2」は現在の表記です。また、メインフレーム用とLinux・UNIX・Windows用など別の版があり、同じ名前でも細部は違います。
【最初の学び方】
IBMの公式ドキュメントや学習用の環境（条件は公式サイトで確認）でSQLを試しましょう。他のRDBMSと見比べると、共通点と違いが分かります。
【つながり】
・Db2 →（種類のひとつ）→ DBMS
・SQL →（操作する）→ Db2
・Db2 ⇄（商用の仲間）⇄ Oracle Database
・Db2 →（AWSで使える）→ AWSのDB
・メインフレーム →（動かす）→ Db2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（スライド137／資料の該当箇所：ご提供の用語解説（Db2））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Microsoftが提供するRDBMS。WindowsやExcelなど同社の製品とつなげやすい。
【どこの話？】
層：ミドルウェア（アプリを支える土台のソフト）
場所：Windows（Linuxも可）のサーバーで動く、Microsoft製のデータベース管理ソフト。
【くわしく】
Microsoft SQL Server（エスキューエル サーバー）は、Microsoftが提供するリレーショナルデータベース管理システム（RDBMS）です。長くWindowsのサーバーの上で使われてきた製品です。
操作にはSQLを使い、Microsoft独自の拡張であるT-SQL（ティーエスキューエル）も使えます。SQL Server Management Studioなどの管理ツールがあり、画面から表を作ったり確認したりできます。
いまはWindowsだけでなく、Linuxやコンテナ（Docker）でも動きます。ExcelやC#などMicrosoftの製品から接続しやすく、社内の業務システムや集計・分析に使われます。
【たとえるなら】
同じメーカーの文房具でそろえた事務室の書類庫。Excelや社内ツールとつなぎ方や画面が似ていて、連携させやすい仕組みです。
【こんな場面で】
Windowsサーバーで動く社内の業務システムの裏側や、ExcelからDBのデータを取り込んで集計する場面で出てきます。MicrosoftのクラウドAzureにも関連サービスがあります。
【勘違い・つまずき】
「SQL」は言語の名前、「SQL Server」はMicrosoftの製品名です。MySQLとは名前が似ていますが、作っている会社も違う別の製品です。
【最初の学び方】
学習用の無料版（条件は公式サイトで確認）と管理ツールをPCに入れ、表を作ってExcelから接続してみましょう。データの流れが体験できます。
【つながり】
・SQL Server →（種類のひとつ）→ DBMS
・SQL →（操作する）→ SQL Server
・SQL Server →（データを渡す）→ Excel集計
・Windows →（動かす）→ SQL Server
・SQL Server ⇄（同じ会社）⇄ Azure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（スライド138／資料の該当箇所：ご提供の用語解説（Microsoft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Microsoftが提供するRDBMS。WindowsやExcelなど同社の製品とつなげやすい。
【どこの話？】
層：ミドルウェア（アプリを支える土台のソフト）
場所：Windows（Linuxも可）のサーバーで動く、Microsoft製のデータベース管理ソフト。
【くわしく】
Microsoft SQL Server（エスキューエル サーバー）は、Microsoftが提供するリレーショナルデータベース管理システム（RDBMS）です。長くWindowsのサーバーの上で使われてきた製品です。
操作にはSQLを使い、Microsoft独自の拡張であるT-SQL（ティーエスキューエル）も使えます。SQL Server Management Studioなどの管理ツールがあり、画面から表を作ったり確認したりできます。
いまはWindowsだけでなく、Linuxやコンテナ（Docker）でも動きます。ExcelやC#などMicrosoftの製品から接続しやすく、社内の業務システムや集計・分析に使われます。
【たとえるなら】
同じメーカーの文房具でそろえた事務室の書類庫。Excelや社内ツールとつなぎ方や画面が似ていて、連携させやすい仕組みです。
【こんな場面で】
Windowsサーバーで動く社内の業務システムの裏側や、ExcelからDBのデータを取り込んで集計する場面で出てきます。MicrosoftのクラウドAzureにも関連サービスがあります。
【勘違い・つまずき】
「SQL」は言語の名前、「SQL Server」はMicrosoftの製品名です。MySQLとは名前が似ていますが、作っている会社も違う別の製品です。
【最初の学び方】
学習用の無料版（条件は公式サイトで確認）と管理ツールをPCに入れ、表を作ってExcelから接続してみましょう。データの流れが体験できます。
【つながり】
・SQL Server →（種類のひとつ）→ DBMS
・SQL →（操作する）→ SQL Server
・SQL Server →（データを渡す）→ Excel集計
・Windows →（動かす）→ SQL Server
・SQL Server ⇄（同じ会社）⇄ Azure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（スライド139／資料の該当箇所：ご提供の用語解説（Microsoft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Microsoftが提供するRDBMS。WindowsやExcelなど同社の製品とつなげやすい。
【どこの話？】
層：ミドルウェア（アプリを支える土台のソフト）
場所：Windows（Linuxも可）のサーバーで動く、Microsoft製のデータベース管理ソフト。
【くわしく】
Microsoft SQL Server（エスキューエル サーバー）は、Microsoftが提供するリレーショナルデータベース管理システム（RDBMS）です。長くWindowsのサーバーの上で使われてきた製品です。
操作にはSQLを使い、Microsoft独自の拡張であるT-SQL（ティーエスキューエル）も使えます。SQL Server Management Studioなどの管理ツールがあり、画面から表を作ったり確認したりできます。
いまはWindowsだけでなく、Linuxやコンテナ（Docker）でも動きます。ExcelやC#などMicrosoftの製品から接続しやすく、社内の業務システムや集計・分析に使われます。
【たとえるなら】
同じメーカーの文房具でそろえた事務室の書類庫。Excelや社内ツールとつなぎ方や画面が似ていて、連携させやすい仕組みです。
【こんな場面で】
Windowsサーバーで動く社内の業務システムの裏側や、ExcelからDBのデータを取り込んで集計する場面で出てきます。MicrosoftのクラウドAzureにも関連サービスがあります。
【勘違い・つまずき】
「SQL」は言語の名前、「SQL Server」はMicrosoftの製品名です。MySQLとは名前が似ていますが、作っている会社も違う別の製品です。
【最初の学び方】
学習用の無料版（条件は公式サイトで確認）と管理ツールをPCに入れ、表を作ってExcelから接続してみましょう。データの流れが体験できます。
【つながり】
・SQL Server →（種類のひとつ）→ DBMS
・SQL →（操作する）→ SQL Server
・SQL Server →（データを渡す）→ Excel集計
・Windows →（動かす）→ SQL Server
・SQL Server ⇄（同じ会社）⇄ Azure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（スライド140／資料の該当箇所：ご提供の用語解説（Microsoft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Webサイトの裏側でよく使われる、オープンソースのRDBMS。
【どこの話？】
層：ミドルウェア（アプリを支える土台のソフト）
場所：Webサーバーやクラウドの裏側で動く、無料で使えるデータベース管理ソフト。
【くわしく】
MySQL（マイエスキューエル）は、無料で使えるオープンソースのリレーショナルデータベース管理システム（RDBMS）です。現在はOracleが提供していて、無料の版と商用ライセンスの形があります。
とくにWebサイトの裏側で多く使われます。ブログを作るWordPressは、データの保存先としてMySQL（またはMySQLから分かれてできた仲間のMariaDB）を使う仕組みです。
操作にはSQLを使います。WebアプリのPHPなどのプログラムから接続して使う例が数多くあります。AWSなどのクラウドでも、運用の一部を任せられるマネージドサービスとして選べます。
【たとえるなら】
地域の公民館にある、誰でも使える書棚。導入しやすく、ブログから会員サイトまで、いろいろなWebサイトの裏側にあります。
【こんな場面で】
WordPressでブログを作るとき、設定の途中で「データベース名」「ユーザー名」「パスワード」を入力する画面が出ます。これがMySQLなどへの接続設定です。
【勘違い・つまずき】
「MySQL」と「SQL」は別です。SQLは言語、MySQLは製品名です。MariaDBはMySQLから分かれてできた別の製品で、使い方が似ているだけで同じものではありません。
【最初の学び方】
MySQLをPCに入れ、SQLで「ブログ記事表」を作ってみましょう。余裕があれば、WordPressを動かして、どんな表が自動で作られるか見てみます。
【つながり】
・MySQL →（製品の例）→ RDB
・SQL →（操作する）→ MySQL
・MySQL ⇄（同じ仲間）⇄ PostgreSQL
・MySQL ⇄（同じ会社）⇄ Oracle Database
・MySQL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（スライド141／資料の該当箇所：ご提供の用語解説（MySQL））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Webサイトの裏側でよく使われる、オープンソースのRDBMS。
【どこの話？】
層：ミドルウェア（アプリを支える土台のソフト）
場所：Webサーバーやクラウドの裏側で動く、無料で使えるデータベース管理ソフト。
【くわしく】
MySQL（マイエスキューエル）は、無料で使えるオープンソースのリレーショナルデータベース管理システム（RDBMS）です。現在はOracleが提供していて、無料の版と商用ライセンスの形があります。
とくにWebサイトの裏側で多く使われます。ブログを作るWordPressは、データの保存先としてMySQL（またはMySQLから分かれてできた仲間のMariaDB）を使う仕組みです。
操作にはSQLを使います。WebアプリのPHPなどのプログラムから接続して使う例が数多くあります。AWSなどのクラウドでも、運用の一部を任せられるマネージドサービスとして選べます。
【たとえるなら】
地域の公民館にある、誰でも使える書棚。導入しやすく、ブログから会員サイトまで、いろいろなWebサイトの裏側にあります。
【こんな場面で】
WordPressでブログを作るとき、設定の途中で「データベース名」「ユーザー名」「パスワード」を入力する画面が出ます。これがMySQLなどへの接続設定です。
【勘違い・つまずき】
「MySQL」と「SQL」は別です。SQLは言語、MySQLは製品名です。MariaDBはMySQLから分かれてできた別の製品で、使い方が似ているだけで同じものではありません。
【最初の学び方】
MySQLをPCに入れ、SQLで「ブログ記事表」を作ってみましょう。余裕があれば、WordPressを動かして、どんな表が自動で作られるか見てみます。
【つながり】
・MySQL →（製品の例）→ RDB
・SQL →（操作する）→ MySQL
・MySQL ⇄（同じ仲間）⇄ PostgreSQL
・MySQL ⇄（同じ会社）⇄ Oracle Database
・MySQL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（スライド142／資料の該当箇所：ご提供の用語解説（MySQL））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Webサイトの裏側でよく使われる、オープンソースのRDBMS。
【どこの話？】
層：ミドルウェア（アプリを支える土台のソフト）
場所：Webサーバーやクラウドの裏側で動く、無料で使えるデータベース管理ソフト。
【くわしく】
MySQL（マイエスキューエル）は、無料で使えるオープンソースのリレーショナルデータベース管理システム（RDBMS）です。現在はOracleが提供していて、無料の版と商用ライセンスの形があります。
とくにWebサイトの裏側で多く使われます。ブログを作るWordPressは、データの保存先としてMySQL（またはMySQLから分かれてできた仲間のMariaDB）を使う仕組みです。
操作にはSQLを使います。WebアプリのPHPなどのプログラムから接続して使う例が数多くあります。AWSなどのクラウドでも、運用の一部を任せられるマネージドサービスとして選べます。
【たとえるなら】
地域の公民館にある、誰でも使える書棚。導入しやすく、ブログから会員サイトまで、いろいろなWebサイトの裏側にあります。
【こんな場面で】
WordPressでブログを作るとき、設定の途中で「データベース名」「ユーザー名」「パスワード」を入力する画面が出ます。これがMySQLなどへの接続設定です。
【勘違い・つまずき】
「MySQL」と「SQL」は別です。SQLは言語、MySQLは製品名です。MariaDBはMySQLから分かれてできた別の製品で、使い方が似ているだけで同じものではありません。
【最初の学び方】
MySQLをPCに入れ、SQLで「ブログ記事表」を作ってみましょう。余裕があれば、WordPressを動かして、どんな表が自動で作られるか見てみます。
【つながり】
・MySQL →（製品の例）→ RDB
・SQL →（操作する）→ MySQL
・MySQL ⇄（同じ仲間）⇄ PostgreSQL
・MySQL ⇄（同じ会社）⇄ Oracle Database
・MySQL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（スライド143／資料の該当箇所：ご提供の用語解説（MySQL））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AWS（Amazonのクラウド）で借りて使える、データベースサービスの総称。
【どこの話？】
層：置き場所・ミドルウェア（サーバー室・クラウド）
場所：インターネットの向こう側（AWSのデータセンター）で動く、借りて使うデータベース。
【くわしく】
「AWSのデータベース」は1つの製品名ではなく、AWS（Amazon Web Services、Amazonのクラウド）が提供するデータベースサービスの分類名です。目的ごとに、別々の名前のサービスがあります。
代表例は、Amazon RDS（OracleやMySQLなど既存のDBMSを運用つきで使える）、Amazon Aurora（MySQL・PostgreSQLと互換性があるAWSのDB）、Amazon DynamoDB（リレーショナルではないNoSQLのDB）です。
どれもマネージドサービスで、機械の用意、DBMSの更新、バックアップなどの一部をAWSが担当します。利用者はデータの設計や使い方に集中できます。担当範囲はサービスごとに違います。
【たとえるなら】
レンタルの業務用キッチン。調理（データの出し入れ）は自分でしますが、設備の点検や修理は貸す側（AWS）の仕事です。
【こんな場面で】
Webアプリをクラウドで公開するとき、自分でDBサーバーを用意せず、RDSでMySQLを借りて使う形がよく見られます。学習用のアカウントで体験できます。
【勘違い・つまずき】
RDSはリレーショナル、DynamoDBはNoSQLと、仕組みが違います。「AWSのDB」とだけ聞いたら、実際のサービス名を確認しましょう。
【最初の学び方】
AWSの基礎教材で、RDS・Aurora・DynamoDBの違いを表にまとめましょう。実際に作るなら、料金がかかるため、終わったら必ず削除します。
【つながり】
・AWS →（提供する）→ AWSのDB
・AWSのDB →（の一種）→ マネージドサービス
・AWSのDB →（代わりになる）→ DBサーバー
・MySQL →（AWSで使える）→ AWSのDB
・PostgreSQL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（スライド144／資料の該当箇所：ご提供の用語解説（AWSのデータベース））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AWS（Amazonのクラウド）で借りて使える、データベースサービスの総称。
【どこの話？】
層：置き場所・ミドルウェア（サーバー室・クラウド）
場所：インターネットの向こう側（AWSのデータセンター）で動く、借りて使うデータベース。
【くわしく】
「AWSのデータベース」は1つの製品名ではなく、AWS（Amazon Web Services、Amazonのクラウド）が提供するデータベースサービスの分類名です。目的ごとに、別々の名前のサービスがあります。
代表例は、Amazon RDS（OracleやMySQLなど既存のDBMSを運用つきで使える）、Amazon Aurora（MySQL・PostgreSQLと互換性があるAWSのDB）、Amazon DynamoDB（リレーショナルではないNoSQLのDB）です。
どれもマネージドサービスで、機械の用意、DBMSの更新、バックアップなどの一部をAWSが担当します。利用者はデータの設計や使い方に集中できます。担当範囲はサービスごとに違います。
【たとえるなら】
レンタルの業務用キッチン。調理（データの出し入れ）は自分でしますが、設備の点検や修理は貸す側（AWS）の仕事です。
【こんな場面で】
Webアプリをクラウドで公開するとき、自分でDBサーバーを用意せず、RDSでMySQLを借りて使う形がよく見られます。学習用のアカウントで体験できます。
【勘違い・つまずき】
RDSはリレーショナル、DynamoDBはNoSQLと、仕組みが違います。「AWSのDB」とだけ聞いたら、実際のサービス名を確認しましょう。
【最初の学び方】
AWSの基礎教材で、RDS・Aurora・DynamoDBの違いを表にまとめましょう。実際に作るなら、料金がかかるため、終わったら必ず削除します。
【つながり】
・AWS →（提供する）→ AWSのDB
・AWSのDB →（の一種）→ マネージドサービス
・AWSのDB →（代わりになる）→ DBサーバー
・MySQL →（AWSで使える）→ AWSのDB
・PostgreSQL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（スライド145／資料の該当箇所：ご提供の用語解説（AWSのデータベース））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AWS（Amazonのクラウド）で借りて使える、データベースサービスの総称。
【どこの話？】
層：置き場所・ミドルウェア（サーバー室・クラウド）
場所：インターネットの向こう側（AWSのデータセンター）で動く、借りて使うデータベース。
【くわしく】
「AWSのデータベース」は1つの製品名ではなく、AWS（Amazon Web Services、Amazonのクラウド）が提供するデータベースサービスの分類名です。目的ごとに、別々の名前のサービスがあります。
代表例は、Amazon RDS（OracleやMySQLなど既存のDBMSを運用つきで使える）、Amazon Aurora（MySQL・PostgreSQLと互換性があるAWSのDB）、Amazon DynamoDB（リレーショナルではないNoSQLのDB）です。
どれもマネージドサービスで、機械の用意、DBMSの更新、バックアップなどの一部をAWSが担当します。利用者はデータの設計や使い方に集中できます。担当範囲はサービスごとに違います。
【たとえるなら】
レンタルの業務用キッチン。調理（データの出し入れ）は自分でしますが、設備の点検や修理は貸す側（AWS）の仕事です。
【こんな場面で】
Webアプリをクラウドで公開するとき、自分でDBサーバーを用意せず、RDSでMySQLを借りて使う形がよく見られます。学習用のアカウントで体験できます。
【勘違い・つまずき】
RDSはリレーショナル、DynamoDBはNoSQLと、仕組みが違います。「AWSのDB」とだけ聞いたら、実際のサービス名を確認しましょう。
【最初の学び方】
AWSの基礎教材で、RDS・Aurora・DynamoDBの違いを表にまとめましょう。実際に作るなら、料金がかかるため、終わったら必ず削除します。
【つながり】
・AWS →（提供する）→ AWSのDB
・AWSのDB →（の一種）→ マネージドサービス
・AWSのDB →（代わりになる）→ DBサーバー
・MySQL →（AWSで使える）→ AWSのDB
・PostgreSQL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（スライド146／資料の該当箇所：ご提供の用語解説（AWSのデータベース））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表ではなく「ドキュメント」の形で、1件分の情報をまとめて保存するデータベース。
【どこの話？】
層：ミドルウェア（アプリを支える土台のソフト）
場所：Webアプリの裏側で動く、表を使わない（NoSQL）データベース管理ソフト。
【くわしく】
MongoDB（モンゴディービー）は、データを「ドキュメント」の形で保存するデータベースです。ドキュメントは、項目名と値を並べるJSON（ジェイソン）に近い形式で、1件分の情報を1つにまとめて入れます。
同じ種類のドキュメントは「コレクション」という入れ物にまとめます。RDBの表と違って、1件ごとに項目が違ってもよく、あとから項目を足せます。商品ごとに「サイズ」「容量」など別々の項目を持たせられます。
表を中心としないNoSQL（エヌオーエスキューエル）と呼ばれる仲間のデータベースです。SQLではなく、MongoDB独自の方法で検索します。アプリで扱うデータの形のまま保存しやすいのが特徴です。
【たとえるなら】
項目つきの1枚のカード。商品1つにつき1枚のカードを作り、カードごとに書く項目が違っても、同じカード箱（コレクション）に入れられます。
【こんな場面で】
商品ごとに項目が違う通販のカタログや、ユーザーごとに設定が違うWebアプリなど、データの形が多様でよく変わる場面で使われます。
【勘違い・つまずき】
MongoDBは「RDBより新しいから優れている」わけではなく、向き不向きがあります。表どうしの関係が大事なデータは、RDBが向くことが多いです。
【最初の学び方】
商品1つ分を「名前・価格・サイズ」などの項目つきカードとして登録し、条件で検索・更新してみましょう。同じデータをRDBの表で作ると違いが分かります。
【つながり】
・MongoDB →（種類のひとつ）→ DBMS
・MongoDB ⇄（ちがい）⇄ RDB
・MongoDB →（似た形で保存）→ JSON
・アプリサーバー →（使う）→ MongoDB
・MongoDB →（保存する）→ ストレージ
【貼り付け資料の記載（要旨）】
MongoDBはドキュメントモデルを基盤とするデータベースです。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（スライド147／資料の該当箇所：ご提供の用語解説（MongoDB））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表ではなく「ドキュメント」の形で、1件分の情報をまとめて保存するデータベース。
【どこの話？】
層：ミドルウェア（アプリを支える土台のソフト）
場所：Webアプリの裏側で動く、表を使わない（NoSQL）データベース管理ソフト。
【くわしく】
MongoDB（モンゴディービー）は、データを「ドキュメント」の形で保存するデータベースです。ドキュメントは、項目名と値を並べるJSON（ジェイソン）に近い形式で、1件分の情報を1つにまとめて入れます。
同じ種類のドキュメントは「コレクション」という入れ物にまとめます。RDBの表と違って、1件ごとに項目が違ってもよく、あとから項目を足せます。商品ごとに「サイズ」「容量」など別々の項目を持たせられます。
表を中心としないNoSQL（エヌオーエスキューエル）と呼ばれる仲間のデータベースです。SQLではなく、MongoDB独自の方法で検索します。アプリで扱うデータの形のまま保存しやすいのが特徴です。
【たとえるなら】
項目つきの1枚のカード。商品1つにつき1枚のカードを作り、カードごとに書く項目が違っても、同じカード箱（コレクション）に入れられます。
【こんな場面で】
商品ごとに項目が違う通販のカタログや、ユーザーごとに設定が違うWebアプリなど、データの形が多様でよく変わる場面で使われます。
【勘違い・つまずき】
MongoDBは「RDBより新しいから優れている」わけではなく、向き不向きがあります。表どうしの関係が大事なデータは、RDBが向くことが多いです。
【最初の学び方】
商品1つ分を「名前・価格・サイズ」などの項目つきカードとして登録し、条件で検索・更新してみましょう。同じデータをRDBの表で作ると違いが分かります。
【つながり】
・MongoDB →（種類のひとつ）→ DBMS
・MongoDB ⇄（ちがい）⇄ RDB
・MongoDB →（似た形で保存）→ JSON
・アプリサーバー →（使う）→ MongoDB
・MongoDB →（保存する）→ ストレージ
【貼り付け資料の記載（要旨）】
MongoDBはドキュメントモデルを基盤とするデータベースです。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（スライド148／資料の該当箇所：ご提供の用語解説（MongoDB））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表ではなく「ドキュメント」の形で、1件分の情報をまとめて保存するデータベース。
【どこの話？】
層：ミドルウェア（アプリを支える土台のソフト）
場所：Webアプリの裏側で動く、表を使わない（NoSQL）データベース管理ソフト。
【くわしく】
MongoDB（モンゴディービー）は、データを「ドキュメント」の形で保存するデータベースです。ドキュメントは、項目名と値を並べるJSON（ジェイソン）に近い形式で、1件分の情報を1つにまとめて入れます。
同じ種類のドキュメントは「コレクション」という入れ物にまとめます。RDBの表と違って、1件ごとに項目が違ってもよく、あとから項目を足せます。商品ごとに「サイズ」「容量」など別々の項目を持たせられます。
表を中心としないNoSQL（エヌオーエスキューエル）と呼ばれる仲間のデータベースです。SQLではなく、MongoDB独自の方法で検索します。アプリで扱うデータの形のまま保存しやすいのが特徴です。
【たとえるなら】
項目つきの1枚のカード。商品1つにつき1枚のカードを作り、カードごとに書く項目が違っても、同じカード箱（コレクション）に入れられます。
【こんな場面で】
商品ごとに項目が違う通販のカタログや、ユーザーごとに設定が違うWebアプリなど、データの形が多様でよく変わる場面で使われます。
【勘違い・つまずき】
MongoDBは「RDBより新しいから優れている」わけではなく、向き不向きがあります。表どうしの関係が大事なデータは、RDBが向くことが多いです。
【最初の学び方】
商品1つ分を「名前・価格・サイズ」などの項目つきカードとして登録し、条件で検索・更新してみましょう。同じデータをRDBの表で作ると違いが分かります。
【つながり】
・MongoDB →（種類のひとつ）→ DBMS
・MongoDB ⇄（ちがい）⇄ RDB
・MongoDB →（似た形で保存）→ JSON
・アプリサーバー →（使う）→ MongoDB
・MongoDB →（保存する）→ ストレージ
【貼り付け資料の記載（要旨）】
MongoDBはドキュメントモデルを基盤とするデータベースです。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（スライド149／資料の該当箇所：ご提供の用語解説（MongoDB））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DBMS（管理ソフト）の製品は、大きく表で管理するRDBと、MongoDBのような表以外の方式に分かれます。RDBには商用（Oracle・Db2・SQL Server）とオープンソース（PostgreSQL・MySQL）があります。AWSのデータベースは、クラウドで提供される形です。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（スライド150／資料の該当箇所：データベース）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表は、質問票に出てくる製品を種類ごとに並べたものです。
【処理の詳細】
・商用RDB：企業が販売する、表形式（RDB）の製品。
・オープンソースRDB：無料で使える、表形式の製品。
・クラウドのRDB：Amazon RDS・Auroraなど、AWS上で運用の一部を事業者が担当する表形式のサービス。
・クラウドの非RDB：DynamoDBなど、表の関係を使わない方式のサービス。
・ドキュメントDB：MongoDBのように、まとまりのある文書を保存する方式。
【成立条件・例外】
「AWS Database」は製品名ではなく、AWS上のデータベースサービスの総称と考えられます（貼り付けの記載）。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（スライド151／資料の該当箇所：データベース「用語の表」）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表は、質問票に出てくる製品を種類ごとに並べたものです。
【処理の詳細】
・商用RDB：企業が販売する、表形式（RDB）の製品。
・オープンソースRDB：無料で使える、表形式の製品。
・クラウドのRDB：Amazon RDS・Auroraなど、AWS上で運用の一部を事業者が担当する表形式のサービス。
・クラウドの非RDB：DynamoDBなど、表の関係を使わない方式のサービス。
・ドキュメントDB：MongoDBのように、まとまりのある文書を保存する方式。
【成立条件・例外】
「AWS Database」は製品名ではなく、AWS上のデータベースサービスの総称と考えられます（貼り付けの記載）。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（スライド152／資料の該当箇所：データベース「用語の表」）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上の図が3つの層の流れ、下の4つがログインの例です。
【用語】
・Webサーバー：要求を受け、Webページやデータを返す（貼り付けの記載）。
・アプリケーションサーバー：ログイン、予約、注文などの処理を動かす実行基盤（貼り付けの記載）。
【成立条件・例外】
小さな構成では、1つのソフトが両方の役を兼ねることもあります（例：Tomcatには簡単なWebサーバー機能もあります）。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（スライド153／資料の該当箇所：アプリケーションサーバー「質問14・15」）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上の図が3つの層の流れ、下の4つがログインの例です。
【用語】
・Webサーバー：要求を受け、Webページやデータを返す（貼り付けの記載）。
・アプリケーションサーバー：ログイン、予約、注文などの処理を動かす実行基盤（貼り付けの記載）。
【成立条件・例外】
小さな構成では、1つのソフトが両方の役を兼ねることもあります（例：Tomcatには簡単なWebサーバー機能もあります）。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（スライド154／資料の該当箇所：アプリケーションサーバー「質問14・15」）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左の列が項目、真ん中がWebサーバー、右がアプリケーションサーバーです。
【身近な例】
お店にたとえると、Webサーバーは「受付カウンター」、アプリケーションサーバーは「厨房」です。
【よくある誤解】
呼び名は違っても、実際には1つの製品が両方の働きを持つ場合があります。役割で考えると整理できます。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（スライド155／資料の該当箇所：アプリケーションサーバー「用語の表」）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左の列が項目、真ん中がWebサーバー、右がアプリケーションサーバーです。
【身近な例】
お店にたとえると、Webサーバーは「受付カウンター」、アプリケーションサーバーは「厨房」です。
【よくある誤解】
呼び名は違っても、実際には1つの製品が両方の働きを持つ場合があります。役割で考えると整理できます。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（スライド156／資料の該当箇所：アプリケーションサーバー「用語の表」）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インターネットからのリクエストがWebサーバー、アプリケーションサーバーへと進み、データベースに保存を頼みます。Tomcat・Jetty・WebLogicはJavaのWebアプリを動かす製品、サーブレットはその中で要求を処理する仕組み、デプロイはアプリを置いて使える状態にする作業で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（スライド157／資料の該当箇所：アプリケーションサーバー）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ブラウザからの要求を受け取り、Webページや画像を返す窓口役のソフト。
【どこの話？】
層：ミドルウェア（アプリを支える土台のソフト）
場所：会社やクラウドのサーバーで動く、ブラウザの窓口になるソフト。インターネットの向こう側にある。
【くわしく】
Webサーバーは、ブラウザ（ChromeやSafariなど）から届く「このページをください」という要求（リクエスト）を受け、HTMLや画像などのファイルを返すソフトウェアです。HTTP（Webでの通信の決まり）で話します。
基本の仕事は、置いてある完成品のファイル（静的な内容）を返すことです。ログインや注文のように計算や判断が必要な処理は、アプリケーションサーバーなどに受け渡す構成がよくあります。
このほか、通信の暗号化（HTTPS）、アクセスの記録（ログ）、複数のサーバーへの振り分けをすることもあります。代表的な製品にApache HTTP Serverやnginxがあります。
【たとえるなら】
レストランの受付係。お客さん（ブラウザ）の注文を聞き、用意済みの料理（HTMLや画像）はすぐ渡し、調理が必要な注文は厨房（アプリケーションサーバー）に回します。
【こんな場面で】
学校のホームページを開くと、文字や画像が表示されます。Webサーバーが、置いてあるファイルを返しているからです。ログインの先の処理は、別のアプリ側が担当します。
【勘違い・つまずき】
「Webサーバー」は、ソフトを指すことも、そのソフトを動かす機械を指すこともあります。同じ機械で他のソフトと動かすことも、別の機械に分けることもあります。
【最初の学び方】
ターミナルで python3 -m http.server を実行し、ブラウザで localhost:8000 を開いて、自分のHTMLファイルを表示してみましょう。
【つながり】
・Webサーバー →（要求を渡す）→ アプリサーバー
・インターネット →（要求を運ぶ）→ Webサーバー
・Webサーバー →（サーバーの一種）→ サーバーとクライアント
・Webサーバー →（ページを返す）→ HTML
・Webサーバー →（記録する）→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（スライド158／資料の該当箇所：ご提供の用語解説（Webサーバー））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ブラウザからの要求を受け取り、Webページや画像を返す窓口役のソフト。
【どこの話？】
層：ミドルウェア（アプリを支える土台のソフト）
場所：会社やクラウドのサーバーで動く、ブラウザの窓口になるソフト。インターネットの向こう側にある。
【くわしく】
Webサーバーは、ブラウザ（ChromeやSafariなど）から届く「このページをください」という要求（リクエスト）を受け、HTMLや画像などのファイルを返すソフトウェアです。HTTP（Webでの通信の決まり）で話します。
基本の仕事は、置いてある完成品のファイル（静的な内容）を返すことです。ログインや注文のように計算や判断が必要な処理は、アプリケーションサーバーなどに受け渡す構成がよくあります。
このほか、通信の暗号化（HTTPS）、アクセスの記録（ログ）、複数のサーバーへの振り分けをすることもあります。代表的な製品にApache HTTP Serverやnginxがあります。
【たとえるなら】
レストランの受付係。お客さん（ブラウザ）の注文を聞き、用意済みの料理（HTMLや画像）はすぐ渡し、調理が必要な注文は厨房（アプリケーションサーバー）に回します。
【こんな場面で】
学校のホームページを開くと、文字や画像が表示されます。Webサーバーが、置いてあるファイルを返しているからです。ログインの先の処理は、別のアプリ側が担当します。
【勘違い・つまずき】
「Webサーバー」は、ソフトを指すことも、そのソフトを動かす機械を指すこともあります。同じ機械で他のソフトと動かすことも、別の機械に分けることもあります。
【最初の学び方】
ターミナルで python3 -m http.server を実行し、ブラウザで localhost:8000 を開いて、自分のHTMLファイルを表示してみましょう。
【つながり】
・Webサーバー →（要求を渡す）→ アプリサーバー
・インターネット →（要求を運ぶ）→ Webサーバー
・Webサーバー →（サーバーの一種）→ サーバーとクライアント
・Webサーバー →（ページを返す）→ HTML
・Webサーバー →（記録する）→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（スライド159／資料の該当箇所：ご提供の用語解説（Webサーバー））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ブラウザからの要求を受け取り、Webページや画像を返す窓口役のソフト。
【どこの話？】
層：ミドルウェア（アプリを支える土台のソフト）
場所：会社やクラウドのサーバーで動く、ブラウザの窓口になるソフト。インターネットの向こう側にある。
【くわしく】
Webサーバーは、ブラウザ（ChromeやSafariなど）から届く「このページをください」という要求（リクエスト）を受け、HTMLや画像などのファイルを返すソフトウェアです。HTTP（Webでの通信の決まり）で話します。
基本の仕事は、置いてある完成品のファイル（静的な内容）を返すことです。ログインや注文のように計算や判断が必要な処理は、アプリケーションサーバーなどに受け渡す構成がよくあります。
このほか、通信の暗号化（HTTPS）、アクセスの記録（ログ）、複数のサーバーへの振り分けをすることもあります。代表的な製品にApache HTTP Serverやnginxがあります。
【たとえるなら】
レストランの受付係。お客さん（ブラウザ）の注文を聞き、用意済みの料理（HTMLや画像）はすぐ渡し、調理が必要な注文は厨房（アプリケーションサーバー）に回します。
【こんな場面で】
学校のホームページを開くと、文字や画像が表示されます。Webサーバーが、置いてあるファイルを返しているからです。ログインの先の処理は、別のアプリ側が担当します。
【勘違い・つまずき】
「Webサーバー」は、ソフトを指すことも、そのソフトを動かす機械を指すこともあります。同じ機械で他のソフトと動かすことも、別の機械に分けることもあります。
【最初の学び方】
ターミナルで python3 -m http.server を実行し、ブラウザで localhost:8000 を開いて、自分のHTMLファイルを表示してみましょう。
【つながり】
・Webサーバー →（要求を渡す）→ アプリサーバー
・インターネット →（要求を運ぶ）→ Webサーバー
・Webサーバー →（サーバーの一種）→ サーバーとクライアント
・Webサーバー →（ページを返す）→ HTML
・Webサーバー →（記録する）→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（スライド160／資料の該当箇所：ご提供の用語解説（Webサーバー））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ブラウザからの要求を受け取り、Webページや画像を返す窓口役のソフト。
【どこの話？】
層：ミドルウェア（アプリを支える土台のソフト）
場所：会社やクラウドのサーバーで動く、ブラウザの窓口になるソフト。インターネットの向こう側にある。
【くわしく】
Webサーバーは、ブラウザ（ChromeやSafariなど）から届く「このページをください」という要求（リクエスト）を受け、HTMLや画像などのファイルを返すソフトウェアです。HTTP（Webでの通信の決まり）で話します。
基本の仕事は、置いてある完成品のファイル（静的な内容）を返すことです。ログインや注文のように計算や判断が必要な処理は、アプリケーションサーバーなどに受け渡す構成がよくあります。
このほか、通信の暗号化（HTTPS）、アクセスの記録（ログ）、複数のサーバーへの振り分けをすることもあります。代表的な製品にApache HTTP Serverやnginxがあります。
【たとえるなら】
レストランの受付係。お客さん（ブラウザ）の注文を聞き、用意済みの料理（HTMLや画像）はすぐ渡し、調理が必要な注文は厨房（アプリケーションサーバー）に回します。
【こんな場面で】
学校のホームページを開くと、文字や画像が表示されます。Webサーバーが、置いてあるファイルを返しているからです。ログインの先の処理は、別のアプリ側が担当します。
【勘違い・つまずき】
「Webサーバー」は、ソフトを指すことも、そのソフトを動かす機械を指すこともあります。同じ機械で他のソフトと動かすことも、別の機械に分けることもあります。
【最初の学び方】
ターミナルで python3 -m http.server を実行し、ブラウザで localhost:8000 を開いて、自分のHTMLファイルを表示してみましょう。
【つながり】
・Webサーバー →（要求を渡す）→ アプリサーバー
・インターネット →（要求を運ぶ）→ Webサーバー
・Webサーバー →（サーバーの一種）→ サーバーとクライアント
・Webサーバー →（ページを返す）→ HTML
・Webサーバー →（記録する）→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（スライド161／資料の該当箇所：ご提供の用語解説（Webサーバー））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ログインや注文などの「処理」を実行して、結果を返すWebアプリの実行基盤。
【どこの話？】
層：ミドルウェア（アプリを支える土台のソフト）
場所：会社やクラウドのサーバーの中で動く、Webアプリを実行するためのソフト。
【くわしく】
アプリケーションサーバー（APサーバー）は、Webアプリのプログラムを置いて実行する土台のソフトです。ブラウザからの要求に応じて、ログインの確認、計算、データベースへの問い合わせなどを行い、結果を返します。
Webサーバーが「できあがったファイルを渡す係」なら、APサーバーは「注文を受けて作る係」です。多くの構成では、先にWebサーバーが要求を受け、処理が必要なものだけをAPサーバーに回します。
APサーバーは、プログラムの実行に加え、データベースとの接続の管理や、ログイン状態の管理などの共通機能も提供します。アプリの作り手は、毎回ゼロから作らずに済みます。Javaの製品にはTomcatやWebLogicがあります。
【たとえるなら】
レストランの厨房。受付（Webサーバー）から注文票（要求）を受け取り、必要なら食材倉庫（データベース）から材料を出して、料理（結果のページ）を作ります。
【こんな場面で】
ネット通販で「購入する」を押すと、在庫の確認、金額の計算、注文の記録が行われます。この「処理」を実行しているのが、APサーバー上のWebアプリです。
【勘違い・つまずき】
「アプリケーションサーバー」は、機械ではなく役割やソフトの名前として使われることが多いです。Webサーバーと一体の製品もあり、境目は製品で変わります。
【最初の学び方】
「ブラウザ→Webサーバー→APサーバー→DBサーバー」の図を描き、ログインを例に、各段階が何をするかを一言ずつ書き込んでみましょう。
【つながり】
・Webサーバー →（要求を渡す）→ アプリサーバー
・アプリサーバー →（問い合わせる）→ DBサーバー
・アプリサーバー →（実行する）→ サーブレット
・デプロイ →（アプリを置く）→ アプリサーバー
・Tomcat →（製品の例）→ アプリサーバー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（スライド162／資料の該当箇所：ご提供の用語解説（アプリケーションサーバー））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ログインや注文などの「処理」を実行して、結果を返すWebアプリの実行基盤。
【どこの話？】
層：ミドルウェア（アプリを支える土台のソフト）
場所：会社やクラウドのサーバーの中で動く、Webアプリを実行するためのソフト。
【くわしく】
アプリケーションサーバー（APサーバー）は、Webアプリのプログラムを置いて実行する土台のソフトです。ブラウザからの要求に応じて、ログインの確認、計算、データベースへの問い合わせなどを行い、結果を返します。
Webサーバーが「できあがったファイルを渡す係」なら、APサーバーは「注文を受けて作る係」です。多くの構成では、先にWebサーバーが要求を受け、処理が必要なものだけをAPサーバーに回します。
APサーバーは、プログラムの実行に加え、データベースとの接続の管理や、ログイン状態の管理などの共通機能も提供します。アプリの作り手は、毎回ゼロから作らずに済みます。Javaの製品にはTomcatやWebLogicがあります。
【たとえるなら】
レストランの厨房。受付（Webサーバー）から注文票（要求）を受け取り、必要なら食材倉庫（データベース）から材料を出して、料理（結果のページ）を作ります。
【こんな場面で】
ネット通販で「購入する」を押すと、在庫の確認、金額の計算、注文の記録が行われます。この「処理」を実行しているのが、APサーバー上のWebアプリです。
【勘違い・つまずき】
「アプリケーションサーバー」は、機械ではなく役割やソフトの名前として使われることが多いです。Webサーバーと一体の製品もあり、境目は製品で変わります。
【最初の学び方】
「ブラウザ→Webサーバー→APサーバー→DBサーバー」の図を描き、ログインを例に、各段階が何をするかを一言ずつ書き込んでみましょう。
【つながり】
・Webサーバー →（要求を渡す）→ アプリサーバー
・アプリサーバー →（問い合わせる）→ DBサーバー
・アプリサーバー →（実行する）→ サーブレット
・デプロイ →（アプリを置く）→ アプリサーバー
・Tomcat →（製品の例）→ アプリサーバー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（スライド163／資料の該当箇所：ご提供の用語解説（アプリケーションサーバー））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ログインや注文などの「処理」を実行して、結果を返すWebアプリの実行基盤。
【どこの話？】
層：ミドルウェア（アプリを支える土台のソフト）
場所：会社やクラウドのサーバーの中で動く、Webアプリを実行するためのソフト。
【くわしく】
アプリケーションサーバー（APサーバー）は、Webアプリのプログラムを置いて実行する土台のソフトです。ブラウザからの要求に応じて、ログインの確認、計算、データベースへの問い合わせなどを行い、結果を返します。
Webサーバーが「できあがったファイルを渡す係」なら、APサーバーは「注文を受けて作る係」です。多くの構成では、先にWebサーバーが要求を受け、処理が必要なものだけをAPサーバーに回します。
APサーバーは、プログラムの実行に加え、データベースとの接続の管理や、ログイン状態の管理などの共通機能も提供します。アプリの作り手は、毎回ゼロから作らずに済みます。Javaの製品にはTomcatやWebLogicがあります。
【たとえるなら】
レストランの厨房。受付（Webサーバー）から注文票（要求）を受け取り、必要なら食材倉庫（データベース）から材料を出して、料理（結果のページ）を作ります。
【こんな場面で】
ネット通販で「購入する」を押すと、在庫の確認、金額の計算、注文の記録が行われます。この「処理」を実行しているのが、APサーバー上のWebアプリです。
【勘違い・つまずき】
「アプリケーションサーバー」は、機械ではなく役割やソフトの名前として使われることが多いです。Webサーバーと一体の製品もあり、境目は製品で変わります。
【最初の学び方】
「ブラウザ→Webサーバー→APサーバー→DBサーバー」の図を描き、ログインを例に、各段階が何をするかを一言ずつ書き込んでみましょう。
【つながり】
・Webサーバー →（要求を渡す）→ アプリサーバー
・アプリサーバー →（問い合わせる）→ DBサーバー
・アプリサーバー →（実行する）→ サーブレット
・デプロイ →（アプリを置く）→ アプリサーバー
・Tomcat →（製品の例）→ アプリサーバー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（スライド164／資料の該当箇所：ご提供の用語解説（アプリケーションサーバー））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JavaのWebアプリを動かす、無料のオープンソース製品（サーブレットコンテナ）。
【どこの話？】
層：ミドルウェア（アプリを支える土台のソフト）
場所：サーバーやPCにインストールして使う、Java用のWebアプリ実行ソフト（ミドルウェア）。
【くわしく】
Tomcat（トムキャット）は、非営利の開発団体Apache Software Foundationが開発するオープンソースのソフトウェアです。JavaのWebアプリを置いて動かす土台として広く知られています。
正確にはサーブレットコンテナ（Javaのプログラムを動かす入れ物）です。Jakarta Servlet、Jakarta Pages（JSP）、WebSocketなどの規格を実装しています。HTTPを直接受ける簡易Webサーバーの機能も内蔵しています。
Jakarta EE（Javaで企業向けシステムを作る規格群）のすべてを実装した製品ではありません。この点がWebLogicとの大きな違いで、必要な機能は、アプリ側が部品を足して使います。
【たとえるなら】
Javaのアプリを載せて動かす「実行台」。台の規格（サーブレット）に合わせて作った劇だけを上演でき、足りない舞台道具は劇団が持ち込みます。
【こんな場面で】
Javaを学ぶ授業や独学で、サーブレットを動かす実習環境として使います。会社でも、Java製のWebシステムの動作環境としてよく名前が挙がります。
【勘違い・つまずき】
TomcatはWebLogicのような「全部入り」ではありません。また、名前の似たApache HTTP Server（Webサーバー）とは別の製品です。同じ団体が関わるので紛らわしい点に注意しましょう。
【最初の学び方】
TomcatをPCに入れ、「Hello」と表示するだけの小さなサーブレットを書いて動かしましょう。先にJavaの基礎文法を学んでおくと進めやすくなります。
【つながり】
・Tomcat →（実行する）→ サーブレット
・Tomcat →（製品の例）→ アプリサーバー
・Tomcat ⇄（ちがい）⇄ WebLogic
・Tomcat ⇄（同じ仲間）⇄ Jetty
・デプロイ →（アプリを置く）→ Tomcat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（スライド165／資料の該当箇所：ご提供の用語解説（Tomcat））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JavaのWebアプリを動かす、無料のオープンソース製品（サーブレットコンテナ）。
【どこの話？】
層：ミドルウェア（アプリを支える土台のソフト）
場所：サーバーやPCにインストールして使う、Java用のWebアプリ実行ソフト（ミドルウェア）。
【くわしく】
Tomcat（トムキャット）は、非営利の開発団体Apache Software Foundationが開発するオープンソースのソフトウェアです。JavaのWebアプリを置いて動かす土台として広く知られています。
正確にはサーブレットコンテナ（Javaのプログラムを動かす入れ物）です。Jakarta Servlet、Jakarta Pages（JSP）、WebSocketなどの規格を実装しています。HTTPを直接受ける簡易Webサーバーの機能も内蔵しています。
Jakarta EE（Javaで企業向けシステムを作る規格群）のすべてを実装した製品ではありません。この点がWebLogicとの大きな違いで、必要な機能は、アプリ側が部品を足して使います。
【たとえるなら】
Javaのアプリを載せて動かす「実行台」。台の規格（サーブレット）に合わせて作った劇だけを上演でき、足りない舞台道具は劇団が持ち込みます。
【こんな場面で】
Javaを学ぶ授業や独学で、サーブレットを動かす実習環境として使います。会社でも、Java製のWebシステムの動作環境としてよく名前が挙がります。
【勘違い・つまずき】
TomcatはWebLogicのような「全部入り」ではありません。また、名前の似たApache HTTP Server（Webサーバー）とは別の製品です。同じ団体が関わるので紛らわしい点に注意しましょう。
【最初の学び方】
TomcatをPCに入れ、「Hello」と表示するだけの小さなサーブレットを書いて動かしましょう。先にJavaの基礎文法を学んでおくと進めやすくなります。
【つながり】
・Tomcat →（実行する）→ サーブレット
・Tomcat →（製品の例）→ アプリサーバー
・Tomcat ⇄（ちがい）⇄ WebLogic
・Tomcat ⇄（同じ仲間）⇄ Jetty
・デプロイ →（アプリを置く）→ Tomcat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（スライド166／資料の該当箇所：ご提供の用語解説（Tomcat））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JavaのWebアプリを動かす、無料のオープンソース製品（サーブレットコンテナ）。
【どこの話？】
層：ミドルウェア（アプリを支える土台のソフト）
場所：サーバーやPCにインストールして使う、Java用のWebアプリ実行ソフト（ミドルウェア）。
【くわしく】
Tomcat（トムキャット）は、非営利の開発団体Apache Software Foundationが開発するオープンソースのソフトウェアです。JavaのWebアプリを置いて動かす土台として広く知られています。
正確にはサーブレットコンテナ（Javaのプログラムを動かす入れ物）です。Jakarta Servlet、Jakarta Pages（JSP）、WebSocketなどの規格を実装しています。HTTPを直接受ける簡易Webサーバーの機能も内蔵しています。
Jakarta EE（Javaで企業向けシステムを作る規格群）のすべてを実装した製品ではありません。この点がWebLogicとの大きな違いで、必要な機能は、アプリ側が部品を足して使います。
【たとえるなら】
Javaのアプリを載せて動かす「実行台」。台の規格（サーブレット）に合わせて作った劇だけを上演でき、足りない舞台道具は劇団が持ち込みます。
【こんな場面で】
Javaを学ぶ授業や独学で、サーブレットを動かす実習環境として使います。会社でも、Java製のWebシステムの動作環境としてよく名前が挙がります。
【勘違い・つまずき】
TomcatはWebLogicのような「全部入り」ではありません。また、名前の似たApache HTTP Server（Webサーバー）とは別の製品です。同じ団体が関わるので紛らわしい点に注意しましょう。
【最初の学び方】
TomcatをPCに入れ、「Hello」と表示するだけの小さなサーブレットを書いて動かしましょう。先にJavaの基礎文法を学んでおくと進めやすくなります。
【つながり】
・Tomcat →（実行する）→ サーブレット
・Tomcat →（製品の例）→ アプリサーバー
・Tomcat ⇄（ちがい）⇄ WebLogic
・Tomcat ⇄（同じ仲間）⇄ Jetty
・デプロイ →（アプリを置く）→ Tomcat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（スライド167／資料の該当箇所：ご提供の用語解説（Tomcat））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Oracleが提供する、企業向けの機能が広いJavaアプリケーションサーバー。
【どこの話？】
層：ミドルウェア（アプリを支える土台のソフト）
場所：企業のサーバー室やクラウドで動く、Java用の大規模向けアプリ実行ソフト。
【くわしく】
WebLogic Server（ウェブロジック）は、Oracleが提供するJavaのアプリケーションサーバーです。企業の業務システム向けに作られていて、Jakarta EE（Javaで企業向けシステムを作る規格群）を実装した製品です。
TomcatがServletなどWeb関連の規格を中心にしているのに対し、WebLogicはJakarta EEの広い範囲を扱います。複数のサーバーを束ねて1台のように動かすクラスタと、故障時の引き継ぎの機能もあります。
有料のライセンスで、Oracleのサポートを受けて使う商用製品です。Oracle Databaseなど同じ会社の製品とも組み合わせられます。管理用の画面（管理コンソール）から設定や配置ができます。
【たとえるなら】
設備がそろった大型の調理施設。Tomcatを「コンロと包丁の簡易キッチン」とすれば、WebLogicは予備の厨房や管理室まで備えた、大量調理向けの施設です。
【こんな場面で】
大規模な業務システムの設計資料や運用手順書に「WebLogic」と書かれている場面があります。企業向けのシステムに関わると、名前を目にすることがあります。
【勘違い・つまずき】
WebLogicはTomcatと機能の範囲が違うだけで、どちらが上という関係ではありません。小さなWebアプリならTomcatで足りる場面もあります。名前から「Webサーバー」と誤解しないよう注意。
【最初の学び方】
まずJavaのWebアプリ（サーブレット）をTomcatで動かしてみます。その後、WebLogicの公式資料で、配置（デプロイ）・設定・ログ確認の流れを読んでみましょう。
【つながり】
・WebLogic →（製品の例）→ アプリサーバー
・WebLogic ⇄（ちがい）⇄ Tomcat
・WebLogic ⇄（同じ会社）⇄ Oracle Database
・WebLogic →（実行する）→ サーブレット
・デプロイ →（アプリを置く）→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（スライド168／資料の該当箇所：ご提供の用語解説（WebLogic））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Oracleが提供する、企業向けの機能が広いJavaアプリケーションサーバー。
【どこの話？】
層：ミドルウェア（アプリを支える土台のソフト）
場所：企業のサーバー室やクラウドで動く、Java用の大規模向けアプリ実行ソフト。
【くわしく】
WebLogic Server（ウェブロジック）は、Oracleが提供するJavaのアプリケーションサーバーです。企業の業務システム向けに作られていて、Jakarta EE（Javaで企業向けシステムを作る規格群）を実装した製品です。
TomcatがServletなどWeb関連の規格を中心にしているのに対し、WebLogicはJakarta EEの広い範囲を扱います。複数のサーバーを束ねて1台のように動かすクラスタと、故障時の引き継ぎの機能もあります。
有料のライセンスで、Oracleのサポートを受けて使う商用製品です。Oracle Databaseなど同じ会社の製品とも組み合わせられます。管理用の画面（管理コンソール）から設定や配置ができます。
【たとえるなら】
設備がそろった大型の調理施設。Tomcatを「コンロと包丁の簡易キッチン」とすれば、WebLogicは予備の厨房や管理室まで備えた、大量調理向けの施設です。
【こんな場面で】
大規模な業務システムの設計資料や運用手順書に「WebLogic」と書かれている場面があります。企業向けのシステムに関わると、名前を目にすることがあります。
【勘違い・つまずき】
WebLogicはTomcatと機能の範囲が違うだけで、どちらが上という関係ではありません。小さなWebアプリならTomcatで足りる場面もあります。名前から「Webサーバー」と誤解しないよう注意。
【最初の学び方】
まずJavaのWebアプリ（サーブレット）をTomcatで動かしてみます。その後、WebLogicの公式資料で、配置（デプロイ）・設定・ログ確認の流れを読んでみましょう。
【つながり】
・WebLogic →（製品の例）→ アプリサーバー
・WebLogic ⇄（ちがい）⇄ Tomcat
・WebLogic ⇄（同じ会社）⇄ Oracle Database
・WebLogic →（実行する）→ サーブレット
・デプロイ →（アプリを置く）→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（スライド169／資料の該当箇所：ご提供の用語解説（WebLogic））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Oracleが提供する、企業向けの機能が広いJavaアプリケーションサーバー。
【どこの話？】
層：ミドルウェア（アプリを支える土台のソフト）
場所：企業のサーバー室やクラウドで動く、Java用の大規模向けアプリ実行ソフト。
【くわしく】
WebLogic Server（ウェブロジック）は、Oracleが提供するJavaのアプリケーションサーバーです。企業の業務システム向けに作られていて、Jakarta EE（Javaで企業向けシステムを作る規格群）を実装した製品です。
TomcatがServletなどWeb関連の規格を中心にしているのに対し、WebLogicはJakarta EEの広い範囲を扱います。複数のサーバーを束ねて1台のように動かすクラスタと、故障時の引き継ぎの機能もあります。
有料のライセンスで、Oracleのサポートを受けて使う商用製品です。Oracle Databaseなど同じ会社の製品とも組み合わせられます。管理用の画面（管理コンソール）から設定や配置ができます。
【たとえるなら】
設備がそろった大型の調理施設。Tomcatを「コンロと包丁の簡易キッチン」とすれば、WebLogicは予備の厨房や管理室まで備えた、大量調理向けの施設です。
【こんな場面で】
大規模な業務システムの設計資料や運用手順書に「WebLogic」と書かれている場面があります。企業向けのシステムに関わると、名前を目にすることがあります。
【勘違い・つまずき】
WebLogicはTomcatと機能の範囲が違うだけで、どちらが上という関係ではありません。小さなWebアプリならTomcatで足りる場面もあります。名前から「Webサーバー」と誤解しないよう注意。
【最初の学び方】
まずJavaのWebアプリ（サーブレット）をTomcatで動かしてみます。その後、WebLogicの公式資料で、配置（デプロイ）・設定・ログ確認の流れを読んでみましょう。
【つながり】
・WebLogic →（製品の例）→ アプリサーバー
・WebLogic ⇄（ちがい）⇄ Tomcat
・WebLogic ⇄（同じ会社）⇄ Oracle Database
・WebLogic →（実行する）→ サーブレット
・デプロイ →（アプリを置く）→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（スライド170／資料の該当箇所：ご提供の用語解説（WebLogic））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Oracleが提供する、企業向けの機能が広いJavaアプリケーションサーバー。
【どこの話？】
層：ミドルウェア（アプリを支える土台のソフト）
場所：企業のサーバー室やクラウドで動く、Java用の大規模向けアプリ実行ソフト。
【くわしく】
WebLogic Server（ウェブロジック）は、Oracleが提供するJavaのアプリケーションサーバーです。企業の業務システム向けに作られていて、Jakarta EE（Javaで企業向けシステムを作る規格群）を実装した製品です。
TomcatがServletなどWeb関連の規格を中心にしているのに対し、WebLogicはJakarta EEの広い範囲を扱います。複数のサーバーを束ねて1台のように動かすクラスタと、故障時の引き継ぎの機能もあります。
有料のライセンスで、Oracleのサポートを受けて使う商用製品です。Oracle Databaseなど同じ会社の製品とも組み合わせられます。管理用の画面（管理コンソール）から設定や配置ができます。
【たとえるなら】
設備がそろった大型の調理施設。Tomcatを「コンロと包丁の簡易キッチン」とすれば、WebLogicは予備の厨房や管理室まで備えた、大量調理向けの施設です。
【こんな場面で】
大規模な業務システムの設計資料や運用手順書に「WebLogic」と書かれている場面があります。企業向けのシステムに関わると、名前を目にすることがあります。
【勘違い・つまずき】
WebLogicはTomcatと機能の範囲が違うだけで、どちらが上という関係ではありません。小さなWebアプリならTomcatで足りる場面もあります。名前から「Webサーバー」と誤解しないよう注意。
【最初の学び方】
まずJavaのWebアプリ（サーブレット）をTomcatで動かしてみます。その後、WebLogicの公式資料で、配置（デプロイ）・設定・ログ確認の流れを読んでみましょう。
【つながり】
・WebLogic →（製品の例）→ アプリサーバー
・WebLogic ⇄（ちがい）⇄ Tomcat
・WebLogic ⇄（同じ会社）⇄ Oracle Database
・WebLogic →（実行する）→ サーブレット
・デプロイ →（アプリを置く）→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（スライド171／資料の該当箇所：ご提供の用語解説（WebLogic））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Javaで動く軽量なWebサーバー兼サーブレットコンテナ。アプリに組み込める。
【どこの話？】
層：ミドルウェア（アプリを支える土台のソフト）
場所：Javaのプログラムの中に組み込める、小さなWebサーバー（部品）。
【くわしく】
Jetty（ジェッティ）は、オープンソースの開発団体Eclipse Foundationが開発する、Java製のWebサーバー兼サーブレットコンテナです。HTTP/2やWebSocketなど、いろいろな通信方式に対応しています。
特徴は、「組み込み（エンベデッド）」で使いやすいことです。別にサーバーを用意してアプリを置くのではなく、Jettyを部品としてJavaのプログラムに入れ、そのプログラムを起動するとWebサーバーとして動く使い方ができます。
Servletを中心とした機能で、WebLogicのようなJakarta EEの全部入りではありません。小さなツール、開発用の簡易サーバー、フレームワークの内部などで使われます。
【たとえるなら】
小さく軽い、持ち運べるコンロ。自分のアプリというキャンプ道具の袋にそのまま入れて、どこでも火（Web機能）をつけられます。
【こんな場面で】
Javaで作った小さなツールに、ブラウザで操作する画面をつけたいときにJettyを内蔵します。別のサーバーを入れなくても、プログラムを起動するだけで画面が使えます。
【勘違い・つまずき】
Jettyは「Webサーバー」でもありますが、Javaのアプリを動かすサーブレットコンテナでもあります。Apache HTTP Serverとは別の製品です。
【最初の学び方】
Jettyを使った小さなJavaプログラムを動かし、ブラウザで「Hello」と表示してみましょう。プログラムの起動と同時に、Webサーバーが立ち上がることを確かめます。
【つながり】
・Jetty →（実行する）→ サーブレット
・Jetty →（の一種）→ Webサーバー
・Jetty ⇄（同じ仲間）⇄ Tomcat
・Jetty ⇄（ちがい）⇄ WebLogic
・Javaアプリ →（組み込む）→ Jetty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（スライド172／資料の該当箇所：ご提供の用語解説（Jetty））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Javaで動く軽量なWebサーバー兼サーブレットコンテナ。アプリに組み込める。
【どこの話？】
層：ミドルウェア（アプリを支える土台のソフト）
場所：Javaのプログラムの中に組み込める、小さなWebサーバー（部品）。
【くわしく】
Jetty（ジェッティ）は、オープンソースの開発団体Eclipse Foundationが開発する、Java製のWebサーバー兼サーブレットコンテナです。HTTP/2やWebSocketなど、いろいろな通信方式に対応しています。
特徴は、「組み込み（エンベデッド）」で使いやすいことです。別にサーバーを用意してアプリを置くのではなく、Jettyを部品としてJavaのプログラムに入れ、そのプログラムを起動するとWebサーバーとして動く使い方ができます。
Servletを中心とした機能で、WebLogicのようなJakarta EEの全部入りではありません。小さなツール、開発用の簡易サーバー、フレームワークの内部などで使われます。
【たとえるなら】
小さく軽い、持ち運べるコンロ。自分のアプリというキャンプ道具の袋にそのまま入れて、どこでも火（Web機能）をつけられます。
【こんな場面で】
Javaで作った小さなツールに、ブラウザで操作する画面をつけたいときにJettyを内蔵します。別のサーバーを入れなくても、プログラムを起動するだけで画面が使えます。
【勘違い・つまずき】
Jettyは「Webサーバー」でもありますが、Javaのアプリを動かすサーブレットコンテナでもあります。Apache HTTP Serverとは別の製品です。
【最初の学び方】
Jettyを使った小さなJavaプログラムを動かし、ブラウザで「Hello」と表示してみましょう。プログラムの起動と同時に、Webサーバーが立ち上がることを確かめます。
【つながり】
・Jetty →（実行する）→ サーブレット
・Jetty →（の一種）→ Webサーバー
・Jetty ⇄（同じ仲間）⇄ Tomcat
・Jetty ⇄（ちがい）⇄ WebLogic
・Javaアプリ →（組み込む）→ Jetty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（スライド173／資料の該当箇所：ご提供の用語解説（Jetty））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Javaで動く軽量なWebサーバー兼サーブレットコンテナ。アプリに組み込める。
【どこの話？】
層：ミドルウェア（アプリを支える土台のソフト）
場所：Javaのプログラムの中に組み込める、小さなWebサーバー（部品）。
【くわしく】
Jetty（ジェッティ）は、オープンソースの開発団体Eclipse Foundationが開発する、Java製のWebサーバー兼サーブレットコンテナです。HTTP/2やWebSocketなど、いろいろな通信方式に対応しています。
特徴は、「組み込み（エンベデッド）」で使いやすいことです。別にサーバーを用意してアプリを置くのではなく、Jettyを部品としてJavaのプログラムに入れ、そのプログラムを起動するとWebサーバーとして動く使い方ができます。
Servletを中心とした機能で、WebLogicのようなJakarta EEの全部入りではありません。小さなツール、開発用の簡易サーバー、フレームワークの内部などで使われます。
【たとえるなら】
小さく軽い、持ち運べるコンロ。自分のアプリというキャンプ道具の袋にそのまま入れて、どこでも火（Web機能）をつけられます。
【こんな場面で】
Javaで作った小さなツールに、ブラウザで操作する画面をつけたいときにJettyを内蔵します。別のサーバーを入れなくても、プログラムを起動するだけで画面が使えます。
【勘違い・つまずき】
Jettyは「Webサーバー」でもありますが、Javaのアプリを動かすサーブレットコンテナでもあります。Apache HTTP Serverとは別の製品です。
【最初の学び方】
Jettyを使った小さなJavaプログラムを動かし、ブラウザで「Hello」と表示してみましょう。プログラムの起動と同時に、Webサーバーが立ち上がることを確かめます。
【つながり】
・Jetty →（実行する）→ サーブレット
・Jetty →（の一種）→ Webサーバー
・Jetty ⇄（同じ仲間）⇄ Tomcat
・Jetty ⇄（ちがい）⇄ WebLogic
・Javaアプリ →（組み込む）→ Jetty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（スライド174／資料の該当箇所：ご提供の用語解説（Jetty））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Webからの要求を受け取って処理する、サーバー側で動くJavaの部品。
【どこの話？】
層：アプリ（使う人・作る人が直接さわるソフト）
場所：サーバー側で動く、Javaで書かれたWebアプリの部品（プログラム）。
【くわしく】
サーブレットは、ブラウザから来た要求（リクエスト）を受け取り、処理して応答（レスポンス）を返すJavaのプログラムの形式です。サーバーの側で動き、結果のHTMLなどを作ります。
書き方には決まりがあります。HttpServletというクラスを引き継ぎ、doGet（ページを表示する要求用）やdoPost（フォーム送信用）に処理を書きます。この決まりは「Jakarta Servlet」（旧名Java Servlet）という標準の仕様です。
サーブレットは単体では動かず、Tomcatなどのサーブレットコンテナの中で実行されます。通信や起動・終了はコンテナが担当するので、サーブレットは中身の処理に集中できます。Spring MVCなども内部でサーブレットを使います。
【たとえるなら】
窓口の担当者。お客さん（ブラウザ）の申込書（リクエスト）を読み、決まった手順で処理して、返事の紙（レスポンス）を作ります。窓口の建物（コンテナ）は別に用意されています。
【こんな場面で】
Webページのフォームに名前を入れて送信すると、「こんにちは、〇〇さん」というページが返ってきます。受け取りと返事づくりを、サーブレットが担当できます。
【勘違い・つまずき】
「サーブレット」と「サーバー」は別です。サーブレットはプログラムの部品、サーバーはそれを動かす場所です。また、サーブレットはJava用の仕組みです。
【最初の学び方】
Tomcatを入れ、HttpServletを引き継いでdoGetに「Hello」を返す処理を書いてみましょう。ブラウザでURLを開き、返ってきた文字を確認します。
【つながり】
・Tomcat →（実行する）→ サーブレット
・アプリサーバー →（土台になる）→ サーブレット
・サーブレット →（ページを作る）→ HTML
・サーブレット →（データを頼む）→ DBサーバー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（スライド175／資料の該当箇所：ご提供の用語解説（サーブレット））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Webからの要求を受け取って処理する、サーバー側で動くJavaの部品。
【どこの話？】
層：アプリ（使う人・作る人が直接さわるソフト）
場所：サーバー側で動く、Javaで書かれたWebアプリの部品（プログラム）。
【くわしく】
サーブレットは、ブラウザから来た要求（リクエスト）を受け取り、処理して応答（レスポンス）を返すJavaのプログラムの形式です。サーバーの側で動き、結果のHTMLなどを作ります。
書き方には決まりがあります。HttpServletというクラスを引き継ぎ、doGet（ページを表示する要求用）やdoPost（フォーム送信用）に処理を書きます。この決まりは「Jakarta Servlet」（旧名Java Servlet）という標準の仕様です。
サーブレットは単体では動かず、Tomcatなどのサーブレットコンテナの中で実行されます。通信や起動・終了はコンテナが担当するので、サーブレットは中身の処理に集中できます。Spring MVCなども内部でサーブレットを使います。
【たとえるなら】
窓口の担当者。お客さん（ブラウザ）の申込書（リクエスト）を読み、決まった手順で処理して、返事の紙（レスポンス）を作ります。窓口の建物（コンテナ）は別に用意されています。
【こんな場面で】
Webページのフォームに名前を入れて送信すると、「こんにちは、〇〇さん」というページが返ってきます。受け取りと返事づくりを、サーブレットが担当できます。
【勘違い・つまずき】
「サーブレット」と「サーバー」は別です。サーブレットはプログラムの部品、サーバーはそれを動かす場所です。また、サーブレットはJava用の仕組みです。
【最初の学び方】
Tomcatを入れ、HttpServletを引き継いでdoGetに「Hello」を返す処理を書いてみましょう。ブラウザでURLを開き、返ってきた文字を確認します。
【つながり】
・Tomcat →（実行する）→ サーブレット
・アプリサーバー →（土台になる）→ サーブレット
・サーブレット →（ページを作る）→ HTML
・サーブレット →（データを頼む）→ DBサーバー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（スライド176／資料の該当箇所：ご提供の用語解説（サーブレット））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Webからの要求を受け取って処理する、サーバー側で動くJavaの部品。
【どこの話？】
層：アプリ（使う人・作る人が直接さわるソフト）
場所：サーバー側で動く、Javaで書かれたWebアプリの部品（プログラム）。
【くわしく】
サーブレットは、ブラウザから来た要求（リクエスト）を受け取り、処理して応答（レスポンス）を返すJavaのプログラムの形式です。サーバーの側で動き、結果のHTMLなどを作ります。
書き方には決まりがあります。HttpServletというクラスを引き継ぎ、doGet（ページを表示する要求用）やdoPost（フォーム送信用）に処理を書きます。この決まりは「Jakarta Servlet」（旧名Java Servlet）という標準の仕様です。
サーブレットは単体では動かず、Tomcatなどのサーブレットコンテナの中で実行されます。通信や起動・終了はコンテナが担当するので、サーブレットは中身の処理に集中できます。Spring MVCなども内部でサーブレットを使います。
【たとえるなら】
窓口の担当者。お客さん（ブラウザ）の申込書（リクエスト）を読み、決まった手順で処理して、返事の紙（レスポンス）を作ります。窓口の建物（コンテナ）は別に用意されています。
【こんな場面で】
Webページのフォームに名前を入れて送信すると、「こんにちは、〇〇さん」というページが返ってきます。受け取りと返事づくりを、サーブレットが担当できます。
【勘違い・つまずき】
「サーブレット」と「サーバー」は別です。サーブレットはプログラムの部品、サーバーはそれを動かす場所です。また、サーブレットはJava用の仕組みです。
【最初の学び方】
Tomcatを入れ、HttpServletを引き継いでdoGetに「Hello」を返す処理を書いてみましょう。ブラウザでURLを開き、返ってきた文字を確認します。
【つながり】
・Tomcat →（実行する）→ サーブレット
・アプリサーバー →（土台になる）→ サーブレット
・サーブレット →（ページを作る）→ HTML
・サーブレット →（データを頼む）→ DBサーバー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（スライド177／資料の該当箇所：ご提供の用語解説（サーブレット））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Webからの要求を受け取って処理する、サーバー側で動くJavaの部品。
【どこの話？】
層：アプリ（使う人・作る人が直接さわるソフト）
場所：サーバー側で動く、Javaで書かれたWebアプリの部品（プログラム）。
【くわしく】
サーブレットは、ブラウザから来た要求（リクエスト）を受け取り、処理して応答（レスポンス）を返すJavaのプログラムの形式です。サーバーの側で動き、結果のHTMLなどを作ります。
書き方には決まりがあります。HttpServletというクラスを引き継ぎ、doGet（ページを表示する要求用）やdoPost（フォーム送信用）に処理を書きます。この決まりは「Jakarta Servlet」（旧名Java Servlet）という標準の仕様です。
サーブレットは単体では動かず、Tomcatなどのサーブレットコンテナの中で実行されます。通信や起動・終了はコンテナが担当するので、サーブレットは中身の処理に集中できます。Spring MVCなども内部でサーブレットを使います。
【たとえるなら】
窓口の担当者。お客さん（ブラウザ）の申込書（リクエスト）を読み、決まった手順で処理して、返事の紙（レスポンス）を作ります。窓口の建物（コンテナ）は別に用意されています。
【こんな場面で】
Webページのフォームに名前を入れて送信すると、「こんにちは、〇〇さん」というページが返ってきます。受け取りと返事づくりを、サーブレットが担当できます。
【勘違い・つまずき】
「サーブレット」と「サーバー」は別です。サーブレットはプログラムの部品、サーバーはそれを動かす場所です。また、サーブレットはJava用の仕組みです。
【最初の学び方】
Tomcatを入れ、HttpServletを引き継いでdoGetに「Hello」を返す処理を書いてみましょう。ブラウザでURLを開き、返ってきた文字を確認します。
【つながり】
・Tomcat →（実行する）→ サーブレット
・アプリサーバー →（土台になる）→ サーブレット
・サーブレット →（ページを作る）→ HTML
・サーブレット →（データを頼む）→ DBサーバー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（スライド178／資料の該当箇所：ご提供の用語解説（サーブレット））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作ったアプリを、実際に動かすサーバーに置いて、使える状態にすること。
【どこの話？】
層：ミドルウェア・アプリ（アプリを支える土台のソフト）
場所：アプリを作る側の環境から、実際に動かすサーバーへ「届ける」作業の話。
【くわしく】
デプロイ（deploy）は、作ったプログラムを、利用者が実際に使うサーバー（本番環境）などに配置し、動く状態にする作業です。英語の「展開する・配置する」という意味の言葉です。
自分のPCで動いたアプリでも、そのままでは他の人は使えません。ファイルをサーバーに置き、設定を合わせ、起動し、動作を確認するまでがデプロイです。Javaでは、アプリを1つのWARファイル（Javaアプリを1つにまとめた形式）にまとめてTomcatなどに置く方法が代表的です。
アプリの更新（新しい版を出すこと）もデプロイです。失敗すると公開中のサービスに影響するため、テスト用の環境で試し、問題が起きたら前の版に戻せるよう準備します。この作業を自動化する仕組みも使われます。
【たとえるなら】
新メニューを考えた料理人が、試作を厨房に移し、メニュー表に載せて、お客さんに出せる状態にすること。作っただけではお店の料理になりません。
【こんな場面で】
Webサービスに新機能が追加される日や、ゲームのメンテナンス（サーバーの更新）の時間帯には、裏側でデプロイが行われています。
【勘違い・つまずき】
デプロイは「ソフトを作る（開発）」とは別の作業です。「インストール」と似ていますが、多くの人が使うサーバー側に置く作業を指すことが多い点が違います。
【最初の学び方】
学習用のPCにTomcatを入れ、小さなWebアプリ（WARファイル）を置いて動作を確認します。中身を少し直して、置き直す（再デプロイ）ところまで試しましょう。
【つながり】
・デプロイ →（アプリを置く）→ アプリサーバー
・デプロイ →（アプリを置く）→ Tomcat
・Git →（ソースを渡す）→ デプロイ
・デプロイ →（クラウドに置く）→ クラウド仮想サーバー
・ログ →（確認材料になる）→ デプロイ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（スライド179／資料の該当箇所：ご提供の用語解説（デプロイ））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作ったアプリを、実際に動かすサーバーに置いて、使える状態にすること。
【どこの話？】
層：ミドルウェア・アプリ（アプリを支える土台のソフト）
場所：アプリを作る側の環境から、実際に動かすサーバーへ「届ける」作業の話。
【くわしく】
デプロイ（deploy）は、作ったプログラムを、利用者が実際に使うサーバー（本番環境）などに配置し、動く状態にする作業です。英語の「展開する・配置する」という意味の言葉です。
自分のPCで動いたアプリでも、そのままでは他の人は使えません。ファイルをサーバーに置き、設定を合わせ、起動し、動作を確認するまでがデプロイです。Javaでは、アプリを1つのWARファイル（Javaアプリを1つにまとめた形式）にまとめてTomcatなどに置く方法が代表的です。
アプリの更新（新しい版を出すこと）もデプロイです。失敗すると公開中のサービスに影響するため、テスト用の環境で試し、問題が起きたら前の版に戻せるよう準備します。この作業を自動化する仕組みも使われます。
【たとえるなら】
新メニューを考えた料理人が、試作を厨房に移し、メニュー表に載せて、お客さんに出せる状態にすること。作っただけではお店の料理になりません。
【こんな場面で】
Webサービスに新機能が追加される日や、ゲームのメンテナンス（サーバーの更新）の時間帯には、裏側でデプロイが行われています。
【勘違い・つまずき】
デプロイは「ソフトを作る（開発）」とは別の作業です。「インストール」と似ていますが、多くの人が使うサーバー側に置く作業を指すことが多い点が違います。
【最初の学び方】
学習用のPCにTomcatを入れ、小さなWebアプリ（WARファイル）を置いて動作を確認します。中身を少し直して、置き直す（再デプロイ）ところまで試しましょう。
【つながり】
・デプロイ →（アプリを置く）→ アプリサーバー
・デプロイ →（アプリを置く）→ Tomcat
・Git →（ソースを渡す）→ デプロイ
・デプロイ →（クラウドに置く）→ クラウド仮想サーバー
・ログ →（確認材料になる）→ デプロイ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（スライド180／資料の該当箇所：ご提供の用語解説（デプロイ））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作ったアプリを、実際に動かすサーバーに置いて、使える状態にすること。
【どこの話？】
層：ミドルウェア・アプリ（アプリを支える土台のソフト）
場所：アプリを作る側の環境から、実際に動かすサーバーへ「届ける」作業の話。
【くわしく】
デプロイ（deploy）は、作ったプログラムを、利用者が実際に使うサーバー（本番環境）などに配置し、動く状態にする作業です。英語の「展開する・配置する」という意味の言葉です。
自分のPCで動いたアプリでも、そのままでは他の人は使えません。ファイルをサーバーに置き、設定を合わせ、起動し、動作を確認するまでがデプロイです。Javaでは、アプリを1つのWARファイル（Javaアプリを1つにまとめた形式）にまとめてTomcatなどに置く方法が代表的です。
アプリの更新（新しい版を出すこと）もデプロイです。失敗すると公開中のサービスに影響するため、テスト用の環境で試し、問題が起きたら前の版に戻せるよう準備します。この作業を自動化する仕組みも使われます。
【たとえるなら】
新メニューを考えた料理人が、試作を厨房に移し、メニュー表に載せて、お客さんに出せる状態にすること。作っただけではお店の料理になりません。
【こんな場面で】
Webサービスに新機能が追加される日や、ゲームのメンテナンス（サーバーの更新）の時間帯には、裏側でデプロイが行われています。
【勘違い・つまずき】
デプロイは「ソフトを作る（開発）」とは別の作業です。「インストール」と似ていますが、多くの人が使うサーバー側に置く作業を指すことが多い点が違います。
【最初の学び方】
学習用のPCにTomcatを入れ、小さなWebアプリ（WARファイル）を置いて動作を確認します。中身を少し直して、置き直す（再デプロイ）ところまで試しましょう。
【つながり】
・デプロイ →（アプリを置く）→ アプリサーバー
・デプロイ →（アプリを置く）→ Tomcat
・Git →（ソースを渡す）→ デプロイ
・デプロイ →（クラウドに置く）→ クラウド仮想サーバー
・ログ →（確認材料になる）→ デプロイ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（スライド181／資料の該当箇所：ご提供の用語解説（デプロイ））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作ったアプリを、実際に動かすサーバーに置いて、使える状態にすること。
【どこの話？】
層：ミドルウェア・アプリ（アプリを支える土台のソフト）
場所：アプリを作る側の環境から、実際に動かすサーバーへ「届ける」作業の話。
【くわしく】
デプロイ（deploy）は、作ったプログラムを、利用者が実際に使うサーバー（本番環境）などに配置し、動く状態にする作業です。英語の「展開する・配置する」という意味の言葉です。
自分のPCで動いたアプリでも、そのままでは他の人は使えません。ファイルをサーバーに置き、設定を合わせ、起動し、動作を確認するまでがデプロイです。Javaでは、アプリを1つのWARファイル（Javaアプリを1つにまとめた形式）にまとめてTomcatなどに置く方法が代表的です。
アプリの更新（新しい版を出すこと）もデプロイです。失敗すると公開中のサービスに影響するため、テスト用の環境で試し、問題が起きたら前の版に戻せるよう準備します。この作業を自動化する仕組みも使われます。
【たとえるなら】
新メニューを考えた料理人が、試作を厨房に移し、メニュー表に載せて、お客さんに出せる状態にすること。作っただけではお店の料理になりません。
【こんな場面で】
Webサービスに新機能が追加される日や、ゲームのメンテナンス（サーバーの更新）の時間帯には、裏側でデプロイが行われています。
【勘違い・つまずき】
デプロイは「ソフトを作る（開発）」とは別の作業です。「インストール」と似ていますが、多くの人が使うサーバー側に置く作業を指すことが多い点が違います。
【最初の学び方】
学習用のPCにTomcatを入れ、小さなWebアプリ（WARファイル）を置いて動作を確認します。中身を少し直して、置き直す（再デプロイ）ところまで試しましょう。
【つながり】
・デプロイ →（アプリを置く）→ アプリサーバー
・デプロイ →（アプリを置く）→ Tomcat
・Git →（ソースを渡す）→ デプロイ
・デプロイ →（クラウドに置く）→ クラウド仮想サーバー
・ログ →（確認材料になる）→ デプロイ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（スライド182／資料の該当箇所：ご提供の用語解説（デプロイ））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5つの段階を左から右へ進みます。
【処理の詳細】
・作る：プログラムを書く。
・まとめる：サーバーで動かせる形（ファイルのまとまり）にする。
・配置する：サーバーの決められた場所に置く（デプロイ）。
・起動する：アプリを動かす。
・確認する：ブラウザーなどから操作し、動作を確かめる。
【成立条件・例外】
デプロイは、公開だけでなく更新のときにも行います。失敗したとき前の状態へ戻す手順（切り戻し）も大切です。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（スライド183／資料の該当箇所：アプリケーションサーバー「デプロイ」）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5つの段階を左から右へ進みます。
【処理の詳細】
・作る：プログラムを書く。
・まとめる：サーバーで動かせる形（ファイルのまとまり）にする。
・配置する：サーバーの決められた場所に置く（デプロイ）。
・起動する：アプリを動かす。
・確認する：ブラウザーなどから操作し、動作を確かめる。
【成立条件・例外】
デプロイは、公開だけでなく更新のときにも行います。失敗したとき前の状態へ戻す手順（切り戻し）も大切です。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（スライド184／資料の該当箇所：アプリケーションサーバー「デプロイ」）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表は貼り付けの記載のとおりです。右の「例」が、イメージをつかむ手がかりです。
【処理の詳細】
・仮想化：1台の物理コンピューターの上に、ソフトウェアで複数の仮想コンピューターを作る技術。
・コンテナ：アプリと必要な部品をまとめ、隔離した環境で動かす仕組み。通常はOSの中心部分を共有する。
・プライベートクラウド：特定の組織専用のクラウド環境。自社設備や外部の専用環境などに構築する。
【よくある誤解】
仮想マシンは通常、それぞれにOSを持ちます。コンテナはOSの中心部分を共有する方式なので、構成や起動の仕方が異なります（貼り付けの記載）。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（スライド185／資料の該当箇所：仮想化・コンテナ・プライベートクラウド「質問16・17」）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表は貼り付けの記載のとおりです。右の「例」が、イメージをつかむ手がかりです。
【処理の詳細】
・仮想化：1台の物理コンピューターの上に、ソフトウェアで複数の仮想コンピューターを作る技術。
・コンテナ：アプリと必要な部品をまとめ、隔離した環境で動かす仕組み。通常はOSの中心部分を共有する。
・プライベートクラウド：特定の組織専用のクラウド環境。自社設備や外部の専用環境などに構築する。
【よくある誤解】
仮想マシンは通常、それぞれにOSを持ちます。コンテナはOSの中心部分を共有する方式なので、構成や起動の仕方が異なります（貼り付けの記載）。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（スライド186／資料の該当箇所：仮想化・コンテナ・プライベートクラウド「質問16・17」）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左がVM、右がコンテナです。下から上へ、土台→実行基盤→アプリの順に積み重なります。
【処理の詳細】
・VM：ハイパーバイザーの上に、OSを持つ仮想マシンを複数動かす。OSを丸ごと持つぶん、分離が強い一方で大きい。
・コンテナ：1つのOSの上に、コンテナエンジン（Dockerなど）を置き、アプリごとの隔離した環境を動かす。OSの中心部分（カーネル）を共有するため軽い。
・Dockerは、アプリを隔離した環境（コンテナ）で動かす仕組みを提供します[D02]。
【よくある誤解】
コンテナは「小さなVM」ではありません。OSの中心部分を共有している点が根本的に違います。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[D02] Docker公式ドキュメント：What is Docker?
    https://docs.docker.com/get-started/docker-overview/
確認時点：原資料の記載は2026年9月30日〜10月1日（日本時間）。変わりやすい情報（価格・製品・採用条件）は最新の公式ページで再確認してください。
（スライド187／資料の該当箇所：仮想化・コンテナ「仮想マシンとコンテナの違い」）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道すじが仮想マシン、右がコンテナです。左：ハードウェアをハイパーバイザーが分け、その上に仮想マシンができます。右：OSの上でDockerが動き、コンテナを作ります。OpenStackは仮想マシンを管理してプライベートクラウドを作り、Kubernetesは多数のコンテナを管理します。
【情報の区分】
補足（一般的な説明）
【出典（資料名・URL）】
[G01] 編集者による補足（一般的な技術知識。たとえ話・図・補足用語）
[U01] ご提供の質問票用語解説（質問12〜26ほか。貼り付けられた本文。範囲は途中から途中まで）
[D02] Docker公式ドキュメント：What is Docker?
    https://docs.docker.com/get-started/docker-overview/
[D03] Kubernetes公式ドキュメント：Overview
    https://kubernetes.io/docs/concepts/overview/
確認時点：原資料の記載は2026年9月30日〜10月1日（日本時間）。変わりやすい情報（価格・製品・採用条件）は最新の公式ページで再確認してください。
（スライド188／資料の該当箇所：仮想化・コンテナ）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1台の機械を、ソフトの力で複数の独立した環境に分けて使う技術。
【どこの話？】
層：仮想化（1台を分けて使う・箱に詰める）
場所：ハードウェアやOSの上で、1台の機械を分けて使うための層。
【くわしく】
仮想化は、1台の本物の機械（物理サーバー）を、ソフトで「何台かの別々のコンピューター」に見せる技術です。分けた1つ1つを仮想マシン（VM）と呼びます。
やり方は大きく2つです。OSごと分けるVM型と、アプリごと箱に詰めるコンテナ型です。目的は、CPUやメモリの使い残しをなくし、用途ごとに環境を分けて管理しやすくすることです。
分けた環境は、作る・コピーする・消すがソフトの操作だけで済みます。機械を買い足すより速く、クラウドもこの仮想化の上に成り立っています。
【たとえるなら】
1台に1用途なら一戸建て。仮想化は、大きなマンションを部屋ごとに貸す方式で、物理サーバーがマンション、分けた環境が各部屋です。
【こんな場面で】
Windows PCの中でLinuxを試す、会社が10個の小さなシステムを数台のサーバーにまとめる、といった場面で使われます。
【勘違い・つまずき】
仮想化は「VMを作ること」だけではなく、コンテナも仮想化の仲間です。VMの実際の性能は、元の物理サーバーの性能が上限です。
【最初の学び方】
タスクマネージャーの「パフォーマンス」→「CPU」で、自分のPCの「仮想化」が有効か確認しましょう。
【つながり】
・ハイパーバイザー →（実現する）→ 仮想化
・仮想化 →（作り出す）→ 仮想マシン
・仮想化 ⇄（別の方式）⇄ コンテナ
・仮想化 →（分けて使う）→ ハードウェア
・仮想化 →（土台になる）→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（スライド189／資料の該当箇所：編集者による補足（仮想化））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1台の機械を、ソフトの力で複数の独立した環境に分けて使う技術。
【どこの話？】
層：仮想化（1台を分けて使う・箱に詰める）
場所：ハードウェアやOSの上で、1台の機械を分けて使うための層。
【くわしく】
仮想化は、1台の本物の機械（物理サーバー）を、ソフトで「何台かの別々のコンピューター」に見せる技術です。分けた1つ1つを仮想マシン（VM）と呼びます。
やり方は大きく2つです。OSごと分けるVM型と、アプリごと箱に詰めるコンテナ型です。目的は、CPUやメモリの使い残しをなくし、用途ごとに環境を分けて管理しやすくすることです。
分けた環境は、作る・コピーする・消すがソフトの操作だけで済みます。機械を買い足すより速く、クラウドもこの仮想化の上に成り立っています。
【たとえるなら】
1台に1用途なら一戸建て。仮想化は、大きなマンションを部屋ごとに貸す方式で、物理サーバーがマンション、分けた環境が各部屋です。
【こんな場面で】
Windows PCの中でLinuxを試す、会社が10個の小さなシステムを数台のサーバーにまとめる、といった場面で使われます。
【勘違い・つまずき】
仮想化は「VMを作ること」だけではなく、コンテナも仮想化の仲間です。VMの実際の性能は、元の物理サーバーの性能が上限です。
【最初の学び方】
タスクマネージャーの「パフォーマンス」→「CPU」で、自分のPCの「仮想化」が有効か確認しましょう。
【つながり】
・ハイパーバイザー →（実現する）→ 仮想化
・仮想化 →（作り出す）→ 仮想マシン
・仮想化 ⇄（別の方式）⇄ コンテナ
・仮想化 →（分けて使う）→ ハードウェア
・仮想化 →（土台になる）→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（スライド190／資料の該当箇所：編集者による補足（仮想化））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1台の機械を、ソフトの力で複数の独立した環境に分けて使う技術。
【どこの話？】
層：仮想化（1台を分けて使う・箱に詰める）
場所：ハードウェアやOSの上で、1台の機械を分けて使うための層。
【くわしく】
仮想化は、1台の本物の機械（物理サーバー）を、ソフトで「何台かの別々のコンピューター」に見せる技術です。分けた1つ1つを仮想マシン（VM）と呼びます。
やり方は大きく2つです。OSごと分けるVM型と、アプリごと箱に詰めるコンテナ型です。目的は、CPUやメモリの使い残しをなくし、用途ごとに環境を分けて管理しやすくすることです。
分けた環境は、作る・コピーする・消すがソフトの操作だけで済みます。機械を買い足すより速く、クラウドもこの仮想化の上に成り立っています。
【たとえるなら】
1台に1用途なら一戸建て。仮想化は、大きなマンションを部屋ごとに貸す方式で、物理サーバーがマンション、分けた環境が各部屋です。
【こんな場面で】
Windows PCの中でLinuxを試す、会社が10個の小さなシステムを数台のサーバーにまとめる、といった場面で使われます。
【勘違い・つまずき】
仮想化は「VMを作ること」だけではなく、コンテナも仮想化の仲間です。VMの実際の性能は、元の物理サーバーの性能が上限です。
【最初の学び方】
タスクマネージャーの「パフォーマンス」→「CPU」で、自分のPCの「仮想化」が有効か確認しましょう。
【つながり】
・ハイパーバイザー →（実現する）→ 仮想化
・仮想化 →（作り出す）→ 仮想マシン
・仮想化 ⇄（別の方式）⇄ コンテナ
・仮想化 →（分けて使う）→ ハードウェア
・仮想化 →（土台になる）→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（スライド191／資料の該当箇所：編集者による補足（仮想化））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本物の機械の中に、ソフトで作る「もう1台のコンピューター」。
【どこの話？】
層：仮想化（1台を分けて使う・箱に詰める）
場所：サーバーやPCの中でソフトとして動く「仮想のコンピューター」。
【くわしく】
仮想マシン（VM）は、ソフトで作った架空のコンピューターです。CPU・メモリ・ディスクが本物のPCのように見えるので、WindowsやLinuxなどのOSをまるごと入れて動かせます。
本物の機械（ホスト）の部品は、ハイパーバイザーが割り当てます。VMは仮想ディスクという大きなファイルとして保存されることが多く、コピーすれば増やせます。VMごとにOSを持つため、起動は遅めで、メモリも多く使います。
【たとえるなら】
アパートの1室。部屋ごとに玄関・台所・風呂（＝OS）が独立し、隣に左右されませんが、設備が全部屋にあるぶん場所をとります。
【こんな場面で】
PCの中で別のOSを試す、授業でLinuxを入れて壊してもやり直す、古いシステムを専用のVMに分けて動かす、といった場面です。
【勘違い・つまずき】
VMは「アプリを入れただけ」ではなく、OSまで入った別のコンピューターです。VMごとにOSの更新や対策も必要です。
【最初の学び方】
VirtualBoxなどでLinuxのVMを1台作り、起動・停止・削除を試しましょう。メモリ量を変えると動きが変わります。
【つながり】
・ハイパーバイザー →（作り出す）→ 仮想マシン
・仮想マシン →（OSを動かす）→ OS
・仮想マシン →（部品を借りる）→ ハードウェア
・仮想マシン ⇄（ちがい）⇄ コンテナ
・仮想マシン →（土台になる）→ クラウド仮想サーバー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（スライド192／資料の該当箇所：ご提供の用語解説（仮想マシン（VM）））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本物の機械の中に、ソフトで作る「もう1台のコンピューター」。
【どこの話？】
層：仮想化（1台を分けて使う・箱に詰める）
場所：サーバーやPCの中でソフトとして動く「仮想のコンピューター」。
【くわしく】
仮想マシン（VM）は、ソフトで作った架空のコンピューターです。CPU・メモリ・ディスクが本物のPCのように見えるので、WindowsやLinuxなどのOSをまるごと入れて動かせます。
本物の機械（ホスト）の部品は、ハイパーバイザーが割り当てます。VMは仮想ディスクという大きなファイルとして保存されることが多く、コピーすれば増やせます。VMごとにOSを持つため、起動は遅めで、メモリも多く使います。
【たとえるなら】
アパートの1室。部屋ごとに玄関・台所・風呂（＝OS）が独立し、隣に左右されませんが、設備が全部屋にあるぶん場所をとります。
【こんな場面で】
PCの中で別のOSを試す、授業でLinuxを入れて壊してもやり直す、古いシステムを専用のVMに分けて動かす、といった場面です。
【勘違い・つまずき】
VMは「アプリを入れただけ」ではなく、OSまで入った別のコンピューターです。VMごとにOSの更新や対策も必要です。
【最初の学び方】
VirtualBoxなどでLinuxのVMを1台作り、起動・停止・削除を試しましょう。メモリ量を変えると動きが変わります。
【つながり】
・ハイパーバイザー →（作り出す）→ 仮想マシン
・仮想マシン →（OSを動かす）→ OS
・仮想マシン →（部品を借りる）→ ハードウェア
・仮想マシン ⇄（ちがい）⇄ コンテナ
・仮想マシン →（土台になる）→ クラウド仮想サーバー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（スライド193／資料の該当箇所：ご提供の用語解説（仮想マシン（VM）））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本物の機械の中に、ソフトで作る「もう1台のコンピューター」。
【どこの話？】
層：仮想化（1台を分けて使う・箱に詰める）
場所：サーバーやPCの中でソフトとして動く「仮想のコンピューター」。
【くわしく】
仮想マシン（VM）は、ソフトで作った架空のコンピューターです。CPU・メモリ・ディスクが本物のPCのように見えるので、WindowsやLinuxなどのOSをまるごと入れて動かせます。
本物の機械（ホスト）の部品は、ハイパーバイザーが割り当てます。VMは仮想ディスクという大きなファイルとして保存されることが多く、コピーすれば増やせます。VMごとにOSを持つため、起動は遅めで、メモリも多く使います。
【たとえるなら】
アパートの1室。部屋ごとに玄関・台所・風呂（＝OS）が独立し、隣に左右されませんが、設備が全部屋にあるぶん場所をとります。
【こんな場面で】
PCの中で別のOSを試す、授業でLinuxを入れて壊してもやり直す、古いシステムを専用のVMに分けて動かす、といった場面です。
【勘違い・つまずき】
VMは「アプリを入れただけ」ではなく、OSまで入った別のコンピューターです。VMごとにOSの更新や対策も必要です。
【最初の学び方】
VirtualBoxなどでLinuxのVMを1台作り、起動・停止・削除を試しましょう。メモリ量を変えると動きが変わります。
【つながり】
・ハイパーバイザー →（作り出す）→ 仮想マシン
・仮想マシン →（OSを動かす）→ OS
・仮想マシン →（部品を借りる）→ ハードウェア
・仮想マシン ⇄（ちがい）⇄ コンテナ
・仮想マシン →（土台になる）→ クラウド仮想サーバー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（スライド194／資料の該当箇所：ご提供の用語解説（仮想マシン（VM）））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VMを作り、CPUやメモリを割り当てて動かす、仮想化の管理役。
【どこの話？】
層：仮想化（1台を分けて使う・箱に詰める）
場所：ハードウェアとVMの間で動く、仮想化専用の管理ソフト。
【くわしく】
ハイパーバイザーは、物理サーバーの上でVMを作って動かすソフトです。物理のCPUやメモリを各VMに「ここからここまで」と割り当て、VM同士が邪魔し合わないよう見張ります。
機械に直接入れる「ベアメタル型」と、WindowsやMacにアプリとして入れる「ホスト型」があります。前者の例はVMware ESXi、後者の例はVirtualBoxです。サーバーでは前者が主に使われます。
【たとえるなら】
アパートの管理会社。ビルを部屋に仕切り、入居者（VM）へ水道・電気（CPUやメモリ）を配り、隣へ迷惑をかけないよう調整します。
【こんな場面で】
サーバー1台に10個のVMを載せるとき、「このVMはCPU2つ、メモリ4GB」と設定する場面です。VMソフトの裏でも働いています。
【勘違い・つまずき】
ハイパーバイザーはVMそのものではなく、VMを作って動かす側です。割り当てを増やしすぎると、同時に使ったとき全体が遅くなります。
【最初の学び方】
VMソフトでCPU数とメモリ量を変えて起動し、VM内のタスクマネージャーなどで数字が変わるのを確かめましょう。
【つながり】
・ハイパーバイザー →（作り出す）→ 仮想マシン
・ハイパーバイザー →（分けて配る）→ ハードウェア
・ハイパーバイザー →（実現する）→ 仮想化
・KVM →（具体例）→ ハイパーバイザー
・Hyper-V →（具体例）→ ハイパーバイザー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（スライド195／資料の該当箇所：ご提供の用語解説（ハイパーバイザー））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VMを作り、CPUやメモリを割り当てて動かす、仮想化の管理役。
【どこの話？】
層：仮想化（1台を分けて使う・箱に詰める）
場所：ハードウェアとVMの間で動く、仮想化専用の管理ソフト。
【くわしく】
ハイパーバイザーは、物理サーバーの上でVMを作って動かすソフトです。物理のCPUやメモリを各VMに「ここからここまで」と割り当て、VM同士が邪魔し合わないよう見張ります。
機械に直接入れる「ベアメタル型」と、WindowsやMacにアプリとして入れる「ホスト型」があります。前者の例はVMware ESXi、後者の例はVirtualBoxです。サーバーでは前者が主に使われます。
【たとえるなら】
アパートの管理会社。ビルを部屋に仕切り、入居者（VM）へ水道・電気（CPUやメモリ）を配り、隣へ迷惑をかけないよう調整します。
【こんな場面で】
サーバー1台に10個のVMを載せるとき、「このVMはCPU2つ、メモリ4GB」と設定する場面です。VMソフトの裏でも働いています。
【勘違い・つまずき】
ハイパーバイザーはVMそのものではなく、VMを作って動かす側です。割り当てを増やしすぎると、同時に使ったとき全体が遅くなります。
【最初の学び方】
VMソフトでCPU数とメモリ量を変えて起動し、VM内のタスクマネージャーなどで数字が変わるのを確かめましょう。
【つながり】
・ハイパーバイザー →（作り出す）→ 仮想マシン
・ハイパーバイザー →（分けて配る）→ ハードウェア
・ハイパーバイザー →（実現する）→ 仮想化
・KVM →（具体例）→ ハイパーバイザー
・Hyper-V →（具体例）→ ハイパーバイザー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（スライド196／資料の該当箇所：ご提供の用語解説（ハイパーバイザー））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VMを作り、CPUやメモリを割り当てて動かす、仮想化の管理役。
【どこの話？】
層：仮想化（1台を分けて使う・箱に詰める）
場所：ハードウェアとVMの間で動く、仮想化専用の管理ソフト。
【くわしく】
ハイパーバイザーは、物理サーバーの上でVMを作って動かすソフトです。物理のCPUやメモリを各VMに「ここからここまで」と割り当て、VM同士が邪魔し合わないよう見張ります。
機械に直接入れる「ベアメタル型」と、WindowsやMacにアプリとして入れる「ホスト型」があります。前者の例はVMware ESXi、後者の例はVirtualBoxです。サーバーでは前者が主に使われます。
【たとえるなら】
アパートの管理会社。ビルを部屋に仕切り、入居者（VM）へ水道・電気（CPUやメモリ）を配り、隣へ迷惑をかけないよう調整します。
【こんな場面で】
サーバー1台に10個のVMを載せるとき、「このVMはCPU2つ、メモリ4GB」と設定する場面です。VMソフトの裏でも働いています。
【勘違い・つまずき】
ハイパーバイザーはVMそのものではなく、VMを作って動かす側です。割り当てを増やしすぎると、同時に使ったとき全体が遅くなります。
【最初の学び方】
VMソフトでCPU数とメモリ量を変えて起動し、VM内のタスクマネージャーなどで数字が変わるのを確かめましょう。
【つながり】
・ハイパーバイザー →（作り出す）→ 仮想マシン
・ハイパーバイザー →（分けて配る）→ ハードウェア
・ハイパーバイザー →（実現する）→ 仮想化
・KVM →（具体例）→ ハイパーバイザー
・Hyper-V →（具体例）→ ハイパーバイザー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（スライド197／資料の該当箇所：ご提供の用語解説（ハイパーバイザー））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アプリと必要な部品を箱に詰め、OSを共有して軽く動かす技術。
【どこの話？】
層：仮想化（1台を分けて使う・箱に詰める）
場所：OSの上で、アプリごとに隔離して動かす層（仮想化の一種）。
【くわしく】
コンテナは、アプリと必要な部品（ライブラリや設定）を1つにまとめ、他から隔離して動かす仕組みです。OSの中心部分（カーネル）は、同じ機械上のコンテナ同士で共有します。
住まいにたとえると、VMはアパート、コンテナは台所と風呂（OS）を共用するシェアハウスです。OSの中心部分（カーネル）を共有するぶん小さく、起動も短時間で、1台で多数を動かせます。ただし隔離の強さはVMと違います。
コンテナの中身は「イメージ」という設計図から作り、Dockerなどのツールで動かします。多数のコンテナはKubernetesなどで管理します。
【たとえるなら】
コンテナ船の貨物コンテナ。中身が何でも規格の同じ箱に入れれば、船でもトラックでも同じように運べます。船が機械、箱がアプリです。
【こんな場面で】
チームで開発するとき、「自分のPCでは動くのに他の人では動かない」を防ぐため、全員が同じコンテナを起動する場面です。
【勘違い・つまずき】
コンテナはVMの小型版ではありません。OSの中心部分を共有するので、Linuxのコンテナは、Linuxのカーネル上で動きます。
【最初の学び方】
「VMはアパート、コンテナはシェアハウス」の図を描き、共有する部分と別々の部分を書き分けましょう。
【つながり】
・Docker →（作って動かす）→ コンテナ
・コンテナ ⇄（ちがい）⇄ 仮想マシン
・コンテナ →（OSを共有）→ OS
・Kubernetes →（管理する）→ コンテナ
・コンテナ →（配置の単位）→ デプロイ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（スライド198／資料の該当箇所：編集者による補足（コンテナ））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アプリと必要な部品を箱に詰め、OSを共有して軽く動かす技術。
【どこの話？】
層：仮想化（1台を分けて使う・箱に詰める）
場所：OSの上で、アプリごとに隔離して動かす層（仮想化の一種）。
【くわしく】
コンテナは、アプリと必要な部品（ライブラリや設定）を1つにまとめ、他から隔離して動かす仕組みです。OSの中心部分（カーネル）は、同じ機械上のコンテナ同士で共有します。
住まいにたとえると、VMはアパート、コンテナは台所と風呂（OS）を共用するシェアハウスです。OSの中心部分（カーネル）を共有するぶん小さく、起動も短時間で、1台で多数を動かせます。ただし隔離の強さはVMと違います。
コンテナの中身は「イメージ」という設計図から作り、Dockerなどのツールで動かします。多数のコンテナはKubernetesなどで管理します。
【たとえるなら】
コンテナ船の貨物コンテナ。中身が何でも規格の同じ箱に入れれば、船でもトラックでも同じように運べます。船が機械、箱がアプリです。
【こんな場面で】
チームで開発するとき、「自分のPCでは動くのに他の人では動かない」を防ぐため、全員が同じコンテナを起動する場面です。
【勘違い・つまずき】
コンテナはVMの小型版ではありません。OSの中心部分を共有するので、Linuxのコンテナは、Linuxのカーネル上で動きます。
【最初の学び方】
「VMはアパート、コンテナはシェアハウス」の図を描き、共有する部分と別々の部分を書き分けましょう。
【つながり】
・Docker →（作って動かす）→ コンテナ
・コンテナ ⇄（ちがい）⇄ 仮想マシン
・コンテナ →（OSを共有）→ OS
・Kubernetes →（管理する）→ コンテナ
・コンテナ →（配置の単位）→ デプロイ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（スライド199／資料の該当箇所：編集者による補足（コンテナ））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アプリと必要な部品を箱に詰め、OSを共有して軽く動かす技術。
【どこの話？】
層：仮想化（1台を分けて使う・箱に詰める）
場所：OSの上で、アプリごとに隔離して動かす層（仮想化の一種）。
【くわしく】
コンテナは、アプリと必要な部品（ライブラリや設定）を1つにまとめ、他から隔離して動かす仕組みです。OSの中心部分（カーネル）は、同じ機械上のコンテナ同士で共有します。
住まいにたとえると、VMはアパート、コンテナは台所と風呂（OS）を共用するシェアハウスです。OSの中心部分（カーネル）を共有するぶん小さく、起動も短時間で、1台で多数を動かせます。ただし隔離の強さはVMと違います。
コンテナの中身は「イメージ」という設計図から作り、Dockerなどのツールで動かします。多数のコンテナはKubernetesなどで管理します。
【たとえるなら】
コンテナ船の貨物コンテナ。中身が何でも規格の同じ箱に入れれば、船でもトラックでも同じように運べます。船が機械、箱がアプリです。
【こんな場面で】
チームで開発するとき、「自分のPCでは動くのに他の人では動かない」を防ぐため、全員が同じコンテナを起動する場面です。
【勘違い・つまずき】
コンテナはVMの小型版ではありません。OSの中心部分を共有するので、Linuxのコンテナは、Linuxのカーネル上で動きます。
【最初の学び方】
「VMはアパート、コンテナはシェアハウス」の図を描き、共有する部分と別々の部分を書き分けましょう。
【つながり】
・Docker →（作って動かす）→ コンテナ
・コンテナ ⇄（ちがい）⇄ 仮想マシン
・コンテナ →（OSを共有）→ OS
・Kubernetes →（管理する）→ コンテナ
・コンテナ →（配置の単位）→ デプロイ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（スライド200／資料の該当箇所：編集者による補足（コンテナ））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アプリを開発し、配り、動かすための、コンテナを使ったオープンなプラットフォーム。
【どこの話？】
層：仮想化（1台を分けて使う・箱に詰める）
場所：開発者のPCやサーバーの上で動く、コンテナを扱うツール群。
【くわしく】
Dockerは、アプリをコンテナという隔離された環境に入れて、開発・配布・実行するためのプラットフォームです。アプリを動かす環境（インフラ）から切り離し、素早く届けられます。
基本の部品は3つ。設計図の「イメージ」、それから動かす実体の「コンテナ」、イメージの置き場の「レジストリ（Docker Hubなど）」です。イメージはDockerfileという手順書から作ります。
操作は、dockerコマンド（クライアント）が、裏で動く常駐ソフト（Dockerデーモン）に指示する形です。コンテナは手元のPC、サーバー、クラウドのどこにも置けます。
【たとえるなら】
設計図と製品の関係。イメージが設計図、コンテナがそれから作った実物、レジストリが設計図の保管庫。同じ設計図から何個でも作れます。
【こんな場面で】
授業で先生が配ったイメージを「docker run」で起動するだけで、全員が同じ開発環境を用意できる場面です。公開（デプロイ）にも使います。
【勘違い・つまずき】
Dockerはコンテナそのものではなく、扱うための製品名です。WindowsやMacのDocker Desktopでは、裏でLinuxの仮想環境が動きます。
【最初の学び方】
Docker Desktopを入れて「docker run hello-world」を実行しましょう。動いたら、自分のアプリのDockerfileを書きます。
【つながり】
・Docker →（作って動かす）→ コンテナ
・Docker →（箱に詰める）→ アプリサーバー
・Docker →（配置を楽にする）→ デプロイ
・Docker →（コンテナを渡す）→ Kubernetes
・Docker →（機能を使う）→ Linux
【貼り付け資料の記載（要旨）】
Dockerは、コンテナによるアプリの開発・実行を支えます（貼り付けの記載）。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[D02] Docker公式ドキュメント：What is Docker?
    https://docs.docker.com/get-started/docker-overview/
確認時点：原資料の記載は2026年9月30日〜10月1日（日本時間）。変わりやすい情報（価格・製品・採用条件）は最新の公式ページで再確認してください。
（スライド201／資料の該当箇所：ご提供の用語解説（Docker））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アプリを開発し、配り、動かすための、コンテナを使ったオープンなプラットフォーム。
【どこの話？】
層：仮想化（1台を分けて使う・箱に詰める）
場所：開発者のPCやサーバーの上で動く、コンテナを扱うツール群。
【くわしく】
Dockerは、アプリをコンテナという隔離された環境に入れて、開発・配布・実行するためのプラットフォームです。アプリを動かす環境（インフラ）から切り離し、素早く届けられます。
基本の部品は3つ。設計図の「イメージ」、それから動かす実体の「コンテナ」、イメージの置き場の「レジストリ（Docker Hubなど）」です。イメージはDockerfileという手順書から作ります。
操作は、dockerコマンド（クライアント）が、裏で動く常駐ソフト（Dockerデーモン）に指示する形です。コンテナは手元のPC、サーバー、クラウドのどこにも置けます。
【たとえるなら】
設計図と製品の関係。イメージが設計図、コンテナがそれから作った実物、レジストリが設計図の保管庫。同じ設計図から何個でも作れます。
【こんな場面で】
授業で先生が配ったイメージを「docker run」で起動するだけで、全員が同じ開発環境を用意できる場面です。公開（デプロイ）にも使います。
【勘違い・つまずき】
Dockerはコンテナそのものではなく、扱うための製品名です。WindowsやMacのDocker Desktopでは、裏でLinuxの仮想環境が動きます。
【最初の学び方】
Docker Desktopを入れて「docker run hello-world」を実行しましょう。動いたら、自分のアプリのDockerfileを書きます。
【つながり】
・Docker →（作って動かす）→ コンテナ
・Docker →（箱に詰める）→ アプリサーバー
・Docker →（配置を楽にする）→ デプロイ
・Docker →（コンテナを渡す）→ Kubernetes
・Docker →（機能を使う）→ Linux
【貼り付け資料の記載（要旨）】
Dockerは、コンテナによるアプリの開発・実行を支えます（貼り付けの記載）。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[D02] Docker公式ドキュメント：What is Docker?
    https://docs.docker.com/get-started/docker-overview/
確認時点：原資料の記載は2026年9月30日〜10月1日（日本時間）。変わりやすい情報（価格・製品・採用条件）は最新の公式ページで再確認してください。
（スライド202／資料の該当箇所：ご提供の用語解説（Docker））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アプリを開発し、配り、動かすための、コンテナを使ったオープンなプラットフォーム。
【どこの話？】
層：仮想化（1台を分けて使う・箱に詰める）
場所：開発者のPCやサーバーの上で動く、コンテナを扱うツール群。
【くわしく】
Dockerは、アプリをコンテナという隔離された環境に入れて、開発・配布・実行するためのプラットフォームです。アプリを動かす環境（インフラ）から切り離し、素早く届けられます。
基本の部品は3つ。設計図の「イメージ」、それから動かす実体の「コンテナ」、イメージの置き場の「レジストリ（Docker Hubなど）」です。イメージはDockerfileという手順書から作ります。
操作は、dockerコマンド（クライアント）が、裏で動く常駐ソフト（Dockerデーモン）に指示する形です。コンテナは手元のPC、サーバー、クラウドのどこにも置けます。
【たとえるなら】
設計図と製品の関係。イメージが設計図、コンテナがそれから作った実物、レジストリが設計図の保管庫。同じ設計図から何個でも作れます。
【こんな場面で】
授業で先生が配ったイメージを「docker run」で起動するだけで、全員が同じ開発環境を用意できる場面です。公開（デプロイ）にも使います。
【勘違い・つまずき】
Dockerはコンテナそのものではなく、扱うための製品名です。WindowsやMacのDocker Desktopでは、裏でLinuxの仮想環境が動きます。
【最初の学び方】
Docker Desktopを入れて「docker run hello-world」を実行しましょう。動いたら、自分のアプリのDockerfileを書きます。
【つながり】
・Docker →（作って動かす）→ コンテナ
・Docker →（箱に詰める）→ アプリサーバー
・Docker →（配置を楽にする）→ デプロイ
・Docker →（コンテナを渡す）→ Kubernetes
・Docker →（機能を使う）→ Linux
【貼り付け資料の記載（要旨）】
Dockerは、コンテナによるアプリの開発・実行を支えます（貼り付けの記載）。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[D02] Docker公式ドキュメント：What is Docker?
    https://docs.docker.com/get-started/docker-overview/
確認時点：原資料の記載は2026年9月30日〜10月1日（日本時間）。変わりやすい情報（価格・製品・採用条件）は最新の公式ページで再確認してください。
（スライド203／資料の該当箇所：ご提供の用語解説（Docker））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多数のコンテナを、どの機械でどう動かすか自動で管理する仕組み。
【どこの話？】
層：仮想化（1台を分けて使う・箱に詰める）
場所：複数のサーバーにまたがり、コンテナを配置・運用する管理基盤。
【くわしく】
Kubernetes（クバネティス、K8s）は、コンテナ化したアプリを管理するオープンソースの基盤です。「3つ動かしておく」と望む状態を書けば、実際の状態をそれに合わせ続けます。
止まったコンテナは再起動し、負荷は分散し、設定すればアクセス増加で数も増やします。複数の機械（ノード）を束ねたものがクラスターで、コンテナはPod（入れ物）の単位で空いた機械へ自動配置されます。
【たとえるなら】
コンテナ船団の運行管理者。どの船（機械）にどの箱を積むかを決め、故障した船の箱は別の船へ積み替えます。
【こんな場面で】
アクセスが集中するネットのサービスで、コンテナ数を自動で増やし、サーバーが1台壊れても別のサーバーで動かし直す場面です。
【勘違い・つまずき】
KubernetesはDockerの代わりではなく、コンテナを多数動かすときの運用管理を担います。数個なら不要なことも多く、学ぶ範囲も広めです。
【最初の学び方】
Dockerを学んだ後、公式のMinikubeを使う入門チュートリアルで、小さなアプリを動かしPodの数を変えてみましょう。
【つながり】
・Kubernetes →（管理する）→ コンテナ
・Docker →（コンテナを渡す）→ Kubernetes
・Kubernetes →（自動で配置）→ デプロイ
・マネージドサービス →（提供する）→ Kubernetes
【貼り付け資料の記載（要旨）】
Kubernetesは、コンテナ化したアプリの管理を担います（貼り付けの記載）。公式資料では、スケーリングや障害時の復旧（フェイルオーバー）を扱うと説明されています。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[D03] Kubernetes公式ドキュメント：Overview
    https://kubernetes.io/docs/concepts/overview/
確認時点：原資料の記載は2026年9月30日〜10月1日（日本時間）。変わりやすい情報（価格・製品・採用条件）は最新の公式ページで再確認してください。
（スライド204／資料の該当箇所：ご提供の用語解説（Kubernetes））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多数のコンテナを、どの機械でどう動かすか自動で管理する仕組み。
【どこの話？】
層：仮想化（1台を分けて使う・箱に詰める）
場所：複数のサーバーにまたがり、コンテナを配置・運用する管理基盤。
【くわしく】
Kubernetes（クバネティス、K8s）は、コンテナ化したアプリを管理するオープンソースの基盤です。「3つ動かしておく」と望む状態を書けば、実際の状態をそれに合わせ続けます。
止まったコンテナは再起動し、負荷は分散し、設定すればアクセス増加で数も増やします。複数の機械（ノード）を束ねたものがクラスターで、コンテナはPod（入れ物）の単位で空いた機械へ自動配置されます。
【たとえるなら】
コンテナ船団の運行管理者。どの船（機械）にどの箱を積むかを決め、故障した船の箱は別の船へ積み替えます。
【こんな場面で】
アクセスが集中するネットのサービスで、コンテナ数を自動で増やし、サーバーが1台壊れても別のサーバーで動かし直す場面です。
【勘違い・つまずき】
KubernetesはDockerの代わりではなく、コンテナを多数動かすときの運用管理を担います。数個なら不要なことも多く、学ぶ範囲も広めです。
【最初の学び方】
Dockerを学んだ後、公式のMinikubeを使う入門チュートリアルで、小さなアプリを動かしPodの数を変えてみましょう。
【つながり】
・Kubernetes →（管理する）→ コンテナ
・Docker →（コンテナを渡す）→ Kubernetes
・Kubernetes →（自動で配置）→ デプロイ
・マネージドサービス →（提供する）→ Kubernetes
【貼り付け資料の記載（要旨）】
Kubernetesは、コンテナ化したアプリの管理を担います（貼り付けの記載）。公式資料では、スケーリングや障害時の復旧（フェイルオーバー）を扱うと説明されています。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[D03] Kubernetes公式ドキュメント：Overview
    https://kubernetes.io/docs/concepts/overview/
確認時点：原資料の記載は2026年9月30日〜10月1日（日本時間）。変わりやすい情報（価格・製品・採用条件）は最新の公式ページで再確認してください。
（スライド205／資料の該当箇所：ご提供の用語解説（Kubernetes））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多数のコンテナを、どの機械でどう動かすか自動で管理する仕組み。
【どこの話？】
層：仮想化（1台を分けて使う・箱に詰める）
場所：複数のサーバーにまたがり、コンテナを配置・運用する管理基盤。
【くわしく】
Kubernetes（クバネティス、K8s）は、コンテナ化したアプリを管理するオープンソースの基盤です。「3つ動かしておく」と望む状態を書けば、実際の状態をそれに合わせ続けます。
止まったコンテナは再起動し、負荷は分散し、設定すればアクセス増加で数も増やします。複数の機械（ノード）を束ねたものがクラスターで、コンテナはPod（入れ物）の単位で空いた機械へ自動配置されます。
【たとえるなら】
コンテナ船団の運行管理者。どの船（機械）にどの箱を積むかを決め、故障した船の箱は別の船へ積み替えます。
【こんな場面で】
アクセスが集中するネットのサービスで、コンテナ数を自動で増やし、サーバーが1台壊れても別のサーバーで動かし直す場面です。
【勘違い・つまずき】
KubernetesはDockerの代わりではなく、コンテナを多数動かすときの運用管理を担います。数個なら不要なことも多く、学ぶ範囲も広めです。
【最初の学び方】
Dockerを学んだ後、公式のMinikubeを使う入門チュートリアルで、小さなアプリを動かしPodの数を変えてみましょう。
【つながり】
・Kubernetes →（管理する）→ コンテナ
・Docker →（コンテナを渡す）→ Kubernetes
・Kubernetes →（自動で配置）→ デプロイ
・マネージドサービス →（提供する）→ Kubernetes
【貼り付け資料の記載（要旨）】
Kubernetesは、コンテナ化したアプリの管理を担います（貼り付けの記載）。公式資料では、スケーリングや障害時の復旧（フェイルオーバー）を扱うと説明されています。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[D03] Kubernetes公式ドキュメント：Overview
    https://kubernetes.io/docs/concepts/overview/
確認時点：原資料の記載は2026年9月30日〜10月1日（日本時間）。変わりやすい情報（価格・製品・採用条件）は最新の公式ページで再確認してください。
（スライド206／資料の該当箇所：ご提供の用語解説（Kubernetes））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仮想化製品群の名前。サーバー用のESXiや、PC用のWorkstationなどがある。
【どこの話？】
層：仮想化（1台を分けて使う・箱に詰める）
場所：企業のサーバー室やデータセンターで、VMを動かす仮想化ソフト。
【くわしく】
VMwareは、仮想化に関する製品の名前（ブランド）です。サーバーに直接入れてVMを動かす「ESXi」が基本の製品で、企業のサーバー室やデータセンターで使われます。
ESXiの管理ソフト「vCenter Server」などを含む製品群が「vSphere」です。PC用には、Windows・Linux向けのWorkstation、Mac向けのFusionがあり、OSの上にアプリとして入れて使います。
【たとえるなら】
自動車メーカー名のような存在。メーカー名（VMware）の下に、ESXiやvSphereなど「車種」（製品）が並びます。
【こんな場面で】
ITの求人や社内の構成図に「VMware環境」「vSphere」と書かれる場面です。仮想化基盤を作る・運用する仕事で名前が出ます。
【勘違い・つまずき】
VMwareは1つの製品名ではなく、製品群の名前です。「VMware」と言われたら、ESXi・vSphere・Workstationのどれか確認しましょう。
【最初の学び方】
VMとハイパーバイザーを理解した後、職場や学校でどの製品が使われているか調べ、ESXiとvSphereの違いを図にしましょう。
【つながり】
・VMware →（ESXiを提供）→ ハイパーバイザー
・VMware →（動かす）→ 仮想マシン
・VMware ⇄（同じ仲間）⇄ KVM
・VMware ⇄（同じ仲間）⇄ Hyper-V
・VMware →（で使われる）→ データセンター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（スライド207／資料の該当箇所：ご提供の用語解説（VMware））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仮想化製品群の名前。サーバー用のESXiや、PC用のWorkstationなどがある。
【どこの話？】
層：仮想化（1台を分けて使う・箱に詰める）
場所：企業のサーバー室やデータセンターで、VMを動かす仮想化ソフト。
【くわしく】
VMwareは、仮想化に関する製品の名前（ブランド）です。サーバーに直接入れてVMを動かす「ESXi」が基本の製品で、企業のサーバー室やデータセンターで使われます。
ESXiの管理ソフト「vCenter Server」などを含む製品群が「vSphere」です。PC用には、Windows・Linux向けのWorkstation、Mac向けのFusionがあり、OSの上にアプリとして入れて使います。
【たとえるなら】
自動車メーカー名のような存在。メーカー名（VMware）の下に、ESXiやvSphereなど「車種」（製品）が並びます。
【こんな場面で】
ITの求人や社内の構成図に「VMware環境」「vSphere」と書かれる場面です。仮想化基盤を作る・運用する仕事で名前が出ます。
【勘違い・つまずき】
VMwareは1つの製品名ではなく、製品群の名前です。「VMware」と言われたら、ESXi・vSphere・Workstationのどれか確認しましょう。
【最初の学び方】
VMとハイパーバイザーを理解した後、職場や学校でどの製品が使われているか調べ、ESXiとvSphereの違いを図にしましょう。
【つながり】
・VMware →（ESXiを提供）→ ハイパーバイザー
・VMware →（動かす）→ 仮想マシン
・VMware ⇄（同じ仲間）⇄ KVM
・VMware ⇄（同じ仲間）⇄ Hyper-V
・VMware →（で使われる）→ データセンター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（スライド208／資料の該当箇所：ご提供の用語解説（VMware））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仮想化製品群の名前。サーバー用のESXiや、PC用のWorkstationなどがある。
【どこの話？】
層：仮想化（1台を分けて使う・箱に詰める）
場所：企業のサーバー室やデータセンターで、VMを動かす仮想化ソフト。
【くわしく】
VMwareは、仮想化に関する製品の名前（ブランド）です。サーバーに直接入れてVMを動かす「ESXi」が基本の製品で、企業のサーバー室やデータセンターで使われます。
ESXiの管理ソフト「vCenter Server」などを含む製品群が「vSphere」です。PC用には、Windows・Linux向けのWorkstation、Mac向けのFusionがあり、OSの上にアプリとして入れて使います。
【たとえるなら】
自動車メーカー名のような存在。メーカー名（VMware）の下に、ESXiやvSphereなど「車種」（製品）が並びます。
【こんな場面で】
ITの求人や社内の構成図に「VMware環境」「vSphere」と書かれる場面です。仮想化基盤を作る・運用する仕事で名前が出ます。
【勘違い・つまずき】
VMwareは1つの製品名ではなく、製品群の名前です。「VMware」と言われたら、ESXi・vSphere・Workstationのどれか確認しましょう。
【最初の学び方】
VMとハイパーバイザーを理解した後、職場や学校でどの製品が使われているか調べ、ESXiとvSphereの違いを図にしましょう。
【つながり】
・VMware →（ESXiを提供）→ ハイパーバイザー
・VMware →（動かす）→ 仮想マシン
・VMware ⇄（同じ仲間）⇄ KVM
・VMware ⇄（同じ仲間）⇄ Hyper-V
・VMware →（で使われる）→ データセンター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（スライド209／資料の該当箇所：ご提供の用語解説（VMware））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サーバー・保存装置・ネットワークをまとめ、クラウド環境を作るオープンソースのソフト群。
【どこの話？】
層：仮想化・置き場所（1台を分けて使う・箱に詰める）
場所：サーバー室やデータセンターの設備をまとめて管理する基盤ソフト。
【くわしく】
OpenStackは、多数のサーバー・ストレージ・ネットワークを「資源の集まり」にまとめ、APIやWeb画面から申し込むだけで使えるようにするオープンソースのソフト群です。
「VMがほしい」と画面で頼むと、空いたサーバーを探してVMを作ります。VMはNova、ディスクはCinder、ネットワークはNeutronと、役割ごとの部品を組み合わせます。自社設備にプライベートクラウドを作る用途などで使われます。
【たとえるなら】
ホテルのフロント。客室（サーバー）の空きを管理し、「部屋をください」の注文に、すぐ部屋（VM）を用意して渡します。
【こんな場面で】
大学や企業が、自前のサーバー群の上に「申し込めばすぐVMが使える」社内向けの窓口を作る場面です。
【勘違い・つまずき】
OpenStackは申し込んで使うクラウドサービスではなく、クラウドを作る側のソフトです。入れるだけでは使えず、設備と運用する人が必要です。
【最初の学び方】
LinuxとVMの基本を学んでから、学習用の小規模構成で、Web画面からVMを1台作る手順をなぞってみましょう。
【つながり】
・OpenStack →（作って渡す）→ 仮想マシン
・OpenStack →（構築に使う）→ プライベートクラウド
・ハイパーバイザー →（土台になる）→ OpenStack
・OpenStack →（設備をまとめる）→ データセンター
・Linux →（土台になる）→ OpenStack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（スライド210／資料の該当箇所：ご提供の用語解説（OpenStack））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サーバー・保存装置・ネットワークをまとめ、クラウド環境を作るオープンソースのソフト群。
【どこの話？】
層：仮想化・置き場所（1台を分けて使う・箱に詰める）
場所：サーバー室やデータセンターの設備をまとめて管理する基盤ソフト。
【くわしく】
OpenStackは、多数のサーバー・ストレージ・ネットワークを「資源の集まり」にまとめ、APIやWeb画面から申し込むだけで使えるようにするオープンソースのソフト群です。
「VMがほしい」と画面で頼むと、空いたサーバーを探してVMを作ります。VMはNova、ディスクはCinder、ネットワークはNeutronと、役割ごとの部品を組み合わせます。自社設備にプライベートクラウドを作る用途などで使われます。
【たとえるなら】
ホテルのフロント。客室（サーバー）の空きを管理し、「部屋をください」の注文に、すぐ部屋（VM）を用意して渡します。
【こんな場面で】
大学や企業が、自前のサーバー群の上に「申し込めばすぐVMが使える」社内向けの窓口を作る場面です。
【勘違い・つまずき】
OpenStackは申し込んで使うクラウドサービスではなく、クラウドを作る側のソフトです。入れるだけでは使えず、設備と運用する人が必要です。
【最初の学び方】
LinuxとVMの基本を学んでから、学習用の小規模構成で、Web画面からVMを1台作る手順をなぞってみましょう。
【つながり】
・OpenStack →（作って渡す）→ 仮想マシン
・OpenStack →（構築に使う）→ プライベートクラウド
・ハイパーバイザー →（土台になる）→ OpenStack
・OpenStack →（設備をまとめる）→ データセンター
・Linux →（土台になる）→ OpenStack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（スライド211／資料の該当箇所：ご提供の用語解説（OpenStack））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サーバー・保存装置・ネットワークをまとめ、クラウド環境を作るオープンソースのソフト群。
【どこの話？】
層：仮想化・置き場所（1台を分けて使う・箱に詰める）
場所：サーバー室やデータセンターの設備をまとめて管理する基盤ソフト。
【くわしく】
OpenStackは、多数のサーバー・ストレージ・ネットワークを「資源の集まり」にまとめ、APIやWeb画面から申し込むだけで使えるようにするオープンソースのソフト群です。
「VMがほしい」と画面で頼むと、空いたサーバーを探してVMを作ります。VMはNova、ディスクはCinder、ネットワークはNeutronと、役割ごとの部品を組み合わせます。自社設備にプライベートクラウドを作る用途などで使われます。
【たとえるなら】
ホテルのフロント。客室（サーバー）の空きを管理し、「部屋をください」の注文に、すぐ部屋（VM）を用意して渡します。
【こんな場面で】
大学や企業が、自前のサーバー群の上に「申し込めばすぐVMが使える」社内向けの窓口を作る場面です。
【勘違い・つまずき】
OpenStackは申し込んで使うクラウドサービスではなく、クラウドを作る側のソフトです。入れるだけでは使えず、設備と運用する人が必要です。
【最初の学び方】
LinuxとVMの基本を学んでから、学習用の小規模構成で、Web画面からVMを1台作る手順をなぞってみましょう。
【つながり】
・OpenStack →（作って渡す）→ 仮想マシン
・OpenStack →（構築に使う）→ プライベートクラウド
・ハイパーバイザー →（土台になる）→ OpenStack
・OpenStack →（設備をまとめる）→ データセンター
・Linux →（土台になる）→ OpenStack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（スライド212／資料の該当箇所：ご提供の用語解説（OpenStack））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サーバー・保存装置・ネットワークをまとめ、クラウド環境を作るオープンソースのソフト群。
【どこの話？】
層：仮想化・置き場所（1台を分けて使う・箱に詰める）
場所：サーバー室やデータセンターの設備をまとめて管理する基盤ソフト。
【くわしく】
OpenStackは、多数のサーバー・ストレージ・ネットワークを「資源の集まり」にまとめ、APIやWeb画面から申し込むだけで使えるようにするオープンソースのソフト群です。
「VMがほしい」と画面で頼むと、空いたサーバーを探してVMを作ります。VMはNova、ディスクはCinder、ネットワークはNeutronと、役割ごとの部品を組み合わせます。自社設備にプライベートクラウドを作る用途などで使われます。
【たとえるなら】
ホテルのフロント。客室（サーバー）の空きを管理し、「部屋をください」の注文に、すぐ部屋（VM）を用意して渡します。
【こんな場面で】
大学や企業が、自前のサーバー群の上に「申し込めばすぐVMが使える」社内向けの窓口を作る場面です。
【勘違い・つまずき】
OpenStackは申し込んで使うクラウドサービスではなく、クラウドを作る側のソフトです。入れるだけでは使えず、設備と運用する人が必要です。
【最初の学び方】
LinuxとVMの基本を学んでから、学習用の小規模構成で、Web画面からVMを1台作る手順をなぞってみましょう。
【つながり】
・OpenStack →（作って渡す）→ 仮想マシン
・OpenStack →（構築に使う）→ プライベートクラウド
・ハイパーバイザー →（土台になる）→ OpenStack
・OpenStack →（設備をまとめる）→ データセンター
・Linux →（土台になる）→ OpenStack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（スライド213／資料の該当箇所：ご提供の用語解説（OpenStack））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Linuxに組み込まれた、Linux自身をハイパーバイザーにする仮想化機能。
【どこの話？】
層：仮想化・OS（1台を分けて使う・箱に詰める）
場所：Linux（OS）の内部にある仮想化の機能。OSとハイパーバイザーを兼ねる。
【くわしく】
KVM（Kernel-based Virtual Machine）は、Linuxのカーネル（OSの中心部分）に組み込まれた仮想化の機能です。これにより、Linux自身がVMを動かすハイパーバイザーとして働きます。
CPUに備わった仮想化の支援機能を使い、VMを効率よく動かします。仮想のディスクなどの部品は、QEMUというソフトと組み合わせて用意するのが一般的です。OpenStackなどの基盤でも使われます。
【たとえるなら】
ビルの管理人室を別に作らず、ビル（Linux）自体が管理人を兼ねる状態。家主が管理人もする、というイメージです。
【こんな場面で】
Linuxサーバー1台に複数のVMを載せたいときや、OpenStackなどの基盤でVMを実際に動かす部品として使われる場面です。
【勘違い・つまずき】
KVMだけでVMが使いやすくなるわけではありません。QEMUや管理ツールと組み合わせ、CPUの仮想化機能をオンにする必要もあります。
【最初の学び方】
Ubuntuなど対応するLinuxで、virt-managerなどを使いVMを1台作りましょう。lscpuで仮想化対応も確認できます。
【つながり】
・KVM →（組み込まれる）→ Linux
・KVM →（として働く）→ ハイパーバイザー
・KVM →（動かす）→ 仮想マシン
・KVM →（部品になる）→ OpenStack
・KVM ⇄（同じ仲間）⇄ Hyper-V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（スライド214／資料の該当箇所：ご提供の用語解説（KVM））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Linuxに組み込まれた、Linux自身をハイパーバイザーにする仮想化機能。
【どこの話？】
層：仮想化・OS（1台を分けて使う・箱に詰める）
場所：Linux（OS）の内部にある仮想化の機能。OSとハイパーバイザーを兼ねる。
【くわしく】
KVM（Kernel-based Virtual Machine）は、Linuxのカーネル（OSの中心部分）に組み込まれた仮想化の機能です。これにより、Linux自身がVMを動かすハイパーバイザーとして働きます。
CPUに備わった仮想化の支援機能を使い、VMを効率よく動かします。仮想のディスクなどの部品は、QEMUというソフトと組み合わせて用意するのが一般的です。OpenStackなどの基盤でも使われます。
【たとえるなら】
ビルの管理人室を別に作らず、ビル（Linux）自体が管理人を兼ねる状態。家主が管理人もする、というイメージです。
【こんな場面で】
Linuxサーバー1台に複数のVMを載せたいときや、OpenStackなどの基盤でVMを実際に動かす部品として使われる場面です。
【勘違い・つまずき】
KVMだけでVMが使いやすくなるわけではありません。QEMUや管理ツールと組み合わせ、CPUの仮想化機能をオンにする必要もあります。
【最初の学び方】
Ubuntuなど対応するLinuxで、virt-managerなどを使いVMを1台作りましょう。lscpuで仮想化対応も確認できます。
【つながり】
・KVM →（組み込まれる）→ Linux
・KVM →（として働く）→ ハイパーバイザー
・KVM →（動かす）→ 仮想マシン
・KVM →（部品になる）→ OpenStack
・KVM ⇄（同じ仲間）⇄ Hyper-V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（スライド215／資料の該当箇所：ご提供の用語解説（KVM））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Linuxに組み込まれた、Linux自身をハイパーバイザーにする仮想化機能。
【どこの話？】
層：仮想化・OS（1台を分けて使う・箱に詰める）
場所：Linux（OS）の内部にある仮想化の機能。OSとハイパーバイザーを兼ねる。
【くわしく】
KVM（Kernel-based Virtual Machine）は、Linuxのカーネル（OSの中心部分）に組み込まれた仮想化の機能です。これにより、Linux自身がVMを動かすハイパーバイザーとして働きます。
CPUに備わった仮想化の支援機能を使い、VMを効率よく動かします。仮想のディスクなどの部品は、QEMUというソフトと組み合わせて用意するのが一般的です。OpenStackなどの基盤でも使われます。
【たとえるなら】
ビルの管理人室を別に作らず、ビル（Linux）自体が管理人を兼ねる状態。家主が管理人もする、というイメージです。
【こんな場面で】
Linuxサーバー1台に複数のVMを載せたいときや、OpenStackなどの基盤でVMを実際に動かす部品として使われる場面です。
【勘違い・つまずき】
KVMだけでVMが使いやすくなるわけではありません。QEMUや管理ツールと組み合わせ、CPUの仮想化機能をオンにする必要もあります。
【最初の学び方】
Ubuntuなど対応するLinuxで、virt-managerなどを使いVMを1台作りましょう。lscpuで仮想化対応も確認できます。
【つながり】
・KVM →（組み込まれる）→ Linux
・KVM →（として働く）→ ハイパーバイザー
・KVM →（動かす）→ 仮想マシン
・KVM →（部品になる）→ OpenStack
・KVM ⇄（同じ仲間）⇄ Hyper-V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（スライド216／資料の該当箇所：ご提供の用語解説（KVM））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Microsoftの仮想化技術。Windows ServerやWindowsの機能としてVMを動かせる。
【どこの話？】
層：仮想化・OS（1台を分けて使う・箱に詰める）
場所：Windowsに備わった仮想化の機能。Windows ServerやPro以上で使う。
【くわしく】
Hyper-V（ハイパーブイ）は、Microsoftの仮想化技術です。Windows Serverの機能として、またWindows 11のProなど一部のエディションの機能として提供され、VMを作って動かせます。
ハイパーバイザーの「ベアメタル型」にあたります。機能をオンにすると、Hyper-VマネージャーからLinuxなどのVMも作れます。使うにはCPUの仮想化機能がオンである必要があります。
【たとえるなら】
Windowsに用意された「仮想の部屋づくりキット」。機能をオンにすれば、PCやサーバーの中に部屋（VM）を作って貸し出せます。
【こんな場面で】
会社のWindowsサーバー1台で複数のVMを動かす、Windows 11のPCで安全にLinuxを試す、といった場面で使われます。
【勘違い・つまずき】
Windowsの「Home」では通常Hyper-Vは使えず、ProやEnterpriseなど使えるエディションが限られます。使う前に確認しましょう。
【最初の学び方】
対応Windowsで「Windowsの機能の有効化または無効化」からHyper-Vをオンにし、小さなLinuxのVMを作りましょう。
【つながり】
・Hyper-V →（組み込まれる）→ Windows
・Hyper-V →（として働く）→ ハイパーバイザー
・Hyper-V →（動かす）→ 仮想マシン
・Hyper-V ⇄（同じ仲間）⇄ KVM
・Hyper-V ⇄（同じ仲間）⇄ VMware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（スライド217／資料の該当箇所：ご提供の用語解説（Hyper-V））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Microsoftの仮想化技術。Windows ServerやWindowsの機能としてVMを動かせる。
【どこの話？】
層：仮想化・OS（1台を分けて使う・箱に詰める）
場所：Windowsに備わった仮想化の機能。Windows ServerやPro以上で使う。
【くわしく】
Hyper-V（ハイパーブイ）は、Microsoftの仮想化技術です。Windows Serverの機能として、またWindows 11のProなど一部のエディションの機能として提供され、VMを作って動かせます。
ハイパーバイザーの「ベアメタル型」にあたります。機能をオンにすると、Hyper-VマネージャーからLinuxなどのVMも作れます。使うにはCPUの仮想化機能がオンである必要があります。
【たとえるなら】
Windowsに用意された「仮想の部屋づくりキット」。機能をオンにすれば、PCやサーバーの中に部屋（VM）を作って貸し出せます。
【こんな場面で】
会社のWindowsサーバー1台で複数のVMを動かす、Windows 11のPCで安全にLinuxを試す、といった場面で使われます。
【勘違い・つまずき】
Windowsの「Home」では通常Hyper-Vは使えず、ProやEnterpriseなど使えるエディションが限られます。使う前に確認しましょう。
【最初の学び方】
対応Windowsで「Windowsの機能の有効化または無効化」からHyper-Vをオンにし、小さなLinuxのVMを作りましょう。
【つながり】
・Hyper-V →（組み込まれる）→ Windows
・Hyper-V →（として働く）→ ハイパーバイザー
・Hyper-V →（動かす）→ 仮想マシン
・Hyper-V ⇄（同じ仲間）⇄ KVM
・Hyper-V ⇄（同じ仲間）⇄ VMware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（スライド218／資料の該当箇所：ご提供の用語解説（Hyper-V））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Microsoftの仮想化技術。Windows ServerやWindowsの機能としてVMを動かせる。
【どこの話？】
層：仮想化・OS（1台を分けて使う・箱に詰める）
場所：Windowsに備わった仮想化の機能。Windows ServerやPro以上で使う。
【くわしく】
Hyper-V（ハイパーブイ）は、Microsoftの仮想化技術です。Windows Serverの機能として、またWindows 11のProなど一部のエディションの機能として提供され、VMを作って動かせます。
ハイパーバイザーの「ベアメタル型」にあたります。機能をオンにすると、Hyper-VマネージャーからLinuxなどのVMも作れます。使うにはCPUの仮想化機能がオンである必要があります。
【たとえるなら】
Windowsに用意された「仮想の部屋づくりキット」。機能をオンにすれば、PCやサーバーの中に部屋（VM）を作って貸し出せます。
【こんな場面で】
会社のWindowsサーバー1台で複数のVMを動かす、Windows 11のPCで安全にLinuxを試す、といった場面で使われます。
【勘違い・つまずき】
Windowsの「Home」では通常Hyper-Vは使えず、ProやEnterpriseなど使えるエディションが限られます。使う前に確認しましょう。
【最初の学び方】
対応Windowsで「Windowsの機能の有効化または無効化」からHyper-Vをオンにし、小さなLinuxのVMを作りましょう。
【つながり】
・Hyper-V →（組み込まれる）→ Windows
・Hyper-V →（として働く）→ ハイパーバイザー
・Hyper-V →（動かす）→ 仮想マシン
・Hyper-V ⇄（同じ仲間）⇄ KVM
・Hyper-V ⇄（同じ仲間）⇄ VMware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（スライド219／資料の該当箇所：ご提供の用語解説（Hyper-V））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特定の組織だけが専用に使う、クラウドの仕組みで作った環境。
【どこの話？】
層：置き場所・仮想化（サーバー室・クラウド）
場所：特定の組織専用の環境。自社のサーバー室か、外部の専用設備にある。
【くわしく】
プライベートクラウドは、特定の1つの組織だけが使うクラウド環境です。クラウドとは、申し込めばすぐ必要な分だけ使えるIT資源の仕組みで、その利用者が組織内（部署など）に限られます。
置き場所は2通り。自社のサーバー室やデータセンターに設備を置く形と、外部事業者の専用設備を借りる形です。どちらも他の組織と共用しません。VMwareやOpenStackなどで作られます。
自社で運用する場合、設計の自由度は高い一方、設備の購入や保守、運用の負担は組織が負います。外部の専用環境では、運用を事業者が受け持つこともあります。
【たとえるなら】
会社専用の社員食堂。外の人は使えず、席や設備を自社で決められますが、建物や調理の人手は自分たちで用意します。
【こんな場面で】
個人情報など外に出したくないデータを扱う会社が、自社設備に社内向けクラウドを作り、各部署が申し込んでVMを使う場面です。
【勘違い・つまずき】
自社にサーバーがあるだけでは、プライベートクラウドとは呼びません。申し込むとすぐ使える、使用量を管理できるなどの仕組みが必要です。
【最初の学び方】
パブリッククラウドとの違いを、「設備は誰のものか」「誰が使うか」「誰が運用するか」の3項目の表にしましょう。
【つながり】
・プライベートクラウド ⇄（ちがい）⇄ パブリッククラウド
・OpenStack →（構築に使う）→ プライベートクラウド
・VMware →（構築に使う）→ プライベートクラウド
・データセンター →（置き場所）→ プライベートクラウド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（スライド220／資料の該当箇所：編集者による補足（プライベートクラウド））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特定の組織だけが専用に使う、クラウドの仕組みで作った環境。
【どこの話？】
層：置き場所・仮想化（サーバー室・クラウド）
場所：特定の組織専用の環境。自社のサーバー室か、外部の専用設備にある。
【くわしく】
プライベートクラウドは、特定の1つの組織だけが使うクラウド環境です。クラウドとは、申し込めばすぐ必要な分だけ使えるIT資源の仕組みで、その利用者が組織内（部署など）に限られます。
置き場所は2通り。自社のサーバー室やデータセンターに設備を置く形と、外部事業者の専用設備を借りる形です。どちらも他の組織と共用しません。VMwareやOpenStackなどで作られます。
自社で運用する場合、設計の自由度は高い一方、設備の購入や保守、運用の負担は組織が負います。外部の専用環境では、運用を事業者が受け持つこともあります。
【たとえるなら】
会社専用の社員食堂。外の人は使えず、席や設備を自社で決められますが、建物や調理の人手は自分たちで用意します。
【こんな場面で】
個人情報など外に出したくないデータを扱う会社が、自社設備に社内向けクラウドを作り、各部署が申し込んでVMを使う場面です。
【勘違い・つまずき】
自社にサーバーがあるだけでは、プライベートクラウドとは呼びません。申し込むとすぐ使える、使用量を管理できるなどの仕組みが必要です。
【最初の学び方】
パブリッククラウドとの違いを、「設備は誰のものか」「誰が使うか」「誰が運用するか」の3項目の表にしましょう。
【つながり】
・プライベートクラウド ⇄（ちがい）⇄ パブリッククラウド
・OpenStack →（構築に使う）→ プライベートクラウド
・VMware →（構築に使う）→ プライベートクラウド
・データセンター →（置き場所）→ プライベートクラウド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（スライド221／資料の該当箇所：編集者による補足（プライベートクラウド））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特定の組織だけが専用に使う、クラウドの仕組みで作った環境。
【どこの話？】
層：置き場所・仮想化（サーバー室・クラウド）
場所：特定の組織専用の環境。自社のサーバー室か、外部の専用設備にある。
【くわしく】
プライベートクラウドは、特定の1つの組織だけが使うクラウド環境です。クラウドとは、申し込めばすぐ必要な分だけ使えるIT資源の仕組みで、その利用者が組織内（部署など）に限られます。
置き場所は2通り。自社のサーバー室やデータセンターに設備を置く形と、外部事業者の専用設備を借りる形です。どちらも他の組織と共用しません。VMwareやOpenStackなどで作られます。
自社で運用する場合、設計の自由度は高い一方、設備の購入や保守、運用の負担は組織が負います。外部の専用環境では、運用を事業者が受け持つこともあります。
【たとえるなら】
会社専用の社員食堂。外の人は使えず、席や設備を自社で決められますが、建物や調理の人手は自分たちで用意します。
【こんな場面で】
個人情報など外に出したくないデータを扱う会社が、自社設備に社内向けクラウドを作り、各部署が申し込んでVMを使う場面です。
【勘違い・つまずき】
自社にサーバーがあるだけでは、プライベートクラウドとは呼びません。申し込むとすぐ使える、使用量を管理できるなどの仕組みが必要です。
【最初の学び方】
パブリッククラウドとの違いを、「設備は誰のものか」「誰が使うか」「誰が運用するか」の3項目の表にしましょう。
【つながり】
・プライベートクラウド ⇄（ちがい）⇄ パブリッククラウド
・OpenStack →（構築に使う）→ プライベートクラウド
・VMware →（構築に使う）→ プライベートクラウド
・データセンター →（置き場所）→ プライベートクラウド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（スライド222／資料の該当箇所：編集者による補足（プライベートクラウド））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左の列が種類、真ん中が製品名、右が役割です。
【処理の詳細】
・ハイパーバイザー系：VMware（ESXi・vSphere）、KVM、Hyper-V。
・コンテナ：Docker。コンテナ管理：Kubernetes。
・クラウド基盤ソフト：OpenStack。
【成立条件・例外】
1つの製品が複数の役割を持つ場合もあります。ここでは代表的な役割で分けています。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（スライド223／資料の該当箇所：仮想化・コンテナ「用語の表」）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左の列が種類、真ん中が製品名、右が役割です。
【処理の詳細】
・ハイパーバイザー系：VMware（ESXi・vSphere）、KVM、Hyper-V。
・コンテナ：Docker。コンテナ管理：Kubernetes。
・クラウド基盤ソフト：OpenStack。
【成立条件・例外】
1つの製品が複数の役割を持つ場合もあります。ここでは代表的な役割で分けています。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（スライド224／資料の該当箇所：仮想化・コンテナ「用語の表」）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左から右へ、下の設備から利用者へ向かう流れです。
【処理の詳細】
・物理サーバーを用意する。
・KVMなどで仮想化し、VMを作れるようにする。
・OpenStackなどで、サーバー・保存・ネットワークをまとめて管理する。
・社員が必要な仮想サーバーを申し込んで使う（貼り付けの記載）。
【成立条件・例外】
これは構成の一例です。VMwareなどの製品を使う構成もあります。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（スライド225／資料の該当箇所：仮想化・コンテナ「プライベートクラウド」）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3つのカードが代表的なクラウドです。どれも、一つのアプリの名前ではなく、さまざまなIT機能を提供するサービス群です（貼り付けの記載）。
【処理の詳細】
・AWS：サーバー、保存設備、データベース、AIなど。
・Azure：サーバー、データベース、企業の認証、AIなど。
・Google Cloud：サーバー、データ分析、データベース、AIなど。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（スライド226／資料の該当箇所：クラウド「質問18・19」）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左の列が比べる観点です。貼り付けの学び方：プライベートクラウドとの設備・利用者・管理の違いを学ぶ。
【処理の詳細】
・パブリッククラウド：提供会社が、多数の顧客向けに提供するクラウド。
・プライベートクラウド：特定の組織専用のクラウド環境。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（スライド227／資料の該当箇所：クラウド「パブリッククラウド」＋仮想化「プライベートクラウド」）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左の列が比べる観点です。貼り付けの学び方：プライベートクラウドとの設備・利用者・管理の違いを学ぶ。
【処理の詳細】
・パブリッククラウド：提供会社が、多数の顧客向けに提供するクラウド。
・プライベートクラウド：特定の組織専用のクラウド環境。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（スライド228／資料の該当箇所：クラウド「パブリッククラウド」＋仮想化「プライベートクラウド」）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表は、4つの利用形態で「自分が管理するもの」と「提供会社が管理するもの」を比べた一般的な目安です。
【用語】
・マネージドサービス：運用作業の一部を提供会社が担当するサービス。担当範囲はサービスによって違う（貼り付けの記載）。
【よくある誤解】
提供会社が設備を管理してくれても、利用者側の権限設定や公開設定を誤れば問題が起こります。データの扱いと設定は、どの形態でも自分の責任が残ります。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（スライド229／資料の該当箇所：クラウド「マネージドサービス」）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表は、4つの利用形態で「自分が管理するもの」と「提供会社が管理するもの」を比べた一般的な目安です。
【用語】
・マネージドサービス：運用作業の一部を提供会社が担当するサービス。担当範囲はサービスによって違う（貼り付けの記載）。
【よくある誤解】
提供会社が設備を管理してくれても、利用者側の権限設定や公開設定を誤れば問題が起こります。データの扱いと設定は、どの形態でも自分の責任が残ります。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（スライド230／資料の該当箇所：クラウド「マネージドサービス」）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上から下へ読みます。クラウドの実体はデータセンターの機械。クラウドはパブリック（多数向け）とプライベート（特定の組織専用）に分かれ、パブリックの例がAWS・Azure・Google Cloudです。AWSを例にすると、仮想サーバー（EC2など）、クラウドストレージ（S3など）、マネージドサービス（RDSなど）を提供しています。他の2社にも同様のサービスがあります。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（スライド231／資料の該当箇所：クラウド）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ネット経由で、必要なときに必要な分だけ借りて使うITの仕組み。
【どこの話？】
層：置き場所（サーバー室・クラウド）
場所：ネットワークの向こう側にある、事業者の設備とサービス（社内に作るクラウドもある）。
【くわしく】
クラウドは、サーバー・保存場所・データベースなどのIT資源を、自分で買わず、インターネット経由で借りて使う仕組みです。必要なとき増やし、不要になれば返せます。
提供会社が巨大なデータセンターの機械を仮想化で分け、多数の利用者に貸します。貸し方は3段階。VMだけ借りる、アプリの動作環境まで借りる、完成したアプリ（Gmailなど）を使うだけ、です。借りる範囲が広いほど、自分の管理は減ります。
【たとえるなら】
電気や水道。自分で発電所を持たなくても使え、使った分だけ払います。クラウドは「ITの電気」のように使えるサービスです。
【こんな場面で】
スマホの写真が自動でネットに保存される、学校で共有ドキュメントを同時に編集する、開発者がサーバーを借りる、といった場面です。
【勘違い・つまずき】
クラウドは保存場所だけを指す言葉ではありません。計算するサーバーやデータベースも含み、使った分の料金がかかる形が基本です。
【最初の学び方】
使っているサービスを3つ選び、「データはどこにあり、誰の設備か」を調べて書き出してみましょう。
【つながり】
・仮想化 →（土台になる）→ クラウド
・データセンター →（支える）→ クラウド
・クラウド →（経由で使う）→ インターネット
・パブリッククラウド →（の一種）→ 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（スライド232／資料の該当箇所：編集者による補足（クラウド））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ネット経由で、必要なときに必要な分だけ借りて使うITの仕組み。
【どこの話？】
層：置き場所（サーバー室・クラウド）
場所：ネットワークの向こう側にある、事業者の設備とサービス（社内に作るクラウドもある）。
【くわしく】
クラウドは、サーバー・保存場所・データベースなどのIT資源を、自分で買わず、インターネット経由で借りて使う仕組みです。必要なとき増やし、不要になれば返せます。
提供会社が巨大なデータセンターの機械を仮想化で分け、多数の利用者に貸します。貸し方は3段階。VMだけ借りる、アプリの動作環境まで借りる、完成したアプリ（Gmailなど）を使うだけ、です。借りる範囲が広いほど、自分の管理は減ります。
【たとえるなら】
電気や水道。自分で発電所を持たなくても使え、使った分だけ払います。クラウドは「ITの電気」のように使えるサービスです。
【こんな場面で】
スマホの写真が自動でネットに保存される、学校で共有ドキュメントを同時に編集する、開発者がサーバーを借りる、といった場面です。
【勘違い・つまずき】
クラウドは保存場所だけを指す言葉ではありません。計算するサーバーやデータベースも含み、使った分の料金がかかる形が基本です。
【最初の学び方】
使っているサービスを3つ選び、「データはどこにあり、誰の設備か」を調べて書き出してみましょう。
【つながり】
・仮想化 →（土台になる）→ クラウド
・データセンター →（支える）→ クラウド
・クラウド →（経由で使う）→ インターネット
・パブリッククラウド →（の一種）→ 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（スライド233／資料の該当箇所：編集者による補足（クラウド））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ネット経由で、必要なときに必要な分だけ借りて使うITの仕組み。
【どこの話？】
層：置き場所（サーバー室・クラウド）
場所：ネットワークの向こう側にある、事業者の設備とサービス（社内に作るクラウドもある）。
【くわしく】
クラウドは、サーバー・保存場所・データベースなどのIT資源を、自分で買わず、インターネット経由で借りて使う仕組みです。必要なとき増やし、不要になれば返せます。
提供会社が巨大なデータセンターの機械を仮想化で分け、多数の利用者に貸します。貸し方は3段階。VMだけ借りる、アプリの動作環境まで借りる、完成したアプリ（Gmailなど）を使うだけ、です。借りる範囲が広いほど、自分の管理は減ります。
【たとえるなら】
電気や水道。自分で発電所を持たなくても使え、使った分だけ払います。クラウドは「ITの電気」のように使えるサービスです。
【こんな場面で】
スマホの写真が自動でネットに保存される、学校で共有ドキュメントを同時に編集する、開発者がサーバーを借りる、といった場面です。
【勘違い・つまずき】
クラウドは保存場所だけを指す言葉ではありません。計算するサーバーやデータベースも含み、使った分の料金がかかる形が基本です。
【最初の学び方】
使っているサービスを3つ選び、「データはどこにあり、誰の設備か」を調べて書き出してみましょう。
【つながり】
・仮想化 →（土台になる）→ クラウド
・データセンター →（支える）→ クラウド
・クラウド →（経由で使う）→ インターネット
・パブリッククラウド →（の一種）→ 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（スライド234／資料の該当箇所：編集者による補足（クラウド））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提供会社が、多数の顧客に向けて貸し出すクラウド。
【どこの話？】
層：置き場所（サーバー室・クラウド）
場所：インターネットの向こう側にある、事業者の設備を借りるサービス。
【くわしく】
パブリッククラウドは、提供会社が、企業・学校・個人など多数の顧客に向けて提供するクラウドです。設備は提供会社のもので、契約すれば誰でも使い始められます。
複数の顧客が同じ物理設備を共用しますが、仮想化や権限管理で、他の顧客のデータが見えないよう分けられています。例はAWS・Azure・Google Cloudです。自社専用のプライベートクラウドとは、設備の持ち主と利用者の範囲が違います。
【たとえるなら】
公共の貸し倉庫。建物は運営会社のもので、多くの人が同じ建物で自分の区画だけを借り、他人の区画には入れません。
【こんな場面で】
スタートアップがサーバーを買わずにサービスを公開する、学生が学習用の環境を短時間だけ借りて試す、といった場面で使われます。
【勘違い・つまずき】
この「パブリック」は、データが公開されるという意味ではありません。利用者が多数という意味です。設定を誤ると外から見える状態になります。
【最初の学び方】
AWS・Azure・Google Cloudの入門ページで、サービスの種類（計算・保存・DBなど）を分類してみましょう。
【つながり】
・パブリッククラウド ⇄（ちがい）⇄ プライベートクラウド
・AWS →（一例）→ パブリッククラウド
・Azure →（一例）→ パブリッククラウド
・Google Cloud →（一例）→ パブリッククラウド
・データセンター →（置き場所）→ パブリッククラウド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（スライド235／資料の該当箇所：ご提供の用語解説（パブリッククラウド））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提供会社が、多数の顧客に向けて貸し出すクラウド。
【どこの話？】
層：置き場所（サーバー室・クラウド）
場所：インターネットの向こう側にある、事業者の設備を借りるサービス。
【くわしく】
パブリッククラウドは、提供会社が、企業・学校・個人など多数の顧客に向けて提供するクラウドです。設備は提供会社のもので、契約すれば誰でも使い始められます。
複数の顧客が同じ物理設備を共用しますが、仮想化や権限管理で、他の顧客のデータが見えないよう分けられています。例はAWS・Azure・Google Cloudです。自社専用のプライベートクラウドとは、設備の持ち主と利用者の範囲が違います。
【たとえるなら】
公共の貸し倉庫。建物は運営会社のもので、多くの人が同じ建物で自分の区画だけを借り、他人の区画には入れません。
【こんな場面で】
スタートアップがサーバーを買わずにサービスを公開する、学生が学習用の環境を短時間だけ借りて試す、といった場面で使われます。
【勘違い・つまずき】
この「パブリック」は、データが公開されるという意味ではありません。利用者が多数という意味です。設定を誤ると外から見える状態になります。
【最初の学び方】
AWS・Azure・Google Cloudの入門ページで、サービスの種類（計算・保存・DBなど）を分類してみましょう。
【つながり】
・パブリッククラウド ⇄（ちがい）⇄ プライベートクラウド
・AWS →（一例）→ パブリッククラウド
・Azure →（一例）→ パブリッククラウド
・Google Cloud →（一例）→ パブリッククラウド
・データセンター →（置き場所）→ パブリッククラウド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（スライド236／資料の該当箇所：ご提供の用語解説（パブリッククラウド））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提供会社が、多数の顧客に向けて貸し出すクラウド。
【どこの話？】
層：置き場所（サーバー室・クラウド）
場所：インターネットの向こう側にある、事業者の設備を借りるサービス。
【くわしく】
パブリッククラウドは、提供会社が、企業・学校・個人など多数の顧客に向けて提供するクラウドです。設備は提供会社のもので、契約すれば誰でも使い始められます。
複数の顧客が同じ物理設備を共用しますが、仮想化や権限管理で、他の顧客のデータが見えないよう分けられています。例はAWS・Azure・Google Cloudです。自社専用のプライベートクラウドとは、設備の持ち主と利用者の範囲が違います。
【たとえるなら】
公共の貸し倉庫。建物は運営会社のもので、多くの人が同じ建物で自分の区画だけを借り、他人の区画には入れません。
【こんな場面で】
スタートアップがサーバーを買わずにサービスを公開する、学生が学習用の環境を短時間だけ借りて試す、といった場面で使われます。
【勘違い・つまずき】
この「パブリック」は、データが公開されるという意味ではありません。利用者が多数という意味です。設定を誤ると外から見える状態になります。
【最初の学び方】
AWS・Azure・Google Cloudの入門ページで、サービスの種類（計算・保存・DBなど）を分類してみましょう。
【つながり】
・パブリッククラウド ⇄（ちがい）⇄ プライベートクラウド
・AWS →（一例）→ パブリッククラウド
・Azure →（一例）→ パブリッククラウド
・Google Cloud →（一例）→ パブリッククラウド
・データセンター →（置き場所）→ パブリッククラウド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（スライド237／資料の該当箇所：ご提供の用語解説（パブリッククラウド））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Amazonが提供するパブリッククラウド。計算・保存・DBなど多数のサービスの総称。
【どこの話？】
層：置き場所（サーバー室・クラウド）
場所：インターネットの向こう側にある、Amazonのクラウドサービスの総称。
【くわしく】
AWS（Amazon Web Services）は、Amazonが提供するパブリッククラウドの名前です。サーバー、保存場所、データベース、ネットワーク、AIなど、非常に多くの種類のサービスの総称です。
「AWS」という単一の製品はありません。サーバーは「Amazon EC2」、オブジェクトストレージは「Amazon S3」、データベースは「Amazon RDS」と、サービスごとに名前があります。世界各地で提供され、使う地域（リージョン）を選べます。
【たとえるなら】
ITの総合レンタル店。貸しサーバー（EC2）も貸し倉庫（S3）も1つの契約で借りられ、使った分だけ支払います。
【こんな場面で】
開発現場で「サーバーはAWSで動いています」と話す場面や、学習用にEC2でサーバーを1台立てる実習の場面です。
【勘違い・つまずき】
AWSはAmazonの通販サイトとは別のサービスです。同じ役割のサービスにも会社ごとに別名があります（サーバーはAzureならVirtual Machines）。
【最初の学び方】
AWS公式の基礎教材で全体像をつかみ、学習用アカウントでサーバーを作って削除し、S3にファイルを入れてみましょう。
【つながり】
・AWS →（の一例）→ パブリッククラウド
・AWS →（提供する）→ クラウド仮想サーバー
・AWS →（提供する）→ Amazon S3
・AWS →（提供する）→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（スライド238／資料の該当箇所：ご提供の用語解説（AWS））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Amazonが提供するパブリッククラウド。計算・保存・DBなど多数のサービスの総称。
【どこの話？】
層：置き場所（サーバー室・クラウド）
場所：インターネットの向こう側にある、Amazonのクラウドサービスの総称。
【くわしく】
AWS（Amazon Web Services）は、Amazonが提供するパブリッククラウドの名前です。サーバー、保存場所、データベース、ネットワーク、AIなど、非常に多くの種類のサービスの総称です。
「AWS」という単一の製品はありません。サーバーは「Amazon EC2」、オブジェクトストレージは「Amazon S3」、データベースは「Amazon RDS」と、サービスごとに名前があります。世界各地で提供され、使う地域（リージョン）を選べます。
【たとえるなら】
ITの総合レンタル店。貸しサーバー（EC2）も貸し倉庫（S3）も1つの契約で借りられ、使った分だけ支払います。
【こんな場面で】
開発現場で「サーバーはAWSで動いています」と話す場面や、学習用にEC2でサーバーを1台立てる実習の場面です。
【勘違い・つまずき】
AWSはAmazonの通販サイトとは別のサービスです。同じ役割のサービスにも会社ごとに別名があります（サーバーはAzureならVirtual Machines）。
【最初の学び方】
AWS公式の基礎教材で全体像をつかみ、学習用アカウントでサーバーを作って削除し、S3にファイルを入れてみましょう。
【つながり】
・AWS →（の一例）→ パブリッククラウド
・AWS →（提供する）→ クラウド仮想サーバー
・AWS →（提供する）→ Amazon S3
・AWS →（提供する）→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（スライド239／資料の該当箇所：ご提供の用語解説（AWS））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Amazonが提供するパブリッククラウド。計算・保存・DBなど多数のサービスの総称。
【どこの話？】
層：置き場所（サーバー室・クラウド）
場所：インターネットの向こう側にある、Amazonのクラウドサービスの総称。
【くわしく】
AWS（Amazon Web Services）は、Amazonが提供するパブリッククラウドの名前です。サーバー、保存場所、データベース、ネットワーク、AIなど、非常に多くの種類のサービスの総称です。
「AWS」という単一の製品はありません。サーバーは「Amazon EC2」、オブジェクトストレージは「Amazon S3」、データベースは「Amazon RDS」と、サービスごとに名前があります。世界各地で提供され、使う地域（リージョン）を選べます。
【たとえるなら】
ITの総合レンタル店。貸しサーバー（EC2）も貸し倉庫（S3）も1つの契約で借りられ、使った分だけ支払います。
【こんな場面で】
開発現場で「サーバーはAWSで動いています」と話す場面や、学習用にEC2でサーバーを1台立てる実習の場面です。
【勘違い・つまずき】
AWSはAmazonの通販サイトとは別のサービスです。同じ役割のサービスにも会社ごとに別名があります（サーバーはAzureならVirtual Machines）。
【最初の学び方】
AWS公式の基礎教材で全体像をつかみ、学習用アカウントでサーバーを作って削除し、S3にファイルを入れてみましょう。
【つながり】
・AWS →（の一例）→ パブリッククラウド
・AWS →（提供する）→ クラウド仮想サーバー
・AWS →（提供する）→ Amazon S3
・AWS →（提供する）→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（スライド240／資料の該当箇所：ご提供の用語解説（AWS））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Microsoftが提供するパブリッククラウド。サーバー・DB・認証など多数のサービスの総称。
【どこの話？】
層：置き場所（サーバー室・クラウド）
場所：インターネットの向こう側にある、Microsoftのクラウドサービスの総称。
【くわしく】
Azure（アジュール）は、Microsoftが提供するパブリッククラウドの名前です。仮想マシン、保存場所、データベース、AIなど、さまざまなサービスの総称で、世界各地のデータセンターで提供されます。
例は、仮想マシンの「Azure Virtual Machines」、オブジェクトストレージの「Azure Blob Storage」、データベースの「Azure SQL Database」です。WindowsやMicrosoft 365、アカウント管理（Microsoft Entra ID）と連携する機能もあります。
【たとえるなら】
IT部品の総合レンタル店の一つ。サーバー（仮想マシン）も倉庫（Blob Storage）もデータベースも、必要な分だけ借ります。
【こんな場面で】
会社のWindowsサーバーの一部をAzureの仮想マシンに移す、社内システムのDBをAzure SQL Databaseで動かす、といった場面です。
【勘違い・つまずき】
Azureは、Microsoft 365（Wordなどを使うサービス）とは別のサービスです。Azureはサーバーなどを借りる基盤です。
【最初の学び方】
公式の入門教材で全体像を学び、学習用環境で仮想マシンとストレージを作って削除まで試しましょう。料金上限も確認します。
【つながり】
・Azure →（の一例）→ パブリッククラウド
・Azure →（提供する）→ クラウド仮想サーバー
・Azure →（提供する）→ クラウドストレージ
・Azure ⇄（連携する）⇄ Windows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（スライド241／資料の該当箇所：ご提供の用語解説（Azure））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Microsoftが提供するパブリッククラウド。サーバー・DB・認証など多数のサービスの総称。
【どこの話？】
層：置き場所（サーバー室・クラウド）
場所：インターネットの向こう側にある、Microsoftのクラウドサービスの総称。
【くわしく】
Azure（アジュール）は、Microsoftが提供するパブリッククラウドの名前です。仮想マシン、保存場所、データベース、AIなど、さまざまなサービスの総称で、世界各地のデータセンターで提供されます。
例は、仮想マシンの「Azure Virtual Machines」、オブジェクトストレージの「Azure Blob Storage」、データベースの「Azure SQL Database」です。WindowsやMicrosoft 365、アカウント管理（Microsoft Entra ID）と連携する機能もあります。
【たとえるなら】
IT部品の総合レンタル店の一つ。サーバー（仮想マシン）も倉庫（Blob Storage）もデータベースも、必要な分だけ借ります。
【こんな場面で】
会社のWindowsサーバーの一部をAzureの仮想マシンに移す、社内システムのDBをAzure SQL Databaseで動かす、といった場面です。
【勘違い・つまずき】
Azureは、Microsoft 365（Wordなどを使うサービス）とは別のサービスです。Azureはサーバーなどを借りる基盤です。
【最初の学び方】
公式の入門教材で全体像を学び、学習用環境で仮想マシンとストレージを作って削除まで試しましょう。料金上限も確認します。
【つながり】
・Azure →（の一例）→ パブリッククラウド
・Azure →（提供する）→ クラウド仮想サーバー
・Azure →（提供する）→ クラウドストレージ
・Azure ⇄（連携する）⇄ Windows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（スライド242／資料の該当箇所：ご提供の用語解説（Azure））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Microsoftが提供するパブリッククラウド。サーバー・DB・認証など多数のサービスの総称。
【どこの話？】
層：置き場所（サーバー室・クラウド）
場所：インターネットの向こう側にある、Microsoftのクラウドサービスの総称。
【くわしく】
Azure（アジュール）は、Microsoftが提供するパブリッククラウドの名前です。仮想マシン、保存場所、データベース、AIなど、さまざまなサービスの総称で、世界各地のデータセンターで提供されます。
例は、仮想マシンの「Azure Virtual Machines」、オブジェクトストレージの「Azure Blob Storage」、データベースの「Azure SQL Database」です。WindowsやMicrosoft 365、アカウント管理（Microsoft Entra ID）と連携する機能もあります。
【たとえるなら】
IT部品の総合レンタル店の一つ。サーバー（仮想マシン）も倉庫（Blob Storage）もデータベースも、必要な分だけ借ります。
【こんな場面で】
会社のWindowsサーバーの一部をAzureの仮想マシンに移す、社内システムのDBをAzure SQL Databaseで動かす、といった場面です。
【勘違い・つまずき】
Azureは、Microsoft 365（Wordなどを使うサービス）とは別のサービスです。Azureはサーバーなどを借りる基盤です。
【最初の学び方】
公式の入門教材で全体像を学び、学習用環境で仮想マシンとストレージを作って削除まで試しましょう。料金上限も確認します。
【つながり】
・Azure →（の一例）→ パブリッククラウド
・Azure →（提供する）→ クラウド仮想サーバー
・Azure →（提供する）→ クラウドストレージ
・Azure ⇄（連携する）⇄ Windows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（スライド243／資料の該当箇所：ご提供の用語解説（Azure））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Googleが提供するパブリッククラウド。サーバー・データ分析・AIなどのサービスの総称。
【どこの話？】
層：置き場所（サーバー室・クラウド）
場所：インターネットの向こう側にある、Googleのクラウドサービスの総称。
【くわしく】
Google Cloud（GCPと略されることもあります）は、Googleが提供するパブリッククラウドの名前です。サーバー、保存場所、データベース、AIなどのサービスを、使った分の料金で借りられます。
例は、仮想マシンの「Compute Engine」、オブジェクトストレージの「Cloud Storage」、大量データを分析する「BigQuery」です。データ分析や機械学習のサービスが用意され、研究や分析の場面でも使われます。
【たとえるなら】
IT部品の総合レンタル店の一つ。部屋（Compute Engine）・倉庫（Cloud Storage）・分析ラボ（BigQuery）が並びます。
【こんな場面で】
大量のアクセスログを集めて分析する、研究室で計算用のVMを借りる、といった場面で名前が出ます。
【勘違い・つまずき】
Google Cloudはサーバーなどを借りる基盤サービスです。Gmailのように「使うだけ」のサービスとは役割が違います。
【最初の学び方】
公式の入門教材で全体像を学び、学習用環境でサービスを1つ作って削除まで試しましょう。料金上限も確認します。
【つながり】
・Google Cloud →（の一例）→ パブリッククラウド
・Google Cloud →（提供する）→ クラウド仮想サーバー
・Google Cloud →（提供する）→ クラウドストレージ
・Google Cloud →（分析を支える）→ データ分析
・Google Cloud →（提供する）→ AI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（スライド244／資料の該当箇所：ご提供の用語解説（Google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Googleが提供するパブリッククラウド。サーバー・データ分析・AIなどのサービスの総称。
【どこの話？】
層：置き場所（サーバー室・クラウド）
場所：インターネットの向こう側にある、Googleのクラウドサービスの総称。
【くわしく】
Google Cloud（GCPと略されることもあります）は、Googleが提供するパブリッククラウドの名前です。サーバー、保存場所、データベース、AIなどのサービスを、使った分の料金で借りられます。
例は、仮想マシンの「Compute Engine」、オブジェクトストレージの「Cloud Storage」、大量データを分析する「BigQuery」です。データ分析や機械学習のサービスが用意され、研究や分析の場面でも使われます。
【たとえるなら】
IT部品の総合レンタル店の一つ。部屋（Compute Engine）・倉庫（Cloud Storage）・分析ラボ（BigQuery）が並びます。
【こんな場面で】
大量のアクセスログを集めて分析する、研究室で計算用のVMを借りる、といった場面で名前が出ます。
【勘違い・つまずき】
Google Cloudはサーバーなどを借りる基盤サービスです。Gmailのように「使うだけ」のサービスとは役割が違います。
【最初の学び方】
公式の入門教材で全体像を学び、学習用環境でサービスを1つ作って削除まで試しましょう。料金上限も確認します。
【つながり】
・Google Cloud →（の一例）→ パブリッククラウド
・Google Cloud →（提供する）→ クラウド仮想サーバー
・Google Cloud →（提供する）→ クラウドストレージ
・Google Cloud →（分析を支える）→ データ分析
・Google Cloud →（提供する）→ AI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（スライド245／資料の該当箇所：ご提供の用語解説（Google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Googleが提供するパブリッククラウド。サーバー・データ分析・AIなどのサービスの総称。
【どこの話？】
層：置き場所（サーバー室・クラウド）
場所：インターネットの向こう側にある、Googleのクラウドサービスの総称。
【くわしく】
Google Cloud（GCPと略されることもあります）は、Googleが提供するパブリッククラウドの名前です。サーバー、保存場所、データベース、AIなどのサービスを、使った分の料金で借りられます。
例は、仮想マシンの「Compute Engine」、オブジェクトストレージの「Cloud Storage」、大量データを分析する「BigQuery」です。データ分析や機械学習のサービスが用意され、研究や分析の場面でも使われます。
【たとえるなら】
IT部品の総合レンタル店の一つ。部屋（Compute Engine）・倉庫（Cloud Storage）・分析ラボ（BigQuery）が並びます。
【こんな場面で】
大量のアクセスログを集めて分析する、研究室で計算用のVMを借りる、といった場面で名前が出ます。
【勘違い・つまずき】
Google Cloudはサーバーなどを借りる基盤サービスです。Gmailのように「使うだけ」のサービスとは役割が違います。
【最初の学び方】
公式の入門教材で全体像を学び、学習用環境でサービスを1つ作って削除まで試しましょう。料金上限も確認します。
【つながり】
・Google Cloud →（の一例）→ パブリッククラウド
・Google Cloud →（提供する）→ クラウド仮想サーバー
・Google Cloud →（提供する）→ クラウドストレージ
・Google Cloud →（分析を支える）→ データ分析
・Google Cloud →（提供する）→ AI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（スライド246／資料の該当箇所：ご提供の用語解説（Google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クラウド上で借りる仮想のコンピューター。必要なときに作り、不要になれば削除する。
【どこの話？】
層：置き場所・仮想化（サーバー室・クラウド）
場所：クラウド事業者の設備の上に作られ、ネット経由で操作する仮想マシン。
【くわしく】
クラウドの仮想サーバーは、クラウド事業者の設備に作るVMを借りて使うサービスです。AWSではAmazon EC2、AzureではAzure Virtual Machines、Google CloudではCompute Engineがこれにあたります。
画面でCPU数・メモリ・OSを選ぶと、VMが起動します。使い終えたら停止・削除できます。責任の分け方が大切で、サーバー本体と仮想化の部分は事業者、VM内のOS更新・アプリ・セキュリティ設定は利用者が管理します。
【たとえるなら】
レンタルのパソコン。置き場所や電気、部品の故障対応は貸す会社が担当し、中にソフトを入れて設定する作業は借りた人がします。
【こんな場面で】
Webサイトを公開するためLinuxのVMを借りてアプリを入れる、大きな計算のときだけ大きなVMを借りて終わったら削除する、といった場面です。
【勘違い・つまずき】
止め忘れると課金が続きます。OSの更新やセキュリティ設定は自分の担当で、「事業者が全部守ってくれる」わけではありません。
【最初の学び方】
学習用アカウントで、作成→接続→停止→削除を体験しましょう。削除し忘れると料金が続くことがあります。
【つながり】
・クラウド仮想サーバー →（の一種）→ 仮想マシン
・クラウド仮想サーバー →（上で動く）→ ハイパーバイザー
・パブリッククラウド →（提供する）→ クラウド仮想サーバー
・クラウド仮想サーバー ⇄（ちがい）⇄ マネージドサービス
・クラウド仮想サーバー →（自分で管理）→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（スライド247／資料の該当箇所：ご提供の用語解説（クラウドの仮想サーバー））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クラウド上で借りる仮想のコンピューター。必要なときに作り、不要になれば削除する。
【どこの話？】
層：置き場所・仮想化（サーバー室・クラウド）
場所：クラウド事業者の設備の上に作られ、ネット経由で操作する仮想マシン。
【くわしく】
クラウドの仮想サーバーは、クラウド事業者の設備に作るVMを借りて使うサービスです。AWSではAmazon EC2、AzureではAzure Virtual Machines、Google CloudではCompute Engineがこれにあたります。
画面でCPU数・メモリ・OSを選ぶと、VMが起動します。使い終えたら停止・削除できます。責任の分け方が大切で、サーバー本体と仮想化の部分は事業者、VM内のOS更新・アプリ・セキュリティ設定は利用者が管理します。
【たとえるなら】
レンタルのパソコン。置き場所や電気、部品の故障対応は貸す会社が担当し、中にソフトを入れて設定する作業は借りた人がします。
【こんな場面で】
Webサイトを公開するためLinuxのVMを借りてアプリを入れる、大きな計算のときだけ大きなVMを借りて終わったら削除する、といった場面です。
【勘違い・つまずき】
止め忘れると課金が続きます。OSの更新やセキュリティ設定は自分の担当で、「事業者が全部守ってくれる」わけではありません。
【最初の学び方】
学習用アカウントで、作成→接続→停止→削除を体験しましょう。削除し忘れると料金が続くことがあります。
【つながり】
・クラウド仮想サーバー →（の一種）→ 仮想マシン
・クラウド仮想サーバー →（上で動く）→ ハイパーバイザー
・パブリッククラウド →（提供する）→ クラウド仮想サーバー
・クラウド仮想サーバー ⇄（ちがい）⇄ マネージドサービス
・クラウド仮想サーバー →（自分で管理）→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（スライド248／資料の該当箇所：ご提供の用語解説（クラウドの仮想サーバー））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クラウド上で借りる仮想のコンピューター。必要なときに作り、不要になれば削除する。
【どこの話？】
層：置き場所・仮想化（サーバー室・クラウド）
場所：クラウド事業者の設備の上に作られ、ネット経由で操作する仮想マシン。
【くわしく】
クラウドの仮想サーバーは、クラウド事業者の設備に作るVMを借りて使うサービスです。AWSではAmazon EC2、AzureではAzure Virtual Machines、Google CloudではCompute Engineがこれにあたります。
画面でCPU数・メモリ・OSを選ぶと、VMが起動します。使い終えたら停止・削除できます。責任の分け方が大切で、サーバー本体と仮想化の部分は事業者、VM内のOS更新・アプリ・セキュリティ設定は利用者が管理します。
【たとえるなら】
レンタルのパソコン。置き場所や電気、部品の故障対応は貸す会社が担当し、中にソフトを入れて設定する作業は借りた人がします。
【こんな場面で】
Webサイトを公開するためLinuxのVMを借りてアプリを入れる、大きな計算のときだけ大きなVMを借りて終わったら削除する、といった場面です。
【勘違い・つまずき】
止め忘れると課金が続きます。OSの更新やセキュリティ設定は自分の担当で、「事業者が全部守ってくれる」わけではありません。
【最初の学び方】
学習用アカウントで、作成→接続→停止→削除を体験しましょう。削除し忘れると料金が続くことがあります。
【つながり】
・クラウド仮想サーバー →（の一種）→ 仮想マシン
・クラウド仮想サーバー →（上で動く）→ ハイパーバイザー
・パブリッククラウド →（提供する）→ クラウド仮想サーバー
・クラウド仮想サーバー ⇄（ちがい）⇄ マネージドサービス
・クラウド仮想サーバー →（自分で管理）→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（スライド249／資料の該当箇所：ご提供の用語解説（クラウドの仮想サーバー））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インターネット経由でデータを預ける、クラウド上の保存サービス。
【どこの話？】
層：置き場所・ハードウェア（サーバー室・クラウド）
場所：インターネットの向こう側にある、事業者の保存装置を使うサービス。
【くわしく】
クラウドストレージは、事業者のデータセンターにあるストレージ（保存装置）を、インターネット経由で借りて使うサービスです。自分の機械ではなく、ネットの向こうに預けます。
大きく2種類あります。個人向けのファイル共有サービス（Googleドライブなど）と、アプリが使うストレージサービス（Amazon S3、Azure Blob Storage、Google Cloud Storage）です。多くは複数の機器に複製して保存し、誰が読み書きできるかは権限で設定します。
【たとえるなら】
ネット上の貸し倉庫。家（PC）の外の倉庫に荷物（データ）を預け、鍵（権限）を渡した人だけがどこからでも出し入れできます。
【こんな場面で】
スマホの写真が自動でバックアップされる、友達と共有フォルダーで資料を共同編集する、といった場面です。
【勘違い・つまずき】
「クラウドに預けたからバックアップ済み」とは限りません。誤って削除したり、設定ミスで外から見える状態にすると、失う・漏えいすることがあります。
【最初の学び方】
クラウドストレージにファイルを保存し、共有リンクの公開範囲（自分だけ・特定の人・全員）を変えて見え方を確かめましょう。
【つながり】
・Amazon S3 →（一例）→ クラウドストレージ
・クラウドストレージ →（の一種）→ ストレージ
・オブジェクトストレージ →（主な仕組み）→ クラウドストレージ
・クラウドストレージ →（置き場になる）→ バックアップ
・パブリッククラウド →（提供する）→ クラウドストレージ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（スライド250／資料の該当箇所：ご提供の用語解説（クラウドストレージ））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インターネット経由でデータを預ける、クラウド上の保存サービス。
【どこの話？】
層：置き場所・ハードウェア（サーバー室・クラウド）
場所：インターネットの向こう側にある、事業者の保存装置を使うサービス。
【くわしく】
クラウドストレージは、事業者のデータセンターにあるストレージ（保存装置）を、インターネット経由で借りて使うサービスです。自分の機械ではなく、ネットの向こうに預けます。
大きく2種類あります。個人向けのファイル共有サービス（Googleドライブなど）と、アプリが使うストレージサービス（Amazon S3、Azure Blob Storage、Google Cloud Storage）です。多くは複数の機器に複製して保存し、誰が読み書きできるかは権限で設定します。
【たとえるなら】
ネット上の貸し倉庫。家（PC）の外の倉庫に荷物（データ）を預け、鍵（権限）を渡した人だけがどこからでも出し入れできます。
【こんな場面で】
スマホの写真が自動でバックアップされる、友達と共有フォルダーで資料を共同編集する、といった場面です。
【勘違い・つまずき】
「クラウドに預けたからバックアップ済み」とは限りません。誤って削除したり、設定ミスで外から見える状態にすると、失う・漏えいすることがあります。
【最初の学び方】
クラウドストレージにファイルを保存し、共有リンクの公開範囲（自分だけ・特定の人・全員）を変えて見え方を確かめましょう。
【つながり】
・Amazon S3 →（一例）→ クラウドストレージ
・クラウドストレージ →（の一種）→ ストレージ
・オブジェクトストレージ →（主な仕組み）→ クラウドストレージ
・クラウドストレージ →（置き場になる）→ バックアップ
・パブリッククラウド →（提供する）→ クラウドストレージ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（スライド251／資料の該当箇所：ご提供の用語解説（クラウドストレージ））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インターネット経由でデータを預ける、クラウド上の保存サービス。
【どこの話？】
層：置き場所・ハードウェア（サーバー室・クラウド）
場所：インターネットの向こう側にある、事業者の保存装置を使うサービス。
【くわしく】
クラウドストレージは、事業者のデータセンターにあるストレージ（保存装置）を、インターネット経由で借りて使うサービスです。自分の機械ではなく、ネットの向こうに預けます。
大きく2種類あります。個人向けのファイル共有サービス（Googleドライブなど）と、アプリが使うストレージサービス（Amazon S3、Azure Blob Storage、Google Cloud Storage）です。多くは複数の機器に複製して保存し、誰が読み書きできるかは権限で設定します。
【たとえるなら】
ネット上の貸し倉庫。家（PC）の外の倉庫に荷物（データ）を預け、鍵（権限）を渡した人だけがどこからでも出し入れできます。
【こんな場面で】
スマホの写真が自動でバックアップされる、友達と共有フォルダーで資料を共同編集する、といった場面です。
【勘違い・つまずき】
「クラウドに預けたからバックアップ済み」とは限りません。誤って削除したり、設定ミスで外から見える状態にすると、失う・漏えいすることがあります。
【最初の学び方】
クラウドストレージにファイルを保存し、共有リンクの公開範囲（自分だけ・特定の人・全員）を変えて見え方を確かめましょう。
【つながり】
・Amazon S3 →（一例）→ クラウドストレージ
・クラウドストレージ →（の一種）→ ストレージ
・オブジェクトストレージ →（主な仕組み）→ クラウドストレージ
・クラウドストレージ →（置き場になる）→ バックアップ
・パブリッククラウド →（提供する）→ クラウドストレージ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（スライド252／資料の該当箇所：ご提供の用語解説（クラウドストレージ））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運用の手間の一部を、提供会社が代わりに担当してくれるクラウドのサービス。
【どこの話？】
層：置き場所・ミドルウェア（サーバー室・クラウド）
場所：クラウドの中で、提供会社が運用の一部を受け持つタイプのサービス。
【くわしく】
マネージドサービスは、サーバーの保守、OSの更新、バックアップ、故障時の入れ替えなど「運用」の一部を、クラウドの提供会社が担当するサービスです。利用者は、使うことに集中できます。
例は、データベースの「Amazon RDS」「Azure SQL Database」と、Kubernetesの「Amazon EKS」などです。担当範囲はサービスごとに違い、RDSではハードやOSの管理は事業者、表の設計とアクセス権の設定は利用者です。
【たとえるなら】
掃除や点検つきの賃貸マンション。設備の修理や共用部の掃除は管理会社がしますが、部屋の使い方や持ち物は住む人の責任です。
【こんな場面で】
Webアプリのデータベースを自分で入れず、RDSなどを申し込んで使い、夜間の更新作業や故障対応の負担を減らす場面です。
【勘違い・つまずき】
「マネージド＝全部おまかせ」ではありません。事業者の担当範囲はサービスごとに違い、データの中身・権限・設定は利用者の責任です。
【最初の学び方】
使いたいサービスの公式ページで「責任共有モデル」を探し、事業者の担当と自分の担当を2列で書き出しましょう。
【つながり】
・マネージドサービス ⇄（ちがい）⇄ クラウド仮想サーバー
・AWSのDB →（の一例）→ マネージドサービス
・マネージドサービス →（運用を代行）→ DB
・マネージドサービス →（提供する）→ Kubernetes
・パブリッククラウド →（提供する）→ マネージドサービス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（スライド253／資料の該当箇所：ご提供の用語解説（マネージドサービス））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運用の手間の一部を、提供会社が代わりに担当してくれるクラウドのサービス。
【どこの話？】
層：置き場所・ミドルウェア（サーバー室・クラウド）
場所：クラウドの中で、提供会社が運用の一部を受け持つタイプのサービス。
【くわしく】
マネージドサービスは、サーバーの保守、OSの更新、バックアップ、故障時の入れ替えなど「運用」の一部を、クラウドの提供会社が担当するサービスです。利用者は、使うことに集中できます。
例は、データベースの「Amazon RDS」「Azure SQL Database」と、Kubernetesの「Amazon EKS」などです。担当範囲はサービスごとに違い、RDSではハードやOSの管理は事業者、表の設計とアクセス権の設定は利用者です。
【たとえるなら】
掃除や点検つきの賃貸マンション。設備の修理や共用部の掃除は管理会社がしますが、部屋の使い方や持ち物は住む人の責任です。
【こんな場面で】
Webアプリのデータベースを自分で入れず、RDSなどを申し込んで使い、夜間の更新作業や故障対応の負担を減らす場面です。
【勘違い・つまずき】
「マネージド＝全部おまかせ」ではありません。事業者の担当範囲はサービスごとに違い、データの中身・権限・設定は利用者の責任です。
【最初の学び方】
使いたいサービスの公式ページで「責任共有モデル」を探し、事業者の担当と自分の担当を2列で書き出しましょう。
【つながり】
・マネージドサービス ⇄（ちがい）⇄ クラウド仮想サーバー
・AWSのDB →（の一例）→ マネージドサービス
・マネージドサービス →（運用を代行）→ DB
・マネージドサービス →（提供する）→ Kubernetes
・パブリッククラウド →（提供する）→ マネージドサービス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（スライド254／資料の該当箇所：ご提供の用語解説（マネージドサービス））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運用の手間の一部を、提供会社が代わりに担当してくれるクラウドのサービス。
【どこの話？】
層：置き場所・ミドルウェア（サーバー室・クラウド）
場所：クラウドの中で、提供会社が運用の一部を受け持つタイプのサービス。
【くわしく】
マネージドサービスは、サーバーの保守、OSの更新、バックアップ、故障時の入れ替えなど「運用」の一部を、クラウドの提供会社が担当するサービスです。利用者は、使うことに集中できます。
例は、データベースの「Amazon RDS」「Azure SQL Database」と、Kubernetesの「Amazon EKS」などです。担当範囲はサービスごとに違い、RDSではハードやOSの管理は事業者、表の設計とアクセス権の設定は利用者です。
【たとえるなら】
掃除や点検つきの賃貸マンション。設備の修理や共用部の掃除は管理会社がしますが、部屋の使い方や持ち物は住む人の責任です。
【こんな場面で】
Webアプリのデータベースを自分で入れず、RDSなどを申し込んで使い、夜間の更新作業や故障対応の負担を減らす場面です。
【勘違い・つまずき】
「マネージド＝全部おまかせ」ではありません。事業者の担当範囲はサービスごとに違い、データの中身・権限・設定は利用者の責任です。
【最初の学び方】
使いたいサービスの公式ページで「責任共有モデル」を探し、事業者の担当と自分の担当を2列で書き出しましょう。
【つながり】
・マネージドサービス ⇄（ちがい）⇄ クラウド仮想サーバー
・AWSのDB →（の一例）→ マネージドサービス
・マネージドサービス →（運用を代行）→ DB
・マネージドサービス →（提供する）→ Kubernetes
・パブリッククラウド →（提供する）→ マネージドサービス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（スライド255／資料の該当箇所：ご提供の用語解説（マネージドサービス））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4つの手順が、安全に練習するための習慣です。
【処理の詳細】
・無料枠でも料金が発生する条件がある。期間・対象のサービス・利用量の上限を確認する。
・予算の通知は、必ずしも利用や課金を自動停止する機能ではない（貼り付けの記載）。
・練習後は不要な資源（仮想サーバー、保存したデータ、ネットワーク設定など）を削除する。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（スライド256／資料の該当箇所：クラウド「個人でクラウドを操作する場合」）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貼り付けの記載：この質問の文脈では、Google Driveにファイルを保存した経験だけより、仮想サーバーやクラウドサービスを設定・利用した経験が主に想定されていると考えられる。
【成立条件・例外】
「考えられる」という表現のとおり、質問の意図の推測です。質問票の正式な文面や注記が確認できる場合は、それに従ってください。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（スライド257／資料の該当箇所：クラウド「質問の文脈」）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外側の枠が広い分野（AI）、内側が一部（機械学習）、さらにその例です。
【用語】
・AI／人工知能：認識、予測、文章生成など、知的な処理をコンピューターで実現する技術分野。
・Machine Learning／機械学習：データからパターンを学び、予測や分類を行う方法。AIの一分野（貼り付けの記載）。
【よくある誤解】
AIは「ChatGPTのようなもの」だけを指す言葉ではありません。画像認識や予測など、さまざまな技術を含みます。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（スライド258／資料の該当箇所：研究・独学「AI・機械学習」）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AIの一部が機械学習で、機械学習はデータを分析してパターンを学びます。IoTは、センサーなどでデータを集める仕組みで、集めたデータを分析に使います。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（スライド259／資料の該当箇所：研究・独学）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左から右へ、情報が流れる順です。貼り付けの学び方：センサー付きの小さな機器で温度などを取得し、PCに表示する。
【処理の詳細】
・センサー：温度・明るさなどを測る部品。
・小型コンピューター：センサーの値を読み取り、通信できる形にする（マイコン・Raspberry Piなど）。
・通信：Wi-Fiなどで送る。
・保存・表示：PCやクラウドで保存し、グラフなどで見る。
【成立条件・例外】
経験を書くときは、機器・センサー、取得した情報、通信や表示の仕組みを分けて書きます（貼り付けの記載）。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（スライド260／資料の該当箇所：研究・独学「IoT」）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左から右へ、情報が流れる順です。貼り付けの学び方：センサー付きの小さな機器で温度などを取得し、PCに表示する。
【処理の詳細】
・センサー：温度・明るさなどを測る部品。
・小型コンピューター：センサーの値を読み取り、通信できる形にする（マイコン・Raspberry Piなど）。
・通信：Wi-Fiなどで送る。
・保存・表示：PCやクラウドで保存し、グラフなどで見る。
【成立条件・例外】
経験を書くときは、機器・センサー、取得した情報、通信や表示の仕組みを分けて書きます（貼り付けの記載）。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（スライド261／資料の該当箇所：研究・独学「IoT」）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PCケースの中に、マザーボード（基板）があり、CPU・メモリ・SSD・HDD・通信部品が載ります。電源ユニットは、各部品に電気を送ります。
【処理の詳細】
・CPU：計算する頭脳。
・メモリ：作業中のデータを置く作業机。
・SSD・HDD：データを保存する倉庫。
・マザーボード：部品をつなぐ道路と土台。
・電源ユニット：電気を送る心臓。
【補足】
部品には形や規格があり、合わないと組み合わせられません（互換性）。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（スライド262／資料の該当箇所：研究・独学（PCを自作して使用））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表は、PCの主な部品と役割です。貼り付けの学び方：部品の役割と互換性を学び、構成を考えて組み立て、OSを導入する。
【処理の詳細】
・互換性の例：CPUとマザーボードの接続部の形が合うか。メモリの規格がマザーボードに合うか。電源の容量が足りるか。
【補足】
ストレージの部品（SSD・M.2・NVMeなど）は、ストレージの章を参照してください。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（スライド263／資料の該当箇所：研究・独学「PCを自作して使用」）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表は、PCの主な部品と役割です。貼り付けの学び方：部品の役割と互換性を学び、構成を考えて組み立て、OSを導入する。
【処理の詳細】
・互換性の例：CPUとマザーボードの接続部の形が合うか。メモリの規格がマザーボードに合うか。電源の容量が足りるか。
【補足】
ストレージの部品（SSD・M.2・NVMeなど）は、ストレージの章を参照してください。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（スライド264／資料の該当箇所：研究・独学「PCを自作して使用」）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Windows用・Linux用・スマートフォン用のアプリは、それぞれ動く先のOSが違います。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（スライド265／資料の該当箇所：研究・独学（アプリ開発））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認識・予測・文章づくりなど、人が頭で行う作業をコンピューターにさせる技術の総称。
【どこの話？】
層：アプリ（使う人・作る人が直接さわるソフト）
場所：アプリやクラウドのサービスとして動くソフト。学習や実行には強力なコンピューターを使う。
【くわしく】
AI（人工知能）は、画像を見分ける、文章を書く、先を予想するなど、人が頭を使って行う作業をコンピューターにさせる技術の分野です。特定のソフトの名前ではなく、広い分野をまとめた呼び名です。
AIの作り方にはいろいろありますが、いま多くのAIは機械学習（データから規則を見つける方法）で作られています。つまり「AIが大きな枠で、その中の1つの方法が機械学習」という包含関係（含む・含まれる）です。
AIは人のように「意味を理解している」わけではなく、大量のデータから見つけたパターンをもとに答えを作ります。だから、もっともらしい間違いを出すこともあります。
【たとえるなら】
新人アルバイト。マニュアルにない場面も、過去の経験（データ）から推測して動けます。でも経験が足りないと自信満々に間違えるので、確認する先輩（人）が必要です。
【こんな場面で】
スマホの顔認証、動画アプリのおすすめ表示、翻訳アプリ、質問に文章で答えるチャット型のAIなど、毎日の生活のあちこちで出会います。
【勘違い・つまずき】
AIは「考えて理解している」のではなく、学んだパターンから答えを作っています。もっともらしい間違いも出るので、大事なことは自分で裏付けを取りましょう。
【最初の学び方】
画像を見分けるAIのサービスを使い、同じ物の写真を角度や明るさを変えて試して、当たった場合と外れた場合を記録してみましょう。
【つながり】
・AI →（含む）→ 機械学習
・AI →（広げる）→ 自動化
・クラウド →（提供する）→ AI
・AI ⇄（近い分野）⇄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（スライド266／資料の該当箇所：ご提供の用語解説（AI（人工知能）））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認識・予測・文章づくりなど、人が頭で行う作業をコンピューターにさせる技術の総称。
【どこの話？】
層：アプリ（使う人・作る人が直接さわるソフト）
場所：アプリやクラウドのサービスとして動くソフト。学習や実行には強力なコンピューターを使う。
【くわしく】
AI（人工知能）は、画像を見分ける、文章を書く、先を予想するなど、人が頭を使って行う作業をコンピューターにさせる技術の分野です。特定のソフトの名前ではなく、広い分野をまとめた呼び名です。
AIの作り方にはいろいろありますが、いま多くのAIは機械学習（データから規則を見つける方法）で作られています。つまり「AIが大きな枠で、その中の1つの方法が機械学習」という包含関係（含む・含まれる）です。
AIは人のように「意味を理解している」わけではなく、大量のデータから見つけたパターンをもとに答えを作ります。だから、もっともらしい間違いを出すこともあります。
【たとえるなら】
新人アルバイト。マニュアルにない場面も、過去の経験（データ）から推測して動けます。でも経験が足りないと自信満々に間違えるので、確認する先輩（人）が必要です。
【こんな場面で】
スマホの顔認証、動画アプリのおすすめ表示、翻訳アプリ、質問に文章で答えるチャット型のAIなど、毎日の生活のあちこちで出会います。
【勘違い・つまずき】
AIは「考えて理解している」のではなく、学んだパターンから答えを作っています。もっともらしい間違いも出るので、大事なことは自分で裏付けを取りましょう。
【最初の学び方】
画像を見分けるAIのサービスを使い、同じ物の写真を角度や明るさを変えて試して、当たった場合と外れた場合を記録してみましょう。
【つながり】
・AI →（含む）→ 機械学習
・AI →（広げる）→ 自動化
・クラウド →（提供する）→ AI
・AI ⇄（近い分野）⇄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（スライド267／資料の該当箇所：ご提供の用語解説（AI（人工知能）））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認識・予測・文章づくりなど、人が頭で行う作業をコンピューターにさせる技術の総称。
【どこの話？】
層：アプリ（使う人・作る人が直接さわるソフト）
場所：アプリやクラウドのサービスとして動くソフト。学習や実行には強力なコンピューターを使う。
【くわしく】
AI（人工知能）は、画像を見分ける、文章を書く、先を予想するなど、人が頭を使って行う作業をコンピューターにさせる技術の分野です。特定のソフトの名前ではなく、広い分野をまとめた呼び名です。
AIの作り方にはいろいろありますが、いま多くのAIは機械学習（データから規則を見つける方法）で作られています。つまり「AIが大きな枠で、その中の1つの方法が機械学習」という包含関係（含む・含まれる）です。
AIは人のように「意味を理解している」わけではなく、大量のデータから見つけたパターンをもとに答えを作ります。だから、もっともらしい間違いを出すこともあります。
【たとえるなら】
新人アルバイト。マニュアルにない場面も、過去の経験（データ）から推測して動けます。でも経験が足りないと自信満々に間違えるので、確認する先輩（人）が必要です。
【こんな場面で】
スマホの顔認証、動画アプリのおすすめ表示、翻訳アプリ、質問に文章で答えるチャット型のAIなど、毎日の生活のあちこちで出会います。
【勘違い・つまずき】
AIは「考えて理解している」のではなく、学んだパターンから答えを作っています。もっともらしい間違いも出るので、大事なことは自分で裏付けを取りましょう。
【最初の学び方】
画像を見分けるAIのサービスを使い、同じ物の写真を角度や明るさを変えて試して、当たった場合と外れた場合を記録してみましょう。
【つながり】
・AI →（含む）→ 機械学習
・AI →（広げる）→ 自動化
・クラウド →（提供する）→ AI
・AI ⇄（近い分野）⇄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（スライド268／資料の該当箇所：ご提供の用語解説（AI（人工知能）））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データの中から規則を見つけ出し、新しいデータの予測や分類に使う方法。AIの一分野。
【どこの話？】
層：アプリ（使う人・作る人が直接さわるソフト）
場所：プログラムとして動くソフト。Pythonなどで作り、PCやクラウドで学習・実行する。
【くわしく】
機械学習は、人がルールを1つずつ書く代わりに、たくさんのデータをコンピューターに見せて、規則（パターン）を自分で見つけさせる方法です。AIという大きな枠の中の、1つの方法にあたります。
流れは3段階です。①学習データ（多くは正解つきの例）を用意する。②学習させて、規則を詰め込んだモデル（判定の仕組み）を作る。③新しいデータをモデルに入れて、予測（答えの推測）を出す。
迷惑メール判定なら、「迷惑」「普通」と正解を付けた大量のメールが学習データです。できたモデルは、初めて届いたメールにも迷惑らしさを判定します。データの量と質が、結果を左右します。
【たとえるなら】
過去問を何百回も解いた受験生。出題の傾向（モデル）をつかんでいるので、初見の問題（新しいデータ）にも答えられます。でも過去問が偏っていると、本番で外します。
【こんな場面で】
スマホのカメラが顔を見つける、動画アプリが好みの動画を並べる、過去の売上から来月の売上を予想する、といった場面で使われています。
【勘違い・つまずき】
機械学習は「何でも正しく当てる魔法」ではありません。学習データに偏りや間違いがあると、予測も偏ります。また、AIと機械学習は同じ意味ではなく、AIのほうが広い言葉です。
【最初の学び方】
Pythonの入門で、少量の表データ（例：気温と売上）から線を引いて予測してみましょう。データを変えると予測がどう変わるかを観察します。
【つながり】
・AI →（含む）→ 機械学習
・機械学習 →（手法の一つ）→ データ分析
・機械学習 →（計算を借りる）→ クラウド
・機械学習 →（判断を担う）→ 自動化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（スライド269／資料の該当箇所：ご提供の用語解説（機械学習））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データの中から規則を見つけ出し、新しいデータの予測や分類に使う方法。AIの一分野。
【どこの話？】
層：アプリ（使う人・作る人が直接さわるソフト）
場所：プログラムとして動くソフト。Pythonなどで作り、PCやクラウドで学習・実行する。
【くわしく】
機械学習は、人がルールを1つずつ書く代わりに、たくさんのデータをコンピューターに見せて、規則（パターン）を自分で見つけさせる方法です。AIという大きな枠の中の、1つの方法にあたります。
流れは3段階です。①学習データ（多くは正解つきの例）を用意する。②学習させて、規則を詰め込んだモデル（判定の仕組み）を作る。③新しいデータをモデルに入れて、予測（答えの推測）を出す。
迷惑メール判定なら、「迷惑」「普通」と正解を付けた大量のメールが学習データです。できたモデルは、初めて届いたメールにも迷惑らしさを判定します。データの量と質が、結果を左右します。
【たとえるなら】
過去問を何百回も解いた受験生。出題の傾向（モデル）をつかんでいるので、初見の問題（新しいデータ）にも答えられます。でも過去問が偏っていると、本番で外します。
【こんな場面で】
スマホのカメラが顔を見つける、動画アプリが好みの動画を並べる、過去の売上から来月の売上を予想する、といった場面で使われています。
【勘違い・つまずき】
機械学習は「何でも正しく当てる魔法」ではありません。学習データに偏りや間違いがあると、予測も偏ります。また、AIと機械学習は同じ意味ではなく、AIのほうが広い言葉です。
【最初の学び方】
Pythonの入門で、少量の表データ（例：気温と売上）から線を引いて予測してみましょう。データを変えると予測がどう変わるかを観察します。
【つながり】
・AI →（含む）→ 機械学習
・機械学習 →（手法の一つ）→ データ分析
・機械学習 →（計算を借りる）→ クラウド
・機械学習 →（判断を担う）→ 自動化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（スライド270／資料の該当箇所：ご提供の用語解説（機械学習））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データの中から規則を見つけ出し、新しいデータの予測や分類に使う方法。AIの一分野。
【どこの話？】
層：アプリ（使う人・作る人が直接さわるソフト）
場所：プログラムとして動くソフト。Pythonなどで作り、PCやクラウドで学習・実行する。
【くわしく】
機械学習は、人がルールを1つずつ書く代わりに、たくさんのデータをコンピューターに見せて、規則（パターン）を自分で見つけさせる方法です。AIという大きな枠の中の、1つの方法にあたります。
流れは3段階です。①学習データ（多くは正解つきの例）を用意する。②学習させて、規則を詰め込んだモデル（判定の仕組み）を作る。③新しいデータをモデルに入れて、予測（答えの推測）を出す。
迷惑メール判定なら、「迷惑」「普通」と正解を付けた大量のメールが学習データです。できたモデルは、初めて届いたメールにも迷惑らしさを判定します。データの量と質が、結果を左右します。
【たとえるなら】
過去問を何百回も解いた受験生。出題の傾向（モデル）をつかんでいるので、初見の問題（新しいデータ）にも答えられます。でも過去問が偏っていると、本番で外します。
【こんな場面で】
スマホのカメラが顔を見つける、動画アプリが好みの動画を並べる、過去の売上から来月の売上を予想する、といった場面で使われています。
【勘違い・つまずき】
機械学習は「何でも正しく当てる魔法」ではありません。学習データに偏りや間違いがあると、予測も偏ります。また、AIと機械学習は同じ意味ではなく、AIのほうが広い言葉です。
【最初の学び方】
Pythonの入門で、少量の表データ（例：気温と売上）から線を引いて予測してみましょう。データを変えると予測がどう変わるかを観察します。
【つながり】
・AI →（含む）→ 機械学習
・機械学習 →（手法の一つ）→ データ分析
・機械学習 →（計算を借りる）→ クラウド
・機械学習 →（判断を担う）→ 自動化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（スライド271／資料の該当箇所：ご提供の用語解説（機械学習））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人が繰り返している作業を、プログラムなどに代わりにやらせること。
【どこの話？】
層：アプリ（使う人・作る人が直接さわるソフト）
場所：PCやサーバーの上で動くプログラムや設定。ふだんの作業や研究を支える。
【くわしく】
自動化は、毎日・毎週と同じ手順で行う作業を、プログラム（コンピューターへの命令書）に書いて、機械に実行させることです。人が手でやるより速く、ミスも起きにくくなります。
仕組みは、「きっかけ（毎朝7時、ファイルが届いたとき）」「手順（開く→計算する→保存する）」「結果（ファイル、通知）」の3つを決めて書くことです。Pythonや、OSの定時実行の機能がよく使われます。
ただし、何でも自動化すればよいわけではありません。数回しかしない作業は、プログラムを書く時間のほうが長くかかります。「何度も繰り返す」「手順が決まっている」作業が向いています。
【たとえるなら】
お掃除ロボット。毎朝決めた時刻に（きっかけ）、決めた順路で（手順）部屋を掃除します（結果）。人が毎回ほうきを持つ必要がなくなります。
【こんな場面で】
部活の出席表を毎週Excelで集計している、課題用に撮った写真を日付ごとのフォルダーに分けている、といった繰り返し作業をプログラムに任せる場面です。
【勘違い・つまずき】
自動化は「作って終わり」ではありません。条件が変わると止まったり、間違ったまま動き続けたりします。結果の確認と、失敗したときの記録（ログ）が必要です。
【最初の学び方】
自分の繰り返し作業を1つ選んで、手順を箇条書きにしてみましょう。それをそのままPythonなどで書くと、最初の自動化になります。
【つながり】
・AI →（広げる）→ 自動化
・OS →（定時に動かす）→ 自動化
・自動化 →（定期実行）→ バックアップ
・自動化 →（結果を残す）→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（スライド272／資料の該当箇所：ご提供の用語解説（自動化））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人が繰り返している作業を、プログラムなどに代わりにやらせること。
【どこの話？】
層：アプリ（使う人・作る人が直接さわるソフト）
場所：PCやサーバーの上で動くプログラムや設定。ふだんの作業や研究を支える。
【くわしく】
自動化は、毎日・毎週と同じ手順で行う作業を、プログラム（コンピューターへの命令書）に書いて、機械に実行させることです。人が手でやるより速く、ミスも起きにくくなります。
仕組みは、「きっかけ（毎朝7時、ファイルが届いたとき）」「手順（開く→計算する→保存する）」「結果（ファイル、通知）」の3つを決めて書くことです。Pythonや、OSの定時実行の機能がよく使われます。
ただし、何でも自動化すればよいわけではありません。数回しかしない作業は、プログラムを書く時間のほうが長くかかります。「何度も繰り返す」「手順が決まっている」作業が向いています。
【たとえるなら】
お掃除ロボット。毎朝決めた時刻に（きっかけ）、決めた順路で（手順）部屋を掃除します（結果）。人が毎回ほうきを持つ必要がなくなります。
【こんな場面で】
部活の出席表を毎週Excelで集計している、課題用に撮った写真を日付ごとのフォルダーに分けている、といった繰り返し作業をプログラムに任せる場面です。
【勘違い・つまずき】
自動化は「作って終わり」ではありません。条件が変わると止まったり、間違ったまま動き続けたりします。結果の確認と、失敗したときの記録（ログ）が必要です。
【最初の学び方】
自分の繰り返し作業を1つ選んで、手順を箇条書きにしてみましょう。それをそのままPythonなどで書くと、最初の自動化になります。
【つながり】
・AI →（広げる）→ 自動化
・OS →（定時に動かす）→ 自動化
・自動化 →（定期実行）→ バックアップ
・自動化 →（結果を残す）→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（スライド273／資料の該当箇所：ご提供の用語解説（自動化））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人が繰り返している作業を、プログラムなどに代わりにやらせること。
【どこの話？】
層：アプリ（使う人・作る人が直接さわるソフト）
場所：PCやサーバーの上で動くプログラムや設定。ふだんの作業や研究を支える。
【くわしく】
自動化は、毎日・毎週と同じ手順で行う作業を、プログラム（コンピューターへの命令書）に書いて、機械に実行させることです。人が手でやるより速く、ミスも起きにくくなります。
仕組みは、「きっかけ（毎朝7時、ファイルが届いたとき）」「手順（開く→計算する→保存する）」「結果（ファイル、通知）」の3つを決めて書くことです。Pythonや、OSの定時実行の機能がよく使われます。
ただし、何でも自動化すればよいわけではありません。数回しかしない作業は、プログラムを書く時間のほうが長くかかります。「何度も繰り返す」「手順が決まっている」作業が向いています。
【たとえるなら】
お掃除ロボット。毎朝決めた時刻に（きっかけ）、決めた順路で（手順）部屋を掃除します（結果）。人が毎回ほうきを持つ必要がなくなります。
【こんな場面で】
部活の出席表を毎週Excelで集計している、課題用に撮った写真を日付ごとのフォルダーに分けている、といった繰り返し作業をプログラムに任せる場面です。
【勘違い・つまずき】
自動化は「作って終わり」ではありません。条件が変わると止まったり、間違ったまま動き続けたりします。結果の確認と、失敗したときの記録（ログ）が必要です。
【最初の学び方】
自分の繰り返し作業を1つ選んで、手順を箇条書きにしてみましょう。それをそのままPythonなどで書くと、最初の自動化になります。
【つながり】
・AI →（広げる）→ 自動化
・OS →（定時に動かす）→ 自動化
・自動化 →（定期実行）→ バックアップ
・自動化 →（結果を残す）→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（スライド274／資料の該当箇所：ご提供の用語解説（自動化））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iPhoneやAndroidなど、スマートフォンの上で動くアプリを作ること。
【どこの話？】
層：アプリ（使う人・作る人が直接さわるソフト）
場所：iPhoneやAndroidの端末で動くアプリ（アプリの層）。作る作業は主にPCで行う。
【くわしく】
スマートフォン用アプリ開発は、スマホの画面で動くアプリ（メモ、地図、ゲームなど）をプログラムで作ることです。小さなタッチ画面や、カメラ・位置情報などの部品（センサー）を使えるのが特徴です。
主なスマホのOSは、AppleのiOS（iPhone）とGoogleのAndroidで、アプリが動く仕組みはOSごとに違います。そのため、どちら向けに作るかを最初に決めます。1つの書き方で両方に対応する開発の道具もあります。
作る作業は、PCの開発環境（プログラムを書く道具一式）で行い、自分のスマホで試します。多くの人に配るときは、アプリストアに登録します。ストアには、規則に合うかを確かめる審査があります。
【たとえるなら】
スマホという小さな舞台で上演する劇を書くこと。舞台装置（OS）がiPhoneとAndroidで違うので、台本（プログラム）の書き方も変わります。
【こんな場面で】
家計簿やメモなど自分用のアプリを作り、自分のスマホで動かしてみる場面です。カメラや位置情報を使うアプリにも挑戦できます。
【勘違い・つまずき】
iPhone用のアプリは、そのままではAndroidでは動きません。逆も同じです。どのOS向けに作るのかを区別しましょう。なお、iPhone向けの開発には通常Macが必要です。
【最初の学び方】
iPhone向けかAndroid向けかを決め、入力欄とボタンだけの小さなメモアプリを作りましょう。最初は画面が動くことを目標にします。
【つながり】
・OS →（土台になる）→ スマホアプリ開発
・スマホアプリ開発 ⇄（対象OSが違う）⇄ Windows アプリ開発
・スマホアプリ開発 ⇄（対象OSが違う）⇄ Linux アプリ開発
・スマホアプリ開発 →（データを預ける）→ クラウド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（スライド275／資料の該当箇所：ご提供の用語解説（スマートフォン用アプリ開発））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iPhoneやAndroidなど、スマートフォンの上で動くアプリを作ること。
【どこの話？】
層：アプリ（使う人・作る人が直接さわるソフト）
場所：iPhoneやAndroidの端末で動くアプリ（アプリの層）。作る作業は主にPCで行う。
【くわしく】
スマートフォン用アプリ開発は、スマホの画面で動くアプリ（メモ、地図、ゲームなど）をプログラムで作ることです。小さなタッチ画面や、カメラ・位置情報などの部品（センサー）を使えるのが特徴です。
主なスマホのOSは、AppleのiOS（iPhone）とGoogleのAndroidで、アプリが動く仕組みはOSごとに違います。そのため、どちら向けに作るかを最初に決めます。1つの書き方で両方に対応する開発の道具もあります。
作る作業は、PCの開発環境（プログラムを書く道具一式）で行い、自分のスマホで試します。多くの人に配るときは、アプリストアに登録します。ストアには、規則に合うかを確かめる審査があります。
【たとえるなら】
スマホという小さな舞台で上演する劇を書くこと。舞台装置（OS）がiPhoneとAndroidで違うので、台本（プログラム）の書き方も変わります。
【こんな場面で】
家計簿やメモなど自分用のアプリを作り、自分のスマホで動かしてみる場面です。カメラや位置情報を使うアプリにも挑戦できます。
【勘違い・つまずき】
iPhone用のアプリは、そのままではAndroidでは動きません。逆も同じです。どのOS向けに作るのかを区別しましょう。なお、iPhone向けの開発には通常Macが必要です。
【最初の学び方】
iPhone向けかAndroid向けかを決め、入力欄とボタンだけの小さなメモアプリを作りましょう。最初は画面が動くことを目標にします。
【つながり】
・OS →（土台になる）→ スマホアプリ開発
・スマホアプリ開発 ⇄（対象OSが違う）⇄ Windows アプリ開発
・スマホアプリ開発 ⇄（対象OSが違う）⇄ Linux アプリ開発
・スマホアプリ開発 →（データを預ける）→ クラウド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（スライド276／資料の該当箇所：ご提供の用語解説（スマートフォン用アプリ開発））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iPhoneやAndroidなど、スマートフォンの上で動くアプリを作ること。
【どこの話？】
層：アプリ（使う人・作る人が直接さわるソフト）
場所：iPhoneやAndroidの端末で動くアプリ（アプリの層）。作る作業は主にPCで行う。
【くわしく】
スマートフォン用アプリ開発は、スマホの画面で動くアプリ（メモ、地図、ゲームなど）をプログラムで作ることです。小さなタッチ画面や、カメラ・位置情報などの部品（センサー）を使えるのが特徴です。
主なスマホのOSは、AppleのiOS（iPhone）とGoogleのAndroidで、アプリが動く仕組みはOSごとに違います。そのため、どちら向けに作るかを最初に決めます。1つの書き方で両方に対応する開発の道具もあります。
作る作業は、PCの開発環境（プログラムを書く道具一式）で行い、自分のスマホで試します。多くの人に配るときは、アプリストアに登録します。ストアには、規則に合うかを確かめる審査があります。
【たとえるなら】
スマホという小さな舞台で上演する劇を書くこと。舞台装置（OS）がiPhoneとAndroidで違うので、台本（プログラム）の書き方も変わります。
【こんな場面で】
家計簿やメモなど自分用のアプリを作り、自分のスマホで動かしてみる場面です。カメラや位置情報を使うアプリにも挑戦できます。
【勘違い・つまずき】
iPhone用のアプリは、そのままではAndroidでは動きません。逆も同じです。どのOS向けに作るのかを区別しましょう。なお、iPhone向けの開発には通常Macが必要です。
【最初の学び方】
iPhone向けかAndroid向けかを決め、入力欄とボタンだけの小さなメモアプリを作りましょう。最初は画面が動くことを目標にします。
【つながり】
・OS →（土台になる）→ スマホアプリ開発
・スマホアプリ開発 ⇄（対象OSが違う）⇄ Windows アプリ開発
・スマホアプリ開発 ⇄（対象OSが違う）⇄ Linux アプリ開発
・スマホアプリ開発 →（データを預ける）→ クラウド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（スライド277／資料の該当箇所：ご提供の用語解説（スマートフォン用アプリ開発））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Microsoftが作っているOS。家庭や学校、会社のPCで広く使われている。
【どこの話？】
層：OS（機械を動かす基本ソフト）
場所：PCの中で、部品とアプリの間に入って動く基本ソフト（OSの層）。
【くわしく】
Windows（ウィンドウズ）は、Microsoft（マイクロソフト）社が作るOS（基本ソフト）です。OSは、PCの部品とアプリの間に立って、画面表示、ファイル管理、メモリの割り当てなどを引き受けます。
画面のアイコンやウィンドウをマウスやタッチで操作するのが基本で、WordやExcelなど多くのソフトが対応しています。有料のソフトで、PCにあらかじめ入った状態で売られていることが多いです。
Linuxも同じ「OS」ですが、使われ方が違います。Windowsは主に人が画面を見て使うPC、Linuxは画面なしで動き続けるサーバーで広く使われます。企業のサーバー用に「Windows Server」という版もあります。
【たとえるなら】
PCという建物の管理人。部屋（メモリ）の割り当て、倉庫（ストレージ）の整理、来客（アプリ）の受付を引き受け、利用者には案内板（画面）で操作を分かりやすく見せます。
【こんな場面で】
学校のパソコン教室、家庭のノートPC、会社の事務用PCで見かけます。WordやExcelを使う授業や、Windows向けのゲームもWindowsで動かします。
【勘違い・つまずき】
WindowsやLinuxはOSの名前で、アプリではありません。Windows用に作られたアプリは、そのままではLinuxやスマホでは動かないことがあります。
【最初の学び方】
「設定」の「システム」から「バージョン情報」を開き、自分のPCのWindowsの種類と、CPU・メモリの情報を確認してみましょう。
【つながり】
・Windows →（OSの一種）→ OS
・Windows ⇄（ちがい）⇄ Linux
・Windows →（土台になる）→ Windows アプリ開発
・Windows →（備える）→ Hyper-V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（スライド278／資料の該当箇所：編集者による補足（Windows））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Microsoftが作っているOS。家庭や学校、会社のPCで広く使われている。
【どこの話？】
層：OS（機械を動かす基本ソフト）
場所：PCの中で、部品とアプリの間に入って動く基本ソフト（OSの層）。
【くわしく】
Windows（ウィンドウズ）は、Microsoft（マイクロソフト）社が作るOS（基本ソフト）です。OSは、PCの部品とアプリの間に立って、画面表示、ファイル管理、メモリの割り当てなどを引き受けます。
画面のアイコンやウィンドウをマウスやタッチで操作するのが基本で、WordやExcelなど多くのソフトが対応しています。有料のソフトで、PCにあらかじめ入った状態で売られていることが多いです。
Linuxも同じ「OS」ですが、使われ方が違います。Windowsは主に人が画面を見て使うPC、Linuxは画面なしで動き続けるサーバーで広く使われます。企業のサーバー用に「Windows Server」という版もあります。
【たとえるなら】
PCという建物の管理人。部屋（メモリ）の割り当て、倉庫（ストレージ）の整理、来客（アプリ）の受付を引き受け、利用者には案内板（画面）で操作を分かりやすく見せます。
【こんな場面で】
学校のパソコン教室、家庭のノートPC、会社の事務用PCで見かけます。WordやExcelを使う授業や、Windows向けのゲームもWindowsで動かします。
【勘違い・つまずき】
WindowsやLinuxはOSの名前で、アプリではありません。Windows用に作られたアプリは、そのままではLinuxやスマホでは動かないことがあります。
【最初の学び方】
「設定」の「システム」から「バージョン情報」を開き、自分のPCのWindowsの種類と、CPU・メモリの情報を確認してみましょう。
【つながり】
・Windows →（OSの一種）→ OS
・Windows ⇄（ちがい）⇄ Linux
・Windows →（土台になる）→ Windows アプリ開発
・Windows →（備える）→ Hyper-V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（スライド279／資料の該当箇所：編集者による補足（Windows））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Microsoftが作っているOS。家庭や学校、会社のPCで広く使われている。
【どこの話？】
層：OS（機械を動かす基本ソフト）
場所：PCの中で、部品とアプリの間に入って動く基本ソフト（OSの層）。
【くわしく】
Windows（ウィンドウズ）は、Microsoft（マイクロソフト）社が作るOS（基本ソフト）です。OSは、PCの部品とアプリの間に立って、画面表示、ファイル管理、メモリの割り当てなどを引き受けます。
画面のアイコンやウィンドウをマウスやタッチで操作するのが基本で、WordやExcelなど多くのソフトが対応しています。有料のソフトで、PCにあらかじめ入った状態で売られていることが多いです。
Linuxも同じ「OS」ですが、使われ方が違います。Windowsは主に人が画面を見て使うPC、Linuxは画面なしで動き続けるサーバーで広く使われます。企業のサーバー用に「Windows Server」という版もあります。
【たとえるなら】
PCという建物の管理人。部屋（メモリ）の割り当て、倉庫（ストレージ）の整理、来客（アプリ）の受付を引き受け、利用者には案内板（画面）で操作を分かりやすく見せます。
【こんな場面で】
学校のパソコン教室、家庭のノートPC、会社の事務用PCで見かけます。WordやExcelを使う授業や、Windows向けのゲームもWindowsで動かします。
【勘違い・つまずき】
WindowsやLinuxはOSの名前で、アプリではありません。Windows用に作られたアプリは、そのままではLinuxやスマホでは動かないことがあります。
【最初の学び方】
「設定」の「システム」から「バージョン情報」を開き、自分のPCのWindowsの種類と、CPU・メモリの情報を確認してみましょう。
【つながり】
・Windows →（OSの一種）→ OS
・Windows ⇄（ちがい）⇄ Linux
・Windows →（土台になる）→ Windows アプリ開発
・Windows →（備える）→ Hyper-V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（スライド280／資料の該当箇所：編集者による補足（Windows））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設計図が公開され、世界中の人が改良しているOS。サーバーや計算機で広く使われる。
【どこの話？】
層：OS（機械を動かす基本ソフト）
場所：PCやサーバーの中で、部品とアプリの間に入って動く基本ソフト（OSの層）。
【くわしく】
Linux（リナックス）は、プログラムの設計図（ソースコード）が公開されている「オープンソース」のOSです。世界中の開発者が改良に参加していて、無料で使えるものも多くあります。
Linuxは、厳密にはOSの中心部分（カーネル）の名前です。これに画面や道具を足してセットにしたものを「ディストリビューション」と呼び、UbuntuやDebian、Red Hat Enterprise Linuxなど多くの種類があります。
Linuxは、画面なしで動き続けるWebサーバーやデータベースサーバー、研究用の計算機、機器の中の小さなコンピューターなどで広く使われています。スマホのAndroidも、Linuxのカーネルを土台にしています。
【たとえるなら】
みんなで書き足していく「公開レシピ」。誰でも見て、作り変えて配れます。同じレシピから、店ごと（ディストリビューションごと）に味付けの違うメニューが生まれます。
【こんな場面で】
プログラミングの授業、Webサイトを動かすサーバー、研究室の計算機、小型PCのRaspberry Piなどで使われています。
【勘違い・つまずき】
Ubuntuなどは、Linuxを使ったセット（ディストリビューション）の名前で、別の技術ではありません。種類によって、ソフトの入れ方や設定の場所が少し違います。
【最初の学び方】
WSL（Windowsの中でLinuxを動かす機能）や仮想マシンでUbuntuを動かし、ls・cd・pwdのコマンドでフォルダーを移動してみましょう。
【つながり】
・Linux →（OSの一種）→ OS
・Linux ⇄（ちがい）⇄ Windows
・Linux →（土台になる）→ Linux アプリ開発
・Linux →（内蔵する）→ KVM
・Linux →（サーバーで動く）→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（スライド281／資料の該当箇所：編集者による補足（Linux））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設計図が公開され、世界中の人が改良しているOS。サーバーや計算機で広く使われる。
【どこの話？】
層：OS（機械を動かす基本ソフト）
場所：PCやサーバーの中で、部品とアプリの間に入って動く基本ソフト（OSの層）。
【くわしく】
Linux（リナックス）は、プログラムの設計図（ソースコード）が公開されている「オープンソース」のOSです。世界中の開発者が改良に参加していて、無料で使えるものも多くあります。
Linuxは、厳密にはOSの中心部分（カーネル）の名前です。これに画面や道具を足してセットにしたものを「ディストリビューション」と呼び、UbuntuやDebian、Red Hat Enterprise Linuxなど多くの種類があります。
Linuxは、画面なしで動き続けるWebサーバーやデータベースサーバー、研究用の計算機、機器の中の小さなコンピューターなどで広く使われています。スマホのAndroidも、Linuxのカーネルを土台にしています。
【たとえるなら】
みんなで書き足していく「公開レシピ」。誰でも見て、作り変えて配れます。同じレシピから、店ごと（ディストリビューションごと）に味付けの違うメニューが生まれます。
【こんな場面で】
プログラミングの授業、Webサイトを動かすサーバー、研究室の計算機、小型PCのRaspberry Piなどで使われています。
【勘違い・つまずき】
Ubuntuなどは、Linuxを使ったセット（ディストリビューション）の名前で、別の技術ではありません。種類によって、ソフトの入れ方や設定の場所が少し違います。
【最初の学び方】
WSL（Windowsの中でLinuxを動かす機能）や仮想マシンでUbuntuを動かし、ls・cd・pwdのコマンドでフォルダーを移動してみましょう。
【つながり】
・Linux →（OSの一種）→ OS
・Linux ⇄（ちがい）⇄ Windows
・Linux →（土台になる）→ Linux アプリ開発
・Linux →（内蔵する）→ KVM
・Linux →（サーバーで動く）→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（スライド282／資料の該当箇所：編集者による補足（Linux））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設計図が公開され、世界中の人が改良しているOS。サーバーや計算機で広く使われる。
【どこの話？】
層：OS（機械を動かす基本ソフト）
場所：PCやサーバーの中で、部品とアプリの間に入って動く基本ソフト（OSの層）。
【くわしく】
Linux（リナックス）は、プログラムの設計図（ソースコード）が公開されている「オープンソース」のOSです。世界中の開発者が改良に参加していて、無料で使えるものも多くあります。
Linuxは、厳密にはOSの中心部分（カーネル）の名前です。これに画面や道具を足してセットにしたものを「ディストリビューション」と呼び、UbuntuやDebian、Red Hat Enterprise Linuxなど多くの種類があります。
Linuxは、画面なしで動き続けるWebサーバーやデータベースサーバー、研究用の計算機、機器の中の小さなコンピューターなどで広く使われています。スマホのAndroidも、Linuxのカーネルを土台にしています。
【たとえるなら】
みんなで書き足していく「公開レシピ」。誰でも見て、作り変えて配れます。同じレシピから、店ごと（ディストリビューションごと）に味付けの違うメニューが生まれます。
【こんな場面で】
プログラミングの授業、Webサイトを動かすサーバー、研究室の計算機、小型PCのRaspberry Piなどで使われています。
【勘違い・つまずき】
Ubuntuなどは、Linuxを使ったセット（ディストリビューション）の名前で、別の技術ではありません。種類によって、ソフトの入れ方や設定の場所が少し違います。
【最初の学び方】
WSL（Windowsの中でLinuxを動かす機能）や仮想マシンでUbuntuを動かし、ls・cd・pwdのコマンドでフォルダーを移動してみましょう。
【つながり】
・Linux →（OSの一種）→ OS
・Linux ⇄（ちがい）⇄ Windows
・Linux →（土台になる）→ Linux アプリ開発
・Linux →（内蔵する）→ KVM
・Linux →（サーバーで動く）→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（スライド283／資料の該当箇所：編集者による補足（Linux））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Windowsで動くアプリ（ソフト）を作ること。社内ツールや文書処理などに多い。
【どこの話？】
層：アプリ（使う人・作る人が直接さわるソフト）
場所：Windowsのパソコンの上で動くアプリ（アプリの層）。作る対象が「Windows」。
【くわしく】
Windows用アプリ開発は、Windowsが動くPCの上で動くソフトを作ることです。ボタンや入力欄のある画面（GUI）を持つアプリが代表的で、ファイルを開く、画面に描く、印刷するなどはWindowsの機能を借りて動きます。
「どのOS向けに作るか」で、使う道具と使える機能が変わります。Windows用に作ったアプリは、基本的にはそのままLinuxやiPhoneでは動きません。別のOSで動かすには、作り直すか、複数OS対応の道具を使います。
開発には、C#（シーシャープ）などの言語と、Microsoftが提供する開発ツールのVisual Studioがよく使われます。Pythonなど、他の言語でWindows用アプリを作ることもできます。
【たとえるなら】
ゲームソフトとゲーム機の関係。あるゲーム機用のソフトは、別のゲーム機には入りません。Windows用アプリは、Windowsという「ゲーム機」向けに作られたソフトです。
【こんな場面で】
部活の会計を入力すると合計が出る小さな計算アプリや、校内だけで使う出席管理ツールを、Windowsパソコン向けに作る場面です。
【勘違い・つまずき】
Windows用アプリは、そのままではLinuxやスマホでは動かないことが多いです。「自分のPCでは動くのに別のPCでは動かない」のは、OSや必要な部品の違いが原因のことがあります。
【最初の学び方】
C#などの入門で、ボタンを押すと文字が変わる最小の画面アプリを作り、別のWindowsPCでも動くか確かめてみましょう。
【つながり】
・Windows →（土台になる）→ Windows アプリ開発
・Windows アプリ開発 ⇄（対象OSが違う）⇄ Linux アプリ開発
・Windows アプリ開発 ⇄（対象OSが違う）⇄ スマホアプリ開発
・Git →（履歴を管理）→ Windows アプリ開発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（スライド284／資料の該当箇所：ご提供の用語解説（Windows用アプリ開発））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Windowsで動くアプリ（ソフト）を作ること。社内ツールや文書処理などに多い。
【どこの話？】
層：アプリ（使う人・作る人が直接さわるソフト）
場所：Windowsのパソコンの上で動くアプリ（アプリの層）。作る対象が「Windows」。
【くわしく】
Windows用アプリ開発は、Windowsが動くPCの上で動くソフトを作ることです。ボタンや入力欄のある画面（GUI）を持つアプリが代表的で、ファイルを開く、画面に描く、印刷するなどはWindowsの機能を借りて動きます。
「どのOS向けに作るか」で、使う道具と使える機能が変わります。Windows用に作ったアプリは、基本的にはそのままLinuxやiPhoneでは動きません。別のOSで動かすには、作り直すか、複数OS対応の道具を使います。
開発には、C#（シーシャープ）などの言語と、Microsoftが提供する開発ツールのVisual Studioがよく使われます。Pythonなど、他の言語でWindows用アプリを作ることもできます。
【たとえるなら】
ゲームソフトとゲーム機の関係。あるゲーム機用のソフトは、別のゲーム機には入りません。Windows用アプリは、Windowsという「ゲーム機」向けに作られたソフトです。
【こんな場面で】
部活の会計を入力すると合計が出る小さな計算アプリや、校内だけで使う出席管理ツールを、Windowsパソコン向けに作る場面です。
【勘違い・つまずき】
Windows用アプリは、そのままではLinuxやスマホでは動かないことが多いです。「自分のPCでは動くのに別のPCでは動かない」のは、OSや必要な部品の違いが原因のことがあります。
【最初の学び方】
C#などの入門で、ボタンを押すと文字が変わる最小の画面アプリを作り、別のWindowsPCでも動くか確かめてみましょう。
【つながり】
・Windows →（土台になる）→ Windows アプリ開発
・Windows アプリ開発 ⇄（対象OSが違う）⇄ Linux アプリ開発
・Windows アプリ開発 ⇄（対象OSが違う）⇄ スマホアプリ開発
・Git →（履歴を管理）→ Windows アプリ開発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（スライド285／資料の該当箇所：ご提供の用語解説（Windows用アプリ開発））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Windowsで動くアプリ（ソフト）を作ること。社内ツールや文書処理などに多い。
【どこの話？】
層：アプリ（使う人・作る人が直接さわるソフト）
場所：Windowsのパソコンの上で動くアプリ（アプリの層）。作る対象が「Windows」。
【くわしく】
Windows用アプリ開発は、Windowsが動くPCの上で動くソフトを作ることです。ボタンや入力欄のある画面（GUI）を持つアプリが代表的で、ファイルを開く、画面に描く、印刷するなどはWindowsの機能を借りて動きます。
「どのOS向けに作るか」で、使う道具と使える機能が変わります。Windows用に作ったアプリは、基本的にはそのままLinuxやiPhoneでは動きません。別のOSで動かすには、作り直すか、複数OS対応の道具を使います。
開発には、C#（シーシャープ）などの言語と、Microsoftが提供する開発ツールのVisual Studioがよく使われます。Pythonなど、他の言語でWindows用アプリを作ることもできます。
【たとえるなら】
ゲームソフトとゲーム機の関係。あるゲーム機用のソフトは、別のゲーム機には入りません。Windows用アプリは、Windowsという「ゲーム機」向けに作られたソフトです。
【こんな場面で】
部活の会計を入力すると合計が出る小さな計算アプリや、校内だけで使う出席管理ツールを、Windowsパソコン向けに作る場面です。
【勘違い・つまずき】
Windows用アプリは、そのままではLinuxやスマホでは動かないことが多いです。「自分のPCでは動くのに別のPCでは動かない」のは、OSや必要な部品の違いが原因のことがあります。
【最初の学び方】
C#などの入門で、ボタンを押すと文字が変わる最小の画面アプリを作り、別のWindowsPCでも動くか確かめてみましょう。
【つながり】
・Windows →（土台になる）→ Windows アプリ開発
・Windows アプリ開発 ⇄（対象OSが違う）⇄ Linux アプリ開発
・Windows アプリ開発 ⇄（対象OSが違う）⇄ スマホアプリ開発
・Git →（履歴を管理）→ Windows アプリ開発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（スライド286／資料の該当箇所：ご提供の用語解説（Windows用アプリ開発））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Linuxで動くプログラムを作ること。画面のないコマンドやサーバー処理も含む。
【どこの話？】
層：アプリ（使う人・作る人が直接さわるソフト）
場所：Linuxが動くPCやサーバーの上で動くプログラム（アプリの層）。対象が「Linux」。
【くわしく】
Linux用アプリ開発は、Linux上で動くプログラムを作ることです。ボタンのある画面を持つものだけでなく、文字を打って実行する「コマンド」や、裏で動き続けるサーバー処理もたくさん作られます。
Linuxでは、PythonやC言語、Javaなどのプログラムを、ターミナル（文字で命令を打つ画面）から実行するのが基本です。決まった時刻に自動で動かしたり、結果をファイルに出したりして、他のプログラムと組み合わせて使います。
対象がLinuxだと、サーバーやクラウドの上でそのまま動かしやすい利点があります。Webサイトの裏側のプログラムや研究の計算プログラムは、Linuxで動かす前提で作られることがよくあります。
【たとえるなら】
レストランの厨房の道具づくり。お客さん向けの飾りのついた家電（画面付きアプリ）ではなく、裏方で正確に速く動く道具を作ります。
【こんな場面で】
研究で出たデータを集計するプログラムを作り、研究室のLinuxサーバーで夜のうちに実行しておく、といった場面です。
【勘違い・つまずき】
Linux用アプリは、画面付きのものだけではなく、コマンドや裏で動く処理が中心です。Linuxの種類（ディストリビューション）が違うと動かないこともあります。
【最初の学び方】
LinuxかUbuntuの仮想マシンで、名前を入力するとあいさつを返すプログラムをPythonで書き、ターミナルから実行してみましょう。
【つながり】
・Linux →（土台になる）→ Linux アプリ開発
・Linux アプリ開発 ⇄（対象OSが違う）⇄ Windows アプリ開発
・Linux アプリ開発 →（自動化を担う）→ 自動化
・Linux アプリ開発 →（詰められる）→ コンテナ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（スライド287／資料の該当箇所：ご提供の用語解説（Linux用アプリ開発））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Linuxで動くプログラムを作ること。画面のないコマンドやサーバー処理も含む。
【どこの話？】
層：アプリ（使う人・作る人が直接さわるソフト）
場所：Linuxが動くPCやサーバーの上で動くプログラム（アプリの層）。対象が「Linux」。
【くわしく】
Linux用アプリ開発は、Linux上で動くプログラムを作ることです。ボタンのある画面を持つものだけでなく、文字を打って実行する「コマンド」や、裏で動き続けるサーバー処理もたくさん作られます。
Linuxでは、PythonやC言語、Javaなどのプログラムを、ターミナル（文字で命令を打つ画面）から実行するのが基本です。決まった時刻に自動で動かしたり、結果をファイルに出したりして、他のプログラムと組み合わせて使います。
対象がLinuxだと、サーバーやクラウドの上でそのまま動かしやすい利点があります。Webサイトの裏側のプログラムや研究の計算プログラムは、Linuxで動かす前提で作られることがよくあります。
【たとえるなら】
レストランの厨房の道具づくり。お客さん向けの飾りのついた家電（画面付きアプリ）ではなく、裏方で正確に速く動く道具を作ります。
【こんな場面で】
研究で出たデータを集計するプログラムを作り、研究室のLinuxサーバーで夜のうちに実行しておく、といった場面です。
【勘違い・つまずき】
Linux用アプリは、画面付きのものだけではなく、コマンドや裏で動く処理が中心です。Linuxの種類（ディストリビューション）が違うと動かないこともあります。
【最初の学び方】
LinuxかUbuntuの仮想マシンで、名前を入力するとあいさつを返すプログラムをPythonで書き、ターミナルから実行してみましょう。
【つながり】
・Linux →（土台になる）→ Linux アプリ開発
・Linux アプリ開発 ⇄（対象OSが違う）⇄ Windows アプリ開発
・Linux アプリ開発 →（自動化を担う）→ 自動化
・Linux アプリ開発 →（詰められる）→ コンテナ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（スライド288／資料の該当箇所：ご提供の用語解説（Linux用アプリ開発））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Linuxで動くプログラムを作ること。画面のないコマンドやサーバー処理も含む。
【どこの話？】
層：アプリ（使う人・作る人が直接さわるソフト）
場所：Linuxが動くPCやサーバーの上で動くプログラム（アプリの層）。対象が「Linux」。
【くわしく】
Linux用アプリ開発は、Linux上で動くプログラムを作ることです。ボタンのある画面を持つものだけでなく、文字を打って実行する「コマンド」や、裏で動き続けるサーバー処理もたくさん作られます。
Linuxでは、PythonやC言語、Javaなどのプログラムを、ターミナル（文字で命令を打つ画面）から実行するのが基本です。決まった時刻に自動で動かしたり、結果をファイルに出したりして、他のプログラムと組み合わせて使います。
対象がLinuxだと、サーバーやクラウドの上でそのまま動かしやすい利点があります。Webサイトの裏側のプログラムや研究の計算プログラムは、Linuxで動かす前提で作られることがよくあります。
【たとえるなら】
レストランの厨房の道具づくり。お客さん向けの飾りのついた家電（画面付きアプリ）ではなく、裏方で正確に速く動く道具を作ります。
【こんな場面で】
研究で出たデータを集計するプログラムを作り、研究室のLinuxサーバーで夜のうちに実行しておく、といった場面です。
【勘違い・つまずき】
Linux用アプリは、画面付きのものだけではなく、コマンドや裏で動く処理が中心です。Linuxの種類（ディストリビューション）が違うと動かないこともあります。
【最初の学び方】
LinuxかUbuntuの仮想マシンで、名前を入力するとあいさつを返すプログラムをPythonで書き、ターミナルから実行してみましょう。
【つながり】
・Linux →（土台になる）→ Linux アプリ開発
・Linux アプリ開発 ⇄（対象OSが違う）⇄ Windows アプリ開発
・Linux アプリ開発 →（自動化を担う）→ 自動化
・Linux アプリ開発 →（詰められる）→ コンテナ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（スライド289／資料の該当箇所：ご提供の用語解説（Linux用アプリ開発））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身の回りのモノにセンサーなどを付けてネットにつなぎ、情報を集めたり操作したりする仕組み。
【どこの話？】
層：ハードウェア・ネットワーク・アプリ（機械・部品そのもの）
場所：機器（ハードウェア）、通信（ネットワーク）、見る・操作するアプリの3つにまたがる仕組み。
【くわしく】
IoT（アイオーティー）は、Internet of Things（モノのインターネット）の略です。温度計、照明、エアコン、農業用の機械など、これまでネットにつながっていなかった「モノ」を、ネットワークにつないで使う仕組みです。
仕組みは3つの部分です。①センサー（温度や動きを測る部品）でデータを取る。②通信（Wi-FiやBluetoothなど）でデータを送る。③サーバーやクラウドで集めて、アプリで見たり、機器を動かしたりする。
つまりIoTは、ハードウェア・ネットワーク・アプリがそろって成り立つ技術です。RaspberryPiやArduinoのような小さなボードを使えば、学生でも小さな試作ができます。
【たとえるなら】
部屋に置いた見張り役の友だち。温度や明るさを測り（センサー）、LINEで報告し（通信）、あなたがまとめて見て（アプリ）、「エアコンつけて」と返事します（制御）。
【こんな場面で】
教室の温度と湿度を測り、学校のPCに自動で表示する。ビニールハウスの水やりをスマホで確認する。スマート電球をスマホで切り替える。
【勘違い・つまずき】
IoTは「センサー付きの機械」だけの話ではなく、ネットにつなぐところまで含みます。つながる分、パスワードを初期のままにすると外から操作される危険があります。
【最初の学び方】
小さなボード（Raspberry Piなど）に温度センサーをつなぎ、測った温度をPCの画面やグラフに表示する小さな実習をしてみましょう。
【つながり】
・Wi-Fi →（つなぐ）→ IoT
・IoT →（データを送る）→ クラウド
・IoT →（データを渡す）→ AI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（スライド290／資料の該当箇所：ご提供の用語解説（IoT））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身の回りのモノにセンサーなどを付けてネットにつなぎ、情報を集めたり操作したりする仕組み。
【どこの話？】
層：ハードウェア・ネットワーク・アプリ（機械・部品そのもの）
場所：機器（ハードウェア）、通信（ネットワーク）、見る・操作するアプリの3つにまたがる仕組み。
【くわしく】
IoT（アイオーティー）は、Internet of Things（モノのインターネット）の略です。温度計、照明、エアコン、農業用の機械など、これまでネットにつながっていなかった「モノ」を、ネットワークにつないで使う仕組みです。
仕組みは3つの部分です。①センサー（温度や動きを測る部品）でデータを取る。②通信（Wi-FiやBluetoothなど）でデータを送る。③サーバーやクラウドで集めて、アプリで見たり、機器を動かしたりする。
つまりIoTは、ハードウェア・ネットワーク・アプリがそろって成り立つ技術です。RaspberryPiやArduinoのような小さなボードを使えば、学生でも小さな試作ができます。
【たとえるなら】
部屋に置いた見張り役の友だち。温度や明るさを測り（センサー）、LINEで報告し（通信）、あなたがまとめて見て（アプリ）、「エアコンつけて」と返事します（制御）。
【こんな場面で】
教室の温度と湿度を測り、学校のPCに自動で表示する。ビニールハウスの水やりをスマホで確認する。スマート電球をスマホで切り替える。
【勘違い・つまずき】
IoTは「センサー付きの機械」だけの話ではなく、ネットにつなぐところまで含みます。つながる分、パスワードを初期のままにすると外から操作される危険があります。
【最初の学び方】
小さなボード（Raspberry Piなど）に温度センサーをつなぎ、測った温度をPCの画面やグラフに表示する小さな実習をしてみましょう。
【つながり】
・Wi-Fi →（つなぐ）→ IoT
・IoT →（データを送る）→ クラウド
・IoT →（データを渡す）→ AI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（スライド291／資料の該当箇所：ご提供の用語解説（IoT））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身の回りのモノにセンサーなどを付けてネットにつなぎ、情報を集めたり操作したりする仕組み。
【どこの話？】
層：ハードウェア・ネットワーク・アプリ（機械・部品そのもの）
場所：機器（ハードウェア）、通信（ネットワーク）、見る・操作するアプリの3つにまたがる仕組み。
【くわしく】
IoT（アイオーティー）は、Internet of Things（モノのインターネット）の略です。温度計、照明、エアコン、農業用の機械など、これまでネットにつながっていなかった「モノ」を、ネットワークにつないで使う仕組みです。
仕組みは3つの部分です。①センサー（温度や動きを測る部品）でデータを取る。②通信（Wi-FiやBluetoothなど）でデータを送る。③サーバーやクラウドで集めて、アプリで見たり、機器を動かしたりする。
つまりIoTは、ハードウェア・ネットワーク・アプリがそろって成り立つ技術です。RaspberryPiやArduinoのような小さなボードを使えば、学生でも小さな試作ができます。
【たとえるなら】
部屋に置いた見張り役の友だち。温度や明るさを測り（センサー）、LINEで報告し（通信）、あなたがまとめて見て（アプリ）、「エアコンつけて」と返事します（制御）。
【こんな場面で】
教室の温度と湿度を測り、学校のPCに自動で表示する。ビニールハウスの水やりをスマホで確認する。スマート電球をスマホで切り替える。
【勘違い・つまずき】
IoTは「センサー付きの機械」だけの話ではなく、ネットにつなぐところまで含みます。つながる分、パスワードを初期のままにすると外から操作される危険があります。
【最初の学び方】
小さなボード（Raspberry Piなど）に温度センサーをつなぎ、測った温度をPCの画面やグラフに表示する小さな実習をしてみましょう。
【つながり】
・Wi-Fi →（つなぐ）→ IoT
・IoT →（データを送る）→ クラウド
・IoT →（データを渡す）→ AI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（スライド292／資料の該当箇所：ご提供の用語解説（IoT））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部品を自分で選んで組み立て、使う目的に合わせたPCを作って使うこと。
【どこの話？】
層：ハードウェア（機械・部品そのもの）
場所：PCの中身（ハードウェア）を自分で選んで組み立てること。完成後にOSを入れて使う。
【くわしく】
PCの自作は、完成品を買うのではなく、CPU・メモリ・ストレージなどの部品を自分で選び、組み立ててPCにすることです。ゲーム、動画編集、研究の計算など、重視する用途に合わせて組み合わせを決められます。
主な部品の役割です。CPUは計算をする頭脳、メモリは作業中のデータを置く机、ストレージ（SSDなど）はデータを保存する倉庫、電源ユニットは各部品に電気を配る装置、マザーボードはそれらをつなぐ土台の基板です。
大切なのは「互換性」（組み合わせられるか）です。CPUとマザーボードは差し込み口（ソケット）の形が合う必要があり、メモリの規格、ケースの大きさ、電源の容量も確認します。合わない部品は取り付けられません。
【たとえるなら】
ブロック玩具で作る自分専用のロボット。台座（マザーボード）に、頭脳（CPU）、机（メモリ）、倉庫（ストレージ）、電池（電源）を載せますが、接続口が合わないと付けられません。
【こんな場面で】
ゲームを滑らかに動かしたい、研究のシミュレーション用にメモリを多くしたい、といった目的に合わせて部品を選ぶ場面です。
【勘違い・つまずき】
CPUとマザーボードの組み合わせ（ソケットの形）や、メモリの規格が合わないと動きません。購入前に、メーカーの対応表で必ず確認しましょう。静電気にも注意が必要です。
【最初の学び方】
まず各部品の役割を自分の言葉で説明できるようにし、次に「ゲーム用」など目的を決めて、互換性を確認した部品表を紙に作ってみましょう。
【つながり】
・CPU →（部品になる）→ PC自作
・メモリ →（部品になる）→ PC自作
・ストレージ →（部品になる）→ PC自作
・M.2 →（取り付け規格）→ PC自作
・PC自作 →（入れて使う）→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（スライド293／資料の該当箇所：ご提供の用語解説（PCを自作して使用））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部品を自分で選んで組み立て、使う目的に合わせたPCを作って使うこと。
【どこの話？】
層：ハードウェア（機械・部品そのもの）
場所：PCの中身（ハードウェア）を自分で選んで組み立てること。完成後にOSを入れて使う。
【くわしく】
PCの自作は、完成品を買うのではなく、CPU・メモリ・ストレージなどの部品を自分で選び、組み立ててPCにすることです。ゲーム、動画編集、研究の計算など、重視する用途に合わせて組み合わせを決められます。
主な部品の役割です。CPUは計算をする頭脳、メモリは作業中のデータを置く机、ストレージ（SSDなど）はデータを保存する倉庫、電源ユニットは各部品に電気を配る装置、マザーボードはそれらをつなぐ土台の基板です。
大切なのは「互換性」（組み合わせられるか）です。CPUとマザーボードは差し込み口（ソケット）の形が合う必要があり、メモリの規格、ケースの大きさ、電源の容量も確認します。合わない部品は取り付けられません。
【たとえるなら】
ブロック玩具で作る自分専用のロボット。台座（マザーボード）に、頭脳（CPU）、机（メモリ）、倉庫（ストレージ）、電池（電源）を載せますが、接続口が合わないと付けられません。
【こんな場面で】
ゲームを滑らかに動かしたい、研究のシミュレーション用にメモリを多くしたい、といった目的に合わせて部品を選ぶ場面です。
【勘違い・つまずき】
CPUとマザーボードの組み合わせ（ソケットの形）や、メモリの規格が合わないと動きません。購入前に、メーカーの対応表で必ず確認しましょう。静電気にも注意が必要です。
【最初の学び方】
まず各部品の役割を自分の言葉で説明できるようにし、次に「ゲーム用」など目的を決めて、互換性を確認した部品表を紙に作ってみましょう。
【つながり】
・CPU →（部品になる）→ PC自作
・メモリ →（部品になる）→ PC自作
・ストレージ →（部品になる）→ PC自作
・M.2 →（取り付け規格）→ PC自作
・PC自作 →（入れて使う）→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（スライド294／資料の該当箇所：ご提供の用語解説（PCを自作して使用））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部品を自分で選んで組み立て、使う目的に合わせたPCを作って使うこと。
【どこの話？】
層：ハードウェア（機械・部品そのもの）
場所：PCの中身（ハードウェア）を自分で選んで組み立てること。完成後にOSを入れて使う。
【くわしく】
PCの自作は、完成品を買うのではなく、CPU・メモリ・ストレージなどの部品を自分で選び、組み立ててPCにすることです。ゲーム、動画編集、研究の計算など、重視する用途に合わせて組み合わせを決められます。
主な部品の役割です。CPUは計算をする頭脳、メモリは作業中のデータを置く机、ストレージ（SSDなど）はデータを保存する倉庫、電源ユニットは各部品に電気を配る装置、マザーボードはそれらをつなぐ土台の基板です。
大切なのは「互換性」（組み合わせられるか）です。CPUとマザーボードは差し込み口（ソケット）の形が合う必要があり、メモリの規格、ケースの大きさ、電源の容量も確認します。合わない部品は取り付けられません。
【たとえるなら】
ブロック玩具で作る自分専用のロボット。台座（マザーボード）に、頭脳（CPU）、机（メモリ）、倉庫（ストレージ）、電池（電源）を載せますが、接続口が合わないと付けられません。
【こんな場面で】
ゲームを滑らかに動かしたい、研究のシミュレーション用にメモリを多くしたい、といった目的に合わせて部品を選ぶ場面です。
【勘違い・つまずき】
CPUとマザーボードの組み合わせ（ソケットの形）や、メモリの規格が合わないと動きません。購入前に、メーカーの対応表で必ず確認しましょう。静電気にも注意が必要です。
【最初の学び方】
まず各部品の役割を自分の言葉で説明できるようにし、次に「ゲーム用」など目的を決めて、互換性を確認した部品表を紙に作ってみましょう。
【つながり】
・CPU →（部品になる）→ PC自作
・メモリ →（部品になる）→ PC自作
・ストレージ →（部品になる）→ PC自作
・M.2 →（取り付け規格）→ PC自作
・PC自作 →（入れて使う）→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（スライド295／資料の該当箇所：ご提供の用語解説（PCを自作して使用））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部品を自分で選んで組み立て、使う目的に合わせたPCを作って使うこと。
【どこの話？】
層：ハードウェア（機械・部品そのもの）
場所：PCの中身（ハードウェア）を自分で選んで組み立てること。完成後にOSを入れて使う。
【くわしく】
PCの自作は、完成品を買うのではなく、CPU・メモリ・ストレージなどの部品を自分で選び、組み立ててPCにすることです。ゲーム、動画編集、研究の計算など、重視する用途に合わせて組み合わせを決められます。
主な部品の役割です。CPUは計算をする頭脳、メモリは作業中のデータを置く机、ストレージ（SSDなど）はデータを保存する倉庫、電源ユニットは各部品に電気を配る装置、マザーボードはそれらをつなぐ土台の基板です。
大切なのは「互換性」（組み合わせられるか）です。CPUとマザーボードは差し込み口（ソケット）の形が合う必要があり、メモリの規格、ケースの大きさ、電源の容量も確認します。合わない部品は取り付けられません。
【たとえるなら】
ブロック玩具で作る自分専用のロボット。台座（マザーボード）に、頭脳（CPU）、机（メモリ）、倉庫（ストレージ）、電池（電源）を載せますが、接続口が合わないと付けられません。
【こんな場面で】
ゲームを滑らかに動かしたい、研究のシミュレーション用にメモリを多くしたい、といった目的に合わせて部品を選ぶ場面です。
【勘違い・つまずき】
CPUとマザーボードの組み合わせ（ソケットの形）や、メモリの規格が合わないと動きません。購入前に、メーカーの対応表で必ず確認しましょう。静電気にも注意が必要です。
【最初の学び方】
まず各部品の役割を自分の言葉で説明できるようにし、次に「ゲーム用」など目的を決めて、互換性を確認した部品表を紙に作ってみましょう。
【つながり】
・CPU →（部品になる）→ PC自作
・メモリ →（部品になる）→ PC自作
・ストレージ →（部品になる）→ PC自作
・M.2 →（取り付け規格）→ PC自作
・PC自作 →（入れて使う）→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（スライド296／資料の該当箇所：ご提供の用語解説（PCを自作して使用））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左が活動、右が書くとよい内容です。本文は貼り付けの記載のとおりです。
【なぜ重要か】
「何を使ったか」だけでなく「どう確認したか」「どこを担当したか」まで書くと、経験の中身が伝わります。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（スライド297／資料の該当箇所：研究・独学「経験の記述」）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左が活動、右が書くとよい内容です。本文は貼り付けの記載のとおりです。
【なぜ重要か】
「何を使ったか」だけでなく「どう確認したか」「どこを担当したか」まで書くと、経験の中身が伝わります。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（スライド298／資料の該当箇所：研究・独学「経験の記述」）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左が「場」、右が「形」です。たとえば「国内学会でポスター発表をした」のように組み合わせます。
【処理の詳細】
・場：学内で発表／国内学会発表／海外学会発表。
・形：口頭発表（話して説明）／ポスター発表（紙面で説明）。
【成立条件・例外】
質問には「卒業までの予定・見込み」も含まれています。例えば、卒業研究発表が予定されているなら、その予定を書けます（貼り付けの記載）。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（スライド299／資料の該当箇所：プレゼン・学会発表「質問22・23」）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考えや成果を、資料や話し方を使って、相手に分かりやすく伝えること。
【どこの話？】
層：活動・資格（技術の層ではなく人の活動）
場所：技術ではなく「発表という活動」の話。授業から研究発表まで、人に伝える場面全般。
【くわしく】
プレゼンテーションは、自分が調べたことや考えたことを、聞き手に「伝わる形」で説明する活動です。内容が正しいだけでなく、聞き手が理解して、賛成する・質問するなど次の行動を取れるかが目標です。
研究発表では、「目的（何を知りたいか）→方法（どう調べたか）→結果（何が分かったか）→考察（なぜそうなったか、何が言えるか）」の順に整理するのが基本の型です。スライドは、話を助ける道具として使います。
プレゼンは、聞き手・持ち時間・場所に合わせて形が変わります。授業の5分発表、学会での口頭発表、ポスターの前での説明など、形は違っても「相手に伝える」点は共通です。
【たとえるなら】
友だちに好きなゲームを紹介する場面。ルールを全部話すより、「どこが面白いか」を順に話して画面を見せるほうが伝わります。この話の組み立てがプレゼンの設計図です。
【こんな場面で】
文化祭の出し物の紹介、授業でのグループ発表、探究学習の成果発表会、部活の新入生向け説明会などで行います。
【勘違い・つまずき】
スライドの文字を全部読み上げる発表は伝わりにくいです。スライドは要点だけにして、詳しい内容は口で話します。時間をオーバーしそうなら、内容を削って調整します。
【最初の学び方】
身近なテーマを1つ決め、「目的・方法・結果・考察」の4枚のスライドで、時間を計って3分で説明してみましょう。スマホで録画して見返すと直す点が分かります。
【つながり】
・口頭発表 →（形式の一つ）→ プレゼンテーション
・ポスター発表 →（形式の一つ）→ プレゼンテーション
・学内で発表 →（場の一つ）→ プレゼンテーション
・学会 →（発表の場）→ プレゼンテーション
・データ分析 →（材料になる）→ プレゼンテーション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（スライド300／資料の該当箇所：ご提供の用語解説（プレゼンテーション））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考えや成果を、資料や話し方を使って、相手に分かりやすく伝えること。
【どこの話？】
層：活動・資格（技術の層ではなく人の活動）
場所：技術ではなく「発表という活動」の話。授業から研究発表まで、人に伝える場面全般。
【くわしく】
プレゼンテーションは、自分が調べたことや考えたことを、聞き手に「伝わる形」で説明する活動です。内容が正しいだけでなく、聞き手が理解して、賛成する・質問するなど次の行動を取れるかが目標です。
研究発表では、「目的（何を知りたいか）→方法（どう調べたか）→結果（何が分かったか）→考察（なぜそうなったか、何が言えるか）」の順に整理するのが基本の型です。スライドは、話を助ける道具として使います。
プレゼンは、聞き手・持ち時間・場所に合わせて形が変わります。授業の5分発表、学会での口頭発表、ポスターの前での説明など、形は違っても「相手に伝える」点は共通です。
【たとえるなら】
友だちに好きなゲームを紹介する場面。ルールを全部話すより、「どこが面白いか」を順に話して画面を見せるほうが伝わります。この話の組み立てがプレゼンの設計図です。
【こんな場面で】
文化祭の出し物の紹介、授業でのグループ発表、探究学習の成果発表会、部活の新入生向け説明会などで行います。
【勘違い・つまずき】
スライドの文字を全部読み上げる発表は伝わりにくいです。スライドは要点だけにして、詳しい内容は口で話します。時間をオーバーしそうなら、内容を削って調整します。
【最初の学び方】
身近なテーマを1つ決め、「目的・方法・結果・考察」の4枚のスライドで、時間を計って3分で説明してみましょう。スマホで録画して見返すと直す点が分かります。
【つながり】
・口頭発表 →（形式の一つ）→ プレゼンテーション
・ポスター発表 →（形式の一つ）→ プレゼンテーション
・学内で発表 →（場の一つ）→ プレゼンテーション
・学会 →（発表の場）→ プレゼンテーション
・データ分析 →（材料になる）→ プレゼンテーション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（スライド301／資料の該当箇所：ご提供の用語解説（プレゼンテーション））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考えや成果を、資料や話し方を使って、相手に分かりやすく伝えること。
【どこの話？】
層：活動・資格（技術の層ではなく人の活動）
場所：技術ではなく「発表という活動」の話。授業から研究発表まで、人に伝える場面全般。
【くわしく】
プレゼンテーションは、自分が調べたことや考えたことを、聞き手に「伝わる形」で説明する活動です。内容が正しいだけでなく、聞き手が理解して、賛成する・質問するなど次の行動を取れるかが目標です。
研究発表では、「目的（何を知りたいか）→方法（どう調べたか）→結果（何が分かったか）→考察（なぜそうなったか、何が言えるか）」の順に整理するのが基本の型です。スライドは、話を助ける道具として使います。
プレゼンは、聞き手・持ち時間・場所に合わせて形が変わります。授業の5分発表、学会での口頭発表、ポスターの前での説明など、形は違っても「相手に伝える」点は共通です。
【たとえるなら】
友だちに好きなゲームを紹介する場面。ルールを全部話すより、「どこが面白いか」を順に話して画面を見せるほうが伝わります。この話の組み立てがプレゼンの設計図です。
【こんな場面で】
文化祭の出し物の紹介、授業でのグループ発表、探究学習の成果発表会、部活の新入生向け説明会などで行います。
【勘違い・つまずき】
スライドの文字を全部読み上げる発表は伝わりにくいです。スライドは要点だけにして、詳しい内容は口で話します。時間をオーバーしそうなら、内容を削って調整します。
【最初の学び方】
身近なテーマを1つ決め、「目的・方法・結果・考察」の4枚のスライドで、時間を計って3分で説明してみましょう。スマホで録画して見返すと直す点が分かります。
【つながり】
・口頭発表 →（形式の一つ）→ プレゼンテーション
・ポスター発表 →（形式の一つ）→ プレゼンテーション
・学内で発表 →（場の一つ）→ プレゼンテーション
・学会 →（発表の場）→ プレゼンテーション
・データ分析 →（材料になる）→ プレゼンテーション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（スライド302／資料の該当箇所：ご提供の用語解説（プレゼンテーション））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自分の学校の中で、授業や研究発表会などの形で成果を発表すること。
【どこの話？】
層：活動・資格（技術の層ではなく人の活動）
場所：技術ではなく「発表という活動」の話。自分の学校の中で行う、身内向けの発表の場。
【くわしく】
学内で発表は、自分の学校（大学を含む）の中で行う発表です。授業のグループ発表、探究学習や課題研究の発表会、大学のゼミでの進み具合の報告、卒業研究の発表会などが当てはまります。
聞き手は先生や同じ学校の仲間なので、背景を共有していて、質問や助言をもらいやすい場です。スライドづくり、時間配分、質問への答え方を、練習として経験する場にもなります。
学外の学会と比べると、聞き手が身内で、規模も小さめです。学内で出た質問や助言を持ち帰って研究を直し、次に国内学会など外の場へ進む足がかりにできます。
【たとえるなら】
部活の校内練習試合。身内が相手なので気軽に試せて、助言ももらえます。その経験を積んでから、他校との大会（学会）に出ます。
【こんな場面で】
探究学習の成果を教室や体育館で発表する、文化祭で研究内容を掲示して説明する、大学のゼミで先生や先輩に進み具合を報告する、などの場面です。
【勘違い・つまずき】
学内の発表だから適当でよい、ではありません。発表の型（目的・方法・結果・考察）は学会と同じです。学内で練習した内容が、そのまま外の発表の下書きになります。
【最初の学び方】
授業や探究の発表で質問された内容をメモに残し、「次はどう答えるか」を一言で書いておきましょう。次の発表の準備になります。
【つながり】
・学内で発表 →（場の一つ）→ プレゼンテーション
・学内で発表 →（次の場へ）→ 国内学会発表
・学内で発表 ⇄（ちがい）⇄ 学会
・学内で発表 →（形式を使う）→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（スライド303／資料の該当箇所：ご提供の用語解説（学内で発表））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自分の学校の中で、授業や研究発表会などの形で成果を発表すること。
【どこの話？】
層：活動・資格（技術の層ではなく人の活動）
場所：技術ではなく「発表という活動」の話。自分の学校の中で行う、身内向けの発表の場。
【くわしく】
学内で発表は、自分の学校（大学を含む）の中で行う発表です。授業のグループ発表、探究学習や課題研究の発表会、大学のゼミでの進み具合の報告、卒業研究の発表会などが当てはまります。
聞き手は先生や同じ学校の仲間なので、背景を共有していて、質問や助言をもらいやすい場です。スライドづくり、時間配分、質問への答え方を、練習として経験する場にもなります。
学外の学会と比べると、聞き手が身内で、規模も小さめです。学内で出た質問や助言を持ち帰って研究を直し、次に国内学会など外の場へ進む足がかりにできます。
【たとえるなら】
部活の校内練習試合。身内が相手なので気軽に試せて、助言ももらえます。その経験を積んでから、他校との大会（学会）に出ます。
【こんな場面で】
探究学習の成果を教室や体育館で発表する、文化祭で研究内容を掲示して説明する、大学のゼミで先生や先輩に進み具合を報告する、などの場面です。
【勘違い・つまずき】
学内の発表だから適当でよい、ではありません。発表の型（目的・方法・結果・考察）は学会と同じです。学内で練習した内容が、そのまま外の発表の下書きになります。
【最初の学び方】
授業や探究の発表で質問された内容をメモに残し、「次はどう答えるか」を一言で書いておきましょう。次の発表の準備になります。
【つながり】
・学内で発表 →（場の一つ）→ プレゼンテーション
・学内で発表 →（次の場へ）→ 国内学会発表
・学内で発表 ⇄（ちがい）⇄ 学会
・学内で発表 →（形式を使う）→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（スライド304／資料の該当箇所：ご提供の用語解説（学内で発表））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自分の学校の中で、授業や研究発表会などの形で成果を発表すること。
【どこの話？】
層：活動・資格（技術の層ではなく人の活動）
場所：技術ではなく「発表という活動」の話。自分の学校の中で行う、身内向けの発表の場。
【くわしく】
学内で発表は、自分の学校（大学を含む）の中で行う発表です。授業のグループ発表、探究学習や課題研究の発表会、大学のゼミでの進み具合の報告、卒業研究の発表会などが当てはまります。
聞き手は先生や同じ学校の仲間なので、背景を共有していて、質問や助言をもらいやすい場です。スライドづくり、時間配分、質問への答え方を、練習として経験する場にもなります。
学外の学会と比べると、聞き手が身内で、規模も小さめです。学内で出た質問や助言を持ち帰って研究を直し、次に国内学会など外の場へ進む足がかりにできます。
【たとえるなら】
部活の校内練習試合。身内が相手なので気軽に試せて、助言ももらえます。その経験を積んでから、他校との大会（学会）に出ます。
【こんな場面で】
探究学習の成果を教室や体育館で発表する、文化祭で研究内容を掲示して説明する、大学のゼミで先生や先輩に進み具合を報告する、などの場面です。
【勘違い・つまずき】
学内の発表だから適当でよい、ではありません。発表の型（目的・方法・結果・考察）は学会と同じです。学内で練習した内容が、そのまま外の発表の下書きになります。
【最初の学び方】
授業や探究の発表で質問された内容をメモに残し、「次はどう答えるか」を一言で書いておきましょう。次の発表の準備になります。
【つながり】
・学内で発表 →（場の一つ）→ プレゼンテーション
・学内で発表 →（次の場へ）→ 国内学会発表
・学内で発表 ⇄（ちがい）⇄ 学会
・学内で発表 →（形式を使う）→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（スライド305／資料の該当箇所：ご提供の用語解説（学内で発表））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日本国内で開かれる学会や研究集会で、研究の成果を発表すること。
【どこの話？】
層：活動・資格（技術の層ではなく人の活動）
場所：技術ではなく「発表という活動」の話。日本国内で開かれる学会での研究発表。
【くわしく】
国内学会発表は、日本国内で開かれる学会で、自分の研究を発表することです。学会（研究者が成果を持ち寄って議論する集まり）は分野ごとに多くの種類があり、情報分野にも国内の学会がたくさんあります。
発表は日本語で行われることが多く、形は主に口頭発表（スライドで話す）とポスター発表（掲示物の前で説明する）です。聞き手は同じ分野の研究者や学生で、学内発表よりも専門的な質問が来ます。
多くの学会では、発表の申し込みと、内容をまとめた予稿（事前に出す要旨）の提出が必要です。発表後の議論から、自分の研究の弱いところや、次にやることが見えてきます。
【たとえるなら】
部活の全国規模の大会。校内練習（学内発表）を経て、他校の参加者の前で実力を試します。ほかの人の発表から学べて、助言ももらえます。
【こんな場面で】
大学の卒業研究を全国規模の大会で発表する場面です。学会によっては、高校生が探究学習の成果を発表できる枠を設けています。
【勘違い・つまずき】
国内学会と海外学会の違いは、主に開催地・使う言語・参加者の範囲です。「国内だから簡単」とは限らず、どちらも発表の型（目的・方法・結果・考察）は同じです。
【最初の学び方】
興味のある分野の学会（例：情報処理学会）を調べ、公式サイトで過去の大会プログラムを開いて、どんな題名の発表があるか読んでみましょう。
【つながり】
・学会 →（発表の場）→ 国内学会発表
・国内学会発表 ⇄（ちがい）⇄ 海外学会発表
・学内で発表 →（次の場へ）→ 国内学会発表
・国内学会発表 →（形式を選ぶ）→ 口頭発表
・国内学会発表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（スライド306／資料の該当箇所：ご提供の用語解説（国内学会発表））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日本国内で開かれる学会や研究集会で、研究の成果を発表すること。
【どこの話？】
層：活動・資格（技術の層ではなく人の活動）
場所：技術ではなく「発表という活動」の話。日本国内で開かれる学会での研究発表。
【くわしく】
国内学会発表は、日本国内で開かれる学会で、自分の研究を発表することです。学会（研究者が成果を持ち寄って議論する集まり）は分野ごとに多くの種類があり、情報分野にも国内の学会がたくさんあります。
発表は日本語で行われることが多く、形は主に口頭発表（スライドで話す）とポスター発表（掲示物の前で説明する）です。聞き手は同じ分野の研究者や学生で、学内発表よりも専門的な質問が来ます。
多くの学会では、発表の申し込みと、内容をまとめた予稿（事前に出す要旨）の提出が必要です。発表後の議論から、自分の研究の弱いところや、次にやることが見えてきます。
【たとえるなら】
部活の全国規模の大会。校内練習（学内発表）を経て、他校の参加者の前で実力を試します。ほかの人の発表から学べて、助言ももらえます。
【こんな場面で】
大学の卒業研究を全国規模の大会で発表する場面です。学会によっては、高校生が探究学習の成果を発表できる枠を設けています。
【勘違い・つまずき】
国内学会と海外学会の違いは、主に開催地・使う言語・参加者の範囲です。「国内だから簡単」とは限らず、どちらも発表の型（目的・方法・結果・考察）は同じです。
【最初の学び方】
興味のある分野の学会（例：情報処理学会）を調べ、公式サイトで過去の大会プログラムを開いて、どんな題名の発表があるか読んでみましょう。
【つながり】
・学会 →（発表の場）→ 国内学会発表
・国内学会発表 ⇄（ちがい）⇄ 海外学会発表
・学内で発表 →（次の場へ）→ 国内学会発表
・国内学会発表 →（形式を選ぶ）→ 口頭発表
・国内学会発表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（スライド307／資料の該当箇所：ご提供の用語解説（国内学会発表））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日本国内で開かれる学会や研究集会で、研究の成果を発表すること。
【どこの話？】
層：活動・資格（技術の層ではなく人の活動）
場所：技術ではなく「発表という活動」の話。日本国内で開かれる学会での研究発表。
【くわしく】
国内学会発表は、日本国内で開かれる学会で、自分の研究を発表することです。学会（研究者が成果を持ち寄って議論する集まり）は分野ごとに多くの種類があり、情報分野にも国内の学会がたくさんあります。
発表は日本語で行われることが多く、形は主に口頭発表（スライドで話す）とポスター発表（掲示物の前で説明する）です。聞き手は同じ分野の研究者や学生で、学内発表よりも専門的な質問が来ます。
多くの学会では、発表の申し込みと、内容をまとめた予稿（事前に出す要旨）の提出が必要です。発表後の議論から、自分の研究の弱いところや、次にやることが見えてきます。
【たとえるなら】
部活の全国規模の大会。校内練習（学内発表）を経て、他校の参加者の前で実力を試します。ほかの人の発表から学べて、助言ももらえます。
【こんな場面で】
大学の卒業研究を全国規模の大会で発表する場面です。学会によっては、高校生が探究学習の成果を発表できる枠を設けています。
【勘違い・つまずき】
国内学会と海外学会の違いは、主に開催地・使う言語・参加者の範囲です。「国内だから簡単」とは限らず、どちらも発表の型（目的・方法・結果・考察）は同じです。
【最初の学び方】
興味のある分野の学会（例：情報処理学会）を調べ、公式サイトで過去の大会プログラムを開いて、どんな題名の発表があるか読んでみましょう。
【つながり】
・学会 →（発表の場）→ 国内学会発表
・国内学会発表 ⇄（ちがい）⇄ 海外学会発表
・学内で発表 →（次の場へ）→ 国内学会発表
・国内学会発表 →（形式を選ぶ）→ 口頭発表
・国内学会発表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（スライド308／資料の該当箇所：ご提供の用語解説（国内学会発表））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海外で開かれる学会や国際会議で、研究の成果を発表すること。
【どこの話？】
層：活動・資格（技術の層ではなく人の活動）
場所：技術ではなく「発表という活動」の話。海外で開かれる学会での、英語などによる研究発表。
【くわしく】
海外学会発表は、外国で開かれる学会（国際会議など）で、自分の研究を発表することです。国内と同じく口頭発表やポスター発表がありますが、さまざまな国の研究者が聞き手になります。
国内との大きな違いは、使用言語と渡航です。発表も質疑応答も英語で行われることが多く、スライドも英語で作ります。会場へ行くには、旅費、パスポート、宿泊、日程の調整などの準備が必要です。
オンラインで参加できる会議もあります。どちらの場合も、発音の違いで聞き取りにくいことがあるので、短い文と図で伝える工夫をし、想定される質問に英語で答える練習をしておくと落ち着けます。
【たとえるなら】
部活の海外遠征。腕前だけでなく、移動の準備や、相手と話す言葉（英語）も必要になります。そのぶん、世界中の仲間と競い、学べます。
【こんな場面で】
情報や工学の研究者が、海外の国際会議で英語のスライドを使って発表し、聞き手からの英語の質問にその場で英語で答える場面です。
【勘違い・つまずき】
海外発表は英語力だけの問題ではありません。パスポートや旅費、日程など、研究以外の準備に時間がかかります。内容の準備と並行して、早めに動きましょう。
【最初の学び方】
自分の研究を、英語で3文（目的・方法・結果）にまとめる練習をしましょう。翻訳ツールで下書きしても、専門用語が正しいか必ず確認します。
【つながり】
・学会 →（発表の場）→ 海外学会発表
・海外学会発表 ⇄（ちがい）⇄ 国内学会発表
・海外学会発表 →（形式を選ぶ）→ 口頭発表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（スライド309／資料の該当箇所：ご提供の用語解説（海外学会発表））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海外で開かれる学会や国際会議で、研究の成果を発表すること。
【どこの話？】
層：活動・資格（技術の層ではなく人の活動）
場所：技術ではなく「発表という活動」の話。海外で開かれる学会での、英語などによる研究発表。
【くわしく】
海外学会発表は、外国で開かれる学会（国際会議など）で、自分の研究を発表することです。国内と同じく口頭発表やポスター発表がありますが、さまざまな国の研究者が聞き手になります。
国内との大きな違いは、使用言語と渡航です。発表も質疑応答も英語で行われることが多く、スライドも英語で作ります。会場へ行くには、旅費、パスポート、宿泊、日程の調整などの準備が必要です。
オンラインで参加できる会議もあります。どちらの場合も、発音の違いで聞き取りにくいことがあるので、短い文と図で伝える工夫をし、想定される質問に英語で答える練習をしておくと落ち着けます。
【たとえるなら】
部活の海外遠征。腕前だけでなく、移動の準備や、相手と話す言葉（英語）も必要になります。そのぶん、世界中の仲間と競い、学べます。
【こんな場面で】
情報や工学の研究者が、海外の国際会議で英語のスライドを使って発表し、聞き手からの英語の質問にその場で英語で答える場面です。
【勘違い・つまずき】
海外発表は英語力だけの問題ではありません。パスポートや旅費、日程など、研究以外の準備に時間がかかります。内容の準備と並行して、早めに動きましょう。
【最初の学び方】
自分の研究を、英語で3文（目的・方法・結果）にまとめる練習をしましょう。翻訳ツールで下書きしても、専門用語が正しいか必ず確認します。
【つながり】
・学会 →（発表の場）→ 海外学会発表
・海外学会発表 ⇄（ちがい）⇄ 国内学会発表
・海外学会発表 →（形式を選ぶ）→ 口頭発表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（スライド310／資料の該当箇所：ご提供の用語解説（海外学会発表））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海外で開かれる学会や国際会議で、研究の成果を発表すること。
【どこの話？】
層：活動・資格（技術の層ではなく人の活動）
場所：技術ではなく「発表という活動」の話。海外で開かれる学会での、英語などによる研究発表。
【くわしく】
海外学会発表は、外国で開かれる学会（国際会議など）で、自分の研究を発表することです。国内と同じく口頭発表やポスター発表がありますが、さまざまな国の研究者が聞き手になります。
国内との大きな違いは、使用言語と渡航です。発表も質疑応答も英語で行われることが多く、スライドも英語で作ります。会場へ行くには、旅費、パスポート、宿泊、日程の調整などの準備が必要です。
オンラインで参加できる会議もあります。どちらの場合も、発音の違いで聞き取りにくいことがあるので、短い文と図で伝える工夫をし、想定される質問に英語で答える練習をしておくと落ち着けます。
【たとえるなら】
部活の海外遠征。腕前だけでなく、移動の準備や、相手と話す言葉（英語）も必要になります。そのぶん、世界中の仲間と競い、学べます。
【こんな場面で】
情報や工学の研究者が、海外の国際会議で英語のスライドを使って発表し、聞き手からの英語の質問にその場で英語で答える場面です。
【勘違い・つまずき】
海外発表は英語力だけの問題ではありません。パスポートや旅費、日程など、研究以外の準備に時間がかかります。内容の準備と並行して、早めに動きましょう。
【最初の学び方】
自分の研究を、英語で3文（目的・方法・結果）にまとめる練習をしましょう。翻訳ツールで下書きしても、専門用語が正しいか必ず確認します。
【つながり】
・学会 →（発表の場）→ 海外学会発表
・海外学会発表 ⇄（ちがい）⇄ 国内学会発表
・海外学会発表 →（形式を選ぶ）→ 口頭発表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（スライド311／資料の該当箇所：ご提供の用語解説（海外学会発表））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同じ分野の研究者が、研究の成果を発表し合って議論する団体や、その集まり。
【どこの話？】
層：活動・資格（技術の層ではなく人の活動）
場所：技術ではなく「研究者が集まる団体・集まり」の話。研究成果を共有する活動の場。
【くわしく】
学会は、特定の学問分野（情報、物理、機械など）の研究者や学生が集まって作る団体です。会員が研究の成果を発表し、お互いに質問や助言をし合うことで、その分野全体の知識を前に進めます。
学会の主な活動は、大会などの集まりを開くことと、研究論文をのせる学術誌を出すことです。集まりでは口頭発表とポスター発表が行われ、休憩時間や懇親会でも研究者どうしが交流します。
「学会」は、団体そのものと、団体が開く集まり（大会・研究会）の両方に使います。国内で開かれるものを国内学会、海外で開かれるものを海外学会と分けて呼ぶことがあります。
【たとえるなら】
スポーツの競技団体と、その団体が開く大会。部活なら、地区の団体が開く大会で各校が成果を見せ合います。研究の世界でのその役割が学会です。
【こんな場面で】
大学の研究室の先輩が夏休みに大会へ発表に行く、ニュースで「○○学会が発表した」と報じられる、といった場面で出てきます。
【勘違い・つまずき】
学会は、誰でもその場で聞ける集まりとは限りません。参加には会員登録や参加費が必要なことがあり、発表するには申し込みが必要です。
【最初の学び方】
関心のある分野の学会を1つ選び、公式サイトで大会や研究会のプログラムを開いて、発表の題目を5つ読んでみましょう。
【つながり】
・学会 →（発表の場）→ 国内学会発表
・学会 →（発表の場）→ 海外学会発表
・学会 →（発表の形）→ 口頭発表
・学会 →（発表の形）→ ポスター発表
・データ分析 →（成果を持ち込む）→ 学会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（スライド312／資料の該当箇所：ご提供の用語解説（学会））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同じ分野の研究者が、研究の成果を発表し合って議論する団体や、その集まり。
【どこの話？】
層：活動・資格（技術の層ではなく人の活動）
場所：技術ではなく「研究者が集まる団体・集まり」の話。研究成果を共有する活動の場。
【くわしく】
学会は、特定の学問分野（情報、物理、機械など）の研究者や学生が集まって作る団体です。会員が研究の成果を発表し、お互いに質問や助言をし合うことで、その分野全体の知識を前に進めます。
学会の主な活動は、大会などの集まりを開くことと、研究論文をのせる学術誌を出すことです。集まりでは口頭発表とポスター発表が行われ、休憩時間や懇親会でも研究者どうしが交流します。
「学会」は、団体そのものと、団体が開く集まり（大会・研究会）の両方に使います。国内で開かれるものを国内学会、海外で開かれるものを海外学会と分けて呼ぶことがあります。
【たとえるなら】
スポーツの競技団体と、その団体が開く大会。部活なら、地区の団体が開く大会で各校が成果を見せ合います。研究の世界でのその役割が学会です。
【こんな場面で】
大学の研究室の先輩が夏休みに大会へ発表に行く、ニュースで「○○学会が発表した」と報じられる、といった場面で出てきます。
【勘違い・つまずき】
学会は、誰でもその場で聞ける集まりとは限りません。参加には会員登録や参加費が必要なことがあり、発表するには申し込みが必要です。
【最初の学び方】
関心のある分野の学会を1つ選び、公式サイトで大会や研究会のプログラムを開いて、発表の題目を5つ読んでみましょう。
【つながり】
・学会 →（発表の場）→ 国内学会発表
・学会 →（発表の場）→ 海外学会発表
・学会 →（発表の形）→ 口頭発表
・学会 →（発表の形）→ ポスター発表
・データ分析 →（成果を持ち込む）→ 学会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（スライド313／資料の該当箇所：ご提供の用語解説（学会））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同じ分野の研究者が、研究の成果を発表し合って議論する団体や、その集まり。
【どこの話？】
層：活動・資格（技術の層ではなく人の活動）
場所：技術ではなく「研究者が集まる団体・集まり」の話。研究成果を共有する活動の場。
【くわしく】
学会は、特定の学問分野（情報、物理、機械など）の研究者や学生が集まって作る団体です。会員が研究の成果を発表し、お互いに質問や助言をし合うことで、その分野全体の知識を前に進めます。
学会の主な活動は、大会などの集まりを開くことと、研究論文をのせる学術誌を出すことです。集まりでは口頭発表とポスター発表が行われ、休憩時間や懇親会でも研究者どうしが交流します。
「学会」は、団体そのものと、団体が開く集まり（大会・研究会）の両方に使います。国内で開かれるものを国内学会、海外で開かれるものを海外学会と分けて呼ぶことがあります。
【たとえるなら】
スポーツの競技団体と、その団体が開く大会。部活なら、地区の団体が開く大会で各校が成果を見せ合います。研究の世界でのその役割が学会です。
【こんな場面で】
大学の研究室の先輩が夏休みに大会へ発表に行く、ニュースで「○○学会が発表した」と報じられる、といった場面で出てきます。
【勘違い・つまずき】
学会は、誰でもその場で聞ける集まりとは限りません。参加には会員登録や参加費が必要なことがあり、発表するには申し込みが必要です。
【最初の学び方】
関心のある分野の学会を1つ選び、公式サイトで大会や研究会のプログラムを開いて、発表の題目を5つ読んでみましょう。
【つながり】
・学会 →（発表の場）→ 国内学会発表
・学会 →（発表の場）→ 海外学会発表
・学会 →（発表の形）→ 口頭発表
・学会 →（発表の形）→ ポスター発表
・データ分析 →（成果を持ち込む）→ 学会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（スライド314／資料の該当箇所：ご提供の用語解説（学会））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聴衆の前で、スライドなどを使いながら話して研究を説明する発表の形式。
【どこの話？】
層：活動・資格（技術の層ではなく人の活動）
場所：技術ではなく「発表という活動」の話。聴衆の前で話して伝える、発表の形式の一つ。
【くわしく】
口頭発表は、会場の前でスライドを映しながら、決められた時間で研究を説明する形式です。聞き手は全員が同じ時間に同じ話を聞き、最後に質疑応答（質問と、それへの答え）の時間があります。
持ち時間は学会ごとに決まっていて、発表と質疑を合わせて10〜20分程度のことが多く、短めです。時間が短いので、伝えたいことを絞り、結論を先に話すなど、順序を工夫します。
ポスター発表との違いは、話す時間が決まっていて、全員に一斉に話す点です。ポスターは、掲示物の前で来た人と個別に話します。多くの人に一度に伝えるなら口頭、深く話し合うならポスターが向きます。
【たとえるなら】
体育館のステージでの発表。全校生徒が同じ時間に聞く代わりに、1人ずつと細かく話す時間はありません。ポスターは、廊下の展示を見に来た人に個別に説明する形です。
【こんな場面で】
文化祭のステージ発表、探究学習の成果報告会、学会の大会で会議室のスクリーンの前に立って10分ほどで話す場面です。
【勘違い・つまずき】
決められた時間を超えると、途中で止められることがあります。詰め込みすぎず、本番と同じ時間で練習しましょう。スライドの文字を読み上げるだけでは伝わりません。
【最初の学び方】
スマホのタイマーで3分を計り、スライド3枚で話し切る練習をしましょう。録音して聞き返すと、早口や言いよどみに気づけます。
【つながり】
・口頭発表 ⇄（ちがい）⇄ ポスター発表
・口頭発表 →（形式の一つ）→ プレゼンテーション
・学会 →（発表の形）→ 口頭発表
・国内学会発表 →（形式を選ぶ）→ 口頭発表
・海外学会発表 →（形式を選ぶ）→ 口頭発表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（スライド315／資料の該当箇所：ご提供の用語解説（口頭発表））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聴衆の前で、スライドなどを使いながら話して研究を説明する発表の形式。
【どこの話？】
層：活動・資格（技術の層ではなく人の活動）
場所：技術ではなく「発表という活動」の話。聴衆の前で話して伝える、発表の形式の一つ。
【くわしく】
口頭発表は、会場の前でスライドを映しながら、決められた時間で研究を説明する形式です。聞き手は全員が同じ時間に同じ話を聞き、最後に質疑応答（質問と、それへの答え）の時間があります。
持ち時間は学会ごとに決まっていて、発表と質疑を合わせて10〜20分程度のことが多く、短めです。時間が短いので、伝えたいことを絞り、結論を先に話すなど、順序を工夫します。
ポスター発表との違いは、話す時間が決まっていて、全員に一斉に話す点です。ポスターは、掲示物の前で来た人と個別に話します。多くの人に一度に伝えるなら口頭、深く話し合うならポスターが向きます。
【たとえるなら】
体育館のステージでの発表。全校生徒が同じ時間に聞く代わりに、1人ずつと細かく話す時間はありません。ポスターは、廊下の展示を見に来た人に個別に説明する形です。
【こんな場面で】
文化祭のステージ発表、探究学習の成果報告会、学会の大会で会議室のスクリーンの前に立って10分ほどで話す場面です。
【勘違い・つまずき】
決められた時間を超えると、途中で止められることがあります。詰め込みすぎず、本番と同じ時間で練習しましょう。スライドの文字を読み上げるだけでは伝わりません。
【最初の学び方】
スマホのタイマーで3分を計り、スライド3枚で話し切る練習をしましょう。録音して聞き返すと、早口や言いよどみに気づけます。
【つながり】
・口頭発表 ⇄（ちがい）⇄ ポスター発表
・口頭発表 →（形式の一つ）→ プレゼンテーション
・学会 →（発表の形）→ 口頭発表
・国内学会発表 →（形式を選ぶ）→ 口頭発表
・海外学会発表 →（形式を選ぶ）→ 口頭発表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（スライド316／資料の該当箇所：ご提供の用語解説（口頭発表））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聴衆の前で、スライドなどを使いながら話して研究を説明する発表の形式。
【どこの話？】
層：活動・資格（技術の層ではなく人の活動）
場所：技術ではなく「発表という活動」の話。聴衆の前で話して伝える、発表の形式の一つ。
【くわしく】
口頭発表は、会場の前でスライドを映しながら、決められた時間で研究を説明する形式です。聞き手は全員が同じ時間に同じ話を聞き、最後に質疑応答（質問と、それへの答え）の時間があります。
持ち時間は学会ごとに決まっていて、発表と質疑を合わせて10〜20分程度のことが多く、短めです。時間が短いので、伝えたいことを絞り、結論を先に話すなど、順序を工夫します。
ポスター発表との違いは、話す時間が決まっていて、全員に一斉に話す点です。ポスターは、掲示物の前で来た人と個別に話します。多くの人に一度に伝えるなら口頭、深く話し合うならポスターが向きます。
【たとえるなら】
体育館のステージでの発表。全校生徒が同じ時間に聞く代わりに、1人ずつと細かく話す時間はありません。ポスターは、廊下の展示を見に来た人に個別に説明する形です。
【こんな場面で】
文化祭のステージ発表、探究学習の成果報告会、学会の大会で会議室のスクリーンの前に立って10分ほどで話す場面です。
【勘違い・つまずき】
決められた時間を超えると、途中で止められることがあります。詰め込みすぎず、本番と同じ時間で練習しましょう。スライドの文字を読み上げるだけでは伝わりません。
【最初の学び方】
スマホのタイマーで3分を計り、スライド3枚で話し切る練習をしましょう。録音して聞き返すと、早口や言いよどみに気づけます。
【つながり】
・口頭発表 ⇄（ちがい）⇄ ポスター発表
・口頭発表 →（形式の一つ）→ プレゼンテーション
・学会 →（発表の形）→ 口頭発表
・国内学会発表 →（形式を選ぶ）→ 口頭発表
・海外学会発表 →（形式を選ぶ）→ 口頭発表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（スライド317／資料の該当箇所：ご提供の用語解説（口頭発表））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大きな紙面に研究をまとめて掲示し、見に来た人に個別に説明する発表の形式。
【どこの話？】
層：活動・資格（技術の層ではなく人の活動）
場所：技術ではなく「発表という活動」の話。大きな掲示物で研究を見せ、対話で伝える発表の形式。
【くわしく】
ポスター発表は、研究の内容を大きな紙1枚（大きさは学会が決めます）にまとめて、会場の掲示板に貼り、その前に立って説明する形式です。文章よりも、図や表で流れを見せるのが中心です。
発表の時間帯（ポスターセッション）には、来場者が自由に会場を回り、気になるポスターの前で足を止めます。短い説明と、質問に答えながらの詳しい説明の2段構えで、1対1や少人数の対話になります。
ポスターは、離れた場所からでも流れが分かるよう、大きな見出し・図・表を中心にして、文章は少なめにします。口頭発表と比べて、聞き手とじっくり議論できるのが特徴です。
【たとえるなら】
文化祭の展示ブース。作品（研究）を展示して、立ち寄ったお客さんに説明します。ステージ発表（口頭）より人数は少ないですが、1人ひとりと話せます。
【こんな場面で】
学会の会場でポスターが並び、研究者や学生が歩き回って質問する場面です。高校の探究学習の発表会でも、ポスターを掲示する形があります。
【勘違い・つまずき】
ポスターは、論文の文章をそのまま貼り出すものではありません。字が小さいと遠くから読めません。図表を中心にして、説明は自分の声で補いましょう。
【最初の学び方】
A4用紙1枚に、タイトル・目的・方法・結果・結論の枠を描き、図を中心にまとめてみましょう。拡大して貼るつもりで文字の大きさも考えます。
【つながり】
・ポスター発表 ⇄（ちがい）⇄ 口頭発表
・ポスター発表 →（形式の一つ）→ プレゼンテーション
・学会 →（発表の形）→ ポスター発表
・国内学会発表 →（形式を選ぶ）→ ポスター発表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（スライド318／資料の該当箇所：ご提供の用語解説（ポスター発表））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大きな紙面に研究をまとめて掲示し、見に来た人に個別に説明する発表の形式。
【どこの話？】
層：活動・資格（技術の層ではなく人の活動）
場所：技術ではなく「発表という活動」の話。大きな掲示物で研究を見せ、対話で伝える発表の形式。
【くわしく】
ポスター発表は、研究の内容を大きな紙1枚（大きさは学会が決めます）にまとめて、会場の掲示板に貼り、その前に立って説明する形式です。文章よりも、図や表で流れを見せるのが中心です。
発表の時間帯（ポスターセッション）には、来場者が自由に会場を回り、気になるポスターの前で足を止めます。短い説明と、質問に答えながらの詳しい説明の2段構えで、1対1や少人数の対話になります。
ポスターは、離れた場所からでも流れが分かるよう、大きな見出し・図・表を中心にして、文章は少なめにします。口頭発表と比べて、聞き手とじっくり議論できるのが特徴です。
【たとえるなら】
文化祭の展示ブース。作品（研究）を展示して、立ち寄ったお客さんに説明します。ステージ発表（口頭）より人数は少ないですが、1人ひとりと話せます。
【こんな場面で】
学会の会場でポスターが並び、研究者や学生が歩き回って質問する場面です。高校の探究学習の発表会でも、ポスターを掲示する形があります。
【勘違い・つまずき】
ポスターは、論文の文章をそのまま貼り出すものではありません。字が小さいと遠くから読めません。図表を中心にして、説明は自分の声で補いましょう。
【最初の学び方】
A4用紙1枚に、タイトル・目的・方法・結果・結論の枠を描き、図を中心にまとめてみましょう。拡大して貼るつもりで文字の大きさも考えます。
【つながり】
・ポスター発表 ⇄（ちがい）⇄ 口頭発表
・ポスター発表 →（形式の一つ）→ プレゼンテーション
・学会 →（発表の形）→ ポスター発表
・国内学会発表 →（形式を選ぶ）→ ポスター発表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（スライド319／資料の該当箇所：ご提供の用語解説（ポスター発表））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大きな紙面に研究をまとめて掲示し、見に来た人に個別に説明する発表の形式。
【どこの話？】
層：活動・資格（技術の層ではなく人の活動）
場所：技術ではなく「発表という活動」の話。大きな掲示物で研究を見せ、対話で伝える発表の形式。
【くわしく】
ポスター発表は、研究の内容を大きな紙1枚（大きさは学会が決めます）にまとめて、会場の掲示板に貼り、その前に立って説明する形式です。文章よりも、図や表で流れを見せるのが中心です。
発表の時間帯（ポスターセッション）には、来場者が自由に会場を回り、気になるポスターの前で足を止めます。短い説明と、質問に答えながらの詳しい説明の2段構えで、1対1や少人数の対話になります。
ポスターは、離れた場所からでも流れが分かるよう、大きな見出し・図・表を中心にして、文章は少なめにします。口頭発表と比べて、聞き手とじっくり議論できるのが特徴です。
【たとえるなら】
文化祭の展示ブース。作品（研究）を展示して、立ち寄ったお客さんに説明します。ステージ発表（口頭）より人数は少ないですが、1人ひとりと話せます。
【こんな場面で】
学会の会場でポスターが並び、研究者や学生が歩き回って質問する場面です。高校の探究学習の発表会でも、ポスターを掲示する形があります。
【勘違い・つまずき】
ポスターは、論文の文章をそのまま貼り出すものではありません。字が小さいと遠くから読めません。図表を中心にして、説明は自分の声で補いましょう。
【最初の学び方】
A4用紙1枚に、タイトル・目的・方法・結果・結論の枠を描き、図を中心にまとめてみましょう。拡大して貼るつもりで文字の大きさも考えます。
【つながり】
・ポスター発表 ⇄（ちがい）⇄ 口頭発表
・ポスター発表 →（形式の一つ）→ プレゼンテーション
・学会 →（発表の形）→ ポスター発表
・国内学会発表 →（形式を選ぶ）→ ポスター発表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（スライド320／資料の該当箇所：ご提供の用語解説（ポスター発表））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左から右へ、4つの段階です。貼り付けの学び方：「目的・方法・結果・考察」の順に整理し、時間内で説明する練習をする。
【処理の詳細】
・目的：何を明らかにしたいか。
・方法：どうやって調べたか。
・結果：何が分かったか。
・考察：結果から何が言えるか、次に何をするか。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（スライド321／資料の該当箇所：プレゼン「学び方・準備方法」）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左の列が観点です。貼り付けの学び方（口頭：制限時間を計って練習／ポスター：要点を図や表で整理し、短い説明と詳しい説明を準備）を軸に整理しました。
【よくある誤解】
「向く場面」は一般的な目安で、学会ごとに運営方法が違います。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（スライド322／資料の該当箇所：プレゼン「口頭発表・ポスター発表」）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上が国家試験の段階、下がMOSです。IPAの区分では、ITパスポートがレベル1、基本情報がレベル2、応用情報がレベル3とされています[D05]。
【成立条件・例外】
試験の制度・名称・内容は変更されることがあります。受験前に必ず公式の案内を確認してください。
【よくある誤解】
IPAの国家試験と、Officeの操作技能を測るMOSでは、対象となる能力が異なります（貼り付けの記載）。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（スライド323／資料の該当箇所：IT系の資格「質問24」）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ITを使う人すべてに必要な基礎知識を確かめる、IPAの国家試験。
【どこの話？】
層：活動・資格（技術の層ではなく人の活動）
場所：技術ではなく「資格（試験）」の話。IT利用者の共通の基礎知識を確かめる国家試験。
【くわしく】
ITパスポート試験は、IPA（情報処理推進機構）が実施する国家試験です。ITを仕事や生活で使う人が、共通して身につけておきたい基礎知識を持っているかを確かめます。技術者だけでなく、一般の社会人や学生も対象です。
出題は、コンピューターやネットワークなどの技術だけでなく、会社の経営の考え方、プロジェクトやサービスの管理、法律やセキュリティの基本まで幅広く扱います。ITを「使う側」に必要な知識を、全体的に確かめる試験です。
技術者になる人向けの試験ではなく、IT「を使う側」の基礎です。次の段階として、技術者向けの基本情報技術者試験があります。入口の資格として、高校生や大学生が受けることもあります。
【たとえるなら】
ITの世界に入るための「パスポート」。旅行前に、現地の言葉やルール、安全の基本を学ぶように、ITの世界の共通の言葉と基本のルールを身につけます。
【こんな場面で】
情報科の授業で学んだあとに受験する、会社でIT化が進むので事務の人も学び直す、といった場面で出てきます。
【勘違い・つまずき】
ITパスポートは、PC操作やプログラムを書く腕前を試す試験ではありません。主に知識を問う試験で（プログラムを読み解く問題は少し出ます）、操作スキルを示す資格はMOSなど別にあります。
【最初の学び方】
IPAの公式サイトで公開されている問題を何問か解いてみましょう。知らない用語が出たら、このガイドで調べて意味を説明できるようにします。
【つながり】
・ITパスポート →（次の段階）→ 基本情報
・ITパスポート ⇄（ちがい）⇄ MOS
・ITパスポート →（出題する）→ ネットワーク
・ITパスポート →（出題する）→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（スライド324／資料の該当箇所：ご提供の用語解説（ITパスポート））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ITを使う人すべてに必要な基礎知識を確かめる、IPAの国家試験。
【どこの話？】
層：活動・資格（技術の層ではなく人の活動）
場所：技術ではなく「資格（試験）」の話。IT利用者の共通の基礎知識を確かめる国家試験。
【くわしく】
ITパスポート試験は、IPA（情報処理推進機構）が実施する国家試験です。ITを仕事や生活で使う人が、共通して身につけておきたい基礎知識を持っているかを確かめます。技術者だけでなく、一般の社会人や学生も対象です。
出題は、コンピューターやネットワークなどの技術だけでなく、会社の経営の考え方、プロジェクトやサービスの管理、法律やセキュリティの基本まで幅広く扱います。ITを「使う側」に必要な知識を、全体的に確かめる試験です。
技術者になる人向けの試験ではなく、IT「を使う側」の基礎です。次の段階として、技術者向けの基本情報技術者試験があります。入口の資格として、高校生や大学生が受けることもあります。
【たとえるなら】
ITの世界に入るための「パスポート」。旅行前に、現地の言葉やルール、安全の基本を学ぶように、ITの世界の共通の言葉と基本のルールを身につけます。
【こんな場面で】
情報科の授業で学んだあとに受験する、会社でIT化が進むので事務の人も学び直す、といった場面で出てきます。
【勘違い・つまずき】
ITパスポートは、PC操作やプログラムを書く腕前を試す試験ではありません。主に知識を問う試験で（プログラムを読み解く問題は少し出ます）、操作スキルを示す資格はMOSなど別にあります。
【最初の学び方】
IPAの公式サイトで公開されている問題を何問か解いてみましょう。知らない用語が出たら、このガイドで調べて意味を説明できるようにします。
【つながり】
・ITパスポート →（次の段階）→ 基本情報
・ITパスポート ⇄（ちがい）⇄ MOS
・ITパスポート →（出題する）→ ネットワーク
・ITパスポート →（出題する）→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（スライド325／資料の該当箇所：ご提供の用語解説（ITパスポート））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ITを使う人すべてに必要な基礎知識を確かめる、IPAの国家試験。
【どこの話？】
層：活動・資格（技術の層ではなく人の活動）
場所：技術ではなく「資格（試験）」の話。IT利用者の共通の基礎知識を確かめる国家試験。
【くわしく】
ITパスポート試験は、IPA（情報処理推進機構）が実施する国家試験です。ITを仕事や生活で使う人が、共通して身につけておきたい基礎知識を持っているかを確かめます。技術者だけでなく、一般の社会人や学生も対象です。
出題は、コンピューターやネットワークなどの技術だけでなく、会社の経営の考え方、プロジェクトやサービスの管理、法律やセキュリティの基本まで幅広く扱います。ITを「使う側」に必要な知識を、全体的に確かめる試験です。
技術者になる人向けの試験ではなく、IT「を使う側」の基礎です。次の段階として、技術者向けの基本情報技術者試験があります。入口の資格として、高校生や大学生が受けることもあります。
【たとえるなら】
ITの世界に入るための「パスポート」。旅行前に、現地の言葉やルール、安全の基本を学ぶように、ITの世界の共通の言葉と基本のルールを身につけます。
【こんな場面で】
情報科の授業で学んだあとに受験する、会社でIT化が進むので事務の人も学び直す、といった場面で出てきます。
【勘違い・つまずき】
ITパスポートは、PC操作やプログラムを書く腕前を試す試験ではありません。主に知識を問う試験で（プログラムを読み解く問題は少し出ます）、操作スキルを示す資格はMOSなど別にあります。
【最初の学び方】
IPAの公式サイトで公開されている問題を何問か解いてみましょう。知らない用語が出たら、このガイドで調べて意味を説明できるようにします。
【つながり】
・ITパスポート →（次の段階）→ 基本情報
・ITパスポート ⇄（ちがい）⇄ MOS
・ITパスポート →（出題する）→ ネットワーク
・ITパスポート →（出題する）→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（スライド326／資料の該当箇所：ご提供の用語解説（ITパスポート））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ITで何かを作る人に必要な、基本的な知識と技能を確かめるIPAの国家試験。
【どこの話？】
層：活動・資格（技術の層ではなく人の活動）
場所：技術ではなく「資格（試験）」の話。IT技術者の基礎を確かめる国家試験。
【くわしく】
基本情報技術者試験は、IPAが実施する国家試験で、ITを使ってサービスやシステム、ソフトウェアを作る人に必要な、基本的な知識と技能を確かめます。ITパスポートの次の段階にあたります。
技術の基礎として、コンピューターの仕組み、ネットワーク、データベース、セキュリティなどが出ます。さらに、処理の手順（アルゴリズム）を考え、プログラムの動きを読み取る力も問われます。
ITパスポートが「ITを使う側」の共通知識なのに対し、基本情報は「ITで作る側」の基礎です。知識だけでなく、技術を使って考える力まで問います。さらに上の段階が、応用情報技術者試験です。
【たとえるなら】
ITパスポートが「世界地図」なら、基本情報は「地図を読んで実際に歩く練習」。技術の仕組みを、自分で追って考える段階です。
【こんな場面で】
情報系の大学や専門学校で目標にされる、IT企業を目指す人が学ぶ、プログラミングが好きな高校生が挑戦する、といった場面で出てきます。
【勘違い・つまずき】
基本情報技術者は「プログラマーになるための試験」とは限りません。IT技術者の基礎を広く確かめる試験です。受験資格はなく、順番に受ける必要もありません。内容は見直されることがあるので公式サイトで確認を。
【最初の学び方】
IPAの公式サイトで対象者像や出題範囲を読み、公開されている問題を1回分だけ解いて、分からなかった用語を調べるところから始めましょう。
【つながり】
・ITパスポート →（次の段階）→ 基本情報
・基本情報 →（次の段階）→ 応用情報
・基本情報 →（出題する）→ ネットワーク
・基本情報 →（出題する）→ DB
・基本情報 →（出題する）→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（スライド327／資料の該当箇所：ご提供の用語解説（基本情報技術者））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ITで何かを作る人に必要な、基本的な知識と技能を確かめるIPAの国家試験。
【どこの話？】
層：活動・資格（技術の層ではなく人の活動）
場所：技術ではなく「資格（試験）」の話。IT技術者の基礎を確かめる国家試験。
【くわしく】
基本情報技術者試験は、IPAが実施する国家試験で、ITを使ってサービスやシステム、ソフトウェアを作る人に必要な、基本的な知識と技能を確かめます。ITパスポートの次の段階にあたります。
技術の基礎として、コンピューターの仕組み、ネットワーク、データベース、セキュリティなどが出ます。さらに、処理の手順（アルゴリズム）を考え、プログラムの動きを読み取る力も問われます。
ITパスポートが「ITを使う側」の共通知識なのに対し、基本情報は「ITで作る側」の基礎です。知識だけでなく、技術を使って考える力まで問います。さらに上の段階が、応用情報技術者試験です。
【たとえるなら】
ITパスポートが「世界地図」なら、基本情報は「地図を読んで実際に歩く練習」。技術の仕組みを、自分で追って考える段階です。
【こんな場面で】
情報系の大学や専門学校で目標にされる、IT企業を目指す人が学ぶ、プログラミングが好きな高校生が挑戦する、といった場面で出てきます。
【勘違い・つまずき】
基本情報技術者は「プログラマーになるための試験」とは限りません。IT技術者の基礎を広く確かめる試験です。受験資格はなく、順番に受ける必要もありません。内容は見直されることがあるので公式サイトで確認を。
【最初の学び方】
IPAの公式サイトで対象者像や出題範囲を読み、公開されている問題を1回分だけ解いて、分からなかった用語を調べるところから始めましょう。
【つながり】
・ITパスポート →（次の段階）→ 基本情報
・基本情報 →（次の段階）→ 応用情報
・基本情報 →（出題する）→ ネットワーク
・基本情報 →（出題する）→ DB
・基本情報 →（出題する）→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（スライド328／資料の該当箇所：ご提供の用語解説（基本情報技術者））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ITで何かを作る人に必要な、基本的な知識と技能を確かめるIPAの国家試験。
【どこの話？】
層：活動・資格（技術の層ではなく人の活動）
場所：技術ではなく「資格（試験）」の話。IT技術者の基礎を確かめる国家試験。
【くわしく】
基本情報技術者試験は、IPAが実施する国家試験で、ITを使ってサービスやシステム、ソフトウェアを作る人に必要な、基本的な知識と技能を確かめます。ITパスポートの次の段階にあたります。
技術の基礎として、コンピューターの仕組み、ネットワーク、データベース、セキュリティなどが出ます。さらに、処理の手順（アルゴリズム）を考え、プログラムの動きを読み取る力も問われます。
ITパスポートが「ITを使う側」の共通知識なのに対し、基本情報は「ITで作る側」の基礎です。知識だけでなく、技術を使って考える力まで問います。さらに上の段階が、応用情報技術者試験です。
【たとえるなら】
ITパスポートが「世界地図」なら、基本情報は「地図を読んで実際に歩く練習」。技術の仕組みを、自分で追って考える段階です。
【こんな場面で】
情報系の大学や専門学校で目標にされる、IT企業を目指す人が学ぶ、プログラミングが好きな高校生が挑戦する、といった場面で出てきます。
【勘違い・つまずき】
基本情報技術者は「プログラマーになるための試験」とは限りません。IT技術者の基礎を広く確かめる試験です。受験資格はなく、順番に受ける必要もありません。内容は見直されることがあるので公式サイトで確認を。
【最初の学び方】
IPAの公式サイトで対象者像や出題範囲を読み、公開されている問題を1回分だけ解いて、分からなかった用語を調べるところから始めましょう。
【つながり】
・ITパスポート →（次の段階）→ 基本情報
・基本情報 →（次の段階）→ 応用情報
・基本情報 →（出題する）→ ネットワーク
・基本情報 →（出題する）→ DB
・基本情報 →（出題する）→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（スライド329／資料の該当箇所：ご提供の用語解説（基本情報技術者））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基本情報技術者の次の段階。より広く深い技術と、管理・経営の視点も問うIPAの国家試験。
【どこの話？】
層：活動・資格（技術の層ではなく人の活動）
場所：技術ではなく「資格（試験）」の話。基本情報より広く深い、IT技術者向けの国家試験。
【くわしく】
応用情報技術者試験は、IPAが実施する国家試験で、基本情報技術者試験の次の段階にあたります。基本的な知識に加えて、応用的な知識と技能を持ち、自分が進む専門の方向が見えてきた人を想定しています。
問われるのは技術だけではありません。システムを設計する、動かし続ける、プロジェクトを管理する、会社の戦略に合わせてITを選ぶなど、広い視点で状況を読み取って判断する力が求められます。
基本情報との違いは、「知っている・追える」から「状況を見て選べる・説明できる」へ進む点です。基本情報から順に受ける人もいますが、受験資格はなく、飛ばして受けることもできます。
【たとえるなら】
ITパスポートが「地図」、基本情報が「地図を読んで歩く練習」なら、応用情報は「複数のルートから目的に合う道を選んで案内する」段階です。
【こんな場面で】
会社でシステムの設計方針を決めるときや、トラブルの原因を整理して説明するときなど、広い知識を組み合わせて判断する場面で役立ちます。
【勘違い・つまずき】
応用情報は、基本情報の「難しい版」というだけではなく、管理や経営の視点も加わります。試験の区分や内容は見直されることがあるので、IPAの公式サイトで最新を確認しましょう。
【最初の学び方】
先に基本情報の範囲をひと通り理解してから、IPAの公式サイトで公開されている問題を読み、「なぜその答えか」を自分の言葉で説明してみましょう。
【つながり】
・基本情報 →（次の段階）→ 応用情報
・応用情報 →（出題する）→ ネットワーク
・応用情報 →（出題する）→ DB
・応用情報 →（出題する）→ 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（スライド330／資料の該当箇所：ご提供の用語解説（応用情報技術者））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基本情報技術者の次の段階。より広く深い技術と、管理・経営の視点も問うIPAの国家試験。
【どこの話？】
層：活動・資格（技術の層ではなく人の活動）
場所：技術ではなく「資格（試験）」の話。基本情報より広く深い、IT技術者向けの国家試験。
【くわしく】
応用情報技術者試験は、IPAが実施する国家試験で、基本情報技術者試験の次の段階にあたります。基本的な知識に加えて、応用的な知識と技能を持ち、自分が進む専門の方向が見えてきた人を想定しています。
問われるのは技術だけではありません。システムを設計する、動かし続ける、プロジェクトを管理する、会社の戦略に合わせてITを選ぶなど、広い視点で状況を読み取って判断する力が求められます。
基本情報との違いは、「知っている・追える」から「状況を見て選べる・説明できる」へ進む点です。基本情報から順に受ける人もいますが、受験資格はなく、飛ばして受けることもできます。
【たとえるなら】
ITパスポートが「地図」、基本情報が「地図を読んで歩く練習」なら、応用情報は「複数のルートから目的に合う道を選んで案内する」段階です。
【こんな場面で】
会社でシステムの設計方針を決めるときや、トラブルの原因を整理して説明するときなど、広い知識を組み合わせて判断する場面で役立ちます。
【勘違い・つまずき】
応用情報は、基本情報の「難しい版」というだけではなく、管理や経営の視点も加わります。試験の区分や内容は見直されることがあるので、IPAの公式サイトで最新を確認しましょう。
【最初の学び方】
先に基本情報の範囲をひと通り理解してから、IPAの公式サイトで公開されている問題を読み、「なぜその答えか」を自分の言葉で説明してみましょう。
【つながり】
・基本情報 →（次の段階）→ 応用情報
・応用情報 →（出題する）→ ネットワーク
・応用情報 →（出題する）→ DB
・応用情報 →（出題する）→ 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（スライド331／資料の該当箇所：ご提供の用語解説（応用情報技術者））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基本情報技術者の次の段階。より広く深い技術と、管理・経営の視点も問うIPAの国家試験。
【どこの話？】
層：活動・資格（技術の層ではなく人の活動）
場所：技術ではなく「資格（試験）」の話。基本情報より広く深い、IT技術者向けの国家試験。
【くわしく】
応用情報技術者試験は、IPAが実施する国家試験で、基本情報技術者試験の次の段階にあたります。基本的な知識に加えて、応用的な知識と技能を持ち、自分が進む専門の方向が見えてきた人を想定しています。
問われるのは技術だけではありません。システムを設計する、動かし続ける、プロジェクトを管理する、会社の戦略に合わせてITを選ぶなど、広い視点で状況を読み取って判断する力が求められます。
基本情報との違いは、「知っている・追える」から「状況を見て選べる・説明できる」へ進む点です。基本情報から順に受ける人もいますが、受験資格はなく、飛ばして受けることもできます。
【たとえるなら】
ITパスポートが「地図」、基本情報が「地図を読んで歩く練習」なら、応用情報は「複数のルートから目的に合う道を選んで案内する」段階です。
【こんな場面で】
会社でシステムの設計方針を決めるときや、トラブルの原因を整理して説明するときなど、広い知識を組み合わせて判断する場面で役立ちます。
【勘違い・つまずき】
応用情報は、基本情報の「難しい版」というだけではなく、管理や経営の視点も加わります。試験の区分や内容は見直されることがあるので、IPAの公式サイトで最新を確認しましょう。
【最初の学び方】
先に基本情報の範囲をひと通り理解してから、IPAの公式サイトで公開されている問題を読み、「なぜその答えか」を自分の言葉で説明してみましょう。
【つながり】
・基本情報 →（次の段階）→ 応用情報
・応用情報 →（出題する）→ ネットワーク
・応用情報 →（出題する）→ DB
・応用情報 →（出題する）→ 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（スライド332／資料の該当箇所：ご提供の用語解説（応用情報技術者））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WordやExcelなどの操作スキルを、実際の操作で証明するMicrosoftの資格。
【どこの話？】
層：活動・資格（技術の層ではなく人の活動）
場所：技術ではなく「資格（試験）」の話。Officeアプリの操作スキルを確かめる民間の資格。
【くわしく】
MOS（モス）は、Microsoft Office Specialistの略で、WordやExcel、PowerPointなどのOfficeアプリを使いこなせることを証明する資格です。Microsoftの認定資格で、IPAの国家試験とは別の系統です。
試験はアプリごとに分かれていて、受けたいアプリを選べます。試験では、アプリの画面を操作して、与えられた課題（表を作る、書式を整える、関数を入れるなど）をこなします。手を動かす力が見られます。
ITパスポートや基本情報技術者が「ITの知識や考え方」を確かめるのに対し、MOSは「特定のソフトを実際に使える」ことを確かめます。事務作業や、レポート・資料づくりで役立つ力です。
【たとえるなら】
ITパスポートが「ITの教科書の知識」を確かめる筆記なら、MOSは「道具を実際に使えるか」を確かめる実技のようなもの。別々の資格で、確かめる中身が違います。
【こんな場面で】
レポートや資料をWordやPowerPointで作る授業、部活の会計をExcelでまとめる、進学や就職で「PCスキル」として書く、といった場面で出てきます。
【勘違い・つまずき】
MOSは「Officeの知識」ではなく「操作」の資格で、アプリごとに試験が分かれ、版によっても分かれることがあります。受ける前に、自分が使うアプリと試験名を確かめましょう。
【最初の学び方】
自分のPCのWordやExcelで、「見出しを設定する」「SUM関数で合計を出す」など、1つの課題を調べながら操作してみましょう。模擬問題に取り組むのも有効です。
【つながり】
・MOS ⇄（ちがい）⇄ ITパスポート
・MOS ⇄（ちがい）⇄ 基本情報
・MOS →（操作を問う）→ Excel集計
・MOS →（使い方を問う）→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（スライド333／資料の該当箇所：ご提供の用語解説（MOS））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WordやExcelなどの操作スキルを、実際の操作で証明するMicrosoftの資格。
【どこの話？】
層：活動・資格（技術の層ではなく人の活動）
場所：技術ではなく「資格（試験）」の話。Officeアプリの操作スキルを確かめる民間の資格。
【くわしく】
MOS（モス）は、Microsoft Office Specialistの略で、WordやExcel、PowerPointなどのOfficeアプリを使いこなせることを証明する資格です。Microsoftの認定資格で、IPAの国家試験とは別の系統です。
試験はアプリごとに分かれていて、受けたいアプリを選べます。試験では、アプリの画面を操作して、与えられた課題（表を作る、書式を整える、関数を入れるなど）をこなします。手を動かす力が見られます。
ITパスポートや基本情報技術者が「ITの知識や考え方」を確かめるのに対し、MOSは「特定のソフトを実際に使える」ことを確かめます。事務作業や、レポート・資料づくりで役立つ力です。
【たとえるなら】
ITパスポートが「ITの教科書の知識」を確かめる筆記なら、MOSは「道具を実際に使えるか」を確かめる実技のようなもの。別々の資格で、確かめる中身が違います。
【こんな場面で】
レポートや資料をWordやPowerPointで作る授業、部活の会計をExcelでまとめる、進学や就職で「PCスキル」として書く、といった場面で出てきます。
【勘違い・つまずき】
MOSは「Officeの知識」ではなく「操作」の資格で、アプリごとに試験が分かれ、版によっても分かれることがあります。受ける前に、自分が使うアプリと試験名を確かめましょう。
【最初の学び方】
自分のPCのWordやExcelで、「見出しを設定する」「SUM関数で合計を出す」など、1つの課題を調べながら操作してみましょう。模擬問題に取り組むのも有効です。
【つながり】
・MOS ⇄（ちがい）⇄ ITパスポート
・MOS ⇄（ちがい）⇄ 基本情報
・MOS →（操作を問う）→ Excel集計
・MOS →（使い方を問う）→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（スライド334／資料の該当箇所：ご提供の用語解説（MOS））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WordやExcelなどの操作スキルを、実際の操作で証明するMicrosoftの資格。
【どこの話？】
層：活動・資格（技術の層ではなく人の活動）
場所：技術ではなく「資格（試験）」の話。Officeアプリの操作スキルを確かめる民間の資格。
【くわしく】
MOS（モス）は、Microsoft Office Specialistの略で、WordやExcel、PowerPointなどのOfficeアプリを使いこなせることを証明する資格です。Microsoftの認定資格で、IPAの国家試験とは別の系統です。
試験はアプリごとに分かれていて、受けたいアプリを選べます。試験では、アプリの画面を操作して、与えられた課題（表を作る、書式を整える、関数を入れるなど）をこなします。手を動かす力が見られます。
ITパスポートや基本情報技術者が「ITの知識や考え方」を確かめるのに対し、MOSは「特定のソフトを実際に使える」ことを確かめます。事務作業や、レポート・資料づくりで役立つ力です。
【たとえるなら】
ITパスポートが「ITの教科書の知識」を確かめる筆記なら、MOSは「道具を実際に使えるか」を確かめる実技のようなもの。別々の資格で、確かめる中身が違います。
【こんな場面で】
レポートや資料をWordやPowerPointで作る授業、部活の会計をExcelでまとめる、進学や就職で「PCスキル」として書く、といった場面で出てきます。
【勘違い・つまずき】
MOSは「Officeの知識」ではなく「操作」の資格で、アプリごとに試験が分かれ、版によっても分かれることがあります。受ける前に、自分が使うアプリと試験名を確かめましょう。
【最初の学び方】
自分のPCのWordやExcelで、「見出しを設定する」「SUM関数で合計を出す」など、1つの課題を調べながら操作してみましょう。模擬問題に取り組むのも有効です。
【つながり】
・MOS ⇄（ちがい）⇄ ITパスポート
・MOS ⇄（ちがい）⇄ 基本情報
・MOS →（操作を問う）→ Excel集計
・MOS →（使い方を問う）→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（スライド335／資料の該当箇所：ご提供の用語解説（MOS））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WordやExcelなどの操作スキルを、実際の操作で証明するMicrosoftの資格。
【どこの話？】
層：活動・資格（技術の層ではなく人の活動）
場所：技術ではなく「資格（試験）」の話。Officeアプリの操作スキルを確かめる民間の資格。
【くわしく】
MOS（モス）は、Microsoft Office Specialistの略で、WordやExcel、PowerPointなどのOfficeアプリを使いこなせることを証明する資格です。Microsoftの認定資格で、IPAの国家試験とは別の系統です。
試験はアプリごとに分かれていて、受けたいアプリを選べます。試験では、アプリの画面を操作して、与えられた課題（表を作る、書式を整える、関数を入れるなど）をこなします。手を動かす力が見られます。
ITパスポートや基本情報技術者が「ITの知識や考え方」を確かめるのに対し、MOSは「特定のソフトを実際に使える」ことを確かめます。事務作業や、レポート・資料づくりで役立つ力です。
【たとえるなら】
ITパスポートが「ITの教科書の知識」を確かめる筆記なら、MOSは「道具を実際に使えるか」を確かめる実技のようなもの。別々の資格で、確かめる中身が違います。
【こんな場面で】
レポートや資料をWordやPowerPointで作る授業、部活の会計をExcelでまとめる、進学や就職で「PCスキル」として書く、といった場面で出てきます。
【勘違い・つまずき】
MOSは「Officeの知識」ではなく「操作」の資格で、アプリごとに試験が分かれ、版によっても分かれることがあります。受ける前に、自分が使うアプリと試験名を確かめましょう。
【最初の学び方】
自分のPCのWordやExcelで、「見出しを設定する」「SUM関数で合計を出す」など、1つの課題を調べながら操作してみましょう。模擬問題に取り組むのも有効です。
【つながり】
・MOS ⇄（ちがい）⇄ ITパスポート
・MOS ⇄（ちがい）⇄ 基本情報
・MOS →（操作を問う）→ Excel集計
・MOS →（使い方を問う）→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（スライド336／資料の該当箇所：ご提供の用語解説（MOS））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3つの注意点は、貼り付けの記載のとおりです。
【処理の詳細】
・フォームの「基本情報処理技術者」「応用情報処理技術者」は、通常、正式名称の基本情報技術者試験・応用情報技術者試験を指していると考えられる。
・勉強中であることと、資格を取得していることは別なので、取得資格の欄では区別する。
・IPAの国家試験と、Officeの操作技能を測るMOSでは、対象となる能力が異なる。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（スライド337／資料の該当箇所：IT系の資格「質問24」）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マス目に数字を入れ、合計・平均・件数などを自動で計算する表計算ソフト。
【どこの話？】
層：アプリ（使う人・作る人が直接さわるソフト）
場所：PCの中で動くアプリ（ソフト）。表の形のデータをファイルとして保存して使う。
【くわしく】
Excelは、縦横のマス目（セル）に数字や文字を入れて表を作り、計算までできるソフトです。「=SUM(B2:B31)」のように式を書くと、B2からB31までの合計が自動で出ます。
数字を書き換えると、合計や平均もすぐ更新されます。関数（決まった計算を呼び出す部品）、並べ替え、絞り込み、ピボットテーブル（項目ごとに合計や件数をまとめる機能）で、たくさんのデータを集計できます。
ただしExcelは、ファイルを開いて使う道具です。大量のデータを多くの人が同時に出し入れするなら、DB（データベース）の出番です。小さな集計はExcel、大きな管理はDBと使い分けます。
【たとえるなら】
電卓つきの方眼ノート。マス目がセル、合計欄に書いた式が電卓の役目で、数字を直すと答えも自動で書き換わります。
【こんな場面で】
部活の月別の部費や、テストの点数表から、平均点・クラス別の人数・月ごとの合計を出すとき。アルバイトの売上表や会社の報告資料でも、よく使われます。
【勘違い・つまずき】
セルを結合した表や、途中に合計行を挟んだ表は、並べ替えや集計の邪魔になります。数字が「文字」として入っていると、SUMの合計にも入りません。
【最初の学び方】
1週間の勉強時間などを表にして、SUM関数とAVERAGE関数で合計と平均を出し、グラフにしてみましょう。
【つながり】
・Excel集計 →（集計を支える）→ データ分析
・Excel集計 ⇄（ちがい）⇄ DB
・MOS →（試験で問う）→ Excel集計
・Excel集計 →（アプリの一種）→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（スライド338／資料の該当箇所：ご提供の用語解説（Excelでの集計））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マス目に数字を入れ、合計・平均・件数などを自動で計算する表計算ソフト。
【どこの話？】
層：アプリ（使う人・作る人が直接さわるソフト）
場所：PCの中で動くアプリ（ソフト）。表の形のデータをファイルとして保存して使う。
【くわしく】
Excelは、縦横のマス目（セル）に数字や文字を入れて表を作り、計算までできるソフトです。「=SUM(B2:B31)」のように式を書くと、B2からB31までの合計が自動で出ます。
数字を書き換えると、合計や平均もすぐ更新されます。関数（決まった計算を呼び出す部品）、並べ替え、絞り込み、ピボットテーブル（項目ごとに合計や件数をまとめる機能）で、たくさんのデータを集計できます。
ただしExcelは、ファイルを開いて使う道具です。大量のデータを多くの人が同時に出し入れするなら、DB（データベース）の出番です。小さな集計はExcel、大きな管理はDBと使い分けます。
【たとえるなら】
電卓つきの方眼ノート。マス目がセル、合計欄に書いた式が電卓の役目で、数字を直すと答えも自動で書き換わります。
【こんな場面で】
部活の月別の部費や、テストの点数表から、平均点・クラス別の人数・月ごとの合計を出すとき。アルバイトの売上表や会社の報告資料でも、よく使われます。
【勘違い・つまずき】
セルを結合した表や、途中に合計行を挟んだ表は、並べ替えや集計の邪魔になります。数字が「文字」として入っていると、SUMの合計にも入りません。
【最初の学び方】
1週間の勉強時間などを表にして、SUM関数とAVERAGE関数で合計と平均を出し、グラフにしてみましょう。
【つながり】
・Excel集計 →（集計を支える）→ データ分析
・Excel集計 ⇄（ちがい）⇄ DB
・MOS →（試験で問う）→ Excel集計
・Excel集計 →（アプリの一種）→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（スライド339／資料の該当箇所：ご提供の用語解説（Excelでの集計））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マス目に数字を入れ、合計・平均・件数などを自動で計算する表計算ソフト。
【どこの話？】
層：アプリ（使う人・作る人が直接さわるソフト）
場所：PCの中で動くアプリ（ソフト）。表の形のデータをファイルとして保存して使う。
【くわしく】
Excelは、縦横のマス目（セル）に数字や文字を入れて表を作り、計算までできるソフトです。「=SUM(B2:B31)」のように式を書くと、B2からB31までの合計が自動で出ます。
数字を書き換えると、合計や平均もすぐ更新されます。関数（決まった計算を呼び出す部品）、並べ替え、絞り込み、ピボットテーブル（項目ごとに合計や件数をまとめる機能）で、たくさんのデータを集計できます。
ただしExcelは、ファイルを開いて使う道具です。大量のデータを多くの人が同時に出し入れするなら、DB（データベース）の出番です。小さな集計はExcel、大きな管理はDBと使い分けます。
【たとえるなら】
電卓つきの方眼ノート。マス目がセル、合計欄に書いた式が電卓の役目で、数字を直すと答えも自動で書き換わります。
【こんな場面で】
部活の月別の部費や、テストの点数表から、平均点・クラス別の人数・月ごとの合計を出すとき。アルバイトの売上表や会社の報告資料でも、よく使われます。
【勘違い・つまずき】
セルを結合した表や、途中に合計行を挟んだ表は、並べ替えや集計の邪魔になります。数字が「文字」として入っていると、SUMの合計にも入りません。
【最初の学び方】
1週間の勉強時間などを表にして、SUM関数とAVERAGE関数で合計と平均を出し、グラフにしてみましょう。
【つながり】
・Excel集計 →（集計を支える）→ データ分析
・Excel集計 ⇄（ちがい）⇄ DB
・MOS →（試験で問う）→ Excel集計
・Excel集計 →（アプリの一種）→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（スライド340／資料の該当箇所：ご提供の用語解説（Excelでの集計））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Webページの見出しや段落などの「構造」を、タグで書き表す言語。
【どこの話？】
層：アプリ（使う人・作る人が直接さわるソフト）
場所：Webサーバーから届き、ブラウザーで表示されるページ（.htmlファイル）の中身。
【くわしく】
HTMLは、文章に「ここは見出し」「ここは段落」「ここは画像」という印（タグ）を付けて、Webページの中身の構造を表す言語です。ブラウザー（Webを見るソフト）が、この印を読み取ってページを表示します。
書き方の例です。&lt;h1&gt;自己紹介&lt;/h1&gt; と書くと「自己紹介」が一番大きな見出しになり、&lt;p&gt;はじめまして。&lt;/p&gt; と書くと段落になります。HTMLは計算をするプログラミング言語ではなく、中身に意味の印を付ける「マークアップ言語」です。
色や文字の大きさなど「見た目」はHTMLでは決めず、別の言語CSSに任せるのが基本です。中身（HTML）と見た目（CSS）を分けておけば、デザインを変えても文章を書き直さずに済みます。
【たとえるなら】
プリントに「ここはタイトル」「ここは本文」「ここは写真」と赤ペンで役割を書き込む作業。色や飾りは、別の担当（CSS）が仕上げます。
【こんな場面で】
文化祭のクラス紹介ページや自己紹介ページを作るとき。ブラウザーで右クリックして「ページのソースを表示」を選ぶと、ふだん見ているサイトのHTMLも読めます。
【勘違い・つまずき】
HTMLはプログラミング言語ではなく、中身に意味を付ける言語です。文字を大きくしたいだけで見出しタグを使うと、意味がおかしくなります。大きさはCSSで決めます。
【最初の学び方】
メモ帳などに自己紹介を書いて「index.html」で保存し、ブラウザーで開きましょう。見出し（h1）や段落（p）のタグを付けて、表示の変化を見ます。
【つながり】
・CSS →（見た目を整える）→ HTML
・Webサーバー →（配信する）→ HTML
・ブラウザー →（読み取る）→ HTML
・Git →（履歴を残す）→ HTML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（スライド341／資料の該当箇所：ご提供の用語解説（HTML））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Webページの見出しや段落などの「構造」を、タグで書き表す言語。
【どこの話？】
層：アプリ（使う人・作る人が直接さわるソフト）
場所：Webサーバーから届き、ブラウザーで表示されるページ（.htmlファイル）の中身。
【くわしく】
HTMLは、文章に「ここは見出し」「ここは段落」「ここは画像」という印（タグ）を付けて、Webページの中身の構造を表す言語です。ブラウザー（Webを見るソフト）が、この印を読み取ってページを表示します。
書き方の例です。&lt;h1&gt;自己紹介&lt;/h1&gt; と書くと「自己紹介」が一番大きな見出しになり、&lt;p&gt;はじめまして。&lt;/p&gt; と書くと段落になります。HTMLは計算をするプログラミング言語ではなく、中身に意味の印を付ける「マークアップ言語」です。
色や文字の大きさなど「見た目」はHTMLでは決めず、別の言語CSSに任せるのが基本です。中身（HTML）と見た目（CSS）を分けておけば、デザインを変えても文章を書き直さずに済みます。
【たとえるなら】
プリントに「ここはタイトル」「ここは本文」「ここは写真」と赤ペンで役割を書き込む作業。色や飾りは、別の担当（CSS）が仕上げます。
【こんな場面で】
文化祭のクラス紹介ページや自己紹介ページを作るとき。ブラウザーで右クリックして「ページのソースを表示」を選ぶと、ふだん見ているサイトのHTMLも読めます。
【勘違い・つまずき】
HTMLはプログラミング言語ではなく、中身に意味を付ける言語です。文字を大きくしたいだけで見出しタグを使うと、意味がおかしくなります。大きさはCSSで決めます。
【最初の学び方】
メモ帳などに自己紹介を書いて「index.html」で保存し、ブラウザーで開きましょう。見出し（h1）や段落（p）のタグを付けて、表示の変化を見ます。
【つながり】
・CSS →（見た目を整える）→ HTML
・Webサーバー →（配信する）→ HTML
・ブラウザー →（読み取る）→ HTML
・Git →（履歴を残す）→ HTML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（スライド342／資料の該当箇所：ご提供の用語解説（HTML））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Webページの見出しや段落などの「構造」を、タグで書き表す言語。
【どこの話？】
層：アプリ（使う人・作る人が直接さわるソフト）
場所：Webサーバーから届き、ブラウザーで表示されるページ（.htmlファイル）の中身。
【くわしく】
HTMLは、文章に「ここは見出し」「ここは段落」「ここは画像」という印（タグ）を付けて、Webページの中身の構造を表す言語です。ブラウザー（Webを見るソフト）が、この印を読み取ってページを表示します。
書き方の例です。&lt;h1&gt;自己紹介&lt;/h1&gt; と書くと「自己紹介」が一番大きな見出しになり、&lt;p&gt;はじめまして。&lt;/p&gt; と書くと段落になります。HTMLは計算をするプログラミング言語ではなく、中身に意味の印を付ける「マークアップ言語」です。
色や文字の大きさなど「見た目」はHTMLでは決めず、別の言語CSSに任せるのが基本です。中身（HTML）と見た目（CSS）を分けておけば、デザインを変えても文章を書き直さずに済みます。
【たとえるなら】
プリントに「ここはタイトル」「ここは本文」「ここは写真」と赤ペンで役割を書き込む作業。色や飾りは、別の担当（CSS）が仕上げます。
【こんな場面で】
文化祭のクラス紹介ページや自己紹介ページを作るとき。ブラウザーで右クリックして「ページのソースを表示」を選ぶと、ふだん見ているサイトのHTMLも読めます。
【勘違い・つまずき】
HTMLはプログラミング言語ではなく、中身に意味を付ける言語です。文字を大きくしたいだけで見出しタグを使うと、意味がおかしくなります。大きさはCSSで決めます。
【最初の学び方】
メモ帳などに自己紹介を書いて「index.html」で保存し、ブラウザーで開きましょう。見出し（h1）や段落（p）のタグを付けて、表示の変化を見ます。
【つながり】
・CSS →（見た目を整える）→ HTML
・Webサーバー →（配信する）→ HTML
・ブラウザー →（読み取る）→ HTML
・Git →（履歴を残す）→ HTML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（スライド343／資料の該当箇所：ご提供の用語解説（HTML））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HTMLで作ったWebページに、色・文字の大きさ・配置などの見た目を指定する言語。
【どこの話？】
層：アプリ（使う人・作る人が直接さわるソフト）
場所：Webページの見た目を書いた記述やファイル。HTMLと一緒にブラウザーへ届く。
【くわしく】
CSSは、見た目を指定する言語です。h1 { color: red; } は「見出し（h1）の文字を赤に」、p { font-size: 18px; } は「段落（p）の文字を18px（画面上の点の単位）の大きさに」という指定です。「どの部分を」「どう見せるか」を、{ } の中に書きます。
ページの中身を書くHTMLとは別に、見た目だけをCSSに書くのが基本です。同じHTMLでも、CSSを入れ替えればまったく違うデザインになります。複数のページで同じCSSを使えば、見た目を一括で揃えられます。
画面の幅に合わせて並べ方を変える（スマホは縦1列、PCは横並び、など）のもCSSの役目です。同じ部分に指定が重なったときは、優先順位（カスケード）で結果が決まります。
【たとえるなら】
制服で例えると、HTMLは「シャツ・スカートという中身（構造）」で、CSSは「色・リボン・着こなし」の指定です。着こなしを変えても、服そのものは同じです。
【こんな場面で】
サイトの文字色や背景色を変える、ボタンの角を丸くする、スマホでは1列に並べる、といった場面です。F12キーの開発者ツールなら、その場でCSSを書き換えて変化を試せます。
【勘違い・つまずき】
指定が重なると、書く順番や指定の詳しさで優先が決まるため、書いたのに反映されないことがあります。そんなときはF12の開発者ツールで原因を確かめます。
【最初の学び方】
HTMLは変えずにCSSだけを書き換えて、見出しの色・背景色・文字の大きさを変えてみましょう。HTMLとCSSの役割の違いが実感できます。
【つながり】
・CSS →（見た目を整える）→ HTML
・Webサーバー →（配信する）→ CSS
・ブラウザー →（読み取る）→ CSS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（スライド344／資料の該当箇所：ご提供の用語解説（CSS））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HTMLで作ったWebページに、色・文字の大きさ・配置などの見た目を指定する言語。
【どこの話？】
層：アプリ（使う人・作る人が直接さわるソフト）
場所：Webページの見た目を書いた記述やファイル。HTMLと一緒にブラウザーへ届く。
【くわしく】
CSSは、見た目を指定する言語です。h1 { color: red; } は「見出し（h1）の文字を赤に」、p { font-size: 18px; } は「段落（p）の文字を18px（画面上の点の単位）の大きさに」という指定です。「どの部分を」「どう見せるか」を、{ } の中に書きます。
ページの中身を書くHTMLとは別に、見た目だけをCSSに書くのが基本です。同じHTMLでも、CSSを入れ替えればまったく違うデザインになります。複数のページで同じCSSを使えば、見た目を一括で揃えられます。
画面の幅に合わせて並べ方を変える（スマホは縦1列、PCは横並び、など）のもCSSの役目です。同じ部分に指定が重なったときは、優先順位（カスケード）で結果が決まります。
【たとえるなら】
制服で例えると、HTMLは「シャツ・スカートという中身（構造）」で、CSSは「色・リボン・着こなし」の指定です。着こなしを変えても、服そのものは同じです。
【こんな場面で】
サイトの文字色や背景色を変える、ボタンの角を丸くする、スマホでは1列に並べる、といった場面です。F12キーの開発者ツールなら、その場でCSSを書き換えて変化を試せます。
【勘違い・つまずき】
指定が重なると、書く順番や指定の詳しさで優先が決まるため、書いたのに反映されないことがあります。そんなときはF12の開発者ツールで原因を確かめます。
【最初の学び方】
HTMLは変えずにCSSだけを書き換えて、見出しの色・背景色・文字の大きさを変えてみましょう。HTMLとCSSの役割の違いが実感できます。
【つながり】
・CSS →（見た目を整える）→ HTML
・Webサーバー →（配信する）→ CSS
・ブラウザー →（読み取る）→ CSS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（スライド345／資料の該当箇所：ご提供の用語解説（CSS））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HTMLで作ったWebページに、色・文字の大きさ・配置などの見た目を指定する言語。
【どこの話？】
層：アプリ（使う人・作る人が直接さわるソフト）
場所：Webページの見た目を書いた記述やファイル。HTMLと一緒にブラウザーへ届く。
【くわしく】
CSSは、見た目を指定する言語です。h1 { color: red; } は「見出し（h1）の文字を赤に」、p { font-size: 18px; } は「段落（p）の文字を18px（画面上の点の単位）の大きさに」という指定です。「どの部分を」「どう見せるか」を、{ } の中に書きます。
ページの中身を書くHTMLとは別に、見た目だけをCSSに書くのが基本です。同じHTMLでも、CSSを入れ替えればまったく違うデザインになります。複数のページで同じCSSを使えば、見た目を一括で揃えられます。
画面の幅に合わせて並べ方を変える（スマホは縦1列、PCは横並び、など）のもCSSの役目です。同じ部分に指定が重なったときは、優先順位（カスケード）で結果が決まります。
【たとえるなら】
制服で例えると、HTMLは「シャツ・スカートという中身（構造）」で、CSSは「色・リボン・着こなし」の指定です。着こなしを変えても、服そのものは同じです。
【こんな場面で】
サイトの文字色や背景色を変える、ボタンの角を丸くする、スマホでは1列に並べる、といった場面です。F12キーの開発者ツールなら、その場でCSSを書き換えて変化を試せます。
【勘違い・つまずき】
指定が重なると、書く順番や指定の詳しさで優先が決まるため、書いたのに反映されないことがあります。そんなときはF12の開発者ツールで原因を確かめます。
【最初の学び方】
HTMLは変えずにCSSだけを書き換えて、見出しの色・背景色・文字の大きさを変えてみましょう。HTMLとCSSの役割の違いが実感できます。
【つながり】
・CSS →（見た目を整える）→ HTML
・Webサーバー →（配信する）→ CSS
・ブラウザー →（読み取る）→ CSS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（スライド346／資料の該当箇所：ご提供の用語解説（CSS））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HTMLで作ったWebページに、色・文字の大きさ・配置などの見た目を指定する言語。
【どこの話？】
層：アプリ（使う人・作る人が直接さわるソフト）
場所：Webページの見た目を書いた記述やファイル。HTMLと一緒にブラウザーへ届く。
【くわしく】
CSSは、見た目を指定する言語です。h1 { color: red; } は「見出し（h1）の文字を赤に」、p { font-size: 18px; } は「段落（p）の文字を18px（画面上の点の単位）の大きさに」という指定です。「どの部分を」「どう見せるか」を、{ } の中に書きます。
ページの中身を書くHTMLとは別に、見た目だけをCSSに書くのが基本です。同じHTMLでも、CSSを入れ替えればまったく違うデザインになります。複数のページで同じCSSを使えば、見た目を一括で揃えられます。
画面の幅に合わせて並べ方を変える（スマホは縦1列、PCは横並び、など）のもCSSの役目です。同じ部分に指定が重なったときは、優先順位（カスケード）で結果が決まります。
【たとえるなら】
制服で例えると、HTMLは「シャツ・スカートという中身（構造）」で、CSSは「色・リボン・着こなし」の指定です。着こなしを変えても、服そのものは同じです。
【こんな場面で】
サイトの文字色や背景色を変える、ボタンの角を丸くする、スマホでは1列に並べる、といった場面です。F12キーの開発者ツールなら、その場でCSSを書き換えて変化を試せます。
【勘違い・つまずき】
指定が重なると、書く順番や指定の詳しさで優先が決まるため、書いたのに反映されないことがあります。そんなときはF12の開発者ツールで原因を確かめます。
【最初の学び方】
HTMLは変えずにCSSだけを書き換えて、見出しの色・背景色・文字の大きさを変えてみましょう。HTMLとCSSの役割の違いが実感できます。
【つながり】
・CSS →（見た目を整える）→ HTML
・Webサーバー →（配信する）→ CSS
・ブラウザー →（読み取る）→ CSS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（スライド347／資料の該当箇所：ご提供の用語解説（CSS））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ファイルの変更履歴を自分のPC上に記録し、過去の状態に戻せる仕組み。
【どこの話？】
層：アプリ（使う人・作る人が直接さわるソフト）
場所：自分のPCの中で動くソフトと、その履歴の保管庫（プロジェクトフォルダー内の.git）。
【くわしく】
Gitは、プログラムや文書の「いつ・何を・どう変えたか」を記録する、バージョン管理（変更履歴の管理）の仕組みです。区切りのよいところでコミット（その時点の状態の記録）を作ると、あとで過去の状態を見たり戻したりできます。
履歴の保管庫（リポジトリ）は自分のPCの中にあるので、インターネットがなくても使えます。Gitそのものは自分のPCで動くソフトで、ネットで共有する役目は、GitHubのような別のサービスが担当します。
ブランチ（枝分かれ）を作れば、本流を壊さずに新しい機能を試せます。うまくいけば本流に取り込めます。操作は、記録する変更を選ぶ「git add」、記録する「git commit」などのコマンドで行います。
【たとえるなら】
ゲームのセーブ機能。節目ごとにセーブ（コミット）して名前（メッセージ）を付けておけば、失敗しても好きな地点に戻れます。セーブ先はゲーム機本体（自分のPC）です。
【こんな場面で】
自由研究のプログラムを直していて「さっき動いていた状態に戻したい」とき、コミットしておけばGitで戻せます。何人もが同じプログラムを直す開発現場でも、多く使われています。
【勘違い・つまずき】
Gitは自分のPC上の仕組みで、GitHubとは別物です。履歴もPCの中にあるため、PCが壊れれば消えます。バックアップや、GitHubなどへの送信が別に必要です。
【最初の学び方】
Gitを入れ、練習用フォルダーで git init、ファイル作成、git add、git commit、git log と進め、履歴が増える様子を見ましょう。
【つながり】
・Git →（送信する）→ GitHub
・Git →（履歴を保存）→ ストレージ
・Git →（変更を記録）→ ソースコード
・Git ⇄（ちがい）⇄ バックアップ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（スライド348／資料の該当箇所：ご提供の用語解説（Git））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ファイルの変更履歴を自分のPC上に記録し、過去の状態に戻せる仕組み。
【どこの話？】
層：アプリ（使う人・作る人が直接さわるソフト）
場所：自分のPCの中で動くソフトと、その履歴の保管庫（プロジェクトフォルダー内の.git）。
【くわしく】
Gitは、プログラムや文書の「いつ・何を・どう変えたか」を記録する、バージョン管理（変更履歴の管理）の仕組みです。区切りのよいところでコミット（その時点の状態の記録）を作ると、あとで過去の状態を見たり戻したりできます。
履歴の保管庫（リポジトリ）は自分のPCの中にあるので、インターネットがなくても使えます。Gitそのものは自分のPCで動くソフトで、ネットで共有する役目は、GitHubのような別のサービスが担当します。
ブランチ（枝分かれ）を作れば、本流を壊さずに新しい機能を試せます。うまくいけば本流に取り込めます。操作は、記録する変更を選ぶ「git add」、記録する「git commit」などのコマンドで行います。
【たとえるなら】
ゲームのセーブ機能。節目ごとにセーブ（コミット）して名前（メッセージ）を付けておけば、失敗しても好きな地点に戻れます。セーブ先はゲーム機本体（自分のPC）です。
【こんな場面で】
自由研究のプログラムを直していて「さっき動いていた状態に戻したい」とき、コミットしておけばGitで戻せます。何人もが同じプログラムを直す開発現場でも、多く使われています。
【勘違い・つまずき】
Gitは自分のPC上の仕組みで、GitHubとは別物です。履歴もPCの中にあるため、PCが壊れれば消えます。バックアップや、GitHubなどへの送信が別に必要です。
【最初の学び方】
Gitを入れ、練習用フォルダーで git init、ファイル作成、git add、git commit、git log と進め、履歴が増える様子を見ましょう。
【つながり】
・Git →（送信する）→ GitHub
・Git →（履歴を保存）→ ストレージ
・Git →（変更を記録）→ ソースコード
・Git ⇄（ちがい）⇄ バックアップ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（スライド349／資料の該当箇所：ご提供の用語解説（Git））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ファイルの変更履歴を自分のPC上に記録し、過去の状態に戻せる仕組み。
【どこの話？】
層：アプリ（使う人・作る人が直接さわるソフト）
場所：自分のPCの中で動くソフトと、その履歴の保管庫（プロジェクトフォルダー内の.git）。
【くわしく】
Gitは、プログラムや文書の「いつ・何を・どう変えたか」を記録する、バージョン管理（変更履歴の管理）の仕組みです。区切りのよいところでコミット（その時点の状態の記録）を作ると、あとで過去の状態を見たり戻したりできます。
履歴の保管庫（リポジトリ）は自分のPCの中にあるので、インターネットがなくても使えます。Gitそのものは自分のPCで動くソフトで、ネットで共有する役目は、GitHubのような別のサービスが担当します。
ブランチ（枝分かれ）を作れば、本流を壊さずに新しい機能を試せます。うまくいけば本流に取り込めます。操作は、記録する変更を選ぶ「git add」、記録する「git commit」などのコマンドで行います。
【たとえるなら】
ゲームのセーブ機能。節目ごとにセーブ（コミット）して名前（メッセージ）を付けておけば、失敗しても好きな地点に戻れます。セーブ先はゲーム機本体（自分のPC）です。
【こんな場面で】
自由研究のプログラムを直していて「さっき動いていた状態に戻したい」とき、コミットしておけばGitで戻せます。何人もが同じプログラムを直す開発現場でも、多く使われています。
【勘違い・つまずき】
Gitは自分のPC上の仕組みで、GitHubとは別物です。履歴もPCの中にあるため、PCが壊れれば消えます。バックアップや、GitHubなどへの送信が別に必要です。
【最初の学び方】
Gitを入れ、練習用フォルダーで git init、ファイル作成、git add、git commit、git log と進め、履歴が増える様子を見ましょう。
【つながり】
・Git →（送信する）→ GitHub
・Git →（履歴を保存）→ ストレージ
・Git →（変更を記録）→ ソースコード
・Git ⇄（ちがい）⇄ バックアップ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（スライド350／資料の該当箇所：ご提供の用語解説（Git））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ファイルの変更履歴を自分のPC上に記録し、過去の状態に戻せる仕組み。
【どこの話？】
層：アプリ（使う人・作る人が直接さわるソフト）
場所：自分のPCの中で動くソフトと、その履歴の保管庫（プロジェクトフォルダー内の.git）。
【くわしく】
Gitは、プログラムや文書の「いつ・何を・どう変えたか」を記録する、バージョン管理（変更履歴の管理）の仕組みです。区切りのよいところでコミット（その時点の状態の記録）を作ると、あとで過去の状態を見たり戻したりできます。
履歴の保管庫（リポジトリ）は自分のPCの中にあるので、インターネットがなくても使えます。Gitそのものは自分のPCで動くソフトで、ネットで共有する役目は、GitHubのような別のサービスが担当します。
ブランチ（枝分かれ）を作れば、本流を壊さずに新しい機能を試せます。うまくいけば本流に取り込めます。操作は、記録する変更を選ぶ「git add」、記録する「git commit」などのコマンドで行います。
【たとえるなら】
ゲームのセーブ機能。節目ごとにセーブ（コミット）して名前（メッセージ）を付けておけば、失敗しても好きな地点に戻れます。セーブ先はゲーム機本体（自分のPC）です。
【こんな場面で】
自由研究のプログラムを直していて「さっき動いていた状態に戻したい」とき、コミットしておけばGitで戻せます。何人もが同じプログラムを直す開発現場でも、多く使われています。
【勘違い・つまずき】
Gitは自分のPC上の仕組みで、GitHubとは別物です。履歴もPCの中にあるため、PCが壊れれば消えます。バックアップや、GitHubなどへの送信が別に必要です。
【最初の学び方】
Gitを入れ、練習用フォルダーで git init、ファイル作成、git add、git commit、git log と進め、履歴が増える様子を見ましょう。
【つながり】
・Git →（送信する）→ GitHub
・Git →（履歴を保存）→ ストレージ
・Git →（変更を記録）→ ソースコード
・Git ⇄（ちがい）⇄ バックアップ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（スライド351／資料の該当箇所：ご提供の用語解説（Git））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Gitの履歴をインターネット上に置いて、公開・共有・共同作業ができるサービス。
【どこの話？】
層：アプリ・置き場所（使う人・作る人が直接さわるソフト）
場所：インターネットの向こう側で動くWebサービス（クラウド）。ブラウザーとGitの両方から使う。
【くわしく】
GitHubは、Gitで記録した履歴を、インターネット上のサーバーに預けて共有するWebサービスです。自分のPCの中にあるGitに対して、GitHubは「ネット上の置き場所」です。名前は似ていますが、別のものです。
手元の履歴を送る（push）、ネット上の最新を取り込む（pull）、公開された内容を丸ごとコピーする（clone）といった操作で、複数人が同じプロジェクトを進められます。
変更の取り込みをお願いする「プルリクエスト」や、作業・不具合を管理する「イシュー」の機能もあります。リポジトリは、公開か非公開かを選べます。
【たとえるなら】
ゲーム機本体のセーブ（Git）を、ネット上の共有ロッカー（GitHub）にもアップするイメージ。友達にも見せられ、みんなで同じ作品の続きを作れます。
【こんな場面で】
友達とアプリを作るとき、お互いの変更をGitHubに集めます。ほかにも、作品を公開する、オープンソース（誰でも使えるよう公開されたソフト）のコードを読む、といった場面で使います。
【勘違い・つまずき】
Gitが記録の仕組み、GitHubがネット上の共有サービスで、別物です。公開リポジトリは誰でも見られます。パスワードを入れて公開すると、後で消しても履歴に残ります。
【最初の学び方】
練習用のリポジトリを作り、個人情報を含まない小さなファイルを置いて、ブラウザー上で編集し、履歴（コミット）が残る様子を見てみましょう。
【つながり】
・Git →（土台になる）→ GitHub
・GitHub →（一例）→ クラウド
・GitHub →（コードを渡す）→ デプロイ
・GitHub ⇄（共同作業）⇄ 共同開発者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（スライド352／資料の該当箇所：ご提供の用語解説（GitHub））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Gitの履歴をインターネット上に置いて、公開・共有・共同作業ができるサービス。
【どこの話？】
層：アプリ・置き場所（使う人・作る人が直接さわるソフト）
場所：インターネットの向こう側で動くWebサービス（クラウド）。ブラウザーとGitの両方から使う。
【くわしく】
GitHubは、Gitで記録した履歴を、インターネット上のサーバーに預けて共有するWebサービスです。自分のPCの中にあるGitに対して、GitHubは「ネット上の置き場所」です。名前は似ていますが、別のものです。
手元の履歴を送る（push）、ネット上の最新を取り込む（pull）、公開された内容を丸ごとコピーする（clone）といった操作で、複数人が同じプロジェクトを進められます。
変更の取り込みをお願いする「プルリクエスト」や、作業・不具合を管理する「イシュー」の機能もあります。リポジトリは、公開か非公開かを選べます。
【たとえるなら】
ゲーム機本体のセーブ（Git）を、ネット上の共有ロッカー（GitHub）にもアップするイメージ。友達にも見せられ、みんなで同じ作品の続きを作れます。
【こんな場面で】
友達とアプリを作るとき、お互いの変更をGitHubに集めます。ほかにも、作品を公開する、オープンソース（誰でも使えるよう公開されたソフト）のコードを読む、といった場面で使います。
【勘違い・つまずき】
Gitが記録の仕組み、GitHubがネット上の共有サービスで、別物です。公開リポジトリは誰でも見られます。パスワードを入れて公開すると、後で消しても履歴に残ります。
【最初の学び方】
練習用のリポジトリを作り、個人情報を含まない小さなファイルを置いて、ブラウザー上で編集し、履歴（コミット）が残る様子を見てみましょう。
【つながり】
・Git →（土台になる）→ GitHub
・GitHub →（一例）→ クラウド
・GitHub →（コードを渡す）→ デプロイ
・GitHub ⇄（共同作業）⇄ 共同開発者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（スライド353／資料の該当箇所：ご提供の用語解説（GitHub））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Gitの履歴をインターネット上に置いて、公開・共有・共同作業ができるサービス。
【どこの話？】
層：アプリ・置き場所（使う人・作る人が直接さわるソフト）
場所：インターネットの向こう側で動くWebサービス（クラウド）。ブラウザーとGitの両方から使う。
【くわしく】
GitHubは、Gitで記録した履歴を、インターネット上のサーバーに預けて共有するWebサービスです。自分のPCの中にあるGitに対して、GitHubは「ネット上の置き場所」です。名前は似ていますが、別のものです。
手元の履歴を送る（push）、ネット上の最新を取り込む（pull）、公開された内容を丸ごとコピーする（clone）といった操作で、複数人が同じプロジェクトを進められます。
変更の取り込みをお願いする「プルリクエスト」や、作業・不具合を管理する「イシュー」の機能もあります。リポジトリは、公開か非公開かを選べます。
【たとえるなら】
ゲーム機本体のセーブ（Git）を、ネット上の共有ロッカー（GitHub）にもアップするイメージ。友達にも見せられ、みんなで同じ作品の続きを作れます。
【こんな場面で】
友達とアプリを作るとき、お互いの変更をGitHubに集めます。ほかにも、作品を公開する、オープンソース（誰でも使えるよう公開されたソフト）のコードを読む、といった場面で使います。
【勘違い・つまずき】
Gitが記録の仕組み、GitHubがネット上の共有サービスで、別物です。公開リポジトリは誰でも見られます。パスワードを入れて公開すると、後で消しても履歴に残ります。
【最初の学び方】
練習用のリポジトリを作り、個人情報を含まない小さなファイルを置いて、ブラウザー上で編集し、履歴（コミット）が残る様子を見てみましょう。
【つながり】
・Git →（土台になる）→ GitHub
・GitHub →（一例）→ クラウド
・GitHub →（コードを渡す）→ デプロイ
・GitHub ⇄（共同作業）⇄ 共同開発者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（スライド354／資料の該当箇所：ご提供の用語解説（GitHub））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データを整理・集計し、傾向や関係を見つけて、判断の材料にすること。
【どこの話？】
層：アプリ（使う人・作る人が直接さわるソフト）
場所：ExcelやPythonなどのアプリでデータを処理して結論を出す、データ活用の作業。
【くわしく】
データ分析は、集めたデータから「何が起きているか」「なぜか」を調べる作業です。ふつう、①知りたいことを決める、②データを集める、③使える形に整える、④集計・グラフ化する、⑤結果から考える、の順に進めます。
③の「整える」作業（欠けた値や入力ミス、表記のゆれの修正）は、意外に手間がかかります。④は平均や件数などの要約と、グラフで全体を見る作業で、ExcelやPython、SQLなどを使います。
グラフを作っただけでは分析になりません。「だから何か」「次に何をするか」を言葉にして、はじめて判断に使えます。機械学習は、データから予測までを自動で行う方法で、分析と深く関わります。
【たとえるなら】
探偵の捜査。現場のばらばらな証拠（データ）を集めて整理し、共通点を見つけて「犯人はこうだ」と説明できる形（考察）にまとめます。
【こんな場面で】
文化祭のアンケートから学年別の人気企画を比べる、部活の記録から勝てた試合の共通点を探す、お店が曜日別の売上から仕入れる量を決める、といった場面です。
【勘違い・つまずき】
「一緒に増減する」ことと「原因」は別です。アイスの売上とプールの客が同じ日に増えても、アイスが客を増やしたのではなく、暑さが両方の原因です。
【最初の学び方】
自分の1週間の睡眠時間と勉強時間を表にし、Excelで平均とグラフを出して、気づいたことを一文で書いてみましょう。
【つながり】
・Excel集計 →（集計を支える）→ データ分析
・SQL →（抽出する）→ データ分析
・ログ →（材料になる）→ データ分析
・機械学習 →（手法の一つ）→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（スライド355／資料の該当箇所：ご提供の用語解説（データ分析））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データを整理・集計し、傾向や関係を見つけて、判断の材料にすること。
【どこの話？】
層：アプリ（使う人・作る人が直接さわるソフト）
場所：ExcelやPythonなどのアプリでデータを処理して結論を出す、データ活用の作業。
【くわしく】
データ分析は、集めたデータから「何が起きているか」「なぜか」を調べる作業です。ふつう、①知りたいことを決める、②データを集める、③使える形に整える、④集計・グラフ化する、⑤結果から考える、の順に進めます。
③の「整える」作業（欠けた値や入力ミス、表記のゆれの修正）は、意外に手間がかかります。④は平均や件数などの要約と、グラフで全体を見る作業で、ExcelやPython、SQLなどを使います。
グラフを作っただけでは分析になりません。「だから何か」「次に何をするか」を言葉にして、はじめて判断に使えます。機械学習は、データから予測までを自動で行う方法で、分析と深く関わります。
【たとえるなら】
探偵の捜査。現場のばらばらな証拠（データ）を集めて整理し、共通点を見つけて「犯人はこうだ」と説明できる形（考察）にまとめます。
【こんな場面で】
文化祭のアンケートから学年別の人気企画を比べる、部活の記録から勝てた試合の共通点を探す、お店が曜日別の売上から仕入れる量を決める、といった場面です。
【勘違い・つまずき】
「一緒に増減する」ことと「原因」は別です。アイスの売上とプールの客が同じ日に増えても、アイスが客を増やしたのではなく、暑さが両方の原因です。
【最初の学び方】
自分の1週間の睡眠時間と勉強時間を表にし、Excelで平均とグラフを出して、気づいたことを一文で書いてみましょう。
【つながり】
・Excel集計 →（集計を支える）→ データ分析
・SQL →（抽出する）→ データ分析
・ログ →（材料になる）→ データ分析
・機械学習 →（手法の一つ）→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（スライド356／資料の該当箇所：ご提供の用語解説（データ分析））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データを整理・集計し、傾向や関係を見つけて、判断の材料にすること。
【どこの話？】
層：アプリ（使う人・作る人が直接さわるソフト）
場所：ExcelやPythonなどのアプリでデータを処理して結論を出す、データ活用の作業。
【くわしく】
データ分析は、集めたデータから「何が起きているか」「なぜか」を調べる作業です。ふつう、①知りたいことを決める、②データを集める、③使える形に整える、④集計・グラフ化する、⑤結果から考える、の順に進めます。
③の「整える」作業（欠けた値や入力ミス、表記のゆれの修正）は、意外に手間がかかります。④は平均や件数などの要約と、グラフで全体を見る作業で、ExcelやPython、SQLなどを使います。
グラフを作っただけでは分析になりません。「だから何か」「次に何をするか」を言葉にして、はじめて判断に使えます。機械学習は、データから予測までを自動で行う方法で、分析と深く関わります。
【たとえるなら】
探偵の捜査。現場のばらばらな証拠（データ）を集めて整理し、共通点を見つけて「犯人はこうだ」と説明できる形（考察）にまとめます。
【こんな場面で】
文化祭のアンケートから学年別の人気企画を比べる、部活の記録から勝てた試合の共通点を探す、お店が曜日別の売上から仕入れる量を決める、といった場面です。
【勘違い・つまずき】
「一緒に増減する」ことと「原因」は別です。アイスの売上とプールの客が同じ日に増えても、アイスが客を増やしたのではなく、暑さが両方の原因です。
【最初の学び方】
自分の1週間の睡眠時間と勉強時間を表にし、Excelで平均とグラフを出して、気づいたことを一文で書いてみましょう。
【つながり】
・Excel集計 →（集計を支える）→ データ分析
・SQL →（抽出する）→ データ分析
・ログ →（材料になる）→ データ分析
・機械学習 →（手法の一つ）→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（スライド357／資料の該当箇所：ご提供の用語解説（データ分析））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システムやアプリの動き・エラーを、時刻つきで書き残した記録。
【どこの話？】
層：OS・ミドルウェア・アプリ（機械を動かす基本ソフト）
場所：OS・ミドルウェア・アプリが、自分の動きを書き出す記録ファイル。
【くわしく】
ログは、コンピューターの中で「いつ・どこで・何が起きたか」を、時刻つきで一行ずつ書き足していく記録です。OS・ミドルウェア・アプリが、それぞれ自分の動きをログファイルに書き出します。
種類は、動作の記録、エラーの記録、Webサーバーのアクセスログ（誰がいつどのページを見に来たか）などです。重要度を、INFO（通常）、WARN（注意）、ERROR（失敗）のように書き分けるのが一般的です。
不具合が起きたとき、ログがなければ原因は推測するしかありません。ログがあれば、エラーが起きた時刻の直前に何があったかをたどれます。不正アクセスの調査や、利用状況の分析にも使います。
【たとえるなら】
荷物の追跡履歴。「集荷、仕分け、配達中」と時刻つきで残るので、届かないときにどこで止まったかをたどれます。
【こんな場面で】
アプリが突然終了したとき、Windowsなら「イベントビューアー」でOSのログを見られます。サーバーの担当者は、障害が起きるとまずエラーのログを開いて原因を探します。
【勘違い・つまずき】
ログは量が多く、全部は読めません。まず「ERROR」や「例外」の文字と、問題が起きた時刻で絞ります。パスワードなどの秘密情報をログに出さない注意も必要です。
【最初の学び方】
Windowsの「イベントビューアー」を開き、アプリやシステムの「エラー」「警告」を探して、時刻と内容を読んでみましょう。
【つながり】
・OS →（記録を書く）→ ログ
・アプリサーバー →（記録を書く）→ ログ
・Webサーバー →（アクセス記録）→ ログ
・ログ →（材料になる）→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（スライド358／資料の該当箇所：ご提供の用語解説（ログ））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システムやアプリの動き・エラーを、時刻つきで書き残した記録。
【どこの話？】
層：OS・ミドルウェア・アプリ（機械を動かす基本ソフト）
場所：OS・ミドルウェア・アプリが、自分の動きを書き出す記録ファイル。
【くわしく】
ログは、コンピューターの中で「いつ・どこで・何が起きたか」を、時刻つきで一行ずつ書き足していく記録です。OS・ミドルウェア・アプリが、それぞれ自分の動きをログファイルに書き出します。
種類は、動作の記録、エラーの記録、Webサーバーのアクセスログ（誰がいつどのページを見に来たか）などです。重要度を、INFO（通常）、WARN（注意）、ERROR（失敗）のように書き分けるのが一般的です。
不具合が起きたとき、ログがなければ原因は推測するしかありません。ログがあれば、エラーが起きた時刻の直前に何があったかをたどれます。不正アクセスの調査や、利用状況の分析にも使います。
【たとえるなら】
荷物の追跡履歴。「集荷、仕分け、配達中」と時刻つきで残るので、届かないときにどこで止まったかをたどれます。
【こんな場面で】
アプリが突然終了したとき、Windowsなら「イベントビューアー」でOSのログを見られます。サーバーの担当者は、障害が起きるとまずエラーのログを開いて原因を探します。
【勘違い・つまずき】
ログは量が多く、全部は読めません。まず「ERROR」や「例外」の文字と、問題が起きた時刻で絞ります。パスワードなどの秘密情報をログに出さない注意も必要です。
【最初の学び方】
Windowsの「イベントビューアー」を開き、アプリやシステムの「エラー」「警告」を探して、時刻と内容を読んでみましょう。
【つながり】
・OS →（記録を書く）→ ログ
・アプリサーバー →（記録を書く）→ ログ
・Webサーバー →（アクセス記録）→ ログ
・ログ →（材料になる）→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（スライド359／資料の該当箇所：ご提供の用語解説（ログ））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システムやアプリの動き・エラーを、時刻つきで書き残した記録。
【どこの話？】
層：OS・ミドルウェア・アプリ（機械を動かす基本ソフト）
場所：OS・ミドルウェア・アプリが、自分の動きを書き出す記録ファイル。
【くわしく】
ログは、コンピューターの中で「いつ・どこで・何が起きたか」を、時刻つきで一行ずつ書き足していく記録です。OS・ミドルウェア・アプリが、それぞれ自分の動きをログファイルに書き出します。
種類は、動作の記録、エラーの記録、Webサーバーのアクセスログ（誰がいつどのページを見に来たか）などです。重要度を、INFO（通常）、WARN（注意）、ERROR（失敗）のように書き分けるのが一般的です。
不具合が起きたとき、ログがなければ原因は推測するしかありません。ログがあれば、エラーが起きた時刻の直前に何があったかをたどれます。不正アクセスの調査や、利用状況の分析にも使います。
【たとえるなら】
荷物の追跡履歴。「集荷、仕分け、配達中」と時刻つきで残るので、届かないときにどこで止まったかをたどれます。
【こんな場面で】
アプリが突然終了したとき、Windowsなら「イベントビューアー」でOSのログを見られます。サーバーの担当者は、障害が起きるとまずエラーのログを開いて原因を探します。
【勘違い・つまずき】
ログは量が多く、全部は読めません。まず「ERROR」や「例外」の文字と、問題が起きた時刻で絞ります。パスワードなどの秘密情報をログに出さない注意も必要です。
【最初の学び方】
Windowsの「イベントビューアー」を開き、アプリやシステムの「エラー」「警告」を探して、時刻と内容を読んでみましょう。
【つながり】
・OS →（記録を書く）→ ログ
・アプリサーバー →（記録を書く）→ ログ
・Webサーバー →（アクセス記録）→ ログ
・ログ →（材料になる）→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（スライド360／資料の該当箇所：ご提供の用語解説（ログ））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データを失ったときに戻せるよう、別の場所にコピーを保管しておくこと。
【どこの話？】
層：ハードウェア・OS（機械・部品そのもの）
場所：データの複製を、元とは別のストレージや場所に置いておく運用。ハードとOSにまたがる。
【くわしく】
バックアップは、データの複製（コピー）を、元とは別の場所に保管しておくことです。故障、うっかり削除、ウイルスで壊された、といったときに、保管したコピーから元に戻せます。この作業を復元（リストア）といいます。
毎回すべてをコピーする「フルバックアップ」と、変更分だけをコピーして時間と容量を節約する「差分」「増分」があります。保管先は、別のSSDやHDD、NAS、クラウドストレージなどです。コピー3つ・保存先の種類2つ・1つは離れた場所に置く「3-2-1ルール」が知られています。
コピーを取っただけでは安心できません。実際に復元できるか試して、はじめて役に立ちます。クラウドの同期フォルダーは、消した操作まで反映されることがあり、バックアップの代わりにはなりません。
【たとえるなら】
大事な書類のコピーを、別の部屋や貸し金庫にも保管しておくこと。家が火事になっても、離れた場所のコピーから書類を作り直せます。
【こんな場面で】
レポートのファイルを間違えて上書きした、PCが急に起動しなくなった、ランサムウェア（データを勝手に暗号化してお金を要求するウイルス）に感染した、といった場面で効きます。
【勘違い・つまずき】
RAID（ドライブ故障への備え）は、消したデータも全部に反映します。誤削除や攻撃からの復旧はバックアップの役目で、別物です。RAIDがあっても必要です。
【最初の学び方】
大事なファイルを一つ選び、別のドライブやクラウドにコピーしましょう。そのコピーを別のフォルダーに戻して開けるか（復元）まで確かめます。
【つながり】
・バックアップ ⇄（ちがい）⇄ RAID
・バックアップ →（複製を置く）→ ストレージ
・クラウドストレージ →（保管先になる）→ バックアップ
・OS →（機能を備える）→ バックアップ
・バックアップ ⇄（ちがい）⇄ Git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（スライド361／資料の該当箇所：ご提供の用語解説（バックアップ））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データを失ったときに戻せるよう、別の場所にコピーを保管しておくこと。
【どこの話？】
層：ハードウェア・OS（機械・部品そのもの）
場所：データの複製を、元とは別のストレージや場所に置いておく運用。ハードとOSにまたがる。
【くわしく】
バックアップは、データの複製（コピー）を、元とは別の場所に保管しておくことです。故障、うっかり削除、ウイルスで壊された、といったときに、保管したコピーから元に戻せます。この作業を復元（リストア）といいます。
毎回すべてをコピーする「フルバックアップ」と、変更分だけをコピーして時間と容量を節約する「差分」「増分」があります。保管先は、別のSSDやHDD、NAS、クラウドストレージなどです。コピー3つ・保存先の種類2つ・1つは離れた場所に置く「3-2-1ルール」が知られています。
コピーを取っただけでは安心できません。実際に復元できるか試して、はじめて役に立ちます。クラウドの同期フォルダーは、消した操作まで反映されることがあり、バックアップの代わりにはなりません。
【たとえるなら】
大事な書類のコピーを、別の部屋や貸し金庫にも保管しておくこと。家が火事になっても、離れた場所のコピーから書類を作り直せます。
【こんな場面で】
レポートのファイルを間違えて上書きした、PCが急に起動しなくなった、ランサムウェア（データを勝手に暗号化してお金を要求するウイルス）に感染した、といった場面で効きます。
【勘違い・つまずき】
RAID（ドライブ故障への備え）は、消したデータも全部に反映します。誤削除や攻撃からの復旧はバックアップの役目で、別物です。RAIDがあっても必要です。
【最初の学び方】
大事なファイルを一つ選び、別のドライブやクラウドにコピーしましょう。そのコピーを別のフォルダーに戻して開けるか（復元）まで確かめます。
【つながり】
・バックアップ ⇄（ちがい）⇄ RAID
・バックアップ →（複製を置く）→ ストレージ
・クラウドストレージ →（保管先になる）→ バックアップ
・OS →（機能を備える）→ バックアップ
・バックアップ ⇄（ちがい）⇄ Git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（スライド362／資料の該当箇所：ご提供の用語解説（バックアップ））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データを失ったときに戻せるよう、別の場所にコピーを保管しておくこと。
【どこの話？】
層：ハードウェア・OS（機械・部品そのもの）
場所：データの複製を、元とは別のストレージや場所に置いておく運用。ハードとOSにまたがる。
【くわしく】
バックアップは、データの複製（コピー）を、元とは別の場所に保管しておくことです。故障、うっかり削除、ウイルスで壊された、といったときに、保管したコピーから元に戻せます。この作業を復元（リストア）といいます。
毎回すべてをコピーする「フルバックアップ」と、変更分だけをコピーして時間と容量を節約する「差分」「増分」があります。保管先は、別のSSDやHDD、NAS、クラウドストレージなどです。コピー3つ・保存先の種類2つ・1つは離れた場所に置く「3-2-1ルール」が知られています。
コピーを取っただけでは安心できません。実際に復元できるか試して、はじめて役に立ちます。クラウドの同期フォルダーは、消した操作まで反映されることがあり、バックアップの代わりにはなりません。
【たとえるなら】
大事な書類のコピーを、別の部屋や貸し金庫にも保管しておくこと。家が火事になっても、離れた場所のコピーから書類を作り直せます。
【こんな場面で】
レポートのファイルを間違えて上書きした、PCが急に起動しなくなった、ランサムウェア（データを勝手に暗号化してお金を要求するウイルス）に感染した、といった場面で効きます。
【勘違い・つまずき】
RAID（ドライブ故障への備え）は、消したデータも全部に反映します。誤削除や攻撃からの復旧はバックアップの役目で、別物です。RAIDがあっても必要です。
【最初の学び方】
大事なファイルを一つ選び、別のドライブやクラウドにコピーしましょう。そのコピーを別のフォルダーに戻して開けるか（復元）まで確かめます。
【つながり】
・バックアップ ⇄（ちがい）⇄ RAID
・バックアップ →（複製を置く）→ ストレージ
・クラウドストレージ →（保管先になる）→ バックアップ
・OS →（機能を備える）→ バックアップ
・バックアップ ⇄（ちがい）⇄ Git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（スライド363／資料の該当箇所：ご提供の用語解説（バックアップ））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データを失ったときに戻せるよう、別の場所にコピーを保管しておくこと。
【どこの話？】
層：ハードウェア・OS（機械・部品そのもの）
場所：データの複製を、元とは別のストレージや場所に置いておく運用。ハードとOSにまたがる。
【くわしく】
バックアップは、データの複製（コピー）を、元とは別の場所に保管しておくことです。故障、うっかり削除、ウイルスで壊された、といったときに、保管したコピーから元に戻せます。この作業を復元（リストア）といいます。
毎回すべてをコピーする「フルバックアップ」と、変更分だけをコピーして時間と容量を節約する「差分」「増分」があります。保管先は、別のSSDやHDD、NAS、クラウドストレージなどです。コピー3つ・保存先の種類2つ・1つは離れた場所に置く「3-2-1ルール」が知られています。
コピーを取っただけでは安心できません。実際に復元できるか試して、はじめて役に立ちます。クラウドの同期フォルダーは、消した操作まで反映されることがあり、バックアップの代わりにはなりません。
【たとえるなら】
大事な書類のコピーを、別の部屋や貸し金庫にも保管しておくこと。家が火事になっても、離れた場所のコピーから書類を作り直せます。
【こんな場面で】
レポートのファイルを間違えて上書きした、PCが急に起動しなくなった、ランサムウェア（データを勝手に暗号化してお金を要求するウイルス）に感染した、といった場面で効きます。
【勘違い・つまずき】
RAID（ドライブ故障への備え）は、消したデータも全部に反映します。誤削除や攻撃からの復旧はバックアップの役目で、別物です。RAIDがあっても必要です。
【最初の学び方】
大事なファイルを一つ選び、別のドライブやクラウドにコピーしましょう。そのコピーを別のフォルダーに戻して開けるか（復元）まで確かめます。
【つながり】
・バックアップ ⇄（ちがい）⇄ RAID
・バックアップ →（複製を置く）→ ストレージ
・クラウドストレージ →（保管先になる）→ バックアップ
・OS →（機能を備える）→ バックアップ
・バックアップ ⇄（ちがい）⇄ Git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（スライド364／資料の該当箇所：ご提供の用語解説（バックアップ））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左がHTML（見出しと段落の構造）、右がCSS（見出しの色と大きさ）です。
【処理の詳細】
・HTML：&lt;h1&gt;は見出し、&lt;p&gt;は段落を表す印（タグ）。
・CSS：「h1の文字色を青にする」のような見た目の指示。
【自分でやってみる】
自己紹介ページをHTMLで作り、CSSで色や文字の大きさを変えてみます（貼り付けの学び方）。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（スライド365／資料の該当箇所：その他のIT経験「HTML・CSS」）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左から右へ、変更を記録して共有する流れです。
【処理の詳細】
・編集する：ファイルやプログラムを変更する。
・記録する（commit）：その時点の状態をGitに保存する。
・送る（push）：記録をGitHubへ送る。
・共有・共同作業：他の人も同じ履歴を見て、続きの作業ができる。
【自分でやってみる】
自分の小さな制作物をGitHubに登録し、変更履歴を管理します（貼り付けの学び方）。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（スライド366／資料の該当箇所：その他のIT経験「Git・GitHub」）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左のPCから右の会社へ、自宅の機器と回線を通る道すじです。矢印の上が、つなぎ方・回線の種類です。
【処理の詳細】
・PC→ルーター：有線LAN（LANケーブル）またはWi-Fi（電波）。
・ルーター→インターネット：固定回線（光回線・ケーブルテレビ回線など）。
・インターネット→会社：オンライン会議や社内システムへの接続。
【成立条件・例外】
貼り付けの記載：リモート就業の用語は、技術力ではなく、自宅から仕事に使える接続環境があるかを聞いています。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（スライド367／資料の該当箇所：リモート就業のネットワーク環境「質問26」）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勤務先のオフィス以外（自宅など）から、ネットを使って仕事をする働き方。
【どこの話？】
層：活動・資格（技術の層ではなく人の活動）
場所：技術ではなく働き方の話。自宅などから、回線・ルーター・PCを使って仕事をする活動。
【くわしく】
リモート就業は、自宅などオフィス以外の場所から、インターネットを通じて仕事をする働き方です。技術の名前ではなく「働き方」の名前で、テレワーク、在宅勤務、リモートワークなどとも呼ばれます。
自宅のPCから会社に届くまでの道すじは、PC →（有線LANまたはWi-Fi）→ ルーター → 固定回線（光回線・ケーブルテレビ回線）→ インターネット → 会社です。どこかが弱いと、オンライン会議が途切れます。
会社のシステムには、VPN（インターネット上に暗号化した専用の通り道を作る仕組み）などで安全につなぐことがあります。通信環境に加えて、情報が漏れないようにする注意も必要です。
【たとえるなら】
遠くの友達と、ビデオ通話で一緒に勉強する感じ。教室がなくても、通話が安定していれば同じ課題を進められますが、回線が弱いと話が途切れます。
【こんな場面で】
自宅からMicrosoft TeamsやZoomで朝礼や会議に出る、チャットで連絡する、会社のシステムやファイルにつないで作業する、といった場面です。
【勘違い・つまずき】
リモート就業は「ネットにつながればどこでもよい」ではありません。会議の音声には安定した回線が要り、公共のWi-Fiでの仕事は情報漏えいの危険が高まります。
【最初の学び方】
自宅のネット接続が、固定回線の種類（光・ケーブルテレビなど）とPCのつなぎ方（有線LAN・Wi-Fi）でどうなっているか、契約書とルーターで確認しましょう。
【つながり】
・固定回線 →（土台になる）→ リモート就業
・有線LAN →（接続手段）→ リモート就業
・Wi-Fi →（接続手段）→ リモート就業
・リモート就業 →（利用する）→ サーバーとクライアント
・クラウド →（共有の場）→ リモート就業
【貼り付け資料の記載（要旨）】
質問票では、リモート就業の環境として、固定回線の種類（光回線・ケーブルテレビ回線など）と、PCをつなぐ方法（有線LAN・Wi-Fi）を尋ねています。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（スライド368／資料の該当箇所：ご提供の用語解説（リモート就業））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勤務先のオフィス以外（自宅など）から、ネットを使って仕事をする働き方。
【どこの話？】
層：活動・資格（技術の層ではなく人の活動）
場所：技術ではなく働き方の話。自宅などから、回線・ルーター・PCを使って仕事をする活動。
【くわしく】
リモート就業は、自宅などオフィス以外の場所から、インターネットを通じて仕事をする働き方です。技術の名前ではなく「働き方」の名前で、テレワーク、在宅勤務、リモートワークなどとも呼ばれます。
自宅のPCから会社に届くまでの道すじは、PC →（有線LANまたはWi-Fi）→ ルーター → 固定回線（光回線・ケーブルテレビ回線）→ インターネット → 会社です。どこかが弱いと、オンライン会議が途切れます。
会社のシステムには、VPN（インターネット上に暗号化した専用の通り道を作る仕組み）などで安全につなぐことがあります。通信環境に加えて、情報が漏れないようにする注意も必要です。
【たとえるなら】
遠くの友達と、ビデオ通話で一緒に勉強する感じ。教室がなくても、通話が安定していれば同じ課題を進められますが、回線が弱いと話が途切れます。
【こんな場面で】
自宅からMicrosoft TeamsやZoomで朝礼や会議に出る、チャットで連絡する、会社のシステムやファイルにつないで作業する、といった場面です。
【勘違い・つまずき】
リモート就業は「ネットにつながればどこでもよい」ではありません。会議の音声には安定した回線が要り、公共のWi-Fiでの仕事は情報漏えいの危険が高まります。
【最初の学び方】
自宅のネット接続が、固定回線の種類（光・ケーブルテレビなど）とPCのつなぎ方（有線LAN・Wi-Fi）でどうなっているか、契約書とルーターで確認しましょう。
【つながり】
・固定回線 →（土台になる）→ リモート就業
・有線LAN →（接続手段）→ リモート就業
・Wi-Fi →（接続手段）→ リモート就業
・リモート就業 →（利用する）→ サーバーとクライアント
・クラウド →（共有の場）→ リモート就業
【貼り付け資料の記載（要旨）】
質問票では、リモート就業の環境として、固定回線の種類（光回線・ケーブルテレビ回線など）と、PCをつなぐ方法（有線LAN・Wi-Fi）を尋ねています。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（スライド369／資料の該当箇所：ご提供の用語解説（リモート就業））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勤務先のオフィス以外（自宅など）から、ネットを使って仕事をする働き方。
【どこの話？】
層：活動・資格（技術の層ではなく人の活動）
場所：技術ではなく働き方の話。自宅などから、回線・ルーター・PCを使って仕事をする活動。
【くわしく】
リモート就業は、自宅などオフィス以外の場所から、インターネットを通じて仕事をする働き方です。技術の名前ではなく「働き方」の名前で、テレワーク、在宅勤務、リモートワークなどとも呼ばれます。
自宅のPCから会社に届くまでの道すじは、PC →（有線LANまたはWi-Fi）→ ルーター → 固定回線（光回線・ケーブルテレビ回線）→ インターネット → 会社です。どこかが弱いと、オンライン会議が途切れます。
会社のシステムには、VPN（インターネット上に暗号化した専用の通り道を作る仕組み）などで安全につなぐことがあります。通信環境に加えて、情報が漏れないようにする注意も必要です。
【たとえるなら】
遠くの友達と、ビデオ通話で一緒に勉強する感じ。教室がなくても、通話が安定していれば同じ課題を進められますが、回線が弱いと話が途切れます。
【こんな場面で】
自宅からMicrosoft TeamsやZoomで朝礼や会議に出る、チャットで連絡する、会社のシステムやファイルにつないで作業する、といった場面です。
【勘違い・つまずき】
リモート就業は「ネットにつながればどこでもよい」ではありません。会議の音声には安定した回線が要り、公共のWi-Fiでの仕事は情報漏えいの危険が高まります。
【最初の学び方】
自宅のネット接続が、固定回線の種類（光・ケーブルテレビなど）とPCのつなぎ方（有線LAN・Wi-Fi）でどうなっているか、契約書とルーターで確認しましょう。
【つながり】
・固定回線 →（土台になる）→ リモート就業
・有線LAN →（接続手段）→ リモート就業
・Wi-Fi →（接続手段）→ リモート就業
・リモート就業 →（利用する）→ サーバーとクライアント
・クラウド →（共有の場）→ リモート就業
【貼り付け資料の記載（要旨）】
質問票では、リモート就業の環境として、固定回線の種類（光回線・ケーブルテレビ回線など）と、PCをつなぐ方法（有線LAN・Wi-Fi）を尋ねています。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（スライド370／資料の該当箇所：ご提供の用語解説（リモート就業））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自宅や建物に引き込んで使う、場所に結び付いた通信回線。
【どこの話？】
層：ネットワーク（機械どうしをつなぐ道）
場所：自宅の壁の差し込み口から外の通信会社の設備まで、ネットの出口にあたる道。
【くわしく】
固定回線は、自宅など特定の場所に工事で引き込む通信回線です。建物の外にある通信会社の設備と、家の中のルーターとをつなぐ、「家からインターネットへの出口」にあたります。
代表的なのが光回線とケーブルテレビ回線です。一方、スマホの電波を使うモバイル回線は場所に結び付かず、持ち運べます。固定回線は電波の入りやすさに左右されにくく、長時間の会議や大きなファイルのやりとりに向きます。
回線そのものを提供する会社と、インターネットへつなぐ事業者（プロバイダー）が別のことがあります。両方まとめて契約するセットもあります。どの種類の回線かは、契約書や請求書で確認できます。
【たとえるなら】
家に引き込んだ水道管。道路の下の本管（通信会社の設備）から家まで管が延び、蛇口（ルーター）をひねるとネットの水が出ます。
【こんな場面で】
自宅のオンライン会議の画面が止まる、ネットが遅いという相談では、まず「どんな固定回線を契約しているか」を確認します。引っ越しのときは、新居に回線を引く手続きも必要です。
【勘違い・つまずき】
固定回線は「回線の種類」の話で、有線LANやWi-Fiは「家の中でPCをつなぐ方法」の話です。回線が光でも、Wi-Fiが弱ければ遅くなります。別の区間として分けて考えましょう。
【最初の学び方】
契約書や請求書、会社のマイページで、「光」「ケーブルテレビ」などの回線の種類を探しましょう。壁から出ている機器の名前も確認します。
【つながり】
・光回線 →（種類の一つ）→ 固定回線
・ケーブルテレビ回線 →（種類の一つ）→ 固定回線
・ルーター →（接続する）→ 固定回線
・固定回線 →（つなぐ）→ インターネット
・固定回線 →（土台になる）→ リモート就業
【貼り付け資料の記載（要旨）】
質問票では、固定回線の種類（光回線・ケーブルテレビ回線など）を尋ねています。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（スライド371／資料の該当箇所：ご提供の用語解説（固定回線））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自宅や建物に引き込んで使う、場所に結び付いた通信回線。
【どこの話？】
層：ネットワーク（機械どうしをつなぐ道）
場所：自宅の壁の差し込み口から外の通信会社の設備まで、ネットの出口にあたる道。
【くわしく】
固定回線は、自宅など特定の場所に工事で引き込む通信回線です。建物の外にある通信会社の設備と、家の中のルーターとをつなぐ、「家からインターネットへの出口」にあたります。
代表的なのが光回線とケーブルテレビ回線です。一方、スマホの電波を使うモバイル回線は場所に結び付かず、持ち運べます。固定回線は電波の入りやすさに左右されにくく、長時間の会議や大きなファイルのやりとりに向きます。
回線そのものを提供する会社と、インターネットへつなぐ事業者（プロバイダー）が別のことがあります。両方まとめて契約するセットもあります。どの種類の回線かは、契約書や請求書で確認できます。
【たとえるなら】
家に引き込んだ水道管。道路の下の本管（通信会社の設備）から家まで管が延び、蛇口（ルーター）をひねるとネットの水が出ます。
【こんな場面で】
自宅のオンライン会議の画面が止まる、ネットが遅いという相談では、まず「どんな固定回線を契約しているか」を確認します。引っ越しのときは、新居に回線を引く手続きも必要です。
【勘違い・つまずき】
固定回線は「回線の種類」の話で、有線LANやWi-Fiは「家の中でPCをつなぐ方法」の話です。回線が光でも、Wi-Fiが弱ければ遅くなります。別の区間として分けて考えましょう。
【最初の学び方】
契約書や請求書、会社のマイページで、「光」「ケーブルテレビ」などの回線の種類を探しましょう。壁から出ている機器の名前も確認します。
【つながり】
・光回線 →（種類の一つ）→ 固定回線
・ケーブルテレビ回線 →（種類の一つ）→ 固定回線
・ルーター →（接続する）→ 固定回線
・固定回線 →（つなぐ）→ インターネット
・固定回線 →（土台になる）→ リモート就業
【貼り付け資料の記載（要旨）】
質問票では、固定回線の種類（光回線・ケーブルテレビ回線など）を尋ねています。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（スライド372／資料の該当箇所：ご提供の用語解説（固定回線））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自宅や建物に引き込んで使う、場所に結び付いた通信回線。
【どこの話？】
層：ネットワーク（機械どうしをつなぐ道）
場所：自宅の壁の差し込み口から外の通信会社の設備まで、ネットの出口にあたる道。
【くわしく】
固定回線は、自宅など特定の場所に工事で引き込む通信回線です。建物の外にある通信会社の設備と、家の中のルーターとをつなぐ、「家からインターネットへの出口」にあたります。
代表的なのが光回線とケーブルテレビ回線です。一方、スマホの電波を使うモバイル回線は場所に結び付かず、持ち運べます。固定回線は電波の入りやすさに左右されにくく、長時間の会議や大きなファイルのやりとりに向きます。
回線そのものを提供する会社と、インターネットへつなぐ事業者（プロバイダー）が別のことがあります。両方まとめて契約するセットもあります。どの種類の回線かは、契約書や請求書で確認できます。
【たとえるなら】
家に引き込んだ水道管。道路の下の本管（通信会社の設備）から家まで管が延び、蛇口（ルーター）をひねるとネットの水が出ます。
【こんな場面で】
自宅のオンライン会議の画面が止まる、ネットが遅いという相談では、まず「どんな固定回線を契約しているか」を確認します。引っ越しのときは、新居に回線を引く手続きも必要です。
【勘違い・つまずき】
固定回線は「回線の種類」の話で、有線LANやWi-Fiは「家の中でPCをつなぐ方法」の話です。回線が光でも、Wi-Fiが弱ければ遅くなります。別の区間として分けて考えましょう。
【最初の学び方】
契約書や請求書、会社のマイページで、「光」「ケーブルテレビ」などの回線の種類を探しましょう。壁から出ている機器の名前も確認します。
【つながり】
・光回線 →（種類の一つ）→ 固定回線
・ケーブルテレビ回線 →（種類の一つ）→ 固定回線
・ルーター →（接続する）→ 固定回線
・固定回線 →（つなぐ）→ インターネット
・固定回線 →（土台になる）→ リモート就業
【貼り付け資料の記載（要旨）】
質問票では、固定回線の種類（光回線・ケーブルテレビ回線など）を尋ねています。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（スライド373／資料の該当箇所：ご提供の用語解説（固定回線））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光ファイバーで光の信号を送り、大量のデータを速く運ぶ通信回線。
【どこの話？】
層：ネットワーク（機械どうしをつなぐ道）
場所：建物の外の通信会社の設備から、家の壁のONUまでを、光ファイバーでつなぐ区間。
【くわしく】
光回線は、光ファイバー（ガラスなどでできた細い線）の中を光の点滅でデータが走る固定回線です。家に届いた光ファイバーは、ONU（光の信号とPC側の信号を変換する機器）につながります。
電気信号を銅線で運ぶ回線に比べ、ノイズ（雑音）に強く、遠くまで信号が弱りにくい特徴があります。このため、大量のデータを速く安定して運びやすい回線です。
道すじでは、PC → ルーター → ONU → 光ファイバー → プロバイダー → インターネットの順に並びます。ONUとルーターが1台に入った機器もあります。
【たとえるなら】
ガラスの管の中を、光の点滅で信号が走るイメージ。光は遠くまで弱りにくく、大量の信号を乗せて走れる、太くて速い高速道路です。
【こんな場面で】
「光回線に申し込む」「光のコースにする」といった契約の場面で出てきます。引っ越しでは、新居が光回線の工事に対応しているかを、先に確認します。
【勘違い・つまずき】
「光回線だから必ず速い」とは限りません。速さはルーター、LANケーブル、Wi-Fi、時間帯の混雑でも変わります。集合住宅では、部屋の中まで光ファイバーでないこともあります。
【最初の学び方】
自分の家の契約名に「光」の字があるか確かめ、壁にあるONUという小さな箱と、そこから出る細いケーブルを探してみましょう。
【つながり】
・光回線 →（種類の一つ）→ 固定回線
・光回線 ⇄（ちがい）⇄ ケーブルテレビ回線
・光回線 →（データを渡す）→ ルーター
・光回線 →（つなぐ）→ インターネット
【貼り付け資料の記載（要旨）】
質問票では、固定回線の種類の選択肢の一つとして「光回線」が挙げられています。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（スライド374／資料の該当箇所：ご提供の用語解説（光回線））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光ファイバーで光の信号を送り、大量のデータを速く運ぶ通信回線。
【どこの話？】
層：ネットワーク（機械どうしをつなぐ道）
場所：建物の外の通信会社の設備から、家の壁のONUまでを、光ファイバーでつなぐ区間。
【くわしく】
光回線は、光ファイバー（ガラスなどでできた細い線）の中を光の点滅でデータが走る固定回線です。家に届いた光ファイバーは、ONU（光の信号とPC側の信号を変換する機器）につながります。
電気信号を銅線で運ぶ回線に比べ、ノイズ（雑音）に強く、遠くまで信号が弱りにくい特徴があります。このため、大量のデータを速く安定して運びやすい回線です。
道すじでは、PC → ルーター → ONU → 光ファイバー → プロバイダー → インターネットの順に並びます。ONUとルーターが1台に入った機器もあります。
【たとえるなら】
ガラスの管の中を、光の点滅で信号が走るイメージ。光は遠くまで弱りにくく、大量の信号を乗せて走れる、太くて速い高速道路です。
【こんな場面で】
「光回線に申し込む」「光のコースにする」といった契約の場面で出てきます。引っ越しでは、新居が光回線の工事に対応しているかを、先に確認します。
【勘違い・つまずき】
「光回線だから必ず速い」とは限りません。速さはルーター、LANケーブル、Wi-Fi、時間帯の混雑でも変わります。集合住宅では、部屋の中まで光ファイバーでないこともあります。
【最初の学び方】
自分の家の契約名に「光」の字があるか確かめ、壁にあるONUという小さな箱と、そこから出る細いケーブルを探してみましょう。
【つながり】
・光回線 →（種類の一つ）→ 固定回線
・光回線 ⇄（ちがい）⇄ ケーブルテレビ回線
・光回線 →（データを渡す）→ ルーター
・光回線 →（つなぐ）→ インターネット
【貼り付け資料の記載（要旨）】
質問票では、固定回線の種類の選択肢の一つとして「光回線」が挙げられています。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（スライド375／資料の該当箇所：ご提供の用語解説（光回線））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光ファイバーで光の信号を送り、大量のデータを速く運ぶ通信回線。
【どこの話？】
層：ネットワーク（機械どうしをつなぐ道）
場所：建物の外の通信会社の設備から、家の壁のONUまでを、光ファイバーでつなぐ区間。
【くわしく】
光回線は、光ファイバー（ガラスなどでできた細い線）の中を光の点滅でデータが走る固定回線です。家に届いた光ファイバーは、ONU（光の信号とPC側の信号を変換する機器）につながります。
電気信号を銅線で運ぶ回線に比べ、ノイズ（雑音）に強く、遠くまで信号が弱りにくい特徴があります。このため、大量のデータを速く安定して運びやすい回線です。
道すじでは、PC → ルーター → ONU → 光ファイバー → プロバイダー → インターネットの順に並びます。ONUとルーターが1台に入った機器もあります。
【たとえるなら】
ガラスの管の中を、光の点滅で信号が走るイメージ。光は遠くまで弱りにくく、大量の信号を乗せて走れる、太くて速い高速道路です。
【こんな場面で】
「光回線に申し込む」「光のコースにする」といった契約の場面で出てきます。引っ越しでは、新居が光回線の工事に対応しているかを、先に確認します。
【勘違い・つまずき】
「光回線だから必ず速い」とは限りません。速さはルーター、LANケーブル、Wi-Fi、時間帯の混雑でも変わります。集合住宅では、部屋の中まで光ファイバーでないこともあります。
【最初の学び方】
自分の家の契約名に「光」の字があるか確かめ、壁にあるONUという小さな箱と、そこから出る細いケーブルを探してみましょう。
【つながり】
・光回線 →（種類の一つ）→ 固定回線
・光回線 ⇄（ちがい）⇄ ケーブルテレビ回線
・光回線 →（データを渡す）→ ルーター
・光回線 →（つなぐ）→ インターネット
【貼り付け資料の記載（要旨）】
質問票では、固定回線の種類の選択肢の一つとして「光回線」が挙げられています。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（スライド376／資料の該当箇所：ご提供の用語解説（光回線））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ケーブルテレビ会社が、テレビ用のケーブル網を使って提供するネット回線。
【どこの話？】
層：ネットワーク（機械どうしをつなぐ道）
場所：地域のケーブルテレビ会社の設備から、家の壁までを結ぶ回線。
【くわしく】
ケーブルテレビ回線は、地域のケーブルテレビ会社が、テレビ放送と一緒に提供するインターネット回線です。放送用に引かれたケーブル網をネットにも使うため、テレビとネットを同じ会社でまとめて契約できます。
家の中では、同軸ケーブル（テレビのアンテナ線のような太い線）と、ケーブルモデム（信号を変換する機器）を使うタイプが代表的です。会社によっては、光ファイバーを使うコースもあります。
道すじでは、PC → ルーター → ケーブルモデム → ケーブルテレビ会社の網 → インターネットの順です。サービスの提供エリアは、会社ごとの地域で決まっています。
【たとえるなら】
1本の道路を、バスと宅配便の両方が走るイメージ。テレビ放送とインターネットのデータが、同じケーブル網を、別々の信号で走ります。
【こんな場面で】
地域のケーブルテレビ会社と、テレビとネットをまとめて契約している家庭で使われます。契約書に会社名が書かれ、壁の近くにケーブルモデムなどの機器が置かれています。
【勘違い・つまずき】
「ケーブルテレビ回線」と「光回線」は、完全な別物とは限りません。ケーブルテレビ会社が光ファイバーのコースを出していることもあるので、契約名と設置機器で確認します。
【最初の学び方】
契約書や請求書で会社名とコース名を調べ、壁から出ているのが同軸ケーブルか光ファイバーか、機器の名前も確認してみましょう。
【つながり】
・ケーブルテレビ回線 →（種類の一つ）→ 固定回線
・ケーブルテレビ回線 ⇄（ちがい）⇄ 光回線
・ケーブルテレビ回線 →（データを渡す）→ ルーター
・ケーブルテレビ回線 →（つなぐ）→ インターネット
【貼り付け資料の記載（要旨）】
質問票では、固定回線の種類の選択肢の一つとして「ケーブルテレビ回線」が挙げられています。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（スライド377／資料の該当箇所：ご提供の用語解説（ケーブルテレビ回線））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ケーブルテレビ会社が、テレビ用のケーブル網を使って提供するネット回線。
【どこの話？】
層：ネットワーク（機械どうしをつなぐ道）
場所：地域のケーブルテレビ会社の設備から、家の壁までを結ぶ回線。
【くわしく】
ケーブルテレビ回線は、地域のケーブルテレビ会社が、テレビ放送と一緒に提供するインターネット回線です。放送用に引かれたケーブル網をネットにも使うため、テレビとネットを同じ会社でまとめて契約できます。
家の中では、同軸ケーブル（テレビのアンテナ線のような太い線）と、ケーブルモデム（信号を変換する機器）を使うタイプが代表的です。会社によっては、光ファイバーを使うコースもあります。
道すじでは、PC → ルーター → ケーブルモデム → ケーブルテレビ会社の網 → インターネットの順です。サービスの提供エリアは、会社ごとの地域で決まっています。
【たとえるなら】
1本の道路を、バスと宅配便の両方が走るイメージ。テレビ放送とインターネットのデータが、同じケーブル網を、別々の信号で走ります。
【こんな場面で】
地域のケーブルテレビ会社と、テレビとネットをまとめて契約している家庭で使われます。契約書に会社名が書かれ、壁の近くにケーブルモデムなどの機器が置かれています。
【勘違い・つまずき】
「ケーブルテレビ回線」と「光回線」は、完全な別物とは限りません。ケーブルテレビ会社が光ファイバーのコースを出していることもあるので、契約名と設置機器で確認します。
【最初の学び方】
契約書や請求書で会社名とコース名を調べ、壁から出ているのが同軸ケーブルか光ファイバーか、機器の名前も確認してみましょう。
【つながり】
・ケーブルテレビ回線 →（種類の一つ）→ 固定回線
・ケーブルテレビ回線 ⇄（ちがい）⇄ 光回線
・ケーブルテレビ回線 →（データを渡す）→ ルーター
・ケーブルテレビ回線 →（つなぐ）→ インターネット
【貼り付け資料の記載（要旨）】
質問票では、固定回線の種類の選択肢の一つとして「ケーブルテレビ回線」が挙げられています。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（スライド378／資料の該当箇所：ご提供の用語解説（ケーブルテレビ回線））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ケーブルテレビ会社が、テレビ用のケーブル網を使って提供するネット回線。
【どこの話？】
層：ネットワーク（機械どうしをつなぐ道）
場所：地域のケーブルテレビ会社の設備から、家の壁までを結ぶ回線。
【くわしく】
ケーブルテレビ回線は、地域のケーブルテレビ会社が、テレビ放送と一緒に提供するインターネット回線です。放送用に引かれたケーブル網をネットにも使うため、テレビとネットを同じ会社でまとめて契約できます。
家の中では、同軸ケーブル（テレビのアンテナ線のような太い線）と、ケーブルモデム（信号を変換する機器）を使うタイプが代表的です。会社によっては、光ファイバーを使うコースもあります。
道すじでは、PC → ルーター → ケーブルモデム → ケーブルテレビ会社の網 → インターネットの順です。サービスの提供エリアは、会社ごとの地域で決まっています。
【たとえるなら】
1本の道路を、バスと宅配便の両方が走るイメージ。テレビ放送とインターネットのデータが、同じケーブル網を、別々の信号で走ります。
【こんな場面で】
地域のケーブルテレビ会社と、テレビとネットをまとめて契約している家庭で使われます。契約書に会社名が書かれ、壁の近くにケーブルモデムなどの機器が置かれています。
【勘違い・つまずき】
「ケーブルテレビ回線」と「光回線」は、完全な別物とは限りません。ケーブルテレビ会社が光ファイバーのコースを出していることもあるので、契約名と設置機器で確認します。
【最初の学び方】
契約書や請求書で会社名とコース名を調べ、壁から出ているのが同軸ケーブルか光ファイバーか、機器の名前も確認してみましょう。
【つながり】
・ケーブルテレビ回線 →（種類の一つ）→ 固定回線
・ケーブルテレビ回線 ⇄（ちがい）⇄ 光回線
・ケーブルテレビ回線 →（データを渡す）→ ルーター
・ケーブルテレビ回線 →（つなぐ）→ インターネット
【貼り付け資料の記載（要旨）】
質問票では、固定回線の種類の選択肢の一つとして「ケーブルテレビ回線」が挙げられています。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（スライド379／資料の該当箇所：ご提供の用語解説（ケーブルテレビ回線））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LANケーブルでPCとルーターを直接つなぐ、安定した接続方法。
【どこの話？】
層：ネットワーク（機械どうしをつなぐ道）
場所：家や建物の中で、PCとルーターを結ぶ区間。ケーブルでつなぐ方法。
【くわしく】
LAN（ラン）は、家や学校、会社の建物の中のような、狭い範囲のネットワークです。有線LANは、その中でPCとルーターなどをLANケーブルで結ぶ方法で、PCのLANポート（差し込み口）にケーブルを差して使います。
電波を使わないので、周りの電波の混雑や壁に邪魔されにくく、通信が安定します。オンライン会議の音声が途切れにくいのが利点です。反対に、ケーブルの長さの範囲でしか動けません。
道すじでは「PC →（LANケーブル）→ ルーター」の区間です。ケーブルには規格（CAT5eやCAT6などのカテゴリ）があり、対応できる速さが違います。薄型のノートPCにはLANポートがなく、変換アダプターが必要なこともあります。
【たとえるなら】
糸電話。糸（LANケーブル）でつながっているので、周りが騒がしくても（電波が混んでいても）声が届きますが、糸の長さまでしか動けません。
【こんな場面で】
自宅の会議用PCとルーターをケーブルでつなぐ、ゲームの対戦で通信の遅れ（ラグ）を減らすためにつなぐ、といった場面で選ばれます。
【勘違い・つまずき】
有線LANは「インターネットそのもの」ではなく、家の中でつなぐ方法です。ルーターから先の回線が止まれば、ケーブルでつないでいてもネットは使えません。
【最初の学び方】
PCの側面や背面にLANポートがあるか確かめましょう。なければ変換アダプターの種類を調べます。ケーブルの表面に「CAT6」などの印字があるかも見ます。
【つながり】
・有線LAN →（種類の一つ）→ ネットワーク
・有線LAN →（有線でつなぐ）→ ルーター
・有線LAN ⇄（ちがい）⇄ Wi-Fi
・有線LAN →（接続手段）→ リモート就業
【貼り付け資料の記載（要旨）】
質問票では、PCをつなぐ方法の選択肢として「有線LAN」が挙げられています。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（スライド380／資料の該当箇所：ご提供の用語解説（有線LAN））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LANケーブルでPCとルーターを直接つなぐ、安定した接続方法。
【どこの話？】
層：ネットワーク（機械どうしをつなぐ道）
場所：家や建物の中で、PCとルーターを結ぶ区間。ケーブルでつなぐ方法。
【くわしく】
LAN（ラン）は、家や学校、会社の建物の中のような、狭い範囲のネットワークです。有線LANは、その中でPCとルーターなどをLANケーブルで結ぶ方法で、PCのLANポート（差し込み口）にケーブルを差して使います。
電波を使わないので、周りの電波の混雑や壁に邪魔されにくく、通信が安定します。オンライン会議の音声が途切れにくいのが利点です。反対に、ケーブルの長さの範囲でしか動けません。
道すじでは「PC →（LANケーブル）→ ルーター」の区間です。ケーブルには規格（CAT5eやCAT6などのカテゴリ）があり、対応できる速さが違います。薄型のノートPCにはLANポートがなく、変換アダプターが必要なこともあります。
【たとえるなら】
糸電話。糸（LANケーブル）でつながっているので、周りが騒がしくても（電波が混んでいても）声が届きますが、糸の長さまでしか動けません。
【こんな場面で】
自宅の会議用PCとルーターをケーブルでつなぐ、ゲームの対戦で通信の遅れ（ラグ）を減らすためにつなぐ、といった場面で選ばれます。
【勘違い・つまずき】
有線LANは「インターネットそのもの」ではなく、家の中でつなぐ方法です。ルーターから先の回線が止まれば、ケーブルでつないでいてもネットは使えません。
【最初の学び方】
PCの側面や背面にLANポートがあるか確かめましょう。なければ変換アダプターの種類を調べます。ケーブルの表面に「CAT6」などの印字があるかも見ます。
【つながり】
・有線LAN →（種類の一つ）→ ネットワーク
・有線LAN →（有線でつなぐ）→ ルーター
・有線LAN ⇄（ちがい）⇄ Wi-Fi
・有線LAN →（接続手段）→ リモート就業
【貼り付け資料の記載（要旨）】
質問票では、PCをつなぐ方法の選択肢として「有線LAN」が挙げられています。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（スライド381／資料の該当箇所：ご提供の用語解説（有線LAN））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LANケーブルでPCとルーターを直接つなぐ、安定した接続方法。
【どこの話？】
層：ネットワーク（機械どうしをつなぐ道）
場所：家や建物の中で、PCとルーターを結ぶ区間。ケーブルでつなぐ方法。
【くわしく】
LAN（ラン）は、家や学校、会社の建物の中のような、狭い範囲のネットワークです。有線LANは、その中でPCとルーターなどをLANケーブルで結ぶ方法で、PCのLANポート（差し込み口）にケーブルを差して使います。
電波を使わないので、周りの電波の混雑や壁に邪魔されにくく、通信が安定します。オンライン会議の音声が途切れにくいのが利点です。反対に、ケーブルの長さの範囲でしか動けません。
道すじでは「PC →（LANケーブル）→ ルーター」の区間です。ケーブルには規格（CAT5eやCAT6などのカテゴリ）があり、対応できる速さが違います。薄型のノートPCにはLANポートがなく、変換アダプターが必要なこともあります。
【たとえるなら】
糸電話。糸（LANケーブル）でつながっているので、周りが騒がしくても（電波が混んでいても）声が届きますが、糸の長さまでしか動けません。
【こんな場面で】
自宅の会議用PCとルーターをケーブルでつなぐ、ゲームの対戦で通信の遅れ（ラグ）を減らすためにつなぐ、といった場面で選ばれます。
【勘違い・つまずき】
有線LANは「インターネットそのもの」ではなく、家の中でつなぐ方法です。ルーターから先の回線が止まれば、ケーブルでつないでいてもネットは使えません。
【最初の学び方】
PCの側面や背面にLANポートがあるか確かめましょう。なければ変換アダプターの種類を調べます。ケーブルの表面に「CAT6」などの印字があるかも見ます。
【つながり】
・有線LAN →（種類の一つ）→ ネットワーク
・有線LAN →（有線でつなぐ）→ ルーター
・有線LAN ⇄（ちがい）⇄ Wi-Fi
・有線LAN →（接続手段）→ リモート就業
【貼り付け資料の記載（要旨）】
質問票では、PCをつなぐ方法の選択肢として「有線LAN」が挙げられています。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（スライド382／資料の該当箇所：ご提供の用語解説（有線LAN））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電波でPCやスマホをルーターにつなぐ、ケーブルのいらない接続方法。
【どこの話？】
層：ネットワーク（機械どうしをつなぐ道）
場所：家の中で、PCやスマホとルーターを電波でつなぐ区間。回線そのものではない。
【くわしく】
Wi-Fiは、電波を使って、PCやスマホを家の中のルーターにつなぐ無線LANの方式です。「Wi-Fi」は、無線LANの規格に沿って、他社の機器ともつながることが確認された製品に付く名前です。
ルーターのネットワーク名（SSID）を選び、パスワードを入れてつなぎます。パスワード（暗号化）の設定があれば、通信を盗み見されにくくなります。パスワードのない公共Wi-Fiは、盗み見される危険があります。
電波は壁や距離に弱く、電子レンジなどの家電や近所のWi-Fiとも混み合って、速さが変わります。2.4GHz帯は遠くまで届きやすく、5GHz帯は速い代わりに壁に弱い、という違いがあります。
【たとえるなら】
教室での大声の会話。糸電話（有線）がなくても届きますが、遠い席や壁の向こう、周りがざわざわしていると、聞き取りにくくなります。
【こんな場面で】
ノートPCやスマホを家のどこでも使いたいときや、カフェのWi-Fiにつなぐときです。自宅の会議で映像が止まるのは、ルーターとの距離や混雑が原因のこともあります。
【勘違い・つまずき】
Wi-Fiのマークが出ていても、ルーターから先の回線が止まるとネットは使えません。Wi-Fiは家の中の無線の部分で、インターネットへの回線（固定回線）とは別です。
【最初の学び方】
スマホの設定でWi-Fiの一覧を開き、近くのネットワーク名と電波の強さを見ましょう。ルーターの近くと遠くで、強さがどう変わるかも確かめます。
【つながり】
・ルーター →（電波を出す）→ Wi-Fi
・Wi-Fi ⇄（ちがい）⇄ 有線LAN
・Wi-Fi →（接続手段）→ リモート就業
・Wi-Fi →（機器をつなぐ）→ IoT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（スライド383／資料の該当箇所：編集者による補足（Wi-Fi））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電波でPCやスマホをルーターにつなぐ、ケーブルのいらない接続方法。
【どこの話？】
層：ネットワーク（機械どうしをつなぐ道）
場所：家の中で、PCやスマホとルーターを電波でつなぐ区間。回線そのものではない。
【くわしく】
Wi-Fiは、電波を使って、PCやスマホを家の中のルーターにつなぐ無線LANの方式です。「Wi-Fi」は、無線LANの規格に沿って、他社の機器ともつながることが確認された製品に付く名前です。
ルーターのネットワーク名（SSID）を選び、パスワードを入れてつなぎます。パスワード（暗号化）の設定があれば、通信を盗み見されにくくなります。パスワードのない公共Wi-Fiは、盗み見される危険があります。
電波は壁や距離に弱く、電子レンジなどの家電や近所のWi-Fiとも混み合って、速さが変わります。2.4GHz帯は遠くまで届きやすく、5GHz帯は速い代わりに壁に弱い、という違いがあります。
【たとえるなら】
教室での大声の会話。糸電話（有線）がなくても届きますが、遠い席や壁の向こう、周りがざわざわしていると、聞き取りにくくなります。
【こんな場面で】
ノートPCやスマホを家のどこでも使いたいときや、カフェのWi-Fiにつなぐときです。自宅の会議で映像が止まるのは、ルーターとの距離や混雑が原因のこともあります。
【勘違い・つまずき】
Wi-Fiのマークが出ていても、ルーターから先の回線が止まるとネットは使えません。Wi-Fiは家の中の無線の部分で、インターネットへの回線（固定回線）とは別です。
【最初の学び方】
スマホの設定でWi-Fiの一覧を開き、近くのネットワーク名と電波の強さを見ましょう。ルーターの近くと遠くで、強さがどう変わるかも確かめます。
【つながり】
・ルーター →（電波を出す）→ Wi-Fi
・Wi-Fi ⇄（ちがい）⇄ 有線LAN
・Wi-Fi →（接続手段）→ リモート就業
・Wi-Fi →（機器をつなぐ）→ IoT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（スライド384／資料の該当箇所：編集者による補足（Wi-Fi））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電波でPCやスマホをルーターにつなぐ、ケーブルのいらない接続方法。
【どこの話？】
層：ネットワーク（機械どうしをつなぐ道）
場所：家の中で、PCやスマホとルーターを電波でつなぐ区間。回線そのものではない。
【くわしく】
Wi-Fiは、電波を使って、PCやスマホを家の中のルーターにつなぐ無線LANの方式です。「Wi-Fi」は、無線LANの規格に沿って、他社の機器ともつながることが確認された製品に付く名前です。
ルーターのネットワーク名（SSID）を選び、パスワードを入れてつなぎます。パスワード（暗号化）の設定があれば、通信を盗み見されにくくなります。パスワードのない公共Wi-Fiは、盗み見される危険があります。
電波は壁や距離に弱く、電子レンジなどの家電や近所のWi-Fiとも混み合って、速さが変わります。2.4GHz帯は遠くまで届きやすく、5GHz帯は速い代わりに壁に弱い、という違いがあります。
【たとえるなら】
教室での大声の会話。糸電話（有線）がなくても届きますが、遠い席や壁の向こう、周りがざわざわしていると、聞き取りにくくなります。
【こんな場面で】
ノートPCやスマホを家のどこでも使いたいときや、カフェのWi-Fiにつなぐときです。自宅の会議で映像が止まるのは、ルーターとの距離や混雑が原因のこともあります。
【勘違い・つまずき】
Wi-Fiのマークが出ていても、ルーターから先の回線が止まるとネットは使えません。Wi-Fiは家の中の無線の部分で、インターネットへの回線（固定回線）とは別です。
【最初の学び方】
スマホの設定でWi-Fiの一覧を開き、近くのネットワーク名と電波の強さを見ましょう。ルーターの近くと遠くで、強さがどう変わるかも確かめます。
【つながり】
・ルーター →（電波を出す）→ Wi-Fi
・Wi-Fi ⇄（ちがい）⇄ 有線LAN
・Wi-Fi →（接続手段）→ リモート就業
・Wi-Fi →（機器をつなぐ）→ IoT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（スライド385／資料の該当箇所：編集者による補足（Wi-Fi））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家の中の機器とインターネットの間で、データの行き先を決めて中継する機器。
【どこの話？】
層：ハードウェア・ネットワーク（機械・部品そのもの）
場所：家の中に置く小さな機器（ハードウェア）。LANとインターネットの境目にある。
【くわしく】
ルーターは、別々のネットワークの間に立ち、データを正しい行き先へ送り届ける機器です。家庭では、家の中のネットワーク（LAN）と、外のインターネットとの境目に置かれます。
家庭用ルーターは、1台で複数の役目を持つのが一般的です。行き先を決めて中継する、家の機器にIPアドレス（ネット上の住所にあたる番号）を自動で配る、複数の機器が1つの回線を共有できるようにする、Wi-Fiの電波を出す、などです。
道すじでは「PC →（有線LANかWi-Fi）→ ルーター → 回線装置（ONUやケーブルモデム）→ 固定回線 → インターネット」の真ん中にあります。ONUなどと一体になった機器もあります。
【たとえるなら】
マンションの管理人室。住人全員の荷物を、建物の代表住所でまとめて外へ出し、届いた荷物は正しい部屋へ届けます。
【こんな場面で】
家のWi-Fiの電波を出している箱が、たいていルーターです。ネットにつながらないとき、ルーターの電源を入れ直す対処がよく試されます。
【勘違い・つまずき】
ルーター（行き先を決める機器）とWi-Fi（電波でつなぐ方法）は別物です。家庭用は1台で両方を兼ねることが多いので混同しやすく、ONUやモデムとも役割が違います。
【最初の学び方】
Windowsのコマンドプロンプトで ipconfig と打ち、「デフォルト ゲートウェイ」の数字を見ましょう。たいていそれが、家のルーターの住所です。
【つながり】
・有線LAN →（有線でつなぐ）→ ルーター
・ルーター →（電波を出す）→ Wi-Fi
・ルーター →（接続する）→ 固定回線
・ルーター →（中継する）→ インターネット
・ルーター →（網をつなぐ）→ ネットワーク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（スライド386／資料の該当箇所：編集者による補足（ルーター））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家の中の機器とインターネットの間で、データの行き先を決めて中継する機器。
【どこの話？】
層：ハードウェア・ネットワーク（機械・部品そのもの）
場所：家の中に置く小さな機器（ハードウェア）。LANとインターネットの境目にある。
【くわしく】
ルーターは、別々のネットワークの間に立ち、データを正しい行き先へ送り届ける機器です。家庭では、家の中のネットワーク（LAN）と、外のインターネットとの境目に置かれます。
家庭用ルーターは、1台で複数の役目を持つのが一般的です。行き先を決めて中継する、家の機器にIPアドレス（ネット上の住所にあたる番号）を自動で配る、複数の機器が1つの回線を共有できるようにする、Wi-Fiの電波を出す、などです。
道すじでは「PC →（有線LANかWi-Fi）→ ルーター → 回線装置（ONUやケーブルモデム）→ 固定回線 → インターネット」の真ん中にあります。ONUなどと一体になった機器もあります。
【たとえるなら】
マンションの管理人室。住人全員の荷物を、建物の代表住所でまとめて外へ出し、届いた荷物は正しい部屋へ届けます。
【こんな場面で】
家のWi-Fiの電波を出している箱が、たいていルーターです。ネットにつながらないとき、ルーターの電源を入れ直す対処がよく試されます。
【勘違い・つまずき】
ルーター（行き先を決める機器）とWi-Fi（電波でつなぐ方法）は別物です。家庭用は1台で両方を兼ねることが多いので混同しやすく、ONUやモデムとも役割が違います。
【最初の学び方】
Windowsのコマンドプロンプトで ipconfig と打ち、「デフォルト ゲートウェイ」の数字を見ましょう。たいていそれが、家のルーターの住所です。
【つながり】
・有線LAN →（有線でつなぐ）→ ルーター
・ルーター →（電波を出す）→ Wi-Fi
・ルーター →（接続する）→ 固定回線
・ルーター →（中継する）→ インターネット
・ルーター →（網をつなぐ）→ ネットワーク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（スライド387／資料の該当箇所：編集者による補足（ルーター））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家の中の機器とインターネットの間で、データの行き先を決めて中継する機器。
【どこの話？】
層：ハードウェア・ネットワーク（機械・部品そのもの）
場所：家の中に置く小さな機器（ハードウェア）。LANとインターネットの境目にある。
【くわしく】
ルーターは、別々のネットワークの間に立ち、データを正しい行き先へ送り届ける機器です。家庭では、家の中のネットワーク（LAN）と、外のインターネットとの境目に置かれます。
家庭用ルーターは、1台で複数の役目を持つのが一般的です。行き先を決めて中継する、家の機器にIPアドレス（ネット上の住所にあたる番号）を自動で配る、複数の機器が1つの回線を共有できるようにする、Wi-Fiの電波を出す、などです。
道すじでは「PC →（有線LANかWi-Fi）→ ルーター → 回線装置（ONUやケーブルモデム）→ 固定回線 → インターネット」の真ん中にあります。ONUなどと一体になった機器もあります。
【たとえるなら】
マンションの管理人室。住人全員の荷物を、建物の代表住所でまとめて外へ出し、届いた荷物は正しい部屋へ届けます。
【こんな場面で】
家のWi-Fiの電波を出している箱が、たいていルーターです。ネットにつながらないとき、ルーターの電源を入れ直す対処がよく試されます。
【勘違い・つまずき】
ルーター（行き先を決める機器）とWi-Fi（電波でつなぐ方法）は別物です。家庭用は1台で両方を兼ねることが多いので混同しやすく、ONUやモデムとも役割が違います。
【最初の学び方】
Windowsのコマンドプロンプトで ipconfig と打ち、「デフォルト ゲートウェイ」の数字を見ましょう。たいていそれが、家のルーターの住所です。
【つながり】
・有線LAN →（有線でつなぐ）→ ルーター
・ルーター →（電波を出す）→ Wi-Fi
・ルーター →（接続する）→ 固定回線
・ルーター →（中継する）→ インターネット
・ルーター →（網をつなぐ）→ ネットワーク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（スライド388／資料の該当箇所：編集者による補足（ルーター））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左が確認する項目、右が確認の方法です。Wi-Fiの行は、貼り付けが途中で終わっているため補足です。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（スライド389／資料の該当箇所：リモート就業「確認方法」）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左が確認する項目、右が確認の方法です。Wi-Fiの行は、貼り付けが途中で終わっているため補足です。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（スライド390／資料の該当箇所：リモート就業「確認方法」）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左が問い、右が答えのヒントです。先に右を隠して答えてから確認すると効果的です。
【なぜ重要か】
用語は、他の人に説明できて初めて「分かった」といえます。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（スライド391／資料の該当箇所：理解の確認）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左が問い、右が答えのヒントです。先に右を隠して答えてから確認すると効果的です。
【なぜ重要か】
用語は、他の人に説明できて初めて「分かった」といえます。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（スライド392／資料の該当箇所：理解の確認）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左が問い、右が答えのヒントです。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（スライド393／資料の該当箇所：理解の確認）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左が問い、右が答えのヒントです。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（スライド394／資料の該当箇所：理解の確認）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用語を、主な層ごとに並べた一覧です。複数の層にまたがる用語は、いちばん中心になる層に入れています。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（スライド395／資料の該当箇所：用語さくいん）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用語を、主な層ごとに並べた一覧です。複数の層にまたがる用語は、いちばん中心になる層に入れています。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（スライド396／資料の該当箇所：用語さくいん）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用語を、主な層ごとに並べた一覧です。複数の層にまたがる用語は、いちばん中心になる層に入れています。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（スライド397／資料の該当箇所：用語さくいん）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用語を、主な層ごとに並べた一覧です。複数の層にまたがる用語は、いちばん中心になる層に入れています。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（スライド398／資料の該当箇所：用語さくいん）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左が確認できたこと、右が確認できていないことです。
【補足】
・確認：貼り付けられた用語表の記載。PostgreSQL・Docker・Kubernetes・Amazon S3の公式説明の概要。IPA試験のレベル区分。
・未確認：貼り付け範囲外。質問票の正式な文面。製品の最新の版・機能・料金。試験制度の今後の見直し。
・層の分け方、関係図、たとえ、場面、学び方は、一般的な技術知識で整理した編集者の解説です。
【情報の区分】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（スライド399／資料の該当箇所：情報の確かさ）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左が確認できたこと、右が確認できていないことです。
【補足】
・確認：貼り付けられた用語表の記載。PostgreSQL・Docker・Kubernetes・Amazon S3の公式説明の概要。IPA試験のレベル区分。
・未確認：貼り付け範囲外。質問票の正式な文面。製品の最新の版・機能・料金。試験制度の今後の見直し。
・層の分け方、関係図、たとえ、場面、学び方は、一般的な技術知識で整理した編集者の解説です。
【情報の区分】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（スライド400／資料の該当箇所：情報の確かさ）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【出典の読み方】
U＝貼り付けられた質問票用語解説、G＝編集者による補足、D＝公式ドキュメントなど。本文のスライド下部の[U01]などの番号に対応します。
URLは各出典のURL欄にあります。公式ページの一部は、制作環境から直接開けず、検索結果の概要で確認しました。製品・試験の内容は変わることがあります。
【情報の区分】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[D02] Docker公式ドキュメント：What is Docker?
    https://docs.docker.com/get-started/docker-overview/
[D03] Kubernetes公式ドキュメント：Overview
    https://kubernetes.io/docs/concepts/overview/
[D04] AWS公式ドキュメント：What is Amazon S3?
    https://docs.aws.amazon.com/AmazonS3/latest/userguide/Welcome.html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（スライド401／資料の該当箇所：出典）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【出典の読み方】
U＝貼り付けられた質問票用語解説、G＝編集者による補足、D＝公式ドキュメントなど。本文のスライド下部の[U01]などの番号に対応します。
URLは各出典のURL欄にあります。公式ページの一部は、制作環境から直接開けず、検索結果の概要で確認しました。製品・試験の内容は変わることがあります。
【情報の区分】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[D02] Docker公式ドキュメント：What is Docker?
    https://docs.docker.com/get-started/docker-overview/
[D03] Kubernetes公式ドキュメント：Overview
    https://kubernetes.io/docs/concepts/overview/
[D04] AWS公式ドキュメント：What is Amazon S3?
    https://docs.aws.amazon.com/AmazonS3/latest/userguide/Welcome.html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（スライド402／資料の該当箇所：出典）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image" Target="../media/image-102-3.png"/><Relationship Id="rId4" Type="http://schemas.openxmlformats.org/officeDocument/2006/relationships/slideLayout" Target="../slideLayouts/slideLayout1.xml"/><Relationship Id="rId5"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slideLayout" Target="../slideLayouts/slideLayout1.xml"/><Relationship Id="rId5"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image" Target="../media/image-104-3.png"/><Relationship Id="rId4" Type="http://schemas.openxmlformats.org/officeDocument/2006/relationships/image" Target="../media/image-104-4.png"/><Relationship Id="rId5" Type="http://schemas.openxmlformats.org/officeDocument/2006/relationships/image" Target="../media/image-104-5.png"/><Relationship Id="rId6" Type="http://schemas.openxmlformats.org/officeDocument/2006/relationships/slideLayout" Target="../slideLayouts/slideLayout1.xml"/><Relationship Id="rId7"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image" Target="../media/image-123-3.png"/><Relationship Id="rId4" Type="http://schemas.openxmlformats.org/officeDocument/2006/relationships/slideLayout" Target="../slideLayouts/slideLayout1.xml"/><Relationship Id="rId5"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84-1.pn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image" Target="../media/image-225-1.png"/><Relationship Id="rId2" Type="http://schemas.openxmlformats.org/officeDocument/2006/relationships/slideLayout" Target="../slideLayouts/slideLayout1.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26-1.png"/><Relationship Id="rId2" Type="http://schemas.openxmlformats.org/officeDocument/2006/relationships/image" Target="../media/image-226-2.png"/><Relationship Id="rId3" Type="http://schemas.openxmlformats.org/officeDocument/2006/relationships/image" Target="../media/image-226-3.png"/><Relationship Id="rId4" Type="http://schemas.openxmlformats.org/officeDocument/2006/relationships/image" Target="../media/image-226-4.png"/><Relationship Id="rId5" Type="http://schemas.openxmlformats.org/officeDocument/2006/relationships/slideLayout" Target="../slideLayouts/slideLayout1.xml"/><Relationship Id="rId6"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image" Target="../media/image-230-1.png"/><Relationship Id="rId2" Type="http://schemas.openxmlformats.org/officeDocument/2006/relationships/slideLayout" Target="../slideLayouts/slideLayout1.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256-1.pn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257-1.png"/><Relationship Id="rId2" Type="http://schemas.openxmlformats.org/officeDocument/2006/relationships/image" Target="../media/image-257-2.png"/><Relationship Id="rId3" Type="http://schemas.openxmlformats.org/officeDocument/2006/relationships/image" Target="../media/image-257-3.png"/><Relationship Id="rId4" Type="http://schemas.openxmlformats.org/officeDocument/2006/relationships/slideLayout" Target="../slideLayouts/slideLayout1.xml"/><Relationship Id="rId5"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258-1.png"/><Relationship Id="rId2" Type="http://schemas.openxmlformats.org/officeDocument/2006/relationships/slideLayout" Target="../slideLayouts/slideLayout1.xml"/><Relationship Id="rId3"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261-1.png"/><Relationship Id="rId2" Type="http://schemas.openxmlformats.org/officeDocument/2006/relationships/slideLayout" Target="../slideLayouts/slideLayout1.xml"/><Relationship Id="rId3"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264-1.pn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265-1.png"/><Relationship Id="rId2" Type="http://schemas.openxmlformats.org/officeDocument/2006/relationships/slideLayout" Target="../slideLayouts/slideLayout1.xml"/><Relationship Id="rId3"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image" Target="../media/image-299-1.png"/><Relationship Id="rId2" Type="http://schemas.openxmlformats.org/officeDocument/2006/relationships/image" Target="../media/image-299-2.png"/><Relationship Id="rId3" Type="http://schemas.openxmlformats.org/officeDocument/2006/relationships/image" Target="../media/image-299-3.png"/><Relationship Id="rId4" Type="http://schemas.openxmlformats.org/officeDocument/2006/relationships/slideLayout" Target="../slideLayouts/slideLayout1.xml"/><Relationship Id="rId5"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image" Target="../media/image-321-1.png"/><Relationship Id="rId2" Type="http://schemas.openxmlformats.org/officeDocument/2006/relationships/slideLayout" Target="../slideLayouts/slideLayout1.xml"/><Relationship Id="rId3"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image" Target="../media/image-323-1.png"/><Relationship Id="rId2" Type="http://schemas.openxmlformats.org/officeDocument/2006/relationships/slideLayout" Target="../slideLayouts/slideLayout1.xml"/><Relationship Id="rId3"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image" Target="../media/image-337-1.png"/><Relationship Id="rId2" Type="http://schemas.openxmlformats.org/officeDocument/2006/relationships/image" Target="../media/image-337-2.png"/><Relationship Id="rId3" Type="http://schemas.openxmlformats.org/officeDocument/2006/relationships/image" Target="../media/image-337-3.png"/><Relationship Id="rId4" Type="http://schemas.openxmlformats.org/officeDocument/2006/relationships/slideLayout" Target="../slideLayouts/slideLayout1.xml"/><Relationship Id="rId5"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image" Target="../media/image-365-1.png"/><Relationship Id="rId2" Type="http://schemas.openxmlformats.org/officeDocument/2006/relationships/image" Target="../media/image-365-2.png"/><Relationship Id="rId3" Type="http://schemas.openxmlformats.org/officeDocument/2006/relationships/image" Target="../media/image-365-3.png"/><Relationship Id="rId4" Type="http://schemas.openxmlformats.org/officeDocument/2006/relationships/slideLayout" Target="../slideLayouts/slideLayout1.xml"/><Relationship Id="rId5"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image" Target="../media/image-366-1.png"/><Relationship Id="rId2" Type="http://schemas.openxmlformats.org/officeDocument/2006/relationships/slideLayout" Target="../slideLayouts/slideLayout1.xml"/><Relationship Id="rId3"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image" Target="../media/image-367-1.png"/><Relationship Id="rId2" Type="http://schemas.openxmlformats.org/officeDocument/2006/relationships/slideLayout" Target="../slideLayouts/slideLayout1.xml"/><Relationship Id="rId3"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image" Target="../media/image-399-1.png"/><Relationship Id="rId2" Type="http://schemas.openxmlformats.org/officeDocument/2006/relationships/image" Target="../media/image-399-2.png"/><Relationship Id="rId3" Type="http://schemas.openxmlformats.org/officeDocument/2006/relationships/slideLayout" Target="../slideLayouts/slideLayout1.xml"/><Relationship Id="rId4"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image" Target="../media/image-400-1.png"/><Relationship Id="rId2" Type="http://schemas.openxmlformats.org/officeDocument/2006/relationships/slideLayout" Target="../slideLayouts/slideLayout1.xml"/><Relationship Id="rId3"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38"/>
        </a:solidFill>
      </p:bgPr>
    </p:bg>
    <p:spTree>
      <p:nvGrpSpPr>
        <p:cNvPr id="1" name=""/>
        <p:cNvGrpSpPr/>
        <p:nvPr/>
      </p:nvGrpSpPr>
      <p:grpSpPr>
        <a:xfrm>
          <a:off x="0" y="0"/>
          <a:ext cx="0" cy="0"/>
          <a:chOff x="0" y="0"/>
          <a:chExt cx="0" cy="0"/>
        </a:xfrm>
      </p:grpSpPr>
      <p:sp>
        <p:nvSpPr>
          <p:cNvPr id="2" name="Text 0"/>
          <p:cNvSpPr txBox="1"/>
          <p:nvPr/>
        </p:nvSpPr>
        <p:spPr>
          <a:xfrm>
            <a:off x="411480" y="640080"/>
            <a:ext cx="466344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9FB6D1"/>
                </a:solidFill>
                <a:latin typeface="Yu Gothic" pitchFamily="34" charset="0"/>
                <a:ea typeface="Yu Gothic" pitchFamily="34" charset="-122"/>
                <a:cs typeface="Yu Gothic" pitchFamily="34" charset="-120"/>
              </a:rPr>
              <a:t>IT用語のやさしい解説</a:t>
            </a:r>
            <a:endParaRPr lang="en-US" sz="2000" dirty="0"/>
          </a:p>
        </p:txBody>
      </p:sp>
      <p:sp>
        <p:nvSpPr>
          <p:cNvPr id="3" name="Text 1"/>
          <p:cNvSpPr txBox="1"/>
          <p:nvPr/>
        </p:nvSpPr>
        <p:spPr>
          <a:xfrm>
            <a:off x="411480" y="1188720"/>
            <a:ext cx="4663440" cy="3017520"/>
          </a:xfrm>
          <a:prstGeom prst="rect">
            <a:avLst/>
          </a:prstGeom>
          <a:noFill/>
          <a:ln/>
        </p:spPr>
        <p:txBody>
          <a:bodyPr wrap="square" lIns="0" tIns="0" rIns="0" bIns="0" rtlCol="0" anchor="t"/>
          <a:lstStyle/>
          <a:p>
            <a:pPr algn="l" indent="0" marL="0">
              <a:lnSpc>
                <a:spcPts val="4800"/>
              </a:lnSpc>
              <a:buNone/>
            </a:pPr>
            <a:r>
              <a:rPr lang="ja-JP" altLang="en-US" sz="3600" b="1" dirty="0">
                <a:solidFill>
                  <a:srgbClr val="FFFFFF"/>
                </a:solidFill>
                <a:latin typeface="Yu Gothic" pitchFamily="34" charset="0"/>
                <a:ea typeface="Yu Gothic" pitchFamily="34" charset="-122"/>
                <a:cs typeface="Yu Gothic" pitchFamily="34" charset="-120"/>
              </a:rPr>
              <a:t>図でわかる</a:t>
            </a:r>
            <a:endParaRPr lang="en-US" sz="3600" dirty="0"/>
          </a:p>
          <a:p>
            <a:pPr algn="l" indent="0" marL="0">
              <a:lnSpc>
                <a:spcPts val="4800"/>
              </a:lnSpc>
              <a:buNone/>
            </a:pPr>
            <a:r>
              <a:rPr lang="ja-JP" altLang="en-US" sz="3600" b="1" dirty="0">
                <a:solidFill>
                  <a:srgbClr val="FFFFFF"/>
                </a:solidFill>
                <a:latin typeface="Yu Gothic" pitchFamily="34" charset="0"/>
                <a:ea typeface="Yu Gothic" pitchFamily="34" charset="-122"/>
                <a:cs typeface="Yu Gothic" pitchFamily="34" charset="-120"/>
              </a:rPr>
              <a:t>IT用語ガイド</a:t>
            </a:r>
            <a:endParaRPr lang="en-US" sz="3600" dirty="0"/>
          </a:p>
        </p:txBody>
      </p:sp>
      <p:sp>
        <p:nvSpPr>
          <p:cNvPr id="4" name="Text 2"/>
          <p:cNvSpPr txBox="1"/>
          <p:nvPr/>
        </p:nvSpPr>
        <p:spPr>
          <a:xfrm>
            <a:off x="411480" y="4389120"/>
            <a:ext cx="4663440" cy="1737360"/>
          </a:xfrm>
          <a:prstGeom prst="rect">
            <a:avLst/>
          </a:prstGeom>
          <a:noFill/>
          <a:ln/>
        </p:spPr>
        <p:txBody>
          <a:bodyPr wrap="square" lIns="0" tIns="0" rIns="0" bIns="0" rtlCol="0" anchor="t"/>
          <a:lstStyle/>
          <a:p>
            <a:pPr algn="l" indent="0" marL="0">
              <a:lnSpc>
                <a:spcPts val="2600"/>
              </a:lnSpc>
              <a:buNone/>
            </a:pPr>
            <a:r>
              <a:rPr lang="ja-JP" altLang="en-US" sz="2000" dirty="0">
                <a:solidFill>
                  <a:srgbClr val="CADCFC"/>
                </a:solidFill>
                <a:latin typeface="Yu Gothic" pitchFamily="34" charset="0"/>
                <a:ea typeface="Yu Gothic" pitchFamily="34" charset="-122"/>
                <a:cs typeface="Yu Gothic" pitchFamily="34" charset="-120"/>
              </a:rPr>
              <a:t>コンピューターの「どこの話か」を図で示し、用語どうしのつながりまで、高校生にも分かるように説明します</a:t>
            </a:r>
            <a:endParaRPr lang="en-US" sz="2000" dirty="0"/>
          </a:p>
        </p:txBody>
      </p:sp>
      <p:sp>
        <p:nvSpPr>
          <p:cNvPr id="5" name="Shape 3"/>
          <p:cNvSpPr/>
          <p:nvPr/>
        </p:nvSpPr>
        <p:spPr>
          <a:xfrm>
            <a:off x="411480" y="6172200"/>
            <a:ext cx="2286000" cy="749808"/>
          </a:xfrm>
          <a:prstGeom prst="roundRect">
            <a:avLst>
              <a:gd name="adj" fmla="val 14634"/>
            </a:avLst>
          </a:prstGeom>
          <a:solidFill>
            <a:srgbClr val="475569"/>
          </a:solidFill>
          <a:ln/>
        </p:spPr>
      </p:sp>
      <p:sp>
        <p:nvSpPr>
          <p:cNvPr id="6" name="Shape 4"/>
          <p:cNvSpPr/>
          <p:nvPr/>
        </p:nvSpPr>
        <p:spPr>
          <a:xfrm>
            <a:off x="539496" y="6272784"/>
            <a:ext cx="548640" cy="54864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60197" y="6393485"/>
            <a:ext cx="307238" cy="307238"/>
          </a:xfrm>
          <a:prstGeom prst="rect">
            <a:avLst/>
          </a:prstGeom>
        </p:spPr>
      </p:pic>
      <p:sp>
        <p:nvSpPr>
          <p:cNvPr id="8" name="Text 5"/>
          <p:cNvSpPr txBox="1"/>
          <p:nvPr/>
        </p:nvSpPr>
        <p:spPr>
          <a:xfrm>
            <a:off x="1179576" y="6172200"/>
            <a:ext cx="1426464" cy="7498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ハードウェア</a:t>
            </a:r>
            <a:endParaRPr lang="en-US" sz="1800" dirty="0"/>
          </a:p>
        </p:txBody>
      </p:sp>
      <p:sp>
        <p:nvSpPr>
          <p:cNvPr id="9" name="Shape 6"/>
          <p:cNvSpPr/>
          <p:nvPr/>
        </p:nvSpPr>
        <p:spPr>
          <a:xfrm>
            <a:off x="2788920" y="6172200"/>
            <a:ext cx="2286000" cy="749808"/>
          </a:xfrm>
          <a:prstGeom prst="roundRect">
            <a:avLst>
              <a:gd name="adj" fmla="val 14634"/>
            </a:avLst>
          </a:prstGeom>
          <a:solidFill>
            <a:srgbClr val="2F6BC2"/>
          </a:solidFill>
          <a:ln/>
        </p:spPr>
      </p:sp>
      <p:sp>
        <p:nvSpPr>
          <p:cNvPr id="10" name="Shape 7"/>
          <p:cNvSpPr/>
          <p:nvPr/>
        </p:nvSpPr>
        <p:spPr>
          <a:xfrm>
            <a:off x="2916936" y="6272784"/>
            <a:ext cx="548640" cy="54864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3037637" y="6393485"/>
            <a:ext cx="307238" cy="307238"/>
          </a:xfrm>
          <a:prstGeom prst="rect">
            <a:avLst/>
          </a:prstGeom>
        </p:spPr>
      </p:pic>
      <p:sp>
        <p:nvSpPr>
          <p:cNvPr id="12" name="Text 8"/>
          <p:cNvSpPr txBox="1"/>
          <p:nvPr/>
        </p:nvSpPr>
        <p:spPr>
          <a:xfrm>
            <a:off x="3557016" y="6172200"/>
            <a:ext cx="1426464" cy="7498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OS</a:t>
            </a:r>
            <a:endParaRPr lang="en-US" sz="1800" dirty="0"/>
          </a:p>
        </p:txBody>
      </p:sp>
      <p:sp>
        <p:nvSpPr>
          <p:cNvPr id="13" name="Shape 9"/>
          <p:cNvSpPr/>
          <p:nvPr/>
        </p:nvSpPr>
        <p:spPr>
          <a:xfrm>
            <a:off x="411480" y="7013448"/>
            <a:ext cx="2286000" cy="749808"/>
          </a:xfrm>
          <a:prstGeom prst="roundRect">
            <a:avLst>
              <a:gd name="adj" fmla="val 14634"/>
            </a:avLst>
          </a:prstGeom>
          <a:solidFill>
            <a:srgbClr val="0B7A7A"/>
          </a:solidFill>
          <a:ln/>
        </p:spPr>
      </p:sp>
      <p:sp>
        <p:nvSpPr>
          <p:cNvPr id="14" name="Shape 10"/>
          <p:cNvSpPr/>
          <p:nvPr/>
        </p:nvSpPr>
        <p:spPr>
          <a:xfrm>
            <a:off x="539496" y="7114032"/>
            <a:ext cx="548640" cy="548640"/>
          </a:xfrm>
          <a:prstGeom prst="ellipse">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60197" y="7234733"/>
            <a:ext cx="307238" cy="307238"/>
          </a:xfrm>
          <a:prstGeom prst="rect">
            <a:avLst/>
          </a:prstGeom>
        </p:spPr>
      </p:pic>
      <p:sp>
        <p:nvSpPr>
          <p:cNvPr id="16" name="Text 11"/>
          <p:cNvSpPr txBox="1"/>
          <p:nvPr/>
        </p:nvSpPr>
        <p:spPr>
          <a:xfrm>
            <a:off x="1179576" y="7013448"/>
            <a:ext cx="1426464" cy="7498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a:t>
            </a:r>
            <a:endParaRPr lang="en-US" sz="1800" dirty="0"/>
          </a:p>
        </p:txBody>
      </p:sp>
      <p:sp>
        <p:nvSpPr>
          <p:cNvPr id="17" name="Shape 12"/>
          <p:cNvSpPr/>
          <p:nvPr/>
        </p:nvSpPr>
        <p:spPr>
          <a:xfrm>
            <a:off x="2788920" y="7013448"/>
            <a:ext cx="2286000" cy="749808"/>
          </a:xfrm>
          <a:prstGeom prst="roundRect">
            <a:avLst>
              <a:gd name="adj" fmla="val 14634"/>
            </a:avLst>
          </a:prstGeom>
          <a:solidFill>
            <a:srgbClr val="5B46B8"/>
          </a:solidFill>
          <a:ln/>
        </p:spPr>
      </p:sp>
      <p:sp>
        <p:nvSpPr>
          <p:cNvPr id="18" name="Shape 13"/>
          <p:cNvSpPr/>
          <p:nvPr/>
        </p:nvSpPr>
        <p:spPr>
          <a:xfrm>
            <a:off x="2916936" y="7114032"/>
            <a:ext cx="548640" cy="548640"/>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3037637" y="7234733"/>
            <a:ext cx="307238" cy="307238"/>
          </a:xfrm>
          <a:prstGeom prst="rect">
            <a:avLst/>
          </a:prstGeom>
        </p:spPr>
      </p:pic>
      <p:sp>
        <p:nvSpPr>
          <p:cNvPr id="20" name="Text 14"/>
          <p:cNvSpPr txBox="1"/>
          <p:nvPr/>
        </p:nvSpPr>
        <p:spPr>
          <a:xfrm>
            <a:off x="3557016" y="7013448"/>
            <a:ext cx="1426464" cy="7498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ミドルウェア</a:t>
            </a:r>
            <a:endParaRPr lang="en-US" sz="1800" dirty="0"/>
          </a:p>
        </p:txBody>
      </p:sp>
      <p:sp>
        <p:nvSpPr>
          <p:cNvPr id="21" name="Shape 15"/>
          <p:cNvSpPr/>
          <p:nvPr/>
        </p:nvSpPr>
        <p:spPr>
          <a:xfrm>
            <a:off x="411480" y="7854696"/>
            <a:ext cx="2286000" cy="749808"/>
          </a:xfrm>
          <a:prstGeom prst="roundRect">
            <a:avLst>
              <a:gd name="adj" fmla="val 14634"/>
            </a:avLst>
          </a:prstGeom>
          <a:solidFill>
            <a:srgbClr val="237A48"/>
          </a:solidFill>
          <a:ln/>
        </p:spPr>
      </p:sp>
      <p:sp>
        <p:nvSpPr>
          <p:cNvPr id="22" name="Shape 16"/>
          <p:cNvSpPr/>
          <p:nvPr/>
        </p:nvSpPr>
        <p:spPr>
          <a:xfrm>
            <a:off x="539496" y="7955280"/>
            <a:ext cx="548640" cy="548640"/>
          </a:xfrm>
          <a:prstGeom prst="ellipse">
            <a:avLst/>
          </a:prstGeom>
          <a:solidFill>
            <a:srgbClr val="FFFFFF"/>
          </a:solidFill>
          <a:ln/>
        </p:spPr>
      </p:sp>
      <p:pic>
        <p:nvPicPr>
          <p:cNvPr id="23" name="Image 4" descr="preencoded.png">    </p:cNvPr>
          <p:cNvPicPr>
            <a:picLocks noChangeAspect="1"/>
          </p:cNvPicPr>
          <p:nvPr/>
        </p:nvPicPr>
        <p:blipFill>
          <a:blip r:embed="rId5"/>
          <a:stretch>
            <a:fillRect/>
          </a:stretch>
        </p:blipFill>
        <p:spPr>
          <a:xfrm>
            <a:off x="660197" y="8075981"/>
            <a:ext cx="307238" cy="307238"/>
          </a:xfrm>
          <a:prstGeom prst="rect">
            <a:avLst/>
          </a:prstGeom>
        </p:spPr>
      </p:pic>
      <p:sp>
        <p:nvSpPr>
          <p:cNvPr id="24" name="Text 17"/>
          <p:cNvSpPr txBox="1"/>
          <p:nvPr/>
        </p:nvSpPr>
        <p:spPr>
          <a:xfrm>
            <a:off x="1179576" y="7854696"/>
            <a:ext cx="1426464" cy="7498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a:t>
            </a:r>
            <a:endParaRPr lang="en-US" sz="1800" dirty="0"/>
          </a:p>
        </p:txBody>
      </p:sp>
      <p:sp>
        <p:nvSpPr>
          <p:cNvPr id="25" name="Shape 18"/>
          <p:cNvSpPr/>
          <p:nvPr/>
        </p:nvSpPr>
        <p:spPr>
          <a:xfrm>
            <a:off x="2788920" y="7854696"/>
            <a:ext cx="2286000" cy="749808"/>
          </a:xfrm>
          <a:prstGeom prst="roundRect">
            <a:avLst>
              <a:gd name="adj" fmla="val 14634"/>
            </a:avLst>
          </a:prstGeom>
          <a:solidFill>
            <a:srgbClr val="B45309"/>
          </a:solidFill>
          <a:ln/>
        </p:spPr>
      </p:sp>
      <p:sp>
        <p:nvSpPr>
          <p:cNvPr id="26" name="Shape 19"/>
          <p:cNvSpPr/>
          <p:nvPr/>
        </p:nvSpPr>
        <p:spPr>
          <a:xfrm>
            <a:off x="2916936" y="7955280"/>
            <a:ext cx="548640" cy="548640"/>
          </a:xfrm>
          <a:prstGeom prst="ellipse">
            <a:avLst/>
          </a:prstGeom>
          <a:solidFill>
            <a:srgbClr val="FFFFFF"/>
          </a:solidFill>
          <a:ln/>
        </p:spPr>
      </p:sp>
      <p:pic>
        <p:nvPicPr>
          <p:cNvPr id="27" name="Image 5" descr="preencoded.png">    </p:cNvPr>
          <p:cNvPicPr>
            <a:picLocks noChangeAspect="1"/>
          </p:cNvPicPr>
          <p:nvPr/>
        </p:nvPicPr>
        <p:blipFill>
          <a:blip r:embed="rId6"/>
          <a:stretch>
            <a:fillRect/>
          </a:stretch>
        </p:blipFill>
        <p:spPr>
          <a:xfrm>
            <a:off x="3037637" y="8075981"/>
            <a:ext cx="307238" cy="307238"/>
          </a:xfrm>
          <a:prstGeom prst="rect">
            <a:avLst/>
          </a:prstGeom>
        </p:spPr>
      </p:pic>
      <p:sp>
        <p:nvSpPr>
          <p:cNvPr id="28" name="Text 20"/>
          <p:cNvSpPr txBox="1"/>
          <p:nvPr/>
        </p:nvSpPr>
        <p:spPr>
          <a:xfrm>
            <a:off x="3557016" y="7854696"/>
            <a:ext cx="1426464" cy="7498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ネットワーク</a:t>
            </a:r>
            <a:endParaRPr lang="en-US" sz="1800" dirty="0"/>
          </a:p>
        </p:txBody>
      </p:sp>
      <p:sp>
        <p:nvSpPr>
          <p:cNvPr id="29" name="Shape 21"/>
          <p:cNvSpPr/>
          <p:nvPr/>
        </p:nvSpPr>
        <p:spPr>
          <a:xfrm>
            <a:off x="411480" y="8695944"/>
            <a:ext cx="2286000" cy="749808"/>
          </a:xfrm>
          <a:prstGeom prst="roundRect">
            <a:avLst>
              <a:gd name="adj" fmla="val 14634"/>
            </a:avLst>
          </a:prstGeom>
          <a:solidFill>
            <a:srgbClr val="0369A1"/>
          </a:solidFill>
          <a:ln/>
        </p:spPr>
      </p:sp>
      <p:sp>
        <p:nvSpPr>
          <p:cNvPr id="30" name="Shape 22"/>
          <p:cNvSpPr/>
          <p:nvPr/>
        </p:nvSpPr>
        <p:spPr>
          <a:xfrm>
            <a:off x="539496" y="8796528"/>
            <a:ext cx="548640" cy="548640"/>
          </a:xfrm>
          <a:prstGeom prst="ellipse">
            <a:avLst/>
          </a:prstGeom>
          <a:solidFill>
            <a:srgbClr val="FFFFFF"/>
          </a:solidFill>
          <a:ln/>
        </p:spPr>
      </p:sp>
      <p:pic>
        <p:nvPicPr>
          <p:cNvPr id="31" name="Image 6" descr="preencoded.png">    </p:cNvPr>
          <p:cNvPicPr>
            <a:picLocks noChangeAspect="1"/>
          </p:cNvPicPr>
          <p:nvPr/>
        </p:nvPicPr>
        <p:blipFill>
          <a:blip r:embed="rId7"/>
          <a:stretch>
            <a:fillRect/>
          </a:stretch>
        </p:blipFill>
        <p:spPr>
          <a:xfrm>
            <a:off x="660197" y="8917229"/>
            <a:ext cx="307238" cy="307238"/>
          </a:xfrm>
          <a:prstGeom prst="rect">
            <a:avLst/>
          </a:prstGeom>
        </p:spPr>
      </p:pic>
      <p:sp>
        <p:nvSpPr>
          <p:cNvPr id="32" name="Text 23"/>
          <p:cNvSpPr txBox="1"/>
          <p:nvPr/>
        </p:nvSpPr>
        <p:spPr>
          <a:xfrm>
            <a:off x="1179576" y="8695944"/>
            <a:ext cx="1426464" cy="7498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置き場所</a:t>
            </a:r>
            <a:endParaRPr lang="en-US" sz="1800" dirty="0"/>
          </a:p>
        </p:txBody>
      </p:sp>
      <p:sp>
        <p:nvSpPr>
          <p:cNvPr id="33" name="Text 24"/>
          <p:cNvSpPr txBox="1"/>
          <p:nvPr/>
        </p:nvSpPr>
        <p:spPr>
          <a:xfrm>
            <a:off x="411480" y="9601200"/>
            <a:ext cx="4663440" cy="1234440"/>
          </a:xfrm>
          <a:prstGeom prst="rect">
            <a:avLst/>
          </a:prstGeom>
          <a:noFill/>
          <a:ln/>
        </p:spPr>
        <p:txBody>
          <a:bodyPr wrap="square" lIns="0" tIns="0" rIns="0" bIns="0" rtlCol="0" anchor="t"/>
          <a:lstStyle/>
          <a:p>
            <a:pPr algn="l" indent="0" marL="0">
              <a:lnSpc>
                <a:spcPts val="2100"/>
              </a:lnSpc>
              <a:buNone/>
            </a:pPr>
            <a:r>
              <a:rPr lang="ja-JP" altLang="en-US" sz="1600" dirty="0">
                <a:solidFill>
                  <a:srgbClr val="9FB6D1"/>
                </a:solidFill>
                <a:latin typeface="Yu Gothic" pitchFamily="34" charset="0"/>
                <a:ea typeface="Yu Gothic" pitchFamily="34" charset="-122"/>
                <a:cs typeface="Yu Gothic" pitchFamily="34" charset="-120"/>
              </a:rPr>
              <a:t>質問票の用語（質問12〜26）を、層・関係図・たとえで解説します。貼り付けは途中から途中までのため、範囲外は含みません。学習用の独自教材です。</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この資料のねらい</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IT用語は、コンピューターの「どの部分」の話なのかが分かりにくく、つまずきやすいものです。3つの工夫で整理します。</a:t>
            </a:r>
            <a:endParaRPr lang="en-US" sz="1800" dirty="0"/>
          </a:p>
        </p:txBody>
      </p:sp>
      <p:sp>
        <p:nvSpPr>
          <p:cNvPr id="6" name="Shape 4"/>
          <p:cNvSpPr/>
          <p:nvPr/>
        </p:nvSpPr>
        <p:spPr>
          <a:xfrm>
            <a:off x="320040" y="2817622"/>
            <a:ext cx="4846320" cy="1712976"/>
          </a:xfrm>
          <a:prstGeom prst="roundRect">
            <a:avLst>
              <a:gd name="adj" fmla="val 7473"/>
            </a:avLst>
          </a:prstGeom>
          <a:solidFill>
            <a:srgbClr val="DCE8F8"/>
          </a:solidFill>
          <a:ln/>
        </p:spPr>
      </p:sp>
      <p:sp>
        <p:nvSpPr>
          <p:cNvPr id="7" name="Shape 5"/>
          <p:cNvSpPr/>
          <p:nvPr/>
        </p:nvSpPr>
        <p:spPr>
          <a:xfrm>
            <a:off x="502920" y="2963926"/>
            <a:ext cx="566928" cy="566928"/>
          </a:xfrm>
          <a:prstGeom prst="ellipse">
            <a:avLst/>
          </a:prstGeom>
          <a:solidFill>
            <a:srgbClr val="2F6BC2"/>
          </a:solidFill>
          <a:ln/>
        </p:spPr>
      </p:sp>
      <p:pic>
        <p:nvPicPr>
          <p:cNvPr id="8" name="Image 0" descr="preencoded.png">    </p:cNvPr>
          <p:cNvPicPr>
            <a:picLocks noChangeAspect="1"/>
          </p:cNvPicPr>
          <p:nvPr/>
        </p:nvPicPr>
        <p:blipFill>
          <a:blip r:embed="rId1"/>
          <a:stretch>
            <a:fillRect/>
          </a:stretch>
        </p:blipFill>
        <p:spPr>
          <a:xfrm>
            <a:off x="627644" y="3088650"/>
            <a:ext cx="317480" cy="317480"/>
          </a:xfrm>
          <a:prstGeom prst="rect">
            <a:avLst/>
          </a:prstGeom>
        </p:spPr>
      </p:pic>
      <p:sp>
        <p:nvSpPr>
          <p:cNvPr id="9" name="Text 6"/>
          <p:cNvSpPr txBox="1"/>
          <p:nvPr/>
        </p:nvSpPr>
        <p:spPr>
          <a:xfrm>
            <a:off x="1188720" y="2963926"/>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① 場所を示す</a:t>
            </a:r>
            <a:endParaRPr lang="en-US" sz="2200" dirty="0"/>
          </a:p>
        </p:txBody>
      </p:sp>
      <p:sp>
        <p:nvSpPr>
          <p:cNvPr id="10" name="Text 7"/>
          <p:cNvSpPr txBox="1"/>
          <p:nvPr/>
        </p:nvSpPr>
        <p:spPr>
          <a:xfrm>
            <a:off x="502920" y="3622294"/>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全用語のページに「層」の帯</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色で今の位置が分かる</a:t>
            </a:r>
            <a:endParaRPr lang="en-US" sz="2000" dirty="0"/>
          </a:p>
        </p:txBody>
      </p:sp>
      <p:sp>
        <p:nvSpPr>
          <p:cNvPr id="11" name="Shape 8"/>
          <p:cNvSpPr/>
          <p:nvPr/>
        </p:nvSpPr>
        <p:spPr>
          <a:xfrm>
            <a:off x="320040" y="4713478"/>
            <a:ext cx="4846320" cy="1712976"/>
          </a:xfrm>
          <a:prstGeom prst="roundRect">
            <a:avLst>
              <a:gd name="adj" fmla="val 7473"/>
            </a:avLst>
          </a:prstGeom>
          <a:solidFill>
            <a:srgbClr val="D9F2F1"/>
          </a:solidFill>
          <a:ln/>
        </p:spPr>
      </p:sp>
      <p:sp>
        <p:nvSpPr>
          <p:cNvPr id="12" name="Shape 9"/>
          <p:cNvSpPr/>
          <p:nvPr/>
        </p:nvSpPr>
        <p:spPr>
          <a:xfrm>
            <a:off x="502920" y="4859782"/>
            <a:ext cx="566928" cy="566928"/>
          </a:xfrm>
          <a:prstGeom prst="ellipse">
            <a:avLst/>
          </a:prstGeom>
          <a:solidFill>
            <a:srgbClr val="0B7A7A"/>
          </a:solidFill>
          <a:ln/>
        </p:spPr>
      </p:sp>
      <p:pic>
        <p:nvPicPr>
          <p:cNvPr id="13" name="Image 1" descr="preencoded.png">    </p:cNvPr>
          <p:cNvPicPr>
            <a:picLocks noChangeAspect="1"/>
          </p:cNvPicPr>
          <p:nvPr/>
        </p:nvPicPr>
        <p:blipFill>
          <a:blip r:embed="rId2"/>
          <a:stretch>
            <a:fillRect/>
          </a:stretch>
        </p:blipFill>
        <p:spPr>
          <a:xfrm>
            <a:off x="627644" y="4984506"/>
            <a:ext cx="317480" cy="317480"/>
          </a:xfrm>
          <a:prstGeom prst="rect">
            <a:avLst/>
          </a:prstGeom>
        </p:spPr>
      </p:pic>
      <p:sp>
        <p:nvSpPr>
          <p:cNvPr id="14" name="Text 10"/>
          <p:cNvSpPr txBox="1"/>
          <p:nvPr/>
        </p:nvSpPr>
        <p:spPr>
          <a:xfrm>
            <a:off x="1188720" y="4859782"/>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② つながりを描く</a:t>
            </a:r>
            <a:endParaRPr lang="en-US" sz="2200" dirty="0"/>
          </a:p>
        </p:txBody>
      </p:sp>
      <p:sp>
        <p:nvSpPr>
          <p:cNvPr id="15" name="Text 11"/>
          <p:cNvSpPr txBox="1"/>
          <p:nvPr/>
        </p:nvSpPr>
        <p:spPr>
          <a:xfrm>
            <a:off x="502920" y="5518150"/>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用語どうしを矢印で結ぶ</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「何が何を動かすか」が分かる</a:t>
            </a:r>
            <a:endParaRPr lang="en-US" sz="2000" dirty="0"/>
          </a:p>
        </p:txBody>
      </p:sp>
      <p:sp>
        <p:nvSpPr>
          <p:cNvPr id="16" name="Shape 12"/>
          <p:cNvSpPr/>
          <p:nvPr/>
        </p:nvSpPr>
        <p:spPr>
          <a:xfrm>
            <a:off x="320040" y="6609334"/>
            <a:ext cx="4846320" cy="1712976"/>
          </a:xfrm>
          <a:prstGeom prst="roundRect">
            <a:avLst>
              <a:gd name="adj" fmla="val 7473"/>
            </a:avLst>
          </a:prstGeom>
          <a:solidFill>
            <a:srgbClr val="DDF1E4"/>
          </a:solidFill>
          <a:ln/>
        </p:spPr>
      </p:sp>
      <p:sp>
        <p:nvSpPr>
          <p:cNvPr id="17" name="Shape 13"/>
          <p:cNvSpPr/>
          <p:nvPr/>
        </p:nvSpPr>
        <p:spPr>
          <a:xfrm>
            <a:off x="502920" y="6755638"/>
            <a:ext cx="566928" cy="566928"/>
          </a:xfrm>
          <a:prstGeom prst="ellipse">
            <a:avLst/>
          </a:prstGeom>
          <a:solidFill>
            <a:srgbClr val="237A48"/>
          </a:solidFill>
          <a:ln/>
        </p:spPr>
      </p:sp>
      <p:pic>
        <p:nvPicPr>
          <p:cNvPr id="18" name="Image 2" descr="preencoded.png">    </p:cNvPr>
          <p:cNvPicPr>
            <a:picLocks noChangeAspect="1"/>
          </p:cNvPicPr>
          <p:nvPr/>
        </p:nvPicPr>
        <p:blipFill>
          <a:blip r:embed="rId3"/>
          <a:stretch>
            <a:fillRect/>
          </a:stretch>
        </p:blipFill>
        <p:spPr>
          <a:xfrm>
            <a:off x="627644" y="6880362"/>
            <a:ext cx="317480" cy="317480"/>
          </a:xfrm>
          <a:prstGeom prst="rect">
            <a:avLst/>
          </a:prstGeom>
        </p:spPr>
      </p:pic>
      <p:sp>
        <p:nvSpPr>
          <p:cNvPr id="19" name="Text 14"/>
          <p:cNvSpPr txBox="1"/>
          <p:nvPr/>
        </p:nvSpPr>
        <p:spPr>
          <a:xfrm>
            <a:off x="1188720" y="6755638"/>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③ 具体的に見せる</a:t>
            </a:r>
            <a:endParaRPr lang="en-US" sz="2200" dirty="0"/>
          </a:p>
        </p:txBody>
      </p:sp>
      <p:sp>
        <p:nvSpPr>
          <p:cNvPr id="20" name="Text 15"/>
          <p:cNvSpPr txBox="1"/>
          <p:nvPr/>
        </p:nvSpPr>
        <p:spPr>
          <a:xfrm>
            <a:off x="502920" y="7414006"/>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実際の機械・場面の図</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たとえ話と具体例</a:t>
            </a:r>
            <a:endParaRPr lang="en-US" sz="2000" dirty="0"/>
          </a:p>
        </p:txBody>
      </p:sp>
      <p:sp>
        <p:nvSpPr>
          <p:cNvPr id="21" name="Shape 16"/>
          <p:cNvSpPr/>
          <p:nvPr/>
        </p:nvSpPr>
        <p:spPr>
          <a:xfrm>
            <a:off x="320040" y="8505190"/>
            <a:ext cx="4846320" cy="1615440"/>
          </a:xfrm>
          <a:prstGeom prst="roundRect">
            <a:avLst>
              <a:gd name="adj" fmla="val 6792"/>
            </a:avLst>
          </a:prstGeom>
          <a:solidFill>
            <a:srgbClr val="DCE8F8"/>
          </a:solidFill>
          <a:ln w="19050">
            <a:solidFill>
              <a:srgbClr val="2F6BC2"/>
            </a:solidFill>
            <a:prstDash val="solid"/>
          </a:ln>
        </p:spPr>
      </p:sp>
      <p:sp>
        <p:nvSpPr>
          <p:cNvPr id="22" name="Shape 17"/>
          <p:cNvSpPr/>
          <p:nvPr/>
        </p:nvSpPr>
        <p:spPr>
          <a:xfrm>
            <a:off x="457200" y="9084310"/>
            <a:ext cx="457200" cy="457200"/>
          </a:xfrm>
          <a:prstGeom prst="ellipse">
            <a:avLst/>
          </a:prstGeom>
          <a:solidFill>
            <a:srgbClr val="2F6BC2"/>
          </a:solidFill>
          <a:ln/>
        </p:spPr>
      </p:sp>
      <p:pic>
        <p:nvPicPr>
          <p:cNvPr id="23" name="Image 3" descr="preencoded.png">    </p:cNvPr>
          <p:cNvPicPr>
            <a:picLocks noChangeAspect="1"/>
          </p:cNvPicPr>
          <p:nvPr/>
        </p:nvPicPr>
        <p:blipFill>
          <a:blip r:embed="rId4"/>
          <a:stretch>
            <a:fillRect/>
          </a:stretch>
        </p:blipFill>
        <p:spPr>
          <a:xfrm>
            <a:off x="557784" y="9184894"/>
            <a:ext cx="256032" cy="256032"/>
          </a:xfrm>
          <a:prstGeom prst="rect">
            <a:avLst/>
          </a:prstGeom>
        </p:spPr>
      </p:pic>
      <p:sp>
        <p:nvSpPr>
          <p:cNvPr id="24" name="Text 18"/>
          <p:cNvSpPr txBox="1"/>
          <p:nvPr/>
        </p:nvSpPr>
        <p:spPr>
          <a:xfrm>
            <a:off x="1051560" y="8550910"/>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読み手は高校生くらいを想定しています。専門用語は、初めて出たときに言い換えを付けています。</a:t>
            </a:r>
            <a:endParaRPr lang="en-US" sz="2000" dirty="0"/>
          </a:p>
        </p:txBody>
      </p:sp>
      <p:sp>
        <p:nvSpPr>
          <p:cNvPr id="25"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用語ページの見かた</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1つの用語は2枚で説明します。1枚目で「意味・場所・つながり」、2枚目で「たとえ・場面・注意・学び方」が分かります。</a:t>
            </a:r>
            <a:endParaRPr lang="en-US" sz="1800" dirty="0"/>
          </a:p>
        </p:txBody>
      </p:sp>
      <p:sp>
        <p:nvSpPr>
          <p:cNvPr id="6" name="Shape 4"/>
          <p:cNvSpPr/>
          <p:nvPr/>
        </p:nvSpPr>
        <p:spPr>
          <a:xfrm>
            <a:off x="320040" y="2817622"/>
            <a:ext cx="1828800" cy="457200"/>
          </a:xfrm>
          <a:prstGeom prst="roundRect">
            <a:avLst>
              <a:gd name="adj" fmla="val 24000"/>
            </a:avLst>
          </a:prstGeom>
          <a:solidFill>
            <a:srgbClr val="475569"/>
          </a:solidFill>
          <a:ln/>
        </p:spPr>
      </p:sp>
      <p:sp>
        <p:nvSpPr>
          <p:cNvPr id="7" name="Text 5"/>
          <p:cNvSpPr txBox="1"/>
          <p:nvPr/>
        </p:nvSpPr>
        <p:spPr>
          <a:xfrm>
            <a:off x="411480" y="2817622"/>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ハードウェア</a:t>
            </a:r>
            <a:endParaRPr lang="en-US" sz="1800" dirty="0"/>
          </a:p>
        </p:txBody>
      </p:sp>
      <p:sp>
        <p:nvSpPr>
          <p:cNvPr id="8" name="Shape 6"/>
          <p:cNvSpPr/>
          <p:nvPr/>
        </p:nvSpPr>
        <p:spPr>
          <a:xfrm>
            <a:off x="2258568" y="2817622"/>
            <a:ext cx="740664" cy="457200"/>
          </a:xfrm>
          <a:prstGeom prst="roundRect">
            <a:avLst>
              <a:gd name="adj" fmla="val 24000"/>
            </a:avLst>
          </a:prstGeom>
          <a:solidFill>
            <a:srgbClr val="2F6BC2"/>
          </a:solidFill>
          <a:ln/>
        </p:spPr>
      </p:sp>
      <p:sp>
        <p:nvSpPr>
          <p:cNvPr id="9" name="Text 7"/>
          <p:cNvSpPr txBox="1"/>
          <p:nvPr/>
        </p:nvSpPr>
        <p:spPr>
          <a:xfrm>
            <a:off x="2350008" y="2817622"/>
            <a:ext cx="557784"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OS</a:t>
            </a:r>
            <a:endParaRPr lang="en-US" sz="1800" dirty="0"/>
          </a:p>
        </p:txBody>
      </p:sp>
      <p:sp>
        <p:nvSpPr>
          <p:cNvPr id="10" name="Shape 8"/>
          <p:cNvSpPr/>
          <p:nvPr/>
        </p:nvSpPr>
        <p:spPr>
          <a:xfrm>
            <a:off x="3108960" y="2817622"/>
            <a:ext cx="1143000" cy="457200"/>
          </a:xfrm>
          <a:prstGeom prst="roundRect">
            <a:avLst>
              <a:gd name="adj" fmla="val 24000"/>
            </a:avLst>
          </a:prstGeom>
          <a:solidFill>
            <a:srgbClr val="0B7A7A"/>
          </a:solidFill>
          <a:ln/>
        </p:spPr>
      </p:sp>
      <p:sp>
        <p:nvSpPr>
          <p:cNvPr id="11" name="Text 9"/>
          <p:cNvSpPr txBox="1"/>
          <p:nvPr/>
        </p:nvSpPr>
        <p:spPr>
          <a:xfrm>
            <a:off x="3200400" y="2817622"/>
            <a:ext cx="960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a:t>
            </a:r>
            <a:endParaRPr lang="en-US" sz="1800" dirty="0"/>
          </a:p>
        </p:txBody>
      </p:sp>
      <p:sp>
        <p:nvSpPr>
          <p:cNvPr id="12" name="Shape 10"/>
          <p:cNvSpPr/>
          <p:nvPr/>
        </p:nvSpPr>
        <p:spPr>
          <a:xfrm>
            <a:off x="320040" y="3384550"/>
            <a:ext cx="1828800" cy="457200"/>
          </a:xfrm>
          <a:prstGeom prst="roundRect">
            <a:avLst>
              <a:gd name="adj" fmla="val 24000"/>
            </a:avLst>
          </a:prstGeom>
          <a:solidFill>
            <a:srgbClr val="5B46B8"/>
          </a:solidFill>
          <a:ln/>
        </p:spPr>
      </p:sp>
      <p:sp>
        <p:nvSpPr>
          <p:cNvPr id="13" name="Text 11"/>
          <p:cNvSpPr txBox="1"/>
          <p:nvPr/>
        </p:nvSpPr>
        <p:spPr>
          <a:xfrm>
            <a:off x="411480" y="3384550"/>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ミドルウェア</a:t>
            </a:r>
            <a:endParaRPr lang="en-US" sz="1800" dirty="0"/>
          </a:p>
        </p:txBody>
      </p:sp>
      <p:sp>
        <p:nvSpPr>
          <p:cNvPr id="14" name="Shape 12"/>
          <p:cNvSpPr/>
          <p:nvPr/>
        </p:nvSpPr>
        <p:spPr>
          <a:xfrm>
            <a:off x="2258568" y="3384550"/>
            <a:ext cx="1143000" cy="457200"/>
          </a:xfrm>
          <a:prstGeom prst="roundRect">
            <a:avLst>
              <a:gd name="adj" fmla="val 24000"/>
            </a:avLst>
          </a:prstGeom>
          <a:solidFill>
            <a:srgbClr val="237A48"/>
          </a:solidFill>
          <a:ln/>
        </p:spPr>
      </p:sp>
      <p:sp>
        <p:nvSpPr>
          <p:cNvPr id="15" name="Text 13"/>
          <p:cNvSpPr txBox="1"/>
          <p:nvPr/>
        </p:nvSpPr>
        <p:spPr>
          <a:xfrm>
            <a:off x="2350008" y="3384550"/>
            <a:ext cx="960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a:t>
            </a:r>
            <a:endParaRPr lang="en-US" sz="1800" dirty="0"/>
          </a:p>
        </p:txBody>
      </p:sp>
      <p:sp>
        <p:nvSpPr>
          <p:cNvPr id="16" name="Shape 14"/>
          <p:cNvSpPr/>
          <p:nvPr/>
        </p:nvSpPr>
        <p:spPr>
          <a:xfrm>
            <a:off x="320040" y="3951478"/>
            <a:ext cx="1828800" cy="457200"/>
          </a:xfrm>
          <a:prstGeom prst="roundRect">
            <a:avLst>
              <a:gd name="adj" fmla="val 24000"/>
            </a:avLst>
          </a:prstGeom>
          <a:solidFill>
            <a:srgbClr val="B45309"/>
          </a:solidFill>
          <a:ln/>
        </p:spPr>
      </p:sp>
      <p:sp>
        <p:nvSpPr>
          <p:cNvPr id="17" name="Text 15"/>
          <p:cNvSpPr txBox="1"/>
          <p:nvPr/>
        </p:nvSpPr>
        <p:spPr>
          <a:xfrm>
            <a:off x="411480" y="3951478"/>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ネットワーク</a:t>
            </a:r>
            <a:endParaRPr lang="en-US" sz="1800" dirty="0"/>
          </a:p>
        </p:txBody>
      </p:sp>
      <p:sp>
        <p:nvSpPr>
          <p:cNvPr id="18" name="Shape 16"/>
          <p:cNvSpPr/>
          <p:nvPr/>
        </p:nvSpPr>
        <p:spPr>
          <a:xfrm>
            <a:off x="2258568" y="3951478"/>
            <a:ext cx="1371600" cy="457200"/>
          </a:xfrm>
          <a:prstGeom prst="roundRect">
            <a:avLst>
              <a:gd name="adj" fmla="val 24000"/>
            </a:avLst>
          </a:prstGeom>
          <a:solidFill>
            <a:srgbClr val="0369A1"/>
          </a:solidFill>
          <a:ln/>
        </p:spPr>
      </p:sp>
      <p:sp>
        <p:nvSpPr>
          <p:cNvPr id="19" name="Text 17"/>
          <p:cNvSpPr txBox="1"/>
          <p:nvPr/>
        </p:nvSpPr>
        <p:spPr>
          <a:xfrm>
            <a:off x="2350008" y="3951478"/>
            <a:ext cx="11887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置き場所</a:t>
            </a:r>
            <a:endParaRPr lang="en-US" sz="1800" dirty="0"/>
          </a:p>
        </p:txBody>
      </p:sp>
      <p:sp>
        <p:nvSpPr>
          <p:cNvPr id="20" name="Shape 18"/>
          <p:cNvSpPr/>
          <p:nvPr/>
        </p:nvSpPr>
        <p:spPr>
          <a:xfrm>
            <a:off x="320040" y="4518406"/>
            <a:ext cx="1600200" cy="457200"/>
          </a:xfrm>
          <a:prstGeom prst="roundRect">
            <a:avLst>
              <a:gd name="adj" fmla="val 24000"/>
            </a:avLst>
          </a:prstGeom>
          <a:solidFill>
            <a:srgbClr val="A21C5B"/>
          </a:solidFill>
          <a:ln/>
        </p:spPr>
      </p:sp>
      <p:sp>
        <p:nvSpPr>
          <p:cNvPr id="21" name="Text 19"/>
          <p:cNvSpPr txBox="1"/>
          <p:nvPr/>
        </p:nvSpPr>
        <p:spPr>
          <a:xfrm>
            <a:off x="411480" y="4518406"/>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活動・資格</a:t>
            </a:r>
            <a:endParaRPr lang="en-US" sz="1800" dirty="0"/>
          </a:p>
        </p:txBody>
      </p:sp>
      <p:sp>
        <p:nvSpPr>
          <p:cNvPr id="22" name="Shape 20"/>
          <p:cNvSpPr/>
          <p:nvPr/>
        </p:nvSpPr>
        <p:spPr>
          <a:xfrm>
            <a:off x="320040" y="5158486"/>
            <a:ext cx="4846320" cy="2112264"/>
          </a:xfrm>
          <a:prstGeom prst="roundRect">
            <a:avLst>
              <a:gd name="adj" fmla="val 6061"/>
            </a:avLst>
          </a:prstGeom>
          <a:solidFill>
            <a:srgbClr val="DCE8F8"/>
          </a:solidFill>
          <a:ln/>
        </p:spPr>
      </p:sp>
      <p:sp>
        <p:nvSpPr>
          <p:cNvPr id="23" name="Shape 21"/>
          <p:cNvSpPr/>
          <p:nvPr/>
        </p:nvSpPr>
        <p:spPr>
          <a:xfrm>
            <a:off x="502920" y="5304790"/>
            <a:ext cx="566928" cy="566928"/>
          </a:xfrm>
          <a:prstGeom prst="ellipse">
            <a:avLst/>
          </a:prstGeom>
          <a:solidFill>
            <a:srgbClr val="2F6BC2"/>
          </a:solidFill>
          <a:ln/>
        </p:spPr>
      </p:sp>
      <p:pic>
        <p:nvPicPr>
          <p:cNvPr id="24" name="Image 0" descr="preencoded.png">    </p:cNvPr>
          <p:cNvPicPr>
            <a:picLocks noChangeAspect="1"/>
          </p:cNvPicPr>
          <p:nvPr/>
        </p:nvPicPr>
        <p:blipFill>
          <a:blip r:embed="rId1"/>
          <a:stretch>
            <a:fillRect/>
          </a:stretch>
        </p:blipFill>
        <p:spPr>
          <a:xfrm>
            <a:off x="627644" y="5429514"/>
            <a:ext cx="317480" cy="317480"/>
          </a:xfrm>
          <a:prstGeom prst="rect">
            <a:avLst/>
          </a:prstGeom>
        </p:spPr>
      </p:pic>
      <p:sp>
        <p:nvSpPr>
          <p:cNvPr id="25" name="Text 22"/>
          <p:cNvSpPr txBox="1"/>
          <p:nvPr/>
        </p:nvSpPr>
        <p:spPr>
          <a:xfrm>
            <a:off x="1188720" y="5304790"/>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1枚目</a:t>
            </a:r>
            <a:endParaRPr lang="en-US" sz="2200" dirty="0"/>
          </a:p>
        </p:txBody>
      </p:sp>
      <p:sp>
        <p:nvSpPr>
          <p:cNvPr id="26" name="Text 23"/>
          <p:cNvSpPr txBox="1"/>
          <p:nvPr/>
        </p:nvSpPr>
        <p:spPr>
          <a:xfrm>
            <a:off x="502920" y="5963158"/>
            <a:ext cx="4480560" cy="123444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「どこの話？」の帯</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場所・くわしい説明</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右に関係図</a:t>
            </a:r>
            <a:endParaRPr lang="en-US" sz="2000" dirty="0"/>
          </a:p>
        </p:txBody>
      </p:sp>
      <p:sp>
        <p:nvSpPr>
          <p:cNvPr id="27" name="Shape 24"/>
          <p:cNvSpPr/>
          <p:nvPr/>
        </p:nvSpPr>
        <p:spPr>
          <a:xfrm>
            <a:off x="320040" y="7453630"/>
            <a:ext cx="4846320" cy="2112264"/>
          </a:xfrm>
          <a:prstGeom prst="roundRect">
            <a:avLst>
              <a:gd name="adj" fmla="val 6061"/>
            </a:avLst>
          </a:prstGeom>
          <a:solidFill>
            <a:srgbClr val="FDEBD0"/>
          </a:solidFill>
          <a:ln/>
        </p:spPr>
      </p:sp>
      <p:sp>
        <p:nvSpPr>
          <p:cNvPr id="28" name="Shape 25"/>
          <p:cNvSpPr/>
          <p:nvPr/>
        </p:nvSpPr>
        <p:spPr>
          <a:xfrm>
            <a:off x="502920" y="7599934"/>
            <a:ext cx="566928" cy="566928"/>
          </a:xfrm>
          <a:prstGeom prst="ellipse">
            <a:avLst/>
          </a:prstGeom>
          <a:solidFill>
            <a:srgbClr val="B45309"/>
          </a:solidFill>
          <a:ln/>
        </p:spPr>
      </p:sp>
      <p:pic>
        <p:nvPicPr>
          <p:cNvPr id="29" name="Image 1" descr="preencoded.png">    </p:cNvPr>
          <p:cNvPicPr>
            <a:picLocks noChangeAspect="1"/>
          </p:cNvPicPr>
          <p:nvPr/>
        </p:nvPicPr>
        <p:blipFill>
          <a:blip r:embed="rId2"/>
          <a:stretch>
            <a:fillRect/>
          </a:stretch>
        </p:blipFill>
        <p:spPr>
          <a:xfrm>
            <a:off x="627644" y="7724658"/>
            <a:ext cx="317480" cy="317480"/>
          </a:xfrm>
          <a:prstGeom prst="rect">
            <a:avLst/>
          </a:prstGeom>
        </p:spPr>
      </p:pic>
      <p:sp>
        <p:nvSpPr>
          <p:cNvPr id="30" name="Text 26"/>
          <p:cNvSpPr txBox="1"/>
          <p:nvPr/>
        </p:nvSpPr>
        <p:spPr>
          <a:xfrm>
            <a:off x="1188720" y="7599934"/>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2枚目</a:t>
            </a:r>
            <a:endParaRPr lang="en-US" sz="2200" dirty="0"/>
          </a:p>
        </p:txBody>
      </p:sp>
      <p:sp>
        <p:nvSpPr>
          <p:cNvPr id="31" name="Text 27"/>
          <p:cNvSpPr txBox="1"/>
          <p:nvPr/>
        </p:nvSpPr>
        <p:spPr>
          <a:xfrm>
            <a:off x="502920" y="8258302"/>
            <a:ext cx="4480560" cy="123444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たとえるなら</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こんな場面で</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勘違い・最初の学び方</a:t>
            </a:r>
            <a:endParaRPr lang="en-US" sz="2000" dirty="0"/>
          </a:p>
        </p:txBody>
      </p:sp>
      <p:sp>
        <p:nvSpPr>
          <p:cNvPr id="32" name="Text 2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用語ページの見かた</a:t>
            </a:r>
            <a:endParaRPr lang="ja-JP" sz="2200" dirty="0"/>
          </a:p>
        </p:txBody>
      </p:sp>
      <p:sp>
        <p:nvSpPr>
          <p:cNvPr id="4" name="Shape 2"/>
          <p:cNvSpPr/>
          <p:nvPr/>
        </p:nvSpPr>
        <p:spPr>
          <a:xfrm>
            <a:off x="320040" y="1318514"/>
            <a:ext cx="4846320" cy="1950720"/>
          </a:xfrm>
          <a:prstGeom prst="roundRect">
            <a:avLst>
              <a:gd name="adj" fmla="val 5625"/>
            </a:avLst>
          </a:prstGeom>
          <a:solidFill>
            <a:srgbClr val="DCE8F8"/>
          </a:solidFill>
          <a:ln w="19050">
            <a:solidFill>
              <a:srgbClr val="2F6BC2"/>
            </a:solidFill>
            <a:prstDash val="solid"/>
          </a:ln>
        </p:spPr>
      </p:sp>
      <p:sp>
        <p:nvSpPr>
          <p:cNvPr id="5" name="Shape 3"/>
          <p:cNvSpPr/>
          <p:nvPr/>
        </p:nvSpPr>
        <p:spPr>
          <a:xfrm>
            <a:off x="457200" y="2065274"/>
            <a:ext cx="457200" cy="457200"/>
          </a:xfrm>
          <a:prstGeom prst="ellipse">
            <a:avLst/>
          </a:prstGeom>
          <a:solidFill>
            <a:srgbClr val="2F6BC2"/>
          </a:solidFill>
          <a:ln/>
        </p:spPr>
      </p:sp>
      <p:pic>
        <p:nvPicPr>
          <p:cNvPr id="6" name="Image 0" descr="preencoded.png">    </p:cNvPr>
          <p:cNvPicPr>
            <a:picLocks noChangeAspect="1"/>
          </p:cNvPicPr>
          <p:nvPr/>
        </p:nvPicPr>
        <p:blipFill>
          <a:blip r:embed="rId1"/>
          <a:stretch>
            <a:fillRect/>
          </a:stretch>
        </p:blipFill>
        <p:spPr>
          <a:xfrm>
            <a:off x="557784" y="2165858"/>
            <a:ext cx="256032" cy="256032"/>
          </a:xfrm>
          <a:prstGeom prst="rect">
            <a:avLst/>
          </a:prstGeom>
        </p:spPr>
      </p:pic>
      <p:sp>
        <p:nvSpPr>
          <p:cNvPr id="7" name="Text 4"/>
          <p:cNvSpPr txBox="1"/>
          <p:nvPr/>
        </p:nvSpPr>
        <p:spPr>
          <a:xfrm>
            <a:off x="1051560" y="1364234"/>
            <a:ext cx="3977640" cy="18592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関係図の矢印は「左 → 右」で読みます。「メモリ →（データを渡す）→ CPU」は「メモリがCPUにデータを渡す」という意味です。</a:t>
            </a:r>
            <a:endParaRPr lang="en-US" sz="2000" dirty="0"/>
          </a:p>
        </p:txBody>
      </p:sp>
      <p:sp>
        <p:nvSpPr>
          <p:cNvPr id="8"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コンピューターの中は「層」になっている</a:t>
            </a:r>
            <a:endParaRPr lang="ja-JP" sz="2600" dirty="0"/>
          </a:p>
        </p:txBody>
      </p:sp>
      <p:sp>
        <p:nvSpPr>
          <p:cNvPr id="5" name="Text 3"/>
          <p:cNvSpPr txBox="1"/>
          <p:nvPr/>
        </p:nvSpPr>
        <p:spPr>
          <a:xfrm>
            <a:off x="320040" y="2050796"/>
            <a:ext cx="4846320" cy="1252728"/>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1台のコンピューターは、下から順に積み重なった5つの層でできています。上ほど使う人に近く、下ほど機械そのものです。上の層は、すぐ下の層の働きを使って動きます。</a:t>
            </a:r>
            <a:endParaRPr lang="en-US" sz="1800" dirty="0"/>
          </a:p>
        </p:txBody>
      </p:sp>
      <p:sp>
        <p:nvSpPr>
          <p:cNvPr id="6" name="Shape 4"/>
          <p:cNvSpPr/>
          <p:nvPr/>
        </p:nvSpPr>
        <p:spPr>
          <a:xfrm>
            <a:off x="320040" y="3532124"/>
            <a:ext cx="4846320" cy="1362456"/>
          </a:xfrm>
          <a:prstGeom prst="roundRect">
            <a:avLst>
              <a:gd name="adj" fmla="val 9396"/>
            </a:avLst>
          </a:prstGeom>
          <a:solidFill>
            <a:srgbClr val="DDF1E4"/>
          </a:solidFill>
          <a:ln w="19050">
            <a:solidFill>
              <a:srgbClr val="237A48"/>
            </a:solidFill>
            <a:prstDash val="dash"/>
          </a:ln>
        </p:spPr>
      </p:sp>
      <p:sp>
        <p:nvSpPr>
          <p:cNvPr id="7" name="Text 5"/>
          <p:cNvSpPr txBox="1"/>
          <p:nvPr/>
        </p:nvSpPr>
        <p:spPr>
          <a:xfrm>
            <a:off x="457200" y="3596132"/>
            <a:ext cx="4572000" cy="329184"/>
          </a:xfrm>
          <a:prstGeom prst="rect">
            <a:avLst/>
          </a:prstGeom>
          <a:noFill/>
          <a:ln/>
        </p:spPr>
        <p:txBody>
          <a:bodyPr wrap="square" lIns="0" tIns="0" rIns="0" bIns="0" rtlCol="0" anchor="t"/>
          <a:lstStyle/>
          <a:p>
            <a:pPr algn="l" indent="0" marL="0">
              <a:lnSpc>
                <a:spcPts val="2000"/>
              </a:lnSpc>
              <a:buNone/>
            </a:pPr>
            <a:r>
              <a:rPr lang="ja-JP" altLang="en-US" sz="1500" b="1" dirty="0">
                <a:solidFill>
                  <a:srgbClr val="237A48"/>
                </a:solidFill>
                <a:latin typeface="Yu Gothic" pitchFamily="34" charset="0"/>
                <a:ea typeface="Yu Gothic" pitchFamily="34" charset="-122"/>
                <a:cs typeface="Yu Gothic" pitchFamily="34" charset="-120"/>
              </a:rPr>
              <a:t>アプリ　使う人・作る人が直接さわるソフト</a:t>
            </a:r>
            <a:endParaRPr lang="en-US" sz="1500" dirty="0"/>
          </a:p>
        </p:txBody>
      </p:sp>
      <p:sp>
        <p:nvSpPr>
          <p:cNvPr id="8" name="Shape 6"/>
          <p:cNvSpPr/>
          <p:nvPr/>
        </p:nvSpPr>
        <p:spPr>
          <a:xfrm>
            <a:off x="320040" y="4967732"/>
            <a:ext cx="4846320" cy="1362456"/>
          </a:xfrm>
          <a:prstGeom prst="roundRect">
            <a:avLst>
              <a:gd name="adj" fmla="val 9396"/>
            </a:avLst>
          </a:prstGeom>
          <a:solidFill>
            <a:srgbClr val="E6E1F7"/>
          </a:solidFill>
          <a:ln w="19050">
            <a:solidFill>
              <a:srgbClr val="5B46B8"/>
            </a:solidFill>
            <a:prstDash val="dash"/>
          </a:ln>
        </p:spPr>
      </p:sp>
      <p:sp>
        <p:nvSpPr>
          <p:cNvPr id="9" name="Text 7"/>
          <p:cNvSpPr txBox="1"/>
          <p:nvPr/>
        </p:nvSpPr>
        <p:spPr>
          <a:xfrm>
            <a:off x="457200" y="5031740"/>
            <a:ext cx="4572000" cy="329184"/>
          </a:xfrm>
          <a:prstGeom prst="rect">
            <a:avLst/>
          </a:prstGeom>
          <a:noFill/>
          <a:ln/>
        </p:spPr>
        <p:txBody>
          <a:bodyPr wrap="square" lIns="0" tIns="0" rIns="0" bIns="0" rtlCol="0" anchor="t"/>
          <a:lstStyle/>
          <a:p>
            <a:pPr algn="l" indent="0" marL="0">
              <a:lnSpc>
                <a:spcPts val="2000"/>
              </a:lnSpc>
              <a:buNone/>
            </a:pPr>
            <a:r>
              <a:rPr lang="ja-JP" altLang="en-US" sz="1500" b="1" dirty="0">
                <a:solidFill>
                  <a:srgbClr val="5B46B8"/>
                </a:solidFill>
                <a:latin typeface="Yu Gothic" pitchFamily="34" charset="0"/>
                <a:ea typeface="Yu Gothic" pitchFamily="34" charset="-122"/>
                <a:cs typeface="Yu Gothic" pitchFamily="34" charset="-120"/>
              </a:rPr>
              <a:t>ミドルウェア　アプリを支える土台のソフト</a:t>
            </a:r>
            <a:endParaRPr lang="en-US" sz="1500" dirty="0"/>
          </a:p>
        </p:txBody>
      </p:sp>
      <p:sp>
        <p:nvSpPr>
          <p:cNvPr id="10" name="Shape 8"/>
          <p:cNvSpPr/>
          <p:nvPr/>
        </p:nvSpPr>
        <p:spPr>
          <a:xfrm>
            <a:off x="320040" y="6403340"/>
            <a:ext cx="4846320" cy="886968"/>
          </a:xfrm>
          <a:prstGeom prst="roundRect">
            <a:avLst>
              <a:gd name="adj" fmla="val 14433"/>
            </a:avLst>
          </a:prstGeom>
          <a:solidFill>
            <a:srgbClr val="D9F2F1"/>
          </a:solidFill>
          <a:ln w="19050">
            <a:solidFill>
              <a:srgbClr val="0B7A7A"/>
            </a:solidFill>
            <a:prstDash val="dash"/>
          </a:ln>
        </p:spPr>
      </p:sp>
      <p:sp>
        <p:nvSpPr>
          <p:cNvPr id="11" name="Text 9"/>
          <p:cNvSpPr txBox="1"/>
          <p:nvPr/>
        </p:nvSpPr>
        <p:spPr>
          <a:xfrm>
            <a:off x="457200" y="6467348"/>
            <a:ext cx="4572000" cy="329184"/>
          </a:xfrm>
          <a:prstGeom prst="rect">
            <a:avLst/>
          </a:prstGeom>
          <a:noFill/>
          <a:ln/>
        </p:spPr>
        <p:txBody>
          <a:bodyPr wrap="square" lIns="0" tIns="0" rIns="0" bIns="0" rtlCol="0" anchor="t"/>
          <a:lstStyle/>
          <a:p>
            <a:pPr algn="l" indent="0" marL="0">
              <a:lnSpc>
                <a:spcPts val="2000"/>
              </a:lnSpc>
              <a:buNone/>
            </a:pPr>
            <a:r>
              <a:rPr lang="ja-JP" altLang="en-US" sz="1500" b="1" dirty="0">
                <a:solidFill>
                  <a:srgbClr val="0B7A7A"/>
                </a:solidFill>
                <a:latin typeface="Yu Gothic" pitchFamily="34" charset="0"/>
                <a:ea typeface="Yu Gothic" pitchFamily="34" charset="-122"/>
                <a:cs typeface="Yu Gothic" pitchFamily="34" charset="-120"/>
              </a:rPr>
              <a:t>仮想化　1台を分けて使う・箱に詰める</a:t>
            </a:r>
            <a:endParaRPr lang="en-US" sz="1500" dirty="0"/>
          </a:p>
        </p:txBody>
      </p:sp>
      <p:sp>
        <p:nvSpPr>
          <p:cNvPr id="12" name="Shape 10"/>
          <p:cNvSpPr/>
          <p:nvPr/>
        </p:nvSpPr>
        <p:spPr>
          <a:xfrm>
            <a:off x="320040" y="7363460"/>
            <a:ext cx="4846320" cy="1362456"/>
          </a:xfrm>
          <a:prstGeom prst="roundRect">
            <a:avLst>
              <a:gd name="adj" fmla="val 9396"/>
            </a:avLst>
          </a:prstGeom>
          <a:solidFill>
            <a:srgbClr val="DCE8F8"/>
          </a:solidFill>
          <a:ln w="19050">
            <a:solidFill>
              <a:srgbClr val="2F6BC2"/>
            </a:solidFill>
            <a:prstDash val="dash"/>
          </a:ln>
        </p:spPr>
      </p:sp>
      <p:sp>
        <p:nvSpPr>
          <p:cNvPr id="13" name="Text 11"/>
          <p:cNvSpPr txBox="1"/>
          <p:nvPr/>
        </p:nvSpPr>
        <p:spPr>
          <a:xfrm>
            <a:off x="457200" y="7427468"/>
            <a:ext cx="4572000" cy="329184"/>
          </a:xfrm>
          <a:prstGeom prst="rect">
            <a:avLst/>
          </a:prstGeom>
          <a:noFill/>
          <a:ln/>
        </p:spPr>
        <p:txBody>
          <a:bodyPr wrap="square" lIns="0" tIns="0" rIns="0" bIns="0" rtlCol="0" anchor="t"/>
          <a:lstStyle/>
          <a:p>
            <a:pPr algn="l" indent="0" marL="0">
              <a:lnSpc>
                <a:spcPts val="2000"/>
              </a:lnSpc>
              <a:buNone/>
            </a:pPr>
            <a:r>
              <a:rPr lang="ja-JP" altLang="en-US" sz="1500" b="1" dirty="0">
                <a:solidFill>
                  <a:srgbClr val="2F6BC2"/>
                </a:solidFill>
                <a:latin typeface="Yu Gothic" pitchFamily="34" charset="0"/>
                <a:ea typeface="Yu Gothic" pitchFamily="34" charset="-122"/>
                <a:cs typeface="Yu Gothic" pitchFamily="34" charset="-120"/>
              </a:rPr>
              <a:t>OS　機械を動かす基本ソフト</a:t>
            </a:r>
            <a:endParaRPr lang="en-US" sz="1500" dirty="0"/>
          </a:p>
        </p:txBody>
      </p:sp>
      <p:sp>
        <p:nvSpPr>
          <p:cNvPr id="14" name="Shape 12"/>
          <p:cNvSpPr/>
          <p:nvPr/>
        </p:nvSpPr>
        <p:spPr>
          <a:xfrm>
            <a:off x="320040" y="8799068"/>
            <a:ext cx="4846320" cy="1362456"/>
          </a:xfrm>
          <a:prstGeom prst="roundRect">
            <a:avLst>
              <a:gd name="adj" fmla="val 9396"/>
            </a:avLst>
          </a:prstGeom>
          <a:solidFill>
            <a:srgbClr val="E2E8F0"/>
          </a:solidFill>
          <a:ln w="19050">
            <a:solidFill>
              <a:srgbClr val="475569"/>
            </a:solidFill>
            <a:prstDash val="dash"/>
          </a:ln>
        </p:spPr>
      </p:sp>
      <p:sp>
        <p:nvSpPr>
          <p:cNvPr id="15" name="Text 13"/>
          <p:cNvSpPr txBox="1"/>
          <p:nvPr/>
        </p:nvSpPr>
        <p:spPr>
          <a:xfrm>
            <a:off x="457200" y="8863076"/>
            <a:ext cx="4572000" cy="329184"/>
          </a:xfrm>
          <a:prstGeom prst="rect">
            <a:avLst/>
          </a:prstGeom>
          <a:noFill/>
          <a:ln/>
        </p:spPr>
        <p:txBody>
          <a:bodyPr wrap="square" lIns="0" tIns="0" rIns="0" bIns="0" rtlCol="0" anchor="t"/>
          <a:lstStyle/>
          <a:p>
            <a:pPr algn="l"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　機械・部品そのもの</a:t>
            </a:r>
            <a:endParaRPr lang="en-US" sz="1500" dirty="0"/>
          </a:p>
        </p:txBody>
      </p:sp>
      <p:sp>
        <p:nvSpPr>
          <p:cNvPr id="16" name="Shape 14"/>
          <p:cNvSpPr/>
          <p:nvPr/>
        </p:nvSpPr>
        <p:spPr>
          <a:xfrm>
            <a:off x="429768" y="3916172"/>
            <a:ext cx="2249424" cy="420624"/>
          </a:xfrm>
          <a:prstGeom prst="roundRect">
            <a:avLst>
              <a:gd name="adj" fmla="val 26087"/>
            </a:avLst>
          </a:prstGeom>
          <a:solidFill>
            <a:srgbClr val="FFFFFF"/>
          </a:solidFill>
          <a:ln w="25400">
            <a:solidFill>
              <a:srgbClr val="237A48"/>
            </a:solidFill>
            <a:prstDash val="solid"/>
          </a:ln>
        </p:spPr>
      </p:sp>
      <p:sp>
        <p:nvSpPr>
          <p:cNvPr id="17" name="Text 15"/>
          <p:cNvSpPr txBox="1"/>
          <p:nvPr/>
        </p:nvSpPr>
        <p:spPr>
          <a:xfrm>
            <a:off x="521208" y="3916172"/>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Webアプリ</a:t>
            </a:r>
            <a:endParaRPr lang="en-US" sz="1500" dirty="0"/>
          </a:p>
        </p:txBody>
      </p:sp>
      <p:sp>
        <p:nvSpPr>
          <p:cNvPr id="18" name="Shape 16"/>
          <p:cNvSpPr/>
          <p:nvPr/>
        </p:nvSpPr>
        <p:spPr>
          <a:xfrm>
            <a:off x="2807208" y="3916172"/>
            <a:ext cx="2249424" cy="420624"/>
          </a:xfrm>
          <a:prstGeom prst="roundRect">
            <a:avLst>
              <a:gd name="adj" fmla="val 26087"/>
            </a:avLst>
          </a:prstGeom>
          <a:solidFill>
            <a:srgbClr val="FFFFFF"/>
          </a:solidFill>
          <a:ln w="25400">
            <a:solidFill>
              <a:srgbClr val="237A48"/>
            </a:solidFill>
            <a:prstDash val="solid"/>
          </a:ln>
        </p:spPr>
      </p:sp>
      <p:sp>
        <p:nvSpPr>
          <p:cNvPr id="19" name="Text 17"/>
          <p:cNvSpPr txBox="1"/>
          <p:nvPr/>
        </p:nvSpPr>
        <p:spPr>
          <a:xfrm>
            <a:off x="2898648" y="3916172"/>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スマホアプリ</a:t>
            </a:r>
            <a:endParaRPr lang="en-US" sz="1500" dirty="0"/>
          </a:p>
        </p:txBody>
      </p:sp>
      <p:sp>
        <p:nvSpPr>
          <p:cNvPr id="20" name="Shape 18"/>
          <p:cNvSpPr/>
          <p:nvPr/>
        </p:nvSpPr>
        <p:spPr>
          <a:xfrm>
            <a:off x="429768" y="4391660"/>
            <a:ext cx="2249424" cy="420624"/>
          </a:xfrm>
          <a:prstGeom prst="roundRect">
            <a:avLst>
              <a:gd name="adj" fmla="val 26087"/>
            </a:avLst>
          </a:prstGeom>
          <a:solidFill>
            <a:srgbClr val="FFFFFF"/>
          </a:solidFill>
          <a:ln w="25400">
            <a:solidFill>
              <a:srgbClr val="237A48"/>
            </a:solidFill>
            <a:prstDash val="solid"/>
          </a:ln>
        </p:spPr>
      </p:sp>
      <p:sp>
        <p:nvSpPr>
          <p:cNvPr id="21" name="Text 19"/>
          <p:cNvSpPr txBox="1"/>
          <p:nvPr/>
        </p:nvSpPr>
        <p:spPr>
          <a:xfrm>
            <a:off x="521208" y="4391660"/>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Excel・Git等</a:t>
            </a:r>
            <a:endParaRPr lang="en-US" sz="1500" dirty="0"/>
          </a:p>
        </p:txBody>
      </p:sp>
      <p:sp>
        <p:nvSpPr>
          <p:cNvPr id="22" name="Shape 20"/>
          <p:cNvSpPr/>
          <p:nvPr/>
        </p:nvSpPr>
        <p:spPr>
          <a:xfrm>
            <a:off x="429768" y="5351780"/>
            <a:ext cx="2249424" cy="420624"/>
          </a:xfrm>
          <a:prstGeom prst="roundRect">
            <a:avLst>
              <a:gd name="adj" fmla="val 26087"/>
            </a:avLst>
          </a:prstGeom>
          <a:solidFill>
            <a:srgbClr val="FFFFFF"/>
          </a:solidFill>
          <a:ln w="25400">
            <a:solidFill>
              <a:srgbClr val="5B46B8"/>
            </a:solidFill>
            <a:prstDash val="solid"/>
          </a:ln>
        </p:spPr>
      </p:sp>
      <p:sp>
        <p:nvSpPr>
          <p:cNvPr id="23" name="Text 21"/>
          <p:cNvSpPr txBox="1"/>
          <p:nvPr/>
        </p:nvSpPr>
        <p:spPr>
          <a:xfrm>
            <a:off x="521208" y="5351780"/>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p:txBody>
      </p:sp>
      <p:sp>
        <p:nvSpPr>
          <p:cNvPr id="24" name="Shape 22"/>
          <p:cNvSpPr/>
          <p:nvPr/>
        </p:nvSpPr>
        <p:spPr>
          <a:xfrm>
            <a:off x="2807208" y="5351780"/>
            <a:ext cx="2249424" cy="420624"/>
          </a:xfrm>
          <a:prstGeom prst="roundRect">
            <a:avLst>
              <a:gd name="adj" fmla="val 26087"/>
            </a:avLst>
          </a:prstGeom>
          <a:solidFill>
            <a:srgbClr val="FFFFFF"/>
          </a:solidFill>
          <a:ln w="25400">
            <a:solidFill>
              <a:srgbClr val="5B46B8"/>
            </a:solidFill>
            <a:prstDash val="solid"/>
          </a:ln>
        </p:spPr>
      </p:sp>
      <p:sp>
        <p:nvSpPr>
          <p:cNvPr id="25" name="Text 23"/>
          <p:cNvSpPr txBox="1"/>
          <p:nvPr/>
        </p:nvSpPr>
        <p:spPr>
          <a:xfrm>
            <a:off x="2898648" y="5351780"/>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26" name="Shape 24"/>
          <p:cNvSpPr/>
          <p:nvPr/>
        </p:nvSpPr>
        <p:spPr>
          <a:xfrm>
            <a:off x="429768" y="5827268"/>
            <a:ext cx="2249424" cy="420624"/>
          </a:xfrm>
          <a:prstGeom prst="roundRect">
            <a:avLst>
              <a:gd name="adj" fmla="val 26087"/>
            </a:avLst>
          </a:prstGeom>
          <a:solidFill>
            <a:srgbClr val="FFFFFF"/>
          </a:solidFill>
          <a:ln w="25400">
            <a:solidFill>
              <a:srgbClr val="5B46B8"/>
            </a:solidFill>
            <a:prstDash val="solid"/>
          </a:ln>
        </p:spPr>
      </p:sp>
      <p:sp>
        <p:nvSpPr>
          <p:cNvPr id="27" name="Text 25"/>
          <p:cNvSpPr txBox="1"/>
          <p:nvPr/>
        </p:nvSpPr>
        <p:spPr>
          <a:xfrm>
            <a:off x="521208" y="5827268"/>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データベース</a:t>
            </a:r>
            <a:endParaRPr lang="en-US" sz="1500" dirty="0"/>
          </a:p>
        </p:txBody>
      </p:sp>
      <p:sp>
        <p:nvSpPr>
          <p:cNvPr id="28" name="Shape 26"/>
          <p:cNvSpPr/>
          <p:nvPr/>
        </p:nvSpPr>
        <p:spPr>
          <a:xfrm>
            <a:off x="429768" y="6787388"/>
            <a:ext cx="2249424" cy="420624"/>
          </a:xfrm>
          <a:prstGeom prst="roundRect">
            <a:avLst>
              <a:gd name="adj" fmla="val 26087"/>
            </a:avLst>
          </a:prstGeom>
          <a:solidFill>
            <a:srgbClr val="FFFFFF"/>
          </a:solidFill>
          <a:ln w="25400">
            <a:solidFill>
              <a:srgbClr val="0B7A7A"/>
            </a:solidFill>
            <a:prstDash val="solid"/>
          </a:ln>
        </p:spPr>
      </p:sp>
      <p:sp>
        <p:nvSpPr>
          <p:cNvPr id="29" name="Text 27"/>
          <p:cNvSpPr txBox="1"/>
          <p:nvPr/>
        </p:nvSpPr>
        <p:spPr>
          <a:xfrm>
            <a:off x="521208" y="6787388"/>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0" name="Shape 28"/>
          <p:cNvSpPr/>
          <p:nvPr/>
        </p:nvSpPr>
        <p:spPr>
          <a:xfrm>
            <a:off x="2807208" y="6787388"/>
            <a:ext cx="2249424" cy="420624"/>
          </a:xfrm>
          <a:prstGeom prst="roundRect">
            <a:avLst>
              <a:gd name="adj" fmla="val 26087"/>
            </a:avLst>
          </a:prstGeom>
          <a:solidFill>
            <a:srgbClr val="FFFFFF"/>
          </a:solidFill>
          <a:ln w="25400">
            <a:solidFill>
              <a:srgbClr val="0B7A7A"/>
            </a:solidFill>
            <a:prstDash val="solid"/>
          </a:ln>
        </p:spPr>
      </p:sp>
      <p:sp>
        <p:nvSpPr>
          <p:cNvPr id="31" name="Text 29"/>
          <p:cNvSpPr txBox="1"/>
          <p:nvPr/>
        </p:nvSpPr>
        <p:spPr>
          <a:xfrm>
            <a:off x="2898648" y="6787388"/>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Docker（コンテナ）</a:t>
            </a:r>
            <a:endParaRPr lang="en-US" sz="1500" dirty="0"/>
          </a:p>
        </p:txBody>
      </p:sp>
      <p:sp>
        <p:nvSpPr>
          <p:cNvPr id="32" name="Shape 30"/>
          <p:cNvSpPr/>
          <p:nvPr/>
        </p:nvSpPr>
        <p:spPr>
          <a:xfrm>
            <a:off x="429768" y="7747508"/>
            <a:ext cx="2249424" cy="420624"/>
          </a:xfrm>
          <a:prstGeom prst="roundRect">
            <a:avLst>
              <a:gd name="adj" fmla="val 26087"/>
            </a:avLst>
          </a:prstGeom>
          <a:solidFill>
            <a:srgbClr val="FFFFFF"/>
          </a:solidFill>
          <a:ln w="25400">
            <a:solidFill>
              <a:srgbClr val="2F6BC2"/>
            </a:solidFill>
            <a:prstDash val="solid"/>
          </a:ln>
        </p:spPr>
      </p:sp>
      <p:sp>
        <p:nvSpPr>
          <p:cNvPr id="33" name="Text 31"/>
          <p:cNvSpPr txBox="1"/>
          <p:nvPr/>
        </p:nvSpPr>
        <p:spPr>
          <a:xfrm>
            <a:off x="521208" y="7747508"/>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p:txBody>
      </p:sp>
      <p:sp>
        <p:nvSpPr>
          <p:cNvPr id="34" name="Shape 32"/>
          <p:cNvSpPr/>
          <p:nvPr/>
        </p:nvSpPr>
        <p:spPr>
          <a:xfrm>
            <a:off x="2807208" y="7747508"/>
            <a:ext cx="2249424" cy="420624"/>
          </a:xfrm>
          <a:prstGeom prst="roundRect">
            <a:avLst>
              <a:gd name="adj" fmla="val 26087"/>
            </a:avLst>
          </a:prstGeom>
          <a:solidFill>
            <a:srgbClr val="FFFFFF"/>
          </a:solidFill>
          <a:ln w="25400">
            <a:solidFill>
              <a:srgbClr val="2F6BC2"/>
            </a:solidFill>
            <a:prstDash val="solid"/>
          </a:ln>
        </p:spPr>
      </p:sp>
      <p:sp>
        <p:nvSpPr>
          <p:cNvPr id="35" name="Text 33"/>
          <p:cNvSpPr txBox="1"/>
          <p:nvPr/>
        </p:nvSpPr>
        <p:spPr>
          <a:xfrm>
            <a:off x="2898648" y="7747508"/>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p:txBody>
      </p:sp>
      <p:sp>
        <p:nvSpPr>
          <p:cNvPr id="36" name="Shape 34"/>
          <p:cNvSpPr/>
          <p:nvPr/>
        </p:nvSpPr>
        <p:spPr>
          <a:xfrm>
            <a:off x="429768" y="8222996"/>
            <a:ext cx="2249424" cy="420624"/>
          </a:xfrm>
          <a:prstGeom prst="roundRect">
            <a:avLst>
              <a:gd name="adj" fmla="val 26087"/>
            </a:avLst>
          </a:prstGeom>
          <a:solidFill>
            <a:srgbClr val="FFFFFF"/>
          </a:solidFill>
          <a:ln w="25400">
            <a:solidFill>
              <a:srgbClr val="2F6BC2"/>
            </a:solidFill>
            <a:prstDash val="solid"/>
          </a:ln>
        </p:spPr>
      </p:sp>
      <p:sp>
        <p:nvSpPr>
          <p:cNvPr id="37" name="Text 35"/>
          <p:cNvSpPr txBox="1"/>
          <p:nvPr/>
        </p:nvSpPr>
        <p:spPr>
          <a:xfrm>
            <a:off x="521208" y="8222996"/>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38" name="Shape 36"/>
          <p:cNvSpPr/>
          <p:nvPr/>
        </p:nvSpPr>
        <p:spPr>
          <a:xfrm>
            <a:off x="429768" y="9183116"/>
            <a:ext cx="2249424" cy="420624"/>
          </a:xfrm>
          <a:prstGeom prst="roundRect">
            <a:avLst>
              <a:gd name="adj" fmla="val 26087"/>
            </a:avLst>
          </a:prstGeom>
          <a:solidFill>
            <a:srgbClr val="FFFFFF"/>
          </a:solidFill>
          <a:ln w="25400">
            <a:solidFill>
              <a:srgbClr val="475569"/>
            </a:solidFill>
            <a:prstDash val="solid"/>
          </a:ln>
        </p:spPr>
      </p:sp>
      <p:sp>
        <p:nvSpPr>
          <p:cNvPr id="39" name="Text 37"/>
          <p:cNvSpPr txBox="1"/>
          <p:nvPr/>
        </p:nvSpPr>
        <p:spPr>
          <a:xfrm>
            <a:off x="521208" y="9183116"/>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p:txBody>
      </p:sp>
      <p:sp>
        <p:nvSpPr>
          <p:cNvPr id="40" name="Shape 38"/>
          <p:cNvSpPr/>
          <p:nvPr/>
        </p:nvSpPr>
        <p:spPr>
          <a:xfrm>
            <a:off x="2807208" y="9183116"/>
            <a:ext cx="2249424" cy="420624"/>
          </a:xfrm>
          <a:prstGeom prst="roundRect">
            <a:avLst>
              <a:gd name="adj" fmla="val 26087"/>
            </a:avLst>
          </a:prstGeom>
          <a:solidFill>
            <a:srgbClr val="FFFFFF"/>
          </a:solidFill>
          <a:ln w="25400">
            <a:solidFill>
              <a:srgbClr val="475569"/>
            </a:solidFill>
            <a:prstDash val="solid"/>
          </a:ln>
        </p:spPr>
      </p:sp>
      <p:sp>
        <p:nvSpPr>
          <p:cNvPr id="41" name="Text 39"/>
          <p:cNvSpPr txBox="1"/>
          <p:nvPr/>
        </p:nvSpPr>
        <p:spPr>
          <a:xfrm>
            <a:off x="2898648" y="9183116"/>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p:txBody>
      </p:sp>
      <p:sp>
        <p:nvSpPr>
          <p:cNvPr id="42" name="Shape 40"/>
          <p:cNvSpPr/>
          <p:nvPr/>
        </p:nvSpPr>
        <p:spPr>
          <a:xfrm>
            <a:off x="429768" y="9658604"/>
            <a:ext cx="2249424" cy="420624"/>
          </a:xfrm>
          <a:prstGeom prst="roundRect">
            <a:avLst>
              <a:gd name="adj" fmla="val 26087"/>
            </a:avLst>
          </a:prstGeom>
          <a:solidFill>
            <a:srgbClr val="FFFFFF"/>
          </a:solidFill>
          <a:ln w="25400">
            <a:solidFill>
              <a:srgbClr val="475569"/>
            </a:solidFill>
            <a:prstDash val="solid"/>
          </a:ln>
        </p:spPr>
      </p:sp>
      <p:sp>
        <p:nvSpPr>
          <p:cNvPr id="43" name="Text 41"/>
          <p:cNvSpPr txBox="1"/>
          <p:nvPr/>
        </p:nvSpPr>
        <p:spPr>
          <a:xfrm>
            <a:off x="521208" y="9658604"/>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SSD・HDD</a:t>
            </a:r>
            <a:endParaRPr lang="en-US" sz="1500" dirty="0"/>
          </a:p>
        </p:txBody>
      </p:sp>
      <p:sp>
        <p:nvSpPr>
          <p:cNvPr id="44" name="Shape 42"/>
          <p:cNvSpPr/>
          <p:nvPr/>
        </p:nvSpPr>
        <p:spPr>
          <a:xfrm>
            <a:off x="2807208" y="9658604"/>
            <a:ext cx="2249424" cy="420624"/>
          </a:xfrm>
          <a:prstGeom prst="roundRect">
            <a:avLst>
              <a:gd name="adj" fmla="val 26087"/>
            </a:avLst>
          </a:prstGeom>
          <a:solidFill>
            <a:srgbClr val="FFFFFF"/>
          </a:solidFill>
          <a:ln w="25400">
            <a:solidFill>
              <a:srgbClr val="475569"/>
            </a:solidFill>
            <a:prstDash val="solid"/>
          </a:ln>
        </p:spPr>
      </p:sp>
      <p:sp>
        <p:nvSpPr>
          <p:cNvPr id="45" name="Text 43"/>
          <p:cNvSpPr txBox="1"/>
          <p:nvPr/>
        </p:nvSpPr>
        <p:spPr>
          <a:xfrm>
            <a:off x="2898648" y="9658604"/>
            <a:ext cx="2066544" cy="420624"/>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NIC（通信部品）</a:t>
            </a:r>
            <a:endParaRPr lang="en-US" sz="1500" dirty="0"/>
          </a:p>
        </p:txBody>
      </p:sp>
      <p:sp>
        <p:nvSpPr>
          <p:cNvPr id="46" name="Text 4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層ごとの用語マップ（1台の中）</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この資料の用語を、5つの層に分けて並べました。用語ページの色は、この層の色と同じです。</a:t>
            </a:r>
            <a:endParaRPr lang="en-US" sz="1800" dirty="0"/>
          </a:p>
        </p:txBody>
      </p:sp>
      <p:sp>
        <p:nvSpPr>
          <p:cNvPr id="6" name="Shape 4"/>
          <p:cNvSpPr/>
          <p:nvPr/>
        </p:nvSpPr>
        <p:spPr>
          <a:xfrm>
            <a:off x="320040" y="3230372"/>
            <a:ext cx="4846320" cy="1481328"/>
          </a:xfrm>
          <a:prstGeom prst="roundRect">
            <a:avLst>
              <a:gd name="adj" fmla="val 6173"/>
            </a:avLst>
          </a:prstGeom>
          <a:solidFill>
            <a:srgbClr val="DDF1E4"/>
          </a:solidFill>
          <a:ln/>
        </p:spPr>
      </p:sp>
      <p:sp>
        <p:nvSpPr>
          <p:cNvPr id="7" name="Shape 5"/>
          <p:cNvSpPr/>
          <p:nvPr/>
        </p:nvSpPr>
        <p:spPr>
          <a:xfrm>
            <a:off x="320040" y="3230372"/>
            <a:ext cx="4846320" cy="402336"/>
          </a:xfrm>
          <a:prstGeom prst="roundRect">
            <a:avLst>
              <a:gd name="adj" fmla="val 22727"/>
            </a:avLst>
          </a:prstGeom>
          <a:solidFill>
            <a:srgbClr val="237A48"/>
          </a:solidFill>
          <a:ln/>
        </p:spPr>
      </p:sp>
      <p:sp>
        <p:nvSpPr>
          <p:cNvPr id="8" name="Text 6"/>
          <p:cNvSpPr txBox="1"/>
          <p:nvPr/>
        </p:nvSpPr>
        <p:spPr>
          <a:xfrm>
            <a:off x="411480" y="3230372"/>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アプリ　使う人・作る人が直接さわるソフト</a:t>
            </a:r>
            <a:endParaRPr lang="en-US" sz="1600" dirty="0"/>
          </a:p>
        </p:txBody>
      </p:sp>
      <p:sp>
        <p:nvSpPr>
          <p:cNvPr id="9" name="Shape 7"/>
          <p:cNvSpPr/>
          <p:nvPr/>
        </p:nvSpPr>
        <p:spPr>
          <a:xfrm>
            <a:off x="457200" y="3724148"/>
            <a:ext cx="1245616" cy="384048"/>
          </a:xfrm>
          <a:prstGeom prst="roundRect">
            <a:avLst>
              <a:gd name="adj" fmla="val 28571"/>
            </a:avLst>
          </a:prstGeom>
          <a:solidFill>
            <a:srgbClr val="FFFFFF"/>
          </a:solidFill>
          <a:ln w="15875">
            <a:solidFill>
              <a:srgbClr val="237A48"/>
            </a:solidFill>
            <a:prstDash val="solid"/>
          </a:ln>
        </p:spPr>
      </p:sp>
      <p:sp>
        <p:nvSpPr>
          <p:cNvPr id="10" name="Text 8"/>
          <p:cNvSpPr txBox="1"/>
          <p:nvPr/>
        </p:nvSpPr>
        <p:spPr>
          <a:xfrm>
            <a:off x="548640" y="3724148"/>
            <a:ext cx="10627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Excel集計</a:t>
            </a:r>
            <a:endParaRPr lang="en-US" sz="1600" dirty="0"/>
          </a:p>
        </p:txBody>
      </p:sp>
      <p:sp>
        <p:nvSpPr>
          <p:cNvPr id="11" name="Shape 9"/>
          <p:cNvSpPr/>
          <p:nvPr/>
        </p:nvSpPr>
        <p:spPr>
          <a:xfrm>
            <a:off x="1794256" y="3724148"/>
            <a:ext cx="814832" cy="384048"/>
          </a:xfrm>
          <a:prstGeom prst="roundRect">
            <a:avLst>
              <a:gd name="adj" fmla="val 28571"/>
            </a:avLst>
          </a:prstGeom>
          <a:solidFill>
            <a:srgbClr val="FFFFFF"/>
          </a:solidFill>
          <a:ln w="15875">
            <a:solidFill>
              <a:srgbClr val="237A48"/>
            </a:solidFill>
            <a:prstDash val="solid"/>
          </a:ln>
        </p:spPr>
      </p:sp>
      <p:sp>
        <p:nvSpPr>
          <p:cNvPr id="12" name="Text 10"/>
          <p:cNvSpPr txBox="1"/>
          <p:nvPr/>
        </p:nvSpPr>
        <p:spPr>
          <a:xfrm>
            <a:off x="1885696" y="3724148"/>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HTML</a:t>
            </a:r>
            <a:endParaRPr lang="en-US" sz="1600" dirty="0"/>
          </a:p>
        </p:txBody>
      </p:sp>
      <p:sp>
        <p:nvSpPr>
          <p:cNvPr id="13" name="Shape 11"/>
          <p:cNvSpPr/>
          <p:nvPr/>
        </p:nvSpPr>
        <p:spPr>
          <a:xfrm>
            <a:off x="2700528" y="3724148"/>
            <a:ext cx="558800" cy="384048"/>
          </a:xfrm>
          <a:prstGeom prst="roundRect">
            <a:avLst>
              <a:gd name="adj" fmla="val 28571"/>
            </a:avLst>
          </a:prstGeom>
          <a:solidFill>
            <a:srgbClr val="FFFFFF"/>
          </a:solidFill>
          <a:ln w="15875">
            <a:solidFill>
              <a:srgbClr val="237A48"/>
            </a:solidFill>
            <a:prstDash val="solid"/>
          </a:ln>
        </p:spPr>
      </p:sp>
      <p:sp>
        <p:nvSpPr>
          <p:cNvPr id="14" name="Text 12"/>
          <p:cNvSpPr txBox="1"/>
          <p:nvPr/>
        </p:nvSpPr>
        <p:spPr>
          <a:xfrm>
            <a:off x="2791968" y="3724148"/>
            <a:ext cx="37592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Git</a:t>
            </a:r>
            <a:endParaRPr lang="en-US" sz="1600" dirty="0"/>
          </a:p>
        </p:txBody>
      </p:sp>
      <p:sp>
        <p:nvSpPr>
          <p:cNvPr id="15" name="Shape 13"/>
          <p:cNvSpPr/>
          <p:nvPr/>
        </p:nvSpPr>
        <p:spPr>
          <a:xfrm>
            <a:off x="457200" y="4181348"/>
            <a:ext cx="1936496" cy="384048"/>
          </a:xfrm>
          <a:prstGeom prst="roundRect">
            <a:avLst>
              <a:gd name="adj" fmla="val 28571"/>
            </a:avLst>
          </a:prstGeom>
          <a:solidFill>
            <a:srgbClr val="FFFFFF"/>
          </a:solidFill>
          <a:ln w="15875">
            <a:solidFill>
              <a:srgbClr val="237A48"/>
            </a:solidFill>
            <a:prstDash val="solid"/>
          </a:ln>
        </p:spPr>
      </p:sp>
      <p:sp>
        <p:nvSpPr>
          <p:cNvPr id="16" name="Text 14"/>
          <p:cNvSpPr txBox="1"/>
          <p:nvPr/>
        </p:nvSpPr>
        <p:spPr>
          <a:xfrm>
            <a:off x="548640" y="4181348"/>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スマホアプリ開発</a:t>
            </a:r>
            <a:endParaRPr lang="en-US" sz="1600" dirty="0"/>
          </a:p>
        </p:txBody>
      </p:sp>
      <p:sp>
        <p:nvSpPr>
          <p:cNvPr id="17" name="Shape 15"/>
          <p:cNvSpPr/>
          <p:nvPr/>
        </p:nvSpPr>
        <p:spPr>
          <a:xfrm>
            <a:off x="2485136" y="4181348"/>
            <a:ext cx="1530096" cy="384048"/>
          </a:xfrm>
          <a:prstGeom prst="roundRect">
            <a:avLst>
              <a:gd name="adj" fmla="val 28571"/>
            </a:avLst>
          </a:prstGeom>
          <a:solidFill>
            <a:srgbClr val="FFFFFF"/>
          </a:solidFill>
          <a:ln w="15875">
            <a:solidFill>
              <a:srgbClr val="237A48"/>
            </a:solidFill>
            <a:prstDash val="solid"/>
          </a:ln>
        </p:spPr>
      </p:sp>
      <p:sp>
        <p:nvSpPr>
          <p:cNvPr id="18" name="Text 16"/>
          <p:cNvSpPr txBox="1"/>
          <p:nvPr/>
        </p:nvSpPr>
        <p:spPr>
          <a:xfrm>
            <a:off x="2576576" y="4181348"/>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サーブレット</a:t>
            </a:r>
            <a:endParaRPr lang="en-US" sz="1600" dirty="0"/>
          </a:p>
        </p:txBody>
      </p:sp>
      <p:sp>
        <p:nvSpPr>
          <p:cNvPr id="19" name="Shape 17"/>
          <p:cNvSpPr/>
          <p:nvPr/>
        </p:nvSpPr>
        <p:spPr>
          <a:xfrm>
            <a:off x="4106672" y="4181348"/>
            <a:ext cx="562864" cy="384048"/>
          </a:xfrm>
          <a:prstGeom prst="roundRect">
            <a:avLst>
              <a:gd name="adj" fmla="val 28571"/>
            </a:avLst>
          </a:prstGeom>
          <a:solidFill>
            <a:srgbClr val="FFFFFF"/>
          </a:solidFill>
          <a:ln w="15875">
            <a:solidFill>
              <a:srgbClr val="237A48"/>
            </a:solidFill>
            <a:prstDash val="solid"/>
          </a:ln>
        </p:spPr>
      </p:sp>
      <p:sp>
        <p:nvSpPr>
          <p:cNvPr id="20" name="Text 18"/>
          <p:cNvSpPr txBox="1"/>
          <p:nvPr/>
        </p:nvSpPr>
        <p:spPr>
          <a:xfrm>
            <a:off x="4198112" y="4181348"/>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AI</a:t>
            </a:r>
            <a:endParaRPr lang="en-US" sz="1600" dirty="0"/>
          </a:p>
        </p:txBody>
      </p:sp>
      <p:sp>
        <p:nvSpPr>
          <p:cNvPr id="21" name="Shape 19"/>
          <p:cNvSpPr/>
          <p:nvPr/>
        </p:nvSpPr>
        <p:spPr>
          <a:xfrm>
            <a:off x="320040" y="4803140"/>
            <a:ext cx="4846320" cy="1481328"/>
          </a:xfrm>
          <a:prstGeom prst="roundRect">
            <a:avLst>
              <a:gd name="adj" fmla="val 6173"/>
            </a:avLst>
          </a:prstGeom>
          <a:solidFill>
            <a:srgbClr val="E6E1F7"/>
          </a:solidFill>
          <a:ln/>
        </p:spPr>
      </p:sp>
      <p:sp>
        <p:nvSpPr>
          <p:cNvPr id="22" name="Shape 20"/>
          <p:cNvSpPr/>
          <p:nvPr/>
        </p:nvSpPr>
        <p:spPr>
          <a:xfrm>
            <a:off x="320040" y="4803140"/>
            <a:ext cx="4846320" cy="402336"/>
          </a:xfrm>
          <a:prstGeom prst="roundRect">
            <a:avLst>
              <a:gd name="adj" fmla="val 22727"/>
            </a:avLst>
          </a:prstGeom>
          <a:solidFill>
            <a:srgbClr val="5B46B8"/>
          </a:solidFill>
          <a:ln/>
        </p:spPr>
      </p:sp>
      <p:sp>
        <p:nvSpPr>
          <p:cNvPr id="23" name="Text 21"/>
          <p:cNvSpPr txBox="1"/>
          <p:nvPr/>
        </p:nvSpPr>
        <p:spPr>
          <a:xfrm>
            <a:off x="411480" y="4803140"/>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ミドルウェア　アプリを支える土台のソフト</a:t>
            </a:r>
            <a:endParaRPr lang="en-US" sz="1600" dirty="0"/>
          </a:p>
        </p:txBody>
      </p:sp>
      <p:sp>
        <p:nvSpPr>
          <p:cNvPr id="24" name="Shape 22"/>
          <p:cNvSpPr/>
          <p:nvPr/>
        </p:nvSpPr>
        <p:spPr>
          <a:xfrm>
            <a:off x="457200" y="5296916"/>
            <a:ext cx="562864" cy="384048"/>
          </a:xfrm>
          <a:prstGeom prst="roundRect">
            <a:avLst>
              <a:gd name="adj" fmla="val 28571"/>
            </a:avLst>
          </a:prstGeom>
          <a:solidFill>
            <a:srgbClr val="FFFFFF"/>
          </a:solidFill>
          <a:ln w="15875">
            <a:solidFill>
              <a:srgbClr val="5B46B8"/>
            </a:solidFill>
            <a:prstDash val="solid"/>
          </a:ln>
        </p:spPr>
      </p:sp>
      <p:sp>
        <p:nvSpPr>
          <p:cNvPr id="25" name="Text 23"/>
          <p:cNvSpPr txBox="1"/>
          <p:nvPr/>
        </p:nvSpPr>
        <p:spPr>
          <a:xfrm>
            <a:off x="548640" y="5296916"/>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a:t>
            </a:r>
            <a:endParaRPr lang="en-US" sz="1600" dirty="0"/>
          </a:p>
        </p:txBody>
      </p:sp>
      <p:sp>
        <p:nvSpPr>
          <p:cNvPr id="26" name="Shape 24"/>
          <p:cNvSpPr/>
          <p:nvPr/>
        </p:nvSpPr>
        <p:spPr>
          <a:xfrm>
            <a:off x="1111504" y="5296916"/>
            <a:ext cx="814832" cy="384048"/>
          </a:xfrm>
          <a:prstGeom prst="roundRect">
            <a:avLst>
              <a:gd name="adj" fmla="val 28571"/>
            </a:avLst>
          </a:prstGeom>
          <a:solidFill>
            <a:srgbClr val="FFFFFF"/>
          </a:solidFill>
          <a:ln w="15875">
            <a:solidFill>
              <a:srgbClr val="5B46B8"/>
            </a:solidFill>
            <a:prstDash val="solid"/>
          </a:ln>
        </p:spPr>
      </p:sp>
      <p:sp>
        <p:nvSpPr>
          <p:cNvPr id="27" name="Text 25"/>
          <p:cNvSpPr txBox="1"/>
          <p:nvPr/>
        </p:nvSpPr>
        <p:spPr>
          <a:xfrm>
            <a:off x="1202944" y="5296916"/>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p:txBody>
      </p:sp>
      <p:sp>
        <p:nvSpPr>
          <p:cNvPr id="28" name="Shape 26"/>
          <p:cNvSpPr/>
          <p:nvPr/>
        </p:nvSpPr>
        <p:spPr>
          <a:xfrm>
            <a:off x="2017776" y="5296916"/>
            <a:ext cx="688848" cy="384048"/>
          </a:xfrm>
          <a:prstGeom prst="roundRect">
            <a:avLst>
              <a:gd name="adj" fmla="val 28571"/>
            </a:avLst>
          </a:prstGeom>
          <a:solidFill>
            <a:srgbClr val="FFFFFF"/>
          </a:solidFill>
          <a:ln w="15875">
            <a:solidFill>
              <a:srgbClr val="5B46B8"/>
            </a:solidFill>
            <a:prstDash val="solid"/>
          </a:ln>
        </p:spPr>
      </p:sp>
      <p:sp>
        <p:nvSpPr>
          <p:cNvPr id="29" name="Text 27"/>
          <p:cNvSpPr txBox="1"/>
          <p:nvPr/>
        </p:nvSpPr>
        <p:spPr>
          <a:xfrm>
            <a:off x="2109216" y="529691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a:t>
            </a:r>
            <a:endParaRPr lang="en-US" sz="1600" dirty="0"/>
          </a:p>
        </p:txBody>
      </p:sp>
      <p:sp>
        <p:nvSpPr>
          <p:cNvPr id="30" name="Shape 28"/>
          <p:cNvSpPr/>
          <p:nvPr/>
        </p:nvSpPr>
        <p:spPr>
          <a:xfrm>
            <a:off x="2798064" y="5296916"/>
            <a:ext cx="1477264" cy="384048"/>
          </a:xfrm>
          <a:prstGeom prst="roundRect">
            <a:avLst>
              <a:gd name="adj" fmla="val 28571"/>
            </a:avLst>
          </a:prstGeom>
          <a:solidFill>
            <a:srgbClr val="FFFFFF"/>
          </a:solidFill>
          <a:ln w="15875">
            <a:solidFill>
              <a:srgbClr val="5B46B8"/>
            </a:solidFill>
            <a:prstDash val="solid"/>
          </a:ln>
        </p:spPr>
      </p:sp>
      <p:sp>
        <p:nvSpPr>
          <p:cNvPr id="31" name="Text 29"/>
          <p:cNvSpPr txBox="1"/>
          <p:nvPr/>
        </p:nvSpPr>
        <p:spPr>
          <a:xfrm>
            <a:off x="2889504" y="5296916"/>
            <a:ext cx="12943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Webサーバー</a:t>
            </a:r>
            <a:endParaRPr lang="en-US" sz="1600" dirty="0"/>
          </a:p>
        </p:txBody>
      </p:sp>
      <p:sp>
        <p:nvSpPr>
          <p:cNvPr id="32" name="Shape 30"/>
          <p:cNvSpPr/>
          <p:nvPr/>
        </p:nvSpPr>
        <p:spPr>
          <a:xfrm>
            <a:off x="457200" y="5754116"/>
            <a:ext cx="1733296" cy="384048"/>
          </a:xfrm>
          <a:prstGeom prst="roundRect">
            <a:avLst>
              <a:gd name="adj" fmla="val 28571"/>
            </a:avLst>
          </a:prstGeom>
          <a:solidFill>
            <a:srgbClr val="FFFFFF"/>
          </a:solidFill>
          <a:ln w="15875">
            <a:solidFill>
              <a:srgbClr val="5B46B8"/>
            </a:solidFill>
            <a:prstDash val="solid"/>
          </a:ln>
        </p:spPr>
      </p:sp>
      <p:sp>
        <p:nvSpPr>
          <p:cNvPr id="33" name="Text 31"/>
          <p:cNvSpPr txBox="1"/>
          <p:nvPr/>
        </p:nvSpPr>
        <p:spPr>
          <a:xfrm>
            <a:off x="548640" y="5754116"/>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アプリサーバー</a:t>
            </a:r>
            <a:endParaRPr lang="en-US" sz="1600" dirty="0"/>
          </a:p>
        </p:txBody>
      </p:sp>
      <p:sp>
        <p:nvSpPr>
          <p:cNvPr id="34" name="Shape 32"/>
          <p:cNvSpPr/>
          <p:nvPr/>
        </p:nvSpPr>
        <p:spPr>
          <a:xfrm>
            <a:off x="2281936" y="5754116"/>
            <a:ext cx="1444752" cy="384048"/>
          </a:xfrm>
          <a:prstGeom prst="roundRect">
            <a:avLst>
              <a:gd name="adj" fmla="val 28571"/>
            </a:avLst>
          </a:prstGeom>
          <a:solidFill>
            <a:srgbClr val="FFFFFF"/>
          </a:solidFill>
          <a:ln w="15875">
            <a:solidFill>
              <a:srgbClr val="5B46B8"/>
            </a:solidFill>
            <a:prstDash val="solid"/>
          </a:ln>
        </p:spPr>
      </p:sp>
      <p:sp>
        <p:nvSpPr>
          <p:cNvPr id="35" name="Text 33"/>
          <p:cNvSpPr txBox="1"/>
          <p:nvPr/>
        </p:nvSpPr>
        <p:spPr>
          <a:xfrm>
            <a:off x="2373376" y="5754116"/>
            <a:ext cx="12618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PostgreSQL</a:t>
            </a:r>
            <a:endParaRPr lang="en-US" sz="1600" dirty="0"/>
          </a:p>
        </p:txBody>
      </p:sp>
      <p:sp>
        <p:nvSpPr>
          <p:cNvPr id="36" name="Shape 34"/>
          <p:cNvSpPr/>
          <p:nvPr/>
        </p:nvSpPr>
        <p:spPr>
          <a:xfrm>
            <a:off x="320040" y="6375908"/>
            <a:ext cx="4846320" cy="1481328"/>
          </a:xfrm>
          <a:prstGeom prst="roundRect">
            <a:avLst>
              <a:gd name="adj" fmla="val 6173"/>
            </a:avLst>
          </a:prstGeom>
          <a:solidFill>
            <a:srgbClr val="D9F2F1"/>
          </a:solidFill>
          <a:ln/>
        </p:spPr>
      </p:sp>
      <p:sp>
        <p:nvSpPr>
          <p:cNvPr id="37" name="Shape 35"/>
          <p:cNvSpPr/>
          <p:nvPr/>
        </p:nvSpPr>
        <p:spPr>
          <a:xfrm>
            <a:off x="320040" y="6375908"/>
            <a:ext cx="4846320" cy="402336"/>
          </a:xfrm>
          <a:prstGeom prst="roundRect">
            <a:avLst>
              <a:gd name="adj" fmla="val 22727"/>
            </a:avLst>
          </a:prstGeom>
          <a:solidFill>
            <a:srgbClr val="0B7A7A"/>
          </a:solidFill>
          <a:ln/>
        </p:spPr>
      </p:sp>
      <p:sp>
        <p:nvSpPr>
          <p:cNvPr id="38" name="Text 36"/>
          <p:cNvSpPr txBox="1"/>
          <p:nvPr/>
        </p:nvSpPr>
        <p:spPr>
          <a:xfrm>
            <a:off x="411480" y="6375908"/>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仮想化　1台を分けて使う・箱に詰める</a:t>
            </a:r>
            <a:endParaRPr lang="en-US" sz="1600" dirty="0"/>
          </a:p>
        </p:txBody>
      </p:sp>
      <p:sp>
        <p:nvSpPr>
          <p:cNvPr id="39" name="Shape 37"/>
          <p:cNvSpPr/>
          <p:nvPr/>
        </p:nvSpPr>
        <p:spPr>
          <a:xfrm>
            <a:off x="457200" y="6869684"/>
            <a:ext cx="920496" cy="384048"/>
          </a:xfrm>
          <a:prstGeom prst="roundRect">
            <a:avLst>
              <a:gd name="adj" fmla="val 28571"/>
            </a:avLst>
          </a:prstGeom>
          <a:solidFill>
            <a:srgbClr val="FFFFFF"/>
          </a:solidFill>
          <a:ln w="15875">
            <a:solidFill>
              <a:srgbClr val="0B7A7A"/>
            </a:solidFill>
            <a:prstDash val="solid"/>
          </a:ln>
        </p:spPr>
      </p:sp>
      <p:sp>
        <p:nvSpPr>
          <p:cNvPr id="40" name="Text 38"/>
          <p:cNvSpPr txBox="1"/>
          <p:nvPr/>
        </p:nvSpPr>
        <p:spPr>
          <a:xfrm>
            <a:off x="548640" y="6869684"/>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仮想化</a:t>
            </a:r>
            <a:endParaRPr lang="en-US" sz="1600" dirty="0"/>
          </a:p>
        </p:txBody>
      </p:sp>
      <p:sp>
        <p:nvSpPr>
          <p:cNvPr id="41" name="Shape 39"/>
          <p:cNvSpPr/>
          <p:nvPr/>
        </p:nvSpPr>
        <p:spPr>
          <a:xfrm>
            <a:off x="1469136" y="6869684"/>
            <a:ext cx="1326896" cy="384048"/>
          </a:xfrm>
          <a:prstGeom prst="roundRect">
            <a:avLst>
              <a:gd name="adj" fmla="val 28571"/>
            </a:avLst>
          </a:prstGeom>
          <a:solidFill>
            <a:srgbClr val="FFFFFF"/>
          </a:solidFill>
          <a:ln w="15875">
            <a:solidFill>
              <a:srgbClr val="0B7A7A"/>
            </a:solidFill>
            <a:prstDash val="solid"/>
          </a:ln>
        </p:spPr>
      </p:sp>
      <p:sp>
        <p:nvSpPr>
          <p:cNvPr id="42" name="Text 40"/>
          <p:cNvSpPr txBox="1"/>
          <p:nvPr/>
        </p:nvSpPr>
        <p:spPr>
          <a:xfrm>
            <a:off x="1560576" y="6869684"/>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仮想マシン</a:t>
            </a:r>
            <a:endParaRPr lang="en-US" sz="1600" dirty="0"/>
          </a:p>
        </p:txBody>
      </p:sp>
      <p:sp>
        <p:nvSpPr>
          <p:cNvPr id="43" name="Shape 41"/>
          <p:cNvSpPr/>
          <p:nvPr/>
        </p:nvSpPr>
        <p:spPr>
          <a:xfrm>
            <a:off x="2887472" y="6869684"/>
            <a:ext cx="1936496" cy="384048"/>
          </a:xfrm>
          <a:prstGeom prst="roundRect">
            <a:avLst>
              <a:gd name="adj" fmla="val 28571"/>
            </a:avLst>
          </a:prstGeom>
          <a:solidFill>
            <a:srgbClr val="FFFFFF"/>
          </a:solidFill>
          <a:ln w="15875">
            <a:solidFill>
              <a:srgbClr val="0B7A7A"/>
            </a:solidFill>
            <a:prstDash val="solid"/>
          </a:ln>
        </p:spPr>
      </p:sp>
      <p:sp>
        <p:nvSpPr>
          <p:cNvPr id="44" name="Text 42"/>
          <p:cNvSpPr txBox="1"/>
          <p:nvPr/>
        </p:nvSpPr>
        <p:spPr>
          <a:xfrm>
            <a:off x="2978912" y="6869684"/>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ハイパーバイザー</a:t>
            </a:r>
            <a:endParaRPr lang="en-US" sz="1600" dirty="0"/>
          </a:p>
        </p:txBody>
      </p:sp>
      <p:sp>
        <p:nvSpPr>
          <p:cNvPr id="45" name="Shape 43"/>
          <p:cNvSpPr/>
          <p:nvPr/>
        </p:nvSpPr>
        <p:spPr>
          <a:xfrm>
            <a:off x="457200" y="7326884"/>
            <a:ext cx="1123696" cy="384048"/>
          </a:xfrm>
          <a:prstGeom prst="roundRect">
            <a:avLst>
              <a:gd name="adj" fmla="val 28571"/>
            </a:avLst>
          </a:prstGeom>
          <a:solidFill>
            <a:srgbClr val="FFFFFF"/>
          </a:solidFill>
          <a:ln w="15875">
            <a:solidFill>
              <a:srgbClr val="0B7A7A"/>
            </a:solidFill>
            <a:prstDash val="solid"/>
          </a:ln>
        </p:spPr>
      </p:sp>
      <p:sp>
        <p:nvSpPr>
          <p:cNvPr id="46" name="Text 44"/>
          <p:cNvSpPr txBox="1"/>
          <p:nvPr/>
        </p:nvSpPr>
        <p:spPr>
          <a:xfrm>
            <a:off x="548640" y="7326884"/>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コンテナ</a:t>
            </a:r>
            <a:endParaRPr lang="en-US" sz="1600" dirty="0"/>
          </a:p>
        </p:txBody>
      </p:sp>
      <p:sp>
        <p:nvSpPr>
          <p:cNvPr id="47" name="Shape 45"/>
          <p:cNvSpPr/>
          <p:nvPr/>
        </p:nvSpPr>
        <p:spPr>
          <a:xfrm>
            <a:off x="1672336" y="7326884"/>
            <a:ext cx="1005840" cy="384048"/>
          </a:xfrm>
          <a:prstGeom prst="roundRect">
            <a:avLst>
              <a:gd name="adj" fmla="val 28571"/>
            </a:avLst>
          </a:prstGeom>
          <a:solidFill>
            <a:srgbClr val="FFFFFF"/>
          </a:solidFill>
          <a:ln w="15875">
            <a:solidFill>
              <a:srgbClr val="0B7A7A"/>
            </a:solidFill>
            <a:prstDash val="solid"/>
          </a:ln>
        </p:spPr>
      </p:sp>
      <p:sp>
        <p:nvSpPr>
          <p:cNvPr id="48" name="Text 46"/>
          <p:cNvSpPr txBox="1"/>
          <p:nvPr/>
        </p:nvSpPr>
        <p:spPr>
          <a:xfrm>
            <a:off x="1763776" y="7326884"/>
            <a:ext cx="8229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Docker</a:t>
            </a:r>
            <a:endParaRPr lang="en-US" sz="1600" dirty="0"/>
          </a:p>
        </p:txBody>
      </p:sp>
      <p:sp>
        <p:nvSpPr>
          <p:cNvPr id="49" name="Shape 47"/>
          <p:cNvSpPr/>
          <p:nvPr/>
        </p:nvSpPr>
        <p:spPr>
          <a:xfrm>
            <a:off x="2769616" y="7326884"/>
            <a:ext cx="1408176" cy="384048"/>
          </a:xfrm>
          <a:prstGeom prst="roundRect">
            <a:avLst>
              <a:gd name="adj" fmla="val 28571"/>
            </a:avLst>
          </a:prstGeom>
          <a:solidFill>
            <a:srgbClr val="FFFFFF"/>
          </a:solidFill>
          <a:ln w="15875">
            <a:solidFill>
              <a:srgbClr val="0B7A7A"/>
            </a:solidFill>
            <a:prstDash val="solid"/>
          </a:ln>
        </p:spPr>
      </p:sp>
      <p:sp>
        <p:nvSpPr>
          <p:cNvPr id="50" name="Text 48"/>
          <p:cNvSpPr txBox="1"/>
          <p:nvPr/>
        </p:nvSpPr>
        <p:spPr>
          <a:xfrm>
            <a:off x="2861056" y="7326884"/>
            <a:ext cx="12252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Kubernetes</a:t>
            </a:r>
            <a:endParaRPr lang="en-US" sz="1600" dirty="0"/>
          </a:p>
        </p:txBody>
      </p:sp>
      <p:sp>
        <p:nvSpPr>
          <p:cNvPr id="51" name="Shape 49"/>
          <p:cNvSpPr/>
          <p:nvPr/>
        </p:nvSpPr>
        <p:spPr>
          <a:xfrm>
            <a:off x="320040" y="7948676"/>
            <a:ext cx="4846320" cy="1481328"/>
          </a:xfrm>
          <a:prstGeom prst="roundRect">
            <a:avLst>
              <a:gd name="adj" fmla="val 6173"/>
            </a:avLst>
          </a:prstGeom>
          <a:solidFill>
            <a:srgbClr val="DCE8F8"/>
          </a:solidFill>
          <a:ln/>
        </p:spPr>
      </p:sp>
      <p:sp>
        <p:nvSpPr>
          <p:cNvPr id="52" name="Shape 50"/>
          <p:cNvSpPr/>
          <p:nvPr/>
        </p:nvSpPr>
        <p:spPr>
          <a:xfrm>
            <a:off x="320040" y="7948676"/>
            <a:ext cx="4846320" cy="402336"/>
          </a:xfrm>
          <a:prstGeom prst="roundRect">
            <a:avLst>
              <a:gd name="adj" fmla="val 22727"/>
            </a:avLst>
          </a:prstGeom>
          <a:solidFill>
            <a:srgbClr val="2F6BC2"/>
          </a:solidFill>
          <a:ln/>
        </p:spPr>
      </p:sp>
      <p:sp>
        <p:nvSpPr>
          <p:cNvPr id="53" name="Text 51"/>
          <p:cNvSpPr txBox="1"/>
          <p:nvPr/>
        </p:nvSpPr>
        <p:spPr>
          <a:xfrm>
            <a:off x="411480" y="7948676"/>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OS　機械を動かす基本ソフト</a:t>
            </a:r>
            <a:endParaRPr lang="en-US" sz="1600" dirty="0"/>
          </a:p>
        </p:txBody>
      </p:sp>
      <p:sp>
        <p:nvSpPr>
          <p:cNvPr id="54" name="Shape 52"/>
          <p:cNvSpPr/>
          <p:nvPr/>
        </p:nvSpPr>
        <p:spPr>
          <a:xfrm>
            <a:off x="457200" y="8442452"/>
            <a:ext cx="562864" cy="384048"/>
          </a:xfrm>
          <a:prstGeom prst="roundRect">
            <a:avLst>
              <a:gd name="adj" fmla="val 28571"/>
            </a:avLst>
          </a:prstGeom>
          <a:solidFill>
            <a:srgbClr val="FFFFFF"/>
          </a:solidFill>
          <a:ln w="15875">
            <a:solidFill>
              <a:srgbClr val="2F6BC2"/>
            </a:solidFill>
            <a:prstDash val="solid"/>
          </a:ln>
        </p:spPr>
      </p:sp>
      <p:sp>
        <p:nvSpPr>
          <p:cNvPr id="55" name="Text 53"/>
          <p:cNvSpPr txBox="1"/>
          <p:nvPr/>
        </p:nvSpPr>
        <p:spPr>
          <a:xfrm>
            <a:off x="548640" y="8442452"/>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p:txBody>
      </p:sp>
      <p:sp>
        <p:nvSpPr>
          <p:cNvPr id="56" name="Shape 54"/>
          <p:cNvSpPr/>
          <p:nvPr/>
        </p:nvSpPr>
        <p:spPr>
          <a:xfrm>
            <a:off x="1111504" y="8442452"/>
            <a:ext cx="1125728" cy="384048"/>
          </a:xfrm>
          <a:prstGeom prst="roundRect">
            <a:avLst>
              <a:gd name="adj" fmla="val 28571"/>
            </a:avLst>
          </a:prstGeom>
          <a:solidFill>
            <a:srgbClr val="FFFFFF"/>
          </a:solidFill>
          <a:ln w="15875">
            <a:solidFill>
              <a:srgbClr val="2F6BC2"/>
            </a:solidFill>
            <a:prstDash val="solid"/>
          </a:ln>
        </p:spPr>
      </p:sp>
      <p:sp>
        <p:nvSpPr>
          <p:cNvPr id="57" name="Text 55"/>
          <p:cNvSpPr txBox="1"/>
          <p:nvPr/>
        </p:nvSpPr>
        <p:spPr>
          <a:xfrm>
            <a:off x="1202944" y="8442452"/>
            <a:ext cx="94284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a:t>
            </a:r>
            <a:endParaRPr lang="en-US" sz="1600" dirty="0"/>
          </a:p>
        </p:txBody>
      </p:sp>
      <p:sp>
        <p:nvSpPr>
          <p:cNvPr id="58" name="Shape 56"/>
          <p:cNvSpPr/>
          <p:nvPr/>
        </p:nvSpPr>
        <p:spPr>
          <a:xfrm>
            <a:off x="2328672" y="8442452"/>
            <a:ext cx="839216" cy="384048"/>
          </a:xfrm>
          <a:prstGeom prst="roundRect">
            <a:avLst>
              <a:gd name="adj" fmla="val 28571"/>
            </a:avLst>
          </a:prstGeom>
          <a:solidFill>
            <a:srgbClr val="FFFFFF"/>
          </a:solidFill>
          <a:ln w="15875">
            <a:solidFill>
              <a:srgbClr val="2F6BC2"/>
            </a:solidFill>
            <a:prstDash val="solid"/>
          </a:ln>
        </p:spPr>
      </p:sp>
      <p:sp>
        <p:nvSpPr>
          <p:cNvPr id="59" name="Text 57"/>
          <p:cNvSpPr txBox="1"/>
          <p:nvPr/>
        </p:nvSpPr>
        <p:spPr>
          <a:xfrm>
            <a:off x="2420112" y="8442452"/>
            <a:ext cx="6563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a:t>
            </a:r>
            <a:endParaRPr lang="en-US" sz="1600" dirty="0"/>
          </a:p>
        </p:txBody>
      </p:sp>
      <p:sp>
        <p:nvSpPr>
          <p:cNvPr id="60" name="Shape 58"/>
          <p:cNvSpPr/>
          <p:nvPr/>
        </p:nvSpPr>
        <p:spPr>
          <a:xfrm>
            <a:off x="457200" y="8899652"/>
            <a:ext cx="1936496" cy="384048"/>
          </a:xfrm>
          <a:prstGeom prst="roundRect">
            <a:avLst>
              <a:gd name="adj" fmla="val 28571"/>
            </a:avLst>
          </a:prstGeom>
          <a:solidFill>
            <a:srgbClr val="FFFFFF"/>
          </a:solidFill>
          <a:ln w="15875">
            <a:solidFill>
              <a:srgbClr val="2F6BC2"/>
            </a:solidFill>
            <a:prstDash val="solid"/>
          </a:ln>
        </p:spPr>
      </p:sp>
      <p:sp>
        <p:nvSpPr>
          <p:cNvPr id="61" name="Text 59"/>
          <p:cNvSpPr txBox="1"/>
          <p:nvPr/>
        </p:nvSpPr>
        <p:spPr>
          <a:xfrm>
            <a:off x="548640" y="8899652"/>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ファイルシステム</a:t>
            </a:r>
            <a:endParaRPr lang="en-US" sz="1600" dirty="0"/>
          </a:p>
        </p:txBody>
      </p:sp>
      <p:sp>
        <p:nvSpPr>
          <p:cNvPr id="62" name="Shape 60"/>
          <p:cNvSpPr/>
          <p:nvPr/>
        </p:nvSpPr>
        <p:spPr>
          <a:xfrm>
            <a:off x="2485136" y="8899652"/>
            <a:ext cx="688848" cy="384048"/>
          </a:xfrm>
          <a:prstGeom prst="roundRect">
            <a:avLst>
              <a:gd name="adj" fmla="val 28571"/>
            </a:avLst>
          </a:prstGeom>
          <a:solidFill>
            <a:srgbClr val="FFFFFF"/>
          </a:solidFill>
          <a:ln w="15875">
            <a:solidFill>
              <a:srgbClr val="2F6BC2"/>
            </a:solidFill>
            <a:prstDash val="solid"/>
          </a:ln>
        </p:spPr>
      </p:sp>
      <p:sp>
        <p:nvSpPr>
          <p:cNvPr id="63" name="Text 61"/>
          <p:cNvSpPr txBox="1"/>
          <p:nvPr/>
        </p:nvSpPr>
        <p:spPr>
          <a:xfrm>
            <a:off x="2576576" y="8899652"/>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KVM</a:t>
            </a:r>
            <a:endParaRPr lang="en-US" sz="1600" dirty="0"/>
          </a:p>
        </p:txBody>
      </p:sp>
      <p:sp>
        <p:nvSpPr>
          <p:cNvPr id="64" name="Shape 62"/>
          <p:cNvSpPr/>
          <p:nvPr/>
        </p:nvSpPr>
        <p:spPr>
          <a:xfrm>
            <a:off x="3265424" y="8899652"/>
            <a:ext cx="1131824" cy="384048"/>
          </a:xfrm>
          <a:prstGeom prst="roundRect">
            <a:avLst>
              <a:gd name="adj" fmla="val 28571"/>
            </a:avLst>
          </a:prstGeom>
          <a:solidFill>
            <a:srgbClr val="FFFFFF"/>
          </a:solidFill>
          <a:ln w="15875">
            <a:solidFill>
              <a:srgbClr val="2F6BC2"/>
            </a:solidFill>
            <a:prstDash val="solid"/>
          </a:ln>
        </p:spPr>
      </p:sp>
      <p:sp>
        <p:nvSpPr>
          <p:cNvPr id="65" name="Text 63"/>
          <p:cNvSpPr txBox="1"/>
          <p:nvPr/>
        </p:nvSpPr>
        <p:spPr>
          <a:xfrm>
            <a:off x="3356864" y="8899652"/>
            <a:ext cx="9489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Hyper-V</a:t>
            </a:r>
            <a:endParaRPr lang="en-US" sz="1600" dirty="0"/>
          </a:p>
        </p:txBody>
      </p:sp>
      <p:sp>
        <p:nvSpPr>
          <p:cNvPr id="66" name="Text 6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層ごとの用語マップ（1台の中）</a:t>
            </a:r>
            <a:endParaRPr lang="ja-JP" sz="2200" dirty="0"/>
          </a:p>
        </p:txBody>
      </p:sp>
      <p:sp>
        <p:nvSpPr>
          <p:cNvPr id="4" name="Shape 2"/>
          <p:cNvSpPr/>
          <p:nvPr/>
        </p:nvSpPr>
        <p:spPr>
          <a:xfrm>
            <a:off x="320040" y="1318514"/>
            <a:ext cx="4846320" cy="1481328"/>
          </a:xfrm>
          <a:prstGeom prst="roundRect">
            <a:avLst>
              <a:gd name="adj" fmla="val 6173"/>
            </a:avLst>
          </a:prstGeom>
          <a:solidFill>
            <a:srgbClr val="E2E8F0"/>
          </a:solidFill>
          <a:ln/>
        </p:spPr>
      </p:sp>
      <p:sp>
        <p:nvSpPr>
          <p:cNvPr id="5" name="Shape 3"/>
          <p:cNvSpPr/>
          <p:nvPr/>
        </p:nvSpPr>
        <p:spPr>
          <a:xfrm>
            <a:off x="320040" y="1318514"/>
            <a:ext cx="4846320" cy="402336"/>
          </a:xfrm>
          <a:prstGeom prst="roundRect">
            <a:avLst>
              <a:gd name="adj" fmla="val 22727"/>
            </a:avLst>
          </a:prstGeom>
          <a:solidFill>
            <a:srgbClr val="475569"/>
          </a:solidFill>
          <a:ln/>
        </p:spPr>
      </p:sp>
      <p:sp>
        <p:nvSpPr>
          <p:cNvPr id="6" name="Text 4"/>
          <p:cNvSpPr txBox="1"/>
          <p:nvPr/>
        </p:nvSpPr>
        <p:spPr>
          <a:xfrm>
            <a:off x="411480" y="1318514"/>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ハードウェア　機械・部品そのもの</a:t>
            </a:r>
            <a:endParaRPr lang="en-US" sz="1600" dirty="0"/>
          </a:p>
        </p:txBody>
      </p:sp>
      <p:sp>
        <p:nvSpPr>
          <p:cNvPr id="7" name="Shape 5"/>
          <p:cNvSpPr/>
          <p:nvPr/>
        </p:nvSpPr>
        <p:spPr>
          <a:xfrm>
            <a:off x="457200" y="1812290"/>
            <a:ext cx="1530096" cy="384048"/>
          </a:xfrm>
          <a:prstGeom prst="roundRect">
            <a:avLst>
              <a:gd name="adj" fmla="val 28571"/>
            </a:avLst>
          </a:prstGeom>
          <a:solidFill>
            <a:srgbClr val="FFFFFF"/>
          </a:solidFill>
          <a:ln w="15875">
            <a:solidFill>
              <a:srgbClr val="475569"/>
            </a:solidFill>
            <a:prstDash val="solid"/>
          </a:ln>
        </p:spPr>
      </p:sp>
      <p:sp>
        <p:nvSpPr>
          <p:cNvPr id="8" name="Text 6"/>
          <p:cNvSpPr txBox="1"/>
          <p:nvPr/>
        </p:nvSpPr>
        <p:spPr>
          <a:xfrm>
            <a:off x="548640" y="181229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ハードウェア</a:t>
            </a:r>
            <a:endParaRPr lang="en-US" sz="1600" dirty="0"/>
          </a:p>
        </p:txBody>
      </p:sp>
      <p:sp>
        <p:nvSpPr>
          <p:cNvPr id="9" name="Shape 7"/>
          <p:cNvSpPr/>
          <p:nvPr/>
        </p:nvSpPr>
        <p:spPr>
          <a:xfrm>
            <a:off x="2078736" y="1812290"/>
            <a:ext cx="688848" cy="384048"/>
          </a:xfrm>
          <a:prstGeom prst="roundRect">
            <a:avLst>
              <a:gd name="adj" fmla="val 28571"/>
            </a:avLst>
          </a:prstGeom>
          <a:solidFill>
            <a:srgbClr val="FFFFFF"/>
          </a:solidFill>
          <a:ln w="15875">
            <a:solidFill>
              <a:srgbClr val="475569"/>
            </a:solidFill>
            <a:prstDash val="solid"/>
          </a:ln>
        </p:spPr>
      </p:sp>
      <p:sp>
        <p:nvSpPr>
          <p:cNvPr id="10" name="Text 8"/>
          <p:cNvSpPr txBox="1"/>
          <p:nvPr/>
        </p:nvSpPr>
        <p:spPr>
          <a:xfrm>
            <a:off x="2170176" y="1812290"/>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p:txBody>
      </p:sp>
      <p:sp>
        <p:nvSpPr>
          <p:cNvPr id="11" name="Shape 9"/>
          <p:cNvSpPr/>
          <p:nvPr/>
        </p:nvSpPr>
        <p:spPr>
          <a:xfrm>
            <a:off x="2859024" y="1812290"/>
            <a:ext cx="920496" cy="384048"/>
          </a:xfrm>
          <a:prstGeom prst="roundRect">
            <a:avLst>
              <a:gd name="adj" fmla="val 28571"/>
            </a:avLst>
          </a:prstGeom>
          <a:solidFill>
            <a:srgbClr val="FFFFFF"/>
          </a:solidFill>
          <a:ln w="15875">
            <a:solidFill>
              <a:srgbClr val="475569"/>
            </a:solidFill>
            <a:prstDash val="solid"/>
          </a:ln>
        </p:spPr>
      </p:sp>
      <p:sp>
        <p:nvSpPr>
          <p:cNvPr id="12" name="Text 10"/>
          <p:cNvSpPr txBox="1"/>
          <p:nvPr/>
        </p:nvSpPr>
        <p:spPr>
          <a:xfrm>
            <a:off x="2950464" y="1812290"/>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p:txBody>
      </p:sp>
      <p:sp>
        <p:nvSpPr>
          <p:cNvPr id="13" name="Shape 11"/>
          <p:cNvSpPr/>
          <p:nvPr/>
        </p:nvSpPr>
        <p:spPr>
          <a:xfrm>
            <a:off x="3870960" y="1812290"/>
            <a:ext cx="688848" cy="384048"/>
          </a:xfrm>
          <a:prstGeom prst="roundRect">
            <a:avLst>
              <a:gd name="adj" fmla="val 28571"/>
            </a:avLst>
          </a:prstGeom>
          <a:solidFill>
            <a:srgbClr val="FFFFFF"/>
          </a:solidFill>
          <a:ln w="15875">
            <a:solidFill>
              <a:srgbClr val="475569"/>
            </a:solidFill>
            <a:prstDash val="solid"/>
          </a:ln>
        </p:spPr>
      </p:sp>
      <p:sp>
        <p:nvSpPr>
          <p:cNvPr id="14" name="Text 12"/>
          <p:cNvSpPr txBox="1"/>
          <p:nvPr/>
        </p:nvSpPr>
        <p:spPr>
          <a:xfrm>
            <a:off x="3962400" y="1812290"/>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SSD</a:t>
            </a:r>
            <a:endParaRPr lang="en-US" sz="1600" dirty="0"/>
          </a:p>
        </p:txBody>
      </p:sp>
      <p:sp>
        <p:nvSpPr>
          <p:cNvPr id="15" name="Shape 13"/>
          <p:cNvSpPr/>
          <p:nvPr/>
        </p:nvSpPr>
        <p:spPr>
          <a:xfrm>
            <a:off x="457200" y="2269490"/>
            <a:ext cx="688848" cy="384048"/>
          </a:xfrm>
          <a:prstGeom prst="roundRect">
            <a:avLst>
              <a:gd name="adj" fmla="val 28571"/>
            </a:avLst>
          </a:prstGeom>
          <a:solidFill>
            <a:srgbClr val="FFFFFF"/>
          </a:solidFill>
          <a:ln w="15875">
            <a:solidFill>
              <a:srgbClr val="475569"/>
            </a:solidFill>
            <a:prstDash val="solid"/>
          </a:ln>
        </p:spPr>
      </p:sp>
      <p:sp>
        <p:nvSpPr>
          <p:cNvPr id="16" name="Text 14"/>
          <p:cNvSpPr txBox="1"/>
          <p:nvPr/>
        </p:nvSpPr>
        <p:spPr>
          <a:xfrm>
            <a:off x="548640" y="2269490"/>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HDD</a:t>
            </a:r>
            <a:endParaRPr lang="en-US" sz="1600" dirty="0"/>
          </a:p>
        </p:txBody>
      </p:sp>
      <p:sp>
        <p:nvSpPr>
          <p:cNvPr id="17" name="Shape 15"/>
          <p:cNvSpPr/>
          <p:nvPr/>
        </p:nvSpPr>
        <p:spPr>
          <a:xfrm>
            <a:off x="1237488" y="2269490"/>
            <a:ext cx="814832" cy="384048"/>
          </a:xfrm>
          <a:prstGeom prst="roundRect">
            <a:avLst>
              <a:gd name="adj" fmla="val 28571"/>
            </a:avLst>
          </a:prstGeom>
          <a:solidFill>
            <a:srgbClr val="FFFFFF"/>
          </a:solidFill>
          <a:ln w="15875">
            <a:solidFill>
              <a:srgbClr val="475569"/>
            </a:solidFill>
            <a:prstDash val="solid"/>
          </a:ln>
        </p:spPr>
      </p:sp>
      <p:sp>
        <p:nvSpPr>
          <p:cNvPr id="18" name="Text 16"/>
          <p:cNvSpPr txBox="1"/>
          <p:nvPr/>
        </p:nvSpPr>
        <p:spPr>
          <a:xfrm>
            <a:off x="1328928" y="2269490"/>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p:txBody>
      </p:sp>
      <p:sp>
        <p:nvSpPr>
          <p:cNvPr id="19" name="Text 1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層ごとの用語マップ（外側と活動）</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コンピューターの「外側」には、つなぐ道（ネットワーク）と、置き場所があります。技術以外の「活動・資格」も別に並べました。</a:t>
            </a:r>
            <a:endParaRPr lang="en-US" sz="1800" dirty="0"/>
          </a:p>
        </p:txBody>
      </p:sp>
      <p:sp>
        <p:nvSpPr>
          <p:cNvPr id="6" name="Shape 4"/>
          <p:cNvSpPr/>
          <p:nvPr/>
        </p:nvSpPr>
        <p:spPr>
          <a:xfrm>
            <a:off x="320040" y="3230372"/>
            <a:ext cx="4846320" cy="1481328"/>
          </a:xfrm>
          <a:prstGeom prst="roundRect">
            <a:avLst>
              <a:gd name="adj" fmla="val 6173"/>
            </a:avLst>
          </a:prstGeom>
          <a:solidFill>
            <a:srgbClr val="FDEBD0"/>
          </a:solidFill>
          <a:ln/>
        </p:spPr>
      </p:sp>
      <p:sp>
        <p:nvSpPr>
          <p:cNvPr id="7" name="Shape 5"/>
          <p:cNvSpPr/>
          <p:nvPr/>
        </p:nvSpPr>
        <p:spPr>
          <a:xfrm>
            <a:off x="320040" y="3230372"/>
            <a:ext cx="4846320" cy="402336"/>
          </a:xfrm>
          <a:prstGeom prst="roundRect">
            <a:avLst>
              <a:gd name="adj" fmla="val 22727"/>
            </a:avLst>
          </a:prstGeom>
          <a:solidFill>
            <a:srgbClr val="B45309"/>
          </a:solidFill>
          <a:ln/>
        </p:spPr>
      </p:sp>
      <p:sp>
        <p:nvSpPr>
          <p:cNvPr id="8" name="Text 6"/>
          <p:cNvSpPr txBox="1"/>
          <p:nvPr/>
        </p:nvSpPr>
        <p:spPr>
          <a:xfrm>
            <a:off x="411480" y="3230372"/>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ネットワーク　機械どうしをつなぐ道</a:t>
            </a:r>
            <a:endParaRPr lang="en-US" sz="1600" dirty="0"/>
          </a:p>
        </p:txBody>
      </p:sp>
      <p:sp>
        <p:nvSpPr>
          <p:cNvPr id="9" name="Shape 7"/>
          <p:cNvSpPr/>
          <p:nvPr/>
        </p:nvSpPr>
        <p:spPr>
          <a:xfrm>
            <a:off x="457200" y="3724148"/>
            <a:ext cx="1530096" cy="384048"/>
          </a:xfrm>
          <a:prstGeom prst="roundRect">
            <a:avLst>
              <a:gd name="adj" fmla="val 28571"/>
            </a:avLst>
          </a:prstGeom>
          <a:solidFill>
            <a:srgbClr val="FFFFFF"/>
          </a:solidFill>
          <a:ln w="15875">
            <a:solidFill>
              <a:srgbClr val="B45309"/>
            </a:solidFill>
            <a:prstDash val="solid"/>
          </a:ln>
        </p:spPr>
      </p:sp>
      <p:sp>
        <p:nvSpPr>
          <p:cNvPr id="10" name="Text 8"/>
          <p:cNvSpPr txBox="1"/>
          <p:nvPr/>
        </p:nvSpPr>
        <p:spPr>
          <a:xfrm>
            <a:off x="548640" y="3724148"/>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ネットワーク</a:t>
            </a:r>
            <a:endParaRPr lang="en-US" sz="1600" dirty="0"/>
          </a:p>
        </p:txBody>
      </p:sp>
      <p:sp>
        <p:nvSpPr>
          <p:cNvPr id="11" name="Shape 9"/>
          <p:cNvSpPr/>
          <p:nvPr/>
        </p:nvSpPr>
        <p:spPr>
          <a:xfrm>
            <a:off x="2078736" y="3724148"/>
            <a:ext cx="1733296" cy="384048"/>
          </a:xfrm>
          <a:prstGeom prst="roundRect">
            <a:avLst>
              <a:gd name="adj" fmla="val 28571"/>
            </a:avLst>
          </a:prstGeom>
          <a:solidFill>
            <a:srgbClr val="FFFFFF"/>
          </a:solidFill>
          <a:ln w="15875">
            <a:solidFill>
              <a:srgbClr val="B45309"/>
            </a:solidFill>
            <a:prstDash val="solid"/>
          </a:ln>
        </p:spPr>
      </p:sp>
      <p:sp>
        <p:nvSpPr>
          <p:cNvPr id="12" name="Text 10"/>
          <p:cNvSpPr txBox="1"/>
          <p:nvPr/>
        </p:nvSpPr>
        <p:spPr>
          <a:xfrm>
            <a:off x="2170176" y="3724148"/>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インターネット</a:t>
            </a:r>
            <a:endParaRPr lang="en-US" sz="1600" dirty="0"/>
          </a:p>
        </p:txBody>
      </p:sp>
      <p:sp>
        <p:nvSpPr>
          <p:cNvPr id="13" name="Shape 11"/>
          <p:cNvSpPr/>
          <p:nvPr/>
        </p:nvSpPr>
        <p:spPr>
          <a:xfrm>
            <a:off x="3903472" y="3724148"/>
            <a:ext cx="1095248" cy="384048"/>
          </a:xfrm>
          <a:prstGeom prst="roundRect">
            <a:avLst>
              <a:gd name="adj" fmla="val 28571"/>
            </a:avLst>
          </a:prstGeom>
          <a:solidFill>
            <a:srgbClr val="FFFFFF"/>
          </a:solidFill>
          <a:ln w="15875">
            <a:solidFill>
              <a:srgbClr val="B45309"/>
            </a:solidFill>
            <a:prstDash val="solid"/>
          </a:ln>
        </p:spPr>
      </p:sp>
      <p:sp>
        <p:nvSpPr>
          <p:cNvPr id="14" name="Text 12"/>
          <p:cNvSpPr txBox="1"/>
          <p:nvPr/>
        </p:nvSpPr>
        <p:spPr>
          <a:xfrm>
            <a:off x="3994912" y="3724148"/>
            <a:ext cx="9123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有線LAN</a:t>
            </a:r>
            <a:endParaRPr lang="en-US" sz="1600" dirty="0"/>
          </a:p>
        </p:txBody>
      </p:sp>
      <p:sp>
        <p:nvSpPr>
          <p:cNvPr id="15" name="Shape 13"/>
          <p:cNvSpPr/>
          <p:nvPr/>
        </p:nvSpPr>
        <p:spPr>
          <a:xfrm>
            <a:off x="457200" y="4181348"/>
            <a:ext cx="798576" cy="384048"/>
          </a:xfrm>
          <a:prstGeom prst="roundRect">
            <a:avLst>
              <a:gd name="adj" fmla="val 28571"/>
            </a:avLst>
          </a:prstGeom>
          <a:solidFill>
            <a:srgbClr val="FFFFFF"/>
          </a:solidFill>
          <a:ln w="15875">
            <a:solidFill>
              <a:srgbClr val="B45309"/>
            </a:solidFill>
            <a:prstDash val="solid"/>
          </a:ln>
        </p:spPr>
      </p:sp>
      <p:sp>
        <p:nvSpPr>
          <p:cNvPr id="16" name="Text 14"/>
          <p:cNvSpPr txBox="1"/>
          <p:nvPr/>
        </p:nvSpPr>
        <p:spPr>
          <a:xfrm>
            <a:off x="548640" y="4181348"/>
            <a:ext cx="6156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Wi-Fi</a:t>
            </a:r>
            <a:endParaRPr lang="en-US" sz="1600" dirty="0"/>
          </a:p>
        </p:txBody>
      </p:sp>
      <p:sp>
        <p:nvSpPr>
          <p:cNvPr id="17" name="Shape 15"/>
          <p:cNvSpPr/>
          <p:nvPr/>
        </p:nvSpPr>
        <p:spPr>
          <a:xfrm>
            <a:off x="1347216" y="4181348"/>
            <a:ext cx="1123696" cy="384048"/>
          </a:xfrm>
          <a:prstGeom prst="roundRect">
            <a:avLst>
              <a:gd name="adj" fmla="val 28571"/>
            </a:avLst>
          </a:prstGeom>
          <a:solidFill>
            <a:srgbClr val="FFFFFF"/>
          </a:solidFill>
          <a:ln w="15875">
            <a:solidFill>
              <a:srgbClr val="B45309"/>
            </a:solidFill>
            <a:prstDash val="solid"/>
          </a:ln>
        </p:spPr>
      </p:sp>
      <p:sp>
        <p:nvSpPr>
          <p:cNvPr id="18" name="Text 16"/>
          <p:cNvSpPr txBox="1"/>
          <p:nvPr/>
        </p:nvSpPr>
        <p:spPr>
          <a:xfrm>
            <a:off x="1438656" y="4181348"/>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ルーター</a:t>
            </a:r>
            <a:endParaRPr lang="en-US" sz="1600" dirty="0"/>
          </a:p>
        </p:txBody>
      </p:sp>
      <p:sp>
        <p:nvSpPr>
          <p:cNvPr id="19" name="Shape 17"/>
          <p:cNvSpPr/>
          <p:nvPr/>
        </p:nvSpPr>
        <p:spPr>
          <a:xfrm>
            <a:off x="2562352" y="4181348"/>
            <a:ext cx="920496" cy="384048"/>
          </a:xfrm>
          <a:prstGeom prst="roundRect">
            <a:avLst>
              <a:gd name="adj" fmla="val 28571"/>
            </a:avLst>
          </a:prstGeom>
          <a:solidFill>
            <a:srgbClr val="FFFFFF"/>
          </a:solidFill>
          <a:ln w="15875">
            <a:solidFill>
              <a:srgbClr val="B45309"/>
            </a:solidFill>
            <a:prstDash val="solid"/>
          </a:ln>
        </p:spPr>
      </p:sp>
      <p:sp>
        <p:nvSpPr>
          <p:cNvPr id="20" name="Text 18"/>
          <p:cNvSpPr txBox="1"/>
          <p:nvPr/>
        </p:nvSpPr>
        <p:spPr>
          <a:xfrm>
            <a:off x="2653792" y="4181348"/>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光回線</a:t>
            </a:r>
            <a:endParaRPr lang="en-US" sz="1600" dirty="0"/>
          </a:p>
        </p:txBody>
      </p:sp>
      <p:sp>
        <p:nvSpPr>
          <p:cNvPr id="21" name="Shape 19"/>
          <p:cNvSpPr/>
          <p:nvPr/>
        </p:nvSpPr>
        <p:spPr>
          <a:xfrm>
            <a:off x="320040" y="4803140"/>
            <a:ext cx="4846320" cy="2395728"/>
          </a:xfrm>
          <a:prstGeom prst="roundRect">
            <a:avLst>
              <a:gd name="adj" fmla="val 3817"/>
            </a:avLst>
          </a:prstGeom>
          <a:solidFill>
            <a:srgbClr val="DFF1FB"/>
          </a:solidFill>
          <a:ln/>
        </p:spPr>
      </p:sp>
      <p:sp>
        <p:nvSpPr>
          <p:cNvPr id="22" name="Shape 20"/>
          <p:cNvSpPr/>
          <p:nvPr/>
        </p:nvSpPr>
        <p:spPr>
          <a:xfrm>
            <a:off x="320040" y="4803140"/>
            <a:ext cx="4846320" cy="402336"/>
          </a:xfrm>
          <a:prstGeom prst="roundRect">
            <a:avLst>
              <a:gd name="adj" fmla="val 22727"/>
            </a:avLst>
          </a:prstGeom>
          <a:solidFill>
            <a:srgbClr val="0369A1"/>
          </a:solidFill>
          <a:ln/>
        </p:spPr>
      </p:sp>
      <p:sp>
        <p:nvSpPr>
          <p:cNvPr id="23" name="Text 21"/>
          <p:cNvSpPr txBox="1"/>
          <p:nvPr/>
        </p:nvSpPr>
        <p:spPr>
          <a:xfrm>
            <a:off x="411480" y="4803140"/>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置き場所　サーバー室・クラウド</a:t>
            </a:r>
            <a:endParaRPr lang="en-US" sz="1600" dirty="0"/>
          </a:p>
        </p:txBody>
      </p:sp>
      <p:sp>
        <p:nvSpPr>
          <p:cNvPr id="24" name="Shape 22"/>
          <p:cNvSpPr/>
          <p:nvPr/>
        </p:nvSpPr>
        <p:spPr>
          <a:xfrm>
            <a:off x="457200" y="5296916"/>
            <a:ext cx="1733296" cy="384048"/>
          </a:xfrm>
          <a:prstGeom prst="roundRect">
            <a:avLst>
              <a:gd name="adj" fmla="val 28571"/>
            </a:avLst>
          </a:prstGeom>
          <a:solidFill>
            <a:srgbClr val="FFFFFF"/>
          </a:solidFill>
          <a:ln w="15875">
            <a:solidFill>
              <a:srgbClr val="0369A1"/>
            </a:solidFill>
            <a:prstDash val="solid"/>
          </a:ln>
        </p:spPr>
      </p:sp>
      <p:sp>
        <p:nvSpPr>
          <p:cNvPr id="25" name="Text 23"/>
          <p:cNvSpPr txBox="1"/>
          <p:nvPr/>
        </p:nvSpPr>
        <p:spPr>
          <a:xfrm>
            <a:off x="548640" y="5296916"/>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データセンター</a:t>
            </a:r>
            <a:endParaRPr lang="en-US" sz="1600" dirty="0"/>
          </a:p>
        </p:txBody>
      </p:sp>
      <p:sp>
        <p:nvSpPr>
          <p:cNvPr id="26" name="Shape 24"/>
          <p:cNvSpPr/>
          <p:nvPr/>
        </p:nvSpPr>
        <p:spPr>
          <a:xfrm>
            <a:off x="2281936" y="5296916"/>
            <a:ext cx="1123696" cy="384048"/>
          </a:xfrm>
          <a:prstGeom prst="roundRect">
            <a:avLst>
              <a:gd name="adj" fmla="val 28571"/>
            </a:avLst>
          </a:prstGeom>
          <a:solidFill>
            <a:srgbClr val="FFFFFF"/>
          </a:solidFill>
          <a:ln w="15875">
            <a:solidFill>
              <a:srgbClr val="0369A1"/>
            </a:solidFill>
            <a:prstDash val="solid"/>
          </a:ln>
        </p:spPr>
      </p:sp>
      <p:sp>
        <p:nvSpPr>
          <p:cNvPr id="27" name="Text 25"/>
          <p:cNvSpPr txBox="1"/>
          <p:nvPr/>
        </p:nvSpPr>
        <p:spPr>
          <a:xfrm>
            <a:off x="2373376" y="5296916"/>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a:t>
            </a:r>
            <a:endParaRPr lang="en-US" sz="1600" dirty="0"/>
          </a:p>
        </p:txBody>
      </p:sp>
      <p:sp>
        <p:nvSpPr>
          <p:cNvPr id="28" name="Shape 26"/>
          <p:cNvSpPr/>
          <p:nvPr/>
        </p:nvSpPr>
        <p:spPr>
          <a:xfrm>
            <a:off x="457200" y="5754116"/>
            <a:ext cx="2139696" cy="384048"/>
          </a:xfrm>
          <a:prstGeom prst="roundRect">
            <a:avLst>
              <a:gd name="adj" fmla="val 28571"/>
            </a:avLst>
          </a:prstGeom>
          <a:solidFill>
            <a:srgbClr val="FFFFFF"/>
          </a:solidFill>
          <a:ln w="15875">
            <a:solidFill>
              <a:srgbClr val="0369A1"/>
            </a:solidFill>
            <a:prstDash val="solid"/>
          </a:ln>
        </p:spPr>
      </p:sp>
      <p:sp>
        <p:nvSpPr>
          <p:cNvPr id="29" name="Text 27"/>
          <p:cNvSpPr txBox="1"/>
          <p:nvPr/>
        </p:nvSpPr>
        <p:spPr>
          <a:xfrm>
            <a:off x="548640" y="5754116"/>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パブリッククラウド</a:t>
            </a:r>
            <a:endParaRPr lang="en-US" sz="1600" dirty="0"/>
          </a:p>
        </p:txBody>
      </p:sp>
      <p:sp>
        <p:nvSpPr>
          <p:cNvPr id="30" name="Shape 28"/>
          <p:cNvSpPr/>
          <p:nvPr/>
        </p:nvSpPr>
        <p:spPr>
          <a:xfrm>
            <a:off x="457200" y="6211316"/>
            <a:ext cx="2342896" cy="384048"/>
          </a:xfrm>
          <a:prstGeom prst="roundRect">
            <a:avLst>
              <a:gd name="adj" fmla="val 28571"/>
            </a:avLst>
          </a:prstGeom>
          <a:solidFill>
            <a:srgbClr val="FFFFFF"/>
          </a:solidFill>
          <a:ln w="15875">
            <a:solidFill>
              <a:srgbClr val="0369A1"/>
            </a:solidFill>
            <a:prstDash val="solid"/>
          </a:ln>
        </p:spPr>
      </p:sp>
      <p:sp>
        <p:nvSpPr>
          <p:cNvPr id="31" name="Text 29"/>
          <p:cNvSpPr txBox="1"/>
          <p:nvPr/>
        </p:nvSpPr>
        <p:spPr>
          <a:xfrm>
            <a:off x="548640" y="6211316"/>
            <a:ext cx="2160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32" name="Shape 30"/>
          <p:cNvSpPr/>
          <p:nvPr/>
        </p:nvSpPr>
        <p:spPr>
          <a:xfrm>
            <a:off x="2891536" y="6211316"/>
            <a:ext cx="688848" cy="384048"/>
          </a:xfrm>
          <a:prstGeom prst="roundRect">
            <a:avLst>
              <a:gd name="adj" fmla="val 28571"/>
            </a:avLst>
          </a:prstGeom>
          <a:solidFill>
            <a:srgbClr val="FFFFFF"/>
          </a:solidFill>
          <a:ln w="15875">
            <a:solidFill>
              <a:srgbClr val="0369A1"/>
            </a:solidFill>
            <a:prstDash val="solid"/>
          </a:ln>
        </p:spPr>
      </p:sp>
      <p:sp>
        <p:nvSpPr>
          <p:cNvPr id="33" name="Text 31"/>
          <p:cNvSpPr txBox="1"/>
          <p:nvPr/>
        </p:nvSpPr>
        <p:spPr>
          <a:xfrm>
            <a:off x="2982976" y="621131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a:t>
            </a:r>
            <a:endParaRPr lang="en-US" sz="1600" dirty="0"/>
          </a:p>
        </p:txBody>
      </p:sp>
      <p:sp>
        <p:nvSpPr>
          <p:cNvPr id="34" name="Shape 32"/>
          <p:cNvSpPr/>
          <p:nvPr/>
        </p:nvSpPr>
        <p:spPr>
          <a:xfrm>
            <a:off x="457200" y="6668516"/>
            <a:ext cx="1381760" cy="384048"/>
          </a:xfrm>
          <a:prstGeom prst="roundRect">
            <a:avLst>
              <a:gd name="adj" fmla="val 28571"/>
            </a:avLst>
          </a:prstGeom>
          <a:solidFill>
            <a:srgbClr val="FFFFFF"/>
          </a:solidFill>
          <a:ln w="15875">
            <a:solidFill>
              <a:srgbClr val="0369A1"/>
            </a:solidFill>
            <a:prstDash val="solid"/>
          </a:ln>
        </p:spPr>
      </p:sp>
      <p:sp>
        <p:nvSpPr>
          <p:cNvPr id="35" name="Text 33"/>
          <p:cNvSpPr txBox="1"/>
          <p:nvPr/>
        </p:nvSpPr>
        <p:spPr>
          <a:xfrm>
            <a:off x="548640" y="6668516"/>
            <a:ext cx="119888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Amazon S3</a:t>
            </a:r>
            <a:endParaRPr lang="en-US" sz="1600" dirty="0"/>
          </a:p>
        </p:txBody>
      </p:sp>
      <p:sp>
        <p:nvSpPr>
          <p:cNvPr id="36" name="Shape 34"/>
          <p:cNvSpPr/>
          <p:nvPr/>
        </p:nvSpPr>
        <p:spPr>
          <a:xfrm>
            <a:off x="320040" y="7290308"/>
            <a:ext cx="4846320" cy="1481328"/>
          </a:xfrm>
          <a:prstGeom prst="roundRect">
            <a:avLst>
              <a:gd name="adj" fmla="val 6173"/>
            </a:avLst>
          </a:prstGeom>
          <a:solidFill>
            <a:srgbClr val="FCE4EE"/>
          </a:solidFill>
          <a:ln/>
        </p:spPr>
      </p:sp>
      <p:sp>
        <p:nvSpPr>
          <p:cNvPr id="37" name="Shape 35"/>
          <p:cNvSpPr/>
          <p:nvPr/>
        </p:nvSpPr>
        <p:spPr>
          <a:xfrm>
            <a:off x="320040" y="7290308"/>
            <a:ext cx="4846320" cy="402336"/>
          </a:xfrm>
          <a:prstGeom prst="roundRect">
            <a:avLst>
              <a:gd name="adj" fmla="val 22727"/>
            </a:avLst>
          </a:prstGeom>
          <a:solidFill>
            <a:srgbClr val="A21C5B"/>
          </a:solidFill>
          <a:ln/>
        </p:spPr>
      </p:sp>
      <p:sp>
        <p:nvSpPr>
          <p:cNvPr id="38" name="Text 36"/>
          <p:cNvSpPr txBox="1"/>
          <p:nvPr/>
        </p:nvSpPr>
        <p:spPr>
          <a:xfrm>
            <a:off x="411480" y="7290308"/>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活動・資格　技術の層ではなく人の活動</a:t>
            </a:r>
            <a:endParaRPr lang="en-US" sz="1600" dirty="0"/>
          </a:p>
        </p:txBody>
      </p:sp>
      <p:sp>
        <p:nvSpPr>
          <p:cNvPr id="39" name="Shape 37"/>
          <p:cNvSpPr/>
          <p:nvPr/>
        </p:nvSpPr>
        <p:spPr>
          <a:xfrm>
            <a:off x="457200" y="7784084"/>
            <a:ext cx="1530096" cy="384048"/>
          </a:xfrm>
          <a:prstGeom prst="roundRect">
            <a:avLst>
              <a:gd name="adj" fmla="val 28571"/>
            </a:avLst>
          </a:prstGeom>
          <a:solidFill>
            <a:srgbClr val="FFFFFF"/>
          </a:solidFill>
          <a:ln w="15875">
            <a:solidFill>
              <a:srgbClr val="A21C5B"/>
            </a:solidFill>
            <a:prstDash val="solid"/>
          </a:ln>
        </p:spPr>
      </p:sp>
      <p:sp>
        <p:nvSpPr>
          <p:cNvPr id="40" name="Text 38"/>
          <p:cNvSpPr txBox="1"/>
          <p:nvPr/>
        </p:nvSpPr>
        <p:spPr>
          <a:xfrm>
            <a:off x="548640" y="7784084"/>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リモート就業</a:t>
            </a:r>
            <a:endParaRPr lang="en-US" sz="1600" dirty="0"/>
          </a:p>
        </p:txBody>
      </p:sp>
      <p:sp>
        <p:nvSpPr>
          <p:cNvPr id="41" name="Shape 39"/>
          <p:cNvSpPr/>
          <p:nvPr/>
        </p:nvSpPr>
        <p:spPr>
          <a:xfrm>
            <a:off x="2078736" y="7784084"/>
            <a:ext cx="2139696" cy="384048"/>
          </a:xfrm>
          <a:prstGeom prst="roundRect">
            <a:avLst>
              <a:gd name="adj" fmla="val 28571"/>
            </a:avLst>
          </a:prstGeom>
          <a:solidFill>
            <a:srgbClr val="FFFFFF"/>
          </a:solidFill>
          <a:ln w="15875">
            <a:solidFill>
              <a:srgbClr val="A21C5B"/>
            </a:solidFill>
            <a:prstDash val="solid"/>
          </a:ln>
        </p:spPr>
      </p:sp>
      <p:sp>
        <p:nvSpPr>
          <p:cNvPr id="42" name="Text 40"/>
          <p:cNvSpPr txBox="1"/>
          <p:nvPr/>
        </p:nvSpPr>
        <p:spPr>
          <a:xfrm>
            <a:off x="2170176" y="7784084"/>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プレゼンテーション</a:t>
            </a:r>
            <a:endParaRPr lang="en-US" sz="1600" dirty="0"/>
          </a:p>
        </p:txBody>
      </p:sp>
      <p:sp>
        <p:nvSpPr>
          <p:cNvPr id="43" name="Shape 41"/>
          <p:cNvSpPr/>
          <p:nvPr/>
        </p:nvSpPr>
        <p:spPr>
          <a:xfrm>
            <a:off x="4309872" y="7784084"/>
            <a:ext cx="717296" cy="384048"/>
          </a:xfrm>
          <a:prstGeom prst="roundRect">
            <a:avLst>
              <a:gd name="adj" fmla="val 28571"/>
            </a:avLst>
          </a:prstGeom>
          <a:solidFill>
            <a:srgbClr val="FFFFFF"/>
          </a:solidFill>
          <a:ln w="15875">
            <a:solidFill>
              <a:srgbClr val="A21C5B"/>
            </a:solidFill>
            <a:prstDash val="solid"/>
          </a:ln>
        </p:spPr>
      </p:sp>
      <p:sp>
        <p:nvSpPr>
          <p:cNvPr id="44" name="Text 42"/>
          <p:cNvSpPr txBox="1"/>
          <p:nvPr/>
        </p:nvSpPr>
        <p:spPr>
          <a:xfrm>
            <a:off x="4401312" y="7784084"/>
            <a:ext cx="534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学会</a:t>
            </a:r>
            <a:endParaRPr lang="en-US" sz="1600" dirty="0"/>
          </a:p>
        </p:txBody>
      </p:sp>
      <p:sp>
        <p:nvSpPr>
          <p:cNvPr id="45" name="Shape 43"/>
          <p:cNvSpPr/>
          <p:nvPr/>
        </p:nvSpPr>
        <p:spPr>
          <a:xfrm>
            <a:off x="457200" y="8241284"/>
            <a:ext cx="1578864" cy="384048"/>
          </a:xfrm>
          <a:prstGeom prst="roundRect">
            <a:avLst>
              <a:gd name="adj" fmla="val 28571"/>
            </a:avLst>
          </a:prstGeom>
          <a:solidFill>
            <a:srgbClr val="FFFFFF"/>
          </a:solidFill>
          <a:ln w="15875">
            <a:solidFill>
              <a:srgbClr val="A21C5B"/>
            </a:solidFill>
            <a:prstDash val="solid"/>
          </a:ln>
        </p:spPr>
      </p:sp>
      <p:sp>
        <p:nvSpPr>
          <p:cNvPr id="46" name="Text 44"/>
          <p:cNvSpPr txBox="1"/>
          <p:nvPr/>
        </p:nvSpPr>
        <p:spPr>
          <a:xfrm>
            <a:off x="548640" y="8241284"/>
            <a:ext cx="1395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ITパスポート</a:t>
            </a:r>
            <a:endParaRPr lang="en-US" sz="1600" dirty="0"/>
          </a:p>
        </p:txBody>
      </p:sp>
      <p:sp>
        <p:nvSpPr>
          <p:cNvPr id="47" name="Shape 45"/>
          <p:cNvSpPr/>
          <p:nvPr/>
        </p:nvSpPr>
        <p:spPr>
          <a:xfrm>
            <a:off x="2127504" y="8241284"/>
            <a:ext cx="1123696" cy="384048"/>
          </a:xfrm>
          <a:prstGeom prst="roundRect">
            <a:avLst>
              <a:gd name="adj" fmla="val 28571"/>
            </a:avLst>
          </a:prstGeom>
          <a:solidFill>
            <a:srgbClr val="FFFFFF"/>
          </a:solidFill>
          <a:ln w="15875">
            <a:solidFill>
              <a:srgbClr val="A21C5B"/>
            </a:solidFill>
            <a:prstDash val="solid"/>
          </a:ln>
        </p:spPr>
      </p:sp>
      <p:sp>
        <p:nvSpPr>
          <p:cNvPr id="48" name="Text 46"/>
          <p:cNvSpPr txBox="1"/>
          <p:nvPr/>
        </p:nvSpPr>
        <p:spPr>
          <a:xfrm>
            <a:off x="2218944" y="8241284"/>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基本情報</a:t>
            </a:r>
            <a:endParaRPr lang="en-US" sz="1600" dirty="0"/>
          </a:p>
        </p:txBody>
      </p:sp>
      <p:sp>
        <p:nvSpPr>
          <p:cNvPr id="49" name="Shape 47"/>
          <p:cNvSpPr/>
          <p:nvPr/>
        </p:nvSpPr>
        <p:spPr>
          <a:xfrm>
            <a:off x="3342640" y="8241284"/>
            <a:ext cx="688848" cy="384048"/>
          </a:xfrm>
          <a:prstGeom prst="roundRect">
            <a:avLst>
              <a:gd name="adj" fmla="val 28571"/>
            </a:avLst>
          </a:prstGeom>
          <a:solidFill>
            <a:srgbClr val="FFFFFF"/>
          </a:solidFill>
          <a:ln w="15875">
            <a:solidFill>
              <a:srgbClr val="A21C5B"/>
            </a:solidFill>
            <a:prstDash val="solid"/>
          </a:ln>
        </p:spPr>
      </p:sp>
      <p:sp>
        <p:nvSpPr>
          <p:cNvPr id="50" name="Text 48"/>
          <p:cNvSpPr txBox="1"/>
          <p:nvPr/>
        </p:nvSpPr>
        <p:spPr>
          <a:xfrm>
            <a:off x="3434080" y="824128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MOS</a:t>
            </a:r>
            <a:endParaRPr lang="en-US" sz="1600" dirty="0"/>
          </a:p>
        </p:txBody>
      </p:sp>
      <p:sp>
        <p:nvSpPr>
          <p:cNvPr id="51" name="Text 4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ITの「場所」の地図</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手元のスマホから、通信の道すじ、会社のサーバー室やクラウドまで。用語は、この地図のどこかの話です。</a:t>
            </a:r>
            <a:endParaRPr lang="en-US" sz="1800" dirty="0"/>
          </a:p>
        </p:txBody>
      </p:sp>
      <p:sp>
        <p:nvSpPr>
          <p:cNvPr id="6" name="Shape 4"/>
          <p:cNvSpPr/>
          <p:nvPr/>
        </p:nvSpPr>
        <p:spPr>
          <a:xfrm>
            <a:off x="320040" y="2817622"/>
            <a:ext cx="4846320" cy="1508760"/>
          </a:xfrm>
          <a:prstGeom prst="roundRect">
            <a:avLst>
              <a:gd name="adj" fmla="val 8485"/>
            </a:avLst>
          </a:prstGeom>
          <a:solidFill>
            <a:srgbClr val="F7F9FB"/>
          </a:solidFill>
          <a:ln w="19050">
            <a:solidFill>
              <a:srgbClr val="475569"/>
            </a:solidFill>
            <a:prstDash val="dash"/>
          </a:ln>
        </p:spPr>
      </p:sp>
      <p:sp>
        <p:nvSpPr>
          <p:cNvPr id="7" name="Text 5"/>
          <p:cNvSpPr txBox="1"/>
          <p:nvPr/>
        </p:nvSpPr>
        <p:spPr>
          <a:xfrm>
            <a:off x="457200" y="2881630"/>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手元（自宅・学校）</a:t>
            </a:r>
            <a:endParaRPr lang="en-US" sz="1600" dirty="0"/>
          </a:p>
        </p:txBody>
      </p:sp>
      <p:sp>
        <p:nvSpPr>
          <p:cNvPr id="8" name="Shape 6"/>
          <p:cNvSpPr/>
          <p:nvPr/>
        </p:nvSpPr>
        <p:spPr>
          <a:xfrm>
            <a:off x="320040" y="6658102"/>
            <a:ext cx="2377440" cy="3520440"/>
          </a:xfrm>
          <a:prstGeom prst="roundRect">
            <a:avLst>
              <a:gd name="adj" fmla="val 5385"/>
            </a:avLst>
          </a:prstGeom>
          <a:solidFill>
            <a:srgbClr val="F7F9FB"/>
          </a:solidFill>
          <a:ln w="19050">
            <a:solidFill>
              <a:srgbClr val="5B46B8"/>
            </a:solidFill>
            <a:prstDash val="dash"/>
          </a:ln>
        </p:spPr>
      </p:sp>
      <p:sp>
        <p:nvSpPr>
          <p:cNvPr id="9" name="Text 7"/>
          <p:cNvSpPr txBox="1"/>
          <p:nvPr/>
        </p:nvSpPr>
        <p:spPr>
          <a:xfrm>
            <a:off x="457200" y="6722110"/>
            <a:ext cx="21031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5B46B8"/>
                </a:solidFill>
                <a:latin typeface="Yu Gothic" pitchFamily="34" charset="0"/>
                <a:ea typeface="Yu Gothic" pitchFamily="34" charset="-122"/>
                <a:cs typeface="Yu Gothic" pitchFamily="34" charset="-120"/>
              </a:rPr>
              <a:t>サーバー室</a:t>
            </a:r>
            <a:endParaRPr lang="en-US" sz="1600" dirty="0"/>
          </a:p>
        </p:txBody>
      </p:sp>
      <p:sp>
        <p:nvSpPr>
          <p:cNvPr id="10" name="Shape 8"/>
          <p:cNvSpPr/>
          <p:nvPr/>
        </p:nvSpPr>
        <p:spPr>
          <a:xfrm>
            <a:off x="2788920" y="6658102"/>
            <a:ext cx="2377440" cy="3520440"/>
          </a:xfrm>
          <a:prstGeom prst="roundRect">
            <a:avLst>
              <a:gd name="adj" fmla="val 5385"/>
            </a:avLst>
          </a:prstGeom>
          <a:solidFill>
            <a:srgbClr val="F7F9FB"/>
          </a:solidFill>
          <a:ln w="19050">
            <a:solidFill>
              <a:srgbClr val="0369A1"/>
            </a:solidFill>
            <a:prstDash val="dash"/>
          </a:ln>
        </p:spPr>
      </p:sp>
      <p:sp>
        <p:nvSpPr>
          <p:cNvPr id="11" name="Text 9"/>
          <p:cNvSpPr txBox="1"/>
          <p:nvPr/>
        </p:nvSpPr>
        <p:spPr>
          <a:xfrm>
            <a:off x="2926080" y="6722110"/>
            <a:ext cx="21031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0369A1"/>
                </a:solidFill>
                <a:latin typeface="Yu Gothic" pitchFamily="34" charset="0"/>
                <a:ea typeface="Yu Gothic" pitchFamily="34" charset="-122"/>
                <a:cs typeface="Yu Gothic" pitchFamily="34" charset="-120"/>
              </a:rPr>
              <a:t>クラウド</a:t>
            </a:r>
            <a:endParaRPr lang="en-US" sz="1600" dirty="0"/>
          </a:p>
        </p:txBody>
      </p:sp>
      <p:sp>
        <p:nvSpPr>
          <p:cNvPr id="12" name="Shape 10"/>
          <p:cNvSpPr/>
          <p:nvPr/>
        </p:nvSpPr>
        <p:spPr>
          <a:xfrm>
            <a:off x="1828800" y="3732022"/>
            <a:ext cx="228600" cy="0"/>
          </a:xfrm>
          <a:prstGeom prst="line">
            <a:avLst/>
          </a:prstGeom>
          <a:noFill/>
          <a:ln w="31750">
            <a:solidFill>
              <a:srgbClr val="1B2A3A"/>
            </a:solidFill>
            <a:prstDash val="solid"/>
            <a:headEnd type="triangle"/>
            <a:tailEnd type="triangle"/>
          </a:ln>
        </p:spPr>
      </p:sp>
      <p:sp>
        <p:nvSpPr>
          <p:cNvPr id="13" name="Shape 11"/>
          <p:cNvSpPr/>
          <p:nvPr/>
        </p:nvSpPr>
        <p:spPr>
          <a:xfrm>
            <a:off x="3474720" y="3732022"/>
            <a:ext cx="228600" cy="0"/>
          </a:xfrm>
          <a:prstGeom prst="line">
            <a:avLst/>
          </a:prstGeom>
          <a:noFill/>
          <a:ln w="31750">
            <a:solidFill>
              <a:srgbClr val="1B2A3A"/>
            </a:solidFill>
            <a:prstDash val="solid"/>
            <a:headEnd type="triangle"/>
            <a:tailEnd type="triangle"/>
          </a:ln>
        </p:spPr>
      </p:sp>
      <p:sp>
        <p:nvSpPr>
          <p:cNvPr id="14" name="Shape 12"/>
          <p:cNvSpPr/>
          <p:nvPr/>
        </p:nvSpPr>
        <p:spPr>
          <a:xfrm>
            <a:off x="4366260" y="4189222"/>
            <a:ext cx="0" cy="320040"/>
          </a:xfrm>
          <a:prstGeom prst="line">
            <a:avLst/>
          </a:prstGeom>
          <a:noFill/>
          <a:ln w="31750">
            <a:solidFill>
              <a:srgbClr val="1B2A3A"/>
            </a:solidFill>
            <a:prstDash val="solid"/>
            <a:headEnd type="triangle"/>
            <a:tailEnd type="triangle"/>
          </a:ln>
        </p:spPr>
      </p:sp>
      <p:sp>
        <p:nvSpPr>
          <p:cNvPr id="15" name="Shape 13"/>
          <p:cNvSpPr/>
          <p:nvPr/>
        </p:nvSpPr>
        <p:spPr>
          <a:xfrm>
            <a:off x="4000500" y="5286502"/>
            <a:ext cx="0" cy="274320"/>
          </a:xfrm>
          <a:prstGeom prst="line">
            <a:avLst/>
          </a:prstGeom>
          <a:noFill/>
          <a:ln w="31750">
            <a:solidFill>
              <a:srgbClr val="1B2A3A"/>
            </a:solidFill>
            <a:prstDash val="solid"/>
            <a:headEnd type="triangle"/>
            <a:tailEnd type="triangle"/>
          </a:ln>
        </p:spPr>
      </p:sp>
      <p:sp>
        <p:nvSpPr>
          <p:cNvPr id="16" name="Shape 14"/>
          <p:cNvSpPr/>
          <p:nvPr/>
        </p:nvSpPr>
        <p:spPr>
          <a:xfrm flipH="1">
            <a:off x="1508760" y="6338062"/>
            <a:ext cx="2331720" cy="777240"/>
          </a:xfrm>
          <a:prstGeom prst="line">
            <a:avLst/>
          </a:prstGeom>
          <a:noFill/>
          <a:ln w="31750">
            <a:solidFill>
              <a:srgbClr val="1B2A3A"/>
            </a:solidFill>
            <a:prstDash val="solid"/>
            <a:headEnd type="triangle"/>
            <a:tailEnd type="triangle"/>
          </a:ln>
        </p:spPr>
      </p:sp>
      <p:sp>
        <p:nvSpPr>
          <p:cNvPr id="17" name="Shape 15"/>
          <p:cNvSpPr/>
          <p:nvPr/>
        </p:nvSpPr>
        <p:spPr>
          <a:xfrm>
            <a:off x="3954780" y="6338062"/>
            <a:ext cx="0" cy="777240"/>
          </a:xfrm>
          <a:prstGeom prst="line">
            <a:avLst/>
          </a:prstGeom>
          <a:noFill/>
          <a:ln w="31750">
            <a:solidFill>
              <a:srgbClr val="1B2A3A"/>
            </a:solidFill>
            <a:prstDash val="solid"/>
            <a:headEnd type="triangle"/>
            <a:tailEnd type="triangle"/>
          </a:ln>
        </p:spPr>
      </p:sp>
      <p:sp>
        <p:nvSpPr>
          <p:cNvPr id="18" name="Shape 16"/>
          <p:cNvSpPr/>
          <p:nvPr/>
        </p:nvSpPr>
        <p:spPr>
          <a:xfrm>
            <a:off x="1508760" y="7682230"/>
            <a:ext cx="0" cy="210312"/>
          </a:xfrm>
          <a:prstGeom prst="line">
            <a:avLst/>
          </a:prstGeom>
          <a:noFill/>
          <a:ln w="31750">
            <a:solidFill>
              <a:srgbClr val="1B2A3A"/>
            </a:solidFill>
            <a:prstDash val="solid"/>
            <a:tailEnd type="triangle"/>
          </a:ln>
        </p:spPr>
      </p:sp>
      <p:sp>
        <p:nvSpPr>
          <p:cNvPr id="19" name="Shape 17"/>
          <p:cNvSpPr/>
          <p:nvPr/>
        </p:nvSpPr>
        <p:spPr>
          <a:xfrm>
            <a:off x="1508760" y="8459470"/>
            <a:ext cx="0" cy="210312"/>
          </a:xfrm>
          <a:prstGeom prst="line">
            <a:avLst/>
          </a:prstGeom>
          <a:noFill/>
          <a:ln w="31750">
            <a:solidFill>
              <a:srgbClr val="1B2A3A"/>
            </a:solidFill>
            <a:prstDash val="solid"/>
            <a:tailEnd type="triangle"/>
          </a:ln>
        </p:spPr>
      </p:sp>
      <p:sp>
        <p:nvSpPr>
          <p:cNvPr id="20" name="Shape 18"/>
          <p:cNvSpPr/>
          <p:nvPr/>
        </p:nvSpPr>
        <p:spPr>
          <a:xfrm>
            <a:off x="1508760" y="9236710"/>
            <a:ext cx="0" cy="210312"/>
          </a:xfrm>
          <a:prstGeom prst="line">
            <a:avLst/>
          </a:prstGeom>
          <a:noFill/>
          <a:ln w="31750">
            <a:solidFill>
              <a:srgbClr val="1B2A3A"/>
            </a:solidFill>
            <a:prstDash val="solid"/>
            <a:tailEnd type="triangle"/>
          </a:ln>
        </p:spPr>
      </p:sp>
      <p:sp>
        <p:nvSpPr>
          <p:cNvPr id="21" name="Shape 19"/>
          <p:cNvSpPr/>
          <p:nvPr/>
        </p:nvSpPr>
        <p:spPr>
          <a:xfrm>
            <a:off x="411480" y="3274822"/>
            <a:ext cx="1417320" cy="914400"/>
          </a:xfrm>
          <a:prstGeom prst="roundRect">
            <a:avLst>
              <a:gd name="adj" fmla="val 12000"/>
            </a:avLst>
          </a:prstGeom>
          <a:solidFill>
            <a:srgbClr val="E2E8F0"/>
          </a:solidFill>
          <a:ln w="25400">
            <a:solidFill>
              <a:srgbClr val="475569"/>
            </a:solidFill>
            <a:prstDash val="solid"/>
          </a:ln>
        </p:spPr>
      </p:sp>
      <p:sp>
        <p:nvSpPr>
          <p:cNvPr id="22" name="Text 20"/>
          <p:cNvSpPr txBox="1"/>
          <p:nvPr/>
        </p:nvSpPr>
        <p:spPr>
          <a:xfrm>
            <a:off x="502920" y="3274822"/>
            <a:ext cx="1234440" cy="91440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スマホ・PC</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ブラウザー・アプリ</a:t>
            </a:r>
            <a:endParaRPr lang="en-US" sz="1500" dirty="0"/>
          </a:p>
        </p:txBody>
      </p:sp>
      <p:sp>
        <p:nvSpPr>
          <p:cNvPr id="23" name="Shape 21"/>
          <p:cNvSpPr/>
          <p:nvPr/>
        </p:nvSpPr>
        <p:spPr>
          <a:xfrm>
            <a:off x="2057400" y="3274822"/>
            <a:ext cx="1417320" cy="914400"/>
          </a:xfrm>
          <a:prstGeom prst="roundRect">
            <a:avLst>
              <a:gd name="adj" fmla="val 12000"/>
            </a:avLst>
          </a:prstGeom>
          <a:solidFill>
            <a:srgbClr val="FDEBD0"/>
          </a:solidFill>
          <a:ln w="25400">
            <a:solidFill>
              <a:srgbClr val="B45309"/>
            </a:solidFill>
            <a:prstDash val="solid"/>
          </a:ln>
        </p:spPr>
      </p:sp>
      <p:sp>
        <p:nvSpPr>
          <p:cNvPr id="24" name="Text 22"/>
          <p:cNvSpPr txBox="1"/>
          <p:nvPr/>
        </p:nvSpPr>
        <p:spPr>
          <a:xfrm>
            <a:off x="2148840" y="3274822"/>
            <a:ext cx="1234440" cy="91440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家の中の通信</a:t>
            </a:r>
            <a:endParaRPr lang="en-US" sz="1500" dirty="0"/>
          </a:p>
        </p:txBody>
      </p:sp>
      <p:sp>
        <p:nvSpPr>
          <p:cNvPr id="25" name="Shape 23"/>
          <p:cNvSpPr/>
          <p:nvPr/>
        </p:nvSpPr>
        <p:spPr>
          <a:xfrm>
            <a:off x="3703320" y="3274822"/>
            <a:ext cx="1417320" cy="914400"/>
          </a:xfrm>
          <a:prstGeom prst="roundRect">
            <a:avLst>
              <a:gd name="adj" fmla="val 12000"/>
            </a:avLst>
          </a:prstGeom>
          <a:solidFill>
            <a:srgbClr val="FDEBD0"/>
          </a:solidFill>
          <a:ln w="25400">
            <a:solidFill>
              <a:srgbClr val="B45309"/>
            </a:solidFill>
            <a:prstDash val="solid"/>
          </a:ln>
        </p:spPr>
      </p:sp>
      <p:sp>
        <p:nvSpPr>
          <p:cNvPr id="26" name="Text 24"/>
          <p:cNvSpPr txBox="1"/>
          <p:nvPr/>
        </p:nvSpPr>
        <p:spPr>
          <a:xfrm>
            <a:off x="3794760" y="3274822"/>
            <a:ext cx="1234440" cy="91440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外とつなぐ機械</a:t>
            </a:r>
            <a:endParaRPr lang="en-US" sz="1500" dirty="0"/>
          </a:p>
        </p:txBody>
      </p:sp>
      <p:sp>
        <p:nvSpPr>
          <p:cNvPr id="27" name="Shape 25"/>
          <p:cNvSpPr/>
          <p:nvPr/>
        </p:nvSpPr>
        <p:spPr>
          <a:xfrm>
            <a:off x="3017520" y="4509262"/>
            <a:ext cx="2011680" cy="777240"/>
          </a:xfrm>
          <a:prstGeom prst="roundRect">
            <a:avLst>
              <a:gd name="adj" fmla="val 14118"/>
            </a:avLst>
          </a:prstGeom>
          <a:solidFill>
            <a:srgbClr val="FDEBD0"/>
          </a:solidFill>
          <a:ln w="25400">
            <a:solidFill>
              <a:srgbClr val="B45309"/>
            </a:solidFill>
            <a:prstDash val="solid"/>
          </a:ln>
        </p:spPr>
      </p:sp>
      <p:sp>
        <p:nvSpPr>
          <p:cNvPr id="28" name="Text 26"/>
          <p:cNvSpPr txBox="1"/>
          <p:nvPr/>
        </p:nvSpPr>
        <p:spPr>
          <a:xfrm>
            <a:off x="3108960" y="4509262"/>
            <a:ext cx="18288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固定回線</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光・ケーブルTV</a:t>
            </a:r>
            <a:endParaRPr lang="en-US" sz="1800" dirty="0"/>
          </a:p>
        </p:txBody>
      </p:sp>
      <p:sp>
        <p:nvSpPr>
          <p:cNvPr id="29" name="Shape 27"/>
          <p:cNvSpPr/>
          <p:nvPr/>
        </p:nvSpPr>
        <p:spPr>
          <a:xfrm>
            <a:off x="2697480" y="5560822"/>
            <a:ext cx="2286000" cy="777240"/>
          </a:xfrm>
          <a:prstGeom prst="roundRect">
            <a:avLst>
              <a:gd name="adj" fmla="val 14118"/>
            </a:avLst>
          </a:prstGeom>
          <a:solidFill>
            <a:srgbClr val="FDEBD0"/>
          </a:solidFill>
          <a:ln w="25400">
            <a:solidFill>
              <a:srgbClr val="B45309"/>
            </a:solidFill>
            <a:prstDash val="solid"/>
          </a:ln>
        </p:spPr>
      </p:sp>
      <p:sp>
        <p:nvSpPr>
          <p:cNvPr id="30" name="Text 28"/>
          <p:cNvSpPr txBox="1"/>
          <p:nvPr/>
        </p:nvSpPr>
        <p:spPr>
          <a:xfrm>
            <a:off x="2788920" y="5560822"/>
            <a:ext cx="210312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インターネット</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世界の通信網</a:t>
            </a:r>
            <a:endParaRPr lang="en-US" sz="1800" dirty="0"/>
          </a:p>
        </p:txBody>
      </p:sp>
      <p:sp>
        <p:nvSpPr>
          <p:cNvPr id="31" name="Shape 29"/>
          <p:cNvSpPr/>
          <p:nvPr/>
        </p:nvSpPr>
        <p:spPr>
          <a:xfrm>
            <a:off x="457200" y="7115302"/>
            <a:ext cx="2103120" cy="566928"/>
          </a:xfrm>
          <a:prstGeom prst="roundRect">
            <a:avLst>
              <a:gd name="adj" fmla="val 19355"/>
            </a:avLst>
          </a:prstGeom>
          <a:solidFill>
            <a:srgbClr val="E6E1F7"/>
          </a:solidFill>
          <a:ln w="25400">
            <a:solidFill>
              <a:srgbClr val="5B46B8"/>
            </a:solidFill>
            <a:prstDash val="solid"/>
          </a:ln>
        </p:spPr>
      </p:sp>
      <p:sp>
        <p:nvSpPr>
          <p:cNvPr id="32" name="Text 30"/>
          <p:cNvSpPr txBox="1"/>
          <p:nvPr/>
        </p:nvSpPr>
        <p:spPr>
          <a:xfrm>
            <a:off x="548640" y="7115302"/>
            <a:ext cx="1920240" cy="56692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Webサーバー</a:t>
            </a:r>
            <a:endParaRPr lang="en-US" sz="1600" dirty="0"/>
          </a:p>
        </p:txBody>
      </p:sp>
      <p:sp>
        <p:nvSpPr>
          <p:cNvPr id="33" name="Shape 31"/>
          <p:cNvSpPr/>
          <p:nvPr/>
        </p:nvSpPr>
        <p:spPr>
          <a:xfrm>
            <a:off x="457200" y="7892542"/>
            <a:ext cx="2103120" cy="566928"/>
          </a:xfrm>
          <a:prstGeom prst="roundRect">
            <a:avLst>
              <a:gd name="adj" fmla="val 19355"/>
            </a:avLst>
          </a:prstGeom>
          <a:solidFill>
            <a:srgbClr val="E6E1F7"/>
          </a:solidFill>
          <a:ln w="25400">
            <a:solidFill>
              <a:srgbClr val="5B46B8"/>
            </a:solidFill>
            <a:prstDash val="solid"/>
          </a:ln>
        </p:spPr>
      </p:sp>
      <p:sp>
        <p:nvSpPr>
          <p:cNvPr id="34" name="Text 32"/>
          <p:cNvSpPr txBox="1"/>
          <p:nvPr/>
        </p:nvSpPr>
        <p:spPr>
          <a:xfrm>
            <a:off x="548640" y="7892542"/>
            <a:ext cx="1920240" cy="56692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アプリサーバー</a:t>
            </a:r>
            <a:endParaRPr lang="en-US" sz="1600" dirty="0"/>
          </a:p>
        </p:txBody>
      </p:sp>
      <p:sp>
        <p:nvSpPr>
          <p:cNvPr id="35" name="Shape 33"/>
          <p:cNvSpPr/>
          <p:nvPr/>
        </p:nvSpPr>
        <p:spPr>
          <a:xfrm>
            <a:off x="457200" y="8669782"/>
            <a:ext cx="2103120" cy="566928"/>
          </a:xfrm>
          <a:prstGeom prst="roundRect">
            <a:avLst>
              <a:gd name="adj" fmla="val 19355"/>
            </a:avLst>
          </a:prstGeom>
          <a:solidFill>
            <a:srgbClr val="E6E1F7"/>
          </a:solidFill>
          <a:ln w="25400">
            <a:solidFill>
              <a:srgbClr val="5B46B8"/>
            </a:solidFill>
            <a:prstDash val="solid"/>
          </a:ln>
        </p:spPr>
      </p:sp>
      <p:sp>
        <p:nvSpPr>
          <p:cNvPr id="36" name="Text 34"/>
          <p:cNvSpPr txBox="1"/>
          <p:nvPr/>
        </p:nvSpPr>
        <p:spPr>
          <a:xfrm>
            <a:off x="548640" y="8669782"/>
            <a:ext cx="1920240" cy="56692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DBサーバー</a:t>
            </a:r>
            <a:endParaRPr lang="en-US" sz="1600" dirty="0"/>
          </a:p>
        </p:txBody>
      </p:sp>
      <p:sp>
        <p:nvSpPr>
          <p:cNvPr id="37" name="Shape 35"/>
          <p:cNvSpPr/>
          <p:nvPr/>
        </p:nvSpPr>
        <p:spPr>
          <a:xfrm>
            <a:off x="457200" y="9447022"/>
            <a:ext cx="2103120" cy="566928"/>
          </a:xfrm>
          <a:prstGeom prst="roundRect">
            <a:avLst>
              <a:gd name="adj" fmla="val 19355"/>
            </a:avLst>
          </a:prstGeom>
          <a:solidFill>
            <a:srgbClr val="E2E8F0"/>
          </a:solidFill>
          <a:ln w="25400">
            <a:solidFill>
              <a:srgbClr val="475569"/>
            </a:solidFill>
            <a:prstDash val="solid"/>
          </a:ln>
        </p:spPr>
      </p:sp>
      <p:sp>
        <p:nvSpPr>
          <p:cNvPr id="38" name="Text 36"/>
          <p:cNvSpPr txBox="1"/>
          <p:nvPr/>
        </p:nvSpPr>
        <p:spPr>
          <a:xfrm>
            <a:off x="548640" y="9447022"/>
            <a:ext cx="1920240" cy="56692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a:t>
            </a:r>
            <a:endParaRPr lang="en-US" sz="1600" dirty="0"/>
          </a:p>
        </p:txBody>
      </p:sp>
      <p:sp>
        <p:nvSpPr>
          <p:cNvPr id="39" name="Shape 37"/>
          <p:cNvSpPr/>
          <p:nvPr/>
        </p:nvSpPr>
        <p:spPr>
          <a:xfrm>
            <a:off x="2926080" y="7115302"/>
            <a:ext cx="2103120" cy="868680"/>
          </a:xfrm>
          <a:prstGeom prst="roundRect">
            <a:avLst>
              <a:gd name="adj" fmla="val 12632"/>
            </a:avLst>
          </a:prstGeom>
          <a:solidFill>
            <a:srgbClr val="DFF1FB"/>
          </a:solidFill>
          <a:ln w="25400">
            <a:solidFill>
              <a:srgbClr val="0369A1"/>
            </a:solidFill>
            <a:prstDash val="solid"/>
          </a:ln>
        </p:spPr>
      </p:sp>
      <p:sp>
        <p:nvSpPr>
          <p:cNvPr id="40" name="Text 38"/>
          <p:cNvSpPr txBox="1"/>
          <p:nvPr/>
        </p:nvSpPr>
        <p:spPr>
          <a:xfrm>
            <a:off x="3017520" y="7115302"/>
            <a:ext cx="1920240" cy="86868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AWS・Azure・Google Cloud</a:t>
            </a:r>
            <a:endParaRPr lang="en-US" sz="15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サービスの総称</a:t>
            </a:r>
            <a:endParaRPr lang="en-US" sz="1500" dirty="0"/>
          </a:p>
        </p:txBody>
      </p:sp>
      <p:sp>
        <p:nvSpPr>
          <p:cNvPr id="41" name="Shape 39"/>
          <p:cNvSpPr/>
          <p:nvPr/>
        </p:nvSpPr>
        <p:spPr>
          <a:xfrm>
            <a:off x="2926080" y="8075422"/>
            <a:ext cx="2103120" cy="868680"/>
          </a:xfrm>
          <a:prstGeom prst="roundRect">
            <a:avLst>
              <a:gd name="adj" fmla="val 12632"/>
            </a:avLst>
          </a:prstGeom>
          <a:solidFill>
            <a:srgbClr val="DFF1FB"/>
          </a:solidFill>
          <a:ln w="25400">
            <a:solidFill>
              <a:srgbClr val="0369A1"/>
            </a:solidFill>
            <a:prstDash val="solid"/>
          </a:ln>
        </p:spPr>
      </p:sp>
      <p:sp>
        <p:nvSpPr>
          <p:cNvPr id="42" name="Text 40"/>
          <p:cNvSpPr txBox="1"/>
          <p:nvPr/>
        </p:nvSpPr>
        <p:spPr>
          <a:xfrm>
            <a:off x="3017520" y="8075422"/>
            <a:ext cx="1920240" cy="86868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クラウドの仮想サーバー</a:t>
            </a:r>
            <a:endParaRPr lang="en-US" sz="15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ネット越しに借りる</a:t>
            </a:r>
            <a:endParaRPr lang="en-US" sz="1500" dirty="0"/>
          </a:p>
        </p:txBody>
      </p:sp>
      <p:sp>
        <p:nvSpPr>
          <p:cNvPr id="43" name="Shape 41"/>
          <p:cNvSpPr/>
          <p:nvPr/>
        </p:nvSpPr>
        <p:spPr>
          <a:xfrm>
            <a:off x="2926080" y="9035542"/>
            <a:ext cx="2103120" cy="868680"/>
          </a:xfrm>
          <a:prstGeom prst="roundRect">
            <a:avLst>
              <a:gd name="adj" fmla="val 12632"/>
            </a:avLst>
          </a:prstGeom>
          <a:solidFill>
            <a:srgbClr val="DFF1FB"/>
          </a:solidFill>
          <a:ln w="25400">
            <a:solidFill>
              <a:srgbClr val="0369A1"/>
            </a:solidFill>
            <a:prstDash val="solid"/>
          </a:ln>
        </p:spPr>
      </p:sp>
      <p:sp>
        <p:nvSpPr>
          <p:cNvPr id="44" name="Text 42"/>
          <p:cNvSpPr txBox="1"/>
          <p:nvPr/>
        </p:nvSpPr>
        <p:spPr>
          <a:xfrm>
            <a:off x="3017520" y="9035542"/>
            <a:ext cx="1920240" cy="86868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S3など</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ボタンを押してから画面が出るまで</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スマホで「注文」を押すと、次の順に情報が旅をします。それぞれの場所が、どの層の用語かも示します。</a:t>
            </a:r>
            <a:endParaRPr lang="en-US" sz="1800" dirty="0"/>
          </a:p>
        </p:txBody>
      </p:sp>
      <p:sp>
        <p:nvSpPr>
          <p:cNvPr id="6" name="Shape 4"/>
          <p:cNvSpPr/>
          <p:nvPr/>
        </p:nvSpPr>
        <p:spPr>
          <a:xfrm>
            <a:off x="338328" y="3419348"/>
            <a:ext cx="420624" cy="420624"/>
          </a:xfrm>
          <a:prstGeom prst="ellipse">
            <a:avLst/>
          </a:prstGeom>
          <a:solidFill>
            <a:srgbClr val="16324F"/>
          </a:solidFill>
          <a:ln w="19050">
            <a:solidFill>
              <a:srgbClr val="FFFFFF"/>
            </a:solidFill>
            <a:prstDash val="solid"/>
          </a:ln>
        </p:spPr>
      </p:sp>
      <p:sp>
        <p:nvSpPr>
          <p:cNvPr id="7" name="Text 5"/>
          <p:cNvSpPr txBox="1"/>
          <p:nvPr/>
        </p:nvSpPr>
        <p:spPr>
          <a:xfrm>
            <a:off x="338328" y="34193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8" name="Text 6"/>
          <p:cNvSpPr txBox="1"/>
          <p:nvPr/>
        </p:nvSpPr>
        <p:spPr>
          <a:xfrm>
            <a:off x="960120" y="3230372"/>
            <a:ext cx="4206240" cy="79857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スマホ</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（ハードウェア）で、アプリの「注文」ボタンを押す。</a:t>
            </a:r>
            <a:endParaRPr lang="en-US" sz="2000" dirty="0"/>
          </a:p>
        </p:txBody>
      </p:sp>
      <p:sp>
        <p:nvSpPr>
          <p:cNvPr id="9" name="Shape 7"/>
          <p:cNvSpPr/>
          <p:nvPr/>
        </p:nvSpPr>
        <p:spPr>
          <a:xfrm>
            <a:off x="338328" y="4254500"/>
            <a:ext cx="420624" cy="420624"/>
          </a:xfrm>
          <a:prstGeom prst="ellipse">
            <a:avLst/>
          </a:prstGeom>
          <a:solidFill>
            <a:srgbClr val="16324F"/>
          </a:solidFill>
          <a:ln w="19050">
            <a:solidFill>
              <a:srgbClr val="FFFFFF"/>
            </a:solidFill>
            <a:prstDash val="solid"/>
          </a:ln>
        </p:spPr>
      </p:sp>
      <p:sp>
        <p:nvSpPr>
          <p:cNvPr id="10" name="Text 8"/>
          <p:cNvSpPr txBox="1"/>
          <p:nvPr/>
        </p:nvSpPr>
        <p:spPr>
          <a:xfrm>
            <a:off x="338328" y="42545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1" name="Text 9"/>
          <p:cNvSpPr txBox="1"/>
          <p:nvPr/>
        </p:nvSpPr>
        <p:spPr>
          <a:xfrm>
            <a:off x="960120" y="4065524"/>
            <a:ext cx="4206240" cy="79857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Wi-Fi</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（ネットワーク）で、家のルーターへ送る。</a:t>
            </a:r>
            <a:endParaRPr lang="en-US" sz="2000" dirty="0"/>
          </a:p>
        </p:txBody>
      </p:sp>
      <p:sp>
        <p:nvSpPr>
          <p:cNvPr id="12" name="Shape 10"/>
          <p:cNvSpPr/>
          <p:nvPr/>
        </p:nvSpPr>
        <p:spPr>
          <a:xfrm>
            <a:off x="338328" y="5089652"/>
            <a:ext cx="420624" cy="420624"/>
          </a:xfrm>
          <a:prstGeom prst="ellipse">
            <a:avLst/>
          </a:prstGeom>
          <a:solidFill>
            <a:srgbClr val="16324F"/>
          </a:solidFill>
          <a:ln w="19050">
            <a:solidFill>
              <a:srgbClr val="FFFFFF"/>
            </a:solidFill>
            <a:prstDash val="solid"/>
          </a:ln>
        </p:spPr>
      </p:sp>
      <p:sp>
        <p:nvSpPr>
          <p:cNvPr id="13" name="Text 11"/>
          <p:cNvSpPr txBox="1"/>
          <p:nvPr/>
        </p:nvSpPr>
        <p:spPr>
          <a:xfrm>
            <a:off x="338328" y="508965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4" name="Text 12"/>
          <p:cNvSpPr txBox="1"/>
          <p:nvPr/>
        </p:nvSpPr>
        <p:spPr>
          <a:xfrm>
            <a:off x="960120" y="4900676"/>
            <a:ext cx="4206240" cy="79857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光回線</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と</a:t>
            </a:r>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インターネット</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（ネットワーク）を通って、会社へ届く。</a:t>
            </a:r>
            <a:endParaRPr lang="en-US" sz="2000" dirty="0"/>
          </a:p>
        </p:txBody>
      </p:sp>
      <p:sp>
        <p:nvSpPr>
          <p:cNvPr id="15" name="Shape 13"/>
          <p:cNvSpPr/>
          <p:nvPr/>
        </p:nvSpPr>
        <p:spPr>
          <a:xfrm>
            <a:off x="338328" y="6092444"/>
            <a:ext cx="420624" cy="420624"/>
          </a:xfrm>
          <a:prstGeom prst="ellipse">
            <a:avLst/>
          </a:prstGeom>
          <a:solidFill>
            <a:srgbClr val="16324F"/>
          </a:solidFill>
          <a:ln w="19050">
            <a:solidFill>
              <a:srgbClr val="FFFFFF"/>
            </a:solidFill>
            <a:prstDash val="solid"/>
          </a:ln>
        </p:spPr>
      </p:sp>
      <p:sp>
        <p:nvSpPr>
          <p:cNvPr id="16" name="Text 14"/>
          <p:cNvSpPr txBox="1"/>
          <p:nvPr/>
        </p:nvSpPr>
        <p:spPr>
          <a:xfrm>
            <a:off x="338328" y="609244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7" name="Text 15"/>
          <p:cNvSpPr txBox="1"/>
          <p:nvPr/>
        </p:nvSpPr>
        <p:spPr>
          <a:xfrm>
            <a:off x="960120" y="5735828"/>
            <a:ext cx="4206240" cy="113385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サーバー室</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（置き場所）の</a:t>
            </a:r>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Webサーバー</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（ミドルウェア）が受け取る。</a:t>
            </a:r>
            <a:endParaRPr lang="en-US" sz="2000" dirty="0"/>
          </a:p>
        </p:txBody>
      </p:sp>
      <p:sp>
        <p:nvSpPr>
          <p:cNvPr id="18" name="Shape 16"/>
          <p:cNvSpPr/>
          <p:nvPr/>
        </p:nvSpPr>
        <p:spPr>
          <a:xfrm>
            <a:off x="338328" y="7095236"/>
            <a:ext cx="420624" cy="420624"/>
          </a:xfrm>
          <a:prstGeom prst="ellipse">
            <a:avLst/>
          </a:prstGeom>
          <a:solidFill>
            <a:srgbClr val="16324F"/>
          </a:solidFill>
          <a:ln w="19050">
            <a:solidFill>
              <a:srgbClr val="FFFFFF"/>
            </a:solidFill>
            <a:prstDash val="solid"/>
          </a:ln>
        </p:spPr>
      </p:sp>
      <p:sp>
        <p:nvSpPr>
          <p:cNvPr id="19" name="Text 17"/>
          <p:cNvSpPr txBox="1"/>
          <p:nvPr/>
        </p:nvSpPr>
        <p:spPr>
          <a:xfrm>
            <a:off x="338328" y="70952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0" name="Text 18"/>
          <p:cNvSpPr txBox="1"/>
          <p:nvPr/>
        </p:nvSpPr>
        <p:spPr>
          <a:xfrm>
            <a:off x="960120" y="6906260"/>
            <a:ext cx="4206240" cy="79857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アプリサーバー</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が注文を処理し、</a:t>
            </a:r>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データベース</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に保存を頼む。</a:t>
            </a:r>
            <a:endParaRPr lang="en-US" sz="2000" dirty="0"/>
          </a:p>
        </p:txBody>
      </p:sp>
      <p:sp>
        <p:nvSpPr>
          <p:cNvPr id="21" name="Shape 19"/>
          <p:cNvSpPr/>
          <p:nvPr/>
        </p:nvSpPr>
        <p:spPr>
          <a:xfrm>
            <a:off x="338328" y="8098028"/>
            <a:ext cx="420624" cy="420624"/>
          </a:xfrm>
          <a:prstGeom prst="ellipse">
            <a:avLst/>
          </a:prstGeom>
          <a:solidFill>
            <a:srgbClr val="16324F"/>
          </a:solidFill>
          <a:ln w="19050">
            <a:solidFill>
              <a:srgbClr val="FFFFFF"/>
            </a:solidFill>
            <a:prstDash val="solid"/>
          </a:ln>
        </p:spPr>
      </p:sp>
      <p:sp>
        <p:nvSpPr>
          <p:cNvPr id="22" name="Text 20"/>
          <p:cNvSpPr txBox="1"/>
          <p:nvPr/>
        </p:nvSpPr>
        <p:spPr>
          <a:xfrm>
            <a:off x="338328" y="809802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23" name="Text 21"/>
          <p:cNvSpPr txBox="1"/>
          <p:nvPr/>
        </p:nvSpPr>
        <p:spPr>
          <a:xfrm>
            <a:off x="960120" y="7741412"/>
            <a:ext cx="4206240" cy="1133856"/>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データベースが、</a:t>
            </a:r>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SSD</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などの</a:t>
            </a:r>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ストレージ</a:t>
            </a:r>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（ハードウェア）に書き込む。</a:t>
            </a:r>
            <a:endParaRPr lang="en-US" sz="2000" dirty="0"/>
          </a:p>
        </p:txBody>
      </p:sp>
      <p:sp>
        <p:nvSpPr>
          <p:cNvPr id="24" name="Shape 22"/>
          <p:cNvSpPr/>
          <p:nvPr/>
        </p:nvSpPr>
        <p:spPr>
          <a:xfrm>
            <a:off x="338328" y="9100820"/>
            <a:ext cx="420624" cy="420624"/>
          </a:xfrm>
          <a:prstGeom prst="ellipse">
            <a:avLst/>
          </a:prstGeom>
          <a:solidFill>
            <a:srgbClr val="16324F"/>
          </a:solidFill>
          <a:ln w="19050">
            <a:solidFill>
              <a:srgbClr val="FFFFFF"/>
            </a:solidFill>
            <a:prstDash val="solid"/>
          </a:ln>
        </p:spPr>
      </p:sp>
      <p:sp>
        <p:nvSpPr>
          <p:cNvPr id="25" name="Text 23"/>
          <p:cNvSpPr txBox="1"/>
          <p:nvPr/>
        </p:nvSpPr>
        <p:spPr>
          <a:xfrm>
            <a:off x="338328" y="91008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7</a:t>
            </a:r>
            <a:endParaRPr lang="en-US" sz="1800" dirty="0"/>
          </a:p>
        </p:txBody>
      </p:sp>
      <p:sp>
        <p:nvSpPr>
          <p:cNvPr id="26" name="Text 24"/>
          <p:cNvSpPr txBox="1"/>
          <p:nvPr/>
        </p:nvSpPr>
        <p:spPr>
          <a:xfrm>
            <a:off x="960120" y="8911844"/>
            <a:ext cx="4206240" cy="798576"/>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結果が同じ道を戻り、スマホに「注文完了」と表示される。</a:t>
            </a:r>
            <a:endParaRPr lang="en-US" sz="2000" dirty="0"/>
          </a:p>
        </p:txBody>
      </p:sp>
      <p:sp>
        <p:nvSpPr>
          <p:cNvPr id="27" name="Text 2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この資料で学ぶ10のテーマ</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この資料は、質問票の用語を10のテーマに分けて説明します。章の順番と、貼り付けの範囲です。</a:t>
            </a:r>
            <a:endParaRPr lang="en-US" sz="1800" dirty="0"/>
          </a:p>
        </p:txBody>
      </p:sp>
      <p:sp>
        <p:nvSpPr>
          <p:cNvPr id="6" name="Shape 4"/>
          <p:cNvSpPr/>
          <p:nvPr/>
        </p:nvSpPr>
        <p:spPr>
          <a:xfrm>
            <a:off x="320040" y="2817622"/>
            <a:ext cx="1600200" cy="457200"/>
          </a:xfrm>
          <a:prstGeom prst="roundRect">
            <a:avLst>
              <a:gd name="adj" fmla="val 24000"/>
            </a:avLst>
          </a:prstGeom>
          <a:solidFill>
            <a:srgbClr val="2F6BC2"/>
          </a:solidFill>
          <a:ln/>
        </p:spPr>
      </p:sp>
      <p:sp>
        <p:nvSpPr>
          <p:cNvPr id="7" name="Text 5"/>
          <p:cNvSpPr txBox="1"/>
          <p:nvPr/>
        </p:nvSpPr>
        <p:spPr>
          <a:xfrm>
            <a:off x="411480" y="2817622"/>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ストレージ</a:t>
            </a:r>
            <a:endParaRPr lang="en-US" sz="1800" dirty="0"/>
          </a:p>
        </p:txBody>
      </p:sp>
      <p:sp>
        <p:nvSpPr>
          <p:cNvPr id="8" name="Shape 6"/>
          <p:cNvSpPr/>
          <p:nvPr/>
        </p:nvSpPr>
        <p:spPr>
          <a:xfrm>
            <a:off x="2029968" y="2817622"/>
            <a:ext cx="1828800" cy="457200"/>
          </a:xfrm>
          <a:prstGeom prst="roundRect">
            <a:avLst>
              <a:gd name="adj" fmla="val 24000"/>
            </a:avLst>
          </a:prstGeom>
          <a:solidFill>
            <a:srgbClr val="237A48"/>
          </a:solidFill>
          <a:ln/>
        </p:spPr>
      </p:sp>
      <p:sp>
        <p:nvSpPr>
          <p:cNvPr id="9" name="Text 7"/>
          <p:cNvSpPr txBox="1"/>
          <p:nvPr/>
        </p:nvSpPr>
        <p:spPr>
          <a:xfrm>
            <a:off x="2121408" y="2817622"/>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データベース</a:t>
            </a:r>
            <a:endParaRPr lang="en-US" sz="1800" dirty="0"/>
          </a:p>
        </p:txBody>
      </p:sp>
      <p:sp>
        <p:nvSpPr>
          <p:cNvPr id="10" name="Shape 8"/>
          <p:cNvSpPr/>
          <p:nvPr/>
        </p:nvSpPr>
        <p:spPr>
          <a:xfrm>
            <a:off x="320040" y="3384550"/>
            <a:ext cx="3200400" cy="457200"/>
          </a:xfrm>
          <a:prstGeom prst="roundRect">
            <a:avLst>
              <a:gd name="adj" fmla="val 24000"/>
            </a:avLst>
          </a:prstGeom>
          <a:solidFill>
            <a:srgbClr val="5B46B8"/>
          </a:solidFill>
          <a:ln/>
        </p:spPr>
      </p:sp>
      <p:sp>
        <p:nvSpPr>
          <p:cNvPr id="11" name="Text 9"/>
          <p:cNvSpPr txBox="1"/>
          <p:nvPr/>
        </p:nvSpPr>
        <p:spPr>
          <a:xfrm>
            <a:off x="411480" y="3384550"/>
            <a:ext cx="30175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アプリケーションサーバー</a:t>
            </a:r>
            <a:endParaRPr lang="en-US" sz="1800" dirty="0"/>
          </a:p>
        </p:txBody>
      </p:sp>
      <p:sp>
        <p:nvSpPr>
          <p:cNvPr id="12" name="Shape 10"/>
          <p:cNvSpPr/>
          <p:nvPr/>
        </p:nvSpPr>
        <p:spPr>
          <a:xfrm>
            <a:off x="320040" y="3951478"/>
            <a:ext cx="2286000" cy="457200"/>
          </a:xfrm>
          <a:prstGeom prst="roundRect">
            <a:avLst>
              <a:gd name="adj" fmla="val 24000"/>
            </a:avLst>
          </a:prstGeom>
          <a:solidFill>
            <a:srgbClr val="0B7A7A"/>
          </a:solidFill>
          <a:ln/>
        </p:spPr>
      </p:sp>
      <p:sp>
        <p:nvSpPr>
          <p:cNvPr id="13" name="Text 11"/>
          <p:cNvSpPr txBox="1"/>
          <p:nvPr/>
        </p:nvSpPr>
        <p:spPr>
          <a:xfrm>
            <a:off x="411480" y="3951478"/>
            <a:ext cx="2103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仮想化・コンテナ</a:t>
            </a:r>
            <a:endParaRPr lang="en-US" sz="1800" dirty="0"/>
          </a:p>
        </p:txBody>
      </p:sp>
      <p:sp>
        <p:nvSpPr>
          <p:cNvPr id="14" name="Shape 12"/>
          <p:cNvSpPr/>
          <p:nvPr/>
        </p:nvSpPr>
        <p:spPr>
          <a:xfrm>
            <a:off x="2715768" y="3951478"/>
            <a:ext cx="1371600" cy="457200"/>
          </a:xfrm>
          <a:prstGeom prst="roundRect">
            <a:avLst>
              <a:gd name="adj" fmla="val 24000"/>
            </a:avLst>
          </a:prstGeom>
          <a:solidFill>
            <a:srgbClr val="0369A1"/>
          </a:solidFill>
          <a:ln/>
        </p:spPr>
      </p:sp>
      <p:sp>
        <p:nvSpPr>
          <p:cNvPr id="15" name="Text 13"/>
          <p:cNvSpPr txBox="1"/>
          <p:nvPr/>
        </p:nvSpPr>
        <p:spPr>
          <a:xfrm>
            <a:off x="2807208" y="3951478"/>
            <a:ext cx="11887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a:t>
            </a:r>
            <a:endParaRPr lang="en-US" sz="1800" dirty="0"/>
          </a:p>
        </p:txBody>
      </p:sp>
      <p:sp>
        <p:nvSpPr>
          <p:cNvPr id="16" name="Shape 14"/>
          <p:cNvSpPr/>
          <p:nvPr/>
        </p:nvSpPr>
        <p:spPr>
          <a:xfrm>
            <a:off x="320040" y="4518406"/>
            <a:ext cx="1600200" cy="457200"/>
          </a:xfrm>
          <a:prstGeom prst="roundRect">
            <a:avLst>
              <a:gd name="adj" fmla="val 24000"/>
            </a:avLst>
          </a:prstGeom>
          <a:solidFill>
            <a:srgbClr val="B45309"/>
          </a:solidFill>
          <a:ln/>
        </p:spPr>
      </p:sp>
      <p:sp>
        <p:nvSpPr>
          <p:cNvPr id="17" name="Text 15"/>
          <p:cNvSpPr txBox="1"/>
          <p:nvPr/>
        </p:nvSpPr>
        <p:spPr>
          <a:xfrm>
            <a:off x="411480" y="4518406"/>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研究・独学</a:t>
            </a:r>
            <a:endParaRPr lang="en-US" sz="1800" dirty="0"/>
          </a:p>
        </p:txBody>
      </p:sp>
      <p:sp>
        <p:nvSpPr>
          <p:cNvPr id="18" name="Shape 16"/>
          <p:cNvSpPr/>
          <p:nvPr/>
        </p:nvSpPr>
        <p:spPr>
          <a:xfrm>
            <a:off x="2029968" y="4518406"/>
            <a:ext cx="1600200" cy="457200"/>
          </a:xfrm>
          <a:prstGeom prst="roundRect">
            <a:avLst>
              <a:gd name="adj" fmla="val 24000"/>
            </a:avLst>
          </a:prstGeom>
          <a:solidFill>
            <a:srgbClr val="A21C5B"/>
          </a:solidFill>
          <a:ln/>
        </p:spPr>
      </p:sp>
      <p:sp>
        <p:nvSpPr>
          <p:cNvPr id="19" name="Text 17"/>
          <p:cNvSpPr txBox="1"/>
          <p:nvPr/>
        </p:nvSpPr>
        <p:spPr>
          <a:xfrm>
            <a:off x="2121408" y="4518406"/>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発表・学会</a:t>
            </a:r>
            <a:endParaRPr lang="en-US" sz="1800" dirty="0"/>
          </a:p>
        </p:txBody>
      </p:sp>
      <p:sp>
        <p:nvSpPr>
          <p:cNvPr id="20" name="Shape 18"/>
          <p:cNvSpPr/>
          <p:nvPr/>
        </p:nvSpPr>
        <p:spPr>
          <a:xfrm>
            <a:off x="3739896" y="4518406"/>
            <a:ext cx="1197864" cy="457200"/>
          </a:xfrm>
          <a:prstGeom prst="roundRect">
            <a:avLst>
              <a:gd name="adj" fmla="val 24000"/>
            </a:avLst>
          </a:prstGeom>
          <a:solidFill>
            <a:srgbClr val="4D7C0F"/>
          </a:solidFill>
          <a:ln/>
        </p:spPr>
      </p:sp>
      <p:sp>
        <p:nvSpPr>
          <p:cNvPr id="21" name="Text 19"/>
          <p:cNvSpPr txBox="1"/>
          <p:nvPr/>
        </p:nvSpPr>
        <p:spPr>
          <a:xfrm>
            <a:off x="3831336" y="4518406"/>
            <a:ext cx="1014984"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IT資格</a:t>
            </a:r>
            <a:endParaRPr lang="en-US" sz="1800" dirty="0"/>
          </a:p>
        </p:txBody>
      </p:sp>
      <p:sp>
        <p:nvSpPr>
          <p:cNvPr id="22" name="Shape 20"/>
          <p:cNvSpPr/>
          <p:nvPr/>
        </p:nvSpPr>
        <p:spPr>
          <a:xfrm>
            <a:off x="320040" y="5085334"/>
            <a:ext cx="2112264" cy="457200"/>
          </a:xfrm>
          <a:prstGeom prst="roundRect">
            <a:avLst>
              <a:gd name="adj" fmla="val 24000"/>
            </a:avLst>
          </a:prstGeom>
          <a:solidFill>
            <a:srgbClr val="475569"/>
          </a:solidFill>
          <a:ln/>
        </p:spPr>
      </p:sp>
      <p:sp>
        <p:nvSpPr>
          <p:cNvPr id="23" name="Text 21"/>
          <p:cNvSpPr txBox="1"/>
          <p:nvPr/>
        </p:nvSpPr>
        <p:spPr>
          <a:xfrm>
            <a:off x="411480" y="5085334"/>
            <a:ext cx="1929384"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その他のIT経験</a:t>
            </a:r>
            <a:endParaRPr lang="en-US" sz="1800" dirty="0"/>
          </a:p>
        </p:txBody>
      </p:sp>
      <p:sp>
        <p:nvSpPr>
          <p:cNvPr id="24" name="Shape 22"/>
          <p:cNvSpPr/>
          <p:nvPr/>
        </p:nvSpPr>
        <p:spPr>
          <a:xfrm>
            <a:off x="2542032" y="5085334"/>
            <a:ext cx="2286000" cy="457200"/>
          </a:xfrm>
          <a:prstGeom prst="roundRect">
            <a:avLst>
              <a:gd name="adj" fmla="val 24000"/>
            </a:avLst>
          </a:prstGeom>
          <a:solidFill>
            <a:srgbClr val="7C4A1E"/>
          </a:solidFill>
          <a:ln/>
        </p:spPr>
      </p:sp>
      <p:sp>
        <p:nvSpPr>
          <p:cNvPr id="25" name="Text 23"/>
          <p:cNvSpPr txBox="1"/>
          <p:nvPr/>
        </p:nvSpPr>
        <p:spPr>
          <a:xfrm>
            <a:off x="2633472" y="5085334"/>
            <a:ext cx="2103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リモート就業環境</a:t>
            </a:r>
            <a:endParaRPr lang="en-US" sz="1800" dirty="0"/>
          </a:p>
        </p:txBody>
      </p:sp>
      <p:sp>
        <p:nvSpPr>
          <p:cNvPr id="26" name="Shape 24"/>
          <p:cNvSpPr/>
          <p:nvPr/>
        </p:nvSpPr>
        <p:spPr>
          <a:xfrm>
            <a:off x="320040" y="5725414"/>
            <a:ext cx="4846320" cy="1615440"/>
          </a:xfrm>
          <a:prstGeom prst="roundRect">
            <a:avLst>
              <a:gd name="adj" fmla="val 6792"/>
            </a:avLst>
          </a:prstGeom>
          <a:solidFill>
            <a:srgbClr val="FBE3E0"/>
          </a:solidFill>
          <a:ln w="19050">
            <a:solidFill>
              <a:srgbClr val="C0392B"/>
            </a:solidFill>
            <a:prstDash val="solid"/>
          </a:ln>
        </p:spPr>
      </p:sp>
      <p:sp>
        <p:nvSpPr>
          <p:cNvPr id="27" name="Shape 25"/>
          <p:cNvSpPr/>
          <p:nvPr/>
        </p:nvSpPr>
        <p:spPr>
          <a:xfrm>
            <a:off x="457200" y="6304534"/>
            <a:ext cx="457200" cy="457200"/>
          </a:xfrm>
          <a:prstGeom prst="ellipse">
            <a:avLst/>
          </a:prstGeom>
          <a:solidFill>
            <a:srgbClr val="C0392B"/>
          </a:solidFill>
          <a:ln/>
        </p:spPr>
      </p:sp>
      <p:pic>
        <p:nvPicPr>
          <p:cNvPr id="28" name="Image 0" descr="preencoded.png">    </p:cNvPr>
          <p:cNvPicPr>
            <a:picLocks noChangeAspect="1"/>
          </p:cNvPicPr>
          <p:nvPr/>
        </p:nvPicPr>
        <p:blipFill>
          <a:blip r:embed="rId1"/>
          <a:stretch>
            <a:fillRect/>
          </a:stretch>
        </p:blipFill>
        <p:spPr>
          <a:xfrm>
            <a:off x="557784" y="6405118"/>
            <a:ext cx="256032" cy="256032"/>
          </a:xfrm>
          <a:prstGeom prst="rect">
            <a:avLst/>
          </a:prstGeom>
        </p:spPr>
      </p:pic>
      <p:sp>
        <p:nvSpPr>
          <p:cNvPr id="29" name="Text 26"/>
          <p:cNvSpPr txBox="1"/>
          <p:nvPr/>
        </p:nvSpPr>
        <p:spPr>
          <a:xfrm>
            <a:off x="1051560" y="5771134"/>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貼り付けは途中から途中までです。ストレージの前半や、質問26の最後（Wi-Fiの続き）は含まれていません。</a:t>
            </a:r>
            <a:endParaRPr lang="en-US" sz="2000" dirty="0"/>
          </a:p>
        </p:txBody>
      </p:sp>
      <p:sp>
        <p:nvSpPr>
          <p:cNvPr id="30" name="Shape 27"/>
          <p:cNvSpPr/>
          <p:nvPr/>
        </p:nvSpPr>
        <p:spPr>
          <a:xfrm>
            <a:off x="320040" y="7523734"/>
            <a:ext cx="4846320" cy="1615440"/>
          </a:xfrm>
          <a:prstGeom prst="roundRect">
            <a:avLst>
              <a:gd name="adj" fmla="val 6792"/>
            </a:avLst>
          </a:prstGeom>
          <a:solidFill>
            <a:srgbClr val="DCE8F8"/>
          </a:solidFill>
          <a:ln w="19050">
            <a:solidFill>
              <a:srgbClr val="2F6BC2"/>
            </a:solidFill>
            <a:prstDash val="solid"/>
          </a:ln>
        </p:spPr>
      </p:sp>
      <p:sp>
        <p:nvSpPr>
          <p:cNvPr id="31" name="Shape 28"/>
          <p:cNvSpPr/>
          <p:nvPr/>
        </p:nvSpPr>
        <p:spPr>
          <a:xfrm>
            <a:off x="457200" y="8102854"/>
            <a:ext cx="457200" cy="457200"/>
          </a:xfrm>
          <a:prstGeom prst="ellipse">
            <a:avLst/>
          </a:prstGeom>
          <a:solidFill>
            <a:srgbClr val="2F6BC2"/>
          </a:solidFill>
          <a:ln/>
        </p:spPr>
      </p:sp>
      <p:pic>
        <p:nvPicPr>
          <p:cNvPr id="32" name="Image 1" descr="preencoded.png">    </p:cNvPr>
          <p:cNvPicPr>
            <a:picLocks noChangeAspect="1"/>
          </p:cNvPicPr>
          <p:nvPr/>
        </p:nvPicPr>
        <p:blipFill>
          <a:blip r:embed="rId2"/>
          <a:stretch>
            <a:fillRect/>
          </a:stretch>
        </p:blipFill>
        <p:spPr>
          <a:xfrm>
            <a:off x="557784" y="8203438"/>
            <a:ext cx="256032" cy="256032"/>
          </a:xfrm>
          <a:prstGeom prst="rect">
            <a:avLst/>
          </a:prstGeom>
        </p:spPr>
      </p:pic>
      <p:sp>
        <p:nvSpPr>
          <p:cNvPr id="33" name="Text 29"/>
          <p:cNvSpPr txBox="1"/>
          <p:nvPr/>
        </p:nvSpPr>
        <p:spPr>
          <a:xfrm>
            <a:off x="1051560" y="7569454"/>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各用語は「意味」だけでなく、「たとえ」「主な用途」「最初の学び方」まで書き、図や表で補います。</a:t>
            </a:r>
            <a:endParaRPr lang="en-US" sz="2000" dirty="0"/>
          </a:p>
        </p:txBody>
      </p:sp>
      <p:sp>
        <p:nvSpPr>
          <p:cNvPr id="34"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ハードウェア</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手でさわれる機械や部品のこと。コンピューターの一番下の土台。</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パソコン・スマホ・サーバーなど、手でさわれる機械そのもの。層でいちばん下。</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475569"/>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ハードウェア</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6" name="Shape 34"/>
          <p:cNvSpPr/>
          <p:nvPr/>
        </p:nvSpPr>
        <p:spPr>
          <a:xfrm>
            <a:off x="3566160" y="7712710"/>
            <a:ext cx="1600200" cy="676656"/>
          </a:xfrm>
          <a:prstGeom prst="roundRect">
            <a:avLst>
              <a:gd name="adj" fmla="val 16216"/>
            </a:avLst>
          </a:prstGeom>
          <a:solidFill>
            <a:srgbClr val="DCE8F8"/>
          </a:solidFill>
          <a:ln w="25400">
            <a:solidFill>
              <a:srgbClr val="2F6BC2"/>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制御する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D9F2F1"/>
          </a:solidFill>
          <a:ln w="25400">
            <a:solidFill>
              <a:srgbClr val="0B7A7A"/>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分けて使う</a:t>
            </a:r>
            <a:endParaRPr lang="en-US" sz="1500" dirty="0"/>
          </a:p>
        </p:txBody>
      </p:sp>
      <p:sp>
        <p:nvSpPr>
          <p:cNvPr id="44" name="Shape 42"/>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6" name="Shape 44"/>
          <p:cNvSpPr/>
          <p:nvPr/>
        </p:nvSpPr>
        <p:spPr>
          <a:xfrm>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置かれる</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ハードウェア</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読み：ハードウェア（hardware）・ハード</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ハードウェアは、手でさわれる機械や部品のことです。パソコンやスマホの本体、CPU（計算をする頭脳）、メモリ、SSD、画面、キーボード、ケーブルなどが、すべて含まれます。</a:t>
            </a:r>
            <a:endParaRPr lang="en-US" sz="2000" dirty="0"/>
          </a:p>
        </p:txBody>
      </p:sp>
      <p:sp>
        <p:nvSpPr>
          <p:cNvPr id="7" name="Shape 5"/>
          <p:cNvSpPr/>
          <p:nvPr/>
        </p:nvSpPr>
        <p:spPr>
          <a:xfrm>
            <a:off x="320040" y="4844034"/>
            <a:ext cx="4846320" cy="2966720"/>
          </a:xfrm>
          <a:prstGeom prst="roundRect">
            <a:avLst>
              <a:gd name="adj" fmla="val 4315"/>
            </a:avLst>
          </a:prstGeom>
          <a:solidFill>
            <a:srgbClr val="E2E8F0"/>
          </a:solidFill>
          <a:ln/>
        </p:spPr>
      </p:sp>
      <p:sp>
        <p:nvSpPr>
          <p:cNvPr id="8" name="Text 6"/>
          <p:cNvSpPr txBox="1"/>
          <p:nvPr/>
        </p:nvSpPr>
        <p:spPr>
          <a:xfrm>
            <a:off x="502920" y="4935474"/>
            <a:ext cx="4480560" cy="28204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機械の層は、おおむね下から、ハードウェア、OS、ミドルウェア（アプリを支えるソフト）、アプリの順に積み重なります。仮想化（1台を分けて使う技術）は、OSの下や上に入ります。右側の「ネットワーク」と「置き場所」は、機械の外の話です。</a:t>
            </a:r>
            <a:endParaRPr lang="en-US" sz="2000" dirty="0"/>
          </a:p>
        </p:txBody>
      </p:sp>
      <p:sp>
        <p:nvSpPr>
          <p:cNvPr id="9" name="Shape 7"/>
          <p:cNvSpPr/>
          <p:nvPr/>
        </p:nvSpPr>
        <p:spPr>
          <a:xfrm>
            <a:off x="320040" y="7883906"/>
            <a:ext cx="4846320" cy="2296160"/>
          </a:xfrm>
          <a:prstGeom prst="roundRect">
            <a:avLst>
              <a:gd name="adj" fmla="val 5575"/>
            </a:avLst>
          </a:prstGeom>
          <a:solidFill>
            <a:srgbClr val="E2E8F0"/>
          </a:solidFill>
          <a:ln/>
        </p:spPr>
      </p:sp>
      <p:sp>
        <p:nvSpPr>
          <p:cNvPr id="10" name="Text 8"/>
          <p:cNvSpPr txBox="1"/>
          <p:nvPr/>
        </p:nvSpPr>
        <p:spPr>
          <a:xfrm>
            <a:off x="502920" y="797534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ハードウェアだけでは何もできません。「何をするか」を教えるソフトウェアが必要です。また部品は壊れるので、RAIDやバックアップのように、故障に備える工夫が後の章に出てきます。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ハードウェア</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ゲーム機の本体やコントローラー。ソフト（ゲームのディスク）を入れないと遊べませんが、本体がなければソフトも動きません。</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パソコンの「スペック（性能）」にCPUやメモリの数字が並んでいます。あれがハードウェアの仕様です。「このPCは古いから重い」と言うときも、ハードの話です。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「ハード」と「ソフト」は別物です。Windowsやアプリはソフトウェアです。クラウドのサーバーも、実体は事業者のデータセンターにあるハードウェアです。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お使いのPCやスマホの「設定」でバージョン情報（システム情報）を開き、CPUの名前・メモリ・ストレージの容量を書き出してみましょう。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CPU</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プログラムの命令を読み取って計算する、コンピューターの頭脳。</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929640"/>
          </a:xfrm>
          <a:prstGeom prst="roundRect">
            <a:avLst>
              <a:gd name="adj" fmla="val 13770"/>
            </a:avLst>
          </a:prstGeom>
          <a:solidFill>
            <a:srgbClr val="E2E8F0"/>
          </a:solidFill>
          <a:ln/>
        </p:spPr>
      </p:sp>
      <p:sp>
        <p:nvSpPr>
          <p:cNvPr id="23" name="Text 21"/>
          <p:cNvSpPr txBox="1"/>
          <p:nvPr/>
        </p:nvSpPr>
        <p:spPr>
          <a:xfrm>
            <a:off x="502920" y="4326382"/>
            <a:ext cx="4480560" cy="7833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パソコン・スマホ・サーバーの中にある、小さな計算用チップ。</a:t>
            </a:r>
            <a:endParaRPr lang="en-US" sz="2000" dirty="0"/>
          </a:p>
        </p:txBody>
      </p:sp>
      <p:sp>
        <p:nvSpPr>
          <p:cNvPr id="24" name="Shape 22"/>
          <p:cNvSpPr/>
          <p:nvPr/>
        </p:nvSpPr>
        <p:spPr>
          <a:xfrm>
            <a:off x="320040" y="5347462"/>
            <a:ext cx="4846320" cy="402336"/>
          </a:xfrm>
          <a:prstGeom prst="roundRect">
            <a:avLst>
              <a:gd name="adj" fmla="val 22727"/>
            </a:avLst>
          </a:prstGeom>
          <a:solidFill>
            <a:srgbClr val="475569"/>
          </a:solidFill>
          <a:ln/>
        </p:spPr>
      </p:sp>
      <p:sp>
        <p:nvSpPr>
          <p:cNvPr id="25" name="Text 23"/>
          <p:cNvSpPr txBox="1"/>
          <p:nvPr/>
        </p:nvSpPr>
        <p:spPr>
          <a:xfrm>
            <a:off x="411480" y="53474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5804662"/>
            <a:ext cx="1371600" cy="3822192"/>
          </a:xfrm>
          <a:prstGeom prst="roundRect">
            <a:avLst>
              <a:gd name="adj" fmla="val 8000"/>
            </a:avLst>
          </a:prstGeom>
          <a:solidFill>
            <a:srgbClr val="475569"/>
          </a:solidFill>
          <a:ln/>
        </p:spPr>
      </p:sp>
      <p:sp>
        <p:nvSpPr>
          <p:cNvPr id="27" name="Text 25"/>
          <p:cNvSpPr txBox="1"/>
          <p:nvPr/>
        </p:nvSpPr>
        <p:spPr>
          <a:xfrm>
            <a:off x="411480" y="58046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CPU</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580466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58046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flipH="1">
            <a:off x="1719072" y="6142990"/>
            <a:ext cx="1819656" cy="0"/>
          </a:xfrm>
          <a:prstGeom prst="line">
            <a:avLst/>
          </a:prstGeom>
          <a:noFill/>
          <a:ln w="31750">
            <a:solidFill>
              <a:srgbClr val="1B2A3A"/>
            </a:solidFill>
            <a:prstDash val="solid"/>
            <a:tailEnd type="triangle"/>
          </a:ln>
        </p:spPr>
      </p:sp>
      <p:sp>
        <p:nvSpPr>
          <p:cNvPr id="31" name="Text 29"/>
          <p:cNvSpPr txBox="1"/>
          <p:nvPr/>
        </p:nvSpPr>
        <p:spPr>
          <a:xfrm>
            <a:off x="1700784" y="58412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32" name="Shape 30"/>
          <p:cNvSpPr/>
          <p:nvPr/>
        </p:nvSpPr>
        <p:spPr>
          <a:xfrm>
            <a:off x="3566160" y="6591046"/>
            <a:ext cx="1600200" cy="676656"/>
          </a:xfrm>
          <a:prstGeom prst="roundRect">
            <a:avLst>
              <a:gd name="adj" fmla="val 16216"/>
            </a:avLst>
          </a:prstGeom>
          <a:solidFill>
            <a:srgbClr val="DCE8F8"/>
          </a:solidFill>
          <a:ln w="25400">
            <a:solidFill>
              <a:srgbClr val="2F6BC2"/>
            </a:solidFill>
            <a:prstDash val="solid"/>
          </a:ln>
        </p:spPr>
      </p:sp>
      <p:sp>
        <p:nvSpPr>
          <p:cNvPr id="33" name="Text 31"/>
          <p:cNvSpPr txBox="1"/>
          <p:nvPr/>
        </p:nvSpPr>
        <p:spPr>
          <a:xfrm>
            <a:off x="3657600" y="65910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4" name="Shape 32"/>
          <p:cNvSpPr/>
          <p:nvPr/>
        </p:nvSpPr>
        <p:spPr>
          <a:xfrm flipH="1">
            <a:off x="1719072" y="6929374"/>
            <a:ext cx="1819656" cy="0"/>
          </a:xfrm>
          <a:prstGeom prst="line">
            <a:avLst/>
          </a:prstGeom>
          <a:noFill/>
          <a:ln w="31750">
            <a:solidFill>
              <a:srgbClr val="1B2A3A"/>
            </a:solidFill>
            <a:prstDash val="solid"/>
            <a:tailEnd type="triangle"/>
          </a:ln>
        </p:spPr>
      </p:sp>
      <p:sp>
        <p:nvSpPr>
          <p:cNvPr id="35" name="Text 33"/>
          <p:cNvSpPr txBox="1"/>
          <p:nvPr/>
        </p:nvSpPr>
        <p:spPr>
          <a:xfrm>
            <a:off x="1700784" y="66276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仕事を配る</a:t>
            </a:r>
            <a:endParaRPr lang="en-US" sz="1500" dirty="0"/>
          </a:p>
        </p:txBody>
      </p:sp>
      <p:sp>
        <p:nvSpPr>
          <p:cNvPr id="36" name="Shape 34"/>
          <p:cNvSpPr/>
          <p:nvPr/>
        </p:nvSpPr>
        <p:spPr>
          <a:xfrm>
            <a:off x="3566160" y="737743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3774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a:off x="1719072" y="7715758"/>
            <a:ext cx="1819656" cy="0"/>
          </a:xfrm>
          <a:prstGeom prst="line">
            <a:avLst/>
          </a:prstGeom>
          <a:noFill/>
          <a:ln w="31750">
            <a:solidFill>
              <a:srgbClr val="1B2A3A"/>
            </a:solidFill>
            <a:prstDash val="solid"/>
            <a:tailEnd type="triangle"/>
          </a:ln>
        </p:spPr>
      </p:sp>
      <p:sp>
        <p:nvSpPr>
          <p:cNvPr id="39" name="Text 37"/>
          <p:cNvSpPr txBox="1"/>
          <p:nvPr/>
        </p:nvSpPr>
        <p:spPr>
          <a:xfrm>
            <a:off x="1700784" y="74140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部品の一つ</a:t>
            </a:r>
            <a:endParaRPr lang="en-US" sz="1500" dirty="0"/>
          </a:p>
        </p:txBody>
      </p:sp>
      <p:sp>
        <p:nvSpPr>
          <p:cNvPr id="40" name="Shape 38"/>
          <p:cNvSpPr/>
          <p:nvPr/>
        </p:nvSpPr>
        <p:spPr>
          <a:xfrm>
            <a:off x="3566160" y="8163814"/>
            <a:ext cx="1600200" cy="676656"/>
          </a:xfrm>
          <a:prstGeom prst="roundRect">
            <a:avLst>
              <a:gd name="adj" fmla="val 16216"/>
            </a:avLst>
          </a:prstGeom>
          <a:solidFill>
            <a:srgbClr val="D9F2F1"/>
          </a:solidFill>
          <a:ln w="25400">
            <a:solidFill>
              <a:srgbClr val="0B7A7A"/>
            </a:solidFill>
            <a:prstDash val="solid"/>
          </a:ln>
        </p:spPr>
      </p:sp>
      <p:sp>
        <p:nvSpPr>
          <p:cNvPr id="41" name="Text 39"/>
          <p:cNvSpPr txBox="1"/>
          <p:nvPr/>
        </p:nvSpPr>
        <p:spPr>
          <a:xfrm>
            <a:off x="3657600" y="81638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2" name="Shape 40"/>
          <p:cNvSpPr/>
          <p:nvPr/>
        </p:nvSpPr>
        <p:spPr>
          <a:xfrm flipH="1">
            <a:off x="1719072" y="8502142"/>
            <a:ext cx="1819656" cy="0"/>
          </a:xfrm>
          <a:prstGeom prst="line">
            <a:avLst/>
          </a:prstGeom>
          <a:noFill/>
          <a:ln w="31750">
            <a:solidFill>
              <a:srgbClr val="1B2A3A"/>
            </a:solidFill>
            <a:prstDash val="solid"/>
            <a:tailEnd type="triangle"/>
          </a:ln>
        </p:spPr>
      </p:sp>
      <p:sp>
        <p:nvSpPr>
          <p:cNvPr id="43" name="Text 41"/>
          <p:cNvSpPr txBox="1"/>
          <p:nvPr/>
        </p:nvSpPr>
        <p:spPr>
          <a:xfrm>
            <a:off x="1700784" y="82003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分けて使う</a:t>
            </a:r>
            <a:endParaRPr lang="en-US" sz="1500" dirty="0"/>
          </a:p>
        </p:txBody>
      </p:sp>
      <p:sp>
        <p:nvSpPr>
          <p:cNvPr id="44" name="Shape 42"/>
          <p:cNvSpPr/>
          <p:nvPr/>
        </p:nvSpPr>
        <p:spPr>
          <a:xfrm>
            <a:off x="3566160" y="8950198"/>
            <a:ext cx="1600200" cy="676656"/>
          </a:xfrm>
          <a:prstGeom prst="roundRect">
            <a:avLst>
              <a:gd name="adj" fmla="val 16216"/>
            </a:avLst>
          </a:prstGeom>
          <a:solidFill>
            <a:srgbClr val="E2E8F0"/>
          </a:solidFill>
          <a:ln w="25400">
            <a:solidFill>
              <a:srgbClr val="475569"/>
            </a:solidFill>
            <a:prstDash val="solid"/>
          </a:ln>
        </p:spPr>
      </p:sp>
      <p:sp>
        <p:nvSpPr>
          <p:cNvPr id="45" name="Text 43"/>
          <p:cNvSpPr txBox="1"/>
          <p:nvPr/>
        </p:nvSpPr>
        <p:spPr>
          <a:xfrm>
            <a:off x="3657600" y="89501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PC自作</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6" name="Shape 44"/>
          <p:cNvSpPr/>
          <p:nvPr/>
        </p:nvSpPr>
        <p:spPr>
          <a:xfrm flipH="1">
            <a:off x="1719072" y="9288526"/>
            <a:ext cx="1819656" cy="0"/>
          </a:xfrm>
          <a:prstGeom prst="line">
            <a:avLst/>
          </a:prstGeom>
          <a:noFill/>
          <a:ln w="31750">
            <a:solidFill>
              <a:srgbClr val="1B2A3A"/>
            </a:solidFill>
            <a:prstDash val="solid"/>
            <a:tailEnd type="triangle"/>
          </a:ln>
        </p:spPr>
      </p:sp>
      <p:sp>
        <p:nvSpPr>
          <p:cNvPr id="47" name="Text 45"/>
          <p:cNvSpPr txBox="1"/>
          <p:nvPr/>
        </p:nvSpPr>
        <p:spPr>
          <a:xfrm>
            <a:off x="1700784" y="89867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選んで買う</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CPU</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読み：シー・ピー・ユー（Central Processing Unit）・中央処理装置</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CPUは、ソフトウェアの命令（プログラム）を1つずつ読み取り、足し算や比較などの計算を実行する部品です。画面表示もゲームの動きもメッセージ送信も、突き詰めれば小さな計算の積み重ねです。</a:t>
            </a:r>
            <a:endParaRPr lang="en-US" sz="2000" dirty="0"/>
          </a:p>
        </p:txBody>
      </p:sp>
      <p:sp>
        <p:nvSpPr>
          <p:cNvPr id="7" name="Shape 5"/>
          <p:cNvSpPr/>
          <p:nvPr/>
        </p:nvSpPr>
        <p:spPr>
          <a:xfrm>
            <a:off x="320040" y="4844034"/>
            <a:ext cx="4846320" cy="2296160"/>
          </a:xfrm>
          <a:prstGeom prst="roundRect">
            <a:avLst>
              <a:gd name="adj" fmla="val 5575"/>
            </a:avLst>
          </a:prstGeom>
          <a:solidFill>
            <a:srgbClr val="E2E8F0"/>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CPUは、数GHz（1秒間に数十億回のリズム）という速さで動きます。計算に使うデータは、メモリから受け取ります。メモリより遅いストレージのデータは、いったんメモリに読み込まれてから使われます。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E2E8F0"/>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CPUの中には、計算の単位「コア」が複数入っているものがあります。コアが多いと、複数の作業を同時に進めやすくなります。パソコン用でも複数、サーバー用では数十個以上のコアを持つ製品があります。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CPU</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キッチンで包丁を握って調理する料理人。レシピ（プログラム）どおりに手を動かします。作業台（メモリ）が広いほど、材料を並べて効率よく作れます。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パソコンの仕様に「Intel Core i5」「AMD Ryzen 7」と書いてあるのがCPUの名前です。動画の書き出しやゲームでCPU使用率が100%近くになると、動作が重くなります。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CPUは「パソコン本体」ではなく、部品の1つです。データを長く保存する場所でもありません。保存はストレージ、作業中のデータの置き場はメモリの役目です。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Windowsのタスクマネージャー（Ctrl+Shift+Esc）の「パフォーマンス」で、CPUの名前・コア数・使用率を見ましょう。アプリを開くと数字が動きます。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OS（基本ソフト）</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ハードウェアを管理し、アプリが動く土台になる基本ソフト。</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2F6BC2"/>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2" name="Shape 20"/>
          <p:cNvSpPr/>
          <p:nvPr/>
        </p:nvSpPr>
        <p:spPr>
          <a:xfrm>
            <a:off x="320040" y="4234942"/>
            <a:ext cx="4846320" cy="1264920"/>
          </a:xfrm>
          <a:prstGeom prst="roundRect">
            <a:avLst>
              <a:gd name="adj" fmla="val 10120"/>
            </a:avLst>
          </a:prstGeom>
          <a:solidFill>
            <a:srgbClr val="DCE8F8"/>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ハードウェアのすぐ上で動く基本ソフト。ハードとアプリの間に入る。</a:t>
            </a:r>
            <a:endParaRPr lang="en-US" sz="2000" dirty="0"/>
          </a:p>
        </p:txBody>
      </p:sp>
      <p:sp>
        <p:nvSpPr>
          <p:cNvPr id="24" name="Shape 22"/>
          <p:cNvSpPr/>
          <p:nvPr/>
        </p:nvSpPr>
        <p:spPr>
          <a:xfrm>
            <a:off x="320040" y="5682742"/>
            <a:ext cx="4846320" cy="402336"/>
          </a:xfrm>
          <a:prstGeom prst="roundRect">
            <a:avLst>
              <a:gd name="adj" fmla="val 22727"/>
            </a:avLst>
          </a:prstGeom>
          <a:solidFill>
            <a:srgbClr val="2F6BC2"/>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2F6BC2"/>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制御する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割り当てる</a:t>
            </a:r>
            <a:endParaRPr lang="en-US" sz="1500" dirty="0"/>
          </a:p>
        </p:txBody>
      </p:sp>
      <p:sp>
        <p:nvSpPr>
          <p:cNvPr id="36" name="Shape 34"/>
          <p:cNvSpPr/>
          <p:nvPr/>
        </p:nvSpPr>
        <p:spPr>
          <a:xfrm>
            <a:off x="3566160" y="7712710"/>
            <a:ext cx="1600200" cy="676656"/>
          </a:xfrm>
          <a:prstGeom prst="roundRect">
            <a:avLst>
              <a:gd name="adj" fmla="val 16216"/>
            </a:avLst>
          </a:prstGeom>
          <a:solidFill>
            <a:srgbClr val="DCE8F8"/>
          </a:solidFill>
          <a:ln w="25400">
            <a:solidFill>
              <a:srgbClr val="2F6BC2"/>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DCE8F8"/>
          </a:solidFill>
          <a:ln w="25400">
            <a:solidFill>
              <a:srgbClr val="2F6BC2"/>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アプリの土台</a:t>
            </a:r>
            <a:endParaRPr lang="en-US" sz="1500" dirty="0"/>
          </a:p>
        </p:txBody>
      </p:sp>
      <p:sp>
        <p:nvSpPr>
          <p:cNvPr id="44" name="Shape 42"/>
          <p:cNvSpPr/>
          <p:nvPr/>
        </p:nvSpPr>
        <p:spPr>
          <a:xfrm>
            <a:off x="3566160" y="9285478"/>
            <a:ext cx="1600200" cy="676656"/>
          </a:xfrm>
          <a:prstGeom prst="roundRect">
            <a:avLst>
              <a:gd name="adj" fmla="val 16216"/>
            </a:avLst>
          </a:prstGeom>
          <a:solidFill>
            <a:srgbClr val="D9F2F1"/>
          </a:solidFill>
          <a:ln w="25400">
            <a:solidFill>
              <a:srgbClr val="0B7A7A"/>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6" name="Shape 44"/>
          <p:cNvSpPr/>
          <p:nvPr/>
        </p:nvSpPr>
        <p:spPr>
          <a:xfrm flipH="1">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中で動かす</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OS（基本ソフト）</a:t>
            </a:r>
            <a:endParaRPr lang="ja-JP" sz="2200" dirty="0"/>
          </a:p>
        </p:txBody>
      </p:sp>
      <p:sp>
        <p:nvSpPr>
          <p:cNvPr id="4" name="Shape 2"/>
          <p:cNvSpPr/>
          <p:nvPr/>
        </p:nvSpPr>
        <p:spPr>
          <a:xfrm>
            <a:off x="320040" y="1318514"/>
            <a:ext cx="4846320" cy="3117088"/>
          </a:xfrm>
          <a:prstGeom prst="roundRect">
            <a:avLst>
              <a:gd name="adj" fmla="val 4107"/>
            </a:avLst>
          </a:prstGeom>
          <a:solidFill>
            <a:srgbClr val="DCE8F8"/>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読み：オーエス（Operating System）・基本ソフト</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OS（Operating System）は、電源を入れると起動する、いちばん基本のソフトウェアです。CPU・メモリ・ストレージ・画面などのハードウェアを管理します。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CE8F8"/>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アプリは、ハードウェアを直接さわりません。「ファイルを保存したい」「画面に表示したい」とOSにお願いし、OSが代わりに実行します。そのため、対応するOSがないと、同じアプリでも動きません。</a:t>
            </a:r>
            <a:endParaRPr lang="en-US" sz="2000" dirty="0"/>
          </a:p>
        </p:txBody>
      </p:sp>
      <p:sp>
        <p:nvSpPr>
          <p:cNvPr id="9" name="Shape 7"/>
          <p:cNvSpPr/>
          <p:nvPr/>
        </p:nvSpPr>
        <p:spPr>
          <a:xfrm>
            <a:off x="320040" y="6878066"/>
            <a:ext cx="4846320" cy="2296160"/>
          </a:xfrm>
          <a:prstGeom prst="roundRect">
            <a:avLst>
              <a:gd name="adj" fmla="val 5575"/>
            </a:avLst>
          </a:prstGeom>
          <a:solidFill>
            <a:srgbClr val="DCE8F8"/>
          </a:solidFill>
          <a:ln/>
        </p:spPr>
      </p:sp>
      <p:sp>
        <p:nvSpPr>
          <p:cNvPr id="10" name="Text 8"/>
          <p:cNvSpPr txBox="1"/>
          <p:nvPr/>
        </p:nvSpPr>
        <p:spPr>
          <a:xfrm>
            <a:off x="502920" y="696950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OSは、メモリをアプリに割り当て、CPUの時間を順番に配り、ファイルシステムでデータを整理し、ネットワーク通信も扱います。代表例は、Windows、macOS、Linux、スマホのAndroidとiOSです。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OS（基本ソフト）</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ホテルのフロント。宿泊客（アプリ）は、部屋（メモリ）や設備（ハード）を勝手に使えず、フロント（OS）に頼んで割り当ててもらいます。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Windowsのアップデートで再起動を求められる、スマホのOSを更新したら画面が変わった、「このアプリはWindows専用です」と表示された、といった場面で出てきます。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OSとアプリは別物です。Google ChromeやExcelはOSではなくアプリです。また、WindowsとLinuxなどOSが違うと、同じアプリがそのままでは動かないことがあります。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お使いのPCやスマホの「設定」にある「バージョン情報」で、OSの名前とバージョンを確認しましょう。メモに書いておくと、後の章で役立ちます。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ソフトウェアとアプリ</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コンピューターに動きを教えるプログラム全体。OS・ミドルウェア・アプリに分かれる。</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2F6BC2"/>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5B46B8"/>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237A48"/>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2" name="Text 20"/>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Text 21"/>
          <p:cNvSpPr txBox="1"/>
          <p:nvPr/>
        </p:nvSpPr>
        <p:spPr>
          <a:xfrm>
            <a:off x="365760" y="430809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4" name="Shape 22"/>
          <p:cNvSpPr/>
          <p:nvPr/>
        </p:nvSpPr>
        <p:spPr>
          <a:xfrm>
            <a:off x="320040" y="4783582"/>
            <a:ext cx="4846320" cy="1264920"/>
          </a:xfrm>
          <a:prstGeom prst="roundRect">
            <a:avLst>
              <a:gd name="adj" fmla="val 10120"/>
            </a:avLst>
          </a:prstGeom>
          <a:solidFill>
            <a:srgbClr val="DCE8F8"/>
          </a:solidFill>
          <a:ln/>
        </p:spPr>
      </p:sp>
      <p:sp>
        <p:nvSpPr>
          <p:cNvPr id="25" name="Text 23"/>
          <p:cNvSpPr txBox="1"/>
          <p:nvPr/>
        </p:nvSpPr>
        <p:spPr>
          <a:xfrm>
            <a:off x="502920" y="487502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ハードウェアの上で動くものの総称。OS・ミドルウェア・アプリの3つの層にまたがる。</a:t>
            </a:r>
            <a:endParaRPr lang="en-US" sz="2000" dirty="0"/>
          </a:p>
        </p:txBody>
      </p:sp>
      <p:sp>
        <p:nvSpPr>
          <p:cNvPr id="26" name="Text 2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ソフトウェアとアプリ</a:t>
            </a:r>
            <a:endParaRPr lang="ja-JP" sz="2200" dirty="0"/>
          </a:p>
        </p:txBody>
      </p:sp>
      <p:sp>
        <p:nvSpPr>
          <p:cNvPr id="4" name="Shape 2"/>
          <p:cNvSpPr/>
          <p:nvPr/>
        </p:nvSpPr>
        <p:spPr>
          <a:xfrm>
            <a:off x="320040" y="1318514"/>
            <a:ext cx="4846320" cy="402336"/>
          </a:xfrm>
          <a:prstGeom prst="roundRect">
            <a:avLst>
              <a:gd name="adj" fmla="val 22727"/>
            </a:avLst>
          </a:prstGeom>
          <a:solidFill>
            <a:srgbClr val="2F6BC2"/>
          </a:solidFill>
          <a:ln/>
        </p:spPr>
      </p:sp>
      <p:sp>
        <p:nvSpPr>
          <p:cNvPr id="5" name="Text 3"/>
          <p:cNvSpPr txBox="1"/>
          <p:nvPr/>
        </p:nvSpPr>
        <p:spPr>
          <a:xfrm>
            <a:off x="411480" y="1318514"/>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6" name="Shape 4"/>
          <p:cNvSpPr/>
          <p:nvPr/>
        </p:nvSpPr>
        <p:spPr>
          <a:xfrm>
            <a:off x="320040" y="1775714"/>
            <a:ext cx="1371600" cy="3822192"/>
          </a:xfrm>
          <a:prstGeom prst="roundRect">
            <a:avLst>
              <a:gd name="adj" fmla="val 8000"/>
            </a:avLst>
          </a:prstGeom>
          <a:solidFill>
            <a:srgbClr val="2F6BC2"/>
          </a:solidFill>
          <a:ln/>
        </p:spPr>
      </p:sp>
      <p:sp>
        <p:nvSpPr>
          <p:cNvPr id="7" name="Text 5"/>
          <p:cNvSpPr txBox="1"/>
          <p:nvPr/>
        </p:nvSpPr>
        <p:spPr>
          <a:xfrm>
            <a:off x="411480" y="1775714"/>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ソフトウェア</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8" name="Shape 6"/>
          <p:cNvSpPr/>
          <p:nvPr/>
        </p:nvSpPr>
        <p:spPr>
          <a:xfrm>
            <a:off x="3566160" y="1775714"/>
            <a:ext cx="1600200" cy="676656"/>
          </a:xfrm>
          <a:prstGeom prst="roundRect">
            <a:avLst>
              <a:gd name="adj" fmla="val 16216"/>
            </a:avLst>
          </a:prstGeom>
          <a:solidFill>
            <a:srgbClr val="E2E8F0"/>
          </a:solidFill>
          <a:ln w="25400">
            <a:solidFill>
              <a:srgbClr val="475569"/>
            </a:solidFill>
            <a:prstDash val="solid"/>
          </a:ln>
        </p:spPr>
      </p:sp>
      <p:sp>
        <p:nvSpPr>
          <p:cNvPr id="9" name="Text 7"/>
          <p:cNvSpPr txBox="1"/>
          <p:nvPr/>
        </p:nvSpPr>
        <p:spPr>
          <a:xfrm>
            <a:off x="3657600" y="17757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10" name="Shape 8"/>
          <p:cNvSpPr/>
          <p:nvPr/>
        </p:nvSpPr>
        <p:spPr>
          <a:xfrm>
            <a:off x="1719072" y="2114042"/>
            <a:ext cx="1819656" cy="0"/>
          </a:xfrm>
          <a:prstGeom prst="line">
            <a:avLst/>
          </a:prstGeom>
          <a:noFill/>
          <a:ln w="31750">
            <a:solidFill>
              <a:srgbClr val="1B2A3A"/>
            </a:solidFill>
            <a:prstDash val="solid"/>
            <a:tailEnd type="triangle"/>
          </a:ln>
        </p:spPr>
      </p:sp>
      <p:sp>
        <p:nvSpPr>
          <p:cNvPr id="11" name="Text 9"/>
          <p:cNvSpPr txBox="1"/>
          <p:nvPr/>
        </p:nvSpPr>
        <p:spPr>
          <a:xfrm>
            <a:off x="1700784" y="18122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指示する</a:t>
            </a:r>
            <a:endParaRPr lang="en-US" sz="1500" dirty="0"/>
          </a:p>
        </p:txBody>
      </p:sp>
      <p:sp>
        <p:nvSpPr>
          <p:cNvPr id="12" name="Shape 10"/>
          <p:cNvSpPr/>
          <p:nvPr/>
        </p:nvSpPr>
        <p:spPr>
          <a:xfrm>
            <a:off x="3566160" y="2562098"/>
            <a:ext cx="1600200" cy="676656"/>
          </a:xfrm>
          <a:prstGeom prst="roundRect">
            <a:avLst>
              <a:gd name="adj" fmla="val 16216"/>
            </a:avLst>
          </a:prstGeom>
          <a:solidFill>
            <a:srgbClr val="DCE8F8"/>
          </a:solidFill>
          <a:ln w="25400">
            <a:solidFill>
              <a:srgbClr val="2F6BC2"/>
            </a:solidFill>
            <a:prstDash val="solid"/>
          </a:ln>
        </p:spPr>
      </p:sp>
      <p:sp>
        <p:nvSpPr>
          <p:cNvPr id="13" name="Text 11"/>
          <p:cNvSpPr txBox="1"/>
          <p:nvPr/>
        </p:nvSpPr>
        <p:spPr>
          <a:xfrm>
            <a:off x="3657600" y="25620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14" name="Shape 12"/>
          <p:cNvSpPr/>
          <p:nvPr/>
        </p:nvSpPr>
        <p:spPr>
          <a:xfrm>
            <a:off x="1719072" y="2900426"/>
            <a:ext cx="1819656" cy="0"/>
          </a:xfrm>
          <a:prstGeom prst="line">
            <a:avLst/>
          </a:prstGeom>
          <a:noFill/>
          <a:ln w="31750">
            <a:solidFill>
              <a:srgbClr val="1B2A3A"/>
            </a:solidFill>
            <a:prstDash val="solid"/>
            <a:tailEnd type="triangle"/>
          </a:ln>
        </p:spPr>
      </p:sp>
      <p:sp>
        <p:nvSpPr>
          <p:cNvPr id="15" name="Text 13"/>
          <p:cNvSpPr txBox="1"/>
          <p:nvPr/>
        </p:nvSpPr>
        <p:spPr>
          <a:xfrm>
            <a:off x="1700784" y="25986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16" name="Shape 14"/>
          <p:cNvSpPr/>
          <p:nvPr/>
        </p:nvSpPr>
        <p:spPr>
          <a:xfrm>
            <a:off x="3566160" y="3348482"/>
            <a:ext cx="1600200" cy="676656"/>
          </a:xfrm>
          <a:prstGeom prst="roundRect">
            <a:avLst>
              <a:gd name="adj" fmla="val 16216"/>
            </a:avLst>
          </a:prstGeom>
          <a:solidFill>
            <a:srgbClr val="E6E1F7"/>
          </a:solidFill>
          <a:ln w="25400">
            <a:solidFill>
              <a:srgbClr val="5B46B8"/>
            </a:solidFill>
            <a:prstDash val="solid"/>
          </a:ln>
        </p:spPr>
      </p:sp>
      <p:sp>
        <p:nvSpPr>
          <p:cNvPr id="17" name="Text 15"/>
          <p:cNvSpPr txBox="1"/>
          <p:nvPr/>
        </p:nvSpPr>
        <p:spPr>
          <a:xfrm>
            <a:off x="3657600" y="334848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ミドルウェア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18" name="Shape 16"/>
          <p:cNvSpPr/>
          <p:nvPr/>
        </p:nvSpPr>
        <p:spPr>
          <a:xfrm>
            <a:off x="1719072" y="3686810"/>
            <a:ext cx="1819656" cy="0"/>
          </a:xfrm>
          <a:prstGeom prst="line">
            <a:avLst/>
          </a:prstGeom>
          <a:noFill/>
          <a:ln w="31750">
            <a:solidFill>
              <a:srgbClr val="1B2A3A"/>
            </a:solidFill>
            <a:prstDash val="solid"/>
            <a:tailEnd type="triangle"/>
          </a:ln>
        </p:spPr>
      </p:sp>
      <p:sp>
        <p:nvSpPr>
          <p:cNvPr id="19" name="Text 17"/>
          <p:cNvSpPr txBox="1"/>
          <p:nvPr/>
        </p:nvSpPr>
        <p:spPr>
          <a:xfrm>
            <a:off x="1700784" y="338505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20" name="Shape 18"/>
          <p:cNvSpPr/>
          <p:nvPr/>
        </p:nvSpPr>
        <p:spPr>
          <a:xfrm>
            <a:off x="3566160" y="4134866"/>
            <a:ext cx="1600200" cy="676656"/>
          </a:xfrm>
          <a:prstGeom prst="roundRect">
            <a:avLst>
              <a:gd name="adj" fmla="val 16216"/>
            </a:avLst>
          </a:prstGeom>
          <a:solidFill>
            <a:srgbClr val="DDF1E4"/>
          </a:solidFill>
          <a:ln w="25400">
            <a:solidFill>
              <a:srgbClr val="237A48"/>
            </a:solidFill>
            <a:prstDash val="solid"/>
          </a:ln>
        </p:spPr>
      </p:sp>
      <p:sp>
        <p:nvSpPr>
          <p:cNvPr id="21" name="Text 19"/>
          <p:cNvSpPr txBox="1"/>
          <p:nvPr/>
        </p:nvSpPr>
        <p:spPr>
          <a:xfrm>
            <a:off x="3657600" y="413486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22" name="Shape 20"/>
          <p:cNvSpPr/>
          <p:nvPr/>
        </p:nvSpPr>
        <p:spPr>
          <a:xfrm flipH="1">
            <a:off x="1719072" y="4473194"/>
            <a:ext cx="1819656" cy="0"/>
          </a:xfrm>
          <a:prstGeom prst="line">
            <a:avLst/>
          </a:prstGeom>
          <a:noFill/>
          <a:ln w="31750">
            <a:solidFill>
              <a:srgbClr val="1B2A3A"/>
            </a:solidFill>
            <a:prstDash val="solid"/>
            <a:tailEnd type="triangle"/>
          </a:ln>
        </p:spPr>
      </p:sp>
      <p:sp>
        <p:nvSpPr>
          <p:cNvPr id="23" name="Text 21"/>
          <p:cNvSpPr txBox="1"/>
          <p:nvPr/>
        </p:nvSpPr>
        <p:spPr>
          <a:xfrm>
            <a:off x="1700784" y="417144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24" name="Shape 22"/>
          <p:cNvSpPr/>
          <p:nvPr/>
        </p:nvSpPr>
        <p:spPr>
          <a:xfrm>
            <a:off x="3566160" y="4921250"/>
            <a:ext cx="1600200" cy="676656"/>
          </a:xfrm>
          <a:prstGeom prst="roundRect">
            <a:avLst>
              <a:gd name="adj" fmla="val 16216"/>
            </a:avLst>
          </a:prstGeom>
          <a:solidFill>
            <a:srgbClr val="E6E1F7"/>
          </a:solidFill>
          <a:ln w="25400">
            <a:solidFill>
              <a:srgbClr val="5B46B8"/>
            </a:solidFill>
            <a:prstDash val="solid"/>
          </a:ln>
        </p:spPr>
      </p:sp>
      <p:sp>
        <p:nvSpPr>
          <p:cNvPr id="25" name="Text 23"/>
          <p:cNvSpPr txBox="1"/>
          <p:nvPr/>
        </p:nvSpPr>
        <p:spPr>
          <a:xfrm>
            <a:off x="3657600" y="492125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26" name="Shape 24"/>
          <p:cNvSpPr/>
          <p:nvPr/>
        </p:nvSpPr>
        <p:spPr>
          <a:xfrm flipH="1">
            <a:off x="1719072" y="5259578"/>
            <a:ext cx="1819656" cy="0"/>
          </a:xfrm>
          <a:prstGeom prst="line">
            <a:avLst/>
          </a:prstGeom>
          <a:noFill/>
          <a:ln w="31750">
            <a:solidFill>
              <a:srgbClr val="1B2A3A"/>
            </a:solidFill>
            <a:prstDash val="solid"/>
            <a:tailEnd type="triangle"/>
          </a:ln>
        </p:spPr>
      </p:sp>
      <p:sp>
        <p:nvSpPr>
          <p:cNvPr id="27" name="Text 25"/>
          <p:cNvSpPr txBox="1"/>
          <p:nvPr/>
        </p:nvSpPr>
        <p:spPr>
          <a:xfrm>
            <a:off x="1700784" y="495782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配置する</a:t>
            </a:r>
            <a:endParaRPr lang="en-US" sz="1500" dirty="0"/>
          </a:p>
        </p:txBody>
      </p:sp>
      <p:sp>
        <p:nvSpPr>
          <p:cNvPr id="28" name="Shape 26"/>
          <p:cNvSpPr/>
          <p:nvPr/>
        </p:nvSpPr>
        <p:spPr>
          <a:xfrm>
            <a:off x="320040" y="5835650"/>
            <a:ext cx="4846320" cy="3452368"/>
          </a:xfrm>
          <a:prstGeom prst="roundRect">
            <a:avLst>
              <a:gd name="adj" fmla="val 3708"/>
            </a:avLst>
          </a:prstGeom>
          <a:solidFill>
            <a:srgbClr val="DCE8F8"/>
          </a:solidFill>
          <a:ln/>
        </p:spPr>
      </p:sp>
      <p:sp>
        <p:nvSpPr>
          <p:cNvPr id="29" name="Text 27"/>
          <p:cNvSpPr txBox="1"/>
          <p:nvPr/>
        </p:nvSpPr>
        <p:spPr>
          <a:xfrm>
            <a:off x="502920" y="5927090"/>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くわしく</a:t>
            </a:r>
            <a:endParaRPr lang="en-US" sz="2000" dirty="0"/>
          </a:p>
        </p:txBody>
      </p:sp>
      <p:sp>
        <p:nvSpPr>
          <p:cNvPr id="30" name="Text 28"/>
          <p:cNvSpPr txBox="1"/>
          <p:nvPr/>
        </p:nvSpPr>
        <p:spPr>
          <a:xfrm>
            <a:off x="502920" y="6311138"/>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読み：ソフトウェア（software）・アプリ（application）</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ソフトウェアは、ハードウェアに「何をするか」を指示するプログラム（命令の集まり）の総称です。手でさわれるハードウェアに対して、さわれないのがソフトウェアです。大きく3種類に分けて考えます。</a:t>
            </a:r>
            <a:endParaRPr lang="en-US" sz="2000" dirty="0"/>
          </a:p>
        </p:txBody>
      </p:sp>
      <p:sp>
        <p:nvSpPr>
          <p:cNvPr id="31" name="Text 2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ソフトウェアとアプリ</a:t>
            </a:r>
            <a:endParaRPr lang="ja-JP" sz="2200" dirty="0"/>
          </a:p>
        </p:txBody>
      </p:sp>
      <p:sp>
        <p:nvSpPr>
          <p:cNvPr id="4" name="Shape 2"/>
          <p:cNvSpPr/>
          <p:nvPr/>
        </p:nvSpPr>
        <p:spPr>
          <a:xfrm>
            <a:off x="320040" y="1318514"/>
            <a:ext cx="4846320" cy="2631440"/>
          </a:xfrm>
          <a:prstGeom prst="roundRect">
            <a:avLst>
              <a:gd name="adj" fmla="val 4865"/>
            </a:avLst>
          </a:prstGeom>
          <a:solidFill>
            <a:srgbClr val="DCE8F8"/>
          </a:solidFill>
          <a:ln/>
        </p:spPr>
      </p:sp>
      <p:sp>
        <p:nvSpPr>
          <p:cNvPr id="5" name="Text 3"/>
          <p:cNvSpPr txBox="1"/>
          <p:nvPr/>
        </p:nvSpPr>
        <p:spPr>
          <a:xfrm>
            <a:off x="502920" y="14099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1つ目はOS（基本ソフト）で、ハードを管理します。2つ目はミドルウェアで、データベースやWebサーバーなど、アプリを支える裏方のソフトです。3つ目がアプリ（アプリケーション）で、人が直接使う、または作る対象のソフトです。</a:t>
            </a:r>
            <a:endParaRPr lang="en-US" sz="2000" dirty="0"/>
          </a:p>
        </p:txBody>
      </p:sp>
      <p:sp>
        <p:nvSpPr>
          <p:cNvPr id="6" name="Shape 4"/>
          <p:cNvSpPr/>
          <p:nvPr/>
        </p:nvSpPr>
        <p:spPr>
          <a:xfrm>
            <a:off x="320040" y="4023106"/>
            <a:ext cx="4846320" cy="2631440"/>
          </a:xfrm>
          <a:prstGeom prst="roundRect">
            <a:avLst>
              <a:gd name="adj" fmla="val 4865"/>
            </a:avLst>
          </a:prstGeom>
          <a:solidFill>
            <a:srgbClr val="DCE8F8"/>
          </a:solidFill>
          <a:ln/>
        </p:spPr>
      </p:sp>
      <p:sp>
        <p:nvSpPr>
          <p:cNvPr id="7" name="Text 5"/>
          <p:cNvSpPr txBox="1"/>
          <p:nvPr/>
        </p:nvSpPr>
        <p:spPr>
          <a:xfrm>
            <a:off x="502920" y="411454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スマホでメッセージアプリを使うとき、アプリが画面を作り、裏のサーバーではミドルウェアがデータを保存し、その土台でOSがハードを動かしています。どの層の話かを意識すると、用語を整理しやすくなります。</a:t>
            </a:r>
            <a:endParaRPr lang="en-US" sz="2000" dirty="0"/>
          </a:p>
        </p:txBody>
      </p:sp>
      <p:sp>
        <p:nvSpPr>
          <p:cNvPr id="8" name="Shape 6"/>
          <p:cNvSpPr/>
          <p:nvPr/>
        </p:nvSpPr>
        <p:spPr>
          <a:xfrm>
            <a:off x="320040" y="6727698"/>
            <a:ext cx="4846320" cy="1935480"/>
          </a:xfrm>
          <a:prstGeom prst="roundRect">
            <a:avLst>
              <a:gd name="adj" fmla="val 6614"/>
            </a:avLst>
          </a:prstGeom>
          <a:solidFill>
            <a:srgbClr val="FDEBD0"/>
          </a:solidFill>
          <a:ln/>
        </p:spPr>
      </p:sp>
      <p:sp>
        <p:nvSpPr>
          <p:cNvPr id="9" name="Text 7"/>
          <p:cNvSpPr txBox="1"/>
          <p:nvPr/>
        </p:nvSpPr>
        <p:spPr>
          <a:xfrm>
            <a:off x="502920" y="6819138"/>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学校にたとえると、OSは校舎の設備管理（電気・水道・鍵）、ミドルウェアは図書室や保健室などの共通施設、アプリは各クラスの授業です。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ソフトウェアとアプリ</a:t>
            </a:r>
            <a:endParaRPr lang="ja-JP" sz="2200" dirty="0"/>
          </a:p>
        </p:txBody>
      </p:sp>
      <p:sp>
        <p:nvSpPr>
          <p:cNvPr id="4" name="Shape 2"/>
          <p:cNvSpPr/>
          <p:nvPr/>
        </p:nvSpPr>
        <p:spPr>
          <a:xfrm>
            <a:off x="320040" y="1318514"/>
            <a:ext cx="4846320" cy="2270760"/>
          </a:xfrm>
          <a:prstGeom prst="roundRect">
            <a:avLst>
              <a:gd name="adj" fmla="val 5638"/>
            </a:avLst>
          </a:prstGeom>
          <a:solidFill>
            <a:srgbClr val="DCE8F8"/>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LINEやYouTube、Excel、Google Chromeはアプリです。それが動くWindowsやAndroidはOSです。サーバーで動くデータベースなどは、利用者には見えないミドルウェアです。</a:t>
            </a:r>
            <a:endParaRPr lang="en-US" sz="2000" dirty="0"/>
          </a:p>
        </p:txBody>
      </p:sp>
      <p:sp>
        <p:nvSpPr>
          <p:cNvPr id="6" name="Shape 4"/>
          <p:cNvSpPr/>
          <p:nvPr/>
        </p:nvSpPr>
        <p:spPr>
          <a:xfrm>
            <a:off x="320040" y="3772154"/>
            <a:ext cx="4846320" cy="2270760"/>
          </a:xfrm>
          <a:prstGeom prst="roundRect">
            <a:avLst>
              <a:gd name="adj" fmla="val 5638"/>
            </a:avLst>
          </a:prstGeom>
          <a:solidFill>
            <a:srgbClr val="FBE3E0"/>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「ソフトウェア」と「アプリ」は同じ意味ではありません。アプリはソフトウェアの一種で、OSやミドルウェアもソフトウェアです。日常では、アプリだけを「ソフト」と呼ぶことも多いです。</a:t>
            </a:r>
            <a:endParaRPr lang="en-US" sz="2000" dirty="0"/>
          </a:p>
        </p:txBody>
      </p:sp>
      <p:sp>
        <p:nvSpPr>
          <p:cNvPr id="8" name="Shape 6"/>
          <p:cNvSpPr/>
          <p:nvPr/>
        </p:nvSpPr>
        <p:spPr>
          <a:xfrm>
            <a:off x="320040" y="6225794"/>
            <a:ext cx="4846320" cy="2270760"/>
          </a:xfrm>
          <a:prstGeom prst="roundRect">
            <a:avLst>
              <a:gd name="adj" fmla="val 5638"/>
            </a:avLst>
          </a:prstGeom>
          <a:solidFill>
            <a:srgbClr val="DDF1E4"/>
          </a:solidFill>
          <a:ln/>
        </p:spPr>
      </p:sp>
      <p:sp>
        <p:nvSpPr>
          <p:cNvPr id="9" name="Text 7"/>
          <p:cNvSpPr txBox="1"/>
          <p:nvPr/>
        </p:nvSpPr>
        <p:spPr>
          <a:xfrm>
            <a:off x="502920" y="631723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パソコンに入っているものを、「OS」「ミドルウェア（データベースなど）」「アプリ」の3グループに分けてメモしましょう。迷ったものは調べると勉強になります。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サーバーとクライアント</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情報やサービスを提供する側（サーバー）と、利用する側（クライアント）。</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5B46B8"/>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Text 20"/>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Text 21"/>
          <p:cNvSpPr txBox="1"/>
          <p:nvPr/>
        </p:nvSpPr>
        <p:spPr>
          <a:xfrm>
            <a:off x="365760" y="430809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4" name="Shape 22"/>
          <p:cNvSpPr/>
          <p:nvPr/>
        </p:nvSpPr>
        <p:spPr>
          <a:xfrm>
            <a:off x="320040" y="4783582"/>
            <a:ext cx="4846320" cy="1264920"/>
          </a:xfrm>
          <a:prstGeom prst="roundRect">
            <a:avLst>
              <a:gd name="adj" fmla="val 10120"/>
            </a:avLst>
          </a:prstGeom>
          <a:solidFill>
            <a:srgbClr val="E2E8F0"/>
          </a:solidFill>
          <a:ln/>
        </p:spPr>
      </p:sp>
      <p:sp>
        <p:nvSpPr>
          <p:cNvPr id="25" name="Text 23"/>
          <p:cNvSpPr txBox="1"/>
          <p:nvPr/>
        </p:nvSpPr>
        <p:spPr>
          <a:xfrm>
            <a:off x="502920" y="487502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ネットワークでつながった「提供する側」と「利用する側」。機械でもソフトでも使う言葉。</a:t>
            </a:r>
            <a:endParaRPr lang="en-US" sz="2000" dirty="0"/>
          </a:p>
        </p:txBody>
      </p:sp>
      <p:sp>
        <p:nvSpPr>
          <p:cNvPr id="26" name="Shape 24"/>
          <p:cNvSpPr/>
          <p:nvPr/>
        </p:nvSpPr>
        <p:spPr>
          <a:xfrm>
            <a:off x="320040" y="6231382"/>
            <a:ext cx="4846320" cy="402336"/>
          </a:xfrm>
          <a:prstGeom prst="roundRect">
            <a:avLst>
              <a:gd name="adj" fmla="val 22727"/>
            </a:avLst>
          </a:prstGeom>
          <a:solidFill>
            <a:srgbClr val="475569"/>
          </a:solidFill>
          <a:ln/>
        </p:spPr>
      </p:sp>
      <p:sp>
        <p:nvSpPr>
          <p:cNvPr id="27" name="Text 25"/>
          <p:cNvSpPr txBox="1"/>
          <p:nvPr/>
        </p:nvSpPr>
        <p:spPr>
          <a:xfrm>
            <a:off x="411480" y="623138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688582"/>
            <a:ext cx="1371600" cy="3035808"/>
          </a:xfrm>
          <a:prstGeom prst="roundRect">
            <a:avLst>
              <a:gd name="adj" fmla="val 8000"/>
            </a:avLst>
          </a:prstGeom>
          <a:solidFill>
            <a:srgbClr val="475569"/>
          </a:solidFill>
          <a:ln/>
        </p:spPr>
      </p:sp>
      <p:sp>
        <p:nvSpPr>
          <p:cNvPr id="29" name="Text 27"/>
          <p:cNvSpPr txBox="1"/>
          <p:nvPr/>
        </p:nvSpPr>
        <p:spPr>
          <a:xfrm>
            <a:off x="411480" y="668858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サーバーとクライアント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8"/>
          <p:cNvSpPr/>
          <p:nvPr/>
        </p:nvSpPr>
        <p:spPr>
          <a:xfrm>
            <a:off x="3566160" y="6688582"/>
            <a:ext cx="1600200" cy="676656"/>
          </a:xfrm>
          <a:prstGeom prst="roundRect">
            <a:avLst>
              <a:gd name="adj" fmla="val 16216"/>
            </a:avLst>
          </a:prstGeom>
          <a:solidFill>
            <a:srgbClr val="FDEBD0"/>
          </a:solidFill>
          <a:ln w="25400">
            <a:solidFill>
              <a:srgbClr val="B45309"/>
            </a:solidFill>
            <a:prstDash val="solid"/>
          </a:ln>
        </p:spPr>
      </p:sp>
      <p:sp>
        <p:nvSpPr>
          <p:cNvPr id="31" name="Text 29"/>
          <p:cNvSpPr txBox="1"/>
          <p:nvPr/>
        </p:nvSpPr>
        <p:spPr>
          <a:xfrm>
            <a:off x="3657600" y="668858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2" name="Shape 30"/>
          <p:cNvSpPr/>
          <p:nvPr/>
        </p:nvSpPr>
        <p:spPr>
          <a:xfrm flipH="1">
            <a:off x="1719072" y="7026910"/>
            <a:ext cx="1819656" cy="0"/>
          </a:xfrm>
          <a:prstGeom prst="line">
            <a:avLst/>
          </a:prstGeom>
          <a:noFill/>
          <a:ln w="31750">
            <a:solidFill>
              <a:srgbClr val="1B2A3A"/>
            </a:solidFill>
            <a:prstDash val="solid"/>
            <a:tailEnd type="triangle"/>
          </a:ln>
        </p:spPr>
      </p:sp>
      <p:sp>
        <p:nvSpPr>
          <p:cNvPr id="33" name="Text 31"/>
          <p:cNvSpPr txBox="1"/>
          <p:nvPr/>
        </p:nvSpPr>
        <p:spPr>
          <a:xfrm>
            <a:off x="1700784" y="672515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34" name="Shape 32"/>
          <p:cNvSpPr/>
          <p:nvPr/>
        </p:nvSpPr>
        <p:spPr>
          <a:xfrm>
            <a:off x="3566160" y="7474966"/>
            <a:ext cx="1600200" cy="676656"/>
          </a:xfrm>
          <a:prstGeom prst="roundRect">
            <a:avLst>
              <a:gd name="adj" fmla="val 16216"/>
            </a:avLst>
          </a:prstGeom>
          <a:solidFill>
            <a:srgbClr val="E6E1F7"/>
          </a:solidFill>
          <a:ln w="25400">
            <a:solidFill>
              <a:srgbClr val="5B46B8"/>
            </a:solidFill>
            <a:prstDash val="solid"/>
          </a:ln>
        </p:spPr>
      </p:sp>
      <p:sp>
        <p:nvSpPr>
          <p:cNvPr id="35" name="Text 33"/>
          <p:cNvSpPr txBox="1"/>
          <p:nvPr/>
        </p:nvSpPr>
        <p:spPr>
          <a:xfrm>
            <a:off x="3657600" y="747496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6" name="Shape 34"/>
          <p:cNvSpPr/>
          <p:nvPr/>
        </p:nvSpPr>
        <p:spPr>
          <a:xfrm flipH="1">
            <a:off x="1719072" y="7813294"/>
            <a:ext cx="1819656" cy="0"/>
          </a:xfrm>
          <a:prstGeom prst="line">
            <a:avLst/>
          </a:prstGeom>
          <a:noFill/>
          <a:ln w="31750">
            <a:solidFill>
              <a:srgbClr val="1B2A3A"/>
            </a:solidFill>
            <a:prstDash val="solid"/>
            <a:tailEnd type="triangle"/>
          </a:ln>
        </p:spPr>
      </p:sp>
      <p:sp>
        <p:nvSpPr>
          <p:cNvPr id="37" name="Text 35"/>
          <p:cNvSpPr txBox="1"/>
          <p:nvPr/>
        </p:nvSpPr>
        <p:spPr>
          <a:xfrm>
            <a:off x="1700784" y="751154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8" name="Shape 36"/>
          <p:cNvSpPr/>
          <p:nvPr/>
        </p:nvSpPr>
        <p:spPr>
          <a:xfrm>
            <a:off x="3566160" y="8261350"/>
            <a:ext cx="1600200" cy="676656"/>
          </a:xfrm>
          <a:prstGeom prst="roundRect">
            <a:avLst>
              <a:gd name="adj" fmla="val 16216"/>
            </a:avLst>
          </a:prstGeom>
          <a:solidFill>
            <a:srgbClr val="E2E8F0"/>
          </a:solidFill>
          <a:ln w="25400">
            <a:solidFill>
              <a:srgbClr val="475569"/>
            </a:solidFill>
            <a:prstDash val="solid"/>
          </a:ln>
        </p:spPr>
      </p:sp>
      <p:sp>
        <p:nvSpPr>
          <p:cNvPr id="39" name="Text 37"/>
          <p:cNvSpPr txBox="1"/>
          <p:nvPr/>
        </p:nvSpPr>
        <p:spPr>
          <a:xfrm>
            <a:off x="3657600" y="826135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0" name="Shape 38"/>
          <p:cNvSpPr/>
          <p:nvPr/>
        </p:nvSpPr>
        <p:spPr>
          <a:xfrm flipH="1">
            <a:off x="1719072" y="8599678"/>
            <a:ext cx="1819656" cy="0"/>
          </a:xfrm>
          <a:prstGeom prst="line">
            <a:avLst/>
          </a:prstGeom>
          <a:noFill/>
          <a:ln w="31750">
            <a:solidFill>
              <a:srgbClr val="1B2A3A"/>
            </a:solidFill>
            <a:prstDash val="solid"/>
            <a:tailEnd type="triangle"/>
          </a:ln>
        </p:spPr>
      </p:sp>
      <p:sp>
        <p:nvSpPr>
          <p:cNvPr id="41" name="Text 39"/>
          <p:cNvSpPr txBox="1"/>
          <p:nvPr/>
        </p:nvSpPr>
        <p:spPr>
          <a:xfrm>
            <a:off x="1700784" y="829792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2" name="Shape 40"/>
          <p:cNvSpPr/>
          <p:nvPr/>
        </p:nvSpPr>
        <p:spPr>
          <a:xfrm>
            <a:off x="3566160" y="9047734"/>
            <a:ext cx="1600200" cy="676656"/>
          </a:xfrm>
          <a:prstGeom prst="roundRect">
            <a:avLst>
              <a:gd name="adj" fmla="val 16216"/>
            </a:avLst>
          </a:prstGeom>
          <a:solidFill>
            <a:srgbClr val="DFF1FB"/>
          </a:solidFill>
          <a:ln w="25400">
            <a:solidFill>
              <a:srgbClr val="0369A1"/>
            </a:solidFill>
            <a:prstDash val="solid"/>
          </a:ln>
        </p:spPr>
      </p:sp>
      <p:sp>
        <p:nvSpPr>
          <p:cNvPr id="43" name="Text 41"/>
          <p:cNvSpPr txBox="1"/>
          <p:nvPr/>
        </p:nvSpPr>
        <p:spPr>
          <a:xfrm>
            <a:off x="3657600" y="904773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4" name="Shape 42"/>
          <p:cNvSpPr/>
          <p:nvPr/>
        </p:nvSpPr>
        <p:spPr>
          <a:xfrm>
            <a:off x="1719072" y="9386062"/>
            <a:ext cx="1819656" cy="0"/>
          </a:xfrm>
          <a:prstGeom prst="line">
            <a:avLst/>
          </a:prstGeom>
          <a:noFill/>
          <a:ln w="31750">
            <a:solidFill>
              <a:srgbClr val="1B2A3A"/>
            </a:solidFill>
            <a:prstDash val="solid"/>
            <a:tailEnd type="triangle"/>
          </a:ln>
        </p:spPr>
      </p:sp>
      <p:sp>
        <p:nvSpPr>
          <p:cNvPr id="45" name="Text 43"/>
          <p:cNvSpPr txBox="1"/>
          <p:nvPr/>
        </p:nvSpPr>
        <p:spPr>
          <a:xfrm>
            <a:off x="1700784" y="908431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置かれる</a:t>
            </a:r>
            <a:endParaRPr lang="en-US" sz="1500" dirty="0"/>
          </a:p>
        </p:txBody>
      </p:sp>
      <p:sp>
        <p:nvSpPr>
          <p:cNvPr id="46" name="Text 4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サーバーとクライアント</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読み：サーバー（server）・クライアント（client）</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サーバーは、ほかのコンピューターからの要求（リクエスト）を受け、情報や機能を返す側です。クライアントは、要求を出して利用する側です。どちらも「役割」の呼び名です。</a:t>
            </a:r>
            <a:endParaRPr lang="en-US" sz="2000" dirty="0"/>
          </a:p>
        </p:txBody>
      </p:sp>
      <p:sp>
        <p:nvSpPr>
          <p:cNvPr id="7" name="Shape 5"/>
          <p:cNvSpPr/>
          <p:nvPr/>
        </p:nvSpPr>
        <p:spPr>
          <a:xfrm>
            <a:off x="320040" y="4844034"/>
            <a:ext cx="4846320" cy="2296160"/>
          </a:xfrm>
          <a:prstGeom prst="roundRect">
            <a:avLst>
              <a:gd name="adj" fmla="val 5575"/>
            </a:avLst>
          </a:prstGeom>
          <a:solidFill>
            <a:srgbClr val="E2E8F0"/>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ebサイトを見るとき、あなたのスマホやPCのブラウザーがクライアントで、サイトのデータを持つコンピューターがサーバーです。両者はネットワークでつながり、要求と返事（レスポンス）をやりとりします。</a:t>
            </a:r>
            <a:endParaRPr lang="en-US" sz="2000" dirty="0"/>
          </a:p>
        </p:txBody>
      </p:sp>
      <p:sp>
        <p:nvSpPr>
          <p:cNvPr id="9" name="Shape 7"/>
          <p:cNvSpPr/>
          <p:nvPr/>
        </p:nvSpPr>
        <p:spPr>
          <a:xfrm>
            <a:off x="320040" y="7213346"/>
            <a:ext cx="4846320" cy="2631440"/>
          </a:xfrm>
          <a:prstGeom prst="roundRect">
            <a:avLst>
              <a:gd name="adj" fmla="val 4865"/>
            </a:avLst>
          </a:prstGeom>
          <a:solidFill>
            <a:srgbClr val="E2E8F0"/>
          </a:solidFill>
          <a:ln/>
        </p:spPr>
      </p:sp>
      <p:sp>
        <p:nvSpPr>
          <p:cNvPr id="10" name="Text 8"/>
          <p:cNvSpPr txBox="1"/>
          <p:nvPr/>
        </p:nvSpPr>
        <p:spPr>
          <a:xfrm>
            <a:off x="502920" y="730478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サーバー」は、サーバー用の機械（ハードウェア）を指すことも、サーバーとして働くソフト（Webサーバーなど）を指すこともあります。1台のコンピューターが、サーバーとクライアントの両方を兼ねるこ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サーバーとクライアント</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レストランのお客さんと店。お客さん（クライアント）が注文（リクエスト）すると、厨房のある店（サーバー）が料理（レスポンス）を出します。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YouTubeを開く、LINEでメッセージを送る、学校の成績システムにログインする。どれも、スマホやPC（クライアント）が、どこかのサーバーに要求を送っています。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サーバーは「特別な機械」と決まっているわけではありません。ふつうのパソコンでも、サーバー用のソフトを動かせばサーバーになります。立場しだいで、1台が両方の役にもなります。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サーバーとクライアント</a:t>
            </a:r>
            <a:endParaRPr lang="ja-JP" sz="2200" dirty="0"/>
          </a:p>
        </p:txBody>
      </p:sp>
      <p:sp>
        <p:nvSpPr>
          <p:cNvPr id="4" name="Shape 2"/>
          <p:cNvSpPr/>
          <p:nvPr/>
        </p:nvSpPr>
        <p:spPr>
          <a:xfrm>
            <a:off x="320040" y="1318514"/>
            <a:ext cx="4846320" cy="2270760"/>
          </a:xfrm>
          <a:prstGeom prst="roundRect">
            <a:avLst>
              <a:gd name="adj" fmla="val 5638"/>
            </a:avLst>
          </a:prstGeom>
          <a:solidFill>
            <a:srgbClr val="DDF1E4"/>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Webサイトを開く場面で、自分のブラウザーがクライアント、データを返すのがサーバーだと図に描いて説明してみましょう。矢印の向き（要求と返事）も書きます。</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ネットワーク</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コンピューターどうしをつないで、データをやりとりできるようにする仕組み。</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2" name="Shape 20"/>
          <p:cNvSpPr/>
          <p:nvPr/>
        </p:nvSpPr>
        <p:spPr>
          <a:xfrm>
            <a:off x="320040" y="4234942"/>
            <a:ext cx="4846320" cy="1264920"/>
          </a:xfrm>
          <a:prstGeom prst="roundRect">
            <a:avLst>
              <a:gd name="adj" fmla="val 10120"/>
            </a:avLst>
          </a:prstGeom>
          <a:solidFill>
            <a:srgbClr val="FDEBD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機械の外側。コンピューターどうしをつなぐ道（ケーブル・Wi-Fi・ルーター）。</a:t>
            </a:r>
            <a:endParaRPr lang="en-US" sz="2000" dirty="0"/>
          </a:p>
        </p:txBody>
      </p:sp>
      <p:sp>
        <p:nvSpPr>
          <p:cNvPr id="24" name="Shape 22"/>
          <p:cNvSpPr/>
          <p:nvPr/>
        </p:nvSpPr>
        <p:spPr>
          <a:xfrm>
            <a:off x="320040" y="5682742"/>
            <a:ext cx="4846320" cy="402336"/>
          </a:xfrm>
          <a:prstGeom prst="roundRect">
            <a:avLst>
              <a:gd name="adj" fmla="val 22727"/>
            </a:avLst>
          </a:prstGeom>
          <a:solidFill>
            <a:srgbClr val="B4530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B45309"/>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ネットワーク</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8" name="Shape 26"/>
          <p:cNvSpPr/>
          <p:nvPr/>
        </p:nvSpPr>
        <p:spPr>
          <a:xfrm>
            <a:off x="3566160" y="6139942"/>
            <a:ext cx="1600200" cy="676656"/>
          </a:xfrm>
          <a:prstGeom prst="roundRect">
            <a:avLst>
              <a:gd name="adj" fmla="val 16216"/>
            </a:avLst>
          </a:prstGeom>
          <a:solidFill>
            <a:srgbClr val="FDEBD0"/>
          </a:solidFill>
          <a:ln w="25400">
            <a:solidFill>
              <a:srgbClr val="B4530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0" name="Shape 28"/>
          <p:cNvSpPr/>
          <p:nvPr/>
        </p:nvSpPr>
        <p:spPr>
          <a:xfrm flipH="1">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最大の例</a:t>
            </a:r>
            <a:endParaRPr lang="en-US" sz="1500" dirty="0"/>
          </a:p>
        </p:txBody>
      </p:sp>
      <p:sp>
        <p:nvSpPr>
          <p:cNvPr id="32" name="Shape 30"/>
          <p:cNvSpPr/>
          <p:nvPr/>
        </p:nvSpPr>
        <p:spPr>
          <a:xfrm>
            <a:off x="3566160" y="6926326"/>
            <a:ext cx="1600200" cy="676656"/>
          </a:xfrm>
          <a:prstGeom prst="roundRect">
            <a:avLst>
              <a:gd name="adj" fmla="val 16216"/>
            </a:avLst>
          </a:prstGeom>
          <a:solidFill>
            <a:srgbClr val="FDEBD0"/>
          </a:solidFill>
          <a:ln w="25400">
            <a:solidFill>
              <a:srgbClr val="B4530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4" name="Shape 32"/>
          <p:cNvSpPr/>
          <p:nvPr/>
        </p:nvSpPr>
        <p:spPr>
          <a:xfrm flipH="1">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線でつなぐ</a:t>
            </a:r>
            <a:endParaRPr lang="en-US" sz="1500" dirty="0"/>
          </a:p>
        </p:txBody>
      </p:sp>
      <p:sp>
        <p:nvSpPr>
          <p:cNvPr id="36" name="Shape 34"/>
          <p:cNvSpPr/>
          <p:nvPr/>
        </p:nvSpPr>
        <p:spPr>
          <a:xfrm>
            <a:off x="3566160" y="7712710"/>
            <a:ext cx="1600200" cy="676656"/>
          </a:xfrm>
          <a:prstGeom prst="roundRect">
            <a:avLst>
              <a:gd name="adj" fmla="val 16216"/>
            </a:avLst>
          </a:prstGeom>
          <a:solidFill>
            <a:srgbClr val="FDEBD0"/>
          </a:solidFill>
          <a:ln w="25400">
            <a:solidFill>
              <a:srgbClr val="B4530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電波でつなぐ</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中継する</a:t>
            </a:r>
            <a:endParaRPr lang="en-US" sz="1500" dirty="0"/>
          </a:p>
        </p:txBody>
      </p:sp>
      <p:sp>
        <p:nvSpPr>
          <p:cNvPr id="44" name="Shape 42"/>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46" name="Shape 44"/>
          <p:cNvSpPr/>
          <p:nvPr/>
        </p:nvSpPr>
        <p:spPr>
          <a:xfrm>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ネットワーク</a:t>
            </a:r>
            <a:endParaRPr lang="ja-JP" sz="2200" dirty="0"/>
          </a:p>
        </p:txBody>
      </p:sp>
      <p:sp>
        <p:nvSpPr>
          <p:cNvPr id="4" name="Shape 2"/>
          <p:cNvSpPr/>
          <p:nvPr/>
        </p:nvSpPr>
        <p:spPr>
          <a:xfrm>
            <a:off x="320040" y="1318514"/>
            <a:ext cx="4846320" cy="3787648"/>
          </a:xfrm>
          <a:prstGeom prst="roundRect">
            <a:avLst>
              <a:gd name="adj" fmla="val 3380"/>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読み：ネットワーク（network）・通信網</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ネットワークは、複数のコンピューターや機器をケーブルや電波でつなぎ、データを送り合えるようにした仕組みです。学校や会社の中だけをつなぐものはLAN（ラン）、離れた場所どうしをつなぐものはWAN（ワン）と呼びます。</a:t>
            </a:r>
            <a:endParaRPr lang="en-US" sz="2000" dirty="0"/>
          </a:p>
        </p:txBody>
      </p:sp>
      <p:sp>
        <p:nvSpPr>
          <p:cNvPr id="7" name="Shape 5"/>
          <p:cNvSpPr/>
          <p:nvPr/>
        </p:nvSpPr>
        <p:spPr>
          <a:xfrm>
            <a:off x="320040" y="5179314"/>
            <a:ext cx="4846320" cy="1960880"/>
          </a:xfrm>
          <a:prstGeom prst="roundRect">
            <a:avLst>
              <a:gd name="adj" fmla="val 6528"/>
            </a:avLst>
          </a:prstGeom>
          <a:solidFill>
            <a:srgbClr val="FDEBD0"/>
          </a:solidFill>
          <a:ln/>
        </p:spPr>
      </p:sp>
      <p:sp>
        <p:nvSpPr>
          <p:cNvPr id="8" name="Text 6"/>
          <p:cNvSpPr txBox="1"/>
          <p:nvPr/>
        </p:nvSpPr>
        <p:spPr>
          <a:xfrm>
            <a:off x="502920" y="5270754"/>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機器どうしの通信には、共通の約束（プロトコル）があります。データは小さな単位（パケット）に分けて送られ、ルーターなどの機器が行き先を見て中継します。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DEBD0"/>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ネットワークは、コンピューターの「外」の話です。ハードウェアやOSが「機械の中身」なら、ネットワークは機械どうしをつなぐ「道路」です。サーバーとクライアントも、ネットワークがあって成り立ち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ネットワーク</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町の道路網。家（コンピューター）どうしを道路（ケーブル・電波）でつなぎ、荷物（パケット）を運びます。交差点で行き先を案内するのがルーターです。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家のWi-Fiにスマホをつなぐ、学校のPCで共有プリンターを使う、会社のPCから社内のサーバーにつなぐ。どれもネットワークを使っています。</a:t>
            </a:r>
            <a:endParaRPr lang="en-US" sz="2000" dirty="0"/>
          </a:p>
        </p:txBody>
      </p:sp>
      <p:sp>
        <p:nvSpPr>
          <p:cNvPr id="8" name="Shape 6"/>
          <p:cNvSpPr/>
          <p:nvPr/>
        </p:nvSpPr>
        <p:spPr>
          <a:xfrm>
            <a:off x="320040" y="5555234"/>
            <a:ext cx="4846320" cy="2606040"/>
          </a:xfrm>
          <a:prstGeom prst="roundRect">
            <a:avLst>
              <a:gd name="adj" fmla="val 4912"/>
            </a:avLst>
          </a:prstGeom>
          <a:solidFill>
            <a:srgbClr val="FBE3E0"/>
          </a:solidFill>
          <a:ln/>
        </p:spPr>
      </p:sp>
      <p:sp>
        <p:nvSpPr>
          <p:cNvPr id="9" name="Text 7"/>
          <p:cNvSpPr txBox="1"/>
          <p:nvPr/>
        </p:nvSpPr>
        <p:spPr>
          <a:xfrm>
            <a:off x="502920" y="5646674"/>
            <a:ext cx="4480560" cy="24597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ネットワーク」と「インターネット」は同じではありません。学校内のLANのように、インターネットにつながらないネットワークもあります。インターネットは、無数のネットワークをつないだ世界規模のもので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PCのコマンドプロンプトで ipconfig と打ち、自分のIPアドレス（ネットワーク上の住所）を確認してみましょう。家のWi-Fiにつながっていれば表示されます。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インターネット</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世界中のネットワークをつないだ、世界規模のネットワーク。</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2" name="Shape 20"/>
          <p:cNvSpPr/>
          <p:nvPr/>
        </p:nvSpPr>
        <p:spPr>
          <a:xfrm>
            <a:off x="320040" y="4234942"/>
            <a:ext cx="4846320" cy="1264920"/>
          </a:xfrm>
          <a:prstGeom prst="roundRect">
            <a:avLst>
              <a:gd name="adj" fmla="val 10120"/>
            </a:avLst>
          </a:prstGeom>
          <a:solidFill>
            <a:srgbClr val="FDEBD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機械の外側。世界中のネットワークがつながった、大きな通信の道。</a:t>
            </a:r>
            <a:endParaRPr lang="en-US" sz="2000" dirty="0"/>
          </a:p>
        </p:txBody>
      </p:sp>
      <p:sp>
        <p:nvSpPr>
          <p:cNvPr id="24" name="Shape 22"/>
          <p:cNvSpPr/>
          <p:nvPr/>
        </p:nvSpPr>
        <p:spPr>
          <a:xfrm>
            <a:off x="320040" y="5682742"/>
            <a:ext cx="4846320" cy="402336"/>
          </a:xfrm>
          <a:prstGeom prst="roundRect">
            <a:avLst>
              <a:gd name="adj" fmla="val 22727"/>
            </a:avLst>
          </a:prstGeom>
          <a:solidFill>
            <a:srgbClr val="B4530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B45309"/>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インターネット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8" name="Shape 26"/>
          <p:cNvSpPr/>
          <p:nvPr/>
        </p:nvSpPr>
        <p:spPr>
          <a:xfrm>
            <a:off x="3566160" y="6139942"/>
            <a:ext cx="1600200" cy="676656"/>
          </a:xfrm>
          <a:prstGeom prst="roundRect">
            <a:avLst>
              <a:gd name="adj" fmla="val 16216"/>
            </a:avLst>
          </a:prstGeom>
          <a:solidFill>
            <a:srgbClr val="FDEBD0"/>
          </a:solidFill>
          <a:ln w="25400">
            <a:solidFill>
              <a:srgbClr val="B4530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最大の例</a:t>
            </a:r>
            <a:endParaRPr lang="en-US" sz="1500" dirty="0"/>
          </a:p>
        </p:txBody>
      </p:sp>
      <p:sp>
        <p:nvSpPr>
          <p:cNvPr id="32" name="Shape 30"/>
          <p:cNvSpPr/>
          <p:nvPr/>
        </p:nvSpPr>
        <p:spPr>
          <a:xfrm>
            <a:off x="3566160" y="6926326"/>
            <a:ext cx="1600200" cy="676656"/>
          </a:xfrm>
          <a:prstGeom prst="roundRect">
            <a:avLst>
              <a:gd name="adj" fmla="val 16216"/>
            </a:avLst>
          </a:prstGeom>
          <a:solidFill>
            <a:srgbClr val="FDEBD0"/>
          </a:solidFill>
          <a:ln w="25400">
            <a:solidFill>
              <a:srgbClr val="B4530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光回線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4" name="Shape 32"/>
          <p:cNvSpPr/>
          <p:nvPr/>
        </p:nvSpPr>
        <p:spPr>
          <a:xfrm flipH="1">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0" name="Shape 38"/>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経由する</a:t>
            </a:r>
            <a:endParaRPr lang="en-US" sz="1500" dirty="0"/>
          </a:p>
        </p:txBody>
      </p:sp>
      <p:sp>
        <p:nvSpPr>
          <p:cNvPr id="44" name="Shape 42"/>
          <p:cNvSpPr/>
          <p:nvPr/>
        </p:nvSpPr>
        <p:spPr>
          <a:xfrm>
            <a:off x="3566160" y="9285478"/>
            <a:ext cx="1600200" cy="676656"/>
          </a:xfrm>
          <a:prstGeom prst="roundRect">
            <a:avLst>
              <a:gd name="adj" fmla="val 16216"/>
            </a:avLst>
          </a:prstGeom>
          <a:solidFill>
            <a:srgbClr val="E6E1F7"/>
          </a:solidFill>
          <a:ln w="25400">
            <a:solidFill>
              <a:srgbClr val="5B46B8"/>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6" name="Shape 44"/>
          <p:cNvSpPr/>
          <p:nvPr/>
        </p:nvSpPr>
        <p:spPr>
          <a:xfrm flipH="1">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公開する</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インターネット</a:t>
            </a:r>
            <a:endParaRPr lang="ja-JP" sz="2200" dirty="0"/>
          </a:p>
        </p:txBody>
      </p:sp>
      <p:sp>
        <p:nvSpPr>
          <p:cNvPr id="4" name="Shape 2"/>
          <p:cNvSpPr/>
          <p:nvPr/>
        </p:nvSpPr>
        <p:spPr>
          <a:xfrm>
            <a:off x="320040" y="1318514"/>
            <a:ext cx="4846320" cy="3452368"/>
          </a:xfrm>
          <a:prstGeom prst="roundRect">
            <a:avLst>
              <a:gd name="adj" fmla="val 3708"/>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読み：インターネット（Internet）</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は、世界中の無数のネットワーク（家庭、学校、会社、通信会社など）を相互につないだ、世界規模のネットワークです。1社が運営しているのではなく、多数の組織のネットワークが共通のルールでつながってい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FDEBD0"/>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つながるための共通ルールがIP（アイピー）です。機器にはIPアドレスという住所が付き、小分けのデータ（パケット）が中継されて届きます。Webサイトの閲覧には、HTTP（ブラウザーとWebサーバーの会話のルール）が使われます。</a:t>
            </a:r>
            <a:endParaRPr lang="en-US" sz="2000" dirty="0"/>
          </a:p>
        </p:txBody>
      </p:sp>
      <p:sp>
        <p:nvSpPr>
          <p:cNvPr id="9" name="Shape 7"/>
          <p:cNvSpPr/>
          <p:nvPr/>
        </p:nvSpPr>
        <p:spPr>
          <a:xfrm>
            <a:off x="320040" y="7548626"/>
            <a:ext cx="4846320" cy="2631440"/>
          </a:xfrm>
          <a:prstGeom prst="roundRect">
            <a:avLst>
              <a:gd name="adj" fmla="val 4865"/>
            </a:avLst>
          </a:prstGeom>
          <a:solidFill>
            <a:srgbClr val="FDEBD0"/>
          </a:solidFill>
          <a:ln/>
        </p:spPr>
      </p:sp>
      <p:sp>
        <p:nvSpPr>
          <p:cNvPr id="10" name="Text 8"/>
          <p:cNvSpPr txBox="1"/>
          <p:nvPr/>
        </p:nvSpPr>
        <p:spPr>
          <a:xfrm>
            <a:off x="502920" y="764006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家庭では、光回線などでISP（インターネット・サービス・プロバイダー。接続を提供する会社）につなぎ、そこからインターネットへ出ます。WebやメールなどのサービスはIPの上で動くもので、インターネットそのものではありません。</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インターネット</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市町村の道路がつながって全国の道路網になるように、小さなネットワークがつながって世界中に届く道になったもの。住所（IPアドレス）を頼りに荷物が届きます。</a:t>
            </a:r>
            <a:endParaRPr lang="en-US" sz="2000" dirty="0"/>
          </a:p>
        </p:txBody>
      </p:sp>
      <p:sp>
        <p:nvSpPr>
          <p:cNvPr id="6" name="Shape 4"/>
          <p:cNvSpPr/>
          <p:nvPr/>
        </p:nvSpPr>
        <p:spPr>
          <a:xfrm>
            <a:off x="320040" y="3772154"/>
            <a:ext cx="4846320" cy="2270760"/>
          </a:xfrm>
          <a:prstGeom prst="roundRect">
            <a:avLst>
              <a:gd name="adj" fmla="val 5638"/>
            </a:avLst>
          </a:prstGeom>
          <a:solidFill>
            <a:srgbClr val="DCE8F8"/>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YouTubeの動画を見る、友だちとオンラインゲームをする、LINEで連絡する。家のWi-Fiからインターネットに出て、世界のどこかのサーバーとやりとりしています。</a:t>
            </a:r>
            <a:endParaRPr lang="en-US" sz="2000" dirty="0"/>
          </a:p>
        </p:txBody>
      </p:sp>
      <p:sp>
        <p:nvSpPr>
          <p:cNvPr id="8" name="Shape 6"/>
          <p:cNvSpPr/>
          <p:nvPr/>
        </p:nvSpPr>
        <p:spPr>
          <a:xfrm>
            <a:off x="320040" y="6225794"/>
            <a:ext cx="4846320" cy="2606040"/>
          </a:xfrm>
          <a:prstGeom prst="roundRect">
            <a:avLst>
              <a:gd name="adj" fmla="val 4912"/>
            </a:avLst>
          </a:prstGeom>
          <a:solidFill>
            <a:srgbClr val="FBE3E0"/>
          </a:solidFill>
          <a:ln/>
        </p:spPr>
      </p:sp>
      <p:sp>
        <p:nvSpPr>
          <p:cNvPr id="9" name="Text 7"/>
          <p:cNvSpPr txBox="1"/>
          <p:nvPr/>
        </p:nvSpPr>
        <p:spPr>
          <a:xfrm>
            <a:off x="502920" y="6317234"/>
            <a:ext cx="4480560" cy="24597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「インターネット」と「Web（ウェブ）」は別物です。Webは、HTTPで見るWebサイトの仕組みで、インターネット上のサービスの1つです。メールやオンラインゲームも、インターネットを使っています。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インターネット</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家のWi-Fiを切り、モバイル通信で同じWebサイトを開いてみましょう。つなぎ方が違っても、同じインターネットにつながっていることが確かめられます。</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サーバー室とデータセンター</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サーバーを置く場所。自社の部屋か、事業者の専用施設かで意味が変わる。</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0369A1"/>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2" name="Shape 20"/>
          <p:cNvSpPr/>
          <p:nvPr/>
        </p:nvSpPr>
        <p:spPr>
          <a:xfrm>
            <a:off x="320040" y="4234942"/>
            <a:ext cx="4846320" cy="1264920"/>
          </a:xfrm>
          <a:prstGeom prst="roundRect">
            <a:avLst>
              <a:gd name="adj" fmla="val 10120"/>
            </a:avLst>
          </a:prstGeom>
          <a:solidFill>
            <a:srgbClr val="DFF1FB"/>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サーバーを置く場所の話。自社のサーバー室か、事業者のデータセンターか。</a:t>
            </a:r>
            <a:endParaRPr lang="en-US" sz="2000" dirty="0"/>
          </a:p>
        </p:txBody>
      </p:sp>
      <p:sp>
        <p:nvSpPr>
          <p:cNvPr id="24" name="Shape 22"/>
          <p:cNvSpPr/>
          <p:nvPr/>
        </p:nvSpPr>
        <p:spPr>
          <a:xfrm>
            <a:off x="320040" y="5682742"/>
            <a:ext cx="4846320" cy="402336"/>
          </a:xfrm>
          <a:prstGeom prst="roundRect">
            <a:avLst>
              <a:gd name="adj" fmla="val 22727"/>
            </a:avLst>
          </a:prstGeom>
          <a:solidFill>
            <a:srgbClr val="0369A1"/>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0369A1"/>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データセンター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収容する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DFF1FB"/>
          </a:solidFill>
          <a:ln w="25400">
            <a:solidFill>
              <a:srgbClr val="0369A1"/>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実体になる</a:t>
            </a:r>
            <a:endParaRPr lang="en-US" sz="1500" dirty="0"/>
          </a:p>
        </p:txBody>
      </p:sp>
      <p:sp>
        <p:nvSpPr>
          <p:cNvPr id="36" name="Shape 34"/>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置き場所になる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FDEBD0"/>
          </a:solidFill>
          <a:ln w="25400">
            <a:solidFill>
              <a:srgbClr val="B4530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サーバー室とデータセンター</a:t>
            </a:r>
            <a:endParaRPr lang="ja-JP" sz="2200" dirty="0"/>
          </a:p>
        </p:txBody>
      </p:sp>
      <p:sp>
        <p:nvSpPr>
          <p:cNvPr id="4" name="Shape 2"/>
          <p:cNvSpPr/>
          <p:nvPr/>
        </p:nvSpPr>
        <p:spPr>
          <a:xfrm>
            <a:off x="320040" y="1318514"/>
            <a:ext cx="4846320" cy="3452368"/>
          </a:xfrm>
          <a:prstGeom prst="roundRect">
            <a:avLst>
              <a:gd name="adj" fmla="val 3708"/>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読み：サーバー室（オンプレミス）・データセンター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サーバーなどのハードウェアは、どこかに置かなければなりません。会社や学校の建物の中の「サーバー室」に、自分たちで置いて管理するやり方を、オンプレミス（on-premises。自社設備）と呼びます。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DFF1FB"/>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ータセンターは、サーバーを大量に置くための専用の建物です。止まりにくい電源、熱を逃がす空調、入退室の管理、通信回線が整っています。自社のサーバーを預けるデータセンターも、クラウド事業者が自分で運営するものもあり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DFF1FB"/>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クラウドは、事業者のデータセンターにある機械を、インターネット経由で借りて使うものです。自社のサーバー室では、機械の購入・設置・保守を自分でやりますが、クラウドではそれを事業者が引き受け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サーバー室とデータセンター</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学校の教室の隅にロッカーを置く（サーバー室）か、駅前の巨大なコインロッカー施設を借りる（データセンター）かの違い。大きな施設は警備・電源・空調が整っています。</a:t>
            </a:r>
            <a:endParaRPr lang="en-US" sz="2000" dirty="0"/>
          </a:p>
        </p:txBody>
      </p:sp>
      <p:sp>
        <p:nvSpPr>
          <p:cNvPr id="6" name="Shape 4"/>
          <p:cNvSpPr/>
          <p:nvPr/>
        </p:nvSpPr>
        <p:spPr>
          <a:xfrm>
            <a:off x="320040" y="3772154"/>
            <a:ext cx="4846320" cy="2270760"/>
          </a:xfrm>
          <a:prstGeom prst="roundRect">
            <a:avLst>
              <a:gd name="adj" fmla="val 5638"/>
            </a:avLst>
          </a:prstGeom>
          <a:solidFill>
            <a:srgbClr val="DCE8F8"/>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学校のサーバー室を管理する先生、システム障害のニュースで「データセンターの設備トラブル」と報じられる、AWSなどのクラウドを使う、といった場面で出てきます。</a:t>
            </a:r>
            <a:endParaRPr lang="en-US" sz="2000" dirty="0"/>
          </a:p>
        </p:txBody>
      </p:sp>
      <p:sp>
        <p:nvSpPr>
          <p:cNvPr id="8" name="Shape 6"/>
          <p:cNvSpPr/>
          <p:nvPr/>
        </p:nvSpPr>
        <p:spPr>
          <a:xfrm>
            <a:off x="320040" y="6225794"/>
            <a:ext cx="4846320" cy="2270760"/>
          </a:xfrm>
          <a:prstGeom prst="roundRect">
            <a:avLst>
              <a:gd name="adj" fmla="val 5638"/>
            </a:avLst>
          </a:prstGeom>
          <a:solidFill>
            <a:srgbClr val="FBE3E0"/>
          </a:solidFill>
          <a:ln/>
        </p:spPr>
      </p:sp>
      <p:sp>
        <p:nvSpPr>
          <p:cNvPr id="9" name="Text 7"/>
          <p:cNvSpPr txBox="1"/>
          <p:nvPr/>
        </p:nvSpPr>
        <p:spPr>
          <a:xfrm>
            <a:off x="502920" y="631723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クラウドに実体の機械がないわけではありません。クラウドの実体も、どこかのデータセンターにある本物のサーバーです。見えない、遠くにあるだけで、物理的な機械が動いています。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サーバー室とデータセンター</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AWSの「リージョン」（東京など、データセンターが集まる地域）の一覧を調べ、クラウドの機械が世界のどこにあるのか、地図で確認してみましょう。</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ミドルウェア</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OSとアプリの間に入り、アプリが共通して使う機能を提供する土台のソフト。</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5B46B8"/>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2" name="Shape 20"/>
          <p:cNvSpPr/>
          <p:nvPr/>
        </p:nvSpPr>
        <p:spPr>
          <a:xfrm>
            <a:off x="320040" y="4234942"/>
            <a:ext cx="4846320" cy="1264920"/>
          </a:xfrm>
          <a:prstGeom prst="roundRect">
            <a:avLst>
              <a:gd name="adj" fmla="val 10120"/>
            </a:avLst>
          </a:prstGeom>
          <a:solidFill>
            <a:srgbClr val="E6E1F7"/>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サーバーの中で動く、OSとアプリの間のソフト。利用者には見えない裏方。</a:t>
            </a:r>
            <a:endParaRPr lang="en-US" sz="2000" dirty="0"/>
          </a:p>
        </p:txBody>
      </p:sp>
      <p:sp>
        <p:nvSpPr>
          <p:cNvPr id="24" name="Shape 22"/>
          <p:cNvSpPr/>
          <p:nvPr/>
        </p:nvSpPr>
        <p:spPr>
          <a:xfrm>
            <a:off x="320040" y="5682742"/>
            <a:ext cx="4846320" cy="402336"/>
          </a:xfrm>
          <a:prstGeom prst="roundRect">
            <a:avLst>
              <a:gd name="adj" fmla="val 22727"/>
            </a:avLst>
          </a:prstGeom>
          <a:solidFill>
            <a:srgbClr val="5B46B8"/>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5B46B8"/>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ミドルウェア</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DCE8F8"/>
          </a:solidFill>
          <a:ln w="25400">
            <a:solidFill>
              <a:srgbClr val="2F6BC2"/>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0" name="Shape 28"/>
          <p:cNvSpPr/>
          <p:nvPr/>
        </p:nvSpPr>
        <p:spPr>
          <a:xfrm flipH="1">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4" name="Shape 32"/>
          <p:cNvSpPr/>
          <p:nvPr/>
        </p:nvSpPr>
        <p:spPr>
          <a:xfrm flipH="1">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6" name="Shape 34"/>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0" name="Shape 38"/>
          <p:cNvSpPr/>
          <p:nvPr/>
        </p:nvSpPr>
        <p:spPr>
          <a:xfrm>
            <a:off x="3566160" y="8499094"/>
            <a:ext cx="1600200" cy="676656"/>
          </a:xfrm>
          <a:prstGeom prst="roundRect">
            <a:avLst>
              <a:gd name="adj" fmla="val 16216"/>
            </a:avLst>
          </a:prstGeom>
          <a:solidFill>
            <a:srgbClr val="E6E1F7"/>
          </a:solidFill>
          <a:ln w="25400">
            <a:solidFill>
              <a:srgbClr val="5B46B8"/>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4" name="Shape 42"/>
          <p:cNvSpPr/>
          <p:nvPr/>
        </p:nvSpPr>
        <p:spPr>
          <a:xfrm>
            <a:off x="3566160" y="9285478"/>
            <a:ext cx="1600200" cy="676656"/>
          </a:xfrm>
          <a:prstGeom prst="roundRect">
            <a:avLst>
              <a:gd name="adj" fmla="val 16216"/>
            </a:avLst>
          </a:prstGeom>
          <a:solidFill>
            <a:srgbClr val="DCE8F8"/>
          </a:solidFill>
          <a:ln w="25400">
            <a:solidFill>
              <a:srgbClr val="2F6BC2"/>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6" name="Shape 44"/>
          <p:cNvSpPr/>
          <p:nvPr/>
        </p:nvSpPr>
        <p:spPr>
          <a:xfrm>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アプリを支える</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ミドルウェア</a:t>
            </a:r>
            <a:endParaRPr lang="ja-JP" sz="2200" dirty="0"/>
          </a:p>
        </p:txBody>
      </p:sp>
      <p:sp>
        <p:nvSpPr>
          <p:cNvPr id="4" name="Shape 2"/>
          <p:cNvSpPr/>
          <p:nvPr/>
        </p:nvSpPr>
        <p:spPr>
          <a:xfrm>
            <a:off x="320040" y="1318514"/>
            <a:ext cx="4846320" cy="3787648"/>
          </a:xfrm>
          <a:prstGeom prst="roundRect">
            <a:avLst>
              <a:gd name="adj" fmla="val 3380"/>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読み：ミドルウェア（middleware）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ミドルウェアは、OS（基本ソフト）と、利用者が使うアプリの「中間（ミドル）」で働くソフトです。データの保存・検索、Webページの配信、アプリの実行など、多くのアプリが共通で必要とする機能を引き受けます。</a:t>
            </a:r>
            <a:endParaRPr lang="en-US" sz="2000" dirty="0"/>
          </a:p>
        </p:txBody>
      </p:sp>
      <p:sp>
        <p:nvSpPr>
          <p:cNvPr id="7" name="Shape 5"/>
          <p:cNvSpPr/>
          <p:nvPr/>
        </p:nvSpPr>
        <p:spPr>
          <a:xfrm>
            <a:off x="320040" y="5179314"/>
            <a:ext cx="4846320" cy="2631440"/>
          </a:xfrm>
          <a:prstGeom prst="roundRect">
            <a:avLst>
              <a:gd name="adj" fmla="val 4865"/>
            </a:avLst>
          </a:prstGeom>
          <a:solidFill>
            <a:srgbClr val="E6E1F7"/>
          </a:solidFill>
          <a:ln/>
        </p:spPr>
      </p:sp>
      <p:sp>
        <p:nvSpPr>
          <p:cNvPr id="8" name="Text 6"/>
          <p:cNvSpPr txBox="1"/>
          <p:nvPr/>
        </p:nvSpPr>
        <p:spPr>
          <a:xfrm>
            <a:off x="502920" y="52707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代表例は、データベース（データを整理して保存・検索するソフト）、Webサーバー（ブラウザーにページを返すソフト）、アプリケーションサーバー（業務アプリを動かす土台）です。このあとの章で詳しく出てきます。</a:t>
            </a:r>
            <a:endParaRPr lang="en-US" sz="2000" dirty="0"/>
          </a:p>
        </p:txBody>
      </p:sp>
      <p:sp>
        <p:nvSpPr>
          <p:cNvPr id="9" name="Shape 7"/>
          <p:cNvSpPr/>
          <p:nvPr/>
        </p:nvSpPr>
        <p:spPr>
          <a:xfrm>
            <a:off x="320040" y="7883906"/>
            <a:ext cx="4846320" cy="2296160"/>
          </a:xfrm>
          <a:prstGeom prst="roundRect">
            <a:avLst>
              <a:gd name="adj" fmla="val 5575"/>
            </a:avLst>
          </a:prstGeom>
          <a:solidFill>
            <a:srgbClr val="E6E1F7"/>
          </a:solidFill>
          <a:ln/>
        </p:spPr>
      </p:sp>
      <p:sp>
        <p:nvSpPr>
          <p:cNvPr id="10" name="Text 8"/>
          <p:cNvSpPr txBox="1"/>
          <p:nvPr/>
        </p:nvSpPr>
        <p:spPr>
          <a:xfrm>
            <a:off x="502920" y="797534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なぜ必要でしょうか。アプリごとにデータ保存の仕組みを一から作ると大変ですし、品質もばらつきます。共通部分をミドルウェアに任せると、アプリの開発者は、そのアプリならではの部分に集中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ミドルウェア</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モールの共用の倉庫や搬入口。各店（アプリ）が自前で用意せず、共通の設備を使います。建物の土台（OS）と、各店（アプリ）の間にあります。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ネットショップで商品を検索して注文すると、裏でデータベースが商品や在庫を探し、Webサーバーがページを返しています。この裏方がミドルウェアです。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OSとの境目はあいまいです。「ミドルウェア」は役割での呼び名で、製品ごとに決まった分類ではありません。まずは「アプリを裏で支える共通ソフト」と覚えましょう。</a:t>
            </a:r>
            <a:endParaRPr lang="en-US" sz="2000" dirty="0"/>
          </a:p>
        </p:txBody>
      </p:sp>
      <p:sp>
        <p:nvSpPr>
          <p:cNvPr id="10" name="Shape 8"/>
          <p:cNvSpPr/>
          <p:nvPr/>
        </p:nvSpPr>
        <p:spPr>
          <a:xfrm>
            <a:off x="320040" y="8008874"/>
            <a:ext cx="4846320" cy="2270760"/>
          </a:xfrm>
          <a:prstGeom prst="roundRect">
            <a:avLst>
              <a:gd name="adj" fmla="val 5638"/>
            </a:avLst>
          </a:prstGeom>
          <a:solidFill>
            <a:srgbClr val="DDF1E4"/>
          </a:solidFill>
          <a:ln/>
        </p:spPr>
      </p:sp>
      <p:sp>
        <p:nvSpPr>
          <p:cNvPr id="11" name="Text 9"/>
          <p:cNvSpPr txBox="1"/>
          <p:nvPr/>
        </p:nvSpPr>
        <p:spPr>
          <a:xfrm>
            <a:off x="502920" y="8100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好きなWebサービスを1つ選び、「画面（アプリ）」「データを保存する所（データベース）」「ページを返す役（Webサーバー）」を図に描いて整理してみましょう。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メモリは作業机、ストレージは倉庫</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パソコンの中でデータを置く場所は2種類あります。役割が違うので、最初に区別します。</a:t>
            </a:r>
            <a:endParaRPr lang="en-US" sz="1800" dirty="0"/>
          </a:p>
        </p:txBody>
      </p:sp>
      <p:sp>
        <p:nvSpPr>
          <p:cNvPr id="7" name="Shape 5"/>
          <p:cNvSpPr/>
          <p:nvPr/>
        </p:nvSpPr>
        <p:spPr>
          <a:xfrm>
            <a:off x="320040" y="2928620"/>
            <a:ext cx="4846320" cy="911352"/>
          </a:xfrm>
          <a:prstGeom prst="roundRect">
            <a:avLst>
              <a:gd name="adj" fmla="val 12040"/>
            </a:avLst>
          </a:prstGeom>
          <a:solidFill>
            <a:srgbClr val="16324F"/>
          </a:solidFill>
          <a:ln/>
        </p:spPr>
      </p:sp>
      <p:sp>
        <p:nvSpPr>
          <p:cNvPr id="8" name="Shape 6"/>
          <p:cNvSpPr/>
          <p:nvPr/>
        </p:nvSpPr>
        <p:spPr>
          <a:xfrm>
            <a:off x="448056" y="3109976"/>
            <a:ext cx="548640" cy="54864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568757" y="3230677"/>
            <a:ext cx="307238" cy="307238"/>
          </a:xfrm>
          <a:prstGeom prst="rect">
            <a:avLst/>
          </a:prstGeom>
        </p:spPr>
      </p:pic>
      <p:sp>
        <p:nvSpPr>
          <p:cNvPr id="10" name="Text 7"/>
          <p:cNvSpPr txBox="1"/>
          <p:nvPr/>
        </p:nvSpPr>
        <p:spPr>
          <a:xfrm>
            <a:off x="1088136" y="2928620"/>
            <a:ext cx="3986784" cy="911352"/>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CPU</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計算する頭脳</a:t>
            </a:r>
            <a:endParaRPr lang="en-US" sz="2000" dirty="0"/>
          </a:p>
        </p:txBody>
      </p:sp>
      <p:sp>
        <p:nvSpPr>
          <p:cNvPr id="11" name="Shape 8"/>
          <p:cNvSpPr/>
          <p:nvPr/>
        </p:nvSpPr>
        <p:spPr>
          <a:xfrm>
            <a:off x="2743200" y="4022852"/>
            <a:ext cx="0" cy="438912"/>
          </a:xfrm>
          <a:prstGeom prst="line">
            <a:avLst/>
          </a:prstGeom>
          <a:noFill/>
          <a:ln w="38100">
            <a:solidFill>
              <a:srgbClr val="1B2A3A"/>
            </a:solidFill>
            <a:prstDash val="solid"/>
            <a:tailEnd type="triangle"/>
          </a:ln>
        </p:spPr>
      </p:sp>
      <p:sp>
        <p:nvSpPr>
          <p:cNvPr id="12" name="Text 9"/>
          <p:cNvSpPr txBox="1"/>
          <p:nvPr/>
        </p:nvSpPr>
        <p:spPr>
          <a:xfrm>
            <a:off x="2926080" y="4041140"/>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作業中のデータ</a:t>
            </a:r>
            <a:endParaRPr lang="en-US" sz="1800" dirty="0"/>
          </a:p>
        </p:txBody>
      </p:sp>
      <p:sp>
        <p:nvSpPr>
          <p:cNvPr id="13" name="Shape 10"/>
          <p:cNvSpPr/>
          <p:nvPr/>
        </p:nvSpPr>
        <p:spPr>
          <a:xfrm>
            <a:off x="320040" y="4480052"/>
            <a:ext cx="4846320" cy="911352"/>
          </a:xfrm>
          <a:prstGeom prst="roundRect">
            <a:avLst>
              <a:gd name="adj" fmla="val 12040"/>
            </a:avLst>
          </a:prstGeom>
          <a:solidFill>
            <a:srgbClr val="2F6BC2"/>
          </a:solidFill>
          <a:ln/>
        </p:spPr>
      </p:sp>
      <p:sp>
        <p:nvSpPr>
          <p:cNvPr id="14" name="Shape 11"/>
          <p:cNvSpPr/>
          <p:nvPr/>
        </p:nvSpPr>
        <p:spPr>
          <a:xfrm>
            <a:off x="448056" y="4661408"/>
            <a:ext cx="548640" cy="54864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568757" y="4782109"/>
            <a:ext cx="307238" cy="307238"/>
          </a:xfrm>
          <a:prstGeom prst="rect">
            <a:avLst/>
          </a:prstGeom>
        </p:spPr>
      </p:pic>
      <p:sp>
        <p:nvSpPr>
          <p:cNvPr id="16" name="Text 12"/>
          <p:cNvSpPr txBox="1"/>
          <p:nvPr/>
        </p:nvSpPr>
        <p:spPr>
          <a:xfrm>
            <a:off x="1088136" y="4480052"/>
            <a:ext cx="3986784" cy="911352"/>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メモリ</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作業机（一時）</a:t>
            </a:r>
            <a:endParaRPr lang="en-US" sz="2000" dirty="0"/>
          </a:p>
        </p:txBody>
      </p:sp>
      <p:sp>
        <p:nvSpPr>
          <p:cNvPr id="17" name="Shape 13"/>
          <p:cNvSpPr/>
          <p:nvPr/>
        </p:nvSpPr>
        <p:spPr>
          <a:xfrm>
            <a:off x="2743200" y="5574284"/>
            <a:ext cx="0" cy="438912"/>
          </a:xfrm>
          <a:prstGeom prst="line">
            <a:avLst/>
          </a:prstGeom>
          <a:noFill/>
          <a:ln w="38100">
            <a:solidFill>
              <a:srgbClr val="1B2A3A"/>
            </a:solidFill>
            <a:prstDash val="solid"/>
            <a:tailEnd type="triangle"/>
          </a:ln>
        </p:spPr>
      </p:sp>
      <p:sp>
        <p:nvSpPr>
          <p:cNvPr id="18" name="Text 14"/>
          <p:cNvSpPr txBox="1"/>
          <p:nvPr/>
        </p:nvSpPr>
        <p:spPr>
          <a:xfrm>
            <a:off x="2926080" y="5592572"/>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出し入れ</a:t>
            </a:r>
            <a:endParaRPr lang="en-US" sz="1800" dirty="0"/>
          </a:p>
        </p:txBody>
      </p:sp>
      <p:sp>
        <p:nvSpPr>
          <p:cNvPr id="19" name="Shape 15"/>
          <p:cNvSpPr/>
          <p:nvPr/>
        </p:nvSpPr>
        <p:spPr>
          <a:xfrm>
            <a:off x="320040" y="6031484"/>
            <a:ext cx="4846320" cy="911352"/>
          </a:xfrm>
          <a:prstGeom prst="roundRect">
            <a:avLst>
              <a:gd name="adj" fmla="val 12040"/>
            </a:avLst>
          </a:prstGeom>
          <a:solidFill>
            <a:srgbClr val="0B7A7A"/>
          </a:solidFill>
          <a:ln/>
        </p:spPr>
      </p:sp>
      <p:sp>
        <p:nvSpPr>
          <p:cNvPr id="20" name="Shape 16"/>
          <p:cNvSpPr/>
          <p:nvPr/>
        </p:nvSpPr>
        <p:spPr>
          <a:xfrm>
            <a:off x="448056" y="6212840"/>
            <a:ext cx="548640" cy="548640"/>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568757" y="6333541"/>
            <a:ext cx="307238" cy="307238"/>
          </a:xfrm>
          <a:prstGeom prst="rect">
            <a:avLst/>
          </a:prstGeom>
        </p:spPr>
      </p:pic>
      <p:sp>
        <p:nvSpPr>
          <p:cNvPr id="22" name="Text 17"/>
          <p:cNvSpPr txBox="1"/>
          <p:nvPr/>
        </p:nvSpPr>
        <p:spPr>
          <a:xfrm>
            <a:off x="1088136" y="6031484"/>
            <a:ext cx="3986784" cy="911352"/>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ストレージ</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倉庫（長期保存）</a:t>
            </a:r>
            <a:endParaRPr lang="en-US" sz="2000" dirty="0"/>
          </a:p>
        </p:txBody>
      </p:sp>
      <p:sp>
        <p:nvSpPr>
          <p:cNvPr id="23" name="Shape 18"/>
          <p:cNvSpPr/>
          <p:nvPr/>
        </p:nvSpPr>
        <p:spPr>
          <a:xfrm>
            <a:off x="320040" y="7125716"/>
            <a:ext cx="4846320" cy="2242312"/>
          </a:xfrm>
          <a:prstGeom prst="roundRect">
            <a:avLst>
              <a:gd name="adj" fmla="val 5709"/>
            </a:avLst>
          </a:prstGeom>
          <a:solidFill>
            <a:srgbClr val="DCE8F8"/>
          </a:solidFill>
          <a:ln/>
        </p:spPr>
      </p:sp>
      <p:sp>
        <p:nvSpPr>
          <p:cNvPr id="24" name="Text 19"/>
          <p:cNvSpPr txBox="1"/>
          <p:nvPr/>
        </p:nvSpPr>
        <p:spPr>
          <a:xfrm>
            <a:off x="502920" y="727202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役割</a:t>
            </a:r>
            <a:endParaRPr lang="en-US" sz="2200" dirty="0"/>
          </a:p>
        </p:txBody>
      </p:sp>
      <p:sp>
        <p:nvSpPr>
          <p:cNvPr id="25" name="Text 20"/>
          <p:cNvSpPr txBox="1"/>
          <p:nvPr/>
        </p:nvSpPr>
        <p:spPr>
          <a:xfrm>
            <a:off x="502920" y="7732268"/>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メモリ：</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作業中のデータを一時的に置く</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ストレージ：</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データを長期に保存する</a:t>
            </a:r>
            <a:endParaRPr lang="en-US" sz="2000" dirty="0"/>
          </a:p>
        </p:txBody>
      </p:sp>
      <p:sp>
        <p:nvSpPr>
          <p:cNvPr id="26" name="Text 2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メモリは作業机、ストレージは倉庫</a:t>
            </a:r>
            <a:endParaRPr lang="ja-JP" sz="2200" dirty="0"/>
          </a:p>
        </p:txBody>
      </p:sp>
      <p:sp>
        <p:nvSpPr>
          <p:cNvPr id="4" name="Shape 2"/>
          <p:cNvSpPr/>
          <p:nvPr/>
        </p:nvSpPr>
        <p:spPr>
          <a:xfrm>
            <a:off x="320040" y="1318514"/>
            <a:ext cx="4846320" cy="1571752"/>
          </a:xfrm>
          <a:prstGeom prst="roundRect">
            <a:avLst>
              <a:gd name="adj" fmla="val 8145"/>
            </a:avLst>
          </a:prstGeom>
          <a:solidFill>
            <a:srgbClr val="DCE8F8"/>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速さと容量</a:t>
            </a:r>
            <a:endParaRPr lang="en-US" sz="2200" dirty="0"/>
          </a:p>
        </p:txBody>
      </p:sp>
      <p:sp>
        <p:nvSpPr>
          <p:cNvPr id="6" name="Text 4"/>
          <p:cNvSpPr txBox="1"/>
          <p:nvPr/>
        </p:nvSpPr>
        <p:spPr>
          <a:xfrm>
            <a:off x="502920" y="1925066"/>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メモリ：</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速い・容量は小さめ</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ストレージ：</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遅め・容量は大きい</a:t>
            </a:r>
            <a:endParaRPr lang="en-US" sz="2000" dirty="0"/>
          </a:p>
        </p:txBody>
      </p:sp>
      <p:sp>
        <p:nvSpPr>
          <p:cNvPr id="7" name="Shape 5"/>
          <p:cNvSpPr/>
          <p:nvPr/>
        </p:nvSpPr>
        <p:spPr>
          <a:xfrm>
            <a:off x="320040" y="3073146"/>
            <a:ext cx="4846320" cy="1571752"/>
          </a:xfrm>
          <a:prstGeom prst="roundRect">
            <a:avLst>
              <a:gd name="adj" fmla="val 8145"/>
            </a:avLst>
          </a:prstGeom>
          <a:solidFill>
            <a:srgbClr val="DCE8F8"/>
          </a:solidFill>
          <a:ln/>
        </p:spPr>
      </p:sp>
      <p:sp>
        <p:nvSpPr>
          <p:cNvPr id="8" name="Text 6"/>
          <p:cNvSpPr txBox="1"/>
          <p:nvPr/>
        </p:nvSpPr>
        <p:spPr>
          <a:xfrm>
            <a:off x="502920" y="321945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電源を切ると</a:t>
            </a:r>
            <a:endParaRPr lang="en-US" sz="2200" dirty="0"/>
          </a:p>
        </p:txBody>
      </p:sp>
      <p:sp>
        <p:nvSpPr>
          <p:cNvPr id="9" name="Text 7"/>
          <p:cNvSpPr txBox="1"/>
          <p:nvPr/>
        </p:nvSpPr>
        <p:spPr>
          <a:xfrm>
            <a:off x="502920" y="3679698"/>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メモリ：</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消える</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ストレージ：</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残る</a:t>
            </a:r>
            <a:endParaRPr lang="en-US" sz="2000" dirty="0"/>
          </a:p>
        </p:txBody>
      </p:sp>
      <p:sp>
        <p:nvSpPr>
          <p:cNvPr id="10" name="Shape 8"/>
          <p:cNvSpPr/>
          <p:nvPr/>
        </p:nvSpPr>
        <p:spPr>
          <a:xfrm>
            <a:off x="320040" y="4827778"/>
            <a:ext cx="4846320" cy="1907032"/>
          </a:xfrm>
          <a:prstGeom prst="roundRect">
            <a:avLst>
              <a:gd name="adj" fmla="val 6713"/>
            </a:avLst>
          </a:prstGeom>
          <a:solidFill>
            <a:srgbClr val="DCE8F8"/>
          </a:solidFill>
          <a:ln/>
        </p:spPr>
      </p:sp>
      <p:sp>
        <p:nvSpPr>
          <p:cNvPr id="11" name="Text 9"/>
          <p:cNvSpPr txBox="1"/>
          <p:nvPr/>
        </p:nvSpPr>
        <p:spPr>
          <a:xfrm>
            <a:off x="502920" y="4974082"/>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例</a:t>
            </a:r>
            <a:endParaRPr lang="en-US" sz="2200" dirty="0"/>
          </a:p>
        </p:txBody>
      </p:sp>
      <p:sp>
        <p:nvSpPr>
          <p:cNvPr id="12" name="Text 10"/>
          <p:cNvSpPr txBox="1"/>
          <p:nvPr/>
        </p:nvSpPr>
        <p:spPr>
          <a:xfrm>
            <a:off x="502920" y="5434330"/>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メモリ：</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DRAM（PCのメモリ）</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ストレージ：</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SSD・HDD・USBメモリ</a:t>
            </a:r>
            <a:endParaRPr lang="en-US" sz="2000" dirty="0"/>
          </a:p>
        </p:txBody>
      </p:sp>
      <p:sp>
        <p:nvSpPr>
          <p:cNvPr id="13" name="Text 1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データの置き場所の具体像</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同じ「保存」でも、PCの中の部品と、サーバー室の共有装置では、つなぎ方が違います。</a:t>
            </a:r>
            <a:endParaRPr lang="en-US" sz="1800" dirty="0"/>
          </a:p>
        </p:txBody>
      </p:sp>
      <p:sp>
        <p:nvSpPr>
          <p:cNvPr id="6" name="Shape 4"/>
          <p:cNvSpPr/>
          <p:nvPr/>
        </p:nvSpPr>
        <p:spPr>
          <a:xfrm>
            <a:off x="320040" y="2515870"/>
            <a:ext cx="4846320" cy="3200400"/>
          </a:xfrm>
          <a:prstGeom prst="roundRect">
            <a:avLst>
              <a:gd name="adj" fmla="val 4000"/>
            </a:avLst>
          </a:prstGeom>
          <a:solidFill>
            <a:srgbClr val="F7F9FB"/>
          </a:solidFill>
          <a:ln w="19050">
            <a:solidFill>
              <a:srgbClr val="475569"/>
            </a:solidFill>
            <a:prstDash val="dash"/>
          </a:ln>
        </p:spPr>
      </p:sp>
      <p:sp>
        <p:nvSpPr>
          <p:cNvPr id="7" name="Text 5"/>
          <p:cNvSpPr txBox="1"/>
          <p:nvPr/>
        </p:nvSpPr>
        <p:spPr>
          <a:xfrm>
            <a:off x="457200" y="2579878"/>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自分のPCの中</a:t>
            </a:r>
            <a:endParaRPr lang="en-US" sz="1600" dirty="0"/>
          </a:p>
        </p:txBody>
      </p:sp>
      <p:sp>
        <p:nvSpPr>
          <p:cNvPr id="8" name="Shape 6"/>
          <p:cNvSpPr/>
          <p:nvPr/>
        </p:nvSpPr>
        <p:spPr>
          <a:xfrm>
            <a:off x="320040" y="6356350"/>
            <a:ext cx="4846320" cy="3840480"/>
          </a:xfrm>
          <a:prstGeom prst="roundRect">
            <a:avLst>
              <a:gd name="adj" fmla="val 3333"/>
            </a:avLst>
          </a:prstGeom>
          <a:solidFill>
            <a:srgbClr val="F7F9FB"/>
          </a:solidFill>
          <a:ln w="19050">
            <a:solidFill>
              <a:srgbClr val="5B46B8"/>
            </a:solidFill>
            <a:prstDash val="dash"/>
          </a:ln>
        </p:spPr>
      </p:sp>
      <p:sp>
        <p:nvSpPr>
          <p:cNvPr id="9" name="Text 7"/>
          <p:cNvSpPr txBox="1"/>
          <p:nvPr/>
        </p:nvSpPr>
        <p:spPr>
          <a:xfrm>
            <a:off x="457200" y="6420358"/>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5B46B8"/>
                </a:solidFill>
                <a:latin typeface="Yu Gothic" pitchFamily="34" charset="0"/>
                <a:ea typeface="Yu Gothic" pitchFamily="34" charset="-122"/>
                <a:cs typeface="Yu Gothic" pitchFamily="34" charset="-120"/>
              </a:rPr>
              <a:t>サーバー室</a:t>
            </a:r>
            <a:endParaRPr lang="en-US" sz="1600" dirty="0"/>
          </a:p>
        </p:txBody>
      </p:sp>
      <p:sp>
        <p:nvSpPr>
          <p:cNvPr id="10" name="Shape 8"/>
          <p:cNvSpPr/>
          <p:nvPr/>
        </p:nvSpPr>
        <p:spPr>
          <a:xfrm>
            <a:off x="1828800" y="3453130"/>
            <a:ext cx="320040" cy="0"/>
          </a:xfrm>
          <a:prstGeom prst="line">
            <a:avLst/>
          </a:prstGeom>
          <a:noFill/>
          <a:ln w="31750">
            <a:solidFill>
              <a:srgbClr val="1B2A3A"/>
            </a:solidFill>
            <a:prstDash val="solid"/>
            <a:headEnd type="triangle"/>
            <a:tailEnd type="triangle"/>
          </a:ln>
        </p:spPr>
      </p:sp>
      <p:sp>
        <p:nvSpPr>
          <p:cNvPr id="11" name="Text 9"/>
          <p:cNvSpPr txBox="1"/>
          <p:nvPr/>
        </p:nvSpPr>
        <p:spPr>
          <a:xfrm>
            <a:off x="1592580" y="3291586"/>
            <a:ext cx="7924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a:t>
            </a:r>
            <a:endParaRPr lang="en-US" sz="1600" dirty="0"/>
          </a:p>
        </p:txBody>
      </p:sp>
      <p:sp>
        <p:nvSpPr>
          <p:cNvPr id="12" name="Shape 10"/>
          <p:cNvSpPr/>
          <p:nvPr/>
        </p:nvSpPr>
        <p:spPr>
          <a:xfrm flipV="1">
            <a:off x="2400300" y="3887470"/>
            <a:ext cx="0" cy="548640"/>
          </a:xfrm>
          <a:prstGeom prst="line">
            <a:avLst/>
          </a:prstGeom>
          <a:noFill/>
          <a:ln w="31750">
            <a:solidFill>
              <a:srgbClr val="1B2A3A"/>
            </a:solidFill>
            <a:prstDash val="solid"/>
            <a:tailEnd type="triangle"/>
          </a:ln>
        </p:spPr>
      </p:sp>
      <p:sp>
        <p:nvSpPr>
          <p:cNvPr id="13" name="Shape 11"/>
          <p:cNvSpPr/>
          <p:nvPr/>
        </p:nvSpPr>
        <p:spPr>
          <a:xfrm flipV="1">
            <a:off x="3177540" y="3887470"/>
            <a:ext cx="0" cy="548640"/>
          </a:xfrm>
          <a:prstGeom prst="line">
            <a:avLst/>
          </a:prstGeom>
          <a:noFill/>
          <a:ln w="31750">
            <a:solidFill>
              <a:srgbClr val="1B2A3A"/>
            </a:solidFill>
            <a:prstDash val="solid"/>
            <a:tailEnd type="triangle"/>
          </a:ln>
        </p:spPr>
      </p:sp>
      <p:sp>
        <p:nvSpPr>
          <p:cNvPr id="14" name="Shape 12"/>
          <p:cNvSpPr/>
          <p:nvPr/>
        </p:nvSpPr>
        <p:spPr>
          <a:xfrm>
            <a:off x="4023360" y="5716270"/>
            <a:ext cx="0" cy="1234440"/>
          </a:xfrm>
          <a:prstGeom prst="line">
            <a:avLst/>
          </a:prstGeom>
          <a:noFill/>
          <a:ln w="31750">
            <a:solidFill>
              <a:srgbClr val="1B2A3A"/>
            </a:solidFill>
            <a:prstDash val="solid"/>
            <a:headEnd type="triangle"/>
            <a:tailEnd type="triangle"/>
          </a:ln>
        </p:spPr>
      </p:sp>
      <p:sp>
        <p:nvSpPr>
          <p:cNvPr id="15" name="Text 13"/>
          <p:cNvSpPr txBox="1"/>
          <p:nvPr/>
        </p:nvSpPr>
        <p:spPr>
          <a:xfrm>
            <a:off x="3742944" y="6171946"/>
            <a:ext cx="560832"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LAN</a:t>
            </a:r>
            <a:endParaRPr lang="en-US" sz="1600" dirty="0"/>
          </a:p>
        </p:txBody>
      </p:sp>
      <p:sp>
        <p:nvSpPr>
          <p:cNvPr id="16" name="Shape 14"/>
          <p:cNvSpPr/>
          <p:nvPr/>
        </p:nvSpPr>
        <p:spPr>
          <a:xfrm>
            <a:off x="2194560" y="8962390"/>
            <a:ext cx="822960" cy="0"/>
          </a:xfrm>
          <a:prstGeom prst="line">
            <a:avLst/>
          </a:prstGeom>
          <a:noFill/>
          <a:ln w="31750">
            <a:solidFill>
              <a:srgbClr val="1B2A3A"/>
            </a:solidFill>
            <a:prstDash val="solid"/>
            <a:headEnd type="triangle"/>
            <a:tailEnd type="triangle"/>
          </a:ln>
        </p:spPr>
      </p:sp>
      <p:sp>
        <p:nvSpPr>
          <p:cNvPr id="17" name="Text 15"/>
          <p:cNvSpPr txBox="1"/>
          <p:nvPr/>
        </p:nvSpPr>
        <p:spPr>
          <a:xfrm>
            <a:off x="2325624" y="8800846"/>
            <a:ext cx="560832"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SAN</a:t>
            </a:r>
            <a:endParaRPr lang="en-US" sz="1600" dirty="0"/>
          </a:p>
        </p:txBody>
      </p:sp>
      <p:sp>
        <p:nvSpPr>
          <p:cNvPr id="18" name="Shape 16"/>
          <p:cNvSpPr/>
          <p:nvPr/>
        </p:nvSpPr>
        <p:spPr>
          <a:xfrm>
            <a:off x="457200" y="3018790"/>
            <a:ext cx="1371600" cy="868680"/>
          </a:xfrm>
          <a:prstGeom prst="roundRect">
            <a:avLst>
              <a:gd name="adj" fmla="val 12632"/>
            </a:avLst>
          </a:prstGeom>
          <a:solidFill>
            <a:srgbClr val="E2E8F0"/>
          </a:solidFill>
          <a:ln w="25400">
            <a:solidFill>
              <a:srgbClr val="475569"/>
            </a:solidFill>
            <a:prstDash val="solid"/>
          </a:ln>
        </p:spPr>
      </p:sp>
      <p:sp>
        <p:nvSpPr>
          <p:cNvPr id="19" name="Text 17"/>
          <p:cNvSpPr txBox="1"/>
          <p:nvPr/>
        </p:nvSpPr>
        <p:spPr>
          <a:xfrm>
            <a:off x="548640" y="3018790"/>
            <a:ext cx="1188720" cy="86868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計算する頭脳</a:t>
            </a:r>
            <a:endParaRPr lang="en-US" sz="1600" dirty="0"/>
          </a:p>
        </p:txBody>
      </p:sp>
      <p:sp>
        <p:nvSpPr>
          <p:cNvPr id="20" name="Shape 18"/>
          <p:cNvSpPr/>
          <p:nvPr/>
        </p:nvSpPr>
        <p:spPr>
          <a:xfrm>
            <a:off x="2148840" y="3018790"/>
            <a:ext cx="1371600" cy="868680"/>
          </a:xfrm>
          <a:prstGeom prst="roundRect">
            <a:avLst>
              <a:gd name="adj" fmla="val 12632"/>
            </a:avLst>
          </a:prstGeom>
          <a:solidFill>
            <a:srgbClr val="E2E8F0"/>
          </a:solidFill>
          <a:ln w="25400">
            <a:solidFill>
              <a:srgbClr val="475569"/>
            </a:solidFill>
            <a:prstDash val="solid"/>
          </a:ln>
        </p:spPr>
      </p:sp>
      <p:sp>
        <p:nvSpPr>
          <p:cNvPr id="21" name="Text 19"/>
          <p:cNvSpPr txBox="1"/>
          <p:nvPr/>
        </p:nvSpPr>
        <p:spPr>
          <a:xfrm>
            <a:off x="2240280" y="3018790"/>
            <a:ext cx="1188720" cy="86868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作業机</a:t>
            </a:r>
            <a:endParaRPr lang="en-US" sz="1600" dirty="0"/>
          </a:p>
        </p:txBody>
      </p:sp>
      <p:sp>
        <p:nvSpPr>
          <p:cNvPr id="22" name="Shape 20"/>
          <p:cNvSpPr/>
          <p:nvPr/>
        </p:nvSpPr>
        <p:spPr>
          <a:xfrm>
            <a:off x="457200" y="4436110"/>
            <a:ext cx="2194560" cy="1005840"/>
          </a:xfrm>
          <a:prstGeom prst="roundRect">
            <a:avLst>
              <a:gd name="adj" fmla="val 10909"/>
            </a:avLst>
          </a:prstGeom>
          <a:solidFill>
            <a:srgbClr val="E2E8F0"/>
          </a:solidFill>
          <a:ln w="25400">
            <a:solidFill>
              <a:srgbClr val="475569"/>
            </a:solidFill>
            <a:prstDash val="solid"/>
          </a:ln>
        </p:spPr>
      </p:sp>
      <p:sp>
        <p:nvSpPr>
          <p:cNvPr id="23" name="Text 21"/>
          <p:cNvSpPr txBox="1"/>
          <p:nvPr/>
        </p:nvSpPr>
        <p:spPr>
          <a:xfrm>
            <a:off x="548640" y="4436110"/>
            <a:ext cx="201168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SSD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M.2・NVMeで高速</a:t>
            </a:r>
            <a:endParaRPr lang="en-US" sz="1800" dirty="0"/>
          </a:p>
        </p:txBody>
      </p:sp>
      <p:sp>
        <p:nvSpPr>
          <p:cNvPr id="24" name="Shape 22"/>
          <p:cNvSpPr/>
          <p:nvPr/>
        </p:nvSpPr>
        <p:spPr>
          <a:xfrm>
            <a:off x="2834640" y="4436110"/>
            <a:ext cx="2194560" cy="1005840"/>
          </a:xfrm>
          <a:prstGeom prst="roundRect">
            <a:avLst>
              <a:gd name="adj" fmla="val 10909"/>
            </a:avLst>
          </a:prstGeom>
          <a:solidFill>
            <a:srgbClr val="E2E8F0"/>
          </a:solidFill>
          <a:ln w="25400">
            <a:solidFill>
              <a:srgbClr val="475569"/>
            </a:solidFill>
            <a:prstDash val="solid"/>
          </a:ln>
        </p:spPr>
      </p:sp>
      <p:sp>
        <p:nvSpPr>
          <p:cNvPr id="25" name="Text 23"/>
          <p:cNvSpPr txBox="1"/>
          <p:nvPr/>
        </p:nvSpPr>
        <p:spPr>
          <a:xfrm>
            <a:off x="2926080" y="4436110"/>
            <a:ext cx="201168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HDD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大容量・安価</a:t>
            </a:r>
            <a:endParaRPr lang="en-US" sz="1800" dirty="0"/>
          </a:p>
        </p:txBody>
      </p:sp>
      <p:sp>
        <p:nvSpPr>
          <p:cNvPr id="26" name="Shape 24"/>
          <p:cNvSpPr/>
          <p:nvPr/>
        </p:nvSpPr>
        <p:spPr>
          <a:xfrm>
            <a:off x="3017520" y="6950710"/>
            <a:ext cx="2011680" cy="1005840"/>
          </a:xfrm>
          <a:prstGeom prst="roundRect">
            <a:avLst>
              <a:gd name="adj" fmla="val 10909"/>
            </a:avLst>
          </a:prstGeom>
          <a:solidFill>
            <a:srgbClr val="FDEBD0"/>
          </a:solidFill>
          <a:ln w="25400">
            <a:solidFill>
              <a:srgbClr val="B45309"/>
            </a:solidFill>
            <a:prstDash val="solid"/>
          </a:ln>
        </p:spPr>
      </p:sp>
      <p:sp>
        <p:nvSpPr>
          <p:cNvPr id="27" name="Text 25"/>
          <p:cNvSpPr txBox="1"/>
          <p:nvPr/>
        </p:nvSpPr>
        <p:spPr>
          <a:xfrm>
            <a:off x="3108960" y="6950710"/>
            <a:ext cx="1828800" cy="100584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NAS</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共有フォルダーとして使う</a:t>
            </a:r>
            <a:endParaRPr lang="en-US" sz="1600" dirty="0"/>
          </a:p>
        </p:txBody>
      </p:sp>
      <p:sp>
        <p:nvSpPr>
          <p:cNvPr id="28" name="Shape 26"/>
          <p:cNvSpPr/>
          <p:nvPr/>
        </p:nvSpPr>
        <p:spPr>
          <a:xfrm>
            <a:off x="457200" y="8459470"/>
            <a:ext cx="1737360" cy="1005840"/>
          </a:xfrm>
          <a:prstGeom prst="roundRect">
            <a:avLst>
              <a:gd name="adj" fmla="val 10909"/>
            </a:avLst>
          </a:prstGeom>
          <a:solidFill>
            <a:srgbClr val="E6E1F7"/>
          </a:solidFill>
          <a:ln w="25400">
            <a:solidFill>
              <a:srgbClr val="5B46B8"/>
            </a:solidFill>
            <a:prstDash val="solid"/>
          </a:ln>
        </p:spPr>
      </p:sp>
      <p:sp>
        <p:nvSpPr>
          <p:cNvPr id="29" name="Text 27"/>
          <p:cNvSpPr txBox="1"/>
          <p:nvPr/>
        </p:nvSpPr>
        <p:spPr>
          <a:xfrm>
            <a:off x="548640" y="8459470"/>
            <a:ext cx="1554480" cy="100584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サーバー</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アプリ・DB</a:t>
            </a:r>
            <a:endParaRPr lang="en-US" sz="1600" dirty="0"/>
          </a:p>
        </p:txBody>
      </p:sp>
      <p:sp>
        <p:nvSpPr>
          <p:cNvPr id="30" name="Shape 28"/>
          <p:cNvSpPr/>
          <p:nvPr/>
        </p:nvSpPr>
        <p:spPr>
          <a:xfrm>
            <a:off x="3017520" y="8276590"/>
            <a:ext cx="2011680" cy="1554480"/>
          </a:xfrm>
          <a:prstGeom prst="roundRect">
            <a:avLst>
              <a:gd name="adj" fmla="val 7059"/>
            </a:avLst>
          </a:prstGeom>
          <a:solidFill>
            <a:srgbClr val="E2E8F0"/>
          </a:solidFill>
          <a:ln w="25400">
            <a:solidFill>
              <a:srgbClr val="475569"/>
            </a:solidFill>
            <a:prstDash val="solid"/>
          </a:ln>
        </p:spPr>
      </p:sp>
      <p:sp>
        <p:nvSpPr>
          <p:cNvPr id="31" name="Text 29"/>
          <p:cNvSpPr txBox="1"/>
          <p:nvPr/>
        </p:nvSpPr>
        <p:spPr>
          <a:xfrm>
            <a:off x="3108960" y="8276590"/>
            <a:ext cx="1828800" cy="155448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ストレージ装置</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ディスクとして使う</a:t>
            </a:r>
            <a:endParaRPr lang="en-US" sz="16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データの保存は3つのやり方</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保存のしかたは、ファイル・ブロック・オブジェクトの3つで整理できます。</a:t>
            </a:r>
            <a:endParaRPr lang="en-US" sz="1800" dirty="0"/>
          </a:p>
        </p:txBody>
      </p:sp>
      <p:sp>
        <p:nvSpPr>
          <p:cNvPr id="7" name="Shape 5"/>
          <p:cNvSpPr/>
          <p:nvPr/>
        </p:nvSpPr>
        <p:spPr>
          <a:xfrm>
            <a:off x="320040" y="2515870"/>
            <a:ext cx="4846320" cy="2447544"/>
          </a:xfrm>
          <a:prstGeom prst="roundRect">
            <a:avLst>
              <a:gd name="adj" fmla="val 5230"/>
            </a:avLst>
          </a:prstGeom>
          <a:solidFill>
            <a:srgbClr val="DCE8F8"/>
          </a:solidFill>
          <a:ln/>
        </p:spPr>
      </p:sp>
      <p:sp>
        <p:nvSpPr>
          <p:cNvPr id="8" name="Shape 6"/>
          <p:cNvSpPr/>
          <p:nvPr/>
        </p:nvSpPr>
        <p:spPr>
          <a:xfrm>
            <a:off x="502920" y="2662174"/>
            <a:ext cx="566928" cy="566928"/>
          </a:xfrm>
          <a:prstGeom prst="ellipse">
            <a:avLst/>
          </a:prstGeom>
          <a:solidFill>
            <a:srgbClr val="2F6BC2"/>
          </a:solidFill>
          <a:ln/>
        </p:spPr>
      </p:sp>
      <p:pic>
        <p:nvPicPr>
          <p:cNvPr id="9" name="Image 0" descr="preencoded.png">    </p:cNvPr>
          <p:cNvPicPr>
            <a:picLocks noChangeAspect="1"/>
          </p:cNvPicPr>
          <p:nvPr/>
        </p:nvPicPr>
        <p:blipFill>
          <a:blip r:embed="rId1"/>
          <a:stretch>
            <a:fillRect/>
          </a:stretch>
        </p:blipFill>
        <p:spPr>
          <a:xfrm>
            <a:off x="627644" y="2786898"/>
            <a:ext cx="317480" cy="317480"/>
          </a:xfrm>
          <a:prstGeom prst="rect">
            <a:avLst/>
          </a:prstGeom>
        </p:spPr>
      </p:pic>
      <p:sp>
        <p:nvSpPr>
          <p:cNvPr id="10" name="Text 7"/>
          <p:cNvSpPr txBox="1"/>
          <p:nvPr/>
        </p:nvSpPr>
        <p:spPr>
          <a:xfrm>
            <a:off x="1188720" y="2662174"/>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ファイル</a:t>
            </a:r>
            <a:endParaRPr lang="en-US" sz="2200" dirty="0"/>
          </a:p>
        </p:txBody>
      </p:sp>
      <p:sp>
        <p:nvSpPr>
          <p:cNvPr id="11" name="Text 8"/>
          <p:cNvSpPr txBox="1"/>
          <p:nvPr/>
        </p:nvSpPr>
        <p:spPr>
          <a:xfrm>
            <a:off x="502920" y="3320542"/>
            <a:ext cx="4480560" cy="156972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フォルダーの中のファイル</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名前で出し入れ</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例：PCのフォルダー・NASの共有フォルダー</a:t>
            </a:r>
            <a:endParaRPr lang="en-US" sz="2000" dirty="0"/>
          </a:p>
        </p:txBody>
      </p:sp>
      <p:sp>
        <p:nvSpPr>
          <p:cNvPr id="12" name="Shape 9"/>
          <p:cNvSpPr/>
          <p:nvPr/>
        </p:nvSpPr>
        <p:spPr>
          <a:xfrm>
            <a:off x="320040" y="5146294"/>
            <a:ext cx="4846320" cy="2112264"/>
          </a:xfrm>
          <a:prstGeom prst="roundRect">
            <a:avLst>
              <a:gd name="adj" fmla="val 6061"/>
            </a:avLst>
          </a:prstGeom>
          <a:solidFill>
            <a:srgbClr val="D9F2F1"/>
          </a:solidFill>
          <a:ln/>
        </p:spPr>
      </p:sp>
      <p:sp>
        <p:nvSpPr>
          <p:cNvPr id="13" name="Shape 10"/>
          <p:cNvSpPr/>
          <p:nvPr/>
        </p:nvSpPr>
        <p:spPr>
          <a:xfrm>
            <a:off x="502920" y="5292598"/>
            <a:ext cx="566928" cy="566928"/>
          </a:xfrm>
          <a:prstGeom prst="ellipse">
            <a:avLst/>
          </a:prstGeom>
          <a:solidFill>
            <a:srgbClr val="0B7A7A"/>
          </a:solidFill>
          <a:ln/>
        </p:spPr>
      </p:sp>
      <p:pic>
        <p:nvPicPr>
          <p:cNvPr id="14" name="Image 1" descr="preencoded.png">    </p:cNvPr>
          <p:cNvPicPr>
            <a:picLocks noChangeAspect="1"/>
          </p:cNvPicPr>
          <p:nvPr/>
        </p:nvPicPr>
        <p:blipFill>
          <a:blip r:embed="rId2"/>
          <a:stretch>
            <a:fillRect/>
          </a:stretch>
        </p:blipFill>
        <p:spPr>
          <a:xfrm>
            <a:off x="627644" y="5417322"/>
            <a:ext cx="317480" cy="317480"/>
          </a:xfrm>
          <a:prstGeom prst="rect">
            <a:avLst/>
          </a:prstGeom>
        </p:spPr>
      </p:pic>
      <p:sp>
        <p:nvSpPr>
          <p:cNvPr id="15" name="Text 11"/>
          <p:cNvSpPr txBox="1"/>
          <p:nvPr/>
        </p:nvSpPr>
        <p:spPr>
          <a:xfrm>
            <a:off x="1188720" y="5292598"/>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ブロック</a:t>
            </a:r>
            <a:endParaRPr lang="en-US" sz="2200" dirty="0"/>
          </a:p>
        </p:txBody>
      </p:sp>
      <p:sp>
        <p:nvSpPr>
          <p:cNvPr id="16" name="Text 12"/>
          <p:cNvSpPr txBox="1"/>
          <p:nvPr/>
        </p:nvSpPr>
        <p:spPr>
          <a:xfrm>
            <a:off x="502920" y="5950966"/>
            <a:ext cx="4480560" cy="123444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ディスクの区画として扱う</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上にOS・DBが仕組みを作る</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例：SANのディスク領域</a:t>
            </a:r>
            <a:endParaRPr lang="en-US" sz="2000" dirty="0"/>
          </a:p>
        </p:txBody>
      </p:sp>
      <p:sp>
        <p:nvSpPr>
          <p:cNvPr id="17" name="Shape 13"/>
          <p:cNvSpPr/>
          <p:nvPr/>
        </p:nvSpPr>
        <p:spPr>
          <a:xfrm>
            <a:off x="320040" y="7441438"/>
            <a:ext cx="4846320" cy="2112264"/>
          </a:xfrm>
          <a:prstGeom prst="roundRect">
            <a:avLst>
              <a:gd name="adj" fmla="val 6061"/>
            </a:avLst>
          </a:prstGeom>
          <a:solidFill>
            <a:srgbClr val="FDEBD0"/>
          </a:solidFill>
          <a:ln/>
        </p:spPr>
      </p:sp>
      <p:sp>
        <p:nvSpPr>
          <p:cNvPr id="18" name="Shape 14"/>
          <p:cNvSpPr/>
          <p:nvPr/>
        </p:nvSpPr>
        <p:spPr>
          <a:xfrm>
            <a:off x="502920" y="7587742"/>
            <a:ext cx="566928" cy="566928"/>
          </a:xfrm>
          <a:prstGeom prst="ellipse">
            <a:avLst/>
          </a:prstGeom>
          <a:solidFill>
            <a:srgbClr val="B45309"/>
          </a:solidFill>
          <a:ln/>
        </p:spPr>
      </p:sp>
      <p:pic>
        <p:nvPicPr>
          <p:cNvPr id="19" name="Image 2" descr="preencoded.png">    </p:cNvPr>
          <p:cNvPicPr>
            <a:picLocks noChangeAspect="1"/>
          </p:cNvPicPr>
          <p:nvPr/>
        </p:nvPicPr>
        <p:blipFill>
          <a:blip r:embed="rId3"/>
          <a:stretch>
            <a:fillRect/>
          </a:stretch>
        </p:blipFill>
        <p:spPr>
          <a:xfrm>
            <a:off x="627644" y="7712466"/>
            <a:ext cx="317480" cy="317480"/>
          </a:xfrm>
          <a:prstGeom prst="rect">
            <a:avLst/>
          </a:prstGeom>
        </p:spPr>
      </p:pic>
      <p:sp>
        <p:nvSpPr>
          <p:cNvPr id="20" name="Text 15"/>
          <p:cNvSpPr txBox="1"/>
          <p:nvPr/>
        </p:nvSpPr>
        <p:spPr>
          <a:xfrm>
            <a:off x="1188720" y="7587742"/>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オブジェクト</a:t>
            </a:r>
            <a:endParaRPr lang="en-US" sz="2200" dirty="0"/>
          </a:p>
        </p:txBody>
      </p:sp>
      <p:sp>
        <p:nvSpPr>
          <p:cNvPr id="21" name="Text 16"/>
          <p:cNvSpPr txBox="1"/>
          <p:nvPr/>
        </p:nvSpPr>
        <p:spPr>
          <a:xfrm>
            <a:off x="502920" y="8246110"/>
            <a:ext cx="4480560" cy="123444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名前＋付加情報つきで保存</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大量データ向け</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例：Amazon S3</a:t>
            </a:r>
            <a:endParaRPr lang="en-US" sz="2000" dirty="0"/>
          </a:p>
        </p:txBody>
      </p:sp>
      <p:sp>
        <p:nvSpPr>
          <p:cNvPr id="22" name="Text 1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[D04]</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データの保存は3つのやり方</a:t>
            </a:r>
            <a:endParaRPr lang="ja-JP" sz="2200" dirty="0"/>
          </a:p>
        </p:txBody>
      </p:sp>
      <p:sp>
        <p:nvSpPr>
          <p:cNvPr id="4" name="Shape 2"/>
          <p:cNvSpPr/>
          <p:nvPr/>
        </p:nvSpPr>
        <p:spPr>
          <a:xfrm>
            <a:off x="320040" y="1318514"/>
            <a:ext cx="4846320" cy="1615440"/>
          </a:xfrm>
          <a:prstGeom prst="roundRect">
            <a:avLst>
              <a:gd name="adj" fmla="val 6792"/>
            </a:avLst>
          </a:prstGeom>
          <a:solidFill>
            <a:srgbClr val="DCE8F8"/>
          </a:solidFill>
          <a:ln w="19050">
            <a:solidFill>
              <a:srgbClr val="2F6BC2"/>
            </a:solidFill>
            <a:prstDash val="solid"/>
          </a:ln>
        </p:spPr>
      </p:sp>
      <p:sp>
        <p:nvSpPr>
          <p:cNvPr id="5" name="Shape 3"/>
          <p:cNvSpPr/>
          <p:nvPr/>
        </p:nvSpPr>
        <p:spPr>
          <a:xfrm>
            <a:off x="457200" y="1897634"/>
            <a:ext cx="457200" cy="457200"/>
          </a:xfrm>
          <a:prstGeom prst="ellipse">
            <a:avLst/>
          </a:prstGeom>
          <a:solidFill>
            <a:srgbClr val="2F6BC2"/>
          </a:solidFill>
          <a:ln/>
        </p:spPr>
      </p:sp>
      <p:pic>
        <p:nvPicPr>
          <p:cNvPr id="6" name="Image 0" descr="preencoded.png">    </p:cNvPr>
          <p:cNvPicPr>
            <a:picLocks noChangeAspect="1"/>
          </p:cNvPicPr>
          <p:nvPr/>
        </p:nvPicPr>
        <p:blipFill>
          <a:blip r:embed="rId1"/>
          <a:stretch>
            <a:fillRect/>
          </a:stretch>
        </p:blipFill>
        <p:spPr>
          <a:xfrm>
            <a:off x="557784" y="1998218"/>
            <a:ext cx="256032" cy="256032"/>
          </a:xfrm>
          <a:prstGeom prst="rect">
            <a:avLst/>
          </a:prstGeom>
        </p:spPr>
      </p:pic>
      <p:sp>
        <p:nvSpPr>
          <p:cNvPr id="7" name="Text 4"/>
          <p:cNvSpPr txBox="1"/>
          <p:nvPr/>
        </p:nvSpPr>
        <p:spPr>
          <a:xfrm>
            <a:off x="1051560" y="1364234"/>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貼り付けの説明：NASは主に共有ファイル、SANは主にディスクに相当する保存領域、S3はオブジェクトストレージ。</a:t>
            </a:r>
            <a:endParaRPr lang="en-US" sz="2000" dirty="0"/>
          </a:p>
        </p:txBody>
      </p:sp>
      <p:sp>
        <p:nvSpPr>
          <p:cNvPr id="8"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[D04]</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NASとSANの違いを図で見る</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どちらも「ネットワークでつなぐ保存装置」です。使う側から見える姿が違います。</a:t>
            </a:r>
            <a:endParaRPr lang="en-US" sz="1800" dirty="0"/>
          </a:p>
        </p:txBody>
      </p:sp>
      <p:sp>
        <p:nvSpPr>
          <p:cNvPr id="7" name="Shape 5"/>
          <p:cNvSpPr/>
          <p:nvPr/>
        </p:nvSpPr>
        <p:spPr>
          <a:xfrm>
            <a:off x="320040" y="2515870"/>
            <a:ext cx="4846320" cy="502920"/>
          </a:xfrm>
          <a:prstGeom prst="roundRect">
            <a:avLst>
              <a:gd name="adj" fmla="val 18182"/>
            </a:avLst>
          </a:prstGeom>
          <a:solidFill>
            <a:srgbClr val="2F6BC2"/>
          </a:solidFill>
          <a:ln/>
        </p:spPr>
      </p:sp>
      <p:sp>
        <p:nvSpPr>
          <p:cNvPr id="8" name="Shape 6"/>
          <p:cNvSpPr/>
          <p:nvPr/>
        </p:nvSpPr>
        <p:spPr>
          <a:xfrm>
            <a:off x="448056" y="2607310"/>
            <a:ext cx="320040" cy="32004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518465" y="2677719"/>
            <a:ext cx="179222" cy="179222"/>
          </a:xfrm>
          <a:prstGeom prst="rect">
            <a:avLst/>
          </a:prstGeom>
        </p:spPr>
      </p:pic>
      <p:sp>
        <p:nvSpPr>
          <p:cNvPr id="10" name="Text 7"/>
          <p:cNvSpPr txBox="1"/>
          <p:nvPr/>
        </p:nvSpPr>
        <p:spPr>
          <a:xfrm>
            <a:off x="859536" y="2515870"/>
            <a:ext cx="4215384"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NAS：共有フォルダーとして使う</a:t>
            </a:r>
            <a:endParaRPr lang="en-US" sz="2000" dirty="0"/>
          </a:p>
        </p:txBody>
      </p:sp>
      <p:sp>
        <p:nvSpPr>
          <p:cNvPr id="11" name="Shape 8"/>
          <p:cNvSpPr/>
          <p:nvPr/>
        </p:nvSpPr>
        <p:spPr>
          <a:xfrm>
            <a:off x="320040" y="3174238"/>
            <a:ext cx="4846320" cy="911352"/>
          </a:xfrm>
          <a:prstGeom prst="roundRect">
            <a:avLst>
              <a:gd name="adj" fmla="val 12040"/>
            </a:avLst>
          </a:prstGeom>
          <a:solidFill>
            <a:srgbClr val="0B7A7A"/>
          </a:solidFill>
          <a:ln/>
        </p:spPr>
      </p:sp>
      <p:sp>
        <p:nvSpPr>
          <p:cNvPr id="12" name="Text 9"/>
          <p:cNvSpPr txBox="1"/>
          <p:nvPr/>
        </p:nvSpPr>
        <p:spPr>
          <a:xfrm>
            <a:off x="411480" y="3174238"/>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PC・サーバー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フォルダーを開く</a:t>
            </a:r>
            <a:endParaRPr lang="en-US" sz="2000" dirty="0"/>
          </a:p>
        </p:txBody>
      </p:sp>
      <p:sp>
        <p:nvSpPr>
          <p:cNvPr id="13" name="Shape 10"/>
          <p:cNvSpPr/>
          <p:nvPr/>
        </p:nvSpPr>
        <p:spPr>
          <a:xfrm>
            <a:off x="2743200" y="4268470"/>
            <a:ext cx="0" cy="438912"/>
          </a:xfrm>
          <a:prstGeom prst="line">
            <a:avLst/>
          </a:prstGeom>
          <a:noFill/>
          <a:ln w="38100">
            <a:solidFill>
              <a:srgbClr val="1B2A3A"/>
            </a:solidFill>
            <a:prstDash val="solid"/>
            <a:tailEnd type="triangle"/>
          </a:ln>
        </p:spPr>
      </p:sp>
      <p:sp>
        <p:nvSpPr>
          <p:cNvPr id="14" name="Shape 11"/>
          <p:cNvSpPr/>
          <p:nvPr/>
        </p:nvSpPr>
        <p:spPr>
          <a:xfrm>
            <a:off x="320040" y="4725670"/>
            <a:ext cx="4846320" cy="911352"/>
          </a:xfrm>
          <a:prstGeom prst="roundRect">
            <a:avLst>
              <a:gd name="adj" fmla="val 12040"/>
            </a:avLst>
          </a:prstGeom>
          <a:solidFill>
            <a:srgbClr val="475569"/>
          </a:solidFill>
          <a:ln/>
        </p:spPr>
      </p:sp>
      <p:sp>
        <p:nvSpPr>
          <p:cNvPr id="15" name="Text 12"/>
          <p:cNvSpPr txBox="1"/>
          <p:nvPr/>
        </p:nvSpPr>
        <p:spPr>
          <a:xfrm>
            <a:off x="411480" y="4725670"/>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普通のLAN</a:t>
            </a:r>
            <a:endParaRPr lang="en-US" sz="2000" dirty="0"/>
          </a:p>
        </p:txBody>
      </p:sp>
      <p:sp>
        <p:nvSpPr>
          <p:cNvPr id="16" name="Shape 13"/>
          <p:cNvSpPr/>
          <p:nvPr/>
        </p:nvSpPr>
        <p:spPr>
          <a:xfrm>
            <a:off x="2743200" y="5819902"/>
            <a:ext cx="0" cy="438912"/>
          </a:xfrm>
          <a:prstGeom prst="line">
            <a:avLst/>
          </a:prstGeom>
          <a:noFill/>
          <a:ln w="38100">
            <a:solidFill>
              <a:srgbClr val="1B2A3A"/>
            </a:solidFill>
            <a:prstDash val="solid"/>
            <a:tailEnd type="triangle"/>
          </a:ln>
        </p:spPr>
      </p:sp>
      <p:sp>
        <p:nvSpPr>
          <p:cNvPr id="17" name="Shape 14"/>
          <p:cNvSpPr/>
          <p:nvPr/>
        </p:nvSpPr>
        <p:spPr>
          <a:xfrm>
            <a:off x="320040" y="6277102"/>
            <a:ext cx="4846320" cy="911352"/>
          </a:xfrm>
          <a:prstGeom prst="roundRect">
            <a:avLst>
              <a:gd name="adj" fmla="val 12040"/>
            </a:avLst>
          </a:prstGeom>
          <a:solidFill>
            <a:srgbClr val="2F6BC2"/>
          </a:solidFill>
          <a:ln/>
        </p:spPr>
      </p:sp>
      <p:sp>
        <p:nvSpPr>
          <p:cNvPr id="18" name="Text 15"/>
          <p:cNvSpPr txBox="1"/>
          <p:nvPr/>
        </p:nvSpPr>
        <p:spPr>
          <a:xfrm>
            <a:off x="411480" y="627710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NAS</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共有フォルダーを提供</a:t>
            </a:r>
            <a:endParaRPr lang="en-US" sz="2000" dirty="0"/>
          </a:p>
        </p:txBody>
      </p:sp>
      <p:sp>
        <p:nvSpPr>
          <p:cNvPr id="19" name="Shape 16"/>
          <p:cNvSpPr/>
          <p:nvPr/>
        </p:nvSpPr>
        <p:spPr>
          <a:xfrm>
            <a:off x="320040" y="7371334"/>
            <a:ext cx="4846320" cy="502920"/>
          </a:xfrm>
          <a:prstGeom prst="roundRect">
            <a:avLst>
              <a:gd name="adj" fmla="val 18182"/>
            </a:avLst>
          </a:prstGeom>
          <a:solidFill>
            <a:srgbClr val="0B7A7A"/>
          </a:solidFill>
          <a:ln/>
        </p:spPr>
      </p:sp>
      <p:sp>
        <p:nvSpPr>
          <p:cNvPr id="20" name="Shape 17"/>
          <p:cNvSpPr/>
          <p:nvPr/>
        </p:nvSpPr>
        <p:spPr>
          <a:xfrm>
            <a:off x="448056" y="7462774"/>
            <a:ext cx="320040" cy="320040"/>
          </a:xfrm>
          <a:prstGeom prst="ellipse">
            <a:avLst/>
          </a:prstGeom>
          <a:solidFill>
            <a:srgbClr val="FFFFFF"/>
          </a:solidFill>
          <a:ln/>
        </p:spPr>
      </p:sp>
      <p:pic>
        <p:nvPicPr>
          <p:cNvPr id="21" name="Image 1" descr="preencoded.png">    </p:cNvPr>
          <p:cNvPicPr>
            <a:picLocks noChangeAspect="1"/>
          </p:cNvPicPr>
          <p:nvPr/>
        </p:nvPicPr>
        <p:blipFill>
          <a:blip r:embed="rId2"/>
          <a:stretch>
            <a:fillRect/>
          </a:stretch>
        </p:blipFill>
        <p:spPr>
          <a:xfrm>
            <a:off x="518465" y="7533183"/>
            <a:ext cx="179222" cy="179222"/>
          </a:xfrm>
          <a:prstGeom prst="rect">
            <a:avLst/>
          </a:prstGeom>
        </p:spPr>
      </p:pic>
      <p:sp>
        <p:nvSpPr>
          <p:cNvPr id="22" name="Text 18"/>
          <p:cNvSpPr txBox="1"/>
          <p:nvPr/>
        </p:nvSpPr>
        <p:spPr>
          <a:xfrm>
            <a:off x="859536" y="7371334"/>
            <a:ext cx="4215384"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SAN：ディスクとして使う</a:t>
            </a:r>
            <a:endParaRPr lang="en-US" sz="2000" dirty="0"/>
          </a:p>
        </p:txBody>
      </p:sp>
      <p:sp>
        <p:nvSpPr>
          <p:cNvPr id="23" name="Shape 19"/>
          <p:cNvSpPr/>
          <p:nvPr/>
        </p:nvSpPr>
        <p:spPr>
          <a:xfrm>
            <a:off x="320040" y="8029702"/>
            <a:ext cx="4846320" cy="911352"/>
          </a:xfrm>
          <a:prstGeom prst="roundRect">
            <a:avLst>
              <a:gd name="adj" fmla="val 12040"/>
            </a:avLst>
          </a:prstGeom>
          <a:solidFill>
            <a:srgbClr val="0B7A7A"/>
          </a:solidFill>
          <a:ln/>
        </p:spPr>
      </p:sp>
      <p:sp>
        <p:nvSpPr>
          <p:cNvPr id="24" name="Text 20"/>
          <p:cNvSpPr txBox="1"/>
          <p:nvPr/>
        </p:nvSpPr>
        <p:spPr>
          <a:xfrm>
            <a:off x="411480" y="802970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自分のディスクとして認識</a:t>
            </a:r>
            <a:endParaRPr lang="en-US" sz="2000" dirty="0"/>
          </a:p>
        </p:txBody>
      </p:sp>
      <p:sp>
        <p:nvSpPr>
          <p:cNvPr id="25" name="Text 2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NASとSANの違いを図で見る</a:t>
            </a:r>
            <a:endParaRPr lang="ja-JP" sz="2200" dirty="0"/>
          </a:p>
        </p:txBody>
      </p:sp>
      <p:sp>
        <p:nvSpPr>
          <p:cNvPr id="4" name="Shape 2"/>
          <p:cNvSpPr/>
          <p:nvPr/>
        </p:nvSpPr>
        <p:spPr>
          <a:xfrm>
            <a:off x="2743200" y="1318514"/>
            <a:ext cx="0" cy="438912"/>
          </a:xfrm>
          <a:prstGeom prst="line">
            <a:avLst/>
          </a:prstGeom>
          <a:noFill/>
          <a:ln w="38100">
            <a:solidFill>
              <a:srgbClr val="1B2A3A"/>
            </a:solidFill>
            <a:prstDash val="solid"/>
            <a:tailEnd type="triangle"/>
          </a:ln>
        </p:spPr>
      </p:sp>
      <p:sp>
        <p:nvSpPr>
          <p:cNvPr id="5" name="Shape 3"/>
          <p:cNvSpPr/>
          <p:nvPr/>
        </p:nvSpPr>
        <p:spPr>
          <a:xfrm>
            <a:off x="320040" y="1775714"/>
            <a:ext cx="4846320" cy="911352"/>
          </a:xfrm>
          <a:prstGeom prst="roundRect">
            <a:avLst>
              <a:gd name="adj" fmla="val 12040"/>
            </a:avLst>
          </a:prstGeom>
          <a:solidFill>
            <a:srgbClr val="475569"/>
          </a:solidFill>
          <a:ln/>
        </p:spPr>
      </p:sp>
      <p:sp>
        <p:nvSpPr>
          <p:cNvPr id="6" name="Text 4"/>
          <p:cNvSpPr txBox="1"/>
          <p:nvPr/>
        </p:nvSpPr>
        <p:spPr>
          <a:xfrm>
            <a:off x="411480" y="177571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SAN</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保存用のネットワーク</a:t>
            </a:r>
            <a:endParaRPr lang="en-US" sz="2000" dirty="0"/>
          </a:p>
        </p:txBody>
      </p:sp>
      <p:sp>
        <p:nvSpPr>
          <p:cNvPr id="7" name="Shape 5"/>
          <p:cNvSpPr/>
          <p:nvPr/>
        </p:nvSpPr>
        <p:spPr>
          <a:xfrm>
            <a:off x="2743200" y="2869946"/>
            <a:ext cx="0" cy="438912"/>
          </a:xfrm>
          <a:prstGeom prst="line">
            <a:avLst/>
          </a:prstGeom>
          <a:noFill/>
          <a:ln w="38100">
            <a:solidFill>
              <a:srgbClr val="1B2A3A"/>
            </a:solidFill>
            <a:prstDash val="solid"/>
            <a:tailEnd type="triangle"/>
          </a:ln>
        </p:spPr>
      </p:sp>
      <p:sp>
        <p:nvSpPr>
          <p:cNvPr id="8" name="Shape 6"/>
          <p:cNvSpPr/>
          <p:nvPr/>
        </p:nvSpPr>
        <p:spPr>
          <a:xfrm>
            <a:off x="320040" y="3327146"/>
            <a:ext cx="4846320" cy="911352"/>
          </a:xfrm>
          <a:prstGeom prst="roundRect">
            <a:avLst>
              <a:gd name="adj" fmla="val 12040"/>
            </a:avLst>
          </a:prstGeom>
          <a:solidFill>
            <a:srgbClr val="2F6BC2"/>
          </a:solidFill>
          <a:ln/>
        </p:spPr>
      </p:sp>
      <p:sp>
        <p:nvSpPr>
          <p:cNvPr id="9" name="Text 7"/>
          <p:cNvSpPr txBox="1"/>
          <p:nvPr/>
        </p:nvSpPr>
        <p:spPr>
          <a:xfrm>
            <a:off x="411480" y="332714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ストレージ装置</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ディスク領域を提供</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関係図：ストレージの部品</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CPU・メモリ・ストレージと、SSD・HDD・NVMe・M.2・RAIDがどうつながるかを、1枚で整理します。</a:t>
            </a:r>
            <a:endParaRPr lang="en-US" sz="1800" dirty="0"/>
          </a:p>
        </p:txBody>
      </p:sp>
      <p:sp>
        <p:nvSpPr>
          <p:cNvPr id="6" name="Shape 4"/>
          <p:cNvSpPr/>
          <p:nvPr/>
        </p:nvSpPr>
        <p:spPr>
          <a:xfrm flipH="1">
            <a:off x="1289304" y="3567430"/>
            <a:ext cx="1453896" cy="484632"/>
          </a:xfrm>
          <a:prstGeom prst="line">
            <a:avLst/>
          </a:prstGeom>
          <a:noFill/>
          <a:ln w="31750">
            <a:solidFill>
              <a:srgbClr val="1B2A3A"/>
            </a:solidFill>
            <a:prstDash val="solid"/>
            <a:headEnd type="triangle"/>
            <a:tailEnd type="triangle"/>
          </a:ln>
        </p:spPr>
      </p:sp>
      <p:sp>
        <p:nvSpPr>
          <p:cNvPr id="7" name="Text 5"/>
          <p:cNvSpPr txBox="1"/>
          <p:nvPr/>
        </p:nvSpPr>
        <p:spPr>
          <a:xfrm>
            <a:off x="1353312" y="3656584"/>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データを渡す</a:t>
            </a:r>
            <a:endParaRPr lang="en-US" sz="1500" dirty="0"/>
          </a:p>
        </p:txBody>
      </p:sp>
      <p:sp>
        <p:nvSpPr>
          <p:cNvPr id="8" name="Shape 6"/>
          <p:cNvSpPr/>
          <p:nvPr/>
        </p:nvSpPr>
        <p:spPr>
          <a:xfrm flipH="1">
            <a:off x="2020824" y="4426966"/>
            <a:ext cx="1347826" cy="0"/>
          </a:xfrm>
          <a:prstGeom prst="line">
            <a:avLst/>
          </a:prstGeom>
          <a:noFill/>
          <a:ln w="31750">
            <a:solidFill>
              <a:srgbClr val="1B2A3A"/>
            </a:solidFill>
            <a:prstDash val="solid"/>
            <a:tailEnd type="triangle"/>
          </a:ln>
        </p:spPr>
      </p:sp>
      <p:sp>
        <p:nvSpPr>
          <p:cNvPr id="9" name="Text 7"/>
          <p:cNvSpPr txBox="1"/>
          <p:nvPr/>
        </p:nvSpPr>
        <p:spPr>
          <a:xfrm>
            <a:off x="2222297" y="427380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読み込む</a:t>
            </a:r>
            <a:endParaRPr lang="en-US" sz="1500" dirty="0"/>
          </a:p>
        </p:txBody>
      </p:sp>
      <p:sp>
        <p:nvSpPr>
          <p:cNvPr id="10" name="Shape 8"/>
          <p:cNvSpPr/>
          <p:nvPr/>
        </p:nvSpPr>
        <p:spPr>
          <a:xfrm flipV="1">
            <a:off x="1531620" y="4801870"/>
            <a:ext cx="2568550" cy="484632"/>
          </a:xfrm>
          <a:prstGeom prst="line">
            <a:avLst/>
          </a:prstGeom>
          <a:noFill/>
          <a:ln w="31750">
            <a:solidFill>
              <a:srgbClr val="1B2A3A"/>
            </a:solidFill>
            <a:prstDash val="solid"/>
            <a:tailEnd type="triangle"/>
          </a:ln>
        </p:spPr>
      </p:sp>
      <p:sp>
        <p:nvSpPr>
          <p:cNvPr id="11" name="Text 9"/>
          <p:cNvSpPr txBox="1"/>
          <p:nvPr/>
        </p:nvSpPr>
        <p:spPr>
          <a:xfrm>
            <a:off x="2248205" y="489102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種類の一つ</a:t>
            </a:r>
            <a:endParaRPr lang="en-US" sz="1500" dirty="0"/>
          </a:p>
        </p:txBody>
      </p:sp>
      <p:sp>
        <p:nvSpPr>
          <p:cNvPr id="12" name="Shape 10"/>
          <p:cNvSpPr/>
          <p:nvPr/>
        </p:nvSpPr>
        <p:spPr>
          <a:xfrm flipV="1">
            <a:off x="4148633" y="4801870"/>
            <a:ext cx="0" cy="484632"/>
          </a:xfrm>
          <a:prstGeom prst="line">
            <a:avLst/>
          </a:prstGeom>
          <a:noFill/>
          <a:ln w="31750">
            <a:solidFill>
              <a:srgbClr val="1B2A3A"/>
            </a:solidFill>
            <a:prstDash val="solid"/>
            <a:tailEnd type="triangle"/>
          </a:ln>
        </p:spPr>
      </p:sp>
      <p:sp>
        <p:nvSpPr>
          <p:cNvPr id="13" name="Text 11"/>
          <p:cNvSpPr txBox="1"/>
          <p:nvPr/>
        </p:nvSpPr>
        <p:spPr>
          <a:xfrm>
            <a:off x="3580943" y="489102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種類の一つ</a:t>
            </a:r>
            <a:endParaRPr lang="en-US" sz="1500" dirty="0"/>
          </a:p>
        </p:txBody>
      </p:sp>
      <p:sp>
        <p:nvSpPr>
          <p:cNvPr id="14" name="Shape 12"/>
          <p:cNvSpPr/>
          <p:nvPr/>
        </p:nvSpPr>
        <p:spPr>
          <a:xfrm flipV="1">
            <a:off x="1289304" y="6036310"/>
            <a:ext cx="0" cy="484632"/>
          </a:xfrm>
          <a:prstGeom prst="line">
            <a:avLst/>
          </a:prstGeom>
          <a:noFill/>
          <a:ln w="31750">
            <a:solidFill>
              <a:srgbClr val="1B2A3A"/>
            </a:solidFill>
            <a:prstDash val="solid"/>
            <a:tailEnd type="triangle"/>
          </a:ln>
        </p:spPr>
      </p:sp>
      <p:sp>
        <p:nvSpPr>
          <p:cNvPr id="15" name="Text 13"/>
          <p:cNvSpPr txBox="1"/>
          <p:nvPr/>
        </p:nvSpPr>
        <p:spPr>
          <a:xfrm>
            <a:off x="721614" y="612546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高速に使う</a:t>
            </a:r>
            <a:endParaRPr lang="en-US" sz="1500" dirty="0"/>
          </a:p>
        </p:txBody>
      </p:sp>
      <p:sp>
        <p:nvSpPr>
          <p:cNvPr id="16" name="Shape 14"/>
          <p:cNvSpPr/>
          <p:nvPr/>
        </p:nvSpPr>
        <p:spPr>
          <a:xfrm flipV="1">
            <a:off x="2185873" y="6036310"/>
            <a:ext cx="0" cy="484632"/>
          </a:xfrm>
          <a:prstGeom prst="line">
            <a:avLst/>
          </a:prstGeom>
          <a:noFill/>
          <a:ln w="31750">
            <a:solidFill>
              <a:srgbClr val="1B2A3A"/>
            </a:solidFill>
            <a:prstDash val="solid"/>
            <a:tailEnd type="triangle"/>
          </a:ln>
        </p:spPr>
      </p:sp>
      <p:sp>
        <p:nvSpPr>
          <p:cNvPr id="17" name="Text 15"/>
          <p:cNvSpPr txBox="1"/>
          <p:nvPr/>
        </p:nvSpPr>
        <p:spPr>
          <a:xfrm>
            <a:off x="1713433" y="612546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部品の形</a:t>
            </a:r>
            <a:endParaRPr lang="en-US" sz="1500" dirty="0"/>
          </a:p>
        </p:txBody>
      </p:sp>
      <p:sp>
        <p:nvSpPr>
          <p:cNvPr id="18" name="Shape 16"/>
          <p:cNvSpPr/>
          <p:nvPr/>
        </p:nvSpPr>
        <p:spPr>
          <a:xfrm flipV="1">
            <a:off x="4318254" y="6036310"/>
            <a:ext cx="0" cy="484632"/>
          </a:xfrm>
          <a:prstGeom prst="line">
            <a:avLst/>
          </a:prstGeom>
          <a:noFill/>
          <a:ln w="31750">
            <a:solidFill>
              <a:srgbClr val="1B2A3A"/>
            </a:solidFill>
            <a:prstDash val="solid"/>
            <a:tailEnd type="triangle"/>
          </a:ln>
        </p:spPr>
      </p:sp>
      <p:sp>
        <p:nvSpPr>
          <p:cNvPr id="19" name="Text 17"/>
          <p:cNvSpPr txBox="1"/>
          <p:nvPr/>
        </p:nvSpPr>
        <p:spPr>
          <a:xfrm>
            <a:off x="3941064" y="6125464"/>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束ねる</a:t>
            </a:r>
            <a:endParaRPr lang="en-US" sz="1500" dirty="0"/>
          </a:p>
        </p:txBody>
      </p:sp>
      <p:sp>
        <p:nvSpPr>
          <p:cNvPr id="20" name="Shape 18"/>
          <p:cNvSpPr/>
          <p:nvPr/>
        </p:nvSpPr>
        <p:spPr>
          <a:xfrm>
            <a:off x="2011680" y="2817622"/>
            <a:ext cx="1463040" cy="749808"/>
          </a:xfrm>
          <a:prstGeom prst="roundRect">
            <a:avLst>
              <a:gd name="adj" fmla="val 14634"/>
            </a:avLst>
          </a:prstGeom>
          <a:solidFill>
            <a:srgbClr val="E2E8F0"/>
          </a:solidFill>
          <a:ln w="25400">
            <a:solidFill>
              <a:srgbClr val="475569"/>
            </a:solidFill>
            <a:prstDash val="solid"/>
          </a:ln>
        </p:spPr>
      </p:sp>
      <p:sp>
        <p:nvSpPr>
          <p:cNvPr id="21" name="Text 19"/>
          <p:cNvSpPr txBox="1"/>
          <p:nvPr/>
        </p:nvSpPr>
        <p:spPr>
          <a:xfrm>
            <a:off x="2103120" y="281762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2" name="Shape 20"/>
          <p:cNvSpPr/>
          <p:nvPr/>
        </p:nvSpPr>
        <p:spPr>
          <a:xfrm>
            <a:off x="557784" y="4052062"/>
            <a:ext cx="1463040" cy="749808"/>
          </a:xfrm>
          <a:prstGeom prst="roundRect">
            <a:avLst>
              <a:gd name="adj" fmla="val 14634"/>
            </a:avLst>
          </a:prstGeom>
          <a:solidFill>
            <a:srgbClr val="E2E8F0"/>
          </a:solidFill>
          <a:ln w="25400">
            <a:solidFill>
              <a:srgbClr val="475569"/>
            </a:solidFill>
            <a:prstDash val="solid"/>
          </a:ln>
        </p:spPr>
      </p:sp>
      <p:sp>
        <p:nvSpPr>
          <p:cNvPr id="23" name="Text 21"/>
          <p:cNvSpPr txBox="1"/>
          <p:nvPr/>
        </p:nvSpPr>
        <p:spPr>
          <a:xfrm>
            <a:off x="649224" y="405206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4" name="Shape 22"/>
          <p:cNvSpPr/>
          <p:nvPr/>
        </p:nvSpPr>
        <p:spPr>
          <a:xfrm>
            <a:off x="3368650" y="4052062"/>
            <a:ext cx="1463040" cy="749808"/>
          </a:xfrm>
          <a:prstGeom prst="roundRect">
            <a:avLst>
              <a:gd name="adj" fmla="val 14634"/>
            </a:avLst>
          </a:prstGeom>
          <a:solidFill>
            <a:srgbClr val="E2E8F0"/>
          </a:solidFill>
          <a:ln w="25400">
            <a:solidFill>
              <a:srgbClr val="475569"/>
            </a:solidFill>
            <a:prstDash val="solid"/>
          </a:ln>
        </p:spPr>
      </p:sp>
      <p:sp>
        <p:nvSpPr>
          <p:cNvPr id="25" name="Text 23"/>
          <p:cNvSpPr txBox="1"/>
          <p:nvPr/>
        </p:nvSpPr>
        <p:spPr>
          <a:xfrm>
            <a:off x="3460090" y="405206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6" name="Shape 24"/>
          <p:cNvSpPr/>
          <p:nvPr/>
        </p:nvSpPr>
        <p:spPr>
          <a:xfrm>
            <a:off x="800100" y="5286502"/>
            <a:ext cx="1463040" cy="749808"/>
          </a:xfrm>
          <a:prstGeom prst="roundRect">
            <a:avLst>
              <a:gd name="adj" fmla="val 14634"/>
            </a:avLst>
          </a:prstGeom>
          <a:solidFill>
            <a:srgbClr val="E2E8F0"/>
          </a:solidFill>
          <a:ln w="25400">
            <a:solidFill>
              <a:srgbClr val="475569"/>
            </a:solidFill>
            <a:prstDash val="solid"/>
          </a:ln>
        </p:spPr>
      </p:sp>
      <p:sp>
        <p:nvSpPr>
          <p:cNvPr id="27" name="Text 25"/>
          <p:cNvSpPr txBox="1"/>
          <p:nvPr/>
        </p:nvSpPr>
        <p:spPr>
          <a:xfrm>
            <a:off x="891540" y="528650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SSD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8" name="Shape 26"/>
          <p:cNvSpPr/>
          <p:nvPr/>
        </p:nvSpPr>
        <p:spPr>
          <a:xfrm>
            <a:off x="3465576" y="5286502"/>
            <a:ext cx="1463040" cy="749808"/>
          </a:xfrm>
          <a:prstGeom prst="roundRect">
            <a:avLst>
              <a:gd name="adj" fmla="val 14634"/>
            </a:avLst>
          </a:prstGeom>
          <a:solidFill>
            <a:srgbClr val="E2E8F0"/>
          </a:solidFill>
          <a:ln w="25400">
            <a:solidFill>
              <a:srgbClr val="475569"/>
            </a:solidFill>
            <a:prstDash val="solid"/>
          </a:ln>
        </p:spPr>
      </p:sp>
      <p:sp>
        <p:nvSpPr>
          <p:cNvPr id="29" name="Text 27"/>
          <p:cNvSpPr txBox="1"/>
          <p:nvPr/>
        </p:nvSpPr>
        <p:spPr>
          <a:xfrm>
            <a:off x="3557016" y="528650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HDD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0" name="Shape 28"/>
          <p:cNvSpPr/>
          <p:nvPr/>
        </p:nvSpPr>
        <p:spPr>
          <a:xfrm>
            <a:off x="315468" y="6520942"/>
            <a:ext cx="1463040" cy="749808"/>
          </a:xfrm>
          <a:prstGeom prst="roundRect">
            <a:avLst>
              <a:gd name="adj" fmla="val 14634"/>
            </a:avLst>
          </a:prstGeom>
          <a:solidFill>
            <a:srgbClr val="E2E8F0"/>
          </a:solidFill>
          <a:ln w="25400">
            <a:solidFill>
              <a:srgbClr val="475569"/>
            </a:solidFill>
            <a:prstDash val="solid"/>
          </a:ln>
        </p:spPr>
      </p:sp>
      <p:sp>
        <p:nvSpPr>
          <p:cNvPr id="31" name="Text 29"/>
          <p:cNvSpPr txBox="1"/>
          <p:nvPr/>
        </p:nvSpPr>
        <p:spPr>
          <a:xfrm>
            <a:off x="406908" y="652094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NVMe</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2" name="Shape 30"/>
          <p:cNvSpPr/>
          <p:nvPr/>
        </p:nvSpPr>
        <p:spPr>
          <a:xfrm>
            <a:off x="2108606" y="6520942"/>
            <a:ext cx="1463040" cy="749808"/>
          </a:xfrm>
          <a:prstGeom prst="roundRect">
            <a:avLst>
              <a:gd name="adj" fmla="val 14634"/>
            </a:avLst>
          </a:prstGeom>
          <a:solidFill>
            <a:srgbClr val="E2E8F0"/>
          </a:solidFill>
          <a:ln w="25400">
            <a:solidFill>
              <a:srgbClr val="475569"/>
            </a:solidFill>
            <a:prstDash val="solid"/>
          </a:ln>
        </p:spPr>
      </p:sp>
      <p:sp>
        <p:nvSpPr>
          <p:cNvPr id="33" name="Text 31"/>
          <p:cNvSpPr txBox="1"/>
          <p:nvPr/>
        </p:nvSpPr>
        <p:spPr>
          <a:xfrm>
            <a:off x="2200046" y="652094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M.2</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4" name="Shape 32"/>
          <p:cNvSpPr/>
          <p:nvPr/>
        </p:nvSpPr>
        <p:spPr>
          <a:xfrm>
            <a:off x="3707892" y="6520942"/>
            <a:ext cx="1463040" cy="749808"/>
          </a:xfrm>
          <a:prstGeom prst="roundRect">
            <a:avLst>
              <a:gd name="adj" fmla="val 14634"/>
            </a:avLst>
          </a:prstGeom>
          <a:solidFill>
            <a:srgbClr val="E2E8F0"/>
          </a:solidFill>
          <a:ln w="25400">
            <a:solidFill>
              <a:srgbClr val="475569"/>
            </a:solidFill>
            <a:prstDash val="solid"/>
          </a:ln>
        </p:spPr>
      </p:sp>
      <p:sp>
        <p:nvSpPr>
          <p:cNvPr id="35" name="Text 33"/>
          <p:cNvSpPr txBox="1"/>
          <p:nvPr/>
        </p:nvSpPr>
        <p:spPr>
          <a:xfrm>
            <a:off x="3799332" y="652094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関係図：保存のしかたと置き場所</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ファイル・ブロック・オブジェクトの3つの方式と、それぞれを提供する装置・サービスの関係です。</a:t>
            </a:r>
            <a:endParaRPr lang="en-US" sz="1800" dirty="0"/>
          </a:p>
        </p:txBody>
      </p:sp>
      <p:sp>
        <p:nvSpPr>
          <p:cNvPr id="6" name="Shape 4"/>
          <p:cNvSpPr/>
          <p:nvPr/>
        </p:nvSpPr>
        <p:spPr>
          <a:xfrm flipV="1">
            <a:off x="1127760" y="3980180"/>
            <a:ext cx="0" cy="484632"/>
          </a:xfrm>
          <a:prstGeom prst="line">
            <a:avLst/>
          </a:prstGeom>
          <a:noFill/>
          <a:ln w="31750">
            <a:solidFill>
              <a:srgbClr val="1B2A3A"/>
            </a:solidFill>
            <a:prstDash val="solid"/>
            <a:tailEnd type="triangle"/>
          </a:ln>
        </p:spPr>
      </p:sp>
      <p:sp>
        <p:nvSpPr>
          <p:cNvPr id="7" name="Text 5"/>
          <p:cNvSpPr txBox="1"/>
          <p:nvPr/>
        </p:nvSpPr>
        <p:spPr>
          <a:xfrm>
            <a:off x="369570" y="4069334"/>
            <a:ext cx="1516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ファイルを提供</a:t>
            </a:r>
            <a:endParaRPr lang="en-US" sz="1500" dirty="0"/>
          </a:p>
        </p:txBody>
      </p:sp>
      <p:sp>
        <p:nvSpPr>
          <p:cNvPr id="8" name="Shape 6"/>
          <p:cNvSpPr/>
          <p:nvPr/>
        </p:nvSpPr>
        <p:spPr>
          <a:xfrm flipV="1">
            <a:off x="2743200" y="3980180"/>
            <a:ext cx="0" cy="484632"/>
          </a:xfrm>
          <a:prstGeom prst="line">
            <a:avLst/>
          </a:prstGeom>
          <a:noFill/>
          <a:ln w="31750">
            <a:solidFill>
              <a:srgbClr val="1B2A3A"/>
            </a:solidFill>
            <a:prstDash val="solid"/>
            <a:tailEnd type="triangle"/>
          </a:ln>
        </p:spPr>
      </p:sp>
      <p:sp>
        <p:nvSpPr>
          <p:cNvPr id="9" name="Text 7"/>
          <p:cNvSpPr txBox="1"/>
          <p:nvPr/>
        </p:nvSpPr>
        <p:spPr>
          <a:xfrm>
            <a:off x="1985010" y="4069334"/>
            <a:ext cx="1516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ディスクを提供</a:t>
            </a:r>
            <a:endParaRPr lang="en-US" sz="1500" dirty="0"/>
          </a:p>
        </p:txBody>
      </p:sp>
      <p:sp>
        <p:nvSpPr>
          <p:cNvPr id="10" name="Shape 8"/>
          <p:cNvSpPr/>
          <p:nvPr/>
        </p:nvSpPr>
        <p:spPr>
          <a:xfrm flipV="1">
            <a:off x="4358640" y="3980180"/>
            <a:ext cx="0" cy="484632"/>
          </a:xfrm>
          <a:prstGeom prst="line">
            <a:avLst/>
          </a:prstGeom>
          <a:noFill/>
          <a:ln w="31750">
            <a:solidFill>
              <a:srgbClr val="1B2A3A"/>
            </a:solidFill>
            <a:prstDash val="solid"/>
            <a:tailEnd type="triangle"/>
          </a:ln>
        </p:spPr>
      </p:sp>
      <p:sp>
        <p:nvSpPr>
          <p:cNvPr id="11" name="Text 9"/>
          <p:cNvSpPr txBox="1"/>
          <p:nvPr/>
        </p:nvSpPr>
        <p:spPr>
          <a:xfrm>
            <a:off x="3695700" y="4069334"/>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代表サービス</a:t>
            </a:r>
            <a:endParaRPr lang="en-US" sz="1500" dirty="0"/>
          </a:p>
        </p:txBody>
      </p:sp>
      <p:sp>
        <p:nvSpPr>
          <p:cNvPr id="12" name="Shape 10"/>
          <p:cNvSpPr/>
          <p:nvPr/>
        </p:nvSpPr>
        <p:spPr>
          <a:xfrm flipV="1">
            <a:off x="1314450" y="5214620"/>
            <a:ext cx="0" cy="484632"/>
          </a:xfrm>
          <a:prstGeom prst="line">
            <a:avLst/>
          </a:prstGeom>
          <a:noFill/>
          <a:ln w="31750">
            <a:solidFill>
              <a:srgbClr val="1B2A3A"/>
            </a:solidFill>
            <a:prstDash val="solid"/>
            <a:tailEnd type="triangle"/>
          </a:ln>
        </p:spPr>
      </p:sp>
      <p:sp>
        <p:nvSpPr>
          <p:cNvPr id="13" name="Text 11"/>
          <p:cNvSpPr txBox="1"/>
          <p:nvPr/>
        </p:nvSpPr>
        <p:spPr>
          <a:xfrm>
            <a:off x="651510" y="5303774"/>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故障に備える</a:t>
            </a:r>
            <a:endParaRPr lang="en-US" sz="1500" dirty="0"/>
          </a:p>
        </p:txBody>
      </p:sp>
      <p:sp>
        <p:nvSpPr>
          <p:cNvPr id="14" name="Shape 12"/>
          <p:cNvSpPr/>
          <p:nvPr/>
        </p:nvSpPr>
        <p:spPr>
          <a:xfrm flipV="1">
            <a:off x="3333750" y="5214620"/>
            <a:ext cx="0" cy="484632"/>
          </a:xfrm>
          <a:prstGeom prst="line">
            <a:avLst/>
          </a:prstGeom>
          <a:noFill/>
          <a:ln w="31750">
            <a:solidFill>
              <a:srgbClr val="1B2A3A"/>
            </a:solidFill>
            <a:prstDash val="solid"/>
            <a:tailEnd type="triangle"/>
          </a:ln>
        </p:spPr>
      </p:sp>
      <p:sp>
        <p:nvSpPr>
          <p:cNvPr id="15" name="Text 13"/>
          <p:cNvSpPr txBox="1"/>
          <p:nvPr/>
        </p:nvSpPr>
        <p:spPr>
          <a:xfrm>
            <a:off x="2766060" y="530377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通信を運ぶ</a:t>
            </a:r>
            <a:endParaRPr lang="en-US" sz="1500" dirty="0"/>
          </a:p>
        </p:txBody>
      </p:sp>
      <p:sp>
        <p:nvSpPr>
          <p:cNvPr id="16" name="Shape 14"/>
          <p:cNvSpPr/>
          <p:nvPr/>
        </p:nvSpPr>
        <p:spPr>
          <a:xfrm>
            <a:off x="381000" y="3230372"/>
            <a:ext cx="1493520" cy="749808"/>
          </a:xfrm>
          <a:prstGeom prst="roundRect">
            <a:avLst>
              <a:gd name="adj" fmla="val 14634"/>
            </a:avLst>
          </a:prstGeom>
          <a:solidFill>
            <a:srgbClr val="DCE8F8"/>
          </a:solidFill>
          <a:ln w="25400">
            <a:solidFill>
              <a:srgbClr val="2F6BC2"/>
            </a:solidFill>
            <a:prstDash val="solid"/>
          </a:ln>
        </p:spPr>
      </p:sp>
      <p:sp>
        <p:nvSpPr>
          <p:cNvPr id="17" name="Text 15"/>
          <p:cNvSpPr txBox="1"/>
          <p:nvPr/>
        </p:nvSpPr>
        <p:spPr>
          <a:xfrm>
            <a:off x="472440" y="3230372"/>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ファイルシステム</a:t>
            </a:r>
            <a:endParaRPr lang="en-US" sz="1600" dirty="0"/>
          </a:p>
        </p:txBody>
      </p:sp>
      <p:sp>
        <p:nvSpPr>
          <p:cNvPr id="18" name="Shape 16"/>
          <p:cNvSpPr/>
          <p:nvPr/>
        </p:nvSpPr>
        <p:spPr>
          <a:xfrm>
            <a:off x="1996440" y="3230372"/>
            <a:ext cx="1493520" cy="749808"/>
          </a:xfrm>
          <a:prstGeom prst="roundRect">
            <a:avLst>
              <a:gd name="adj" fmla="val 14634"/>
            </a:avLst>
          </a:prstGeom>
          <a:solidFill>
            <a:srgbClr val="E2E8F0"/>
          </a:solidFill>
          <a:ln w="25400">
            <a:solidFill>
              <a:srgbClr val="475569"/>
            </a:solidFill>
            <a:prstDash val="solid"/>
          </a:ln>
        </p:spPr>
      </p:sp>
      <p:sp>
        <p:nvSpPr>
          <p:cNvPr id="19" name="Text 17"/>
          <p:cNvSpPr txBox="1"/>
          <p:nvPr/>
        </p:nvSpPr>
        <p:spPr>
          <a:xfrm>
            <a:off x="2087880" y="3230372"/>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ブロックストレージ</a:t>
            </a:r>
            <a:endParaRPr lang="en-US" sz="1600" dirty="0"/>
          </a:p>
        </p:txBody>
      </p:sp>
      <p:sp>
        <p:nvSpPr>
          <p:cNvPr id="20" name="Shape 18"/>
          <p:cNvSpPr/>
          <p:nvPr/>
        </p:nvSpPr>
        <p:spPr>
          <a:xfrm>
            <a:off x="3611880" y="3230372"/>
            <a:ext cx="1493520" cy="749808"/>
          </a:xfrm>
          <a:prstGeom prst="roundRect">
            <a:avLst>
              <a:gd name="adj" fmla="val 14634"/>
            </a:avLst>
          </a:prstGeom>
          <a:solidFill>
            <a:srgbClr val="DFF1FB"/>
          </a:solidFill>
          <a:ln w="25400">
            <a:solidFill>
              <a:srgbClr val="0369A1"/>
            </a:solidFill>
            <a:prstDash val="solid"/>
          </a:ln>
        </p:spPr>
      </p:sp>
      <p:sp>
        <p:nvSpPr>
          <p:cNvPr id="21" name="Text 19"/>
          <p:cNvSpPr txBox="1"/>
          <p:nvPr/>
        </p:nvSpPr>
        <p:spPr>
          <a:xfrm>
            <a:off x="3703320" y="3230372"/>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オブジェクトストレージ</a:t>
            </a:r>
            <a:endParaRPr lang="en-US" sz="1600" dirty="0"/>
          </a:p>
        </p:txBody>
      </p:sp>
      <p:sp>
        <p:nvSpPr>
          <p:cNvPr id="22" name="Shape 20"/>
          <p:cNvSpPr/>
          <p:nvPr/>
        </p:nvSpPr>
        <p:spPr>
          <a:xfrm>
            <a:off x="381000" y="4464812"/>
            <a:ext cx="1493520" cy="749808"/>
          </a:xfrm>
          <a:prstGeom prst="roundRect">
            <a:avLst>
              <a:gd name="adj" fmla="val 14634"/>
            </a:avLst>
          </a:prstGeom>
          <a:solidFill>
            <a:srgbClr val="E2E8F0"/>
          </a:solidFill>
          <a:ln w="25400">
            <a:solidFill>
              <a:srgbClr val="475569"/>
            </a:solidFill>
            <a:prstDash val="solid"/>
          </a:ln>
        </p:spPr>
      </p:sp>
      <p:sp>
        <p:nvSpPr>
          <p:cNvPr id="23" name="Text 21"/>
          <p:cNvSpPr txBox="1"/>
          <p:nvPr/>
        </p:nvSpPr>
        <p:spPr>
          <a:xfrm>
            <a:off x="472440" y="4464812"/>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NAS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4" name="Shape 22"/>
          <p:cNvSpPr/>
          <p:nvPr/>
        </p:nvSpPr>
        <p:spPr>
          <a:xfrm>
            <a:off x="1996440" y="4464812"/>
            <a:ext cx="1493520" cy="749808"/>
          </a:xfrm>
          <a:prstGeom prst="roundRect">
            <a:avLst>
              <a:gd name="adj" fmla="val 14634"/>
            </a:avLst>
          </a:prstGeom>
          <a:solidFill>
            <a:srgbClr val="E2E8F0"/>
          </a:solidFill>
          <a:ln w="25400">
            <a:solidFill>
              <a:srgbClr val="475569"/>
            </a:solidFill>
            <a:prstDash val="solid"/>
          </a:ln>
        </p:spPr>
      </p:sp>
      <p:sp>
        <p:nvSpPr>
          <p:cNvPr id="25" name="Text 23"/>
          <p:cNvSpPr txBox="1"/>
          <p:nvPr/>
        </p:nvSpPr>
        <p:spPr>
          <a:xfrm>
            <a:off x="2087880" y="4464812"/>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SAN</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6" name="Shape 24"/>
          <p:cNvSpPr/>
          <p:nvPr/>
        </p:nvSpPr>
        <p:spPr>
          <a:xfrm>
            <a:off x="3611880" y="4464812"/>
            <a:ext cx="1493520" cy="749808"/>
          </a:xfrm>
          <a:prstGeom prst="roundRect">
            <a:avLst>
              <a:gd name="adj" fmla="val 14634"/>
            </a:avLst>
          </a:prstGeom>
          <a:solidFill>
            <a:srgbClr val="DFF1FB"/>
          </a:solidFill>
          <a:ln w="25400">
            <a:solidFill>
              <a:srgbClr val="0369A1"/>
            </a:solidFill>
            <a:prstDash val="solid"/>
          </a:ln>
        </p:spPr>
      </p:sp>
      <p:sp>
        <p:nvSpPr>
          <p:cNvPr id="27" name="Text 25"/>
          <p:cNvSpPr txBox="1"/>
          <p:nvPr/>
        </p:nvSpPr>
        <p:spPr>
          <a:xfrm>
            <a:off x="3703320" y="4464812"/>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Amazon S3</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28" name="Shape 26"/>
          <p:cNvSpPr/>
          <p:nvPr/>
        </p:nvSpPr>
        <p:spPr>
          <a:xfrm>
            <a:off x="754380" y="5699252"/>
            <a:ext cx="1554480" cy="749808"/>
          </a:xfrm>
          <a:prstGeom prst="roundRect">
            <a:avLst>
              <a:gd name="adj" fmla="val 14634"/>
            </a:avLst>
          </a:prstGeom>
          <a:solidFill>
            <a:srgbClr val="E2E8F0"/>
          </a:solidFill>
          <a:ln w="25400">
            <a:solidFill>
              <a:srgbClr val="475569"/>
            </a:solidFill>
            <a:prstDash val="solid"/>
          </a:ln>
        </p:spPr>
      </p:sp>
      <p:sp>
        <p:nvSpPr>
          <p:cNvPr id="29" name="Text 27"/>
          <p:cNvSpPr txBox="1"/>
          <p:nvPr/>
        </p:nvSpPr>
        <p:spPr>
          <a:xfrm>
            <a:off x="845820" y="569925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0" name="Shape 28"/>
          <p:cNvSpPr/>
          <p:nvPr/>
        </p:nvSpPr>
        <p:spPr>
          <a:xfrm>
            <a:off x="3177540" y="5699252"/>
            <a:ext cx="1554480" cy="749808"/>
          </a:xfrm>
          <a:prstGeom prst="roundRect">
            <a:avLst>
              <a:gd name="adj" fmla="val 14634"/>
            </a:avLst>
          </a:prstGeom>
          <a:solidFill>
            <a:srgbClr val="FDEBD0"/>
          </a:solidFill>
          <a:ln w="25400">
            <a:solidFill>
              <a:srgbClr val="B45309"/>
            </a:solidFill>
            <a:prstDash val="solid"/>
          </a:ln>
        </p:spPr>
      </p:sp>
      <p:sp>
        <p:nvSpPr>
          <p:cNvPr id="31" name="Text 29"/>
          <p:cNvSpPr txBox="1"/>
          <p:nvPr/>
        </p:nvSpPr>
        <p:spPr>
          <a:xfrm>
            <a:off x="3268980" y="569925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FCoE</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6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 [D04]</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メモリ</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計算中のデータを一時的に置いておく、速くて小さな作業スペース。</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パソコンやサーバーの中にある部品（ハードウェア）。多くはマザーボードに取り付けられている。</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2249424"/>
          </a:xfrm>
          <a:prstGeom prst="roundRect">
            <a:avLst>
              <a:gd name="adj" fmla="val 8000"/>
            </a:avLst>
          </a:prstGeom>
          <a:solidFill>
            <a:srgbClr val="475569"/>
          </a:solidFill>
          <a:ln/>
        </p:spPr>
      </p:sp>
      <p:sp>
        <p:nvSpPr>
          <p:cNvPr id="27" name="Text 25"/>
          <p:cNvSpPr txBox="1"/>
          <p:nvPr/>
        </p:nvSpPr>
        <p:spPr>
          <a:xfrm>
            <a:off x="411480" y="6139942"/>
            <a:ext cx="1188720" cy="2249424"/>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メモリ</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flipH="1">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読み込まれる</a:t>
            </a:r>
            <a:endParaRPr lang="en-US" sz="1500" dirty="0"/>
          </a:p>
        </p:txBody>
      </p:sp>
      <p:sp>
        <p:nvSpPr>
          <p:cNvPr id="36" name="Shape 34"/>
          <p:cNvSpPr/>
          <p:nvPr/>
        </p:nvSpPr>
        <p:spPr>
          <a:xfrm>
            <a:off x="3566160" y="7712710"/>
            <a:ext cx="1600200" cy="676656"/>
          </a:xfrm>
          <a:prstGeom prst="roundRect">
            <a:avLst>
              <a:gd name="adj" fmla="val 16216"/>
            </a:avLst>
          </a:prstGeom>
          <a:solidFill>
            <a:srgbClr val="DCE8F8"/>
          </a:solidFill>
          <a:ln w="25400">
            <a:solidFill>
              <a:srgbClr val="2F6BC2"/>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割り当てる</a:t>
            </a:r>
            <a:endParaRPr lang="en-US" sz="1500" dirty="0"/>
          </a:p>
        </p:txBody>
      </p:sp>
      <p:sp>
        <p:nvSpPr>
          <p:cNvPr id="40" name="Text 3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メモリ</a:t>
            </a:r>
            <a:endParaRPr lang="ja-JP" sz="2200" dirty="0"/>
          </a:p>
        </p:txBody>
      </p:sp>
      <p:sp>
        <p:nvSpPr>
          <p:cNvPr id="4" name="Shape 2"/>
          <p:cNvSpPr/>
          <p:nvPr/>
        </p:nvSpPr>
        <p:spPr>
          <a:xfrm>
            <a:off x="320040" y="1318514"/>
            <a:ext cx="4846320" cy="3117088"/>
          </a:xfrm>
          <a:prstGeom prst="roundRect">
            <a:avLst>
              <a:gd name="adj" fmla="val 4107"/>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読み：RAM（ラム）・主記憶</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メモリは、パソコンの中で「いま使っているデータ」をいったん置いておく部品です。CPU（計算をする頭脳）は、保存場所（ストレージ）から直接ではなく、まずメモリに読み込んだデータを使って計算し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E2E8F0"/>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とても速く読み書きできる代わりに、容量は小さめで（PCなら8〜32GB程度）、電源を切ると中身が消えます。アプリをたくさん開くとPCが重くなる原因の一つは、このメモリがいっぱいになることです。</a:t>
            </a:r>
            <a:endParaRPr lang="en-US" sz="2000" dirty="0"/>
          </a:p>
        </p:txBody>
      </p:sp>
      <p:sp>
        <p:nvSpPr>
          <p:cNvPr id="9" name="Shape 7"/>
          <p:cNvSpPr/>
          <p:nvPr/>
        </p:nvSpPr>
        <p:spPr>
          <a:xfrm>
            <a:off x="320040" y="6878066"/>
            <a:ext cx="4846320" cy="1935480"/>
          </a:xfrm>
          <a:prstGeom prst="roundRect">
            <a:avLst>
              <a:gd name="adj" fmla="val 6614"/>
            </a:avLst>
          </a:prstGeom>
          <a:solidFill>
            <a:srgbClr val="FDEBD0"/>
          </a:solidFill>
          <a:ln/>
        </p:spPr>
      </p:sp>
      <p:sp>
        <p:nvSpPr>
          <p:cNvPr id="10" name="Text 8"/>
          <p:cNvSpPr txBox="1"/>
          <p:nvPr/>
        </p:nvSpPr>
        <p:spPr>
          <a:xfrm>
            <a:off x="502920" y="69695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勉強机の上のスペース。広いほど教科書やノートを一度にたくさん広げて作業できますが、片づける（電源を切る）と机の上は空になります。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メモリ</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ブラウザのタブを20個開いたらPCが遅くなった、ゲームの必要スペックに「メモリ16GB」と書いてある、といった場面で出てきます。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FBE3E0"/>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「メモリ」と「ストレージ（保存容量）」は別物です。スマホの「容量128GB」はストレージのことで、メモリ（RAM）ではありません。</a:t>
            </a:r>
            <a:endParaRPr lang="en-US" sz="2000" dirty="0"/>
          </a:p>
        </p:txBody>
      </p:sp>
      <p:sp>
        <p:nvSpPr>
          <p:cNvPr id="8" name="Shape 6"/>
          <p:cNvSpPr/>
          <p:nvPr/>
        </p:nvSpPr>
        <p:spPr>
          <a:xfrm>
            <a:off x="320040" y="5555234"/>
            <a:ext cx="4846320" cy="1935480"/>
          </a:xfrm>
          <a:prstGeom prst="roundRect">
            <a:avLst>
              <a:gd name="adj" fmla="val 6614"/>
            </a:avLst>
          </a:prstGeom>
          <a:solidFill>
            <a:srgbClr val="DDF1E4"/>
          </a:solidFill>
          <a:ln/>
        </p:spPr>
      </p:sp>
      <p:sp>
        <p:nvSpPr>
          <p:cNvPr id="9" name="Text 7"/>
          <p:cNvSpPr txBox="1"/>
          <p:nvPr/>
        </p:nvSpPr>
        <p:spPr>
          <a:xfrm>
            <a:off x="502920" y="56466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Windowsのタスクマネージャー（Ctrl+Shift+Esc）を開き、メモリの使用量を見ましょう。アプリを開閉すると数字が変わります。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ストレージ</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データを長期に保存する置き場。電源を切っても中身が残る。</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パソコン・スマホ・サーバーの中（または外付け）にある保存用の部品。</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475569"/>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読み込まれる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flipH="1">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40" name="Shape 38"/>
          <p:cNvSpPr/>
          <p:nvPr/>
        </p:nvSpPr>
        <p:spPr>
          <a:xfrm>
            <a:off x="3566160" y="8499094"/>
            <a:ext cx="1600200" cy="676656"/>
          </a:xfrm>
          <a:prstGeom prst="roundRect">
            <a:avLst>
              <a:gd name="adj" fmla="val 16216"/>
            </a:avLst>
          </a:prstGeom>
          <a:solidFill>
            <a:srgbClr val="DCE8F8"/>
          </a:solidFill>
          <a:ln w="25400">
            <a:solidFill>
              <a:srgbClr val="2F6BC2"/>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整理する</a:t>
            </a:r>
            <a:endParaRPr lang="en-US" sz="1500" dirty="0"/>
          </a:p>
        </p:txBody>
      </p:sp>
      <p:sp>
        <p:nvSpPr>
          <p:cNvPr id="44" name="Shape 42"/>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6" name="Shape 44"/>
          <p:cNvSpPr/>
          <p:nvPr/>
        </p:nvSpPr>
        <p:spPr>
          <a:xfrm flipH="1">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ストレージ</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読み：ストレージ（storage）・記憶装置</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ストレージは、写真・文書・アプリ・OSなどのデータを長く保存しておく装置です。電源を切っても中身が消えないのが特徴で、作業中のデータを置くメモリとは、ここが違います。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E2E8F0"/>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代表的な種類は、SSD（フラッシュメモリという半導体を使う）とHDD（回転する円盤に磁気で記録する）です。SSDは速くて静か、HDDは大きな容量を用意しやすい、という違いがあります。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E2E8F0"/>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使うときは、ストレージのデータをいったんメモリに読み込み、CPUが計算します。ストレージの中身は、OSのファイルシステムが、ファイルとフォルダーの形に整理して管理します。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ストレージ</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倉庫。作業机（メモリ）よりたくさんしまえて、電源を切っても残りますが、荷物を取り出すには少し時間がかかります。</a:t>
            </a:r>
            <a:endParaRPr lang="en-US" sz="2000" dirty="0"/>
          </a:p>
        </p:txBody>
      </p:sp>
      <p:sp>
        <p:nvSpPr>
          <p:cNvPr id="6" name="Shape 4"/>
          <p:cNvSpPr/>
          <p:nvPr/>
        </p:nvSpPr>
        <p:spPr>
          <a:xfrm>
            <a:off x="320040" y="3101594"/>
            <a:ext cx="4846320" cy="1935480"/>
          </a:xfrm>
          <a:prstGeom prst="roundRect">
            <a:avLst>
              <a:gd name="adj" fmla="val 6614"/>
            </a:avLst>
          </a:prstGeom>
          <a:solidFill>
            <a:srgbClr val="DCE8F8"/>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スマホの「ストレージの空き容量が少ない」という警告、PCのCドライブの空き容量、USBメモリやSDカードに写真をコピーする場面で出てきます。</a:t>
            </a:r>
            <a:endParaRPr lang="en-US" sz="2000" dirty="0"/>
          </a:p>
        </p:txBody>
      </p:sp>
      <p:sp>
        <p:nvSpPr>
          <p:cNvPr id="8" name="Shape 6"/>
          <p:cNvSpPr/>
          <p:nvPr/>
        </p:nvSpPr>
        <p:spPr>
          <a:xfrm>
            <a:off x="320040" y="5219954"/>
            <a:ext cx="4846320" cy="2270760"/>
          </a:xfrm>
          <a:prstGeom prst="roundRect">
            <a:avLst>
              <a:gd name="adj" fmla="val 5638"/>
            </a:avLst>
          </a:prstGeom>
          <a:solidFill>
            <a:srgbClr val="FBE3E0"/>
          </a:solidFill>
          <a:ln/>
        </p:spPr>
      </p:sp>
      <p:sp>
        <p:nvSpPr>
          <p:cNvPr id="9" name="Text 7"/>
          <p:cNvSpPr txBox="1"/>
          <p:nvPr/>
        </p:nvSpPr>
        <p:spPr>
          <a:xfrm>
            <a:off x="502920" y="53113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ストレージは「壊れない金庫」ではありません。SSDもHDDも寿命や故障があり、誤って消すこともあります。大事なデータは、別の場所にバックアップを取りましょう。</a:t>
            </a:r>
            <a:endParaRPr lang="en-US" sz="2000" dirty="0"/>
          </a:p>
        </p:txBody>
      </p:sp>
      <p:sp>
        <p:nvSpPr>
          <p:cNvPr id="10" name="Shape 8"/>
          <p:cNvSpPr/>
          <p:nvPr/>
        </p:nvSpPr>
        <p:spPr>
          <a:xfrm>
            <a:off x="320040" y="7673594"/>
            <a:ext cx="4846320" cy="1600200"/>
          </a:xfrm>
          <a:prstGeom prst="roundRect">
            <a:avLst>
              <a:gd name="adj" fmla="val 8000"/>
            </a:avLst>
          </a:prstGeom>
          <a:solidFill>
            <a:srgbClr val="DDF1E4"/>
          </a:solidFill>
          <a:ln/>
        </p:spPr>
      </p:sp>
      <p:sp>
        <p:nvSpPr>
          <p:cNvPr id="11" name="Text 9"/>
          <p:cNvSpPr txBox="1"/>
          <p:nvPr/>
        </p:nvSpPr>
        <p:spPr>
          <a:xfrm>
            <a:off x="502920" y="776503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お使いのPCやスマホの設定で、ストレージの総容量と空き容量を確認し、何がいちばん容量を使っているか見てみましょう。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SSD</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フラッシュメモリでデータを保存する、動く部品のない高速なストレージ。</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パソコンやサーバーの中に入っている保存用の部品。ストレージの一種。</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475569"/>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SSD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NVMe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高速に使う</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M.2</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形を決める</a:t>
            </a:r>
            <a:endParaRPr lang="en-US" sz="1500" dirty="0"/>
          </a:p>
        </p:txBody>
      </p:sp>
      <p:sp>
        <p:nvSpPr>
          <p:cNvPr id="44" name="Shape 42"/>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6" name="Shape 44"/>
          <p:cNvSpPr/>
          <p:nvPr/>
        </p:nvSpPr>
        <p:spPr>
          <a:xfrm flipH="1">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SSD</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読み：エス・エス・ディー（Solid State Drive）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SSD（Solid State Drive）は、フラッシュメモリという半導体にデータを記録するストレージです。HDDのような回転する円盤や動く部品がなく、読み書きが速く、動作音もしません。</a:t>
            </a:r>
            <a:endParaRPr lang="en-US" sz="2000" dirty="0"/>
          </a:p>
        </p:txBody>
      </p:sp>
      <p:sp>
        <p:nvSpPr>
          <p:cNvPr id="7" name="Shape 5"/>
          <p:cNvSpPr/>
          <p:nvPr/>
        </p:nvSpPr>
        <p:spPr>
          <a:xfrm>
            <a:off x="320040" y="4844034"/>
            <a:ext cx="4846320" cy="2631440"/>
          </a:xfrm>
          <a:prstGeom prst="roundRect">
            <a:avLst>
              <a:gd name="adj" fmla="val 4865"/>
            </a:avLst>
          </a:prstGeom>
          <a:solidFill>
            <a:srgbClr val="E2E8F0"/>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フラッシュメモリは、電気を切ってもデータが残る半導体です。ただし、同じ場所に書き換えられる回数には限りがあり、使うほど少しずつ劣化します。そのためSSDの中には、書き込みを全体に分散させる制御用のチップが入っています。</a:t>
            </a:r>
            <a:endParaRPr lang="en-US" sz="2000" dirty="0"/>
          </a:p>
        </p:txBody>
      </p:sp>
      <p:sp>
        <p:nvSpPr>
          <p:cNvPr id="9" name="Shape 7"/>
          <p:cNvSpPr/>
          <p:nvPr/>
        </p:nvSpPr>
        <p:spPr>
          <a:xfrm>
            <a:off x="320040" y="7548626"/>
            <a:ext cx="4846320" cy="1960880"/>
          </a:xfrm>
          <a:prstGeom prst="roundRect">
            <a:avLst>
              <a:gd name="adj" fmla="val 6528"/>
            </a:avLst>
          </a:prstGeom>
          <a:solidFill>
            <a:srgbClr val="E2E8F0"/>
          </a:solidFill>
          <a:ln/>
        </p:spPr>
      </p:sp>
      <p:sp>
        <p:nvSpPr>
          <p:cNvPr id="10" name="Text 8"/>
          <p:cNvSpPr txBox="1"/>
          <p:nvPr/>
        </p:nvSpPr>
        <p:spPr>
          <a:xfrm>
            <a:off x="502920" y="764006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SSDには、HDDと同じ接続方式（SATA）で使うものと、さらに高速なNVMeで使うものがあります。形も、2.5インチの箱型や、細長い基板型（M.2）などがあります。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SSD</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番号を言えばどの棚にもすぐ手が届く倉庫。棚を回して探す必要がなく、動く部品もないので、取り出しがとても速いのです。</a:t>
            </a:r>
            <a:endParaRPr lang="en-US" sz="2000" dirty="0"/>
          </a:p>
        </p:txBody>
      </p:sp>
      <p:sp>
        <p:nvSpPr>
          <p:cNvPr id="6" name="Shape 4"/>
          <p:cNvSpPr/>
          <p:nvPr/>
        </p:nvSpPr>
        <p:spPr>
          <a:xfrm>
            <a:off x="320040" y="3101594"/>
            <a:ext cx="4846320" cy="1935480"/>
          </a:xfrm>
          <a:prstGeom prst="roundRect">
            <a:avLst>
              <a:gd name="adj" fmla="val 6614"/>
            </a:avLst>
          </a:prstGeom>
          <a:solidFill>
            <a:srgbClr val="DCE8F8"/>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PCを買い換えたら起動が一瞬で速くなった、ゲームのロード時間が短くなった、仕様に「SSD 512GB」と書いてある、といった場面で出てきます。</a:t>
            </a:r>
            <a:endParaRPr lang="en-US" sz="2000" dirty="0"/>
          </a:p>
        </p:txBody>
      </p:sp>
      <p:sp>
        <p:nvSpPr>
          <p:cNvPr id="8" name="Shape 6"/>
          <p:cNvSpPr/>
          <p:nvPr/>
        </p:nvSpPr>
        <p:spPr>
          <a:xfrm>
            <a:off x="320040" y="5219954"/>
            <a:ext cx="4846320" cy="2270760"/>
          </a:xfrm>
          <a:prstGeom prst="roundRect">
            <a:avLst>
              <a:gd name="adj" fmla="val 5638"/>
            </a:avLst>
          </a:prstGeom>
          <a:solidFill>
            <a:srgbClr val="FBE3E0"/>
          </a:solidFill>
          <a:ln/>
        </p:spPr>
      </p:sp>
      <p:sp>
        <p:nvSpPr>
          <p:cNvPr id="9" name="Text 7"/>
          <p:cNvSpPr txBox="1"/>
          <p:nvPr/>
        </p:nvSpPr>
        <p:spPr>
          <a:xfrm>
            <a:off x="502920" y="53113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SSDは「壊れない」ものではありません。書き換え回数に限りがあり、突然故障することもあります。また「SSD＝NVMe」でもなく、SATA接続のSSDもあります。</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PCのタスクマネージャーの「パフォーマンス」で、ディスクの種類（SSDかHDDか）を確認しましょう。型番を検索すると、容量や速度の仕様も分かります。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HDD</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回転する円盤に磁気でデータを記録する、大容量のストレージ。</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パソコンやサーバー、録画機などの中や外付けにある、箱型の保存装置。</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475569"/>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HDD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4" name="Shape 42"/>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6" name="Shape 44"/>
          <p:cNvSpPr/>
          <p:nvPr/>
        </p:nvSpPr>
        <p:spPr>
          <a:xfrm flipH="1">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保存先にする</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HDD</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読み：エイチ・ディー・ディー（Hard Disk Drive）・ハードディスク</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HDD（Hard Disk Drive）は、プラッターという円盤に、磁気でデータを記録するストレージです。円盤を高速で回転させ、ヘッドという針のような部品を動かして、データを読み書きします。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E2E8F0"/>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動く部品があるため、SSDより読み書きは遅く、音や振動が出ます。動作中の衝撃にも弱く、落とすと壊れやすいです。一方、大きな容量を用意しやすいので、動画の保存やバックアップに使われます。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E2E8F0"/>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データが円盤の離れた場所にばらばらにあると、ヘッドの移動と円盤の回転待ちが増えて、さらに遅くなります。サーバーやNASでは、複数のHDDをRAIDで組み合わせて使うことがあります。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HDD</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回転する棚から本を探す図書館。棚（円盤）が回り、司書（ヘッド）が本の場所まで取りに行きます。場所が遠いほど、時間がかかります。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古いノートPCが遅い原因がHDDだった、外付けHDDにPCのバックアップを取る、テレビの録画用ハードディスク、といった場面で出てきます。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「ハードディスク」は本来HDDのことですが、日常ではSSDも含めて呼ぶ人もいます。また、HDDは動作中に動かしたり落としたりすると、故障の原因になります。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PCの「ドライブのプロパティ」で容量と使用量を見て、自分のPCがHDDかSSDかを調べましょう。HDDなら、起動時に小さな回転音がすることがあります。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NVMe</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SSDを高速に使うために作られた、PCIe接続のための通信規格。</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パソコンやサーバーの中で、SSDとCPUをつなぐ通信の約束事（規格）。</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475569"/>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NVMe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高速に使う</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M.2</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高速化する</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NVMe</a:t>
            </a:r>
            <a:endParaRPr lang="ja-JP" sz="2200" dirty="0"/>
          </a:p>
        </p:txBody>
      </p:sp>
      <p:sp>
        <p:nvSpPr>
          <p:cNvPr id="4" name="Shape 2"/>
          <p:cNvSpPr/>
          <p:nvPr/>
        </p:nvSpPr>
        <p:spPr>
          <a:xfrm>
            <a:off x="320040" y="1318514"/>
            <a:ext cx="4846320" cy="3117088"/>
          </a:xfrm>
          <a:prstGeom prst="roundRect">
            <a:avLst>
              <a:gd name="adj" fmla="val 4107"/>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読み：エヌ・ブイ・エム・イー（NVM Express）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NVMe（NVM Express）は、SSDとコンピューターの間でデータをやりとりするための規格（約束事）です。フラッシュメモリを使うSSD向けに作られました。</a:t>
            </a:r>
            <a:endParaRPr lang="en-US" sz="2000" dirty="0"/>
          </a:p>
        </p:txBody>
      </p:sp>
      <p:sp>
        <p:nvSpPr>
          <p:cNvPr id="7" name="Shape 5"/>
          <p:cNvSpPr/>
          <p:nvPr/>
        </p:nvSpPr>
        <p:spPr>
          <a:xfrm>
            <a:off x="320040" y="4508754"/>
            <a:ext cx="4846320" cy="2296160"/>
          </a:xfrm>
          <a:prstGeom prst="roundRect">
            <a:avLst>
              <a:gd name="adj" fmla="val 5575"/>
            </a:avLst>
          </a:prstGeom>
          <a:solidFill>
            <a:srgbClr val="E2E8F0"/>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従来のSATAは、HDDの時代に作られた方式で、命令を1列に並べて処理します。NVMeは、PCIe（パソコン内部の高速な通信路）につなぎ、たくさんの命令の列を同時に処理できます。</a:t>
            </a:r>
            <a:endParaRPr lang="en-US" sz="2000" dirty="0"/>
          </a:p>
        </p:txBody>
      </p:sp>
      <p:sp>
        <p:nvSpPr>
          <p:cNvPr id="9" name="Shape 7"/>
          <p:cNvSpPr/>
          <p:nvPr/>
        </p:nvSpPr>
        <p:spPr>
          <a:xfrm>
            <a:off x="320040" y="6878066"/>
            <a:ext cx="4846320" cy="2631440"/>
          </a:xfrm>
          <a:prstGeom prst="roundRect">
            <a:avLst>
              <a:gd name="adj" fmla="val 4865"/>
            </a:avLst>
          </a:prstGeom>
          <a:solidFill>
            <a:srgbClr val="E2E8F0"/>
          </a:solidFill>
          <a:ln/>
        </p:spPr>
      </p:sp>
      <p:sp>
        <p:nvSpPr>
          <p:cNvPr id="10" name="Text 8"/>
          <p:cNvSpPr txBox="1"/>
          <p:nvPr/>
        </p:nvSpPr>
        <p:spPr>
          <a:xfrm>
            <a:off x="502920" y="696950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そのため、同じSSDでも、SATAよりNVMeのほうが速くなる場合が多いです。ただし、実際の速さはSSD本体の性能やパソコンの対応にも左右されます。形はM.2が多いですが、M.2のSSDにはSATA版もあります。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NVMe</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一般道路（SATA）と高速道路（NVMe）。NVMeは車線が多く、同時にたくさんの車（データ）が走れます。ただし、車（SSD本体）が遅いと、道だけ速くても意味がありません。</a:t>
            </a:r>
            <a:endParaRPr lang="en-US" sz="2000" dirty="0"/>
          </a:p>
        </p:txBody>
      </p:sp>
      <p:sp>
        <p:nvSpPr>
          <p:cNvPr id="6" name="Shape 4"/>
          <p:cNvSpPr/>
          <p:nvPr/>
        </p:nvSpPr>
        <p:spPr>
          <a:xfrm>
            <a:off x="320040" y="3772154"/>
            <a:ext cx="4846320" cy="2270760"/>
          </a:xfrm>
          <a:prstGeom prst="roundRect">
            <a:avLst>
              <a:gd name="adj" fmla="val 5638"/>
            </a:avLst>
          </a:prstGeom>
          <a:solidFill>
            <a:srgbClr val="DCE8F8"/>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PCの仕様に「SSD 512GB（NVMe）」と書かれている、ゲームの読み込みを速くしたくてNVMe SSDに交換する、サーバーの高速ストレージに使う、といった場面で出てきます。</a:t>
            </a:r>
            <a:endParaRPr lang="en-US" sz="2000" dirty="0"/>
          </a:p>
        </p:txBody>
      </p:sp>
      <p:sp>
        <p:nvSpPr>
          <p:cNvPr id="8" name="Shape 6"/>
          <p:cNvSpPr/>
          <p:nvPr/>
        </p:nvSpPr>
        <p:spPr>
          <a:xfrm>
            <a:off x="320040" y="6225794"/>
            <a:ext cx="4846320" cy="2270760"/>
          </a:xfrm>
          <a:prstGeom prst="roundRect">
            <a:avLst>
              <a:gd name="adj" fmla="val 5638"/>
            </a:avLst>
          </a:prstGeom>
          <a:solidFill>
            <a:srgbClr val="FBE3E0"/>
          </a:solidFill>
          <a:ln/>
        </p:spPr>
      </p:sp>
      <p:sp>
        <p:nvSpPr>
          <p:cNvPr id="9" name="Text 7"/>
          <p:cNvSpPr txBox="1"/>
          <p:nvPr/>
        </p:nvSpPr>
        <p:spPr>
          <a:xfrm>
            <a:off x="502920" y="631723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「M.2」と「NVMe」は別の話です。M.2は形（端子）の規格、NVMeは通信の規格で、M.2のSSDにもSATA接続のものがあります。買う前にPCの対応を確認しましょう。</a:t>
            </a:r>
            <a:endParaRPr lang="en-US" sz="2000" dirty="0"/>
          </a:p>
        </p:txBody>
      </p:sp>
      <p:sp>
        <p:nvSpPr>
          <p:cNvPr id="10" name="Shape 8"/>
          <p:cNvSpPr/>
          <p:nvPr/>
        </p:nvSpPr>
        <p:spPr>
          <a:xfrm>
            <a:off x="320040" y="8679434"/>
            <a:ext cx="4846320" cy="1600200"/>
          </a:xfrm>
          <a:prstGeom prst="roundRect">
            <a:avLst>
              <a:gd name="adj" fmla="val 8000"/>
            </a:avLst>
          </a:prstGeom>
          <a:solidFill>
            <a:srgbClr val="DDF1E4"/>
          </a:solidFill>
          <a:ln/>
        </p:spPr>
      </p:sp>
      <p:sp>
        <p:nvSpPr>
          <p:cNvPr id="11" name="Text 9"/>
          <p:cNvSpPr txBox="1"/>
          <p:nvPr/>
        </p:nvSpPr>
        <p:spPr>
          <a:xfrm>
            <a:off x="502920" y="877087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お使いのSSDの型番を検索して、NVMeかSATAかを調べ、メーカーが公開している読み込み速度の数字を比べてみましょう。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M.2</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小さな基板型の部品（主にSSD）を取り付けるための、形と端子の規格。</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マザーボードやノートPCの基板にある、小型基板用の差し込み口の規格。</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475569"/>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M.2</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形を決める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NVMe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PC自作</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取り付ける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つなぐ形</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M.2</a:t>
            </a:r>
            <a:endParaRPr lang="ja-JP" sz="2200" dirty="0"/>
          </a:p>
        </p:txBody>
      </p:sp>
      <p:sp>
        <p:nvSpPr>
          <p:cNvPr id="4" name="Shape 2"/>
          <p:cNvSpPr/>
          <p:nvPr/>
        </p:nvSpPr>
        <p:spPr>
          <a:xfrm>
            <a:off x="320040" y="1318514"/>
            <a:ext cx="4846320" cy="3117088"/>
          </a:xfrm>
          <a:prstGeom prst="roundRect">
            <a:avLst>
              <a:gd name="adj" fmla="val 4107"/>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読み：エム・ドット・ツー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M.2は、ガムほどの細長い小さな基板を、パソコンのマザーボード（部品をつなぐ大きな基板）に差し込むための、形と端子の規格です。SSDによく使われますが、Wi-Fiカードなどにも使われます。</a:t>
            </a:r>
            <a:endParaRPr lang="en-US" sz="2000" dirty="0"/>
          </a:p>
        </p:txBody>
      </p:sp>
      <p:sp>
        <p:nvSpPr>
          <p:cNvPr id="7" name="Shape 5"/>
          <p:cNvSpPr/>
          <p:nvPr/>
        </p:nvSpPr>
        <p:spPr>
          <a:xfrm>
            <a:off x="320040" y="4508754"/>
            <a:ext cx="4846320" cy="2631440"/>
          </a:xfrm>
          <a:prstGeom prst="roundRect">
            <a:avLst>
              <a:gd name="adj" fmla="val 4865"/>
            </a:avLst>
          </a:prstGeom>
          <a:solidFill>
            <a:srgbClr val="E2E8F0"/>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大事なのは、M.2は「形」の規格で、中身の通信方式は別だという点です。M.2のSSDには、PCIe接続のNVMe版と、SATA接続のSATA版があります。端子の切り欠き（キー）の位置で、差し込める種類が決まります。</a:t>
            </a:r>
            <a:endParaRPr lang="en-US" sz="2000" dirty="0"/>
          </a:p>
        </p:txBody>
      </p:sp>
      <p:sp>
        <p:nvSpPr>
          <p:cNvPr id="9" name="Shape 7"/>
          <p:cNvSpPr/>
          <p:nvPr/>
        </p:nvSpPr>
        <p:spPr>
          <a:xfrm>
            <a:off x="320040" y="7213346"/>
            <a:ext cx="4846320" cy="1960880"/>
          </a:xfrm>
          <a:prstGeom prst="roundRect">
            <a:avLst>
              <a:gd name="adj" fmla="val 6528"/>
            </a:avLst>
          </a:prstGeom>
          <a:solidFill>
            <a:srgbClr val="E2E8F0"/>
          </a:solidFill>
          <a:ln/>
        </p:spPr>
      </p:sp>
      <p:sp>
        <p:nvSpPr>
          <p:cNvPr id="10" name="Text 8"/>
          <p:cNvSpPr txBox="1"/>
          <p:nvPr/>
        </p:nvSpPr>
        <p:spPr>
          <a:xfrm>
            <a:off x="502920" y="730478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サイズは「2280」のように書き、幅22mm・長さ80mmを表します。長さ（2242・2260・2280など）や、スロットが対応する通信方式は、機種ごとに違います。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M.2</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コンセントの形。形が合えば差し込めますが、流れてくるもの（NVMeかSATAか）は別です。同じ形でも、中の配線が違えば、使える機器が変わります。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ノートPCの底を開けてSSDを増設しようとしたら、説明書に「M.2 2280」「NVMe対応」などの条件を確認するよう書いてあった、といった場面で出てきます。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M.2の形が合っていても、使えるとは限りません。スロットがNVMe専用だとSATA版は動かない場合があります（逆もあります）。「M.2＝NVMe」と思い込まないようにしましょう。</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PCやマザーボードの説明書（またはメーカーの仕様ページ）で、M.2スロットの「長さ」と「NVMe／SATAの対応」を確認する習慣をつけましょう。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ファイルシステム</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ストレージの中を、ファイルとフォルダーの形に整理して出し入れする決まり。</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2F6BC2"/>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2" name="Shape 20"/>
          <p:cNvSpPr/>
          <p:nvPr/>
        </p:nvSpPr>
        <p:spPr>
          <a:xfrm>
            <a:off x="320040" y="4234942"/>
            <a:ext cx="4846320" cy="1264920"/>
          </a:xfrm>
          <a:prstGeom prst="roundRect">
            <a:avLst>
              <a:gd name="adj" fmla="val 10120"/>
            </a:avLst>
          </a:prstGeom>
          <a:solidFill>
            <a:srgbClr val="DCE8F8"/>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OSの機能。ストレージの上に、ファイルとフォルダーの構造を作る。</a:t>
            </a:r>
            <a:endParaRPr lang="en-US" sz="2000" dirty="0"/>
          </a:p>
        </p:txBody>
      </p:sp>
      <p:sp>
        <p:nvSpPr>
          <p:cNvPr id="24" name="Shape 22"/>
          <p:cNvSpPr/>
          <p:nvPr/>
        </p:nvSpPr>
        <p:spPr>
          <a:xfrm>
            <a:off x="320040" y="5682742"/>
            <a:ext cx="4846320" cy="402336"/>
          </a:xfrm>
          <a:prstGeom prst="roundRect">
            <a:avLst>
              <a:gd name="adj" fmla="val 22727"/>
            </a:avLst>
          </a:prstGeom>
          <a:solidFill>
            <a:srgbClr val="2F6BC2"/>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2F6BC2"/>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ファイルシステム</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28" name="Shape 26"/>
          <p:cNvSpPr/>
          <p:nvPr/>
        </p:nvSpPr>
        <p:spPr>
          <a:xfrm>
            <a:off x="3566160" y="6139942"/>
            <a:ext cx="1600200" cy="676656"/>
          </a:xfrm>
          <a:prstGeom prst="roundRect">
            <a:avLst>
              <a:gd name="adj" fmla="val 16216"/>
            </a:avLst>
          </a:prstGeom>
          <a:solidFill>
            <a:srgbClr val="DCE8F8"/>
          </a:solidFill>
          <a:ln w="25400">
            <a:solidFill>
              <a:srgbClr val="2F6BC2"/>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0" name="Shape 28"/>
          <p:cNvSpPr/>
          <p:nvPr/>
        </p:nvSpPr>
        <p:spPr>
          <a:xfrm flipH="1">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整理する</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headEnd type="triangle"/>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ファイルシステム</a:t>
            </a:r>
            <a:endParaRPr lang="ja-JP" sz="2200" dirty="0"/>
          </a:p>
        </p:txBody>
      </p:sp>
      <p:sp>
        <p:nvSpPr>
          <p:cNvPr id="4" name="Shape 2"/>
          <p:cNvSpPr/>
          <p:nvPr/>
        </p:nvSpPr>
        <p:spPr>
          <a:xfrm>
            <a:off x="320040" y="1318514"/>
            <a:ext cx="4846320" cy="3452368"/>
          </a:xfrm>
          <a:prstGeom prst="roundRect">
            <a:avLst>
              <a:gd name="adj" fmla="val 3708"/>
            </a:avLst>
          </a:prstGeom>
          <a:solidFill>
            <a:srgbClr val="DCE8F8"/>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読み：ファイルシステム（FAT・NTFS・ext4・APFSなど）</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ストレージ（SSDやHDD）の中身は、そのままでは、0と1が並んだ大きな領域にすぎません。ここに「ファイル名」「フォルダー」「どこに何を書いたか」を整理して記録する決まりが、ファイルシステムです。</a:t>
            </a:r>
            <a:endParaRPr lang="en-US" sz="2000" dirty="0"/>
          </a:p>
        </p:txBody>
      </p:sp>
      <p:sp>
        <p:nvSpPr>
          <p:cNvPr id="7" name="Shape 5"/>
          <p:cNvSpPr/>
          <p:nvPr/>
        </p:nvSpPr>
        <p:spPr>
          <a:xfrm>
            <a:off x="320040" y="4844034"/>
            <a:ext cx="4846320" cy="2296160"/>
          </a:xfrm>
          <a:prstGeom prst="roundRect">
            <a:avLst>
              <a:gd name="adj" fmla="val 5575"/>
            </a:avLst>
          </a:prstGeom>
          <a:solidFill>
            <a:srgbClr val="DCE8F8"/>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代表例は、Windowsで使うNTFS、USBメモリなどで広く使われるFAT系（FAT32・exFAT）、Linuxのext4、Apple製品のAPFSです。OSごとに得意なものが違い、他のOSでは読めないこともあります。</a:t>
            </a:r>
            <a:endParaRPr lang="en-US" sz="2000" dirty="0"/>
          </a:p>
        </p:txBody>
      </p:sp>
      <p:sp>
        <p:nvSpPr>
          <p:cNvPr id="9" name="Shape 7"/>
          <p:cNvSpPr/>
          <p:nvPr/>
        </p:nvSpPr>
        <p:spPr>
          <a:xfrm>
            <a:off x="320040" y="7213346"/>
            <a:ext cx="4846320" cy="2631440"/>
          </a:xfrm>
          <a:prstGeom prst="roundRect">
            <a:avLst>
              <a:gd name="adj" fmla="val 4865"/>
            </a:avLst>
          </a:prstGeom>
          <a:solidFill>
            <a:srgbClr val="DCE8F8"/>
          </a:solidFill>
          <a:ln/>
        </p:spPr>
      </p:sp>
      <p:sp>
        <p:nvSpPr>
          <p:cNvPr id="10" name="Text 8"/>
          <p:cNvSpPr txBox="1"/>
          <p:nvPr/>
        </p:nvSpPr>
        <p:spPr>
          <a:xfrm>
            <a:off x="502920" y="730478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ストレージを使い始める前の「フォーマット（初期化）」は、ファイルシステムを作る作業です。フォーマットすると、基本的に中のデータは使えなくなります。OSは、ファイルシステムを通してデータを出し入れ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ファイルシステム</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図書館の本棚のルール。「分類番号」と「棚の位置」の台帳があるから、本（ファイル）を探せます。台帳がないと、本は山積みで見つかりません。</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USBメモリをフォーマットする、4GB以上の大きな動画がUSBにコピーできない、Macで使ったUSBメモリがWindowsで開けない、といった場面で出てきます。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ファイルシステムとストレージ（SSDなどの部品）は別物です。同じSSDでも、ファイルシステムが違えば、使えるOSや1ファイルの大きさの上限が変わります。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Windowsのエクスプローラーで、ドライブを右クリックして「プロパティ」を開くと、ファイルシステムの種類（NTFSなど）が見られます。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ブロックストレージ</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保存領域を同じ大きさの区画（ブロック）に分け、ディスクとして渡す方式。</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2F6BC2"/>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Text 20"/>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3" name="Shape 21"/>
          <p:cNvSpPr/>
          <p:nvPr/>
        </p:nvSpPr>
        <p:spPr>
          <a:xfrm>
            <a:off x="320040" y="4509262"/>
            <a:ext cx="4846320" cy="1264920"/>
          </a:xfrm>
          <a:prstGeom prst="roundRect">
            <a:avLst>
              <a:gd name="adj" fmla="val 10120"/>
            </a:avLst>
          </a:prstGeom>
          <a:solidFill>
            <a:srgbClr val="E2E8F0"/>
          </a:solidFill>
          <a:ln/>
        </p:spPr>
      </p:sp>
      <p:sp>
        <p:nvSpPr>
          <p:cNvPr id="24" name="Text 22"/>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OSから見える「ディスク」の形でストレージを提供する方式。機械の中にも外にもある。</a:t>
            </a:r>
            <a:endParaRPr lang="en-US" sz="2000" dirty="0"/>
          </a:p>
        </p:txBody>
      </p:sp>
      <p:sp>
        <p:nvSpPr>
          <p:cNvPr id="25" name="Shape 23"/>
          <p:cNvSpPr/>
          <p:nvPr/>
        </p:nvSpPr>
        <p:spPr>
          <a:xfrm>
            <a:off x="320040" y="5957062"/>
            <a:ext cx="4846320" cy="402336"/>
          </a:xfrm>
          <a:prstGeom prst="roundRect">
            <a:avLst>
              <a:gd name="adj" fmla="val 22727"/>
            </a:avLst>
          </a:prstGeom>
          <a:solidFill>
            <a:srgbClr val="475569"/>
          </a:solidFill>
          <a:ln/>
        </p:spPr>
      </p:sp>
      <p:sp>
        <p:nvSpPr>
          <p:cNvPr id="26" name="Text 24"/>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14262"/>
            <a:ext cx="1371600" cy="3822192"/>
          </a:xfrm>
          <a:prstGeom prst="roundRect">
            <a:avLst>
              <a:gd name="adj" fmla="val 8000"/>
            </a:avLst>
          </a:prstGeom>
          <a:solidFill>
            <a:srgbClr val="475569"/>
          </a:solidFill>
          <a:ln/>
        </p:spPr>
      </p:sp>
      <p:sp>
        <p:nvSpPr>
          <p:cNvPr id="28" name="Text 26"/>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ブロックストレージ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9" name="Shape 27"/>
          <p:cNvSpPr/>
          <p:nvPr/>
        </p:nvSpPr>
        <p:spPr>
          <a:xfrm>
            <a:off x="3566160" y="6414262"/>
            <a:ext cx="1600200" cy="676656"/>
          </a:xfrm>
          <a:prstGeom prst="roundRect">
            <a:avLst>
              <a:gd name="adj" fmla="val 16216"/>
            </a:avLst>
          </a:prstGeom>
          <a:solidFill>
            <a:srgbClr val="DCE8F8"/>
          </a:solidFill>
          <a:ln w="25400">
            <a:solidFill>
              <a:srgbClr val="2F6BC2"/>
            </a:solidFill>
            <a:prstDash val="solid"/>
          </a:ln>
        </p:spPr>
      </p:sp>
      <p:sp>
        <p:nvSpPr>
          <p:cNvPr id="30" name="Text 28"/>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31" name="Shape 29"/>
          <p:cNvSpPr/>
          <p:nvPr/>
        </p:nvSpPr>
        <p:spPr>
          <a:xfrm>
            <a:off x="1719072" y="6752590"/>
            <a:ext cx="1819656" cy="0"/>
          </a:xfrm>
          <a:prstGeom prst="line">
            <a:avLst/>
          </a:prstGeom>
          <a:noFill/>
          <a:ln w="31750">
            <a:solidFill>
              <a:srgbClr val="1B2A3A"/>
            </a:solidFill>
            <a:prstDash val="solid"/>
            <a:tailEnd type="triangle"/>
          </a:ln>
        </p:spPr>
      </p:sp>
      <p:sp>
        <p:nvSpPr>
          <p:cNvPr id="32" name="Text 30"/>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3" name="Shape 31"/>
          <p:cNvSpPr/>
          <p:nvPr/>
        </p:nvSpPr>
        <p:spPr>
          <a:xfrm>
            <a:off x="3566160" y="720064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flipH="1">
            <a:off x="1719072" y="7538974"/>
            <a:ext cx="1819656" cy="0"/>
          </a:xfrm>
          <a:prstGeom prst="line">
            <a:avLst/>
          </a:prstGeom>
          <a:noFill/>
          <a:ln w="31750">
            <a:solidFill>
              <a:srgbClr val="1B2A3A"/>
            </a:solidFill>
            <a:prstDash val="solid"/>
            <a:tailEnd type="triangle"/>
          </a:ln>
        </p:spPr>
      </p:sp>
      <p:sp>
        <p:nvSpPr>
          <p:cNvPr id="36" name="Text 34"/>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7" name="Shape 35"/>
          <p:cNvSpPr/>
          <p:nvPr/>
        </p:nvSpPr>
        <p:spPr>
          <a:xfrm>
            <a:off x="3566160" y="7987030"/>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39" name="Shape 37"/>
          <p:cNvSpPr/>
          <p:nvPr/>
        </p:nvSpPr>
        <p:spPr>
          <a:xfrm>
            <a:off x="1719072" y="832535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1" name="Shape 39"/>
          <p:cNvSpPr/>
          <p:nvPr/>
        </p:nvSpPr>
        <p:spPr>
          <a:xfrm>
            <a:off x="3566160" y="877341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a:off x="1719072" y="911174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5" name="Shape 43"/>
          <p:cNvSpPr/>
          <p:nvPr/>
        </p:nvSpPr>
        <p:spPr>
          <a:xfrm>
            <a:off x="3566160" y="9559798"/>
            <a:ext cx="1600200" cy="676656"/>
          </a:xfrm>
          <a:prstGeom prst="roundRect">
            <a:avLst>
              <a:gd name="adj" fmla="val 16216"/>
            </a:avLst>
          </a:prstGeom>
          <a:solidFill>
            <a:srgbClr val="DFF1FB"/>
          </a:solidFill>
          <a:ln w="25400">
            <a:solidFill>
              <a:srgbClr val="0369A1"/>
            </a:solidFill>
            <a:prstDash val="solid"/>
          </a:ln>
        </p:spPr>
      </p:sp>
      <p:sp>
        <p:nvSpPr>
          <p:cNvPr id="46" name="Text 44"/>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7" name="Shape 45"/>
          <p:cNvSpPr/>
          <p:nvPr/>
        </p:nvSpPr>
        <p:spPr>
          <a:xfrm>
            <a:off x="1719072" y="9898126"/>
            <a:ext cx="1819656" cy="0"/>
          </a:xfrm>
          <a:prstGeom prst="line">
            <a:avLst/>
          </a:prstGeom>
          <a:noFill/>
          <a:ln w="31750">
            <a:solidFill>
              <a:srgbClr val="1B2A3A"/>
            </a:solidFill>
            <a:prstDash val="solid"/>
            <a:tailEnd type="triangle"/>
          </a:ln>
        </p:spPr>
      </p:sp>
      <p:sp>
        <p:nvSpPr>
          <p:cNvPr id="48" name="Text 46"/>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貸し出す</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ブロックストレージ</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読み：ブロックストレージ（block storage）・ディスクのような領域</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ブロックストレージは、保存領域を一定の大きさの区画（ブロック）に分け、「1台のディスク」として使える形で提供する方式です。中にどんなデータをどう置くかは決めず、区画だけを貸します。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E2E8F0"/>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借りた側（OSやデータベース）が、その上にファイルシステムを作ったり、データベースの保存形式で直接使ったりします。ブロックの位置は番号で指定するので、データの一部だけを素早く書き換えられます。</a:t>
            </a:r>
            <a:endParaRPr lang="en-US" sz="2000" dirty="0"/>
          </a:p>
        </p:txBody>
      </p:sp>
      <p:sp>
        <p:nvSpPr>
          <p:cNvPr id="9" name="Shape 7"/>
          <p:cNvSpPr/>
          <p:nvPr/>
        </p:nvSpPr>
        <p:spPr>
          <a:xfrm>
            <a:off x="320040" y="7213346"/>
            <a:ext cx="4846320" cy="2631440"/>
          </a:xfrm>
          <a:prstGeom prst="roundRect">
            <a:avLst>
              <a:gd name="adj" fmla="val 4865"/>
            </a:avLst>
          </a:prstGeom>
          <a:solidFill>
            <a:srgbClr val="E2E8F0"/>
          </a:solidFill>
          <a:ln/>
        </p:spPr>
      </p:sp>
      <p:sp>
        <p:nvSpPr>
          <p:cNvPr id="10" name="Text 8"/>
          <p:cNvSpPr txBox="1"/>
          <p:nvPr/>
        </p:nvSpPr>
        <p:spPr>
          <a:xfrm>
            <a:off x="502920" y="730478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パソコンの内蔵SSDも、OSから見ればブロックストレージです。SANは、これをネットワーク越しにサーバーへ渡す仕組みで、クラウドの仮想サーバー用ディスク（Amazon EBSなど）もブロックストレージです。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ブロックストレージ</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何も置かれていない倉庫の区画を借りること。棚をどう並べ、何をしまうかは借りた側が自由に決めます。NASは「棚ごと整理された倉庫」に近いイメージです。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クラウドで仮想サーバーを作るときに「ディスクを50GB追加」を選ぶ、データベースサーバーが高速なSANのディスクを使う、といった場面で出てきます。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ブロックストレージは、そのままではファイルとして見えません。ファイルシステムを作って初めて、フォルダーやファイルとして使えます。「ブロック＝ファイル」ではありません。</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仮想マシン（VirtualBoxなど）に仮想ディスクを追加し、OSからフォーマットして使ってみましょう。「ディスクにファイルシステムを作る」流れが分かります。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オブジェクトストレージ</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データを名前や付加情報とセットで丸ごと保存する、大容量向けの置き場。</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4" name="Shape 22"/>
          <p:cNvSpPr/>
          <p:nvPr/>
        </p:nvSpPr>
        <p:spPr>
          <a:xfrm>
            <a:off x="320040" y="4509262"/>
            <a:ext cx="4846320" cy="1264920"/>
          </a:xfrm>
          <a:prstGeom prst="roundRect">
            <a:avLst>
              <a:gd name="adj" fmla="val 10120"/>
            </a:avLst>
          </a:prstGeom>
          <a:solidFill>
            <a:srgbClr val="DFF1FB"/>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クラウド上のサービスとして使うことが多い、ネット越しの保存場所。</a:t>
            </a:r>
            <a:endParaRPr lang="en-US" sz="2000" dirty="0"/>
          </a:p>
        </p:txBody>
      </p:sp>
      <p:sp>
        <p:nvSpPr>
          <p:cNvPr id="26" name="Shape 24"/>
          <p:cNvSpPr/>
          <p:nvPr/>
        </p:nvSpPr>
        <p:spPr>
          <a:xfrm>
            <a:off x="320040" y="5957062"/>
            <a:ext cx="4846320" cy="402336"/>
          </a:xfrm>
          <a:prstGeom prst="roundRect">
            <a:avLst>
              <a:gd name="adj" fmla="val 22727"/>
            </a:avLst>
          </a:prstGeom>
          <a:solidFill>
            <a:srgbClr val="0369A1"/>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0369A1"/>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オブジェクトストレージ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8"/>
          <p:cNvSpPr/>
          <p:nvPr/>
        </p:nvSpPr>
        <p:spPr>
          <a:xfrm>
            <a:off x="3566160" y="6414262"/>
            <a:ext cx="1600200" cy="676656"/>
          </a:xfrm>
          <a:prstGeom prst="roundRect">
            <a:avLst>
              <a:gd name="adj" fmla="val 16216"/>
            </a:avLst>
          </a:prstGeom>
          <a:solidFill>
            <a:srgbClr val="DFF1FB"/>
          </a:solidFill>
          <a:ln w="25400">
            <a:solidFill>
              <a:srgbClr val="0369A1"/>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Amazon S3</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2" name="Shape 30"/>
          <p:cNvSpPr/>
          <p:nvPr/>
        </p:nvSpPr>
        <p:spPr>
          <a:xfrm flipH="1">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4" name="Shape 32"/>
          <p:cNvSpPr/>
          <p:nvPr/>
        </p:nvSpPr>
        <p:spPr>
          <a:xfrm>
            <a:off x="3566160" y="7200646"/>
            <a:ext cx="1600200" cy="676656"/>
          </a:xfrm>
          <a:prstGeom prst="roundRect">
            <a:avLst>
              <a:gd name="adj" fmla="val 16216"/>
            </a:avLst>
          </a:prstGeom>
          <a:solidFill>
            <a:srgbClr val="E2E8F0"/>
          </a:solidFill>
          <a:ln w="25400">
            <a:solidFill>
              <a:srgbClr val="475569"/>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headEnd type="triangle"/>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6"/>
          <p:cNvSpPr/>
          <p:nvPr/>
        </p:nvSpPr>
        <p:spPr>
          <a:xfrm>
            <a:off x="3566160" y="7987030"/>
            <a:ext cx="1600200" cy="676656"/>
          </a:xfrm>
          <a:prstGeom prst="roundRect">
            <a:avLst>
              <a:gd name="adj" fmla="val 16216"/>
            </a:avLst>
          </a:prstGeom>
          <a:solidFill>
            <a:srgbClr val="DCE8F8"/>
          </a:solidFill>
          <a:ln w="25400">
            <a:solidFill>
              <a:srgbClr val="2F6BC2"/>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40" name="Shape 38"/>
          <p:cNvSpPr/>
          <p:nvPr/>
        </p:nvSpPr>
        <p:spPr>
          <a:xfrm>
            <a:off x="1719072" y="8325358"/>
            <a:ext cx="1819656" cy="0"/>
          </a:xfrm>
          <a:prstGeom prst="line">
            <a:avLst/>
          </a:prstGeom>
          <a:noFill/>
          <a:ln w="31750">
            <a:solidFill>
              <a:srgbClr val="1B2A3A"/>
            </a:solidFill>
            <a:prstDash val="solid"/>
            <a:headEnd type="triangle"/>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2" name="Shape 40"/>
          <p:cNvSpPr/>
          <p:nvPr/>
        </p:nvSpPr>
        <p:spPr>
          <a:xfrm>
            <a:off x="3566160" y="8773414"/>
            <a:ext cx="1600200" cy="676656"/>
          </a:xfrm>
          <a:prstGeom prst="roundRect">
            <a:avLst>
              <a:gd name="adj" fmla="val 16216"/>
            </a:avLst>
          </a:prstGeom>
          <a:solidFill>
            <a:srgbClr val="DFF1FB"/>
          </a:solidFill>
          <a:ln w="25400">
            <a:solidFill>
              <a:srgbClr val="0369A1"/>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主な仕組み</a:t>
            </a:r>
            <a:endParaRPr lang="en-US" sz="1500" dirty="0"/>
          </a:p>
        </p:txBody>
      </p:sp>
      <p:sp>
        <p:nvSpPr>
          <p:cNvPr id="46" name="Shape 44"/>
          <p:cNvSpPr/>
          <p:nvPr/>
        </p:nvSpPr>
        <p:spPr>
          <a:xfrm>
            <a:off x="3566160" y="9559798"/>
            <a:ext cx="1600200" cy="676656"/>
          </a:xfrm>
          <a:prstGeom prst="roundRect">
            <a:avLst>
              <a:gd name="adj" fmla="val 16216"/>
            </a:avLst>
          </a:prstGeom>
          <a:solidFill>
            <a:srgbClr val="E2E8F0"/>
          </a:solidFill>
          <a:ln w="25400">
            <a:solidFill>
              <a:srgbClr val="475569"/>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8" name="Shape 46"/>
          <p:cNvSpPr/>
          <p:nvPr/>
        </p:nvSpPr>
        <p:spPr>
          <a:xfrm>
            <a:off x="1719072" y="9898126"/>
            <a:ext cx="1819656" cy="0"/>
          </a:xfrm>
          <a:prstGeom prst="line">
            <a:avLst/>
          </a:prstGeom>
          <a:noFill/>
          <a:ln w="31750">
            <a:solidFill>
              <a:srgbClr val="1B2A3A"/>
            </a:solidFill>
            <a:prstDash val="solid"/>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オブジェクトストレージ</a:t>
            </a:r>
            <a:endParaRPr lang="ja-JP" sz="2200" dirty="0"/>
          </a:p>
        </p:txBody>
      </p:sp>
      <p:sp>
        <p:nvSpPr>
          <p:cNvPr id="4" name="Shape 2"/>
          <p:cNvSpPr/>
          <p:nvPr/>
        </p:nvSpPr>
        <p:spPr>
          <a:xfrm>
            <a:off x="320040" y="1318514"/>
            <a:ext cx="4846320" cy="3452368"/>
          </a:xfrm>
          <a:prstGeom prst="roundRect">
            <a:avLst>
              <a:gd name="adj" fmla="val 3708"/>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読み：オブジェクトストレージ（object storage）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オブジェクトストレージは、データ本体（写真や動画など）に、名前（キー）や付加情報（メタデータ。作成日や種類などの説明）をセットにした「オブジェクト」を、まとめて保存する仕組みです。</a:t>
            </a:r>
            <a:endParaRPr lang="en-US" sz="2000" dirty="0"/>
          </a:p>
        </p:txBody>
      </p:sp>
      <p:sp>
        <p:nvSpPr>
          <p:cNvPr id="7" name="Shape 5"/>
          <p:cNvSpPr/>
          <p:nvPr/>
        </p:nvSpPr>
        <p:spPr>
          <a:xfrm>
            <a:off x="320040" y="4844034"/>
            <a:ext cx="4846320" cy="2631440"/>
          </a:xfrm>
          <a:prstGeom prst="roundRect">
            <a:avLst>
              <a:gd name="adj" fmla="val 4865"/>
            </a:avLst>
          </a:prstGeom>
          <a:solidFill>
            <a:srgbClr val="DFF1FB"/>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フォルダーの階層はなく、巨大なひとつの置き場に、名前を頼りにオブジェクトを出し入れします。操作は、フォルダーを開くのではなく、HTTP（Web通信）を使ったAPI（プログラムから使うための窓口）で行います。</a:t>
            </a:r>
            <a:endParaRPr lang="en-US" sz="2000" dirty="0"/>
          </a:p>
        </p:txBody>
      </p:sp>
      <p:sp>
        <p:nvSpPr>
          <p:cNvPr id="9" name="Shape 7"/>
          <p:cNvSpPr/>
          <p:nvPr/>
        </p:nvSpPr>
        <p:spPr>
          <a:xfrm>
            <a:off x="320040" y="7548626"/>
            <a:ext cx="4846320" cy="2631440"/>
          </a:xfrm>
          <a:prstGeom prst="roundRect">
            <a:avLst>
              <a:gd name="adj" fmla="val 4865"/>
            </a:avLst>
          </a:prstGeom>
          <a:solidFill>
            <a:srgbClr val="DFF1FB"/>
          </a:solidFill>
          <a:ln/>
        </p:spPr>
      </p:sp>
      <p:sp>
        <p:nvSpPr>
          <p:cNvPr id="10" name="Text 8"/>
          <p:cNvSpPr txBox="1"/>
          <p:nvPr/>
        </p:nvSpPr>
        <p:spPr>
          <a:xfrm>
            <a:off x="502920" y="764006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ファイルの一部だけを書き換えるのは得意ではなく、丸ごと置き換えるのが基本です。その代わり、容量を大きく増やしやすく、インターネット経由でも使えます。写真・動画・バックアップの保管によく使われ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オブジェクトストレージ</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巨大な倉庫に、荷物へ名札（名前とメモ）を付けて預けるイメージ。棚の場所は倉庫が管理し、利用者は名札を伝えるだけで荷物を取り出せます。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Webサービスに大量の写真や動画を保存する、システムのバックアップをクラウドに置く、分析用の大量のデータを保管する、といった場面で使われます。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パソコンのフォルダーのような階層は、基本的にありません。名前に「/」を含めて、フォルダーのように見せている場合があります。また、一部だけの書き換えには向きません。</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無料で試せる学習用のクラウド環境で、保存場所を作り、ファイルのアップロード・ダウンロード・公開範囲（権限）の設定を試してみましょう。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Amazon S3</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AWSで使えるオブジェクトストレージのサービス。バケットにデータを入れる。</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0369A1"/>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2" name="Shape 20"/>
          <p:cNvSpPr/>
          <p:nvPr/>
        </p:nvSpPr>
        <p:spPr>
          <a:xfrm>
            <a:off x="320040" y="4234942"/>
            <a:ext cx="4846320" cy="1264920"/>
          </a:xfrm>
          <a:prstGeom prst="roundRect">
            <a:avLst>
              <a:gd name="adj" fmla="val 10120"/>
            </a:avLst>
          </a:prstGeom>
          <a:solidFill>
            <a:srgbClr val="DFF1FB"/>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インターネットの向こう側（AWSのデータセンター）にあるクラウドのサービス。</a:t>
            </a:r>
            <a:endParaRPr lang="en-US" sz="2000" dirty="0"/>
          </a:p>
        </p:txBody>
      </p:sp>
      <p:sp>
        <p:nvSpPr>
          <p:cNvPr id="24" name="Shape 22"/>
          <p:cNvSpPr/>
          <p:nvPr/>
        </p:nvSpPr>
        <p:spPr>
          <a:xfrm>
            <a:off x="320040" y="5682742"/>
            <a:ext cx="4846320" cy="402336"/>
          </a:xfrm>
          <a:prstGeom prst="roundRect">
            <a:avLst>
              <a:gd name="adj" fmla="val 22727"/>
            </a:avLst>
          </a:prstGeom>
          <a:solidFill>
            <a:srgbClr val="0369A1"/>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0369A1"/>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Amazon S3</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8" name="Shape 26"/>
          <p:cNvSpPr/>
          <p:nvPr/>
        </p:nvSpPr>
        <p:spPr>
          <a:xfrm>
            <a:off x="3566160" y="6139942"/>
            <a:ext cx="1600200" cy="676656"/>
          </a:xfrm>
          <a:prstGeom prst="roundRect">
            <a:avLst>
              <a:gd name="adj" fmla="val 16216"/>
            </a:avLst>
          </a:prstGeom>
          <a:solidFill>
            <a:srgbClr val="DFF1FB"/>
          </a:solidFill>
          <a:ln w="25400">
            <a:solidFill>
              <a:srgbClr val="0369A1"/>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2" name="Shape 30"/>
          <p:cNvSpPr/>
          <p:nvPr/>
        </p:nvSpPr>
        <p:spPr>
          <a:xfrm>
            <a:off x="3566160" y="6926326"/>
            <a:ext cx="1600200" cy="676656"/>
          </a:xfrm>
          <a:prstGeom prst="roundRect">
            <a:avLst>
              <a:gd name="adj" fmla="val 16216"/>
            </a:avLst>
          </a:prstGeom>
          <a:solidFill>
            <a:srgbClr val="DFF1FB"/>
          </a:solidFill>
          <a:ln w="25400">
            <a:solidFill>
              <a:srgbClr val="0369A1"/>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4" name="Shape 32"/>
          <p:cNvSpPr/>
          <p:nvPr/>
        </p:nvSpPr>
        <p:spPr>
          <a:xfrm flipH="1">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6" name="Shape 34"/>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44" name="Shape 42"/>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6" name="Shape 44"/>
          <p:cNvSpPr/>
          <p:nvPr/>
        </p:nvSpPr>
        <p:spPr>
          <a:xfrm flipH="1">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[D04]</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Amazon S3</a:t>
            </a:r>
            <a:endParaRPr lang="ja-JP" sz="2200" dirty="0"/>
          </a:p>
        </p:txBody>
      </p:sp>
      <p:sp>
        <p:nvSpPr>
          <p:cNvPr id="4" name="Shape 2"/>
          <p:cNvSpPr/>
          <p:nvPr/>
        </p:nvSpPr>
        <p:spPr>
          <a:xfrm>
            <a:off x="320040" y="1318514"/>
            <a:ext cx="4846320" cy="3452368"/>
          </a:xfrm>
          <a:prstGeom prst="roundRect">
            <a:avLst>
              <a:gd name="adj" fmla="val 3708"/>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読み：エス・スリー（Amazon Simple Storage Service）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Amazon S3（Amazon Simple Storage Service）は、クラウド「AWS」で使えるオブジェクトストレージのサービスです。写真・動画・文書など、さまざまなファイルを保存できます。</a:t>
            </a:r>
            <a:endParaRPr lang="en-US" sz="2000" dirty="0"/>
          </a:p>
        </p:txBody>
      </p:sp>
      <p:sp>
        <p:nvSpPr>
          <p:cNvPr id="7" name="Shape 5"/>
          <p:cNvSpPr/>
          <p:nvPr/>
        </p:nvSpPr>
        <p:spPr>
          <a:xfrm>
            <a:off x="320040" y="4844034"/>
            <a:ext cx="4846320" cy="1960880"/>
          </a:xfrm>
          <a:prstGeom prst="roundRect">
            <a:avLst>
              <a:gd name="adj" fmla="val 6528"/>
            </a:avLst>
          </a:prstGeom>
          <a:solidFill>
            <a:srgbClr val="DFF1FB"/>
          </a:solidFill>
          <a:ln/>
        </p:spPr>
      </p:sp>
      <p:sp>
        <p:nvSpPr>
          <p:cNvPr id="8" name="Text 6"/>
          <p:cNvSpPr txBox="1"/>
          <p:nvPr/>
        </p:nvSpPr>
        <p:spPr>
          <a:xfrm>
            <a:off x="502920" y="4935474"/>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S3では、データ（オブジェクト）を「バケット」という入れ物に入れます。バケットの中では、「photos/trip/a.jpg」のような名前（キー）で、1つ1つを区別します。</a:t>
            </a:r>
            <a:endParaRPr lang="en-US" sz="2000" dirty="0"/>
          </a:p>
        </p:txBody>
      </p:sp>
      <p:sp>
        <p:nvSpPr>
          <p:cNvPr id="9" name="Shape 7"/>
          <p:cNvSpPr/>
          <p:nvPr/>
        </p:nvSpPr>
        <p:spPr>
          <a:xfrm>
            <a:off x="320040" y="6878066"/>
            <a:ext cx="4846320" cy="1960880"/>
          </a:xfrm>
          <a:prstGeom prst="roundRect">
            <a:avLst>
              <a:gd name="adj" fmla="val 6528"/>
            </a:avLst>
          </a:prstGeom>
          <a:solidFill>
            <a:srgbClr val="DFF1FB"/>
          </a:solidFill>
          <a:ln/>
        </p:spPr>
      </p:sp>
      <p:sp>
        <p:nvSpPr>
          <p:cNvPr id="10" name="Text 8"/>
          <p:cNvSpPr txBox="1"/>
          <p:nvPr/>
        </p:nvSpPr>
        <p:spPr>
          <a:xfrm>
            <a:off x="502920" y="696950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バケット名は、標準では他のAWS利用者とも重ならない名前にします。誰が読み書きできるかは権限で決め、設定を誤ると、見せたくないデータが公開されてしまいます。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[D04]</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Amazon S3</a:t>
            </a:r>
            <a:endParaRPr lang="ja-JP" sz="2200" dirty="0"/>
          </a:p>
        </p:txBody>
      </p:sp>
      <p:sp>
        <p:nvSpPr>
          <p:cNvPr id="4" name="Shape 2"/>
          <p:cNvSpPr/>
          <p:nvPr/>
        </p:nvSpPr>
        <p:spPr>
          <a:xfrm>
            <a:off x="320040" y="1318514"/>
            <a:ext cx="4846320" cy="1625600"/>
          </a:xfrm>
          <a:prstGeom prst="roundRect">
            <a:avLst>
              <a:gd name="adj" fmla="val 7875"/>
            </a:avLst>
          </a:prstGeom>
          <a:solidFill>
            <a:srgbClr val="DFF1FB"/>
          </a:solidFill>
          <a:ln/>
        </p:spPr>
      </p:sp>
      <p:sp>
        <p:nvSpPr>
          <p:cNvPr id="5" name="Text 3"/>
          <p:cNvSpPr txBox="1"/>
          <p:nvPr/>
        </p:nvSpPr>
        <p:spPr>
          <a:xfrm>
            <a:off x="502920" y="1409954"/>
            <a:ext cx="4480560" cy="1479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ほかのAWSのサービスからもよく使われ、バックアップや分析データの置き場になります。料金は、保存量や通信量に応じて決まります。</a:t>
            </a:r>
            <a:endParaRPr lang="en-US" sz="2000" dirty="0"/>
          </a:p>
        </p:txBody>
      </p:sp>
      <p:sp>
        <p:nvSpPr>
          <p:cNvPr id="6" name="Shape 4"/>
          <p:cNvSpPr/>
          <p:nvPr/>
        </p:nvSpPr>
        <p:spPr>
          <a:xfrm>
            <a:off x="320040" y="3017266"/>
            <a:ext cx="4846320" cy="1935480"/>
          </a:xfrm>
          <a:prstGeom prst="roundRect">
            <a:avLst>
              <a:gd name="adj" fmla="val 6614"/>
            </a:avLst>
          </a:prstGeom>
          <a:solidFill>
            <a:srgbClr val="FDEBD0"/>
          </a:solidFill>
          <a:ln/>
        </p:spPr>
      </p:sp>
      <p:sp>
        <p:nvSpPr>
          <p:cNvPr id="7" name="Text 5"/>
          <p:cNvSpPr txBox="1"/>
          <p:nvPr/>
        </p:nvSpPr>
        <p:spPr>
          <a:xfrm>
            <a:off x="502920" y="31087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ネットの向こうにある巨大なロッカー室。バケットが「ロッカー」、キーが「中の荷物につけた名札」です。ロッカーの鍵（権限）の管理は利用者の責任です。</a:t>
            </a:r>
            <a:endParaRPr lang="en-US" sz="2000" dirty="0"/>
          </a:p>
        </p:txBody>
      </p:sp>
      <p:sp>
        <p:nvSpPr>
          <p:cNvPr id="8" name="Shape 6"/>
          <p:cNvSpPr/>
          <p:nvPr/>
        </p:nvSpPr>
        <p:spPr>
          <a:xfrm>
            <a:off x="320040" y="5135626"/>
            <a:ext cx="4846320" cy="1935480"/>
          </a:xfrm>
          <a:prstGeom prst="roundRect">
            <a:avLst>
              <a:gd name="adj" fmla="val 6614"/>
            </a:avLst>
          </a:prstGeom>
          <a:solidFill>
            <a:srgbClr val="DCE8F8"/>
          </a:solidFill>
          <a:ln/>
        </p:spPr>
      </p:sp>
      <p:sp>
        <p:nvSpPr>
          <p:cNvPr id="9" name="Text 7"/>
          <p:cNvSpPr txBox="1"/>
          <p:nvPr/>
        </p:nvSpPr>
        <p:spPr>
          <a:xfrm>
            <a:off x="502920" y="522706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Webサイトの画像置き場にする、システムのバックアップを置く、集めたデータを分析用にためておく、といった場面で使われます。</a:t>
            </a:r>
            <a:endParaRPr lang="en-US" sz="2000" dirty="0"/>
          </a:p>
        </p:txBody>
      </p:sp>
      <p:sp>
        <p:nvSpPr>
          <p:cNvPr id="10" name="Shape 8"/>
          <p:cNvSpPr/>
          <p:nvPr/>
        </p:nvSpPr>
        <p:spPr>
          <a:xfrm>
            <a:off x="320040" y="7253986"/>
            <a:ext cx="4846320" cy="2270760"/>
          </a:xfrm>
          <a:prstGeom prst="roundRect">
            <a:avLst>
              <a:gd name="adj" fmla="val 5638"/>
            </a:avLst>
          </a:prstGeom>
          <a:solidFill>
            <a:srgbClr val="FBE3E0"/>
          </a:solidFill>
          <a:ln/>
        </p:spPr>
      </p:sp>
      <p:sp>
        <p:nvSpPr>
          <p:cNvPr id="11" name="Text 9"/>
          <p:cNvSpPr txBox="1"/>
          <p:nvPr/>
        </p:nvSpPr>
        <p:spPr>
          <a:xfrm>
            <a:off x="502920" y="734542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S3はパソコンのフォルダーとは違う仕組みです。また、公開範囲の設定ミスで情報が見えてしまう事故が、実際に起きています。最初は「非公開」のままで使いましょう。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[D04]</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Amazon S3</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AWSの公式ドキュメント「What is Amazon S3?」を読み、バケット・オブジェクト・キーの3つの言葉を、自分の言葉で説明してみましょう。</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[D04]</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NAS</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ネットワークにつなぎ、共有フォルダーとして使える保存装置。</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Text 20"/>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3" name="Shape 21"/>
          <p:cNvSpPr/>
          <p:nvPr/>
        </p:nvSpPr>
        <p:spPr>
          <a:xfrm>
            <a:off x="320040" y="4509262"/>
            <a:ext cx="4846320" cy="1264920"/>
          </a:xfrm>
          <a:prstGeom prst="roundRect">
            <a:avLst>
              <a:gd name="adj" fmla="val 10120"/>
            </a:avLst>
          </a:prstGeom>
          <a:solidFill>
            <a:srgbClr val="E2E8F0"/>
          </a:solidFill>
          <a:ln/>
        </p:spPr>
      </p:sp>
      <p:sp>
        <p:nvSpPr>
          <p:cNvPr id="24" name="Text 22"/>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LANなどのネットワークにつなぐ保存装置。家や会社の中に置くことが多い。</a:t>
            </a:r>
            <a:endParaRPr lang="en-US" sz="2000" dirty="0"/>
          </a:p>
        </p:txBody>
      </p:sp>
      <p:sp>
        <p:nvSpPr>
          <p:cNvPr id="25" name="Shape 23"/>
          <p:cNvSpPr/>
          <p:nvPr/>
        </p:nvSpPr>
        <p:spPr>
          <a:xfrm>
            <a:off x="320040" y="5957062"/>
            <a:ext cx="4846320" cy="402336"/>
          </a:xfrm>
          <a:prstGeom prst="roundRect">
            <a:avLst>
              <a:gd name="adj" fmla="val 22727"/>
            </a:avLst>
          </a:prstGeom>
          <a:solidFill>
            <a:srgbClr val="475569"/>
          </a:solidFill>
          <a:ln/>
        </p:spPr>
      </p:sp>
      <p:sp>
        <p:nvSpPr>
          <p:cNvPr id="26" name="Text 24"/>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14262"/>
            <a:ext cx="1371600" cy="3822192"/>
          </a:xfrm>
          <a:prstGeom prst="roundRect">
            <a:avLst>
              <a:gd name="adj" fmla="val 8000"/>
            </a:avLst>
          </a:prstGeom>
          <a:solidFill>
            <a:srgbClr val="475569"/>
          </a:solidFill>
          <a:ln/>
        </p:spPr>
      </p:sp>
      <p:sp>
        <p:nvSpPr>
          <p:cNvPr id="28" name="Text 26"/>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9" name="Shape 27"/>
          <p:cNvSpPr/>
          <p:nvPr/>
        </p:nvSpPr>
        <p:spPr>
          <a:xfrm>
            <a:off x="3566160" y="6414262"/>
            <a:ext cx="1600200" cy="676656"/>
          </a:xfrm>
          <a:prstGeom prst="roundRect">
            <a:avLst>
              <a:gd name="adj" fmla="val 16216"/>
            </a:avLst>
          </a:prstGeom>
          <a:solidFill>
            <a:srgbClr val="FDEBD0"/>
          </a:solidFill>
          <a:ln w="25400">
            <a:solidFill>
              <a:srgbClr val="B45309"/>
            </a:solidFill>
            <a:prstDash val="solid"/>
          </a:ln>
        </p:spPr>
      </p:sp>
      <p:sp>
        <p:nvSpPr>
          <p:cNvPr id="30" name="Text 28"/>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1" name="Shape 29"/>
          <p:cNvSpPr/>
          <p:nvPr/>
        </p:nvSpPr>
        <p:spPr>
          <a:xfrm>
            <a:off x="1719072" y="6752590"/>
            <a:ext cx="1819656" cy="0"/>
          </a:xfrm>
          <a:prstGeom prst="line">
            <a:avLst/>
          </a:prstGeom>
          <a:noFill/>
          <a:ln w="31750">
            <a:solidFill>
              <a:srgbClr val="1B2A3A"/>
            </a:solidFill>
            <a:prstDash val="solid"/>
            <a:tailEnd type="triangle"/>
          </a:ln>
        </p:spPr>
      </p:sp>
      <p:sp>
        <p:nvSpPr>
          <p:cNvPr id="32" name="Text 30"/>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つながる</a:t>
            </a:r>
            <a:endParaRPr lang="en-US" sz="1500" dirty="0"/>
          </a:p>
        </p:txBody>
      </p:sp>
      <p:sp>
        <p:nvSpPr>
          <p:cNvPr id="33" name="Shape 31"/>
          <p:cNvSpPr/>
          <p:nvPr/>
        </p:nvSpPr>
        <p:spPr>
          <a:xfrm>
            <a:off x="3566160" y="720064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a:off x="1719072" y="753897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7" name="Shape 35"/>
          <p:cNvSpPr/>
          <p:nvPr/>
        </p:nvSpPr>
        <p:spPr>
          <a:xfrm>
            <a:off x="3566160" y="798703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a:off x="1719072" y="8325358"/>
            <a:ext cx="1819656" cy="0"/>
          </a:xfrm>
          <a:prstGeom prst="line">
            <a:avLst/>
          </a:prstGeom>
          <a:noFill/>
          <a:ln w="31750">
            <a:solidFill>
              <a:srgbClr val="1B2A3A"/>
            </a:solidFill>
            <a:prstDash val="solid"/>
            <a:tailEnd type="triangle"/>
          </a:ln>
        </p:spPr>
      </p:sp>
      <p:sp>
        <p:nvSpPr>
          <p:cNvPr id="40" name="Text 38"/>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1" name="Shape 39"/>
          <p:cNvSpPr/>
          <p:nvPr/>
        </p:nvSpPr>
        <p:spPr>
          <a:xfrm>
            <a:off x="3566160" y="877341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a:off x="1719072" y="9111742"/>
            <a:ext cx="1819656" cy="0"/>
          </a:xfrm>
          <a:prstGeom prst="line">
            <a:avLst/>
          </a:prstGeom>
          <a:noFill/>
          <a:ln w="31750">
            <a:solidFill>
              <a:srgbClr val="1B2A3A"/>
            </a:solidFill>
            <a:prstDash val="solid"/>
            <a:tailEnd type="triangle"/>
          </a:ln>
        </p:spPr>
      </p:sp>
      <p:sp>
        <p:nvSpPr>
          <p:cNvPr id="44" name="Text 42"/>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5" name="Shape 43"/>
          <p:cNvSpPr/>
          <p:nvPr/>
        </p:nvSpPr>
        <p:spPr>
          <a:xfrm>
            <a:off x="3566160" y="9559798"/>
            <a:ext cx="1600200" cy="676656"/>
          </a:xfrm>
          <a:prstGeom prst="roundRect">
            <a:avLst>
              <a:gd name="adj" fmla="val 16216"/>
            </a:avLst>
          </a:prstGeom>
          <a:solidFill>
            <a:srgbClr val="E2E8F0"/>
          </a:solidFill>
          <a:ln w="25400">
            <a:solidFill>
              <a:srgbClr val="475569"/>
            </a:solidFill>
            <a:prstDash val="solid"/>
          </a:ln>
        </p:spPr>
      </p:sp>
      <p:sp>
        <p:nvSpPr>
          <p:cNvPr id="46" name="Text 44"/>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7" name="Shape 45"/>
          <p:cNvSpPr/>
          <p:nvPr/>
        </p:nvSpPr>
        <p:spPr>
          <a:xfrm>
            <a:off x="1719072" y="9898126"/>
            <a:ext cx="1819656" cy="0"/>
          </a:xfrm>
          <a:prstGeom prst="line">
            <a:avLst/>
          </a:prstGeom>
          <a:noFill/>
          <a:ln w="31750">
            <a:solidFill>
              <a:srgbClr val="1B2A3A"/>
            </a:solidFill>
            <a:prstDash val="solid"/>
            <a:tailEnd type="triangle"/>
          </a:ln>
        </p:spPr>
      </p:sp>
      <p:sp>
        <p:nvSpPr>
          <p:cNvPr id="48" name="Text 46"/>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NAS</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読み：ナス（Network Attached Storage）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NAS（Network Attached Storage）は、ネットワーク（LANなど）につないで使う、ファイル共有用のストレージ装置です。中にHDDやSSDが入った小さなコンピューターで、専用のOSが動いています。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E2E8F0"/>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パソコンやスマホからは「共有フォルダー」として見えます。ファイルとフォルダーの形で出し入れし、同じネットワークの複数人が同じファイルを開けます。ファイルを整理する仕組み（ファイルシステム）は、NAS側が持ってい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E2E8F0"/>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家庭では写真や動画の保管・バックアップ、会社では部署のファイル共有に使われます。HDDを複数入れ、RAIDで故障に備える製品も多くあります。ただし、それだけでバックアップの代わりにはなりません。</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NAS</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学校の職員室にある共有の書類棚。先生方（複数のパソコン）が自分の席から取りに行き、同じ書類を使えます。棚の中は、すでにフォルダーごとに整理されています。</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家族の写真をNASに集めてスマホやPCから見る、会社の部署用の共有フォルダーにファイルを保存する、といった場面で出てきます。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NASは「ファイル単位」で共有する装置で、サーバーにディスクとして見せるSANとは使い方が違います。故障や誤操作が起きれば、共有データも失われます。バックアップは別に必要です。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LAN内で、あるPCに共有フォルダーを作り、別のPCやスマホからネットワーク経由で開いてみましょう。Windowsの共有機能で試せます。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SAN</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保存装置をディスクのように見せて提供する、サーバー用の専用ネットワーク。</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Text 20"/>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3" name="Shape 21"/>
          <p:cNvSpPr/>
          <p:nvPr/>
        </p:nvSpPr>
        <p:spPr>
          <a:xfrm>
            <a:off x="320040" y="4509262"/>
            <a:ext cx="4846320" cy="1264920"/>
          </a:xfrm>
          <a:prstGeom prst="roundRect">
            <a:avLst>
              <a:gd name="adj" fmla="val 10120"/>
            </a:avLst>
          </a:prstGeom>
          <a:solidFill>
            <a:srgbClr val="E2E8F0"/>
          </a:solidFill>
          <a:ln/>
        </p:spPr>
      </p:sp>
      <p:sp>
        <p:nvSpPr>
          <p:cNvPr id="24" name="Text 22"/>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会社のサーバー室やデータセンターの中にある、サーバーと保存装置をつなぐ専用の通信網。</a:t>
            </a:r>
            <a:endParaRPr lang="en-US" sz="2000" dirty="0"/>
          </a:p>
        </p:txBody>
      </p:sp>
      <p:sp>
        <p:nvSpPr>
          <p:cNvPr id="25" name="Shape 23"/>
          <p:cNvSpPr/>
          <p:nvPr/>
        </p:nvSpPr>
        <p:spPr>
          <a:xfrm>
            <a:off x="320040" y="5957062"/>
            <a:ext cx="4846320" cy="402336"/>
          </a:xfrm>
          <a:prstGeom prst="roundRect">
            <a:avLst>
              <a:gd name="adj" fmla="val 22727"/>
            </a:avLst>
          </a:prstGeom>
          <a:solidFill>
            <a:srgbClr val="475569"/>
          </a:solidFill>
          <a:ln/>
        </p:spPr>
      </p:sp>
      <p:sp>
        <p:nvSpPr>
          <p:cNvPr id="26" name="Text 24"/>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14262"/>
            <a:ext cx="1371600" cy="3822192"/>
          </a:xfrm>
          <a:prstGeom prst="roundRect">
            <a:avLst>
              <a:gd name="adj" fmla="val 8000"/>
            </a:avLst>
          </a:prstGeom>
          <a:solidFill>
            <a:srgbClr val="475569"/>
          </a:solidFill>
          <a:ln/>
        </p:spPr>
      </p:sp>
      <p:sp>
        <p:nvSpPr>
          <p:cNvPr id="28" name="Text 26"/>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SAN</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9" name="Shape 27"/>
          <p:cNvSpPr/>
          <p:nvPr/>
        </p:nvSpPr>
        <p:spPr>
          <a:xfrm>
            <a:off x="3566160" y="6414262"/>
            <a:ext cx="1600200" cy="676656"/>
          </a:xfrm>
          <a:prstGeom prst="roundRect">
            <a:avLst>
              <a:gd name="adj" fmla="val 16216"/>
            </a:avLst>
          </a:prstGeom>
          <a:solidFill>
            <a:srgbClr val="E2E8F0"/>
          </a:solidFill>
          <a:ln w="25400">
            <a:solidFill>
              <a:srgbClr val="475569"/>
            </a:solidFill>
            <a:prstDash val="solid"/>
          </a:ln>
        </p:spPr>
      </p:sp>
      <p:sp>
        <p:nvSpPr>
          <p:cNvPr id="30" name="Text 28"/>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31" name="Shape 29"/>
          <p:cNvSpPr/>
          <p:nvPr/>
        </p:nvSpPr>
        <p:spPr>
          <a:xfrm>
            <a:off x="1719072" y="6752590"/>
            <a:ext cx="1819656" cy="0"/>
          </a:xfrm>
          <a:prstGeom prst="line">
            <a:avLst/>
          </a:prstGeom>
          <a:noFill/>
          <a:ln w="31750">
            <a:solidFill>
              <a:srgbClr val="1B2A3A"/>
            </a:solidFill>
            <a:prstDash val="solid"/>
            <a:tailEnd type="triangle"/>
          </a:ln>
        </p:spPr>
      </p:sp>
      <p:sp>
        <p:nvSpPr>
          <p:cNvPr id="32" name="Text 30"/>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3" name="Shape 31"/>
          <p:cNvSpPr/>
          <p:nvPr/>
        </p:nvSpPr>
        <p:spPr>
          <a:xfrm>
            <a:off x="3566160" y="720064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a:off x="1719072" y="753897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7" name="Shape 35"/>
          <p:cNvSpPr/>
          <p:nvPr/>
        </p:nvSpPr>
        <p:spPr>
          <a:xfrm>
            <a:off x="3566160" y="7987030"/>
            <a:ext cx="1600200" cy="676656"/>
          </a:xfrm>
          <a:prstGeom prst="roundRect">
            <a:avLst>
              <a:gd name="adj" fmla="val 16216"/>
            </a:avLst>
          </a:prstGeom>
          <a:solidFill>
            <a:srgbClr val="FDEBD0"/>
          </a:solidFill>
          <a:ln w="25400">
            <a:solidFill>
              <a:srgbClr val="B45309"/>
            </a:solidFill>
            <a:prstDash val="solid"/>
          </a:ln>
        </p:spPr>
      </p:sp>
      <p:sp>
        <p:nvSpPr>
          <p:cNvPr id="38" name="Text 36"/>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FCoE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9" name="Shape 37"/>
          <p:cNvSpPr/>
          <p:nvPr/>
        </p:nvSpPr>
        <p:spPr>
          <a:xfrm flipH="1">
            <a:off x="1719072" y="8325358"/>
            <a:ext cx="1819656" cy="0"/>
          </a:xfrm>
          <a:prstGeom prst="line">
            <a:avLst/>
          </a:prstGeom>
          <a:noFill/>
          <a:ln w="31750">
            <a:solidFill>
              <a:srgbClr val="1B2A3A"/>
            </a:solidFill>
            <a:prstDash val="solid"/>
            <a:tailEnd type="triangle"/>
          </a:ln>
        </p:spPr>
      </p:sp>
      <p:sp>
        <p:nvSpPr>
          <p:cNvPr id="40" name="Text 38"/>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通信を運ぶ</a:t>
            </a:r>
            <a:endParaRPr lang="en-US" sz="1500" dirty="0"/>
          </a:p>
        </p:txBody>
      </p:sp>
      <p:sp>
        <p:nvSpPr>
          <p:cNvPr id="41" name="Shape 39"/>
          <p:cNvSpPr/>
          <p:nvPr/>
        </p:nvSpPr>
        <p:spPr>
          <a:xfrm>
            <a:off x="3566160" y="877341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a:off x="1719072" y="9111742"/>
            <a:ext cx="1819656" cy="0"/>
          </a:xfrm>
          <a:prstGeom prst="line">
            <a:avLst/>
          </a:prstGeom>
          <a:noFill/>
          <a:ln w="31750">
            <a:solidFill>
              <a:srgbClr val="1B2A3A"/>
            </a:solidFill>
            <a:prstDash val="solid"/>
            <a:tailEnd type="triangle"/>
          </a:ln>
        </p:spPr>
      </p:sp>
      <p:sp>
        <p:nvSpPr>
          <p:cNvPr id="44" name="Text 42"/>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ディスクを渡す</a:t>
            </a:r>
            <a:endParaRPr lang="en-US" sz="1500" dirty="0"/>
          </a:p>
        </p:txBody>
      </p:sp>
      <p:sp>
        <p:nvSpPr>
          <p:cNvPr id="45" name="Shape 43"/>
          <p:cNvSpPr/>
          <p:nvPr/>
        </p:nvSpPr>
        <p:spPr>
          <a:xfrm>
            <a:off x="3566160" y="9559798"/>
            <a:ext cx="1600200" cy="676656"/>
          </a:xfrm>
          <a:prstGeom prst="roundRect">
            <a:avLst>
              <a:gd name="adj" fmla="val 16216"/>
            </a:avLst>
          </a:prstGeom>
          <a:solidFill>
            <a:srgbClr val="D9F2F1"/>
          </a:solidFill>
          <a:ln w="25400">
            <a:solidFill>
              <a:srgbClr val="0B7A7A"/>
            </a:solidFill>
            <a:prstDash val="solid"/>
          </a:ln>
        </p:spPr>
      </p:sp>
      <p:sp>
        <p:nvSpPr>
          <p:cNvPr id="46" name="Text 44"/>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7" name="Shape 45"/>
          <p:cNvSpPr/>
          <p:nvPr/>
        </p:nvSpPr>
        <p:spPr>
          <a:xfrm>
            <a:off x="1719072" y="9898126"/>
            <a:ext cx="1819656" cy="0"/>
          </a:xfrm>
          <a:prstGeom prst="line">
            <a:avLst/>
          </a:prstGeom>
          <a:noFill/>
          <a:ln w="31750">
            <a:solidFill>
              <a:srgbClr val="1B2A3A"/>
            </a:solidFill>
            <a:prstDash val="solid"/>
            <a:tailEnd type="triangle"/>
          </a:ln>
        </p:spPr>
      </p:sp>
      <p:sp>
        <p:nvSpPr>
          <p:cNvPr id="48" name="Text 46"/>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SAN</a:t>
            </a:r>
            <a:endParaRPr lang="ja-JP" sz="2200" dirty="0"/>
          </a:p>
        </p:txBody>
      </p:sp>
      <p:sp>
        <p:nvSpPr>
          <p:cNvPr id="4" name="Shape 2"/>
          <p:cNvSpPr/>
          <p:nvPr/>
        </p:nvSpPr>
        <p:spPr>
          <a:xfrm>
            <a:off x="320040" y="1318514"/>
            <a:ext cx="4846320" cy="3787648"/>
          </a:xfrm>
          <a:prstGeom prst="roundRect">
            <a:avLst>
              <a:gd name="adj" fmla="val 3380"/>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読み：サン（Storage Area Network）</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SAN（Storage Area Network）は、サーバーと大きな保存装置（ストレージ装置）をつなぐ、専用のネットワークです。サーバーから見ると、ネットワークの先の保存領域が「自分の中のディスク」のように見えます。</a:t>
            </a:r>
            <a:endParaRPr lang="en-US" sz="2000" dirty="0"/>
          </a:p>
        </p:txBody>
      </p:sp>
      <p:sp>
        <p:nvSpPr>
          <p:cNvPr id="7" name="Shape 5"/>
          <p:cNvSpPr/>
          <p:nvPr/>
        </p:nvSpPr>
        <p:spPr>
          <a:xfrm>
            <a:off x="320040" y="5179314"/>
            <a:ext cx="4846320" cy="2631440"/>
          </a:xfrm>
          <a:prstGeom prst="roundRect">
            <a:avLst>
              <a:gd name="adj" fmla="val 4865"/>
            </a:avLst>
          </a:prstGeom>
          <a:solidFill>
            <a:srgbClr val="E2E8F0"/>
          </a:solidFill>
          <a:ln/>
        </p:spPr>
      </p:sp>
      <p:sp>
        <p:nvSpPr>
          <p:cNvPr id="8" name="Text 6"/>
          <p:cNvSpPr txBox="1"/>
          <p:nvPr/>
        </p:nvSpPr>
        <p:spPr>
          <a:xfrm>
            <a:off x="502920" y="52707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ブロックストレージを提供する点が、NASとの大きな違いです。サーバー側のOSが、そのディスクにファイルシステムを作って使います。内蔵ディスクに近い感覚で使えるため、データベースなどの用途に向きます。</a:t>
            </a:r>
            <a:endParaRPr lang="en-US" sz="2000" dirty="0"/>
          </a:p>
        </p:txBody>
      </p:sp>
      <p:sp>
        <p:nvSpPr>
          <p:cNvPr id="9" name="Text 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SAN</a:t>
            </a:r>
            <a:endParaRPr lang="ja-JP" sz="2200" dirty="0"/>
          </a:p>
        </p:txBody>
      </p:sp>
      <p:sp>
        <p:nvSpPr>
          <p:cNvPr id="4" name="Shape 2"/>
          <p:cNvSpPr/>
          <p:nvPr/>
        </p:nvSpPr>
        <p:spPr>
          <a:xfrm>
            <a:off x="320040" y="1318514"/>
            <a:ext cx="4846320" cy="2631440"/>
          </a:xfrm>
          <a:prstGeom prst="roundRect">
            <a:avLst>
              <a:gd name="adj" fmla="val 4865"/>
            </a:avLst>
          </a:prstGeom>
          <a:solidFill>
            <a:srgbClr val="E2E8F0"/>
          </a:solidFill>
          <a:ln/>
        </p:spPr>
      </p:sp>
      <p:sp>
        <p:nvSpPr>
          <p:cNvPr id="5" name="Text 3"/>
          <p:cNvSpPr txBox="1"/>
          <p:nvPr/>
        </p:nvSpPr>
        <p:spPr>
          <a:xfrm>
            <a:off x="502920" y="14099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代表的な接続方式は、専用の高速通信規格のFibre Channel（ファイバーチャネル）です。通常のEthernetを使う方式（iSCSIなど）もあります。専用の機器が必要なので、主に企業やデータセンターで使われます。</a:t>
            </a:r>
            <a:endParaRPr lang="en-US" sz="2000" dirty="0"/>
          </a:p>
        </p:txBody>
      </p:sp>
      <p:sp>
        <p:nvSpPr>
          <p:cNvPr id="6" name="Shape 4"/>
          <p:cNvSpPr/>
          <p:nvPr/>
        </p:nvSpPr>
        <p:spPr>
          <a:xfrm>
            <a:off x="320040" y="4023106"/>
            <a:ext cx="4846320" cy="1935480"/>
          </a:xfrm>
          <a:prstGeom prst="roundRect">
            <a:avLst>
              <a:gd name="adj" fmla="val 6614"/>
            </a:avLst>
          </a:prstGeom>
          <a:solidFill>
            <a:srgbClr val="FDEBD0"/>
          </a:solidFill>
          <a:ln/>
        </p:spPr>
      </p:sp>
      <p:sp>
        <p:nvSpPr>
          <p:cNvPr id="7" name="Text 5"/>
          <p:cNvSpPr txBox="1"/>
          <p:nvPr/>
        </p:nvSpPr>
        <p:spPr>
          <a:xfrm>
            <a:off x="502920" y="411454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サーバーの机の引き出しが、実は別の建物にある巨大な書庫につながっているイメージ。引き出しに見えても、実体は専用の通路の先にあります。</a:t>
            </a:r>
            <a:endParaRPr lang="en-US" sz="2000" dirty="0"/>
          </a:p>
        </p:txBody>
      </p:sp>
      <p:sp>
        <p:nvSpPr>
          <p:cNvPr id="8" name="Shape 6"/>
          <p:cNvSpPr/>
          <p:nvPr/>
        </p:nvSpPr>
        <p:spPr>
          <a:xfrm>
            <a:off x="320040" y="6141466"/>
            <a:ext cx="4846320" cy="2270760"/>
          </a:xfrm>
          <a:prstGeom prst="roundRect">
            <a:avLst>
              <a:gd name="adj" fmla="val 5638"/>
            </a:avLst>
          </a:prstGeom>
          <a:solidFill>
            <a:srgbClr val="DCE8F8"/>
          </a:solidFill>
          <a:ln/>
        </p:spPr>
      </p:sp>
      <p:sp>
        <p:nvSpPr>
          <p:cNvPr id="9" name="Text 7"/>
          <p:cNvSpPr txBox="1"/>
          <p:nvPr/>
        </p:nvSpPr>
        <p:spPr>
          <a:xfrm>
            <a:off x="502920" y="623290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会社の基幹システムのデータベースサーバーがSANの高速ディスクを使う、仮想化基盤の複数のサーバーが共通のSANストレージを使う、といった場面で出てきます。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SAN</a:t>
            </a:r>
            <a:endParaRPr lang="ja-JP" sz="2200" dirty="0"/>
          </a:p>
        </p:txBody>
      </p:sp>
      <p:sp>
        <p:nvSpPr>
          <p:cNvPr id="4" name="Shape 2"/>
          <p:cNvSpPr/>
          <p:nvPr/>
        </p:nvSpPr>
        <p:spPr>
          <a:xfrm>
            <a:off x="320040" y="1318514"/>
            <a:ext cx="4846320" cy="2606040"/>
          </a:xfrm>
          <a:prstGeom prst="roundRect">
            <a:avLst>
              <a:gd name="adj" fmla="val 4912"/>
            </a:avLst>
          </a:prstGeom>
          <a:solidFill>
            <a:srgbClr val="FBE3E0"/>
          </a:solidFill>
          <a:ln/>
        </p:spPr>
      </p:sp>
      <p:sp>
        <p:nvSpPr>
          <p:cNvPr id="5" name="Text 3"/>
          <p:cNvSpPr txBox="1"/>
          <p:nvPr/>
        </p:nvSpPr>
        <p:spPr>
          <a:xfrm>
            <a:off x="502920" y="1409954"/>
            <a:ext cx="4480560" cy="24597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SANは「ネットワークで共有するフォルダー」ではありません。それはNASです。SANは、サーバーに専用のディスクとして渡すのが基本で、複数のサーバーで同時に使うには特別な仕組みが必要です。</a:t>
            </a:r>
            <a:endParaRPr lang="en-US" sz="2000" dirty="0"/>
          </a:p>
        </p:txBody>
      </p:sp>
      <p:sp>
        <p:nvSpPr>
          <p:cNvPr id="6" name="Shape 4"/>
          <p:cNvSpPr/>
          <p:nvPr/>
        </p:nvSpPr>
        <p:spPr>
          <a:xfrm>
            <a:off x="320040" y="4107434"/>
            <a:ext cx="4846320" cy="1935480"/>
          </a:xfrm>
          <a:prstGeom prst="roundRect">
            <a:avLst>
              <a:gd name="adj" fmla="val 6614"/>
            </a:avLst>
          </a:prstGeom>
          <a:solidFill>
            <a:srgbClr val="DDF1E4"/>
          </a:solidFill>
          <a:ln/>
        </p:spPr>
      </p:sp>
      <p:sp>
        <p:nvSpPr>
          <p:cNvPr id="7" name="Text 5"/>
          <p:cNvSpPr txBox="1"/>
          <p:nvPr/>
        </p:nvSpPr>
        <p:spPr>
          <a:xfrm>
            <a:off x="502920" y="41988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紙に「サーバー→SAN→ストレージ装置」と描き、同じ形でNASの図も描いて、ファイルシステムがどこにあるかの違いを書き込んでみましょう。</a:t>
            </a:r>
            <a:endParaRPr lang="en-US" sz="2000" dirty="0"/>
          </a:p>
        </p:txBody>
      </p:sp>
      <p:sp>
        <p:nvSpPr>
          <p:cNvPr id="8" name="Text 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FCoE</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Fibre Channelの通信を、Ethernetのケーブルに載せて運ぶ技術。</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2" name="Shape 20"/>
          <p:cNvSpPr/>
          <p:nvPr/>
        </p:nvSpPr>
        <p:spPr>
          <a:xfrm>
            <a:off x="320040" y="4234942"/>
            <a:ext cx="4846320" cy="1264920"/>
          </a:xfrm>
          <a:prstGeom prst="roundRect">
            <a:avLst>
              <a:gd name="adj" fmla="val 10120"/>
            </a:avLst>
          </a:prstGeom>
          <a:solidFill>
            <a:srgbClr val="FDEBD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データセンターなどのネットワーク機器の間。SANの通信をEthernet上で運ぶ。</a:t>
            </a:r>
            <a:endParaRPr lang="en-US" sz="2000" dirty="0"/>
          </a:p>
        </p:txBody>
      </p:sp>
      <p:sp>
        <p:nvSpPr>
          <p:cNvPr id="24" name="Shape 22"/>
          <p:cNvSpPr/>
          <p:nvPr/>
        </p:nvSpPr>
        <p:spPr>
          <a:xfrm>
            <a:off x="320040" y="5682742"/>
            <a:ext cx="4846320" cy="402336"/>
          </a:xfrm>
          <a:prstGeom prst="roundRect">
            <a:avLst>
              <a:gd name="adj" fmla="val 22727"/>
            </a:avLst>
          </a:prstGeom>
          <a:solidFill>
            <a:srgbClr val="B4530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B45309"/>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FCoE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通信を運ぶ</a:t>
            </a:r>
            <a:endParaRPr lang="en-US" sz="1500" dirty="0"/>
          </a:p>
        </p:txBody>
      </p:sp>
      <p:sp>
        <p:nvSpPr>
          <p:cNvPr id="32" name="Shape 30"/>
          <p:cNvSpPr/>
          <p:nvPr/>
        </p:nvSpPr>
        <p:spPr>
          <a:xfrm>
            <a:off x="3566160" y="6926326"/>
            <a:ext cx="1600200" cy="676656"/>
          </a:xfrm>
          <a:prstGeom prst="roundRect">
            <a:avLst>
              <a:gd name="adj" fmla="val 16216"/>
            </a:avLst>
          </a:prstGeom>
          <a:solidFill>
            <a:srgbClr val="FDEBD0"/>
          </a:solidFill>
          <a:ln w="25400">
            <a:solidFill>
              <a:srgbClr val="B4530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同じ線を使う</a:t>
            </a:r>
            <a:endParaRPr lang="en-US" sz="1500" dirty="0"/>
          </a:p>
        </p:txBody>
      </p:sp>
      <p:sp>
        <p:nvSpPr>
          <p:cNvPr id="36" name="Shape 34"/>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使われる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運ぶ</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FCoE</a:t>
            </a:r>
            <a:endParaRPr lang="ja-JP" sz="2200" dirty="0"/>
          </a:p>
        </p:txBody>
      </p:sp>
      <p:sp>
        <p:nvSpPr>
          <p:cNvPr id="4" name="Shape 2"/>
          <p:cNvSpPr/>
          <p:nvPr/>
        </p:nvSpPr>
        <p:spPr>
          <a:xfrm>
            <a:off x="320040" y="1318514"/>
            <a:ext cx="4846320" cy="3452368"/>
          </a:xfrm>
          <a:prstGeom prst="roundRect">
            <a:avLst>
              <a:gd name="adj" fmla="val 3708"/>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読み：エフ・シー・オー・イー（Fibre Channel over Ethernet）</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FCoE（Fibre Channel over Ethernet）は、SANで使うFibre Channelの通信を、Ethernet（イーサネット。LANで広く使われる有線規格）のケーブル上で運べるようにする技術です。</a:t>
            </a:r>
            <a:endParaRPr lang="en-US" sz="2000" dirty="0"/>
          </a:p>
        </p:txBody>
      </p:sp>
      <p:sp>
        <p:nvSpPr>
          <p:cNvPr id="7" name="Shape 5"/>
          <p:cNvSpPr/>
          <p:nvPr/>
        </p:nvSpPr>
        <p:spPr>
          <a:xfrm>
            <a:off x="320040" y="4844034"/>
            <a:ext cx="4846320" cy="2296160"/>
          </a:xfrm>
          <a:prstGeom prst="roundRect">
            <a:avLst>
              <a:gd name="adj" fmla="val 5575"/>
            </a:avLst>
          </a:prstGeom>
          <a:solidFill>
            <a:srgbClr val="FDEBD0"/>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従来は、SAN用のFibre Channelの配線と、通常のLANの配線の2系統が必要でした。FCoEなら1本のケーブルにまとめられ、ケーブルや機器の数を減らせる可能性があります。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DEBD0"/>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ただしFibre Channelは、データを落とさずに運ぶことを前提にしています。そのため、通信を落とさずに運べるEthernetの拡張に対応した、専用のスイッチやネットワークカードが必要です。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FCoE</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専用の鉄道（Fibre Channel）の列車を、一般道路（Ethernet）にも走らせる技術。荷物を落とさないために、道路の側にも専用の整備（対応機器）が必要です。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データセンターで、サーバーにつなぐSAN用とLAN用のケーブルを1本にまとめたい、という場面で検討されます。専用のスイッチが必要です。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FCoEは「インターネット経由でストレージを使う」技術ではありません。データセンター内で、専用に整えたEthernetで使うものです。普通のLANにつなぐだけでは動きません。</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「Fibre Channel」「Ethernet」「iSCSI」の3つを調べ、SANとLANのどの部分を担うかを、1枚の図にまとめてみましょう。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RAID</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複数のドライブを組み合わせて、速さや故障への強さを高める技術。</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Shape 20"/>
          <p:cNvSpPr/>
          <p:nvPr/>
        </p:nvSpPr>
        <p:spPr>
          <a:xfrm>
            <a:off x="320040" y="4234942"/>
            <a:ext cx="4846320" cy="1264920"/>
          </a:xfrm>
          <a:prstGeom prst="roundRect">
            <a:avLst>
              <a:gd name="adj" fmla="val 10120"/>
            </a:avLst>
          </a:prstGeom>
          <a:solidFill>
            <a:srgbClr val="E2E8F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パソコン・サーバー・NASの中にある、複数のドライブを組み合わせて使う技術。</a:t>
            </a:r>
            <a:endParaRPr lang="en-US" sz="2000" dirty="0"/>
          </a:p>
        </p:txBody>
      </p:sp>
      <p:sp>
        <p:nvSpPr>
          <p:cNvPr id="24" name="Shape 22"/>
          <p:cNvSpPr/>
          <p:nvPr/>
        </p:nvSpPr>
        <p:spPr>
          <a:xfrm>
            <a:off x="320040" y="5682742"/>
            <a:ext cx="4846320" cy="402336"/>
          </a:xfrm>
          <a:prstGeom prst="roundRect">
            <a:avLst>
              <a:gd name="adj" fmla="val 22727"/>
            </a:avLst>
          </a:prstGeom>
          <a:solidFill>
            <a:srgbClr val="47556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475569"/>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RAID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36" name="Shape 34"/>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8" name="Shape 36"/>
          <p:cNvSpPr/>
          <p:nvPr/>
        </p:nvSpPr>
        <p:spPr>
          <a:xfrm flipH="1">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headEnd type="triangle"/>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RAID</a:t>
            </a:r>
            <a:endParaRPr lang="ja-JP" sz="2200" dirty="0"/>
          </a:p>
        </p:txBody>
      </p:sp>
      <p:sp>
        <p:nvSpPr>
          <p:cNvPr id="4" name="Shape 2"/>
          <p:cNvSpPr/>
          <p:nvPr/>
        </p:nvSpPr>
        <p:spPr>
          <a:xfrm>
            <a:off x="320040" y="1318514"/>
            <a:ext cx="4846320" cy="3117088"/>
          </a:xfrm>
          <a:prstGeom prst="roundRect">
            <a:avLst>
              <a:gd name="adj" fmla="val 4107"/>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読み：レイド（Redundant Array of Independent Disks）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RAIDは、複数のHDDやSSDを、1つの大きなドライブのように組み合わせる技術です。組み合わせ方（RAIDレベル）で、速さ・容量・故障への強さの性格が変わります。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E2E8F0"/>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RAID 0は、データを複数のドライブに分けて書き、速さと容量を増やしますが、1台壊れると全体が失われます。RAID 1は、同じデータを2台に同時に書き（ミラーリング）、1台壊れても残りで使えます。</a:t>
            </a:r>
            <a:endParaRPr lang="en-US" sz="2000" dirty="0"/>
          </a:p>
        </p:txBody>
      </p:sp>
      <p:sp>
        <p:nvSpPr>
          <p:cNvPr id="9" name="Shape 7"/>
          <p:cNvSpPr/>
          <p:nvPr/>
        </p:nvSpPr>
        <p:spPr>
          <a:xfrm>
            <a:off x="320040" y="6878066"/>
            <a:ext cx="4846320" cy="2296160"/>
          </a:xfrm>
          <a:prstGeom prst="roundRect">
            <a:avLst>
              <a:gd name="adj" fmla="val 5575"/>
            </a:avLst>
          </a:prstGeom>
          <a:solidFill>
            <a:srgbClr val="E2E8F0"/>
          </a:solidFill>
          <a:ln/>
        </p:spPr>
      </p:sp>
      <p:sp>
        <p:nvSpPr>
          <p:cNvPr id="10" name="Text 8"/>
          <p:cNvSpPr txBox="1"/>
          <p:nvPr/>
        </p:nvSpPr>
        <p:spPr>
          <a:xfrm>
            <a:off x="502920" y="696950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RAID 5は、3台以上で、データと「パリティ」（失われたデータを計算で復元するための情報）を分散して書きます。1台壊れても復元でき、容量の無駄も少ない方式です。2台壊れると失われます。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RAID</a:t>
            </a:r>
            <a:endParaRPr lang="ja-JP" sz="2200" dirty="0"/>
          </a:p>
        </p:txBody>
      </p:sp>
      <p:sp>
        <p:nvSpPr>
          <p:cNvPr id="4" name="Shape 2"/>
          <p:cNvSpPr/>
          <p:nvPr/>
        </p:nvSpPr>
        <p:spPr>
          <a:xfrm>
            <a:off x="320040" y="1318514"/>
            <a:ext cx="4846320" cy="1625600"/>
          </a:xfrm>
          <a:prstGeom prst="roundRect">
            <a:avLst>
              <a:gd name="adj" fmla="val 7875"/>
            </a:avLst>
          </a:prstGeom>
          <a:solidFill>
            <a:srgbClr val="E2E8F0"/>
          </a:solidFill>
          <a:ln/>
        </p:spPr>
      </p:sp>
      <p:sp>
        <p:nvSpPr>
          <p:cNvPr id="5" name="Text 3"/>
          <p:cNvSpPr txBox="1"/>
          <p:nvPr/>
        </p:nvSpPr>
        <p:spPr>
          <a:xfrm>
            <a:off x="502920" y="1409954"/>
            <a:ext cx="4480560" cy="1479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OSの機能（ソフトウェアRAID）や専用の部品（RAIDコントローラー）で実現し、サーバーやNASで、故障に備えるために使われます。</a:t>
            </a:r>
            <a:endParaRPr lang="en-US" sz="2000" dirty="0"/>
          </a:p>
        </p:txBody>
      </p:sp>
      <p:sp>
        <p:nvSpPr>
          <p:cNvPr id="6" name="Shape 4"/>
          <p:cNvSpPr/>
          <p:nvPr/>
        </p:nvSpPr>
        <p:spPr>
          <a:xfrm>
            <a:off x="320040" y="3017266"/>
            <a:ext cx="4846320" cy="1935480"/>
          </a:xfrm>
          <a:prstGeom prst="roundRect">
            <a:avLst>
              <a:gd name="adj" fmla="val 6614"/>
            </a:avLst>
          </a:prstGeom>
          <a:solidFill>
            <a:srgbClr val="FDEBD0"/>
          </a:solidFill>
          <a:ln/>
        </p:spPr>
      </p:sp>
      <p:sp>
        <p:nvSpPr>
          <p:cNvPr id="7" name="Text 5"/>
          <p:cNvSpPr txBox="1"/>
          <p:nvPr/>
        </p:nvSpPr>
        <p:spPr>
          <a:xfrm>
            <a:off x="502920" y="31087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同じ本を2冊持つ図書館（RAID 1）。1冊をなくしても読めますが、落書きは両方に付きます。故障には強くても、書き間違いや削除は防げません。</a:t>
            </a:r>
            <a:endParaRPr lang="en-US" sz="2000" dirty="0"/>
          </a:p>
        </p:txBody>
      </p:sp>
      <p:sp>
        <p:nvSpPr>
          <p:cNvPr id="8" name="Shape 6"/>
          <p:cNvSpPr/>
          <p:nvPr/>
        </p:nvSpPr>
        <p:spPr>
          <a:xfrm>
            <a:off x="320040" y="5135626"/>
            <a:ext cx="4846320" cy="1935480"/>
          </a:xfrm>
          <a:prstGeom prst="roundRect">
            <a:avLst>
              <a:gd name="adj" fmla="val 6614"/>
            </a:avLst>
          </a:prstGeom>
          <a:solidFill>
            <a:srgbClr val="DCE8F8"/>
          </a:solidFill>
          <a:ln/>
        </p:spPr>
      </p:sp>
      <p:sp>
        <p:nvSpPr>
          <p:cNvPr id="9" name="Text 7"/>
          <p:cNvSpPr txBox="1"/>
          <p:nvPr/>
        </p:nvSpPr>
        <p:spPr>
          <a:xfrm>
            <a:off x="502920" y="522706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NASを買うとき「RAID 1に対応」と書いてある、サーバーのHDDが1台壊れても止めずに交換できる、といった場面で出てきます。</a:t>
            </a:r>
            <a:endParaRPr lang="en-US" sz="2000" dirty="0"/>
          </a:p>
        </p:txBody>
      </p:sp>
      <p:sp>
        <p:nvSpPr>
          <p:cNvPr id="10" name="Shape 8"/>
          <p:cNvSpPr/>
          <p:nvPr/>
        </p:nvSpPr>
        <p:spPr>
          <a:xfrm>
            <a:off x="320040" y="7253986"/>
            <a:ext cx="4846320" cy="2270760"/>
          </a:xfrm>
          <a:prstGeom prst="roundRect">
            <a:avLst>
              <a:gd name="adj" fmla="val 5638"/>
            </a:avLst>
          </a:prstGeom>
          <a:solidFill>
            <a:srgbClr val="FBE3E0"/>
          </a:solidFill>
          <a:ln/>
        </p:spPr>
      </p:sp>
      <p:sp>
        <p:nvSpPr>
          <p:cNvPr id="11" name="Text 9"/>
          <p:cNvSpPr txBox="1"/>
          <p:nvPr/>
        </p:nvSpPr>
        <p:spPr>
          <a:xfrm>
            <a:off x="502920" y="734542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RAIDはバックアップの代わりになりません。ドライブの故障には備えられますが、誤って消したファイルや、ウイルスで壊されたデータは、すべてのドライブで同じように失われます。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RAID</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紙にドライブ3〜4台の図を描き、RAID 0・1・5で「データがどう分かれて書かれるか」「1台壊れたらどうなるか」を矢印で書き込んでみましょう。</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RAIDは故障対策、バックアップは別</a:t>
            </a:r>
            <a:endParaRPr lang="ja-JP" sz="2600" dirty="0"/>
          </a:p>
        </p:txBody>
      </p:sp>
      <p:sp>
        <p:nvSpPr>
          <p:cNvPr id="6" name="Text 4"/>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RAIDはドライブが壊れても動き続ける仕組みです。誤って消したデータは戻せないので、バックアップは別に必要です。</a:t>
            </a:r>
            <a:endParaRPr lang="en-US" sz="1800" dirty="0"/>
          </a:p>
        </p:txBody>
      </p:sp>
      <p:sp>
        <p:nvSpPr>
          <p:cNvPr id="7" name="Shape 5"/>
          <p:cNvSpPr/>
          <p:nvPr/>
        </p:nvSpPr>
        <p:spPr>
          <a:xfrm>
            <a:off x="320040" y="3230372"/>
            <a:ext cx="4846320" cy="2008632"/>
          </a:xfrm>
          <a:prstGeom prst="roundRect">
            <a:avLst>
              <a:gd name="adj" fmla="val 6373"/>
            </a:avLst>
          </a:prstGeom>
          <a:solidFill>
            <a:srgbClr val="DCE8F8"/>
          </a:solidFill>
          <a:ln/>
        </p:spPr>
      </p:sp>
      <p:sp>
        <p:nvSpPr>
          <p:cNvPr id="8" name="Text 6"/>
          <p:cNvSpPr txBox="1"/>
          <p:nvPr/>
        </p:nvSpPr>
        <p:spPr>
          <a:xfrm>
            <a:off x="502920" y="337667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RAID 0</a:t>
            </a:r>
            <a:endParaRPr lang="en-US" sz="2200" dirty="0"/>
          </a:p>
        </p:txBody>
      </p:sp>
      <p:sp>
        <p:nvSpPr>
          <p:cNvPr id="9" name="Text 7"/>
          <p:cNvSpPr txBox="1"/>
          <p:nvPr/>
        </p:nvSpPr>
        <p:spPr>
          <a:xfrm>
            <a:off x="502920" y="3836924"/>
            <a:ext cx="4480560" cy="13106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しくみ：</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複数台に分けて書く</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1台故障：</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 全部失う</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速いが耐性なし</a:t>
            </a:r>
            <a:endParaRPr lang="en-US" sz="2000" dirty="0"/>
          </a:p>
        </p:txBody>
      </p:sp>
      <p:sp>
        <p:nvSpPr>
          <p:cNvPr id="10" name="Shape 8"/>
          <p:cNvSpPr/>
          <p:nvPr/>
        </p:nvSpPr>
        <p:spPr>
          <a:xfrm>
            <a:off x="320040" y="5421884"/>
            <a:ext cx="4846320" cy="2008632"/>
          </a:xfrm>
          <a:prstGeom prst="roundRect">
            <a:avLst>
              <a:gd name="adj" fmla="val 6373"/>
            </a:avLst>
          </a:prstGeom>
          <a:solidFill>
            <a:srgbClr val="DCE8F8"/>
          </a:solidFill>
          <a:ln/>
        </p:spPr>
      </p:sp>
      <p:sp>
        <p:nvSpPr>
          <p:cNvPr id="11" name="Text 9"/>
          <p:cNvSpPr txBox="1"/>
          <p:nvPr/>
        </p:nvSpPr>
        <p:spPr>
          <a:xfrm>
            <a:off x="502920" y="556818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RAID 1</a:t>
            </a:r>
            <a:endParaRPr lang="en-US" sz="2200" dirty="0"/>
          </a:p>
        </p:txBody>
      </p:sp>
      <p:sp>
        <p:nvSpPr>
          <p:cNvPr id="12" name="Text 10"/>
          <p:cNvSpPr txBox="1"/>
          <p:nvPr/>
        </p:nvSpPr>
        <p:spPr>
          <a:xfrm>
            <a:off x="502920" y="6028436"/>
            <a:ext cx="4480560" cy="13106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しくみ：</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同じデータを2台に</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1台故障：</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 残る</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容量は半分</a:t>
            </a:r>
            <a:endParaRPr lang="en-US" sz="2000" dirty="0"/>
          </a:p>
        </p:txBody>
      </p:sp>
      <p:sp>
        <p:nvSpPr>
          <p:cNvPr id="13" name="Shape 11"/>
          <p:cNvSpPr/>
          <p:nvPr/>
        </p:nvSpPr>
        <p:spPr>
          <a:xfrm>
            <a:off x="320040" y="7613396"/>
            <a:ext cx="4846320" cy="2008632"/>
          </a:xfrm>
          <a:prstGeom prst="roundRect">
            <a:avLst>
              <a:gd name="adj" fmla="val 6373"/>
            </a:avLst>
          </a:prstGeom>
          <a:solidFill>
            <a:srgbClr val="DCE8F8"/>
          </a:solidFill>
          <a:ln/>
        </p:spPr>
      </p:sp>
      <p:sp>
        <p:nvSpPr>
          <p:cNvPr id="14" name="Text 12"/>
          <p:cNvSpPr txBox="1"/>
          <p:nvPr/>
        </p:nvSpPr>
        <p:spPr>
          <a:xfrm>
            <a:off x="502920" y="775970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RAID 5</a:t>
            </a:r>
            <a:endParaRPr lang="en-US" sz="2200" dirty="0"/>
          </a:p>
        </p:txBody>
      </p:sp>
      <p:sp>
        <p:nvSpPr>
          <p:cNvPr id="15" name="Text 13"/>
          <p:cNvSpPr txBox="1"/>
          <p:nvPr/>
        </p:nvSpPr>
        <p:spPr>
          <a:xfrm>
            <a:off x="502920" y="8219948"/>
            <a:ext cx="4480560" cy="13106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しくみ：</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分散＋誤り訂正情報</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1台故障：</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 残る</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3台以上</a:t>
            </a:r>
            <a:endParaRPr lang="en-US" sz="2000" dirty="0"/>
          </a:p>
        </p:txBody>
      </p:sp>
      <p:sp>
        <p:nvSpPr>
          <p:cNvPr id="16"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RAIDは故障対策、バックアップは別</a:t>
            </a:r>
            <a:endParaRPr lang="ja-JP" sz="2200" dirty="0"/>
          </a:p>
        </p:txBody>
      </p:sp>
      <p:sp>
        <p:nvSpPr>
          <p:cNvPr id="4" name="Shape 2"/>
          <p:cNvSpPr/>
          <p:nvPr/>
        </p:nvSpPr>
        <p:spPr>
          <a:xfrm>
            <a:off x="320040" y="1318514"/>
            <a:ext cx="4846320" cy="2008632"/>
          </a:xfrm>
          <a:prstGeom prst="roundRect">
            <a:avLst>
              <a:gd name="adj" fmla="val 6373"/>
            </a:avLst>
          </a:prstGeom>
          <a:solidFill>
            <a:srgbClr val="DCE8F8"/>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RAID 6</a:t>
            </a:r>
            <a:endParaRPr lang="en-US" sz="2200" dirty="0"/>
          </a:p>
        </p:txBody>
      </p:sp>
      <p:sp>
        <p:nvSpPr>
          <p:cNvPr id="6" name="Text 4"/>
          <p:cNvSpPr txBox="1"/>
          <p:nvPr/>
        </p:nvSpPr>
        <p:spPr>
          <a:xfrm>
            <a:off x="502920" y="1925066"/>
            <a:ext cx="4480560" cy="13106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しくみ：</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誤り訂正情報を2種類</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1台故障：</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 2台まで</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4台以上</a:t>
            </a:r>
            <a:endParaRPr lang="en-US" sz="2000" dirty="0"/>
          </a:p>
        </p:txBody>
      </p:sp>
      <p:sp>
        <p:nvSpPr>
          <p:cNvPr id="7" name="Shape 5"/>
          <p:cNvSpPr/>
          <p:nvPr/>
        </p:nvSpPr>
        <p:spPr>
          <a:xfrm>
            <a:off x="320040" y="3510026"/>
            <a:ext cx="4846320" cy="2008632"/>
          </a:xfrm>
          <a:prstGeom prst="roundRect">
            <a:avLst>
              <a:gd name="adj" fmla="val 6373"/>
            </a:avLst>
          </a:prstGeom>
          <a:solidFill>
            <a:srgbClr val="DCE8F8"/>
          </a:solidFill>
          <a:ln/>
        </p:spPr>
      </p:sp>
      <p:sp>
        <p:nvSpPr>
          <p:cNvPr id="8" name="Text 6"/>
          <p:cNvSpPr txBox="1"/>
          <p:nvPr/>
        </p:nvSpPr>
        <p:spPr>
          <a:xfrm>
            <a:off x="502920" y="365633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RAID 10</a:t>
            </a:r>
            <a:endParaRPr lang="en-US" sz="2200" dirty="0"/>
          </a:p>
        </p:txBody>
      </p:sp>
      <p:sp>
        <p:nvSpPr>
          <p:cNvPr id="9" name="Text 7"/>
          <p:cNvSpPr txBox="1"/>
          <p:nvPr/>
        </p:nvSpPr>
        <p:spPr>
          <a:xfrm>
            <a:off x="502920" y="4116578"/>
            <a:ext cx="4480560" cy="13106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しくみ：</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ミラー＋分散</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1台故障：</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 組ごとに1台</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4台以上</a:t>
            </a:r>
            <a:endParaRPr lang="en-US" sz="2000" dirty="0"/>
          </a:p>
        </p:txBody>
      </p:sp>
      <p:sp>
        <p:nvSpPr>
          <p:cNvPr id="10" name="Shape 8"/>
          <p:cNvSpPr/>
          <p:nvPr/>
        </p:nvSpPr>
        <p:spPr>
          <a:xfrm>
            <a:off x="320040" y="5701538"/>
            <a:ext cx="4846320" cy="1280160"/>
          </a:xfrm>
          <a:prstGeom prst="roundRect">
            <a:avLst>
              <a:gd name="adj" fmla="val 8571"/>
            </a:avLst>
          </a:prstGeom>
          <a:solidFill>
            <a:srgbClr val="FBE3E0"/>
          </a:solidFill>
          <a:ln w="19050">
            <a:solidFill>
              <a:srgbClr val="C0392B"/>
            </a:solidFill>
            <a:prstDash val="solid"/>
          </a:ln>
        </p:spPr>
      </p:sp>
      <p:sp>
        <p:nvSpPr>
          <p:cNvPr id="11" name="Shape 9"/>
          <p:cNvSpPr/>
          <p:nvPr/>
        </p:nvSpPr>
        <p:spPr>
          <a:xfrm>
            <a:off x="457200" y="6113018"/>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557784" y="6213602"/>
            <a:ext cx="256032" cy="256032"/>
          </a:xfrm>
          <a:prstGeom prst="rect">
            <a:avLst/>
          </a:prstGeom>
        </p:spPr>
      </p:pic>
      <p:sp>
        <p:nvSpPr>
          <p:cNvPr id="13" name="Text 10"/>
          <p:cNvSpPr txBox="1"/>
          <p:nvPr/>
        </p:nvSpPr>
        <p:spPr>
          <a:xfrm>
            <a:off x="1051560" y="5747258"/>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誤って消した・壊されたデータは、RAIDでは戻せません。バックアップは別に必要です。</a:t>
            </a:r>
            <a:endParaRPr lang="en-US" sz="2000" dirty="0"/>
          </a:p>
        </p:txBody>
      </p:sp>
      <p:sp>
        <p:nvSpPr>
          <p:cNvPr id="14" name="Text 1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混同しやすい4組を整理</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似た名前の用語を並べると、違いがはっきりします。貼り付けの注意点をそのまま表にしました。</a:t>
            </a:r>
            <a:endParaRPr lang="en-US" sz="1800" dirty="0"/>
          </a:p>
        </p:txBody>
      </p:sp>
      <p:sp>
        <p:nvSpPr>
          <p:cNvPr id="6" name="Shape 4"/>
          <p:cNvSpPr/>
          <p:nvPr/>
        </p:nvSpPr>
        <p:spPr>
          <a:xfrm>
            <a:off x="320040" y="2817622"/>
            <a:ext cx="4846320" cy="1805432"/>
          </a:xfrm>
          <a:prstGeom prst="roundRect">
            <a:avLst>
              <a:gd name="adj" fmla="val 7091"/>
            </a:avLst>
          </a:prstGeom>
          <a:solidFill>
            <a:srgbClr val="DCE8F8"/>
          </a:solidFill>
          <a:ln/>
        </p:spPr>
      </p:sp>
      <p:sp>
        <p:nvSpPr>
          <p:cNvPr id="7" name="Text 5"/>
          <p:cNvSpPr txBox="1"/>
          <p:nvPr/>
        </p:nvSpPr>
        <p:spPr>
          <a:xfrm>
            <a:off x="502920" y="296392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メモリとストレージ</a:t>
            </a:r>
            <a:endParaRPr lang="en-US" sz="2200" dirty="0"/>
          </a:p>
        </p:txBody>
      </p:sp>
      <p:sp>
        <p:nvSpPr>
          <p:cNvPr id="8" name="Text 6"/>
          <p:cNvSpPr txBox="1"/>
          <p:nvPr/>
        </p:nvSpPr>
        <p:spPr>
          <a:xfrm>
            <a:off x="502920" y="3424174"/>
            <a:ext cx="4480560" cy="11074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違い：</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メモリは作業中の一時的な置き場、ストレージは長期保存の置き場です。</a:t>
            </a:r>
            <a:endParaRPr lang="en-US" sz="2000" dirty="0"/>
          </a:p>
        </p:txBody>
      </p:sp>
      <p:sp>
        <p:nvSpPr>
          <p:cNvPr id="9" name="Shape 7"/>
          <p:cNvSpPr/>
          <p:nvPr/>
        </p:nvSpPr>
        <p:spPr>
          <a:xfrm>
            <a:off x="320040" y="4805934"/>
            <a:ext cx="4846320" cy="2475992"/>
          </a:xfrm>
          <a:prstGeom prst="roundRect">
            <a:avLst>
              <a:gd name="adj" fmla="val 5170"/>
            </a:avLst>
          </a:prstGeom>
          <a:solidFill>
            <a:srgbClr val="DCE8F8"/>
          </a:solidFill>
          <a:ln/>
        </p:spPr>
      </p:sp>
      <p:sp>
        <p:nvSpPr>
          <p:cNvPr id="10" name="Text 8"/>
          <p:cNvSpPr txBox="1"/>
          <p:nvPr/>
        </p:nvSpPr>
        <p:spPr>
          <a:xfrm>
            <a:off x="502920" y="495223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RAIDとバックアップ</a:t>
            </a:r>
            <a:endParaRPr lang="en-US" sz="2200" dirty="0"/>
          </a:p>
        </p:txBody>
      </p:sp>
      <p:sp>
        <p:nvSpPr>
          <p:cNvPr id="11" name="Text 9"/>
          <p:cNvSpPr txBox="1"/>
          <p:nvPr/>
        </p:nvSpPr>
        <p:spPr>
          <a:xfrm>
            <a:off x="502920" y="5412486"/>
            <a:ext cx="4480560" cy="177800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違い：</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RAIDは主にドライブ故障などへの対策。誤って消したデータや、破壊されたデータを戻すためのバックアップは別に必要です。RAID 0には故障への耐性もありません。</a:t>
            </a:r>
            <a:endParaRPr lang="en-US" sz="2000" dirty="0"/>
          </a:p>
        </p:txBody>
      </p:sp>
      <p:sp>
        <p:nvSpPr>
          <p:cNvPr id="12" name="Shape 10"/>
          <p:cNvSpPr/>
          <p:nvPr/>
        </p:nvSpPr>
        <p:spPr>
          <a:xfrm>
            <a:off x="320040" y="7464806"/>
            <a:ext cx="4846320" cy="2140712"/>
          </a:xfrm>
          <a:prstGeom prst="roundRect">
            <a:avLst>
              <a:gd name="adj" fmla="val 5980"/>
            </a:avLst>
          </a:prstGeom>
          <a:solidFill>
            <a:srgbClr val="DCE8F8"/>
          </a:solidFill>
          <a:ln/>
        </p:spPr>
      </p:sp>
      <p:sp>
        <p:nvSpPr>
          <p:cNvPr id="13" name="Text 11"/>
          <p:cNvSpPr txBox="1"/>
          <p:nvPr/>
        </p:nvSpPr>
        <p:spPr>
          <a:xfrm>
            <a:off x="502920" y="761111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NVMeとM.2</a:t>
            </a:r>
            <a:endParaRPr lang="en-US" sz="2200" dirty="0"/>
          </a:p>
        </p:txBody>
      </p:sp>
      <p:sp>
        <p:nvSpPr>
          <p:cNvPr id="14" name="Text 12"/>
          <p:cNvSpPr txBox="1"/>
          <p:nvPr/>
        </p:nvSpPr>
        <p:spPr>
          <a:xfrm>
            <a:off x="502920" y="8071358"/>
            <a:ext cx="4480560" cy="14427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違い：</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NVMeは通信・制御の規格、M.2は部品の形状や接続形式の規格です。M.2だから必ずNVMeとは限りません。</a:t>
            </a:r>
            <a:endParaRPr lang="en-US" sz="2000" dirty="0"/>
          </a:p>
        </p:txBody>
      </p:sp>
      <p:sp>
        <p:nvSpPr>
          <p:cNvPr id="15" name="Text 1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混同しやすい4組を整理</a:t>
            </a:r>
            <a:endParaRPr lang="ja-JP" sz="2200" dirty="0"/>
          </a:p>
        </p:txBody>
      </p:sp>
      <p:sp>
        <p:nvSpPr>
          <p:cNvPr id="4" name="Shape 2"/>
          <p:cNvSpPr/>
          <p:nvPr/>
        </p:nvSpPr>
        <p:spPr>
          <a:xfrm>
            <a:off x="320040" y="1318514"/>
            <a:ext cx="4846320" cy="2140712"/>
          </a:xfrm>
          <a:prstGeom prst="roundRect">
            <a:avLst>
              <a:gd name="adj" fmla="val 5980"/>
            </a:avLst>
          </a:prstGeom>
          <a:solidFill>
            <a:srgbClr val="DCE8F8"/>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ストレージとデータベース</a:t>
            </a:r>
            <a:endParaRPr lang="en-US" sz="2200" dirty="0"/>
          </a:p>
        </p:txBody>
      </p:sp>
      <p:sp>
        <p:nvSpPr>
          <p:cNvPr id="6" name="Text 4"/>
          <p:cNvSpPr txBox="1"/>
          <p:nvPr/>
        </p:nvSpPr>
        <p:spPr>
          <a:xfrm>
            <a:off x="502920" y="1925066"/>
            <a:ext cx="4480560" cy="14427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違い：</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ストレージはデータを保存する土台。データベースは、その上で情報を整理・検索・更新する仕組みです。</a:t>
            </a:r>
            <a:endParaRPr lang="en-US" sz="2000" dirty="0"/>
          </a:p>
        </p:txBody>
      </p:sp>
      <p:sp>
        <p:nvSpPr>
          <p:cNvPr id="7"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データベースはストレージの上で動く</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データを保存する土台がストレージ、その上で情報を整理・検索するのがデータベースです。</a:t>
            </a:r>
            <a:endParaRPr lang="en-US" sz="1800" dirty="0"/>
          </a:p>
        </p:txBody>
      </p:sp>
      <p:sp>
        <p:nvSpPr>
          <p:cNvPr id="7" name="Shape 5"/>
          <p:cNvSpPr/>
          <p:nvPr/>
        </p:nvSpPr>
        <p:spPr>
          <a:xfrm>
            <a:off x="320040" y="2928620"/>
            <a:ext cx="4846320" cy="911352"/>
          </a:xfrm>
          <a:prstGeom prst="roundRect">
            <a:avLst>
              <a:gd name="adj" fmla="val 12040"/>
            </a:avLst>
          </a:prstGeom>
          <a:solidFill>
            <a:srgbClr val="0B7A7A"/>
          </a:solidFill>
          <a:ln/>
        </p:spPr>
      </p:sp>
      <p:sp>
        <p:nvSpPr>
          <p:cNvPr id="8" name="Text 6"/>
          <p:cNvSpPr txBox="1"/>
          <p:nvPr/>
        </p:nvSpPr>
        <p:spPr>
          <a:xfrm>
            <a:off x="411480" y="2928620"/>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注文を登録する</a:t>
            </a:r>
            <a:endParaRPr lang="en-US" sz="2000" dirty="0"/>
          </a:p>
        </p:txBody>
      </p:sp>
      <p:sp>
        <p:nvSpPr>
          <p:cNvPr id="9" name="Shape 7"/>
          <p:cNvSpPr/>
          <p:nvPr/>
        </p:nvSpPr>
        <p:spPr>
          <a:xfrm>
            <a:off x="2743200" y="4022852"/>
            <a:ext cx="0" cy="438912"/>
          </a:xfrm>
          <a:prstGeom prst="line">
            <a:avLst/>
          </a:prstGeom>
          <a:noFill/>
          <a:ln w="38100">
            <a:solidFill>
              <a:srgbClr val="1B2A3A"/>
            </a:solidFill>
            <a:prstDash val="solid"/>
            <a:tailEnd type="triangle"/>
          </a:ln>
        </p:spPr>
      </p:sp>
      <p:sp>
        <p:nvSpPr>
          <p:cNvPr id="10" name="Text 8"/>
          <p:cNvSpPr txBox="1"/>
          <p:nvPr/>
        </p:nvSpPr>
        <p:spPr>
          <a:xfrm>
            <a:off x="2926080" y="4041140"/>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依頼</a:t>
            </a:r>
            <a:endParaRPr lang="en-US" sz="1800" dirty="0"/>
          </a:p>
        </p:txBody>
      </p:sp>
      <p:sp>
        <p:nvSpPr>
          <p:cNvPr id="11" name="Shape 9"/>
          <p:cNvSpPr/>
          <p:nvPr/>
        </p:nvSpPr>
        <p:spPr>
          <a:xfrm>
            <a:off x="320040" y="4480052"/>
            <a:ext cx="4846320" cy="911352"/>
          </a:xfrm>
          <a:prstGeom prst="roundRect">
            <a:avLst>
              <a:gd name="adj" fmla="val 12040"/>
            </a:avLst>
          </a:prstGeom>
          <a:solidFill>
            <a:srgbClr val="237A48"/>
          </a:solidFill>
          <a:ln/>
        </p:spPr>
      </p:sp>
      <p:sp>
        <p:nvSpPr>
          <p:cNvPr id="12" name="Text 10"/>
          <p:cNvSpPr txBox="1"/>
          <p:nvPr/>
        </p:nvSpPr>
        <p:spPr>
          <a:xfrm>
            <a:off x="411480" y="448005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データベース</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表として整理・検索</a:t>
            </a:r>
            <a:endParaRPr lang="en-US" sz="2000" dirty="0"/>
          </a:p>
        </p:txBody>
      </p:sp>
      <p:sp>
        <p:nvSpPr>
          <p:cNvPr id="13" name="Shape 11"/>
          <p:cNvSpPr/>
          <p:nvPr/>
        </p:nvSpPr>
        <p:spPr>
          <a:xfrm>
            <a:off x="2743200" y="5574284"/>
            <a:ext cx="0" cy="438912"/>
          </a:xfrm>
          <a:prstGeom prst="line">
            <a:avLst/>
          </a:prstGeom>
          <a:noFill/>
          <a:ln w="38100">
            <a:solidFill>
              <a:srgbClr val="1B2A3A"/>
            </a:solidFill>
            <a:prstDash val="solid"/>
            <a:tailEnd type="triangle"/>
          </a:ln>
        </p:spPr>
      </p:sp>
      <p:sp>
        <p:nvSpPr>
          <p:cNvPr id="14" name="Text 12"/>
          <p:cNvSpPr txBox="1"/>
          <p:nvPr/>
        </p:nvSpPr>
        <p:spPr>
          <a:xfrm>
            <a:off x="2926080" y="5592572"/>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保存</a:t>
            </a:r>
            <a:endParaRPr lang="en-US" sz="1800" dirty="0"/>
          </a:p>
        </p:txBody>
      </p:sp>
      <p:sp>
        <p:nvSpPr>
          <p:cNvPr id="15" name="Shape 13"/>
          <p:cNvSpPr/>
          <p:nvPr/>
        </p:nvSpPr>
        <p:spPr>
          <a:xfrm>
            <a:off x="320040" y="6031484"/>
            <a:ext cx="4846320" cy="911352"/>
          </a:xfrm>
          <a:prstGeom prst="roundRect">
            <a:avLst>
              <a:gd name="adj" fmla="val 12040"/>
            </a:avLst>
          </a:prstGeom>
          <a:solidFill>
            <a:srgbClr val="2F6BC2"/>
          </a:solidFill>
          <a:ln/>
        </p:spPr>
      </p:sp>
      <p:sp>
        <p:nvSpPr>
          <p:cNvPr id="16" name="Text 14"/>
          <p:cNvSpPr txBox="1"/>
          <p:nvPr/>
        </p:nvSpPr>
        <p:spPr>
          <a:xfrm>
            <a:off x="411480" y="603148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ファイルシステム</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ファイルとして管理</a:t>
            </a:r>
            <a:endParaRPr lang="en-US" sz="2000" dirty="0"/>
          </a:p>
        </p:txBody>
      </p:sp>
      <p:sp>
        <p:nvSpPr>
          <p:cNvPr id="17" name="Shape 15"/>
          <p:cNvSpPr/>
          <p:nvPr/>
        </p:nvSpPr>
        <p:spPr>
          <a:xfrm>
            <a:off x="2743200" y="7125716"/>
            <a:ext cx="0" cy="438912"/>
          </a:xfrm>
          <a:prstGeom prst="line">
            <a:avLst/>
          </a:prstGeom>
          <a:noFill/>
          <a:ln w="38100">
            <a:solidFill>
              <a:srgbClr val="1B2A3A"/>
            </a:solidFill>
            <a:prstDash val="solid"/>
            <a:tailEnd type="triangle"/>
          </a:ln>
        </p:spPr>
      </p:sp>
      <p:sp>
        <p:nvSpPr>
          <p:cNvPr id="18" name="Text 16"/>
          <p:cNvSpPr txBox="1"/>
          <p:nvPr/>
        </p:nvSpPr>
        <p:spPr>
          <a:xfrm>
            <a:off x="2926080" y="7144004"/>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書き込み</a:t>
            </a:r>
            <a:endParaRPr lang="en-US" sz="1800" dirty="0"/>
          </a:p>
        </p:txBody>
      </p:sp>
      <p:sp>
        <p:nvSpPr>
          <p:cNvPr id="19" name="Shape 17"/>
          <p:cNvSpPr/>
          <p:nvPr/>
        </p:nvSpPr>
        <p:spPr>
          <a:xfrm>
            <a:off x="320040" y="7582916"/>
            <a:ext cx="4846320" cy="911352"/>
          </a:xfrm>
          <a:prstGeom prst="roundRect">
            <a:avLst>
              <a:gd name="adj" fmla="val 12040"/>
            </a:avLst>
          </a:prstGeom>
          <a:solidFill>
            <a:srgbClr val="475569"/>
          </a:solidFill>
          <a:ln/>
        </p:spPr>
      </p:sp>
      <p:sp>
        <p:nvSpPr>
          <p:cNvPr id="20" name="Text 18"/>
          <p:cNvSpPr txBox="1"/>
          <p:nvPr/>
        </p:nvSpPr>
        <p:spPr>
          <a:xfrm>
            <a:off x="411480" y="758291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ストレージ</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SSD・HDDに保存</a:t>
            </a:r>
            <a:endParaRPr lang="en-US" sz="2000" dirty="0"/>
          </a:p>
        </p:txBody>
      </p:sp>
      <p:sp>
        <p:nvSpPr>
          <p:cNvPr id="21" name="Shape 19"/>
          <p:cNvSpPr/>
          <p:nvPr/>
        </p:nvSpPr>
        <p:spPr>
          <a:xfrm>
            <a:off x="320040" y="8677148"/>
            <a:ext cx="4846320" cy="1615440"/>
          </a:xfrm>
          <a:prstGeom prst="roundRect">
            <a:avLst>
              <a:gd name="adj" fmla="val 6792"/>
            </a:avLst>
          </a:prstGeom>
          <a:solidFill>
            <a:srgbClr val="DCE8F8"/>
          </a:solidFill>
          <a:ln w="19050">
            <a:solidFill>
              <a:srgbClr val="2F6BC2"/>
            </a:solidFill>
            <a:prstDash val="solid"/>
          </a:ln>
        </p:spPr>
      </p:sp>
      <p:sp>
        <p:nvSpPr>
          <p:cNvPr id="22" name="Shape 20"/>
          <p:cNvSpPr/>
          <p:nvPr/>
        </p:nvSpPr>
        <p:spPr>
          <a:xfrm>
            <a:off x="457200" y="9256268"/>
            <a:ext cx="457200" cy="457200"/>
          </a:xfrm>
          <a:prstGeom prst="ellipse">
            <a:avLst/>
          </a:prstGeom>
          <a:solidFill>
            <a:srgbClr val="2F6BC2"/>
          </a:solidFill>
          <a:ln/>
        </p:spPr>
      </p:sp>
      <p:pic>
        <p:nvPicPr>
          <p:cNvPr id="23" name="Image 0" descr="preencoded.png">    </p:cNvPr>
          <p:cNvPicPr>
            <a:picLocks noChangeAspect="1"/>
          </p:cNvPicPr>
          <p:nvPr/>
        </p:nvPicPr>
        <p:blipFill>
          <a:blip r:embed="rId1"/>
          <a:stretch>
            <a:fillRect/>
          </a:stretch>
        </p:blipFill>
        <p:spPr>
          <a:xfrm>
            <a:off x="557784" y="9356852"/>
            <a:ext cx="256032" cy="256032"/>
          </a:xfrm>
          <a:prstGeom prst="rect">
            <a:avLst/>
          </a:prstGeom>
        </p:spPr>
      </p:pic>
      <p:sp>
        <p:nvSpPr>
          <p:cNvPr id="24" name="Text 21"/>
          <p:cNvSpPr txBox="1"/>
          <p:nvPr/>
        </p:nvSpPr>
        <p:spPr>
          <a:xfrm>
            <a:off x="1051560" y="8722868"/>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例：注文表のデータは、データベースが整理して、最後はストレージ（SSDなど）に保存されます。</a:t>
            </a:r>
            <a:endParaRPr lang="en-US" sz="2000" dirty="0"/>
          </a:p>
        </p:txBody>
      </p:sp>
      <p:sp>
        <p:nvSpPr>
          <p:cNvPr id="25" name="Text 2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データベースは情報の整理棚</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大量の情報を決まった形（表）で整理し、必要なものを素早く取り出せるようにした仕組みです。</a:t>
            </a:r>
            <a:endParaRPr lang="en-US" sz="18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320040" y="2817622"/>
          <a:ext cx="4846320" cy="914400"/>
        </p:xfrm>
        <a:graphic>
          <a:graphicData uri="http://schemas.openxmlformats.org/drawingml/2006/table">
            <a:tbl>
              <a:tblPr/>
              <a:tblGrid>
                <a:gridCol w="1406996"/>
                <a:gridCol w="1354885"/>
                <a:gridCol w="1250663"/>
                <a:gridCol w="833775"/>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注文番号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購入者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個数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田中さん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鈴木さん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8" name="Shape 5"/>
          <p:cNvSpPr/>
          <p:nvPr/>
        </p:nvSpPr>
        <p:spPr>
          <a:xfrm>
            <a:off x="320040" y="4372102"/>
            <a:ext cx="4846320" cy="1313688"/>
          </a:xfrm>
          <a:prstGeom prst="roundRect">
            <a:avLst>
              <a:gd name="adj" fmla="val 9745"/>
            </a:avLst>
          </a:prstGeom>
          <a:solidFill>
            <a:srgbClr val="DDF1E4"/>
          </a:solidFill>
          <a:ln/>
        </p:spPr>
      </p:sp>
      <p:sp>
        <p:nvSpPr>
          <p:cNvPr id="9" name="Shape 6"/>
          <p:cNvSpPr/>
          <p:nvPr/>
        </p:nvSpPr>
        <p:spPr>
          <a:xfrm>
            <a:off x="502920" y="4518406"/>
            <a:ext cx="566928" cy="56692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27644" y="4643130"/>
            <a:ext cx="317480" cy="317480"/>
          </a:xfrm>
          <a:prstGeom prst="rect">
            <a:avLst/>
          </a:prstGeom>
        </p:spPr>
      </p:pic>
      <p:sp>
        <p:nvSpPr>
          <p:cNvPr id="11" name="Text 7"/>
          <p:cNvSpPr txBox="1"/>
          <p:nvPr/>
        </p:nvSpPr>
        <p:spPr>
          <a:xfrm>
            <a:off x="1188720" y="4518406"/>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取り出す</a:t>
            </a:r>
            <a:endParaRPr lang="en-US" sz="2200" dirty="0"/>
          </a:p>
        </p:txBody>
      </p:sp>
      <p:sp>
        <p:nvSpPr>
          <p:cNvPr id="12" name="Text 8"/>
          <p:cNvSpPr txBox="1"/>
          <p:nvPr/>
        </p:nvSpPr>
        <p:spPr>
          <a:xfrm>
            <a:off x="502920" y="5176774"/>
            <a:ext cx="4480560" cy="435864"/>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田中さんの注文だけ</a:t>
            </a:r>
            <a:endParaRPr lang="en-US" sz="2000" dirty="0"/>
          </a:p>
        </p:txBody>
      </p:sp>
      <p:sp>
        <p:nvSpPr>
          <p:cNvPr id="13" name="Shape 9"/>
          <p:cNvSpPr/>
          <p:nvPr/>
        </p:nvSpPr>
        <p:spPr>
          <a:xfrm>
            <a:off x="320040" y="5868670"/>
            <a:ext cx="4846320" cy="1313688"/>
          </a:xfrm>
          <a:prstGeom prst="roundRect">
            <a:avLst>
              <a:gd name="adj" fmla="val 9745"/>
            </a:avLst>
          </a:prstGeom>
          <a:solidFill>
            <a:srgbClr val="DCE8F8"/>
          </a:solidFill>
          <a:ln/>
        </p:spPr>
      </p:sp>
      <p:sp>
        <p:nvSpPr>
          <p:cNvPr id="14" name="Shape 10"/>
          <p:cNvSpPr/>
          <p:nvPr/>
        </p:nvSpPr>
        <p:spPr>
          <a:xfrm>
            <a:off x="502920" y="6014974"/>
            <a:ext cx="566928" cy="566928"/>
          </a:xfrm>
          <a:prstGeom prst="ellipse">
            <a:avLst/>
          </a:prstGeom>
          <a:solidFill>
            <a:srgbClr val="2F6BC2"/>
          </a:solidFill>
          <a:ln/>
        </p:spPr>
      </p:sp>
      <p:pic>
        <p:nvPicPr>
          <p:cNvPr id="15" name="Image 1" descr="preencoded.png">    </p:cNvPr>
          <p:cNvPicPr>
            <a:picLocks noChangeAspect="1"/>
          </p:cNvPicPr>
          <p:nvPr/>
        </p:nvPicPr>
        <p:blipFill>
          <a:blip r:embed="rId2"/>
          <a:stretch>
            <a:fillRect/>
          </a:stretch>
        </p:blipFill>
        <p:spPr>
          <a:xfrm>
            <a:off x="627644" y="6139698"/>
            <a:ext cx="317480" cy="317480"/>
          </a:xfrm>
          <a:prstGeom prst="rect">
            <a:avLst/>
          </a:prstGeom>
        </p:spPr>
      </p:pic>
      <p:sp>
        <p:nvSpPr>
          <p:cNvPr id="16" name="Text 11"/>
          <p:cNvSpPr txBox="1"/>
          <p:nvPr/>
        </p:nvSpPr>
        <p:spPr>
          <a:xfrm>
            <a:off x="1188720" y="6014974"/>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集計する</a:t>
            </a:r>
            <a:endParaRPr lang="en-US" sz="2200" dirty="0"/>
          </a:p>
        </p:txBody>
      </p:sp>
      <p:sp>
        <p:nvSpPr>
          <p:cNvPr id="17" name="Text 12"/>
          <p:cNvSpPr txBox="1"/>
          <p:nvPr/>
        </p:nvSpPr>
        <p:spPr>
          <a:xfrm>
            <a:off x="502920" y="6673342"/>
            <a:ext cx="4480560" cy="435864"/>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商品ごとの売上</a:t>
            </a:r>
            <a:endParaRPr lang="en-US" sz="2000" dirty="0"/>
          </a:p>
        </p:txBody>
      </p:sp>
      <p:sp>
        <p:nvSpPr>
          <p:cNvPr id="18" name="Shape 13"/>
          <p:cNvSpPr/>
          <p:nvPr/>
        </p:nvSpPr>
        <p:spPr>
          <a:xfrm>
            <a:off x="320040" y="7365238"/>
            <a:ext cx="4846320" cy="1712976"/>
          </a:xfrm>
          <a:prstGeom prst="roundRect">
            <a:avLst>
              <a:gd name="adj" fmla="val 7473"/>
            </a:avLst>
          </a:prstGeom>
          <a:solidFill>
            <a:srgbClr val="FDEBD0"/>
          </a:solidFill>
          <a:ln/>
        </p:spPr>
      </p:sp>
      <p:sp>
        <p:nvSpPr>
          <p:cNvPr id="19" name="Shape 14"/>
          <p:cNvSpPr/>
          <p:nvPr/>
        </p:nvSpPr>
        <p:spPr>
          <a:xfrm>
            <a:off x="502920" y="7511542"/>
            <a:ext cx="566928" cy="566928"/>
          </a:xfrm>
          <a:prstGeom prst="ellipse">
            <a:avLst/>
          </a:prstGeom>
          <a:solidFill>
            <a:srgbClr val="B45309"/>
          </a:solidFill>
          <a:ln/>
        </p:spPr>
      </p:sp>
      <p:pic>
        <p:nvPicPr>
          <p:cNvPr id="20" name="Image 2" descr="preencoded.png">    </p:cNvPr>
          <p:cNvPicPr>
            <a:picLocks noChangeAspect="1"/>
          </p:cNvPicPr>
          <p:nvPr/>
        </p:nvPicPr>
        <p:blipFill>
          <a:blip r:embed="rId3"/>
          <a:stretch>
            <a:fillRect/>
          </a:stretch>
        </p:blipFill>
        <p:spPr>
          <a:xfrm>
            <a:off x="627644" y="7636266"/>
            <a:ext cx="317480" cy="317480"/>
          </a:xfrm>
          <a:prstGeom prst="rect">
            <a:avLst/>
          </a:prstGeom>
        </p:spPr>
      </p:pic>
      <p:sp>
        <p:nvSpPr>
          <p:cNvPr id="21" name="Text 15"/>
          <p:cNvSpPr txBox="1"/>
          <p:nvPr/>
        </p:nvSpPr>
        <p:spPr>
          <a:xfrm>
            <a:off x="1188720" y="7511542"/>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追加・変更</a:t>
            </a:r>
            <a:endParaRPr lang="en-US" sz="2200" dirty="0"/>
          </a:p>
        </p:txBody>
      </p:sp>
      <p:sp>
        <p:nvSpPr>
          <p:cNvPr id="22" name="Text 16"/>
          <p:cNvSpPr txBox="1"/>
          <p:nvPr/>
        </p:nvSpPr>
        <p:spPr>
          <a:xfrm>
            <a:off x="502920" y="8169910"/>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新しい注文を登録する</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個数を変更する</a:t>
            </a:r>
            <a:endParaRPr lang="en-US" sz="2000" dirty="0"/>
          </a:p>
        </p:txBody>
      </p:sp>
      <p:sp>
        <p:nvSpPr>
          <p:cNvPr id="23" name="Text 1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表の見方：行は1件、列は項目</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注文表を例に、データベースの「表」の読み方を確認します。</a:t>
            </a:r>
            <a:endParaRPr lang="en-US" sz="18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320040" y="2515870"/>
          <a:ext cx="4846320" cy="914400"/>
        </p:xfrm>
        <a:graphic>
          <a:graphicData uri="http://schemas.openxmlformats.org/drawingml/2006/table">
            <a:tbl>
              <a:tblPr/>
              <a:tblGrid>
                <a:gridCol w="1406996"/>
                <a:gridCol w="1354885"/>
                <a:gridCol w="1250663"/>
                <a:gridCol w="833775"/>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注文番号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購入者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個数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田中さん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鈴木さん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7" name="Shape 4"/>
          <p:cNvSpPr/>
          <p:nvPr/>
        </p:nvSpPr>
        <p:spPr>
          <a:xfrm>
            <a:off x="320040" y="4070350"/>
            <a:ext cx="4846320" cy="1313688"/>
          </a:xfrm>
          <a:prstGeom prst="roundRect">
            <a:avLst>
              <a:gd name="adj" fmla="val 9745"/>
            </a:avLst>
          </a:prstGeom>
          <a:solidFill>
            <a:srgbClr val="DDF1E4"/>
          </a:solidFill>
          <a:ln/>
        </p:spPr>
      </p:sp>
      <p:sp>
        <p:nvSpPr>
          <p:cNvPr id="8" name="Shape 5"/>
          <p:cNvSpPr/>
          <p:nvPr/>
        </p:nvSpPr>
        <p:spPr>
          <a:xfrm>
            <a:off x="502920" y="4216654"/>
            <a:ext cx="566928" cy="566928"/>
          </a:xfrm>
          <a:prstGeom prst="ellipse">
            <a:avLst/>
          </a:prstGeom>
          <a:solidFill>
            <a:srgbClr val="237A48"/>
          </a:solidFill>
          <a:ln/>
        </p:spPr>
      </p:sp>
      <p:pic>
        <p:nvPicPr>
          <p:cNvPr id="9" name="Image 0" descr="preencoded.png">    </p:cNvPr>
          <p:cNvPicPr>
            <a:picLocks noChangeAspect="1"/>
          </p:cNvPicPr>
          <p:nvPr/>
        </p:nvPicPr>
        <p:blipFill>
          <a:blip r:embed="rId1"/>
          <a:stretch>
            <a:fillRect/>
          </a:stretch>
        </p:blipFill>
        <p:spPr>
          <a:xfrm>
            <a:off x="627644" y="4341378"/>
            <a:ext cx="317480" cy="317480"/>
          </a:xfrm>
          <a:prstGeom prst="rect">
            <a:avLst/>
          </a:prstGeom>
        </p:spPr>
      </p:pic>
      <p:sp>
        <p:nvSpPr>
          <p:cNvPr id="10" name="Text 6"/>
          <p:cNvSpPr txBox="1"/>
          <p:nvPr/>
        </p:nvSpPr>
        <p:spPr>
          <a:xfrm>
            <a:off x="1188720" y="4216654"/>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行（1件）</a:t>
            </a:r>
            <a:endParaRPr lang="en-US" sz="2200" dirty="0"/>
          </a:p>
        </p:txBody>
      </p:sp>
      <p:sp>
        <p:nvSpPr>
          <p:cNvPr id="11" name="Text 7"/>
          <p:cNvSpPr txBox="1"/>
          <p:nvPr/>
        </p:nvSpPr>
        <p:spPr>
          <a:xfrm>
            <a:off x="502920" y="4875022"/>
            <a:ext cx="4480560" cy="435864"/>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横の一並びが、1件の注文</a:t>
            </a:r>
            <a:endParaRPr lang="en-US" sz="2000" dirty="0"/>
          </a:p>
        </p:txBody>
      </p:sp>
      <p:sp>
        <p:nvSpPr>
          <p:cNvPr id="12" name="Shape 8"/>
          <p:cNvSpPr/>
          <p:nvPr/>
        </p:nvSpPr>
        <p:spPr>
          <a:xfrm>
            <a:off x="320040" y="5566918"/>
            <a:ext cx="4846320" cy="1313688"/>
          </a:xfrm>
          <a:prstGeom prst="roundRect">
            <a:avLst>
              <a:gd name="adj" fmla="val 9745"/>
            </a:avLst>
          </a:prstGeom>
          <a:solidFill>
            <a:srgbClr val="DCE8F8"/>
          </a:solidFill>
          <a:ln/>
        </p:spPr>
      </p:sp>
      <p:sp>
        <p:nvSpPr>
          <p:cNvPr id="13" name="Shape 9"/>
          <p:cNvSpPr/>
          <p:nvPr/>
        </p:nvSpPr>
        <p:spPr>
          <a:xfrm>
            <a:off x="502920" y="5713222"/>
            <a:ext cx="566928" cy="56692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27644" y="5837946"/>
            <a:ext cx="317480" cy="317480"/>
          </a:xfrm>
          <a:prstGeom prst="rect">
            <a:avLst/>
          </a:prstGeom>
        </p:spPr>
      </p:pic>
      <p:sp>
        <p:nvSpPr>
          <p:cNvPr id="15" name="Text 10"/>
          <p:cNvSpPr txBox="1"/>
          <p:nvPr/>
        </p:nvSpPr>
        <p:spPr>
          <a:xfrm>
            <a:off x="1188720" y="5713222"/>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列（項目）</a:t>
            </a:r>
            <a:endParaRPr lang="en-US" sz="2200" dirty="0"/>
          </a:p>
        </p:txBody>
      </p:sp>
      <p:sp>
        <p:nvSpPr>
          <p:cNvPr id="16" name="Text 11"/>
          <p:cNvSpPr txBox="1"/>
          <p:nvPr/>
        </p:nvSpPr>
        <p:spPr>
          <a:xfrm>
            <a:off x="502920" y="6371590"/>
            <a:ext cx="4480560" cy="435864"/>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縦の並びが、同じ種類の項目</a:t>
            </a:r>
            <a:endParaRPr lang="en-US" sz="2000" dirty="0"/>
          </a:p>
        </p:txBody>
      </p:sp>
      <p:sp>
        <p:nvSpPr>
          <p:cNvPr id="17" name="Shape 12"/>
          <p:cNvSpPr/>
          <p:nvPr/>
        </p:nvSpPr>
        <p:spPr>
          <a:xfrm>
            <a:off x="320040" y="7063486"/>
            <a:ext cx="4846320" cy="1712976"/>
          </a:xfrm>
          <a:prstGeom prst="roundRect">
            <a:avLst>
              <a:gd name="adj" fmla="val 7473"/>
            </a:avLst>
          </a:prstGeom>
          <a:solidFill>
            <a:srgbClr val="FDEBD0"/>
          </a:solidFill>
          <a:ln/>
        </p:spPr>
      </p:sp>
      <p:sp>
        <p:nvSpPr>
          <p:cNvPr id="18" name="Shape 13"/>
          <p:cNvSpPr/>
          <p:nvPr/>
        </p:nvSpPr>
        <p:spPr>
          <a:xfrm>
            <a:off x="502920" y="7209790"/>
            <a:ext cx="566928" cy="566928"/>
          </a:xfrm>
          <a:prstGeom prst="ellipse">
            <a:avLst/>
          </a:prstGeom>
          <a:solidFill>
            <a:srgbClr val="B45309"/>
          </a:solidFill>
          <a:ln/>
        </p:spPr>
      </p:sp>
      <p:pic>
        <p:nvPicPr>
          <p:cNvPr id="19" name="Image 2" descr="preencoded.png">    </p:cNvPr>
          <p:cNvPicPr>
            <a:picLocks noChangeAspect="1"/>
          </p:cNvPicPr>
          <p:nvPr/>
        </p:nvPicPr>
        <p:blipFill>
          <a:blip r:embed="rId3"/>
          <a:stretch>
            <a:fillRect/>
          </a:stretch>
        </p:blipFill>
        <p:spPr>
          <a:xfrm>
            <a:off x="627644" y="7334514"/>
            <a:ext cx="317480" cy="317480"/>
          </a:xfrm>
          <a:prstGeom prst="rect">
            <a:avLst/>
          </a:prstGeom>
        </p:spPr>
      </p:pic>
      <p:sp>
        <p:nvSpPr>
          <p:cNvPr id="20" name="Text 14"/>
          <p:cNvSpPr txBox="1"/>
          <p:nvPr/>
        </p:nvSpPr>
        <p:spPr>
          <a:xfrm>
            <a:off x="1188720" y="7209790"/>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主キー</a:t>
            </a:r>
            <a:endParaRPr lang="en-US" sz="2200" dirty="0"/>
          </a:p>
        </p:txBody>
      </p:sp>
      <p:sp>
        <p:nvSpPr>
          <p:cNvPr id="21" name="Text 15"/>
          <p:cNvSpPr txBox="1"/>
          <p:nvPr/>
        </p:nvSpPr>
        <p:spPr>
          <a:xfrm>
            <a:off x="502920" y="7868158"/>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行を1つに決める値</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例：注文番号</a:t>
            </a:r>
            <a:endParaRPr lang="en-US" sz="2000" dirty="0"/>
          </a:p>
        </p:txBody>
      </p:sp>
      <p:sp>
        <p:nvSpPr>
          <p:cNvPr id="22" name="Text 1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用語のつながりを図で見る</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DB・DBMS・DBサーバー・SQLが、どうつながるかを1つの流れで整理します。</a:t>
            </a:r>
            <a:endParaRPr lang="en-US" sz="1800" dirty="0"/>
          </a:p>
        </p:txBody>
      </p:sp>
      <p:sp>
        <p:nvSpPr>
          <p:cNvPr id="7" name="Shape 5"/>
          <p:cNvSpPr/>
          <p:nvPr/>
        </p:nvSpPr>
        <p:spPr>
          <a:xfrm>
            <a:off x="320040" y="2515870"/>
            <a:ext cx="4846320" cy="911352"/>
          </a:xfrm>
          <a:prstGeom prst="roundRect">
            <a:avLst>
              <a:gd name="adj" fmla="val 12040"/>
            </a:avLst>
          </a:prstGeom>
          <a:solidFill>
            <a:srgbClr val="0B7A7A"/>
          </a:solidFill>
          <a:ln/>
        </p:spPr>
      </p:sp>
      <p:sp>
        <p:nvSpPr>
          <p:cNvPr id="8" name="Shape 6"/>
          <p:cNvSpPr/>
          <p:nvPr/>
        </p:nvSpPr>
        <p:spPr>
          <a:xfrm>
            <a:off x="448056" y="2697226"/>
            <a:ext cx="548640" cy="54864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568757" y="2817927"/>
            <a:ext cx="307238" cy="307238"/>
          </a:xfrm>
          <a:prstGeom prst="rect">
            <a:avLst/>
          </a:prstGeom>
        </p:spPr>
      </p:pic>
      <p:sp>
        <p:nvSpPr>
          <p:cNvPr id="10" name="Text 7"/>
          <p:cNvSpPr txBox="1"/>
          <p:nvPr/>
        </p:nvSpPr>
        <p:spPr>
          <a:xfrm>
            <a:off x="1088136" y="2515870"/>
            <a:ext cx="3986784" cy="911352"/>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アプリ・利用者</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依頼する側</a:t>
            </a:r>
            <a:endParaRPr lang="en-US" sz="2000" dirty="0"/>
          </a:p>
        </p:txBody>
      </p:sp>
      <p:sp>
        <p:nvSpPr>
          <p:cNvPr id="11" name="Shape 8"/>
          <p:cNvSpPr/>
          <p:nvPr/>
        </p:nvSpPr>
        <p:spPr>
          <a:xfrm>
            <a:off x="2743200" y="3610102"/>
            <a:ext cx="0" cy="438912"/>
          </a:xfrm>
          <a:prstGeom prst="line">
            <a:avLst/>
          </a:prstGeom>
          <a:noFill/>
          <a:ln w="38100">
            <a:solidFill>
              <a:srgbClr val="1B2A3A"/>
            </a:solidFill>
            <a:prstDash val="solid"/>
            <a:tailEnd type="triangle"/>
          </a:ln>
        </p:spPr>
      </p:sp>
      <p:sp>
        <p:nvSpPr>
          <p:cNvPr id="12" name="Text 9"/>
          <p:cNvSpPr txBox="1"/>
          <p:nvPr/>
        </p:nvSpPr>
        <p:spPr>
          <a:xfrm>
            <a:off x="2926080" y="3628390"/>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SQLで依頼</a:t>
            </a:r>
            <a:endParaRPr lang="en-US" sz="1800" dirty="0"/>
          </a:p>
        </p:txBody>
      </p:sp>
      <p:sp>
        <p:nvSpPr>
          <p:cNvPr id="13" name="Shape 10"/>
          <p:cNvSpPr/>
          <p:nvPr/>
        </p:nvSpPr>
        <p:spPr>
          <a:xfrm>
            <a:off x="320040" y="4067302"/>
            <a:ext cx="4846320" cy="911352"/>
          </a:xfrm>
          <a:prstGeom prst="roundRect">
            <a:avLst>
              <a:gd name="adj" fmla="val 12040"/>
            </a:avLst>
          </a:prstGeom>
          <a:solidFill>
            <a:srgbClr val="237A48"/>
          </a:solidFill>
          <a:ln/>
        </p:spPr>
      </p:sp>
      <p:sp>
        <p:nvSpPr>
          <p:cNvPr id="14" name="Shape 11"/>
          <p:cNvSpPr/>
          <p:nvPr/>
        </p:nvSpPr>
        <p:spPr>
          <a:xfrm>
            <a:off x="448056" y="4248658"/>
            <a:ext cx="548640" cy="54864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568757" y="4369359"/>
            <a:ext cx="307238" cy="307238"/>
          </a:xfrm>
          <a:prstGeom prst="rect">
            <a:avLst/>
          </a:prstGeom>
        </p:spPr>
      </p:pic>
      <p:sp>
        <p:nvSpPr>
          <p:cNvPr id="16" name="Text 12"/>
          <p:cNvSpPr txBox="1"/>
          <p:nvPr/>
        </p:nvSpPr>
        <p:spPr>
          <a:xfrm>
            <a:off x="1088136" y="4067302"/>
            <a:ext cx="3986784" cy="911352"/>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DBMS</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管理ソフト（受付）</a:t>
            </a:r>
            <a:endParaRPr lang="en-US" sz="2000" dirty="0"/>
          </a:p>
        </p:txBody>
      </p:sp>
      <p:sp>
        <p:nvSpPr>
          <p:cNvPr id="17" name="Shape 13"/>
          <p:cNvSpPr/>
          <p:nvPr/>
        </p:nvSpPr>
        <p:spPr>
          <a:xfrm>
            <a:off x="2743200" y="5161534"/>
            <a:ext cx="0" cy="438912"/>
          </a:xfrm>
          <a:prstGeom prst="line">
            <a:avLst/>
          </a:prstGeom>
          <a:noFill/>
          <a:ln w="38100">
            <a:solidFill>
              <a:srgbClr val="1B2A3A"/>
            </a:solidFill>
            <a:prstDash val="solid"/>
            <a:tailEnd type="triangle"/>
          </a:ln>
        </p:spPr>
      </p:sp>
      <p:sp>
        <p:nvSpPr>
          <p:cNvPr id="18" name="Text 14"/>
          <p:cNvSpPr txBox="1"/>
          <p:nvPr/>
        </p:nvSpPr>
        <p:spPr>
          <a:xfrm>
            <a:off x="2926080" y="5179822"/>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読み書き</a:t>
            </a:r>
            <a:endParaRPr lang="en-US" sz="1800" dirty="0"/>
          </a:p>
        </p:txBody>
      </p:sp>
      <p:sp>
        <p:nvSpPr>
          <p:cNvPr id="19" name="Shape 15"/>
          <p:cNvSpPr/>
          <p:nvPr/>
        </p:nvSpPr>
        <p:spPr>
          <a:xfrm>
            <a:off x="320040" y="5618734"/>
            <a:ext cx="4846320" cy="911352"/>
          </a:xfrm>
          <a:prstGeom prst="roundRect">
            <a:avLst>
              <a:gd name="adj" fmla="val 12040"/>
            </a:avLst>
          </a:prstGeom>
          <a:solidFill>
            <a:srgbClr val="2F6BC2"/>
          </a:solidFill>
          <a:ln/>
        </p:spPr>
      </p:sp>
      <p:sp>
        <p:nvSpPr>
          <p:cNvPr id="20" name="Shape 16"/>
          <p:cNvSpPr/>
          <p:nvPr/>
        </p:nvSpPr>
        <p:spPr>
          <a:xfrm>
            <a:off x="448056" y="5800090"/>
            <a:ext cx="548640" cy="548640"/>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568757" y="5920791"/>
            <a:ext cx="307238" cy="307238"/>
          </a:xfrm>
          <a:prstGeom prst="rect">
            <a:avLst/>
          </a:prstGeom>
        </p:spPr>
      </p:pic>
      <p:sp>
        <p:nvSpPr>
          <p:cNvPr id="22" name="Text 17"/>
          <p:cNvSpPr txBox="1"/>
          <p:nvPr/>
        </p:nvSpPr>
        <p:spPr>
          <a:xfrm>
            <a:off x="1088136" y="5618734"/>
            <a:ext cx="3986784" cy="911352"/>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DB</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表のデータ本体</a:t>
            </a:r>
            <a:endParaRPr lang="en-US" sz="2000" dirty="0"/>
          </a:p>
        </p:txBody>
      </p:sp>
      <p:sp>
        <p:nvSpPr>
          <p:cNvPr id="23" name="Shape 18"/>
          <p:cNvSpPr/>
          <p:nvPr/>
        </p:nvSpPr>
        <p:spPr>
          <a:xfrm>
            <a:off x="320040" y="6712966"/>
            <a:ext cx="4846320" cy="1280160"/>
          </a:xfrm>
          <a:prstGeom prst="roundRect">
            <a:avLst>
              <a:gd name="adj" fmla="val 8571"/>
            </a:avLst>
          </a:prstGeom>
          <a:solidFill>
            <a:srgbClr val="DCE8F8"/>
          </a:solidFill>
          <a:ln w="19050">
            <a:solidFill>
              <a:srgbClr val="2F6BC2"/>
            </a:solidFill>
            <a:prstDash val="solid"/>
          </a:ln>
        </p:spPr>
      </p:sp>
      <p:sp>
        <p:nvSpPr>
          <p:cNvPr id="24" name="Shape 19"/>
          <p:cNvSpPr/>
          <p:nvPr/>
        </p:nvSpPr>
        <p:spPr>
          <a:xfrm>
            <a:off x="457200" y="7124446"/>
            <a:ext cx="457200" cy="457200"/>
          </a:xfrm>
          <a:prstGeom prst="ellipse">
            <a:avLst/>
          </a:prstGeom>
          <a:solidFill>
            <a:srgbClr val="2F6BC2"/>
          </a:solidFill>
          <a:ln/>
        </p:spPr>
      </p:sp>
      <p:pic>
        <p:nvPicPr>
          <p:cNvPr id="25" name="Image 3" descr="preencoded.png">    </p:cNvPr>
          <p:cNvPicPr>
            <a:picLocks noChangeAspect="1"/>
          </p:cNvPicPr>
          <p:nvPr/>
        </p:nvPicPr>
        <p:blipFill>
          <a:blip r:embed="rId4"/>
          <a:stretch>
            <a:fillRect/>
          </a:stretch>
        </p:blipFill>
        <p:spPr>
          <a:xfrm>
            <a:off x="557784" y="7225030"/>
            <a:ext cx="256032" cy="256032"/>
          </a:xfrm>
          <a:prstGeom prst="rect">
            <a:avLst/>
          </a:prstGeom>
        </p:spPr>
      </p:pic>
      <p:sp>
        <p:nvSpPr>
          <p:cNvPr id="26" name="Text 20"/>
          <p:cNvSpPr txBox="1"/>
          <p:nvPr/>
        </p:nvSpPr>
        <p:spPr>
          <a:xfrm>
            <a:off x="1051560" y="6758686"/>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DBMSが動いているコンピューターを「データベースサーバー」と呼びます。</a:t>
            </a:r>
            <a:endParaRPr lang="en-US" sz="2000" dirty="0"/>
          </a:p>
        </p:txBody>
      </p:sp>
      <p:sp>
        <p:nvSpPr>
          <p:cNvPr id="27" name="Shape 21"/>
          <p:cNvSpPr/>
          <p:nvPr/>
        </p:nvSpPr>
        <p:spPr>
          <a:xfrm>
            <a:off x="320040" y="8176006"/>
            <a:ext cx="4846320" cy="1280160"/>
          </a:xfrm>
          <a:prstGeom prst="roundRect">
            <a:avLst>
              <a:gd name="adj" fmla="val 8571"/>
            </a:avLst>
          </a:prstGeom>
          <a:solidFill>
            <a:srgbClr val="FDEBD0"/>
          </a:solidFill>
          <a:ln w="19050">
            <a:solidFill>
              <a:srgbClr val="B45309"/>
            </a:solidFill>
            <a:prstDash val="solid"/>
          </a:ln>
        </p:spPr>
      </p:sp>
      <p:sp>
        <p:nvSpPr>
          <p:cNvPr id="28" name="Shape 22"/>
          <p:cNvSpPr/>
          <p:nvPr/>
        </p:nvSpPr>
        <p:spPr>
          <a:xfrm>
            <a:off x="457200" y="8587486"/>
            <a:ext cx="457200" cy="457200"/>
          </a:xfrm>
          <a:prstGeom prst="ellipse">
            <a:avLst/>
          </a:prstGeom>
          <a:solidFill>
            <a:srgbClr val="B45309"/>
          </a:solidFill>
          <a:ln/>
        </p:spPr>
      </p:sp>
      <p:pic>
        <p:nvPicPr>
          <p:cNvPr id="29" name="Image 4" descr="preencoded.png">    </p:cNvPr>
          <p:cNvPicPr>
            <a:picLocks noChangeAspect="1"/>
          </p:cNvPicPr>
          <p:nvPr/>
        </p:nvPicPr>
        <p:blipFill>
          <a:blip r:embed="rId5"/>
          <a:stretch>
            <a:fillRect/>
          </a:stretch>
        </p:blipFill>
        <p:spPr>
          <a:xfrm>
            <a:off x="557784" y="8688070"/>
            <a:ext cx="256032" cy="256032"/>
          </a:xfrm>
          <a:prstGeom prst="rect">
            <a:avLst/>
          </a:prstGeom>
        </p:spPr>
      </p:pic>
      <p:sp>
        <p:nvSpPr>
          <p:cNvPr id="30" name="Text 23"/>
          <p:cNvSpPr txBox="1"/>
          <p:nvPr/>
        </p:nvSpPr>
        <p:spPr>
          <a:xfrm>
            <a:off x="1051560" y="8221726"/>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質問票の製品名（Oracle・PostgreSQL・MySQLなど）の多くは、DBMSにあたります。</a:t>
            </a:r>
            <a:endParaRPr lang="en-US" sz="2000" dirty="0"/>
          </a:p>
        </p:txBody>
      </p:sp>
      <p:sp>
        <p:nvSpPr>
          <p:cNvPr id="31" name="Text 2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関係図：DBまわりの用語</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SQL・DBMS・DB・DBサーバー・ストレージが、どうつながるかを整理します。</a:t>
            </a:r>
            <a:endParaRPr lang="en-US" sz="1800" dirty="0"/>
          </a:p>
        </p:txBody>
      </p:sp>
      <p:sp>
        <p:nvSpPr>
          <p:cNvPr id="6" name="Shape 4"/>
          <p:cNvSpPr/>
          <p:nvPr/>
        </p:nvSpPr>
        <p:spPr>
          <a:xfrm>
            <a:off x="2743200" y="3265678"/>
            <a:ext cx="1356970" cy="484632"/>
          </a:xfrm>
          <a:prstGeom prst="line">
            <a:avLst/>
          </a:prstGeom>
          <a:noFill/>
          <a:ln w="31750">
            <a:solidFill>
              <a:srgbClr val="1B2A3A"/>
            </a:solidFill>
            <a:prstDash val="solid"/>
            <a:tailEnd type="triangle"/>
          </a:ln>
        </p:spPr>
      </p:sp>
      <p:sp>
        <p:nvSpPr>
          <p:cNvPr id="7" name="Text 5"/>
          <p:cNvSpPr txBox="1"/>
          <p:nvPr/>
        </p:nvSpPr>
        <p:spPr>
          <a:xfrm>
            <a:off x="2853995" y="3354832"/>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お願いする</a:t>
            </a:r>
            <a:endParaRPr lang="en-US" sz="1500" dirty="0"/>
          </a:p>
        </p:txBody>
      </p:sp>
      <p:sp>
        <p:nvSpPr>
          <p:cNvPr id="8" name="Shape 6"/>
          <p:cNvSpPr/>
          <p:nvPr/>
        </p:nvSpPr>
        <p:spPr>
          <a:xfrm>
            <a:off x="4100170" y="4500118"/>
            <a:ext cx="0" cy="484632"/>
          </a:xfrm>
          <a:prstGeom prst="line">
            <a:avLst/>
          </a:prstGeom>
          <a:noFill/>
          <a:ln w="31750">
            <a:solidFill>
              <a:srgbClr val="1B2A3A"/>
            </a:solidFill>
            <a:prstDash val="solid"/>
            <a:tailEnd type="triangle"/>
          </a:ln>
        </p:spPr>
      </p:sp>
      <p:sp>
        <p:nvSpPr>
          <p:cNvPr id="9" name="Text 7"/>
          <p:cNvSpPr txBox="1"/>
          <p:nvPr/>
        </p:nvSpPr>
        <p:spPr>
          <a:xfrm>
            <a:off x="3627730" y="4589272"/>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管理する</a:t>
            </a:r>
            <a:endParaRPr lang="en-US" sz="1500" dirty="0"/>
          </a:p>
        </p:txBody>
      </p:sp>
      <p:sp>
        <p:nvSpPr>
          <p:cNvPr id="10" name="Shape 8"/>
          <p:cNvSpPr/>
          <p:nvPr/>
        </p:nvSpPr>
        <p:spPr>
          <a:xfrm>
            <a:off x="2020824" y="4125214"/>
            <a:ext cx="1347826" cy="0"/>
          </a:xfrm>
          <a:prstGeom prst="line">
            <a:avLst/>
          </a:prstGeom>
          <a:noFill/>
          <a:ln w="31750">
            <a:solidFill>
              <a:srgbClr val="1B2A3A"/>
            </a:solidFill>
            <a:prstDash val="solid"/>
            <a:tailEnd type="triangle"/>
          </a:ln>
        </p:spPr>
      </p:sp>
      <p:sp>
        <p:nvSpPr>
          <p:cNvPr id="11" name="Text 9"/>
          <p:cNvSpPr txBox="1"/>
          <p:nvPr/>
        </p:nvSpPr>
        <p:spPr>
          <a:xfrm>
            <a:off x="2317547" y="397205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動かす</a:t>
            </a:r>
            <a:endParaRPr lang="en-US" sz="1500" dirty="0"/>
          </a:p>
        </p:txBody>
      </p:sp>
      <p:sp>
        <p:nvSpPr>
          <p:cNvPr id="12" name="Shape 10"/>
          <p:cNvSpPr/>
          <p:nvPr/>
        </p:nvSpPr>
        <p:spPr>
          <a:xfrm flipV="1">
            <a:off x="1289304" y="5734558"/>
            <a:ext cx="2810866" cy="484632"/>
          </a:xfrm>
          <a:prstGeom prst="line">
            <a:avLst/>
          </a:prstGeom>
          <a:noFill/>
          <a:ln w="31750">
            <a:solidFill>
              <a:srgbClr val="1B2A3A"/>
            </a:solidFill>
            <a:prstDash val="solid"/>
            <a:tailEnd type="triangle"/>
          </a:ln>
        </p:spPr>
      </p:sp>
      <p:sp>
        <p:nvSpPr>
          <p:cNvPr id="13" name="Text 11"/>
          <p:cNvSpPr txBox="1"/>
          <p:nvPr/>
        </p:nvSpPr>
        <p:spPr>
          <a:xfrm>
            <a:off x="2222297" y="5823712"/>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表の方式</a:t>
            </a:r>
            <a:endParaRPr lang="en-US" sz="1500" dirty="0"/>
          </a:p>
        </p:txBody>
      </p:sp>
      <p:sp>
        <p:nvSpPr>
          <p:cNvPr id="14" name="Shape 12"/>
          <p:cNvSpPr/>
          <p:nvPr/>
        </p:nvSpPr>
        <p:spPr>
          <a:xfrm>
            <a:off x="4100170" y="5734558"/>
            <a:ext cx="0" cy="484632"/>
          </a:xfrm>
          <a:prstGeom prst="line">
            <a:avLst/>
          </a:prstGeom>
          <a:noFill/>
          <a:ln w="31750">
            <a:solidFill>
              <a:srgbClr val="1B2A3A"/>
            </a:solidFill>
            <a:prstDash val="solid"/>
            <a:tailEnd type="triangle"/>
          </a:ln>
        </p:spPr>
      </p:sp>
      <p:sp>
        <p:nvSpPr>
          <p:cNvPr id="15" name="Text 13"/>
          <p:cNvSpPr txBox="1"/>
          <p:nvPr/>
        </p:nvSpPr>
        <p:spPr>
          <a:xfrm>
            <a:off x="3627730" y="5823712"/>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保存する</a:t>
            </a:r>
            <a:endParaRPr lang="en-US" sz="1500" dirty="0"/>
          </a:p>
        </p:txBody>
      </p:sp>
      <p:sp>
        <p:nvSpPr>
          <p:cNvPr id="16" name="Shape 14"/>
          <p:cNvSpPr/>
          <p:nvPr/>
        </p:nvSpPr>
        <p:spPr>
          <a:xfrm>
            <a:off x="2011680" y="2515870"/>
            <a:ext cx="1463040" cy="749808"/>
          </a:xfrm>
          <a:prstGeom prst="roundRect">
            <a:avLst>
              <a:gd name="adj" fmla="val 14634"/>
            </a:avLst>
          </a:prstGeom>
          <a:solidFill>
            <a:srgbClr val="E6E1F7"/>
          </a:solidFill>
          <a:ln w="25400">
            <a:solidFill>
              <a:srgbClr val="5B46B8"/>
            </a:solidFill>
            <a:prstDash val="solid"/>
          </a:ln>
        </p:spPr>
      </p:sp>
      <p:sp>
        <p:nvSpPr>
          <p:cNvPr id="17" name="Text 15"/>
          <p:cNvSpPr txBox="1"/>
          <p:nvPr/>
        </p:nvSpPr>
        <p:spPr>
          <a:xfrm>
            <a:off x="2103120" y="251587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18" name="Shape 16"/>
          <p:cNvSpPr/>
          <p:nvPr/>
        </p:nvSpPr>
        <p:spPr>
          <a:xfrm>
            <a:off x="557784" y="3750310"/>
            <a:ext cx="1463040" cy="749808"/>
          </a:xfrm>
          <a:prstGeom prst="roundRect">
            <a:avLst>
              <a:gd name="adj" fmla="val 14634"/>
            </a:avLst>
          </a:prstGeom>
          <a:solidFill>
            <a:srgbClr val="E2E8F0"/>
          </a:solidFill>
          <a:ln w="25400">
            <a:solidFill>
              <a:srgbClr val="475569"/>
            </a:solidFill>
            <a:prstDash val="solid"/>
          </a:ln>
        </p:spPr>
      </p:sp>
      <p:sp>
        <p:nvSpPr>
          <p:cNvPr id="19" name="Text 17"/>
          <p:cNvSpPr txBox="1"/>
          <p:nvPr/>
        </p:nvSpPr>
        <p:spPr>
          <a:xfrm>
            <a:off x="649224" y="375031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DBサーバー</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0" name="Shape 18"/>
          <p:cNvSpPr/>
          <p:nvPr/>
        </p:nvSpPr>
        <p:spPr>
          <a:xfrm>
            <a:off x="3368650" y="3750310"/>
            <a:ext cx="1463040" cy="749808"/>
          </a:xfrm>
          <a:prstGeom prst="roundRect">
            <a:avLst>
              <a:gd name="adj" fmla="val 14634"/>
            </a:avLst>
          </a:prstGeom>
          <a:solidFill>
            <a:srgbClr val="E6E1F7"/>
          </a:solidFill>
          <a:ln w="25400">
            <a:solidFill>
              <a:srgbClr val="5B46B8"/>
            </a:solidFill>
            <a:prstDash val="solid"/>
          </a:ln>
        </p:spPr>
      </p:sp>
      <p:sp>
        <p:nvSpPr>
          <p:cNvPr id="21" name="Text 19"/>
          <p:cNvSpPr txBox="1"/>
          <p:nvPr/>
        </p:nvSpPr>
        <p:spPr>
          <a:xfrm>
            <a:off x="3460090" y="375031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2" name="Shape 20"/>
          <p:cNvSpPr/>
          <p:nvPr/>
        </p:nvSpPr>
        <p:spPr>
          <a:xfrm>
            <a:off x="3368650" y="4984750"/>
            <a:ext cx="1463040" cy="749808"/>
          </a:xfrm>
          <a:prstGeom prst="roundRect">
            <a:avLst>
              <a:gd name="adj" fmla="val 14634"/>
            </a:avLst>
          </a:prstGeom>
          <a:solidFill>
            <a:srgbClr val="E6E1F7"/>
          </a:solidFill>
          <a:ln w="25400">
            <a:solidFill>
              <a:srgbClr val="5B46B8"/>
            </a:solidFill>
            <a:prstDash val="solid"/>
          </a:ln>
        </p:spPr>
      </p:sp>
      <p:sp>
        <p:nvSpPr>
          <p:cNvPr id="23" name="Text 21"/>
          <p:cNvSpPr txBox="1"/>
          <p:nvPr/>
        </p:nvSpPr>
        <p:spPr>
          <a:xfrm>
            <a:off x="3460090" y="498475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4" name="Shape 22"/>
          <p:cNvSpPr/>
          <p:nvPr/>
        </p:nvSpPr>
        <p:spPr>
          <a:xfrm>
            <a:off x="557784" y="6219190"/>
            <a:ext cx="1463040" cy="749808"/>
          </a:xfrm>
          <a:prstGeom prst="roundRect">
            <a:avLst>
              <a:gd name="adj" fmla="val 14634"/>
            </a:avLst>
          </a:prstGeom>
          <a:solidFill>
            <a:srgbClr val="E6E1F7"/>
          </a:solidFill>
          <a:ln w="25400">
            <a:solidFill>
              <a:srgbClr val="5B46B8"/>
            </a:solidFill>
            <a:prstDash val="solid"/>
          </a:ln>
        </p:spPr>
      </p:sp>
      <p:sp>
        <p:nvSpPr>
          <p:cNvPr id="25" name="Text 23"/>
          <p:cNvSpPr txBox="1"/>
          <p:nvPr/>
        </p:nvSpPr>
        <p:spPr>
          <a:xfrm>
            <a:off x="649224" y="621919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RDB</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6" name="Shape 24"/>
          <p:cNvSpPr/>
          <p:nvPr/>
        </p:nvSpPr>
        <p:spPr>
          <a:xfrm>
            <a:off x="3368650" y="6219190"/>
            <a:ext cx="1463040" cy="749808"/>
          </a:xfrm>
          <a:prstGeom prst="roundRect">
            <a:avLst>
              <a:gd name="adj" fmla="val 14634"/>
            </a:avLst>
          </a:prstGeom>
          <a:solidFill>
            <a:srgbClr val="E2E8F0"/>
          </a:solidFill>
          <a:ln w="25400">
            <a:solidFill>
              <a:srgbClr val="475569"/>
            </a:solidFill>
            <a:prstDash val="solid"/>
          </a:ln>
        </p:spPr>
      </p:sp>
      <p:sp>
        <p:nvSpPr>
          <p:cNvPr id="27" name="Text 25"/>
          <p:cNvSpPr txBox="1"/>
          <p:nvPr/>
        </p:nvSpPr>
        <p:spPr>
          <a:xfrm>
            <a:off x="3460090" y="621919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8" name="Text 2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DB（データベース）</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たくさんの情報を、探しやすく壊れにくいように整理して蓄えたもの。</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Webアプリなどの裏側にある、データを預かる土台（ミドルウェア）の層の話。</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41" name="Shape 39"/>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置き場になる</a:t>
            </a:r>
            <a:endParaRPr lang="en-US" sz="1500" dirty="0"/>
          </a:p>
        </p:txBody>
      </p:sp>
      <p:sp>
        <p:nvSpPr>
          <p:cNvPr id="45" name="Shape 43"/>
          <p:cNvSpPr/>
          <p:nvPr/>
        </p:nvSpPr>
        <p:spPr>
          <a:xfrm>
            <a:off x="3566160" y="9285478"/>
            <a:ext cx="1600200" cy="676656"/>
          </a:xfrm>
          <a:prstGeom prst="roundRect">
            <a:avLst>
              <a:gd name="adj" fmla="val 16216"/>
            </a:avLst>
          </a:prstGeom>
          <a:solidFill>
            <a:srgbClr val="E6E1F7"/>
          </a:solidFill>
          <a:ln w="25400">
            <a:solidFill>
              <a:srgbClr val="5B46B8"/>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DB（データベース）</a:t>
            </a:r>
            <a:endParaRPr lang="ja-JP" sz="2200" dirty="0"/>
          </a:p>
        </p:txBody>
      </p:sp>
      <p:sp>
        <p:nvSpPr>
          <p:cNvPr id="4" name="Shape 2"/>
          <p:cNvSpPr/>
          <p:nvPr/>
        </p:nvSpPr>
        <p:spPr>
          <a:xfrm>
            <a:off x="320040" y="1318514"/>
            <a:ext cx="4846320" cy="3452368"/>
          </a:xfrm>
          <a:prstGeom prst="roundRect">
            <a:avLst>
              <a:gd name="adj" fmla="val 3708"/>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読み：Database（データベース）・ディービー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データベース（DB）は、情報を決まった形に整理してためておく仕組みです。学校の生徒名簿、成績表、図書室の貸出記録のように、あとで探したり書き換えたりするデータを入れておきます。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E6E1F7"/>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ただのファイルと違い、大勢が同時に使っても内容が食い違わないように守る仕組みと、大量のデータから素早く探す仕組みを備えています。そのためネットのサービスの裏側で広く使われます。</a:t>
            </a:r>
            <a:endParaRPr lang="en-US" sz="2000" dirty="0"/>
          </a:p>
        </p:txBody>
      </p:sp>
      <p:sp>
        <p:nvSpPr>
          <p:cNvPr id="9" name="Shape 7"/>
          <p:cNvSpPr/>
          <p:nvPr/>
        </p:nvSpPr>
        <p:spPr>
          <a:xfrm>
            <a:off x="320040" y="7213346"/>
            <a:ext cx="4846320" cy="2631440"/>
          </a:xfrm>
          <a:prstGeom prst="roundRect">
            <a:avLst>
              <a:gd name="adj" fmla="val 4865"/>
            </a:avLst>
          </a:prstGeom>
          <a:solidFill>
            <a:srgbClr val="E6E1F7"/>
          </a:solidFill>
          <a:ln/>
        </p:spPr>
      </p:sp>
      <p:sp>
        <p:nvSpPr>
          <p:cNvPr id="10" name="Text 8"/>
          <p:cNvSpPr txBox="1"/>
          <p:nvPr/>
        </p:nvSpPr>
        <p:spPr>
          <a:xfrm>
            <a:off x="502920" y="730478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ここで3つを区別しましょう。データベース＝中身のデータ（整理された情報の集まり）、DBMS＝それを管理するソフト、データベースサーバー＝DBMSを動かす機械です。日常では全部まとめて「DB」と呼ぶこ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DB（データベース）</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学校の図書室の蔵書。本（データ）が分類されて棚に並び、貸出の記録も残っているので、誰がどの本を借りたかがすぐ分かります。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ゲームのアカウントと持ち物、ネット通販の商品と注文履歴、コンビニの商品と在庫数など、記録して後で取り出す情報はデータベースで管理されています。</a:t>
            </a:r>
            <a:endParaRPr lang="en-US" sz="2000" dirty="0"/>
          </a:p>
        </p:txBody>
      </p:sp>
      <p:sp>
        <p:nvSpPr>
          <p:cNvPr id="8" name="Shape 6"/>
          <p:cNvSpPr/>
          <p:nvPr/>
        </p:nvSpPr>
        <p:spPr>
          <a:xfrm>
            <a:off x="320040" y="5555234"/>
            <a:ext cx="4846320" cy="1935480"/>
          </a:xfrm>
          <a:prstGeom prst="roundRect">
            <a:avLst>
              <a:gd name="adj" fmla="val 6614"/>
            </a:avLst>
          </a:prstGeom>
          <a:solidFill>
            <a:srgbClr val="FBE3E0"/>
          </a:solidFill>
          <a:ln/>
        </p:spPr>
      </p:sp>
      <p:sp>
        <p:nvSpPr>
          <p:cNvPr id="9" name="Text 7"/>
          <p:cNvSpPr txBox="1"/>
          <p:nvPr/>
        </p:nvSpPr>
        <p:spPr>
          <a:xfrm>
            <a:off x="502920" y="56466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「DB」は、データそのものを指す場合と、DBを動かす製品（OracleやMySQLなど）を指す場合があります。話の中で、どちらの意味か確かめましょう。</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好きな本やゲームを10個、「タイトル・ジャンル・評価」の表に書き出してみましょう。これがデータベースの「表」の考え方の第一歩です。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DBMS</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データの出し入れ・アクセス権・同時利用の順番を、まとめて管理するソフトウェア。</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サーバーやクラウドの中で動き続ける、データ管理専用のソフトウェア。</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DBMS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命令を送る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1" name="Shape 39"/>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書き込む</a:t>
            </a:r>
            <a:endParaRPr lang="en-US" sz="1500" dirty="0"/>
          </a:p>
        </p:txBody>
      </p:sp>
      <p:sp>
        <p:nvSpPr>
          <p:cNvPr id="45" name="Shape 43"/>
          <p:cNvSpPr/>
          <p:nvPr/>
        </p:nvSpPr>
        <p:spPr>
          <a:xfrm>
            <a:off x="3566160" y="9285478"/>
            <a:ext cx="1600200" cy="676656"/>
          </a:xfrm>
          <a:prstGeom prst="roundRect">
            <a:avLst>
              <a:gd name="adj" fmla="val 16216"/>
            </a:avLst>
          </a:prstGeom>
          <a:solidFill>
            <a:srgbClr val="DCE8F8"/>
          </a:solidFill>
          <a:ln w="25400">
            <a:solidFill>
              <a:srgbClr val="2F6BC2"/>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DBMS</a:t>
            </a:r>
            <a:endParaRPr lang="ja-JP" sz="2200" dirty="0"/>
          </a:p>
        </p:txBody>
      </p:sp>
      <p:sp>
        <p:nvSpPr>
          <p:cNvPr id="4" name="Shape 2"/>
          <p:cNvSpPr/>
          <p:nvPr/>
        </p:nvSpPr>
        <p:spPr>
          <a:xfrm>
            <a:off x="320040" y="1318514"/>
            <a:ext cx="4846320" cy="4122928"/>
          </a:xfrm>
          <a:prstGeom prst="roundRect">
            <a:avLst>
              <a:gd name="adj" fmla="val 3105"/>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592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読み：Database Management System（データベース管理システム）・ディービーエムエス</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BMS（データベース管理システム）は、データベースを管理するソフトウェアです。アプリから「このデータを保存して」「この条件で探して」と頼まれると、DBMSが実際にデータを書き込んだり読み出したりします。</a:t>
            </a:r>
            <a:endParaRPr lang="en-US" sz="2000" dirty="0"/>
          </a:p>
        </p:txBody>
      </p:sp>
      <p:sp>
        <p:nvSpPr>
          <p:cNvPr id="7" name="Shape 5"/>
          <p:cNvSpPr/>
          <p:nvPr/>
        </p:nvSpPr>
        <p:spPr>
          <a:xfrm>
            <a:off x="320040" y="5514594"/>
            <a:ext cx="4846320" cy="2296160"/>
          </a:xfrm>
          <a:prstGeom prst="roundRect">
            <a:avLst>
              <a:gd name="adj" fmla="val 5575"/>
            </a:avLst>
          </a:prstGeom>
          <a:solidFill>
            <a:srgbClr val="E6E1F7"/>
          </a:solidFill>
          <a:ln/>
        </p:spPr>
      </p:sp>
      <p:sp>
        <p:nvSpPr>
          <p:cNvPr id="8" name="Text 6"/>
          <p:cNvSpPr txBox="1"/>
          <p:nvPr/>
        </p:nvSpPr>
        <p:spPr>
          <a:xfrm>
            <a:off x="502920" y="560603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主な仕事は、保存と検索、誰が見てよいかの権限（鍵）の管理、同時に使う人の順番の整理、故障したときの復旧などです。アプリは、データがどこにどう並んでいるかを気にしなくて済みます。</a:t>
            </a:r>
            <a:endParaRPr lang="en-US" sz="2000" dirty="0"/>
          </a:p>
        </p:txBody>
      </p:sp>
      <p:sp>
        <p:nvSpPr>
          <p:cNvPr id="9" name="Shape 7"/>
          <p:cNvSpPr/>
          <p:nvPr/>
        </p:nvSpPr>
        <p:spPr>
          <a:xfrm>
            <a:off x="320040" y="7883906"/>
            <a:ext cx="4846320" cy="2296160"/>
          </a:xfrm>
          <a:prstGeom prst="roundRect">
            <a:avLst>
              <a:gd name="adj" fmla="val 5575"/>
            </a:avLst>
          </a:prstGeom>
          <a:solidFill>
            <a:srgbClr val="E6E1F7"/>
          </a:solidFill>
          <a:ln/>
        </p:spPr>
      </p:sp>
      <p:sp>
        <p:nvSpPr>
          <p:cNvPr id="10" name="Text 8"/>
          <p:cNvSpPr txBox="1"/>
          <p:nvPr/>
        </p:nvSpPr>
        <p:spPr>
          <a:xfrm>
            <a:off x="502920" y="797534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この章に出てくるOracle Database、PostgreSQL、MySQL、MongoDBなどの製品名は、どれもDBMSの名前です。データはSSDなどのストレージに保存され、DBMSがそれを出し入れします。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DBMS</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図書室の司書さん。本（データ）の貸出・返却の受付、借りてよい人の確認、同じ本を2人が借りないようにする調整をしてくれます。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チケット販売で同じ席を2人が同時に申し込んでも、二重に売れないようにする。そのために、DBMSが処理の順番を整理し、データが食い違わないよう守っています。</a:t>
            </a:r>
            <a:endParaRPr lang="en-US" sz="2000" dirty="0"/>
          </a:p>
        </p:txBody>
      </p:sp>
      <p:sp>
        <p:nvSpPr>
          <p:cNvPr id="8" name="Shape 6"/>
          <p:cNvSpPr/>
          <p:nvPr/>
        </p:nvSpPr>
        <p:spPr>
          <a:xfrm>
            <a:off x="320040" y="5890514"/>
            <a:ext cx="4846320" cy="1935480"/>
          </a:xfrm>
          <a:prstGeom prst="roundRect">
            <a:avLst>
              <a:gd name="adj" fmla="val 6614"/>
            </a:avLst>
          </a:prstGeom>
          <a:solidFill>
            <a:srgbClr val="FBE3E0"/>
          </a:solidFill>
          <a:ln/>
        </p:spPr>
      </p:sp>
      <p:sp>
        <p:nvSpPr>
          <p:cNvPr id="9" name="Text 7"/>
          <p:cNvSpPr txBox="1"/>
          <p:nvPr/>
        </p:nvSpPr>
        <p:spPr>
          <a:xfrm>
            <a:off x="502920" y="5981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「データベース」と「DBMS」は別物です。データベースは中身のデータ、DBMSはそれを管理するソフトです。製品名（MySQLなど）はDBMSの名前です。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「DBMSという大きな箱の中にデータベースがあり、その中に表がある」という絵を描いてみましょう。三つの言葉の関係が整理できます。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リレーショナルデータベース（RDB）</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行と列の「表」を作り、表どうしを共通の番号でつないで管理するデータベース。</a:t>
            </a:r>
            <a:endParaRPr lang="en-US" sz="1800" dirty="0"/>
          </a:p>
        </p:txBody>
      </p:sp>
      <p:sp>
        <p:nvSpPr>
          <p:cNvPr id="7" name="Text 5"/>
          <p:cNvSpPr txBox="1"/>
          <p:nvPr/>
        </p:nvSpPr>
        <p:spPr>
          <a:xfrm>
            <a:off x="320040" y="292862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3276092"/>
            <a:ext cx="1156716" cy="384048"/>
          </a:xfrm>
          <a:prstGeom prst="roundRect">
            <a:avLst>
              <a:gd name="adj" fmla="val 23810"/>
            </a:avLst>
          </a:prstGeom>
          <a:solidFill>
            <a:srgbClr val="EEF1F5"/>
          </a:solidFill>
          <a:ln/>
        </p:spPr>
      </p:sp>
      <p:sp>
        <p:nvSpPr>
          <p:cNvPr id="9" name="Text 7"/>
          <p:cNvSpPr txBox="1"/>
          <p:nvPr/>
        </p:nvSpPr>
        <p:spPr>
          <a:xfrm>
            <a:off x="320040" y="327609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3276092"/>
            <a:ext cx="1156716" cy="384048"/>
          </a:xfrm>
          <a:prstGeom prst="roundRect">
            <a:avLst>
              <a:gd name="adj" fmla="val 23810"/>
            </a:avLst>
          </a:prstGeom>
          <a:solidFill>
            <a:srgbClr val="EEF1F5"/>
          </a:solidFill>
          <a:ln/>
        </p:spPr>
      </p:sp>
      <p:sp>
        <p:nvSpPr>
          <p:cNvPr id="11" name="Text 9"/>
          <p:cNvSpPr txBox="1"/>
          <p:nvPr/>
        </p:nvSpPr>
        <p:spPr>
          <a:xfrm>
            <a:off x="1549908" y="327609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3276092"/>
            <a:ext cx="1156716" cy="384048"/>
          </a:xfrm>
          <a:prstGeom prst="roundRect">
            <a:avLst>
              <a:gd name="adj" fmla="val 23810"/>
            </a:avLst>
          </a:prstGeom>
          <a:solidFill>
            <a:srgbClr val="EEF1F5"/>
          </a:solidFill>
          <a:ln/>
        </p:spPr>
      </p:sp>
      <p:sp>
        <p:nvSpPr>
          <p:cNvPr id="13" name="Text 11"/>
          <p:cNvSpPr txBox="1"/>
          <p:nvPr/>
        </p:nvSpPr>
        <p:spPr>
          <a:xfrm>
            <a:off x="2779776" y="327609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3276092"/>
            <a:ext cx="1156716" cy="384048"/>
          </a:xfrm>
          <a:prstGeom prst="roundRect">
            <a:avLst>
              <a:gd name="adj" fmla="val 23810"/>
            </a:avLst>
          </a:prstGeom>
          <a:solidFill>
            <a:srgbClr val="5B46B8"/>
          </a:solidFill>
          <a:ln/>
        </p:spPr>
      </p:sp>
      <p:sp>
        <p:nvSpPr>
          <p:cNvPr id="15" name="Text 13"/>
          <p:cNvSpPr txBox="1"/>
          <p:nvPr/>
        </p:nvSpPr>
        <p:spPr>
          <a:xfrm>
            <a:off x="4009644" y="327609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715004"/>
            <a:ext cx="1566672" cy="384048"/>
          </a:xfrm>
          <a:prstGeom prst="roundRect">
            <a:avLst>
              <a:gd name="adj" fmla="val 23810"/>
            </a:avLst>
          </a:prstGeom>
          <a:solidFill>
            <a:srgbClr val="EEF1F5"/>
          </a:solidFill>
          <a:ln/>
        </p:spPr>
      </p:sp>
      <p:sp>
        <p:nvSpPr>
          <p:cNvPr id="17" name="Text 15"/>
          <p:cNvSpPr txBox="1"/>
          <p:nvPr/>
        </p:nvSpPr>
        <p:spPr>
          <a:xfrm>
            <a:off x="320040" y="371500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715004"/>
            <a:ext cx="1566672" cy="384048"/>
          </a:xfrm>
          <a:prstGeom prst="roundRect">
            <a:avLst>
              <a:gd name="adj" fmla="val 23810"/>
            </a:avLst>
          </a:prstGeom>
          <a:solidFill>
            <a:srgbClr val="EEF1F5"/>
          </a:solidFill>
          <a:ln/>
        </p:spPr>
      </p:sp>
      <p:sp>
        <p:nvSpPr>
          <p:cNvPr id="19" name="Text 17"/>
          <p:cNvSpPr txBox="1"/>
          <p:nvPr/>
        </p:nvSpPr>
        <p:spPr>
          <a:xfrm>
            <a:off x="1959864" y="371500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715004"/>
            <a:ext cx="1566672" cy="384048"/>
          </a:xfrm>
          <a:prstGeom prst="roundRect">
            <a:avLst>
              <a:gd name="adj" fmla="val 23810"/>
            </a:avLst>
          </a:prstGeom>
          <a:solidFill>
            <a:srgbClr val="EEF1F5"/>
          </a:solidFill>
          <a:ln/>
        </p:spPr>
      </p:sp>
      <p:sp>
        <p:nvSpPr>
          <p:cNvPr id="21" name="Text 19"/>
          <p:cNvSpPr txBox="1"/>
          <p:nvPr/>
        </p:nvSpPr>
        <p:spPr>
          <a:xfrm>
            <a:off x="3599688" y="371500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417220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647692"/>
            <a:ext cx="4846320" cy="1264920"/>
          </a:xfrm>
          <a:prstGeom prst="roundRect">
            <a:avLst>
              <a:gd name="adj" fmla="val 10120"/>
            </a:avLst>
          </a:prstGeom>
          <a:solidFill>
            <a:srgbClr val="E6E1F7"/>
          </a:solidFill>
          <a:ln/>
        </p:spPr>
      </p:sp>
      <p:sp>
        <p:nvSpPr>
          <p:cNvPr id="24" name="Text 22"/>
          <p:cNvSpPr txBox="1"/>
          <p:nvPr/>
        </p:nvSpPr>
        <p:spPr>
          <a:xfrm>
            <a:off x="502920" y="473913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アプリの裏側でデータを預かる、データベースの作り方（方式）のひとつ。</a:t>
            </a:r>
            <a:endParaRPr lang="en-US" sz="2000" dirty="0"/>
          </a:p>
        </p:txBody>
      </p:sp>
      <p:sp>
        <p:nvSpPr>
          <p:cNvPr id="25" name="Text 2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2/4</a:t>
            </a:r>
            <a:endParaRPr lang="ja-JP" sz="1400" dirty="0"/>
          </a:p>
        </p:txBody>
      </p:sp>
      <p:sp>
        <p:nvSpPr>
          <p:cNvPr id="3" name="Text 1"/>
          <p:cNvSpPr txBox="1"/>
          <p:nvPr/>
        </p:nvSpPr>
        <p:spPr>
          <a:xfrm>
            <a:off x="320040" y="685800"/>
            <a:ext cx="4846320" cy="75336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リレーショナルデータベース（RDB）</a:t>
            </a:r>
            <a:endParaRPr lang="ja-JP" sz="2200" dirty="0"/>
          </a:p>
        </p:txBody>
      </p:sp>
      <p:sp>
        <p:nvSpPr>
          <p:cNvPr id="4" name="Shape 2"/>
          <p:cNvSpPr/>
          <p:nvPr/>
        </p:nvSpPr>
        <p:spPr>
          <a:xfrm>
            <a:off x="320040" y="1667764"/>
            <a:ext cx="4846320" cy="402336"/>
          </a:xfrm>
          <a:prstGeom prst="roundRect">
            <a:avLst>
              <a:gd name="adj" fmla="val 22727"/>
            </a:avLst>
          </a:prstGeom>
          <a:solidFill>
            <a:srgbClr val="5B46B8"/>
          </a:solidFill>
          <a:ln/>
        </p:spPr>
      </p:sp>
      <p:sp>
        <p:nvSpPr>
          <p:cNvPr id="5" name="Text 3"/>
          <p:cNvSpPr txBox="1"/>
          <p:nvPr/>
        </p:nvSpPr>
        <p:spPr>
          <a:xfrm>
            <a:off x="411480" y="1667764"/>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6" name="Shape 4"/>
          <p:cNvSpPr/>
          <p:nvPr/>
        </p:nvSpPr>
        <p:spPr>
          <a:xfrm>
            <a:off x="320040" y="2124964"/>
            <a:ext cx="1371600" cy="3822192"/>
          </a:xfrm>
          <a:prstGeom prst="roundRect">
            <a:avLst>
              <a:gd name="adj" fmla="val 8000"/>
            </a:avLst>
          </a:prstGeom>
          <a:solidFill>
            <a:srgbClr val="5B46B8"/>
          </a:solidFill>
          <a:ln/>
        </p:spPr>
      </p:sp>
      <p:sp>
        <p:nvSpPr>
          <p:cNvPr id="7" name="Text 5"/>
          <p:cNvSpPr txBox="1"/>
          <p:nvPr/>
        </p:nvSpPr>
        <p:spPr>
          <a:xfrm>
            <a:off x="411480" y="2124964"/>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RDB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8" name="Shape 6"/>
          <p:cNvSpPr/>
          <p:nvPr/>
        </p:nvSpPr>
        <p:spPr>
          <a:xfrm>
            <a:off x="3566160" y="2124964"/>
            <a:ext cx="1600200" cy="676656"/>
          </a:xfrm>
          <a:prstGeom prst="roundRect">
            <a:avLst>
              <a:gd name="adj" fmla="val 16216"/>
            </a:avLst>
          </a:prstGeom>
          <a:solidFill>
            <a:srgbClr val="E6E1F7"/>
          </a:solidFill>
          <a:ln w="25400">
            <a:solidFill>
              <a:srgbClr val="5B46B8"/>
            </a:solidFill>
            <a:prstDash val="solid"/>
          </a:ln>
        </p:spPr>
      </p:sp>
      <p:sp>
        <p:nvSpPr>
          <p:cNvPr id="9" name="Text 7"/>
          <p:cNvSpPr txBox="1"/>
          <p:nvPr/>
        </p:nvSpPr>
        <p:spPr>
          <a:xfrm>
            <a:off x="3657600" y="212496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10" name="Shape 8"/>
          <p:cNvSpPr/>
          <p:nvPr/>
        </p:nvSpPr>
        <p:spPr>
          <a:xfrm>
            <a:off x="1719072" y="2463292"/>
            <a:ext cx="1819656" cy="0"/>
          </a:xfrm>
          <a:prstGeom prst="line">
            <a:avLst/>
          </a:prstGeom>
          <a:noFill/>
          <a:ln w="31750">
            <a:solidFill>
              <a:srgbClr val="1B2A3A"/>
            </a:solidFill>
            <a:prstDash val="solid"/>
            <a:tailEnd type="triangle"/>
          </a:ln>
        </p:spPr>
      </p:sp>
      <p:sp>
        <p:nvSpPr>
          <p:cNvPr id="11" name="Text 9"/>
          <p:cNvSpPr txBox="1"/>
          <p:nvPr/>
        </p:nvSpPr>
        <p:spPr>
          <a:xfrm>
            <a:off x="1700784" y="216154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12" name="Shape 10"/>
          <p:cNvSpPr/>
          <p:nvPr/>
        </p:nvSpPr>
        <p:spPr>
          <a:xfrm>
            <a:off x="3566160" y="2911348"/>
            <a:ext cx="1600200" cy="676656"/>
          </a:xfrm>
          <a:prstGeom prst="roundRect">
            <a:avLst>
              <a:gd name="adj" fmla="val 16216"/>
            </a:avLst>
          </a:prstGeom>
          <a:solidFill>
            <a:srgbClr val="E6E1F7"/>
          </a:solidFill>
          <a:ln w="25400">
            <a:solidFill>
              <a:srgbClr val="5B46B8"/>
            </a:solidFill>
            <a:prstDash val="solid"/>
          </a:ln>
        </p:spPr>
      </p:sp>
      <p:sp>
        <p:nvSpPr>
          <p:cNvPr id="13" name="Text 11"/>
          <p:cNvSpPr txBox="1"/>
          <p:nvPr/>
        </p:nvSpPr>
        <p:spPr>
          <a:xfrm>
            <a:off x="3657600" y="291134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14" name="Shape 12"/>
          <p:cNvSpPr/>
          <p:nvPr/>
        </p:nvSpPr>
        <p:spPr>
          <a:xfrm flipH="1">
            <a:off x="1719072" y="3249676"/>
            <a:ext cx="1819656" cy="0"/>
          </a:xfrm>
          <a:prstGeom prst="line">
            <a:avLst/>
          </a:prstGeom>
          <a:noFill/>
          <a:ln w="31750">
            <a:solidFill>
              <a:srgbClr val="1B2A3A"/>
            </a:solidFill>
            <a:prstDash val="solid"/>
            <a:tailEnd type="triangle"/>
          </a:ln>
        </p:spPr>
      </p:sp>
      <p:sp>
        <p:nvSpPr>
          <p:cNvPr id="15" name="Text 13"/>
          <p:cNvSpPr txBox="1"/>
          <p:nvPr/>
        </p:nvSpPr>
        <p:spPr>
          <a:xfrm>
            <a:off x="1700784" y="294792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16" name="Shape 14"/>
          <p:cNvSpPr/>
          <p:nvPr/>
        </p:nvSpPr>
        <p:spPr>
          <a:xfrm>
            <a:off x="3566160" y="3697732"/>
            <a:ext cx="1600200" cy="676656"/>
          </a:xfrm>
          <a:prstGeom prst="roundRect">
            <a:avLst>
              <a:gd name="adj" fmla="val 16216"/>
            </a:avLst>
          </a:prstGeom>
          <a:solidFill>
            <a:srgbClr val="E6E1F7"/>
          </a:solidFill>
          <a:ln w="25400">
            <a:solidFill>
              <a:srgbClr val="5B46B8"/>
            </a:solidFill>
            <a:prstDash val="solid"/>
          </a:ln>
        </p:spPr>
      </p:sp>
      <p:sp>
        <p:nvSpPr>
          <p:cNvPr id="17" name="Text 15"/>
          <p:cNvSpPr txBox="1"/>
          <p:nvPr/>
        </p:nvSpPr>
        <p:spPr>
          <a:xfrm>
            <a:off x="3657600" y="369773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PostgreSQL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18" name="Shape 16"/>
          <p:cNvSpPr/>
          <p:nvPr/>
        </p:nvSpPr>
        <p:spPr>
          <a:xfrm flipH="1">
            <a:off x="1719072" y="4036060"/>
            <a:ext cx="1819656" cy="0"/>
          </a:xfrm>
          <a:prstGeom prst="line">
            <a:avLst/>
          </a:prstGeom>
          <a:noFill/>
          <a:ln w="31750">
            <a:solidFill>
              <a:srgbClr val="1B2A3A"/>
            </a:solidFill>
            <a:prstDash val="solid"/>
            <a:tailEnd type="triangle"/>
          </a:ln>
        </p:spPr>
      </p:sp>
      <p:sp>
        <p:nvSpPr>
          <p:cNvPr id="19" name="Text 17"/>
          <p:cNvSpPr txBox="1"/>
          <p:nvPr/>
        </p:nvSpPr>
        <p:spPr>
          <a:xfrm>
            <a:off x="1700784" y="373430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20" name="Shape 18"/>
          <p:cNvSpPr/>
          <p:nvPr/>
        </p:nvSpPr>
        <p:spPr>
          <a:xfrm>
            <a:off x="3566160" y="4484116"/>
            <a:ext cx="1600200" cy="676656"/>
          </a:xfrm>
          <a:prstGeom prst="roundRect">
            <a:avLst>
              <a:gd name="adj" fmla="val 16216"/>
            </a:avLst>
          </a:prstGeom>
          <a:solidFill>
            <a:srgbClr val="E6E1F7"/>
          </a:solidFill>
          <a:ln w="25400">
            <a:solidFill>
              <a:srgbClr val="5B46B8"/>
            </a:solidFill>
            <a:prstDash val="solid"/>
          </a:ln>
        </p:spPr>
      </p:sp>
      <p:sp>
        <p:nvSpPr>
          <p:cNvPr id="21" name="Text 19"/>
          <p:cNvSpPr txBox="1"/>
          <p:nvPr/>
        </p:nvSpPr>
        <p:spPr>
          <a:xfrm>
            <a:off x="3657600" y="448411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MongoDB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22" name="Shape 20"/>
          <p:cNvSpPr/>
          <p:nvPr/>
        </p:nvSpPr>
        <p:spPr>
          <a:xfrm>
            <a:off x="1719072" y="4822444"/>
            <a:ext cx="1819656" cy="0"/>
          </a:xfrm>
          <a:prstGeom prst="line">
            <a:avLst/>
          </a:prstGeom>
          <a:noFill/>
          <a:ln w="31750">
            <a:solidFill>
              <a:srgbClr val="1B2A3A"/>
            </a:solidFill>
            <a:prstDash val="solid"/>
            <a:headEnd type="triangle"/>
            <a:tailEnd type="triangle"/>
          </a:ln>
        </p:spPr>
      </p:sp>
      <p:sp>
        <p:nvSpPr>
          <p:cNvPr id="23" name="Text 21"/>
          <p:cNvSpPr txBox="1"/>
          <p:nvPr/>
        </p:nvSpPr>
        <p:spPr>
          <a:xfrm>
            <a:off x="1700784" y="452069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4" name="Shape 22"/>
          <p:cNvSpPr/>
          <p:nvPr/>
        </p:nvSpPr>
        <p:spPr>
          <a:xfrm>
            <a:off x="3566160" y="5270500"/>
            <a:ext cx="1600200" cy="676656"/>
          </a:xfrm>
          <a:prstGeom prst="roundRect">
            <a:avLst>
              <a:gd name="adj" fmla="val 16216"/>
            </a:avLst>
          </a:prstGeom>
          <a:solidFill>
            <a:srgbClr val="DDF1E4"/>
          </a:solidFill>
          <a:ln w="25400">
            <a:solidFill>
              <a:srgbClr val="237A48"/>
            </a:solidFill>
            <a:prstDash val="solid"/>
          </a:ln>
        </p:spPr>
      </p:sp>
      <p:sp>
        <p:nvSpPr>
          <p:cNvPr id="25" name="Text 23"/>
          <p:cNvSpPr txBox="1"/>
          <p:nvPr/>
        </p:nvSpPr>
        <p:spPr>
          <a:xfrm>
            <a:off x="3657600" y="527050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26" name="Shape 24"/>
          <p:cNvSpPr/>
          <p:nvPr/>
        </p:nvSpPr>
        <p:spPr>
          <a:xfrm>
            <a:off x="1719072" y="5608828"/>
            <a:ext cx="1819656" cy="0"/>
          </a:xfrm>
          <a:prstGeom prst="line">
            <a:avLst/>
          </a:prstGeom>
          <a:noFill/>
          <a:ln w="31750">
            <a:solidFill>
              <a:srgbClr val="1B2A3A"/>
            </a:solidFill>
            <a:prstDash val="solid"/>
            <a:headEnd type="triangle"/>
            <a:tailEnd type="triangle"/>
          </a:ln>
        </p:spPr>
      </p:sp>
      <p:sp>
        <p:nvSpPr>
          <p:cNvPr id="27" name="Text 25"/>
          <p:cNvSpPr txBox="1"/>
          <p:nvPr/>
        </p:nvSpPr>
        <p:spPr>
          <a:xfrm>
            <a:off x="1700784" y="530707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見た目が似る</a:t>
            </a:r>
            <a:endParaRPr lang="en-US" sz="1500" dirty="0"/>
          </a:p>
        </p:txBody>
      </p:sp>
      <p:sp>
        <p:nvSpPr>
          <p:cNvPr id="28" name="Shape 26"/>
          <p:cNvSpPr/>
          <p:nvPr/>
        </p:nvSpPr>
        <p:spPr>
          <a:xfrm>
            <a:off x="320040" y="6184900"/>
            <a:ext cx="4846320" cy="3787648"/>
          </a:xfrm>
          <a:prstGeom prst="roundRect">
            <a:avLst>
              <a:gd name="adj" fmla="val 3380"/>
            </a:avLst>
          </a:prstGeom>
          <a:solidFill>
            <a:srgbClr val="E6E1F7"/>
          </a:solidFill>
          <a:ln/>
        </p:spPr>
      </p:sp>
      <p:sp>
        <p:nvSpPr>
          <p:cNvPr id="29" name="Text 27"/>
          <p:cNvSpPr txBox="1"/>
          <p:nvPr/>
        </p:nvSpPr>
        <p:spPr>
          <a:xfrm>
            <a:off x="502920" y="6276340"/>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30" name="Text 28"/>
          <p:cNvSpPr txBox="1"/>
          <p:nvPr/>
        </p:nvSpPr>
        <p:spPr>
          <a:xfrm>
            <a:off x="502920" y="6660388"/>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読み：Relational Database（リレーショナルデータベース）・アールディービー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リレーショナルデータベース（RDB）は、データを「表」の形で保存する方式です。表は、1件分のデータを入れる行と、項目を表す列でできていて、Excelの表によく似ています。</a:t>
            </a:r>
            <a:endParaRPr lang="en-US" sz="2000" dirty="0"/>
          </a:p>
        </p:txBody>
      </p:sp>
      <p:sp>
        <p:nvSpPr>
          <p:cNvPr id="31" name="Text 2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3/4</a:t>
            </a:r>
            <a:endParaRPr lang="ja-JP" sz="1400" dirty="0"/>
          </a:p>
        </p:txBody>
      </p:sp>
      <p:sp>
        <p:nvSpPr>
          <p:cNvPr id="3" name="Text 1"/>
          <p:cNvSpPr txBox="1"/>
          <p:nvPr/>
        </p:nvSpPr>
        <p:spPr>
          <a:xfrm>
            <a:off x="320040" y="685800"/>
            <a:ext cx="4846320" cy="75336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リレーショナルデータベース（RDB）</a:t>
            </a:r>
            <a:endParaRPr lang="ja-JP" sz="2200" dirty="0"/>
          </a:p>
        </p:txBody>
      </p:sp>
      <p:sp>
        <p:nvSpPr>
          <p:cNvPr id="4" name="Shape 2"/>
          <p:cNvSpPr/>
          <p:nvPr/>
        </p:nvSpPr>
        <p:spPr>
          <a:xfrm>
            <a:off x="320040" y="1667764"/>
            <a:ext cx="4846320" cy="2296160"/>
          </a:xfrm>
          <a:prstGeom prst="roundRect">
            <a:avLst>
              <a:gd name="adj" fmla="val 5575"/>
            </a:avLst>
          </a:prstGeom>
          <a:solidFill>
            <a:srgbClr val="E6E1F7"/>
          </a:solidFill>
          <a:ln/>
        </p:spPr>
      </p:sp>
      <p:sp>
        <p:nvSpPr>
          <p:cNvPr id="5" name="Text 3"/>
          <p:cNvSpPr txBox="1"/>
          <p:nvPr/>
        </p:nvSpPr>
        <p:spPr>
          <a:xfrm>
            <a:off x="502920" y="175920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RDBの特徴は、表どうしを共通の番号（キー）でつなげられることです。「顧客表」と「注文表」を顧客番号でつなぐと、名前や住所を何度も書かずに、注文から顧客を調べられます。</a:t>
            </a:r>
            <a:endParaRPr lang="en-US" sz="2000" dirty="0"/>
          </a:p>
        </p:txBody>
      </p:sp>
      <p:sp>
        <p:nvSpPr>
          <p:cNvPr id="6" name="Shape 4"/>
          <p:cNvSpPr/>
          <p:nvPr/>
        </p:nvSpPr>
        <p:spPr>
          <a:xfrm>
            <a:off x="320040" y="4037076"/>
            <a:ext cx="4846320" cy="2296160"/>
          </a:xfrm>
          <a:prstGeom prst="roundRect">
            <a:avLst>
              <a:gd name="adj" fmla="val 5575"/>
            </a:avLst>
          </a:prstGeom>
          <a:solidFill>
            <a:srgbClr val="E6E1F7"/>
          </a:solidFill>
          <a:ln/>
        </p:spPr>
      </p:sp>
      <p:sp>
        <p:nvSpPr>
          <p:cNvPr id="7" name="Text 5"/>
          <p:cNvSpPr txBox="1"/>
          <p:nvPr/>
        </p:nvSpPr>
        <p:spPr>
          <a:xfrm>
            <a:off x="502920" y="412851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このように1つの情報を1か所にだけ書くので、住所が変わっても直すのは1か所で済みます。操作にはSQLを使い、Oracle Database、PostgreSQL、MySQL、Db2、SQL Serverなどが代表的な製品です。</a:t>
            </a:r>
            <a:endParaRPr lang="en-US" sz="2000" dirty="0"/>
          </a:p>
        </p:txBody>
      </p:sp>
      <p:sp>
        <p:nvSpPr>
          <p:cNvPr id="8" name="Shape 6"/>
          <p:cNvSpPr/>
          <p:nvPr/>
        </p:nvSpPr>
        <p:spPr>
          <a:xfrm>
            <a:off x="320040" y="6406388"/>
            <a:ext cx="4846320" cy="1935480"/>
          </a:xfrm>
          <a:prstGeom prst="roundRect">
            <a:avLst>
              <a:gd name="adj" fmla="val 6614"/>
            </a:avLst>
          </a:prstGeom>
          <a:solidFill>
            <a:srgbClr val="FDEBD0"/>
          </a:solidFill>
          <a:ln/>
        </p:spPr>
      </p:sp>
      <p:sp>
        <p:nvSpPr>
          <p:cNvPr id="9" name="Text 7"/>
          <p:cNvSpPr txBox="1"/>
          <p:nvPr/>
        </p:nvSpPr>
        <p:spPr>
          <a:xfrm>
            <a:off x="502920" y="6497828"/>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学校の「生徒名簿」と「部活の出席表」。出席表には生徒番号だけを書き、名前や住所は名簿で調べます。番号が2つの表をつなぐ橋です。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4/4</a:t>
            </a:r>
            <a:endParaRPr lang="ja-JP" sz="1400" dirty="0"/>
          </a:p>
        </p:txBody>
      </p:sp>
      <p:sp>
        <p:nvSpPr>
          <p:cNvPr id="3" name="Text 1"/>
          <p:cNvSpPr txBox="1"/>
          <p:nvPr/>
        </p:nvSpPr>
        <p:spPr>
          <a:xfrm>
            <a:off x="320040" y="685800"/>
            <a:ext cx="4846320" cy="75336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リレーショナルデータベース（RDB）</a:t>
            </a:r>
            <a:endParaRPr lang="ja-JP" sz="2200" dirty="0"/>
          </a:p>
        </p:txBody>
      </p:sp>
      <p:sp>
        <p:nvSpPr>
          <p:cNvPr id="4" name="Shape 2"/>
          <p:cNvSpPr/>
          <p:nvPr/>
        </p:nvSpPr>
        <p:spPr>
          <a:xfrm>
            <a:off x="320040" y="1667764"/>
            <a:ext cx="4846320" cy="1935480"/>
          </a:xfrm>
          <a:prstGeom prst="roundRect">
            <a:avLst>
              <a:gd name="adj" fmla="val 6614"/>
            </a:avLst>
          </a:prstGeom>
          <a:solidFill>
            <a:srgbClr val="DCE8F8"/>
          </a:solidFill>
          <a:ln/>
        </p:spPr>
      </p:sp>
      <p:sp>
        <p:nvSpPr>
          <p:cNvPr id="5" name="Text 3"/>
          <p:cNvSpPr txBox="1"/>
          <p:nvPr/>
        </p:nvSpPr>
        <p:spPr>
          <a:xfrm>
            <a:off x="502920" y="175920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たとえば通販サイトの「注文履歴」は、あなたの注文の行と、商品表の名前や価格を、番号でつないで表示する作りにできます。</a:t>
            </a:r>
            <a:endParaRPr lang="en-US" sz="2000" dirty="0"/>
          </a:p>
        </p:txBody>
      </p:sp>
      <p:sp>
        <p:nvSpPr>
          <p:cNvPr id="6" name="Shape 4"/>
          <p:cNvSpPr/>
          <p:nvPr/>
        </p:nvSpPr>
        <p:spPr>
          <a:xfrm>
            <a:off x="320040" y="3786124"/>
            <a:ext cx="4846320" cy="1935480"/>
          </a:xfrm>
          <a:prstGeom prst="roundRect">
            <a:avLst>
              <a:gd name="adj" fmla="val 6614"/>
            </a:avLst>
          </a:prstGeom>
          <a:solidFill>
            <a:srgbClr val="FBE3E0"/>
          </a:solidFill>
          <a:ln/>
        </p:spPr>
      </p:sp>
      <p:sp>
        <p:nvSpPr>
          <p:cNvPr id="7" name="Text 5"/>
          <p:cNvSpPr txBox="1"/>
          <p:nvPr/>
        </p:nvSpPr>
        <p:spPr>
          <a:xfrm>
            <a:off x="502920" y="387756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RDBは方式の名前で、製品名ではありません。MySQLやOracle Databaseなどの個別の製品がRDBの仲間です。MongoDBのように表を使わないDBもあります。</a:t>
            </a:r>
            <a:endParaRPr lang="en-US" sz="2000" dirty="0"/>
          </a:p>
        </p:txBody>
      </p:sp>
      <p:sp>
        <p:nvSpPr>
          <p:cNvPr id="8" name="Shape 6"/>
          <p:cNvSpPr/>
          <p:nvPr/>
        </p:nvSpPr>
        <p:spPr>
          <a:xfrm>
            <a:off x="320040" y="5904484"/>
            <a:ext cx="4846320" cy="1935480"/>
          </a:xfrm>
          <a:prstGeom prst="roundRect">
            <a:avLst>
              <a:gd name="adj" fmla="val 6614"/>
            </a:avLst>
          </a:prstGeom>
          <a:solidFill>
            <a:srgbClr val="DDF1E4"/>
          </a:solidFill>
          <a:ln/>
        </p:spPr>
      </p:sp>
      <p:sp>
        <p:nvSpPr>
          <p:cNvPr id="9" name="Text 7"/>
          <p:cNvSpPr txBox="1"/>
          <p:nvPr/>
        </p:nvSpPr>
        <p:spPr>
          <a:xfrm>
            <a:off x="502920" y="599592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「顧客表（顧客番号・名前）」と「注文表（注文番号・顧客番号・商品名）」を紙に書き、顧客番号を使って「誰の注文か」を追ってみましょう。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SQL</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データベースに「こういうデータを探して・足して・直して」と頼む言語。</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4" name="Shape 22"/>
          <p:cNvSpPr/>
          <p:nvPr/>
        </p:nvSpPr>
        <p:spPr>
          <a:xfrm>
            <a:off x="320040" y="4509262"/>
            <a:ext cx="4846320" cy="1264920"/>
          </a:xfrm>
          <a:prstGeom prst="roundRect">
            <a:avLst>
              <a:gd name="adj" fmla="val 10120"/>
            </a:avLst>
          </a:prstGeom>
          <a:solidFill>
            <a:srgbClr val="E6E1F7"/>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アプリからDBMSへ送る命令文。頼む側と受ける側をつなぐ言葉。</a:t>
            </a:r>
            <a:endParaRPr lang="en-US" sz="2000" dirty="0"/>
          </a:p>
        </p:txBody>
      </p:sp>
      <p:sp>
        <p:nvSpPr>
          <p:cNvPr id="26" name="Shape 24"/>
          <p:cNvSpPr/>
          <p:nvPr/>
        </p:nvSpPr>
        <p:spPr>
          <a:xfrm>
            <a:off x="320040" y="5957062"/>
            <a:ext cx="4846320" cy="402336"/>
          </a:xfrm>
          <a:prstGeom prst="roundRect">
            <a:avLst>
              <a:gd name="adj" fmla="val 22727"/>
            </a:avLst>
          </a:prstGeom>
          <a:solidFill>
            <a:srgbClr val="5B46B8"/>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035808"/>
          </a:xfrm>
          <a:prstGeom prst="roundRect">
            <a:avLst>
              <a:gd name="adj" fmla="val 8000"/>
            </a:avLst>
          </a:prstGeom>
          <a:solidFill>
            <a:srgbClr val="5B46B8"/>
          </a:solidFill>
          <a:ln/>
        </p:spPr>
      </p:sp>
      <p:sp>
        <p:nvSpPr>
          <p:cNvPr id="29" name="Text 27"/>
          <p:cNvSpPr txBox="1"/>
          <p:nvPr/>
        </p:nvSpPr>
        <p:spPr>
          <a:xfrm>
            <a:off x="411480" y="641426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SQL</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0" name="Shape 28"/>
          <p:cNvSpPr/>
          <p:nvPr/>
        </p:nvSpPr>
        <p:spPr>
          <a:xfrm>
            <a:off x="3566160" y="6414262"/>
            <a:ext cx="1600200" cy="676656"/>
          </a:xfrm>
          <a:prstGeom prst="roundRect">
            <a:avLst>
              <a:gd name="adj" fmla="val 16216"/>
            </a:avLst>
          </a:prstGeom>
          <a:solidFill>
            <a:srgbClr val="E6E1F7"/>
          </a:solidFill>
          <a:ln w="25400">
            <a:solidFill>
              <a:srgbClr val="5B46B8"/>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4" name="Shape 32"/>
          <p:cNvSpPr/>
          <p:nvPr/>
        </p:nvSpPr>
        <p:spPr>
          <a:xfrm>
            <a:off x="3566160" y="7200646"/>
            <a:ext cx="1600200" cy="676656"/>
          </a:xfrm>
          <a:prstGeom prst="roundRect">
            <a:avLst>
              <a:gd name="adj" fmla="val 16216"/>
            </a:avLst>
          </a:prstGeom>
          <a:solidFill>
            <a:srgbClr val="E6E1F7"/>
          </a:solidFill>
          <a:ln w="25400">
            <a:solidFill>
              <a:srgbClr val="5B46B8"/>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命令を送る</a:t>
            </a:r>
            <a:endParaRPr lang="en-US" sz="1500" dirty="0"/>
          </a:p>
        </p:txBody>
      </p:sp>
      <p:sp>
        <p:nvSpPr>
          <p:cNvPr id="38" name="Shape 36"/>
          <p:cNvSpPr/>
          <p:nvPr/>
        </p:nvSpPr>
        <p:spPr>
          <a:xfrm>
            <a:off x="3566160" y="7987030"/>
            <a:ext cx="1600200" cy="676656"/>
          </a:xfrm>
          <a:prstGeom prst="roundRect">
            <a:avLst>
              <a:gd name="adj" fmla="val 16216"/>
            </a:avLst>
          </a:prstGeom>
          <a:solidFill>
            <a:srgbClr val="E6E1F7"/>
          </a:solidFill>
          <a:ln w="25400">
            <a:solidFill>
              <a:srgbClr val="5B46B8"/>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0" name="Shape 38"/>
          <p:cNvSpPr/>
          <p:nvPr/>
        </p:nvSpPr>
        <p:spPr>
          <a:xfrm flipH="1">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書いて送る</a:t>
            </a:r>
            <a:endParaRPr lang="en-US" sz="1500" dirty="0"/>
          </a:p>
        </p:txBody>
      </p:sp>
      <p:sp>
        <p:nvSpPr>
          <p:cNvPr id="42" name="Shape 40"/>
          <p:cNvSpPr/>
          <p:nvPr/>
        </p:nvSpPr>
        <p:spPr>
          <a:xfrm>
            <a:off x="3566160" y="8773414"/>
            <a:ext cx="1600200" cy="676656"/>
          </a:xfrm>
          <a:prstGeom prst="roundRect">
            <a:avLst>
              <a:gd name="adj" fmla="val 16216"/>
            </a:avLst>
          </a:prstGeom>
          <a:solidFill>
            <a:srgbClr val="DDF1E4"/>
          </a:solidFill>
          <a:ln w="25400">
            <a:solidFill>
              <a:srgbClr val="237A48"/>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4" name="Shape 42"/>
          <p:cNvSpPr/>
          <p:nvPr/>
        </p:nvSpPr>
        <p:spPr>
          <a:xfrm flipH="1">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6" name="Text 4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SQL</a:t>
            </a:r>
            <a:endParaRPr lang="ja-JP" sz="2200" dirty="0"/>
          </a:p>
        </p:txBody>
      </p:sp>
      <p:sp>
        <p:nvSpPr>
          <p:cNvPr id="4" name="Shape 2"/>
          <p:cNvSpPr/>
          <p:nvPr/>
        </p:nvSpPr>
        <p:spPr>
          <a:xfrm>
            <a:off x="320040" y="1318514"/>
            <a:ext cx="4846320" cy="3787648"/>
          </a:xfrm>
          <a:prstGeom prst="roundRect">
            <a:avLst>
              <a:gd name="adj" fmla="val 3380"/>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読み：Structured Query Language・エスキューエル（シークェルとも）</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SQL（エスキューエル）は、リレーショナルデータベースを操作するための言語です。手順を細かく書くのではなく、「何がほしいか」を英語に近い文で伝えると、DBMSが探し方を考えてくれます。</a:t>
            </a:r>
            <a:endParaRPr lang="en-US" sz="2000" dirty="0"/>
          </a:p>
        </p:txBody>
      </p:sp>
      <p:sp>
        <p:nvSpPr>
          <p:cNvPr id="7" name="Shape 5"/>
          <p:cNvSpPr/>
          <p:nvPr/>
        </p:nvSpPr>
        <p:spPr>
          <a:xfrm>
            <a:off x="320040" y="5179314"/>
            <a:ext cx="4846320" cy="2966720"/>
          </a:xfrm>
          <a:prstGeom prst="roundRect">
            <a:avLst>
              <a:gd name="adj" fmla="val 4315"/>
            </a:avLst>
          </a:prstGeom>
          <a:solidFill>
            <a:srgbClr val="E6E1F7"/>
          </a:solidFill>
          <a:ln/>
        </p:spPr>
      </p:sp>
      <p:sp>
        <p:nvSpPr>
          <p:cNvPr id="8" name="Text 6"/>
          <p:cNvSpPr txBox="1"/>
          <p:nvPr/>
        </p:nvSpPr>
        <p:spPr>
          <a:xfrm>
            <a:off x="502920" y="5270754"/>
            <a:ext cx="4480560" cy="28204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基本は4つの命令です。SELECT（探して取り出す）、INSERT（追加する）、UPDATE（書き換える）、DELETE（消す）。例えば「商品表から値段が500円の商品名を取り出す」は SELECT name FROM products WHERE price = 500; と書きます。</a:t>
            </a:r>
            <a:endParaRPr lang="en-US" sz="2000" dirty="0"/>
          </a:p>
        </p:txBody>
      </p:sp>
      <p:sp>
        <p:nvSpPr>
          <p:cNvPr id="9" name="Text 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SQL</a:t>
            </a:r>
            <a:endParaRPr lang="ja-JP" sz="2200" dirty="0"/>
          </a:p>
        </p:txBody>
      </p:sp>
      <p:sp>
        <p:nvSpPr>
          <p:cNvPr id="4" name="Shape 2"/>
          <p:cNvSpPr/>
          <p:nvPr/>
        </p:nvSpPr>
        <p:spPr>
          <a:xfrm>
            <a:off x="320040" y="1318514"/>
            <a:ext cx="4846320" cy="2296160"/>
          </a:xfrm>
          <a:prstGeom prst="roundRect">
            <a:avLst>
              <a:gd name="adj" fmla="val 5575"/>
            </a:avLst>
          </a:prstGeom>
          <a:solidFill>
            <a:srgbClr val="E6E1F7"/>
          </a:solidFill>
          <a:ln/>
        </p:spPr>
      </p:sp>
      <p:sp>
        <p:nvSpPr>
          <p:cNvPr id="5" name="Text 3"/>
          <p:cNvSpPr txBox="1"/>
          <p:nvPr/>
        </p:nvSpPr>
        <p:spPr>
          <a:xfrm>
            <a:off x="502920" y="14099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SQLには国際的な標準（決まり）があるため、Oracle Database、PostgreSQL、MySQLなど多くの製品で基本の書き方は共通です。ただし製品ごとの独自の書き方もあり、細かい点は違います。</a:t>
            </a:r>
            <a:endParaRPr lang="en-US" sz="2000" dirty="0"/>
          </a:p>
        </p:txBody>
      </p:sp>
      <p:sp>
        <p:nvSpPr>
          <p:cNvPr id="6" name="Shape 4"/>
          <p:cNvSpPr/>
          <p:nvPr/>
        </p:nvSpPr>
        <p:spPr>
          <a:xfrm>
            <a:off x="320040" y="3687826"/>
            <a:ext cx="4846320" cy="1935480"/>
          </a:xfrm>
          <a:prstGeom prst="roundRect">
            <a:avLst>
              <a:gd name="adj" fmla="val 6614"/>
            </a:avLst>
          </a:prstGeom>
          <a:solidFill>
            <a:srgbClr val="FDEBD0"/>
          </a:solidFill>
          <a:ln/>
        </p:spPr>
      </p:sp>
      <p:sp>
        <p:nvSpPr>
          <p:cNvPr id="7" name="Text 5"/>
          <p:cNvSpPr txBox="1"/>
          <p:nvPr/>
        </p:nvSpPr>
        <p:spPr>
          <a:xfrm>
            <a:off x="502920" y="377926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司書さんに渡す依頼メモ。「小説の棚から、夏目漱石の本を全部持ってきて」と書いて渡せば、探し方は司書さん（DBMS）が考えてくれます。</a:t>
            </a:r>
            <a:endParaRPr lang="en-US" sz="2000" dirty="0"/>
          </a:p>
        </p:txBody>
      </p:sp>
      <p:sp>
        <p:nvSpPr>
          <p:cNvPr id="8" name="Shape 6"/>
          <p:cNvSpPr/>
          <p:nvPr/>
        </p:nvSpPr>
        <p:spPr>
          <a:xfrm>
            <a:off x="320040" y="5806186"/>
            <a:ext cx="4846320" cy="2270760"/>
          </a:xfrm>
          <a:prstGeom prst="roundRect">
            <a:avLst>
              <a:gd name="adj" fmla="val 5638"/>
            </a:avLst>
          </a:prstGeom>
          <a:solidFill>
            <a:srgbClr val="DCE8F8"/>
          </a:solidFill>
          <a:ln/>
        </p:spPr>
      </p:sp>
      <p:sp>
        <p:nvSpPr>
          <p:cNvPr id="9" name="Text 7"/>
          <p:cNvSpPr txBox="1"/>
          <p:nvPr/>
        </p:nvSpPr>
        <p:spPr>
          <a:xfrm>
            <a:off x="502920" y="589762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多くのWebサービスは、検索やログインのたびにプログラムがSQLを作ってデータベースへ送っています。データ分析の仕事でも、SQLで必要な集計を取り出します。</a:t>
            </a:r>
            <a:endParaRPr lang="en-US" sz="2000" dirty="0"/>
          </a:p>
        </p:txBody>
      </p:sp>
      <p:sp>
        <p:nvSpPr>
          <p:cNvPr id="10" name="Shape 8"/>
          <p:cNvSpPr/>
          <p:nvPr/>
        </p:nvSpPr>
        <p:spPr>
          <a:xfrm>
            <a:off x="320040" y="8259826"/>
            <a:ext cx="4846320" cy="1935480"/>
          </a:xfrm>
          <a:prstGeom prst="roundRect">
            <a:avLst>
              <a:gd name="adj" fmla="val 6614"/>
            </a:avLst>
          </a:prstGeom>
          <a:solidFill>
            <a:srgbClr val="FBE3E0"/>
          </a:solidFill>
          <a:ln/>
        </p:spPr>
      </p:sp>
      <p:sp>
        <p:nvSpPr>
          <p:cNvPr id="11" name="Text 9"/>
          <p:cNvSpPr txBox="1"/>
          <p:nvPr/>
        </p:nvSpPr>
        <p:spPr>
          <a:xfrm>
            <a:off x="502920" y="835126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SQLは「頼むための言語」で、データベースの種類や製品ではありません。MySQLやSQL Serverは名前にSQLを含みますが、言語ではなく製品名です。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SQL</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無料のSQL練習サイト（ブラウザで動くもの）で、SELECT文を5問解いてみましょう。インストール不要で、「条件を書いて探す」感覚がつかめます。</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データベースサーバー</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データベース（DBMS）を動かして、他のアプリやPCに提供する専用の機械。</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1B2A3A"/>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4" name="Shape 22"/>
          <p:cNvSpPr/>
          <p:nvPr/>
        </p:nvSpPr>
        <p:spPr>
          <a:xfrm>
            <a:off x="320040" y="4509262"/>
            <a:ext cx="4846320" cy="1264920"/>
          </a:xfrm>
          <a:prstGeom prst="roundRect">
            <a:avLst>
              <a:gd name="adj" fmla="val 10120"/>
            </a:avLst>
          </a:prstGeom>
          <a:solidFill>
            <a:srgbClr val="E2E8F0"/>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会社のサーバー室やクラウドにある、データベース専用の機械（とその上のソフト）。</a:t>
            </a:r>
            <a:endParaRPr lang="en-US" sz="2000" dirty="0"/>
          </a:p>
        </p:txBody>
      </p:sp>
      <p:sp>
        <p:nvSpPr>
          <p:cNvPr id="26" name="Shape 24"/>
          <p:cNvSpPr/>
          <p:nvPr/>
        </p:nvSpPr>
        <p:spPr>
          <a:xfrm>
            <a:off x="320040" y="5957062"/>
            <a:ext cx="4846320" cy="402336"/>
          </a:xfrm>
          <a:prstGeom prst="roundRect">
            <a:avLst>
              <a:gd name="adj" fmla="val 22727"/>
            </a:avLst>
          </a:prstGeom>
          <a:solidFill>
            <a:srgbClr val="475569"/>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475569"/>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8"/>
          <p:cNvSpPr/>
          <p:nvPr/>
        </p:nvSpPr>
        <p:spPr>
          <a:xfrm>
            <a:off x="3566160" y="6414262"/>
            <a:ext cx="1600200" cy="676656"/>
          </a:xfrm>
          <a:prstGeom prst="roundRect">
            <a:avLst>
              <a:gd name="adj" fmla="val 16216"/>
            </a:avLst>
          </a:prstGeom>
          <a:solidFill>
            <a:srgbClr val="E6E1F7"/>
          </a:solidFill>
          <a:ln w="25400">
            <a:solidFill>
              <a:srgbClr val="5B46B8"/>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34" name="Shape 32"/>
          <p:cNvSpPr/>
          <p:nvPr/>
        </p:nvSpPr>
        <p:spPr>
          <a:xfrm>
            <a:off x="3566160" y="7200646"/>
            <a:ext cx="1600200" cy="676656"/>
          </a:xfrm>
          <a:prstGeom prst="roundRect">
            <a:avLst>
              <a:gd name="adj" fmla="val 16216"/>
            </a:avLst>
          </a:prstGeom>
          <a:solidFill>
            <a:srgbClr val="E2E8F0"/>
          </a:solidFill>
          <a:ln w="25400">
            <a:solidFill>
              <a:srgbClr val="475569"/>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データを置く</a:t>
            </a:r>
            <a:endParaRPr lang="en-US" sz="1500" dirty="0"/>
          </a:p>
        </p:txBody>
      </p:sp>
      <p:sp>
        <p:nvSpPr>
          <p:cNvPr id="38" name="Shape 36"/>
          <p:cNvSpPr/>
          <p:nvPr/>
        </p:nvSpPr>
        <p:spPr>
          <a:xfrm>
            <a:off x="3566160" y="7987030"/>
            <a:ext cx="1600200" cy="676656"/>
          </a:xfrm>
          <a:prstGeom prst="roundRect">
            <a:avLst>
              <a:gd name="adj" fmla="val 16216"/>
            </a:avLst>
          </a:prstGeom>
          <a:solidFill>
            <a:srgbClr val="E2E8F0"/>
          </a:solidFill>
          <a:ln w="25400">
            <a:solidFill>
              <a:srgbClr val="475569"/>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0" name="Shape 38"/>
          <p:cNvSpPr/>
          <p:nvPr/>
        </p:nvSpPr>
        <p:spPr>
          <a:xfrm flipH="1">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実体になる</a:t>
            </a:r>
            <a:endParaRPr lang="en-US" sz="1500" dirty="0"/>
          </a:p>
        </p:txBody>
      </p:sp>
      <p:sp>
        <p:nvSpPr>
          <p:cNvPr id="42" name="Shape 40"/>
          <p:cNvSpPr/>
          <p:nvPr/>
        </p:nvSpPr>
        <p:spPr>
          <a:xfrm>
            <a:off x="3566160" y="8773414"/>
            <a:ext cx="1600200" cy="676656"/>
          </a:xfrm>
          <a:prstGeom prst="roundRect">
            <a:avLst>
              <a:gd name="adj" fmla="val 16216"/>
            </a:avLst>
          </a:prstGeom>
          <a:solidFill>
            <a:srgbClr val="E6E1F7"/>
          </a:solidFill>
          <a:ln w="25400">
            <a:solidFill>
              <a:srgbClr val="5B46B8"/>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4" name="Shape 42"/>
          <p:cNvSpPr/>
          <p:nvPr/>
        </p:nvSpPr>
        <p:spPr>
          <a:xfrm flipH="1">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接続する</a:t>
            </a:r>
            <a:endParaRPr lang="en-US" sz="1500" dirty="0"/>
          </a:p>
        </p:txBody>
      </p:sp>
      <p:sp>
        <p:nvSpPr>
          <p:cNvPr id="46" name="Shape 44"/>
          <p:cNvSpPr/>
          <p:nvPr/>
        </p:nvSpPr>
        <p:spPr>
          <a:xfrm>
            <a:off x="3566160" y="9559798"/>
            <a:ext cx="1600200" cy="676656"/>
          </a:xfrm>
          <a:prstGeom prst="roundRect">
            <a:avLst>
              <a:gd name="adj" fmla="val 16216"/>
            </a:avLst>
          </a:prstGeom>
          <a:solidFill>
            <a:srgbClr val="E2E8F0"/>
          </a:solidFill>
          <a:ln w="25400">
            <a:solidFill>
              <a:srgbClr val="475569"/>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48" name="Shape 46"/>
          <p:cNvSpPr/>
          <p:nvPr/>
        </p:nvSpPr>
        <p:spPr>
          <a:xfrm>
            <a:off x="1719072" y="9898126"/>
            <a:ext cx="1819656" cy="0"/>
          </a:xfrm>
          <a:prstGeom prst="line">
            <a:avLst/>
          </a:prstGeom>
          <a:noFill/>
          <a:ln w="31750">
            <a:solidFill>
              <a:srgbClr val="1B2A3A"/>
            </a:solidFill>
            <a:prstDash val="solid"/>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サーバーの一種</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データベースサーバー</a:t>
            </a:r>
            <a:endParaRPr lang="ja-JP" sz="2200" dirty="0"/>
          </a:p>
        </p:txBody>
      </p:sp>
      <p:sp>
        <p:nvSpPr>
          <p:cNvPr id="4" name="Shape 2"/>
          <p:cNvSpPr/>
          <p:nvPr/>
        </p:nvSpPr>
        <p:spPr>
          <a:xfrm>
            <a:off x="320040" y="1318514"/>
            <a:ext cx="4846320" cy="3787648"/>
          </a:xfrm>
          <a:prstGeom prst="roundRect">
            <a:avLst>
              <a:gd name="adj" fmla="val 3380"/>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読み：Database Server・DBサーバー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ータベースサーバーは、DBMS（データベースを管理するソフト）を動かし、データの出し入れをネットワーク越しに引き受けるサーバーです。機械そのもの（ハードウェア）を指すことも、その上のDBMSを指すこともあります。</a:t>
            </a:r>
            <a:endParaRPr lang="en-US" sz="2000" dirty="0"/>
          </a:p>
        </p:txBody>
      </p:sp>
      <p:sp>
        <p:nvSpPr>
          <p:cNvPr id="7" name="Shape 5"/>
          <p:cNvSpPr/>
          <p:nvPr/>
        </p:nvSpPr>
        <p:spPr>
          <a:xfrm>
            <a:off x="320040" y="5179314"/>
            <a:ext cx="4846320" cy="2631440"/>
          </a:xfrm>
          <a:prstGeom prst="roundRect">
            <a:avLst>
              <a:gd name="adj" fmla="val 4865"/>
            </a:avLst>
          </a:prstGeom>
          <a:solidFill>
            <a:srgbClr val="E2E8F0"/>
          </a:solidFill>
          <a:ln/>
        </p:spPr>
      </p:sp>
      <p:sp>
        <p:nvSpPr>
          <p:cNvPr id="8" name="Text 6"/>
          <p:cNvSpPr txBox="1"/>
          <p:nvPr/>
        </p:nvSpPr>
        <p:spPr>
          <a:xfrm>
            <a:off x="502920" y="52707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3つの区別を確認しましょう。データベース＝中身のデータ（整理された情報の集まり）、DBMS＝それを管理するソフト、データベースサーバー＝DBMSを動かす機械です。この3つがそろって「DBが動いている」状態になります。</a:t>
            </a:r>
            <a:endParaRPr lang="en-US" sz="2000" dirty="0"/>
          </a:p>
        </p:txBody>
      </p:sp>
      <p:sp>
        <p:nvSpPr>
          <p:cNvPr id="9" name="Shape 7"/>
          <p:cNvSpPr/>
          <p:nvPr/>
        </p:nvSpPr>
        <p:spPr>
          <a:xfrm>
            <a:off x="320040" y="7883906"/>
            <a:ext cx="4846320" cy="2296160"/>
          </a:xfrm>
          <a:prstGeom prst="roundRect">
            <a:avLst>
              <a:gd name="adj" fmla="val 5575"/>
            </a:avLst>
          </a:prstGeom>
          <a:solidFill>
            <a:srgbClr val="E2E8F0"/>
          </a:solidFill>
          <a:ln/>
        </p:spPr>
      </p:sp>
      <p:sp>
        <p:nvSpPr>
          <p:cNvPr id="10" name="Text 8"/>
          <p:cNvSpPr txBox="1"/>
          <p:nvPr/>
        </p:nvSpPr>
        <p:spPr>
          <a:xfrm>
            <a:off x="502920" y="797534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DBを専用の機械に分けるのは、アプリの処理とDBの処理を別々に強くできるからです。大きなメモリや速いストレージ（SSDなど）を積み、故障に備えて同じ機械を複数台そろえることもあります。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データベースサーバー</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図書館の建物。書庫（ストレージ）に本（データ）が並び、司書さん（DBMS）が常駐しています。利用者は窓口から頼み、書庫には直接入りません。</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会社の業務システムでは、画面を動かすアプリのサーバーとは別に、データだけを預かるDBサーバーが置かれます。クラウドでは、運用を提供会社に任せる形もあります。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「データベース」「DBMS」「DBサーバー」は同じではありません。データ、管理ソフト、動かす機械の3つです。練習では1台のPCに全部入れることもあります。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PostgreSQLなどをPCに入れ、別のプログラムから接続してみましょう。自分のPCがDBサーバーになり、サーバーとクライアントの関係を体験できます。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SQLは「何を・どこから・条件は」</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貼り付けの例の1文を、3つの部分に分けて読みます。</a:t>
            </a:r>
            <a:endParaRPr lang="en-US" sz="1800" dirty="0"/>
          </a:p>
        </p:txBody>
      </p:sp>
      <p:sp>
        <p:nvSpPr>
          <p:cNvPr id="7" name="Shape 5"/>
          <p:cNvSpPr/>
          <p:nvPr/>
        </p:nvSpPr>
        <p:spPr>
          <a:xfrm>
            <a:off x="320040" y="2928620"/>
            <a:ext cx="4846320" cy="1097280"/>
          </a:xfrm>
          <a:prstGeom prst="roundRect">
            <a:avLst>
              <a:gd name="adj" fmla="val 10000"/>
            </a:avLst>
          </a:prstGeom>
          <a:solidFill>
            <a:srgbClr val="0F2438"/>
          </a:solidFill>
          <a:ln/>
        </p:spPr>
      </p:sp>
      <p:sp>
        <p:nvSpPr>
          <p:cNvPr id="8" name="Text 6"/>
          <p:cNvSpPr txBox="1"/>
          <p:nvPr/>
        </p:nvSpPr>
        <p:spPr>
          <a:xfrm>
            <a:off x="502920" y="3038348"/>
            <a:ext cx="4480560" cy="877824"/>
          </a:xfrm>
          <a:prstGeom prst="rect">
            <a:avLst/>
          </a:prstGeom>
          <a:noFill/>
          <a:ln/>
        </p:spPr>
        <p:txBody>
          <a:bodyPr wrap="square" lIns="0" tIns="0" rIns="0" bIns="0" rtlCol="0" anchor="t"/>
          <a:lstStyle/>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SELECT 商品名, 価格</a:t>
            </a:r>
            <a:endParaRPr lang="en-US" sz="1600" dirty="0"/>
          </a:p>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FROM 商品</a:t>
            </a:r>
            <a:endParaRPr lang="en-US" sz="1600" dirty="0"/>
          </a:p>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WHERE 価格 &lt; 1000;</a:t>
            </a:r>
            <a:endParaRPr lang="en-US" sz="1600" dirty="0"/>
          </a:p>
        </p:txBody>
      </p:sp>
      <p:sp>
        <p:nvSpPr>
          <p:cNvPr id="9" name="Shape 7"/>
          <p:cNvSpPr/>
          <p:nvPr/>
        </p:nvSpPr>
        <p:spPr>
          <a:xfrm>
            <a:off x="320040" y="4208780"/>
            <a:ext cx="4846320" cy="1712976"/>
          </a:xfrm>
          <a:prstGeom prst="roundRect">
            <a:avLst>
              <a:gd name="adj" fmla="val 7473"/>
            </a:avLst>
          </a:prstGeom>
          <a:solidFill>
            <a:srgbClr val="DDF1E4"/>
          </a:solidFill>
          <a:ln/>
        </p:spPr>
      </p:sp>
      <p:sp>
        <p:nvSpPr>
          <p:cNvPr id="10" name="Shape 8"/>
          <p:cNvSpPr/>
          <p:nvPr/>
        </p:nvSpPr>
        <p:spPr>
          <a:xfrm>
            <a:off x="502920" y="4355084"/>
            <a:ext cx="566928" cy="566928"/>
          </a:xfrm>
          <a:prstGeom prst="ellipse">
            <a:avLst/>
          </a:prstGeom>
          <a:solidFill>
            <a:srgbClr val="237A48"/>
          </a:solidFill>
          <a:ln/>
        </p:spPr>
      </p:sp>
      <p:pic>
        <p:nvPicPr>
          <p:cNvPr id="11" name="Image 0" descr="preencoded.png">    </p:cNvPr>
          <p:cNvPicPr>
            <a:picLocks noChangeAspect="1"/>
          </p:cNvPicPr>
          <p:nvPr/>
        </p:nvPicPr>
        <p:blipFill>
          <a:blip r:embed="rId1"/>
          <a:stretch>
            <a:fillRect/>
          </a:stretch>
        </p:blipFill>
        <p:spPr>
          <a:xfrm>
            <a:off x="627644" y="4479808"/>
            <a:ext cx="317480" cy="317480"/>
          </a:xfrm>
          <a:prstGeom prst="rect">
            <a:avLst/>
          </a:prstGeom>
        </p:spPr>
      </p:pic>
      <p:sp>
        <p:nvSpPr>
          <p:cNvPr id="12" name="Text 9"/>
          <p:cNvSpPr txBox="1"/>
          <p:nvPr/>
        </p:nvSpPr>
        <p:spPr>
          <a:xfrm>
            <a:off x="1188720" y="4355084"/>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SELECT</a:t>
            </a:r>
            <a:endParaRPr lang="en-US" sz="2200" dirty="0"/>
          </a:p>
        </p:txBody>
      </p:sp>
      <p:sp>
        <p:nvSpPr>
          <p:cNvPr id="13" name="Text 10"/>
          <p:cNvSpPr txBox="1"/>
          <p:nvPr/>
        </p:nvSpPr>
        <p:spPr>
          <a:xfrm>
            <a:off x="502920" y="5013452"/>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何を取り出す？</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 商品名と価格</a:t>
            </a:r>
            <a:endParaRPr lang="en-US" sz="2000" dirty="0"/>
          </a:p>
        </p:txBody>
      </p:sp>
      <p:sp>
        <p:nvSpPr>
          <p:cNvPr id="14" name="Shape 11"/>
          <p:cNvSpPr/>
          <p:nvPr/>
        </p:nvSpPr>
        <p:spPr>
          <a:xfrm>
            <a:off x="320040" y="6104636"/>
            <a:ext cx="4846320" cy="1712976"/>
          </a:xfrm>
          <a:prstGeom prst="roundRect">
            <a:avLst>
              <a:gd name="adj" fmla="val 7473"/>
            </a:avLst>
          </a:prstGeom>
          <a:solidFill>
            <a:srgbClr val="DCE8F8"/>
          </a:solidFill>
          <a:ln/>
        </p:spPr>
      </p:sp>
      <p:sp>
        <p:nvSpPr>
          <p:cNvPr id="15" name="Shape 12"/>
          <p:cNvSpPr/>
          <p:nvPr/>
        </p:nvSpPr>
        <p:spPr>
          <a:xfrm>
            <a:off x="502920" y="6250940"/>
            <a:ext cx="566928" cy="566928"/>
          </a:xfrm>
          <a:prstGeom prst="ellipse">
            <a:avLst/>
          </a:prstGeom>
          <a:solidFill>
            <a:srgbClr val="2F6BC2"/>
          </a:solidFill>
          <a:ln/>
        </p:spPr>
      </p:sp>
      <p:pic>
        <p:nvPicPr>
          <p:cNvPr id="16" name="Image 1" descr="preencoded.png">    </p:cNvPr>
          <p:cNvPicPr>
            <a:picLocks noChangeAspect="1"/>
          </p:cNvPicPr>
          <p:nvPr/>
        </p:nvPicPr>
        <p:blipFill>
          <a:blip r:embed="rId2"/>
          <a:stretch>
            <a:fillRect/>
          </a:stretch>
        </p:blipFill>
        <p:spPr>
          <a:xfrm>
            <a:off x="627644" y="6375664"/>
            <a:ext cx="317480" cy="317480"/>
          </a:xfrm>
          <a:prstGeom prst="rect">
            <a:avLst/>
          </a:prstGeom>
        </p:spPr>
      </p:pic>
      <p:sp>
        <p:nvSpPr>
          <p:cNvPr id="17" name="Text 13"/>
          <p:cNvSpPr txBox="1"/>
          <p:nvPr/>
        </p:nvSpPr>
        <p:spPr>
          <a:xfrm>
            <a:off x="1188720" y="6250940"/>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FROM</a:t>
            </a:r>
            <a:endParaRPr lang="en-US" sz="2200" dirty="0"/>
          </a:p>
        </p:txBody>
      </p:sp>
      <p:sp>
        <p:nvSpPr>
          <p:cNvPr id="18" name="Text 14"/>
          <p:cNvSpPr txBox="1"/>
          <p:nvPr/>
        </p:nvSpPr>
        <p:spPr>
          <a:xfrm>
            <a:off x="502920" y="6909308"/>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どの表から？</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 商品の表</a:t>
            </a:r>
            <a:endParaRPr lang="en-US" sz="2000" dirty="0"/>
          </a:p>
        </p:txBody>
      </p:sp>
      <p:sp>
        <p:nvSpPr>
          <p:cNvPr id="19" name="Shape 15"/>
          <p:cNvSpPr/>
          <p:nvPr/>
        </p:nvSpPr>
        <p:spPr>
          <a:xfrm>
            <a:off x="320040" y="8000492"/>
            <a:ext cx="4846320" cy="1712976"/>
          </a:xfrm>
          <a:prstGeom prst="roundRect">
            <a:avLst>
              <a:gd name="adj" fmla="val 7473"/>
            </a:avLst>
          </a:prstGeom>
          <a:solidFill>
            <a:srgbClr val="FDEBD0"/>
          </a:solidFill>
          <a:ln/>
        </p:spPr>
      </p:sp>
      <p:sp>
        <p:nvSpPr>
          <p:cNvPr id="20" name="Shape 16"/>
          <p:cNvSpPr/>
          <p:nvPr/>
        </p:nvSpPr>
        <p:spPr>
          <a:xfrm>
            <a:off x="502920" y="8146796"/>
            <a:ext cx="566928" cy="566928"/>
          </a:xfrm>
          <a:prstGeom prst="ellipse">
            <a:avLst/>
          </a:prstGeom>
          <a:solidFill>
            <a:srgbClr val="B45309"/>
          </a:solidFill>
          <a:ln/>
        </p:spPr>
      </p:sp>
      <p:pic>
        <p:nvPicPr>
          <p:cNvPr id="21" name="Image 2" descr="preencoded.png">    </p:cNvPr>
          <p:cNvPicPr>
            <a:picLocks noChangeAspect="1"/>
          </p:cNvPicPr>
          <p:nvPr/>
        </p:nvPicPr>
        <p:blipFill>
          <a:blip r:embed="rId3"/>
          <a:stretch>
            <a:fillRect/>
          </a:stretch>
        </p:blipFill>
        <p:spPr>
          <a:xfrm>
            <a:off x="627644" y="8271520"/>
            <a:ext cx="317480" cy="317480"/>
          </a:xfrm>
          <a:prstGeom prst="rect">
            <a:avLst/>
          </a:prstGeom>
        </p:spPr>
      </p:pic>
      <p:sp>
        <p:nvSpPr>
          <p:cNvPr id="22" name="Text 17"/>
          <p:cNvSpPr txBox="1"/>
          <p:nvPr/>
        </p:nvSpPr>
        <p:spPr>
          <a:xfrm>
            <a:off x="1188720" y="8146796"/>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WHERE</a:t>
            </a:r>
            <a:endParaRPr lang="en-US" sz="2200" dirty="0"/>
          </a:p>
        </p:txBody>
      </p:sp>
      <p:sp>
        <p:nvSpPr>
          <p:cNvPr id="23" name="Text 18"/>
          <p:cNvSpPr txBox="1"/>
          <p:nvPr/>
        </p:nvSpPr>
        <p:spPr>
          <a:xfrm>
            <a:off x="502920" y="8805164"/>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どんな条件で？</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 価格が1,000円未満</a:t>
            </a:r>
            <a:endParaRPr lang="en-US" sz="2000" dirty="0"/>
          </a:p>
        </p:txBody>
      </p:sp>
      <p:sp>
        <p:nvSpPr>
          <p:cNvPr id="24"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SQLは「何を・どこから・条件は」</a:t>
            </a:r>
            <a:endParaRPr lang="ja-JP" sz="2200" dirty="0"/>
          </a:p>
        </p:txBody>
      </p:sp>
      <p:sp>
        <p:nvSpPr>
          <p:cNvPr id="4" name="Shape 2"/>
          <p:cNvSpPr/>
          <p:nvPr/>
        </p:nvSpPr>
        <p:spPr>
          <a:xfrm>
            <a:off x="320040" y="1318514"/>
            <a:ext cx="4846320" cy="1280160"/>
          </a:xfrm>
          <a:prstGeom prst="roundRect">
            <a:avLst>
              <a:gd name="adj" fmla="val 8571"/>
            </a:avLst>
          </a:prstGeom>
          <a:solidFill>
            <a:srgbClr val="DCE8F8"/>
          </a:solidFill>
          <a:ln w="19050">
            <a:solidFill>
              <a:srgbClr val="2F6BC2"/>
            </a:solidFill>
            <a:prstDash val="solid"/>
          </a:ln>
        </p:spPr>
      </p:sp>
      <p:sp>
        <p:nvSpPr>
          <p:cNvPr id="5" name="Shape 3"/>
          <p:cNvSpPr/>
          <p:nvPr/>
        </p:nvSpPr>
        <p:spPr>
          <a:xfrm>
            <a:off x="457200" y="1729994"/>
            <a:ext cx="457200" cy="457200"/>
          </a:xfrm>
          <a:prstGeom prst="ellipse">
            <a:avLst/>
          </a:prstGeom>
          <a:solidFill>
            <a:srgbClr val="2F6BC2"/>
          </a:solidFill>
          <a:ln/>
        </p:spPr>
      </p:sp>
      <p:pic>
        <p:nvPicPr>
          <p:cNvPr id="6" name="Image 0" descr="preencoded.png">    </p:cNvPr>
          <p:cNvPicPr>
            <a:picLocks noChangeAspect="1"/>
          </p:cNvPicPr>
          <p:nvPr/>
        </p:nvPicPr>
        <p:blipFill>
          <a:blip r:embed="rId1"/>
          <a:stretch>
            <a:fillRect/>
          </a:stretch>
        </p:blipFill>
        <p:spPr>
          <a:xfrm>
            <a:off x="557784" y="1830578"/>
            <a:ext cx="256032" cy="256032"/>
          </a:xfrm>
          <a:prstGeom prst="rect">
            <a:avLst/>
          </a:prstGeom>
        </p:spPr>
      </p:pic>
      <p:sp>
        <p:nvSpPr>
          <p:cNvPr id="7" name="Text 4"/>
          <p:cNvSpPr txBox="1"/>
          <p:nvPr/>
        </p:nvSpPr>
        <p:spPr>
          <a:xfrm>
            <a:off x="1051560" y="1364234"/>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意味：「商品」という表から、価格が1,000円未満の商品名と価格を取り出す。</a:t>
            </a:r>
            <a:endParaRPr lang="en-US" sz="2000" dirty="0"/>
          </a:p>
        </p:txBody>
      </p:sp>
      <p:sp>
        <p:nvSpPr>
          <p:cNvPr id="8"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SQLの結果を表で確かめる</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元の表にSQLを当てると、条件に合う行だけが取り出されます。（数字は例示用）</a:t>
            </a:r>
            <a:endParaRPr lang="en-US" sz="1800" dirty="0"/>
          </a:p>
        </p:txBody>
      </p:sp>
      <p:sp>
        <p:nvSpPr>
          <p:cNvPr id="6" name="Shape 4"/>
          <p:cNvSpPr/>
          <p:nvPr/>
        </p:nvSpPr>
        <p:spPr>
          <a:xfrm>
            <a:off x="320040" y="2515870"/>
            <a:ext cx="4846320" cy="502920"/>
          </a:xfrm>
          <a:prstGeom prst="roundRect">
            <a:avLst>
              <a:gd name="adj" fmla="val 18182"/>
            </a:avLst>
          </a:prstGeom>
          <a:solidFill>
            <a:srgbClr val="2F6BC2"/>
          </a:solidFill>
          <a:ln/>
        </p:spPr>
      </p:sp>
      <p:sp>
        <p:nvSpPr>
          <p:cNvPr id="7" name="Text 5"/>
          <p:cNvSpPr txBox="1"/>
          <p:nvPr/>
        </p:nvSpPr>
        <p:spPr>
          <a:xfrm>
            <a:off x="411480" y="2515870"/>
            <a:ext cx="466344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元の表：商品</a:t>
            </a:r>
            <a:endParaRPr lang="en-US" sz="20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320040" y="3174238"/>
          <a:ext cx="4846320" cy="914400"/>
        </p:xfrm>
        <a:graphic>
          <a:graphicData uri="http://schemas.openxmlformats.org/drawingml/2006/table">
            <a:tbl>
              <a:tblPr/>
              <a:tblGrid>
                <a:gridCol w="2907792"/>
                <a:gridCol w="1938528"/>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価格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150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万年筆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3,500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6"/>
          <p:cNvSpPr/>
          <p:nvPr/>
        </p:nvSpPr>
        <p:spPr>
          <a:xfrm>
            <a:off x="320040" y="5185918"/>
            <a:ext cx="4846320" cy="502920"/>
          </a:xfrm>
          <a:prstGeom prst="roundRect">
            <a:avLst>
              <a:gd name="adj" fmla="val 18182"/>
            </a:avLst>
          </a:prstGeom>
          <a:solidFill>
            <a:srgbClr val="237A48"/>
          </a:solidFill>
          <a:ln/>
        </p:spPr>
      </p:sp>
      <p:sp>
        <p:nvSpPr>
          <p:cNvPr id="10" name="Text 7"/>
          <p:cNvSpPr txBox="1"/>
          <p:nvPr/>
        </p:nvSpPr>
        <p:spPr>
          <a:xfrm>
            <a:off x="411480" y="5185918"/>
            <a:ext cx="466344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結果：1,000円未満</a:t>
            </a:r>
            <a:endParaRPr lang="en-US" sz="2000" dirty="0"/>
          </a:p>
        </p:txBody>
      </p:sp>
      <p:graphicFrame>
        <p:nvGraphicFramePr>
          <p:cNvPr id="251" name="Table 1"/>
          <p:cNvGraphicFramePr>
            <a:graphicFrameLocks noGrp="1"/>
          </p:cNvGraphicFramePr>
          <p:nvPr>
            <p:extLst>
              <p:ext uri="{D42A27DB-BD31-4B8C-83A1-F6EECF244321}">
                <p14:modId xmlns:p14="http://schemas.microsoft.com/office/powerpoint/2010/main" val="1579011935"/>
              </p:ext>
            </p:extLst>
          </p:nvPr>
        </p:nvGraphicFramePr>
        <p:xfrm>
          <a:off x="320040" y="5844286"/>
          <a:ext cx="4846320" cy="914400"/>
        </p:xfrm>
        <a:graphic>
          <a:graphicData uri="http://schemas.openxmlformats.org/drawingml/2006/table">
            <a:tbl>
              <a:tblPr/>
              <a:tblGrid>
                <a:gridCol w="2907792"/>
                <a:gridCol w="1938528"/>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価格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150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2" name="Shape 8"/>
          <p:cNvSpPr/>
          <p:nvPr/>
        </p:nvSpPr>
        <p:spPr>
          <a:xfrm>
            <a:off x="320040" y="7398766"/>
            <a:ext cx="4846320" cy="1280160"/>
          </a:xfrm>
          <a:prstGeom prst="roundRect">
            <a:avLst>
              <a:gd name="adj" fmla="val 8571"/>
            </a:avLst>
          </a:prstGeom>
          <a:solidFill>
            <a:srgbClr val="DCE8F8"/>
          </a:solidFill>
          <a:ln w="19050">
            <a:solidFill>
              <a:srgbClr val="2F6BC2"/>
            </a:solidFill>
            <a:prstDash val="solid"/>
          </a:ln>
        </p:spPr>
      </p:sp>
      <p:sp>
        <p:nvSpPr>
          <p:cNvPr id="13" name="Shape 9"/>
          <p:cNvSpPr/>
          <p:nvPr/>
        </p:nvSpPr>
        <p:spPr>
          <a:xfrm>
            <a:off x="457200" y="7810246"/>
            <a:ext cx="457200" cy="457200"/>
          </a:xfrm>
          <a:prstGeom prst="ellipse">
            <a:avLst/>
          </a:prstGeom>
          <a:solidFill>
            <a:srgbClr val="2F6BC2"/>
          </a:solidFill>
          <a:ln/>
        </p:spPr>
      </p:sp>
      <p:pic>
        <p:nvPicPr>
          <p:cNvPr id="14" name="Image 0" descr="preencoded.png">    </p:cNvPr>
          <p:cNvPicPr>
            <a:picLocks noChangeAspect="1"/>
          </p:cNvPicPr>
          <p:nvPr/>
        </p:nvPicPr>
        <p:blipFill>
          <a:blip r:embed="rId1"/>
          <a:stretch>
            <a:fillRect/>
          </a:stretch>
        </p:blipFill>
        <p:spPr>
          <a:xfrm>
            <a:off x="557784" y="7910830"/>
            <a:ext cx="256032" cy="256032"/>
          </a:xfrm>
          <a:prstGeom prst="rect">
            <a:avLst/>
          </a:prstGeom>
        </p:spPr>
      </p:pic>
      <p:sp>
        <p:nvSpPr>
          <p:cNvPr id="15" name="Text 10"/>
          <p:cNvSpPr txBox="1"/>
          <p:nvPr/>
        </p:nvSpPr>
        <p:spPr>
          <a:xfrm>
            <a:off x="1051560" y="7444486"/>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「万年筆（3,500円）」は条件に合わないので、結果に出ません。</a:t>
            </a:r>
            <a:endParaRPr lang="en-US" sz="2000" dirty="0"/>
          </a:p>
        </p:txBody>
      </p:sp>
      <p:sp>
        <p:nvSpPr>
          <p:cNvPr id="16" name="Text 1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SQLの基本4操作</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取り出すだけでなく、追加・変更・削除もSQLで行います。まず、この4つから学びます。</a:t>
            </a:r>
            <a:endParaRPr lang="en-US" sz="1800" dirty="0"/>
          </a:p>
        </p:txBody>
      </p:sp>
      <p:sp>
        <p:nvSpPr>
          <p:cNvPr id="7" name="Shape 5"/>
          <p:cNvSpPr/>
          <p:nvPr/>
        </p:nvSpPr>
        <p:spPr>
          <a:xfrm>
            <a:off x="320040" y="2515870"/>
            <a:ext cx="4846320" cy="1907032"/>
          </a:xfrm>
          <a:prstGeom prst="roundRect">
            <a:avLst>
              <a:gd name="adj" fmla="val 6713"/>
            </a:avLst>
          </a:prstGeom>
          <a:solidFill>
            <a:srgbClr val="DCE8F8"/>
          </a:solidFill>
          <a:ln/>
        </p:spPr>
      </p:sp>
      <p:sp>
        <p:nvSpPr>
          <p:cNvPr id="8" name="Text 6"/>
          <p:cNvSpPr txBox="1"/>
          <p:nvPr/>
        </p:nvSpPr>
        <p:spPr>
          <a:xfrm>
            <a:off x="502920" y="266217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SELECT</a:t>
            </a:r>
            <a:endParaRPr lang="en-US" sz="2200" dirty="0"/>
          </a:p>
        </p:txBody>
      </p:sp>
      <p:sp>
        <p:nvSpPr>
          <p:cNvPr id="9" name="Text 7"/>
          <p:cNvSpPr txBox="1"/>
          <p:nvPr/>
        </p:nvSpPr>
        <p:spPr>
          <a:xfrm>
            <a:off x="502920" y="3122422"/>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意味：</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取り出す</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例（説明用）：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SELECT * FROM 商品;</a:t>
            </a:r>
            <a:endParaRPr lang="en-US" sz="2000" dirty="0"/>
          </a:p>
        </p:txBody>
      </p:sp>
      <p:sp>
        <p:nvSpPr>
          <p:cNvPr id="10" name="Shape 8"/>
          <p:cNvSpPr/>
          <p:nvPr/>
        </p:nvSpPr>
        <p:spPr>
          <a:xfrm>
            <a:off x="320040" y="4605782"/>
            <a:ext cx="4846320" cy="1907032"/>
          </a:xfrm>
          <a:prstGeom prst="roundRect">
            <a:avLst>
              <a:gd name="adj" fmla="val 6713"/>
            </a:avLst>
          </a:prstGeom>
          <a:solidFill>
            <a:srgbClr val="DCE8F8"/>
          </a:solidFill>
          <a:ln/>
        </p:spPr>
      </p:sp>
      <p:sp>
        <p:nvSpPr>
          <p:cNvPr id="11" name="Text 9"/>
          <p:cNvSpPr txBox="1"/>
          <p:nvPr/>
        </p:nvSpPr>
        <p:spPr>
          <a:xfrm>
            <a:off x="502920" y="475208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INSERT</a:t>
            </a:r>
            <a:endParaRPr lang="en-US" sz="2200" dirty="0"/>
          </a:p>
        </p:txBody>
      </p:sp>
      <p:sp>
        <p:nvSpPr>
          <p:cNvPr id="12" name="Text 10"/>
          <p:cNvSpPr txBox="1"/>
          <p:nvPr/>
        </p:nvSpPr>
        <p:spPr>
          <a:xfrm>
            <a:off x="502920" y="5212334"/>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意味：</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追加する</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例（説明用）：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INSERT INTO 商品 VALUES ('消しゴム', 120);</a:t>
            </a:r>
            <a:endParaRPr lang="en-US" sz="2000" dirty="0"/>
          </a:p>
        </p:txBody>
      </p:sp>
      <p:sp>
        <p:nvSpPr>
          <p:cNvPr id="13" name="Shape 11"/>
          <p:cNvSpPr/>
          <p:nvPr/>
        </p:nvSpPr>
        <p:spPr>
          <a:xfrm>
            <a:off x="320040" y="6695694"/>
            <a:ext cx="4846320" cy="1907032"/>
          </a:xfrm>
          <a:prstGeom prst="roundRect">
            <a:avLst>
              <a:gd name="adj" fmla="val 6713"/>
            </a:avLst>
          </a:prstGeom>
          <a:solidFill>
            <a:srgbClr val="DCE8F8"/>
          </a:solidFill>
          <a:ln/>
        </p:spPr>
      </p:sp>
      <p:sp>
        <p:nvSpPr>
          <p:cNvPr id="14" name="Text 12"/>
          <p:cNvSpPr txBox="1"/>
          <p:nvPr/>
        </p:nvSpPr>
        <p:spPr>
          <a:xfrm>
            <a:off x="502920" y="684199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UPDATE</a:t>
            </a:r>
            <a:endParaRPr lang="en-US" sz="2200" dirty="0"/>
          </a:p>
        </p:txBody>
      </p:sp>
      <p:sp>
        <p:nvSpPr>
          <p:cNvPr id="15" name="Text 13"/>
          <p:cNvSpPr txBox="1"/>
          <p:nvPr/>
        </p:nvSpPr>
        <p:spPr>
          <a:xfrm>
            <a:off x="502920" y="7302246"/>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意味：</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変更する</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例（説明用）：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UPDATE 商品 SET 価格 = 160 WHERE 商品名 = 'ペン';</a:t>
            </a:r>
            <a:endParaRPr lang="en-US" sz="2000" dirty="0"/>
          </a:p>
        </p:txBody>
      </p:sp>
      <p:sp>
        <p:nvSpPr>
          <p:cNvPr id="16"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SQLの基本4操作</a:t>
            </a:r>
            <a:endParaRPr lang="ja-JP" sz="2200" dirty="0"/>
          </a:p>
        </p:txBody>
      </p:sp>
      <p:sp>
        <p:nvSpPr>
          <p:cNvPr id="4" name="Shape 2"/>
          <p:cNvSpPr/>
          <p:nvPr/>
        </p:nvSpPr>
        <p:spPr>
          <a:xfrm>
            <a:off x="320040" y="1318514"/>
            <a:ext cx="4846320" cy="1907032"/>
          </a:xfrm>
          <a:prstGeom prst="roundRect">
            <a:avLst>
              <a:gd name="adj" fmla="val 6713"/>
            </a:avLst>
          </a:prstGeom>
          <a:solidFill>
            <a:srgbClr val="DCE8F8"/>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DELETE</a:t>
            </a:r>
            <a:endParaRPr lang="en-US" sz="2200" dirty="0"/>
          </a:p>
        </p:txBody>
      </p:sp>
      <p:sp>
        <p:nvSpPr>
          <p:cNvPr id="6" name="Text 4"/>
          <p:cNvSpPr txBox="1"/>
          <p:nvPr/>
        </p:nvSpPr>
        <p:spPr>
          <a:xfrm>
            <a:off x="502920" y="1925066"/>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意味：</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削除する</a:t>
            </a:r>
            <a:endParaRPr lang="en-US" sz="2000" dirty="0"/>
          </a:p>
          <a:p>
            <a:pPr indent="0" marL="0">
              <a:lnSpc>
                <a:spcPts val="2600"/>
              </a:lnSpc>
              <a:spcAft>
                <a:spcPts val="800"/>
              </a:spcAft>
              <a:buNone/>
            </a:pPr>
            <a:r>
              <a:rPr lang="ja-JP" altLang="en-US" sz="2000" b="1" dirty="0">
                <a:solidFill>
                  <a:srgbClr val="2F6BC2"/>
                </a:solidFill>
                <a:latin typeface="Yu Gothic" pitchFamily="34" charset="0"/>
                <a:ea typeface="Yu Gothic" pitchFamily="34" charset="-122"/>
                <a:cs typeface="Yu Gothic" pitchFamily="34" charset="-120"/>
              </a:rPr>
              <a:t>例（説明用）：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DELETE FROM 商品 WHERE 商品名 = '消しゴム';</a:t>
            </a:r>
            <a:endParaRPr lang="en-US" sz="2000" dirty="0"/>
          </a:p>
        </p:txBody>
      </p:sp>
      <p:sp>
        <p:nvSpPr>
          <p:cNvPr id="7" name="Shape 5"/>
          <p:cNvSpPr/>
          <p:nvPr/>
        </p:nvSpPr>
        <p:spPr>
          <a:xfrm>
            <a:off x="320040" y="3408426"/>
            <a:ext cx="4846320" cy="1280160"/>
          </a:xfrm>
          <a:prstGeom prst="roundRect">
            <a:avLst>
              <a:gd name="adj" fmla="val 8571"/>
            </a:avLst>
          </a:prstGeom>
          <a:solidFill>
            <a:srgbClr val="FBE3E0"/>
          </a:solidFill>
          <a:ln w="19050">
            <a:solidFill>
              <a:srgbClr val="C0392B"/>
            </a:solidFill>
            <a:prstDash val="solid"/>
          </a:ln>
        </p:spPr>
      </p:sp>
      <p:sp>
        <p:nvSpPr>
          <p:cNvPr id="8" name="Shape 6"/>
          <p:cNvSpPr/>
          <p:nvPr/>
        </p:nvSpPr>
        <p:spPr>
          <a:xfrm>
            <a:off x="457200" y="3819906"/>
            <a:ext cx="457200" cy="457200"/>
          </a:xfrm>
          <a:prstGeom prst="ellipse">
            <a:avLst/>
          </a:prstGeom>
          <a:solidFill>
            <a:srgbClr val="C0392B"/>
          </a:solidFill>
          <a:ln/>
        </p:spPr>
      </p:sp>
      <p:pic>
        <p:nvPicPr>
          <p:cNvPr id="9" name="Image 0" descr="preencoded.png">    </p:cNvPr>
          <p:cNvPicPr>
            <a:picLocks noChangeAspect="1"/>
          </p:cNvPicPr>
          <p:nvPr/>
        </p:nvPicPr>
        <p:blipFill>
          <a:blip r:embed="rId1"/>
          <a:stretch>
            <a:fillRect/>
          </a:stretch>
        </p:blipFill>
        <p:spPr>
          <a:xfrm>
            <a:off x="557784" y="3920490"/>
            <a:ext cx="256032" cy="256032"/>
          </a:xfrm>
          <a:prstGeom prst="rect">
            <a:avLst/>
          </a:prstGeom>
        </p:spPr>
      </p:pic>
      <p:sp>
        <p:nvSpPr>
          <p:cNvPr id="10" name="Text 7"/>
          <p:cNvSpPr txBox="1"/>
          <p:nvPr/>
        </p:nvSpPr>
        <p:spPr>
          <a:xfrm>
            <a:off x="1051560" y="3454146"/>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UPDATEとDELETEは、WHEREを付け忘れると全部の行が対象になります。</a:t>
            </a:r>
            <a:endParaRPr lang="en-US" sz="2000" dirty="0"/>
          </a:p>
        </p:txBody>
      </p:sp>
      <p:sp>
        <p:nvSpPr>
          <p:cNvPr id="11"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表を結ぶ：顧客表と注文表</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リレーショナルデータベースは、複数の表を「共通の番号」でつないで使います。</a:t>
            </a:r>
            <a:endParaRPr lang="en-US" sz="1800" dirty="0"/>
          </a:p>
        </p:txBody>
      </p:sp>
      <p:sp>
        <p:nvSpPr>
          <p:cNvPr id="7" name="Shape 5"/>
          <p:cNvSpPr/>
          <p:nvPr/>
        </p:nvSpPr>
        <p:spPr>
          <a:xfrm>
            <a:off x="320040" y="2515870"/>
            <a:ext cx="4846320" cy="502920"/>
          </a:xfrm>
          <a:prstGeom prst="roundRect">
            <a:avLst>
              <a:gd name="adj" fmla="val 18182"/>
            </a:avLst>
          </a:prstGeom>
          <a:solidFill>
            <a:srgbClr val="2F6BC2"/>
          </a:solidFill>
          <a:ln/>
        </p:spPr>
      </p:sp>
      <p:sp>
        <p:nvSpPr>
          <p:cNvPr id="8" name="Text 6"/>
          <p:cNvSpPr txBox="1"/>
          <p:nvPr/>
        </p:nvSpPr>
        <p:spPr>
          <a:xfrm>
            <a:off x="411480" y="2515870"/>
            <a:ext cx="466344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顧客表</a:t>
            </a:r>
            <a:endParaRPr lang="en-US" sz="2000" dirty="0"/>
          </a:p>
        </p:txBody>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320040" y="3174238"/>
          <a:ext cx="4846320" cy="914400"/>
        </p:xfrm>
        <a:graphic>
          <a:graphicData uri="http://schemas.openxmlformats.org/drawingml/2006/table">
            <a:tbl>
              <a:tblPr/>
              <a:tblGrid>
                <a:gridCol w="1938528"/>
                <a:gridCol w="29077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顧客番号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名前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田中さん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鈴木さん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7"/>
          <p:cNvSpPr/>
          <p:nvPr/>
        </p:nvSpPr>
        <p:spPr>
          <a:xfrm>
            <a:off x="320040" y="4728718"/>
            <a:ext cx="4846320" cy="502920"/>
          </a:xfrm>
          <a:prstGeom prst="roundRect">
            <a:avLst>
              <a:gd name="adj" fmla="val 18182"/>
            </a:avLst>
          </a:prstGeom>
          <a:solidFill>
            <a:srgbClr val="237A48"/>
          </a:solidFill>
          <a:ln/>
        </p:spPr>
      </p:sp>
      <p:sp>
        <p:nvSpPr>
          <p:cNvPr id="11" name="Text 8"/>
          <p:cNvSpPr txBox="1"/>
          <p:nvPr/>
        </p:nvSpPr>
        <p:spPr>
          <a:xfrm>
            <a:off x="411480" y="4728718"/>
            <a:ext cx="466344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注文表</a:t>
            </a:r>
            <a:endParaRPr lang="en-US" sz="2000" dirty="0"/>
          </a:p>
        </p:txBody>
      </p:sp>
      <p:graphicFrame>
        <p:nvGraphicFramePr>
          <p:cNvPr id="257" name="Table 1"/>
          <p:cNvGraphicFramePr>
            <a:graphicFrameLocks noGrp="1"/>
          </p:cNvGraphicFramePr>
          <p:nvPr>
            <p:extLst>
              <p:ext uri="{D42A27DB-BD31-4B8C-83A1-F6EECF244321}">
                <p14:modId xmlns:p14="http://schemas.microsoft.com/office/powerpoint/2010/main" val="1579011935"/>
              </p:ext>
            </p:extLst>
          </p:nvPr>
        </p:nvGraphicFramePr>
        <p:xfrm>
          <a:off x="320040" y="5387086"/>
          <a:ext cx="4846320" cy="914400"/>
        </p:xfrm>
        <a:graphic>
          <a:graphicData uri="http://schemas.openxmlformats.org/drawingml/2006/table">
            <a:tbl>
              <a:tblPr/>
              <a:tblGrid>
                <a:gridCol w="1321724"/>
                <a:gridCol w="1762298"/>
                <a:gridCol w="1762298"/>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注文</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顧客番号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定規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3" name="Shape 9"/>
          <p:cNvSpPr/>
          <p:nvPr/>
        </p:nvSpPr>
        <p:spPr>
          <a:xfrm>
            <a:off x="320040" y="7398766"/>
            <a:ext cx="4846320" cy="1280160"/>
          </a:xfrm>
          <a:prstGeom prst="roundRect">
            <a:avLst>
              <a:gd name="adj" fmla="val 8571"/>
            </a:avLst>
          </a:prstGeom>
          <a:solidFill>
            <a:srgbClr val="DCE8F8"/>
          </a:solidFill>
          <a:ln w="19050">
            <a:solidFill>
              <a:srgbClr val="2F6BC2"/>
            </a:solidFill>
            <a:prstDash val="solid"/>
          </a:ln>
        </p:spPr>
      </p:sp>
      <p:sp>
        <p:nvSpPr>
          <p:cNvPr id="14" name="Shape 10"/>
          <p:cNvSpPr/>
          <p:nvPr/>
        </p:nvSpPr>
        <p:spPr>
          <a:xfrm>
            <a:off x="457200" y="7810246"/>
            <a:ext cx="457200" cy="457200"/>
          </a:xfrm>
          <a:prstGeom prst="ellipse">
            <a:avLst/>
          </a:prstGeom>
          <a:solidFill>
            <a:srgbClr val="2F6BC2"/>
          </a:solidFill>
          <a:ln/>
        </p:spPr>
      </p:sp>
      <p:pic>
        <p:nvPicPr>
          <p:cNvPr id="15" name="Image 0" descr="preencoded.png">    </p:cNvPr>
          <p:cNvPicPr>
            <a:picLocks noChangeAspect="1"/>
          </p:cNvPicPr>
          <p:nvPr/>
        </p:nvPicPr>
        <p:blipFill>
          <a:blip r:embed="rId1"/>
          <a:stretch>
            <a:fillRect/>
          </a:stretch>
        </p:blipFill>
        <p:spPr>
          <a:xfrm>
            <a:off x="557784" y="7910830"/>
            <a:ext cx="256032" cy="256032"/>
          </a:xfrm>
          <a:prstGeom prst="rect">
            <a:avLst/>
          </a:prstGeom>
        </p:spPr>
      </p:pic>
      <p:sp>
        <p:nvSpPr>
          <p:cNvPr id="16" name="Text 11"/>
          <p:cNvSpPr txBox="1"/>
          <p:nvPr/>
        </p:nvSpPr>
        <p:spPr>
          <a:xfrm>
            <a:off x="1051560" y="7444486"/>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顧客番号1（田中さん）の注文は、101（ノート）と103（定規）。番号で結ぶと探せます。</a:t>
            </a:r>
            <a:endParaRPr lang="en-US" sz="2000" dirty="0"/>
          </a:p>
        </p:txBody>
      </p:sp>
      <p:sp>
        <p:nvSpPr>
          <p:cNvPr id="17" name="Text 1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Oracle Database</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Oracle社が提供する、企業の大きな業務システムで使われる商用のRDBMS。</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会社のサーバー室やクラウドで動く、有料のデータベース管理ソフト。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Oracle Database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E6E1F7"/>
          </a:solidFill>
          <a:ln w="25400">
            <a:solidFill>
              <a:srgbClr val="5B46B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MySQL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5" name="Shape 43"/>
          <p:cNvSpPr/>
          <p:nvPr/>
        </p:nvSpPr>
        <p:spPr>
          <a:xfrm>
            <a:off x="3566160" y="9285478"/>
            <a:ext cx="1600200" cy="676656"/>
          </a:xfrm>
          <a:prstGeom prst="roundRect">
            <a:avLst>
              <a:gd name="adj" fmla="val 16216"/>
            </a:avLst>
          </a:prstGeom>
          <a:solidFill>
            <a:srgbClr val="E6E1F7"/>
          </a:solidFill>
          <a:ln w="25400">
            <a:solidFill>
              <a:srgbClr val="5B46B8"/>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WebLogic</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headEnd type="triangle"/>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Oracle Database</a:t>
            </a:r>
            <a:endParaRPr lang="ja-JP" sz="2200" dirty="0"/>
          </a:p>
        </p:txBody>
      </p:sp>
      <p:sp>
        <p:nvSpPr>
          <p:cNvPr id="4" name="Shape 2"/>
          <p:cNvSpPr/>
          <p:nvPr/>
        </p:nvSpPr>
        <p:spPr>
          <a:xfrm>
            <a:off x="320040" y="1318514"/>
            <a:ext cx="4846320" cy="3452368"/>
          </a:xfrm>
          <a:prstGeom prst="roundRect">
            <a:avLst>
              <a:gd name="adj" fmla="val 3708"/>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読み：オラクル・Oracle Database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Oracle Database（オラクル・データベース）は、ソフトウェア会社のOracleが開発・販売しているリレーショナルデータベース管理システム（RDBMS）です。有料のライセンスで使う商用製品として知られています。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E6E1F7"/>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会社の売上・在庫・会計などを扱う基幹システム（会社の中心になる業務システム）で、長く使われてきました。大量のデータの処理や、止まると困る場面のための機能が用意されています。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E6E1F7"/>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操作にはSQLを使いますが、Oracle独自の拡張（PL/SQLというプログラム言語など）もあります。他のDBへ移すときはSQLの書き換えが必要になることがあります。AWSなどのクラウドでも使えます。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Oracle Database</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ショッピングモール全体の在庫を管理する業務用システム。市販のメーカー製品として導入し、メーカーのサポートを受けながら使う形が基本です。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大企業の売上・在庫・会計を扱う基幹システムの設計資料に、「データベースはOracle」と書かれている場面があります。企業向けのシステムで名前を目にすることがあります。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「Oracle」は会社名でもあり、DB製品名でもあります。会社にはMySQLやWebLogicなどの製品もあるので、「Oracle」と聞いたらどの製品か確認しましょう。</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Oracleが用意する学習用の環境や無料で使える版（条件は公式サイトで確認）でSQLを試し、表の作成と検索をしてみましょう。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PostgreSQL</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オープンソースで誰でも無料で使える、リレーショナルデータベース。</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サーバーや自分のPCにインストールして使う、無料のデータベース管理ソフト。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FFFFFF"/>
                </a:solidFill>
                <a:latin typeface="Yu Gothic" pitchFamily="34" charset="0"/>
                <a:ea typeface="Yu Gothic" pitchFamily="34" charset="-122"/>
                <a:cs typeface="Yu Gothic" pitchFamily="34" charset="-120"/>
              </a:rPr>
              <a:t>PostgreSQL</a:t>
            </a:r>
            <a:endParaRPr lang="en-US" sz="15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5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MySQL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1" name="Shape 39"/>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5" name="Shape 43"/>
          <p:cNvSpPr/>
          <p:nvPr/>
        </p:nvSpPr>
        <p:spPr>
          <a:xfrm>
            <a:off x="3566160" y="9285478"/>
            <a:ext cx="1600200" cy="676656"/>
          </a:xfrm>
          <a:prstGeom prst="roundRect">
            <a:avLst>
              <a:gd name="adj" fmla="val 16216"/>
            </a:avLst>
          </a:prstGeom>
          <a:solidFill>
            <a:srgbClr val="DCE8F8"/>
          </a:solidFill>
          <a:ln w="25400">
            <a:solidFill>
              <a:srgbClr val="2F6BC2"/>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PostgreSQL</a:t>
            </a:r>
            <a:endParaRPr lang="ja-JP" sz="2200" dirty="0"/>
          </a:p>
        </p:txBody>
      </p:sp>
      <p:sp>
        <p:nvSpPr>
          <p:cNvPr id="4" name="Shape 2"/>
          <p:cNvSpPr/>
          <p:nvPr/>
        </p:nvSpPr>
        <p:spPr>
          <a:xfrm>
            <a:off x="320040" y="1318514"/>
            <a:ext cx="4846320" cy="3787648"/>
          </a:xfrm>
          <a:prstGeom prst="roundRect">
            <a:avLst>
              <a:gd name="adj" fmla="val 3380"/>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読み：ポストグレスキューエル・Postgres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PostgreSQL（ポストグレスキューエル）は、設計図（ソースコード）が公開されているオープンソースのRDBMSです。特定の1社の製品ではなく、世界中の開発者のコミュニティ（PostgreSQL Global Development Group）が開発しています。</a:t>
            </a:r>
            <a:endParaRPr lang="en-US" sz="2000" dirty="0"/>
          </a:p>
        </p:txBody>
      </p:sp>
      <p:sp>
        <p:nvSpPr>
          <p:cNvPr id="7" name="Shape 5"/>
          <p:cNvSpPr/>
          <p:nvPr/>
        </p:nvSpPr>
        <p:spPr>
          <a:xfrm>
            <a:off x="320040" y="5179314"/>
            <a:ext cx="4846320" cy="2296160"/>
          </a:xfrm>
          <a:prstGeom prst="roundRect">
            <a:avLst>
              <a:gd name="adj" fmla="val 5575"/>
            </a:avLst>
          </a:prstGeom>
          <a:solidFill>
            <a:srgbClr val="E6E1F7"/>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大学の研究プロジェクトから始まった歴史があり、個人も会社も無料で使えます。標準的なSQLの多くの機能に対応し、Webサービス、業務システム、データ分析など幅広い場面で使われます。</a:t>
            </a:r>
            <a:endParaRPr lang="en-US" sz="2000" dirty="0"/>
          </a:p>
        </p:txBody>
      </p:sp>
      <p:sp>
        <p:nvSpPr>
          <p:cNvPr id="9" name="Shape 7"/>
          <p:cNvSpPr/>
          <p:nvPr/>
        </p:nvSpPr>
        <p:spPr>
          <a:xfrm>
            <a:off x="320040" y="7548626"/>
            <a:ext cx="4846320" cy="1960880"/>
          </a:xfrm>
          <a:prstGeom prst="roundRect">
            <a:avLst>
              <a:gd name="adj" fmla="val 6528"/>
            </a:avLst>
          </a:prstGeom>
          <a:solidFill>
            <a:srgbClr val="E6E1F7"/>
          </a:solidFill>
          <a:ln/>
        </p:spPr>
      </p:sp>
      <p:sp>
        <p:nvSpPr>
          <p:cNvPr id="10" name="Text 8"/>
          <p:cNvSpPr txBox="1"/>
          <p:nvPr/>
        </p:nvSpPr>
        <p:spPr>
          <a:xfrm>
            <a:off x="502920" y="764006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AWSなどのクラウドでも、運用の一部を任せられるマネージドサービスとして選べます。自分のPCにも入れられるので、SQLの学習用としても使いやすい製品です。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PostgreSQL</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みんなで作って誰でも使える、公開のレシピ集。世界中の人が改良に参加でき、レシピの設計図（ソースコード）も見ることができます。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自分のPCに入れて商品表を作り、SQLで検索する練習をしたり、Webサービスの裏側のデータ管理や、データ分析の集計に使ったりします。</a:t>
            </a:r>
            <a:endParaRPr lang="en-US" sz="2000" dirty="0"/>
          </a:p>
        </p:txBody>
      </p:sp>
      <p:sp>
        <p:nvSpPr>
          <p:cNvPr id="8" name="Shape 6"/>
          <p:cNvSpPr/>
          <p:nvPr/>
        </p:nvSpPr>
        <p:spPr>
          <a:xfrm>
            <a:off x="320040" y="5555234"/>
            <a:ext cx="4846320" cy="1935480"/>
          </a:xfrm>
          <a:prstGeom prst="roundRect">
            <a:avLst>
              <a:gd name="adj" fmla="val 6614"/>
            </a:avLst>
          </a:prstGeom>
          <a:solidFill>
            <a:srgbClr val="FBE3E0"/>
          </a:solidFill>
          <a:ln/>
        </p:spPr>
      </p:sp>
      <p:sp>
        <p:nvSpPr>
          <p:cNvPr id="9" name="Text 7"/>
          <p:cNvSpPr txBox="1"/>
          <p:nvPr/>
        </p:nvSpPr>
        <p:spPr>
          <a:xfrm>
            <a:off x="502920" y="56466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「無料」でも、運用（バックアップ、更新、障害対応）には人の手間がかかります。無料は「何もしなくてよい」ではありません。</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PostgreSQLをPCに導入し、公式の入門（チュートリアル）の通りに商品表を作ってみましょう。作成、登録、検索、複数の表の組み合わせの順に進められます。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Db2</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IBMが提供する、大きな企業システム向けの商用RDBMS。</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IBMの大型コンピューターやサーバー、クラウドの中で動くデータベース管理ソフト。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Db2</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Oracle Database</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商用の仲間</a:t>
            </a:r>
            <a:endParaRPr lang="en-US" sz="1500" dirty="0"/>
          </a:p>
        </p:txBody>
      </p:sp>
      <p:sp>
        <p:nvSpPr>
          <p:cNvPr id="41" name="Shape 39"/>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5" name="Shape 43"/>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メインフレーム</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Db2</a:t>
            </a:r>
            <a:endParaRPr lang="ja-JP" sz="2200" dirty="0"/>
          </a:p>
        </p:txBody>
      </p:sp>
      <p:sp>
        <p:nvSpPr>
          <p:cNvPr id="4" name="Shape 2"/>
          <p:cNvSpPr/>
          <p:nvPr/>
        </p:nvSpPr>
        <p:spPr>
          <a:xfrm>
            <a:off x="320040" y="1318514"/>
            <a:ext cx="4846320" cy="2781808"/>
          </a:xfrm>
          <a:prstGeom prst="roundRect">
            <a:avLst>
              <a:gd name="adj" fmla="val 4602"/>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2514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読み：ディービーツー・IBM Db2</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Db2（ディービーツー）は、IBM（アイビーエム）が提供するリレーショナルデータベース管理システム（RDBMS）です。以前は「DB2」と書かれ、いまの表記は「Db2」です。</a:t>
            </a:r>
            <a:endParaRPr lang="en-US" sz="2000" dirty="0"/>
          </a:p>
        </p:txBody>
      </p:sp>
      <p:sp>
        <p:nvSpPr>
          <p:cNvPr id="7" name="Shape 5"/>
          <p:cNvSpPr/>
          <p:nvPr/>
        </p:nvSpPr>
        <p:spPr>
          <a:xfrm>
            <a:off x="320040" y="4173474"/>
            <a:ext cx="4846320" cy="2631440"/>
          </a:xfrm>
          <a:prstGeom prst="roundRect">
            <a:avLst>
              <a:gd name="adj" fmla="val 4865"/>
            </a:avLst>
          </a:prstGeom>
          <a:solidFill>
            <a:srgbClr val="E6E1F7"/>
          </a:solidFill>
          <a:ln/>
        </p:spPr>
      </p:sp>
      <p:sp>
        <p:nvSpPr>
          <p:cNvPr id="8" name="Text 6"/>
          <p:cNvSpPr txBox="1"/>
          <p:nvPr/>
        </p:nvSpPr>
        <p:spPr>
          <a:xfrm>
            <a:off x="502920" y="426491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IBMは大型コンピューター（メインフレーム。大企業が使う大型の業務用コンピューター）も作る会社で、Db2にはメインフレームで動く版があります。ほかにLinux・UNIX・Windowsで動く版や、クラウドで使える形もあります。</a:t>
            </a:r>
            <a:endParaRPr lang="en-US" sz="2000" dirty="0"/>
          </a:p>
        </p:txBody>
      </p:sp>
      <p:sp>
        <p:nvSpPr>
          <p:cNvPr id="9" name="Shape 7"/>
          <p:cNvSpPr/>
          <p:nvPr/>
        </p:nvSpPr>
        <p:spPr>
          <a:xfrm>
            <a:off x="320040" y="6878066"/>
            <a:ext cx="4846320" cy="2296160"/>
          </a:xfrm>
          <a:prstGeom prst="roundRect">
            <a:avLst>
              <a:gd name="adj" fmla="val 5575"/>
            </a:avLst>
          </a:prstGeom>
          <a:solidFill>
            <a:srgbClr val="E6E1F7"/>
          </a:solidFill>
          <a:ln/>
        </p:spPr>
      </p:sp>
      <p:sp>
        <p:nvSpPr>
          <p:cNvPr id="10" name="Text 8"/>
          <p:cNvSpPr txBox="1"/>
          <p:nvPr/>
        </p:nvSpPr>
        <p:spPr>
          <a:xfrm>
            <a:off x="502920" y="696950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企業の基幹業務や、データの管理・分析に使われます。操作にはSQLを使います。AWSにもDb2を使えるサービスがあります。版によって機能の細部が異なるため、使う版を確認します。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Db2</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大企業の本社にある大型の台帳システム。大型コンピューターの時代から使われてきた、IBM製のデータ管理の仕組みです。</a:t>
            </a:r>
            <a:endParaRPr lang="en-US" sz="2000" dirty="0"/>
          </a:p>
        </p:txBody>
      </p:sp>
      <p:sp>
        <p:nvSpPr>
          <p:cNvPr id="6" name="Shape 4"/>
          <p:cNvSpPr/>
          <p:nvPr/>
        </p:nvSpPr>
        <p:spPr>
          <a:xfrm>
            <a:off x="320040" y="3101594"/>
            <a:ext cx="4846320" cy="1935480"/>
          </a:xfrm>
          <a:prstGeom prst="roundRect">
            <a:avLst>
              <a:gd name="adj" fmla="val 6614"/>
            </a:avLst>
          </a:prstGeom>
          <a:solidFill>
            <a:srgbClr val="DCE8F8"/>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企業の基幹システム（売上や取引の記録など）や、IBMの大型コンピューターを使い続けている会社で出てきます。AWSでもDb2を選べるサービスがあります。</a:t>
            </a:r>
            <a:endParaRPr lang="en-US" sz="2000" dirty="0"/>
          </a:p>
        </p:txBody>
      </p:sp>
      <p:sp>
        <p:nvSpPr>
          <p:cNvPr id="8" name="Shape 6"/>
          <p:cNvSpPr/>
          <p:nvPr/>
        </p:nvSpPr>
        <p:spPr>
          <a:xfrm>
            <a:off x="320040" y="5219954"/>
            <a:ext cx="4846320" cy="1935480"/>
          </a:xfrm>
          <a:prstGeom prst="roundRect">
            <a:avLst>
              <a:gd name="adj" fmla="val 6614"/>
            </a:avLst>
          </a:prstGeom>
          <a:solidFill>
            <a:srgbClr val="FBE3E0"/>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「DB2」は旧い表記、「Db2」は現在の表記です。また、メインフレーム用とLinux・UNIX・Windows用など別の版があり、同じ名前でも細部は違います。</a:t>
            </a:r>
            <a:endParaRPr lang="en-US" sz="2000" dirty="0"/>
          </a:p>
        </p:txBody>
      </p:sp>
      <p:sp>
        <p:nvSpPr>
          <p:cNvPr id="10" name="Shape 8"/>
          <p:cNvSpPr/>
          <p:nvPr/>
        </p:nvSpPr>
        <p:spPr>
          <a:xfrm>
            <a:off x="320040" y="7338314"/>
            <a:ext cx="4846320" cy="1935480"/>
          </a:xfrm>
          <a:prstGeom prst="roundRect">
            <a:avLst>
              <a:gd name="adj" fmla="val 6614"/>
            </a:avLst>
          </a:prstGeom>
          <a:solidFill>
            <a:srgbClr val="DDF1E4"/>
          </a:solidFill>
          <a:ln/>
        </p:spPr>
      </p:sp>
      <p:sp>
        <p:nvSpPr>
          <p:cNvPr id="11" name="Text 9"/>
          <p:cNvSpPr txBox="1"/>
          <p:nvPr/>
        </p:nvSpPr>
        <p:spPr>
          <a:xfrm>
            <a:off x="502920" y="74297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IBMの公式ドキュメントや学習用の環境（条件は公式サイトで確認）でSQLを試しましょう。他のRDBMSと見比べると、共通点と違いが分かります。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Microsoft SQL Server</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Microsoftが提供するRDBMS。WindowsやExcelなど同社の製品とつなげやすい。</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Windows（Linuxも可）のサーバーで動く、Microsoft製のデータベース管理ソフト。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SQL Server</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1" name="Shape 39"/>
          <p:cNvSpPr/>
          <p:nvPr/>
        </p:nvSpPr>
        <p:spPr>
          <a:xfrm>
            <a:off x="3566160" y="8499094"/>
            <a:ext cx="1600200" cy="676656"/>
          </a:xfrm>
          <a:prstGeom prst="roundRect">
            <a:avLst>
              <a:gd name="adj" fmla="val 16216"/>
            </a:avLst>
          </a:prstGeom>
          <a:solidFill>
            <a:srgbClr val="DCE8F8"/>
          </a:solidFill>
          <a:ln w="25400">
            <a:solidFill>
              <a:srgbClr val="2F6BC2"/>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5" name="Shape 43"/>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Azure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headEnd type="triangle"/>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Microsoft SQL Server</a:t>
            </a:r>
            <a:endParaRPr lang="ja-JP" sz="2200" dirty="0"/>
          </a:p>
        </p:txBody>
      </p:sp>
      <p:sp>
        <p:nvSpPr>
          <p:cNvPr id="4" name="Shape 2"/>
          <p:cNvSpPr/>
          <p:nvPr/>
        </p:nvSpPr>
        <p:spPr>
          <a:xfrm>
            <a:off x="320040" y="1318514"/>
            <a:ext cx="4846320" cy="3452368"/>
          </a:xfrm>
          <a:prstGeom prst="roundRect">
            <a:avLst>
              <a:gd name="adj" fmla="val 3708"/>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読み：エスキューエル サーバー・SQL Server</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Microsoft SQL Server（エスキューエル サーバー）は、Microsoftが提供するリレーショナルデータベース管理システム（RDBMS）です。長くWindowsのサーバーの上で使われてきた製品です。</a:t>
            </a:r>
            <a:endParaRPr lang="en-US" sz="2000" dirty="0"/>
          </a:p>
        </p:txBody>
      </p:sp>
      <p:sp>
        <p:nvSpPr>
          <p:cNvPr id="7" name="Shape 5"/>
          <p:cNvSpPr/>
          <p:nvPr/>
        </p:nvSpPr>
        <p:spPr>
          <a:xfrm>
            <a:off x="320040" y="4844034"/>
            <a:ext cx="4846320" cy="2296160"/>
          </a:xfrm>
          <a:prstGeom prst="roundRect">
            <a:avLst>
              <a:gd name="adj" fmla="val 5575"/>
            </a:avLst>
          </a:prstGeom>
          <a:solidFill>
            <a:srgbClr val="E6E1F7"/>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操作にはSQLを使い、Microsoft独自の拡張であるT-SQL（ティーエスキューエル）も使えます。SQL Server Management Studioなどの管理ツールがあり、画面から表を作ったり確認したりできます。</a:t>
            </a:r>
            <a:endParaRPr lang="en-US" sz="2000" dirty="0"/>
          </a:p>
        </p:txBody>
      </p:sp>
      <p:sp>
        <p:nvSpPr>
          <p:cNvPr id="9" name="Shape 7"/>
          <p:cNvSpPr/>
          <p:nvPr/>
        </p:nvSpPr>
        <p:spPr>
          <a:xfrm>
            <a:off x="320040" y="7213346"/>
            <a:ext cx="4846320" cy="1960880"/>
          </a:xfrm>
          <a:prstGeom prst="roundRect">
            <a:avLst>
              <a:gd name="adj" fmla="val 6528"/>
            </a:avLst>
          </a:prstGeom>
          <a:solidFill>
            <a:srgbClr val="E6E1F7"/>
          </a:solidFill>
          <a:ln/>
        </p:spPr>
      </p:sp>
      <p:sp>
        <p:nvSpPr>
          <p:cNvPr id="10" name="Text 8"/>
          <p:cNvSpPr txBox="1"/>
          <p:nvPr/>
        </p:nvSpPr>
        <p:spPr>
          <a:xfrm>
            <a:off x="502920" y="730478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いまはWindowsだけでなく、Linuxやコンテナ（Docker）でも動きます。ExcelやC#などMicrosoftの製品から接続しやすく、社内の業務システムや集計・分析に使われます。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Microsoft SQL Server</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同じメーカーの文房具でそろえた事務室の書類庫。Excelや社内ツールとつなぎ方や画面が似ていて、連携させやすい仕組みです。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Windowsサーバーで動く社内の業務システムの裏側や、ExcelからDBのデータを取り込んで集計する場面で出てきます。MicrosoftのクラウドAzureにも関連サービスがあります。</a:t>
            </a:r>
            <a:endParaRPr lang="en-US" sz="2000" dirty="0"/>
          </a:p>
        </p:txBody>
      </p:sp>
      <p:sp>
        <p:nvSpPr>
          <p:cNvPr id="8" name="Shape 6"/>
          <p:cNvSpPr/>
          <p:nvPr/>
        </p:nvSpPr>
        <p:spPr>
          <a:xfrm>
            <a:off x="320040" y="5890514"/>
            <a:ext cx="4846320" cy="1935480"/>
          </a:xfrm>
          <a:prstGeom prst="roundRect">
            <a:avLst>
              <a:gd name="adj" fmla="val 6614"/>
            </a:avLst>
          </a:prstGeom>
          <a:solidFill>
            <a:srgbClr val="FBE3E0"/>
          </a:solidFill>
          <a:ln/>
        </p:spPr>
      </p:sp>
      <p:sp>
        <p:nvSpPr>
          <p:cNvPr id="9" name="Text 7"/>
          <p:cNvSpPr txBox="1"/>
          <p:nvPr/>
        </p:nvSpPr>
        <p:spPr>
          <a:xfrm>
            <a:off x="502920" y="5981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「SQL」は言語の名前、「SQL Server」はMicrosoftの製品名です。MySQLとは名前が似ていますが、作っている会社も違う別の製品です。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学習用の無料版（条件は公式サイトで確認）と管理ツールをPCに入れ、表を作ってExcelから接続してみましょう。データの流れが体験できます。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MySQL</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Webサイトの裏側でよく使われる、オープンソースのRDBMS。</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Webサーバーやクラウドの裏側で動く、無料で使えるデータベース管理ソフト。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MySQL</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PostgreSQL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1" name="Shape 39"/>
          <p:cNvSpPr/>
          <p:nvPr/>
        </p:nvSpPr>
        <p:spPr>
          <a:xfrm>
            <a:off x="3566160" y="8499094"/>
            <a:ext cx="1600200" cy="676656"/>
          </a:xfrm>
          <a:prstGeom prst="roundRect">
            <a:avLst>
              <a:gd name="adj" fmla="val 16216"/>
            </a:avLst>
          </a:prstGeom>
          <a:solidFill>
            <a:srgbClr val="E6E1F7"/>
          </a:solidFill>
          <a:ln w="25400">
            <a:solidFill>
              <a:srgbClr val="5B46B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Oracle Database</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5" name="Shape 43"/>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MySQL</a:t>
            </a:r>
            <a:endParaRPr lang="ja-JP" sz="2200" dirty="0"/>
          </a:p>
        </p:txBody>
      </p:sp>
      <p:sp>
        <p:nvSpPr>
          <p:cNvPr id="4" name="Shape 2"/>
          <p:cNvSpPr/>
          <p:nvPr/>
        </p:nvSpPr>
        <p:spPr>
          <a:xfrm>
            <a:off x="320040" y="1318514"/>
            <a:ext cx="4846320" cy="3117088"/>
          </a:xfrm>
          <a:prstGeom prst="roundRect">
            <a:avLst>
              <a:gd name="adj" fmla="val 4107"/>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読み：マイエスキューエル</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MySQL（マイエスキューエル）は、無料で使えるオープンソースのリレーショナルデータベース管理システム（RDBMS）です。現在はOracleが提供していて、無料の版と商用ライセンスの形があります。</a:t>
            </a:r>
            <a:endParaRPr lang="en-US" sz="2000" dirty="0"/>
          </a:p>
        </p:txBody>
      </p:sp>
      <p:sp>
        <p:nvSpPr>
          <p:cNvPr id="7" name="Shape 5"/>
          <p:cNvSpPr/>
          <p:nvPr/>
        </p:nvSpPr>
        <p:spPr>
          <a:xfrm>
            <a:off x="320040" y="4508754"/>
            <a:ext cx="4846320" cy="1960880"/>
          </a:xfrm>
          <a:prstGeom prst="roundRect">
            <a:avLst>
              <a:gd name="adj" fmla="val 6528"/>
            </a:avLst>
          </a:prstGeom>
          <a:solidFill>
            <a:srgbClr val="E6E1F7"/>
          </a:solidFill>
          <a:ln/>
        </p:spPr>
      </p:sp>
      <p:sp>
        <p:nvSpPr>
          <p:cNvPr id="8" name="Text 6"/>
          <p:cNvSpPr txBox="1"/>
          <p:nvPr/>
        </p:nvSpPr>
        <p:spPr>
          <a:xfrm>
            <a:off x="502920" y="4600194"/>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とくにWebサイトの裏側で多く使われます。ブログを作るWordPressは、データの保存先としてMySQL（またはMySQLから分かれてできた仲間のMariaDB）を使う仕組みです。</a:t>
            </a:r>
            <a:endParaRPr lang="en-US" sz="2000" dirty="0"/>
          </a:p>
        </p:txBody>
      </p:sp>
      <p:sp>
        <p:nvSpPr>
          <p:cNvPr id="9" name="Shape 7"/>
          <p:cNvSpPr/>
          <p:nvPr/>
        </p:nvSpPr>
        <p:spPr>
          <a:xfrm>
            <a:off x="320040" y="6542786"/>
            <a:ext cx="4846320" cy="2296160"/>
          </a:xfrm>
          <a:prstGeom prst="roundRect">
            <a:avLst>
              <a:gd name="adj" fmla="val 5575"/>
            </a:avLst>
          </a:prstGeom>
          <a:solidFill>
            <a:srgbClr val="E6E1F7"/>
          </a:solidFill>
          <a:ln/>
        </p:spPr>
      </p:sp>
      <p:sp>
        <p:nvSpPr>
          <p:cNvPr id="10" name="Text 8"/>
          <p:cNvSpPr txBox="1"/>
          <p:nvPr/>
        </p:nvSpPr>
        <p:spPr>
          <a:xfrm>
            <a:off x="502920" y="663422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操作にはSQLを使います。WebアプリのPHPなどのプログラムから接続して使う例が数多くあります。AWSなどのクラウドでも、運用の一部を任せられるマネージドサービスとして選べます。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MySQL</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地域の公民館にある、誰でも使える書棚。導入しやすく、ブログから会員サイトまで、いろいろなWebサイトの裏側にあります。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WordPressでブログを作るとき、設定の途中で「データベース名」「ユーザー名」「パスワード」を入力する画面が出ます。これがMySQLなどへの接続設定です。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「MySQL」と「SQL」は別です。SQLは言語、MySQLは製品名です。MariaDBはMySQLから分かれてできた別の製品で、使い方が似ているだけで同じものではありません。</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MySQLをPCに入れ、SQLで「ブログ記事表」を作ってみましょう。余裕があれば、WordPressを動かして、どんな表が自動で作られるか見てみます。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AWSのデータベース</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AWS（Amazonのクラウド）で借りて使える、データベースサービスの総称。</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4" name="Shape 22"/>
          <p:cNvSpPr/>
          <p:nvPr/>
        </p:nvSpPr>
        <p:spPr>
          <a:xfrm>
            <a:off x="320040" y="4509262"/>
            <a:ext cx="4846320" cy="1264920"/>
          </a:xfrm>
          <a:prstGeom prst="roundRect">
            <a:avLst>
              <a:gd name="adj" fmla="val 10120"/>
            </a:avLst>
          </a:prstGeom>
          <a:solidFill>
            <a:srgbClr val="DFF1FB"/>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インターネットの向こう側（AWSのデータセンター）で動く、借りて使うデータベース。</a:t>
            </a:r>
            <a:endParaRPr lang="en-US" sz="2000" dirty="0"/>
          </a:p>
        </p:txBody>
      </p:sp>
      <p:sp>
        <p:nvSpPr>
          <p:cNvPr id="26" name="Shape 24"/>
          <p:cNvSpPr/>
          <p:nvPr/>
        </p:nvSpPr>
        <p:spPr>
          <a:xfrm>
            <a:off x="320040" y="5957062"/>
            <a:ext cx="4846320" cy="402336"/>
          </a:xfrm>
          <a:prstGeom prst="roundRect">
            <a:avLst>
              <a:gd name="adj" fmla="val 22727"/>
            </a:avLst>
          </a:prstGeom>
          <a:solidFill>
            <a:srgbClr val="0369A1"/>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0369A1"/>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AWSのDB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8"/>
          <p:cNvSpPr/>
          <p:nvPr/>
        </p:nvSpPr>
        <p:spPr>
          <a:xfrm>
            <a:off x="3566160" y="6414262"/>
            <a:ext cx="1600200" cy="676656"/>
          </a:xfrm>
          <a:prstGeom prst="roundRect">
            <a:avLst>
              <a:gd name="adj" fmla="val 16216"/>
            </a:avLst>
          </a:prstGeom>
          <a:solidFill>
            <a:srgbClr val="DFF1FB"/>
          </a:solidFill>
          <a:ln w="25400">
            <a:solidFill>
              <a:srgbClr val="0369A1"/>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2" name="Shape 30"/>
          <p:cNvSpPr/>
          <p:nvPr/>
        </p:nvSpPr>
        <p:spPr>
          <a:xfrm flipH="1">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4" name="Shape 32"/>
          <p:cNvSpPr/>
          <p:nvPr/>
        </p:nvSpPr>
        <p:spPr>
          <a:xfrm>
            <a:off x="3566160" y="7200646"/>
            <a:ext cx="1600200" cy="676656"/>
          </a:xfrm>
          <a:prstGeom prst="roundRect">
            <a:avLst>
              <a:gd name="adj" fmla="val 16216"/>
            </a:avLst>
          </a:prstGeom>
          <a:solidFill>
            <a:srgbClr val="DFF1FB"/>
          </a:solidFill>
          <a:ln w="25400">
            <a:solidFill>
              <a:srgbClr val="0369A1"/>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マネージドサービス</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8" name="Shape 36"/>
          <p:cNvSpPr/>
          <p:nvPr/>
        </p:nvSpPr>
        <p:spPr>
          <a:xfrm>
            <a:off x="3566160" y="7987030"/>
            <a:ext cx="1600200" cy="676656"/>
          </a:xfrm>
          <a:prstGeom prst="roundRect">
            <a:avLst>
              <a:gd name="adj" fmla="val 16216"/>
            </a:avLst>
          </a:prstGeom>
          <a:solidFill>
            <a:srgbClr val="E2E8F0"/>
          </a:solidFill>
          <a:ln w="25400">
            <a:solidFill>
              <a:srgbClr val="475569"/>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0" name="Shape 38"/>
          <p:cNvSpPr/>
          <p:nvPr/>
        </p:nvSpPr>
        <p:spPr>
          <a:xfrm>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代わりになる</a:t>
            </a:r>
            <a:endParaRPr lang="en-US" sz="1500" dirty="0"/>
          </a:p>
        </p:txBody>
      </p:sp>
      <p:sp>
        <p:nvSpPr>
          <p:cNvPr id="42" name="Shape 40"/>
          <p:cNvSpPr/>
          <p:nvPr/>
        </p:nvSpPr>
        <p:spPr>
          <a:xfrm>
            <a:off x="3566160" y="8773414"/>
            <a:ext cx="1600200" cy="676656"/>
          </a:xfrm>
          <a:prstGeom prst="roundRect">
            <a:avLst>
              <a:gd name="adj" fmla="val 16216"/>
            </a:avLst>
          </a:prstGeom>
          <a:solidFill>
            <a:srgbClr val="E6E1F7"/>
          </a:solidFill>
          <a:ln w="25400">
            <a:solidFill>
              <a:srgbClr val="5B46B8"/>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MySQL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4" name="Shape 42"/>
          <p:cNvSpPr/>
          <p:nvPr/>
        </p:nvSpPr>
        <p:spPr>
          <a:xfrm flipH="1">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6" name="Shape 44"/>
          <p:cNvSpPr/>
          <p:nvPr/>
        </p:nvSpPr>
        <p:spPr>
          <a:xfrm>
            <a:off x="3566160" y="9559798"/>
            <a:ext cx="1600200" cy="676656"/>
          </a:xfrm>
          <a:prstGeom prst="roundRect">
            <a:avLst>
              <a:gd name="adj" fmla="val 16216"/>
            </a:avLst>
          </a:prstGeom>
          <a:solidFill>
            <a:srgbClr val="E6E1F7"/>
          </a:solidFill>
          <a:ln w="25400">
            <a:solidFill>
              <a:srgbClr val="5B46B8"/>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PostgreSQL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8" name="Shape 46"/>
          <p:cNvSpPr/>
          <p:nvPr/>
        </p:nvSpPr>
        <p:spPr>
          <a:xfrm flipH="1">
            <a:off x="1719072" y="9898126"/>
            <a:ext cx="1819656" cy="0"/>
          </a:xfrm>
          <a:prstGeom prst="line">
            <a:avLst/>
          </a:prstGeom>
          <a:noFill/>
          <a:ln w="31750">
            <a:solidFill>
              <a:srgbClr val="1B2A3A"/>
            </a:solidFill>
            <a:prstDash val="solid"/>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AWSのデータベース</a:t>
            </a:r>
            <a:endParaRPr lang="ja-JP" sz="2200" dirty="0"/>
          </a:p>
        </p:txBody>
      </p:sp>
      <p:sp>
        <p:nvSpPr>
          <p:cNvPr id="4" name="Shape 2"/>
          <p:cNvSpPr/>
          <p:nvPr/>
        </p:nvSpPr>
        <p:spPr>
          <a:xfrm>
            <a:off x="320040" y="1318514"/>
            <a:ext cx="4846320" cy="3452368"/>
          </a:xfrm>
          <a:prstGeom prst="roundRect">
            <a:avLst>
              <a:gd name="adj" fmla="val 3708"/>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読み：AWS Database Services・AWSのデータベースサービス</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「AWSのデータベース」は1つの製品名ではなく、AWS（Amazon Web Services、Amazonのクラウド）が提供するデータベースサービスの分類名です。目的ごとに、別々の名前のサービスがあります。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DFF1FB"/>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代表例は、Amazon RDS（OracleやMySQLなど既存のDBMSを運用つきで使える）、Amazon Aurora（MySQL・PostgreSQLと互換性があるAWSのDB）、Amazon DynamoDB（リレーショナルではないNoSQLのDB）です。</a:t>
            </a:r>
            <a:endParaRPr lang="en-US" sz="2000" dirty="0"/>
          </a:p>
        </p:txBody>
      </p:sp>
      <p:sp>
        <p:nvSpPr>
          <p:cNvPr id="9" name="Shape 7"/>
          <p:cNvSpPr/>
          <p:nvPr/>
        </p:nvSpPr>
        <p:spPr>
          <a:xfrm>
            <a:off x="320040" y="7548626"/>
            <a:ext cx="4846320" cy="2296160"/>
          </a:xfrm>
          <a:prstGeom prst="roundRect">
            <a:avLst>
              <a:gd name="adj" fmla="val 5575"/>
            </a:avLst>
          </a:prstGeom>
          <a:solidFill>
            <a:srgbClr val="DFF1FB"/>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どれもマネージドサービスで、機械の用意、DBMSの更新、バックアップなどの一部をAWSが担当します。利用者はデータの設計や使い方に集中できます。担当範囲はサービスごとに違います。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AWSのデータベース</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レンタルの業務用キッチン。調理（データの出し入れ）は自分でしますが、設備の点検や修理は貸す側（AWS）の仕事です。</a:t>
            </a:r>
            <a:endParaRPr lang="en-US" sz="2000" dirty="0"/>
          </a:p>
        </p:txBody>
      </p:sp>
      <p:sp>
        <p:nvSpPr>
          <p:cNvPr id="6" name="Shape 4"/>
          <p:cNvSpPr/>
          <p:nvPr/>
        </p:nvSpPr>
        <p:spPr>
          <a:xfrm>
            <a:off x="320040" y="3101594"/>
            <a:ext cx="4846320" cy="1935480"/>
          </a:xfrm>
          <a:prstGeom prst="roundRect">
            <a:avLst>
              <a:gd name="adj" fmla="val 6614"/>
            </a:avLst>
          </a:prstGeom>
          <a:solidFill>
            <a:srgbClr val="DCE8F8"/>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Webアプリをクラウドで公開するとき、自分でDBサーバーを用意せず、RDSでMySQLを借りて使う形がよく見られます。学習用のアカウントで体験できます。</a:t>
            </a:r>
            <a:endParaRPr lang="en-US" sz="2000" dirty="0"/>
          </a:p>
        </p:txBody>
      </p:sp>
      <p:sp>
        <p:nvSpPr>
          <p:cNvPr id="8" name="Shape 6"/>
          <p:cNvSpPr/>
          <p:nvPr/>
        </p:nvSpPr>
        <p:spPr>
          <a:xfrm>
            <a:off x="320040" y="5219954"/>
            <a:ext cx="4846320" cy="1935480"/>
          </a:xfrm>
          <a:prstGeom prst="roundRect">
            <a:avLst>
              <a:gd name="adj" fmla="val 6614"/>
            </a:avLst>
          </a:prstGeom>
          <a:solidFill>
            <a:srgbClr val="FBE3E0"/>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RDSはリレーショナル、DynamoDBはNoSQLと、仕組みが違います。「AWSのDB」とだけ聞いたら、実際のサービス名を確認しましょう。</a:t>
            </a:r>
            <a:endParaRPr lang="en-US" sz="2000" dirty="0"/>
          </a:p>
        </p:txBody>
      </p:sp>
      <p:sp>
        <p:nvSpPr>
          <p:cNvPr id="10" name="Shape 8"/>
          <p:cNvSpPr/>
          <p:nvPr/>
        </p:nvSpPr>
        <p:spPr>
          <a:xfrm>
            <a:off x="320040" y="7338314"/>
            <a:ext cx="4846320" cy="1935480"/>
          </a:xfrm>
          <a:prstGeom prst="roundRect">
            <a:avLst>
              <a:gd name="adj" fmla="val 6614"/>
            </a:avLst>
          </a:prstGeom>
          <a:solidFill>
            <a:srgbClr val="DDF1E4"/>
          </a:solidFill>
          <a:ln/>
        </p:spPr>
      </p:sp>
      <p:sp>
        <p:nvSpPr>
          <p:cNvPr id="11" name="Text 9"/>
          <p:cNvSpPr txBox="1"/>
          <p:nvPr/>
        </p:nvSpPr>
        <p:spPr>
          <a:xfrm>
            <a:off x="502920" y="74297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AWSの基礎教材で、RDS・Aurora・DynamoDBの違いを表にまとめましょう。実際に作るなら、料金がかかるため、終わったら必ず削除します。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MongoDB</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表ではなく「ドキュメント」の形で、1件分の情報をまとめて保存するデータベース。</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Webアプリの裏側で動く、表を使わない（NoSQL）データベース管理ソフト。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MongoDB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JSON</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似た形で保存</a:t>
            </a:r>
            <a:endParaRPr lang="en-US" sz="1500" dirty="0"/>
          </a:p>
        </p:txBody>
      </p:sp>
      <p:sp>
        <p:nvSpPr>
          <p:cNvPr id="41" name="Shape 39"/>
          <p:cNvSpPr/>
          <p:nvPr/>
        </p:nvSpPr>
        <p:spPr>
          <a:xfrm>
            <a:off x="3566160" y="8499094"/>
            <a:ext cx="1600200" cy="676656"/>
          </a:xfrm>
          <a:prstGeom prst="roundRect">
            <a:avLst>
              <a:gd name="adj" fmla="val 16216"/>
            </a:avLst>
          </a:prstGeom>
          <a:solidFill>
            <a:srgbClr val="E6E1F7"/>
          </a:solidFill>
          <a:ln w="25400">
            <a:solidFill>
              <a:srgbClr val="5B46B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5" name="Shape 43"/>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保存する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MongoDB</a:t>
            </a:r>
            <a:endParaRPr lang="ja-JP" sz="2200" dirty="0"/>
          </a:p>
        </p:txBody>
      </p:sp>
      <p:sp>
        <p:nvSpPr>
          <p:cNvPr id="4" name="Shape 2"/>
          <p:cNvSpPr/>
          <p:nvPr/>
        </p:nvSpPr>
        <p:spPr>
          <a:xfrm>
            <a:off x="320040" y="1318514"/>
            <a:ext cx="4846320" cy="3452368"/>
          </a:xfrm>
          <a:prstGeom prst="roundRect">
            <a:avLst>
              <a:gd name="adj" fmla="val 3708"/>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読み：モンゴディービー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MongoDB（モンゴディービー）は、データを「ドキュメント」の形で保存するデータベースです。ドキュメントは、項目名と値を並べるJSON（ジェイソン）に近い形式で、1件分の情報を1つにまとめて入れます。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E6E1F7"/>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同じ種類のドキュメントは「コレクション」という入れ物にまとめます。RDBの表と違って、1件ごとに項目が違ってもよく、あとから項目を足せます。商品ごとに「サイズ」「容量」など別々の項目を持たせられ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E6E1F7"/>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表を中心としないNoSQL（エヌオーエスキューエル）と呼ばれる仲間のデータベースです。SQLではなく、MongoDB独自の方法で検索します。アプリで扱うデータの形のまま保存しやすいのが特徴です。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MongoDB</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項目つきの1枚のカード。商品1つにつき1枚のカードを作り、カードごとに書く項目が違っても、同じカード箱（コレクション）に入れられます。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商品ごとに項目が違う通販のカタログや、ユーザーごとに設定が違うWebアプリなど、データの形が多様でよく変わる場面で使われます。</a:t>
            </a:r>
            <a:endParaRPr lang="en-US" sz="2000" dirty="0"/>
          </a:p>
        </p:txBody>
      </p:sp>
      <p:sp>
        <p:nvSpPr>
          <p:cNvPr id="8" name="Shape 6"/>
          <p:cNvSpPr/>
          <p:nvPr/>
        </p:nvSpPr>
        <p:spPr>
          <a:xfrm>
            <a:off x="320040" y="5555234"/>
            <a:ext cx="4846320" cy="1935480"/>
          </a:xfrm>
          <a:prstGeom prst="roundRect">
            <a:avLst>
              <a:gd name="adj" fmla="val 6614"/>
            </a:avLst>
          </a:prstGeom>
          <a:solidFill>
            <a:srgbClr val="FBE3E0"/>
          </a:solidFill>
          <a:ln/>
        </p:spPr>
      </p:sp>
      <p:sp>
        <p:nvSpPr>
          <p:cNvPr id="9" name="Text 7"/>
          <p:cNvSpPr txBox="1"/>
          <p:nvPr/>
        </p:nvSpPr>
        <p:spPr>
          <a:xfrm>
            <a:off x="502920" y="56466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MongoDBは「RDBより新しいから優れている」わけではなく、向き不向きがあります。表どうしの関係が大事なデータは、RDBが向くことが多いです。</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商品1つ分を「名前・価格・サイズ」などの項目つきカードとして登録し、条件で検索・更新してみましょう。同じデータをRDBの表で作ると違いが分かります。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関係図：データベース製品の仲間わけ</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製品名がたくさんありますが、「表で管理する方式（RDB）」かどうかと、提供のしかたで整理できます。</a:t>
            </a:r>
            <a:endParaRPr lang="en-US" sz="1800" dirty="0"/>
          </a:p>
        </p:txBody>
      </p:sp>
      <p:sp>
        <p:nvSpPr>
          <p:cNvPr id="6" name="Shape 4"/>
          <p:cNvSpPr/>
          <p:nvPr/>
        </p:nvSpPr>
        <p:spPr>
          <a:xfrm>
            <a:off x="320040" y="4144772"/>
            <a:ext cx="4846320" cy="3520440"/>
          </a:xfrm>
          <a:prstGeom prst="roundRect">
            <a:avLst>
              <a:gd name="adj" fmla="val 3636"/>
            </a:avLst>
          </a:prstGeom>
          <a:solidFill>
            <a:srgbClr val="F7F9FB"/>
          </a:solidFill>
          <a:ln w="19050">
            <a:solidFill>
              <a:srgbClr val="5B46B8"/>
            </a:solidFill>
            <a:prstDash val="dash"/>
          </a:ln>
        </p:spPr>
      </p:sp>
      <p:sp>
        <p:nvSpPr>
          <p:cNvPr id="7" name="Text 5"/>
          <p:cNvSpPr txBox="1"/>
          <p:nvPr/>
        </p:nvSpPr>
        <p:spPr>
          <a:xfrm>
            <a:off x="457200" y="4208780"/>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5B46B8"/>
                </a:solidFill>
                <a:latin typeface="Yu Gothic" pitchFamily="34" charset="0"/>
                <a:ea typeface="Yu Gothic" pitchFamily="34" charset="-122"/>
                <a:cs typeface="Yu Gothic" pitchFamily="34" charset="-120"/>
              </a:rPr>
              <a:t>RDB：表で管理する方式</a:t>
            </a:r>
            <a:endParaRPr lang="en-US" sz="1600" dirty="0"/>
          </a:p>
        </p:txBody>
      </p:sp>
      <p:sp>
        <p:nvSpPr>
          <p:cNvPr id="8" name="Shape 6"/>
          <p:cNvSpPr/>
          <p:nvPr/>
        </p:nvSpPr>
        <p:spPr>
          <a:xfrm>
            <a:off x="457200" y="4647692"/>
            <a:ext cx="2194560" cy="2880360"/>
          </a:xfrm>
          <a:prstGeom prst="roundRect">
            <a:avLst>
              <a:gd name="adj" fmla="val 5833"/>
            </a:avLst>
          </a:prstGeom>
          <a:solidFill>
            <a:srgbClr val="F7F9FB"/>
          </a:solidFill>
          <a:ln w="19050">
            <a:solidFill>
              <a:srgbClr val="475569"/>
            </a:solidFill>
            <a:prstDash val="dash"/>
          </a:ln>
        </p:spPr>
      </p:sp>
      <p:sp>
        <p:nvSpPr>
          <p:cNvPr id="9" name="Text 7"/>
          <p:cNvSpPr txBox="1"/>
          <p:nvPr/>
        </p:nvSpPr>
        <p:spPr>
          <a:xfrm>
            <a:off x="594360" y="4711700"/>
            <a:ext cx="192024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商用</a:t>
            </a:r>
            <a:endParaRPr lang="en-US" sz="1600" dirty="0"/>
          </a:p>
        </p:txBody>
      </p:sp>
      <p:sp>
        <p:nvSpPr>
          <p:cNvPr id="10" name="Shape 8"/>
          <p:cNvSpPr/>
          <p:nvPr/>
        </p:nvSpPr>
        <p:spPr>
          <a:xfrm>
            <a:off x="2834640" y="4647692"/>
            <a:ext cx="2194560" cy="2880360"/>
          </a:xfrm>
          <a:prstGeom prst="roundRect">
            <a:avLst>
              <a:gd name="adj" fmla="val 5833"/>
            </a:avLst>
          </a:prstGeom>
          <a:solidFill>
            <a:srgbClr val="F7F9FB"/>
          </a:solidFill>
          <a:ln w="19050">
            <a:solidFill>
              <a:srgbClr val="237A48"/>
            </a:solidFill>
            <a:prstDash val="dash"/>
          </a:ln>
        </p:spPr>
      </p:sp>
      <p:sp>
        <p:nvSpPr>
          <p:cNvPr id="11" name="Text 9"/>
          <p:cNvSpPr txBox="1"/>
          <p:nvPr/>
        </p:nvSpPr>
        <p:spPr>
          <a:xfrm>
            <a:off x="2971800" y="4711700"/>
            <a:ext cx="192024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237A48"/>
                </a:solidFill>
                <a:latin typeface="Yu Gothic" pitchFamily="34" charset="0"/>
                <a:ea typeface="Yu Gothic" pitchFamily="34" charset="-122"/>
                <a:cs typeface="Yu Gothic" pitchFamily="34" charset="-120"/>
              </a:rPr>
              <a:t>オープンソース</a:t>
            </a:r>
            <a:endParaRPr lang="en-US" sz="1600" dirty="0"/>
          </a:p>
        </p:txBody>
      </p:sp>
      <p:sp>
        <p:nvSpPr>
          <p:cNvPr id="12" name="Shape 10"/>
          <p:cNvSpPr/>
          <p:nvPr/>
        </p:nvSpPr>
        <p:spPr>
          <a:xfrm>
            <a:off x="320040" y="7848092"/>
            <a:ext cx="4846320" cy="1234440"/>
          </a:xfrm>
          <a:prstGeom prst="roundRect">
            <a:avLst>
              <a:gd name="adj" fmla="val 10370"/>
            </a:avLst>
          </a:prstGeom>
          <a:solidFill>
            <a:srgbClr val="F7F9FB"/>
          </a:solidFill>
          <a:ln w="19050">
            <a:solidFill>
              <a:srgbClr val="237A48"/>
            </a:solidFill>
            <a:prstDash val="dash"/>
          </a:ln>
        </p:spPr>
      </p:sp>
      <p:sp>
        <p:nvSpPr>
          <p:cNvPr id="13" name="Text 11"/>
          <p:cNvSpPr txBox="1"/>
          <p:nvPr/>
        </p:nvSpPr>
        <p:spPr>
          <a:xfrm>
            <a:off x="457200" y="7912100"/>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237A48"/>
                </a:solidFill>
                <a:latin typeface="Yu Gothic" pitchFamily="34" charset="0"/>
                <a:ea typeface="Yu Gothic" pitchFamily="34" charset="-122"/>
                <a:cs typeface="Yu Gothic" pitchFamily="34" charset="-120"/>
              </a:rPr>
              <a:t>表以外の方式</a:t>
            </a:r>
            <a:endParaRPr lang="en-US" sz="1600" dirty="0"/>
          </a:p>
        </p:txBody>
      </p:sp>
      <p:sp>
        <p:nvSpPr>
          <p:cNvPr id="14" name="Shape 12"/>
          <p:cNvSpPr/>
          <p:nvPr/>
        </p:nvSpPr>
        <p:spPr>
          <a:xfrm>
            <a:off x="320040" y="9265412"/>
            <a:ext cx="4846320" cy="914400"/>
          </a:xfrm>
          <a:prstGeom prst="roundRect">
            <a:avLst>
              <a:gd name="adj" fmla="val 14000"/>
            </a:avLst>
          </a:prstGeom>
          <a:solidFill>
            <a:srgbClr val="F7F9FB"/>
          </a:solidFill>
          <a:ln w="19050">
            <a:solidFill>
              <a:srgbClr val="0369A1"/>
            </a:solidFill>
            <a:prstDash val="dash"/>
          </a:ln>
        </p:spPr>
      </p:sp>
      <p:sp>
        <p:nvSpPr>
          <p:cNvPr id="15" name="Text 13"/>
          <p:cNvSpPr txBox="1"/>
          <p:nvPr/>
        </p:nvSpPr>
        <p:spPr>
          <a:xfrm>
            <a:off x="457200" y="9329420"/>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0369A1"/>
                </a:solidFill>
                <a:latin typeface="Yu Gothic" pitchFamily="34" charset="0"/>
                <a:ea typeface="Yu Gothic" pitchFamily="34" charset="-122"/>
                <a:cs typeface="Yu Gothic" pitchFamily="34" charset="-120"/>
              </a:rPr>
              <a:t>クラウドで提供</a:t>
            </a:r>
            <a:endParaRPr lang="en-US" sz="1600" dirty="0"/>
          </a:p>
        </p:txBody>
      </p:sp>
      <p:sp>
        <p:nvSpPr>
          <p:cNvPr id="16" name="Shape 14"/>
          <p:cNvSpPr/>
          <p:nvPr/>
        </p:nvSpPr>
        <p:spPr>
          <a:xfrm>
            <a:off x="548640" y="5150612"/>
            <a:ext cx="2011680" cy="685800"/>
          </a:xfrm>
          <a:prstGeom prst="roundRect">
            <a:avLst>
              <a:gd name="adj" fmla="val 16000"/>
            </a:avLst>
          </a:prstGeom>
          <a:solidFill>
            <a:srgbClr val="E6E1F7"/>
          </a:solidFill>
          <a:ln w="25400">
            <a:solidFill>
              <a:srgbClr val="5B46B8"/>
            </a:solidFill>
            <a:prstDash val="solid"/>
          </a:ln>
        </p:spPr>
      </p:sp>
      <p:sp>
        <p:nvSpPr>
          <p:cNvPr id="17" name="Text 15"/>
          <p:cNvSpPr txBox="1"/>
          <p:nvPr/>
        </p:nvSpPr>
        <p:spPr>
          <a:xfrm>
            <a:off x="640080" y="5150612"/>
            <a:ext cx="182880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Oracle Database</a:t>
            </a:r>
            <a:endParaRPr lang="en-US" sz="1600" dirty="0"/>
          </a:p>
        </p:txBody>
      </p:sp>
      <p:sp>
        <p:nvSpPr>
          <p:cNvPr id="18" name="Shape 16"/>
          <p:cNvSpPr/>
          <p:nvPr/>
        </p:nvSpPr>
        <p:spPr>
          <a:xfrm>
            <a:off x="548640" y="5927852"/>
            <a:ext cx="2011680" cy="685800"/>
          </a:xfrm>
          <a:prstGeom prst="roundRect">
            <a:avLst>
              <a:gd name="adj" fmla="val 16000"/>
            </a:avLst>
          </a:prstGeom>
          <a:solidFill>
            <a:srgbClr val="E6E1F7"/>
          </a:solidFill>
          <a:ln w="25400">
            <a:solidFill>
              <a:srgbClr val="5B46B8"/>
            </a:solidFill>
            <a:prstDash val="solid"/>
          </a:ln>
        </p:spPr>
      </p:sp>
      <p:sp>
        <p:nvSpPr>
          <p:cNvPr id="19" name="Text 17"/>
          <p:cNvSpPr txBox="1"/>
          <p:nvPr/>
        </p:nvSpPr>
        <p:spPr>
          <a:xfrm>
            <a:off x="640080" y="5927852"/>
            <a:ext cx="182880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Db2</a:t>
            </a:r>
            <a:endParaRPr lang="en-US" sz="1600" dirty="0"/>
          </a:p>
        </p:txBody>
      </p:sp>
      <p:sp>
        <p:nvSpPr>
          <p:cNvPr id="20" name="Shape 18"/>
          <p:cNvSpPr/>
          <p:nvPr/>
        </p:nvSpPr>
        <p:spPr>
          <a:xfrm>
            <a:off x="548640" y="6705092"/>
            <a:ext cx="2011680" cy="685800"/>
          </a:xfrm>
          <a:prstGeom prst="roundRect">
            <a:avLst>
              <a:gd name="adj" fmla="val 16000"/>
            </a:avLst>
          </a:prstGeom>
          <a:solidFill>
            <a:srgbClr val="E6E1F7"/>
          </a:solidFill>
          <a:ln w="25400">
            <a:solidFill>
              <a:srgbClr val="5B46B8"/>
            </a:solidFill>
            <a:prstDash val="solid"/>
          </a:ln>
        </p:spPr>
      </p:sp>
      <p:sp>
        <p:nvSpPr>
          <p:cNvPr id="21" name="Text 19"/>
          <p:cNvSpPr txBox="1"/>
          <p:nvPr/>
        </p:nvSpPr>
        <p:spPr>
          <a:xfrm>
            <a:off x="640080" y="6705092"/>
            <a:ext cx="182880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 Server</a:t>
            </a:r>
            <a:endParaRPr lang="en-US" sz="1600" dirty="0"/>
          </a:p>
        </p:txBody>
      </p:sp>
      <p:sp>
        <p:nvSpPr>
          <p:cNvPr id="22" name="Shape 20"/>
          <p:cNvSpPr/>
          <p:nvPr/>
        </p:nvSpPr>
        <p:spPr>
          <a:xfrm>
            <a:off x="2926080" y="5150612"/>
            <a:ext cx="2011680" cy="685800"/>
          </a:xfrm>
          <a:prstGeom prst="roundRect">
            <a:avLst>
              <a:gd name="adj" fmla="val 16000"/>
            </a:avLst>
          </a:prstGeom>
          <a:solidFill>
            <a:srgbClr val="DDF1E4"/>
          </a:solidFill>
          <a:ln w="25400">
            <a:solidFill>
              <a:srgbClr val="237A48"/>
            </a:solidFill>
            <a:prstDash val="solid"/>
          </a:ln>
        </p:spPr>
      </p:sp>
      <p:sp>
        <p:nvSpPr>
          <p:cNvPr id="23" name="Text 21"/>
          <p:cNvSpPr txBox="1"/>
          <p:nvPr/>
        </p:nvSpPr>
        <p:spPr>
          <a:xfrm>
            <a:off x="3017520" y="5150612"/>
            <a:ext cx="182880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PostgreSQL</a:t>
            </a:r>
            <a:endParaRPr lang="en-US" sz="1600" dirty="0"/>
          </a:p>
        </p:txBody>
      </p:sp>
      <p:sp>
        <p:nvSpPr>
          <p:cNvPr id="24" name="Shape 22"/>
          <p:cNvSpPr/>
          <p:nvPr/>
        </p:nvSpPr>
        <p:spPr>
          <a:xfrm>
            <a:off x="2926080" y="5927852"/>
            <a:ext cx="2011680" cy="685800"/>
          </a:xfrm>
          <a:prstGeom prst="roundRect">
            <a:avLst>
              <a:gd name="adj" fmla="val 16000"/>
            </a:avLst>
          </a:prstGeom>
          <a:solidFill>
            <a:srgbClr val="DDF1E4"/>
          </a:solidFill>
          <a:ln w="25400">
            <a:solidFill>
              <a:srgbClr val="237A48"/>
            </a:solidFill>
            <a:prstDash val="solid"/>
          </a:ln>
        </p:spPr>
      </p:sp>
      <p:sp>
        <p:nvSpPr>
          <p:cNvPr id="25" name="Text 23"/>
          <p:cNvSpPr txBox="1"/>
          <p:nvPr/>
        </p:nvSpPr>
        <p:spPr>
          <a:xfrm>
            <a:off x="3017520" y="5927852"/>
            <a:ext cx="182880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MySQL</a:t>
            </a:r>
            <a:endParaRPr lang="en-US" sz="1600" dirty="0"/>
          </a:p>
        </p:txBody>
      </p:sp>
      <p:sp>
        <p:nvSpPr>
          <p:cNvPr id="26" name="Shape 24"/>
          <p:cNvSpPr/>
          <p:nvPr/>
        </p:nvSpPr>
        <p:spPr>
          <a:xfrm>
            <a:off x="502920" y="8259572"/>
            <a:ext cx="4480560" cy="685800"/>
          </a:xfrm>
          <a:prstGeom prst="roundRect">
            <a:avLst>
              <a:gd name="adj" fmla="val 16000"/>
            </a:avLst>
          </a:prstGeom>
          <a:solidFill>
            <a:srgbClr val="DDF1E4"/>
          </a:solidFill>
          <a:ln w="25400">
            <a:solidFill>
              <a:srgbClr val="237A48"/>
            </a:solidFill>
            <a:prstDash val="solid"/>
          </a:ln>
        </p:spPr>
      </p:sp>
      <p:sp>
        <p:nvSpPr>
          <p:cNvPr id="27" name="Text 25"/>
          <p:cNvSpPr txBox="1"/>
          <p:nvPr/>
        </p:nvSpPr>
        <p:spPr>
          <a:xfrm>
            <a:off x="594360" y="8259572"/>
            <a:ext cx="429768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MongoDB</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文書の形で保存</a:t>
            </a:r>
            <a:endParaRPr lang="en-US" sz="1600" dirty="0"/>
          </a:p>
        </p:txBody>
      </p:sp>
      <p:sp>
        <p:nvSpPr>
          <p:cNvPr id="28" name="Shape 26"/>
          <p:cNvSpPr/>
          <p:nvPr/>
        </p:nvSpPr>
        <p:spPr>
          <a:xfrm>
            <a:off x="2057400" y="9585452"/>
            <a:ext cx="3017520" cy="502920"/>
          </a:xfrm>
          <a:prstGeom prst="roundRect">
            <a:avLst>
              <a:gd name="adj" fmla="val 21818"/>
            </a:avLst>
          </a:prstGeom>
          <a:solidFill>
            <a:srgbClr val="DFF1FB"/>
          </a:solidFill>
          <a:ln w="25400">
            <a:solidFill>
              <a:srgbClr val="0369A1"/>
            </a:solidFill>
            <a:prstDash val="solid"/>
          </a:ln>
        </p:spPr>
      </p:sp>
      <p:sp>
        <p:nvSpPr>
          <p:cNvPr id="29" name="Text 27"/>
          <p:cNvSpPr txBox="1"/>
          <p:nvPr/>
        </p:nvSpPr>
        <p:spPr>
          <a:xfrm>
            <a:off x="2148840" y="9585452"/>
            <a:ext cx="2834640" cy="50292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AWSのデータベース</a:t>
            </a:r>
            <a:endParaRPr lang="en-US" sz="1500" dirty="0"/>
          </a:p>
        </p:txBody>
      </p:sp>
      <p:sp>
        <p:nvSpPr>
          <p:cNvPr id="30" name="Shape 28"/>
          <p:cNvSpPr/>
          <p:nvPr/>
        </p:nvSpPr>
        <p:spPr>
          <a:xfrm>
            <a:off x="320040" y="3230372"/>
            <a:ext cx="4846320" cy="685800"/>
          </a:xfrm>
          <a:prstGeom prst="roundRect">
            <a:avLst>
              <a:gd name="adj" fmla="val 16000"/>
            </a:avLst>
          </a:prstGeom>
          <a:solidFill>
            <a:srgbClr val="16324F"/>
          </a:solidFill>
          <a:ln w="25400">
            <a:solidFill>
              <a:srgbClr val="16324F"/>
            </a:solidFill>
            <a:prstDash val="solid"/>
          </a:ln>
        </p:spPr>
      </p:sp>
      <p:sp>
        <p:nvSpPr>
          <p:cNvPr id="31" name="Text 29"/>
          <p:cNvSpPr txBox="1"/>
          <p:nvPr/>
        </p:nvSpPr>
        <p:spPr>
          <a:xfrm>
            <a:off x="411480" y="3230372"/>
            <a:ext cx="4663440" cy="6858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DBMS（管理ソフト）の仲間わけ</a:t>
            </a:r>
            <a:endParaRPr lang="en-US" sz="17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データベース製品を種類で分ける</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製品名は多く見えますが、「方式」と「提供形態」で分けると整理できます。</a:t>
            </a:r>
            <a:endParaRPr lang="en-US" sz="1800" dirty="0"/>
          </a:p>
        </p:txBody>
      </p:sp>
      <p:sp>
        <p:nvSpPr>
          <p:cNvPr id="7" name="Shape 5"/>
          <p:cNvSpPr/>
          <p:nvPr/>
        </p:nvSpPr>
        <p:spPr>
          <a:xfrm>
            <a:off x="320040" y="2928620"/>
            <a:ext cx="4846320" cy="1907032"/>
          </a:xfrm>
          <a:prstGeom prst="roundRect">
            <a:avLst>
              <a:gd name="adj" fmla="val 6713"/>
            </a:avLst>
          </a:prstGeom>
          <a:solidFill>
            <a:srgbClr val="DDF1E4"/>
          </a:solidFill>
          <a:ln/>
        </p:spPr>
      </p:sp>
      <p:sp>
        <p:nvSpPr>
          <p:cNvPr id="8" name="Text 6"/>
          <p:cNvSpPr txBox="1"/>
          <p:nvPr/>
        </p:nvSpPr>
        <p:spPr>
          <a:xfrm>
            <a:off x="502920" y="307492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商用のRDB</a:t>
            </a:r>
            <a:endParaRPr lang="en-US" sz="2200" dirty="0"/>
          </a:p>
        </p:txBody>
      </p:sp>
      <p:sp>
        <p:nvSpPr>
          <p:cNvPr id="9" name="Text 7"/>
          <p:cNvSpPr txBox="1"/>
          <p:nvPr/>
        </p:nvSpPr>
        <p:spPr>
          <a:xfrm>
            <a:off x="502920" y="3535172"/>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Oracle Database・Db2・SQL Server</a:t>
            </a:r>
            <a:endParaRPr lang="en-US" sz="2000" dirty="0"/>
          </a:p>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企業の基幹業務で多い</a:t>
            </a:r>
            <a:endParaRPr lang="en-US" sz="2000" dirty="0"/>
          </a:p>
        </p:txBody>
      </p:sp>
      <p:sp>
        <p:nvSpPr>
          <p:cNvPr id="10" name="Shape 8"/>
          <p:cNvSpPr/>
          <p:nvPr/>
        </p:nvSpPr>
        <p:spPr>
          <a:xfrm>
            <a:off x="320040" y="5018532"/>
            <a:ext cx="4846320" cy="1571752"/>
          </a:xfrm>
          <a:prstGeom prst="roundRect">
            <a:avLst>
              <a:gd name="adj" fmla="val 8145"/>
            </a:avLst>
          </a:prstGeom>
          <a:solidFill>
            <a:srgbClr val="DDF1E4"/>
          </a:solidFill>
          <a:ln/>
        </p:spPr>
      </p:sp>
      <p:sp>
        <p:nvSpPr>
          <p:cNvPr id="11" name="Text 9"/>
          <p:cNvSpPr txBox="1"/>
          <p:nvPr/>
        </p:nvSpPr>
        <p:spPr>
          <a:xfrm>
            <a:off x="502920" y="516483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オープンソースのRDB</a:t>
            </a:r>
            <a:endParaRPr lang="en-US" sz="2200" dirty="0"/>
          </a:p>
        </p:txBody>
      </p:sp>
      <p:sp>
        <p:nvSpPr>
          <p:cNvPr id="12" name="Text 10"/>
          <p:cNvSpPr txBox="1"/>
          <p:nvPr/>
        </p:nvSpPr>
        <p:spPr>
          <a:xfrm>
            <a:off x="502920" y="5625084"/>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PostgreSQL・MySQL</a:t>
            </a:r>
            <a:endParaRPr lang="en-US" sz="2000" dirty="0"/>
          </a:p>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無料で学習しやすい</a:t>
            </a:r>
            <a:endParaRPr lang="en-US" sz="2000" dirty="0"/>
          </a:p>
        </p:txBody>
      </p:sp>
      <p:sp>
        <p:nvSpPr>
          <p:cNvPr id="13" name="Shape 11"/>
          <p:cNvSpPr/>
          <p:nvPr/>
        </p:nvSpPr>
        <p:spPr>
          <a:xfrm>
            <a:off x="320040" y="6773164"/>
            <a:ext cx="4846320" cy="2242312"/>
          </a:xfrm>
          <a:prstGeom prst="roundRect">
            <a:avLst>
              <a:gd name="adj" fmla="val 5709"/>
            </a:avLst>
          </a:prstGeom>
          <a:solidFill>
            <a:srgbClr val="DDF1E4"/>
          </a:solidFill>
          <a:ln/>
        </p:spPr>
      </p:sp>
      <p:sp>
        <p:nvSpPr>
          <p:cNvPr id="14" name="Text 12"/>
          <p:cNvSpPr txBox="1"/>
          <p:nvPr/>
        </p:nvSpPr>
        <p:spPr>
          <a:xfrm>
            <a:off x="502920" y="691946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クラウドのRDB</a:t>
            </a:r>
            <a:endParaRPr lang="en-US" sz="2200" dirty="0"/>
          </a:p>
        </p:txBody>
      </p:sp>
      <p:sp>
        <p:nvSpPr>
          <p:cNvPr id="15" name="Text 13"/>
          <p:cNvSpPr txBox="1"/>
          <p:nvPr/>
        </p:nvSpPr>
        <p:spPr>
          <a:xfrm>
            <a:off x="502920" y="7379716"/>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Amazon RDS・Aurora（AWS）</a:t>
            </a:r>
            <a:endParaRPr lang="en-US" sz="2000" dirty="0"/>
          </a:p>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運用の一部を事業者が担当</a:t>
            </a:r>
            <a:endParaRPr lang="en-US" sz="2000" dirty="0"/>
          </a:p>
        </p:txBody>
      </p:sp>
      <p:sp>
        <p:nvSpPr>
          <p:cNvPr id="16"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2565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データベース製品を種類で分ける</a:t>
            </a:r>
            <a:endParaRPr lang="ja-JP" sz="2200" dirty="0"/>
          </a:p>
        </p:txBody>
      </p:sp>
      <p:sp>
        <p:nvSpPr>
          <p:cNvPr id="4" name="Shape 2"/>
          <p:cNvSpPr/>
          <p:nvPr/>
        </p:nvSpPr>
        <p:spPr>
          <a:xfrm>
            <a:off x="320040" y="1318514"/>
            <a:ext cx="4846320" cy="1571752"/>
          </a:xfrm>
          <a:prstGeom prst="roundRect">
            <a:avLst>
              <a:gd name="adj" fmla="val 8145"/>
            </a:avLst>
          </a:prstGeom>
          <a:solidFill>
            <a:srgbClr val="DDF1E4"/>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クラウドの非RDB</a:t>
            </a:r>
            <a:endParaRPr lang="en-US" sz="2200" dirty="0"/>
          </a:p>
        </p:txBody>
      </p:sp>
      <p:sp>
        <p:nvSpPr>
          <p:cNvPr id="6" name="Text 4"/>
          <p:cNvSpPr txBox="1"/>
          <p:nvPr/>
        </p:nvSpPr>
        <p:spPr>
          <a:xfrm>
            <a:off x="502920" y="1925066"/>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DynamoDB（AWS）</a:t>
            </a:r>
            <a:endParaRPr lang="en-US" sz="2000" dirty="0"/>
          </a:p>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表の関係を使わない方式</a:t>
            </a:r>
            <a:endParaRPr lang="en-US" sz="2000" dirty="0"/>
          </a:p>
        </p:txBody>
      </p:sp>
      <p:sp>
        <p:nvSpPr>
          <p:cNvPr id="7" name="Shape 5"/>
          <p:cNvSpPr/>
          <p:nvPr/>
        </p:nvSpPr>
        <p:spPr>
          <a:xfrm>
            <a:off x="320040" y="3073146"/>
            <a:ext cx="4846320" cy="1907032"/>
          </a:xfrm>
          <a:prstGeom prst="roundRect">
            <a:avLst>
              <a:gd name="adj" fmla="val 6713"/>
            </a:avLst>
          </a:prstGeom>
          <a:solidFill>
            <a:srgbClr val="DDF1E4"/>
          </a:solidFill>
          <a:ln/>
        </p:spPr>
      </p:sp>
      <p:sp>
        <p:nvSpPr>
          <p:cNvPr id="8" name="Text 6"/>
          <p:cNvSpPr txBox="1"/>
          <p:nvPr/>
        </p:nvSpPr>
        <p:spPr>
          <a:xfrm>
            <a:off x="502920" y="321945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ドキュメント型</a:t>
            </a:r>
            <a:endParaRPr lang="en-US" sz="2200" dirty="0"/>
          </a:p>
        </p:txBody>
      </p:sp>
      <p:sp>
        <p:nvSpPr>
          <p:cNvPr id="9" name="Text 7"/>
          <p:cNvSpPr txBox="1"/>
          <p:nvPr/>
        </p:nvSpPr>
        <p:spPr>
          <a:xfrm>
            <a:off x="502920" y="3679698"/>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MongoDB</a:t>
            </a:r>
            <a:endParaRPr lang="en-US" sz="2000" dirty="0"/>
          </a:p>
          <a:p>
            <a:pPr indent="0" marL="0">
              <a:lnSpc>
                <a:spcPts val="2600"/>
              </a:lnSpc>
              <a:spcAft>
                <a:spcPts val="800"/>
              </a:spcAft>
              <a:buNone/>
            </a:pPr>
            <a:r>
              <a:rPr lang="ja-JP" altLang="en-US" sz="2000" b="1" dirty="0">
                <a:solidFill>
                  <a:srgbClr val="237A48"/>
                </a:solidFill>
                <a:latin typeface="Yu Gothic" pitchFamily="34" charset="0"/>
                <a:ea typeface="Yu Gothic" pitchFamily="34" charset="-122"/>
                <a:cs typeface="Yu Gothic" pitchFamily="34" charset="-120"/>
              </a:rPr>
              <a:t>ひとこと：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表ではなく文書の形で保存</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Webアプリは役割を分けて動く</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ブラウザーでページを開くとき、裏ではWebサーバー・アプリケーションサーバー・DBが役割を分けて働いています。</a:t>
            </a:r>
            <a:endParaRPr lang="en-US" sz="1800" dirty="0"/>
          </a:p>
        </p:txBody>
      </p:sp>
      <p:sp>
        <p:nvSpPr>
          <p:cNvPr id="7" name="Shape 5"/>
          <p:cNvSpPr/>
          <p:nvPr/>
        </p:nvSpPr>
        <p:spPr>
          <a:xfrm>
            <a:off x="320040" y="2817622"/>
            <a:ext cx="4846320" cy="911352"/>
          </a:xfrm>
          <a:prstGeom prst="roundRect">
            <a:avLst>
              <a:gd name="adj" fmla="val 12040"/>
            </a:avLst>
          </a:prstGeom>
          <a:solidFill>
            <a:srgbClr val="0B7A7A"/>
          </a:solidFill>
          <a:ln/>
        </p:spPr>
      </p:sp>
      <p:sp>
        <p:nvSpPr>
          <p:cNvPr id="8" name="Text 6"/>
          <p:cNvSpPr txBox="1"/>
          <p:nvPr/>
        </p:nvSpPr>
        <p:spPr>
          <a:xfrm>
            <a:off x="411480" y="281762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ブラウザー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利用者のPC・スマホ</a:t>
            </a:r>
            <a:endParaRPr lang="en-US" sz="2000" dirty="0"/>
          </a:p>
        </p:txBody>
      </p:sp>
      <p:sp>
        <p:nvSpPr>
          <p:cNvPr id="9" name="Shape 7"/>
          <p:cNvSpPr/>
          <p:nvPr/>
        </p:nvSpPr>
        <p:spPr>
          <a:xfrm>
            <a:off x="2743200" y="3911854"/>
            <a:ext cx="0" cy="438912"/>
          </a:xfrm>
          <a:prstGeom prst="line">
            <a:avLst/>
          </a:prstGeom>
          <a:noFill/>
          <a:ln w="38100">
            <a:solidFill>
              <a:srgbClr val="1B2A3A"/>
            </a:solidFill>
            <a:prstDash val="solid"/>
            <a:tailEnd type="triangle"/>
          </a:ln>
        </p:spPr>
      </p:sp>
      <p:sp>
        <p:nvSpPr>
          <p:cNvPr id="10" name="Text 8"/>
          <p:cNvSpPr txBox="1"/>
          <p:nvPr/>
        </p:nvSpPr>
        <p:spPr>
          <a:xfrm>
            <a:off x="2926080" y="3930142"/>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要求</a:t>
            </a:r>
            <a:endParaRPr lang="en-US" sz="1800" dirty="0"/>
          </a:p>
        </p:txBody>
      </p:sp>
      <p:sp>
        <p:nvSpPr>
          <p:cNvPr id="11" name="Shape 9"/>
          <p:cNvSpPr/>
          <p:nvPr/>
        </p:nvSpPr>
        <p:spPr>
          <a:xfrm>
            <a:off x="320040" y="4369054"/>
            <a:ext cx="4846320" cy="911352"/>
          </a:xfrm>
          <a:prstGeom prst="roundRect">
            <a:avLst>
              <a:gd name="adj" fmla="val 12040"/>
            </a:avLst>
          </a:prstGeom>
          <a:solidFill>
            <a:srgbClr val="5B46B8"/>
          </a:solidFill>
          <a:ln/>
        </p:spPr>
      </p:sp>
      <p:sp>
        <p:nvSpPr>
          <p:cNvPr id="12" name="Text 10"/>
          <p:cNvSpPr txBox="1"/>
          <p:nvPr/>
        </p:nvSpPr>
        <p:spPr>
          <a:xfrm>
            <a:off x="411480" y="436905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Webサーバー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受付・ページ配信</a:t>
            </a:r>
            <a:endParaRPr lang="en-US" sz="2000" dirty="0"/>
          </a:p>
        </p:txBody>
      </p:sp>
      <p:sp>
        <p:nvSpPr>
          <p:cNvPr id="13" name="Shape 11"/>
          <p:cNvSpPr/>
          <p:nvPr/>
        </p:nvSpPr>
        <p:spPr>
          <a:xfrm>
            <a:off x="2743200" y="5463286"/>
            <a:ext cx="0" cy="438912"/>
          </a:xfrm>
          <a:prstGeom prst="line">
            <a:avLst/>
          </a:prstGeom>
          <a:noFill/>
          <a:ln w="38100">
            <a:solidFill>
              <a:srgbClr val="1B2A3A"/>
            </a:solidFill>
            <a:prstDash val="solid"/>
            <a:tailEnd type="triangle"/>
          </a:ln>
        </p:spPr>
      </p:sp>
      <p:sp>
        <p:nvSpPr>
          <p:cNvPr id="14" name="Text 12"/>
          <p:cNvSpPr txBox="1"/>
          <p:nvPr/>
        </p:nvSpPr>
        <p:spPr>
          <a:xfrm>
            <a:off x="2926080" y="5481574"/>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中継</a:t>
            </a:r>
            <a:endParaRPr lang="en-US" sz="1800" dirty="0"/>
          </a:p>
        </p:txBody>
      </p:sp>
      <p:sp>
        <p:nvSpPr>
          <p:cNvPr id="15" name="Shape 13"/>
          <p:cNvSpPr/>
          <p:nvPr/>
        </p:nvSpPr>
        <p:spPr>
          <a:xfrm>
            <a:off x="320040" y="5920486"/>
            <a:ext cx="4846320" cy="911352"/>
          </a:xfrm>
          <a:prstGeom prst="roundRect">
            <a:avLst>
              <a:gd name="adj" fmla="val 12040"/>
            </a:avLst>
          </a:prstGeom>
          <a:solidFill>
            <a:srgbClr val="5B46B8"/>
          </a:solidFill>
          <a:ln/>
        </p:spPr>
      </p:sp>
      <p:sp>
        <p:nvSpPr>
          <p:cNvPr id="16" name="Text 14"/>
          <p:cNvSpPr txBox="1"/>
          <p:nvPr/>
        </p:nvSpPr>
        <p:spPr>
          <a:xfrm>
            <a:off x="411480" y="592048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APサーバー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ログイン・注文</a:t>
            </a:r>
            <a:endParaRPr lang="en-US" sz="2000" dirty="0"/>
          </a:p>
        </p:txBody>
      </p:sp>
      <p:sp>
        <p:nvSpPr>
          <p:cNvPr id="17" name="Shape 15"/>
          <p:cNvSpPr/>
          <p:nvPr/>
        </p:nvSpPr>
        <p:spPr>
          <a:xfrm>
            <a:off x="2743200" y="7014718"/>
            <a:ext cx="0" cy="438912"/>
          </a:xfrm>
          <a:prstGeom prst="line">
            <a:avLst/>
          </a:prstGeom>
          <a:noFill/>
          <a:ln w="38100">
            <a:solidFill>
              <a:srgbClr val="1B2A3A"/>
            </a:solidFill>
            <a:prstDash val="solid"/>
            <a:tailEnd type="triangle"/>
          </a:ln>
        </p:spPr>
      </p:sp>
      <p:sp>
        <p:nvSpPr>
          <p:cNvPr id="18" name="Text 16"/>
          <p:cNvSpPr txBox="1"/>
          <p:nvPr/>
        </p:nvSpPr>
        <p:spPr>
          <a:xfrm>
            <a:off x="2926080" y="7033006"/>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照合</a:t>
            </a:r>
            <a:endParaRPr lang="en-US" sz="1800" dirty="0"/>
          </a:p>
        </p:txBody>
      </p:sp>
      <p:sp>
        <p:nvSpPr>
          <p:cNvPr id="19" name="Shape 17"/>
          <p:cNvSpPr/>
          <p:nvPr/>
        </p:nvSpPr>
        <p:spPr>
          <a:xfrm>
            <a:off x="320040" y="7471918"/>
            <a:ext cx="4846320" cy="911352"/>
          </a:xfrm>
          <a:prstGeom prst="roundRect">
            <a:avLst>
              <a:gd name="adj" fmla="val 12040"/>
            </a:avLst>
          </a:prstGeom>
          <a:solidFill>
            <a:srgbClr val="237A48"/>
          </a:solidFill>
          <a:ln/>
        </p:spPr>
      </p:sp>
      <p:sp>
        <p:nvSpPr>
          <p:cNvPr id="20" name="Text 18"/>
          <p:cNvSpPr txBox="1"/>
          <p:nvPr/>
        </p:nvSpPr>
        <p:spPr>
          <a:xfrm>
            <a:off x="411480" y="7471918"/>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データベース</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情報の保存</a:t>
            </a:r>
            <a:endParaRPr lang="en-US" sz="2000" dirty="0"/>
          </a:p>
        </p:txBody>
      </p:sp>
      <p:sp>
        <p:nvSpPr>
          <p:cNvPr id="21" name="Shape 19"/>
          <p:cNvSpPr/>
          <p:nvPr/>
        </p:nvSpPr>
        <p:spPr>
          <a:xfrm>
            <a:off x="338328" y="8630158"/>
            <a:ext cx="420624" cy="420624"/>
          </a:xfrm>
          <a:prstGeom prst="ellipse">
            <a:avLst/>
          </a:prstGeom>
          <a:solidFill>
            <a:srgbClr val="5B46B8"/>
          </a:solidFill>
          <a:ln w="19050">
            <a:solidFill>
              <a:srgbClr val="FFFFFF"/>
            </a:solidFill>
            <a:prstDash val="solid"/>
          </a:ln>
        </p:spPr>
      </p:sp>
      <p:sp>
        <p:nvSpPr>
          <p:cNvPr id="22" name="Text 20"/>
          <p:cNvSpPr txBox="1"/>
          <p:nvPr/>
        </p:nvSpPr>
        <p:spPr>
          <a:xfrm>
            <a:off x="338328" y="863015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23" name="Text 21"/>
          <p:cNvSpPr txBox="1"/>
          <p:nvPr/>
        </p:nvSpPr>
        <p:spPr>
          <a:xfrm>
            <a:off x="960120" y="8566150"/>
            <a:ext cx="4206240" cy="54864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利用者がIDとパスワードを送る</a:t>
            </a:r>
            <a:endParaRPr lang="en-US" sz="2000" dirty="0"/>
          </a:p>
        </p:txBody>
      </p:sp>
      <p:sp>
        <p:nvSpPr>
          <p:cNvPr id="24" name="Shape 22"/>
          <p:cNvSpPr/>
          <p:nvPr/>
        </p:nvSpPr>
        <p:spPr>
          <a:xfrm>
            <a:off x="338328" y="9340342"/>
            <a:ext cx="420624" cy="420624"/>
          </a:xfrm>
          <a:prstGeom prst="ellipse">
            <a:avLst/>
          </a:prstGeom>
          <a:solidFill>
            <a:srgbClr val="5B46B8"/>
          </a:solidFill>
          <a:ln w="19050">
            <a:solidFill>
              <a:srgbClr val="FFFFFF"/>
            </a:solidFill>
            <a:prstDash val="solid"/>
          </a:ln>
        </p:spPr>
      </p:sp>
      <p:sp>
        <p:nvSpPr>
          <p:cNvPr id="25" name="Text 23"/>
          <p:cNvSpPr txBox="1"/>
          <p:nvPr/>
        </p:nvSpPr>
        <p:spPr>
          <a:xfrm>
            <a:off x="338328" y="934034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26" name="Text 24"/>
          <p:cNvSpPr txBox="1"/>
          <p:nvPr/>
        </p:nvSpPr>
        <p:spPr>
          <a:xfrm>
            <a:off x="960120" y="9151366"/>
            <a:ext cx="4206240" cy="798576"/>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Webサーバーが受け取り、アプリへ渡す</a:t>
            </a:r>
            <a:endParaRPr lang="en-US" sz="2000" dirty="0"/>
          </a:p>
        </p:txBody>
      </p:sp>
      <p:sp>
        <p:nvSpPr>
          <p:cNvPr id="27" name="Text 2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Webアプリは役割を分けて動く</a:t>
            </a:r>
            <a:endParaRPr lang="ja-JP" sz="2200" dirty="0"/>
          </a:p>
        </p:txBody>
      </p:sp>
      <p:sp>
        <p:nvSpPr>
          <p:cNvPr id="4" name="Shape 2"/>
          <p:cNvSpPr/>
          <p:nvPr/>
        </p:nvSpPr>
        <p:spPr>
          <a:xfrm>
            <a:off x="338328" y="1382522"/>
            <a:ext cx="420624" cy="420624"/>
          </a:xfrm>
          <a:prstGeom prst="ellipse">
            <a:avLst/>
          </a:prstGeom>
          <a:solidFill>
            <a:srgbClr val="5B46B8"/>
          </a:solidFill>
          <a:ln w="19050">
            <a:solidFill>
              <a:srgbClr val="FFFFFF"/>
            </a:solidFill>
            <a:prstDash val="solid"/>
          </a:ln>
        </p:spPr>
      </p:sp>
      <p:sp>
        <p:nvSpPr>
          <p:cNvPr id="5" name="Text 3"/>
          <p:cNvSpPr txBox="1"/>
          <p:nvPr/>
        </p:nvSpPr>
        <p:spPr>
          <a:xfrm>
            <a:off x="338328" y="138252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6" name="Text 4"/>
          <p:cNvSpPr txBox="1"/>
          <p:nvPr/>
        </p:nvSpPr>
        <p:spPr>
          <a:xfrm>
            <a:off x="960120" y="1318514"/>
            <a:ext cx="4206240" cy="54864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アプリがデータベースで照合する</a:t>
            </a:r>
            <a:endParaRPr lang="en-US" sz="2000" dirty="0"/>
          </a:p>
        </p:txBody>
      </p:sp>
      <p:sp>
        <p:nvSpPr>
          <p:cNvPr id="7" name="Shape 5"/>
          <p:cNvSpPr/>
          <p:nvPr/>
        </p:nvSpPr>
        <p:spPr>
          <a:xfrm>
            <a:off x="338328" y="1967738"/>
            <a:ext cx="420624" cy="420624"/>
          </a:xfrm>
          <a:prstGeom prst="ellipse">
            <a:avLst/>
          </a:prstGeom>
          <a:solidFill>
            <a:srgbClr val="5B46B8"/>
          </a:solidFill>
          <a:ln w="19050">
            <a:solidFill>
              <a:srgbClr val="FFFFFF"/>
            </a:solidFill>
            <a:prstDash val="solid"/>
          </a:ln>
        </p:spPr>
      </p:sp>
      <p:sp>
        <p:nvSpPr>
          <p:cNvPr id="8" name="Text 6"/>
          <p:cNvSpPr txBox="1"/>
          <p:nvPr/>
        </p:nvSpPr>
        <p:spPr>
          <a:xfrm>
            <a:off x="338328" y="196773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9" name="Text 7"/>
          <p:cNvSpPr txBox="1"/>
          <p:nvPr/>
        </p:nvSpPr>
        <p:spPr>
          <a:xfrm>
            <a:off x="960120" y="1903730"/>
            <a:ext cx="4206240" cy="54864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結果が返り、画面が表示される</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WebサーバーとAPサーバーの違い</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「ページを渡す」役と、「処理して結果を作る」役の違いです。</a:t>
            </a:r>
            <a:endParaRPr lang="en-US" sz="1800" dirty="0"/>
          </a:p>
        </p:txBody>
      </p:sp>
      <p:sp>
        <p:nvSpPr>
          <p:cNvPr id="7" name="Shape 5"/>
          <p:cNvSpPr/>
          <p:nvPr/>
        </p:nvSpPr>
        <p:spPr>
          <a:xfrm>
            <a:off x="320040" y="2928620"/>
            <a:ext cx="4846320" cy="2242312"/>
          </a:xfrm>
          <a:prstGeom prst="roundRect">
            <a:avLst>
              <a:gd name="adj" fmla="val 5709"/>
            </a:avLst>
          </a:prstGeom>
          <a:solidFill>
            <a:srgbClr val="E6E1F7"/>
          </a:solidFill>
          <a:ln/>
        </p:spPr>
      </p:sp>
      <p:sp>
        <p:nvSpPr>
          <p:cNvPr id="8" name="Text 6"/>
          <p:cNvSpPr txBox="1"/>
          <p:nvPr/>
        </p:nvSpPr>
        <p:spPr>
          <a:xfrm>
            <a:off x="502920" y="307492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主な仕事</a:t>
            </a:r>
            <a:endParaRPr lang="en-US" sz="2200" dirty="0"/>
          </a:p>
        </p:txBody>
      </p:sp>
      <p:sp>
        <p:nvSpPr>
          <p:cNvPr id="9" name="Text 7"/>
          <p:cNvSpPr txBox="1"/>
          <p:nvPr/>
        </p:nvSpPr>
        <p:spPr>
          <a:xfrm>
            <a:off x="502920" y="3535172"/>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Webサーバー：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HTMLや画像の配信、アプリへの要求の中継</a:t>
            </a:r>
            <a:endParaRPr lang="en-US" sz="2000" dirty="0"/>
          </a:p>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アプリケーションサーバー：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ログイン判定、注文処理などの実行</a:t>
            </a:r>
            <a:endParaRPr lang="en-US" sz="2000" dirty="0"/>
          </a:p>
        </p:txBody>
      </p:sp>
      <p:sp>
        <p:nvSpPr>
          <p:cNvPr id="10" name="Shape 8"/>
          <p:cNvSpPr/>
          <p:nvPr/>
        </p:nvSpPr>
        <p:spPr>
          <a:xfrm>
            <a:off x="320040" y="5353812"/>
            <a:ext cx="4846320" cy="2242312"/>
          </a:xfrm>
          <a:prstGeom prst="roundRect">
            <a:avLst>
              <a:gd name="adj" fmla="val 5709"/>
            </a:avLst>
          </a:prstGeom>
          <a:solidFill>
            <a:srgbClr val="E6E1F7"/>
          </a:solidFill>
          <a:ln/>
        </p:spPr>
      </p:sp>
      <p:sp>
        <p:nvSpPr>
          <p:cNvPr id="11" name="Text 9"/>
          <p:cNvSpPr txBox="1"/>
          <p:nvPr/>
        </p:nvSpPr>
        <p:spPr>
          <a:xfrm>
            <a:off x="502920" y="550011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返すもの</a:t>
            </a:r>
            <a:endParaRPr lang="en-US" sz="2200" dirty="0"/>
          </a:p>
        </p:txBody>
      </p:sp>
      <p:sp>
        <p:nvSpPr>
          <p:cNvPr id="12" name="Text 10"/>
          <p:cNvSpPr txBox="1"/>
          <p:nvPr/>
        </p:nvSpPr>
        <p:spPr>
          <a:xfrm>
            <a:off x="502920" y="5960364"/>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Webサーバー：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用意済みのページやファイル</a:t>
            </a:r>
            <a:endParaRPr lang="en-US" sz="2000" dirty="0"/>
          </a:p>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アプリケーションサーバー：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処理して作った結果</a:t>
            </a:r>
            <a:endParaRPr lang="en-US" sz="2000" dirty="0"/>
          </a:p>
        </p:txBody>
      </p:sp>
      <p:sp>
        <p:nvSpPr>
          <p:cNvPr id="13" name="Shape 11"/>
          <p:cNvSpPr/>
          <p:nvPr/>
        </p:nvSpPr>
        <p:spPr>
          <a:xfrm>
            <a:off x="320040" y="7779004"/>
            <a:ext cx="4846320" cy="1571752"/>
          </a:xfrm>
          <a:prstGeom prst="roundRect">
            <a:avLst>
              <a:gd name="adj" fmla="val 8145"/>
            </a:avLst>
          </a:prstGeom>
          <a:solidFill>
            <a:srgbClr val="E6E1F7"/>
          </a:solidFill>
          <a:ln/>
        </p:spPr>
      </p:sp>
      <p:sp>
        <p:nvSpPr>
          <p:cNvPr id="14" name="Text 12"/>
          <p:cNvSpPr txBox="1"/>
          <p:nvPr/>
        </p:nvSpPr>
        <p:spPr>
          <a:xfrm>
            <a:off x="502920" y="792530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たとえ</a:t>
            </a:r>
            <a:endParaRPr lang="en-US" sz="2200" dirty="0"/>
          </a:p>
        </p:txBody>
      </p:sp>
      <p:sp>
        <p:nvSpPr>
          <p:cNvPr id="15" name="Text 13"/>
          <p:cNvSpPr txBox="1"/>
          <p:nvPr/>
        </p:nvSpPr>
        <p:spPr>
          <a:xfrm>
            <a:off x="502920" y="8385556"/>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Webサーバー：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受付カウンター</a:t>
            </a:r>
            <a:endParaRPr lang="en-US" sz="2000" dirty="0"/>
          </a:p>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アプリケーションサーバー：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厨房</a:t>
            </a:r>
            <a:endParaRPr lang="en-US" sz="2000" dirty="0"/>
          </a:p>
        </p:txBody>
      </p:sp>
      <p:sp>
        <p:nvSpPr>
          <p:cNvPr id="16"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WebサーバーとAPサーバーの違い</a:t>
            </a:r>
            <a:endParaRPr lang="ja-JP" sz="2200" dirty="0"/>
          </a:p>
        </p:txBody>
      </p:sp>
      <p:sp>
        <p:nvSpPr>
          <p:cNvPr id="4" name="Shape 2"/>
          <p:cNvSpPr/>
          <p:nvPr/>
        </p:nvSpPr>
        <p:spPr>
          <a:xfrm>
            <a:off x="320040" y="1318514"/>
            <a:ext cx="4846320" cy="2242312"/>
          </a:xfrm>
          <a:prstGeom prst="roundRect">
            <a:avLst>
              <a:gd name="adj" fmla="val 5709"/>
            </a:avLst>
          </a:prstGeom>
          <a:solidFill>
            <a:srgbClr val="E6E1F7"/>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最初の学び方</a:t>
            </a:r>
            <a:endParaRPr lang="en-US" sz="2200" dirty="0"/>
          </a:p>
        </p:txBody>
      </p:sp>
      <p:sp>
        <p:nvSpPr>
          <p:cNvPr id="6" name="Text 4"/>
          <p:cNvSpPr txBox="1"/>
          <p:nvPr/>
        </p:nvSpPr>
        <p:spPr>
          <a:xfrm>
            <a:off x="502920" y="1925066"/>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Webサーバー：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簡単なページを自分のPCで配信する</a:t>
            </a:r>
            <a:endParaRPr lang="en-US" sz="2000" dirty="0"/>
          </a:p>
          <a:p>
            <a:pPr indent="0" marL="0">
              <a:lnSpc>
                <a:spcPts val="2600"/>
              </a:lnSpc>
              <a:spcAft>
                <a:spcPts val="800"/>
              </a:spcAft>
              <a:buNone/>
            </a:pPr>
            <a:r>
              <a:rPr lang="ja-JP" altLang="en-US" sz="2000" b="1" dirty="0">
                <a:solidFill>
                  <a:srgbClr val="5B46B8"/>
                </a:solidFill>
                <a:latin typeface="Yu Gothic" pitchFamily="34" charset="0"/>
                <a:ea typeface="Yu Gothic" pitchFamily="34" charset="-122"/>
                <a:cs typeface="Yu Gothic" pitchFamily="34" charset="-120"/>
              </a:rPr>
              <a:t>アプリケーションサーバー：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小さなWebアプリを配置して操作する</a:t>
            </a:r>
            <a:endParaRPr lang="en-US" sz="2000" dirty="0"/>
          </a:p>
        </p:txBody>
      </p:sp>
      <p:sp>
        <p:nvSpPr>
          <p:cNvPr id="7"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関係図：Webアプリを支える用語</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Webサーバー・アプリケーションサーバーと、Tomcat・Jetty・WebLogic・サーブレット・デプロイの関係です。</a:t>
            </a:r>
            <a:endParaRPr lang="en-US" sz="1800" dirty="0"/>
          </a:p>
        </p:txBody>
      </p:sp>
      <p:sp>
        <p:nvSpPr>
          <p:cNvPr id="6" name="Shape 4"/>
          <p:cNvSpPr/>
          <p:nvPr/>
        </p:nvSpPr>
        <p:spPr>
          <a:xfrm>
            <a:off x="320040" y="7070852"/>
            <a:ext cx="4846320" cy="2651760"/>
          </a:xfrm>
          <a:prstGeom prst="roundRect">
            <a:avLst>
              <a:gd name="adj" fmla="val 4828"/>
            </a:avLst>
          </a:prstGeom>
          <a:solidFill>
            <a:srgbClr val="F7F9FB"/>
          </a:solidFill>
          <a:ln w="19050">
            <a:solidFill>
              <a:srgbClr val="5B46B8"/>
            </a:solidFill>
            <a:prstDash val="dash"/>
          </a:ln>
        </p:spPr>
      </p:sp>
      <p:sp>
        <p:nvSpPr>
          <p:cNvPr id="7" name="Text 5"/>
          <p:cNvSpPr txBox="1"/>
          <p:nvPr/>
        </p:nvSpPr>
        <p:spPr>
          <a:xfrm>
            <a:off x="457200" y="7134860"/>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5B46B8"/>
                </a:solidFill>
                <a:latin typeface="Yu Gothic" pitchFamily="34" charset="0"/>
                <a:ea typeface="Yu Gothic" pitchFamily="34" charset="-122"/>
                <a:cs typeface="Yu Gothic" pitchFamily="34" charset="-120"/>
              </a:rPr>
              <a:t>APサーバーの製品・仕組み（Java）</a:t>
            </a:r>
            <a:endParaRPr lang="en-US" sz="1600" dirty="0"/>
          </a:p>
        </p:txBody>
      </p:sp>
      <p:sp>
        <p:nvSpPr>
          <p:cNvPr id="8" name="Shape 6"/>
          <p:cNvSpPr/>
          <p:nvPr/>
        </p:nvSpPr>
        <p:spPr>
          <a:xfrm>
            <a:off x="2743200" y="3961892"/>
            <a:ext cx="0" cy="411480"/>
          </a:xfrm>
          <a:prstGeom prst="line">
            <a:avLst/>
          </a:prstGeom>
          <a:noFill/>
          <a:ln w="31750">
            <a:solidFill>
              <a:srgbClr val="1B2A3A"/>
            </a:solidFill>
            <a:prstDash val="solid"/>
            <a:tailEnd type="triangle"/>
          </a:ln>
        </p:spPr>
      </p:sp>
      <p:sp>
        <p:nvSpPr>
          <p:cNvPr id="9" name="Text 7"/>
          <p:cNvSpPr txBox="1"/>
          <p:nvPr/>
        </p:nvSpPr>
        <p:spPr>
          <a:xfrm>
            <a:off x="2143760" y="4006088"/>
            <a:ext cx="11988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リクエスト</a:t>
            </a:r>
            <a:endParaRPr lang="en-US" sz="1600" dirty="0"/>
          </a:p>
        </p:txBody>
      </p:sp>
      <p:sp>
        <p:nvSpPr>
          <p:cNvPr id="10" name="Shape 8"/>
          <p:cNvSpPr/>
          <p:nvPr/>
        </p:nvSpPr>
        <p:spPr>
          <a:xfrm>
            <a:off x="2834640" y="5104892"/>
            <a:ext cx="0" cy="457200"/>
          </a:xfrm>
          <a:prstGeom prst="line">
            <a:avLst/>
          </a:prstGeom>
          <a:noFill/>
          <a:ln w="31750">
            <a:solidFill>
              <a:srgbClr val="1B2A3A"/>
            </a:solidFill>
            <a:prstDash val="solid"/>
            <a:tailEnd type="triangle"/>
          </a:ln>
        </p:spPr>
      </p:sp>
      <p:sp>
        <p:nvSpPr>
          <p:cNvPr id="11" name="Text 9"/>
          <p:cNvSpPr txBox="1"/>
          <p:nvPr/>
        </p:nvSpPr>
        <p:spPr>
          <a:xfrm>
            <a:off x="2235200" y="5171948"/>
            <a:ext cx="11988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処理を渡す</a:t>
            </a:r>
            <a:endParaRPr lang="en-US" sz="1600" dirty="0"/>
          </a:p>
        </p:txBody>
      </p:sp>
      <p:sp>
        <p:nvSpPr>
          <p:cNvPr id="12" name="Shape 10"/>
          <p:cNvSpPr/>
          <p:nvPr/>
        </p:nvSpPr>
        <p:spPr>
          <a:xfrm>
            <a:off x="3931920" y="5973572"/>
            <a:ext cx="91440" cy="0"/>
          </a:xfrm>
          <a:prstGeom prst="line">
            <a:avLst/>
          </a:prstGeom>
          <a:noFill/>
          <a:ln w="31750">
            <a:solidFill>
              <a:srgbClr val="1B2A3A"/>
            </a:solidFill>
            <a:prstDash val="solid"/>
            <a:tailEnd type="triangle"/>
          </a:ln>
        </p:spPr>
      </p:sp>
      <p:sp>
        <p:nvSpPr>
          <p:cNvPr id="13" name="Text 11"/>
          <p:cNvSpPr txBox="1"/>
          <p:nvPr/>
        </p:nvSpPr>
        <p:spPr>
          <a:xfrm>
            <a:off x="3708400" y="5828792"/>
            <a:ext cx="538480" cy="289560"/>
          </a:xfrm>
          <a:prstGeom prst="rect">
            <a:avLst/>
          </a:prstGeom>
          <a:solidFill>
            <a:srgbClr val="FFFFFF"/>
          </a:solidFill>
          <a:ln/>
        </p:spPr>
        <p:txBody>
          <a:bodyPr wrap="square" lIns="0" tIns="0" rIns="0" bIns="0" rtlCol="0" anchor="ctr"/>
          <a:lstStyle/>
          <a:p>
            <a:pPr algn="ctr"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保存</a:t>
            </a:r>
            <a:endParaRPr lang="en-US" sz="1400" dirty="0"/>
          </a:p>
        </p:txBody>
      </p:sp>
      <p:sp>
        <p:nvSpPr>
          <p:cNvPr id="14" name="Shape 12"/>
          <p:cNvSpPr/>
          <p:nvPr/>
        </p:nvSpPr>
        <p:spPr>
          <a:xfrm>
            <a:off x="1508760" y="5973572"/>
            <a:ext cx="228600" cy="0"/>
          </a:xfrm>
          <a:prstGeom prst="line">
            <a:avLst/>
          </a:prstGeom>
          <a:noFill/>
          <a:ln w="31750">
            <a:solidFill>
              <a:srgbClr val="1B2A3A"/>
            </a:solidFill>
            <a:prstDash val="solid"/>
            <a:tailEnd type="triangle"/>
          </a:ln>
        </p:spPr>
      </p:sp>
      <p:sp>
        <p:nvSpPr>
          <p:cNvPr id="15" name="Shape 13"/>
          <p:cNvSpPr/>
          <p:nvPr/>
        </p:nvSpPr>
        <p:spPr>
          <a:xfrm flipV="1">
            <a:off x="2834640" y="6385052"/>
            <a:ext cx="0" cy="685800"/>
          </a:xfrm>
          <a:prstGeom prst="line">
            <a:avLst/>
          </a:prstGeom>
          <a:noFill/>
          <a:ln w="31750">
            <a:solidFill>
              <a:srgbClr val="1B2A3A"/>
            </a:solidFill>
            <a:prstDash val="solid"/>
            <a:tailEnd type="triangle"/>
          </a:ln>
        </p:spPr>
      </p:sp>
      <p:sp>
        <p:nvSpPr>
          <p:cNvPr id="16" name="Text 14"/>
          <p:cNvSpPr txBox="1"/>
          <p:nvPr/>
        </p:nvSpPr>
        <p:spPr>
          <a:xfrm>
            <a:off x="2336800" y="6566408"/>
            <a:ext cx="9956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中で動く</a:t>
            </a:r>
            <a:endParaRPr lang="en-US" sz="1600" dirty="0"/>
          </a:p>
        </p:txBody>
      </p:sp>
      <p:sp>
        <p:nvSpPr>
          <p:cNvPr id="17" name="Shape 15"/>
          <p:cNvSpPr/>
          <p:nvPr/>
        </p:nvSpPr>
        <p:spPr>
          <a:xfrm>
            <a:off x="1508760" y="3230372"/>
            <a:ext cx="2468880" cy="731520"/>
          </a:xfrm>
          <a:prstGeom prst="roundRect">
            <a:avLst>
              <a:gd name="adj" fmla="val 15000"/>
            </a:avLst>
          </a:prstGeom>
          <a:solidFill>
            <a:srgbClr val="FDEBD0"/>
          </a:solidFill>
          <a:ln w="25400">
            <a:solidFill>
              <a:srgbClr val="B45309"/>
            </a:solidFill>
            <a:prstDash val="solid"/>
          </a:ln>
        </p:spPr>
      </p:sp>
      <p:sp>
        <p:nvSpPr>
          <p:cNvPr id="18" name="Text 16"/>
          <p:cNvSpPr txBox="1"/>
          <p:nvPr/>
        </p:nvSpPr>
        <p:spPr>
          <a:xfrm>
            <a:off x="1600200" y="3230372"/>
            <a:ext cx="228600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インターネット</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ネットワーク</a:t>
            </a:r>
            <a:endParaRPr lang="en-US" sz="1600" dirty="0"/>
          </a:p>
        </p:txBody>
      </p:sp>
      <p:sp>
        <p:nvSpPr>
          <p:cNvPr id="19" name="Shape 17"/>
          <p:cNvSpPr/>
          <p:nvPr/>
        </p:nvSpPr>
        <p:spPr>
          <a:xfrm>
            <a:off x="1508760" y="4373372"/>
            <a:ext cx="2468880" cy="731520"/>
          </a:xfrm>
          <a:prstGeom prst="roundRect">
            <a:avLst>
              <a:gd name="adj" fmla="val 15000"/>
            </a:avLst>
          </a:prstGeom>
          <a:solidFill>
            <a:srgbClr val="E6E1F7"/>
          </a:solidFill>
          <a:ln w="25400">
            <a:solidFill>
              <a:srgbClr val="5B46B8"/>
            </a:solidFill>
            <a:prstDash val="solid"/>
          </a:ln>
        </p:spPr>
      </p:sp>
      <p:sp>
        <p:nvSpPr>
          <p:cNvPr id="20" name="Text 18"/>
          <p:cNvSpPr txBox="1"/>
          <p:nvPr/>
        </p:nvSpPr>
        <p:spPr>
          <a:xfrm>
            <a:off x="1600200" y="4373372"/>
            <a:ext cx="228600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Webサーバー</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1" name="Shape 19"/>
          <p:cNvSpPr/>
          <p:nvPr/>
        </p:nvSpPr>
        <p:spPr>
          <a:xfrm>
            <a:off x="1737360" y="5562092"/>
            <a:ext cx="2194560" cy="822960"/>
          </a:xfrm>
          <a:prstGeom prst="roundRect">
            <a:avLst>
              <a:gd name="adj" fmla="val 13333"/>
            </a:avLst>
          </a:prstGeom>
          <a:solidFill>
            <a:srgbClr val="5B46B8"/>
          </a:solidFill>
          <a:ln w="25400">
            <a:solidFill>
              <a:srgbClr val="5B46B8"/>
            </a:solidFill>
            <a:prstDash val="solid"/>
          </a:ln>
        </p:spPr>
      </p:sp>
      <p:sp>
        <p:nvSpPr>
          <p:cNvPr id="22" name="Text 20"/>
          <p:cNvSpPr txBox="1"/>
          <p:nvPr/>
        </p:nvSpPr>
        <p:spPr>
          <a:xfrm>
            <a:off x="1828800" y="5562092"/>
            <a:ext cx="2011680" cy="82296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アプリサーバー</a:t>
            </a:r>
            <a:endParaRPr lang="en-US" sz="16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600" dirty="0"/>
          </a:p>
        </p:txBody>
      </p:sp>
      <p:sp>
        <p:nvSpPr>
          <p:cNvPr id="23" name="Shape 21"/>
          <p:cNvSpPr/>
          <p:nvPr/>
        </p:nvSpPr>
        <p:spPr>
          <a:xfrm>
            <a:off x="4023360" y="5562092"/>
            <a:ext cx="1143000" cy="822960"/>
          </a:xfrm>
          <a:prstGeom prst="roundRect">
            <a:avLst>
              <a:gd name="adj" fmla="val 13333"/>
            </a:avLst>
          </a:prstGeom>
          <a:solidFill>
            <a:srgbClr val="E6E1F7"/>
          </a:solidFill>
          <a:ln w="25400">
            <a:solidFill>
              <a:srgbClr val="5B46B8"/>
            </a:solidFill>
            <a:prstDash val="solid"/>
          </a:ln>
        </p:spPr>
      </p:sp>
      <p:sp>
        <p:nvSpPr>
          <p:cNvPr id="24" name="Text 22"/>
          <p:cNvSpPr txBox="1"/>
          <p:nvPr/>
        </p:nvSpPr>
        <p:spPr>
          <a:xfrm>
            <a:off x="4114800" y="5562092"/>
            <a:ext cx="960120" cy="82296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p:txBody>
      </p:sp>
      <p:sp>
        <p:nvSpPr>
          <p:cNvPr id="25" name="Shape 23"/>
          <p:cNvSpPr/>
          <p:nvPr/>
        </p:nvSpPr>
        <p:spPr>
          <a:xfrm>
            <a:off x="320040" y="5562092"/>
            <a:ext cx="1188720" cy="822960"/>
          </a:xfrm>
          <a:prstGeom prst="roundRect">
            <a:avLst>
              <a:gd name="adj" fmla="val 13333"/>
            </a:avLst>
          </a:prstGeom>
          <a:solidFill>
            <a:srgbClr val="E6E1F7"/>
          </a:solidFill>
          <a:ln w="25400">
            <a:solidFill>
              <a:srgbClr val="5B46B8"/>
            </a:solidFill>
            <a:prstDash val="solid"/>
          </a:ln>
        </p:spPr>
      </p:sp>
      <p:sp>
        <p:nvSpPr>
          <p:cNvPr id="26" name="Text 24"/>
          <p:cNvSpPr txBox="1"/>
          <p:nvPr/>
        </p:nvSpPr>
        <p:spPr>
          <a:xfrm>
            <a:off x="411480" y="5562092"/>
            <a:ext cx="1005840" cy="82296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p:txBody>
      </p:sp>
      <p:sp>
        <p:nvSpPr>
          <p:cNvPr id="27" name="Shape 25"/>
          <p:cNvSpPr/>
          <p:nvPr/>
        </p:nvSpPr>
        <p:spPr>
          <a:xfrm>
            <a:off x="457200" y="7573772"/>
            <a:ext cx="2194560" cy="685800"/>
          </a:xfrm>
          <a:prstGeom prst="roundRect">
            <a:avLst>
              <a:gd name="adj" fmla="val 16000"/>
            </a:avLst>
          </a:prstGeom>
          <a:solidFill>
            <a:srgbClr val="E6E1F7"/>
          </a:solidFill>
          <a:ln w="25400">
            <a:solidFill>
              <a:srgbClr val="5B46B8"/>
            </a:solidFill>
            <a:prstDash val="solid"/>
          </a:ln>
        </p:spPr>
      </p:sp>
      <p:sp>
        <p:nvSpPr>
          <p:cNvPr id="28" name="Text 26"/>
          <p:cNvSpPr txBox="1"/>
          <p:nvPr/>
        </p:nvSpPr>
        <p:spPr>
          <a:xfrm>
            <a:off x="548640" y="7573772"/>
            <a:ext cx="201168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Tomcat</a:t>
            </a:r>
            <a:endParaRPr lang="en-US" sz="1600" dirty="0"/>
          </a:p>
        </p:txBody>
      </p:sp>
      <p:sp>
        <p:nvSpPr>
          <p:cNvPr id="29" name="Shape 27"/>
          <p:cNvSpPr/>
          <p:nvPr/>
        </p:nvSpPr>
        <p:spPr>
          <a:xfrm>
            <a:off x="2834640" y="7573772"/>
            <a:ext cx="2194560" cy="685800"/>
          </a:xfrm>
          <a:prstGeom prst="roundRect">
            <a:avLst>
              <a:gd name="adj" fmla="val 16000"/>
            </a:avLst>
          </a:prstGeom>
          <a:solidFill>
            <a:srgbClr val="E6E1F7"/>
          </a:solidFill>
          <a:ln w="25400">
            <a:solidFill>
              <a:srgbClr val="5B46B8"/>
            </a:solidFill>
            <a:prstDash val="solid"/>
          </a:ln>
        </p:spPr>
      </p:sp>
      <p:sp>
        <p:nvSpPr>
          <p:cNvPr id="30" name="Text 28"/>
          <p:cNvSpPr txBox="1"/>
          <p:nvPr/>
        </p:nvSpPr>
        <p:spPr>
          <a:xfrm>
            <a:off x="2926080" y="7573772"/>
            <a:ext cx="201168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Jetty</a:t>
            </a:r>
            <a:endParaRPr lang="en-US" sz="1600" dirty="0"/>
          </a:p>
        </p:txBody>
      </p:sp>
      <p:sp>
        <p:nvSpPr>
          <p:cNvPr id="31" name="Shape 29"/>
          <p:cNvSpPr/>
          <p:nvPr/>
        </p:nvSpPr>
        <p:spPr>
          <a:xfrm>
            <a:off x="457200" y="8351012"/>
            <a:ext cx="2194560" cy="685800"/>
          </a:xfrm>
          <a:prstGeom prst="roundRect">
            <a:avLst>
              <a:gd name="adj" fmla="val 16000"/>
            </a:avLst>
          </a:prstGeom>
          <a:solidFill>
            <a:srgbClr val="E6E1F7"/>
          </a:solidFill>
          <a:ln w="25400">
            <a:solidFill>
              <a:srgbClr val="5B46B8"/>
            </a:solidFill>
            <a:prstDash val="solid"/>
          </a:ln>
        </p:spPr>
      </p:sp>
      <p:sp>
        <p:nvSpPr>
          <p:cNvPr id="32" name="Text 30"/>
          <p:cNvSpPr txBox="1"/>
          <p:nvPr/>
        </p:nvSpPr>
        <p:spPr>
          <a:xfrm>
            <a:off x="548640" y="8351012"/>
            <a:ext cx="2011680" cy="6858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WebLogic</a:t>
            </a:r>
            <a:endParaRPr lang="en-US" sz="1600" dirty="0"/>
          </a:p>
        </p:txBody>
      </p:sp>
      <p:sp>
        <p:nvSpPr>
          <p:cNvPr id="33" name="Shape 31"/>
          <p:cNvSpPr/>
          <p:nvPr/>
        </p:nvSpPr>
        <p:spPr>
          <a:xfrm>
            <a:off x="2834640" y="8351012"/>
            <a:ext cx="2194560" cy="685800"/>
          </a:xfrm>
          <a:prstGeom prst="roundRect">
            <a:avLst>
              <a:gd name="adj" fmla="val 16000"/>
            </a:avLst>
          </a:prstGeom>
          <a:solidFill>
            <a:srgbClr val="DDF1E4"/>
          </a:solidFill>
          <a:ln w="25400">
            <a:solidFill>
              <a:srgbClr val="237A48"/>
            </a:solidFill>
            <a:prstDash val="solid"/>
          </a:ln>
        </p:spPr>
      </p:sp>
      <p:sp>
        <p:nvSpPr>
          <p:cNvPr id="34" name="Text 32"/>
          <p:cNvSpPr txBox="1"/>
          <p:nvPr/>
        </p:nvSpPr>
        <p:spPr>
          <a:xfrm>
            <a:off x="2926080" y="8351012"/>
            <a:ext cx="2011680" cy="68580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p:txBody>
      </p:sp>
      <p:sp>
        <p:nvSpPr>
          <p:cNvPr id="35" name="Text 3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Webサーバー</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ブラウザからの要求を受け取り、Webページや画像を返す窓口役のソフト。</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600200"/>
          </a:xfrm>
          <a:prstGeom prst="roundRect">
            <a:avLst>
              <a:gd name="adj" fmla="val 8000"/>
            </a:avLst>
          </a:prstGeom>
          <a:solidFill>
            <a:srgbClr val="E6E1F7"/>
          </a:solidFill>
          <a:ln/>
        </p:spPr>
      </p:sp>
      <p:sp>
        <p:nvSpPr>
          <p:cNvPr id="24" name="Text 22"/>
          <p:cNvSpPr txBox="1"/>
          <p:nvPr/>
        </p:nvSpPr>
        <p:spPr>
          <a:xfrm>
            <a:off x="502920" y="4326382"/>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会社やクラウドのサーバーで動く、ブラウザの窓口になるソフト。インターネットの向こう側にある。</a:t>
            </a:r>
            <a:endParaRPr lang="en-US" sz="2000" dirty="0"/>
          </a:p>
        </p:txBody>
      </p:sp>
      <p:sp>
        <p:nvSpPr>
          <p:cNvPr id="25" name="Shape 23"/>
          <p:cNvSpPr/>
          <p:nvPr/>
        </p:nvSpPr>
        <p:spPr>
          <a:xfrm>
            <a:off x="320040" y="6018022"/>
            <a:ext cx="4846320" cy="402336"/>
          </a:xfrm>
          <a:prstGeom prst="roundRect">
            <a:avLst>
              <a:gd name="adj" fmla="val 22727"/>
            </a:avLst>
          </a:prstGeom>
          <a:solidFill>
            <a:srgbClr val="5B46B8"/>
          </a:solidFill>
          <a:ln/>
        </p:spPr>
      </p:sp>
      <p:sp>
        <p:nvSpPr>
          <p:cNvPr id="26" name="Text 24"/>
          <p:cNvSpPr txBox="1"/>
          <p:nvPr/>
        </p:nvSpPr>
        <p:spPr>
          <a:xfrm>
            <a:off x="411480" y="601802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75222"/>
            <a:ext cx="1371600" cy="3822192"/>
          </a:xfrm>
          <a:prstGeom prst="roundRect">
            <a:avLst>
              <a:gd name="adj" fmla="val 8000"/>
            </a:avLst>
          </a:prstGeom>
          <a:solidFill>
            <a:srgbClr val="5B46B8"/>
          </a:solidFill>
          <a:ln/>
        </p:spPr>
      </p:sp>
      <p:sp>
        <p:nvSpPr>
          <p:cNvPr id="28" name="Text 26"/>
          <p:cNvSpPr txBox="1"/>
          <p:nvPr/>
        </p:nvSpPr>
        <p:spPr>
          <a:xfrm>
            <a:off x="411480" y="647522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Webサーバー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47522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47522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813550"/>
            <a:ext cx="1819656" cy="0"/>
          </a:xfrm>
          <a:prstGeom prst="line">
            <a:avLst/>
          </a:prstGeom>
          <a:noFill/>
          <a:ln w="31750">
            <a:solidFill>
              <a:srgbClr val="1B2A3A"/>
            </a:solidFill>
            <a:prstDash val="solid"/>
            <a:tailEnd type="triangle"/>
          </a:ln>
        </p:spPr>
      </p:sp>
      <p:sp>
        <p:nvSpPr>
          <p:cNvPr id="32" name="Text 30"/>
          <p:cNvSpPr txBox="1"/>
          <p:nvPr/>
        </p:nvSpPr>
        <p:spPr>
          <a:xfrm>
            <a:off x="1700784" y="651179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要求を渡す</a:t>
            </a:r>
            <a:endParaRPr lang="en-US" sz="1500" dirty="0"/>
          </a:p>
        </p:txBody>
      </p:sp>
      <p:sp>
        <p:nvSpPr>
          <p:cNvPr id="33" name="Shape 31"/>
          <p:cNvSpPr/>
          <p:nvPr/>
        </p:nvSpPr>
        <p:spPr>
          <a:xfrm>
            <a:off x="3566160" y="7261606"/>
            <a:ext cx="1600200" cy="676656"/>
          </a:xfrm>
          <a:prstGeom prst="roundRect">
            <a:avLst>
              <a:gd name="adj" fmla="val 16216"/>
            </a:avLst>
          </a:prstGeom>
          <a:solidFill>
            <a:srgbClr val="FDEBD0"/>
          </a:solidFill>
          <a:ln w="25400">
            <a:solidFill>
              <a:srgbClr val="B45309"/>
            </a:solidFill>
            <a:prstDash val="solid"/>
          </a:ln>
        </p:spPr>
      </p:sp>
      <p:sp>
        <p:nvSpPr>
          <p:cNvPr id="34" name="Text 32"/>
          <p:cNvSpPr txBox="1"/>
          <p:nvPr/>
        </p:nvSpPr>
        <p:spPr>
          <a:xfrm>
            <a:off x="3657600" y="726160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5" name="Shape 33"/>
          <p:cNvSpPr/>
          <p:nvPr/>
        </p:nvSpPr>
        <p:spPr>
          <a:xfrm flipH="1">
            <a:off x="1719072" y="7599934"/>
            <a:ext cx="1819656" cy="0"/>
          </a:xfrm>
          <a:prstGeom prst="line">
            <a:avLst/>
          </a:prstGeom>
          <a:noFill/>
          <a:ln w="31750">
            <a:solidFill>
              <a:srgbClr val="1B2A3A"/>
            </a:solidFill>
            <a:prstDash val="solid"/>
            <a:tailEnd type="triangle"/>
          </a:ln>
        </p:spPr>
      </p:sp>
      <p:sp>
        <p:nvSpPr>
          <p:cNvPr id="36" name="Text 34"/>
          <p:cNvSpPr txBox="1"/>
          <p:nvPr/>
        </p:nvSpPr>
        <p:spPr>
          <a:xfrm>
            <a:off x="1700784" y="729818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要求を運ぶ</a:t>
            </a:r>
            <a:endParaRPr lang="en-US" sz="1500" dirty="0"/>
          </a:p>
        </p:txBody>
      </p:sp>
      <p:sp>
        <p:nvSpPr>
          <p:cNvPr id="37" name="Shape 35"/>
          <p:cNvSpPr/>
          <p:nvPr/>
        </p:nvSpPr>
        <p:spPr>
          <a:xfrm>
            <a:off x="3566160" y="804799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804799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39" name="Shape 37"/>
          <p:cNvSpPr/>
          <p:nvPr/>
        </p:nvSpPr>
        <p:spPr>
          <a:xfrm>
            <a:off x="1719072" y="8386318"/>
            <a:ext cx="1819656" cy="0"/>
          </a:xfrm>
          <a:prstGeom prst="line">
            <a:avLst/>
          </a:prstGeom>
          <a:noFill/>
          <a:ln w="31750">
            <a:solidFill>
              <a:srgbClr val="1B2A3A"/>
            </a:solidFill>
            <a:prstDash val="solid"/>
            <a:tailEnd type="triangle"/>
          </a:ln>
        </p:spPr>
      </p:sp>
      <p:sp>
        <p:nvSpPr>
          <p:cNvPr id="40" name="Text 38"/>
          <p:cNvSpPr txBox="1"/>
          <p:nvPr/>
        </p:nvSpPr>
        <p:spPr>
          <a:xfrm>
            <a:off x="1700784" y="808456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サーバーの一種</a:t>
            </a:r>
            <a:endParaRPr lang="en-US" sz="1500" dirty="0"/>
          </a:p>
        </p:txBody>
      </p:sp>
      <p:sp>
        <p:nvSpPr>
          <p:cNvPr id="41" name="Shape 39"/>
          <p:cNvSpPr/>
          <p:nvPr/>
        </p:nvSpPr>
        <p:spPr>
          <a:xfrm>
            <a:off x="3566160" y="8834374"/>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83437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HTML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a:off x="1719072" y="9172702"/>
            <a:ext cx="1819656" cy="0"/>
          </a:xfrm>
          <a:prstGeom prst="line">
            <a:avLst/>
          </a:prstGeom>
          <a:noFill/>
          <a:ln w="31750">
            <a:solidFill>
              <a:srgbClr val="1B2A3A"/>
            </a:solidFill>
            <a:prstDash val="solid"/>
            <a:tailEnd type="triangle"/>
          </a:ln>
        </p:spPr>
      </p:sp>
      <p:sp>
        <p:nvSpPr>
          <p:cNvPr id="44" name="Text 42"/>
          <p:cNvSpPr txBox="1"/>
          <p:nvPr/>
        </p:nvSpPr>
        <p:spPr>
          <a:xfrm>
            <a:off x="1700784" y="887095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ページを返す</a:t>
            </a:r>
            <a:endParaRPr lang="en-US" sz="1500" dirty="0"/>
          </a:p>
        </p:txBody>
      </p:sp>
      <p:sp>
        <p:nvSpPr>
          <p:cNvPr id="45" name="Shape 43"/>
          <p:cNvSpPr/>
          <p:nvPr/>
        </p:nvSpPr>
        <p:spPr>
          <a:xfrm>
            <a:off x="3566160" y="9620758"/>
            <a:ext cx="1600200" cy="676656"/>
          </a:xfrm>
          <a:prstGeom prst="roundRect">
            <a:avLst>
              <a:gd name="adj" fmla="val 16216"/>
            </a:avLst>
          </a:prstGeom>
          <a:solidFill>
            <a:srgbClr val="DCE8F8"/>
          </a:solidFill>
          <a:ln w="25400">
            <a:solidFill>
              <a:srgbClr val="2F6BC2"/>
            </a:solidFill>
            <a:prstDash val="solid"/>
          </a:ln>
        </p:spPr>
      </p:sp>
      <p:sp>
        <p:nvSpPr>
          <p:cNvPr id="46" name="Text 44"/>
          <p:cNvSpPr txBox="1"/>
          <p:nvPr/>
        </p:nvSpPr>
        <p:spPr>
          <a:xfrm>
            <a:off x="3657600" y="962075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ログ</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7" name="Shape 45"/>
          <p:cNvSpPr/>
          <p:nvPr/>
        </p:nvSpPr>
        <p:spPr>
          <a:xfrm>
            <a:off x="1719072" y="9959086"/>
            <a:ext cx="1819656" cy="0"/>
          </a:xfrm>
          <a:prstGeom prst="line">
            <a:avLst/>
          </a:prstGeom>
          <a:noFill/>
          <a:ln w="31750">
            <a:solidFill>
              <a:srgbClr val="1B2A3A"/>
            </a:solidFill>
            <a:prstDash val="solid"/>
            <a:tailEnd type="triangle"/>
          </a:ln>
        </p:spPr>
      </p:sp>
      <p:sp>
        <p:nvSpPr>
          <p:cNvPr id="48" name="Text 46"/>
          <p:cNvSpPr txBox="1"/>
          <p:nvPr/>
        </p:nvSpPr>
        <p:spPr>
          <a:xfrm>
            <a:off x="1700784" y="965733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記録する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Webサーバー</a:t>
            </a:r>
            <a:endParaRPr lang="ja-JP" sz="2200" dirty="0"/>
          </a:p>
        </p:txBody>
      </p:sp>
      <p:sp>
        <p:nvSpPr>
          <p:cNvPr id="4" name="Shape 2"/>
          <p:cNvSpPr/>
          <p:nvPr/>
        </p:nvSpPr>
        <p:spPr>
          <a:xfrm>
            <a:off x="320040" y="1318514"/>
            <a:ext cx="4846320" cy="3787648"/>
          </a:xfrm>
          <a:prstGeom prst="roundRect">
            <a:avLst>
              <a:gd name="adj" fmla="val 3380"/>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読み：Web server・ウェブサーバー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ebサーバーは、ブラウザ（ChromeやSafariなど）から届く「このページをください」という要求（リクエスト）を受け、HTMLや画像などのファイルを返すソフトウェアです。HTTP（Webでの通信の決まり）で話します。</a:t>
            </a:r>
            <a:endParaRPr lang="en-US" sz="2000" dirty="0"/>
          </a:p>
        </p:txBody>
      </p:sp>
      <p:sp>
        <p:nvSpPr>
          <p:cNvPr id="7" name="Shape 5"/>
          <p:cNvSpPr/>
          <p:nvPr/>
        </p:nvSpPr>
        <p:spPr>
          <a:xfrm>
            <a:off x="320040" y="5179314"/>
            <a:ext cx="4846320" cy="2296160"/>
          </a:xfrm>
          <a:prstGeom prst="roundRect">
            <a:avLst>
              <a:gd name="adj" fmla="val 5575"/>
            </a:avLst>
          </a:prstGeom>
          <a:solidFill>
            <a:srgbClr val="E6E1F7"/>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基本の仕事は、置いてある完成品のファイル（静的な内容）を返すことです。ログインや注文のように計算や判断が必要な処理は、アプリケーションサーバーなどに受け渡す構成がよくあります。</a:t>
            </a:r>
            <a:endParaRPr lang="en-US" sz="2000" dirty="0"/>
          </a:p>
        </p:txBody>
      </p:sp>
      <p:sp>
        <p:nvSpPr>
          <p:cNvPr id="9" name="Shape 7"/>
          <p:cNvSpPr/>
          <p:nvPr/>
        </p:nvSpPr>
        <p:spPr>
          <a:xfrm>
            <a:off x="320040" y="7548626"/>
            <a:ext cx="4846320" cy="1960880"/>
          </a:xfrm>
          <a:prstGeom prst="roundRect">
            <a:avLst>
              <a:gd name="adj" fmla="val 6528"/>
            </a:avLst>
          </a:prstGeom>
          <a:solidFill>
            <a:srgbClr val="E6E1F7"/>
          </a:solidFill>
          <a:ln/>
        </p:spPr>
      </p:sp>
      <p:sp>
        <p:nvSpPr>
          <p:cNvPr id="10" name="Text 8"/>
          <p:cNvSpPr txBox="1"/>
          <p:nvPr/>
        </p:nvSpPr>
        <p:spPr>
          <a:xfrm>
            <a:off x="502920" y="764006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このほか、通信の暗号化（HTTPS）、アクセスの記録（ログ）、複数のサーバーへの振り分けをすることもあります。代表的な製品にApache HTTP Serverやnginxがあります。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Webサーバー</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レストランの受付係。お客さん（ブラウザ）の注文を聞き、用意済みの料理（HTMLや画像）はすぐ渡し、調理が必要な注文は厨房（アプリケーションサーバー）に回します。</a:t>
            </a:r>
            <a:endParaRPr lang="en-US" sz="2000" dirty="0"/>
          </a:p>
        </p:txBody>
      </p:sp>
      <p:sp>
        <p:nvSpPr>
          <p:cNvPr id="6" name="Shape 4"/>
          <p:cNvSpPr/>
          <p:nvPr/>
        </p:nvSpPr>
        <p:spPr>
          <a:xfrm>
            <a:off x="320040" y="3772154"/>
            <a:ext cx="4846320" cy="2270760"/>
          </a:xfrm>
          <a:prstGeom prst="roundRect">
            <a:avLst>
              <a:gd name="adj" fmla="val 5638"/>
            </a:avLst>
          </a:prstGeom>
          <a:solidFill>
            <a:srgbClr val="DCE8F8"/>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学校のホームページを開くと、文字や画像が表示されます。Webサーバーが、置いてあるファイルを返しているからです。ログインの先の処理は、別のアプリ側が担当します。</a:t>
            </a:r>
            <a:endParaRPr lang="en-US" sz="2000" dirty="0"/>
          </a:p>
        </p:txBody>
      </p:sp>
      <p:sp>
        <p:nvSpPr>
          <p:cNvPr id="8" name="Shape 6"/>
          <p:cNvSpPr/>
          <p:nvPr/>
        </p:nvSpPr>
        <p:spPr>
          <a:xfrm>
            <a:off x="320040" y="6225794"/>
            <a:ext cx="4846320" cy="2270760"/>
          </a:xfrm>
          <a:prstGeom prst="roundRect">
            <a:avLst>
              <a:gd name="adj" fmla="val 5638"/>
            </a:avLst>
          </a:prstGeom>
          <a:solidFill>
            <a:srgbClr val="FBE3E0"/>
          </a:solidFill>
          <a:ln/>
        </p:spPr>
      </p:sp>
      <p:sp>
        <p:nvSpPr>
          <p:cNvPr id="9" name="Text 7"/>
          <p:cNvSpPr txBox="1"/>
          <p:nvPr/>
        </p:nvSpPr>
        <p:spPr>
          <a:xfrm>
            <a:off x="502920" y="631723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「Webサーバー」は、ソフトを指すことも、そのソフトを動かす機械を指すこともあります。同じ機械で他のソフトと動かすことも、別の機械に分けることもあります。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Webサーバー</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ターミナルで python3 -m http.server を実行し、ブラウザで localhost:8000 を開いて、自分のHTMLファイルを表示してみましょう。</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アプリケーションサーバー</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ログインや注文などの「処理」を実行して、結果を返すWebアプリの実行基盤。</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会社やクラウドのサーバーの中で動く、Webアプリを実行するためのソフト。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要求を渡す</a:t>
            </a:r>
            <a:endParaRPr lang="en-US" sz="1500" dirty="0"/>
          </a:p>
        </p:txBody>
      </p:sp>
      <p:sp>
        <p:nvSpPr>
          <p:cNvPr id="33" name="Shape 31"/>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問い合わせる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E6E1F7"/>
          </a:solidFill>
          <a:ln w="25400">
            <a:solidFill>
              <a:srgbClr val="5B46B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45" name="Shape 43"/>
          <p:cNvSpPr/>
          <p:nvPr/>
        </p:nvSpPr>
        <p:spPr>
          <a:xfrm>
            <a:off x="3566160" y="9285478"/>
            <a:ext cx="1600200" cy="676656"/>
          </a:xfrm>
          <a:prstGeom prst="roundRect">
            <a:avLst>
              <a:gd name="adj" fmla="val 16216"/>
            </a:avLst>
          </a:prstGeom>
          <a:solidFill>
            <a:srgbClr val="E6E1F7"/>
          </a:solidFill>
          <a:ln w="25400">
            <a:solidFill>
              <a:srgbClr val="5B46B8"/>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アプリケーションサーバー</a:t>
            </a:r>
            <a:endParaRPr lang="ja-JP" sz="2200" dirty="0"/>
          </a:p>
        </p:txBody>
      </p:sp>
      <p:sp>
        <p:nvSpPr>
          <p:cNvPr id="4" name="Shape 2"/>
          <p:cNvSpPr/>
          <p:nvPr/>
        </p:nvSpPr>
        <p:spPr>
          <a:xfrm>
            <a:off x="320040" y="1318514"/>
            <a:ext cx="4846320" cy="3787648"/>
          </a:xfrm>
          <a:prstGeom prst="roundRect">
            <a:avLst>
              <a:gd name="adj" fmla="val 3380"/>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読み：Application Server・APサーバー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アプリケーションサーバー（APサーバー）は、Webアプリのプログラムを置いて実行する土台のソフトです。ブラウザからの要求に応じて、ログインの確認、計算、データベースへの問い合わせなどを行い、結果を返します。</a:t>
            </a:r>
            <a:endParaRPr lang="en-US" sz="2000" dirty="0"/>
          </a:p>
        </p:txBody>
      </p:sp>
      <p:sp>
        <p:nvSpPr>
          <p:cNvPr id="7" name="Shape 5"/>
          <p:cNvSpPr/>
          <p:nvPr/>
        </p:nvSpPr>
        <p:spPr>
          <a:xfrm>
            <a:off x="320040" y="5179314"/>
            <a:ext cx="4846320" cy="2296160"/>
          </a:xfrm>
          <a:prstGeom prst="roundRect">
            <a:avLst>
              <a:gd name="adj" fmla="val 5575"/>
            </a:avLst>
          </a:prstGeom>
          <a:solidFill>
            <a:srgbClr val="E6E1F7"/>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Webサーバーが「できあがったファイルを渡す係」なら、APサーバーは「注文を受けて作る係」です。多くの構成では、先にWebサーバーが要求を受け、処理が必要なものだけをAPサーバーに回します。</a:t>
            </a:r>
            <a:endParaRPr lang="en-US" sz="2000" dirty="0"/>
          </a:p>
        </p:txBody>
      </p:sp>
      <p:sp>
        <p:nvSpPr>
          <p:cNvPr id="9" name="Shape 7"/>
          <p:cNvSpPr/>
          <p:nvPr/>
        </p:nvSpPr>
        <p:spPr>
          <a:xfrm>
            <a:off x="320040" y="7548626"/>
            <a:ext cx="4846320" cy="2631440"/>
          </a:xfrm>
          <a:prstGeom prst="roundRect">
            <a:avLst>
              <a:gd name="adj" fmla="val 4865"/>
            </a:avLst>
          </a:prstGeom>
          <a:solidFill>
            <a:srgbClr val="E6E1F7"/>
          </a:solidFill>
          <a:ln/>
        </p:spPr>
      </p:sp>
      <p:sp>
        <p:nvSpPr>
          <p:cNvPr id="10" name="Text 8"/>
          <p:cNvSpPr txBox="1"/>
          <p:nvPr/>
        </p:nvSpPr>
        <p:spPr>
          <a:xfrm>
            <a:off x="502920" y="764006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Pサーバーは、プログラムの実行に加え、データベースとの接続の管理や、ログイン状態の管理などの共通機能も提供します。アプリの作り手は、毎回ゼロから作らずに済みます。Javaの製品にはTomcatやWebLogic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アプリケーションサーバー</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レストランの厨房。受付（Webサーバー）から注文票（要求）を受け取り、必要なら食材倉庫（データベース）から材料を出して、料理（結果のページ）を作ります。</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ネット通販で「購入する」を押すと、在庫の確認、金額の計算、注文の記録が行われます。この「処理」を実行しているのが、APサーバー上のWebアプリです。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「アプリケーションサーバー」は、機械ではなく役割やソフトの名前として使われることが多いです。Webサーバーと一体の製品もあり、境目は製品で変わります。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「ブラウザ→Webサーバー→APサーバー→DBサーバー」の図を描き、ログインを例に、各段階が何をするかを一言ずつ書き込んでみましょう。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Tomcat</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JavaのWebアプリを動かす、無料のオープンソース製品（サーブレットコンテナ）。</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サーバーやPCにインストールして使う、Java用のWebアプリ実行ソフト（ミドルウェア）。</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Tomcat</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WebLogic</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1" name="Shape 39"/>
          <p:cNvSpPr/>
          <p:nvPr/>
        </p:nvSpPr>
        <p:spPr>
          <a:xfrm>
            <a:off x="3566160" y="8499094"/>
            <a:ext cx="1600200" cy="676656"/>
          </a:xfrm>
          <a:prstGeom prst="roundRect">
            <a:avLst>
              <a:gd name="adj" fmla="val 16216"/>
            </a:avLst>
          </a:prstGeom>
          <a:solidFill>
            <a:srgbClr val="E6E1F7"/>
          </a:solidFill>
          <a:ln w="25400">
            <a:solidFill>
              <a:srgbClr val="5B46B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Jetty</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5" name="Shape 43"/>
          <p:cNvSpPr/>
          <p:nvPr/>
        </p:nvSpPr>
        <p:spPr>
          <a:xfrm>
            <a:off x="3566160" y="9285478"/>
            <a:ext cx="1600200" cy="676656"/>
          </a:xfrm>
          <a:prstGeom prst="roundRect">
            <a:avLst>
              <a:gd name="adj" fmla="val 16216"/>
            </a:avLst>
          </a:prstGeom>
          <a:solidFill>
            <a:srgbClr val="E6E1F7"/>
          </a:solidFill>
          <a:ln w="25400">
            <a:solidFill>
              <a:srgbClr val="5B46B8"/>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Tomcat</a:t>
            </a:r>
            <a:endParaRPr lang="ja-JP" sz="2200" dirty="0"/>
          </a:p>
        </p:txBody>
      </p:sp>
      <p:sp>
        <p:nvSpPr>
          <p:cNvPr id="4" name="Shape 2"/>
          <p:cNvSpPr/>
          <p:nvPr/>
        </p:nvSpPr>
        <p:spPr>
          <a:xfrm>
            <a:off x="320040" y="1318514"/>
            <a:ext cx="4846320" cy="3452368"/>
          </a:xfrm>
          <a:prstGeom prst="roundRect">
            <a:avLst>
              <a:gd name="adj" fmla="val 3708"/>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読み：Apache Tomcat（アパッチ トムキャット）</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Tomcat（トムキャット）は、非営利の開発団体Apache Software Foundationが開発するオープンソースのソフトウェアです。JavaのWebアプリを置いて動かす土台として広く知られています。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E6E1F7"/>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正確にはサーブレットコンテナ（Javaのプログラムを動かす入れ物）です。Jakarta Servlet、Jakarta Pages（JSP）、WebSocketなどの規格を実装しています。HTTPを直接受ける簡易Webサーバーの機能も内蔵しています。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E6E1F7"/>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Jakarta EE（Javaで企業向けシステムを作る規格群）のすべてを実装した製品ではありません。この点がWebLogicとの大きな違いで、必要な機能は、アプリ側が部品を足して使います。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Tomcat</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Javaのアプリを載せて動かす「実行台」。台の規格（サーブレット）に合わせて作った劇だけを上演でき、足りない舞台道具は劇団が持ち込みます。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Javaを学ぶ授業や独学で、サーブレットを動かす実習環境として使います。会社でも、Java製のWebシステムの動作環境としてよく名前が挙がります。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TomcatはWebLogicのような「全部入り」ではありません。また、名前の似たApache HTTP Server（Webサーバー）とは別の製品です。同じ団体が関わるので紛らわしい点に注意しましょう。</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TomcatをPCに入れ、「Hello」と表示するだけの小さなサーブレットを書いて動かしましょう。先にJavaの基礎文法を学んでおくと進めやすくなります。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WebLogic</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Oracleが提供する、企業向けの機能が広いJavaアプリケーションサーバー。</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企業のサーバー室やクラウドで動く、Java用の大規模向けアプリ実行ソフト。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WebLogic</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Oracle Database</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1" name="Shape 39"/>
          <p:cNvSpPr/>
          <p:nvPr/>
        </p:nvSpPr>
        <p:spPr>
          <a:xfrm>
            <a:off x="3566160" y="8499094"/>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45" name="Shape 43"/>
          <p:cNvSpPr/>
          <p:nvPr/>
        </p:nvSpPr>
        <p:spPr>
          <a:xfrm>
            <a:off x="3566160" y="9285478"/>
            <a:ext cx="1600200" cy="676656"/>
          </a:xfrm>
          <a:prstGeom prst="roundRect">
            <a:avLst>
              <a:gd name="adj" fmla="val 16216"/>
            </a:avLst>
          </a:prstGeom>
          <a:solidFill>
            <a:srgbClr val="E6E1F7"/>
          </a:solidFill>
          <a:ln w="25400">
            <a:solidFill>
              <a:srgbClr val="5B46B8"/>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WebLogic</a:t>
            </a:r>
            <a:endParaRPr lang="ja-JP" sz="2200" dirty="0"/>
          </a:p>
        </p:txBody>
      </p:sp>
      <p:sp>
        <p:nvSpPr>
          <p:cNvPr id="4" name="Shape 2"/>
          <p:cNvSpPr/>
          <p:nvPr/>
        </p:nvSpPr>
        <p:spPr>
          <a:xfrm>
            <a:off x="320040" y="1318514"/>
            <a:ext cx="4846320" cy="3787648"/>
          </a:xfrm>
          <a:prstGeom prst="roundRect">
            <a:avLst>
              <a:gd name="adj" fmla="val 3380"/>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読み：Oracle WebLogic Server（ウェブロジック）</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WebLogic Server（ウェブロジック）は、Oracleが提供するJavaのアプリケーションサーバーです。企業の業務システム向けに作られていて、Jakarta EE（Javaで企業向けシステムを作る規格群）を実装した製品です。</a:t>
            </a:r>
            <a:endParaRPr lang="en-US" sz="2000" dirty="0"/>
          </a:p>
        </p:txBody>
      </p:sp>
      <p:sp>
        <p:nvSpPr>
          <p:cNvPr id="7" name="Shape 5"/>
          <p:cNvSpPr/>
          <p:nvPr/>
        </p:nvSpPr>
        <p:spPr>
          <a:xfrm>
            <a:off x="320040" y="5179314"/>
            <a:ext cx="4846320" cy="2296160"/>
          </a:xfrm>
          <a:prstGeom prst="roundRect">
            <a:avLst>
              <a:gd name="adj" fmla="val 5575"/>
            </a:avLst>
          </a:prstGeom>
          <a:solidFill>
            <a:srgbClr val="E6E1F7"/>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TomcatがServletなどWeb関連の規格を中心にしているのに対し、WebLogicはJakarta EEの広い範囲を扱います。複数のサーバーを束ねて1台のように動かすクラスタと、故障時の引き継ぎの機能もあります。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E6E1F7"/>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有料のライセンスで、Oracleのサポートを受けて使う商用製品です。Oracle Databaseなど同じ会社の製品とも組み合わせられます。管理用の画面（管理コンソール）から設定や配置ができます。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WebLogic</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設備がそろった大型の調理施設。Tomcatを「コンロと包丁の簡易キッチン」とすれば、WebLogicは予備の厨房や管理室まで備えた、大量調理向けの施設です。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大規模な業務システムの設計資料や運用手順書に「WebLogic」と書かれている場面があります。企業向けのシステムに関わると、名前を目にすることがあります。</a:t>
            </a:r>
            <a:endParaRPr lang="en-US" sz="2000" dirty="0"/>
          </a:p>
        </p:txBody>
      </p:sp>
      <p:sp>
        <p:nvSpPr>
          <p:cNvPr id="8" name="Shape 6"/>
          <p:cNvSpPr/>
          <p:nvPr/>
        </p:nvSpPr>
        <p:spPr>
          <a:xfrm>
            <a:off x="320040" y="5555234"/>
            <a:ext cx="4846320" cy="2606040"/>
          </a:xfrm>
          <a:prstGeom prst="roundRect">
            <a:avLst>
              <a:gd name="adj" fmla="val 4912"/>
            </a:avLst>
          </a:prstGeom>
          <a:solidFill>
            <a:srgbClr val="FBE3E0"/>
          </a:solidFill>
          <a:ln/>
        </p:spPr>
      </p:sp>
      <p:sp>
        <p:nvSpPr>
          <p:cNvPr id="9" name="Text 7"/>
          <p:cNvSpPr txBox="1"/>
          <p:nvPr/>
        </p:nvSpPr>
        <p:spPr>
          <a:xfrm>
            <a:off x="502920" y="5646674"/>
            <a:ext cx="4480560" cy="24597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WebLogicはTomcatと機能の範囲が違うだけで、どちらが上という関係ではありません。小さなWebアプリならTomcatで足りる場面もあります。名前から「Webサーバー」と誤解しないよう注意。</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WebLogic</a:t>
            </a:r>
            <a:endParaRPr lang="ja-JP" sz="2200" dirty="0"/>
          </a:p>
        </p:txBody>
      </p:sp>
      <p:sp>
        <p:nvSpPr>
          <p:cNvPr id="4" name="Shape 2"/>
          <p:cNvSpPr/>
          <p:nvPr/>
        </p:nvSpPr>
        <p:spPr>
          <a:xfrm>
            <a:off x="320040" y="1318514"/>
            <a:ext cx="4846320" cy="2270760"/>
          </a:xfrm>
          <a:prstGeom prst="roundRect">
            <a:avLst>
              <a:gd name="adj" fmla="val 5638"/>
            </a:avLst>
          </a:prstGeom>
          <a:solidFill>
            <a:srgbClr val="DDF1E4"/>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まずJavaのWebアプリ（サーブレット）をTomcatで動かしてみます。その後、WebLogicの公式資料で、配置（デプロイ）・設定・ログ確認の流れを読んでみましょう。</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Jetty</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Javaで動く軽量なWebサーバー兼サーブレットコンテナ。アプリに組み込める。</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E6E1F7"/>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Javaのプログラムの中に組み込める、小さなWebサーバー（部品）。</a:t>
            </a:r>
            <a:endParaRPr lang="en-US" sz="2000" dirty="0"/>
          </a:p>
        </p:txBody>
      </p:sp>
      <p:sp>
        <p:nvSpPr>
          <p:cNvPr id="25" name="Shape 23"/>
          <p:cNvSpPr/>
          <p:nvPr/>
        </p:nvSpPr>
        <p:spPr>
          <a:xfrm>
            <a:off x="320040" y="5682742"/>
            <a:ext cx="4846320" cy="402336"/>
          </a:xfrm>
          <a:prstGeom prst="roundRect">
            <a:avLst>
              <a:gd name="adj" fmla="val 22727"/>
            </a:avLst>
          </a:prstGeom>
          <a:solidFill>
            <a:srgbClr val="5B46B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5B46B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Jetty</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1" name="Shape 39"/>
          <p:cNvSpPr/>
          <p:nvPr/>
        </p:nvSpPr>
        <p:spPr>
          <a:xfrm>
            <a:off x="3566160" y="8499094"/>
            <a:ext cx="1600200" cy="676656"/>
          </a:xfrm>
          <a:prstGeom prst="roundRect">
            <a:avLst>
              <a:gd name="adj" fmla="val 16216"/>
            </a:avLst>
          </a:prstGeom>
          <a:solidFill>
            <a:srgbClr val="E6E1F7"/>
          </a:solidFill>
          <a:ln w="25400">
            <a:solidFill>
              <a:srgbClr val="5B46B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WebLogic</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5" name="Shape 43"/>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Javaアプリ</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組み込む</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Jetty</a:t>
            </a:r>
            <a:endParaRPr lang="ja-JP" sz="2200" dirty="0"/>
          </a:p>
        </p:txBody>
      </p:sp>
      <p:sp>
        <p:nvSpPr>
          <p:cNvPr id="4" name="Shape 2"/>
          <p:cNvSpPr/>
          <p:nvPr/>
        </p:nvSpPr>
        <p:spPr>
          <a:xfrm>
            <a:off x="320040" y="1318514"/>
            <a:ext cx="4846320" cy="3117088"/>
          </a:xfrm>
          <a:prstGeom prst="roundRect">
            <a:avLst>
              <a:gd name="adj" fmla="val 4107"/>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読み：Eclipse Jetty（ジェッティ）</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Jetty（ジェッティ）は、オープンソースの開発団体Eclipse Foundationが開発する、Java製のWebサーバー兼サーブレットコンテナです。HTTP/2やWebSocketなど、いろいろな通信方式に対応しています。</a:t>
            </a:r>
            <a:endParaRPr lang="en-US" sz="2000" dirty="0"/>
          </a:p>
        </p:txBody>
      </p:sp>
      <p:sp>
        <p:nvSpPr>
          <p:cNvPr id="7" name="Shape 5"/>
          <p:cNvSpPr/>
          <p:nvPr/>
        </p:nvSpPr>
        <p:spPr>
          <a:xfrm>
            <a:off x="320040" y="4508754"/>
            <a:ext cx="4846320" cy="2631440"/>
          </a:xfrm>
          <a:prstGeom prst="roundRect">
            <a:avLst>
              <a:gd name="adj" fmla="val 4865"/>
            </a:avLst>
          </a:prstGeom>
          <a:solidFill>
            <a:srgbClr val="E6E1F7"/>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特徴は、「組み込み（エンベデッド）」で使いやすいことです。別にサーバーを用意してアプリを置くのではなく、Jettyを部品としてJavaのプログラムに入れ、そのプログラムを起動するとWebサーバーとして動く使い方ができます。</a:t>
            </a:r>
            <a:endParaRPr lang="en-US" sz="2000" dirty="0"/>
          </a:p>
        </p:txBody>
      </p:sp>
      <p:sp>
        <p:nvSpPr>
          <p:cNvPr id="9" name="Shape 7"/>
          <p:cNvSpPr/>
          <p:nvPr/>
        </p:nvSpPr>
        <p:spPr>
          <a:xfrm>
            <a:off x="320040" y="7213346"/>
            <a:ext cx="4846320" cy="1960880"/>
          </a:xfrm>
          <a:prstGeom prst="roundRect">
            <a:avLst>
              <a:gd name="adj" fmla="val 6528"/>
            </a:avLst>
          </a:prstGeom>
          <a:solidFill>
            <a:srgbClr val="E6E1F7"/>
          </a:solidFill>
          <a:ln/>
        </p:spPr>
      </p:sp>
      <p:sp>
        <p:nvSpPr>
          <p:cNvPr id="10" name="Text 8"/>
          <p:cNvSpPr txBox="1"/>
          <p:nvPr/>
        </p:nvSpPr>
        <p:spPr>
          <a:xfrm>
            <a:off x="502920" y="730478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Servletを中心とした機能で、WebLogicのようなJakarta EEの全部入りではありません。小さなツール、開発用の簡易サーバー、フレームワークの内部などで使われます。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Jetty</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小さく軽い、持ち運べるコンロ。自分のアプリというキャンプ道具の袋にそのまま入れて、どこでも火（Web機能）をつけられます。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Javaで作った小さなツールに、ブラウザで操作する画面をつけたいときにJettyを内蔵します。別のサーバーを入れなくても、プログラムを起動するだけで画面が使えます。</a:t>
            </a:r>
            <a:endParaRPr lang="en-US" sz="2000" dirty="0"/>
          </a:p>
        </p:txBody>
      </p:sp>
      <p:sp>
        <p:nvSpPr>
          <p:cNvPr id="8" name="Shape 6"/>
          <p:cNvSpPr/>
          <p:nvPr/>
        </p:nvSpPr>
        <p:spPr>
          <a:xfrm>
            <a:off x="320040" y="5890514"/>
            <a:ext cx="4846320" cy="1935480"/>
          </a:xfrm>
          <a:prstGeom prst="roundRect">
            <a:avLst>
              <a:gd name="adj" fmla="val 6614"/>
            </a:avLst>
          </a:prstGeom>
          <a:solidFill>
            <a:srgbClr val="FBE3E0"/>
          </a:solidFill>
          <a:ln/>
        </p:spPr>
      </p:sp>
      <p:sp>
        <p:nvSpPr>
          <p:cNvPr id="9" name="Text 7"/>
          <p:cNvSpPr txBox="1"/>
          <p:nvPr/>
        </p:nvSpPr>
        <p:spPr>
          <a:xfrm>
            <a:off x="502920" y="5981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Jettyは「Webサーバー」でもありますが、Javaのアプリを動かすサーブレットコンテナでもあります。Apache HTTP Serverとは別の製品です。</a:t>
            </a:r>
            <a:endParaRPr lang="en-US" sz="2000" dirty="0"/>
          </a:p>
        </p:txBody>
      </p:sp>
      <p:sp>
        <p:nvSpPr>
          <p:cNvPr id="10" name="Shape 8"/>
          <p:cNvSpPr/>
          <p:nvPr/>
        </p:nvSpPr>
        <p:spPr>
          <a:xfrm>
            <a:off x="320040" y="8008874"/>
            <a:ext cx="4846320" cy="2270760"/>
          </a:xfrm>
          <a:prstGeom prst="roundRect">
            <a:avLst>
              <a:gd name="adj" fmla="val 5638"/>
            </a:avLst>
          </a:prstGeom>
          <a:solidFill>
            <a:srgbClr val="DDF1E4"/>
          </a:solidFill>
          <a:ln/>
        </p:spPr>
      </p:sp>
      <p:sp>
        <p:nvSpPr>
          <p:cNvPr id="11" name="Text 9"/>
          <p:cNvSpPr txBox="1"/>
          <p:nvPr/>
        </p:nvSpPr>
        <p:spPr>
          <a:xfrm>
            <a:off x="502920" y="8100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Jettyを使った小さなJavaプログラムを動かし、ブラウザで「Hello」と表示してみましょう。プログラムの起動と同時に、Webサーバーが立ち上がることを確かめます。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サーブレット</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Webからの要求を受け取って処理する、サーバー側で動くJavaの部品。</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サーバー側で動く、Javaで書かれたWebアプリの部品（プログラム）。</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サーブレット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E6E1F7"/>
          </a:solidFill>
          <a:ln w="25400">
            <a:solidFill>
              <a:srgbClr val="5B46B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HTML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ページを作る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データを頼む</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サーブレット</a:t>
            </a:r>
            <a:endParaRPr lang="ja-JP" sz="2200" dirty="0"/>
          </a:p>
        </p:txBody>
      </p:sp>
      <p:sp>
        <p:nvSpPr>
          <p:cNvPr id="4" name="Shape 2"/>
          <p:cNvSpPr/>
          <p:nvPr/>
        </p:nvSpPr>
        <p:spPr>
          <a:xfrm>
            <a:off x="320040" y="1318514"/>
            <a:ext cx="4846320" cy="3452368"/>
          </a:xfrm>
          <a:prstGeom prst="roundRect">
            <a:avLst>
              <a:gd name="adj" fmla="val 3708"/>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読み：Servlet（サーブレット）・Jakarta Servlet</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サーブレットは、ブラウザから来た要求（リクエスト）を受け取り、処理して応答（レスポンス）を返すJavaのプログラムの形式です。サーバーの側で動き、結果のHTMLなどを作ります。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DDF1E4"/>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書き方には決まりがあります。HttpServletというクラスを引き継ぎ、doGet（ページを表示する要求用）やdoPost（フォーム送信用）に処理を書きます。この決まりは「Jakarta Servlet」（旧名Java Servlet）という標準の仕様です。</a:t>
            </a:r>
            <a:endParaRPr lang="en-US" sz="2000" dirty="0"/>
          </a:p>
        </p:txBody>
      </p:sp>
      <p:sp>
        <p:nvSpPr>
          <p:cNvPr id="9" name="Shape 7"/>
          <p:cNvSpPr/>
          <p:nvPr/>
        </p:nvSpPr>
        <p:spPr>
          <a:xfrm>
            <a:off x="320040" y="7548626"/>
            <a:ext cx="4846320" cy="2631440"/>
          </a:xfrm>
          <a:prstGeom prst="roundRect">
            <a:avLst>
              <a:gd name="adj" fmla="val 4865"/>
            </a:avLst>
          </a:prstGeom>
          <a:solidFill>
            <a:srgbClr val="DDF1E4"/>
          </a:solidFill>
          <a:ln/>
        </p:spPr>
      </p:sp>
      <p:sp>
        <p:nvSpPr>
          <p:cNvPr id="10" name="Text 8"/>
          <p:cNvSpPr txBox="1"/>
          <p:nvPr/>
        </p:nvSpPr>
        <p:spPr>
          <a:xfrm>
            <a:off x="502920" y="764006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サーブレットは単体では動かず、Tomcatなどのサーブレットコンテナの中で実行されます。通信や起動・終了はコンテナが担当するので、サーブレットは中身の処理に集中できます。Spring MVCなども内部でサーブレットを使います。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サーブレット</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窓口の担当者。お客さん（ブラウザ）の申込書（リクエスト）を読み、決まった手順で処理して、返事の紙（レスポンス）を作ります。窓口の建物（コンテナ）は別に用意されています。</a:t>
            </a:r>
            <a:endParaRPr lang="en-US" sz="2000" dirty="0"/>
          </a:p>
        </p:txBody>
      </p:sp>
      <p:sp>
        <p:nvSpPr>
          <p:cNvPr id="6" name="Shape 4"/>
          <p:cNvSpPr/>
          <p:nvPr/>
        </p:nvSpPr>
        <p:spPr>
          <a:xfrm>
            <a:off x="320040" y="3772154"/>
            <a:ext cx="4846320" cy="2270760"/>
          </a:xfrm>
          <a:prstGeom prst="roundRect">
            <a:avLst>
              <a:gd name="adj" fmla="val 5638"/>
            </a:avLst>
          </a:prstGeom>
          <a:solidFill>
            <a:srgbClr val="DCE8F8"/>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Webページのフォームに名前を入れて送信すると、「こんにちは、〇〇さん」というページが返ってきます。受け取りと返事づくりを、サーブレットが担当できます。</a:t>
            </a:r>
            <a:endParaRPr lang="en-US" sz="2000" dirty="0"/>
          </a:p>
        </p:txBody>
      </p:sp>
      <p:sp>
        <p:nvSpPr>
          <p:cNvPr id="8" name="Shape 6"/>
          <p:cNvSpPr/>
          <p:nvPr/>
        </p:nvSpPr>
        <p:spPr>
          <a:xfrm>
            <a:off x="320040" y="6225794"/>
            <a:ext cx="4846320" cy="2270760"/>
          </a:xfrm>
          <a:prstGeom prst="roundRect">
            <a:avLst>
              <a:gd name="adj" fmla="val 5638"/>
            </a:avLst>
          </a:prstGeom>
          <a:solidFill>
            <a:srgbClr val="FBE3E0"/>
          </a:solidFill>
          <a:ln/>
        </p:spPr>
      </p:sp>
      <p:sp>
        <p:nvSpPr>
          <p:cNvPr id="9" name="Text 7"/>
          <p:cNvSpPr txBox="1"/>
          <p:nvPr/>
        </p:nvSpPr>
        <p:spPr>
          <a:xfrm>
            <a:off x="502920" y="631723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「サーブレット」と「サーバー」は別です。サーブレットはプログラムの部品、サーバーはそれを動かす場所です。また、サーブレットはJava用の仕組みです。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サーブレット</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Tomcatを入れ、HttpServletを引き継いでdoGetに「Hello」を返す処理を書いてみましょう。ブラウザでURLを開き、返ってきた文字を確認します。</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デプロイ</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作ったアプリを、実際に動かすサーバーに置いて、使える状態にすること。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4" name="Shape 22"/>
          <p:cNvSpPr/>
          <p:nvPr/>
        </p:nvSpPr>
        <p:spPr>
          <a:xfrm>
            <a:off x="320040" y="4509262"/>
            <a:ext cx="4846320" cy="1264920"/>
          </a:xfrm>
          <a:prstGeom prst="roundRect">
            <a:avLst>
              <a:gd name="adj" fmla="val 10120"/>
            </a:avLst>
          </a:prstGeom>
          <a:solidFill>
            <a:srgbClr val="E6E1F7"/>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5B46B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アプリを作る側の環境から、実際に動かすサーバーへ「届ける」作業の話。</a:t>
            </a:r>
            <a:endParaRPr lang="en-US" sz="2000" dirty="0"/>
          </a:p>
        </p:txBody>
      </p:sp>
      <p:sp>
        <p:nvSpPr>
          <p:cNvPr id="26" name="Shape 24"/>
          <p:cNvSpPr/>
          <p:nvPr/>
        </p:nvSpPr>
        <p:spPr>
          <a:xfrm>
            <a:off x="320040" y="5957062"/>
            <a:ext cx="4846320" cy="402336"/>
          </a:xfrm>
          <a:prstGeom prst="roundRect">
            <a:avLst>
              <a:gd name="adj" fmla="val 22727"/>
            </a:avLst>
          </a:prstGeom>
          <a:solidFill>
            <a:srgbClr val="5B46B8"/>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5B46B8"/>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デプロイ</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0" name="Shape 28"/>
          <p:cNvSpPr/>
          <p:nvPr/>
        </p:nvSpPr>
        <p:spPr>
          <a:xfrm>
            <a:off x="3566160" y="6414262"/>
            <a:ext cx="1600200" cy="676656"/>
          </a:xfrm>
          <a:prstGeom prst="roundRect">
            <a:avLst>
              <a:gd name="adj" fmla="val 16216"/>
            </a:avLst>
          </a:prstGeom>
          <a:solidFill>
            <a:srgbClr val="E6E1F7"/>
          </a:solidFill>
          <a:ln w="25400">
            <a:solidFill>
              <a:srgbClr val="5B46B8"/>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34" name="Shape 32"/>
          <p:cNvSpPr/>
          <p:nvPr/>
        </p:nvSpPr>
        <p:spPr>
          <a:xfrm>
            <a:off x="3566160" y="7200646"/>
            <a:ext cx="1600200" cy="676656"/>
          </a:xfrm>
          <a:prstGeom prst="roundRect">
            <a:avLst>
              <a:gd name="adj" fmla="val 16216"/>
            </a:avLst>
          </a:prstGeom>
          <a:solidFill>
            <a:srgbClr val="E6E1F7"/>
          </a:solidFill>
          <a:ln w="25400">
            <a:solidFill>
              <a:srgbClr val="5B46B8"/>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38" name="Shape 36"/>
          <p:cNvSpPr/>
          <p:nvPr/>
        </p:nvSpPr>
        <p:spPr>
          <a:xfrm>
            <a:off x="3566160" y="7987030"/>
            <a:ext cx="1600200" cy="676656"/>
          </a:xfrm>
          <a:prstGeom prst="roundRect">
            <a:avLst>
              <a:gd name="adj" fmla="val 16216"/>
            </a:avLst>
          </a:prstGeom>
          <a:solidFill>
            <a:srgbClr val="DDF1E4"/>
          </a:solidFill>
          <a:ln w="25400">
            <a:solidFill>
              <a:srgbClr val="237A48"/>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0" name="Shape 38"/>
          <p:cNvSpPr/>
          <p:nvPr/>
        </p:nvSpPr>
        <p:spPr>
          <a:xfrm flipH="1">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ソースを渡す</a:t>
            </a:r>
            <a:endParaRPr lang="en-US" sz="1500" dirty="0"/>
          </a:p>
        </p:txBody>
      </p:sp>
      <p:sp>
        <p:nvSpPr>
          <p:cNvPr id="42" name="Shape 40"/>
          <p:cNvSpPr/>
          <p:nvPr/>
        </p:nvSpPr>
        <p:spPr>
          <a:xfrm>
            <a:off x="3566160" y="8773414"/>
            <a:ext cx="1600200" cy="676656"/>
          </a:xfrm>
          <a:prstGeom prst="roundRect">
            <a:avLst>
              <a:gd name="adj" fmla="val 16216"/>
            </a:avLst>
          </a:prstGeom>
          <a:solidFill>
            <a:srgbClr val="DFF1FB"/>
          </a:solidFill>
          <a:ln w="25400">
            <a:solidFill>
              <a:srgbClr val="0369A1"/>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クラウドに置く</a:t>
            </a:r>
            <a:endParaRPr lang="en-US" sz="1500" dirty="0"/>
          </a:p>
        </p:txBody>
      </p:sp>
      <p:sp>
        <p:nvSpPr>
          <p:cNvPr id="46" name="Shape 44"/>
          <p:cNvSpPr/>
          <p:nvPr/>
        </p:nvSpPr>
        <p:spPr>
          <a:xfrm>
            <a:off x="3566160" y="9559798"/>
            <a:ext cx="1600200" cy="676656"/>
          </a:xfrm>
          <a:prstGeom prst="roundRect">
            <a:avLst>
              <a:gd name="adj" fmla="val 16216"/>
            </a:avLst>
          </a:prstGeom>
          <a:solidFill>
            <a:srgbClr val="DCE8F8"/>
          </a:solidFill>
          <a:ln w="25400">
            <a:solidFill>
              <a:srgbClr val="2F6BC2"/>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ログ</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8" name="Shape 46"/>
          <p:cNvSpPr/>
          <p:nvPr/>
        </p:nvSpPr>
        <p:spPr>
          <a:xfrm flipH="1">
            <a:off x="1719072" y="9898126"/>
            <a:ext cx="1819656" cy="0"/>
          </a:xfrm>
          <a:prstGeom prst="line">
            <a:avLst/>
          </a:prstGeom>
          <a:noFill/>
          <a:ln w="31750">
            <a:solidFill>
              <a:srgbClr val="1B2A3A"/>
            </a:solidFill>
            <a:prstDash val="solid"/>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確認材料になる</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デプロイ</a:t>
            </a:r>
            <a:endParaRPr lang="ja-JP" sz="2200" dirty="0"/>
          </a:p>
        </p:txBody>
      </p:sp>
      <p:sp>
        <p:nvSpPr>
          <p:cNvPr id="4" name="Shape 2"/>
          <p:cNvSpPr/>
          <p:nvPr/>
        </p:nvSpPr>
        <p:spPr>
          <a:xfrm>
            <a:off x="320040" y="1318514"/>
            <a:ext cx="4846320" cy="3452368"/>
          </a:xfrm>
          <a:prstGeom prst="roundRect">
            <a:avLst>
              <a:gd name="adj" fmla="val 3708"/>
            </a:avLst>
          </a:prstGeom>
          <a:solidFill>
            <a:srgbClr val="E6E1F7"/>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読み：Deploy（デプロイ）・配置・展開</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デプロイ（deploy）は、作ったプログラムを、利用者が実際に使うサーバー（本番環境）などに配置し、動く状態にする作業です。英語の「展開する・配置する」という意味の言葉です。</a:t>
            </a:r>
            <a:endParaRPr lang="en-US" sz="2000" dirty="0"/>
          </a:p>
        </p:txBody>
      </p:sp>
      <p:sp>
        <p:nvSpPr>
          <p:cNvPr id="7" name="Shape 5"/>
          <p:cNvSpPr/>
          <p:nvPr/>
        </p:nvSpPr>
        <p:spPr>
          <a:xfrm>
            <a:off x="320040" y="4844034"/>
            <a:ext cx="4846320" cy="3302000"/>
          </a:xfrm>
          <a:prstGeom prst="roundRect">
            <a:avLst>
              <a:gd name="adj" fmla="val 3877"/>
            </a:avLst>
          </a:prstGeom>
          <a:solidFill>
            <a:srgbClr val="E6E1F7"/>
          </a:solidFill>
          <a:ln/>
        </p:spPr>
      </p:sp>
      <p:sp>
        <p:nvSpPr>
          <p:cNvPr id="8" name="Text 6"/>
          <p:cNvSpPr txBox="1"/>
          <p:nvPr/>
        </p:nvSpPr>
        <p:spPr>
          <a:xfrm>
            <a:off x="502920" y="4935474"/>
            <a:ext cx="4480560" cy="31556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のPCで動いたアプリでも、そのままでは他の人は使えません。ファイルをサーバーに置き、設定を合わせ、起動し、動作を確認するまでがデプロイです。Javaでは、アプリを1つのWARファイル（Javaアプリを1つにまとめた形式）にまとめてTomcatなどに置く方法が代表的です。</a:t>
            </a:r>
            <a:endParaRPr lang="en-US" sz="2000" dirty="0"/>
          </a:p>
        </p:txBody>
      </p:sp>
      <p:sp>
        <p:nvSpPr>
          <p:cNvPr id="9" name="Text 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デプロイ</a:t>
            </a:r>
            <a:endParaRPr lang="ja-JP" sz="2200" dirty="0"/>
          </a:p>
        </p:txBody>
      </p:sp>
      <p:sp>
        <p:nvSpPr>
          <p:cNvPr id="4" name="Shape 2"/>
          <p:cNvSpPr/>
          <p:nvPr/>
        </p:nvSpPr>
        <p:spPr>
          <a:xfrm>
            <a:off x="320040" y="1318514"/>
            <a:ext cx="4846320" cy="2631440"/>
          </a:xfrm>
          <a:prstGeom prst="roundRect">
            <a:avLst>
              <a:gd name="adj" fmla="val 4865"/>
            </a:avLst>
          </a:prstGeom>
          <a:solidFill>
            <a:srgbClr val="E6E1F7"/>
          </a:solidFill>
          <a:ln/>
        </p:spPr>
      </p:sp>
      <p:sp>
        <p:nvSpPr>
          <p:cNvPr id="5" name="Text 3"/>
          <p:cNvSpPr txBox="1"/>
          <p:nvPr/>
        </p:nvSpPr>
        <p:spPr>
          <a:xfrm>
            <a:off x="502920" y="14099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アプリの更新（新しい版を出すこと）もデプロイです。失敗すると公開中のサービスに影響するため、テスト用の環境で試し、問題が起きたら前の版に戻せるよう準備します。この作業を自動化する仕組みも使われます。</a:t>
            </a:r>
            <a:endParaRPr lang="en-US" sz="2000" dirty="0"/>
          </a:p>
        </p:txBody>
      </p:sp>
      <p:sp>
        <p:nvSpPr>
          <p:cNvPr id="6" name="Shape 4"/>
          <p:cNvSpPr/>
          <p:nvPr/>
        </p:nvSpPr>
        <p:spPr>
          <a:xfrm>
            <a:off x="320040" y="4023106"/>
            <a:ext cx="4846320" cy="1935480"/>
          </a:xfrm>
          <a:prstGeom prst="roundRect">
            <a:avLst>
              <a:gd name="adj" fmla="val 6614"/>
            </a:avLst>
          </a:prstGeom>
          <a:solidFill>
            <a:srgbClr val="FDEBD0"/>
          </a:solidFill>
          <a:ln/>
        </p:spPr>
      </p:sp>
      <p:sp>
        <p:nvSpPr>
          <p:cNvPr id="7" name="Text 5"/>
          <p:cNvSpPr txBox="1"/>
          <p:nvPr/>
        </p:nvSpPr>
        <p:spPr>
          <a:xfrm>
            <a:off x="502920" y="411454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新メニューを考えた料理人が、試作を厨房に移し、メニュー表に載せて、お客さんに出せる状態にすること。作っただけではお店の料理になりません。</a:t>
            </a:r>
            <a:endParaRPr lang="en-US" sz="2000" dirty="0"/>
          </a:p>
        </p:txBody>
      </p:sp>
      <p:sp>
        <p:nvSpPr>
          <p:cNvPr id="8" name="Shape 6"/>
          <p:cNvSpPr/>
          <p:nvPr/>
        </p:nvSpPr>
        <p:spPr>
          <a:xfrm>
            <a:off x="320040" y="6141466"/>
            <a:ext cx="4846320" cy="1935480"/>
          </a:xfrm>
          <a:prstGeom prst="roundRect">
            <a:avLst>
              <a:gd name="adj" fmla="val 6614"/>
            </a:avLst>
          </a:prstGeom>
          <a:solidFill>
            <a:srgbClr val="DCE8F8"/>
          </a:solidFill>
          <a:ln/>
        </p:spPr>
      </p:sp>
      <p:sp>
        <p:nvSpPr>
          <p:cNvPr id="9" name="Text 7"/>
          <p:cNvSpPr txBox="1"/>
          <p:nvPr/>
        </p:nvSpPr>
        <p:spPr>
          <a:xfrm>
            <a:off x="502920" y="62329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Webサービスに新機能が追加される日や、ゲームのメンテナンス（サーバーの更新）の時間帯には、裏側でデプロイが行われています。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デプロイ</a:t>
            </a:r>
            <a:endParaRPr lang="ja-JP" sz="2200" dirty="0"/>
          </a:p>
        </p:txBody>
      </p:sp>
      <p:sp>
        <p:nvSpPr>
          <p:cNvPr id="4" name="Shape 2"/>
          <p:cNvSpPr/>
          <p:nvPr/>
        </p:nvSpPr>
        <p:spPr>
          <a:xfrm>
            <a:off x="320040" y="1318514"/>
            <a:ext cx="4846320" cy="2270760"/>
          </a:xfrm>
          <a:prstGeom prst="roundRect">
            <a:avLst>
              <a:gd name="adj" fmla="val 5638"/>
            </a:avLst>
          </a:prstGeom>
          <a:solidFill>
            <a:srgbClr val="FBE3E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デプロイは「ソフトを作る（開発）」とは別の作業です。「インストール」と似ていますが、多くの人が使うサーバー側に置く作業を指すことが多い点が違います。</a:t>
            </a:r>
            <a:endParaRPr lang="en-US" sz="2000" dirty="0"/>
          </a:p>
        </p:txBody>
      </p:sp>
      <p:sp>
        <p:nvSpPr>
          <p:cNvPr id="6" name="Shape 4"/>
          <p:cNvSpPr/>
          <p:nvPr/>
        </p:nvSpPr>
        <p:spPr>
          <a:xfrm>
            <a:off x="320040" y="3772154"/>
            <a:ext cx="4846320" cy="2270760"/>
          </a:xfrm>
          <a:prstGeom prst="roundRect">
            <a:avLst>
              <a:gd name="adj" fmla="val 5638"/>
            </a:avLst>
          </a:prstGeom>
          <a:solidFill>
            <a:srgbClr val="DDF1E4"/>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学習用のPCにTomcatを入れ、小さなWebアプリ（WARファイル）を置いて動作を確認します。中身を少し直して、置き直す（再デプロイ）ところまで試しましょう。</a:t>
            </a:r>
            <a:endParaRPr lang="en-US" sz="2000" dirty="0"/>
          </a:p>
        </p:txBody>
      </p:sp>
      <p:sp>
        <p:nvSpPr>
          <p:cNvPr id="8" name="Text 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デプロイは配置して使える状態に</a:t>
            </a:r>
            <a:endParaRPr lang="ja-JP" sz="2600" dirty="0"/>
          </a:p>
        </p:txBody>
      </p:sp>
      <p:sp>
        <p:nvSpPr>
          <p:cNvPr id="6" name="Text 4"/>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アプリは「作っただけ」では使えません。サーバーに置いて起動し、動作を確認して初めて使えます。</a:t>
            </a:r>
            <a:endParaRPr lang="en-US" sz="1800" dirty="0"/>
          </a:p>
        </p:txBody>
      </p:sp>
      <p:sp>
        <p:nvSpPr>
          <p:cNvPr id="7" name="Shape 5"/>
          <p:cNvSpPr/>
          <p:nvPr/>
        </p:nvSpPr>
        <p:spPr>
          <a:xfrm>
            <a:off x="320040" y="3230372"/>
            <a:ext cx="4846320" cy="911352"/>
          </a:xfrm>
          <a:prstGeom prst="roundRect">
            <a:avLst>
              <a:gd name="adj" fmla="val 12040"/>
            </a:avLst>
          </a:prstGeom>
          <a:solidFill>
            <a:srgbClr val="0B7A7A"/>
          </a:solidFill>
          <a:ln/>
        </p:spPr>
      </p:sp>
      <p:sp>
        <p:nvSpPr>
          <p:cNvPr id="8" name="Text 6"/>
          <p:cNvSpPr txBox="1"/>
          <p:nvPr/>
        </p:nvSpPr>
        <p:spPr>
          <a:xfrm>
            <a:off x="411480" y="323037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作る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コードを書く</a:t>
            </a:r>
            <a:endParaRPr lang="en-US" sz="2000" dirty="0"/>
          </a:p>
        </p:txBody>
      </p:sp>
      <p:sp>
        <p:nvSpPr>
          <p:cNvPr id="9" name="Shape 7"/>
          <p:cNvSpPr/>
          <p:nvPr/>
        </p:nvSpPr>
        <p:spPr>
          <a:xfrm>
            <a:off x="2743200" y="4324604"/>
            <a:ext cx="0" cy="438912"/>
          </a:xfrm>
          <a:prstGeom prst="line">
            <a:avLst/>
          </a:prstGeom>
          <a:noFill/>
          <a:ln w="38100">
            <a:solidFill>
              <a:srgbClr val="1B2A3A"/>
            </a:solidFill>
            <a:prstDash val="solid"/>
            <a:tailEnd type="triangle"/>
          </a:ln>
        </p:spPr>
      </p:sp>
      <p:sp>
        <p:nvSpPr>
          <p:cNvPr id="10" name="Shape 8"/>
          <p:cNvSpPr/>
          <p:nvPr/>
        </p:nvSpPr>
        <p:spPr>
          <a:xfrm>
            <a:off x="320040" y="4781804"/>
            <a:ext cx="4846320" cy="911352"/>
          </a:xfrm>
          <a:prstGeom prst="roundRect">
            <a:avLst>
              <a:gd name="adj" fmla="val 12040"/>
            </a:avLst>
          </a:prstGeom>
          <a:solidFill>
            <a:srgbClr val="2F6BC2"/>
          </a:solidFill>
          <a:ln/>
        </p:spPr>
      </p:sp>
      <p:sp>
        <p:nvSpPr>
          <p:cNvPr id="11" name="Text 9"/>
          <p:cNvSpPr txBox="1"/>
          <p:nvPr/>
        </p:nvSpPr>
        <p:spPr>
          <a:xfrm>
            <a:off x="411480" y="478180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まとめる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実行できる形に</a:t>
            </a:r>
            <a:endParaRPr lang="en-US" sz="2000" dirty="0"/>
          </a:p>
        </p:txBody>
      </p:sp>
      <p:sp>
        <p:nvSpPr>
          <p:cNvPr id="12" name="Shape 10"/>
          <p:cNvSpPr/>
          <p:nvPr/>
        </p:nvSpPr>
        <p:spPr>
          <a:xfrm>
            <a:off x="2743200" y="5876036"/>
            <a:ext cx="0" cy="438912"/>
          </a:xfrm>
          <a:prstGeom prst="line">
            <a:avLst/>
          </a:prstGeom>
          <a:noFill/>
          <a:ln w="38100">
            <a:solidFill>
              <a:srgbClr val="1B2A3A"/>
            </a:solidFill>
            <a:prstDash val="solid"/>
            <a:tailEnd type="triangle"/>
          </a:ln>
        </p:spPr>
      </p:sp>
      <p:sp>
        <p:nvSpPr>
          <p:cNvPr id="13" name="Shape 11"/>
          <p:cNvSpPr/>
          <p:nvPr/>
        </p:nvSpPr>
        <p:spPr>
          <a:xfrm>
            <a:off x="320040" y="6333236"/>
            <a:ext cx="4846320" cy="911352"/>
          </a:xfrm>
          <a:prstGeom prst="roundRect">
            <a:avLst>
              <a:gd name="adj" fmla="val 12040"/>
            </a:avLst>
          </a:prstGeom>
          <a:solidFill>
            <a:srgbClr val="5B46B8"/>
          </a:solidFill>
          <a:ln/>
        </p:spPr>
      </p:sp>
      <p:sp>
        <p:nvSpPr>
          <p:cNvPr id="14" name="Text 12"/>
          <p:cNvSpPr txBox="1"/>
          <p:nvPr/>
        </p:nvSpPr>
        <p:spPr>
          <a:xfrm>
            <a:off x="411480" y="633323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配置する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サーバーに置く</a:t>
            </a:r>
            <a:endParaRPr lang="en-US" sz="2000" dirty="0"/>
          </a:p>
        </p:txBody>
      </p:sp>
      <p:sp>
        <p:nvSpPr>
          <p:cNvPr id="15" name="Shape 13"/>
          <p:cNvSpPr/>
          <p:nvPr/>
        </p:nvSpPr>
        <p:spPr>
          <a:xfrm>
            <a:off x="2743200" y="7427468"/>
            <a:ext cx="0" cy="438912"/>
          </a:xfrm>
          <a:prstGeom prst="line">
            <a:avLst/>
          </a:prstGeom>
          <a:noFill/>
          <a:ln w="38100">
            <a:solidFill>
              <a:srgbClr val="1B2A3A"/>
            </a:solidFill>
            <a:prstDash val="solid"/>
            <a:tailEnd type="triangle"/>
          </a:ln>
        </p:spPr>
      </p:sp>
      <p:sp>
        <p:nvSpPr>
          <p:cNvPr id="16" name="Shape 14"/>
          <p:cNvSpPr/>
          <p:nvPr/>
        </p:nvSpPr>
        <p:spPr>
          <a:xfrm>
            <a:off x="320040" y="7884668"/>
            <a:ext cx="4846320" cy="911352"/>
          </a:xfrm>
          <a:prstGeom prst="roundRect">
            <a:avLst>
              <a:gd name="adj" fmla="val 12040"/>
            </a:avLst>
          </a:prstGeom>
          <a:solidFill>
            <a:srgbClr val="237A48"/>
          </a:solidFill>
          <a:ln/>
        </p:spPr>
      </p:sp>
      <p:sp>
        <p:nvSpPr>
          <p:cNvPr id="17" name="Text 15"/>
          <p:cNvSpPr txBox="1"/>
          <p:nvPr/>
        </p:nvSpPr>
        <p:spPr>
          <a:xfrm>
            <a:off x="411480" y="7884668"/>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起動する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アプリを動かす</a:t>
            </a:r>
            <a:endParaRPr lang="en-US" sz="2000" dirty="0"/>
          </a:p>
        </p:txBody>
      </p:sp>
      <p:sp>
        <p:nvSpPr>
          <p:cNvPr id="18" name="Shape 16"/>
          <p:cNvSpPr/>
          <p:nvPr/>
        </p:nvSpPr>
        <p:spPr>
          <a:xfrm>
            <a:off x="2743200" y="8978900"/>
            <a:ext cx="0" cy="438912"/>
          </a:xfrm>
          <a:prstGeom prst="line">
            <a:avLst/>
          </a:prstGeom>
          <a:noFill/>
          <a:ln w="38100">
            <a:solidFill>
              <a:srgbClr val="1B2A3A"/>
            </a:solidFill>
            <a:prstDash val="solid"/>
            <a:tailEnd type="triangle"/>
          </a:ln>
        </p:spPr>
      </p:sp>
      <p:sp>
        <p:nvSpPr>
          <p:cNvPr id="19" name="Shape 17"/>
          <p:cNvSpPr/>
          <p:nvPr/>
        </p:nvSpPr>
        <p:spPr>
          <a:xfrm>
            <a:off x="320040" y="9436100"/>
            <a:ext cx="4846320" cy="911352"/>
          </a:xfrm>
          <a:prstGeom prst="roundRect">
            <a:avLst>
              <a:gd name="adj" fmla="val 12040"/>
            </a:avLst>
          </a:prstGeom>
          <a:solidFill>
            <a:srgbClr val="B45309"/>
          </a:solidFill>
          <a:ln/>
        </p:spPr>
      </p:sp>
      <p:sp>
        <p:nvSpPr>
          <p:cNvPr id="20" name="Text 18"/>
          <p:cNvSpPr txBox="1"/>
          <p:nvPr/>
        </p:nvSpPr>
        <p:spPr>
          <a:xfrm>
            <a:off x="411480" y="9436100"/>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確認する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画面で動作確認</a:t>
            </a:r>
            <a:endParaRPr lang="en-US" sz="2000" dirty="0"/>
          </a:p>
        </p:txBody>
      </p:sp>
      <p:sp>
        <p:nvSpPr>
          <p:cNvPr id="21"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33233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デプロイは配置して使える状態に</a:t>
            </a:r>
            <a:endParaRPr lang="ja-JP" sz="2200" dirty="0"/>
          </a:p>
        </p:txBody>
      </p:sp>
      <p:sp>
        <p:nvSpPr>
          <p:cNvPr id="4" name="Shape 2"/>
          <p:cNvSpPr/>
          <p:nvPr/>
        </p:nvSpPr>
        <p:spPr>
          <a:xfrm>
            <a:off x="320040" y="1318514"/>
            <a:ext cx="4846320" cy="1615440"/>
          </a:xfrm>
          <a:prstGeom prst="roundRect">
            <a:avLst>
              <a:gd name="adj" fmla="val 6792"/>
            </a:avLst>
          </a:prstGeom>
          <a:solidFill>
            <a:srgbClr val="DCE8F8"/>
          </a:solidFill>
          <a:ln w="19050">
            <a:solidFill>
              <a:srgbClr val="2F6BC2"/>
            </a:solidFill>
            <a:prstDash val="solid"/>
          </a:ln>
        </p:spPr>
      </p:sp>
      <p:sp>
        <p:nvSpPr>
          <p:cNvPr id="5" name="Shape 3"/>
          <p:cNvSpPr/>
          <p:nvPr/>
        </p:nvSpPr>
        <p:spPr>
          <a:xfrm>
            <a:off x="457200" y="1897634"/>
            <a:ext cx="457200" cy="457200"/>
          </a:xfrm>
          <a:prstGeom prst="ellipse">
            <a:avLst/>
          </a:prstGeom>
          <a:solidFill>
            <a:srgbClr val="2F6BC2"/>
          </a:solidFill>
          <a:ln/>
        </p:spPr>
      </p:sp>
      <p:pic>
        <p:nvPicPr>
          <p:cNvPr id="6" name="Image 0" descr="preencoded.png">    </p:cNvPr>
          <p:cNvPicPr>
            <a:picLocks noChangeAspect="1"/>
          </p:cNvPicPr>
          <p:nvPr/>
        </p:nvPicPr>
        <p:blipFill>
          <a:blip r:embed="rId1"/>
          <a:stretch>
            <a:fillRect/>
          </a:stretch>
        </p:blipFill>
        <p:spPr>
          <a:xfrm>
            <a:off x="557784" y="1998218"/>
            <a:ext cx="256032" cy="256032"/>
          </a:xfrm>
          <a:prstGeom prst="rect">
            <a:avLst/>
          </a:prstGeom>
        </p:spPr>
      </p:pic>
      <p:sp>
        <p:nvSpPr>
          <p:cNvPr id="7" name="Text 4"/>
          <p:cNvSpPr txBox="1"/>
          <p:nvPr/>
        </p:nvSpPr>
        <p:spPr>
          <a:xfrm>
            <a:off x="1051560" y="1364234"/>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この「配置して使える状態にする」ことを、デプロイといいます。公開だけでなく、更新のときにも行います。</a:t>
            </a:r>
            <a:endParaRPr lang="en-US" sz="2000" dirty="0"/>
          </a:p>
        </p:txBody>
      </p:sp>
      <p:sp>
        <p:nvSpPr>
          <p:cNvPr id="8"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仮想化・コンテナ・プライベートクラウド</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似て見える3つの言葉は、「何を分けるか・何をまとめるか」が違います。まず表で違いを見ます。</a:t>
            </a:r>
            <a:endParaRPr lang="en-US" sz="1800" dirty="0"/>
          </a:p>
        </p:txBody>
      </p:sp>
      <p:sp>
        <p:nvSpPr>
          <p:cNvPr id="6" name="Shape 4"/>
          <p:cNvSpPr/>
          <p:nvPr/>
        </p:nvSpPr>
        <p:spPr>
          <a:xfrm>
            <a:off x="320040" y="3230372"/>
            <a:ext cx="4846320" cy="2577592"/>
          </a:xfrm>
          <a:prstGeom prst="roundRect">
            <a:avLst>
              <a:gd name="adj" fmla="val 4966"/>
            </a:avLst>
          </a:prstGeom>
          <a:solidFill>
            <a:srgbClr val="D9F2F1"/>
          </a:solidFill>
          <a:ln/>
        </p:spPr>
      </p:sp>
      <p:sp>
        <p:nvSpPr>
          <p:cNvPr id="7" name="Text 5"/>
          <p:cNvSpPr txBox="1"/>
          <p:nvPr/>
        </p:nvSpPr>
        <p:spPr>
          <a:xfrm>
            <a:off x="502920" y="337667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仮想化</a:t>
            </a:r>
            <a:endParaRPr lang="en-US" sz="2200" dirty="0"/>
          </a:p>
        </p:txBody>
      </p:sp>
      <p:sp>
        <p:nvSpPr>
          <p:cNvPr id="8" name="Text 6"/>
          <p:cNvSpPr txBox="1"/>
          <p:nvPr/>
        </p:nvSpPr>
        <p:spPr>
          <a:xfrm>
            <a:off x="502920" y="3836924"/>
            <a:ext cx="4480560" cy="187960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意味：</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1台の物理コンピューター上に、ソフトウェアで複数の仮想コンピューターを作る技術。</a:t>
            </a:r>
            <a:endParaRPr lang="en-US" sz="2000" dirty="0"/>
          </a:p>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WindowsのPCの中で、別のLinuxを動かす。</a:t>
            </a:r>
            <a:endParaRPr lang="en-US" sz="2000" dirty="0"/>
          </a:p>
        </p:txBody>
      </p:sp>
      <p:sp>
        <p:nvSpPr>
          <p:cNvPr id="9" name="Shape 7"/>
          <p:cNvSpPr/>
          <p:nvPr/>
        </p:nvSpPr>
        <p:spPr>
          <a:xfrm>
            <a:off x="320040" y="5990844"/>
            <a:ext cx="4846320" cy="2577592"/>
          </a:xfrm>
          <a:prstGeom prst="roundRect">
            <a:avLst>
              <a:gd name="adj" fmla="val 4966"/>
            </a:avLst>
          </a:prstGeom>
          <a:solidFill>
            <a:srgbClr val="D9F2F1"/>
          </a:solidFill>
          <a:ln/>
        </p:spPr>
      </p:sp>
      <p:sp>
        <p:nvSpPr>
          <p:cNvPr id="10" name="Text 8"/>
          <p:cNvSpPr txBox="1"/>
          <p:nvPr/>
        </p:nvSpPr>
        <p:spPr>
          <a:xfrm>
            <a:off x="502920" y="613714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コンテナ</a:t>
            </a:r>
            <a:endParaRPr lang="en-US" sz="2200" dirty="0"/>
          </a:p>
        </p:txBody>
      </p:sp>
      <p:sp>
        <p:nvSpPr>
          <p:cNvPr id="11" name="Text 9"/>
          <p:cNvSpPr txBox="1"/>
          <p:nvPr/>
        </p:nvSpPr>
        <p:spPr>
          <a:xfrm>
            <a:off x="502920" y="6597396"/>
            <a:ext cx="4480560" cy="187960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意味：</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アプリと必要な部品をまとめ、隔離した環境で動かす仕組み。通常はOSの中心部分を共有する。</a:t>
            </a:r>
            <a:endParaRPr lang="en-US" sz="2000" dirty="0"/>
          </a:p>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Webアプリとデータベースを、それぞれ別のコンテナで動かす。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2/2</a:t>
            </a:r>
            <a:endParaRPr lang="ja-JP" sz="1400" dirty="0"/>
          </a:p>
        </p:txBody>
      </p:sp>
      <p:sp>
        <p:nvSpPr>
          <p:cNvPr id="3" name="Text 1"/>
          <p:cNvSpPr txBox="1"/>
          <p:nvPr/>
        </p:nvSpPr>
        <p:spPr>
          <a:xfrm>
            <a:off x="320040" y="685800"/>
            <a:ext cx="4846320" cy="75336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仮想化・コンテナ・プライベートクラウド</a:t>
            </a:r>
            <a:endParaRPr lang="ja-JP" sz="2200" dirty="0"/>
          </a:p>
        </p:txBody>
      </p:sp>
      <p:sp>
        <p:nvSpPr>
          <p:cNvPr id="4" name="Shape 2"/>
          <p:cNvSpPr/>
          <p:nvPr/>
        </p:nvSpPr>
        <p:spPr>
          <a:xfrm>
            <a:off x="320040" y="1667764"/>
            <a:ext cx="4846320" cy="2577592"/>
          </a:xfrm>
          <a:prstGeom prst="roundRect">
            <a:avLst>
              <a:gd name="adj" fmla="val 4966"/>
            </a:avLst>
          </a:prstGeom>
          <a:solidFill>
            <a:srgbClr val="D9F2F1"/>
          </a:solidFill>
          <a:ln/>
        </p:spPr>
      </p:sp>
      <p:sp>
        <p:nvSpPr>
          <p:cNvPr id="5" name="Text 3"/>
          <p:cNvSpPr txBox="1"/>
          <p:nvPr/>
        </p:nvSpPr>
        <p:spPr>
          <a:xfrm>
            <a:off x="502920" y="181406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プライベートクラウド</a:t>
            </a:r>
            <a:endParaRPr lang="en-US" sz="2200" dirty="0"/>
          </a:p>
        </p:txBody>
      </p:sp>
      <p:sp>
        <p:nvSpPr>
          <p:cNvPr id="6" name="Text 4"/>
          <p:cNvSpPr txBox="1"/>
          <p:nvPr/>
        </p:nvSpPr>
        <p:spPr>
          <a:xfrm>
            <a:off x="502920" y="2274316"/>
            <a:ext cx="4480560" cy="187960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意味：</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特定の組織専用のクラウド環境。自社設備や外部の専用環境などに構築する。</a:t>
            </a:r>
            <a:endParaRPr lang="en-US" sz="2000" dirty="0"/>
          </a:p>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社員が必要な仮想サーバーを申し込み、利用できる社内基盤。</a:t>
            </a:r>
            <a:endParaRPr lang="en-US" sz="2000" dirty="0"/>
          </a:p>
        </p:txBody>
      </p:sp>
      <p:sp>
        <p:nvSpPr>
          <p:cNvPr id="7"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VMはOSごと、コンテナはアプリごと</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VMは「OSつきの仮想コンピューター」、コンテナは「OSを共有する小さな箱」です。</a:t>
            </a:r>
            <a:endParaRPr lang="en-US" sz="1800" dirty="0"/>
          </a:p>
        </p:txBody>
      </p:sp>
      <p:sp>
        <p:nvSpPr>
          <p:cNvPr id="7" name="Shape 5"/>
          <p:cNvSpPr/>
          <p:nvPr/>
        </p:nvSpPr>
        <p:spPr>
          <a:xfrm>
            <a:off x="320040" y="2928620"/>
            <a:ext cx="4846320" cy="457200"/>
          </a:xfrm>
          <a:prstGeom prst="roundRect">
            <a:avLst>
              <a:gd name="adj" fmla="val 20000"/>
            </a:avLst>
          </a:prstGeom>
          <a:solidFill>
            <a:srgbClr val="0B7A7A"/>
          </a:solidFill>
          <a:ln/>
        </p:spPr>
      </p:sp>
      <p:sp>
        <p:nvSpPr>
          <p:cNvPr id="8" name="Text 6"/>
          <p:cNvSpPr txBox="1"/>
          <p:nvPr/>
        </p:nvSpPr>
        <p:spPr>
          <a:xfrm>
            <a:off x="411480" y="2928620"/>
            <a:ext cx="46634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仮想マシン（VM）</a:t>
            </a:r>
            <a:endParaRPr lang="en-US" sz="2000" dirty="0"/>
          </a:p>
        </p:txBody>
      </p:sp>
      <p:sp>
        <p:nvSpPr>
          <p:cNvPr id="9" name="Shape 7"/>
          <p:cNvSpPr/>
          <p:nvPr/>
        </p:nvSpPr>
        <p:spPr>
          <a:xfrm>
            <a:off x="320040" y="3477260"/>
            <a:ext cx="4846320" cy="566928"/>
          </a:xfrm>
          <a:prstGeom prst="roundRect">
            <a:avLst>
              <a:gd name="adj" fmla="val 19355"/>
            </a:avLst>
          </a:prstGeom>
          <a:solidFill>
            <a:srgbClr val="DDF1E4"/>
          </a:solidFill>
          <a:ln w="25400">
            <a:solidFill>
              <a:srgbClr val="237A48"/>
            </a:solidFill>
            <a:prstDash val="solid"/>
          </a:ln>
        </p:spPr>
      </p:sp>
      <p:sp>
        <p:nvSpPr>
          <p:cNvPr id="10" name="Text 8"/>
          <p:cNvSpPr txBox="1"/>
          <p:nvPr/>
        </p:nvSpPr>
        <p:spPr>
          <a:xfrm>
            <a:off x="411480" y="3477260"/>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アプリ＋OS（VM①）</a:t>
            </a:r>
            <a:endParaRPr lang="en-US" sz="1800" dirty="0"/>
          </a:p>
        </p:txBody>
      </p:sp>
      <p:sp>
        <p:nvSpPr>
          <p:cNvPr id="11" name="Shape 9"/>
          <p:cNvSpPr/>
          <p:nvPr/>
        </p:nvSpPr>
        <p:spPr>
          <a:xfrm>
            <a:off x="320040" y="4135628"/>
            <a:ext cx="4846320" cy="566928"/>
          </a:xfrm>
          <a:prstGeom prst="roundRect">
            <a:avLst>
              <a:gd name="adj" fmla="val 19355"/>
            </a:avLst>
          </a:prstGeom>
          <a:solidFill>
            <a:srgbClr val="DDF1E4"/>
          </a:solidFill>
          <a:ln w="25400">
            <a:solidFill>
              <a:srgbClr val="237A48"/>
            </a:solidFill>
            <a:prstDash val="solid"/>
          </a:ln>
        </p:spPr>
      </p:sp>
      <p:sp>
        <p:nvSpPr>
          <p:cNvPr id="12" name="Text 10"/>
          <p:cNvSpPr txBox="1"/>
          <p:nvPr/>
        </p:nvSpPr>
        <p:spPr>
          <a:xfrm>
            <a:off x="411480" y="4135628"/>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アプリ＋OS（VM②）</a:t>
            </a:r>
            <a:endParaRPr lang="en-US" sz="1800" dirty="0"/>
          </a:p>
        </p:txBody>
      </p:sp>
      <p:sp>
        <p:nvSpPr>
          <p:cNvPr id="13" name="Shape 11"/>
          <p:cNvSpPr/>
          <p:nvPr/>
        </p:nvSpPr>
        <p:spPr>
          <a:xfrm>
            <a:off x="320040" y="4793996"/>
            <a:ext cx="4846320" cy="566928"/>
          </a:xfrm>
          <a:prstGeom prst="roundRect">
            <a:avLst>
              <a:gd name="adj" fmla="val 19355"/>
            </a:avLst>
          </a:prstGeom>
          <a:solidFill>
            <a:srgbClr val="0B7A7A"/>
          </a:solidFill>
          <a:ln w="25400">
            <a:solidFill>
              <a:srgbClr val="0B7A7A"/>
            </a:solidFill>
            <a:prstDash val="solid"/>
          </a:ln>
        </p:spPr>
      </p:sp>
      <p:sp>
        <p:nvSpPr>
          <p:cNvPr id="14" name="Text 12"/>
          <p:cNvSpPr txBox="1"/>
          <p:nvPr/>
        </p:nvSpPr>
        <p:spPr>
          <a:xfrm>
            <a:off x="411480" y="4793996"/>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ハイパーバイザー</a:t>
            </a:r>
            <a:endParaRPr lang="en-US" sz="1800" dirty="0"/>
          </a:p>
        </p:txBody>
      </p:sp>
      <p:sp>
        <p:nvSpPr>
          <p:cNvPr id="15" name="Shape 13"/>
          <p:cNvSpPr/>
          <p:nvPr/>
        </p:nvSpPr>
        <p:spPr>
          <a:xfrm>
            <a:off x="320040" y="5452364"/>
            <a:ext cx="4846320" cy="566928"/>
          </a:xfrm>
          <a:prstGeom prst="roundRect">
            <a:avLst>
              <a:gd name="adj" fmla="val 19355"/>
            </a:avLst>
          </a:prstGeom>
          <a:solidFill>
            <a:srgbClr val="475569"/>
          </a:solidFill>
          <a:ln w="25400">
            <a:solidFill>
              <a:srgbClr val="475569"/>
            </a:solidFill>
            <a:prstDash val="solid"/>
          </a:ln>
        </p:spPr>
      </p:sp>
      <p:sp>
        <p:nvSpPr>
          <p:cNvPr id="16" name="Text 14"/>
          <p:cNvSpPr txBox="1"/>
          <p:nvPr/>
        </p:nvSpPr>
        <p:spPr>
          <a:xfrm>
            <a:off x="411480" y="5452364"/>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物理サーバー</a:t>
            </a:r>
            <a:endParaRPr lang="en-US" sz="1800" dirty="0"/>
          </a:p>
        </p:txBody>
      </p:sp>
      <p:sp>
        <p:nvSpPr>
          <p:cNvPr id="17" name="Shape 15"/>
          <p:cNvSpPr/>
          <p:nvPr/>
        </p:nvSpPr>
        <p:spPr>
          <a:xfrm>
            <a:off x="320040" y="6339332"/>
            <a:ext cx="4846320" cy="457200"/>
          </a:xfrm>
          <a:prstGeom prst="roundRect">
            <a:avLst>
              <a:gd name="adj" fmla="val 20000"/>
            </a:avLst>
          </a:prstGeom>
          <a:solidFill>
            <a:srgbClr val="B45309"/>
          </a:solidFill>
          <a:ln/>
        </p:spPr>
      </p:sp>
      <p:sp>
        <p:nvSpPr>
          <p:cNvPr id="18" name="Text 16"/>
          <p:cNvSpPr txBox="1"/>
          <p:nvPr/>
        </p:nvSpPr>
        <p:spPr>
          <a:xfrm>
            <a:off x="411480" y="6339332"/>
            <a:ext cx="46634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コンテナ</a:t>
            </a:r>
            <a:endParaRPr lang="en-US" sz="2000" dirty="0"/>
          </a:p>
        </p:txBody>
      </p:sp>
      <p:sp>
        <p:nvSpPr>
          <p:cNvPr id="19" name="Shape 17"/>
          <p:cNvSpPr/>
          <p:nvPr/>
        </p:nvSpPr>
        <p:spPr>
          <a:xfrm>
            <a:off x="320040" y="6887972"/>
            <a:ext cx="4846320" cy="566928"/>
          </a:xfrm>
          <a:prstGeom prst="roundRect">
            <a:avLst>
              <a:gd name="adj" fmla="val 19355"/>
            </a:avLst>
          </a:prstGeom>
          <a:solidFill>
            <a:srgbClr val="DDF1E4"/>
          </a:solidFill>
          <a:ln w="25400">
            <a:solidFill>
              <a:srgbClr val="237A48"/>
            </a:solidFill>
            <a:prstDash val="solid"/>
          </a:ln>
        </p:spPr>
      </p:sp>
      <p:sp>
        <p:nvSpPr>
          <p:cNvPr id="20" name="Text 18"/>
          <p:cNvSpPr txBox="1"/>
          <p:nvPr/>
        </p:nvSpPr>
        <p:spPr>
          <a:xfrm>
            <a:off x="411480" y="6887972"/>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コンテナA（アプリ）</a:t>
            </a:r>
            <a:endParaRPr lang="en-US" sz="1800" dirty="0"/>
          </a:p>
        </p:txBody>
      </p:sp>
      <p:sp>
        <p:nvSpPr>
          <p:cNvPr id="21" name="Shape 19"/>
          <p:cNvSpPr/>
          <p:nvPr/>
        </p:nvSpPr>
        <p:spPr>
          <a:xfrm>
            <a:off x="320040" y="7546340"/>
            <a:ext cx="4846320" cy="566928"/>
          </a:xfrm>
          <a:prstGeom prst="roundRect">
            <a:avLst>
              <a:gd name="adj" fmla="val 19355"/>
            </a:avLst>
          </a:prstGeom>
          <a:solidFill>
            <a:srgbClr val="DDF1E4"/>
          </a:solidFill>
          <a:ln w="25400">
            <a:solidFill>
              <a:srgbClr val="237A48"/>
            </a:solidFill>
            <a:prstDash val="solid"/>
          </a:ln>
        </p:spPr>
      </p:sp>
      <p:sp>
        <p:nvSpPr>
          <p:cNvPr id="22" name="Text 20"/>
          <p:cNvSpPr txBox="1"/>
          <p:nvPr/>
        </p:nvSpPr>
        <p:spPr>
          <a:xfrm>
            <a:off x="411480" y="7546340"/>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コンテナB（アプリ）</a:t>
            </a:r>
            <a:endParaRPr lang="en-US" sz="1800" dirty="0"/>
          </a:p>
        </p:txBody>
      </p:sp>
      <p:sp>
        <p:nvSpPr>
          <p:cNvPr id="23" name="Shape 21"/>
          <p:cNvSpPr/>
          <p:nvPr/>
        </p:nvSpPr>
        <p:spPr>
          <a:xfrm>
            <a:off x="320040" y="8204708"/>
            <a:ext cx="4846320" cy="566928"/>
          </a:xfrm>
          <a:prstGeom prst="roundRect">
            <a:avLst>
              <a:gd name="adj" fmla="val 19355"/>
            </a:avLst>
          </a:prstGeom>
          <a:solidFill>
            <a:srgbClr val="B45309"/>
          </a:solidFill>
          <a:ln w="25400">
            <a:solidFill>
              <a:srgbClr val="B45309"/>
            </a:solidFill>
            <a:prstDash val="solid"/>
          </a:ln>
        </p:spPr>
      </p:sp>
      <p:sp>
        <p:nvSpPr>
          <p:cNvPr id="24" name="Text 22"/>
          <p:cNvSpPr txBox="1"/>
          <p:nvPr/>
        </p:nvSpPr>
        <p:spPr>
          <a:xfrm>
            <a:off x="411480" y="8204708"/>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コンテナ実行基盤（Dockerなど）</a:t>
            </a:r>
            <a:endParaRPr lang="en-US" sz="1800" dirty="0"/>
          </a:p>
        </p:txBody>
      </p:sp>
      <p:sp>
        <p:nvSpPr>
          <p:cNvPr id="25" name="Shape 23"/>
          <p:cNvSpPr/>
          <p:nvPr/>
        </p:nvSpPr>
        <p:spPr>
          <a:xfrm>
            <a:off x="320040" y="8863076"/>
            <a:ext cx="4846320" cy="566928"/>
          </a:xfrm>
          <a:prstGeom prst="roundRect">
            <a:avLst>
              <a:gd name="adj" fmla="val 19355"/>
            </a:avLst>
          </a:prstGeom>
          <a:solidFill>
            <a:srgbClr val="0B7A7A"/>
          </a:solidFill>
          <a:ln w="25400">
            <a:solidFill>
              <a:srgbClr val="0B7A7A"/>
            </a:solidFill>
            <a:prstDash val="solid"/>
          </a:ln>
        </p:spPr>
      </p:sp>
      <p:sp>
        <p:nvSpPr>
          <p:cNvPr id="26" name="Text 24"/>
          <p:cNvSpPr txBox="1"/>
          <p:nvPr/>
        </p:nvSpPr>
        <p:spPr>
          <a:xfrm>
            <a:off x="411480" y="8863076"/>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OS（共通）</a:t>
            </a:r>
            <a:endParaRPr lang="en-US" sz="1800" dirty="0"/>
          </a:p>
        </p:txBody>
      </p:sp>
      <p:sp>
        <p:nvSpPr>
          <p:cNvPr id="27" name="Shape 25"/>
          <p:cNvSpPr/>
          <p:nvPr/>
        </p:nvSpPr>
        <p:spPr>
          <a:xfrm>
            <a:off x="320040" y="9521444"/>
            <a:ext cx="4846320" cy="566928"/>
          </a:xfrm>
          <a:prstGeom prst="roundRect">
            <a:avLst>
              <a:gd name="adj" fmla="val 19355"/>
            </a:avLst>
          </a:prstGeom>
          <a:solidFill>
            <a:srgbClr val="475569"/>
          </a:solidFill>
          <a:ln w="25400">
            <a:solidFill>
              <a:srgbClr val="475569"/>
            </a:solidFill>
            <a:prstDash val="solid"/>
          </a:ln>
        </p:spPr>
      </p:sp>
      <p:sp>
        <p:nvSpPr>
          <p:cNvPr id="28" name="Text 26"/>
          <p:cNvSpPr txBox="1"/>
          <p:nvPr/>
        </p:nvSpPr>
        <p:spPr>
          <a:xfrm>
            <a:off x="411480" y="9521444"/>
            <a:ext cx="466344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物理サーバー</a:t>
            </a:r>
            <a:endParaRPr lang="en-US" sz="1800" dirty="0"/>
          </a:p>
        </p:txBody>
      </p:sp>
      <p:sp>
        <p:nvSpPr>
          <p:cNvPr id="29" name="Text 2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[D02]</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関係図：仮想化・コンテナの仕組み</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VM（ハイパーバイザー経由）と、コンテナ（OS経由）の2つの道すじと、それを管理する製品の関係です。</a:t>
            </a:r>
            <a:endParaRPr lang="en-US" sz="1800" dirty="0"/>
          </a:p>
        </p:txBody>
      </p:sp>
      <p:sp>
        <p:nvSpPr>
          <p:cNvPr id="6" name="Shape 4"/>
          <p:cNvSpPr/>
          <p:nvPr/>
        </p:nvSpPr>
        <p:spPr>
          <a:xfrm>
            <a:off x="2137410" y="3980180"/>
            <a:ext cx="0" cy="484632"/>
          </a:xfrm>
          <a:prstGeom prst="line">
            <a:avLst/>
          </a:prstGeom>
          <a:noFill/>
          <a:ln w="31750">
            <a:solidFill>
              <a:srgbClr val="1B2A3A"/>
            </a:solidFill>
            <a:prstDash val="solid"/>
            <a:tailEnd type="triangle"/>
          </a:ln>
        </p:spPr>
      </p:sp>
      <p:sp>
        <p:nvSpPr>
          <p:cNvPr id="7" name="Text 5"/>
          <p:cNvSpPr txBox="1"/>
          <p:nvPr/>
        </p:nvSpPr>
        <p:spPr>
          <a:xfrm>
            <a:off x="1569720" y="406933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分けて使う</a:t>
            </a:r>
            <a:endParaRPr lang="en-US" sz="1500" dirty="0"/>
          </a:p>
        </p:txBody>
      </p:sp>
      <p:sp>
        <p:nvSpPr>
          <p:cNvPr id="8" name="Shape 6"/>
          <p:cNvSpPr/>
          <p:nvPr/>
        </p:nvSpPr>
        <p:spPr>
          <a:xfrm>
            <a:off x="3348990" y="3980180"/>
            <a:ext cx="0" cy="484632"/>
          </a:xfrm>
          <a:prstGeom prst="line">
            <a:avLst/>
          </a:prstGeom>
          <a:noFill/>
          <a:ln w="31750">
            <a:solidFill>
              <a:srgbClr val="1B2A3A"/>
            </a:solidFill>
            <a:prstDash val="solid"/>
            <a:tailEnd type="triangle"/>
          </a:ln>
        </p:spPr>
      </p:sp>
      <p:sp>
        <p:nvSpPr>
          <p:cNvPr id="9" name="Text 7"/>
          <p:cNvSpPr txBox="1"/>
          <p:nvPr/>
        </p:nvSpPr>
        <p:spPr>
          <a:xfrm>
            <a:off x="2971800" y="4069334"/>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動かす</a:t>
            </a:r>
            <a:endParaRPr lang="en-US" sz="1500" dirty="0"/>
          </a:p>
        </p:txBody>
      </p:sp>
      <p:sp>
        <p:nvSpPr>
          <p:cNvPr id="10" name="Shape 8"/>
          <p:cNvSpPr/>
          <p:nvPr/>
        </p:nvSpPr>
        <p:spPr>
          <a:xfrm>
            <a:off x="1531620" y="5214620"/>
            <a:ext cx="0" cy="484632"/>
          </a:xfrm>
          <a:prstGeom prst="line">
            <a:avLst/>
          </a:prstGeom>
          <a:noFill/>
          <a:ln w="31750">
            <a:solidFill>
              <a:srgbClr val="1B2A3A"/>
            </a:solidFill>
            <a:prstDash val="solid"/>
            <a:tailEnd type="triangle"/>
          </a:ln>
        </p:spPr>
      </p:sp>
      <p:sp>
        <p:nvSpPr>
          <p:cNvPr id="11" name="Text 9"/>
          <p:cNvSpPr txBox="1"/>
          <p:nvPr/>
        </p:nvSpPr>
        <p:spPr>
          <a:xfrm>
            <a:off x="1249680" y="5303774"/>
            <a:ext cx="563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作る</a:t>
            </a:r>
            <a:endParaRPr lang="en-US" sz="1500" dirty="0"/>
          </a:p>
        </p:txBody>
      </p:sp>
      <p:sp>
        <p:nvSpPr>
          <p:cNvPr id="12" name="Shape 10"/>
          <p:cNvSpPr/>
          <p:nvPr/>
        </p:nvSpPr>
        <p:spPr>
          <a:xfrm>
            <a:off x="3954780" y="5214620"/>
            <a:ext cx="0" cy="484632"/>
          </a:xfrm>
          <a:prstGeom prst="line">
            <a:avLst/>
          </a:prstGeom>
          <a:noFill/>
          <a:ln w="31750">
            <a:solidFill>
              <a:srgbClr val="1B2A3A"/>
            </a:solidFill>
            <a:prstDash val="solid"/>
            <a:tailEnd type="triangle"/>
          </a:ln>
        </p:spPr>
      </p:sp>
      <p:sp>
        <p:nvSpPr>
          <p:cNvPr id="13" name="Text 11"/>
          <p:cNvSpPr txBox="1"/>
          <p:nvPr/>
        </p:nvSpPr>
        <p:spPr>
          <a:xfrm>
            <a:off x="3482340" y="530377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上で動く</a:t>
            </a:r>
            <a:endParaRPr lang="en-US" sz="1500" dirty="0"/>
          </a:p>
        </p:txBody>
      </p:sp>
      <p:sp>
        <p:nvSpPr>
          <p:cNvPr id="14" name="Shape 12"/>
          <p:cNvSpPr/>
          <p:nvPr/>
        </p:nvSpPr>
        <p:spPr>
          <a:xfrm>
            <a:off x="3954780" y="6449060"/>
            <a:ext cx="0" cy="484632"/>
          </a:xfrm>
          <a:prstGeom prst="line">
            <a:avLst/>
          </a:prstGeom>
          <a:noFill/>
          <a:ln w="31750">
            <a:solidFill>
              <a:srgbClr val="1B2A3A"/>
            </a:solidFill>
            <a:prstDash val="solid"/>
            <a:tailEnd type="triangle"/>
          </a:ln>
        </p:spPr>
      </p:sp>
      <p:sp>
        <p:nvSpPr>
          <p:cNvPr id="15" name="Text 13"/>
          <p:cNvSpPr txBox="1"/>
          <p:nvPr/>
        </p:nvSpPr>
        <p:spPr>
          <a:xfrm>
            <a:off x="3672840" y="6538214"/>
            <a:ext cx="563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作る</a:t>
            </a:r>
            <a:endParaRPr lang="en-US" sz="1500" dirty="0"/>
          </a:p>
        </p:txBody>
      </p:sp>
      <p:sp>
        <p:nvSpPr>
          <p:cNvPr id="16" name="Shape 14"/>
          <p:cNvSpPr/>
          <p:nvPr/>
        </p:nvSpPr>
        <p:spPr>
          <a:xfrm flipV="1">
            <a:off x="1531620" y="6449060"/>
            <a:ext cx="0" cy="484632"/>
          </a:xfrm>
          <a:prstGeom prst="line">
            <a:avLst/>
          </a:prstGeom>
          <a:noFill/>
          <a:ln w="31750">
            <a:solidFill>
              <a:srgbClr val="1B2A3A"/>
            </a:solidFill>
            <a:prstDash val="solid"/>
            <a:tailEnd type="triangle"/>
          </a:ln>
        </p:spPr>
      </p:sp>
      <p:sp>
        <p:nvSpPr>
          <p:cNvPr id="17" name="Text 15"/>
          <p:cNvSpPr txBox="1"/>
          <p:nvPr/>
        </p:nvSpPr>
        <p:spPr>
          <a:xfrm>
            <a:off x="1059180" y="653821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管理する</a:t>
            </a:r>
            <a:endParaRPr lang="en-US" sz="1500" dirty="0"/>
          </a:p>
        </p:txBody>
      </p:sp>
      <p:sp>
        <p:nvSpPr>
          <p:cNvPr id="18" name="Shape 16"/>
          <p:cNvSpPr/>
          <p:nvPr/>
        </p:nvSpPr>
        <p:spPr>
          <a:xfrm flipV="1">
            <a:off x="3954780" y="7683500"/>
            <a:ext cx="0" cy="484632"/>
          </a:xfrm>
          <a:prstGeom prst="line">
            <a:avLst/>
          </a:prstGeom>
          <a:noFill/>
          <a:ln w="31750">
            <a:solidFill>
              <a:srgbClr val="1B2A3A"/>
            </a:solidFill>
            <a:prstDash val="solid"/>
            <a:tailEnd type="triangle"/>
          </a:ln>
        </p:spPr>
      </p:sp>
      <p:sp>
        <p:nvSpPr>
          <p:cNvPr id="19" name="Text 17"/>
          <p:cNvSpPr txBox="1"/>
          <p:nvPr/>
        </p:nvSpPr>
        <p:spPr>
          <a:xfrm>
            <a:off x="3482340" y="777265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管理する</a:t>
            </a:r>
            <a:endParaRPr lang="en-US" sz="1500" dirty="0"/>
          </a:p>
        </p:txBody>
      </p:sp>
      <p:sp>
        <p:nvSpPr>
          <p:cNvPr id="20" name="Shape 18"/>
          <p:cNvSpPr/>
          <p:nvPr/>
        </p:nvSpPr>
        <p:spPr>
          <a:xfrm>
            <a:off x="1531620" y="7683500"/>
            <a:ext cx="0" cy="484632"/>
          </a:xfrm>
          <a:prstGeom prst="line">
            <a:avLst/>
          </a:prstGeom>
          <a:noFill/>
          <a:ln w="31750">
            <a:solidFill>
              <a:srgbClr val="1B2A3A"/>
            </a:solidFill>
            <a:prstDash val="solid"/>
            <a:tailEnd type="triangle"/>
          </a:ln>
        </p:spPr>
      </p:sp>
      <p:sp>
        <p:nvSpPr>
          <p:cNvPr id="21" name="Text 19"/>
          <p:cNvSpPr txBox="1"/>
          <p:nvPr/>
        </p:nvSpPr>
        <p:spPr>
          <a:xfrm>
            <a:off x="1154430" y="7772654"/>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を作る</a:t>
            </a:r>
            <a:endParaRPr lang="en-US" sz="1500" dirty="0"/>
          </a:p>
        </p:txBody>
      </p:sp>
      <p:sp>
        <p:nvSpPr>
          <p:cNvPr id="22" name="Shape 20"/>
          <p:cNvSpPr/>
          <p:nvPr/>
        </p:nvSpPr>
        <p:spPr>
          <a:xfrm>
            <a:off x="1965960" y="3230372"/>
            <a:ext cx="1554480" cy="749808"/>
          </a:xfrm>
          <a:prstGeom prst="roundRect">
            <a:avLst>
              <a:gd name="adj" fmla="val 14634"/>
            </a:avLst>
          </a:prstGeom>
          <a:solidFill>
            <a:srgbClr val="E2E8F0"/>
          </a:solidFill>
          <a:ln w="25400">
            <a:solidFill>
              <a:srgbClr val="475569"/>
            </a:solidFill>
            <a:prstDash val="solid"/>
          </a:ln>
        </p:spPr>
      </p:sp>
      <p:sp>
        <p:nvSpPr>
          <p:cNvPr id="23" name="Text 21"/>
          <p:cNvSpPr txBox="1"/>
          <p:nvPr/>
        </p:nvSpPr>
        <p:spPr>
          <a:xfrm>
            <a:off x="2057400" y="323037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ハードウェア</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4" name="Shape 22"/>
          <p:cNvSpPr/>
          <p:nvPr/>
        </p:nvSpPr>
        <p:spPr>
          <a:xfrm>
            <a:off x="754380" y="4464812"/>
            <a:ext cx="1554480" cy="749808"/>
          </a:xfrm>
          <a:prstGeom prst="roundRect">
            <a:avLst>
              <a:gd name="adj" fmla="val 14634"/>
            </a:avLst>
          </a:prstGeom>
          <a:solidFill>
            <a:srgbClr val="D9F2F1"/>
          </a:solidFill>
          <a:ln w="25400">
            <a:solidFill>
              <a:srgbClr val="0B7A7A"/>
            </a:solidFill>
            <a:prstDash val="solid"/>
          </a:ln>
        </p:spPr>
      </p:sp>
      <p:sp>
        <p:nvSpPr>
          <p:cNvPr id="25" name="Text 23"/>
          <p:cNvSpPr txBox="1"/>
          <p:nvPr/>
        </p:nvSpPr>
        <p:spPr>
          <a:xfrm>
            <a:off x="845820" y="446481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ハイパーバイザー</a:t>
            </a:r>
            <a:endParaRPr lang="en-US" sz="1600" dirty="0"/>
          </a:p>
        </p:txBody>
      </p:sp>
      <p:sp>
        <p:nvSpPr>
          <p:cNvPr id="26" name="Shape 24"/>
          <p:cNvSpPr/>
          <p:nvPr/>
        </p:nvSpPr>
        <p:spPr>
          <a:xfrm>
            <a:off x="3177540" y="4464812"/>
            <a:ext cx="1554480" cy="749808"/>
          </a:xfrm>
          <a:prstGeom prst="roundRect">
            <a:avLst>
              <a:gd name="adj" fmla="val 14634"/>
            </a:avLst>
          </a:prstGeom>
          <a:solidFill>
            <a:srgbClr val="DCE8F8"/>
          </a:solidFill>
          <a:ln w="25400">
            <a:solidFill>
              <a:srgbClr val="2F6BC2"/>
            </a:solidFill>
            <a:prstDash val="solid"/>
          </a:ln>
        </p:spPr>
      </p:sp>
      <p:sp>
        <p:nvSpPr>
          <p:cNvPr id="27" name="Text 25"/>
          <p:cNvSpPr txBox="1"/>
          <p:nvPr/>
        </p:nvSpPr>
        <p:spPr>
          <a:xfrm>
            <a:off x="3268980" y="446481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8" name="Shape 26"/>
          <p:cNvSpPr/>
          <p:nvPr/>
        </p:nvSpPr>
        <p:spPr>
          <a:xfrm>
            <a:off x="754380" y="5699252"/>
            <a:ext cx="1554480" cy="749808"/>
          </a:xfrm>
          <a:prstGeom prst="roundRect">
            <a:avLst>
              <a:gd name="adj" fmla="val 14634"/>
            </a:avLst>
          </a:prstGeom>
          <a:solidFill>
            <a:srgbClr val="D9F2F1"/>
          </a:solidFill>
          <a:ln w="25400">
            <a:solidFill>
              <a:srgbClr val="0B7A7A"/>
            </a:solidFill>
            <a:prstDash val="solid"/>
          </a:ln>
        </p:spPr>
      </p:sp>
      <p:sp>
        <p:nvSpPr>
          <p:cNvPr id="29" name="Text 27"/>
          <p:cNvSpPr txBox="1"/>
          <p:nvPr/>
        </p:nvSpPr>
        <p:spPr>
          <a:xfrm>
            <a:off x="845820" y="569925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仮想マシン</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0" name="Shape 28"/>
          <p:cNvSpPr/>
          <p:nvPr/>
        </p:nvSpPr>
        <p:spPr>
          <a:xfrm>
            <a:off x="3177540" y="5699252"/>
            <a:ext cx="1554480" cy="749808"/>
          </a:xfrm>
          <a:prstGeom prst="roundRect">
            <a:avLst>
              <a:gd name="adj" fmla="val 14634"/>
            </a:avLst>
          </a:prstGeom>
          <a:solidFill>
            <a:srgbClr val="D9F2F1"/>
          </a:solidFill>
          <a:ln w="25400">
            <a:solidFill>
              <a:srgbClr val="0B7A7A"/>
            </a:solidFill>
            <a:prstDash val="solid"/>
          </a:ln>
        </p:spPr>
      </p:sp>
      <p:sp>
        <p:nvSpPr>
          <p:cNvPr id="31" name="Text 29"/>
          <p:cNvSpPr txBox="1"/>
          <p:nvPr/>
        </p:nvSpPr>
        <p:spPr>
          <a:xfrm>
            <a:off x="3268980" y="569925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Docker</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2" name="Shape 30"/>
          <p:cNvSpPr/>
          <p:nvPr/>
        </p:nvSpPr>
        <p:spPr>
          <a:xfrm>
            <a:off x="754380" y="6933692"/>
            <a:ext cx="1554480" cy="749808"/>
          </a:xfrm>
          <a:prstGeom prst="roundRect">
            <a:avLst>
              <a:gd name="adj" fmla="val 14634"/>
            </a:avLst>
          </a:prstGeom>
          <a:solidFill>
            <a:srgbClr val="D9F2F1"/>
          </a:solidFill>
          <a:ln w="25400">
            <a:solidFill>
              <a:srgbClr val="0B7A7A"/>
            </a:solidFill>
            <a:prstDash val="solid"/>
          </a:ln>
        </p:spPr>
      </p:sp>
      <p:sp>
        <p:nvSpPr>
          <p:cNvPr id="33" name="Text 31"/>
          <p:cNvSpPr txBox="1"/>
          <p:nvPr/>
        </p:nvSpPr>
        <p:spPr>
          <a:xfrm>
            <a:off x="845820" y="693369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OpenStack</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4" name="Shape 32"/>
          <p:cNvSpPr/>
          <p:nvPr/>
        </p:nvSpPr>
        <p:spPr>
          <a:xfrm>
            <a:off x="3177540" y="6933692"/>
            <a:ext cx="1554480" cy="749808"/>
          </a:xfrm>
          <a:prstGeom prst="roundRect">
            <a:avLst>
              <a:gd name="adj" fmla="val 14634"/>
            </a:avLst>
          </a:prstGeom>
          <a:solidFill>
            <a:srgbClr val="D9F2F1"/>
          </a:solidFill>
          <a:ln w="25400">
            <a:solidFill>
              <a:srgbClr val="0B7A7A"/>
            </a:solidFill>
            <a:prstDash val="solid"/>
          </a:ln>
        </p:spPr>
      </p:sp>
      <p:sp>
        <p:nvSpPr>
          <p:cNvPr id="35" name="Text 33"/>
          <p:cNvSpPr txBox="1"/>
          <p:nvPr/>
        </p:nvSpPr>
        <p:spPr>
          <a:xfrm>
            <a:off x="3268980" y="693369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コンテナ</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6" name="Shape 34"/>
          <p:cNvSpPr/>
          <p:nvPr/>
        </p:nvSpPr>
        <p:spPr>
          <a:xfrm>
            <a:off x="754380" y="8168132"/>
            <a:ext cx="1554480" cy="749808"/>
          </a:xfrm>
          <a:prstGeom prst="roundRect">
            <a:avLst>
              <a:gd name="adj" fmla="val 14634"/>
            </a:avLst>
          </a:prstGeom>
          <a:solidFill>
            <a:srgbClr val="DFF1FB"/>
          </a:solidFill>
          <a:ln w="25400">
            <a:solidFill>
              <a:srgbClr val="0369A1"/>
            </a:solidFill>
            <a:prstDash val="solid"/>
          </a:ln>
        </p:spPr>
      </p:sp>
      <p:sp>
        <p:nvSpPr>
          <p:cNvPr id="37" name="Text 35"/>
          <p:cNvSpPr txBox="1"/>
          <p:nvPr/>
        </p:nvSpPr>
        <p:spPr>
          <a:xfrm>
            <a:off x="845820" y="816813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38" name="Shape 36"/>
          <p:cNvSpPr/>
          <p:nvPr/>
        </p:nvSpPr>
        <p:spPr>
          <a:xfrm>
            <a:off x="3177540" y="8168132"/>
            <a:ext cx="1554480" cy="749808"/>
          </a:xfrm>
          <a:prstGeom prst="roundRect">
            <a:avLst>
              <a:gd name="adj" fmla="val 14634"/>
            </a:avLst>
          </a:prstGeom>
          <a:solidFill>
            <a:srgbClr val="D9F2F1"/>
          </a:solidFill>
          <a:ln w="25400">
            <a:solidFill>
              <a:srgbClr val="0B7A7A"/>
            </a:solidFill>
            <a:prstDash val="solid"/>
          </a:ln>
        </p:spPr>
      </p:sp>
      <p:sp>
        <p:nvSpPr>
          <p:cNvPr id="39" name="Text 37"/>
          <p:cNvSpPr txBox="1"/>
          <p:nvPr/>
        </p:nvSpPr>
        <p:spPr>
          <a:xfrm>
            <a:off x="3268980" y="8168132"/>
            <a:ext cx="137160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Kubernetes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40" name="Text 3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 [D02] [D03]</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仮想化</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1台の機械を、ソフトの力で複数の独立した環境に分けて使う技術。</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0B7A7A"/>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2" name="Shape 20"/>
          <p:cNvSpPr/>
          <p:nvPr/>
        </p:nvSpPr>
        <p:spPr>
          <a:xfrm>
            <a:off x="320040" y="4234942"/>
            <a:ext cx="4846320" cy="929640"/>
          </a:xfrm>
          <a:prstGeom prst="roundRect">
            <a:avLst>
              <a:gd name="adj" fmla="val 13770"/>
            </a:avLst>
          </a:prstGeom>
          <a:solidFill>
            <a:srgbClr val="D9F2F1"/>
          </a:solidFill>
          <a:ln/>
        </p:spPr>
      </p:sp>
      <p:sp>
        <p:nvSpPr>
          <p:cNvPr id="23" name="Text 21"/>
          <p:cNvSpPr txBox="1"/>
          <p:nvPr/>
        </p:nvSpPr>
        <p:spPr>
          <a:xfrm>
            <a:off x="502920" y="4326382"/>
            <a:ext cx="4480560" cy="7833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ハードウェアやOSの上で、1台の機械を分けて使うための層。</a:t>
            </a:r>
            <a:endParaRPr lang="en-US" sz="2000" dirty="0"/>
          </a:p>
        </p:txBody>
      </p:sp>
      <p:sp>
        <p:nvSpPr>
          <p:cNvPr id="24" name="Shape 22"/>
          <p:cNvSpPr/>
          <p:nvPr/>
        </p:nvSpPr>
        <p:spPr>
          <a:xfrm>
            <a:off x="320040" y="5347462"/>
            <a:ext cx="4846320" cy="402336"/>
          </a:xfrm>
          <a:prstGeom prst="roundRect">
            <a:avLst>
              <a:gd name="adj" fmla="val 22727"/>
            </a:avLst>
          </a:prstGeom>
          <a:solidFill>
            <a:srgbClr val="0B7A7A"/>
          </a:solidFill>
          <a:ln/>
        </p:spPr>
      </p:sp>
      <p:sp>
        <p:nvSpPr>
          <p:cNvPr id="25" name="Text 23"/>
          <p:cNvSpPr txBox="1"/>
          <p:nvPr/>
        </p:nvSpPr>
        <p:spPr>
          <a:xfrm>
            <a:off x="411480" y="53474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5804662"/>
            <a:ext cx="1371600" cy="3822192"/>
          </a:xfrm>
          <a:prstGeom prst="roundRect">
            <a:avLst>
              <a:gd name="adj" fmla="val 8000"/>
            </a:avLst>
          </a:prstGeom>
          <a:solidFill>
            <a:srgbClr val="0B7A7A"/>
          </a:solidFill>
          <a:ln/>
        </p:spPr>
      </p:sp>
      <p:sp>
        <p:nvSpPr>
          <p:cNvPr id="27" name="Text 25"/>
          <p:cNvSpPr txBox="1"/>
          <p:nvPr/>
        </p:nvSpPr>
        <p:spPr>
          <a:xfrm>
            <a:off x="411480" y="58046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28" name="Shape 26"/>
          <p:cNvSpPr/>
          <p:nvPr/>
        </p:nvSpPr>
        <p:spPr>
          <a:xfrm>
            <a:off x="3566160" y="5804662"/>
            <a:ext cx="1600200" cy="676656"/>
          </a:xfrm>
          <a:prstGeom prst="roundRect">
            <a:avLst>
              <a:gd name="adj" fmla="val 16216"/>
            </a:avLst>
          </a:prstGeom>
          <a:solidFill>
            <a:srgbClr val="D9F2F1"/>
          </a:solidFill>
          <a:ln w="25400">
            <a:solidFill>
              <a:srgbClr val="0B7A7A"/>
            </a:solidFill>
            <a:prstDash val="solid"/>
          </a:ln>
        </p:spPr>
      </p:sp>
      <p:sp>
        <p:nvSpPr>
          <p:cNvPr id="29" name="Text 27"/>
          <p:cNvSpPr txBox="1"/>
          <p:nvPr/>
        </p:nvSpPr>
        <p:spPr>
          <a:xfrm>
            <a:off x="3657600" y="58046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0" name="Shape 28"/>
          <p:cNvSpPr/>
          <p:nvPr/>
        </p:nvSpPr>
        <p:spPr>
          <a:xfrm flipH="1">
            <a:off x="1719072" y="6142990"/>
            <a:ext cx="1819656" cy="0"/>
          </a:xfrm>
          <a:prstGeom prst="line">
            <a:avLst/>
          </a:prstGeom>
          <a:noFill/>
          <a:ln w="31750">
            <a:solidFill>
              <a:srgbClr val="1B2A3A"/>
            </a:solidFill>
            <a:prstDash val="solid"/>
            <a:tailEnd type="triangle"/>
          </a:ln>
        </p:spPr>
      </p:sp>
      <p:sp>
        <p:nvSpPr>
          <p:cNvPr id="31" name="Text 29"/>
          <p:cNvSpPr txBox="1"/>
          <p:nvPr/>
        </p:nvSpPr>
        <p:spPr>
          <a:xfrm>
            <a:off x="1700784" y="58412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実現する</a:t>
            </a:r>
            <a:endParaRPr lang="en-US" sz="1500" dirty="0"/>
          </a:p>
        </p:txBody>
      </p:sp>
      <p:sp>
        <p:nvSpPr>
          <p:cNvPr id="32" name="Shape 30"/>
          <p:cNvSpPr/>
          <p:nvPr/>
        </p:nvSpPr>
        <p:spPr>
          <a:xfrm>
            <a:off x="3566160" y="6591046"/>
            <a:ext cx="1600200" cy="676656"/>
          </a:xfrm>
          <a:prstGeom prst="roundRect">
            <a:avLst>
              <a:gd name="adj" fmla="val 16216"/>
            </a:avLst>
          </a:prstGeom>
          <a:solidFill>
            <a:srgbClr val="D9F2F1"/>
          </a:solidFill>
          <a:ln w="25400">
            <a:solidFill>
              <a:srgbClr val="0B7A7A"/>
            </a:solidFill>
            <a:prstDash val="solid"/>
          </a:ln>
        </p:spPr>
      </p:sp>
      <p:sp>
        <p:nvSpPr>
          <p:cNvPr id="33" name="Text 31"/>
          <p:cNvSpPr txBox="1"/>
          <p:nvPr/>
        </p:nvSpPr>
        <p:spPr>
          <a:xfrm>
            <a:off x="3657600" y="65910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4" name="Shape 32"/>
          <p:cNvSpPr/>
          <p:nvPr/>
        </p:nvSpPr>
        <p:spPr>
          <a:xfrm>
            <a:off x="1719072" y="6929374"/>
            <a:ext cx="1819656" cy="0"/>
          </a:xfrm>
          <a:prstGeom prst="line">
            <a:avLst/>
          </a:prstGeom>
          <a:noFill/>
          <a:ln w="31750">
            <a:solidFill>
              <a:srgbClr val="1B2A3A"/>
            </a:solidFill>
            <a:prstDash val="solid"/>
            <a:tailEnd type="triangle"/>
          </a:ln>
        </p:spPr>
      </p:sp>
      <p:sp>
        <p:nvSpPr>
          <p:cNvPr id="35" name="Text 33"/>
          <p:cNvSpPr txBox="1"/>
          <p:nvPr/>
        </p:nvSpPr>
        <p:spPr>
          <a:xfrm>
            <a:off x="1700784" y="66276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作り出す</a:t>
            </a:r>
            <a:endParaRPr lang="en-US" sz="1500" dirty="0"/>
          </a:p>
        </p:txBody>
      </p:sp>
      <p:sp>
        <p:nvSpPr>
          <p:cNvPr id="36" name="Shape 34"/>
          <p:cNvSpPr/>
          <p:nvPr/>
        </p:nvSpPr>
        <p:spPr>
          <a:xfrm>
            <a:off x="3566160" y="7377430"/>
            <a:ext cx="1600200" cy="676656"/>
          </a:xfrm>
          <a:prstGeom prst="roundRect">
            <a:avLst>
              <a:gd name="adj" fmla="val 16216"/>
            </a:avLst>
          </a:prstGeom>
          <a:solidFill>
            <a:srgbClr val="D9F2F1"/>
          </a:solidFill>
          <a:ln w="25400">
            <a:solidFill>
              <a:srgbClr val="0B7A7A"/>
            </a:solidFill>
            <a:prstDash val="solid"/>
          </a:ln>
        </p:spPr>
      </p:sp>
      <p:sp>
        <p:nvSpPr>
          <p:cNvPr id="37" name="Text 35"/>
          <p:cNvSpPr txBox="1"/>
          <p:nvPr/>
        </p:nvSpPr>
        <p:spPr>
          <a:xfrm>
            <a:off x="3657600" y="73774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8" name="Shape 36"/>
          <p:cNvSpPr/>
          <p:nvPr/>
        </p:nvSpPr>
        <p:spPr>
          <a:xfrm>
            <a:off x="1719072" y="7715758"/>
            <a:ext cx="1819656" cy="0"/>
          </a:xfrm>
          <a:prstGeom prst="line">
            <a:avLst/>
          </a:prstGeom>
          <a:noFill/>
          <a:ln w="31750">
            <a:solidFill>
              <a:srgbClr val="1B2A3A"/>
            </a:solidFill>
            <a:prstDash val="solid"/>
            <a:headEnd type="triangle"/>
            <a:tailEnd type="triangle"/>
          </a:ln>
        </p:spPr>
      </p:sp>
      <p:sp>
        <p:nvSpPr>
          <p:cNvPr id="39" name="Text 37"/>
          <p:cNvSpPr txBox="1"/>
          <p:nvPr/>
        </p:nvSpPr>
        <p:spPr>
          <a:xfrm>
            <a:off x="1700784" y="74140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別の方式</a:t>
            </a:r>
            <a:endParaRPr lang="en-US" sz="1500" dirty="0"/>
          </a:p>
        </p:txBody>
      </p:sp>
      <p:sp>
        <p:nvSpPr>
          <p:cNvPr id="40" name="Shape 38"/>
          <p:cNvSpPr/>
          <p:nvPr/>
        </p:nvSpPr>
        <p:spPr>
          <a:xfrm>
            <a:off x="3566160" y="816381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1638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a:off x="1719072" y="8502142"/>
            <a:ext cx="1819656" cy="0"/>
          </a:xfrm>
          <a:prstGeom prst="line">
            <a:avLst/>
          </a:prstGeom>
          <a:noFill/>
          <a:ln w="31750">
            <a:solidFill>
              <a:srgbClr val="1B2A3A"/>
            </a:solidFill>
            <a:prstDash val="solid"/>
            <a:tailEnd type="triangle"/>
          </a:ln>
        </p:spPr>
      </p:sp>
      <p:sp>
        <p:nvSpPr>
          <p:cNvPr id="43" name="Text 41"/>
          <p:cNvSpPr txBox="1"/>
          <p:nvPr/>
        </p:nvSpPr>
        <p:spPr>
          <a:xfrm>
            <a:off x="1700784" y="82003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分けて使う</a:t>
            </a:r>
            <a:endParaRPr lang="en-US" sz="1500" dirty="0"/>
          </a:p>
        </p:txBody>
      </p:sp>
      <p:sp>
        <p:nvSpPr>
          <p:cNvPr id="44" name="Shape 42"/>
          <p:cNvSpPr/>
          <p:nvPr/>
        </p:nvSpPr>
        <p:spPr>
          <a:xfrm>
            <a:off x="3566160" y="8950198"/>
            <a:ext cx="1600200" cy="676656"/>
          </a:xfrm>
          <a:prstGeom prst="roundRect">
            <a:avLst>
              <a:gd name="adj" fmla="val 16216"/>
            </a:avLst>
          </a:prstGeom>
          <a:solidFill>
            <a:srgbClr val="DFF1FB"/>
          </a:solidFill>
          <a:ln w="25400">
            <a:solidFill>
              <a:srgbClr val="0369A1"/>
            </a:solidFill>
            <a:prstDash val="solid"/>
          </a:ln>
        </p:spPr>
      </p:sp>
      <p:sp>
        <p:nvSpPr>
          <p:cNvPr id="45" name="Text 43"/>
          <p:cNvSpPr txBox="1"/>
          <p:nvPr/>
        </p:nvSpPr>
        <p:spPr>
          <a:xfrm>
            <a:off x="3657600" y="89501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6" name="Shape 44"/>
          <p:cNvSpPr/>
          <p:nvPr/>
        </p:nvSpPr>
        <p:spPr>
          <a:xfrm>
            <a:off x="1719072" y="9288526"/>
            <a:ext cx="1819656" cy="0"/>
          </a:xfrm>
          <a:prstGeom prst="line">
            <a:avLst/>
          </a:prstGeom>
          <a:noFill/>
          <a:ln w="31750">
            <a:solidFill>
              <a:srgbClr val="1B2A3A"/>
            </a:solidFill>
            <a:prstDash val="solid"/>
            <a:tailEnd type="triangle"/>
          </a:ln>
        </p:spPr>
      </p:sp>
      <p:sp>
        <p:nvSpPr>
          <p:cNvPr id="47" name="Text 45"/>
          <p:cNvSpPr txBox="1"/>
          <p:nvPr/>
        </p:nvSpPr>
        <p:spPr>
          <a:xfrm>
            <a:off x="1700784" y="89867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仮想化</a:t>
            </a:r>
            <a:endParaRPr lang="ja-JP" sz="2200" dirty="0"/>
          </a:p>
        </p:txBody>
      </p:sp>
      <p:sp>
        <p:nvSpPr>
          <p:cNvPr id="4" name="Shape 2"/>
          <p:cNvSpPr/>
          <p:nvPr/>
        </p:nvSpPr>
        <p:spPr>
          <a:xfrm>
            <a:off x="320040" y="1318514"/>
            <a:ext cx="4846320" cy="3117088"/>
          </a:xfrm>
          <a:prstGeom prst="roundRect">
            <a:avLst>
              <a:gd name="adj" fmla="val 4107"/>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読み：バーチャライゼーション・仮想化技術</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仮想化は、1台の本物の機械（物理サーバー）を、ソフトで「何台かの別々のコンピューター」に見せる技術です。分けた1つ1つを仮想マシン（VM）と呼びます。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9F2F1"/>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やり方は大きく2つです。OSごと分けるVM型と、アプリごと箱に詰めるコンテナ型です。目的は、CPUやメモリの使い残しをなくし、用途ごとに環境を分けて管理しやすくすることです。</a:t>
            </a:r>
            <a:endParaRPr lang="en-US" sz="2000" dirty="0"/>
          </a:p>
        </p:txBody>
      </p:sp>
      <p:sp>
        <p:nvSpPr>
          <p:cNvPr id="9" name="Shape 7"/>
          <p:cNvSpPr/>
          <p:nvPr/>
        </p:nvSpPr>
        <p:spPr>
          <a:xfrm>
            <a:off x="320040" y="6878066"/>
            <a:ext cx="4846320" cy="1960880"/>
          </a:xfrm>
          <a:prstGeom prst="roundRect">
            <a:avLst>
              <a:gd name="adj" fmla="val 6528"/>
            </a:avLst>
          </a:prstGeom>
          <a:solidFill>
            <a:srgbClr val="D9F2F1"/>
          </a:solidFill>
          <a:ln/>
        </p:spPr>
      </p:sp>
      <p:sp>
        <p:nvSpPr>
          <p:cNvPr id="10" name="Text 8"/>
          <p:cNvSpPr txBox="1"/>
          <p:nvPr/>
        </p:nvSpPr>
        <p:spPr>
          <a:xfrm>
            <a:off x="502920" y="696950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分けた環境は、作る・コピーする・消すがソフトの操作だけで済みます。機械を買い足すより速く、クラウドもこの仮想化の上に成り立っています。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仮想化</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1台に1用途なら一戸建て。仮想化は、大きなマンションを部屋ごとに貸す方式で、物理サーバーがマンション、分けた環境が各部屋です。</a:t>
            </a:r>
            <a:endParaRPr lang="en-US" sz="2000" dirty="0"/>
          </a:p>
        </p:txBody>
      </p:sp>
      <p:sp>
        <p:nvSpPr>
          <p:cNvPr id="6" name="Shape 4"/>
          <p:cNvSpPr/>
          <p:nvPr/>
        </p:nvSpPr>
        <p:spPr>
          <a:xfrm>
            <a:off x="320040" y="3436874"/>
            <a:ext cx="4846320" cy="1600200"/>
          </a:xfrm>
          <a:prstGeom prst="roundRect">
            <a:avLst>
              <a:gd name="adj" fmla="val 8000"/>
            </a:avLst>
          </a:prstGeom>
          <a:solidFill>
            <a:srgbClr val="DCE8F8"/>
          </a:solidFill>
          <a:ln/>
        </p:spPr>
      </p:sp>
      <p:sp>
        <p:nvSpPr>
          <p:cNvPr id="7" name="Text 5"/>
          <p:cNvSpPr txBox="1"/>
          <p:nvPr/>
        </p:nvSpPr>
        <p:spPr>
          <a:xfrm>
            <a:off x="502920" y="3528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 PCの中でLinuxを試す、会社が10個の小さなシステムを数台のサーバーにまとめる、といった場面で使われます。</a:t>
            </a:r>
            <a:endParaRPr lang="en-US" sz="2000" dirty="0"/>
          </a:p>
        </p:txBody>
      </p:sp>
      <p:sp>
        <p:nvSpPr>
          <p:cNvPr id="8" name="Shape 6"/>
          <p:cNvSpPr/>
          <p:nvPr/>
        </p:nvSpPr>
        <p:spPr>
          <a:xfrm>
            <a:off x="320040" y="5219954"/>
            <a:ext cx="4846320" cy="1935480"/>
          </a:xfrm>
          <a:prstGeom prst="roundRect">
            <a:avLst>
              <a:gd name="adj" fmla="val 6614"/>
            </a:avLst>
          </a:prstGeom>
          <a:solidFill>
            <a:srgbClr val="FBE3E0"/>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仮想化は「VMを作ること」だけではなく、コンテナも仮想化の仲間です。VMの実際の性能は、元の物理サーバーの性能が上限です。</a:t>
            </a:r>
            <a:endParaRPr lang="en-US" sz="2000" dirty="0"/>
          </a:p>
        </p:txBody>
      </p:sp>
      <p:sp>
        <p:nvSpPr>
          <p:cNvPr id="10" name="Shape 8"/>
          <p:cNvSpPr/>
          <p:nvPr/>
        </p:nvSpPr>
        <p:spPr>
          <a:xfrm>
            <a:off x="320040" y="7338314"/>
            <a:ext cx="4846320" cy="1600200"/>
          </a:xfrm>
          <a:prstGeom prst="roundRect">
            <a:avLst>
              <a:gd name="adj" fmla="val 8000"/>
            </a:avLst>
          </a:prstGeom>
          <a:solidFill>
            <a:srgbClr val="DDF1E4"/>
          </a:solidFill>
          <a:ln/>
        </p:spPr>
      </p:sp>
      <p:sp>
        <p:nvSpPr>
          <p:cNvPr id="11" name="Text 9"/>
          <p:cNvSpPr txBox="1"/>
          <p:nvPr/>
        </p:nvSpPr>
        <p:spPr>
          <a:xfrm>
            <a:off x="502920" y="74297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タスクマネージャーの「パフォーマンス」→「CPU」で、自分のPCの「仮想化」が有効か確認しましょう。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仮想マシン（VM）</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本物の機械の中に、ソフトで作る「もう1台のコンピューター」。</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3" name="Shape 21"/>
          <p:cNvSpPr/>
          <p:nvPr/>
        </p:nvSpPr>
        <p:spPr>
          <a:xfrm>
            <a:off x="320040" y="4234942"/>
            <a:ext cx="4846320" cy="1264920"/>
          </a:xfrm>
          <a:prstGeom prst="roundRect">
            <a:avLst>
              <a:gd name="adj" fmla="val 10120"/>
            </a:avLst>
          </a:prstGeom>
          <a:solidFill>
            <a:srgbClr val="D9F2F1"/>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サーバーやPCの中でソフトとして動く「仮想のコンピューター」。</a:t>
            </a:r>
            <a:endParaRPr lang="en-US" sz="2000" dirty="0"/>
          </a:p>
        </p:txBody>
      </p:sp>
      <p:sp>
        <p:nvSpPr>
          <p:cNvPr id="25" name="Shape 23"/>
          <p:cNvSpPr/>
          <p:nvPr/>
        </p:nvSpPr>
        <p:spPr>
          <a:xfrm>
            <a:off x="320040" y="5682742"/>
            <a:ext cx="4846320" cy="402336"/>
          </a:xfrm>
          <a:prstGeom prst="roundRect">
            <a:avLst>
              <a:gd name="adj" fmla="val 22727"/>
            </a:avLst>
          </a:prstGeom>
          <a:solidFill>
            <a:srgbClr val="0B7A7A"/>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0B7A7A"/>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仮想マシン</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29" name="Shape 27"/>
          <p:cNvSpPr/>
          <p:nvPr/>
        </p:nvSpPr>
        <p:spPr>
          <a:xfrm>
            <a:off x="3566160" y="6139942"/>
            <a:ext cx="1600200" cy="676656"/>
          </a:xfrm>
          <a:prstGeom prst="roundRect">
            <a:avLst>
              <a:gd name="adj" fmla="val 16216"/>
            </a:avLst>
          </a:prstGeom>
          <a:solidFill>
            <a:srgbClr val="D9F2F1"/>
          </a:solidFill>
          <a:ln w="25400">
            <a:solidFill>
              <a:srgbClr val="0B7A7A"/>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作り出す</a:t>
            </a:r>
            <a:endParaRPr lang="en-US" sz="1500" dirty="0"/>
          </a:p>
        </p:txBody>
      </p:sp>
      <p:sp>
        <p:nvSpPr>
          <p:cNvPr id="33" name="Shape 31"/>
          <p:cNvSpPr/>
          <p:nvPr/>
        </p:nvSpPr>
        <p:spPr>
          <a:xfrm>
            <a:off x="3566160" y="6926326"/>
            <a:ext cx="1600200" cy="676656"/>
          </a:xfrm>
          <a:prstGeom prst="roundRect">
            <a:avLst>
              <a:gd name="adj" fmla="val 16216"/>
            </a:avLst>
          </a:prstGeom>
          <a:solidFill>
            <a:srgbClr val="DCE8F8"/>
          </a:solidFill>
          <a:ln w="25400">
            <a:solidFill>
              <a:srgbClr val="2F6BC2"/>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OSを動かす</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部品を借りる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D9F2F1"/>
          </a:solidFill>
          <a:ln w="25400">
            <a:solidFill>
              <a:srgbClr val="0B7A7A"/>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5" name="Shape 43"/>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仮想マシン（VM）</a:t>
            </a:r>
            <a:endParaRPr lang="ja-JP" sz="2200" dirty="0"/>
          </a:p>
        </p:txBody>
      </p:sp>
      <p:sp>
        <p:nvSpPr>
          <p:cNvPr id="4" name="Shape 2"/>
          <p:cNvSpPr/>
          <p:nvPr/>
        </p:nvSpPr>
        <p:spPr>
          <a:xfrm>
            <a:off x="320040" y="1318514"/>
            <a:ext cx="4846320" cy="3117088"/>
          </a:xfrm>
          <a:prstGeom prst="roundRect">
            <a:avLst>
              <a:gd name="adj" fmla="val 4107"/>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読み：ブイエム・Virtual Machine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仮想マシン（VM）は、ソフトで作った架空のコンピューターです。CPU・メモリ・ディスクが本物のPCのように見えるので、WindowsやLinuxなどのOSをまるごと入れて動かせます。</a:t>
            </a:r>
            <a:endParaRPr lang="en-US" sz="2000" dirty="0"/>
          </a:p>
        </p:txBody>
      </p:sp>
      <p:sp>
        <p:nvSpPr>
          <p:cNvPr id="7" name="Shape 5"/>
          <p:cNvSpPr/>
          <p:nvPr/>
        </p:nvSpPr>
        <p:spPr>
          <a:xfrm>
            <a:off x="320040" y="4508754"/>
            <a:ext cx="4846320" cy="2631440"/>
          </a:xfrm>
          <a:prstGeom prst="roundRect">
            <a:avLst>
              <a:gd name="adj" fmla="val 4865"/>
            </a:avLst>
          </a:prstGeom>
          <a:solidFill>
            <a:srgbClr val="D9F2F1"/>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本物の機械（ホスト）の部品は、ハイパーバイザーが割り当てます。VMは仮想ディスクという大きなファイルとして保存されることが多く、コピーすれば増やせます。VMごとにOSを持つため、起動は遅めで、メモリも多く使います。</a:t>
            </a:r>
            <a:endParaRPr lang="en-US" sz="2000" dirty="0"/>
          </a:p>
        </p:txBody>
      </p:sp>
      <p:sp>
        <p:nvSpPr>
          <p:cNvPr id="9" name="Shape 7"/>
          <p:cNvSpPr/>
          <p:nvPr/>
        </p:nvSpPr>
        <p:spPr>
          <a:xfrm>
            <a:off x="320040" y="7213346"/>
            <a:ext cx="4846320" cy="1935480"/>
          </a:xfrm>
          <a:prstGeom prst="roundRect">
            <a:avLst>
              <a:gd name="adj" fmla="val 6614"/>
            </a:avLst>
          </a:prstGeom>
          <a:solidFill>
            <a:srgbClr val="FDEBD0"/>
          </a:solidFill>
          <a:ln/>
        </p:spPr>
      </p:sp>
      <p:sp>
        <p:nvSpPr>
          <p:cNvPr id="10" name="Text 8"/>
          <p:cNvSpPr txBox="1"/>
          <p:nvPr/>
        </p:nvSpPr>
        <p:spPr>
          <a:xfrm>
            <a:off x="502920" y="730478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アパートの1室。部屋ごとに玄関・台所・風呂（＝OS）が独立し、隣に左右されませんが、設備が全部屋にあるぶん場所をとります。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仮想マシン（VM）</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PCの中で別のOSを試す、授業でLinuxを入れて壊してもやり直す、古いシステムを専用のVMに分けて動かす、といった場面です。</a:t>
            </a:r>
            <a:endParaRPr lang="en-US" sz="2000" dirty="0"/>
          </a:p>
        </p:txBody>
      </p:sp>
      <p:sp>
        <p:nvSpPr>
          <p:cNvPr id="6" name="Shape 4"/>
          <p:cNvSpPr/>
          <p:nvPr/>
        </p:nvSpPr>
        <p:spPr>
          <a:xfrm>
            <a:off x="320040" y="3436874"/>
            <a:ext cx="4846320" cy="1600200"/>
          </a:xfrm>
          <a:prstGeom prst="roundRect">
            <a:avLst>
              <a:gd name="adj" fmla="val 8000"/>
            </a:avLst>
          </a:prstGeom>
          <a:solidFill>
            <a:srgbClr val="FBE3E0"/>
          </a:solidFill>
          <a:ln/>
        </p:spPr>
      </p:sp>
      <p:sp>
        <p:nvSpPr>
          <p:cNvPr id="7" name="Text 5"/>
          <p:cNvSpPr txBox="1"/>
          <p:nvPr/>
        </p:nvSpPr>
        <p:spPr>
          <a:xfrm>
            <a:off x="502920" y="3528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VMは「アプリを入れただけ」ではなく、OSまで入った別のコンピューターです。VMごとにOSの更新や対策も必要です。</a:t>
            </a:r>
            <a:endParaRPr lang="en-US" sz="2000" dirty="0"/>
          </a:p>
        </p:txBody>
      </p:sp>
      <p:sp>
        <p:nvSpPr>
          <p:cNvPr id="8" name="Shape 6"/>
          <p:cNvSpPr/>
          <p:nvPr/>
        </p:nvSpPr>
        <p:spPr>
          <a:xfrm>
            <a:off x="320040" y="5219954"/>
            <a:ext cx="4846320" cy="1600200"/>
          </a:xfrm>
          <a:prstGeom prst="roundRect">
            <a:avLst>
              <a:gd name="adj" fmla="val 8000"/>
            </a:avLst>
          </a:prstGeom>
          <a:solidFill>
            <a:srgbClr val="DDF1E4"/>
          </a:solidFill>
          <a:ln/>
        </p:spPr>
      </p:sp>
      <p:sp>
        <p:nvSpPr>
          <p:cNvPr id="9" name="Text 7"/>
          <p:cNvSpPr txBox="1"/>
          <p:nvPr/>
        </p:nvSpPr>
        <p:spPr>
          <a:xfrm>
            <a:off x="502920" y="53113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VirtualBoxなどでLinuxのVMを1台作り、起動・停止・削除を試しましょう。メモリ量を変えると動きが変わります。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ハイパーバイザー</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VMを作り、CPUやメモリを割り当てて動かす、仮想化の管理役。</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3" name="Shape 21"/>
          <p:cNvSpPr/>
          <p:nvPr/>
        </p:nvSpPr>
        <p:spPr>
          <a:xfrm>
            <a:off x="320040" y="4234942"/>
            <a:ext cx="4846320" cy="929640"/>
          </a:xfrm>
          <a:prstGeom prst="roundRect">
            <a:avLst>
              <a:gd name="adj" fmla="val 13770"/>
            </a:avLst>
          </a:prstGeom>
          <a:solidFill>
            <a:srgbClr val="D9F2F1"/>
          </a:solidFill>
          <a:ln/>
        </p:spPr>
      </p:sp>
      <p:sp>
        <p:nvSpPr>
          <p:cNvPr id="24" name="Text 22"/>
          <p:cNvSpPr txBox="1"/>
          <p:nvPr/>
        </p:nvSpPr>
        <p:spPr>
          <a:xfrm>
            <a:off x="502920" y="4326382"/>
            <a:ext cx="4480560" cy="7833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ハードウェアとVMの間で動く、仮想化専用の管理ソフト。</a:t>
            </a:r>
            <a:endParaRPr lang="en-US" sz="2000" dirty="0"/>
          </a:p>
        </p:txBody>
      </p:sp>
      <p:sp>
        <p:nvSpPr>
          <p:cNvPr id="25" name="Shape 23"/>
          <p:cNvSpPr/>
          <p:nvPr/>
        </p:nvSpPr>
        <p:spPr>
          <a:xfrm>
            <a:off x="320040" y="5347462"/>
            <a:ext cx="4846320" cy="402336"/>
          </a:xfrm>
          <a:prstGeom prst="roundRect">
            <a:avLst>
              <a:gd name="adj" fmla="val 22727"/>
            </a:avLst>
          </a:prstGeom>
          <a:solidFill>
            <a:srgbClr val="0B7A7A"/>
          </a:solidFill>
          <a:ln/>
        </p:spPr>
      </p:sp>
      <p:sp>
        <p:nvSpPr>
          <p:cNvPr id="26" name="Text 24"/>
          <p:cNvSpPr txBox="1"/>
          <p:nvPr/>
        </p:nvSpPr>
        <p:spPr>
          <a:xfrm>
            <a:off x="411480" y="53474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5804662"/>
            <a:ext cx="1371600" cy="3822192"/>
          </a:xfrm>
          <a:prstGeom prst="roundRect">
            <a:avLst>
              <a:gd name="adj" fmla="val 8000"/>
            </a:avLst>
          </a:prstGeom>
          <a:solidFill>
            <a:srgbClr val="0B7A7A"/>
          </a:solidFill>
          <a:ln/>
        </p:spPr>
      </p:sp>
      <p:sp>
        <p:nvSpPr>
          <p:cNvPr id="28" name="Text 26"/>
          <p:cNvSpPr txBox="1"/>
          <p:nvPr/>
        </p:nvSpPr>
        <p:spPr>
          <a:xfrm>
            <a:off x="411480" y="58046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ハイパーバイザー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29" name="Shape 27"/>
          <p:cNvSpPr/>
          <p:nvPr/>
        </p:nvSpPr>
        <p:spPr>
          <a:xfrm>
            <a:off x="3566160" y="5804662"/>
            <a:ext cx="1600200" cy="676656"/>
          </a:xfrm>
          <a:prstGeom prst="roundRect">
            <a:avLst>
              <a:gd name="adj" fmla="val 16216"/>
            </a:avLst>
          </a:prstGeom>
          <a:solidFill>
            <a:srgbClr val="D9F2F1"/>
          </a:solidFill>
          <a:ln w="25400">
            <a:solidFill>
              <a:srgbClr val="0B7A7A"/>
            </a:solidFill>
            <a:prstDash val="solid"/>
          </a:ln>
        </p:spPr>
      </p:sp>
      <p:sp>
        <p:nvSpPr>
          <p:cNvPr id="30" name="Text 28"/>
          <p:cNvSpPr txBox="1"/>
          <p:nvPr/>
        </p:nvSpPr>
        <p:spPr>
          <a:xfrm>
            <a:off x="3657600" y="58046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1" name="Shape 29"/>
          <p:cNvSpPr/>
          <p:nvPr/>
        </p:nvSpPr>
        <p:spPr>
          <a:xfrm>
            <a:off x="1719072" y="6142990"/>
            <a:ext cx="1819656" cy="0"/>
          </a:xfrm>
          <a:prstGeom prst="line">
            <a:avLst/>
          </a:prstGeom>
          <a:noFill/>
          <a:ln w="31750">
            <a:solidFill>
              <a:srgbClr val="1B2A3A"/>
            </a:solidFill>
            <a:prstDash val="solid"/>
            <a:tailEnd type="triangle"/>
          </a:ln>
        </p:spPr>
      </p:sp>
      <p:sp>
        <p:nvSpPr>
          <p:cNvPr id="32" name="Text 30"/>
          <p:cNvSpPr txBox="1"/>
          <p:nvPr/>
        </p:nvSpPr>
        <p:spPr>
          <a:xfrm>
            <a:off x="1700784" y="58412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作り出す</a:t>
            </a:r>
            <a:endParaRPr lang="en-US" sz="1500" dirty="0"/>
          </a:p>
        </p:txBody>
      </p:sp>
      <p:sp>
        <p:nvSpPr>
          <p:cNvPr id="33" name="Shape 31"/>
          <p:cNvSpPr/>
          <p:nvPr/>
        </p:nvSpPr>
        <p:spPr>
          <a:xfrm>
            <a:off x="3566160" y="659104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65910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a:off x="1719072" y="6929374"/>
            <a:ext cx="1819656" cy="0"/>
          </a:xfrm>
          <a:prstGeom prst="line">
            <a:avLst/>
          </a:prstGeom>
          <a:noFill/>
          <a:ln w="31750">
            <a:solidFill>
              <a:srgbClr val="1B2A3A"/>
            </a:solidFill>
            <a:prstDash val="solid"/>
            <a:tailEnd type="triangle"/>
          </a:ln>
        </p:spPr>
      </p:sp>
      <p:sp>
        <p:nvSpPr>
          <p:cNvPr id="36" name="Text 34"/>
          <p:cNvSpPr txBox="1"/>
          <p:nvPr/>
        </p:nvSpPr>
        <p:spPr>
          <a:xfrm>
            <a:off x="1700784" y="66276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分けて配る</a:t>
            </a:r>
            <a:endParaRPr lang="en-US" sz="1500" dirty="0"/>
          </a:p>
        </p:txBody>
      </p:sp>
      <p:sp>
        <p:nvSpPr>
          <p:cNvPr id="37" name="Shape 35"/>
          <p:cNvSpPr/>
          <p:nvPr/>
        </p:nvSpPr>
        <p:spPr>
          <a:xfrm>
            <a:off x="3566160" y="7377430"/>
            <a:ext cx="1600200" cy="676656"/>
          </a:xfrm>
          <a:prstGeom prst="roundRect">
            <a:avLst>
              <a:gd name="adj" fmla="val 16216"/>
            </a:avLst>
          </a:prstGeom>
          <a:solidFill>
            <a:srgbClr val="D9F2F1"/>
          </a:solidFill>
          <a:ln w="25400">
            <a:solidFill>
              <a:srgbClr val="0B7A7A"/>
            </a:solidFill>
            <a:prstDash val="solid"/>
          </a:ln>
        </p:spPr>
      </p:sp>
      <p:sp>
        <p:nvSpPr>
          <p:cNvPr id="38" name="Text 36"/>
          <p:cNvSpPr txBox="1"/>
          <p:nvPr/>
        </p:nvSpPr>
        <p:spPr>
          <a:xfrm>
            <a:off x="3657600" y="73774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9" name="Shape 37"/>
          <p:cNvSpPr/>
          <p:nvPr/>
        </p:nvSpPr>
        <p:spPr>
          <a:xfrm>
            <a:off x="1719072" y="7715758"/>
            <a:ext cx="1819656" cy="0"/>
          </a:xfrm>
          <a:prstGeom prst="line">
            <a:avLst/>
          </a:prstGeom>
          <a:noFill/>
          <a:ln w="31750">
            <a:solidFill>
              <a:srgbClr val="1B2A3A"/>
            </a:solidFill>
            <a:prstDash val="solid"/>
            <a:tailEnd type="triangle"/>
          </a:ln>
        </p:spPr>
      </p:sp>
      <p:sp>
        <p:nvSpPr>
          <p:cNvPr id="40" name="Text 38"/>
          <p:cNvSpPr txBox="1"/>
          <p:nvPr/>
        </p:nvSpPr>
        <p:spPr>
          <a:xfrm>
            <a:off x="1700784" y="74140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実現する</a:t>
            </a:r>
            <a:endParaRPr lang="en-US" sz="1500" dirty="0"/>
          </a:p>
        </p:txBody>
      </p:sp>
      <p:sp>
        <p:nvSpPr>
          <p:cNvPr id="41" name="Shape 39"/>
          <p:cNvSpPr/>
          <p:nvPr/>
        </p:nvSpPr>
        <p:spPr>
          <a:xfrm>
            <a:off x="3566160" y="8163814"/>
            <a:ext cx="1600200" cy="676656"/>
          </a:xfrm>
          <a:prstGeom prst="roundRect">
            <a:avLst>
              <a:gd name="adj" fmla="val 16216"/>
            </a:avLst>
          </a:prstGeom>
          <a:solidFill>
            <a:srgbClr val="D9F2F1"/>
          </a:solidFill>
          <a:ln w="25400">
            <a:solidFill>
              <a:srgbClr val="0B7A7A"/>
            </a:solidFill>
            <a:prstDash val="solid"/>
          </a:ln>
        </p:spPr>
      </p:sp>
      <p:sp>
        <p:nvSpPr>
          <p:cNvPr id="42" name="Text 40"/>
          <p:cNvSpPr txBox="1"/>
          <p:nvPr/>
        </p:nvSpPr>
        <p:spPr>
          <a:xfrm>
            <a:off x="3657600" y="81638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3" name="Shape 41"/>
          <p:cNvSpPr/>
          <p:nvPr/>
        </p:nvSpPr>
        <p:spPr>
          <a:xfrm flipH="1">
            <a:off x="1719072" y="8502142"/>
            <a:ext cx="1819656" cy="0"/>
          </a:xfrm>
          <a:prstGeom prst="line">
            <a:avLst/>
          </a:prstGeom>
          <a:noFill/>
          <a:ln w="31750">
            <a:solidFill>
              <a:srgbClr val="1B2A3A"/>
            </a:solidFill>
            <a:prstDash val="solid"/>
            <a:tailEnd type="triangle"/>
          </a:ln>
        </p:spPr>
      </p:sp>
      <p:sp>
        <p:nvSpPr>
          <p:cNvPr id="44" name="Text 42"/>
          <p:cNvSpPr txBox="1"/>
          <p:nvPr/>
        </p:nvSpPr>
        <p:spPr>
          <a:xfrm>
            <a:off x="1700784" y="82003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具体例</a:t>
            </a:r>
            <a:endParaRPr lang="en-US" sz="1500" dirty="0"/>
          </a:p>
        </p:txBody>
      </p:sp>
      <p:sp>
        <p:nvSpPr>
          <p:cNvPr id="45" name="Shape 43"/>
          <p:cNvSpPr/>
          <p:nvPr/>
        </p:nvSpPr>
        <p:spPr>
          <a:xfrm>
            <a:off x="3566160" y="8950198"/>
            <a:ext cx="1600200" cy="676656"/>
          </a:xfrm>
          <a:prstGeom prst="roundRect">
            <a:avLst>
              <a:gd name="adj" fmla="val 16216"/>
            </a:avLst>
          </a:prstGeom>
          <a:solidFill>
            <a:srgbClr val="D9F2F1"/>
          </a:solidFill>
          <a:ln w="25400">
            <a:solidFill>
              <a:srgbClr val="0B7A7A"/>
            </a:solidFill>
            <a:prstDash val="solid"/>
          </a:ln>
        </p:spPr>
      </p:sp>
      <p:sp>
        <p:nvSpPr>
          <p:cNvPr id="46" name="Text 44"/>
          <p:cNvSpPr txBox="1"/>
          <p:nvPr/>
        </p:nvSpPr>
        <p:spPr>
          <a:xfrm>
            <a:off x="3657600" y="89501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7" name="Shape 45"/>
          <p:cNvSpPr/>
          <p:nvPr/>
        </p:nvSpPr>
        <p:spPr>
          <a:xfrm flipH="1">
            <a:off x="1719072" y="9288526"/>
            <a:ext cx="1819656" cy="0"/>
          </a:xfrm>
          <a:prstGeom prst="line">
            <a:avLst/>
          </a:prstGeom>
          <a:noFill/>
          <a:ln w="31750">
            <a:solidFill>
              <a:srgbClr val="1B2A3A"/>
            </a:solidFill>
            <a:prstDash val="solid"/>
            <a:tailEnd type="triangle"/>
          </a:ln>
        </p:spPr>
      </p:sp>
      <p:sp>
        <p:nvSpPr>
          <p:cNvPr id="48" name="Text 46"/>
          <p:cNvSpPr txBox="1"/>
          <p:nvPr/>
        </p:nvSpPr>
        <p:spPr>
          <a:xfrm>
            <a:off x="1700784" y="89867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具体例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ハイパーバイザー</a:t>
            </a:r>
            <a:endParaRPr lang="ja-JP" sz="2200" dirty="0"/>
          </a:p>
        </p:txBody>
      </p:sp>
      <p:sp>
        <p:nvSpPr>
          <p:cNvPr id="4" name="Shape 2"/>
          <p:cNvSpPr/>
          <p:nvPr/>
        </p:nvSpPr>
        <p:spPr>
          <a:xfrm>
            <a:off x="320040" y="1318514"/>
            <a:ext cx="4846320" cy="3117088"/>
          </a:xfrm>
          <a:prstGeom prst="roundRect">
            <a:avLst>
              <a:gd name="adj" fmla="val 4107"/>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読み：Hypervisor・仮想化ソフト</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ハイパーバイザーは、物理サーバーの上でVMを作って動かすソフトです。物理のCPUやメモリを各VMに「ここからここまで」と割り当て、VM同士が邪魔し合わないよう見張ります。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9F2F1"/>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機械に直接入れる「ベアメタル型」と、WindowsやMacにアプリとして入れる「ホスト型」があります。前者の例はVMware ESXi、後者の例はVirtualBoxです。サーバーでは前者が主に使われます。</a:t>
            </a:r>
            <a:endParaRPr lang="en-US" sz="2000" dirty="0"/>
          </a:p>
        </p:txBody>
      </p:sp>
      <p:sp>
        <p:nvSpPr>
          <p:cNvPr id="9" name="Shape 7"/>
          <p:cNvSpPr/>
          <p:nvPr/>
        </p:nvSpPr>
        <p:spPr>
          <a:xfrm>
            <a:off x="320040" y="6878066"/>
            <a:ext cx="4846320" cy="1935480"/>
          </a:xfrm>
          <a:prstGeom prst="roundRect">
            <a:avLst>
              <a:gd name="adj" fmla="val 6614"/>
            </a:avLst>
          </a:prstGeom>
          <a:solidFill>
            <a:srgbClr val="FDEBD0"/>
          </a:solidFill>
          <a:ln/>
        </p:spPr>
      </p:sp>
      <p:sp>
        <p:nvSpPr>
          <p:cNvPr id="10" name="Text 8"/>
          <p:cNvSpPr txBox="1"/>
          <p:nvPr/>
        </p:nvSpPr>
        <p:spPr>
          <a:xfrm>
            <a:off x="502920" y="69695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アパートの管理会社。ビルを部屋に仕切り、入居者（VM）へ水道・電気（CPUやメモリ）を配り、隣へ迷惑をかけないよう調整します。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ハイパーバイザー</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サーバー1台に10個のVMを載せるとき、「このVMはCPU2つ、メモリ4GB」と設定する場面です。VMソフトの裏でも働いています。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FBE3E0"/>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ハイパーバイザーはVMそのものではなく、VMを作って動かす側です。割り当てを増やしすぎると、同時に使ったとき全体が遅くなります。</a:t>
            </a:r>
            <a:endParaRPr lang="en-US" sz="2000" dirty="0"/>
          </a:p>
        </p:txBody>
      </p:sp>
      <p:sp>
        <p:nvSpPr>
          <p:cNvPr id="8" name="Shape 6"/>
          <p:cNvSpPr/>
          <p:nvPr/>
        </p:nvSpPr>
        <p:spPr>
          <a:xfrm>
            <a:off x="320040" y="5555234"/>
            <a:ext cx="4846320" cy="1600200"/>
          </a:xfrm>
          <a:prstGeom prst="roundRect">
            <a:avLst>
              <a:gd name="adj" fmla="val 8000"/>
            </a:avLst>
          </a:prstGeom>
          <a:solidFill>
            <a:srgbClr val="DDF1E4"/>
          </a:solidFill>
          <a:ln/>
        </p:spPr>
      </p:sp>
      <p:sp>
        <p:nvSpPr>
          <p:cNvPr id="9" name="Text 7"/>
          <p:cNvSpPr txBox="1"/>
          <p:nvPr/>
        </p:nvSpPr>
        <p:spPr>
          <a:xfrm>
            <a:off x="502920" y="564667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VMソフトでCPU数とメモリ量を変えて起動し、VM内のタスクマネージャーなどで数字が変わるのを確かめましょう。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コンテナ</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アプリと必要な部品を箱に詰め、OSを共有して軽く動かす技術。</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0B7A7A"/>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2" name="Shape 20"/>
          <p:cNvSpPr/>
          <p:nvPr/>
        </p:nvSpPr>
        <p:spPr>
          <a:xfrm>
            <a:off x="320040" y="4234942"/>
            <a:ext cx="4846320" cy="929640"/>
          </a:xfrm>
          <a:prstGeom prst="roundRect">
            <a:avLst>
              <a:gd name="adj" fmla="val 13770"/>
            </a:avLst>
          </a:prstGeom>
          <a:solidFill>
            <a:srgbClr val="D9F2F1"/>
          </a:solidFill>
          <a:ln/>
        </p:spPr>
      </p:sp>
      <p:sp>
        <p:nvSpPr>
          <p:cNvPr id="23" name="Text 21"/>
          <p:cNvSpPr txBox="1"/>
          <p:nvPr/>
        </p:nvSpPr>
        <p:spPr>
          <a:xfrm>
            <a:off x="502920" y="4326382"/>
            <a:ext cx="4480560" cy="7833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OSの上で、アプリごとに隔離して動かす層（仮想化の一種）。</a:t>
            </a:r>
            <a:endParaRPr lang="en-US" sz="2000" dirty="0"/>
          </a:p>
        </p:txBody>
      </p:sp>
      <p:sp>
        <p:nvSpPr>
          <p:cNvPr id="24" name="Shape 22"/>
          <p:cNvSpPr/>
          <p:nvPr/>
        </p:nvSpPr>
        <p:spPr>
          <a:xfrm>
            <a:off x="320040" y="5347462"/>
            <a:ext cx="4846320" cy="402336"/>
          </a:xfrm>
          <a:prstGeom prst="roundRect">
            <a:avLst>
              <a:gd name="adj" fmla="val 22727"/>
            </a:avLst>
          </a:prstGeom>
          <a:solidFill>
            <a:srgbClr val="0B7A7A"/>
          </a:solidFill>
          <a:ln/>
        </p:spPr>
      </p:sp>
      <p:sp>
        <p:nvSpPr>
          <p:cNvPr id="25" name="Text 23"/>
          <p:cNvSpPr txBox="1"/>
          <p:nvPr/>
        </p:nvSpPr>
        <p:spPr>
          <a:xfrm>
            <a:off x="411480" y="53474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5804662"/>
            <a:ext cx="1371600" cy="3822192"/>
          </a:xfrm>
          <a:prstGeom prst="roundRect">
            <a:avLst>
              <a:gd name="adj" fmla="val 8000"/>
            </a:avLst>
          </a:prstGeom>
          <a:solidFill>
            <a:srgbClr val="0B7A7A"/>
          </a:solidFill>
          <a:ln/>
        </p:spPr>
      </p:sp>
      <p:sp>
        <p:nvSpPr>
          <p:cNvPr id="27" name="Text 25"/>
          <p:cNvSpPr txBox="1"/>
          <p:nvPr/>
        </p:nvSpPr>
        <p:spPr>
          <a:xfrm>
            <a:off x="411480" y="58046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コンテナ</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28" name="Shape 26"/>
          <p:cNvSpPr/>
          <p:nvPr/>
        </p:nvSpPr>
        <p:spPr>
          <a:xfrm>
            <a:off x="3566160" y="5804662"/>
            <a:ext cx="1600200" cy="676656"/>
          </a:xfrm>
          <a:prstGeom prst="roundRect">
            <a:avLst>
              <a:gd name="adj" fmla="val 16216"/>
            </a:avLst>
          </a:prstGeom>
          <a:solidFill>
            <a:srgbClr val="D9F2F1"/>
          </a:solidFill>
          <a:ln w="25400">
            <a:solidFill>
              <a:srgbClr val="0B7A7A"/>
            </a:solidFill>
            <a:prstDash val="solid"/>
          </a:ln>
        </p:spPr>
      </p:sp>
      <p:sp>
        <p:nvSpPr>
          <p:cNvPr id="29" name="Text 27"/>
          <p:cNvSpPr txBox="1"/>
          <p:nvPr/>
        </p:nvSpPr>
        <p:spPr>
          <a:xfrm>
            <a:off x="3657600" y="58046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Docker</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0" name="Shape 28"/>
          <p:cNvSpPr/>
          <p:nvPr/>
        </p:nvSpPr>
        <p:spPr>
          <a:xfrm flipH="1">
            <a:off x="1719072" y="6142990"/>
            <a:ext cx="1819656" cy="0"/>
          </a:xfrm>
          <a:prstGeom prst="line">
            <a:avLst/>
          </a:prstGeom>
          <a:noFill/>
          <a:ln w="31750">
            <a:solidFill>
              <a:srgbClr val="1B2A3A"/>
            </a:solidFill>
            <a:prstDash val="solid"/>
            <a:tailEnd type="triangle"/>
          </a:ln>
        </p:spPr>
      </p:sp>
      <p:sp>
        <p:nvSpPr>
          <p:cNvPr id="31" name="Text 29"/>
          <p:cNvSpPr txBox="1"/>
          <p:nvPr/>
        </p:nvSpPr>
        <p:spPr>
          <a:xfrm>
            <a:off x="1700784" y="58412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作って動かす</a:t>
            </a:r>
            <a:endParaRPr lang="en-US" sz="1500" dirty="0"/>
          </a:p>
        </p:txBody>
      </p:sp>
      <p:sp>
        <p:nvSpPr>
          <p:cNvPr id="32" name="Shape 30"/>
          <p:cNvSpPr/>
          <p:nvPr/>
        </p:nvSpPr>
        <p:spPr>
          <a:xfrm>
            <a:off x="3566160" y="6591046"/>
            <a:ext cx="1600200" cy="676656"/>
          </a:xfrm>
          <a:prstGeom prst="roundRect">
            <a:avLst>
              <a:gd name="adj" fmla="val 16216"/>
            </a:avLst>
          </a:prstGeom>
          <a:solidFill>
            <a:srgbClr val="D9F2F1"/>
          </a:solidFill>
          <a:ln w="25400">
            <a:solidFill>
              <a:srgbClr val="0B7A7A"/>
            </a:solidFill>
            <a:prstDash val="solid"/>
          </a:ln>
        </p:spPr>
      </p:sp>
      <p:sp>
        <p:nvSpPr>
          <p:cNvPr id="33" name="Text 31"/>
          <p:cNvSpPr txBox="1"/>
          <p:nvPr/>
        </p:nvSpPr>
        <p:spPr>
          <a:xfrm>
            <a:off x="3657600" y="65910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4" name="Shape 32"/>
          <p:cNvSpPr/>
          <p:nvPr/>
        </p:nvSpPr>
        <p:spPr>
          <a:xfrm>
            <a:off x="1719072" y="692937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6276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377430"/>
            <a:ext cx="1600200" cy="676656"/>
          </a:xfrm>
          <a:prstGeom prst="roundRect">
            <a:avLst>
              <a:gd name="adj" fmla="val 16216"/>
            </a:avLst>
          </a:prstGeom>
          <a:solidFill>
            <a:srgbClr val="DCE8F8"/>
          </a:solidFill>
          <a:ln w="25400">
            <a:solidFill>
              <a:srgbClr val="2F6BC2"/>
            </a:solidFill>
            <a:prstDash val="solid"/>
          </a:ln>
        </p:spPr>
      </p:sp>
      <p:sp>
        <p:nvSpPr>
          <p:cNvPr id="37" name="Text 35"/>
          <p:cNvSpPr txBox="1"/>
          <p:nvPr/>
        </p:nvSpPr>
        <p:spPr>
          <a:xfrm>
            <a:off x="3657600" y="73774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8" name="Shape 36"/>
          <p:cNvSpPr/>
          <p:nvPr/>
        </p:nvSpPr>
        <p:spPr>
          <a:xfrm>
            <a:off x="1719072" y="7715758"/>
            <a:ext cx="1819656" cy="0"/>
          </a:xfrm>
          <a:prstGeom prst="line">
            <a:avLst/>
          </a:prstGeom>
          <a:noFill/>
          <a:ln w="31750">
            <a:solidFill>
              <a:srgbClr val="1B2A3A"/>
            </a:solidFill>
            <a:prstDash val="solid"/>
            <a:tailEnd type="triangle"/>
          </a:ln>
        </p:spPr>
      </p:sp>
      <p:sp>
        <p:nvSpPr>
          <p:cNvPr id="39" name="Text 37"/>
          <p:cNvSpPr txBox="1"/>
          <p:nvPr/>
        </p:nvSpPr>
        <p:spPr>
          <a:xfrm>
            <a:off x="1700784" y="74140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OSを共有</a:t>
            </a:r>
            <a:endParaRPr lang="en-US" sz="1500" dirty="0"/>
          </a:p>
        </p:txBody>
      </p:sp>
      <p:sp>
        <p:nvSpPr>
          <p:cNvPr id="40" name="Shape 38"/>
          <p:cNvSpPr/>
          <p:nvPr/>
        </p:nvSpPr>
        <p:spPr>
          <a:xfrm>
            <a:off x="3566160" y="8163814"/>
            <a:ext cx="1600200" cy="676656"/>
          </a:xfrm>
          <a:prstGeom prst="roundRect">
            <a:avLst>
              <a:gd name="adj" fmla="val 16216"/>
            </a:avLst>
          </a:prstGeom>
          <a:solidFill>
            <a:srgbClr val="D9F2F1"/>
          </a:solidFill>
          <a:ln w="25400">
            <a:solidFill>
              <a:srgbClr val="0B7A7A"/>
            </a:solidFill>
            <a:prstDash val="solid"/>
          </a:ln>
        </p:spPr>
      </p:sp>
      <p:sp>
        <p:nvSpPr>
          <p:cNvPr id="41" name="Text 39"/>
          <p:cNvSpPr txBox="1"/>
          <p:nvPr/>
        </p:nvSpPr>
        <p:spPr>
          <a:xfrm>
            <a:off x="3657600" y="81638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Kubernetes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2" name="Shape 40"/>
          <p:cNvSpPr/>
          <p:nvPr/>
        </p:nvSpPr>
        <p:spPr>
          <a:xfrm flipH="1">
            <a:off x="1719072" y="8502142"/>
            <a:ext cx="1819656" cy="0"/>
          </a:xfrm>
          <a:prstGeom prst="line">
            <a:avLst/>
          </a:prstGeom>
          <a:noFill/>
          <a:ln w="31750">
            <a:solidFill>
              <a:srgbClr val="1B2A3A"/>
            </a:solidFill>
            <a:prstDash val="solid"/>
            <a:tailEnd type="triangle"/>
          </a:ln>
        </p:spPr>
      </p:sp>
      <p:sp>
        <p:nvSpPr>
          <p:cNvPr id="43" name="Text 41"/>
          <p:cNvSpPr txBox="1"/>
          <p:nvPr/>
        </p:nvSpPr>
        <p:spPr>
          <a:xfrm>
            <a:off x="1700784" y="82003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44" name="Shape 42"/>
          <p:cNvSpPr/>
          <p:nvPr/>
        </p:nvSpPr>
        <p:spPr>
          <a:xfrm>
            <a:off x="3566160" y="8950198"/>
            <a:ext cx="1600200" cy="676656"/>
          </a:xfrm>
          <a:prstGeom prst="roundRect">
            <a:avLst>
              <a:gd name="adj" fmla="val 16216"/>
            </a:avLst>
          </a:prstGeom>
          <a:solidFill>
            <a:srgbClr val="E6E1F7"/>
          </a:solidFill>
          <a:ln w="25400">
            <a:solidFill>
              <a:srgbClr val="5B46B8"/>
            </a:solidFill>
            <a:prstDash val="solid"/>
          </a:ln>
        </p:spPr>
      </p:sp>
      <p:sp>
        <p:nvSpPr>
          <p:cNvPr id="45" name="Text 43"/>
          <p:cNvSpPr txBox="1"/>
          <p:nvPr/>
        </p:nvSpPr>
        <p:spPr>
          <a:xfrm>
            <a:off x="3657600" y="89501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6" name="Shape 44"/>
          <p:cNvSpPr/>
          <p:nvPr/>
        </p:nvSpPr>
        <p:spPr>
          <a:xfrm>
            <a:off x="1719072" y="9288526"/>
            <a:ext cx="1819656" cy="0"/>
          </a:xfrm>
          <a:prstGeom prst="line">
            <a:avLst/>
          </a:prstGeom>
          <a:noFill/>
          <a:ln w="31750">
            <a:solidFill>
              <a:srgbClr val="1B2A3A"/>
            </a:solidFill>
            <a:prstDash val="solid"/>
            <a:tailEnd type="triangle"/>
          </a:ln>
        </p:spPr>
      </p:sp>
      <p:sp>
        <p:nvSpPr>
          <p:cNvPr id="47" name="Text 45"/>
          <p:cNvSpPr txBox="1"/>
          <p:nvPr/>
        </p:nvSpPr>
        <p:spPr>
          <a:xfrm>
            <a:off x="1700784" y="89867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配置の単位</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コンテナ</a:t>
            </a:r>
            <a:endParaRPr lang="ja-JP" sz="2200" dirty="0"/>
          </a:p>
        </p:txBody>
      </p:sp>
      <p:sp>
        <p:nvSpPr>
          <p:cNvPr id="4" name="Shape 2"/>
          <p:cNvSpPr/>
          <p:nvPr/>
        </p:nvSpPr>
        <p:spPr>
          <a:xfrm>
            <a:off x="320040" y="1318514"/>
            <a:ext cx="4846320" cy="3452368"/>
          </a:xfrm>
          <a:prstGeom prst="roundRect">
            <a:avLst>
              <a:gd name="adj" fmla="val 3708"/>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読み：Container・コンテナ型仮想化</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コンテナは、アプリと必要な部品（ライブラリや設定）を1つにまとめ、他から隔離して動かす仕組みです。OSの中心部分（カーネル）は、同じ機械上のコンテナ同士で共有します。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D9F2F1"/>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住まいにたとえると、VMはアパート、コンテナは台所と風呂（OS）を共用するシェアハウスです。OSの中心部分（カーネル）を共有するぶん小さく、起動も短時間で、1台で多数を動かせます。ただし隔離の強さはVMと違います。</a:t>
            </a:r>
            <a:endParaRPr lang="en-US" sz="2000" dirty="0"/>
          </a:p>
        </p:txBody>
      </p:sp>
      <p:sp>
        <p:nvSpPr>
          <p:cNvPr id="9" name="Shape 7"/>
          <p:cNvSpPr/>
          <p:nvPr/>
        </p:nvSpPr>
        <p:spPr>
          <a:xfrm>
            <a:off x="320040" y="7548626"/>
            <a:ext cx="4846320" cy="1960880"/>
          </a:xfrm>
          <a:prstGeom prst="roundRect">
            <a:avLst>
              <a:gd name="adj" fmla="val 6528"/>
            </a:avLst>
          </a:prstGeom>
          <a:solidFill>
            <a:srgbClr val="D9F2F1"/>
          </a:solidFill>
          <a:ln/>
        </p:spPr>
      </p:sp>
      <p:sp>
        <p:nvSpPr>
          <p:cNvPr id="10" name="Text 8"/>
          <p:cNvSpPr txBox="1"/>
          <p:nvPr/>
        </p:nvSpPr>
        <p:spPr>
          <a:xfrm>
            <a:off x="502920" y="764006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コンテナの中身は「イメージ」という設計図から作り、Dockerなどのツールで動かします。多数のコンテナはKubernetesなどで管理します。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コンテナ</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コンテナ船の貨物コンテナ。中身が何でも規格の同じ箱に入れれば、船でもトラックでも同じように運べます。船が機械、箱がアプリです。</a:t>
            </a:r>
            <a:endParaRPr lang="en-US" sz="2000" dirty="0"/>
          </a:p>
        </p:txBody>
      </p:sp>
      <p:sp>
        <p:nvSpPr>
          <p:cNvPr id="6" name="Shape 4"/>
          <p:cNvSpPr/>
          <p:nvPr/>
        </p:nvSpPr>
        <p:spPr>
          <a:xfrm>
            <a:off x="320040" y="3436874"/>
            <a:ext cx="4846320" cy="1600200"/>
          </a:xfrm>
          <a:prstGeom prst="roundRect">
            <a:avLst>
              <a:gd name="adj" fmla="val 8000"/>
            </a:avLst>
          </a:prstGeom>
          <a:solidFill>
            <a:srgbClr val="DCE8F8"/>
          </a:solidFill>
          <a:ln/>
        </p:spPr>
      </p:sp>
      <p:sp>
        <p:nvSpPr>
          <p:cNvPr id="7" name="Text 5"/>
          <p:cNvSpPr txBox="1"/>
          <p:nvPr/>
        </p:nvSpPr>
        <p:spPr>
          <a:xfrm>
            <a:off x="502920" y="3528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チームで開発するとき、「自分のPCでは動くのに他の人では動かない」を防ぐため、全員が同じコンテナを起動する場面です。</a:t>
            </a:r>
            <a:endParaRPr lang="en-US" sz="2000" dirty="0"/>
          </a:p>
        </p:txBody>
      </p:sp>
      <p:sp>
        <p:nvSpPr>
          <p:cNvPr id="8" name="Shape 6"/>
          <p:cNvSpPr/>
          <p:nvPr/>
        </p:nvSpPr>
        <p:spPr>
          <a:xfrm>
            <a:off x="320040" y="5219954"/>
            <a:ext cx="4846320" cy="1935480"/>
          </a:xfrm>
          <a:prstGeom prst="roundRect">
            <a:avLst>
              <a:gd name="adj" fmla="val 6614"/>
            </a:avLst>
          </a:prstGeom>
          <a:solidFill>
            <a:srgbClr val="FBE3E0"/>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コンテナはVMの小型版ではありません。OSの中心部分を共有するので、Linuxのコンテナは、Linuxのカーネル上で動きます。</a:t>
            </a:r>
            <a:endParaRPr lang="en-US" sz="2000" dirty="0"/>
          </a:p>
        </p:txBody>
      </p:sp>
      <p:sp>
        <p:nvSpPr>
          <p:cNvPr id="10" name="Shape 8"/>
          <p:cNvSpPr/>
          <p:nvPr/>
        </p:nvSpPr>
        <p:spPr>
          <a:xfrm>
            <a:off x="320040" y="7338314"/>
            <a:ext cx="4846320" cy="1600200"/>
          </a:xfrm>
          <a:prstGeom prst="roundRect">
            <a:avLst>
              <a:gd name="adj" fmla="val 8000"/>
            </a:avLst>
          </a:prstGeom>
          <a:solidFill>
            <a:srgbClr val="DDF1E4"/>
          </a:solidFill>
          <a:ln/>
        </p:spPr>
      </p:sp>
      <p:sp>
        <p:nvSpPr>
          <p:cNvPr id="11" name="Text 9"/>
          <p:cNvSpPr txBox="1"/>
          <p:nvPr/>
        </p:nvSpPr>
        <p:spPr>
          <a:xfrm>
            <a:off x="502920" y="74297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「VMはアパート、コンテナはシェアハウス」の図を描き、共有する部分と別々の部分を書き分けましょう。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Docker</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アプリを開発し、配り、動かすための、コンテナを使ったオープンなプラットフォーム。</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3" name="Shape 21"/>
          <p:cNvSpPr/>
          <p:nvPr/>
        </p:nvSpPr>
        <p:spPr>
          <a:xfrm>
            <a:off x="320040" y="4234942"/>
            <a:ext cx="4846320" cy="929640"/>
          </a:xfrm>
          <a:prstGeom prst="roundRect">
            <a:avLst>
              <a:gd name="adj" fmla="val 13770"/>
            </a:avLst>
          </a:prstGeom>
          <a:solidFill>
            <a:srgbClr val="D9F2F1"/>
          </a:solidFill>
          <a:ln/>
        </p:spPr>
      </p:sp>
      <p:sp>
        <p:nvSpPr>
          <p:cNvPr id="24" name="Text 22"/>
          <p:cNvSpPr txBox="1"/>
          <p:nvPr/>
        </p:nvSpPr>
        <p:spPr>
          <a:xfrm>
            <a:off x="502920" y="4326382"/>
            <a:ext cx="4480560" cy="7833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開発者のPCやサーバーの上で動く、コンテナを扱うツール群。</a:t>
            </a:r>
            <a:endParaRPr lang="en-US" sz="2000" dirty="0"/>
          </a:p>
        </p:txBody>
      </p:sp>
      <p:sp>
        <p:nvSpPr>
          <p:cNvPr id="25" name="Shape 23"/>
          <p:cNvSpPr/>
          <p:nvPr/>
        </p:nvSpPr>
        <p:spPr>
          <a:xfrm>
            <a:off x="320040" y="5347462"/>
            <a:ext cx="4846320" cy="402336"/>
          </a:xfrm>
          <a:prstGeom prst="roundRect">
            <a:avLst>
              <a:gd name="adj" fmla="val 22727"/>
            </a:avLst>
          </a:prstGeom>
          <a:solidFill>
            <a:srgbClr val="0B7A7A"/>
          </a:solidFill>
          <a:ln/>
        </p:spPr>
      </p:sp>
      <p:sp>
        <p:nvSpPr>
          <p:cNvPr id="26" name="Text 24"/>
          <p:cNvSpPr txBox="1"/>
          <p:nvPr/>
        </p:nvSpPr>
        <p:spPr>
          <a:xfrm>
            <a:off x="411480" y="53474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5804662"/>
            <a:ext cx="1371600" cy="3822192"/>
          </a:xfrm>
          <a:prstGeom prst="roundRect">
            <a:avLst>
              <a:gd name="adj" fmla="val 8000"/>
            </a:avLst>
          </a:prstGeom>
          <a:solidFill>
            <a:srgbClr val="0B7A7A"/>
          </a:solidFill>
          <a:ln/>
        </p:spPr>
      </p:sp>
      <p:sp>
        <p:nvSpPr>
          <p:cNvPr id="28" name="Text 26"/>
          <p:cNvSpPr txBox="1"/>
          <p:nvPr/>
        </p:nvSpPr>
        <p:spPr>
          <a:xfrm>
            <a:off x="411480" y="58046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Docker</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29" name="Shape 27"/>
          <p:cNvSpPr/>
          <p:nvPr/>
        </p:nvSpPr>
        <p:spPr>
          <a:xfrm>
            <a:off x="3566160" y="5804662"/>
            <a:ext cx="1600200" cy="676656"/>
          </a:xfrm>
          <a:prstGeom prst="roundRect">
            <a:avLst>
              <a:gd name="adj" fmla="val 16216"/>
            </a:avLst>
          </a:prstGeom>
          <a:solidFill>
            <a:srgbClr val="D9F2F1"/>
          </a:solidFill>
          <a:ln w="25400">
            <a:solidFill>
              <a:srgbClr val="0B7A7A"/>
            </a:solidFill>
            <a:prstDash val="solid"/>
          </a:ln>
        </p:spPr>
      </p:sp>
      <p:sp>
        <p:nvSpPr>
          <p:cNvPr id="30" name="Text 28"/>
          <p:cNvSpPr txBox="1"/>
          <p:nvPr/>
        </p:nvSpPr>
        <p:spPr>
          <a:xfrm>
            <a:off x="3657600" y="58046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1" name="Shape 29"/>
          <p:cNvSpPr/>
          <p:nvPr/>
        </p:nvSpPr>
        <p:spPr>
          <a:xfrm>
            <a:off x="1719072" y="6142990"/>
            <a:ext cx="1819656" cy="0"/>
          </a:xfrm>
          <a:prstGeom prst="line">
            <a:avLst/>
          </a:prstGeom>
          <a:noFill/>
          <a:ln w="31750">
            <a:solidFill>
              <a:srgbClr val="1B2A3A"/>
            </a:solidFill>
            <a:prstDash val="solid"/>
            <a:tailEnd type="triangle"/>
          </a:ln>
        </p:spPr>
      </p:sp>
      <p:sp>
        <p:nvSpPr>
          <p:cNvPr id="32" name="Text 30"/>
          <p:cNvSpPr txBox="1"/>
          <p:nvPr/>
        </p:nvSpPr>
        <p:spPr>
          <a:xfrm>
            <a:off x="1700784" y="58412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作って動かす</a:t>
            </a:r>
            <a:endParaRPr lang="en-US" sz="1500" dirty="0"/>
          </a:p>
        </p:txBody>
      </p:sp>
      <p:sp>
        <p:nvSpPr>
          <p:cNvPr id="33" name="Shape 31"/>
          <p:cNvSpPr/>
          <p:nvPr/>
        </p:nvSpPr>
        <p:spPr>
          <a:xfrm>
            <a:off x="3566160" y="659104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5910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a:off x="1719072" y="6929374"/>
            <a:ext cx="1819656" cy="0"/>
          </a:xfrm>
          <a:prstGeom prst="line">
            <a:avLst/>
          </a:prstGeom>
          <a:noFill/>
          <a:ln w="31750">
            <a:solidFill>
              <a:srgbClr val="1B2A3A"/>
            </a:solidFill>
            <a:prstDash val="solid"/>
            <a:tailEnd type="triangle"/>
          </a:ln>
        </p:spPr>
      </p:sp>
      <p:sp>
        <p:nvSpPr>
          <p:cNvPr id="36" name="Text 34"/>
          <p:cNvSpPr txBox="1"/>
          <p:nvPr/>
        </p:nvSpPr>
        <p:spPr>
          <a:xfrm>
            <a:off x="1700784" y="66276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箱に詰める</a:t>
            </a:r>
            <a:endParaRPr lang="en-US" sz="1500" dirty="0"/>
          </a:p>
        </p:txBody>
      </p:sp>
      <p:sp>
        <p:nvSpPr>
          <p:cNvPr id="37" name="Shape 35"/>
          <p:cNvSpPr/>
          <p:nvPr/>
        </p:nvSpPr>
        <p:spPr>
          <a:xfrm>
            <a:off x="3566160" y="737743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3774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9" name="Shape 37"/>
          <p:cNvSpPr/>
          <p:nvPr/>
        </p:nvSpPr>
        <p:spPr>
          <a:xfrm>
            <a:off x="1719072" y="7715758"/>
            <a:ext cx="1819656" cy="0"/>
          </a:xfrm>
          <a:prstGeom prst="line">
            <a:avLst/>
          </a:prstGeom>
          <a:noFill/>
          <a:ln w="31750">
            <a:solidFill>
              <a:srgbClr val="1B2A3A"/>
            </a:solidFill>
            <a:prstDash val="solid"/>
            <a:tailEnd type="triangle"/>
          </a:ln>
        </p:spPr>
      </p:sp>
      <p:sp>
        <p:nvSpPr>
          <p:cNvPr id="40" name="Text 38"/>
          <p:cNvSpPr txBox="1"/>
          <p:nvPr/>
        </p:nvSpPr>
        <p:spPr>
          <a:xfrm>
            <a:off x="1700784" y="74140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配置を楽にする</a:t>
            </a:r>
            <a:endParaRPr lang="en-US" sz="1500" dirty="0"/>
          </a:p>
        </p:txBody>
      </p:sp>
      <p:sp>
        <p:nvSpPr>
          <p:cNvPr id="41" name="Shape 39"/>
          <p:cNvSpPr/>
          <p:nvPr/>
        </p:nvSpPr>
        <p:spPr>
          <a:xfrm>
            <a:off x="3566160" y="8163814"/>
            <a:ext cx="1600200" cy="676656"/>
          </a:xfrm>
          <a:prstGeom prst="roundRect">
            <a:avLst>
              <a:gd name="adj" fmla="val 16216"/>
            </a:avLst>
          </a:prstGeom>
          <a:solidFill>
            <a:srgbClr val="D9F2F1"/>
          </a:solidFill>
          <a:ln w="25400">
            <a:solidFill>
              <a:srgbClr val="0B7A7A"/>
            </a:solidFill>
            <a:prstDash val="solid"/>
          </a:ln>
        </p:spPr>
      </p:sp>
      <p:sp>
        <p:nvSpPr>
          <p:cNvPr id="42" name="Text 40"/>
          <p:cNvSpPr txBox="1"/>
          <p:nvPr/>
        </p:nvSpPr>
        <p:spPr>
          <a:xfrm>
            <a:off x="3657600" y="81638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Kubernetes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3" name="Shape 41"/>
          <p:cNvSpPr/>
          <p:nvPr/>
        </p:nvSpPr>
        <p:spPr>
          <a:xfrm>
            <a:off x="1719072" y="8502142"/>
            <a:ext cx="1819656" cy="0"/>
          </a:xfrm>
          <a:prstGeom prst="line">
            <a:avLst/>
          </a:prstGeom>
          <a:noFill/>
          <a:ln w="31750">
            <a:solidFill>
              <a:srgbClr val="1B2A3A"/>
            </a:solidFill>
            <a:prstDash val="solid"/>
            <a:tailEnd type="triangle"/>
          </a:ln>
        </p:spPr>
      </p:sp>
      <p:sp>
        <p:nvSpPr>
          <p:cNvPr id="44" name="Text 42"/>
          <p:cNvSpPr txBox="1"/>
          <p:nvPr/>
        </p:nvSpPr>
        <p:spPr>
          <a:xfrm>
            <a:off x="1700784" y="82003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コンテナを渡す</a:t>
            </a:r>
            <a:endParaRPr lang="en-US" sz="1500" dirty="0"/>
          </a:p>
        </p:txBody>
      </p:sp>
      <p:sp>
        <p:nvSpPr>
          <p:cNvPr id="45" name="Shape 43"/>
          <p:cNvSpPr/>
          <p:nvPr/>
        </p:nvSpPr>
        <p:spPr>
          <a:xfrm>
            <a:off x="3566160" y="8950198"/>
            <a:ext cx="1600200" cy="676656"/>
          </a:xfrm>
          <a:prstGeom prst="roundRect">
            <a:avLst>
              <a:gd name="adj" fmla="val 16216"/>
            </a:avLst>
          </a:prstGeom>
          <a:solidFill>
            <a:srgbClr val="DCE8F8"/>
          </a:solidFill>
          <a:ln w="25400">
            <a:solidFill>
              <a:srgbClr val="2F6BC2"/>
            </a:solidFill>
            <a:prstDash val="solid"/>
          </a:ln>
        </p:spPr>
      </p:sp>
      <p:sp>
        <p:nvSpPr>
          <p:cNvPr id="46" name="Text 44"/>
          <p:cNvSpPr txBox="1"/>
          <p:nvPr/>
        </p:nvSpPr>
        <p:spPr>
          <a:xfrm>
            <a:off x="3657600" y="89501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7" name="Shape 45"/>
          <p:cNvSpPr/>
          <p:nvPr/>
        </p:nvSpPr>
        <p:spPr>
          <a:xfrm>
            <a:off x="1719072" y="9288526"/>
            <a:ext cx="1819656" cy="0"/>
          </a:xfrm>
          <a:prstGeom prst="line">
            <a:avLst/>
          </a:prstGeom>
          <a:noFill/>
          <a:ln w="31750">
            <a:solidFill>
              <a:srgbClr val="1B2A3A"/>
            </a:solidFill>
            <a:prstDash val="solid"/>
            <a:tailEnd type="triangle"/>
          </a:ln>
        </p:spPr>
      </p:sp>
      <p:sp>
        <p:nvSpPr>
          <p:cNvPr id="48" name="Text 46"/>
          <p:cNvSpPr txBox="1"/>
          <p:nvPr/>
        </p:nvSpPr>
        <p:spPr>
          <a:xfrm>
            <a:off x="1700784" y="89867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機能を使う</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[D02]</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Docker</a:t>
            </a:r>
            <a:endParaRPr lang="ja-JP" sz="2200" dirty="0"/>
          </a:p>
        </p:txBody>
      </p:sp>
      <p:sp>
        <p:nvSpPr>
          <p:cNvPr id="4" name="Shape 2"/>
          <p:cNvSpPr/>
          <p:nvPr/>
        </p:nvSpPr>
        <p:spPr>
          <a:xfrm>
            <a:off x="320040" y="1318514"/>
            <a:ext cx="4846320" cy="3117088"/>
          </a:xfrm>
          <a:prstGeom prst="roundRect">
            <a:avLst>
              <a:gd name="adj" fmla="val 4107"/>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読み：ドッカー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Dockerは、アプリをコンテナという隔離された環境に入れて、開発・配布・実行するためのプラットフォームです。アプリを動かす環境（インフラ）から切り離し、素早く届けられます。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9F2F1"/>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基本の部品は3つ。設計図の「イメージ」、それから動かす実体の「コンテナ」、イメージの置き場の「レジストリ（Docker Hubなど）」です。イメージはDockerfileという手順書から作ります。</a:t>
            </a:r>
            <a:endParaRPr lang="en-US" sz="2000" dirty="0"/>
          </a:p>
        </p:txBody>
      </p:sp>
      <p:sp>
        <p:nvSpPr>
          <p:cNvPr id="9" name="Shape 7"/>
          <p:cNvSpPr/>
          <p:nvPr/>
        </p:nvSpPr>
        <p:spPr>
          <a:xfrm>
            <a:off x="320040" y="6878066"/>
            <a:ext cx="4846320" cy="1960880"/>
          </a:xfrm>
          <a:prstGeom prst="roundRect">
            <a:avLst>
              <a:gd name="adj" fmla="val 6528"/>
            </a:avLst>
          </a:prstGeom>
          <a:solidFill>
            <a:srgbClr val="D9F2F1"/>
          </a:solidFill>
          <a:ln/>
        </p:spPr>
      </p:sp>
      <p:sp>
        <p:nvSpPr>
          <p:cNvPr id="10" name="Text 8"/>
          <p:cNvSpPr txBox="1"/>
          <p:nvPr/>
        </p:nvSpPr>
        <p:spPr>
          <a:xfrm>
            <a:off x="502920" y="696950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操作は、dockerコマンド（クライアント）が、裏で動く常駐ソフト（Dockerデーモン）に指示する形です。コンテナは手元のPC、サーバー、クラウドのどこにも置けます。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[D02]</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Docker</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設計図と製品の関係。イメージが設計図、コンテナがそれから作った実物、レジストリが設計図の保管庫。同じ設計図から何個でも作れます。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授業で先生が配ったイメージを「docker run」で起動するだけで、全員が同じ開発環境を用意できる場面です。公開（デプロイ）にも使います。</a:t>
            </a:r>
            <a:endParaRPr lang="en-US" sz="2000" dirty="0"/>
          </a:p>
        </p:txBody>
      </p:sp>
      <p:sp>
        <p:nvSpPr>
          <p:cNvPr id="8" name="Shape 6"/>
          <p:cNvSpPr/>
          <p:nvPr/>
        </p:nvSpPr>
        <p:spPr>
          <a:xfrm>
            <a:off x="320040" y="5555234"/>
            <a:ext cx="4846320" cy="1935480"/>
          </a:xfrm>
          <a:prstGeom prst="roundRect">
            <a:avLst>
              <a:gd name="adj" fmla="val 6614"/>
            </a:avLst>
          </a:prstGeom>
          <a:solidFill>
            <a:srgbClr val="FBE3E0"/>
          </a:solidFill>
          <a:ln/>
        </p:spPr>
      </p:sp>
      <p:sp>
        <p:nvSpPr>
          <p:cNvPr id="9" name="Text 7"/>
          <p:cNvSpPr txBox="1"/>
          <p:nvPr/>
        </p:nvSpPr>
        <p:spPr>
          <a:xfrm>
            <a:off x="502920" y="56466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Dockerはコンテナそのものではなく、扱うための製品名です。WindowsやMacのDocker Desktopでは、裏でLinuxの仮想環境が動きます。</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Docker Desktopを入れて「docker run hello-world」を実行しましょう。動いたら、自分のアプリのDockerfileを書きます。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[D02]</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Kubernetes</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多数のコンテナを、どの機械でどう動かすか自動で管理する仕組み。</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3" name="Shape 21"/>
          <p:cNvSpPr/>
          <p:nvPr/>
        </p:nvSpPr>
        <p:spPr>
          <a:xfrm>
            <a:off x="320040" y="4234942"/>
            <a:ext cx="4846320" cy="1264920"/>
          </a:xfrm>
          <a:prstGeom prst="roundRect">
            <a:avLst>
              <a:gd name="adj" fmla="val 10120"/>
            </a:avLst>
          </a:prstGeom>
          <a:solidFill>
            <a:srgbClr val="D9F2F1"/>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複数のサーバーにまたがり、コンテナを配置・運用する管理基盤。</a:t>
            </a:r>
            <a:endParaRPr lang="en-US" sz="2000" dirty="0"/>
          </a:p>
        </p:txBody>
      </p:sp>
      <p:sp>
        <p:nvSpPr>
          <p:cNvPr id="25" name="Shape 23"/>
          <p:cNvSpPr/>
          <p:nvPr/>
        </p:nvSpPr>
        <p:spPr>
          <a:xfrm>
            <a:off x="320040" y="5682742"/>
            <a:ext cx="4846320" cy="402336"/>
          </a:xfrm>
          <a:prstGeom prst="roundRect">
            <a:avLst>
              <a:gd name="adj" fmla="val 22727"/>
            </a:avLst>
          </a:prstGeom>
          <a:solidFill>
            <a:srgbClr val="0B7A7A"/>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0B7A7A"/>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FFFFFF"/>
                </a:solidFill>
                <a:latin typeface="Yu Gothic" pitchFamily="34" charset="0"/>
                <a:ea typeface="Yu Gothic" pitchFamily="34" charset="-122"/>
                <a:cs typeface="Yu Gothic" pitchFamily="34" charset="-120"/>
              </a:rPr>
              <a:t>Kubernetes</a:t>
            </a:r>
            <a:endParaRPr lang="en-US" sz="15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500" dirty="0"/>
          </a:p>
        </p:txBody>
      </p:sp>
      <p:sp>
        <p:nvSpPr>
          <p:cNvPr id="29" name="Shape 27"/>
          <p:cNvSpPr/>
          <p:nvPr/>
        </p:nvSpPr>
        <p:spPr>
          <a:xfrm>
            <a:off x="3566160" y="6139942"/>
            <a:ext cx="1600200" cy="676656"/>
          </a:xfrm>
          <a:prstGeom prst="roundRect">
            <a:avLst>
              <a:gd name="adj" fmla="val 16216"/>
            </a:avLst>
          </a:prstGeom>
          <a:solidFill>
            <a:srgbClr val="D9F2F1"/>
          </a:solidFill>
          <a:ln w="25400">
            <a:solidFill>
              <a:srgbClr val="0B7A7A"/>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D9F2F1"/>
          </a:solidFill>
          <a:ln w="25400">
            <a:solidFill>
              <a:srgbClr val="0B7A7A"/>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Docker</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コンテナを渡す</a:t>
            </a:r>
            <a:endParaRPr lang="en-US" sz="1500" dirty="0"/>
          </a:p>
        </p:txBody>
      </p:sp>
      <p:sp>
        <p:nvSpPr>
          <p:cNvPr id="37" name="Shape 35"/>
          <p:cNvSpPr/>
          <p:nvPr/>
        </p:nvSpPr>
        <p:spPr>
          <a:xfrm>
            <a:off x="3566160" y="7712710"/>
            <a:ext cx="1600200" cy="676656"/>
          </a:xfrm>
          <a:prstGeom prst="roundRect">
            <a:avLst>
              <a:gd name="adj" fmla="val 16216"/>
            </a:avLst>
          </a:prstGeom>
          <a:solidFill>
            <a:srgbClr val="E6E1F7"/>
          </a:solidFill>
          <a:ln w="25400">
            <a:solidFill>
              <a:srgbClr val="5B46B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自動で配置</a:t>
            </a:r>
            <a:endParaRPr lang="en-US" sz="1500" dirty="0"/>
          </a:p>
        </p:txBody>
      </p:sp>
      <p:sp>
        <p:nvSpPr>
          <p:cNvPr id="41" name="Shape 39"/>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マネージドサービス</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[D03]</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Kubernetes</a:t>
            </a:r>
            <a:endParaRPr lang="ja-JP" sz="2200" dirty="0"/>
          </a:p>
        </p:txBody>
      </p:sp>
      <p:sp>
        <p:nvSpPr>
          <p:cNvPr id="4" name="Shape 2"/>
          <p:cNvSpPr/>
          <p:nvPr/>
        </p:nvSpPr>
        <p:spPr>
          <a:xfrm>
            <a:off x="320040" y="1318514"/>
            <a:ext cx="4846320" cy="3117088"/>
          </a:xfrm>
          <a:prstGeom prst="roundRect">
            <a:avLst>
              <a:gd name="adj" fmla="val 4107"/>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読み：クバネティス（K8s）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Kubernetes（クバネティス、K8s）は、コンテナ化したアプリを管理するオープンソースの基盤です。「3つ動かしておく」と望む状態を書けば、実際の状態をそれに合わせ続けます。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9F2F1"/>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止まったコンテナは再起動し、負荷は分散し、設定すればアクセス増加で数も増やします。複数の機械（ノード）を束ねたものがクラスターで、コンテナはPod（入れ物）の単位で空いた機械へ自動配置されます。</a:t>
            </a:r>
            <a:endParaRPr lang="en-US" sz="2000" dirty="0"/>
          </a:p>
        </p:txBody>
      </p:sp>
      <p:sp>
        <p:nvSpPr>
          <p:cNvPr id="9" name="Shape 7"/>
          <p:cNvSpPr/>
          <p:nvPr/>
        </p:nvSpPr>
        <p:spPr>
          <a:xfrm>
            <a:off x="320040" y="6878066"/>
            <a:ext cx="4846320" cy="1600200"/>
          </a:xfrm>
          <a:prstGeom prst="roundRect">
            <a:avLst>
              <a:gd name="adj" fmla="val 8000"/>
            </a:avLst>
          </a:prstGeom>
          <a:solidFill>
            <a:srgbClr val="FDEBD0"/>
          </a:solidFill>
          <a:ln/>
        </p:spPr>
      </p:sp>
      <p:sp>
        <p:nvSpPr>
          <p:cNvPr id="10" name="Text 8"/>
          <p:cNvSpPr txBox="1"/>
          <p:nvPr/>
        </p:nvSpPr>
        <p:spPr>
          <a:xfrm>
            <a:off x="502920" y="696950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コンテナ船団の運行管理者。どの船（機械）にどの箱を積むかを決め、故障した船の箱は別の船へ積み替えます。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[D03]</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Kubernetes</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アクセスが集中するネットのサービスで、コンテナ数を自動で増やし、サーバーが1台壊れても別のサーバーで動かし直す場面です。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FBE3E0"/>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KubernetesはDockerの代わりではなく、コンテナを多数動かすときの運用管理を担います。数個なら不要なことも多く、学ぶ範囲も広めです。</a:t>
            </a:r>
            <a:endParaRPr lang="en-US" sz="2000" dirty="0"/>
          </a:p>
        </p:txBody>
      </p:sp>
      <p:sp>
        <p:nvSpPr>
          <p:cNvPr id="8" name="Shape 6"/>
          <p:cNvSpPr/>
          <p:nvPr/>
        </p:nvSpPr>
        <p:spPr>
          <a:xfrm>
            <a:off x="320040" y="5555234"/>
            <a:ext cx="4846320" cy="1600200"/>
          </a:xfrm>
          <a:prstGeom prst="roundRect">
            <a:avLst>
              <a:gd name="adj" fmla="val 8000"/>
            </a:avLst>
          </a:prstGeom>
          <a:solidFill>
            <a:srgbClr val="DDF1E4"/>
          </a:solidFill>
          <a:ln/>
        </p:spPr>
      </p:sp>
      <p:sp>
        <p:nvSpPr>
          <p:cNvPr id="9" name="Text 7"/>
          <p:cNvSpPr txBox="1"/>
          <p:nvPr/>
        </p:nvSpPr>
        <p:spPr>
          <a:xfrm>
            <a:off x="502920" y="564667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Dockerを学んだ後、公式のMinikubeを使う入門チュートリアルで、小さなアプリを動かしPodの数を変えてみましょう。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[D03]</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VMware</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仮想化製品群の名前。サーバー用のESXiや、PC用のWorkstationなどがある。</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3" name="Shape 21"/>
          <p:cNvSpPr/>
          <p:nvPr/>
        </p:nvSpPr>
        <p:spPr>
          <a:xfrm>
            <a:off x="320040" y="4234942"/>
            <a:ext cx="4846320" cy="1264920"/>
          </a:xfrm>
          <a:prstGeom prst="roundRect">
            <a:avLst>
              <a:gd name="adj" fmla="val 10120"/>
            </a:avLst>
          </a:prstGeom>
          <a:solidFill>
            <a:srgbClr val="D9F2F1"/>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企業のサーバー室やデータセンターで、VMを動かす仮想化ソフト。</a:t>
            </a:r>
            <a:endParaRPr lang="en-US" sz="2000" dirty="0"/>
          </a:p>
        </p:txBody>
      </p:sp>
      <p:sp>
        <p:nvSpPr>
          <p:cNvPr id="25" name="Shape 23"/>
          <p:cNvSpPr/>
          <p:nvPr/>
        </p:nvSpPr>
        <p:spPr>
          <a:xfrm>
            <a:off x="320040" y="5682742"/>
            <a:ext cx="4846320" cy="402336"/>
          </a:xfrm>
          <a:prstGeom prst="roundRect">
            <a:avLst>
              <a:gd name="adj" fmla="val 22727"/>
            </a:avLst>
          </a:prstGeom>
          <a:solidFill>
            <a:srgbClr val="0B7A7A"/>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0B7A7A"/>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VMware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29" name="Shape 27"/>
          <p:cNvSpPr/>
          <p:nvPr/>
        </p:nvSpPr>
        <p:spPr>
          <a:xfrm>
            <a:off x="3566160" y="6139942"/>
            <a:ext cx="1600200" cy="676656"/>
          </a:xfrm>
          <a:prstGeom prst="roundRect">
            <a:avLst>
              <a:gd name="adj" fmla="val 16216"/>
            </a:avLst>
          </a:prstGeom>
          <a:solidFill>
            <a:srgbClr val="D9F2F1"/>
          </a:solidFill>
          <a:ln w="25400">
            <a:solidFill>
              <a:srgbClr val="0B7A7A"/>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ESXiを提供</a:t>
            </a:r>
            <a:endParaRPr lang="en-US" sz="1500" dirty="0"/>
          </a:p>
        </p:txBody>
      </p:sp>
      <p:sp>
        <p:nvSpPr>
          <p:cNvPr id="33" name="Shape 31"/>
          <p:cNvSpPr/>
          <p:nvPr/>
        </p:nvSpPr>
        <p:spPr>
          <a:xfrm>
            <a:off x="3566160" y="6926326"/>
            <a:ext cx="1600200" cy="676656"/>
          </a:xfrm>
          <a:prstGeom prst="roundRect">
            <a:avLst>
              <a:gd name="adj" fmla="val 16216"/>
            </a:avLst>
          </a:prstGeom>
          <a:solidFill>
            <a:srgbClr val="D9F2F1"/>
          </a:solidFill>
          <a:ln w="25400">
            <a:solidFill>
              <a:srgbClr val="0B7A7A"/>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37" name="Shape 35"/>
          <p:cNvSpPr/>
          <p:nvPr/>
        </p:nvSpPr>
        <p:spPr>
          <a:xfrm>
            <a:off x="3566160" y="7712710"/>
            <a:ext cx="1600200" cy="676656"/>
          </a:xfrm>
          <a:prstGeom prst="roundRect">
            <a:avLst>
              <a:gd name="adj" fmla="val 16216"/>
            </a:avLst>
          </a:prstGeom>
          <a:solidFill>
            <a:srgbClr val="D9F2F1"/>
          </a:solidFill>
          <a:ln w="25400">
            <a:solidFill>
              <a:srgbClr val="0B7A7A"/>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1" name="Shape 39"/>
          <p:cNvSpPr/>
          <p:nvPr/>
        </p:nvSpPr>
        <p:spPr>
          <a:xfrm>
            <a:off x="3566160" y="8499094"/>
            <a:ext cx="1600200" cy="676656"/>
          </a:xfrm>
          <a:prstGeom prst="roundRect">
            <a:avLst>
              <a:gd name="adj" fmla="val 16216"/>
            </a:avLst>
          </a:prstGeom>
          <a:solidFill>
            <a:srgbClr val="D9F2F1"/>
          </a:solidFill>
          <a:ln w="25400">
            <a:solidFill>
              <a:srgbClr val="0B7A7A"/>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5" name="Shape 43"/>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で使われる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VMware</a:t>
            </a:r>
            <a:endParaRPr lang="ja-JP" sz="2200" dirty="0"/>
          </a:p>
        </p:txBody>
      </p:sp>
      <p:sp>
        <p:nvSpPr>
          <p:cNvPr id="4" name="Shape 2"/>
          <p:cNvSpPr/>
          <p:nvPr/>
        </p:nvSpPr>
        <p:spPr>
          <a:xfrm>
            <a:off x="320040" y="1318514"/>
            <a:ext cx="4846320" cy="2781808"/>
          </a:xfrm>
          <a:prstGeom prst="roundRect">
            <a:avLst>
              <a:gd name="adj" fmla="val 4602"/>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2514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読み：ヴイエムウェア</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VMwareは、仮想化に関する製品の名前（ブランド）です。サーバーに直接入れてVMを動かす「ESXi」が基本の製品で、企業のサーバー室やデータセンターで使われます。</a:t>
            </a:r>
            <a:endParaRPr lang="en-US" sz="2000" dirty="0"/>
          </a:p>
        </p:txBody>
      </p:sp>
      <p:sp>
        <p:nvSpPr>
          <p:cNvPr id="7" name="Shape 5"/>
          <p:cNvSpPr/>
          <p:nvPr/>
        </p:nvSpPr>
        <p:spPr>
          <a:xfrm>
            <a:off x="320040" y="4173474"/>
            <a:ext cx="4846320" cy="2296160"/>
          </a:xfrm>
          <a:prstGeom prst="roundRect">
            <a:avLst>
              <a:gd name="adj" fmla="val 5575"/>
            </a:avLst>
          </a:prstGeom>
          <a:solidFill>
            <a:srgbClr val="D9F2F1"/>
          </a:solidFill>
          <a:ln/>
        </p:spPr>
      </p:sp>
      <p:sp>
        <p:nvSpPr>
          <p:cNvPr id="8" name="Text 6"/>
          <p:cNvSpPr txBox="1"/>
          <p:nvPr/>
        </p:nvSpPr>
        <p:spPr>
          <a:xfrm>
            <a:off x="502920" y="426491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ESXiの管理ソフト「vCenter Server」などを含む製品群が「vSphere」です。PC用には、Windows・Linux向けのWorkstation、Mac向けのFusionがあり、OSの上にアプリとして入れて使います。</a:t>
            </a:r>
            <a:endParaRPr lang="en-US" sz="2000" dirty="0"/>
          </a:p>
        </p:txBody>
      </p:sp>
      <p:sp>
        <p:nvSpPr>
          <p:cNvPr id="9" name="Shape 7"/>
          <p:cNvSpPr/>
          <p:nvPr/>
        </p:nvSpPr>
        <p:spPr>
          <a:xfrm>
            <a:off x="320040" y="6542786"/>
            <a:ext cx="4846320" cy="1600200"/>
          </a:xfrm>
          <a:prstGeom prst="roundRect">
            <a:avLst>
              <a:gd name="adj" fmla="val 8000"/>
            </a:avLst>
          </a:prstGeom>
          <a:solidFill>
            <a:srgbClr val="FDEBD0"/>
          </a:solidFill>
          <a:ln/>
        </p:spPr>
      </p:sp>
      <p:sp>
        <p:nvSpPr>
          <p:cNvPr id="10" name="Text 8"/>
          <p:cNvSpPr txBox="1"/>
          <p:nvPr/>
        </p:nvSpPr>
        <p:spPr>
          <a:xfrm>
            <a:off x="502920" y="663422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自動車メーカー名のような存在。メーカー名（VMware）の下に、ESXiやvSphereなど「車種」（製品）が並びます。</a:t>
            </a:r>
            <a:endParaRPr lang="en-US" sz="2000" dirty="0"/>
          </a:p>
        </p:txBody>
      </p:sp>
      <p:sp>
        <p:nvSpPr>
          <p:cNvPr id="11" name="Shape 9"/>
          <p:cNvSpPr/>
          <p:nvPr/>
        </p:nvSpPr>
        <p:spPr>
          <a:xfrm>
            <a:off x="320040" y="8325866"/>
            <a:ext cx="4846320" cy="1935480"/>
          </a:xfrm>
          <a:prstGeom prst="roundRect">
            <a:avLst>
              <a:gd name="adj" fmla="val 6614"/>
            </a:avLst>
          </a:prstGeom>
          <a:solidFill>
            <a:srgbClr val="DCE8F8"/>
          </a:solidFill>
          <a:ln/>
        </p:spPr>
      </p:sp>
      <p:sp>
        <p:nvSpPr>
          <p:cNvPr id="12" name="Text 10"/>
          <p:cNvSpPr txBox="1"/>
          <p:nvPr/>
        </p:nvSpPr>
        <p:spPr>
          <a:xfrm>
            <a:off x="502920" y="84173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ITの求人や社内の構成図に「VMware環境」「vSphere」と書かれる場面です。仮想化基盤を作る・運用する仕事で名前が出ます。</a:t>
            </a:r>
            <a:endParaRPr lang="en-US" sz="2000" dirty="0"/>
          </a:p>
        </p:txBody>
      </p:sp>
      <p:sp>
        <p:nvSpPr>
          <p:cNvPr id="13" name="Text 1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VMware</a:t>
            </a:r>
            <a:endParaRPr lang="ja-JP" sz="2200" dirty="0"/>
          </a:p>
        </p:txBody>
      </p:sp>
      <p:sp>
        <p:nvSpPr>
          <p:cNvPr id="4" name="Shape 2"/>
          <p:cNvSpPr/>
          <p:nvPr/>
        </p:nvSpPr>
        <p:spPr>
          <a:xfrm>
            <a:off x="320040" y="1318514"/>
            <a:ext cx="4846320" cy="1935480"/>
          </a:xfrm>
          <a:prstGeom prst="roundRect">
            <a:avLst>
              <a:gd name="adj" fmla="val 6614"/>
            </a:avLst>
          </a:prstGeom>
          <a:solidFill>
            <a:srgbClr val="FBE3E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VMwareは1つの製品名ではなく、製品群の名前です。「VMware」と言われたら、ESXi・vSphere・Workstationのどれか確認しましょう。</a:t>
            </a:r>
            <a:endParaRPr lang="en-US" sz="2000" dirty="0"/>
          </a:p>
        </p:txBody>
      </p:sp>
      <p:sp>
        <p:nvSpPr>
          <p:cNvPr id="6" name="Shape 4"/>
          <p:cNvSpPr/>
          <p:nvPr/>
        </p:nvSpPr>
        <p:spPr>
          <a:xfrm>
            <a:off x="320040" y="3436874"/>
            <a:ext cx="4846320" cy="1600200"/>
          </a:xfrm>
          <a:prstGeom prst="roundRect">
            <a:avLst>
              <a:gd name="adj" fmla="val 8000"/>
            </a:avLst>
          </a:prstGeom>
          <a:solidFill>
            <a:srgbClr val="DDF1E4"/>
          </a:solidFill>
          <a:ln/>
        </p:spPr>
      </p:sp>
      <p:sp>
        <p:nvSpPr>
          <p:cNvPr id="7" name="Text 5"/>
          <p:cNvSpPr txBox="1"/>
          <p:nvPr/>
        </p:nvSpPr>
        <p:spPr>
          <a:xfrm>
            <a:off x="502920" y="3528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VMとハイパーバイザーを理解した後、職場や学校でどの製品が使われているか調べ、ESXiとvSphereの違いを図にしましょう。</a:t>
            </a:r>
            <a:endParaRPr lang="en-US" sz="2000" dirty="0"/>
          </a:p>
        </p:txBody>
      </p:sp>
      <p:sp>
        <p:nvSpPr>
          <p:cNvPr id="8" name="Text 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OpenStack</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サーバー・保存装置・ネットワークをまとめ、クラウド環境を作るオープンソースのソフト群。</a:t>
            </a:r>
            <a:endParaRPr lang="en-US" sz="1800" dirty="0"/>
          </a:p>
        </p:txBody>
      </p:sp>
      <p:sp>
        <p:nvSpPr>
          <p:cNvPr id="7" name="Text 5"/>
          <p:cNvSpPr txBox="1"/>
          <p:nvPr/>
        </p:nvSpPr>
        <p:spPr>
          <a:xfrm>
            <a:off x="320040" y="2817622"/>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3165094"/>
            <a:ext cx="1156716" cy="384048"/>
          </a:xfrm>
          <a:prstGeom prst="roundRect">
            <a:avLst>
              <a:gd name="adj" fmla="val 23810"/>
            </a:avLst>
          </a:prstGeom>
          <a:solidFill>
            <a:srgbClr val="EEF1F5"/>
          </a:solidFill>
          <a:ln/>
        </p:spPr>
      </p:sp>
      <p:sp>
        <p:nvSpPr>
          <p:cNvPr id="9" name="Text 7"/>
          <p:cNvSpPr txBox="1"/>
          <p:nvPr/>
        </p:nvSpPr>
        <p:spPr>
          <a:xfrm>
            <a:off x="320040"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3165094"/>
            <a:ext cx="1156716" cy="384048"/>
          </a:xfrm>
          <a:prstGeom prst="roundRect">
            <a:avLst>
              <a:gd name="adj" fmla="val 23810"/>
            </a:avLst>
          </a:prstGeom>
          <a:solidFill>
            <a:srgbClr val="EEF1F5"/>
          </a:solidFill>
          <a:ln/>
        </p:spPr>
      </p:sp>
      <p:sp>
        <p:nvSpPr>
          <p:cNvPr id="11" name="Text 9"/>
          <p:cNvSpPr txBox="1"/>
          <p:nvPr/>
        </p:nvSpPr>
        <p:spPr>
          <a:xfrm>
            <a:off x="1549908"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3165094"/>
            <a:ext cx="1156716" cy="384048"/>
          </a:xfrm>
          <a:prstGeom prst="roundRect">
            <a:avLst>
              <a:gd name="adj" fmla="val 23810"/>
            </a:avLst>
          </a:prstGeom>
          <a:solidFill>
            <a:srgbClr val="0B7A7A"/>
          </a:solidFill>
          <a:ln/>
        </p:spPr>
      </p:sp>
      <p:sp>
        <p:nvSpPr>
          <p:cNvPr id="13" name="Text 11"/>
          <p:cNvSpPr txBox="1"/>
          <p:nvPr/>
        </p:nvSpPr>
        <p:spPr>
          <a:xfrm>
            <a:off x="2779776"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3165094"/>
            <a:ext cx="1156716" cy="384048"/>
          </a:xfrm>
          <a:prstGeom prst="roundRect">
            <a:avLst>
              <a:gd name="adj" fmla="val 23810"/>
            </a:avLst>
          </a:prstGeom>
          <a:solidFill>
            <a:srgbClr val="EEF1F5"/>
          </a:solidFill>
          <a:ln/>
        </p:spPr>
      </p:sp>
      <p:sp>
        <p:nvSpPr>
          <p:cNvPr id="15" name="Text 13"/>
          <p:cNvSpPr txBox="1"/>
          <p:nvPr/>
        </p:nvSpPr>
        <p:spPr>
          <a:xfrm>
            <a:off x="4009644"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604006"/>
            <a:ext cx="1566672" cy="384048"/>
          </a:xfrm>
          <a:prstGeom prst="roundRect">
            <a:avLst>
              <a:gd name="adj" fmla="val 23810"/>
            </a:avLst>
          </a:prstGeom>
          <a:solidFill>
            <a:srgbClr val="EEF1F5"/>
          </a:solidFill>
          <a:ln/>
        </p:spPr>
      </p:sp>
      <p:sp>
        <p:nvSpPr>
          <p:cNvPr id="17" name="Text 15"/>
          <p:cNvSpPr txBox="1"/>
          <p:nvPr/>
        </p:nvSpPr>
        <p:spPr>
          <a:xfrm>
            <a:off x="320040"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604006"/>
            <a:ext cx="1566672" cy="384048"/>
          </a:xfrm>
          <a:prstGeom prst="roundRect">
            <a:avLst>
              <a:gd name="adj" fmla="val 23810"/>
            </a:avLst>
          </a:prstGeom>
          <a:solidFill>
            <a:srgbClr val="EEF1F5"/>
          </a:solidFill>
          <a:ln/>
        </p:spPr>
      </p:sp>
      <p:sp>
        <p:nvSpPr>
          <p:cNvPr id="19" name="Text 17"/>
          <p:cNvSpPr txBox="1"/>
          <p:nvPr/>
        </p:nvSpPr>
        <p:spPr>
          <a:xfrm>
            <a:off x="1959864"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604006"/>
            <a:ext cx="1566672" cy="384048"/>
          </a:xfrm>
          <a:prstGeom prst="roundRect">
            <a:avLst>
              <a:gd name="adj" fmla="val 23810"/>
            </a:avLst>
          </a:prstGeom>
          <a:solidFill>
            <a:srgbClr val="0369A1"/>
          </a:solidFill>
          <a:ln/>
        </p:spPr>
      </p:sp>
      <p:sp>
        <p:nvSpPr>
          <p:cNvPr id="21" name="Text 19"/>
          <p:cNvSpPr txBox="1"/>
          <p:nvPr/>
        </p:nvSpPr>
        <p:spPr>
          <a:xfrm>
            <a:off x="3599688"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4061206"/>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3" name="Text 21"/>
          <p:cNvSpPr txBox="1"/>
          <p:nvPr/>
        </p:nvSpPr>
        <p:spPr>
          <a:xfrm>
            <a:off x="365760" y="4335526"/>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4" name="Shape 22"/>
          <p:cNvSpPr/>
          <p:nvPr/>
        </p:nvSpPr>
        <p:spPr>
          <a:xfrm>
            <a:off x="320040" y="4811014"/>
            <a:ext cx="4846320" cy="1264920"/>
          </a:xfrm>
          <a:prstGeom prst="roundRect">
            <a:avLst>
              <a:gd name="adj" fmla="val 10120"/>
            </a:avLst>
          </a:prstGeom>
          <a:solidFill>
            <a:srgbClr val="D9F2F1"/>
          </a:solidFill>
          <a:ln/>
        </p:spPr>
      </p:sp>
      <p:sp>
        <p:nvSpPr>
          <p:cNvPr id="25" name="Text 23"/>
          <p:cNvSpPr txBox="1"/>
          <p:nvPr/>
        </p:nvSpPr>
        <p:spPr>
          <a:xfrm>
            <a:off x="502920" y="4902454"/>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サーバー室やデータセンターの設備をまとめて管理する基盤ソフト。</a:t>
            </a:r>
            <a:endParaRPr lang="en-US" sz="2000" dirty="0"/>
          </a:p>
        </p:txBody>
      </p:sp>
      <p:sp>
        <p:nvSpPr>
          <p:cNvPr id="26" name="Text 2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OpenStack</a:t>
            </a:r>
            <a:endParaRPr lang="ja-JP" sz="2200" dirty="0"/>
          </a:p>
        </p:txBody>
      </p:sp>
      <p:sp>
        <p:nvSpPr>
          <p:cNvPr id="4" name="Shape 2"/>
          <p:cNvSpPr/>
          <p:nvPr/>
        </p:nvSpPr>
        <p:spPr>
          <a:xfrm>
            <a:off x="320040" y="1318514"/>
            <a:ext cx="4846320" cy="402336"/>
          </a:xfrm>
          <a:prstGeom prst="roundRect">
            <a:avLst>
              <a:gd name="adj" fmla="val 22727"/>
            </a:avLst>
          </a:prstGeom>
          <a:solidFill>
            <a:srgbClr val="0B7A7A"/>
          </a:solidFill>
          <a:ln/>
        </p:spPr>
      </p:sp>
      <p:sp>
        <p:nvSpPr>
          <p:cNvPr id="5" name="Text 3"/>
          <p:cNvSpPr txBox="1"/>
          <p:nvPr/>
        </p:nvSpPr>
        <p:spPr>
          <a:xfrm>
            <a:off x="411480" y="1318514"/>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6" name="Shape 4"/>
          <p:cNvSpPr/>
          <p:nvPr/>
        </p:nvSpPr>
        <p:spPr>
          <a:xfrm>
            <a:off x="320040" y="1775714"/>
            <a:ext cx="1371600" cy="3822192"/>
          </a:xfrm>
          <a:prstGeom prst="roundRect">
            <a:avLst>
              <a:gd name="adj" fmla="val 8000"/>
            </a:avLst>
          </a:prstGeom>
          <a:solidFill>
            <a:srgbClr val="0B7A7A"/>
          </a:solidFill>
          <a:ln/>
        </p:spPr>
      </p:sp>
      <p:sp>
        <p:nvSpPr>
          <p:cNvPr id="7" name="Text 5"/>
          <p:cNvSpPr txBox="1"/>
          <p:nvPr/>
        </p:nvSpPr>
        <p:spPr>
          <a:xfrm>
            <a:off x="411480" y="1775714"/>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OpenStack</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8" name="Shape 6"/>
          <p:cNvSpPr/>
          <p:nvPr/>
        </p:nvSpPr>
        <p:spPr>
          <a:xfrm>
            <a:off x="3566160" y="1775714"/>
            <a:ext cx="1600200" cy="676656"/>
          </a:xfrm>
          <a:prstGeom prst="roundRect">
            <a:avLst>
              <a:gd name="adj" fmla="val 16216"/>
            </a:avLst>
          </a:prstGeom>
          <a:solidFill>
            <a:srgbClr val="D9F2F1"/>
          </a:solidFill>
          <a:ln w="25400">
            <a:solidFill>
              <a:srgbClr val="0B7A7A"/>
            </a:solidFill>
            <a:prstDash val="solid"/>
          </a:ln>
        </p:spPr>
      </p:sp>
      <p:sp>
        <p:nvSpPr>
          <p:cNvPr id="9" name="Text 7"/>
          <p:cNvSpPr txBox="1"/>
          <p:nvPr/>
        </p:nvSpPr>
        <p:spPr>
          <a:xfrm>
            <a:off x="3657600" y="17757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10" name="Shape 8"/>
          <p:cNvSpPr/>
          <p:nvPr/>
        </p:nvSpPr>
        <p:spPr>
          <a:xfrm>
            <a:off x="1719072" y="2114042"/>
            <a:ext cx="1819656" cy="0"/>
          </a:xfrm>
          <a:prstGeom prst="line">
            <a:avLst/>
          </a:prstGeom>
          <a:noFill/>
          <a:ln w="31750">
            <a:solidFill>
              <a:srgbClr val="1B2A3A"/>
            </a:solidFill>
            <a:prstDash val="solid"/>
            <a:tailEnd type="triangle"/>
          </a:ln>
        </p:spPr>
      </p:sp>
      <p:sp>
        <p:nvSpPr>
          <p:cNvPr id="11" name="Text 9"/>
          <p:cNvSpPr txBox="1"/>
          <p:nvPr/>
        </p:nvSpPr>
        <p:spPr>
          <a:xfrm>
            <a:off x="1700784" y="18122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作って渡す</a:t>
            </a:r>
            <a:endParaRPr lang="en-US" sz="1500" dirty="0"/>
          </a:p>
        </p:txBody>
      </p:sp>
      <p:sp>
        <p:nvSpPr>
          <p:cNvPr id="12" name="Shape 10"/>
          <p:cNvSpPr/>
          <p:nvPr/>
        </p:nvSpPr>
        <p:spPr>
          <a:xfrm>
            <a:off x="3566160" y="2562098"/>
            <a:ext cx="1600200" cy="676656"/>
          </a:xfrm>
          <a:prstGeom prst="roundRect">
            <a:avLst>
              <a:gd name="adj" fmla="val 16216"/>
            </a:avLst>
          </a:prstGeom>
          <a:solidFill>
            <a:srgbClr val="DFF1FB"/>
          </a:solidFill>
          <a:ln w="25400">
            <a:solidFill>
              <a:srgbClr val="0369A1"/>
            </a:solidFill>
            <a:prstDash val="solid"/>
          </a:ln>
        </p:spPr>
      </p:sp>
      <p:sp>
        <p:nvSpPr>
          <p:cNvPr id="13" name="Text 11"/>
          <p:cNvSpPr txBox="1"/>
          <p:nvPr/>
        </p:nvSpPr>
        <p:spPr>
          <a:xfrm>
            <a:off x="3657600" y="25620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プライベートクラウド</a:t>
            </a:r>
            <a:endParaRPr lang="en-US" sz="1500" dirty="0"/>
          </a:p>
        </p:txBody>
      </p:sp>
      <p:sp>
        <p:nvSpPr>
          <p:cNvPr id="14" name="Shape 12"/>
          <p:cNvSpPr/>
          <p:nvPr/>
        </p:nvSpPr>
        <p:spPr>
          <a:xfrm>
            <a:off x="1719072" y="2900426"/>
            <a:ext cx="1819656" cy="0"/>
          </a:xfrm>
          <a:prstGeom prst="line">
            <a:avLst/>
          </a:prstGeom>
          <a:noFill/>
          <a:ln w="31750">
            <a:solidFill>
              <a:srgbClr val="1B2A3A"/>
            </a:solidFill>
            <a:prstDash val="solid"/>
            <a:tailEnd type="triangle"/>
          </a:ln>
        </p:spPr>
      </p:sp>
      <p:sp>
        <p:nvSpPr>
          <p:cNvPr id="15" name="Text 13"/>
          <p:cNvSpPr txBox="1"/>
          <p:nvPr/>
        </p:nvSpPr>
        <p:spPr>
          <a:xfrm>
            <a:off x="1700784" y="25986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構築に使う</a:t>
            </a:r>
            <a:endParaRPr lang="en-US" sz="1500" dirty="0"/>
          </a:p>
        </p:txBody>
      </p:sp>
      <p:sp>
        <p:nvSpPr>
          <p:cNvPr id="16" name="Shape 14"/>
          <p:cNvSpPr/>
          <p:nvPr/>
        </p:nvSpPr>
        <p:spPr>
          <a:xfrm>
            <a:off x="3566160" y="3348482"/>
            <a:ext cx="1600200" cy="676656"/>
          </a:xfrm>
          <a:prstGeom prst="roundRect">
            <a:avLst>
              <a:gd name="adj" fmla="val 16216"/>
            </a:avLst>
          </a:prstGeom>
          <a:solidFill>
            <a:srgbClr val="D9F2F1"/>
          </a:solidFill>
          <a:ln w="25400">
            <a:solidFill>
              <a:srgbClr val="0B7A7A"/>
            </a:solidFill>
            <a:prstDash val="solid"/>
          </a:ln>
        </p:spPr>
      </p:sp>
      <p:sp>
        <p:nvSpPr>
          <p:cNvPr id="17" name="Text 15"/>
          <p:cNvSpPr txBox="1"/>
          <p:nvPr/>
        </p:nvSpPr>
        <p:spPr>
          <a:xfrm>
            <a:off x="3657600" y="334848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18" name="Shape 16"/>
          <p:cNvSpPr/>
          <p:nvPr/>
        </p:nvSpPr>
        <p:spPr>
          <a:xfrm flipH="1">
            <a:off x="1719072" y="3686810"/>
            <a:ext cx="1819656" cy="0"/>
          </a:xfrm>
          <a:prstGeom prst="line">
            <a:avLst/>
          </a:prstGeom>
          <a:noFill/>
          <a:ln w="31750">
            <a:solidFill>
              <a:srgbClr val="1B2A3A"/>
            </a:solidFill>
            <a:prstDash val="solid"/>
            <a:tailEnd type="triangle"/>
          </a:ln>
        </p:spPr>
      </p:sp>
      <p:sp>
        <p:nvSpPr>
          <p:cNvPr id="19" name="Text 17"/>
          <p:cNvSpPr txBox="1"/>
          <p:nvPr/>
        </p:nvSpPr>
        <p:spPr>
          <a:xfrm>
            <a:off x="1700784" y="338505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0" name="Shape 18"/>
          <p:cNvSpPr/>
          <p:nvPr/>
        </p:nvSpPr>
        <p:spPr>
          <a:xfrm>
            <a:off x="3566160" y="4134866"/>
            <a:ext cx="1600200" cy="676656"/>
          </a:xfrm>
          <a:prstGeom prst="roundRect">
            <a:avLst>
              <a:gd name="adj" fmla="val 16216"/>
            </a:avLst>
          </a:prstGeom>
          <a:solidFill>
            <a:srgbClr val="DFF1FB"/>
          </a:solidFill>
          <a:ln w="25400">
            <a:solidFill>
              <a:srgbClr val="0369A1"/>
            </a:solidFill>
            <a:prstDash val="solid"/>
          </a:ln>
        </p:spPr>
      </p:sp>
      <p:sp>
        <p:nvSpPr>
          <p:cNvPr id="21" name="Text 19"/>
          <p:cNvSpPr txBox="1"/>
          <p:nvPr/>
        </p:nvSpPr>
        <p:spPr>
          <a:xfrm>
            <a:off x="3657600" y="413486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22" name="Shape 20"/>
          <p:cNvSpPr/>
          <p:nvPr/>
        </p:nvSpPr>
        <p:spPr>
          <a:xfrm>
            <a:off x="1719072" y="4473194"/>
            <a:ext cx="1819656" cy="0"/>
          </a:xfrm>
          <a:prstGeom prst="line">
            <a:avLst/>
          </a:prstGeom>
          <a:noFill/>
          <a:ln w="31750">
            <a:solidFill>
              <a:srgbClr val="1B2A3A"/>
            </a:solidFill>
            <a:prstDash val="solid"/>
            <a:tailEnd type="triangle"/>
          </a:ln>
        </p:spPr>
      </p:sp>
      <p:sp>
        <p:nvSpPr>
          <p:cNvPr id="23" name="Text 21"/>
          <p:cNvSpPr txBox="1"/>
          <p:nvPr/>
        </p:nvSpPr>
        <p:spPr>
          <a:xfrm>
            <a:off x="1700784" y="417144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設備をまとめる</a:t>
            </a:r>
            <a:endParaRPr lang="en-US" sz="1500" dirty="0"/>
          </a:p>
        </p:txBody>
      </p:sp>
      <p:sp>
        <p:nvSpPr>
          <p:cNvPr id="24" name="Shape 22"/>
          <p:cNvSpPr/>
          <p:nvPr/>
        </p:nvSpPr>
        <p:spPr>
          <a:xfrm>
            <a:off x="3566160" y="4921250"/>
            <a:ext cx="1600200" cy="676656"/>
          </a:xfrm>
          <a:prstGeom prst="roundRect">
            <a:avLst>
              <a:gd name="adj" fmla="val 16216"/>
            </a:avLst>
          </a:prstGeom>
          <a:solidFill>
            <a:srgbClr val="DCE8F8"/>
          </a:solidFill>
          <a:ln w="25400">
            <a:solidFill>
              <a:srgbClr val="2F6BC2"/>
            </a:solidFill>
            <a:prstDash val="solid"/>
          </a:ln>
        </p:spPr>
      </p:sp>
      <p:sp>
        <p:nvSpPr>
          <p:cNvPr id="25" name="Text 23"/>
          <p:cNvSpPr txBox="1"/>
          <p:nvPr/>
        </p:nvSpPr>
        <p:spPr>
          <a:xfrm>
            <a:off x="3657600" y="492125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26" name="Shape 24"/>
          <p:cNvSpPr/>
          <p:nvPr/>
        </p:nvSpPr>
        <p:spPr>
          <a:xfrm flipH="1">
            <a:off x="1719072" y="5259578"/>
            <a:ext cx="1819656" cy="0"/>
          </a:xfrm>
          <a:prstGeom prst="line">
            <a:avLst/>
          </a:prstGeom>
          <a:noFill/>
          <a:ln w="31750">
            <a:solidFill>
              <a:srgbClr val="1B2A3A"/>
            </a:solidFill>
            <a:prstDash val="solid"/>
            <a:tailEnd type="triangle"/>
          </a:ln>
        </p:spPr>
      </p:sp>
      <p:sp>
        <p:nvSpPr>
          <p:cNvPr id="27" name="Text 25"/>
          <p:cNvSpPr txBox="1"/>
          <p:nvPr/>
        </p:nvSpPr>
        <p:spPr>
          <a:xfrm>
            <a:off x="1700784" y="495782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8" name="Shape 26"/>
          <p:cNvSpPr/>
          <p:nvPr/>
        </p:nvSpPr>
        <p:spPr>
          <a:xfrm>
            <a:off x="320040" y="5835650"/>
            <a:ext cx="4846320" cy="2781808"/>
          </a:xfrm>
          <a:prstGeom prst="roundRect">
            <a:avLst>
              <a:gd name="adj" fmla="val 4602"/>
            </a:avLst>
          </a:prstGeom>
          <a:solidFill>
            <a:srgbClr val="D9F2F1"/>
          </a:solidFill>
          <a:ln/>
        </p:spPr>
      </p:sp>
      <p:sp>
        <p:nvSpPr>
          <p:cNvPr id="29" name="Text 27"/>
          <p:cNvSpPr txBox="1"/>
          <p:nvPr/>
        </p:nvSpPr>
        <p:spPr>
          <a:xfrm>
            <a:off x="502920" y="5927090"/>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30" name="Text 28"/>
          <p:cNvSpPr txBox="1"/>
          <p:nvPr/>
        </p:nvSpPr>
        <p:spPr>
          <a:xfrm>
            <a:off x="502920" y="6311138"/>
            <a:ext cx="4480560" cy="22514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読み：オープンスタック</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OpenStackは、多数のサーバー・ストレージ・ネットワークを「資源の集まり」にまとめ、APIやWeb画面から申し込むだけで使えるようにするオープンソースのソフト群です。</a:t>
            </a:r>
            <a:endParaRPr lang="en-US" sz="2000" dirty="0"/>
          </a:p>
        </p:txBody>
      </p:sp>
      <p:sp>
        <p:nvSpPr>
          <p:cNvPr id="31" name="Text 2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OpenStack</a:t>
            </a:r>
            <a:endParaRPr lang="ja-JP" sz="2200" dirty="0"/>
          </a:p>
        </p:txBody>
      </p:sp>
      <p:sp>
        <p:nvSpPr>
          <p:cNvPr id="4" name="Shape 2"/>
          <p:cNvSpPr/>
          <p:nvPr/>
        </p:nvSpPr>
        <p:spPr>
          <a:xfrm>
            <a:off x="320040" y="1318514"/>
            <a:ext cx="4846320" cy="2631440"/>
          </a:xfrm>
          <a:prstGeom prst="roundRect">
            <a:avLst>
              <a:gd name="adj" fmla="val 4865"/>
            </a:avLst>
          </a:prstGeom>
          <a:solidFill>
            <a:srgbClr val="D9F2F1"/>
          </a:solidFill>
          <a:ln/>
        </p:spPr>
      </p:sp>
      <p:sp>
        <p:nvSpPr>
          <p:cNvPr id="5" name="Text 3"/>
          <p:cNvSpPr txBox="1"/>
          <p:nvPr/>
        </p:nvSpPr>
        <p:spPr>
          <a:xfrm>
            <a:off x="502920" y="14099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VMがほしい」と画面で頼むと、空いたサーバーを探してVMを作ります。VMはNova、ディスクはCinder、ネットワークはNeutronと、役割ごとの部品を組み合わせます。自社設備にプライベートクラウドを作る用途などで使われます。</a:t>
            </a:r>
            <a:endParaRPr lang="en-US" sz="2000" dirty="0"/>
          </a:p>
        </p:txBody>
      </p:sp>
      <p:sp>
        <p:nvSpPr>
          <p:cNvPr id="6" name="Shape 4"/>
          <p:cNvSpPr/>
          <p:nvPr/>
        </p:nvSpPr>
        <p:spPr>
          <a:xfrm>
            <a:off x="320040" y="4023106"/>
            <a:ext cx="4846320" cy="1600200"/>
          </a:xfrm>
          <a:prstGeom prst="roundRect">
            <a:avLst>
              <a:gd name="adj" fmla="val 8000"/>
            </a:avLst>
          </a:prstGeom>
          <a:solidFill>
            <a:srgbClr val="FDEBD0"/>
          </a:solidFill>
          <a:ln/>
        </p:spPr>
      </p:sp>
      <p:sp>
        <p:nvSpPr>
          <p:cNvPr id="7" name="Text 5"/>
          <p:cNvSpPr txBox="1"/>
          <p:nvPr/>
        </p:nvSpPr>
        <p:spPr>
          <a:xfrm>
            <a:off x="502920" y="411454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ホテルのフロント。客室（サーバー）の空きを管理し、「部屋をください」の注文に、すぐ部屋（VM）を用意して渡します。</a:t>
            </a:r>
            <a:endParaRPr lang="en-US" sz="2000" dirty="0"/>
          </a:p>
        </p:txBody>
      </p:sp>
      <p:sp>
        <p:nvSpPr>
          <p:cNvPr id="8" name="Shape 6"/>
          <p:cNvSpPr/>
          <p:nvPr/>
        </p:nvSpPr>
        <p:spPr>
          <a:xfrm>
            <a:off x="320040" y="5806186"/>
            <a:ext cx="4846320" cy="1600200"/>
          </a:xfrm>
          <a:prstGeom prst="roundRect">
            <a:avLst>
              <a:gd name="adj" fmla="val 8000"/>
            </a:avLst>
          </a:prstGeom>
          <a:solidFill>
            <a:srgbClr val="DCE8F8"/>
          </a:solidFill>
          <a:ln/>
        </p:spPr>
      </p:sp>
      <p:sp>
        <p:nvSpPr>
          <p:cNvPr id="9" name="Text 7"/>
          <p:cNvSpPr txBox="1"/>
          <p:nvPr/>
        </p:nvSpPr>
        <p:spPr>
          <a:xfrm>
            <a:off x="502920" y="589762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大学や企業が、自前のサーバー群の上に「申し込めばすぐVMが使える」社内向けの窓口を作る場面です。</a:t>
            </a:r>
            <a:endParaRPr lang="en-US" sz="2000" dirty="0"/>
          </a:p>
        </p:txBody>
      </p:sp>
      <p:sp>
        <p:nvSpPr>
          <p:cNvPr id="10" name="Shape 8"/>
          <p:cNvSpPr/>
          <p:nvPr/>
        </p:nvSpPr>
        <p:spPr>
          <a:xfrm>
            <a:off x="320040" y="7589266"/>
            <a:ext cx="4846320" cy="1935480"/>
          </a:xfrm>
          <a:prstGeom prst="roundRect">
            <a:avLst>
              <a:gd name="adj" fmla="val 6614"/>
            </a:avLst>
          </a:prstGeom>
          <a:solidFill>
            <a:srgbClr val="FBE3E0"/>
          </a:solidFill>
          <a:ln/>
        </p:spPr>
      </p:sp>
      <p:sp>
        <p:nvSpPr>
          <p:cNvPr id="11" name="Text 9"/>
          <p:cNvSpPr txBox="1"/>
          <p:nvPr/>
        </p:nvSpPr>
        <p:spPr>
          <a:xfrm>
            <a:off x="502920" y="76807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OpenStackは申し込んで使うクラウドサービスではなく、クラウドを作る側のソフトです。入れるだけでは使えず、設備と運用する人が必要です。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OpenStack</a:t>
            </a:r>
            <a:endParaRPr lang="ja-JP" sz="2200" dirty="0"/>
          </a:p>
        </p:txBody>
      </p:sp>
      <p:sp>
        <p:nvSpPr>
          <p:cNvPr id="4" name="Shape 2"/>
          <p:cNvSpPr/>
          <p:nvPr/>
        </p:nvSpPr>
        <p:spPr>
          <a:xfrm>
            <a:off x="320040" y="1318514"/>
            <a:ext cx="4846320" cy="1600200"/>
          </a:xfrm>
          <a:prstGeom prst="roundRect">
            <a:avLst>
              <a:gd name="adj" fmla="val 8000"/>
            </a:avLst>
          </a:prstGeom>
          <a:solidFill>
            <a:srgbClr val="DDF1E4"/>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LinuxとVMの基本を学んでから、学習用の小規模構成で、Web画面からVMを1台作る手順をなぞってみましょう。</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213</a:t>
            </a:fld>
            <a:endParaRPr 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KVM</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Linuxに組み込まれた、Linux自身をハイパーバイザーにする仮想化機能。</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2F6BC2"/>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4" name="Shape 22"/>
          <p:cNvSpPr/>
          <p:nvPr/>
        </p:nvSpPr>
        <p:spPr>
          <a:xfrm>
            <a:off x="320040" y="4509262"/>
            <a:ext cx="4846320" cy="1264920"/>
          </a:xfrm>
          <a:prstGeom prst="roundRect">
            <a:avLst>
              <a:gd name="adj" fmla="val 10120"/>
            </a:avLst>
          </a:prstGeom>
          <a:solidFill>
            <a:srgbClr val="D9F2F1"/>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Linux（OS）の内部にある仮想化の機能。OSとハイパーバイザーを兼ねる。</a:t>
            </a:r>
            <a:endParaRPr lang="en-US" sz="2000" dirty="0"/>
          </a:p>
        </p:txBody>
      </p:sp>
      <p:sp>
        <p:nvSpPr>
          <p:cNvPr id="26" name="Shape 24"/>
          <p:cNvSpPr/>
          <p:nvPr/>
        </p:nvSpPr>
        <p:spPr>
          <a:xfrm>
            <a:off x="320040" y="5957062"/>
            <a:ext cx="4846320" cy="402336"/>
          </a:xfrm>
          <a:prstGeom prst="roundRect">
            <a:avLst>
              <a:gd name="adj" fmla="val 22727"/>
            </a:avLst>
          </a:prstGeom>
          <a:solidFill>
            <a:srgbClr val="0B7A7A"/>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0B7A7A"/>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KVM</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0" name="Shape 28"/>
          <p:cNvSpPr/>
          <p:nvPr/>
        </p:nvSpPr>
        <p:spPr>
          <a:xfrm>
            <a:off x="3566160" y="6414262"/>
            <a:ext cx="1600200" cy="676656"/>
          </a:xfrm>
          <a:prstGeom prst="roundRect">
            <a:avLst>
              <a:gd name="adj" fmla="val 16216"/>
            </a:avLst>
          </a:prstGeom>
          <a:solidFill>
            <a:srgbClr val="DCE8F8"/>
          </a:solidFill>
          <a:ln w="25400">
            <a:solidFill>
              <a:srgbClr val="2F6BC2"/>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組み込まれる</a:t>
            </a:r>
            <a:endParaRPr lang="en-US" sz="1500" dirty="0"/>
          </a:p>
        </p:txBody>
      </p:sp>
      <p:sp>
        <p:nvSpPr>
          <p:cNvPr id="34" name="Shape 32"/>
          <p:cNvSpPr/>
          <p:nvPr/>
        </p:nvSpPr>
        <p:spPr>
          <a:xfrm>
            <a:off x="3566160" y="7200646"/>
            <a:ext cx="1600200" cy="676656"/>
          </a:xfrm>
          <a:prstGeom prst="roundRect">
            <a:avLst>
              <a:gd name="adj" fmla="val 16216"/>
            </a:avLst>
          </a:prstGeom>
          <a:solidFill>
            <a:srgbClr val="D9F2F1"/>
          </a:solidFill>
          <a:ln w="25400">
            <a:solidFill>
              <a:srgbClr val="0B7A7A"/>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として働く</a:t>
            </a:r>
            <a:endParaRPr lang="en-US" sz="1500" dirty="0"/>
          </a:p>
        </p:txBody>
      </p:sp>
      <p:sp>
        <p:nvSpPr>
          <p:cNvPr id="38" name="Shape 36"/>
          <p:cNvSpPr/>
          <p:nvPr/>
        </p:nvSpPr>
        <p:spPr>
          <a:xfrm>
            <a:off x="3566160" y="7987030"/>
            <a:ext cx="1600200" cy="676656"/>
          </a:xfrm>
          <a:prstGeom prst="roundRect">
            <a:avLst>
              <a:gd name="adj" fmla="val 16216"/>
            </a:avLst>
          </a:prstGeom>
          <a:solidFill>
            <a:srgbClr val="D9F2F1"/>
          </a:solidFill>
          <a:ln w="25400">
            <a:solidFill>
              <a:srgbClr val="0B7A7A"/>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0" name="Shape 38"/>
          <p:cNvSpPr/>
          <p:nvPr/>
        </p:nvSpPr>
        <p:spPr>
          <a:xfrm>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2" name="Shape 40"/>
          <p:cNvSpPr/>
          <p:nvPr/>
        </p:nvSpPr>
        <p:spPr>
          <a:xfrm>
            <a:off x="3566160" y="8773414"/>
            <a:ext cx="1600200" cy="676656"/>
          </a:xfrm>
          <a:prstGeom prst="roundRect">
            <a:avLst>
              <a:gd name="adj" fmla="val 16216"/>
            </a:avLst>
          </a:prstGeom>
          <a:solidFill>
            <a:srgbClr val="D9F2F1"/>
          </a:solidFill>
          <a:ln w="25400">
            <a:solidFill>
              <a:srgbClr val="0B7A7A"/>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OpenStack</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46" name="Shape 44"/>
          <p:cNvSpPr/>
          <p:nvPr/>
        </p:nvSpPr>
        <p:spPr>
          <a:xfrm>
            <a:off x="3566160" y="9559798"/>
            <a:ext cx="1600200" cy="676656"/>
          </a:xfrm>
          <a:prstGeom prst="roundRect">
            <a:avLst>
              <a:gd name="adj" fmla="val 16216"/>
            </a:avLst>
          </a:prstGeom>
          <a:solidFill>
            <a:srgbClr val="D9F2F1"/>
          </a:solidFill>
          <a:ln w="25400">
            <a:solidFill>
              <a:srgbClr val="0B7A7A"/>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8" name="Shape 46"/>
          <p:cNvSpPr/>
          <p:nvPr/>
        </p:nvSpPr>
        <p:spPr>
          <a:xfrm>
            <a:off x="1719072" y="9898126"/>
            <a:ext cx="1819656" cy="0"/>
          </a:xfrm>
          <a:prstGeom prst="line">
            <a:avLst/>
          </a:prstGeom>
          <a:noFill/>
          <a:ln w="31750">
            <a:solidFill>
              <a:srgbClr val="1B2A3A"/>
            </a:solidFill>
            <a:prstDash val="solid"/>
            <a:headEnd type="triangle"/>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KVM</a:t>
            </a:r>
            <a:endParaRPr lang="ja-JP" sz="2200" dirty="0"/>
          </a:p>
        </p:txBody>
      </p:sp>
      <p:sp>
        <p:nvSpPr>
          <p:cNvPr id="4" name="Shape 2"/>
          <p:cNvSpPr/>
          <p:nvPr/>
        </p:nvSpPr>
        <p:spPr>
          <a:xfrm>
            <a:off x="320040" y="1318514"/>
            <a:ext cx="4846320" cy="3452368"/>
          </a:xfrm>
          <a:prstGeom prst="roundRect">
            <a:avLst>
              <a:gd name="adj" fmla="val 3708"/>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読み：ケーブイエム（Kernel-based Virtual Machine）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KVM（Kernel-based Virtual Machine）は、Linuxのカーネル（OSの中心部分）に組み込まれた仮想化の機能です。これにより、Linux自身がVMを動かすハイパーバイザーとして働きます。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D9F2F1"/>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CPUに備わった仮想化の支援機能を使い、VMを効率よく動かします。仮想のディスクなどの部品は、QEMUというソフトと組み合わせて用意するのが一般的です。OpenStackなどの基盤でも使われます。</a:t>
            </a:r>
            <a:endParaRPr lang="en-US" sz="2000" dirty="0"/>
          </a:p>
        </p:txBody>
      </p:sp>
      <p:sp>
        <p:nvSpPr>
          <p:cNvPr id="9" name="Shape 7"/>
          <p:cNvSpPr/>
          <p:nvPr/>
        </p:nvSpPr>
        <p:spPr>
          <a:xfrm>
            <a:off x="320040" y="7213346"/>
            <a:ext cx="4846320" cy="1600200"/>
          </a:xfrm>
          <a:prstGeom prst="roundRect">
            <a:avLst>
              <a:gd name="adj" fmla="val 8000"/>
            </a:avLst>
          </a:prstGeom>
          <a:solidFill>
            <a:srgbClr val="FDEBD0"/>
          </a:solidFill>
          <a:ln/>
        </p:spPr>
      </p:sp>
      <p:sp>
        <p:nvSpPr>
          <p:cNvPr id="10" name="Text 8"/>
          <p:cNvSpPr txBox="1"/>
          <p:nvPr/>
        </p:nvSpPr>
        <p:spPr>
          <a:xfrm>
            <a:off x="502920" y="730478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ビルの管理人室を別に作らず、ビル（Linux）自体が管理人を兼ねる状態。家主が管理人もする、というイメージです。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KVM</a:t>
            </a:r>
            <a:endParaRPr lang="ja-JP" sz="2200" dirty="0"/>
          </a:p>
        </p:txBody>
      </p:sp>
      <p:sp>
        <p:nvSpPr>
          <p:cNvPr id="4" name="Shape 2"/>
          <p:cNvSpPr/>
          <p:nvPr/>
        </p:nvSpPr>
        <p:spPr>
          <a:xfrm>
            <a:off x="320040" y="1318514"/>
            <a:ext cx="4846320" cy="1600200"/>
          </a:xfrm>
          <a:prstGeom prst="roundRect">
            <a:avLst>
              <a:gd name="adj" fmla="val 8000"/>
            </a:avLst>
          </a:prstGeom>
          <a:solidFill>
            <a:srgbClr val="DCE8F8"/>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Linuxサーバー1台に複数のVMを載せたいときや、OpenStackなどの基盤でVMを実際に動かす部品として使われる場面です。</a:t>
            </a:r>
            <a:endParaRPr lang="en-US" sz="2000" dirty="0"/>
          </a:p>
        </p:txBody>
      </p:sp>
      <p:sp>
        <p:nvSpPr>
          <p:cNvPr id="6" name="Shape 4"/>
          <p:cNvSpPr/>
          <p:nvPr/>
        </p:nvSpPr>
        <p:spPr>
          <a:xfrm>
            <a:off x="320040" y="3101594"/>
            <a:ext cx="4846320" cy="1935480"/>
          </a:xfrm>
          <a:prstGeom prst="roundRect">
            <a:avLst>
              <a:gd name="adj" fmla="val 6614"/>
            </a:avLst>
          </a:prstGeom>
          <a:solidFill>
            <a:srgbClr val="FBE3E0"/>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KVMだけでVMが使いやすくなるわけではありません。QEMUや管理ツールと組み合わせ、CPUの仮想化機能をオンにする必要もあります。</a:t>
            </a:r>
            <a:endParaRPr lang="en-US" sz="2000" dirty="0"/>
          </a:p>
        </p:txBody>
      </p:sp>
      <p:sp>
        <p:nvSpPr>
          <p:cNvPr id="8" name="Shape 6"/>
          <p:cNvSpPr/>
          <p:nvPr/>
        </p:nvSpPr>
        <p:spPr>
          <a:xfrm>
            <a:off x="320040" y="5219954"/>
            <a:ext cx="4846320" cy="1600200"/>
          </a:xfrm>
          <a:prstGeom prst="roundRect">
            <a:avLst>
              <a:gd name="adj" fmla="val 8000"/>
            </a:avLst>
          </a:prstGeom>
          <a:solidFill>
            <a:srgbClr val="DDF1E4"/>
          </a:solidFill>
          <a:ln/>
        </p:spPr>
      </p:sp>
      <p:sp>
        <p:nvSpPr>
          <p:cNvPr id="9" name="Text 7"/>
          <p:cNvSpPr txBox="1"/>
          <p:nvPr/>
        </p:nvSpPr>
        <p:spPr>
          <a:xfrm>
            <a:off x="502920" y="53113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Ubuntuなど対応するLinuxで、virt-managerなどを使いVMを1台作りましょう。lscpuで仮想化対応も確認できます。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Hyper-V</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Microsoftの仮想化技術。Windows ServerやWindowsの機能としてVMを動かせる。</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2F6BC2"/>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4" name="Shape 22"/>
          <p:cNvSpPr/>
          <p:nvPr/>
        </p:nvSpPr>
        <p:spPr>
          <a:xfrm>
            <a:off x="320040" y="4509262"/>
            <a:ext cx="4846320" cy="1264920"/>
          </a:xfrm>
          <a:prstGeom prst="roundRect">
            <a:avLst>
              <a:gd name="adj" fmla="val 10120"/>
            </a:avLst>
          </a:prstGeom>
          <a:solidFill>
            <a:srgbClr val="D9F2F1"/>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B7A7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Windowsに備わった仮想化の機能。Windows ServerやPro以上で使う。</a:t>
            </a:r>
            <a:endParaRPr lang="en-US" sz="2000" dirty="0"/>
          </a:p>
        </p:txBody>
      </p:sp>
      <p:sp>
        <p:nvSpPr>
          <p:cNvPr id="26" name="Shape 24"/>
          <p:cNvSpPr/>
          <p:nvPr/>
        </p:nvSpPr>
        <p:spPr>
          <a:xfrm>
            <a:off x="320040" y="5957062"/>
            <a:ext cx="4846320" cy="402336"/>
          </a:xfrm>
          <a:prstGeom prst="roundRect">
            <a:avLst>
              <a:gd name="adj" fmla="val 22727"/>
            </a:avLst>
          </a:prstGeom>
          <a:solidFill>
            <a:srgbClr val="0B7A7A"/>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0B7A7A"/>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Hyper-V</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0" name="Shape 28"/>
          <p:cNvSpPr/>
          <p:nvPr/>
        </p:nvSpPr>
        <p:spPr>
          <a:xfrm>
            <a:off x="3566160" y="6414262"/>
            <a:ext cx="1600200" cy="676656"/>
          </a:xfrm>
          <a:prstGeom prst="roundRect">
            <a:avLst>
              <a:gd name="adj" fmla="val 16216"/>
            </a:avLst>
          </a:prstGeom>
          <a:solidFill>
            <a:srgbClr val="DCE8F8"/>
          </a:solidFill>
          <a:ln w="25400">
            <a:solidFill>
              <a:srgbClr val="2F6BC2"/>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組み込まれる</a:t>
            </a:r>
            <a:endParaRPr lang="en-US" sz="1500" dirty="0"/>
          </a:p>
        </p:txBody>
      </p:sp>
      <p:sp>
        <p:nvSpPr>
          <p:cNvPr id="34" name="Shape 32"/>
          <p:cNvSpPr/>
          <p:nvPr/>
        </p:nvSpPr>
        <p:spPr>
          <a:xfrm>
            <a:off x="3566160" y="7200646"/>
            <a:ext cx="1600200" cy="676656"/>
          </a:xfrm>
          <a:prstGeom prst="roundRect">
            <a:avLst>
              <a:gd name="adj" fmla="val 16216"/>
            </a:avLst>
          </a:prstGeom>
          <a:solidFill>
            <a:srgbClr val="D9F2F1"/>
          </a:solidFill>
          <a:ln w="25400">
            <a:solidFill>
              <a:srgbClr val="0B7A7A"/>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として働く</a:t>
            </a:r>
            <a:endParaRPr lang="en-US" sz="1500" dirty="0"/>
          </a:p>
        </p:txBody>
      </p:sp>
      <p:sp>
        <p:nvSpPr>
          <p:cNvPr id="38" name="Shape 36"/>
          <p:cNvSpPr/>
          <p:nvPr/>
        </p:nvSpPr>
        <p:spPr>
          <a:xfrm>
            <a:off x="3566160" y="7987030"/>
            <a:ext cx="1600200" cy="676656"/>
          </a:xfrm>
          <a:prstGeom prst="roundRect">
            <a:avLst>
              <a:gd name="adj" fmla="val 16216"/>
            </a:avLst>
          </a:prstGeom>
          <a:solidFill>
            <a:srgbClr val="D9F2F1"/>
          </a:solidFill>
          <a:ln w="25400">
            <a:solidFill>
              <a:srgbClr val="0B7A7A"/>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0" name="Shape 38"/>
          <p:cNvSpPr/>
          <p:nvPr/>
        </p:nvSpPr>
        <p:spPr>
          <a:xfrm>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2" name="Shape 40"/>
          <p:cNvSpPr/>
          <p:nvPr/>
        </p:nvSpPr>
        <p:spPr>
          <a:xfrm>
            <a:off x="3566160" y="8773414"/>
            <a:ext cx="1600200" cy="676656"/>
          </a:xfrm>
          <a:prstGeom prst="roundRect">
            <a:avLst>
              <a:gd name="adj" fmla="val 16216"/>
            </a:avLst>
          </a:prstGeom>
          <a:solidFill>
            <a:srgbClr val="D9F2F1"/>
          </a:solidFill>
          <a:ln w="25400">
            <a:solidFill>
              <a:srgbClr val="0B7A7A"/>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headEnd type="triangle"/>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6" name="Shape 44"/>
          <p:cNvSpPr/>
          <p:nvPr/>
        </p:nvSpPr>
        <p:spPr>
          <a:xfrm>
            <a:off x="3566160" y="9559798"/>
            <a:ext cx="1600200" cy="676656"/>
          </a:xfrm>
          <a:prstGeom prst="roundRect">
            <a:avLst>
              <a:gd name="adj" fmla="val 16216"/>
            </a:avLst>
          </a:prstGeom>
          <a:solidFill>
            <a:srgbClr val="D9F2F1"/>
          </a:solidFill>
          <a:ln w="25400">
            <a:solidFill>
              <a:srgbClr val="0B7A7A"/>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VMware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8" name="Shape 46"/>
          <p:cNvSpPr/>
          <p:nvPr/>
        </p:nvSpPr>
        <p:spPr>
          <a:xfrm>
            <a:off x="1719072" y="9898126"/>
            <a:ext cx="1819656" cy="0"/>
          </a:xfrm>
          <a:prstGeom prst="line">
            <a:avLst/>
          </a:prstGeom>
          <a:noFill/>
          <a:ln w="31750">
            <a:solidFill>
              <a:srgbClr val="1B2A3A"/>
            </a:solidFill>
            <a:prstDash val="solid"/>
            <a:headEnd type="triangle"/>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Hyper-V</a:t>
            </a:r>
            <a:endParaRPr lang="ja-JP" sz="2200" dirty="0"/>
          </a:p>
        </p:txBody>
      </p:sp>
      <p:sp>
        <p:nvSpPr>
          <p:cNvPr id="4" name="Shape 2"/>
          <p:cNvSpPr/>
          <p:nvPr/>
        </p:nvSpPr>
        <p:spPr>
          <a:xfrm>
            <a:off x="320040" y="1318514"/>
            <a:ext cx="4846320" cy="3117088"/>
          </a:xfrm>
          <a:prstGeom prst="roundRect">
            <a:avLst>
              <a:gd name="adj" fmla="val 4107"/>
            </a:avLst>
          </a:prstGeom>
          <a:solidFill>
            <a:srgbClr val="D9F2F1"/>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読み：ハイパーブイ</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Hyper-V（ハイパーブイ）は、Microsoftの仮想化技術です。Windows Serverの機能として、またWindows 11のProなど一部のエディションの機能として提供され、VMを作って動かせます。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9F2F1"/>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ハイパーバイザーの「ベアメタル型」にあたります。機能をオンにすると、Hyper-VマネージャーからLinuxなどのVMも作れます。使うにはCPUの仮想化機能がオンである必要があります。</a:t>
            </a:r>
            <a:endParaRPr lang="en-US" sz="2000" dirty="0"/>
          </a:p>
        </p:txBody>
      </p:sp>
      <p:sp>
        <p:nvSpPr>
          <p:cNvPr id="9" name="Shape 7"/>
          <p:cNvSpPr/>
          <p:nvPr/>
        </p:nvSpPr>
        <p:spPr>
          <a:xfrm>
            <a:off x="320040" y="6878066"/>
            <a:ext cx="4846320" cy="1935480"/>
          </a:xfrm>
          <a:prstGeom prst="roundRect">
            <a:avLst>
              <a:gd name="adj" fmla="val 6614"/>
            </a:avLst>
          </a:prstGeom>
          <a:solidFill>
            <a:srgbClr val="FDEBD0"/>
          </a:solidFill>
          <a:ln/>
        </p:spPr>
      </p:sp>
      <p:sp>
        <p:nvSpPr>
          <p:cNvPr id="10" name="Text 8"/>
          <p:cNvSpPr txBox="1"/>
          <p:nvPr/>
        </p:nvSpPr>
        <p:spPr>
          <a:xfrm>
            <a:off x="502920" y="69695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Windowsに用意された「仮想の部屋づくりキット」。機能をオンにすれば、PCやサーバーの中に部屋（VM）を作って貸し出せます。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Hyper-V</a:t>
            </a:r>
            <a:endParaRPr lang="ja-JP" sz="2200" dirty="0"/>
          </a:p>
        </p:txBody>
      </p:sp>
      <p:sp>
        <p:nvSpPr>
          <p:cNvPr id="4" name="Shape 2"/>
          <p:cNvSpPr/>
          <p:nvPr/>
        </p:nvSpPr>
        <p:spPr>
          <a:xfrm>
            <a:off x="320040" y="1318514"/>
            <a:ext cx="4846320" cy="1600200"/>
          </a:xfrm>
          <a:prstGeom prst="roundRect">
            <a:avLst>
              <a:gd name="adj" fmla="val 8000"/>
            </a:avLst>
          </a:prstGeom>
          <a:solidFill>
            <a:srgbClr val="DCE8F8"/>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会社のWindowsサーバー1台で複数のVMを動かす、Windows 11のPCで安全にLinuxを試す、といった場面で使われます。</a:t>
            </a:r>
            <a:endParaRPr lang="en-US" sz="2000" dirty="0"/>
          </a:p>
        </p:txBody>
      </p:sp>
      <p:sp>
        <p:nvSpPr>
          <p:cNvPr id="6" name="Shape 4"/>
          <p:cNvSpPr/>
          <p:nvPr/>
        </p:nvSpPr>
        <p:spPr>
          <a:xfrm>
            <a:off x="320040" y="3101594"/>
            <a:ext cx="4846320" cy="1935480"/>
          </a:xfrm>
          <a:prstGeom prst="roundRect">
            <a:avLst>
              <a:gd name="adj" fmla="val 6614"/>
            </a:avLst>
          </a:prstGeom>
          <a:solidFill>
            <a:srgbClr val="FBE3E0"/>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Windowsの「Home」では通常Hyper-Vは使えず、ProやEnterpriseなど使えるエディションが限られます。使う前に確認しましょう。</a:t>
            </a:r>
            <a:endParaRPr lang="en-US" sz="2000" dirty="0"/>
          </a:p>
        </p:txBody>
      </p:sp>
      <p:sp>
        <p:nvSpPr>
          <p:cNvPr id="8" name="Shape 6"/>
          <p:cNvSpPr/>
          <p:nvPr/>
        </p:nvSpPr>
        <p:spPr>
          <a:xfrm>
            <a:off x="320040" y="5219954"/>
            <a:ext cx="4846320" cy="1600200"/>
          </a:xfrm>
          <a:prstGeom prst="roundRect">
            <a:avLst>
              <a:gd name="adj" fmla="val 8000"/>
            </a:avLst>
          </a:prstGeom>
          <a:solidFill>
            <a:srgbClr val="DDF1E4"/>
          </a:solidFill>
          <a:ln/>
        </p:spPr>
      </p:sp>
      <p:sp>
        <p:nvSpPr>
          <p:cNvPr id="9" name="Text 7"/>
          <p:cNvSpPr txBox="1"/>
          <p:nvPr/>
        </p:nvSpPr>
        <p:spPr>
          <a:xfrm>
            <a:off x="502920" y="53113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対応Windowsで「Windowsの機能の有効化または無効化」からHyper-Vをオンにし、小さなLinuxのVMを作りましょう。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219</a:t>
            </a:fld>
            <a:endParaRPr 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プライベートクラウド</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特定の組織だけが専用に使う、クラウドの仕組みで作った環境。</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0B7A7A"/>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0369A1"/>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2" name="Text 20"/>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3" name="Shape 21"/>
          <p:cNvSpPr/>
          <p:nvPr/>
        </p:nvSpPr>
        <p:spPr>
          <a:xfrm>
            <a:off x="320040" y="4509262"/>
            <a:ext cx="4846320" cy="1264920"/>
          </a:xfrm>
          <a:prstGeom prst="roundRect">
            <a:avLst>
              <a:gd name="adj" fmla="val 10120"/>
            </a:avLst>
          </a:prstGeom>
          <a:solidFill>
            <a:srgbClr val="DFF1FB"/>
          </a:solidFill>
          <a:ln/>
        </p:spPr>
      </p:sp>
      <p:sp>
        <p:nvSpPr>
          <p:cNvPr id="24" name="Text 22"/>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特定の組織専用の環境。自社のサーバー室か、外部の専用設備にある。</a:t>
            </a:r>
            <a:endParaRPr lang="en-US" sz="2000" dirty="0"/>
          </a:p>
        </p:txBody>
      </p:sp>
      <p:sp>
        <p:nvSpPr>
          <p:cNvPr id="25" name="Shape 23"/>
          <p:cNvSpPr/>
          <p:nvPr/>
        </p:nvSpPr>
        <p:spPr>
          <a:xfrm>
            <a:off x="320040" y="5957062"/>
            <a:ext cx="4846320" cy="402336"/>
          </a:xfrm>
          <a:prstGeom prst="roundRect">
            <a:avLst>
              <a:gd name="adj" fmla="val 22727"/>
            </a:avLst>
          </a:prstGeom>
          <a:solidFill>
            <a:srgbClr val="0369A1"/>
          </a:solidFill>
          <a:ln/>
        </p:spPr>
      </p:sp>
      <p:sp>
        <p:nvSpPr>
          <p:cNvPr id="26" name="Text 24"/>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14262"/>
            <a:ext cx="1371600" cy="3822192"/>
          </a:xfrm>
          <a:prstGeom prst="roundRect">
            <a:avLst>
              <a:gd name="adj" fmla="val 8000"/>
            </a:avLst>
          </a:prstGeom>
          <a:solidFill>
            <a:srgbClr val="0369A1"/>
          </a:solidFill>
          <a:ln/>
        </p:spPr>
      </p:sp>
      <p:sp>
        <p:nvSpPr>
          <p:cNvPr id="28" name="Text 26"/>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プライベートクラウド</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9" name="Shape 27"/>
          <p:cNvSpPr/>
          <p:nvPr/>
        </p:nvSpPr>
        <p:spPr>
          <a:xfrm>
            <a:off x="3566160" y="6414262"/>
            <a:ext cx="1600200" cy="676656"/>
          </a:xfrm>
          <a:prstGeom prst="roundRect">
            <a:avLst>
              <a:gd name="adj" fmla="val 16216"/>
            </a:avLst>
          </a:prstGeom>
          <a:solidFill>
            <a:srgbClr val="DFF1FB"/>
          </a:solidFill>
          <a:ln w="25400">
            <a:solidFill>
              <a:srgbClr val="0369A1"/>
            </a:solidFill>
            <a:prstDash val="solid"/>
          </a:ln>
        </p:spPr>
      </p:sp>
      <p:sp>
        <p:nvSpPr>
          <p:cNvPr id="30" name="Text 28"/>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1" name="Shape 29"/>
          <p:cNvSpPr/>
          <p:nvPr/>
        </p:nvSpPr>
        <p:spPr>
          <a:xfrm>
            <a:off x="1719072" y="6752590"/>
            <a:ext cx="1819656" cy="0"/>
          </a:xfrm>
          <a:prstGeom prst="line">
            <a:avLst/>
          </a:prstGeom>
          <a:noFill/>
          <a:ln w="31750">
            <a:solidFill>
              <a:srgbClr val="1B2A3A"/>
            </a:solidFill>
            <a:prstDash val="solid"/>
            <a:headEnd type="triangle"/>
            <a:tailEnd type="triangle"/>
          </a:ln>
        </p:spPr>
      </p:sp>
      <p:sp>
        <p:nvSpPr>
          <p:cNvPr id="32" name="Text 30"/>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3" name="Shape 31"/>
          <p:cNvSpPr/>
          <p:nvPr/>
        </p:nvSpPr>
        <p:spPr>
          <a:xfrm>
            <a:off x="3566160" y="7200646"/>
            <a:ext cx="1600200" cy="676656"/>
          </a:xfrm>
          <a:prstGeom prst="roundRect">
            <a:avLst>
              <a:gd name="adj" fmla="val 16216"/>
            </a:avLst>
          </a:prstGeom>
          <a:solidFill>
            <a:srgbClr val="D9F2F1"/>
          </a:solidFill>
          <a:ln w="25400">
            <a:solidFill>
              <a:srgbClr val="0B7A7A"/>
            </a:solidFill>
            <a:prstDash val="solid"/>
          </a:ln>
        </p:spPr>
      </p:sp>
      <p:sp>
        <p:nvSpPr>
          <p:cNvPr id="34" name="Text 32"/>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OpenStack</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5" name="Shape 33"/>
          <p:cNvSpPr/>
          <p:nvPr/>
        </p:nvSpPr>
        <p:spPr>
          <a:xfrm flipH="1">
            <a:off x="1719072" y="7538974"/>
            <a:ext cx="1819656" cy="0"/>
          </a:xfrm>
          <a:prstGeom prst="line">
            <a:avLst/>
          </a:prstGeom>
          <a:noFill/>
          <a:ln w="31750">
            <a:solidFill>
              <a:srgbClr val="1B2A3A"/>
            </a:solidFill>
            <a:prstDash val="solid"/>
            <a:tailEnd type="triangle"/>
          </a:ln>
        </p:spPr>
      </p:sp>
      <p:sp>
        <p:nvSpPr>
          <p:cNvPr id="36" name="Text 34"/>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構築に使う</a:t>
            </a:r>
            <a:endParaRPr lang="en-US" sz="1500" dirty="0"/>
          </a:p>
        </p:txBody>
      </p:sp>
      <p:sp>
        <p:nvSpPr>
          <p:cNvPr id="37" name="Shape 35"/>
          <p:cNvSpPr/>
          <p:nvPr/>
        </p:nvSpPr>
        <p:spPr>
          <a:xfrm>
            <a:off x="3566160" y="7987030"/>
            <a:ext cx="1600200" cy="676656"/>
          </a:xfrm>
          <a:prstGeom prst="roundRect">
            <a:avLst>
              <a:gd name="adj" fmla="val 16216"/>
            </a:avLst>
          </a:prstGeom>
          <a:solidFill>
            <a:srgbClr val="D9F2F1"/>
          </a:solidFill>
          <a:ln w="25400">
            <a:solidFill>
              <a:srgbClr val="0B7A7A"/>
            </a:solidFill>
            <a:prstDash val="solid"/>
          </a:ln>
        </p:spPr>
      </p:sp>
      <p:sp>
        <p:nvSpPr>
          <p:cNvPr id="38" name="Text 36"/>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VMware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9" name="Shape 37"/>
          <p:cNvSpPr/>
          <p:nvPr/>
        </p:nvSpPr>
        <p:spPr>
          <a:xfrm flipH="1">
            <a:off x="1719072" y="8325358"/>
            <a:ext cx="1819656" cy="0"/>
          </a:xfrm>
          <a:prstGeom prst="line">
            <a:avLst/>
          </a:prstGeom>
          <a:noFill/>
          <a:ln w="31750">
            <a:solidFill>
              <a:srgbClr val="1B2A3A"/>
            </a:solidFill>
            <a:prstDash val="solid"/>
            <a:tailEnd type="triangle"/>
          </a:ln>
        </p:spPr>
      </p:sp>
      <p:sp>
        <p:nvSpPr>
          <p:cNvPr id="40" name="Text 38"/>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構築に使う</a:t>
            </a:r>
            <a:endParaRPr lang="en-US" sz="1500" dirty="0"/>
          </a:p>
        </p:txBody>
      </p:sp>
      <p:sp>
        <p:nvSpPr>
          <p:cNvPr id="41" name="Shape 39"/>
          <p:cNvSpPr/>
          <p:nvPr/>
        </p:nvSpPr>
        <p:spPr>
          <a:xfrm>
            <a:off x="3566160" y="8773414"/>
            <a:ext cx="1600200" cy="676656"/>
          </a:xfrm>
          <a:prstGeom prst="roundRect">
            <a:avLst>
              <a:gd name="adj" fmla="val 16216"/>
            </a:avLst>
          </a:prstGeom>
          <a:solidFill>
            <a:srgbClr val="DFF1FB"/>
          </a:solidFill>
          <a:ln w="25400">
            <a:solidFill>
              <a:srgbClr val="0369A1"/>
            </a:solidFill>
            <a:prstDash val="solid"/>
          </a:ln>
        </p:spPr>
      </p:sp>
      <p:sp>
        <p:nvSpPr>
          <p:cNvPr id="42" name="Text 40"/>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3" name="Shape 41"/>
          <p:cNvSpPr/>
          <p:nvPr/>
        </p:nvSpPr>
        <p:spPr>
          <a:xfrm flipH="1">
            <a:off x="1719072" y="9111742"/>
            <a:ext cx="1819656" cy="0"/>
          </a:xfrm>
          <a:prstGeom prst="line">
            <a:avLst/>
          </a:prstGeom>
          <a:noFill/>
          <a:ln w="31750">
            <a:solidFill>
              <a:srgbClr val="1B2A3A"/>
            </a:solidFill>
            <a:prstDash val="solid"/>
            <a:tailEnd type="triangle"/>
          </a:ln>
        </p:spPr>
      </p:sp>
      <p:sp>
        <p:nvSpPr>
          <p:cNvPr id="44" name="Text 42"/>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5" name="Shape 43"/>
          <p:cNvSpPr/>
          <p:nvPr/>
        </p:nvSpPr>
        <p:spPr>
          <a:xfrm>
            <a:off x="3566160" y="9559798"/>
            <a:ext cx="1600200" cy="676656"/>
          </a:xfrm>
          <a:prstGeom prst="roundRect">
            <a:avLst>
              <a:gd name="adj" fmla="val 16216"/>
            </a:avLst>
          </a:prstGeom>
          <a:solidFill>
            <a:srgbClr val="DFF1FB"/>
          </a:solidFill>
          <a:ln w="25400">
            <a:solidFill>
              <a:srgbClr val="0369A1"/>
            </a:solidFill>
            <a:prstDash val="solid"/>
          </a:ln>
        </p:spPr>
      </p:sp>
      <p:sp>
        <p:nvSpPr>
          <p:cNvPr id="46" name="Text 44"/>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7" name="Shape 45"/>
          <p:cNvSpPr/>
          <p:nvPr/>
        </p:nvSpPr>
        <p:spPr>
          <a:xfrm>
            <a:off x="1719072" y="9898126"/>
            <a:ext cx="1819656" cy="0"/>
          </a:xfrm>
          <a:prstGeom prst="line">
            <a:avLst/>
          </a:prstGeom>
          <a:noFill/>
          <a:ln w="31750">
            <a:solidFill>
              <a:srgbClr val="1B2A3A"/>
            </a:solidFill>
            <a:prstDash val="solid"/>
            <a:tailEnd type="triangle"/>
          </a:ln>
        </p:spPr>
      </p:sp>
      <p:sp>
        <p:nvSpPr>
          <p:cNvPr id="48" name="Text 46"/>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プライベートクラウド</a:t>
            </a:r>
            <a:endParaRPr lang="ja-JP" sz="2200" dirty="0"/>
          </a:p>
        </p:txBody>
      </p:sp>
      <p:sp>
        <p:nvSpPr>
          <p:cNvPr id="4" name="Shape 2"/>
          <p:cNvSpPr/>
          <p:nvPr/>
        </p:nvSpPr>
        <p:spPr>
          <a:xfrm>
            <a:off x="320040" y="1318514"/>
            <a:ext cx="4846320" cy="3117088"/>
          </a:xfrm>
          <a:prstGeom prst="roundRect">
            <a:avLst>
              <a:gd name="adj" fmla="val 4107"/>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読み：Private Cloud</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プライベートクラウドは、特定の1つの組織だけが使うクラウド環境です。クラウドとは、申し込めばすぐ必要な分だけ使えるIT資源の仕組みで、その利用者が組織内（部署など）に限られます。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FF1FB"/>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置き場所は2通り。自社のサーバー室やデータセンターに設備を置く形と、外部事業者の専用設備を借りる形です。どちらも他の組織と共用しません。VMwareやOpenStackなどで作られます。</a:t>
            </a:r>
            <a:endParaRPr lang="en-US" sz="2000" dirty="0"/>
          </a:p>
        </p:txBody>
      </p:sp>
      <p:sp>
        <p:nvSpPr>
          <p:cNvPr id="9" name="Shape 7"/>
          <p:cNvSpPr/>
          <p:nvPr/>
        </p:nvSpPr>
        <p:spPr>
          <a:xfrm>
            <a:off x="320040" y="6878066"/>
            <a:ext cx="4846320" cy="1960880"/>
          </a:xfrm>
          <a:prstGeom prst="roundRect">
            <a:avLst>
              <a:gd name="adj" fmla="val 6528"/>
            </a:avLst>
          </a:prstGeom>
          <a:solidFill>
            <a:srgbClr val="DFF1FB"/>
          </a:solidFill>
          <a:ln/>
        </p:spPr>
      </p:sp>
      <p:sp>
        <p:nvSpPr>
          <p:cNvPr id="10" name="Text 8"/>
          <p:cNvSpPr txBox="1"/>
          <p:nvPr/>
        </p:nvSpPr>
        <p:spPr>
          <a:xfrm>
            <a:off x="502920" y="696950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自社で運用する場合、設計の自由度は高い一方、設備の購入や保守、運用の負担は組織が負います。外部の専用環境では、運用を事業者が受け持つこともあります。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プライベートクラウド</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会社専用の社員食堂。外の人は使えず、席や設備を自社で決められますが、建物や調理の人手は自分たちで用意します。</a:t>
            </a:r>
            <a:endParaRPr lang="en-US" sz="2000" dirty="0"/>
          </a:p>
        </p:txBody>
      </p:sp>
      <p:sp>
        <p:nvSpPr>
          <p:cNvPr id="6" name="Shape 4"/>
          <p:cNvSpPr/>
          <p:nvPr/>
        </p:nvSpPr>
        <p:spPr>
          <a:xfrm>
            <a:off x="320040" y="3101594"/>
            <a:ext cx="4846320" cy="1935480"/>
          </a:xfrm>
          <a:prstGeom prst="roundRect">
            <a:avLst>
              <a:gd name="adj" fmla="val 6614"/>
            </a:avLst>
          </a:prstGeom>
          <a:solidFill>
            <a:srgbClr val="DCE8F8"/>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個人情報など外に出したくないデータを扱う会社が、自社設備に社内向けクラウドを作り、各部署が申し込んでVMを使う場面です。</a:t>
            </a:r>
            <a:endParaRPr lang="en-US" sz="2000" dirty="0"/>
          </a:p>
        </p:txBody>
      </p:sp>
      <p:sp>
        <p:nvSpPr>
          <p:cNvPr id="8" name="Shape 6"/>
          <p:cNvSpPr/>
          <p:nvPr/>
        </p:nvSpPr>
        <p:spPr>
          <a:xfrm>
            <a:off x="320040" y="5219954"/>
            <a:ext cx="4846320" cy="1935480"/>
          </a:xfrm>
          <a:prstGeom prst="roundRect">
            <a:avLst>
              <a:gd name="adj" fmla="val 6614"/>
            </a:avLst>
          </a:prstGeom>
          <a:solidFill>
            <a:srgbClr val="FBE3E0"/>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自社にサーバーがあるだけでは、プライベートクラウドとは呼びません。申し込むとすぐ使える、使用量を管理できるなどの仕組みが必要です。</a:t>
            </a:r>
            <a:endParaRPr lang="en-US" sz="2000" dirty="0"/>
          </a:p>
        </p:txBody>
      </p:sp>
      <p:sp>
        <p:nvSpPr>
          <p:cNvPr id="10" name="Shape 8"/>
          <p:cNvSpPr/>
          <p:nvPr/>
        </p:nvSpPr>
        <p:spPr>
          <a:xfrm>
            <a:off x="320040" y="7338314"/>
            <a:ext cx="4846320" cy="1600200"/>
          </a:xfrm>
          <a:prstGeom prst="roundRect">
            <a:avLst>
              <a:gd name="adj" fmla="val 8000"/>
            </a:avLst>
          </a:prstGeom>
          <a:solidFill>
            <a:srgbClr val="DDF1E4"/>
          </a:solidFill>
          <a:ln/>
        </p:spPr>
      </p:sp>
      <p:sp>
        <p:nvSpPr>
          <p:cNvPr id="11" name="Text 9"/>
          <p:cNvSpPr txBox="1"/>
          <p:nvPr/>
        </p:nvSpPr>
        <p:spPr>
          <a:xfrm>
            <a:off x="502920" y="74297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パブリッククラウドとの違いを、「設備は誰のものか」「誰が使うか」「誰が運用するか」の3項目の表にしましょう。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VM・コンテナ製品を種類で整理</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製品名は、「何をする製品か」で分けると覚えやすくなります。</a:t>
            </a:r>
            <a:endParaRPr lang="en-US" sz="1800" dirty="0"/>
          </a:p>
        </p:txBody>
      </p:sp>
      <p:sp>
        <p:nvSpPr>
          <p:cNvPr id="7" name="Shape 5"/>
          <p:cNvSpPr/>
          <p:nvPr/>
        </p:nvSpPr>
        <p:spPr>
          <a:xfrm>
            <a:off x="320040" y="2928620"/>
            <a:ext cx="4846320" cy="2242312"/>
          </a:xfrm>
          <a:prstGeom prst="roundRect">
            <a:avLst>
              <a:gd name="adj" fmla="val 5709"/>
            </a:avLst>
          </a:prstGeom>
          <a:solidFill>
            <a:srgbClr val="D9F2F1"/>
          </a:solidFill>
          <a:ln/>
        </p:spPr>
      </p:sp>
      <p:sp>
        <p:nvSpPr>
          <p:cNvPr id="8" name="Text 6"/>
          <p:cNvSpPr txBox="1"/>
          <p:nvPr/>
        </p:nvSpPr>
        <p:spPr>
          <a:xfrm>
            <a:off x="502920" y="307492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仮想化の土台</a:t>
            </a:r>
            <a:endParaRPr lang="en-US" sz="2200" dirty="0"/>
          </a:p>
        </p:txBody>
      </p:sp>
      <p:sp>
        <p:nvSpPr>
          <p:cNvPr id="9" name="Text 7"/>
          <p:cNvSpPr txBox="1"/>
          <p:nvPr/>
        </p:nvSpPr>
        <p:spPr>
          <a:xfrm>
            <a:off x="502920" y="3535172"/>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VMware（ESXi・vSphere）・KVM・Hyper-V</a:t>
            </a:r>
            <a:endParaRPr lang="en-US" sz="2000" dirty="0"/>
          </a:p>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VMを作り、CPUやメモリを割り当てる</a:t>
            </a:r>
            <a:endParaRPr lang="en-US" sz="2000" dirty="0"/>
          </a:p>
        </p:txBody>
      </p:sp>
      <p:sp>
        <p:nvSpPr>
          <p:cNvPr id="10" name="Shape 8"/>
          <p:cNvSpPr/>
          <p:nvPr/>
        </p:nvSpPr>
        <p:spPr>
          <a:xfrm>
            <a:off x="320040" y="5353812"/>
            <a:ext cx="4846320" cy="1571752"/>
          </a:xfrm>
          <a:prstGeom prst="roundRect">
            <a:avLst>
              <a:gd name="adj" fmla="val 8145"/>
            </a:avLst>
          </a:prstGeom>
          <a:solidFill>
            <a:srgbClr val="D9F2F1"/>
          </a:solidFill>
          <a:ln/>
        </p:spPr>
      </p:sp>
      <p:sp>
        <p:nvSpPr>
          <p:cNvPr id="11" name="Text 9"/>
          <p:cNvSpPr txBox="1"/>
          <p:nvPr/>
        </p:nvSpPr>
        <p:spPr>
          <a:xfrm>
            <a:off x="502920" y="550011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コンテナを動かす</a:t>
            </a:r>
            <a:endParaRPr lang="en-US" sz="2200" dirty="0"/>
          </a:p>
        </p:txBody>
      </p:sp>
      <p:sp>
        <p:nvSpPr>
          <p:cNvPr id="12" name="Text 10"/>
          <p:cNvSpPr txBox="1"/>
          <p:nvPr/>
        </p:nvSpPr>
        <p:spPr>
          <a:xfrm>
            <a:off x="502920" y="5960364"/>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Docker</a:t>
            </a:r>
            <a:endParaRPr lang="en-US" sz="2000" dirty="0"/>
          </a:p>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コンテナを作成・実行する</a:t>
            </a:r>
            <a:endParaRPr lang="en-US" sz="2000" dirty="0"/>
          </a:p>
        </p:txBody>
      </p:sp>
      <p:sp>
        <p:nvSpPr>
          <p:cNvPr id="13" name="Shape 11"/>
          <p:cNvSpPr/>
          <p:nvPr/>
        </p:nvSpPr>
        <p:spPr>
          <a:xfrm>
            <a:off x="320040" y="7108444"/>
            <a:ext cx="4846320" cy="1907032"/>
          </a:xfrm>
          <a:prstGeom prst="roundRect">
            <a:avLst>
              <a:gd name="adj" fmla="val 6713"/>
            </a:avLst>
          </a:prstGeom>
          <a:solidFill>
            <a:srgbClr val="D9F2F1"/>
          </a:solidFill>
          <a:ln/>
        </p:spPr>
      </p:sp>
      <p:sp>
        <p:nvSpPr>
          <p:cNvPr id="14" name="Text 12"/>
          <p:cNvSpPr txBox="1"/>
          <p:nvPr/>
        </p:nvSpPr>
        <p:spPr>
          <a:xfrm>
            <a:off x="502920" y="725474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コンテナを管理する</a:t>
            </a:r>
            <a:endParaRPr lang="en-US" sz="2200" dirty="0"/>
          </a:p>
        </p:txBody>
      </p:sp>
      <p:sp>
        <p:nvSpPr>
          <p:cNvPr id="15" name="Text 13"/>
          <p:cNvSpPr txBox="1"/>
          <p:nvPr/>
        </p:nvSpPr>
        <p:spPr>
          <a:xfrm>
            <a:off x="502920" y="7714996"/>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Kubernetes</a:t>
            </a:r>
            <a:endParaRPr lang="en-US" sz="2000" dirty="0"/>
          </a:p>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多数のコンテナの配置や運用を自動化する</a:t>
            </a:r>
            <a:endParaRPr lang="en-US" sz="2000" dirty="0"/>
          </a:p>
        </p:txBody>
      </p:sp>
      <p:sp>
        <p:nvSpPr>
          <p:cNvPr id="16"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223</a:t>
            </a:fld>
            <a:endParaRPr 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VM・コンテナ製品を種類で整理</a:t>
            </a:r>
            <a:endParaRPr lang="ja-JP" sz="2200" dirty="0"/>
          </a:p>
        </p:txBody>
      </p:sp>
      <p:sp>
        <p:nvSpPr>
          <p:cNvPr id="4" name="Shape 2"/>
          <p:cNvSpPr/>
          <p:nvPr/>
        </p:nvSpPr>
        <p:spPr>
          <a:xfrm>
            <a:off x="320040" y="1318514"/>
            <a:ext cx="4846320" cy="1907032"/>
          </a:xfrm>
          <a:prstGeom prst="roundRect">
            <a:avLst>
              <a:gd name="adj" fmla="val 6713"/>
            </a:avLst>
          </a:prstGeom>
          <a:solidFill>
            <a:srgbClr val="D9F2F1"/>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クラウド基盤</a:t>
            </a:r>
            <a:endParaRPr lang="en-US" sz="2200" dirty="0"/>
          </a:p>
        </p:txBody>
      </p:sp>
      <p:sp>
        <p:nvSpPr>
          <p:cNvPr id="6" name="Text 4"/>
          <p:cNvSpPr txBox="1"/>
          <p:nvPr/>
        </p:nvSpPr>
        <p:spPr>
          <a:xfrm>
            <a:off x="502920" y="1925066"/>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製品の例：</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OpenStack</a:t>
            </a:r>
            <a:endParaRPr lang="en-US" sz="2000" dirty="0"/>
          </a:p>
          <a:p>
            <a:pPr indent="0" marL="0">
              <a:lnSpc>
                <a:spcPts val="2600"/>
              </a:lnSpc>
              <a:spcAft>
                <a:spcPts val="800"/>
              </a:spcAft>
              <a:buNone/>
            </a:pPr>
            <a:r>
              <a:rPr lang="ja-JP" altLang="en-US" sz="2000" b="1" dirty="0">
                <a:solidFill>
                  <a:srgbClr val="0B7A7A"/>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サーバー・保存・ネットワークをまとめて管理する</a:t>
            </a:r>
            <a:endParaRPr lang="en-US" sz="2000" dirty="0"/>
          </a:p>
        </p:txBody>
      </p:sp>
      <p:sp>
        <p:nvSpPr>
          <p:cNvPr id="7"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224</a:t>
            </a:fld>
            <a:endParaRPr 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プライベートクラウドの作り方の例</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組織専用のクラウドは、仮想化とクラウド基盤ソフトを組み合わせて作ることがあります。</a:t>
            </a:r>
            <a:endParaRPr lang="en-US" sz="1800" dirty="0"/>
          </a:p>
        </p:txBody>
      </p:sp>
      <p:sp>
        <p:nvSpPr>
          <p:cNvPr id="7" name="Shape 5"/>
          <p:cNvSpPr/>
          <p:nvPr/>
        </p:nvSpPr>
        <p:spPr>
          <a:xfrm>
            <a:off x="320040" y="2928620"/>
            <a:ext cx="4846320" cy="911352"/>
          </a:xfrm>
          <a:prstGeom prst="roundRect">
            <a:avLst>
              <a:gd name="adj" fmla="val 12040"/>
            </a:avLst>
          </a:prstGeom>
          <a:solidFill>
            <a:srgbClr val="475569"/>
          </a:solidFill>
          <a:ln/>
        </p:spPr>
      </p:sp>
      <p:sp>
        <p:nvSpPr>
          <p:cNvPr id="8" name="Text 6"/>
          <p:cNvSpPr txBox="1"/>
          <p:nvPr/>
        </p:nvSpPr>
        <p:spPr>
          <a:xfrm>
            <a:off x="411480" y="2928620"/>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物理サーバー群</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自社設備など</a:t>
            </a:r>
            <a:endParaRPr lang="en-US" sz="2000" dirty="0"/>
          </a:p>
        </p:txBody>
      </p:sp>
      <p:sp>
        <p:nvSpPr>
          <p:cNvPr id="9" name="Shape 7"/>
          <p:cNvSpPr/>
          <p:nvPr/>
        </p:nvSpPr>
        <p:spPr>
          <a:xfrm>
            <a:off x="2743200" y="4022852"/>
            <a:ext cx="0" cy="438912"/>
          </a:xfrm>
          <a:prstGeom prst="line">
            <a:avLst/>
          </a:prstGeom>
          <a:noFill/>
          <a:ln w="38100">
            <a:solidFill>
              <a:srgbClr val="1B2A3A"/>
            </a:solidFill>
            <a:prstDash val="solid"/>
            <a:tailEnd type="triangle"/>
          </a:ln>
        </p:spPr>
      </p:sp>
      <p:sp>
        <p:nvSpPr>
          <p:cNvPr id="10" name="Shape 8"/>
          <p:cNvSpPr/>
          <p:nvPr/>
        </p:nvSpPr>
        <p:spPr>
          <a:xfrm>
            <a:off x="320040" y="4480052"/>
            <a:ext cx="4846320" cy="911352"/>
          </a:xfrm>
          <a:prstGeom prst="roundRect">
            <a:avLst>
              <a:gd name="adj" fmla="val 12040"/>
            </a:avLst>
          </a:prstGeom>
          <a:solidFill>
            <a:srgbClr val="0B7A7A"/>
          </a:solidFill>
          <a:ln/>
        </p:spPr>
      </p:sp>
      <p:sp>
        <p:nvSpPr>
          <p:cNvPr id="11" name="Text 9"/>
          <p:cNvSpPr txBox="1"/>
          <p:nvPr/>
        </p:nvSpPr>
        <p:spPr>
          <a:xfrm>
            <a:off x="411480" y="448005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仮想化</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KVMなど</a:t>
            </a:r>
            <a:endParaRPr lang="en-US" sz="2000" dirty="0"/>
          </a:p>
        </p:txBody>
      </p:sp>
      <p:sp>
        <p:nvSpPr>
          <p:cNvPr id="12" name="Shape 10"/>
          <p:cNvSpPr/>
          <p:nvPr/>
        </p:nvSpPr>
        <p:spPr>
          <a:xfrm>
            <a:off x="2743200" y="5574284"/>
            <a:ext cx="0" cy="438912"/>
          </a:xfrm>
          <a:prstGeom prst="line">
            <a:avLst/>
          </a:prstGeom>
          <a:noFill/>
          <a:ln w="38100">
            <a:solidFill>
              <a:srgbClr val="1B2A3A"/>
            </a:solidFill>
            <a:prstDash val="solid"/>
            <a:tailEnd type="triangle"/>
          </a:ln>
        </p:spPr>
      </p:sp>
      <p:sp>
        <p:nvSpPr>
          <p:cNvPr id="13" name="Shape 11"/>
          <p:cNvSpPr/>
          <p:nvPr/>
        </p:nvSpPr>
        <p:spPr>
          <a:xfrm>
            <a:off x="320040" y="6031484"/>
            <a:ext cx="4846320" cy="911352"/>
          </a:xfrm>
          <a:prstGeom prst="roundRect">
            <a:avLst>
              <a:gd name="adj" fmla="val 12040"/>
            </a:avLst>
          </a:prstGeom>
          <a:solidFill>
            <a:srgbClr val="0369A1"/>
          </a:solidFill>
          <a:ln/>
        </p:spPr>
      </p:sp>
      <p:sp>
        <p:nvSpPr>
          <p:cNvPr id="14" name="Text 12"/>
          <p:cNvSpPr txBox="1"/>
          <p:nvPr/>
        </p:nvSpPr>
        <p:spPr>
          <a:xfrm>
            <a:off x="411480" y="603148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クラウド基盤</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OpenStackなど</a:t>
            </a:r>
            <a:endParaRPr lang="en-US" sz="2000" dirty="0"/>
          </a:p>
        </p:txBody>
      </p:sp>
      <p:sp>
        <p:nvSpPr>
          <p:cNvPr id="15" name="Shape 13"/>
          <p:cNvSpPr/>
          <p:nvPr/>
        </p:nvSpPr>
        <p:spPr>
          <a:xfrm>
            <a:off x="2743200" y="7125716"/>
            <a:ext cx="0" cy="438912"/>
          </a:xfrm>
          <a:prstGeom prst="line">
            <a:avLst/>
          </a:prstGeom>
          <a:noFill/>
          <a:ln w="38100">
            <a:solidFill>
              <a:srgbClr val="1B2A3A"/>
            </a:solidFill>
            <a:prstDash val="solid"/>
            <a:tailEnd type="triangle"/>
          </a:ln>
        </p:spPr>
      </p:sp>
      <p:sp>
        <p:nvSpPr>
          <p:cNvPr id="16" name="Shape 14"/>
          <p:cNvSpPr/>
          <p:nvPr/>
        </p:nvSpPr>
        <p:spPr>
          <a:xfrm>
            <a:off x="320040" y="7582916"/>
            <a:ext cx="4846320" cy="911352"/>
          </a:xfrm>
          <a:prstGeom prst="roundRect">
            <a:avLst>
              <a:gd name="adj" fmla="val 12040"/>
            </a:avLst>
          </a:prstGeom>
          <a:solidFill>
            <a:srgbClr val="237A48"/>
          </a:solidFill>
          <a:ln/>
        </p:spPr>
      </p:sp>
      <p:sp>
        <p:nvSpPr>
          <p:cNvPr id="17" name="Text 15"/>
          <p:cNvSpPr txBox="1"/>
          <p:nvPr/>
        </p:nvSpPr>
        <p:spPr>
          <a:xfrm>
            <a:off x="411480" y="758291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社員が利用</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申し込みでVMを使う</a:t>
            </a:r>
            <a:endParaRPr lang="en-US" sz="2000" dirty="0"/>
          </a:p>
        </p:txBody>
      </p:sp>
      <p:sp>
        <p:nvSpPr>
          <p:cNvPr id="18" name="Shape 16"/>
          <p:cNvSpPr/>
          <p:nvPr/>
        </p:nvSpPr>
        <p:spPr>
          <a:xfrm>
            <a:off x="320040" y="8677148"/>
            <a:ext cx="4846320" cy="1615440"/>
          </a:xfrm>
          <a:prstGeom prst="roundRect">
            <a:avLst>
              <a:gd name="adj" fmla="val 6792"/>
            </a:avLst>
          </a:prstGeom>
          <a:solidFill>
            <a:srgbClr val="DCE8F8"/>
          </a:solidFill>
          <a:ln w="19050">
            <a:solidFill>
              <a:srgbClr val="2F6BC2"/>
            </a:solidFill>
            <a:prstDash val="solid"/>
          </a:ln>
        </p:spPr>
      </p:sp>
      <p:sp>
        <p:nvSpPr>
          <p:cNvPr id="19" name="Shape 17"/>
          <p:cNvSpPr/>
          <p:nvPr/>
        </p:nvSpPr>
        <p:spPr>
          <a:xfrm>
            <a:off x="457200" y="9256268"/>
            <a:ext cx="457200" cy="457200"/>
          </a:xfrm>
          <a:prstGeom prst="ellipse">
            <a:avLst/>
          </a:prstGeom>
          <a:solidFill>
            <a:srgbClr val="2F6BC2"/>
          </a:solidFill>
          <a:ln/>
        </p:spPr>
      </p:sp>
      <p:pic>
        <p:nvPicPr>
          <p:cNvPr id="20" name="Image 0" descr="preencoded.png">    </p:cNvPr>
          <p:cNvPicPr>
            <a:picLocks noChangeAspect="1"/>
          </p:cNvPicPr>
          <p:nvPr/>
        </p:nvPicPr>
        <p:blipFill>
          <a:blip r:embed="rId1"/>
          <a:stretch>
            <a:fillRect/>
          </a:stretch>
        </p:blipFill>
        <p:spPr>
          <a:xfrm>
            <a:off x="557784" y="9356852"/>
            <a:ext cx="256032" cy="256032"/>
          </a:xfrm>
          <a:prstGeom prst="rect">
            <a:avLst/>
          </a:prstGeom>
        </p:spPr>
      </p:pic>
      <p:sp>
        <p:nvSpPr>
          <p:cNvPr id="21" name="Text 18"/>
          <p:cNvSpPr txBox="1"/>
          <p:nvPr/>
        </p:nvSpPr>
        <p:spPr>
          <a:xfrm>
            <a:off x="1051560" y="8722868"/>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プライベートクラウドは、特定の組織専用のクラウド。社員が必要な仮想サーバーを申し込んで使えます。</a:t>
            </a:r>
            <a:endParaRPr lang="en-US" sz="2000" dirty="0"/>
          </a:p>
        </p:txBody>
      </p:sp>
      <p:sp>
        <p:nvSpPr>
          <p:cNvPr id="22"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225</a:t>
            </a:fld>
            <a:endParaRPr 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クラウドは「借りるIT」の総称</a:t>
            </a:r>
            <a:endParaRPr lang="ja-JP" sz="2600" dirty="0"/>
          </a:p>
        </p:txBody>
      </p:sp>
      <p:sp>
        <p:nvSpPr>
          <p:cNvPr id="6" name="Text 4"/>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AWS・Azure・Google Cloudは、サーバー・保存・DB・AIなど多くの機能を、ネット越しに貸すサービスの総称です。</a:t>
            </a:r>
            <a:endParaRPr lang="en-US" sz="1800" dirty="0"/>
          </a:p>
        </p:txBody>
      </p:sp>
      <p:sp>
        <p:nvSpPr>
          <p:cNvPr id="7" name="Shape 5"/>
          <p:cNvSpPr/>
          <p:nvPr/>
        </p:nvSpPr>
        <p:spPr>
          <a:xfrm>
            <a:off x="320040" y="3230372"/>
            <a:ext cx="4846320" cy="1712976"/>
          </a:xfrm>
          <a:prstGeom prst="roundRect">
            <a:avLst>
              <a:gd name="adj" fmla="val 7473"/>
            </a:avLst>
          </a:prstGeom>
          <a:solidFill>
            <a:srgbClr val="FDEBD0"/>
          </a:solidFill>
          <a:ln/>
        </p:spPr>
      </p:sp>
      <p:sp>
        <p:nvSpPr>
          <p:cNvPr id="8" name="Shape 6"/>
          <p:cNvSpPr/>
          <p:nvPr/>
        </p:nvSpPr>
        <p:spPr>
          <a:xfrm>
            <a:off x="502920" y="3376676"/>
            <a:ext cx="566928" cy="566928"/>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627644" y="3501400"/>
            <a:ext cx="317480" cy="317480"/>
          </a:xfrm>
          <a:prstGeom prst="rect">
            <a:avLst/>
          </a:prstGeom>
        </p:spPr>
      </p:pic>
      <p:sp>
        <p:nvSpPr>
          <p:cNvPr id="10" name="Text 7"/>
          <p:cNvSpPr txBox="1"/>
          <p:nvPr/>
        </p:nvSpPr>
        <p:spPr>
          <a:xfrm>
            <a:off x="1188720" y="3376676"/>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AWS</a:t>
            </a:r>
            <a:endParaRPr lang="en-US" sz="2200" dirty="0"/>
          </a:p>
        </p:txBody>
      </p:sp>
      <p:sp>
        <p:nvSpPr>
          <p:cNvPr id="11" name="Text 8"/>
          <p:cNvSpPr txBox="1"/>
          <p:nvPr/>
        </p:nvSpPr>
        <p:spPr>
          <a:xfrm>
            <a:off x="502920" y="4035044"/>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Amazonのクラウド</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サーバー・保存・DB・AI</a:t>
            </a:r>
            <a:endParaRPr lang="en-US" sz="2000" dirty="0"/>
          </a:p>
        </p:txBody>
      </p:sp>
      <p:sp>
        <p:nvSpPr>
          <p:cNvPr id="12" name="Shape 9"/>
          <p:cNvSpPr/>
          <p:nvPr/>
        </p:nvSpPr>
        <p:spPr>
          <a:xfrm>
            <a:off x="320040" y="5126228"/>
            <a:ext cx="4846320" cy="1712976"/>
          </a:xfrm>
          <a:prstGeom prst="roundRect">
            <a:avLst>
              <a:gd name="adj" fmla="val 7473"/>
            </a:avLst>
          </a:prstGeom>
          <a:solidFill>
            <a:srgbClr val="DCE8F8"/>
          </a:solidFill>
          <a:ln/>
        </p:spPr>
      </p:sp>
      <p:sp>
        <p:nvSpPr>
          <p:cNvPr id="13" name="Shape 10"/>
          <p:cNvSpPr/>
          <p:nvPr/>
        </p:nvSpPr>
        <p:spPr>
          <a:xfrm>
            <a:off x="502920" y="5272532"/>
            <a:ext cx="566928" cy="56692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27644" y="5397256"/>
            <a:ext cx="317480" cy="317480"/>
          </a:xfrm>
          <a:prstGeom prst="rect">
            <a:avLst/>
          </a:prstGeom>
        </p:spPr>
      </p:pic>
      <p:sp>
        <p:nvSpPr>
          <p:cNvPr id="15" name="Text 11"/>
          <p:cNvSpPr txBox="1"/>
          <p:nvPr/>
        </p:nvSpPr>
        <p:spPr>
          <a:xfrm>
            <a:off x="1188720" y="5272532"/>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Azure</a:t>
            </a:r>
            <a:endParaRPr lang="en-US" sz="2200" dirty="0"/>
          </a:p>
        </p:txBody>
      </p:sp>
      <p:sp>
        <p:nvSpPr>
          <p:cNvPr id="16" name="Text 12"/>
          <p:cNvSpPr txBox="1"/>
          <p:nvPr/>
        </p:nvSpPr>
        <p:spPr>
          <a:xfrm>
            <a:off x="502920" y="5930900"/>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Microsoftのクラウド</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サーバー・DB・企業の認証・AI</a:t>
            </a:r>
            <a:endParaRPr lang="en-US" sz="2000" dirty="0"/>
          </a:p>
        </p:txBody>
      </p:sp>
      <p:sp>
        <p:nvSpPr>
          <p:cNvPr id="17" name="Shape 13"/>
          <p:cNvSpPr/>
          <p:nvPr/>
        </p:nvSpPr>
        <p:spPr>
          <a:xfrm>
            <a:off x="320040" y="7022084"/>
            <a:ext cx="4846320" cy="1712976"/>
          </a:xfrm>
          <a:prstGeom prst="roundRect">
            <a:avLst>
              <a:gd name="adj" fmla="val 7473"/>
            </a:avLst>
          </a:prstGeom>
          <a:solidFill>
            <a:srgbClr val="DDF1E4"/>
          </a:solidFill>
          <a:ln/>
        </p:spPr>
      </p:sp>
      <p:sp>
        <p:nvSpPr>
          <p:cNvPr id="18" name="Shape 14"/>
          <p:cNvSpPr/>
          <p:nvPr/>
        </p:nvSpPr>
        <p:spPr>
          <a:xfrm>
            <a:off x="502920" y="7168388"/>
            <a:ext cx="566928" cy="566928"/>
          </a:xfrm>
          <a:prstGeom prst="ellipse">
            <a:avLst/>
          </a:prstGeom>
          <a:solidFill>
            <a:srgbClr val="237A48"/>
          </a:solidFill>
          <a:ln/>
        </p:spPr>
      </p:sp>
      <p:pic>
        <p:nvPicPr>
          <p:cNvPr id="19" name="Image 2" descr="preencoded.png">    </p:cNvPr>
          <p:cNvPicPr>
            <a:picLocks noChangeAspect="1"/>
          </p:cNvPicPr>
          <p:nvPr/>
        </p:nvPicPr>
        <p:blipFill>
          <a:blip r:embed="rId3"/>
          <a:stretch>
            <a:fillRect/>
          </a:stretch>
        </p:blipFill>
        <p:spPr>
          <a:xfrm>
            <a:off x="627644" y="7293112"/>
            <a:ext cx="317480" cy="317480"/>
          </a:xfrm>
          <a:prstGeom prst="rect">
            <a:avLst/>
          </a:prstGeom>
        </p:spPr>
      </p:pic>
      <p:sp>
        <p:nvSpPr>
          <p:cNvPr id="20" name="Text 15"/>
          <p:cNvSpPr txBox="1"/>
          <p:nvPr/>
        </p:nvSpPr>
        <p:spPr>
          <a:xfrm>
            <a:off x="1188720" y="7168388"/>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Google Cloud</a:t>
            </a:r>
            <a:endParaRPr lang="en-US" sz="2200" dirty="0"/>
          </a:p>
        </p:txBody>
      </p:sp>
      <p:sp>
        <p:nvSpPr>
          <p:cNvPr id="21" name="Text 16"/>
          <p:cNvSpPr txBox="1"/>
          <p:nvPr/>
        </p:nvSpPr>
        <p:spPr>
          <a:xfrm>
            <a:off x="502920" y="7826756"/>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Googleのクラウド</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サーバー・データ分析・DB・AI</a:t>
            </a:r>
            <a:endParaRPr lang="en-US" sz="2000" dirty="0"/>
          </a:p>
        </p:txBody>
      </p:sp>
      <p:sp>
        <p:nvSpPr>
          <p:cNvPr id="22" name="Shape 17"/>
          <p:cNvSpPr/>
          <p:nvPr/>
        </p:nvSpPr>
        <p:spPr>
          <a:xfrm>
            <a:off x="320040" y="8917940"/>
            <a:ext cx="4846320" cy="1280160"/>
          </a:xfrm>
          <a:prstGeom prst="roundRect">
            <a:avLst>
              <a:gd name="adj" fmla="val 8571"/>
            </a:avLst>
          </a:prstGeom>
          <a:solidFill>
            <a:srgbClr val="DCE8F8"/>
          </a:solidFill>
          <a:ln w="19050">
            <a:solidFill>
              <a:srgbClr val="2F6BC2"/>
            </a:solidFill>
            <a:prstDash val="solid"/>
          </a:ln>
        </p:spPr>
      </p:sp>
      <p:sp>
        <p:nvSpPr>
          <p:cNvPr id="23" name="Shape 18"/>
          <p:cNvSpPr/>
          <p:nvPr/>
        </p:nvSpPr>
        <p:spPr>
          <a:xfrm>
            <a:off x="457200" y="9329420"/>
            <a:ext cx="457200" cy="457200"/>
          </a:xfrm>
          <a:prstGeom prst="ellipse">
            <a:avLst/>
          </a:prstGeom>
          <a:solidFill>
            <a:srgbClr val="2F6BC2"/>
          </a:solidFill>
          <a:ln/>
        </p:spPr>
      </p:sp>
      <p:pic>
        <p:nvPicPr>
          <p:cNvPr id="24" name="Image 3" descr="preencoded.png">    </p:cNvPr>
          <p:cNvPicPr>
            <a:picLocks noChangeAspect="1"/>
          </p:cNvPicPr>
          <p:nvPr/>
        </p:nvPicPr>
        <p:blipFill>
          <a:blip r:embed="rId4"/>
          <a:stretch>
            <a:fillRect/>
          </a:stretch>
        </p:blipFill>
        <p:spPr>
          <a:xfrm>
            <a:off x="557784" y="9430004"/>
            <a:ext cx="256032" cy="256032"/>
          </a:xfrm>
          <a:prstGeom prst="rect">
            <a:avLst/>
          </a:prstGeom>
        </p:spPr>
      </p:pic>
      <p:sp>
        <p:nvSpPr>
          <p:cNvPr id="25" name="Text 19"/>
          <p:cNvSpPr txBox="1"/>
          <p:nvPr/>
        </p:nvSpPr>
        <p:spPr>
          <a:xfrm>
            <a:off x="1051560" y="8963660"/>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どれも「一つのアプリの名前」ではなく、さまざまなIT機能を提供するサービス群です。</a:t>
            </a:r>
            <a:endParaRPr lang="en-US" sz="2000" dirty="0"/>
          </a:p>
        </p:txBody>
      </p:sp>
      <p:sp>
        <p:nvSpPr>
          <p:cNvPr id="26" name="Text 2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パブリックとプライベートの違い</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誰が使うか・設備を誰が持つか・誰が管理するかの3点で比べます。</a:t>
            </a:r>
            <a:endParaRPr lang="en-US" sz="1800" dirty="0"/>
          </a:p>
        </p:txBody>
      </p:sp>
      <p:sp>
        <p:nvSpPr>
          <p:cNvPr id="7" name="Shape 5"/>
          <p:cNvSpPr/>
          <p:nvPr/>
        </p:nvSpPr>
        <p:spPr>
          <a:xfrm>
            <a:off x="320040" y="2928620"/>
            <a:ext cx="4846320" cy="1907032"/>
          </a:xfrm>
          <a:prstGeom prst="roundRect">
            <a:avLst>
              <a:gd name="adj" fmla="val 6713"/>
            </a:avLst>
          </a:prstGeom>
          <a:solidFill>
            <a:srgbClr val="DFF1FB"/>
          </a:solidFill>
          <a:ln/>
        </p:spPr>
      </p:sp>
      <p:sp>
        <p:nvSpPr>
          <p:cNvPr id="8" name="Text 6"/>
          <p:cNvSpPr txBox="1"/>
          <p:nvPr/>
        </p:nvSpPr>
        <p:spPr>
          <a:xfrm>
            <a:off x="502920" y="307492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誰が使う</a:t>
            </a:r>
            <a:endParaRPr lang="en-US" sz="2200" dirty="0"/>
          </a:p>
        </p:txBody>
      </p:sp>
      <p:sp>
        <p:nvSpPr>
          <p:cNvPr id="9" name="Text 7"/>
          <p:cNvSpPr txBox="1"/>
          <p:nvPr/>
        </p:nvSpPr>
        <p:spPr>
          <a:xfrm>
            <a:off x="502920" y="3535172"/>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パブリッククラウド：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多数の顧客</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プライベートクラウド：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特定の組織だけ</a:t>
            </a:r>
            <a:endParaRPr lang="en-US" sz="2000" dirty="0"/>
          </a:p>
        </p:txBody>
      </p:sp>
      <p:sp>
        <p:nvSpPr>
          <p:cNvPr id="10" name="Shape 8"/>
          <p:cNvSpPr/>
          <p:nvPr/>
        </p:nvSpPr>
        <p:spPr>
          <a:xfrm>
            <a:off x="320040" y="5018532"/>
            <a:ext cx="4846320" cy="2242312"/>
          </a:xfrm>
          <a:prstGeom prst="roundRect">
            <a:avLst>
              <a:gd name="adj" fmla="val 5709"/>
            </a:avLst>
          </a:prstGeom>
          <a:solidFill>
            <a:srgbClr val="DFF1FB"/>
          </a:solidFill>
          <a:ln/>
        </p:spPr>
      </p:sp>
      <p:sp>
        <p:nvSpPr>
          <p:cNvPr id="11" name="Text 9"/>
          <p:cNvSpPr txBox="1"/>
          <p:nvPr/>
        </p:nvSpPr>
        <p:spPr>
          <a:xfrm>
            <a:off x="502920" y="516483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設備は</a:t>
            </a:r>
            <a:endParaRPr lang="en-US" sz="2200" dirty="0"/>
          </a:p>
        </p:txBody>
      </p:sp>
      <p:sp>
        <p:nvSpPr>
          <p:cNvPr id="12" name="Text 10"/>
          <p:cNvSpPr txBox="1"/>
          <p:nvPr/>
        </p:nvSpPr>
        <p:spPr>
          <a:xfrm>
            <a:off x="502920" y="5625084"/>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パブリッククラウド：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提供会社が持つ</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プライベートクラウド：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自社設備や専用の外部環境</a:t>
            </a:r>
            <a:endParaRPr lang="en-US" sz="2000" dirty="0"/>
          </a:p>
        </p:txBody>
      </p:sp>
      <p:sp>
        <p:nvSpPr>
          <p:cNvPr id="13" name="Shape 11"/>
          <p:cNvSpPr/>
          <p:nvPr/>
        </p:nvSpPr>
        <p:spPr>
          <a:xfrm>
            <a:off x="320040" y="7443724"/>
            <a:ext cx="4846320" cy="2242312"/>
          </a:xfrm>
          <a:prstGeom prst="roundRect">
            <a:avLst>
              <a:gd name="adj" fmla="val 5709"/>
            </a:avLst>
          </a:prstGeom>
          <a:solidFill>
            <a:srgbClr val="DFF1FB"/>
          </a:solidFill>
          <a:ln/>
        </p:spPr>
      </p:sp>
      <p:sp>
        <p:nvSpPr>
          <p:cNvPr id="14" name="Text 12"/>
          <p:cNvSpPr txBox="1"/>
          <p:nvPr/>
        </p:nvSpPr>
        <p:spPr>
          <a:xfrm>
            <a:off x="502920" y="759002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管理は</a:t>
            </a:r>
            <a:endParaRPr lang="en-US" sz="2200" dirty="0"/>
          </a:p>
        </p:txBody>
      </p:sp>
      <p:sp>
        <p:nvSpPr>
          <p:cNvPr id="15" name="Text 13"/>
          <p:cNvSpPr txBox="1"/>
          <p:nvPr/>
        </p:nvSpPr>
        <p:spPr>
          <a:xfrm>
            <a:off x="502920" y="8050276"/>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パブリッククラウド：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提供会社と利用者で分担</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プライベートクラウド：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組織が主に構築・運用</a:t>
            </a:r>
            <a:endParaRPr lang="en-US" sz="2000" dirty="0"/>
          </a:p>
        </p:txBody>
      </p:sp>
      <p:sp>
        <p:nvSpPr>
          <p:cNvPr id="16"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227</a:t>
            </a:fld>
            <a:endParaRPr lang="en-US"/>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パブリックとプライベートの違い</a:t>
            </a:r>
            <a:endParaRPr lang="ja-JP" sz="2200" dirty="0"/>
          </a:p>
        </p:txBody>
      </p:sp>
      <p:sp>
        <p:nvSpPr>
          <p:cNvPr id="4" name="Shape 2"/>
          <p:cNvSpPr/>
          <p:nvPr/>
        </p:nvSpPr>
        <p:spPr>
          <a:xfrm>
            <a:off x="320040" y="1318514"/>
            <a:ext cx="4846320" cy="2242312"/>
          </a:xfrm>
          <a:prstGeom prst="roundRect">
            <a:avLst>
              <a:gd name="adj" fmla="val 5709"/>
            </a:avLst>
          </a:prstGeom>
          <a:solidFill>
            <a:srgbClr val="DFF1FB"/>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例</a:t>
            </a:r>
            <a:endParaRPr lang="en-US" sz="2200" dirty="0"/>
          </a:p>
        </p:txBody>
      </p:sp>
      <p:sp>
        <p:nvSpPr>
          <p:cNvPr id="6" name="Text 4"/>
          <p:cNvSpPr txBox="1"/>
          <p:nvPr/>
        </p:nvSpPr>
        <p:spPr>
          <a:xfrm>
            <a:off x="502920" y="1925066"/>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パブリッククラウド：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AWS・Azure・Google Cloud</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プライベートクラウド：</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社内の仮想サーバー基盤</a:t>
            </a:r>
            <a:endParaRPr lang="en-US" sz="2000" dirty="0"/>
          </a:p>
        </p:txBody>
      </p:sp>
      <p:sp>
        <p:nvSpPr>
          <p:cNvPr id="7"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228</a:t>
            </a:fld>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誰が何を管理するか</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借りる範囲が広いほど、自分で管理するものは減ります。担当範囲はサービスごとに違います。</a:t>
            </a:r>
            <a:endParaRPr lang="en-US" sz="1800" dirty="0"/>
          </a:p>
        </p:txBody>
      </p:sp>
      <p:sp>
        <p:nvSpPr>
          <p:cNvPr id="7" name="Shape 5"/>
          <p:cNvSpPr/>
          <p:nvPr/>
        </p:nvSpPr>
        <p:spPr>
          <a:xfrm>
            <a:off x="320040" y="2817622"/>
            <a:ext cx="4846320" cy="2445512"/>
          </a:xfrm>
          <a:prstGeom prst="roundRect">
            <a:avLst>
              <a:gd name="adj" fmla="val 5235"/>
            </a:avLst>
          </a:prstGeom>
          <a:solidFill>
            <a:srgbClr val="DFF1FB"/>
          </a:solidFill>
          <a:ln/>
        </p:spPr>
      </p:sp>
      <p:sp>
        <p:nvSpPr>
          <p:cNvPr id="8" name="Text 6"/>
          <p:cNvSpPr txBox="1"/>
          <p:nvPr/>
        </p:nvSpPr>
        <p:spPr>
          <a:xfrm>
            <a:off x="502920" y="296392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建物・機器</a:t>
            </a:r>
            <a:endParaRPr lang="en-US" sz="2200" dirty="0"/>
          </a:p>
        </p:txBody>
      </p:sp>
      <p:sp>
        <p:nvSpPr>
          <p:cNvPr id="9" name="Text 7"/>
          <p:cNvSpPr txBox="1"/>
          <p:nvPr/>
        </p:nvSpPr>
        <p:spPr>
          <a:xfrm>
            <a:off x="502920" y="3424174"/>
            <a:ext cx="4480560" cy="17475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自前で運用：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仮想サーバー：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マネージドDB：</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SaaS：</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a:t>
            </a:r>
            <a:endParaRPr lang="en-US" sz="2000" dirty="0"/>
          </a:p>
        </p:txBody>
      </p:sp>
      <p:sp>
        <p:nvSpPr>
          <p:cNvPr id="10" name="Shape 8"/>
          <p:cNvSpPr/>
          <p:nvPr/>
        </p:nvSpPr>
        <p:spPr>
          <a:xfrm>
            <a:off x="320040" y="5446014"/>
            <a:ext cx="4846320" cy="2445512"/>
          </a:xfrm>
          <a:prstGeom prst="roundRect">
            <a:avLst>
              <a:gd name="adj" fmla="val 5235"/>
            </a:avLst>
          </a:prstGeom>
          <a:solidFill>
            <a:srgbClr val="DFF1FB"/>
          </a:solidFill>
          <a:ln/>
        </p:spPr>
      </p:sp>
      <p:sp>
        <p:nvSpPr>
          <p:cNvPr id="11" name="Text 9"/>
          <p:cNvSpPr txBox="1"/>
          <p:nvPr/>
        </p:nvSpPr>
        <p:spPr>
          <a:xfrm>
            <a:off x="502920" y="55923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OS</a:t>
            </a:r>
            <a:endParaRPr lang="en-US" sz="2200" dirty="0"/>
          </a:p>
        </p:txBody>
      </p:sp>
      <p:sp>
        <p:nvSpPr>
          <p:cNvPr id="12" name="Text 10"/>
          <p:cNvSpPr txBox="1"/>
          <p:nvPr/>
        </p:nvSpPr>
        <p:spPr>
          <a:xfrm>
            <a:off x="502920" y="6052566"/>
            <a:ext cx="4480560" cy="17475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自前で運用：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仮想サーバー：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マネージドDB：</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SaaS：</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a:t>
            </a:r>
            <a:endParaRPr lang="en-US" sz="2000" dirty="0"/>
          </a:p>
        </p:txBody>
      </p:sp>
      <p:sp>
        <p:nvSpPr>
          <p:cNvPr id="13" name="Text 1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229</a:t>
            </a:fld>
            <a:endParaRPr lang="en-US"/>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誰が何を管理するか</a:t>
            </a:r>
            <a:endParaRPr lang="ja-JP" sz="2200" dirty="0"/>
          </a:p>
        </p:txBody>
      </p:sp>
      <p:sp>
        <p:nvSpPr>
          <p:cNvPr id="4" name="Shape 2"/>
          <p:cNvSpPr/>
          <p:nvPr/>
        </p:nvSpPr>
        <p:spPr>
          <a:xfrm>
            <a:off x="320040" y="1318514"/>
            <a:ext cx="4846320" cy="2445512"/>
          </a:xfrm>
          <a:prstGeom prst="roundRect">
            <a:avLst>
              <a:gd name="adj" fmla="val 5235"/>
            </a:avLst>
          </a:prstGeom>
          <a:solidFill>
            <a:srgbClr val="DFF1FB"/>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アプリ・DB製品</a:t>
            </a:r>
            <a:endParaRPr lang="en-US" sz="2200" dirty="0"/>
          </a:p>
        </p:txBody>
      </p:sp>
      <p:sp>
        <p:nvSpPr>
          <p:cNvPr id="6" name="Text 4"/>
          <p:cNvSpPr txBox="1"/>
          <p:nvPr/>
        </p:nvSpPr>
        <p:spPr>
          <a:xfrm>
            <a:off x="502920" y="1925066"/>
            <a:ext cx="4480560" cy="17475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自前で運用：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仮想サーバー：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マネージドDB：</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SaaS：</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a:t>
            </a:r>
            <a:endParaRPr lang="en-US" sz="2000" dirty="0"/>
          </a:p>
        </p:txBody>
      </p:sp>
      <p:sp>
        <p:nvSpPr>
          <p:cNvPr id="7" name="Shape 5"/>
          <p:cNvSpPr/>
          <p:nvPr/>
        </p:nvSpPr>
        <p:spPr>
          <a:xfrm>
            <a:off x="320040" y="3946906"/>
            <a:ext cx="4846320" cy="2445512"/>
          </a:xfrm>
          <a:prstGeom prst="roundRect">
            <a:avLst>
              <a:gd name="adj" fmla="val 5235"/>
            </a:avLst>
          </a:prstGeom>
          <a:solidFill>
            <a:srgbClr val="DFF1FB"/>
          </a:solidFill>
          <a:ln/>
        </p:spPr>
      </p:sp>
      <p:sp>
        <p:nvSpPr>
          <p:cNvPr id="8" name="Text 6"/>
          <p:cNvSpPr txBox="1"/>
          <p:nvPr/>
        </p:nvSpPr>
        <p:spPr>
          <a:xfrm>
            <a:off x="502920" y="409321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データ・設定</a:t>
            </a:r>
            <a:endParaRPr lang="en-US" sz="2200" dirty="0"/>
          </a:p>
        </p:txBody>
      </p:sp>
      <p:sp>
        <p:nvSpPr>
          <p:cNvPr id="9" name="Text 7"/>
          <p:cNvSpPr txBox="1"/>
          <p:nvPr/>
        </p:nvSpPr>
        <p:spPr>
          <a:xfrm>
            <a:off x="502920" y="4553458"/>
            <a:ext cx="4480560" cy="17475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自前で運用：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仮想サーバー：</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マネージドDB：</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a:t>
            </a:r>
            <a:endParaRPr lang="en-US" sz="2000" dirty="0"/>
          </a:p>
          <a:p>
            <a:pPr indent="0" marL="0">
              <a:lnSpc>
                <a:spcPts val="2600"/>
              </a:lnSpc>
              <a:spcAft>
                <a:spcPts val="800"/>
              </a:spcAft>
              <a:buNone/>
            </a:pPr>
            <a:r>
              <a:rPr lang="ja-JP" altLang="en-US" sz="2000" b="1" dirty="0">
                <a:solidFill>
                  <a:srgbClr val="0369A1"/>
                </a:solidFill>
                <a:latin typeface="Yu Gothic" pitchFamily="34" charset="0"/>
                <a:ea typeface="Yu Gothic" pitchFamily="34" charset="-122"/>
                <a:cs typeface="Yu Gothic" pitchFamily="34" charset="-120"/>
              </a:rPr>
              <a:t>SaaS：</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自分（設定・権限）</a:t>
            </a:r>
            <a:endParaRPr lang="en-US" sz="2000" dirty="0"/>
          </a:p>
        </p:txBody>
      </p:sp>
      <p:sp>
        <p:nvSpPr>
          <p:cNvPr id="10" name="Shape 8"/>
          <p:cNvSpPr/>
          <p:nvPr/>
        </p:nvSpPr>
        <p:spPr>
          <a:xfrm>
            <a:off x="320040" y="6575298"/>
            <a:ext cx="4846320" cy="1280160"/>
          </a:xfrm>
          <a:prstGeom prst="roundRect">
            <a:avLst>
              <a:gd name="adj" fmla="val 8571"/>
            </a:avLst>
          </a:prstGeom>
          <a:solidFill>
            <a:srgbClr val="FBE3E0"/>
          </a:solidFill>
          <a:ln w="19050">
            <a:solidFill>
              <a:srgbClr val="C0392B"/>
            </a:solidFill>
            <a:prstDash val="solid"/>
          </a:ln>
        </p:spPr>
      </p:sp>
      <p:sp>
        <p:nvSpPr>
          <p:cNvPr id="11" name="Shape 9"/>
          <p:cNvSpPr/>
          <p:nvPr/>
        </p:nvSpPr>
        <p:spPr>
          <a:xfrm>
            <a:off x="457200" y="6986778"/>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557784" y="7087362"/>
            <a:ext cx="256032" cy="256032"/>
          </a:xfrm>
          <a:prstGeom prst="rect">
            <a:avLst/>
          </a:prstGeom>
        </p:spPr>
      </p:pic>
      <p:sp>
        <p:nvSpPr>
          <p:cNvPr id="13" name="Text 10"/>
          <p:cNvSpPr txBox="1"/>
          <p:nvPr/>
        </p:nvSpPr>
        <p:spPr>
          <a:xfrm>
            <a:off x="1051560" y="6621018"/>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担当範囲はサービスごとに違います。「自分が設定・管理する部分」を必ず確認します。</a:t>
            </a:r>
            <a:endParaRPr lang="en-US" sz="2000" dirty="0"/>
          </a:p>
        </p:txBody>
      </p:sp>
      <p:sp>
        <p:nvSpPr>
          <p:cNvPr id="14" name="Text 1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230</a:t>
            </a:fld>
            <a:endParaRPr lang="en-US"/>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関係図：クラウドの種類とサービス</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クラウドの実体はデータセンター。「誰が使うか」で2種類に分かれ、パブリックの代表がAWS・Azure・Google Cloudです。</a:t>
            </a:r>
            <a:endParaRPr lang="en-US" sz="1800" dirty="0"/>
          </a:p>
        </p:txBody>
      </p:sp>
      <p:sp>
        <p:nvSpPr>
          <p:cNvPr id="6" name="Shape 4"/>
          <p:cNvSpPr/>
          <p:nvPr/>
        </p:nvSpPr>
        <p:spPr>
          <a:xfrm>
            <a:off x="2117750" y="3605276"/>
            <a:ext cx="1250899" cy="0"/>
          </a:xfrm>
          <a:prstGeom prst="line">
            <a:avLst/>
          </a:prstGeom>
          <a:noFill/>
          <a:ln w="31750">
            <a:solidFill>
              <a:srgbClr val="1B2A3A"/>
            </a:solidFill>
            <a:prstDash val="solid"/>
            <a:tailEnd type="triangle"/>
          </a:ln>
        </p:spPr>
      </p:sp>
      <p:sp>
        <p:nvSpPr>
          <p:cNvPr id="7" name="Text 5"/>
          <p:cNvSpPr txBox="1"/>
          <p:nvPr/>
        </p:nvSpPr>
        <p:spPr>
          <a:xfrm>
            <a:off x="2175510" y="345211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実体になる</a:t>
            </a:r>
            <a:endParaRPr lang="en-US" sz="1500" dirty="0"/>
          </a:p>
        </p:txBody>
      </p:sp>
      <p:sp>
        <p:nvSpPr>
          <p:cNvPr id="8" name="Shape 6"/>
          <p:cNvSpPr/>
          <p:nvPr/>
        </p:nvSpPr>
        <p:spPr>
          <a:xfrm flipV="1">
            <a:off x="1386230" y="3980180"/>
            <a:ext cx="2713939" cy="576072"/>
          </a:xfrm>
          <a:prstGeom prst="line">
            <a:avLst/>
          </a:prstGeom>
          <a:noFill/>
          <a:ln w="31750">
            <a:solidFill>
              <a:srgbClr val="1B2A3A"/>
            </a:solidFill>
            <a:prstDash val="solid"/>
            <a:tailEnd type="triangle"/>
          </a:ln>
        </p:spPr>
      </p:sp>
      <p:sp>
        <p:nvSpPr>
          <p:cNvPr id="9" name="Text 7"/>
          <p:cNvSpPr txBox="1"/>
          <p:nvPr/>
        </p:nvSpPr>
        <p:spPr>
          <a:xfrm>
            <a:off x="2366010" y="4115054"/>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の一種</a:t>
            </a:r>
            <a:endParaRPr lang="en-US" sz="1500" dirty="0"/>
          </a:p>
        </p:txBody>
      </p:sp>
      <p:sp>
        <p:nvSpPr>
          <p:cNvPr id="10" name="Shape 8"/>
          <p:cNvSpPr/>
          <p:nvPr/>
        </p:nvSpPr>
        <p:spPr>
          <a:xfrm flipV="1">
            <a:off x="4100170" y="3980180"/>
            <a:ext cx="0" cy="576072"/>
          </a:xfrm>
          <a:prstGeom prst="line">
            <a:avLst/>
          </a:prstGeom>
          <a:noFill/>
          <a:ln w="31750">
            <a:solidFill>
              <a:srgbClr val="1B2A3A"/>
            </a:solidFill>
            <a:prstDash val="solid"/>
            <a:tailEnd type="triangle"/>
          </a:ln>
        </p:spPr>
      </p:sp>
      <p:sp>
        <p:nvSpPr>
          <p:cNvPr id="11" name="Text 9"/>
          <p:cNvSpPr txBox="1"/>
          <p:nvPr/>
        </p:nvSpPr>
        <p:spPr>
          <a:xfrm>
            <a:off x="3722980" y="4115054"/>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の一種</a:t>
            </a:r>
            <a:endParaRPr lang="en-US" sz="1500" dirty="0"/>
          </a:p>
        </p:txBody>
      </p:sp>
      <p:sp>
        <p:nvSpPr>
          <p:cNvPr id="12" name="Shape 10"/>
          <p:cNvSpPr/>
          <p:nvPr/>
        </p:nvSpPr>
        <p:spPr>
          <a:xfrm flipV="1">
            <a:off x="1265072" y="5306060"/>
            <a:ext cx="0" cy="576072"/>
          </a:xfrm>
          <a:prstGeom prst="line">
            <a:avLst/>
          </a:prstGeom>
          <a:noFill/>
          <a:ln w="31750">
            <a:solidFill>
              <a:srgbClr val="1B2A3A"/>
            </a:solidFill>
            <a:prstDash val="solid"/>
            <a:tailEnd type="triangle"/>
          </a:ln>
        </p:spPr>
      </p:sp>
      <p:sp>
        <p:nvSpPr>
          <p:cNvPr id="13" name="Text 11"/>
          <p:cNvSpPr txBox="1"/>
          <p:nvPr/>
        </p:nvSpPr>
        <p:spPr>
          <a:xfrm>
            <a:off x="792632" y="544093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例の一つ</a:t>
            </a:r>
            <a:endParaRPr lang="en-US" sz="1500" dirty="0"/>
          </a:p>
        </p:txBody>
      </p:sp>
      <p:sp>
        <p:nvSpPr>
          <p:cNvPr id="14" name="Shape 12"/>
          <p:cNvSpPr/>
          <p:nvPr/>
        </p:nvSpPr>
        <p:spPr>
          <a:xfrm flipH="1" flipV="1">
            <a:off x="1386230" y="5306060"/>
            <a:ext cx="1356970" cy="576072"/>
          </a:xfrm>
          <a:prstGeom prst="line">
            <a:avLst/>
          </a:prstGeom>
          <a:noFill/>
          <a:ln w="31750">
            <a:solidFill>
              <a:srgbClr val="1B2A3A"/>
            </a:solidFill>
            <a:prstDash val="solid"/>
            <a:tailEnd type="triangle"/>
          </a:ln>
        </p:spPr>
      </p:sp>
      <p:sp>
        <p:nvSpPr>
          <p:cNvPr id="15" name="Shape 13"/>
          <p:cNvSpPr/>
          <p:nvPr/>
        </p:nvSpPr>
        <p:spPr>
          <a:xfrm flipH="1" flipV="1">
            <a:off x="1386230" y="5306060"/>
            <a:ext cx="2956255" cy="576072"/>
          </a:xfrm>
          <a:prstGeom prst="line">
            <a:avLst/>
          </a:prstGeom>
          <a:noFill/>
          <a:ln w="31750">
            <a:solidFill>
              <a:srgbClr val="1B2A3A"/>
            </a:solidFill>
            <a:prstDash val="solid"/>
            <a:tailEnd type="triangle"/>
          </a:ln>
        </p:spPr>
      </p:sp>
      <p:sp>
        <p:nvSpPr>
          <p:cNvPr id="16" name="Shape 14"/>
          <p:cNvSpPr/>
          <p:nvPr/>
        </p:nvSpPr>
        <p:spPr>
          <a:xfrm>
            <a:off x="1143914" y="6631940"/>
            <a:ext cx="0" cy="576072"/>
          </a:xfrm>
          <a:prstGeom prst="line">
            <a:avLst/>
          </a:prstGeom>
          <a:noFill/>
          <a:ln w="31750">
            <a:solidFill>
              <a:srgbClr val="1B2A3A"/>
            </a:solidFill>
            <a:prstDash val="solid"/>
            <a:tailEnd type="triangle"/>
          </a:ln>
        </p:spPr>
      </p:sp>
      <p:sp>
        <p:nvSpPr>
          <p:cNvPr id="17" name="Text 15"/>
          <p:cNvSpPr txBox="1"/>
          <p:nvPr/>
        </p:nvSpPr>
        <p:spPr>
          <a:xfrm>
            <a:off x="684809" y="6766814"/>
            <a:ext cx="91821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EC2など</a:t>
            </a:r>
            <a:endParaRPr lang="en-US" sz="1500" dirty="0"/>
          </a:p>
        </p:txBody>
      </p:sp>
      <p:sp>
        <p:nvSpPr>
          <p:cNvPr id="18" name="Shape 16"/>
          <p:cNvSpPr/>
          <p:nvPr/>
        </p:nvSpPr>
        <p:spPr>
          <a:xfrm>
            <a:off x="1143914" y="6631940"/>
            <a:ext cx="1599286" cy="576072"/>
          </a:xfrm>
          <a:prstGeom prst="line">
            <a:avLst/>
          </a:prstGeom>
          <a:noFill/>
          <a:ln w="31750">
            <a:solidFill>
              <a:srgbClr val="1B2A3A"/>
            </a:solidFill>
            <a:prstDash val="solid"/>
            <a:tailEnd type="triangle"/>
          </a:ln>
        </p:spPr>
      </p:sp>
      <p:sp>
        <p:nvSpPr>
          <p:cNvPr id="19" name="Text 17"/>
          <p:cNvSpPr txBox="1"/>
          <p:nvPr/>
        </p:nvSpPr>
        <p:spPr>
          <a:xfrm>
            <a:off x="1543507" y="6766814"/>
            <a:ext cx="80010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S3など</a:t>
            </a:r>
            <a:endParaRPr lang="en-US" sz="1500" dirty="0"/>
          </a:p>
        </p:txBody>
      </p:sp>
      <p:sp>
        <p:nvSpPr>
          <p:cNvPr id="20" name="Shape 18"/>
          <p:cNvSpPr/>
          <p:nvPr/>
        </p:nvSpPr>
        <p:spPr>
          <a:xfrm>
            <a:off x="1143914" y="6631940"/>
            <a:ext cx="3198571" cy="576072"/>
          </a:xfrm>
          <a:prstGeom prst="line">
            <a:avLst/>
          </a:prstGeom>
          <a:noFill/>
          <a:ln w="31750">
            <a:solidFill>
              <a:srgbClr val="1B2A3A"/>
            </a:solidFill>
            <a:prstDash val="solid"/>
            <a:tailEnd type="triangle"/>
          </a:ln>
        </p:spPr>
      </p:sp>
      <p:sp>
        <p:nvSpPr>
          <p:cNvPr id="21" name="Text 19"/>
          <p:cNvSpPr txBox="1"/>
          <p:nvPr/>
        </p:nvSpPr>
        <p:spPr>
          <a:xfrm>
            <a:off x="2284095" y="6766814"/>
            <a:ext cx="91821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RDSなど</a:t>
            </a:r>
            <a:endParaRPr lang="en-US" sz="1500" dirty="0"/>
          </a:p>
        </p:txBody>
      </p:sp>
      <p:sp>
        <p:nvSpPr>
          <p:cNvPr id="22" name="Shape 20"/>
          <p:cNvSpPr/>
          <p:nvPr/>
        </p:nvSpPr>
        <p:spPr>
          <a:xfrm>
            <a:off x="654710" y="3230372"/>
            <a:ext cx="1463040" cy="749808"/>
          </a:xfrm>
          <a:prstGeom prst="roundRect">
            <a:avLst>
              <a:gd name="adj" fmla="val 14634"/>
            </a:avLst>
          </a:prstGeom>
          <a:solidFill>
            <a:srgbClr val="DFF1FB"/>
          </a:solidFill>
          <a:ln w="25400">
            <a:solidFill>
              <a:srgbClr val="0369A1"/>
            </a:solidFill>
            <a:prstDash val="solid"/>
          </a:ln>
        </p:spPr>
      </p:sp>
      <p:sp>
        <p:nvSpPr>
          <p:cNvPr id="23" name="Text 21"/>
          <p:cNvSpPr txBox="1"/>
          <p:nvPr/>
        </p:nvSpPr>
        <p:spPr>
          <a:xfrm>
            <a:off x="746150" y="323037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データセンター</a:t>
            </a:r>
            <a:endParaRPr lang="en-US" sz="1600" dirty="0"/>
          </a:p>
        </p:txBody>
      </p:sp>
      <p:sp>
        <p:nvSpPr>
          <p:cNvPr id="24" name="Shape 22"/>
          <p:cNvSpPr/>
          <p:nvPr/>
        </p:nvSpPr>
        <p:spPr>
          <a:xfrm>
            <a:off x="3368650" y="3230372"/>
            <a:ext cx="1463040" cy="749808"/>
          </a:xfrm>
          <a:prstGeom prst="roundRect">
            <a:avLst>
              <a:gd name="adj" fmla="val 14634"/>
            </a:avLst>
          </a:prstGeom>
          <a:solidFill>
            <a:srgbClr val="DFF1FB"/>
          </a:solidFill>
          <a:ln w="25400">
            <a:solidFill>
              <a:srgbClr val="0369A1"/>
            </a:solidFill>
            <a:prstDash val="solid"/>
          </a:ln>
        </p:spPr>
      </p:sp>
      <p:sp>
        <p:nvSpPr>
          <p:cNvPr id="25" name="Text 23"/>
          <p:cNvSpPr txBox="1"/>
          <p:nvPr/>
        </p:nvSpPr>
        <p:spPr>
          <a:xfrm>
            <a:off x="3460090" y="323037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26" name="Shape 24"/>
          <p:cNvSpPr/>
          <p:nvPr/>
        </p:nvSpPr>
        <p:spPr>
          <a:xfrm>
            <a:off x="654710" y="4556252"/>
            <a:ext cx="1463040" cy="749808"/>
          </a:xfrm>
          <a:prstGeom prst="roundRect">
            <a:avLst>
              <a:gd name="adj" fmla="val 14634"/>
            </a:avLst>
          </a:prstGeom>
          <a:solidFill>
            <a:srgbClr val="DFF1FB"/>
          </a:solidFill>
          <a:ln w="25400">
            <a:solidFill>
              <a:srgbClr val="0369A1"/>
            </a:solidFill>
            <a:prstDash val="solid"/>
          </a:ln>
        </p:spPr>
      </p:sp>
      <p:sp>
        <p:nvSpPr>
          <p:cNvPr id="27" name="Text 25"/>
          <p:cNvSpPr txBox="1"/>
          <p:nvPr/>
        </p:nvSpPr>
        <p:spPr>
          <a:xfrm>
            <a:off x="746150" y="455625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パブリッククラウド</a:t>
            </a:r>
            <a:endParaRPr lang="en-US" sz="1600" dirty="0"/>
          </a:p>
        </p:txBody>
      </p:sp>
      <p:sp>
        <p:nvSpPr>
          <p:cNvPr id="28" name="Shape 26"/>
          <p:cNvSpPr/>
          <p:nvPr/>
        </p:nvSpPr>
        <p:spPr>
          <a:xfrm>
            <a:off x="3368650" y="4556252"/>
            <a:ext cx="1463040" cy="749808"/>
          </a:xfrm>
          <a:prstGeom prst="roundRect">
            <a:avLst>
              <a:gd name="adj" fmla="val 14634"/>
            </a:avLst>
          </a:prstGeom>
          <a:solidFill>
            <a:srgbClr val="DFF1FB"/>
          </a:solidFill>
          <a:ln w="25400">
            <a:solidFill>
              <a:srgbClr val="0369A1"/>
            </a:solidFill>
            <a:prstDash val="solid"/>
          </a:ln>
        </p:spPr>
      </p:sp>
      <p:sp>
        <p:nvSpPr>
          <p:cNvPr id="29" name="Text 27"/>
          <p:cNvSpPr txBox="1"/>
          <p:nvPr/>
        </p:nvSpPr>
        <p:spPr>
          <a:xfrm>
            <a:off x="3460090" y="455625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30" name="Shape 28"/>
          <p:cNvSpPr/>
          <p:nvPr/>
        </p:nvSpPr>
        <p:spPr>
          <a:xfrm>
            <a:off x="412394" y="5882132"/>
            <a:ext cx="1463040" cy="749808"/>
          </a:xfrm>
          <a:prstGeom prst="roundRect">
            <a:avLst>
              <a:gd name="adj" fmla="val 14634"/>
            </a:avLst>
          </a:prstGeom>
          <a:solidFill>
            <a:srgbClr val="DFF1FB"/>
          </a:solidFill>
          <a:ln w="25400">
            <a:solidFill>
              <a:srgbClr val="0369A1"/>
            </a:solidFill>
            <a:prstDash val="solid"/>
          </a:ln>
        </p:spPr>
      </p:sp>
      <p:sp>
        <p:nvSpPr>
          <p:cNvPr id="31" name="Text 29"/>
          <p:cNvSpPr txBox="1"/>
          <p:nvPr/>
        </p:nvSpPr>
        <p:spPr>
          <a:xfrm>
            <a:off x="503834" y="588213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32" name="Shape 30"/>
          <p:cNvSpPr/>
          <p:nvPr/>
        </p:nvSpPr>
        <p:spPr>
          <a:xfrm>
            <a:off x="2011680" y="5882132"/>
            <a:ext cx="1463040" cy="749808"/>
          </a:xfrm>
          <a:prstGeom prst="roundRect">
            <a:avLst>
              <a:gd name="adj" fmla="val 14634"/>
            </a:avLst>
          </a:prstGeom>
          <a:solidFill>
            <a:srgbClr val="DFF1FB"/>
          </a:solidFill>
          <a:ln w="25400">
            <a:solidFill>
              <a:srgbClr val="0369A1"/>
            </a:solidFill>
            <a:prstDash val="solid"/>
          </a:ln>
        </p:spPr>
      </p:sp>
      <p:sp>
        <p:nvSpPr>
          <p:cNvPr id="33" name="Text 31"/>
          <p:cNvSpPr txBox="1"/>
          <p:nvPr/>
        </p:nvSpPr>
        <p:spPr>
          <a:xfrm>
            <a:off x="2103120" y="588213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Azure</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34" name="Shape 32"/>
          <p:cNvSpPr/>
          <p:nvPr/>
        </p:nvSpPr>
        <p:spPr>
          <a:xfrm>
            <a:off x="3610966" y="5882132"/>
            <a:ext cx="1463040" cy="749808"/>
          </a:xfrm>
          <a:prstGeom prst="roundRect">
            <a:avLst>
              <a:gd name="adj" fmla="val 14634"/>
            </a:avLst>
          </a:prstGeom>
          <a:solidFill>
            <a:srgbClr val="DFF1FB"/>
          </a:solidFill>
          <a:ln w="25400">
            <a:solidFill>
              <a:srgbClr val="0369A1"/>
            </a:solidFill>
            <a:prstDash val="solid"/>
          </a:ln>
        </p:spPr>
      </p:sp>
      <p:sp>
        <p:nvSpPr>
          <p:cNvPr id="35" name="Text 33"/>
          <p:cNvSpPr txBox="1"/>
          <p:nvPr/>
        </p:nvSpPr>
        <p:spPr>
          <a:xfrm>
            <a:off x="3702406" y="588213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Google Cloud</a:t>
            </a:r>
            <a:endParaRPr lang="en-US" sz="1600" dirty="0"/>
          </a:p>
        </p:txBody>
      </p:sp>
      <p:sp>
        <p:nvSpPr>
          <p:cNvPr id="36" name="Shape 34"/>
          <p:cNvSpPr/>
          <p:nvPr/>
        </p:nvSpPr>
        <p:spPr>
          <a:xfrm>
            <a:off x="412394" y="7208012"/>
            <a:ext cx="1463040" cy="749808"/>
          </a:xfrm>
          <a:prstGeom prst="roundRect">
            <a:avLst>
              <a:gd name="adj" fmla="val 14634"/>
            </a:avLst>
          </a:prstGeom>
          <a:solidFill>
            <a:srgbClr val="DFF1FB"/>
          </a:solidFill>
          <a:ln w="25400">
            <a:solidFill>
              <a:srgbClr val="0369A1"/>
            </a:solidFill>
            <a:prstDash val="solid"/>
          </a:ln>
        </p:spPr>
      </p:sp>
      <p:sp>
        <p:nvSpPr>
          <p:cNvPr id="37" name="Text 35"/>
          <p:cNvSpPr txBox="1"/>
          <p:nvPr/>
        </p:nvSpPr>
        <p:spPr>
          <a:xfrm>
            <a:off x="503834" y="720801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クラウド仮想サーバー</a:t>
            </a:r>
            <a:endParaRPr lang="en-US" sz="1600" dirty="0"/>
          </a:p>
        </p:txBody>
      </p:sp>
      <p:sp>
        <p:nvSpPr>
          <p:cNvPr id="38" name="Shape 36"/>
          <p:cNvSpPr/>
          <p:nvPr/>
        </p:nvSpPr>
        <p:spPr>
          <a:xfrm>
            <a:off x="2011680" y="7208012"/>
            <a:ext cx="1463040" cy="749808"/>
          </a:xfrm>
          <a:prstGeom prst="roundRect">
            <a:avLst>
              <a:gd name="adj" fmla="val 14634"/>
            </a:avLst>
          </a:prstGeom>
          <a:solidFill>
            <a:srgbClr val="DFF1FB"/>
          </a:solidFill>
          <a:ln w="25400">
            <a:solidFill>
              <a:srgbClr val="0369A1"/>
            </a:solidFill>
            <a:prstDash val="solid"/>
          </a:ln>
        </p:spPr>
      </p:sp>
      <p:sp>
        <p:nvSpPr>
          <p:cNvPr id="39" name="Text 37"/>
          <p:cNvSpPr txBox="1"/>
          <p:nvPr/>
        </p:nvSpPr>
        <p:spPr>
          <a:xfrm>
            <a:off x="2103120" y="720801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クラウドストレージ</a:t>
            </a:r>
            <a:endParaRPr lang="en-US" sz="1600" dirty="0"/>
          </a:p>
        </p:txBody>
      </p:sp>
      <p:sp>
        <p:nvSpPr>
          <p:cNvPr id="40" name="Shape 38"/>
          <p:cNvSpPr/>
          <p:nvPr/>
        </p:nvSpPr>
        <p:spPr>
          <a:xfrm>
            <a:off x="3610966" y="7208012"/>
            <a:ext cx="1463040" cy="749808"/>
          </a:xfrm>
          <a:prstGeom prst="roundRect">
            <a:avLst>
              <a:gd name="adj" fmla="val 14634"/>
            </a:avLst>
          </a:prstGeom>
          <a:solidFill>
            <a:srgbClr val="DFF1FB"/>
          </a:solidFill>
          <a:ln w="25400">
            <a:solidFill>
              <a:srgbClr val="0369A1"/>
            </a:solidFill>
            <a:prstDash val="solid"/>
          </a:ln>
        </p:spPr>
      </p:sp>
      <p:sp>
        <p:nvSpPr>
          <p:cNvPr id="41" name="Text 39"/>
          <p:cNvSpPr txBox="1"/>
          <p:nvPr/>
        </p:nvSpPr>
        <p:spPr>
          <a:xfrm>
            <a:off x="3702406" y="7208012"/>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マネージドサービス</a:t>
            </a:r>
            <a:endParaRPr lang="en-US" sz="1600" dirty="0"/>
          </a:p>
        </p:txBody>
      </p:sp>
      <p:sp>
        <p:nvSpPr>
          <p:cNvPr id="42" name="Text 4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231</a:t>
            </a:fld>
            <a:endParaRPr lang="en-US"/>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クラウド</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ネット経由で、必要なときに必要な分だけ借りて使うITの仕組み。</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0369A1"/>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2" name="Shape 20"/>
          <p:cNvSpPr/>
          <p:nvPr/>
        </p:nvSpPr>
        <p:spPr>
          <a:xfrm>
            <a:off x="320040" y="4234942"/>
            <a:ext cx="4846320" cy="1264920"/>
          </a:xfrm>
          <a:prstGeom prst="roundRect">
            <a:avLst>
              <a:gd name="adj" fmla="val 10120"/>
            </a:avLst>
          </a:prstGeom>
          <a:solidFill>
            <a:srgbClr val="DFF1FB"/>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ネットワークの向こう側にある、事業者の設備とサービス（社内に作るクラウドもある）。</a:t>
            </a:r>
            <a:endParaRPr lang="en-US" sz="2000" dirty="0"/>
          </a:p>
        </p:txBody>
      </p:sp>
      <p:sp>
        <p:nvSpPr>
          <p:cNvPr id="24" name="Shape 22"/>
          <p:cNvSpPr/>
          <p:nvPr/>
        </p:nvSpPr>
        <p:spPr>
          <a:xfrm>
            <a:off x="320040" y="5682742"/>
            <a:ext cx="4846320" cy="402336"/>
          </a:xfrm>
          <a:prstGeom prst="roundRect">
            <a:avLst>
              <a:gd name="adj" fmla="val 22727"/>
            </a:avLst>
          </a:prstGeom>
          <a:solidFill>
            <a:srgbClr val="0369A1"/>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0369A1"/>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8" name="Shape 26"/>
          <p:cNvSpPr/>
          <p:nvPr/>
        </p:nvSpPr>
        <p:spPr>
          <a:xfrm>
            <a:off x="3566160" y="6139942"/>
            <a:ext cx="1600200" cy="676656"/>
          </a:xfrm>
          <a:prstGeom prst="roundRect">
            <a:avLst>
              <a:gd name="adj" fmla="val 16216"/>
            </a:avLst>
          </a:prstGeom>
          <a:solidFill>
            <a:srgbClr val="D9F2F1"/>
          </a:solidFill>
          <a:ln w="25400">
            <a:solidFill>
              <a:srgbClr val="0B7A7A"/>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0" name="Shape 28"/>
          <p:cNvSpPr/>
          <p:nvPr/>
        </p:nvSpPr>
        <p:spPr>
          <a:xfrm flipH="1">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2" name="Shape 30"/>
          <p:cNvSpPr/>
          <p:nvPr/>
        </p:nvSpPr>
        <p:spPr>
          <a:xfrm>
            <a:off x="3566160" y="6926326"/>
            <a:ext cx="1600200" cy="676656"/>
          </a:xfrm>
          <a:prstGeom prst="roundRect">
            <a:avLst>
              <a:gd name="adj" fmla="val 16216"/>
            </a:avLst>
          </a:prstGeom>
          <a:solidFill>
            <a:srgbClr val="DFF1FB"/>
          </a:solidFill>
          <a:ln w="25400">
            <a:solidFill>
              <a:srgbClr val="0369A1"/>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4" name="Shape 32"/>
          <p:cNvSpPr/>
          <p:nvPr/>
        </p:nvSpPr>
        <p:spPr>
          <a:xfrm flipH="1">
            <a:off x="1719072" y="7264654"/>
            <a:ext cx="1819656" cy="0"/>
          </a:xfrm>
          <a:prstGeom prst="line">
            <a:avLst/>
          </a:prstGeom>
          <a:noFill/>
          <a:ln w="31750">
            <a:solidFill>
              <a:srgbClr val="1B2A3A"/>
            </a:solidFill>
            <a:prstDash val="solid"/>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支える</a:t>
            </a:r>
            <a:endParaRPr lang="en-US" sz="1500" dirty="0"/>
          </a:p>
        </p:txBody>
      </p:sp>
      <p:sp>
        <p:nvSpPr>
          <p:cNvPr id="36" name="Shape 34"/>
          <p:cNvSpPr/>
          <p:nvPr/>
        </p:nvSpPr>
        <p:spPr>
          <a:xfrm>
            <a:off x="3566160" y="7712710"/>
            <a:ext cx="1600200" cy="676656"/>
          </a:xfrm>
          <a:prstGeom prst="roundRect">
            <a:avLst>
              <a:gd name="adj" fmla="val 16216"/>
            </a:avLst>
          </a:prstGeom>
          <a:solidFill>
            <a:srgbClr val="FDEBD0"/>
          </a:solidFill>
          <a:ln w="25400">
            <a:solidFill>
              <a:srgbClr val="B45309"/>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経由で使う</a:t>
            </a:r>
            <a:endParaRPr lang="en-US" sz="1500" dirty="0"/>
          </a:p>
        </p:txBody>
      </p:sp>
      <p:sp>
        <p:nvSpPr>
          <p:cNvPr id="40" name="Shape 38"/>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2" name="Shape 40"/>
          <p:cNvSpPr/>
          <p:nvPr/>
        </p:nvSpPr>
        <p:spPr>
          <a:xfrm flipH="1">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44" name="Shape 42"/>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プライベートクラウド</a:t>
            </a:r>
            <a:endParaRPr lang="en-US" sz="1500" dirty="0"/>
          </a:p>
        </p:txBody>
      </p:sp>
      <p:sp>
        <p:nvSpPr>
          <p:cNvPr id="46" name="Shape 44"/>
          <p:cNvSpPr/>
          <p:nvPr/>
        </p:nvSpPr>
        <p:spPr>
          <a:xfrm flipH="1">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232</a:t>
            </a:fld>
            <a:endParaRPr lang="en-US"/>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クラウド</a:t>
            </a:r>
            <a:endParaRPr lang="ja-JP" sz="2200" dirty="0"/>
          </a:p>
        </p:txBody>
      </p:sp>
      <p:sp>
        <p:nvSpPr>
          <p:cNvPr id="4" name="Shape 2"/>
          <p:cNvSpPr/>
          <p:nvPr/>
        </p:nvSpPr>
        <p:spPr>
          <a:xfrm>
            <a:off x="320040" y="1318514"/>
            <a:ext cx="4846320" cy="2781808"/>
          </a:xfrm>
          <a:prstGeom prst="roundRect">
            <a:avLst>
              <a:gd name="adj" fmla="val 4602"/>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2514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読み：クラウドコンピューティング</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クラウドは、サーバー・保存場所・データベースなどのIT資源を、自分で買わず、インターネット経由で借りて使う仕組みです。必要なとき増やし、不要になれば返せます。</a:t>
            </a:r>
            <a:endParaRPr lang="en-US" sz="2000" dirty="0"/>
          </a:p>
        </p:txBody>
      </p:sp>
      <p:sp>
        <p:nvSpPr>
          <p:cNvPr id="7" name="Shape 5"/>
          <p:cNvSpPr/>
          <p:nvPr/>
        </p:nvSpPr>
        <p:spPr>
          <a:xfrm>
            <a:off x="320040" y="4173474"/>
            <a:ext cx="4846320" cy="2631440"/>
          </a:xfrm>
          <a:prstGeom prst="roundRect">
            <a:avLst>
              <a:gd name="adj" fmla="val 4865"/>
            </a:avLst>
          </a:prstGeom>
          <a:solidFill>
            <a:srgbClr val="DFF1FB"/>
          </a:solidFill>
          <a:ln/>
        </p:spPr>
      </p:sp>
      <p:sp>
        <p:nvSpPr>
          <p:cNvPr id="8" name="Text 6"/>
          <p:cNvSpPr txBox="1"/>
          <p:nvPr/>
        </p:nvSpPr>
        <p:spPr>
          <a:xfrm>
            <a:off x="502920" y="426491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提供会社が巨大なデータセンターの機械を仮想化で分け、多数の利用者に貸します。貸し方は3段階。VMだけ借りる、アプリの動作環境まで借りる、完成したアプリ（Gmailなど）を使うだけ、です。借りる範囲が広いほど、自分の管理は減ります。</a:t>
            </a:r>
            <a:endParaRPr lang="en-US" sz="2000" dirty="0"/>
          </a:p>
        </p:txBody>
      </p:sp>
      <p:sp>
        <p:nvSpPr>
          <p:cNvPr id="9" name="Shape 7"/>
          <p:cNvSpPr/>
          <p:nvPr/>
        </p:nvSpPr>
        <p:spPr>
          <a:xfrm>
            <a:off x="320040" y="6878066"/>
            <a:ext cx="4846320" cy="1935480"/>
          </a:xfrm>
          <a:prstGeom prst="roundRect">
            <a:avLst>
              <a:gd name="adj" fmla="val 6614"/>
            </a:avLst>
          </a:prstGeom>
          <a:solidFill>
            <a:srgbClr val="FDEBD0"/>
          </a:solidFill>
          <a:ln/>
        </p:spPr>
      </p:sp>
      <p:sp>
        <p:nvSpPr>
          <p:cNvPr id="10" name="Text 8"/>
          <p:cNvSpPr txBox="1"/>
          <p:nvPr/>
        </p:nvSpPr>
        <p:spPr>
          <a:xfrm>
            <a:off x="502920" y="696950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電気や水道。自分で発電所を持たなくても使え、使った分だけ払います。クラウドは「ITの電気」のように使えるサービスです。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233</a:t>
            </a:fld>
            <a:endParaRPr lang="en-US"/>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クラウド</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スマホの写真が自動でネットに保存される、学校で共有ドキュメントを同時に編集する、開発者がサーバーを借りる、といった場面です。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FBE3E0"/>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クラウドは保存場所だけを指す言葉ではありません。計算するサーバーやデータベースも含み、使った分の料金がかかる形が基本です。</a:t>
            </a:r>
            <a:endParaRPr lang="en-US" sz="2000" dirty="0"/>
          </a:p>
        </p:txBody>
      </p:sp>
      <p:sp>
        <p:nvSpPr>
          <p:cNvPr id="8" name="Shape 6"/>
          <p:cNvSpPr/>
          <p:nvPr/>
        </p:nvSpPr>
        <p:spPr>
          <a:xfrm>
            <a:off x="320040" y="5555234"/>
            <a:ext cx="4846320" cy="1600200"/>
          </a:xfrm>
          <a:prstGeom prst="roundRect">
            <a:avLst>
              <a:gd name="adj" fmla="val 8000"/>
            </a:avLst>
          </a:prstGeom>
          <a:solidFill>
            <a:srgbClr val="DDF1E4"/>
          </a:solidFill>
          <a:ln/>
        </p:spPr>
      </p:sp>
      <p:sp>
        <p:nvSpPr>
          <p:cNvPr id="9" name="Text 7"/>
          <p:cNvSpPr txBox="1"/>
          <p:nvPr/>
        </p:nvSpPr>
        <p:spPr>
          <a:xfrm>
            <a:off x="502920" y="564667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使っているサービスを3つ選び、「データはどこにあり、誰の設備か」を調べて書き出してみましょう。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234</a:t>
            </a:fld>
            <a:endParaRPr lang="en-US"/>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パブリッククラウド</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提供会社が、多数の顧客に向けて貸し出すクラウド。</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3" name="Shape 21"/>
          <p:cNvSpPr/>
          <p:nvPr/>
        </p:nvSpPr>
        <p:spPr>
          <a:xfrm>
            <a:off x="320040" y="4234942"/>
            <a:ext cx="4846320" cy="1264920"/>
          </a:xfrm>
          <a:prstGeom prst="roundRect">
            <a:avLst>
              <a:gd name="adj" fmla="val 10120"/>
            </a:avLst>
          </a:prstGeom>
          <a:solidFill>
            <a:srgbClr val="DFF1FB"/>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インターネットの向こう側にある、事業者の設備を借りるサービス。</a:t>
            </a:r>
            <a:endParaRPr lang="en-US" sz="2000" dirty="0"/>
          </a:p>
        </p:txBody>
      </p:sp>
      <p:sp>
        <p:nvSpPr>
          <p:cNvPr id="25" name="Shape 23"/>
          <p:cNvSpPr/>
          <p:nvPr/>
        </p:nvSpPr>
        <p:spPr>
          <a:xfrm>
            <a:off x="320040" y="5682742"/>
            <a:ext cx="4846320" cy="402336"/>
          </a:xfrm>
          <a:prstGeom prst="roundRect">
            <a:avLst>
              <a:gd name="adj" fmla="val 22727"/>
            </a:avLst>
          </a:prstGeom>
          <a:solidFill>
            <a:srgbClr val="0369A1"/>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0369A1"/>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パブリッククラウド</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9" name="Shape 27"/>
          <p:cNvSpPr/>
          <p:nvPr/>
        </p:nvSpPr>
        <p:spPr>
          <a:xfrm>
            <a:off x="3566160" y="6139942"/>
            <a:ext cx="1600200" cy="676656"/>
          </a:xfrm>
          <a:prstGeom prst="roundRect">
            <a:avLst>
              <a:gd name="adj" fmla="val 16216"/>
            </a:avLst>
          </a:prstGeom>
          <a:solidFill>
            <a:srgbClr val="DFF1FB"/>
          </a:solidFill>
          <a:ln w="25400">
            <a:solidFill>
              <a:srgbClr val="0369A1"/>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プライベートクラウド</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headEnd type="triangle"/>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3" name="Shape 31"/>
          <p:cNvSpPr/>
          <p:nvPr/>
        </p:nvSpPr>
        <p:spPr>
          <a:xfrm>
            <a:off x="3566160" y="6926326"/>
            <a:ext cx="1600200" cy="676656"/>
          </a:xfrm>
          <a:prstGeom prst="roundRect">
            <a:avLst>
              <a:gd name="adj" fmla="val 16216"/>
            </a:avLst>
          </a:prstGeom>
          <a:solidFill>
            <a:srgbClr val="DFF1FB"/>
          </a:solidFill>
          <a:ln w="25400">
            <a:solidFill>
              <a:srgbClr val="0369A1"/>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Azure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41" name="Shape 39"/>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Google Cloud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45" name="Shape 43"/>
          <p:cNvSpPr/>
          <p:nvPr/>
        </p:nvSpPr>
        <p:spPr>
          <a:xfrm>
            <a:off x="3566160" y="9285478"/>
            <a:ext cx="1600200" cy="676656"/>
          </a:xfrm>
          <a:prstGeom prst="roundRect">
            <a:avLst>
              <a:gd name="adj" fmla="val 16216"/>
            </a:avLst>
          </a:prstGeom>
          <a:solidFill>
            <a:srgbClr val="DFF1FB"/>
          </a:solidFill>
          <a:ln w="25400">
            <a:solidFill>
              <a:srgbClr val="0369A1"/>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7" name="Shape 45"/>
          <p:cNvSpPr/>
          <p:nvPr/>
        </p:nvSpPr>
        <p:spPr>
          <a:xfrm flipH="1">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235</a:t>
            </a:fld>
            <a:endParaRPr lang="en-US"/>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パブリッククラウド</a:t>
            </a:r>
            <a:endParaRPr lang="ja-JP" sz="2200" dirty="0"/>
          </a:p>
        </p:txBody>
      </p:sp>
      <p:sp>
        <p:nvSpPr>
          <p:cNvPr id="4" name="Shape 2"/>
          <p:cNvSpPr/>
          <p:nvPr/>
        </p:nvSpPr>
        <p:spPr>
          <a:xfrm>
            <a:off x="320040" y="1318514"/>
            <a:ext cx="4846320" cy="2781808"/>
          </a:xfrm>
          <a:prstGeom prst="roundRect">
            <a:avLst>
              <a:gd name="adj" fmla="val 4602"/>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2514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読み：Public Cloud</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パブリッククラウドは、提供会社が、企業・学校・個人など多数の顧客に向けて提供するクラウドです。設備は提供会社のもので、契約すれば誰でも使い始められます。</a:t>
            </a:r>
            <a:endParaRPr lang="en-US" sz="2000" dirty="0"/>
          </a:p>
        </p:txBody>
      </p:sp>
      <p:sp>
        <p:nvSpPr>
          <p:cNvPr id="7" name="Shape 5"/>
          <p:cNvSpPr/>
          <p:nvPr/>
        </p:nvSpPr>
        <p:spPr>
          <a:xfrm>
            <a:off x="320040" y="4173474"/>
            <a:ext cx="4846320" cy="2631440"/>
          </a:xfrm>
          <a:prstGeom prst="roundRect">
            <a:avLst>
              <a:gd name="adj" fmla="val 4865"/>
            </a:avLst>
          </a:prstGeom>
          <a:solidFill>
            <a:srgbClr val="DFF1FB"/>
          </a:solidFill>
          <a:ln/>
        </p:spPr>
      </p:sp>
      <p:sp>
        <p:nvSpPr>
          <p:cNvPr id="8" name="Text 6"/>
          <p:cNvSpPr txBox="1"/>
          <p:nvPr/>
        </p:nvSpPr>
        <p:spPr>
          <a:xfrm>
            <a:off x="502920" y="426491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複数の顧客が同じ物理設備を共用しますが、仮想化や権限管理で、他の顧客のデータが見えないよう分けられています。例はAWS・Azure・Google Cloudです。自社専用のプライベートクラウドとは、設備の持ち主と利用者の範囲が違います。</a:t>
            </a:r>
            <a:endParaRPr lang="en-US" sz="2000" dirty="0"/>
          </a:p>
        </p:txBody>
      </p:sp>
      <p:sp>
        <p:nvSpPr>
          <p:cNvPr id="9" name="Shape 7"/>
          <p:cNvSpPr/>
          <p:nvPr/>
        </p:nvSpPr>
        <p:spPr>
          <a:xfrm>
            <a:off x="320040" y="6878066"/>
            <a:ext cx="4846320" cy="1600200"/>
          </a:xfrm>
          <a:prstGeom prst="roundRect">
            <a:avLst>
              <a:gd name="adj" fmla="val 8000"/>
            </a:avLst>
          </a:prstGeom>
          <a:solidFill>
            <a:srgbClr val="FDEBD0"/>
          </a:solidFill>
          <a:ln/>
        </p:spPr>
      </p:sp>
      <p:sp>
        <p:nvSpPr>
          <p:cNvPr id="10" name="Text 8"/>
          <p:cNvSpPr txBox="1"/>
          <p:nvPr/>
        </p:nvSpPr>
        <p:spPr>
          <a:xfrm>
            <a:off x="502920" y="696950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公共の貸し倉庫。建物は運営会社のもので、多くの人が同じ建物で自分の区画だけを借り、他人の区画には入れません。</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236</a:t>
            </a:fld>
            <a:endParaRPr lang="en-US"/>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パブリッククラウド</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スタートアップがサーバーを買わずにサービスを公開する、学生が学習用の環境を短時間だけ借りて試す、といった場面で使われます。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FBE3E0"/>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この「パブリック」は、データが公開されるという意味ではありません。利用者が多数という意味です。設定を誤ると外から見える状態になります。</a:t>
            </a:r>
            <a:endParaRPr lang="en-US" sz="2000" dirty="0"/>
          </a:p>
        </p:txBody>
      </p:sp>
      <p:sp>
        <p:nvSpPr>
          <p:cNvPr id="8" name="Shape 6"/>
          <p:cNvSpPr/>
          <p:nvPr/>
        </p:nvSpPr>
        <p:spPr>
          <a:xfrm>
            <a:off x="320040" y="5555234"/>
            <a:ext cx="4846320" cy="1600200"/>
          </a:xfrm>
          <a:prstGeom prst="roundRect">
            <a:avLst>
              <a:gd name="adj" fmla="val 8000"/>
            </a:avLst>
          </a:prstGeom>
          <a:solidFill>
            <a:srgbClr val="DDF1E4"/>
          </a:solidFill>
          <a:ln/>
        </p:spPr>
      </p:sp>
      <p:sp>
        <p:nvSpPr>
          <p:cNvPr id="9" name="Text 7"/>
          <p:cNvSpPr txBox="1"/>
          <p:nvPr/>
        </p:nvSpPr>
        <p:spPr>
          <a:xfrm>
            <a:off x="502920" y="564667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AWS・Azure・Google Cloudの入門ページで、サービスの種類（計算・保存・DBなど）を分類してみましょう。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237</a:t>
            </a:fld>
            <a:endParaRPr lang="en-US"/>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AWS</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Amazonが提供するパブリッククラウド。計算・保存・DBなど多数のサービスの総称。</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3" name="Shape 21"/>
          <p:cNvSpPr/>
          <p:nvPr/>
        </p:nvSpPr>
        <p:spPr>
          <a:xfrm>
            <a:off x="320040" y="4234942"/>
            <a:ext cx="4846320" cy="1264920"/>
          </a:xfrm>
          <a:prstGeom prst="roundRect">
            <a:avLst>
              <a:gd name="adj" fmla="val 10120"/>
            </a:avLst>
          </a:prstGeom>
          <a:solidFill>
            <a:srgbClr val="DFF1FB"/>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インターネットの向こう側にある、Amazonのクラウドサービスの総称。</a:t>
            </a:r>
            <a:endParaRPr lang="en-US" sz="2000" dirty="0"/>
          </a:p>
        </p:txBody>
      </p:sp>
      <p:sp>
        <p:nvSpPr>
          <p:cNvPr id="25" name="Shape 23"/>
          <p:cNvSpPr/>
          <p:nvPr/>
        </p:nvSpPr>
        <p:spPr>
          <a:xfrm>
            <a:off x="320040" y="5682742"/>
            <a:ext cx="4846320" cy="402336"/>
          </a:xfrm>
          <a:prstGeom prst="roundRect">
            <a:avLst>
              <a:gd name="adj" fmla="val 22727"/>
            </a:avLst>
          </a:prstGeom>
          <a:solidFill>
            <a:srgbClr val="0369A1"/>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0369A1"/>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AWS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9" name="Shape 27"/>
          <p:cNvSpPr/>
          <p:nvPr/>
        </p:nvSpPr>
        <p:spPr>
          <a:xfrm>
            <a:off x="3566160" y="6139942"/>
            <a:ext cx="1600200" cy="676656"/>
          </a:xfrm>
          <a:prstGeom prst="roundRect">
            <a:avLst>
              <a:gd name="adj" fmla="val 16216"/>
            </a:avLst>
          </a:prstGeom>
          <a:solidFill>
            <a:srgbClr val="DFF1FB"/>
          </a:solidFill>
          <a:ln w="25400">
            <a:solidFill>
              <a:srgbClr val="0369A1"/>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3" name="Shape 31"/>
          <p:cNvSpPr/>
          <p:nvPr/>
        </p:nvSpPr>
        <p:spPr>
          <a:xfrm>
            <a:off x="3566160" y="6926326"/>
            <a:ext cx="1600200" cy="676656"/>
          </a:xfrm>
          <a:prstGeom prst="roundRect">
            <a:avLst>
              <a:gd name="adj" fmla="val 16216"/>
            </a:avLst>
          </a:prstGeom>
          <a:solidFill>
            <a:srgbClr val="DFF1FB"/>
          </a:solidFill>
          <a:ln w="25400">
            <a:solidFill>
              <a:srgbClr val="0369A1"/>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Amazon S3</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238</a:t>
            </a:fld>
            <a:endParaRPr lang="en-US"/>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AWS</a:t>
            </a:r>
            <a:endParaRPr lang="ja-JP" sz="2200" dirty="0"/>
          </a:p>
        </p:txBody>
      </p:sp>
      <p:sp>
        <p:nvSpPr>
          <p:cNvPr id="4" name="Shape 2"/>
          <p:cNvSpPr/>
          <p:nvPr/>
        </p:nvSpPr>
        <p:spPr>
          <a:xfrm>
            <a:off x="320040" y="1318514"/>
            <a:ext cx="4846320" cy="3452368"/>
          </a:xfrm>
          <a:prstGeom prst="roundRect">
            <a:avLst>
              <a:gd name="adj" fmla="val 3708"/>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読み：エーダブリューエス（Amazon Web Services）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AWS（Amazon Web Services）は、Amazonが提供するパブリッククラウドの名前です。サーバー、保存場所、データベース、ネットワーク、AIなど、非常に多くの種類のサービスの総称です。</a:t>
            </a:r>
            <a:endParaRPr lang="en-US" sz="2000" dirty="0"/>
          </a:p>
        </p:txBody>
      </p:sp>
      <p:sp>
        <p:nvSpPr>
          <p:cNvPr id="7" name="Shape 5"/>
          <p:cNvSpPr/>
          <p:nvPr/>
        </p:nvSpPr>
        <p:spPr>
          <a:xfrm>
            <a:off x="320040" y="4844034"/>
            <a:ext cx="4846320" cy="2631440"/>
          </a:xfrm>
          <a:prstGeom prst="roundRect">
            <a:avLst>
              <a:gd name="adj" fmla="val 4865"/>
            </a:avLst>
          </a:prstGeom>
          <a:solidFill>
            <a:srgbClr val="DFF1FB"/>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「AWS」という単一の製品はありません。サーバーは「Amazon EC2」、オブジェクトストレージは「Amazon S3」、データベースは「Amazon RDS」と、サービスごとに名前があります。世界各地で提供され、使う地域（リージョン）を選べます。</a:t>
            </a:r>
            <a:endParaRPr lang="en-US" sz="2000" dirty="0"/>
          </a:p>
        </p:txBody>
      </p:sp>
      <p:sp>
        <p:nvSpPr>
          <p:cNvPr id="9" name="Shape 7"/>
          <p:cNvSpPr/>
          <p:nvPr/>
        </p:nvSpPr>
        <p:spPr>
          <a:xfrm>
            <a:off x="320040" y="7548626"/>
            <a:ext cx="4846320" cy="1600200"/>
          </a:xfrm>
          <a:prstGeom prst="roundRect">
            <a:avLst>
              <a:gd name="adj" fmla="val 8000"/>
            </a:avLst>
          </a:prstGeom>
          <a:solidFill>
            <a:srgbClr val="FDEBD0"/>
          </a:solidFill>
          <a:ln/>
        </p:spPr>
      </p:sp>
      <p:sp>
        <p:nvSpPr>
          <p:cNvPr id="10" name="Text 8"/>
          <p:cNvSpPr txBox="1"/>
          <p:nvPr/>
        </p:nvSpPr>
        <p:spPr>
          <a:xfrm>
            <a:off x="502920" y="764006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ITの総合レンタル店。貸しサーバー（EC2）も貸し倉庫（S3）も1つの契約で借りられ、使った分だけ支払います。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239</a:t>
            </a:fld>
            <a:endParaRPr lang="en-US"/>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AWS</a:t>
            </a:r>
            <a:endParaRPr lang="ja-JP" sz="2200" dirty="0"/>
          </a:p>
        </p:txBody>
      </p:sp>
      <p:sp>
        <p:nvSpPr>
          <p:cNvPr id="4" name="Shape 2"/>
          <p:cNvSpPr/>
          <p:nvPr/>
        </p:nvSpPr>
        <p:spPr>
          <a:xfrm>
            <a:off x="320040" y="1318514"/>
            <a:ext cx="4846320" cy="1600200"/>
          </a:xfrm>
          <a:prstGeom prst="roundRect">
            <a:avLst>
              <a:gd name="adj" fmla="val 8000"/>
            </a:avLst>
          </a:prstGeom>
          <a:solidFill>
            <a:srgbClr val="DCE8F8"/>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開発現場で「サーバーはAWSで動いています」と話す場面や、学習用にEC2でサーバーを1台立てる実習の場面です。</a:t>
            </a:r>
            <a:endParaRPr lang="en-US" sz="2000" dirty="0"/>
          </a:p>
        </p:txBody>
      </p:sp>
      <p:sp>
        <p:nvSpPr>
          <p:cNvPr id="6" name="Shape 4"/>
          <p:cNvSpPr/>
          <p:nvPr/>
        </p:nvSpPr>
        <p:spPr>
          <a:xfrm>
            <a:off x="320040" y="3101594"/>
            <a:ext cx="4846320" cy="1935480"/>
          </a:xfrm>
          <a:prstGeom prst="roundRect">
            <a:avLst>
              <a:gd name="adj" fmla="val 6614"/>
            </a:avLst>
          </a:prstGeom>
          <a:solidFill>
            <a:srgbClr val="FBE3E0"/>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AWSはAmazonの通販サイトとは別のサービスです。同じ役割のサービスにも会社ごとに別名があります（サーバーはAzureならVirtual Machines）。</a:t>
            </a:r>
            <a:endParaRPr lang="en-US" sz="2000" dirty="0"/>
          </a:p>
        </p:txBody>
      </p:sp>
      <p:sp>
        <p:nvSpPr>
          <p:cNvPr id="8" name="Shape 6"/>
          <p:cNvSpPr/>
          <p:nvPr/>
        </p:nvSpPr>
        <p:spPr>
          <a:xfrm>
            <a:off x="320040" y="5219954"/>
            <a:ext cx="4846320" cy="1600200"/>
          </a:xfrm>
          <a:prstGeom prst="roundRect">
            <a:avLst>
              <a:gd name="adj" fmla="val 8000"/>
            </a:avLst>
          </a:prstGeom>
          <a:solidFill>
            <a:srgbClr val="DDF1E4"/>
          </a:solidFill>
          <a:ln/>
        </p:spPr>
      </p:sp>
      <p:sp>
        <p:nvSpPr>
          <p:cNvPr id="9" name="Text 7"/>
          <p:cNvSpPr txBox="1"/>
          <p:nvPr/>
        </p:nvSpPr>
        <p:spPr>
          <a:xfrm>
            <a:off x="502920" y="53113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AWS公式の基礎教材で全体像をつかみ、学習用アカウントでサーバーを作って削除し、S3にファイルを入れてみましょう。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240</a:t>
            </a:fld>
            <a:endParaRPr lang="en-US"/>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Azure</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Microsoftが提供するパブリッククラウド。サーバー・DB・認証など多数のサービスの総称。</a:t>
            </a:r>
            <a:endParaRPr lang="en-US" sz="1800" dirty="0"/>
          </a:p>
        </p:txBody>
      </p:sp>
      <p:sp>
        <p:nvSpPr>
          <p:cNvPr id="7" name="Text 5"/>
          <p:cNvSpPr txBox="1"/>
          <p:nvPr/>
        </p:nvSpPr>
        <p:spPr>
          <a:xfrm>
            <a:off x="320040" y="2817622"/>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3165094"/>
            <a:ext cx="1156716" cy="384048"/>
          </a:xfrm>
          <a:prstGeom prst="roundRect">
            <a:avLst>
              <a:gd name="adj" fmla="val 23810"/>
            </a:avLst>
          </a:prstGeom>
          <a:solidFill>
            <a:srgbClr val="EEF1F5"/>
          </a:solidFill>
          <a:ln/>
        </p:spPr>
      </p:sp>
      <p:sp>
        <p:nvSpPr>
          <p:cNvPr id="9" name="Text 7"/>
          <p:cNvSpPr txBox="1"/>
          <p:nvPr/>
        </p:nvSpPr>
        <p:spPr>
          <a:xfrm>
            <a:off x="320040"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3165094"/>
            <a:ext cx="1156716" cy="384048"/>
          </a:xfrm>
          <a:prstGeom prst="roundRect">
            <a:avLst>
              <a:gd name="adj" fmla="val 23810"/>
            </a:avLst>
          </a:prstGeom>
          <a:solidFill>
            <a:srgbClr val="EEF1F5"/>
          </a:solidFill>
          <a:ln/>
        </p:spPr>
      </p:sp>
      <p:sp>
        <p:nvSpPr>
          <p:cNvPr id="11" name="Text 9"/>
          <p:cNvSpPr txBox="1"/>
          <p:nvPr/>
        </p:nvSpPr>
        <p:spPr>
          <a:xfrm>
            <a:off x="1549908"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3165094"/>
            <a:ext cx="1156716" cy="384048"/>
          </a:xfrm>
          <a:prstGeom prst="roundRect">
            <a:avLst>
              <a:gd name="adj" fmla="val 23810"/>
            </a:avLst>
          </a:prstGeom>
          <a:solidFill>
            <a:srgbClr val="EEF1F5"/>
          </a:solidFill>
          <a:ln/>
        </p:spPr>
      </p:sp>
      <p:sp>
        <p:nvSpPr>
          <p:cNvPr id="13" name="Text 11"/>
          <p:cNvSpPr txBox="1"/>
          <p:nvPr/>
        </p:nvSpPr>
        <p:spPr>
          <a:xfrm>
            <a:off x="2779776"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3165094"/>
            <a:ext cx="1156716" cy="384048"/>
          </a:xfrm>
          <a:prstGeom prst="roundRect">
            <a:avLst>
              <a:gd name="adj" fmla="val 23810"/>
            </a:avLst>
          </a:prstGeom>
          <a:solidFill>
            <a:srgbClr val="EEF1F5"/>
          </a:solidFill>
          <a:ln/>
        </p:spPr>
      </p:sp>
      <p:sp>
        <p:nvSpPr>
          <p:cNvPr id="15" name="Text 13"/>
          <p:cNvSpPr txBox="1"/>
          <p:nvPr/>
        </p:nvSpPr>
        <p:spPr>
          <a:xfrm>
            <a:off x="4009644"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604006"/>
            <a:ext cx="1566672" cy="384048"/>
          </a:xfrm>
          <a:prstGeom prst="roundRect">
            <a:avLst>
              <a:gd name="adj" fmla="val 23810"/>
            </a:avLst>
          </a:prstGeom>
          <a:solidFill>
            <a:srgbClr val="EEF1F5"/>
          </a:solidFill>
          <a:ln/>
        </p:spPr>
      </p:sp>
      <p:sp>
        <p:nvSpPr>
          <p:cNvPr id="17" name="Text 15"/>
          <p:cNvSpPr txBox="1"/>
          <p:nvPr/>
        </p:nvSpPr>
        <p:spPr>
          <a:xfrm>
            <a:off x="320040"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604006"/>
            <a:ext cx="1566672" cy="384048"/>
          </a:xfrm>
          <a:prstGeom prst="roundRect">
            <a:avLst>
              <a:gd name="adj" fmla="val 23810"/>
            </a:avLst>
          </a:prstGeom>
          <a:solidFill>
            <a:srgbClr val="EEF1F5"/>
          </a:solidFill>
          <a:ln/>
        </p:spPr>
      </p:sp>
      <p:sp>
        <p:nvSpPr>
          <p:cNvPr id="19" name="Text 17"/>
          <p:cNvSpPr txBox="1"/>
          <p:nvPr/>
        </p:nvSpPr>
        <p:spPr>
          <a:xfrm>
            <a:off x="1959864"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604006"/>
            <a:ext cx="1566672" cy="384048"/>
          </a:xfrm>
          <a:prstGeom prst="roundRect">
            <a:avLst>
              <a:gd name="adj" fmla="val 23810"/>
            </a:avLst>
          </a:prstGeom>
          <a:solidFill>
            <a:srgbClr val="0369A1"/>
          </a:solidFill>
          <a:ln/>
        </p:spPr>
      </p:sp>
      <p:sp>
        <p:nvSpPr>
          <p:cNvPr id="21" name="Text 19"/>
          <p:cNvSpPr txBox="1"/>
          <p:nvPr/>
        </p:nvSpPr>
        <p:spPr>
          <a:xfrm>
            <a:off x="3599688"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4061206"/>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3" name="Shape 21"/>
          <p:cNvSpPr/>
          <p:nvPr/>
        </p:nvSpPr>
        <p:spPr>
          <a:xfrm>
            <a:off x="320040" y="4536694"/>
            <a:ext cx="4846320" cy="1264920"/>
          </a:xfrm>
          <a:prstGeom prst="roundRect">
            <a:avLst>
              <a:gd name="adj" fmla="val 10120"/>
            </a:avLst>
          </a:prstGeom>
          <a:solidFill>
            <a:srgbClr val="DFF1FB"/>
          </a:solidFill>
          <a:ln/>
        </p:spPr>
      </p:sp>
      <p:sp>
        <p:nvSpPr>
          <p:cNvPr id="24" name="Text 22"/>
          <p:cNvSpPr txBox="1"/>
          <p:nvPr/>
        </p:nvSpPr>
        <p:spPr>
          <a:xfrm>
            <a:off x="502920" y="4628134"/>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インターネットの向こう側にある、Microsoftのクラウドサービスの総称。</a:t>
            </a:r>
            <a:endParaRPr lang="en-US" sz="2000" dirty="0"/>
          </a:p>
        </p:txBody>
      </p:sp>
      <p:sp>
        <p:nvSpPr>
          <p:cNvPr id="25" name="Shape 23"/>
          <p:cNvSpPr/>
          <p:nvPr/>
        </p:nvSpPr>
        <p:spPr>
          <a:xfrm>
            <a:off x="320040" y="5984494"/>
            <a:ext cx="4846320" cy="402336"/>
          </a:xfrm>
          <a:prstGeom prst="roundRect">
            <a:avLst>
              <a:gd name="adj" fmla="val 22727"/>
            </a:avLst>
          </a:prstGeom>
          <a:solidFill>
            <a:srgbClr val="0369A1"/>
          </a:solidFill>
          <a:ln/>
        </p:spPr>
      </p:sp>
      <p:sp>
        <p:nvSpPr>
          <p:cNvPr id="26" name="Text 24"/>
          <p:cNvSpPr txBox="1"/>
          <p:nvPr/>
        </p:nvSpPr>
        <p:spPr>
          <a:xfrm>
            <a:off x="411480" y="5984494"/>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41694"/>
            <a:ext cx="1371600" cy="3035808"/>
          </a:xfrm>
          <a:prstGeom prst="roundRect">
            <a:avLst>
              <a:gd name="adj" fmla="val 8000"/>
            </a:avLst>
          </a:prstGeom>
          <a:solidFill>
            <a:srgbClr val="0369A1"/>
          </a:solidFill>
          <a:ln/>
        </p:spPr>
      </p:sp>
      <p:sp>
        <p:nvSpPr>
          <p:cNvPr id="28" name="Text 26"/>
          <p:cNvSpPr txBox="1"/>
          <p:nvPr/>
        </p:nvSpPr>
        <p:spPr>
          <a:xfrm>
            <a:off x="411480" y="6441694"/>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Azure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9" name="Shape 27"/>
          <p:cNvSpPr/>
          <p:nvPr/>
        </p:nvSpPr>
        <p:spPr>
          <a:xfrm>
            <a:off x="3566160" y="6441694"/>
            <a:ext cx="1600200" cy="676656"/>
          </a:xfrm>
          <a:prstGeom prst="roundRect">
            <a:avLst>
              <a:gd name="adj" fmla="val 16216"/>
            </a:avLst>
          </a:prstGeom>
          <a:solidFill>
            <a:srgbClr val="DFF1FB"/>
          </a:solidFill>
          <a:ln w="25400">
            <a:solidFill>
              <a:srgbClr val="0369A1"/>
            </a:solidFill>
            <a:prstDash val="solid"/>
          </a:ln>
        </p:spPr>
      </p:sp>
      <p:sp>
        <p:nvSpPr>
          <p:cNvPr id="30" name="Text 28"/>
          <p:cNvSpPr txBox="1"/>
          <p:nvPr/>
        </p:nvSpPr>
        <p:spPr>
          <a:xfrm>
            <a:off x="3657600" y="64416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1" name="Shape 29"/>
          <p:cNvSpPr/>
          <p:nvPr/>
        </p:nvSpPr>
        <p:spPr>
          <a:xfrm>
            <a:off x="1719072" y="6780022"/>
            <a:ext cx="1819656" cy="0"/>
          </a:xfrm>
          <a:prstGeom prst="line">
            <a:avLst/>
          </a:prstGeom>
          <a:noFill/>
          <a:ln w="31750">
            <a:solidFill>
              <a:srgbClr val="1B2A3A"/>
            </a:solidFill>
            <a:prstDash val="solid"/>
            <a:tailEnd type="triangle"/>
          </a:ln>
        </p:spPr>
      </p:sp>
      <p:sp>
        <p:nvSpPr>
          <p:cNvPr id="32" name="Text 30"/>
          <p:cNvSpPr txBox="1"/>
          <p:nvPr/>
        </p:nvSpPr>
        <p:spPr>
          <a:xfrm>
            <a:off x="1700784" y="64782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3" name="Shape 31"/>
          <p:cNvSpPr/>
          <p:nvPr/>
        </p:nvSpPr>
        <p:spPr>
          <a:xfrm>
            <a:off x="3566160" y="7228078"/>
            <a:ext cx="1600200" cy="676656"/>
          </a:xfrm>
          <a:prstGeom prst="roundRect">
            <a:avLst>
              <a:gd name="adj" fmla="val 16216"/>
            </a:avLst>
          </a:prstGeom>
          <a:solidFill>
            <a:srgbClr val="DFF1FB"/>
          </a:solidFill>
          <a:ln w="25400">
            <a:solidFill>
              <a:srgbClr val="0369A1"/>
            </a:solidFill>
            <a:prstDash val="solid"/>
          </a:ln>
        </p:spPr>
      </p:sp>
      <p:sp>
        <p:nvSpPr>
          <p:cNvPr id="34" name="Text 32"/>
          <p:cNvSpPr txBox="1"/>
          <p:nvPr/>
        </p:nvSpPr>
        <p:spPr>
          <a:xfrm>
            <a:off x="3657600" y="72280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5" name="Shape 33"/>
          <p:cNvSpPr/>
          <p:nvPr/>
        </p:nvSpPr>
        <p:spPr>
          <a:xfrm>
            <a:off x="1719072" y="7566406"/>
            <a:ext cx="1819656" cy="0"/>
          </a:xfrm>
          <a:prstGeom prst="line">
            <a:avLst/>
          </a:prstGeom>
          <a:noFill/>
          <a:ln w="31750">
            <a:solidFill>
              <a:srgbClr val="1B2A3A"/>
            </a:solidFill>
            <a:prstDash val="solid"/>
            <a:tailEnd type="triangle"/>
          </a:ln>
        </p:spPr>
      </p:sp>
      <p:sp>
        <p:nvSpPr>
          <p:cNvPr id="36" name="Text 34"/>
          <p:cNvSpPr txBox="1"/>
          <p:nvPr/>
        </p:nvSpPr>
        <p:spPr>
          <a:xfrm>
            <a:off x="1700784" y="72646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7" name="Shape 35"/>
          <p:cNvSpPr/>
          <p:nvPr/>
        </p:nvSpPr>
        <p:spPr>
          <a:xfrm>
            <a:off x="3566160" y="8014462"/>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80144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39" name="Shape 37"/>
          <p:cNvSpPr/>
          <p:nvPr/>
        </p:nvSpPr>
        <p:spPr>
          <a:xfrm>
            <a:off x="1719072" y="8352790"/>
            <a:ext cx="1819656" cy="0"/>
          </a:xfrm>
          <a:prstGeom prst="line">
            <a:avLst/>
          </a:prstGeom>
          <a:noFill/>
          <a:ln w="31750">
            <a:solidFill>
              <a:srgbClr val="1B2A3A"/>
            </a:solidFill>
            <a:prstDash val="solid"/>
            <a:tailEnd type="triangle"/>
          </a:ln>
        </p:spPr>
      </p:sp>
      <p:sp>
        <p:nvSpPr>
          <p:cNvPr id="40" name="Text 38"/>
          <p:cNvSpPr txBox="1"/>
          <p:nvPr/>
        </p:nvSpPr>
        <p:spPr>
          <a:xfrm>
            <a:off x="1700784" y="80510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1" name="Shape 39"/>
          <p:cNvSpPr/>
          <p:nvPr/>
        </p:nvSpPr>
        <p:spPr>
          <a:xfrm>
            <a:off x="3566160" y="8800846"/>
            <a:ext cx="1600200" cy="676656"/>
          </a:xfrm>
          <a:prstGeom prst="roundRect">
            <a:avLst>
              <a:gd name="adj" fmla="val 16216"/>
            </a:avLst>
          </a:prstGeom>
          <a:solidFill>
            <a:srgbClr val="DCE8F8"/>
          </a:solidFill>
          <a:ln w="25400">
            <a:solidFill>
              <a:srgbClr val="2F6BC2"/>
            </a:solidFill>
            <a:prstDash val="solid"/>
          </a:ln>
        </p:spPr>
      </p:sp>
      <p:sp>
        <p:nvSpPr>
          <p:cNvPr id="42" name="Text 40"/>
          <p:cNvSpPr txBox="1"/>
          <p:nvPr/>
        </p:nvSpPr>
        <p:spPr>
          <a:xfrm>
            <a:off x="3657600" y="88008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3" name="Shape 41"/>
          <p:cNvSpPr/>
          <p:nvPr/>
        </p:nvSpPr>
        <p:spPr>
          <a:xfrm>
            <a:off x="1719072" y="9139174"/>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8374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連携する</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241</a:t>
            </a:fld>
            <a:endParaRPr lang="en-US"/>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Azure</a:t>
            </a:r>
            <a:endParaRPr lang="ja-JP" sz="2200" dirty="0"/>
          </a:p>
        </p:txBody>
      </p:sp>
      <p:sp>
        <p:nvSpPr>
          <p:cNvPr id="4" name="Shape 2"/>
          <p:cNvSpPr/>
          <p:nvPr/>
        </p:nvSpPr>
        <p:spPr>
          <a:xfrm>
            <a:off x="320040" y="1318514"/>
            <a:ext cx="4846320" cy="3117088"/>
          </a:xfrm>
          <a:prstGeom prst="roundRect">
            <a:avLst>
              <a:gd name="adj" fmla="val 4107"/>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読み：アジュール</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Azure（アジュール）は、Microsoftが提供するパブリッククラウドの名前です。仮想マシン、保存場所、データベース、AIなど、さまざまなサービスの総称で、世界各地のデータセンターで提供されます。</a:t>
            </a:r>
            <a:endParaRPr lang="en-US" sz="2000" dirty="0"/>
          </a:p>
        </p:txBody>
      </p:sp>
      <p:sp>
        <p:nvSpPr>
          <p:cNvPr id="7" name="Shape 5"/>
          <p:cNvSpPr/>
          <p:nvPr/>
        </p:nvSpPr>
        <p:spPr>
          <a:xfrm>
            <a:off x="320040" y="4508754"/>
            <a:ext cx="4846320" cy="2966720"/>
          </a:xfrm>
          <a:prstGeom prst="roundRect">
            <a:avLst>
              <a:gd name="adj" fmla="val 4315"/>
            </a:avLst>
          </a:prstGeom>
          <a:solidFill>
            <a:srgbClr val="DFF1FB"/>
          </a:solidFill>
          <a:ln/>
        </p:spPr>
      </p:sp>
      <p:sp>
        <p:nvSpPr>
          <p:cNvPr id="8" name="Text 6"/>
          <p:cNvSpPr txBox="1"/>
          <p:nvPr/>
        </p:nvSpPr>
        <p:spPr>
          <a:xfrm>
            <a:off x="502920" y="4600194"/>
            <a:ext cx="4480560" cy="28204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例は、仮想マシンの「Azure Virtual Machines」、オブジェクトストレージの「Azure Blob Storage」、データベースの「Azure SQL Database」です。WindowsやMicrosoft 365、アカウント管理（Microsoft Entra ID）と連携する機能もあります。</a:t>
            </a:r>
            <a:endParaRPr lang="en-US" sz="2000" dirty="0"/>
          </a:p>
        </p:txBody>
      </p:sp>
      <p:sp>
        <p:nvSpPr>
          <p:cNvPr id="9" name="Shape 7"/>
          <p:cNvSpPr/>
          <p:nvPr/>
        </p:nvSpPr>
        <p:spPr>
          <a:xfrm>
            <a:off x="320040" y="7548626"/>
            <a:ext cx="4846320" cy="1600200"/>
          </a:xfrm>
          <a:prstGeom prst="roundRect">
            <a:avLst>
              <a:gd name="adj" fmla="val 8000"/>
            </a:avLst>
          </a:prstGeom>
          <a:solidFill>
            <a:srgbClr val="FDEBD0"/>
          </a:solidFill>
          <a:ln/>
        </p:spPr>
      </p:sp>
      <p:sp>
        <p:nvSpPr>
          <p:cNvPr id="10" name="Text 8"/>
          <p:cNvSpPr txBox="1"/>
          <p:nvPr/>
        </p:nvSpPr>
        <p:spPr>
          <a:xfrm>
            <a:off x="502920" y="764006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IT部品の総合レンタル店の一つ。サーバー（仮想マシン）も倉庫（Blob Storage）もデータベースも、必要な分だけ借ります。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242</a:t>
            </a:fld>
            <a:endParaRPr lang="en-US"/>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Azure</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会社のWindowsサーバーの一部をAzureの仮想マシンに移す、社内システムのDBをAzure SQL Databaseで動かす、といった場面です。</a:t>
            </a:r>
            <a:endParaRPr lang="en-US" sz="2000" dirty="0"/>
          </a:p>
        </p:txBody>
      </p:sp>
      <p:sp>
        <p:nvSpPr>
          <p:cNvPr id="6" name="Shape 4"/>
          <p:cNvSpPr/>
          <p:nvPr/>
        </p:nvSpPr>
        <p:spPr>
          <a:xfrm>
            <a:off x="320040" y="3436874"/>
            <a:ext cx="4846320" cy="1600200"/>
          </a:xfrm>
          <a:prstGeom prst="roundRect">
            <a:avLst>
              <a:gd name="adj" fmla="val 8000"/>
            </a:avLst>
          </a:prstGeom>
          <a:solidFill>
            <a:srgbClr val="FBE3E0"/>
          </a:solidFill>
          <a:ln/>
        </p:spPr>
      </p:sp>
      <p:sp>
        <p:nvSpPr>
          <p:cNvPr id="7" name="Text 5"/>
          <p:cNvSpPr txBox="1"/>
          <p:nvPr/>
        </p:nvSpPr>
        <p:spPr>
          <a:xfrm>
            <a:off x="502920" y="3528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Azureは、Microsoft 365（Wordなどを使うサービス）とは別のサービスです。Azureはサーバーなどを借りる基盤です。</a:t>
            </a:r>
            <a:endParaRPr lang="en-US" sz="2000" dirty="0"/>
          </a:p>
        </p:txBody>
      </p:sp>
      <p:sp>
        <p:nvSpPr>
          <p:cNvPr id="8" name="Shape 6"/>
          <p:cNvSpPr/>
          <p:nvPr/>
        </p:nvSpPr>
        <p:spPr>
          <a:xfrm>
            <a:off x="320040" y="5219954"/>
            <a:ext cx="4846320" cy="1935480"/>
          </a:xfrm>
          <a:prstGeom prst="roundRect">
            <a:avLst>
              <a:gd name="adj" fmla="val 6614"/>
            </a:avLst>
          </a:prstGeom>
          <a:solidFill>
            <a:srgbClr val="DDF1E4"/>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公式の入門教材で全体像を学び、学習用環境で仮想マシンとストレージを作って削除まで試しましょう。料金上限も確認します。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243</a:t>
            </a:fld>
            <a:endParaRPr lang="en-US"/>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Google Cloud</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Googleが提供するパブリッククラウド。サーバー・データ分析・AIなどのサービスの総称。</a:t>
            </a:r>
            <a:endParaRPr lang="en-US" sz="1800" dirty="0"/>
          </a:p>
        </p:txBody>
      </p:sp>
      <p:sp>
        <p:nvSpPr>
          <p:cNvPr id="7" name="Text 5"/>
          <p:cNvSpPr txBox="1"/>
          <p:nvPr/>
        </p:nvSpPr>
        <p:spPr>
          <a:xfrm>
            <a:off x="320040" y="2817622"/>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3165094"/>
            <a:ext cx="1156716" cy="384048"/>
          </a:xfrm>
          <a:prstGeom prst="roundRect">
            <a:avLst>
              <a:gd name="adj" fmla="val 23810"/>
            </a:avLst>
          </a:prstGeom>
          <a:solidFill>
            <a:srgbClr val="EEF1F5"/>
          </a:solidFill>
          <a:ln/>
        </p:spPr>
      </p:sp>
      <p:sp>
        <p:nvSpPr>
          <p:cNvPr id="9" name="Text 7"/>
          <p:cNvSpPr txBox="1"/>
          <p:nvPr/>
        </p:nvSpPr>
        <p:spPr>
          <a:xfrm>
            <a:off x="320040"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3165094"/>
            <a:ext cx="1156716" cy="384048"/>
          </a:xfrm>
          <a:prstGeom prst="roundRect">
            <a:avLst>
              <a:gd name="adj" fmla="val 23810"/>
            </a:avLst>
          </a:prstGeom>
          <a:solidFill>
            <a:srgbClr val="EEF1F5"/>
          </a:solidFill>
          <a:ln/>
        </p:spPr>
      </p:sp>
      <p:sp>
        <p:nvSpPr>
          <p:cNvPr id="11" name="Text 9"/>
          <p:cNvSpPr txBox="1"/>
          <p:nvPr/>
        </p:nvSpPr>
        <p:spPr>
          <a:xfrm>
            <a:off x="1549908"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3165094"/>
            <a:ext cx="1156716" cy="384048"/>
          </a:xfrm>
          <a:prstGeom prst="roundRect">
            <a:avLst>
              <a:gd name="adj" fmla="val 23810"/>
            </a:avLst>
          </a:prstGeom>
          <a:solidFill>
            <a:srgbClr val="EEF1F5"/>
          </a:solidFill>
          <a:ln/>
        </p:spPr>
      </p:sp>
      <p:sp>
        <p:nvSpPr>
          <p:cNvPr id="13" name="Text 11"/>
          <p:cNvSpPr txBox="1"/>
          <p:nvPr/>
        </p:nvSpPr>
        <p:spPr>
          <a:xfrm>
            <a:off x="2779776"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3165094"/>
            <a:ext cx="1156716" cy="384048"/>
          </a:xfrm>
          <a:prstGeom prst="roundRect">
            <a:avLst>
              <a:gd name="adj" fmla="val 23810"/>
            </a:avLst>
          </a:prstGeom>
          <a:solidFill>
            <a:srgbClr val="EEF1F5"/>
          </a:solidFill>
          <a:ln/>
        </p:spPr>
      </p:sp>
      <p:sp>
        <p:nvSpPr>
          <p:cNvPr id="15" name="Text 13"/>
          <p:cNvSpPr txBox="1"/>
          <p:nvPr/>
        </p:nvSpPr>
        <p:spPr>
          <a:xfrm>
            <a:off x="4009644"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604006"/>
            <a:ext cx="1566672" cy="384048"/>
          </a:xfrm>
          <a:prstGeom prst="roundRect">
            <a:avLst>
              <a:gd name="adj" fmla="val 23810"/>
            </a:avLst>
          </a:prstGeom>
          <a:solidFill>
            <a:srgbClr val="EEF1F5"/>
          </a:solidFill>
          <a:ln/>
        </p:spPr>
      </p:sp>
      <p:sp>
        <p:nvSpPr>
          <p:cNvPr id="17" name="Text 15"/>
          <p:cNvSpPr txBox="1"/>
          <p:nvPr/>
        </p:nvSpPr>
        <p:spPr>
          <a:xfrm>
            <a:off x="320040"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604006"/>
            <a:ext cx="1566672" cy="384048"/>
          </a:xfrm>
          <a:prstGeom prst="roundRect">
            <a:avLst>
              <a:gd name="adj" fmla="val 23810"/>
            </a:avLst>
          </a:prstGeom>
          <a:solidFill>
            <a:srgbClr val="EEF1F5"/>
          </a:solidFill>
          <a:ln/>
        </p:spPr>
      </p:sp>
      <p:sp>
        <p:nvSpPr>
          <p:cNvPr id="19" name="Text 17"/>
          <p:cNvSpPr txBox="1"/>
          <p:nvPr/>
        </p:nvSpPr>
        <p:spPr>
          <a:xfrm>
            <a:off x="1959864"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604006"/>
            <a:ext cx="1566672" cy="384048"/>
          </a:xfrm>
          <a:prstGeom prst="roundRect">
            <a:avLst>
              <a:gd name="adj" fmla="val 23810"/>
            </a:avLst>
          </a:prstGeom>
          <a:solidFill>
            <a:srgbClr val="0369A1"/>
          </a:solidFill>
          <a:ln/>
        </p:spPr>
      </p:sp>
      <p:sp>
        <p:nvSpPr>
          <p:cNvPr id="21" name="Text 19"/>
          <p:cNvSpPr txBox="1"/>
          <p:nvPr/>
        </p:nvSpPr>
        <p:spPr>
          <a:xfrm>
            <a:off x="3599688"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4061206"/>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3" name="Shape 21"/>
          <p:cNvSpPr/>
          <p:nvPr/>
        </p:nvSpPr>
        <p:spPr>
          <a:xfrm>
            <a:off x="320040" y="4536694"/>
            <a:ext cx="4846320" cy="1264920"/>
          </a:xfrm>
          <a:prstGeom prst="roundRect">
            <a:avLst>
              <a:gd name="adj" fmla="val 10120"/>
            </a:avLst>
          </a:prstGeom>
          <a:solidFill>
            <a:srgbClr val="DFF1FB"/>
          </a:solidFill>
          <a:ln/>
        </p:spPr>
      </p:sp>
      <p:sp>
        <p:nvSpPr>
          <p:cNvPr id="24" name="Text 22"/>
          <p:cNvSpPr txBox="1"/>
          <p:nvPr/>
        </p:nvSpPr>
        <p:spPr>
          <a:xfrm>
            <a:off x="502920" y="4628134"/>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インターネットの向こう側にある、Googleのクラウドサービスの総称。</a:t>
            </a:r>
            <a:endParaRPr lang="en-US" sz="2000" dirty="0"/>
          </a:p>
        </p:txBody>
      </p:sp>
      <p:sp>
        <p:nvSpPr>
          <p:cNvPr id="25" name="Shape 23"/>
          <p:cNvSpPr/>
          <p:nvPr/>
        </p:nvSpPr>
        <p:spPr>
          <a:xfrm>
            <a:off x="320040" y="5984494"/>
            <a:ext cx="4846320" cy="402336"/>
          </a:xfrm>
          <a:prstGeom prst="roundRect">
            <a:avLst>
              <a:gd name="adj" fmla="val 22727"/>
            </a:avLst>
          </a:prstGeom>
          <a:solidFill>
            <a:srgbClr val="0369A1"/>
          </a:solidFill>
          <a:ln/>
        </p:spPr>
      </p:sp>
      <p:sp>
        <p:nvSpPr>
          <p:cNvPr id="26" name="Text 24"/>
          <p:cNvSpPr txBox="1"/>
          <p:nvPr/>
        </p:nvSpPr>
        <p:spPr>
          <a:xfrm>
            <a:off x="411480" y="5984494"/>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41694"/>
            <a:ext cx="1371600" cy="3822192"/>
          </a:xfrm>
          <a:prstGeom prst="roundRect">
            <a:avLst>
              <a:gd name="adj" fmla="val 8000"/>
            </a:avLst>
          </a:prstGeom>
          <a:solidFill>
            <a:srgbClr val="0369A1"/>
          </a:solidFill>
          <a:ln/>
        </p:spPr>
      </p:sp>
      <p:sp>
        <p:nvSpPr>
          <p:cNvPr id="28" name="Text 26"/>
          <p:cNvSpPr txBox="1"/>
          <p:nvPr/>
        </p:nvSpPr>
        <p:spPr>
          <a:xfrm>
            <a:off x="411480" y="6441694"/>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Google Cloud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29" name="Shape 27"/>
          <p:cNvSpPr/>
          <p:nvPr/>
        </p:nvSpPr>
        <p:spPr>
          <a:xfrm>
            <a:off x="3566160" y="6441694"/>
            <a:ext cx="1600200" cy="676656"/>
          </a:xfrm>
          <a:prstGeom prst="roundRect">
            <a:avLst>
              <a:gd name="adj" fmla="val 16216"/>
            </a:avLst>
          </a:prstGeom>
          <a:solidFill>
            <a:srgbClr val="DFF1FB"/>
          </a:solidFill>
          <a:ln w="25400">
            <a:solidFill>
              <a:srgbClr val="0369A1"/>
            </a:solidFill>
            <a:prstDash val="solid"/>
          </a:ln>
        </p:spPr>
      </p:sp>
      <p:sp>
        <p:nvSpPr>
          <p:cNvPr id="30" name="Text 28"/>
          <p:cNvSpPr txBox="1"/>
          <p:nvPr/>
        </p:nvSpPr>
        <p:spPr>
          <a:xfrm>
            <a:off x="3657600" y="64416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1" name="Shape 29"/>
          <p:cNvSpPr/>
          <p:nvPr/>
        </p:nvSpPr>
        <p:spPr>
          <a:xfrm>
            <a:off x="1719072" y="6780022"/>
            <a:ext cx="1819656" cy="0"/>
          </a:xfrm>
          <a:prstGeom prst="line">
            <a:avLst/>
          </a:prstGeom>
          <a:noFill/>
          <a:ln w="31750">
            <a:solidFill>
              <a:srgbClr val="1B2A3A"/>
            </a:solidFill>
            <a:prstDash val="solid"/>
            <a:tailEnd type="triangle"/>
          </a:ln>
        </p:spPr>
      </p:sp>
      <p:sp>
        <p:nvSpPr>
          <p:cNvPr id="32" name="Text 30"/>
          <p:cNvSpPr txBox="1"/>
          <p:nvPr/>
        </p:nvSpPr>
        <p:spPr>
          <a:xfrm>
            <a:off x="1700784" y="64782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3" name="Shape 31"/>
          <p:cNvSpPr/>
          <p:nvPr/>
        </p:nvSpPr>
        <p:spPr>
          <a:xfrm>
            <a:off x="3566160" y="7228078"/>
            <a:ext cx="1600200" cy="676656"/>
          </a:xfrm>
          <a:prstGeom prst="roundRect">
            <a:avLst>
              <a:gd name="adj" fmla="val 16216"/>
            </a:avLst>
          </a:prstGeom>
          <a:solidFill>
            <a:srgbClr val="DFF1FB"/>
          </a:solidFill>
          <a:ln w="25400">
            <a:solidFill>
              <a:srgbClr val="0369A1"/>
            </a:solidFill>
            <a:prstDash val="solid"/>
          </a:ln>
        </p:spPr>
      </p:sp>
      <p:sp>
        <p:nvSpPr>
          <p:cNvPr id="34" name="Text 32"/>
          <p:cNvSpPr txBox="1"/>
          <p:nvPr/>
        </p:nvSpPr>
        <p:spPr>
          <a:xfrm>
            <a:off x="3657600" y="72280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5" name="Shape 33"/>
          <p:cNvSpPr/>
          <p:nvPr/>
        </p:nvSpPr>
        <p:spPr>
          <a:xfrm>
            <a:off x="1719072" y="7566406"/>
            <a:ext cx="1819656" cy="0"/>
          </a:xfrm>
          <a:prstGeom prst="line">
            <a:avLst/>
          </a:prstGeom>
          <a:noFill/>
          <a:ln w="31750">
            <a:solidFill>
              <a:srgbClr val="1B2A3A"/>
            </a:solidFill>
            <a:prstDash val="solid"/>
            <a:tailEnd type="triangle"/>
          </a:ln>
        </p:spPr>
      </p:sp>
      <p:sp>
        <p:nvSpPr>
          <p:cNvPr id="36" name="Text 34"/>
          <p:cNvSpPr txBox="1"/>
          <p:nvPr/>
        </p:nvSpPr>
        <p:spPr>
          <a:xfrm>
            <a:off x="1700784" y="72646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7" name="Shape 35"/>
          <p:cNvSpPr/>
          <p:nvPr/>
        </p:nvSpPr>
        <p:spPr>
          <a:xfrm>
            <a:off x="3566160" y="8014462"/>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80144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39" name="Shape 37"/>
          <p:cNvSpPr/>
          <p:nvPr/>
        </p:nvSpPr>
        <p:spPr>
          <a:xfrm>
            <a:off x="1719072" y="8352790"/>
            <a:ext cx="1819656" cy="0"/>
          </a:xfrm>
          <a:prstGeom prst="line">
            <a:avLst/>
          </a:prstGeom>
          <a:noFill/>
          <a:ln w="31750">
            <a:solidFill>
              <a:srgbClr val="1B2A3A"/>
            </a:solidFill>
            <a:prstDash val="solid"/>
            <a:tailEnd type="triangle"/>
          </a:ln>
        </p:spPr>
      </p:sp>
      <p:sp>
        <p:nvSpPr>
          <p:cNvPr id="40" name="Text 38"/>
          <p:cNvSpPr txBox="1"/>
          <p:nvPr/>
        </p:nvSpPr>
        <p:spPr>
          <a:xfrm>
            <a:off x="1700784" y="80510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1" name="Shape 39"/>
          <p:cNvSpPr/>
          <p:nvPr/>
        </p:nvSpPr>
        <p:spPr>
          <a:xfrm>
            <a:off x="3566160" y="8800846"/>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8008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a:off x="1719072" y="9139174"/>
            <a:ext cx="1819656" cy="0"/>
          </a:xfrm>
          <a:prstGeom prst="line">
            <a:avLst/>
          </a:prstGeom>
          <a:noFill/>
          <a:ln w="31750">
            <a:solidFill>
              <a:srgbClr val="1B2A3A"/>
            </a:solidFill>
            <a:prstDash val="solid"/>
            <a:tailEnd type="triangle"/>
          </a:ln>
        </p:spPr>
      </p:sp>
      <p:sp>
        <p:nvSpPr>
          <p:cNvPr id="44" name="Text 42"/>
          <p:cNvSpPr txBox="1"/>
          <p:nvPr/>
        </p:nvSpPr>
        <p:spPr>
          <a:xfrm>
            <a:off x="1700784" y="88374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分析を支える</a:t>
            </a:r>
            <a:endParaRPr lang="en-US" sz="1500" dirty="0"/>
          </a:p>
        </p:txBody>
      </p:sp>
      <p:sp>
        <p:nvSpPr>
          <p:cNvPr id="45" name="Shape 43"/>
          <p:cNvSpPr/>
          <p:nvPr/>
        </p:nvSpPr>
        <p:spPr>
          <a:xfrm>
            <a:off x="3566160" y="9587230"/>
            <a:ext cx="1600200" cy="676656"/>
          </a:xfrm>
          <a:prstGeom prst="roundRect">
            <a:avLst>
              <a:gd name="adj" fmla="val 16216"/>
            </a:avLst>
          </a:prstGeom>
          <a:solidFill>
            <a:srgbClr val="DDF1E4"/>
          </a:solidFill>
          <a:ln w="25400">
            <a:solidFill>
              <a:srgbClr val="237A48"/>
            </a:solidFill>
            <a:prstDash val="solid"/>
          </a:ln>
        </p:spPr>
      </p:sp>
      <p:sp>
        <p:nvSpPr>
          <p:cNvPr id="46" name="Text 44"/>
          <p:cNvSpPr txBox="1"/>
          <p:nvPr/>
        </p:nvSpPr>
        <p:spPr>
          <a:xfrm>
            <a:off x="3657600" y="95872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7" name="Shape 45"/>
          <p:cNvSpPr/>
          <p:nvPr/>
        </p:nvSpPr>
        <p:spPr>
          <a:xfrm>
            <a:off x="1719072" y="9925558"/>
            <a:ext cx="1819656" cy="0"/>
          </a:xfrm>
          <a:prstGeom prst="line">
            <a:avLst/>
          </a:prstGeom>
          <a:noFill/>
          <a:ln w="31750">
            <a:solidFill>
              <a:srgbClr val="1B2A3A"/>
            </a:solidFill>
            <a:prstDash val="solid"/>
            <a:tailEnd type="triangle"/>
          </a:ln>
        </p:spPr>
      </p:sp>
      <p:sp>
        <p:nvSpPr>
          <p:cNvPr id="48" name="Text 46"/>
          <p:cNvSpPr txBox="1"/>
          <p:nvPr/>
        </p:nvSpPr>
        <p:spPr>
          <a:xfrm>
            <a:off x="1700784" y="96238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244</a:t>
            </a:fld>
            <a:endParaRPr lang="en-US"/>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Google Cloud</a:t>
            </a:r>
            <a:endParaRPr lang="ja-JP" sz="2200" dirty="0"/>
          </a:p>
        </p:txBody>
      </p:sp>
      <p:sp>
        <p:nvSpPr>
          <p:cNvPr id="4" name="Shape 2"/>
          <p:cNvSpPr/>
          <p:nvPr/>
        </p:nvSpPr>
        <p:spPr>
          <a:xfrm>
            <a:off x="320040" y="1318514"/>
            <a:ext cx="4846320" cy="3117088"/>
          </a:xfrm>
          <a:prstGeom prst="roundRect">
            <a:avLst>
              <a:gd name="adj" fmla="val 4107"/>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読み：グーグル・クラウド（GCP）</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Google Cloud（GCPと略されることもあります）は、Googleが提供するパブリッククラウドの名前です。サーバー、保存場所、データベース、AIなどのサービスを、使った分の料金で借りられます。</a:t>
            </a:r>
            <a:endParaRPr lang="en-US" sz="2000" dirty="0"/>
          </a:p>
        </p:txBody>
      </p:sp>
      <p:sp>
        <p:nvSpPr>
          <p:cNvPr id="7" name="Shape 5"/>
          <p:cNvSpPr/>
          <p:nvPr/>
        </p:nvSpPr>
        <p:spPr>
          <a:xfrm>
            <a:off x="320040" y="4508754"/>
            <a:ext cx="4846320" cy="2631440"/>
          </a:xfrm>
          <a:prstGeom prst="roundRect">
            <a:avLst>
              <a:gd name="adj" fmla="val 4865"/>
            </a:avLst>
          </a:prstGeom>
          <a:solidFill>
            <a:srgbClr val="DFF1FB"/>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例は、仮想マシンの「Compute Engine」、オブジェクトストレージの「Cloud Storage」、大量データを分析する「BigQuery」です。データ分析や機械学習のサービスが用意され、研究や分析の場面でも使われます。</a:t>
            </a:r>
            <a:endParaRPr lang="en-US" sz="2000" dirty="0"/>
          </a:p>
        </p:txBody>
      </p:sp>
      <p:sp>
        <p:nvSpPr>
          <p:cNvPr id="9" name="Shape 7"/>
          <p:cNvSpPr/>
          <p:nvPr/>
        </p:nvSpPr>
        <p:spPr>
          <a:xfrm>
            <a:off x="320040" y="7213346"/>
            <a:ext cx="4846320" cy="1600200"/>
          </a:xfrm>
          <a:prstGeom prst="roundRect">
            <a:avLst>
              <a:gd name="adj" fmla="val 8000"/>
            </a:avLst>
          </a:prstGeom>
          <a:solidFill>
            <a:srgbClr val="FDEBD0"/>
          </a:solidFill>
          <a:ln/>
        </p:spPr>
      </p:sp>
      <p:sp>
        <p:nvSpPr>
          <p:cNvPr id="10" name="Text 8"/>
          <p:cNvSpPr txBox="1"/>
          <p:nvPr/>
        </p:nvSpPr>
        <p:spPr>
          <a:xfrm>
            <a:off x="502920" y="7304786"/>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IT部品の総合レンタル店の一つ。部屋（Compute Engine）・倉庫（Cloud Storage）・分析ラボ（BigQuery）が並びます。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245</a:t>
            </a:fld>
            <a:endParaRPr lang="en-US"/>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Google Cloud</a:t>
            </a:r>
            <a:endParaRPr lang="ja-JP" sz="2200" dirty="0"/>
          </a:p>
        </p:txBody>
      </p:sp>
      <p:sp>
        <p:nvSpPr>
          <p:cNvPr id="4" name="Shape 2"/>
          <p:cNvSpPr/>
          <p:nvPr/>
        </p:nvSpPr>
        <p:spPr>
          <a:xfrm>
            <a:off x="320040" y="1318514"/>
            <a:ext cx="4846320" cy="1600200"/>
          </a:xfrm>
          <a:prstGeom prst="roundRect">
            <a:avLst>
              <a:gd name="adj" fmla="val 8000"/>
            </a:avLst>
          </a:prstGeom>
          <a:solidFill>
            <a:srgbClr val="DCE8F8"/>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大量のアクセスログを集めて分析する、研究室で計算用のVMを借りる、といった場面で名前が出ます。</a:t>
            </a:r>
            <a:endParaRPr lang="en-US" sz="2000" dirty="0"/>
          </a:p>
        </p:txBody>
      </p:sp>
      <p:sp>
        <p:nvSpPr>
          <p:cNvPr id="6" name="Shape 4"/>
          <p:cNvSpPr/>
          <p:nvPr/>
        </p:nvSpPr>
        <p:spPr>
          <a:xfrm>
            <a:off x="320040" y="3101594"/>
            <a:ext cx="4846320" cy="1600200"/>
          </a:xfrm>
          <a:prstGeom prst="roundRect">
            <a:avLst>
              <a:gd name="adj" fmla="val 8000"/>
            </a:avLst>
          </a:prstGeom>
          <a:solidFill>
            <a:srgbClr val="FBE3E0"/>
          </a:solidFill>
          <a:ln/>
        </p:spPr>
      </p:sp>
      <p:sp>
        <p:nvSpPr>
          <p:cNvPr id="7" name="Text 5"/>
          <p:cNvSpPr txBox="1"/>
          <p:nvPr/>
        </p:nvSpPr>
        <p:spPr>
          <a:xfrm>
            <a:off x="502920" y="319303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Google Cloudはサーバーなどを借りる基盤サービスです。Gmailのように「使うだけ」のサービスとは役割が違います。</a:t>
            </a:r>
            <a:endParaRPr lang="en-US" sz="2000" dirty="0"/>
          </a:p>
        </p:txBody>
      </p:sp>
      <p:sp>
        <p:nvSpPr>
          <p:cNvPr id="8" name="Shape 6"/>
          <p:cNvSpPr/>
          <p:nvPr/>
        </p:nvSpPr>
        <p:spPr>
          <a:xfrm>
            <a:off x="320040" y="4884674"/>
            <a:ext cx="4846320" cy="1600200"/>
          </a:xfrm>
          <a:prstGeom prst="roundRect">
            <a:avLst>
              <a:gd name="adj" fmla="val 8000"/>
            </a:avLst>
          </a:prstGeom>
          <a:solidFill>
            <a:srgbClr val="DDF1E4"/>
          </a:solidFill>
          <a:ln/>
        </p:spPr>
      </p:sp>
      <p:sp>
        <p:nvSpPr>
          <p:cNvPr id="9" name="Text 7"/>
          <p:cNvSpPr txBox="1"/>
          <p:nvPr/>
        </p:nvSpPr>
        <p:spPr>
          <a:xfrm>
            <a:off x="502920" y="49761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公式の入門教材で全体像を学び、学習用環境でサービスを1つ作って削除まで試しましょう。料金上限も確認します。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246</a:t>
            </a:fld>
            <a:endParaRPr lang="en-US"/>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クラウドの仮想サーバー</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クラウド上で借りる仮想のコンピューター。必要なときに作り、不要になれば削除する。</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0B7A7A"/>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0B7A7A"/>
                </a:solidFill>
                <a:latin typeface="Yu Gothic" pitchFamily="34" charset="0"/>
                <a:ea typeface="Yu Gothic" pitchFamily="34" charset="-122"/>
                <a:cs typeface="Yu Gothic" pitchFamily="34" charset="-120"/>
              </a:rPr>
              <a:t>仮想化</a:t>
            </a:r>
            <a:pPr indent="0" marL="0">
              <a:buNone/>
            </a:pPr>
            <a:r>
              <a:rPr lang="ja-JP" altLang="en-US" sz="1400" dirty="0">
                <a:solidFill>
                  <a:srgbClr val="1B2A3A"/>
                </a:solidFill>
                <a:latin typeface="Yu Gothic" pitchFamily="34" charset="0"/>
                <a:ea typeface="Yu Gothic" pitchFamily="34" charset="-122"/>
                <a:cs typeface="Yu Gothic" pitchFamily="34" charset="-120"/>
              </a:rPr>
              <a:t>　1台を分けて使う・箱に詰める</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4" name="Shape 22"/>
          <p:cNvSpPr/>
          <p:nvPr/>
        </p:nvSpPr>
        <p:spPr>
          <a:xfrm>
            <a:off x="320040" y="4509262"/>
            <a:ext cx="4846320" cy="1264920"/>
          </a:xfrm>
          <a:prstGeom prst="roundRect">
            <a:avLst>
              <a:gd name="adj" fmla="val 10120"/>
            </a:avLst>
          </a:prstGeom>
          <a:solidFill>
            <a:srgbClr val="DFF1FB"/>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クラウド事業者の設備の上に作られ、ネット経由で操作する仮想マシン。</a:t>
            </a:r>
            <a:endParaRPr lang="en-US" sz="2000" dirty="0"/>
          </a:p>
        </p:txBody>
      </p:sp>
      <p:sp>
        <p:nvSpPr>
          <p:cNvPr id="26" name="Shape 24"/>
          <p:cNvSpPr/>
          <p:nvPr/>
        </p:nvSpPr>
        <p:spPr>
          <a:xfrm>
            <a:off x="320040" y="5957062"/>
            <a:ext cx="4846320" cy="402336"/>
          </a:xfrm>
          <a:prstGeom prst="roundRect">
            <a:avLst>
              <a:gd name="adj" fmla="val 22727"/>
            </a:avLst>
          </a:prstGeom>
          <a:solidFill>
            <a:srgbClr val="0369A1"/>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0369A1"/>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クラウド仮想サーバー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8"/>
          <p:cNvSpPr/>
          <p:nvPr/>
        </p:nvSpPr>
        <p:spPr>
          <a:xfrm>
            <a:off x="3566160" y="6414262"/>
            <a:ext cx="1600200" cy="676656"/>
          </a:xfrm>
          <a:prstGeom prst="roundRect">
            <a:avLst>
              <a:gd name="adj" fmla="val 16216"/>
            </a:avLst>
          </a:prstGeom>
          <a:solidFill>
            <a:srgbClr val="D9F2F1"/>
          </a:solidFill>
          <a:ln w="25400">
            <a:solidFill>
              <a:srgbClr val="0B7A7A"/>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4" name="Shape 32"/>
          <p:cNvSpPr/>
          <p:nvPr/>
        </p:nvSpPr>
        <p:spPr>
          <a:xfrm>
            <a:off x="3566160" y="7200646"/>
            <a:ext cx="1600200" cy="676656"/>
          </a:xfrm>
          <a:prstGeom prst="roundRect">
            <a:avLst>
              <a:gd name="adj" fmla="val 16216"/>
            </a:avLst>
          </a:prstGeom>
          <a:solidFill>
            <a:srgbClr val="D9F2F1"/>
          </a:solidFill>
          <a:ln w="25400">
            <a:solidFill>
              <a:srgbClr val="0B7A7A"/>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上で動く</a:t>
            </a:r>
            <a:endParaRPr lang="en-US" sz="1500" dirty="0"/>
          </a:p>
        </p:txBody>
      </p:sp>
      <p:sp>
        <p:nvSpPr>
          <p:cNvPr id="38" name="Shape 36"/>
          <p:cNvSpPr/>
          <p:nvPr/>
        </p:nvSpPr>
        <p:spPr>
          <a:xfrm>
            <a:off x="3566160" y="7987030"/>
            <a:ext cx="1600200" cy="676656"/>
          </a:xfrm>
          <a:prstGeom prst="roundRect">
            <a:avLst>
              <a:gd name="adj" fmla="val 16216"/>
            </a:avLst>
          </a:prstGeom>
          <a:solidFill>
            <a:srgbClr val="DFF1FB"/>
          </a:solidFill>
          <a:ln w="25400">
            <a:solidFill>
              <a:srgbClr val="0369A1"/>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0" name="Shape 38"/>
          <p:cNvSpPr/>
          <p:nvPr/>
        </p:nvSpPr>
        <p:spPr>
          <a:xfrm flipH="1">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2" name="Shape 40"/>
          <p:cNvSpPr/>
          <p:nvPr/>
        </p:nvSpPr>
        <p:spPr>
          <a:xfrm>
            <a:off x="3566160" y="8773414"/>
            <a:ext cx="1600200" cy="676656"/>
          </a:xfrm>
          <a:prstGeom prst="roundRect">
            <a:avLst>
              <a:gd name="adj" fmla="val 16216"/>
            </a:avLst>
          </a:prstGeom>
          <a:solidFill>
            <a:srgbClr val="DFF1FB"/>
          </a:solidFill>
          <a:ln w="25400">
            <a:solidFill>
              <a:srgbClr val="0369A1"/>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マネージドサービス</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headEnd type="triangle"/>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6" name="Shape 44"/>
          <p:cNvSpPr/>
          <p:nvPr/>
        </p:nvSpPr>
        <p:spPr>
          <a:xfrm>
            <a:off x="3566160" y="9559798"/>
            <a:ext cx="1600200" cy="676656"/>
          </a:xfrm>
          <a:prstGeom prst="roundRect">
            <a:avLst>
              <a:gd name="adj" fmla="val 16216"/>
            </a:avLst>
          </a:prstGeom>
          <a:solidFill>
            <a:srgbClr val="DCE8F8"/>
          </a:solidFill>
          <a:ln w="25400">
            <a:solidFill>
              <a:srgbClr val="2F6BC2"/>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8" name="Shape 46"/>
          <p:cNvSpPr/>
          <p:nvPr/>
        </p:nvSpPr>
        <p:spPr>
          <a:xfrm>
            <a:off x="1719072" y="9898126"/>
            <a:ext cx="1819656" cy="0"/>
          </a:xfrm>
          <a:prstGeom prst="line">
            <a:avLst/>
          </a:prstGeom>
          <a:noFill/>
          <a:ln w="31750">
            <a:solidFill>
              <a:srgbClr val="1B2A3A"/>
            </a:solidFill>
            <a:prstDash val="solid"/>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自分で管理</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247</a:t>
            </a:fld>
            <a:endParaRPr lang="en-US"/>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クラウドの仮想サーバー</a:t>
            </a:r>
            <a:endParaRPr lang="ja-JP" sz="2200" dirty="0"/>
          </a:p>
        </p:txBody>
      </p:sp>
      <p:sp>
        <p:nvSpPr>
          <p:cNvPr id="4" name="Shape 2"/>
          <p:cNvSpPr/>
          <p:nvPr/>
        </p:nvSpPr>
        <p:spPr>
          <a:xfrm>
            <a:off x="320040" y="1318514"/>
            <a:ext cx="4846320" cy="3452368"/>
          </a:xfrm>
          <a:prstGeom prst="roundRect">
            <a:avLst>
              <a:gd name="adj" fmla="val 3708"/>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読み：EC2・Virtual Machines・Compute Engineなど</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クラウドの仮想サーバーは、クラウド事業者の設備に作るVMを借りて使うサービスです。AWSではAmazon EC2、AzureではAzure Virtual Machines、Google CloudではCompute Engineがこれにあたります。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DFF1FB"/>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画面でCPU数・メモリ・OSを選ぶと、VMが起動します。使い終えたら停止・削除できます。責任の分け方が大切で、サーバー本体と仮想化の部分は事業者、VM内のOS更新・アプリ・セキュリティ設定は利用者が管理します。</a:t>
            </a:r>
            <a:endParaRPr lang="en-US" sz="2000" dirty="0"/>
          </a:p>
        </p:txBody>
      </p:sp>
      <p:sp>
        <p:nvSpPr>
          <p:cNvPr id="9" name="Shape 7"/>
          <p:cNvSpPr/>
          <p:nvPr/>
        </p:nvSpPr>
        <p:spPr>
          <a:xfrm>
            <a:off x="320040" y="7548626"/>
            <a:ext cx="4846320" cy="1935480"/>
          </a:xfrm>
          <a:prstGeom prst="roundRect">
            <a:avLst>
              <a:gd name="adj" fmla="val 6614"/>
            </a:avLst>
          </a:prstGeom>
          <a:solidFill>
            <a:srgbClr val="FDEBD0"/>
          </a:solidFill>
          <a:ln/>
        </p:spPr>
      </p:sp>
      <p:sp>
        <p:nvSpPr>
          <p:cNvPr id="10" name="Text 8"/>
          <p:cNvSpPr txBox="1"/>
          <p:nvPr/>
        </p:nvSpPr>
        <p:spPr>
          <a:xfrm>
            <a:off x="502920" y="764006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レンタルのパソコン。置き場所や電気、部品の故障対応は貸す会社が担当し、中にソフトを入れて設定する作業は借りた人がします。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248</a:t>
            </a:fld>
            <a:endParaRPr lang="en-US"/>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クラウドの仮想サーバー</a:t>
            </a:r>
            <a:endParaRPr lang="ja-JP" sz="2200" dirty="0"/>
          </a:p>
        </p:txBody>
      </p:sp>
      <p:sp>
        <p:nvSpPr>
          <p:cNvPr id="4" name="Shape 2"/>
          <p:cNvSpPr/>
          <p:nvPr/>
        </p:nvSpPr>
        <p:spPr>
          <a:xfrm>
            <a:off x="320040" y="1318514"/>
            <a:ext cx="4846320" cy="1935480"/>
          </a:xfrm>
          <a:prstGeom prst="roundRect">
            <a:avLst>
              <a:gd name="adj" fmla="val 6614"/>
            </a:avLst>
          </a:prstGeom>
          <a:solidFill>
            <a:srgbClr val="DCE8F8"/>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Webサイトを公開するためLinuxのVMを借りてアプリを入れる、大きな計算のときだけ大きなVMを借りて終わったら削除する、といった場面です。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FBE3E0"/>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止め忘れると課金が続きます。OSの更新やセキュリティ設定は自分の担当で、「事業者が全部守ってくれる」わけではありません。</a:t>
            </a:r>
            <a:endParaRPr lang="en-US" sz="2000" dirty="0"/>
          </a:p>
        </p:txBody>
      </p:sp>
      <p:sp>
        <p:nvSpPr>
          <p:cNvPr id="8" name="Shape 6"/>
          <p:cNvSpPr/>
          <p:nvPr/>
        </p:nvSpPr>
        <p:spPr>
          <a:xfrm>
            <a:off x="320040" y="5555234"/>
            <a:ext cx="4846320" cy="1600200"/>
          </a:xfrm>
          <a:prstGeom prst="roundRect">
            <a:avLst>
              <a:gd name="adj" fmla="val 8000"/>
            </a:avLst>
          </a:prstGeom>
          <a:solidFill>
            <a:srgbClr val="DDF1E4"/>
          </a:solidFill>
          <a:ln/>
        </p:spPr>
      </p:sp>
      <p:sp>
        <p:nvSpPr>
          <p:cNvPr id="9" name="Text 7"/>
          <p:cNvSpPr txBox="1"/>
          <p:nvPr/>
        </p:nvSpPr>
        <p:spPr>
          <a:xfrm>
            <a:off x="502920" y="564667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学習用アカウントで、作成→接続→停止→削除を体験しましょう。削除し忘れると料金が続くことがあります。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249</a:t>
            </a:fld>
            <a:endParaRPr lang="en-US"/>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クラウドストレージ</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インターネット経由でデータを預ける、クラウド上の保存サービス。</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1B2A3A"/>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4" name="Shape 22"/>
          <p:cNvSpPr/>
          <p:nvPr/>
        </p:nvSpPr>
        <p:spPr>
          <a:xfrm>
            <a:off x="320040" y="4509262"/>
            <a:ext cx="4846320" cy="1264920"/>
          </a:xfrm>
          <a:prstGeom prst="roundRect">
            <a:avLst>
              <a:gd name="adj" fmla="val 10120"/>
            </a:avLst>
          </a:prstGeom>
          <a:solidFill>
            <a:srgbClr val="DFF1FB"/>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インターネットの向こう側にある、事業者の保存装置を使うサービス。</a:t>
            </a:r>
            <a:endParaRPr lang="en-US" sz="2000" dirty="0"/>
          </a:p>
        </p:txBody>
      </p:sp>
      <p:sp>
        <p:nvSpPr>
          <p:cNvPr id="26" name="Shape 24"/>
          <p:cNvSpPr/>
          <p:nvPr/>
        </p:nvSpPr>
        <p:spPr>
          <a:xfrm>
            <a:off x="320040" y="5957062"/>
            <a:ext cx="4846320" cy="402336"/>
          </a:xfrm>
          <a:prstGeom prst="roundRect">
            <a:avLst>
              <a:gd name="adj" fmla="val 22727"/>
            </a:avLst>
          </a:prstGeom>
          <a:solidFill>
            <a:srgbClr val="0369A1"/>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0369A1"/>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8"/>
          <p:cNvSpPr/>
          <p:nvPr/>
        </p:nvSpPr>
        <p:spPr>
          <a:xfrm>
            <a:off x="3566160" y="6414262"/>
            <a:ext cx="1600200" cy="676656"/>
          </a:xfrm>
          <a:prstGeom prst="roundRect">
            <a:avLst>
              <a:gd name="adj" fmla="val 16216"/>
            </a:avLst>
          </a:prstGeom>
          <a:solidFill>
            <a:srgbClr val="DFF1FB"/>
          </a:solidFill>
          <a:ln w="25400">
            <a:solidFill>
              <a:srgbClr val="0369A1"/>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Amazon S3</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2" name="Shape 30"/>
          <p:cNvSpPr/>
          <p:nvPr/>
        </p:nvSpPr>
        <p:spPr>
          <a:xfrm flipH="1">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34" name="Shape 32"/>
          <p:cNvSpPr/>
          <p:nvPr/>
        </p:nvSpPr>
        <p:spPr>
          <a:xfrm>
            <a:off x="3566160" y="7200646"/>
            <a:ext cx="1600200" cy="676656"/>
          </a:xfrm>
          <a:prstGeom prst="roundRect">
            <a:avLst>
              <a:gd name="adj" fmla="val 16216"/>
            </a:avLst>
          </a:prstGeom>
          <a:solidFill>
            <a:srgbClr val="E2E8F0"/>
          </a:solidFill>
          <a:ln w="25400">
            <a:solidFill>
              <a:srgbClr val="475569"/>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8" name="Shape 36"/>
          <p:cNvSpPr/>
          <p:nvPr/>
        </p:nvSpPr>
        <p:spPr>
          <a:xfrm>
            <a:off x="3566160" y="7987030"/>
            <a:ext cx="1600200" cy="676656"/>
          </a:xfrm>
          <a:prstGeom prst="roundRect">
            <a:avLst>
              <a:gd name="adj" fmla="val 16216"/>
            </a:avLst>
          </a:prstGeom>
          <a:solidFill>
            <a:srgbClr val="DFF1FB"/>
          </a:solidFill>
          <a:ln w="25400">
            <a:solidFill>
              <a:srgbClr val="0369A1"/>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40" name="Shape 38"/>
          <p:cNvSpPr/>
          <p:nvPr/>
        </p:nvSpPr>
        <p:spPr>
          <a:xfrm flipH="1">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主な仕組み</a:t>
            </a:r>
            <a:endParaRPr lang="en-US" sz="1500" dirty="0"/>
          </a:p>
        </p:txBody>
      </p:sp>
      <p:sp>
        <p:nvSpPr>
          <p:cNvPr id="42" name="Shape 40"/>
          <p:cNvSpPr/>
          <p:nvPr/>
        </p:nvSpPr>
        <p:spPr>
          <a:xfrm>
            <a:off x="3566160" y="8773414"/>
            <a:ext cx="1600200" cy="676656"/>
          </a:xfrm>
          <a:prstGeom prst="roundRect">
            <a:avLst>
              <a:gd name="adj" fmla="val 16216"/>
            </a:avLst>
          </a:prstGeom>
          <a:solidFill>
            <a:srgbClr val="E2E8F0"/>
          </a:solidFill>
          <a:ln w="25400">
            <a:solidFill>
              <a:srgbClr val="475569"/>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置き場になる</a:t>
            </a:r>
            <a:endParaRPr lang="en-US" sz="1500" dirty="0"/>
          </a:p>
        </p:txBody>
      </p:sp>
      <p:sp>
        <p:nvSpPr>
          <p:cNvPr id="46" name="Shape 44"/>
          <p:cNvSpPr/>
          <p:nvPr/>
        </p:nvSpPr>
        <p:spPr>
          <a:xfrm>
            <a:off x="3566160" y="9559798"/>
            <a:ext cx="1600200" cy="676656"/>
          </a:xfrm>
          <a:prstGeom prst="roundRect">
            <a:avLst>
              <a:gd name="adj" fmla="val 16216"/>
            </a:avLst>
          </a:prstGeom>
          <a:solidFill>
            <a:srgbClr val="DFF1FB"/>
          </a:solidFill>
          <a:ln w="25400">
            <a:solidFill>
              <a:srgbClr val="0369A1"/>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8" name="Shape 46"/>
          <p:cNvSpPr/>
          <p:nvPr/>
        </p:nvSpPr>
        <p:spPr>
          <a:xfrm flipH="1">
            <a:off x="1719072" y="9898126"/>
            <a:ext cx="1819656" cy="0"/>
          </a:xfrm>
          <a:prstGeom prst="line">
            <a:avLst/>
          </a:prstGeom>
          <a:noFill/>
          <a:ln w="31750">
            <a:solidFill>
              <a:srgbClr val="1B2A3A"/>
            </a:solidFill>
            <a:prstDash val="solid"/>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250</a:t>
            </a:fld>
            <a:endParaRPr lang="en-US"/>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クラウドストレージ</a:t>
            </a:r>
            <a:endParaRPr lang="ja-JP" sz="2200" dirty="0"/>
          </a:p>
        </p:txBody>
      </p:sp>
      <p:sp>
        <p:nvSpPr>
          <p:cNvPr id="4" name="Shape 2"/>
          <p:cNvSpPr/>
          <p:nvPr/>
        </p:nvSpPr>
        <p:spPr>
          <a:xfrm>
            <a:off x="320040" y="1318514"/>
            <a:ext cx="4846320" cy="3117088"/>
          </a:xfrm>
          <a:prstGeom prst="roundRect">
            <a:avLst>
              <a:gd name="adj" fmla="val 4107"/>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読み：Cloud Storage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クラウドストレージは、事業者のデータセンターにあるストレージ（保存装置）を、インターネット経由で借りて使うサービスです。自分の機械ではなく、ネットの向こうに預けます。</a:t>
            </a:r>
            <a:endParaRPr lang="en-US" sz="2000" dirty="0"/>
          </a:p>
        </p:txBody>
      </p:sp>
      <p:sp>
        <p:nvSpPr>
          <p:cNvPr id="7" name="Shape 5"/>
          <p:cNvSpPr/>
          <p:nvPr/>
        </p:nvSpPr>
        <p:spPr>
          <a:xfrm>
            <a:off x="320040" y="4508754"/>
            <a:ext cx="4846320" cy="2966720"/>
          </a:xfrm>
          <a:prstGeom prst="roundRect">
            <a:avLst>
              <a:gd name="adj" fmla="val 4315"/>
            </a:avLst>
          </a:prstGeom>
          <a:solidFill>
            <a:srgbClr val="DFF1FB"/>
          </a:solidFill>
          <a:ln/>
        </p:spPr>
      </p:sp>
      <p:sp>
        <p:nvSpPr>
          <p:cNvPr id="8" name="Text 6"/>
          <p:cNvSpPr txBox="1"/>
          <p:nvPr/>
        </p:nvSpPr>
        <p:spPr>
          <a:xfrm>
            <a:off x="502920" y="4600194"/>
            <a:ext cx="4480560" cy="28204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大きく2種類あります。個人向けのファイル共有サービス（Googleドライブなど）と、アプリが使うストレージサービス（Amazon S3、Azure Blob Storage、Google Cloud Storage）です。多くは複数の機器に複製して保存し、誰が読み書きできるかは権限で設定します。</a:t>
            </a:r>
            <a:endParaRPr lang="en-US" sz="2000" dirty="0"/>
          </a:p>
        </p:txBody>
      </p:sp>
      <p:sp>
        <p:nvSpPr>
          <p:cNvPr id="9" name="Shape 7"/>
          <p:cNvSpPr/>
          <p:nvPr/>
        </p:nvSpPr>
        <p:spPr>
          <a:xfrm>
            <a:off x="320040" y="7548626"/>
            <a:ext cx="4846320" cy="1935480"/>
          </a:xfrm>
          <a:prstGeom prst="roundRect">
            <a:avLst>
              <a:gd name="adj" fmla="val 6614"/>
            </a:avLst>
          </a:prstGeom>
          <a:solidFill>
            <a:srgbClr val="FDEBD0"/>
          </a:solidFill>
          <a:ln/>
        </p:spPr>
      </p:sp>
      <p:sp>
        <p:nvSpPr>
          <p:cNvPr id="10" name="Text 8"/>
          <p:cNvSpPr txBox="1"/>
          <p:nvPr/>
        </p:nvSpPr>
        <p:spPr>
          <a:xfrm>
            <a:off x="502920" y="764006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ネット上の貸し倉庫。家（PC）の外の倉庫に荷物（データ）を預け、鍵（権限）を渡した人だけがどこからでも出し入れできます。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251</a:t>
            </a:fld>
            <a:endParaRPr lang="en-US"/>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クラウドストレージ</a:t>
            </a:r>
            <a:endParaRPr lang="ja-JP" sz="2200" dirty="0"/>
          </a:p>
        </p:txBody>
      </p:sp>
      <p:sp>
        <p:nvSpPr>
          <p:cNvPr id="4" name="Shape 2"/>
          <p:cNvSpPr/>
          <p:nvPr/>
        </p:nvSpPr>
        <p:spPr>
          <a:xfrm>
            <a:off x="320040" y="1318514"/>
            <a:ext cx="4846320" cy="1600200"/>
          </a:xfrm>
          <a:prstGeom prst="roundRect">
            <a:avLst>
              <a:gd name="adj" fmla="val 8000"/>
            </a:avLst>
          </a:prstGeom>
          <a:solidFill>
            <a:srgbClr val="DCE8F8"/>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スマホの写真が自動でバックアップされる、友達と共有フォルダーで資料を共同編集する、といった場面です。</a:t>
            </a:r>
            <a:endParaRPr lang="en-US" sz="2000" dirty="0"/>
          </a:p>
        </p:txBody>
      </p:sp>
      <p:sp>
        <p:nvSpPr>
          <p:cNvPr id="6" name="Shape 4"/>
          <p:cNvSpPr/>
          <p:nvPr/>
        </p:nvSpPr>
        <p:spPr>
          <a:xfrm>
            <a:off x="320040" y="3101594"/>
            <a:ext cx="4846320" cy="1935480"/>
          </a:xfrm>
          <a:prstGeom prst="roundRect">
            <a:avLst>
              <a:gd name="adj" fmla="val 6614"/>
            </a:avLst>
          </a:prstGeom>
          <a:solidFill>
            <a:srgbClr val="FBE3E0"/>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「クラウドに預けたからバックアップ済み」とは限りません。誤って削除したり、設定ミスで外から見える状態にすると、失う・漏えいすることがあります。</a:t>
            </a:r>
            <a:endParaRPr lang="en-US" sz="2000" dirty="0"/>
          </a:p>
        </p:txBody>
      </p:sp>
      <p:sp>
        <p:nvSpPr>
          <p:cNvPr id="8" name="Shape 6"/>
          <p:cNvSpPr/>
          <p:nvPr/>
        </p:nvSpPr>
        <p:spPr>
          <a:xfrm>
            <a:off x="320040" y="5219954"/>
            <a:ext cx="4846320" cy="1935480"/>
          </a:xfrm>
          <a:prstGeom prst="roundRect">
            <a:avLst>
              <a:gd name="adj" fmla="val 6614"/>
            </a:avLst>
          </a:prstGeom>
          <a:solidFill>
            <a:srgbClr val="DDF1E4"/>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クラウドストレージにファイルを保存し、共有リンクの公開範囲（自分だけ・特定の人・全員）を変えて見え方を確かめましょう。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252</a:t>
            </a:fld>
            <a:endParaRPr lang="en-US"/>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マネージドサービス</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運用の手間の一部を、提供会社が代わりに担当してくれるクラウドのサービス。</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4" name="Shape 22"/>
          <p:cNvSpPr/>
          <p:nvPr/>
        </p:nvSpPr>
        <p:spPr>
          <a:xfrm>
            <a:off x="320040" y="4509262"/>
            <a:ext cx="4846320" cy="1264920"/>
          </a:xfrm>
          <a:prstGeom prst="roundRect">
            <a:avLst>
              <a:gd name="adj" fmla="val 10120"/>
            </a:avLst>
          </a:prstGeom>
          <a:solidFill>
            <a:srgbClr val="DFF1FB"/>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0369A1"/>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クラウドの中で、提供会社が運用の一部を受け持つタイプのサービス。</a:t>
            </a:r>
            <a:endParaRPr lang="en-US" sz="2000" dirty="0"/>
          </a:p>
        </p:txBody>
      </p:sp>
      <p:sp>
        <p:nvSpPr>
          <p:cNvPr id="26" name="Shape 24"/>
          <p:cNvSpPr/>
          <p:nvPr/>
        </p:nvSpPr>
        <p:spPr>
          <a:xfrm>
            <a:off x="320040" y="5957062"/>
            <a:ext cx="4846320" cy="402336"/>
          </a:xfrm>
          <a:prstGeom prst="roundRect">
            <a:avLst>
              <a:gd name="adj" fmla="val 22727"/>
            </a:avLst>
          </a:prstGeom>
          <a:solidFill>
            <a:srgbClr val="0369A1"/>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0369A1"/>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マネージドサービス</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8"/>
          <p:cNvSpPr/>
          <p:nvPr/>
        </p:nvSpPr>
        <p:spPr>
          <a:xfrm>
            <a:off x="3566160" y="6414262"/>
            <a:ext cx="1600200" cy="676656"/>
          </a:xfrm>
          <a:prstGeom prst="roundRect">
            <a:avLst>
              <a:gd name="adj" fmla="val 16216"/>
            </a:avLst>
          </a:prstGeom>
          <a:solidFill>
            <a:srgbClr val="DFF1FB"/>
          </a:solidFill>
          <a:ln w="25400">
            <a:solidFill>
              <a:srgbClr val="0369A1"/>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headEnd type="triangle"/>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4" name="Shape 32"/>
          <p:cNvSpPr/>
          <p:nvPr/>
        </p:nvSpPr>
        <p:spPr>
          <a:xfrm>
            <a:off x="3566160" y="7200646"/>
            <a:ext cx="1600200" cy="676656"/>
          </a:xfrm>
          <a:prstGeom prst="roundRect">
            <a:avLst>
              <a:gd name="adj" fmla="val 16216"/>
            </a:avLst>
          </a:prstGeom>
          <a:solidFill>
            <a:srgbClr val="DFF1FB"/>
          </a:solidFill>
          <a:ln w="25400">
            <a:solidFill>
              <a:srgbClr val="0369A1"/>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6" name="Shape 34"/>
          <p:cNvSpPr/>
          <p:nvPr/>
        </p:nvSpPr>
        <p:spPr>
          <a:xfrm flipH="1">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8" name="Shape 36"/>
          <p:cNvSpPr/>
          <p:nvPr/>
        </p:nvSpPr>
        <p:spPr>
          <a:xfrm>
            <a:off x="3566160" y="7987030"/>
            <a:ext cx="1600200" cy="676656"/>
          </a:xfrm>
          <a:prstGeom prst="roundRect">
            <a:avLst>
              <a:gd name="adj" fmla="val 16216"/>
            </a:avLst>
          </a:prstGeom>
          <a:solidFill>
            <a:srgbClr val="E6E1F7"/>
          </a:solidFill>
          <a:ln w="25400">
            <a:solidFill>
              <a:srgbClr val="5B46B8"/>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0" name="Shape 38"/>
          <p:cNvSpPr/>
          <p:nvPr/>
        </p:nvSpPr>
        <p:spPr>
          <a:xfrm>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運用を代行</a:t>
            </a:r>
            <a:endParaRPr lang="en-US" sz="1500" dirty="0"/>
          </a:p>
        </p:txBody>
      </p:sp>
      <p:sp>
        <p:nvSpPr>
          <p:cNvPr id="42" name="Shape 40"/>
          <p:cNvSpPr/>
          <p:nvPr/>
        </p:nvSpPr>
        <p:spPr>
          <a:xfrm>
            <a:off x="3566160" y="8773414"/>
            <a:ext cx="1600200" cy="676656"/>
          </a:xfrm>
          <a:prstGeom prst="roundRect">
            <a:avLst>
              <a:gd name="adj" fmla="val 16216"/>
            </a:avLst>
          </a:prstGeom>
          <a:solidFill>
            <a:srgbClr val="D9F2F1"/>
          </a:solidFill>
          <a:ln w="25400">
            <a:solidFill>
              <a:srgbClr val="0B7A7A"/>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Kubernetes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6" name="Shape 44"/>
          <p:cNvSpPr/>
          <p:nvPr/>
        </p:nvSpPr>
        <p:spPr>
          <a:xfrm>
            <a:off x="3566160" y="9559798"/>
            <a:ext cx="1600200" cy="676656"/>
          </a:xfrm>
          <a:prstGeom prst="roundRect">
            <a:avLst>
              <a:gd name="adj" fmla="val 16216"/>
            </a:avLst>
          </a:prstGeom>
          <a:solidFill>
            <a:srgbClr val="DFF1FB"/>
          </a:solidFill>
          <a:ln w="25400">
            <a:solidFill>
              <a:srgbClr val="0369A1"/>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8" name="Shape 46"/>
          <p:cNvSpPr/>
          <p:nvPr/>
        </p:nvSpPr>
        <p:spPr>
          <a:xfrm flipH="1">
            <a:off x="1719072" y="9898126"/>
            <a:ext cx="1819656" cy="0"/>
          </a:xfrm>
          <a:prstGeom prst="line">
            <a:avLst/>
          </a:prstGeom>
          <a:noFill/>
          <a:ln w="31750">
            <a:solidFill>
              <a:srgbClr val="1B2A3A"/>
            </a:solidFill>
            <a:prstDash val="solid"/>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253</a:t>
            </a:fld>
            <a:endParaRPr lang="en-US"/>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マネージドサービス</a:t>
            </a:r>
            <a:endParaRPr lang="ja-JP" sz="2200" dirty="0"/>
          </a:p>
        </p:txBody>
      </p:sp>
      <p:sp>
        <p:nvSpPr>
          <p:cNvPr id="4" name="Shape 2"/>
          <p:cNvSpPr/>
          <p:nvPr/>
        </p:nvSpPr>
        <p:spPr>
          <a:xfrm>
            <a:off x="320040" y="1318514"/>
            <a:ext cx="4846320" cy="3117088"/>
          </a:xfrm>
          <a:prstGeom prst="roundRect">
            <a:avLst>
              <a:gd name="adj" fmla="val 4107"/>
            </a:avLst>
          </a:prstGeom>
          <a:solidFill>
            <a:srgbClr val="DFF1FB"/>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369A1"/>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読み：Managed Service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マネージドサービスは、サーバーの保守、OSの更新、バックアップ、故障時の入れ替えなど「運用」の一部を、クラウドの提供会社が担当するサービスです。利用者は、使うことに集中できます。</a:t>
            </a:r>
            <a:endParaRPr lang="en-US" sz="2000" dirty="0"/>
          </a:p>
        </p:txBody>
      </p:sp>
      <p:sp>
        <p:nvSpPr>
          <p:cNvPr id="7" name="Shape 5"/>
          <p:cNvSpPr/>
          <p:nvPr/>
        </p:nvSpPr>
        <p:spPr>
          <a:xfrm>
            <a:off x="320040" y="4508754"/>
            <a:ext cx="4846320" cy="2631440"/>
          </a:xfrm>
          <a:prstGeom prst="roundRect">
            <a:avLst>
              <a:gd name="adj" fmla="val 4865"/>
            </a:avLst>
          </a:prstGeom>
          <a:solidFill>
            <a:srgbClr val="DFF1FB"/>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例は、データベースの「Amazon RDS」「Azure SQL Database」と、Kubernetesの「Amazon EKS」などです。担当範囲はサービスごとに違い、RDSではハードやOSの管理は事業者、表の設計とアクセス権の設定は利用者です。</a:t>
            </a:r>
            <a:endParaRPr lang="en-US" sz="2000" dirty="0"/>
          </a:p>
        </p:txBody>
      </p:sp>
      <p:sp>
        <p:nvSpPr>
          <p:cNvPr id="9" name="Shape 7"/>
          <p:cNvSpPr/>
          <p:nvPr/>
        </p:nvSpPr>
        <p:spPr>
          <a:xfrm>
            <a:off x="320040" y="7213346"/>
            <a:ext cx="4846320" cy="1935480"/>
          </a:xfrm>
          <a:prstGeom prst="roundRect">
            <a:avLst>
              <a:gd name="adj" fmla="val 6614"/>
            </a:avLst>
          </a:prstGeom>
          <a:solidFill>
            <a:srgbClr val="FDEBD0"/>
          </a:solidFill>
          <a:ln/>
        </p:spPr>
      </p:sp>
      <p:sp>
        <p:nvSpPr>
          <p:cNvPr id="10" name="Text 8"/>
          <p:cNvSpPr txBox="1"/>
          <p:nvPr/>
        </p:nvSpPr>
        <p:spPr>
          <a:xfrm>
            <a:off x="502920" y="730478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掃除や点検つきの賃貸マンション。設備の修理や共用部の掃除は管理会社がしますが、部屋の使い方や持ち物は住む人の責任です。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254</a:t>
            </a:fld>
            <a:endParaRPr lang="en-US"/>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009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マネージドサービス</a:t>
            </a:r>
            <a:endParaRPr lang="ja-JP" sz="2200" dirty="0"/>
          </a:p>
        </p:txBody>
      </p:sp>
      <p:sp>
        <p:nvSpPr>
          <p:cNvPr id="4" name="Shape 2"/>
          <p:cNvSpPr/>
          <p:nvPr/>
        </p:nvSpPr>
        <p:spPr>
          <a:xfrm>
            <a:off x="320040" y="1318514"/>
            <a:ext cx="4846320" cy="1600200"/>
          </a:xfrm>
          <a:prstGeom prst="roundRect">
            <a:avLst>
              <a:gd name="adj" fmla="val 8000"/>
            </a:avLst>
          </a:prstGeom>
          <a:solidFill>
            <a:srgbClr val="DCE8F8"/>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Webアプリのデータベースを自分で入れず、RDSなどを申し込んで使い、夜間の更新作業や故障対応の負担を減らす場面です。</a:t>
            </a:r>
            <a:endParaRPr lang="en-US" sz="2000" dirty="0"/>
          </a:p>
        </p:txBody>
      </p:sp>
      <p:sp>
        <p:nvSpPr>
          <p:cNvPr id="6" name="Shape 4"/>
          <p:cNvSpPr/>
          <p:nvPr/>
        </p:nvSpPr>
        <p:spPr>
          <a:xfrm>
            <a:off x="320040" y="3101594"/>
            <a:ext cx="4846320" cy="1935480"/>
          </a:xfrm>
          <a:prstGeom prst="roundRect">
            <a:avLst>
              <a:gd name="adj" fmla="val 6614"/>
            </a:avLst>
          </a:prstGeom>
          <a:solidFill>
            <a:srgbClr val="FBE3E0"/>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「マネージド＝全部おまかせ」ではありません。事業者の担当範囲はサービスごとに違い、データの中身・権限・設定は利用者の責任です。</a:t>
            </a:r>
            <a:endParaRPr lang="en-US" sz="2000" dirty="0"/>
          </a:p>
        </p:txBody>
      </p:sp>
      <p:sp>
        <p:nvSpPr>
          <p:cNvPr id="8" name="Shape 6"/>
          <p:cNvSpPr/>
          <p:nvPr/>
        </p:nvSpPr>
        <p:spPr>
          <a:xfrm>
            <a:off x="320040" y="5219954"/>
            <a:ext cx="4846320" cy="1600200"/>
          </a:xfrm>
          <a:prstGeom prst="roundRect">
            <a:avLst>
              <a:gd name="adj" fmla="val 8000"/>
            </a:avLst>
          </a:prstGeom>
          <a:solidFill>
            <a:srgbClr val="DDF1E4"/>
          </a:solidFill>
          <a:ln/>
        </p:spPr>
      </p:sp>
      <p:sp>
        <p:nvSpPr>
          <p:cNvPr id="9" name="Text 7"/>
          <p:cNvSpPr txBox="1"/>
          <p:nvPr/>
        </p:nvSpPr>
        <p:spPr>
          <a:xfrm>
            <a:off x="502920" y="53113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使いたいサービスの公式ページで「責任共有モデル」を探し、事業者の担当と自分の担当を2列で書き出しましょう。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255</a:t>
            </a:fld>
            <a:endParaRPr lang="en-US"/>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練習するときの料金の注意</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個人でクラウドを試すときは、課金のしくみを先に確認します。</a:t>
            </a:r>
            <a:endParaRPr lang="en-US" sz="1800" dirty="0"/>
          </a:p>
        </p:txBody>
      </p:sp>
      <p:sp>
        <p:nvSpPr>
          <p:cNvPr id="7" name="Shape 5"/>
          <p:cNvSpPr/>
          <p:nvPr/>
        </p:nvSpPr>
        <p:spPr>
          <a:xfrm>
            <a:off x="338328" y="2704846"/>
            <a:ext cx="420624" cy="420624"/>
          </a:xfrm>
          <a:prstGeom prst="ellipse">
            <a:avLst/>
          </a:prstGeom>
          <a:solidFill>
            <a:srgbClr val="0369A1"/>
          </a:solidFill>
          <a:ln w="19050">
            <a:solidFill>
              <a:srgbClr val="FFFFFF"/>
            </a:solidFill>
            <a:prstDash val="solid"/>
          </a:ln>
        </p:spPr>
      </p:sp>
      <p:sp>
        <p:nvSpPr>
          <p:cNvPr id="8" name="Text 6"/>
          <p:cNvSpPr txBox="1"/>
          <p:nvPr/>
        </p:nvSpPr>
        <p:spPr>
          <a:xfrm>
            <a:off x="338328" y="270484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9" name="Text 7"/>
          <p:cNvSpPr txBox="1"/>
          <p:nvPr/>
        </p:nvSpPr>
        <p:spPr>
          <a:xfrm>
            <a:off x="960120" y="2515870"/>
            <a:ext cx="4206240" cy="798576"/>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無料枠の条件（期間・対象・上限）を確認する</a:t>
            </a:r>
            <a:endParaRPr lang="en-US" sz="2000" dirty="0"/>
          </a:p>
        </p:txBody>
      </p:sp>
      <p:sp>
        <p:nvSpPr>
          <p:cNvPr id="10" name="Shape 8"/>
          <p:cNvSpPr/>
          <p:nvPr/>
        </p:nvSpPr>
        <p:spPr>
          <a:xfrm>
            <a:off x="338328" y="3539998"/>
            <a:ext cx="420624" cy="420624"/>
          </a:xfrm>
          <a:prstGeom prst="ellipse">
            <a:avLst/>
          </a:prstGeom>
          <a:solidFill>
            <a:srgbClr val="0369A1"/>
          </a:solidFill>
          <a:ln w="19050">
            <a:solidFill>
              <a:srgbClr val="FFFFFF"/>
            </a:solidFill>
            <a:prstDash val="solid"/>
          </a:ln>
        </p:spPr>
      </p:sp>
      <p:sp>
        <p:nvSpPr>
          <p:cNvPr id="11" name="Text 9"/>
          <p:cNvSpPr txBox="1"/>
          <p:nvPr/>
        </p:nvSpPr>
        <p:spPr>
          <a:xfrm>
            <a:off x="338328" y="353999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2" name="Text 10"/>
          <p:cNvSpPr txBox="1"/>
          <p:nvPr/>
        </p:nvSpPr>
        <p:spPr>
          <a:xfrm>
            <a:off x="960120" y="3351022"/>
            <a:ext cx="4206240" cy="798576"/>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予算の通知（アラート）を設定する</a:t>
            </a:r>
            <a:endParaRPr lang="en-US" sz="2000" dirty="0"/>
          </a:p>
        </p:txBody>
      </p:sp>
      <p:sp>
        <p:nvSpPr>
          <p:cNvPr id="13" name="Shape 11"/>
          <p:cNvSpPr/>
          <p:nvPr/>
        </p:nvSpPr>
        <p:spPr>
          <a:xfrm>
            <a:off x="338328" y="4250182"/>
            <a:ext cx="420624" cy="420624"/>
          </a:xfrm>
          <a:prstGeom prst="ellipse">
            <a:avLst/>
          </a:prstGeom>
          <a:solidFill>
            <a:srgbClr val="0369A1"/>
          </a:solidFill>
          <a:ln w="19050">
            <a:solidFill>
              <a:srgbClr val="FFFFFF"/>
            </a:solidFill>
            <a:prstDash val="solid"/>
          </a:ln>
        </p:spPr>
      </p:sp>
      <p:sp>
        <p:nvSpPr>
          <p:cNvPr id="14" name="Text 12"/>
          <p:cNvSpPr txBox="1"/>
          <p:nvPr/>
        </p:nvSpPr>
        <p:spPr>
          <a:xfrm>
            <a:off x="338328" y="425018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5" name="Text 13"/>
          <p:cNvSpPr txBox="1"/>
          <p:nvPr/>
        </p:nvSpPr>
        <p:spPr>
          <a:xfrm>
            <a:off x="960120" y="4186174"/>
            <a:ext cx="4206240" cy="54864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練習後は、不要な資源を削除する</a:t>
            </a:r>
            <a:endParaRPr lang="en-US" sz="2000" dirty="0"/>
          </a:p>
        </p:txBody>
      </p:sp>
      <p:sp>
        <p:nvSpPr>
          <p:cNvPr id="16" name="Shape 14"/>
          <p:cNvSpPr/>
          <p:nvPr/>
        </p:nvSpPr>
        <p:spPr>
          <a:xfrm>
            <a:off x="338328" y="4960366"/>
            <a:ext cx="420624" cy="420624"/>
          </a:xfrm>
          <a:prstGeom prst="ellipse">
            <a:avLst/>
          </a:prstGeom>
          <a:solidFill>
            <a:srgbClr val="0369A1"/>
          </a:solidFill>
          <a:ln w="19050">
            <a:solidFill>
              <a:srgbClr val="FFFFFF"/>
            </a:solidFill>
            <a:prstDash val="solid"/>
          </a:ln>
        </p:spPr>
      </p:sp>
      <p:sp>
        <p:nvSpPr>
          <p:cNvPr id="17" name="Text 15"/>
          <p:cNvSpPr txBox="1"/>
          <p:nvPr/>
        </p:nvSpPr>
        <p:spPr>
          <a:xfrm>
            <a:off x="338328" y="496036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8" name="Text 16"/>
          <p:cNvSpPr txBox="1"/>
          <p:nvPr/>
        </p:nvSpPr>
        <p:spPr>
          <a:xfrm>
            <a:off x="960120" y="4771390"/>
            <a:ext cx="4206240" cy="798576"/>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請求・利用状況の画面を定期的に確認する</a:t>
            </a:r>
            <a:endParaRPr lang="en-US" sz="2000" dirty="0"/>
          </a:p>
        </p:txBody>
      </p:sp>
      <p:sp>
        <p:nvSpPr>
          <p:cNvPr id="19" name="Shape 17"/>
          <p:cNvSpPr/>
          <p:nvPr/>
        </p:nvSpPr>
        <p:spPr>
          <a:xfrm>
            <a:off x="320040" y="5844286"/>
            <a:ext cx="4846320" cy="1615440"/>
          </a:xfrm>
          <a:prstGeom prst="roundRect">
            <a:avLst>
              <a:gd name="adj" fmla="val 6792"/>
            </a:avLst>
          </a:prstGeom>
          <a:solidFill>
            <a:srgbClr val="FBE3E0"/>
          </a:solidFill>
          <a:ln w="19050">
            <a:solidFill>
              <a:srgbClr val="C0392B"/>
            </a:solidFill>
            <a:prstDash val="solid"/>
          </a:ln>
        </p:spPr>
      </p:sp>
      <p:sp>
        <p:nvSpPr>
          <p:cNvPr id="20" name="Shape 18"/>
          <p:cNvSpPr/>
          <p:nvPr/>
        </p:nvSpPr>
        <p:spPr>
          <a:xfrm>
            <a:off x="457200" y="6423406"/>
            <a:ext cx="457200" cy="457200"/>
          </a:xfrm>
          <a:prstGeom prst="ellipse">
            <a:avLst/>
          </a:prstGeom>
          <a:solidFill>
            <a:srgbClr val="C0392B"/>
          </a:solidFill>
          <a:ln/>
        </p:spPr>
      </p:sp>
      <p:pic>
        <p:nvPicPr>
          <p:cNvPr id="21" name="Image 0" descr="preencoded.png">    </p:cNvPr>
          <p:cNvPicPr>
            <a:picLocks noChangeAspect="1"/>
          </p:cNvPicPr>
          <p:nvPr/>
        </p:nvPicPr>
        <p:blipFill>
          <a:blip r:embed="rId1"/>
          <a:stretch>
            <a:fillRect/>
          </a:stretch>
        </p:blipFill>
        <p:spPr>
          <a:xfrm>
            <a:off x="557784" y="6523990"/>
            <a:ext cx="256032" cy="256032"/>
          </a:xfrm>
          <a:prstGeom prst="rect">
            <a:avLst/>
          </a:prstGeom>
        </p:spPr>
      </p:pic>
      <p:sp>
        <p:nvSpPr>
          <p:cNvPr id="22" name="Text 19"/>
          <p:cNvSpPr txBox="1"/>
          <p:nvPr/>
        </p:nvSpPr>
        <p:spPr>
          <a:xfrm>
            <a:off x="1051560" y="5890006"/>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予算の通知は、必ずしも利用や課金を自動で止める機能ではありません。無料枠でも課金される条件があります。</a:t>
            </a:r>
            <a:endParaRPr lang="en-US" sz="2000" dirty="0"/>
          </a:p>
        </p:txBody>
      </p:sp>
      <p:sp>
        <p:nvSpPr>
          <p:cNvPr id="23" name="Text 2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256</a:t>
            </a:fld>
            <a:endParaRPr lang="en-US"/>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質問が聞いている経験とは</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質問は、ファイル保存の経験より、サーバーなどを設定・利用した経験を想定していると考えられます。</a:t>
            </a:r>
            <a:endParaRPr lang="en-US" sz="1800" dirty="0"/>
          </a:p>
        </p:txBody>
      </p:sp>
      <p:sp>
        <p:nvSpPr>
          <p:cNvPr id="6" name="Shape 4"/>
          <p:cNvSpPr/>
          <p:nvPr/>
        </p:nvSpPr>
        <p:spPr>
          <a:xfrm>
            <a:off x="320040" y="2817622"/>
            <a:ext cx="4846320" cy="2048256"/>
          </a:xfrm>
          <a:prstGeom prst="roundRect">
            <a:avLst>
              <a:gd name="adj" fmla="val 6250"/>
            </a:avLst>
          </a:prstGeom>
          <a:solidFill>
            <a:srgbClr val="E2E8F0"/>
          </a:solidFill>
          <a:ln/>
        </p:spPr>
      </p:sp>
      <p:sp>
        <p:nvSpPr>
          <p:cNvPr id="7" name="Shape 5"/>
          <p:cNvSpPr/>
          <p:nvPr/>
        </p:nvSpPr>
        <p:spPr>
          <a:xfrm>
            <a:off x="502920" y="2963926"/>
            <a:ext cx="566928" cy="566928"/>
          </a:xfrm>
          <a:prstGeom prst="ellipse">
            <a:avLst/>
          </a:prstGeom>
          <a:solidFill>
            <a:srgbClr val="475569"/>
          </a:solidFill>
          <a:ln/>
        </p:spPr>
      </p:sp>
      <p:pic>
        <p:nvPicPr>
          <p:cNvPr id="8" name="Image 0" descr="preencoded.png">    </p:cNvPr>
          <p:cNvPicPr>
            <a:picLocks noChangeAspect="1"/>
          </p:cNvPicPr>
          <p:nvPr/>
        </p:nvPicPr>
        <p:blipFill>
          <a:blip r:embed="rId1"/>
          <a:stretch>
            <a:fillRect/>
          </a:stretch>
        </p:blipFill>
        <p:spPr>
          <a:xfrm>
            <a:off x="627644" y="3088650"/>
            <a:ext cx="317480" cy="317480"/>
          </a:xfrm>
          <a:prstGeom prst="rect">
            <a:avLst/>
          </a:prstGeom>
        </p:spPr>
      </p:pic>
      <p:sp>
        <p:nvSpPr>
          <p:cNvPr id="9" name="Text 6"/>
          <p:cNvSpPr txBox="1"/>
          <p:nvPr/>
        </p:nvSpPr>
        <p:spPr>
          <a:xfrm>
            <a:off x="1188720" y="2963926"/>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一般の利用</a:t>
            </a:r>
            <a:endParaRPr lang="en-US" sz="2200" dirty="0"/>
          </a:p>
        </p:txBody>
      </p:sp>
      <p:sp>
        <p:nvSpPr>
          <p:cNvPr id="10" name="Text 7"/>
          <p:cNvSpPr txBox="1"/>
          <p:nvPr/>
        </p:nvSpPr>
        <p:spPr>
          <a:xfrm>
            <a:off x="502920" y="3622294"/>
            <a:ext cx="4480560" cy="117043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Google Driveにファイルを保存する</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クラウドを「使う側」の経験</a:t>
            </a:r>
            <a:endParaRPr lang="en-US" sz="2000" dirty="0"/>
          </a:p>
        </p:txBody>
      </p:sp>
      <p:sp>
        <p:nvSpPr>
          <p:cNvPr id="11" name="Shape 8"/>
          <p:cNvSpPr/>
          <p:nvPr/>
        </p:nvSpPr>
        <p:spPr>
          <a:xfrm>
            <a:off x="320040" y="5048758"/>
            <a:ext cx="4846320" cy="2447544"/>
          </a:xfrm>
          <a:prstGeom prst="roundRect">
            <a:avLst>
              <a:gd name="adj" fmla="val 5230"/>
            </a:avLst>
          </a:prstGeom>
          <a:solidFill>
            <a:srgbClr val="DFF1FB"/>
          </a:solidFill>
          <a:ln/>
        </p:spPr>
      </p:sp>
      <p:sp>
        <p:nvSpPr>
          <p:cNvPr id="12" name="Shape 9"/>
          <p:cNvSpPr/>
          <p:nvPr/>
        </p:nvSpPr>
        <p:spPr>
          <a:xfrm>
            <a:off x="502920" y="5195062"/>
            <a:ext cx="566928" cy="566928"/>
          </a:xfrm>
          <a:prstGeom prst="ellipse">
            <a:avLst/>
          </a:prstGeom>
          <a:solidFill>
            <a:srgbClr val="0369A1"/>
          </a:solidFill>
          <a:ln/>
        </p:spPr>
      </p:sp>
      <p:pic>
        <p:nvPicPr>
          <p:cNvPr id="13" name="Image 1" descr="preencoded.png">    </p:cNvPr>
          <p:cNvPicPr>
            <a:picLocks noChangeAspect="1"/>
          </p:cNvPicPr>
          <p:nvPr/>
        </p:nvPicPr>
        <p:blipFill>
          <a:blip r:embed="rId2"/>
          <a:stretch>
            <a:fillRect/>
          </a:stretch>
        </p:blipFill>
        <p:spPr>
          <a:xfrm>
            <a:off x="627644" y="5319786"/>
            <a:ext cx="317480" cy="317480"/>
          </a:xfrm>
          <a:prstGeom prst="rect">
            <a:avLst/>
          </a:prstGeom>
        </p:spPr>
      </p:pic>
      <p:sp>
        <p:nvSpPr>
          <p:cNvPr id="14" name="Text 10"/>
          <p:cNvSpPr txBox="1"/>
          <p:nvPr/>
        </p:nvSpPr>
        <p:spPr>
          <a:xfrm>
            <a:off x="1188720" y="5195062"/>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設定・構築の経験</a:t>
            </a:r>
            <a:endParaRPr lang="en-US" sz="2200" dirty="0"/>
          </a:p>
        </p:txBody>
      </p:sp>
      <p:sp>
        <p:nvSpPr>
          <p:cNvPr id="15" name="Text 11"/>
          <p:cNvSpPr txBox="1"/>
          <p:nvPr/>
        </p:nvSpPr>
        <p:spPr>
          <a:xfrm>
            <a:off x="502920" y="5853430"/>
            <a:ext cx="4480560" cy="156972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仮想サーバーを作って接続する</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クラウドのサービスを設定して使う</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 質問が主に想定する経験</a:t>
            </a:r>
            <a:endParaRPr lang="en-US" sz="2000" dirty="0"/>
          </a:p>
        </p:txBody>
      </p:sp>
      <p:sp>
        <p:nvSpPr>
          <p:cNvPr id="16" name="Shape 12"/>
          <p:cNvSpPr/>
          <p:nvPr/>
        </p:nvSpPr>
        <p:spPr>
          <a:xfrm>
            <a:off x="320040" y="7679182"/>
            <a:ext cx="4846320" cy="1280160"/>
          </a:xfrm>
          <a:prstGeom prst="roundRect">
            <a:avLst>
              <a:gd name="adj" fmla="val 8571"/>
            </a:avLst>
          </a:prstGeom>
          <a:solidFill>
            <a:srgbClr val="DCE8F8"/>
          </a:solidFill>
          <a:ln w="19050">
            <a:solidFill>
              <a:srgbClr val="2F6BC2"/>
            </a:solidFill>
            <a:prstDash val="solid"/>
          </a:ln>
        </p:spPr>
      </p:sp>
      <p:sp>
        <p:nvSpPr>
          <p:cNvPr id="17" name="Shape 13"/>
          <p:cNvSpPr/>
          <p:nvPr/>
        </p:nvSpPr>
        <p:spPr>
          <a:xfrm>
            <a:off x="457200" y="8090662"/>
            <a:ext cx="457200" cy="457200"/>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557784" y="8191246"/>
            <a:ext cx="256032" cy="256032"/>
          </a:xfrm>
          <a:prstGeom prst="rect">
            <a:avLst/>
          </a:prstGeom>
        </p:spPr>
      </p:pic>
      <p:sp>
        <p:nvSpPr>
          <p:cNvPr id="19" name="Text 14"/>
          <p:cNvSpPr txBox="1"/>
          <p:nvPr/>
        </p:nvSpPr>
        <p:spPr>
          <a:xfrm>
            <a:off x="1051560" y="7724902"/>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「どのサービスで、何を作り、どう設定したか」を具体的に書けるように準備します。</a:t>
            </a:r>
            <a:endParaRPr lang="en-US" sz="2000" dirty="0"/>
          </a:p>
        </p:txBody>
      </p:sp>
      <p:sp>
        <p:nvSpPr>
          <p:cNvPr id="20" name="Text 1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257</a:t>
            </a:fld>
            <a:endParaRPr lang="en-US"/>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AIは広く、機械学習はその一部</a:t>
            </a:r>
            <a:endParaRPr lang="ja-JP" sz="2600" dirty="0"/>
          </a:p>
        </p:txBody>
      </p:sp>
      <p:sp>
        <p:nvSpPr>
          <p:cNvPr id="6" name="Text 4"/>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AIの中に機械学習があり、機械学習は「データからパターンを学ぶ」方法です。包含関係を図で確認します。</a:t>
            </a:r>
            <a:endParaRPr lang="en-US" sz="1800" dirty="0"/>
          </a:p>
        </p:txBody>
      </p:sp>
      <p:sp>
        <p:nvSpPr>
          <p:cNvPr id="7" name="Shape 5"/>
          <p:cNvSpPr/>
          <p:nvPr/>
        </p:nvSpPr>
        <p:spPr>
          <a:xfrm>
            <a:off x="320040" y="3230372"/>
            <a:ext cx="4846320" cy="2468880"/>
          </a:xfrm>
          <a:prstGeom prst="roundRect">
            <a:avLst>
              <a:gd name="adj" fmla="val 5185"/>
            </a:avLst>
          </a:prstGeom>
          <a:solidFill>
            <a:srgbClr val="FDEBD0"/>
          </a:solidFill>
          <a:ln w="25400">
            <a:solidFill>
              <a:srgbClr val="B45309"/>
            </a:solidFill>
            <a:prstDash val="solid"/>
          </a:ln>
        </p:spPr>
      </p:sp>
      <p:sp>
        <p:nvSpPr>
          <p:cNvPr id="8" name="Text 6"/>
          <p:cNvSpPr txBox="1"/>
          <p:nvPr/>
        </p:nvSpPr>
        <p:spPr>
          <a:xfrm>
            <a:off x="484632" y="3321812"/>
            <a:ext cx="4517136" cy="502920"/>
          </a:xfrm>
          <a:prstGeom prst="rect">
            <a:avLst/>
          </a:prstGeom>
          <a:noFill/>
          <a:ln/>
        </p:spPr>
        <p:txBody>
          <a:bodyPr wrap="square" lIns="0" tIns="0" rIns="0" bIns="0" rtlCol="0" anchor="t"/>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AI（人工知能）</a:t>
            </a:r>
            <a:endParaRPr lang="en-US" sz="1800" dirty="0"/>
          </a:p>
        </p:txBody>
      </p:sp>
      <p:sp>
        <p:nvSpPr>
          <p:cNvPr id="9" name="Shape 7"/>
          <p:cNvSpPr/>
          <p:nvPr/>
        </p:nvSpPr>
        <p:spPr>
          <a:xfrm>
            <a:off x="594360" y="3916172"/>
            <a:ext cx="4297680" cy="1600200"/>
          </a:xfrm>
          <a:prstGeom prst="roundRect">
            <a:avLst>
              <a:gd name="adj" fmla="val 8000"/>
            </a:avLst>
          </a:prstGeom>
          <a:solidFill>
            <a:srgbClr val="DCE8F8"/>
          </a:solidFill>
          <a:ln w="25400">
            <a:solidFill>
              <a:srgbClr val="2F6BC2"/>
            </a:solidFill>
            <a:prstDash val="solid"/>
          </a:ln>
        </p:spPr>
      </p:sp>
      <p:sp>
        <p:nvSpPr>
          <p:cNvPr id="10" name="Text 8"/>
          <p:cNvSpPr txBox="1"/>
          <p:nvPr/>
        </p:nvSpPr>
        <p:spPr>
          <a:xfrm>
            <a:off x="758952" y="4007612"/>
            <a:ext cx="3968496" cy="502920"/>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機械学習</a:t>
            </a:r>
            <a:endParaRPr lang="en-US" sz="1800" dirty="0"/>
          </a:p>
        </p:txBody>
      </p:sp>
      <p:sp>
        <p:nvSpPr>
          <p:cNvPr id="11" name="Shape 9"/>
          <p:cNvSpPr/>
          <p:nvPr/>
        </p:nvSpPr>
        <p:spPr>
          <a:xfrm>
            <a:off x="868680" y="4601972"/>
            <a:ext cx="3749040" cy="731520"/>
          </a:xfrm>
          <a:prstGeom prst="roundRect">
            <a:avLst>
              <a:gd name="adj" fmla="val 17500"/>
            </a:avLst>
          </a:prstGeom>
          <a:solidFill>
            <a:srgbClr val="DDF1E4"/>
          </a:solidFill>
          <a:ln w="25400">
            <a:solidFill>
              <a:srgbClr val="237A48"/>
            </a:solidFill>
            <a:prstDash val="solid"/>
          </a:ln>
        </p:spPr>
      </p:sp>
      <p:sp>
        <p:nvSpPr>
          <p:cNvPr id="12" name="Text 10"/>
          <p:cNvSpPr txBox="1"/>
          <p:nvPr/>
        </p:nvSpPr>
        <p:spPr>
          <a:xfrm>
            <a:off x="1033272" y="4693412"/>
            <a:ext cx="3419856" cy="502920"/>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例：売上予測・画像分類</a:t>
            </a:r>
            <a:endParaRPr lang="en-US" sz="1800" dirty="0"/>
          </a:p>
        </p:txBody>
      </p:sp>
      <p:sp>
        <p:nvSpPr>
          <p:cNvPr id="13" name="Shape 11"/>
          <p:cNvSpPr/>
          <p:nvPr/>
        </p:nvSpPr>
        <p:spPr>
          <a:xfrm>
            <a:off x="320040" y="5882132"/>
            <a:ext cx="4846320" cy="1280160"/>
          </a:xfrm>
          <a:prstGeom prst="roundRect">
            <a:avLst>
              <a:gd name="adj" fmla="val 8571"/>
            </a:avLst>
          </a:prstGeom>
          <a:solidFill>
            <a:srgbClr val="DCE8F8"/>
          </a:solidFill>
          <a:ln w="19050">
            <a:solidFill>
              <a:srgbClr val="2F6BC2"/>
            </a:solidFill>
            <a:prstDash val="solid"/>
          </a:ln>
        </p:spPr>
      </p:sp>
      <p:sp>
        <p:nvSpPr>
          <p:cNvPr id="14" name="Shape 12"/>
          <p:cNvSpPr/>
          <p:nvPr/>
        </p:nvSpPr>
        <p:spPr>
          <a:xfrm>
            <a:off x="457200" y="6293612"/>
            <a:ext cx="457200" cy="457200"/>
          </a:xfrm>
          <a:prstGeom prst="ellipse">
            <a:avLst/>
          </a:prstGeom>
          <a:solidFill>
            <a:srgbClr val="2F6BC2"/>
          </a:solidFill>
          <a:ln/>
        </p:spPr>
      </p:sp>
      <p:pic>
        <p:nvPicPr>
          <p:cNvPr id="15" name="Image 0" descr="preencoded.png">    </p:cNvPr>
          <p:cNvPicPr>
            <a:picLocks noChangeAspect="1"/>
          </p:cNvPicPr>
          <p:nvPr/>
        </p:nvPicPr>
        <p:blipFill>
          <a:blip r:embed="rId1"/>
          <a:stretch>
            <a:fillRect/>
          </a:stretch>
        </p:blipFill>
        <p:spPr>
          <a:xfrm>
            <a:off x="557784" y="6394196"/>
            <a:ext cx="256032" cy="256032"/>
          </a:xfrm>
          <a:prstGeom prst="rect">
            <a:avLst/>
          </a:prstGeom>
        </p:spPr>
      </p:pic>
      <p:sp>
        <p:nvSpPr>
          <p:cNvPr id="16" name="Text 13"/>
          <p:cNvSpPr txBox="1"/>
          <p:nvPr/>
        </p:nvSpPr>
        <p:spPr>
          <a:xfrm>
            <a:off x="1051560" y="5927852"/>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経験を書くときは、「何に使い、結果をどう確認したか」まで書くと伝わります。</a:t>
            </a:r>
            <a:endParaRPr lang="en-US" sz="2000" dirty="0"/>
          </a:p>
        </p:txBody>
      </p:sp>
      <p:sp>
        <p:nvSpPr>
          <p:cNvPr id="17"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258</a:t>
            </a:fld>
            <a:endParaRPr lang="en-US"/>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関係図：AI・データ・IoT</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AI・機械学習・データ分析・IoTは、「データ」を軸につながっています。</a:t>
            </a:r>
            <a:endParaRPr lang="en-US" sz="1800" dirty="0"/>
          </a:p>
        </p:txBody>
      </p:sp>
      <p:sp>
        <p:nvSpPr>
          <p:cNvPr id="6" name="Shape 4"/>
          <p:cNvSpPr/>
          <p:nvPr/>
        </p:nvSpPr>
        <p:spPr>
          <a:xfrm flipV="1">
            <a:off x="2743200" y="3265678"/>
            <a:ext cx="0" cy="484632"/>
          </a:xfrm>
          <a:prstGeom prst="line">
            <a:avLst/>
          </a:prstGeom>
          <a:noFill/>
          <a:ln w="31750">
            <a:solidFill>
              <a:srgbClr val="1B2A3A"/>
            </a:solidFill>
            <a:prstDash val="solid"/>
            <a:tailEnd type="triangle"/>
          </a:ln>
        </p:spPr>
      </p:sp>
      <p:sp>
        <p:nvSpPr>
          <p:cNvPr id="7" name="Text 5"/>
          <p:cNvSpPr txBox="1"/>
          <p:nvPr/>
        </p:nvSpPr>
        <p:spPr>
          <a:xfrm>
            <a:off x="2366010" y="335483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の一部</a:t>
            </a:r>
            <a:endParaRPr lang="en-US" sz="1500" dirty="0"/>
          </a:p>
        </p:txBody>
      </p:sp>
      <p:sp>
        <p:nvSpPr>
          <p:cNvPr id="8" name="Shape 6"/>
          <p:cNvSpPr/>
          <p:nvPr/>
        </p:nvSpPr>
        <p:spPr>
          <a:xfrm>
            <a:off x="2743200" y="4500118"/>
            <a:ext cx="0" cy="484632"/>
          </a:xfrm>
          <a:prstGeom prst="line">
            <a:avLst/>
          </a:prstGeom>
          <a:noFill/>
          <a:ln w="31750">
            <a:solidFill>
              <a:srgbClr val="1B2A3A"/>
            </a:solidFill>
            <a:prstDash val="solid"/>
            <a:tailEnd type="triangle"/>
          </a:ln>
        </p:spPr>
      </p:sp>
      <p:sp>
        <p:nvSpPr>
          <p:cNvPr id="9" name="Text 7"/>
          <p:cNvSpPr txBox="1"/>
          <p:nvPr/>
        </p:nvSpPr>
        <p:spPr>
          <a:xfrm>
            <a:off x="2080260" y="4589272"/>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データで学ぶ</a:t>
            </a:r>
            <a:endParaRPr lang="en-US" sz="1500" dirty="0"/>
          </a:p>
        </p:txBody>
      </p:sp>
      <p:sp>
        <p:nvSpPr>
          <p:cNvPr id="10" name="Shape 8"/>
          <p:cNvSpPr/>
          <p:nvPr/>
        </p:nvSpPr>
        <p:spPr>
          <a:xfrm flipV="1">
            <a:off x="2743200" y="5734558"/>
            <a:ext cx="0" cy="484632"/>
          </a:xfrm>
          <a:prstGeom prst="line">
            <a:avLst/>
          </a:prstGeom>
          <a:noFill/>
          <a:ln w="31750">
            <a:solidFill>
              <a:srgbClr val="1B2A3A"/>
            </a:solidFill>
            <a:prstDash val="solid"/>
            <a:tailEnd type="triangle"/>
          </a:ln>
        </p:spPr>
      </p:sp>
      <p:sp>
        <p:nvSpPr>
          <p:cNvPr id="11" name="Text 9"/>
          <p:cNvSpPr txBox="1"/>
          <p:nvPr/>
        </p:nvSpPr>
        <p:spPr>
          <a:xfrm>
            <a:off x="1985010" y="5823712"/>
            <a:ext cx="1516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データを集める</a:t>
            </a:r>
            <a:endParaRPr lang="en-US" sz="1500" dirty="0"/>
          </a:p>
        </p:txBody>
      </p:sp>
      <p:sp>
        <p:nvSpPr>
          <p:cNvPr id="12" name="Shape 10"/>
          <p:cNvSpPr/>
          <p:nvPr/>
        </p:nvSpPr>
        <p:spPr>
          <a:xfrm>
            <a:off x="2011680" y="2515870"/>
            <a:ext cx="1463040" cy="749808"/>
          </a:xfrm>
          <a:prstGeom prst="roundRect">
            <a:avLst>
              <a:gd name="adj" fmla="val 14634"/>
            </a:avLst>
          </a:prstGeom>
          <a:solidFill>
            <a:srgbClr val="DDF1E4"/>
          </a:solidFill>
          <a:ln w="25400">
            <a:solidFill>
              <a:srgbClr val="237A48"/>
            </a:solidFill>
            <a:prstDash val="solid"/>
          </a:ln>
        </p:spPr>
      </p:sp>
      <p:sp>
        <p:nvSpPr>
          <p:cNvPr id="13" name="Text 11"/>
          <p:cNvSpPr txBox="1"/>
          <p:nvPr/>
        </p:nvSpPr>
        <p:spPr>
          <a:xfrm>
            <a:off x="2103120" y="251587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AI</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14" name="Shape 12"/>
          <p:cNvSpPr/>
          <p:nvPr/>
        </p:nvSpPr>
        <p:spPr>
          <a:xfrm>
            <a:off x="2011680" y="3750310"/>
            <a:ext cx="1463040" cy="749808"/>
          </a:xfrm>
          <a:prstGeom prst="roundRect">
            <a:avLst>
              <a:gd name="adj" fmla="val 14634"/>
            </a:avLst>
          </a:prstGeom>
          <a:solidFill>
            <a:srgbClr val="DDF1E4"/>
          </a:solidFill>
          <a:ln w="25400">
            <a:solidFill>
              <a:srgbClr val="237A48"/>
            </a:solidFill>
            <a:prstDash val="solid"/>
          </a:ln>
        </p:spPr>
      </p:sp>
      <p:sp>
        <p:nvSpPr>
          <p:cNvPr id="15" name="Text 13"/>
          <p:cNvSpPr txBox="1"/>
          <p:nvPr/>
        </p:nvSpPr>
        <p:spPr>
          <a:xfrm>
            <a:off x="2103120" y="375031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機械学習</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16" name="Shape 14"/>
          <p:cNvSpPr/>
          <p:nvPr/>
        </p:nvSpPr>
        <p:spPr>
          <a:xfrm>
            <a:off x="2011680" y="4984750"/>
            <a:ext cx="1463040" cy="749808"/>
          </a:xfrm>
          <a:prstGeom prst="roundRect">
            <a:avLst>
              <a:gd name="adj" fmla="val 14634"/>
            </a:avLst>
          </a:prstGeom>
          <a:solidFill>
            <a:srgbClr val="DDF1E4"/>
          </a:solidFill>
          <a:ln w="25400">
            <a:solidFill>
              <a:srgbClr val="237A48"/>
            </a:solidFill>
            <a:prstDash val="solid"/>
          </a:ln>
        </p:spPr>
      </p:sp>
      <p:sp>
        <p:nvSpPr>
          <p:cNvPr id="17" name="Text 15"/>
          <p:cNvSpPr txBox="1"/>
          <p:nvPr/>
        </p:nvSpPr>
        <p:spPr>
          <a:xfrm>
            <a:off x="2103120" y="498475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データ分析</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18" name="Shape 16"/>
          <p:cNvSpPr/>
          <p:nvPr/>
        </p:nvSpPr>
        <p:spPr>
          <a:xfrm>
            <a:off x="2011680" y="6219190"/>
            <a:ext cx="1463040" cy="749808"/>
          </a:xfrm>
          <a:prstGeom prst="roundRect">
            <a:avLst>
              <a:gd name="adj" fmla="val 14634"/>
            </a:avLst>
          </a:prstGeom>
          <a:solidFill>
            <a:srgbClr val="E2E8F0"/>
          </a:solidFill>
          <a:ln w="25400">
            <a:solidFill>
              <a:srgbClr val="475569"/>
            </a:solidFill>
            <a:prstDash val="solid"/>
          </a:ln>
        </p:spPr>
      </p:sp>
      <p:sp>
        <p:nvSpPr>
          <p:cNvPr id="19" name="Text 17"/>
          <p:cNvSpPr txBox="1"/>
          <p:nvPr/>
        </p:nvSpPr>
        <p:spPr>
          <a:xfrm>
            <a:off x="2103120" y="6219190"/>
            <a:ext cx="128016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IoT</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0" name="Text 1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259</a:t>
            </a:fld>
            <a:endParaRPr lang="en-US"/>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IoTは「モノ」をつなぐ仕組み</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センサーで測った情報を、ネットワークを通して集め、見える形にします。</a:t>
            </a:r>
            <a:endParaRPr lang="en-US" sz="1800" dirty="0"/>
          </a:p>
        </p:txBody>
      </p:sp>
      <p:sp>
        <p:nvSpPr>
          <p:cNvPr id="7" name="Shape 5"/>
          <p:cNvSpPr/>
          <p:nvPr/>
        </p:nvSpPr>
        <p:spPr>
          <a:xfrm>
            <a:off x="320040" y="2515870"/>
            <a:ext cx="4846320" cy="911352"/>
          </a:xfrm>
          <a:prstGeom prst="roundRect">
            <a:avLst>
              <a:gd name="adj" fmla="val 12040"/>
            </a:avLst>
          </a:prstGeom>
          <a:solidFill>
            <a:srgbClr val="0B7A7A"/>
          </a:solidFill>
          <a:ln/>
        </p:spPr>
      </p:sp>
      <p:sp>
        <p:nvSpPr>
          <p:cNvPr id="8" name="Text 6"/>
          <p:cNvSpPr txBox="1"/>
          <p:nvPr/>
        </p:nvSpPr>
        <p:spPr>
          <a:xfrm>
            <a:off x="411480" y="2515870"/>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センサー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温度などを測る</a:t>
            </a:r>
            <a:endParaRPr lang="en-US" sz="2000" dirty="0"/>
          </a:p>
        </p:txBody>
      </p:sp>
      <p:sp>
        <p:nvSpPr>
          <p:cNvPr id="9" name="Shape 7"/>
          <p:cNvSpPr/>
          <p:nvPr/>
        </p:nvSpPr>
        <p:spPr>
          <a:xfrm>
            <a:off x="2743200" y="3610102"/>
            <a:ext cx="0" cy="438912"/>
          </a:xfrm>
          <a:prstGeom prst="line">
            <a:avLst/>
          </a:prstGeom>
          <a:noFill/>
          <a:ln w="38100">
            <a:solidFill>
              <a:srgbClr val="1B2A3A"/>
            </a:solidFill>
            <a:prstDash val="solid"/>
            <a:tailEnd type="triangle"/>
          </a:ln>
        </p:spPr>
      </p:sp>
      <p:sp>
        <p:nvSpPr>
          <p:cNvPr id="10" name="Shape 8"/>
          <p:cNvSpPr/>
          <p:nvPr/>
        </p:nvSpPr>
        <p:spPr>
          <a:xfrm>
            <a:off x="320040" y="4067302"/>
            <a:ext cx="4846320" cy="911352"/>
          </a:xfrm>
          <a:prstGeom prst="roundRect">
            <a:avLst>
              <a:gd name="adj" fmla="val 12040"/>
            </a:avLst>
          </a:prstGeom>
          <a:solidFill>
            <a:srgbClr val="2F6BC2"/>
          </a:solidFill>
          <a:ln/>
        </p:spPr>
      </p:sp>
      <p:sp>
        <p:nvSpPr>
          <p:cNvPr id="11" name="Text 9"/>
          <p:cNvSpPr txBox="1"/>
          <p:nvPr/>
        </p:nvSpPr>
        <p:spPr>
          <a:xfrm>
            <a:off x="411480" y="406730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小型の機器</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値を読み取る</a:t>
            </a:r>
            <a:endParaRPr lang="en-US" sz="2000" dirty="0"/>
          </a:p>
        </p:txBody>
      </p:sp>
      <p:sp>
        <p:nvSpPr>
          <p:cNvPr id="12" name="Shape 10"/>
          <p:cNvSpPr/>
          <p:nvPr/>
        </p:nvSpPr>
        <p:spPr>
          <a:xfrm>
            <a:off x="2743200" y="5161534"/>
            <a:ext cx="0" cy="438912"/>
          </a:xfrm>
          <a:prstGeom prst="line">
            <a:avLst/>
          </a:prstGeom>
          <a:noFill/>
          <a:ln w="38100">
            <a:solidFill>
              <a:srgbClr val="1B2A3A"/>
            </a:solidFill>
            <a:prstDash val="solid"/>
            <a:tailEnd type="triangle"/>
          </a:ln>
        </p:spPr>
      </p:sp>
      <p:sp>
        <p:nvSpPr>
          <p:cNvPr id="13" name="Shape 11"/>
          <p:cNvSpPr/>
          <p:nvPr/>
        </p:nvSpPr>
        <p:spPr>
          <a:xfrm>
            <a:off x="320040" y="5618734"/>
            <a:ext cx="4846320" cy="911352"/>
          </a:xfrm>
          <a:prstGeom prst="roundRect">
            <a:avLst>
              <a:gd name="adj" fmla="val 12040"/>
            </a:avLst>
          </a:prstGeom>
          <a:solidFill>
            <a:srgbClr val="B45309"/>
          </a:solidFill>
          <a:ln/>
        </p:spPr>
      </p:sp>
      <p:sp>
        <p:nvSpPr>
          <p:cNvPr id="14" name="Text 12"/>
          <p:cNvSpPr txBox="1"/>
          <p:nvPr/>
        </p:nvSpPr>
        <p:spPr>
          <a:xfrm>
            <a:off x="411480" y="561873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通信</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Wi-Fiなど</a:t>
            </a:r>
            <a:endParaRPr lang="en-US" sz="2000" dirty="0"/>
          </a:p>
        </p:txBody>
      </p:sp>
      <p:sp>
        <p:nvSpPr>
          <p:cNvPr id="15" name="Shape 13"/>
          <p:cNvSpPr/>
          <p:nvPr/>
        </p:nvSpPr>
        <p:spPr>
          <a:xfrm>
            <a:off x="2743200" y="6712966"/>
            <a:ext cx="0" cy="438912"/>
          </a:xfrm>
          <a:prstGeom prst="line">
            <a:avLst/>
          </a:prstGeom>
          <a:noFill/>
          <a:ln w="38100">
            <a:solidFill>
              <a:srgbClr val="1B2A3A"/>
            </a:solidFill>
            <a:prstDash val="solid"/>
            <a:tailEnd type="triangle"/>
          </a:ln>
        </p:spPr>
      </p:sp>
      <p:sp>
        <p:nvSpPr>
          <p:cNvPr id="16" name="Shape 14"/>
          <p:cNvSpPr/>
          <p:nvPr/>
        </p:nvSpPr>
        <p:spPr>
          <a:xfrm>
            <a:off x="320040" y="7170166"/>
            <a:ext cx="4846320" cy="911352"/>
          </a:xfrm>
          <a:prstGeom prst="roundRect">
            <a:avLst>
              <a:gd name="adj" fmla="val 12040"/>
            </a:avLst>
          </a:prstGeom>
          <a:solidFill>
            <a:srgbClr val="5B46B8"/>
          </a:solidFill>
          <a:ln/>
        </p:spPr>
      </p:sp>
      <p:sp>
        <p:nvSpPr>
          <p:cNvPr id="17" name="Text 15"/>
          <p:cNvSpPr txBox="1"/>
          <p:nvPr/>
        </p:nvSpPr>
        <p:spPr>
          <a:xfrm>
            <a:off x="411480" y="717016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PC・クラウド</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保存する</a:t>
            </a:r>
            <a:endParaRPr lang="en-US" sz="2000" dirty="0"/>
          </a:p>
        </p:txBody>
      </p:sp>
      <p:sp>
        <p:nvSpPr>
          <p:cNvPr id="18" name="Shape 16"/>
          <p:cNvSpPr/>
          <p:nvPr/>
        </p:nvSpPr>
        <p:spPr>
          <a:xfrm>
            <a:off x="2743200" y="8264398"/>
            <a:ext cx="0" cy="438912"/>
          </a:xfrm>
          <a:prstGeom prst="line">
            <a:avLst/>
          </a:prstGeom>
          <a:noFill/>
          <a:ln w="38100">
            <a:solidFill>
              <a:srgbClr val="1B2A3A"/>
            </a:solidFill>
            <a:prstDash val="solid"/>
            <a:tailEnd type="triangle"/>
          </a:ln>
        </p:spPr>
      </p:sp>
      <p:sp>
        <p:nvSpPr>
          <p:cNvPr id="19" name="Shape 17"/>
          <p:cNvSpPr/>
          <p:nvPr/>
        </p:nvSpPr>
        <p:spPr>
          <a:xfrm>
            <a:off x="320040" y="8721598"/>
            <a:ext cx="4846320" cy="911352"/>
          </a:xfrm>
          <a:prstGeom prst="roundRect">
            <a:avLst>
              <a:gd name="adj" fmla="val 12040"/>
            </a:avLst>
          </a:prstGeom>
          <a:solidFill>
            <a:srgbClr val="237A48"/>
          </a:solidFill>
          <a:ln/>
        </p:spPr>
      </p:sp>
      <p:sp>
        <p:nvSpPr>
          <p:cNvPr id="20" name="Text 18"/>
          <p:cNvSpPr txBox="1"/>
          <p:nvPr/>
        </p:nvSpPr>
        <p:spPr>
          <a:xfrm>
            <a:off x="411480" y="8721598"/>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画面</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グラフで見る</a:t>
            </a:r>
            <a:endParaRPr lang="en-US" sz="2000" dirty="0"/>
          </a:p>
        </p:txBody>
      </p:sp>
      <p:sp>
        <p:nvSpPr>
          <p:cNvPr id="21"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260</a:t>
            </a:fld>
            <a:endParaRPr lang="en-US"/>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IoTは「モノ」をつなぐ仕組み</a:t>
            </a:r>
            <a:endParaRPr lang="ja-JP" sz="2200" dirty="0"/>
          </a:p>
        </p:txBody>
      </p:sp>
      <p:sp>
        <p:nvSpPr>
          <p:cNvPr id="4" name="Shape 2"/>
          <p:cNvSpPr/>
          <p:nvPr/>
        </p:nvSpPr>
        <p:spPr>
          <a:xfrm>
            <a:off x="320040" y="1318514"/>
            <a:ext cx="4846320" cy="1280160"/>
          </a:xfrm>
          <a:prstGeom prst="roundRect">
            <a:avLst>
              <a:gd name="adj" fmla="val 8571"/>
            </a:avLst>
          </a:prstGeom>
          <a:solidFill>
            <a:srgbClr val="DCE8F8"/>
          </a:solidFill>
          <a:ln w="19050">
            <a:solidFill>
              <a:srgbClr val="2F6BC2"/>
            </a:solidFill>
            <a:prstDash val="solid"/>
          </a:ln>
        </p:spPr>
      </p:sp>
      <p:sp>
        <p:nvSpPr>
          <p:cNvPr id="5" name="Shape 3"/>
          <p:cNvSpPr/>
          <p:nvPr/>
        </p:nvSpPr>
        <p:spPr>
          <a:xfrm>
            <a:off x="457200" y="1729994"/>
            <a:ext cx="457200" cy="457200"/>
          </a:xfrm>
          <a:prstGeom prst="ellipse">
            <a:avLst/>
          </a:prstGeom>
          <a:solidFill>
            <a:srgbClr val="2F6BC2"/>
          </a:solidFill>
          <a:ln/>
        </p:spPr>
      </p:sp>
      <p:pic>
        <p:nvPicPr>
          <p:cNvPr id="6" name="Image 0" descr="preencoded.png">    </p:cNvPr>
          <p:cNvPicPr>
            <a:picLocks noChangeAspect="1"/>
          </p:cNvPicPr>
          <p:nvPr/>
        </p:nvPicPr>
        <p:blipFill>
          <a:blip r:embed="rId1"/>
          <a:stretch>
            <a:fillRect/>
          </a:stretch>
        </p:blipFill>
        <p:spPr>
          <a:xfrm>
            <a:off x="557784" y="1830578"/>
            <a:ext cx="256032" cy="256032"/>
          </a:xfrm>
          <a:prstGeom prst="rect">
            <a:avLst/>
          </a:prstGeom>
        </p:spPr>
      </p:pic>
      <p:sp>
        <p:nvSpPr>
          <p:cNvPr id="7" name="Text 4"/>
          <p:cNvSpPr txBox="1"/>
          <p:nvPr/>
        </p:nvSpPr>
        <p:spPr>
          <a:xfrm>
            <a:off x="1051560" y="1364234"/>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例：温度センサーで部屋の温度を測り、PCの画面にグラフで表示する。</a:t>
            </a:r>
            <a:endParaRPr lang="en-US" sz="2000" dirty="0"/>
          </a:p>
        </p:txBody>
      </p:sp>
      <p:sp>
        <p:nvSpPr>
          <p:cNvPr id="8"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261</a:t>
            </a:fld>
            <a:endParaRPr lang="en-US"/>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PCの中身を開けてみる</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自作PCは、主な部品を選んで、マザーボードに載せて組み立てます。どの部品がどの層（ハードウェア）かを見ます。</a:t>
            </a:r>
            <a:endParaRPr lang="en-US" sz="1800" dirty="0"/>
          </a:p>
        </p:txBody>
      </p:sp>
      <p:sp>
        <p:nvSpPr>
          <p:cNvPr id="6" name="Shape 4"/>
          <p:cNvSpPr/>
          <p:nvPr/>
        </p:nvSpPr>
        <p:spPr>
          <a:xfrm>
            <a:off x="320040" y="2817622"/>
            <a:ext cx="4846320" cy="5212080"/>
          </a:xfrm>
          <a:prstGeom prst="roundRect">
            <a:avLst>
              <a:gd name="adj" fmla="val 2642"/>
            </a:avLst>
          </a:prstGeom>
          <a:solidFill>
            <a:srgbClr val="F7F9FB"/>
          </a:solidFill>
          <a:ln w="19050">
            <a:solidFill>
              <a:srgbClr val="475569"/>
            </a:solidFill>
            <a:prstDash val="dash"/>
          </a:ln>
        </p:spPr>
      </p:sp>
      <p:sp>
        <p:nvSpPr>
          <p:cNvPr id="7" name="Text 5"/>
          <p:cNvSpPr txBox="1"/>
          <p:nvPr/>
        </p:nvSpPr>
        <p:spPr>
          <a:xfrm>
            <a:off x="457200" y="2881630"/>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PCケースの中（自作PCの部品）</a:t>
            </a:r>
            <a:endParaRPr lang="en-US" sz="1600" dirty="0"/>
          </a:p>
        </p:txBody>
      </p:sp>
      <p:sp>
        <p:nvSpPr>
          <p:cNvPr id="8" name="Shape 6"/>
          <p:cNvSpPr/>
          <p:nvPr/>
        </p:nvSpPr>
        <p:spPr>
          <a:xfrm>
            <a:off x="457200" y="3274822"/>
            <a:ext cx="4572000" cy="3291840"/>
          </a:xfrm>
          <a:prstGeom prst="roundRect">
            <a:avLst>
              <a:gd name="adj" fmla="val 3889"/>
            </a:avLst>
          </a:prstGeom>
          <a:solidFill>
            <a:srgbClr val="FFFFFF"/>
          </a:solidFill>
          <a:ln w="19050">
            <a:solidFill>
              <a:srgbClr val="2F6BC2"/>
            </a:solidFill>
            <a:prstDash val="dash"/>
          </a:ln>
        </p:spPr>
      </p:sp>
      <p:sp>
        <p:nvSpPr>
          <p:cNvPr id="9" name="Text 7"/>
          <p:cNvSpPr txBox="1"/>
          <p:nvPr/>
        </p:nvSpPr>
        <p:spPr>
          <a:xfrm>
            <a:off x="594360" y="3338830"/>
            <a:ext cx="429768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2F6BC2"/>
                </a:solidFill>
                <a:latin typeface="Yu Gothic" pitchFamily="34" charset="0"/>
                <a:ea typeface="Yu Gothic" pitchFamily="34" charset="-122"/>
                <a:cs typeface="Yu Gothic" pitchFamily="34" charset="-120"/>
              </a:rPr>
              <a:t>マザーボード（部品を載せる基板）</a:t>
            </a:r>
            <a:endParaRPr lang="en-US" sz="1600" dirty="0"/>
          </a:p>
        </p:txBody>
      </p:sp>
      <p:sp>
        <p:nvSpPr>
          <p:cNvPr id="10" name="Shape 8"/>
          <p:cNvSpPr/>
          <p:nvPr/>
        </p:nvSpPr>
        <p:spPr>
          <a:xfrm>
            <a:off x="1920240" y="4280662"/>
            <a:ext cx="182880" cy="0"/>
          </a:xfrm>
          <a:prstGeom prst="line">
            <a:avLst/>
          </a:prstGeom>
          <a:noFill/>
          <a:ln w="31750">
            <a:solidFill>
              <a:srgbClr val="1B2A3A"/>
            </a:solidFill>
            <a:prstDash val="solid"/>
            <a:headEnd type="triangle"/>
            <a:tailEnd type="triangle"/>
          </a:ln>
        </p:spPr>
      </p:sp>
      <p:sp>
        <p:nvSpPr>
          <p:cNvPr id="11" name="Text 9"/>
          <p:cNvSpPr txBox="1"/>
          <p:nvPr/>
        </p:nvSpPr>
        <p:spPr>
          <a:xfrm>
            <a:off x="1615440" y="4119118"/>
            <a:ext cx="7924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a:t>
            </a:r>
            <a:endParaRPr lang="en-US" sz="1600" dirty="0"/>
          </a:p>
        </p:txBody>
      </p:sp>
      <p:sp>
        <p:nvSpPr>
          <p:cNvPr id="12" name="Shape 10"/>
          <p:cNvSpPr/>
          <p:nvPr/>
        </p:nvSpPr>
        <p:spPr>
          <a:xfrm flipV="1">
            <a:off x="2354580" y="4737862"/>
            <a:ext cx="0" cy="548640"/>
          </a:xfrm>
          <a:prstGeom prst="line">
            <a:avLst/>
          </a:prstGeom>
          <a:noFill/>
          <a:ln w="31750">
            <a:solidFill>
              <a:srgbClr val="1B2A3A"/>
            </a:solidFill>
            <a:prstDash val="solid"/>
            <a:tailEnd type="triangle"/>
          </a:ln>
        </p:spPr>
      </p:sp>
      <p:sp>
        <p:nvSpPr>
          <p:cNvPr id="13" name="Text 11"/>
          <p:cNvSpPr txBox="1"/>
          <p:nvPr/>
        </p:nvSpPr>
        <p:spPr>
          <a:xfrm>
            <a:off x="1856740" y="4850638"/>
            <a:ext cx="9956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読み込む</a:t>
            </a:r>
            <a:endParaRPr lang="en-US" sz="1600" dirty="0"/>
          </a:p>
        </p:txBody>
      </p:sp>
      <p:sp>
        <p:nvSpPr>
          <p:cNvPr id="14" name="Shape 12"/>
          <p:cNvSpPr/>
          <p:nvPr/>
        </p:nvSpPr>
        <p:spPr>
          <a:xfrm flipV="1">
            <a:off x="2743200" y="6566662"/>
            <a:ext cx="0" cy="411480"/>
          </a:xfrm>
          <a:prstGeom prst="line">
            <a:avLst/>
          </a:prstGeom>
          <a:noFill/>
          <a:ln w="31750">
            <a:solidFill>
              <a:srgbClr val="1B2A3A"/>
            </a:solidFill>
            <a:prstDash val="solid"/>
            <a:tailEnd type="triangle"/>
          </a:ln>
        </p:spPr>
      </p:sp>
      <p:sp>
        <p:nvSpPr>
          <p:cNvPr id="15" name="Text 13"/>
          <p:cNvSpPr txBox="1"/>
          <p:nvPr/>
        </p:nvSpPr>
        <p:spPr>
          <a:xfrm>
            <a:off x="2448560" y="6610858"/>
            <a:ext cx="5892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電気</a:t>
            </a:r>
            <a:endParaRPr lang="en-US" sz="1600" dirty="0"/>
          </a:p>
        </p:txBody>
      </p:sp>
      <p:sp>
        <p:nvSpPr>
          <p:cNvPr id="16" name="Shape 14"/>
          <p:cNvSpPr/>
          <p:nvPr/>
        </p:nvSpPr>
        <p:spPr>
          <a:xfrm>
            <a:off x="594360" y="3823462"/>
            <a:ext cx="1325880" cy="914400"/>
          </a:xfrm>
          <a:prstGeom prst="roundRect">
            <a:avLst>
              <a:gd name="adj" fmla="val 12000"/>
            </a:avLst>
          </a:prstGeom>
          <a:solidFill>
            <a:srgbClr val="E2E8F0"/>
          </a:solidFill>
          <a:ln w="25400">
            <a:solidFill>
              <a:srgbClr val="475569"/>
            </a:solidFill>
            <a:prstDash val="solid"/>
          </a:ln>
        </p:spPr>
      </p:sp>
      <p:sp>
        <p:nvSpPr>
          <p:cNvPr id="17" name="Text 15"/>
          <p:cNvSpPr txBox="1"/>
          <p:nvPr/>
        </p:nvSpPr>
        <p:spPr>
          <a:xfrm>
            <a:off x="685800" y="3823462"/>
            <a:ext cx="1143000" cy="9144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計算する</a:t>
            </a:r>
            <a:endParaRPr lang="en-US" sz="1600" dirty="0"/>
          </a:p>
        </p:txBody>
      </p:sp>
      <p:sp>
        <p:nvSpPr>
          <p:cNvPr id="18" name="Shape 16"/>
          <p:cNvSpPr/>
          <p:nvPr/>
        </p:nvSpPr>
        <p:spPr>
          <a:xfrm>
            <a:off x="2103120" y="3823462"/>
            <a:ext cx="1325880" cy="914400"/>
          </a:xfrm>
          <a:prstGeom prst="roundRect">
            <a:avLst>
              <a:gd name="adj" fmla="val 12000"/>
            </a:avLst>
          </a:prstGeom>
          <a:solidFill>
            <a:srgbClr val="E2E8F0"/>
          </a:solidFill>
          <a:ln w="25400">
            <a:solidFill>
              <a:srgbClr val="475569"/>
            </a:solidFill>
            <a:prstDash val="solid"/>
          </a:ln>
        </p:spPr>
      </p:sp>
      <p:sp>
        <p:nvSpPr>
          <p:cNvPr id="19" name="Text 17"/>
          <p:cNvSpPr txBox="1"/>
          <p:nvPr/>
        </p:nvSpPr>
        <p:spPr>
          <a:xfrm>
            <a:off x="2194560" y="3823462"/>
            <a:ext cx="1143000" cy="91440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作業机</a:t>
            </a:r>
            <a:endParaRPr lang="en-US" sz="1600" dirty="0"/>
          </a:p>
        </p:txBody>
      </p:sp>
      <p:sp>
        <p:nvSpPr>
          <p:cNvPr id="20" name="Shape 18"/>
          <p:cNvSpPr/>
          <p:nvPr/>
        </p:nvSpPr>
        <p:spPr>
          <a:xfrm>
            <a:off x="3611880" y="3823462"/>
            <a:ext cx="1325880" cy="914400"/>
          </a:xfrm>
          <a:prstGeom prst="roundRect">
            <a:avLst>
              <a:gd name="adj" fmla="val 12000"/>
            </a:avLst>
          </a:prstGeom>
          <a:solidFill>
            <a:srgbClr val="E2E8F0"/>
          </a:solidFill>
          <a:ln w="25400">
            <a:solidFill>
              <a:srgbClr val="475569"/>
            </a:solidFill>
            <a:prstDash val="solid"/>
          </a:ln>
        </p:spPr>
      </p:sp>
      <p:sp>
        <p:nvSpPr>
          <p:cNvPr id="21" name="Text 19"/>
          <p:cNvSpPr txBox="1"/>
          <p:nvPr/>
        </p:nvSpPr>
        <p:spPr>
          <a:xfrm>
            <a:off x="3703320" y="3823462"/>
            <a:ext cx="1143000" cy="91440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通信部品</a:t>
            </a:r>
            <a:endParaRPr lang="en-US" sz="15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LAN・Wi-Fi</a:t>
            </a:r>
            <a:endParaRPr lang="en-US" sz="1500" dirty="0"/>
          </a:p>
        </p:txBody>
      </p:sp>
      <p:sp>
        <p:nvSpPr>
          <p:cNvPr id="22" name="Shape 20"/>
          <p:cNvSpPr/>
          <p:nvPr/>
        </p:nvSpPr>
        <p:spPr>
          <a:xfrm>
            <a:off x="594360" y="5286502"/>
            <a:ext cx="2011680" cy="914400"/>
          </a:xfrm>
          <a:prstGeom prst="roundRect">
            <a:avLst>
              <a:gd name="adj" fmla="val 12000"/>
            </a:avLst>
          </a:prstGeom>
          <a:solidFill>
            <a:srgbClr val="E2E8F0"/>
          </a:solidFill>
          <a:ln w="25400">
            <a:solidFill>
              <a:srgbClr val="475569"/>
            </a:solidFill>
            <a:prstDash val="solid"/>
          </a:ln>
        </p:spPr>
      </p:sp>
      <p:sp>
        <p:nvSpPr>
          <p:cNvPr id="23" name="Text 21"/>
          <p:cNvSpPr txBox="1"/>
          <p:nvPr/>
        </p:nvSpPr>
        <p:spPr>
          <a:xfrm>
            <a:off x="685800" y="5286502"/>
            <a:ext cx="182880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SSD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M.2スロットなど</a:t>
            </a:r>
            <a:endParaRPr lang="en-US" sz="1800" dirty="0"/>
          </a:p>
        </p:txBody>
      </p:sp>
      <p:sp>
        <p:nvSpPr>
          <p:cNvPr id="24" name="Shape 22"/>
          <p:cNvSpPr/>
          <p:nvPr/>
        </p:nvSpPr>
        <p:spPr>
          <a:xfrm>
            <a:off x="2788920" y="5286502"/>
            <a:ext cx="2148840" cy="914400"/>
          </a:xfrm>
          <a:prstGeom prst="roundRect">
            <a:avLst>
              <a:gd name="adj" fmla="val 12000"/>
            </a:avLst>
          </a:prstGeom>
          <a:solidFill>
            <a:srgbClr val="E2E8F0"/>
          </a:solidFill>
          <a:ln w="25400">
            <a:solidFill>
              <a:srgbClr val="475569"/>
            </a:solidFill>
            <a:prstDash val="solid"/>
          </a:ln>
        </p:spPr>
      </p:sp>
      <p:sp>
        <p:nvSpPr>
          <p:cNvPr id="25" name="Text 23"/>
          <p:cNvSpPr txBox="1"/>
          <p:nvPr/>
        </p:nvSpPr>
        <p:spPr>
          <a:xfrm>
            <a:off x="2880360" y="5286502"/>
            <a:ext cx="196596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HDD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大容量の倉庫</a:t>
            </a:r>
            <a:endParaRPr lang="en-US" sz="1800" dirty="0"/>
          </a:p>
        </p:txBody>
      </p:sp>
      <p:sp>
        <p:nvSpPr>
          <p:cNvPr id="26" name="Shape 24"/>
          <p:cNvSpPr/>
          <p:nvPr/>
        </p:nvSpPr>
        <p:spPr>
          <a:xfrm>
            <a:off x="457200" y="6978142"/>
            <a:ext cx="4572000" cy="868680"/>
          </a:xfrm>
          <a:prstGeom prst="roundRect">
            <a:avLst>
              <a:gd name="adj" fmla="val 12632"/>
            </a:avLst>
          </a:prstGeom>
          <a:solidFill>
            <a:srgbClr val="FDEBD0"/>
          </a:solidFill>
          <a:ln w="25400">
            <a:solidFill>
              <a:srgbClr val="B45309"/>
            </a:solidFill>
            <a:prstDash val="solid"/>
          </a:ln>
        </p:spPr>
      </p:sp>
      <p:sp>
        <p:nvSpPr>
          <p:cNvPr id="27" name="Text 25"/>
          <p:cNvSpPr txBox="1"/>
          <p:nvPr/>
        </p:nvSpPr>
        <p:spPr>
          <a:xfrm>
            <a:off x="548640" y="6978142"/>
            <a:ext cx="438912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電源ユニット</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電気を送る</a:t>
            </a:r>
            <a:endParaRPr lang="en-US" sz="1800" dirty="0"/>
          </a:p>
        </p:txBody>
      </p:sp>
      <p:sp>
        <p:nvSpPr>
          <p:cNvPr id="28" name="Text 2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262</a:t>
            </a:fld>
            <a:endParaRPr lang="en-US"/>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PC自作で学ぶ部品の役割</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自作では、各部品の役割と「組み合わせて使えるか（互換性）」を理解します。</a:t>
            </a:r>
            <a:endParaRPr lang="en-US" sz="1800" dirty="0"/>
          </a:p>
        </p:txBody>
      </p:sp>
      <p:sp>
        <p:nvSpPr>
          <p:cNvPr id="7" name="Shape 5"/>
          <p:cNvSpPr/>
          <p:nvPr/>
        </p:nvSpPr>
        <p:spPr>
          <a:xfrm>
            <a:off x="320040" y="2515870"/>
            <a:ext cx="4846320" cy="1571752"/>
          </a:xfrm>
          <a:prstGeom prst="roundRect">
            <a:avLst>
              <a:gd name="adj" fmla="val 8145"/>
            </a:avLst>
          </a:prstGeom>
          <a:solidFill>
            <a:srgbClr val="FDEBD0"/>
          </a:solidFill>
          <a:ln/>
        </p:spPr>
      </p:sp>
      <p:sp>
        <p:nvSpPr>
          <p:cNvPr id="8" name="Text 6"/>
          <p:cNvSpPr txBox="1"/>
          <p:nvPr/>
        </p:nvSpPr>
        <p:spPr>
          <a:xfrm>
            <a:off x="502920" y="266217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CPU</a:t>
            </a:r>
            <a:endParaRPr lang="en-US" sz="2200" dirty="0"/>
          </a:p>
        </p:txBody>
      </p:sp>
      <p:sp>
        <p:nvSpPr>
          <p:cNvPr id="9" name="Text 7"/>
          <p:cNvSpPr txBox="1"/>
          <p:nvPr/>
        </p:nvSpPr>
        <p:spPr>
          <a:xfrm>
            <a:off x="502920" y="3122422"/>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計算・制御をする</a:t>
            </a:r>
            <a:endParaRPr lang="en-US" sz="2000" dirty="0"/>
          </a:p>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たとえ：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頭脳</a:t>
            </a:r>
            <a:endParaRPr lang="en-US" sz="2000" dirty="0"/>
          </a:p>
        </p:txBody>
      </p:sp>
      <p:sp>
        <p:nvSpPr>
          <p:cNvPr id="10" name="Shape 8"/>
          <p:cNvSpPr/>
          <p:nvPr/>
        </p:nvSpPr>
        <p:spPr>
          <a:xfrm>
            <a:off x="320040" y="4270502"/>
            <a:ext cx="4846320" cy="1571752"/>
          </a:xfrm>
          <a:prstGeom prst="roundRect">
            <a:avLst>
              <a:gd name="adj" fmla="val 8145"/>
            </a:avLst>
          </a:prstGeom>
          <a:solidFill>
            <a:srgbClr val="FDEBD0"/>
          </a:solidFill>
          <a:ln/>
        </p:spPr>
      </p:sp>
      <p:sp>
        <p:nvSpPr>
          <p:cNvPr id="11" name="Text 9"/>
          <p:cNvSpPr txBox="1"/>
          <p:nvPr/>
        </p:nvSpPr>
        <p:spPr>
          <a:xfrm>
            <a:off x="502920" y="441680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メモリ</a:t>
            </a:r>
            <a:endParaRPr lang="en-US" sz="2200" dirty="0"/>
          </a:p>
        </p:txBody>
      </p:sp>
      <p:sp>
        <p:nvSpPr>
          <p:cNvPr id="12" name="Text 10"/>
          <p:cNvSpPr txBox="1"/>
          <p:nvPr/>
        </p:nvSpPr>
        <p:spPr>
          <a:xfrm>
            <a:off x="502920" y="4877054"/>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作業中のデータを置く</a:t>
            </a:r>
            <a:endParaRPr lang="en-US" sz="2000" dirty="0"/>
          </a:p>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たとえ：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作業机</a:t>
            </a:r>
            <a:endParaRPr lang="en-US" sz="2000" dirty="0"/>
          </a:p>
        </p:txBody>
      </p:sp>
      <p:sp>
        <p:nvSpPr>
          <p:cNvPr id="13" name="Shape 11"/>
          <p:cNvSpPr/>
          <p:nvPr/>
        </p:nvSpPr>
        <p:spPr>
          <a:xfrm>
            <a:off x="320040" y="6025134"/>
            <a:ext cx="4846320" cy="1571752"/>
          </a:xfrm>
          <a:prstGeom prst="roundRect">
            <a:avLst>
              <a:gd name="adj" fmla="val 8145"/>
            </a:avLst>
          </a:prstGeom>
          <a:solidFill>
            <a:srgbClr val="FDEBD0"/>
          </a:solidFill>
          <a:ln/>
        </p:spPr>
      </p:sp>
      <p:sp>
        <p:nvSpPr>
          <p:cNvPr id="14" name="Text 12"/>
          <p:cNvSpPr txBox="1"/>
          <p:nvPr/>
        </p:nvSpPr>
        <p:spPr>
          <a:xfrm>
            <a:off x="502920" y="617143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ストレージ</a:t>
            </a:r>
            <a:endParaRPr lang="en-US" sz="2200" dirty="0"/>
          </a:p>
        </p:txBody>
      </p:sp>
      <p:sp>
        <p:nvSpPr>
          <p:cNvPr id="15" name="Text 13"/>
          <p:cNvSpPr txBox="1"/>
          <p:nvPr/>
        </p:nvSpPr>
        <p:spPr>
          <a:xfrm>
            <a:off x="502920" y="6631686"/>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データを保存する</a:t>
            </a:r>
            <a:endParaRPr lang="en-US" sz="2000" dirty="0"/>
          </a:p>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たとえ：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倉庫</a:t>
            </a:r>
            <a:endParaRPr lang="en-US" sz="2000" dirty="0"/>
          </a:p>
        </p:txBody>
      </p:sp>
      <p:sp>
        <p:nvSpPr>
          <p:cNvPr id="16" name="Shape 14"/>
          <p:cNvSpPr/>
          <p:nvPr/>
        </p:nvSpPr>
        <p:spPr>
          <a:xfrm>
            <a:off x="320040" y="7779766"/>
            <a:ext cx="4846320" cy="1571752"/>
          </a:xfrm>
          <a:prstGeom prst="roundRect">
            <a:avLst>
              <a:gd name="adj" fmla="val 8145"/>
            </a:avLst>
          </a:prstGeom>
          <a:solidFill>
            <a:srgbClr val="FDEBD0"/>
          </a:solidFill>
          <a:ln/>
        </p:spPr>
      </p:sp>
      <p:sp>
        <p:nvSpPr>
          <p:cNvPr id="17" name="Text 15"/>
          <p:cNvSpPr txBox="1"/>
          <p:nvPr/>
        </p:nvSpPr>
        <p:spPr>
          <a:xfrm>
            <a:off x="502920" y="792607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マザーボード</a:t>
            </a:r>
            <a:endParaRPr lang="en-US" sz="2200" dirty="0"/>
          </a:p>
        </p:txBody>
      </p:sp>
      <p:sp>
        <p:nvSpPr>
          <p:cNvPr id="18" name="Text 16"/>
          <p:cNvSpPr txBox="1"/>
          <p:nvPr/>
        </p:nvSpPr>
        <p:spPr>
          <a:xfrm>
            <a:off x="502920" y="8386318"/>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部品どうしをつなぐ</a:t>
            </a:r>
            <a:endParaRPr lang="en-US" sz="2000" dirty="0"/>
          </a:p>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たとえ：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道路と土台</a:t>
            </a:r>
            <a:endParaRPr lang="en-US" sz="2000" dirty="0"/>
          </a:p>
        </p:txBody>
      </p:sp>
      <p:sp>
        <p:nvSpPr>
          <p:cNvPr id="19" name="Text 1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263</a:t>
            </a:fld>
            <a:endParaRPr lang="en-US"/>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PC自作で学ぶ部品の役割</a:t>
            </a:r>
            <a:endParaRPr lang="ja-JP" sz="2200" dirty="0"/>
          </a:p>
        </p:txBody>
      </p:sp>
      <p:sp>
        <p:nvSpPr>
          <p:cNvPr id="4" name="Shape 2"/>
          <p:cNvSpPr/>
          <p:nvPr/>
        </p:nvSpPr>
        <p:spPr>
          <a:xfrm>
            <a:off x="320040" y="1318514"/>
            <a:ext cx="4846320" cy="1571752"/>
          </a:xfrm>
          <a:prstGeom prst="roundRect">
            <a:avLst>
              <a:gd name="adj" fmla="val 8145"/>
            </a:avLst>
          </a:prstGeom>
          <a:solidFill>
            <a:srgbClr val="FDEBD0"/>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電源ユニット</a:t>
            </a:r>
            <a:endParaRPr lang="en-US" sz="2200" dirty="0"/>
          </a:p>
        </p:txBody>
      </p:sp>
      <p:sp>
        <p:nvSpPr>
          <p:cNvPr id="6" name="Text 4"/>
          <p:cNvSpPr txBox="1"/>
          <p:nvPr/>
        </p:nvSpPr>
        <p:spPr>
          <a:xfrm>
            <a:off x="502920" y="1925066"/>
            <a:ext cx="4480560" cy="8737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役割：</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各部品に電気を送る</a:t>
            </a:r>
            <a:endParaRPr lang="en-US" sz="2000" dirty="0"/>
          </a:p>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たとえ：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心臓</a:t>
            </a:r>
            <a:endParaRPr lang="en-US" sz="2000" dirty="0"/>
          </a:p>
        </p:txBody>
      </p:sp>
      <p:sp>
        <p:nvSpPr>
          <p:cNvPr id="7" name="Shape 5"/>
          <p:cNvSpPr/>
          <p:nvPr/>
        </p:nvSpPr>
        <p:spPr>
          <a:xfrm>
            <a:off x="320040" y="3073146"/>
            <a:ext cx="4846320" cy="1615440"/>
          </a:xfrm>
          <a:prstGeom prst="roundRect">
            <a:avLst>
              <a:gd name="adj" fmla="val 6792"/>
            </a:avLst>
          </a:prstGeom>
          <a:solidFill>
            <a:srgbClr val="FBE3E0"/>
          </a:solidFill>
          <a:ln w="19050">
            <a:solidFill>
              <a:srgbClr val="C0392B"/>
            </a:solidFill>
            <a:prstDash val="solid"/>
          </a:ln>
        </p:spPr>
      </p:sp>
      <p:sp>
        <p:nvSpPr>
          <p:cNvPr id="8" name="Shape 6"/>
          <p:cNvSpPr/>
          <p:nvPr/>
        </p:nvSpPr>
        <p:spPr>
          <a:xfrm>
            <a:off x="457200" y="3652266"/>
            <a:ext cx="457200" cy="457200"/>
          </a:xfrm>
          <a:prstGeom prst="ellipse">
            <a:avLst/>
          </a:prstGeom>
          <a:solidFill>
            <a:srgbClr val="C0392B"/>
          </a:solidFill>
          <a:ln/>
        </p:spPr>
      </p:sp>
      <p:pic>
        <p:nvPicPr>
          <p:cNvPr id="9" name="Image 0" descr="preencoded.png">    </p:cNvPr>
          <p:cNvPicPr>
            <a:picLocks noChangeAspect="1"/>
          </p:cNvPicPr>
          <p:nvPr/>
        </p:nvPicPr>
        <p:blipFill>
          <a:blip r:embed="rId1"/>
          <a:stretch>
            <a:fillRect/>
          </a:stretch>
        </p:blipFill>
        <p:spPr>
          <a:xfrm>
            <a:off x="557784" y="3752850"/>
            <a:ext cx="256032" cy="256032"/>
          </a:xfrm>
          <a:prstGeom prst="rect">
            <a:avLst/>
          </a:prstGeom>
        </p:spPr>
      </p:pic>
      <p:sp>
        <p:nvSpPr>
          <p:cNvPr id="10" name="Text 7"/>
          <p:cNvSpPr txBox="1"/>
          <p:nvPr/>
        </p:nvSpPr>
        <p:spPr>
          <a:xfrm>
            <a:off x="1051560" y="3118866"/>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互換性の確認が大切：CPUとマザーボードの形が合うか、メモリの規格が合うか、電源の容量は足りるか。</a:t>
            </a:r>
            <a:endParaRPr lang="en-US" sz="2000" dirty="0"/>
          </a:p>
        </p:txBody>
      </p:sp>
      <p:sp>
        <p:nvSpPr>
          <p:cNvPr id="11"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264</a:t>
            </a:fld>
            <a:endParaRPr lang="en-US"/>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関係図：開発の「対象」を決める</a:t>
            </a:r>
            <a:endParaRPr lang="ja-JP" sz="2600" dirty="0"/>
          </a:p>
        </p:txBody>
      </p:sp>
      <p:sp>
        <p:nvSpPr>
          <p:cNvPr id="5" name="Text 3"/>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アプリ開発は、「どのOSで動かすか」で、使う道具や作り方が変わります。</a:t>
            </a:r>
            <a:endParaRPr lang="en-US" sz="1800" dirty="0"/>
          </a:p>
        </p:txBody>
      </p:sp>
      <p:sp>
        <p:nvSpPr>
          <p:cNvPr id="6" name="Shape 4"/>
          <p:cNvSpPr/>
          <p:nvPr/>
        </p:nvSpPr>
        <p:spPr>
          <a:xfrm>
            <a:off x="1127760" y="3678428"/>
            <a:ext cx="0" cy="484632"/>
          </a:xfrm>
          <a:prstGeom prst="line">
            <a:avLst/>
          </a:prstGeom>
          <a:noFill/>
          <a:ln w="31750">
            <a:solidFill>
              <a:srgbClr val="1B2A3A"/>
            </a:solidFill>
            <a:prstDash val="solid"/>
            <a:tailEnd type="triangle"/>
          </a:ln>
        </p:spPr>
      </p:sp>
      <p:sp>
        <p:nvSpPr>
          <p:cNvPr id="7" name="Text 5"/>
          <p:cNvSpPr txBox="1"/>
          <p:nvPr/>
        </p:nvSpPr>
        <p:spPr>
          <a:xfrm>
            <a:off x="750570" y="376758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動く先</a:t>
            </a:r>
            <a:endParaRPr lang="en-US" sz="1500" dirty="0"/>
          </a:p>
        </p:txBody>
      </p:sp>
      <p:sp>
        <p:nvSpPr>
          <p:cNvPr id="8" name="Shape 6"/>
          <p:cNvSpPr/>
          <p:nvPr/>
        </p:nvSpPr>
        <p:spPr>
          <a:xfrm>
            <a:off x="2743200" y="3678428"/>
            <a:ext cx="0" cy="484632"/>
          </a:xfrm>
          <a:prstGeom prst="line">
            <a:avLst/>
          </a:prstGeom>
          <a:noFill/>
          <a:ln w="31750">
            <a:solidFill>
              <a:srgbClr val="1B2A3A"/>
            </a:solidFill>
            <a:prstDash val="solid"/>
            <a:tailEnd type="triangle"/>
          </a:ln>
        </p:spPr>
      </p:sp>
      <p:sp>
        <p:nvSpPr>
          <p:cNvPr id="9" name="Text 7"/>
          <p:cNvSpPr txBox="1"/>
          <p:nvPr/>
        </p:nvSpPr>
        <p:spPr>
          <a:xfrm>
            <a:off x="2366010" y="376758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動く先</a:t>
            </a:r>
            <a:endParaRPr lang="en-US" sz="1500" dirty="0"/>
          </a:p>
        </p:txBody>
      </p:sp>
      <p:sp>
        <p:nvSpPr>
          <p:cNvPr id="10" name="Shape 8"/>
          <p:cNvSpPr/>
          <p:nvPr/>
        </p:nvSpPr>
        <p:spPr>
          <a:xfrm>
            <a:off x="4358640" y="3678428"/>
            <a:ext cx="0" cy="484632"/>
          </a:xfrm>
          <a:prstGeom prst="line">
            <a:avLst/>
          </a:prstGeom>
          <a:noFill/>
          <a:ln w="31750">
            <a:solidFill>
              <a:srgbClr val="1B2A3A"/>
            </a:solidFill>
            <a:prstDash val="solid"/>
            <a:tailEnd type="triangle"/>
          </a:ln>
        </p:spPr>
      </p:sp>
      <p:sp>
        <p:nvSpPr>
          <p:cNvPr id="11" name="Text 9"/>
          <p:cNvSpPr txBox="1"/>
          <p:nvPr/>
        </p:nvSpPr>
        <p:spPr>
          <a:xfrm>
            <a:off x="3981450" y="376758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動く先</a:t>
            </a:r>
            <a:endParaRPr lang="en-US" sz="1500" dirty="0"/>
          </a:p>
        </p:txBody>
      </p:sp>
      <p:sp>
        <p:nvSpPr>
          <p:cNvPr id="12" name="Shape 10"/>
          <p:cNvSpPr/>
          <p:nvPr/>
        </p:nvSpPr>
        <p:spPr>
          <a:xfrm>
            <a:off x="381000" y="2928620"/>
            <a:ext cx="1493520" cy="749808"/>
          </a:xfrm>
          <a:prstGeom prst="roundRect">
            <a:avLst>
              <a:gd name="adj" fmla="val 14634"/>
            </a:avLst>
          </a:prstGeom>
          <a:solidFill>
            <a:srgbClr val="DDF1E4"/>
          </a:solidFill>
          <a:ln w="25400">
            <a:solidFill>
              <a:srgbClr val="237A48"/>
            </a:solidFill>
            <a:prstDash val="solid"/>
          </a:ln>
        </p:spPr>
      </p:sp>
      <p:sp>
        <p:nvSpPr>
          <p:cNvPr id="13" name="Text 11"/>
          <p:cNvSpPr txBox="1"/>
          <p:nvPr/>
        </p:nvSpPr>
        <p:spPr>
          <a:xfrm>
            <a:off x="472440" y="2928620"/>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スマホアプリ開発</a:t>
            </a:r>
            <a:endParaRPr lang="en-US" sz="1600" dirty="0"/>
          </a:p>
        </p:txBody>
      </p:sp>
      <p:sp>
        <p:nvSpPr>
          <p:cNvPr id="14" name="Shape 12"/>
          <p:cNvSpPr/>
          <p:nvPr/>
        </p:nvSpPr>
        <p:spPr>
          <a:xfrm>
            <a:off x="1996440" y="2928620"/>
            <a:ext cx="1493520" cy="749808"/>
          </a:xfrm>
          <a:prstGeom prst="roundRect">
            <a:avLst>
              <a:gd name="adj" fmla="val 14634"/>
            </a:avLst>
          </a:prstGeom>
          <a:solidFill>
            <a:srgbClr val="DDF1E4"/>
          </a:solidFill>
          <a:ln w="25400">
            <a:solidFill>
              <a:srgbClr val="237A48"/>
            </a:solidFill>
            <a:prstDash val="solid"/>
          </a:ln>
        </p:spPr>
      </p:sp>
      <p:sp>
        <p:nvSpPr>
          <p:cNvPr id="15" name="Text 13"/>
          <p:cNvSpPr txBox="1"/>
          <p:nvPr/>
        </p:nvSpPr>
        <p:spPr>
          <a:xfrm>
            <a:off x="2087880" y="2928620"/>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 アプリ開発</a:t>
            </a:r>
            <a:endParaRPr lang="en-US" sz="1600" dirty="0"/>
          </a:p>
        </p:txBody>
      </p:sp>
      <p:sp>
        <p:nvSpPr>
          <p:cNvPr id="16" name="Shape 14"/>
          <p:cNvSpPr/>
          <p:nvPr/>
        </p:nvSpPr>
        <p:spPr>
          <a:xfrm>
            <a:off x="3611880" y="2928620"/>
            <a:ext cx="1493520" cy="749808"/>
          </a:xfrm>
          <a:prstGeom prst="roundRect">
            <a:avLst>
              <a:gd name="adj" fmla="val 14634"/>
            </a:avLst>
          </a:prstGeom>
          <a:solidFill>
            <a:srgbClr val="DDF1E4"/>
          </a:solidFill>
          <a:ln w="25400">
            <a:solidFill>
              <a:srgbClr val="237A48"/>
            </a:solidFill>
            <a:prstDash val="solid"/>
          </a:ln>
        </p:spPr>
      </p:sp>
      <p:sp>
        <p:nvSpPr>
          <p:cNvPr id="17" name="Text 15"/>
          <p:cNvSpPr txBox="1"/>
          <p:nvPr/>
        </p:nvSpPr>
        <p:spPr>
          <a:xfrm>
            <a:off x="3703320" y="2928620"/>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 アプリ開発</a:t>
            </a:r>
            <a:endParaRPr lang="en-US" sz="1600" dirty="0"/>
          </a:p>
        </p:txBody>
      </p:sp>
      <p:sp>
        <p:nvSpPr>
          <p:cNvPr id="18" name="Shape 16"/>
          <p:cNvSpPr/>
          <p:nvPr/>
        </p:nvSpPr>
        <p:spPr>
          <a:xfrm>
            <a:off x="381000" y="4163060"/>
            <a:ext cx="1493520" cy="749808"/>
          </a:xfrm>
          <a:prstGeom prst="roundRect">
            <a:avLst>
              <a:gd name="adj" fmla="val 14634"/>
            </a:avLst>
          </a:prstGeom>
          <a:solidFill>
            <a:srgbClr val="DCE8F8"/>
          </a:solidFill>
          <a:ln w="25400">
            <a:solidFill>
              <a:srgbClr val="2F6BC2"/>
            </a:solidFill>
            <a:prstDash val="solid"/>
          </a:ln>
        </p:spPr>
      </p:sp>
      <p:sp>
        <p:nvSpPr>
          <p:cNvPr id="19" name="Text 17"/>
          <p:cNvSpPr txBox="1"/>
          <p:nvPr/>
        </p:nvSpPr>
        <p:spPr>
          <a:xfrm>
            <a:off x="472440" y="4163060"/>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0" name="Shape 18"/>
          <p:cNvSpPr/>
          <p:nvPr/>
        </p:nvSpPr>
        <p:spPr>
          <a:xfrm>
            <a:off x="1996440" y="4163060"/>
            <a:ext cx="1493520" cy="749808"/>
          </a:xfrm>
          <a:prstGeom prst="roundRect">
            <a:avLst>
              <a:gd name="adj" fmla="val 14634"/>
            </a:avLst>
          </a:prstGeom>
          <a:solidFill>
            <a:srgbClr val="DCE8F8"/>
          </a:solidFill>
          <a:ln w="25400">
            <a:solidFill>
              <a:srgbClr val="2F6BC2"/>
            </a:solidFill>
            <a:prstDash val="solid"/>
          </a:ln>
        </p:spPr>
      </p:sp>
      <p:sp>
        <p:nvSpPr>
          <p:cNvPr id="21" name="Text 19"/>
          <p:cNvSpPr txBox="1"/>
          <p:nvPr/>
        </p:nvSpPr>
        <p:spPr>
          <a:xfrm>
            <a:off x="2087880" y="4163060"/>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2" name="Shape 20"/>
          <p:cNvSpPr/>
          <p:nvPr/>
        </p:nvSpPr>
        <p:spPr>
          <a:xfrm>
            <a:off x="3611880" y="4163060"/>
            <a:ext cx="1493520" cy="749808"/>
          </a:xfrm>
          <a:prstGeom prst="roundRect">
            <a:avLst>
              <a:gd name="adj" fmla="val 14634"/>
            </a:avLst>
          </a:prstGeom>
          <a:solidFill>
            <a:srgbClr val="DCE8F8"/>
          </a:solidFill>
          <a:ln w="25400">
            <a:solidFill>
              <a:srgbClr val="2F6BC2"/>
            </a:solidFill>
            <a:prstDash val="solid"/>
          </a:ln>
        </p:spPr>
      </p:sp>
      <p:sp>
        <p:nvSpPr>
          <p:cNvPr id="23" name="Text 21"/>
          <p:cNvSpPr txBox="1"/>
          <p:nvPr/>
        </p:nvSpPr>
        <p:spPr>
          <a:xfrm>
            <a:off x="3703320" y="4163060"/>
            <a:ext cx="1310640" cy="74980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4" name="Shape 22"/>
          <p:cNvSpPr/>
          <p:nvPr/>
        </p:nvSpPr>
        <p:spPr>
          <a:xfrm>
            <a:off x="320040" y="5095748"/>
            <a:ext cx="4846320" cy="1615440"/>
          </a:xfrm>
          <a:prstGeom prst="roundRect">
            <a:avLst>
              <a:gd name="adj" fmla="val 6792"/>
            </a:avLst>
          </a:prstGeom>
          <a:solidFill>
            <a:srgbClr val="DCE8F8"/>
          </a:solidFill>
          <a:ln w="19050">
            <a:solidFill>
              <a:srgbClr val="2F6BC2"/>
            </a:solidFill>
            <a:prstDash val="solid"/>
          </a:ln>
        </p:spPr>
      </p:sp>
      <p:sp>
        <p:nvSpPr>
          <p:cNvPr id="25" name="Shape 23"/>
          <p:cNvSpPr/>
          <p:nvPr/>
        </p:nvSpPr>
        <p:spPr>
          <a:xfrm>
            <a:off x="457200" y="5674868"/>
            <a:ext cx="457200" cy="457200"/>
          </a:xfrm>
          <a:prstGeom prst="ellipse">
            <a:avLst/>
          </a:prstGeom>
          <a:solidFill>
            <a:srgbClr val="2F6BC2"/>
          </a:solidFill>
          <a:ln/>
        </p:spPr>
      </p:sp>
      <p:pic>
        <p:nvPicPr>
          <p:cNvPr id="26" name="Image 0" descr="preencoded.png">    </p:cNvPr>
          <p:cNvPicPr>
            <a:picLocks noChangeAspect="1"/>
          </p:cNvPicPr>
          <p:nvPr/>
        </p:nvPicPr>
        <p:blipFill>
          <a:blip r:embed="rId1"/>
          <a:stretch>
            <a:fillRect/>
          </a:stretch>
        </p:blipFill>
        <p:spPr>
          <a:xfrm>
            <a:off x="557784" y="5775452"/>
            <a:ext cx="256032" cy="256032"/>
          </a:xfrm>
          <a:prstGeom prst="rect">
            <a:avLst/>
          </a:prstGeom>
        </p:spPr>
      </p:pic>
      <p:sp>
        <p:nvSpPr>
          <p:cNvPr id="27" name="Text 24"/>
          <p:cNvSpPr txBox="1"/>
          <p:nvPr/>
        </p:nvSpPr>
        <p:spPr>
          <a:xfrm>
            <a:off x="1051560" y="5141468"/>
            <a:ext cx="3977640" cy="15240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スマホ（Android・iPhone）にもそれぞれOSがあります。「どのOSの上で動かすか」を最初に決めます。</a:t>
            </a:r>
            <a:endParaRPr lang="en-US" sz="2000" dirty="0"/>
          </a:p>
        </p:txBody>
      </p:sp>
      <p:sp>
        <p:nvSpPr>
          <p:cNvPr id="28" name="Text 2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265</a:t>
            </a:fld>
            <a:endParaRPr lang="en-US"/>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AI（人工知能）</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認識・予測・文章づくりなど、人が頭で行う作業をコンピューターにさせる技術の総称。</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アプリやクラウドのサービスとして動くソフト。学習や実行には強力なコンピューターを使う。</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AI</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機械学習</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3" name="Shape 31"/>
          <p:cNvSpPr/>
          <p:nvPr/>
        </p:nvSpPr>
        <p:spPr>
          <a:xfrm>
            <a:off x="3566160" y="6926326"/>
            <a:ext cx="1600200" cy="676656"/>
          </a:xfrm>
          <a:prstGeom prst="roundRect">
            <a:avLst>
              <a:gd name="adj" fmla="val 16216"/>
            </a:avLst>
          </a:prstGeom>
          <a:solidFill>
            <a:srgbClr val="DDF1E4"/>
          </a:solidFill>
          <a:ln w="25400">
            <a:solidFill>
              <a:srgbClr val="237A4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自動化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広げる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近い分野</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266</a:t>
            </a:fld>
            <a:endParaRPr lang="en-US"/>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AI（人工知能）</a:t>
            </a:r>
            <a:endParaRPr lang="ja-JP" sz="2200" dirty="0"/>
          </a:p>
        </p:txBody>
      </p:sp>
      <p:sp>
        <p:nvSpPr>
          <p:cNvPr id="4" name="Shape 2"/>
          <p:cNvSpPr/>
          <p:nvPr/>
        </p:nvSpPr>
        <p:spPr>
          <a:xfrm>
            <a:off x="320040" y="1318514"/>
            <a:ext cx="4846320" cy="3452368"/>
          </a:xfrm>
          <a:prstGeom prst="roundRect">
            <a:avLst>
              <a:gd name="adj" fmla="val 3708"/>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読み：エーアイ・Artificial Intelligence（人工知能）</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AI（人工知能）は、画像を見分ける、文章を書く、先を予想するなど、人が頭を使って行う作業をコンピューターにさせる技術の分野です。特定のソフトの名前ではなく、広い分野をまとめた呼び名です。</a:t>
            </a:r>
            <a:endParaRPr lang="en-US" sz="2000" dirty="0"/>
          </a:p>
        </p:txBody>
      </p:sp>
      <p:sp>
        <p:nvSpPr>
          <p:cNvPr id="7" name="Shape 5"/>
          <p:cNvSpPr/>
          <p:nvPr/>
        </p:nvSpPr>
        <p:spPr>
          <a:xfrm>
            <a:off x="320040" y="4844034"/>
            <a:ext cx="4846320" cy="2631440"/>
          </a:xfrm>
          <a:prstGeom prst="roundRect">
            <a:avLst>
              <a:gd name="adj" fmla="val 4865"/>
            </a:avLst>
          </a:prstGeom>
          <a:solidFill>
            <a:srgbClr val="DDF1E4"/>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Iの作り方にはいろいろありますが、いま多くのAIは機械学習（データから規則を見つける方法）で作られています。つまり「AIが大きな枠で、その中の1つの方法が機械学習」という包含関係（含む・含まれる）です。</a:t>
            </a:r>
            <a:endParaRPr lang="en-US" sz="2000" dirty="0"/>
          </a:p>
        </p:txBody>
      </p:sp>
      <p:sp>
        <p:nvSpPr>
          <p:cNvPr id="9" name="Shape 7"/>
          <p:cNvSpPr/>
          <p:nvPr/>
        </p:nvSpPr>
        <p:spPr>
          <a:xfrm>
            <a:off x="320040" y="7548626"/>
            <a:ext cx="4846320" cy="1960880"/>
          </a:xfrm>
          <a:prstGeom prst="roundRect">
            <a:avLst>
              <a:gd name="adj" fmla="val 6528"/>
            </a:avLst>
          </a:prstGeom>
          <a:solidFill>
            <a:srgbClr val="DDF1E4"/>
          </a:solidFill>
          <a:ln/>
        </p:spPr>
      </p:sp>
      <p:sp>
        <p:nvSpPr>
          <p:cNvPr id="10" name="Text 8"/>
          <p:cNvSpPr txBox="1"/>
          <p:nvPr/>
        </p:nvSpPr>
        <p:spPr>
          <a:xfrm>
            <a:off x="502920" y="764006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AIは人のように「意味を理解している」わけではなく、大量のデータから見つけたパターンをもとに答えを作ります。だから、もっともらしい間違いを出すこともあります。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267</a:t>
            </a:fld>
            <a:endParaRPr lang="en-US"/>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AI（人工知能）</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新人アルバイト。マニュアルにない場面も、過去の経験（データ）から推測して動けます。でも経験が足りないと自信満々に間違えるので、確認する先輩（人）が必要です。</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スマホの顔認証、動画アプリのおすすめ表示、翻訳アプリ、質問に文章で答えるチャット型のAIなど、毎日の生活のあちこちで出会います。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AIは「考えて理解している」のではなく、学んだパターンから答えを作っています。もっともらしい間違いも出るので、大事なことは自分で裏付けを取りましょう。</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画像を見分けるAIのサービスを使い、同じ物の写真を角度や明るさを変えて試して、当たった場合と外れた場合を記録してみましょう。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268</a:t>
            </a:fld>
            <a:endParaRPr lang="en-US"/>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機械学習</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データの中から規則を見つけ出し、新しいデータの予測や分類に使う方法。AIの一分野。</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プログラムとして動くソフト。Pythonなどで作り、PCやクラウドで学習・実行する。</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機械学習</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3" name="Shape 31"/>
          <p:cNvSpPr/>
          <p:nvPr/>
        </p:nvSpPr>
        <p:spPr>
          <a:xfrm>
            <a:off x="3566160" y="6926326"/>
            <a:ext cx="1600200" cy="676656"/>
          </a:xfrm>
          <a:prstGeom prst="roundRect">
            <a:avLst>
              <a:gd name="adj" fmla="val 16216"/>
            </a:avLst>
          </a:prstGeom>
          <a:solidFill>
            <a:srgbClr val="DDF1E4"/>
          </a:solidFill>
          <a:ln w="25400">
            <a:solidFill>
              <a:srgbClr val="237A4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手法の一つ</a:t>
            </a:r>
            <a:endParaRPr lang="en-US" sz="1500" dirty="0"/>
          </a:p>
        </p:txBody>
      </p:sp>
      <p:sp>
        <p:nvSpPr>
          <p:cNvPr id="37" name="Shape 35"/>
          <p:cNvSpPr/>
          <p:nvPr/>
        </p:nvSpPr>
        <p:spPr>
          <a:xfrm>
            <a:off x="3566160" y="7712710"/>
            <a:ext cx="1600200" cy="676656"/>
          </a:xfrm>
          <a:prstGeom prst="roundRect">
            <a:avLst>
              <a:gd name="adj" fmla="val 16216"/>
            </a:avLst>
          </a:prstGeom>
          <a:solidFill>
            <a:srgbClr val="DFF1FB"/>
          </a:solidFill>
          <a:ln w="25400">
            <a:solidFill>
              <a:srgbClr val="0369A1"/>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計算を借りる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自動化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判断を担う</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269</a:t>
            </a:fld>
            <a:endParaRPr lang="en-US"/>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機械学習</a:t>
            </a:r>
            <a:endParaRPr lang="ja-JP" sz="2200" dirty="0"/>
          </a:p>
        </p:txBody>
      </p:sp>
      <p:sp>
        <p:nvSpPr>
          <p:cNvPr id="4" name="Shape 2"/>
          <p:cNvSpPr/>
          <p:nvPr/>
        </p:nvSpPr>
        <p:spPr>
          <a:xfrm>
            <a:off x="320040" y="1318514"/>
            <a:ext cx="4846320" cy="3452368"/>
          </a:xfrm>
          <a:prstGeom prst="roundRect">
            <a:avLst>
              <a:gd name="adj" fmla="val 3708"/>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読み：きかいがくしゅう・Machine Learning（マシンラーニング）</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機械学習は、人がルールを1つずつ書く代わりに、たくさんのデータをコンピューターに見せて、規則（パターン）を自分で見つけさせる方法です。AIという大きな枠の中の、1つの方法にあたります。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DDF1E4"/>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流れは3段階です。①学習データ（多くは正解つきの例）を用意する。②学習させて、規則を詰め込んだモデル（判定の仕組み）を作る。③新しいデータをモデルに入れて、予測（答えの推測）を出す。</a:t>
            </a:r>
            <a:endParaRPr lang="en-US" sz="2000" dirty="0"/>
          </a:p>
        </p:txBody>
      </p:sp>
      <p:sp>
        <p:nvSpPr>
          <p:cNvPr id="9" name="Shape 7"/>
          <p:cNvSpPr/>
          <p:nvPr/>
        </p:nvSpPr>
        <p:spPr>
          <a:xfrm>
            <a:off x="320040" y="7213346"/>
            <a:ext cx="4846320" cy="2296160"/>
          </a:xfrm>
          <a:prstGeom prst="roundRect">
            <a:avLst>
              <a:gd name="adj" fmla="val 5575"/>
            </a:avLst>
          </a:prstGeom>
          <a:solidFill>
            <a:srgbClr val="DDF1E4"/>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迷惑メール判定なら、「迷惑」「普通」と正解を付けた大量のメールが学習データです。できたモデルは、初めて届いたメールにも迷惑らしさを判定します。データの量と質が、結果を左右します。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270</a:t>
            </a:fld>
            <a:endParaRPr lang="en-US"/>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機械学習</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過去問を何百回も解いた受験生。出題の傾向（モデル）をつかんでいるので、初見の問題（新しいデータ）にも答えられます。でも過去問が偏っていると、本番で外します。</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スマホのカメラが顔を見つける、動画アプリが好みの動画を並べる、過去の売上から来月の売上を予想する、といった場面で使われています。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機械学習は「何でも正しく当てる魔法」ではありません。学習データに偏りや間違いがあると、予測も偏ります。また、AIと機械学習は同じ意味ではなく、AIのほうが広い言葉です。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Pythonの入門で、少量の表データ（例：気温と売上）から線を引いて予測してみましょう。データを変えると予測がどう変わるかを観察します。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271</a:t>
            </a:fld>
            <a:endParaRPr lang="en-US"/>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自動化</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人が繰り返している作業を、プログラムなどに代わりにやらせること。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PCやサーバーの上で動くプログラムや設定。ふだんの作業や研究を支える。</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自動化</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広げる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DCE8F8"/>
          </a:solidFill>
          <a:ln w="25400">
            <a:solidFill>
              <a:srgbClr val="2F6BC2"/>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定時に動かす</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定期実行</a:t>
            </a:r>
            <a:endParaRPr lang="en-US" sz="1500" dirty="0"/>
          </a:p>
        </p:txBody>
      </p:sp>
      <p:sp>
        <p:nvSpPr>
          <p:cNvPr id="41" name="Shape 39"/>
          <p:cNvSpPr/>
          <p:nvPr/>
        </p:nvSpPr>
        <p:spPr>
          <a:xfrm>
            <a:off x="3566160" y="8499094"/>
            <a:ext cx="1600200" cy="676656"/>
          </a:xfrm>
          <a:prstGeom prst="roundRect">
            <a:avLst>
              <a:gd name="adj" fmla="val 16216"/>
            </a:avLst>
          </a:prstGeom>
          <a:solidFill>
            <a:srgbClr val="DCE8F8"/>
          </a:solidFill>
          <a:ln w="25400">
            <a:solidFill>
              <a:srgbClr val="2F6BC2"/>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ログ</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結果を残す</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272</a:t>
            </a:fld>
            <a:endParaRPr lang="en-US"/>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自動化</a:t>
            </a:r>
            <a:endParaRPr lang="ja-JP" sz="2200" dirty="0"/>
          </a:p>
        </p:txBody>
      </p:sp>
      <p:sp>
        <p:nvSpPr>
          <p:cNvPr id="4" name="Shape 2"/>
          <p:cNvSpPr/>
          <p:nvPr/>
        </p:nvSpPr>
        <p:spPr>
          <a:xfrm>
            <a:off x="320040" y="1318514"/>
            <a:ext cx="4846320" cy="3117088"/>
          </a:xfrm>
          <a:prstGeom prst="roundRect">
            <a:avLst>
              <a:gd name="adj" fmla="val 4107"/>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読み：じどうか・オートメーション</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自動化は、毎日・毎週と同じ手順で行う作業を、プログラム（コンピューターへの命令書）に書いて、機械に実行させることです。人が手でやるより速く、ミスも起きにくくなります。</a:t>
            </a:r>
            <a:endParaRPr lang="en-US" sz="2000" dirty="0"/>
          </a:p>
        </p:txBody>
      </p:sp>
      <p:sp>
        <p:nvSpPr>
          <p:cNvPr id="7" name="Shape 5"/>
          <p:cNvSpPr/>
          <p:nvPr/>
        </p:nvSpPr>
        <p:spPr>
          <a:xfrm>
            <a:off x="320040" y="4508754"/>
            <a:ext cx="4846320" cy="2296160"/>
          </a:xfrm>
          <a:prstGeom prst="roundRect">
            <a:avLst>
              <a:gd name="adj" fmla="val 5575"/>
            </a:avLst>
          </a:prstGeom>
          <a:solidFill>
            <a:srgbClr val="DDF1E4"/>
          </a:solidFill>
          <a:ln/>
        </p:spPr>
      </p:sp>
      <p:sp>
        <p:nvSpPr>
          <p:cNvPr id="8" name="Text 6"/>
          <p:cNvSpPr txBox="1"/>
          <p:nvPr/>
        </p:nvSpPr>
        <p:spPr>
          <a:xfrm>
            <a:off x="502920" y="460019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仕組みは、「きっかけ（毎朝7時、ファイルが届いたとき）」「手順（開く→計算する→保存する）」「結果（ファイル、通知）」の3つを決めて書くことです。Pythonや、OSの定時実行の機能がよく使われます。</a:t>
            </a:r>
            <a:endParaRPr lang="en-US" sz="2000" dirty="0"/>
          </a:p>
        </p:txBody>
      </p:sp>
      <p:sp>
        <p:nvSpPr>
          <p:cNvPr id="9" name="Shape 7"/>
          <p:cNvSpPr/>
          <p:nvPr/>
        </p:nvSpPr>
        <p:spPr>
          <a:xfrm>
            <a:off x="320040" y="6878066"/>
            <a:ext cx="4846320" cy="2296160"/>
          </a:xfrm>
          <a:prstGeom prst="roundRect">
            <a:avLst>
              <a:gd name="adj" fmla="val 5575"/>
            </a:avLst>
          </a:prstGeom>
          <a:solidFill>
            <a:srgbClr val="DDF1E4"/>
          </a:solidFill>
          <a:ln/>
        </p:spPr>
      </p:sp>
      <p:sp>
        <p:nvSpPr>
          <p:cNvPr id="10" name="Text 8"/>
          <p:cNvSpPr txBox="1"/>
          <p:nvPr/>
        </p:nvSpPr>
        <p:spPr>
          <a:xfrm>
            <a:off x="502920" y="696950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ただし、何でも自動化すればよいわけではありません。数回しかしない作業は、プログラムを書く時間のほうが長くかかります。「何度も繰り返す」「手順が決まっている」作業が向いています。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273</a:t>
            </a:fld>
            <a:endParaRPr lang="en-US"/>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自動化</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お掃除ロボット。毎朝決めた時刻に（きっかけ）、決めた順路で（手順）部屋を掃除します（結果）。人が毎回ほうきを持つ必要がなくなります。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部活の出席表を毎週Excelで集計している、課題用に撮った写真を日付ごとのフォルダーに分けている、といった繰り返し作業をプログラムに任せる場面です。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自動化は「作って終わり」ではありません。条件が変わると止まったり、間違ったまま動き続けたりします。結果の確認と、失敗したときの記録（ログ）が必要です。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自分の繰り返し作業を1つ選んで、手順を箇条書きにしてみましょう。それをそのままPythonなどで書くと、最初の自動化になります。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274</a:t>
            </a:fld>
            <a:endParaRPr lang="en-US"/>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スマートフォン用アプリ開発</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iPhoneやAndroidなど、スマートフォンの上で動くアプリを作ること。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iPhoneやAndroidの端末で動くアプリ（アプリの層）。作る作業は主にPCで行う。</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237A48"/>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スマホアプリ開発</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CE8F8"/>
          </a:solidFill>
          <a:ln w="25400">
            <a:solidFill>
              <a:srgbClr val="2F6BC2"/>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DDF1E4"/>
          </a:solidFill>
          <a:ln w="25400">
            <a:solidFill>
              <a:srgbClr val="237A4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 アプリ開発</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37" name="Shape 35"/>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 アプリ開発</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41" name="Shape 39"/>
          <p:cNvSpPr/>
          <p:nvPr/>
        </p:nvSpPr>
        <p:spPr>
          <a:xfrm>
            <a:off x="3566160" y="8499094"/>
            <a:ext cx="1600200" cy="676656"/>
          </a:xfrm>
          <a:prstGeom prst="roundRect">
            <a:avLst>
              <a:gd name="adj" fmla="val 16216"/>
            </a:avLst>
          </a:prstGeom>
          <a:solidFill>
            <a:srgbClr val="DFF1FB"/>
          </a:solidFill>
          <a:ln w="25400">
            <a:solidFill>
              <a:srgbClr val="0369A1"/>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データを預ける</a:t>
            </a:r>
            <a:endParaRPr lang="en-US" sz="1500" dirty="0"/>
          </a:p>
        </p:txBody>
      </p:sp>
      <p:sp>
        <p:nvSpPr>
          <p:cNvPr id="45" name="Shape 43"/>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IoT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275</a:t>
            </a:fld>
            <a:endParaRPr lang="en-US"/>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スマートフォン用アプリ開発</a:t>
            </a:r>
            <a:endParaRPr lang="ja-JP" sz="2200" dirty="0"/>
          </a:p>
        </p:txBody>
      </p:sp>
      <p:sp>
        <p:nvSpPr>
          <p:cNvPr id="4" name="Shape 2"/>
          <p:cNvSpPr/>
          <p:nvPr/>
        </p:nvSpPr>
        <p:spPr>
          <a:xfrm>
            <a:off x="320040" y="1318514"/>
            <a:ext cx="4846320" cy="3452368"/>
          </a:xfrm>
          <a:prstGeom prst="roundRect">
            <a:avLst>
              <a:gd name="adj" fmla="val 3708"/>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読み：スマホアプリ開発・iPhone向け／Android向け</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スマートフォン用アプリ開発は、スマホの画面で動くアプリ（メモ、地図、ゲームなど）をプログラムで作ることです。小さなタッチ画面や、カメラ・位置情報などの部品（センサー）を使えるのが特徴です。</a:t>
            </a:r>
            <a:endParaRPr lang="en-US" sz="2000" dirty="0"/>
          </a:p>
        </p:txBody>
      </p:sp>
      <p:sp>
        <p:nvSpPr>
          <p:cNvPr id="7" name="Shape 5"/>
          <p:cNvSpPr/>
          <p:nvPr/>
        </p:nvSpPr>
        <p:spPr>
          <a:xfrm>
            <a:off x="320040" y="4844034"/>
            <a:ext cx="4846320" cy="2631440"/>
          </a:xfrm>
          <a:prstGeom prst="roundRect">
            <a:avLst>
              <a:gd name="adj" fmla="val 4865"/>
            </a:avLst>
          </a:prstGeom>
          <a:solidFill>
            <a:srgbClr val="DDF1E4"/>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主なスマホのOSは、AppleのiOS（iPhone）とGoogleのAndroidで、アプリが動く仕組みはOSごとに違います。そのため、どちら向けに作るかを最初に決めます。1つの書き方で両方に対応する開発の道具もあります。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DDF1E4"/>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作る作業は、PCの開発環境（プログラムを書く道具一式）で行い、自分のスマホで試します。多くの人に配るときは、アプリストアに登録します。ストアには、規則に合うかを確かめる審査があります。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276</a:t>
            </a:fld>
            <a:endParaRPr lang="en-US"/>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スマートフォン用アプリ開発</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スマホという小さな舞台で上演する劇を書くこと。舞台装置（OS）がiPhoneとAndroidで違うので、台本（プログラム）の書き方も変わります。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家計簿やメモなど自分用のアプリを作り、自分のスマホで動かしてみる場面です。カメラや位置情報を使うアプリにも挑戦できます。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iPhone用のアプリは、そのままではAndroidでは動きません。逆も同じです。どのOS向けに作るのかを区別しましょう。なお、iPhone向けの開発には通常Macが必要です。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iPhone向けかAndroid向けかを決め、入力欄とボタンだけの小さなメモアプリを作りましょう。最初は画面が動くことを目標にします。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277</a:t>
            </a:fld>
            <a:endParaRPr lang="en-US"/>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Windows</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Microsoftが作っているOS。家庭や学校、会社のPCで広く使われている。</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2F6BC2"/>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2" name="Shape 20"/>
          <p:cNvSpPr/>
          <p:nvPr/>
        </p:nvSpPr>
        <p:spPr>
          <a:xfrm>
            <a:off x="320040" y="4234942"/>
            <a:ext cx="4846320" cy="1264920"/>
          </a:xfrm>
          <a:prstGeom prst="roundRect">
            <a:avLst>
              <a:gd name="adj" fmla="val 10120"/>
            </a:avLst>
          </a:prstGeom>
          <a:solidFill>
            <a:srgbClr val="DCE8F8"/>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PCの中で、部品とアプリの間に入って動く基本ソフト（OSの層）。</a:t>
            </a:r>
            <a:endParaRPr lang="en-US" sz="2000" dirty="0"/>
          </a:p>
        </p:txBody>
      </p:sp>
      <p:sp>
        <p:nvSpPr>
          <p:cNvPr id="24" name="Shape 22"/>
          <p:cNvSpPr/>
          <p:nvPr/>
        </p:nvSpPr>
        <p:spPr>
          <a:xfrm>
            <a:off x="320040" y="5682742"/>
            <a:ext cx="4846320" cy="402336"/>
          </a:xfrm>
          <a:prstGeom prst="roundRect">
            <a:avLst>
              <a:gd name="adj" fmla="val 22727"/>
            </a:avLst>
          </a:prstGeom>
          <a:solidFill>
            <a:srgbClr val="2F6BC2"/>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2F6BC2"/>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Windows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28" name="Shape 26"/>
          <p:cNvSpPr/>
          <p:nvPr/>
        </p:nvSpPr>
        <p:spPr>
          <a:xfrm>
            <a:off x="3566160" y="6139942"/>
            <a:ext cx="1600200" cy="676656"/>
          </a:xfrm>
          <a:prstGeom prst="roundRect">
            <a:avLst>
              <a:gd name="adj" fmla="val 16216"/>
            </a:avLst>
          </a:prstGeom>
          <a:solidFill>
            <a:srgbClr val="DCE8F8"/>
          </a:solidFill>
          <a:ln w="25400">
            <a:solidFill>
              <a:srgbClr val="2F6BC2"/>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OSの一種</a:t>
            </a:r>
            <a:endParaRPr lang="en-US" sz="1500" dirty="0"/>
          </a:p>
        </p:txBody>
      </p:sp>
      <p:sp>
        <p:nvSpPr>
          <p:cNvPr id="32" name="Shape 30"/>
          <p:cNvSpPr/>
          <p:nvPr/>
        </p:nvSpPr>
        <p:spPr>
          <a:xfrm>
            <a:off x="3566160" y="6926326"/>
            <a:ext cx="1600200" cy="676656"/>
          </a:xfrm>
          <a:prstGeom prst="roundRect">
            <a:avLst>
              <a:gd name="adj" fmla="val 16216"/>
            </a:avLst>
          </a:prstGeom>
          <a:solidFill>
            <a:srgbClr val="DCE8F8"/>
          </a:solidFill>
          <a:ln w="25400">
            <a:solidFill>
              <a:srgbClr val="2F6BC2"/>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 アプリ開発</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D9F2F1"/>
          </a:solidFill>
          <a:ln w="25400">
            <a:solidFill>
              <a:srgbClr val="0B7A7A"/>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備える</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278</a:t>
            </a:fld>
            <a:endParaRPr lang="en-US"/>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Windows</a:t>
            </a:r>
            <a:endParaRPr lang="ja-JP" sz="2200" dirty="0"/>
          </a:p>
        </p:txBody>
      </p:sp>
      <p:sp>
        <p:nvSpPr>
          <p:cNvPr id="4" name="Shape 2"/>
          <p:cNvSpPr/>
          <p:nvPr/>
        </p:nvSpPr>
        <p:spPr>
          <a:xfrm>
            <a:off x="320040" y="1318514"/>
            <a:ext cx="4846320" cy="3452368"/>
          </a:xfrm>
          <a:prstGeom prst="roundRect">
            <a:avLst>
              <a:gd name="adj" fmla="val 3708"/>
            </a:avLst>
          </a:prstGeom>
          <a:solidFill>
            <a:srgbClr val="DCE8F8"/>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読み：ウィンドウズ・Microsoft社のOS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Windows（ウィンドウズ）は、Microsoft（マイクロソフト）社が作るOS（基本ソフト）です。OSは、PCの部品とアプリの間に立って、画面表示、ファイル管理、メモリの割り当てなどを引き受けます。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DCE8F8"/>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画面のアイコンやウィンドウをマウスやタッチで操作するのが基本で、WordやExcelなど多くのソフトが対応しています。有料のソフトで、PCにあらかじめ入った状態で売られていることが多いです。</a:t>
            </a:r>
            <a:endParaRPr lang="en-US" sz="2000" dirty="0"/>
          </a:p>
        </p:txBody>
      </p:sp>
      <p:sp>
        <p:nvSpPr>
          <p:cNvPr id="9" name="Shape 7"/>
          <p:cNvSpPr/>
          <p:nvPr/>
        </p:nvSpPr>
        <p:spPr>
          <a:xfrm>
            <a:off x="320040" y="7213346"/>
            <a:ext cx="4846320" cy="2631440"/>
          </a:xfrm>
          <a:prstGeom prst="roundRect">
            <a:avLst>
              <a:gd name="adj" fmla="val 4865"/>
            </a:avLst>
          </a:prstGeom>
          <a:solidFill>
            <a:srgbClr val="DCE8F8"/>
          </a:solidFill>
          <a:ln/>
        </p:spPr>
      </p:sp>
      <p:sp>
        <p:nvSpPr>
          <p:cNvPr id="10" name="Text 8"/>
          <p:cNvSpPr txBox="1"/>
          <p:nvPr/>
        </p:nvSpPr>
        <p:spPr>
          <a:xfrm>
            <a:off x="502920" y="730478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Linuxも同じ「OS」ですが、使われ方が違います。Windowsは主に人が画面を見て使うPC、Linuxは画面なしで動き続けるサーバーで広く使われます。企業のサーバー用に「Windows Server」という版もあります。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279</a:t>
            </a:fld>
            <a:endParaRPr lang="en-US"/>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Windows</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PCという建物の管理人。部屋（メモリ）の割り当て、倉庫（ストレージ）の整理、来客（アプリ）の受付を引き受け、利用者には案内板（画面）で操作を分かりやすく見せます。</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学校のパソコン教室、家庭のノートPC、会社の事務用PCで見かけます。WordやExcelを使う授業や、Windows向けのゲームもWindowsで動かします。</a:t>
            </a:r>
            <a:endParaRPr lang="en-US" sz="2000" dirty="0"/>
          </a:p>
        </p:txBody>
      </p:sp>
      <p:sp>
        <p:nvSpPr>
          <p:cNvPr id="8" name="Shape 6"/>
          <p:cNvSpPr/>
          <p:nvPr/>
        </p:nvSpPr>
        <p:spPr>
          <a:xfrm>
            <a:off x="320040" y="5890514"/>
            <a:ext cx="4846320" cy="1935480"/>
          </a:xfrm>
          <a:prstGeom prst="roundRect">
            <a:avLst>
              <a:gd name="adj" fmla="val 6614"/>
            </a:avLst>
          </a:prstGeom>
          <a:solidFill>
            <a:srgbClr val="FBE3E0"/>
          </a:solidFill>
          <a:ln/>
        </p:spPr>
      </p:sp>
      <p:sp>
        <p:nvSpPr>
          <p:cNvPr id="9" name="Text 7"/>
          <p:cNvSpPr txBox="1"/>
          <p:nvPr/>
        </p:nvSpPr>
        <p:spPr>
          <a:xfrm>
            <a:off x="502920" y="5981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WindowsやLinuxはOSの名前で、アプリではありません。Windows用に作られたアプリは、そのままではLinuxやスマホでは動かないことがあります。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「設定」の「システム」から「バージョン情報」を開き、自分のPCのWindowsの種類と、CPU・メモリの情報を確認してみましょう。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280</a:t>
            </a:fld>
            <a:endParaRPr lang="en-US"/>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Linux</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設計図が公開され、世界中の人が改良しているOS。サーバーや計算機で広く使われる。</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2F6BC2"/>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EEF1F5"/>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2" name="Shape 20"/>
          <p:cNvSpPr/>
          <p:nvPr/>
        </p:nvSpPr>
        <p:spPr>
          <a:xfrm>
            <a:off x="320040" y="4234942"/>
            <a:ext cx="4846320" cy="1264920"/>
          </a:xfrm>
          <a:prstGeom prst="roundRect">
            <a:avLst>
              <a:gd name="adj" fmla="val 10120"/>
            </a:avLst>
          </a:prstGeom>
          <a:solidFill>
            <a:srgbClr val="DCE8F8"/>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PCやサーバーの中で、部品とアプリの間に入って動く基本ソフト（OSの層）。</a:t>
            </a:r>
            <a:endParaRPr lang="en-US" sz="2000" dirty="0"/>
          </a:p>
        </p:txBody>
      </p:sp>
      <p:sp>
        <p:nvSpPr>
          <p:cNvPr id="24" name="Shape 22"/>
          <p:cNvSpPr/>
          <p:nvPr/>
        </p:nvSpPr>
        <p:spPr>
          <a:xfrm>
            <a:off x="320040" y="5682742"/>
            <a:ext cx="4846320" cy="402336"/>
          </a:xfrm>
          <a:prstGeom prst="roundRect">
            <a:avLst>
              <a:gd name="adj" fmla="val 22727"/>
            </a:avLst>
          </a:prstGeom>
          <a:solidFill>
            <a:srgbClr val="2F6BC2"/>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822192"/>
          </a:xfrm>
          <a:prstGeom prst="roundRect">
            <a:avLst>
              <a:gd name="adj" fmla="val 8000"/>
            </a:avLst>
          </a:prstGeom>
          <a:solidFill>
            <a:srgbClr val="2F6BC2"/>
          </a:solidFill>
          <a:ln/>
        </p:spPr>
      </p:sp>
      <p:sp>
        <p:nvSpPr>
          <p:cNvPr id="27" name="Text 25"/>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Linux</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28" name="Shape 26"/>
          <p:cNvSpPr/>
          <p:nvPr/>
        </p:nvSpPr>
        <p:spPr>
          <a:xfrm>
            <a:off x="3566160" y="6139942"/>
            <a:ext cx="1600200" cy="676656"/>
          </a:xfrm>
          <a:prstGeom prst="roundRect">
            <a:avLst>
              <a:gd name="adj" fmla="val 16216"/>
            </a:avLst>
          </a:prstGeom>
          <a:solidFill>
            <a:srgbClr val="DCE8F8"/>
          </a:solidFill>
          <a:ln w="25400">
            <a:solidFill>
              <a:srgbClr val="2F6BC2"/>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0" name="Shape 28"/>
          <p:cNvSpPr/>
          <p:nvPr/>
        </p:nvSpPr>
        <p:spPr>
          <a:xfrm>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OSの一種</a:t>
            </a:r>
            <a:endParaRPr lang="en-US" sz="1500" dirty="0"/>
          </a:p>
        </p:txBody>
      </p:sp>
      <p:sp>
        <p:nvSpPr>
          <p:cNvPr id="32" name="Shape 30"/>
          <p:cNvSpPr/>
          <p:nvPr/>
        </p:nvSpPr>
        <p:spPr>
          <a:xfrm>
            <a:off x="3566160" y="6926326"/>
            <a:ext cx="1600200" cy="676656"/>
          </a:xfrm>
          <a:prstGeom prst="roundRect">
            <a:avLst>
              <a:gd name="adj" fmla="val 16216"/>
            </a:avLst>
          </a:prstGeom>
          <a:solidFill>
            <a:srgbClr val="DCE8F8"/>
          </a:solidFill>
          <a:ln w="25400">
            <a:solidFill>
              <a:srgbClr val="2F6BC2"/>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 アプリ開発</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0" name="Shape 38"/>
          <p:cNvSpPr/>
          <p:nvPr/>
        </p:nvSpPr>
        <p:spPr>
          <a:xfrm>
            <a:off x="3566160" y="8499094"/>
            <a:ext cx="1600200" cy="676656"/>
          </a:xfrm>
          <a:prstGeom prst="roundRect">
            <a:avLst>
              <a:gd name="adj" fmla="val 16216"/>
            </a:avLst>
          </a:prstGeom>
          <a:solidFill>
            <a:srgbClr val="D9F2F1"/>
          </a:solidFill>
          <a:ln w="25400">
            <a:solidFill>
              <a:srgbClr val="0B7A7A"/>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内蔵する</a:t>
            </a:r>
            <a:endParaRPr lang="en-US" sz="1500" dirty="0"/>
          </a:p>
        </p:txBody>
      </p:sp>
      <p:sp>
        <p:nvSpPr>
          <p:cNvPr id="44" name="Shape 42"/>
          <p:cNvSpPr/>
          <p:nvPr/>
        </p:nvSpPr>
        <p:spPr>
          <a:xfrm>
            <a:off x="3566160" y="9285478"/>
            <a:ext cx="1600200" cy="676656"/>
          </a:xfrm>
          <a:prstGeom prst="roundRect">
            <a:avLst>
              <a:gd name="adj" fmla="val 16216"/>
            </a:avLst>
          </a:prstGeom>
          <a:solidFill>
            <a:srgbClr val="E2E8F0"/>
          </a:solidFill>
          <a:ln w="25400">
            <a:solidFill>
              <a:srgbClr val="475569"/>
            </a:solidFill>
            <a:prstDash val="solid"/>
          </a:ln>
        </p:spPr>
      </p:sp>
      <p:sp>
        <p:nvSpPr>
          <p:cNvPr id="45" name="Text 43"/>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46" name="Shape 44"/>
          <p:cNvSpPr/>
          <p:nvPr/>
        </p:nvSpPr>
        <p:spPr>
          <a:xfrm>
            <a:off x="1719072" y="9623806"/>
            <a:ext cx="1819656" cy="0"/>
          </a:xfrm>
          <a:prstGeom prst="line">
            <a:avLst/>
          </a:prstGeom>
          <a:noFill/>
          <a:ln w="31750">
            <a:solidFill>
              <a:srgbClr val="1B2A3A"/>
            </a:solidFill>
            <a:prstDash val="solid"/>
            <a:tailEnd type="triangle"/>
          </a:ln>
        </p:spPr>
      </p:sp>
      <p:sp>
        <p:nvSpPr>
          <p:cNvPr id="47" name="Text 45"/>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サーバーで動く</a:t>
            </a:r>
            <a:endParaRPr lang="en-US" sz="1500" dirty="0"/>
          </a:p>
        </p:txBody>
      </p:sp>
      <p:sp>
        <p:nvSpPr>
          <p:cNvPr id="48" name="Text 4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281</a:t>
            </a:fld>
            <a:endParaRPr lang="en-US"/>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Linux</a:t>
            </a:r>
            <a:endParaRPr lang="ja-JP" sz="2200" dirty="0"/>
          </a:p>
        </p:txBody>
      </p:sp>
      <p:sp>
        <p:nvSpPr>
          <p:cNvPr id="4" name="Shape 2"/>
          <p:cNvSpPr/>
          <p:nvPr/>
        </p:nvSpPr>
        <p:spPr>
          <a:xfrm>
            <a:off x="320040" y="1318514"/>
            <a:ext cx="4846320" cy="3452368"/>
          </a:xfrm>
          <a:prstGeom prst="roundRect">
            <a:avLst>
              <a:gd name="adj" fmla="val 3708"/>
            </a:avLst>
          </a:prstGeom>
          <a:solidFill>
            <a:srgbClr val="DCE8F8"/>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読み：リナックス・オープンソースのOS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Linux（リナックス）は、プログラムの設計図（ソースコード）が公開されている「オープンソース」のOSです。世界中の開発者が改良に参加していて、無料で使えるものも多くあります。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DCE8F8"/>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Linuxは、厳密にはOSの中心部分（カーネル）の名前です。これに画面や道具を足してセットにしたものを「ディストリビューション」と呼び、UbuntuやDebian、Red Hat Enterprise Linuxなど多くの種類があります。</a:t>
            </a:r>
            <a:endParaRPr lang="en-US" sz="2000" dirty="0"/>
          </a:p>
        </p:txBody>
      </p:sp>
      <p:sp>
        <p:nvSpPr>
          <p:cNvPr id="9" name="Shape 7"/>
          <p:cNvSpPr/>
          <p:nvPr/>
        </p:nvSpPr>
        <p:spPr>
          <a:xfrm>
            <a:off x="320040" y="7548626"/>
            <a:ext cx="4846320" cy="2631440"/>
          </a:xfrm>
          <a:prstGeom prst="roundRect">
            <a:avLst>
              <a:gd name="adj" fmla="val 4865"/>
            </a:avLst>
          </a:prstGeom>
          <a:solidFill>
            <a:srgbClr val="DCE8F8"/>
          </a:solidFill>
          <a:ln/>
        </p:spPr>
      </p:sp>
      <p:sp>
        <p:nvSpPr>
          <p:cNvPr id="10" name="Text 8"/>
          <p:cNvSpPr txBox="1"/>
          <p:nvPr/>
        </p:nvSpPr>
        <p:spPr>
          <a:xfrm>
            <a:off x="502920" y="764006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Linuxは、画面なしで動き続けるWebサーバーやデータベースサーバー、研究用の計算機、機器の中の小さなコンピューターなどで広く使われています。スマホのAndroidも、Linuxのカーネルを土台にしています。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282</a:t>
            </a:fld>
            <a:endParaRPr lang="en-US"/>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Linux</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みんなで書き足していく「公開レシピ」。誰でも見て、作り変えて配れます。同じレシピから、店ごと（ディストリビューションごと）に味付けの違うメニューが生まれます。</a:t>
            </a:r>
            <a:endParaRPr lang="en-US" sz="2000" dirty="0"/>
          </a:p>
        </p:txBody>
      </p:sp>
      <p:sp>
        <p:nvSpPr>
          <p:cNvPr id="6" name="Shape 4"/>
          <p:cNvSpPr/>
          <p:nvPr/>
        </p:nvSpPr>
        <p:spPr>
          <a:xfrm>
            <a:off x="320040" y="3772154"/>
            <a:ext cx="4846320" cy="1600200"/>
          </a:xfrm>
          <a:prstGeom prst="roundRect">
            <a:avLst>
              <a:gd name="adj" fmla="val 8000"/>
            </a:avLst>
          </a:prstGeom>
          <a:solidFill>
            <a:srgbClr val="DCE8F8"/>
          </a:solidFill>
          <a:ln/>
        </p:spPr>
      </p:sp>
      <p:sp>
        <p:nvSpPr>
          <p:cNvPr id="7" name="Text 5"/>
          <p:cNvSpPr txBox="1"/>
          <p:nvPr/>
        </p:nvSpPr>
        <p:spPr>
          <a:xfrm>
            <a:off x="502920" y="38635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プログラミングの授業、Webサイトを動かすサーバー、研究室の計算機、小型PCのRaspberry Piなどで使われています。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Ubuntuなどは、Linuxを使ったセット（ディストリビューション）の名前で、別の技術ではありません。種類によって、ソフトの入れ方や設定の場所が少し違います。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WSL（Windowsの中でLinuxを動かす機能）や仮想マシンでUbuntuを動かし、ls・cd・pwdのコマンドでフォルダーを移動してみましょう。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283</a:t>
            </a:fld>
            <a:endParaRPr lang="en-US"/>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Windows用アプリ開発</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Windowsで動くアプリ（ソフト）を作ること。社内ツールや文書処理などに多い。</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Windowsのパソコンの上で動くアプリ（アプリの層）。作る対象が「Windows」。</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Windows アプリ開発</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CE8F8"/>
          </a:solidFill>
          <a:ln w="25400">
            <a:solidFill>
              <a:srgbClr val="2F6BC2"/>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DDF1E4"/>
          </a:solidFill>
          <a:ln w="25400">
            <a:solidFill>
              <a:srgbClr val="237A4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 アプリ開発</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37" name="Shape 35"/>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スマホアプリ開発</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41" name="Shape 39"/>
          <p:cNvSpPr/>
          <p:nvPr/>
        </p:nvSpPr>
        <p:spPr>
          <a:xfrm>
            <a:off x="3566160" y="8499094"/>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履歴を管理</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284</a:t>
            </a:fld>
            <a:endParaRPr lang="en-US"/>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Windows用アプリ開発</a:t>
            </a:r>
            <a:endParaRPr lang="ja-JP" sz="2200" dirty="0"/>
          </a:p>
        </p:txBody>
      </p:sp>
      <p:sp>
        <p:nvSpPr>
          <p:cNvPr id="4" name="Shape 2"/>
          <p:cNvSpPr/>
          <p:nvPr/>
        </p:nvSpPr>
        <p:spPr>
          <a:xfrm>
            <a:off x="320040" y="1318514"/>
            <a:ext cx="4846320" cy="3787648"/>
          </a:xfrm>
          <a:prstGeom prst="roundRect">
            <a:avLst>
              <a:gd name="adj" fmla="val 3380"/>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読み：ウィンドウズ用アプリ開発・Windows向けの開発</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indows用アプリ開発は、Windowsが動くPCの上で動くソフトを作ることです。ボタンや入力欄のある画面（GUI）を持つアプリが代表的で、ファイルを開く、画面に描く、印刷するなどはWindowsの機能を借りて動きます。</a:t>
            </a:r>
            <a:endParaRPr lang="en-US" sz="2000" dirty="0"/>
          </a:p>
        </p:txBody>
      </p:sp>
      <p:sp>
        <p:nvSpPr>
          <p:cNvPr id="7" name="Shape 5"/>
          <p:cNvSpPr/>
          <p:nvPr/>
        </p:nvSpPr>
        <p:spPr>
          <a:xfrm>
            <a:off x="320040" y="5179314"/>
            <a:ext cx="4846320" cy="2631440"/>
          </a:xfrm>
          <a:prstGeom prst="roundRect">
            <a:avLst>
              <a:gd name="adj" fmla="val 4865"/>
            </a:avLst>
          </a:prstGeom>
          <a:solidFill>
            <a:srgbClr val="DDF1E4"/>
          </a:solidFill>
          <a:ln/>
        </p:spPr>
      </p:sp>
      <p:sp>
        <p:nvSpPr>
          <p:cNvPr id="8" name="Text 6"/>
          <p:cNvSpPr txBox="1"/>
          <p:nvPr/>
        </p:nvSpPr>
        <p:spPr>
          <a:xfrm>
            <a:off x="502920" y="52707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「どのOS向けに作るか」で、使う道具と使える機能が変わります。Windows用に作ったアプリは、基本的にはそのままLinuxやiPhoneでは動きません。別のOSで動かすには、作り直すか、複数OS対応の道具を使います。</a:t>
            </a:r>
            <a:endParaRPr lang="en-US" sz="2000" dirty="0"/>
          </a:p>
        </p:txBody>
      </p:sp>
      <p:sp>
        <p:nvSpPr>
          <p:cNvPr id="9" name="Shape 7"/>
          <p:cNvSpPr/>
          <p:nvPr/>
        </p:nvSpPr>
        <p:spPr>
          <a:xfrm>
            <a:off x="320040" y="7883906"/>
            <a:ext cx="4846320" cy="2296160"/>
          </a:xfrm>
          <a:prstGeom prst="roundRect">
            <a:avLst>
              <a:gd name="adj" fmla="val 5575"/>
            </a:avLst>
          </a:prstGeom>
          <a:solidFill>
            <a:srgbClr val="DDF1E4"/>
          </a:solidFill>
          <a:ln/>
        </p:spPr>
      </p:sp>
      <p:sp>
        <p:nvSpPr>
          <p:cNvPr id="10" name="Text 8"/>
          <p:cNvSpPr txBox="1"/>
          <p:nvPr/>
        </p:nvSpPr>
        <p:spPr>
          <a:xfrm>
            <a:off x="502920" y="797534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開発には、C#（シーシャープ）などの言語と、Microsoftが提供する開発ツールのVisual Studioがよく使われます。Pythonなど、他の言語でWindows用アプリを作ることもできます。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285</a:t>
            </a:fld>
            <a:endParaRPr lang="en-US"/>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Windows用アプリ開発</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ゲームソフトとゲーム機の関係。あるゲーム機用のソフトは、別のゲーム機には入りません。Windows用アプリは、Windowsという「ゲーム機」向けに作られたソフトです。</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部活の会計を入力すると合計が出る小さな計算アプリや、校内だけで使う出席管理ツールを、Windowsパソコン向けに作る場面です。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Windows用アプリは、そのままではLinuxやスマホでは動かないことが多いです。「自分のPCでは動くのに別のPCでは動かない」のは、OSや必要な部品の違いが原因のことがあります。</a:t>
            </a:r>
            <a:endParaRPr lang="en-US" sz="2000" dirty="0"/>
          </a:p>
        </p:txBody>
      </p:sp>
      <p:sp>
        <p:nvSpPr>
          <p:cNvPr id="10" name="Shape 8"/>
          <p:cNvSpPr/>
          <p:nvPr/>
        </p:nvSpPr>
        <p:spPr>
          <a:xfrm>
            <a:off x="320040" y="8344154"/>
            <a:ext cx="4846320" cy="1600200"/>
          </a:xfrm>
          <a:prstGeom prst="roundRect">
            <a:avLst>
              <a:gd name="adj" fmla="val 8000"/>
            </a:avLst>
          </a:prstGeom>
          <a:solidFill>
            <a:srgbClr val="DDF1E4"/>
          </a:solidFill>
          <a:ln/>
        </p:spPr>
      </p:sp>
      <p:sp>
        <p:nvSpPr>
          <p:cNvPr id="11" name="Text 9"/>
          <p:cNvSpPr txBox="1"/>
          <p:nvPr/>
        </p:nvSpPr>
        <p:spPr>
          <a:xfrm>
            <a:off x="502920" y="84355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C#などの入門で、ボタンを押すと文字が変わる最小の画面アプリを作り、別のWindowsPCでも動くか確かめてみましょう。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286</a:t>
            </a:fld>
            <a:endParaRPr lang="en-US"/>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Linux用アプリ開発</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Linuxで動くプログラムを作ること。画面のないコマンドやサーバー処理も含む。</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Linuxが動くPCやサーバーの上で動くプログラム（アプリの層）。対象が「Linux」。</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Linux アプリ開発</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CE8F8"/>
          </a:solidFill>
          <a:ln w="25400">
            <a:solidFill>
              <a:srgbClr val="2F6BC2"/>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DDF1E4"/>
          </a:solidFill>
          <a:ln w="25400">
            <a:solidFill>
              <a:srgbClr val="237A4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 アプリ開発</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37" name="Shape 35"/>
          <p:cNvSpPr/>
          <p:nvPr/>
        </p:nvSpPr>
        <p:spPr>
          <a:xfrm>
            <a:off x="3566160" y="7712710"/>
            <a:ext cx="1600200" cy="676656"/>
          </a:xfrm>
          <a:prstGeom prst="roundRect">
            <a:avLst>
              <a:gd name="adj" fmla="val 16216"/>
            </a:avLst>
          </a:prstGeom>
          <a:solidFill>
            <a:srgbClr val="DDF1E4"/>
          </a:solidFill>
          <a:ln w="25400">
            <a:solidFill>
              <a:srgbClr val="237A48"/>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自動化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自動化を担う</a:t>
            </a:r>
            <a:endParaRPr lang="en-US" sz="1500" dirty="0"/>
          </a:p>
        </p:txBody>
      </p:sp>
      <p:sp>
        <p:nvSpPr>
          <p:cNvPr id="41" name="Shape 39"/>
          <p:cNvSpPr/>
          <p:nvPr/>
        </p:nvSpPr>
        <p:spPr>
          <a:xfrm>
            <a:off x="3566160" y="8499094"/>
            <a:ext cx="1600200" cy="676656"/>
          </a:xfrm>
          <a:prstGeom prst="roundRect">
            <a:avLst>
              <a:gd name="adj" fmla="val 16216"/>
            </a:avLst>
          </a:prstGeom>
          <a:solidFill>
            <a:srgbClr val="D9F2F1"/>
          </a:solidFill>
          <a:ln w="25400">
            <a:solidFill>
              <a:srgbClr val="0B7A7A"/>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詰められる</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287</a:t>
            </a:fld>
            <a:endParaRPr lang="en-US"/>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Linux用アプリ開発</a:t>
            </a:r>
            <a:endParaRPr lang="ja-JP" sz="2200" dirty="0"/>
          </a:p>
        </p:txBody>
      </p:sp>
      <p:sp>
        <p:nvSpPr>
          <p:cNvPr id="4" name="Shape 2"/>
          <p:cNvSpPr/>
          <p:nvPr/>
        </p:nvSpPr>
        <p:spPr>
          <a:xfrm>
            <a:off x="320040" y="1318514"/>
            <a:ext cx="4846320" cy="3452368"/>
          </a:xfrm>
          <a:prstGeom prst="roundRect">
            <a:avLst>
              <a:gd name="adj" fmla="val 3708"/>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読み：リナックス用アプリ開発・Linux向けの開発</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Linux用アプリ開発は、Linux上で動くプログラムを作ることです。ボタンのある画面を持つものだけでなく、文字を打って実行する「コマンド」や、裏で動き続けるサーバー処理もたくさん作られます。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DDF1E4"/>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Linuxでは、PythonやC言語、Javaなどのプログラムを、ターミナル（文字で命令を打つ画面）から実行するのが基本です。決まった時刻に自動で動かしたり、結果をファイルに出したりして、他のプログラムと組み合わせて使い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DDF1E4"/>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対象がLinuxだと、サーバーやクラウドの上でそのまま動かしやすい利点があります。Webサイトの裏側のプログラムや研究の計算プログラムは、Linuxで動かす前提で作られることがよくあります。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288</a:t>
            </a:fld>
            <a:endParaRPr lang="en-US"/>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Linux用アプリ開発</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レストランの厨房の道具づくり。お客さん向けの飾りのついた家電（画面付きアプリ）ではなく、裏方で正確に速く動く道具を作ります。</a:t>
            </a:r>
            <a:endParaRPr lang="en-US" sz="2000" dirty="0"/>
          </a:p>
        </p:txBody>
      </p:sp>
      <p:sp>
        <p:nvSpPr>
          <p:cNvPr id="6" name="Shape 4"/>
          <p:cNvSpPr/>
          <p:nvPr/>
        </p:nvSpPr>
        <p:spPr>
          <a:xfrm>
            <a:off x="320040" y="3436874"/>
            <a:ext cx="4846320" cy="1600200"/>
          </a:xfrm>
          <a:prstGeom prst="roundRect">
            <a:avLst>
              <a:gd name="adj" fmla="val 8000"/>
            </a:avLst>
          </a:prstGeom>
          <a:solidFill>
            <a:srgbClr val="DCE8F8"/>
          </a:solidFill>
          <a:ln/>
        </p:spPr>
      </p:sp>
      <p:sp>
        <p:nvSpPr>
          <p:cNvPr id="7" name="Text 5"/>
          <p:cNvSpPr txBox="1"/>
          <p:nvPr/>
        </p:nvSpPr>
        <p:spPr>
          <a:xfrm>
            <a:off x="502920" y="3528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研究で出たデータを集計するプログラムを作り、研究室のLinuxサーバーで夜のうちに実行しておく、といった場面です。</a:t>
            </a:r>
            <a:endParaRPr lang="en-US" sz="2000" dirty="0"/>
          </a:p>
        </p:txBody>
      </p:sp>
      <p:sp>
        <p:nvSpPr>
          <p:cNvPr id="8" name="Shape 6"/>
          <p:cNvSpPr/>
          <p:nvPr/>
        </p:nvSpPr>
        <p:spPr>
          <a:xfrm>
            <a:off x="320040" y="5219954"/>
            <a:ext cx="4846320" cy="2270760"/>
          </a:xfrm>
          <a:prstGeom prst="roundRect">
            <a:avLst>
              <a:gd name="adj" fmla="val 5638"/>
            </a:avLst>
          </a:prstGeom>
          <a:solidFill>
            <a:srgbClr val="FBE3E0"/>
          </a:solidFill>
          <a:ln/>
        </p:spPr>
      </p:sp>
      <p:sp>
        <p:nvSpPr>
          <p:cNvPr id="9" name="Text 7"/>
          <p:cNvSpPr txBox="1"/>
          <p:nvPr/>
        </p:nvSpPr>
        <p:spPr>
          <a:xfrm>
            <a:off x="502920" y="53113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Linux用アプリは、画面付きのものだけではなく、コマンドや裏で動く処理が中心です。Linuxの種類（ディストリビューション）が違うと動かないこともあります。</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LinuxかUbuntuの仮想マシンで、名前を入力するとあいさつを返すプログラムをPythonで書き、ターミナルから実行してみましょう。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289</a:t>
            </a:fld>
            <a:endParaRPr lang="en-US"/>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IoT</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身の回りのモノにセンサーなどを付けてネットにつなぎ、情報を集めたり操作したりする仕組み。</a:t>
            </a:r>
            <a:endParaRPr lang="en-US" sz="1800" dirty="0"/>
          </a:p>
        </p:txBody>
      </p:sp>
      <p:sp>
        <p:nvSpPr>
          <p:cNvPr id="7" name="Text 5"/>
          <p:cNvSpPr txBox="1"/>
          <p:nvPr/>
        </p:nvSpPr>
        <p:spPr>
          <a:xfrm>
            <a:off x="320040" y="2817622"/>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3165094"/>
            <a:ext cx="1156716" cy="384048"/>
          </a:xfrm>
          <a:prstGeom prst="roundRect">
            <a:avLst>
              <a:gd name="adj" fmla="val 23810"/>
            </a:avLst>
          </a:prstGeom>
          <a:solidFill>
            <a:srgbClr val="1B2A3A"/>
          </a:solidFill>
          <a:ln/>
        </p:spPr>
      </p:sp>
      <p:sp>
        <p:nvSpPr>
          <p:cNvPr id="9" name="Text 7"/>
          <p:cNvSpPr txBox="1"/>
          <p:nvPr/>
        </p:nvSpPr>
        <p:spPr>
          <a:xfrm>
            <a:off x="320040"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3165094"/>
            <a:ext cx="1156716" cy="384048"/>
          </a:xfrm>
          <a:prstGeom prst="roundRect">
            <a:avLst>
              <a:gd name="adj" fmla="val 23810"/>
            </a:avLst>
          </a:prstGeom>
          <a:solidFill>
            <a:srgbClr val="EEF1F5"/>
          </a:solidFill>
          <a:ln/>
        </p:spPr>
      </p:sp>
      <p:sp>
        <p:nvSpPr>
          <p:cNvPr id="11" name="Text 9"/>
          <p:cNvSpPr txBox="1"/>
          <p:nvPr/>
        </p:nvSpPr>
        <p:spPr>
          <a:xfrm>
            <a:off x="1549908"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3165094"/>
            <a:ext cx="1156716" cy="384048"/>
          </a:xfrm>
          <a:prstGeom prst="roundRect">
            <a:avLst>
              <a:gd name="adj" fmla="val 23810"/>
            </a:avLst>
          </a:prstGeom>
          <a:solidFill>
            <a:srgbClr val="EEF1F5"/>
          </a:solidFill>
          <a:ln/>
        </p:spPr>
      </p:sp>
      <p:sp>
        <p:nvSpPr>
          <p:cNvPr id="13" name="Text 11"/>
          <p:cNvSpPr txBox="1"/>
          <p:nvPr/>
        </p:nvSpPr>
        <p:spPr>
          <a:xfrm>
            <a:off x="2779776"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3165094"/>
            <a:ext cx="1156716" cy="384048"/>
          </a:xfrm>
          <a:prstGeom prst="roundRect">
            <a:avLst>
              <a:gd name="adj" fmla="val 23810"/>
            </a:avLst>
          </a:prstGeom>
          <a:solidFill>
            <a:srgbClr val="EEF1F5"/>
          </a:solidFill>
          <a:ln/>
        </p:spPr>
      </p:sp>
      <p:sp>
        <p:nvSpPr>
          <p:cNvPr id="15" name="Text 13"/>
          <p:cNvSpPr txBox="1"/>
          <p:nvPr/>
        </p:nvSpPr>
        <p:spPr>
          <a:xfrm>
            <a:off x="4009644" y="3165094"/>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604006"/>
            <a:ext cx="1566672" cy="384048"/>
          </a:xfrm>
          <a:prstGeom prst="roundRect">
            <a:avLst>
              <a:gd name="adj" fmla="val 23810"/>
            </a:avLst>
          </a:prstGeom>
          <a:solidFill>
            <a:srgbClr val="237A48"/>
          </a:solidFill>
          <a:ln/>
        </p:spPr>
      </p:sp>
      <p:sp>
        <p:nvSpPr>
          <p:cNvPr id="17" name="Text 15"/>
          <p:cNvSpPr txBox="1"/>
          <p:nvPr/>
        </p:nvSpPr>
        <p:spPr>
          <a:xfrm>
            <a:off x="320040"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604006"/>
            <a:ext cx="1566672" cy="384048"/>
          </a:xfrm>
          <a:prstGeom prst="roundRect">
            <a:avLst>
              <a:gd name="adj" fmla="val 23810"/>
            </a:avLst>
          </a:prstGeom>
          <a:solidFill>
            <a:srgbClr val="B45309"/>
          </a:solidFill>
          <a:ln/>
        </p:spPr>
      </p:sp>
      <p:sp>
        <p:nvSpPr>
          <p:cNvPr id="19" name="Text 17"/>
          <p:cNvSpPr txBox="1"/>
          <p:nvPr/>
        </p:nvSpPr>
        <p:spPr>
          <a:xfrm>
            <a:off x="1959864"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604006"/>
            <a:ext cx="1566672" cy="384048"/>
          </a:xfrm>
          <a:prstGeom prst="roundRect">
            <a:avLst>
              <a:gd name="adj" fmla="val 23810"/>
            </a:avLst>
          </a:prstGeom>
          <a:solidFill>
            <a:srgbClr val="EEF1F5"/>
          </a:solidFill>
          <a:ln/>
        </p:spPr>
      </p:sp>
      <p:sp>
        <p:nvSpPr>
          <p:cNvPr id="21" name="Text 19"/>
          <p:cNvSpPr txBox="1"/>
          <p:nvPr/>
        </p:nvSpPr>
        <p:spPr>
          <a:xfrm>
            <a:off x="3599688" y="3604006"/>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4061206"/>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3" name="Text 21"/>
          <p:cNvSpPr txBox="1"/>
          <p:nvPr/>
        </p:nvSpPr>
        <p:spPr>
          <a:xfrm>
            <a:off x="365760" y="4335526"/>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4" name="Text 22"/>
          <p:cNvSpPr txBox="1"/>
          <p:nvPr/>
        </p:nvSpPr>
        <p:spPr>
          <a:xfrm>
            <a:off x="365760" y="4609846"/>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5" name="Shape 23"/>
          <p:cNvSpPr/>
          <p:nvPr/>
        </p:nvSpPr>
        <p:spPr>
          <a:xfrm>
            <a:off x="320040" y="5085334"/>
            <a:ext cx="4846320" cy="1264920"/>
          </a:xfrm>
          <a:prstGeom prst="roundRect">
            <a:avLst>
              <a:gd name="adj" fmla="val 10120"/>
            </a:avLst>
          </a:prstGeom>
          <a:solidFill>
            <a:srgbClr val="E2E8F0"/>
          </a:solidFill>
          <a:ln/>
        </p:spPr>
      </p:sp>
      <p:sp>
        <p:nvSpPr>
          <p:cNvPr id="26" name="Text 24"/>
          <p:cNvSpPr txBox="1"/>
          <p:nvPr/>
        </p:nvSpPr>
        <p:spPr>
          <a:xfrm>
            <a:off x="502920" y="5176774"/>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機器（ハードウェア）、通信（ネットワーク）、見る・操作するアプリの3つにまたがる仕組み。</a:t>
            </a:r>
            <a:endParaRPr lang="en-US" sz="2000" dirty="0"/>
          </a:p>
        </p:txBody>
      </p:sp>
      <p:sp>
        <p:nvSpPr>
          <p:cNvPr id="27" name="Shape 25"/>
          <p:cNvSpPr/>
          <p:nvPr/>
        </p:nvSpPr>
        <p:spPr>
          <a:xfrm>
            <a:off x="320040" y="6533134"/>
            <a:ext cx="4846320" cy="402336"/>
          </a:xfrm>
          <a:prstGeom prst="roundRect">
            <a:avLst>
              <a:gd name="adj" fmla="val 22727"/>
            </a:avLst>
          </a:prstGeom>
          <a:solidFill>
            <a:srgbClr val="475569"/>
          </a:solidFill>
          <a:ln/>
        </p:spPr>
      </p:sp>
      <p:sp>
        <p:nvSpPr>
          <p:cNvPr id="28" name="Text 26"/>
          <p:cNvSpPr txBox="1"/>
          <p:nvPr/>
        </p:nvSpPr>
        <p:spPr>
          <a:xfrm>
            <a:off x="411480" y="6533134"/>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9" name="Shape 27"/>
          <p:cNvSpPr/>
          <p:nvPr/>
        </p:nvSpPr>
        <p:spPr>
          <a:xfrm>
            <a:off x="320040" y="6990334"/>
            <a:ext cx="1371600" cy="3035808"/>
          </a:xfrm>
          <a:prstGeom prst="roundRect">
            <a:avLst>
              <a:gd name="adj" fmla="val 8000"/>
            </a:avLst>
          </a:prstGeom>
          <a:solidFill>
            <a:srgbClr val="475569"/>
          </a:solidFill>
          <a:ln/>
        </p:spPr>
      </p:sp>
      <p:sp>
        <p:nvSpPr>
          <p:cNvPr id="30" name="Text 28"/>
          <p:cNvSpPr txBox="1"/>
          <p:nvPr/>
        </p:nvSpPr>
        <p:spPr>
          <a:xfrm>
            <a:off x="411480" y="6990334"/>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IoT</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1" name="Shape 29"/>
          <p:cNvSpPr/>
          <p:nvPr/>
        </p:nvSpPr>
        <p:spPr>
          <a:xfrm>
            <a:off x="3566160" y="6990334"/>
            <a:ext cx="1600200" cy="676656"/>
          </a:xfrm>
          <a:prstGeom prst="roundRect">
            <a:avLst>
              <a:gd name="adj" fmla="val 16216"/>
            </a:avLst>
          </a:prstGeom>
          <a:solidFill>
            <a:srgbClr val="FDEBD0"/>
          </a:solidFill>
          <a:ln w="25400">
            <a:solidFill>
              <a:srgbClr val="B45309"/>
            </a:solidFill>
            <a:prstDash val="solid"/>
          </a:ln>
        </p:spPr>
      </p:sp>
      <p:sp>
        <p:nvSpPr>
          <p:cNvPr id="32" name="Text 30"/>
          <p:cNvSpPr txBox="1"/>
          <p:nvPr/>
        </p:nvSpPr>
        <p:spPr>
          <a:xfrm>
            <a:off x="3657600" y="699033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3" name="Shape 31"/>
          <p:cNvSpPr/>
          <p:nvPr/>
        </p:nvSpPr>
        <p:spPr>
          <a:xfrm flipH="1">
            <a:off x="1719072" y="7328662"/>
            <a:ext cx="1819656" cy="0"/>
          </a:xfrm>
          <a:prstGeom prst="line">
            <a:avLst/>
          </a:prstGeom>
          <a:noFill/>
          <a:ln w="31750">
            <a:solidFill>
              <a:srgbClr val="1B2A3A"/>
            </a:solidFill>
            <a:prstDash val="solid"/>
            <a:tailEnd type="triangle"/>
          </a:ln>
        </p:spPr>
      </p:sp>
      <p:sp>
        <p:nvSpPr>
          <p:cNvPr id="34" name="Text 32"/>
          <p:cNvSpPr txBox="1"/>
          <p:nvPr/>
        </p:nvSpPr>
        <p:spPr>
          <a:xfrm>
            <a:off x="1700784" y="702691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35" name="Shape 33"/>
          <p:cNvSpPr/>
          <p:nvPr/>
        </p:nvSpPr>
        <p:spPr>
          <a:xfrm>
            <a:off x="3566160" y="7776718"/>
            <a:ext cx="1600200" cy="676656"/>
          </a:xfrm>
          <a:prstGeom prst="roundRect">
            <a:avLst>
              <a:gd name="adj" fmla="val 16216"/>
            </a:avLst>
          </a:prstGeom>
          <a:solidFill>
            <a:srgbClr val="DFF1FB"/>
          </a:solidFill>
          <a:ln w="25400">
            <a:solidFill>
              <a:srgbClr val="0369A1"/>
            </a:solidFill>
            <a:prstDash val="solid"/>
          </a:ln>
        </p:spPr>
      </p:sp>
      <p:sp>
        <p:nvSpPr>
          <p:cNvPr id="36" name="Text 34"/>
          <p:cNvSpPr txBox="1"/>
          <p:nvPr/>
        </p:nvSpPr>
        <p:spPr>
          <a:xfrm>
            <a:off x="3657600" y="777671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7" name="Shape 35"/>
          <p:cNvSpPr/>
          <p:nvPr/>
        </p:nvSpPr>
        <p:spPr>
          <a:xfrm>
            <a:off x="1719072" y="8115046"/>
            <a:ext cx="1819656" cy="0"/>
          </a:xfrm>
          <a:prstGeom prst="line">
            <a:avLst/>
          </a:prstGeom>
          <a:noFill/>
          <a:ln w="31750">
            <a:solidFill>
              <a:srgbClr val="1B2A3A"/>
            </a:solidFill>
            <a:prstDash val="solid"/>
            <a:tailEnd type="triangle"/>
          </a:ln>
        </p:spPr>
      </p:sp>
      <p:sp>
        <p:nvSpPr>
          <p:cNvPr id="38" name="Text 36"/>
          <p:cNvSpPr txBox="1"/>
          <p:nvPr/>
        </p:nvSpPr>
        <p:spPr>
          <a:xfrm>
            <a:off x="1700784" y="781329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データを送る</a:t>
            </a:r>
            <a:endParaRPr lang="en-US" sz="1500" dirty="0"/>
          </a:p>
        </p:txBody>
      </p:sp>
      <p:sp>
        <p:nvSpPr>
          <p:cNvPr id="39" name="Shape 37"/>
          <p:cNvSpPr/>
          <p:nvPr/>
        </p:nvSpPr>
        <p:spPr>
          <a:xfrm>
            <a:off x="3566160" y="8563102"/>
            <a:ext cx="1600200" cy="676656"/>
          </a:xfrm>
          <a:prstGeom prst="roundRect">
            <a:avLst>
              <a:gd name="adj" fmla="val 16216"/>
            </a:avLst>
          </a:prstGeom>
          <a:solidFill>
            <a:srgbClr val="DDF1E4"/>
          </a:solidFill>
          <a:ln w="25400">
            <a:solidFill>
              <a:srgbClr val="237A48"/>
            </a:solidFill>
            <a:prstDash val="solid"/>
          </a:ln>
        </p:spPr>
      </p:sp>
      <p:sp>
        <p:nvSpPr>
          <p:cNvPr id="40" name="Text 38"/>
          <p:cNvSpPr txBox="1"/>
          <p:nvPr/>
        </p:nvSpPr>
        <p:spPr>
          <a:xfrm>
            <a:off x="3657600" y="856310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1" name="Shape 39"/>
          <p:cNvSpPr/>
          <p:nvPr/>
        </p:nvSpPr>
        <p:spPr>
          <a:xfrm>
            <a:off x="1719072" y="8901430"/>
            <a:ext cx="1819656" cy="0"/>
          </a:xfrm>
          <a:prstGeom prst="line">
            <a:avLst/>
          </a:prstGeom>
          <a:noFill/>
          <a:ln w="31750">
            <a:solidFill>
              <a:srgbClr val="1B2A3A"/>
            </a:solidFill>
            <a:prstDash val="solid"/>
            <a:tailEnd type="triangle"/>
          </a:ln>
        </p:spPr>
      </p:sp>
      <p:sp>
        <p:nvSpPr>
          <p:cNvPr id="42" name="Text 40"/>
          <p:cNvSpPr txBox="1"/>
          <p:nvPr/>
        </p:nvSpPr>
        <p:spPr>
          <a:xfrm>
            <a:off x="1700784" y="859967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3" name="Shape 41"/>
          <p:cNvSpPr/>
          <p:nvPr/>
        </p:nvSpPr>
        <p:spPr>
          <a:xfrm>
            <a:off x="3566160" y="9349486"/>
            <a:ext cx="1600200" cy="676656"/>
          </a:xfrm>
          <a:prstGeom prst="roundRect">
            <a:avLst>
              <a:gd name="adj" fmla="val 16216"/>
            </a:avLst>
          </a:prstGeom>
          <a:solidFill>
            <a:srgbClr val="DDF1E4"/>
          </a:solidFill>
          <a:ln w="25400">
            <a:solidFill>
              <a:srgbClr val="237A48"/>
            </a:solidFill>
            <a:prstDash val="solid"/>
          </a:ln>
        </p:spPr>
      </p:sp>
      <p:sp>
        <p:nvSpPr>
          <p:cNvPr id="44" name="Text 42"/>
          <p:cNvSpPr txBox="1"/>
          <p:nvPr/>
        </p:nvSpPr>
        <p:spPr>
          <a:xfrm>
            <a:off x="3657600" y="934948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スマホアプリ開発</a:t>
            </a:r>
            <a:endParaRPr lang="en-US" sz="1500" dirty="0"/>
          </a:p>
        </p:txBody>
      </p:sp>
      <p:sp>
        <p:nvSpPr>
          <p:cNvPr id="45" name="Shape 43"/>
          <p:cNvSpPr/>
          <p:nvPr/>
        </p:nvSpPr>
        <p:spPr>
          <a:xfrm flipH="1">
            <a:off x="1719072" y="9687814"/>
            <a:ext cx="1819656" cy="0"/>
          </a:xfrm>
          <a:prstGeom prst="line">
            <a:avLst/>
          </a:prstGeom>
          <a:noFill/>
          <a:ln w="31750">
            <a:solidFill>
              <a:srgbClr val="1B2A3A"/>
            </a:solidFill>
            <a:prstDash val="solid"/>
            <a:tailEnd type="triangle"/>
          </a:ln>
        </p:spPr>
      </p:sp>
      <p:sp>
        <p:nvSpPr>
          <p:cNvPr id="46" name="Text 44"/>
          <p:cNvSpPr txBox="1"/>
          <p:nvPr/>
        </p:nvSpPr>
        <p:spPr>
          <a:xfrm>
            <a:off x="1700784" y="938606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47" name="Text 4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290</a:t>
            </a:fld>
            <a:endParaRPr lang="en-US"/>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IoT</a:t>
            </a:r>
            <a:endParaRPr lang="ja-JP" sz="2200" dirty="0"/>
          </a:p>
        </p:txBody>
      </p:sp>
      <p:sp>
        <p:nvSpPr>
          <p:cNvPr id="4" name="Shape 2"/>
          <p:cNvSpPr/>
          <p:nvPr/>
        </p:nvSpPr>
        <p:spPr>
          <a:xfrm>
            <a:off x="320040" y="1318514"/>
            <a:ext cx="4846320" cy="3787648"/>
          </a:xfrm>
          <a:prstGeom prst="roundRect">
            <a:avLst>
              <a:gd name="adj" fmla="val 3380"/>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読み：アイオーティー・Internet of Things（モノのインターネット）</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IoT（アイオーティー）は、Internet of Things（モノのインターネット）の略です。温度計、照明、エアコン、農業用の機械など、これまでネットにつながっていなかった「モノ」を、ネットワークにつないで使う仕組みです。</a:t>
            </a:r>
            <a:endParaRPr lang="en-US" sz="2000" dirty="0"/>
          </a:p>
        </p:txBody>
      </p:sp>
      <p:sp>
        <p:nvSpPr>
          <p:cNvPr id="7" name="Shape 5"/>
          <p:cNvSpPr/>
          <p:nvPr/>
        </p:nvSpPr>
        <p:spPr>
          <a:xfrm>
            <a:off x="320040" y="5179314"/>
            <a:ext cx="4846320" cy="2296160"/>
          </a:xfrm>
          <a:prstGeom prst="roundRect">
            <a:avLst>
              <a:gd name="adj" fmla="val 5575"/>
            </a:avLst>
          </a:prstGeom>
          <a:solidFill>
            <a:srgbClr val="E2E8F0"/>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仕組みは3つの部分です。①センサー（温度や動きを測る部品）でデータを取る。②通信（Wi-FiやBluetoothなど）でデータを送る。③サーバーやクラウドで集めて、アプリで見たり、機器を動かしたりする。</a:t>
            </a:r>
            <a:endParaRPr lang="en-US" sz="2000" dirty="0"/>
          </a:p>
        </p:txBody>
      </p:sp>
      <p:sp>
        <p:nvSpPr>
          <p:cNvPr id="9" name="Shape 7"/>
          <p:cNvSpPr/>
          <p:nvPr/>
        </p:nvSpPr>
        <p:spPr>
          <a:xfrm>
            <a:off x="320040" y="7548626"/>
            <a:ext cx="4846320" cy="1960880"/>
          </a:xfrm>
          <a:prstGeom prst="roundRect">
            <a:avLst>
              <a:gd name="adj" fmla="val 6528"/>
            </a:avLst>
          </a:prstGeom>
          <a:solidFill>
            <a:srgbClr val="E2E8F0"/>
          </a:solidFill>
          <a:ln/>
        </p:spPr>
      </p:sp>
      <p:sp>
        <p:nvSpPr>
          <p:cNvPr id="10" name="Text 8"/>
          <p:cNvSpPr txBox="1"/>
          <p:nvPr/>
        </p:nvSpPr>
        <p:spPr>
          <a:xfrm>
            <a:off x="502920" y="764006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つまりIoTは、ハードウェア・ネットワーク・アプリがそろって成り立つ技術です。RaspberryPiやArduinoのような小さなボードを使えば、学生でも小さな試作ができます。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291</a:t>
            </a:fld>
            <a:endParaRPr lang="en-US"/>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IoT</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部屋に置いた見張り役の友だち。温度や明るさを測り（センサー）、LINEで報告し（通信）、あなたがまとめて見て（アプリ）、「エアコンつけて」と返事します（制御）。</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教室の温度と湿度を測り、学校のPCに自動で表示する。ビニールハウスの水やりをスマホで確認する。スマート電球をスマホで切り替える。</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IoTは「センサー付きの機械」だけの話ではなく、ネットにつなぐところまで含みます。つながる分、パスワードを初期のままにすると外から操作される危険があります。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小さなボード（Raspberry Piなど）に温度センサーをつなぎ、測った温度をPCの画面やグラフに表示する小さな実習をしてみましょう。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292</a:t>
            </a:fld>
            <a:endParaRPr lang="en-US"/>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PCを自作して使用</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部品を自分で選んで組み立て、使う目的に合わせたPCを作って使うこと。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1B2A3A"/>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3" name="Shape 21"/>
          <p:cNvSpPr/>
          <p:nvPr/>
        </p:nvSpPr>
        <p:spPr>
          <a:xfrm>
            <a:off x="320040" y="4234942"/>
            <a:ext cx="4846320" cy="1264920"/>
          </a:xfrm>
          <a:prstGeom prst="roundRect">
            <a:avLst>
              <a:gd name="adj" fmla="val 10120"/>
            </a:avLst>
          </a:prstGeom>
          <a:solidFill>
            <a:srgbClr val="E2E8F0"/>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PCの中身（ハードウェア）を自分で選んで組み立てること。完成後にOSを入れて使う。</a:t>
            </a:r>
            <a:endParaRPr lang="en-US" sz="2000" dirty="0"/>
          </a:p>
        </p:txBody>
      </p:sp>
      <p:sp>
        <p:nvSpPr>
          <p:cNvPr id="25" name="Shape 23"/>
          <p:cNvSpPr/>
          <p:nvPr/>
        </p:nvSpPr>
        <p:spPr>
          <a:xfrm>
            <a:off x="320040" y="5682742"/>
            <a:ext cx="4846320" cy="402336"/>
          </a:xfrm>
          <a:prstGeom prst="roundRect">
            <a:avLst>
              <a:gd name="adj" fmla="val 22727"/>
            </a:avLst>
          </a:prstGeom>
          <a:solidFill>
            <a:srgbClr val="475569"/>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475569"/>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PC自作</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9" name="Shape 27"/>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M.2</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取り付け規格</a:t>
            </a:r>
            <a:endParaRPr lang="en-US" sz="1500" dirty="0"/>
          </a:p>
        </p:txBody>
      </p:sp>
      <p:sp>
        <p:nvSpPr>
          <p:cNvPr id="45" name="Shape 43"/>
          <p:cNvSpPr/>
          <p:nvPr/>
        </p:nvSpPr>
        <p:spPr>
          <a:xfrm>
            <a:off x="3566160" y="9285478"/>
            <a:ext cx="1600200" cy="676656"/>
          </a:xfrm>
          <a:prstGeom prst="roundRect">
            <a:avLst>
              <a:gd name="adj" fmla="val 16216"/>
            </a:avLst>
          </a:prstGeom>
          <a:solidFill>
            <a:srgbClr val="DCE8F8"/>
          </a:solidFill>
          <a:ln w="25400">
            <a:solidFill>
              <a:srgbClr val="2F6BC2"/>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入れて使う</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293</a:t>
            </a:fld>
            <a:endParaRPr lang="en-US"/>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PCを自作して使用</a:t>
            </a:r>
            <a:endParaRPr lang="ja-JP" sz="2200" dirty="0"/>
          </a:p>
        </p:txBody>
      </p:sp>
      <p:sp>
        <p:nvSpPr>
          <p:cNvPr id="4" name="Shape 2"/>
          <p:cNvSpPr/>
          <p:nvPr/>
        </p:nvSpPr>
        <p:spPr>
          <a:xfrm>
            <a:off x="320040" y="1318514"/>
            <a:ext cx="4846320" cy="3787648"/>
          </a:xfrm>
          <a:prstGeom prst="roundRect">
            <a:avLst>
              <a:gd name="adj" fmla="val 3380"/>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読み：ピーシーをじさくして しよう・PC自作</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PCの自作は、完成品を買うのではなく、CPU・メモリ・ストレージなどの部品を自分で選び、組み立ててPCにすることです。ゲーム、動画編集、研究の計算など、重視する用途に合わせて組み合わせを決められます。</a:t>
            </a:r>
            <a:endParaRPr lang="en-US" sz="2000" dirty="0"/>
          </a:p>
        </p:txBody>
      </p:sp>
      <p:sp>
        <p:nvSpPr>
          <p:cNvPr id="7" name="Shape 5"/>
          <p:cNvSpPr/>
          <p:nvPr/>
        </p:nvSpPr>
        <p:spPr>
          <a:xfrm>
            <a:off x="320040" y="5179314"/>
            <a:ext cx="4846320" cy="2631440"/>
          </a:xfrm>
          <a:prstGeom prst="roundRect">
            <a:avLst>
              <a:gd name="adj" fmla="val 4865"/>
            </a:avLst>
          </a:prstGeom>
          <a:solidFill>
            <a:srgbClr val="E2E8F0"/>
          </a:solidFill>
          <a:ln/>
        </p:spPr>
      </p:sp>
      <p:sp>
        <p:nvSpPr>
          <p:cNvPr id="8" name="Text 6"/>
          <p:cNvSpPr txBox="1"/>
          <p:nvPr/>
        </p:nvSpPr>
        <p:spPr>
          <a:xfrm>
            <a:off x="502920" y="52707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主な部品の役割です。CPUは計算をする頭脳、メモリは作業中のデータを置く机、ストレージ（SSDなど）はデータを保存する倉庫、電源ユニットは各部品に電気を配る装置、マザーボードはそれらをつなぐ土台の基板です。</a:t>
            </a:r>
            <a:endParaRPr lang="en-US" sz="2000" dirty="0"/>
          </a:p>
        </p:txBody>
      </p:sp>
      <p:sp>
        <p:nvSpPr>
          <p:cNvPr id="9" name="Text 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294</a:t>
            </a:fld>
            <a:endParaRPr lang="en-US"/>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PCを自作して使用</a:t>
            </a:r>
            <a:endParaRPr lang="ja-JP" sz="2200" dirty="0"/>
          </a:p>
        </p:txBody>
      </p:sp>
      <p:sp>
        <p:nvSpPr>
          <p:cNvPr id="4" name="Shape 2"/>
          <p:cNvSpPr/>
          <p:nvPr/>
        </p:nvSpPr>
        <p:spPr>
          <a:xfrm>
            <a:off x="320040" y="1318514"/>
            <a:ext cx="4846320" cy="2631440"/>
          </a:xfrm>
          <a:prstGeom prst="roundRect">
            <a:avLst>
              <a:gd name="adj" fmla="val 4865"/>
            </a:avLst>
          </a:prstGeom>
          <a:solidFill>
            <a:srgbClr val="E2E8F0"/>
          </a:solidFill>
          <a:ln/>
        </p:spPr>
      </p:sp>
      <p:sp>
        <p:nvSpPr>
          <p:cNvPr id="5" name="Text 3"/>
          <p:cNvSpPr txBox="1"/>
          <p:nvPr/>
        </p:nvSpPr>
        <p:spPr>
          <a:xfrm>
            <a:off x="502920" y="14099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大切なのは「互換性」（組み合わせられるか）です。CPUとマザーボードは差し込み口（ソケット）の形が合う必要があり、メモリの規格、ケースの大きさ、電源の容量も確認します。合わない部品は取り付けられません。</a:t>
            </a:r>
            <a:endParaRPr lang="en-US" sz="2000" dirty="0"/>
          </a:p>
        </p:txBody>
      </p:sp>
      <p:sp>
        <p:nvSpPr>
          <p:cNvPr id="6" name="Shape 4"/>
          <p:cNvSpPr/>
          <p:nvPr/>
        </p:nvSpPr>
        <p:spPr>
          <a:xfrm>
            <a:off x="320040" y="4023106"/>
            <a:ext cx="4846320" cy="2270760"/>
          </a:xfrm>
          <a:prstGeom prst="roundRect">
            <a:avLst>
              <a:gd name="adj" fmla="val 5638"/>
            </a:avLst>
          </a:prstGeom>
          <a:solidFill>
            <a:srgbClr val="FDEBD0"/>
          </a:solidFill>
          <a:ln/>
        </p:spPr>
      </p:sp>
      <p:sp>
        <p:nvSpPr>
          <p:cNvPr id="7" name="Text 5"/>
          <p:cNvSpPr txBox="1"/>
          <p:nvPr/>
        </p:nvSpPr>
        <p:spPr>
          <a:xfrm>
            <a:off x="502920" y="411454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ブロック玩具で作る自分専用のロボット。台座（マザーボード）に、頭脳（CPU）、机（メモリ）、倉庫（ストレージ）、電池（電源）を載せますが、接続口が合わないと付けられません。</a:t>
            </a:r>
            <a:endParaRPr lang="en-US" sz="2000" dirty="0"/>
          </a:p>
        </p:txBody>
      </p:sp>
      <p:sp>
        <p:nvSpPr>
          <p:cNvPr id="8" name="Shape 6"/>
          <p:cNvSpPr/>
          <p:nvPr/>
        </p:nvSpPr>
        <p:spPr>
          <a:xfrm>
            <a:off x="320040" y="6476746"/>
            <a:ext cx="4846320" cy="1935480"/>
          </a:xfrm>
          <a:prstGeom prst="roundRect">
            <a:avLst>
              <a:gd name="adj" fmla="val 6614"/>
            </a:avLst>
          </a:prstGeom>
          <a:solidFill>
            <a:srgbClr val="DCE8F8"/>
          </a:solidFill>
          <a:ln/>
        </p:spPr>
      </p:sp>
      <p:sp>
        <p:nvSpPr>
          <p:cNvPr id="9" name="Text 7"/>
          <p:cNvSpPr txBox="1"/>
          <p:nvPr/>
        </p:nvSpPr>
        <p:spPr>
          <a:xfrm>
            <a:off x="502920" y="656818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ゲームを滑らかに動かしたい、研究のシミュレーション用にメモリを多くしたい、といった目的に合わせて部品を選ぶ場面です。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295</a:t>
            </a:fld>
            <a:endParaRPr lang="en-US"/>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PCを自作して使用</a:t>
            </a:r>
            <a:endParaRPr lang="ja-JP" sz="2200" dirty="0"/>
          </a:p>
        </p:txBody>
      </p:sp>
      <p:sp>
        <p:nvSpPr>
          <p:cNvPr id="4" name="Shape 2"/>
          <p:cNvSpPr/>
          <p:nvPr/>
        </p:nvSpPr>
        <p:spPr>
          <a:xfrm>
            <a:off x="320040" y="1318514"/>
            <a:ext cx="4846320" cy="2270760"/>
          </a:xfrm>
          <a:prstGeom prst="roundRect">
            <a:avLst>
              <a:gd name="adj" fmla="val 5638"/>
            </a:avLst>
          </a:prstGeom>
          <a:solidFill>
            <a:srgbClr val="FBE3E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CPUとマザーボードの組み合わせ（ソケットの形）や、メモリの規格が合わないと動きません。購入前に、メーカーの対応表で必ず確認しましょう。静電気にも注意が必要です。</a:t>
            </a:r>
            <a:endParaRPr lang="en-US" sz="2000" dirty="0"/>
          </a:p>
        </p:txBody>
      </p:sp>
      <p:sp>
        <p:nvSpPr>
          <p:cNvPr id="6" name="Shape 4"/>
          <p:cNvSpPr/>
          <p:nvPr/>
        </p:nvSpPr>
        <p:spPr>
          <a:xfrm>
            <a:off x="320040" y="3772154"/>
            <a:ext cx="4846320" cy="1935480"/>
          </a:xfrm>
          <a:prstGeom prst="roundRect">
            <a:avLst>
              <a:gd name="adj" fmla="val 6614"/>
            </a:avLst>
          </a:prstGeom>
          <a:solidFill>
            <a:srgbClr val="DDF1E4"/>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まず各部品の役割を自分の言葉で説明できるようにし、次に「ゲーム用」など目的を決めて、互換性を確認した部品表を紙に作ってみましょう。</a:t>
            </a:r>
            <a:endParaRPr lang="en-US" sz="2000" dirty="0"/>
          </a:p>
        </p:txBody>
      </p:sp>
      <p:sp>
        <p:nvSpPr>
          <p:cNvPr id="8" name="Text 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296</a:t>
            </a:fld>
            <a:endParaRPr lang="en-US"/>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経験は中身を分けて書く</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同じ「経験あり」でも、活動ごとに書くとよい内容が違います。貼り付けの表を整理しました。</a:t>
            </a:r>
            <a:endParaRPr lang="en-US" sz="1800" dirty="0"/>
          </a:p>
        </p:txBody>
      </p:sp>
      <p:sp>
        <p:nvSpPr>
          <p:cNvPr id="6" name="Shape 4"/>
          <p:cNvSpPr/>
          <p:nvPr/>
        </p:nvSpPr>
        <p:spPr>
          <a:xfrm>
            <a:off x="320040" y="2817622"/>
            <a:ext cx="4846320" cy="1470152"/>
          </a:xfrm>
          <a:prstGeom prst="roundRect">
            <a:avLst>
              <a:gd name="adj" fmla="val 8708"/>
            </a:avLst>
          </a:prstGeom>
          <a:solidFill>
            <a:srgbClr val="FDEBD0"/>
          </a:solidFill>
          <a:ln/>
        </p:spPr>
      </p:sp>
      <p:sp>
        <p:nvSpPr>
          <p:cNvPr id="7" name="Text 5"/>
          <p:cNvSpPr txBox="1"/>
          <p:nvPr/>
        </p:nvSpPr>
        <p:spPr>
          <a:xfrm>
            <a:off x="502920" y="296392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ChatGPTなどのAIを使った</a:t>
            </a:r>
            <a:endParaRPr lang="en-US" sz="2200" dirty="0"/>
          </a:p>
        </p:txBody>
      </p:sp>
      <p:sp>
        <p:nvSpPr>
          <p:cNvPr id="8" name="Text 6"/>
          <p:cNvSpPr txBox="1"/>
          <p:nvPr/>
        </p:nvSpPr>
        <p:spPr>
          <a:xfrm>
            <a:off x="502920" y="3424174"/>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書くとよい内容：</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何に利用したか、結果をどう確認したか。</a:t>
            </a:r>
            <a:endParaRPr lang="en-US" sz="2000" dirty="0"/>
          </a:p>
        </p:txBody>
      </p:sp>
      <p:sp>
        <p:nvSpPr>
          <p:cNvPr id="9" name="Shape 7"/>
          <p:cNvSpPr/>
          <p:nvPr/>
        </p:nvSpPr>
        <p:spPr>
          <a:xfrm>
            <a:off x="320040" y="4470654"/>
            <a:ext cx="4846320" cy="1470152"/>
          </a:xfrm>
          <a:prstGeom prst="roundRect">
            <a:avLst>
              <a:gd name="adj" fmla="val 8708"/>
            </a:avLst>
          </a:prstGeom>
          <a:solidFill>
            <a:srgbClr val="FDEBD0"/>
          </a:solidFill>
          <a:ln/>
        </p:spPr>
      </p:sp>
      <p:sp>
        <p:nvSpPr>
          <p:cNvPr id="10" name="Text 8"/>
          <p:cNvSpPr txBox="1"/>
          <p:nvPr/>
        </p:nvSpPr>
        <p:spPr>
          <a:xfrm>
            <a:off x="502920" y="461695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AIを研究・開発した</a:t>
            </a:r>
            <a:endParaRPr lang="en-US" sz="2200" dirty="0"/>
          </a:p>
        </p:txBody>
      </p:sp>
      <p:sp>
        <p:nvSpPr>
          <p:cNvPr id="11" name="Text 9"/>
          <p:cNvSpPr txBox="1"/>
          <p:nvPr/>
        </p:nvSpPr>
        <p:spPr>
          <a:xfrm>
            <a:off x="502920" y="507720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書くとよい内容：</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使ったデータ、作ったモデル、評価方法、結果。</a:t>
            </a:r>
            <a:endParaRPr lang="en-US" sz="2000" dirty="0"/>
          </a:p>
        </p:txBody>
      </p:sp>
      <p:sp>
        <p:nvSpPr>
          <p:cNvPr id="12" name="Shape 10"/>
          <p:cNvSpPr/>
          <p:nvPr/>
        </p:nvSpPr>
        <p:spPr>
          <a:xfrm>
            <a:off x="320040" y="6123686"/>
            <a:ext cx="4846320" cy="1470152"/>
          </a:xfrm>
          <a:prstGeom prst="roundRect">
            <a:avLst>
              <a:gd name="adj" fmla="val 8708"/>
            </a:avLst>
          </a:prstGeom>
          <a:solidFill>
            <a:srgbClr val="FDEBD0"/>
          </a:solidFill>
          <a:ln/>
        </p:spPr>
      </p:sp>
      <p:sp>
        <p:nvSpPr>
          <p:cNvPr id="13" name="Text 11"/>
          <p:cNvSpPr txBox="1"/>
          <p:nvPr/>
        </p:nvSpPr>
        <p:spPr>
          <a:xfrm>
            <a:off x="502920" y="626999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アプリを作った</a:t>
            </a:r>
            <a:endParaRPr lang="en-US" sz="2200" dirty="0"/>
          </a:p>
        </p:txBody>
      </p:sp>
      <p:sp>
        <p:nvSpPr>
          <p:cNvPr id="14" name="Text 12"/>
          <p:cNvSpPr txBox="1"/>
          <p:nvPr/>
        </p:nvSpPr>
        <p:spPr>
          <a:xfrm>
            <a:off x="502920" y="6730238"/>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書くとよい内容：</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対象OS、言語、機能、担当した範囲。</a:t>
            </a:r>
            <a:endParaRPr lang="en-US" sz="2000" dirty="0"/>
          </a:p>
        </p:txBody>
      </p:sp>
      <p:sp>
        <p:nvSpPr>
          <p:cNvPr id="15" name="Shape 13"/>
          <p:cNvSpPr/>
          <p:nvPr/>
        </p:nvSpPr>
        <p:spPr>
          <a:xfrm>
            <a:off x="320040" y="7776718"/>
            <a:ext cx="4846320" cy="1470152"/>
          </a:xfrm>
          <a:prstGeom prst="roundRect">
            <a:avLst>
              <a:gd name="adj" fmla="val 8708"/>
            </a:avLst>
          </a:prstGeom>
          <a:solidFill>
            <a:srgbClr val="FDEBD0"/>
          </a:solidFill>
          <a:ln/>
        </p:spPr>
      </p:sp>
      <p:sp>
        <p:nvSpPr>
          <p:cNvPr id="16" name="Text 14"/>
          <p:cNvSpPr txBox="1"/>
          <p:nvPr/>
        </p:nvSpPr>
        <p:spPr>
          <a:xfrm>
            <a:off x="502920" y="7923022"/>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作業を自動化した</a:t>
            </a:r>
            <a:endParaRPr lang="en-US" sz="2200" dirty="0"/>
          </a:p>
        </p:txBody>
      </p:sp>
      <p:sp>
        <p:nvSpPr>
          <p:cNvPr id="17" name="Text 15"/>
          <p:cNvSpPr txBox="1"/>
          <p:nvPr/>
        </p:nvSpPr>
        <p:spPr>
          <a:xfrm>
            <a:off x="502920" y="8383270"/>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書くとよい内容：</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元の作業、作った仕組み、削減できた時間など。</a:t>
            </a:r>
            <a:endParaRPr lang="en-US" sz="2000" dirty="0"/>
          </a:p>
        </p:txBody>
      </p:sp>
      <p:sp>
        <p:nvSpPr>
          <p:cNvPr id="18" name="Text 1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297</a:t>
            </a:fld>
            <a:endParaRPr lang="en-US"/>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経験は中身を分けて書く</a:t>
            </a:r>
            <a:endParaRPr lang="ja-JP" sz="2200" dirty="0"/>
          </a:p>
        </p:txBody>
      </p:sp>
      <p:sp>
        <p:nvSpPr>
          <p:cNvPr id="4" name="Shape 2"/>
          <p:cNvSpPr/>
          <p:nvPr/>
        </p:nvSpPr>
        <p:spPr>
          <a:xfrm>
            <a:off x="320040" y="1318514"/>
            <a:ext cx="4846320" cy="1805432"/>
          </a:xfrm>
          <a:prstGeom prst="roundRect">
            <a:avLst>
              <a:gd name="adj" fmla="val 7091"/>
            </a:avLst>
          </a:prstGeom>
          <a:solidFill>
            <a:srgbClr val="FDEBD0"/>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IoTに取り組んだ</a:t>
            </a:r>
            <a:endParaRPr lang="en-US" sz="2200" dirty="0"/>
          </a:p>
        </p:txBody>
      </p:sp>
      <p:sp>
        <p:nvSpPr>
          <p:cNvPr id="6" name="Text 4"/>
          <p:cNvSpPr txBox="1"/>
          <p:nvPr/>
        </p:nvSpPr>
        <p:spPr>
          <a:xfrm>
            <a:off x="502920" y="1925066"/>
            <a:ext cx="4480560" cy="11074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B45309"/>
                </a:solidFill>
                <a:latin typeface="Yu Gothic" pitchFamily="34" charset="0"/>
                <a:ea typeface="Yu Gothic" pitchFamily="34" charset="-122"/>
                <a:cs typeface="Yu Gothic" pitchFamily="34" charset="-120"/>
              </a:rPr>
              <a:t>書くとよい内容：</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機器・センサー、取得した情報、通信や表示の仕組み。</a:t>
            </a:r>
            <a:endParaRPr lang="en-US" sz="2000" dirty="0"/>
          </a:p>
        </p:txBody>
      </p:sp>
      <p:sp>
        <p:nvSpPr>
          <p:cNvPr id="7"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298</a:t>
            </a:fld>
            <a:endParaRPr lang="en-US"/>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発表は「場」と「形」で呼び分ける</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発表は、どこで行うか（場）と、どんな形で行うか（形）の組み合わせで呼ばれます。</a:t>
            </a:r>
            <a:endParaRPr lang="en-US" sz="1800" dirty="0"/>
          </a:p>
        </p:txBody>
      </p:sp>
      <p:sp>
        <p:nvSpPr>
          <p:cNvPr id="7" name="Shape 5"/>
          <p:cNvSpPr/>
          <p:nvPr/>
        </p:nvSpPr>
        <p:spPr>
          <a:xfrm>
            <a:off x="320040" y="2928620"/>
            <a:ext cx="4846320" cy="2112264"/>
          </a:xfrm>
          <a:prstGeom prst="roundRect">
            <a:avLst>
              <a:gd name="adj" fmla="val 6061"/>
            </a:avLst>
          </a:prstGeom>
          <a:solidFill>
            <a:srgbClr val="FCE4EE"/>
          </a:solidFill>
          <a:ln/>
        </p:spPr>
      </p:sp>
      <p:sp>
        <p:nvSpPr>
          <p:cNvPr id="8" name="Shape 6"/>
          <p:cNvSpPr/>
          <p:nvPr/>
        </p:nvSpPr>
        <p:spPr>
          <a:xfrm>
            <a:off x="502920" y="3074924"/>
            <a:ext cx="566928" cy="566928"/>
          </a:xfrm>
          <a:prstGeom prst="ellipse">
            <a:avLst/>
          </a:prstGeom>
          <a:solidFill>
            <a:srgbClr val="A21C5B"/>
          </a:solidFill>
          <a:ln/>
        </p:spPr>
      </p:sp>
      <p:pic>
        <p:nvPicPr>
          <p:cNvPr id="9" name="Image 0" descr="preencoded.png">    </p:cNvPr>
          <p:cNvPicPr>
            <a:picLocks noChangeAspect="1"/>
          </p:cNvPicPr>
          <p:nvPr/>
        </p:nvPicPr>
        <p:blipFill>
          <a:blip r:embed="rId1"/>
          <a:stretch>
            <a:fillRect/>
          </a:stretch>
        </p:blipFill>
        <p:spPr>
          <a:xfrm>
            <a:off x="627644" y="3199648"/>
            <a:ext cx="317480" cy="317480"/>
          </a:xfrm>
          <a:prstGeom prst="rect">
            <a:avLst/>
          </a:prstGeom>
        </p:spPr>
      </p:pic>
      <p:sp>
        <p:nvSpPr>
          <p:cNvPr id="10" name="Text 7"/>
          <p:cNvSpPr txBox="1"/>
          <p:nvPr/>
        </p:nvSpPr>
        <p:spPr>
          <a:xfrm>
            <a:off x="1188720" y="3074924"/>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A21C5B"/>
                </a:solidFill>
                <a:latin typeface="Yu Gothic" pitchFamily="34" charset="0"/>
                <a:ea typeface="Yu Gothic" pitchFamily="34" charset="-122"/>
                <a:cs typeface="Yu Gothic" pitchFamily="34" charset="-120"/>
              </a:rPr>
              <a:t>発表の「場」</a:t>
            </a:r>
            <a:endParaRPr lang="en-US" sz="2200" dirty="0"/>
          </a:p>
        </p:txBody>
      </p:sp>
      <p:sp>
        <p:nvSpPr>
          <p:cNvPr id="11" name="Text 8"/>
          <p:cNvSpPr txBox="1"/>
          <p:nvPr/>
        </p:nvSpPr>
        <p:spPr>
          <a:xfrm>
            <a:off x="502920" y="3733292"/>
            <a:ext cx="4480560" cy="123444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学内で発表</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国内学会発表</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海外学会発表</a:t>
            </a:r>
            <a:endParaRPr lang="en-US" sz="2000" dirty="0"/>
          </a:p>
        </p:txBody>
      </p:sp>
      <p:sp>
        <p:nvSpPr>
          <p:cNvPr id="12" name="Shape 9"/>
          <p:cNvSpPr/>
          <p:nvPr/>
        </p:nvSpPr>
        <p:spPr>
          <a:xfrm>
            <a:off x="320040" y="5223764"/>
            <a:ext cx="4846320" cy="1712976"/>
          </a:xfrm>
          <a:prstGeom prst="roundRect">
            <a:avLst>
              <a:gd name="adj" fmla="val 7473"/>
            </a:avLst>
          </a:prstGeom>
          <a:solidFill>
            <a:srgbClr val="FDEBD0"/>
          </a:solidFill>
          <a:ln/>
        </p:spPr>
      </p:sp>
      <p:sp>
        <p:nvSpPr>
          <p:cNvPr id="13" name="Shape 10"/>
          <p:cNvSpPr/>
          <p:nvPr/>
        </p:nvSpPr>
        <p:spPr>
          <a:xfrm>
            <a:off x="502920" y="5370068"/>
            <a:ext cx="566928" cy="56692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27644" y="5494792"/>
            <a:ext cx="317480" cy="317480"/>
          </a:xfrm>
          <a:prstGeom prst="rect">
            <a:avLst/>
          </a:prstGeom>
        </p:spPr>
      </p:pic>
      <p:sp>
        <p:nvSpPr>
          <p:cNvPr id="15" name="Text 11"/>
          <p:cNvSpPr txBox="1"/>
          <p:nvPr/>
        </p:nvSpPr>
        <p:spPr>
          <a:xfrm>
            <a:off x="1188720" y="5370068"/>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発表の「形」</a:t>
            </a:r>
            <a:endParaRPr lang="en-US" sz="2200" dirty="0"/>
          </a:p>
        </p:txBody>
      </p:sp>
      <p:sp>
        <p:nvSpPr>
          <p:cNvPr id="16" name="Text 12"/>
          <p:cNvSpPr txBox="1"/>
          <p:nvPr/>
        </p:nvSpPr>
        <p:spPr>
          <a:xfrm>
            <a:off x="502920" y="6028436"/>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口頭発表（話して説明）</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ポスター発表（紙面で説明）</a:t>
            </a:r>
            <a:endParaRPr lang="en-US" sz="2000" dirty="0"/>
          </a:p>
        </p:txBody>
      </p:sp>
      <p:sp>
        <p:nvSpPr>
          <p:cNvPr id="17" name="Shape 13"/>
          <p:cNvSpPr/>
          <p:nvPr/>
        </p:nvSpPr>
        <p:spPr>
          <a:xfrm>
            <a:off x="320040" y="7119620"/>
            <a:ext cx="4846320" cy="1280160"/>
          </a:xfrm>
          <a:prstGeom prst="roundRect">
            <a:avLst>
              <a:gd name="adj" fmla="val 8571"/>
            </a:avLst>
          </a:prstGeom>
          <a:solidFill>
            <a:srgbClr val="DCE8F8"/>
          </a:solidFill>
          <a:ln w="19050">
            <a:solidFill>
              <a:srgbClr val="2F6BC2"/>
            </a:solidFill>
            <a:prstDash val="solid"/>
          </a:ln>
        </p:spPr>
      </p:sp>
      <p:sp>
        <p:nvSpPr>
          <p:cNvPr id="18" name="Shape 14"/>
          <p:cNvSpPr/>
          <p:nvPr/>
        </p:nvSpPr>
        <p:spPr>
          <a:xfrm>
            <a:off x="457200" y="7531100"/>
            <a:ext cx="457200" cy="457200"/>
          </a:xfrm>
          <a:prstGeom prst="ellipse">
            <a:avLst/>
          </a:prstGeom>
          <a:solidFill>
            <a:srgbClr val="2F6BC2"/>
          </a:solidFill>
          <a:ln/>
        </p:spPr>
      </p:sp>
      <p:pic>
        <p:nvPicPr>
          <p:cNvPr id="19" name="Image 2" descr="preencoded.png">    </p:cNvPr>
          <p:cNvPicPr>
            <a:picLocks noChangeAspect="1"/>
          </p:cNvPicPr>
          <p:nvPr/>
        </p:nvPicPr>
        <p:blipFill>
          <a:blip r:embed="rId3"/>
          <a:stretch>
            <a:fillRect/>
          </a:stretch>
        </p:blipFill>
        <p:spPr>
          <a:xfrm>
            <a:off x="557784" y="7631684"/>
            <a:ext cx="256032" cy="256032"/>
          </a:xfrm>
          <a:prstGeom prst="rect">
            <a:avLst/>
          </a:prstGeom>
        </p:spPr>
      </p:pic>
      <p:sp>
        <p:nvSpPr>
          <p:cNvPr id="20" name="Text 15"/>
          <p:cNvSpPr txBox="1"/>
          <p:nvPr/>
        </p:nvSpPr>
        <p:spPr>
          <a:xfrm>
            <a:off x="1051560" y="7165340"/>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予定でも書けます：卒業研究発表が予定されているなら、その予定・見込みを書けます。</a:t>
            </a:r>
            <a:endParaRPr lang="en-US" sz="2000" dirty="0"/>
          </a:p>
        </p:txBody>
      </p:sp>
      <p:sp>
        <p:nvSpPr>
          <p:cNvPr id="21" name="Text 1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299</a:t>
            </a:fld>
            <a:endParaRPr lang="en-US"/>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プレゼンテーション</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考えや成果を、資料や話し方を使って、相手に分かりやすく伝えること。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技術ではなく「発表という活動」の話。授業から研究発表まで、人に伝える場面全般。</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822192"/>
          </a:xfrm>
          <a:prstGeom prst="roundRect">
            <a:avLst>
              <a:gd name="adj" fmla="val 8000"/>
            </a:avLst>
          </a:prstGeom>
          <a:solidFill>
            <a:srgbClr val="A21C5B"/>
          </a:solidFill>
          <a:ln/>
        </p:spPr>
      </p:sp>
      <p:sp>
        <p:nvSpPr>
          <p:cNvPr id="15" name="Text 13"/>
          <p:cNvSpPr txBox="1"/>
          <p:nvPr/>
        </p:nvSpPr>
        <p:spPr>
          <a:xfrm>
            <a:off x="411480" y="56827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プレゼンテーション</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flipH="1">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flipH="1">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4" name="Shape 22"/>
          <p:cNvSpPr/>
          <p:nvPr/>
        </p:nvSpPr>
        <p:spPr>
          <a:xfrm>
            <a:off x="3566160" y="7255510"/>
            <a:ext cx="1600200" cy="676656"/>
          </a:xfrm>
          <a:prstGeom prst="roundRect">
            <a:avLst>
              <a:gd name="adj" fmla="val 16216"/>
            </a:avLst>
          </a:prstGeom>
          <a:solidFill>
            <a:srgbClr val="FCE4EE"/>
          </a:solidFill>
          <a:ln w="25400">
            <a:solidFill>
              <a:srgbClr val="A21C5B"/>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学内で発表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6" name="Shape 24"/>
          <p:cNvSpPr/>
          <p:nvPr/>
        </p:nvSpPr>
        <p:spPr>
          <a:xfrm flipH="1">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場の一つ</a:t>
            </a:r>
            <a:endParaRPr lang="en-US" sz="1500" dirty="0"/>
          </a:p>
        </p:txBody>
      </p:sp>
      <p:sp>
        <p:nvSpPr>
          <p:cNvPr id="28" name="Shape 26"/>
          <p:cNvSpPr/>
          <p:nvPr/>
        </p:nvSpPr>
        <p:spPr>
          <a:xfrm>
            <a:off x="3566160" y="8041894"/>
            <a:ext cx="1600200" cy="676656"/>
          </a:xfrm>
          <a:prstGeom prst="roundRect">
            <a:avLst>
              <a:gd name="adj" fmla="val 16216"/>
            </a:avLst>
          </a:prstGeom>
          <a:solidFill>
            <a:srgbClr val="FCE4EE"/>
          </a:solidFill>
          <a:ln w="25400">
            <a:solidFill>
              <a:srgbClr val="A21C5B"/>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0" name="Shape 28"/>
          <p:cNvSpPr/>
          <p:nvPr/>
        </p:nvSpPr>
        <p:spPr>
          <a:xfrm flipH="1">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32" name="Shape 30"/>
          <p:cNvSpPr/>
          <p:nvPr/>
        </p:nvSpPr>
        <p:spPr>
          <a:xfrm>
            <a:off x="3566160" y="8828278"/>
            <a:ext cx="1600200" cy="676656"/>
          </a:xfrm>
          <a:prstGeom prst="roundRect">
            <a:avLst>
              <a:gd name="adj" fmla="val 16216"/>
            </a:avLst>
          </a:prstGeom>
          <a:solidFill>
            <a:srgbClr val="DDF1E4"/>
          </a:solidFill>
          <a:ln w="25400">
            <a:solidFill>
              <a:srgbClr val="237A48"/>
            </a:solidFill>
            <a:prstDash val="solid"/>
          </a:ln>
        </p:spPr>
      </p:sp>
      <p:sp>
        <p:nvSpPr>
          <p:cNvPr id="33" name="Text 31"/>
          <p:cNvSpPr txBox="1"/>
          <p:nvPr/>
        </p:nvSpPr>
        <p:spPr>
          <a:xfrm>
            <a:off x="3657600" y="88282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4" name="Shape 32"/>
          <p:cNvSpPr/>
          <p:nvPr/>
        </p:nvSpPr>
        <p:spPr>
          <a:xfrm flipH="1">
            <a:off x="1719072" y="9166606"/>
            <a:ext cx="1819656" cy="0"/>
          </a:xfrm>
          <a:prstGeom prst="line">
            <a:avLst/>
          </a:prstGeom>
          <a:noFill/>
          <a:ln w="31750">
            <a:solidFill>
              <a:srgbClr val="1B2A3A"/>
            </a:solidFill>
            <a:prstDash val="solid"/>
            <a:tailEnd type="triangle"/>
          </a:ln>
        </p:spPr>
      </p:sp>
      <p:sp>
        <p:nvSpPr>
          <p:cNvPr id="35" name="Text 33"/>
          <p:cNvSpPr txBox="1"/>
          <p:nvPr/>
        </p:nvSpPr>
        <p:spPr>
          <a:xfrm>
            <a:off x="1700784" y="88648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材料になる</a:t>
            </a:r>
            <a:endParaRPr lang="en-US" sz="15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300</a:t>
            </a:fld>
            <a:endParaRPr lang="en-US"/>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プレゼンテーション</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読み：プレゼン・presentation（発表）</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プレゼンテーションは、自分が調べたことや考えたことを、聞き手に「伝わる形」で説明する活動です。内容が正しいだけでなく、聞き手が理解して、賛成する・質問するなど次の行動を取れるかが目標です。</a:t>
            </a:r>
            <a:endParaRPr lang="en-US" sz="2000" dirty="0"/>
          </a:p>
        </p:txBody>
      </p:sp>
      <p:sp>
        <p:nvSpPr>
          <p:cNvPr id="7" name="Shape 5"/>
          <p:cNvSpPr/>
          <p:nvPr/>
        </p:nvSpPr>
        <p:spPr>
          <a:xfrm>
            <a:off x="320040" y="4844034"/>
            <a:ext cx="4846320" cy="2631440"/>
          </a:xfrm>
          <a:prstGeom prst="roundRect">
            <a:avLst>
              <a:gd name="adj" fmla="val 4865"/>
            </a:avLst>
          </a:prstGeom>
          <a:solidFill>
            <a:srgbClr val="FCE4EE"/>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研究発表では、「目的（何を知りたいか）→方法（どう調べたか）→結果（何が分かったか）→考察（なぜそうなったか、何が言えるか）」の順に整理するのが基本の型です。スライドは、話を助ける道具として使い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FCE4EE"/>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プレゼンは、聞き手・持ち時間・場所に合わせて形が変わります。授業の5分発表、学会での口頭発表、ポスターの前での説明など、形は違っても「相手に伝える」点は共通です。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301</a:t>
            </a:fld>
            <a:endParaRPr lang="en-US"/>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プレゼンテーション</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友だちに好きなゲームを紹介する場面。ルールを全部話すより、「どこが面白いか」を順に話して画面を見せるほうが伝わります。この話の組み立てがプレゼンの設計図です。</a:t>
            </a:r>
            <a:endParaRPr lang="en-US" sz="2000" dirty="0"/>
          </a:p>
        </p:txBody>
      </p:sp>
      <p:sp>
        <p:nvSpPr>
          <p:cNvPr id="6" name="Shape 4"/>
          <p:cNvSpPr/>
          <p:nvPr/>
        </p:nvSpPr>
        <p:spPr>
          <a:xfrm>
            <a:off x="320040" y="3772154"/>
            <a:ext cx="4846320" cy="1600200"/>
          </a:xfrm>
          <a:prstGeom prst="roundRect">
            <a:avLst>
              <a:gd name="adj" fmla="val 8000"/>
            </a:avLst>
          </a:prstGeom>
          <a:solidFill>
            <a:srgbClr val="DCE8F8"/>
          </a:solidFill>
          <a:ln/>
        </p:spPr>
      </p:sp>
      <p:sp>
        <p:nvSpPr>
          <p:cNvPr id="7" name="Text 5"/>
          <p:cNvSpPr txBox="1"/>
          <p:nvPr/>
        </p:nvSpPr>
        <p:spPr>
          <a:xfrm>
            <a:off x="502920" y="38635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文化祭の出し物の紹介、授業でのグループ発表、探究学習の成果発表会、部活の新入生向け説明会などで行います。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スライドの文字を全部読み上げる発表は伝わりにくいです。スライドは要点だけにして、詳しい内容は口で話します。時間をオーバーしそうなら、内容を削って調整します。</a:t>
            </a:r>
            <a:endParaRPr lang="en-US" sz="2000" dirty="0"/>
          </a:p>
        </p:txBody>
      </p:sp>
      <p:sp>
        <p:nvSpPr>
          <p:cNvPr id="10" name="Shape 8"/>
          <p:cNvSpPr/>
          <p:nvPr/>
        </p:nvSpPr>
        <p:spPr>
          <a:xfrm>
            <a:off x="320040" y="8008874"/>
            <a:ext cx="4846320" cy="2270760"/>
          </a:xfrm>
          <a:prstGeom prst="roundRect">
            <a:avLst>
              <a:gd name="adj" fmla="val 5638"/>
            </a:avLst>
          </a:prstGeom>
          <a:solidFill>
            <a:srgbClr val="DDF1E4"/>
          </a:solidFill>
          <a:ln/>
        </p:spPr>
      </p:sp>
      <p:sp>
        <p:nvSpPr>
          <p:cNvPr id="11" name="Text 9"/>
          <p:cNvSpPr txBox="1"/>
          <p:nvPr/>
        </p:nvSpPr>
        <p:spPr>
          <a:xfrm>
            <a:off x="502920" y="8100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身近なテーマを1つ決め、「目的・方法・結果・考察」の4枚のスライドで、時間を計って3分で説明してみましょう。スマホで録画して見返すと直す点が分かります。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302</a:t>
            </a:fld>
            <a:endParaRPr lang="en-US"/>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学内で発表</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自分の学校の中で、授業や研究発表会などの形で成果を発表すること。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技術ではなく「発表という活動」の話。自分の学校の中で行う、身内向けの発表の場。</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035808"/>
          </a:xfrm>
          <a:prstGeom prst="roundRect">
            <a:avLst>
              <a:gd name="adj" fmla="val 8000"/>
            </a:avLst>
          </a:prstGeom>
          <a:solidFill>
            <a:srgbClr val="A21C5B"/>
          </a:solidFill>
          <a:ln/>
        </p:spPr>
      </p:sp>
      <p:sp>
        <p:nvSpPr>
          <p:cNvPr id="15" name="Text 13"/>
          <p:cNvSpPr txBox="1"/>
          <p:nvPr/>
        </p:nvSpPr>
        <p:spPr>
          <a:xfrm>
            <a:off x="411480" y="56827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学内で発表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プレゼンテーション</a:t>
            </a:r>
            <a:endParaRPr lang="en-US" sz="1500" dirty="0"/>
          </a:p>
        </p:txBody>
      </p:sp>
      <p:sp>
        <p:nvSpPr>
          <p:cNvPr id="18" name="Shape 16"/>
          <p:cNvSpPr/>
          <p:nvPr/>
        </p:nvSpPr>
        <p:spPr>
          <a:xfrm>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場の一つ</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次の場へ</a:t>
            </a:r>
            <a:endParaRPr lang="en-US" sz="1500" dirty="0"/>
          </a:p>
        </p:txBody>
      </p:sp>
      <p:sp>
        <p:nvSpPr>
          <p:cNvPr id="24" name="Shape 22"/>
          <p:cNvSpPr/>
          <p:nvPr/>
        </p:nvSpPr>
        <p:spPr>
          <a:xfrm>
            <a:off x="3566160" y="7255510"/>
            <a:ext cx="1600200" cy="676656"/>
          </a:xfrm>
          <a:prstGeom prst="roundRect">
            <a:avLst>
              <a:gd name="adj" fmla="val 16216"/>
            </a:avLst>
          </a:prstGeom>
          <a:solidFill>
            <a:srgbClr val="FCE4EE"/>
          </a:solidFill>
          <a:ln w="25400">
            <a:solidFill>
              <a:srgbClr val="A21C5B"/>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6" name="Shape 24"/>
          <p:cNvSpPr/>
          <p:nvPr/>
        </p:nvSpPr>
        <p:spPr>
          <a:xfrm>
            <a:off x="1719072" y="7593838"/>
            <a:ext cx="1819656" cy="0"/>
          </a:xfrm>
          <a:prstGeom prst="line">
            <a:avLst/>
          </a:prstGeom>
          <a:noFill/>
          <a:ln w="31750">
            <a:solidFill>
              <a:srgbClr val="1B2A3A"/>
            </a:solidFill>
            <a:prstDash val="solid"/>
            <a:headEnd type="triangle"/>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8" name="Shape 26"/>
          <p:cNvSpPr/>
          <p:nvPr/>
        </p:nvSpPr>
        <p:spPr>
          <a:xfrm>
            <a:off x="3566160" y="8041894"/>
            <a:ext cx="1600200" cy="676656"/>
          </a:xfrm>
          <a:prstGeom prst="roundRect">
            <a:avLst>
              <a:gd name="adj" fmla="val 16216"/>
            </a:avLst>
          </a:prstGeom>
          <a:solidFill>
            <a:srgbClr val="FCE4EE"/>
          </a:solidFill>
          <a:ln w="25400">
            <a:solidFill>
              <a:srgbClr val="A21C5B"/>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形式を使う</a:t>
            </a:r>
            <a:endParaRPr lang="en-US" sz="15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303</a:t>
            </a:fld>
            <a:endParaRPr lang="en-US"/>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学内で発表</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読み：がくないではっぴょう・校内・学内の発表</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学内で発表は、自分の学校（大学を含む）の中で行う発表です。授業のグループ発表、探究学習や課題研究の発表会、大学のゼミでの進み具合の報告、卒業研究の発表会などが当てはまります。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聞き手は先生や同じ学校の仲間なので、背景を共有していて、質問や助言をもらいやすい場です。スライドづくり、時間配分、質問への答え方を、練習として経験する場にもなります。</a:t>
            </a:r>
            <a:endParaRPr lang="en-US" sz="2000" dirty="0"/>
          </a:p>
        </p:txBody>
      </p:sp>
      <p:sp>
        <p:nvSpPr>
          <p:cNvPr id="9" name="Shape 7"/>
          <p:cNvSpPr/>
          <p:nvPr/>
        </p:nvSpPr>
        <p:spPr>
          <a:xfrm>
            <a:off x="320040" y="7213346"/>
            <a:ext cx="4846320" cy="1960880"/>
          </a:xfrm>
          <a:prstGeom prst="roundRect">
            <a:avLst>
              <a:gd name="adj" fmla="val 6528"/>
            </a:avLst>
          </a:prstGeom>
          <a:solidFill>
            <a:srgbClr val="FCE4EE"/>
          </a:solidFill>
          <a:ln/>
        </p:spPr>
      </p:sp>
      <p:sp>
        <p:nvSpPr>
          <p:cNvPr id="10" name="Text 8"/>
          <p:cNvSpPr txBox="1"/>
          <p:nvPr/>
        </p:nvSpPr>
        <p:spPr>
          <a:xfrm>
            <a:off x="502920" y="730478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学外の学会と比べると、聞き手が身内で、規模も小さめです。学内で出た質問や助言を持ち帰って研究を直し、次に国内学会など外の場へ進む足がかりにできます。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304</a:t>
            </a:fld>
            <a:endParaRPr lang="en-US"/>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学内で発表</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部活の校内練習試合。身内が相手なので気軽に試せて、助言ももらえます。その経験を積んでから、他校との大会（学会）に出ます。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探究学習の成果を教室や体育館で発表する、文化祭で研究内容を掲示して説明する、大学のゼミで先生や先輩に進み具合を報告する、などの場面です。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学内の発表だから適当でよい、ではありません。発表の型（目的・方法・結果・考察）は学会と同じです。学内で練習した内容が、そのまま外の発表の下書きになります。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授業や探究の発表で質問された内容をメモに残し、「次はどう答えるか」を一言で書いておきましょう。次の発表の準備になります。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305</a:t>
            </a:fld>
            <a:endParaRPr lang="en-US"/>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国内学会発表</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日本国内で開かれる学会や研究集会で、研究の成果を発表すること。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技術ではなく「発表という活動」の話。日本国内で開かれる学会での研究発表。</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822192"/>
          </a:xfrm>
          <a:prstGeom prst="roundRect">
            <a:avLst>
              <a:gd name="adj" fmla="val 8000"/>
            </a:avLst>
          </a:prstGeom>
          <a:solidFill>
            <a:srgbClr val="A21C5B"/>
          </a:solidFill>
          <a:ln/>
        </p:spPr>
      </p:sp>
      <p:sp>
        <p:nvSpPr>
          <p:cNvPr id="15" name="Text 13"/>
          <p:cNvSpPr txBox="1"/>
          <p:nvPr/>
        </p:nvSpPr>
        <p:spPr>
          <a:xfrm>
            <a:off x="411480" y="56827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国内学会発表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flipH="1">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headEnd type="triangle"/>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4" name="Shape 22"/>
          <p:cNvSpPr/>
          <p:nvPr/>
        </p:nvSpPr>
        <p:spPr>
          <a:xfrm>
            <a:off x="3566160" y="7255510"/>
            <a:ext cx="1600200" cy="676656"/>
          </a:xfrm>
          <a:prstGeom prst="roundRect">
            <a:avLst>
              <a:gd name="adj" fmla="val 16216"/>
            </a:avLst>
          </a:prstGeom>
          <a:solidFill>
            <a:srgbClr val="FCE4EE"/>
          </a:solidFill>
          <a:ln w="25400">
            <a:solidFill>
              <a:srgbClr val="A21C5B"/>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学内で発表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6" name="Shape 24"/>
          <p:cNvSpPr/>
          <p:nvPr/>
        </p:nvSpPr>
        <p:spPr>
          <a:xfrm flipH="1">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次の場へ</a:t>
            </a:r>
            <a:endParaRPr lang="en-US" sz="1500" dirty="0"/>
          </a:p>
        </p:txBody>
      </p:sp>
      <p:sp>
        <p:nvSpPr>
          <p:cNvPr id="28" name="Shape 26"/>
          <p:cNvSpPr/>
          <p:nvPr/>
        </p:nvSpPr>
        <p:spPr>
          <a:xfrm>
            <a:off x="3566160" y="8041894"/>
            <a:ext cx="1600200" cy="676656"/>
          </a:xfrm>
          <a:prstGeom prst="roundRect">
            <a:avLst>
              <a:gd name="adj" fmla="val 16216"/>
            </a:avLst>
          </a:prstGeom>
          <a:solidFill>
            <a:srgbClr val="FCE4EE"/>
          </a:solidFill>
          <a:ln w="25400">
            <a:solidFill>
              <a:srgbClr val="A21C5B"/>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2" name="Shape 30"/>
          <p:cNvSpPr/>
          <p:nvPr/>
        </p:nvSpPr>
        <p:spPr>
          <a:xfrm>
            <a:off x="3566160" y="8828278"/>
            <a:ext cx="1600200" cy="676656"/>
          </a:xfrm>
          <a:prstGeom prst="roundRect">
            <a:avLst>
              <a:gd name="adj" fmla="val 16216"/>
            </a:avLst>
          </a:prstGeom>
          <a:solidFill>
            <a:srgbClr val="FCE4EE"/>
          </a:solidFill>
          <a:ln w="25400">
            <a:solidFill>
              <a:srgbClr val="A21C5B"/>
            </a:solidFill>
            <a:prstDash val="solid"/>
          </a:ln>
        </p:spPr>
      </p:sp>
      <p:sp>
        <p:nvSpPr>
          <p:cNvPr id="33" name="Text 31"/>
          <p:cNvSpPr txBox="1"/>
          <p:nvPr/>
        </p:nvSpPr>
        <p:spPr>
          <a:xfrm>
            <a:off x="3657600" y="88282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4" name="Shape 32"/>
          <p:cNvSpPr/>
          <p:nvPr/>
        </p:nvSpPr>
        <p:spPr>
          <a:xfrm>
            <a:off x="1719072" y="9166606"/>
            <a:ext cx="1819656" cy="0"/>
          </a:xfrm>
          <a:prstGeom prst="line">
            <a:avLst/>
          </a:prstGeom>
          <a:noFill/>
          <a:ln w="31750">
            <a:solidFill>
              <a:srgbClr val="1B2A3A"/>
            </a:solidFill>
            <a:prstDash val="solid"/>
            <a:tailEnd type="triangle"/>
          </a:ln>
        </p:spPr>
      </p:sp>
      <p:sp>
        <p:nvSpPr>
          <p:cNvPr id="35" name="Text 33"/>
          <p:cNvSpPr txBox="1"/>
          <p:nvPr/>
        </p:nvSpPr>
        <p:spPr>
          <a:xfrm>
            <a:off x="1700784" y="88648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306</a:t>
            </a:fld>
            <a:endParaRPr lang="en-US"/>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国内学会発表</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読み：こくないがっかいはっぴょう・日本国内の学会での発表</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国内学会発表は、日本国内で開かれる学会で、自分の研究を発表することです。学会（研究者が成果を持ち寄って議論する集まり）は分野ごとに多くの種類があり、情報分野にも国内の学会がたくさんあり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発表は日本語で行われることが多く、形は主に口頭発表（スライドで話す）とポスター発表（掲示物の前で説明する）です。聞き手は同じ分野の研究者や学生で、学内発表よりも専門的な質問が来ます。</a:t>
            </a:r>
            <a:endParaRPr lang="en-US" sz="2000" dirty="0"/>
          </a:p>
        </p:txBody>
      </p:sp>
      <p:sp>
        <p:nvSpPr>
          <p:cNvPr id="9" name="Shape 7"/>
          <p:cNvSpPr/>
          <p:nvPr/>
        </p:nvSpPr>
        <p:spPr>
          <a:xfrm>
            <a:off x="320040" y="7213346"/>
            <a:ext cx="4846320" cy="1960880"/>
          </a:xfrm>
          <a:prstGeom prst="roundRect">
            <a:avLst>
              <a:gd name="adj" fmla="val 6528"/>
            </a:avLst>
          </a:prstGeom>
          <a:solidFill>
            <a:srgbClr val="FCE4EE"/>
          </a:solidFill>
          <a:ln/>
        </p:spPr>
      </p:sp>
      <p:sp>
        <p:nvSpPr>
          <p:cNvPr id="10" name="Text 8"/>
          <p:cNvSpPr txBox="1"/>
          <p:nvPr/>
        </p:nvSpPr>
        <p:spPr>
          <a:xfrm>
            <a:off x="502920" y="730478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多くの学会では、発表の申し込みと、内容をまとめた予稿（事前に出す要旨）の提出が必要です。発表後の議論から、自分の研究の弱いところや、次にやることが見えてきます。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307</a:t>
            </a:fld>
            <a:endParaRPr lang="en-US"/>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国内学会発表</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部活の全国規模の大会。校内練習（学内発表）を経て、他校の参加者の前で実力を試します。ほかの人の発表から学べて、助言ももらえます。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大学の卒業研究を全国規模の大会で発表する場面です。学会によっては、高校生が探究学習の成果を発表できる枠を設けています。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国内学会と海外学会の違いは、主に開催地・使う言語・参加者の範囲です。「国内だから簡単」とは限らず、どちらも発表の型（目的・方法・結果・考察）は同じです。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興味のある分野の学会（例：情報処理学会）を調べ、公式サイトで過去の大会プログラムを開いて、どんな題名の発表があるか読んでみましょう。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308</a:t>
            </a:fld>
            <a:endParaRPr lang="en-US"/>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海外学会発表</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海外で開かれる学会や国際会議で、研究の成果を発表すること。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技術ではなく「発表という活動」の話。海外で開かれる学会での、英語などによる研究発表。</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035808"/>
          </a:xfrm>
          <a:prstGeom prst="roundRect">
            <a:avLst>
              <a:gd name="adj" fmla="val 8000"/>
            </a:avLst>
          </a:prstGeom>
          <a:solidFill>
            <a:srgbClr val="A21C5B"/>
          </a:solidFill>
          <a:ln/>
        </p:spPr>
      </p:sp>
      <p:sp>
        <p:nvSpPr>
          <p:cNvPr id="15" name="Text 13"/>
          <p:cNvSpPr txBox="1"/>
          <p:nvPr/>
        </p:nvSpPr>
        <p:spPr>
          <a:xfrm>
            <a:off x="411480" y="56827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海外学会発表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flipH="1">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headEnd type="triangle"/>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4" name="Shape 22"/>
          <p:cNvSpPr/>
          <p:nvPr/>
        </p:nvSpPr>
        <p:spPr>
          <a:xfrm>
            <a:off x="3566160" y="7255510"/>
            <a:ext cx="1600200" cy="676656"/>
          </a:xfrm>
          <a:prstGeom prst="roundRect">
            <a:avLst>
              <a:gd name="adj" fmla="val 16216"/>
            </a:avLst>
          </a:prstGeom>
          <a:solidFill>
            <a:srgbClr val="FCE4EE"/>
          </a:solidFill>
          <a:ln w="25400">
            <a:solidFill>
              <a:srgbClr val="A21C5B"/>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6" name="Shape 24"/>
          <p:cNvSpPr/>
          <p:nvPr/>
        </p:nvSpPr>
        <p:spPr>
          <a:xfrm>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28" name="Shape 26"/>
          <p:cNvSpPr/>
          <p:nvPr/>
        </p:nvSpPr>
        <p:spPr>
          <a:xfrm>
            <a:off x="3566160" y="8041894"/>
            <a:ext cx="1600200" cy="676656"/>
          </a:xfrm>
          <a:prstGeom prst="roundRect">
            <a:avLst>
              <a:gd name="adj" fmla="val 16216"/>
            </a:avLst>
          </a:prstGeom>
          <a:solidFill>
            <a:srgbClr val="FCE4EE"/>
          </a:solidFill>
          <a:ln w="25400">
            <a:solidFill>
              <a:srgbClr val="A21C5B"/>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309</a:t>
            </a:fld>
            <a:endParaRPr lang="en-US"/>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海外学会発表</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読み：かいがいがっかいはっぴょう・海外の学会・国際会議での発表</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海外学会発表は、外国で開かれる学会（国際会議など）で、自分の研究を発表することです。国内と同じく口頭発表やポスター発表がありますが、さまざまな国の研究者が聞き手になります。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国内との大きな違いは、使用言語と渡航です。発表も質疑応答も英語で行われることが多く、スライドも英語で作ります。会場へ行くには、旅費、パスポート、宿泊、日程の調整などの準備が必要です。</a:t>
            </a:r>
            <a:endParaRPr lang="en-US" sz="2000" dirty="0"/>
          </a:p>
        </p:txBody>
      </p:sp>
      <p:sp>
        <p:nvSpPr>
          <p:cNvPr id="9" name="Shape 7"/>
          <p:cNvSpPr/>
          <p:nvPr/>
        </p:nvSpPr>
        <p:spPr>
          <a:xfrm>
            <a:off x="320040" y="7213346"/>
            <a:ext cx="4846320" cy="2296160"/>
          </a:xfrm>
          <a:prstGeom prst="roundRect">
            <a:avLst>
              <a:gd name="adj" fmla="val 5575"/>
            </a:avLst>
          </a:prstGeom>
          <a:solidFill>
            <a:srgbClr val="FCE4EE"/>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オンラインで参加できる会議もあります。どちらの場合も、発音の違いで聞き取りにくいことがあるので、短い文と図で伝える工夫をし、想定される質問に英語で答える練習をしておくと落ち着けます。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310</a:t>
            </a:fld>
            <a:endParaRPr lang="en-US"/>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海外学会発表</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部活の海外遠征。腕前だけでなく、移動の準備や、相手と話す言葉（英語）も必要になります。そのぶん、世界中の仲間と競い、学べます。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情報や工学の研究者が、海外の国際会議で英語のスライドを使って発表し、聞き手からの英語の質問にその場で英語で答える場面です。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海外発表は英語力だけの問題ではありません。パスポートや旅費、日程など、研究以外の準備に時間がかかります。内容の準備と並行して、早めに動きましょう。</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自分の研究を、英語で3文（目的・方法・結果）にまとめる練習をしましょう。翻訳ツールで下書きしても、専門用語が正しいか必ず確認します。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311</a:t>
            </a:fld>
            <a:endParaRPr lang="en-US"/>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学会</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同じ分野の研究者が、研究の成果を発表し合って議論する団体や、その集まり。</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技術ではなく「研究者が集まる団体・集まり」の話。研究成果を共有する活動の場。</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822192"/>
          </a:xfrm>
          <a:prstGeom prst="roundRect">
            <a:avLst>
              <a:gd name="adj" fmla="val 8000"/>
            </a:avLst>
          </a:prstGeom>
          <a:solidFill>
            <a:srgbClr val="A21C5B"/>
          </a:solidFill>
          <a:ln/>
        </p:spPr>
      </p:sp>
      <p:sp>
        <p:nvSpPr>
          <p:cNvPr id="15" name="Text 13"/>
          <p:cNvSpPr txBox="1"/>
          <p:nvPr/>
        </p:nvSpPr>
        <p:spPr>
          <a:xfrm>
            <a:off x="411480" y="56827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学会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4" name="Shape 22"/>
          <p:cNvSpPr/>
          <p:nvPr/>
        </p:nvSpPr>
        <p:spPr>
          <a:xfrm>
            <a:off x="3566160" y="7255510"/>
            <a:ext cx="1600200" cy="676656"/>
          </a:xfrm>
          <a:prstGeom prst="roundRect">
            <a:avLst>
              <a:gd name="adj" fmla="val 16216"/>
            </a:avLst>
          </a:prstGeom>
          <a:solidFill>
            <a:srgbClr val="FCE4EE"/>
          </a:solidFill>
          <a:ln w="25400">
            <a:solidFill>
              <a:srgbClr val="A21C5B"/>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6" name="Shape 24"/>
          <p:cNvSpPr/>
          <p:nvPr/>
        </p:nvSpPr>
        <p:spPr>
          <a:xfrm>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28" name="Shape 26"/>
          <p:cNvSpPr/>
          <p:nvPr/>
        </p:nvSpPr>
        <p:spPr>
          <a:xfrm>
            <a:off x="3566160" y="8041894"/>
            <a:ext cx="1600200" cy="676656"/>
          </a:xfrm>
          <a:prstGeom prst="roundRect">
            <a:avLst>
              <a:gd name="adj" fmla="val 16216"/>
            </a:avLst>
          </a:prstGeom>
          <a:solidFill>
            <a:srgbClr val="FCE4EE"/>
          </a:solidFill>
          <a:ln w="25400">
            <a:solidFill>
              <a:srgbClr val="A21C5B"/>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32" name="Shape 30"/>
          <p:cNvSpPr/>
          <p:nvPr/>
        </p:nvSpPr>
        <p:spPr>
          <a:xfrm>
            <a:off x="3566160" y="8828278"/>
            <a:ext cx="1600200" cy="676656"/>
          </a:xfrm>
          <a:prstGeom prst="roundRect">
            <a:avLst>
              <a:gd name="adj" fmla="val 16216"/>
            </a:avLst>
          </a:prstGeom>
          <a:solidFill>
            <a:srgbClr val="DDF1E4"/>
          </a:solidFill>
          <a:ln w="25400">
            <a:solidFill>
              <a:srgbClr val="237A48"/>
            </a:solidFill>
            <a:prstDash val="solid"/>
          </a:ln>
        </p:spPr>
      </p:sp>
      <p:sp>
        <p:nvSpPr>
          <p:cNvPr id="33" name="Text 31"/>
          <p:cNvSpPr txBox="1"/>
          <p:nvPr/>
        </p:nvSpPr>
        <p:spPr>
          <a:xfrm>
            <a:off x="3657600" y="88282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4" name="Shape 32"/>
          <p:cNvSpPr/>
          <p:nvPr/>
        </p:nvSpPr>
        <p:spPr>
          <a:xfrm flipH="1">
            <a:off x="1719072" y="9166606"/>
            <a:ext cx="1819656" cy="0"/>
          </a:xfrm>
          <a:prstGeom prst="line">
            <a:avLst/>
          </a:prstGeom>
          <a:noFill/>
          <a:ln w="31750">
            <a:solidFill>
              <a:srgbClr val="1B2A3A"/>
            </a:solidFill>
            <a:prstDash val="solid"/>
            <a:tailEnd type="triangle"/>
          </a:ln>
        </p:spPr>
      </p:sp>
      <p:sp>
        <p:nvSpPr>
          <p:cNvPr id="35" name="Text 33"/>
          <p:cNvSpPr txBox="1"/>
          <p:nvPr/>
        </p:nvSpPr>
        <p:spPr>
          <a:xfrm>
            <a:off x="1700784" y="88648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成果を持ち込む</a:t>
            </a:r>
            <a:endParaRPr lang="en-US" sz="15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312</a:t>
            </a:fld>
            <a:endParaRPr lang="en-US"/>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学会</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読み：がっかい・学術団体と、その大会・研究会</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学会は、特定の学問分野（情報、物理、機械など）の研究者や学生が集まって作る団体です。会員が研究の成果を発表し、お互いに質問や助言をし合うことで、その分野全体の知識を前に進めます。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学会の主な活動は、大会などの集まりを開くことと、研究論文をのせる学術誌を出すことです。集まりでは口頭発表とポスター発表が行われ、休憩時間や懇親会でも研究者どうしが交流します。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CE4EE"/>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「学会」は、団体そのものと、団体が開く集まり（大会・研究会）の両方に使います。国内で開かれるものを国内学会、海外で開かれるものを海外学会と分けて呼ぶことがあります。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313</a:t>
            </a:fld>
            <a:endParaRPr lang="en-US"/>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学会</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スポーツの競技団体と、その団体が開く大会。部活なら、地区の団体が開く大会で各校が成果を見せ合います。研究の世界でのその役割が学会です。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大学の研究室の先輩が夏休みに大会へ発表に行く、ニュースで「○○学会が発表した」と報じられる、といった場面で出てきます。</a:t>
            </a:r>
            <a:endParaRPr lang="en-US" sz="2000" dirty="0"/>
          </a:p>
        </p:txBody>
      </p:sp>
      <p:sp>
        <p:nvSpPr>
          <p:cNvPr id="8" name="Shape 6"/>
          <p:cNvSpPr/>
          <p:nvPr/>
        </p:nvSpPr>
        <p:spPr>
          <a:xfrm>
            <a:off x="320040" y="5555234"/>
            <a:ext cx="4846320" cy="1935480"/>
          </a:xfrm>
          <a:prstGeom prst="roundRect">
            <a:avLst>
              <a:gd name="adj" fmla="val 6614"/>
            </a:avLst>
          </a:prstGeom>
          <a:solidFill>
            <a:srgbClr val="FBE3E0"/>
          </a:solidFill>
          <a:ln/>
        </p:spPr>
      </p:sp>
      <p:sp>
        <p:nvSpPr>
          <p:cNvPr id="9" name="Text 7"/>
          <p:cNvSpPr txBox="1"/>
          <p:nvPr/>
        </p:nvSpPr>
        <p:spPr>
          <a:xfrm>
            <a:off x="502920" y="56466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学会は、誰でもその場で聞ける集まりとは限りません。参加には会員登録や参加費が必要なことがあり、発表するには申し込みが必要です。</a:t>
            </a:r>
            <a:endParaRPr lang="en-US" sz="2000" dirty="0"/>
          </a:p>
        </p:txBody>
      </p:sp>
      <p:sp>
        <p:nvSpPr>
          <p:cNvPr id="10" name="Shape 8"/>
          <p:cNvSpPr/>
          <p:nvPr/>
        </p:nvSpPr>
        <p:spPr>
          <a:xfrm>
            <a:off x="320040" y="7673594"/>
            <a:ext cx="4846320" cy="1600200"/>
          </a:xfrm>
          <a:prstGeom prst="roundRect">
            <a:avLst>
              <a:gd name="adj" fmla="val 8000"/>
            </a:avLst>
          </a:prstGeom>
          <a:solidFill>
            <a:srgbClr val="DDF1E4"/>
          </a:solidFill>
          <a:ln/>
        </p:spPr>
      </p:sp>
      <p:sp>
        <p:nvSpPr>
          <p:cNvPr id="11" name="Text 9"/>
          <p:cNvSpPr txBox="1"/>
          <p:nvPr/>
        </p:nvSpPr>
        <p:spPr>
          <a:xfrm>
            <a:off x="502920" y="776503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関心のある分野の学会を1つ選び、公式サイトで大会や研究会のプログラムを開いて、発表の題目を5つ読んでみましょう。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314</a:t>
            </a:fld>
            <a:endParaRPr lang="en-US"/>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口頭発表</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聴衆の前で、スライドなどを使いながら話して研究を説明する発表の形式。</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技術ではなく「発表という活動」の話。聴衆の前で話して伝える、発表の形式の一つ。</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822192"/>
          </a:xfrm>
          <a:prstGeom prst="roundRect">
            <a:avLst>
              <a:gd name="adj" fmla="val 8000"/>
            </a:avLst>
          </a:prstGeom>
          <a:solidFill>
            <a:srgbClr val="A21C5B"/>
          </a:solidFill>
          <a:ln/>
        </p:spPr>
      </p:sp>
      <p:sp>
        <p:nvSpPr>
          <p:cNvPr id="15" name="Text 13"/>
          <p:cNvSpPr txBox="1"/>
          <p:nvPr/>
        </p:nvSpPr>
        <p:spPr>
          <a:xfrm>
            <a:off x="411480" y="56827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口頭発表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a:off x="1719072" y="6021070"/>
            <a:ext cx="1819656" cy="0"/>
          </a:xfrm>
          <a:prstGeom prst="line">
            <a:avLst/>
          </a:prstGeom>
          <a:noFill/>
          <a:ln w="31750">
            <a:solidFill>
              <a:srgbClr val="1B2A3A"/>
            </a:solidFill>
            <a:prstDash val="solid"/>
            <a:headEnd type="triangle"/>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プレゼンテーション</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4" name="Shape 22"/>
          <p:cNvSpPr/>
          <p:nvPr/>
        </p:nvSpPr>
        <p:spPr>
          <a:xfrm>
            <a:off x="3566160" y="7255510"/>
            <a:ext cx="1600200" cy="676656"/>
          </a:xfrm>
          <a:prstGeom prst="roundRect">
            <a:avLst>
              <a:gd name="adj" fmla="val 16216"/>
            </a:avLst>
          </a:prstGeom>
          <a:solidFill>
            <a:srgbClr val="FCE4EE"/>
          </a:solidFill>
          <a:ln w="25400">
            <a:solidFill>
              <a:srgbClr val="A21C5B"/>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6" name="Shape 24"/>
          <p:cNvSpPr/>
          <p:nvPr/>
        </p:nvSpPr>
        <p:spPr>
          <a:xfrm flipH="1">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28" name="Shape 26"/>
          <p:cNvSpPr/>
          <p:nvPr/>
        </p:nvSpPr>
        <p:spPr>
          <a:xfrm>
            <a:off x="3566160" y="8041894"/>
            <a:ext cx="1600200" cy="676656"/>
          </a:xfrm>
          <a:prstGeom prst="roundRect">
            <a:avLst>
              <a:gd name="adj" fmla="val 16216"/>
            </a:avLst>
          </a:prstGeom>
          <a:solidFill>
            <a:srgbClr val="FCE4EE"/>
          </a:solidFill>
          <a:ln w="25400">
            <a:solidFill>
              <a:srgbClr val="A21C5B"/>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0" name="Shape 28"/>
          <p:cNvSpPr/>
          <p:nvPr/>
        </p:nvSpPr>
        <p:spPr>
          <a:xfrm flipH="1">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2" name="Shape 30"/>
          <p:cNvSpPr/>
          <p:nvPr/>
        </p:nvSpPr>
        <p:spPr>
          <a:xfrm>
            <a:off x="3566160" y="8828278"/>
            <a:ext cx="1600200" cy="676656"/>
          </a:xfrm>
          <a:prstGeom prst="roundRect">
            <a:avLst>
              <a:gd name="adj" fmla="val 16216"/>
            </a:avLst>
          </a:prstGeom>
          <a:solidFill>
            <a:srgbClr val="FCE4EE"/>
          </a:solidFill>
          <a:ln w="25400">
            <a:solidFill>
              <a:srgbClr val="A21C5B"/>
            </a:solidFill>
            <a:prstDash val="solid"/>
          </a:ln>
        </p:spPr>
      </p:sp>
      <p:sp>
        <p:nvSpPr>
          <p:cNvPr id="33" name="Text 31"/>
          <p:cNvSpPr txBox="1"/>
          <p:nvPr/>
        </p:nvSpPr>
        <p:spPr>
          <a:xfrm>
            <a:off x="3657600" y="88282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4" name="Shape 32"/>
          <p:cNvSpPr/>
          <p:nvPr/>
        </p:nvSpPr>
        <p:spPr>
          <a:xfrm flipH="1">
            <a:off x="1719072" y="9166606"/>
            <a:ext cx="1819656" cy="0"/>
          </a:xfrm>
          <a:prstGeom prst="line">
            <a:avLst/>
          </a:prstGeom>
          <a:noFill/>
          <a:ln w="31750">
            <a:solidFill>
              <a:srgbClr val="1B2A3A"/>
            </a:solidFill>
            <a:prstDash val="solid"/>
            <a:tailEnd type="triangle"/>
          </a:ln>
        </p:spPr>
      </p:sp>
      <p:sp>
        <p:nvSpPr>
          <p:cNvPr id="35" name="Text 33"/>
          <p:cNvSpPr txBox="1"/>
          <p:nvPr/>
        </p:nvSpPr>
        <p:spPr>
          <a:xfrm>
            <a:off x="1700784" y="88648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315</a:t>
            </a:fld>
            <a:endParaRPr lang="en-US"/>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口頭発表</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読み：こうとうはっぴょう・オーラル発表</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口頭発表は、会場の前でスライドを映しながら、決められた時間で研究を説明する形式です。聞き手は全員が同じ時間に同じ話を聞き、最後に質疑応答（質問と、それへの答え）の時間があります。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持ち時間は学会ごとに決まっていて、発表と質疑を合わせて10〜20分程度のことが多く、短めです。時間が短いので、伝えたいことを絞り、結論を先に話すなど、順序を工夫します。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CE4EE"/>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ポスター発表との違いは、話す時間が決まっていて、全員に一斉に話す点です。ポスターは、掲示物の前で来た人と個別に話します。多くの人に一度に伝えるなら口頭、深く話し合うならポスターが向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316</a:t>
            </a:fld>
            <a:endParaRPr lang="en-US"/>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口頭発表</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体育館のステージでの発表。全校生徒が同じ時間に聞く代わりに、1人ずつと細かく話す時間はありません。ポスターは、廊下の展示を見に来た人に個別に説明する形です。</a:t>
            </a:r>
            <a:endParaRPr lang="en-US" sz="2000" dirty="0"/>
          </a:p>
        </p:txBody>
      </p:sp>
      <p:sp>
        <p:nvSpPr>
          <p:cNvPr id="6" name="Shape 4"/>
          <p:cNvSpPr/>
          <p:nvPr/>
        </p:nvSpPr>
        <p:spPr>
          <a:xfrm>
            <a:off x="320040" y="3772154"/>
            <a:ext cx="4846320" cy="1600200"/>
          </a:xfrm>
          <a:prstGeom prst="roundRect">
            <a:avLst>
              <a:gd name="adj" fmla="val 8000"/>
            </a:avLst>
          </a:prstGeom>
          <a:solidFill>
            <a:srgbClr val="DCE8F8"/>
          </a:solidFill>
          <a:ln/>
        </p:spPr>
      </p:sp>
      <p:sp>
        <p:nvSpPr>
          <p:cNvPr id="7" name="Text 5"/>
          <p:cNvSpPr txBox="1"/>
          <p:nvPr/>
        </p:nvSpPr>
        <p:spPr>
          <a:xfrm>
            <a:off x="502920" y="386359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文化祭のステージ発表、探究学習の成果報告会、学会の大会で会議室のスクリーンの前に立って10分ほどで話す場面です。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決められた時間を超えると、途中で止められることがあります。詰め込みすぎず、本番と同じ時間で練習しましょう。スライドの文字を読み上げるだけでは伝わりません。</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スマホのタイマーで3分を計り、スライド3枚で話し切る練習をしましょう。録音して聞き返すと、早口や言いよどみに気づけます。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317</a:t>
            </a:fld>
            <a:endParaRPr lang="en-US"/>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ポスター発表</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大きな紙面に研究をまとめて掲示し、見に来た人に個別に説明する発表の形式。</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技術ではなく「発表という活動」の話。大きな掲示物で研究を見せ、対話で伝える発表の形式。</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822192"/>
          </a:xfrm>
          <a:prstGeom prst="roundRect">
            <a:avLst>
              <a:gd name="adj" fmla="val 8000"/>
            </a:avLst>
          </a:prstGeom>
          <a:solidFill>
            <a:srgbClr val="A21C5B"/>
          </a:solidFill>
          <a:ln/>
        </p:spPr>
      </p:sp>
      <p:sp>
        <p:nvSpPr>
          <p:cNvPr id="15" name="Text 13"/>
          <p:cNvSpPr txBox="1"/>
          <p:nvPr/>
        </p:nvSpPr>
        <p:spPr>
          <a:xfrm>
            <a:off x="411480" y="56827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ポスター発表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a:off x="1719072" y="6021070"/>
            <a:ext cx="1819656" cy="0"/>
          </a:xfrm>
          <a:prstGeom prst="line">
            <a:avLst/>
          </a:prstGeom>
          <a:noFill/>
          <a:ln w="31750">
            <a:solidFill>
              <a:srgbClr val="1B2A3A"/>
            </a:solidFill>
            <a:prstDash val="solid"/>
            <a:headEnd type="triangle"/>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プレゼンテーション</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4" name="Shape 22"/>
          <p:cNvSpPr/>
          <p:nvPr/>
        </p:nvSpPr>
        <p:spPr>
          <a:xfrm>
            <a:off x="3566160" y="7255510"/>
            <a:ext cx="1600200" cy="676656"/>
          </a:xfrm>
          <a:prstGeom prst="roundRect">
            <a:avLst>
              <a:gd name="adj" fmla="val 16216"/>
            </a:avLst>
          </a:prstGeom>
          <a:solidFill>
            <a:srgbClr val="FCE4EE"/>
          </a:solidFill>
          <a:ln w="25400">
            <a:solidFill>
              <a:srgbClr val="A21C5B"/>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6" name="Shape 24"/>
          <p:cNvSpPr/>
          <p:nvPr/>
        </p:nvSpPr>
        <p:spPr>
          <a:xfrm flipH="1">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28" name="Shape 26"/>
          <p:cNvSpPr/>
          <p:nvPr/>
        </p:nvSpPr>
        <p:spPr>
          <a:xfrm>
            <a:off x="3566160" y="8041894"/>
            <a:ext cx="1600200" cy="676656"/>
          </a:xfrm>
          <a:prstGeom prst="roundRect">
            <a:avLst>
              <a:gd name="adj" fmla="val 16216"/>
            </a:avLst>
          </a:prstGeom>
          <a:solidFill>
            <a:srgbClr val="FCE4EE"/>
          </a:solidFill>
          <a:ln w="25400">
            <a:solidFill>
              <a:srgbClr val="A21C5B"/>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0" name="Shape 28"/>
          <p:cNvSpPr/>
          <p:nvPr/>
        </p:nvSpPr>
        <p:spPr>
          <a:xfrm flipH="1">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2" name="Shape 30"/>
          <p:cNvSpPr/>
          <p:nvPr/>
        </p:nvSpPr>
        <p:spPr>
          <a:xfrm>
            <a:off x="3566160" y="8828278"/>
            <a:ext cx="1600200" cy="676656"/>
          </a:xfrm>
          <a:prstGeom prst="roundRect">
            <a:avLst>
              <a:gd name="adj" fmla="val 16216"/>
            </a:avLst>
          </a:prstGeom>
          <a:solidFill>
            <a:srgbClr val="FCE4EE"/>
          </a:solidFill>
          <a:ln w="25400">
            <a:solidFill>
              <a:srgbClr val="A21C5B"/>
            </a:solidFill>
            <a:prstDash val="solid"/>
          </a:ln>
        </p:spPr>
      </p:sp>
      <p:sp>
        <p:nvSpPr>
          <p:cNvPr id="33" name="Text 31"/>
          <p:cNvSpPr txBox="1"/>
          <p:nvPr/>
        </p:nvSpPr>
        <p:spPr>
          <a:xfrm>
            <a:off x="3657600" y="88282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4" name="Shape 32"/>
          <p:cNvSpPr/>
          <p:nvPr/>
        </p:nvSpPr>
        <p:spPr>
          <a:xfrm flipH="1">
            <a:off x="1719072" y="9166606"/>
            <a:ext cx="1819656" cy="0"/>
          </a:xfrm>
          <a:prstGeom prst="line">
            <a:avLst/>
          </a:prstGeom>
          <a:noFill/>
          <a:ln w="31750">
            <a:solidFill>
              <a:srgbClr val="1B2A3A"/>
            </a:solidFill>
            <a:prstDash val="solid"/>
            <a:tailEnd type="triangle"/>
          </a:ln>
        </p:spPr>
      </p:sp>
      <p:sp>
        <p:nvSpPr>
          <p:cNvPr id="35" name="Text 33"/>
          <p:cNvSpPr txBox="1"/>
          <p:nvPr/>
        </p:nvSpPr>
        <p:spPr>
          <a:xfrm>
            <a:off x="1700784" y="88648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318</a:t>
            </a:fld>
            <a:endParaRPr lang="en-US"/>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ポスター発表</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読み：ポスターはっぴょう・ポスターセッション</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ポスター発表は、研究の内容を大きな紙1枚（大きさは学会が決めます）にまとめて、会場の掲示板に貼り、その前に立って説明する形式です。文章よりも、図や表で流れを見せるのが中心です。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発表の時間帯（ポスターセッション）には、来場者が自由に会場を回り、気になるポスターの前で足を止めます。短い説明と、質問に答えながらの詳しい説明の2段構えで、1対1や少人数の対話になります。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CE4EE"/>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ポスターは、離れた場所からでも流れが分かるよう、大きな見出し・図・表を中心にして、文章は少なめにします。口頭発表と比べて、聞き手とじっくり議論できるのが特徴です。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319</a:t>
            </a:fld>
            <a:endParaRPr lang="en-US"/>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0787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ポスター発表</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文化祭の展示ブース。作品（研究）を展示して、立ち寄ったお客さんに説明します。ステージ発表（口頭）より人数は少ないですが、1人ひとりと話せます。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学会の会場でポスターが並び、研究者や学生が歩き回って質問する場面です。高校の探究学習の発表会でも、ポスターを掲示する形があります。</a:t>
            </a:r>
            <a:endParaRPr lang="en-US" sz="2000" dirty="0"/>
          </a:p>
        </p:txBody>
      </p:sp>
      <p:sp>
        <p:nvSpPr>
          <p:cNvPr id="8" name="Shape 6"/>
          <p:cNvSpPr/>
          <p:nvPr/>
        </p:nvSpPr>
        <p:spPr>
          <a:xfrm>
            <a:off x="320040" y="5555234"/>
            <a:ext cx="4846320" cy="1935480"/>
          </a:xfrm>
          <a:prstGeom prst="roundRect">
            <a:avLst>
              <a:gd name="adj" fmla="val 6614"/>
            </a:avLst>
          </a:prstGeom>
          <a:solidFill>
            <a:srgbClr val="FBE3E0"/>
          </a:solidFill>
          <a:ln/>
        </p:spPr>
      </p:sp>
      <p:sp>
        <p:nvSpPr>
          <p:cNvPr id="9" name="Text 7"/>
          <p:cNvSpPr txBox="1"/>
          <p:nvPr/>
        </p:nvSpPr>
        <p:spPr>
          <a:xfrm>
            <a:off x="502920" y="564667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ポスターは、論文の文章をそのまま貼り出すものではありません。字が小さいと遠くから読めません。図表を中心にして、説明は自分の声で補いましょう。</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A4用紙1枚に、タイトル・目的・方法・結果・結論の枠を描き、図を中心にまとめてみましょう。拡大して貼るつもりで文字の大きさも考えます。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320</a:t>
            </a:fld>
            <a:endParaRPr lang="en-US"/>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発表は目的・方法・結果・考察の順に</a:t>
            </a:r>
            <a:endParaRPr lang="ja-JP" sz="2600" dirty="0"/>
          </a:p>
        </p:txBody>
      </p:sp>
      <p:sp>
        <p:nvSpPr>
          <p:cNvPr id="6" name="Text 4"/>
          <p:cNvSpPr txBox="1"/>
          <p:nvPr/>
        </p:nvSpPr>
        <p:spPr>
          <a:xfrm>
            <a:off x="320040" y="205079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発表を組み立てる基本の型です。この順に整理すると、聞く人が追いやすくなります。</a:t>
            </a:r>
            <a:endParaRPr lang="en-US" sz="1800" dirty="0"/>
          </a:p>
        </p:txBody>
      </p:sp>
      <p:sp>
        <p:nvSpPr>
          <p:cNvPr id="7" name="Shape 5"/>
          <p:cNvSpPr/>
          <p:nvPr/>
        </p:nvSpPr>
        <p:spPr>
          <a:xfrm>
            <a:off x="320040" y="2928620"/>
            <a:ext cx="4846320" cy="911352"/>
          </a:xfrm>
          <a:prstGeom prst="roundRect">
            <a:avLst>
              <a:gd name="adj" fmla="val 12040"/>
            </a:avLst>
          </a:prstGeom>
          <a:solidFill>
            <a:srgbClr val="A21C5B"/>
          </a:solidFill>
          <a:ln/>
        </p:spPr>
      </p:sp>
      <p:sp>
        <p:nvSpPr>
          <p:cNvPr id="8" name="Text 6"/>
          <p:cNvSpPr txBox="1"/>
          <p:nvPr/>
        </p:nvSpPr>
        <p:spPr>
          <a:xfrm>
            <a:off x="411480" y="2928620"/>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目的</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何を明らかにする？</a:t>
            </a:r>
            <a:endParaRPr lang="en-US" sz="2000" dirty="0"/>
          </a:p>
        </p:txBody>
      </p:sp>
      <p:sp>
        <p:nvSpPr>
          <p:cNvPr id="9" name="Shape 7"/>
          <p:cNvSpPr/>
          <p:nvPr/>
        </p:nvSpPr>
        <p:spPr>
          <a:xfrm>
            <a:off x="2743200" y="4022852"/>
            <a:ext cx="0" cy="438912"/>
          </a:xfrm>
          <a:prstGeom prst="line">
            <a:avLst/>
          </a:prstGeom>
          <a:noFill/>
          <a:ln w="38100">
            <a:solidFill>
              <a:srgbClr val="1B2A3A"/>
            </a:solidFill>
            <a:prstDash val="solid"/>
            <a:tailEnd type="triangle"/>
          </a:ln>
        </p:spPr>
      </p:sp>
      <p:sp>
        <p:nvSpPr>
          <p:cNvPr id="10" name="Shape 8"/>
          <p:cNvSpPr/>
          <p:nvPr/>
        </p:nvSpPr>
        <p:spPr>
          <a:xfrm>
            <a:off x="320040" y="4480052"/>
            <a:ext cx="4846320" cy="911352"/>
          </a:xfrm>
          <a:prstGeom prst="roundRect">
            <a:avLst>
              <a:gd name="adj" fmla="val 12040"/>
            </a:avLst>
          </a:prstGeom>
          <a:solidFill>
            <a:srgbClr val="2F6BC2"/>
          </a:solidFill>
          <a:ln/>
        </p:spPr>
      </p:sp>
      <p:sp>
        <p:nvSpPr>
          <p:cNvPr id="11" name="Text 9"/>
          <p:cNvSpPr txBox="1"/>
          <p:nvPr/>
        </p:nvSpPr>
        <p:spPr>
          <a:xfrm>
            <a:off x="411480" y="448005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方法</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どう調べた？</a:t>
            </a:r>
            <a:endParaRPr lang="en-US" sz="2000" dirty="0"/>
          </a:p>
        </p:txBody>
      </p:sp>
      <p:sp>
        <p:nvSpPr>
          <p:cNvPr id="12" name="Shape 10"/>
          <p:cNvSpPr/>
          <p:nvPr/>
        </p:nvSpPr>
        <p:spPr>
          <a:xfrm>
            <a:off x="2743200" y="5574284"/>
            <a:ext cx="0" cy="438912"/>
          </a:xfrm>
          <a:prstGeom prst="line">
            <a:avLst/>
          </a:prstGeom>
          <a:noFill/>
          <a:ln w="38100">
            <a:solidFill>
              <a:srgbClr val="1B2A3A"/>
            </a:solidFill>
            <a:prstDash val="solid"/>
            <a:tailEnd type="triangle"/>
          </a:ln>
        </p:spPr>
      </p:sp>
      <p:sp>
        <p:nvSpPr>
          <p:cNvPr id="13" name="Shape 11"/>
          <p:cNvSpPr/>
          <p:nvPr/>
        </p:nvSpPr>
        <p:spPr>
          <a:xfrm>
            <a:off x="320040" y="6031484"/>
            <a:ext cx="4846320" cy="911352"/>
          </a:xfrm>
          <a:prstGeom prst="roundRect">
            <a:avLst>
              <a:gd name="adj" fmla="val 12040"/>
            </a:avLst>
          </a:prstGeom>
          <a:solidFill>
            <a:srgbClr val="237A48"/>
          </a:solidFill>
          <a:ln/>
        </p:spPr>
      </p:sp>
      <p:sp>
        <p:nvSpPr>
          <p:cNvPr id="14" name="Text 12"/>
          <p:cNvSpPr txBox="1"/>
          <p:nvPr/>
        </p:nvSpPr>
        <p:spPr>
          <a:xfrm>
            <a:off x="411480" y="603148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結果</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何が分かった？</a:t>
            </a:r>
            <a:endParaRPr lang="en-US" sz="2000" dirty="0"/>
          </a:p>
        </p:txBody>
      </p:sp>
      <p:sp>
        <p:nvSpPr>
          <p:cNvPr id="15" name="Shape 13"/>
          <p:cNvSpPr/>
          <p:nvPr/>
        </p:nvSpPr>
        <p:spPr>
          <a:xfrm>
            <a:off x="2743200" y="7125716"/>
            <a:ext cx="0" cy="438912"/>
          </a:xfrm>
          <a:prstGeom prst="line">
            <a:avLst/>
          </a:prstGeom>
          <a:noFill/>
          <a:ln w="38100">
            <a:solidFill>
              <a:srgbClr val="1B2A3A"/>
            </a:solidFill>
            <a:prstDash val="solid"/>
            <a:tailEnd type="triangle"/>
          </a:ln>
        </p:spPr>
      </p:sp>
      <p:sp>
        <p:nvSpPr>
          <p:cNvPr id="16" name="Shape 14"/>
          <p:cNvSpPr/>
          <p:nvPr/>
        </p:nvSpPr>
        <p:spPr>
          <a:xfrm>
            <a:off x="320040" y="7582916"/>
            <a:ext cx="4846320" cy="911352"/>
          </a:xfrm>
          <a:prstGeom prst="roundRect">
            <a:avLst>
              <a:gd name="adj" fmla="val 12040"/>
            </a:avLst>
          </a:prstGeom>
          <a:solidFill>
            <a:srgbClr val="B45309"/>
          </a:solidFill>
          <a:ln/>
        </p:spPr>
      </p:sp>
      <p:sp>
        <p:nvSpPr>
          <p:cNvPr id="17" name="Text 15"/>
          <p:cNvSpPr txBox="1"/>
          <p:nvPr/>
        </p:nvSpPr>
        <p:spPr>
          <a:xfrm>
            <a:off x="411480" y="758291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考察</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だから何が言える？</a:t>
            </a:r>
            <a:endParaRPr lang="en-US" sz="2000" dirty="0"/>
          </a:p>
        </p:txBody>
      </p:sp>
      <p:sp>
        <p:nvSpPr>
          <p:cNvPr id="18" name="Shape 16"/>
          <p:cNvSpPr/>
          <p:nvPr/>
        </p:nvSpPr>
        <p:spPr>
          <a:xfrm>
            <a:off x="320040" y="8677148"/>
            <a:ext cx="4846320" cy="1280160"/>
          </a:xfrm>
          <a:prstGeom prst="roundRect">
            <a:avLst>
              <a:gd name="adj" fmla="val 8571"/>
            </a:avLst>
          </a:prstGeom>
          <a:solidFill>
            <a:srgbClr val="DCE8F8"/>
          </a:solidFill>
          <a:ln w="19050">
            <a:solidFill>
              <a:srgbClr val="2F6BC2"/>
            </a:solidFill>
            <a:prstDash val="solid"/>
          </a:ln>
        </p:spPr>
      </p:sp>
      <p:sp>
        <p:nvSpPr>
          <p:cNvPr id="19" name="Shape 17"/>
          <p:cNvSpPr/>
          <p:nvPr/>
        </p:nvSpPr>
        <p:spPr>
          <a:xfrm>
            <a:off x="457200" y="9088628"/>
            <a:ext cx="457200" cy="457200"/>
          </a:xfrm>
          <a:prstGeom prst="ellipse">
            <a:avLst/>
          </a:prstGeom>
          <a:solidFill>
            <a:srgbClr val="2F6BC2"/>
          </a:solidFill>
          <a:ln/>
        </p:spPr>
      </p:sp>
      <p:pic>
        <p:nvPicPr>
          <p:cNvPr id="20" name="Image 0" descr="preencoded.png">    </p:cNvPr>
          <p:cNvPicPr>
            <a:picLocks noChangeAspect="1"/>
          </p:cNvPicPr>
          <p:nvPr/>
        </p:nvPicPr>
        <p:blipFill>
          <a:blip r:embed="rId1"/>
          <a:stretch>
            <a:fillRect/>
          </a:stretch>
        </p:blipFill>
        <p:spPr>
          <a:xfrm>
            <a:off x="557784" y="9189212"/>
            <a:ext cx="256032" cy="256032"/>
          </a:xfrm>
          <a:prstGeom prst="rect">
            <a:avLst/>
          </a:prstGeom>
        </p:spPr>
      </p:pic>
      <p:sp>
        <p:nvSpPr>
          <p:cNvPr id="21" name="Text 18"/>
          <p:cNvSpPr txBox="1"/>
          <p:nvPr/>
        </p:nvSpPr>
        <p:spPr>
          <a:xfrm>
            <a:off x="1051560" y="8722868"/>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準備の3点：スライド作成、発表練習（時間を計る）、質問への回答の用意。</a:t>
            </a:r>
            <a:endParaRPr lang="en-US" sz="2000" dirty="0"/>
          </a:p>
        </p:txBody>
      </p:sp>
      <p:sp>
        <p:nvSpPr>
          <p:cNvPr id="22"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321</a:t>
            </a:fld>
            <a:endParaRPr lang="en-US"/>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口頭発表とポスター発表の違い</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同じ研究でも、伝え方と準備のしかたが変わります。</a:t>
            </a:r>
            <a:endParaRPr lang="en-US" sz="1800" dirty="0"/>
          </a:p>
        </p:txBody>
      </p:sp>
      <p:sp>
        <p:nvSpPr>
          <p:cNvPr id="7" name="Shape 5"/>
          <p:cNvSpPr/>
          <p:nvPr/>
        </p:nvSpPr>
        <p:spPr>
          <a:xfrm>
            <a:off x="320040" y="2515870"/>
            <a:ext cx="4846320" cy="1907032"/>
          </a:xfrm>
          <a:prstGeom prst="roundRect">
            <a:avLst>
              <a:gd name="adj" fmla="val 6713"/>
            </a:avLst>
          </a:prstGeom>
          <a:solidFill>
            <a:srgbClr val="FCE4EE"/>
          </a:solidFill>
          <a:ln/>
        </p:spPr>
      </p:sp>
      <p:sp>
        <p:nvSpPr>
          <p:cNvPr id="8" name="Text 6"/>
          <p:cNvSpPr txBox="1"/>
          <p:nvPr/>
        </p:nvSpPr>
        <p:spPr>
          <a:xfrm>
            <a:off x="502920" y="266217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A21C5B"/>
                </a:solidFill>
                <a:latin typeface="Yu Gothic" pitchFamily="34" charset="0"/>
                <a:ea typeface="Yu Gothic" pitchFamily="34" charset="-122"/>
                <a:cs typeface="Yu Gothic" pitchFamily="34" charset="-120"/>
              </a:rPr>
              <a:t>伝え方</a:t>
            </a:r>
            <a:endParaRPr lang="en-US" sz="2200" dirty="0"/>
          </a:p>
        </p:txBody>
      </p:sp>
      <p:sp>
        <p:nvSpPr>
          <p:cNvPr id="9" name="Text 7"/>
          <p:cNvSpPr txBox="1"/>
          <p:nvPr/>
        </p:nvSpPr>
        <p:spPr>
          <a:xfrm>
            <a:off x="502920" y="3122422"/>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A21C5B"/>
                </a:solidFill>
                <a:latin typeface="Yu Gothic" pitchFamily="34" charset="0"/>
                <a:ea typeface="Yu Gothic" pitchFamily="34" charset="-122"/>
                <a:cs typeface="Yu Gothic" pitchFamily="34" charset="-120"/>
              </a:rPr>
              <a:t>口頭発表：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聴衆の前で話して説明</a:t>
            </a:r>
            <a:endParaRPr lang="en-US" sz="2000" dirty="0"/>
          </a:p>
          <a:p>
            <a:pPr indent="0" marL="0">
              <a:lnSpc>
                <a:spcPts val="2600"/>
              </a:lnSpc>
              <a:spcAft>
                <a:spcPts val="800"/>
              </a:spcAft>
              <a:buNone/>
            </a:pPr>
            <a:r>
              <a:rPr lang="ja-JP" altLang="en-US" sz="2000" b="1" dirty="0">
                <a:solidFill>
                  <a:srgbClr val="A21C5B"/>
                </a:solidFill>
                <a:latin typeface="Yu Gothic" pitchFamily="34" charset="0"/>
                <a:ea typeface="Yu Gothic" pitchFamily="34" charset="-122"/>
                <a:cs typeface="Yu Gothic" pitchFamily="34" charset="-120"/>
              </a:rPr>
              <a:t>ポスター発表：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紙面を見せて来場者に説明</a:t>
            </a:r>
            <a:endParaRPr lang="en-US" sz="2000" dirty="0"/>
          </a:p>
        </p:txBody>
      </p:sp>
      <p:sp>
        <p:nvSpPr>
          <p:cNvPr id="10" name="Shape 8"/>
          <p:cNvSpPr/>
          <p:nvPr/>
        </p:nvSpPr>
        <p:spPr>
          <a:xfrm>
            <a:off x="320040" y="4605782"/>
            <a:ext cx="4846320" cy="2242312"/>
          </a:xfrm>
          <a:prstGeom prst="roundRect">
            <a:avLst>
              <a:gd name="adj" fmla="val 5709"/>
            </a:avLst>
          </a:prstGeom>
          <a:solidFill>
            <a:srgbClr val="FCE4EE"/>
          </a:solidFill>
          <a:ln/>
        </p:spPr>
      </p:sp>
      <p:sp>
        <p:nvSpPr>
          <p:cNvPr id="11" name="Text 9"/>
          <p:cNvSpPr txBox="1"/>
          <p:nvPr/>
        </p:nvSpPr>
        <p:spPr>
          <a:xfrm>
            <a:off x="502920" y="475208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A21C5B"/>
                </a:solidFill>
                <a:latin typeface="Yu Gothic" pitchFamily="34" charset="0"/>
                <a:ea typeface="Yu Gothic" pitchFamily="34" charset="-122"/>
                <a:cs typeface="Yu Gothic" pitchFamily="34" charset="-120"/>
              </a:rPr>
              <a:t>準備</a:t>
            </a:r>
            <a:endParaRPr lang="en-US" sz="2200" dirty="0"/>
          </a:p>
        </p:txBody>
      </p:sp>
      <p:sp>
        <p:nvSpPr>
          <p:cNvPr id="12" name="Text 10"/>
          <p:cNvSpPr txBox="1"/>
          <p:nvPr/>
        </p:nvSpPr>
        <p:spPr>
          <a:xfrm>
            <a:off x="502920" y="5212334"/>
            <a:ext cx="4480560" cy="154432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A21C5B"/>
                </a:solidFill>
                <a:latin typeface="Yu Gothic" pitchFamily="34" charset="0"/>
                <a:ea typeface="Yu Gothic" pitchFamily="34" charset="-122"/>
                <a:cs typeface="Yu Gothic" pitchFamily="34" charset="-120"/>
              </a:rPr>
              <a:t>口頭発表：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スライドと、制限時間の練習</a:t>
            </a:r>
            <a:endParaRPr lang="en-US" sz="2000" dirty="0"/>
          </a:p>
          <a:p>
            <a:pPr indent="0" marL="0">
              <a:lnSpc>
                <a:spcPts val="2600"/>
              </a:lnSpc>
              <a:spcAft>
                <a:spcPts val="800"/>
              </a:spcAft>
              <a:buNone/>
            </a:pPr>
            <a:r>
              <a:rPr lang="ja-JP" altLang="en-US" sz="2000" b="1" dirty="0">
                <a:solidFill>
                  <a:srgbClr val="A21C5B"/>
                </a:solidFill>
                <a:latin typeface="Yu Gothic" pitchFamily="34" charset="0"/>
                <a:ea typeface="Yu Gothic" pitchFamily="34" charset="-122"/>
                <a:cs typeface="Yu Gothic" pitchFamily="34" charset="-120"/>
              </a:rPr>
              <a:t>ポスター発表：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図や表で要点を整理、説明を2種類</a:t>
            </a:r>
            <a:endParaRPr lang="en-US" sz="2000" dirty="0"/>
          </a:p>
        </p:txBody>
      </p:sp>
      <p:sp>
        <p:nvSpPr>
          <p:cNvPr id="13" name="Shape 11"/>
          <p:cNvSpPr/>
          <p:nvPr/>
        </p:nvSpPr>
        <p:spPr>
          <a:xfrm>
            <a:off x="320040" y="7030974"/>
            <a:ext cx="4846320" cy="1907032"/>
          </a:xfrm>
          <a:prstGeom prst="roundRect">
            <a:avLst>
              <a:gd name="adj" fmla="val 6713"/>
            </a:avLst>
          </a:prstGeom>
          <a:solidFill>
            <a:srgbClr val="FCE4EE"/>
          </a:solidFill>
          <a:ln/>
        </p:spPr>
      </p:sp>
      <p:sp>
        <p:nvSpPr>
          <p:cNvPr id="14" name="Text 12"/>
          <p:cNvSpPr txBox="1"/>
          <p:nvPr/>
        </p:nvSpPr>
        <p:spPr>
          <a:xfrm>
            <a:off x="502920" y="717727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A21C5B"/>
                </a:solidFill>
                <a:latin typeface="Yu Gothic" pitchFamily="34" charset="0"/>
                <a:ea typeface="Yu Gothic" pitchFamily="34" charset="-122"/>
                <a:cs typeface="Yu Gothic" pitchFamily="34" charset="-120"/>
              </a:rPr>
              <a:t>向く場面</a:t>
            </a:r>
            <a:endParaRPr lang="en-US" sz="2200" dirty="0"/>
          </a:p>
        </p:txBody>
      </p:sp>
      <p:sp>
        <p:nvSpPr>
          <p:cNvPr id="15" name="Text 13"/>
          <p:cNvSpPr txBox="1"/>
          <p:nvPr/>
        </p:nvSpPr>
        <p:spPr>
          <a:xfrm>
            <a:off x="502920" y="7637526"/>
            <a:ext cx="4480560" cy="12090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A21C5B"/>
                </a:solidFill>
                <a:latin typeface="Yu Gothic" pitchFamily="34" charset="0"/>
                <a:ea typeface="Yu Gothic" pitchFamily="34" charset="-122"/>
                <a:cs typeface="Yu Gothic" pitchFamily="34" charset="-120"/>
              </a:rPr>
              <a:t>口頭発表：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多くの人に順番に伝える</a:t>
            </a:r>
            <a:endParaRPr lang="en-US" sz="2000" dirty="0"/>
          </a:p>
          <a:p>
            <a:pPr indent="0" marL="0">
              <a:lnSpc>
                <a:spcPts val="2600"/>
              </a:lnSpc>
              <a:spcAft>
                <a:spcPts val="800"/>
              </a:spcAft>
              <a:buNone/>
            </a:pPr>
            <a:r>
              <a:rPr lang="ja-JP" altLang="en-US" sz="2000" b="1" dirty="0">
                <a:solidFill>
                  <a:srgbClr val="A21C5B"/>
                </a:solidFill>
                <a:latin typeface="Yu Gothic" pitchFamily="34" charset="0"/>
                <a:ea typeface="Yu Gothic" pitchFamily="34" charset="-122"/>
                <a:cs typeface="Yu Gothic" pitchFamily="34" charset="-120"/>
              </a:rPr>
              <a:t>ポスター発表：</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少人数と対話しながら深める</a:t>
            </a:r>
            <a:endParaRPr lang="en-US" sz="2000" dirty="0"/>
          </a:p>
        </p:txBody>
      </p:sp>
      <p:sp>
        <p:nvSpPr>
          <p:cNvPr id="16" name="Text 1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322</a:t>
            </a:fld>
            <a:endParaRPr lang="en-US"/>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IT資格は段階と系統が違う</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IPAの国家試験には、ITパスポート→基本情報→応用情報という段階があります。MOSはOfficeの操作を測る別系統の資格です。</a:t>
            </a:r>
            <a:endParaRPr lang="en-US" sz="1800" dirty="0"/>
          </a:p>
        </p:txBody>
      </p:sp>
      <p:sp>
        <p:nvSpPr>
          <p:cNvPr id="7" name="Shape 5"/>
          <p:cNvSpPr/>
          <p:nvPr/>
        </p:nvSpPr>
        <p:spPr>
          <a:xfrm>
            <a:off x="320040" y="2817622"/>
            <a:ext cx="4846320" cy="911352"/>
          </a:xfrm>
          <a:prstGeom prst="roundRect">
            <a:avLst>
              <a:gd name="adj" fmla="val 12040"/>
            </a:avLst>
          </a:prstGeom>
          <a:solidFill>
            <a:srgbClr val="4D7C0F"/>
          </a:solidFill>
          <a:ln/>
        </p:spPr>
      </p:sp>
      <p:sp>
        <p:nvSpPr>
          <p:cNvPr id="8" name="Text 6"/>
          <p:cNvSpPr txBox="1"/>
          <p:nvPr/>
        </p:nvSpPr>
        <p:spPr>
          <a:xfrm>
            <a:off x="411480" y="281762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ITパスポート</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ITの基礎知識</a:t>
            </a:r>
            <a:endParaRPr lang="en-US" sz="2000" dirty="0"/>
          </a:p>
        </p:txBody>
      </p:sp>
      <p:sp>
        <p:nvSpPr>
          <p:cNvPr id="9" name="Shape 7"/>
          <p:cNvSpPr/>
          <p:nvPr/>
        </p:nvSpPr>
        <p:spPr>
          <a:xfrm>
            <a:off x="2743200" y="3911854"/>
            <a:ext cx="0" cy="438912"/>
          </a:xfrm>
          <a:prstGeom prst="line">
            <a:avLst/>
          </a:prstGeom>
          <a:noFill/>
          <a:ln w="38100">
            <a:solidFill>
              <a:srgbClr val="1B2A3A"/>
            </a:solidFill>
            <a:prstDash val="solid"/>
            <a:tailEnd type="triangle"/>
          </a:ln>
        </p:spPr>
      </p:sp>
      <p:sp>
        <p:nvSpPr>
          <p:cNvPr id="10" name="Text 8"/>
          <p:cNvSpPr txBox="1"/>
          <p:nvPr/>
        </p:nvSpPr>
        <p:spPr>
          <a:xfrm>
            <a:off x="2926080" y="3930142"/>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次の段階</a:t>
            </a:r>
            <a:endParaRPr lang="en-US" sz="1800" dirty="0"/>
          </a:p>
        </p:txBody>
      </p:sp>
      <p:sp>
        <p:nvSpPr>
          <p:cNvPr id="11" name="Shape 9"/>
          <p:cNvSpPr/>
          <p:nvPr/>
        </p:nvSpPr>
        <p:spPr>
          <a:xfrm>
            <a:off x="320040" y="4369054"/>
            <a:ext cx="4846320" cy="911352"/>
          </a:xfrm>
          <a:prstGeom prst="roundRect">
            <a:avLst>
              <a:gd name="adj" fmla="val 12040"/>
            </a:avLst>
          </a:prstGeom>
          <a:solidFill>
            <a:srgbClr val="4D7C0F"/>
          </a:solidFill>
          <a:ln/>
        </p:spPr>
      </p:sp>
      <p:sp>
        <p:nvSpPr>
          <p:cNvPr id="12" name="Text 10"/>
          <p:cNvSpPr txBox="1"/>
          <p:nvPr/>
        </p:nvSpPr>
        <p:spPr>
          <a:xfrm>
            <a:off x="411480" y="436905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基本情報技術者</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技術者の基礎</a:t>
            </a:r>
            <a:endParaRPr lang="en-US" sz="2000" dirty="0"/>
          </a:p>
        </p:txBody>
      </p:sp>
      <p:sp>
        <p:nvSpPr>
          <p:cNvPr id="13" name="Shape 11"/>
          <p:cNvSpPr/>
          <p:nvPr/>
        </p:nvSpPr>
        <p:spPr>
          <a:xfrm>
            <a:off x="2743200" y="5463286"/>
            <a:ext cx="0" cy="438912"/>
          </a:xfrm>
          <a:prstGeom prst="line">
            <a:avLst/>
          </a:prstGeom>
          <a:noFill/>
          <a:ln w="38100">
            <a:solidFill>
              <a:srgbClr val="1B2A3A"/>
            </a:solidFill>
            <a:prstDash val="solid"/>
            <a:tailEnd type="triangle"/>
          </a:ln>
        </p:spPr>
      </p:sp>
      <p:sp>
        <p:nvSpPr>
          <p:cNvPr id="14" name="Text 12"/>
          <p:cNvSpPr txBox="1"/>
          <p:nvPr/>
        </p:nvSpPr>
        <p:spPr>
          <a:xfrm>
            <a:off x="2926080" y="5481574"/>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次の段階</a:t>
            </a:r>
            <a:endParaRPr lang="en-US" sz="1800" dirty="0"/>
          </a:p>
        </p:txBody>
      </p:sp>
      <p:sp>
        <p:nvSpPr>
          <p:cNvPr id="15" name="Shape 13"/>
          <p:cNvSpPr/>
          <p:nvPr/>
        </p:nvSpPr>
        <p:spPr>
          <a:xfrm>
            <a:off x="320040" y="5920486"/>
            <a:ext cx="4846320" cy="911352"/>
          </a:xfrm>
          <a:prstGeom prst="roundRect">
            <a:avLst>
              <a:gd name="adj" fmla="val 12040"/>
            </a:avLst>
          </a:prstGeom>
          <a:solidFill>
            <a:srgbClr val="4D7C0F"/>
          </a:solidFill>
          <a:ln/>
        </p:spPr>
      </p:sp>
      <p:sp>
        <p:nvSpPr>
          <p:cNvPr id="16" name="Text 14"/>
          <p:cNvSpPr txBox="1"/>
          <p:nvPr/>
        </p:nvSpPr>
        <p:spPr>
          <a:xfrm>
            <a:off x="411480" y="592048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応用情報技術者</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広く深い技術・管理</a:t>
            </a:r>
            <a:endParaRPr lang="en-US" sz="2000" dirty="0"/>
          </a:p>
        </p:txBody>
      </p:sp>
      <p:sp>
        <p:nvSpPr>
          <p:cNvPr id="17" name="Shape 15"/>
          <p:cNvSpPr/>
          <p:nvPr/>
        </p:nvSpPr>
        <p:spPr>
          <a:xfrm>
            <a:off x="320040" y="7014718"/>
            <a:ext cx="4846320" cy="1280160"/>
          </a:xfrm>
          <a:prstGeom prst="roundRect">
            <a:avLst>
              <a:gd name="adj" fmla="val 8571"/>
            </a:avLst>
          </a:prstGeom>
          <a:solidFill>
            <a:srgbClr val="DCE8F8"/>
          </a:solidFill>
          <a:ln w="19050">
            <a:solidFill>
              <a:srgbClr val="2F6BC2"/>
            </a:solidFill>
            <a:prstDash val="solid"/>
          </a:ln>
        </p:spPr>
      </p:sp>
      <p:sp>
        <p:nvSpPr>
          <p:cNvPr id="18" name="Shape 16"/>
          <p:cNvSpPr/>
          <p:nvPr/>
        </p:nvSpPr>
        <p:spPr>
          <a:xfrm>
            <a:off x="457200" y="7426198"/>
            <a:ext cx="457200" cy="457200"/>
          </a:xfrm>
          <a:prstGeom prst="ellipse">
            <a:avLst/>
          </a:prstGeom>
          <a:solidFill>
            <a:srgbClr val="2F6BC2"/>
          </a:solidFill>
          <a:ln/>
        </p:spPr>
      </p:sp>
      <p:pic>
        <p:nvPicPr>
          <p:cNvPr id="19" name="Image 0" descr="preencoded.png">    </p:cNvPr>
          <p:cNvPicPr>
            <a:picLocks noChangeAspect="1"/>
          </p:cNvPicPr>
          <p:nvPr/>
        </p:nvPicPr>
        <p:blipFill>
          <a:blip r:embed="rId1"/>
          <a:stretch>
            <a:fillRect/>
          </a:stretch>
        </p:blipFill>
        <p:spPr>
          <a:xfrm>
            <a:off x="557784" y="7526782"/>
            <a:ext cx="256032" cy="256032"/>
          </a:xfrm>
          <a:prstGeom prst="rect">
            <a:avLst/>
          </a:prstGeom>
        </p:spPr>
      </p:pic>
      <p:sp>
        <p:nvSpPr>
          <p:cNvPr id="20" name="Text 17"/>
          <p:cNvSpPr txBox="1"/>
          <p:nvPr/>
        </p:nvSpPr>
        <p:spPr>
          <a:xfrm>
            <a:off x="1051560" y="7060438"/>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MOS：WordやExcelの操作スキルを証明する、別系統の資格です。</a:t>
            </a:r>
            <a:endParaRPr lang="en-US" sz="2000" dirty="0"/>
          </a:p>
        </p:txBody>
      </p:sp>
      <p:sp>
        <p:nvSpPr>
          <p:cNvPr id="21" name="Text 1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323</a:t>
            </a:fld>
            <a:endParaRPr lang="en-US"/>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ITパスポート</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ITを使う人すべてに必要な基礎知識を確かめる、IPAの国家試験。</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技術ではなく「資格（試験）」の話。IT利用者の共通の基礎知識を確かめる国家試験。</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035808"/>
          </a:xfrm>
          <a:prstGeom prst="roundRect">
            <a:avLst>
              <a:gd name="adj" fmla="val 8000"/>
            </a:avLst>
          </a:prstGeom>
          <a:solidFill>
            <a:srgbClr val="A21C5B"/>
          </a:solidFill>
          <a:ln/>
        </p:spPr>
      </p:sp>
      <p:sp>
        <p:nvSpPr>
          <p:cNvPr id="15" name="Text 13"/>
          <p:cNvSpPr txBox="1"/>
          <p:nvPr/>
        </p:nvSpPr>
        <p:spPr>
          <a:xfrm>
            <a:off x="411480" y="56827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ITパスポート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基本情報</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headEnd type="triangle"/>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4" name="Shape 22"/>
          <p:cNvSpPr/>
          <p:nvPr/>
        </p:nvSpPr>
        <p:spPr>
          <a:xfrm>
            <a:off x="3566160" y="7255510"/>
            <a:ext cx="1600200" cy="676656"/>
          </a:xfrm>
          <a:prstGeom prst="roundRect">
            <a:avLst>
              <a:gd name="adj" fmla="val 16216"/>
            </a:avLst>
          </a:prstGeom>
          <a:solidFill>
            <a:srgbClr val="FDEBD0"/>
          </a:solidFill>
          <a:ln w="25400">
            <a:solidFill>
              <a:srgbClr val="B45309"/>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26" name="Shape 24"/>
          <p:cNvSpPr/>
          <p:nvPr/>
        </p:nvSpPr>
        <p:spPr>
          <a:xfrm>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8" name="Shape 26"/>
          <p:cNvSpPr/>
          <p:nvPr/>
        </p:nvSpPr>
        <p:spPr>
          <a:xfrm>
            <a:off x="3566160" y="8041894"/>
            <a:ext cx="1600200" cy="676656"/>
          </a:xfrm>
          <a:prstGeom prst="roundRect">
            <a:avLst>
              <a:gd name="adj" fmla="val 16216"/>
            </a:avLst>
          </a:prstGeom>
          <a:solidFill>
            <a:srgbClr val="E6E1F7"/>
          </a:solidFill>
          <a:ln w="25400">
            <a:solidFill>
              <a:srgbClr val="5B46B8"/>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324</a:t>
            </a:fld>
            <a:endParaRPr lang="en-US"/>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ITパスポート</a:t>
            </a:r>
            <a:endParaRPr lang="ja-JP" sz="2200" dirty="0"/>
          </a:p>
        </p:txBody>
      </p:sp>
      <p:sp>
        <p:nvSpPr>
          <p:cNvPr id="4" name="Shape 2"/>
          <p:cNvSpPr/>
          <p:nvPr/>
        </p:nvSpPr>
        <p:spPr>
          <a:xfrm>
            <a:off x="320040" y="1318514"/>
            <a:ext cx="4846320" cy="3787648"/>
          </a:xfrm>
          <a:prstGeom prst="roundRect">
            <a:avLst>
              <a:gd name="adj" fmla="val 3380"/>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読み：アイティーパスポート・ITパスポート試験（IPA）</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ITパスポート試験は、IPA（情報処理推進機構）が実施する国家試験です。ITを仕事や生活で使う人が、共通して身につけておきたい基礎知識を持っているかを確かめます。技術者だけでなく、一般の社会人や学生も対象です。</a:t>
            </a:r>
            <a:endParaRPr lang="en-US" sz="2000" dirty="0"/>
          </a:p>
        </p:txBody>
      </p:sp>
      <p:sp>
        <p:nvSpPr>
          <p:cNvPr id="7" name="Shape 5"/>
          <p:cNvSpPr/>
          <p:nvPr/>
        </p:nvSpPr>
        <p:spPr>
          <a:xfrm>
            <a:off x="320040" y="5179314"/>
            <a:ext cx="4846320" cy="2631440"/>
          </a:xfrm>
          <a:prstGeom prst="roundRect">
            <a:avLst>
              <a:gd name="adj" fmla="val 4865"/>
            </a:avLst>
          </a:prstGeom>
          <a:solidFill>
            <a:srgbClr val="FCE4EE"/>
          </a:solidFill>
          <a:ln/>
        </p:spPr>
      </p:sp>
      <p:sp>
        <p:nvSpPr>
          <p:cNvPr id="8" name="Text 6"/>
          <p:cNvSpPr txBox="1"/>
          <p:nvPr/>
        </p:nvSpPr>
        <p:spPr>
          <a:xfrm>
            <a:off x="502920" y="52707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出題は、コンピューターやネットワークなどの技術だけでなく、会社の経営の考え方、プロジェクトやサービスの管理、法律やセキュリティの基本まで幅広く扱います。ITを「使う側」に必要な知識を、全体的に確かめる試験です。</a:t>
            </a:r>
            <a:endParaRPr lang="en-US" sz="2000" dirty="0"/>
          </a:p>
        </p:txBody>
      </p:sp>
      <p:sp>
        <p:nvSpPr>
          <p:cNvPr id="9" name="Shape 7"/>
          <p:cNvSpPr/>
          <p:nvPr/>
        </p:nvSpPr>
        <p:spPr>
          <a:xfrm>
            <a:off x="320040" y="7883906"/>
            <a:ext cx="4846320" cy="2296160"/>
          </a:xfrm>
          <a:prstGeom prst="roundRect">
            <a:avLst>
              <a:gd name="adj" fmla="val 5575"/>
            </a:avLst>
          </a:prstGeom>
          <a:solidFill>
            <a:srgbClr val="FCE4EE"/>
          </a:solidFill>
          <a:ln/>
        </p:spPr>
      </p:sp>
      <p:sp>
        <p:nvSpPr>
          <p:cNvPr id="10" name="Text 8"/>
          <p:cNvSpPr txBox="1"/>
          <p:nvPr/>
        </p:nvSpPr>
        <p:spPr>
          <a:xfrm>
            <a:off x="502920" y="797534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技術者になる人向けの試験ではなく、IT「を使う側」の基礎です。次の段階として、技術者向けの基本情報技術者試験があります。入口の資格として、高校生や大学生が受けることもあります。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325</a:t>
            </a:fld>
            <a:endParaRPr lang="en-US"/>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ITパスポート</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ITの世界に入るための「パスポート」。旅行前に、現地の言葉やルール、安全の基本を学ぶように、ITの世界の共通の言葉と基本のルールを身につけます。</a:t>
            </a:r>
            <a:endParaRPr lang="en-US" sz="2000" dirty="0"/>
          </a:p>
        </p:txBody>
      </p:sp>
      <p:sp>
        <p:nvSpPr>
          <p:cNvPr id="6" name="Shape 4"/>
          <p:cNvSpPr/>
          <p:nvPr/>
        </p:nvSpPr>
        <p:spPr>
          <a:xfrm>
            <a:off x="320040" y="3436874"/>
            <a:ext cx="4846320" cy="1600200"/>
          </a:xfrm>
          <a:prstGeom prst="roundRect">
            <a:avLst>
              <a:gd name="adj" fmla="val 8000"/>
            </a:avLst>
          </a:prstGeom>
          <a:solidFill>
            <a:srgbClr val="DCE8F8"/>
          </a:solidFill>
          <a:ln/>
        </p:spPr>
      </p:sp>
      <p:sp>
        <p:nvSpPr>
          <p:cNvPr id="7" name="Text 5"/>
          <p:cNvSpPr txBox="1"/>
          <p:nvPr/>
        </p:nvSpPr>
        <p:spPr>
          <a:xfrm>
            <a:off x="502920" y="3528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情報科の授業で学んだあとに受験する、会社でIT化が進むので事務の人も学び直す、といった場面で出てきます。</a:t>
            </a:r>
            <a:endParaRPr lang="en-US" sz="2000" dirty="0"/>
          </a:p>
        </p:txBody>
      </p:sp>
      <p:sp>
        <p:nvSpPr>
          <p:cNvPr id="8" name="Shape 6"/>
          <p:cNvSpPr/>
          <p:nvPr/>
        </p:nvSpPr>
        <p:spPr>
          <a:xfrm>
            <a:off x="320040" y="5219954"/>
            <a:ext cx="4846320" cy="2606040"/>
          </a:xfrm>
          <a:prstGeom prst="roundRect">
            <a:avLst>
              <a:gd name="adj" fmla="val 4912"/>
            </a:avLst>
          </a:prstGeom>
          <a:solidFill>
            <a:srgbClr val="FBE3E0"/>
          </a:solidFill>
          <a:ln/>
        </p:spPr>
      </p:sp>
      <p:sp>
        <p:nvSpPr>
          <p:cNvPr id="9" name="Text 7"/>
          <p:cNvSpPr txBox="1"/>
          <p:nvPr/>
        </p:nvSpPr>
        <p:spPr>
          <a:xfrm>
            <a:off x="502920" y="5311394"/>
            <a:ext cx="4480560" cy="24597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ITパスポートは、PC操作やプログラムを書く腕前を試す試験ではありません。主に知識を問う試験で（プログラムを読み解く問題は少し出ます）、操作スキルを示す資格はMOSなど別にあります。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IPAの公式サイトで公開されている問題を何問か解いてみましょう。知らない用語が出たら、このガイドで調べて意味を説明できるようにします。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326</a:t>
            </a:fld>
            <a:endParaRPr lang="en-US"/>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基本情報技術者</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ITで何かを作る人に必要な、基本的な知識と技能を確かめるIPAの国家試験。</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技術ではなく「資格（試験）」の話。IT技術者の基礎を確かめる国家試験。</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822192"/>
          </a:xfrm>
          <a:prstGeom prst="roundRect">
            <a:avLst>
              <a:gd name="adj" fmla="val 8000"/>
            </a:avLst>
          </a:prstGeom>
          <a:solidFill>
            <a:srgbClr val="A21C5B"/>
          </a:solidFill>
          <a:ln/>
        </p:spPr>
      </p:sp>
      <p:sp>
        <p:nvSpPr>
          <p:cNvPr id="15" name="Text 13"/>
          <p:cNvSpPr txBox="1"/>
          <p:nvPr/>
        </p:nvSpPr>
        <p:spPr>
          <a:xfrm>
            <a:off x="411480" y="56827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基本情報</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ITパスポート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flipH="1">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応用情報</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4" name="Shape 22"/>
          <p:cNvSpPr/>
          <p:nvPr/>
        </p:nvSpPr>
        <p:spPr>
          <a:xfrm>
            <a:off x="3566160" y="7255510"/>
            <a:ext cx="1600200" cy="676656"/>
          </a:xfrm>
          <a:prstGeom prst="roundRect">
            <a:avLst>
              <a:gd name="adj" fmla="val 16216"/>
            </a:avLst>
          </a:prstGeom>
          <a:solidFill>
            <a:srgbClr val="FDEBD0"/>
          </a:solidFill>
          <a:ln w="25400">
            <a:solidFill>
              <a:srgbClr val="B45309"/>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26" name="Shape 24"/>
          <p:cNvSpPr/>
          <p:nvPr/>
        </p:nvSpPr>
        <p:spPr>
          <a:xfrm>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8" name="Shape 26"/>
          <p:cNvSpPr/>
          <p:nvPr/>
        </p:nvSpPr>
        <p:spPr>
          <a:xfrm>
            <a:off x="3566160" y="8041894"/>
            <a:ext cx="1600200" cy="676656"/>
          </a:xfrm>
          <a:prstGeom prst="roundRect">
            <a:avLst>
              <a:gd name="adj" fmla="val 16216"/>
            </a:avLst>
          </a:prstGeom>
          <a:solidFill>
            <a:srgbClr val="E6E1F7"/>
          </a:solidFill>
          <a:ln w="25400">
            <a:solidFill>
              <a:srgbClr val="5B46B8"/>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2" name="Shape 30"/>
          <p:cNvSpPr/>
          <p:nvPr/>
        </p:nvSpPr>
        <p:spPr>
          <a:xfrm>
            <a:off x="3566160" y="8828278"/>
            <a:ext cx="1600200" cy="676656"/>
          </a:xfrm>
          <a:prstGeom prst="roundRect">
            <a:avLst>
              <a:gd name="adj" fmla="val 16216"/>
            </a:avLst>
          </a:prstGeom>
          <a:solidFill>
            <a:srgbClr val="DCE8F8"/>
          </a:solidFill>
          <a:ln w="25400">
            <a:solidFill>
              <a:srgbClr val="2F6BC2"/>
            </a:solidFill>
            <a:prstDash val="solid"/>
          </a:ln>
        </p:spPr>
      </p:sp>
      <p:sp>
        <p:nvSpPr>
          <p:cNvPr id="33" name="Text 31"/>
          <p:cNvSpPr txBox="1"/>
          <p:nvPr/>
        </p:nvSpPr>
        <p:spPr>
          <a:xfrm>
            <a:off x="3657600" y="88282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4" name="Shape 32"/>
          <p:cNvSpPr/>
          <p:nvPr/>
        </p:nvSpPr>
        <p:spPr>
          <a:xfrm>
            <a:off x="1719072" y="9166606"/>
            <a:ext cx="1819656" cy="0"/>
          </a:xfrm>
          <a:prstGeom prst="line">
            <a:avLst/>
          </a:prstGeom>
          <a:noFill/>
          <a:ln w="31750">
            <a:solidFill>
              <a:srgbClr val="1B2A3A"/>
            </a:solidFill>
            <a:prstDash val="solid"/>
            <a:tailEnd type="triangle"/>
          </a:ln>
        </p:spPr>
      </p:sp>
      <p:sp>
        <p:nvSpPr>
          <p:cNvPr id="35" name="Text 33"/>
          <p:cNvSpPr txBox="1"/>
          <p:nvPr/>
        </p:nvSpPr>
        <p:spPr>
          <a:xfrm>
            <a:off x="1700784" y="88648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327</a:t>
            </a:fld>
            <a:endParaRPr lang="en-US"/>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基本情報技術者</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読み：きほんじょうほうぎじゅつしゃ・FE（基本情報技術者試験）</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基本情報技術者試験は、IPAが実施する国家試験で、ITを使ってサービスやシステム、ソフトウェアを作る人に必要な、基本的な知識と技能を確かめます。ITパスポートの次の段階にあたります。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技術の基礎として、コンピューターの仕組み、ネットワーク、データベース、セキュリティなどが出ます。さらに、処理の手順（アルゴリズム）を考え、プログラムの動きを読み取る力も問われます。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CE4EE"/>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ITパスポートが「ITを使う側」の共通知識なのに対し、基本情報は「ITで作る側」の基礎です。知識だけでなく、技術を使って考える力まで問います。さらに上の段階が、応用情報技術者試験です。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328</a:t>
            </a:fld>
            <a:endParaRPr lang="en-US"/>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基本情報技術者</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ITパスポートが「世界地図」なら、基本情報は「地図を読んで実際に歩く練習」。技術の仕組みを、自分で追って考える段階です。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情報系の大学や専門学校で目標にされる、IT企業を目指す人が学ぶ、プログラミングが好きな高校生が挑戦する、といった場面で出てきます。</a:t>
            </a:r>
            <a:endParaRPr lang="en-US" sz="2000" dirty="0"/>
          </a:p>
        </p:txBody>
      </p:sp>
      <p:sp>
        <p:nvSpPr>
          <p:cNvPr id="8" name="Shape 6"/>
          <p:cNvSpPr/>
          <p:nvPr/>
        </p:nvSpPr>
        <p:spPr>
          <a:xfrm>
            <a:off x="320040" y="5555234"/>
            <a:ext cx="4846320" cy="2606040"/>
          </a:xfrm>
          <a:prstGeom prst="roundRect">
            <a:avLst>
              <a:gd name="adj" fmla="val 4912"/>
            </a:avLst>
          </a:prstGeom>
          <a:solidFill>
            <a:srgbClr val="FBE3E0"/>
          </a:solidFill>
          <a:ln/>
        </p:spPr>
      </p:sp>
      <p:sp>
        <p:nvSpPr>
          <p:cNvPr id="9" name="Text 7"/>
          <p:cNvSpPr txBox="1"/>
          <p:nvPr/>
        </p:nvSpPr>
        <p:spPr>
          <a:xfrm>
            <a:off x="502920" y="5646674"/>
            <a:ext cx="4480560" cy="24597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基本情報技術者は「プログラマーになるための試験」とは限りません。IT技術者の基礎を広く確かめる試験です。受験資格はなく、順番に受ける必要もありません。内容は見直されることがあるので公式サイトで確認を。</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IPAの公式サイトで対象者像や出題範囲を読み、公開されている問題を1回分だけ解いて、分からなかった用語を調べるところから始めましょう。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329</a:t>
            </a:fld>
            <a:endParaRPr lang="en-US"/>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応用情報技術者</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基本情報技術者の次の段階。より広く深い技術と、管理・経営の視点も問うIPAの国家試験。</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技術ではなく「資格（試験）」の話。基本情報より広く深い、IT技術者向けの国家試験。</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035808"/>
          </a:xfrm>
          <a:prstGeom prst="roundRect">
            <a:avLst>
              <a:gd name="adj" fmla="val 8000"/>
            </a:avLst>
          </a:prstGeom>
          <a:solidFill>
            <a:srgbClr val="A21C5B"/>
          </a:solidFill>
          <a:ln/>
        </p:spPr>
      </p:sp>
      <p:sp>
        <p:nvSpPr>
          <p:cNvPr id="15" name="Text 13"/>
          <p:cNvSpPr txBox="1"/>
          <p:nvPr/>
        </p:nvSpPr>
        <p:spPr>
          <a:xfrm>
            <a:off x="411480" y="56827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応用情報</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基本情報</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flipH="1">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0" name="Shape 18"/>
          <p:cNvSpPr/>
          <p:nvPr/>
        </p:nvSpPr>
        <p:spPr>
          <a:xfrm>
            <a:off x="3566160" y="6469126"/>
            <a:ext cx="1600200" cy="676656"/>
          </a:xfrm>
          <a:prstGeom prst="roundRect">
            <a:avLst>
              <a:gd name="adj" fmla="val 16216"/>
            </a:avLst>
          </a:prstGeom>
          <a:solidFill>
            <a:srgbClr val="FDEBD0"/>
          </a:solidFill>
          <a:ln w="25400">
            <a:solidFill>
              <a:srgbClr val="B45309"/>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4" name="Shape 22"/>
          <p:cNvSpPr/>
          <p:nvPr/>
        </p:nvSpPr>
        <p:spPr>
          <a:xfrm>
            <a:off x="3566160" y="7255510"/>
            <a:ext cx="1600200" cy="676656"/>
          </a:xfrm>
          <a:prstGeom prst="roundRect">
            <a:avLst>
              <a:gd name="adj" fmla="val 16216"/>
            </a:avLst>
          </a:prstGeom>
          <a:solidFill>
            <a:srgbClr val="E6E1F7"/>
          </a:solidFill>
          <a:ln w="25400">
            <a:solidFill>
              <a:srgbClr val="5B46B8"/>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26" name="Shape 24"/>
          <p:cNvSpPr/>
          <p:nvPr/>
        </p:nvSpPr>
        <p:spPr>
          <a:xfrm>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8" name="Shape 26"/>
          <p:cNvSpPr/>
          <p:nvPr/>
        </p:nvSpPr>
        <p:spPr>
          <a:xfrm>
            <a:off x="3566160" y="8041894"/>
            <a:ext cx="1600200" cy="676656"/>
          </a:xfrm>
          <a:prstGeom prst="roundRect">
            <a:avLst>
              <a:gd name="adj" fmla="val 16216"/>
            </a:avLst>
          </a:prstGeom>
          <a:solidFill>
            <a:srgbClr val="DFF1FB"/>
          </a:solidFill>
          <a:ln w="25400">
            <a:solidFill>
              <a:srgbClr val="0369A1"/>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330</a:t>
            </a:fld>
            <a:endParaRPr lang="en-US"/>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応用情報技術者</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読み：おうようじょうほうぎじゅつしゃ・AP（応用情報技術者試験）</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応用情報技術者試験は、IPAが実施する国家試験で、基本情報技術者試験の次の段階にあたります。基本的な知識に加えて、応用的な知識と技能を持ち、自分が進む専門の方向が見えてきた人を想定してい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問われるのは技術だけではありません。システムを設計する、動かし続ける、プロジェクトを管理する、会社の戦略に合わせてITを選ぶなど、広い視点で状況を読み取って判断する力が求められます。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CE4EE"/>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基本情報との違いは、「知っている・追える」から「状況を見て選べる・説明できる」へ進む点です。基本情報から順に受ける人もいますが、受験資格はなく、飛ばして受けることもできます。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331</a:t>
            </a:fld>
            <a:endParaRPr lang="en-US"/>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応用情報技術者</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ITパスポートが「地図」、基本情報が「地図を読んで歩く練習」なら、応用情報は「複数のルートから目的に合う道を選んで案内する」段階です。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会社でシステムの設計方針を決めるときや、トラブルの原因を整理して説明するときなど、広い知識を組み合わせて判断する場面で役立ちます。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応用情報は、基本情報の「難しい版」というだけではなく、管理や経営の視点も加わります。試験の区分や内容は見直されることがあるので、IPAの公式サイトで最新を確認しましょう。</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先に基本情報の範囲をひと通り理解してから、IPAの公式サイトで公開されている問題を読み、「なぜその答えか」を自分の言葉で説明してみましょう。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332</a:t>
            </a:fld>
            <a:endParaRPr lang="en-US"/>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MOS</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WordやExcelなどの操作スキルを、実際の操作で証明するMicrosoftの資格。</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技術ではなく「資格（試験）」の話。Officeアプリの操作スキルを確かめる民間の資格。</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035808"/>
          </a:xfrm>
          <a:prstGeom prst="roundRect">
            <a:avLst>
              <a:gd name="adj" fmla="val 8000"/>
            </a:avLst>
          </a:prstGeom>
          <a:solidFill>
            <a:srgbClr val="A21C5B"/>
          </a:solidFill>
          <a:ln/>
        </p:spPr>
      </p:sp>
      <p:sp>
        <p:nvSpPr>
          <p:cNvPr id="15" name="Text 13"/>
          <p:cNvSpPr txBox="1"/>
          <p:nvPr/>
        </p:nvSpPr>
        <p:spPr>
          <a:xfrm>
            <a:off x="411480" y="56827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MOS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CE4EE"/>
          </a:solidFill>
          <a:ln w="25400">
            <a:solidFill>
              <a:srgbClr val="A21C5B"/>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ITパスポート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18" name="Shape 16"/>
          <p:cNvSpPr/>
          <p:nvPr/>
        </p:nvSpPr>
        <p:spPr>
          <a:xfrm>
            <a:off x="1719072" y="6021070"/>
            <a:ext cx="1819656" cy="0"/>
          </a:xfrm>
          <a:prstGeom prst="line">
            <a:avLst/>
          </a:prstGeom>
          <a:noFill/>
          <a:ln w="31750">
            <a:solidFill>
              <a:srgbClr val="1B2A3A"/>
            </a:solidFill>
            <a:prstDash val="solid"/>
            <a:headEnd type="triangle"/>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0" name="Shape 18"/>
          <p:cNvSpPr/>
          <p:nvPr/>
        </p:nvSpPr>
        <p:spPr>
          <a:xfrm>
            <a:off x="3566160" y="6469126"/>
            <a:ext cx="1600200" cy="676656"/>
          </a:xfrm>
          <a:prstGeom prst="roundRect">
            <a:avLst>
              <a:gd name="adj" fmla="val 16216"/>
            </a:avLst>
          </a:prstGeom>
          <a:solidFill>
            <a:srgbClr val="FCE4EE"/>
          </a:solidFill>
          <a:ln w="25400">
            <a:solidFill>
              <a:srgbClr val="A21C5B"/>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基本情報</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2" name="Shape 20"/>
          <p:cNvSpPr/>
          <p:nvPr/>
        </p:nvSpPr>
        <p:spPr>
          <a:xfrm>
            <a:off x="1719072" y="6807454"/>
            <a:ext cx="1819656" cy="0"/>
          </a:xfrm>
          <a:prstGeom prst="line">
            <a:avLst/>
          </a:prstGeom>
          <a:noFill/>
          <a:ln w="31750">
            <a:solidFill>
              <a:srgbClr val="1B2A3A"/>
            </a:solidFill>
            <a:prstDash val="solid"/>
            <a:headEnd type="triangle"/>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4" name="Shape 22"/>
          <p:cNvSpPr/>
          <p:nvPr/>
        </p:nvSpPr>
        <p:spPr>
          <a:xfrm>
            <a:off x="3566160" y="7255510"/>
            <a:ext cx="1600200" cy="676656"/>
          </a:xfrm>
          <a:prstGeom prst="roundRect">
            <a:avLst>
              <a:gd name="adj" fmla="val 16216"/>
            </a:avLst>
          </a:prstGeom>
          <a:solidFill>
            <a:srgbClr val="DDF1E4"/>
          </a:solidFill>
          <a:ln w="25400">
            <a:solidFill>
              <a:srgbClr val="237A48"/>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26" name="Shape 24"/>
          <p:cNvSpPr/>
          <p:nvPr/>
        </p:nvSpPr>
        <p:spPr>
          <a:xfrm>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操作を問う</a:t>
            </a:r>
            <a:endParaRPr lang="en-US" sz="1500" dirty="0"/>
          </a:p>
        </p:txBody>
      </p:sp>
      <p:sp>
        <p:nvSpPr>
          <p:cNvPr id="28" name="Shape 26"/>
          <p:cNvSpPr/>
          <p:nvPr/>
        </p:nvSpPr>
        <p:spPr>
          <a:xfrm>
            <a:off x="3566160" y="8041894"/>
            <a:ext cx="1600200" cy="676656"/>
          </a:xfrm>
          <a:prstGeom prst="roundRect">
            <a:avLst>
              <a:gd name="adj" fmla="val 16216"/>
            </a:avLst>
          </a:prstGeom>
          <a:solidFill>
            <a:srgbClr val="DCE8F8"/>
          </a:solidFill>
          <a:ln w="25400">
            <a:solidFill>
              <a:srgbClr val="2F6BC2"/>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使い方を問う</a:t>
            </a:r>
            <a:endParaRPr lang="en-US" sz="1500" dirty="0"/>
          </a:p>
        </p:txBody>
      </p:sp>
      <p:sp>
        <p:nvSpPr>
          <p:cNvPr id="32" name="Text 3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333</a:t>
            </a:fld>
            <a:endParaRPr lang="en-US"/>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name="Slide 3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MOS</a:t>
            </a:r>
            <a:endParaRPr lang="ja-JP" sz="2200" dirty="0"/>
          </a:p>
        </p:txBody>
      </p:sp>
      <p:sp>
        <p:nvSpPr>
          <p:cNvPr id="4" name="Shape 2"/>
          <p:cNvSpPr/>
          <p:nvPr/>
        </p:nvSpPr>
        <p:spPr>
          <a:xfrm>
            <a:off x="320040" y="1318514"/>
            <a:ext cx="4846320" cy="3787648"/>
          </a:xfrm>
          <a:prstGeom prst="roundRect">
            <a:avLst>
              <a:gd name="adj" fmla="val 3380"/>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読み：モス・Microsoft Office Specialist（マイクロソフト オフィス スペシャリスト）</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MOS（モス）は、Microsoft Office Specialistの略で、WordやExcel、PowerPointなどのOfficeアプリを使いこなせることを証明する資格です。Microsoftの認定資格で、IPAの国家試験とは別の系統です。</a:t>
            </a:r>
            <a:endParaRPr lang="en-US" sz="2000" dirty="0"/>
          </a:p>
        </p:txBody>
      </p:sp>
      <p:sp>
        <p:nvSpPr>
          <p:cNvPr id="7" name="Shape 5"/>
          <p:cNvSpPr/>
          <p:nvPr/>
        </p:nvSpPr>
        <p:spPr>
          <a:xfrm>
            <a:off x="320040" y="5179314"/>
            <a:ext cx="4846320" cy="2296160"/>
          </a:xfrm>
          <a:prstGeom prst="roundRect">
            <a:avLst>
              <a:gd name="adj" fmla="val 5575"/>
            </a:avLst>
          </a:prstGeom>
          <a:solidFill>
            <a:srgbClr val="FCE4EE"/>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試験はアプリごとに分かれていて、受けたいアプリを選べます。試験では、アプリの画面を操作して、与えられた課題（表を作る、書式を整える、関数を入れるなど）をこなします。手を動かす力が見られ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FCE4EE"/>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ITパスポートや基本情報技術者が「ITの知識や考え方」を確かめるのに対し、MOSは「特定のソフトを実際に使える」ことを確かめます。事務作業や、レポート・資料づくりで役立つ力です。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334</a:t>
            </a:fld>
            <a:endParaRPr lang="en-US"/>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name="Slide 3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MOS</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ITパスポートが「ITの教科書の知識」を確かめる筆記なら、MOSは「道具を実際に使えるか」を確かめる実技のようなもの。別々の資格で、確かめる中身が違います。</a:t>
            </a:r>
            <a:endParaRPr lang="en-US" sz="2000" dirty="0"/>
          </a:p>
        </p:txBody>
      </p:sp>
      <p:sp>
        <p:nvSpPr>
          <p:cNvPr id="6" name="Shape 4"/>
          <p:cNvSpPr/>
          <p:nvPr/>
        </p:nvSpPr>
        <p:spPr>
          <a:xfrm>
            <a:off x="320040" y="3772154"/>
            <a:ext cx="4846320" cy="1935480"/>
          </a:xfrm>
          <a:prstGeom prst="roundRect">
            <a:avLst>
              <a:gd name="adj" fmla="val 6614"/>
            </a:avLst>
          </a:prstGeom>
          <a:solidFill>
            <a:srgbClr val="DCE8F8"/>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レポートや資料をWordやPowerPointで作る授業、部活の会計をExcelでまとめる、進学や就職で「PCスキル」として書く、といった場面で出てきます。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MOSは「Officeの知識」ではなく「操作」の資格で、アプリごとに試験が分かれ、版によっても分かれることがあります。受ける前に、自分が使うアプリと試験名を確かめましょう。</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335</a:t>
            </a:fld>
            <a:endParaRPr lang="en-US"/>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name="Slide 3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658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MOS</a:t>
            </a:r>
            <a:endParaRPr lang="ja-JP" sz="2200" dirty="0"/>
          </a:p>
        </p:txBody>
      </p:sp>
      <p:sp>
        <p:nvSpPr>
          <p:cNvPr id="4" name="Shape 2"/>
          <p:cNvSpPr/>
          <p:nvPr/>
        </p:nvSpPr>
        <p:spPr>
          <a:xfrm>
            <a:off x="320040" y="1318514"/>
            <a:ext cx="4846320" cy="2270760"/>
          </a:xfrm>
          <a:prstGeom prst="roundRect">
            <a:avLst>
              <a:gd name="adj" fmla="val 5638"/>
            </a:avLst>
          </a:prstGeom>
          <a:solidFill>
            <a:srgbClr val="DDF1E4"/>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自分のPCのWordやExcelで、「見出しを設定する」「SUM関数で合計を出す」など、1つの課題を調べながら操作してみましょう。模擬問題に取り組むのも有効です。</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336</a:t>
            </a:fld>
            <a:endParaRPr lang="en-US"/>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name="Slide 3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資格欄に書くときの注意</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資格の名称と、「取得済み」か「勉強中」かを、はっきり分けて書きます。</a:t>
            </a:r>
            <a:endParaRPr lang="en-US" sz="1800" dirty="0"/>
          </a:p>
        </p:txBody>
      </p:sp>
      <p:sp>
        <p:nvSpPr>
          <p:cNvPr id="6" name="Shape 4"/>
          <p:cNvSpPr/>
          <p:nvPr/>
        </p:nvSpPr>
        <p:spPr>
          <a:xfrm>
            <a:off x="320040" y="2515870"/>
            <a:ext cx="4846320" cy="2048256"/>
          </a:xfrm>
          <a:prstGeom prst="roundRect">
            <a:avLst>
              <a:gd name="adj" fmla="val 6250"/>
            </a:avLst>
          </a:prstGeom>
          <a:solidFill>
            <a:srgbClr val="ECF5D5"/>
          </a:solidFill>
          <a:ln/>
        </p:spPr>
      </p:sp>
      <p:sp>
        <p:nvSpPr>
          <p:cNvPr id="7" name="Shape 5"/>
          <p:cNvSpPr/>
          <p:nvPr/>
        </p:nvSpPr>
        <p:spPr>
          <a:xfrm>
            <a:off x="502920" y="2662174"/>
            <a:ext cx="566928" cy="566928"/>
          </a:xfrm>
          <a:prstGeom prst="ellipse">
            <a:avLst/>
          </a:prstGeom>
          <a:solidFill>
            <a:srgbClr val="4D7C0F"/>
          </a:solidFill>
          <a:ln/>
        </p:spPr>
      </p:sp>
      <p:pic>
        <p:nvPicPr>
          <p:cNvPr id="8" name="Image 0" descr="preencoded.png">    </p:cNvPr>
          <p:cNvPicPr>
            <a:picLocks noChangeAspect="1"/>
          </p:cNvPicPr>
          <p:nvPr/>
        </p:nvPicPr>
        <p:blipFill>
          <a:blip r:embed="rId1"/>
          <a:stretch>
            <a:fillRect/>
          </a:stretch>
        </p:blipFill>
        <p:spPr>
          <a:xfrm>
            <a:off x="627644" y="2786898"/>
            <a:ext cx="317480" cy="317480"/>
          </a:xfrm>
          <a:prstGeom prst="rect">
            <a:avLst/>
          </a:prstGeom>
        </p:spPr>
      </p:pic>
      <p:sp>
        <p:nvSpPr>
          <p:cNvPr id="9" name="Text 6"/>
          <p:cNvSpPr txBox="1"/>
          <p:nvPr/>
        </p:nvSpPr>
        <p:spPr>
          <a:xfrm>
            <a:off x="1188720" y="2662174"/>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4D7C0F"/>
                </a:solidFill>
                <a:latin typeface="Yu Gothic" pitchFamily="34" charset="0"/>
                <a:ea typeface="Yu Gothic" pitchFamily="34" charset="-122"/>
                <a:cs typeface="Yu Gothic" pitchFamily="34" charset="-120"/>
              </a:rPr>
              <a:t>名称</a:t>
            </a:r>
            <a:endParaRPr lang="en-US" sz="2200" dirty="0"/>
          </a:p>
        </p:txBody>
      </p:sp>
      <p:sp>
        <p:nvSpPr>
          <p:cNvPr id="10" name="Text 7"/>
          <p:cNvSpPr txBox="1"/>
          <p:nvPr/>
        </p:nvSpPr>
        <p:spPr>
          <a:xfrm>
            <a:off x="502920" y="3320542"/>
            <a:ext cx="4480560" cy="117043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「基本情報処理技術者」は、通常は「基本情報技術者試験」のこと</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応用情報も同様</a:t>
            </a:r>
            <a:endParaRPr lang="en-US" sz="2000" dirty="0"/>
          </a:p>
        </p:txBody>
      </p:sp>
      <p:sp>
        <p:nvSpPr>
          <p:cNvPr id="11" name="Shape 8"/>
          <p:cNvSpPr/>
          <p:nvPr/>
        </p:nvSpPr>
        <p:spPr>
          <a:xfrm>
            <a:off x="320040" y="4747006"/>
            <a:ext cx="4846320" cy="1712976"/>
          </a:xfrm>
          <a:prstGeom prst="roundRect">
            <a:avLst>
              <a:gd name="adj" fmla="val 7473"/>
            </a:avLst>
          </a:prstGeom>
          <a:solidFill>
            <a:srgbClr val="FBE3E0"/>
          </a:solidFill>
          <a:ln/>
        </p:spPr>
      </p:sp>
      <p:sp>
        <p:nvSpPr>
          <p:cNvPr id="12" name="Shape 9"/>
          <p:cNvSpPr/>
          <p:nvPr/>
        </p:nvSpPr>
        <p:spPr>
          <a:xfrm>
            <a:off x="502920" y="4893310"/>
            <a:ext cx="566928" cy="566928"/>
          </a:xfrm>
          <a:prstGeom prst="ellipse">
            <a:avLst/>
          </a:prstGeom>
          <a:solidFill>
            <a:srgbClr val="C0392B"/>
          </a:solidFill>
          <a:ln/>
        </p:spPr>
      </p:sp>
      <p:pic>
        <p:nvPicPr>
          <p:cNvPr id="13" name="Image 1" descr="preencoded.png">    </p:cNvPr>
          <p:cNvPicPr>
            <a:picLocks noChangeAspect="1"/>
          </p:cNvPicPr>
          <p:nvPr/>
        </p:nvPicPr>
        <p:blipFill>
          <a:blip r:embed="rId2"/>
          <a:stretch>
            <a:fillRect/>
          </a:stretch>
        </p:blipFill>
        <p:spPr>
          <a:xfrm>
            <a:off x="627644" y="5018034"/>
            <a:ext cx="317480" cy="317480"/>
          </a:xfrm>
          <a:prstGeom prst="rect">
            <a:avLst/>
          </a:prstGeom>
        </p:spPr>
      </p:pic>
      <p:sp>
        <p:nvSpPr>
          <p:cNvPr id="14" name="Text 10"/>
          <p:cNvSpPr txBox="1"/>
          <p:nvPr/>
        </p:nvSpPr>
        <p:spPr>
          <a:xfrm>
            <a:off x="1188720" y="4893310"/>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C0392B"/>
                </a:solidFill>
                <a:latin typeface="Yu Gothic" pitchFamily="34" charset="0"/>
                <a:ea typeface="Yu Gothic" pitchFamily="34" charset="-122"/>
                <a:cs typeface="Yu Gothic" pitchFamily="34" charset="-120"/>
              </a:rPr>
              <a:t>取得と勉強中</a:t>
            </a:r>
            <a:endParaRPr lang="en-US" sz="2200" dirty="0"/>
          </a:p>
        </p:txBody>
      </p:sp>
      <p:sp>
        <p:nvSpPr>
          <p:cNvPr id="15" name="Text 11"/>
          <p:cNvSpPr txBox="1"/>
          <p:nvPr/>
        </p:nvSpPr>
        <p:spPr>
          <a:xfrm>
            <a:off x="502920" y="5551678"/>
            <a:ext cx="4480560" cy="83515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勉強中と取得済みは別</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取得資格の欄では区別する</a:t>
            </a:r>
            <a:endParaRPr lang="en-US" sz="2000" dirty="0"/>
          </a:p>
        </p:txBody>
      </p:sp>
      <p:sp>
        <p:nvSpPr>
          <p:cNvPr id="16" name="Shape 12"/>
          <p:cNvSpPr/>
          <p:nvPr/>
        </p:nvSpPr>
        <p:spPr>
          <a:xfrm>
            <a:off x="320040" y="6642862"/>
            <a:ext cx="4846320" cy="2048256"/>
          </a:xfrm>
          <a:prstGeom prst="roundRect">
            <a:avLst>
              <a:gd name="adj" fmla="val 6250"/>
            </a:avLst>
          </a:prstGeom>
          <a:solidFill>
            <a:srgbClr val="DCE8F8"/>
          </a:solidFill>
          <a:ln/>
        </p:spPr>
      </p:sp>
      <p:sp>
        <p:nvSpPr>
          <p:cNvPr id="17" name="Shape 13"/>
          <p:cNvSpPr/>
          <p:nvPr/>
        </p:nvSpPr>
        <p:spPr>
          <a:xfrm>
            <a:off x="502920" y="6789166"/>
            <a:ext cx="566928" cy="56692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27644" y="6913890"/>
            <a:ext cx="317480" cy="317480"/>
          </a:xfrm>
          <a:prstGeom prst="rect">
            <a:avLst/>
          </a:prstGeom>
        </p:spPr>
      </p:pic>
      <p:sp>
        <p:nvSpPr>
          <p:cNvPr id="19" name="Text 14"/>
          <p:cNvSpPr txBox="1"/>
          <p:nvPr/>
        </p:nvSpPr>
        <p:spPr>
          <a:xfrm>
            <a:off x="1188720" y="6789166"/>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測る能力</a:t>
            </a:r>
            <a:endParaRPr lang="en-US" sz="2200" dirty="0"/>
          </a:p>
        </p:txBody>
      </p:sp>
      <p:sp>
        <p:nvSpPr>
          <p:cNvPr id="20" name="Text 15"/>
          <p:cNvSpPr txBox="1"/>
          <p:nvPr/>
        </p:nvSpPr>
        <p:spPr>
          <a:xfrm>
            <a:off x="502920" y="7447534"/>
            <a:ext cx="4480560" cy="1170432"/>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IPAの国家試験：IT全般の知識・技能</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MOS：Officeの操作スキル</a:t>
            </a:r>
            <a:endParaRPr lang="en-US" sz="2000" dirty="0"/>
          </a:p>
        </p:txBody>
      </p:sp>
      <p:sp>
        <p:nvSpPr>
          <p:cNvPr id="21" name="Text 1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337</a:t>
            </a:fld>
            <a:endParaRPr lang="en-US"/>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name="Slide 3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Excelでの集計</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マス目に数字を入れ、合計・平均・件数などを自動で計算する表計算ソフト。</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PCの中で動くアプリ（ソフト）。表の形のデータをファイルとして保存して使う。</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Excel集計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集計を支える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7" name="Shape 35"/>
          <p:cNvSpPr/>
          <p:nvPr/>
        </p:nvSpPr>
        <p:spPr>
          <a:xfrm>
            <a:off x="3566160" y="7712710"/>
            <a:ext cx="1600200" cy="676656"/>
          </a:xfrm>
          <a:prstGeom prst="roundRect">
            <a:avLst>
              <a:gd name="adj" fmla="val 16216"/>
            </a:avLst>
          </a:prstGeom>
          <a:solidFill>
            <a:srgbClr val="FCE4EE"/>
          </a:solidFill>
          <a:ln w="25400">
            <a:solidFill>
              <a:srgbClr val="A21C5B"/>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試験で問う</a:t>
            </a:r>
            <a:endParaRPr lang="en-US" sz="1500" dirty="0"/>
          </a:p>
        </p:txBody>
      </p:sp>
      <p:sp>
        <p:nvSpPr>
          <p:cNvPr id="41" name="Shape 39"/>
          <p:cNvSpPr/>
          <p:nvPr/>
        </p:nvSpPr>
        <p:spPr>
          <a:xfrm>
            <a:off x="3566160" y="8499094"/>
            <a:ext cx="1600200" cy="676656"/>
          </a:xfrm>
          <a:prstGeom prst="roundRect">
            <a:avLst>
              <a:gd name="adj" fmla="val 16216"/>
            </a:avLst>
          </a:prstGeom>
          <a:solidFill>
            <a:srgbClr val="DCE8F8"/>
          </a:solidFill>
          <a:ln w="25400">
            <a:solidFill>
              <a:srgbClr val="2F6BC2"/>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アプリの一種</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338</a:t>
            </a:fld>
            <a:endParaRPr lang="en-US"/>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name="Slide 3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Excelでの集計</a:t>
            </a:r>
            <a:endParaRPr lang="ja-JP" sz="2200" dirty="0"/>
          </a:p>
        </p:txBody>
      </p:sp>
      <p:sp>
        <p:nvSpPr>
          <p:cNvPr id="4" name="Shape 2"/>
          <p:cNvSpPr/>
          <p:nvPr/>
        </p:nvSpPr>
        <p:spPr>
          <a:xfrm>
            <a:off x="320040" y="1318514"/>
            <a:ext cx="4846320" cy="3117088"/>
          </a:xfrm>
          <a:prstGeom prst="roundRect">
            <a:avLst>
              <a:gd name="adj" fmla="val 4107"/>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読み：エクセル（Microsoft Excel・表計算ソフト）</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Excelは、縦横のマス目（セル）に数字や文字を入れて表を作り、計算までできるソフトです。「=SUM(B2:B31)」のように式を書くと、B2からB31までの合計が自動で出ます。</a:t>
            </a:r>
            <a:endParaRPr lang="en-US" sz="2000" dirty="0"/>
          </a:p>
        </p:txBody>
      </p:sp>
      <p:sp>
        <p:nvSpPr>
          <p:cNvPr id="7" name="Shape 5"/>
          <p:cNvSpPr/>
          <p:nvPr/>
        </p:nvSpPr>
        <p:spPr>
          <a:xfrm>
            <a:off x="320040" y="4508754"/>
            <a:ext cx="4846320" cy="2631440"/>
          </a:xfrm>
          <a:prstGeom prst="roundRect">
            <a:avLst>
              <a:gd name="adj" fmla="val 4865"/>
            </a:avLst>
          </a:prstGeom>
          <a:solidFill>
            <a:srgbClr val="DDF1E4"/>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数字を書き換えると、合計や平均もすぐ更新されます。関数（決まった計算を呼び出す部品）、並べ替え、絞り込み、ピボットテーブル（項目ごとに合計や件数をまとめる機能）で、たくさんのデータを集計でき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DDF1E4"/>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ただしExcelは、ファイルを開いて使う道具です。大量のデータを多くの人が同時に出し入れするなら、DB（データベース）の出番です。小さな集計はExcel、大きな管理はDBと使い分けます。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339</a:t>
            </a:fld>
            <a:endParaRPr lang="en-US"/>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name="Slide 3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Excelでの集計</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電卓つきの方眼ノート。マス目がセル、合計欄に書いた式が電卓の役目で、数字を直すと答えも自動で書き換わります。</a:t>
            </a:r>
            <a:endParaRPr lang="en-US" sz="2000" dirty="0"/>
          </a:p>
        </p:txBody>
      </p:sp>
      <p:sp>
        <p:nvSpPr>
          <p:cNvPr id="6" name="Shape 4"/>
          <p:cNvSpPr/>
          <p:nvPr/>
        </p:nvSpPr>
        <p:spPr>
          <a:xfrm>
            <a:off x="320040" y="3101594"/>
            <a:ext cx="4846320" cy="1935480"/>
          </a:xfrm>
          <a:prstGeom prst="roundRect">
            <a:avLst>
              <a:gd name="adj" fmla="val 6614"/>
            </a:avLst>
          </a:prstGeom>
          <a:solidFill>
            <a:srgbClr val="DCE8F8"/>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部活の月別の部費や、テストの点数表から、平均点・クラス別の人数・月ごとの合計を出すとき。アルバイトの売上表や会社の報告資料でも、よく使われます。</a:t>
            </a:r>
            <a:endParaRPr lang="en-US" sz="2000" dirty="0"/>
          </a:p>
        </p:txBody>
      </p:sp>
      <p:sp>
        <p:nvSpPr>
          <p:cNvPr id="8" name="Shape 6"/>
          <p:cNvSpPr/>
          <p:nvPr/>
        </p:nvSpPr>
        <p:spPr>
          <a:xfrm>
            <a:off x="320040" y="5219954"/>
            <a:ext cx="4846320" cy="1935480"/>
          </a:xfrm>
          <a:prstGeom prst="roundRect">
            <a:avLst>
              <a:gd name="adj" fmla="val 6614"/>
            </a:avLst>
          </a:prstGeom>
          <a:solidFill>
            <a:srgbClr val="FBE3E0"/>
          </a:solidFill>
          <a:ln/>
        </p:spPr>
      </p:sp>
      <p:sp>
        <p:nvSpPr>
          <p:cNvPr id="9" name="Text 7"/>
          <p:cNvSpPr txBox="1"/>
          <p:nvPr/>
        </p:nvSpPr>
        <p:spPr>
          <a:xfrm>
            <a:off x="502920" y="53113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セルを結合した表や、途中に合計行を挟んだ表は、並べ替えや集計の邪魔になります。数字が「文字」として入っていると、SUMの合計にも入りません。</a:t>
            </a:r>
            <a:endParaRPr lang="en-US" sz="2000" dirty="0"/>
          </a:p>
        </p:txBody>
      </p:sp>
      <p:sp>
        <p:nvSpPr>
          <p:cNvPr id="10" name="Shape 8"/>
          <p:cNvSpPr/>
          <p:nvPr/>
        </p:nvSpPr>
        <p:spPr>
          <a:xfrm>
            <a:off x="320040" y="7338314"/>
            <a:ext cx="4846320" cy="1600200"/>
          </a:xfrm>
          <a:prstGeom prst="roundRect">
            <a:avLst>
              <a:gd name="adj" fmla="val 8000"/>
            </a:avLst>
          </a:prstGeom>
          <a:solidFill>
            <a:srgbClr val="DDF1E4"/>
          </a:solidFill>
          <a:ln/>
        </p:spPr>
      </p:sp>
      <p:sp>
        <p:nvSpPr>
          <p:cNvPr id="11" name="Text 9"/>
          <p:cNvSpPr txBox="1"/>
          <p:nvPr/>
        </p:nvSpPr>
        <p:spPr>
          <a:xfrm>
            <a:off x="502920" y="74297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1週間の勉強時間などを表にして、SUM関数とAVERAGE関数で合計と平均を出し、グラフにしてみましょう。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340</a:t>
            </a:fld>
            <a:endParaRPr lang="en-US"/>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name="Slide 3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HTML</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Webページの見出しや段落などの「構造」を、タグで書き表す言語。</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Webサーバーから届き、ブラウザーで表示されるページ（.htmlファイル）の中身。</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HTML</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CSS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見た目を整える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配信する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ブラウザー</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読み取る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履歴を残す</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341</a:t>
            </a:fld>
            <a:endParaRPr lang="en-US"/>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name="Slide 3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HTML</a:t>
            </a:r>
            <a:endParaRPr lang="ja-JP" sz="2200" dirty="0"/>
          </a:p>
        </p:txBody>
      </p:sp>
      <p:sp>
        <p:nvSpPr>
          <p:cNvPr id="4" name="Shape 2"/>
          <p:cNvSpPr/>
          <p:nvPr/>
        </p:nvSpPr>
        <p:spPr>
          <a:xfrm>
            <a:off x="320040" y="1318514"/>
            <a:ext cx="4846320" cy="3787648"/>
          </a:xfrm>
          <a:prstGeom prst="roundRect">
            <a:avLst>
              <a:gd name="adj" fmla="val 3380"/>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読み：エイチティーエムエル（HyperText Markup Language）</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HTMLは、文章に「ここは見出し」「ここは段落」「ここは画像」という印（タグ）を付けて、Webページの中身の構造を表す言語です。ブラウザー（Webを見るソフト）が、この印を読み取ってページを表示します。</a:t>
            </a:r>
            <a:endParaRPr lang="en-US" sz="2000" dirty="0"/>
          </a:p>
        </p:txBody>
      </p:sp>
      <p:sp>
        <p:nvSpPr>
          <p:cNvPr id="7" name="Shape 5"/>
          <p:cNvSpPr/>
          <p:nvPr/>
        </p:nvSpPr>
        <p:spPr>
          <a:xfrm>
            <a:off x="320040" y="5179314"/>
            <a:ext cx="4846320" cy="2631440"/>
          </a:xfrm>
          <a:prstGeom prst="roundRect">
            <a:avLst>
              <a:gd name="adj" fmla="val 4865"/>
            </a:avLst>
          </a:prstGeom>
          <a:solidFill>
            <a:srgbClr val="DDF1E4"/>
          </a:solidFill>
          <a:ln/>
        </p:spPr>
      </p:sp>
      <p:sp>
        <p:nvSpPr>
          <p:cNvPr id="8" name="Text 6"/>
          <p:cNvSpPr txBox="1"/>
          <p:nvPr/>
        </p:nvSpPr>
        <p:spPr>
          <a:xfrm>
            <a:off x="502920" y="527075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書き方の例です。&lt;h1&gt;自己紹介&lt;/h1&gt; と書くと「自己紹介」が一番大きな見出しになり、&lt;p&gt;はじめまして。&lt;/p&gt; と書くと段落になります。HTMLは計算をするプログラミング言語ではなく、中身に意味の印を付ける「マークアップ言語」です。</a:t>
            </a:r>
            <a:endParaRPr lang="en-US" sz="2000" dirty="0"/>
          </a:p>
        </p:txBody>
      </p:sp>
      <p:sp>
        <p:nvSpPr>
          <p:cNvPr id="9" name="Shape 7"/>
          <p:cNvSpPr/>
          <p:nvPr/>
        </p:nvSpPr>
        <p:spPr>
          <a:xfrm>
            <a:off x="320040" y="7883906"/>
            <a:ext cx="4846320" cy="2296160"/>
          </a:xfrm>
          <a:prstGeom prst="roundRect">
            <a:avLst>
              <a:gd name="adj" fmla="val 5575"/>
            </a:avLst>
          </a:prstGeom>
          <a:solidFill>
            <a:srgbClr val="DDF1E4"/>
          </a:solidFill>
          <a:ln/>
        </p:spPr>
      </p:sp>
      <p:sp>
        <p:nvSpPr>
          <p:cNvPr id="10" name="Text 8"/>
          <p:cNvSpPr txBox="1"/>
          <p:nvPr/>
        </p:nvSpPr>
        <p:spPr>
          <a:xfrm>
            <a:off x="502920" y="797534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色や文字の大きさなど「見た目」はHTMLでは決めず、別の言語CSSに任せるのが基本です。中身（HTML）と見た目（CSS）を分けておけば、デザインを変えても文章を書き直さずに済みます。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342</a:t>
            </a:fld>
            <a:endParaRPr lang="en-US"/>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name="Slide 3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HTML</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プリントに「ここはタイトル」「ここは本文」「ここは写真」と赤ペンで役割を書き込む作業。色や飾りは、別の担当（CSS）が仕上げます。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文化祭のクラス紹介ページや自己紹介ページを作るとき。ブラウザーで右クリックして「ページのソースを表示」を選ぶと、ふだん見ているサイトのHTMLも読めます。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HTMLはプログラミング言語ではなく、中身に意味を付ける言語です。文字を大きくしたいだけで見出しタグを使うと、意味がおかしくなります。大きさはCSSで決めます。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メモ帳などに自己紹介を書いて「index.html」で保存し、ブラウザーで開きましょう。見出し（h1）や段落（p）のタグを付けて、表示の変化を見ます。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343</a:t>
            </a:fld>
            <a:endParaRPr lang="en-US"/>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name="Slide 3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CSS</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HTMLで作ったWebページに、色・文字の大きさ・配置などの見た目を指定する言語。</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Webページの見た目を書いた記述やファイル。HTMLと一緒にブラウザーへ届く。</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2249424"/>
          </a:xfrm>
          <a:prstGeom prst="roundRect">
            <a:avLst>
              <a:gd name="adj" fmla="val 8000"/>
            </a:avLst>
          </a:prstGeom>
          <a:solidFill>
            <a:srgbClr val="237A48"/>
          </a:solidFill>
          <a:ln/>
        </p:spPr>
      </p:sp>
      <p:sp>
        <p:nvSpPr>
          <p:cNvPr id="28" name="Text 26"/>
          <p:cNvSpPr txBox="1"/>
          <p:nvPr/>
        </p:nvSpPr>
        <p:spPr>
          <a:xfrm>
            <a:off x="411480" y="6139942"/>
            <a:ext cx="1188720" cy="2249424"/>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CSS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HTML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見た目を整える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配信する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ブラウザー</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読み取る</a:t>
            </a:r>
            <a:endParaRPr lang="en-US" sz="1500" dirty="0"/>
          </a:p>
        </p:txBody>
      </p:sp>
      <p:sp>
        <p:nvSpPr>
          <p:cNvPr id="41" name="Text 3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344</a:t>
            </a:fld>
            <a:endParaRPr lang="en-US"/>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name="Slide 3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CSS</a:t>
            </a:r>
            <a:endParaRPr lang="ja-JP" sz="2200" dirty="0"/>
          </a:p>
        </p:txBody>
      </p:sp>
      <p:sp>
        <p:nvSpPr>
          <p:cNvPr id="4" name="Shape 2"/>
          <p:cNvSpPr/>
          <p:nvPr/>
        </p:nvSpPr>
        <p:spPr>
          <a:xfrm>
            <a:off x="320040" y="1318514"/>
            <a:ext cx="4846320" cy="4122928"/>
          </a:xfrm>
          <a:prstGeom prst="roundRect">
            <a:avLst>
              <a:gd name="adj" fmla="val 3105"/>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592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読み：シーエスエス（Cascading Style Sheets）</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CSSは、見た目を指定する言語です。h1 { color: red; } は「見出し（h1）の文字を赤に」、p { font-size: 18px; } は「段落（p）の文字を18px（画面上の点の単位）の大きさに」という指定です。「どの部分を」「どう見せるか」を、{ } の中に書きます。</a:t>
            </a:r>
            <a:endParaRPr lang="en-US" sz="2000" dirty="0"/>
          </a:p>
        </p:txBody>
      </p:sp>
      <p:sp>
        <p:nvSpPr>
          <p:cNvPr id="7" name="Shape 5"/>
          <p:cNvSpPr/>
          <p:nvPr/>
        </p:nvSpPr>
        <p:spPr>
          <a:xfrm>
            <a:off x="320040" y="5514594"/>
            <a:ext cx="4846320" cy="2631440"/>
          </a:xfrm>
          <a:prstGeom prst="roundRect">
            <a:avLst>
              <a:gd name="adj" fmla="val 4865"/>
            </a:avLst>
          </a:prstGeom>
          <a:solidFill>
            <a:srgbClr val="DDF1E4"/>
          </a:solidFill>
          <a:ln/>
        </p:spPr>
      </p:sp>
      <p:sp>
        <p:nvSpPr>
          <p:cNvPr id="8" name="Text 6"/>
          <p:cNvSpPr txBox="1"/>
          <p:nvPr/>
        </p:nvSpPr>
        <p:spPr>
          <a:xfrm>
            <a:off x="502920" y="560603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ページの中身を書くHTMLとは別に、見た目だけをCSSに書くのが基本です。同じHTMLでも、CSSを入れ替えればまったく違うデザインになります。複数のページで同じCSSを使えば、見た目を一括で揃えられます。</a:t>
            </a:r>
            <a:endParaRPr lang="en-US" sz="2000" dirty="0"/>
          </a:p>
        </p:txBody>
      </p:sp>
      <p:sp>
        <p:nvSpPr>
          <p:cNvPr id="9" name="Text 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345</a:t>
            </a:fld>
            <a:endParaRPr lang="en-US"/>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name="Slide 3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CSS</a:t>
            </a:r>
            <a:endParaRPr lang="ja-JP" sz="2200" dirty="0"/>
          </a:p>
        </p:txBody>
      </p:sp>
      <p:sp>
        <p:nvSpPr>
          <p:cNvPr id="4" name="Shape 2"/>
          <p:cNvSpPr/>
          <p:nvPr/>
        </p:nvSpPr>
        <p:spPr>
          <a:xfrm>
            <a:off x="320040" y="1318514"/>
            <a:ext cx="4846320" cy="2296160"/>
          </a:xfrm>
          <a:prstGeom prst="roundRect">
            <a:avLst>
              <a:gd name="adj" fmla="val 5575"/>
            </a:avLst>
          </a:prstGeom>
          <a:solidFill>
            <a:srgbClr val="DDF1E4"/>
          </a:solidFill>
          <a:ln/>
        </p:spPr>
      </p:sp>
      <p:sp>
        <p:nvSpPr>
          <p:cNvPr id="5" name="Text 3"/>
          <p:cNvSpPr txBox="1"/>
          <p:nvPr/>
        </p:nvSpPr>
        <p:spPr>
          <a:xfrm>
            <a:off x="502920" y="14099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画面の幅に合わせて並べ方を変える（スマホは縦1列、PCは横並び、など）のもCSSの役目です。同じ部分に指定が重なったときは、優先順位（カスケード）で結果が決まります。</a:t>
            </a:r>
            <a:endParaRPr lang="en-US" sz="2000" dirty="0"/>
          </a:p>
        </p:txBody>
      </p:sp>
      <p:sp>
        <p:nvSpPr>
          <p:cNvPr id="6" name="Shape 4"/>
          <p:cNvSpPr/>
          <p:nvPr/>
        </p:nvSpPr>
        <p:spPr>
          <a:xfrm>
            <a:off x="320040" y="3687826"/>
            <a:ext cx="4846320" cy="2270760"/>
          </a:xfrm>
          <a:prstGeom prst="roundRect">
            <a:avLst>
              <a:gd name="adj" fmla="val 5638"/>
            </a:avLst>
          </a:prstGeom>
          <a:solidFill>
            <a:srgbClr val="FDEBD0"/>
          </a:solidFill>
          <a:ln/>
        </p:spPr>
      </p:sp>
      <p:sp>
        <p:nvSpPr>
          <p:cNvPr id="7" name="Text 5"/>
          <p:cNvSpPr txBox="1"/>
          <p:nvPr/>
        </p:nvSpPr>
        <p:spPr>
          <a:xfrm>
            <a:off x="502920" y="377926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制服で例えると、HTMLは「シャツ・スカートという中身（構造）」で、CSSは「色・リボン・着こなし」の指定です。着こなしを変えても、服そのものは同じです。</a:t>
            </a:r>
            <a:endParaRPr lang="en-US" sz="2000" dirty="0"/>
          </a:p>
        </p:txBody>
      </p:sp>
      <p:sp>
        <p:nvSpPr>
          <p:cNvPr id="8" name="Shape 6"/>
          <p:cNvSpPr/>
          <p:nvPr/>
        </p:nvSpPr>
        <p:spPr>
          <a:xfrm>
            <a:off x="320040" y="6141466"/>
            <a:ext cx="4846320" cy="2270760"/>
          </a:xfrm>
          <a:prstGeom prst="roundRect">
            <a:avLst>
              <a:gd name="adj" fmla="val 5638"/>
            </a:avLst>
          </a:prstGeom>
          <a:solidFill>
            <a:srgbClr val="DCE8F8"/>
          </a:solidFill>
          <a:ln/>
        </p:spPr>
      </p:sp>
      <p:sp>
        <p:nvSpPr>
          <p:cNvPr id="9" name="Text 7"/>
          <p:cNvSpPr txBox="1"/>
          <p:nvPr/>
        </p:nvSpPr>
        <p:spPr>
          <a:xfrm>
            <a:off x="502920" y="623290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サイトの文字色や背景色を変える、ボタンの角を丸くする、スマホでは1列に並べる、といった場面です。F12キーの開発者ツールなら、その場でCSSを書き換えて変化を試せます。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346</a:t>
            </a:fld>
            <a:endParaRPr lang="en-US"/>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name="Slide 3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CSS</a:t>
            </a:r>
            <a:endParaRPr lang="ja-JP" sz="2200" dirty="0"/>
          </a:p>
        </p:txBody>
      </p:sp>
      <p:sp>
        <p:nvSpPr>
          <p:cNvPr id="4" name="Shape 2"/>
          <p:cNvSpPr/>
          <p:nvPr/>
        </p:nvSpPr>
        <p:spPr>
          <a:xfrm>
            <a:off x="320040" y="1318514"/>
            <a:ext cx="4846320" cy="2270760"/>
          </a:xfrm>
          <a:prstGeom prst="roundRect">
            <a:avLst>
              <a:gd name="adj" fmla="val 5638"/>
            </a:avLst>
          </a:prstGeom>
          <a:solidFill>
            <a:srgbClr val="FBE3E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指定が重なると、書く順番や指定の詳しさで優先が決まるため、書いたのに反映されないことがあります。そんなときはF12の開発者ツールで原因を確かめます。</a:t>
            </a:r>
            <a:endParaRPr lang="en-US" sz="2000" dirty="0"/>
          </a:p>
        </p:txBody>
      </p:sp>
      <p:sp>
        <p:nvSpPr>
          <p:cNvPr id="6" name="Shape 4"/>
          <p:cNvSpPr/>
          <p:nvPr/>
        </p:nvSpPr>
        <p:spPr>
          <a:xfrm>
            <a:off x="320040" y="3772154"/>
            <a:ext cx="4846320" cy="1935480"/>
          </a:xfrm>
          <a:prstGeom prst="roundRect">
            <a:avLst>
              <a:gd name="adj" fmla="val 6614"/>
            </a:avLst>
          </a:prstGeom>
          <a:solidFill>
            <a:srgbClr val="DDF1E4"/>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HTMLは変えずにCSSだけを書き換えて、見出しの色・背景色・文字の大きさを変えてみましょう。HTMLとCSSの役割の違いが実感できます。</a:t>
            </a:r>
            <a:endParaRPr lang="en-US" sz="2000" dirty="0"/>
          </a:p>
        </p:txBody>
      </p:sp>
      <p:sp>
        <p:nvSpPr>
          <p:cNvPr id="8" name="Text 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347</a:t>
            </a:fld>
            <a:endParaRPr lang="en-US"/>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name="Slide 3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Git</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ファイルの変更履歴を自分のPC上に記録し、過去の状態に戻せる仕組み。</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自分のPCの中で動くソフトと、その履歴の保管庫（プロジェクトフォルダー内の.git）。</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Git</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GitHub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送信する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履歴を保存</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ソースコード</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変更を記録</a:t>
            </a:r>
            <a:endParaRPr lang="en-US" sz="1500" dirty="0"/>
          </a:p>
        </p:txBody>
      </p:sp>
      <p:sp>
        <p:nvSpPr>
          <p:cNvPr id="41" name="Shape 39"/>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headEnd type="triangle"/>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348</a:t>
            </a:fld>
            <a:endParaRPr lang="en-US"/>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name="Slide 3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Git</a:t>
            </a:r>
            <a:endParaRPr lang="ja-JP" sz="2200" dirty="0"/>
          </a:p>
        </p:txBody>
      </p:sp>
      <p:sp>
        <p:nvSpPr>
          <p:cNvPr id="4" name="Shape 2"/>
          <p:cNvSpPr/>
          <p:nvPr/>
        </p:nvSpPr>
        <p:spPr>
          <a:xfrm>
            <a:off x="320040" y="1318514"/>
            <a:ext cx="4846320" cy="3787648"/>
          </a:xfrm>
          <a:prstGeom prst="roundRect">
            <a:avLst>
              <a:gd name="adj" fmla="val 3380"/>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読み：ギット（分散型バージョン管理システム）</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Gitは、プログラムや文書の「いつ・何を・どう変えたか」を記録する、バージョン管理（変更履歴の管理）の仕組みです。区切りのよいところでコミット（その時点の状態の記録）を作ると、あとで過去の状態を見たり戻したりできます。</a:t>
            </a:r>
            <a:endParaRPr lang="en-US" sz="2000" dirty="0"/>
          </a:p>
        </p:txBody>
      </p:sp>
      <p:sp>
        <p:nvSpPr>
          <p:cNvPr id="7" name="Shape 5"/>
          <p:cNvSpPr/>
          <p:nvPr/>
        </p:nvSpPr>
        <p:spPr>
          <a:xfrm>
            <a:off x="320040" y="5179314"/>
            <a:ext cx="4846320" cy="2296160"/>
          </a:xfrm>
          <a:prstGeom prst="roundRect">
            <a:avLst>
              <a:gd name="adj" fmla="val 5575"/>
            </a:avLst>
          </a:prstGeom>
          <a:solidFill>
            <a:srgbClr val="DDF1E4"/>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履歴の保管庫（リポジトリ）は自分のPCの中にあるので、インターネットがなくても使えます。Gitそのものは自分のPCで動くソフトで、ネットで共有する役目は、GitHubのような別のサービスが担当します。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DDF1E4"/>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ブランチ（枝分かれ）を作れば、本流を壊さずに新しい機能を試せます。うまくいけば本流に取り込めます。操作は、記録する変更を選ぶ「git add」、記録する「git commit」などのコマンドで行います。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349</a:t>
            </a:fld>
            <a:endParaRPr lang="en-US"/>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name="Slide 3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Git</a:t>
            </a:r>
            <a:endParaRPr lang="ja-JP" sz="2200" dirty="0"/>
          </a:p>
        </p:txBody>
      </p:sp>
      <p:sp>
        <p:nvSpPr>
          <p:cNvPr id="4" name="Shape 2"/>
          <p:cNvSpPr/>
          <p:nvPr/>
        </p:nvSpPr>
        <p:spPr>
          <a:xfrm>
            <a:off x="320040" y="1318514"/>
            <a:ext cx="4846320" cy="2270760"/>
          </a:xfrm>
          <a:prstGeom prst="roundRect">
            <a:avLst>
              <a:gd name="adj" fmla="val 5638"/>
            </a:avLst>
          </a:prstGeom>
          <a:solidFill>
            <a:srgbClr val="FDEBD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ゲームのセーブ機能。節目ごとにセーブ（コミット）して名前（メッセージ）を付けておけば、失敗しても好きな地点に戻れます。セーブ先はゲーム機本体（自分のPC）です。</a:t>
            </a:r>
            <a:endParaRPr lang="en-US" sz="2000" dirty="0"/>
          </a:p>
        </p:txBody>
      </p:sp>
      <p:sp>
        <p:nvSpPr>
          <p:cNvPr id="6" name="Shape 4"/>
          <p:cNvSpPr/>
          <p:nvPr/>
        </p:nvSpPr>
        <p:spPr>
          <a:xfrm>
            <a:off x="320040" y="3772154"/>
            <a:ext cx="4846320" cy="2270760"/>
          </a:xfrm>
          <a:prstGeom prst="roundRect">
            <a:avLst>
              <a:gd name="adj" fmla="val 5638"/>
            </a:avLst>
          </a:prstGeom>
          <a:solidFill>
            <a:srgbClr val="DCE8F8"/>
          </a:solidFill>
          <a:ln/>
        </p:spPr>
      </p:sp>
      <p:sp>
        <p:nvSpPr>
          <p:cNvPr id="7" name="Text 5"/>
          <p:cNvSpPr txBox="1"/>
          <p:nvPr/>
        </p:nvSpPr>
        <p:spPr>
          <a:xfrm>
            <a:off x="502920" y="38635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自由研究のプログラムを直していて「さっき動いていた状態に戻したい」とき、コミットしておけばGitで戻せます。何人もが同じプログラムを直す開発現場でも、多く使われています。</a:t>
            </a:r>
            <a:endParaRPr lang="en-US" sz="2000" dirty="0"/>
          </a:p>
        </p:txBody>
      </p:sp>
      <p:sp>
        <p:nvSpPr>
          <p:cNvPr id="8" name="Shape 6"/>
          <p:cNvSpPr/>
          <p:nvPr/>
        </p:nvSpPr>
        <p:spPr>
          <a:xfrm>
            <a:off x="320040" y="6225794"/>
            <a:ext cx="4846320" cy="2270760"/>
          </a:xfrm>
          <a:prstGeom prst="roundRect">
            <a:avLst>
              <a:gd name="adj" fmla="val 5638"/>
            </a:avLst>
          </a:prstGeom>
          <a:solidFill>
            <a:srgbClr val="FBE3E0"/>
          </a:solidFill>
          <a:ln/>
        </p:spPr>
      </p:sp>
      <p:sp>
        <p:nvSpPr>
          <p:cNvPr id="9" name="Text 7"/>
          <p:cNvSpPr txBox="1"/>
          <p:nvPr/>
        </p:nvSpPr>
        <p:spPr>
          <a:xfrm>
            <a:off x="502920" y="631723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Gitは自分のPC上の仕組みで、GitHubとは別物です。履歴もPCの中にあるため、PCが壊れれば消えます。バックアップや、GitHubなどへの送信が別に必要です。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350</a:t>
            </a:fld>
            <a:endParaRPr lang="en-US"/>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name="Slide 3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Git</a:t>
            </a:r>
            <a:endParaRPr lang="ja-JP" sz="2200" dirty="0"/>
          </a:p>
        </p:txBody>
      </p:sp>
      <p:sp>
        <p:nvSpPr>
          <p:cNvPr id="4" name="Shape 2"/>
          <p:cNvSpPr/>
          <p:nvPr/>
        </p:nvSpPr>
        <p:spPr>
          <a:xfrm>
            <a:off x="320040" y="1318514"/>
            <a:ext cx="4846320" cy="1935480"/>
          </a:xfrm>
          <a:prstGeom prst="roundRect">
            <a:avLst>
              <a:gd name="adj" fmla="val 6614"/>
            </a:avLst>
          </a:prstGeom>
          <a:solidFill>
            <a:srgbClr val="DDF1E4"/>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Gitを入れ、練習用フォルダーで git init、ファイル作成、git add、git commit、git log と進め、履歴が増える様子を見ましょう。</a:t>
            </a:r>
            <a:endParaRPr lang="en-US" sz="2000" dirty="0"/>
          </a:p>
        </p:txBody>
      </p:sp>
      <p:sp>
        <p:nvSpPr>
          <p:cNvPr id="6" name="Text 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351</a:t>
            </a:fld>
            <a:endParaRPr lang="en-US"/>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name="Slide 3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GitHub</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Gitの履歴をインターネット上に置いて、公開・共有・共同作業ができるサービス。</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0369A1"/>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0369A1"/>
                </a:solidFill>
                <a:latin typeface="Yu Gothic" pitchFamily="34" charset="0"/>
                <a:ea typeface="Yu Gothic" pitchFamily="34" charset="-122"/>
                <a:cs typeface="Yu Gothic" pitchFamily="34" charset="-120"/>
              </a:rPr>
              <a:t>置き場所</a:t>
            </a:r>
            <a:pPr indent="0" marL="0">
              <a:buNone/>
            </a:pPr>
            <a:r>
              <a:rPr lang="ja-JP" altLang="en-US" sz="1400" dirty="0">
                <a:solidFill>
                  <a:srgbClr val="1B2A3A"/>
                </a:solidFill>
                <a:latin typeface="Yu Gothic" pitchFamily="34" charset="0"/>
                <a:ea typeface="Yu Gothic" pitchFamily="34" charset="-122"/>
                <a:cs typeface="Yu Gothic" pitchFamily="34" charset="-120"/>
              </a:rPr>
              <a:t>　サーバー室・クラウド</a:t>
            </a:r>
            <a:endParaRPr lang="en-US" sz="1400" dirty="0"/>
          </a:p>
        </p:txBody>
      </p:sp>
      <p:sp>
        <p:nvSpPr>
          <p:cNvPr id="24" name="Shape 22"/>
          <p:cNvSpPr/>
          <p:nvPr/>
        </p:nvSpPr>
        <p:spPr>
          <a:xfrm>
            <a:off x="320040" y="4509262"/>
            <a:ext cx="4846320" cy="1264920"/>
          </a:xfrm>
          <a:prstGeom prst="roundRect">
            <a:avLst>
              <a:gd name="adj" fmla="val 10120"/>
            </a:avLst>
          </a:prstGeom>
          <a:solidFill>
            <a:srgbClr val="DDF1E4"/>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インターネットの向こう側で動くWebサービス（クラウド）。ブラウザーとGitの両方から使う。</a:t>
            </a:r>
            <a:endParaRPr lang="en-US" sz="2000" dirty="0"/>
          </a:p>
        </p:txBody>
      </p:sp>
      <p:sp>
        <p:nvSpPr>
          <p:cNvPr id="26" name="Shape 24"/>
          <p:cNvSpPr/>
          <p:nvPr/>
        </p:nvSpPr>
        <p:spPr>
          <a:xfrm>
            <a:off x="320040" y="5957062"/>
            <a:ext cx="4846320" cy="402336"/>
          </a:xfrm>
          <a:prstGeom prst="roundRect">
            <a:avLst>
              <a:gd name="adj" fmla="val 22727"/>
            </a:avLst>
          </a:prstGeom>
          <a:solidFill>
            <a:srgbClr val="237A48"/>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035808"/>
          </a:xfrm>
          <a:prstGeom prst="roundRect">
            <a:avLst>
              <a:gd name="adj" fmla="val 8000"/>
            </a:avLst>
          </a:prstGeom>
          <a:solidFill>
            <a:srgbClr val="237A48"/>
          </a:solidFill>
          <a:ln/>
        </p:spPr>
      </p:sp>
      <p:sp>
        <p:nvSpPr>
          <p:cNvPr id="29" name="Text 27"/>
          <p:cNvSpPr txBox="1"/>
          <p:nvPr/>
        </p:nvSpPr>
        <p:spPr>
          <a:xfrm>
            <a:off x="411480" y="641426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GitHub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0" name="Shape 28"/>
          <p:cNvSpPr/>
          <p:nvPr/>
        </p:nvSpPr>
        <p:spPr>
          <a:xfrm>
            <a:off x="3566160" y="6414262"/>
            <a:ext cx="1600200" cy="676656"/>
          </a:xfrm>
          <a:prstGeom prst="roundRect">
            <a:avLst>
              <a:gd name="adj" fmla="val 16216"/>
            </a:avLst>
          </a:prstGeom>
          <a:solidFill>
            <a:srgbClr val="DDF1E4"/>
          </a:solidFill>
          <a:ln w="25400">
            <a:solidFill>
              <a:srgbClr val="237A48"/>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2" name="Shape 30"/>
          <p:cNvSpPr/>
          <p:nvPr/>
        </p:nvSpPr>
        <p:spPr>
          <a:xfrm flipH="1">
            <a:off x="1719072" y="6752590"/>
            <a:ext cx="1819656" cy="0"/>
          </a:xfrm>
          <a:prstGeom prst="line">
            <a:avLst/>
          </a:prstGeom>
          <a:noFill/>
          <a:ln w="31750">
            <a:solidFill>
              <a:srgbClr val="1B2A3A"/>
            </a:solidFill>
            <a:prstDash val="solid"/>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4" name="Shape 32"/>
          <p:cNvSpPr/>
          <p:nvPr/>
        </p:nvSpPr>
        <p:spPr>
          <a:xfrm>
            <a:off x="3566160" y="7200646"/>
            <a:ext cx="1600200" cy="676656"/>
          </a:xfrm>
          <a:prstGeom prst="roundRect">
            <a:avLst>
              <a:gd name="adj" fmla="val 16216"/>
            </a:avLst>
          </a:prstGeom>
          <a:solidFill>
            <a:srgbClr val="DFF1FB"/>
          </a:solidFill>
          <a:ln w="25400">
            <a:solidFill>
              <a:srgbClr val="0369A1"/>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38" name="Shape 36"/>
          <p:cNvSpPr/>
          <p:nvPr/>
        </p:nvSpPr>
        <p:spPr>
          <a:xfrm>
            <a:off x="3566160" y="7987030"/>
            <a:ext cx="1600200" cy="676656"/>
          </a:xfrm>
          <a:prstGeom prst="roundRect">
            <a:avLst>
              <a:gd name="adj" fmla="val 16216"/>
            </a:avLst>
          </a:prstGeom>
          <a:solidFill>
            <a:srgbClr val="E6E1F7"/>
          </a:solidFill>
          <a:ln w="25400">
            <a:solidFill>
              <a:srgbClr val="5B46B8"/>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0" name="Shape 38"/>
          <p:cNvSpPr/>
          <p:nvPr/>
        </p:nvSpPr>
        <p:spPr>
          <a:xfrm>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コードを渡す</a:t>
            </a:r>
            <a:endParaRPr lang="en-US" sz="1500" dirty="0"/>
          </a:p>
        </p:txBody>
      </p:sp>
      <p:sp>
        <p:nvSpPr>
          <p:cNvPr id="42" name="Shape 40"/>
          <p:cNvSpPr/>
          <p:nvPr/>
        </p:nvSpPr>
        <p:spPr>
          <a:xfrm>
            <a:off x="3566160" y="8773414"/>
            <a:ext cx="1600200" cy="676656"/>
          </a:xfrm>
          <a:prstGeom prst="roundRect">
            <a:avLst>
              <a:gd name="adj" fmla="val 16216"/>
            </a:avLst>
          </a:prstGeom>
          <a:solidFill>
            <a:srgbClr val="E2E8F0"/>
          </a:solidFill>
          <a:ln w="25400">
            <a:solidFill>
              <a:srgbClr val="475569"/>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共同開発者</a:t>
            </a:r>
            <a:endParaRPr lang="en-US" sz="1500" dirty="0"/>
          </a:p>
        </p:txBody>
      </p:sp>
      <p:sp>
        <p:nvSpPr>
          <p:cNvPr id="44" name="Shape 42"/>
          <p:cNvSpPr/>
          <p:nvPr/>
        </p:nvSpPr>
        <p:spPr>
          <a:xfrm>
            <a:off x="1719072" y="9111742"/>
            <a:ext cx="1819656" cy="0"/>
          </a:xfrm>
          <a:prstGeom prst="line">
            <a:avLst/>
          </a:prstGeom>
          <a:noFill/>
          <a:ln w="31750">
            <a:solidFill>
              <a:srgbClr val="1B2A3A"/>
            </a:solidFill>
            <a:prstDash val="solid"/>
            <a:headEnd type="triangle"/>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共同作業</a:t>
            </a:r>
            <a:endParaRPr lang="en-US" sz="1500" dirty="0"/>
          </a:p>
        </p:txBody>
      </p:sp>
      <p:sp>
        <p:nvSpPr>
          <p:cNvPr id="46" name="Text 4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352</a:t>
            </a:fld>
            <a:endParaRPr lang="en-US"/>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name="Slide 3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GitHub</a:t>
            </a:r>
            <a:endParaRPr lang="ja-JP" sz="2200" dirty="0"/>
          </a:p>
        </p:txBody>
      </p:sp>
      <p:sp>
        <p:nvSpPr>
          <p:cNvPr id="4" name="Shape 2"/>
          <p:cNvSpPr/>
          <p:nvPr/>
        </p:nvSpPr>
        <p:spPr>
          <a:xfrm>
            <a:off x="320040" y="1318514"/>
            <a:ext cx="4846320" cy="3787648"/>
          </a:xfrm>
          <a:prstGeom prst="roundRect">
            <a:avLst>
              <a:gd name="adj" fmla="val 3380"/>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読み：ギットハブ（Gitの履歴をネットで共有するサービス）</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GitHubは、Gitで記録した履歴を、インターネット上のサーバーに預けて共有するWebサービスです。自分のPCの中にあるGitに対して、GitHubは「ネット上の置き場所」です。名前は似ていますが、別のものです。</a:t>
            </a:r>
            <a:endParaRPr lang="en-US" sz="2000" dirty="0"/>
          </a:p>
        </p:txBody>
      </p:sp>
      <p:sp>
        <p:nvSpPr>
          <p:cNvPr id="7" name="Shape 5"/>
          <p:cNvSpPr/>
          <p:nvPr/>
        </p:nvSpPr>
        <p:spPr>
          <a:xfrm>
            <a:off x="320040" y="5179314"/>
            <a:ext cx="4846320" cy="1960880"/>
          </a:xfrm>
          <a:prstGeom prst="roundRect">
            <a:avLst>
              <a:gd name="adj" fmla="val 6528"/>
            </a:avLst>
          </a:prstGeom>
          <a:solidFill>
            <a:srgbClr val="DDF1E4"/>
          </a:solidFill>
          <a:ln/>
        </p:spPr>
      </p:sp>
      <p:sp>
        <p:nvSpPr>
          <p:cNvPr id="8" name="Text 6"/>
          <p:cNvSpPr txBox="1"/>
          <p:nvPr/>
        </p:nvSpPr>
        <p:spPr>
          <a:xfrm>
            <a:off x="502920" y="5270754"/>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手元の履歴を送る（push）、ネット上の最新を取り込む（pull）、公開された内容を丸ごとコピーする（clone）といった操作で、複数人が同じプロジェクトを進められます。</a:t>
            </a:r>
            <a:endParaRPr lang="en-US" sz="2000" dirty="0"/>
          </a:p>
        </p:txBody>
      </p:sp>
      <p:sp>
        <p:nvSpPr>
          <p:cNvPr id="9" name="Shape 7"/>
          <p:cNvSpPr/>
          <p:nvPr/>
        </p:nvSpPr>
        <p:spPr>
          <a:xfrm>
            <a:off x="320040" y="7213346"/>
            <a:ext cx="4846320" cy="1960880"/>
          </a:xfrm>
          <a:prstGeom prst="roundRect">
            <a:avLst>
              <a:gd name="adj" fmla="val 6528"/>
            </a:avLst>
          </a:prstGeom>
          <a:solidFill>
            <a:srgbClr val="DDF1E4"/>
          </a:solidFill>
          <a:ln/>
        </p:spPr>
      </p:sp>
      <p:sp>
        <p:nvSpPr>
          <p:cNvPr id="10" name="Text 8"/>
          <p:cNvSpPr txBox="1"/>
          <p:nvPr/>
        </p:nvSpPr>
        <p:spPr>
          <a:xfrm>
            <a:off x="502920" y="730478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変更の取り込みをお願いする「プルリクエスト」や、作業・不具合を管理する「イシュー」の機能もあります。リポジトリは、公開か非公開かを選べます。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353</a:t>
            </a:fld>
            <a:endParaRPr lang="en-US"/>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name="Slide 3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GitHub</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ゲーム機本体のセーブ（Git）を、ネット上の共有ロッカー（GitHub）にもアップするイメージ。友達にも見せられ、みんなで同じ作品の続きを作れます。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友達とアプリを作るとき、お互いの変更をGitHubに集めます。ほかにも、作品を公開する、オープンソース（誰でも使えるよう公開されたソフト）のコードを読む、といった場面で使います。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Gitが記録の仕組み、GitHubがネット上の共有サービスで、別物です。公開リポジトリは誰でも見られます。パスワードを入れて公開すると、後で消しても履歴に残ります。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練習用のリポジトリを作り、個人情報を含まない小さなファイルを置いて、ブラウザー上で編集し、履歴（コミット）が残る様子を見てみましょう。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354</a:t>
            </a:fld>
            <a:endParaRPr lang="en-US"/>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データ分析</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データを整理・集計し、傾向や関係を見つけて、判断の材料にすること。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3" name="Shape 21"/>
          <p:cNvSpPr/>
          <p:nvPr/>
        </p:nvSpPr>
        <p:spPr>
          <a:xfrm>
            <a:off x="320040" y="4234942"/>
            <a:ext cx="4846320" cy="1264920"/>
          </a:xfrm>
          <a:prstGeom prst="roundRect">
            <a:avLst>
              <a:gd name="adj" fmla="val 10120"/>
            </a:avLst>
          </a:prstGeom>
          <a:solidFill>
            <a:srgbClr val="DDF1E4"/>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ExcelやPythonなどのアプリでデータを処理して結論を出す、データ活用の作業。</a:t>
            </a:r>
            <a:endParaRPr lang="en-US" sz="2000" dirty="0"/>
          </a:p>
        </p:txBody>
      </p:sp>
      <p:sp>
        <p:nvSpPr>
          <p:cNvPr id="25" name="Shape 23"/>
          <p:cNvSpPr/>
          <p:nvPr/>
        </p:nvSpPr>
        <p:spPr>
          <a:xfrm>
            <a:off x="320040" y="5682742"/>
            <a:ext cx="4846320" cy="402336"/>
          </a:xfrm>
          <a:prstGeom prst="roundRect">
            <a:avLst>
              <a:gd name="adj" fmla="val 22727"/>
            </a:avLst>
          </a:prstGeom>
          <a:solidFill>
            <a:srgbClr val="237A48"/>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237A48"/>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データ分析</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29" name="Shape 27"/>
          <p:cNvSpPr/>
          <p:nvPr/>
        </p:nvSpPr>
        <p:spPr>
          <a:xfrm>
            <a:off x="3566160" y="6139942"/>
            <a:ext cx="1600200" cy="676656"/>
          </a:xfrm>
          <a:prstGeom prst="roundRect">
            <a:avLst>
              <a:gd name="adj" fmla="val 16216"/>
            </a:avLst>
          </a:prstGeom>
          <a:solidFill>
            <a:srgbClr val="DDF1E4"/>
          </a:solidFill>
          <a:ln w="25400">
            <a:solidFill>
              <a:srgbClr val="237A48"/>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集計を支える</a:t>
            </a:r>
            <a:endParaRPr lang="en-US" sz="1500" dirty="0"/>
          </a:p>
        </p:txBody>
      </p:sp>
      <p:sp>
        <p:nvSpPr>
          <p:cNvPr id="33" name="Shape 31"/>
          <p:cNvSpPr/>
          <p:nvPr/>
        </p:nvSpPr>
        <p:spPr>
          <a:xfrm>
            <a:off x="3566160" y="6926326"/>
            <a:ext cx="1600200" cy="676656"/>
          </a:xfrm>
          <a:prstGeom prst="roundRect">
            <a:avLst>
              <a:gd name="adj" fmla="val 16216"/>
            </a:avLst>
          </a:prstGeom>
          <a:solidFill>
            <a:srgbClr val="E6E1F7"/>
          </a:solidFill>
          <a:ln w="25400">
            <a:solidFill>
              <a:srgbClr val="5B46B8"/>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抽出する</a:t>
            </a:r>
            <a:endParaRPr lang="en-US" sz="1500" dirty="0"/>
          </a:p>
        </p:txBody>
      </p:sp>
      <p:sp>
        <p:nvSpPr>
          <p:cNvPr id="37" name="Shape 35"/>
          <p:cNvSpPr/>
          <p:nvPr/>
        </p:nvSpPr>
        <p:spPr>
          <a:xfrm>
            <a:off x="3566160" y="7712710"/>
            <a:ext cx="1600200" cy="676656"/>
          </a:xfrm>
          <a:prstGeom prst="roundRect">
            <a:avLst>
              <a:gd name="adj" fmla="val 16216"/>
            </a:avLst>
          </a:prstGeom>
          <a:solidFill>
            <a:srgbClr val="DCE8F8"/>
          </a:solidFill>
          <a:ln w="25400">
            <a:solidFill>
              <a:srgbClr val="2F6BC2"/>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ログ</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材料になる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DDF1E4"/>
          </a:solidFill>
          <a:ln w="25400">
            <a:solidFill>
              <a:srgbClr val="237A48"/>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機械学習</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3" name="Shape 41"/>
          <p:cNvSpPr/>
          <p:nvPr/>
        </p:nvSpPr>
        <p:spPr>
          <a:xfrm flipH="1">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手法の一つ</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355</a:t>
            </a:fld>
            <a:endParaRPr lang="en-US"/>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データ分析</a:t>
            </a:r>
            <a:endParaRPr lang="ja-JP" sz="2200" dirty="0"/>
          </a:p>
        </p:txBody>
      </p:sp>
      <p:sp>
        <p:nvSpPr>
          <p:cNvPr id="4" name="Shape 2"/>
          <p:cNvSpPr/>
          <p:nvPr/>
        </p:nvSpPr>
        <p:spPr>
          <a:xfrm>
            <a:off x="320040" y="1318514"/>
            <a:ext cx="4846320" cy="3787648"/>
          </a:xfrm>
          <a:prstGeom prst="roundRect">
            <a:avLst>
              <a:gd name="adj" fmla="val 3380"/>
            </a:avLst>
          </a:prstGeom>
          <a:solidFill>
            <a:srgbClr val="DDF1E4"/>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読み：Data Analysis（データ・アナリシス）</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データ分析は、集めたデータから「何が起きているか」「なぜか」を調べる作業です。ふつう、①知りたいことを決める、②データを集める、③使える形に整える、④集計・グラフ化する、⑤結果から考える、の順に進めます。</a:t>
            </a:r>
            <a:endParaRPr lang="en-US" sz="2000" dirty="0"/>
          </a:p>
        </p:txBody>
      </p:sp>
      <p:sp>
        <p:nvSpPr>
          <p:cNvPr id="7" name="Shape 5"/>
          <p:cNvSpPr/>
          <p:nvPr/>
        </p:nvSpPr>
        <p:spPr>
          <a:xfrm>
            <a:off x="320040" y="5179314"/>
            <a:ext cx="4846320" cy="2296160"/>
          </a:xfrm>
          <a:prstGeom prst="roundRect">
            <a:avLst>
              <a:gd name="adj" fmla="val 5575"/>
            </a:avLst>
          </a:prstGeom>
          <a:solidFill>
            <a:srgbClr val="DDF1E4"/>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③の「整える」作業（欠けた値や入力ミス、表記のゆれの修正）は、意外に手間がかかります。④は平均や件数などの要約と、グラフで全体を見る作業で、ExcelやPython、SQLなどを使います。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DDF1E4"/>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グラフを作っただけでは分析になりません。「だから何か」「次に何をするか」を言葉にして、はじめて判断に使えます。機械学習は、データから予測までを自動で行う方法で、分析と深く関わります。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356</a:t>
            </a:fld>
            <a:endParaRPr lang="en-US"/>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name="Slide 3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データ分析</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探偵の捜査。現場のばらばらな証拠（データ）を集めて整理し、共通点を見つけて「犯人はこうだ」と説明できる形（考察）にまとめます。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文化祭のアンケートから学年別の人気企画を比べる、部活の記録から勝てた試合の共通点を探す、お店が曜日別の売上から仕入れる量を決める、といった場面です。</a:t>
            </a:r>
            <a:endParaRPr lang="en-US" sz="2000" dirty="0"/>
          </a:p>
        </p:txBody>
      </p:sp>
      <p:sp>
        <p:nvSpPr>
          <p:cNvPr id="8" name="Shape 6"/>
          <p:cNvSpPr/>
          <p:nvPr/>
        </p:nvSpPr>
        <p:spPr>
          <a:xfrm>
            <a:off x="320040" y="5890514"/>
            <a:ext cx="4846320" cy="1935480"/>
          </a:xfrm>
          <a:prstGeom prst="roundRect">
            <a:avLst>
              <a:gd name="adj" fmla="val 6614"/>
            </a:avLst>
          </a:prstGeom>
          <a:solidFill>
            <a:srgbClr val="FBE3E0"/>
          </a:solidFill>
          <a:ln/>
        </p:spPr>
      </p:sp>
      <p:sp>
        <p:nvSpPr>
          <p:cNvPr id="9" name="Text 7"/>
          <p:cNvSpPr txBox="1"/>
          <p:nvPr/>
        </p:nvSpPr>
        <p:spPr>
          <a:xfrm>
            <a:off x="502920" y="5981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「一緒に増減する」ことと「原因」は別です。アイスの売上とプールの客が同じ日に増えても、アイスが客を増やしたのではなく、暑さが両方の原因です。</a:t>
            </a:r>
            <a:endParaRPr lang="en-US" sz="2000" dirty="0"/>
          </a:p>
        </p:txBody>
      </p:sp>
      <p:sp>
        <p:nvSpPr>
          <p:cNvPr id="10" name="Shape 8"/>
          <p:cNvSpPr/>
          <p:nvPr/>
        </p:nvSpPr>
        <p:spPr>
          <a:xfrm>
            <a:off x="320040" y="8008874"/>
            <a:ext cx="4846320" cy="1600200"/>
          </a:xfrm>
          <a:prstGeom prst="roundRect">
            <a:avLst>
              <a:gd name="adj" fmla="val 8000"/>
            </a:avLst>
          </a:prstGeom>
          <a:solidFill>
            <a:srgbClr val="DDF1E4"/>
          </a:solidFill>
          <a:ln/>
        </p:spPr>
      </p:sp>
      <p:sp>
        <p:nvSpPr>
          <p:cNvPr id="11" name="Text 9"/>
          <p:cNvSpPr txBox="1"/>
          <p:nvPr/>
        </p:nvSpPr>
        <p:spPr>
          <a:xfrm>
            <a:off x="502920" y="810031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自分の1週間の睡眠時間と勉強時間を表にし、Excelで平均とグラフを出して、気づいたことを一文で書いてみましょう。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357</a:t>
            </a:fld>
            <a:endParaRPr lang="en-US"/>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name="Slide 3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ログ</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システムやアプリの動き・エラーを、時刻つきで書き残した記録。</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2F6BC2"/>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5B46B8"/>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237A48"/>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5B46B8"/>
                </a:solidFill>
                <a:latin typeface="Yu Gothic" pitchFamily="34" charset="0"/>
                <a:ea typeface="Yu Gothic" pitchFamily="34" charset="-122"/>
                <a:cs typeface="Yu Gothic" pitchFamily="34" charset="-120"/>
              </a:rPr>
              <a:t>ミドルウェア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アプリを支える土台のソフト</a:t>
            </a:r>
            <a:endParaRPr lang="en-US" sz="1400" dirty="0"/>
          </a:p>
        </p:txBody>
      </p:sp>
      <p:sp>
        <p:nvSpPr>
          <p:cNvPr id="24" name="Text 22"/>
          <p:cNvSpPr txBox="1"/>
          <p:nvPr/>
        </p:nvSpPr>
        <p:spPr>
          <a:xfrm>
            <a:off x="365760" y="4308094"/>
            <a:ext cx="4754880" cy="274320"/>
          </a:xfrm>
          <a:prstGeom prst="rect">
            <a:avLst/>
          </a:prstGeom>
          <a:noFill/>
          <a:ln/>
        </p:spPr>
        <p:txBody>
          <a:bodyPr wrap="square" lIns="0" tIns="0" rIns="0" bIns="0" rtlCol="0" anchor="ctr"/>
          <a:lstStyle/>
          <a:p>
            <a:pPr indent="0" marL="0">
              <a:buNone/>
            </a:pPr>
            <a:r>
              <a:rPr lang="ja-JP" altLang="en-US" sz="1400" b="1" dirty="0">
                <a:solidFill>
                  <a:srgbClr val="237A48"/>
                </a:solidFill>
                <a:latin typeface="Yu Gothic" pitchFamily="34" charset="0"/>
                <a:ea typeface="Yu Gothic" pitchFamily="34" charset="-122"/>
                <a:cs typeface="Yu Gothic" pitchFamily="34" charset="-120"/>
              </a:rPr>
              <a:t>アプリ</a:t>
            </a:r>
            <a:pPr indent="0" marL="0">
              <a:buNone/>
            </a:pPr>
            <a:r>
              <a:rPr lang="ja-JP" altLang="en-US" sz="1400" dirty="0">
                <a:solidFill>
                  <a:srgbClr val="1B2A3A"/>
                </a:solidFill>
                <a:latin typeface="Yu Gothic" pitchFamily="34" charset="0"/>
                <a:ea typeface="Yu Gothic" pitchFamily="34" charset="-122"/>
                <a:cs typeface="Yu Gothic" pitchFamily="34" charset="-120"/>
              </a:rPr>
              <a:t>　使う人・作る人が直接さわるソフト</a:t>
            </a:r>
            <a:endParaRPr lang="en-US" sz="1400" dirty="0"/>
          </a:p>
        </p:txBody>
      </p:sp>
      <p:sp>
        <p:nvSpPr>
          <p:cNvPr id="25" name="Shape 23"/>
          <p:cNvSpPr/>
          <p:nvPr/>
        </p:nvSpPr>
        <p:spPr>
          <a:xfrm>
            <a:off x="320040" y="4783582"/>
            <a:ext cx="4846320" cy="1264920"/>
          </a:xfrm>
          <a:prstGeom prst="roundRect">
            <a:avLst>
              <a:gd name="adj" fmla="val 10120"/>
            </a:avLst>
          </a:prstGeom>
          <a:solidFill>
            <a:srgbClr val="DCE8F8"/>
          </a:solidFill>
          <a:ln/>
        </p:spPr>
      </p:sp>
      <p:sp>
        <p:nvSpPr>
          <p:cNvPr id="26" name="Text 24"/>
          <p:cNvSpPr txBox="1"/>
          <p:nvPr/>
        </p:nvSpPr>
        <p:spPr>
          <a:xfrm>
            <a:off x="502920" y="487502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OS・ミドルウェア・アプリが、自分の動きを書き出す記録ファイル。</a:t>
            </a:r>
            <a:endParaRPr lang="en-US" sz="2000" dirty="0"/>
          </a:p>
        </p:txBody>
      </p:sp>
      <p:sp>
        <p:nvSpPr>
          <p:cNvPr id="27" name="Shape 25"/>
          <p:cNvSpPr/>
          <p:nvPr/>
        </p:nvSpPr>
        <p:spPr>
          <a:xfrm>
            <a:off x="320040" y="6231382"/>
            <a:ext cx="4846320" cy="402336"/>
          </a:xfrm>
          <a:prstGeom prst="roundRect">
            <a:avLst>
              <a:gd name="adj" fmla="val 22727"/>
            </a:avLst>
          </a:prstGeom>
          <a:solidFill>
            <a:srgbClr val="2F6BC2"/>
          </a:solidFill>
          <a:ln/>
        </p:spPr>
      </p:sp>
      <p:sp>
        <p:nvSpPr>
          <p:cNvPr id="28" name="Text 26"/>
          <p:cNvSpPr txBox="1"/>
          <p:nvPr/>
        </p:nvSpPr>
        <p:spPr>
          <a:xfrm>
            <a:off x="411480" y="623138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9" name="Shape 27"/>
          <p:cNvSpPr/>
          <p:nvPr/>
        </p:nvSpPr>
        <p:spPr>
          <a:xfrm>
            <a:off x="320040" y="6688582"/>
            <a:ext cx="1371600" cy="3035808"/>
          </a:xfrm>
          <a:prstGeom prst="roundRect">
            <a:avLst>
              <a:gd name="adj" fmla="val 8000"/>
            </a:avLst>
          </a:prstGeom>
          <a:solidFill>
            <a:srgbClr val="2F6BC2"/>
          </a:solidFill>
          <a:ln/>
        </p:spPr>
      </p:sp>
      <p:sp>
        <p:nvSpPr>
          <p:cNvPr id="30" name="Text 28"/>
          <p:cNvSpPr txBox="1"/>
          <p:nvPr/>
        </p:nvSpPr>
        <p:spPr>
          <a:xfrm>
            <a:off x="411480" y="668858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ログ</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31" name="Shape 29"/>
          <p:cNvSpPr/>
          <p:nvPr/>
        </p:nvSpPr>
        <p:spPr>
          <a:xfrm>
            <a:off x="3566160" y="6688582"/>
            <a:ext cx="1600200" cy="676656"/>
          </a:xfrm>
          <a:prstGeom prst="roundRect">
            <a:avLst>
              <a:gd name="adj" fmla="val 16216"/>
            </a:avLst>
          </a:prstGeom>
          <a:solidFill>
            <a:srgbClr val="DCE8F8"/>
          </a:solidFill>
          <a:ln w="25400">
            <a:solidFill>
              <a:srgbClr val="2F6BC2"/>
            </a:solidFill>
            <a:prstDash val="solid"/>
          </a:ln>
        </p:spPr>
      </p:sp>
      <p:sp>
        <p:nvSpPr>
          <p:cNvPr id="32" name="Text 30"/>
          <p:cNvSpPr txBox="1"/>
          <p:nvPr/>
        </p:nvSpPr>
        <p:spPr>
          <a:xfrm>
            <a:off x="3657600" y="668858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3" name="Shape 31"/>
          <p:cNvSpPr/>
          <p:nvPr/>
        </p:nvSpPr>
        <p:spPr>
          <a:xfrm flipH="1">
            <a:off x="1719072" y="7026910"/>
            <a:ext cx="1819656" cy="0"/>
          </a:xfrm>
          <a:prstGeom prst="line">
            <a:avLst/>
          </a:prstGeom>
          <a:noFill/>
          <a:ln w="31750">
            <a:solidFill>
              <a:srgbClr val="1B2A3A"/>
            </a:solidFill>
            <a:prstDash val="solid"/>
            <a:tailEnd type="triangle"/>
          </a:ln>
        </p:spPr>
      </p:sp>
      <p:sp>
        <p:nvSpPr>
          <p:cNvPr id="34" name="Text 32"/>
          <p:cNvSpPr txBox="1"/>
          <p:nvPr/>
        </p:nvSpPr>
        <p:spPr>
          <a:xfrm>
            <a:off x="1700784" y="672515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記録を書く</a:t>
            </a:r>
            <a:endParaRPr lang="en-US" sz="1500" dirty="0"/>
          </a:p>
        </p:txBody>
      </p:sp>
      <p:sp>
        <p:nvSpPr>
          <p:cNvPr id="35" name="Shape 33"/>
          <p:cNvSpPr/>
          <p:nvPr/>
        </p:nvSpPr>
        <p:spPr>
          <a:xfrm>
            <a:off x="3566160" y="7474966"/>
            <a:ext cx="1600200" cy="676656"/>
          </a:xfrm>
          <a:prstGeom prst="roundRect">
            <a:avLst>
              <a:gd name="adj" fmla="val 16216"/>
            </a:avLst>
          </a:prstGeom>
          <a:solidFill>
            <a:srgbClr val="E6E1F7"/>
          </a:solidFill>
          <a:ln w="25400">
            <a:solidFill>
              <a:srgbClr val="5B46B8"/>
            </a:solidFill>
            <a:prstDash val="solid"/>
          </a:ln>
        </p:spPr>
      </p:sp>
      <p:sp>
        <p:nvSpPr>
          <p:cNvPr id="36" name="Text 34"/>
          <p:cNvSpPr txBox="1"/>
          <p:nvPr/>
        </p:nvSpPr>
        <p:spPr>
          <a:xfrm>
            <a:off x="3657600" y="747496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5"/>
          <p:cNvSpPr/>
          <p:nvPr/>
        </p:nvSpPr>
        <p:spPr>
          <a:xfrm flipH="1">
            <a:off x="1719072" y="7813294"/>
            <a:ext cx="1819656" cy="0"/>
          </a:xfrm>
          <a:prstGeom prst="line">
            <a:avLst/>
          </a:prstGeom>
          <a:noFill/>
          <a:ln w="31750">
            <a:solidFill>
              <a:srgbClr val="1B2A3A"/>
            </a:solidFill>
            <a:prstDash val="solid"/>
            <a:tailEnd type="triangle"/>
          </a:ln>
        </p:spPr>
      </p:sp>
      <p:sp>
        <p:nvSpPr>
          <p:cNvPr id="38" name="Text 36"/>
          <p:cNvSpPr txBox="1"/>
          <p:nvPr/>
        </p:nvSpPr>
        <p:spPr>
          <a:xfrm>
            <a:off x="1700784" y="751154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記録を書く</a:t>
            </a:r>
            <a:endParaRPr lang="en-US" sz="1500" dirty="0"/>
          </a:p>
        </p:txBody>
      </p:sp>
      <p:sp>
        <p:nvSpPr>
          <p:cNvPr id="39" name="Shape 37"/>
          <p:cNvSpPr/>
          <p:nvPr/>
        </p:nvSpPr>
        <p:spPr>
          <a:xfrm>
            <a:off x="3566160" y="8261350"/>
            <a:ext cx="1600200" cy="676656"/>
          </a:xfrm>
          <a:prstGeom prst="roundRect">
            <a:avLst>
              <a:gd name="adj" fmla="val 16216"/>
            </a:avLst>
          </a:prstGeom>
          <a:solidFill>
            <a:srgbClr val="E6E1F7"/>
          </a:solidFill>
          <a:ln w="25400">
            <a:solidFill>
              <a:srgbClr val="5B46B8"/>
            </a:solidFill>
            <a:prstDash val="solid"/>
          </a:ln>
        </p:spPr>
      </p:sp>
      <p:sp>
        <p:nvSpPr>
          <p:cNvPr id="40" name="Text 38"/>
          <p:cNvSpPr txBox="1"/>
          <p:nvPr/>
        </p:nvSpPr>
        <p:spPr>
          <a:xfrm>
            <a:off x="3657600" y="826135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1" name="Shape 39"/>
          <p:cNvSpPr/>
          <p:nvPr/>
        </p:nvSpPr>
        <p:spPr>
          <a:xfrm flipH="1">
            <a:off x="1719072" y="8599678"/>
            <a:ext cx="1819656" cy="0"/>
          </a:xfrm>
          <a:prstGeom prst="line">
            <a:avLst/>
          </a:prstGeom>
          <a:noFill/>
          <a:ln w="31750">
            <a:solidFill>
              <a:srgbClr val="1B2A3A"/>
            </a:solidFill>
            <a:prstDash val="solid"/>
            <a:tailEnd type="triangle"/>
          </a:ln>
        </p:spPr>
      </p:sp>
      <p:sp>
        <p:nvSpPr>
          <p:cNvPr id="42" name="Text 40"/>
          <p:cNvSpPr txBox="1"/>
          <p:nvPr/>
        </p:nvSpPr>
        <p:spPr>
          <a:xfrm>
            <a:off x="1700784" y="829792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アクセス記録</a:t>
            </a:r>
            <a:endParaRPr lang="en-US" sz="1500" dirty="0"/>
          </a:p>
        </p:txBody>
      </p:sp>
      <p:sp>
        <p:nvSpPr>
          <p:cNvPr id="43" name="Shape 41"/>
          <p:cNvSpPr/>
          <p:nvPr/>
        </p:nvSpPr>
        <p:spPr>
          <a:xfrm>
            <a:off x="3566160" y="9047734"/>
            <a:ext cx="1600200" cy="676656"/>
          </a:xfrm>
          <a:prstGeom prst="roundRect">
            <a:avLst>
              <a:gd name="adj" fmla="val 16216"/>
            </a:avLst>
          </a:prstGeom>
          <a:solidFill>
            <a:srgbClr val="DDF1E4"/>
          </a:solidFill>
          <a:ln w="25400">
            <a:solidFill>
              <a:srgbClr val="237A48"/>
            </a:solidFill>
            <a:prstDash val="solid"/>
          </a:ln>
        </p:spPr>
      </p:sp>
      <p:sp>
        <p:nvSpPr>
          <p:cNvPr id="44" name="Text 42"/>
          <p:cNvSpPr txBox="1"/>
          <p:nvPr/>
        </p:nvSpPr>
        <p:spPr>
          <a:xfrm>
            <a:off x="3657600" y="904773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3"/>
          <p:cNvSpPr/>
          <p:nvPr/>
        </p:nvSpPr>
        <p:spPr>
          <a:xfrm>
            <a:off x="1719072" y="9386062"/>
            <a:ext cx="1819656" cy="0"/>
          </a:xfrm>
          <a:prstGeom prst="line">
            <a:avLst/>
          </a:prstGeom>
          <a:noFill/>
          <a:ln w="31750">
            <a:solidFill>
              <a:srgbClr val="1B2A3A"/>
            </a:solidFill>
            <a:prstDash val="solid"/>
            <a:tailEnd type="triangle"/>
          </a:ln>
        </p:spPr>
      </p:sp>
      <p:sp>
        <p:nvSpPr>
          <p:cNvPr id="46" name="Text 44"/>
          <p:cNvSpPr txBox="1"/>
          <p:nvPr/>
        </p:nvSpPr>
        <p:spPr>
          <a:xfrm>
            <a:off x="1700784" y="908431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材料になる</a:t>
            </a:r>
            <a:endParaRPr lang="en-US" sz="1500" dirty="0"/>
          </a:p>
        </p:txBody>
      </p:sp>
      <p:sp>
        <p:nvSpPr>
          <p:cNvPr id="47" name="Text 4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358</a:t>
            </a:fld>
            <a:endParaRPr lang="en-US"/>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name="Slide 3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ログ</a:t>
            </a:r>
            <a:endParaRPr lang="ja-JP" sz="2200" dirty="0"/>
          </a:p>
        </p:txBody>
      </p:sp>
      <p:sp>
        <p:nvSpPr>
          <p:cNvPr id="4" name="Shape 2"/>
          <p:cNvSpPr/>
          <p:nvPr/>
        </p:nvSpPr>
        <p:spPr>
          <a:xfrm>
            <a:off x="320040" y="1318514"/>
            <a:ext cx="4846320" cy="3117088"/>
          </a:xfrm>
          <a:prstGeom prst="roundRect">
            <a:avLst>
              <a:gd name="adj" fmla="val 4107"/>
            </a:avLst>
          </a:prstGeom>
          <a:solidFill>
            <a:srgbClr val="DCE8F8"/>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読み：log（ログ）・動作の記録</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ログは、コンピューターの中で「いつ・どこで・何が起きたか」を、時刻つきで一行ずつ書き足していく記録です。OS・ミドルウェア・アプリが、それぞれ自分の動きをログファイルに書き出します。</a:t>
            </a:r>
            <a:endParaRPr lang="en-US" sz="2000" dirty="0"/>
          </a:p>
        </p:txBody>
      </p:sp>
      <p:sp>
        <p:nvSpPr>
          <p:cNvPr id="7" name="Shape 5"/>
          <p:cNvSpPr/>
          <p:nvPr/>
        </p:nvSpPr>
        <p:spPr>
          <a:xfrm>
            <a:off x="320040" y="4508754"/>
            <a:ext cx="4846320" cy="2631440"/>
          </a:xfrm>
          <a:prstGeom prst="roundRect">
            <a:avLst>
              <a:gd name="adj" fmla="val 4865"/>
            </a:avLst>
          </a:prstGeom>
          <a:solidFill>
            <a:srgbClr val="DCE8F8"/>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種類は、動作の記録、エラーの記録、Webサーバーのアクセスログ（誰がいつどのページを見に来たか）などです。重要度を、INFO（通常）、WARN（注意）、ERROR（失敗）のように書き分けるのが一般的です。</a:t>
            </a:r>
            <a:endParaRPr lang="en-US" sz="2000" dirty="0"/>
          </a:p>
        </p:txBody>
      </p:sp>
      <p:sp>
        <p:nvSpPr>
          <p:cNvPr id="9" name="Shape 7"/>
          <p:cNvSpPr/>
          <p:nvPr/>
        </p:nvSpPr>
        <p:spPr>
          <a:xfrm>
            <a:off x="320040" y="7213346"/>
            <a:ext cx="4846320" cy="2296160"/>
          </a:xfrm>
          <a:prstGeom prst="roundRect">
            <a:avLst>
              <a:gd name="adj" fmla="val 5575"/>
            </a:avLst>
          </a:prstGeom>
          <a:solidFill>
            <a:srgbClr val="DCE8F8"/>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不具合が起きたとき、ログがなければ原因は推測するしかありません。ログがあれば、エラーが起きた時刻の直前に何があったかをたどれます。不正アクセスの調査や、利用状況の分析にも使います。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359</a:t>
            </a:fld>
            <a:endParaRPr lang="en-US"/>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name="Slide 3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ログ</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荷物の追跡履歴。「集荷、仕分け、配達中」と時刻つきで残るので、届かないときにどこで止まったかをたどれます。</a:t>
            </a:r>
            <a:endParaRPr lang="en-US" sz="2000" dirty="0"/>
          </a:p>
        </p:txBody>
      </p:sp>
      <p:sp>
        <p:nvSpPr>
          <p:cNvPr id="6" name="Shape 4"/>
          <p:cNvSpPr/>
          <p:nvPr/>
        </p:nvSpPr>
        <p:spPr>
          <a:xfrm>
            <a:off x="320040" y="3101594"/>
            <a:ext cx="4846320" cy="2270760"/>
          </a:xfrm>
          <a:prstGeom prst="roundRect">
            <a:avLst>
              <a:gd name="adj" fmla="val 5638"/>
            </a:avLst>
          </a:prstGeom>
          <a:solidFill>
            <a:srgbClr val="DCE8F8"/>
          </a:solidFill>
          <a:ln/>
        </p:spPr>
      </p:sp>
      <p:sp>
        <p:nvSpPr>
          <p:cNvPr id="7" name="Text 5"/>
          <p:cNvSpPr txBox="1"/>
          <p:nvPr/>
        </p:nvSpPr>
        <p:spPr>
          <a:xfrm>
            <a:off x="502920" y="319303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アプリが突然終了したとき、Windowsなら「イベントビューアー」でOSのログを見られます。サーバーの担当者は、障害が起きるとまずエラーのログを開いて原因を探します。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ログは量が多く、全部は読めません。まず「ERROR」や「例外」の文字と、問題が起きた時刻で絞ります。パスワードなどの秘密情報をログに出さない注意も必要です。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Windowsの「イベントビューアー」を開き、アプリやシステムの「エラー」「警告」を探して、時刻と内容を読んでみましょう。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360</a:t>
            </a:fld>
            <a:endParaRPr lang="en-US"/>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name="Slide 3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1/4</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バックアップ</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データを失ったときに戻せるよう、別の場所にコピーを保管しておくこと。</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1B2A3A"/>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2F6BC2"/>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EEF1F5"/>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3" name="Text 21"/>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2F6BC2"/>
                </a:solidFill>
                <a:latin typeface="Yu Gothic" pitchFamily="34" charset="0"/>
                <a:ea typeface="Yu Gothic" pitchFamily="34" charset="-122"/>
                <a:cs typeface="Yu Gothic" pitchFamily="34" charset="-120"/>
              </a:rPr>
              <a:t>OS</a:t>
            </a:r>
            <a:pPr indent="0" marL="0">
              <a:buNone/>
            </a:pPr>
            <a:r>
              <a:rPr lang="ja-JP" altLang="en-US" sz="1400" dirty="0">
                <a:solidFill>
                  <a:srgbClr val="1B2A3A"/>
                </a:solidFill>
                <a:latin typeface="Yu Gothic" pitchFamily="34" charset="0"/>
                <a:ea typeface="Yu Gothic" pitchFamily="34" charset="-122"/>
                <a:cs typeface="Yu Gothic" pitchFamily="34" charset="-120"/>
              </a:rPr>
              <a:t>　機械を動かす基本ソフト</a:t>
            </a:r>
            <a:endParaRPr lang="en-US" sz="1400" dirty="0"/>
          </a:p>
        </p:txBody>
      </p:sp>
      <p:sp>
        <p:nvSpPr>
          <p:cNvPr id="24" name="Shape 22"/>
          <p:cNvSpPr/>
          <p:nvPr/>
        </p:nvSpPr>
        <p:spPr>
          <a:xfrm>
            <a:off x="320040" y="4509262"/>
            <a:ext cx="4846320" cy="1264920"/>
          </a:xfrm>
          <a:prstGeom prst="roundRect">
            <a:avLst>
              <a:gd name="adj" fmla="val 10120"/>
            </a:avLst>
          </a:prstGeom>
          <a:solidFill>
            <a:srgbClr val="E2E8F0"/>
          </a:solidFill>
          <a:ln/>
        </p:spPr>
      </p:sp>
      <p:sp>
        <p:nvSpPr>
          <p:cNvPr id="25" name="Text 23"/>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データの複製を、元とは別のストレージや場所に置いておく運用。ハードとOSにまたがる。</a:t>
            </a:r>
            <a:endParaRPr lang="en-US" sz="2000" dirty="0"/>
          </a:p>
        </p:txBody>
      </p:sp>
      <p:sp>
        <p:nvSpPr>
          <p:cNvPr id="26" name="Shape 24"/>
          <p:cNvSpPr/>
          <p:nvPr/>
        </p:nvSpPr>
        <p:spPr>
          <a:xfrm>
            <a:off x="320040" y="5957062"/>
            <a:ext cx="4846320" cy="402336"/>
          </a:xfrm>
          <a:prstGeom prst="roundRect">
            <a:avLst>
              <a:gd name="adj" fmla="val 22727"/>
            </a:avLst>
          </a:prstGeom>
          <a:solidFill>
            <a:srgbClr val="475569"/>
          </a:solidFill>
          <a:ln/>
        </p:spPr>
      </p:sp>
      <p:sp>
        <p:nvSpPr>
          <p:cNvPr id="27" name="Text 25"/>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8" name="Shape 26"/>
          <p:cNvSpPr/>
          <p:nvPr/>
        </p:nvSpPr>
        <p:spPr>
          <a:xfrm>
            <a:off x="320040" y="6414262"/>
            <a:ext cx="1371600" cy="3822192"/>
          </a:xfrm>
          <a:prstGeom prst="roundRect">
            <a:avLst>
              <a:gd name="adj" fmla="val 8000"/>
            </a:avLst>
          </a:prstGeom>
          <a:solidFill>
            <a:srgbClr val="475569"/>
          </a:solidFill>
          <a:ln/>
        </p:spPr>
      </p:sp>
      <p:sp>
        <p:nvSpPr>
          <p:cNvPr id="29" name="Text 27"/>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バックアップ</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8"/>
          <p:cNvSpPr/>
          <p:nvPr/>
        </p:nvSpPr>
        <p:spPr>
          <a:xfrm>
            <a:off x="3566160" y="6414262"/>
            <a:ext cx="1600200" cy="676656"/>
          </a:xfrm>
          <a:prstGeom prst="roundRect">
            <a:avLst>
              <a:gd name="adj" fmla="val 16216"/>
            </a:avLst>
          </a:prstGeom>
          <a:solidFill>
            <a:srgbClr val="E2E8F0"/>
          </a:solidFill>
          <a:ln w="25400">
            <a:solidFill>
              <a:srgbClr val="475569"/>
            </a:solidFill>
            <a:prstDash val="solid"/>
          </a:ln>
        </p:spPr>
      </p:sp>
      <p:sp>
        <p:nvSpPr>
          <p:cNvPr id="31" name="Text 29"/>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30"/>
          <p:cNvSpPr/>
          <p:nvPr/>
        </p:nvSpPr>
        <p:spPr>
          <a:xfrm>
            <a:off x="1719072" y="6752590"/>
            <a:ext cx="1819656" cy="0"/>
          </a:xfrm>
          <a:prstGeom prst="line">
            <a:avLst/>
          </a:prstGeom>
          <a:noFill/>
          <a:ln w="31750">
            <a:solidFill>
              <a:srgbClr val="1B2A3A"/>
            </a:solidFill>
            <a:prstDash val="solid"/>
            <a:headEnd type="triangle"/>
            <a:tailEnd type="triangle"/>
          </a:ln>
        </p:spPr>
      </p:sp>
      <p:sp>
        <p:nvSpPr>
          <p:cNvPr id="33" name="Text 31"/>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4" name="Shape 32"/>
          <p:cNvSpPr/>
          <p:nvPr/>
        </p:nvSpPr>
        <p:spPr>
          <a:xfrm>
            <a:off x="3566160" y="7200646"/>
            <a:ext cx="1600200" cy="676656"/>
          </a:xfrm>
          <a:prstGeom prst="roundRect">
            <a:avLst>
              <a:gd name="adj" fmla="val 16216"/>
            </a:avLst>
          </a:prstGeom>
          <a:solidFill>
            <a:srgbClr val="E2E8F0"/>
          </a:solidFill>
          <a:ln w="25400">
            <a:solidFill>
              <a:srgbClr val="475569"/>
            </a:solidFill>
            <a:prstDash val="solid"/>
          </a:ln>
        </p:spPr>
      </p:sp>
      <p:sp>
        <p:nvSpPr>
          <p:cNvPr id="35" name="Text 33"/>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4"/>
          <p:cNvSpPr/>
          <p:nvPr/>
        </p:nvSpPr>
        <p:spPr>
          <a:xfrm>
            <a:off x="1719072" y="7538974"/>
            <a:ext cx="1819656" cy="0"/>
          </a:xfrm>
          <a:prstGeom prst="line">
            <a:avLst/>
          </a:prstGeom>
          <a:noFill/>
          <a:ln w="31750">
            <a:solidFill>
              <a:srgbClr val="1B2A3A"/>
            </a:solidFill>
            <a:prstDash val="solid"/>
            <a:tailEnd type="triangle"/>
          </a:ln>
        </p:spPr>
      </p:sp>
      <p:sp>
        <p:nvSpPr>
          <p:cNvPr id="37" name="Text 35"/>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複製を置く</a:t>
            </a:r>
            <a:endParaRPr lang="en-US" sz="1500" dirty="0"/>
          </a:p>
        </p:txBody>
      </p:sp>
      <p:sp>
        <p:nvSpPr>
          <p:cNvPr id="38" name="Shape 36"/>
          <p:cNvSpPr/>
          <p:nvPr/>
        </p:nvSpPr>
        <p:spPr>
          <a:xfrm>
            <a:off x="3566160" y="7987030"/>
            <a:ext cx="1600200" cy="676656"/>
          </a:xfrm>
          <a:prstGeom prst="roundRect">
            <a:avLst>
              <a:gd name="adj" fmla="val 16216"/>
            </a:avLst>
          </a:prstGeom>
          <a:solidFill>
            <a:srgbClr val="DFF1FB"/>
          </a:solidFill>
          <a:ln w="25400">
            <a:solidFill>
              <a:srgbClr val="0369A1"/>
            </a:solidFill>
            <a:prstDash val="solid"/>
          </a:ln>
        </p:spPr>
      </p:sp>
      <p:sp>
        <p:nvSpPr>
          <p:cNvPr id="39" name="Text 37"/>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0" name="Shape 38"/>
          <p:cNvSpPr/>
          <p:nvPr/>
        </p:nvSpPr>
        <p:spPr>
          <a:xfrm flipH="1">
            <a:off x="1719072" y="8325358"/>
            <a:ext cx="1819656" cy="0"/>
          </a:xfrm>
          <a:prstGeom prst="line">
            <a:avLst/>
          </a:prstGeom>
          <a:noFill/>
          <a:ln w="31750">
            <a:solidFill>
              <a:srgbClr val="1B2A3A"/>
            </a:solidFill>
            <a:prstDash val="solid"/>
            <a:tailEnd type="triangle"/>
          </a:ln>
        </p:spPr>
      </p:sp>
      <p:sp>
        <p:nvSpPr>
          <p:cNvPr id="41" name="Text 39"/>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保管先になる</a:t>
            </a:r>
            <a:endParaRPr lang="en-US" sz="1500" dirty="0"/>
          </a:p>
        </p:txBody>
      </p:sp>
      <p:sp>
        <p:nvSpPr>
          <p:cNvPr id="42" name="Shape 40"/>
          <p:cNvSpPr/>
          <p:nvPr/>
        </p:nvSpPr>
        <p:spPr>
          <a:xfrm>
            <a:off x="3566160" y="8773414"/>
            <a:ext cx="1600200" cy="676656"/>
          </a:xfrm>
          <a:prstGeom prst="roundRect">
            <a:avLst>
              <a:gd name="adj" fmla="val 16216"/>
            </a:avLst>
          </a:prstGeom>
          <a:solidFill>
            <a:srgbClr val="DCE8F8"/>
          </a:solidFill>
          <a:ln w="25400">
            <a:solidFill>
              <a:srgbClr val="2F6BC2"/>
            </a:solidFill>
            <a:prstDash val="solid"/>
          </a:ln>
        </p:spPr>
      </p:sp>
      <p:sp>
        <p:nvSpPr>
          <p:cNvPr id="43" name="Text 41"/>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4" name="Shape 42"/>
          <p:cNvSpPr/>
          <p:nvPr/>
        </p:nvSpPr>
        <p:spPr>
          <a:xfrm flipH="1">
            <a:off x="1719072" y="9111742"/>
            <a:ext cx="1819656" cy="0"/>
          </a:xfrm>
          <a:prstGeom prst="line">
            <a:avLst/>
          </a:prstGeom>
          <a:noFill/>
          <a:ln w="31750">
            <a:solidFill>
              <a:srgbClr val="1B2A3A"/>
            </a:solidFill>
            <a:prstDash val="solid"/>
            <a:tailEnd type="triangle"/>
          </a:ln>
        </p:spPr>
      </p:sp>
      <p:sp>
        <p:nvSpPr>
          <p:cNvPr id="45" name="Text 43"/>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機能を備える</a:t>
            </a:r>
            <a:endParaRPr lang="en-US" sz="1500" dirty="0"/>
          </a:p>
        </p:txBody>
      </p:sp>
      <p:sp>
        <p:nvSpPr>
          <p:cNvPr id="46" name="Shape 44"/>
          <p:cNvSpPr/>
          <p:nvPr/>
        </p:nvSpPr>
        <p:spPr>
          <a:xfrm>
            <a:off x="3566160" y="9559798"/>
            <a:ext cx="1600200" cy="676656"/>
          </a:xfrm>
          <a:prstGeom prst="roundRect">
            <a:avLst>
              <a:gd name="adj" fmla="val 16216"/>
            </a:avLst>
          </a:prstGeom>
          <a:solidFill>
            <a:srgbClr val="DDF1E4"/>
          </a:solidFill>
          <a:ln w="25400">
            <a:solidFill>
              <a:srgbClr val="237A48"/>
            </a:solidFill>
            <a:prstDash val="solid"/>
          </a:ln>
        </p:spPr>
      </p:sp>
      <p:sp>
        <p:nvSpPr>
          <p:cNvPr id="47" name="Text 45"/>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8" name="Shape 46"/>
          <p:cNvSpPr/>
          <p:nvPr/>
        </p:nvSpPr>
        <p:spPr>
          <a:xfrm>
            <a:off x="1719072" y="9898126"/>
            <a:ext cx="1819656" cy="0"/>
          </a:xfrm>
          <a:prstGeom prst="line">
            <a:avLst/>
          </a:prstGeom>
          <a:noFill/>
          <a:ln w="31750">
            <a:solidFill>
              <a:srgbClr val="1B2A3A"/>
            </a:solidFill>
            <a:prstDash val="solid"/>
            <a:headEnd type="triangle"/>
            <a:tailEnd type="triangle"/>
          </a:ln>
        </p:spPr>
      </p:sp>
      <p:sp>
        <p:nvSpPr>
          <p:cNvPr id="49" name="Text 47"/>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50" name="Text 4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361</a:t>
            </a:fld>
            <a:endParaRPr lang="en-US"/>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2/4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バックアップ</a:t>
            </a:r>
            <a:endParaRPr lang="ja-JP" sz="2200" dirty="0"/>
          </a:p>
        </p:txBody>
      </p:sp>
      <p:sp>
        <p:nvSpPr>
          <p:cNvPr id="4" name="Shape 2"/>
          <p:cNvSpPr/>
          <p:nvPr/>
        </p:nvSpPr>
        <p:spPr>
          <a:xfrm>
            <a:off x="320040" y="1318514"/>
            <a:ext cx="4846320" cy="3787648"/>
          </a:xfrm>
          <a:prstGeom prst="roundRect">
            <a:avLst>
              <a:gd name="adj" fmla="val 3380"/>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読み：backup（バックアップ）・複製の保管</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バックアップは、データの複製（コピー）を、元とは別の場所に保管しておくことです。故障、うっかり削除、ウイルスで壊された、といったときに、保管したコピーから元に戻せます。この作業を復元（リストア）といいます。</a:t>
            </a:r>
            <a:endParaRPr lang="en-US" sz="2000" dirty="0"/>
          </a:p>
        </p:txBody>
      </p:sp>
      <p:sp>
        <p:nvSpPr>
          <p:cNvPr id="7" name="Shape 5"/>
          <p:cNvSpPr/>
          <p:nvPr/>
        </p:nvSpPr>
        <p:spPr>
          <a:xfrm>
            <a:off x="320040" y="5179314"/>
            <a:ext cx="4846320" cy="3302000"/>
          </a:xfrm>
          <a:prstGeom prst="roundRect">
            <a:avLst>
              <a:gd name="adj" fmla="val 3877"/>
            </a:avLst>
          </a:prstGeom>
          <a:solidFill>
            <a:srgbClr val="E2E8F0"/>
          </a:solidFill>
          <a:ln/>
        </p:spPr>
      </p:sp>
      <p:sp>
        <p:nvSpPr>
          <p:cNvPr id="8" name="Text 6"/>
          <p:cNvSpPr txBox="1"/>
          <p:nvPr/>
        </p:nvSpPr>
        <p:spPr>
          <a:xfrm>
            <a:off x="502920" y="5270754"/>
            <a:ext cx="4480560" cy="31556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毎回すべてをコピーする「フルバックアップ」と、変更分だけをコピーして時間と容量を節約する「差分」「増分」があります。保管先は、別のSSDやHDD、NAS、クラウドストレージなどです。コピー3つ・保存先の種類2つ・1つは離れた場所に置く「3-2-1ルール」が知られています。</a:t>
            </a:r>
            <a:endParaRPr lang="en-US" sz="2000" dirty="0"/>
          </a:p>
        </p:txBody>
      </p:sp>
      <p:sp>
        <p:nvSpPr>
          <p:cNvPr id="9" name="Text 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362</a:t>
            </a:fld>
            <a:endParaRPr lang="en-US"/>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3/4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バックアップ</a:t>
            </a:r>
            <a:endParaRPr lang="ja-JP" sz="2200" dirty="0"/>
          </a:p>
        </p:txBody>
      </p:sp>
      <p:sp>
        <p:nvSpPr>
          <p:cNvPr id="4" name="Shape 2"/>
          <p:cNvSpPr/>
          <p:nvPr/>
        </p:nvSpPr>
        <p:spPr>
          <a:xfrm>
            <a:off x="320040" y="1318514"/>
            <a:ext cx="4846320" cy="2296160"/>
          </a:xfrm>
          <a:prstGeom prst="roundRect">
            <a:avLst>
              <a:gd name="adj" fmla="val 5575"/>
            </a:avLst>
          </a:prstGeom>
          <a:solidFill>
            <a:srgbClr val="E2E8F0"/>
          </a:solidFill>
          <a:ln/>
        </p:spPr>
      </p:sp>
      <p:sp>
        <p:nvSpPr>
          <p:cNvPr id="5" name="Text 3"/>
          <p:cNvSpPr txBox="1"/>
          <p:nvPr/>
        </p:nvSpPr>
        <p:spPr>
          <a:xfrm>
            <a:off x="502920" y="14099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コピーを取っただけでは安心できません。実際に復元できるか試して、はじめて役に立ちます。クラウドの同期フォルダーは、消した操作まで反映されることがあり、バックアップの代わりにはなりません。</a:t>
            </a:r>
            <a:endParaRPr lang="en-US" sz="2000" dirty="0"/>
          </a:p>
        </p:txBody>
      </p:sp>
      <p:sp>
        <p:nvSpPr>
          <p:cNvPr id="6" name="Shape 4"/>
          <p:cNvSpPr/>
          <p:nvPr/>
        </p:nvSpPr>
        <p:spPr>
          <a:xfrm>
            <a:off x="320040" y="3687826"/>
            <a:ext cx="4846320" cy="1935480"/>
          </a:xfrm>
          <a:prstGeom prst="roundRect">
            <a:avLst>
              <a:gd name="adj" fmla="val 6614"/>
            </a:avLst>
          </a:prstGeom>
          <a:solidFill>
            <a:srgbClr val="FDEBD0"/>
          </a:solidFill>
          <a:ln/>
        </p:spPr>
      </p:sp>
      <p:sp>
        <p:nvSpPr>
          <p:cNvPr id="7" name="Text 5"/>
          <p:cNvSpPr txBox="1"/>
          <p:nvPr/>
        </p:nvSpPr>
        <p:spPr>
          <a:xfrm>
            <a:off x="502920" y="3779266"/>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大事な書類のコピーを、別の部屋や貸し金庫にも保管しておくこと。家が火事になっても、離れた場所のコピーから書類を作り直せます。</a:t>
            </a:r>
            <a:endParaRPr lang="en-US" sz="2000" dirty="0"/>
          </a:p>
        </p:txBody>
      </p:sp>
      <p:sp>
        <p:nvSpPr>
          <p:cNvPr id="8" name="Shape 6"/>
          <p:cNvSpPr/>
          <p:nvPr/>
        </p:nvSpPr>
        <p:spPr>
          <a:xfrm>
            <a:off x="320040" y="5806186"/>
            <a:ext cx="4846320" cy="2270760"/>
          </a:xfrm>
          <a:prstGeom prst="roundRect">
            <a:avLst>
              <a:gd name="adj" fmla="val 5638"/>
            </a:avLst>
          </a:prstGeom>
          <a:solidFill>
            <a:srgbClr val="DCE8F8"/>
          </a:solidFill>
          <a:ln/>
        </p:spPr>
      </p:sp>
      <p:sp>
        <p:nvSpPr>
          <p:cNvPr id="9" name="Text 7"/>
          <p:cNvSpPr txBox="1"/>
          <p:nvPr/>
        </p:nvSpPr>
        <p:spPr>
          <a:xfrm>
            <a:off x="502920" y="5897626"/>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レポートのファイルを間違えて上書きした、PCが急に起動しなくなった、ランサムウェア（データを勝手に暗号化してお金を要求するウイルス）に感染した、といった場面で効きます。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363</a:t>
            </a:fld>
            <a:endParaRPr lang="en-US"/>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name="Slide 3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47700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　4/4</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バックアップ</a:t>
            </a:r>
            <a:endParaRPr lang="ja-JP" sz="2200" dirty="0"/>
          </a:p>
        </p:txBody>
      </p:sp>
      <p:sp>
        <p:nvSpPr>
          <p:cNvPr id="4" name="Shape 2"/>
          <p:cNvSpPr/>
          <p:nvPr/>
        </p:nvSpPr>
        <p:spPr>
          <a:xfrm>
            <a:off x="320040" y="1318514"/>
            <a:ext cx="4846320" cy="2270760"/>
          </a:xfrm>
          <a:prstGeom prst="roundRect">
            <a:avLst>
              <a:gd name="adj" fmla="val 5638"/>
            </a:avLst>
          </a:prstGeom>
          <a:solidFill>
            <a:srgbClr val="FBE3E0"/>
          </a:solidFill>
          <a:ln/>
        </p:spPr>
      </p:sp>
      <p:sp>
        <p:nvSpPr>
          <p:cNvPr id="5" name="Text 3"/>
          <p:cNvSpPr txBox="1"/>
          <p:nvPr/>
        </p:nvSpPr>
        <p:spPr>
          <a:xfrm>
            <a:off x="502920" y="1409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RAID（ドライブ故障への備え）は、消したデータも全部に反映します。誤削除や攻撃からの復旧はバックアップの役目で、別物です。RAIDがあっても必要です。</a:t>
            </a:r>
            <a:endParaRPr lang="en-US" sz="2000" dirty="0"/>
          </a:p>
        </p:txBody>
      </p:sp>
      <p:sp>
        <p:nvSpPr>
          <p:cNvPr id="6" name="Shape 4"/>
          <p:cNvSpPr/>
          <p:nvPr/>
        </p:nvSpPr>
        <p:spPr>
          <a:xfrm>
            <a:off x="320040" y="3772154"/>
            <a:ext cx="4846320" cy="1935480"/>
          </a:xfrm>
          <a:prstGeom prst="roundRect">
            <a:avLst>
              <a:gd name="adj" fmla="val 6614"/>
            </a:avLst>
          </a:prstGeom>
          <a:solidFill>
            <a:srgbClr val="DDF1E4"/>
          </a:solidFill>
          <a:ln/>
        </p:spPr>
      </p:sp>
      <p:sp>
        <p:nvSpPr>
          <p:cNvPr id="7" name="Text 5"/>
          <p:cNvSpPr txBox="1"/>
          <p:nvPr/>
        </p:nvSpPr>
        <p:spPr>
          <a:xfrm>
            <a:off x="502920" y="3863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大事なファイルを一つ選び、別のドライブやクラウドにコピーしましょう。そのコピーを別のフォルダーに戻して開けるか（復元）まで確かめます。</a:t>
            </a:r>
            <a:endParaRPr lang="en-US" sz="2000" dirty="0"/>
          </a:p>
        </p:txBody>
      </p:sp>
      <p:sp>
        <p:nvSpPr>
          <p:cNvPr id="8" name="Text 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364</a:t>
            </a:fld>
            <a:endParaRPr lang="en-US"/>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name="Slide 3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HTMLは構造、CSSは見た目</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同じページでも、「中身の構造」と「見た目の飾り」を別々に書きます。（例は説明用）</a:t>
            </a:r>
            <a:endParaRPr lang="en-US" sz="1800" dirty="0"/>
          </a:p>
        </p:txBody>
      </p:sp>
      <p:sp>
        <p:nvSpPr>
          <p:cNvPr id="7" name="Shape 5"/>
          <p:cNvSpPr/>
          <p:nvPr/>
        </p:nvSpPr>
        <p:spPr>
          <a:xfrm>
            <a:off x="320040" y="2515870"/>
            <a:ext cx="4846320" cy="502920"/>
          </a:xfrm>
          <a:prstGeom prst="roundRect">
            <a:avLst>
              <a:gd name="adj" fmla="val 18182"/>
            </a:avLst>
          </a:prstGeom>
          <a:solidFill>
            <a:srgbClr val="475569"/>
          </a:solidFill>
          <a:ln/>
        </p:spPr>
      </p:sp>
      <p:sp>
        <p:nvSpPr>
          <p:cNvPr id="8" name="Shape 6"/>
          <p:cNvSpPr/>
          <p:nvPr/>
        </p:nvSpPr>
        <p:spPr>
          <a:xfrm>
            <a:off x="448056" y="2607310"/>
            <a:ext cx="320040" cy="32004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518465" y="2677719"/>
            <a:ext cx="179222" cy="179222"/>
          </a:xfrm>
          <a:prstGeom prst="rect">
            <a:avLst/>
          </a:prstGeom>
        </p:spPr>
      </p:pic>
      <p:sp>
        <p:nvSpPr>
          <p:cNvPr id="10" name="Text 7"/>
          <p:cNvSpPr txBox="1"/>
          <p:nvPr/>
        </p:nvSpPr>
        <p:spPr>
          <a:xfrm>
            <a:off x="859536" y="2515870"/>
            <a:ext cx="4215384"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HTML：構造</a:t>
            </a:r>
            <a:endParaRPr lang="en-US" sz="2000" dirty="0"/>
          </a:p>
        </p:txBody>
      </p:sp>
      <p:sp>
        <p:nvSpPr>
          <p:cNvPr id="11" name="Shape 8"/>
          <p:cNvSpPr/>
          <p:nvPr/>
        </p:nvSpPr>
        <p:spPr>
          <a:xfrm>
            <a:off x="320040" y="3174238"/>
            <a:ext cx="4846320" cy="822960"/>
          </a:xfrm>
          <a:prstGeom prst="roundRect">
            <a:avLst>
              <a:gd name="adj" fmla="val 13333"/>
            </a:avLst>
          </a:prstGeom>
          <a:solidFill>
            <a:srgbClr val="0F2438"/>
          </a:solidFill>
          <a:ln/>
        </p:spPr>
      </p:sp>
      <p:sp>
        <p:nvSpPr>
          <p:cNvPr id="12" name="Text 9"/>
          <p:cNvSpPr txBox="1"/>
          <p:nvPr/>
        </p:nvSpPr>
        <p:spPr>
          <a:xfrm>
            <a:off x="502920" y="3283966"/>
            <a:ext cx="4480560" cy="603504"/>
          </a:xfrm>
          <a:prstGeom prst="rect">
            <a:avLst/>
          </a:prstGeom>
          <a:noFill/>
          <a:ln/>
        </p:spPr>
        <p:txBody>
          <a:bodyPr wrap="square" lIns="0" tIns="0" rIns="0" bIns="0" rtlCol="0" anchor="t"/>
          <a:lstStyle/>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&lt;h1&gt;自己紹介&lt;/h1&gt;</a:t>
            </a:r>
            <a:endParaRPr lang="en-US" sz="1600" dirty="0"/>
          </a:p>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&lt;p&gt;はじめまして。&lt;/p&gt;</a:t>
            </a:r>
            <a:endParaRPr lang="en-US" sz="1600" dirty="0"/>
          </a:p>
        </p:txBody>
      </p:sp>
      <p:sp>
        <p:nvSpPr>
          <p:cNvPr id="13" name="Shape 10"/>
          <p:cNvSpPr/>
          <p:nvPr/>
        </p:nvSpPr>
        <p:spPr>
          <a:xfrm>
            <a:off x="320040" y="4180078"/>
            <a:ext cx="4846320" cy="502920"/>
          </a:xfrm>
          <a:prstGeom prst="roundRect">
            <a:avLst>
              <a:gd name="adj" fmla="val 18182"/>
            </a:avLst>
          </a:prstGeom>
          <a:solidFill>
            <a:srgbClr val="B45309"/>
          </a:solidFill>
          <a:ln/>
        </p:spPr>
      </p:sp>
      <p:sp>
        <p:nvSpPr>
          <p:cNvPr id="14" name="Shape 11"/>
          <p:cNvSpPr/>
          <p:nvPr/>
        </p:nvSpPr>
        <p:spPr>
          <a:xfrm>
            <a:off x="448056" y="4271518"/>
            <a:ext cx="320040" cy="32004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518465" y="4341927"/>
            <a:ext cx="179222" cy="179222"/>
          </a:xfrm>
          <a:prstGeom prst="rect">
            <a:avLst/>
          </a:prstGeom>
        </p:spPr>
      </p:pic>
      <p:sp>
        <p:nvSpPr>
          <p:cNvPr id="16" name="Text 12"/>
          <p:cNvSpPr txBox="1"/>
          <p:nvPr/>
        </p:nvSpPr>
        <p:spPr>
          <a:xfrm>
            <a:off x="859536" y="4180078"/>
            <a:ext cx="4215384"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CSS：見た目</a:t>
            </a:r>
            <a:endParaRPr lang="en-US" sz="2000" dirty="0"/>
          </a:p>
        </p:txBody>
      </p:sp>
      <p:sp>
        <p:nvSpPr>
          <p:cNvPr id="17" name="Shape 13"/>
          <p:cNvSpPr/>
          <p:nvPr/>
        </p:nvSpPr>
        <p:spPr>
          <a:xfrm>
            <a:off x="320040" y="4838446"/>
            <a:ext cx="4846320" cy="1097280"/>
          </a:xfrm>
          <a:prstGeom prst="roundRect">
            <a:avLst>
              <a:gd name="adj" fmla="val 10000"/>
            </a:avLst>
          </a:prstGeom>
          <a:solidFill>
            <a:srgbClr val="0F2438"/>
          </a:solidFill>
          <a:ln/>
        </p:spPr>
      </p:sp>
      <p:sp>
        <p:nvSpPr>
          <p:cNvPr id="18" name="Text 14"/>
          <p:cNvSpPr txBox="1"/>
          <p:nvPr/>
        </p:nvSpPr>
        <p:spPr>
          <a:xfrm>
            <a:off x="502920" y="4948174"/>
            <a:ext cx="4480560" cy="877824"/>
          </a:xfrm>
          <a:prstGeom prst="rect">
            <a:avLst/>
          </a:prstGeom>
          <a:noFill/>
          <a:ln/>
        </p:spPr>
        <p:txBody>
          <a:bodyPr wrap="square" lIns="0" tIns="0" rIns="0" bIns="0" rtlCol="0" anchor="t"/>
          <a:lstStyle/>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h1 {</a:t>
            </a:r>
            <a:endParaRPr lang="en-US" sz="1600" dirty="0"/>
          </a:p>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  color: blue;</a:t>
            </a:r>
            <a:endParaRPr lang="en-US" sz="1600" dirty="0"/>
          </a:p>
          <a:p>
            <a:pPr indent="0" marL="0">
              <a:lnSpc>
                <a:spcPts val="2200"/>
              </a:lnSpc>
              <a:buNone/>
            </a:pPr>
            <a:r>
              <a:rPr lang="en-US" altLang="en-US" sz="1600" dirty="0">
                <a:solidFill>
                  <a:srgbClr val="E2E8F0"/>
                </a:solidFill>
                <a:latin typeface="Courier New" pitchFamily="34" charset="0"/>
                <a:ea typeface="Courier New" pitchFamily="34" charset="-122"/>
                <a:cs typeface="Courier New" pitchFamily="34" charset="-120"/>
              </a:rPr>
              <a:t>}</a:t>
            </a:r>
            <a:endParaRPr lang="en-US" sz="1600" dirty="0"/>
          </a:p>
        </p:txBody>
      </p:sp>
      <p:sp>
        <p:nvSpPr>
          <p:cNvPr id="19" name="Shape 15"/>
          <p:cNvSpPr/>
          <p:nvPr/>
        </p:nvSpPr>
        <p:spPr>
          <a:xfrm>
            <a:off x="320040" y="6118606"/>
            <a:ext cx="4846320" cy="1280160"/>
          </a:xfrm>
          <a:prstGeom prst="roundRect">
            <a:avLst>
              <a:gd name="adj" fmla="val 8571"/>
            </a:avLst>
          </a:prstGeom>
          <a:solidFill>
            <a:srgbClr val="DCE8F8"/>
          </a:solidFill>
          <a:ln w="19050">
            <a:solidFill>
              <a:srgbClr val="2F6BC2"/>
            </a:solidFill>
            <a:prstDash val="solid"/>
          </a:ln>
        </p:spPr>
      </p:sp>
      <p:sp>
        <p:nvSpPr>
          <p:cNvPr id="20" name="Shape 16"/>
          <p:cNvSpPr/>
          <p:nvPr/>
        </p:nvSpPr>
        <p:spPr>
          <a:xfrm>
            <a:off x="457200" y="6530086"/>
            <a:ext cx="457200" cy="457200"/>
          </a:xfrm>
          <a:prstGeom prst="ellipse">
            <a:avLst/>
          </a:prstGeom>
          <a:solidFill>
            <a:srgbClr val="2F6BC2"/>
          </a:solidFill>
          <a:ln/>
        </p:spPr>
      </p:sp>
      <p:pic>
        <p:nvPicPr>
          <p:cNvPr id="21" name="Image 2" descr="preencoded.png">    </p:cNvPr>
          <p:cNvPicPr>
            <a:picLocks noChangeAspect="1"/>
          </p:cNvPicPr>
          <p:nvPr/>
        </p:nvPicPr>
        <p:blipFill>
          <a:blip r:embed="rId3"/>
          <a:stretch>
            <a:fillRect/>
          </a:stretch>
        </p:blipFill>
        <p:spPr>
          <a:xfrm>
            <a:off x="557784" y="6630670"/>
            <a:ext cx="256032" cy="256032"/>
          </a:xfrm>
          <a:prstGeom prst="rect">
            <a:avLst/>
          </a:prstGeom>
        </p:spPr>
      </p:pic>
      <p:sp>
        <p:nvSpPr>
          <p:cNvPr id="22" name="Text 17"/>
          <p:cNvSpPr txBox="1"/>
          <p:nvPr/>
        </p:nvSpPr>
        <p:spPr>
          <a:xfrm>
            <a:off x="1051560" y="6164326"/>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HTMLで「何を載せるか」を決め、CSSで「どう見せるか」を決めます。</a:t>
            </a:r>
            <a:endParaRPr lang="en-US" sz="2000" dirty="0"/>
          </a:p>
        </p:txBody>
      </p:sp>
      <p:sp>
        <p:nvSpPr>
          <p:cNvPr id="23" name="Text 1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365</a:t>
            </a:fld>
            <a:endParaRPr lang="en-US"/>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GitとGitHubの関係</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Gitは自分のPCで変更履歴を記録する仕組み、GitHubはそれをネット上で共有するサービスです。</a:t>
            </a:r>
            <a:endParaRPr lang="en-US" sz="1800" dirty="0"/>
          </a:p>
        </p:txBody>
      </p:sp>
      <p:sp>
        <p:nvSpPr>
          <p:cNvPr id="7" name="Shape 5"/>
          <p:cNvSpPr/>
          <p:nvPr/>
        </p:nvSpPr>
        <p:spPr>
          <a:xfrm>
            <a:off x="320040" y="2817622"/>
            <a:ext cx="4846320" cy="911352"/>
          </a:xfrm>
          <a:prstGeom prst="roundRect">
            <a:avLst>
              <a:gd name="adj" fmla="val 12040"/>
            </a:avLst>
          </a:prstGeom>
          <a:solidFill>
            <a:srgbClr val="475569"/>
          </a:solidFill>
          <a:ln/>
        </p:spPr>
      </p:sp>
      <p:sp>
        <p:nvSpPr>
          <p:cNvPr id="8" name="Text 6"/>
          <p:cNvSpPr txBox="1"/>
          <p:nvPr/>
        </p:nvSpPr>
        <p:spPr>
          <a:xfrm>
            <a:off x="411480" y="281762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編集する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ファイルを変更</a:t>
            </a:r>
            <a:endParaRPr lang="en-US" sz="2000" dirty="0"/>
          </a:p>
        </p:txBody>
      </p:sp>
      <p:sp>
        <p:nvSpPr>
          <p:cNvPr id="9" name="Shape 7"/>
          <p:cNvSpPr/>
          <p:nvPr/>
        </p:nvSpPr>
        <p:spPr>
          <a:xfrm>
            <a:off x="2743200" y="3911854"/>
            <a:ext cx="0" cy="438912"/>
          </a:xfrm>
          <a:prstGeom prst="line">
            <a:avLst/>
          </a:prstGeom>
          <a:noFill/>
          <a:ln w="38100">
            <a:solidFill>
              <a:srgbClr val="1B2A3A"/>
            </a:solidFill>
            <a:prstDash val="solid"/>
            <a:tailEnd type="triangle"/>
          </a:ln>
        </p:spPr>
      </p:sp>
      <p:sp>
        <p:nvSpPr>
          <p:cNvPr id="10" name="Shape 8"/>
          <p:cNvSpPr/>
          <p:nvPr/>
        </p:nvSpPr>
        <p:spPr>
          <a:xfrm>
            <a:off x="320040" y="4369054"/>
            <a:ext cx="4846320" cy="911352"/>
          </a:xfrm>
          <a:prstGeom prst="roundRect">
            <a:avLst>
              <a:gd name="adj" fmla="val 12040"/>
            </a:avLst>
          </a:prstGeom>
          <a:solidFill>
            <a:srgbClr val="B45309"/>
          </a:solidFill>
          <a:ln/>
        </p:spPr>
      </p:sp>
      <p:sp>
        <p:nvSpPr>
          <p:cNvPr id="11" name="Text 9"/>
          <p:cNvSpPr txBox="1"/>
          <p:nvPr/>
        </p:nvSpPr>
        <p:spPr>
          <a:xfrm>
            <a:off x="411480" y="436905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記録する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Gitで履歴を保存</a:t>
            </a:r>
            <a:endParaRPr lang="en-US" sz="2000" dirty="0"/>
          </a:p>
        </p:txBody>
      </p:sp>
      <p:sp>
        <p:nvSpPr>
          <p:cNvPr id="12" name="Shape 10"/>
          <p:cNvSpPr/>
          <p:nvPr/>
        </p:nvSpPr>
        <p:spPr>
          <a:xfrm>
            <a:off x="2743200" y="5463286"/>
            <a:ext cx="0" cy="438912"/>
          </a:xfrm>
          <a:prstGeom prst="line">
            <a:avLst/>
          </a:prstGeom>
          <a:noFill/>
          <a:ln w="38100">
            <a:solidFill>
              <a:srgbClr val="1B2A3A"/>
            </a:solidFill>
            <a:prstDash val="solid"/>
            <a:tailEnd type="triangle"/>
          </a:ln>
        </p:spPr>
      </p:sp>
      <p:sp>
        <p:nvSpPr>
          <p:cNvPr id="13" name="Shape 11"/>
          <p:cNvSpPr/>
          <p:nvPr/>
        </p:nvSpPr>
        <p:spPr>
          <a:xfrm>
            <a:off x="320040" y="5920486"/>
            <a:ext cx="4846320" cy="911352"/>
          </a:xfrm>
          <a:prstGeom prst="roundRect">
            <a:avLst>
              <a:gd name="adj" fmla="val 12040"/>
            </a:avLst>
          </a:prstGeom>
          <a:solidFill>
            <a:srgbClr val="2F6BC2"/>
          </a:solidFill>
          <a:ln/>
        </p:spPr>
      </p:sp>
      <p:sp>
        <p:nvSpPr>
          <p:cNvPr id="14" name="Text 12"/>
          <p:cNvSpPr txBox="1"/>
          <p:nvPr/>
        </p:nvSpPr>
        <p:spPr>
          <a:xfrm>
            <a:off x="411480" y="592048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送る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GitHubへ</a:t>
            </a:r>
            <a:endParaRPr lang="en-US" sz="2000" dirty="0"/>
          </a:p>
        </p:txBody>
      </p:sp>
      <p:sp>
        <p:nvSpPr>
          <p:cNvPr id="15" name="Shape 13"/>
          <p:cNvSpPr/>
          <p:nvPr/>
        </p:nvSpPr>
        <p:spPr>
          <a:xfrm>
            <a:off x="2743200" y="7014718"/>
            <a:ext cx="0" cy="438912"/>
          </a:xfrm>
          <a:prstGeom prst="line">
            <a:avLst/>
          </a:prstGeom>
          <a:noFill/>
          <a:ln w="38100">
            <a:solidFill>
              <a:srgbClr val="1B2A3A"/>
            </a:solidFill>
            <a:prstDash val="solid"/>
            <a:tailEnd type="triangle"/>
          </a:ln>
        </p:spPr>
      </p:sp>
      <p:sp>
        <p:nvSpPr>
          <p:cNvPr id="16" name="Shape 14"/>
          <p:cNvSpPr/>
          <p:nvPr/>
        </p:nvSpPr>
        <p:spPr>
          <a:xfrm>
            <a:off x="320040" y="7471918"/>
            <a:ext cx="4846320" cy="911352"/>
          </a:xfrm>
          <a:prstGeom prst="roundRect">
            <a:avLst>
              <a:gd name="adj" fmla="val 12040"/>
            </a:avLst>
          </a:prstGeom>
          <a:solidFill>
            <a:srgbClr val="237A48"/>
          </a:solidFill>
          <a:ln/>
        </p:spPr>
      </p:sp>
      <p:sp>
        <p:nvSpPr>
          <p:cNvPr id="17" name="Text 15"/>
          <p:cNvSpPr txBox="1"/>
          <p:nvPr/>
        </p:nvSpPr>
        <p:spPr>
          <a:xfrm>
            <a:off x="411480" y="7471918"/>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共有する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ほかの人と作業</a:t>
            </a:r>
            <a:endParaRPr lang="en-US" sz="2000" dirty="0"/>
          </a:p>
        </p:txBody>
      </p:sp>
      <p:sp>
        <p:nvSpPr>
          <p:cNvPr id="18" name="Shape 16"/>
          <p:cNvSpPr/>
          <p:nvPr/>
        </p:nvSpPr>
        <p:spPr>
          <a:xfrm>
            <a:off x="320040" y="8566150"/>
            <a:ext cx="4846320" cy="1280160"/>
          </a:xfrm>
          <a:prstGeom prst="roundRect">
            <a:avLst>
              <a:gd name="adj" fmla="val 8571"/>
            </a:avLst>
          </a:prstGeom>
          <a:solidFill>
            <a:srgbClr val="DCE8F8"/>
          </a:solidFill>
          <a:ln w="19050">
            <a:solidFill>
              <a:srgbClr val="2F6BC2"/>
            </a:solidFill>
            <a:prstDash val="solid"/>
          </a:ln>
        </p:spPr>
      </p:sp>
      <p:sp>
        <p:nvSpPr>
          <p:cNvPr id="19" name="Shape 17"/>
          <p:cNvSpPr/>
          <p:nvPr/>
        </p:nvSpPr>
        <p:spPr>
          <a:xfrm>
            <a:off x="457200" y="8977630"/>
            <a:ext cx="457200" cy="457200"/>
          </a:xfrm>
          <a:prstGeom prst="ellipse">
            <a:avLst/>
          </a:prstGeom>
          <a:solidFill>
            <a:srgbClr val="2F6BC2"/>
          </a:solidFill>
          <a:ln/>
        </p:spPr>
      </p:sp>
      <p:pic>
        <p:nvPicPr>
          <p:cNvPr id="20" name="Image 0" descr="preencoded.png">    </p:cNvPr>
          <p:cNvPicPr>
            <a:picLocks noChangeAspect="1"/>
          </p:cNvPicPr>
          <p:nvPr/>
        </p:nvPicPr>
        <p:blipFill>
          <a:blip r:embed="rId1"/>
          <a:stretch>
            <a:fillRect/>
          </a:stretch>
        </p:blipFill>
        <p:spPr>
          <a:xfrm>
            <a:off x="557784" y="9078214"/>
            <a:ext cx="256032" cy="256032"/>
          </a:xfrm>
          <a:prstGeom prst="rect">
            <a:avLst/>
          </a:prstGeom>
        </p:spPr>
      </p:pic>
      <p:sp>
        <p:nvSpPr>
          <p:cNvPr id="21" name="Text 18"/>
          <p:cNvSpPr txBox="1"/>
          <p:nvPr/>
        </p:nvSpPr>
        <p:spPr>
          <a:xfrm>
            <a:off x="1051560" y="8611870"/>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Git＝記録の仕組み、GitHub＝共有のサービス。名前は似ていますが別のものです。</a:t>
            </a:r>
            <a:endParaRPr lang="en-US" sz="2000" dirty="0"/>
          </a:p>
        </p:txBody>
      </p:sp>
      <p:sp>
        <p:nvSpPr>
          <p:cNvPr id="22"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366</a:t>
            </a:fld>
            <a:endParaRPr lang="en-US"/>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name="Slide 3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自宅からつながる道すじ</a:t>
            </a:r>
            <a:endParaRPr lang="ja-JP" sz="2600" dirty="0"/>
          </a:p>
        </p:txBody>
      </p:sp>
      <p:sp>
        <p:nvSpPr>
          <p:cNvPr id="6" name="Text 4"/>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質問26が聞いているのは、技術力ではなく「自宅から仕事に使える接続環境があるか」です。</a:t>
            </a:r>
            <a:endParaRPr lang="en-US" sz="1800" dirty="0"/>
          </a:p>
        </p:txBody>
      </p:sp>
      <p:sp>
        <p:nvSpPr>
          <p:cNvPr id="7" name="Shape 5"/>
          <p:cNvSpPr/>
          <p:nvPr/>
        </p:nvSpPr>
        <p:spPr>
          <a:xfrm>
            <a:off x="320040" y="2817622"/>
            <a:ext cx="4846320" cy="911352"/>
          </a:xfrm>
          <a:prstGeom prst="roundRect">
            <a:avLst>
              <a:gd name="adj" fmla="val 12040"/>
            </a:avLst>
          </a:prstGeom>
          <a:solidFill>
            <a:srgbClr val="0B7A7A"/>
          </a:solidFill>
          <a:ln/>
        </p:spPr>
      </p:sp>
      <p:sp>
        <p:nvSpPr>
          <p:cNvPr id="8" name="Text 6"/>
          <p:cNvSpPr txBox="1"/>
          <p:nvPr/>
        </p:nvSpPr>
        <p:spPr>
          <a:xfrm>
            <a:off x="411480" y="2817622"/>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PC</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自宅の端末</a:t>
            </a:r>
            <a:endParaRPr lang="en-US" sz="2000" dirty="0"/>
          </a:p>
        </p:txBody>
      </p:sp>
      <p:sp>
        <p:nvSpPr>
          <p:cNvPr id="9" name="Shape 7"/>
          <p:cNvSpPr/>
          <p:nvPr/>
        </p:nvSpPr>
        <p:spPr>
          <a:xfrm>
            <a:off x="2743200" y="3911854"/>
            <a:ext cx="0" cy="438912"/>
          </a:xfrm>
          <a:prstGeom prst="line">
            <a:avLst/>
          </a:prstGeom>
          <a:noFill/>
          <a:ln w="38100">
            <a:solidFill>
              <a:srgbClr val="1B2A3A"/>
            </a:solidFill>
            <a:prstDash val="solid"/>
            <a:tailEnd type="triangle"/>
          </a:ln>
        </p:spPr>
      </p:sp>
      <p:sp>
        <p:nvSpPr>
          <p:cNvPr id="10" name="Text 8"/>
          <p:cNvSpPr txBox="1"/>
          <p:nvPr/>
        </p:nvSpPr>
        <p:spPr>
          <a:xfrm>
            <a:off x="2926080" y="3930142"/>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有線LAN／Wi-Fi</a:t>
            </a:r>
            <a:endParaRPr lang="en-US" sz="1800" dirty="0"/>
          </a:p>
        </p:txBody>
      </p:sp>
      <p:sp>
        <p:nvSpPr>
          <p:cNvPr id="11" name="Shape 9"/>
          <p:cNvSpPr/>
          <p:nvPr/>
        </p:nvSpPr>
        <p:spPr>
          <a:xfrm>
            <a:off x="320040" y="4369054"/>
            <a:ext cx="4846320" cy="911352"/>
          </a:xfrm>
          <a:prstGeom prst="roundRect">
            <a:avLst>
              <a:gd name="adj" fmla="val 12040"/>
            </a:avLst>
          </a:prstGeom>
          <a:solidFill>
            <a:srgbClr val="2F6BC2"/>
          </a:solidFill>
          <a:ln/>
        </p:spPr>
      </p:sp>
      <p:sp>
        <p:nvSpPr>
          <p:cNvPr id="12" name="Text 10"/>
          <p:cNvSpPr txBox="1"/>
          <p:nvPr/>
        </p:nvSpPr>
        <p:spPr>
          <a:xfrm>
            <a:off x="411480" y="4369054"/>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ルーター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自宅の機器</a:t>
            </a:r>
            <a:endParaRPr lang="en-US" sz="2000" dirty="0"/>
          </a:p>
        </p:txBody>
      </p:sp>
      <p:sp>
        <p:nvSpPr>
          <p:cNvPr id="13" name="Shape 11"/>
          <p:cNvSpPr/>
          <p:nvPr/>
        </p:nvSpPr>
        <p:spPr>
          <a:xfrm>
            <a:off x="2743200" y="5463286"/>
            <a:ext cx="0" cy="438912"/>
          </a:xfrm>
          <a:prstGeom prst="line">
            <a:avLst/>
          </a:prstGeom>
          <a:noFill/>
          <a:ln w="38100">
            <a:solidFill>
              <a:srgbClr val="1B2A3A"/>
            </a:solidFill>
            <a:prstDash val="solid"/>
            <a:tailEnd type="triangle"/>
          </a:ln>
        </p:spPr>
      </p:sp>
      <p:sp>
        <p:nvSpPr>
          <p:cNvPr id="14" name="Text 12"/>
          <p:cNvSpPr txBox="1"/>
          <p:nvPr/>
        </p:nvSpPr>
        <p:spPr>
          <a:xfrm>
            <a:off x="2926080" y="5481574"/>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契約した回線</a:t>
            </a:r>
            <a:endParaRPr lang="en-US" sz="1800" dirty="0"/>
          </a:p>
        </p:txBody>
      </p:sp>
      <p:sp>
        <p:nvSpPr>
          <p:cNvPr id="15" name="Shape 13"/>
          <p:cNvSpPr/>
          <p:nvPr/>
        </p:nvSpPr>
        <p:spPr>
          <a:xfrm>
            <a:off x="320040" y="5920486"/>
            <a:ext cx="4846320" cy="911352"/>
          </a:xfrm>
          <a:prstGeom prst="roundRect">
            <a:avLst>
              <a:gd name="adj" fmla="val 12040"/>
            </a:avLst>
          </a:prstGeom>
          <a:solidFill>
            <a:srgbClr val="7C4A1E"/>
          </a:solidFill>
          <a:ln/>
        </p:spPr>
      </p:sp>
      <p:sp>
        <p:nvSpPr>
          <p:cNvPr id="16" name="Text 14"/>
          <p:cNvSpPr txBox="1"/>
          <p:nvPr/>
        </p:nvSpPr>
        <p:spPr>
          <a:xfrm>
            <a:off x="411480" y="5920486"/>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固定回線</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光・ケーブルテレビ</a:t>
            </a:r>
            <a:endParaRPr lang="en-US" sz="2000" dirty="0"/>
          </a:p>
        </p:txBody>
      </p:sp>
      <p:sp>
        <p:nvSpPr>
          <p:cNvPr id="17" name="Shape 15"/>
          <p:cNvSpPr/>
          <p:nvPr/>
        </p:nvSpPr>
        <p:spPr>
          <a:xfrm>
            <a:off x="2743200" y="7014718"/>
            <a:ext cx="0" cy="438912"/>
          </a:xfrm>
          <a:prstGeom prst="line">
            <a:avLst/>
          </a:prstGeom>
          <a:noFill/>
          <a:ln w="38100">
            <a:solidFill>
              <a:srgbClr val="1B2A3A"/>
            </a:solidFill>
            <a:prstDash val="solid"/>
            <a:tailEnd type="triangle"/>
          </a:ln>
        </p:spPr>
      </p:sp>
      <p:sp>
        <p:nvSpPr>
          <p:cNvPr id="18" name="Text 16"/>
          <p:cNvSpPr txBox="1"/>
          <p:nvPr/>
        </p:nvSpPr>
        <p:spPr>
          <a:xfrm>
            <a:off x="2926080" y="7033006"/>
            <a:ext cx="2240280" cy="42062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インターネット</a:t>
            </a:r>
            <a:endParaRPr lang="en-US" sz="1800" dirty="0"/>
          </a:p>
        </p:txBody>
      </p:sp>
      <p:sp>
        <p:nvSpPr>
          <p:cNvPr id="19" name="Shape 17"/>
          <p:cNvSpPr/>
          <p:nvPr/>
        </p:nvSpPr>
        <p:spPr>
          <a:xfrm>
            <a:off x="320040" y="7471918"/>
            <a:ext cx="4846320" cy="911352"/>
          </a:xfrm>
          <a:prstGeom prst="roundRect">
            <a:avLst>
              <a:gd name="adj" fmla="val 12040"/>
            </a:avLst>
          </a:prstGeom>
          <a:solidFill>
            <a:srgbClr val="237A48"/>
          </a:solidFill>
          <a:ln/>
        </p:spPr>
      </p:sp>
      <p:sp>
        <p:nvSpPr>
          <p:cNvPr id="20" name="Text 18"/>
          <p:cNvSpPr txBox="1"/>
          <p:nvPr/>
        </p:nvSpPr>
        <p:spPr>
          <a:xfrm>
            <a:off x="411480" y="7471918"/>
            <a:ext cx="4663440" cy="911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会社・会議</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社内システムなど</a:t>
            </a:r>
            <a:endParaRPr lang="en-US" sz="2000" dirty="0"/>
          </a:p>
        </p:txBody>
      </p:sp>
      <p:sp>
        <p:nvSpPr>
          <p:cNvPr id="21" name="Shape 19"/>
          <p:cNvSpPr/>
          <p:nvPr/>
        </p:nvSpPr>
        <p:spPr>
          <a:xfrm>
            <a:off x="320040" y="8566150"/>
            <a:ext cx="4846320" cy="1280160"/>
          </a:xfrm>
          <a:prstGeom prst="roundRect">
            <a:avLst>
              <a:gd name="adj" fmla="val 8571"/>
            </a:avLst>
          </a:prstGeom>
          <a:solidFill>
            <a:srgbClr val="DCE8F8"/>
          </a:solidFill>
          <a:ln w="19050">
            <a:solidFill>
              <a:srgbClr val="2F6BC2"/>
            </a:solidFill>
            <a:prstDash val="solid"/>
          </a:ln>
        </p:spPr>
      </p:sp>
      <p:sp>
        <p:nvSpPr>
          <p:cNvPr id="22" name="Shape 20"/>
          <p:cNvSpPr/>
          <p:nvPr/>
        </p:nvSpPr>
        <p:spPr>
          <a:xfrm>
            <a:off x="457200" y="8977630"/>
            <a:ext cx="457200" cy="457200"/>
          </a:xfrm>
          <a:prstGeom prst="ellipse">
            <a:avLst/>
          </a:prstGeom>
          <a:solidFill>
            <a:srgbClr val="2F6BC2"/>
          </a:solidFill>
          <a:ln/>
        </p:spPr>
      </p:sp>
      <p:pic>
        <p:nvPicPr>
          <p:cNvPr id="23" name="Image 0" descr="preencoded.png">    </p:cNvPr>
          <p:cNvPicPr>
            <a:picLocks noChangeAspect="1"/>
          </p:cNvPicPr>
          <p:nvPr/>
        </p:nvPicPr>
        <p:blipFill>
          <a:blip r:embed="rId1"/>
          <a:stretch>
            <a:fillRect/>
          </a:stretch>
        </p:blipFill>
        <p:spPr>
          <a:xfrm>
            <a:off x="557784" y="9078214"/>
            <a:ext cx="256032" cy="256032"/>
          </a:xfrm>
          <a:prstGeom prst="rect">
            <a:avLst/>
          </a:prstGeom>
        </p:spPr>
      </p:pic>
      <p:sp>
        <p:nvSpPr>
          <p:cNvPr id="24" name="Text 21"/>
          <p:cNvSpPr txBox="1"/>
          <p:nvPr/>
        </p:nvSpPr>
        <p:spPr>
          <a:xfrm>
            <a:off x="1051560" y="8611870"/>
            <a:ext cx="3977640" cy="11887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確認するのは「契約している回線の種類」と「PCをつなぐ方法（有線LAN・Wi-Fi）」です。</a:t>
            </a:r>
            <a:endParaRPr lang="en-US" sz="2000" dirty="0"/>
          </a:p>
        </p:txBody>
      </p:sp>
      <p:sp>
        <p:nvSpPr>
          <p:cNvPr id="25" name="Text 2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367</a:t>
            </a:fld>
            <a:endParaRPr lang="en-US"/>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name="Slide 3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リモート就業</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勤務先のオフィス以外（自宅など）から、ネットを使って仕事をする働き方。</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4846320" cy="731520"/>
          </a:xfrm>
          <a:prstGeom prst="roundRect">
            <a:avLst>
              <a:gd name="adj" fmla="val 15000"/>
            </a:avLst>
          </a:prstGeom>
          <a:solidFill>
            <a:srgbClr val="A21C5B"/>
          </a:solidFill>
          <a:ln/>
        </p:spPr>
      </p:sp>
      <p:sp>
        <p:nvSpPr>
          <p:cNvPr id="9" name="Text 7"/>
          <p:cNvSpPr txBox="1"/>
          <p:nvPr/>
        </p:nvSpPr>
        <p:spPr>
          <a:xfrm>
            <a:off x="411480" y="2863342"/>
            <a:ext cx="4663440" cy="731520"/>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600" dirty="0"/>
          </a:p>
        </p:txBody>
      </p:sp>
      <p:sp>
        <p:nvSpPr>
          <p:cNvPr id="10" name="Shape 8"/>
          <p:cNvSpPr/>
          <p:nvPr/>
        </p:nvSpPr>
        <p:spPr>
          <a:xfrm>
            <a:off x="320040" y="3777742"/>
            <a:ext cx="4846320" cy="1264920"/>
          </a:xfrm>
          <a:prstGeom prst="roundRect">
            <a:avLst>
              <a:gd name="adj" fmla="val 10120"/>
            </a:avLst>
          </a:prstGeom>
          <a:solidFill>
            <a:srgbClr val="FCE4EE"/>
          </a:solidFill>
          <a:ln/>
        </p:spPr>
      </p:sp>
      <p:sp>
        <p:nvSpPr>
          <p:cNvPr id="11" name="Text 9"/>
          <p:cNvSpPr txBox="1"/>
          <p:nvPr/>
        </p:nvSpPr>
        <p:spPr>
          <a:xfrm>
            <a:off x="502920" y="38691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A21C5B"/>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技術ではなく働き方の話。自宅などから、回線・ルーター・PCを使って仕事をする活動。</a:t>
            </a:r>
            <a:endParaRPr lang="en-US" sz="2000" dirty="0"/>
          </a:p>
        </p:txBody>
      </p:sp>
      <p:sp>
        <p:nvSpPr>
          <p:cNvPr id="12" name="Shape 10"/>
          <p:cNvSpPr/>
          <p:nvPr/>
        </p:nvSpPr>
        <p:spPr>
          <a:xfrm>
            <a:off x="320040" y="5225542"/>
            <a:ext cx="4846320" cy="402336"/>
          </a:xfrm>
          <a:prstGeom prst="roundRect">
            <a:avLst>
              <a:gd name="adj" fmla="val 22727"/>
            </a:avLst>
          </a:prstGeom>
          <a:solidFill>
            <a:srgbClr val="A21C5B"/>
          </a:solidFill>
          <a:ln/>
        </p:spPr>
      </p:sp>
      <p:sp>
        <p:nvSpPr>
          <p:cNvPr id="13" name="Text 11"/>
          <p:cNvSpPr txBox="1"/>
          <p:nvPr/>
        </p:nvSpPr>
        <p:spPr>
          <a:xfrm>
            <a:off x="411480" y="52255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14" name="Shape 12"/>
          <p:cNvSpPr/>
          <p:nvPr/>
        </p:nvSpPr>
        <p:spPr>
          <a:xfrm>
            <a:off x="320040" y="5682742"/>
            <a:ext cx="1371600" cy="3822192"/>
          </a:xfrm>
          <a:prstGeom prst="roundRect">
            <a:avLst>
              <a:gd name="adj" fmla="val 8000"/>
            </a:avLst>
          </a:prstGeom>
          <a:solidFill>
            <a:srgbClr val="A21C5B"/>
          </a:solidFill>
          <a:ln/>
        </p:spPr>
      </p:sp>
      <p:sp>
        <p:nvSpPr>
          <p:cNvPr id="15" name="Text 13"/>
          <p:cNvSpPr txBox="1"/>
          <p:nvPr/>
        </p:nvSpPr>
        <p:spPr>
          <a:xfrm>
            <a:off x="411480" y="56827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リモート就業</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6" name="Shape 14"/>
          <p:cNvSpPr/>
          <p:nvPr/>
        </p:nvSpPr>
        <p:spPr>
          <a:xfrm>
            <a:off x="3566160" y="5682742"/>
            <a:ext cx="1600200" cy="676656"/>
          </a:xfrm>
          <a:prstGeom prst="roundRect">
            <a:avLst>
              <a:gd name="adj" fmla="val 16216"/>
            </a:avLst>
          </a:prstGeom>
          <a:solidFill>
            <a:srgbClr val="FDEBD0"/>
          </a:solidFill>
          <a:ln w="25400">
            <a:solidFill>
              <a:srgbClr val="B45309"/>
            </a:solidFill>
            <a:prstDash val="solid"/>
          </a:ln>
        </p:spPr>
      </p:sp>
      <p:sp>
        <p:nvSpPr>
          <p:cNvPr id="17" name="Text 15"/>
          <p:cNvSpPr txBox="1"/>
          <p:nvPr/>
        </p:nvSpPr>
        <p:spPr>
          <a:xfrm>
            <a:off x="3657600" y="56827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18" name="Shape 16"/>
          <p:cNvSpPr/>
          <p:nvPr/>
        </p:nvSpPr>
        <p:spPr>
          <a:xfrm flipH="1">
            <a:off x="1719072" y="6021070"/>
            <a:ext cx="1819656" cy="0"/>
          </a:xfrm>
          <a:prstGeom prst="line">
            <a:avLst/>
          </a:prstGeom>
          <a:noFill/>
          <a:ln w="31750">
            <a:solidFill>
              <a:srgbClr val="1B2A3A"/>
            </a:solidFill>
            <a:prstDash val="solid"/>
            <a:tailEnd type="triangle"/>
          </a:ln>
        </p:spPr>
      </p:sp>
      <p:sp>
        <p:nvSpPr>
          <p:cNvPr id="19" name="Text 17"/>
          <p:cNvSpPr txBox="1"/>
          <p:nvPr/>
        </p:nvSpPr>
        <p:spPr>
          <a:xfrm>
            <a:off x="1700784" y="57193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0" name="Shape 18"/>
          <p:cNvSpPr/>
          <p:nvPr/>
        </p:nvSpPr>
        <p:spPr>
          <a:xfrm>
            <a:off x="3566160" y="6469126"/>
            <a:ext cx="1600200" cy="676656"/>
          </a:xfrm>
          <a:prstGeom prst="roundRect">
            <a:avLst>
              <a:gd name="adj" fmla="val 16216"/>
            </a:avLst>
          </a:prstGeom>
          <a:solidFill>
            <a:srgbClr val="FDEBD0"/>
          </a:solidFill>
          <a:ln w="25400">
            <a:solidFill>
              <a:srgbClr val="B45309"/>
            </a:solidFill>
            <a:prstDash val="solid"/>
          </a:ln>
        </p:spPr>
      </p:sp>
      <p:sp>
        <p:nvSpPr>
          <p:cNvPr id="21" name="Text 19"/>
          <p:cNvSpPr txBox="1"/>
          <p:nvPr/>
        </p:nvSpPr>
        <p:spPr>
          <a:xfrm>
            <a:off x="3657600" y="64691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22" name="Shape 20"/>
          <p:cNvSpPr/>
          <p:nvPr/>
        </p:nvSpPr>
        <p:spPr>
          <a:xfrm flipH="1">
            <a:off x="1719072" y="6807454"/>
            <a:ext cx="1819656" cy="0"/>
          </a:xfrm>
          <a:prstGeom prst="line">
            <a:avLst/>
          </a:prstGeom>
          <a:noFill/>
          <a:ln w="31750">
            <a:solidFill>
              <a:srgbClr val="1B2A3A"/>
            </a:solidFill>
            <a:prstDash val="solid"/>
            <a:tailEnd type="triangle"/>
          </a:ln>
        </p:spPr>
      </p:sp>
      <p:sp>
        <p:nvSpPr>
          <p:cNvPr id="23" name="Text 21"/>
          <p:cNvSpPr txBox="1"/>
          <p:nvPr/>
        </p:nvSpPr>
        <p:spPr>
          <a:xfrm>
            <a:off x="1700784" y="65057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24" name="Shape 22"/>
          <p:cNvSpPr/>
          <p:nvPr/>
        </p:nvSpPr>
        <p:spPr>
          <a:xfrm>
            <a:off x="3566160" y="7255510"/>
            <a:ext cx="1600200" cy="676656"/>
          </a:xfrm>
          <a:prstGeom prst="roundRect">
            <a:avLst>
              <a:gd name="adj" fmla="val 16216"/>
            </a:avLst>
          </a:prstGeom>
          <a:solidFill>
            <a:srgbClr val="FDEBD0"/>
          </a:solidFill>
          <a:ln w="25400">
            <a:solidFill>
              <a:srgbClr val="B45309"/>
            </a:solidFill>
            <a:prstDash val="solid"/>
          </a:ln>
        </p:spPr>
      </p:sp>
      <p:sp>
        <p:nvSpPr>
          <p:cNvPr id="25" name="Text 23"/>
          <p:cNvSpPr txBox="1"/>
          <p:nvPr/>
        </p:nvSpPr>
        <p:spPr>
          <a:xfrm>
            <a:off x="3657600" y="72555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26" name="Shape 24"/>
          <p:cNvSpPr/>
          <p:nvPr/>
        </p:nvSpPr>
        <p:spPr>
          <a:xfrm flipH="1">
            <a:off x="1719072" y="7593838"/>
            <a:ext cx="1819656" cy="0"/>
          </a:xfrm>
          <a:prstGeom prst="line">
            <a:avLst/>
          </a:prstGeom>
          <a:noFill/>
          <a:ln w="31750">
            <a:solidFill>
              <a:srgbClr val="1B2A3A"/>
            </a:solidFill>
            <a:prstDash val="solid"/>
            <a:tailEnd type="triangle"/>
          </a:ln>
        </p:spPr>
      </p:sp>
      <p:sp>
        <p:nvSpPr>
          <p:cNvPr id="27" name="Text 25"/>
          <p:cNvSpPr txBox="1"/>
          <p:nvPr/>
        </p:nvSpPr>
        <p:spPr>
          <a:xfrm>
            <a:off x="1700784" y="72920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28" name="Shape 26"/>
          <p:cNvSpPr/>
          <p:nvPr/>
        </p:nvSpPr>
        <p:spPr>
          <a:xfrm>
            <a:off x="3566160" y="8041894"/>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80418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30" name="Shape 28"/>
          <p:cNvSpPr/>
          <p:nvPr/>
        </p:nvSpPr>
        <p:spPr>
          <a:xfrm>
            <a:off x="1719072" y="8380222"/>
            <a:ext cx="1819656" cy="0"/>
          </a:xfrm>
          <a:prstGeom prst="line">
            <a:avLst/>
          </a:prstGeom>
          <a:noFill/>
          <a:ln w="31750">
            <a:solidFill>
              <a:srgbClr val="1B2A3A"/>
            </a:solidFill>
            <a:prstDash val="solid"/>
            <a:tailEnd type="triangle"/>
          </a:ln>
        </p:spPr>
      </p:sp>
      <p:sp>
        <p:nvSpPr>
          <p:cNvPr id="31" name="Text 29"/>
          <p:cNvSpPr txBox="1"/>
          <p:nvPr/>
        </p:nvSpPr>
        <p:spPr>
          <a:xfrm>
            <a:off x="1700784" y="80784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利用する</a:t>
            </a:r>
            <a:endParaRPr lang="en-US" sz="1500" dirty="0"/>
          </a:p>
        </p:txBody>
      </p:sp>
      <p:sp>
        <p:nvSpPr>
          <p:cNvPr id="32" name="Shape 30"/>
          <p:cNvSpPr/>
          <p:nvPr/>
        </p:nvSpPr>
        <p:spPr>
          <a:xfrm>
            <a:off x="3566160" y="8828278"/>
            <a:ext cx="1600200" cy="676656"/>
          </a:xfrm>
          <a:prstGeom prst="roundRect">
            <a:avLst>
              <a:gd name="adj" fmla="val 16216"/>
            </a:avLst>
          </a:prstGeom>
          <a:solidFill>
            <a:srgbClr val="DFF1FB"/>
          </a:solidFill>
          <a:ln w="25400">
            <a:solidFill>
              <a:srgbClr val="0369A1"/>
            </a:solidFill>
            <a:prstDash val="solid"/>
          </a:ln>
        </p:spPr>
      </p:sp>
      <p:sp>
        <p:nvSpPr>
          <p:cNvPr id="33" name="Text 31"/>
          <p:cNvSpPr txBox="1"/>
          <p:nvPr/>
        </p:nvSpPr>
        <p:spPr>
          <a:xfrm>
            <a:off x="3657600" y="88282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4" name="Shape 32"/>
          <p:cNvSpPr/>
          <p:nvPr/>
        </p:nvSpPr>
        <p:spPr>
          <a:xfrm flipH="1">
            <a:off x="1719072" y="9166606"/>
            <a:ext cx="1819656" cy="0"/>
          </a:xfrm>
          <a:prstGeom prst="line">
            <a:avLst/>
          </a:prstGeom>
          <a:noFill/>
          <a:ln w="31750">
            <a:solidFill>
              <a:srgbClr val="1B2A3A"/>
            </a:solidFill>
            <a:prstDash val="solid"/>
            <a:tailEnd type="triangle"/>
          </a:ln>
        </p:spPr>
      </p:sp>
      <p:sp>
        <p:nvSpPr>
          <p:cNvPr id="35" name="Text 33"/>
          <p:cNvSpPr txBox="1"/>
          <p:nvPr/>
        </p:nvSpPr>
        <p:spPr>
          <a:xfrm>
            <a:off x="1700784" y="88648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共有の場</a:t>
            </a:r>
            <a:endParaRPr lang="en-US" sz="1500" dirty="0"/>
          </a:p>
        </p:txBody>
      </p:sp>
      <p:sp>
        <p:nvSpPr>
          <p:cNvPr id="36" name="Text 34"/>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368</a:t>
            </a:fld>
            <a:endParaRPr lang="en-US"/>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name="Slide 3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リモート就業</a:t>
            </a:r>
            <a:endParaRPr lang="ja-JP" sz="2200" dirty="0"/>
          </a:p>
        </p:txBody>
      </p:sp>
      <p:sp>
        <p:nvSpPr>
          <p:cNvPr id="4" name="Shape 2"/>
          <p:cNvSpPr/>
          <p:nvPr/>
        </p:nvSpPr>
        <p:spPr>
          <a:xfrm>
            <a:off x="320040" y="1318514"/>
            <a:ext cx="4846320" cy="3452368"/>
          </a:xfrm>
          <a:prstGeom prst="roundRect">
            <a:avLst>
              <a:gd name="adj" fmla="val 3708"/>
            </a:avLst>
          </a:prstGeom>
          <a:solidFill>
            <a:srgbClr val="FCE4EE"/>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A21C5B"/>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読み：テレワーク・在宅勤務・リモートワーク</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リモート就業は、自宅などオフィス以外の場所から、インターネットを通じて仕事をする働き方です。技術の名前ではなく「働き方」の名前で、テレワーク、在宅勤務、リモートワークなどとも呼ばれます。</a:t>
            </a:r>
            <a:endParaRPr lang="en-US" sz="2000" dirty="0"/>
          </a:p>
        </p:txBody>
      </p:sp>
      <p:sp>
        <p:nvSpPr>
          <p:cNvPr id="7" name="Shape 5"/>
          <p:cNvSpPr/>
          <p:nvPr/>
        </p:nvSpPr>
        <p:spPr>
          <a:xfrm>
            <a:off x="320040" y="4844034"/>
            <a:ext cx="4846320" cy="2296160"/>
          </a:xfrm>
          <a:prstGeom prst="roundRect">
            <a:avLst>
              <a:gd name="adj" fmla="val 5575"/>
            </a:avLst>
          </a:prstGeom>
          <a:solidFill>
            <a:srgbClr val="FCE4EE"/>
          </a:solidFill>
          <a:ln/>
        </p:spPr>
      </p:sp>
      <p:sp>
        <p:nvSpPr>
          <p:cNvPr id="8" name="Text 6"/>
          <p:cNvSpPr txBox="1"/>
          <p:nvPr/>
        </p:nvSpPr>
        <p:spPr>
          <a:xfrm>
            <a:off x="502920" y="493547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自宅のPCから会社に届くまでの道すじは、PC →（有線LANまたはWi-Fi）→ ルーター → 固定回線（光回線・ケーブルテレビ回線）→ インターネット → 会社です。どこかが弱いと、オンライン会議が途切れます。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CE4EE"/>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会社のシステムには、VPN（インターネット上に暗号化した専用の通り道を作る仕組み）などで安全につなぐことがあります。通信環境に加えて、情報が漏れないようにする注意も必要です。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369</a:t>
            </a:fld>
            <a:endParaRPr lang="en-US"/>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name="Slide 3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リモート就業</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遠くの友達と、ビデオ通話で一緒に勉強する感じ。教室がなくても、通話が安定していれば同じ課題を進められますが、回線が弱いと話が途切れます。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自宅からMicrosoft TeamsやZoomで朝礼や会議に出る、チャットで連絡する、会社のシステムやファイルにつないで作業する、といった場面です。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リモート就業は「ネットにつながればどこでもよい」ではありません。会議の音声には安定した回線が要り、公共のWi-Fiでの仕事は情報漏えいの危険が高まります。</a:t>
            </a:r>
            <a:endParaRPr lang="en-US" sz="2000" dirty="0"/>
          </a:p>
        </p:txBody>
      </p:sp>
      <p:sp>
        <p:nvSpPr>
          <p:cNvPr id="10" name="Shape 8"/>
          <p:cNvSpPr/>
          <p:nvPr/>
        </p:nvSpPr>
        <p:spPr>
          <a:xfrm>
            <a:off x="320040" y="8008874"/>
            <a:ext cx="4846320" cy="2270760"/>
          </a:xfrm>
          <a:prstGeom prst="roundRect">
            <a:avLst>
              <a:gd name="adj" fmla="val 5638"/>
            </a:avLst>
          </a:prstGeom>
          <a:solidFill>
            <a:srgbClr val="DDF1E4"/>
          </a:solidFill>
          <a:ln/>
        </p:spPr>
      </p:sp>
      <p:sp>
        <p:nvSpPr>
          <p:cNvPr id="11" name="Text 9"/>
          <p:cNvSpPr txBox="1"/>
          <p:nvPr/>
        </p:nvSpPr>
        <p:spPr>
          <a:xfrm>
            <a:off x="502920" y="8100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自宅のネット接続が、固定回線の種類（光・ケーブルテレビなど）とPCのつなぎ方（有線LAN・Wi-Fi）でどうなっているか、契約書とルーターで確認しましょう。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370</a:t>
            </a:fld>
            <a:endParaRPr lang="en-US"/>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name="Slide 3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固定回線</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自宅や建物に引き込んで使う、場所に結び付いた通信回線。</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B45309"/>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3" name="Shape 21"/>
          <p:cNvSpPr/>
          <p:nvPr/>
        </p:nvSpPr>
        <p:spPr>
          <a:xfrm>
            <a:off x="320040" y="4234942"/>
            <a:ext cx="4846320" cy="1264920"/>
          </a:xfrm>
          <a:prstGeom prst="roundRect">
            <a:avLst>
              <a:gd name="adj" fmla="val 10120"/>
            </a:avLst>
          </a:prstGeom>
          <a:solidFill>
            <a:srgbClr val="FDEBD0"/>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自宅の壁の差し込み口から外の通信会社の設備まで、ネットの出口にあたる道。</a:t>
            </a:r>
            <a:endParaRPr lang="en-US" sz="2000" dirty="0"/>
          </a:p>
        </p:txBody>
      </p:sp>
      <p:sp>
        <p:nvSpPr>
          <p:cNvPr id="25" name="Shape 23"/>
          <p:cNvSpPr/>
          <p:nvPr/>
        </p:nvSpPr>
        <p:spPr>
          <a:xfrm>
            <a:off x="320040" y="5682742"/>
            <a:ext cx="4846320" cy="402336"/>
          </a:xfrm>
          <a:prstGeom prst="roundRect">
            <a:avLst>
              <a:gd name="adj" fmla="val 22727"/>
            </a:avLst>
          </a:prstGeom>
          <a:solidFill>
            <a:srgbClr val="B45309"/>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822192"/>
          </a:xfrm>
          <a:prstGeom prst="roundRect">
            <a:avLst>
              <a:gd name="adj" fmla="val 8000"/>
            </a:avLst>
          </a:prstGeom>
          <a:solidFill>
            <a:srgbClr val="B45309"/>
          </a:solidFill>
          <a:ln/>
        </p:spPr>
      </p:sp>
      <p:sp>
        <p:nvSpPr>
          <p:cNvPr id="28" name="Text 26"/>
          <p:cNvSpPr txBox="1"/>
          <p:nvPr/>
        </p:nvSpPr>
        <p:spPr>
          <a:xfrm>
            <a:off x="411480" y="613994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固定回線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9" name="Shape 27"/>
          <p:cNvSpPr/>
          <p:nvPr/>
        </p:nvSpPr>
        <p:spPr>
          <a:xfrm>
            <a:off x="3566160" y="6139942"/>
            <a:ext cx="1600200" cy="676656"/>
          </a:xfrm>
          <a:prstGeom prst="roundRect">
            <a:avLst>
              <a:gd name="adj" fmla="val 16216"/>
            </a:avLst>
          </a:prstGeom>
          <a:solidFill>
            <a:srgbClr val="FDEBD0"/>
          </a:solidFill>
          <a:ln w="25400">
            <a:solidFill>
              <a:srgbClr val="B45309"/>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光回線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1" name="Shape 29"/>
          <p:cNvSpPr/>
          <p:nvPr/>
        </p:nvSpPr>
        <p:spPr>
          <a:xfrm flipH="1">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3" name="Shape 31"/>
          <p:cNvSpPr/>
          <p:nvPr/>
        </p:nvSpPr>
        <p:spPr>
          <a:xfrm>
            <a:off x="3566160" y="6926326"/>
            <a:ext cx="1600200" cy="676656"/>
          </a:xfrm>
          <a:prstGeom prst="roundRect">
            <a:avLst>
              <a:gd name="adj" fmla="val 16216"/>
            </a:avLst>
          </a:prstGeom>
          <a:solidFill>
            <a:srgbClr val="FDEBD0"/>
          </a:solidFill>
          <a:ln w="25400">
            <a:solidFill>
              <a:srgbClr val="B45309"/>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ケーブルテレビ回線</a:t>
            </a:r>
            <a:endParaRPr lang="en-US" sz="1500" dirty="0"/>
          </a:p>
        </p:txBody>
      </p:sp>
      <p:sp>
        <p:nvSpPr>
          <p:cNvPr id="35" name="Shape 33"/>
          <p:cNvSpPr/>
          <p:nvPr/>
        </p:nvSpPr>
        <p:spPr>
          <a:xfrm flipH="1">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flipH="1">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接続する</a:t>
            </a:r>
            <a:endParaRPr lang="en-US" sz="1500" dirty="0"/>
          </a:p>
        </p:txBody>
      </p:sp>
      <p:sp>
        <p:nvSpPr>
          <p:cNvPr id="41" name="Shape 39"/>
          <p:cNvSpPr/>
          <p:nvPr/>
        </p:nvSpPr>
        <p:spPr>
          <a:xfrm>
            <a:off x="3566160" y="8499094"/>
            <a:ext cx="1600200" cy="676656"/>
          </a:xfrm>
          <a:prstGeom prst="roundRect">
            <a:avLst>
              <a:gd name="adj" fmla="val 16216"/>
            </a:avLst>
          </a:prstGeom>
          <a:solidFill>
            <a:srgbClr val="FDEBD0"/>
          </a:solidFill>
          <a:ln w="25400">
            <a:solidFill>
              <a:srgbClr val="B45309"/>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5" name="Shape 43"/>
          <p:cNvSpPr/>
          <p:nvPr/>
        </p:nvSpPr>
        <p:spPr>
          <a:xfrm>
            <a:off x="3566160" y="9285478"/>
            <a:ext cx="1600200" cy="676656"/>
          </a:xfrm>
          <a:prstGeom prst="roundRect">
            <a:avLst>
              <a:gd name="adj" fmla="val 16216"/>
            </a:avLst>
          </a:prstGeom>
          <a:solidFill>
            <a:srgbClr val="FCE4EE"/>
          </a:solidFill>
          <a:ln w="25400">
            <a:solidFill>
              <a:srgbClr val="A21C5B"/>
            </a:solidFill>
            <a:prstDash val="solid"/>
          </a:ln>
        </p:spPr>
      </p:sp>
      <p:sp>
        <p:nvSpPr>
          <p:cNvPr id="46" name="Text 44"/>
          <p:cNvSpPr txBox="1"/>
          <p:nvPr/>
        </p:nvSpPr>
        <p:spPr>
          <a:xfrm>
            <a:off x="3657600" y="928547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リモート就業</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47" name="Shape 45"/>
          <p:cNvSpPr/>
          <p:nvPr/>
        </p:nvSpPr>
        <p:spPr>
          <a:xfrm>
            <a:off x="1719072" y="9623806"/>
            <a:ext cx="1819656" cy="0"/>
          </a:xfrm>
          <a:prstGeom prst="line">
            <a:avLst/>
          </a:prstGeom>
          <a:noFill/>
          <a:ln w="31750">
            <a:solidFill>
              <a:srgbClr val="1B2A3A"/>
            </a:solidFill>
            <a:prstDash val="solid"/>
            <a:tailEnd type="triangle"/>
          </a:ln>
        </p:spPr>
      </p:sp>
      <p:sp>
        <p:nvSpPr>
          <p:cNvPr id="48" name="Text 46"/>
          <p:cNvSpPr txBox="1"/>
          <p:nvPr/>
        </p:nvSpPr>
        <p:spPr>
          <a:xfrm>
            <a:off x="1700784" y="932205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371</a:t>
            </a:fld>
            <a:endParaRPr lang="en-US"/>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name="Slide 3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固定回線</a:t>
            </a:r>
            <a:endParaRPr lang="ja-JP" sz="2200" dirty="0"/>
          </a:p>
        </p:txBody>
      </p:sp>
      <p:sp>
        <p:nvSpPr>
          <p:cNvPr id="4" name="Shape 2"/>
          <p:cNvSpPr/>
          <p:nvPr/>
        </p:nvSpPr>
        <p:spPr>
          <a:xfrm>
            <a:off x="320040" y="1318514"/>
            <a:ext cx="4846320" cy="3452368"/>
          </a:xfrm>
          <a:prstGeom prst="roundRect">
            <a:avLst>
              <a:gd name="adj" fmla="val 3708"/>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読み：こていかいせん・自宅に引く通信回線</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固定回線は、自宅など特定の場所に工事で引き込む通信回線です。建物の外にある通信会社の設備と、家の中のルーターとをつなぐ、「家からインターネットへの出口」にあたります。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FDEBD0"/>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代表的なのが光回線とケーブルテレビ回線です。一方、スマホの電波を使うモバイル回線は場所に結び付かず、持ち運べます。固定回線は電波の入りやすさに左右されにくく、長時間の会議や大きなファイルのやりとりに向きます。</a:t>
            </a:r>
            <a:endParaRPr lang="en-US" sz="2000" dirty="0"/>
          </a:p>
        </p:txBody>
      </p:sp>
      <p:sp>
        <p:nvSpPr>
          <p:cNvPr id="9" name="Shape 7"/>
          <p:cNvSpPr/>
          <p:nvPr/>
        </p:nvSpPr>
        <p:spPr>
          <a:xfrm>
            <a:off x="320040" y="7548626"/>
            <a:ext cx="4846320" cy="2296160"/>
          </a:xfrm>
          <a:prstGeom prst="roundRect">
            <a:avLst>
              <a:gd name="adj" fmla="val 5575"/>
            </a:avLst>
          </a:prstGeom>
          <a:solidFill>
            <a:srgbClr val="FDEBD0"/>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回線そのものを提供する会社と、インターネットへつなぐ事業者（プロバイダー）が別のことがあります。両方まとめて契約するセットもあります。どの種類の回線かは、契約書や請求書で確認できます。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372</a:t>
            </a:fld>
            <a:endParaRPr lang="en-US"/>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name="Slide 3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固定回線</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家に引き込んだ水道管。道路の下の本管（通信会社の設備）から家まで管が延び、蛇口（ルーター）をひねるとネットの水が出ます。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自宅のオンライン会議の画面が止まる、ネットが遅いという相談では、まず「どんな固定回線を契約しているか」を確認します。引っ越しのときは、新居に回線を引く手続きも必要です。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固定回線は「回線の種類」の話で、有線LANやWi-Fiは「家の中でPCをつなぐ方法」の話です。回線が光でも、Wi-Fiが弱ければ遅くなります。別の区間として分けて考えましょう。</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契約書や請求書、会社のマイページで、「光」「ケーブルテレビ」などの回線の種類を探しましょう。壁から出ている機器の名前も確認します。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373</a:t>
            </a:fld>
            <a:endParaRPr lang="en-US"/>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name="Slide 3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光回線</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光ファイバーで光の信号を送り、大量のデータを速く運ぶ通信回線。</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B45309"/>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3" name="Shape 21"/>
          <p:cNvSpPr/>
          <p:nvPr/>
        </p:nvSpPr>
        <p:spPr>
          <a:xfrm>
            <a:off x="320040" y="4234942"/>
            <a:ext cx="4846320" cy="1264920"/>
          </a:xfrm>
          <a:prstGeom prst="roundRect">
            <a:avLst>
              <a:gd name="adj" fmla="val 10120"/>
            </a:avLst>
          </a:prstGeom>
          <a:solidFill>
            <a:srgbClr val="FDEBD0"/>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建物の外の通信会社の設備から、家の壁のONUまでを、光ファイバーでつなぐ区間。</a:t>
            </a:r>
            <a:endParaRPr lang="en-US" sz="2000" dirty="0"/>
          </a:p>
        </p:txBody>
      </p:sp>
      <p:sp>
        <p:nvSpPr>
          <p:cNvPr id="25" name="Shape 23"/>
          <p:cNvSpPr/>
          <p:nvPr/>
        </p:nvSpPr>
        <p:spPr>
          <a:xfrm>
            <a:off x="320040" y="5682742"/>
            <a:ext cx="4846320" cy="402336"/>
          </a:xfrm>
          <a:prstGeom prst="roundRect">
            <a:avLst>
              <a:gd name="adj" fmla="val 22727"/>
            </a:avLst>
          </a:prstGeom>
          <a:solidFill>
            <a:srgbClr val="B45309"/>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B45309"/>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光回線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9" name="Shape 27"/>
          <p:cNvSpPr/>
          <p:nvPr/>
        </p:nvSpPr>
        <p:spPr>
          <a:xfrm>
            <a:off x="3566160" y="6139942"/>
            <a:ext cx="1600200" cy="676656"/>
          </a:xfrm>
          <a:prstGeom prst="roundRect">
            <a:avLst>
              <a:gd name="adj" fmla="val 16216"/>
            </a:avLst>
          </a:prstGeom>
          <a:solidFill>
            <a:srgbClr val="FDEBD0"/>
          </a:solidFill>
          <a:ln w="25400">
            <a:solidFill>
              <a:srgbClr val="B45309"/>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3" name="Shape 31"/>
          <p:cNvSpPr/>
          <p:nvPr/>
        </p:nvSpPr>
        <p:spPr>
          <a:xfrm>
            <a:off x="3566160" y="6926326"/>
            <a:ext cx="1600200" cy="676656"/>
          </a:xfrm>
          <a:prstGeom prst="roundRect">
            <a:avLst>
              <a:gd name="adj" fmla="val 16216"/>
            </a:avLst>
          </a:prstGeom>
          <a:solidFill>
            <a:srgbClr val="FDEBD0"/>
          </a:solidFill>
          <a:ln w="25400">
            <a:solidFill>
              <a:srgbClr val="B45309"/>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ケーブルテレビ回線</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7" name="Shape 35"/>
          <p:cNvSpPr/>
          <p:nvPr/>
        </p:nvSpPr>
        <p:spPr>
          <a:xfrm>
            <a:off x="3566160" y="771271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1" name="Shape 39"/>
          <p:cNvSpPr/>
          <p:nvPr/>
        </p:nvSpPr>
        <p:spPr>
          <a:xfrm>
            <a:off x="3566160" y="8499094"/>
            <a:ext cx="1600200" cy="676656"/>
          </a:xfrm>
          <a:prstGeom prst="roundRect">
            <a:avLst>
              <a:gd name="adj" fmla="val 16216"/>
            </a:avLst>
          </a:prstGeom>
          <a:solidFill>
            <a:srgbClr val="FDEBD0"/>
          </a:solidFill>
          <a:ln w="25400">
            <a:solidFill>
              <a:srgbClr val="B45309"/>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374</a:t>
            </a:fld>
            <a:endParaRPr lang="en-US"/>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name="Slide 3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光回線</a:t>
            </a:r>
            <a:endParaRPr lang="ja-JP" sz="2200" dirty="0"/>
          </a:p>
        </p:txBody>
      </p:sp>
      <p:sp>
        <p:nvSpPr>
          <p:cNvPr id="4" name="Shape 2"/>
          <p:cNvSpPr/>
          <p:nvPr/>
        </p:nvSpPr>
        <p:spPr>
          <a:xfrm>
            <a:off x="320040" y="1318514"/>
            <a:ext cx="4846320" cy="3452368"/>
          </a:xfrm>
          <a:prstGeom prst="roundRect">
            <a:avLst>
              <a:gd name="adj" fmla="val 3708"/>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読み：ひかりかいせん・光ファイバー回線</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光回線は、光ファイバー（ガラスなどでできた細い線）の中を光の点滅でデータが走る固定回線です。家に届いた光ファイバーは、ONU（光の信号とPC側の信号を変換する機器）につながります。</a:t>
            </a:r>
            <a:endParaRPr lang="en-US" sz="2000" dirty="0"/>
          </a:p>
        </p:txBody>
      </p:sp>
      <p:sp>
        <p:nvSpPr>
          <p:cNvPr id="7" name="Shape 5"/>
          <p:cNvSpPr/>
          <p:nvPr/>
        </p:nvSpPr>
        <p:spPr>
          <a:xfrm>
            <a:off x="320040" y="4844034"/>
            <a:ext cx="4846320" cy="1960880"/>
          </a:xfrm>
          <a:prstGeom prst="roundRect">
            <a:avLst>
              <a:gd name="adj" fmla="val 6528"/>
            </a:avLst>
          </a:prstGeom>
          <a:solidFill>
            <a:srgbClr val="FDEBD0"/>
          </a:solidFill>
          <a:ln/>
        </p:spPr>
      </p:sp>
      <p:sp>
        <p:nvSpPr>
          <p:cNvPr id="8" name="Text 6"/>
          <p:cNvSpPr txBox="1"/>
          <p:nvPr/>
        </p:nvSpPr>
        <p:spPr>
          <a:xfrm>
            <a:off x="502920" y="4935474"/>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電気信号を銅線で運ぶ回線に比べ、ノイズ（雑音）に強く、遠くまで信号が弱りにくい特徴があります。このため、大量のデータを速く安定して運びやすい回線です。</a:t>
            </a:r>
            <a:endParaRPr lang="en-US" sz="2000" dirty="0"/>
          </a:p>
        </p:txBody>
      </p:sp>
      <p:sp>
        <p:nvSpPr>
          <p:cNvPr id="9" name="Shape 7"/>
          <p:cNvSpPr/>
          <p:nvPr/>
        </p:nvSpPr>
        <p:spPr>
          <a:xfrm>
            <a:off x="320040" y="6878066"/>
            <a:ext cx="4846320" cy="1960880"/>
          </a:xfrm>
          <a:prstGeom prst="roundRect">
            <a:avLst>
              <a:gd name="adj" fmla="val 6528"/>
            </a:avLst>
          </a:prstGeom>
          <a:solidFill>
            <a:srgbClr val="FDEBD0"/>
          </a:solidFill>
          <a:ln/>
        </p:spPr>
      </p:sp>
      <p:sp>
        <p:nvSpPr>
          <p:cNvPr id="10" name="Text 8"/>
          <p:cNvSpPr txBox="1"/>
          <p:nvPr/>
        </p:nvSpPr>
        <p:spPr>
          <a:xfrm>
            <a:off x="502920" y="696950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道すじでは、PC → ルーター → ONU → 光ファイバー → プロバイダー → インターネットの順に並びます。ONUとルーターが1台に入った機器もあります。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375</a:t>
            </a:fld>
            <a:endParaRPr lang="en-US"/>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name="Slide 3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光回線</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ガラスの管の中を、光の点滅で信号が走るイメージ。光は遠くまで弱りにくく、大量の信号を乗せて走れる、太くて速い高速道路です。</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「光回線に申し込む」「光のコースにする」といった契約の場面で出てきます。引っ越しでは、新居が光回線の工事に対応しているかを、先に確認します。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「光回線だから必ず速い」とは限りません。速さはルーター、LANケーブル、Wi-Fi、時間帯の混雑でも変わります。集合住宅では、部屋の中まで光ファイバーでないこともあります。</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自分の家の契約名に「光」の字があるか確かめ、壁にあるONUという小さな箱と、そこから出る細いケーブルを探してみましょう。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376</a:t>
            </a:fld>
            <a:endParaRPr lang="en-US"/>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name="Slide 3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ケーブルテレビ回線</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ケーブルテレビ会社が、テレビ用のケーブル網を使って提供するネット回線。</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B45309"/>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3" name="Shape 21"/>
          <p:cNvSpPr/>
          <p:nvPr/>
        </p:nvSpPr>
        <p:spPr>
          <a:xfrm>
            <a:off x="320040" y="4234942"/>
            <a:ext cx="4846320" cy="929640"/>
          </a:xfrm>
          <a:prstGeom prst="roundRect">
            <a:avLst>
              <a:gd name="adj" fmla="val 13770"/>
            </a:avLst>
          </a:prstGeom>
          <a:solidFill>
            <a:srgbClr val="FDEBD0"/>
          </a:solidFill>
          <a:ln/>
        </p:spPr>
      </p:sp>
      <p:sp>
        <p:nvSpPr>
          <p:cNvPr id="24" name="Text 22"/>
          <p:cNvSpPr txBox="1"/>
          <p:nvPr/>
        </p:nvSpPr>
        <p:spPr>
          <a:xfrm>
            <a:off x="502920" y="4326382"/>
            <a:ext cx="4480560" cy="78333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地域のケーブルテレビ会社の設備から、家の壁までを結ぶ回線。</a:t>
            </a:r>
            <a:endParaRPr lang="en-US" sz="2000" dirty="0"/>
          </a:p>
        </p:txBody>
      </p:sp>
      <p:sp>
        <p:nvSpPr>
          <p:cNvPr id="25" name="Shape 23"/>
          <p:cNvSpPr/>
          <p:nvPr/>
        </p:nvSpPr>
        <p:spPr>
          <a:xfrm>
            <a:off x="320040" y="5347462"/>
            <a:ext cx="4846320" cy="402336"/>
          </a:xfrm>
          <a:prstGeom prst="roundRect">
            <a:avLst>
              <a:gd name="adj" fmla="val 22727"/>
            </a:avLst>
          </a:prstGeom>
          <a:solidFill>
            <a:srgbClr val="B45309"/>
          </a:solidFill>
          <a:ln/>
        </p:spPr>
      </p:sp>
      <p:sp>
        <p:nvSpPr>
          <p:cNvPr id="26" name="Text 24"/>
          <p:cNvSpPr txBox="1"/>
          <p:nvPr/>
        </p:nvSpPr>
        <p:spPr>
          <a:xfrm>
            <a:off x="411480" y="53474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5804662"/>
            <a:ext cx="1371600" cy="3035808"/>
          </a:xfrm>
          <a:prstGeom prst="roundRect">
            <a:avLst>
              <a:gd name="adj" fmla="val 8000"/>
            </a:avLst>
          </a:prstGeom>
          <a:solidFill>
            <a:srgbClr val="B45309"/>
          </a:solidFill>
          <a:ln/>
        </p:spPr>
      </p:sp>
      <p:sp>
        <p:nvSpPr>
          <p:cNvPr id="28" name="Text 26"/>
          <p:cNvSpPr txBox="1"/>
          <p:nvPr/>
        </p:nvSpPr>
        <p:spPr>
          <a:xfrm>
            <a:off x="411480" y="580466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ケーブルテレビ回線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9" name="Shape 27"/>
          <p:cNvSpPr/>
          <p:nvPr/>
        </p:nvSpPr>
        <p:spPr>
          <a:xfrm>
            <a:off x="3566160" y="5804662"/>
            <a:ext cx="1600200" cy="676656"/>
          </a:xfrm>
          <a:prstGeom prst="roundRect">
            <a:avLst>
              <a:gd name="adj" fmla="val 16216"/>
            </a:avLst>
          </a:prstGeom>
          <a:solidFill>
            <a:srgbClr val="FDEBD0"/>
          </a:solidFill>
          <a:ln w="25400">
            <a:solidFill>
              <a:srgbClr val="B45309"/>
            </a:solidFill>
            <a:prstDash val="solid"/>
          </a:ln>
        </p:spPr>
      </p:sp>
      <p:sp>
        <p:nvSpPr>
          <p:cNvPr id="30" name="Text 28"/>
          <p:cNvSpPr txBox="1"/>
          <p:nvPr/>
        </p:nvSpPr>
        <p:spPr>
          <a:xfrm>
            <a:off x="3657600" y="58046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1" name="Shape 29"/>
          <p:cNvSpPr/>
          <p:nvPr/>
        </p:nvSpPr>
        <p:spPr>
          <a:xfrm>
            <a:off x="1719072" y="6142990"/>
            <a:ext cx="1819656" cy="0"/>
          </a:xfrm>
          <a:prstGeom prst="line">
            <a:avLst/>
          </a:prstGeom>
          <a:noFill/>
          <a:ln w="31750">
            <a:solidFill>
              <a:srgbClr val="1B2A3A"/>
            </a:solidFill>
            <a:prstDash val="solid"/>
            <a:tailEnd type="triangle"/>
          </a:ln>
        </p:spPr>
      </p:sp>
      <p:sp>
        <p:nvSpPr>
          <p:cNvPr id="32" name="Text 30"/>
          <p:cNvSpPr txBox="1"/>
          <p:nvPr/>
        </p:nvSpPr>
        <p:spPr>
          <a:xfrm>
            <a:off x="1700784" y="58412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3" name="Shape 31"/>
          <p:cNvSpPr/>
          <p:nvPr/>
        </p:nvSpPr>
        <p:spPr>
          <a:xfrm>
            <a:off x="3566160" y="6591046"/>
            <a:ext cx="1600200" cy="676656"/>
          </a:xfrm>
          <a:prstGeom prst="roundRect">
            <a:avLst>
              <a:gd name="adj" fmla="val 16216"/>
            </a:avLst>
          </a:prstGeom>
          <a:solidFill>
            <a:srgbClr val="FDEBD0"/>
          </a:solidFill>
          <a:ln w="25400">
            <a:solidFill>
              <a:srgbClr val="B45309"/>
            </a:solidFill>
            <a:prstDash val="solid"/>
          </a:ln>
        </p:spPr>
      </p:sp>
      <p:sp>
        <p:nvSpPr>
          <p:cNvPr id="34" name="Text 32"/>
          <p:cNvSpPr txBox="1"/>
          <p:nvPr/>
        </p:nvSpPr>
        <p:spPr>
          <a:xfrm>
            <a:off x="3657600" y="65910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光回線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5" name="Shape 33"/>
          <p:cNvSpPr/>
          <p:nvPr/>
        </p:nvSpPr>
        <p:spPr>
          <a:xfrm>
            <a:off x="1719072" y="6929374"/>
            <a:ext cx="1819656" cy="0"/>
          </a:xfrm>
          <a:prstGeom prst="line">
            <a:avLst/>
          </a:prstGeom>
          <a:noFill/>
          <a:ln w="31750">
            <a:solidFill>
              <a:srgbClr val="1B2A3A"/>
            </a:solidFill>
            <a:prstDash val="solid"/>
            <a:headEnd type="triangle"/>
            <a:tailEnd type="triangle"/>
          </a:ln>
        </p:spPr>
      </p:sp>
      <p:sp>
        <p:nvSpPr>
          <p:cNvPr id="36" name="Text 34"/>
          <p:cNvSpPr txBox="1"/>
          <p:nvPr/>
        </p:nvSpPr>
        <p:spPr>
          <a:xfrm>
            <a:off x="1700784" y="66276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7" name="Shape 35"/>
          <p:cNvSpPr/>
          <p:nvPr/>
        </p:nvSpPr>
        <p:spPr>
          <a:xfrm>
            <a:off x="3566160" y="7377430"/>
            <a:ext cx="1600200" cy="676656"/>
          </a:xfrm>
          <a:prstGeom prst="roundRect">
            <a:avLst>
              <a:gd name="adj" fmla="val 16216"/>
            </a:avLst>
          </a:prstGeom>
          <a:solidFill>
            <a:srgbClr val="E2E8F0"/>
          </a:solidFill>
          <a:ln w="25400">
            <a:solidFill>
              <a:srgbClr val="475569"/>
            </a:solidFill>
            <a:prstDash val="solid"/>
          </a:ln>
        </p:spPr>
      </p:sp>
      <p:sp>
        <p:nvSpPr>
          <p:cNvPr id="38" name="Text 36"/>
          <p:cNvSpPr txBox="1"/>
          <p:nvPr/>
        </p:nvSpPr>
        <p:spPr>
          <a:xfrm>
            <a:off x="3657600" y="73774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9" name="Shape 37"/>
          <p:cNvSpPr/>
          <p:nvPr/>
        </p:nvSpPr>
        <p:spPr>
          <a:xfrm>
            <a:off x="1719072" y="7715758"/>
            <a:ext cx="1819656" cy="0"/>
          </a:xfrm>
          <a:prstGeom prst="line">
            <a:avLst/>
          </a:prstGeom>
          <a:noFill/>
          <a:ln w="31750">
            <a:solidFill>
              <a:srgbClr val="1B2A3A"/>
            </a:solidFill>
            <a:prstDash val="solid"/>
            <a:tailEnd type="triangle"/>
          </a:ln>
        </p:spPr>
      </p:sp>
      <p:sp>
        <p:nvSpPr>
          <p:cNvPr id="40" name="Text 38"/>
          <p:cNvSpPr txBox="1"/>
          <p:nvPr/>
        </p:nvSpPr>
        <p:spPr>
          <a:xfrm>
            <a:off x="1700784" y="74140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1" name="Shape 39"/>
          <p:cNvSpPr/>
          <p:nvPr/>
        </p:nvSpPr>
        <p:spPr>
          <a:xfrm>
            <a:off x="3566160" y="8163814"/>
            <a:ext cx="1600200" cy="676656"/>
          </a:xfrm>
          <a:prstGeom prst="roundRect">
            <a:avLst>
              <a:gd name="adj" fmla="val 16216"/>
            </a:avLst>
          </a:prstGeom>
          <a:solidFill>
            <a:srgbClr val="FDEBD0"/>
          </a:solidFill>
          <a:ln w="25400">
            <a:solidFill>
              <a:srgbClr val="B45309"/>
            </a:solidFill>
            <a:prstDash val="solid"/>
          </a:ln>
        </p:spPr>
      </p:sp>
      <p:sp>
        <p:nvSpPr>
          <p:cNvPr id="42" name="Text 40"/>
          <p:cNvSpPr txBox="1"/>
          <p:nvPr/>
        </p:nvSpPr>
        <p:spPr>
          <a:xfrm>
            <a:off x="3657600" y="81638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3" name="Shape 41"/>
          <p:cNvSpPr/>
          <p:nvPr/>
        </p:nvSpPr>
        <p:spPr>
          <a:xfrm>
            <a:off x="1719072" y="8502142"/>
            <a:ext cx="1819656" cy="0"/>
          </a:xfrm>
          <a:prstGeom prst="line">
            <a:avLst/>
          </a:prstGeom>
          <a:noFill/>
          <a:ln w="31750">
            <a:solidFill>
              <a:srgbClr val="1B2A3A"/>
            </a:solidFill>
            <a:prstDash val="solid"/>
            <a:tailEnd type="triangle"/>
          </a:ln>
        </p:spPr>
      </p:sp>
      <p:sp>
        <p:nvSpPr>
          <p:cNvPr id="44" name="Text 42"/>
          <p:cNvSpPr txBox="1"/>
          <p:nvPr/>
        </p:nvSpPr>
        <p:spPr>
          <a:xfrm>
            <a:off x="1700784" y="82003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377</a:t>
            </a:fld>
            <a:endParaRPr lang="en-US"/>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name="Slide 3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ケーブルテレビ回線</a:t>
            </a:r>
            <a:endParaRPr lang="ja-JP" sz="2200" dirty="0"/>
          </a:p>
        </p:txBody>
      </p:sp>
      <p:sp>
        <p:nvSpPr>
          <p:cNvPr id="4" name="Shape 2"/>
          <p:cNvSpPr/>
          <p:nvPr/>
        </p:nvSpPr>
        <p:spPr>
          <a:xfrm>
            <a:off x="320040" y="1318514"/>
            <a:ext cx="4846320" cy="3787648"/>
          </a:xfrm>
          <a:prstGeom prst="roundRect">
            <a:avLst>
              <a:gd name="adj" fmla="val 3380"/>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読み：ケーブルテレビかいせん・CATV（シーエーティーブイ）</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ケーブルテレビ回線は、地域のケーブルテレビ会社が、テレビ放送と一緒に提供するインターネット回線です。放送用に引かれたケーブル網をネットにも使うため、テレビとネットを同じ会社でまとめて契約できます。</a:t>
            </a:r>
            <a:endParaRPr lang="en-US" sz="2000" dirty="0"/>
          </a:p>
        </p:txBody>
      </p:sp>
      <p:sp>
        <p:nvSpPr>
          <p:cNvPr id="7" name="Shape 5"/>
          <p:cNvSpPr/>
          <p:nvPr/>
        </p:nvSpPr>
        <p:spPr>
          <a:xfrm>
            <a:off x="320040" y="5179314"/>
            <a:ext cx="4846320" cy="2296160"/>
          </a:xfrm>
          <a:prstGeom prst="roundRect">
            <a:avLst>
              <a:gd name="adj" fmla="val 5575"/>
            </a:avLst>
          </a:prstGeom>
          <a:solidFill>
            <a:srgbClr val="FDEBD0"/>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家の中では、同軸ケーブル（テレビのアンテナ線のような太い線）と、ケーブルモデム（信号を変換する機器）を使うタイプが代表的です。会社によっては、光ファイバーを使うコースもあります。</a:t>
            </a:r>
            <a:endParaRPr lang="en-US" sz="2000" dirty="0"/>
          </a:p>
        </p:txBody>
      </p:sp>
      <p:sp>
        <p:nvSpPr>
          <p:cNvPr id="9" name="Shape 7"/>
          <p:cNvSpPr/>
          <p:nvPr/>
        </p:nvSpPr>
        <p:spPr>
          <a:xfrm>
            <a:off x="320040" y="7548626"/>
            <a:ext cx="4846320" cy="1960880"/>
          </a:xfrm>
          <a:prstGeom prst="roundRect">
            <a:avLst>
              <a:gd name="adj" fmla="val 6528"/>
            </a:avLst>
          </a:prstGeom>
          <a:solidFill>
            <a:srgbClr val="FDEBD0"/>
          </a:solidFill>
          <a:ln/>
        </p:spPr>
      </p:sp>
      <p:sp>
        <p:nvSpPr>
          <p:cNvPr id="10" name="Text 8"/>
          <p:cNvSpPr txBox="1"/>
          <p:nvPr/>
        </p:nvSpPr>
        <p:spPr>
          <a:xfrm>
            <a:off x="502920" y="7640066"/>
            <a:ext cx="4480560" cy="181457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道すじでは、PC → ルーター → ケーブルモデム → ケーブルテレビ会社の網 → インターネットの順です。サービスの提供エリアは、会社ごとの地域で決まっています。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378</a:t>
            </a:fld>
            <a:endParaRPr lang="en-US"/>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name="Slide 3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ケーブルテレビ回線</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1本の道路を、バスと宅配便の両方が走るイメージ。テレビ放送とインターネットのデータが、同じケーブル網を、別々の信号で走ります。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地域のケーブルテレビ会社と、テレビとネットをまとめて契約している家庭で使われます。契約書に会社名が書かれ、壁の近くにケーブルモデムなどの機器が置かれています。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「ケーブルテレビ回線」と「光回線」は、完全な別物とは限りません。ケーブルテレビ会社が光ファイバーのコースを出していることもあるので、契約名と設置機器で確認します。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契約書や請求書で会社名とコース名を調べ、壁から出ているのが同軸ケーブルか光ファイバーか、機器の名前も確認してみましょう。</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379</a:t>
            </a:fld>
            <a:endParaRPr lang="en-US"/>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name="Slide 3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有線LAN</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LANケーブルでPCとルーターを直接つなぐ、安定した接続方法。</a:t>
            </a:r>
            <a:endParaRPr lang="en-US" sz="1800" dirty="0"/>
          </a:p>
        </p:txBody>
      </p:sp>
      <p:sp>
        <p:nvSpPr>
          <p:cNvPr id="7" name="Text 5"/>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8" name="Shape 6"/>
          <p:cNvSpPr/>
          <p:nvPr/>
        </p:nvSpPr>
        <p:spPr>
          <a:xfrm>
            <a:off x="320040" y="2863342"/>
            <a:ext cx="1156716" cy="384048"/>
          </a:xfrm>
          <a:prstGeom prst="roundRect">
            <a:avLst>
              <a:gd name="adj" fmla="val 23810"/>
            </a:avLst>
          </a:prstGeom>
          <a:solidFill>
            <a:srgbClr val="EEF1F5"/>
          </a:solidFill>
          <a:ln/>
        </p:spPr>
      </p:sp>
      <p:sp>
        <p:nvSpPr>
          <p:cNvPr id="9" name="Text 7"/>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10" name="Shape 8"/>
          <p:cNvSpPr/>
          <p:nvPr/>
        </p:nvSpPr>
        <p:spPr>
          <a:xfrm>
            <a:off x="1549908" y="2863342"/>
            <a:ext cx="1156716" cy="384048"/>
          </a:xfrm>
          <a:prstGeom prst="roundRect">
            <a:avLst>
              <a:gd name="adj" fmla="val 23810"/>
            </a:avLst>
          </a:prstGeom>
          <a:solidFill>
            <a:srgbClr val="EEF1F5"/>
          </a:solidFill>
          <a:ln/>
        </p:spPr>
      </p:sp>
      <p:sp>
        <p:nvSpPr>
          <p:cNvPr id="11" name="Text 9"/>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2" name="Shape 10"/>
          <p:cNvSpPr/>
          <p:nvPr/>
        </p:nvSpPr>
        <p:spPr>
          <a:xfrm>
            <a:off x="2779776" y="2863342"/>
            <a:ext cx="1156716" cy="384048"/>
          </a:xfrm>
          <a:prstGeom prst="roundRect">
            <a:avLst>
              <a:gd name="adj" fmla="val 23810"/>
            </a:avLst>
          </a:prstGeom>
          <a:solidFill>
            <a:srgbClr val="EEF1F5"/>
          </a:solidFill>
          <a:ln/>
        </p:spPr>
      </p:sp>
      <p:sp>
        <p:nvSpPr>
          <p:cNvPr id="13" name="Text 11"/>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4" name="Shape 12"/>
          <p:cNvSpPr/>
          <p:nvPr/>
        </p:nvSpPr>
        <p:spPr>
          <a:xfrm>
            <a:off x="4009644" y="2863342"/>
            <a:ext cx="1156716" cy="384048"/>
          </a:xfrm>
          <a:prstGeom prst="roundRect">
            <a:avLst>
              <a:gd name="adj" fmla="val 23810"/>
            </a:avLst>
          </a:prstGeom>
          <a:solidFill>
            <a:srgbClr val="EEF1F5"/>
          </a:solidFill>
          <a:ln/>
        </p:spPr>
      </p:sp>
      <p:sp>
        <p:nvSpPr>
          <p:cNvPr id="15" name="Text 13"/>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6" name="Shape 14"/>
          <p:cNvSpPr/>
          <p:nvPr/>
        </p:nvSpPr>
        <p:spPr>
          <a:xfrm>
            <a:off x="320040" y="3302254"/>
            <a:ext cx="1566672" cy="384048"/>
          </a:xfrm>
          <a:prstGeom prst="roundRect">
            <a:avLst>
              <a:gd name="adj" fmla="val 23810"/>
            </a:avLst>
          </a:prstGeom>
          <a:solidFill>
            <a:srgbClr val="EEF1F5"/>
          </a:solidFill>
          <a:ln/>
        </p:spPr>
      </p:sp>
      <p:sp>
        <p:nvSpPr>
          <p:cNvPr id="17" name="Text 15"/>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8" name="Shape 16"/>
          <p:cNvSpPr/>
          <p:nvPr/>
        </p:nvSpPr>
        <p:spPr>
          <a:xfrm>
            <a:off x="1959864" y="3302254"/>
            <a:ext cx="1566672" cy="384048"/>
          </a:xfrm>
          <a:prstGeom prst="roundRect">
            <a:avLst>
              <a:gd name="adj" fmla="val 23810"/>
            </a:avLst>
          </a:prstGeom>
          <a:solidFill>
            <a:srgbClr val="B45309"/>
          </a:solidFill>
          <a:ln/>
        </p:spPr>
      </p:sp>
      <p:sp>
        <p:nvSpPr>
          <p:cNvPr id="19" name="Text 17"/>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20" name="Shape 18"/>
          <p:cNvSpPr/>
          <p:nvPr/>
        </p:nvSpPr>
        <p:spPr>
          <a:xfrm>
            <a:off x="3599688" y="3302254"/>
            <a:ext cx="1566672" cy="384048"/>
          </a:xfrm>
          <a:prstGeom prst="roundRect">
            <a:avLst>
              <a:gd name="adj" fmla="val 23810"/>
            </a:avLst>
          </a:prstGeom>
          <a:solidFill>
            <a:srgbClr val="EEF1F5"/>
          </a:solidFill>
          <a:ln/>
        </p:spPr>
      </p:sp>
      <p:sp>
        <p:nvSpPr>
          <p:cNvPr id="21" name="Text 19"/>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2" name="Text 20"/>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3" name="Shape 21"/>
          <p:cNvSpPr/>
          <p:nvPr/>
        </p:nvSpPr>
        <p:spPr>
          <a:xfrm>
            <a:off x="320040" y="4234942"/>
            <a:ext cx="4846320" cy="1264920"/>
          </a:xfrm>
          <a:prstGeom prst="roundRect">
            <a:avLst>
              <a:gd name="adj" fmla="val 10120"/>
            </a:avLst>
          </a:prstGeom>
          <a:solidFill>
            <a:srgbClr val="FDEBD0"/>
          </a:solidFill>
          <a:ln/>
        </p:spPr>
      </p:sp>
      <p:sp>
        <p:nvSpPr>
          <p:cNvPr id="24" name="Text 22"/>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家や建物の中で、PCとルーターを結ぶ区間。ケーブルでつなぐ方法。</a:t>
            </a:r>
            <a:endParaRPr lang="en-US" sz="2000" dirty="0"/>
          </a:p>
        </p:txBody>
      </p:sp>
      <p:sp>
        <p:nvSpPr>
          <p:cNvPr id="25" name="Shape 23"/>
          <p:cNvSpPr/>
          <p:nvPr/>
        </p:nvSpPr>
        <p:spPr>
          <a:xfrm>
            <a:off x="320040" y="5682742"/>
            <a:ext cx="4846320" cy="402336"/>
          </a:xfrm>
          <a:prstGeom prst="roundRect">
            <a:avLst>
              <a:gd name="adj" fmla="val 22727"/>
            </a:avLst>
          </a:prstGeom>
          <a:solidFill>
            <a:srgbClr val="B45309"/>
          </a:solidFill>
          <a:ln/>
        </p:spPr>
      </p:sp>
      <p:sp>
        <p:nvSpPr>
          <p:cNvPr id="26" name="Text 24"/>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139942"/>
            <a:ext cx="1371600" cy="3035808"/>
          </a:xfrm>
          <a:prstGeom prst="roundRect">
            <a:avLst>
              <a:gd name="adj" fmla="val 8000"/>
            </a:avLst>
          </a:prstGeom>
          <a:solidFill>
            <a:srgbClr val="B45309"/>
          </a:solidFill>
          <a:ln/>
        </p:spPr>
      </p:sp>
      <p:sp>
        <p:nvSpPr>
          <p:cNvPr id="28" name="Text 26"/>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有線LAN</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9" name="Shape 27"/>
          <p:cNvSpPr/>
          <p:nvPr/>
        </p:nvSpPr>
        <p:spPr>
          <a:xfrm>
            <a:off x="3566160" y="6139942"/>
            <a:ext cx="1600200" cy="676656"/>
          </a:xfrm>
          <a:prstGeom prst="roundRect">
            <a:avLst>
              <a:gd name="adj" fmla="val 16216"/>
            </a:avLst>
          </a:prstGeom>
          <a:solidFill>
            <a:srgbClr val="FDEBD0"/>
          </a:solidFill>
          <a:ln w="25400">
            <a:solidFill>
              <a:srgbClr val="B45309"/>
            </a:solidFill>
            <a:prstDash val="solid"/>
          </a:ln>
        </p:spPr>
      </p:sp>
      <p:sp>
        <p:nvSpPr>
          <p:cNvPr id="30" name="Text 28"/>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1" name="Shape 29"/>
          <p:cNvSpPr/>
          <p:nvPr/>
        </p:nvSpPr>
        <p:spPr>
          <a:xfrm>
            <a:off x="1719072" y="6478270"/>
            <a:ext cx="1819656" cy="0"/>
          </a:xfrm>
          <a:prstGeom prst="line">
            <a:avLst/>
          </a:prstGeom>
          <a:noFill/>
          <a:ln w="31750">
            <a:solidFill>
              <a:srgbClr val="1B2A3A"/>
            </a:solidFill>
            <a:prstDash val="solid"/>
            <a:tailEnd type="triangle"/>
          </a:ln>
        </p:spPr>
      </p:sp>
      <p:sp>
        <p:nvSpPr>
          <p:cNvPr id="32" name="Text 30"/>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3" name="Shape 31"/>
          <p:cNvSpPr/>
          <p:nvPr/>
        </p:nvSpPr>
        <p:spPr>
          <a:xfrm>
            <a:off x="3566160" y="6926326"/>
            <a:ext cx="1600200" cy="676656"/>
          </a:xfrm>
          <a:prstGeom prst="roundRect">
            <a:avLst>
              <a:gd name="adj" fmla="val 16216"/>
            </a:avLst>
          </a:prstGeom>
          <a:solidFill>
            <a:srgbClr val="E2E8F0"/>
          </a:solidFill>
          <a:ln w="25400">
            <a:solidFill>
              <a:srgbClr val="475569"/>
            </a:solidFill>
            <a:prstDash val="solid"/>
          </a:ln>
        </p:spPr>
      </p:sp>
      <p:sp>
        <p:nvSpPr>
          <p:cNvPr id="34" name="Text 32"/>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5" name="Shape 33"/>
          <p:cNvSpPr/>
          <p:nvPr/>
        </p:nvSpPr>
        <p:spPr>
          <a:xfrm>
            <a:off x="1719072" y="7264654"/>
            <a:ext cx="1819656" cy="0"/>
          </a:xfrm>
          <a:prstGeom prst="line">
            <a:avLst/>
          </a:prstGeom>
          <a:noFill/>
          <a:ln w="31750">
            <a:solidFill>
              <a:srgbClr val="1B2A3A"/>
            </a:solidFill>
            <a:prstDash val="solid"/>
            <a:tailEnd type="triangle"/>
          </a:ln>
        </p:spPr>
      </p:sp>
      <p:sp>
        <p:nvSpPr>
          <p:cNvPr id="36" name="Text 34"/>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有線でつなぐ</a:t>
            </a:r>
            <a:endParaRPr lang="en-US" sz="1500" dirty="0"/>
          </a:p>
        </p:txBody>
      </p:sp>
      <p:sp>
        <p:nvSpPr>
          <p:cNvPr id="37" name="Shape 35"/>
          <p:cNvSpPr/>
          <p:nvPr/>
        </p:nvSpPr>
        <p:spPr>
          <a:xfrm>
            <a:off x="3566160" y="7712710"/>
            <a:ext cx="1600200" cy="676656"/>
          </a:xfrm>
          <a:prstGeom prst="roundRect">
            <a:avLst>
              <a:gd name="adj" fmla="val 16216"/>
            </a:avLst>
          </a:prstGeom>
          <a:solidFill>
            <a:srgbClr val="FDEBD0"/>
          </a:solidFill>
          <a:ln w="25400">
            <a:solidFill>
              <a:srgbClr val="B45309"/>
            </a:solidFill>
            <a:prstDash val="solid"/>
          </a:ln>
        </p:spPr>
      </p:sp>
      <p:sp>
        <p:nvSpPr>
          <p:cNvPr id="38" name="Text 36"/>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9" name="Shape 37"/>
          <p:cNvSpPr/>
          <p:nvPr/>
        </p:nvSpPr>
        <p:spPr>
          <a:xfrm>
            <a:off x="1719072" y="8051038"/>
            <a:ext cx="1819656" cy="0"/>
          </a:xfrm>
          <a:prstGeom prst="line">
            <a:avLst/>
          </a:prstGeom>
          <a:noFill/>
          <a:ln w="31750">
            <a:solidFill>
              <a:srgbClr val="1B2A3A"/>
            </a:solidFill>
            <a:prstDash val="solid"/>
            <a:headEnd type="triangle"/>
            <a:tailEnd type="triangle"/>
          </a:ln>
        </p:spPr>
      </p:sp>
      <p:sp>
        <p:nvSpPr>
          <p:cNvPr id="40" name="Text 38"/>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1" name="Shape 39"/>
          <p:cNvSpPr/>
          <p:nvPr/>
        </p:nvSpPr>
        <p:spPr>
          <a:xfrm>
            <a:off x="3566160" y="8499094"/>
            <a:ext cx="1600200" cy="676656"/>
          </a:xfrm>
          <a:prstGeom prst="roundRect">
            <a:avLst>
              <a:gd name="adj" fmla="val 16216"/>
            </a:avLst>
          </a:prstGeom>
          <a:solidFill>
            <a:srgbClr val="FCE4EE"/>
          </a:solidFill>
          <a:ln w="25400">
            <a:solidFill>
              <a:srgbClr val="A21C5B"/>
            </a:solidFill>
            <a:prstDash val="solid"/>
          </a:ln>
        </p:spPr>
      </p:sp>
      <p:sp>
        <p:nvSpPr>
          <p:cNvPr id="42" name="Text 40"/>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リモート就業</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43" name="Shape 41"/>
          <p:cNvSpPr/>
          <p:nvPr/>
        </p:nvSpPr>
        <p:spPr>
          <a:xfrm>
            <a:off x="1719072" y="8837422"/>
            <a:ext cx="1819656" cy="0"/>
          </a:xfrm>
          <a:prstGeom prst="line">
            <a:avLst/>
          </a:prstGeom>
          <a:noFill/>
          <a:ln w="31750">
            <a:solidFill>
              <a:srgbClr val="1B2A3A"/>
            </a:solidFill>
            <a:prstDash val="solid"/>
            <a:tailEnd type="triangle"/>
          </a:ln>
        </p:spPr>
      </p:sp>
      <p:sp>
        <p:nvSpPr>
          <p:cNvPr id="44" name="Text 42"/>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45" name="Text 43"/>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380</a:t>
            </a:fld>
            <a:endParaRPr lang="en-US"/>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name="Slide 3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有線LAN</a:t>
            </a:r>
            <a:endParaRPr lang="ja-JP" sz="2200" dirty="0"/>
          </a:p>
        </p:txBody>
      </p:sp>
      <p:sp>
        <p:nvSpPr>
          <p:cNvPr id="4" name="Shape 2"/>
          <p:cNvSpPr/>
          <p:nvPr/>
        </p:nvSpPr>
        <p:spPr>
          <a:xfrm>
            <a:off x="320040" y="1318514"/>
            <a:ext cx="4846320" cy="3787648"/>
          </a:xfrm>
          <a:prstGeom prst="roundRect">
            <a:avLst>
              <a:gd name="adj" fmla="val 3380"/>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325729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読み：ゆうせんラン（Local Area Network・LANケーブル）</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LAN（ラン）は、家や学校、会社の建物の中のような、狭い範囲のネットワークです。有線LANは、その中でPCとルーターなどをLANケーブルで結ぶ方法で、PCのLANポート（差し込み口）にケーブルを差して使います。</a:t>
            </a:r>
            <a:endParaRPr lang="en-US" sz="2000" dirty="0"/>
          </a:p>
        </p:txBody>
      </p:sp>
      <p:sp>
        <p:nvSpPr>
          <p:cNvPr id="7" name="Shape 5"/>
          <p:cNvSpPr/>
          <p:nvPr/>
        </p:nvSpPr>
        <p:spPr>
          <a:xfrm>
            <a:off x="320040" y="5179314"/>
            <a:ext cx="4846320" cy="2296160"/>
          </a:xfrm>
          <a:prstGeom prst="roundRect">
            <a:avLst>
              <a:gd name="adj" fmla="val 5575"/>
            </a:avLst>
          </a:prstGeom>
          <a:solidFill>
            <a:srgbClr val="FDEBD0"/>
          </a:solidFill>
          <a:ln/>
        </p:spPr>
      </p:sp>
      <p:sp>
        <p:nvSpPr>
          <p:cNvPr id="8" name="Text 6"/>
          <p:cNvSpPr txBox="1"/>
          <p:nvPr/>
        </p:nvSpPr>
        <p:spPr>
          <a:xfrm>
            <a:off x="502920" y="5270754"/>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電波を使わないので、周りの電波の混雑や壁に邪魔されにくく、通信が安定します。オンライン会議の音声が途切れにくいのが利点です。反対に、ケーブルの長さの範囲でしか動けません。</a:t>
            </a:r>
            <a:endParaRPr lang="en-US" sz="2000" dirty="0"/>
          </a:p>
        </p:txBody>
      </p:sp>
      <p:sp>
        <p:nvSpPr>
          <p:cNvPr id="9" name="Shape 7"/>
          <p:cNvSpPr/>
          <p:nvPr/>
        </p:nvSpPr>
        <p:spPr>
          <a:xfrm>
            <a:off x="320040" y="7548626"/>
            <a:ext cx="4846320" cy="2631440"/>
          </a:xfrm>
          <a:prstGeom prst="roundRect">
            <a:avLst>
              <a:gd name="adj" fmla="val 4865"/>
            </a:avLst>
          </a:prstGeom>
          <a:solidFill>
            <a:srgbClr val="FDEBD0"/>
          </a:solidFill>
          <a:ln/>
        </p:spPr>
      </p:sp>
      <p:sp>
        <p:nvSpPr>
          <p:cNvPr id="10" name="Text 8"/>
          <p:cNvSpPr txBox="1"/>
          <p:nvPr/>
        </p:nvSpPr>
        <p:spPr>
          <a:xfrm>
            <a:off x="502920" y="7640066"/>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道すじでは「PC →（LANケーブル）→ ルーター」の区間です。ケーブルには規格（CAT5eやCAT6などのカテゴリ）があり、対応できる速さが違います。薄型のノートPCにはLANポートがなく、変換アダプターが必要なこともあります。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381</a:t>
            </a:fld>
            <a:endParaRPr lang="en-US"/>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name="Slide 3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有線LAN</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糸電話。糸（LANケーブル）でつながっているので、周りが騒がしくても（電波が混んでいても）声が届きますが、糸の長さまでしか動けません。</a:t>
            </a:r>
            <a:endParaRPr lang="en-US" sz="2000" dirty="0"/>
          </a:p>
        </p:txBody>
      </p:sp>
      <p:sp>
        <p:nvSpPr>
          <p:cNvPr id="6" name="Shape 4"/>
          <p:cNvSpPr/>
          <p:nvPr/>
        </p:nvSpPr>
        <p:spPr>
          <a:xfrm>
            <a:off x="320040" y="3436874"/>
            <a:ext cx="4846320" cy="1935480"/>
          </a:xfrm>
          <a:prstGeom prst="roundRect">
            <a:avLst>
              <a:gd name="adj" fmla="val 6614"/>
            </a:avLst>
          </a:prstGeom>
          <a:solidFill>
            <a:srgbClr val="DCE8F8"/>
          </a:solidFill>
          <a:ln/>
        </p:spPr>
      </p:sp>
      <p:sp>
        <p:nvSpPr>
          <p:cNvPr id="7" name="Text 5"/>
          <p:cNvSpPr txBox="1"/>
          <p:nvPr/>
        </p:nvSpPr>
        <p:spPr>
          <a:xfrm>
            <a:off x="502920" y="3528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自宅の会議用PCとルーターをケーブルでつなぐ、ゲームの対戦で通信の遅れ（ラグ）を減らすためにつなぐ、といった場面で選ばれます。</a:t>
            </a:r>
            <a:endParaRPr lang="en-US" sz="2000" dirty="0"/>
          </a:p>
        </p:txBody>
      </p:sp>
      <p:sp>
        <p:nvSpPr>
          <p:cNvPr id="8" name="Shape 6"/>
          <p:cNvSpPr/>
          <p:nvPr/>
        </p:nvSpPr>
        <p:spPr>
          <a:xfrm>
            <a:off x="320040" y="5555234"/>
            <a:ext cx="4846320" cy="2270760"/>
          </a:xfrm>
          <a:prstGeom prst="roundRect">
            <a:avLst>
              <a:gd name="adj" fmla="val 5638"/>
            </a:avLst>
          </a:prstGeom>
          <a:solidFill>
            <a:srgbClr val="FBE3E0"/>
          </a:solidFill>
          <a:ln/>
        </p:spPr>
      </p:sp>
      <p:sp>
        <p:nvSpPr>
          <p:cNvPr id="9" name="Text 7"/>
          <p:cNvSpPr txBox="1"/>
          <p:nvPr/>
        </p:nvSpPr>
        <p:spPr>
          <a:xfrm>
            <a:off x="502920" y="564667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有線LANは「インターネットそのもの」ではなく、家の中でつなぐ方法です。ルーターから先の回線が止まれば、ケーブルでつないでいてもネットは使えません。</a:t>
            </a:r>
            <a:endParaRPr lang="en-US" sz="2000" dirty="0"/>
          </a:p>
        </p:txBody>
      </p:sp>
      <p:sp>
        <p:nvSpPr>
          <p:cNvPr id="10" name="Shape 8"/>
          <p:cNvSpPr/>
          <p:nvPr/>
        </p:nvSpPr>
        <p:spPr>
          <a:xfrm>
            <a:off x="320040" y="8008874"/>
            <a:ext cx="4846320" cy="1935480"/>
          </a:xfrm>
          <a:prstGeom prst="roundRect">
            <a:avLst>
              <a:gd name="adj" fmla="val 6614"/>
            </a:avLst>
          </a:prstGeom>
          <a:solidFill>
            <a:srgbClr val="DDF1E4"/>
          </a:solidFill>
          <a:ln/>
        </p:spPr>
      </p:sp>
      <p:sp>
        <p:nvSpPr>
          <p:cNvPr id="11" name="Text 9"/>
          <p:cNvSpPr txBox="1"/>
          <p:nvPr/>
        </p:nvSpPr>
        <p:spPr>
          <a:xfrm>
            <a:off x="502920" y="810031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PCの側面や背面にLANポートがあるか確かめましょう。なければ変換アダプターの種類を調べます。ケーブルの表面に「CAT6」などの印字があるかも見ます。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382</a:t>
            </a:fld>
            <a:endParaRPr lang="en-US"/>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name="Slide 3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Wi-Fi</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電波でPCやスマホをルーターにつなぐ、ケーブルのいらない接続方法。</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EEF1F5"/>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2" name="Shape 20"/>
          <p:cNvSpPr/>
          <p:nvPr/>
        </p:nvSpPr>
        <p:spPr>
          <a:xfrm>
            <a:off x="320040" y="4234942"/>
            <a:ext cx="4846320" cy="1264920"/>
          </a:xfrm>
          <a:prstGeom prst="roundRect">
            <a:avLst>
              <a:gd name="adj" fmla="val 10120"/>
            </a:avLst>
          </a:prstGeom>
          <a:solidFill>
            <a:srgbClr val="FDEBD0"/>
          </a:solidFill>
          <a:ln/>
        </p:spPr>
      </p:sp>
      <p:sp>
        <p:nvSpPr>
          <p:cNvPr id="23" name="Text 21"/>
          <p:cNvSpPr txBox="1"/>
          <p:nvPr/>
        </p:nvSpPr>
        <p:spPr>
          <a:xfrm>
            <a:off x="502920" y="432638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家の中で、PCやスマホとルーターを電波でつなぐ区間。回線そのものではない。</a:t>
            </a:r>
            <a:endParaRPr lang="en-US" sz="2000" dirty="0"/>
          </a:p>
        </p:txBody>
      </p:sp>
      <p:sp>
        <p:nvSpPr>
          <p:cNvPr id="24" name="Shape 22"/>
          <p:cNvSpPr/>
          <p:nvPr/>
        </p:nvSpPr>
        <p:spPr>
          <a:xfrm>
            <a:off x="320040" y="5682742"/>
            <a:ext cx="4846320" cy="402336"/>
          </a:xfrm>
          <a:prstGeom prst="roundRect">
            <a:avLst>
              <a:gd name="adj" fmla="val 22727"/>
            </a:avLst>
          </a:prstGeom>
          <a:solidFill>
            <a:srgbClr val="B45309"/>
          </a:solidFill>
          <a:ln/>
        </p:spPr>
      </p:sp>
      <p:sp>
        <p:nvSpPr>
          <p:cNvPr id="25" name="Text 23"/>
          <p:cNvSpPr txBox="1"/>
          <p:nvPr/>
        </p:nvSpPr>
        <p:spPr>
          <a:xfrm>
            <a:off x="411480" y="568274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6" name="Shape 24"/>
          <p:cNvSpPr/>
          <p:nvPr/>
        </p:nvSpPr>
        <p:spPr>
          <a:xfrm>
            <a:off x="320040" y="6139942"/>
            <a:ext cx="1371600" cy="3035808"/>
          </a:xfrm>
          <a:prstGeom prst="roundRect">
            <a:avLst>
              <a:gd name="adj" fmla="val 8000"/>
            </a:avLst>
          </a:prstGeom>
          <a:solidFill>
            <a:srgbClr val="B45309"/>
          </a:solidFill>
          <a:ln/>
        </p:spPr>
      </p:sp>
      <p:sp>
        <p:nvSpPr>
          <p:cNvPr id="27" name="Text 25"/>
          <p:cNvSpPr txBox="1"/>
          <p:nvPr/>
        </p:nvSpPr>
        <p:spPr>
          <a:xfrm>
            <a:off x="411480" y="6139942"/>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Wi-Fi</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28" name="Shape 26"/>
          <p:cNvSpPr/>
          <p:nvPr/>
        </p:nvSpPr>
        <p:spPr>
          <a:xfrm>
            <a:off x="3566160" y="6139942"/>
            <a:ext cx="1600200" cy="676656"/>
          </a:xfrm>
          <a:prstGeom prst="roundRect">
            <a:avLst>
              <a:gd name="adj" fmla="val 16216"/>
            </a:avLst>
          </a:prstGeom>
          <a:solidFill>
            <a:srgbClr val="E2E8F0"/>
          </a:solidFill>
          <a:ln w="25400">
            <a:solidFill>
              <a:srgbClr val="475569"/>
            </a:solidFill>
            <a:prstDash val="solid"/>
          </a:ln>
        </p:spPr>
      </p:sp>
      <p:sp>
        <p:nvSpPr>
          <p:cNvPr id="29" name="Text 27"/>
          <p:cNvSpPr txBox="1"/>
          <p:nvPr/>
        </p:nvSpPr>
        <p:spPr>
          <a:xfrm>
            <a:off x="3657600" y="613994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0" name="Shape 28"/>
          <p:cNvSpPr/>
          <p:nvPr/>
        </p:nvSpPr>
        <p:spPr>
          <a:xfrm flipH="1">
            <a:off x="1719072" y="6478270"/>
            <a:ext cx="1819656" cy="0"/>
          </a:xfrm>
          <a:prstGeom prst="line">
            <a:avLst/>
          </a:prstGeom>
          <a:noFill/>
          <a:ln w="31750">
            <a:solidFill>
              <a:srgbClr val="1B2A3A"/>
            </a:solidFill>
            <a:prstDash val="solid"/>
            <a:tailEnd type="triangle"/>
          </a:ln>
        </p:spPr>
      </p:sp>
      <p:sp>
        <p:nvSpPr>
          <p:cNvPr id="31" name="Text 29"/>
          <p:cNvSpPr txBox="1"/>
          <p:nvPr/>
        </p:nvSpPr>
        <p:spPr>
          <a:xfrm>
            <a:off x="1700784" y="617651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電波を出す</a:t>
            </a:r>
            <a:endParaRPr lang="en-US" sz="1500" dirty="0"/>
          </a:p>
        </p:txBody>
      </p:sp>
      <p:sp>
        <p:nvSpPr>
          <p:cNvPr id="32" name="Shape 30"/>
          <p:cNvSpPr/>
          <p:nvPr/>
        </p:nvSpPr>
        <p:spPr>
          <a:xfrm>
            <a:off x="3566160" y="6926326"/>
            <a:ext cx="1600200" cy="676656"/>
          </a:xfrm>
          <a:prstGeom prst="roundRect">
            <a:avLst>
              <a:gd name="adj" fmla="val 16216"/>
            </a:avLst>
          </a:prstGeom>
          <a:solidFill>
            <a:srgbClr val="FDEBD0"/>
          </a:solidFill>
          <a:ln w="25400">
            <a:solidFill>
              <a:srgbClr val="B45309"/>
            </a:solidFill>
            <a:prstDash val="solid"/>
          </a:ln>
        </p:spPr>
      </p:sp>
      <p:sp>
        <p:nvSpPr>
          <p:cNvPr id="33" name="Text 31"/>
          <p:cNvSpPr txBox="1"/>
          <p:nvPr/>
        </p:nvSpPr>
        <p:spPr>
          <a:xfrm>
            <a:off x="3657600" y="692632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4" name="Shape 32"/>
          <p:cNvSpPr/>
          <p:nvPr/>
        </p:nvSpPr>
        <p:spPr>
          <a:xfrm>
            <a:off x="1719072" y="7264654"/>
            <a:ext cx="1819656" cy="0"/>
          </a:xfrm>
          <a:prstGeom prst="line">
            <a:avLst/>
          </a:prstGeom>
          <a:noFill/>
          <a:ln w="31750">
            <a:solidFill>
              <a:srgbClr val="1B2A3A"/>
            </a:solidFill>
            <a:prstDash val="solid"/>
            <a:headEnd type="triangle"/>
            <a:tailEnd type="triangle"/>
          </a:ln>
        </p:spPr>
      </p:sp>
      <p:sp>
        <p:nvSpPr>
          <p:cNvPr id="35" name="Text 33"/>
          <p:cNvSpPr txBox="1"/>
          <p:nvPr/>
        </p:nvSpPr>
        <p:spPr>
          <a:xfrm>
            <a:off x="1700784" y="696290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6" name="Shape 34"/>
          <p:cNvSpPr/>
          <p:nvPr/>
        </p:nvSpPr>
        <p:spPr>
          <a:xfrm>
            <a:off x="3566160" y="7712710"/>
            <a:ext cx="1600200" cy="676656"/>
          </a:xfrm>
          <a:prstGeom prst="roundRect">
            <a:avLst>
              <a:gd name="adj" fmla="val 16216"/>
            </a:avLst>
          </a:prstGeom>
          <a:solidFill>
            <a:srgbClr val="FCE4EE"/>
          </a:solidFill>
          <a:ln w="25400">
            <a:solidFill>
              <a:srgbClr val="A21C5B"/>
            </a:solidFill>
            <a:prstDash val="solid"/>
          </a:ln>
        </p:spPr>
      </p:sp>
      <p:sp>
        <p:nvSpPr>
          <p:cNvPr id="37" name="Text 35"/>
          <p:cNvSpPr txBox="1"/>
          <p:nvPr/>
        </p:nvSpPr>
        <p:spPr>
          <a:xfrm>
            <a:off x="3657600" y="771271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リモート就業</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8" name="Shape 36"/>
          <p:cNvSpPr/>
          <p:nvPr/>
        </p:nvSpPr>
        <p:spPr>
          <a:xfrm>
            <a:off x="1719072" y="8051038"/>
            <a:ext cx="1819656" cy="0"/>
          </a:xfrm>
          <a:prstGeom prst="line">
            <a:avLst/>
          </a:prstGeom>
          <a:noFill/>
          <a:ln w="31750">
            <a:solidFill>
              <a:srgbClr val="1B2A3A"/>
            </a:solidFill>
            <a:prstDash val="solid"/>
            <a:tailEnd type="triangle"/>
          </a:ln>
        </p:spPr>
      </p:sp>
      <p:sp>
        <p:nvSpPr>
          <p:cNvPr id="39" name="Text 37"/>
          <p:cNvSpPr txBox="1"/>
          <p:nvPr/>
        </p:nvSpPr>
        <p:spPr>
          <a:xfrm>
            <a:off x="1700784" y="774928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40" name="Shape 38"/>
          <p:cNvSpPr/>
          <p:nvPr/>
        </p:nvSpPr>
        <p:spPr>
          <a:xfrm>
            <a:off x="3566160" y="8499094"/>
            <a:ext cx="1600200" cy="676656"/>
          </a:xfrm>
          <a:prstGeom prst="roundRect">
            <a:avLst>
              <a:gd name="adj" fmla="val 16216"/>
            </a:avLst>
          </a:prstGeom>
          <a:solidFill>
            <a:srgbClr val="E2E8F0"/>
          </a:solidFill>
          <a:ln w="25400">
            <a:solidFill>
              <a:srgbClr val="475569"/>
            </a:solidFill>
            <a:prstDash val="solid"/>
          </a:ln>
        </p:spPr>
      </p:sp>
      <p:sp>
        <p:nvSpPr>
          <p:cNvPr id="41" name="Text 39"/>
          <p:cNvSpPr txBox="1"/>
          <p:nvPr/>
        </p:nvSpPr>
        <p:spPr>
          <a:xfrm>
            <a:off x="3657600" y="849909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IoT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2" name="Shape 40"/>
          <p:cNvSpPr/>
          <p:nvPr/>
        </p:nvSpPr>
        <p:spPr>
          <a:xfrm>
            <a:off x="1719072" y="8837422"/>
            <a:ext cx="1819656" cy="0"/>
          </a:xfrm>
          <a:prstGeom prst="line">
            <a:avLst/>
          </a:prstGeom>
          <a:noFill/>
          <a:ln w="31750">
            <a:solidFill>
              <a:srgbClr val="1B2A3A"/>
            </a:solidFill>
            <a:prstDash val="solid"/>
            <a:tailEnd type="triangle"/>
          </a:ln>
        </p:spPr>
      </p:sp>
      <p:sp>
        <p:nvSpPr>
          <p:cNvPr id="43" name="Text 41"/>
          <p:cNvSpPr txBox="1"/>
          <p:nvPr/>
        </p:nvSpPr>
        <p:spPr>
          <a:xfrm>
            <a:off x="1700784" y="853567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機器をつなぐ</a:t>
            </a:r>
            <a:endParaRPr lang="en-US" sz="1500" dirty="0"/>
          </a:p>
        </p:txBody>
      </p:sp>
      <p:sp>
        <p:nvSpPr>
          <p:cNvPr id="44" name="Text 4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383</a:t>
            </a:fld>
            <a:endParaRPr lang="en-US"/>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name="Slide 3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Wi-Fi</a:t>
            </a:r>
            <a:endParaRPr lang="ja-JP" sz="2200" dirty="0"/>
          </a:p>
        </p:txBody>
      </p:sp>
      <p:sp>
        <p:nvSpPr>
          <p:cNvPr id="4" name="Shape 2"/>
          <p:cNvSpPr/>
          <p:nvPr/>
        </p:nvSpPr>
        <p:spPr>
          <a:xfrm>
            <a:off x="320040" y="1318514"/>
            <a:ext cx="4846320" cy="3117088"/>
          </a:xfrm>
          <a:prstGeom prst="roundRect">
            <a:avLst>
              <a:gd name="adj" fmla="val 4107"/>
            </a:avLst>
          </a:prstGeom>
          <a:solidFill>
            <a:srgbClr val="FDEBD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5867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読み：ワイファイ（無線LAN）</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Wi-Fiは、電波を使って、PCやスマホを家の中のルーターにつなぐ無線LANの方式です。「Wi-Fi」は、無線LANの規格に沿って、他社の機器ともつながることが確認された製品に付く名前です。</a:t>
            </a:r>
            <a:endParaRPr lang="en-US" sz="2000" dirty="0"/>
          </a:p>
        </p:txBody>
      </p:sp>
      <p:sp>
        <p:nvSpPr>
          <p:cNvPr id="7" name="Shape 5"/>
          <p:cNvSpPr/>
          <p:nvPr/>
        </p:nvSpPr>
        <p:spPr>
          <a:xfrm>
            <a:off x="320040" y="4508754"/>
            <a:ext cx="4846320" cy="2631440"/>
          </a:xfrm>
          <a:prstGeom prst="roundRect">
            <a:avLst>
              <a:gd name="adj" fmla="val 4865"/>
            </a:avLst>
          </a:prstGeom>
          <a:solidFill>
            <a:srgbClr val="FDEBD0"/>
          </a:solidFill>
          <a:ln/>
        </p:spPr>
      </p:sp>
      <p:sp>
        <p:nvSpPr>
          <p:cNvPr id="8" name="Text 6"/>
          <p:cNvSpPr txBox="1"/>
          <p:nvPr/>
        </p:nvSpPr>
        <p:spPr>
          <a:xfrm>
            <a:off x="502920" y="460019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ルーターのネットワーク名（SSID）を選び、パスワードを入れてつなぎます。パスワード（暗号化）の設定があれば、通信を盗み見されにくくなります。パスワードのない公共Wi-Fiは、盗み見される危険があります。</a:t>
            </a:r>
            <a:endParaRPr lang="en-US" sz="2000" dirty="0"/>
          </a:p>
        </p:txBody>
      </p:sp>
      <p:sp>
        <p:nvSpPr>
          <p:cNvPr id="9" name="Shape 7"/>
          <p:cNvSpPr/>
          <p:nvPr/>
        </p:nvSpPr>
        <p:spPr>
          <a:xfrm>
            <a:off x="320040" y="7213346"/>
            <a:ext cx="4846320" cy="2296160"/>
          </a:xfrm>
          <a:prstGeom prst="roundRect">
            <a:avLst>
              <a:gd name="adj" fmla="val 5575"/>
            </a:avLst>
          </a:prstGeom>
          <a:solidFill>
            <a:srgbClr val="FDEBD0"/>
          </a:solidFill>
          <a:ln/>
        </p:spPr>
      </p:sp>
      <p:sp>
        <p:nvSpPr>
          <p:cNvPr id="10" name="Text 8"/>
          <p:cNvSpPr txBox="1"/>
          <p:nvPr/>
        </p:nvSpPr>
        <p:spPr>
          <a:xfrm>
            <a:off x="502920" y="730478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電波は壁や距離に弱く、電子レンジなどの家電や近所のWi-Fiとも混み合って、速さが変わります。2.4GHz帯は遠くまで届きやすく、5GHz帯は速い代わりに壁に弱い、という違いがあります。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384</a:t>
            </a:fld>
            <a:endParaRPr lang="en-US"/>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name="Slide 3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Wi-Fi</a:t>
            </a:r>
            <a:endParaRPr lang="ja-JP" sz="2200" dirty="0"/>
          </a:p>
        </p:txBody>
      </p:sp>
      <p:sp>
        <p:nvSpPr>
          <p:cNvPr id="4" name="Shape 2"/>
          <p:cNvSpPr/>
          <p:nvPr/>
        </p:nvSpPr>
        <p:spPr>
          <a:xfrm>
            <a:off x="320040" y="1318514"/>
            <a:ext cx="4846320" cy="1935480"/>
          </a:xfrm>
          <a:prstGeom prst="roundRect">
            <a:avLst>
              <a:gd name="adj" fmla="val 6614"/>
            </a:avLst>
          </a:prstGeom>
          <a:solidFill>
            <a:srgbClr val="FDEBD0"/>
          </a:solidFill>
          <a:ln/>
        </p:spPr>
      </p:sp>
      <p:sp>
        <p:nvSpPr>
          <p:cNvPr id="5" name="Text 3"/>
          <p:cNvSpPr txBox="1"/>
          <p:nvPr/>
        </p:nvSpPr>
        <p:spPr>
          <a:xfrm>
            <a:off x="502920" y="140995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教室での大声の会話。糸電話（有線）がなくても届きますが、遠い席や壁の向こう、周りがざわざわしていると、聞き取りにくくなります。</a:t>
            </a:r>
            <a:endParaRPr lang="en-US" sz="2000" dirty="0"/>
          </a:p>
        </p:txBody>
      </p:sp>
      <p:sp>
        <p:nvSpPr>
          <p:cNvPr id="6" name="Shape 4"/>
          <p:cNvSpPr/>
          <p:nvPr/>
        </p:nvSpPr>
        <p:spPr>
          <a:xfrm>
            <a:off x="320040" y="3436874"/>
            <a:ext cx="4846320" cy="2270760"/>
          </a:xfrm>
          <a:prstGeom prst="roundRect">
            <a:avLst>
              <a:gd name="adj" fmla="val 5638"/>
            </a:avLst>
          </a:prstGeom>
          <a:solidFill>
            <a:srgbClr val="DCE8F8"/>
          </a:solidFill>
          <a:ln/>
        </p:spPr>
      </p:sp>
      <p:sp>
        <p:nvSpPr>
          <p:cNvPr id="7" name="Text 5"/>
          <p:cNvSpPr txBox="1"/>
          <p:nvPr/>
        </p:nvSpPr>
        <p:spPr>
          <a:xfrm>
            <a:off x="502920" y="352831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ノートPCやスマホを家のどこでも使いたいときや、カフェのWi-Fiにつなぐときです。自宅の会議で映像が止まるのは、ルーターとの距離や混雑が原因のこともあります。</a:t>
            </a:r>
            <a:endParaRPr lang="en-US" sz="2000" dirty="0"/>
          </a:p>
        </p:txBody>
      </p:sp>
      <p:sp>
        <p:nvSpPr>
          <p:cNvPr id="8" name="Shape 6"/>
          <p:cNvSpPr/>
          <p:nvPr/>
        </p:nvSpPr>
        <p:spPr>
          <a:xfrm>
            <a:off x="320040" y="5890514"/>
            <a:ext cx="4846320" cy="2270760"/>
          </a:xfrm>
          <a:prstGeom prst="roundRect">
            <a:avLst>
              <a:gd name="adj" fmla="val 5638"/>
            </a:avLst>
          </a:prstGeom>
          <a:solidFill>
            <a:srgbClr val="FBE3E0"/>
          </a:solidFill>
          <a:ln/>
        </p:spPr>
      </p:sp>
      <p:sp>
        <p:nvSpPr>
          <p:cNvPr id="9" name="Text 7"/>
          <p:cNvSpPr txBox="1"/>
          <p:nvPr/>
        </p:nvSpPr>
        <p:spPr>
          <a:xfrm>
            <a:off x="502920" y="598195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Wi-Fiのマークが出ていても、ルーターから先の回線が止まるとネットは使えません。Wi-Fiは家の中の無線の部分で、インターネットへの回線（固定回線）とは別です。</a:t>
            </a:r>
            <a:endParaRPr lang="en-US" sz="2000" dirty="0"/>
          </a:p>
        </p:txBody>
      </p:sp>
      <p:sp>
        <p:nvSpPr>
          <p:cNvPr id="10" name="Shape 8"/>
          <p:cNvSpPr/>
          <p:nvPr/>
        </p:nvSpPr>
        <p:spPr>
          <a:xfrm>
            <a:off x="320040" y="8344154"/>
            <a:ext cx="4846320" cy="1935480"/>
          </a:xfrm>
          <a:prstGeom prst="roundRect">
            <a:avLst>
              <a:gd name="adj" fmla="val 6614"/>
            </a:avLst>
          </a:prstGeom>
          <a:solidFill>
            <a:srgbClr val="DDF1E4"/>
          </a:solidFill>
          <a:ln/>
        </p:spPr>
      </p:sp>
      <p:sp>
        <p:nvSpPr>
          <p:cNvPr id="11" name="Text 9"/>
          <p:cNvSpPr txBox="1"/>
          <p:nvPr/>
        </p:nvSpPr>
        <p:spPr>
          <a:xfrm>
            <a:off x="502920" y="843559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スマホの設定でWi-Fiの一覧を開き、近くのネットワーク名と電波の強さを見ましょう。ルーターの近くと遠くで、強さがどう変わるかも確かめます。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385</a:t>
            </a:fld>
            <a:endParaRPr lang="en-US"/>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name="Slide 3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1/3</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ルーター</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家の中の機器とインターネットの間で、データの行き先を決めて中継する機器。</a:t>
            </a:r>
            <a:endParaRPr lang="en-US" sz="1800" dirty="0"/>
          </a:p>
        </p:txBody>
      </p:sp>
      <p:sp>
        <p:nvSpPr>
          <p:cNvPr id="6" name="Text 4"/>
          <p:cNvSpPr txBox="1"/>
          <p:nvPr/>
        </p:nvSpPr>
        <p:spPr>
          <a:xfrm>
            <a:off x="320040" y="2515870"/>
            <a:ext cx="4846320" cy="29260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どこの話？</a:t>
            </a:r>
            <a:endParaRPr lang="en-US" sz="1800" dirty="0"/>
          </a:p>
        </p:txBody>
      </p:sp>
      <p:sp>
        <p:nvSpPr>
          <p:cNvPr id="7" name="Shape 5"/>
          <p:cNvSpPr/>
          <p:nvPr/>
        </p:nvSpPr>
        <p:spPr>
          <a:xfrm>
            <a:off x="320040" y="2863342"/>
            <a:ext cx="1156716" cy="384048"/>
          </a:xfrm>
          <a:prstGeom prst="roundRect">
            <a:avLst>
              <a:gd name="adj" fmla="val 23810"/>
            </a:avLst>
          </a:prstGeom>
          <a:solidFill>
            <a:srgbClr val="1B2A3A"/>
          </a:solidFill>
          <a:ln/>
        </p:spPr>
      </p:sp>
      <p:sp>
        <p:nvSpPr>
          <p:cNvPr id="8" name="Text 6"/>
          <p:cNvSpPr txBox="1"/>
          <p:nvPr/>
        </p:nvSpPr>
        <p:spPr>
          <a:xfrm>
            <a:off x="320040"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ハードウェア</a:t>
            </a:r>
            <a:endParaRPr lang="ja-JP" sz="1400" dirty="0"/>
          </a:p>
        </p:txBody>
      </p:sp>
      <p:sp>
        <p:nvSpPr>
          <p:cNvPr id="9" name="Shape 7"/>
          <p:cNvSpPr/>
          <p:nvPr/>
        </p:nvSpPr>
        <p:spPr>
          <a:xfrm>
            <a:off x="1549908" y="2863342"/>
            <a:ext cx="1156716" cy="384048"/>
          </a:xfrm>
          <a:prstGeom prst="roundRect">
            <a:avLst>
              <a:gd name="adj" fmla="val 23810"/>
            </a:avLst>
          </a:prstGeom>
          <a:solidFill>
            <a:srgbClr val="EEF1F5"/>
          </a:solidFill>
          <a:ln/>
        </p:spPr>
      </p:sp>
      <p:sp>
        <p:nvSpPr>
          <p:cNvPr id="10" name="Text 8"/>
          <p:cNvSpPr txBox="1"/>
          <p:nvPr/>
        </p:nvSpPr>
        <p:spPr>
          <a:xfrm>
            <a:off x="1549908"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OS</a:t>
            </a:r>
            <a:endParaRPr lang="ja-JP" sz="1400" dirty="0"/>
          </a:p>
        </p:txBody>
      </p:sp>
      <p:sp>
        <p:nvSpPr>
          <p:cNvPr id="11" name="Shape 9"/>
          <p:cNvSpPr/>
          <p:nvPr/>
        </p:nvSpPr>
        <p:spPr>
          <a:xfrm>
            <a:off x="2779776" y="2863342"/>
            <a:ext cx="1156716" cy="384048"/>
          </a:xfrm>
          <a:prstGeom prst="roundRect">
            <a:avLst>
              <a:gd name="adj" fmla="val 23810"/>
            </a:avLst>
          </a:prstGeom>
          <a:solidFill>
            <a:srgbClr val="EEF1F5"/>
          </a:solidFill>
          <a:ln/>
        </p:spPr>
      </p:sp>
      <p:sp>
        <p:nvSpPr>
          <p:cNvPr id="12" name="Text 10"/>
          <p:cNvSpPr txBox="1"/>
          <p:nvPr/>
        </p:nvSpPr>
        <p:spPr>
          <a:xfrm>
            <a:off x="2779776"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仮想化</a:t>
            </a:r>
            <a:endParaRPr lang="ja-JP" sz="1400" dirty="0"/>
          </a:p>
        </p:txBody>
      </p:sp>
      <p:sp>
        <p:nvSpPr>
          <p:cNvPr id="13" name="Shape 11"/>
          <p:cNvSpPr/>
          <p:nvPr/>
        </p:nvSpPr>
        <p:spPr>
          <a:xfrm>
            <a:off x="4009644" y="2863342"/>
            <a:ext cx="1156716" cy="384048"/>
          </a:xfrm>
          <a:prstGeom prst="roundRect">
            <a:avLst>
              <a:gd name="adj" fmla="val 23810"/>
            </a:avLst>
          </a:prstGeom>
          <a:solidFill>
            <a:srgbClr val="EEF1F5"/>
          </a:solidFill>
          <a:ln/>
        </p:spPr>
      </p:sp>
      <p:sp>
        <p:nvSpPr>
          <p:cNvPr id="14" name="Text 12"/>
          <p:cNvSpPr txBox="1"/>
          <p:nvPr/>
        </p:nvSpPr>
        <p:spPr>
          <a:xfrm>
            <a:off x="4009644" y="2863342"/>
            <a:ext cx="1156716"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ミドルウェア</a:t>
            </a:r>
            <a:endParaRPr lang="ja-JP" sz="1400" dirty="0"/>
          </a:p>
        </p:txBody>
      </p:sp>
      <p:sp>
        <p:nvSpPr>
          <p:cNvPr id="15" name="Shape 13"/>
          <p:cNvSpPr/>
          <p:nvPr/>
        </p:nvSpPr>
        <p:spPr>
          <a:xfrm>
            <a:off x="320040" y="3302254"/>
            <a:ext cx="1566672" cy="384048"/>
          </a:xfrm>
          <a:prstGeom prst="roundRect">
            <a:avLst>
              <a:gd name="adj" fmla="val 23810"/>
            </a:avLst>
          </a:prstGeom>
          <a:solidFill>
            <a:srgbClr val="EEF1F5"/>
          </a:solidFill>
          <a:ln/>
        </p:spPr>
      </p:sp>
      <p:sp>
        <p:nvSpPr>
          <p:cNvPr id="16" name="Text 14"/>
          <p:cNvSpPr txBox="1"/>
          <p:nvPr/>
        </p:nvSpPr>
        <p:spPr>
          <a:xfrm>
            <a:off x="320040"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アプリ</a:t>
            </a:r>
            <a:endParaRPr lang="ja-JP" sz="1400" dirty="0"/>
          </a:p>
        </p:txBody>
      </p:sp>
      <p:sp>
        <p:nvSpPr>
          <p:cNvPr id="17" name="Shape 15"/>
          <p:cNvSpPr/>
          <p:nvPr/>
        </p:nvSpPr>
        <p:spPr>
          <a:xfrm>
            <a:off x="1959864" y="3302254"/>
            <a:ext cx="1566672" cy="384048"/>
          </a:xfrm>
          <a:prstGeom prst="roundRect">
            <a:avLst>
              <a:gd name="adj" fmla="val 23810"/>
            </a:avLst>
          </a:prstGeom>
          <a:solidFill>
            <a:srgbClr val="B45309"/>
          </a:solidFill>
          <a:ln/>
        </p:spPr>
      </p:sp>
      <p:sp>
        <p:nvSpPr>
          <p:cNvPr id="18" name="Text 16"/>
          <p:cNvSpPr txBox="1"/>
          <p:nvPr/>
        </p:nvSpPr>
        <p:spPr>
          <a:xfrm>
            <a:off x="1959864"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ネットワーク</a:t>
            </a:r>
            <a:endParaRPr lang="ja-JP" sz="1400" dirty="0"/>
          </a:p>
        </p:txBody>
      </p:sp>
      <p:sp>
        <p:nvSpPr>
          <p:cNvPr id="19" name="Shape 17"/>
          <p:cNvSpPr/>
          <p:nvPr/>
        </p:nvSpPr>
        <p:spPr>
          <a:xfrm>
            <a:off x="3599688" y="3302254"/>
            <a:ext cx="1566672" cy="384048"/>
          </a:xfrm>
          <a:prstGeom prst="roundRect">
            <a:avLst>
              <a:gd name="adj" fmla="val 23810"/>
            </a:avLst>
          </a:prstGeom>
          <a:solidFill>
            <a:srgbClr val="EEF1F5"/>
          </a:solidFill>
          <a:ln/>
        </p:spPr>
      </p:sp>
      <p:sp>
        <p:nvSpPr>
          <p:cNvPr id="20" name="Text 18"/>
          <p:cNvSpPr txBox="1"/>
          <p:nvPr/>
        </p:nvSpPr>
        <p:spPr>
          <a:xfrm>
            <a:off x="3599688" y="3302254"/>
            <a:ext cx="1566672" cy="384048"/>
          </a:xfrm>
          <a:prstGeom prst="rect">
            <a:avLst/>
          </a:prstGeom>
          <a:noFill/>
          <a:ln/>
        </p:spPr>
        <p:txBody>
          <a:bodyPr wrap="square" lIns="0" tIns="0" rIns="0" bIns="0" rtlCol="0" anchor="ctr"/>
          <a:lstStyle/>
          <a:p>
            <a:pPr algn="ctr" indent="0" marL="0">
              <a:buNone/>
            </a:pPr>
            <a:r>
              <a:rPr lang="ja-JP" altLang="en-US" sz="1400" b="1" dirty="0">
                <a:solidFill>
                  <a:srgbClr val="8A97A6"/>
                </a:solidFill>
                <a:latin typeface="Yu Gothic" pitchFamily="34" charset="0"/>
                <a:ea typeface="Yu Gothic" pitchFamily="34" charset="-122"/>
                <a:cs typeface="Yu Gothic" pitchFamily="34" charset="-120"/>
              </a:rPr>
              <a:t>置き場所</a:t>
            </a:r>
            <a:endParaRPr lang="ja-JP" sz="1400" dirty="0"/>
          </a:p>
        </p:txBody>
      </p:sp>
      <p:sp>
        <p:nvSpPr>
          <p:cNvPr id="21" name="Text 19"/>
          <p:cNvSpPr txBox="1"/>
          <p:nvPr/>
        </p:nvSpPr>
        <p:spPr>
          <a:xfrm>
            <a:off x="365760" y="3759454"/>
            <a:ext cx="4754880" cy="274320"/>
          </a:xfrm>
          <a:prstGeom prst="rect">
            <a:avLst/>
          </a:prstGeom>
          <a:noFill/>
          <a:ln/>
        </p:spPr>
        <p:txBody>
          <a:bodyPr wrap="square" lIns="0" tIns="0" rIns="0" bIns="0" rtlCol="0" anchor="ctr"/>
          <a:lstStyle/>
          <a:p>
            <a:pPr indent="0" marL="0">
              <a:buNone/>
            </a:pPr>
            <a:r>
              <a:rPr lang="ja-JP" altLang="en-US" sz="1400" b="1" dirty="0">
                <a:solidFill>
                  <a:srgbClr val="1B2A3A"/>
                </a:solidFill>
                <a:latin typeface="Yu Gothic" pitchFamily="34" charset="0"/>
                <a:ea typeface="Yu Gothic" pitchFamily="34" charset="-122"/>
                <a:cs typeface="Yu Gothic" pitchFamily="34" charset="-120"/>
              </a:rPr>
              <a:t>ハードウェア</a:t>
            </a:r>
            <a:pPr indent="0" marL="0">
              <a:buNone/>
            </a:pPr>
            <a:r>
              <a:rPr lang="ja-JP" altLang="en-US" sz="1400" dirty="0">
                <a:solidFill>
                  <a:srgbClr val="1B2A3A"/>
                </a:solidFill>
                <a:latin typeface="Yu Gothic" pitchFamily="34" charset="0"/>
                <a:ea typeface="Yu Gothic" pitchFamily="34" charset="-122"/>
                <a:cs typeface="Yu Gothic" pitchFamily="34" charset="-120"/>
              </a:rPr>
              <a:t>　機械・部品そのもの</a:t>
            </a:r>
            <a:endParaRPr lang="en-US" sz="1400" dirty="0"/>
          </a:p>
        </p:txBody>
      </p:sp>
      <p:sp>
        <p:nvSpPr>
          <p:cNvPr id="22" name="Text 20"/>
          <p:cNvSpPr txBox="1"/>
          <p:nvPr/>
        </p:nvSpPr>
        <p:spPr>
          <a:xfrm>
            <a:off x="365760" y="4033774"/>
            <a:ext cx="4754880" cy="274320"/>
          </a:xfrm>
          <a:prstGeom prst="rect">
            <a:avLst/>
          </a:prstGeom>
          <a:noFill/>
          <a:ln/>
        </p:spPr>
        <p:txBody>
          <a:bodyPr wrap="square" lIns="0" tIns="0" rIns="0" bIns="0" rtlCol="0" anchor="ctr"/>
          <a:lstStyle/>
          <a:p>
            <a:pPr indent="0" marL="0">
              <a:buNone/>
            </a:pPr>
            <a:r>
              <a:rPr lang="ja-JP" altLang="en-US" sz="1400" b="1" dirty="0">
                <a:solidFill>
                  <a:srgbClr val="B45309"/>
                </a:solidFill>
                <a:latin typeface="Yu Gothic" pitchFamily="34" charset="0"/>
                <a:ea typeface="Yu Gothic" pitchFamily="34" charset="-122"/>
                <a:cs typeface="Yu Gothic" pitchFamily="34" charset="-120"/>
              </a:rPr>
              <a:t>ネットワーク</a:t>
            </a:r>
            <a:pPr indent="0" marL="0">
              <a:buNone/>
            </a:pPr>
            <a:r>
              <a:rPr lang="ja-JP" altLang="en-US" sz="1400" dirty="0">
                <a:solidFill>
                  <a:srgbClr val="1B2A3A"/>
                </a:solidFill>
                <a:latin typeface="Yu Gothic" pitchFamily="34" charset="0"/>
                <a:ea typeface="Yu Gothic" pitchFamily="34" charset="-122"/>
                <a:cs typeface="Yu Gothic" pitchFamily="34" charset="-120"/>
              </a:rPr>
              <a:t>　機械どうしをつなぐ道</a:t>
            </a:r>
            <a:endParaRPr lang="en-US" sz="1400" dirty="0"/>
          </a:p>
        </p:txBody>
      </p:sp>
      <p:sp>
        <p:nvSpPr>
          <p:cNvPr id="23" name="Shape 21"/>
          <p:cNvSpPr/>
          <p:nvPr/>
        </p:nvSpPr>
        <p:spPr>
          <a:xfrm>
            <a:off x="320040" y="4509262"/>
            <a:ext cx="4846320" cy="1264920"/>
          </a:xfrm>
          <a:prstGeom prst="roundRect">
            <a:avLst>
              <a:gd name="adj" fmla="val 10120"/>
            </a:avLst>
          </a:prstGeom>
          <a:solidFill>
            <a:srgbClr val="E2E8F0"/>
          </a:solidFill>
          <a:ln/>
        </p:spPr>
      </p:sp>
      <p:sp>
        <p:nvSpPr>
          <p:cNvPr id="24" name="Text 22"/>
          <p:cNvSpPr txBox="1"/>
          <p:nvPr/>
        </p:nvSpPr>
        <p:spPr>
          <a:xfrm>
            <a:off x="502920" y="4600702"/>
            <a:ext cx="4480560" cy="111861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1B2A3A"/>
                </a:solidFill>
                <a:latin typeface="Yu Gothic" pitchFamily="34" charset="0"/>
                <a:ea typeface="Yu Gothic" pitchFamily="34" charset="-122"/>
                <a:cs typeface="Yu Gothic" pitchFamily="34" charset="-120"/>
              </a:rPr>
              <a:t>場所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家の中に置く小さな機器（ハードウェア）。LANとインターネットの境目にある。</a:t>
            </a:r>
            <a:endParaRPr lang="en-US" sz="2000" dirty="0"/>
          </a:p>
        </p:txBody>
      </p:sp>
      <p:sp>
        <p:nvSpPr>
          <p:cNvPr id="25" name="Shape 23"/>
          <p:cNvSpPr/>
          <p:nvPr/>
        </p:nvSpPr>
        <p:spPr>
          <a:xfrm>
            <a:off x="320040" y="5957062"/>
            <a:ext cx="4846320" cy="402336"/>
          </a:xfrm>
          <a:prstGeom prst="roundRect">
            <a:avLst>
              <a:gd name="adj" fmla="val 22727"/>
            </a:avLst>
          </a:prstGeom>
          <a:solidFill>
            <a:srgbClr val="475569"/>
          </a:solidFill>
          <a:ln/>
        </p:spPr>
      </p:sp>
      <p:sp>
        <p:nvSpPr>
          <p:cNvPr id="26" name="Text 24"/>
          <p:cNvSpPr txBox="1"/>
          <p:nvPr/>
        </p:nvSpPr>
        <p:spPr>
          <a:xfrm>
            <a:off x="411480" y="5957062"/>
            <a:ext cx="4663440" cy="40233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つながり（関係図）</a:t>
            </a:r>
            <a:endParaRPr lang="en-US" sz="1800" dirty="0"/>
          </a:p>
        </p:txBody>
      </p:sp>
      <p:sp>
        <p:nvSpPr>
          <p:cNvPr id="27" name="Shape 25"/>
          <p:cNvSpPr/>
          <p:nvPr/>
        </p:nvSpPr>
        <p:spPr>
          <a:xfrm>
            <a:off x="320040" y="6414262"/>
            <a:ext cx="1371600" cy="3822192"/>
          </a:xfrm>
          <a:prstGeom prst="roundRect">
            <a:avLst>
              <a:gd name="adj" fmla="val 8000"/>
            </a:avLst>
          </a:prstGeom>
          <a:solidFill>
            <a:srgbClr val="475569"/>
          </a:solidFill>
          <a:ln/>
        </p:spPr>
      </p:sp>
      <p:sp>
        <p:nvSpPr>
          <p:cNvPr id="28" name="Text 26"/>
          <p:cNvSpPr txBox="1"/>
          <p:nvPr/>
        </p:nvSpPr>
        <p:spPr>
          <a:xfrm>
            <a:off x="411480" y="6414262"/>
            <a:ext cx="1188720" cy="382219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ルーター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29" name="Shape 27"/>
          <p:cNvSpPr/>
          <p:nvPr/>
        </p:nvSpPr>
        <p:spPr>
          <a:xfrm>
            <a:off x="3566160" y="6414262"/>
            <a:ext cx="1600200" cy="676656"/>
          </a:xfrm>
          <a:prstGeom prst="roundRect">
            <a:avLst>
              <a:gd name="adj" fmla="val 16216"/>
            </a:avLst>
          </a:prstGeom>
          <a:solidFill>
            <a:srgbClr val="FDEBD0"/>
          </a:solidFill>
          <a:ln w="25400">
            <a:solidFill>
              <a:srgbClr val="B45309"/>
            </a:solidFill>
            <a:prstDash val="solid"/>
          </a:ln>
        </p:spPr>
      </p:sp>
      <p:sp>
        <p:nvSpPr>
          <p:cNvPr id="30" name="Text 28"/>
          <p:cNvSpPr txBox="1"/>
          <p:nvPr/>
        </p:nvSpPr>
        <p:spPr>
          <a:xfrm>
            <a:off x="3657600" y="641426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1" name="Shape 29"/>
          <p:cNvSpPr/>
          <p:nvPr/>
        </p:nvSpPr>
        <p:spPr>
          <a:xfrm flipH="1">
            <a:off x="1719072" y="6752590"/>
            <a:ext cx="1819656" cy="0"/>
          </a:xfrm>
          <a:prstGeom prst="line">
            <a:avLst/>
          </a:prstGeom>
          <a:noFill/>
          <a:ln w="31750">
            <a:solidFill>
              <a:srgbClr val="1B2A3A"/>
            </a:solidFill>
            <a:prstDash val="solid"/>
            <a:tailEnd type="triangle"/>
          </a:ln>
        </p:spPr>
      </p:sp>
      <p:sp>
        <p:nvSpPr>
          <p:cNvPr id="32" name="Text 30"/>
          <p:cNvSpPr txBox="1"/>
          <p:nvPr/>
        </p:nvSpPr>
        <p:spPr>
          <a:xfrm>
            <a:off x="1700784" y="6450838"/>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有線でつなぐ</a:t>
            </a:r>
            <a:endParaRPr lang="en-US" sz="1500" dirty="0"/>
          </a:p>
        </p:txBody>
      </p:sp>
      <p:sp>
        <p:nvSpPr>
          <p:cNvPr id="33" name="Shape 31"/>
          <p:cNvSpPr/>
          <p:nvPr/>
        </p:nvSpPr>
        <p:spPr>
          <a:xfrm>
            <a:off x="3566160" y="7200646"/>
            <a:ext cx="1600200" cy="676656"/>
          </a:xfrm>
          <a:prstGeom prst="roundRect">
            <a:avLst>
              <a:gd name="adj" fmla="val 16216"/>
            </a:avLst>
          </a:prstGeom>
          <a:solidFill>
            <a:srgbClr val="FDEBD0"/>
          </a:solidFill>
          <a:ln w="25400">
            <a:solidFill>
              <a:srgbClr val="B45309"/>
            </a:solidFill>
            <a:prstDash val="solid"/>
          </a:ln>
        </p:spPr>
      </p:sp>
      <p:sp>
        <p:nvSpPr>
          <p:cNvPr id="34" name="Text 32"/>
          <p:cNvSpPr txBox="1"/>
          <p:nvPr/>
        </p:nvSpPr>
        <p:spPr>
          <a:xfrm>
            <a:off x="3657600" y="720064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5" name="Shape 33"/>
          <p:cNvSpPr/>
          <p:nvPr/>
        </p:nvSpPr>
        <p:spPr>
          <a:xfrm>
            <a:off x="1719072" y="7538974"/>
            <a:ext cx="1819656" cy="0"/>
          </a:xfrm>
          <a:prstGeom prst="line">
            <a:avLst/>
          </a:prstGeom>
          <a:noFill/>
          <a:ln w="31750">
            <a:solidFill>
              <a:srgbClr val="1B2A3A"/>
            </a:solidFill>
            <a:prstDash val="solid"/>
            <a:tailEnd type="triangle"/>
          </a:ln>
        </p:spPr>
      </p:sp>
      <p:sp>
        <p:nvSpPr>
          <p:cNvPr id="36" name="Text 34"/>
          <p:cNvSpPr txBox="1"/>
          <p:nvPr/>
        </p:nvSpPr>
        <p:spPr>
          <a:xfrm>
            <a:off x="1700784" y="7237222"/>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電波を出す</a:t>
            </a:r>
            <a:endParaRPr lang="en-US" sz="1500" dirty="0"/>
          </a:p>
        </p:txBody>
      </p:sp>
      <p:sp>
        <p:nvSpPr>
          <p:cNvPr id="37" name="Shape 35"/>
          <p:cNvSpPr/>
          <p:nvPr/>
        </p:nvSpPr>
        <p:spPr>
          <a:xfrm>
            <a:off x="3566160" y="7987030"/>
            <a:ext cx="1600200" cy="676656"/>
          </a:xfrm>
          <a:prstGeom prst="roundRect">
            <a:avLst>
              <a:gd name="adj" fmla="val 16216"/>
            </a:avLst>
          </a:prstGeom>
          <a:solidFill>
            <a:srgbClr val="FDEBD0"/>
          </a:solidFill>
          <a:ln w="25400">
            <a:solidFill>
              <a:srgbClr val="B45309"/>
            </a:solidFill>
            <a:prstDash val="solid"/>
          </a:ln>
        </p:spPr>
      </p:sp>
      <p:sp>
        <p:nvSpPr>
          <p:cNvPr id="38" name="Text 36"/>
          <p:cNvSpPr txBox="1"/>
          <p:nvPr/>
        </p:nvSpPr>
        <p:spPr>
          <a:xfrm>
            <a:off x="3657600" y="798703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9" name="Shape 37"/>
          <p:cNvSpPr/>
          <p:nvPr/>
        </p:nvSpPr>
        <p:spPr>
          <a:xfrm>
            <a:off x="1719072" y="8325358"/>
            <a:ext cx="1819656" cy="0"/>
          </a:xfrm>
          <a:prstGeom prst="line">
            <a:avLst/>
          </a:prstGeom>
          <a:noFill/>
          <a:ln w="31750">
            <a:solidFill>
              <a:srgbClr val="1B2A3A"/>
            </a:solidFill>
            <a:prstDash val="solid"/>
            <a:tailEnd type="triangle"/>
          </a:ln>
        </p:spPr>
      </p:sp>
      <p:sp>
        <p:nvSpPr>
          <p:cNvPr id="40" name="Text 38"/>
          <p:cNvSpPr txBox="1"/>
          <p:nvPr/>
        </p:nvSpPr>
        <p:spPr>
          <a:xfrm>
            <a:off x="1700784" y="8023606"/>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接続する</a:t>
            </a:r>
            <a:endParaRPr lang="en-US" sz="1500" dirty="0"/>
          </a:p>
        </p:txBody>
      </p:sp>
      <p:sp>
        <p:nvSpPr>
          <p:cNvPr id="41" name="Shape 39"/>
          <p:cNvSpPr/>
          <p:nvPr/>
        </p:nvSpPr>
        <p:spPr>
          <a:xfrm>
            <a:off x="3566160" y="8773414"/>
            <a:ext cx="1600200" cy="676656"/>
          </a:xfrm>
          <a:prstGeom prst="roundRect">
            <a:avLst>
              <a:gd name="adj" fmla="val 16216"/>
            </a:avLst>
          </a:prstGeom>
          <a:solidFill>
            <a:srgbClr val="FDEBD0"/>
          </a:solidFill>
          <a:ln w="25400">
            <a:solidFill>
              <a:srgbClr val="B45309"/>
            </a:solidFill>
            <a:prstDash val="solid"/>
          </a:ln>
        </p:spPr>
      </p:sp>
      <p:sp>
        <p:nvSpPr>
          <p:cNvPr id="42" name="Text 40"/>
          <p:cNvSpPr txBox="1"/>
          <p:nvPr/>
        </p:nvSpPr>
        <p:spPr>
          <a:xfrm>
            <a:off x="3657600" y="877341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3" name="Shape 41"/>
          <p:cNvSpPr/>
          <p:nvPr/>
        </p:nvSpPr>
        <p:spPr>
          <a:xfrm>
            <a:off x="1719072" y="9111742"/>
            <a:ext cx="1819656" cy="0"/>
          </a:xfrm>
          <a:prstGeom prst="line">
            <a:avLst/>
          </a:prstGeom>
          <a:noFill/>
          <a:ln w="31750">
            <a:solidFill>
              <a:srgbClr val="1B2A3A"/>
            </a:solidFill>
            <a:prstDash val="solid"/>
            <a:tailEnd type="triangle"/>
          </a:ln>
        </p:spPr>
      </p:sp>
      <p:sp>
        <p:nvSpPr>
          <p:cNvPr id="44" name="Text 42"/>
          <p:cNvSpPr txBox="1"/>
          <p:nvPr/>
        </p:nvSpPr>
        <p:spPr>
          <a:xfrm>
            <a:off x="1700784" y="8809990"/>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中継する</a:t>
            </a:r>
            <a:endParaRPr lang="en-US" sz="1500" dirty="0"/>
          </a:p>
        </p:txBody>
      </p:sp>
      <p:sp>
        <p:nvSpPr>
          <p:cNvPr id="45" name="Shape 43"/>
          <p:cNvSpPr/>
          <p:nvPr/>
        </p:nvSpPr>
        <p:spPr>
          <a:xfrm>
            <a:off x="3566160" y="9559798"/>
            <a:ext cx="1600200" cy="676656"/>
          </a:xfrm>
          <a:prstGeom prst="roundRect">
            <a:avLst>
              <a:gd name="adj" fmla="val 16216"/>
            </a:avLst>
          </a:prstGeom>
          <a:solidFill>
            <a:srgbClr val="FDEBD0"/>
          </a:solidFill>
          <a:ln w="25400">
            <a:solidFill>
              <a:srgbClr val="B45309"/>
            </a:solidFill>
            <a:prstDash val="solid"/>
          </a:ln>
        </p:spPr>
      </p:sp>
      <p:sp>
        <p:nvSpPr>
          <p:cNvPr id="46" name="Text 44"/>
          <p:cNvSpPr txBox="1"/>
          <p:nvPr/>
        </p:nvSpPr>
        <p:spPr>
          <a:xfrm>
            <a:off x="3657600" y="955979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7" name="Shape 45"/>
          <p:cNvSpPr/>
          <p:nvPr/>
        </p:nvSpPr>
        <p:spPr>
          <a:xfrm>
            <a:off x="1719072" y="9898126"/>
            <a:ext cx="1819656" cy="0"/>
          </a:xfrm>
          <a:prstGeom prst="line">
            <a:avLst/>
          </a:prstGeom>
          <a:noFill/>
          <a:ln w="31750">
            <a:solidFill>
              <a:srgbClr val="1B2A3A"/>
            </a:solidFill>
            <a:prstDash val="solid"/>
            <a:tailEnd type="triangle"/>
          </a:ln>
        </p:spPr>
      </p:sp>
      <p:sp>
        <p:nvSpPr>
          <p:cNvPr id="48" name="Text 46"/>
          <p:cNvSpPr txBox="1"/>
          <p:nvPr/>
        </p:nvSpPr>
        <p:spPr>
          <a:xfrm>
            <a:off x="1700784" y="9596374"/>
            <a:ext cx="19110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網をつなぐ</a:t>
            </a:r>
            <a:endParaRPr lang="en-US" sz="1500" dirty="0"/>
          </a:p>
        </p:txBody>
      </p:sp>
      <p:sp>
        <p:nvSpPr>
          <p:cNvPr id="49" name="Text 4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386</a:t>
            </a:fld>
            <a:endParaRPr lang="en-US"/>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name="Slide 3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ルーター</a:t>
            </a:r>
            <a:endParaRPr lang="ja-JP" sz="2200" dirty="0"/>
          </a:p>
        </p:txBody>
      </p:sp>
      <p:sp>
        <p:nvSpPr>
          <p:cNvPr id="4" name="Shape 2"/>
          <p:cNvSpPr/>
          <p:nvPr/>
        </p:nvSpPr>
        <p:spPr>
          <a:xfrm>
            <a:off x="320040" y="1318514"/>
            <a:ext cx="4846320" cy="3452368"/>
          </a:xfrm>
          <a:prstGeom prst="roundRect">
            <a:avLst>
              <a:gd name="adj" fmla="val 3708"/>
            </a:avLst>
          </a:prstGeom>
          <a:solidFill>
            <a:srgbClr val="E2E8F0"/>
          </a:solidFill>
          <a:ln/>
        </p:spPr>
      </p:sp>
      <p:sp>
        <p:nvSpPr>
          <p:cNvPr id="5" name="Text 3"/>
          <p:cNvSpPr txBox="1"/>
          <p:nvPr/>
        </p:nvSpPr>
        <p:spPr>
          <a:xfrm>
            <a:off x="502920" y="1409954"/>
            <a:ext cx="4480560" cy="3657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くわしく</a:t>
            </a:r>
            <a:endParaRPr lang="en-US" sz="2000" dirty="0"/>
          </a:p>
        </p:txBody>
      </p:sp>
      <p:sp>
        <p:nvSpPr>
          <p:cNvPr id="6" name="Text 4"/>
          <p:cNvSpPr txBox="1"/>
          <p:nvPr/>
        </p:nvSpPr>
        <p:spPr>
          <a:xfrm>
            <a:off x="502920" y="1794002"/>
            <a:ext cx="4480560" cy="292201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読み：router（ルーター）・Wi-Fiルーター</a:t>
            </a:r>
            <a:endParaRPr lang="en-US" sz="2000" dirty="0"/>
          </a:p>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ルーターは、別々のネットワークの間に立ち、データを正しい行き先へ送り届ける機器です。家庭では、家の中のネットワーク（LAN）と、外のインターネットとの境目に置かれます。</a:t>
            </a:r>
            <a:endParaRPr lang="en-US" sz="2000" dirty="0"/>
          </a:p>
        </p:txBody>
      </p:sp>
      <p:sp>
        <p:nvSpPr>
          <p:cNvPr id="7" name="Shape 5"/>
          <p:cNvSpPr/>
          <p:nvPr/>
        </p:nvSpPr>
        <p:spPr>
          <a:xfrm>
            <a:off x="320040" y="4844034"/>
            <a:ext cx="4846320" cy="2631440"/>
          </a:xfrm>
          <a:prstGeom prst="roundRect">
            <a:avLst>
              <a:gd name="adj" fmla="val 4865"/>
            </a:avLst>
          </a:prstGeom>
          <a:solidFill>
            <a:srgbClr val="E2E8F0"/>
          </a:solidFill>
          <a:ln/>
        </p:spPr>
      </p:sp>
      <p:sp>
        <p:nvSpPr>
          <p:cNvPr id="8" name="Text 6"/>
          <p:cNvSpPr txBox="1"/>
          <p:nvPr/>
        </p:nvSpPr>
        <p:spPr>
          <a:xfrm>
            <a:off x="502920" y="4935474"/>
            <a:ext cx="4480560" cy="248513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家庭用ルーターは、1台で複数の役目を持つのが一般的です。行き先を決めて中継する、家の機器にIPアドレス（ネット上の住所にあたる番号）を自動で配る、複数の機器が1つの回線を共有できるようにする、Wi-Fiの電波を出す、などです。</a:t>
            </a:r>
            <a:endParaRPr lang="en-US" sz="2000" dirty="0"/>
          </a:p>
        </p:txBody>
      </p:sp>
      <p:sp>
        <p:nvSpPr>
          <p:cNvPr id="9" name="Shape 7"/>
          <p:cNvSpPr/>
          <p:nvPr/>
        </p:nvSpPr>
        <p:spPr>
          <a:xfrm>
            <a:off x="320040" y="7548626"/>
            <a:ext cx="4846320" cy="2296160"/>
          </a:xfrm>
          <a:prstGeom prst="roundRect">
            <a:avLst>
              <a:gd name="adj" fmla="val 5575"/>
            </a:avLst>
          </a:prstGeom>
          <a:solidFill>
            <a:srgbClr val="E2E8F0"/>
          </a:solidFill>
          <a:ln/>
        </p:spPr>
      </p:sp>
      <p:sp>
        <p:nvSpPr>
          <p:cNvPr id="10" name="Text 8"/>
          <p:cNvSpPr txBox="1"/>
          <p:nvPr/>
        </p:nvSpPr>
        <p:spPr>
          <a:xfrm>
            <a:off x="502920" y="7640066"/>
            <a:ext cx="4480560" cy="2149856"/>
          </a:xfrm>
          <a:prstGeom prst="rect">
            <a:avLst/>
          </a:prstGeom>
          <a:noFill/>
          <a:ln/>
        </p:spPr>
        <p:txBody>
          <a:bodyPr wrap="square" lIns="0" tIns="0" rIns="0" bIns="0" rtlCol="0" anchor="t"/>
          <a:lstStyle/>
          <a:p>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道すじでは「PC →（有線LANかWi-Fi）→ ルーター → 回線装置（ONUやケーブルモデム）→ 固定回線 → インターネット」の真ん中にあります。ONUなどと一体になった機器もあります。</a:t>
            </a:r>
            <a:endParaRPr lang="en-US" sz="2000" dirty="0"/>
          </a:p>
        </p:txBody>
      </p:sp>
      <p:sp>
        <p:nvSpPr>
          <p:cNvPr id="11" name="Text 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387</a:t>
            </a:fld>
            <a:endParaRPr lang="en-US"/>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name="Slide 3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3/3</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ルーター</a:t>
            </a:r>
            <a:endParaRPr lang="ja-JP" sz="2200" dirty="0"/>
          </a:p>
        </p:txBody>
      </p:sp>
      <p:sp>
        <p:nvSpPr>
          <p:cNvPr id="4" name="Shape 2"/>
          <p:cNvSpPr/>
          <p:nvPr/>
        </p:nvSpPr>
        <p:spPr>
          <a:xfrm>
            <a:off x="320040" y="1318514"/>
            <a:ext cx="4846320" cy="1600200"/>
          </a:xfrm>
          <a:prstGeom prst="roundRect">
            <a:avLst>
              <a:gd name="adj" fmla="val 8000"/>
            </a:avLst>
          </a:prstGeom>
          <a:solidFill>
            <a:srgbClr val="FDEBD0"/>
          </a:solidFill>
          <a:ln/>
        </p:spPr>
      </p:sp>
      <p:sp>
        <p:nvSpPr>
          <p:cNvPr id="5" name="Text 3"/>
          <p:cNvSpPr txBox="1"/>
          <p:nvPr/>
        </p:nvSpPr>
        <p:spPr>
          <a:xfrm>
            <a:off x="502920" y="1409954"/>
            <a:ext cx="4480560" cy="145389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B45309"/>
                </a:solidFill>
                <a:latin typeface="Yu Gothic" pitchFamily="34" charset="0"/>
                <a:ea typeface="Yu Gothic" pitchFamily="34" charset="-122"/>
                <a:cs typeface="Yu Gothic" pitchFamily="34" charset="-120"/>
              </a:rPr>
              <a:t>たとえるなら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マンションの管理人室。住人全員の荷物を、建物の代表住所でまとめて外へ出し、届いた荷物は正しい部屋へ届けます。</a:t>
            </a:r>
            <a:endParaRPr lang="en-US" sz="2000" dirty="0"/>
          </a:p>
        </p:txBody>
      </p:sp>
      <p:sp>
        <p:nvSpPr>
          <p:cNvPr id="6" name="Shape 4"/>
          <p:cNvSpPr/>
          <p:nvPr/>
        </p:nvSpPr>
        <p:spPr>
          <a:xfrm>
            <a:off x="320040" y="3101594"/>
            <a:ext cx="4846320" cy="1935480"/>
          </a:xfrm>
          <a:prstGeom prst="roundRect">
            <a:avLst>
              <a:gd name="adj" fmla="val 6614"/>
            </a:avLst>
          </a:prstGeom>
          <a:solidFill>
            <a:srgbClr val="DCE8F8"/>
          </a:solidFill>
          <a:ln/>
        </p:spPr>
      </p:sp>
      <p:sp>
        <p:nvSpPr>
          <p:cNvPr id="7" name="Text 5"/>
          <p:cNvSpPr txBox="1"/>
          <p:nvPr/>
        </p:nvSpPr>
        <p:spPr>
          <a:xfrm>
            <a:off x="502920" y="3193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F6BC2"/>
                </a:solidFill>
                <a:latin typeface="Yu Gothic" pitchFamily="34" charset="0"/>
                <a:ea typeface="Yu Gothic" pitchFamily="34" charset="-122"/>
                <a:cs typeface="Yu Gothic" pitchFamily="34" charset="-120"/>
              </a:rPr>
              <a:t>こんな場面で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家のWi-Fiの電波を出している箱が、たいていルーターです。ネットにつながらないとき、ルーターの電源を入れ直す対処がよく試されます。</a:t>
            </a:r>
            <a:endParaRPr lang="en-US" sz="2000" dirty="0"/>
          </a:p>
        </p:txBody>
      </p:sp>
      <p:sp>
        <p:nvSpPr>
          <p:cNvPr id="8" name="Shape 6"/>
          <p:cNvSpPr/>
          <p:nvPr/>
        </p:nvSpPr>
        <p:spPr>
          <a:xfrm>
            <a:off x="320040" y="5219954"/>
            <a:ext cx="4846320" cy="2270760"/>
          </a:xfrm>
          <a:prstGeom prst="roundRect">
            <a:avLst>
              <a:gd name="adj" fmla="val 5638"/>
            </a:avLst>
          </a:prstGeom>
          <a:solidFill>
            <a:srgbClr val="FBE3E0"/>
          </a:solidFill>
          <a:ln/>
        </p:spPr>
      </p:sp>
      <p:sp>
        <p:nvSpPr>
          <p:cNvPr id="9" name="Text 7"/>
          <p:cNvSpPr txBox="1"/>
          <p:nvPr/>
        </p:nvSpPr>
        <p:spPr>
          <a:xfrm>
            <a:off x="502920" y="5311394"/>
            <a:ext cx="4480560" cy="212445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C0392B"/>
                </a:solidFill>
                <a:latin typeface="Yu Gothic" pitchFamily="34" charset="0"/>
                <a:ea typeface="Yu Gothic" pitchFamily="34" charset="-122"/>
                <a:cs typeface="Yu Gothic" pitchFamily="34" charset="-120"/>
              </a:rPr>
              <a:t>勘違い・つまずき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ルーター（行き先を決める機器）とWi-Fi（電波でつなぐ方法）は別物です。家庭用は1台で両方を兼ねることが多いので混同しやすく、ONUやモデムとも役割が違います。</a:t>
            </a:r>
            <a:endParaRPr lang="en-US" sz="2000" dirty="0"/>
          </a:p>
        </p:txBody>
      </p:sp>
      <p:sp>
        <p:nvSpPr>
          <p:cNvPr id="10" name="Shape 8"/>
          <p:cNvSpPr/>
          <p:nvPr/>
        </p:nvSpPr>
        <p:spPr>
          <a:xfrm>
            <a:off x="320040" y="7673594"/>
            <a:ext cx="4846320" cy="1935480"/>
          </a:xfrm>
          <a:prstGeom prst="roundRect">
            <a:avLst>
              <a:gd name="adj" fmla="val 6614"/>
            </a:avLst>
          </a:prstGeom>
          <a:solidFill>
            <a:srgbClr val="DDF1E4"/>
          </a:solidFill>
          <a:ln/>
        </p:spPr>
      </p:sp>
      <p:sp>
        <p:nvSpPr>
          <p:cNvPr id="11" name="Text 9"/>
          <p:cNvSpPr txBox="1"/>
          <p:nvPr/>
        </p:nvSpPr>
        <p:spPr>
          <a:xfrm>
            <a:off x="502920" y="7765034"/>
            <a:ext cx="4480560" cy="1789176"/>
          </a:xfrm>
          <a:prstGeom prst="rect">
            <a:avLst/>
          </a:prstGeom>
          <a:noFill/>
          <a:ln/>
        </p:spPr>
        <p:txBody>
          <a:bodyPr wrap="square" lIns="0" tIns="0" rIns="0" bIns="0" rtlCol="0" anchor="t"/>
          <a:lstStyle/>
          <a:p>
            <a:pPr indent="0" marL="0">
              <a:lnSpc>
                <a:spcPts val="2600"/>
              </a:lnSpc>
              <a:spcAft>
                <a:spcPts val="600"/>
              </a:spcAft>
              <a:buNone/>
            </a:pPr>
            <a:r>
              <a:rPr lang="ja-JP" altLang="en-US" sz="2000" b="1" dirty="0">
                <a:solidFill>
                  <a:srgbClr val="237A48"/>
                </a:solidFill>
                <a:latin typeface="Yu Gothic" pitchFamily="34" charset="0"/>
                <a:ea typeface="Yu Gothic" pitchFamily="34" charset="-122"/>
                <a:cs typeface="Yu Gothic" pitchFamily="34" charset="-120"/>
              </a:rPr>
              <a:t>最初の学び方　</a:t>
            </a:r>
            <a:pPr indent="0" marL="0">
              <a:lnSpc>
                <a:spcPts val="2600"/>
              </a:lnSpc>
              <a:spcAft>
                <a:spcPts val="600"/>
              </a:spcAft>
              <a:buNone/>
            </a:pPr>
            <a:r>
              <a:rPr lang="ja-JP" altLang="en-US" sz="2000" dirty="0">
                <a:solidFill>
                  <a:srgbClr val="1B2A3A"/>
                </a:solidFill>
                <a:latin typeface="Yu Gothic" pitchFamily="34" charset="0"/>
                <a:ea typeface="Yu Gothic" pitchFamily="34" charset="-122"/>
                <a:cs typeface="Yu Gothic" pitchFamily="34" charset="-120"/>
              </a:rPr>
              <a:t>Windowsのコマンドプロンプトで ipconfig と打ち、「デフォルト ゲートウェイ」の数字を見ましょう。たいていそれが、家のルーターの住所です。</a:t>
            </a:r>
            <a:endParaRPr lang="en-US" sz="2000" dirty="0"/>
          </a:p>
        </p:txBody>
      </p:sp>
      <p:sp>
        <p:nvSpPr>
          <p:cNvPr id="12" name="Text 1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388</a:t>
            </a:fld>
            <a:endParaRPr lang="en-US"/>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name="Slide 3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260096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5" name="Text 3"/>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契約と機器の確認チェック</a:t>
            </a:r>
            <a:endParaRPr lang="ja-JP" sz="2600" dirty="0"/>
          </a:p>
        </p:txBody>
      </p:sp>
      <p:sp>
        <p:nvSpPr>
          <p:cNvPr id="6" name="Text 4"/>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質問に答える前に、自宅の回線と機器を確認します。どこを見るかを表にしました。</a:t>
            </a:r>
            <a:endParaRPr lang="en-US" sz="1800" dirty="0"/>
          </a:p>
        </p:txBody>
      </p:sp>
      <p:sp>
        <p:nvSpPr>
          <p:cNvPr id="7" name="Shape 5"/>
          <p:cNvSpPr/>
          <p:nvPr/>
        </p:nvSpPr>
        <p:spPr>
          <a:xfrm>
            <a:off x="320040" y="2515870"/>
            <a:ext cx="4846320" cy="1805432"/>
          </a:xfrm>
          <a:prstGeom prst="roundRect">
            <a:avLst>
              <a:gd name="adj" fmla="val 7091"/>
            </a:avLst>
          </a:prstGeom>
          <a:solidFill>
            <a:srgbClr val="F3E7DC"/>
          </a:solidFill>
          <a:ln/>
        </p:spPr>
      </p:sp>
      <p:sp>
        <p:nvSpPr>
          <p:cNvPr id="8" name="Text 6"/>
          <p:cNvSpPr txBox="1"/>
          <p:nvPr/>
        </p:nvSpPr>
        <p:spPr>
          <a:xfrm>
            <a:off x="502920" y="266217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7C4A1E"/>
                </a:solidFill>
                <a:latin typeface="Yu Gothic" pitchFamily="34" charset="0"/>
                <a:ea typeface="Yu Gothic" pitchFamily="34" charset="-122"/>
                <a:cs typeface="Yu Gothic" pitchFamily="34" charset="-120"/>
              </a:rPr>
              <a:t>固定回線の種類</a:t>
            </a:r>
            <a:endParaRPr lang="en-US" sz="2200" dirty="0"/>
          </a:p>
        </p:txBody>
      </p:sp>
      <p:sp>
        <p:nvSpPr>
          <p:cNvPr id="9" name="Text 7"/>
          <p:cNvSpPr txBox="1"/>
          <p:nvPr/>
        </p:nvSpPr>
        <p:spPr>
          <a:xfrm>
            <a:off x="502920" y="3122422"/>
            <a:ext cx="4480560" cy="11074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7C4A1E"/>
                </a:solidFill>
                <a:latin typeface="Yu Gothic" pitchFamily="34" charset="0"/>
                <a:ea typeface="Yu Gothic" pitchFamily="34" charset="-122"/>
                <a:cs typeface="Yu Gothic" pitchFamily="34" charset="-120"/>
              </a:rPr>
              <a:t>確認の方法：</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契約書や請求書で、光回線・ケーブルテレビ回線などの契約を確認する</a:t>
            </a:r>
            <a:endParaRPr lang="en-US" sz="2000" dirty="0"/>
          </a:p>
        </p:txBody>
      </p:sp>
      <p:sp>
        <p:nvSpPr>
          <p:cNvPr id="10" name="Shape 8"/>
          <p:cNvSpPr/>
          <p:nvPr/>
        </p:nvSpPr>
        <p:spPr>
          <a:xfrm>
            <a:off x="320040" y="4504182"/>
            <a:ext cx="4846320" cy="1470152"/>
          </a:xfrm>
          <a:prstGeom prst="roundRect">
            <a:avLst>
              <a:gd name="adj" fmla="val 8708"/>
            </a:avLst>
          </a:prstGeom>
          <a:solidFill>
            <a:srgbClr val="F3E7DC"/>
          </a:solidFill>
          <a:ln/>
        </p:spPr>
      </p:sp>
      <p:sp>
        <p:nvSpPr>
          <p:cNvPr id="11" name="Text 9"/>
          <p:cNvSpPr txBox="1"/>
          <p:nvPr/>
        </p:nvSpPr>
        <p:spPr>
          <a:xfrm>
            <a:off x="502920" y="465048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7C4A1E"/>
                </a:solidFill>
                <a:latin typeface="Yu Gothic" pitchFamily="34" charset="0"/>
                <a:ea typeface="Yu Gothic" pitchFamily="34" charset="-122"/>
                <a:cs typeface="Yu Gothic" pitchFamily="34" charset="-120"/>
              </a:rPr>
              <a:t>光回線</a:t>
            </a:r>
            <a:endParaRPr lang="en-US" sz="2200" dirty="0"/>
          </a:p>
        </p:txBody>
      </p:sp>
      <p:sp>
        <p:nvSpPr>
          <p:cNvPr id="12" name="Text 10"/>
          <p:cNvSpPr txBox="1"/>
          <p:nvPr/>
        </p:nvSpPr>
        <p:spPr>
          <a:xfrm>
            <a:off x="502920" y="5110734"/>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7C4A1E"/>
                </a:solidFill>
                <a:latin typeface="Yu Gothic" pitchFamily="34" charset="0"/>
                <a:ea typeface="Yu Gothic" pitchFamily="34" charset="-122"/>
                <a:cs typeface="Yu Gothic" pitchFamily="34" charset="-120"/>
              </a:rPr>
              <a:t>確認の方法：</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契約サービス名を確認する</a:t>
            </a:r>
            <a:endParaRPr lang="en-US" sz="2000" dirty="0"/>
          </a:p>
        </p:txBody>
      </p:sp>
      <p:sp>
        <p:nvSpPr>
          <p:cNvPr id="13" name="Shape 11"/>
          <p:cNvSpPr/>
          <p:nvPr/>
        </p:nvSpPr>
        <p:spPr>
          <a:xfrm>
            <a:off x="320040" y="6157214"/>
            <a:ext cx="4846320" cy="1470152"/>
          </a:xfrm>
          <a:prstGeom prst="roundRect">
            <a:avLst>
              <a:gd name="adj" fmla="val 8708"/>
            </a:avLst>
          </a:prstGeom>
          <a:solidFill>
            <a:srgbClr val="F3E7DC"/>
          </a:solidFill>
          <a:ln/>
        </p:spPr>
      </p:sp>
      <p:sp>
        <p:nvSpPr>
          <p:cNvPr id="14" name="Text 12"/>
          <p:cNvSpPr txBox="1"/>
          <p:nvPr/>
        </p:nvSpPr>
        <p:spPr>
          <a:xfrm>
            <a:off x="502920" y="63035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7C4A1E"/>
                </a:solidFill>
                <a:latin typeface="Yu Gothic" pitchFamily="34" charset="0"/>
                <a:ea typeface="Yu Gothic" pitchFamily="34" charset="-122"/>
                <a:cs typeface="Yu Gothic" pitchFamily="34" charset="-120"/>
              </a:rPr>
              <a:t>ケーブルテレビ回線</a:t>
            </a:r>
            <a:endParaRPr lang="en-US" sz="2200" dirty="0"/>
          </a:p>
        </p:txBody>
      </p:sp>
      <p:sp>
        <p:nvSpPr>
          <p:cNvPr id="15" name="Text 13"/>
          <p:cNvSpPr txBox="1"/>
          <p:nvPr/>
        </p:nvSpPr>
        <p:spPr>
          <a:xfrm>
            <a:off x="502920" y="676376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7C4A1E"/>
                </a:solidFill>
                <a:latin typeface="Yu Gothic" pitchFamily="34" charset="0"/>
                <a:ea typeface="Yu Gothic" pitchFamily="34" charset="-122"/>
                <a:cs typeface="Yu Gothic" pitchFamily="34" charset="-120"/>
              </a:rPr>
              <a:t>確認の方法：</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契約内容や設置機器を確認する</a:t>
            </a:r>
            <a:endParaRPr lang="en-US" sz="2000" dirty="0"/>
          </a:p>
        </p:txBody>
      </p:sp>
      <p:sp>
        <p:nvSpPr>
          <p:cNvPr id="16" name="Shape 14"/>
          <p:cNvSpPr/>
          <p:nvPr/>
        </p:nvSpPr>
        <p:spPr>
          <a:xfrm>
            <a:off x="320040" y="7810246"/>
            <a:ext cx="4846320" cy="1805432"/>
          </a:xfrm>
          <a:prstGeom prst="roundRect">
            <a:avLst>
              <a:gd name="adj" fmla="val 7091"/>
            </a:avLst>
          </a:prstGeom>
          <a:solidFill>
            <a:srgbClr val="F3E7DC"/>
          </a:solidFill>
          <a:ln/>
        </p:spPr>
      </p:sp>
      <p:sp>
        <p:nvSpPr>
          <p:cNvPr id="17" name="Text 15"/>
          <p:cNvSpPr txBox="1"/>
          <p:nvPr/>
        </p:nvSpPr>
        <p:spPr>
          <a:xfrm>
            <a:off x="502920" y="795655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7C4A1E"/>
                </a:solidFill>
                <a:latin typeface="Yu Gothic" pitchFamily="34" charset="0"/>
                <a:ea typeface="Yu Gothic" pitchFamily="34" charset="-122"/>
                <a:cs typeface="Yu Gothic" pitchFamily="34" charset="-120"/>
              </a:rPr>
              <a:t>有線LAN</a:t>
            </a:r>
            <a:endParaRPr lang="en-US" sz="2200" dirty="0"/>
          </a:p>
        </p:txBody>
      </p:sp>
      <p:sp>
        <p:nvSpPr>
          <p:cNvPr id="18" name="Text 16"/>
          <p:cNvSpPr txBox="1"/>
          <p:nvPr/>
        </p:nvSpPr>
        <p:spPr>
          <a:xfrm>
            <a:off x="502920" y="8416798"/>
            <a:ext cx="4480560" cy="110744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7C4A1E"/>
                </a:solidFill>
                <a:latin typeface="Yu Gothic" pitchFamily="34" charset="0"/>
                <a:ea typeface="Yu Gothic" pitchFamily="34" charset="-122"/>
                <a:cs typeface="Yu Gothic" pitchFamily="34" charset="-120"/>
              </a:rPr>
              <a:t>確認の方法：</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PCの差し込み口、ケーブル、必要なら変換アダプターを確認する</a:t>
            </a:r>
            <a:endParaRPr lang="en-US" sz="2000" dirty="0"/>
          </a:p>
        </p:txBody>
      </p:sp>
      <p:sp>
        <p:nvSpPr>
          <p:cNvPr id="19" name="Text 17"/>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389</a:t>
            </a:fld>
            <a:endParaRPr lang="en-US"/>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name="Slide 3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2612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契約と機器の確認チェック</a:t>
            </a:r>
            <a:endParaRPr lang="ja-JP" sz="2200" dirty="0"/>
          </a:p>
        </p:txBody>
      </p:sp>
      <p:sp>
        <p:nvSpPr>
          <p:cNvPr id="4" name="Shape 2"/>
          <p:cNvSpPr/>
          <p:nvPr/>
        </p:nvSpPr>
        <p:spPr>
          <a:xfrm>
            <a:off x="320040" y="1318514"/>
            <a:ext cx="4846320" cy="1470152"/>
          </a:xfrm>
          <a:prstGeom prst="roundRect">
            <a:avLst>
              <a:gd name="adj" fmla="val 8708"/>
            </a:avLst>
          </a:prstGeom>
          <a:solidFill>
            <a:srgbClr val="F3E7DC"/>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7C4A1E"/>
                </a:solidFill>
                <a:latin typeface="Yu Gothic" pitchFamily="34" charset="0"/>
                <a:ea typeface="Yu Gothic" pitchFamily="34" charset="-122"/>
                <a:cs typeface="Yu Gothic" pitchFamily="34" charset="-120"/>
              </a:rPr>
              <a:t>Wi-Fi（補足）</a:t>
            </a:r>
            <a:endParaRPr lang="en-US" sz="2200" dirty="0"/>
          </a:p>
        </p:txBody>
      </p:sp>
      <p:sp>
        <p:nvSpPr>
          <p:cNvPr id="6" name="Text 4"/>
          <p:cNvSpPr txBox="1"/>
          <p:nvPr/>
        </p:nvSpPr>
        <p:spPr>
          <a:xfrm>
            <a:off x="502920" y="192506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7C4A1E"/>
                </a:solidFill>
                <a:latin typeface="Yu Gothic" pitchFamily="34" charset="0"/>
                <a:ea typeface="Yu Gothic" pitchFamily="34" charset="-122"/>
                <a:cs typeface="Yu Gothic" pitchFamily="34" charset="-120"/>
              </a:rPr>
              <a:t>確認の方法：</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ルーターとの距離、電波の強さ、混雑を確認する</a:t>
            </a:r>
            <a:endParaRPr lang="en-US" sz="2000" dirty="0"/>
          </a:p>
        </p:txBody>
      </p:sp>
      <p:sp>
        <p:nvSpPr>
          <p:cNvPr id="7"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390</a:t>
            </a:fld>
            <a:endParaRPr lang="en-US"/>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name="Slide 3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セルフチェック①：前半の用語</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答えのヒントを隠して、声に出して説明できるか試します。</a:t>
            </a:r>
            <a:endParaRPr lang="en-US" sz="1800" dirty="0"/>
          </a:p>
        </p:txBody>
      </p:sp>
      <p:sp>
        <p:nvSpPr>
          <p:cNvPr id="6" name="Shape 4"/>
          <p:cNvSpPr/>
          <p:nvPr/>
        </p:nvSpPr>
        <p:spPr>
          <a:xfrm>
            <a:off x="320040" y="2515870"/>
            <a:ext cx="4846320" cy="1470152"/>
          </a:xfrm>
          <a:prstGeom prst="roundRect">
            <a:avLst>
              <a:gd name="adj" fmla="val 8708"/>
            </a:avLst>
          </a:prstGeom>
          <a:solidFill>
            <a:srgbClr val="DCE6F2"/>
          </a:solidFill>
          <a:ln/>
        </p:spPr>
      </p:sp>
      <p:sp>
        <p:nvSpPr>
          <p:cNvPr id="7" name="Text 5"/>
          <p:cNvSpPr txBox="1"/>
          <p:nvPr/>
        </p:nvSpPr>
        <p:spPr>
          <a:xfrm>
            <a:off x="502920" y="266217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メモリとストレージの違いは？</a:t>
            </a:r>
            <a:endParaRPr lang="en-US" sz="2200" dirty="0"/>
          </a:p>
        </p:txBody>
      </p:sp>
      <p:sp>
        <p:nvSpPr>
          <p:cNvPr id="8" name="Text 6"/>
          <p:cNvSpPr txBox="1"/>
          <p:nvPr/>
        </p:nvSpPr>
        <p:spPr>
          <a:xfrm>
            <a:off x="502920" y="3122422"/>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作業机（一時的）／倉庫（長期保存）</a:t>
            </a:r>
            <a:endParaRPr lang="en-US" sz="2000" dirty="0"/>
          </a:p>
        </p:txBody>
      </p:sp>
      <p:sp>
        <p:nvSpPr>
          <p:cNvPr id="9" name="Shape 7"/>
          <p:cNvSpPr/>
          <p:nvPr/>
        </p:nvSpPr>
        <p:spPr>
          <a:xfrm>
            <a:off x="320040" y="4168902"/>
            <a:ext cx="4846320" cy="1470152"/>
          </a:xfrm>
          <a:prstGeom prst="roundRect">
            <a:avLst>
              <a:gd name="adj" fmla="val 8708"/>
            </a:avLst>
          </a:prstGeom>
          <a:solidFill>
            <a:srgbClr val="DCE6F2"/>
          </a:solidFill>
          <a:ln/>
        </p:spPr>
      </p:sp>
      <p:sp>
        <p:nvSpPr>
          <p:cNvPr id="10" name="Text 8"/>
          <p:cNvSpPr txBox="1"/>
          <p:nvPr/>
        </p:nvSpPr>
        <p:spPr>
          <a:xfrm>
            <a:off x="502920" y="431520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NASとSANの違いは？</a:t>
            </a:r>
            <a:endParaRPr lang="en-US" sz="2200" dirty="0"/>
          </a:p>
        </p:txBody>
      </p:sp>
      <p:sp>
        <p:nvSpPr>
          <p:cNvPr id="11" name="Text 9"/>
          <p:cNvSpPr txBox="1"/>
          <p:nvPr/>
        </p:nvSpPr>
        <p:spPr>
          <a:xfrm>
            <a:off x="502920" y="4775454"/>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共有フォルダー／ディスクのような領域</a:t>
            </a:r>
            <a:endParaRPr lang="en-US" sz="2000" dirty="0"/>
          </a:p>
        </p:txBody>
      </p:sp>
      <p:sp>
        <p:nvSpPr>
          <p:cNvPr id="12" name="Shape 10"/>
          <p:cNvSpPr/>
          <p:nvPr/>
        </p:nvSpPr>
        <p:spPr>
          <a:xfrm>
            <a:off x="320040" y="5821934"/>
            <a:ext cx="4846320" cy="1838960"/>
          </a:xfrm>
          <a:prstGeom prst="roundRect">
            <a:avLst>
              <a:gd name="adj" fmla="val 6961"/>
            </a:avLst>
          </a:prstGeom>
          <a:solidFill>
            <a:srgbClr val="DCE6F2"/>
          </a:solidFill>
          <a:ln/>
        </p:spPr>
      </p:sp>
      <p:sp>
        <p:nvSpPr>
          <p:cNvPr id="13" name="Text 11"/>
          <p:cNvSpPr txBox="1"/>
          <p:nvPr/>
        </p:nvSpPr>
        <p:spPr>
          <a:xfrm>
            <a:off x="502920" y="5968238"/>
            <a:ext cx="4480560" cy="737616"/>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RAIDとバックアップの違いは？</a:t>
            </a:r>
            <a:endParaRPr lang="en-US" sz="2200" dirty="0"/>
          </a:p>
        </p:txBody>
      </p:sp>
      <p:sp>
        <p:nvSpPr>
          <p:cNvPr id="14" name="Text 12"/>
          <p:cNvSpPr txBox="1"/>
          <p:nvPr/>
        </p:nvSpPr>
        <p:spPr>
          <a:xfrm>
            <a:off x="502920" y="6797294"/>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故障への対策／消した・壊れたデータを戻す備え</a:t>
            </a:r>
            <a:endParaRPr lang="en-US" sz="2000" dirty="0"/>
          </a:p>
        </p:txBody>
      </p:sp>
      <p:sp>
        <p:nvSpPr>
          <p:cNvPr id="15" name="Shape 13"/>
          <p:cNvSpPr/>
          <p:nvPr/>
        </p:nvSpPr>
        <p:spPr>
          <a:xfrm>
            <a:off x="320040" y="7843774"/>
            <a:ext cx="4846320" cy="1470152"/>
          </a:xfrm>
          <a:prstGeom prst="roundRect">
            <a:avLst>
              <a:gd name="adj" fmla="val 8708"/>
            </a:avLst>
          </a:prstGeom>
          <a:solidFill>
            <a:srgbClr val="DCE6F2"/>
          </a:solidFill>
          <a:ln/>
        </p:spPr>
      </p:sp>
      <p:sp>
        <p:nvSpPr>
          <p:cNvPr id="16" name="Text 14"/>
          <p:cNvSpPr txBox="1"/>
          <p:nvPr/>
        </p:nvSpPr>
        <p:spPr>
          <a:xfrm>
            <a:off x="502920" y="799007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DBとDBMSの違いは？</a:t>
            </a:r>
            <a:endParaRPr lang="en-US" sz="2200" dirty="0"/>
          </a:p>
        </p:txBody>
      </p:sp>
      <p:sp>
        <p:nvSpPr>
          <p:cNvPr id="17" name="Text 15"/>
          <p:cNvSpPr txBox="1"/>
          <p:nvPr/>
        </p:nvSpPr>
        <p:spPr>
          <a:xfrm>
            <a:off x="502920" y="845032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情報のまとまり／それを管理するソフト</a:t>
            </a:r>
            <a:endParaRPr lang="en-US" sz="2000" dirty="0"/>
          </a:p>
        </p:txBody>
      </p:sp>
      <p:sp>
        <p:nvSpPr>
          <p:cNvPr id="18" name="Text 1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391</a:t>
            </a:fld>
            <a:endParaRPr lang="en-US"/>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name="Slide 3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セルフチェック①：前半の用語</a:t>
            </a:r>
            <a:endParaRPr lang="ja-JP" sz="2200" dirty="0"/>
          </a:p>
        </p:txBody>
      </p:sp>
      <p:sp>
        <p:nvSpPr>
          <p:cNvPr id="4" name="Shape 2"/>
          <p:cNvSpPr/>
          <p:nvPr/>
        </p:nvSpPr>
        <p:spPr>
          <a:xfrm>
            <a:off x="320040" y="1318514"/>
            <a:ext cx="4846320" cy="1470152"/>
          </a:xfrm>
          <a:prstGeom prst="roundRect">
            <a:avLst>
              <a:gd name="adj" fmla="val 8708"/>
            </a:avLst>
          </a:prstGeom>
          <a:solidFill>
            <a:srgbClr val="DCE6F2"/>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WebサーバーとAPサーバーは？</a:t>
            </a:r>
            <a:endParaRPr lang="en-US" sz="2200" dirty="0"/>
          </a:p>
        </p:txBody>
      </p:sp>
      <p:sp>
        <p:nvSpPr>
          <p:cNvPr id="6" name="Text 4"/>
          <p:cNvSpPr txBox="1"/>
          <p:nvPr/>
        </p:nvSpPr>
        <p:spPr>
          <a:xfrm>
            <a:off x="502920" y="192506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受付・配信／処理の実行</a:t>
            </a:r>
            <a:endParaRPr lang="en-US" sz="2000" dirty="0"/>
          </a:p>
        </p:txBody>
      </p:sp>
      <p:sp>
        <p:nvSpPr>
          <p:cNvPr id="7" name="Shape 5"/>
          <p:cNvSpPr/>
          <p:nvPr/>
        </p:nvSpPr>
        <p:spPr>
          <a:xfrm>
            <a:off x="320040" y="2971546"/>
            <a:ext cx="4846320" cy="1470152"/>
          </a:xfrm>
          <a:prstGeom prst="roundRect">
            <a:avLst>
              <a:gd name="adj" fmla="val 8708"/>
            </a:avLst>
          </a:prstGeom>
          <a:solidFill>
            <a:srgbClr val="DCE6F2"/>
          </a:solidFill>
          <a:ln/>
        </p:spPr>
      </p:sp>
      <p:sp>
        <p:nvSpPr>
          <p:cNvPr id="8" name="Text 6"/>
          <p:cNvSpPr txBox="1"/>
          <p:nvPr/>
        </p:nvSpPr>
        <p:spPr>
          <a:xfrm>
            <a:off x="502920" y="311785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VMとコンテナの違いは？</a:t>
            </a:r>
            <a:endParaRPr lang="en-US" sz="2200" dirty="0"/>
          </a:p>
        </p:txBody>
      </p:sp>
      <p:sp>
        <p:nvSpPr>
          <p:cNvPr id="9" name="Text 7"/>
          <p:cNvSpPr txBox="1"/>
          <p:nvPr/>
        </p:nvSpPr>
        <p:spPr>
          <a:xfrm>
            <a:off x="502920" y="3578098"/>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OSごとの仮想コンピューター／OSを共有する小さな箱</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392</a:t>
            </a:fld>
            <a:endParaRPr lang="en-US"/>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name="Slide 3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セルフチェック②：後半の用語</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後半の用語も、1文で説明できるか確かめます。</a:t>
            </a:r>
            <a:endParaRPr lang="en-US" sz="1800" dirty="0"/>
          </a:p>
        </p:txBody>
      </p:sp>
      <p:sp>
        <p:nvSpPr>
          <p:cNvPr id="6" name="Shape 4"/>
          <p:cNvSpPr/>
          <p:nvPr/>
        </p:nvSpPr>
        <p:spPr>
          <a:xfrm>
            <a:off x="320040" y="2515870"/>
            <a:ext cx="4846320" cy="1838960"/>
          </a:xfrm>
          <a:prstGeom prst="roundRect">
            <a:avLst>
              <a:gd name="adj" fmla="val 6961"/>
            </a:avLst>
          </a:prstGeom>
          <a:solidFill>
            <a:srgbClr val="DCE6F2"/>
          </a:solidFill>
          <a:ln/>
        </p:spPr>
      </p:sp>
      <p:sp>
        <p:nvSpPr>
          <p:cNvPr id="7" name="Text 5"/>
          <p:cNvSpPr txBox="1"/>
          <p:nvPr/>
        </p:nvSpPr>
        <p:spPr>
          <a:xfrm>
            <a:off x="502920" y="2662174"/>
            <a:ext cx="4480560" cy="737616"/>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パブリックとプライベートクラウドは？</a:t>
            </a:r>
            <a:endParaRPr lang="en-US" sz="2200" dirty="0"/>
          </a:p>
        </p:txBody>
      </p:sp>
      <p:sp>
        <p:nvSpPr>
          <p:cNvPr id="8" name="Text 6"/>
          <p:cNvSpPr txBox="1"/>
          <p:nvPr/>
        </p:nvSpPr>
        <p:spPr>
          <a:xfrm>
            <a:off x="502920" y="3491230"/>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多数の顧客向け／特定の組織専用</a:t>
            </a:r>
            <a:endParaRPr lang="en-US" sz="2000" dirty="0"/>
          </a:p>
        </p:txBody>
      </p:sp>
      <p:sp>
        <p:nvSpPr>
          <p:cNvPr id="9" name="Shape 7"/>
          <p:cNvSpPr/>
          <p:nvPr/>
        </p:nvSpPr>
        <p:spPr>
          <a:xfrm>
            <a:off x="320040" y="4537710"/>
            <a:ext cx="4846320" cy="1470152"/>
          </a:xfrm>
          <a:prstGeom prst="roundRect">
            <a:avLst>
              <a:gd name="adj" fmla="val 8708"/>
            </a:avLst>
          </a:prstGeom>
          <a:solidFill>
            <a:srgbClr val="DCE6F2"/>
          </a:solidFill>
          <a:ln/>
        </p:spPr>
      </p:sp>
      <p:sp>
        <p:nvSpPr>
          <p:cNvPr id="10" name="Text 8"/>
          <p:cNvSpPr txBox="1"/>
          <p:nvPr/>
        </p:nvSpPr>
        <p:spPr>
          <a:xfrm>
            <a:off x="502920" y="468401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マネージドサービスとは？</a:t>
            </a:r>
            <a:endParaRPr lang="en-US" sz="2200" dirty="0"/>
          </a:p>
        </p:txBody>
      </p:sp>
      <p:sp>
        <p:nvSpPr>
          <p:cNvPr id="11" name="Text 9"/>
          <p:cNvSpPr txBox="1"/>
          <p:nvPr/>
        </p:nvSpPr>
        <p:spPr>
          <a:xfrm>
            <a:off x="502920" y="5144262"/>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運用の一部を提供会社が担当するサービス</a:t>
            </a:r>
            <a:endParaRPr lang="en-US" sz="2000" dirty="0"/>
          </a:p>
        </p:txBody>
      </p:sp>
      <p:sp>
        <p:nvSpPr>
          <p:cNvPr id="12" name="Shape 10"/>
          <p:cNvSpPr/>
          <p:nvPr/>
        </p:nvSpPr>
        <p:spPr>
          <a:xfrm>
            <a:off x="320040" y="6190742"/>
            <a:ext cx="4846320" cy="1470152"/>
          </a:xfrm>
          <a:prstGeom prst="roundRect">
            <a:avLst>
              <a:gd name="adj" fmla="val 8708"/>
            </a:avLst>
          </a:prstGeom>
          <a:solidFill>
            <a:srgbClr val="DCE6F2"/>
          </a:solidFill>
          <a:ln/>
        </p:spPr>
      </p:sp>
      <p:sp>
        <p:nvSpPr>
          <p:cNvPr id="13" name="Text 11"/>
          <p:cNvSpPr txBox="1"/>
          <p:nvPr/>
        </p:nvSpPr>
        <p:spPr>
          <a:xfrm>
            <a:off x="502920" y="633704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AIと機械学習の関係は？</a:t>
            </a:r>
            <a:endParaRPr lang="en-US" sz="2200" dirty="0"/>
          </a:p>
        </p:txBody>
      </p:sp>
      <p:sp>
        <p:nvSpPr>
          <p:cNvPr id="14" name="Text 12"/>
          <p:cNvSpPr txBox="1"/>
          <p:nvPr/>
        </p:nvSpPr>
        <p:spPr>
          <a:xfrm>
            <a:off x="502920" y="6797294"/>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AIの一分野が機械学習</a:t>
            </a:r>
            <a:endParaRPr lang="en-US" sz="2000" dirty="0"/>
          </a:p>
        </p:txBody>
      </p:sp>
      <p:sp>
        <p:nvSpPr>
          <p:cNvPr id="15" name="Shape 13"/>
          <p:cNvSpPr/>
          <p:nvPr/>
        </p:nvSpPr>
        <p:spPr>
          <a:xfrm>
            <a:off x="320040" y="7843774"/>
            <a:ext cx="4846320" cy="1470152"/>
          </a:xfrm>
          <a:prstGeom prst="roundRect">
            <a:avLst>
              <a:gd name="adj" fmla="val 8708"/>
            </a:avLst>
          </a:prstGeom>
          <a:solidFill>
            <a:srgbClr val="DCE6F2"/>
          </a:solidFill>
          <a:ln/>
        </p:spPr>
      </p:sp>
      <p:sp>
        <p:nvSpPr>
          <p:cNvPr id="16" name="Text 14"/>
          <p:cNvSpPr txBox="1"/>
          <p:nvPr/>
        </p:nvSpPr>
        <p:spPr>
          <a:xfrm>
            <a:off x="502920" y="799007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口頭発表とポスター発表は？</a:t>
            </a:r>
            <a:endParaRPr lang="en-US" sz="2200" dirty="0"/>
          </a:p>
        </p:txBody>
      </p:sp>
      <p:sp>
        <p:nvSpPr>
          <p:cNvPr id="17" name="Text 15"/>
          <p:cNvSpPr txBox="1"/>
          <p:nvPr/>
        </p:nvSpPr>
        <p:spPr>
          <a:xfrm>
            <a:off x="502920" y="845032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話して説明／紙面を見せて説明</a:t>
            </a:r>
            <a:endParaRPr lang="en-US" sz="2000" dirty="0"/>
          </a:p>
        </p:txBody>
      </p:sp>
      <p:sp>
        <p:nvSpPr>
          <p:cNvPr id="18" name="Text 16"/>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393</a:t>
            </a:fld>
            <a:endParaRPr lang="en-US"/>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name="Slide 3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セルフチェック②：後半の用語</a:t>
            </a:r>
            <a:endParaRPr lang="ja-JP" sz="2200" dirty="0"/>
          </a:p>
        </p:txBody>
      </p:sp>
      <p:sp>
        <p:nvSpPr>
          <p:cNvPr id="4" name="Shape 2"/>
          <p:cNvSpPr/>
          <p:nvPr/>
        </p:nvSpPr>
        <p:spPr>
          <a:xfrm>
            <a:off x="320040" y="1318514"/>
            <a:ext cx="4846320" cy="1838960"/>
          </a:xfrm>
          <a:prstGeom prst="roundRect">
            <a:avLst>
              <a:gd name="adj" fmla="val 6961"/>
            </a:avLst>
          </a:prstGeom>
          <a:solidFill>
            <a:srgbClr val="DCE6F2"/>
          </a:solidFill>
          <a:ln/>
        </p:spPr>
      </p:sp>
      <p:sp>
        <p:nvSpPr>
          <p:cNvPr id="5" name="Text 3"/>
          <p:cNvSpPr txBox="1"/>
          <p:nvPr/>
        </p:nvSpPr>
        <p:spPr>
          <a:xfrm>
            <a:off x="502920" y="1464818"/>
            <a:ext cx="4480560" cy="737616"/>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ITパスポートと基本情報の違いは？</a:t>
            </a:r>
            <a:endParaRPr lang="en-US" sz="2200" dirty="0"/>
          </a:p>
        </p:txBody>
      </p:sp>
      <p:sp>
        <p:nvSpPr>
          <p:cNvPr id="6" name="Text 4"/>
          <p:cNvSpPr txBox="1"/>
          <p:nvPr/>
        </p:nvSpPr>
        <p:spPr>
          <a:xfrm>
            <a:off x="502920" y="2293874"/>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基礎知識の入口／技術者向けの基礎</a:t>
            </a:r>
            <a:endParaRPr lang="en-US" sz="2000" dirty="0"/>
          </a:p>
        </p:txBody>
      </p:sp>
      <p:sp>
        <p:nvSpPr>
          <p:cNvPr id="7" name="Shape 5"/>
          <p:cNvSpPr/>
          <p:nvPr/>
        </p:nvSpPr>
        <p:spPr>
          <a:xfrm>
            <a:off x="320040" y="3340354"/>
            <a:ext cx="4846320" cy="1470152"/>
          </a:xfrm>
          <a:prstGeom prst="roundRect">
            <a:avLst>
              <a:gd name="adj" fmla="val 8708"/>
            </a:avLst>
          </a:prstGeom>
          <a:solidFill>
            <a:srgbClr val="DCE6F2"/>
          </a:solidFill>
          <a:ln/>
        </p:spPr>
      </p:sp>
      <p:sp>
        <p:nvSpPr>
          <p:cNvPr id="8" name="Text 6"/>
          <p:cNvSpPr txBox="1"/>
          <p:nvPr/>
        </p:nvSpPr>
        <p:spPr>
          <a:xfrm>
            <a:off x="502920" y="348665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固定回線と有線LANの違いは？</a:t>
            </a:r>
            <a:endParaRPr lang="en-US" sz="2200" dirty="0"/>
          </a:p>
        </p:txBody>
      </p:sp>
      <p:sp>
        <p:nvSpPr>
          <p:cNvPr id="9" name="Text 7"/>
          <p:cNvSpPr txBox="1"/>
          <p:nvPr/>
        </p:nvSpPr>
        <p:spPr>
          <a:xfrm>
            <a:off x="502920" y="394690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答えのヒント：</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自宅に引く回線／機器をケーブルでつなぐ方式</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394</a:t>
            </a:fld>
            <a:endParaRPr lang="en-US"/>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name="Slide 3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用語の層別さくいん（1）</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この資料の全用語を、「いちばん関係の深い層」で並べました。アプリとミドルウェアの用語です。</a:t>
            </a:r>
            <a:endParaRPr lang="en-US" sz="1800" dirty="0"/>
          </a:p>
        </p:txBody>
      </p:sp>
      <p:sp>
        <p:nvSpPr>
          <p:cNvPr id="6" name="Shape 4"/>
          <p:cNvSpPr/>
          <p:nvPr/>
        </p:nvSpPr>
        <p:spPr>
          <a:xfrm>
            <a:off x="320040" y="2817622"/>
            <a:ext cx="4846320" cy="2395728"/>
          </a:xfrm>
          <a:prstGeom prst="roundRect">
            <a:avLst>
              <a:gd name="adj" fmla="val 3817"/>
            </a:avLst>
          </a:prstGeom>
          <a:solidFill>
            <a:srgbClr val="DDF1E4"/>
          </a:solidFill>
          <a:ln/>
        </p:spPr>
      </p:sp>
      <p:sp>
        <p:nvSpPr>
          <p:cNvPr id="7" name="Shape 5"/>
          <p:cNvSpPr/>
          <p:nvPr/>
        </p:nvSpPr>
        <p:spPr>
          <a:xfrm>
            <a:off x="320040" y="2817622"/>
            <a:ext cx="4846320" cy="402336"/>
          </a:xfrm>
          <a:prstGeom prst="roundRect">
            <a:avLst>
              <a:gd name="adj" fmla="val 22727"/>
            </a:avLst>
          </a:prstGeom>
          <a:solidFill>
            <a:srgbClr val="237A48"/>
          </a:solidFill>
          <a:ln/>
        </p:spPr>
      </p:sp>
      <p:sp>
        <p:nvSpPr>
          <p:cNvPr id="8" name="Text 6"/>
          <p:cNvSpPr txBox="1"/>
          <p:nvPr/>
        </p:nvSpPr>
        <p:spPr>
          <a:xfrm>
            <a:off x="411480" y="2817622"/>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アプリ　使う人・作る人が直接さわるソフト</a:t>
            </a:r>
            <a:endParaRPr lang="en-US" sz="1600" dirty="0"/>
          </a:p>
        </p:txBody>
      </p:sp>
      <p:sp>
        <p:nvSpPr>
          <p:cNvPr id="9" name="Shape 7"/>
          <p:cNvSpPr/>
          <p:nvPr/>
        </p:nvSpPr>
        <p:spPr>
          <a:xfrm>
            <a:off x="457200" y="3311398"/>
            <a:ext cx="1530096" cy="384048"/>
          </a:xfrm>
          <a:prstGeom prst="roundRect">
            <a:avLst>
              <a:gd name="adj" fmla="val 28571"/>
            </a:avLst>
          </a:prstGeom>
          <a:solidFill>
            <a:srgbClr val="FFFFFF"/>
          </a:solidFill>
          <a:ln w="15875">
            <a:solidFill>
              <a:srgbClr val="237A48"/>
            </a:solidFill>
            <a:prstDash val="solid"/>
          </a:ln>
        </p:spPr>
      </p:sp>
      <p:sp>
        <p:nvSpPr>
          <p:cNvPr id="10" name="Text 8"/>
          <p:cNvSpPr txBox="1"/>
          <p:nvPr/>
        </p:nvSpPr>
        <p:spPr>
          <a:xfrm>
            <a:off x="548640" y="3311398"/>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サーブレット</a:t>
            </a:r>
            <a:endParaRPr lang="en-US" sz="1600" dirty="0"/>
          </a:p>
        </p:txBody>
      </p:sp>
      <p:sp>
        <p:nvSpPr>
          <p:cNvPr id="11" name="Shape 9"/>
          <p:cNvSpPr/>
          <p:nvPr/>
        </p:nvSpPr>
        <p:spPr>
          <a:xfrm>
            <a:off x="2078736" y="3311398"/>
            <a:ext cx="562864" cy="384048"/>
          </a:xfrm>
          <a:prstGeom prst="roundRect">
            <a:avLst>
              <a:gd name="adj" fmla="val 28571"/>
            </a:avLst>
          </a:prstGeom>
          <a:solidFill>
            <a:srgbClr val="FFFFFF"/>
          </a:solidFill>
          <a:ln w="15875">
            <a:solidFill>
              <a:srgbClr val="237A48"/>
            </a:solidFill>
            <a:prstDash val="solid"/>
          </a:ln>
        </p:spPr>
      </p:sp>
      <p:sp>
        <p:nvSpPr>
          <p:cNvPr id="12" name="Text 10"/>
          <p:cNvSpPr txBox="1"/>
          <p:nvPr/>
        </p:nvSpPr>
        <p:spPr>
          <a:xfrm>
            <a:off x="2170176" y="3311398"/>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AI</a:t>
            </a:r>
            <a:endParaRPr lang="en-US" sz="1600" dirty="0"/>
          </a:p>
        </p:txBody>
      </p:sp>
      <p:sp>
        <p:nvSpPr>
          <p:cNvPr id="13" name="Shape 11"/>
          <p:cNvSpPr/>
          <p:nvPr/>
        </p:nvSpPr>
        <p:spPr>
          <a:xfrm>
            <a:off x="2733040" y="3311398"/>
            <a:ext cx="1123696" cy="384048"/>
          </a:xfrm>
          <a:prstGeom prst="roundRect">
            <a:avLst>
              <a:gd name="adj" fmla="val 28571"/>
            </a:avLst>
          </a:prstGeom>
          <a:solidFill>
            <a:srgbClr val="FFFFFF"/>
          </a:solidFill>
          <a:ln w="15875">
            <a:solidFill>
              <a:srgbClr val="237A48"/>
            </a:solidFill>
            <a:prstDash val="solid"/>
          </a:ln>
        </p:spPr>
      </p:sp>
      <p:sp>
        <p:nvSpPr>
          <p:cNvPr id="14" name="Text 12"/>
          <p:cNvSpPr txBox="1"/>
          <p:nvPr/>
        </p:nvSpPr>
        <p:spPr>
          <a:xfrm>
            <a:off x="2824480" y="3311398"/>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機械学習</a:t>
            </a:r>
            <a:endParaRPr lang="en-US" sz="1600" dirty="0"/>
          </a:p>
        </p:txBody>
      </p:sp>
      <p:sp>
        <p:nvSpPr>
          <p:cNvPr id="15" name="Shape 13"/>
          <p:cNvSpPr/>
          <p:nvPr/>
        </p:nvSpPr>
        <p:spPr>
          <a:xfrm>
            <a:off x="3948176" y="3311398"/>
            <a:ext cx="920496" cy="384048"/>
          </a:xfrm>
          <a:prstGeom prst="roundRect">
            <a:avLst>
              <a:gd name="adj" fmla="val 28571"/>
            </a:avLst>
          </a:prstGeom>
          <a:solidFill>
            <a:srgbClr val="FFFFFF"/>
          </a:solidFill>
          <a:ln w="15875">
            <a:solidFill>
              <a:srgbClr val="237A48"/>
            </a:solidFill>
            <a:prstDash val="solid"/>
          </a:ln>
        </p:spPr>
      </p:sp>
      <p:sp>
        <p:nvSpPr>
          <p:cNvPr id="16" name="Text 14"/>
          <p:cNvSpPr txBox="1"/>
          <p:nvPr/>
        </p:nvSpPr>
        <p:spPr>
          <a:xfrm>
            <a:off x="4039616" y="3311398"/>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自動化</a:t>
            </a:r>
            <a:endParaRPr lang="en-US" sz="1600" dirty="0"/>
          </a:p>
        </p:txBody>
      </p:sp>
      <p:sp>
        <p:nvSpPr>
          <p:cNvPr id="17" name="Shape 15"/>
          <p:cNvSpPr/>
          <p:nvPr/>
        </p:nvSpPr>
        <p:spPr>
          <a:xfrm>
            <a:off x="457200" y="3768598"/>
            <a:ext cx="1936496" cy="384048"/>
          </a:xfrm>
          <a:prstGeom prst="roundRect">
            <a:avLst>
              <a:gd name="adj" fmla="val 28571"/>
            </a:avLst>
          </a:prstGeom>
          <a:solidFill>
            <a:srgbClr val="FFFFFF"/>
          </a:solidFill>
          <a:ln w="15875">
            <a:solidFill>
              <a:srgbClr val="237A48"/>
            </a:solidFill>
            <a:prstDash val="solid"/>
          </a:ln>
        </p:spPr>
      </p:sp>
      <p:sp>
        <p:nvSpPr>
          <p:cNvPr id="18" name="Text 16"/>
          <p:cNvSpPr txBox="1"/>
          <p:nvPr/>
        </p:nvSpPr>
        <p:spPr>
          <a:xfrm>
            <a:off x="548640" y="3768598"/>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スマホアプリ開発</a:t>
            </a:r>
            <a:endParaRPr lang="en-US" sz="1600" dirty="0"/>
          </a:p>
        </p:txBody>
      </p:sp>
      <p:sp>
        <p:nvSpPr>
          <p:cNvPr id="19" name="Shape 17"/>
          <p:cNvSpPr/>
          <p:nvPr/>
        </p:nvSpPr>
        <p:spPr>
          <a:xfrm>
            <a:off x="2485136" y="3768598"/>
            <a:ext cx="2206752" cy="384048"/>
          </a:xfrm>
          <a:prstGeom prst="roundRect">
            <a:avLst>
              <a:gd name="adj" fmla="val 28571"/>
            </a:avLst>
          </a:prstGeom>
          <a:solidFill>
            <a:srgbClr val="FFFFFF"/>
          </a:solidFill>
          <a:ln w="15875">
            <a:solidFill>
              <a:srgbClr val="237A48"/>
            </a:solidFill>
            <a:prstDash val="solid"/>
          </a:ln>
        </p:spPr>
      </p:sp>
      <p:sp>
        <p:nvSpPr>
          <p:cNvPr id="20" name="Text 18"/>
          <p:cNvSpPr txBox="1"/>
          <p:nvPr/>
        </p:nvSpPr>
        <p:spPr>
          <a:xfrm>
            <a:off x="2576576" y="3768598"/>
            <a:ext cx="20238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 アプリ開発</a:t>
            </a:r>
            <a:endParaRPr lang="en-US" sz="1600" dirty="0"/>
          </a:p>
        </p:txBody>
      </p:sp>
      <p:sp>
        <p:nvSpPr>
          <p:cNvPr id="21" name="Shape 19"/>
          <p:cNvSpPr/>
          <p:nvPr/>
        </p:nvSpPr>
        <p:spPr>
          <a:xfrm>
            <a:off x="457200" y="4225798"/>
            <a:ext cx="1920240" cy="384048"/>
          </a:xfrm>
          <a:prstGeom prst="roundRect">
            <a:avLst>
              <a:gd name="adj" fmla="val 28571"/>
            </a:avLst>
          </a:prstGeom>
          <a:solidFill>
            <a:srgbClr val="FFFFFF"/>
          </a:solidFill>
          <a:ln w="15875">
            <a:solidFill>
              <a:srgbClr val="237A48"/>
            </a:solidFill>
            <a:prstDash val="solid"/>
          </a:ln>
        </p:spPr>
      </p:sp>
      <p:sp>
        <p:nvSpPr>
          <p:cNvPr id="22" name="Text 20"/>
          <p:cNvSpPr txBox="1"/>
          <p:nvPr/>
        </p:nvSpPr>
        <p:spPr>
          <a:xfrm>
            <a:off x="548640" y="4225798"/>
            <a:ext cx="17373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 アプリ開発</a:t>
            </a:r>
            <a:endParaRPr lang="en-US" sz="1600" dirty="0"/>
          </a:p>
        </p:txBody>
      </p:sp>
      <p:sp>
        <p:nvSpPr>
          <p:cNvPr id="23" name="Shape 21"/>
          <p:cNvSpPr/>
          <p:nvPr/>
        </p:nvSpPr>
        <p:spPr>
          <a:xfrm>
            <a:off x="2468880" y="4225798"/>
            <a:ext cx="1245616" cy="384048"/>
          </a:xfrm>
          <a:prstGeom prst="roundRect">
            <a:avLst>
              <a:gd name="adj" fmla="val 28571"/>
            </a:avLst>
          </a:prstGeom>
          <a:solidFill>
            <a:srgbClr val="FFFFFF"/>
          </a:solidFill>
          <a:ln w="15875">
            <a:solidFill>
              <a:srgbClr val="237A48"/>
            </a:solidFill>
            <a:prstDash val="solid"/>
          </a:ln>
        </p:spPr>
      </p:sp>
      <p:sp>
        <p:nvSpPr>
          <p:cNvPr id="24" name="Text 22"/>
          <p:cNvSpPr txBox="1"/>
          <p:nvPr/>
        </p:nvSpPr>
        <p:spPr>
          <a:xfrm>
            <a:off x="2560320" y="4225798"/>
            <a:ext cx="10627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Excel集計</a:t>
            </a:r>
            <a:endParaRPr lang="en-US" sz="1600" dirty="0"/>
          </a:p>
        </p:txBody>
      </p:sp>
      <p:sp>
        <p:nvSpPr>
          <p:cNvPr id="25" name="Shape 23"/>
          <p:cNvSpPr/>
          <p:nvPr/>
        </p:nvSpPr>
        <p:spPr>
          <a:xfrm>
            <a:off x="3805936" y="4225798"/>
            <a:ext cx="814832" cy="384048"/>
          </a:xfrm>
          <a:prstGeom prst="roundRect">
            <a:avLst>
              <a:gd name="adj" fmla="val 28571"/>
            </a:avLst>
          </a:prstGeom>
          <a:solidFill>
            <a:srgbClr val="FFFFFF"/>
          </a:solidFill>
          <a:ln w="15875">
            <a:solidFill>
              <a:srgbClr val="237A48"/>
            </a:solidFill>
            <a:prstDash val="solid"/>
          </a:ln>
        </p:spPr>
      </p:sp>
      <p:sp>
        <p:nvSpPr>
          <p:cNvPr id="26" name="Text 24"/>
          <p:cNvSpPr txBox="1"/>
          <p:nvPr/>
        </p:nvSpPr>
        <p:spPr>
          <a:xfrm>
            <a:off x="3897376" y="4225798"/>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HTML</a:t>
            </a:r>
            <a:endParaRPr lang="en-US" sz="1600" dirty="0"/>
          </a:p>
        </p:txBody>
      </p:sp>
      <p:sp>
        <p:nvSpPr>
          <p:cNvPr id="27" name="Shape 25"/>
          <p:cNvSpPr/>
          <p:nvPr/>
        </p:nvSpPr>
        <p:spPr>
          <a:xfrm>
            <a:off x="457200" y="4682998"/>
            <a:ext cx="688848" cy="384048"/>
          </a:xfrm>
          <a:prstGeom prst="roundRect">
            <a:avLst>
              <a:gd name="adj" fmla="val 28571"/>
            </a:avLst>
          </a:prstGeom>
          <a:solidFill>
            <a:srgbClr val="FFFFFF"/>
          </a:solidFill>
          <a:ln w="15875">
            <a:solidFill>
              <a:srgbClr val="237A48"/>
            </a:solidFill>
            <a:prstDash val="solid"/>
          </a:ln>
        </p:spPr>
      </p:sp>
      <p:sp>
        <p:nvSpPr>
          <p:cNvPr id="28" name="Text 26"/>
          <p:cNvSpPr txBox="1"/>
          <p:nvPr/>
        </p:nvSpPr>
        <p:spPr>
          <a:xfrm>
            <a:off x="548640" y="468299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CSS</a:t>
            </a:r>
            <a:endParaRPr lang="en-US" sz="1600" dirty="0"/>
          </a:p>
        </p:txBody>
      </p:sp>
      <p:sp>
        <p:nvSpPr>
          <p:cNvPr id="29" name="Shape 27"/>
          <p:cNvSpPr/>
          <p:nvPr/>
        </p:nvSpPr>
        <p:spPr>
          <a:xfrm>
            <a:off x="1237488" y="4682998"/>
            <a:ext cx="558800" cy="384048"/>
          </a:xfrm>
          <a:prstGeom prst="roundRect">
            <a:avLst>
              <a:gd name="adj" fmla="val 28571"/>
            </a:avLst>
          </a:prstGeom>
          <a:solidFill>
            <a:srgbClr val="FFFFFF"/>
          </a:solidFill>
          <a:ln w="15875">
            <a:solidFill>
              <a:srgbClr val="237A48"/>
            </a:solidFill>
            <a:prstDash val="solid"/>
          </a:ln>
        </p:spPr>
      </p:sp>
      <p:sp>
        <p:nvSpPr>
          <p:cNvPr id="30" name="Text 28"/>
          <p:cNvSpPr txBox="1"/>
          <p:nvPr/>
        </p:nvSpPr>
        <p:spPr>
          <a:xfrm>
            <a:off x="1328928" y="4682998"/>
            <a:ext cx="37592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Git</a:t>
            </a:r>
            <a:endParaRPr lang="en-US" sz="1600" dirty="0"/>
          </a:p>
        </p:txBody>
      </p:sp>
      <p:sp>
        <p:nvSpPr>
          <p:cNvPr id="31" name="Shape 29"/>
          <p:cNvSpPr/>
          <p:nvPr/>
        </p:nvSpPr>
        <p:spPr>
          <a:xfrm>
            <a:off x="1887728" y="4682998"/>
            <a:ext cx="912368" cy="384048"/>
          </a:xfrm>
          <a:prstGeom prst="roundRect">
            <a:avLst>
              <a:gd name="adj" fmla="val 28571"/>
            </a:avLst>
          </a:prstGeom>
          <a:solidFill>
            <a:srgbClr val="FFFFFF"/>
          </a:solidFill>
          <a:ln w="15875">
            <a:solidFill>
              <a:srgbClr val="237A48"/>
            </a:solidFill>
            <a:prstDash val="solid"/>
          </a:ln>
        </p:spPr>
      </p:sp>
      <p:sp>
        <p:nvSpPr>
          <p:cNvPr id="32" name="Text 30"/>
          <p:cNvSpPr txBox="1"/>
          <p:nvPr/>
        </p:nvSpPr>
        <p:spPr>
          <a:xfrm>
            <a:off x="1979168" y="4682998"/>
            <a:ext cx="72948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GitHub</a:t>
            </a:r>
            <a:endParaRPr lang="en-US" sz="1600" dirty="0"/>
          </a:p>
        </p:txBody>
      </p:sp>
      <p:sp>
        <p:nvSpPr>
          <p:cNvPr id="33" name="Shape 31"/>
          <p:cNvSpPr/>
          <p:nvPr/>
        </p:nvSpPr>
        <p:spPr>
          <a:xfrm>
            <a:off x="2891536" y="4682998"/>
            <a:ext cx="1326896" cy="384048"/>
          </a:xfrm>
          <a:prstGeom prst="roundRect">
            <a:avLst>
              <a:gd name="adj" fmla="val 28571"/>
            </a:avLst>
          </a:prstGeom>
          <a:solidFill>
            <a:srgbClr val="FFFFFF"/>
          </a:solidFill>
          <a:ln w="15875">
            <a:solidFill>
              <a:srgbClr val="237A48"/>
            </a:solidFill>
            <a:prstDash val="solid"/>
          </a:ln>
        </p:spPr>
      </p:sp>
      <p:sp>
        <p:nvSpPr>
          <p:cNvPr id="34" name="Text 32"/>
          <p:cNvSpPr txBox="1"/>
          <p:nvPr/>
        </p:nvSpPr>
        <p:spPr>
          <a:xfrm>
            <a:off x="2982976" y="4682998"/>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データ分析</a:t>
            </a:r>
            <a:endParaRPr lang="en-US" sz="1600" dirty="0"/>
          </a:p>
        </p:txBody>
      </p:sp>
      <p:sp>
        <p:nvSpPr>
          <p:cNvPr id="35" name="Shape 33"/>
          <p:cNvSpPr/>
          <p:nvPr/>
        </p:nvSpPr>
        <p:spPr>
          <a:xfrm>
            <a:off x="320040" y="5304790"/>
            <a:ext cx="4846320" cy="2852928"/>
          </a:xfrm>
          <a:prstGeom prst="roundRect">
            <a:avLst>
              <a:gd name="adj" fmla="val 3205"/>
            </a:avLst>
          </a:prstGeom>
          <a:solidFill>
            <a:srgbClr val="E6E1F7"/>
          </a:solidFill>
          <a:ln/>
        </p:spPr>
      </p:sp>
      <p:sp>
        <p:nvSpPr>
          <p:cNvPr id="36" name="Shape 34"/>
          <p:cNvSpPr/>
          <p:nvPr/>
        </p:nvSpPr>
        <p:spPr>
          <a:xfrm>
            <a:off x="320040" y="5304790"/>
            <a:ext cx="4846320" cy="402336"/>
          </a:xfrm>
          <a:prstGeom prst="roundRect">
            <a:avLst>
              <a:gd name="adj" fmla="val 22727"/>
            </a:avLst>
          </a:prstGeom>
          <a:solidFill>
            <a:srgbClr val="5B46B8"/>
          </a:solidFill>
          <a:ln/>
        </p:spPr>
      </p:sp>
      <p:sp>
        <p:nvSpPr>
          <p:cNvPr id="37" name="Text 35"/>
          <p:cNvSpPr txBox="1"/>
          <p:nvPr/>
        </p:nvSpPr>
        <p:spPr>
          <a:xfrm>
            <a:off x="411480" y="5304790"/>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ミドルウェア　アプリを支える土台のソフト</a:t>
            </a:r>
            <a:endParaRPr lang="en-US" sz="1600" dirty="0"/>
          </a:p>
        </p:txBody>
      </p:sp>
      <p:sp>
        <p:nvSpPr>
          <p:cNvPr id="38" name="Shape 36"/>
          <p:cNvSpPr/>
          <p:nvPr/>
        </p:nvSpPr>
        <p:spPr>
          <a:xfrm>
            <a:off x="457200" y="5798566"/>
            <a:ext cx="1530096" cy="384048"/>
          </a:xfrm>
          <a:prstGeom prst="roundRect">
            <a:avLst>
              <a:gd name="adj" fmla="val 28571"/>
            </a:avLst>
          </a:prstGeom>
          <a:solidFill>
            <a:srgbClr val="FFFFFF"/>
          </a:solidFill>
          <a:ln w="15875">
            <a:solidFill>
              <a:srgbClr val="5B46B8"/>
            </a:solidFill>
            <a:prstDash val="solid"/>
          </a:ln>
        </p:spPr>
      </p:sp>
      <p:sp>
        <p:nvSpPr>
          <p:cNvPr id="39" name="Text 37"/>
          <p:cNvSpPr txBox="1"/>
          <p:nvPr/>
        </p:nvSpPr>
        <p:spPr>
          <a:xfrm>
            <a:off x="548640" y="5798566"/>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ミドルウェア</a:t>
            </a:r>
            <a:endParaRPr lang="en-US" sz="1600" dirty="0"/>
          </a:p>
        </p:txBody>
      </p:sp>
      <p:sp>
        <p:nvSpPr>
          <p:cNvPr id="40" name="Shape 38"/>
          <p:cNvSpPr/>
          <p:nvPr/>
        </p:nvSpPr>
        <p:spPr>
          <a:xfrm>
            <a:off x="2078736" y="5798566"/>
            <a:ext cx="562864" cy="384048"/>
          </a:xfrm>
          <a:prstGeom prst="roundRect">
            <a:avLst>
              <a:gd name="adj" fmla="val 28571"/>
            </a:avLst>
          </a:prstGeom>
          <a:solidFill>
            <a:srgbClr val="FFFFFF"/>
          </a:solidFill>
          <a:ln w="15875">
            <a:solidFill>
              <a:srgbClr val="5B46B8"/>
            </a:solidFill>
            <a:prstDash val="solid"/>
          </a:ln>
        </p:spPr>
      </p:sp>
      <p:sp>
        <p:nvSpPr>
          <p:cNvPr id="41" name="Text 39"/>
          <p:cNvSpPr txBox="1"/>
          <p:nvPr/>
        </p:nvSpPr>
        <p:spPr>
          <a:xfrm>
            <a:off x="2170176" y="5798566"/>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a:t>
            </a:r>
            <a:endParaRPr lang="en-US" sz="1600" dirty="0"/>
          </a:p>
        </p:txBody>
      </p:sp>
      <p:sp>
        <p:nvSpPr>
          <p:cNvPr id="42" name="Shape 40"/>
          <p:cNvSpPr/>
          <p:nvPr/>
        </p:nvSpPr>
        <p:spPr>
          <a:xfrm>
            <a:off x="2733040" y="5798566"/>
            <a:ext cx="814832" cy="384048"/>
          </a:xfrm>
          <a:prstGeom prst="roundRect">
            <a:avLst>
              <a:gd name="adj" fmla="val 28571"/>
            </a:avLst>
          </a:prstGeom>
          <a:solidFill>
            <a:srgbClr val="FFFFFF"/>
          </a:solidFill>
          <a:ln w="15875">
            <a:solidFill>
              <a:srgbClr val="5B46B8"/>
            </a:solidFill>
            <a:prstDash val="solid"/>
          </a:ln>
        </p:spPr>
      </p:sp>
      <p:sp>
        <p:nvSpPr>
          <p:cNvPr id="43" name="Text 41"/>
          <p:cNvSpPr txBox="1"/>
          <p:nvPr/>
        </p:nvSpPr>
        <p:spPr>
          <a:xfrm>
            <a:off x="2824480" y="5798566"/>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p:txBody>
      </p:sp>
      <p:sp>
        <p:nvSpPr>
          <p:cNvPr id="44" name="Shape 42"/>
          <p:cNvSpPr/>
          <p:nvPr/>
        </p:nvSpPr>
        <p:spPr>
          <a:xfrm>
            <a:off x="3639312" y="5798566"/>
            <a:ext cx="688848" cy="384048"/>
          </a:xfrm>
          <a:prstGeom prst="roundRect">
            <a:avLst>
              <a:gd name="adj" fmla="val 28571"/>
            </a:avLst>
          </a:prstGeom>
          <a:solidFill>
            <a:srgbClr val="FFFFFF"/>
          </a:solidFill>
          <a:ln w="15875">
            <a:solidFill>
              <a:srgbClr val="5B46B8"/>
            </a:solidFill>
            <a:prstDash val="solid"/>
          </a:ln>
        </p:spPr>
      </p:sp>
      <p:sp>
        <p:nvSpPr>
          <p:cNvPr id="45" name="Text 43"/>
          <p:cNvSpPr txBox="1"/>
          <p:nvPr/>
        </p:nvSpPr>
        <p:spPr>
          <a:xfrm>
            <a:off x="3730752" y="579856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RDB</a:t>
            </a:r>
            <a:endParaRPr lang="en-US" sz="1600" dirty="0"/>
          </a:p>
        </p:txBody>
      </p:sp>
      <p:sp>
        <p:nvSpPr>
          <p:cNvPr id="46" name="Shape 44"/>
          <p:cNvSpPr/>
          <p:nvPr/>
        </p:nvSpPr>
        <p:spPr>
          <a:xfrm>
            <a:off x="457200" y="6255766"/>
            <a:ext cx="688848" cy="384048"/>
          </a:xfrm>
          <a:prstGeom prst="roundRect">
            <a:avLst>
              <a:gd name="adj" fmla="val 28571"/>
            </a:avLst>
          </a:prstGeom>
          <a:solidFill>
            <a:srgbClr val="FFFFFF"/>
          </a:solidFill>
          <a:ln w="15875">
            <a:solidFill>
              <a:srgbClr val="5B46B8"/>
            </a:solidFill>
            <a:prstDash val="solid"/>
          </a:ln>
        </p:spPr>
      </p:sp>
      <p:sp>
        <p:nvSpPr>
          <p:cNvPr id="47" name="Text 45"/>
          <p:cNvSpPr txBox="1"/>
          <p:nvPr/>
        </p:nvSpPr>
        <p:spPr>
          <a:xfrm>
            <a:off x="548640" y="625576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a:t>
            </a:r>
            <a:endParaRPr lang="en-US" sz="1600" dirty="0"/>
          </a:p>
        </p:txBody>
      </p:sp>
      <p:sp>
        <p:nvSpPr>
          <p:cNvPr id="48" name="Shape 46"/>
          <p:cNvSpPr/>
          <p:nvPr/>
        </p:nvSpPr>
        <p:spPr>
          <a:xfrm>
            <a:off x="1237488" y="6255766"/>
            <a:ext cx="1887728" cy="384048"/>
          </a:xfrm>
          <a:prstGeom prst="roundRect">
            <a:avLst>
              <a:gd name="adj" fmla="val 28571"/>
            </a:avLst>
          </a:prstGeom>
          <a:solidFill>
            <a:srgbClr val="FFFFFF"/>
          </a:solidFill>
          <a:ln w="15875">
            <a:solidFill>
              <a:srgbClr val="5B46B8"/>
            </a:solidFill>
            <a:prstDash val="solid"/>
          </a:ln>
        </p:spPr>
      </p:sp>
      <p:sp>
        <p:nvSpPr>
          <p:cNvPr id="49" name="Text 47"/>
          <p:cNvSpPr txBox="1"/>
          <p:nvPr/>
        </p:nvSpPr>
        <p:spPr>
          <a:xfrm>
            <a:off x="1328928" y="6255766"/>
            <a:ext cx="170484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Oracle Database</a:t>
            </a:r>
            <a:endParaRPr lang="en-US" sz="1600" dirty="0"/>
          </a:p>
        </p:txBody>
      </p:sp>
      <p:sp>
        <p:nvSpPr>
          <p:cNvPr id="50" name="Shape 48"/>
          <p:cNvSpPr/>
          <p:nvPr/>
        </p:nvSpPr>
        <p:spPr>
          <a:xfrm>
            <a:off x="3216656" y="6255766"/>
            <a:ext cx="1444752" cy="384048"/>
          </a:xfrm>
          <a:prstGeom prst="roundRect">
            <a:avLst>
              <a:gd name="adj" fmla="val 28571"/>
            </a:avLst>
          </a:prstGeom>
          <a:solidFill>
            <a:srgbClr val="FFFFFF"/>
          </a:solidFill>
          <a:ln w="15875">
            <a:solidFill>
              <a:srgbClr val="5B46B8"/>
            </a:solidFill>
            <a:prstDash val="solid"/>
          </a:ln>
        </p:spPr>
      </p:sp>
      <p:sp>
        <p:nvSpPr>
          <p:cNvPr id="51" name="Text 49"/>
          <p:cNvSpPr txBox="1"/>
          <p:nvPr/>
        </p:nvSpPr>
        <p:spPr>
          <a:xfrm>
            <a:off x="3308096" y="6255766"/>
            <a:ext cx="12618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PostgreSQL</a:t>
            </a:r>
            <a:endParaRPr lang="en-US" sz="1600" dirty="0"/>
          </a:p>
        </p:txBody>
      </p:sp>
      <p:sp>
        <p:nvSpPr>
          <p:cNvPr id="52" name="Shape 50"/>
          <p:cNvSpPr/>
          <p:nvPr/>
        </p:nvSpPr>
        <p:spPr>
          <a:xfrm>
            <a:off x="457200" y="6712966"/>
            <a:ext cx="676656" cy="384048"/>
          </a:xfrm>
          <a:prstGeom prst="roundRect">
            <a:avLst>
              <a:gd name="adj" fmla="val 28571"/>
            </a:avLst>
          </a:prstGeom>
          <a:solidFill>
            <a:srgbClr val="FFFFFF"/>
          </a:solidFill>
          <a:ln w="15875">
            <a:solidFill>
              <a:srgbClr val="5B46B8"/>
            </a:solidFill>
            <a:prstDash val="solid"/>
          </a:ln>
        </p:spPr>
      </p:sp>
      <p:sp>
        <p:nvSpPr>
          <p:cNvPr id="53" name="Text 51"/>
          <p:cNvSpPr txBox="1"/>
          <p:nvPr/>
        </p:nvSpPr>
        <p:spPr>
          <a:xfrm>
            <a:off x="548640" y="6712966"/>
            <a:ext cx="49377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Db2</a:t>
            </a:r>
            <a:endParaRPr lang="en-US" sz="1600" dirty="0"/>
          </a:p>
        </p:txBody>
      </p:sp>
      <p:sp>
        <p:nvSpPr>
          <p:cNvPr id="54" name="Shape 52"/>
          <p:cNvSpPr/>
          <p:nvPr/>
        </p:nvSpPr>
        <p:spPr>
          <a:xfrm>
            <a:off x="1225296" y="6712966"/>
            <a:ext cx="1448816" cy="384048"/>
          </a:xfrm>
          <a:prstGeom prst="roundRect">
            <a:avLst>
              <a:gd name="adj" fmla="val 28571"/>
            </a:avLst>
          </a:prstGeom>
          <a:solidFill>
            <a:srgbClr val="FFFFFF"/>
          </a:solidFill>
          <a:ln w="15875">
            <a:solidFill>
              <a:srgbClr val="5B46B8"/>
            </a:solidFill>
            <a:prstDash val="solid"/>
          </a:ln>
        </p:spPr>
      </p:sp>
      <p:sp>
        <p:nvSpPr>
          <p:cNvPr id="55" name="Text 53"/>
          <p:cNvSpPr txBox="1"/>
          <p:nvPr/>
        </p:nvSpPr>
        <p:spPr>
          <a:xfrm>
            <a:off x="1316736" y="6712966"/>
            <a:ext cx="12659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 Server</a:t>
            </a:r>
            <a:endParaRPr lang="en-US" sz="1600" dirty="0"/>
          </a:p>
        </p:txBody>
      </p:sp>
      <p:sp>
        <p:nvSpPr>
          <p:cNvPr id="56" name="Shape 54"/>
          <p:cNvSpPr/>
          <p:nvPr/>
        </p:nvSpPr>
        <p:spPr>
          <a:xfrm>
            <a:off x="2765552" y="6712966"/>
            <a:ext cx="928624" cy="384048"/>
          </a:xfrm>
          <a:prstGeom prst="roundRect">
            <a:avLst>
              <a:gd name="adj" fmla="val 28571"/>
            </a:avLst>
          </a:prstGeom>
          <a:solidFill>
            <a:srgbClr val="FFFFFF"/>
          </a:solidFill>
          <a:ln w="15875">
            <a:solidFill>
              <a:srgbClr val="5B46B8"/>
            </a:solidFill>
            <a:prstDash val="solid"/>
          </a:ln>
        </p:spPr>
      </p:sp>
      <p:sp>
        <p:nvSpPr>
          <p:cNvPr id="57" name="Text 55"/>
          <p:cNvSpPr txBox="1"/>
          <p:nvPr/>
        </p:nvSpPr>
        <p:spPr>
          <a:xfrm>
            <a:off x="2856992" y="6712966"/>
            <a:ext cx="7457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MySQL</a:t>
            </a:r>
            <a:endParaRPr lang="en-US" sz="1600" dirty="0"/>
          </a:p>
        </p:txBody>
      </p:sp>
      <p:sp>
        <p:nvSpPr>
          <p:cNvPr id="58" name="Shape 56"/>
          <p:cNvSpPr/>
          <p:nvPr/>
        </p:nvSpPr>
        <p:spPr>
          <a:xfrm>
            <a:off x="3785616" y="6712966"/>
            <a:ext cx="1144016" cy="384048"/>
          </a:xfrm>
          <a:prstGeom prst="roundRect">
            <a:avLst>
              <a:gd name="adj" fmla="val 28571"/>
            </a:avLst>
          </a:prstGeom>
          <a:solidFill>
            <a:srgbClr val="FFFFFF"/>
          </a:solidFill>
          <a:ln w="15875">
            <a:solidFill>
              <a:srgbClr val="5B46B8"/>
            </a:solidFill>
            <a:prstDash val="solid"/>
          </a:ln>
        </p:spPr>
      </p:sp>
      <p:sp>
        <p:nvSpPr>
          <p:cNvPr id="59" name="Text 57"/>
          <p:cNvSpPr txBox="1"/>
          <p:nvPr/>
        </p:nvSpPr>
        <p:spPr>
          <a:xfrm>
            <a:off x="3877056" y="6712966"/>
            <a:ext cx="9611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MongoDB</a:t>
            </a:r>
            <a:endParaRPr lang="en-US" sz="1600" dirty="0"/>
          </a:p>
        </p:txBody>
      </p:sp>
      <p:sp>
        <p:nvSpPr>
          <p:cNvPr id="60" name="Shape 58"/>
          <p:cNvSpPr/>
          <p:nvPr/>
        </p:nvSpPr>
        <p:spPr>
          <a:xfrm>
            <a:off x="457200" y="7170166"/>
            <a:ext cx="1477264" cy="384048"/>
          </a:xfrm>
          <a:prstGeom prst="roundRect">
            <a:avLst>
              <a:gd name="adj" fmla="val 28571"/>
            </a:avLst>
          </a:prstGeom>
          <a:solidFill>
            <a:srgbClr val="FFFFFF"/>
          </a:solidFill>
          <a:ln w="15875">
            <a:solidFill>
              <a:srgbClr val="5B46B8"/>
            </a:solidFill>
            <a:prstDash val="solid"/>
          </a:ln>
        </p:spPr>
      </p:sp>
      <p:sp>
        <p:nvSpPr>
          <p:cNvPr id="61" name="Text 59"/>
          <p:cNvSpPr txBox="1"/>
          <p:nvPr/>
        </p:nvSpPr>
        <p:spPr>
          <a:xfrm>
            <a:off x="548640" y="7170166"/>
            <a:ext cx="12943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Webサーバー</a:t>
            </a:r>
            <a:endParaRPr lang="en-US" sz="1600" dirty="0"/>
          </a:p>
        </p:txBody>
      </p:sp>
      <p:sp>
        <p:nvSpPr>
          <p:cNvPr id="62" name="Shape 60"/>
          <p:cNvSpPr/>
          <p:nvPr/>
        </p:nvSpPr>
        <p:spPr>
          <a:xfrm>
            <a:off x="2025904" y="7170166"/>
            <a:ext cx="1733296" cy="384048"/>
          </a:xfrm>
          <a:prstGeom prst="roundRect">
            <a:avLst>
              <a:gd name="adj" fmla="val 28571"/>
            </a:avLst>
          </a:prstGeom>
          <a:solidFill>
            <a:srgbClr val="FFFFFF"/>
          </a:solidFill>
          <a:ln w="15875">
            <a:solidFill>
              <a:srgbClr val="5B46B8"/>
            </a:solidFill>
            <a:prstDash val="solid"/>
          </a:ln>
        </p:spPr>
      </p:sp>
      <p:sp>
        <p:nvSpPr>
          <p:cNvPr id="63" name="Text 61"/>
          <p:cNvSpPr txBox="1"/>
          <p:nvPr/>
        </p:nvSpPr>
        <p:spPr>
          <a:xfrm>
            <a:off x="2117344" y="7170166"/>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アプリサーバー</a:t>
            </a:r>
            <a:endParaRPr lang="en-US" sz="1600" dirty="0"/>
          </a:p>
        </p:txBody>
      </p:sp>
      <p:sp>
        <p:nvSpPr>
          <p:cNvPr id="64" name="Shape 62"/>
          <p:cNvSpPr/>
          <p:nvPr/>
        </p:nvSpPr>
        <p:spPr>
          <a:xfrm>
            <a:off x="3850640" y="7170166"/>
            <a:ext cx="1011936" cy="384048"/>
          </a:xfrm>
          <a:prstGeom prst="roundRect">
            <a:avLst>
              <a:gd name="adj" fmla="val 28571"/>
            </a:avLst>
          </a:prstGeom>
          <a:solidFill>
            <a:srgbClr val="FFFFFF"/>
          </a:solidFill>
          <a:ln w="15875">
            <a:solidFill>
              <a:srgbClr val="5B46B8"/>
            </a:solidFill>
            <a:prstDash val="solid"/>
          </a:ln>
        </p:spPr>
      </p:sp>
      <p:sp>
        <p:nvSpPr>
          <p:cNvPr id="65" name="Text 63"/>
          <p:cNvSpPr txBox="1"/>
          <p:nvPr/>
        </p:nvSpPr>
        <p:spPr>
          <a:xfrm>
            <a:off x="3942080" y="7170166"/>
            <a:ext cx="82905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Tomcat</a:t>
            </a:r>
            <a:endParaRPr lang="en-US" sz="1600" dirty="0"/>
          </a:p>
        </p:txBody>
      </p:sp>
      <p:sp>
        <p:nvSpPr>
          <p:cNvPr id="66" name="Shape 64"/>
          <p:cNvSpPr/>
          <p:nvPr/>
        </p:nvSpPr>
        <p:spPr>
          <a:xfrm>
            <a:off x="457200" y="7627366"/>
            <a:ext cx="1192784" cy="384048"/>
          </a:xfrm>
          <a:prstGeom prst="roundRect">
            <a:avLst>
              <a:gd name="adj" fmla="val 28571"/>
            </a:avLst>
          </a:prstGeom>
          <a:solidFill>
            <a:srgbClr val="FFFFFF"/>
          </a:solidFill>
          <a:ln w="15875">
            <a:solidFill>
              <a:srgbClr val="5B46B8"/>
            </a:solidFill>
            <a:prstDash val="solid"/>
          </a:ln>
        </p:spPr>
      </p:sp>
      <p:sp>
        <p:nvSpPr>
          <p:cNvPr id="67" name="Text 65"/>
          <p:cNvSpPr txBox="1"/>
          <p:nvPr/>
        </p:nvSpPr>
        <p:spPr>
          <a:xfrm>
            <a:off x="548640" y="7627366"/>
            <a:ext cx="100990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WebLogic</a:t>
            </a:r>
            <a:endParaRPr lang="en-US" sz="1600" dirty="0"/>
          </a:p>
        </p:txBody>
      </p:sp>
      <p:sp>
        <p:nvSpPr>
          <p:cNvPr id="68" name="Shape 66"/>
          <p:cNvSpPr/>
          <p:nvPr/>
        </p:nvSpPr>
        <p:spPr>
          <a:xfrm>
            <a:off x="1741424" y="7627366"/>
            <a:ext cx="786384" cy="384048"/>
          </a:xfrm>
          <a:prstGeom prst="roundRect">
            <a:avLst>
              <a:gd name="adj" fmla="val 28571"/>
            </a:avLst>
          </a:prstGeom>
          <a:solidFill>
            <a:srgbClr val="FFFFFF"/>
          </a:solidFill>
          <a:ln w="15875">
            <a:solidFill>
              <a:srgbClr val="5B46B8"/>
            </a:solidFill>
            <a:prstDash val="solid"/>
          </a:ln>
        </p:spPr>
      </p:sp>
      <p:sp>
        <p:nvSpPr>
          <p:cNvPr id="69" name="Text 67"/>
          <p:cNvSpPr txBox="1"/>
          <p:nvPr/>
        </p:nvSpPr>
        <p:spPr>
          <a:xfrm>
            <a:off x="1832864" y="7627366"/>
            <a:ext cx="60350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Jetty</a:t>
            </a:r>
            <a:endParaRPr lang="en-US" sz="1600" dirty="0"/>
          </a:p>
        </p:txBody>
      </p:sp>
      <p:sp>
        <p:nvSpPr>
          <p:cNvPr id="70" name="Shape 68"/>
          <p:cNvSpPr/>
          <p:nvPr/>
        </p:nvSpPr>
        <p:spPr>
          <a:xfrm>
            <a:off x="2619248" y="7627366"/>
            <a:ext cx="1123696" cy="384048"/>
          </a:xfrm>
          <a:prstGeom prst="roundRect">
            <a:avLst>
              <a:gd name="adj" fmla="val 28571"/>
            </a:avLst>
          </a:prstGeom>
          <a:solidFill>
            <a:srgbClr val="FFFFFF"/>
          </a:solidFill>
          <a:ln w="15875">
            <a:solidFill>
              <a:srgbClr val="5B46B8"/>
            </a:solidFill>
            <a:prstDash val="solid"/>
          </a:ln>
        </p:spPr>
      </p:sp>
      <p:sp>
        <p:nvSpPr>
          <p:cNvPr id="71" name="Text 69"/>
          <p:cNvSpPr txBox="1"/>
          <p:nvPr/>
        </p:nvSpPr>
        <p:spPr>
          <a:xfrm>
            <a:off x="2710688" y="7627366"/>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デプロイ</a:t>
            </a:r>
            <a:endParaRPr lang="en-US" sz="1600" dirty="0"/>
          </a:p>
        </p:txBody>
      </p:sp>
      <p:sp>
        <p:nvSpPr>
          <p:cNvPr id="72" name="Text 70"/>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395</a:t>
            </a:fld>
            <a:endParaRPr lang="en-US"/>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name="Slide 3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用語の層別さくいん（2）</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この資料の全用語を、「いちばん関係の深い層」で並べました。仮想化・OS・ハードウェアの用語です。</a:t>
            </a:r>
            <a:endParaRPr lang="en-US" sz="1800" dirty="0"/>
          </a:p>
        </p:txBody>
      </p:sp>
      <p:sp>
        <p:nvSpPr>
          <p:cNvPr id="6" name="Shape 4"/>
          <p:cNvSpPr/>
          <p:nvPr/>
        </p:nvSpPr>
        <p:spPr>
          <a:xfrm>
            <a:off x="320040" y="2817622"/>
            <a:ext cx="4846320" cy="1938528"/>
          </a:xfrm>
          <a:prstGeom prst="roundRect">
            <a:avLst>
              <a:gd name="adj" fmla="val 4717"/>
            </a:avLst>
          </a:prstGeom>
          <a:solidFill>
            <a:srgbClr val="D9F2F1"/>
          </a:solidFill>
          <a:ln/>
        </p:spPr>
      </p:sp>
      <p:sp>
        <p:nvSpPr>
          <p:cNvPr id="7" name="Shape 5"/>
          <p:cNvSpPr/>
          <p:nvPr/>
        </p:nvSpPr>
        <p:spPr>
          <a:xfrm>
            <a:off x="320040" y="2817622"/>
            <a:ext cx="4846320" cy="402336"/>
          </a:xfrm>
          <a:prstGeom prst="roundRect">
            <a:avLst>
              <a:gd name="adj" fmla="val 22727"/>
            </a:avLst>
          </a:prstGeom>
          <a:solidFill>
            <a:srgbClr val="0B7A7A"/>
          </a:solidFill>
          <a:ln/>
        </p:spPr>
      </p:sp>
      <p:sp>
        <p:nvSpPr>
          <p:cNvPr id="8" name="Text 6"/>
          <p:cNvSpPr txBox="1"/>
          <p:nvPr/>
        </p:nvSpPr>
        <p:spPr>
          <a:xfrm>
            <a:off x="411480" y="2817622"/>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仮想化　1台を分けて使う・箱に詰める</a:t>
            </a:r>
            <a:endParaRPr lang="en-US" sz="1600" dirty="0"/>
          </a:p>
        </p:txBody>
      </p:sp>
      <p:sp>
        <p:nvSpPr>
          <p:cNvPr id="9" name="Shape 7"/>
          <p:cNvSpPr/>
          <p:nvPr/>
        </p:nvSpPr>
        <p:spPr>
          <a:xfrm>
            <a:off x="457200" y="3311398"/>
            <a:ext cx="920496" cy="384048"/>
          </a:xfrm>
          <a:prstGeom prst="roundRect">
            <a:avLst>
              <a:gd name="adj" fmla="val 28571"/>
            </a:avLst>
          </a:prstGeom>
          <a:solidFill>
            <a:srgbClr val="FFFFFF"/>
          </a:solidFill>
          <a:ln w="15875">
            <a:solidFill>
              <a:srgbClr val="0B7A7A"/>
            </a:solidFill>
            <a:prstDash val="solid"/>
          </a:ln>
        </p:spPr>
      </p:sp>
      <p:sp>
        <p:nvSpPr>
          <p:cNvPr id="10" name="Text 8"/>
          <p:cNvSpPr txBox="1"/>
          <p:nvPr/>
        </p:nvSpPr>
        <p:spPr>
          <a:xfrm>
            <a:off x="548640" y="3311398"/>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仮想化</a:t>
            </a:r>
            <a:endParaRPr lang="en-US" sz="1600" dirty="0"/>
          </a:p>
        </p:txBody>
      </p:sp>
      <p:sp>
        <p:nvSpPr>
          <p:cNvPr id="11" name="Shape 9"/>
          <p:cNvSpPr/>
          <p:nvPr/>
        </p:nvSpPr>
        <p:spPr>
          <a:xfrm>
            <a:off x="1469136" y="3311398"/>
            <a:ext cx="1326896" cy="384048"/>
          </a:xfrm>
          <a:prstGeom prst="roundRect">
            <a:avLst>
              <a:gd name="adj" fmla="val 28571"/>
            </a:avLst>
          </a:prstGeom>
          <a:solidFill>
            <a:srgbClr val="FFFFFF"/>
          </a:solidFill>
          <a:ln w="15875">
            <a:solidFill>
              <a:srgbClr val="0B7A7A"/>
            </a:solidFill>
            <a:prstDash val="solid"/>
          </a:ln>
        </p:spPr>
      </p:sp>
      <p:sp>
        <p:nvSpPr>
          <p:cNvPr id="12" name="Text 10"/>
          <p:cNvSpPr txBox="1"/>
          <p:nvPr/>
        </p:nvSpPr>
        <p:spPr>
          <a:xfrm>
            <a:off x="1560576" y="3311398"/>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仮想マシン</a:t>
            </a:r>
            <a:endParaRPr lang="en-US" sz="1600" dirty="0"/>
          </a:p>
        </p:txBody>
      </p:sp>
      <p:sp>
        <p:nvSpPr>
          <p:cNvPr id="13" name="Shape 11"/>
          <p:cNvSpPr/>
          <p:nvPr/>
        </p:nvSpPr>
        <p:spPr>
          <a:xfrm>
            <a:off x="2887472" y="3311398"/>
            <a:ext cx="1936496" cy="384048"/>
          </a:xfrm>
          <a:prstGeom prst="roundRect">
            <a:avLst>
              <a:gd name="adj" fmla="val 28571"/>
            </a:avLst>
          </a:prstGeom>
          <a:solidFill>
            <a:srgbClr val="FFFFFF"/>
          </a:solidFill>
          <a:ln w="15875">
            <a:solidFill>
              <a:srgbClr val="0B7A7A"/>
            </a:solidFill>
            <a:prstDash val="solid"/>
          </a:ln>
        </p:spPr>
      </p:sp>
      <p:sp>
        <p:nvSpPr>
          <p:cNvPr id="14" name="Text 12"/>
          <p:cNvSpPr txBox="1"/>
          <p:nvPr/>
        </p:nvSpPr>
        <p:spPr>
          <a:xfrm>
            <a:off x="2978912" y="3311398"/>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ハイパーバイザー</a:t>
            </a:r>
            <a:endParaRPr lang="en-US" sz="1600" dirty="0"/>
          </a:p>
        </p:txBody>
      </p:sp>
      <p:sp>
        <p:nvSpPr>
          <p:cNvPr id="15" name="Shape 13"/>
          <p:cNvSpPr/>
          <p:nvPr/>
        </p:nvSpPr>
        <p:spPr>
          <a:xfrm>
            <a:off x="457200" y="3768598"/>
            <a:ext cx="1123696" cy="384048"/>
          </a:xfrm>
          <a:prstGeom prst="roundRect">
            <a:avLst>
              <a:gd name="adj" fmla="val 28571"/>
            </a:avLst>
          </a:prstGeom>
          <a:solidFill>
            <a:srgbClr val="FFFFFF"/>
          </a:solidFill>
          <a:ln w="15875">
            <a:solidFill>
              <a:srgbClr val="0B7A7A"/>
            </a:solidFill>
            <a:prstDash val="solid"/>
          </a:ln>
        </p:spPr>
      </p:sp>
      <p:sp>
        <p:nvSpPr>
          <p:cNvPr id="16" name="Text 14"/>
          <p:cNvSpPr txBox="1"/>
          <p:nvPr/>
        </p:nvSpPr>
        <p:spPr>
          <a:xfrm>
            <a:off x="548640" y="3768598"/>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コンテナ</a:t>
            </a:r>
            <a:endParaRPr lang="en-US" sz="1600" dirty="0"/>
          </a:p>
        </p:txBody>
      </p:sp>
      <p:sp>
        <p:nvSpPr>
          <p:cNvPr id="17" name="Shape 15"/>
          <p:cNvSpPr/>
          <p:nvPr/>
        </p:nvSpPr>
        <p:spPr>
          <a:xfrm>
            <a:off x="1672336" y="3768598"/>
            <a:ext cx="1005840" cy="384048"/>
          </a:xfrm>
          <a:prstGeom prst="roundRect">
            <a:avLst>
              <a:gd name="adj" fmla="val 28571"/>
            </a:avLst>
          </a:prstGeom>
          <a:solidFill>
            <a:srgbClr val="FFFFFF"/>
          </a:solidFill>
          <a:ln w="15875">
            <a:solidFill>
              <a:srgbClr val="0B7A7A"/>
            </a:solidFill>
            <a:prstDash val="solid"/>
          </a:ln>
        </p:spPr>
      </p:sp>
      <p:sp>
        <p:nvSpPr>
          <p:cNvPr id="18" name="Text 16"/>
          <p:cNvSpPr txBox="1"/>
          <p:nvPr/>
        </p:nvSpPr>
        <p:spPr>
          <a:xfrm>
            <a:off x="1763776" y="3768598"/>
            <a:ext cx="8229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Docker</a:t>
            </a:r>
            <a:endParaRPr lang="en-US" sz="1600" dirty="0"/>
          </a:p>
        </p:txBody>
      </p:sp>
      <p:sp>
        <p:nvSpPr>
          <p:cNvPr id="19" name="Shape 17"/>
          <p:cNvSpPr/>
          <p:nvPr/>
        </p:nvSpPr>
        <p:spPr>
          <a:xfrm>
            <a:off x="2769616" y="3768598"/>
            <a:ext cx="1408176" cy="384048"/>
          </a:xfrm>
          <a:prstGeom prst="roundRect">
            <a:avLst>
              <a:gd name="adj" fmla="val 28571"/>
            </a:avLst>
          </a:prstGeom>
          <a:solidFill>
            <a:srgbClr val="FFFFFF"/>
          </a:solidFill>
          <a:ln w="15875">
            <a:solidFill>
              <a:srgbClr val="0B7A7A"/>
            </a:solidFill>
            <a:prstDash val="solid"/>
          </a:ln>
        </p:spPr>
      </p:sp>
      <p:sp>
        <p:nvSpPr>
          <p:cNvPr id="20" name="Text 18"/>
          <p:cNvSpPr txBox="1"/>
          <p:nvPr/>
        </p:nvSpPr>
        <p:spPr>
          <a:xfrm>
            <a:off x="2861056" y="3768598"/>
            <a:ext cx="12252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Kubernetes</a:t>
            </a:r>
            <a:endParaRPr lang="en-US" sz="1600" dirty="0"/>
          </a:p>
        </p:txBody>
      </p:sp>
      <p:sp>
        <p:nvSpPr>
          <p:cNvPr id="21" name="Shape 19"/>
          <p:cNvSpPr/>
          <p:nvPr/>
        </p:nvSpPr>
        <p:spPr>
          <a:xfrm>
            <a:off x="457200" y="4225798"/>
            <a:ext cx="1076960" cy="384048"/>
          </a:xfrm>
          <a:prstGeom prst="roundRect">
            <a:avLst>
              <a:gd name="adj" fmla="val 28571"/>
            </a:avLst>
          </a:prstGeom>
          <a:solidFill>
            <a:srgbClr val="FFFFFF"/>
          </a:solidFill>
          <a:ln w="15875">
            <a:solidFill>
              <a:srgbClr val="0B7A7A"/>
            </a:solidFill>
            <a:prstDash val="solid"/>
          </a:ln>
        </p:spPr>
      </p:sp>
      <p:sp>
        <p:nvSpPr>
          <p:cNvPr id="22" name="Text 20"/>
          <p:cNvSpPr txBox="1"/>
          <p:nvPr/>
        </p:nvSpPr>
        <p:spPr>
          <a:xfrm>
            <a:off x="548640" y="4225798"/>
            <a:ext cx="89408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VMware</a:t>
            </a:r>
            <a:endParaRPr lang="en-US" sz="1600" dirty="0"/>
          </a:p>
        </p:txBody>
      </p:sp>
      <p:sp>
        <p:nvSpPr>
          <p:cNvPr id="23" name="Shape 21"/>
          <p:cNvSpPr/>
          <p:nvPr/>
        </p:nvSpPr>
        <p:spPr>
          <a:xfrm>
            <a:off x="1625600" y="4225798"/>
            <a:ext cx="1306576" cy="384048"/>
          </a:xfrm>
          <a:prstGeom prst="roundRect">
            <a:avLst>
              <a:gd name="adj" fmla="val 28571"/>
            </a:avLst>
          </a:prstGeom>
          <a:solidFill>
            <a:srgbClr val="FFFFFF"/>
          </a:solidFill>
          <a:ln w="15875">
            <a:solidFill>
              <a:srgbClr val="0B7A7A"/>
            </a:solidFill>
            <a:prstDash val="solid"/>
          </a:ln>
        </p:spPr>
      </p:sp>
      <p:sp>
        <p:nvSpPr>
          <p:cNvPr id="24" name="Text 22"/>
          <p:cNvSpPr txBox="1"/>
          <p:nvPr/>
        </p:nvSpPr>
        <p:spPr>
          <a:xfrm>
            <a:off x="1717040" y="4225798"/>
            <a:ext cx="11236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OpenStack</a:t>
            </a:r>
            <a:endParaRPr lang="en-US" sz="1600" dirty="0"/>
          </a:p>
        </p:txBody>
      </p:sp>
      <p:sp>
        <p:nvSpPr>
          <p:cNvPr id="25" name="Shape 23"/>
          <p:cNvSpPr/>
          <p:nvPr/>
        </p:nvSpPr>
        <p:spPr>
          <a:xfrm>
            <a:off x="3023616" y="4225798"/>
            <a:ext cx="688848" cy="384048"/>
          </a:xfrm>
          <a:prstGeom prst="roundRect">
            <a:avLst>
              <a:gd name="adj" fmla="val 28571"/>
            </a:avLst>
          </a:prstGeom>
          <a:solidFill>
            <a:srgbClr val="FFFFFF"/>
          </a:solidFill>
          <a:ln w="15875">
            <a:solidFill>
              <a:srgbClr val="0B7A7A"/>
            </a:solidFill>
            <a:prstDash val="solid"/>
          </a:ln>
        </p:spPr>
      </p:sp>
      <p:sp>
        <p:nvSpPr>
          <p:cNvPr id="26" name="Text 24"/>
          <p:cNvSpPr txBox="1"/>
          <p:nvPr/>
        </p:nvSpPr>
        <p:spPr>
          <a:xfrm>
            <a:off x="3115056" y="422579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KVM</a:t>
            </a:r>
            <a:endParaRPr lang="en-US" sz="1600" dirty="0"/>
          </a:p>
        </p:txBody>
      </p:sp>
      <p:sp>
        <p:nvSpPr>
          <p:cNvPr id="27" name="Shape 25"/>
          <p:cNvSpPr/>
          <p:nvPr/>
        </p:nvSpPr>
        <p:spPr>
          <a:xfrm>
            <a:off x="3803904" y="4225798"/>
            <a:ext cx="1131824" cy="384048"/>
          </a:xfrm>
          <a:prstGeom prst="roundRect">
            <a:avLst>
              <a:gd name="adj" fmla="val 28571"/>
            </a:avLst>
          </a:prstGeom>
          <a:solidFill>
            <a:srgbClr val="FFFFFF"/>
          </a:solidFill>
          <a:ln w="15875">
            <a:solidFill>
              <a:srgbClr val="0B7A7A"/>
            </a:solidFill>
            <a:prstDash val="solid"/>
          </a:ln>
        </p:spPr>
      </p:sp>
      <p:sp>
        <p:nvSpPr>
          <p:cNvPr id="28" name="Text 26"/>
          <p:cNvSpPr txBox="1"/>
          <p:nvPr/>
        </p:nvSpPr>
        <p:spPr>
          <a:xfrm>
            <a:off x="3895344" y="4225798"/>
            <a:ext cx="9489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Hyper-V</a:t>
            </a:r>
            <a:endParaRPr lang="en-US" sz="1600" dirty="0"/>
          </a:p>
        </p:txBody>
      </p:sp>
      <p:sp>
        <p:nvSpPr>
          <p:cNvPr id="29" name="Shape 27"/>
          <p:cNvSpPr/>
          <p:nvPr/>
        </p:nvSpPr>
        <p:spPr>
          <a:xfrm>
            <a:off x="320040" y="4847590"/>
            <a:ext cx="4846320" cy="1481328"/>
          </a:xfrm>
          <a:prstGeom prst="roundRect">
            <a:avLst>
              <a:gd name="adj" fmla="val 6173"/>
            </a:avLst>
          </a:prstGeom>
          <a:solidFill>
            <a:srgbClr val="DCE8F8"/>
          </a:solidFill>
          <a:ln/>
        </p:spPr>
      </p:sp>
      <p:sp>
        <p:nvSpPr>
          <p:cNvPr id="30" name="Shape 28"/>
          <p:cNvSpPr/>
          <p:nvPr/>
        </p:nvSpPr>
        <p:spPr>
          <a:xfrm>
            <a:off x="320040" y="4847590"/>
            <a:ext cx="4846320" cy="402336"/>
          </a:xfrm>
          <a:prstGeom prst="roundRect">
            <a:avLst>
              <a:gd name="adj" fmla="val 22727"/>
            </a:avLst>
          </a:prstGeom>
          <a:solidFill>
            <a:srgbClr val="2F6BC2"/>
          </a:solidFill>
          <a:ln/>
        </p:spPr>
      </p:sp>
      <p:sp>
        <p:nvSpPr>
          <p:cNvPr id="31" name="Text 29"/>
          <p:cNvSpPr txBox="1"/>
          <p:nvPr/>
        </p:nvSpPr>
        <p:spPr>
          <a:xfrm>
            <a:off x="411480" y="4847590"/>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OS　機械を動かす基本ソフト</a:t>
            </a:r>
            <a:endParaRPr lang="en-US" sz="1600" dirty="0"/>
          </a:p>
        </p:txBody>
      </p:sp>
      <p:sp>
        <p:nvSpPr>
          <p:cNvPr id="32" name="Shape 30"/>
          <p:cNvSpPr/>
          <p:nvPr/>
        </p:nvSpPr>
        <p:spPr>
          <a:xfrm>
            <a:off x="457200" y="5341366"/>
            <a:ext cx="562864" cy="384048"/>
          </a:xfrm>
          <a:prstGeom prst="roundRect">
            <a:avLst>
              <a:gd name="adj" fmla="val 28571"/>
            </a:avLst>
          </a:prstGeom>
          <a:solidFill>
            <a:srgbClr val="FFFFFF"/>
          </a:solidFill>
          <a:ln w="15875">
            <a:solidFill>
              <a:srgbClr val="2F6BC2"/>
            </a:solidFill>
            <a:prstDash val="solid"/>
          </a:ln>
        </p:spPr>
      </p:sp>
      <p:sp>
        <p:nvSpPr>
          <p:cNvPr id="33" name="Text 31"/>
          <p:cNvSpPr txBox="1"/>
          <p:nvPr/>
        </p:nvSpPr>
        <p:spPr>
          <a:xfrm>
            <a:off x="548640" y="5341366"/>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p:txBody>
      </p:sp>
      <p:sp>
        <p:nvSpPr>
          <p:cNvPr id="34" name="Shape 32"/>
          <p:cNvSpPr/>
          <p:nvPr/>
        </p:nvSpPr>
        <p:spPr>
          <a:xfrm>
            <a:off x="1111504" y="5341366"/>
            <a:ext cx="1530096" cy="384048"/>
          </a:xfrm>
          <a:prstGeom prst="roundRect">
            <a:avLst>
              <a:gd name="adj" fmla="val 28571"/>
            </a:avLst>
          </a:prstGeom>
          <a:solidFill>
            <a:srgbClr val="FFFFFF"/>
          </a:solidFill>
          <a:ln w="15875">
            <a:solidFill>
              <a:srgbClr val="2F6BC2"/>
            </a:solidFill>
            <a:prstDash val="solid"/>
          </a:ln>
        </p:spPr>
      </p:sp>
      <p:sp>
        <p:nvSpPr>
          <p:cNvPr id="35" name="Text 33"/>
          <p:cNvSpPr txBox="1"/>
          <p:nvPr/>
        </p:nvSpPr>
        <p:spPr>
          <a:xfrm>
            <a:off x="1202944" y="5341366"/>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ソフトウェア</a:t>
            </a:r>
            <a:endParaRPr lang="en-US" sz="1600" dirty="0"/>
          </a:p>
        </p:txBody>
      </p:sp>
      <p:sp>
        <p:nvSpPr>
          <p:cNvPr id="36" name="Shape 34"/>
          <p:cNvSpPr/>
          <p:nvPr/>
        </p:nvSpPr>
        <p:spPr>
          <a:xfrm>
            <a:off x="2733040" y="5341366"/>
            <a:ext cx="1936496" cy="384048"/>
          </a:xfrm>
          <a:prstGeom prst="roundRect">
            <a:avLst>
              <a:gd name="adj" fmla="val 28571"/>
            </a:avLst>
          </a:prstGeom>
          <a:solidFill>
            <a:srgbClr val="FFFFFF"/>
          </a:solidFill>
          <a:ln w="15875">
            <a:solidFill>
              <a:srgbClr val="2F6BC2"/>
            </a:solidFill>
            <a:prstDash val="solid"/>
          </a:ln>
        </p:spPr>
      </p:sp>
      <p:sp>
        <p:nvSpPr>
          <p:cNvPr id="37" name="Text 35"/>
          <p:cNvSpPr txBox="1"/>
          <p:nvPr/>
        </p:nvSpPr>
        <p:spPr>
          <a:xfrm>
            <a:off x="2824480" y="5341366"/>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ファイルシステム</a:t>
            </a:r>
            <a:endParaRPr lang="en-US" sz="1600" dirty="0"/>
          </a:p>
        </p:txBody>
      </p:sp>
      <p:sp>
        <p:nvSpPr>
          <p:cNvPr id="38" name="Shape 36"/>
          <p:cNvSpPr/>
          <p:nvPr/>
        </p:nvSpPr>
        <p:spPr>
          <a:xfrm>
            <a:off x="457200" y="5798566"/>
            <a:ext cx="1125728" cy="384048"/>
          </a:xfrm>
          <a:prstGeom prst="roundRect">
            <a:avLst>
              <a:gd name="adj" fmla="val 28571"/>
            </a:avLst>
          </a:prstGeom>
          <a:solidFill>
            <a:srgbClr val="FFFFFF"/>
          </a:solidFill>
          <a:ln w="15875">
            <a:solidFill>
              <a:srgbClr val="2F6BC2"/>
            </a:solidFill>
            <a:prstDash val="solid"/>
          </a:ln>
        </p:spPr>
      </p:sp>
      <p:sp>
        <p:nvSpPr>
          <p:cNvPr id="39" name="Text 37"/>
          <p:cNvSpPr txBox="1"/>
          <p:nvPr/>
        </p:nvSpPr>
        <p:spPr>
          <a:xfrm>
            <a:off x="548640" y="5798566"/>
            <a:ext cx="94284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a:t>
            </a:r>
            <a:endParaRPr lang="en-US" sz="1600" dirty="0"/>
          </a:p>
        </p:txBody>
      </p:sp>
      <p:sp>
        <p:nvSpPr>
          <p:cNvPr id="40" name="Shape 38"/>
          <p:cNvSpPr/>
          <p:nvPr/>
        </p:nvSpPr>
        <p:spPr>
          <a:xfrm>
            <a:off x="1674368" y="5798566"/>
            <a:ext cx="839216" cy="384048"/>
          </a:xfrm>
          <a:prstGeom prst="roundRect">
            <a:avLst>
              <a:gd name="adj" fmla="val 28571"/>
            </a:avLst>
          </a:prstGeom>
          <a:solidFill>
            <a:srgbClr val="FFFFFF"/>
          </a:solidFill>
          <a:ln w="15875">
            <a:solidFill>
              <a:srgbClr val="2F6BC2"/>
            </a:solidFill>
            <a:prstDash val="solid"/>
          </a:ln>
        </p:spPr>
      </p:sp>
      <p:sp>
        <p:nvSpPr>
          <p:cNvPr id="41" name="Text 39"/>
          <p:cNvSpPr txBox="1"/>
          <p:nvPr/>
        </p:nvSpPr>
        <p:spPr>
          <a:xfrm>
            <a:off x="1765808" y="5798566"/>
            <a:ext cx="6563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a:t>
            </a:r>
            <a:endParaRPr lang="en-US" sz="1600" dirty="0"/>
          </a:p>
        </p:txBody>
      </p:sp>
      <p:sp>
        <p:nvSpPr>
          <p:cNvPr id="42" name="Shape 40"/>
          <p:cNvSpPr/>
          <p:nvPr/>
        </p:nvSpPr>
        <p:spPr>
          <a:xfrm>
            <a:off x="2605024" y="5798566"/>
            <a:ext cx="717296" cy="384048"/>
          </a:xfrm>
          <a:prstGeom prst="roundRect">
            <a:avLst>
              <a:gd name="adj" fmla="val 28571"/>
            </a:avLst>
          </a:prstGeom>
          <a:solidFill>
            <a:srgbClr val="FFFFFF"/>
          </a:solidFill>
          <a:ln w="15875">
            <a:solidFill>
              <a:srgbClr val="2F6BC2"/>
            </a:solidFill>
            <a:prstDash val="solid"/>
          </a:ln>
        </p:spPr>
      </p:sp>
      <p:sp>
        <p:nvSpPr>
          <p:cNvPr id="43" name="Text 41"/>
          <p:cNvSpPr txBox="1"/>
          <p:nvPr/>
        </p:nvSpPr>
        <p:spPr>
          <a:xfrm>
            <a:off x="2696464" y="5798566"/>
            <a:ext cx="534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ログ</a:t>
            </a:r>
            <a:endParaRPr lang="en-US" sz="1600" dirty="0"/>
          </a:p>
        </p:txBody>
      </p:sp>
      <p:sp>
        <p:nvSpPr>
          <p:cNvPr id="44" name="Shape 42"/>
          <p:cNvSpPr/>
          <p:nvPr/>
        </p:nvSpPr>
        <p:spPr>
          <a:xfrm>
            <a:off x="320040" y="6420358"/>
            <a:ext cx="4846320" cy="3310128"/>
          </a:xfrm>
          <a:prstGeom prst="roundRect">
            <a:avLst>
              <a:gd name="adj" fmla="val 2762"/>
            </a:avLst>
          </a:prstGeom>
          <a:solidFill>
            <a:srgbClr val="E2E8F0"/>
          </a:solidFill>
          <a:ln/>
        </p:spPr>
      </p:sp>
      <p:sp>
        <p:nvSpPr>
          <p:cNvPr id="45" name="Shape 43"/>
          <p:cNvSpPr/>
          <p:nvPr/>
        </p:nvSpPr>
        <p:spPr>
          <a:xfrm>
            <a:off x="320040" y="6420358"/>
            <a:ext cx="4846320" cy="402336"/>
          </a:xfrm>
          <a:prstGeom prst="roundRect">
            <a:avLst>
              <a:gd name="adj" fmla="val 22727"/>
            </a:avLst>
          </a:prstGeom>
          <a:solidFill>
            <a:srgbClr val="475569"/>
          </a:solidFill>
          <a:ln/>
        </p:spPr>
      </p:sp>
      <p:sp>
        <p:nvSpPr>
          <p:cNvPr id="46" name="Text 44"/>
          <p:cNvSpPr txBox="1"/>
          <p:nvPr/>
        </p:nvSpPr>
        <p:spPr>
          <a:xfrm>
            <a:off x="411480" y="6420358"/>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ハードウェア　機械・部品そのもの</a:t>
            </a:r>
            <a:endParaRPr lang="en-US" sz="1600" dirty="0"/>
          </a:p>
        </p:txBody>
      </p:sp>
      <p:sp>
        <p:nvSpPr>
          <p:cNvPr id="47" name="Shape 45"/>
          <p:cNvSpPr/>
          <p:nvPr/>
        </p:nvSpPr>
        <p:spPr>
          <a:xfrm>
            <a:off x="457200" y="6914134"/>
            <a:ext cx="1530096" cy="384048"/>
          </a:xfrm>
          <a:prstGeom prst="roundRect">
            <a:avLst>
              <a:gd name="adj" fmla="val 28571"/>
            </a:avLst>
          </a:prstGeom>
          <a:solidFill>
            <a:srgbClr val="FFFFFF"/>
          </a:solidFill>
          <a:ln w="15875">
            <a:solidFill>
              <a:srgbClr val="475569"/>
            </a:solidFill>
            <a:prstDash val="solid"/>
          </a:ln>
        </p:spPr>
      </p:sp>
      <p:sp>
        <p:nvSpPr>
          <p:cNvPr id="48" name="Text 46"/>
          <p:cNvSpPr txBox="1"/>
          <p:nvPr/>
        </p:nvSpPr>
        <p:spPr>
          <a:xfrm>
            <a:off x="548640" y="6914134"/>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ハードウェア</a:t>
            </a:r>
            <a:endParaRPr lang="en-US" sz="1600" dirty="0"/>
          </a:p>
        </p:txBody>
      </p:sp>
      <p:sp>
        <p:nvSpPr>
          <p:cNvPr id="49" name="Shape 47"/>
          <p:cNvSpPr/>
          <p:nvPr/>
        </p:nvSpPr>
        <p:spPr>
          <a:xfrm>
            <a:off x="2078736" y="6914134"/>
            <a:ext cx="688848" cy="384048"/>
          </a:xfrm>
          <a:prstGeom prst="roundRect">
            <a:avLst>
              <a:gd name="adj" fmla="val 28571"/>
            </a:avLst>
          </a:prstGeom>
          <a:solidFill>
            <a:srgbClr val="FFFFFF"/>
          </a:solidFill>
          <a:ln w="15875">
            <a:solidFill>
              <a:srgbClr val="475569"/>
            </a:solidFill>
            <a:prstDash val="solid"/>
          </a:ln>
        </p:spPr>
      </p:sp>
      <p:sp>
        <p:nvSpPr>
          <p:cNvPr id="50" name="Text 48"/>
          <p:cNvSpPr txBox="1"/>
          <p:nvPr/>
        </p:nvSpPr>
        <p:spPr>
          <a:xfrm>
            <a:off x="2170176" y="691413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p:txBody>
      </p:sp>
      <p:sp>
        <p:nvSpPr>
          <p:cNvPr id="51" name="Shape 49"/>
          <p:cNvSpPr/>
          <p:nvPr/>
        </p:nvSpPr>
        <p:spPr>
          <a:xfrm>
            <a:off x="457200" y="7371334"/>
            <a:ext cx="2546096" cy="384048"/>
          </a:xfrm>
          <a:prstGeom prst="roundRect">
            <a:avLst>
              <a:gd name="adj" fmla="val 28571"/>
            </a:avLst>
          </a:prstGeom>
          <a:solidFill>
            <a:srgbClr val="FFFFFF"/>
          </a:solidFill>
          <a:ln w="15875">
            <a:solidFill>
              <a:srgbClr val="475569"/>
            </a:solidFill>
            <a:prstDash val="solid"/>
          </a:ln>
        </p:spPr>
      </p:sp>
      <p:sp>
        <p:nvSpPr>
          <p:cNvPr id="52" name="Text 50"/>
          <p:cNvSpPr txBox="1"/>
          <p:nvPr/>
        </p:nvSpPr>
        <p:spPr>
          <a:xfrm>
            <a:off x="548640" y="7371334"/>
            <a:ext cx="2363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サーバーとクライアント</a:t>
            </a:r>
            <a:endParaRPr lang="en-US" sz="1600" dirty="0"/>
          </a:p>
        </p:txBody>
      </p:sp>
      <p:sp>
        <p:nvSpPr>
          <p:cNvPr id="53" name="Shape 51"/>
          <p:cNvSpPr/>
          <p:nvPr/>
        </p:nvSpPr>
        <p:spPr>
          <a:xfrm>
            <a:off x="3094736" y="7371334"/>
            <a:ext cx="920496" cy="384048"/>
          </a:xfrm>
          <a:prstGeom prst="roundRect">
            <a:avLst>
              <a:gd name="adj" fmla="val 28571"/>
            </a:avLst>
          </a:prstGeom>
          <a:solidFill>
            <a:srgbClr val="FFFFFF"/>
          </a:solidFill>
          <a:ln w="15875">
            <a:solidFill>
              <a:srgbClr val="475569"/>
            </a:solidFill>
            <a:prstDash val="solid"/>
          </a:ln>
        </p:spPr>
      </p:sp>
      <p:sp>
        <p:nvSpPr>
          <p:cNvPr id="54" name="Text 52"/>
          <p:cNvSpPr txBox="1"/>
          <p:nvPr/>
        </p:nvSpPr>
        <p:spPr>
          <a:xfrm>
            <a:off x="3186176" y="7371334"/>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p:txBody>
      </p:sp>
      <p:sp>
        <p:nvSpPr>
          <p:cNvPr id="55" name="Shape 53"/>
          <p:cNvSpPr/>
          <p:nvPr/>
        </p:nvSpPr>
        <p:spPr>
          <a:xfrm>
            <a:off x="457200" y="7828534"/>
            <a:ext cx="1326896" cy="384048"/>
          </a:xfrm>
          <a:prstGeom prst="roundRect">
            <a:avLst>
              <a:gd name="adj" fmla="val 28571"/>
            </a:avLst>
          </a:prstGeom>
          <a:solidFill>
            <a:srgbClr val="FFFFFF"/>
          </a:solidFill>
          <a:ln w="15875">
            <a:solidFill>
              <a:srgbClr val="475569"/>
            </a:solidFill>
            <a:prstDash val="solid"/>
          </a:ln>
        </p:spPr>
      </p:sp>
      <p:sp>
        <p:nvSpPr>
          <p:cNvPr id="56" name="Text 54"/>
          <p:cNvSpPr txBox="1"/>
          <p:nvPr/>
        </p:nvSpPr>
        <p:spPr>
          <a:xfrm>
            <a:off x="548640" y="7828534"/>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a:t>
            </a:r>
            <a:endParaRPr lang="en-US" sz="1600" dirty="0"/>
          </a:p>
        </p:txBody>
      </p:sp>
      <p:sp>
        <p:nvSpPr>
          <p:cNvPr id="57" name="Shape 55"/>
          <p:cNvSpPr/>
          <p:nvPr/>
        </p:nvSpPr>
        <p:spPr>
          <a:xfrm>
            <a:off x="1875536" y="7828534"/>
            <a:ext cx="688848" cy="384048"/>
          </a:xfrm>
          <a:prstGeom prst="roundRect">
            <a:avLst>
              <a:gd name="adj" fmla="val 28571"/>
            </a:avLst>
          </a:prstGeom>
          <a:solidFill>
            <a:srgbClr val="FFFFFF"/>
          </a:solidFill>
          <a:ln w="15875">
            <a:solidFill>
              <a:srgbClr val="475569"/>
            </a:solidFill>
            <a:prstDash val="solid"/>
          </a:ln>
        </p:spPr>
      </p:sp>
      <p:sp>
        <p:nvSpPr>
          <p:cNvPr id="58" name="Text 56"/>
          <p:cNvSpPr txBox="1"/>
          <p:nvPr/>
        </p:nvSpPr>
        <p:spPr>
          <a:xfrm>
            <a:off x="1966976" y="782853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SSD</a:t>
            </a:r>
            <a:endParaRPr lang="en-US" sz="1600" dirty="0"/>
          </a:p>
        </p:txBody>
      </p:sp>
      <p:sp>
        <p:nvSpPr>
          <p:cNvPr id="59" name="Shape 57"/>
          <p:cNvSpPr/>
          <p:nvPr/>
        </p:nvSpPr>
        <p:spPr>
          <a:xfrm>
            <a:off x="2655824" y="7828534"/>
            <a:ext cx="688848" cy="384048"/>
          </a:xfrm>
          <a:prstGeom prst="roundRect">
            <a:avLst>
              <a:gd name="adj" fmla="val 28571"/>
            </a:avLst>
          </a:prstGeom>
          <a:solidFill>
            <a:srgbClr val="FFFFFF"/>
          </a:solidFill>
          <a:ln w="15875">
            <a:solidFill>
              <a:srgbClr val="475569"/>
            </a:solidFill>
            <a:prstDash val="solid"/>
          </a:ln>
        </p:spPr>
      </p:sp>
      <p:sp>
        <p:nvSpPr>
          <p:cNvPr id="60" name="Text 58"/>
          <p:cNvSpPr txBox="1"/>
          <p:nvPr/>
        </p:nvSpPr>
        <p:spPr>
          <a:xfrm>
            <a:off x="2747264" y="782853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HDD</a:t>
            </a:r>
            <a:endParaRPr lang="en-US" sz="1600" dirty="0"/>
          </a:p>
        </p:txBody>
      </p:sp>
      <p:sp>
        <p:nvSpPr>
          <p:cNvPr id="61" name="Shape 59"/>
          <p:cNvSpPr/>
          <p:nvPr/>
        </p:nvSpPr>
        <p:spPr>
          <a:xfrm>
            <a:off x="3436112" y="7828534"/>
            <a:ext cx="802640" cy="384048"/>
          </a:xfrm>
          <a:prstGeom prst="roundRect">
            <a:avLst>
              <a:gd name="adj" fmla="val 28571"/>
            </a:avLst>
          </a:prstGeom>
          <a:solidFill>
            <a:srgbClr val="FFFFFF"/>
          </a:solidFill>
          <a:ln w="15875">
            <a:solidFill>
              <a:srgbClr val="475569"/>
            </a:solidFill>
            <a:prstDash val="solid"/>
          </a:ln>
        </p:spPr>
      </p:sp>
      <p:sp>
        <p:nvSpPr>
          <p:cNvPr id="62" name="Text 60"/>
          <p:cNvSpPr txBox="1"/>
          <p:nvPr/>
        </p:nvSpPr>
        <p:spPr>
          <a:xfrm>
            <a:off x="3527552" y="7828534"/>
            <a:ext cx="6197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NVMe</a:t>
            </a:r>
            <a:endParaRPr lang="en-US" sz="1600" dirty="0"/>
          </a:p>
        </p:txBody>
      </p:sp>
      <p:sp>
        <p:nvSpPr>
          <p:cNvPr id="63" name="Shape 61"/>
          <p:cNvSpPr/>
          <p:nvPr/>
        </p:nvSpPr>
        <p:spPr>
          <a:xfrm>
            <a:off x="4330192" y="7828534"/>
            <a:ext cx="623824" cy="384048"/>
          </a:xfrm>
          <a:prstGeom prst="roundRect">
            <a:avLst>
              <a:gd name="adj" fmla="val 28571"/>
            </a:avLst>
          </a:prstGeom>
          <a:solidFill>
            <a:srgbClr val="FFFFFF"/>
          </a:solidFill>
          <a:ln w="15875">
            <a:solidFill>
              <a:srgbClr val="475569"/>
            </a:solidFill>
            <a:prstDash val="solid"/>
          </a:ln>
        </p:spPr>
      </p:sp>
      <p:sp>
        <p:nvSpPr>
          <p:cNvPr id="64" name="Text 62"/>
          <p:cNvSpPr txBox="1"/>
          <p:nvPr/>
        </p:nvSpPr>
        <p:spPr>
          <a:xfrm>
            <a:off x="4421632" y="7828534"/>
            <a:ext cx="4409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M.2</a:t>
            </a:r>
            <a:endParaRPr lang="en-US" sz="1600" dirty="0"/>
          </a:p>
        </p:txBody>
      </p:sp>
      <p:sp>
        <p:nvSpPr>
          <p:cNvPr id="65" name="Shape 63"/>
          <p:cNvSpPr/>
          <p:nvPr/>
        </p:nvSpPr>
        <p:spPr>
          <a:xfrm>
            <a:off x="457200" y="8285734"/>
            <a:ext cx="2139696" cy="384048"/>
          </a:xfrm>
          <a:prstGeom prst="roundRect">
            <a:avLst>
              <a:gd name="adj" fmla="val 28571"/>
            </a:avLst>
          </a:prstGeom>
          <a:solidFill>
            <a:srgbClr val="FFFFFF"/>
          </a:solidFill>
          <a:ln w="15875">
            <a:solidFill>
              <a:srgbClr val="475569"/>
            </a:solidFill>
            <a:prstDash val="solid"/>
          </a:ln>
        </p:spPr>
      </p:sp>
      <p:sp>
        <p:nvSpPr>
          <p:cNvPr id="66" name="Text 64"/>
          <p:cNvSpPr txBox="1"/>
          <p:nvPr/>
        </p:nvSpPr>
        <p:spPr>
          <a:xfrm>
            <a:off x="548640" y="8285734"/>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ブロックストレージ</a:t>
            </a:r>
            <a:endParaRPr lang="en-US" sz="1600" dirty="0"/>
          </a:p>
        </p:txBody>
      </p:sp>
      <p:sp>
        <p:nvSpPr>
          <p:cNvPr id="67" name="Shape 65"/>
          <p:cNvSpPr/>
          <p:nvPr/>
        </p:nvSpPr>
        <p:spPr>
          <a:xfrm>
            <a:off x="2688336" y="8285734"/>
            <a:ext cx="688848" cy="384048"/>
          </a:xfrm>
          <a:prstGeom prst="roundRect">
            <a:avLst>
              <a:gd name="adj" fmla="val 28571"/>
            </a:avLst>
          </a:prstGeom>
          <a:solidFill>
            <a:srgbClr val="FFFFFF"/>
          </a:solidFill>
          <a:ln w="15875">
            <a:solidFill>
              <a:srgbClr val="475569"/>
            </a:solidFill>
            <a:prstDash val="solid"/>
          </a:ln>
        </p:spPr>
      </p:sp>
      <p:sp>
        <p:nvSpPr>
          <p:cNvPr id="68" name="Text 66"/>
          <p:cNvSpPr txBox="1"/>
          <p:nvPr/>
        </p:nvSpPr>
        <p:spPr>
          <a:xfrm>
            <a:off x="2779776" y="828573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NAS</a:t>
            </a:r>
            <a:endParaRPr lang="en-US" sz="1600" dirty="0"/>
          </a:p>
        </p:txBody>
      </p:sp>
      <p:sp>
        <p:nvSpPr>
          <p:cNvPr id="69" name="Shape 67"/>
          <p:cNvSpPr/>
          <p:nvPr/>
        </p:nvSpPr>
        <p:spPr>
          <a:xfrm>
            <a:off x="3468624" y="8285734"/>
            <a:ext cx="688848" cy="384048"/>
          </a:xfrm>
          <a:prstGeom prst="roundRect">
            <a:avLst>
              <a:gd name="adj" fmla="val 28571"/>
            </a:avLst>
          </a:prstGeom>
          <a:solidFill>
            <a:srgbClr val="FFFFFF"/>
          </a:solidFill>
          <a:ln w="15875">
            <a:solidFill>
              <a:srgbClr val="475569"/>
            </a:solidFill>
            <a:prstDash val="solid"/>
          </a:ln>
        </p:spPr>
      </p:sp>
      <p:sp>
        <p:nvSpPr>
          <p:cNvPr id="70" name="Text 68"/>
          <p:cNvSpPr txBox="1"/>
          <p:nvPr/>
        </p:nvSpPr>
        <p:spPr>
          <a:xfrm>
            <a:off x="3560064" y="828573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SAN</a:t>
            </a:r>
            <a:endParaRPr lang="en-US" sz="1600" dirty="0"/>
          </a:p>
        </p:txBody>
      </p:sp>
      <p:sp>
        <p:nvSpPr>
          <p:cNvPr id="71" name="Shape 69"/>
          <p:cNvSpPr/>
          <p:nvPr/>
        </p:nvSpPr>
        <p:spPr>
          <a:xfrm>
            <a:off x="457200" y="8742934"/>
            <a:ext cx="814832" cy="384048"/>
          </a:xfrm>
          <a:prstGeom prst="roundRect">
            <a:avLst>
              <a:gd name="adj" fmla="val 28571"/>
            </a:avLst>
          </a:prstGeom>
          <a:solidFill>
            <a:srgbClr val="FFFFFF"/>
          </a:solidFill>
          <a:ln w="15875">
            <a:solidFill>
              <a:srgbClr val="475569"/>
            </a:solidFill>
            <a:prstDash val="solid"/>
          </a:ln>
        </p:spPr>
      </p:sp>
      <p:sp>
        <p:nvSpPr>
          <p:cNvPr id="72" name="Text 70"/>
          <p:cNvSpPr txBox="1"/>
          <p:nvPr/>
        </p:nvSpPr>
        <p:spPr>
          <a:xfrm>
            <a:off x="548640" y="8742934"/>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p:txBody>
      </p:sp>
      <p:sp>
        <p:nvSpPr>
          <p:cNvPr id="73" name="Shape 71"/>
          <p:cNvSpPr/>
          <p:nvPr/>
        </p:nvSpPr>
        <p:spPr>
          <a:xfrm>
            <a:off x="1363472" y="8742934"/>
            <a:ext cx="1375664" cy="384048"/>
          </a:xfrm>
          <a:prstGeom prst="roundRect">
            <a:avLst>
              <a:gd name="adj" fmla="val 28571"/>
            </a:avLst>
          </a:prstGeom>
          <a:solidFill>
            <a:srgbClr val="FFFFFF"/>
          </a:solidFill>
          <a:ln w="15875">
            <a:solidFill>
              <a:srgbClr val="475569"/>
            </a:solidFill>
            <a:prstDash val="solid"/>
          </a:ln>
        </p:spPr>
      </p:sp>
      <p:sp>
        <p:nvSpPr>
          <p:cNvPr id="74" name="Text 72"/>
          <p:cNvSpPr txBox="1"/>
          <p:nvPr/>
        </p:nvSpPr>
        <p:spPr>
          <a:xfrm>
            <a:off x="1454912" y="8742934"/>
            <a:ext cx="11927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DBサーバー</a:t>
            </a:r>
            <a:endParaRPr lang="en-US" sz="1600" dirty="0"/>
          </a:p>
        </p:txBody>
      </p:sp>
      <p:sp>
        <p:nvSpPr>
          <p:cNvPr id="75" name="Shape 73"/>
          <p:cNvSpPr/>
          <p:nvPr/>
        </p:nvSpPr>
        <p:spPr>
          <a:xfrm>
            <a:off x="2830576" y="8742934"/>
            <a:ext cx="676656" cy="384048"/>
          </a:xfrm>
          <a:prstGeom prst="roundRect">
            <a:avLst>
              <a:gd name="adj" fmla="val 28571"/>
            </a:avLst>
          </a:prstGeom>
          <a:solidFill>
            <a:srgbClr val="FFFFFF"/>
          </a:solidFill>
          <a:ln w="15875">
            <a:solidFill>
              <a:srgbClr val="475569"/>
            </a:solidFill>
            <a:prstDash val="solid"/>
          </a:ln>
        </p:spPr>
      </p:sp>
      <p:sp>
        <p:nvSpPr>
          <p:cNvPr id="76" name="Text 74"/>
          <p:cNvSpPr txBox="1"/>
          <p:nvPr/>
        </p:nvSpPr>
        <p:spPr>
          <a:xfrm>
            <a:off x="2922016" y="8742934"/>
            <a:ext cx="49377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IoT</a:t>
            </a:r>
            <a:endParaRPr lang="en-US" sz="1600" dirty="0"/>
          </a:p>
        </p:txBody>
      </p:sp>
      <p:sp>
        <p:nvSpPr>
          <p:cNvPr id="77" name="Shape 75"/>
          <p:cNvSpPr/>
          <p:nvPr/>
        </p:nvSpPr>
        <p:spPr>
          <a:xfrm>
            <a:off x="3598672" y="8742934"/>
            <a:ext cx="969264" cy="384048"/>
          </a:xfrm>
          <a:prstGeom prst="roundRect">
            <a:avLst>
              <a:gd name="adj" fmla="val 28571"/>
            </a:avLst>
          </a:prstGeom>
          <a:solidFill>
            <a:srgbClr val="FFFFFF"/>
          </a:solidFill>
          <a:ln w="15875">
            <a:solidFill>
              <a:srgbClr val="475569"/>
            </a:solidFill>
            <a:prstDash val="solid"/>
          </a:ln>
        </p:spPr>
      </p:sp>
      <p:sp>
        <p:nvSpPr>
          <p:cNvPr id="78" name="Text 76"/>
          <p:cNvSpPr txBox="1"/>
          <p:nvPr/>
        </p:nvSpPr>
        <p:spPr>
          <a:xfrm>
            <a:off x="3690112" y="8742934"/>
            <a:ext cx="7863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PC自作</a:t>
            </a:r>
            <a:endParaRPr lang="en-US" sz="1600" dirty="0"/>
          </a:p>
        </p:txBody>
      </p:sp>
      <p:sp>
        <p:nvSpPr>
          <p:cNvPr id="79" name="Shape 77"/>
          <p:cNvSpPr/>
          <p:nvPr/>
        </p:nvSpPr>
        <p:spPr>
          <a:xfrm>
            <a:off x="457200" y="9200134"/>
            <a:ext cx="1530096" cy="384048"/>
          </a:xfrm>
          <a:prstGeom prst="roundRect">
            <a:avLst>
              <a:gd name="adj" fmla="val 28571"/>
            </a:avLst>
          </a:prstGeom>
          <a:solidFill>
            <a:srgbClr val="FFFFFF"/>
          </a:solidFill>
          <a:ln w="15875">
            <a:solidFill>
              <a:srgbClr val="475569"/>
            </a:solidFill>
            <a:prstDash val="solid"/>
          </a:ln>
        </p:spPr>
      </p:sp>
      <p:sp>
        <p:nvSpPr>
          <p:cNvPr id="80" name="Text 78"/>
          <p:cNvSpPr txBox="1"/>
          <p:nvPr/>
        </p:nvSpPr>
        <p:spPr>
          <a:xfrm>
            <a:off x="548640" y="9200134"/>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バックアップ</a:t>
            </a:r>
            <a:endParaRPr lang="en-US" sz="1600" dirty="0"/>
          </a:p>
        </p:txBody>
      </p:sp>
      <p:sp>
        <p:nvSpPr>
          <p:cNvPr id="81" name="Shape 79"/>
          <p:cNvSpPr/>
          <p:nvPr/>
        </p:nvSpPr>
        <p:spPr>
          <a:xfrm>
            <a:off x="2078736" y="9200134"/>
            <a:ext cx="1123696" cy="384048"/>
          </a:xfrm>
          <a:prstGeom prst="roundRect">
            <a:avLst>
              <a:gd name="adj" fmla="val 28571"/>
            </a:avLst>
          </a:prstGeom>
          <a:solidFill>
            <a:srgbClr val="FFFFFF"/>
          </a:solidFill>
          <a:ln w="15875">
            <a:solidFill>
              <a:srgbClr val="475569"/>
            </a:solidFill>
            <a:prstDash val="solid"/>
          </a:ln>
        </p:spPr>
      </p:sp>
      <p:sp>
        <p:nvSpPr>
          <p:cNvPr id="82" name="Text 80"/>
          <p:cNvSpPr txBox="1"/>
          <p:nvPr/>
        </p:nvSpPr>
        <p:spPr>
          <a:xfrm>
            <a:off x="2170176" y="9200134"/>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ルーター</a:t>
            </a:r>
            <a:endParaRPr lang="en-US" sz="1600" dirty="0"/>
          </a:p>
        </p:txBody>
      </p:sp>
      <p:sp>
        <p:nvSpPr>
          <p:cNvPr id="83" name="Text 81"/>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396</a:t>
            </a:fld>
            <a:endParaRPr lang="en-US"/>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name="Slide 3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用語の層別さくいん（3）</a:t>
            </a:r>
            <a:endParaRPr lang="ja-JP" sz="2600" dirty="0"/>
          </a:p>
        </p:txBody>
      </p:sp>
      <p:sp>
        <p:nvSpPr>
          <p:cNvPr id="5" name="Text 3"/>
          <p:cNvSpPr txBox="1"/>
          <p:nvPr/>
        </p:nvSpPr>
        <p:spPr>
          <a:xfrm>
            <a:off x="320040" y="163804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この資料の全用語を、「いちばん関係の深い層」で並べました。ネットワーク・置き場所・活動資格の用語です。</a:t>
            </a:r>
            <a:endParaRPr lang="en-US" sz="1800" dirty="0"/>
          </a:p>
        </p:txBody>
      </p:sp>
      <p:sp>
        <p:nvSpPr>
          <p:cNvPr id="6" name="Shape 4"/>
          <p:cNvSpPr/>
          <p:nvPr/>
        </p:nvSpPr>
        <p:spPr>
          <a:xfrm>
            <a:off x="320040" y="2817622"/>
            <a:ext cx="4846320" cy="1938528"/>
          </a:xfrm>
          <a:prstGeom prst="roundRect">
            <a:avLst>
              <a:gd name="adj" fmla="val 4717"/>
            </a:avLst>
          </a:prstGeom>
          <a:solidFill>
            <a:srgbClr val="FDEBD0"/>
          </a:solidFill>
          <a:ln/>
        </p:spPr>
      </p:sp>
      <p:sp>
        <p:nvSpPr>
          <p:cNvPr id="7" name="Shape 5"/>
          <p:cNvSpPr/>
          <p:nvPr/>
        </p:nvSpPr>
        <p:spPr>
          <a:xfrm>
            <a:off x="320040" y="2817622"/>
            <a:ext cx="4846320" cy="402336"/>
          </a:xfrm>
          <a:prstGeom prst="roundRect">
            <a:avLst>
              <a:gd name="adj" fmla="val 22727"/>
            </a:avLst>
          </a:prstGeom>
          <a:solidFill>
            <a:srgbClr val="B45309"/>
          </a:solidFill>
          <a:ln/>
        </p:spPr>
      </p:sp>
      <p:sp>
        <p:nvSpPr>
          <p:cNvPr id="8" name="Text 6"/>
          <p:cNvSpPr txBox="1"/>
          <p:nvPr/>
        </p:nvSpPr>
        <p:spPr>
          <a:xfrm>
            <a:off x="411480" y="2817622"/>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ネットワーク　機械どうしをつなぐ道</a:t>
            </a:r>
            <a:endParaRPr lang="en-US" sz="1600" dirty="0"/>
          </a:p>
        </p:txBody>
      </p:sp>
      <p:sp>
        <p:nvSpPr>
          <p:cNvPr id="9" name="Shape 7"/>
          <p:cNvSpPr/>
          <p:nvPr/>
        </p:nvSpPr>
        <p:spPr>
          <a:xfrm>
            <a:off x="457200" y="3311398"/>
            <a:ext cx="1530096" cy="384048"/>
          </a:xfrm>
          <a:prstGeom prst="roundRect">
            <a:avLst>
              <a:gd name="adj" fmla="val 28571"/>
            </a:avLst>
          </a:prstGeom>
          <a:solidFill>
            <a:srgbClr val="FFFFFF"/>
          </a:solidFill>
          <a:ln w="15875">
            <a:solidFill>
              <a:srgbClr val="B45309"/>
            </a:solidFill>
            <a:prstDash val="solid"/>
          </a:ln>
        </p:spPr>
      </p:sp>
      <p:sp>
        <p:nvSpPr>
          <p:cNvPr id="10" name="Text 8"/>
          <p:cNvSpPr txBox="1"/>
          <p:nvPr/>
        </p:nvSpPr>
        <p:spPr>
          <a:xfrm>
            <a:off x="548640" y="3311398"/>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ネットワーク</a:t>
            </a:r>
            <a:endParaRPr lang="en-US" sz="1600" dirty="0"/>
          </a:p>
        </p:txBody>
      </p:sp>
      <p:sp>
        <p:nvSpPr>
          <p:cNvPr id="11" name="Shape 9"/>
          <p:cNvSpPr/>
          <p:nvPr/>
        </p:nvSpPr>
        <p:spPr>
          <a:xfrm>
            <a:off x="2078736" y="3311398"/>
            <a:ext cx="1733296" cy="384048"/>
          </a:xfrm>
          <a:prstGeom prst="roundRect">
            <a:avLst>
              <a:gd name="adj" fmla="val 28571"/>
            </a:avLst>
          </a:prstGeom>
          <a:solidFill>
            <a:srgbClr val="FFFFFF"/>
          </a:solidFill>
          <a:ln w="15875">
            <a:solidFill>
              <a:srgbClr val="B45309"/>
            </a:solidFill>
            <a:prstDash val="solid"/>
          </a:ln>
        </p:spPr>
      </p:sp>
      <p:sp>
        <p:nvSpPr>
          <p:cNvPr id="12" name="Text 10"/>
          <p:cNvSpPr txBox="1"/>
          <p:nvPr/>
        </p:nvSpPr>
        <p:spPr>
          <a:xfrm>
            <a:off x="2170176" y="3311398"/>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インターネット</a:t>
            </a:r>
            <a:endParaRPr lang="en-US" sz="1600" dirty="0"/>
          </a:p>
        </p:txBody>
      </p:sp>
      <p:sp>
        <p:nvSpPr>
          <p:cNvPr id="13" name="Shape 11"/>
          <p:cNvSpPr/>
          <p:nvPr/>
        </p:nvSpPr>
        <p:spPr>
          <a:xfrm>
            <a:off x="3903472" y="3311398"/>
            <a:ext cx="802640" cy="384048"/>
          </a:xfrm>
          <a:prstGeom prst="roundRect">
            <a:avLst>
              <a:gd name="adj" fmla="val 28571"/>
            </a:avLst>
          </a:prstGeom>
          <a:solidFill>
            <a:srgbClr val="FFFFFF"/>
          </a:solidFill>
          <a:ln w="15875">
            <a:solidFill>
              <a:srgbClr val="B45309"/>
            </a:solidFill>
            <a:prstDash val="solid"/>
          </a:ln>
        </p:spPr>
      </p:sp>
      <p:sp>
        <p:nvSpPr>
          <p:cNvPr id="14" name="Text 12"/>
          <p:cNvSpPr txBox="1"/>
          <p:nvPr/>
        </p:nvSpPr>
        <p:spPr>
          <a:xfrm>
            <a:off x="3994912" y="3311398"/>
            <a:ext cx="6197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FCoE</a:t>
            </a:r>
            <a:endParaRPr lang="en-US" sz="1600" dirty="0"/>
          </a:p>
        </p:txBody>
      </p:sp>
      <p:sp>
        <p:nvSpPr>
          <p:cNvPr id="15" name="Shape 13"/>
          <p:cNvSpPr/>
          <p:nvPr/>
        </p:nvSpPr>
        <p:spPr>
          <a:xfrm>
            <a:off x="457200" y="3768598"/>
            <a:ext cx="1123696" cy="384048"/>
          </a:xfrm>
          <a:prstGeom prst="roundRect">
            <a:avLst>
              <a:gd name="adj" fmla="val 28571"/>
            </a:avLst>
          </a:prstGeom>
          <a:solidFill>
            <a:srgbClr val="FFFFFF"/>
          </a:solidFill>
          <a:ln w="15875">
            <a:solidFill>
              <a:srgbClr val="B45309"/>
            </a:solidFill>
            <a:prstDash val="solid"/>
          </a:ln>
        </p:spPr>
      </p:sp>
      <p:sp>
        <p:nvSpPr>
          <p:cNvPr id="16" name="Text 14"/>
          <p:cNvSpPr txBox="1"/>
          <p:nvPr/>
        </p:nvSpPr>
        <p:spPr>
          <a:xfrm>
            <a:off x="548640" y="3768598"/>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固定回線</a:t>
            </a:r>
            <a:endParaRPr lang="en-US" sz="1600" dirty="0"/>
          </a:p>
        </p:txBody>
      </p:sp>
      <p:sp>
        <p:nvSpPr>
          <p:cNvPr id="17" name="Shape 15"/>
          <p:cNvSpPr/>
          <p:nvPr/>
        </p:nvSpPr>
        <p:spPr>
          <a:xfrm>
            <a:off x="1672336" y="3768598"/>
            <a:ext cx="920496" cy="384048"/>
          </a:xfrm>
          <a:prstGeom prst="roundRect">
            <a:avLst>
              <a:gd name="adj" fmla="val 28571"/>
            </a:avLst>
          </a:prstGeom>
          <a:solidFill>
            <a:srgbClr val="FFFFFF"/>
          </a:solidFill>
          <a:ln w="15875">
            <a:solidFill>
              <a:srgbClr val="B45309"/>
            </a:solidFill>
            <a:prstDash val="solid"/>
          </a:ln>
        </p:spPr>
      </p:sp>
      <p:sp>
        <p:nvSpPr>
          <p:cNvPr id="18" name="Text 16"/>
          <p:cNvSpPr txBox="1"/>
          <p:nvPr/>
        </p:nvSpPr>
        <p:spPr>
          <a:xfrm>
            <a:off x="1763776" y="3768598"/>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光回線</a:t>
            </a:r>
            <a:endParaRPr lang="en-US" sz="1600" dirty="0"/>
          </a:p>
        </p:txBody>
      </p:sp>
      <p:sp>
        <p:nvSpPr>
          <p:cNvPr id="19" name="Shape 17"/>
          <p:cNvSpPr/>
          <p:nvPr/>
        </p:nvSpPr>
        <p:spPr>
          <a:xfrm>
            <a:off x="2684272" y="3768598"/>
            <a:ext cx="2139696" cy="384048"/>
          </a:xfrm>
          <a:prstGeom prst="roundRect">
            <a:avLst>
              <a:gd name="adj" fmla="val 28571"/>
            </a:avLst>
          </a:prstGeom>
          <a:solidFill>
            <a:srgbClr val="FFFFFF"/>
          </a:solidFill>
          <a:ln w="15875">
            <a:solidFill>
              <a:srgbClr val="B45309"/>
            </a:solidFill>
            <a:prstDash val="solid"/>
          </a:ln>
        </p:spPr>
      </p:sp>
      <p:sp>
        <p:nvSpPr>
          <p:cNvPr id="20" name="Text 18"/>
          <p:cNvSpPr txBox="1"/>
          <p:nvPr/>
        </p:nvSpPr>
        <p:spPr>
          <a:xfrm>
            <a:off x="2775712" y="3768598"/>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ケーブルテレビ回線</a:t>
            </a:r>
            <a:endParaRPr lang="en-US" sz="1600" dirty="0"/>
          </a:p>
        </p:txBody>
      </p:sp>
      <p:sp>
        <p:nvSpPr>
          <p:cNvPr id="21" name="Shape 19"/>
          <p:cNvSpPr/>
          <p:nvPr/>
        </p:nvSpPr>
        <p:spPr>
          <a:xfrm>
            <a:off x="457200" y="4225798"/>
            <a:ext cx="1095248" cy="384048"/>
          </a:xfrm>
          <a:prstGeom prst="roundRect">
            <a:avLst>
              <a:gd name="adj" fmla="val 28571"/>
            </a:avLst>
          </a:prstGeom>
          <a:solidFill>
            <a:srgbClr val="FFFFFF"/>
          </a:solidFill>
          <a:ln w="15875">
            <a:solidFill>
              <a:srgbClr val="B45309"/>
            </a:solidFill>
            <a:prstDash val="solid"/>
          </a:ln>
        </p:spPr>
      </p:sp>
      <p:sp>
        <p:nvSpPr>
          <p:cNvPr id="22" name="Text 20"/>
          <p:cNvSpPr txBox="1"/>
          <p:nvPr/>
        </p:nvSpPr>
        <p:spPr>
          <a:xfrm>
            <a:off x="548640" y="4225798"/>
            <a:ext cx="9123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有線LAN</a:t>
            </a:r>
            <a:endParaRPr lang="en-US" sz="1600" dirty="0"/>
          </a:p>
        </p:txBody>
      </p:sp>
      <p:sp>
        <p:nvSpPr>
          <p:cNvPr id="23" name="Shape 21"/>
          <p:cNvSpPr/>
          <p:nvPr/>
        </p:nvSpPr>
        <p:spPr>
          <a:xfrm>
            <a:off x="1643888" y="4225798"/>
            <a:ext cx="798576" cy="384048"/>
          </a:xfrm>
          <a:prstGeom prst="roundRect">
            <a:avLst>
              <a:gd name="adj" fmla="val 28571"/>
            </a:avLst>
          </a:prstGeom>
          <a:solidFill>
            <a:srgbClr val="FFFFFF"/>
          </a:solidFill>
          <a:ln w="15875">
            <a:solidFill>
              <a:srgbClr val="B45309"/>
            </a:solidFill>
            <a:prstDash val="solid"/>
          </a:ln>
        </p:spPr>
      </p:sp>
      <p:sp>
        <p:nvSpPr>
          <p:cNvPr id="24" name="Text 22"/>
          <p:cNvSpPr txBox="1"/>
          <p:nvPr/>
        </p:nvSpPr>
        <p:spPr>
          <a:xfrm>
            <a:off x="1735328" y="4225798"/>
            <a:ext cx="6156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Wi-Fi</a:t>
            </a:r>
            <a:endParaRPr lang="en-US" sz="1600" dirty="0"/>
          </a:p>
        </p:txBody>
      </p:sp>
      <p:sp>
        <p:nvSpPr>
          <p:cNvPr id="25" name="Shape 23"/>
          <p:cNvSpPr/>
          <p:nvPr/>
        </p:nvSpPr>
        <p:spPr>
          <a:xfrm>
            <a:off x="320040" y="4847590"/>
            <a:ext cx="4846320" cy="3310128"/>
          </a:xfrm>
          <a:prstGeom prst="roundRect">
            <a:avLst>
              <a:gd name="adj" fmla="val 2762"/>
            </a:avLst>
          </a:prstGeom>
          <a:solidFill>
            <a:srgbClr val="DFF1FB"/>
          </a:solidFill>
          <a:ln/>
        </p:spPr>
      </p:sp>
      <p:sp>
        <p:nvSpPr>
          <p:cNvPr id="26" name="Shape 24"/>
          <p:cNvSpPr/>
          <p:nvPr/>
        </p:nvSpPr>
        <p:spPr>
          <a:xfrm>
            <a:off x="320040" y="4847590"/>
            <a:ext cx="4846320" cy="402336"/>
          </a:xfrm>
          <a:prstGeom prst="roundRect">
            <a:avLst>
              <a:gd name="adj" fmla="val 22727"/>
            </a:avLst>
          </a:prstGeom>
          <a:solidFill>
            <a:srgbClr val="0369A1"/>
          </a:solidFill>
          <a:ln/>
        </p:spPr>
      </p:sp>
      <p:sp>
        <p:nvSpPr>
          <p:cNvPr id="27" name="Text 25"/>
          <p:cNvSpPr txBox="1"/>
          <p:nvPr/>
        </p:nvSpPr>
        <p:spPr>
          <a:xfrm>
            <a:off x="411480" y="4847590"/>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置き場所　サーバー室・クラウド</a:t>
            </a:r>
            <a:endParaRPr lang="en-US" sz="1600" dirty="0"/>
          </a:p>
        </p:txBody>
      </p:sp>
      <p:sp>
        <p:nvSpPr>
          <p:cNvPr id="28" name="Shape 26"/>
          <p:cNvSpPr/>
          <p:nvPr/>
        </p:nvSpPr>
        <p:spPr>
          <a:xfrm>
            <a:off x="457200" y="5341366"/>
            <a:ext cx="1733296" cy="384048"/>
          </a:xfrm>
          <a:prstGeom prst="roundRect">
            <a:avLst>
              <a:gd name="adj" fmla="val 28571"/>
            </a:avLst>
          </a:prstGeom>
          <a:solidFill>
            <a:srgbClr val="FFFFFF"/>
          </a:solidFill>
          <a:ln w="15875">
            <a:solidFill>
              <a:srgbClr val="0369A1"/>
            </a:solidFill>
            <a:prstDash val="solid"/>
          </a:ln>
        </p:spPr>
      </p:sp>
      <p:sp>
        <p:nvSpPr>
          <p:cNvPr id="29" name="Text 27"/>
          <p:cNvSpPr txBox="1"/>
          <p:nvPr/>
        </p:nvSpPr>
        <p:spPr>
          <a:xfrm>
            <a:off x="548640" y="5341366"/>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データセンター</a:t>
            </a:r>
            <a:endParaRPr lang="en-US" sz="1600" dirty="0"/>
          </a:p>
        </p:txBody>
      </p:sp>
      <p:sp>
        <p:nvSpPr>
          <p:cNvPr id="30" name="Shape 28"/>
          <p:cNvSpPr/>
          <p:nvPr/>
        </p:nvSpPr>
        <p:spPr>
          <a:xfrm>
            <a:off x="2281936" y="5341366"/>
            <a:ext cx="2546096" cy="384048"/>
          </a:xfrm>
          <a:prstGeom prst="roundRect">
            <a:avLst>
              <a:gd name="adj" fmla="val 28571"/>
            </a:avLst>
          </a:prstGeom>
          <a:solidFill>
            <a:srgbClr val="FFFFFF"/>
          </a:solidFill>
          <a:ln w="15875">
            <a:solidFill>
              <a:srgbClr val="0369A1"/>
            </a:solidFill>
            <a:prstDash val="solid"/>
          </a:ln>
        </p:spPr>
      </p:sp>
      <p:sp>
        <p:nvSpPr>
          <p:cNvPr id="31" name="Text 29"/>
          <p:cNvSpPr txBox="1"/>
          <p:nvPr/>
        </p:nvSpPr>
        <p:spPr>
          <a:xfrm>
            <a:off x="2373376" y="5341366"/>
            <a:ext cx="2363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オブジェクトストレージ</a:t>
            </a:r>
            <a:endParaRPr lang="en-US" sz="1600" dirty="0"/>
          </a:p>
        </p:txBody>
      </p:sp>
      <p:sp>
        <p:nvSpPr>
          <p:cNvPr id="32" name="Shape 30"/>
          <p:cNvSpPr/>
          <p:nvPr/>
        </p:nvSpPr>
        <p:spPr>
          <a:xfrm>
            <a:off x="457200" y="5798566"/>
            <a:ext cx="1381760" cy="384048"/>
          </a:xfrm>
          <a:prstGeom prst="roundRect">
            <a:avLst>
              <a:gd name="adj" fmla="val 28571"/>
            </a:avLst>
          </a:prstGeom>
          <a:solidFill>
            <a:srgbClr val="FFFFFF"/>
          </a:solidFill>
          <a:ln w="15875">
            <a:solidFill>
              <a:srgbClr val="0369A1"/>
            </a:solidFill>
            <a:prstDash val="solid"/>
          </a:ln>
        </p:spPr>
      </p:sp>
      <p:sp>
        <p:nvSpPr>
          <p:cNvPr id="33" name="Text 31"/>
          <p:cNvSpPr txBox="1"/>
          <p:nvPr/>
        </p:nvSpPr>
        <p:spPr>
          <a:xfrm>
            <a:off x="548640" y="5798566"/>
            <a:ext cx="119888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Amazon S3</a:t>
            </a:r>
            <a:endParaRPr lang="en-US" sz="1600" dirty="0"/>
          </a:p>
        </p:txBody>
      </p:sp>
      <p:sp>
        <p:nvSpPr>
          <p:cNvPr id="34" name="Shape 32"/>
          <p:cNvSpPr/>
          <p:nvPr/>
        </p:nvSpPr>
        <p:spPr>
          <a:xfrm>
            <a:off x="1930400" y="5798566"/>
            <a:ext cx="1144016" cy="384048"/>
          </a:xfrm>
          <a:prstGeom prst="roundRect">
            <a:avLst>
              <a:gd name="adj" fmla="val 28571"/>
            </a:avLst>
          </a:prstGeom>
          <a:solidFill>
            <a:srgbClr val="FFFFFF"/>
          </a:solidFill>
          <a:ln w="15875">
            <a:solidFill>
              <a:srgbClr val="0369A1"/>
            </a:solidFill>
            <a:prstDash val="solid"/>
          </a:ln>
        </p:spPr>
      </p:sp>
      <p:sp>
        <p:nvSpPr>
          <p:cNvPr id="35" name="Text 33"/>
          <p:cNvSpPr txBox="1"/>
          <p:nvPr/>
        </p:nvSpPr>
        <p:spPr>
          <a:xfrm>
            <a:off x="2021840" y="5798566"/>
            <a:ext cx="9611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AWSのDB</a:t>
            </a:r>
            <a:endParaRPr lang="en-US" sz="1600" dirty="0"/>
          </a:p>
        </p:txBody>
      </p:sp>
      <p:sp>
        <p:nvSpPr>
          <p:cNvPr id="36" name="Shape 34"/>
          <p:cNvSpPr/>
          <p:nvPr/>
        </p:nvSpPr>
        <p:spPr>
          <a:xfrm>
            <a:off x="457200" y="6255766"/>
            <a:ext cx="2342896" cy="384048"/>
          </a:xfrm>
          <a:prstGeom prst="roundRect">
            <a:avLst>
              <a:gd name="adj" fmla="val 28571"/>
            </a:avLst>
          </a:prstGeom>
          <a:solidFill>
            <a:srgbClr val="FFFFFF"/>
          </a:solidFill>
          <a:ln w="15875">
            <a:solidFill>
              <a:srgbClr val="0369A1"/>
            </a:solidFill>
            <a:prstDash val="solid"/>
          </a:ln>
        </p:spPr>
      </p:sp>
      <p:sp>
        <p:nvSpPr>
          <p:cNvPr id="37" name="Text 35"/>
          <p:cNvSpPr txBox="1"/>
          <p:nvPr/>
        </p:nvSpPr>
        <p:spPr>
          <a:xfrm>
            <a:off x="548640" y="6255766"/>
            <a:ext cx="2160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38" name="Shape 36"/>
          <p:cNvSpPr/>
          <p:nvPr/>
        </p:nvSpPr>
        <p:spPr>
          <a:xfrm>
            <a:off x="2891536" y="6255766"/>
            <a:ext cx="1123696" cy="384048"/>
          </a:xfrm>
          <a:prstGeom prst="roundRect">
            <a:avLst>
              <a:gd name="adj" fmla="val 28571"/>
            </a:avLst>
          </a:prstGeom>
          <a:solidFill>
            <a:srgbClr val="FFFFFF"/>
          </a:solidFill>
          <a:ln w="15875">
            <a:solidFill>
              <a:srgbClr val="0369A1"/>
            </a:solidFill>
            <a:prstDash val="solid"/>
          </a:ln>
        </p:spPr>
      </p:sp>
      <p:sp>
        <p:nvSpPr>
          <p:cNvPr id="39" name="Text 37"/>
          <p:cNvSpPr txBox="1"/>
          <p:nvPr/>
        </p:nvSpPr>
        <p:spPr>
          <a:xfrm>
            <a:off x="2982976" y="6255766"/>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a:t>
            </a:r>
            <a:endParaRPr lang="en-US" sz="1600" dirty="0"/>
          </a:p>
        </p:txBody>
      </p:sp>
      <p:sp>
        <p:nvSpPr>
          <p:cNvPr id="40" name="Shape 38"/>
          <p:cNvSpPr/>
          <p:nvPr/>
        </p:nvSpPr>
        <p:spPr>
          <a:xfrm>
            <a:off x="457200" y="6712966"/>
            <a:ext cx="2139696" cy="384048"/>
          </a:xfrm>
          <a:prstGeom prst="roundRect">
            <a:avLst>
              <a:gd name="adj" fmla="val 28571"/>
            </a:avLst>
          </a:prstGeom>
          <a:solidFill>
            <a:srgbClr val="FFFFFF"/>
          </a:solidFill>
          <a:ln w="15875">
            <a:solidFill>
              <a:srgbClr val="0369A1"/>
            </a:solidFill>
            <a:prstDash val="solid"/>
          </a:ln>
        </p:spPr>
      </p:sp>
      <p:sp>
        <p:nvSpPr>
          <p:cNvPr id="41" name="Text 39"/>
          <p:cNvSpPr txBox="1"/>
          <p:nvPr/>
        </p:nvSpPr>
        <p:spPr>
          <a:xfrm>
            <a:off x="548640" y="6712966"/>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パブリッククラウド</a:t>
            </a:r>
            <a:endParaRPr lang="en-US" sz="1600" dirty="0"/>
          </a:p>
        </p:txBody>
      </p:sp>
      <p:sp>
        <p:nvSpPr>
          <p:cNvPr id="42" name="Shape 40"/>
          <p:cNvSpPr/>
          <p:nvPr/>
        </p:nvSpPr>
        <p:spPr>
          <a:xfrm>
            <a:off x="2688336" y="6712966"/>
            <a:ext cx="688848" cy="384048"/>
          </a:xfrm>
          <a:prstGeom prst="roundRect">
            <a:avLst>
              <a:gd name="adj" fmla="val 28571"/>
            </a:avLst>
          </a:prstGeom>
          <a:solidFill>
            <a:srgbClr val="FFFFFF"/>
          </a:solidFill>
          <a:ln w="15875">
            <a:solidFill>
              <a:srgbClr val="0369A1"/>
            </a:solidFill>
            <a:prstDash val="solid"/>
          </a:ln>
        </p:spPr>
      </p:sp>
      <p:sp>
        <p:nvSpPr>
          <p:cNvPr id="43" name="Text 41"/>
          <p:cNvSpPr txBox="1"/>
          <p:nvPr/>
        </p:nvSpPr>
        <p:spPr>
          <a:xfrm>
            <a:off x="2779776" y="671296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a:t>
            </a:r>
            <a:endParaRPr lang="en-US" sz="1600" dirty="0"/>
          </a:p>
        </p:txBody>
      </p:sp>
      <p:sp>
        <p:nvSpPr>
          <p:cNvPr id="44" name="Shape 42"/>
          <p:cNvSpPr/>
          <p:nvPr/>
        </p:nvSpPr>
        <p:spPr>
          <a:xfrm>
            <a:off x="3468624" y="6712966"/>
            <a:ext cx="892048" cy="384048"/>
          </a:xfrm>
          <a:prstGeom prst="roundRect">
            <a:avLst>
              <a:gd name="adj" fmla="val 28571"/>
            </a:avLst>
          </a:prstGeom>
          <a:solidFill>
            <a:srgbClr val="FFFFFF"/>
          </a:solidFill>
          <a:ln w="15875">
            <a:solidFill>
              <a:srgbClr val="0369A1"/>
            </a:solidFill>
            <a:prstDash val="solid"/>
          </a:ln>
        </p:spPr>
      </p:sp>
      <p:sp>
        <p:nvSpPr>
          <p:cNvPr id="45" name="Text 43"/>
          <p:cNvSpPr txBox="1"/>
          <p:nvPr/>
        </p:nvSpPr>
        <p:spPr>
          <a:xfrm>
            <a:off x="3560064" y="6712966"/>
            <a:ext cx="7091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Azure</a:t>
            </a:r>
            <a:endParaRPr lang="en-US" sz="1600" dirty="0"/>
          </a:p>
        </p:txBody>
      </p:sp>
      <p:sp>
        <p:nvSpPr>
          <p:cNvPr id="46" name="Shape 44"/>
          <p:cNvSpPr/>
          <p:nvPr/>
        </p:nvSpPr>
        <p:spPr>
          <a:xfrm>
            <a:off x="457200" y="7170166"/>
            <a:ext cx="1546352" cy="384048"/>
          </a:xfrm>
          <a:prstGeom prst="roundRect">
            <a:avLst>
              <a:gd name="adj" fmla="val 28571"/>
            </a:avLst>
          </a:prstGeom>
          <a:solidFill>
            <a:srgbClr val="FFFFFF"/>
          </a:solidFill>
          <a:ln w="15875">
            <a:solidFill>
              <a:srgbClr val="0369A1"/>
            </a:solidFill>
            <a:prstDash val="solid"/>
          </a:ln>
        </p:spPr>
      </p:sp>
      <p:sp>
        <p:nvSpPr>
          <p:cNvPr id="47" name="Text 45"/>
          <p:cNvSpPr txBox="1"/>
          <p:nvPr/>
        </p:nvSpPr>
        <p:spPr>
          <a:xfrm>
            <a:off x="548640" y="7170166"/>
            <a:ext cx="13634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Google Cloud</a:t>
            </a:r>
            <a:endParaRPr lang="en-US" sz="1600" dirty="0"/>
          </a:p>
        </p:txBody>
      </p:sp>
      <p:sp>
        <p:nvSpPr>
          <p:cNvPr id="48" name="Shape 46"/>
          <p:cNvSpPr/>
          <p:nvPr/>
        </p:nvSpPr>
        <p:spPr>
          <a:xfrm>
            <a:off x="2094992" y="7170166"/>
            <a:ext cx="2342896" cy="384048"/>
          </a:xfrm>
          <a:prstGeom prst="roundRect">
            <a:avLst>
              <a:gd name="adj" fmla="val 28571"/>
            </a:avLst>
          </a:prstGeom>
          <a:solidFill>
            <a:srgbClr val="FFFFFF"/>
          </a:solidFill>
          <a:ln w="15875">
            <a:solidFill>
              <a:srgbClr val="0369A1"/>
            </a:solidFill>
            <a:prstDash val="solid"/>
          </a:ln>
        </p:spPr>
      </p:sp>
      <p:sp>
        <p:nvSpPr>
          <p:cNvPr id="49" name="Text 47"/>
          <p:cNvSpPr txBox="1"/>
          <p:nvPr/>
        </p:nvSpPr>
        <p:spPr>
          <a:xfrm>
            <a:off x="2186432" y="7170166"/>
            <a:ext cx="2160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クラウド仮想サーバー</a:t>
            </a:r>
            <a:endParaRPr lang="en-US" sz="1600" dirty="0"/>
          </a:p>
        </p:txBody>
      </p:sp>
      <p:sp>
        <p:nvSpPr>
          <p:cNvPr id="50" name="Shape 48"/>
          <p:cNvSpPr/>
          <p:nvPr/>
        </p:nvSpPr>
        <p:spPr>
          <a:xfrm>
            <a:off x="457200" y="7627366"/>
            <a:ext cx="2139696" cy="384048"/>
          </a:xfrm>
          <a:prstGeom prst="roundRect">
            <a:avLst>
              <a:gd name="adj" fmla="val 28571"/>
            </a:avLst>
          </a:prstGeom>
          <a:solidFill>
            <a:srgbClr val="FFFFFF"/>
          </a:solidFill>
          <a:ln w="15875">
            <a:solidFill>
              <a:srgbClr val="0369A1"/>
            </a:solidFill>
            <a:prstDash val="solid"/>
          </a:ln>
        </p:spPr>
      </p:sp>
      <p:sp>
        <p:nvSpPr>
          <p:cNvPr id="51" name="Text 49"/>
          <p:cNvSpPr txBox="1"/>
          <p:nvPr/>
        </p:nvSpPr>
        <p:spPr>
          <a:xfrm>
            <a:off x="548640" y="7627366"/>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クラウドストレージ</a:t>
            </a:r>
            <a:endParaRPr lang="en-US" sz="1600" dirty="0"/>
          </a:p>
        </p:txBody>
      </p:sp>
      <p:sp>
        <p:nvSpPr>
          <p:cNvPr id="52" name="Shape 50"/>
          <p:cNvSpPr/>
          <p:nvPr/>
        </p:nvSpPr>
        <p:spPr>
          <a:xfrm>
            <a:off x="2688336" y="7627366"/>
            <a:ext cx="2139696" cy="384048"/>
          </a:xfrm>
          <a:prstGeom prst="roundRect">
            <a:avLst>
              <a:gd name="adj" fmla="val 28571"/>
            </a:avLst>
          </a:prstGeom>
          <a:solidFill>
            <a:srgbClr val="FFFFFF"/>
          </a:solidFill>
          <a:ln w="15875">
            <a:solidFill>
              <a:srgbClr val="0369A1"/>
            </a:solidFill>
            <a:prstDash val="solid"/>
          </a:ln>
        </p:spPr>
      </p:sp>
      <p:sp>
        <p:nvSpPr>
          <p:cNvPr id="53" name="Text 51"/>
          <p:cNvSpPr txBox="1"/>
          <p:nvPr/>
        </p:nvSpPr>
        <p:spPr>
          <a:xfrm>
            <a:off x="2779776" y="7627366"/>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マネージドサービス</a:t>
            </a:r>
            <a:endParaRPr lang="en-US" sz="1600" dirty="0"/>
          </a:p>
        </p:txBody>
      </p:sp>
      <p:sp>
        <p:nvSpPr>
          <p:cNvPr id="54" name="Text 5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397</a:t>
            </a:fld>
            <a:endParaRPr lang="en-US"/>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name="Slide 3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用語の層別さくいん（3）</a:t>
            </a:r>
            <a:endParaRPr lang="ja-JP" sz="2200" dirty="0"/>
          </a:p>
        </p:txBody>
      </p:sp>
      <p:sp>
        <p:nvSpPr>
          <p:cNvPr id="4" name="Shape 2"/>
          <p:cNvSpPr/>
          <p:nvPr/>
        </p:nvSpPr>
        <p:spPr>
          <a:xfrm>
            <a:off x="320040" y="1318514"/>
            <a:ext cx="4846320" cy="2852928"/>
          </a:xfrm>
          <a:prstGeom prst="roundRect">
            <a:avLst>
              <a:gd name="adj" fmla="val 3205"/>
            </a:avLst>
          </a:prstGeom>
          <a:solidFill>
            <a:srgbClr val="FCE4EE"/>
          </a:solidFill>
          <a:ln/>
        </p:spPr>
      </p:sp>
      <p:sp>
        <p:nvSpPr>
          <p:cNvPr id="5" name="Shape 3"/>
          <p:cNvSpPr/>
          <p:nvPr/>
        </p:nvSpPr>
        <p:spPr>
          <a:xfrm>
            <a:off x="320040" y="1318514"/>
            <a:ext cx="4846320" cy="402336"/>
          </a:xfrm>
          <a:prstGeom prst="roundRect">
            <a:avLst>
              <a:gd name="adj" fmla="val 22727"/>
            </a:avLst>
          </a:prstGeom>
          <a:solidFill>
            <a:srgbClr val="A21C5B"/>
          </a:solidFill>
          <a:ln/>
        </p:spPr>
      </p:sp>
      <p:sp>
        <p:nvSpPr>
          <p:cNvPr id="6" name="Text 4"/>
          <p:cNvSpPr txBox="1"/>
          <p:nvPr/>
        </p:nvSpPr>
        <p:spPr>
          <a:xfrm>
            <a:off x="411480" y="1318514"/>
            <a:ext cx="4663440" cy="40233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活動・資格　技術の層ではなく人の活動</a:t>
            </a:r>
            <a:endParaRPr lang="en-US" sz="1600" dirty="0"/>
          </a:p>
        </p:txBody>
      </p:sp>
      <p:sp>
        <p:nvSpPr>
          <p:cNvPr id="7" name="Shape 5"/>
          <p:cNvSpPr/>
          <p:nvPr/>
        </p:nvSpPr>
        <p:spPr>
          <a:xfrm>
            <a:off x="457200" y="1812290"/>
            <a:ext cx="2139696" cy="384048"/>
          </a:xfrm>
          <a:prstGeom prst="roundRect">
            <a:avLst>
              <a:gd name="adj" fmla="val 28571"/>
            </a:avLst>
          </a:prstGeom>
          <a:solidFill>
            <a:srgbClr val="FFFFFF"/>
          </a:solidFill>
          <a:ln w="15875">
            <a:solidFill>
              <a:srgbClr val="A21C5B"/>
            </a:solidFill>
            <a:prstDash val="solid"/>
          </a:ln>
        </p:spPr>
      </p:sp>
      <p:sp>
        <p:nvSpPr>
          <p:cNvPr id="8" name="Text 6"/>
          <p:cNvSpPr txBox="1"/>
          <p:nvPr/>
        </p:nvSpPr>
        <p:spPr>
          <a:xfrm>
            <a:off x="548640" y="1812290"/>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プレゼンテーション</a:t>
            </a:r>
            <a:endParaRPr lang="en-US" sz="1600" dirty="0"/>
          </a:p>
        </p:txBody>
      </p:sp>
      <p:sp>
        <p:nvSpPr>
          <p:cNvPr id="9" name="Shape 7"/>
          <p:cNvSpPr/>
          <p:nvPr/>
        </p:nvSpPr>
        <p:spPr>
          <a:xfrm>
            <a:off x="2688336" y="1812290"/>
            <a:ext cx="1326896" cy="384048"/>
          </a:xfrm>
          <a:prstGeom prst="roundRect">
            <a:avLst>
              <a:gd name="adj" fmla="val 28571"/>
            </a:avLst>
          </a:prstGeom>
          <a:solidFill>
            <a:srgbClr val="FFFFFF"/>
          </a:solidFill>
          <a:ln w="15875">
            <a:solidFill>
              <a:srgbClr val="A21C5B"/>
            </a:solidFill>
            <a:prstDash val="solid"/>
          </a:ln>
        </p:spPr>
      </p:sp>
      <p:sp>
        <p:nvSpPr>
          <p:cNvPr id="10" name="Text 8"/>
          <p:cNvSpPr txBox="1"/>
          <p:nvPr/>
        </p:nvSpPr>
        <p:spPr>
          <a:xfrm>
            <a:off x="2779776" y="1812290"/>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学内で発表</a:t>
            </a:r>
            <a:endParaRPr lang="en-US" sz="1600" dirty="0"/>
          </a:p>
        </p:txBody>
      </p:sp>
      <p:sp>
        <p:nvSpPr>
          <p:cNvPr id="11" name="Shape 9"/>
          <p:cNvSpPr/>
          <p:nvPr/>
        </p:nvSpPr>
        <p:spPr>
          <a:xfrm>
            <a:off x="457200" y="2269490"/>
            <a:ext cx="1530096" cy="384048"/>
          </a:xfrm>
          <a:prstGeom prst="roundRect">
            <a:avLst>
              <a:gd name="adj" fmla="val 28571"/>
            </a:avLst>
          </a:prstGeom>
          <a:solidFill>
            <a:srgbClr val="FFFFFF"/>
          </a:solidFill>
          <a:ln w="15875">
            <a:solidFill>
              <a:srgbClr val="A21C5B"/>
            </a:solidFill>
            <a:prstDash val="solid"/>
          </a:ln>
        </p:spPr>
      </p:sp>
      <p:sp>
        <p:nvSpPr>
          <p:cNvPr id="12" name="Text 10"/>
          <p:cNvSpPr txBox="1"/>
          <p:nvPr/>
        </p:nvSpPr>
        <p:spPr>
          <a:xfrm>
            <a:off x="548640" y="226949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国内学会発表</a:t>
            </a:r>
            <a:endParaRPr lang="en-US" sz="1600" dirty="0"/>
          </a:p>
        </p:txBody>
      </p:sp>
      <p:sp>
        <p:nvSpPr>
          <p:cNvPr id="13" name="Shape 11"/>
          <p:cNvSpPr/>
          <p:nvPr/>
        </p:nvSpPr>
        <p:spPr>
          <a:xfrm>
            <a:off x="2078736" y="2269490"/>
            <a:ext cx="1530096" cy="384048"/>
          </a:xfrm>
          <a:prstGeom prst="roundRect">
            <a:avLst>
              <a:gd name="adj" fmla="val 28571"/>
            </a:avLst>
          </a:prstGeom>
          <a:solidFill>
            <a:srgbClr val="FFFFFF"/>
          </a:solidFill>
          <a:ln w="15875">
            <a:solidFill>
              <a:srgbClr val="A21C5B"/>
            </a:solidFill>
            <a:prstDash val="solid"/>
          </a:ln>
        </p:spPr>
      </p:sp>
      <p:sp>
        <p:nvSpPr>
          <p:cNvPr id="14" name="Text 12"/>
          <p:cNvSpPr txBox="1"/>
          <p:nvPr/>
        </p:nvSpPr>
        <p:spPr>
          <a:xfrm>
            <a:off x="2170176" y="226949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海外学会発表</a:t>
            </a:r>
            <a:endParaRPr lang="en-US" sz="1600" dirty="0"/>
          </a:p>
        </p:txBody>
      </p:sp>
      <p:sp>
        <p:nvSpPr>
          <p:cNvPr id="15" name="Shape 13"/>
          <p:cNvSpPr/>
          <p:nvPr/>
        </p:nvSpPr>
        <p:spPr>
          <a:xfrm>
            <a:off x="3700272" y="2269490"/>
            <a:ext cx="717296" cy="384048"/>
          </a:xfrm>
          <a:prstGeom prst="roundRect">
            <a:avLst>
              <a:gd name="adj" fmla="val 28571"/>
            </a:avLst>
          </a:prstGeom>
          <a:solidFill>
            <a:srgbClr val="FFFFFF"/>
          </a:solidFill>
          <a:ln w="15875">
            <a:solidFill>
              <a:srgbClr val="A21C5B"/>
            </a:solidFill>
            <a:prstDash val="solid"/>
          </a:ln>
        </p:spPr>
      </p:sp>
      <p:sp>
        <p:nvSpPr>
          <p:cNvPr id="16" name="Text 14"/>
          <p:cNvSpPr txBox="1"/>
          <p:nvPr/>
        </p:nvSpPr>
        <p:spPr>
          <a:xfrm>
            <a:off x="3791712" y="2269490"/>
            <a:ext cx="534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学会</a:t>
            </a:r>
            <a:endParaRPr lang="en-US" sz="1600" dirty="0"/>
          </a:p>
        </p:txBody>
      </p:sp>
      <p:sp>
        <p:nvSpPr>
          <p:cNvPr id="17" name="Shape 15"/>
          <p:cNvSpPr/>
          <p:nvPr/>
        </p:nvSpPr>
        <p:spPr>
          <a:xfrm>
            <a:off x="457200" y="2726690"/>
            <a:ext cx="1123696" cy="384048"/>
          </a:xfrm>
          <a:prstGeom prst="roundRect">
            <a:avLst>
              <a:gd name="adj" fmla="val 28571"/>
            </a:avLst>
          </a:prstGeom>
          <a:solidFill>
            <a:srgbClr val="FFFFFF"/>
          </a:solidFill>
          <a:ln w="15875">
            <a:solidFill>
              <a:srgbClr val="A21C5B"/>
            </a:solidFill>
            <a:prstDash val="solid"/>
          </a:ln>
        </p:spPr>
      </p:sp>
      <p:sp>
        <p:nvSpPr>
          <p:cNvPr id="18" name="Text 16"/>
          <p:cNvSpPr txBox="1"/>
          <p:nvPr/>
        </p:nvSpPr>
        <p:spPr>
          <a:xfrm>
            <a:off x="548640" y="2726690"/>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口頭発表</a:t>
            </a:r>
            <a:endParaRPr lang="en-US" sz="1600" dirty="0"/>
          </a:p>
        </p:txBody>
      </p:sp>
      <p:sp>
        <p:nvSpPr>
          <p:cNvPr id="19" name="Shape 17"/>
          <p:cNvSpPr/>
          <p:nvPr/>
        </p:nvSpPr>
        <p:spPr>
          <a:xfrm>
            <a:off x="1672336" y="2726690"/>
            <a:ext cx="1530096" cy="384048"/>
          </a:xfrm>
          <a:prstGeom prst="roundRect">
            <a:avLst>
              <a:gd name="adj" fmla="val 28571"/>
            </a:avLst>
          </a:prstGeom>
          <a:solidFill>
            <a:srgbClr val="FFFFFF"/>
          </a:solidFill>
          <a:ln w="15875">
            <a:solidFill>
              <a:srgbClr val="A21C5B"/>
            </a:solidFill>
            <a:prstDash val="solid"/>
          </a:ln>
        </p:spPr>
      </p:sp>
      <p:sp>
        <p:nvSpPr>
          <p:cNvPr id="20" name="Text 18"/>
          <p:cNvSpPr txBox="1"/>
          <p:nvPr/>
        </p:nvSpPr>
        <p:spPr>
          <a:xfrm>
            <a:off x="1763776" y="272669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ポスター発表</a:t>
            </a:r>
            <a:endParaRPr lang="en-US" sz="1600" dirty="0"/>
          </a:p>
        </p:txBody>
      </p:sp>
      <p:sp>
        <p:nvSpPr>
          <p:cNvPr id="21" name="Shape 19"/>
          <p:cNvSpPr/>
          <p:nvPr/>
        </p:nvSpPr>
        <p:spPr>
          <a:xfrm>
            <a:off x="3293872" y="2726690"/>
            <a:ext cx="1578864" cy="384048"/>
          </a:xfrm>
          <a:prstGeom prst="roundRect">
            <a:avLst>
              <a:gd name="adj" fmla="val 28571"/>
            </a:avLst>
          </a:prstGeom>
          <a:solidFill>
            <a:srgbClr val="FFFFFF"/>
          </a:solidFill>
          <a:ln w="15875">
            <a:solidFill>
              <a:srgbClr val="A21C5B"/>
            </a:solidFill>
            <a:prstDash val="solid"/>
          </a:ln>
        </p:spPr>
      </p:sp>
      <p:sp>
        <p:nvSpPr>
          <p:cNvPr id="22" name="Text 20"/>
          <p:cNvSpPr txBox="1"/>
          <p:nvPr/>
        </p:nvSpPr>
        <p:spPr>
          <a:xfrm>
            <a:off x="3385312" y="2726690"/>
            <a:ext cx="1395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ITパスポート</a:t>
            </a:r>
            <a:endParaRPr lang="en-US" sz="1600" dirty="0"/>
          </a:p>
        </p:txBody>
      </p:sp>
      <p:sp>
        <p:nvSpPr>
          <p:cNvPr id="23" name="Shape 21"/>
          <p:cNvSpPr/>
          <p:nvPr/>
        </p:nvSpPr>
        <p:spPr>
          <a:xfrm>
            <a:off x="457200" y="3183890"/>
            <a:ext cx="1123696" cy="384048"/>
          </a:xfrm>
          <a:prstGeom prst="roundRect">
            <a:avLst>
              <a:gd name="adj" fmla="val 28571"/>
            </a:avLst>
          </a:prstGeom>
          <a:solidFill>
            <a:srgbClr val="FFFFFF"/>
          </a:solidFill>
          <a:ln w="15875">
            <a:solidFill>
              <a:srgbClr val="A21C5B"/>
            </a:solidFill>
            <a:prstDash val="solid"/>
          </a:ln>
        </p:spPr>
      </p:sp>
      <p:sp>
        <p:nvSpPr>
          <p:cNvPr id="24" name="Text 22"/>
          <p:cNvSpPr txBox="1"/>
          <p:nvPr/>
        </p:nvSpPr>
        <p:spPr>
          <a:xfrm>
            <a:off x="548640" y="3183890"/>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基本情報</a:t>
            </a:r>
            <a:endParaRPr lang="en-US" sz="1600" dirty="0"/>
          </a:p>
        </p:txBody>
      </p:sp>
      <p:sp>
        <p:nvSpPr>
          <p:cNvPr id="25" name="Shape 23"/>
          <p:cNvSpPr/>
          <p:nvPr/>
        </p:nvSpPr>
        <p:spPr>
          <a:xfrm>
            <a:off x="1672336" y="3183890"/>
            <a:ext cx="1123696" cy="384048"/>
          </a:xfrm>
          <a:prstGeom prst="roundRect">
            <a:avLst>
              <a:gd name="adj" fmla="val 28571"/>
            </a:avLst>
          </a:prstGeom>
          <a:solidFill>
            <a:srgbClr val="FFFFFF"/>
          </a:solidFill>
          <a:ln w="15875">
            <a:solidFill>
              <a:srgbClr val="A21C5B"/>
            </a:solidFill>
            <a:prstDash val="solid"/>
          </a:ln>
        </p:spPr>
      </p:sp>
      <p:sp>
        <p:nvSpPr>
          <p:cNvPr id="26" name="Text 24"/>
          <p:cNvSpPr txBox="1"/>
          <p:nvPr/>
        </p:nvSpPr>
        <p:spPr>
          <a:xfrm>
            <a:off x="1763776" y="3183890"/>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応用情報</a:t>
            </a:r>
            <a:endParaRPr lang="en-US" sz="1600" dirty="0"/>
          </a:p>
        </p:txBody>
      </p:sp>
      <p:sp>
        <p:nvSpPr>
          <p:cNvPr id="27" name="Shape 25"/>
          <p:cNvSpPr/>
          <p:nvPr/>
        </p:nvSpPr>
        <p:spPr>
          <a:xfrm>
            <a:off x="2887472" y="3183890"/>
            <a:ext cx="688848" cy="384048"/>
          </a:xfrm>
          <a:prstGeom prst="roundRect">
            <a:avLst>
              <a:gd name="adj" fmla="val 28571"/>
            </a:avLst>
          </a:prstGeom>
          <a:solidFill>
            <a:srgbClr val="FFFFFF"/>
          </a:solidFill>
          <a:ln w="15875">
            <a:solidFill>
              <a:srgbClr val="A21C5B"/>
            </a:solidFill>
            <a:prstDash val="solid"/>
          </a:ln>
        </p:spPr>
      </p:sp>
      <p:sp>
        <p:nvSpPr>
          <p:cNvPr id="28" name="Text 26"/>
          <p:cNvSpPr txBox="1"/>
          <p:nvPr/>
        </p:nvSpPr>
        <p:spPr>
          <a:xfrm>
            <a:off x="2978912" y="3183890"/>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MOS</a:t>
            </a:r>
            <a:endParaRPr lang="en-US" sz="1600" dirty="0"/>
          </a:p>
        </p:txBody>
      </p:sp>
      <p:sp>
        <p:nvSpPr>
          <p:cNvPr id="29" name="Shape 27"/>
          <p:cNvSpPr/>
          <p:nvPr/>
        </p:nvSpPr>
        <p:spPr>
          <a:xfrm>
            <a:off x="457200" y="3641090"/>
            <a:ext cx="1530096" cy="384048"/>
          </a:xfrm>
          <a:prstGeom prst="roundRect">
            <a:avLst>
              <a:gd name="adj" fmla="val 28571"/>
            </a:avLst>
          </a:prstGeom>
          <a:solidFill>
            <a:srgbClr val="FFFFFF"/>
          </a:solidFill>
          <a:ln w="15875">
            <a:solidFill>
              <a:srgbClr val="A21C5B"/>
            </a:solidFill>
            <a:prstDash val="solid"/>
          </a:ln>
        </p:spPr>
      </p:sp>
      <p:sp>
        <p:nvSpPr>
          <p:cNvPr id="30" name="Text 28"/>
          <p:cNvSpPr txBox="1"/>
          <p:nvPr/>
        </p:nvSpPr>
        <p:spPr>
          <a:xfrm>
            <a:off x="548640" y="364109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リモート就業</a:t>
            </a:r>
            <a:endParaRPr lang="en-US" sz="1600" dirty="0"/>
          </a:p>
        </p:txBody>
      </p:sp>
      <p:sp>
        <p:nvSpPr>
          <p:cNvPr id="31" name="Text 2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398</a:t>
            </a:fld>
            <a:endParaRPr lang="en-US"/>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name="Slide 3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88036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確認できたこと・できていないこと</a:t>
            </a:r>
            <a:endParaRPr lang="ja-JP" sz="2600" dirty="0"/>
          </a:p>
        </p:txBody>
      </p:sp>
      <p:sp>
        <p:nvSpPr>
          <p:cNvPr id="5" name="Text 3"/>
          <p:cNvSpPr txBox="1"/>
          <p:nvPr/>
        </p:nvSpPr>
        <p:spPr>
          <a:xfrm>
            <a:off x="320040" y="2050796"/>
            <a:ext cx="4846320" cy="950976"/>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この資料の情報の確かさを整理します。たとえ話や図は編集者の解説で、公式の説明ではありません。</a:t>
            </a:r>
            <a:endParaRPr lang="en-US" sz="1800" dirty="0"/>
          </a:p>
        </p:txBody>
      </p:sp>
      <p:sp>
        <p:nvSpPr>
          <p:cNvPr id="6" name="Shape 4"/>
          <p:cNvSpPr/>
          <p:nvPr/>
        </p:nvSpPr>
        <p:spPr>
          <a:xfrm>
            <a:off x="320040" y="3230372"/>
            <a:ext cx="4846320" cy="2782824"/>
          </a:xfrm>
          <a:prstGeom prst="roundRect">
            <a:avLst>
              <a:gd name="adj" fmla="val 4600"/>
            </a:avLst>
          </a:prstGeom>
          <a:solidFill>
            <a:srgbClr val="DDF1E4"/>
          </a:solidFill>
          <a:ln/>
        </p:spPr>
      </p:sp>
      <p:sp>
        <p:nvSpPr>
          <p:cNvPr id="7" name="Shape 5"/>
          <p:cNvSpPr/>
          <p:nvPr/>
        </p:nvSpPr>
        <p:spPr>
          <a:xfrm>
            <a:off x="502920" y="3376676"/>
            <a:ext cx="566928" cy="566928"/>
          </a:xfrm>
          <a:prstGeom prst="ellipse">
            <a:avLst/>
          </a:prstGeom>
          <a:solidFill>
            <a:srgbClr val="237A48"/>
          </a:solidFill>
          <a:ln/>
        </p:spPr>
      </p:sp>
      <p:pic>
        <p:nvPicPr>
          <p:cNvPr id="8" name="Image 0" descr="preencoded.png">    </p:cNvPr>
          <p:cNvPicPr>
            <a:picLocks noChangeAspect="1"/>
          </p:cNvPicPr>
          <p:nvPr/>
        </p:nvPicPr>
        <p:blipFill>
          <a:blip r:embed="rId1"/>
          <a:stretch>
            <a:fillRect/>
          </a:stretch>
        </p:blipFill>
        <p:spPr>
          <a:xfrm>
            <a:off x="627644" y="3501400"/>
            <a:ext cx="317480" cy="317480"/>
          </a:xfrm>
          <a:prstGeom prst="rect">
            <a:avLst/>
          </a:prstGeom>
        </p:spPr>
      </p:pic>
      <p:sp>
        <p:nvSpPr>
          <p:cNvPr id="9" name="Text 6"/>
          <p:cNvSpPr txBox="1"/>
          <p:nvPr/>
        </p:nvSpPr>
        <p:spPr>
          <a:xfrm>
            <a:off x="1188720" y="3376676"/>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確認できたこと</a:t>
            </a:r>
            <a:endParaRPr lang="en-US" sz="2200" dirty="0"/>
          </a:p>
        </p:txBody>
      </p:sp>
      <p:sp>
        <p:nvSpPr>
          <p:cNvPr id="10" name="Text 7"/>
          <p:cNvSpPr txBox="1"/>
          <p:nvPr/>
        </p:nvSpPr>
        <p:spPr>
          <a:xfrm>
            <a:off x="502920" y="4035044"/>
            <a:ext cx="4480560" cy="190500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貼り付けた用語の意味・用途・学び方</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公式資料での概要（PostgreSQL・Docker・Kubernetes・S3）</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IPA試験のレベルの区分</a:t>
            </a:r>
            <a:endParaRPr lang="en-US" sz="2000" dirty="0"/>
          </a:p>
        </p:txBody>
      </p:sp>
      <p:sp>
        <p:nvSpPr>
          <p:cNvPr id="11" name="Shape 8"/>
          <p:cNvSpPr/>
          <p:nvPr/>
        </p:nvSpPr>
        <p:spPr>
          <a:xfrm>
            <a:off x="320040" y="6196076"/>
            <a:ext cx="4846320" cy="2782824"/>
          </a:xfrm>
          <a:prstGeom prst="roundRect">
            <a:avLst>
              <a:gd name="adj" fmla="val 4600"/>
            </a:avLst>
          </a:prstGeom>
          <a:solidFill>
            <a:srgbClr val="FBE3E0"/>
          </a:solidFill>
          <a:ln/>
        </p:spPr>
      </p:sp>
      <p:sp>
        <p:nvSpPr>
          <p:cNvPr id="12" name="Shape 9"/>
          <p:cNvSpPr/>
          <p:nvPr/>
        </p:nvSpPr>
        <p:spPr>
          <a:xfrm>
            <a:off x="502920" y="6342380"/>
            <a:ext cx="566928" cy="566928"/>
          </a:xfrm>
          <a:prstGeom prst="ellipse">
            <a:avLst/>
          </a:prstGeom>
          <a:solidFill>
            <a:srgbClr val="C0392B"/>
          </a:solidFill>
          <a:ln/>
        </p:spPr>
      </p:sp>
      <p:pic>
        <p:nvPicPr>
          <p:cNvPr id="13" name="Image 1" descr="preencoded.png">    </p:cNvPr>
          <p:cNvPicPr>
            <a:picLocks noChangeAspect="1"/>
          </p:cNvPicPr>
          <p:nvPr/>
        </p:nvPicPr>
        <p:blipFill>
          <a:blip r:embed="rId2"/>
          <a:stretch>
            <a:fillRect/>
          </a:stretch>
        </p:blipFill>
        <p:spPr>
          <a:xfrm>
            <a:off x="627644" y="6467104"/>
            <a:ext cx="317480" cy="317480"/>
          </a:xfrm>
          <a:prstGeom prst="rect">
            <a:avLst/>
          </a:prstGeom>
        </p:spPr>
      </p:pic>
      <p:sp>
        <p:nvSpPr>
          <p:cNvPr id="14" name="Text 10"/>
          <p:cNvSpPr txBox="1"/>
          <p:nvPr/>
        </p:nvSpPr>
        <p:spPr>
          <a:xfrm>
            <a:off x="1188720" y="6342380"/>
            <a:ext cx="3794760"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C0392B"/>
                </a:solidFill>
                <a:latin typeface="Yu Gothic" pitchFamily="34" charset="0"/>
                <a:ea typeface="Yu Gothic" pitchFamily="34" charset="-122"/>
                <a:cs typeface="Yu Gothic" pitchFamily="34" charset="-120"/>
              </a:rPr>
              <a:t>確認できていないこと</a:t>
            </a:r>
            <a:endParaRPr lang="en-US" sz="2200" dirty="0"/>
          </a:p>
        </p:txBody>
      </p:sp>
      <p:sp>
        <p:nvSpPr>
          <p:cNvPr id="15" name="Text 11"/>
          <p:cNvSpPr txBox="1"/>
          <p:nvPr/>
        </p:nvSpPr>
        <p:spPr>
          <a:xfrm>
            <a:off x="502920" y="7000748"/>
            <a:ext cx="4480560" cy="190500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貼り付けの範囲外（ストレージの前半、Wi-Fiの続き）</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質問票の正式な文面</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製品の最新の版・機能・料金、試験制度の今後の見直し</a:t>
            </a:r>
            <a:endParaRPr lang="en-US" sz="2000" dirty="0"/>
          </a:p>
        </p:txBody>
      </p:sp>
      <p:sp>
        <p:nvSpPr>
          <p:cNvPr id="16" name="Text 12"/>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399</a:t>
            </a:fld>
            <a:endParaRPr lang="en-US"/>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name="Slide 4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確認できたこと・できていないこと</a:t>
            </a:r>
            <a:endParaRPr lang="ja-JP" sz="2200" dirty="0"/>
          </a:p>
        </p:txBody>
      </p:sp>
      <p:sp>
        <p:nvSpPr>
          <p:cNvPr id="4" name="Shape 2"/>
          <p:cNvSpPr/>
          <p:nvPr/>
        </p:nvSpPr>
        <p:spPr>
          <a:xfrm>
            <a:off x="320040" y="1318514"/>
            <a:ext cx="4846320" cy="1950720"/>
          </a:xfrm>
          <a:prstGeom prst="roundRect">
            <a:avLst>
              <a:gd name="adj" fmla="val 5625"/>
            </a:avLst>
          </a:prstGeom>
          <a:solidFill>
            <a:srgbClr val="DCE8F8"/>
          </a:solidFill>
          <a:ln w="19050">
            <a:solidFill>
              <a:srgbClr val="2F6BC2"/>
            </a:solidFill>
            <a:prstDash val="solid"/>
          </a:ln>
        </p:spPr>
      </p:sp>
      <p:sp>
        <p:nvSpPr>
          <p:cNvPr id="5" name="Shape 3"/>
          <p:cNvSpPr/>
          <p:nvPr/>
        </p:nvSpPr>
        <p:spPr>
          <a:xfrm>
            <a:off x="457200" y="2065274"/>
            <a:ext cx="457200" cy="457200"/>
          </a:xfrm>
          <a:prstGeom prst="ellipse">
            <a:avLst/>
          </a:prstGeom>
          <a:solidFill>
            <a:srgbClr val="2F6BC2"/>
          </a:solidFill>
          <a:ln/>
        </p:spPr>
      </p:sp>
      <p:pic>
        <p:nvPicPr>
          <p:cNvPr id="6" name="Image 0" descr="preencoded.png">    </p:cNvPr>
          <p:cNvPicPr>
            <a:picLocks noChangeAspect="1"/>
          </p:cNvPicPr>
          <p:nvPr/>
        </p:nvPicPr>
        <p:blipFill>
          <a:blip r:embed="rId1"/>
          <a:stretch>
            <a:fillRect/>
          </a:stretch>
        </p:blipFill>
        <p:spPr>
          <a:xfrm>
            <a:off x="557784" y="2165858"/>
            <a:ext cx="256032" cy="256032"/>
          </a:xfrm>
          <a:prstGeom prst="rect">
            <a:avLst/>
          </a:prstGeom>
        </p:spPr>
      </p:pic>
      <p:sp>
        <p:nvSpPr>
          <p:cNvPr id="7" name="Text 4"/>
          <p:cNvSpPr txBox="1"/>
          <p:nvPr/>
        </p:nvSpPr>
        <p:spPr>
          <a:xfrm>
            <a:off x="1051560" y="1364234"/>
            <a:ext cx="3977640" cy="18592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層・関係図・たとえ・場面は、一般的な技術知識で整理した編集者の解説です。公式の定義とは言い回しが違うことがあります。</a:t>
            </a:r>
            <a:endParaRPr lang="en-US" sz="2000" dirty="0"/>
          </a:p>
        </p:txBody>
      </p:sp>
      <p:sp>
        <p:nvSpPr>
          <p:cNvPr id="8" name="Text 5"/>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400</a:t>
            </a:fld>
            <a:endParaRPr lang="en-US"/>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name="Slide 4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1/2</a:t>
            </a:r>
            <a:endParaRPr lang="ja-JP" sz="1400" dirty="0"/>
          </a:p>
        </p:txBody>
      </p:sp>
      <p:sp>
        <p:nvSpPr>
          <p:cNvPr id="3" name="Text 1"/>
          <p:cNvSpPr txBox="1"/>
          <p:nvPr/>
        </p:nvSpPr>
        <p:spPr>
          <a:xfrm>
            <a:off x="320040" y="621792"/>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320040" y="1078992"/>
            <a:ext cx="4846320" cy="467614"/>
          </a:xfrm>
          <a:prstGeom prst="rect">
            <a:avLst/>
          </a:prstGeom>
          <a:noFill/>
          <a:ln/>
        </p:spPr>
        <p:txBody>
          <a:bodyPr wrap="square" lIns="0" tIns="0" rIns="0" bIns="0" rtlCol="0" anchor="t"/>
          <a:lstStyle/>
          <a:p>
            <a:pPr indent="0" marL="0">
              <a:lnSpc>
                <a:spcPts val="3300"/>
              </a:lnSpc>
              <a:buNone/>
            </a:pPr>
            <a:r>
              <a:rPr lang="ja-JP" altLang="en-US" sz="2600" b="1" dirty="0">
                <a:solidFill>
                  <a:srgbClr val="1B2A3A"/>
                </a:solidFill>
                <a:latin typeface="Yu Gothic" pitchFamily="34" charset="0"/>
                <a:ea typeface="Yu Gothic" pitchFamily="34" charset="-122"/>
                <a:cs typeface="Yu Gothic" pitchFamily="34" charset="-120"/>
              </a:rPr>
              <a:t>出典と情報の区分</a:t>
            </a:r>
            <a:endParaRPr lang="ja-JP" sz="2600" dirty="0"/>
          </a:p>
        </p:txBody>
      </p:sp>
      <p:sp>
        <p:nvSpPr>
          <p:cNvPr id="5" name="Text 3"/>
          <p:cNvSpPr txBox="1"/>
          <p:nvPr/>
        </p:nvSpPr>
        <p:spPr>
          <a:xfrm>
            <a:off x="320040" y="1638046"/>
            <a:ext cx="4846320" cy="649224"/>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各スライドの右上には、情報の区分ラベルが付いています。出典は次のとおりです。</a:t>
            </a:r>
            <a:endParaRPr lang="en-US" sz="1800" dirty="0"/>
          </a:p>
        </p:txBody>
      </p:sp>
      <p:sp>
        <p:nvSpPr>
          <p:cNvPr id="6" name="Shape 4"/>
          <p:cNvSpPr/>
          <p:nvPr/>
        </p:nvSpPr>
        <p:spPr>
          <a:xfrm>
            <a:off x="320040" y="2515870"/>
            <a:ext cx="4846320" cy="1470152"/>
          </a:xfrm>
          <a:prstGeom prst="roundRect">
            <a:avLst>
              <a:gd name="adj" fmla="val 8708"/>
            </a:avLst>
          </a:prstGeom>
          <a:solidFill>
            <a:srgbClr val="DCE6F2"/>
          </a:solidFill>
          <a:ln/>
        </p:spPr>
      </p:sp>
      <p:sp>
        <p:nvSpPr>
          <p:cNvPr id="7" name="Text 5"/>
          <p:cNvSpPr txBox="1"/>
          <p:nvPr/>
        </p:nvSpPr>
        <p:spPr>
          <a:xfrm>
            <a:off x="502920" y="2662174"/>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U01</a:t>
            </a:r>
            <a:endParaRPr lang="en-US" sz="2200" dirty="0"/>
          </a:p>
        </p:txBody>
      </p:sp>
      <p:sp>
        <p:nvSpPr>
          <p:cNvPr id="8" name="Text 6"/>
          <p:cNvSpPr txBox="1"/>
          <p:nvPr/>
        </p:nvSpPr>
        <p:spPr>
          <a:xfrm>
            <a:off x="502920" y="3122422"/>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資料：</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貼り付けられた質問票用語解説（質問12〜26ほか）</a:t>
            </a:r>
            <a:endParaRPr lang="en-US" sz="2000" dirty="0"/>
          </a:p>
        </p:txBody>
      </p:sp>
      <p:sp>
        <p:nvSpPr>
          <p:cNvPr id="9" name="Shape 7"/>
          <p:cNvSpPr/>
          <p:nvPr/>
        </p:nvSpPr>
        <p:spPr>
          <a:xfrm>
            <a:off x="320040" y="4168902"/>
            <a:ext cx="4846320" cy="1470152"/>
          </a:xfrm>
          <a:prstGeom prst="roundRect">
            <a:avLst>
              <a:gd name="adj" fmla="val 8708"/>
            </a:avLst>
          </a:prstGeom>
          <a:solidFill>
            <a:srgbClr val="DCE6F2"/>
          </a:solidFill>
          <a:ln/>
        </p:spPr>
      </p:sp>
      <p:sp>
        <p:nvSpPr>
          <p:cNvPr id="10" name="Text 8"/>
          <p:cNvSpPr txBox="1"/>
          <p:nvPr/>
        </p:nvSpPr>
        <p:spPr>
          <a:xfrm>
            <a:off x="502920" y="4315206"/>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G01</a:t>
            </a:r>
            <a:endParaRPr lang="en-US" sz="2200" dirty="0"/>
          </a:p>
        </p:txBody>
      </p:sp>
      <p:sp>
        <p:nvSpPr>
          <p:cNvPr id="11" name="Text 9"/>
          <p:cNvSpPr txBox="1"/>
          <p:nvPr/>
        </p:nvSpPr>
        <p:spPr>
          <a:xfrm>
            <a:off x="502920" y="4775454"/>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資料：</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編集者による補足（一般的な技術知識・たとえ）</a:t>
            </a:r>
            <a:endParaRPr lang="en-US" sz="2000" dirty="0"/>
          </a:p>
        </p:txBody>
      </p:sp>
      <p:sp>
        <p:nvSpPr>
          <p:cNvPr id="12" name="Shape 10"/>
          <p:cNvSpPr/>
          <p:nvPr/>
        </p:nvSpPr>
        <p:spPr>
          <a:xfrm>
            <a:off x="320040" y="5821934"/>
            <a:ext cx="4846320" cy="1134872"/>
          </a:xfrm>
          <a:prstGeom prst="roundRect">
            <a:avLst>
              <a:gd name="adj" fmla="val 11280"/>
            </a:avLst>
          </a:prstGeom>
          <a:solidFill>
            <a:srgbClr val="DCE6F2"/>
          </a:solidFill>
          <a:ln/>
        </p:spPr>
      </p:sp>
      <p:sp>
        <p:nvSpPr>
          <p:cNvPr id="13" name="Text 11"/>
          <p:cNvSpPr txBox="1"/>
          <p:nvPr/>
        </p:nvSpPr>
        <p:spPr>
          <a:xfrm>
            <a:off x="502920" y="596823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D01</a:t>
            </a:r>
            <a:endParaRPr lang="en-US" sz="2200" dirty="0"/>
          </a:p>
        </p:txBody>
      </p:sp>
      <p:sp>
        <p:nvSpPr>
          <p:cNvPr id="14" name="Text 12"/>
          <p:cNvSpPr txBox="1"/>
          <p:nvPr/>
        </p:nvSpPr>
        <p:spPr>
          <a:xfrm>
            <a:off x="502920" y="6428486"/>
            <a:ext cx="4480560" cy="43688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資料：</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PostgreSQL公式：Tutorial</a:t>
            </a:r>
            <a:endParaRPr lang="en-US" sz="2000" dirty="0"/>
          </a:p>
        </p:txBody>
      </p:sp>
      <p:sp>
        <p:nvSpPr>
          <p:cNvPr id="15" name="Shape 13"/>
          <p:cNvSpPr/>
          <p:nvPr/>
        </p:nvSpPr>
        <p:spPr>
          <a:xfrm>
            <a:off x="320040" y="7139686"/>
            <a:ext cx="4846320" cy="1470152"/>
          </a:xfrm>
          <a:prstGeom prst="roundRect">
            <a:avLst>
              <a:gd name="adj" fmla="val 8708"/>
            </a:avLst>
          </a:prstGeom>
          <a:solidFill>
            <a:srgbClr val="DCE6F2"/>
          </a:solidFill>
          <a:ln/>
        </p:spPr>
      </p:sp>
      <p:sp>
        <p:nvSpPr>
          <p:cNvPr id="16" name="Text 14"/>
          <p:cNvSpPr txBox="1"/>
          <p:nvPr/>
        </p:nvSpPr>
        <p:spPr>
          <a:xfrm>
            <a:off x="502920" y="728599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D02</a:t>
            </a:r>
            <a:endParaRPr lang="en-US" sz="2200" dirty="0"/>
          </a:p>
        </p:txBody>
      </p:sp>
      <p:sp>
        <p:nvSpPr>
          <p:cNvPr id="17" name="Text 15"/>
          <p:cNvSpPr txBox="1"/>
          <p:nvPr/>
        </p:nvSpPr>
        <p:spPr>
          <a:xfrm>
            <a:off x="502920" y="7746238"/>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資料：</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Docker公式：What is Docker?</a:t>
            </a:r>
            <a:endParaRPr lang="en-US" sz="2000" dirty="0"/>
          </a:p>
        </p:txBody>
      </p:sp>
      <p:sp>
        <p:nvSpPr>
          <p:cNvPr id="18" name="Shape 16"/>
          <p:cNvSpPr/>
          <p:nvPr/>
        </p:nvSpPr>
        <p:spPr>
          <a:xfrm>
            <a:off x="320040" y="8792718"/>
            <a:ext cx="4846320" cy="1134872"/>
          </a:xfrm>
          <a:prstGeom prst="roundRect">
            <a:avLst>
              <a:gd name="adj" fmla="val 11280"/>
            </a:avLst>
          </a:prstGeom>
          <a:solidFill>
            <a:srgbClr val="DCE6F2"/>
          </a:solidFill>
          <a:ln/>
        </p:spPr>
      </p:sp>
      <p:sp>
        <p:nvSpPr>
          <p:cNvPr id="19" name="Text 17"/>
          <p:cNvSpPr txBox="1"/>
          <p:nvPr/>
        </p:nvSpPr>
        <p:spPr>
          <a:xfrm>
            <a:off x="502920" y="8939022"/>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D03</a:t>
            </a:r>
            <a:endParaRPr lang="en-US" sz="2200" dirty="0"/>
          </a:p>
        </p:txBody>
      </p:sp>
      <p:sp>
        <p:nvSpPr>
          <p:cNvPr id="20" name="Text 18"/>
          <p:cNvSpPr txBox="1"/>
          <p:nvPr/>
        </p:nvSpPr>
        <p:spPr>
          <a:xfrm>
            <a:off x="502920" y="9399270"/>
            <a:ext cx="4480560" cy="43688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資料：</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Kubernetes公式：Overview</a:t>
            </a:r>
            <a:endParaRPr lang="en-US" sz="2000" dirty="0"/>
          </a:p>
        </p:txBody>
      </p:sp>
      <p:sp>
        <p:nvSpPr>
          <p:cNvPr id="21" name="Text 19"/>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 [D02] [D03] [D04]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401</a:t>
            </a:fld>
            <a:endParaRPr lang="en-US"/>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name="Slide 4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37744"/>
            <a:ext cx="172313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　2/2</a:t>
            </a:r>
            <a:endParaRPr lang="ja-JP" sz="1400" dirty="0"/>
          </a:p>
        </p:txBody>
      </p:sp>
      <p:sp>
        <p:nvSpPr>
          <p:cNvPr id="3" name="Text 1"/>
          <p:cNvSpPr txBox="1"/>
          <p:nvPr/>
        </p:nvSpPr>
        <p:spPr>
          <a:xfrm>
            <a:off x="320040" y="685800"/>
            <a:ext cx="4846320" cy="404114"/>
          </a:xfrm>
          <a:prstGeom prst="rect">
            <a:avLst/>
          </a:prstGeom>
          <a:noFill/>
          <a:ln/>
        </p:spPr>
        <p:txBody>
          <a:bodyPr wrap="square" lIns="0" tIns="0" rIns="0" bIns="0" rtlCol="0" anchor="t"/>
          <a:lstStyle/>
          <a:p>
            <a:pPr indent="0" marL="0">
              <a:lnSpc>
                <a:spcPts val="2800"/>
              </a:lnSpc>
              <a:buNone/>
            </a:pPr>
            <a:r>
              <a:rPr lang="ja-JP" altLang="en-US" sz="2200" b="1" dirty="0">
                <a:solidFill>
                  <a:srgbClr val="1B2A3A"/>
                </a:solidFill>
                <a:latin typeface="Yu Gothic" pitchFamily="34" charset="0"/>
                <a:ea typeface="Yu Gothic" pitchFamily="34" charset="-122"/>
                <a:cs typeface="Yu Gothic" pitchFamily="34" charset="-120"/>
              </a:rPr>
              <a:t>出典と情報の区分</a:t>
            </a:r>
            <a:endParaRPr lang="ja-JP" sz="2200" dirty="0"/>
          </a:p>
        </p:txBody>
      </p:sp>
      <p:sp>
        <p:nvSpPr>
          <p:cNvPr id="4" name="Shape 2"/>
          <p:cNvSpPr/>
          <p:nvPr/>
        </p:nvSpPr>
        <p:spPr>
          <a:xfrm>
            <a:off x="320040" y="1318514"/>
            <a:ext cx="4846320" cy="1470152"/>
          </a:xfrm>
          <a:prstGeom prst="roundRect">
            <a:avLst>
              <a:gd name="adj" fmla="val 8708"/>
            </a:avLst>
          </a:prstGeom>
          <a:solidFill>
            <a:srgbClr val="DCE6F2"/>
          </a:solidFill>
          <a:ln/>
        </p:spPr>
      </p:sp>
      <p:sp>
        <p:nvSpPr>
          <p:cNvPr id="5" name="Text 3"/>
          <p:cNvSpPr txBox="1"/>
          <p:nvPr/>
        </p:nvSpPr>
        <p:spPr>
          <a:xfrm>
            <a:off x="502920" y="1464818"/>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D04</a:t>
            </a:r>
            <a:endParaRPr lang="en-US" sz="2200" dirty="0"/>
          </a:p>
        </p:txBody>
      </p:sp>
      <p:sp>
        <p:nvSpPr>
          <p:cNvPr id="6" name="Text 4"/>
          <p:cNvSpPr txBox="1"/>
          <p:nvPr/>
        </p:nvSpPr>
        <p:spPr>
          <a:xfrm>
            <a:off x="502920" y="1925066"/>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資料：</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AWS公式：What is Amazon S3?</a:t>
            </a:r>
            <a:endParaRPr lang="en-US" sz="2000" dirty="0"/>
          </a:p>
        </p:txBody>
      </p:sp>
      <p:sp>
        <p:nvSpPr>
          <p:cNvPr id="7" name="Shape 5"/>
          <p:cNvSpPr/>
          <p:nvPr/>
        </p:nvSpPr>
        <p:spPr>
          <a:xfrm>
            <a:off x="320040" y="2971546"/>
            <a:ext cx="4846320" cy="1470152"/>
          </a:xfrm>
          <a:prstGeom prst="roundRect">
            <a:avLst>
              <a:gd name="adj" fmla="val 8708"/>
            </a:avLst>
          </a:prstGeom>
          <a:solidFill>
            <a:srgbClr val="DCE6F2"/>
          </a:solidFill>
          <a:ln/>
        </p:spPr>
      </p:sp>
      <p:sp>
        <p:nvSpPr>
          <p:cNvPr id="8" name="Text 6"/>
          <p:cNvSpPr txBox="1"/>
          <p:nvPr/>
        </p:nvSpPr>
        <p:spPr>
          <a:xfrm>
            <a:off x="502920" y="3117850"/>
            <a:ext cx="448056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D05</a:t>
            </a:r>
            <a:endParaRPr lang="en-US" sz="2200" dirty="0"/>
          </a:p>
        </p:txBody>
      </p:sp>
      <p:sp>
        <p:nvSpPr>
          <p:cNvPr id="9" name="Text 7"/>
          <p:cNvSpPr txBox="1"/>
          <p:nvPr/>
        </p:nvSpPr>
        <p:spPr>
          <a:xfrm>
            <a:off x="502920" y="3578098"/>
            <a:ext cx="4480560" cy="772160"/>
          </a:xfrm>
          <a:prstGeom prst="rect">
            <a:avLst/>
          </a:prstGeom>
          <a:noFill/>
          <a:ln/>
        </p:spPr>
        <p:txBody>
          <a:bodyPr wrap="square" lIns="0" tIns="0" rIns="0" bIns="0" rtlCol="0" anchor="t"/>
          <a:lstStyle/>
          <a:p>
            <a:pPr indent="0" marL="0">
              <a:lnSpc>
                <a:spcPts val="2600"/>
              </a:lnSpc>
              <a:spcAft>
                <a:spcPts val="800"/>
              </a:spcAft>
              <a:buNone/>
            </a:pPr>
            <a:r>
              <a:rPr lang="ja-JP" altLang="en-US" sz="2000" b="1" dirty="0">
                <a:solidFill>
                  <a:srgbClr val="16324F"/>
                </a:solidFill>
                <a:latin typeface="Yu Gothic" pitchFamily="34" charset="0"/>
                <a:ea typeface="Yu Gothic" pitchFamily="34" charset="-122"/>
                <a:cs typeface="Yu Gothic" pitchFamily="34" charset="-120"/>
              </a:rPr>
              <a:t>資料：</a:t>
            </a:r>
            <a:pPr indent="0" marL="0">
              <a:lnSpc>
                <a:spcPts val="2600"/>
              </a:lnSpc>
              <a:spcAft>
                <a:spcPts val="800"/>
              </a:spcAft>
              <a:buNone/>
            </a:pPr>
            <a:r>
              <a:rPr lang="ja-JP" altLang="en-US" sz="2000" dirty="0">
                <a:solidFill>
                  <a:srgbClr val="1B2A3A"/>
                </a:solidFill>
                <a:latin typeface="Yu Gothic" pitchFamily="34" charset="0"/>
                <a:ea typeface="Yu Gothic" pitchFamily="34" charset="-122"/>
                <a:cs typeface="Yu Gothic" pitchFamily="34" charset="-120"/>
              </a:rPr>
              <a:t>IPA試験のレベル区分の解説（二次資料）</a:t>
            </a:r>
            <a:endParaRPr lang="en-US" sz="2000" dirty="0"/>
          </a:p>
        </p:txBody>
      </p:sp>
      <p:sp>
        <p:nvSpPr>
          <p:cNvPr id="10" name="Text 8"/>
          <p:cNvSpPr txBox="1"/>
          <p:nvPr/>
        </p:nvSpPr>
        <p:spPr>
          <a:xfrm>
            <a:off x="320040" y="10625328"/>
            <a:ext cx="402336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 [D02] [D03] [D04] [D05]</a:t>
            </a:r>
            <a:endParaRPr lang="ja-JP" sz="1200" dirty="0"/>
          </a:p>
        </p:txBody>
      </p:sp>
      <p:sp>
        <p:nvSpPr>
          <p:cNvPr id="25" name="Slide Number Placeholder 0"/>
          <p:cNvSpPr>
            <a:spLocks noGrp="1"/>
          </p:cNvSpPr>
          <p:nvPr>
            <p:ph type="sldNum" sz="quarter" idx="4294967295"/>
          </p:nvPr>
        </p:nvSpPr>
        <p:spPr>
          <a:xfrm>
            <a:off x="4343400" y="10625328"/>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402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402</Slides>
  <Notes>402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402</vt:i4>
      </vt:variant>
    </vt:vector>
  </HeadingPairs>
  <TitlesOfParts>
    <vt:vector size="40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lpstr>Slide 334</vt:lpstr>
      <vt:lpstr>Slide 335</vt:lpstr>
      <vt:lpstr>Slide 336</vt:lpstr>
      <vt:lpstr>Slide 337</vt:lpstr>
      <vt:lpstr>Slide 338</vt:lpstr>
      <vt:lpstr>Slide 339</vt:lpstr>
      <vt:lpstr>Slide 340</vt:lpstr>
      <vt:lpstr>Slide 341</vt:lpstr>
      <vt:lpstr>Slide 342</vt:lpstr>
      <vt:lpstr>Slide 343</vt:lpstr>
      <vt:lpstr>Slide 344</vt:lpstr>
      <vt:lpstr>Slide 345</vt:lpstr>
      <vt:lpstr>Slide 346</vt:lpstr>
      <vt:lpstr>Slide 347</vt:lpstr>
      <vt:lpstr>Slide 348</vt:lpstr>
      <vt:lpstr>Slide 349</vt:lpstr>
      <vt:lpstr>Slide 350</vt:lpstr>
      <vt:lpstr>Slide 351</vt:lpstr>
      <vt:lpstr>Slide 352</vt:lpstr>
      <vt:lpstr>Slide 353</vt:lpstr>
      <vt:lpstr>Slide 354</vt:lpstr>
      <vt:lpstr>Slide 355</vt:lpstr>
      <vt:lpstr>Slide 356</vt:lpstr>
      <vt:lpstr>Slide 357</vt:lpstr>
      <vt:lpstr>Slide 358</vt:lpstr>
      <vt:lpstr>Slide 359</vt:lpstr>
      <vt:lpstr>Slide 360</vt:lpstr>
      <vt:lpstr>Slide 361</vt:lpstr>
      <vt:lpstr>Slide 362</vt:lpstr>
      <vt:lpstr>Slide 363</vt:lpstr>
      <vt:lpstr>Slide 364</vt:lpstr>
      <vt:lpstr>Slide 365</vt:lpstr>
      <vt:lpstr>Slide 366</vt:lpstr>
      <vt:lpstr>Slide 367</vt:lpstr>
      <vt:lpstr>Slide 368</vt:lpstr>
      <vt:lpstr>Slide 369</vt:lpstr>
      <vt:lpstr>Slide 370</vt:lpstr>
      <vt:lpstr>Slide 371</vt:lpstr>
      <vt:lpstr>Slide 372</vt:lpstr>
      <vt:lpstr>Slide 373</vt:lpstr>
      <vt:lpstr>Slide 374</vt:lpstr>
      <vt:lpstr>Slide 375</vt:lpstr>
      <vt:lpstr>Slide 376</vt:lpstr>
      <vt:lpstr>Slide 377</vt:lpstr>
      <vt:lpstr>Slide 378</vt:lpstr>
      <vt:lpstr>Slide 379</vt:lpstr>
      <vt:lpstr>Slide 380</vt:lpstr>
      <vt:lpstr>Slide 381</vt:lpstr>
      <vt:lpstr>Slide 382</vt:lpstr>
      <vt:lpstr>Slide 383</vt:lpstr>
      <vt:lpstr>Slide 384</vt:lpstr>
      <vt:lpstr>Slide 385</vt:lpstr>
      <vt:lpstr>Slide 386</vt:lpstr>
      <vt:lpstr>Slide 387</vt:lpstr>
      <vt:lpstr>Slide 388</vt:lpstr>
      <vt:lpstr>Slide 389</vt:lpstr>
      <vt:lpstr>Slide 390</vt:lpstr>
      <vt:lpstr>Slide 391</vt:lpstr>
      <vt:lpstr>Slide 392</vt:lpstr>
      <vt:lpstr>Slide 393</vt:lpstr>
      <vt:lpstr>Slide 394</vt:lpstr>
      <vt:lpstr>Slide 395</vt:lpstr>
      <vt:lpstr>Slide 396</vt:lpstr>
      <vt:lpstr>Slide 397</vt:lpstr>
      <vt:lpstr>Slide 398</vt:lpstr>
      <vt:lpstr>Slide 399</vt:lpstr>
      <vt:lpstr>Slide 400</vt:lpstr>
      <vt:lpstr>Slide 401</vt:lpstr>
      <vt:lpstr>Slide 402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ITインフラ・AI・HPEのSEに向けた統合学習資料</dc:title>
  <dc:subject>PptxGenJS Presentation</dc:subject>
  <dc:creator>学習教材（未経験者向け）</dc:creator>
  <cp:lastModifiedBy>学習教材（未経験者向け）</cp:lastModifiedBy>
  <cp:revision>1</cp:revision>
  <dcterms:created xsi:type="dcterms:W3CDTF">2026-10-03T11:00:19Z</dcterms:created>
  <dcterms:modified xsi:type="dcterms:W3CDTF">2026-10-03T11:00:19Z</dcterms:modified>
</cp:coreProperties>
</file>