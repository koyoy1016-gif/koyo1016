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HPE新卒ブログ第4回「入社までに勉強しておくと楽になること」（筆者：2023年4月入社のSE・関根有希さん）の内容を、紹介されている本と、そこで必要になる技術の中身まで、やさしく解説する資料です。右の4つの箱が、ブログのロードマップです。
【補足】
・基本情報技術者試験は学習済みとのことなので、コンピュータサイエンスの基礎は軽い復習にとどめ、ネットワーク・OS・データベースを詳しく解説しています。
・ブログは2023年6月ごろの記事です。本の版や価格は変わっている可能性があるため、検索で確認できた最新の情報も併記しています。
【情報の区分】
一般的な技術説明・教材上の整理
（スライド1／資料の該当箇所：表紙）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4つのカードが、この資料に出てくる情報の種類です。色とラベルを見れば、「ブログ本人の言葉」なのか「資料制作者の提案」なのかが分かります。
【処理の詳細】
・ブログの内容：HPEの社員（2023年入社のSE）が書いた記事です。個人の体験に基づく意見で、HPEの採用・研修の約束ではありません。
・書籍情報：出版社ページ・書店ページなどの検索結果の要約から確認しました。出版社サイトは制作環境から直接開けなかったため、詳細は各出版社の目次ページで確認してください。
・技術解説：OSI参照モデル、Linuxコマンド、SQLなどの一般的な技術説明です。
・提案：学習順序・時間配分などは、この資料の制作者による提案です。
【成立条件・例外】
ブログは「新人研修は手厚く、事前に勉強する必要は特にない」と明記しています。この資料は「あえて勉強するなら」という立場で、勉強しなくても入社できない、という意味ではありません。
【情報の区分】
一般的な技術説明・教材上の整理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確認時点：原資料の記載は2026年9月30日〜10月1日（日本時間）。変わりやすい情報（価格・製品・採用条件）は最新の公式ページで再確認してください。
（スライド2／資料の該当箇所：ブログ全体）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左から「誰が書いたか」「誰に向けているか」「前提」の3枚です。
【処理の詳細】
・筆者：FY23（2023年度）HPE 有志活動ブログ第4回を担当した、2023年4月入社の新卒システムエンジニア（関根有希さん）。入社後はシステムエンジニアとして日々研修に励んでいると書かれています。
・対象：①就活生で入社を検討している方、②内定があるがITの知識に不安のある方。そのうえで、入社後に良いスタートダッシュを切るための準備を述べています。
・前提：弊社の新人研修は手厚く、事前に勉強する必要は特にない。既にITに詳しい方や他に取り組んでいることがある人は、次回（第5回）を読み、初任給の使い道を考える時間に使ってよい、とユーモアを交えて述べています。
・今、時間を持て余し、入社後に余裕をもって研修に取り組みたい方向けに、「あえて勉強するならここだ」というポイントを紹介する、という立場です。
【よくある誤解】
「事前に勉強しないと研修についていけない」という意味ではありません。
【情報の区分】
HPE社員ブログの内容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確認時点：原資料の記載は2026年9月30日〜10月1日（日本時間）。変わりやすい情報（価格・製品・採用条件）は最新の公式ページで再確認してください。
（スライド3／資料の該当箇所：ブログ冒頭）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上の5つの箱が記事の構成です。下の帯が、記事の結論（ロードマップ）です。
【処理の詳細】
・記事の構成（概要）：ロードマップ／研修内容／勉強しておくとよいこと／書籍の紹介／最後に。
・結論：コンピュータサイエンスの基礎→ネットワーク→OSの基礎知識→データベース、の順に勉強することを推奨。
・座学のあとは、実際にシステムやアプリケーションを作ってみることが一番手っ取り早い、と述べています。
【補足】
書籍の紹介は6冊です（基本情報の本1冊、ネットワーク2冊、Linux1冊、データベース1冊、英語1冊）。
【情報の区分】
HPE社員ブログの内容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確認時点：原資料の記載は2026年9月30日〜10月1日（日本時間）。変わりやすい情報（価格・製品・採用条件）は最新の公式ページで再確認してください。
（スライド4／資料の該当箇所：ブログ全体）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4つの大きな箱が順番です。各箱の下に、ブログが挙げた学習ポイントを書いています。矢印は「この順で学ぶとつながりやすい」という意味です。
【処理の詳細】
・コンピュータサイエンスの基礎：基本情報技術者試験のカリキュラムに沿って広く学ぶ。コンピュータを構成する要素、データ表現、論理演算、セキュリティ、開発の流れ、マネジメントまで。
・ネットワーク：OSI参照モデル、TCP/IPプロトコル群、各レイヤーのヘッダーの内容。
・OSの基礎知識：構成要素と役割、基本的なコマンド。viエディタの基本操作。最終的に簡単なシェルスクリプトが作れること。
・データベース：RDBMSの種類、基本的なSQL文、ACID特性。
【なぜ重要か】
順序の理由（解説）：ネットワークもOSもデータベースも、コンピュータの仕組み（CPU・メモリ・データ表現）の上に成り立ちます。また、データベースはネットワーク越しにOS上で動くので、ネットワーク→OS→DBの順が理解しやすくなります。
【情報の区分】
HPE社員ブログの内容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確認時点：原資料の記載は2026年9月30日〜10月1日（日本時間）。変わりやすい情報（価格・製品・採用条件）は最新の公式ページで再確認してください。
（スライド5／資料の該当箇所：ブログ「ロードマップ」「各学習ポイント」）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左の列が分野、真ん中が提案する力の入れ方、右が理由です。色の濃さ（軽く／重点）で優先度を示しています。
【処理の詳細】
・CS基礎：基本情報の学習済みなので、用語を言えるか確認する程度。ブログの本（キタミ式）は辞書のように必要な箇所だけ開く。
・ネットワーク・OS・DB：基本情報では用語レベルで触れる範囲を、コマンドや実際の通信の観察で体験に変える。
・制作物：復習になり、理解の穴が見つかる。
・英語：ブログは外資系企業らしく1冊紹介。無理のない範囲で並行する。
【成立条件・例外】
これは資料制作者の提案です。ブログは「勉強しなくてもよい」という前提も示しています。余裕に合わせて調整してください。
【情報の区分】
教材の提案 / HPE社員ブログの内容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確認時点：原資料の記載は2026年9月30日〜10月1日（日本時間）。変わりやすい情報（価格・製品・採用条件）は最新の公式ページで再確認してください。
（スライド6／資料の該当箇所：ブログ「ロードマップ」＋資料制作者の提案）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6つの箱が、ブログが挙げた範囲です。基本情報で学習済みなら、箱ごとに「説明できるか」を1分で確かめる使い方が効率的です。
【処理の詳細】
・コンピュータを構成する要素（CPU・メモリ・記憶装置・入出力）。
・データ表現（2進数・16進数、文字コード、画像・音声のデジタル化）。
・論理演算（AND・OR・NOT・XOR）。
・セキュリティ（暗号、認証、マルウェア、脆弱性対策）。
・開発の流れ（要件定義→設計→開発→テスト→運用）。
・マネジメント（プロジェクト管理、サービスマネジメント）。
【成立条件・例外】
ブログが紹介する本は「キタミ式イラストIT塾 基本情報技術者」（1章から17章）です。現在の版（令和08年版、2025年12月発売、888ページ）は章立てが変わっている可能性があります。必要箇所だけを目次から探して確認する使い方で十分です[K05]。
【情報の区分】
HPE社員ブログの内容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[K05] 技術評論社：キタミ式イラストIT塾 基本情報技術者 令和08年
    https://gihyo.jp/book/2025/978-4-297-15301-4
確認時点：原資料の記載は2026年9月30日〜10月1日（日本時間）。変わりやすい情報（価格・製品・採用条件）は最新の公式ページで再確認してください。
（スライド7／資料の該当箇所：ブログ「コンピュータサイエンスの基礎」）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左の6問に、右の答えのヒントで答えられれば、CS基礎は十分です。
【処理の詳細】
・1.2進数の1010は10進数で？→10。16進数のFFは？→255。
・2.AND・OR・XORの真理値表は？→ANDは両方1のときだけ1、ORはどちらか1なら1、XORは違うときだけ1。
・3.CPU・メモリ・ストレージの役割の違いは？→計算／作業中のデータ／長期保存。
・4.OSの役割は？→ハードウェアを管理し、アプリに使いやすく提供する。
・5.共通鍵暗号と公開鍵暗号の違いは？→同じ鍵で暗号化・復号／鍵が対（公開鍵・秘密鍵）。
・6.ウォーターフォールとアジャイルの違いは？→計画重視の順次進行／短い反復で変化に対応。
【なぜ重要か】
これらは、TCP/IPのヘッダー（2進数・16進数）、OSのプロセス管理、データベースのトランザクション管理を学ぶ土台になります。
【情報の区分】
教材の提案
（スライド8／資料の該当箇所：資料制作者の提案）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3つの箱がブログの挙げた3つの学習ポイントで、右の図が「つながり方」です。郵便にたとえると、手紙の本文がデータ、封筒に宛名（ヘッダー）を書いて、配達のルール（プロトコル）に従って運びます。
【用語】
・プロトコル：通信のルール（約束事）。
・レイヤー（層）：通信の仕事を役割ごとに分けた段階。
・ヘッダー：各層がデータの前に付ける、宛先や制御の情報。
【身近な例】
第1部（通信の章）で学んだDHCP・DNS・NAT・TLSは、どの層の仕事か、も後のスライドで整理します。
【処理の詳細】
・OSI参照モデル：通信を7つの層に分けた標準的な参考モデル。用語を共通にするための物差しとして使う。
・TCP/IPプロトコル群：実際のインターネットで使われているプロトコルのセット（IP、TCP、UDP、HTTP、DNSなど）。4つの層で整理することが多い。
・各層のヘッダー：Ethernet、IP、TCP/UDPなど。どの情報が入っているかを理解すると、通信の不具合を調べる力になる。
【情報の区分】
HPE社員ブログの内容 / 一般的な技術説明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[K01] オーム社：マスタリングTCP/IP 入門編（第6版）
    https://www.ohmsha.co.jp/book/9784274224478.html
[K02] SBクリエイティブ：スラスラわかるネットワーク＆TCP/IPのきほん 第3版
    https://www.sbcr.jp/product/4815623333/
    https://www.hanmoto.com/bd/isbn/9784815623333
確認時点：原資料の記載は2026年9月30日〜10月1日（日本時間）。変わりやすい情報（価格・製品・採用条件）は最新の公式ページで再確認してください。
（スライド9／資料の該当箇所：ブログ「ネットワーク」）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第7層）から下（第1層）へ。右の列が、郵便にたとえたときの役割です。覚え方の例：「アプセトネデブ」（アプリケーション・プレゼンテーション・セッション・トランスポート・ネットワーク・データリンク・物理）。
【用語】
・第7層 アプリケーション層：利用者が使うアプリに通信サービスを提供（HTTP、SMTP、DNSなど）。
・第6層 プレゼンテーション層：データの表現形式の変換（文字コード、暗号化、圧縮）。
・第5層 セッション層：通信の開始・維持・終了（セッション）の管理。
・第4層 トランスポート層：アプリ同士のデータ転送。信頼性やポート番号（TCP、UDP）。
・第3層 ネットワーク層：異なるネットワーク間の経路選択。IPアドレス（IP、ルーター）。
・第2層 データリンク層：隣り合う機器間の転送。MACアドレス、誤り検出（Ethernet、スイッチ）。
・第1層 物理層：電気・光・電波の信号、ケーブル、コネクタ。
【成立条件・例外】
ブログは「いずれの本もTCP/IP 4階層モデルを中心に扱っている」と注意しています。OSI 7層との対応を自分で整理しておくと、基本情報などの試験用語との橋渡しになります。
【よくある誤解】
OSI参照モデルは「標準的な物差し」であり、インターネットの実際の通信がこの7層どおりに実装されているわけではありません。実際はTCP/IPの4階層（次のスライド）が中心です。
【情報の区分】
一般的な技術説明
【出典（資料名・URL）】
[K01] オーム社：マスタリングTCP/IP 入門編（第6版）
    https://www.ohmsha.co.jp/book/9784274224478.html
[K02] SBクリエイティブ：スラスラわかるネットワーク＆TCP/IPのきほん 第3版
    https://www.sbcr.jp/product/4815623333/
    https://www.hanmoto.com/bd/isbn/9784815623333
確認時点：原資料の記載は2026年9月30日〜10月1日（日本時間）。変わりやすい情報（価格・製品・採用条件）は最新の公式ページで再確認してください。
（スライド10／資料の該当箇所：ブログ「ネットワーク：OSI参照モデル」）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下から順に見ると、物理層のビットがまとまってフレーム、パケット、セグメントとなり、上でデータになります。機器は、扱う層で呼び分けます。
【用語】
・ビット：0と1の信号。フレーム：データリンク層の単位。パケット：ネットワーク層の単位。セグメント：TCPの単位（UDPではデータグラム）。
・ハブ（リピーター）：信号を中継する第1層の機器。スイッチ：MACアドレスで宛先を見分ける第2層の機器。ルーター：IPアドレスで経路を選ぶ第3層の機器。
【処理の詳細】
実際の機器は複数の層にまたがることがあります（例：L3スイッチ、ロードバランサー、ファイアウォール）。呼び名は目安として覚えます。
【よくある誤解】
データの呼び名（フレーム、パケットなど）は文脈によって緩く使われることもあります。試験や教科書の定義を基準にします。
【情報の区分】
一般的な技術説明
【出典（資料名・URL）】
[K01] オーム社：マスタリングTCP/IP 入門編（第6版）
    https://www.ohmsha.co.jp/book/9784274224478.html
[K02] SBクリエイティブ：スラスラわかるネットワーク＆TCP/IPのきほん 第3版
    https://www.sbcr.jp/product/4815623333/
    https://www.hanmoto.com/bd/isbn/9784815623333
確認時点：原資料の記載は2026年9月30日〜10月1日（日本時間）。変わりやすい情報（価格・製品・採用条件）は最新の公式ページで再確認してください。
（スライド11／資料の該当箇所：ブログ「ネットワーク：各レイヤー」）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左がOSIの7層、右がTCP/IPの4階層です。線の幅が対応関係です。第5〜7層がアプリケーション層に、第1〜2層がネットワークインターフェース層にまとまります。
【用語】
・アプリケーション層：HTTP、DNS、SMTPなど、アプリが使うプロトコル。
・トランスポート層：TCP、UDP。
・インターネット層：IP、ICMP、ARP（教科書によって層の置き方が違う）。
・ネットワークインターフェース層：Ethernet、Wi-Fiなど。本によって「リンク層」「ネットワークアクセス層」とも呼ぶ。
【成立条件・例外】
教科書によって、物理層を別にする「5階層モデル」（物理・データリンク・ネットワーク・トランスポート・アプリケーション）を使うこともあります。ブログは「いずれの本もTCP/IP 4階層モデルを中心に扱っている」ことを注意点として挙げています[H01]。
【情報の区分】
HPE社員ブログの内容 / 一般的な技術説明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[K01] オーム社：マスタリングTCP/IP 入門編（第6版）
    https://www.ohmsha.co.jp/book/9784274224478.html
[K02] SBクリエイティブ：スラスラわかるネットワーク＆TCP/IPのきほん 第3版
    https://www.sbcr.jp/product/4815623333/
    https://www.hanmoto.com/bd/isbn/9784815623333
確認時点：原資料の記載は2026年9月30日〜10月1日（日本時間）。変わりやすい情報（価格・製品・採用条件）は最新の公式ページで再確認してください。
（スライド12／資料の該当箇所：ブログ「ネットワーク」「書籍紹介③の注意」）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下へ行くほど、ヘッダーが1つずつ増えて大きくなります。受信側では、下から順にヘッダーを外して（非カプセル化）、最後にデータだけがアプリに渡ります。
【用語】
・カプセル化：データの前（と必要なら後ろ）に、各層のヘッダーを付けて包むこと。
・ペイロード：ヘッダーを除いた、運ぶ中身の部分。
・FCS：Ethernetフレームの末尾に付く誤り検出用の値。
【身近な例】
第1部で見た「NATが送信元IPとポートを書き換える」は、このIPヘッダーとTCP（UDP）ヘッダーの値を書き換える処理です。
【処理の詳細】
・アプリケーションデータ（例：HTTPの要求）→TCPヘッダーを付ける＝セグメント→IPヘッダーを付ける＝パケット→Ethernetヘッダーと末尾のFCSを付ける＝フレーム。
・ルーターは、IPヘッダー（宛先IPなど）を見て転送し、Ethernetヘッダーは次の区間に合わせて付け替えます。IPヘッダーの宛先は変わりません（NATがある場合を除く）。
【情報の区分】
一般的な技術説明
【出典（資料名・URL）】
[R01] IETF：RFC 791（IPv4）、RFC 9293（TCP）、RFC 768（UDP）
    https://www.rfc-editor.org/rfc/rfc791
    https://www.rfc-editor.org/rfc/rfc9293
    https://www.rfc-editor.org/rfc/rfc768
[K01] オーム社：マスタリングTCP/IP 入門編（第6版）
    https://www.ohmsha.co.jp/book/9784274224478.html
確認時点：原資料の記載は2026年9月30日〜10月1日（日本時間）。変わりやすい情報（価格・製品・採用条件）は最新の公式ページで再確認してください。
（スライド13／資料の該当箇所：ブログ「ネットワーク：各レイヤーのヘッダー」）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左から順に、宛先MAC（6バイト）、送信元MAC（6バイト）、タイプ（2バイト）、データ（46〜1500バイト）、FCS（4バイト）です。上の3つがEthernetヘッダーです。
【用語】
・MACアドレス：ネットワーク機器ごとの識別番号（48ビット、16進数で表記。例：00-00-5E-00-53-01は文書用の例）。
・タイプ：中身がどのプロトコルか。0x0800＝IPv4、0x86DD＝IPv6、0x0806＝ARP。
・MTU：1回に運べる最大のデータ量。Ethernetでは通常1500バイト。
【処理の詳細】
ルーターを越えるとき、IPの宛先は変わりませんが、Ethernetの宛先MACは「次に渡す機器のMAC」に付け替わります。MACは同じLANの中だけで意味を持つ住所です。
【自分でやってみる】
Wiresharkなどのパケットキャプチャで、自分のPCの通信を観察すると、宛先MAC・送信元MAC・タイプを実際に見ることができます（自分のネットワークだけで行う）。
【情報の区分】
一般的な技術説明
【出典（資料名・URL）】
[K01] オーム社：マスタリングTCP/IP 入門編（第6版）
    https://www.ohmsha.co.jp/book/9784274224478.html
[K02] SBクリエイティブ：スラスラわかるネットワーク＆TCP/IPのきほん 第3版
    https://www.sbcr.jp/product/4815623333/
    https://www.hanmoto.com/bd/isbn/9784815623333
確認時点：原資料の記載は2026年9月30日〜10月1日（日本時間）。変わりやすい情報（価格・製品・採用条件）は最新の公式ページで再確認してください。
（スライド14／資料の該当箇所：ブログ「ネットワーク：各レイヤーのヘッダー」）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1行が32ビット（4バイト）です。左上から右下へ読みます。バイト数は各欄の下に書きました（4bit＝4ビット）。
【用語】
・バージョン：IPのバージョン（IPv4なら4）。
・ヘッダ長：ヘッダーの長さ（4バイト単位）。
・TOS（DSCP）：優先度など転送の扱い方。
・全長：ヘッダーとデータを合わせた長さ。
・識別子・フラグ・フラグメントオフセット：大きなパケットを分割して送るときの情報。
・TTL：あと何回ルーターを越えられるか。ルーターを越えるたびに1減り、0で破棄（ループ防止）。
・プロトコル：中身の種類（6＝TCP、17＝UDP、1＝ICMP）。
・ヘッダチェックサム：ヘッダーの誤り検出。
・送信元IP・宛先IP：各32ビット。
【身近な例】
NAT（第1部）は、このうち送信元IPや宛先IPを書き換える処理です。
【処理の詳細】
pingやtracerouteは、このTTLの仕組みを利用しています。tracerouteはTTLを1、2、3…と増やして送り、途中のルーターから返る応答で経路を調べます。
【情報の区分】
一般的な技術説明
【出典（資料名・URL）】
[R01] IETF：RFC 791（IPv4）、RFC 9293（TCP）、RFC 768（UDP）
    https://www.rfc-editor.org/rfc/rfc791
    https://www.rfc-editor.org/rfc/rfc9293
    https://www.rfc-editor.org/rfc/rfc768
[K01] オーム社：マスタリングTCP/IP 入門編（第6版）
    https://www.ohmsha.co.jp/book/9784274224478.html
確認時点：原資料の記載は2026年9月30日〜10月1日（日本時間）。変わりやすい情報（価格・製品・採用条件）は最新の公式ページで再確認してください。
（スライド15／資料の該当箇所：ブログ「ネットワーク：各レイヤーのヘッダー」）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IPヘッダーと同じく1行が32ビットです。最小20バイトです。
【用語】
・送信元ポート・宛先ポート：アプリを区別する番号（例：宛先443＝HTTPS）。
・シーケンス番号：このデータが全体の何バイト目かを示す番号。受信側が順序を並べ直すのに使う。
・確認応答番号（ACK番号）：次に受け取りたいバイト位置。ここまで届いた、という返事。
・データオフセット：ヘッダーの長さ。
・フラグ：SYN（接続開始）、ACK（確認応答）、FIN（終了）、RST（強制リセット）、PSH、URGなど。
・ウィンドウサイズ：受信側が一度に受け取れる量（フロー制御）。
・チェックサム：誤り検出。
【処理の詳細】
TCP（RFC 9293）のフラグは、CWR・ECE・URG・ACK・PSH・RST・SYN・FINの8つです。接続の開始・終了の手続きはSYNとFINで行います（次のスライドで手順を確認します）。
【情報の区分】
一般的な技術説明
【出典（資料名・URL）】
[R01] IETF：RFC 791（IPv4）、RFC 9293（TCP）、RFC 768（UDP）
    https://www.rfc-editor.org/rfc/rfc791
    https://www.rfc-editor.org/rfc/rfc9293
    https://www.rfc-editor.org/rfc/rfc768
[K01] オーム社：マスタリングTCP/IP 入門編（第6版）
    https://www.ohmsha.co.jp/book/9784274224478.html
確認時点：原資料の記載は2026年9月30日〜10月1日（日本時間）。変わりやすい情報（価格・製品・採用条件）は最新の公式ページで再確認してください。
（スライド16／資料の該当箇所：ブログ「ネットワーク：各レイヤーのヘッダー」）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上の図がUDPヘッダー（8バイト）、下の表がTCPとの比較です。
【処理の詳細】
・UDP：送信元ポート、宛先ポート、長さ、チェックサムの4つだけ（各16ビット）。
・TCP：ポートのほか、シーケンス番号・確認応答番号・ウィンドウなどで、届いたか確認し、順序を並べ、抜けたら再送し、混雑を避けて送る。
・用途：TCPは確実性が必要なもの（Web、メール、ファイル転送）、UDPは速さや即時性が必要なもの（DNSの問い合わせ、音声・動画、オンラインゲーム、QUICの土台）。
【よくある誤解】
「UDPは必ず届かない」わけではありません。確認・再送を標準では行わないだけで、アプリ側やQUICのような上位の仕組みが信頼性を補うこともあります（第1部）。
【情報の区分】
一般的な技術説明
【出典（資料名・URL）】
[R01] IETF：RFC 791（IPv4）、RFC 9293（TCP）、RFC 768（UDP）
    https://www.rfc-editor.org/rfc/rfc791
    https://www.rfc-editor.org/rfc/rfc9293
    https://www.rfc-editor.org/rfc/rfc768
[K02] SBクリエイティブ：スラスラわかるネットワーク＆TCP/IPのきほん 第3版
    https://www.sbcr.jp/product/4815623333/
    https://www.hanmoto.com/bd/isbn/9784815623333
確認時点：原資料の記載は2026年9月30日〜10月1日（日本時間）。変わりやすい情報（価格・製品・採用条件）は最新の公式ページで再確認してください。
（スライド17／資料の該当箇所：ブログ「ネットワーク」＋書籍③のトランスポート層）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左の列がクライアント（端末）、右がサーバーです。①②③が3ウェイハンドシェイク、④⑤がデータと確認応答です。
【用語】
・SYN：接続の開始を知らせるフラグ。ACK：受け取りました、という確認のフラグ。
・シーケンス番号（seq）と確認応答番号（ack）：データの順序と到達を管理する番号。
【身近な例】
第1部で学んだTLSやHTTPは、この接続が確立したあとに始まります（HTTP/3のQUICは別方式）。
【処理の詳細】
・①クライアント→サーバー：SYN（seq＝x）「つなぎたい」。②サーバー→クライアント：SYN+ACK（seq＝y、ack＝x＋1）「いいよ、こちらも準備した」。③クライアント→サーバー：ACK（ack＝y＋1）「了解」。これで接続が確立します。
・④データを送る。⑤受信側がACKを返す。ACKが一定時間来なければ、送信側が同じデータを再送する。
・終了時はFIN（終了）とACKのやりとり（4回）を行います。
【情報の区分】
一般的な技術説明
【出典（資料名・URL）】
[R01] IETF：RFC 791（IPv4）、RFC 9293（TCP）、RFC 768（UDP）
    https://www.rfc-editor.org/rfc/rfc791
    https://www.rfc-editor.org/rfc/rfc9293
    https://www.rfc-editor.org/rfc/rfc768
[K02] SBクリエイティブ：スラスラわかるネットワーク＆TCP/IPのきほん 第3版
    https://www.sbcr.jp/product/4815623333/
    https://www.hanmoto.com/bd/isbn/9784815623333
確認時点：原資料の記載は2026年9月30日〜10月1日（日本時間）。変わりやすい情報（価格・製品・採用条件）は最新の公式ページで再確認してください。
（スライド18／資料の該当箇所：ブログ「ネットワーク」＋書籍③「TCPが確実にデータを届ける仕組み」）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上の帯は192.168.1.20/24の内訳です。24ビットがネットワーク部（192.168.1）、残り8ビットがホスト部（20）です。下の表は、この例で決まる値です。
【用語】
・サブネットマスク：ネットワーク部を1、ホスト部を0で表した値。/24は255.255.255.0。
・ネットワークアドレス：ホスト部がすべて0（192.168.1.0）。ブロードキャストアドレス：ホスト部がすべて1（192.168.1.255）。この2つは機器に割り当てない。
・デフォルトゲートウェイ：別のネットワークへ出るときの出口（例：192.168.1.1）。
・プライベートアドレス：10.0.0.0/8、172.16.0.0/12、192.168.0.0/16。家や社内だけで使う。
【処理の詳細】
・192.168.1.0/24なら、割り当てられるホストは192.168.1.1〜192.168.1.254の254台。
・/26なら64個のアドレスのうち、ネットワークアドレスとブロードキャストを除く62台。ホスト部のビット数をhとすると、2のh乗から2を引いた数です。
【自分でやってみる】
ipconfig /all（Windows）や ip addr（Linux）で、自分のIPアドレスとマスクを見て、ネットワーク部とホスト部を分けてみましょう。
【情報の区分】
一般的な技術説明
【出典（資料名・URL）】
[R01] IETF：RFC 791（IPv4）、RFC 9293（TCP）、RFC 768（UDP）
    https://www.rfc-editor.org/rfc/rfc791
    https://www.rfc-editor.org/rfc/rfc9293
    https://www.rfc-editor.org/rfc/rfc768
[K01] オーム社：マスタリングTCP/IP 入門編（第6版）
    https://www.ohmsha.co.jp/book/9784274224478.html
[K02] SBクリエイティブ：スラスラわかるネットワーク＆TCP/IPのきほん 第3版
    https://www.sbcr.jp/product/4815623333/
    https://www.hanmoto.com/bd/isbn/9784815623333
確認時点：原資料の記載は2026年9月30日〜10月1日（日本時間）。変わりやすい情報（価格・製品・採用条件）は最新の公式ページで再確認してください。
（スライド19／資料の該当箇所：ブログ「ネットワーク：TCP/IPプロトコル群」）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左の列がプロトコル、真ん中が使う番号、右が用途です。番号の種類は、0〜1023が「ウェルノウンポート」と呼ばれる、よく知られた番号です。
【処理の詳細】
・HTTP（80）・HTTPS（443）：Webの通信。HTTPSはTLSで暗号化したHTTP。
・SSH（22）：安全な遠隔操作。Telnet（23）は暗号化がなく、現在はSSHを使う。
・DNS（53）：名前解決（UDPが中心、TCPも使う）。
・DHCP（67／68）：自動で設定を配る。NTP（123）：時刻同期。
・SMTP（25）：メール送信。
・MySQL（3306）・PostgreSQL（5432）：データベースの代表的な既定ポート。
【よくある誤解】
ポート番号は「決まり」ではなく「既定値」です。管理者が別の番号に変更することもあります。
【自分でやってみる】
Linuxで ss -tuln を実行すると、自分のPCが待ち受けているポートの一覧を見られます（「待ち受け」＝LISTEN）。
【情報の区分】
一般的な技術説明
【出典（資料名・URL）】
[I01] IANA：サービス名とポート番号の登録簿
    https://www.iana.org/assignments/service-names-port-numbers
[K02] SBクリエイティブ：スラスラわかるネットワーク＆TCP/IPのきほん 第3版
    https://www.sbcr.jp/product/4815623333/
    https://www.hanmoto.com/bd/isbn/9784815623333
確認時点：原資料の記載は2026年9月30日〜10月1日（日本時間）。変わりやすい情報（価格・製品・採用条件）は最新の公式ページで再確認してください。
（スライド20／資料の該当箇所：ブログ「ネットワーク：TCP/IPプロトコル群」）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左の列がLinuxのコマンド、右が見えるもの（Windowsでの近い例）です。
【処理の詳細】
・ip addr：自分のIPアドレス・MAC（Windows：ipconfig /all）。ip route：経路表とデフォルトゲートウェイ（route print）。
・ping：到達性とRTT（ICMP）。traceroute：経路（tracert）。
・ss -tuln：待ち受けポートと接続（netstat）。
・dig／nslookup：DNSの問い合わせ。curl -I：HTTPの応答ヘッダー。
・tcpdump・Wireshark：パケットのヘッダーを1つずつ表示。Wiresharkは図形の画面で、フレーム→IP→TCP→HTTPの順に開いて見られます。
・書籍③「スラスラわかる〜」の第2章にChromeデベロッパーツールでHTTPメッセージを見る内容、第3章にnetstatコマンドの内容があります[K02]。書籍④Linux標準教科書の第10章には、ネットワークの設定と管理があります[K03]。
【成立条件・例外】
パケットキャプチャは、権限が必要で、他人の通信を見ることは許されません。自宅や学習用の仮想環境の範囲で行います。
【情報の区分】
一般的な技術説明 / 書籍情報（検索結果で確認）
【出典（資料名・URL）】
[K02] SBクリエイティブ：スラスラわかるネットワーク＆TCP/IPのきほん 第3版
    https://www.sbcr.jp/product/4815623333/
    https://www.hanmoto.com/bd/isbn/9784815623333
[K03] LPI-Japan：Linux標準教科書（無償配布）
    https://linuc.org/textbooks/linux/
    https://lpi.or.jp/news/press/page/20241216_01/
確認時点：原資料の記載は2026年9月30日〜10月1日（日本時間）。変わりやすい情報（価格・製品・採用条件）は最新の公式ページで再確認してください。
（スライド21／資料の該当箇所：ブログ「ネットワーク」＋書籍③④の関連章）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左の列が第1部で学んだ仕組み、中央がその仕組みが主に働く層、右が働きです。複数の層にまたがるものは、目安として置いています。
【処理の詳細】
・ARP：IPアドレスからMACアドレスを調べる。第2層と第3層の間で働くと説明されることが多い。
・ICMP（ping）：到達性の確認。IPの上で動く。
・NAT：IPアドレスとポート番号を書き換える。第3層（と第4層）の仕事。
・TLS：通信の暗号化。教科書によって第5〜6層または第4層と第7層の間に置かれる。
・DHCP・DNS・NTP・HTTP：アプリケーション層のプロトコル。
【成立条件・例外】
TLSやQUICのように、OSI参照モデルのきれいな層に収まらない仕組みもあります。「どの層か」は目安と考えます。
【情報の区分】
一般的な技術説明 / 教材の提案
【出典（資料名・URL）】
[R01] IETF：RFC 791（IPv4）、RFC 9293（TCP）、RFC 768（UDP）
    https://www.rfc-editor.org/rfc/rfc791
    https://www.rfc-editor.org/rfc/rfc9293
    https://www.rfc-editor.org/rfc/rfc768
確認時点：原資料の記載は2026年9月30日〜10月1日（日本時間）。変わりやすい情報（価格・製品・採用条件）は最新の公式ページで再確認してください。
（スライド22／資料の該当箇所：第1部（通信の章）との接続）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左の4つが「積み重なり」です。利用者が使うアプリやシェルは、OSの中心部（カーネル）を通して、ハードウェアを使います。右の表は、カーネルの主な5つの仕事です。
【用語】
・カーネル：OSの中心部。ハードウェアを直接管理する。
・シェル：利用者が打ち込むコマンドを解釈してカーネルに伝えるソフト（bashなど）。
・システムコール：アプリがカーネルに仕事を頼む窓口。
・ドライバ：機器を動かすための制御プログラム。
【身近な例】
第1部の「OSが宛先IPと経路表で渡し先を決める」は、カーネルのネットワーク機能の仕事です。
【処理の詳細】
・プロセス管理：実行中のプログラム（プロセス）にCPUの時間を割り当てる（スケジューリング）。
・メモリ管理：各プロセスにメモリを割り当て、仮想メモリで足りない分をディスクで補う。
・ファイルシステム：データをファイルとディレクトリの形で保存・管理する。
・デバイス管理：ディスク・ネットワークカードなどを、ドライバを通して使えるようにする。
・ユーザー・権限管理：誰が何をしてよいかを管理する。
【情報の区分】
HPE社員ブログの内容 / 一般的な技術説明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[K03] LPI-Japan：Linux標準教科書（無償配布）
    https://linuc.org/textbooks/linux/
    https://lpi.or.jp/news/press/page/20241216_01/
確認時点：原資料の記載は2026年9月30日〜10月1日（日本時間）。変わりやすい情報（価格・製品・採用条件）は最新の公式ページで再確認してください。
（スライド23／資料の該当箇所：ブログ「OSの基礎知識：構成要素や役割」）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左の列がディレクトリ名、右がそこに置かれるものです。障害調査では、設定（/etc）とログ（/var/log）を見ることが非常に多くなります。
【用語】
・ディレクトリ：フォルダのこと。ルートディレクトリ「/」：すべての出発点。
・絶対パス：/から書く場所の指定（例：/etc/hosts）。相対パス：今いる場所から書く指定（例：../docs）。
【処理の詳細】
・/bin・/sbin：基本コマンド（sbinは管理者向け）。/etc：設定ファイル。/home：一般ユーザーのホーム。/root：管理者（root）のホーム。/var：変化するデータ（ログ・キャッシュ）。/tmp：一時ファイル。/usr：アプリやライブラリ。/dev：機器を表す特殊ファイル。/proc：カーネルやプロセスの情報（実体は仮想）。
・Linux標準教科書には、Linuxの基本操作とコマンドの章があります[K03]。
【よくある誤解】
Windowsのドライブ（C:など）とは構成が違います。Linuxではすべてが/の下に一つの木としてつながり、ディスクは「マウント」して木に接続します。
【情報の区分】
一般的な技術説明 / 書籍情報（検索結果で確認）
【出典（資料名・URL）】
[K03] LPI-Japan：Linux標準教科書（無償配布）
    https://linuc.org/textbooks/linux/
    https://lpi.or.jp/news/press/page/20241216_01/
確認時点：原資料の記載は2026年9月30日〜10月1日（日本時間）。変わりやすい情報（価格・製品・採用条件）は最新の公式ページで再確認してください。
（スライド24／資料の該当箇所：ブログ「OSの基礎知識」＋書籍④のLinux基礎）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左がコマンド、中央が意味、右が使用例です。書式は「コマンド　オプション　対象」です。
【用語】
・オプション：コマンドの動きを変える付け足し（例：-l＝詳しく、-r＝中身ごと）。
・カレントディレクトリ：今いる場所。
【処理の詳細】
・pwd：今いる場所を表示。ls -l：ファイル一覧を詳しく（権限・サイズ・日時）。cd：移動（cd ..＝1つ上、cd ~＝ホーム）。mkdir：ディレクトリを作る。touch：空のファイルを作る（日時の更新にも使う）。cp：コピー（ディレクトリは-r）。mv：移動または名前の変更。rm：削除。
・rmは元に戻せません（ごみ箱はありません）。rm -r は中身ごと消すので、特に注意します。
【自分でやってみる】
仮想マシンやWSLのLinuxで、自分のホームにテスト用ディレクトリを作り、ファイルの作成・コピー・移動・削除を試します（自分の環境だけで）。
【情報の区分】
HPE社員ブログの内容 / 一般的な技術説明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[K03] LPI-Japan：Linux標準教科書（無償配布）
    https://linuc.org/textbooks/linux/
    https://lpi.or.jp/news/press/page/20241216_01/
確認時点：原資料の記載は2026年9月30日〜10月1日（日本時間）。変わりやすい情報（価格・製品・採用条件）は最新の公式ページで再確認してください。
（スライド25／資料の該当箇所：ブログ「OSの基礎知識：基本的なコマンド」）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左の表が「見る・探す・並べる」コマンド、右の図が標準入出力の考え方です。下のコマンドは、それらをつなげた例です。
【用語】
・標準入力（0）：キーボードなどからの入力。標準出力（1）：画面への通常の出力。標準エラー出力（2）：画面へのエラーの出力。
・&gt;：出力をファイルへ（上書き）。&gt;&gt;：ファイルへ追記。|：出力を次のコマンドの入力へ渡す。
【身近な例】
第1部の通信の観察（ログを時刻順に読む、接続の一覧を絞る）でも、grepとパイプを頻繁に使います。
【処理の詳細】
・cat：中身を表示。less：ページ送りで表示（qで終了）。head／tail：先頭／末尾の数行（tail -fは追いかけて表示。ログ監視に便利）。grep：文字列を含む行を探す。find：ファイルを探す。sort：並べ替え。wc -l：行数を数える。
・例：ls -l | grep ".txt" | wc -l は、ファイル一覧から.txtを含む行だけを抜き出し、行数を数えます。
【情報の区分】
HPE社員ブログの内容 / 一般的な技術説明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[K03] LPI-Japan：Linux標準教科書（無償配布）
    https://linuc.org/textbooks/linux/
    https://lpi.or.jp/news/press/page/20241216_01/
確認時点：原資料の記載は2026年9月30日〜10月1日（日本時間）。変わりやすい情報（価格・製品・採用条件）は最新の公式ページで再確認してください。
（スライド26／資料の該当箇所：ブログ「OSの基礎知識」＋書籍④「標準入出力とフィルタコマンド」）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上の4つが、ls -lで出る「-rwxr-xr--」の読み方です。左から、ファイルの種類、所有者、グループ、その他の順です。下の表は、数字との対応です。
【用語】
・所有者（user）：ファイルの持ち主。グループ（group）：同じ仲間の利用者の集まり。その他（others）：それ以外の全員。
・r（read）：読む、w（write）：書く、x（execute）：実行する（ディレクトリでは「中に入る」）。
【処理の詳細】
・例：-rwxr-xr-- は、所有者＝rwx（7）、グループ＝r-x（5）、その他＝r--（4）。数字で書くと754。
・chmod 755 file：所有者は読み書き実行、他は読み・実行のみ。chmod 644：所有者は読み書き、他は読みのみ（普通のファイル）。chmod 600：所有者だけ読み書き（秘密鍵など）。chmod +x file：実行を許可。
・chown user:group file：持ち主とグループを変更（管理者権限が必要）。sudo：一時的に管理者として実行。
・Linux標準教科書の第8章「ユーザーとグループの管理」、第9章「ファイルやディレクトリのアクセス制御」が対応します[K03]。
【よくある誤解】
権限を安易に777（誰でも読み書き実行）にしない。障害の原因が「権限」のときは、該当ファイルのls -lと、実行ユーザーを確認します。
【情報の区分】
HPE社員ブログの内容 / 一般的な技術説明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[K03] LPI-Japan：Linux標準教科書（無償配布）
    https://linuc.org/textbooks/linux/
    https://lpi.or.jp/news/press/page/20241216_01/
確認時点：原資料の記載は2026年9月30日〜10月1日（日本時間）。変わりやすい情報（価格・製品・採用条件）は最新の公式ページで再確認してください。
（スライド27／資料の該当箇所：ブログ「OSの基礎知識」＋書籍④「ユーザーとグループ」「アクセス制御」）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左がコマンド、右が用途です。読み方の順序は、①動いているか（ps・systemctl）→②負荷（top）→③容量（df・du・free）です。
【用語】
・プロセス：実行中のプログラム。PID：プロセスを区別する番号。
・サービス（デーモン）：裏で動き続けるプログラム（Webサーバーなど）。systemctlで起動・停止・状態確認をする。
【身近な例】
第1部の障害切り分け（端末→LAN→…→サービス）の「サービス」の層では、systemctlでの状態確認とログ（/var/log）の確認を行います。
【処理の詳細】
・ps aux：プロセスの一覧。top：CPU・メモリの使用状況を常時表示（qで終了）。kill PID：プロセスを終了（kill -9は強制）。
・systemctl status sshd：サービスの状態。systemctl start／stop／restart：起動・停止・再起動。
・df -h：ディスクの空き容量。du -sh dir：ディレクトリの使用量。free -h：メモリの空き。
・Linux標準教科書の第11章「プロセス管理」が対応します[K03]。
【情報の区分】
HPE社員ブログの内容 / 一般的な技術説明
【出典（資料名・URL）】
[K03] LPI-Japan：Linux標準教科書（無償配布）
    https://linuc.org/textbooks/linux/
    https://lpi.or.jp/news/press/page/20241216_01/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確認時点：原資料の記載は2026年9月30日〜10月1日（日本時間）。変わりやすい情報（価格・製品・採用条件）は最新の公式ページで再確認してください。
（スライド28／資料の該当箇所：ブログ「OSの基礎知識：基本的なコマンド」＋書籍④「プロセス管理」）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左の図が3つのモードの切り替えです。起動直後はノーマルモードです。右の表が最小限の操作です。迷ったら、Escキーを押してノーマルモードに戻ります。
【処理の詳細】
・ノーマルモード→挿入モード：i（今の位置に挿入）、a（1文字後ろに挿入）、o（下に新しい行）。挿入モード→ノーマルモード：Esc。
・ノーマルモード→コマンドラインモード：「:」を入力。:w＝保存、:q＝終了、:wq＝保存して終了、:q!＝保存せずに強制終了。
・移動：h（左）・j（下）・k（上）・l（右）、0（行頭）・$（行末）・gg（先頭）・G（末尾）。
・編集：x（1文字削除）・dd（1行削除）・yy（1行コピー）・p（貼り付け）・u（元に戻す）。検索：/語 で検索、nで次の候補。
・Linux標準教科書には、viエディタの専用の章（第7章）があります[K03]。
【よくある誤解】
最初に困るのは「入力しようとして文字が入らない（ノーマルモードのため）」と「終了できない」です。i で入力、Esc→:wq で保存終了、:q! で破棄終了、と覚えれば大丈夫です。
【自分でやってみる】
vi test.txt を開き、i → 文字入力 → Esc → :wq の一連の流れを10回繰り返して指に覚えさせます。
【情報の区分】
HPE社員ブログの内容 / 一般的な技術説明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[K03] LPI-Japan：Linux標準教科書（無償配布）
    https://linuc.org/textbooks/linux/
    https://lpi.or.jp/news/press/page/20241216_01/
確認時点：原資料の記載は2026年9月30日〜10月1日（日本時間）。変わりやすい情報（価格・製品・採用条件）は最新の公式ページで再確認してください。
（スライド29／資料の該当箇所：ブログ「OSの基礎知識：viエディタ」＋書籍④「viエディタ」）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左がスクリプトの例（指定した機器にpingを送り、通じたかを表示）、右がその解説です。番号は左のコード行との対応です。
【用語】
・シェバン（#!）：1行目。このファイルをどのシェルで実行するかを指定する。
・変数：値に名前を付けて保存する入れ物。引数：スクリプト起動時に渡す値（$1が1つ目）。
・終了コード：コマンドが終わったときに返す数字（0＝成功、0以外＝失敗）。直前の終了コードは$?で見られる。
【処理の詳細】
・実行手順：vi check-host.sh で作成 → chmod +x check-host.sh で実行権限を付ける → ./check-host.sh 192.168.1.1 で実行。
・ping -c 1 は1回だけ送る指定。&gt; /dev/null 2&gt;&amp;1 は、画面に何も出さない（出力を捨てる）指定。
・if〜then〜else〜fi：条件分岐。ifの条件がコマンドのときは、その終了コードが0なら成功として進む。
・本ブログの目標は「最終的に簡単なシェルスクリプトを作れるようになること」です[H01]。
【よくある誤解】
最初から長いスクリプトを書く必要はありません。手作業で打っているコマンドを、そのままファイルにまとめるところから始めます。
【情報の区分】
HPE社員ブログの内容 / 一般的な技術説明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[K03] LPI-Japan：Linux標準教科書（無償配布）
    https://linuc.org/textbooks/linux/
    https://lpi.or.jp/news/press/page/20241216_01/
確認時点：原資料の記載は2026年9月30日〜10月1日（日本時間）。変わりやすい情報（価格・製品・採用条件）は最新の公式ページで再確認してください。
（スライド30／資料の該当箇所：ブログ「OSの基礎知識：簡単なシェルスクリプトを作れる」）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左のコードは、3つのホストを順に確認する例です（127.0.0.1は自分自身、example.comは文書用に予約された例示用の名前）。右は3つの練習課題です。
【処理の詳細】
・for h in A B C; do … done：A・B・Cを順に変数hへ入れて繰り返す。
・結果をファイルに残すには、&gt;&gt; result.txt のように追記リダイレクトを使う。
・演習：①引数で受け取った1台を確認（前のスライド）②複数台をforで確認し、結果を result.txt に追記 ③1台でも失敗したら、最後に終了コード1で終わる。
・次の段階：日付の付いたログを残す（date コマンド）、cron（定期実行）で毎朝実行する、など。
【なぜ重要か】
監視・確認・バックアップの自動化は、SEの仕事（構築・運用）に直結します。第1部の「スクリプト・Git・構成の自動化」の出発点です。
【情報の区分】
教材の提案 / 一般的な技術説明
【出典（資料名・URL）】
[K03] LPI-Japan：Linux標準教科書（無償配布）
    https://linuc.org/textbooks/linux/
    https://lpi.or.jp/news/press/page/20241216_01/
確認時点：原資料の記載は2026年9月30日〜10月1日（日本時間）。変わりやすい情報（価格・製品・採用条件）は最新の公式ページで再確認してください。
（スライド31／資料の該当箇所：ブログ「簡単なシェルスクリプトを作れるようになる」＋資料制作者の提案）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左が顧客の表（customers）、右が注文の表（orders）です。注文表のcustomer_idが、顧客表のidを指しています。これが「外部キー」です。
【用語】
・テーブル（表）：行と列でデータを並べたもの。行（レコード）：1件のデータ。列（カラム）：項目。
・主キー（PK）：行を1つに特定する値（例：顧客id）。重複しない。
・外部キー（FK）：他の表の主キーを参照する列。表どうしの関係を表す。
・DBMS：データベースを管理するソフト。RDBMSはその中で表形式を使うもの。
【処理の詳細】
・表を分ける理由：顧客の情報（名前・住所）を注文のたびに書くと、住所変更のときに何か所も直す必要がある。顧客表に1か所だけ持ち、注文表は顧客idだけを持つ。
・書籍⑤「おうちで学べるデータベースのきほん」は、第1章でデータベースの用途と役割、第2章でリレーショナルデータベースを解説しています[K04]。
【情報の区分】
HPE社員ブログの内容 / 一般的な技術説明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[K04] 翔泳社：おうちで学べるデータベースのきほん 第2版（CodeZine紹介記事ほか）
    https://codezine.jp/article/detail/19955
    https://www.kinokuniya.co.jp/f/dsg-08-EK-1880472
確認時点：原資料の記載は2026年9月30日〜10月1日（日本時間）。変わりやすい情報（価格・製品・採用条件）は最新の公式ページで再確認してください。
（スライド32／資料の該当箇所：ブログ「データベース：RDBMSの種類」）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左が製品名、真ん中が分類、右が特徴です。ブログは「RDBMSの種類」を押さえることを勧めています。
【処理の詳細】
・Oracle Database：商用。大規模な基幹システムで広く使われる。
・Microsoft SQL Server：商用。Windows・Microsoft製品との連携がよい。
・MySQL：オープンソース。Webシステムで広く使われる。
・MariaDB：MySQLから派生したオープンソース。
・PostgreSQL：オープンソース。高機能で、標準SQLへの準拠を重視。
・SQLite：組み込み型。1つのファイルで動き、アプリやスマホの内部でよく使われる。
・クラウドでは、これらをサービスとして借りる「マネージドDB」（例：Amazon RDS）も使われる。書籍⑤の第2版は、クラウドでのデータベース操作にも対応していると紹介されています[K04]。
【成立条件・例外】
各製品の提供形態・ライセンス・機能は変わります。導入時は各社の公式ページで確認してください。
【情報の区分】
HPE社員ブログの内容 / 一般的な技術説明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[K04] 翔泳社：おうちで学べるデータベースのきほん 第2版（CodeZine紹介記事ほか）
    https://codezine.jp/article/detail/19955
    https://www.kinokuniya.co.jp/f/dsg-08-EK-1880472
確認時点：原資料の記載は2026年9月30日〜10月1日（日本時間）。変わりやすい情報（価格・製品・採用条件）は最新の公式ページで再確認してください。
（スライド33／資料の該当箇所：ブログ「データベース：RDBMSの種類」）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上がSQL、左下が元の表、右下が結果です。条件（city＝Tokyo）に合う行だけが残り、nameの順に並びます。
【用語】
・SELECT：取り出す列。FROM：対象の表。WHERE：行の条件。ORDER BY：並べ替え（ASC昇順・DESC降順）。
・文字列は'Tokyo'のように引用符で囲む。
【処理の詳細】
・全列を取り出すときは SELECT * FROM customers; と書く。
・条件は =、&lt;&gt;（等しくない）、&lt;、&gt;、LIKE（部分一致）、AND、OR、IN などを使える。
・書籍⑤の第6章は「SQL文の基本を学ぼう～SELECT文を理解する～」です[K04]。
【自分でやってみる】
SQLite（インストール不要に近いDB）でcustomers表を作り、WHEREの条件を変えて結果の違いを確かめます。
【情報の区分】
HPE社員ブログの内容 / 一般的な技術説明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[K04] 翔泳社：おうちで学べるデータベースのきほん 第2版（CodeZine紹介記事ほか）
    https://codezine.jp/article/detail/19955
    https://www.kinokuniya.co.jp/f/dsg-08-EK-1880472
確認時点：原資料の記載は2026年9月30日〜10月1日（日本時間）。変わりやすい情報（価格・製品・採用条件）は最新の公式ページで再確認してください。
（スライド34／資料の該当箇所：ブログ「データベース：基本的なSQL文」）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表の左列が操作、真ん中が意味、右が例です。SELECTを加えた4つを、まとめて「基本の4操作（CRUDとも呼ぶ）」と考えます。
【用語】
・CRUD：Create（作る）、Read（読む）、Update（変える）、Delete（消す）。
【処理の詳細】
・INSERT INTO 表 VALUES (…)：行を追加。UPDATE 表 SET 列＝値 WHERE 条件：条件に合う行を変更。DELETE FROM 表 WHERE 条件：条件に合う行を削除。
・更新の前には、必ず同じ条件のSELECTで「対象の行が意図どおりか」を確認する習慣が安全です。
・本番のデータに対しては、トランザクション（次々のスライド）とバックアップを前提にします。
【よくある誤解】
UPDATEやDELETEは、WHEREを書かないと「すべての行」を変更・削除します。取り消せるのは、トランザクション内でまだCOMMITしていない間か、バックアップから戻す場合だけです。
【情報の区分】
HPE社員ブログの内容 / 一般的な技術説明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[K04] 翔泳社：おうちで学べるデータベースのきほん 第2版（CodeZine紹介記事ほか）
    https://codezine.jp/article/detail/19955
    https://www.kinokuniya.co.jp/f/dsg-08-EK-1880472
確認時点：原資料の記載は2026年9月30日〜10月1日（日本時間）。変わりやすい情報（価格・製品・採用条件）は最新の公式ページで再確認してください。
（スライド35／資料の該当箇所：ブログ「データベース：基本的なSQL文」）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左がJOIN（顧客と注文をつなぐ）、右がGROUP BY（顧客ごとの合計）です。どちらも、前の図の2つの表を使っています。
【用語】
・INNER JOIN（JOIN）：両方の表に対応する行があるものだけ残す。
・LEFT JOIN：左の表の行はすべて残し、右に対応がなければNULL（値なし）になる。
・GROUP BY：同じ値の行をまとめる。SUM（合計）、COUNT（件数）、AVG（平均）などと一緒に使う。
・別名（c、o）：表の名前を短くする書き方。
【処理の詳細】
・JOINの結果：Sato（3000）、Sato（1200）、Suzuki（5000）。Tanakaは注文がないので出てこない。
・LEFT JOINにすると、Tanakaも出て、amountがNULLになる。
・GROUP BYの結果：Sato＝4200（3000＋1200）、Suzuki＝5000。
【情報の区分】
HPE社員ブログの内容 / 一般的な技術説明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[K04] 翔泳社：おうちで学べるデータベースのきほん 第2版（CodeZine紹介記事ほか）
    https://codezine.jp/article/detail/19955
    https://www.kinokuniya.co.jp/f/dsg-08-EK-1880472
確認時点：原資料の記載は2026年9月30日〜10月1日（日本時間）。変わりやすい情報（価格・製品・採用条件）は最新の公式ページで再確認してください。
（スライド36／資料の該当箇所：ブログ「データベース：基本的なSQL文」）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上のSQLは、AさんからBさんへ1000円を送る処理です。2つのUPDATEは、どちらも成功するか、どちらもなかったことにするかのどちらかです。下の4つのカードが、ACIDの意味です。
【用語】
・トランザクション：分割できない一連のデータベース操作の単位。BEGINで開始、COMMITで確定、ROLLBACKで取り消し。
・A（Atomicity）原子性：全部成功か、全部なしか。途中の状態にならない。
・C（Consistency）一貫性：処理の前後で、データのルール（残高が負にならない等）が守られる。
・I（Isolation）独立性：同時に動く別のトランザクションが、互いに影響しない。
・D（Durability）永続性：COMMITした結果は、障害が起きても失われない。
【処理の詳細】
・もし1つ目のUPDATE（Aから1000円引く）のあとで障害が起きて、2つ目（Bへ足す）が実行されないと、1000円が消えてしまいます。原子性があれば、この場合は全体がROLLBACKされ、元に戻ります。
・書籍⑤の第7章は「トランザクションと同時実行制御～複数のクエリをまとめる～」、第9章は「バックアップとリカバリ」です[K04]。
【よくある誤解】
COMMITの前に別の人が結果を見られる、とは限りません。見え方は「分離レベル」という設定で変わります。
【情報の区分】
HPE社員ブログの内容 / 一般的な技術説明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[K04] 翔泳社：おうちで学べるデータベースのきほん 第2版（CodeZine紹介記事ほか）
    https://codezine.jp/article/detail/19955
    https://www.kinokuniya.co.jp/f/dsg-08-EK-1880472
確認時点：原資料の記載は2026年9月30日〜10月1日（日本時間）。変わりやすい情報（価格・製品・採用条件）は最新の公式ページで再確認してください。
（スライド37／資料の該当箇所：ブログ「データベース：ACID特性」＋書籍⑤「トランザクションと同時実行制御」）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5つのカードが、データベースを業務で使うときの観点です。書籍⑤の第3章（お金の話）、第4章（アーキテクチャ構成）、第8章（テーブル設計の基礎と正規形）、第9章（バックアップとリカバリ）、第10章（パフォーマンス）に対応します[K04]。
【用語】
・正規化：表を分けて、データの重複をなくす設計の考え方。第1〜第3正規形などの段階がある。
・インデックス（索引）：本の索引のように、検索を速くするための仕組み。
・フルバックアップ：全体を保存。差分バックアップ：前回のフルとの差だけ。増分バックアップ：前回のバックアップからの差だけ。
・レプリケーション：データを複製して別のサーバーに持つ（可用性・負荷分散）。
【処理の詳細】
・バックアップは取っただけでは不十分で、戻せること（リストア）を確認する。第1部のRPO（失ってよいデータの時間幅）・RTO（復旧に許せる時間）とつながる。
・冗長化（複製）だけではバックアップの代わりにならない（誤削除も複製される）。
・イニシャルコスト（導入時の費用）とランニングコスト（運用の費用）の両方を見る（書籍⑤の第3章）。
【情報の区分】
書籍情報（検索結果で確認） / 一般的な技術説明
【出典（資料名・URL）】
[K04] 翔泳社：おうちで学べるデータベースのきほん 第2版（CodeZine紹介記事ほか）
    https://codezine.jp/article/detail/19955
    https://www.kinokuniya.co.jp/f/dsg-08-EK-1880472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確認時点：原資料の記載は2026年9月30日〜10月1日（日本時間）。変わりやすい情報（価格・製品・採用条件）は最新の公式ページで再確認してください。
（スライド38／資料の該当箇所：書籍⑤（データベース）の章：お金・アーキテクチャ・正規形・バックアップ・性能）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左から「利用者」→「Webサーバー」→「データベース」の3つの部品です。下に、それぞれの部品で使う学習内容を示しました。矢印は通信（ネットワーク）です。
【処理の詳細】
・ネットワーク：利用者のブラウザーとWebサーバーの通信（HTTP、ポート、TCP）。自分のPCの別端末から開いてみる。
・OS：Linux上でWebサーバーやDBを起動・停止し、ログ（/var/log）を見る。設定ファイルをviで編集する。
・データベース：顧客・商品・注文などの表を作り、SQLで登録・検索する。変更はトランザクションで行う。
・シェルスクリプト：DBのバックアップや、サービスの稼働確認を自動化する。
【成立条件・例外】
学習用の環境（自分のPC上の仮想マシンやWSL）で行います。会社や他人の環境、本番のシステムは使いません。
【なぜ重要か】
座学で覚えた用語が、実際に動かすと「つながった」と感じられます。ブログの筆者も、学習内容を振り返る意味でも制作物を作ることを勧めています。
【情報の区分】
HPE社員ブログの内容 / 教材の提案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確認時点：原資料の記載は2026年9月30日〜10月1日（日本時間）。変わりやすい情報（価格・製品・採用条件）は最新の公式ページで再確認してください。
（スライド39／資料の該当箇所：ブログ「各学習ポイント（座学のあとに）」＋資料制作者の提案）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左の列が段階、真ん中が作るもの、右が復習できる分野です。難しければ第1段階だけで十分です。
【処理の詳細】
・第1段階：ToDoリスト（または在庫メモ）を登録・一覧するだけのWebページ。DBの表は1つだけ。
・第2段階：表を2つに分け（例：顧客と注文）、JOINで一覧する。ユーザーと権限を分ける。ログを見る。
・第3段階：DBのバックアップをシェルスクリプトで毎日取り、別の場所に復元できることを確かめる。ping・ssで稼働確認スクリプトを作る。
【成立条件・例外】
使う言語は何でも構いません。Pythonなど、自分が読める言語で小さく作るのが続けやすいです（第1部のPython学習にもつながります）。
【情報の区分】
教材の提案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確認時点：原資料の記載は2026年9月30日〜10月1日（日本時間）。変わりやすい情報（価格・製品・採用条件）は最新の公式ページで再確認してください。
（スライド40／資料の該当箇所：資料制作者の提案）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上の4つが学習の分野、その下が対応する本です。ネットワークには2冊（詳しい②と、やさしい③）が紹介されています。英語の⑥は並行して使う本です。
【処理の詳細】
・① キタミ式イラストIT塾 基本情報技術者（きたみりゅうじ著・技術評論社）：CS基礎。
・② マスタリングTCP/IP 入門編（オーム社）：ネットワーク。体系的だが内容がやや多い。
・③ スラスラわかるネットワーク＆TCP/IPのきほん（リブロワークス著・SBクリエイティブ）：ネットワーク。図が多く、分量がちょうどよい。
・④ Linux標準教科書（LPI-Japan）：OS。無料のPDF。
・⑤ おうちで学べるデータベースのきほん（ミック・木村明治著・翔泳社）：データベース。
・⑥ 英会話ペラペラビジネス100（スティーブ・ソレイシィ、ロビン・ソレイシィ著・アルク）：英語。
【情報の区分】
HPE社員ブログの内容 / 書籍情報（検索結果で確認）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[K01] オーム社：マスタリングTCP/IP 入門編（第6版）
    https://www.ohmsha.co.jp/book/9784274224478.html
[K02] SBクリエイティブ：スラスラわかるネットワーク＆TCP/IPのきほん 第3版
    https://www.sbcr.jp/product/4815623333/
    https://www.hanmoto.com/bd/isbn/9784815623333
[K03] LPI-Japan：Linux標準教科書（無償配布）
    https://linuc.org/textbooks/linux/
    https://lpi.or.jp/news/press/page/20241216_01/
[K04] 翔泳社：おうちで学べるデータベースのきほん 第2版（CodeZine紹介記事ほか）
    https://codezine.jp/article/detail/19955
    https://www.kinokuniya.co.jp/f/dsg-08-EK-1880472
[K05] 技術評論社：キタミ式イラストIT塾 基本情報技術者 令和08年
    https://gihyo.jp/book/2025/978-4-297-15301-4
[K06] アルク：改訂版 英会話ペラペラビジネス100
    https://englishhub.jp/news/new-perapera-business.html
    https://www.kinokuniya.co.jp/f/dsg-01-9784757405806
確認時点：原資料の記載は2026年9月30日〜10月1日（日本時間）。変わりやすい情報（価格・製品・採用条件）は最新の公式ページで再確認してください。
（スライド41／資料の該当箇所：ブログ「書籍の紹介」①〜⑥）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左上が書誌情報（検索結果で確認）、左下がブログの紹介、右が読み方です。
【処理の詳細】
・書誌：きたみりゅうじ著、技術評論社。検索結果では、令和08年版が2025年12月3日発売、888ページ、2,420円（税込）と確認できました[K05]。毎年版が改訂される書籍です。
・ブログの紹介：「言わずと知れた、基本情報技術者試験対策のバイブル。イラストが多用されており、初心者でも理解しやすい。1章から17章までを勉強するとよい」[H01]。
・令和08年版では、科目B対策の項目が追加されたと紹介されています[K05]。
【成立条件・例外】
ブログの「1章から17章」は、記事が書かれた当時の版の章立てです。現在の版は章立てが変わっている可能性があるため、目次で「コンピュータ構成・データ表現・論理・セキュリティ・開発・マネジメント」に当たる章を探してください。
【なぜ重要か】
すでに基本情報を学習済みなので、ネットワーク・OS・DBに関する章を辞書のように引き、ほかの本で学ぶ内容の「用語の土台」を確認する使い方を提案します。
【情報の区分】
HPE社員ブログの内容 / 書籍情報（検索結果で確認）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[K05] 技術評論社：キタミ式イラストIT塾 基本情報技術者 令和08年
    https://gihyo.jp/book/2025/978-4-297-15301-4
確認時点：原資料の記載は2026年9月30日〜10月1日（日本時間）。変わりやすい情報（価格・製品・採用条件）は最新の公式ページで再確認してください。
（スライド42／資料の該当箇所：ブログ「書籍の紹介①」）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左上が書誌情報、左下がブログの紹介、右の表が章立てです。各章の対応（第3章＝Ethernetなど）を、前のスライドのヘッダーの図と結び付けて読むのが効果的です。
【処理の詳細】
・書誌：井上直也・村山公保・竹下隆史・荒井透・苅田幸雄著、オーム社。第6版は2019年12月発行、約400ページ、定価2,420円（税込）。検索結果では、第6版より新しい版（第7版）の情報は見つかりませんでした（2026年9月30日時点）[K01]。
・ブログの紹介：「ネットワークの学習に関してはこの本がおすすめ。研修の内容とリンクしており、体系的に知識を整理できる。単語の説明と図の解説が多い。ただし、やや内容が多いため、時間がない人や挫折しそうな人は③をおすすめする」[H01]。
・ブログの注意：本書を含め、いずれの本もTCP/IP 4階層モデルを中心に扱っているため、OSI参照モデルとの対応に注意が必要。
【成立条件・例外】
読み方の提案：まず第1〜2章で全体像（階層モデル・プロトコル）を押さえ、第3〜6章（データリンク・IP・IPに関連する技術・TCPとUDP）をヘッダー図と対応させて読む。第7〜9章（ルーティング・アプリケーション・セキュリティ）は後回しでもよい。すべてを通読する必要はありません。
【情報の区分】
HPE社員ブログの内容 / 書籍情報（検索結果で確認）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[K01] オーム社：マスタリングTCP/IP 入門編（第6版）
    https://www.ohmsha.co.jp/book/9784274224478.html
確認時点：原資料の記載は2026年9月30日〜10月1日（日本時間）。変わりやすい情報（価格・製品・採用条件）は最新の公式ページで再確認してください。
（スライド43／資料の該当箇所：ブログ「書籍の紹介②」）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上が書誌情報、左下がブログの紹介、右の表が第3版の章立てです。②と同じ4階層モデル（アプリケーション・トランスポート・インターネット・ネットワークインターフェース）の順に章が並んでいます。
【処理の詳細】
・書誌：リブロワークス著、SBクリエイティブ。第3版は2023年12月26日発売、200ページ、2,200円（税込）[K02]。
・ブログの紹介：「イラストや図をメインに解説され、ネットワークを構成する各要素のイメージがしやすい。分量もちょうどよく、初心者でもとっつきやすい。ただし、いずれの本もTCP/IP 4階層モデルを中心に扱っているため注意が必要」[H01]。
・第2章には「ChromeデベロッパーツールでHTTPメッセージを見る」、第3章には「netstatコマンドでネットワークの状態を見る」などの実習的な節があると、検索結果で確認できました[K02]。
【成立条件・例外】
ブログの記事は2023年6月ごろで、第3版（2023年12月発売）より前です。当時は第2版が紹介されていた可能性があります。現在は第3版が最新版として確認できます。
【なぜ重要か】
挫折しそうなときは、まず本書で全体像をつかみ、必要なところを②で深掘りする、という順序を提案します。
【情報の区分】
HPE社員ブログの内容 / 書籍情報（検索結果で確認）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[K02] SBクリエイティブ：スラスラわかるネットワーク＆TCP/IPのきほん 第3版
    https://www.sbcr.jp/product/4815623333/
    https://www.hanmoto.com/bd/isbn/9784815623333
確認時点：原資料の記載は2026年9月30日〜10月1日（日本時間）。変わりやすい情報（価格・製品・採用条件）は最新の公式ページで再確認してください。
（スライド44／資料の該当箇所：ブログ「書籍の紹介③」）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左上が書誌情報、左下がブログの紹介、右の表が現行版（Ver.4.0.1）の章立てです。
【処理の詳細】
・書誌：LPI-Japan。現行はVer.4.0.1（2026年2月18日リリース）、85ページ。PDF版・EPUB版は無料、Kindle版は有料。ライセンスはCC BY-NC-ND 4.0（表示・非営利・改変禁止）[K03]。
・2024年12月16日に新版が発表され、手を動かす演習を中心に、独学しやすい構成に変更されたと案内されています[K03]。
・ブログの紹介：「OSの基礎知識については、Linuxに関するこの書籍がおすすめ。PDF版なら無料で入手できる（2023年6月現在）。IPアドレスの解説や、ネットワークを管理するためのコマンドも紹介されており、ネットワークの学習の復習になる。LinuCレベル1試験対策としても最適」[H01]。
【成立条件・例外】
ブログが書かれた時点（2023年6月）の版はVer.3系です。章立ては現行版（Ver.4）と異なる可能性があります。学習では最新版をダウンロードして使えます。
【なぜ重要か】
この資料のOS章（コマンド・権限・vi・シェルスクリプト）は、この教科書の章立てと対応させて作りました。
【情報の区分】
HPE社員ブログの内容 / 書籍情報（検索結果で確認）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[K03] LPI-Japan：Linux標準教科書（無償配布）
    https://linuc.org/textbooks/linux/
    https://lpi.or.jp/news/press/page/20241216_01/
確認時点：原資料の記載は2026年9月30日〜10月1日（日本時間）。変わりやすい情報（価格・製品・採用条件）は最新の公式ページで再確認してください。
（スライド45／資料の該当箇所：ブログ「書籍の紹介④」）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左上が書誌情報、左下がブログの紹介、右の表が第2版の章立て（10章）です。
【処理の詳細】
・書誌：ミック・木村明治著、翔泳社。第2版は2024年8月26日発売、416ページ、2,640円（税込）。手を動かす実習でデータベースの動作と仕組みをつかめる、コストの考え方や障害に備える方法も図解で分かる、需要が高まるクラウドでのデータベース操作にも対応、と紹介されています[K04]。
・ブログの紹介：「基本的なDBMSの操作やSQLだけでなく、トランザクションやバックアップ、可用性、さらにはコストにまつわることまで、データベースに関する必須知識を体系的に学べる」[H01]。
・章立て：1データベースって何だろう、2リレーショナルデータベース、3お金の話（イニシャルコストとランニングコスト）、4アーキテクチャ構成、5DBMSを操作する際の基本知識、6SQL文の基本（SELECT文）、7トランザクションと同時実行制御、8テーブル設計の基礎（正規形）、9バックアップとリカバリ、10パフォーマンス[K04]。
【成立条件・例外】
ブログの記事（2023年6月）の時点の版は第1版だった可能性があります。現在は第2版が確認できます。
【なぜ重要か】
読み方の提案：1〜2章で概念、5〜6章でSQL入門、7章でトランザクションとACID（ブログの項目）を優先し、3〜4・8〜10章は余裕があれば読みます。
【情報の区分】
HPE社員ブログの内容 / 書籍情報（検索結果で確認）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[K04] 翔泳社：おうちで学べるデータベースのきほん 第2版（CodeZine紹介記事ほか）
    https://codezine.jp/article/detail/19955
    https://www.kinokuniya.co.jp/f/dsg-08-EK-1880472
確認時点：原資料の記載は2026年9月30日〜10月1日（日本時間）。変わりやすい情報（価格・製品・採用条件）は最新の公式ページで再確認してください。
（スライド46／資料の該当箇所：ブログ「書籍の紹介⑤」）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左上が書誌情報、左下がブログの紹介、右が使い方の提案です。
【処理の詳細】
・書誌：スティーブ・ソレイシィ、ロビン・ソレイシィ著、アルク。検索結果では、改訂版がA5判・256ページ・2,200円（税込）・音声ダウンロード付きと確認できました。改訂版は、オンライン会議などにも使えるよう内容が見直され、「日→英」の変換練習が強化された、と紹介されています[K06]。
・ブログの紹介：「実際に使えるシンプルな100の定番フレーズを学習することで、日本人が苦手とする『つまることなく連続でペラペラと話すこと』ができるようになる。単語は簡易なので英語に苦手意識がある方でもとっつきやすい。コラムでは、学習者が陥りやすいミスに絞って紹介し、相手に失礼のない、通じる英語が話せるようになる」[H01]。
【成立条件・例外】
ブログの記事時点の版は改訂前の可能性があります。購入時は最新の改訂版の内容を確認してください。
【情報の区分】
HPE社員ブログの内容 / 書籍情報（検索結果で確認）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[K06] アルク：改訂版 英会話ペラペラビジネス100
    https://englishhub.jp/news/new-perapera-business.html
    https://www.kinokuniya.co.jp/f/dsg-01-9784757405806
確認時点：原資料の記載は2026年9月30日〜10月1日（日本時間）。変わりやすい情報（価格・製品・採用条件）は最新の公式ページで再確認してください。
（スライド47／資料の該当箇所：ブログ「書籍の紹介⑥」）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左の列が本、右へ分野・ページ数・価格です。ページ数や価格は、検索結果の要約に基づく参考値です。
【処理の詳細】
・① キタミ式 基本情報（令和08年版、技術評論社）：888ページ、2,420円（税込）。
・② マスタリングTCP/IP 入門編（第6版、オーム社）：約400ページ、2,420円（税込）。
・③ スラスラわかるネットワーク＆TCP/IPのきほん（第3版、SBクリエイティブ）：200ページ、2,200円（税込）。
・④ Linux標準教科書（Ver.4.0.1、LPI-Japan）：85ページ。PDF・EPUBは無料、Kindleは有料。
・⑤ おうちで学べるデータベースのきほん（第2版、翔泳社）：416ページ、2,640円（税込）。
・⑥ 改訂版 英会話ペラペラビジネス100（アルク）：256ページ、2,200円（税込）。
【成立条件・例外】
価格・版は変わります。購入前に各出版社のページで確認してください。この比較表は、読む量の目安を示すためのものです。
【情報の区分】
書籍情報（検索結果で確認）
【出典（資料名・URL）】
[K01] オーム社：マスタリングTCP/IP 入門編（第6版）
    https://www.ohmsha.co.jp/book/9784274224478.html
[K02] SBクリエイティブ：スラスラわかるネットワーク＆TCP/IPのきほん 第3版
    https://www.sbcr.jp/product/4815623333/
    https://www.hanmoto.com/bd/isbn/9784815623333
[K03] LPI-Japan：Linux標準教科書（無償配布）
    https://linuc.org/textbooks/linux/
    https://lpi.or.jp/news/press/page/20241216_01/
[K04] 翔泳社：おうちで学べるデータベースのきほん 第2版（CodeZine紹介記事ほか）
    https://codezine.jp/article/detail/19955
    https://www.kinokuniya.co.jp/f/dsg-08-EK-1880472
[K05] 技術評論社：キタミ式イラストIT塾 基本情報技術者 令和08年
    https://gihyo.jp/book/2025/978-4-297-15301-4
[K06] アルク：改訂版 英会話ペラペラビジネス100
    https://englishhub.jp/news/new-perapera-business.html
    https://www.kinokuniya.co.jp/f/dsg-01-9784757405806
確認時点：原資料の記載は2026年9月30日〜10月1日（日本時間）。変わりやすい情報（価格・製品・採用条件）は最新の公式ページで再確認してください。
（スライド48／資料の該当箇所：ブログ「書籍の紹介」＋検索で確認した書誌）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左の列が学ぶ項目、右が読む本と章です。章番号は、検索で確認した目次に基づきます（版が違うと章番号が変わる場合があります）。
【処理の詳細】
・OSI・TCP/IPの全体像：③第1章「階層モデル」、②第1〜2章。
・ヘッダー（Ethernet・IP・TCP/UDP）：②第3〜6章、③第3〜5章。
・アプリ層・ポート番号：③第2〜3章、②第8章。
・OS・コマンド・vi：④第4〜7章。ユーザー・権限・ネットワーク設定・プロセス：④第8〜11章。
・RDBMS・SQL：⑤第1〜2章・第5〜6章。トランザクション（ACID）・バックアップ：⑤第7章・第9章。
・CS基礎：①の該当章を必要なときだけ。
【情報の区分】
教材の提案 / 書籍情報（検索結果で確認）
【出典（資料名・URL）】
[K01] オーム社：マスタリングTCP/IP 入門編（第6版）
    https://www.ohmsha.co.jp/book/9784274224478.html
[K02] SBクリエイティブ：スラスラわかるネットワーク＆TCP/IPのきほん 第3版
    https://www.sbcr.jp/product/4815623333/
    https://www.hanmoto.com/bd/isbn/9784815623333
[K03] LPI-Japan：Linux標準教科書（無償配布）
    https://linuc.org/textbooks/linux/
    https://lpi.or.jp/news/press/page/20241216_01/
[K04] 翔泳社：おうちで学べるデータベースのきほん 第2版（CodeZine紹介記事ほか）
    https://codezine.jp/article/detail/19955
    https://www.kinokuniya.co.jp/f/dsg-08-EK-1880472
確認時点：原資料の記載は2026年9月30日〜10月1日（日本時間）。変わりやすい情報（価格・製品・採用条件）は最新の公式ページで再確認してください。
（スライド49／資料の該当箇所：資料制作者の提案（目次は検索で確認））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左の3つが、ブログの英語に関する考え方、右の3つが、技術職として追加で伸ばすとよい提案です。
【処理の詳細】
・ブログの立場：外資系の企業らしく、英語の教材を1つ紹介する。簡易な単語で、つまることなく連続で話せるようにする。
・技術職の提案：製品マニュアル、エラーメッセージ、短いチケットを読める。事実・時刻・再現条件・影響を正確に書く（第1部の「2年目の目標」とつながる）。
・完璧な英会話を待つのではなく、短く正確に伝える練習を積み重ねる。
【成立条件・例外】
英語を使う場面は、配属や顧客によって大きく異なります。
【情報の区分】
HPE社員ブログの内容 / 教材の提案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[K06] アルク：改訂版 英会話ペラペラビジネス100
    https://englishhub.jp/news/new-perapera-business.html
    https://www.kinokuniya.co.jp/f/dsg-01-9784757405806
確認時点：原資料の記載は2026年9月30日〜10月1日（日本時間）。変わりやすい情報（価格・製品・採用条件）は最新の公式ページで再確認してください。
（スライド50／資料の該当箇所：ブログ「書籍の紹介⑥」＋資料制作者の提案）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左の3つが、ブログの結びの内容です。右の矢印は、予習から先へ進む流れです。
【処理の詳細】
・新入社員研修はスタートに過ぎない。この予習は、そのスタートでつまずかないための準備。
・実際には、仕事にアサインされてからが本番。みなさんには、その後のキャリアを考えることに時間を使ってほしい。
・HPEでは、他の社員から話を聞く機会が非常に豊富。その機会を活かすためにも、予習して余裕をもって研修に臨んでほしい。
・自分が思い描くキャリアにおいて真に重要なことは、入社後に自分の手でつかみ取ってほしい。
【なぜ重要か】
この資料の第1部（通信からHPEのSEの仕事まで）の「配属・キャリア」の章は、この結びの内容と重なります。
【情報の区分】
HPE社員ブログの内容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確認時点：原資料の記載は2026年9月30日〜10月1日（日本時間）。変わりやすい情報（価格・製品・採用条件）は最新の公式ページで再確認してください。
（スライド51／資料の該当箇所：ブログ「最後に」）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横軸が週、帯が各分野の実施期間です。英語は全期間で少しずつ行います。
【処理の詳細】
・週1〜2：CS基礎の軽い復習（前の「6問」チェック）。
・週2〜6：ネットワーク（③で全体→②でヘッダー→コマンドで観察）。
・週6〜9：OS（④の環境づくり→コマンド→vi→権限→シェルスクリプト）。
・週9〜11：データベース（⑤でSQLとACID）。
・週10〜12：制作物（3層の小さなシステム）。
・英語：全期間で毎日10分。
【成立条件・例外】
週5〜8時間は目安です。ブログは「事前に勉強する必要は特にない」としているので、余裕がなければ短縮・中止して構いません。
【情報の区分】
教材の提案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確認時点：原資料の記載は2026年9月30日〜10月1日（日本時間）。変わりやすい情報（価格・製品・採用条件）は最新の公式ページで再確認してください。
（スライド52／資料の該当箇所：資料制作者の提案）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5つのカードは、よくあるつまずきと、その対処です。
【処理の詳細】
・用語が多すぎる：図を自分で描く（OSI7層、カプセル化、表の関係など）。
・内容が難しい：やさしい本（③）へ戻って、全体像をつかんでから戻る。
・読むだけで頭に残らない：必ずコマンドやSQLを実際に打つ。
・理解した気になっている：自分の言葉で、誰かに説明する（声に出す・紙に書く）。
・時間が足りない：優先順位（ネットワーク・OSを優先）を決め、完璧を目指さない。
【情報の区分】
教材の提案 / HPE社員ブログの内容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確認時点：原資料の記載は2026年9月30日〜10月1日（日本時間）。変わりやすい情報（価格・製品・採用条件）は最新の公式ページで再確認してください。
（スライド53／資料の該当箇所：ブログ「書籍の紹介②③」＋資料制作者の提案）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左が問い、右が答えです。先に左を隠して、自分で答えてから右を見ると効果的です。
【処理の詳細】
・1. OSI参照モデルの7層を上から言える？ → アプリ・プレゼン・セッション・トランスポート・ネットワーク・データリンク・物理
・2. TCP/IPの4階層は？ → アプリ・トランスポート・インターネット・ネットワークインターフェース
・3. ルーターは第何層の機器？ → 第3層（IPで経路を選ぶ）
・4. TCPとUDPの大きな違いは？ → TCPは確認・順序・再送あり、UDPはなし
・5. 3ウェイハンドシェイクの順は？ → SYN → SYN＋ACK → ACK
・6. 192.168.1.0/24のホスト数は？ → 254台（.1〜.254）
・7. IPヘッダーのTTLは何のため？ → 転送の回数制限（ループ防止）。1ホップごとに1減る
【なぜ重要か】
説明できるかどうかが、理解の確認です。答えられなかった問いの章を、もう一度読み返します。
【情報の区分】
教材の提案 / 一般的な技術説明
（スライド54／資料の該当箇所：資料制作者の提案）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左が問い、右が答えです。先に左を隠して、自分で答えてから右を見ると効果的です。
【処理の詳細】
・1. HTTPS・DNS・SSHのポートは？ → 443・53・22
・2. chmod 640の意味は？ → 所有者rw-、グループr--、その他---
・3. パイプ「|」とリダイレクト「&gt;」の違いは？ → 次のコマンドへ渡す／ファイルへ保存
・4. viで保存して終了するには？ → :wq（保存せず終了は :q!）
・5. シェルスクリプトの終了コード0の意味は？ → 成功（直前の終了コードは$?）
・6. 主キーと外部キーの違いは？ → 行を特定する値／他の表の主キーを参照
・7. ACIDの4つは？ → 原子性・一貫性・独立性・永続性
・8. トランザクションで失敗したら？ → ROLLBACKで全部取り消す
【なぜ重要か】
説明できるかどうかが、理解の確認です。答えられなかった問いの章を、もう一度読み返します。
【情報の区分】
教材の提案 / 一般的な技術説明
（スライド55／資料の該当箇所：資料制作者の提案）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左が確認できたこと、右が確認できていないことです。
【処理の詳細】
・ブログ本文：本人が貼り付けた転載文を使いました。元記事のURLは検索で特定できましたが、制作環境から直接開けなかったため、元記事との文字単位の照合はしていません。
・書籍情報：出版社ページは制作環境から直接開けませんでした。検索結果の要約（書店・出版社・紹介記事のタイトルや要約）から、版・ページ数・価格・目次を確認しました。購入前に、各出版社の最新の目次ページでご確認ください。
・版の違い：ブログは2023年6月ごろの記事です。③スラスラわかる（第3版は2023年12月）、④Linux標準教科書（Ver.4は2024年12月）、⑤データベース（第2版は2024年8月）など、当時と版が違う可能性があります。
・技術解説：OSI参照モデル、ヘッダー、Linuxコマンド、SQLの解説は一般的な技術知識で、RFCなどの標準を出典にしました。製品・バージョンによって細部が異なる場合があります。
・未確認：各本の本文の内容の詳細（目次を超える内容）、現在の書店の在庫・価格の正確な値、2027年入社時点でのHPEの研修内容。
【情報の区分】
教材の提案
【出典（資料名・URL）】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確認時点：原資料の記載は2026年9月30日〜10月1日（日本時間）。変わりやすい情報（価格・製品・採用条件）は最新の公式ページで再確認してください。
（スライド56／資料の該当箇所：資料制作上の確認状況）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【出典の読み方】
H＝HPE社員ブログ、K＝書籍（検索結果で確認）、R＝RFC、I＝IANA。本文のスライドの右下の[Hxx]などの番号に対応します。
閲覧基準日は2026年9月30日（日本時間）。出版社サイトは制作環境から直接開けなかったため、検索結果の要約に基づいて確認しました。書籍の版・価格は変わることがあります。
【一覧（資料名・URL）】
[H01] HPE新卒ブログ 第4回 ＜入社までに勉強しておくと楽になること＞（HPE Community、FY23 HPE 有志活動ブログ、関根有希氏）。本文は本人が貼り付けた転載を使用
    https://community.hpe.com/t5/hpe-blog-japan/hpe%E6%96%B0%E5%8D%92%E3%83%96%E3%83%AD%E3%82%B0-%E7%AC%AC4%E5%9B%9E-%E5%85%A5%E7%A4%BE%E3%81%BE%E3%81%A7%E3%81%AB%E5%8B%89%E5%BC%B7%E3%81%97%E3%81%A6%E3%81%8A%E3%81%8F%E3%81%A8%E6%A5%BD%E3%81%AB%E3%81%AA%E3%82%8B%E3%81%93%E3%81%A8/ba-p/7192282
[K01] オーム社：マスタリングTCP/IP 入門編（第6版）
    https://www.ohmsha.co.jp/book/9784274224478.html
[K02] SBクリエイティブ：スラスラわかるネットワーク＆TCP/IPのきほん 第3版
    https://www.sbcr.jp/product/4815623333/
    https://www.hanmoto.com/bd/isbn/9784815623333
[K03] LPI-Japan：Linux標準教科書（無償配布）
    https://linuc.org/textbooks/linux/
    https://lpi.or.jp/news/press/page/20241216_01/
[K04] 翔泳社：おうちで学べるデータベースのきほん 第2版（CodeZine紹介記事ほか）
    https://codezine.jp/article/detail/19955
    https://www.kinokuniya.co.jp/f/dsg-08-EK-1880472
[K05] 技術評論社：キタミ式イラストIT塾 基本情報技術者 令和08年
    https://gihyo.jp/book/2025/978-4-297-15301-4
[K06] アルク：改訂版 英会話ペラペラビジネス100
    https://englishhub.jp/news/new-perapera-business.html
    https://www.kinokuniya.co.jp/f/dsg-01-9784757405806
[R01] IETF：RFC 791（IPv4）、RFC 9293（TCP）、RFC 768（UDP）
    https://www.rfc-editor.org/rfc/rfc791
    https://www.rfc-editor.org/rfc/rfc9293
    https://www.rfc-editor.org/rfc/rfc768
[I01] IANA：サービス名とポート番号の登録簿
    https://www.iana.org/assignments/service-names-port-numbers
【情報の区分】
一般的な技術説明
（スライド57／資料の該当箇所：出典一覧）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slideLayout" Target="../slideLayouts/slideLayout1.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438"/>
        </a:solidFill>
      </p:bgPr>
    </p:bg>
    <p:spTree>
      <p:nvGrpSpPr>
        <p:cNvPr id="1" name=""/>
        <p:cNvGrpSpPr/>
        <p:nvPr/>
      </p:nvGrpSpPr>
      <p:grpSpPr>
        <a:xfrm>
          <a:off x="0" y="0"/>
          <a:ext cx="0" cy="0"/>
          <a:chOff x="0" y="0"/>
          <a:chExt cx="0" cy="0"/>
        </a:xfrm>
      </p:grpSpPr>
      <p:sp>
        <p:nvSpPr>
          <p:cNvPr id="3" name="Text 0"/>
          <p:cNvSpPr txBox="1"/>
          <p:nvPr/>
        </p:nvSpPr>
        <p:spPr>
          <a:xfrm>
            <a:off x="731520" y="640080"/>
            <a:ext cx="548640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9FB6D1"/>
                </a:solidFill>
                <a:latin typeface="Yu Gothic" pitchFamily="34" charset="0"/>
                <a:ea typeface="Yu Gothic" pitchFamily="34" charset="-122"/>
                <a:cs typeface="Yu Gothic" pitchFamily="34" charset="-120"/>
              </a:rPr>
              <a:t>HPE社員ブログの解説</a:t>
            </a:r>
            <a:endParaRPr lang="en-US" sz="2000" dirty="0"/>
          </a:p>
        </p:txBody>
      </p:sp>
      <p:sp>
        <p:nvSpPr>
          <p:cNvPr id="4" name="Text 1"/>
          <p:cNvSpPr txBox="1"/>
          <p:nvPr/>
        </p:nvSpPr>
        <p:spPr>
          <a:xfrm>
            <a:off x="731520" y="1234440"/>
            <a:ext cx="7589520" cy="2514600"/>
          </a:xfrm>
          <a:prstGeom prst="rect">
            <a:avLst/>
          </a:prstGeom>
          <a:noFill/>
          <a:ln/>
        </p:spPr>
        <p:txBody>
          <a:bodyPr wrap="square" lIns="0" tIns="0" rIns="0" bIns="0" rtlCol="0" anchor="t"/>
          <a:lstStyle/>
          <a:p>
            <a:pPr algn="l" indent="0" marL="0">
              <a:lnSpc>
                <a:spcPts val="5800"/>
              </a:lnSpc>
              <a:buNone/>
            </a:pPr>
            <a:r>
              <a:rPr lang="ja-JP" altLang="en-US" sz="4400" b="1" dirty="0">
                <a:solidFill>
                  <a:srgbClr val="FFFFFF"/>
                </a:solidFill>
                <a:latin typeface="Yu Gothic" pitchFamily="34" charset="0"/>
                <a:ea typeface="Yu Gothic" pitchFamily="34" charset="-122"/>
                <a:cs typeface="Yu Gothic" pitchFamily="34" charset="-120"/>
              </a:rPr>
              <a:t>入社前に</a:t>
            </a:r>
            <a:endParaRPr lang="en-US" sz="4400" dirty="0"/>
          </a:p>
          <a:p>
            <a:pPr algn="l" indent="0" marL="0">
              <a:lnSpc>
                <a:spcPts val="5800"/>
              </a:lnSpc>
              <a:buNone/>
            </a:pPr>
            <a:r>
              <a:rPr lang="ja-JP" altLang="en-US" sz="4400" b="1" dirty="0">
                <a:solidFill>
                  <a:srgbClr val="FFFFFF"/>
                </a:solidFill>
                <a:latin typeface="Yu Gothic" pitchFamily="34" charset="0"/>
                <a:ea typeface="Yu Gothic" pitchFamily="34" charset="-122"/>
                <a:cs typeface="Yu Gothic" pitchFamily="34" charset="-120"/>
              </a:rPr>
              <a:t>「あえて勉強するなら」</a:t>
            </a:r>
            <a:endParaRPr lang="en-US" sz="4400" dirty="0"/>
          </a:p>
          <a:p>
            <a:pPr algn="l" indent="0" marL="0">
              <a:lnSpc>
                <a:spcPts val="5800"/>
              </a:lnSpc>
              <a:buNone/>
            </a:pPr>
            <a:r>
              <a:rPr lang="ja-JP" altLang="en-US" sz="4400" b="1" dirty="0">
                <a:solidFill>
                  <a:srgbClr val="FFFFFF"/>
                </a:solidFill>
                <a:latin typeface="Yu Gothic" pitchFamily="34" charset="0"/>
                <a:ea typeface="Yu Gothic" pitchFamily="34" charset="-122"/>
                <a:cs typeface="Yu Gothic" pitchFamily="34" charset="-120"/>
              </a:rPr>
              <a:t>ここだけ押さえる</a:t>
            </a:r>
            <a:endParaRPr lang="en-US" sz="4400" dirty="0"/>
          </a:p>
        </p:txBody>
      </p:sp>
      <p:sp>
        <p:nvSpPr>
          <p:cNvPr id="5" name="Text 2"/>
          <p:cNvSpPr txBox="1"/>
          <p:nvPr/>
        </p:nvSpPr>
        <p:spPr>
          <a:xfrm>
            <a:off x="731520" y="3977640"/>
            <a:ext cx="7315200" cy="868680"/>
          </a:xfrm>
          <a:prstGeom prst="rect">
            <a:avLst/>
          </a:prstGeom>
          <a:noFill/>
          <a:ln/>
        </p:spPr>
        <p:txBody>
          <a:bodyPr wrap="square" lIns="0" tIns="0" rIns="0" bIns="0" rtlCol="0" anchor="t"/>
          <a:lstStyle/>
          <a:p>
            <a:pPr algn="l" indent="0" marL="0">
              <a:lnSpc>
                <a:spcPts val="2900"/>
              </a:lnSpc>
              <a:buNone/>
            </a:pPr>
            <a:r>
              <a:rPr lang="ja-JP" altLang="en-US" sz="2200" dirty="0">
                <a:solidFill>
                  <a:srgbClr val="CADCFC"/>
                </a:solidFill>
                <a:latin typeface="Yu Gothic" pitchFamily="34" charset="0"/>
                <a:ea typeface="Yu Gothic" pitchFamily="34" charset="-122"/>
                <a:cs typeface="Yu Gothic" pitchFamily="34" charset="-120"/>
              </a:rPr>
              <a:t>ロードマップの4ステップと、紹介された本6冊、その中身のスキルを、図と例でやさしく説明します</a:t>
            </a:r>
            <a:endParaRPr lang="en-US" sz="2200" dirty="0"/>
          </a:p>
        </p:txBody>
      </p:sp>
      <p:sp>
        <p:nvSpPr>
          <p:cNvPr id="6" name="Text 3"/>
          <p:cNvSpPr txBox="1"/>
          <p:nvPr/>
        </p:nvSpPr>
        <p:spPr>
          <a:xfrm>
            <a:off x="731520" y="5029200"/>
            <a:ext cx="7680960" cy="1280160"/>
          </a:xfrm>
          <a:prstGeom prst="rect">
            <a:avLst/>
          </a:prstGeom>
          <a:noFill/>
          <a:ln/>
        </p:spPr>
        <p:txBody>
          <a:bodyPr wrap="square" lIns="0" tIns="0" rIns="0" bIns="0" rtlCol="0" anchor="t"/>
          <a:lstStyle/>
          <a:p>
            <a:pPr algn="l" indent="0" marL="0">
              <a:lnSpc>
                <a:spcPts val="2400"/>
              </a:lnSpc>
              <a:buNone/>
            </a:pPr>
            <a:r>
              <a:rPr lang="ja-JP" altLang="en-US" sz="1800" dirty="0">
                <a:solidFill>
                  <a:srgbClr val="9FB6D1"/>
                </a:solidFill>
                <a:latin typeface="Yu Gothic" pitchFamily="34" charset="0"/>
                <a:ea typeface="Yu Gothic" pitchFamily="34" charset="-122"/>
                <a:cs typeface="Yu Gothic" pitchFamily="34" charset="-120"/>
              </a:rPr>
              <a:t>元記事：HPE新卒ブログ 第4回（筆者：関根有希さん、2023年）</a:t>
            </a:r>
            <a:endParaRPr lang="en-US" sz="1800" dirty="0"/>
          </a:p>
          <a:p>
            <a:pPr algn="l" indent="0" marL="0">
              <a:lnSpc>
                <a:spcPts val="2400"/>
              </a:lnSpc>
              <a:buNone/>
            </a:pPr>
            <a:r>
              <a:rPr lang="ja-JP" altLang="en-US" sz="1800" dirty="0">
                <a:solidFill>
                  <a:srgbClr val="9FB6D1"/>
                </a:solidFill>
                <a:latin typeface="Yu Gothic" pitchFamily="34" charset="0"/>
                <a:ea typeface="Yu Gothic" pitchFamily="34" charset="-122"/>
                <a:cs typeface="Yu Gothic" pitchFamily="34" charset="-120"/>
              </a:rPr>
              <a:t>本の情報は検索で確認（2026年9月30日時点）</a:t>
            </a:r>
            <a:endParaRPr lang="en-US" sz="1800" dirty="0"/>
          </a:p>
          <a:p>
            <a:pPr algn="l" indent="0" marL="0">
              <a:lnSpc>
                <a:spcPts val="2400"/>
              </a:lnSpc>
              <a:buNone/>
            </a:pPr>
            <a:r>
              <a:rPr lang="ja-JP" altLang="en-US" sz="1800" dirty="0">
                <a:solidFill>
                  <a:srgbClr val="9FB6D1"/>
                </a:solidFill>
                <a:latin typeface="Yu Gothic" pitchFamily="34" charset="0"/>
                <a:ea typeface="Yu Gothic" pitchFamily="34" charset="-122"/>
                <a:cs typeface="Yu Gothic" pitchFamily="34" charset="-120"/>
              </a:rPr>
              <a:t>学習用の独自教材です。HPEの公式資料ではありません。</a:t>
            </a:r>
            <a:endParaRPr lang="en-US" sz="1800" dirty="0"/>
          </a:p>
        </p:txBody>
      </p:sp>
      <p:sp>
        <p:nvSpPr>
          <p:cNvPr id="7" name="Shape 4"/>
          <p:cNvSpPr/>
          <p:nvPr/>
        </p:nvSpPr>
        <p:spPr>
          <a:xfrm>
            <a:off x="8732520" y="914400"/>
            <a:ext cx="3017520" cy="960120"/>
          </a:xfrm>
          <a:prstGeom prst="roundRect">
            <a:avLst>
              <a:gd name="adj" fmla="val 11429"/>
            </a:avLst>
          </a:prstGeom>
          <a:solidFill>
            <a:srgbClr val="2F6BC2"/>
          </a:solidFill>
          <a:ln/>
        </p:spPr>
      </p:sp>
      <p:sp>
        <p:nvSpPr>
          <p:cNvPr id="8" name="Text 5"/>
          <p:cNvSpPr txBox="1"/>
          <p:nvPr/>
        </p:nvSpPr>
        <p:spPr>
          <a:xfrm>
            <a:off x="8823960" y="914400"/>
            <a:ext cx="2834640" cy="9601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① コンピュータサイエンスの基礎</a:t>
            </a:r>
            <a:endParaRPr lang="en-US" sz="2000" dirty="0"/>
          </a:p>
        </p:txBody>
      </p:sp>
      <p:sp>
        <p:nvSpPr>
          <p:cNvPr id="9" name="Shape 6"/>
          <p:cNvSpPr/>
          <p:nvPr/>
        </p:nvSpPr>
        <p:spPr>
          <a:xfrm>
            <a:off x="10241280" y="1892808"/>
            <a:ext cx="0" cy="374904"/>
          </a:xfrm>
          <a:prstGeom prst="line">
            <a:avLst/>
          </a:prstGeom>
          <a:noFill/>
          <a:ln w="38100">
            <a:solidFill>
              <a:srgbClr val="CADCFC"/>
            </a:solidFill>
            <a:prstDash val="solid"/>
            <a:tailEnd type="triangle"/>
          </a:ln>
        </p:spPr>
      </p:sp>
      <p:sp>
        <p:nvSpPr>
          <p:cNvPr id="10" name="Shape 7"/>
          <p:cNvSpPr/>
          <p:nvPr/>
        </p:nvSpPr>
        <p:spPr>
          <a:xfrm>
            <a:off x="8732520" y="2286000"/>
            <a:ext cx="3017520" cy="960120"/>
          </a:xfrm>
          <a:prstGeom prst="roundRect">
            <a:avLst>
              <a:gd name="adj" fmla="val 11429"/>
            </a:avLst>
          </a:prstGeom>
          <a:solidFill>
            <a:srgbClr val="0B7A7A"/>
          </a:solidFill>
          <a:ln/>
        </p:spPr>
      </p:sp>
      <p:sp>
        <p:nvSpPr>
          <p:cNvPr id="11" name="Text 8"/>
          <p:cNvSpPr txBox="1"/>
          <p:nvPr/>
        </p:nvSpPr>
        <p:spPr>
          <a:xfrm>
            <a:off x="8823960" y="2286000"/>
            <a:ext cx="2834640" cy="9601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② ネットワーク</a:t>
            </a:r>
            <a:endParaRPr lang="en-US" sz="2000" dirty="0"/>
          </a:p>
        </p:txBody>
      </p:sp>
      <p:sp>
        <p:nvSpPr>
          <p:cNvPr id="12" name="Shape 9"/>
          <p:cNvSpPr/>
          <p:nvPr/>
        </p:nvSpPr>
        <p:spPr>
          <a:xfrm>
            <a:off x="10241280" y="3264408"/>
            <a:ext cx="0" cy="374904"/>
          </a:xfrm>
          <a:prstGeom prst="line">
            <a:avLst/>
          </a:prstGeom>
          <a:noFill/>
          <a:ln w="38100">
            <a:solidFill>
              <a:srgbClr val="CADCFC"/>
            </a:solidFill>
            <a:prstDash val="solid"/>
            <a:tailEnd type="triangle"/>
          </a:ln>
        </p:spPr>
      </p:sp>
      <p:sp>
        <p:nvSpPr>
          <p:cNvPr id="13" name="Shape 10"/>
          <p:cNvSpPr/>
          <p:nvPr/>
        </p:nvSpPr>
        <p:spPr>
          <a:xfrm>
            <a:off x="8732520" y="3657600"/>
            <a:ext cx="3017520" cy="960120"/>
          </a:xfrm>
          <a:prstGeom prst="roundRect">
            <a:avLst>
              <a:gd name="adj" fmla="val 11429"/>
            </a:avLst>
          </a:prstGeom>
          <a:solidFill>
            <a:srgbClr val="5B46B8"/>
          </a:solidFill>
          <a:ln/>
        </p:spPr>
      </p:sp>
      <p:sp>
        <p:nvSpPr>
          <p:cNvPr id="14" name="Text 11"/>
          <p:cNvSpPr txBox="1"/>
          <p:nvPr/>
        </p:nvSpPr>
        <p:spPr>
          <a:xfrm>
            <a:off x="8823960" y="3657600"/>
            <a:ext cx="2834640" cy="9601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③ OSの基礎知識</a:t>
            </a:r>
            <a:endParaRPr lang="en-US" sz="2000" dirty="0"/>
          </a:p>
        </p:txBody>
      </p:sp>
      <p:sp>
        <p:nvSpPr>
          <p:cNvPr id="15" name="Shape 12"/>
          <p:cNvSpPr/>
          <p:nvPr/>
        </p:nvSpPr>
        <p:spPr>
          <a:xfrm>
            <a:off x="10241280" y="4636008"/>
            <a:ext cx="0" cy="374904"/>
          </a:xfrm>
          <a:prstGeom prst="line">
            <a:avLst/>
          </a:prstGeom>
          <a:noFill/>
          <a:ln w="38100">
            <a:solidFill>
              <a:srgbClr val="CADCFC"/>
            </a:solidFill>
            <a:prstDash val="solid"/>
            <a:tailEnd type="triangle"/>
          </a:ln>
        </p:spPr>
      </p:sp>
      <p:sp>
        <p:nvSpPr>
          <p:cNvPr id="16" name="Shape 13"/>
          <p:cNvSpPr/>
          <p:nvPr/>
        </p:nvSpPr>
        <p:spPr>
          <a:xfrm>
            <a:off x="8732520" y="5029200"/>
            <a:ext cx="3017520" cy="960120"/>
          </a:xfrm>
          <a:prstGeom prst="roundRect">
            <a:avLst>
              <a:gd name="adj" fmla="val 11429"/>
            </a:avLst>
          </a:prstGeom>
          <a:solidFill>
            <a:srgbClr val="237A48"/>
          </a:solidFill>
          <a:ln/>
        </p:spPr>
      </p:sp>
      <p:sp>
        <p:nvSpPr>
          <p:cNvPr id="17" name="Text 14"/>
          <p:cNvSpPr txBox="1"/>
          <p:nvPr/>
        </p:nvSpPr>
        <p:spPr>
          <a:xfrm>
            <a:off x="8823960" y="5029200"/>
            <a:ext cx="2834640" cy="9601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④ データベース</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ブログの要点</a:t>
            </a:r>
            <a:endParaRPr lang="ja-JP" sz="1400" dirty="0"/>
          </a:p>
        </p:txBody>
      </p:sp>
      <p:sp>
        <p:nvSpPr>
          <p:cNvPr id="3" name="Text 1"/>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この資料の読み方：何を根拠にしているか</a:t>
            </a:r>
            <a:endParaRPr lang="ja-JP" sz="3000" dirty="0"/>
          </a:p>
        </p:txBody>
      </p:sp>
      <p:sp>
        <p:nvSpPr>
          <p:cNvPr id="4" name="Text 2"/>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ブログに書かれていること、本の情報、技術の一般的な説明、私たちの提案は、性質が違います。右上のラベルで区別し、混ぜないように作りました。</a:t>
            </a:r>
            <a:endParaRPr lang="en-US" sz="18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a:t>
            </a:r>
            <a:endParaRPr lang="ja-JP" sz="1200" dirty="0"/>
          </a:p>
        </p:txBody>
      </p:sp>
      <p:sp>
        <p:nvSpPr>
          <p:cNvPr id="7" name="Shape 4"/>
          <p:cNvSpPr/>
          <p:nvPr/>
        </p:nvSpPr>
        <p:spPr>
          <a:xfrm>
            <a:off x="457200" y="1783080"/>
            <a:ext cx="5532120" cy="2148840"/>
          </a:xfrm>
          <a:prstGeom prst="roundRect">
            <a:avLst>
              <a:gd name="adj" fmla="val 5957"/>
            </a:avLst>
          </a:prstGeom>
          <a:solidFill>
            <a:srgbClr val="DDF1E4"/>
          </a:solidFill>
          <a:ln/>
        </p:spPr>
      </p:sp>
      <p:sp>
        <p:nvSpPr>
          <p:cNvPr id="8" name="Shape 5"/>
          <p:cNvSpPr/>
          <p:nvPr/>
        </p:nvSpPr>
        <p:spPr>
          <a:xfrm>
            <a:off x="621792" y="1911096"/>
            <a:ext cx="512064" cy="512064"/>
          </a:xfrm>
          <a:prstGeom prst="ellipse">
            <a:avLst/>
          </a:prstGeom>
          <a:solidFill>
            <a:srgbClr val="237A48"/>
          </a:solidFill>
          <a:ln/>
        </p:spPr>
      </p:sp>
      <p:pic>
        <p:nvPicPr>
          <p:cNvPr id="9" name="Image 0" descr="preencoded.png">    </p:cNvPr>
          <p:cNvPicPr>
            <a:picLocks noChangeAspect="1"/>
          </p:cNvPicPr>
          <p:nvPr/>
        </p:nvPicPr>
        <p:blipFill>
          <a:blip r:embed="rId1"/>
          <a:stretch>
            <a:fillRect/>
          </a:stretch>
        </p:blipFill>
        <p:spPr>
          <a:xfrm>
            <a:off x="734446" y="2023750"/>
            <a:ext cx="286756" cy="286756"/>
          </a:xfrm>
          <a:prstGeom prst="rect">
            <a:avLst/>
          </a:prstGeom>
        </p:spPr>
      </p:pic>
      <p:sp>
        <p:nvSpPr>
          <p:cNvPr id="10" name="Text 6"/>
          <p:cNvSpPr txBox="1"/>
          <p:nvPr/>
        </p:nvSpPr>
        <p:spPr>
          <a:xfrm>
            <a:off x="1243584" y="1911096"/>
            <a:ext cx="460857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ブログの内容</a:t>
            </a:r>
            <a:endParaRPr lang="en-US" sz="2200" dirty="0"/>
          </a:p>
        </p:txBody>
      </p:sp>
      <p:sp>
        <p:nvSpPr>
          <p:cNvPr id="11" name="Text 7"/>
          <p:cNvSpPr txBox="1"/>
          <p:nvPr/>
        </p:nvSpPr>
        <p:spPr>
          <a:xfrm>
            <a:off x="640080" y="2514600"/>
            <a:ext cx="5166360" cy="13258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筆者（2023年入社のSE）が書いた体験に基づく意見。研修の約束ではない</a:t>
            </a:r>
            <a:endParaRPr lang="en-US" sz="1800" dirty="0"/>
          </a:p>
        </p:txBody>
      </p:sp>
      <p:sp>
        <p:nvSpPr>
          <p:cNvPr id="12" name="Shape 8"/>
          <p:cNvSpPr/>
          <p:nvPr/>
        </p:nvSpPr>
        <p:spPr>
          <a:xfrm>
            <a:off x="6199632" y="1783080"/>
            <a:ext cx="5532120" cy="2148840"/>
          </a:xfrm>
          <a:prstGeom prst="roundRect">
            <a:avLst>
              <a:gd name="adj" fmla="val 5957"/>
            </a:avLst>
          </a:prstGeom>
          <a:solidFill>
            <a:srgbClr val="FDEBD0"/>
          </a:solidFill>
          <a:ln/>
        </p:spPr>
      </p:sp>
      <p:sp>
        <p:nvSpPr>
          <p:cNvPr id="13" name="Shape 9"/>
          <p:cNvSpPr/>
          <p:nvPr/>
        </p:nvSpPr>
        <p:spPr>
          <a:xfrm>
            <a:off x="6364224" y="1911096"/>
            <a:ext cx="512064" cy="512064"/>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476878" y="2023750"/>
            <a:ext cx="286756" cy="286756"/>
          </a:xfrm>
          <a:prstGeom prst="rect">
            <a:avLst/>
          </a:prstGeom>
        </p:spPr>
      </p:pic>
      <p:sp>
        <p:nvSpPr>
          <p:cNvPr id="15" name="Text 10"/>
          <p:cNvSpPr txBox="1"/>
          <p:nvPr/>
        </p:nvSpPr>
        <p:spPr>
          <a:xfrm>
            <a:off x="6986016" y="1911096"/>
            <a:ext cx="460857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書籍の情報</a:t>
            </a:r>
            <a:endParaRPr lang="en-US" sz="2200" dirty="0"/>
          </a:p>
        </p:txBody>
      </p:sp>
      <p:sp>
        <p:nvSpPr>
          <p:cNvPr id="16" name="Text 11"/>
          <p:cNvSpPr txBox="1"/>
          <p:nvPr/>
        </p:nvSpPr>
        <p:spPr>
          <a:xfrm>
            <a:off x="6382512" y="2514600"/>
            <a:ext cx="5166360" cy="132588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版・ページ数・目次は、検索結果の要約で確認。購入前に出版社のページで最終確認</a:t>
            </a:r>
            <a:endParaRPr lang="en-US" sz="1800" dirty="0"/>
          </a:p>
        </p:txBody>
      </p:sp>
      <p:sp>
        <p:nvSpPr>
          <p:cNvPr id="17" name="Shape 12"/>
          <p:cNvSpPr/>
          <p:nvPr/>
        </p:nvSpPr>
        <p:spPr>
          <a:xfrm>
            <a:off x="457200" y="4069080"/>
            <a:ext cx="5532120" cy="2194560"/>
          </a:xfrm>
          <a:prstGeom prst="roundRect">
            <a:avLst>
              <a:gd name="adj" fmla="val 5833"/>
            </a:avLst>
          </a:prstGeom>
          <a:solidFill>
            <a:srgbClr val="DCE8F8"/>
          </a:solidFill>
          <a:ln/>
        </p:spPr>
      </p:sp>
      <p:sp>
        <p:nvSpPr>
          <p:cNvPr id="18" name="Shape 13"/>
          <p:cNvSpPr/>
          <p:nvPr/>
        </p:nvSpPr>
        <p:spPr>
          <a:xfrm>
            <a:off x="621792" y="4197096"/>
            <a:ext cx="512064" cy="512064"/>
          </a:xfrm>
          <a:prstGeom prst="ellipse">
            <a:avLst/>
          </a:prstGeom>
          <a:solidFill>
            <a:srgbClr val="2F6BC2"/>
          </a:solidFill>
          <a:ln/>
        </p:spPr>
      </p:sp>
      <p:pic>
        <p:nvPicPr>
          <p:cNvPr id="19" name="Image 2" descr="preencoded.png">    </p:cNvPr>
          <p:cNvPicPr>
            <a:picLocks noChangeAspect="1"/>
          </p:cNvPicPr>
          <p:nvPr/>
        </p:nvPicPr>
        <p:blipFill>
          <a:blip r:embed="rId3"/>
          <a:stretch>
            <a:fillRect/>
          </a:stretch>
        </p:blipFill>
        <p:spPr>
          <a:xfrm>
            <a:off x="734446" y="4309750"/>
            <a:ext cx="286756" cy="286756"/>
          </a:xfrm>
          <a:prstGeom prst="rect">
            <a:avLst/>
          </a:prstGeom>
        </p:spPr>
      </p:pic>
      <p:sp>
        <p:nvSpPr>
          <p:cNvPr id="20" name="Text 14"/>
          <p:cNvSpPr txBox="1"/>
          <p:nvPr/>
        </p:nvSpPr>
        <p:spPr>
          <a:xfrm>
            <a:off x="1243584" y="4197096"/>
            <a:ext cx="460857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技術の解説</a:t>
            </a:r>
            <a:endParaRPr lang="en-US" sz="2200" dirty="0"/>
          </a:p>
        </p:txBody>
      </p:sp>
      <p:sp>
        <p:nvSpPr>
          <p:cNvPr id="21" name="Text 15"/>
          <p:cNvSpPr txBox="1"/>
          <p:nvPr/>
        </p:nvSpPr>
        <p:spPr>
          <a:xfrm>
            <a:off x="640080" y="4800600"/>
            <a:ext cx="5166360" cy="13716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OSI参照モデル、Linuxコマンド、SQLなど、一般的な技術の説明</a:t>
            </a:r>
            <a:endParaRPr lang="en-US" sz="1800" dirty="0"/>
          </a:p>
        </p:txBody>
      </p:sp>
      <p:sp>
        <p:nvSpPr>
          <p:cNvPr id="22" name="Shape 16"/>
          <p:cNvSpPr/>
          <p:nvPr/>
        </p:nvSpPr>
        <p:spPr>
          <a:xfrm>
            <a:off x="6199632" y="4069080"/>
            <a:ext cx="5532120" cy="2194560"/>
          </a:xfrm>
          <a:prstGeom prst="roundRect">
            <a:avLst>
              <a:gd name="adj" fmla="val 5833"/>
            </a:avLst>
          </a:prstGeom>
          <a:solidFill>
            <a:srgbClr val="D9F2F1"/>
          </a:solidFill>
          <a:ln/>
        </p:spPr>
      </p:sp>
      <p:sp>
        <p:nvSpPr>
          <p:cNvPr id="23" name="Shape 17"/>
          <p:cNvSpPr/>
          <p:nvPr/>
        </p:nvSpPr>
        <p:spPr>
          <a:xfrm>
            <a:off x="6364224" y="4197096"/>
            <a:ext cx="512064" cy="512064"/>
          </a:xfrm>
          <a:prstGeom prst="ellipse">
            <a:avLst/>
          </a:prstGeom>
          <a:solidFill>
            <a:srgbClr val="0B7A7A"/>
          </a:solidFill>
          <a:ln/>
        </p:spPr>
      </p:sp>
      <p:pic>
        <p:nvPicPr>
          <p:cNvPr id="24" name="Image 3" descr="preencoded.png">    </p:cNvPr>
          <p:cNvPicPr>
            <a:picLocks noChangeAspect="1"/>
          </p:cNvPicPr>
          <p:nvPr/>
        </p:nvPicPr>
        <p:blipFill>
          <a:blip r:embed="rId4"/>
          <a:stretch>
            <a:fillRect/>
          </a:stretch>
        </p:blipFill>
        <p:spPr>
          <a:xfrm>
            <a:off x="6476878" y="4309750"/>
            <a:ext cx="286756" cy="286756"/>
          </a:xfrm>
          <a:prstGeom prst="rect">
            <a:avLst/>
          </a:prstGeom>
        </p:spPr>
      </p:pic>
      <p:sp>
        <p:nvSpPr>
          <p:cNvPr id="25" name="Text 18"/>
          <p:cNvSpPr txBox="1"/>
          <p:nvPr/>
        </p:nvSpPr>
        <p:spPr>
          <a:xfrm>
            <a:off x="6986016" y="4197096"/>
            <a:ext cx="460857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資料制作者の提案</a:t>
            </a:r>
            <a:endParaRPr lang="en-US" sz="2200" dirty="0"/>
          </a:p>
        </p:txBody>
      </p:sp>
      <p:sp>
        <p:nvSpPr>
          <p:cNvPr id="26" name="Text 19"/>
          <p:cNvSpPr txBox="1"/>
          <p:nvPr/>
        </p:nvSpPr>
        <p:spPr>
          <a:xfrm>
            <a:off x="6382512" y="4800600"/>
            <a:ext cx="5166360" cy="13716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学習の順序・時間配分・演習の例。あなたの状況で変えてよい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ブログの要点</a:t>
            </a:r>
            <a:endParaRPr lang="ja-JP" sz="1400" dirty="0"/>
          </a:p>
        </p:txBody>
      </p:sp>
      <p:sp>
        <p:nvSpPr>
          <p:cNvPr id="3" name="Text 1"/>
          <p:cNvSpPr txBox="1"/>
          <p:nvPr/>
        </p:nvSpPr>
        <p:spPr>
          <a:xfrm>
            <a:off x="9569907"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前提：新人研修は手厚く、事前勉強は必須ではない</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筆者は「研修は手厚いので、事前に勉強する必要は特にない」と最初に述べています。そのうえで「あえて勉強するなら」の方向を紹介する記事です。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a:t>
            </a:r>
            <a:endParaRPr lang="ja-JP" sz="1200" dirty="0"/>
          </a:p>
        </p:txBody>
      </p:sp>
      <p:sp>
        <p:nvSpPr>
          <p:cNvPr id="8" name="Shape 5"/>
          <p:cNvSpPr/>
          <p:nvPr/>
        </p:nvSpPr>
        <p:spPr>
          <a:xfrm>
            <a:off x="457200" y="1783080"/>
            <a:ext cx="3611880" cy="4480560"/>
          </a:xfrm>
          <a:prstGeom prst="roundRect">
            <a:avLst>
              <a:gd name="adj" fmla="val 3544"/>
            </a:avLst>
          </a:prstGeom>
          <a:solidFill>
            <a:srgbClr val="DDF1E4"/>
          </a:solidFill>
          <a:ln/>
        </p:spPr>
      </p:sp>
      <p:sp>
        <p:nvSpPr>
          <p:cNvPr id="9" name="Shape 6"/>
          <p:cNvSpPr/>
          <p:nvPr/>
        </p:nvSpPr>
        <p:spPr>
          <a:xfrm>
            <a:off x="621792" y="1911096"/>
            <a:ext cx="512064" cy="512064"/>
          </a:xfrm>
          <a:prstGeom prst="ellipse">
            <a:avLst/>
          </a:prstGeom>
          <a:solidFill>
            <a:srgbClr val="237A48"/>
          </a:solidFill>
          <a:ln/>
        </p:spPr>
      </p:sp>
      <p:pic>
        <p:nvPicPr>
          <p:cNvPr id="10" name="Image 0" descr="preencoded.png">    </p:cNvPr>
          <p:cNvPicPr>
            <a:picLocks noChangeAspect="1"/>
          </p:cNvPicPr>
          <p:nvPr/>
        </p:nvPicPr>
        <p:blipFill>
          <a:blip r:embed="rId1"/>
          <a:stretch>
            <a:fillRect/>
          </a:stretch>
        </p:blipFill>
        <p:spPr>
          <a:xfrm>
            <a:off x="734446" y="2023750"/>
            <a:ext cx="286756" cy="286756"/>
          </a:xfrm>
          <a:prstGeom prst="rect">
            <a:avLst/>
          </a:prstGeom>
        </p:spPr>
      </p:pic>
      <p:sp>
        <p:nvSpPr>
          <p:cNvPr id="11" name="Text 7"/>
          <p:cNvSpPr txBox="1"/>
          <p:nvPr/>
        </p:nvSpPr>
        <p:spPr>
          <a:xfrm>
            <a:off x="1243584" y="1911096"/>
            <a:ext cx="268833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誰が書いたか</a:t>
            </a:r>
            <a:endParaRPr lang="en-US" sz="2200" dirty="0"/>
          </a:p>
        </p:txBody>
      </p:sp>
      <p:sp>
        <p:nvSpPr>
          <p:cNvPr id="12" name="Text 8"/>
          <p:cNvSpPr txBox="1"/>
          <p:nvPr/>
        </p:nvSpPr>
        <p:spPr>
          <a:xfrm>
            <a:off x="640080" y="2514600"/>
            <a:ext cx="3246120" cy="3657600"/>
          </a:xfrm>
          <a:prstGeom prst="rect">
            <a:avLst/>
          </a:prstGeom>
          <a:noFill/>
          <a:ln/>
        </p:spPr>
        <p:txBody>
          <a:bodyPr wrap="square" lIns="0" tIns="0" rIns="0" bIns="0" rtlCol="0" anchor="t"/>
          <a:lstStyle/>
          <a:p>
            <a:pPr algn="l" marL="279400" indent="-279400">
              <a:lnSpc>
                <a:spcPts val="2600"/>
              </a:lnSpc>
              <a:spcAft>
                <a:spcPts val="6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HPEの新卒SE</a:t>
            </a:r>
            <a:endParaRPr lang="en-US" sz="2000" dirty="0"/>
          </a:p>
          <a:p>
            <a:pPr algn="l" marL="279400" indent="-279400">
              <a:lnSpc>
                <a:spcPts val="2600"/>
              </a:lnSpc>
              <a:spcAft>
                <a:spcPts val="6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2023年4月入社</a:t>
            </a:r>
            <a:endParaRPr lang="en-US" sz="2000" dirty="0"/>
          </a:p>
          <a:p>
            <a:pPr algn="l" marL="279400" indent="-279400">
              <a:lnSpc>
                <a:spcPts val="2600"/>
              </a:lnSpc>
              <a:spcAft>
                <a:spcPts val="6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FY23 HPE 有志活動ブログ 第4回</a:t>
            </a:r>
            <a:endParaRPr lang="en-US" sz="2000" dirty="0"/>
          </a:p>
        </p:txBody>
      </p:sp>
      <p:sp>
        <p:nvSpPr>
          <p:cNvPr id="13" name="Shape 9"/>
          <p:cNvSpPr/>
          <p:nvPr/>
        </p:nvSpPr>
        <p:spPr>
          <a:xfrm>
            <a:off x="4288536" y="1783080"/>
            <a:ext cx="3611880" cy="4480560"/>
          </a:xfrm>
          <a:prstGeom prst="roundRect">
            <a:avLst>
              <a:gd name="adj" fmla="val 3544"/>
            </a:avLst>
          </a:prstGeom>
          <a:solidFill>
            <a:srgbClr val="DCE8F8"/>
          </a:solidFill>
          <a:ln/>
        </p:spPr>
      </p:sp>
      <p:sp>
        <p:nvSpPr>
          <p:cNvPr id="14" name="Shape 10"/>
          <p:cNvSpPr/>
          <p:nvPr/>
        </p:nvSpPr>
        <p:spPr>
          <a:xfrm>
            <a:off x="4453128" y="1911096"/>
            <a:ext cx="512064" cy="512064"/>
          </a:xfrm>
          <a:prstGeom prst="ellipse">
            <a:avLst/>
          </a:prstGeom>
          <a:solidFill>
            <a:srgbClr val="2F6BC2"/>
          </a:solidFill>
          <a:ln/>
        </p:spPr>
      </p:sp>
      <p:pic>
        <p:nvPicPr>
          <p:cNvPr id="15" name="Image 1" descr="preencoded.png">    </p:cNvPr>
          <p:cNvPicPr>
            <a:picLocks noChangeAspect="1"/>
          </p:cNvPicPr>
          <p:nvPr/>
        </p:nvPicPr>
        <p:blipFill>
          <a:blip r:embed="rId2"/>
          <a:stretch>
            <a:fillRect/>
          </a:stretch>
        </p:blipFill>
        <p:spPr>
          <a:xfrm>
            <a:off x="4565782" y="2023750"/>
            <a:ext cx="286756" cy="286756"/>
          </a:xfrm>
          <a:prstGeom prst="rect">
            <a:avLst/>
          </a:prstGeom>
        </p:spPr>
      </p:pic>
      <p:sp>
        <p:nvSpPr>
          <p:cNvPr id="16" name="Text 11"/>
          <p:cNvSpPr txBox="1"/>
          <p:nvPr/>
        </p:nvSpPr>
        <p:spPr>
          <a:xfrm>
            <a:off x="5074920" y="1911096"/>
            <a:ext cx="268833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誰に向けて</a:t>
            </a:r>
            <a:endParaRPr lang="en-US" sz="2200" dirty="0"/>
          </a:p>
        </p:txBody>
      </p:sp>
      <p:sp>
        <p:nvSpPr>
          <p:cNvPr id="17" name="Text 12"/>
          <p:cNvSpPr txBox="1"/>
          <p:nvPr/>
        </p:nvSpPr>
        <p:spPr>
          <a:xfrm>
            <a:off x="4471416" y="2514600"/>
            <a:ext cx="3246120" cy="3657600"/>
          </a:xfrm>
          <a:prstGeom prst="rect">
            <a:avLst/>
          </a:prstGeom>
          <a:noFill/>
          <a:ln/>
        </p:spPr>
        <p:txBody>
          <a:bodyPr wrap="square" lIns="0" tIns="0" rIns="0" bIns="0" rtlCol="0" anchor="t"/>
          <a:lstStyle/>
          <a:p>
            <a:pPr algn="l" marL="279400" indent="-279400">
              <a:lnSpc>
                <a:spcPts val="2600"/>
              </a:lnSpc>
              <a:spcAft>
                <a:spcPts val="6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入社を検討している就活生</a:t>
            </a:r>
            <a:endParaRPr lang="en-US" sz="2000" dirty="0"/>
          </a:p>
          <a:p>
            <a:pPr algn="l" marL="279400" indent="-279400">
              <a:lnSpc>
                <a:spcPts val="2600"/>
              </a:lnSpc>
              <a:spcAft>
                <a:spcPts val="6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内定はあるがIT知識に不安がある人</a:t>
            </a:r>
            <a:endParaRPr lang="en-US" sz="2000" dirty="0"/>
          </a:p>
          <a:p>
            <a:pPr algn="l" marL="279400" indent="-279400">
              <a:lnSpc>
                <a:spcPts val="2600"/>
              </a:lnSpc>
              <a:spcAft>
                <a:spcPts val="6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時間に余裕があり、研修に余裕をもって臨みたい人</a:t>
            </a:r>
            <a:endParaRPr lang="en-US" sz="2000" dirty="0"/>
          </a:p>
        </p:txBody>
      </p:sp>
      <p:sp>
        <p:nvSpPr>
          <p:cNvPr id="18" name="Shape 13"/>
          <p:cNvSpPr/>
          <p:nvPr/>
        </p:nvSpPr>
        <p:spPr>
          <a:xfrm>
            <a:off x="8119872" y="1783080"/>
            <a:ext cx="3611880" cy="4480560"/>
          </a:xfrm>
          <a:prstGeom prst="roundRect">
            <a:avLst>
              <a:gd name="adj" fmla="val 3544"/>
            </a:avLst>
          </a:prstGeom>
          <a:solidFill>
            <a:srgbClr val="FBE3E0"/>
          </a:solidFill>
          <a:ln/>
        </p:spPr>
      </p:sp>
      <p:sp>
        <p:nvSpPr>
          <p:cNvPr id="19" name="Shape 14"/>
          <p:cNvSpPr/>
          <p:nvPr/>
        </p:nvSpPr>
        <p:spPr>
          <a:xfrm>
            <a:off x="8284464" y="1911096"/>
            <a:ext cx="512064" cy="512064"/>
          </a:xfrm>
          <a:prstGeom prst="ellipse">
            <a:avLst/>
          </a:prstGeom>
          <a:solidFill>
            <a:srgbClr val="C0392B"/>
          </a:solidFill>
          <a:ln/>
        </p:spPr>
      </p:sp>
      <p:pic>
        <p:nvPicPr>
          <p:cNvPr id="20" name="Image 2" descr="preencoded.png">    </p:cNvPr>
          <p:cNvPicPr>
            <a:picLocks noChangeAspect="1"/>
          </p:cNvPicPr>
          <p:nvPr/>
        </p:nvPicPr>
        <p:blipFill>
          <a:blip r:embed="rId3"/>
          <a:stretch>
            <a:fillRect/>
          </a:stretch>
        </p:blipFill>
        <p:spPr>
          <a:xfrm>
            <a:off x="8397118" y="2023750"/>
            <a:ext cx="286756" cy="286756"/>
          </a:xfrm>
          <a:prstGeom prst="rect">
            <a:avLst/>
          </a:prstGeom>
        </p:spPr>
      </p:pic>
      <p:sp>
        <p:nvSpPr>
          <p:cNvPr id="21" name="Text 15"/>
          <p:cNvSpPr txBox="1"/>
          <p:nvPr/>
        </p:nvSpPr>
        <p:spPr>
          <a:xfrm>
            <a:off x="8906256" y="1911096"/>
            <a:ext cx="268833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C0392B"/>
                </a:solidFill>
                <a:latin typeface="Yu Gothic" pitchFamily="34" charset="0"/>
                <a:ea typeface="Yu Gothic" pitchFamily="34" charset="-122"/>
                <a:cs typeface="Yu Gothic" pitchFamily="34" charset="-120"/>
              </a:rPr>
              <a:t>前提</a:t>
            </a:r>
            <a:endParaRPr lang="en-US" sz="2200" dirty="0"/>
          </a:p>
        </p:txBody>
      </p:sp>
      <p:sp>
        <p:nvSpPr>
          <p:cNvPr id="22" name="Text 16"/>
          <p:cNvSpPr txBox="1"/>
          <p:nvPr/>
        </p:nvSpPr>
        <p:spPr>
          <a:xfrm>
            <a:off x="8302752" y="2514600"/>
            <a:ext cx="3246120" cy="3657600"/>
          </a:xfrm>
          <a:prstGeom prst="rect">
            <a:avLst/>
          </a:prstGeom>
          <a:noFill/>
          <a:ln/>
        </p:spPr>
        <p:txBody>
          <a:bodyPr wrap="square" lIns="0" tIns="0" rIns="0" bIns="0" rtlCol="0" anchor="t"/>
          <a:lstStyle/>
          <a:p>
            <a:pPr algn="l" marL="279400" indent="-279400">
              <a:lnSpc>
                <a:spcPts val="2600"/>
              </a:lnSpc>
              <a:spcAft>
                <a:spcPts val="6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新人研修は手厚い</a:t>
            </a:r>
            <a:endParaRPr lang="en-US" sz="2000" dirty="0"/>
          </a:p>
          <a:p>
            <a:pPr algn="l" marL="279400" indent="-279400">
              <a:lnSpc>
                <a:spcPts val="2600"/>
              </a:lnSpc>
              <a:spcAft>
                <a:spcPts val="6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事前の勉強は特に必要ない</a:t>
            </a:r>
            <a:endParaRPr lang="en-US" sz="2000" dirty="0"/>
          </a:p>
          <a:p>
            <a:pPr algn="l" marL="279400" indent="-279400">
              <a:lnSpc>
                <a:spcPts val="2600"/>
              </a:lnSpc>
              <a:spcAft>
                <a:spcPts val="600"/>
              </a:spcAft>
              <a:buSzPct val="100000"/>
              <a:buChar char="•"/>
            </a:pPr>
            <a:r>
              <a:rPr lang="ja-JP" altLang="en-US" sz="2000" dirty="0">
                <a:solidFill>
                  <a:srgbClr val="1B2A3A"/>
                </a:solidFill>
                <a:latin typeface="Yu Gothic" pitchFamily="34" charset="0"/>
                <a:ea typeface="Yu Gothic" pitchFamily="34" charset="-122"/>
                <a:cs typeface="Yu Gothic" pitchFamily="34" charset="-120"/>
              </a:rPr>
              <a:t>詳しい人は他のことに時間を使ってよい</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ブログの要点</a:t>
            </a:r>
            <a:endParaRPr lang="ja-JP" sz="1400" dirty="0"/>
          </a:p>
        </p:txBody>
      </p:sp>
      <p:sp>
        <p:nvSpPr>
          <p:cNvPr id="3" name="Text 1"/>
          <p:cNvSpPr txBox="1"/>
          <p:nvPr/>
        </p:nvSpPr>
        <p:spPr>
          <a:xfrm>
            <a:off x="9569907"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ブログの流れと結論：4段階の順で学び、作って確かめる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記事は「ロードマップ→各学習ポイント→書籍の紹介→最後に」の順です。結論は、4つの分野を順に学び、最後に制作物を作って復習することです。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a:t>
            </a:r>
            <a:endParaRPr lang="ja-JP" sz="1200" dirty="0"/>
          </a:p>
        </p:txBody>
      </p:sp>
      <p:sp>
        <p:nvSpPr>
          <p:cNvPr id="8" name="Shape 5"/>
          <p:cNvSpPr/>
          <p:nvPr/>
        </p:nvSpPr>
        <p:spPr>
          <a:xfrm>
            <a:off x="457200" y="1783080"/>
            <a:ext cx="2103120" cy="1051560"/>
          </a:xfrm>
          <a:prstGeom prst="roundRect">
            <a:avLst>
              <a:gd name="adj" fmla="val 10435"/>
            </a:avLst>
          </a:prstGeom>
          <a:solidFill>
            <a:srgbClr val="16324F"/>
          </a:solidFill>
          <a:ln/>
        </p:spPr>
      </p:sp>
      <p:sp>
        <p:nvSpPr>
          <p:cNvPr id="9" name="Text 6"/>
          <p:cNvSpPr txBox="1"/>
          <p:nvPr/>
        </p:nvSpPr>
        <p:spPr>
          <a:xfrm>
            <a:off x="548640" y="1783080"/>
            <a:ext cx="1920240" cy="105156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ロードマップ</a:t>
            </a:r>
            <a:endParaRPr lang="en-US" sz="1800" dirty="0"/>
          </a:p>
        </p:txBody>
      </p:sp>
      <p:sp>
        <p:nvSpPr>
          <p:cNvPr id="10" name="Shape 7"/>
          <p:cNvSpPr/>
          <p:nvPr/>
        </p:nvSpPr>
        <p:spPr>
          <a:xfrm>
            <a:off x="2560320" y="2308860"/>
            <a:ext cx="182880" cy="0"/>
          </a:xfrm>
          <a:prstGeom prst="line">
            <a:avLst/>
          </a:prstGeom>
          <a:noFill/>
          <a:ln w="31750">
            <a:solidFill>
              <a:srgbClr val="1B2A3A"/>
            </a:solidFill>
            <a:prstDash val="solid"/>
            <a:tailEnd type="triangle"/>
          </a:ln>
        </p:spPr>
      </p:sp>
      <p:sp>
        <p:nvSpPr>
          <p:cNvPr id="11" name="Shape 8"/>
          <p:cNvSpPr/>
          <p:nvPr/>
        </p:nvSpPr>
        <p:spPr>
          <a:xfrm>
            <a:off x="2743200" y="1783080"/>
            <a:ext cx="2103120" cy="1051560"/>
          </a:xfrm>
          <a:prstGeom prst="roundRect">
            <a:avLst>
              <a:gd name="adj" fmla="val 10435"/>
            </a:avLst>
          </a:prstGeom>
          <a:solidFill>
            <a:srgbClr val="E2E8F0"/>
          </a:solidFill>
          <a:ln w="25400">
            <a:solidFill>
              <a:srgbClr val="475569"/>
            </a:solidFill>
            <a:prstDash val="solid"/>
          </a:ln>
        </p:spPr>
      </p:sp>
      <p:sp>
        <p:nvSpPr>
          <p:cNvPr id="12" name="Text 9"/>
          <p:cNvSpPr txBox="1"/>
          <p:nvPr/>
        </p:nvSpPr>
        <p:spPr>
          <a:xfrm>
            <a:off x="2834640" y="1783080"/>
            <a:ext cx="1920240" cy="105156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研修内容</a:t>
            </a:r>
            <a:endParaRPr lang="en-US" sz="1800" dirty="0"/>
          </a:p>
        </p:txBody>
      </p:sp>
      <p:sp>
        <p:nvSpPr>
          <p:cNvPr id="13" name="Shape 10"/>
          <p:cNvSpPr/>
          <p:nvPr/>
        </p:nvSpPr>
        <p:spPr>
          <a:xfrm>
            <a:off x="4846320" y="2308860"/>
            <a:ext cx="182880" cy="0"/>
          </a:xfrm>
          <a:prstGeom prst="line">
            <a:avLst/>
          </a:prstGeom>
          <a:noFill/>
          <a:ln w="31750">
            <a:solidFill>
              <a:srgbClr val="1B2A3A"/>
            </a:solidFill>
            <a:prstDash val="solid"/>
            <a:tailEnd type="triangle"/>
          </a:ln>
        </p:spPr>
      </p:sp>
      <p:sp>
        <p:nvSpPr>
          <p:cNvPr id="14" name="Shape 11"/>
          <p:cNvSpPr/>
          <p:nvPr/>
        </p:nvSpPr>
        <p:spPr>
          <a:xfrm>
            <a:off x="5029200" y="1783080"/>
            <a:ext cx="2103120" cy="1051560"/>
          </a:xfrm>
          <a:prstGeom prst="roundRect">
            <a:avLst>
              <a:gd name="adj" fmla="val 10435"/>
            </a:avLst>
          </a:prstGeom>
          <a:solidFill>
            <a:srgbClr val="E2E8F0"/>
          </a:solidFill>
          <a:ln w="25400">
            <a:solidFill>
              <a:srgbClr val="475569"/>
            </a:solidFill>
            <a:prstDash val="solid"/>
          </a:ln>
        </p:spPr>
      </p:sp>
      <p:sp>
        <p:nvSpPr>
          <p:cNvPr id="15" name="Text 12"/>
          <p:cNvSpPr txBox="1"/>
          <p:nvPr/>
        </p:nvSpPr>
        <p:spPr>
          <a:xfrm>
            <a:off x="5120640" y="1783080"/>
            <a:ext cx="1920240" cy="105156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勉強しておくとよいこと</a:t>
            </a:r>
            <a:endParaRPr lang="en-US" sz="1800" dirty="0"/>
          </a:p>
        </p:txBody>
      </p:sp>
      <p:sp>
        <p:nvSpPr>
          <p:cNvPr id="16" name="Shape 13"/>
          <p:cNvSpPr/>
          <p:nvPr/>
        </p:nvSpPr>
        <p:spPr>
          <a:xfrm>
            <a:off x="7132320" y="2308860"/>
            <a:ext cx="182880" cy="0"/>
          </a:xfrm>
          <a:prstGeom prst="line">
            <a:avLst/>
          </a:prstGeom>
          <a:noFill/>
          <a:ln w="31750">
            <a:solidFill>
              <a:srgbClr val="1B2A3A"/>
            </a:solidFill>
            <a:prstDash val="solid"/>
            <a:tailEnd type="triangle"/>
          </a:ln>
        </p:spPr>
      </p:sp>
      <p:sp>
        <p:nvSpPr>
          <p:cNvPr id="17" name="Shape 14"/>
          <p:cNvSpPr/>
          <p:nvPr/>
        </p:nvSpPr>
        <p:spPr>
          <a:xfrm>
            <a:off x="7315200" y="1783080"/>
            <a:ext cx="2103120" cy="1051560"/>
          </a:xfrm>
          <a:prstGeom prst="roundRect">
            <a:avLst>
              <a:gd name="adj" fmla="val 10435"/>
            </a:avLst>
          </a:prstGeom>
          <a:solidFill>
            <a:srgbClr val="E2E8F0"/>
          </a:solidFill>
          <a:ln w="25400">
            <a:solidFill>
              <a:srgbClr val="475569"/>
            </a:solidFill>
            <a:prstDash val="solid"/>
          </a:ln>
        </p:spPr>
      </p:sp>
      <p:sp>
        <p:nvSpPr>
          <p:cNvPr id="18" name="Text 15"/>
          <p:cNvSpPr txBox="1"/>
          <p:nvPr/>
        </p:nvSpPr>
        <p:spPr>
          <a:xfrm>
            <a:off x="7406640" y="1783080"/>
            <a:ext cx="1920240" cy="105156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書籍の紹介</a:t>
            </a:r>
            <a:endParaRPr lang="en-US" sz="1800" dirty="0"/>
          </a:p>
        </p:txBody>
      </p:sp>
      <p:sp>
        <p:nvSpPr>
          <p:cNvPr id="19" name="Shape 16"/>
          <p:cNvSpPr/>
          <p:nvPr/>
        </p:nvSpPr>
        <p:spPr>
          <a:xfrm>
            <a:off x="9418320" y="2308860"/>
            <a:ext cx="182880" cy="0"/>
          </a:xfrm>
          <a:prstGeom prst="line">
            <a:avLst/>
          </a:prstGeom>
          <a:noFill/>
          <a:ln w="31750">
            <a:solidFill>
              <a:srgbClr val="1B2A3A"/>
            </a:solidFill>
            <a:prstDash val="solid"/>
            <a:tailEnd type="triangle"/>
          </a:ln>
        </p:spPr>
      </p:sp>
      <p:sp>
        <p:nvSpPr>
          <p:cNvPr id="20" name="Shape 17"/>
          <p:cNvSpPr/>
          <p:nvPr/>
        </p:nvSpPr>
        <p:spPr>
          <a:xfrm>
            <a:off x="9601200" y="1783080"/>
            <a:ext cx="2103120" cy="1051560"/>
          </a:xfrm>
          <a:prstGeom prst="roundRect">
            <a:avLst>
              <a:gd name="adj" fmla="val 10435"/>
            </a:avLst>
          </a:prstGeom>
          <a:solidFill>
            <a:srgbClr val="E2E8F0"/>
          </a:solidFill>
          <a:ln w="25400">
            <a:solidFill>
              <a:srgbClr val="475569"/>
            </a:solidFill>
            <a:prstDash val="solid"/>
          </a:ln>
        </p:spPr>
      </p:sp>
      <p:sp>
        <p:nvSpPr>
          <p:cNvPr id="21" name="Text 18"/>
          <p:cNvSpPr txBox="1"/>
          <p:nvPr/>
        </p:nvSpPr>
        <p:spPr>
          <a:xfrm>
            <a:off x="9692640" y="1783080"/>
            <a:ext cx="1920240" cy="105156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最後に</a:t>
            </a:r>
            <a:endParaRPr lang="en-US" sz="1800" dirty="0"/>
          </a:p>
        </p:txBody>
      </p:sp>
      <p:sp>
        <p:nvSpPr>
          <p:cNvPr id="22" name="Text 19"/>
          <p:cNvSpPr txBox="1"/>
          <p:nvPr/>
        </p:nvSpPr>
        <p:spPr>
          <a:xfrm>
            <a:off x="457200" y="3108960"/>
            <a:ext cx="7315200" cy="384048"/>
          </a:xfrm>
          <a:prstGeom prst="rect">
            <a:avLst/>
          </a:prstGeom>
          <a:noFill/>
          <a:ln/>
        </p:spPr>
        <p:txBody>
          <a:bodyPr wrap="square" lIns="0" tIns="0" rIns="0" bIns="0" rtlCol="0" anchor="t"/>
          <a:lstStyle/>
          <a:p>
            <a:pPr algn="l" indent="0" marL="0">
              <a:lnSpc>
                <a:spcPts val="2600"/>
              </a:lnSpc>
              <a:buNone/>
            </a:pPr>
            <a:r>
              <a:rPr lang="ja-JP" altLang="en-US" sz="2000" b="1" dirty="0">
                <a:solidFill>
                  <a:srgbClr val="16324F"/>
                </a:solidFill>
                <a:latin typeface="Yu Gothic" pitchFamily="34" charset="0"/>
                <a:ea typeface="Yu Gothic" pitchFamily="34" charset="-122"/>
                <a:cs typeface="Yu Gothic" pitchFamily="34" charset="-120"/>
              </a:rPr>
              <a:t>ブログの結論（ロードマップ）</a:t>
            </a:r>
            <a:endParaRPr lang="en-US" sz="2000" dirty="0"/>
          </a:p>
        </p:txBody>
      </p:sp>
      <p:sp>
        <p:nvSpPr>
          <p:cNvPr id="23" name="Shape 20"/>
          <p:cNvSpPr/>
          <p:nvPr/>
        </p:nvSpPr>
        <p:spPr>
          <a:xfrm>
            <a:off x="457200" y="3566160"/>
            <a:ext cx="2103120" cy="1005840"/>
          </a:xfrm>
          <a:prstGeom prst="roundRect">
            <a:avLst>
              <a:gd name="adj" fmla="val 10909"/>
            </a:avLst>
          </a:prstGeom>
          <a:solidFill>
            <a:srgbClr val="2F6BC2"/>
          </a:solidFill>
          <a:ln/>
        </p:spPr>
      </p:sp>
      <p:sp>
        <p:nvSpPr>
          <p:cNvPr id="24" name="Text 21"/>
          <p:cNvSpPr txBox="1"/>
          <p:nvPr/>
        </p:nvSpPr>
        <p:spPr>
          <a:xfrm>
            <a:off x="548640" y="3566160"/>
            <a:ext cx="1920240"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CS基礎</a:t>
            </a:r>
            <a:endParaRPr lang="en-US" sz="2000" dirty="0"/>
          </a:p>
        </p:txBody>
      </p:sp>
      <p:sp>
        <p:nvSpPr>
          <p:cNvPr id="25" name="Shape 22"/>
          <p:cNvSpPr/>
          <p:nvPr/>
        </p:nvSpPr>
        <p:spPr>
          <a:xfrm>
            <a:off x="2560320" y="4069080"/>
            <a:ext cx="182880" cy="0"/>
          </a:xfrm>
          <a:prstGeom prst="line">
            <a:avLst/>
          </a:prstGeom>
          <a:noFill/>
          <a:ln w="31750">
            <a:solidFill>
              <a:srgbClr val="1B2A3A"/>
            </a:solidFill>
            <a:prstDash val="solid"/>
            <a:tailEnd type="triangle"/>
          </a:ln>
        </p:spPr>
      </p:sp>
      <p:sp>
        <p:nvSpPr>
          <p:cNvPr id="26" name="Shape 23"/>
          <p:cNvSpPr/>
          <p:nvPr/>
        </p:nvSpPr>
        <p:spPr>
          <a:xfrm>
            <a:off x="2743200" y="3566160"/>
            <a:ext cx="2103120" cy="1005840"/>
          </a:xfrm>
          <a:prstGeom prst="roundRect">
            <a:avLst>
              <a:gd name="adj" fmla="val 10909"/>
            </a:avLst>
          </a:prstGeom>
          <a:solidFill>
            <a:srgbClr val="0B7A7A"/>
          </a:solidFill>
          <a:ln/>
        </p:spPr>
      </p:sp>
      <p:sp>
        <p:nvSpPr>
          <p:cNvPr id="27" name="Text 24"/>
          <p:cNvSpPr txBox="1"/>
          <p:nvPr/>
        </p:nvSpPr>
        <p:spPr>
          <a:xfrm>
            <a:off x="2834640" y="3566160"/>
            <a:ext cx="1920240"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ネットワーク</a:t>
            </a:r>
            <a:endParaRPr lang="en-US" sz="2000" dirty="0"/>
          </a:p>
        </p:txBody>
      </p:sp>
      <p:sp>
        <p:nvSpPr>
          <p:cNvPr id="28" name="Shape 25"/>
          <p:cNvSpPr/>
          <p:nvPr/>
        </p:nvSpPr>
        <p:spPr>
          <a:xfrm>
            <a:off x="4846320" y="4069080"/>
            <a:ext cx="182880" cy="0"/>
          </a:xfrm>
          <a:prstGeom prst="line">
            <a:avLst/>
          </a:prstGeom>
          <a:noFill/>
          <a:ln w="31750">
            <a:solidFill>
              <a:srgbClr val="1B2A3A"/>
            </a:solidFill>
            <a:prstDash val="solid"/>
            <a:tailEnd type="triangle"/>
          </a:ln>
        </p:spPr>
      </p:sp>
      <p:sp>
        <p:nvSpPr>
          <p:cNvPr id="29" name="Shape 26"/>
          <p:cNvSpPr/>
          <p:nvPr/>
        </p:nvSpPr>
        <p:spPr>
          <a:xfrm>
            <a:off x="5029200" y="3566160"/>
            <a:ext cx="2103120" cy="1005840"/>
          </a:xfrm>
          <a:prstGeom prst="roundRect">
            <a:avLst>
              <a:gd name="adj" fmla="val 10909"/>
            </a:avLst>
          </a:prstGeom>
          <a:solidFill>
            <a:srgbClr val="5B46B8"/>
          </a:solidFill>
          <a:ln/>
        </p:spPr>
      </p:sp>
      <p:sp>
        <p:nvSpPr>
          <p:cNvPr id="30" name="Text 27"/>
          <p:cNvSpPr txBox="1"/>
          <p:nvPr/>
        </p:nvSpPr>
        <p:spPr>
          <a:xfrm>
            <a:off x="5120640" y="3566160"/>
            <a:ext cx="1920240"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OS</a:t>
            </a:r>
            <a:endParaRPr lang="en-US" sz="2000" dirty="0"/>
          </a:p>
        </p:txBody>
      </p:sp>
      <p:sp>
        <p:nvSpPr>
          <p:cNvPr id="31" name="Shape 28"/>
          <p:cNvSpPr/>
          <p:nvPr/>
        </p:nvSpPr>
        <p:spPr>
          <a:xfrm>
            <a:off x="7132320" y="4069080"/>
            <a:ext cx="182880" cy="0"/>
          </a:xfrm>
          <a:prstGeom prst="line">
            <a:avLst/>
          </a:prstGeom>
          <a:noFill/>
          <a:ln w="31750">
            <a:solidFill>
              <a:srgbClr val="1B2A3A"/>
            </a:solidFill>
            <a:prstDash val="solid"/>
            <a:tailEnd type="triangle"/>
          </a:ln>
        </p:spPr>
      </p:sp>
      <p:sp>
        <p:nvSpPr>
          <p:cNvPr id="32" name="Shape 29"/>
          <p:cNvSpPr/>
          <p:nvPr/>
        </p:nvSpPr>
        <p:spPr>
          <a:xfrm>
            <a:off x="7315200" y="3566160"/>
            <a:ext cx="2103120" cy="1005840"/>
          </a:xfrm>
          <a:prstGeom prst="roundRect">
            <a:avLst>
              <a:gd name="adj" fmla="val 10909"/>
            </a:avLst>
          </a:prstGeom>
          <a:solidFill>
            <a:srgbClr val="237A48"/>
          </a:solidFill>
          <a:ln/>
        </p:spPr>
      </p:sp>
      <p:sp>
        <p:nvSpPr>
          <p:cNvPr id="33" name="Text 30"/>
          <p:cNvSpPr txBox="1"/>
          <p:nvPr/>
        </p:nvSpPr>
        <p:spPr>
          <a:xfrm>
            <a:off x="7406640" y="3566160"/>
            <a:ext cx="1920240"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データベース</a:t>
            </a:r>
            <a:endParaRPr lang="en-US" sz="2000" dirty="0"/>
          </a:p>
        </p:txBody>
      </p:sp>
      <p:sp>
        <p:nvSpPr>
          <p:cNvPr id="34" name="Shape 31"/>
          <p:cNvSpPr/>
          <p:nvPr/>
        </p:nvSpPr>
        <p:spPr>
          <a:xfrm>
            <a:off x="9418320" y="4069080"/>
            <a:ext cx="182880" cy="0"/>
          </a:xfrm>
          <a:prstGeom prst="line">
            <a:avLst/>
          </a:prstGeom>
          <a:noFill/>
          <a:ln w="31750">
            <a:solidFill>
              <a:srgbClr val="1B2A3A"/>
            </a:solidFill>
            <a:prstDash val="solid"/>
            <a:tailEnd type="triangle"/>
          </a:ln>
        </p:spPr>
      </p:sp>
      <p:sp>
        <p:nvSpPr>
          <p:cNvPr id="35" name="Shape 32"/>
          <p:cNvSpPr/>
          <p:nvPr/>
        </p:nvSpPr>
        <p:spPr>
          <a:xfrm>
            <a:off x="9601200" y="3566160"/>
            <a:ext cx="2103120" cy="1005840"/>
          </a:xfrm>
          <a:prstGeom prst="roundRect">
            <a:avLst>
              <a:gd name="adj" fmla="val 10909"/>
            </a:avLst>
          </a:prstGeom>
          <a:solidFill>
            <a:srgbClr val="B45309"/>
          </a:solidFill>
          <a:ln/>
        </p:spPr>
      </p:sp>
      <p:sp>
        <p:nvSpPr>
          <p:cNvPr id="36" name="Text 33"/>
          <p:cNvSpPr txBox="1"/>
          <p:nvPr/>
        </p:nvSpPr>
        <p:spPr>
          <a:xfrm>
            <a:off x="9692640" y="3566160"/>
            <a:ext cx="1920240"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制作物</a:t>
            </a:r>
            <a:endParaRPr lang="en-US" sz="2000" dirty="0"/>
          </a:p>
        </p:txBody>
      </p:sp>
      <p:sp>
        <p:nvSpPr>
          <p:cNvPr id="37" name="Shape 34"/>
          <p:cNvSpPr/>
          <p:nvPr/>
        </p:nvSpPr>
        <p:spPr>
          <a:xfrm>
            <a:off x="457200" y="4846320"/>
            <a:ext cx="11274552" cy="1417320"/>
          </a:xfrm>
          <a:prstGeom prst="roundRect">
            <a:avLst>
              <a:gd name="adj" fmla="val 7742"/>
            </a:avLst>
          </a:prstGeom>
          <a:solidFill>
            <a:srgbClr val="DDF1E4"/>
          </a:solidFill>
          <a:ln w="19050">
            <a:solidFill>
              <a:srgbClr val="237A48"/>
            </a:solidFill>
            <a:prstDash val="solid"/>
          </a:ln>
        </p:spPr>
      </p:sp>
      <p:sp>
        <p:nvSpPr>
          <p:cNvPr id="38" name="Shape 35"/>
          <p:cNvSpPr/>
          <p:nvPr/>
        </p:nvSpPr>
        <p:spPr>
          <a:xfrm>
            <a:off x="594360" y="5326380"/>
            <a:ext cx="457200" cy="457200"/>
          </a:xfrm>
          <a:prstGeom prst="ellipse">
            <a:avLst/>
          </a:prstGeom>
          <a:solidFill>
            <a:srgbClr val="237A48"/>
          </a:solidFill>
          <a:ln/>
        </p:spPr>
      </p:sp>
      <p:pic>
        <p:nvPicPr>
          <p:cNvPr id="39" name="Image 0" descr="preencoded.png">    </p:cNvPr>
          <p:cNvPicPr>
            <a:picLocks noChangeAspect="1"/>
          </p:cNvPicPr>
          <p:nvPr/>
        </p:nvPicPr>
        <p:blipFill>
          <a:blip r:embed="rId1"/>
          <a:stretch>
            <a:fillRect/>
          </a:stretch>
        </p:blipFill>
        <p:spPr>
          <a:xfrm>
            <a:off x="694944" y="5426964"/>
            <a:ext cx="256032" cy="256032"/>
          </a:xfrm>
          <a:prstGeom prst="rect">
            <a:avLst/>
          </a:prstGeom>
        </p:spPr>
      </p:pic>
      <p:sp>
        <p:nvSpPr>
          <p:cNvPr id="40" name="Text 36"/>
          <p:cNvSpPr txBox="1"/>
          <p:nvPr/>
        </p:nvSpPr>
        <p:spPr>
          <a:xfrm>
            <a:off x="1188720" y="4892040"/>
            <a:ext cx="10405872" cy="132588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座学だけで終えず、学んだことを使って小さなシステムやアプリを作る。それが一番手っ取り早く、復習にもなる（ブログの主張）</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ロードマップ</a:t>
            </a:r>
            <a:endParaRPr lang="ja-JP" sz="1400" dirty="0"/>
          </a:p>
        </p:txBody>
      </p:sp>
      <p:sp>
        <p:nvSpPr>
          <p:cNvPr id="3" name="Text 1"/>
          <p:cNvSpPr txBox="1"/>
          <p:nvPr/>
        </p:nvSpPr>
        <p:spPr>
          <a:xfrm>
            <a:off x="9569907"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ロードマップ：4つの分野を順に学ぶ</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土台のコンピュータの基礎から、通信（ネットワーク）、OS、データベースの順に広げます。各分野で「何を」「どこまで」学ぶかを、ブログの記述どおりに整理しました。</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a:t>
            </a:r>
            <a:endParaRPr lang="ja-JP" sz="1200" dirty="0"/>
          </a:p>
        </p:txBody>
      </p:sp>
      <p:sp>
        <p:nvSpPr>
          <p:cNvPr id="8" name="Shape 5"/>
          <p:cNvSpPr/>
          <p:nvPr/>
        </p:nvSpPr>
        <p:spPr>
          <a:xfrm>
            <a:off x="457200" y="1783080"/>
            <a:ext cx="2697480" cy="1143000"/>
          </a:xfrm>
          <a:prstGeom prst="roundRect">
            <a:avLst>
              <a:gd name="adj" fmla="val 9600"/>
            </a:avLst>
          </a:prstGeom>
          <a:solidFill>
            <a:srgbClr val="2F6BC2"/>
          </a:solidFill>
          <a:ln/>
        </p:spPr>
      </p:sp>
      <p:sp>
        <p:nvSpPr>
          <p:cNvPr id="9" name="Text 6"/>
          <p:cNvSpPr txBox="1"/>
          <p:nvPr/>
        </p:nvSpPr>
        <p:spPr>
          <a:xfrm>
            <a:off x="548640" y="1783080"/>
            <a:ext cx="2514600" cy="11430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① CS基礎</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基本情報の範囲を広く</a:t>
            </a:r>
            <a:endParaRPr lang="en-US" sz="2000" dirty="0"/>
          </a:p>
        </p:txBody>
      </p:sp>
      <p:sp>
        <p:nvSpPr>
          <p:cNvPr id="10" name="Shape 7"/>
          <p:cNvSpPr/>
          <p:nvPr/>
        </p:nvSpPr>
        <p:spPr>
          <a:xfrm>
            <a:off x="3154680" y="2354580"/>
            <a:ext cx="173736" cy="0"/>
          </a:xfrm>
          <a:prstGeom prst="line">
            <a:avLst/>
          </a:prstGeom>
          <a:noFill/>
          <a:ln w="38100">
            <a:solidFill>
              <a:srgbClr val="1B2A3A"/>
            </a:solidFill>
            <a:prstDash val="solid"/>
            <a:tailEnd type="triangle"/>
          </a:ln>
        </p:spPr>
      </p:sp>
      <p:sp>
        <p:nvSpPr>
          <p:cNvPr id="11" name="Shape 8"/>
          <p:cNvSpPr/>
          <p:nvPr/>
        </p:nvSpPr>
        <p:spPr>
          <a:xfrm>
            <a:off x="457200" y="3017520"/>
            <a:ext cx="2697480" cy="2240280"/>
          </a:xfrm>
          <a:prstGeom prst="roundRect">
            <a:avLst>
              <a:gd name="adj" fmla="val 4898"/>
            </a:avLst>
          </a:prstGeom>
          <a:solidFill>
            <a:srgbClr val="DCE8F8"/>
          </a:solidFill>
          <a:ln/>
        </p:spPr>
      </p:sp>
      <p:sp>
        <p:nvSpPr>
          <p:cNvPr id="12" name="Text 9"/>
          <p:cNvSpPr txBox="1"/>
          <p:nvPr/>
        </p:nvSpPr>
        <p:spPr>
          <a:xfrm>
            <a:off x="594360" y="3108960"/>
            <a:ext cx="2468880" cy="4572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・構成要素</a:t>
            </a:r>
            <a:endParaRPr lang="en-US" sz="1800" dirty="0"/>
          </a:p>
        </p:txBody>
      </p:sp>
      <p:sp>
        <p:nvSpPr>
          <p:cNvPr id="13" name="Text 10"/>
          <p:cNvSpPr txBox="1"/>
          <p:nvPr/>
        </p:nvSpPr>
        <p:spPr>
          <a:xfrm>
            <a:off x="594360" y="3611880"/>
            <a:ext cx="2468880" cy="4572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・データ表現</a:t>
            </a:r>
            <a:endParaRPr lang="en-US" sz="1800" dirty="0"/>
          </a:p>
        </p:txBody>
      </p:sp>
      <p:sp>
        <p:nvSpPr>
          <p:cNvPr id="14" name="Text 11"/>
          <p:cNvSpPr txBox="1"/>
          <p:nvPr/>
        </p:nvSpPr>
        <p:spPr>
          <a:xfrm>
            <a:off x="594360" y="4114800"/>
            <a:ext cx="2468880" cy="4572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・論理演算</a:t>
            </a:r>
            <a:endParaRPr lang="en-US" sz="1800" dirty="0"/>
          </a:p>
        </p:txBody>
      </p:sp>
      <p:sp>
        <p:nvSpPr>
          <p:cNvPr id="15" name="Text 12"/>
          <p:cNvSpPr txBox="1"/>
          <p:nvPr/>
        </p:nvSpPr>
        <p:spPr>
          <a:xfrm>
            <a:off x="594360" y="4617720"/>
            <a:ext cx="2468880" cy="4572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・セキュリティ</a:t>
            </a:r>
            <a:endParaRPr lang="en-US" sz="1800" dirty="0"/>
          </a:p>
        </p:txBody>
      </p:sp>
      <p:sp>
        <p:nvSpPr>
          <p:cNvPr id="16" name="Shape 13"/>
          <p:cNvSpPr/>
          <p:nvPr/>
        </p:nvSpPr>
        <p:spPr>
          <a:xfrm>
            <a:off x="3328416" y="1783080"/>
            <a:ext cx="2697480" cy="1143000"/>
          </a:xfrm>
          <a:prstGeom prst="roundRect">
            <a:avLst>
              <a:gd name="adj" fmla="val 9600"/>
            </a:avLst>
          </a:prstGeom>
          <a:solidFill>
            <a:srgbClr val="0B7A7A"/>
          </a:solidFill>
          <a:ln/>
        </p:spPr>
      </p:sp>
      <p:sp>
        <p:nvSpPr>
          <p:cNvPr id="17" name="Text 14"/>
          <p:cNvSpPr txBox="1"/>
          <p:nvPr/>
        </p:nvSpPr>
        <p:spPr>
          <a:xfrm>
            <a:off x="3419856" y="1783080"/>
            <a:ext cx="2514600" cy="11430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② ネットワーク</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通信のしくみ</a:t>
            </a:r>
            <a:endParaRPr lang="en-US" sz="2000" dirty="0"/>
          </a:p>
        </p:txBody>
      </p:sp>
      <p:sp>
        <p:nvSpPr>
          <p:cNvPr id="18" name="Shape 15"/>
          <p:cNvSpPr/>
          <p:nvPr/>
        </p:nvSpPr>
        <p:spPr>
          <a:xfrm>
            <a:off x="6025896" y="2354580"/>
            <a:ext cx="173736" cy="0"/>
          </a:xfrm>
          <a:prstGeom prst="line">
            <a:avLst/>
          </a:prstGeom>
          <a:noFill/>
          <a:ln w="38100">
            <a:solidFill>
              <a:srgbClr val="1B2A3A"/>
            </a:solidFill>
            <a:prstDash val="solid"/>
            <a:tailEnd type="triangle"/>
          </a:ln>
        </p:spPr>
      </p:sp>
      <p:sp>
        <p:nvSpPr>
          <p:cNvPr id="19" name="Shape 16"/>
          <p:cNvSpPr/>
          <p:nvPr/>
        </p:nvSpPr>
        <p:spPr>
          <a:xfrm>
            <a:off x="3328416" y="3017520"/>
            <a:ext cx="2697480" cy="2240280"/>
          </a:xfrm>
          <a:prstGeom prst="roundRect">
            <a:avLst>
              <a:gd name="adj" fmla="val 4898"/>
            </a:avLst>
          </a:prstGeom>
          <a:solidFill>
            <a:srgbClr val="D9F2F1"/>
          </a:solidFill>
          <a:ln/>
        </p:spPr>
      </p:sp>
      <p:sp>
        <p:nvSpPr>
          <p:cNvPr id="20" name="Text 17"/>
          <p:cNvSpPr txBox="1"/>
          <p:nvPr/>
        </p:nvSpPr>
        <p:spPr>
          <a:xfrm>
            <a:off x="3465576" y="3108960"/>
            <a:ext cx="2468880" cy="4572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・OSI参照モデル</a:t>
            </a:r>
            <a:endParaRPr lang="en-US" sz="1800" dirty="0"/>
          </a:p>
        </p:txBody>
      </p:sp>
      <p:sp>
        <p:nvSpPr>
          <p:cNvPr id="21" name="Text 18"/>
          <p:cNvSpPr txBox="1"/>
          <p:nvPr/>
        </p:nvSpPr>
        <p:spPr>
          <a:xfrm>
            <a:off x="3465576" y="3611880"/>
            <a:ext cx="2468880" cy="4572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・TCP/IP</a:t>
            </a:r>
            <a:endParaRPr lang="en-US" sz="1800" dirty="0"/>
          </a:p>
        </p:txBody>
      </p:sp>
      <p:sp>
        <p:nvSpPr>
          <p:cNvPr id="22" name="Text 19"/>
          <p:cNvSpPr txBox="1"/>
          <p:nvPr/>
        </p:nvSpPr>
        <p:spPr>
          <a:xfrm>
            <a:off x="3465576" y="4114800"/>
            <a:ext cx="2468880" cy="4572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・各層のヘッダー</a:t>
            </a:r>
            <a:endParaRPr lang="en-US" sz="1800" dirty="0"/>
          </a:p>
        </p:txBody>
      </p:sp>
      <p:sp>
        <p:nvSpPr>
          <p:cNvPr id="23" name="Shape 20"/>
          <p:cNvSpPr/>
          <p:nvPr/>
        </p:nvSpPr>
        <p:spPr>
          <a:xfrm>
            <a:off x="6199632" y="1783080"/>
            <a:ext cx="2697480" cy="1143000"/>
          </a:xfrm>
          <a:prstGeom prst="roundRect">
            <a:avLst>
              <a:gd name="adj" fmla="val 9600"/>
            </a:avLst>
          </a:prstGeom>
          <a:solidFill>
            <a:srgbClr val="5B46B8"/>
          </a:solidFill>
          <a:ln/>
        </p:spPr>
      </p:sp>
      <p:sp>
        <p:nvSpPr>
          <p:cNvPr id="24" name="Text 21"/>
          <p:cNvSpPr txBox="1"/>
          <p:nvPr/>
        </p:nvSpPr>
        <p:spPr>
          <a:xfrm>
            <a:off x="6291072" y="1783080"/>
            <a:ext cx="2514600" cy="11430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③ OS</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Linuxを中心に</a:t>
            </a:r>
            <a:endParaRPr lang="en-US" sz="2000" dirty="0"/>
          </a:p>
        </p:txBody>
      </p:sp>
      <p:sp>
        <p:nvSpPr>
          <p:cNvPr id="25" name="Shape 22"/>
          <p:cNvSpPr/>
          <p:nvPr/>
        </p:nvSpPr>
        <p:spPr>
          <a:xfrm>
            <a:off x="8897112" y="2354580"/>
            <a:ext cx="173736" cy="0"/>
          </a:xfrm>
          <a:prstGeom prst="line">
            <a:avLst/>
          </a:prstGeom>
          <a:noFill/>
          <a:ln w="38100">
            <a:solidFill>
              <a:srgbClr val="1B2A3A"/>
            </a:solidFill>
            <a:prstDash val="solid"/>
            <a:tailEnd type="triangle"/>
          </a:ln>
        </p:spPr>
      </p:sp>
      <p:sp>
        <p:nvSpPr>
          <p:cNvPr id="26" name="Shape 23"/>
          <p:cNvSpPr/>
          <p:nvPr/>
        </p:nvSpPr>
        <p:spPr>
          <a:xfrm>
            <a:off x="6199632" y="3017520"/>
            <a:ext cx="2697480" cy="2240280"/>
          </a:xfrm>
          <a:prstGeom prst="roundRect">
            <a:avLst>
              <a:gd name="adj" fmla="val 4898"/>
            </a:avLst>
          </a:prstGeom>
          <a:solidFill>
            <a:srgbClr val="E6E1F7"/>
          </a:solidFill>
          <a:ln/>
        </p:spPr>
      </p:sp>
      <p:sp>
        <p:nvSpPr>
          <p:cNvPr id="27" name="Text 24"/>
          <p:cNvSpPr txBox="1"/>
          <p:nvPr/>
        </p:nvSpPr>
        <p:spPr>
          <a:xfrm>
            <a:off x="6336792" y="3108960"/>
            <a:ext cx="2468880" cy="4572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・構成要素と役割</a:t>
            </a:r>
            <a:endParaRPr lang="en-US" sz="1800" dirty="0"/>
          </a:p>
        </p:txBody>
      </p:sp>
      <p:sp>
        <p:nvSpPr>
          <p:cNvPr id="28" name="Text 25"/>
          <p:cNvSpPr txBox="1"/>
          <p:nvPr/>
        </p:nvSpPr>
        <p:spPr>
          <a:xfrm>
            <a:off x="6336792" y="3611880"/>
            <a:ext cx="2468880" cy="4572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・基本コマンド</a:t>
            </a:r>
            <a:endParaRPr lang="en-US" sz="1800" dirty="0"/>
          </a:p>
        </p:txBody>
      </p:sp>
      <p:sp>
        <p:nvSpPr>
          <p:cNvPr id="29" name="Text 26"/>
          <p:cNvSpPr txBox="1"/>
          <p:nvPr/>
        </p:nvSpPr>
        <p:spPr>
          <a:xfrm>
            <a:off x="6336792" y="4114800"/>
            <a:ext cx="2468880" cy="4572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・viエディタ</a:t>
            </a:r>
            <a:endParaRPr lang="en-US" sz="1800" dirty="0"/>
          </a:p>
        </p:txBody>
      </p:sp>
      <p:sp>
        <p:nvSpPr>
          <p:cNvPr id="30" name="Text 27"/>
          <p:cNvSpPr txBox="1"/>
          <p:nvPr/>
        </p:nvSpPr>
        <p:spPr>
          <a:xfrm>
            <a:off x="6336792" y="4617720"/>
            <a:ext cx="2468880" cy="4572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・シェルスクリプト</a:t>
            </a:r>
            <a:endParaRPr lang="en-US" sz="1800" dirty="0"/>
          </a:p>
        </p:txBody>
      </p:sp>
      <p:sp>
        <p:nvSpPr>
          <p:cNvPr id="31" name="Shape 28"/>
          <p:cNvSpPr/>
          <p:nvPr/>
        </p:nvSpPr>
        <p:spPr>
          <a:xfrm>
            <a:off x="9070848" y="1783080"/>
            <a:ext cx="2697480" cy="1143000"/>
          </a:xfrm>
          <a:prstGeom prst="roundRect">
            <a:avLst>
              <a:gd name="adj" fmla="val 9600"/>
            </a:avLst>
          </a:prstGeom>
          <a:solidFill>
            <a:srgbClr val="237A48"/>
          </a:solidFill>
          <a:ln/>
        </p:spPr>
      </p:sp>
      <p:sp>
        <p:nvSpPr>
          <p:cNvPr id="32" name="Text 29"/>
          <p:cNvSpPr txBox="1"/>
          <p:nvPr/>
        </p:nvSpPr>
        <p:spPr>
          <a:xfrm>
            <a:off x="9162288" y="1783080"/>
            <a:ext cx="2514600" cy="11430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④ データベース</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データの管理</a:t>
            </a:r>
            <a:endParaRPr lang="en-US" sz="2000" dirty="0"/>
          </a:p>
        </p:txBody>
      </p:sp>
      <p:sp>
        <p:nvSpPr>
          <p:cNvPr id="33" name="Shape 30"/>
          <p:cNvSpPr/>
          <p:nvPr/>
        </p:nvSpPr>
        <p:spPr>
          <a:xfrm>
            <a:off x="9070848" y="3017520"/>
            <a:ext cx="2697480" cy="2240280"/>
          </a:xfrm>
          <a:prstGeom prst="roundRect">
            <a:avLst>
              <a:gd name="adj" fmla="val 4898"/>
            </a:avLst>
          </a:prstGeom>
          <a:solidFill>
            <a:srgbClr val="DDF1E4"/>
          </a:solidFill>
          <a:ln/>
        </p:spPr>
      </p:sp>
      <p:sp>
        <p:nvSpPr>
          <p:cNvPr id="34" name="Text 31"/>
          <p:cNvSpPr txBox="1"/>
          <p:nvPr/>
        </p:nvSpPr>
        <p:spPr>
          <a:xfrm>
            <a:off x="9208008" y="3108960"/>
            <a:ext cx="2468880" cy="4572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・RDBMSの種類</a:t>
            </a:r>
            <a:endParaRPr lang="en-US" sz="1800" dirty="0"/>
          </a:p>
        </p:txBody>
      </p:sp>
      <p:sp>
        <p:nvSpPr>
          <p:cNvPr id="35" name="Text 32"/>
          <p:cNvSpPr txBox="1"/>
          <p:nvPr/>
        </p:nvSpPr>
        <p:spPr>
          <a:xfrm>
            <a:off x="9208008" y="3611880"/>
            <a:ext cx="2468880" cy="4572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・基本のSQL</a:t>
            </a:r>
            <a:endParaRPr lang="en-US" sz="1800" dirty="0"/>
          </a:p>
        </p:txBody>
      </p:sp>
      <p:sp>
        <p:nvSpPr>
          <p:cNvPr id="36" name="Text 33"/>
          <p:cNvSpPr txBox="1"/>
          <p:nvPr/>
        </p:nvSpPr>
        <p:spPr>
          <a:xfrm>
            <a:off x="9208008" y="4114800"/>
            <a:ext cx="2468880" cy="45720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・ACID特性</a:t>
            </a:r>
            <a:endParaRPr lang="en-US" sz="1800" dirty="0"/>
          </a:p>
        </p:txBody>
      </p:sp>
      <p:sp>
        <p:nvSpPr>
          <p:cNvPr id="37" name="Shape 34"/>
          <p:cNvSpPr/>
          <p:nvPr/>
        </p:nvSpPr>
        <p:spPr>
          <a:xfrm>
            <a:off x="457200" y="5440680"/>
            <a:ext cx="11274552" cy="822960"/>
          </a:xfrm>
          <a:prstGeom prst="roundRect">
            <a:avLst>
              <a:gd name="adj" fmla="val 13333"/>
            </a:avLst>
          </a:prstGeom>
          <a:solidFill>
            <a:srgbClr val="B45309"/>
          </a:solidFill>
          <a:ln/>
        </p:spPr>
      </p:sp>
      <p:sp>
        <p:nvSpPr>
          <p:cNvPr id="38" name="Text 35"/>
          <p:cNvSpPr txBox="1"/>
          <p:nvPr/>
        </p:nvSpPr>
        <p:spPr>
          <a:xfrm>
            <a:off x="548640" y="5440680"/>
            <a:ext cx="11091672" cy="8229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仕上げ：学んだことを使って、小さなシステムやアプリを作ってみる（復習にもなる）</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ロードマップ</a:t>
            </a:r>
            <a:endParaRPr lang="ja-JP" sz="1400" dirty="0"/>
          </a:p>
        </p:txBody>
      </p:sp>
      <p:sp>
        <p:nvSpPr>
          <p:cNvPr id="3" name="Text 1"/>
          <p:cNvSpPr txBox="1"/>
          <p:nvPr/>
        </p:nvSpPr>
        <p:spPr>
          <a:xfrm>
            <a:off x="9569907"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4" name="Text 2"/>
          <p:cNvSpPr txBox="1"/>
          <p:nvPr/>
        </p:nvSpPr>
        <p:spPr>
          <a:xfrm>
            <a:off x="8159699"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あなたの場合：CSは軽く、残りを重点に</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基本情報技術者試験は学習済みなので、①コンピュータサイエンスは「忘れていないかの確認」にとどめます。ネットワーク・OS・DB・制作物に時間を使う配分の提案です。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a:t>
            </a:r>
            <a:endParaRPr lang="ja-JP"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2926080"/>
                <a:gridCol w="597103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分野</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力の入れ方（提案）</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理由</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59436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① CS基礎</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軽く確認</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基本情報で学習済み。忘れた所だけ復習</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② ネットワーク</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重点</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9F2F1"/>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通信の理由を説明できると、研修で役立つ</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9436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③ OS（Linux）</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重点</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コマンドを実際に打って慣れる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④ データベース</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重点</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1E4"/>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SQLとACIDを自分の手で確かめる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9436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制作物</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重点</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全分野の復習。穴が見つかる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英語</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並行（無理なく）</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外資系のため。毎日少しずつ</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679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CS基礎</a:t>
            </a:r>
            <a:endParaRPr lang="ja-JP" sz="1400" dirty="0"/>
          </a:p>
        </p:txBody>
      </p:sp>
      <p:sp>
        <p:nvSpPr>
          <p:cNvPr id="3" name="Text 1"/>
          <p:cNvSpPr txBox="1"/>
          <p:nvPr/>
        </p:nvSpPr>
        <p:spPr>
          <a:xfrm>
            <a:off x="9569907"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CS基礎：基本情報の範囲を広く（軽く確認）</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ブログは、ITに携わるうえで避けて通れないコンピュータサイエンスを、基本情報技術者試験のカリキュラムに沿って広く学ぶことを勧めています。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[K05]</a:t>
            </a:r>
            <a:endParaRPr lang="ja-JP" sz="1200" dirty="0"/>
          </a:p>
        </p:txBody>
      </p:sp>
      <p:sp>
        <p:nvSpPr>
          <p:cNvPr id="8" name="Shape 5"/>
          <p:cNvSpPr/>
          <p:nvPr/>
        </p:nvSpPr>
        <p:spPr>
          <a:xfrm>
            <a:off x="457200" y="1783080"/>
            <a:ext cx="3657600" cy="1325880"/>
          </a:xfrm>
          <a:prstGeom prst="roundRect">
            <a:avLst>
              <a:gd name="adj" fmla="val 8276"/>
            </a:avLst>
          </a:prstGeom>
          <a:solidFill>
            <a:srgbClr val="DCE8F8"/>
          </a:solidFill>
          <a:ln w="25400">
            <a:solidFill>
              <a:srgbClr val="2F6BC2"/>
            </a:solidFill>
            <a:prstDash val="solid"/>
          </a:ln>
        </p:spPr>
      </p:sp>
      <p:sp>
        <p:nvSpPr>
          <p:cNvPr id="9" name="Shape 6"/>
          <p:cNvSpPr/>
          <p:nvPr/>
        </p:nvSpPr>
        <p:spPr>
          <a:xfrm>
            <a:off x="585216" y="2171700"/>
            <a:ext cx="548640" cy="548640"/>
          </a:xfrm>
          <a:prstGeom prst="ellipse">
            <a:avLst/>
          </a:prstGeom>
          <a:solidFill>
            <a:srgbClr val="2F6BC2"/>
          </a:solidFill>
          <a:ln/>
        </p:spPr>
      </p:sp>
      <p:pic>
        <p:nvPicPr>
          <p:cNvPr id="10" name="Image 0" descr="preencoded.png">    </p:cNvPr>
          <p:cNvPicPr>
            <a:picLocks noChangeAspect="1"/>
          </p:cNvPicPr>
          <p:nvPr/>
        </p:nvPicPr>
        <p:blipFill>
          <a:blip r:embed="rId1"/>
          <a:stretch>
            <a:fillRect/>
          </a:stretch>
        </p:blipFill>
        <p:spPr>
          <a:xfrm>
            <a:off x="705917" y="2292401"/>
            <a:ext cx="307238" cy="307238"/>
          </a:xfrm>
          <a:prstGeom prst="rect">
            <a:avLst/>
          </a:prstGeom>
        </p:spPr>
      </p:pic>
      <p:sp>
        <p:nvSpPr>
          <p:cNvPr id="11" name="Text 7"/>
          <p:cNvSpPr txBox="1"/>
          <p:nvPr/>
        </p:nvSpPr>
        <p:spPr>
          <a:xfrm>
            <a:off x="1225296" y="1783080"/>
            <a:ext cx="2798064" cy="1325880"/>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コンピュータの構成要素</a:t>
            </a:r>
            <a:endParaRPr lang="en-US" sz="2200" dirty="0"/>
          </a:p>
        </p:txBody>
      </p:sp>
      <p:sp>
        <p:nvSpPr>
          <p:cNvPr id="12" name="Shape 8"/>
          <p:cNvSpPr/>
          <p:nvPr/>
        </p:nvSpPr>
        <p:spPr>
          <a:xfrm>
            <a:off x="4265676" y="1783080"/>
            <a:ext cx="3657600" cy="1325880"/>
          </a:xfrm>
          <a:prstGeom prst="roundRect">
            <a:avLst>
              <a:gd name="adj" fmla="val 8276"/>
            </a:avLst>
          </a:prstGeom>
          <a:solidFill>
            <a:srgbClr val="DCE8F8"/>
          </a:solidFill>
          <a:ln w="25400">
            <a:solidFill>
              <a:srgbClr val="2F6BC2"/>
            </a:solidFill>
            <a:prstDash val="solid"/>
          </a:ln>
        </p:spPr>
      </p:sp>
      <p:sp>
        <p:nvSpPr>
          <p:cNvPr id="13" name="Shape 9"/>
          <p:cNvSpPr/>
          <p:nvPr/>
        </p:nvSpPr>
        <p:spPr>
          <a:xfrm>
            <a:off x="4393692" y="2171700"/>
            <a:ext cx="548640" cy="548640"/>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4514393" y="2292401"/>
            <a:ext cx="307238" cy="307238"/>
          </a:xfrm>
          <a:prstGeom prst="rect">
            <a:avLst/>
          </a:prstGeom>
        </p:spPr>
      </p:pic>
      <p:sp>
        <p:nvSpPr>
          <p:cNvPr id="15" name="Text 10"/>
          <p:cNvSpPr txBox="1"/>
          <p:nvPr/>
        </p:nvSpPr>
        <p:spPr>
          <a:xfrm>
            <a:off x="5033772" y="1783080"/>
            <a:ext cx="2798064" cy="1325880"/>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データ表現</a:t>
            </a:r>
            <a:endParaRPr lang="en-US" sz="2200" dirty="0"/>
          </a:p>
        </p:txBody>
      </p:sp>
      <p:sp>
        <p:nvSpPr>
          <p:cNvPr id="16" name="Shape 11"/>
          <p:cNvSpPr/>
          <p:nvPr/>
        </p:nvSpPr>
        <p:spPr>
          <a:xfrm>
            <a:off x="8074152" y="1783080"/>
            <a:ext cx="3657600" cy="1325880"/>
          </a:xfrm>
          <a:prstGeom prst="roundRect">
            <a:avLst>
              <a:gd name="adj" fmla="val 8276"/>
            </a:avLst>
          </a:prstGeom>
          <a:solidFill>
            <a:srgbClr val="DCE8F8"/>
          </a:solidFill>
          <a:ln w="25400">
            <a:solidFill>
              <a:srgbClr val="2F6BC2"/>
            </a:solidFill>
            <a:prstDash val="solid"/>
          </a:ln>
        </p:spPr>
      </p:sp>
      <p:sp>
        <p:nvSpPr>
          <p:cNvPr id="17" name="Shape 12"/>
          <p:cNvSpPr/>
          <p:nvPr/>
        </p:nvSpPr>
        <p:spPr>
          <a:xfrm>
            <a:off x="8202168" y="2171700"/>
            <a:ext cx="548640" cy="548640"/>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8322869" y="2292401"/>
            <a:ext cx="307238" cy="307238"/>
          </a:xfrm>
          <a:prstGeom prst="rect">
            <a:avLst/>
          </a:prstGeom>
        </p:spPr>
      </p:pic>
      <p:sp>
        <p:nvSpPr>
          <p:cNvPr id="19" name="Text 13"/>
          <p:cNvSpPr txBox="1"/>
          <p:nvPr/>
        </p:nvSpPr>
        <p:spPr>
          <a:xfrm>
            <a:off x="8842248" y="1783080"/>
            <a:ext cx="2798064" cy="1325880"/>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論理演算</a:t>
            </a:r>
            <a:endParaRPr lang="en-US" sz="2200" dirty="0"/>
          </a:p>
        </p:txBody>
      </p:sp>
      <p:sp>
        <p:nvSpPr>
          <p:cNvPr id="20" name="Shape 14"/>
          <p:cNvSpPr/>
          <p:nvPr/>
        </p:nvSpPr>
        <p:spPr>
          <a:xfrm>
            <a:off x="457200" y="3246120"/>
            <a:ext cx="3657600" cy="1325880"/>
          </a:xfrm>
          <a:prstGeom prst="roundRect">
            <a:avLst>
              <a:gd name="adj" fmla="val 8276"/>
            </a:avLst>
          </a:prstGeom>
          <a:solidFill>
            <a:srgbClr val="DCE8F8"/>
          </a:solidFill>
          <a:ln w="25400">
            <a:solidFill>
              <a:srgbClr val="2F6BC2"/>
            </a:solidFill>
            <a:prstDash val="solid"/>
          </a:ln>
        </p:spPr>
      </p:sp>
      <p:sp>
        <p:nvSpPr>
          <p:cNvPr id="21" name="Shape 15"/>
          <p:cNvSpPr/>
          <p:nvPr/>
        </p:nvSpPr>
        <p:spPr>
          <a:xfrm>
            <a:off x="585216" y="3634740"/>
            <a:ext cx="548640" cy="548640"/>
          </a:xfrm>
          <a:prstGeom prst="ellipse">
            <a:avLst/>
          </a:prstGeom>
          <a:solidFill>
            <a:srgbClr val="2F6BC2"/>
          </a:solidFill>
          <a:ln/>
        </p:spPr>
      </p:sp>
      <p:pic>
        <p:nvPicPr>
          <p:cNvPr id="22" name="Image 3" descr="preencoded.png">    </p:cNvPr>
          <p:cNvPicPr>
            <a:picLocks noChangeAspect="1"/>
          </p:cNvPicPr>
          <p:nvPr/>
        </p:nvPicPr>
        <p:blipFill>
          <a:blip r:embed="rId4"/>
          <a:stretch>
            <a:fillRect/>
          </a:stretch>
        </p:blipFill>
        <p:spPr>
          <a:xfrm>
            <a:off x="705917" y="3755441"/>
            <a:ext cx="307238" cy="307238"/>
          </a:xfrm>
          <a:prstGeom prst="rect">
            <a:avLst/>
          </a:prstGeom>
        </p:spPr>
      </p:pic>
      <p:sp>
        <p:nvSpPr>
          <p:cNvPr id="23" name="Text 16"/>
          <p:cNvSpPr txBox="1"/>
          <p:nvPr/>
        </p:nvSpPr>
        <p:spPr>
          <a:xfrm>
            <a:off x="1225296" y="3246120"/>
            <a:ext cx="2798064" cy="1325880"/>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セキュリティ</a:t>
            </a:r>
            <a:endParaRPr lang="en-US" sz="2200" dirty="0"/>
          </a:p>
        </p:txBody>
      </p:sp>
      <p:sp>
        <p:nvSpPr>
          <p:cNvPr id="24" name="Shape 17"/>
          <p:cNvSpPr/>
          <p:nvPr/>
        </p:nvSpPr>
        <p:spPr>
          <a:xfrm>
            <a:off x="4265676" y="3246120"/>
            <a:ext cx="3657600" cy="1325880"/>
          </a:xfrm>
          <a:prstGeom prst="roundRect">
            <a:avLst>
              <a:gd name="adj" fmla="val 8276"/>
            </a:avLst>
          </a:prstGeom>
          <a:solidFill>
            <a:srgbClr val="DCE8F8"/>
          </a:solidFill>
          <a:ln w="25400">
            <a:solidFill>
              <a:srgbClr val="2F6BC2"/>
            </a:solidFill>
            <a:prstDash val="solid"/>
          </a:ln>
        </p:spPr>
      </p:sp>
      <p:sp>
        <p:nvSpPr>
          <p:cNvPr id="25" name="Shape 18"/>
          <p:cNvSpPr/>
          <p:nvPr/>
        </p:nvSpPr>
        <p:spPr>
          <a:xfrm>
            <a:off x="4393692" y="3634740"/>
            <a:ext cx="548640" cy="548640"/>
          </a:xfrm>
          <a:prstGeom prst="ellipse">
            <a:avLst/>
          </a:prstGeom>
          <a:solidFill>
            <a:srgbClr val="2F6BC2"/>
          </a:solidFill>
          <a:ln/>
        </p:spPr>
      </p:sp>
      <p:pic>
        <p:nvPicPr>
          <p:cNvPr id="26" name="Image 4" descr="preencoded.png">    </p:cNvPr>
          <p:cNvPicPr>
            <a:picLocks noChangeAspect="1"/>
          </p:cNvPicPr>
          <p:nvPr/>
        </p:nvPicPr>
        <p:blipFill>
          <a:blip r:embed="rId5"/>
          <a:stretch>
            <a:fillRect/>
          </a:stretch>
        </p:blipFill>
        <p:spPr>
          <a:xfrm>
            <a:off x="4514393" y="3755441"/>
            <a:ext cx="307238" cy="307238"/>
          </a:xfrm>
          <a:prstGeom prst="rect">
            <a:avLst/>
          </a:prstGeom>
        </p:spPr>
      </p:pic>
      <p:sp>
        <p:nvSpPr>
          <p:cNvPr id="27" name="Text 19"/>
          <p:cNvSpPr txBox="1"/>
          <p:nvPr/>
        </p:nvSpPr>
        <p:spPr>
          <a:xfrm>
            <a:off x="5033772" y="3246120"/>
            <a:ext cx="2798064" cy="1325880"/>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開発の流れ</a:t>
            </a:r>
            <a:endParaRPr lang="en-US" sz="2200" dirty="0"/>
          </a:p>
        </p:txBody>
      </p:sp>
      <p:sp>
        <p:nvSpPr>
          <p:cNvPr id="28" name="Shape 20"/>
          <p:cNvSpPr/>
          <p:nvPr/>
        </p:nvSpPr>
        <p:spPr>
          <a:xfrm>
            <a:off x="8074152" y="3246120"/>
            <a:ext cx="3657600" cy="1325880"/>
          </a:xfrm>
          <a:prstGeom prst="roundRect">
            <a:avLst>
              <a:gd name="adj" fmla="val 8276"/>
            </a:avLst>
          </a:prstGeom>
          <a:solidFill>
            <a:srgbClr val="DCE8F8"/>
          </a:solidFill>
          <a:ln w="25400">
            <a:solidFill>
              <a:srgbClr val="2F6BC2"/>
            </a:solidFill>
            <a:prstDash val="solid"/>
          </a:ln>
        </p:spPr>
      </p:sp>
      <p:sp>
        <p:nvSpPr>
          <p:cNvPr id="29" name="Shape 21"/>
          <p:cNvSpPr/>
          <p:nvPr/>
        </p:nvSpPr>
        <p:spPr>
          <a:xfrm>
            <a:off x="8202168" y="3634740"/>
            <a:ext cx="548640" cy="548640"/>
          </a:xfrm>
          <a:prstGeom prst="ellipse">
            <a:avLst/>
          </a:prstGeom>
          <a:solidFill>
            <a:srgbClr val="2F6BC2"/>
          </a:solidFill>
          <a:ln/>
        </p:spPr>
      </p:sp>
      <p:pic>
        <p:nvPicPr>
          <p:cNvPr id="30" name="Image 5" descr="preencoded.png">    </p:cNvPr>
          <p:cNvPicPr>
            <a:picLocks noChangeAspect="1"/>
          </p:cNvPicPr>
          <p:nvPr/>
        </p:nvPicPr>
        <p:blipFill>
          <a:blip r:embed="rId6"/>
          <a:stretch>
            <a:fillRect/>
          </a:stretch>
        </p:blipFill>
        <p:spPr>
          <a:xfrm>
            <a:off x="8322869" y="3755441"/>
            <a:ext cx="307238" cy="307238"/>
          </a:xfrm>
          <a:prstGeom prst="rect">
            <a:avLst/>
          </a:prstGeom>
        </p:spPr>
      </p:pic>
      <p:sp>
        <p:nvSpPr>
          <p:cNvPr id="31" name="Text 22"/>
          <p:cNvSpPr txBox="1"/>
          <p:nvPr/>
        </p:nvSpPr>
        <p:spPr>
          <a:xfrm>
            <a:off x="8842248" y="3246120"/>
            <a:ext cx="2798064" cy="1325880"/>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マネジメント</a:t>
            </a:r>
            <a:endParaRPr lang="en-US" sz="2200" dirty="0"/>
          </a:p>
        </p:txBody>
      </p:sp>
      <p:sp>
        <p:nvSpPr>
          <p:cNvPr id="32" name="Shape 23"/>
          <p:cNvSpPr/>
          <p:nvPr/>
        </p:nvSpPr>
        <p:spPr>
          <a:xfrm>
            <a:off x="457200" y="4846320"/>
            <a:ext cx="11274552" cy="1417320"/>
          </a:xfrm>
          <a:prstGeom prst="roundRect">
            <a:avLst>
              <a:gd name="adj" fmla="val 7742"/>
            </a:avLst>
          </a:prstGeom>
          <a:solidFill>
            <a:srgbClr val="DDF1E4"/>
          </a:solidFill>
          <a:ln w="19050">
            <a:solidFill>
              <a:srgbClr val="237A48"/>
            </a:solidFill>
            <a:prstDash val="solid"/>
          </a:ln>
        </p:spPr>
      </p:sp>
      <p:sp>
        <p:nvSpPr>
          <p:cNvPr id="33" name="Shape 24"/>
          <p:cNvSpPr/>
          <p:nvPr/>
        </p:nvSpPr>
        <p:spPr>
          <a:xfrm>
            <a:off x="594360" y="5326380"/>
            <a:ext cx="457200" cy="457200"/>
          </a:xfrm>
          <a:prstGeom prst="ellipse">
            <a:avLst/>
          </a:prstGeom>
          <a:solidFill>
            <a:srgbClr val="237A48"/>
          </a:solidFill>
          <a:ln/>
        </p:spPr>
      </p:sp>
      <p:pic>
        <p:nvPicPr>
          <p:cNvPr id="34" name="Image 6" descr="preencoded.png">    </p:cNvPr>
          <p:cNvPicPr>
            <a:picLocks noChangeAspect="1"/>
          </p:cNvPicPr>
          <p:nvPr/>
        </p:nvPicPr>
        <p:blipFill>
          <a:blip r:embed="rId7"/>
          <a:stretch>
            <a:fillRect/>
          </a:stretch>
        </p:blipFill>
        <p:spPr>
          <a:xfrm>
            <a:off x="694944" y="5426964"/>
            <a:ext cx="256032" cy="256032"/>
          </a:xfrm>
          <a:prstGeom prst="rect">
            <a:avLst/>
          </a:prstGeom>
        </p:spPr>
      </p:pic>
      <p:sp>
        <p:nvSpPr>
          <p:cNvPr id="35" name="Text 25"/>
          <p:cNvSpPr txBox="1"/>
          <p:nvPr/>
        </p:nvSpPr>
        <p:spPr>
          <a:xfrm>
            <a:off x="1188720" y="4892040"/>
            <a:ext cx="10405872" cy="132588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学習済みなら、箱ごとに「1分で説明できるか」を確かめます。詰まった箱だけ、キタミ式の該当章を開いて復習します。</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679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CS基礎</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CS基礎の軽い復習：この6問に答えられるか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学習済みの人向けのセルフチェックです。答えに詰まったものだけ復習します。ネットワーク・OS・DBを学ぶ土台になる内容を選びました。</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5669280"/>
                <a:gridCol w="560527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問い</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答えのヒント</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621792">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2進数1010は10進数でいくつ？</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10（16進数FFは255）</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21792">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AND・OR・XORの違いは？</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両方1／どちらか1／違うとき1</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621792">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CPU・メモリ・ストレージの違いは？</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計算／作業机／倉庫</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21792">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OSは何をするソフト？</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ハードを管理しアプリへ提供</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621792">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共通鍵と公開鍵暗号の違いは？</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同じ鍵／対の鍵（公開・秘密）</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21792">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ウォーターフォールとアジャイルは？</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順次進行／短い反復</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ネットワーク</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7626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ネットワーク：3つのキーワードをつなげて理解する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ブログが挙げたのは、OSI参照モデル、TCP/IPプロトコル群、各レイヤーのヘッダーの内容です。通信を「層」に分け、各層が自分用のラベル（ヘッダー）を付ける、と考えるとつながります。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[K01] [K02]</a:t>
            </a:r>
            <a:endParaRPr lang="ja-JP" sz="1200" dirty="0"/>
          </a:p>
        </p:txBody>
      </p:sp>
      <p:sp>
        <p:nvSpPr>
          <p:cNvPr id="9" name="Shape 6"/>
          <p:cNvSpPr/>
          <p:nvPr/>
        </p:nvSpPr>
        <p:spPr>
          <a:xfrm>
            <a:off x="457200" y="1783080"/>
            <a:ext cx="4846320" cy="1143000"/>
          </a:xfrm>
          <a:prstGeom prst="roundRect">
            <a:avLst>
              <a:gd name="adj" fmla="val 9600"/>
            </a:avLst>
          </a:prstGeom>
          <a:solidFill>
            <a:srgbClr val="DCE8F8"/>
          </a:solidFill>
          <a:ln w="25400">
            <a:solidFill>
              <a:srgbClr val="2F6BC2"/>
            </a:solidFill>
            <a:prstDash val="solid"/>
          </a:ln>
        </p:spPr>
      </p:sp>
      <p:sp>
        <p:nvSpPr>
          <p:cNvPr id="10" name="Text 7"/>
          <p:cNvSpPr txBox="1"/>
          <p:nvPr/>
        </p:nvSpPr>
        <p:spPr>
          <a:xfrm>
            <a:off x="548640" y="1783080"/>
            <a:ext cx="4663440" cy="1143000"/>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OSI参照モデル</a:t>
            </a:r>
            <a:endParaRPr lang="en-US" sz="22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通信を7層に分けた物差し</a:t>
            </a:r>
            <a:endParaRPr lang="en-US" sz="2200" dirty="0"/>
          </a:p>
        </p:txBody>
      </p:sp>
      <p:sp>
        <p:nvSpPr>
          <p:cNvPr id="11" name="Shape 8"/>
          <p:cNvSpPr/>
          <p:nvPr/>
        </p:nvSpPr>
        <p:spPr>
          <a:xfrm>
            <a:off x="457200" y="3081528"/>
            <a:ext cx="4846320" cy="1143000"/>
          </a:xfrm>
          <a:prstGeom prst="roundRect">
            <a:avLst>
              <a:gd name="adj" fmla="val 9600"/>
            </a:avLst>
          </a:prstGeom>
          <a:solidFill>
            <a:srgbClr val="D9F2F1"/>
          </a:solidFill>
          <a:ln w="25400">
            <a:solidFill>
              <a:srgbClr val="0B7A7A"/>
            </a:solidFill>
            <a:prstDash val="solid"/>
          </a:ln>
        </p:spPr>
      </p:sp>
      <p:sp>
        <p:nvSpPr>
          <p:cNvPr id="12" name="Text 9"/>
          <p:cNvSpPr txBox="1"/>
          <p:nvPr/>
        </p:nvSpPr>
        <p:spPr>
          <a:xfrm>
            <a:off x="548640" y="3081528"/>
            <a:ext cx="4663440" cy="1143000"/>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TCP/IPプロトコル群</a:t>
            </a:r>
            <a:endParaRPr lang="en-US" sz="22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実際に使う通信ルールの集まり</a:t>
            </a:r>
            <a:endParaRPr lang="en-US" sz="2200" dirty="0"/>
          </a:p>
        </p:txBody>
      </p:sp>
      <p:sp>
        <p:nvSpPr>
          <p:cNvPr id="13" name="Shape 10"/>
          <p:cNvSpPr/>
          <p:nvPr/>
        </p:nvSpPr>
        <p:spPr>
          <a:xfrm>
            <a:off x="457200" y="4379976"/>
            <a:ext cx="4846320" cy="1143000"/>
          </a:xfrm>
          <a:prstGeom prst="roundRect">
            <a:avLst>
              <a:gd name="adj" fmla="val 9600"/>
            </a:avLst>
          </a:prstGeom>
          <a:solidFill>
            <a:srgbClr val="E6E1F7"/>
          </a:solidFill>
          <a:ln w="25400">
            <a:solidFill>
              <a:srgbClr val="5B46B8"/>
            </a:solidFill>
            <a:prstDash val="solid"/>
          </a:ln>
        </p:spPr>
      </p:sp>
      <p:sp>
        <p:nvSpPr>
          <p:cNvPr id="14" name="Text 11"/>
          <p:cNvSpPr txBox="1"/>
          <p:nvPr/>
        </p:nvSpPr>
        <p:spPr>
          <a:xfrm>
            <a:off x="548640" y="4379976"/>
            <a:ext cx="4663440" cy="1143000"/>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各層のヘッダー</a:t>
            </a:r>
            <a:endParaRPr lang="en-US" sz="22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宛先・制御の情報のラベル</a:t>
            </a:r>
            <a:endParaRPr lang="en-US" sz="2200" dirty="0"/>
          </a:p>
        </p:txBody>
      </p:sp>
      <p:sp>
        <p:nvSpPr>
          <p:cNvPr id="15" name="Shape 12"/>
          <p:cNvSpPr/>
          <p:nvPr/>
        </p:nvSpPr>
        <p:spPr>
          <a:xfrm>
            <a:off x="5760720" y="1783080"/>
            <a:ext cx="5971032" cy="4206240"/>
          </a:xfrm>
          <a:prstGeom prst="roundRect">
            <a:avLst>
              <a:gd name="adj" fmla="val 3043"/>
            </a:avLst>
          </a:prstGeom>
          <a:solidFill>
            <a:srgbClr val="F8FAFC"/>
          </a:solidFill>
          <a:ln w="15875">
            <a:solidFill>
              <a:srgbClr val="475569"/>
            </a:solidFill>
            <a:prstDash val="dash"/>
          </a:ln>
        </p:spPr>
      </p:sp>
      <p:sp>
        <p:nvSpPr>
          <p:cNvPr id="16" name="Text 13"/>
          <p:cNvSpPr txBox="1"/>
          <p:nvPr/>
        </p:nvSpPr>
        <p:spPr>
          <a:xfrm>
            <a:off x="5897880" y="1828800"/>
            <a:ext cx="548640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16324F"/>
                </a:solidFill>
                <a:latin typeface="Yu Gothic" pitchFamily="34" charset="0"/>
                <a:ea typeface="Yu Gothic" pitchFamily="34" charset="-122"/>
                <a:cs typeface="Yu Gothic" pitchFamily="34" charset="-120"/>
              </a:rPr>
              <a:t>手紙にたとえると</a:t>
            </a:r>
            <a:endParaRPr lang="en-US" sz="2000" dirty="0"/>
          </a:p>
        </p:txBody>
      </p:sp>
      <p:sp>
        <p:nvSpPr>
          <p:cNvPr id="17" name="Shape 14"/>
          <p:cNvSpPr/>
          <p:nvPr/>
        </p:nvSpPr>
        <p:spPr>
          <a:xfrm>
            <a:off x="5943600" y="2286000"/>
            <a:ext cx="2377440" cy="777240"/>
          </a:xfrm>
          <a:prstGeom prst="roundRect">
            <a:avLst>
              <a:gd name="adj" fmla="val 14118"/>
            </a:avLst>
          </a:prstGeom>
          <a:solidFill>
            <a:srgbClr val="DCE6F2"/>
          </a:solidFill>
          <a:ln w="25400">
            <a:solidFill>
              <a:srgbClr val="16324F"/>
            </a:solidFill>
            <a:prstDash val="solid"/>
          </a:ln>
        </p:spPr>
      </p:sp>
      <p:sp>
        <p:nvSpPr>
          <p:cNvPr id="18" name="Text 15"/>
          <p:cNvSpPr txBox="1"/>
          <p:nvPr/>
        </p:nvSpPr>
        <p:spPr>
          <a:xfrm>
            <a:off x="6035040" y="2286000"/>
            <a:ext cx="2194560"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手紙の本文</a:t>
            </a:r>
            <a:endParaRPr lang="en-US" sz="1800" dirty="0"/>
          </a:p>
        </p:txBody>
      </p:sp>
      <p:sp>
        <p:nvSpPr>
          <p:cNvPr id="19" name="Text 16"/>
          <p:cNvSpPr txBox="1"/>
          <p:nvPr/>
        </p:nvSpPr>
        <p:spPr>
          <a:xfrm>
            <a:off x="8458200" y="2286000"/>
            <a:ext cx="3108960" cy="7772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＝アプリのデータ</a:t>
            </a:r>
            <a:endParaRPr lang="en-US" sz="1800" dirty="0"/>
          </a:p>
        </p:txBody>
      </p:sp>
      <p:sp>
        <p:nvSpPr>
          <p:cNvPr id="20" name="Shape 17"/>
          <p:cNvSpPr/>
          <p:nvPr/>
        </p:nvSpPr>
        <p:spPr>
          <a:xfrm>
            <a:off x="5943600" y="3200400"/>
            <a:ext cx="2377440" cy="777240"/>
          </a:xfrm>
          <a:prstGeom prst="roundRect">
            <a:avLst>
              <a:gd name="adj" fmla="val 14118"/>
            </a:avLst>
          </a:prstGeom>
          <a:solidFill>
            <a:srgbClr val="DCE6F2"/>
          </a:solidFill>
          <a:ln w="25400">
            <a:solidFill>
              <a:srgbClr val="16324F"/>
            </a:solidFill>
            <a:prstDash val="solid"/>
          </a:ln>
        </p:spPr>
      </p:sp>
      <p:sp>
        <p:nvSpPr>
          <p:cNvPr id="21" name="Text 18"/>
          <p:cNvSpPr txBox="1"/>
          <p:nvPr/>
        </p:nvSpPr>
        <p:spPr>
          <a:xfrm>
            <a:off x="6035040" y="3200400"/>
            <a:ext cx="2194560"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封筒の宛名</a:t>
            </a:r>
            <a:endParaRPr lang="en-US" sz="1800" dirty="0"/>
          </a:p>
        </p:txBody>
      </p:sp>
      <p:sp>
        <p:nvSpPr>
          <p:cNvPr id="22" name="Text 19"/>
          <p:cNvSpPr txBox="1"/>
          <p:nvPr/>
        </p:nvSpPr>
        <p:spPr>
          <a:xfrm>
            <a:off x="8458200" y="3200400"/>
            <a:ext cx="3108960" cy="7772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＝ヘッダー（各層が付ける）</a:t>
            </a:r>
            <a:endParaRPr lang="en-US" sz="1800" dirty="0"/>
          </a:p>
        </p:txBody>
      </p:sp>
      <p:sp>
        <p:nvSpPr>
          <p:cNvPr id="23" name="Shape 20"/>
          <p:cNvSpPr/>
          <p:nvPr/>
        </p:nvSpPr>
        <p:spPr>
          <a:xfrm>
            <a:off x="5943600" y="4114800"/>
            <a:ext cx="2377440" cy="777240"/>
          </a:xfrm>
          <a:prstGeom prst="roundRect">
            <a:avLst>
              <a:gd name="adj" fmla="val 14118"/>
            </a:avLst>
          </a:prstGeom>
          <a:solidFill>
            <a:srgbClr val="DCE6F2"/>
          </a:solidFill>
          <a:ln w="25400">
            <a:solidFill>
              <a:srgbClr val="16324F"/>
            </a:solidFill>
            <a:prstDash val="solid"/>
          </a:ln>
        </p:spPr>
      </p:sp>
      <p:sp>
        <p:nvSpPr>
          <p:cNvPr id="24" name="Text 21"/>
          <p:cNvSpPr txBox="1"/>
          <p:nvPr/>
        </p:nvSpPr>
        <p:spPr>
          <a:xfrm>
            <a:off x="6035040" y="4114800"/>
            <a:ext cx="2194560"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配達のルール</a:t>
            </a:r>
            <a:endParaRPr lang="en-US" sz="1800" dirty="0"/>
          </a:p>
        </p:txBody>
      </p:sp>
      <p:sp>
        <p:nvSpPr>
          <p:cNvPr id="25" name="Text 22"/>
          <p:cNvSpPr txBox="1"/>
          <p:nvPr/>
        </p:nvSpPr>
        <p:spPr>
          <a:xfrm>
            <a:off x="8458200" y="4114800"/>
            <a:ext cx="3108960" cy="7772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＝プロトコル</a:t>
            </a:r>
            <a:endParaRPr lang="en-US" sz="1800" dirty="0"/>
          </a:p>
        </p:txBody>
      </p:sp>
      <p:sp>
        <p:nvSpPr>
          <p:cNvPr id="26" name="Shape 23"/>
          <p:cNvSpPr/>
          <p:nvPr/>
        </p:nvSpPr>
        <p:spPr>
          <a:xfrm>
            <a:off x="5943600" y="5029200"/>
            <a:ext cx="2377440" cy="777240"/>
          </a:xfrm>
          <a:prstGeom prst="roundRect">
            <a:avLst>
              <a:gd name="adj" fmla="val 14118"/>
            </a:avLst>
          </a:prstGeom>
          <a:solidFill>
            <a:srgbClr val="DCE6F2"/>
          </a:solidFill>
          <a:ln w="25400">
            <a:solidFill>
              <a:srgbClr val="16324F"/>
            </a:solidFill>
            <a:prstDash val="solid"/>
          </a:ln>
        </p:spPr>
      </p:sp>
      <p:sp>
        <p:nvSpPr>
          <p:cNvPr id="27" name="Text 24"/>
          <p:cNvSpPr txBox="1"/>
          <p:nvPr/>
        </p:nvSpPr>
        <p:spPr>
          <a:xfrm>
            <a:off x="6035040" y="5029200"/>
            <a:ext cx="2194560" cy="7772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仕分け→配送→配達</a:t>
            </a:r>
            <a:endParaRPr lang="en-US" sz="1800" dirty="0"/>
          </a:p>
        </p:txBody>
      </p:sp>
      <p:sp>
        <p:nvSpPr>
          <p:cNvPr id="28" name="Text 25"/>
          <p:cNvSpPr txBox="1"/>
          <p:nvPr/>
        </p:nvSpPr>
        <p:spPr>
          <a:xfrm>
            <a:off x="8458200" y="5029200"/>
            <a:ext cx="3108960" cy="7772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＝層ごとの仕事</a:t>
            </a:r>
            <a:endParaRPr lang="en-US" sz="1800" dirty="0"/>
          </a:p>
        </p:txBody>
      </p:sp>
      <p:sp>
        <p:nvSpPr>
          <p:cNvPr id="29" name="Shape 26"/>
          <p:cNvSpPr/>
          <p:nvPr/>
        </p:nvSpPr>
        <p:spPr>
          <a:xfrm>
            <a:off x="457200" y="5715000"/>
            <a:ext cx="4846320" cy="594360"/>
          </a:xfrm>
          <a:prstGeom prst="roundRect">
            <a:avLst>
              <a:gd name="adj" fmla="val 18462"/>
            </a:avLst>
          </a:prstGeom>
          <a:solidFill>
            <a:srgbClr val="DCE8F8"/>
          </a:solidFill>
          <a:ln w="19050">
            <a:solidFill>
              <a:srgbClr val="2F6BC2"/>
            </a:solidFill>
            <a:prstDash val="solid"/>
          </a:ln>
        </p:spPr>
      </p:sp>
      <p:sp>
        <p:nvSpPr>
          <p:cNvPr id="30" name="Shape 27"/>
          <p:cNvSpPr/>
          <p:nvPr/>
        </p:nvSpPr>
        <p:spPr>
          <a:xfrm>
            <a:off x="594360" y="5806440"/>
            <a:ext cx="411480" cy="411480"/>
          </a:xfrm>
          <a:prstGeom prst="ellipse">
            <a:avLst/>
          </a:prstGeom>
          <a:solidFill>
            <a:srgbClr val="2F6BC2"/>
          </a:solidFill>
          <a:ln/>
        </p:spPr>
      </p:sp>
      <p:pic>
        <p:nvPicPr>
          <p:cNvPr id="31" name="Image 0" descr="preencoded.png">    </p:cNvPr>
          <p:cNvPicPr>
            <a:picLocks noChangeAspect="1"/>
          </p:cNvPicPr>
          <p:nvPr/>
        </p:nvPicPr>
        <p:blipFill>
          <a:blip r:embed="rId1"/>
          <a:stretch>
            <a:fillRect/>
          </a:stretch>
        </p:blipFill>
        <p:spPr>
          <a:xfrm>
            <a:off x="684886" y="5896966"/>
            <a:ext cx="230429" cy="230429"/>
          </a:xfrm>
          <a:prstGeom prst="rect">
            <a:avLst/>
          </a:prstGeom>
        </p:spPr>
      </p:pic>
      <p:sp>
        <p:nvSpPr>
          <p:cNvPr id="32" name="Text 28"/>
          <p:cNvSpPr txBox="1"/>
          <p:nvPr/>
        </p:nvSpPr>
        <p:spPr>
          <a:xfrm>
            <a:off x="1143000" y="5760720"/>
            <a:ext cx="4023360" cy="50292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ポイントは層と各層のヘッダー</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ネットワーク</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OSI参照モデル：通信を7つの層に分ける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通信の仕事を役割ごとに7層に分けたものです。上の層ほどアプリに近く、下の層ほど電気信号や電波に近い、と覚えます。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出典：[K01] [K02]</a:t>
            </a:r>
            <a:endParaRPr lang="ja-JP" sz="1200" dirty="0"/>
          </a:p>
        </p:txBody>
      </p:sp>
      <p:sp>
        <p:nvSpPr>
          <p:cNvPr id="8" name="Shape 5"/>
          <p:cNvSpPr/>
          <p:nvPr/>
        </p:nvSpPr>
        <p:spPr>
          <a:xfrm>
            <a:off x="457200" y="1783080"/>
            <a:ext cx="3291840" cy="566928"/>
          </a:xfrm>
          <a:prstGeom prst="roundRect">
            <a:avLst>
              <a:gd name="adj" fmla="val 19355"/>
            </a:avLst>
          </a:prstGeom>
          <a:solidFill>
            <a:srgbClr val="5B46B8"/>
          </a:solidFill>
          <a:ln/>
        </p:spPr>
      </p:sp>
      <p:sp>
        <p:nvSpPr>
          <p:cNvPr id="9" name="Text 6"/>
          <p:cNvSpPr txBox="1"/>
          <p:nvPr/>
        </p:nvSpPr>
        <p:spPr>
          <a:xfrm>
            <a:off x="548640" y="1783080"/>
            <a:ext cx="310896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第7層 アプリケーション</a:t>
            </a:r>
            <a:endParaRPr lang="en-US" sz="1800" dirty="0"/>
          </a:p>
        </p:txBody>
      </p:sp>
      <p:sp>
        <p:nvSpPr>
          <p:cNvPr id="10" name="Shape 7"/>
          <p:cNvSpPr/>
          <p:nvPr/>
        </p:nvSpPr>
        <p:spPr>
          <a:xfrm>
            <a:off x="3840480" y="1783080"/>
            <a:ext cx="5120640" cy="566928"/>
          </a:xfrm>
          <a:prstGeom prst="roundRect">
            <a:avLst>
              <a:gd name="adj" fmla="val 19355"/>
            </a:avLst>
          </a:prstGeom>
          <a:solidFill>
            <a:srgbClr val="E6E1F7"/>
          </a:solidFill>
          <a:ln w="25400">
            <a:solidFill>
              <a:srgbClr val="5B46B8"/>
            </a:solidFill>
            <a:prstDash val="solid"/>
          </a:ln>
        </p:spPr>
      </p:sp>
      <p:sp>
        <p:nvSpPr>
          <p:cNvPr id="11" name="Text 8"/>
          <p:cNvSpPr txBox="1"/>
          <p:nvPr/>
        </p:nvSpPr>
        <p:spPr>
          <a:xfrm>
            <a:off x="3931920" y="1783080"/>
            <a:ext cx="4937760" cy="56692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利用者のアプリへ通信機能を提供</a:t>
            </a:r>
            <a:endParaRPr lang="en-US" sz="1800" dirty="0"/>
          </a:p>
        </p:txBody>
      </p:sp>
      <p:sp>
        <p:nvSpPr>
          <p:cNvPr id="12" name="Shape 9"/>
          <p:cNvSpPr/>
          <p:nvPr/>
        </p:nvSpPr>
        <p:spPr>
          <a:xfrm>
            <a:off x="9052560" y="1783080"/>
            <a:ext cx="2679192" cy="566928"/>
          </a:xfrm>
          <a:prstGeom prst="roundRect">
            <a:avLst>
              <a:gd name="adj" fmla="val 19355"/>
            </a:avLst>
          </a:prstGeom>
          <a:solidFill>
            <a:srgbClr val="FFFFFF"/>
          </a:solidFill>
          <a:ln w="25400">
            <a:solidFill>
              <a:srgbClr val="475569"/>
            </a:solidFill>
            <a:prstDash val="solid"/>
          </a:ln>
        </p:spPr>
      </p:sp>
      <p:sp>
        <p:nvSpPr>
          <p:cNvPr id="13" name="Text 10"/>
          <p:cNvSpPr txBox="1"/>
          <p:nvPr/>
        </p:nvSpPr>
        <p:spPr>
          <a:xfrm>
            <a:off x="9144000" y="1783080"/>
            <a:ext cx="2496312"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手紙の内容</a:t>
            </a:r>
            <a:endParaRPr lang="en-US" sz="1800" dirty="0"/>
          </a:p>
        </p:txBody>
      </p:sp>
      <p:sp>
        <p:nvSpPr>
          <p:cNvPr id="14" name="Shape 11"/>
          <p:cNvSpPr/>
          <p:nvPr/>
        </p:nvSpPr>
        <p:spPr>
          <a:xfrm>
            <a:off x="457200" y="2423160"/>
            <a:ext cx="3291840" cy="566928"/>
          </a:xfrm>
          <a:prstGeom prst="roundRect">
            <a:avLst>
              <a:gd name="adj" fmla="val 19355"/>
            </a:avLst>
          </a:prstGeom>
          <a:solidFill>
            <a:srgbClr val="5B46B8"/>
          </a:solidFill>
          <a:ln/>
        </p:spPr>
      </p:sp>
      <p:sp>
        <p:nvSpPr>
          <p:cNvPr id="15" name="Text 12"/>
          <p:cNvSpPr txBox="1"/>
          <p:nvPr/>
        </p:nvSpPr>
        <p:spPr>
          <a:xfrm>
            <a:off x="548640" y="2423160"/>
            <a:ext cx="310896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第6層 プレゼンテーション</a:t>
            </a:r>
            <a:endParaRPr lang="en-US" sz="1800" dirty="0"/>
          </a:p>
        </p:txBody>
      </p:sp>
      <p:sp>
        <p:nvSpPr>
          <p:cNvPr id="16" name="Shape 13"/>
          <p:cNvSpPr/>
          <p:nvPr/>
        </p:nvSpPr>
        <p:spPr>
          <a:xfrm>
            <a:off x="3840480" y="2423160"/>
            <a:ext cx="5120640" cy="566928"/>
          </a:xfrm>
          <a:prstGeom prst="roundRect">
            <a:avLst>
              <a:gd name="adj" fmla="val 19355"/>
            </a:avLst>
          </a:prstGeom>
          <a:solidFill>
            <a:srgbClr val="E6E1F7"/>
          </a:solidFill>
          <a:ln w="25400">
            <a:solidFill>
              <a:srgbClr val="5B46B8"/>
            </a:solidFill>
            <a:prstDash val="solid"/>
          </a:ln>
        </p:spPr>
      </p:sp>
      <p:sp>
        <p:nvSpPr>
          <p:cNvPr id="17" name="Text 14"/>
          <p:cNvSpPr txBox="1"/>
          <p:nvPr/>
        </p:nvSpPr>
        <p:spPr>
          <a:xfrm>
            <a:off x="3931920" y="2423160"/>
            <a:ext cx="4937760" cy="56692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表現形式の変換（文字・暗号・圧縮）</a:t>
            </a:r>
            <a:endParaRPr lang="en-US" sz="1800" dirty="0"/>
          </a:p>
        </p:txBody>
      </p:sp>
      <p:sp>
        <p:nvSpPr>
          <p:cNvPr id="18" name="Shape 15"/>
          <p:cNvSpPr/>
          <p:nvPr/>
        </p:nvSpPr>
        <p:spPr>
          <a:xfrm>
            <a:off x="9052560" y="2423160"/>
            <a:ext cx="2679192" cy="566928"/>
          </a:xfrm>
          <a:prstGeom prst="roundRect">
            <a:avLst>
              <a:gd name="adj" fmla="val 19355"/>
            </a:avLst>
          </a:prstGeom>
          <a:solidFill>
            <a:srgbClr val="FFFFFF"/>
          </a:solidFill>
          <a:ln w="25400">
            <a:solidFill>
              <a:srgbClr val="475569"/>
            </a:solidFill>
            <a:prstDash val="solid"/>
          </a:ln>
        </p:spPr>
      </p:sp>
      <p:sp>
        <p:nvSpPr>
          <p:cNvPr id="19" name="Text 16"/>
          <p:cNvSpPr txBox="1"/>
          <p:nvPr/>
        </p:nvSpPr>
        <p:spPr>
          <a:xfrm>
            <a:off x="9144000" y="2423160"/>
            <a:ext cx="2496312"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言語の翻訳</a:t>
            </a:r>
            <a:endParaRPr lang="en-US" sz="1800" dirty="0"/>
          </a:p>
        </p:txBody>
      </p:sp>
      <p:sp>
        <p:nvSpPr>
          <p:cNvPr id="20" name="Shape 17"/>
          <p:cNvSpPr/>
          <p:nvPr/>
        </p:nvSpPr>
        <p:spPr>
          <a:xfrm>
            <a:off x="457200" y="3063240"/>
            <a:ext cx="3291840" cy="566928"/>
          </a:xfrm>
          <a:prstGeom prst="roundRect">
            <a:avLst>
              <a:gd name="adj" fmla="val 19355"/>
            </a:avLst>
          </a:prstGeom>
          <a:solidFill>
            <a:srgbClr val="5B46B8"/>
          </a:solidFill>
          <a:ln/>
        </p:spPr>
      </p:sp>
      <p:sp>
        <p:nvSpPr>
          <p:cNvPr id="21" name="Text 18"/>
          <p:cNvSpPr txBox="1"/>
          <p:nvPr/>
        </p:nvSpPr>
        <p:spPr>
          <a:xfrm>
            <a:off x="548640" y="3063240"/>
            <a:ext cx="310896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第5層 セッション</a:t>
            </a:r>
            <a:endParaRPr lang="en-US" sz="1800" dirty="0"/>
          </a:p>
        </p:txBody>
      </p:sp>
      <p:sp>
        <p:nvSpPr>
          <p:cNvPr id="22" name="Shape 19"/>
          <p:cNvSpPr/>
          <p:nvPr/>
        </p:nvSpPr>
        <p:spPr>
          <a:xfrm>
            <a:off x="3840480" y="3063240"/>
            <a:ext cx="5120640" cy="566928"/>
          </a:xfrm>
          <a:prstGeom prst="roundRect">
            <a:avLst>
              <a:gd name="adj" fmla="val 19355"/>
            </a:avLst>
          </a:prstGeom>
          <a:solidFill>
            <a:srgbClr val="E6E1F7"/>
          </a:solidFill>
          <a:ln w="25400">
            <a:solidFill>
              <a:srgbClr val="5B46B8"/>
            </a:solidFill>
            <a:prstDash val="solid"/>
          </a:ln>
        </p:spPr>
      </p:sp>
      <p:sp>
        <p:nvSpPr>
          <p:cNvPr id="23" name="Text 20"/>
          <p:cNvSpPr txBox="1"/>
          <p:nvPr/>
        </p:nvSpPr>
        <p:spPr>
          <a:xfrm>
            <a:off x="3931920" y="3063240"/>
            <a:ext cx="4937760" cy="56692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通信の開始・維持・終了の管理</a:t>
            </a:r>
            <a:endParaRPr lang="en-US" sz="1800" dirty="0"/>
          </a:p>
        </p:txBody>
      </p:sp>
      <p:sp>
        <p:nvSpPr>
          <p:cNvPr id="24" name="Shape 21"/>
          <p:cNvSpPr/>
          <p:nvPr/>
        </p:nvSpPr>
        <p:spPr>
          <a:xfrm>
            <a:off x="9052560" y="3063240"/>
            <a:ext cx="2679192" cy="566928"/>
          </a:xfrm>
          <a:prstGeom prst="roundRect">
            <a:avLst>
              <a:gd name="adj" fmla="val 19355"/>
            </a:avLst>
          </a:prstGeom>
          <a:solidFill>
            <a:srgbClr val="FFFFFF"/>
          </a:solidFill>
          <a:ln w="25400">
            <a:solidFill>
              <a:srgbClr val="475569"/>
            </a:solidFill>
            <a:prstDash val="solid"/>
          </a:ln>
        </p:spPr>
      </p:sp>
      <p:sp>
        <p:nvSpPr>
          <p:cNvPr id="25" name="Text 22"/>
          <p:cNvSpPr txBox="1"/>
          <p:nvPr/>
        </p:nvSpPr>
        <p:spPr>
          <a:xfrm>
            <a:off x="9144000" y="3063240"/>
            <a:ext cx="2496312"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電話の接続と切断</a:t>
            </a:r>
            <a:endParaRPr lang="en-US" sz="1800" dirty="0"/>
          </a:p>
        </p:txBody>
      </p:sp>
      <p:sp>
        <p:nvSpPr>
          <p:cNvPr id="26" name="Shape 23"/>
          <p:cNvSpPr/>
          <p:nvPr/>
        </p:nvSpPr>
        <p:spPr>
          <a:xfrm>
            <a:off x="457200" y="3703320"/>
            <a:ext cx="3291840" cy="566928"/>
          </a:xfrm>
          <a:prstGeom prst="roundRect">
            <a:avLst>
              <a:gd name="adj" fmla="val 19355"/>
            </a:avLst>
          </a:prstGeom>
          <a:solidFill>
            <a:srgbClr val="0B7A7A"/>
          </a:solidFill>
          <a:ln/>
        </p:spPr>
      </p:sp>
      <p:sp>
        <p:nvSpPr>
          <p:cNvPr id="27" name="Text 24"/>
          <p:cNvSpPr txBox="1"/>
          <p:nvPr/>
        </p:nvSpPr>
        <p:spPr>
          <a:xfrm>
            <a:off x="548640" y="3703320"/>
            <a:ext cx="310896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第4層 トランスポート</a:t>
            </a:r>
            <a:endParaRPr lang="en-US" sz="1800" dirty="0"/>
          </a:p>
        </p:txBody>
      </p:sp>
      <p:sp>
        <p:nvSpPr>
          <p:cNvPr id="28" name="Shape 25"/>
          <p:cNvSpPr/>
          <p:nvPr/>
        </p:nvSpPr>
        <p:spPr>
          <a:xfrm>
            <a:off x="3840480" y="3703320"/>
            <a:ext cx="5120640" cy="566928"/>
          </a:xfrm>
          <a:prstGeom prst="roundRect">
            <a:avLst>
              <a:gd name="adj" fmla="val 19355"/>
            </a:avLst>
          </a:prstGeom>
          <a:solidFill>
            <a:srgbClr val="D9F2F1"/>
          </a:solidFill>
          <a:ln w="25400">
            <a:solidFill>
              <a:srgbClr val="0B7A7A"/>
            </a:solidFill>
            <a:prstDash val="solid"/>
          </a:ln>
        </p:spPr>
      </p:sp>
      <p:sp>
        <p:nvSpPr>
          <p:cNvPr id="29" name="Text 26"/>
          <p:cNvSpPr txBox="1"/>
          <p:nvPr/>
        </p:nvSpPr>
        <p:spPr>
          <a:xfrm>
            <a:off x="3931920" y="3703320"/>
            <a:ext cx="4937760" cy="56692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アプリ間の転送と信頼性（ポート）</a:t>
            </a:r>
            <a:endParaRPr lang="en-US" sz="1800" dirty="0"/>
          </a:p>
        </p:txBody>
      </p:sp>
      <p:sp>
        <p:nvSpPr>
          <p:cNvPr id="30" name="Shape 27"/>
          <p:cNvSpPr/>
          <p:nvPr/>
        </p:nvSpPr>
        <p:spPr>
          <a:xfrm>
            <a:off x="9052560" y="3703320"/>
            <a:ext cx="2679192" cy="566928"/>
          </a:xfrm>
          <a:prstGeom prst="roundRect">
            <a:avLst>
              <a:gd name="adj" fmla="val 19355"/>
            </a:avLst>
          </a:prstGeom>
          <a:solidFill>
            <a:srgbClr val="FFFFFF"/>
          </a:solidFill>
          <a:ln w="25400">
            <a:solidFill>
              <a:srgbClr val="475569"/>
            </a:solidFill>
            <a:prstDash val="solid"/>
          </a:ln>
        </p:spPr>
      </p:sp>
      <p:sp>
        <p:nvSpPr>
          <p:cNvPr id="31" name="Text 28"/>
          <p:cNvSpPr txBox="1"/>
          <p:nvPr/>
        </p:nvSpPr>
        <p:spPr>
          <a:xfrm>
            <a:off x="9144000" y="3703320"/>
            <a:ext cx="2496312"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書留か普通郵便か</a:t>
            </a:r>
            <a:endParaRPr lang="en-US" sz="1800" dirty="0"/>
          </a:p>
        </p:txBody>
      </p:sp>
      <p:sp>
        <p:nvSpPr>
          <p:cNvPr id="32" name="Shape 29"/>
          <p:cNvSpPr/>
          <p:nvPr/>
        </p:nvSpPr>
        <p:spPr>
          <a:xfrm>
            <a:off x="457200" y="4343400"/>
            <a:ext cx="3291840" cy="566928"/>
          </a:xfrm>
          <a:prstGeom prst="roundRect">
            <a:avLst>
              <a:gd name="adj" fmla="val 19355"/>
            </a:avLst>
          </a:prstGeom>
          <a:solidFill>
            <a:srgbClr val="2F6BC2"/>
          </a:solidFill>
          <a:ln/>
        </p:spPr>
      </p:sp>
      <p:sp>
        <p:nvSpPr>
          <p:cNvPr id="33" name="Text 30"/>
          <p:cNvSpPr txBox="1"/>
          <p:nvPr/>
        </p:nvSpPr>
        <p:spPr>
          <a:xfrm>
            <a:off x="548640" y="4343400"/>
            <a:ext cx="310896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第3層 ネットワーク</a:t>
            </a:r>
            <a:endParaRPr lang="en-US" sz="1800" dirty="0"/>
          </a:p>
        </p:txBody>
      </p:sp>
      <p:sp>
        <p:nvSpPr>
          <p:cNvPr id="34" name="Shape 31"/>
          <p:cNvSpPr/>
          <p:nvPr/>
        </p:nvSpPr>
        <p:spPr>
          <a:xfrm>
            <a:off x="3840480" y="4343400"/>
            <a:ext cx="5120640" cy="566928"/>
          </a:xfrm>
          <a:prstGeom prst="roundRect">
            <a:avLst>
              <a:gd name="adj" fmla="val 19355"/>
            </a:avLst>
          </a:prstGeom>
          <a:solidFill>
            <a:srgbClr val="DCE8F8"/>
          </a:solidFill>
          <a:ln w="25400">
            <a:solidFill>
              <a:srgbClr val="2F6BC2"/>
            </a:solidFill>
            <a:prstDash val="solid"/>
          </a:ln>
        </p:spPr>
      </p:sp>
      <p:sp>
        <p:nvSpPr>
          <p:cNvPr id="35" name="Text 32"/>
          <p:cNvSpPr txBox="1"/>
          <p:nvPr/>
        </p:nvSpPr>
        <p:spPr>
          <a:xfrm>
            <a:off x="3931920" y="4343400"/>
            <a:ext cx="4937760" cy="56692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異なる網をまたぐ経路選択（IP）</a:t>
            </a:r>
            <a:endParaRPr lang="en-US" sz="1800" dirty="0"/>
          </a:p>
        </p:txBody>
      </p:sp>
      <p:sp>
        <p:nvSpPr>
          <p:cNvPr id="36" name="Shape 33"/>
          <p:cNvSpPr/>
          <p:nvPr/>
        </p:nvSpPr>
        <p:spPr>
          <a:xfrm>
            <a:off x="9052560" y="4343400"/>
            <a:ext cx="2679192" cy="566928"/>
          </a:xfrm>
          <a:prstGeom prst="roundRect">
            <a:avLst>
              <a:gd name="adj" fmla="val 19355"/>
            </a:avLst>
          </a:prstGeom>
          <a:solidFill>
            <a:srgbClr val="FFFFFF"/>
          </a:solidFill>
          <a:ln w="25400">
            <a:solidFill>
              <a:srgbClr val="475569"/>
            </a:solidFill>
            <a:prstDash val="solid"/>
          </a:ln>
        </p:spPr>
      </p:sp>
      <p:sp>
        <p:nvSpPr>
          <p:cNvPr id="37" name="Text 34"/>
          <p:cNvSpPr txBox="1"/>
          <p:nvPr/>
        </p:nvSpPr>
        <p:spPr>
          <a:xfrm>
            <a:off x="9144000" y="4343400"/>
            <a:ext cx="2496312"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住所で配達ルート</a:t>
            </a:r>
            <a:endParaRPr lang="en-US" sz="1800" dirty="0"/>
          </a:p>
        </p:txBody>
      </p:sp>
      <p:sp>
        <p:nvSpPr>
          <p:cNvPr id="38" name="Shape 35"/>
          <p:cNvSpPr/>
          <p:nvPr/>
        </p:nvSpPr>
        <p:spPr>
          <a:xfrm>
            <a:off x="457200" y="4983480"/>
            <a:ext cx="3291840" cy="566928"/>
          </a:xfrm>
          <a:prstGeom prst="roundRect">
            <a:avLst>
              <a:gd name="adj" fmla="val 19355"/>
            </a:avLst>
          </a:prstGeom>
          <a:solidFill>
            <a:srgbClr val="2F6BC2"/>
          </a:solidFill>
          <a:ln/>
        </p:spPr>
      </p:sp>
      <p:sp>
        <p:nvSpPr>
          <p:cNvPr id="39" name="Text 36"/>
          <p:cNvSpPr txBox="1"/>
          <p:nvPr/>
        </p:nvSpPr>
        <p:spPr>
          <a:xfrm>
            <a:off x="548640" y="4983480"/>
            <a:ext cx="310896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第2層 データリンク</a:t>
            </a:r>
            <a:endParaRPr lang="en-US" sz="1800" dirty="0"/>
          </a:p>
        </p:txBody>
      </p:sp>
      <p:sp>
        <p:nvSpPr>
          <p:cNvPr id="40" name="Shape 37"/>
          <p:cNvSpPr/>
          <p:nvPr/>
        </p:nvSpPr>
        <p:spPr>
          <a:xfrm>
            <a:off x="3840480" y="4983480"/>
            <a:ext cx="5120640" cy="566928"/>
          </a:xfrm>
          <a:prstGeom prst="roundRect">
            <a:avLst>
              <a:gd name="adj" fmla="val 19355"/>
            </a:avLst>
          </a:prstGeom>
          <a:solidFill>
            <a:srgbClr val="DCE8F8"/>
          </a:solidFill>
          <a:ln w="25400">
            <a:solidFill>
              <a:srgbClr val="2F6BC2"/>
            </a:solidFill>
            <a:prstDash val="solid"/>
          </a:ln>
        </p:spPr>
      </p:sp>
      <p:sp>
        <p:nvSpPr>
          <p:cNvPr id="41" name="Text 38"/>
          <p:cNvSpPr txBox="1"/>
          <p:nvPr/>
        </p:nvSpPr>
        <p:spPr>
          <a:xfrm>
            <a:off x="3931920" y="4983480"/>
            <a:ext cx="4937760" cy="56692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隣の機器まで運ぶ（MAC）</a:t>
            </a:r>
            <a:endParaRPr lang="en-US" sz="1800" dirty="0"/>
          </a:p>
        </p:txBody>
      </p:sp>
      <p:sp>
        <p:nvSpPr>
          <p:cNvPr id="42" name="Shape 39"/>
          <p:cNvSpPr/>
          <p:nvPr/>
        </p:nvSpPr>
        <p:spPr>
          <a:xfrm>
            <a:off x="9052560" y="4983480"/>
            <a:ext cx="2679192" cy="566928"/>
          </a:xfrm>
          <a:prstGeom prst="roundRect">
            <a:avLst>
              <a:gd name="adj" fmla="val 19355"/>
            </a:avLst>
          </a:prstGeom>
          <a:solidFill>
            <a:srgbClr val="FFFFFF"/>
          </a:solidFill>
          <a:ln w="25400">
            <a:solidFill>
              <a:srgbClr val="475569"/>
            </a:solidFill>
            <a:prstDash val="solid"/>
          </a:ln>
        </p:spPr>
      </p:sp>
      <p:sp>
        <p:nvSpPr>
          <p:cNvPr id="43" name="Text 40"/>
          <p:cNvSpPr txBox="1"/>
          <p:nvPr/>
        </p:nvSpPr>
        <p:spPr>
          <a:xfrm>
            <a:off x="9144000" y="4983480"/>
            <a:ext cx="2496312"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隣の拠点まで運ぶ</a:t>
            </a:r>
            <a:endParaRPr lang="en-US" sz="1800" dirty="0"/>
          </a:p>
        </p:txBody>
      </p:sp>
      <p:sp>
        <p:nvSpPr>
          <p:cNvPr id="44" name="Shape 41"/>
          <p:cNvSpPr/>
          <p:nvPr/>
        </p:nvSpPr>
        <p:spPr>
          <a:xfrm>
            <a:off x="457200" y="5623560"/>
            <a:ext cx="3291840" cy="566928"/>
          </a:xfrm>
          <a:prstGeom prst="roundRect">
            <a:avLst>
              <a:gd name="adj" fmla="val 19355"/>
            </a:avLst>
          </a:prstGeom>
          <a:solidFill>
            <a:srgbClr val="475569"/>
          </a:solidFill>
          <a:ln/>
        </p:spPr>
      </p:sp>
      <p:sp>
        <p:nvSpPr>
          <p:cNvPr id="45" name="Text 42"/>
          <p:cNvSpPr txBox="1"/>
          <p:nvPr/>
        </p:nvSpPr>
        <p:spPr>
          <a:xfrm>
            <a:off x="548640" y="5623560"/>
            <a:ext cx="3108960"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第1層 物理</a:t>
            </a:r>
            <a:endParaRPr lang="en-US" sz="1800" dirty="0"/>
          </a:p>
        </p:txBody>
      </p:sp>
      <p:sp>
        <p:nvSpPr>
          <p:cNvPr id="46" name="Shape 43"/>
          <p:cNvSpPr/>
          <p:nvPr/>
        </p:nvSpPr>
        <p:spPr>
          <a:xfrm>
            <a:off x="3840480" y="5623560"/>
            <a:ext cx="5120640" cy="566928"/>
          </a:xfrm>
          <a:prstGeom prst="roundRect">
            <a:avLst>
              <a:gd name="adj" fmla="val 19355"/>
            </a:avLst>
          </a:prstGeom>
          <a:solidFill>
            <a:srgbClr val="E2E8F0"/>
          </a:solidFill>
          <a:ln w="25400">
            <a:solidFill>
              <a:srgbClr val="475569"/>
            </a:solidFill>
            <a:prstDash val="solid"/>
          </a:ln>
        </p:spPr>
      </p:sp>
      <p:sp>
        <p:nvSpPr>
          <p:cNvPr id="47" name="Text 44"/>
          <p:cNvSpPr txBox="1"/>
          <p:nvPr/>
        </p:nvSpPr>
        <p:spPr>
          <a:xfrm>
            <a:off x="3931920" y="5623560"/>
            <a:ext cx="4937760" cy="56692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電気・光・電波の信号とケーブル</a:t>
            </a:r>
            <a:endParaRPr lang="en-US" sz="1800" dirty="0"/>
          </a:p>
        </p:txBody>
      </p:sp>
      <p:sp>
        <p:nvSpPr>
          <p:cNvPr id="48" name="Shape 45"/>
          <p:cNvSpPr/>
          <p:nvPr/>
        </p:nvSpPr>
        <p:spPr>
          <a:xfrm>
            <a:off x="9052560" y="5623560"/>
            <a:ext cx="2679192" cy="566928"/>
          </a:xfrm>
          <a:prstGeom prst="roundRect">
            <a:avLst>
              <a:gd name="adj" fmla="val 19355"/>
            </a:avLst>
          </a:prstGeom>
          <a:solidFill>
            <a:srgbClr val="FFFFFF"/>
          </a:solidFill>
          <a:ln w="25400">
            <a:solidFill>
              <a:srgbClr val="475569"/>
            </a:solidFill>
            <a:prstDash val="solid"/>
          </a:ln>
        </p:spPr>
      </p:sp>
      <p:sp>
        <p:nvSpPr>
          <p:cNvPr id="49" name="Text 46"/>
          <p:cNvSpPr txBox="1"/>
          <p:nvPr/>
        </p:nvSpPr>
        <p:spPr>
          <a:xfrm>
            <a:off x="9144000" y="5623560"/>
            <a:ext cx="2496312"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道路そのもの</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ネットワーク</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各層の代表的なプロトコル・機器・データの呼び名</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層が変わると、データの呼び名（単位）も変わります。ルーターは第3層、スイッチは第2層、と「どの層の機器か」で役割を思い出せます。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出典：[K01] [K02]</a:t>
            </a:r>
            <a:endParaRPr lang="ja-JP"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651760"/>
                <a:gridCol w="3657600"/>
                <a:gridCol w="2926080"/>
                <a:gridCol w="203911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層</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代表的なプロトコル</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代表的な機器</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単位</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64008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7〜5 アプリ系</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HTTP、SMTP、DNS、FTP</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プロキシ、WAF</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algn="l"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4 トランスポート</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9F2F1"/>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TCP、UDP</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ロードバランサーなど</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セグメント</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640080">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3 ネットワーク</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IP、ICMP、ARPの一部</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ルーター</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パケット</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2 データリンク</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Ethernet、Wi-Fi</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スイッチ</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フレーム</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640080">
                <a:tc>
                  <a:txBody>
                    <a:bodyPr/>
                    <a:lstStyle/>
                    <a:p>
                      <a:pPr algn="l" indent="0" marL="0">
                        <a:lnSpc>
                          <a:spcPts val="2400"/>
                        </a:lnSpc>
                        <a:buNone/>
                      </a:pPr>
                      <a:r>
                        <a:rPr lang="ja-JP" altLang="en-US" sz="1800" b="1" dirty="0">
                          <a:solidFill>
                            <a:srgbClr val="475569"/>
                          </a:solidFill>
                          <a:latin typeface="Yu Gothic" pitchFamily="34" charset="0"/>
                          <a:ea typeface="Yu Gothic" pitchFamily="34" charset="-122"/>
                          <a:cs typeface="Yu Gothic" pitchFamily="34" charset="-120"/>
                        </a:rPr>
                        <a:t>1 物理</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ケーブル規格、電波</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ハブ、ケーブル</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ビット</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hape 5"/>
          <p:cNvSpPr/>
          <p:nvPr/>
        </p:nvSpPr>
        <p:spPr>
          <a:xfrm>
            <a:off x="457200" y="5715000"/>
            <a:ext cx="11274552" cy="594360"/>
          </a:xfrm>
          <a:prstGeom prst="roundRect">
            <a:avLst>
              <a:gd name="adj" fmla="val 18462"/>
            </a:avLst>
          </a:prstGeom>
          <a:solidFill>
            <a:srgbClr val="DCE8F8"/>
          </a:solidFill>
          <a:ln w="19050">
            <a:solidFill>
              <a:srgbClr val="2F6BC2"/>
            </a:solidFill>
            <a:prstDash val="solid"/>
          </a:ln>
        </p:spPr>
      </p:sp>
      <p:sp>
        <p:nvSpPr>
          <p:cNvPr id="10" name="Shape 6"/>
          <p:cNvSpPr/>
          <p:nvPr/>
        </p:nvSpPr>
        <p:spPr>
          <a:xfrm>
            <a:off x="594360" y="5806440"/>
            <a:ext cx="411480" cy="411480"/>
          </a:xfrm>
          <a:prstGeom prst="ellipse">
            <a:avLst/>
          </a:prstGeom>
          <a:solidFill>
            <a:srgbClr val="2F6BC2"/>
          </a:solidFill>
          <a:ln/>
        </p:spPr>
      </p:sp>
      <p:pic>
        <p:nvPicPr>
          <p:cNvPr id="11" name="Image 0" descr="preencoded.png">    </p:cNvPr>
          <p:cNvPicPr>
            <a:picLocks noChangeAspect="1"/>
          </p:cNvPicPr>
          <p:nvPr/>
        </p:nvPicPr>
        <p:blipFill>
          <a:blip r:embed="rId1"/>
          <a:stretch>
            <a:fillRect/>
          </a:stretch>
        </p:blipFill>
        <p:spPr>
          <a:xfrm>
            <a:off x="684886" y="5896966"/>
            <a:ext cx="230429" cy="230429"/>
          </a:xfrm>
          <a:prstGeom prst="rect">
            <a:avLst/>
          </a:prstGeom>
        </p:spPr>
      </p:pic>
      <p:sp>
        <p:nvSpPr>
          <p:cNvPr id="12" name="Text 7"/>
          <p:cNvSpPr txBox="1"/>
          <p:nvPr/>
        </p:nvSpPr>
        <p:spPr>
          <a:xfrm>
            <a:off x="1143000" y="5760720"/>
            <a:ext cx="10451592" cy="50292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ルーター＝第3層（IP）、スイッチ＝第2層（MAC）と覚える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ネットワーク</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7626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TCP/IPの4階層：OSIの7層をまとめたもの</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ブログが紹介する本は、TCP/IPの4階層で説明します。OSIの7層と、どこが対応するかを覚えれば、両方の説明が読めるようになります。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[K01] [K02]</a:t>
            </a:r>
            <a:endParaRPr lang="ja-JP" sz="1200" dirty="0"/>
          </a:p>
        </p:txBody>
      </p:sp>
      <p:sp>
        <p:nvSpPr>
          <p:cNvPr id="9" name="Shape 6"/>
          <p:cNvSpPr/>
          <p:nvPr/>
        </p:nvSpPr>
        <p:spPr>
          <a:xfrm>
            <a:off x="457200" y="1783080"/>
            <a:ext cx="3931920" cy="530352"/>
          </a:xfrm>
          <a:prstGeom prst="roundRect">
            <a:avLst>
              <a:gd name="adj" fmla="val 20690"/>
            </a:avLst>
          </a:prstGeom>
          <a:solidFill>
            <a:srgbClr val="E6E1F7"/>
          </a:solidFill>
          <a:ln w="25400">
            <a:solidFill>
              <a:srgbClr val="5B46B8"/>
            </a:solidFill>
            <a:prstDash val="solid"/>
          </a:ln>
        </p:spPr>
      </p:sp>
      <p:sp>
        <p:nvSpPr>
          <p:cNvPr id="10" name="Text 7"/>
          <p:cNvSpPr txBox="1"/>
          <p:nvPr/>
        </p:nvSpPr>
        <p:spPr>
          <a:xfrm>
            <a:off x="548640" y="1783080"/>
            <a:ext cx="3749040" cy="53035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7 アプリケーション</a:t>
            </a:r>
            <a:endParaRPr lang="en-US" sz="1800" dirty="0"/>
          </a:p>
        </p:txBody>
      </p:sp>
      <p:sp>
        <p:nvSpPr>
          <p:cNvPr id="11" name="Shape 8"/>
          <p:cNvSpPr/>
          <p:nvPr/>
        </p:nvSpPr>
        <p:spPr>
          <a:xfrm>
            <a:off x="457200" y="2386584"/>
            <a:ext cx="3931920" cy="530352"/>
          </a:xfrm>
          <a:prstGeom prst="roundRect">
            <a:avLst>
              <a:gd name="adj" fmla="val 20690"/>
            </a:avLst>
          </a:prstGeom>
          <a:solidFill>
            <a:srgbClr val="E6E1F7"/>
          </a:solidFill>
          <a:ln w="25400">
            <a:solidFill>
              <a:srgbClr val="5B46B8"/>
            </a:solidFill>
            <a:prstDash val="solid"/>
          </a:ln>
        </p:spPr>
      </p:sp>
      <p:sp>
        <p:nvSpPr>
          <p:cNvPr id="12" name="Text 9"/>
          <p:cNvSpPr txBox="1"/>
          <p:nvPr/>
        </p:nvSpPr>
        <p:spPr>
          <a:xfrm>
            <a:off x="548640" y="2386584"/>
            <a:ext cx="3749040" cy="53035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6 プレゼンテーション</a:t>
            </a:r>
            <a:endParaRPr lang="en-US" sz="1800" dirty="0"/>
          </a:p>
        </p:txBody>
      </p:sp>
      <p:sp>
        <p:nvSpPr>
          <p:cNvPr id="13" name="Shape 10"/>
          <p:cNvSpPr/>
          <p:nvPr/>
        </p:nvSpPr>
        <p:spPr>
          <a:xfrm>
            <a:off x="457200" y="2990088"/>
            <a:ext cx="3931920" cy="530352"/>
          </a:xfrm>
          <a:prstGeom prst="roundRect">
            <a:avLst>
              <a:gd name="adj" fmla="val 20690"/>
            </a:avLst>
          </a:prstGeom>
          <a:solidFill>
            <a:srgbClr val="E6E1F7"/>
          </a:solidFill>
          <a:ln w="25400">
            <a:solidFill>
              <a:srgbClr val="5B46B8"/>
            </a:solidFill>
            <a:prstDash val="solid"/>
          </a:ln>
        </p:spPr>
      </p:sp>
      <p:sp>
        <p:nvSpPr>
          <p:cNvPr id="14" name="Text 11"/>
          <p:cNvSpPr txBox="1"/>
          <p:nvPr/>
        </p:nvSpPr>
        <p:spPr>
          <a:xfrm>
            <a:off x="548640" y="2990088"/>
            <a:ext cx="3749040" cy="53035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5 セッション</a:t>
            </a:r>
            <a:endParaRPr lang="en-US" sz="1800" dirty="0"/>
          </a:p>
        </p:txBody>
      </p:sp>
      <p:sp>
        <p:nvSpPr>
          <p:cNvPr id="15" name="Shape 12"/>
          <p:cNvSpPr/>
          <p:nvPr/>
        </p:nvSpPr>
        <p:spPr>
          <a:xfrm>
            <a:off x="457200" y="3593592"/>
            <a:ext cx="3931920" cy="530352"/>
          </a:xfrm>
          <a:prstGeom prst="roundRect">
            <a:avLst>
              <a:gd name="adj" fmla="val 20690"/>
            </a:avLst>
          </a:prstGeom>
          <a:solidFill>
            <a:srgbClr val="D9F2F1"/>
          </a:solidFill>
          <a:ln w="25400">
            <a:solidFill>
              <a:srgbClr val="0B7A7A"/>
            </a:solidFill>
            <a:prstDash val="solid"/>
          </a:ln>
        </p:spPr>
      </p:sp>
      <p:sp>
        <p:nvSpPr>
          <p:cNvPr id="16" name="Text 13"/>
          <p:cNvSpPr txBox="1"/>
          <p:nvPr/>
        </p:nvSpPr>
        <p:spPr>
          <a:xfrm>
            <a:off x="548640" y="3593592"/>
            <a:ext cx="3749040" cy="53035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4 トランスポート</a:t>
            </a:r>
            <a:endParaRPr lang="en-US" sz="1800" dirty="0"/>
          </a:p>
        </p:txBody>
      </p:sp>
      <p:sp>
        <p:nvSpPr>
          <p:cNvPr id="17" name="Shape 14"/>
          <p:cNvSpPr/>
          <p:nvPr/>
        </p:nvSpPr>
        <p:spPr>
          <a:xfrm>
            <a:off x="457200" y="4197096"/>
            <a:ext cx="3931920" cy="530352"/>
          </a:xfrm>
          <a:prstGeom prst="roundRect">
            <a:avLst>
              <a:gd name="adj" fmla="val 20690"/>
            </a:avLst>
          </a:prstGeom>
          <a:solidFill>
            <a:srgbClr val="DCE8F8"/>
          </a:solidFill>
          <a:ln w="25400">
            <a:solidFill>
              <a:srgbClr val="2F6BC2"/>
            </a:solidFill>
            <a:prstDash val="solid"/>
          </a:ln>
        </p:spPr>
      </p:sp>
      <p:sp>
        <p:nvSpPr>
          <p:cNvPr id="18" name="Text 15"/>
          <p:cNvSpPr txBox="1"/>
          <p:nvPr/>
        </p:nvSpPr>
        <p:spPr>
          <a:xfrm>
            <a:off x="548640" y="4197096"/>
            <a:ext cx="3749040" cy="53035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3 ネットワーク</a:t>
            </a:r>
            <a:endParaRPr lang="en-US" sz="1800" dirty="0"/>
          </a:p>
        </p:txBody>
      </p:sp>
      <p:sp>
        <p:nvSpPr>
          <p:cNvPr id="19" name="Shape 16"/>
          <p:cNvSpPr/>
          <p:nvPr/>
        </p:nvSpPr>
        <p:spPr>
          <a:xfrm>
            <a:off x="457200" y="4800600"/>
            <a:ext cx="3931920" cy="530352"/>
          </a:xfrm>
          <a:prstGeom prst="roundRect">
            <a:avLst>
              <a:gd name="adj" fmla="val 20690"/>
            </a:avLst>
          </a:prstGeom>
          <a:solidFill>
            <a:srgbClr val="E2E8F0"/>
          </a:solidFill>
          <a:ln w="25400">
            <a:solidFill>
              <a:srgbClr val="475569"/>
            </a:solidFill>
            <a:prstDash val="solid"/>
          </a:ln>
        </p:spPr>
      </p:sp>
      <p:sp>
        <p:nvSpPr>
          <p:cNvPr id="20" name="Text 17"/>
          <p:cNvSpPr txBox="1"/>
          <p:nvPr/>
        </p:nvSpPr>
        <p:spPr>
          <a:xfrm>
            <a:off x="548640" y="4800600"/>
            <a:ext cx="3749040" cy="53035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2 データリンク</a:t>
            </a:r>
            <a:endParaRPr lang="en-US" sz="1800" dirty="0"/>
          </a:p>
        </p:txBody>
      </p:sp>
      <p:sp>
        <p:nvSpPr>
          <p:cNvPr id="21" name="Shape 18"/>
          <p:cNvSpPr/>
          <p:nvPr/>
        </p:nvSpPr>
        <p:spPr>
          <a:xfrm>
            <a:off x="457200" y="5404104"/>
            <a:ext cx="3931920" cy="530352"/>
          </a:xfrm>
          <a:prstGeom prst="roundRect">
            <a:avLst>
              <a:gd name="adj" fmla="val 20690"/>
            </a:avLst>
          </a:prstGeom>
          <a:solidFill>
            <a:srgbClr val="E2E8F0"/>
          </a:solidFill>
          <a:ln w="25400">
            <a:solidFill>
              <a:srgbClr val="475569"/>
            </a:solidFill>
            <a:prstDash val="solid"/>
          </a:ln>
        </p:spPr>
      </p:sp>
      <p:sp>
        <p:nvSpPr>
          <p:cNvPr id="22" name="Text 19"/>
          <p:cNvSpPr txBox="1"/>
          <p:nvPr/>
        </p:nvSpPr>
        <p:spPr>
          <a:xfrm>
            <a:off x="548640" y="5404104"/>
            <a:ext cx="3749040" cy="53035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 物理</a:t>
            </a:r>
            <a:endParaRPr lang="en-US" sz="1800" dirty="0"/>
          </a:p>
        </p:txBody>
      </p:sp>
      <p:sp>
        <p:nvSpPr>
          <p:cNvPr id="23" name="Shape 20"/>
          <p:cNvSpPr/>
          <p:nvPr/>
        </p:nvSpPr>
        <p:spPr>
          <a:xfrm>
            <a:off x="7315200" y="1783080"/>
            <a:ext cx="4416552" cy="1737360"/>
          </a:xfrm>
          <a:prstGeom prst="roundRect">
            <a:avLst>
              <a:gd name="adj" fmla="val 6316"/>
            </a:avLst>
          </a:prstGeom>
          <a:solidFill>
            <a:srgbClr val="5B46B8"/>
          </a:solidFill>
          <a:ln/>
        </p:spPr>
      </p:sp>
      <p:sp>
        <p:nvSpPr>
          <p:cNvPr id="24" name="Text 21"/>
          <p:cNvSpPr txBox="1"/>
          <p:nvPr/>
        </p:nvSpPr>
        <p:spPr>
          <a:xfrm>
            <a:off x="7406640" y="1783080"/>
            <a:ext cx="4233672" cy="17373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アプリケーション層</a:t>
            </a:r>
            <a:endParaRPr lang="en-US" sz="2000" dirty="0"/>
          </a:p>
        </p:txBody>
      </p:sp>
      <p:sp>
        <p:nvSpPr>
          <p:cNvPr id="25" name="Shape 22"/>
          <p:cNvSpPr/>
          <p:nvPr/>
        </p:nvSpPr>
        <p:spPr>
          <a:xfrm>
            <a:off x="4389120" y="2651760"/>
            <a:ext cx="2926080" cy="0"/>
          </a:xfrm>
          <a:prstGeom prst="line">
            <a:avLst/>
          </a:prstGeom>
          <a:noFill/>
          <a:ln w="31750">
            <a:solidFill>
              <a:srgbClr val="5B46B8"/>
            </a:solidFill>
            <a:prstDash val="solid"/>
            <a:tailEnd type="triangle"/>
          </a:ln>
        </p:spPr>
      </p:sp>
      <p:sp>
        <p:nvSpPr>
          <p:cNvPr id="26" name="Shape 23"/>
          <p:cNvSpPr/>
          <p:nvPr/>
        </p:nvSpPr>
        <p:spPr>
          <a:xfrm>
            <a:off x="7315200" y="3593592"/>
            <a:ext cx="4416552" cy="530352"/>
          </a:xfrm>
          <a:prstGeom prst="roundRect">
            <a:avLst>
              <a:gd name="adj" fmla="val 20690"/>
            </a:avLst>
          </a:prstGeom>
          <a:solidFill>
            <a:srgbClr val="0B7A7A"/>
          </a:solidFill>
          <a:ln/>
        </p:spPr>
      </p:sp>
      <p:sp>
        <p:nvSpPr>
          <p:cNvPr id="27" name="Text 24"/>
          <p:cNvSpPr txBox="1"/>
          <p:nvPr/>
        </p:nvSpPr>
        <p:spPr>
          <a:xfrm>
            <a:off x="7406640" y="3593592"/>
            <a:ext cx="4233672" cy="530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トランスポート層</a:t>
            </a:r>
            <a:endParaRPr lang="en-US" sz="2000" dirty="0"/>
          </a:p>
        </p:txBody>
      </p:sp>
      <p:sp>
        <p:nvSpPr>
          <p:cNvPr id="28" name="Shape 25"/>
          <p:cNvSpPr/>
          <p:nvPr/>
        </p:nvSpPr>
        <p:spPr>
          <a:xfrm>
            <a:off x="4389120" y="3858768"/>
            <a:ext cx="2926080" cy="0"/>
          </a:xfrm>
          <a:prstGeom prst="line">
            <a:avLst/>
          </a:prstGeom>
          <a:noFill/>
          <a:ln w="31750">
            <a:solidFill>
              <a:srgbClr val="0B7A7A"/>
            </a:solidFill>
            <a:prstDash val="solid"/>
            <a:tailEnd type="triangle"/>
          </a:ln>
        </p:spPr>
      </p:sp>
      <p:sp>
        <p:nvSpPr>
          <p:cNvPr id="29" name="Shape 26"/>
          <p:cNvSpPr/>
          <p:nvPr/>
        </p:nvSpPr>
        <p:spPr>
          <a:xfrm>
            <a:off x="7315200" y="4197096"/>
            <a:ext cx="4416552" cy="530352"/>
          </a:xfrm>
          <a:prstGeom prst="roundRect">
            <a:avLst>
              <a:gd name="adj" fmla="val 20690"/>
            </a:avLst>
          </a:prstGeom>
          <a:solidFill>
            <a:srgbClr val="2F6BC2"/>
          </a:solidFill>
          <a:ln/>
        </p:spPr>
      </p:sp>
      <p:sp>
        <p:nvSpPr>
          <p:cNvPr id="30" name="Text 27"/>
          <p:cNvSpPr txBox="1"/>
          <p:nvPr/>
        </p:nvSpPr>
        <p:spPr>
          <a:xfrm>
            <a:off x="7406640" y="4197096"/>
            <a:ext cx="4233672" cy="53035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インターネット層</a:t>
            </a:r>
            <a:endParaRPr lang="en-US" sz="2000" dirty="0"/>
          </a:p>
        </p:txBody>
      </p:sp>
      <p:sp>
        <p:nvSpPr>
          <p:cNvPr id="31" name="Shape 28"/>
          <p:cNvSpPr/>
          <p:nvPr/>
        </p:nvSpPr>
        <p:spPr>
          <a:xfrm>
            <a:off x="4389120" y="4462272"/>
            <a:ext cx="2926080" cy="0"/>
          </a:xfrm>
          <a:prstGeom prst="line">
            <a:avLst/>
          </a:prstGeom>
          <a:noFill/>
          <a:ln w="31750">
            <a:solidFill>
              <a:srgbClr val="2F6BC2"/>
            </a:solidFill>
            <a:prstDash val="solid"/>
            <a:tailEnd type="triangle"/>
          </a:ln>
        </p:spPr>
      </p:sp>
      <p:sp>
        <p:nvSpPr>
          <p:cNvPr id="32" name="Shape 29"/>
          <p:cNvSpPr/>
          <p:nvPr/>
        </p:nvSpPr>
        <p:spPr>
          <a:xfrm>
            <a:off x="7315200" y="4800600"/>
            <a:ext cx="4416552" cy="1133856"/>
          </a:xfrm>
          <a:prstGeom prst="roundRect">
            <a:avLst>
              <a:gd name="adj" fmla="val 9677"/>
            </a:avLst>
          </a:prstGeom>
          <a:solidFill>
            <a:srgbClr val="475569"/>
          </a:solidFill>
          <a:ln/>
        </p:spPr>
      </p:sp>
      <p:sp>
        <p:nvSpPr>
          <p:cNvPr id="33" name="Text 30"/>
          <p:cNvSpPr txBox="1"/>
          <p:nvPr/>
        </p:nvSpPr>
        <p:spPr>
          <a:xfrm>
            <a:off x="7406640" y="4800600"/>
            <a:ext cx="4233672" cy="1133856"/>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ネットワーク</a:t>
            </a:r>
            <a:endParaRPr lang="en-US" sz="2000" dirty="0"/>
          </a:p>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インターフェース層</a:t>
            </a:r>
            <a:endParaRPr lang="en-US" sz="2000" dirty="0"/>
          </a:p>
        </p:txBody>
      </p:sp>
      <p:sp>
        <p:nvSpPr>
          <p:cNvPr id="34" name="Shape 31"/>
          <p:cNvSpPr/>
          <p:nvPr/>
        </p:nvSpPr>
        <p:spPr>
          <a:xfrm>
            <a:off x="4389120" y="5367528"/>
            <a:ext cx="2926080" cy="0"/>
          </a:xfrm>
          <a:prstGeom prst="line">
            <a:avLst/>
          </a:prstGeom>
          <a:noFill/>
          <a:ln w="31750">
            <a:solidFill>
              <a:srgbClr val="475569"/>
            </a:solidFill>
            <a:prstDash val="solid"/>
            <a:tailEnd type="triangle"/>
          </a:ln>
        </p:spPr>
      </p:sp>
      <p:sp>
        <p:nvSpPr>
          <p:cNvPr id="35" name="Text 32"/>
          <p:cNvSpPr txBox="1"/>
          <p:nvPr/>
        </p:nvSpPr>
        <p:spPr>
          <a:xfrm>
            <a:off x="457200" y="6035040"/>
            <a:ext cx="3931920" cy="274320"/>
          </a:xfrm>
          <a:prstGeom prst="rect">
            <a:avLst/>
          </a:prstGeom>
          <a:noFill/>
          <a:ln/>
        </p:spPr>
        <p:txBody>
          <a:bodyPr wrap="square" lIns="0" tIns="0" rIns="0" bIns="0" rtlCol="0" anchor="t"/>
          <a:lstStyle/>
          <a:p>
            <a:pPr algn="l"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OSI参照モデル（7層）</a:t>
            </a:r>
            <a:endParaRPr lang="en-US" sz="1400" dirty="0"/>
          </a:p>
        </p:txBody>
      </p:sp>
      <p:sp>
        <p:nvSpPr>
          <p:cNvPr id="36" name="Text 33"/>
          <p:cNvSpPr txBox="1"/>
          <p:nvPr/>
        </p:nvSpPr>
        <p:spPr>
          <a:xfrm>
            <a:off x="7315200" y="6035040"/>
            <a:ext cx="4416552" cy="274320"/>
          </a:xfrm>
          <a:prstGeom prst="rect">
            <a:avLst/>
          </a:prstGeom>
          <a:noFill/>
          <a:ln/>
        </p:spPr>
        <p:txBody>
          <a:bodyPr wrap="square" lIns="0" tIns="0" rIns="0" bIns="0" rtlCol="0" anchor="t"/>
          <a:lstStyle/>
          <a:p>
            <a:pPr algn="l"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TCP/IP（4階層）</a:t>
            </a:r>
            <a:endParaRPr lang="en-US" sz="14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ネットワーク</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カプセル化：各層がヘッダーを付けて包む</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アプリのデータに、トランスポート層がTCPヘッダー、ネットワーク層がIPヘッダー、データリンク層がEthernetヘッダーを順に付けて送ります。受け取り側は逆に外します。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出典：[R01] [K01]</a:t>
            </a:r>
            <a:endParaRPr lang="ja-JP" sz="1200" dirty="0"/>
          </a:p>
        </p:txBody>
      </p:sp>
      <p:sp>
        <p:nvSpPr>
          <p:cNvPr id="8" name="Text 5"/>
          <p:cNvSpPr txBox="1"/>
          <p:nvPr/>
        </p:nvSpPr>
        <p:spPr>
          <a:xfrm>
            <a:off x="457200" y="1783080"/>
            <a:ext cx="2743200" cy="84124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アプリのデータ</a:t>
            </a:r>
            <a:endParaRPr lang="en-US" sz="1800" dirty="0"/>
          </a:p>
        </p:txBody>
      </p:sp>
      <p:sp>
        <p:nvSpPr>
          <p:cNvPr id="9" name="Shape 6"/>
          <p:cNvSpPr/>
          <p:nvPr/>
        </p:nvSpPr>
        <p:spPr>
          <a:xfrm>
            <a:off x="3291840" y="1783080"/>
            <a:ext cx="1945843" cy="841248"/>
          </a:xfrm>
          <a:prstGeom prst="roundRect">
            <a:avLst>
              <a:gd name="adj" fmla="val 13043"/>
            </a:avLst>
          </a:prstGeom>
          <a:solidFill>
            <a:srgbClr val="5B46B8"/>
          </a:solidFill>
          <a:ln/>
        </p:spPr>
      </p:sp>
      <p:sp>
        <p:nvSpPr>
          <p:cNvPr id="10" name="Text 7"/>
          <p:cNvSpPr txBox="1"/>
          <p:nvPr/>
        </p:nvSpPr>
        <p:spPr>
          <a:xfrm>
            <a:off x="3383280" y="1783080"/>
            <a:ext cx="1762963" cy="8412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データ</a:t>
            </a:r>
            <a:endParaRPr lang="en-US" sz="1800" dirty="0"/>
          </a:p>
        </p:txBody>
      </p:sp>
      <p:sp>
        <p:nvSpPr>
          <p:cNvPr id="11" name="Text 8"/>
          <p:cNvSpPr txBox="1"/>
          <p:nvPr/>
        </p:nvSpPr>
        <p:spPr>
          <a:xfrm>
            <a:off x="457200" y="2743200"/>
            <a:ext cx="2743200" cy="84124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セグメント（TCP）</a:t>
            </a:r>
            <a:endParaRPr lang="en-US" sz="1800" dirty="0"/>
          </a:p>
        </p:txBody>
      </p:sp>
      <p:sp>
        <p:nvSpPr>
          <p:cNvPr id="12" name="Shape 9"/>
          <p:cNvSpPr/>
          <p:nvPr/>
        </p:nvSpPr>
        <p:spPr>
          <a:xfrm>
            <a:off x="3291840" y="2743200"/>
            <a:ext cx="1331366" cy="841248"/>
          </a:xfrm>
          <a:prstGeom prst="roundRect">
            <a:avLst>
              <a:gd name="adj" fmla="val 13043"/>
            </a:avLst>
          </a:prstGeom>
          <a:solidFill>
            <a:srgbClr val="0B7A7A"/>
          </a:solidFill>
          <a:ln/>
        </p:spPr>
      </p:sp>
      <p:sp>
        <p:nvSpPr>
          <p:cNvPr id="13" name="Text 10"/>
          <p:cNvSpPr txBox="1"/>
          <p:nvPr/>
        </p:nvSpPr>
        <p:spPr>
          <a:xfrm>
            <a:off x="3383280" y="2743200"/>
            <a:ext cx="1148486" cy="8412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TCP</a:t>
            </a:r>
            <a:endParaRPr lang="en-US" sz="1800" dirty="0"/>
          </a:p>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ヘッダー</a:t>
            </a:r>
            <a:endParaRPr lang="en-US" sz="1800" dirty="0"/>
          </a:p>
        </p:txBody>
      </p:sp>
      <p:sp>
        <p:nvSpPr>
          <p:cNvPr id="14" name="Shape 11"/>
          <p:cNvSpPr/>
          <p:nvPr/>
        </p:nvSpPr>
        <p:spPr>
          <a:xfrm>
            <a:off x="4678070" y="2743200"/>
            <a:ext cx="1945843" cy="841248"/>
          </a:xfrm>
          <a:prstGeom prst="roundRect">
            <a:avLst>
              <a:gd name="adj" fmla="val 13043"/>
            </a:avLst>
          </a:prstGeom>
          <a:solidFill>
            <a:srgbClr val="5B46B8"/>
          </a:solidFill>
          <a:ln/>
        </p:spPr>
      </p:sp>
      <p:sp>
        <p:nvSpPr>
          <p:cNvPr id="15" name="Text 12"/>
          <p:cNvSpPr txBox="1"/>
          <p:nvPr/>
        </p:nvSpPr>
        <p:spPr>
          <a:xfrm>
            <a:off x="4769510" y="2743200"/>
            <a:ext cx="1762963" cy="8412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データ</a:t>
            </a:r>
            <a:endParaRPr lang="en-US" sz="1800" dirty="0"/>
          </a:p>
        </p:txBody>
      </p:sp>
      <p:sp>
        <p:nvSpPr>
          <p:cNvPr id="16" name="Text 13"/>
          <p:cNvSpPr txBox="1"/>
          <p:nvPr/>
        </p:nvSpPr>
        <p:spPr>
          <a:xfrm>
            <a:off x="457200" y="3703320"/>
            <a:ext cx="2743200" cy="84124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パケット（IP）</a:t>
            </a:r>
            <a:endParaRPr lang="en-US" sz="1800" dirty="0"/>
          </a:p>
        </p:txBody>
      </p:sp>
      <p:sp>
        <p:nvSpPr>
          <p:cNvPr id="17" name="Shape 14"/>
          <p:cNvSpPr/>
          <p:nvPr/>
        </p:nvSpPr>
        <p:spPr>
          <a:xfrm>
            <a:off x="3291840" y="3703320"/>
            <a:ext cx="1331366" cy="841248"/>
          </a:xfrm>
          <a:prstGeom prst="roundRect">
            <a:avLst>
              <a:gd name="adj" fmla="val 13043"/>
            </a:avLst>
          </a:prstGeom>
          <a:solidFill>
            <a:srgbClr val="2F6BC2"/>
          </a:solidFill>
          <a:ln/>
        </p:spPr>
      </p:sp>
      <p:sp>
        <p:nvSpPr>
          <p:cNvPr id="18" name="Text 15"/>
          <p:cNvSpPr txBox="1"/>
          <p:nvPr/>
        </p:nvSpPr>
        <p:spPr>
          <a:xfrm>
            <a:off x="3383280" y="3703320"/>
            <a:ext cx="1148486" cy="8412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IP</a:t>
            </a:r>
            <a:endParaRPr lang="en-US" sz="1800" dirty="0"/>
          </a:p>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ヘッダー</a:t>
            </a:r>
            <a:endParaRPr lang="en-US" sz="1800" dirty="0"/>
          </a:p>
        </p:txBody>
      </p:sp>
      <p:sp>
        <p:nvSpPr>
          <p:cNvPr id="19" name="Shape 16"/>
          <p:cNvSpPr/>
          <p:nvPr/>
        </p:nvSpPr>
        <p:spPr>
          <a:xfrm>
            <a:off x="4678070" y="3703320"/>
            <a:ext cx="1331366" cy="841248"/>
          </a:xfrm>
          <a:prstGeom prst="roundRect">
            <a:avLst>
              <a:gd name="adj" fmla="val 13043"/>
            </a:avLst>
          </a:prstGeom>
          <a:solidFill>
            <a:srgbClr val="0B7A7A"/>
          </a:solidFill>
          <a:ln/>
        </p:spPr>
      </p:sp>
      <p:sp>
        <p:nvSpPr>
          <p:cNvPr id="20" name="Text 17"/>
          <p:cNvSpPr txBox="1"/>
          <p:nvPr/>
        </p:nvSpPr>
        <p:spPr>
          <a:xfrm>
            <a:off x="4769510" y="3703320"/>
            <a:ext cx="1148486" cy="8412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TCP</a:t>
            </a:r>
            <a:endParaRPr lang="en-US" sz="1800" dirty="0"/>
          </a:p>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ヘッダー</a:t>
            </a:r>
            <a:endParaRPr lang="en-US" sz="1800" dirty="0"/>
          </a:p>
        </p:txBody>
      </p:sp>
      <p:sp>
        <p:nvSpPr>
          <p:cNvPr id="21" name="Shape 18"/>
          <p:cNvSpPr/>
          <p:nvPr/>
        </p:nvSpPr>
        <p:spPr>
          <a:xfrm>
            <a:off x="6064301" y="3703320"/>
            <a:ext cx="1945843" cy="841248"/>
          </a:xfrm>
          <a:prstGeom prst="roundRect">
            <a:avLst>
              <a:gd name="adj" fmla="val 13043"/>
            </a:avLst>
          </a:prstGeom>
          <a:solidFill>
            <a:srgbClr val="5B46B8"/>
          </a:solidFill>
          <a:ln/>
        </p:spPr>
      </p:sp>
      <p:sp>
        <p:nvSpPr>
          <p:cNvPr id="22" name="Text 19"/>
          <p:cNvSpPr txBox="1"/>
          <p:nvPr/>
        </p:nvSpPr>
        <p:spPr>
          <a:xfrm>
            <a:off x="6155741" y="3703320"/>
            <a:ext cx="1762963" cy="8412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データ</a:t>
            </a:r>
            <a:endParaRPr lang="en-US" sz="1800" dirty="0"/>
          </a:p>
        </p:txBody>
      </p:sp>
      <p:sp>
        <p:nvSpPr>
          <p:cNvPr id="23" name="Text 20"/>
          <p:cNvSpPr txBox="1"/>
          <p:nvPr/>
        </p:nvSpPr>
        <p:spPr>
          <a:xfrm>
            <a:off x="457200" y="4663440"/>
            <a:ext cx="2743200" cy="841248"/>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フレーム（Ethernet）</a:t>
            </a:r>
            <a:endParaRPr lang="en-US" sz="1800" dirty="0"/>
          </a:p>
        </p:txBody>
      </p:sp>
      <p:sp>
        <p:nvSpPr>
          <p:cNvPr id="24" name="Shape 21"/>
          <p:cNvSpPr/>
          <p:nvPr/>
        </p:nvSpPr>
        <p:spPr>
          <a:xfrm>
            <a:off x="3291840" y="4663440"/>
            <a:ext cx="1433779" cy="841248"/>
          </a:xfrm>
          <a:prstGeom prst="roundRect">
            <a:avLst>
              <a:gd name="adj" fmla="val 13043"/>
            </a:avLst>
          </a:prstGeom>
          <a:solidFill>
            <a:srgbClr val="475569"/>
          </a:solidFill>
          <a:ln/>
        </p:spPr>
      </p:sp>
      <p:sp>
        <p:nvSpPr>
          <p:cNvPr id="25" name="Text 22"/>
          <p:cNvSpPr txBox="1"/>
          <p:nvPr/>
        </p:nvSpPr>
        <p:spPr>
          <a:xfrm>
            <a:off x="3383280" y="4663440"/>
            <a:ext cx="1250899" cy="8412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Ether</a:t>
            </a:r>
            <a:endParaRPr lang="en-US" sz="1800" dirty="0"/>
          </a:p>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ヘッダー</a:t>
            </a:r>
            <a:endParaRPr lang="en-US" sz="1800" dirty="0"/>
          </a:p>
        </p:txBody>
      </p:sp>
      <p:sp>
        <p:nvSpPr>
          <p:cNvPr id="26" name="Shape 23"/>
          <p:cNvSpPr/>
          <p:nvPr/>
        </p:nvSpPr>
        <p:spPr>
          <a:xfrm>
            <a:off x="4780483" y="4663440"/>
            <a:ext cx="1331366" cy="841248"/>
          </a:xfrm>
          <a:prstGeom prst="roundRect">
            <a:avLst>
              <a:gd name="adj" fmla="val 13043"/>
            </a:avLst>
          </a:prstGeom>
          <a:solidFill>
            <a:srgbClr val="2F6BC2"/>
          </a:solidFill>
          <a:ln/>
        </p:spPr>
      </p:sp>
      <p:sp>
        <p:nvSpPr>
          <p:cNvPr id="27" name="Text 24"/>
          <p:cNvSpPr txBox="1"/>
          <p:nvPr/>
        </p:nvSpPr>
        <p:spPr>
          <a:xfrm>
            <a:off x="4871923" y="4663440"/>
            <a:ext cx="1148486" cy="8412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IP</a:t>
            </a:r>
            <a:endParaRPr lang="en-US" sz="1800" dirty="0"/>
          </a:p>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ヘッダー</a:t>
            </a:r>
            <a:endParaRPr lang="en-US" sz="1800" dirty="0"/>
          </a:p>
        </p:txBody>
      </p:sp>
      <p:sp>
        <p:nvSpPr>
          <p:cNvPr id="28" name="Shape 25"/>
          <p:cNvSpPr/>
          <p:nvPr/>
        </p:nvSpPr>
        <p:spPr>
          <a:xfrm>
            <a:off x="6166714" y="4663440"/>
            <a:ext cx="1331366" cy="841248"/>
          </a:xfrm>
          <a:prstGeom prst="roundRect">
            <a:avLst>
              <a:gd name="adj" fmla="val 13043"/>
            </a:avLst>
          </a:prstGeom>
          <a:solidFill>
            <a:srgbClr val="0B7A7A"/>
          </a:solidFill>
          <a:ln/>
        </p:spPr>
      </p:sp>
      <p:sp>
        <p:nvSpPr>
          <p:cNvPr id="29" name="Text 26"/>
          <p:cNvSpPr txBox="1"/>
          <p:nvPr/>
        </p:nvSpPr>
        <p:spPr>
          <a:xfrm>
            <a:off x="6258154" y="4663440"/>
            <a:ext cx="1148486" cy="8412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TCP</a:t>
            </a:r>
            <a:endParaRPr lang="en-US" sz="1800" dirty="0"/>
          </a:p>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ヘッダー</a:t>
            </a:r>
            <a:endParaRPr lang="en-US" sz="1800" dirty="0"/>
          </a:p>
        </p:txBody>
      </p:sp>
      <p:sp>
        <p:nvSpPr>
          <p:cNvPr id="30" name="Shape 27"/>
          <p:cNvSpPr/>
          <p:nvPr/>
        </p:nvSpPr>
        <p:spPr>
          <a:xfrm>
            <a:off x="7552944" y="4663440"/>
            <a:ext cx="1945843" cy="841248"/>
          </a:xfrm>
          <a:prstGeom prst="roundRect">
            <a:avLst>
              <a:gd name="adj" fmla="val 13043"/>
            </a:avLst>
          </a:prstGeom>
          <a:solidFill>
            <a:srgbClr val="5B46B8"/>
          </a:solidFill>
          <a:ln/>
        </p:spPr>
      </p:sp>
      <p:sp>
        <p:nvSpPr>
          <p:cNvPr id="31" name="Text 28"/>
          <p:cNvSpPr txBox="1"/>
          <p:nvPr/>
        </p:nvSpPr>
        <p:spPr>
          <a:xfrm>
            <a:off x="7644384" y="4663440"/>
            <a:ext cx="1762963" cy="8412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データ</a:t>
            </a:r>
            <a:endParaRPr lang="en-US" sz="1800" dirty="0"/>
          </a:p>
        </p:txBody>
      </p:sp>
      <p:sp>
        <p:nvSpPr>
          <p:cNvPr id="32" name="Shape 29"/>
          <p:cNvSpPr/>
          <p:nvPr/>
        </p:nvSpPr>
        <p:spPr>
          <a:xfrm>
            <a:off x="9553651" y="4663440"/>
            <a:ext cx="868680" cy="841248"/>
          </a:xfrm>
          <a:prstGeom prst="roundRect">
            <a:avLst>
              <a:gd name="adj" fmla="val 13043"/>
            </a:avLst>
          </a:prstGeom>
          <a:solidFill>
            <a:srgbClr val="E2E8F0"/>
          </a:solidFill>
          <a:ln w="25400">
            <a:solidFill>
              <a:srgbClr val="475569"/>
            </a:solidFill>
            <a:prstDash val="solid"/>
          </a:ln>
        </p:spPr>
      </p:sp>
      <p:sp>
        <p:nvSpPr>
          <p:cNvPr id="33" name="Text 30"/>
          <p:cNvSpPr txBox="1"/>
          <p:nvPr/>
        </p:nvSpPr>
        <p:spPr>
          <a:xfrm>
            <a:off x="9645091" y="4663440"/>
            <a:ext cx="685800" cy="8412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FCS</a:t>
            </a:r>
            <a:endParaRPr lang="en-US" sz="1800" dirty="0"/>
          </a:p>
        </p:txBody>
      </p:sp>
      <p:sp>
        <p:nvSpPr>
          <p:cNvPr id="34" name="Shape 31"/>
          <p:cNvSpPr/>
          <p:nvPr/>
        </p:nvSpPr>
        <p:spPr>
          <a:xfrm>
            <a:off x="457200" y="5760720"/>
            <a:ext cx="11274552" cy="548640"/>
          </a:xfrm>
          <a:prstGeom prst="roundRect">
            <a:avLst>
              <a:gd name="adj" fmla="val 20000"/>
            </a:avLst>
          </a:prstGeom>
          <a:solidFill>
            <a:srgbClr val="DCE8F8"/>
          </a:solidFill>
          <a:ln w="19050">
            <a:solidFill>
              <a:srgbClr val="2F6BC2"/>
            </a:solidFill>
            <a:prstDash val="solid"/>
          </a:ln>
        </p:spPr>
      </p:sp>
      <p:sp>
        <p:nvSpPr>
          <p:cNvPr id="35" name="Shape 32"/>
          <p:cNvSpPr/>
          <p:nvPr/>
        </p:nvSpPr>
        <p:spPr>
          <a:xfrm>
            <a:off x="594360" y="5852160"/>
            <a:ext cx="365760" cy="365760"/>
          </a:xfrm>
          <a:prstGeom prst="ellipse">
            <a:avLst/>
          </a:prstGeom>
          <a:solidFill>
            <a:srgbClr val="2F6BC2"/>
          </a:solidFill>
          <a:ln/>
        </p:spPr>
      </p:sp>
      <p:pic>
        <p:nvPicPr>
          <p:cNvPr id="36" name="Image 0" descr="preencoded.png">    </p:cNvPr>
          <p:cNvPicPr>
            <a:picLocks noChangeAspect="1"/>
          </p:cNvPicPr>
          <p:nvPr/>
        </p:nvPicPr>
        <p:blipFill>
          <a:blip r:embed="rId1"/>
          <a:stretch>
            <a:fillRect/>
          </a:stretch>
        </p:blipFill>
        <p:spPr>
          <a:xfrm>
            <a:off x="674827" y="5932627"/>
            <a:ext cx="204826" cy="204826"/>
          </a:xfrm>
          <a:prstGeom prst="rect">
            <a:avLst/>
          </a:prstGeom>
        </p:spPr>
      </p:pic>
      <p:sp>
        <p:nvSpPr>
          <p:cNvPr id="37" name="Text 33"/>
          <p:cNvSpPr txBox="1"/>
          <p:nvPr/>
        </p:nvSpPr>
        <p:spPr>
          <a:xfrm>
            <a:off x="1097280" y="5806440"/>
            <a:ext cx="10497312" cy="4572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受け取る側は逆に、フレーム→パケット→セグメント→データの順にヘッダーを外す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ネットワーク</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Ethernetヘッダー：隣の機器まで運ぶための情報</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同じLAN内で機器を見分けるMACアドレス（宛先・送信元）と、中身の種類（タイプ）が入っています。ルーターを越えるたびに付け替わります。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出典：[K01] [K02]</a:t>
            </a:r>
            <a:endParaRPr lang="ja-JP" sz="1200" dirty="0"/>
          </a:p>
        </p:txBody>
      </p:sp>
      <p:sp>
        <p:nvSpPr>
          <p:cNvPr id="8" name="Shape 5"/>
          <p:cNvSpPr/>
          <p:nvPr/>
        </p:nvSpPr>
        <p:spPr>
          <a:xfrm>
            <a:off x="457200" y="2103120"/>
            <a:ext cx="2103120" cy="1325880"/>
          </a:xfrm>
          <a:prstGeom prst="roundRect">
            <a:avLst>
              <a:gd name="adj" fmla="val 8276"/>
            </a:avLst>
          </a:prstGeom>
          <a:solidFill>
            <a:srgbClr val="2F6BC2"/>
          </a:solidFill>
          <a:ln/>
        </p:spPr>
      </p:sp>
      <p:sp>
        <p:nvSpPr>
          <p:cNvPr id="9" name="Text 6"/>
          <p:cNvSpPr txBox="1"/>
          <p:nvPr/>
        </p:nvSpPr>
        <p:spPr>
          <a:xfrm>
            <a:off x="548640" y="2103120"/>
            <a:ext cx="1920240" cy="13258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宛先MAC</a:t>
            </a:r>
            <a:endParaRPr lang="en-US" sz="1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6バイト</a:t>
            </a:r>
            <a:endParaRPr lang="en-US" sz="1800" dirty="0"/>
          </a:p>
        </p:txBody>
      </p:sp>
      <p:sp>
        <p:nvSpPr>
          <p:cNvPr id="10" name="Shape 7"/>
          <p:cNvSpPr/>
          <p:nvPr/>
        </p:nvSpPr>
        <p:spPr>
          <a:xfrm>
            <a:off x="2615184" y="2103120"/>
            <a:ext cx="2103120" cy="1325880"/>
          </a:xfrm>
          <a:prstGeom prst="roundRect">
            <a:avLst>
              <a:gd name="adj" fmla="val 8276"/>
            </a:avLst>
          </a:prstGeom>
          <a:solidFill>
            <a:srgbClr val="2F6BC2"/>
          </a:solidFill>
          <a:ln/>
        </p:spPr>
      </p:sp>
      <p:sp>
        <p:nvSpPr>
          <p:cNvPr id="11" name="Text 8"/>
          <p:cNvSpPr txBox="1"/>
          <p:nvPr/>
        </p:nvSpPr>
        <p:spPr>
          <a:xfrm>
            <a:off x="2706624" y="2103120"/>
            <a:ext cx="1920240" cy="13258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送信元MAC</a:t>
            </a:r>
            <a:endParaRPr lang="en-US" sz="1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6バイト</a:t>
            </a:r>
            <a:endParaRPr lang="en-US" sz="1800" dirty="0"/>
          </a:p>
        </p:txBody>
      </p:sp>
      <p:sp>
        <p:nvSpPr>
          <p:cNvPr id="12" name="Shape 9"/>
          <p:cNvSpPr/>
          <p:nvPr/>
        </p:nvSpPr>
        <p:spPr>
          <a:xfrm>
            <a:off x="4773168" y="2103120"/>
            <a:ext cx="1463040" cy="1325880"/>
          </a:xfrm>
          <a:prstGeom prst="roundRect">
            <a:avLst>
              <a:gd name="adj" fmla="val 8276"/>
            </a:avLst>
          </a:prstGeom>
          <a:solidFill>
            <a:srgbClr val="2F6BC2"/>
          </a:solidFill>
          <a:ln/>
        </p:spPr>
      </p:sp>
      <p:sp>
        <p:nvSpPr>
          <p:cNvPr id="13" name="Text 10"/>
          <p:cNvSpPr txBox="1"/>
          <p:nvPr/>
        </p:nvSpPr>
        <p:spPr>
          <a:xfrm>
            <a:off x="4864608" y="2103120"/>
            <a:ext cx="1280160" cy="13258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タイプ</a:t>
            </a:r>
            <a:endParaRPr lang="en-US" sz="1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2バイト</a:t>
            </a:r>
            <a:endParaRPr lang="en-US" sz="1800" dirty="0"/>
          </a:p>
        </p:txBody>
      </p:sp>
      <p:sp>
        <p:nvSpPr>
          <p:cNvPr id="14" name="Shape 11"/>
          <p:cNvSpPr/>
          <p:nvPr/>
        </p:nvSpPr>
        <p:spPr>
          <a:xfrm>
            <a:off x="6291072" y="2103120"/>
            <a:ext cx="3931920" cy="1325880"/>
          </a:xfrm>
          <a:prstGeom prst="roundRect">
            <a:avLst>
              <a:gd name="adj" fmla="val 8276"/>
            </a:avLst>
          </a:prstGeom>
          <a:solidFill>
            <a:srgbClr val="E6E1F7"/>
          </a:solidFill>
          <a:ln/>
        </p:spPr>
      </p:sp>
      <p:sp>
        <p:nvSpPr>
          <p:cNvPr id="15" name="Text 12"/>
          <p:cNvSpPr txBox="1"/>
          <p:nvPr/>
        </p:nvSpPr>
        <p:spPr>
          <a:xfrm>
            <a:off x="6382512" y="2103120"/>
            <a:ext cx="3749040" cy="13258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データ（ペイロード）</a:t>
            </a:r>
            <a:endParaRPr lang="en-US" sz="1800" dirty="0"/>
          </a:p>
          <a:p>
            <a:pPr algn="ctr"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46〜1500バイト</a:t>
            </a:r>
            <a:endParaRPr lang="en-US" sz="1800" dirty="0"/>
          </a:p>
        </p:txBody>
      </p:sp>
      <p:sp>
        <p:nvSpPr>
          <p:cNvPr id="16" name="Shape 13"/>
          <p:cNvSpPr/>
          <p:nvPr/>
        </p:nvSpPr>
        <p:spPr>
          <a:xfrm>
            <a:off x="10277856" y="2103120"/>
            <a:ext cx="1280160" cy="1325880"/>
          </a:xfrm>
          <a:prstGeom prst="roundRect">
            <a:avLst>
              <a:gd name="adj" fmla="val 8571"/>
            </a:avLst>
          </a:prstGeom>
          <a:solidFill>
            <a:srgbClr val="475569"/>
          </a:solidFill>
          <a:ln/>
        </p:spPr>
      </p:sp>
      <p:sp>
        <p:nvSpPr>
          <p:cNvPr id="17" name="Text 14"/>
          <p:cNvSpPr txBox="1"/>
          <p:nvPr/>
        </p:nvSpPr>
        <p:spPr>
          <a:xfrm>
            <a:off x="10369296" y="2103120"/>
            <a:ext cx="1097280" cy="13258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FCS</a:t>
            </a:r>
            <a:endParaRPr lang="en-US" sz="1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4バイト</a:t>
            </a:r>
            <a:endParaRPr lang="en-US" sz="1800" dirty="0"/>
          </a:p>
        </p:txBody>
      </p:sp>
      <p:sp>
        <p:nvSpPr>
          <p:cNvPr id="18" name="Text 15"/>
          <p:cNvSpPr txBox="1"/>
          <p:nvPr/>
        </p:nvSpPr>
        <p:spPr>
          <a:xfrm>
            <a:off x="457200" y="3520440"/>
            <a:ext cx="5760720" cy="365760"/>
          </a:xfrm>
          <a:prstGeom prst="rect">
            <a:avLst/>
          </a:prstGeom>
          <a:noFill/>
          <a:ln/>
        </p:spPr>
        <p:txBody>
          <a:bodyPr wrap="square" lIns="0" tIns="0" rIns="0" bIns="0" rtlCol="0" anchor="t"/>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Ethernetヘッダー（14バイト）</a:t>
            </a:r>
            <a:endParaRPr lang="en-US" sz="1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4023360"/>
          <a:ext cx="11274552" cy="914400"/>
        </p:xfrm>
        <a:graphic>
          <a:graphicData uri="http://schemas.openxmlformats.org/drawingml/2006/table">
            <a:tbl>
              <a:tblPr/>
              <a:tblGrid>
                <a:gridCol w="2377440"/>
                <a:gridCol w="4846320"/>
                <a:gridCol w="405079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項目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役割</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宛先MAC</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次に渡す機器（同じLAN内）</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ルーターのMAC</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送信元MAC</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送り出した機器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自分のNICのMAC</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タイプ</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中身のプロトコル</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0x0800＝IPv4</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ネットワーク</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IPv4ヘッダー：宛先までの経路を決めるための情報</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送信元・宛先のIPアドレスのほか、転送の回数制限（TTL）や中身の種類（プロトコル番号）が入っています。幅は32ビットで、最小20バイトです。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出典：[R01] [K01]</a:t>
            </a:r>
            <a:endParaRPr lang="ja-JP" sz="1200" dirty="0"/>
          </a:p>
        </p:txBody>
      </p:sp>
      <p:sp>
        <p:nvSpPr>
          <p:cNvPr id="8" name="Shape 5"/>
          <p:cNvSpPr/>
          <p:nvPr/>
        </p:nvSpPr>
        <p:spPr>
          <a:xfrm>
            <a:off x="457200" y="1783080"/>
            <a:ext cx="1409319" cy="713232"/>
          </a:xfrm>
          <a:prstGeom prst="roundRect">
            <a:avLst>
              <a:gd name="adj" fmla="val 5128"/>
            </a:avLst>
          </a:prstGeom>
          <a:solidFill>
            <a:srgbClr val="DCE8F8"/>
          </a:solidFill>
          <a:ln w="15875">
            <a:solidFill>
              <a:srgbClr val="2F6BC2"/>
            </a:solidFill>
            <a:prstDash val="solid"/>
          </a:ln>
        </p:spPr>
      </p:sp>
      <p:sp>
        <p:nvSpPr>
          <p:cNvPr id="9" name="Text 6"/>
          <p:cNvSpPr txBox="1"/>
          <p:nvPr/>
        </p:nvSpPr>
        <p:spPr>
          <a:xfrm>
            <a:off x="484632" y="1783080"/>
            <a:ext cx="1354455"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バージョン</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4bit</a:t>
            </a:r>
            <a:endParaRPr lang="en-US" sz="1800" dirty="0"/>
          </a:p>
        </p:txBody>
      </p:sp>
      <p:sp>
        <p:nvSpPr>
          <p:cNvPr id="10" name="Shape 7"/>
          <p:cNvSpPr/>
          <p:nvPr/>
        </p:nvSpPr>
        <p:spPr>
          <a:xfrm>
            <a:off x="1866519" y="1783080"/>
            <a:ext cx="1409319" cy="713232"/>
          </a:xfrm>
          <a:prstGeom prst="roundRect">
            <a:avLst>
              <a:gd name="adj" fmla="val 5128"/>
            </a:avLst>
          </a:prstGeom>
          <a:solidFill>
            <a:srgbClr val="DCE8F8"/>
          </a:solidFill>
          <a:ln w="15875">
            <a:solidFill>
              <a:srgbClr val="2F6BC2"/>
            </a:solidFill>
            <a:prstDash val="solid"/>
          </a:ln>
        </p:spPr>
      </p:sp>
      <p:sp>
        <p:nvSpPr>
          <p:cNvPr id="11" name="Text 8"/>
          <p:cNvSpPr txBox="1"/>
          <p:nvPr/>
        </p:nvSpPr>
        <p:spPr>
          <a:xfrm>
            <a:off x="1893951" y="1783080"/>
            <a:ext cx="1354455"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ヘッダ長</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4bit</a:t>
            </a:r>
            <a:endParaRPr lang="en-US" sz="1800" dirty="0"/>
          </a:p>
        </p:txBody>
      </p:sp>
      <p:sp>
        <p:nvSpPr>
          <p:cNvPr id="12" name="Shape 9"/>
          <p:cNvSpPr/>
          <p:nvPr/>
        </p:nvSpPr>
        <p:spPr>
          <a:xfrm>
            <a:off x="3275838" y="1783080"/>
            <a:ext cx="2818638" cy="713232"/>
          </a:xfrm>
          <a:prstGeom prst="roundRect">
            <a:avLst>
              <a:gd name="adj" fmla="val 5128"/>
            </a:avLst>
          </a:prstGeom>
          <a:solidFill>
            <a:srgbClr val="DCE8F8"/>
          </a:solidFill>
          <a:ln w="15875">
            <a:solidFill>
              <a:srgbClr val="2F6BC2"/>
            </a:solidFill>
            <a:prstDash val="solid"/>
          </a:ln>
        </p:spPr>
      </p:sp>
      <p:sp>
        <p:nvSpPr>
          <p:cNvPr id="13" name="Text 10"/>
          <p:cNvSpPr txBox="1"/>
          <p:nvPr/>
        </p:nvSpPr>
        <p:spPr>
          <a:xfrm>
            <a:off x="3303270" y="1783080"/>
            <a:ext cx="2763774"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TOS</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8bit</a:t>
            </a:r>
            <a:endParaRPr lang="en-US" sz="1800" dirty="0"/>
          </a:p>
        </p:txBody>
      </p:sp>
      <p:sp>
        <p:nvSpPr>
          <p:cNvPr id="14" name="Shape 11"/>
          <p:cNvSpPr/>
          <p:nvPr/>
        </p:nvSpPr>
        <p:spPr>
          <a:xfrm>
            <a:off x="6094476" y="1783080"/>
            <a:ext cx="5637276" cy="713232"/>
          </a:xfrm>
          <a:prstGeom prst="roundRect">
            <a:avLst>
              <a:gd name="adj" fmla="val 5128"/>
            </a:avLst>
          </a:prstGeom>
          <a:solidFill>
            <a:srgbClr val="DCE8F8"/>
          </a:solidFill>
          <a:ln w="15875">
            <a:solidFill>
              <a:srgbClr val="2F6BC2"/>
            </a:solidFill>
            <a:prstDash val="solid"/>
          </a:ln>
        </p:spPr>
      </p:sp>
      <p:sp>
        <p:nvSpPr>
          <p:cNvPr id="15" name="Text 12"/>
          <p:cNvSpPr txBox="1"/>
          <p:nvPr/>
        </p:nvSpPr>
        <p:spPr>
          <a:xfrm>
            <a:off x="6121908" y="1783080"/>
            <a:ext cx="5582412"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全長</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16bit</a:t>
            </a:r>
            <a:endParaRPr lang="en-US" sz="1800" dirty="0"/>
          </a:p>
        </p:txBody>
      </p:sp>
      <p:sp>
        <p:nvSpPr>
          <p:cNvPr id="16" name="Shape 13"/>
          <p:cNvSpPr/>
          <p:nvPr/>
        </p:nvSpPr>
        <p:spPr>
          <a:xfrm>
            <a:off x="457200" y="2496312"/>
            <a:ext cx="5637276" cy="713232"/>
          </a:xfrm>
          <a:prstGeom prst="roundRect">
            <a:avLst>
              <a:gd name="adj" fmla="val 5128"/>
            </a:avLst>
          </a:prstGeom>
          <a:solidFill>
            <a:srgbClr val="E2E8F0"/>
          </a:solidFill>
          <a:ln w="15875">
            <a:solidFill>
              <a:srgbClr val="475569"/>
            </a:solidFill>
            <a:prstDash val="solid"/>
          </a:ln>
        </p:spPr>
      </p:sp>
      <p:sp>
        <p:nvSpPr>
          <p:cNvPr id="17" name="Text 14"/>
          <p:cNvSpPr txBox="1"/>
          <p:nvPr/>
        </p:nvSpPr>
        <p:spPr>
          <a:xfrm>
            <a:off x="484632" y="2496312"/>
            <a:ext cx="5582412"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識別子</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16bit</a:t>
            </a:r>
            <a:endParaRPr lang="en-US" sz="1800" dirty="0"/>
          </a:p>
        </p:txBody>
      </p:sp>
      <p:sp>
        <p:nvSpPr>
          <p:cNvPr id="18" name="Shape 15"/>
          <p:cNvSpPr/>
          <p:nvPr/>
        </p:nvSpPr>
        <p:spPr>
          <a:xfrm>
            <a:off x="6094476" y="2496312"/>
            <a:ext cx="1409319" cy="713232"/>
          </a:xfrm>
          <a:prstGeom prst="roundRect">
            <a:avLst>
              <a:gd name="adj" fmla="val 5128"/>
            </a:avLst>
          </a:prstGeom>
          <a:solidFill>
            <a:srgbClr val="E2E8F0"/>
          </a:solidFill>
          <a:ln w="15875">
            <a:solidFill>
              <a:srgbClr val="475569"/>
            </a:solidFill>
            <a:prstDash val="solid"/>
          </a:ln>
        </p:spPr>
      </p:sp>
      <p:sp>
        <p:nvSpPr>
          <p:cNvPr id="19" name="Text 16"/>
          <p:cNvSpPr txBox="1"/>
          <p:nvPr/>
        </p:nvSpPr>
        <p:spPr>
          <a:xfrm>
            <a:off x="6121908" y="2496312"/>
            <a:ext cx="1354455"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フラグ</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3bit</a:t>
            </a:r>
            <a:endParaRPr lang="en-US" sz="1800" dirty="0"/>
          </a:p>
        </p:txBody>
      </p:sp>
      <p:sp>
        <p:nvSpPr>
          <p:cNvPr id="20" name="Shape 17"/>
          <p:cNvSpPr/>
          <p:nvPr/>
        </p:nvSpPr>
        <p:spPr>
          <a:xfrm>
            <a:off x="7503795" y="2496312"/>
            <a:ext cx="4227957" cy="713232"/>
          </a:xfrm>
          <a:prstGeom prst="roundRect">
            <a:avLst>
              <a:gd name="adj" fmla="val 5128"/>
            </a:avLst>
          </a:prstGeom>
          <a:solidFill>
            <a:srgbClr val="E2E8F0"/>
          </a:solidFill>
          <a:ln w="15875">
            <a:solidFill>
              <a:srgbClr val="475569"/>
            </a:solidFill>
            <a:prstDash val="solid"/>
          </a:ln>
        </p:spPr>
      </p:sp>
      <p:sp>
        <p:nvSpPr>
          <p:cNvPr id="21" name="Text 18"/>
          <p:cNvSpPr txBox="1"/>
          <p:nvPr/>
        </p:nvSpPr>
        <p:spPr>
          <a:xfrm>
            <a:off x="7531227" y="2496312"/>
            <a:ext cx="4173093"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フラグメントオフセット</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13bit</a:t>
            </a:r>
            <a:endParaRPr lang="en-US" sz="1800" dirty="0"/>
          </a:p>
        </p:txBody>
      </p:sp>
      <p:sp>
        <p:nvSpPr>
          <p:cNvPr id="22" name="Shape 19"/>
          <p:cNvSpPr/>
          <p:nvPr/>
        </p:nvSpPr>
        <p:spPr>
          <a:xfrm>
            <a:off x="457200" y="3209544"/>
            <a:ext cx="2818638" cy="713232"/>
          </a:xfrm>
          <a:prstGeom prst="roundRect">
            <a:avLst>
              <a:gd name="adj" fmla="val 5128"/>
            </a:avLst>
          </a:prstGeom>
          <a:solidFill>
            <a:srgbClr val="FDEBD0"/>
          </a:solidFill>
          <a:ln w="15875">
            <a:solidFill>
              <a:srgbClr val="B45309"/>
            </a:solidFill>
            <a:prstDash val="solid"/>
          </a:ln>
        </p:spPr>
      </p:sp>
      <p:sp>
        <p:nvSpPr>
          <p:cNvPr id="23" name="Text 20"/>
          <p:cNvSpPr txBox="1"/>
          <p:nvPr/>
        </p:nvSpPr>
        <p:spPr>
          <a:xfrm>
            <a:off x="484632" y="3209544"/>
            <a:ext cx="2763774"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TTL</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8bit</a:t>
            </a:r>
            <a:endParaRPr lang="en-US" sz="1800" dirty="0"/>
          </a:p>
        </p:txBody>
      </p:sp>
      <p:sp>
        <p:nvSpPr>
          <p:cNvPr id="24" name="Shape 21"/>
          <p:cNvSpPr/>
          <p:nvPr/>
        </p:nvSpPr>
        <p:spPr>
          <a:xfrm>
            <a:off x="3275838" y="3209544"/>
            <a:ext cx="2818638" cy="713232"/>
          </a:xfrm>
          <a:prstGeom prst="roundRect">
            <a:avLst>
              <a:gd name="adj" fmla="val 5128"/>
            </a:avLst>
          </a:prstGeom>
          <a:solidFill>
            <a:srgbClr val="FDEBD0"/>
          </a:solidFill>
          <a:ln w="15875">
            <a:solidFill>
              <a:srgbClr val="B45309"/>
            </a:solidFill>
            <a:prstDash val="solid"/>
          </a:ln>
        </p:spPr>
      </p:sp>
      <p:sp>
        <p:nvSpPr>
          <p:cNvPr id="25" name="Text 22"/>
          <p:cNvSpPr txBox="1"/>
          <p:nvPr/>
        </p:nvSpPr>
        <p:spPr>
          <a:xfrm>
            <a:off x="3303270" y="3209544"/>
            <a:ext cx="2763774"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プロトコル</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8bit</a:t>
            </a:r>
            <a:endParaRPr lang="en-US" sz="1800" dirty="0"/>
          </a:p>
        </p:txBody>
      </p:sp>
      <p:sp>
        <p:nvSpPr>
          <p:cNvPr id="26" name="Shape 23"/>
          <p:cNvSpPr/>
          <p:nvPr/>
        </p:nvSpPr>
        <p:spPr>
          <a:xfrm>
            <a:off x="6094476" y="3209544"/>
            <a:ext cx="5637276" cy="713232"/>
          </a:xfrm>
          <a:prstGeom prst="roundRect">
            <a:avLst>
              <a:gd name="adj" fmla="val 5128"/>
            </a:avLst>
          </a:prstGeom>
          <a:solidFill>
            <a:srgbClr val="DCE8F8"/>
          </a:solidFill>
          <a:ln w="15875">
            <a:solidFill>
              <a:srgbClr val="2F6BC2"/>
            </a:solidFill>
            <a:prstDash val="solid"/>
          </a:ln>
        </p:spPr>
      </p:sp>
      <p:sp>
        <p:nvSpPr>
          <p:cNvPr id="27" name="Text 24"/>
          <p:cNvSpPr txBox="1"/>
          <p:nvPr/>
        </p:nvSpPr>
        <p:spPr>
          <a:xfrm>
            <a:off x="6121908" y="3209544"/>
            <a:ext cx="5582412"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ヘッダチェックサム</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16bit</a:t>
            </a:r>
            <a:endParaRPr lang="en-US" sz="1800" dirty="0"/>
          </a:p>
        </p:txBody>
      </p:sp>
      <p:sp>
        <p:nvSpPr>
          <p:cNvPr id="28" name="Shape 25"/>
          <p:cNvSpPr/>
          <p:nvPr/>
        </p:nvSpPr>
        <p:spPr>
          <a:xfrm>
            <a:off x="457200" y="3922776"/>
            <a:ext cx="11274552" cy="713232"/>
          </a:xfrm>
          <a:prstGeom prst="roundRect">
            <a:avLst>
              <a:gd name="adj" fmla="val 5128"/>
            </a:avLst>
          </a:prstGeom>
          <a:solidFill>
            <a:srgbClr val="D9F2F1"/>
          </a:solidFill>
          <a:ln w="15875">
            <a:solidFill>
              <a:srgbClr val="0B7A7A"/>
            </a:solidFill>
            <a:prstDash val="solid"/>
          </a:ln>
        </p:spPr>
      </p:sp>
      <p:sp>
        <p:nvSpPr>
          <p:cNvPr id="29" name="Text 26"/>
          <p:cNvSpPr txBox="1"/>
          <p:nvPr/>
        </p:nvSpPr>
        <p:spPr>
          <a:xfrm>
            <a:off x="484632" y="3922776"/>
            <a:ext cx="11219688"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送信元IPアドレス</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32bit</a:t>
            </a:r>
            <a:endParaRPr lang="en-US" sz="1800" dirty="0"/>
          </a:p>
        </p:txBody>
      </p:sp>
      <p:sp>
        <p:nvSpPr>
          <p:cNvPr id="30" name="Shape 27"/>
          <p:cNvSpPr/>
          <p:nvPr/>
        </p:nvSpPr>
        <p:spPr>
          <a:xfrm>
            <a:off x="457200" y="4636008"/>
            <a:ext cx="11274552" cy="713232"/>
          </a:xfrm>
          <a:prstGeom prst="roundRect">
            <a:avLst>
              <a:gd name="adj" fmla="val 5128"/>
            </a:avLst>
          </a:prstGeom>
          <a:solidFill>
            <a:srgbClr val="E6E1F7"/>
          </a:solidFill>
          <a:ln w="15875">
            <a:solidFill>
              <a:srgbClr val="5B46B8"/>
            </a:solidFill>
            <a:prstDash val="solid"/>
          </a:ln>
        </p:spPr>
      </p:sp>
      <p:sp>
        <p:nvSpPr>
          <p:cNvPr id="31" name="Text 28"/>
          <p:cNvSpPr txBox="1"/>
          <p:nvPr/>
        </p:nvSpPr>
        <p:spPr>
          <a:xfrm>
            <a:off x="484632" y="4636008"/>
            <a:ext cx="11219688"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宛先IPアドレス</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32bit</a:t>
            </a:r>
            <a:endParaRPr lang="en-US" sz="1800" dirty="0"/>
          </a:p>
        </p:txBody>
      </p:sp>
      <p:sp>
        <p:nvSpPr>
          <p:cNvPr id="32" name="Text 29"/>
          <p:cNvSpPr txBox="1"/>
          <p:nvPr/>
        </p:nvSpPr>
        <p:spPr>
          <a:xfrm>
            <a:off x="457200" y="5440680"/>
            <a:ext cx="11274552" cy="365760"/>
          </a:xfrm>
          <a:prstGeom prst="rect">
            <a:avLst/>
          </a:prstGeom>
          <a:noFill/>
          <a:ln/>
        </p:spPr>
        <p:txBody>
          <a:bodyPr wrap="square" lIns="0" tIns="0" rIns="0" bIns="0" rtlCol="0" anchor="t"/>
          <a:lstStyle/>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オプション（可変）があるときはヘッダーが20バイトより長くなる。橙＝TTLとプロトコル（後で重要）</a:t>
            </a:r>
            <a:endParaRPr lang="en-US" sz="1800" dirty="0"/>
          </a:p>
        </p:txBody>
      </p:sp>
      <p:sp>
        <p:nvSpPr>
          <p:cNvPr id="33" name="Shape 30"/>
          <p:cNvSpPr/>
          <p:nvPr/>
        </p:nvSpPr>
        <p:spPr>
          <a:xfrm>
            <a:off x="457200" y="5806440"/>
            <a:ext cx="11274552" cy="502920"/>
          </a:xfrm>
          <a:prstGeom prst="roundRect">
            <a:avLst>
              <a:gd name="adj" fmla="val 21818"/>
            </a:avLst>
          </a:prstGeom>
          <a:solidFill>
            <a:srgbClr val="FDEBD0"/>
          </a:solidFill>
          <a:ln w="19050">
            <a:solidFill>
              <a:srgbClr val="B45309"/>
            </a:solidFill>
            <a:prstDash val="solid"/>
          </a:ln>
        </p:spPr>
      </p:sp>
      <p:sp>
        <p:nvSpPr>
          <p:cNvPr id="34" name="Shape 31"/>
          <p:cNvSpPr/>
          <p:nvPr/>
        </p:nvSpPr>
        <p:spPr>
          <a:xfrm>
            <a:off x="594360" y="5897880"/>
            <a:ext cx="320040" cy="320040"/>
          </a:xfrm>
          <a:prstGeom prst="ellipse">
            <a:avLst/>
          </a:prstGeom>
          <a:solidFill>
            <a:srgbClr val="B45309"/>
          </a:solidFill>
          <a:ln/>
        </p:spPr>
      </p:sp>
      <p:pic>
        <p:nvPicPr>
          <p:cNvPr id="35" name="Image 0" descr="preencoded.png">    </p:cNvPr>
          <p:cNvPicPr>
            <a:picLocks noChangeAspect="1"/>
          </p:cNvPicPr>
          <p:nvPr/>
        </p:nvPicPr>
        <p:blipFill>
          <a:blip r:embed="rId1"/>
          <a:stretch>
            <a:fillRect/>
          </a:stretch>
        </p:blipFill>
        <p:spPr>
          <a:xfrm>
            <a:off x="664769" y="5968289"/>
            <a:ext cx="179222" cy="179222"/>
          </a:xfrm>
          <a:prstGeom prst="rect">
            <a:avLst/>
          </a:prstGeom>
        </p:spPr>
      </p:pic>
      <p:sp>
        <p:nvSpPr>
          <p:cNvPr id="36" name="Text 32"/>
          <p:cNvSpPr txBox="1"/>
          <p:nvPr/>
        </p:nvSpPr>
        <p:spPr>
          <a:xfrm>
            <a:off x="1051560" y="5852160"/>
            <a:ext cx="10543032" cy="4114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TTLは1つ越えるごとに1減る。0になったら破棄（ループ防止）</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ネットワーク</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TCPヘッダー：確実に届けるための情報</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ポート番号で相手のアプリを指定し、シーケンス番号と確認応答番号で「どこまで届いたか」を管理します。フラグ（SYN・ACKなど）で接続の状態を表します。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出典：[R01] [K01]</a:t>
            </a:r>
            <a:endParaRPr lang="ja-JP" sz="1200" dirty="0"/>
          </a:p>
        </p:txBody>
      </p:sp>
      <p:sp>
        <p:nvSpPr>
          <p:cNvPr id="8" name="Shape 5"/>
          <p:cNvSpPr/>
          <p:nvPr/>
        </p:nvSpPr>
        <p:spPr>
          <a:xfrm>
            <a:off x="457200" y="1783080"/>
            <a:ext cx="5637276" cy="713232"/>
          </a:xfrm>
          <a:prstGeom prst="roundRect">
            <a:avLst>
              <a:gd name="adj" fmla="val 5128"/>
            </a:avLst>
          </a:prstGeom>
          <a:solidFill>
            <a:srgbClr val="D9F2F1"/>
          </a:solidFill>
          <a:ln w="15875">
            <a:solidFill>
              <a:srgbClr val="0B7A7A"/>
            </a:solidFill>
            <a:prstDash val="solid"/>
          </a:ln>
        </p:spPr>
      </p:sp>
      <p:sp>
        <p:nvSpPr>
          <p:cNvPr id="9" name="Text 6"/>
          <p:cNvSpPr txBox="1"/>
          <p:nvPr/>
        </p:nvSpPr>
        <p:spPr>
          <a:xfrm>
            <a:off x="484632" y="1783080"/>
            <a:ext cx="5582412"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送信元ポート</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16bit</a:t>
            </a:r>
            <a:endParaRPr lang="en-US" sz="1800" dirty="0"/>
          </a:p>
        </p:txBody>
      </p:sp>
      <p:sp>
        <p:nvSpPr>
          <p:cNvPr id="10" name="Shape 7"/>
          <p:cNvSpPr/>
          <p:nvPr/>
        </p:nvSpPr>
        <p:spPr>
          <a:xfrm>
            <a:off x="6094476" y="1783080"/>
            <a:ext cx="5637276" cy="713232"/>
          </a:xfrm>
          <a:prstGeom prst="roundRect">
            <a:avLst>
              <a:gd name="adj" fmla="val 5128"/>
            </a:avLst>
          </a:prstGeom>
          <a:solidFill>
            <a:srgbClr val="E6E1F7"/>
          </a:solidFill>
          <a:ln w="15875">
            <a:solidFill>
              <a:srgbClr val="5B46B8"/>
            </a:solidFill>
            <a:prstDash val="solid"/>
          </a:ln>
        </p:spPr>
      </p:sp>
      <p:sp>
        <p:nvSpPr>
          <p:cNvPr id="11" name="Text 8"/>
          <p:cNvSpPr txBox="1"/>
          <p:nvPr/>
        </p:nvSpPr>
        <p:spPr>
          <a:xfrm>
            <a:off x="6121908" y="1783080"/>
            <a:ext cx="5582412"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宛先ポート</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16bit</a:t>
            </a:r>
            <a:endParaRPr lang="en-US" sz="1800" dirty="0"/>
          </a:p>
        </p:txBody>
      </p:sp>
      <p:sp>
        <p:nvSpPr>
          <p:cNvPr id="12" name="Shape 9"/>
          <p:cNvSpPr/>
          <p:nvPr/>
        </p:nvSpPr>
        <p:spPr>
          <a:xfrm>
            <a:off x="457200" y="2496312"/>
            <a:ext cx="11274552" cy="713232"/>
          </a:xfrm>
          <a:prstGeom prst="roundRect">
            <a:avLst>
              <a:gd name="adj" fmla="val 5128"/>
            </a:avLst>
          </a:prstGeom>
          <a:solidFill>
            <a:srgbClr val="FDEBD0"/>
          </a:solidFill>
          <a:ln w="15875">
            <a:solidFill>
              <a:srgbClr val="B45309"/>
            </a:solidFill>
            <a:prstDash val="solid"/>
          </a:ln>
        </p:spPr>
      </p:sp>
      <p:sp>
        <p:nvSpPr>
          <p:cNvPr id="13" name="Text 10"/>
          <p:cNvSpPr txBox="1"/>
          <p:nvPr/>
        </p:nvSpPr>
        <p:spPr>
          <a:xfrm>
            <a:off x="484632" y="2496312"/>
            <a:ext cx="11219688"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シーケンス番号</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32bit</a:t>
            </a:r>
            <a:endParaRPr lang="en-US" sz="1800" dirty="0"/>
          </a:p>
        </p:txBody>
      </p:sp>
      <p:sp>
        <p:nvSpPr>
          <p:cNvPr id="14" name="Shape 11"/>
          <p:cNvSpPr/>
          <p:nvPr/>
        </p:nvSpPr>
        <p:spPr>
          <a:xfrm>
            <a:off x="457200" y="3209544"/>
            <a:ext cx="11274552" cy="713232"/>
          </a:xfrm>
          <a:prstGeom prst="roundRect">
            <a:avLst>
              <a:gd name="adj" fmla="val 5128"/>
            </a:avLst>
          </a:prstGeom>
          <a:solidFill>
            <a:srgbClr val="FDEBD0"/>
          </a:solidFill>
          <a:ln w="15875">
            <a:solidFill>
              <a:srgbClr val="B45309"/>
            </a:solidFill>
            <a:prstDash val="solid"/>
          </a:ln>
        </p:spPr>
      </p:sp>
      <p:sp>
        <p:nvSpPr>
          <p:cNvPr id="15" name="Text 12"/>
          <p:cNvSpPr txBox="1"/>
          <p:nvPr/>
        </p:nvSpPr>
        <p:spPr>
          <a:xfrm>
            <a:off x="484632" y="3209544"/>
            <a:ext cx="11219688"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確認応答番号</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32bit</a:t>
            </a:r>
            <a:endParaRPr lang="en-US" sz="1800" dirty="0"/>
          </a:p>
        </p:txBody>
      </p:sp>
      <p:sp>
        <p:nvSpPr>
          <p:cNvPr id="16" name="Shape 13"/>
          <p:cNvSpPr/>
          <p:nvPr/>
        </p:nvSpPr>
        <p:spPr>
          <a:xfrm>
            <a:off x="457200" y="3922776"/>
            <a:ext cx="1409319" cy="713232"/>
          </a:xfrm>
          <a:prstGeom prst="roundRect">
            <a:avLst>
              <a:gd name="adj" fmla="val 5128"/>
            </a:avLst>
          </a:prstGeom>
          <a:solidFill>
            <a:srgbClr val="DCE8F8"/>
          </a:solidFill>
          <a:ln w="15875">
            <a:solidFill>
              <a:srgbClr val="2F6BC2"/>
            </a:solidFill>
            <a:prstDash val="solid"/>
          </a:ln>
        </p:spPr>
      </p:sp>
      <p:sp>
        <p:nvSpPr>
          <p:cNvPr id="17" name="Text 14"/>
          <p:cNvSpPr txBox="1"/>
          <p:nvPr/>
        </p:nvSpPr>
        <p:spPr>
          <a:xfrm>
            <a:off x="484632" y="3922776"/>
            <a:ext cx="1354455"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オフセット</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4bit</a:t>
            </a:r>
            <a:endParaRPr lang="en-US" sz="1800" dirty="0"/>
          </a:p>
        </p:txBody>
      </p:sp>
      <p:sp>
        <p:nvSpPr>
          <p:cNvPr id="18" name="Shape 15"/>
          <p:cNvSpPr/>
          <p:nvPr/>
        </p:nvSpPr>
        <p:spPr>
          <a:xfrm>
            <a:off x="1866519" y="3922776"/>
            <a:ext cx="1409319" cy="713232"/>
          </a:xfrm>
          <a:prstGeom prst="roundRect">
            <a:avLst>
              <a:gd name="adj" fmla="val 5128"/>
            </a:avLst>
          </a:prstGeom>
          <a:solidFill>
            <a:srgbClr val="E2E8F0"/>
          </a:solidFill>
          <a:ln w="15875">
            <a:solidFill>
              <a:srgbClr val="475569"/>
            </a:solidFill>
            <a:prstDash val="solid"/>
          </a:ln>
        </p:spPr>
      </p:sp>
      <p:sp>
        <p:nvSpPr>
          <p:cNvPr id="19" name="Text 16"/>
          <p:cNvSpPr txBox="1"/>
          <p:nvPr/>
        </p:nvSpPr>
        <p:spPr>
          <a:xfrm>
            <a:off x="1893951" y="3922776"/>
            <a:ext cx="1354455"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予約</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4bit</a:t>
            </a:r>
            <a:endParaRPr lang="en-US" sz="1800" dirty="0"/>
          </a:p>
        </p:txBody>
      </p:sp>
      <p:sp>
        <p:nvSpPr>
          <p:cNvPr id="20" name="Shape 17"/>
          <p:cNvSpPr/>
          <p:nvPr/>
        </p:nvSpPr>
        <p:spPr>
          <a:xfrm>
            <a:off x="3275838" y="3922776"/>
            <a:ext cx="2818638" cy="713232"/>
          </a:xfrm>
          <a:prstGeom prst="roundRect">
            <a:avLst>
              <a:gd name="adj" fmla="val 5128"/>
            </a:avLst>
          </a:prstGeom>
          <a:solidFill>
            <a:srgbClr val="DDF1E4"/>
          </a:solidFill>
          <a:ln w="15875">
            <a:solidFill>
              <a:srgbClr val="237A48"/>
            </a:solidFill>
            <a:prstDash val="solid"/>
          </a:ln>
        </p:spPr>
      </p:sp>
      <p:sp>
        <p:nvSpPr>
          <p:cNvPr id="21" name="Text 18"/>
          <p:cNvSpPr txBox="1"/>
          <p:nvPr/>
        </p:nvSpPr>
        <p:spPr>
          <a:xfrm>
            <a:off x="3303270" y="3922776"/>
            <a:ext cx="2763774"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フラグ</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8bit</a:t>
            </a:r>
            <a:endParaRPr lang="en-US" sz="1800" dirty="0"/>
          </a:p>
        </p:txBody>
      </p:sp>
      <p:sp>
        <p:nvSpPr>
          <p:cNvPr id="22" name="Shape 19"/>
          <p:cNvSpPr/>
          <p:nvPr/>
        </p:nvSpPr>
        <p:spPr>
          <a:xfrm>
            <a:off x="6094476" y="3922776"/>
            <a:ext cx="5637276" cy="713232"/>
          </a:xfrm>
          <a:prstGeom prst="roundRect">
            <a:avLst>
              <a:gd name="adj" fmla="val 5128"/>
            </a:avLst>
          </a:prstGeom>
          <a:solidFill>
            <a:srgbClr val="DCE8F8"/>
          </a:solidFill>
          <a:ln w="15875">
            <a:solidFill>
              <a:srgbClr val="2F6BC2"/>
            </a:solidFill>
            <a:prstDash val="solid"/>
          </a:ln>
        </p:spPr>
      </p:sp>
      <p:sp>
        <p:nvSpPr>
          <p:cNvPr id="23" name="Text 20"/>
          <p:cNvSpPr txBox="1"/>
          <p:nvPr/>
        </p:nvSpPr>
        <p:spPr>
          <a:xfrm>
            <a:off x="6121908" y="3922776"/>
            <a:ext cx="5582412"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ウィンドウサイズ</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16bit</a:t>
            </a:r>
            <a:endParaRPr lang="en-US" sz="1800" dirty="0"/>
          </a:p>
        </p:txBody>
      </p:sp>
      <p:sp>
        <p:nvSpPr>
          <p:cNvPr id="24" name="Shape 21"/>
          <p:cNvSpPr/>
          <p:nvPr/>
        </p:nvSpPr>
        <p:spPr>
          <a:xfrm>
            <a:off x="457200" y="4636008"/>
            <a:ext cx="5637276" cy="713232"/>
          </a:xfrm>
          <a:prstGeom prst="roundRect">
            <a:avLst>
              <a:gd name="adj" fmla="val 5128"/>
            </a:avLst>
          </a:prstGeom>
          <a:solidFill>
            <a:srgbClr val="DCE8F8"/>
          </a:solidFill>
          <a:ln w="15875">
            <a:solidFill>
              <a:srgbClr val="2F6BC2"/>
            </a:solidFill>
            <a:prstDash val="solid"/>
          </a:ln>
        </p:spPr>
      </p:sp>
      <p:sp>
        <p:nvSpPr>
          <p:cNvPr id="25" name="Text 22"/>
          <p:cNvSpPr txBox="1"/>
          <p:nvPr/>
        </p:nvSpPr>
        <p:spPr>
          <a:xfrm>
            <a:off x="484632" y="4636008"/>
            <a:ext cx="5582412"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チェックサム</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16bit</a:t>
            </a:r>
            <a:endParaRPr lang="en-US" sz="1800" dirty="0"/>
          </a:p>
        </p:txBody>
      </p:sp>
      <p:sp>
        <p:nvSpPr>
          <p:cNvPr id="26" name="Shape 23"/>
          <p:cNvSpPr/>
          <p:nvPr/>
        </p:nvSpPr>
        <p:spPr>
          <a:xfrm>
            <a:off x="6094476" y="4636008"/>
            <a:ext cx="5637276" cy="713232"/>
          </a:xfrm>
          <a:prstGeom prst="roundRect">
            <a:avLst>
              <a:gd name="adj" fmla="val 5128"/>
            </a:avLst>
          </a:prstGeom>
          <a:solidFill>
            <a:srgbClr val="E2E8F0"/>
          </a:solidFill>
          <a:ln w="15875">
            <a:solidFill>
              <a:srgbClr val="475569"/>
            </a:solidFill>
            <a:prstDash val="solid"/>
          </a:ln>
        </p:spPr>
      </p:sp>
      <p:sp>
        <p:nvSpPr>
          <p:cNvPr id="27" name="Text 24"/>
          <p:cNvSpPr txBox="1"/>
          <p:nvPr/>
        </p:nvSpPr>
        <p:spPr>
          <a:xfrm>
            <a:off x="6121908" y="4636008"/>
            <a:ext cx="5582412"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緊急ポインタ</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16bit</a:t>
            </a:r>
            <a:endParaRPr lang="en-US" sz="1800" dirty="0"/>
          </a:p>
        </p:txBody>
      </p:sp>
      <p:sp>
        <p:nvSpPr>
          <p:cNvPr id="28" name="Text 25"/>
          <p:cNvSpPr txBox="1"/>
          <p:nvPr/>
        </p:nvSpPr>
        <p:spPr>
          <a:xfrm>
            <a:off x="457200" y="5440680"/>
            <a:ext cx="11274552" cy="365760"/>
          </a:xfrm>
          <a:prstGeom prst="rect">
            <a:avLst/>
          </a:prstGeom>
          <a:noFill/>
          <a:ln/>
        </p:spPr>
        <p:txBody>
          <a:bodyPr wrap="square" lIns="0" tIns="0" rIns="0" bIns="0" rtlCol="0" anchor="t"/>
          <a:lstStyle/>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オプションがなければ20バイト。フラグ＝SYN・ACK・FIN・RSTなど。オフセット＝ヘッダーの長さ</a:t>
            </a:r>
            <a:endParaRPr lang="en-US" sz="1800" dirty="0"/>
          </a:p>
        </p:txBody>
      </p:sp>
      <p:sp>
        <p:nvSpPr>
          <p:cNvPr id="29" name="Shape 26"/>
          <p:cNvSpPr/>
          <p:nvPr/>
        </p:nvSpPr>
        <p:spPr>
          <a:xfrm>
            <a:off x="457200" y="5806440"/>
            <a:ext cx="11274552" cy="502920"/>
          </a:xfrm>
          <a:prstGeom prst="roundRect">
            <a:avLst>
              <a:gd name="adj" fmla="val 21818"/>
            </a:avLst>
          </a:prstGeom>
          <a:solidFill>
            <a:srgbClr val="DCE8F8"/>
          </a:solidFill>
          <a:ln w="19050">
            <a:solidFill>
              <a:srgbClr val="2F6BC2"/>
            </a:solidFill>
            <a:prstDash val="solid"/>
          </a:ln>
        </p:spPr>
      </p:sp>
      <p:sp>
        <p:nvSpPr>
          <p:cNvPr id="30" name="Shape 27"/>
          <p:cNvSpPr/>
          <p:nvPr/>
        </p:nvSpPr>
        <p:spPr>
          <a:xfrm>
            <a:off x="594360" y="5897880"/>
            <a:ext cx="320040" cy="320040"/>
          </a:xfrm>
          <a:prstGeom prst="ellipse">
            <a:avLst/>
          </a:prstGeom>
          <a:solidFill>
            <a:srgbClr val="2F6BC2"/>
          </a:solidFill>
          <a:ln/>
        </p:spPr>
      </p:sp>
      <p:pic>
        <p:nvPicPr>
          <p:cNvPr id="31" name="Image 0" descr="preencoded.png">    </p:cNvPr>
          <p:cNvPicPr>
            <a:picLocks noChangeAspect="1"/>
          </p:cNvPicPr>
          <p:nvPr/>
        </p:nvPicPr>
        <p:blipFill>
          <a:blip r:embed="rId1"/>
          <a:stretch>
            <a:fillRect/>
          </a:stretch>
        </p:blipFill>
        <p:spPr>
          <a:xfrm>
            <a:off x="664769" y="5968289"/>
            <a:ext cx="179222" cy="179222"/>
          </a:xfrm>
          <a:prstGeom prst="rect">
            <a:avLst/>
          </a:prstGeom>
        </p:spPr>
      </p:pic>
      <p:sp>
        <p:nvSpPr>
          <p:cNvPr id="32" name="Text 28"/>
          <p:cNvSpPr txBox="1"/>
          <p:nvPr/>
        </p:nvSpPr>
        <p:spPr>
          <a:xfrm>
            <a:off x="1051560" y="5852160"/>
            <a:ext cx="10543032" cy="4114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ポート＝アプリの窓口。シーケンス／確認応答＝順序と到達の管理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ネットワーク</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UDPヘッダーは小さい。TCPとの違いを整理</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UDPは、確認・順序・再送の仕組みを持たない分、ヘッダーが8バイトと小さく、速く軽く送れます。用途によってTCPとUDPを使い分けます。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出典：[R01] [K02]</a:t>
            </a:r>
            <a:endParaRPr lang="ja-JP" sz="1200" dirty="0"/>
          </a:p>
        </p:txBody>
      </p:sp>
      <p:sp>
        <p:nvSpPr>
          <p:cNvPr id="8" name="Shape 5"/>
          <p:cNvSpPr/>
          <p:nvPr/>
        </p:nvSpPr>
        <p:spPr>
          <a:xfrm>
            <a:off x="457200" y="1783080"/>
            <a:ext cx="5637276" cy="713232"/>
          </a:xfrm>
          <a:prstGeom prst="roundRect">
            <a:avLst>
              <a:gd name="adj" fmla="val 5128"/>
            </a:avLst>
          </a:prstGeom>
          <a:solidFill>
            <a:srgbClr val="D9F2F1"/>
          </a:solidFill>
          <a:ln w="15875">
            <a:solidFill>
              <a:srgbClr val="0B7A7A"/>
            </a:solidFill>
            <a:prstDash val="solid"/>
          </a:ln>
        </p:spPr>
      </p:sp>
      <p:sp>
        <p:nvSpPr>
          <p:cNvPr id="9" name="Text 6"/>
          <p:cNvSpPr txBox="1"/>
          <p:nvPr/>
        </p:nvSpPr>
        <p:spPr>
          <a:xfrm>
            <a:off x="484632" y="1783080"/>
            <a:ext cx="5582412"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送信元ポート</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16bit</a:t>
            </a:r>
            <a:endParaRPr lang="en-US" sz="1800" dirty="0"/>
          </a:p>
        </p:txBody>
      </p:sp>
      <p:sp>
        <p:nvSpPr>
          <p:cNvPr id="10" name="Shape 7"/>
          <p:cNvSpPr/>
          <p:nvPr/>
        </p:nvSpPr>
        <p:spPr>
          <a:xfrm>
            <a:off x="6094476" y="1783080"/>
            <a:ext cx="5637276" cy="713232"/>
          </a:xfrm>
          <a:prstGeom prst="roundRect">
            <a:avLst>
              <a:gd name="adj" fmla="val 5128"/>
            </a:avLst>
          </a:prstGeom>
          <a:solidFill>
            <a:srgbClr val="E6E1F7"/>
          </a:solidFill>
          <a:ln w="15875">
            <a:solidFill>
              <a:srgbClr val="5B46B8"/>
            </a:solidFill>
            <a:prstDash val="solid"/>
          </a:ln>
        </p:spPr>
      </p:sp>
      <p:sp>
        <p:nvSpPr>
          <p:cNvPr id="11" name="Text 8"/>
          <p:cNvSpPr txBox="1"/>
          <p:nvPr/>
        </p:nvSpPr>
        <p:spPr>
          <a:xfrm>
            <a:off x="6121908" y="1783080"/>
            <a:ext cx="5582412"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宛先ポート</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16bit</a:t>
            </a:r>
            <a:endParaRPr lang="en-US" sz="1800" dirty="0"/>
          </a:p>
        </p:txBody>
      </p:sp>
      <p:sp>
        <p:nvSpPr>
          <p:cNvPr id="12" name="Shape 9"/>
          <p:cNvSpPr/>
          <p:nvPr/>
        </p:nvSpPr>
        <p:spPr>
          <a:xfrm>
            <a:off x="457200" y="2496312"/>
            <a:ext cx="5637276" cy="713232"/>
          </a:xfrm>
          <a:prstGeom prst="roundRect">
            <a:avLst>
              <a:gd name="adj" fmla="val 5128"/>
            </a:avLst>
          </a:prstGeom>
          <a:solidFill>
            <a:srgbClr val="DCE8F8"/>
          </a:solidFill>
          <a:ln w="15875">
            <a:solidFill>
              <a:srgbClr val="2F6BC2"/>
            </a:solidFill>
            <a:prstDash val="solid"/>
          </a:ln>
        </p:spPr>
      </p:sp>
      <p:sp>
        <p:nvSpPr>
          <p:cNvPr id="13" name="Text 10"/>
          <p:cNvSpPr txBox="1"/>
          <p:nvPr/>
        </p:nvSpPr>
        <p:spPr>
          <a:xfrm>
            <a:off x="484632" y="2496312"/>
            <a:ext cx="5582412"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長さ</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16bit</a:t>
            </a:r>
            <a:endParaRPr lang="en-US" sz="1800" dirty="0"/>
          </a:p>
        </p:txBody>
      </p:sp>
      <p:sp>
        <p:nvSpPr>
          <p:cNvPr id="14" name="Shape 11"/>
          <p:cNvSpPr/>
          <p:nvPr/>
        </p:nvSpPr>
        <p:spPr>
          <a:xfrm>
            <a:off x="6094476" y="2496312"/>
            <a:ext cx="5637276" cy="713232"/>
          </a:xfrm>
          <a:prstGeom prst="roundRect">
            <a:avLst>
              <a:gd name="adj" fmla="val 5128"/>
            </a:avLst>
          </a:prstGeom>
          <a:solidFill>
            <a:srgbClr val="DCE8F8"/>
          </a:solidFill>
          <a:ln w="15875">
            <a:solidFill>
              <a:srgbClr val="2F6BC2"/>
            </a:solidFill>
            <a:prstDash val="solid"/>
          </a:ln>
        </p:spPr>
      </p:sp>
      <p:sp>
        <p:nvSpPr>
          <p:cNvPr id="15" name="Text 12"/>
          <p:cNvSpPr txBox="1"/>
          <p:nvPr/>
        </p:nvSpPr>
        <p:spPr>
          <a:xfrm>
            <a:off x="6121908" y="2496312"/>
            <a:ext cx="5582412" cy="713232"/>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チェックサム</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16bit</a:t>
            </a:r>
            <a:endParaRPr lang="en-US" sz="1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3429000"/>
          <a:ext cx="11274552" cy="914400"/>
        </p:xfrm>
        <a:graphic>
          <a:graphicData uri="http://schemas.openxmlformats.org/drawingml/2006/table">
            <a:tbl>
              <a:tblPr/>
              <a:tblGrid>
                <a:gridCol w="3108960"/>
                <a:gridCol w="4206240"/>
                <a:gridCol w="395935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項目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TCP</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UDP</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512064">
                <a:tc>
                  <a:txBody>
                    <a:bodyPr/>
                    <a:lstStyle/>
                    <a:p>
                      <a:pPr algn="l"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到達の確認・再送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9F2F1"/>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しない（標準）</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12064">
                <a:tc>
                  <a:txBody>
                    <a:bodyPr/>
                    <a:lstStyle/>
                    <a:p>
                      <a:pPr algn="l"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順序の保証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9F2F1"/>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ある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ない</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12064">
                <a:tc>
                  <a:txBody>
                    <a:bodyPr/>
                    <a:lstStyle/>
                    <a:p>
                      <a:pPr algn="l" indent="0" marL="0">
                        <a:lnSpc>
                          <a:spcPts val="2400"/>
                        </a:lnSpc>
                        <a:buNone/>
                      </a:pPr>
                      <a:r>
                        <a:rPr lang="ja-JP" altLang="en-US" sz="1800" b="1" dirty="0">
                          <a:solidFill>
                            <a:srgbClr val="475569"/>
                          </a:solidFill>
                          <a:latin typeface="Yu Gothic" pitchFamily="34" charset="0"/>
                          <a:ea typeface="Yu Gothic" pitchFamily="34" charset="-122"/>
                          <a:cs typeface="Yu Gothic" pitchFamily="34" charset="-120"/>
                        </a:rPr>
                        <a:t>ヘッダーの大きさ</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最小20バイト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8バイト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12064">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主な用途</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Web・メール・ファイル転送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DNS・音声・動画・ゲーム</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ネットワーク</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TCPの接続は3ウェイハンドシェイクで始まる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データを送る前に、SYN→SYN+ACK→ACKの3回のやりとりで、お互いが通信できることを確認します。そのあと、届いたデータには確認応答（ACK）を返します。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出典：[R01] [K02]</a:t>
            </a:r>
            <a:endParaRPr lang="ja-JP" sz="1200" dirty="0"/>
          </a:p>
        </p:txBody>
      </p:sp>
      <p:sp>
        <p:nvSpPr>
          <p:cNvPr id="8" name="Shape 5"/>
          <p:cNvSpPr/>
          <p:nvPr/>
        </p:nvSpPr>
        <p:spPr>
          <a:xfrm>
            <a:off x="2041398" y="1783080"/>
            <a:ext cx="2468880" cy="658368"/>
          </a:xfrm>
          <a:prstGeom prst="roundRect">
            <a:avLst>
              <a:gd name="adj" fmla="val 13889"/>
            </a:avLst>
          </a:prstGeom>
          <a:solidFill>
            <a:srgbClr val="0B7A7A"/>
          </a:solidFill>
          <a:ln w="25400">
            <a:solidFill>
              <a:srgbClr val="0B7A7A"/>
            </a:solidFill>
            <a:prstDash val="solid"/>
          </a:ln>
        </p:spPr>
      </p:sp>
      <p:sp>
        <p:nvSpPr>
          <p:cNvPr id="9" name="Text 6"/>
          <p:cNvSpPr txBox="1"/>
          <p:nvPr/>
        </p:nvSpPr>
        <p:spPr>
          <a:xfrm>
            <a:off x="2132838" y="1783080"/>
            <a:ext cx="2286000" cy="65836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端末（クライアント）</a:t>
            </a:r>
            <a:endParaRPr lang="en-US" sz="1800" dirty="0"/>
          </a:p>
        </p:txBody>
      </p:sp>
      <p:sp>
        <p:nvSpPr>
          <p:cNvPr id="10" name="Shape 7"/>
          <p:cNvSpPr/>
          <p:nvPr/>
        </p:nvSpPr>
        <p:spPr>
          <a:xfrm>
            <a:off x="7678674" y="1783080"/>
            <a:ext cx="2468880" cy="658368"/>
          </a:xfrm>
          <a:prstGeom prst="roundRect">
            <a:avLst>
              <a:gd name="adj" fmla="val 13889"/>
            </a:avLst>
          </a:prstGeom>
          <a:solidFill>
            <a:srgbClr val="5B46B8"/>
          </a:solidFill>
          <a:ln w="25400">
            <a:solidFill>
              <a:srgbClr val="5B46B8"/>
            </a:solidFill>
            <a:prstDash val="solid"/>
          </a:ln>
        </p:spPr>
      </p:sp>
      <p:sp>
        <p:nvSpPr>
          <p:cNvPr id="11" name="Text 8"/>
          <p:cNvSpPr txBox="1"/>
          <p:nvPr/>
        </p:nvSpPr>
        <p:spPr>
          <a:xfrm>
            <a:off x="7770114" y="1783080"/>
            <a:ext cx="2286000" cy="65836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サーバー</a:t>
            </a:r>
            <a:endParaRPr lang="en-US" sz="1800" dirty="0"/>
          </a:p>
        </p:txBody>
      </p:sp>
      <p:sp>
        <p:nvSpPr>
          <p:cNvPr id="12" name="Shape 9"/>
          <p:cNvSpPr/>
          <p:nvPr/>
        </p:nvSpPr>
        <p:spPr>
          <a:xfrm>
            <a:off x="3275838" y="2441448"/>
            <a:ext cx="0" cy="3867912"/>
          </a:xfrm>
          <a:prstGeom prst="line">
            <a:avLst/>
          </a:prstGeom>
          <a:noFill/>
          <a:ln w="19050">
            <a:solidFill>
              <a:srgbClr val="94A3B8"/>
            </a:solidFill>
            <a:prstDash val="dash"/>
          </a:ln>
        </p:spPr>
      </p:sp>
      <p:sp>
        <p:nvSpPr>
          <p:cNvPr id="13" name="Shape 10"/>
          <p:cNvSpPr/>
          <p:nvPr/>
        </p:nvSpPr>
        <p:spPr>
          <a:xfrm>
            <a:off x="8913114" y="2441448"/>
            <a:ext cx="0" cy="3867912"/>
          </a:xfrm>
          <a:prstGeom prst="line">
            <a:avLst/>
          </a:prstGeom>
          <a:noFill/>
          <a:ln w="19050">
            <a:solidFill>
              <a:srgbClr val="94A3B8"/>
            </a:solidFill>
            <a:prstDash val="dash"/>
          </a:ln>
        </p:spPr>
      </p:sp>
      <p:sp>
        <p:nvSpPr>
          <p:cNvPr id="14" name="Text 11"/>
          <p:cNvSpPr txBox="1"/>
          <p:nvPr/>
        </p:nvSpPr>
        <p:spPr>
          <a:xfrm>
            <a:off x="3412998" y="2794406"/>
            <a:ext cx="5362956"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① SYN（つなぎたい）</a:t>
            </a:r>
            <a:endParaRPr lang="en-US" sz="1800" dirty="0"/>
          </a:p>
        </p:txBody>
      </p:sp>
      <p:sp>
        <p:nvSpPr>
          <p:cNvPr id="15" name="Shape 12"/>
          <p:cNvSpPr/>
          <p:nvPr/>
        </p:nvSpPr>
        <p:spPr>
          <a:xfrm>
            <a:off x="3312414" y="3132734"/>
            <a:ext cx="5564124" cy="0"/>
          </a:xfrm>
          <a:prstGeom prst="line">
            <a:avLst/>
          </a:prstGeom>
          <a:noFill/>
          <a:ln w="31750">
            <a:solidFill>
              <a:srgbClr val="2F6BC2"/>
            </a:solidFill>
            <a:prstDash val="solid"/>
            <a:tailEnd type="triangle"/>
          </a:ln>
        </p:spPr>
      </p:sp>
      <p:sp>
        <p:nvSpPr>
          <p:cNvPr id="16" name="Text 13"/>
          <p:cNvSpPr txBox="1"/>
          <p:nvPr/>
        </p:nvSpPr>
        <p:spPr>
          <a:xfrm>
            <a:off x="3412998" y="3549701"/>
            <a:ext cx="5362956"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② SYN＋ACK（いいよ）</a:t>
            </a:r>
            <a:endParaRPr lang="en-US" sz="1800" dirty="0"/>
          </a:p>
        </p:txBody>
      </p:sp>
      <p:sp>
        <p:nvSpPr>
          <p:cNvPr id="17" name="Shape 14"/>
          <p:cNvSpPr/>
          <p:nvPr/>
        </p:nvSpPr>
        <p:spPr>
          <a:xfrm flipH="1">
            <a:off x="3312414" y="3888029"/>
            <a:ext cx="5564124" cy="0"/>
          </a:xfrm>
          <a:prstGeom prst="line">
            <a:avLst/>
          </a:prstGeom>
          <a:noFill/>
          <a:ln w="31750">
            <a:solidFill>
              <a:srgbClr val="2F6BC2"/>
            </a:solidFill>
            <a:prstDash val="dash"/>
            <a:tailEnd type="triangle"/>
          </a:ln>
        </p:spPr>
      </p:sp>
      <p:sp>
        <p:nvSpPr>
          <p:cNvPr id="18" name="Text 15"/>
          <p:cNvSpPr txBox="1"/>
          <p:nvPr/>
        </p:nvSpPr>
        <p:spPr>
          <a:xfrm>
            <a:off x="3412998" y="4304995"/>
            <a:ext cx="5362956"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③ ACK（了解）＝接続確立</a:t>
            </a:r>
            <a:endParaRPr lang="en-US" sz="1800" dirty="0"/>
          </a:p>
        </p:txBody>
      </p:sp>
      <p:sp>
        <p:nvSpPr>
          <p:cNvPr id="19" name="Shape 16"/>
          <p:cNvSpPr/>
          <p:nvPr/>
        </p:nvSpPr>
        <p:spPr>
          <a:xfrm>
            <a:off x="3312414" y="4643323"/>
            <a:ext cx="5564124" cy="0"/>
          </a:xfrm>
          <a:prstGeom prst="line">
            <a:avLst/>
          </a:prstGeom>
          <a:noFill/>
          <a:ln w="31750">
            <a:solidFill>
              <a:srgbClr val="2F6BC2"/>
            </a:solidFill>
            <a:prstDash val="solid"/>
            <a:tailEnd type="triangle"/>
          </a:ln>
        </p:spPr>
      </p:sp>
      <p:sp>
        <p:nvSpPr>
          <p:cNvPr id="20" name="Text 17"/>
          <p:cNvSpPr txBox="1"/>
          <p:nvPr/>
        </p:nvSpPr>
        <p:spPr>
          <a:xfrm>
            <a:off x="3412998" y="5060290"/>
            <a:ext cx="5362956"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④ データを送る</a:t>
            </a:r>
            <a:endParaRPr lang="en-US" sz="1800" dirty="0"/>
          </a:p>
        </p:txBody>
      </p:sp>
      <p:sp>
        <p:nvSpPr>
          <p:cNvPr id="21" name="Shape 18"/>
          <p:cNvSpPr/>
          <p:nvPr/>
        </p:nvSpPr>
        <p:spPr>
          <a:xfrm>
            <a:off x="3312414" y="5398618"/>
            <a:ext cx="5564124" cy="0"/>
          </a:xfrm>
          <a:prstGeom prst="line">
            <a:avLst/>
          </a:prstGeom>
          <a:noFill/>
          <a:ln w="31750">
            <a:solidFill>
              <a:srgbClr val="0B7A7A"/>
            </a:solidFill>
            <a:prstDash val="solid"/>
            <a:tailEnd type="triangle"/>
          </a:ln>
        </p:spPr>
      </p:sp>
      <p:sp>
        <p:nvSpPr>
          <p:cNvPr id="22" name="Text 19"/>
          <p:cNvSpPr txBox="1"/>
          <p:nvPr/>
        </p:nvSpPr>
        <p:spPr>
          <a:xfrm>
            <a:off x="3412998" y="5815584"/>
            <a:ext cx="5362956" cy="301752"/>
          </a:xfrm>
          <a:prstGeom prst="rect">
            <a:avLst/>
          </a:prstGeom>
          <a:noFill/>
          <a:ln/>
        </p:spPr>
        <p:txBody>
          <a:bodyPr wrap="square" lIns="0" tIns="0" rIns="0" bIns="0" rtlCol="0" anchor="b"/>
          <a:lstStyle/>
          <a:p>
            <a:pPr algn="ct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⑤ ACK（届いた）※来なければ再送</a:t>
            </a:r>
            <a:endParaRPr lang="en-US" sz="1800" dirty="0"/>
          </a:p>
        </p:txBody>
      </p:sp>
      <p:sp>
        <p:nvSpPr>
          <p:cNvPr id="23" name="Shape 20"/>
          <p:cNvSpPr/>
          <p:nvPr/>
        </p:nvSpPr>
        <p:spPr>
          <a:xfrm flipH="1">
            <a:off x="3312414" y="6153912"/>
            <a:ext cx="5564124" cy="0"/>
          </a:xfrm>
          <a:prstGeom prst="line">
            <a:avLst/>
          </a:prstGeom>
          <a:noFill/>
          <a:ln w="31750">
            <a:solidFill>
              <a:srgbClr val="237A48"/>
            </a:solidFill>
            <a:prstDash val="dash"/>
            <a:tailEnd type="triangle"/>
          </a:ln>
        </p:spPr>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ネットワーク</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IPアドレスとサブネット：どこまでが同じネットワークか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IPアドレスは「ネットワーク部」と「ホスト部」に分かれます。サブネットマスクで境目を示し、同じネットワークなら直接、違うなら出口（ゲートウェイ）へ渡します。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出典：[R01] [K01] [K02]</a:t>
            </a:r>
            <a:endParaRPr lang="ja-JP" sz="1200" dirty="0"/>
          </a:p>
        </p:txBody>
      </p:sp>
      <p:sp>
        <p:nvSpPr>
          <p:cNvPr id="8" name="Shape 5"/>
          <p:cNvSpPr/>
          <p:nvPr/>
        </p:nvSpPr>
        <p:spPr>
          <a:xfrm>
            <a:off x="457200" y="1783080"/>
            <a:ext cx="2697480" cy="777240"/>
          </a:xfrm>
          <a:prstGeom prst="roundRect">
            <a:avLst>
              <a:gd name="adj" fmla="val 14118"/>
            </a:avLst>
          </a:prstGeom>
          <a:solidFill>
            <a:srgbClr val="0B7A7A"/>
          </a:solidFill>
          <a:ln/>
        </p:spPr>
      </p:sp>
      <p:sp>
        <p:nvSpPr>
          <p:cNvPr id="9" name="Text 6"/>
          <p:cNvSpPr txBox="1"/>
          <p:nvPr/>
        </p:nvSpPr>
        <p:spPr>
          <a:xfrm>
            <a:off x="548640" y="1783080"/>
            <a:ext cx="2514600" cy="777240"/>
          </a:xfrm>
          <a:prstGeom prst="rect">
            <a:avLst/>
          </a:prstGeom>
          <a:noFill/>
          <a:ln/>
        </p:spPr>
        <p:txBody>
          <a:bodyPr wrap="square" lIns="0" tIns="0" rIns="0" bIns="0" rtlCol="0" anchor="ctr"/>
          <a:lstStyle/>
          <a:p>
            <a:pPr algn="ctr" indent="0" marL="0">
              <a:lnSpc>
                <a:spcPts val="3200"/>
              </a:lnSpc>
              <a:buNone/>
            </a:pPr>
            <a:r>
              <a:rPr lang="ja-JP" altLang="en-US" sz="2400" b="1" dirty="0">
                <a:solidFill>
                  <a:srgbClr val="FFFFFF"/>
                </a:solidFill>
                <a:latin typeface="Yu Gothic" pitchFamily="34" charset="0"/>
                <a:ea typeface="Yu Gothic" pitchFamily="34" charset="-122"/>
                <a:cs typeface="Yu Gothic" pitchFamily="34" charset="-120"/>
              </a:rPr>
              <a:t>192</a:t>
            </a:r>
            <a:endParaRPr lang="en-US" sz="2400" dirty="0"/>
          </a:p>
        </p:txBody>
      </p:sp>
      <p:sp>
        <p:nvSpPr>
          <p:cNvPr id="10" name="Shape 7"/>
          <p:cNvSpPr/>
          <p:nvPr/>
        </p:nvSpPr>
        <p:spPr>
          <a:xfrm>
            <a:off x="3291840" y="1783080"/>
            <a:ext cx="2697480" cy="777240"/>
          </a:xfrm>
          <a:prstGeom prst="roundRect">
            <a:avLst>
              <a:gd name="adj" fmla="val 14118"/>
            </a:avLst>
          </a:prstGeom>
          <a:solidFill>
            <a:srgbClr val="0B7A7A"/>
          </a:solidFill>
          <a:ln/>
        </p:spPr>
      </p:sp>
      <p:sp>
        <p:nvSpPr>
          <p:cNvPr id="11" name="Text 8"/>
          <p:cNvSpPr txBox="1"/>
          <p:nvPr/>
        </p:nvSpPr>
        <p:spPr>
          <a:xfrm>
            <a:off x="3383280" y="1783080"/>
            <a:ext cx="2514600" cy="777240"/>
          </a:xfrm>
          <a:prstGeom prst="rect">
            <a:avLst/>
          </a:prstGeom>
          <a:noFill/>
          <a:ln/>
        </p:spPr>
        <p:txBody>
          <a:bodyPr wrap="square" lIns="0" tIns="0" rIns="0" bIns="0" rtlCol="0" anchor="ctr"/>
          <a:lstStyle/>
          <a:p>
            <a:pPr algn="ctr" indent="0" marL="0">
              <a:lnSpc>
                <a:spcPts val="3200"/>
              </a:lnSpc>
              <a:buNone/>
            </a:pPr>
            <a:r>
              <a:rPr lang="ja-JP" altLang="en-US" sz="2400" b="1" dirty="0">
                <a:solidFill>
                  <a:srgbClr val="FFFFFF"/>
                </a:solidFill>
                <a:latin typeface="Yu Gothic" pitchFamily="34" charset="0"/>
                <a:ea typeface="Yu Gothic" pitchFamily="34" charset="-122"/>
                <a:cs typeface="Yu Gothic" pitchFamily="34" charset="-120"/>
              </a:rPr>
              <a:t>168</a:t>
            </a:r>
            <a:endParaRPr lang="en-US" sz="2400" dirty="0"/>
          </a:p>
        </p:txBody>
      </p:sp>
      <p:sp>
        <p:nvSpPr>
          <p:cNvPr id="12" name="Shape 9"/>
          <p:cNvSpPr/>
          <p:nvPr/>
        </p:nvSpPr>
        <p:spPr>
          <a:xfrm>
            <a:off x="6126480" y="1783080"/>
            <a:ext cx="2697480" cy="777240"/>
          </a:xfrm>
          <a:prstGeom prst="roundRect">
            <a:avLst>
              <a:gd name="adj" fmla="val 14118"/>
            </a:avLst>
          </a:prstGeom>
          <a:solidFill>
            <a:srgbClr val="0B7A7A"/>
          </a:solidFill>
          <a:ln/>
        </p:spPr>
      </p:sp>
      <p:sp>
        <p:nvSpPr>
          <p:cNvPr id="13" name="Text 10"/>
          <p:cNvSpPr txBox="1"/>
          <p:nvPr/>
        </p:nvSpPr>
        <p:spPr>
          <a:xfrm>
            <a:off x="6217920" y="1783080"/>
            <a:ext cx="2514600" cy="777240"/>
          </a:xfrm>
          <a:prstGeom prst="rect">
            <a:avLst/>
          </a:prstGeom>
          <a:noFill/>
          <a:ln/>
        </p:spPr>
        <p:txBody>
          <a:bodyPr wrap="square" lIns="0" tIns="0" rIns="0" bIns="0" rtlCol="0" anchor="ctr"/>
          <a:lstStyle/>
          <a:p>
            <a:pPr algn="ctr" indent="0" marL="0">
              <a:lnSpc>
                <a:spcPts val="3200"/>
              </a:lnSpc>
              <a:buNone/>
            </a:pPr>
            <a:r>
              <a:rPr lang="ja-JP" altLang="en-US" sz="2400" b="1" dirty="0">
                <a:solidFill>
                  <a:srgbClr val="FFFFFF"/>
                </a:solidFill>
                <a:latin typeface="Yu Gothic" pitchFamily="34" charset="0"/>
                <a:ea typeface="Yu Gothic" pitchFamily="34" charset="-122"/>
                <a:cs typeface="Yu Gothic" pitchFamily="34" charset="-120"/>
              </a:rPr>
              <a:t>1</a:t>
            </a:r>
            <a:endParaRPr lang="en-US" sz="2400" dirty="0"/>
          </a:p>
        </p:txBody>
      </p:sp>
      <p:sp>
        <p:nvSpPr>
          <p:cNvPr id="14" name="Shape 11"/>
          <p:cNvSpPr/>
          <p:nvPr/>
        </p:nvSpPr>
        <p:spPr>
          <a:xfrm>
            <a:off x="8961120" y="1783080"/>
            <a:ext cx="2697480" cy="777240"/>
          </a:xfrm>
          <a:prstGeom prst="roundRect">
            <a:avLst>
              <a:gd name="adj" fmla="val 14118"/>
            </a:avLst>
          </a:prstGeom>
          <a:solidFill>
            <a:srgbClr val="2F6BC2"/>
          </a:solidFill>
          <a:ln/>
        </p:spPr>
      </p:sp>
      <p:sp>
        <p:nvSpPr>
          <p:cNvPr id="15" name="Text 12"/>
          <p:cNvSpPr txBox="1"/>
          <p:nvPr/>
        </p:nvSpPr>
        <p:spPr>
          <a:xfrm>
            <a:off x="9052560" y="1783080"/>
            <a:ext cx="2514600" cy="777240"/>
          </a:xfrm>
          <a:prstGeom prst="rect">
            <a:avLst/>
          </a:prstGeom>
          <a:noFill/>
          <a:ln/>
        </p:spPr>
        <p:txBody>
          <a:bodyPr wrap="square" lIns="0" tIns="0" rIns="0" bIns="0" rtlCol="0" anchor="ctr"/>
          <a:lstStyle/>
          <a:p>
            <a:pPr algn="ctr" indent="0" marL="0">
              <a:lnSpc>
                <a:spcPts val="3200"/>
              </a:lnSpc>
              <a:buNone/>
            </a:pPr>
            <a:r>
              <a:rPr lang="ja-JP" altLang="en-US" sz="2400" b="1" dirty="0">
                <a:solidFill>
                  <a:srgbClr val="FFFFFF"/>
                </a:solidFill>
                <a:latin typeface="Yu Gothic" pitchFamily="34" charset="0"/>
                <a:ea typeface="Yu Gothic" pitchFamily="34" charset="-122"/>
                <a:cs typeface="Yu Gothic" pitchFamily="34" charset="-120"/>
              </a:rPr>
              <a:t>20</a:t>
            </a:r>
            <a:endParaRPr lang="en-US" sz="2400" dirty="0"/>
          </a:p>
        </p:txBody>
      </p:sp>
      <p:sp>
        <p:nvSpPr>
          <p:cNvPr id="16" name="Text 13"/>
          <p:cNvSpPr txBox="1"/>
          <p:nvPr/>
        </p:nvSpPr>
        <p:spPr>
          <a:xfrm>
            <a:off x="457200" y="2606040"/>
            <a:ext cx="8458200"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ネットワーク部（24ビット）</a:t>
            </a:r>
            <a:endParaRPr lang="en-US" sz="1800" dirty="0"/>
          </a:p>
        </p:txBody>
      </p:sp>
      <p:sp>
        <p:nvSpPr>
          <p:cNvPr id="17" name="Text 14"/>
          <p:cNvSpPr txBox="1"/>
          <p:nvPr/>
        </p:nvSpPr>
        <p:spPr>
          <a:xfrm>
            <a:off x="8869680" y="2606040"/>
            <a:ext cx="2834640"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ホスト部（8ビット）</a:t>
            </a:r>
            <a:endParaRPr lang="en-US" sz="1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3108960"/>
          <a:ext cx="11274552" cy="914400"/>
        </p:xfrm>
        <a:graphic>
          <a:graphicData uri="http://schemas.openxmlformats.org/drawingml/2006/table">
            <a:tbl>
              <a:tblPr/>
              <a:tblGrid>
                <a:gridCol w="3474720"/>
                <a:gridCol w="779983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項目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値（192.168.1.20/24の場合）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サブネットマスク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255.255.255.0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ネットワークアドレス</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192.168.1.0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ブロードキャスト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192.168.1.255</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使えるホスト数</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254台（.1〜.254）</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プライベートの範囲</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10.0.0.0/8、172.16.0.0/12、192.168.0.0/16</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ネットワーク</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代表的なアプリ層プロトコルとポート番号</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ポート番号は、1台の機器の中で「どのアプリの通信か」を区別する番号です。よく使うものは決まっているので、主要なものは覚えておくと調査が速くなります。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出典：[I01] [K02]</a:t>
            </a:r>
            <a:endParaRPr lang="ja-JP"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3474720"/>
                <a:gridCol w="2377440"/>
                <a:gridCol w="542239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プロトコル</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ポート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用途</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512064">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HTTP／HTTPS</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80／443</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Web（HTTPSは暗号化）</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12064">
                <a:tc>
                  <a:txBody>
                    <a:bodyPr/>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SSH</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1E4"/>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安全な遠隔操作</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12064">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DNS</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53</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名前からIPを調べる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12064">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DHCP</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67／68</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IPなどの自動設定</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12064">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NTP</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123</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時刻の同期</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12064">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SMTP</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25</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メールの送信</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12064">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MySQL／PostgreSQL</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3306／5432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データベースの既定</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ネットワーク</a:t>
            </a:r>
            <a:endParaRPr lang="ja-JP" sz="1400" dirty="0"/>
          </a:p>
        </p:txBody>
      </p:sp>
      <p:sp>
        <p:nvSpPr>
          <p:cNvPr id="3" name="Text 1"/>
          <p:cNvSpPr txBox="1"/>
          <p:nvPr/>
        </p:nvSpPr>
        <p:spPr>
          <a:xfrm>
            <a:off x="9011615" y="237744"/>
            <a:ext cx="2722880" cy="310896"/>
          </a:xfrm>
          <a:prstGeom prst="roundRect">
            <a:avLst>
              <a:gd name="adj" fmla="val 50000"/>
            </a:avLst>
          </a:prstGeom>
          <a:solidFill>
            <a:srgbClr val="FDEBD0"/>
          </a:solidFill>
          <a:ln w="9525">
            <a:solidFill>
              <a:srgbClr val="7C2D12"/>
            </a:solidFill>
          </a:ln>
        </p:spPr>
        <p:txBody>
          <a:bodyPr wrap="square" lIns="0" tIns="0" rIns="0" bIns="0" rtlCol="0" anchor="ctr"/>
          <a:lstStyle/>
          <a:p>
            <a:pPr algn="ctr" indent="0" marL="0">
              <a:buNone/>
            </a:pPr>
            <a:r>
              <a:rPr lang="ja-JP" altLang="en-US" sz="1400" b="1" dirty="0">
                <a:solidFill>
                  <a:srgbClr val="7C2D12"/>
                </a:solidFill>
                <a:latin typeface="Yu Gothic" pitchFamily="34" charset="0"/>
                <a:ea typeface="Yu Gothic" pitchFamily="34" charset="-122"/>
                <a:cs typeface="Yu Gothic" pitchFamily="34" charset="-120"/>
              </a:rPr>
              <a:t>書籍情報（検索結果で確認）</a:t>
            </a:r>
            <a:endParaRPr lang="ja-JP" sz="1400" dirty="0"/>
          </a:p>
        </p:txBody>
      </p:sp>
      <p:sp>
        <p:nvSpPr>
          <p:cNvPr id="4" name="Text 2"/>
          <p:cNvSpPr txBox="1"/>
          <p:nvPr/>
        </p:nvSpPr>
        <p:spPr>
          <a:xfrm>
            <a:off x="7068007"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ネットワークを調べるコマンドと、実際のパケットの見方</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学んだヘッダーや層は、コマンドとパケットキャプチャで実際に観察できます。自分の環境だけで行い、他人のネットワークに試してはいけません。</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出典：[K02] [K03]</a:t>
            </a:r>
            <a:endParaRPr lang="ja-JP"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3291840"/>
                <a:gridCol w="4572000"/>
                <a:gridCol w="341071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コマンド（Linux）</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見えるもの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Windows</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ip addr</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IPアドレス・MAC</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ipconfig /all</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ip route</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経路・出口</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route print</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ping</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到達性・往復時間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ping</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traceroute</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途中の経路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tracert</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ss -tuln</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待ち受けポート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netstat -an</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dig</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DNSの応答</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nslookup</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curl -I</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HTTP応答ヘッダー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（curlも利用可）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hape 6"/>
          <p:cNvSpPr/>
          <p:nvPr/>
        </p:nvSpPr>
        <p:spPr>
          <a:xfrm>
            <a:off x="457200" y="5806440"/>
            <a:ext cx="11274552" cy="502920"/>
          </a:xfrm>
          <a:prstGeom prst="roundRect">
            <a:avLst>
              <a:gd name="adj" fmla="val 21818"/>
            </a:avLst>
          </a:prstGeom>
          <a:solidFill>
            <a:srgbClr val="DDF1E4"/>
          </a:solidFill>
          <a:ln w="19050">
            <a:solidFill>
              <a:srgbClr val="237A48"/>
            </a:solidFill>
            <a:prstDash val="solid"/>
          </a:ln>
        </p:spPr>
      </p:sp>
      <p:sp>
        <p:nvSpPr>
          <p:cNvPr id="11" name="Shape 7"/>
          <p:cNvSpPr/>
          <p:nvPr/>
        </p:nvSpPr>
        <p:spPr>
          <a:xfrm>
            <a:off x="594360" y="5897880"/>
            <a:ext cx="320040" cy="320040"/>
          </a:xfrm>
          <a:prstGeom prst="ellipse">
            <a:avLst/>
          </a:prstGeom>
          <a:solidFill>
            <a:srgbClr val="237A48"/>
          </a:solidFill>
          <a:ln/>
        </p:spPr>
      </p:sp>
      <p:pic>
        <p:nvPicPr>
          <p:cNvPr id="12" name="Image 0" descr="preencoded.png">    </p:cNvPr>
          <p:cNvPicPr>
            <a:picLocks noChangeAspect="1"/>
          </p:cNvPicPr>
          <p:nvPr/>
        </p:nvPicPr>
        <p:blipFill>
          <a:blip r:embed="rId1"/>
          <a:stretch>
            <a:fillRect/>
          </a:stretch>
        </p:blipFill>
        <p:spPr>
          <a:xfrm>
            <a:off x="664769" y="5968289"/>
            <a:ext cx="179222" cy="179222"/>
          </a:xfrm>
          <a:prstGeom prst="rect">
            <a:avLst/>
          </a:prstGeom>
        </p:spPr>
      </p:pic>
      <p:sp>
        <p:nvSpPr>
          <p:cNvPr id="13" name="Text 8"/>
          <p:cNvSpPr txBox="1"/>
          <p:nvPr/>
        </p:nvSpPr>
        <p:spPr>
          <a:xfrm>
            <a:off x="1051560" y="5852160"/>
            <a:ext cx="10543032" cy="4114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Wiresharkで、フレーム→IP→TCPの順にヘッダーを開いて確かめる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ネットワーク</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8490407"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通信の章の用語は、どの層の仕事かを整理する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DHCP・DNS・NAT・TLSなど第1部で出てきた用語を、OSI参照モデルの層に置き直します。層が分かると、不具合の切り分け先も見えてきます。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出典：[R01]</a:t>
            </a:r>
            <a:endParaRPr lang="ja-JP"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3749040"/>
                <a:gridCol w="3017520"/>
                <a:gridCol w="450799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仕組み</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主な層</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働き</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64008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DHCP・DNS・NTP・HTTP</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第7層（アプリ）</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設定の配布・名前解決・時刻・Web</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TLS</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1E4"/>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第5〜6層あたり</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相手の確認と暗号化</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640080">
                <a:tc>
                  <a:txBody>
                    <a:bodyPr/>
                    <a:lstStyle/>
                    <a:p>
                      <a:pPr algn="l"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TCP・UDP・QUIC</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9F2F1"/>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第4層</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届け方の約束・ポート</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40080">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NAT・ICMP・IP</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第3層</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住所・経路・疎通確認</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640080">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ARP・Ethernet・Wi-Fi</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第2層</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隣の機器へ（MAC）</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hape 6"/>
          <p:cNvSpPr/>
          <p:nvPr/>
        </p:nvSpPr>
        <p:spPr>
          <a:xfrm>
            <a:off x="457200" y="5623560"/>
            <a:ext cx="11274552" cy="685800"/>
          </a:xfrm>
          <a:prstGeom prst="roundRect">
            <a:avLst>
              <a:gd name="adj" fmla="val 16000"/>
            </a:avLst>
          </a:prstGeom>
          <a:solidFill>
            <a:srgbClr val="DCE8F8"/>
          </a:solidFill>
          <a:ln w="19050">
            <a:solidFill>
              <a:srgbClr val="2F6BC2"/>
            </a:solidFill>
            <a:prstDash val="solid"/>
          </a:ln>
        </p:spPr>
      </p:sp>
      <p:sp>
        <p:nvSpPr>
          <p:cNvPr id="11" name="Shape 7"/>
          <p:cNvSpPr/>
          <p:nvPr/>
        </p:nvSpPr>
        <p:spPr>
          <a:xfrm>
            <a:off x="594360" y="5737860"/>
            <a:ext cx="457200" cy="457200"/>
          </a:xfrm>
          <a:prstGeom prst="ellipse">
            <a:avLst/>
          </a:prstGeom>
          <a:solidFill>
            <a:srgbClr val="2F6BC2"/>
          </a:solidFill>
          <a:ln/>
        </p:spPr>
      </p:sp>
      <p:pic>
        <p:nvPicPr>
          <p:cNvPr id="12" name="Image 0" descr="preencoded.png">    </p:cNvPr>
          <p:cNvPicPr>
            <a:picLocks noChangeAspect="1"/>
          </p:cNvPicPr>
          <p:nvPr/>
        </p:nvPicPr>
        <p:blipFill>
          <a:blip r:embed="rId1"/>
          <a:stretch>
            <a:fillRect/>
          </a:stretch>
        </p:blipFill>
        <p:spPr>
          <a:xfrm>
            <a:off x="694944" y="5838444"/>
            <a:ext cx="256032" cy="256032"/>
          </a:xfrm>
          <a:prstGeom prst="rect">
            <a:avLst/>
          </a:prstGeom>
        </p:spPr>
      </p:pic>
      <p:sp>
        <p:nvSpPr>
          <p:cNvPr id="13" name="Text 8"/>
          <p:cNvSpPr txBox="1"/>
          <p:nvPr/>
        </p:nvSpPr>
        <p:spPr>
          <a:xfrm>
            <a:off x="1188720" y="5669280"/>
            <a:ext cx="10405872" cy="59436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不具合のとき「どの層までは正常か」を確認すると、原因を絞れる（障害切り分けとつながる）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5244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OS・Linux</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7626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OSの役割：ハードとアプリの間で資源を管理する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OSは、CPU・メモリ・記憶装置・通信機器などの資源を管理し、アプリが使いやすい形で提供するソフトです。ブログは、構成要素と役割を学ぶことを勧めています。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[K03]</a:t>
            </a:r>
            <a:endParaRPr lang="ja-JP" sz="1200" dirty="0"/>
          </a:p>
        </p:txBody>
      </p:sp>
      <p:sp>
        <p:nvSpPr>
          <p:cNvPr id="9" name="Shape 6"/>
          <p:cNvSpPr/>
          <p:nvPr/>
        </p:nvSpPr>
        <p:spPr>
          <a:xfrm>
            <a:off x="457200" y="1783080"/>
            <a:ext cx="4480560" cy="868680"/>
          </a:xfrm>
          <a:prstGeom prst="roundRect">
            <a:avLst>
              <a:gd name="adj" fmla="val 12632"/>
            </a:avLst>
          </a:prstGeom>
          <a:solidFill>
            <a:srgbClr val="D9F2F1"/>
          </a:solidFill>
          <a:ln w="25400">
            <a:solidFill>
              <a:srgbClr val="0B7A7A"/>
            </a:solidFill>
            <a:prstDash val="solid"/>
          </a:ln>
        </p:spPr>
      </p:sp>
      <p:sp>
        <p:nvSpPr>
          <p:cNvPr id="10" name="Shape 7"/>
          <p:cNvSpPr/>
          <p:nvPr/>
        </p:nvSpPr>
        <p:spPr>
          <a:xfrm>
            <a:off x="585216" y="1943100"/>
            <a:ext cx="548640" cy="548640"/>
          </a:xfrm>
          <a:prstGeom prst="ellipse">
            <a:avLst/>
          </a:prstGeom>
          <a:solidFill>
            <a:srgbClr val="0B7A7A"/>
          </a:solidFill>
          <a:ln/>
        </p:spPr>
      </p:sp>
      <p:pic>
        <p:nvPicPr>
          <p:cNvPr id="11" name="Image 0" descr="preencoded.png">    </p:cNvPr>
          <p:cNvPicPr>
            <a:picLocks noChangeAspect="1"/>
          </p:cNvPicPr>
          <p:nvPr/>
        </p:nvPicPr>
        <p:blipFill>
          <a:blip r:embed="rId1"/>
          <a:stretch>
            <a:fillRect/>
          </a:stretch>
        </p:blipFill>
        <p:spPr>
          <a:xfrm>
            <a:off x="705917" y="2063801"/>
            <a:ext cx="307238" cy="307238"/>
          </a:xfrm>
          <a:prstGeom prst="rect">
            <a:avLst/>
          </a:prstGeom>
        </p:spPr>
      </p:pic>
      <p:sp>
        <p:nvSpPr>
          <p:cNvPr id="12" name="Text 8"/>
          <p:cNvSpPr txBox="1"/>
          <p:nvPr/>
        </p:nvSpPr>
        <p:spPr>
          <a:xfrm>
            <a:off x="1225296" y="1783080"/>
            <a:ext cx="3621024" cy="86868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利用者</a:t>
            </a:r>
            <a:endParaRPr lang="en-US" sz="2000" dirty="0"/>
          </a:p>
        </p:txBody>
      </p:sp>
      <p:sp>
        <p:nvSpPr>
          <p:cNvPr id="13" name="Shape 9"/>
          <p:cNvSpPr/>
          <p:nvPr/>
        </p:nvSpPr>
        <p:spPr>
          <a:xfrm>
            <a:off x="2697480" y="2651760"/>
            <a:ext cx="0" cy="246888"/>
          </a:xfrm>
          <a:prstGeom prst="line">
            <a:avLst/>
          </a:prstGeom>
          <a:noFill/>
          <a:ln w="31750">
            <a:solidFill>
              <a:srgbClr val="1B2A3A"/>
            </a:solidFill>
            <a:prstDash val="solid"/>
            <a:headEnd type="triangle"/>
            <a:tailEnd type="triangle"/>
          </a:ln>
        </p:spPr>
      </p:sp>
      <p:sp>
        <p:nvSpPr>
          <p:cNvPr id="14" name="Shape 10"/>
          <p:cNvSpPr/>
          <p:nvPr/>
        </p:nvSpPr>
        <p:spPr>
          <a:xfrm>
            <a:off x="457200" y="2898648"/>
            <a:ext cx="4480560" cy="868680"/>
          </a:xfrm>
          <a:prstGeom prst="roundRect">
            <a:avLst>
              <a:gd name="adj" fmla="val 12632"/>
            </a:avLst>
          </a:prstGeom>
          <a:solidFill>
            <a:srgbClr val="E6E1F7"/>
          </a:solidFill>
          <a:ln w="25400">
            <a:solidFill>
              <a:srgbClr val="5B46B8"/>
            </a:solidFill>
            <a:prstDash val="solid"/>
          </a:ln>
        </p:spPr>
      </p:sp>
      <p:sp>
        <p:nvSpPr>
          <p:cNvPr id="15" name="Shape 11"/>
          <p:cNvSpPr/>
          <p:nvPr/>
        </p:nvSpPr>
        <p:spPr>
          <a:xfrm>
            <a:off x="585216" y="3058668"/>
            <a:ext cx="548640" cy="548640"/>
          </a:xfrm>
          <a:prstGeom prst="ellipse">
            <a:avLst/>
          </a:prstGeom>
          <a:solidFill>
            <a:srgbClr val="5B46B8"/>
          </a:solidFill>
          <a:ln/>
        </p:spPr>
      </p:sp>
      <p:pic>
        <p:nvPicPr>
          <p:cNvPr id="16" name="Image 1" descr="preencoded.png">    </p:cNvPr>
          <p:cNvPicPr>
            <a:picLocks noChangeAspect="1"/>
          </p:cNvPicPr>
          <p:nvPr/>
        </p:nvPicPr>
        <p:blipFill>
          <a:blip r:embed="rId2"/>
          <a:stretch>
            <a:fillRect/>
          </a:stretch>
        </p:blipFill>
        <p:spPr>
          <a:xfrm>
            <a:off x="705917" y="3179369"/>
            <a:ext cx="307238" cy="307238"/>
          </a:xfrm>
          <a:prstGeom prst="rect">
            <a:avLst/>
          </a:prstGeom>
        </p:spPr>
      </p:pic>
      <p:sp>
        <p:nvSpPr>
          <p:cNvPr id="17" name="Text 12"/>
          <p:cNvSpPr txBox="1"/>
          <p:nvPr/>
        </p:nvSpPr>
        <p:spPr>
          <a:xfrm>
            <a:off x="1225296" y="2898648"/>
            <a:ext cx="3621024" cy="86868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アプリ・シェル</a:t>
            </a:r>
            <a:endParaRPr lang="en-US" sz="2000" dirty="0"/>
          </a:p>
        </p:txBody>
      </p:sp>
      <p:sp>
        <p:nvSpPr>
          <p:cNvPr id="18" name="Shape 13"/>
          <p:cNvSpPr/>
          <p:nvPr/>
        </p:nvSpPr>
        <p:spPr>
          <a:xfrm>
            <a:off x="2697480" y="3767328"/>
            <a:ext cx="0" cy="246888"/>
          </a:xfrm>
          <a:prstGeom prst="line">
            <a:avLst/>
          </a:prstGeom>
          <a:noFill/>
          <a:ln w="31750">
            <a:solidFill>
              <a:srgbClr val="1B2A3A"/>
            </a:solidFill>
            <a:prstDash val="solid"/>
            <a:headEnd type="triangle"/>
            <a:tailEnd type="triangle"/>
          </a:ln>
        </p:spPr>
      </p:sp>
      <p:sp>
        <p:nvSpPr>
          <p:cNvPr id="19" name="Shape 14"/>
          <p:cNvSpPr/>
          <p:nvPr/>
        </p:nvSpPr>
        <p:spPr>
          <a:xfrm>
            <a:off x="457200" y="4014216"/>
            <a:ext cx="4480560" cy="868680"/>
          </a:xfrm>
          <a:prstGeom prst="roundRect">
            <a:avLst>
              <a:gd name="adj" fmla="val 12632"/>
            </a:avLst>
          </a:prstGeom>
          <a:solidFill>
            <a:srgbClr val="5B46B8"/>
          </a:solidFill>
          <a:ln/>
        </p:spPr>
      </p:sp>
      <p:sp>
        <p:nvSpPr>
          <p:cNvPr id="20" name="Shape 15"/>
          <p:cNvSpPr/>
          <p:nvPr/>
        </p:nvSpPr>
        <p:spPr>
          <a:xfrm>
            <a:off x="585216" y="4174236"/>
            <a:ext cx="548640" cy="548640"/>
          </a:xfrm>
          <a:prstGeom prst="ellipse">
            <a:avLst/>
          </a:prstGeom>
          <a:solidFill>
            <a:srgbClr val="FFFFFF"/>
          </a:solidFill>
          <a:ln/>
        </p:spPr>
      </p:sp>
      <p:pic>
        <p:nvPicPr>
          <p:cNvPr id="21" name="Image 2" descr="preencoded.png">    </p:cNvPr>
          <p:cNvPicPr>
            <a:picLocks noChangeAspect="1"/>
          </p:cNvPicPr>
          <p:nvPr/>
        </p:nvPicPr>
        <p:blipFill>
          <a:blip r:embed="rId3"/>
          <a:stretch>
            <a:fillRect/>
          </a:stretch>
        </p:blipFill>
        <p:spPr>
          <a:xfrm>
            <a:off x="705917" y="4294937"/>
            <a:ext cx="307238" cy="307238"/>
          </a:xfrm>
          <a:prstGeom prst="rect">
            <a:avLst/>
          </a:prstGeom>
        </p:spPr>
      </p:pic>
      <p:sp>
        <p:nvSpPr>
          <p:cNvPr id="22" name="Text 16"/>
          <p:cNvSpPr txBox="1"/>
          <p:nvPr/>
        </p:nvSpPr>
        <p:spPr>
          <a:xfrm>
            <a:off x="1225296" y="4014216"/>
            <a:ext cx="3621024" cy="86868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カーネル（OSの中心）</a:t>
            </a:r>
            <a:endParaRPr lang="en-US" sz="2000" dirty="0"/>
          </a:p>
        </p:txBody>
      </p:sp>
      <p:sp>
        <p:nvSpPr>
          <p:cNvPr id="23" name="Shape 17"/>
          <p:cNvSpPr/>
          <p:nvPr/>
        </p:nvSpPr>
        <p:spPr>
          <a:xfrm>
            <a:off x="2697480" y="4882896"/>
            <a:ext cx="0" cy="246888"/>
          </a:xfrm>
          <a:prstGeom prst="line">
            <a:avLst/>
          </a:prstGeom>
          <a:noFill/>
          <a:ln w="31750">
            <a:solidFill>
              <a:srgbClr val="1B2A3A"/>
            </a:solidFill>
            <a:prstDash val="solid"/>
            <a:headEnd type="triangle"/>
            <a:tailEnd type="triangle"/>
          </a:ln>
        </p:spPr>
      </p:sp>
      <p:sp>
        <p:nvSpPr>
          <p:cNvPr id="24" name="Shape 18"/>
          <p:cNvSpPr/>
          <p:nvPr/>
        </p:nvSpPr>
        <p:spPr>
          <a:xfrm>
            <a:off x="457200" y="5129784"/>
            <a:ext cx="4480560" cy="868680"/>
          </a:xfrm>
          <a:prstGeom prst="roundRect">
            <a:avLst>
              <a:gd name="adj" fmla="val 12632"/>
            </a:avLst>
          </a:prstGeom>
          <a:solidFill>
            <a:srgbClr val="E2E8F0"/>
          </a:solidFill>
          <a:ln w="25400">
            <a:solidFill>
              <a:srgbClr val="475569"/>
            </a:solidFill>
            <a:prstDash val="solid"/>
          </a:ln>
        </p:spPr>
      </p:sp>
      <p:sp>
        <p:nvSpPr>
          <p:cNvPr id="25" name="Shape 19"/>
          <p:cNvSpPr/>
          <p:nvPr/>
        </p:nvSpPr>
        <p:spPr>
          <a:xfrm>
            <a:off x="585216" y="5289804"/>
            <a:ext cx="548640" cy="548640"/>
          </a:xfrm>
          <a:prstGeom prst="ellipse">
            <a:avLst/>
          </a:prstGeom>
          <a:solidFill>
            <a:srgbClr val="475569"/>
          </a:solidFill>
          <a:ln/>
        </p:spPr>
      </p:sp>
      <p:pic>
        <p:nvPicPr>
          <p:cNvPr id="26" name="Image 3" descr="preencoded.png">    </p:cNvPr>
          <p:cNvPicPr>
            <a:picLocks noChangeAspect="1"/>
          </p:cNvPicPr>
          <p:nvPr/>
        </p:nvPicPr>
        <p:blipFill>
          <a:blip r:embed="rId4"/>
          <a:stretch>
            <a:fillRect/>
          </a:stretch>
        </p:blipFill>
        <p:spPr>
          <a:xfrm>
            <a:off x="705917" y="5410505"/>
            <a:ext cx="307238" cy="307238"/>
          </a:xfrm>
          <a:prstGeom prst="rect">
            <a:avLst/>
          </a:prstGeom>
        </p:spPr>
      </p:pic>
      <p:sp>
        <p:nvSpPr>
          <p:cNvPr id="27" name="Text 20"/>
          <p:cNvSpPr txBox="1"/>
          <p:nvPr/>
        </p:nvSpPr>
        <p:spPr>
          <a:xfrm>
            <a:off x="1225296" y="5129784"/>
            <a:ext cx="3621024" cy="86868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ハードウェア</a:t>
            </a:r>
            <a:endParaRPr lang="en-US" sz="2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212080" y="1783080"/>
          <a:ext cx="6519672" cy="914400"/>
        </p:xfrm>
        <a:graphic>
          <a:graphicData uri="http://schemas.openxmlformats.org/drawingml/2006/table">
            <a:tbl>
              <a:tblPr/>
              <a:tblGrid>
                <a:gridCol w="2286000"/>
                <a:gridCol w="423367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カーネルの仕事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やっていること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705104">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プロセス管理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実行中のプログラムにCPU時間を割り当てる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5104">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メモリ管理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メモリを割り当て、足りない分はディスクで補う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705104">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ファイル管理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データをファイル・ディレクトリで保存</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デバイス管理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ディスクや通信機器をドライバで使う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685800">
                <a:tc>
                  <a:txBody>
                    <a:bodyPr/>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権限管理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1E4"/>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誰が何をしてよいかを決める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5244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OS・Linux</a:t>
            </a:r>
            <a:endParaRPr lang="ja-JP" sz="1400" dirty="0"/>
          </a:p>
        </p:txBody>
      </p:sp>
      <p:sp>
        <p:nvSpPr>
          <p:cNvPr id="3" name="Text 1"/>
          <p:cNvSpPr txBox="1"/>
          <p:nvPr/>
        </p:nvSpPr>
        <p:spPr>
          <a:xfrm>
            <a:off x="9011615" y="237744"/>
            <a:ext cx="2722880" cy="310896"/>
          </a:xfrm>
          <a:prstGeom prst="roundRect">
            <a:avLst>
              <a:gd name="adj" fmla="val 50000"/>
            </a:avLst>
          </a:prstGeom>
          <a:solidFill>
            <a:srgbClr val="FDEBD0"/>
          </a:solidFill>
          <a:ln w="9525">
            <a:solidFill>
              <a:srgbClr val="7C2D12"/>
            </a:solidFill>
          </a:ln>
        </p:spPr>
        <p:txBody>
          <a:bodyPr wrap="square" lIns="0" tIns="0" rIns="0" bIns="0" rtlCol="0" anchor="ctr"/>
          <a:lstStyle/>
          <a:p>
            <a:pPr algn="ctr" indent="0" marL="0">
              <a:buNone/>
            </a:pPr>
            <a:r>
              <a:rPr lang="ja-JP" altLang="en-US" sz="1400" b="1" dirty="0">
                <a:solidFill>
                  <a:srgbClr val="7C2D12"/>
                </a:solidFill>
                <a:latin typeface="Yu Gothic" pitchFamily="34" charset="0"/>
                <a:ea typeface="Yu Gothic" pitchFamily="34" charset="-122"/>
                <a:cs typeface="Yu Gothic" pitchFamily="34" charset="-120"/>
              </a:rPr>
              <a:t>書籍情報（検索結果で確認）</a:t>
            </a:r>
            <a:endParaRPr lang="ja-JP" sz="1400" dirty="0"/>
          </a:p>
        </p:txBody>
      </p:sp>
      <p:sp>
        <p:nvSpPr>
          <p:cNvPr id="4" name="Text 2"/>
          <p:cNvSpPr txBox="1"/>
          <p:nvPr/>
        </p:nvSpPr>
        <p:spPr>
          <a:xfrm>
            <a:off x="7068007"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Linuxのディレクトリ構成：どこに何があるか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Linuxは「/（ルート）」を頂点に、1本の木のようにファイルを置きます。設定は/etc、ログは/var/log、利用者のファイルは/home、と場所の意味が決まっています。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出典：[K03]</a:t>
            </a:r>
            <a:endParaRPr lang="ja-JP"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3291840"/>
                <a:gridCol w="798271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ディレクトリ</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置かれるもの</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38912">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/bin  /sbin</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基本コマンド（sbinは管理者向け）</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/etc</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設定ファイル</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38912">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/home</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一般ユーザーのホーム</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/root</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管理者（root）のホーム</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38912">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/var</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ログ・キャッシュなど変わるデータ</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/tmp</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一時ファイル</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38912">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/usr</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アプリ・ライブラリ</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38912">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/dev</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機器を表す特殊ファイル</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38912">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/proc</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カーネル・プロセスの情報</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5244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OS・Linux</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7626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基本コマンド①：移動・作る・コピー・消す</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コマンドはシェルに打ち込む命令です。まず「今どこにいるか」「何があるか」「移動する」「作る・写す・消す」の8つを使えるようにします。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[K03]</a:t>
            </a:r>
            <a:endParaRPr lang="ja-JP"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4572000"/>
                <a:gridCol w="432511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コマンド</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意味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75488">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pwd</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今いる場所を表示</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pwd</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ls -l</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一覧を詳しく表示</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ls -l /etc</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cd</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場所を移動</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cd ~</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mkdir</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ディレクトリを作る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mkdir work</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touch</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空のファイルを作る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touch a.txt</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cp</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コピー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cp a.txt b.txt</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mv</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移動・名前変更</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mv b.txt c.txt</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dirty="0">
                          <a:solidFill>
                            <a:srgbClr val="C0392B"/>
                          </a:solidFill>
                          <a:latin typeface="Courier New" pitchFamily="34" charset="0"/>
                          <a:ea typeface="Courier New" pitchFamily="34" charset="-122"/>
                          <a:cs typeface="Courier New" pitchFamily="34" charset="-120"/>
                        </a:rPr>
                        <a:t>rm</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3E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削除（戻せない）</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rm c.txt</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5244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OS・Linux</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7626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コマンド②：見る・探す・つなぐ（パイプとリダイレクト）</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コマンドの結果を「次のコマンドへ渡す（パイプ |）」「ファイルへ保存する（リダイレクト &gt;）」ができると、小さな道具を組み合わせて作業できます。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[K03]</a:t>
            </a:r>
            <a:endParaRPr lang="ja-JP"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6492240" cy="914400"/>
        </p:xfrm>
        <a:graphic>
          <a:graphicData uri="http://schemas.openxmlformats.org/drawingml/2006/table">
            <a:tbl>
              <a:tblPr/>
              <a:tblGrid>
                <a:gridCol w="3108960"/>
                <a:gridCol w="3383280"/>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コマンド</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意味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502920">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cat / less</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中身を表示</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head / tail -f</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先頭／末尾（追跡）</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02920">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grep word f</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語を含む行を探す</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find . -name a*</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ファイルを探す</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02920">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sort / wc -l</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並べ替え／行数</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hape 6"/>
          <p:cNvSpPr/>
          <p:nvPr/>
        </p:nvSpPr>
        <p:spPr>
          <a:xfrm>
            <a:off x="7223760" y="1783080"/>
            <a:ext cx="4507992" cy="822960"/>
          </a:xfrm>
          <a:prstGeom prst="roundRect">
            <a:avLst>
              <a:gd name="adj" fmla="val 13333"/>
            </a:avLst>
          </a:prstGeom>
          <a:solidFill>
            <a:srgbClr val="D9F2F1"/>
          </a:solidFill>
          <a:ln w="25400">
            <a:solidFill>
              <a:srgbClr val="0B7A7A"/>
            </a:solidFill>
            <a:prstDash val="solid"/>
          </a:ln>
        </p:spPr>
      </p:sp>
      <p:sp>
        <p:nvSpPr>
          <p:cNvPr id="11" name="Text 7"/>
          <p:cNvSpPr txBox="1"/>
          <p:nvPr/>
        </p:nvSpPr>
        <p:spPr>
          <a:xfrm>
            <a:off x="7315200" y="1783080"/>
            <a:ext cx="4325112" cy="82296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0 標準入力</a:t>
            </a:r>
            <a:endParaRPr lang="en-US" sz="18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キーボード</a:t>
            </a:r>
            <a:endParaRPr lang="en-US" sz="1800" dirty="0"/>
          </a:p>
        </p:txBody>
      </p:sp>
      <p:sp>
        <p:nvSpPr>
          <p:cNvPr id="12" name="Shape 8"/>
          <p:cNvSpPr/>
          <p:nvPr/>
        </p:nvSpPr>
        <p:spPr>
          <a:xfrm>
            <a:off x="7223760" y="2715768"/>
            <a:ext cx="4507992" cy="822960"/>
          </a:xfrm>
          <a:prstGeom prst="roundRect">
            <a:avLst>
              <a:gd name="adj" fmla="val 13333"/>
            </a:avLst>
          </a:prstGeom>
          <a:solidFill>
            <a:srgbClr val="DCE8F8"/>
          </a:solidFill>
          <a:ln w="25400">
            <a:solidFill>
              <a:srgbClr val="2F6BC2"/>
            </a:solidFill>
            <a:prstDash val="solid"/>
          </a:ln>
        </p:spPr>
      </p:sp>
      <p:sp>
        <p:nvSpPr>
          <p:cNvPr id="13" name="Text 9"/>
          <p:cNvSpPr txBox="1"/>
          <p:nvPr/>
        </p:nvSpPr>
        <p:spPr>
          <a:xfrm>
            <a:off x="7315200" y="2715768"/>
            <a:ext cx="4325112" cy="82296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 標準出力</a:t>
            </a:r>
            <a:endParaRPr lang="en-US" sz="18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画面</a:t>
            </a:r>
            <a:endParaRPr lang="en-US" sz="1800" dirty="0"/>
          </a:p>
        </p:txBody>
      </p:sp>
      <p:sp>
        <p:nvSpPr>
          <p:cNvPr id="14" name="Shape 10"/>
          <p:cNvSpPr/>
          <p:nvPr/>
        </p:nvSpPr>
        <p:spPr>
          <a:xfrm>
            <a:off x="7223760" y="3648456"/>
            <a:ext cx="4507992" cy="822960"/>
          </a:xfrm>
          <a:prstGeom prst="roundRect">
            <a:avLst>
              <a:gd name="adj" fmla="val 13333"/>
            </a:avLst>
          </a:prstGeom>
          <a:solidFill>
            <a:srgbClr val="FBE3E0"/>
          </a:solidFill>
          <a:ln w="25400">
            <a:solidFill>
              <a:srgbClr val="C0392B"/>
            </a:solidFill>
            <a:prstDash val="solid"/>
          </a:ln>
        </p:spPr>
      </p:sp>
      <p:sp>
        <p:nvSpPr>
          <p:cNvPr id="15" name="Text 11"/>
          <p:cNvSpPr txBox="1"/>
          <p:nvPr/>
        </p:nvSpPr>
        <p:spPr>
          <a:xfrm>
            <a:off x="7315200" y="3648456"/>
            <a:ext cx="4325112" cy="82296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2 標準エラー</a:t>
            </a:r>
            <a:endParaRPr lang="en-US" sz="1800" dirty="0"/>
          </a:p>
          <a:p>
            <a:pPr algn="l" indent="0" marL="0">
              <a:lnSpc>
                <a:spcPts val="2400"/>
              </a:lnSpc>
              <a:buNone/>
            </a:pPr>
            <a:r>
              <a:rPr lang="ja-JP" altLang="en-US" sz="1800" dirty="0">
                <a:solidFill>
                  <a:srgbClr val="5B6B7B"/>
                </a:solidFill>
                <a:latin typeface="Yu Gothic" pitchFamily="34" charset="0"/>
                <a:ea typeface="Yu Gothic" pitchFamily="34" charset="-122"/>
                <a:cs typeface="Yu Gothic" pitchFamily="34" charset="-120"/>
              </a:rPr>
              <a:t>画面（エラー）</a:t>
            </a:r>
            <a:endParaRPr lang="en-US" sz="1800" dirty="0"/>
          </a:p>
        </p:txBody>
      </p:sp>
      <p:sp>
        <p:nvSpPr>
          <p:cNvPr id="16" name="Shape 12"/>
          <p:cNvSpPr/>
          <p:nvPr/>
        </p:nvSpPr>
        <p:spPr>
          <a:xfrm>
            <a:off x="457200" y="4892040"/>
            <a:ext cx="11274552" cy="891540"/>
          </a:xfrm>
          <a:prstGeom prst="roundRect">
            <a:avLst>
              <a:gd name="adj" fmla="val 12308"/>
            </a:avLst>
          </a:prstGeom>
          <a:solidFill>
            <a:srgbClr val="0F2438"/>
          </a:solidFill>
          <a:ln/>
        </p:spPr>
      </p:sp>
      <p:sp>
        <p:nvSpPr>
          <p:cNvPr id="17" name="Text 13"/>
          <p:cNvSpPr txBox="1"/>
          <p:nvPr/>
        </p:nvSpPr>
        <p:spPr>
          <a:xfrm>
            <a:off x="640080" y="5001768"/>
            <a:ext cx="10908792" cy="672084"/>
          </a:xfrm>
          <a:prstGeom prst="rect">
            <a:avLst/>
          </a:prstGeom>
          <a:noFill/>
          <a:ln/>
        </p:spPr>
        <p:txBody>
          <a:bodyPr wrap="square" lIns="0" tIns="0" rIns="0" bIns="0" rtlCol="0" anchor="t"/>
          <a:lstStyle/>
          <a:p>
            <a:pPr indent="0" marL="0">
              <a:lnSpc>
                <a:spcPts val="2400"/>
              </a:lnSpc>
              <a:buNone/>
            </a:pPr>
            <a:r>
              <a:rPr lang="en-US" altLang="en-US" sz="1800" dirty="0">
                <a:solidFill>
                  <a:srgbClr val="9FB6D1"/>
                </a:solidFill>
                <a:latin typeface="Courier New" pitchFamily="34" charset="0"/>
                <a:ea typeface="Courier New" pitchFamily="34" charset="-122"/>
                <a:cs typeface="Courier New" pitchFamily="34" charset="-120"/>
              </a:rPr>
              <a:t># list | pick lines | count them &gt; save</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ls -l | grep ".txt" | wc -l &gt; result.txt</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5244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OS・Linux</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7626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ユーザーと権限：rwxと数字の読み方</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Linuxは、ファイルごとに「所有者・グループ・その他」の3者へ、読む(r)・書く(w)・実行する(x)の許可を決めます。数字では、r=4・w=2・x=1の合計で表します。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[K03]</a:t>
            </a:r>
            <a:endParaRPr lang="ja-JP" sz="1200" dirty="0"/>
          </a:p>
        </p:txBody>
      </p:sp>
      <p:sp>
        <p:nvSpPr>
          <p:cNvPr id="9" name="Shape 6"/>
          <p:cNvSpPr/>
          <p:nvPr/>
        </p:nvSpPr>
        <p:spPr>
          <a:xfrm>
            <a:off x="457200" y="1783080"/>
            <a:ext cx="2697480" cy="1325880"/>
          </a:xfrm>
          <a:prstGeom prst="roundRect">
            <a:avLst>
              <a:gd name="adj" fmla="val 8276"/>
            </a:avLst>
          </a:prstGeom>
          <a:solidFill>
            <a:srgbClr val="475569"/>
          </a:solidFill>
          <a:ln/>
        </p:spPr>
      </p:sp>
      <p:sp>
        <p:nvSpPr>
          <p:cNvPr id="10" name="Text 7"/>
          <p:cNvSpPr txBox="1"/>
          <p:nvPr/>
        </p:nvSpPr>
        <p:spPr>
          <a:xfrm>
            <a:off x="548640" y="1783080"/>
            <a:ext cx="2514600" cy="1325880"/>
          </a:xfrm>
          <a:prstGeom prst="rect">
            <a:avLst/>
          </a:prstGeom>
          <a:noFill/>
          <a:ln/>
        </p:spPr>
        <p:txBody>
          <a:bodyPr wrap="square" lIns="0" tIns="0" rIns="0" bIns="0" rtlCol="0" anchor="ctr"/>
          <a:lstStyle/>
          <a:p>
            <a:pPr algn="ctr" indent="0" marL="0">
              <a:lnSpc>
                <a:spcPts val="3700"/>
              </a:lnSpc>
              <a:buNone/>
            </a:pPr>
            <a:r>
              <a:rPr lang="ja-JP" altLang="en-US" sz="2800" b="1" dirty="0">
                <a:solidFill>
                  <a:srgbClr val="FFFFFF"/>
                </a:solidFill>
                <a:latin typeface="Yu Gothic" pitchFamily="34" charset="0"/>
                <a:ea typeface="Yu Gothic" pitchFamily="34" charset="-122"/>
                <a:cs typeface="Yu Gothic" pitchFamily="34" charset="-120"/>
              </a:rPr>
              <a:t>-</a:t>
            </a:r>
            <a:endParaRPr lang="en-US" sz="2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ファイルの種類</a:t>
            </a:r>
            <a:endParaRPr lang="en-US" sz="2800" dirty="0"/>
          </a:p>
        </p:txBody>
      </p:sp>
      <p:sp>
        <p:nvSpPr>
          <p:cNvPr id="11" name="Shape 8"/>
          <p:cNvSpPr/>
          <p:nvPr/>
        </p:nvSpPr>
        <p:spPr>
          <a:xfrm>
            <a:off x="3328416" y="1783080"/>
            <a:ext cx="2697480" cy="1325880"/>
          </a:xfrm>
          <a:prstGeom prst="roundRect">
            <a:avLst>
              <a:gd name="adj" fmla="val 8276"/>
            </a:avLst>
          </a:prstGeom>
          <a:solidFill>
            <a:srgbClr val="0B7A7A"/>
          </a:solidFill>
          <a:ln/>
        </p:spPr>
      </p:sp>
      <p:sp>
        <p:nvSpPr>
          <p:cNvPr id="12" name="Text 9"/>
          <p:cNvSpPr txBox="1"/>
          <p:nvPr/>
        </p:nvSpPr>
        <p:spPr>
          <a:xfrm>
            <a:off x="3419856" y="1783080"/>
            <a:ext cx="2514600" cy="1325880"/>
          </a:xfrm>
          <a:prstGeom prst="rect">
            <a:avLst/>
          </a:prstGeom>
          <a:noFill/>
          <a:ln/>
        </p:spPr>
        <p:txBody>
          <a:bodyPr wrap="square" lIns="0" tIns="0" rIns="0" bIns="0" rtlCol="0" anchor="ctr"/>
          <a:lstStyle/>
          <a:p>
            <a:pPr algn="ctr" indent="0" marL="0">
              <a:lnSpc>
                <a:spcPts val="3700"/>
              </a:lnSpc>
              <a:buNone/>
            </a:pPr>
            <a:r>
              <a:rPr lang="ja-JP" altLang="en-US" sz="2800" b="1" dirty="0">
                <a:solidFill>
                  <a:srgbClr val="FFFFFF"/>
                </a:solidFill>
                <a:latin typeface="Yu Gothic" pitchFamily="34" charset="0"/>
                <a:ea typeface="Yu Gothic" pitchFamily="34" charset="-122"/>
                <a:cs typeface="Yu Gothic" pitchFamily="34" charset="-120"/>
              </a:rPr>
              <a:t>rwx</a:t>
            </a:r>
            <a:endParaRPr lang="en-US" sz="2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所有者：読・書・実行</a:t>
            </a:r>
            <a:endParaRPr lang="en-US" sz="2800" dirty="0"/>
          </a:p>
        </p:txBody>
      </p:sp>
      <p:sp>
        <p:nvSpPr>
          <p:cNvPr id="13" name="Shape 10"/>
          <p:cNvSpPr/>
          <p:nvPr/>
        </p:nvSpPr>
        <p:spPr>
          <a:xfrm>
            <a:off x="6199632" y="1783080"/>
            <a:ext cx="2697480" cy="1325880"/>
          </a:xfrm>
          <a:prstGeom prst="roundRect">
            <a:avLst>
              <a:gd name="adj" fmla="val 8276"/>
            </a:avLst>
          </a:prstGeom>
          <a:solidFill>
            <a:srgbClr val="2F6BC2"/>
          </a:solidFill>
          <a:ln/>
        </p:spPr>
      </p:sp>
      <p:sp>
        <p:nvSpPr>
          <p:cNvPr id="14" name="Text 11"/>
          <p:cNvSpPr txBox="1"/>
          <p:nvPr/>
        </p:nvSpPr>
        <p:spPr>
          <a:xfrm>
            <a:off x="6291072" y="1783080"/>
            <a:ext cx="2514600" cy="1325880"/>
          </a:xfrm>
          <a:prstGeom prst="rect">
            <a:avLst/>
          </a:prstGeom>
          <a:noFill/>
          <a:ln/>
        </p:spPr>
        <p:txBody>
          <a:bodyPr wrap="square" lIns="0" tIns="0" rIns="0" bIns="0" rtlCol="0" anchor="ctr"/>
          <a:lstStyle/>
          <a:p>
            <a:pPr algn="ctr" indent="0" marL="0">
              <a:lnSpc>
                <a:spcPts val="3700"/>
              </a:lnSpc>
              <a:buNone/>
            </a:pPr>
            <a:r>
              <a:rPr lang="ja-JP" altLang="en-US" sz="2800" b="1" dirty="0">
                <a:solidFill>
                  <a:srgbClr val="FFFFFF"/>
                </a:solidFill>
                <a:latin typeface="Yu Gothic" pitchFamily="34" charset="0"/>
                <a:ea typeface="Yu Gothic" pitchFamily="34" charset="-122"/>
                <a:cs typeface="Yu Gothic" pitchFamily="34" charset="-120"/>
              </a:rPr>
              <a:t>r-x</a:t>
            </a:r>
            <a:endParaRPr lang="en-US" sz="2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グループ：読・実行</a:t>
            </a:r>
            <a:endParaRPr lang="en-US" sz="2800" dirty="0"/>
          </a:p>
        </p:txBody>
      </p:sp>
      <p:sp>
        <p:nvSpPr>
          <p:cNvPr id="15" name="Shape 12"/>
          <p:cNvSpPr/>
          <p:nvPr/>
        </p:nvSpPr>
        <p:spPr>
          <a:xfrm>
            <a:off x="9070848" y="1783080"/>
            <a:ext cx="2697480" cy="1325880"/>
          </a:xfrm>
          <a:prstGeom prst="roundRect">
            <a:avLst>
              <a:gd name="adj" fmla="val 8276"/>
            </a:avLst>
          </a:prstGeom>
          <a:solidFill>
            <a:srgbClr val="5B46B8"/>
          </a:solidFill>
          <a:ln/>
        </p:spPr>
      </p:sp>
      <p:sp>
        <p:nvSpPr>
          <p:cNvPr id="16" name="Text 13"/>
          <p:cNvSpPr txBox="1"/>
          <p:nvPr/>
        </p:nvSpPr>
        <p:spPr>
          <a:xfrm>
            <a:off x="9162288" y="1783080"/>
            <a:ext cx="2514600" cy="1325880"/>
          </a:xfrm>
          <a:prstGeom prst="rect">
            <a:avLst/>
          </a:prstGeom>
          <a:noFill/>
          <a:ln/>
        </p:spPr>
        <p:txBody>
          <a:bodyPr wrap="square" lIns="0" tIns="0" rIns="0" bIns="0" rtlCol="0" anchor="ctr"/>
          <a:lstStyle/>
          <a:p>
            <a:pPr algn="ctr" indent="0" marL="0">
              <a:lnSpc>
                <a:spcPts val="3700"/>
              </a:lnSpc>
              <a:buNone/>
            </a:pPr>
            <a:r>
              <a:rPr lang="ja-JP" altLang="en-US" sz="2800" b="1" dirty="0">
                <a:solidFill>
                  <a:srgbClr val="FFFFFF"/>
                </a:solidFill>
                <a:latin typeface="Yu Gothic" pitchFamily="34" charset="0"/>
                <a:ea typeface="Yu Gothic" pitchFamily="34" charset="-122"/>
                <a:cs typeface="Yu Gothic" pitchFamily="34" charset="-120"/>
              </a:rPr>
              <a:t>r--</a:t>
            </a:r>
            <a:endParaRPr lang="en-US" sz="28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その他：読むだけ</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1274552" cy="914400"/>
        </p:xfrm>
        <a:graphic>
          <a:graphicData uri="http://schemas.openxmlformats.org/drawingml/2006/table">
            <a:tbl>
              <a:tblPr/>
              <a:tblGrid>
                <a:gridCol w="1463040"/>
                <a:gridCol w="2194560"/>
                <a:gridCol w="761695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数字</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記号</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意味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7</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rwx</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読む・書く・実行する（4＋2＋1）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6</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rw-</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読む・書く（4＋2）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5</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r-x</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読む・実行する（4＋1）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4</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r--</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読むだけ</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8" name="Shape 14"/>
          <p:cNvSpPr/>
          <p:nvPr/>
        </p:nvSpPr>
        <p:spPr>
          <a:xfrm>
            <a:off x="457200" y="5715000"/>
            <a:ext cx="11274552" cy="582930"/>
          </a:xfrm>
          <a:prstGeom prst="roundRect">
            <a:avLst>
              <a:gd name="adj" fmla="val 18824"/>
            </a:avLst>
          </a:prstGeom>
          <a:solidFill>
            <a:srgbClr val="0F2438"/>
          </a:solidFill>
          <a:ln/>
        </p:spPr>
      </p:sp>
      <p:sp>
        <p:nvSpPr>
          <p:cNvPr id="19" name="Text 15"/>
          <p:cNvSpPr txBox="1"/>
          <p:nvPr/>
        </p:nvSpPr>
        <p:spPr>
          <a:xfrm>
            <a:off x="640080" y="5824728"/>
            <a:ext cx="10908792" cy="363474"/>
          </a:xfrm>
          <a:prstGeom prst="rect">
            <a:avLst/>
          </a:prstGeom>
          <a:noFill/>
          <a:ln/>
        </p:spPr>
        <p:txBody>
          <a:bodyPr wrap="square" lIns="0" tIns="0" rIns="0" bIns="0" rtlCol="0" anchor="t"/>
          <a:lstStyle/>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chmod 754 script.sh    # rwx r-x r--</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5244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OS・Linux</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7626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プロセス・サービス・ディスク・メモリを確認する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障害調査の基本は「動いているか」「容量は足りているか」「負荷は高くないか」の確認です。そのためのコマンドを、用途別に並べました。</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出典：[K03] [H01]</a:t>
            </a:r>
            <a:endParaRPr lang="ja-JP"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4937760"/>
                <a:gridCol w="633679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コマンド</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用途</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75488">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ps aux</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動いているプロセスの一覧</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top</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CPU・メモリの使用状況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kill PID</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プロセスを終了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systemctl status sshd</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サービスの状態を確認</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systemctl restart sshd</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サービスを再起動</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df -h</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ディスクの空き容量</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du -sh dir</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使用量を調べる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free -h</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メモリの空き</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5244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OS・Linux</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7626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viエディタ：3つのモードと最小の操作</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viは、サーバーにほぼ必ず入っているエディタです。「ノーマルモード（移動・削除）」「挿入モード（入力）」「コマンドラインモード（保存・終了）」を切り替えて使います。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[K03]</a:t>
            </a:r>
            <a:endParaRPr lang="ja-JP" sz="1200" dirty="0"/>
          </a:p>
        </p:txBody>
      </p:sp>
      <p:sp>
        <p:nvSpPr>
          <p:cNvPr id="9" name="Shape 6"/>
          <p:cNvSpPr/>
          <p:nvPr/>
        </p:nvSpPr>
        <p:spPr>
          <a:xfrm>
            <a:off x="457200" y="1783080"/>
            <a:ext cx="4206240" cy="1051560"/>
          </a:xfrm>
          <a:prstGeom prst="roundRect">
            <a:avLst>
              <a:gd name="adj" fmla="val 10435"/>
            </a:avLst>
          </a:prstGeom>
          <a:solidFill>
            <a:srgbClr val="5B46B8"/>
          </a:solidFill>
          <a:ln/>
        </p:spPr>
      </p:sp>
      <p:sp>
        <p:nvSpPr>
          <p:cNvPr id="10" name="Text 7"/>
          <p:cNvSpPr txBox="1"/>
          <p:nvPr/>
        </p:nvSpPr>
        <p:spPr>
          <a:xfrm>
            <a:off x="548640" y="1783080"/>
            <a:ext cx="4023360" cy="1051560"/>
          </a:xfrm>
          <a:prstGeom prst="rect">
            <a:avLst/>
          </a:prstGeom>
          <a:noFill/>
          <a:ln/>
        </p:spPr>
        <p:txBody>
          <a:bodyPr wrap="square" lIns="0" tIns="0" rIns="0" bIns="0" rtlCol="0" anchor="ctr"/>
          <a:lstStyle/>
          <a:p>
            <a:pPr algn="ctr" indent="0" marL="0">
              <a:lnSpc>
                <a:spcPts val="2900"/>
              </a:lnSpc>
              <a:buNone/>
            </a:pPr>
            <a:r>
              <a:rPr lang="ja-JP" altLang="en-US" sz="2200" b="1" dirty="0">
                <a:solidFill>
                  <a:srgbClr val="FFFFFF"/>
                </a:solidFill>
                <a:latin typeface="Yu Gothic" pitchFamily="34" charset="0"/>
                <a:ea typeface="Yu Gothic" pitchFamily="34" charset="-122"/>
                <a:cs typeface="Yu Gothic" pitchFamily="34" charset="-120"/>
              </a:rPr>
              <a:t>ノーマル</a:t>
            </a:r>
            <a:endParaRPr lang="en-US" sz="22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移動・削除・コピー（起動直後）</a:t>
            </a:r>
            <a:endParaRPr lang="en-US" sz="2200" dirty="0"/>
          </a:p>
        </p:txBody>
      </p:sp>
      <p:sp>
        <p:nvSpPr>
          <p:cNvPr id="11" name="Shape 8"/>
          <p:cNvSpPr/>
          <p:nvPr/>
        </p:nvSpPr>
        <p:spPr>
          <a:xfrm>
            <a:off x="457200" y="3429000"/>
            <a:ext cx="4206240" cy="1051560"/>
          </a:xfrm>
          <a:prstGeom prst="roundRect">
            <a:avLst>
              <a:gd name="adj" fmla="val 10435"/>
            </a:avLst>
          </a:prstGeom>
          <a:solidFill>
            <a:srgbClr val="0B7A7A"/>
          </a:solidFill>
          <a:ln/>
        </p:spPr>
      </p:sp>
      <p:sp>
        <p:nvSpPr>
          <p:cNvPr id="12" name="Text 9"/>
          <p:cNvSpPr txBox="1"/>
          <p:nvPr/>
        </p:nvSpPr>
        <p:spPr>
          <a:xfrm>
            <a:off x="548640" y="3429000"/>
            <a:ext cx="4023360" cy="1051560"/>
          </a:xfrm>
          <a:prstGeom prst="rect">
            <a:avLst/>
          </a:prstGeom>
          <a:noFill/>
          <a:ln/>
        </p:spPr>
        <p:txBody>
          <a:bodyPr wrap="square" lIns="0" tIns="0" rIns="0" bIns="0" rtlCol="0" anchor="ctr"/>
          <a:lstStyle/>
          <a:p>
            <a:pPr algn="ctr" indent="0" marL="0">
              <a:lnSpc>
                <a:spcPts val="2900"/>
              </a:lnSpc>
              <a:buNone/>
            </a:pPr>
            <a:r>
              <a:rPr lang="ja-JP" altLang="en-US" sz="2200" b="1" dirty="0">
                <a:solidFill>
                  <a:srgbClr val="FFFFFF"/>
                </a:solidFill>
                <a:latin typeface="Yu Gothic" pitchFamily="34" charset="0"/>
                <a:ea typeface="Yu Gothic" pitchFamily="34" charset="-122"/>
                <a:cs typeface="Yu Gothic" pitchFamily="34" charset="-120"/>
              </a:rPr>
              <a:t>挿入</a:t>
            </a:r>
            <a:endParaRPr lang="en-US" sz="22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文字を入力する</a:t>
            </a:r>
            <a:endParaRPr lang="en-US" sz="2200" dirty="0"/>
          </a:p>
        </p:txBody>
      </p:sp>
      <p:sp>
        <p:nvSpPr>
          <p:cNvPr id="13" name="Shape 10"/>
          <p:cNvSpPr/>
          <p:nvPr/>
        </p:nvSpPr>
        <p:spPr>
          <a:xfrm>
            <a:off x="457200" y="5074920"/>
            <a:ext cx="4206240" cy="1051560"/>
          </a:xfrm>
          <a:prstGeom prst="roundRect">
            <a:avLst>
              <a:gd name="adj" fmla="val 10435"/>
            </a:avLst>
          </a:prstGeom>
          <a:solidFill>
            <a:srgbClr val="B45309"/>
          </a:solidFill>
          <a:ln/>
        </p:spPr>
      </p:sp>
      <p:sp>
        <p:nvSpPr>
          <p:cNvPr id="14" name="Text 11"/>
          <p:cNvSpPr txBox="1"/>
          <p:nvPr/>
        </p:nvSpPr>
        <p:spPr>
          <a:xfrm>
            <a:off x="548640" y="5074920"/>
            <a:ext cx="4023360" cy="1051560"/>
          </a:xfrm>
          <a:prstGeom prst="rect">
            <a:avLst/>
          </a:prstGeom>
          <a:noFill/>
          <a:ln/>
        </p:spPr>
        <p:txBody>
          <a:bodyPr wrap="square" lIns="0" tIns="0" rIns="0" bIns="0" rtlCol="0" anchor="ctr"/>
          <a:lstStyle/>
          <a:p>
            <a:pPr algn="ctr" indent="0" marL="0">
              <a:lnSpc>
                <a:spcPts val="2900"/>
              </a:lnSpc>
              <a:buNone/>
            </a:pPr>
            <a:r>
              <a:rPr lang="ja-JP" altLang="en-US" sz="2200" b="1" dirty="0">
                <a:solidFill>
                  <a:srgbClr val="FFFFFF"/>
                </a:solidFill>
                <a:latin typeface="Yu Gothic" pitchFamily="34" charset="0"/>
                <a:ea typeface="Yu Gothic" pitchFamily="34" charset="-122"/>
                <a:cs typeface="Yu Gothic" pitchFamily="34" charset="-120"/>
              </a:rPr>
              <a:t>コマンドライン</a:t>
            </a:r>
            <a:endParaRPr lang="en-US" sz="22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:w　:q　:wq　:q!</a:t>
            </a:r>
            <a:endParaRPr lang="en-US" sz="2200" dirty="0"/>
          </a:p>
        </p:txBody>
      </p:sp>
      <p:sp>
        <p:nvSpPr>
          <p:cNvPr id="15" name="Shape 12"/>
          <p:cNvSpPr/>
          <p:nvPr/>
        </p:nvSpPr>
        <p:spPr>
          <a:xfrm>
            <a:off x="1828800" y="2834640"/>
            <a:ext cx="0" cy="594360"/>
          </a:xfrm>
          <a:prstGeom prst="line">
            <a:avLst/>
          </a:prstGeom>
          <a:noFill/>
          <a:ln w="31750">
            <a:solidFill>
              <a:srgbClr val="1B2A3A"/>
            </a:solidFill>
            <a:prstDash val="solid"/>
            <a:tailEnd type="triangle"/>
          </a:ln>
        </p:spPr>
      </p:sp>
      <p:sp>
        <p:nvSpPr>
          <p:cNvPr id="16" name="Text 13"/>
          <p:cNvSpPr txBox="1"/>
          <p:nvPr/>
        </p:nvSpPr>
        <p:spPr>
          <a:xfrm>
            <a:off x="685800" y="2953512"/>
            <a:ext cx="914400" cy="356616"/>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i a o</a:t>
            </a:r>
            <a:endParaRPr lang="en-US" sz="1800" dirty="0"/>
          </a:p>
        </p:txBody>
      </p:sp>
      <p:sp>
        <p:nvSpPr>
          <p:cNvPr id="17" name="Shape 14"/>
          <p:cNvSpPr/>
          <p:nvPr/>
        </p:nvSpPr>
        <p:spPr>
          <a:xfrm flipV="1">
            <a:off x="3291840" y="2834640"/>
            <a:ext cx="0" cy="594360"/>
          </a:xfrm>
          <a:prstGeom prst="line">
            <a:avLst/>
          </a:prstGeom>
          <a:noFill/>
          <a:ln w="31750">
            <a:solidFill>
              <a:srgbClr val="1B2A3A"/>
            </a:solidFill>
            <a:prstDash val="solid"/>
            <a:tailEnd type="triangle"/>
          </a:ln>
        </p:spPr>
      </p:sp>
      <p:sp>
        <p:nvSpPr>
          <p:cNvPr id="18" name="Text 15"/>
          <p:cNvSpPr txBox="1"/>
          <p:nvPr/>
        </p:nvSpPr>
        <p:spPr>
          <a:xfrm>
            <a:off x="3566160" y="2953512"/>
            <a:ext cx="731520" cy="356616"/>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Esc</a:t>
            </a:r>
            <a:endParaRPr lang="en-US" sz="1800" dirty="0"/>
          </a:p>
        </p:txBody>
      </p:sp>
      <p:sp>
        <p:nvSpPr>
          <p:cNvPr id="19" name="Shape 16"/>
          <p:cNvSpPr/>
          <p:nvPr/>
        </p:nvSpPr>
        <p:spPr>
          <a:xfrm>
            <a:off x="2560320" y="4480560"/>
            <a:ext cx="0" cy="594360"/>
          </a:xfrm>
          <a:prstGeom prst="line">
            <a:avLst/>
          </a:prstGeom>
          <a:noFill/>
          <a:ln w="31750">
            <a:solidFill>
              <a:srgbClr val="1B2A3A"/>
            </a:solidFill>
            <a:prstDash val="solid"/>
            <a:tailEnd type="triangle"/>
          </a:ln>
        </p:spPr>
      </p:sp>
      <p:sp>
        <p:nvSpPr>
          <p:cNvPr id="20" name="Text 17"/>
          <p:cNvSpPr txBox="1"/>
          <p:nvPr/>
        </p:nvSpPr>
        <p:spPr>
          <a:xfrm>
            <a:off x="2743200" y="4599432"/>
            <a:ext cx="457200" cy="356616"/>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a:t>
            </a:r>
            <a:endParaRPr lang="en-US" sz="1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937760" y="1783080"/>
          <a:ext cx="6793992" cy="914400"/>
        </p:xfrm>
        <a:graphic>
          <a:graphicData uri="http://schemas.openxmlformats.org/drawingml/2006/table">
            <a:tbl>
              <a:tblPr/>
              <a:tblGrid>
                <a:gridCol w="3200400"/>
                <a:gridCol w="359359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操作</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キー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54864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挿入に入る／戻る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i  /  Esc</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移動</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h j k l  0  $  gg  G</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4864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削除・コピー・貼付</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x  dd  yy  p</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元に戻す</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u</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4864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検索</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/word   n</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保存して終了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:wq</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4864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保存せず終了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:q!</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5244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OS・Linux</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7626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シェルスクリプト：コマンドをファイルに書いて自動化する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シェルスクリプトは、打ち込むコマンドをファイルにまとめたものです。変数・条件分岐・終了コードが分かれば、簡単な確認作業を自動化できます。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[K03]</a:t>
            </a:r>
            <a:endParaRPr lang="ja-JP" sz="1200" dirty="0"/>
          </a:p>
        </p:txBody>
      </p:sp>
      <p:sp>
        <p:nvSpPr>
          <p:cNvPr id="9" name="Shape 6"/>
          <p:cNvSpPr/>
          <p:nvPr/>
        </p:nvSpPr>
        <p:spPr>
          <a:xfrm>
            <a:off x="457200" y="1783080"/>
            <a:ext cx="6675120" cy="3360420"/>
          </a:xfrm>
          <a:prstGeom prst="roundRect">
            <a:avLst>
              <a:gd name="adj" fmla="val 3265"/>
            </a:avLst>
          </a:prstGeom>
          <a:solidFill>
            <a:srgbClr val="0F2438"/>
          </a:solidFill>
          <a:ln/>
        </p:spPr>
      </p:sp>
      <p:sp>
        <p:nvSpPr>
          <p:cNvPr id="10" name="Text 7"/>
          <p:cNvSpPr txBox="1"/>
          <p:nvPr/>
        </p:nvSpPr>
        <p:spPr>
          <a:xfrm>
            <a:off x="640080" y="1892808"/>
            <a:ext cx="6309360" cy="3140964"/>
          </a:xfrm>
          <a:prstGeom prst="rect">
            <a:avLst/>
          </a:prstGeom>
          <a:noFill/>
          <a:ln/>
        </p:spPr>
        <p:txBody>
          <a:bodyPr wrap="square" lIns="0" tIns="0" rIns="0" bIns="0" rtlCol="0" anchor="t"/>
          <a:lstStyle/>
          <a:p>
            <a:pPr indent="0" marL="0">
              <a:lnSpc>
                <a:spcPts val="2400"/>
              </a:lnSpc>
              <a:buNone/>
            </a:pPr>
            <a:r>
              <a:rPr lang="en-US" altLang="en-US" sz="1800" dirty="0">
                <a:solidFill>
                  <a:srgbClr val="9FB6D1"/>
                </a:solidFill>
                <a:latin typeface="Courier New" pitchFamily="34" charset="0"/>
                <a:ea typeface="Courier New" pitchFamily="34" charset="-122"/>
                <a:cs typeface="Courier New" pitchFamily="34" charset="-120"/>
              </a:rPr>
              <a:t>#!/bin/bash</a:t>
            </a:r>
            <a:endParaRPr lang="en-US" sz="1800" dirty="0"/>
          </a:p>
          <a:p>
            <a:pPr indent="0" marL="0">
              <a:lnSpc>
                <a:spcPts val="2400"/>
              </a:lnSpc>
              <a:buNone/>
            </a:pPr>
            <a:r>
              <a:rPr lang="en-US" altLang="en-US" sz="1800" dirty="0">
                <a:solidFill>
                  <a:srgbClr val="9FB6D1"/>
                </a:solidFill>
                <a:latin typeface="Courier New" pitchFamily="34" charset="0"/>
                <a:ea typeface="Courier New" pitchFamily="34" charset="-122"/>
                <a:cs typeface="Courier New" pitchFamily="34" charset="-120"/>
              </a:rPr>
              <a:t># check-host.sh</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HOST="$1"</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 </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if ping -c 1 "$HOST" &gt; /dev/null 2&gt;&amp;1; then</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  echo "OK: $HOST"</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else</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  echo "NG: $HOST"</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  exit 1</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fi</a:t>
            </a:r>
            <a:endParaRPr lang="en-US" sz="1800" dirty="0"/>
          </a:p>
        </p:txBody>
      </p:sp>
      <p:sp>
        <p:nvSpPr>
          <p:cNvPr id="11" name="Shape 8"/>
          <p:cNvSpPr/>
          <p:nvPr/>
        </p:nvSpPr>
        <p:spPr>
          <a:xfrm>
            <a:off x="7424928" y="2007108"/>
            <a:ext cx="420624" cy="420624"/>
          </a:xfrm>
          <a:prstGeom prst="ellipse">
            <a:avLst/>
          </a:prstGeom>
          <a:solidFill>
            <a:srgbClr val="5B46B8"/>
          </a:solidFill>
          <a:ln w="19050">
            <a:solidFill>
              <a:srgbClr val="FFFFFF"/>
            </a:solidFill>
            <a:prstDash val="solid"/>
          </a:ln>
        </p:spPr>
      </p:sp>
      <p:sp>
        <p:nvSpPr>
          <p:cNvPr id="12" name="Text 9"/>
          <p:cNvSpPr txBox="1"/>
          <p:nvPr/>
        </p:nvSpPr>
        <p:spPr>
          <a:xfrm>
            <a:off x="7424928" y="200710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13" name="Text 10"/>
          <p:cNvSpPr txBox="1"/>
          <p:nvPr/>
        </p:nvSpPr>
        <p:spPr>
          <a:xfrm>
            <a:off x="8001000" y="1783080"/>
            <a:ext cx="3730752" cy="83210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 で使うシェルを指定</a:t>
            </a:r>
            <a:endParaRPr lang="en-US" sz="1800" dirty="0"/>
          </a:p>
        </p:txBody>
      </p:sp>
      <p:sp>
        <p:nvSpPr>
          <p:cNvPr id="14" name="Shape 11"/>
          <p:cNvSpPr/>
          <p:nvPr/>
        </p:nvSpPr>
        <p:spPr>
          <a:xfrm>
            <a:off x="7424928" y="2875788"/>
            <a:ext cx="420624" cy="420624"/>
          </a:xfrm>
          <a:prstGeom prst="ellipse">
            <a:avLst/>
          </a:prstGeom>
          <a:solidFill>
            <a:srgbClr val="5B46B8"/>
          </a:solidFill>
          <a:ln w="19050">
            <a:solidFill>
              <a:srgbClr val="FFFFFF"/>
            </a:solidFill>
            <a:prstDash val="solid"/>
          </a:ln>
        </p:spPr>
      </p:sp>
      <p:sp>
        <p:nvSpPr>
          <p:cNvPr id="15" name="Text 12"/>
          <p:cNvSpPr txBox="1"/>
          <p:nvPr/>
        </p:nvSpPr>
        <p:spPr>
          <a:xfrm>
            <a:off x="7424928" y="287578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6" name="Text 13"/>
          <p:cNvSpPr txBox="1"/>
          <p:nvPr/>
        </p:nvSpPr>
        <p:spPr>
          <a:xfrm>
            <a:off x="8001000" y="2651760"/>
            <a:ext cx="3730752" cy="83210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$1＝1つ目の引数を変数へ</a:t>
            </a:r>
            <a:endParaRPr lang="en-US" sz="1800" dirty="0"/>
          </a:p>
        </p:txBody>
      </p:sp>
      <p:sp>
        <p:nvSpPr>
          <p:cNvPr id="17" name="Shape 14"/>
          <p:cNvSpPr/>
          <p:nvPr/>
        </p:nvSpPr>
        <p:spPr>
          <a:xfrm>
            <a:off x="7424928" y="3744468"/>
            <a:ext cx="420624" cy="420624"/>
          </a:xfrm>
          <a:prstGeom prst="ellipse">
            <a:avLst/>
          </a:prstGeom>
          <a:solidFill>
            <a:srgbClr val="5B46B8"/>
          </a:solidFill>
          <a:ln w="19050">
            <a:solidFill>
              <a:srgbClr val="FFFFFF"/>
            </a:solidFill>
            <a:prstDash val="solid"/>
          </a:ln>
        </p:spPr>
      </p:sp>
      <p:sp>
        <p:nvSpPr>
          <p:cNvPr id="18" name="Text 15"/>
          <p:cNvSpPr txBox="1"/>
          <p:nvPr/>
        </p:nvSpPr>
        <p:spPr>
          <a:xfrm>
            <a:off x="7424928" y="374446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9" name="Text 16"/>
          <p:cNvSpPr txBox="1"/>
          <p:nvPr/>
        </p:nvSpPr>
        <p:spPr>
          <a:xfrm>
            <a:off x="8001000" y="3520440"/>
            <a:ext cx="3730752" cy="83210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if…then…else…fi＝条件分岐</a:t>
            </a:r>
            <a:endParaRPr lang="en-US" sz="1800" dirty="0"/>
          </a:p>
        </p:txBody>
      </p:sp>
      <p:sp>
        <p:nvSpPr>
          <p:cNvPr id="20" name="Shape 17"/>
          <p:cNvSpPr/>
          <p:nvPr/>
        </p:nvSpPr>
        <p:spPr>
          <a:xfrm>
            <a:off x="7424928" y="4613148"/>
            <a:ext cx="420624" cy="420624"/>
          </a:xfrm>
          <a:prstGeom prst="ellipse">
            <a:avLst/>
          </a:prstGeom>
          <a:solidFill>
            <a:srgbClr val="5B46B8"/>
          </a:solidFill>
          <a:ln w="19050">
            <a:solidFill>
              <a:srgbClr val="FFFFFF"/>
            </a:solidFill>
            <a:prstDash val="solid"/>
          </a:ln>
        </p:spPr>
      </p:sp>
      <p:sp>
        <p:nvSpPr>
          <p:cNvPr id="21" name="Text 18"/>
          <p:cNvSpPr txBox="1"/>
          <p:nvPr/>
        </p:nvSpPr>
        <p:spPr>
          <a:xfrm>
            <a:off x="7424928" y="46131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22" name="Text 19"/>
          <p:cNvSpPr txBox="1"/>
          <p:nvPr/>
        </p:nvSpPr>
        <p:spPr>
          <a:xfrm>
            <a:off x="8001000" y="4389120"/>
            <a:ext cx="3730752" cy="83210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exit 1＝失敗を終了コードで返す</a:t>
            </a:r>
            <a:endParaRPr lang="en-US" sz="1800" dirty="0"/>
          </a:p>
        </p:txBody>
      </p:sp>
      <p:sp>
        <p:nvSpPr>
          <p:cNvPr id="23" name="Shape 20"/>
          <p:cNvSpPr/>
          <p:nvPr/>
        </p:nvSpPr>
        <p:spPr>
          <a:xfrm>
            <a:off x="7424928" y="5481828"/>
            <a:ext cx="420624" cy="420624"/>
          </a:xfrm>
          <a:prstGeom prst="ellipse">
            <a:avLst/>
          </a:prstGeom>
          <a:solidFill>
            <a:srgbClr val="5B46B8"/>
          </a:solidFill>
          <a:ln w="19050">
            <a:solidFill>
              <a:srgbClr val="FFFFFF"/>
            </a:solidFill>
            <a:prstDash val="solid"/>
          </a:ln>
        </p:spPr>
      </p:sp>
      <p:sp>
        <p:nvSpPr>
          <p:cNvPr id="24" name="Text 21"/>
          <p:cNvSpPr txBox="1"/>
          <p:nvPr/>
        </p:nvSpPr>
        <p:spPr>
          <a:xfrm>
            <a:off x="7424928" y="548182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25" name="Text 22"/>
          <p:cNvSpPr txBox="1"/>
          <p:nvPr/>
        </p:nvSpPr>
        <p:spPr>
          <a:xfrm>
            <a:off x="8001000" y="5257800"/>
            <a:ext cx="3730752" cy="83210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chmod +x で実行権限を付ける</a:t>
            </a:r>
            <a:endParaRPr lang="en-US" sz="1800" dirty="0"/>
          </a:p>
        </p:txBody>
      </p:sp>
      <p:sp>
        <p:nvSpPr>
          <p:cNvPr id="26" name="Shape 23"/>
          <p:cNvSpPr/>
          <p:nvPr/>
        </p:nvSpPr>
        <p:spPr>
          <a:xfrm>
            <a:off x="457200" y="5440680"/>
            <a:ext cx="6675120" cy="868680"/>
          </a:xfrm>
          <a:prstGeom prst="roundRect">
            <a:avLst>
              <a:gd name="adj" fmla="val 12632"/>
            </a:avLst>
          </a:prstGeom>
          <a:solidFill>
            <a:srgbClr val="DCE8F8"/>
          </a:solidFill>
          <a:ln w="19050">
            <a:solidFill>
              <a:srgbClr val="2F6BC2"/>
            </a:solidFill>
            <a:prstDash val="solid"/>
          </a:ln>
        </p:spPr>
      </p:sp>
      <p:sp>
        <p:nvSpPr>
          <p:cNvPr id="27" name="Shape 24"/>
          <p:cNvSpPr/>
          <p:nvPr/>
        </p:nvSpPr>
        <p:spPr>
          <a:xfrm>
            <a:off x="594360" y="5646420"/>
            <a:ext cx="457200" cy="457200"/>
          </a:xfrm>
          <a:prstGeom prst="ellipse">
            <a:avLst/>
          </a:prstGeom>
          <a:solidFill>
            <a:srgbClr val="2F6BC2"/>
          </a:solidFill>
          <a:ln/>
        </p:spPr>
      </p:sp>
      <p:pic>
        <p:nvPicPr>
          <p:cNvPr id="28" name="Image 0" descr="preencoded.png">    </p:cNvPr>
          <p:cNvPicPr>
            <a:picLocks noChangeAspect="1"/>
          </p:cNvPicPr>
          <p:nvPr/>
        </p:nvPicPr>
        <p:blipFill>
          <a:blip r:embed="rId1"/>
          <a:stretch>
            <a:fillRect/>
          </a:stretch>
        </p:blipFill>
        <p:spPr>
          <a:xfrm>
            <a:off x="694944" y="5747004"/>
            <a:ext cx="256032" cy="256032"/>
          </a:xfrm>
          <a:prstGeom prst="rect">
            <a:avLst/>
          </a:prstGeom>
        </p:spPr>
      </p:pic>
      <p:sp>
        <p:nvSpPr>
          <p:cNvPr id="29" name="Text 25"/>
          <p:cNvSpPr txBox="1"/>
          <p:nvPr/>
        </p:nvSpPr>
        <p:spPr>
          <a:xfrm>
            <a:off x="1188720" y="5486400"/>
            <a:ext cx="5806440" cy="7772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実行：chmod +x check-host.sh → ./check-host.sh 192.168.1.1</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5244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OS・Linux</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8490407"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シェルスクリプトの練習：3段階で育てる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繰り返し（for）を加えて複数の機器を確認し、結果をファイルに残し、失敗を終了コードで伝える、と3段階に広げていく練習の提案です。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出典：[K03]</a:t>
            </a:r>
            <a:endParaRPr lang="ja-JP" sz="1200" dirty="0"/>
          </a:p>
        </p:txBody>
      </p:sp>
      <p:sp>
        <p:nvSpPr>
          <p:cNvPr id="9" name="Shape 6"/>
          <p:cNvSpPr/>
          <p:nvPr/>
        </p:nvSpPr>
        <p:spPr>
          <a:xfrm>
            <a:off x="457200" y="1783080"/>
            <a:ext cx="6675120" cy="2743200"/>
          </a:xfrm>
          <a:prstGeom prst="roundRect">
            <a:avLst>
              <a:gd name="adj" fmla="val 4000"/>
            </a:avLst>
          </a:prstGeom>
          <a:solidFill>
            <a:srgbClr val="0F2438"/>
          </a:solidFill>
          <a:ln/>
        </p:spPr>
      </p:sp>
      <p:sp>
        <p:nvSpPr>
          <p:cNvPr id="10" name="Text 7"/>
          <p:cNvSpPr txBox="1"/>
          <p:nvPr/>
        </p:nvSpPr>
        <p:spPr>
          <a:xfrm>
            <a:off x="640080" y="1892808"/>
            <a:ext cx="6309360" cy="2523744"/>
          </a:xfrm>
          <a:prstGeom prst="rect">
            <a:avLst/>
          </a:prstGeom>
          <a:noFill/>
          <a:ln/>
        </p:spPr>
        <p:txBody>
          <a:bodyPr wrap="square" lIns="0" tIns="0" rIns="0" bIns="0" rtlCol="0" anchor="t"/>
          <a:lstStyle/>
          <a:p>
            <a:pPr indent="0" marL="0">
              <a:lnSpc>
                <a:spcPts val="2400"/>
              </a:lnSpc>
              <a:buNone/>
            </a:pPr>
            <a:r>
              <a:rPr lang="en-US" altLang="en-US" sz="1800" dirty="0">
                <a:solidFill>
                  <a:srgbClr val="9FB6D1"/>
                </a:solidFill>
                <a:latin typeface="Courier New" pitchFamily="34" charset="0"/>
                <a:ea typeface="Courier New" pitchFamily="34" charset="-122"/>
                <a:cs typeface="Courier New" pitchFamily="34" charset="-120"/>
              </a:rPr>
              <a:t>#!/bin/bash</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for h in 127.0.0.1 192.168.1.1 example.com; do</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  if ping -c 1 "$h" &gt; /dev/null 2&gt;&amp;1; then</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    echo "$h up"</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  else</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    echo "$h down"</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  fi</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done</a:t>
            </a:r>
            <a:endParaRPr lang="en-US" sz="1800" dirty="0"/>
          </a:p>
        </p:txBody>
      </p:sp>
      <p:sp>
        <p:nvSpPr>
          <p:cNvPr id="11" name="Shape 8"/>
          <p:cNvSpPr/>
          <p:nvPr/>
        </p:nvSpPr>
        <p:spPr>
          <a:xfrm>
            <a:off x="7424928" y="2144268"/>
            <a:ext cx="420624" cy="420624"/>
          </a:xfrm>
          <a:prstGeom prst="ellipse">
            <a:avLst/>
          </a:prstGeom>
          <a:solidFill>
            <a:srgbClr val="B45309"/>
          </a:solidFill>
          <a:ln w="19050">
            <a:solidFill>
              <a:srgbClr val="FFFFFF"/>
            </a:solidFill>
            <a:prstDash val="solid"/>
          </a:ln>
        </p:spPr>
      </p:sp>
      <p:sp>
        <p:nvSpPr>
          <p:cNvPr id="12" name="Text 9"/>
          <p:cNvSpPr txBox="1"/>
          <p:nvPr/>
        </p:nvSpPr>
        <p:spPr>
          <a:xfrm>
            <a:off x="7424928" y="214426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①</a:t>
            </a:r>
            <a:endParaRPr lang="en-US" sz="1800" dirty="0"/>
          </a:p>
        </p:txBody>
      </p:sp>
      <p:sp>
        <p:nvSpPr>
          <p:cNvPr id="13" name="Text 10"/>
          <p:cNvSpPr txBox="1"/>
          <p:nvPr/>
        </p:nvSpPr>
        <p:spPr>
          <a:xfrm>
            <a:off x="8001000" y="1783080"/>
            <a:ext cx="3730752" cy="110642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1台を確認（前の例）</a:t>
            </a:r>
            <a:endParaRPr lang="en-US" sz="1800" dirty="0"/>
          </a:p>
        </p:txBody>
      </p:sp>
      <p:sp>
        <p:nvSpPr>
          <p:cNvPr id="14" name="Shape 11"/>
          <p:cNvSpPr/>
          <p:nvPr/>
        </p:nvSpPr>
        <p:spPr>
          <a:xfrm>
            <a:off x="7424928" y="3287268"/>
            <a:ext cx="420624" cy="420624"/>
          </a:xfrm>
          <a:prstGeom prst="ellipse">
            <a:avLst/>
          </a:prstGeom>
          <a:solidFill>
            <a:srgbClr val="B45309"/>
          </a:solidFill>
          <a:ln w="19050">
            <a:solidFill>
              <a:srgbClr val="FFFFFF"/>
            </a:solidFill>
            <a:prstDash val="solid"/>
          </a:ln>
        </p:spPr>
      </p:sp>
      <p:sp>
        <p:nvSpPr>
          <p:cNvPr id="15" name="Text 12"/>
          <p:cNvSpPr txBox="1"/>
          <p:nvPr/>
        </p:nvSpPr>
        <p:spPr>
          <a:xfrm>
            <a:off x="7424928" y="328726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②</a:t>
            </a:r>
            <a:endParaRPr lang="en-US" sz="1800" dirty="0"/>
          </a:p>
        </p:txBody>
      </p:sp>
      <p:sp>
        <p:nvSpPr>
          <p:cNvPr id="16" name="Text 13"/>
          <p:cNvSpPr txBox="1"/>
          <p:nvPr/>
        </p:nvSpPr>
        <p:spPr>
          <a:xfrm>
            <a:off x="8001000" y="2926080"/>
            <a:ext cx="3730752" cy="110642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複数台をforで確認し、結果をファイルへ追記</a:t>
            </a:r>
            <a:endParaRPr lang="en-US" sz="1800" dirty="0"/>
          </a:p>
        </p:txBody>
      </p:sp>
      <p:sp>
        <p:nvSpPr>
          <p:cNvPr id="17" name="Shape 14"/>
          <p:cNvSpPr/>
          <p:nvPr/>
        </p:nvSpPr>
        <p:spPr>
          <a:xfrm>
            <a:off x="7424928" y="4430268"/>
            <a:ext cx="420624" cy="420624"/>
          </a:xfrm>
          <a:prstGeom prst="ellipse">
            <a:avLst/>
          </a:prstGeom>
          <a:solidFill>
            <a:srgbClr val="B45309"/>
          </a:solidFill>
          <a:ln w="19050">
            <a:solidFill>
              <a:srgbClr val="FFFFFF"/>
            </a:solidFill>
            <a:prstDash val="solid"/>
          </a:ln>
        </p:spPr>
      </p:sp>
      <p:sp>
        <p:nvSpPr>
          <p:cNvPr id="18" name="Text 15"/>
          <p:cNvSpPr txBox="1"/>
          <p:nvPr/>
        </p:nvSpPr>
        <p:spPr>
          <a:xfrm>
            <a:off x="7424928" y="443026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③</a:t>
            </a:r>
            <a:endParaRPr lang="en-US" sz="1800" dirty="0"/>
          </a:p>
        </p:txBody>
      </p:sp>
      <p:sp>
        <p:nvSpPr>
          <p:cNvPr id="19" name="Text 16"/>
          <p:cNvSpPr txBox="1"/>
          <p:nvPr/>
        </p:nvSpPr>
        <p:spPr>
          <a:xfrm>
            <a:off x="8001000" y="4069080"/>
            <a:ext cx="3730752" cy="110642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失敗したら終了コード1で終える</a:t>
            </a:r>
            <a:endParaRPr lang="en-US" sz="1800" dirty="0"/>
          </a:p>
        </p:txBody>
      </p:sp>
      <p:sp>
        <p:nvSpPr>
          <p:cNvPr id="20" name="Shape 17"/>
          <p:cNvSpPr/>
          <p:nvPr/>
        </p:nvSpPr>
        <p:spPr>
          <a:xfrm>
            <a:off x="457200" y="5257800"/>
            <a:ext cx="11274552" cy="1005840"/>
          </a:xfrm>
          <a:prstGeom prst="roundRect">
            <a:avLst>
              <a:gd name="adj" fmla="val 10909"/>
            </a:avLst>
          </a:prstGeom>
          <a:solidFill>
            <a:srgbClr val="DDF1E4"/>
          </a:solidFill>
          <a:ln w="19050">
            <a:solidFill>
              <a:srgbClr val="237A48"/>
            </a:solidFill>
            <a:prstDash val="solid"/>
          </a:ln>
        </p:spPr>
      </p:sp>
      <p:sp>
        <p:nvSpPr>
          <p:cNvPr id="21" name="Shape 18"/>
          <p:cNvSpPr/>
          <p:nvPr/>
        </p:nvSpPr>
        <p:spPr>
          <a:xfrm>
            <a:off x="594360" y="5532120"/>
            <a:ext cx="457200" cy="457200"/>
          </a:xfrm>
          <a:prstGeom prst="ellipse">
            <a:avLst/>
          </a:prstGeom>
          <a:solidFill>
            <a:srgbClr val="237A48"/>
          </a:solidFill>
          <a:ln/>
        </p:spPr>
      </p:sp>
      <p:pic>
        <p:nvPicPr>
          <p:cNvPr id="22" name="Image 0" descr="preencoded.png">    </p:cNvPr>
          <p:cNvPicPr>
            <a:picLocks noChangeAspect="1"/>
          </p:cNvPicPr>
          <p:nvPr/>
        </p:nvPicPr>
        <p:blipFill>
          <a:blip r:embed="rId1"/>
          <a:stretch>
            <a:fillRect/>
          </a:stretch>
        </p:blipFill>
        <p:spPr>
          <a:xfrm>
            <a:off x="694944" y="5632704"/>
            <a:ext cx="256032" cy="256032"/>
          </a:xfrm>
          <a:prstGeom prst="rect">
            <a:avLst/>
          </a:prstGeom>
        </p:spPr>
      </p:pic>
      <p:sp>
        <p:nvSpPr>
          <p:cNvPr id="23" name="Text 19"/>
          <p:cNvSpPr txBox="1"/>
          <p:nvPr/>
        </p:nvSpPr>
        <p:spPr>
          <a:xfrm>
            <a:off x="1188720" y="5303520"/>
            <a:ext cx="10405872" cy="91440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手作業で繰り返しているコマンドを見つけたら、スクリプトにする。小さく作って、動かして、直す</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データベース</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7626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データベースとRDBMS：表でデータを管理する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RDBMS（リレーショナルデータベース）は、データを「表（テーブル）」で管理します。行が1件のデータ、列が項目です。表どうしは「キー」でつなぎます。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[K04]</a:t>
            </a:r>
            <a:endParaRPr lang="ja-JP" sz="1200" dirty="0"/>
          </a:p>
        </p:txBody>
      </p:sp>
      <p:sp>
        <p:nvSpPr>
          <p:cNvPr id="9" name="Text 6"/>
          <p:cNvSpPr txBox="1"/>
          <p:nvPr/>
        </p:nvSpPr>
        <p:spPr>
          <a:xfrm>
            <a:off x="457200" y="1783080"/>
            <a:ext cx="512064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customers（顧客）</a:t>
            </a:r>
            <a:endParaRPr lang="en-US" sz="2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2194560"/>
          <a:ext cx="5120640" cy="914400"/>
        </p:xfrm>
        <a:graphic>
          <a:graphicData uri="http://schemas.openxmlformats.org/drawingml/2006/table">
            <a:tbl>
              <a:tblPr/>
              <a:tblGrid>
                <a:gridCol w="2011680"/>
                <a:gridCol w="1645920"/>
                <a:gridCol w="1463040"/>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id（主キー）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7A7A"/>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name</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7A7A"/>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city</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7A7A"/>
                    </a:solidFill>
                  </a:tcPr>
                </a:tc>
              </a:tr>
              <a:tr h="50292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Sato</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Tokyo</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Suzuki</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Osaka</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0292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Tanaka</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Tokyo</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Text 7"/>
          <p:cNvSpPr txBox="1"/>
          <p:nvPr/>
        </p:nvSpPr>
        <p:spPr>
          <a:xfrm>
            <a:off x="6583680" y="1783080"/>
            <a:ext cx="512064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orders（注文）</a:t>
            </a:r>
            <a:endParaRPr lang="en-US" sz="2000" dirty="0"/>
          </a:p>
        </p:txBody>
      </p:sp>
      <p:graphicFrame>
        <p:nvGraphicFramePr>
          <p:cNvPr id="65" name="Table 1"/>
          <p:cNvGraphicFramePr>
            <a:graphicFrameLocks noGrp="1"/>
          </p:cNvGraphicFramePr>
          <p:nvPr>
            <p:extLst>
              <p:ext uri="{D42A27DB-BD31-4B8C-83A1-F6EECF244321}">
                <p14:modId xmlns:p14="http://schemas.microsoft.com/office/powerpoint/2010/main" val="1579011935"/>
              </p:ext>
            </p:extLst>
          </p:nvPr>
        </p:nvGraphicFramePr>
        <p:xfrm>
          <a:off x="5943600" y="2194560"/>
          <a:ext cx="5303520" cy="914400"/>
        </p:xfrm>
        <a:graphic>
          <a:graphicData uri="http://schemas.openxmlformats.org/drawingml/2006/table">
            <a:tbl>
              <a:tblPr/>
              <a:tblGrid>
                <a:gridCol w="822960"/>
                <a:gridCol w="3108960"/>
                <a:gridCol w="1371600"/>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id</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5B46B8"/>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customer_id（外部キー）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5B46B8"/>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amount</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5B46B8"/>
                    </a:solidFill>
                  </a:tcPr>
                </a:tc>
              </a:tr>
              <a:tr h="50292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101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3000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102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1200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0292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103</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5000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3" name="Text 8"/>
          <p:cNvSpPr txBox="1"/>
          <p:nvPr/>
        </p:nvSpPr>
        <p:spPr>
          <a:xfrm>
            <a:off x="457200" y="4315968"/>
            <a:ext cx="11274552"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orders.customer_id が customers.id を指す（＝外部キー）</a:t>
            </a:r>
            <a:endParaRPr lang="en-US" sz="1800" dirty="0"/>
          </a:p>
        </p:txBody>
      </p:sp>
      <p:sp>
        <p:nvSpPr>
          <p:cNvPr id="14" name="Shape 9"/>
          <p:cNvSpPr/>
          <p:nvPr/>
        </p:nvSpPr>
        <p:spPr>
          <a:xfrm>
            <a:off x="457200" y="4754880"/>
            <a:ext cx="3657600" cy="1554480"/>
          </a:xfrm>
          <a:prstGeom prst="roundRect">
            <a:avLst>
              <a:gd name="adj" fmla="val 8235"/>
            </a:avLst>
          </a:prstGeom>
          <a:solidFill>
            <a:srgbClr val="DCE8F8"/>
          </a:solidFill>
          <a:ln/>
        </p:spPr>
      </p:sp>
      <p:sp>
        <p:nvSpPr>
          <p:cNvPr id="15" name="Text 10"/>
          <p:cNvSpPr txBox="1"/>
          <p:nvPr/>
        </p:nvSpPr>
        <p:spPr>
          <a:xfrm>
            <a:off x="640080" y="4882896"/>
            <a:ext cx="329184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表（テーブル）</a:t>
            </a:r>
            <a:endParaRPr lang="en-US" sz="2000" dirty="0"/>
          </a:p>
        </p:txBody>
      </p:sp>
      <p:sp>
        <p:nvSpPr>
          <p:cNvPr id="16" name="Text 11"/>
          <p:cNvSpPr txBox="1"/>
          <p:nvPr/>
        </p:nvSpPr>
        <p:spPr>
          <a:xfrm>
            <a:off x="640080" y="5309616"/>
            <a:ext cx="3291840" cy="90830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行＝1件のデータ、列＝項目</a:t>
            </a:r>
            <a:endParaRPr lang="en-US" sz="1800" dirty="0"/>
          </a:p>
        </p:txBody>
      </p:sp>
      <p:sp>
        <p:nvSpPr>
          <p:cNvPr id="17" name="Shape 12"/>
          <p:cNvSpPr/>
          <p:nvPr/>
        </p:nvSpPr>
        <p:spPr>
          <a:xfrm>
            <a:off x="4270248" y="4754880"/>
            <a:ext cx="3657600" cy="1554480"/>
          </a:xfrm>
          <a:prstGeom prst="roundRect">
            <a:avLst>
              <a:gd name="adj" fmla="val 8235"/>
            </a:avLst>
          </a:prstGeom>
          <a:solidFill>
            <a:srgbClr val="D9F2F1"/>
          </a:solidFill>
          <a:ln/>
        </p:spPr>
      </p:sp>
      <p:sp>
        <p:nvSpPr>
          <p:cNvPr id="18" name="Text 13"/>
          <p:cNvSpPr txBox="1"/>
          <p:nvPr/>
        </p:nvSpPr>
        <p:spPr>
          <a:xfrm>
            <a:off x="4453128" y="4882896"/>
            <a:ext cx="329184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主キー</a:t>
            </a:r>
            <a:endParaRPr lang="en-US" sz="2000" dirty="0"/>
          </a:p>
        </p:txBody>
      </p:sp>
      <p:sp>
        <p:nvSpPr>
          <p:cNvPr id="19" name="Text 14"/>
          <p:cNvSpPr txBox="1"/>
          <p:nvPr/>
        </p:nvSpPr>
        <p:spPr>
          <a:xfrm>
            <a:off x="4453128" y="5309616"/>
            <a:ext cx="3291840" cy="90830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行を1つに特定する値。重複しない</a:t>
            </a:r>
            <a:endParaRPr lang="en-US" sz="1800" dirty="0"/>
          </a:p>
        </p:txBody>
      </p:sp>
      <p:sp>
        <p:nvSpPr>
          <p:cNvPr id="20" name="Shape 15"/>
          <p:cNvSpPr/>
          <p:nvPr/>
        </p:nvSpPr>
        <p:spPr>
          <a:xfrm>
            <a:off x="8074152" y="4754880"/>
            <a:ext cx="3657600" cy="1554480"/>
          </a:xfrm>
          <a:prstGeom prst="roundRect">
            <a:avLst>
              <a:gd name="adj" fmla="val 8235"/>
            </a:avLst>
          </a:prstGeom>
          <a:solidFill>
            <a:srgbClr val="E6E1F7"/>
          </a:solidFill>
          <a:ln/>
        </p:spPr>
      </p:sp>
      <p:sp>
        <p:nvSpPr>
          <p:cNvPr id="21" name="Text 16"/>
          <p:cNvSpPr txBox="1"/>
          <p:nvPr/>
        </p:nvSpPr>
        <p:spPr>
          <a:xfrm>
            <a:off x="8257032" y="4882896"/>
            <a:ext cx="329184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外部キー</a:t>
            </a:r>
            <a:endParaRPr lang="en-US" sz="2000" dirty="0"/>
          </a:p>
        </p:txBody>
      </p:sp>
      <p:sp>
        <p:nvSpPr>
          <p:cNvPr id="22" name="Text 17"/>
          <p:cNvSpPr txBox="1"/>
          <p:nvPr/>
        </p:nvSpPr>
        <p:spPr>
          <a:xfrm>
            <a:off x="8257032" y="5309616"/>
            <a:ext cx="3291840" cy="90830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他の表の主キーを参照して、表をつなぐ</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データベース</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7626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RDBMSの種類：商用・オープンソース・組み込み</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RDBMSには、企業が販売する商用製品と、無償で使えるオープンソース、アプリに組み込む軽量なものがあります。SQLの基本は共通ですが、細かい機能や書き方は製品で違います。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[K04]</a:t>
            </a:r>
            <a:endParaRPr lang="ja-JP" sz="1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3474720"/>
                <a:gridCol w="2926080"/>
                <a:gridCol w="487375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製品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分類</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特徴</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548640">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Oracle Database</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商用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大規模な基幹系で広く利用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Microsoft SQL Server</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商用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Windows系との連携</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48640">
                <a:tc>
                  <a:txBody>
                    <a:bodyPr/>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MySQL</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1E4"/>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オープンソース</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Webシステムで広く利用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MariaDB</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1E4"/>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オープンソース</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MySQLから派生</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48640">
                <a:tc>
                  <a:txBody>
                    <a:bodyPr/>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PostgreSQL</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1E4"/>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オープンソース</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高機能・標準SQL重視</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lnSpc>
                          <a:spcPts val="2400"/>
                        </a:lnSpc>
                        <a:buNone/>
                      </a:pPr>
                      <a:r>
                        <a:rPr lang="ja-JP" altLang="en-US" sz="1800" b="1" dirty="0">
                          <a:solidFill>
                            <a:srgbClr val="475569"/>
                          </a:solidFill>
                          <a:latin typeface="Yu Gothic" pitchFamily="34" charset="0"/>
                          <a:ea typeface="Yu Gothic" pitchFamily="34" charset="-122"/>
                          <a:cs typeface="Yu Gothic" pitchFamily="34" charset="-120"/>
                        </a:rPr>
                        <a:t>SQLite</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2E8F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組み込み型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1ファイルで動く軽量DB</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0" name="Shape 6"/>
          <p:cNvSpPr/>
          <p:nvPr/>
        </p:nvSpPr>
        <p:spPr>
          <a:xfrm>
            <a:off x="457200" y="5760720"/>
            <a:ext cx="11274552" cy="548640"/>
          </a:xfrm>
          <a:prstGeom prst="roundRect">
            <a:avLst>
              <a:gd name="adj" fmla="val 20000"/>
            </a:avLst>
          </a:prstGeom>
          <a:solidFill>
            <a:srgbClr val="DCE8F8"/>
          </a:solidFill>
          <a:ln w="19050">
            <a:solidFill>
              <a:srgbClr val="2F6BC2"/>
            </a:solidFill>
            <a:prstDash val="solid"/>
          </a:ln>
        </p:spPr>
      </p:sp>
      <p:sp>
        <p:nvSpPr>
          <p:cNvPr id="11" name="Shape 7"/>
          <p:cNvSpPr/>
          <p:nvPr/>
        </p:nvSpPr>
        <p:spPr>
          <a:xfrm>
            <a:off x="594360" y="5852160"/>
            <a:ext cx="365760" cy="365760"/>
          </a:xfrm>
          <a:prstGeom prst="ellipse">
            <a:avLst/>
          </a:prstGeom>
          <a:solidFill>
            <a:srgbClr val="2F6BC2"/>
          </a:solidFill>
          <a:ln/>
        </p:spPr>
      </p:sp>
      <p:pic>
        <p:nvPicPr>
          <p:cNvPr id="12" name="Image 0" descr="preencoded.png">    </p:cNvPr>
          <p:cNvPicPr>
            <a:picLocks noChangeAspect="1"/>
          </p:cNvPicPr>
          <p:nvPr/>
        </p:nvPicPr>
        <p:blipFill>
          <a:blip r:embed="rId1"/>
          <a:stretch>
            <a:fillRect/>
          </a:stretch>
        </p:blipFill>
        <p:spPr>
          <a:xfrm>
            <a:off x="674827" y="5932627"/>
            <a:ext cx="204826" cy="204826"/>
          </a:xfrm>
          <a:prstGeom prst="rect">
            <a:avLst/>
          </a:prstGeom>
        </p:spPr>
      </p:pic>
      <p:sp>
        <p:nvSpPr>
          <p:cNvPr id="13" name="Text 8"/>
          <p:cNvSpPr txBox="1"/>
          <p:nvPr/>
        </p:nvSpPr>
        <p:spPr>
          <a:xfrm>
            <a:off x="1097280" y="5806440"/>
            <a:ext cx="10497312" cy="4572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クラウドでは、DBを「サービス」として借りる（マネージドDB）こともある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データベース</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7626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SQLの基本①：SELECTで必要な行と列を取り出す</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SELECTは「どの列を」「どの表から」「どの条件の行を」「どの順で」取り出すかを書きます。書く順番は、SELECT→FROM→WHERE→ORDER BYです。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[K04]</a:t>
            </a:r>
            <a:endParaRPr lang="ja-JP" sz="1200" dirty="0"/>
          </a:p>
        </p:txBody>
      </p:sp>
      <p:sp>
        <p:nvSpPr>
          <p:cNvPr id="9" name="Shape 6"/>
          <p:cNvSpPr/>
          <p:nvPr/>
        </p:nvSpPr>
        <p:spPr>
          <a:xfrm>
            <a:off x="457200" y="1783080"/>
            <a:ext cx="11274552" cy="1200150"/>
          </a:xfrm>
          <a:prstGeom prst="roundRect">
            <a:avLst>
              <a:gd name="adj" fmla="val 9143"/>
            </a:avLst>
          </a:prstGeom>
          <a:solidFill>
            <a:srgbClr val="0F2438"/>
          </a:solidFill>
          <a:ln/>
        </p:spPr>
      </p:sp>
      <p:sp>
        <p:nvSpPr>
          <p:cNvPr id="10" name="Text 7"/>
          <p:cNvSpPr txBox="1"/>
          <p:nvPr/>
        </p:nvSpPr>
        <p:spPr>
          <a:xfrm>
            <a:off x="640080" y="1892808"/>
            <a:ext cx="10908792" cy="980694"/>
          </a:xfrm>
          <a:prstGeom prst="rect">
            <a:avLst/>
          </a:prstGeom>
          <a:noFill/>
          <a:ln/>
        </p:spPr>
        <p:txBody>
          <a:bodyPr wrap="square" lIns="0" tIns="0" rIns="0" bIns="0" rtlCol="0" anchor="t"/>
          <a:lstStyle/>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SELECT name, city</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FROM customers</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WHERE city = 'Tokyo' ORDER BY name;</a:t>
            </a:r>
            <a:endParaRPr lang="en-US" sz="1800" dirty="0"/>
          </a:p>
        </p:txBody>
      </p:sp>
      <p:sp>
        <p:nvSpPr>
          <p:cNvPr id="11" name="Text 8"/>
          <p:cNvSpPr txBox="1"/>
          <p:nvPr/>
        </p:nvSpPr>
        <p:spPr>
          <a:xfrm>
            <a:off x="457200" y="3108960"/>
            <a:ext cx="5486400" cy="365760"/>
          </a:xfrm>
          <a:prstGeom prst="rect">
            <a:avLst/>
          </a:prstGeom>
          <a:noFill/>
          <a:ln/>
        </p:spPr>
        <p:txBody>
          <a:bodyPr wrap="square" lIns="0" tIns="0" rIns="0" bIns="0" rtlCol="0" anchor="t"/>
          <a:lstStyle/>
          <a:p>
            <a:pPr algn="l"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元の表（customers）</a:t>
            </a:r>
            <a:endParaRPr lang="en-US" sz="1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3520440"/>
          <a:ext cx="5303520" cy="914400"/>
        </p:xfrm>
        <a:graphic>
          <a:graphicData uri="http://schemas.openxmlformats.org/drawingml/2006/table">
            <a:tbl>
              <a:tblPr/>
              <a:tblGrid>
                <a:gridCol w="1097280"/>
                <a:gridCol w="2103120"/>
                <a:gridCol w="2103120"/>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id</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7A7A"/>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name</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7A7A"/>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city</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7A7A"/>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Sato</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Tokyo</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Suzuki</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Osaka</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Tanaka</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Tokyo</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3" name="Text 9"/>
          <p:cNvSpPr txBox="1"/>
          <p:nvPr/>
        </p:nvSpPr>
        <p:spPr>
          <a:xfrm>
            <a:off x="6583680" y="3108960"/>
            <a:ext cx="5486400" cy="365760"/>
          </a:xfrm>
          <a:prstGeom prst="rect">
            <a:avLst/>
          </a:prstGeom>
          <a:noFill/>
          <a:ln/>
        </p:spPr>
        <p:txBody>
          <a:bodyPr wrap="square" lIns="0" tIns="0" rIns="0" bIns="0" rtlCol="0" anchor="t"/>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結果</a:t>
            </a:r>
            <a:endParaRPr lang="en-US" sz="1800" dirty="0"/>
          </a:p>
        </p:txBody>
      </p:sp>
      <p:graphicFrame>
        <p:nvGraphicFramePr>
          <p:cNvPr id="69" name="Table 1"/>
          <p:cNvGraphicFramePr>
            <a:graphicFrameLocks noGrp="1"/>
          </p:cNvGraphicFramePr>
          <p:nvPr>
            <p:extLst>
              <p:ext uri="{D42A27DB-BD31-4B8C-83A1-F6EECF244321}">
                <p14:modId xmlns:p14="http://schemas.microsoft.com/office/powerpoint/2010/main" val="1579011935"/>
              </p:ext>
            </p:extLst>
          </p:nvPr>
        </p:nvGraphicFramePr>
        <p:xfrm>
          <a:off x="6583680" y="3520440"/>
          <a:ext cx="5120640" cy="914400"/>
        </p:xfrm>
        <a:graphic>
          <a:graphicData uri="http://schemas.openxmlformats.org/drawingml/2006/table">
            <a:tbl>
              <a:tblPr/>
              <a:tblGrid>
                <a:gridCol w="2560320"/>
                <a:gridCol w="2560320"/>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name</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city</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Sato</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Tokyo</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Tanaka</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Tokyo</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5" name="Shape 10"/>
          <p:cNvSpPr/>
          <p:nvPr/>
        </p:nvSpPr>
        <p:spPr>
          <a:xfrm>
            <a:off x="457200" y="5623560"/>
            <a:ext cx="11274552" cy="685800"/>
          </a:xfrm>
          <a:prstGeom prst="roundRect">
            <a:avLst>
              <a:gd name="adj" fmla="val 16000"/>
            </a:avLst>
          </a:prstGeom>
          <a:solidFill>
            <a:srgbClr val="DCE8F8"/>
          </a:solidFill>
          <a:ln w="19050">
            <a:solidFill>
              <a:srgbClr val="2F6BC2"/>
            </a:solidFill>
            <a:prstDash val="solid"/>
          </a:ln>
        </p:spPr>
      </p:sp>
      <p:sp>
        <p:nvSpPr>
          <p:cNvPr id="16" name="Shape 11"/>
          <p:cNvSpPr/>
          <p:nvPr/>
        </p:nvSpPr>
        <p:spPr>
          <a:xfrm>
            <a:off x="594360" y="5737860"/>
            <a:ext cx="457200" cy="457200"/>
          </a:xfrm>
          <a:prstGeom prst="ellipse">
            <a:avLst/>
          </a:prstGeom>
          <a:solidFill>
            <a:srgbClr val="2F6BC2"/>
          </a:solidFill>
          <a:ln/>
        </p:spPr>
      </p:sp>
      <p:pic>
        <p:nvPicPr>
          <p:cNvPr id="17" name="Image 0" descr="preencoded.png">    </p:cNvPr>
          <p:cNvPicPr>
            <a:picLocks noChangeAspect="1"/>
          </p:cNvPicPr>
          <p:nvPr/>
        </p:nvPicPr>
        <p:blipFill>
          <a:blip r:embed="rId1"/>
          <a:stretch>
            <a:fillRect/>
          </a:stretch>
        </p:blipFill>
        <p:spPr>
          <a:xfrm>
            <a:off x="694944" y="5838444"/>
            <a:ext cx="256032" cy="256032"/>
          </a:xfrm>
          <a:prstGeom prst="rect">
            <a:avLst/>
          </a:prstGeom>
        </p:spPr>
      </p:pic>
      <p:sp>
        <p:nvSpPr>
          <p:cNvPr id="18" name="Text 12"/>
          <p:cNvSpPr txBox="1"/>
          <p:nvPr/>
        </p:nvSpPr>
        <p:spPr>
          <a:xfrm>
            <a:off x="1188720" y="5669280"/>
            <a:ext cx="10405872" cy="59436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SELECT（列）→FROM（表）→WHERE（条件）→ORDER BY（並べ替え）の順に書く</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データベース</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7626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SQLの基本②：追加・変更・削除はWHEREに注意</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データを足す（INSERT）、変える（UPDATE）、消す（DELETE）の3つが更新の基本です。UPDATEとDELETEは、WHEREを忘れると全行が対象になります。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[K04]</a:t>
            </a:r>
            <a:endParaRPr lang="ja-JP"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1828800"/>
                <a:gridCol w="2103120"/>
                <a:gridCol w="734263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操作</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意味</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777240">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SELECT</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取り出す</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SELECT * FROM customers;</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INSERT</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1E4"/>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追加する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INSERT INTO customers VALUES (4, 'Ito', 'Nagoya');</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777240">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UPDATE</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変更する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UPDATE customers SET city = 'Kyoto' WHERE id = 2;</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algn="l"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DELETE</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3E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削除する</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DELETE FROM customers WHERE id = 4;</a:t>
                      </a:r>
                      <a:endParaRPr lang="en-US" sz="1200" dirty="0"/>
                    </a:p>
                  </a:txBody>
                  <a:tcPr marL="114300" marR="114300" marT="63500" marB="635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0" name="Shape 6"/>
          <p:cNvSpPr/>
          <p:nvPr/>
        </p:nvSpPr>
        <p:spPr>
          <a:xfrm>
            <a:off x="457200" y="5257800"/>
            <a:ext cx="11274552" cy="1051560"/>
          </a:xfrm>
          <a:prstGeom prst="roundRect">
            <a:avLst>
              <a:gd name="adj" fmla="val 10435"/>
            </a:avLst>
          </a:prstGeom>
          <a:solidFill>
            <a:srgbClr val="FBE3E0"/>
          </a:solidFill>
          <a:ln w="19050">
            <a:solidFill>
              <a:srgbClr val="C0392B"/>
            </a:solidFill>
            <a:prstDash val="solid"/>
          </a:ln>
        </p:spPr>
      </p:sp>
      <p:sp>
        <p:nvSpPr>
          <p:cNvPr id="11" name="Shape 7"/>
          <p:cNvSpPr/>
          <p:nvPr/>
        </p:nvSpPr>
        <p:spPr>
          <a:xfrm>
            <a:off x="594360" y="5554980"/>
            <a:ext cx="457200" cy="457200"/>
          </a:xfrm>
          <a:prstGeom prst="ellipse">
            <a:avLst/>
          </a:prstGeom>
          <a:solidFill>
            <a:srgbClr val="C0392B"/>
          </a:solidFill>
          <a:ln/>
        </p:spPr>
      </p:sp>
      <p:pic>
        <p:nvPicPr>
          <p:cNvPr id="12" name="Image 0" descr="preencoded.png">    </p:cNvPr>
          <p:cNvPicPr>
            <a:picLocks noChangeAspect="1"/>
          </p:cNvPicPr>
          <p:nvPr/>
        </p:nvPicPr>
        <p:blipFill>
          <a:blip r:embed="rId1"/>
          <a:stretch>
            <a:fillRect/>
          </a:stretch>
        </p:blipFill>
        <p:spPr>
          <a:xfrm>
            <a:off x="694944" y="5655564"/>
            <a:ext cx="256032" cy="256032"/>
          </a:xfrm>
          <a:prstGeom prst="rect">
            <a:avLst/>
          </a:prstGeom>
        </p:spPr>
      </p:pic>
      <p:sp>
        <p:nvSpPr>
          <p:cNvPr id="13" name="Text 8"/>
          <p:cNvSpPr txBox="1"/>
          <p:nvPr/>
        </p:nvSpPr>
        <p:spPr>
          <a:xfrm>
            <a:off x="1188720" y="5303520"/>
            <a:ext cx="10405872" cy="960120"/>
          </a:xfrm>
          <a:prstGeom prst="rect">
            <a:avLst/>
          </a:prstGeom>
          <a:noFill/>
          <a:ln/>
        </p:spPr>
        <p:txBody>
          <a:bodyPr wrap="square" lIns="0" tIns="0" rIns="0" bIns="0" rtlCol="0" anchor="ctr"/>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UPDATE／DELETEはWHEREを付け忘れると全行が対象。実行前に同じ条件のSELECTで対象を確認する</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データベース</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7626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SQLの基本③：JOINで表をつなぎ、GROUP BYで集計する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JOINは、主キーと外部キーを使って2つの表をつなぎます。GROUP BYは、同じ値の行をまとめて合計・件数などを出します。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[K04]</a:t>
            </a:r>
            <a:endParaRPr lang="ja-JP" sz="1200" dirty="0"/>
          </a:p>
        </p:txBody>
      </p:sp>
      <p:sp>
        <p:nvSpPr>
          <p:cNvPr id="9" name="Shape 6"/>
          <p:cNvSpPr/>
          <p:nvPr/>
        </p:nvSpPr>
        <p:spPr>
          <a:xfrm>
            <a:off x="457200" y="1783080"/>
            <a:ext cx="5532120" cy="1508760"/>
          </a:xfrm>
          <a:prstGeom prst="roundRect">
            <a:avLst>
              <a:gd name="adj" fmla="val 7273"/>
            </a:avLst>
          </a:prstGeom>
          <a:solidFill>
            <a:srgbClr val="0F2438"/>
          </a:solidFill>
          <a:ln/>
        </p:spPr>
      </p:sp>
      <p:sp>
        <p:nvSpPr>
          <p:cNvPr id="10" name="Text 7"/>
          <p:cNvSpPr txBox="1"/>
          <p:nvPr/>
        </p:nvSpPr>
        <p:spPr>
          <a:xfrm>
            <a:off x="640080" y="1892808"/>
            <a:ext cx="5166360" cy="1289304"/>
          </a:xfrm>
          <a:prstGeom prst="rect">
            <a:avLst/>
          </a:prstGeom>
          <a:noFill/>
          <a:ln/>
        </p:spPr>
        <p:txBody>
          <a:bodyPr wrap="square" lIns="0" tIns="0" rIns="0" bIns="0" rtlCol="0" anchor="t"/>
          <a:lstStyle/>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SELECT c.name, o.amount</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FROM customers c</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JOIN orders o</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  ON o.customer_id = c.id;</a:t>
            </a:r>
            <a:endParaRPr lang="en-US" sz="1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3520440"/>
          <a:ext cx="5532120" cy="914400"/>
        </p:xfrm>
        <a:graphic>
          <a:graphicData uri="http://schemas.openxmlformats.org/drawingml/2006/table">
            <a:tbl>
              <a:tblPr/>
              <a:tblGrid>
                <a:gridCol w="2743200"/>
                <a:gridCol w="2788920"/>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name</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amount</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Sato</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3000</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Sato</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1200</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Suzuki</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5000</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2" name="Shape 8"/>
          <p:cNvSpPr/>
          <p:nvPr/>
        </p:nvSpPr>
        <p:spPr>
          <a:xfrm>
            <a:off x="6199632" y="1783080"/>
            <a:ext cx="5532120" cy="1508760"/>
          </a:xfrm>
          <a:prstGeom prst="roundRect">
            <a:avLst>
              <a:gd name="adj" fmla="val 7273"/>
            </a:avLst>
          </a:prstGeom>
          <a:solidFill>
            <a:srgbClr val="0F2438"/>
          </a:solidFill>
          <a:ln/>
        </p:spPr>
      </p:sp>
      <p:sp>
        <p:nvSpPr>
          <p:cNvPr id="13" name="Text 9"/>
          <p:cNvSpPr txBox="1"/>
          <p:nvPr/>
        </p:nvSpPr>
        <p:spPr>
          <a:xfrm>
            <a:off x="6382512" y="1892808"/>
            <a:ext cx="5166360" cy="1289304"/>
          </a:xfrm>
          <a:prstGeom prst="rect">
            <a:avLst/>
          </a:prstGeom>
          <a:noFill/>
          <a:ln/>
        </p:spPr>
        <p:txBody>
          <a:bodyPr wrap="square" lIns="0" tIns="0" rIns="0" bIns="0" rtlCol="0" anchor="t"/>
          <a:lstStyle/>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SELECT c.name, SUM(o.amount)</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FROM customers c</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JOIN orders o ON o.customer_id = c.id</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GROUP BY c.name;</a:t>
            </a:r>
            <a:endParaRPr lang="en-US" sz="1800" dirty="0"/>
          </a:p>
        </p:txBody>
      </p:sp>
      <p:graphicFrame>
        <p:nvGraphicFramePr>
          <p:cNvPr id="73" name="Table 1"/>
          <p:cNvGraphicFramePr>
            <a:graphicFrameLocks noGrp="1"/>
          </p:cNvGraphicFramePr>
          <p:nvPr>
            <p:extLst>
              <p:ext uri="{D42A27DB-BD31-4B8C-83A1-F6EECF244321}">
                <p14:modId xmlns:p14="http://schemas.microsoft.com/office/powerpoint/2010/main" val="1579011935"/>
              </p:ext>
            </p:extLst>
          </p:nvPr>
        </p:nvGraphicFramePr>
        <p:xfrm>
          <a:off x="6199632" y="3520440"/>
          <a:ext cx="5532120" cy="914400"/>
        </p:xfrm>
        <a:graphic>
          <a:graphicData uri="http://schemas.openxmlformats.org/drawingml/2006/table">
            <a:tbl>
              <a:tblPr/>
              <a:tblGrid>
                <a:gridCol w="2743200"/>
                <a:gridCol w="2788920"/>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name</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SUM(amount)</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Sato</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4200</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Suzuki</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5000</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5" name="Shape 10"/>
          <p:cNvSpPr/>
          <p:nvPr/>
        </p:nvSpPr>
        <p:spPr>
          <a:xfrm>
            <a:off x="457200" y="5486400"/>
            <a:ext cx="11274552" cy="822960"/>
          </a:xfrm>
          <a:prstGeom prst="roundRect">
            <a:avLst>
              <a:gd name="adj" fmla="val 13333"/>
            </a:avLst>
          </a:prstGeom>
          <a:solidFill>
            <a:srgbClr val="DCE8F8"/>
          </a:solidFill>
          <a:ln w="19050">
            <a:solidFill>
              <a:srgbClr val="2F6BC2"/>
            </a:solidFill>
            <a:prstDash val="solid"/>
          </a:ln>
        </p:spPr>
      </p:sp>
      <p:sp>
        <p:nvSpPr>
          <p:cNvPr id="16" name="Shape 11"/>
          <p:cNvSpPr/>
          <p:nvPr/>
        </p:nvSpPr>
        <p:spPr>
          <a:xfrm>
            <a:off x="594360" y="5669280"/>
            <a:ext cx="457200" cy="457200"/>
          </a:xfrm>
          <a:prstGeom prst="ellipse">
            <a:avLst/>
          </a:prstGeom>
          <a:solidFill>
            <a:srgbClr val="2F6BC2"/>
          </a:solidFill>
          <a:ln/>
        </p:spPr>
      </p:sp>
      <p:pic>
        <p:nvPicPr>
          <p:cNvPr id="17" name="Image 0" descr="preencoded.png">    </p:cNvPr>
          <p:cNvPicPr>
            <a:picLocks noChangeAspect="1"/>
          </p:cNvPicPr>
          <p:nvPr/>
        </p:nvPicPr>
        <p:blipFill>
          <a:blip r:embed="rId1"/>
          <a:stretch>
            <a:fillRect/>
          </a:stretch>
        </p:blipFill>
        <p:spPr>
          <a:xfrm>
            <a:off x="694944" y="5769864"/>
            <a:ext cx="256032" cy="256032"/>
          </a:xfrm>
          <a:prstGeom prst="rect">
            <a:avLst/>
          </a:prstGeom>
        </p:spPr>
      </p:pic>
      <p:sp>
        <p:nvSpPr>
          <p:cNvPr id="18" name="Text 12"/>
          <p:cNvSpPr txBox="1"/>
          <p:nvPr/>
        </p:nvSpPr>
        <p:spPr>
          <a:xfrm>
            <a:off x="1188720" y="5532120"/>
            <a:ext cx="10405872" cy="73152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Tanakaは注文がないのでJOINの結果に出ない。LEFT JOINなら出て、amountはNULL（値なし）になる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データベース</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7626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トランザクションとACID：全部成功か、全部取り消し</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トランザクションは「分けられない一連の処理」です。銀行の送金のように、途中で失敗したら全部なかったことにする仕組みで、その性質がACID（4つの特性）です。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[K04]</a:t>
            </a:r>
            <a:endParaRPr lang="ja-JP" sz="1200" dirty="0"/>
          </a:p>
        </p:txBody>
      </p:sp>
      <p:sp>
        <p:nvSpPr>
          <p:cNvPr id="9" name="Shape 6"/>
          <p:cNvSpPr/>
          <p:nvPr/>
        </p:nvSpPr>
        <p:spPr>
          <a:xfrm>
            <a:off x="457200" y="1783080"/>
            <a:ext cx="11274552" cy="1508760"/>
          </a:xfrm>
          <a:prstGeom prst="roundRect">
            <a:avLst>
              <a:gd name="adj" fmla="val 7273"/>
            </a:avLst>
          </a:prstGeom>
          <a:solidFill>
            <a:srgbClr val="0F2438"/>
          </a:solidFill>
          <a:ln/>
        </p:spPr>
      </p:sp>
      <p:sp>
        <p:nvSpPr>
          <p:cNvPr id="10" name="Text 7"/>
          <p:cNvSpPr txBox="1"/>
          <p:nvPr/>
        </p:nvSpPr>
        <p:spPr>
          <a:xfrm>
            <a:off x="640080" y="1892808"/>
            <a:ext cx="10908792" cy="1289304"/>
          </a:xfrm>
          <a:prstGeom prst="rect">
            <a:avLst/>
          </a:prstGeom>
          <a:noFill/>
          <a:ln/>
        </p:spPr>
        <p:txBody>
          <a:bodyPr wrap="square" lIns="0" tIns="0" rIns="0" bIns="0" rtlCol="0" anchor="t"/>
          <a:lstStyle/>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BEGIN;</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UPDATE account SET balance = balance - 1000 WHERE id = 'A';</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UPDATE account SET balance = balance + 1000 WHERE id = 'B';</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COMMIT;   -- on error: ROLLBACK;</a:t>
            </a:r>
            <a:endParaRPr lang="en-US" sz="1800" dirty="0"/>
          </a:p>
        </p:txBody>
      </p:sp>
      <p:sp>
        <p:nvSpPr>
          <p:cNvPr id="11" name="Shape 8"/>
          <p:cNvSpPr/>
          <p:nvPr/>
        </p:nvSpPr>
        <p:spPr>
          <a:xfrm>
            <a:off x="457200" y="3886200"/>
            <a:ext cx="2697480" cy="2377440"/>
          </a:xfrm>
          <a:prstGeom prst="roundRect">
            <a:avLst>
              <a:gd name="adj" fmla="val 5385"/>
            </a:avLst>
          </a:prstGeom>
          <a:solidFill>
            <a:srgbClr val="E6E1F7"/>
          </a:solidFill>
          <a:ln/>
        </p:spPr>
      </p:sp>
      <p:sp>
        <p:nvSpPr>
          <p:cNvPr id="12" name="Text 9"/>
          <p:cNvSpPr txBox="1"/>
          <p:nvPr/>
        </p:nvSpPr>
        <p:spPr>
          <a:xfrm>
            <a:off x="640080" y="4014216"/>
            <a:ext cx="233172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5B46B8"/>
                </a:solidFill>
                <a:latin typeface="Yu Gothic" pitchFamily="34" charset="0"/>
                <a:ea typeface="Yu Gothic" pitchFamily="34" charset="-122"/>
                <a:cs typeface="Yu Gothic" pitchFamily="34" charset="-120"/>
              </a:rPr>
              <a:t>A 原子性</a:t>
            </a:r>
            <a:endParaRPr lang="en-US" sz="2200" dirty="0"/>
          </a:p>
        </p:txBody>
      </p:sp>
      <p:sp>
        <p:nvSpPr>
          <p:cNvPr id="13" name="Text 10"/>
          <p:cNvSpPr txBox="1"/>
          <p:nvPr/>
        </p:nvSpPr>
        <p:spPr>
          <a:xfrm>
            <a:off x="640080" y="4474464"/>
            <a:ext cx="2331720" cy="1697736"/>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全部成功か、全部なしか</a:t>
            </a:r>
            <a:endParaRPr lang="en-US" sz="1800" dirty="0"/>
          </a:p>
        </p:txBody>
      </p:sp>
      <p:sp>
        <p:nvSpPr>
          <p:cNvPr id="14" name="Shape 11"/>
          <p:cNvSpPr/>
          <p:nvPr/>
        </p:nvSpPr>
        <p:spPr>
          <a:xfrm>
            <a:off x="3291840" y="3886200"/>
            <a:ext cx="2697480" cy="2377440"/>
          </a:xfrm>
          <a:prstGeom prst="roundRect">
            <a:avLst>
              <a:gd name="adj" fmla="val 5385"/>
            </a:avLst>
          </a:prstGeom>
          <a:solidFill>
            <a:srgbClr val="DCE8F8"/>
          </a:solidFill>
          <a:ln/>
        </p:spPr>
      </p:sp>
      <p:sp>
        <p:nvSpPr>
          <p:cNvPr id="15" name="Text 12"/>
          <p:cNvSpPr txBox="1"/>
          <p:nvPr/>
        </p:nvSpPr>
        <p:spPr>
          <a:xfrm>
            <a:off x="3474720" y="4014216"/>
            <a:ext cx="233172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C 一貫性</a:t>
            </a:r>
            <a:endParaRPr lang="en-US" sz="2200" dirty="0"/>
          </a:p>
        </p:txBody>
      </p:sp>
      <p:sp>
        <p:nvSpPr>
          <p:cNvPr id="16" name="Text 13"/>
          <p:cNvSpPr txBox="1"/>
          <p:nvPr/>
        </p:nvSpPr>
        <p:spPr>
          <a:xfrm>
            <a:off x="3474720" y="4474464"/>
            <a:ext cx="2331720" cy="1697736"/>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データのルールが守られる</a:t>
            </a:r>
            <a:endParaRPr lang="en-US" sz="1800" dirty="0"/>
          </a:p>
        </p:txBody>
      </p:sp>
      <p:sp>
        <p:nvSpPr>
          <p:cNvPr id="17" name="Shape 14"/>
          <p:cNvSpPr/>
          <p:nvPr/>
        </p:nvSpPr>
        <p:spPr>
          <a:xfrm>
            <a:off x="6126480" y="3886200"/>
            <a:ext cx="2697480" cy="2377440"/>
          </a:xfrm>
          <a:prstGeom prst="roundRect">
            <a:avLst>
              <a:gd name="adj" fmla="val 5385"/>
            </a:avLst>
          </a:prstGeom>
          <a:solidFill>
            <a:srgbClr val="D9F2F1"/>
          </a:solidFill>
          <a:ln/>
        </p:spPr>
      </p:sp>
      <p:sp>
        <p:nvSpPr>
          <p:cNvPr id="18" name="Text 15"/>
          <p:cNvSpPr txBox="1"/>
          <p:nvPr/>
        </p:nvSpPr>
        <p:spPr>
          <a:xfrm>
            <a:off x="6309360" y="4014216"/>
            <a:ext cx="233172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I 独立性</a:t>
            </a:r>
            <a:endParaRPr lang="en-US" sz="2200" dirty="0"/>
          </a:p>
        </p:txBody>
      </p:sp>
      <p:sp>
        <p:nvSpPr>
          <p:cNvPr id="19" name="Text 16"/>
          <p:cNvSpPr txBox="1"/>
          <p:nvPr/>
        </p:nvSpPr>
        <p:spPr>
          <a:xfrm>
            <a:off x="6309360" y="4474464"/>
            <a:ext cx="2331720" cy="1697736"/>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同時の処理が干渉しない</a:t>
            </a:r>
            <a:endParaRPr lang="en-US" sz="1800" dirty="0"/>
          </a:p>
        </p:txBody>
      </p:sp>
      <p:sp>
        <p:nvSpPr>
          <p:cNvPr id="20" name="Shape 17"/>
          <p:cNvSpPr/>
          <p:nvPr/>
        </p:nvSpPr>
        <p:spPr>
          <a:xfrm>
            <a:off x="8961120" y="3886200"/>
            <a:ext cx="2697480" cy="2377440"/>
          </a:xfrm>
          <a:prstGeom prst="roundRect">
            <a:avLst>
              <a:gd name="adj" fmla="val 5385"/>
            </a:avLst>
          </a:prstGeom>
          <a:solidFill>
            <a:srgbClr val="DDF1E4"/>
          </a:solidFill>
          <a:ln/>
        </p:spPr>
      </p:sp>
      <p:sp>
        <p:nvSpPr>
          <p:cNvPr id="21" name="Text 18"/>
          <p:cNvSpPr txBox="1"/>
          <p:nvPr/>
        </p:nvSpPr>
        <p:spPr>
          <a:xfrm>
            <a:off x="9144000" y="4014216"/>
            <a:ext cx="233172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D 永続性</a:t>
            </a:r>
            <a:endParaRPr lang="en-US" sz="2200" dirty="0"/>
          </a:p>
        </p:txBody>
      </p:sp>
      <p:sp>
        <p:nvSpPr>
          <p:cNvPr id="22" name="Text 19"/>
          <p:cNvSpPr txBox="1"/>
          <p:nvPr/>
        </p:nvSpPr>
        <p:spPr>
          <a:xfrm>
            <a:off x="9144000" y="4474464"/>
            <a:ext cx="2331720" cy="1697736"/>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COMMITしたら消えない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データベース</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7068007" y="237744"/>
            <a:ext cx="2722880" cy="310896"/>
          </a:xfrm>
          <a:prstGeom prst="roundRect">
            <a:avLst>
              <a:gd name="adj" fmla="val 50000"/>
            </a:avLst>
          </a:prstGeom>
          <a:solidFill>
            <a:srgbClr val="FDEBD0"/>
          </a:solidFill>
          <a:ln w="9525">
            <a:solidFill>
              <a:srgbClr val="7C2D12"/>
            </a:solidFill>
          </a:ln>
        </p:spPr>
        <p:txBody>
          <a:bodyPr wrap="square" lIns="0" tIns="0" rIns="0" bIns="0" rtlCol="0" anchor="ctr"/>
          <a:lstStyle/>
          <a:p>
            <a:pPr algn="ctr" indent="0" marL="0">
              <a:buNone/>
            </a:pPr>
            <a:r>
              <a:rPr lang="ja-JP" altLang="en-US" sz="1400" b="1" dirty="0">
                <a:solidFill>
                  <a:srgbClr val="7C2D12"/>
                </a:solidFill>
                <a:latin typeface="Yu Gothic" pitchFamily="34" charset="0"/>
                <a:ea typeface="Yu Gothic" pitchFamily="34" charset="-122"/>
                <a:cs typeface="Yu Gothic" pitchFamily="34" charset="-120"/>
              </a:rPr>
              <a:t>書籍情報（検索結果で確認）</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データベースの運用：バックアップ・可用性・性能・コスト</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SQLが書けるだけでなく、「壊れても戻せるか」「止まらないか」「速いか」「いくらかかるか」まで考えるのが、業務のデータベースです。書籍⑤が体系的に扱う内容です。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出典：[K04] [H01]</a:t>
            </a:r>
            <a:endParaRPr lang="ja-JP" sz="1200" dirty="0"/>
          </a:p>
        </p:txBody>
      </p:sp>
      <p:sp>
        <p:nvSpPr>
          <p:cNvPr id="9" name="Shape 6"/>
          <p:cNvSpPr/>
          <p:nvPr/>
        </p:nvSpPr>
        <p:spPr>
          <a:xfrm>
            <a:off x="457200" y="1783080"/>
            <a:ext cx="3657600" cy="1828800"/>
          </a:xfrm>
          <a:prstGeom prst="roundRect">
            <a:avLst>
              <a:gd name="adj" fmla="val 7000"/>
            </a:avLst>
          </a:prstGeom>
          <a:solidFill>
            <a:srgbClr val="E6E1F7"/>
          </a:solidFill>
          <a:ln/>
        </p:spPr>
      </p:sp>
      <p:sp>
        <p:nvSpPr>
          <p:cNvPr id="10" name="Shape 7"/>
          <p:cNvSpPr/>
          <p:nvPr/>
        </p:nvSpPr>
        <p:spPr>
          <a:xfrm>
            <a:off x="621792" y="1911096"/>
            <a:ext cx="512064" cy="512064"/>
          </a:xfrm>
          <a:prstGeom prst="ellipse">
            <a:avLst/>
          </a:prstGeom>
          <a:solidFill>
            <a:srgbClr val="5B46B8"/>
          </a:solidFill>
          <a:ln/>
        </p:spPr>
      </p:sp>
      <p:pic>
        <p:nvPicPr>
          <p:cNvPr id="11" name="Image 0" descr="preencoded.png">    </p:cNvPr>
          <p:cNvPicPr>
            <a:picLocks noChangeAspect="1"/>
          </p:cNvPicPr>
          <p:nvPr/>
        </p:nvPicPr>
        <p:blipFill>
          <a:blip r:embed="rId1"/>
          <a:stretch>
            <a:fillRect/>
          </a:stretch>
        </p:blipFill>
        <p:spPr>
          <a:xfrm>
            <a:off x="734446" y="2023750"/>
            <a:ext cx="286756" cy="286756"/>
          </a:xfrm>
          <a:prstGeom prst="rect">
            <a:avLst/>
          </a:prstGeom>
        </p:spPr>
      </p:pic>
      <p:sp>
        <p:nvSpPr>
          <p:cNvPr id="12" name="Text 8"/>
          <p:cNvSpPr txBox="1"/>
          <p:nvPr/>
        </p:nvSpPr>
        <p:spPr>
          <a:xfrm>
            <a:off x="1243584" y="1911096"/>
            <a:ext cx="273405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5B46B8"/>
                </a:solidFill>
                <a:latin typeface="Yu Gothic" pitchFamily="34" charset="0"/>
                <a:ea typeface="Yu Gothic" pitchFamily="34" charset="-122"/>
                <a:cs typeface="Yu Gothic" pitchFamily="34" charset="-120"/>
              </a:rPr>
              <a:t>正規化</a:t>
            </a:r>
            <a:endParaRPr lang="en-US" sz="2200" dirty="0"/>
          </a:p>
        </p:txBody>
      </p:sp>
      <p:sp>
        <p:nvSpPr>
          <p:cNvPr id="13" name="Text 9"/>
          <p:cNvSpPr txBox="1"/>
          <p:nvPr/>
        </p:nvSpPr>
        <p:spPr>
          <a:xfrm>
            <a:off x="640080" y="2514600"/>
            <a:ext cx="3291840" cy="100584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重複をなくし、更新ミスを防ぐ</a:t>
            </a:r>
            <a:endParaRPr lang="en-US" sz="1800" dirty="0"/>
          </a:p>
        </p:txBody>
      </p:sp>
      <p:sp>
        <p:nvSpPr>
          <p:cNvPr id="14" name="Shape 10"/>
          <p:cNvSpPr/>
          <p:nvPr/>
        </p:nvSpPr>
        <p:spPr>
          <a:xfrm>
            <a:off x="4265676" y="1783080"/>
            <a:ext cx="3657600" cy="1828800"/>
          </a:xfrm>
          <a:prstGeom prst="roundRect">
            <a:avLst>
              <a:gd name="adj" fmla="val 7000"/>
            </a:avLst>
          </a:prstGeom>
          <a:solidFill>
            <a:srgbClr val="DDF1E4"/>
          </a:solidFill>
          <a:ln/>
        </p:spPr>
      </p:sp>
      <p:sp>
        <p:nvSpPr>
          <p:cNvPr id="15" name="Shape 11"/>
          <p:cNvSpPr/>
          <p:nvPr/>
        </p:nvSpPr>
        <p:spPr>
          <a:xfrm>
            <a:off x="4430268" y="1911096"/>
            <a:ext cx="512064" cy="512064"/>
          </a:xfrm>
          <a:prstGeom prst="ellipse">
            <a:avLst/>
          </a:prstGeom>
          <a:solidFill>
            <a:srgbClr val="237A48"/>
          </a:solidFill>
          <a:ln/>
        </p:spPr>
      </p:sp>
      <p:pic>
        <p:nvPicPr>
          <p:cNvPr id="16" name="Image 1" descr="preencoded.png">    </p:cNvPr>
          <p:cNvPicPr>
            <a:picLocks noChangeAspect="1"/>
          </p:cNvPicPr>
          <p:nvPr/>
        </p:nvPicPr>
        <p:blipFill>
          <a:blip r:embed="rId2"/>
          <a:stretch>
            <a:fillRect/>
          </a:stretch>
        </p:blipFill>
        <p:spPr>
          <a:xfrm>
            <a:off x="4542922" y="2023750"/>
            <a:ext cx="286756" cy="286756"/>
          </a:xfrm>
          <a:prstGeom prst="rect">
            <a:avLst/>
          </a:prstGeom>
        </p:spPr>
      </p:pic>
      <p:sp>
        <p:nvSpPr>
          <p:cNvPr id="17" name="Text 12"/>
          <p:cNvSpPr txBox="1"/>
          <p:nvPr/>
        </p:nvSpPr>
        <p:spPr>
          <a:xfrm>
            <a:off x="5052060" y="1911096"/>
            <a:ext cx="273405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バックアップ</a:t>
            </a:r>
            <a:endParaRPr lang="en-US" sz="2200" dirty="0"/>
          </a:p>
        </p:txBody>
      </p:sp>
      <p:sp>
        <p:nvSpPr>
          <p:cNvPr id="18" name="Text 13"/>
          <p:cNvSpPr txBox="1"/>
          <p:nvPr/>
        </p:nvSpPr>
        <p:spPr>
          <a:xfrm>
            <a:off x="4448556" y="2514600"/>
            <a:ext cx="3291840" cy="100584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戻せることまで確認する</a:t>
            </a:r>
            <a:endParaRPr lang="en-US" sz="1800" dirty="0"/>
          </a:p>
        </p:txBody>
      </p:sp>
      <p:sp>
        <p:nvSpPr>
          <p:cNvPr id="19" name="Shape 14"/>
          <p:cNvSpPr/>
          <p:nvPr/>
        </p:nvSpPr>
        <p:spPr>
          <a:xfrm>
            <a:off x="8074152" y="1783080"/>
            <a:ext cx="3657600" cy="1828800"/>
          </a:xfrm>
          <a:prstGeom prst="roundRect">
            <a:avLst>
              <a:gd name="adj" fmla="val 7000"/>
            </a:avLst>
          </a:prstGeom>
          <a:solidFill>
            <a:srgbClr val="DCE8F8"/>
          </a:solidFill>
          <a:ln/>
        </p:spPr>
      </p:sp>
      <p:sp>
        <p:nvSpPr>
          <p:cNvPr id="20" name="Shape 15"/>
          <p:cNvSpPr/>
          <p:nvPr/>
        </p:nvSpPr>
        <p:spPr>
          <a:xfrm>
            <a:off x="8238744" y="1911096"/>
            <a:ext cx="512064" cy="512064"/>
          </a:xfrm>
          <a:prstGeom prst="ellipse">
            <a:avLst/>
          </a:prstGeom>
          <a:solidFill>
            <a:srgbClr val="2F6BC2"/>
          </a:solidFill>
          <a:ln/>
        </p:spPr>
      </p:sp>
      <p:pic>
        <p:nvPicPr>
          <p:cNvPr id="21" name="Image 2" descr="preencoded.png">    </p:cNvPr>
          <p:cNvPicPr>
            <a:picLocks noChangeAspect="1"/>
          </p:cNvPicPr>
          <p:nvPr/>
        </p:nvPicPr>
        <p:blipFill>
          <a:blip r:embed="rId3"/>
          <a:stretch>
            <a:fillRect/>
          </a:stretch>
        </p:blipFill>
        <p:spPr>
          <a:xfrm>
            <a:off x="8351398" y="2023750"/>
            <a:ext cx="286756" cy="286756"/>
          </a:xfrm>
          <a:prstGeom prst="rect">
            <a:avLst/>
          </a:prstGeom>
        </p:spPr>
      </p:pic>
      <p:sp>
        <p:nvSpPr>
          <p:cNvPr id="22" name="Text 16"/>
          <p:cNvSpPr txBox="1"/>
          <p:nvPr/>
        </p:nvSpPr>
        <p:spPr>
          <a:xfrm>
            <a:off x="8860536" y="1911096"/>
            <a:ext cx="273405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可用性</a:t>
            </a:r>
            <a:endParaRPr lang="en-US" sz="2200" dirty="0"/>
          </a:p>
        </p:txBody>
      </p:sp>
      <p:sp>
        <p:nvSpPr>
          <p:cNvPr id="23" name="Text 17"/>
          <p:cNvSpPr txBox="1"/>
          <p:nvPr/>
        </p:nvSpPr>
        <p:spPr>
          <a:xfrm>
            <a:off x="8257032" y="2514600"/>
            <a:ext cx="3291840" cy="100584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複製・冗長化で止まりにくくする</a:t>
            </a:r>
            <a:endParaRPr lang="en-US" sz="1800" dirty="0"/>
          </a:p>
        </p:txBody>
      </p:sp>
      <p:sp>
        <p:nvSpPr>
          <p:cNvPr id="24" name="Shape 18"/>
          <p:cNvSpPr/>
          <p:nvPr/>
        </p:nvSpPr>
        <p:spPr>
          <a:xfrm>
            <a:off x="457200" y="3749040"/>
            <a:ext cx="3657600" cy="1828800"/>
          </a:xfrm>
          <a:prstGeom prst="roundRect">
            <a:avLst>
              <a:gd name="adj" fmla="val 7000"/>
            </a:avLst>
          </a:prstGeom>
          <a:solidFill>
            <a:srgbClr val="D9F2F1"/>
          </a:solidFill>
          <a:ln/>
        </p:spPr>
      </p:sp>
      <p:sp>
        <p:nvSpPr>
          <p:cNvPr id="25" name="Shape 19"/>
          <p:cNvSpPr/>
          <p:nvPr/>
        </p:nvSpPr>
        <p:spPr>
          <a:xfrm>
            <a:off x="621792" y="3877056"/>
            <a:ext cx="512064" cy="512064"/>
          </a:xfrm>
          <a:prstGeom prst="ellipse">
            <a:avLst/>
          </a:prstGeom>
          <a:solidFill>
            <a:srgbClr val="0B7A7A"/>
          </a:solidFill>
          <a:ln/>
        </p:spPr>
      </p:sp>
      <p:pic>
        <p:nvPicPr>
          <p:cNvPr id="26" name="Image 3" descr="preencoded.png">    </p:cNvPr>
          <p:cNvPicPr>
            <a:picLocks noChangeAspect="1"/>
          </p:cNvPicPr>
          <p:nvPr/>
        </p:nvPicPr>
        <p:blipFill>
          <a:blip r:embed="rId4"/>
          <a:stretch>
            <a:fillRect/>
          </a:stretch>
        </p:blipFill>
        <p:spPr>
          <a:xfrm>
            <a:off x="734446" y="3989710"/>
            <a:ext cx="286756" cy="286756"/>
          </a:xfrm>
          <a:prstGeom prst="rect">
            <a:avLst/>
          </a:prstGeom>
        </p:spPr>
      </p:pic>
      <p:sp>
        <p:nvSpPr>
          <p:cNvPr id="27" name="Text 20"/>
          <p:cNvSpPr txBox="1"/>
          <p:nvPr/>
        </p:nvSpPr>
        <p:spPr>
          <a:xfrm>
            <a:off x="1243584" y="3877056"/>
            <a:ext cx="273405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性能</a:t>
            </a:r>
            <a:endParaRPr lang="en-US" sz="2200" dirty="0"/>
          </a:p>
        </p:txBody>
      </p:sp>
      <p:sp>
        <p:nvSpPr>
          <p:cNvPr id="28" name="Text 21"/>
          <p:cNvSpPr txBox="1"/>
          <p:nvPr/>
        </p:nvSpPr>
        <p:spPr>
          <a:xfrm>
            <a:off x="640080" y="4480560"/>
            <a:ext cx="3291840" cy="100584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索引（インデックス）で検索を速くする</a:t>
            </a:r>
            <a:endParaRPr lang="en-US" sz="1800" dirty="0"/>
          </a:p>
        </p:txBody>
      </p:sp>
      <p:sp>
        <p:nvSpPr>
          <p:cNvPr id="29" name="Shape 22"/>
          <p:cNvSpPr/>
          <p:nvPr/>
        </p:nvSpPr>
        <p:spPr>
          <a:xfrm>
            <a:off x="4265676" y="3749040"/>
            <a:ext cx="3657600" cy="1828800"/>
          </a:xfrm>
          <a:prstGeom prst="roundRect">
            <a:avLst>
              <a:gd name="adj" fmla="val 7000"/>
            </a:avLst>
          </a:prstGeom>
          <a:solidFill>
            <a:srgbClr val="FDEBD0"/>
          </a:solidFill>
          <a:ln/>
        </p:spPr>
      </p:sp>
      <p:sp>
        <p:nvSpPr>
          <p:cNvPr id="30" name="Shape 23"/>
          <p:cNvSpPr/>
          <p:nvPr/>
        </p:nvSpPr>
        <p:spPr>
          <a:xfrm>
            <a:off x="4430268" y="3877056"/>
            <a:ext cx="512064" cy="512064"/>
          </a:xfrm>
          <a:prstGeom prst="ellipse">
            <a:avLst/>
          </a:prstGeom>
          <a:solidFill>
            <a:srgbClr val="B45309"/>
          </a:solidFill>
          <a:ln/>
        </p:spPr>
      </p:sp>
      <p:pic>
        <p:nvPicPr>
          <p:cNvPr id="31" name="Image 4" descr="preencoded.png">    </p:cNvPr>
          <p:cNvPicPr>
            <a:picLocks noChangeAspect="1"/>
          </p:cNvPicPr>
          <p:nvPr/>
        </p:nvPicPr>
        <p:blipFill>
          <a:blip r:embed="rId5"/>
          <a:stretch>
            <a:fillRect/>
          </a:stretch>
        </p:blipFill>
        <p:spPr>
          <a:xfrm>
            <a:off x="4542922" y="3989710"/>
            <a:ext cx="286756" cy="286756"/>
          </a:xfrm>
          <a:prstGeom prst="rect">
            <a:avLst/>
          </a:prstGeom>
        </p:spPr>
      </p:pic>
      <p:sp>
        <p:nvSpPr>
          <p:cNvPr id="32" name="Text 24"/>
          <p:cNvSpPr txBox="1"/>
          <p:nvPr/>
        </p:nvSpPr>
        <p:spPr>
          <a:xfrm>
            <a:off x="5052060" y="3877056"/>
            <a:ext cx="273405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コスト</a:t>
            </a:r>
            <a:endParaRPr lang="en-US" sz="2200" dirty="0"/>
          </a:p>
        </p:txBody>
      </p:sp>
      <p:sp>
        <p:nvSpPr>
          <p:cNvPr id="33" name="Text 25"/>
          <p:cNvSpPr txBox="1"/>
          <p:nvPr/>
        </p:nvSpPr>
        <p:spPr>
          <a:xfrm>
            <a:off x="4448556" y="4480560"/>
            <a:ext cx="3291840" cy="100584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導入費と運用費の両方を見る</a:t>
            </a:r>
            <a:endParaRPr lang="en-US" sz="1800" dirty="0"/>
          </a:p>
        </p:txBody>
      </p:sp>
      <p:sp>
        <p:nvSpPr>
          <p:cNvPr id="34" name="Shape 26"/>
          <p:cNvSpPr/>
          <p:nvPr/>
        </p:nvSpPr>
        <p:spPr>
          <a:xfrm>
            <a:off x="8074152" y="3749040"/>
            <a:ext cx="3657600" cy="1828800"/>
          </a:xfrm>
          <a:prstGeom prst="roundRect">
            <a:avLst>
              <a:gd name="adj" fmla="val 7000"/>
            </a:avLst>
          </a:prstGeom>
          <a:solidFill>
            <a:srgbClr val="E2E8F0"/>
          </a:solidFill>
          <a:ln/>
        </p:spPr>
      </p:sp>
      <p:sp>
        <p:nvSpPr>
          <p:cNvPr id="35" name="Shape 27"/>
          <p:cNvSpPr/>
          <p:nvPr/>
        </p:nvSpPr>
        <p:spPr>
          <a:xfrm>
            <a:off x="8238744" y="3877056"/>
            <a:ext cx="512064" cy="512064"/>
          </a:xfrm>
          <a:prstGeom prst="ellipse">
            <a:avLst/>
          </a:prstGeom>
          <a:solidFill>
            <a:srgbClr val="475569"/>
          </a:solidFill>
          <a:ln/>
        </p:spPr>
      </p:sp>
      <p:pic>
        <p:nvPicPr>
          <p:cNvPr id="36" name="Image 5" descr="preencoded.png">    </p:cNvPr>
          <p:cNvPicPr>
            <a:picLocks noChangeAspect="1"/>
          </p:cNvPicPr>
          <p:nvPr/>
        </p:nvPicPr>
        <p:blipFill>
          <a:blip r:embed="rId6"/>
          <a:stretch>
            <a:fillRect/>
          </a:stretch>
        </p:blipFill>
        <p:spPr>
          <a:xfrm>
            <a:off x="8351398" y="3989710"/>
            <a:ext cx="286756" cy="286756"/>
          </a:xfrm>
          <a:prstGeom prst="rect">
            <a:avLst/>
          </a:prstGeom>
        </p:spPr>
      </p:pic>
      <p:sp>
        <p:nvSpPr>
          <p:cNvPr id="37" name="Text 28"/>
          <p:cNvSpPr txBox="1"/>
          <p:nvPr/>
        </p:nvSpPr>
        <p:spPr>
          <a:xfrm>
            <a:off x="8860536" y="3877056"/>
            <a:ext cx="2734056" cy="512064"/>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設計の型</a:t>
            </a:r>
            <a:endParaRPr lang="en-US" sz="2200" dirty="0"/>
          </a:p>
        </p:txBody>
      </p:sp>
      <p:sp>
        <p:nvSpPr>
          <p:cNvPr id="38" name="Text 29"/>
          <p:cNvSpPr txBox="1"/>
          <p:nvPr/>
        </p:nvSpPr>
        <p:spPr>
          <a:xfrm>
            <a:off x="8257032" y="4480560"/>
            <a:ext cx="3291840" cy="1005840"/>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業務の表を分ける練習をする</a:t>
            </a:r>
            <a:endParaRPr lang="en-US" sz="1800" dirty="0"/>
          </a:p>
        </p:txBody>
      </p:sp>
      <p:sp>
        <p:nvSpPr>
          <p:cNvPr id="39" name="Shape 30"/>
          <p:cNvSpPr/>
          <p:nvPr/>
        </p:nvSpPr>
        <p:spPr>
          <a:xfrm>
            <a:off x="457200" y="5806440"/>
            <a:ext cx="11274552" cy="502920"/>
          </a:xfrm>
          <a:prstGeom prst="roundRect">
            <a:avLst>
              <a:gd name="adj" fmla="val 21818"/>
            </a:avLst>
          </a:prstGeom>
          <a:solidFill>
            <a:srgbClr val="FBE3E0"/>
          </a:solidFill>
          <a:ln w="19050">
            <a:solidFill>
              <a:srgbClr val="C0392B"/>
            </a:solidFill>
            <a:prstDash val="solid"/>
          </a:ln>
        </p:spPr>
      </p:sp>
      <p:sp>
        <p:nvSpPr>
          <p:cNvPr id="40" name="Shape 31"/>
          <p:cNvSpPr/>
          <p:nvPr/>
        </p:nvSpPr>
        <p:spPr>
          <a:xfrm>
            <a:off x="594360" y="5897880"/>
            <a:ext cx="320040" cy="320040"/>
          </a:xfrm>
          <a:prstGeom prst="ellipse">
            <a:avLst/>
          </a:prstGeom>
          <a:solidFill>
            <a:srgbClr val="C0392B"/>
          </a:solidFill>
          <a:ln/>
        </p:spPr>
      </p:sp>
      <p:pic>
        <p:nvPicPr>
          <p:cNvPr id="41" name="Image 6" descr="preencoded.png">    </p:cNvPr>
          <p:cNvPicPr>
            <a:picLocks noChangeAspect="1"/>
          </p:cNvPicPr>
          <p:nvPr/>
        </p:nvPicPr>
        <p:blipFill>
          <a:blip r:embed="rId7"/>
          <a:stretch>
            <a:fillRect/>
          </a:stretch>
        </p:blipFill>
        <p:spPr>
          <a:xfrm>
            <a:off x="664769" y="5968289"/>
            <a:ext cx="179222" cy="179222"/>
          </a:xfrm>
          <a:prstGeom prst="rect">
            <a:avLst/>
          </a:prstGeom>
        </p:spPr>
      </p:pic>
      <p:sp>
        <p:nvSpPr>
          <p:cNvPr id="42" name="Text 32"/>
          <p:cNvSpPr txBox="1"/>
          <p:nvPr/>
        </p:nvSpPr>
        <p:spPr>
          <a:xfrm>
            <a:off x="1051560" y="5852160"/>
            <a:ext cx="10543032" cy="41148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複製（冗長化）だけではバックアップの代わりにならない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作って学ぶ</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81596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制作物を作る：学んだことを1つにつなげる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ブログは「学習で一番手っ取り早いのは、実際にシステムやアプリを作ってみること」と述べています。小さな3層の仕組みを作ると、4つの分野が一度に復習できます。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a:t>
            </a:r>
            <a:endParaRPr lang="ja-JP" sz="1200" dirty="0"/>
          </a:p>
        </p:txBody>
      </p:sp>
      <p:sp>
        <p:nvSpPr>
          <p:cNvPr id="9" name="Shape 6"/>
          <p:cNvSpPr/>
          <p:nvPr/>
        </p:nvSpPr>
        <p:spPr>
          <a:xfrm>
            <a:off x="457200" y="1783080"/>
            <a:ext cx="3017520" cy="1234440"/>
          </a:xfrm>
          <a:prstGeom prst="roundRect">
            <a:avLst>
              <a:gd name="adj" fmla="val 8889"/>
            </a:avLst>
          </a:prstGeom>
          <a:solidFill>
            <a:srgbClr val="D9F2F1"/>
          </a:solidFill>
          <a:ln w="25400">
            <a:solidFill>
              <a:srgbClr val="0B7A7A"/>
            </a:solidFill>
            <a:prstDash val="solid"/>
          </a:ln>
        </p:spPr>
      </p:sp>
      <p:sp>
        <p:nvSpPr>
          <p:cNvPr id="10" name="Shape 7"/>
          <p:cNvSpPr/>
          <p:nvPr/>
        </p:nvSpPr>
        <p:spPr>
          <a:xfrm>
            <a:off x="585216" y="2125980"/>
            <a:ext cx="548640" cy="548640"/>
          </a:xfrm>
          <a:prstGeom prst="ellipse">
            <a:avLst/>
          </a:prstGeom>
          <a:solidFill>
            <a:srgbClr val="0B7A7A"/>
          </a:solidFill>
          <a:ln/>
        </p:spPr>
      </p:sp>
      <p:pic>
        <p:nvPicPr>
          <p:cNvPr id="11" name="Image 0" descr="preencoded.png">    </p:cNvPr>
          <p:cNvPicPr>
            <a:picLocks noChangeAspect="1"/>
          </p:cNvPicPr>
          <p:nvPr/>
        </p:nvPicPr>
        <p:blipFill>
          <a:blip r:embed="rId1"/>
          <a:stretch>
            <a:fillRect/>
          </a:stretch>
        </p:blipFill>
        <p:spPr>
          <a:xfrm>
            <a:off x="705917" y="2246681"/>
            <a:ext cx="307238" cy="307238"/>
          </a:xfrm>
          <a:prstGeom prst="rect">
            <a:avLst/>
          </a:prstGeom>
        </p:spPr>
      </p:pic>
      <p:sp>
        <p:nvSpPr>
          <p:cNvPr id="12" name="Text 8"/>
          <p:cNvSpPr txBox="1"/>
          <p:nvPr/>
        </p:nvSpPr>
        <p:spPr>
          <a:xfrm>
            <a:off x="1225296" y="1783080"/>
            <a:ext cx="2157984" cy="1234440"/>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利用者</a:t>
            </a:r>
            <a:endParaRPr lang="en-US" sz="2200" dirty="0"/>
          </a:p>
          <a:p>
            <a:pPr algn="l" indent="0" marL="0">
              <a:lnSpc>
                <a:spcPts val="2600"/>
              </a:lnSpc>
              <a:buNone/>
            </a:pPr>
            <a:r>
              <a:rPr lang="ja-JP" altLang="en-US" sz="2000" dirty="0">
                <a:solidFill>
                  <a:srgbClr val="5B6B7B"/>
                </a:solidFill>
                <a:latin typeface="Yu Gothic" pitchFamily="34" charset="0"/>
                <a:ea typeface="Yu Gothic" pitchFamily="34" charset="-122"/>
                <a:cs typeface="Yu Gothic" pitchFamily="34" charset="-120"/>
              </a:rPr>
              <a:t>ブラウザー</a:t>
            </a:r>
            <a:endParaRPr lang="en-US" sz="2200" dirty="0"/>
          </a:p>
        </p:txBody>
      </p:sp>
      <p:sp>
        <p:nvSpPr>
          <p:cNvPr id="13" name="Shape 9"/>
          <p:cNvSpPr/>
          <p:nvPr/>
        </p:nvSpPr>
        <p:spPr>
          <a:xfrm>
            <a:off x="4572000" y="1783080"/>
            <a:ext cx="3017520" cy="1234440"/>
          </a:xfrm>
          <a:prstGeom prst="roundRect">
            <a:avLst>
              <a:gd name="adj" fmla="val 8889"/>
            </a:avLst>
          </a:prstGeom>
          <a:solidFill>
            <a:srgbClr val="E6E1F7"/>
          </a:solidFill>
          <a:ln w="25400">
            <a:solidFill>
              <a:srgbClr val="5B46B8"/>
            </a:solidFill>
            <a:prstDash val="solid"/>
          </a:ln>
        </p:spPr>
      </p:sp>
      <p:sp>
        <p:nvSpPr>
          <p:cNvPr id="14" name="Shape 10"/>
          <p:cNvSpPr/>
          <p:nvPr/>
        </p:nvSpPr>
        <p:spPr>
          <a:xfrm>
            <a:off x="4700016" y="2125980"/>
            <a:ext cx="548640" cy="548640"/>
          </a:xfrm>
          <a:prstGeom prst="ellipse">
            <a:avLst/>
          </a:prstGeom>
          <a:solidFill>
            <a:srgbClr val="5B46B8"/>
          </a:solidFill>
          <a:ln/>
        </p:spPr>
      </p:sp>
      <p:pic>
        <p:nvPicPr>
          <p:cNvPr id="15" name="Image 1" descr="preencoded.png">    </p:cNvPr>
          <p:cNvPicPr>
            <a:picLocks noChangeAspect="1"/>
          </p:cNvPicPr>
          <p:nvPr/>
        </p:nvPicPr>
        <p:blipFill>
          <a:blip r:embed="rId2"/>
          <a:stretch>
            <a:fillRect/>
          </a:stretch>
        </p:blipFill>
        <p:spPr>
          <a:xfrm>
            <a:off x="4820717" y="2246681"/>
            <a:ext cx="307238" cy="307238"/>
          </a:xfrm>
          <a:prstGeom prst="rect">
            <a:avLst/>
          </a:prstGeom>
        </p:spPr>
      </p:pic>
      <p:sp>
        <p:nvSpPr>
          <p:cNvPr id="16" name="Text 11"/>
          <p:cNvSpPr txBox="1"/>
          <p:nvPr/>
        </p:nvSpPr>
        <p:spPr>
          <a:xfrm>
            <a:off x="5340096" y="1783080"/>
            <a:ext cx="2157984" cy="1234440"/>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Webサーバー</a:t>
            </a:r>
            <a:endParaRPr lang="en-US" sz="2200" dirty="0"/>
          </a:p>
          <a:p>
            <a:pPr algn="l" indent="0" marL="0">
              <a:lnSpc>
                <a:spcPts val="2600"/>
              </a:lnSpc>
              <a:buNone/>
            </a:pPr>
            <a:r>
              <a:rPr lang="ja-JP" altLang="en-US" sz="2000" dirty="0">
                <a:solidFill>
                  <a:srgbClr val="5B6B7B"/>
                </a:solidFill>
                <a:latin typeface="Yu Gothic" pitchFamily="34" charset="0"/>
                <a:ea typeface="Yu Gothic" pitchFamily="34" charset="-122"/>
                <a:cs typeface="Yu Gothic" pitchFamily="34" charset="-120"/>
              </a:rPr>
              <a:t>Linux上で動く</a:t>
            </a:r>
            <a:endParaRPr lang="en-US" sz="2200" dirty="0"/>
          </a:p>
        </p:txBody>
      </p:sp>
      <p:sp>
        <p:nvSpPr>
          <p:cNvPr id="17" name="Shape 12"/>
          <p:cNvSpPr/>
          <p:nvPr/>
        </p:nvSpPr>
        <p:spPr>
          <a:xfrm>
            <a:off x="8686800" y="1783080"/>
            <a:ext cx="3044952" cy="1234440"/>
          </a:xfrm>
          <a:prstGeom prst="roundRect">
            <a:avLst>
              <a:gd name="adj" fmla="val 8889"/>
            </a:avLst>
          </a:prstGeom>
          <a:solidFill>
            <a:srgbClr val="DDF1E4"/>
          </a:solidFill>
          <a:ln w="25400">
            <a:solidFill>
              <a:srgbClr val="237A48"/>
            </a:solidFill>
            <a:prstDash val="solid"/>
          </a:ln>
        </p:spPr>
      </p:sp>
      <p:sp>
        <p:nvSpPr>
          <p:cNvPr id="18" name="Shape 13"/>
          <p:cNvSpPr/>
          <p:nvPr/>
        </p:nvSpPr>
        <p:spPr>
          <a:xfrm>
            <a:off x="8814816" y="2125980"/>
            <a:ext cx="548640" cy="548640"/>
          </a:xfrm>
          <a:prstGeom prst="ellipse">
            <a:avLst/>
          </a:prstGeom>
          <a:solidFill>
            <a:srgbClr val="237A48"/>
          </a:solidFill>
          <a:ln/>
        </p:spPr>
      </p:sp>
      <p:pic>
        <p:nvPicPr>
          <p:cNvPr id="19" name="Image 2" descr="preencoded.png">    </p:cNvPr>
          <p:cNvPicPr>
            <a:picLocks noChangeAspect="1"/>
          </p:cNvPicPr>
          <p:nvPr/>
        </p:nvPicPr>
        <p:blipFill>
          <a:blip r:embed="rId3"/>
          <a:stretch>
            <a:fillRect/>
          </a:stretch>
        </p:blipFill>
        <p:spPr>
          <a:xfrm>
            <a:off x="8935517" y="2246681"/>
            <a:ext cx="307238" cy="307238"/>
          </a:xfrm>
          <a:prstGeom prst="rect">
            <a:avLst/>
          </a:prstGeom>
        </p:spPr>
      </p:pic>
      <p:sp>
        <p:nvSpPr>
          <p:cNvPr id="20" name="Text 14"/>
          <p:cNvSpPr txBox="1"/>
          <p:nvPr/>
        </p:nvSpPr>
        <p:spPr>
          <a:xfrm>
            <a:off x="9454896" y="1783080"/>
            <a:ext cx="2185416" cy="1234440"/>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データベース</a:t>
            </a:r>
            <a:endParaRPr lang="en-US" sz="2200" dirty="0"/>
          </a:p>
          <a:p>
            <a:pPr algn="l" indent="0" marL="0">
              <a:lnSpc>
                <a:spcPts val="2600"/>
              </a:lnSpc>
              <a:buNone/>
            </a:pPr>
            <a:r>
              <a:rPr lang="ja-JP" altLang="en-US" sz="2000" dirty="0">
                <a:solidFill>
                  <a:srgbClr val="5B6B7B"/>
                </a:solidFill>
                <a:latin typeface="Yu Gothic" pitchFamily="34" charset="0"/>
                <a:ea typeface="Yu Gothic" pitchFamily="34" charset="-122"/>
                <a:cs typeface="Yu Gothic" pitchFamily="34" charset="-120"/>
              </a:rPr>
              <a:t>SQLで管理</a:t>
            </a:r>
            <a:endParaRPr lang="en-US" sz="2200" dirty="0"/>
          </a:p>
        </p:txBody>
      </p:sp>
      <p:sp>
        <p:nvSpPr>
          <p:cNvPr id="21" name="Shape 15"/>
          <p:cNvSpPr/>
          <p:nvPr/>
        </p:nvSpPr>
        <p:spPr>
          <a:xfrm>
            <a:off x="3474720" y="2400300"/>
            <a:ext cx="1097280" cy="0"/>
          </a:xfrm>
          <a:prstGeom prst="line">
            <a:avLst/>
          </a:prstGeom>
          <a:noFill/>
          <a:ln w="38100">
            <a:solidFill>
              <a:srgbClr val="2F6BC2"/>
            </a:solidFill>
            <a:prstDash val="solid"/>
            <a:headEnd type="triangle"/>
            <a:tailEnd type="triangle"/>
          </a:ln>
        </p:spPr>
      </p:sp>
      <p:sp>
        <p:nvSpPr>
          <p:cNvPr id="22" name="Text 16"/>
          <p:cNvSpPr txBox="1"/>
          <p:nvPr/>
        </p:nvSpPr>
        <p:spPr>
          <a:xfrm>
            <a:off x="3611880" y="1947672"/>
            <a:ext cx="822960" cy="356616"/>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HTTP</a:t>
            </a:r>
            <a:endParaRPr lang="en-US" sz="1800" dirty="0"/>
          </a:p>
        </p:txBody>
      </p:sp>
      <p:sp>
        <p:nvSpPr>
          <p:cNvPr id="23" name="Shape 17"/>
          <p:cNvSpPr/>
          <p:nvPr/>
        </p:nvSpPr>
        <p:spPr>
          <a:xfrm>
            <a:off x="7589520" y="2400300"/>
            <a:ext cx="1097280" cy="0"/>
          </a:xfrm>
          <a:prstGeom prst="line">
            <a:avLst/>
          </a:prstGeom>
          <a:noFill/>
          <a:ln w="38100">
            <a:solidFill>
              <a:srgbClr val="2F6BC2"/>
            </a:solidFill>
            <a:prstDash val="solid"/>
            <a:headEnd type="triangle"/>
            <a:tailEnd type="triangle"/>
          </a:ln>
        </p:spPr>
      </p:sp>
      <p:sp>
        <p:nvSpPr>
          <p:cNvPr id="24" name="Text 18"/>
          <p:cNvSpPr txBox="1"/>
          <p:nvPr/>
        </p:nvSpPr>
        <p:spPr>
          <a:xfrm>
            <a:off x="7772400" y="1947672"/>
            <a:ext cx="731520" cy="356616"/>
          </a:xfrm>
          <a:prstGeom prst="rect">
            <a:avLst/>
          </a:prstGeom>
          <a:solidFill>
            <a:srgbClr val="FFFFFF"/>
          </a:solidFill>
          <a:ln/>
        </p:spPr>
        <p:txBody>
          <a:bodyPr wrap="square" lIns="0" tIns="0" rIns="0" bIns="0" rtlCol="0" anchor="ctr"/>
          <a:lstStyle/>
          <a:p>
            <a:pPr algn="ct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SQL</a:t>
            </a:r>
            <a:endParaRPr lang="en-US" sz="1800" dirty="0"/>
          </a:p>
        </p:txBody>
      </p:sp>
      <p:sp>
        <p:nvSpPr>
          <p:cNvPr id="25" name="Shape 19"/>
          <p:cNvSpPr/>
          <p:nvPr/>
        </p:nvSpPr>
        <p:spPr>
          <a:xfrm>
            <a:off x="457200" y="3291840"/>
            <a:ext cx="5532120" cy="1463040"/>
          </a:xfrm>
          <a:prstGeom prst="roundRect">
            <a:avLst>
              <a:gd name="adj" fmla="val 8750"/>
            </a:avLst>
          </a:prstGeom>
          <a:solidFill>
            <a:srgbClr val="D9F2F1"/>
          </a:solidFill>
          <a:ln/>
        </p:spPr>
      </p:sp>
      <p:sp>
        <p:nvSpPr>
          <p:cNvPr id="26" name="Text 20"/>
          <p:cNvSpPr txBox="1"/>
          <p:nvPr/>
        </p:nvSpPr>
        <p:spPr>
          <a:xfrm>
            <a:off x="640080" y="3419856"/>
            <a:ext cx="516636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ネットワークで使うこと</a:t>
            </a:r>
            <a:endParaRPr lang="en-US" sz="2000" dirty="0"/>
          </a:p>
        </p:txBody>
      </p:sp>
      <p:sp>
        <p:nvSpPr>
          <p:cNvPr id="27" name="Text 21"/>
          <p:cNvSpPr txBox="1"/>
          <p:nvPr/>
        </p:nvSpPr>
        <p:spPr>
          <a:xfrm>
            <a:off x="640080" y="3846576"/>
            <a:ext cx="5166360" cy="81686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HTTP・ポート・TCPの通信を観察する</a:t>
            </a:r>
            <a:endParaRPr lang="en-US" sz="1800" dirty="0"/>
          </a:p>
        </p:txBody>
      </p:sp>
      <p:sp>
        <p:nvSpPr>
          <p:cNvPr id="28" name="Shape 22"/>
          <p:cNvSpPr/>
          <p:nvPr/>
        </p:nvSpPr>
        <p:spPr>
          <a:xfrm>
            <a:off x="6199632" y="3291840"/>
            <a:ext cx="5532120" cy="1463040"/>
          </a:xfrm>
          <a:prstGeom prst="roundRect">
            <a:avLst>
              <a:gd name="adj" fmla="val 8750"/>
            </a:avLst>
          </a:prstGeom>
          <a:solidFill>
            <a:srgbClr val="E6E1F7"/>
          </a:solidFill>
          <a:ln/>
        </p:spPr>
      </p:sp>
      <p:sp>
        <p:nvSpPr>
          <p:cNvPr id="29" name="Text 23"/>
          <p:cNvSpPr txBox="1"/>
          <p:nvPr/>
        </p:nvSpPr>
        <p:spPr>
          <a:xfrm>
            <a:off x="6382512" y="3419856"/>
            <a:ext cx="516636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OSで使うこと</a:t>
            </a:r>
            <a:endParaRPr lang="en-US" sz="2000" dirty="0"/>
          </a:p>
        </p:txBody>
      </p:sp>
      <p:sp>
        <p:nvSpPr>
          <p:cNvPr id="30" name="Text 24"/>
          <p:cNvSpPr txBox="1"/>
          <p:nvPr/>
        </p:nvSpPr>
        <p:spPr>
          <a:xfrm>
            <a:off x="6382512" y="3846576"/>
            <a:ext cx="5166360" cy="81686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サービスの起動・停止・ログ確認、設定をviで編集</a:t>
            </a:r>
            <a:endParaRPr lang="en-US" sz="1800" dirty="0"/>
          </a:p>
        </p:txBody>
      </p:sp>
      <p:sp>
        <p:nvSpPr>
          <p:cNvPr id="31" name="Shape 25"/>
          <p:cNvSpPr/>
          <p:nvPr/>
        </p:nvSpPr>
        <p:spPr>
          <a:xfrm>
            <a:off x="457200" y="4892040"/>
            <a:ext cx="5532120" cy="1463040"/>
          </a:xfrm>
          <a:prstGeom prst="roundRect">
            <a:avLst>
              <a:gd name="adj" fmla="val 8750"/>
            </a:avLst>
          </a:prstGeom>
          <a:solidFill>
            <a:srgbClr val="DDF1E4"/>
          </a:solidFill>
          <a:ln/>
        </p:spPr>
      </p:sp>
      <p:sp>
        <p:nvSpPr>
          <p:cNvPr id="32" name="Text 26"/>
          <p:cNvSpPr txBox="1"/>
          <p:nvPr/>
        </p:nvSpPr>
        <p:spPr>
          <a:xfrm>
            <a:off x="640080" y="5020056"/>
            <a:ext cx="516636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データベースで使うこと</a:t>
            </a:r>
            <a:endParaRPr lang="en-US" sz="2000" dirty="0"/>
          </a:p>
        </p:txBody>
      </p:sp>
      <p:sp>
        <p:nvSpPr>
          <p:cNvPr id="33" name="Text 27"/>
          <p:cNvSpPr txBox="1"/>
          <p:nvPr/>
        </p:nvSpPr>
        <p:spPr>
          <a:xfrm>
            <a:off x="640080" y="5446776"/>
            <a:ext cx="5166360" cy="81686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表を作り、SQLで登録・検索。変更はトランザクションで</a:t>
            </a:r>
            <a:endParaRPr lang="en-US" sz="1800" dirty="0"/>
          </a:p>
        </p:txBody>
      </p:sp>
      <p:sp>
        <p:nvSpPr>
          <p:cNvPr id="34" name="Shape 28"/>
          <p:cNvSpPr/>
          <p:nvPr/>
        </p:nvSpPr>
        <p:spPr>
          <a:xfrm>
            <a:off x="6199632" y="4892040"/>
            <a:ext cx="5532120" cy="1463040"/>
          </a:xfrm>
          <a:prstGeom prst="roundRect">
            <a:avLst>
              <a:gd name="adj" fmla="val 8750"/>
            </a:avLst>
          </a:prstGeom>
          <a:solidFill>
            <a:srgbClr val="FDEBD0"/>
          </a:solidFill>
          <a:ln/>
        </p:spPr>
      </p:sp>
      <p:sp>
        <p:nvSpPr>
          <p:cNvPr id="35" name="Text 29"/>
          <p:cNvSpPr txBox="1"/>
          <p:nvPr/>
        </p:nvSpPr>
        <p:spPr>
          <a:xfrm>
            <a:off x="6382512" y="5020056"/>
            <a:ext cx="516636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B45309"/>
                </a:solidFill>
                <a:latin typeface="Yu Gothic" pitchFamily="34" charset="0"/>
                <a:ea typeface="Yu Gothic" pitchFamily="34" charset="-122"/>
                <a:cs typeface="Yu Gothic" pitchFamily="34" charset="-120"/>
              </a:rPr>
              <a:t>シェルスクリプトで使うこと</a:t>
            </a:r>
            <a:endParaRPr lang="en-US" sz="2000" dirty="0"/>
          </a:p>
        </p:txBody>
      </p:sp>
      <p:sp>
        <p:nvSpPr>
          <p:cNvPr id="36" name="Text 30"/>
          <p:cNvSpPr txBox="1"/>
          <p:nvPr/>
        </p:nvSpPr>
        <p:spPr>
          <a:xfrm>
            <a:off x="6382512" y="5446776"/>
            <a:ext cx="5166360" cy="816864"/>
          </a:xfrm>
          <a:prstGeom prst="rect">
            <a:avLst/>
          </a:prstGeom>
          <a:noFill/>
          <a:ln/>
        </p:spPr>
        <p:txBody>
          <a:bodyPr wrap="square" lIns="0" tIns="0" rIns="0" bIns="0" rtlCol="0" anchor="t"/>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バックアップと稼働確認を自動化する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作って学ぶ</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制作物の例：小さく作り、段階的に育てる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いきなり大きく作らず、「動く最小のもの」から始めて、権限・バックアップ・自動化を足していきます。各段階で何を復習できるかを並べました。</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a:t>
            </a:r>
            <a:endParaRPr lang="ja-JP" sz="1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651760"/>
                <a:gridCol w="4023360"/>
                <a:gridCol w="459943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段階</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作るもの</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復習できること</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1051560">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① まず動かす</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ToDo一覧ページ（表は1つ）</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HTTP・ポート、基本コマンド、INSERT/SELECT</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105156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② 表を分ける</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顧客と注文の2つの表</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JOIN、主キー・外部キー、権限、ログ</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1051560">
                <a:tc>
                  <a:txBody>
                    <a:bodyPr/>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③ 守る・自動化</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1E4"/>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バックアップと稼働確認</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シェルスクリプト、トランザクション、復元</a:t>
                      </a:r>
                      <a:endParaRPr lang="en-US" sz="1200" dirty="0"/>
                    </a:p>
                  </a:txBody>
                  <a:tcPr marL="114300" marR="114300" marT="76200" marB="762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hape 5"/>
          <p:cNvSpPr/>
          <p:nvPr/>
        </p:nvSpPr>
        <p:spPr>
          <a:xfrm>
            <a:off x="457200" y="5669280"/>
            <a:ext cx="11274552" cy="640080"/>
          </a:xfrm>
          <a:prstGeom prst="roundRect">
            <a:avLst>
              <a:gd name="adj" fmla="val 17143"/>
            </a:avLst>
          </a:prstGeom>
          <a:solidFill>
            <a:srgbClr val="FBE3E0"/>
          </a:solidFill>
          <a:ln w="19050">
            <a:solidFill>
              <a:srgbClr val="C0392B"/>
            </a:solidFill>
            <a:prstDash val="solid"/>
          </a:ln>
        </p:spPr>
      </p:sp>
      <p:sp>
        <p:nvSpPr>
          <p:cNvPr id="10" name="Shape 6"/>
          <p:cNvSpPr/>
          <p:nvPr/>
        </p:nvSpPr>
        <p:spPr>
          <a:xfrm>
            <a:off x="594360" y="5760720"/>
            <a:ext cx="457200" cy="457200"/>
          </a:xfrm>
          <a:prstGeom prst="ellipse">
            <a:avLst/>
          </a:prstGeom>
          <a:solidFill>
            <a:srgbClr val="C0392B"/>
          </a:solidFill>
          <a:ln/>
        </p:spPr>
      </p:sp>
      <p:pic>
        <p:nvPicPr>
          <p:cNvPr id="11" name="Image 0" descr="preencoded.png">    </p:cNvPr>
          <p:cNvPicPr>
            <a:picLocks noChangeAspect="1"/>
          </p:cNvPicPr>
          <p:nvPr/>
        </p:nvPicPr>
        <p:blipFill>
          <a:blip r:embed="rId1"/>
          <a:stretch>
            <a:fillRect/>
          </a:stretch>
        </p:blipFill>
        <p:spPr>
          <a:xfrm>
            <a:off x="694944" y="5861304"/>
            <a:ext cx="256032" cy="256032"/>
          </a:xfrm>
          <a:prstGeom prst="rect">
            <a:avLst/>
          </a:prstGeom>
        </p:spPr>
      </p:pic>
      <p:sp>
        <p:nvSpPr>
          <p:cNvPr id="12" name="Text 7"/>
          <p:cNvSpPr txBox="1"/>
          <p:nvPr/>
        </p:nvSpPr>
        <p:spPr>
          <a:xfrm>
            <a:off x="1188720" y="5715000"/>
            <a:ext cx="10405872"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環境は自分のPC（仮想マシン・WSL）だけ。会社や他人の環境は使わない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書籍ガイド</a:t>
            </a:r>
            <a:endParaRPr lang="ja-JP" sz="1400" dirty="0"/>
          </a:p>
        </p:txBody>
      </p:sp>
      <p:sp>
        <p:nvSpPr>
          <p:cNvPr id="3" name="Text 1"/>
          <p:cNvSpPr txBox="1"/>
          <p:nvPr/>
        </p:nvSpPr>
        <p:spPr>
          <a:xfrm>
            <a:off x="9011615" y="237744"/>
            <a:ext cx="2722880" cy="310896"/>
          </a:xfrm>
          <a:prstGeom prst="roundRect">
            <a:avLst>
              <a:gd name="adj" fmla="val 50000"/>
            </a:avLst>
          </a:prstGeom>
          <a:solidFill>
            <a:srgbClr val="FDEBD0"/>
          </a:solidFill>
          <a:ln w="9525">
            <a:solidFill>
              <a:srgbClr val="7C2D12"/>
            </a:solidFill>
          </a:ln>
        </p:spPr>
        <p:txBody>
          <a:bodyPr wrap="square" lIns="0" tIns="0" rIns="0" bIns="0" rtlCol="0" anchor="ctr"/>
          <a:lstStyle/>
          <a:p>
            <a:pPr algn="ctr" indent="0" marL="0">
              <a:buNone/>
            </a:pPr>
            <a:r>
              <a:rPr lang="ja-JP" altLang="en-US" sz="1400" b="1" dirty="0">
                <a:solidFill>
                  <a:srgbClr val="7C2D12"/>
                </a:solidFill>
                <a:latin typeface="Yu Gothic" pitchFamily="34" charset="0"/>
                <a:ea typeface="Yu Gothic" pitchFamily="34" charset="-122"/>
                <a:cs typeface="Yu Gothic" pitchFamily="34" charset="-120"/>
              </a:rPr>
              <a:t>書籍情報（検索結果で確認）</a:t>
            </a:r>
            <a:endParaRPr lang="ja-JP" sz="1400" dirty="0"/>
          </a:p>
        </p:txBody>
      </p:sp>
      <p:sp>
        <p:nvSpPr>
          <p:cNvPr id="4" name="Text 2"/>
          <p:cNvSpPr txBox="1"/>
          <p:nvPr/>
        </p:nvSpPr>
        <p:spPr>
          <a:xfrm>
            <a:off x="6737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ブログが紹介した6冊を、ロードマップに置く</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ブログは、分野ごとに本を紹介しています。どの本がどの分野に対応するかを、先に全体図で見ておくと、読む順番を決めやすくなります。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[K01] [K02] [K03] [K04] [K05] [K06]</a:t>
            </a:r>
            <a:endParaRPr lang="ja-JP" sz="1200" dirty="0"/>
          </a:p>
        </p:txBody>
      </p:sp>
      <p:sp>
        <p:nvSpPr>
          <p:cNvPr id="9" name="Shape 6"/>
          <p:cNvSpPr/>
          <p:nvPr/>
        </p:nvSpPr>
        <p:spPr>
          <a:xfrm>
            <a:off x="457200" y="1783080"/>
            <a:ext cx="2697480" cy="822960"/>
          </a:xfrm>
          <a:prstGeom prst="roundRect">
            <a:avLst>
              <a:gd name="adj" fmla="val 13333"/>
            </a:avLst>
          </a:prstGeom>
          <a:solidFill>
            <a:srgbClr val="2F6BC2"/>
          </a:solidFill>
          <a:ln/>
        </p:spPr>
      </p:sp>
      <p:sp>
        <p:nvSpPr>
          <p:cNvPr id="10" name="Text 7"/>
          <p:cNvSpPr txBox="1"/>
          <p:nvPr/>
        </p:nvSpPr>
        <p:spPr>
          <a:xfrm>
            <a:off x="548640" y="1783080"/>
            <a:ext cx="2514600" cy="8229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① CS基礎</a:t>
            </a:r>
            <a:endParaRPr lang="en-US" sz="2000" dirty="0"/>
          </a:p>
        </p:txBody>
      </p:sp>
      <p:sp>
        <p:nvSpPr>
          <p:cNvPr id="11" name="Shape 8"/>
          <p:cNvSpPr/>
          <p:nvPr/>
        </p:nvSpPr>
        <p:spPr>
          <a:xfrm>
            <a:off x="3154680" y="2194560"/>
            <a:ext cx="173736" cy="0"/>
          </a:xfrm>
          <a:prstGeom prst="line">
            <a:avLst/>
          </a:prstGeom>
          <a:noFill/>
          <a:ln w="31750">
            <a:solidFill>
              <a:srgbClr val="1B2A3A"/>
            </a:solidFill>
            <a:prstDash val="solid"/>
            <a:tailEnd type="triangle"/>
          </a:ln>
        </p:spPr>
      </p:sp>
      <p:sp>
        <p:nvSpPr>
          <p:cNvPr id="12" name="Shape 9"/>
          <p:cNvSpPr/>
          <p:nvPr/>
        </p:nvSpPr>
        <p:spPr>
          <a:xfrm>
            <a:off x="3328416" y="1783080"/>
            <a:ext cx="2697480" cy="822960"/>
          </a:xfrm>
          <a:prstGeom prst="roundRect">
            <a:avLst>
              <a:gd name="adj" fmla="val 13333"/>
            </a:avLst>
          </a:prstGeom>
          <a:solidFill>
            <a:srgbClr val="0B7A7A"/>
          </a:solidFill>
          <a:ln/>
        </p:spPr>
      </p:sp>
      <p:sp>
        <p:nvSpPr>
          <p:cNvPr id="13" name="Text 10"/>
          <p:cNvSpPr txBox="1"/>
          <p:nvPr/>
        </p:nvSpPr>
        <p:spPr>
          <a:xfrm>
            <a:off x="3419856" y="1783080"/>
            <a:ext cx="2514600" cy="8229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② ネットワーク</a:t>
            </a:r>
            <a:endParaRPr lang="en-US" sz="2000" dirty="0"/>
          </a:p>
        </p:txBody>
      </p:sp>
      <p:sp>
        <p:nvSpPr>
          <p:cNvPr id="14" name="Shape 11"/>
          <p:cNvSpPr/>
          <p:nvPr/>
        </p:nvSpPr>
        <p:spPr>
          <a:xfrm>
            <a:off x="6025896" y="2194560"/>
            <a:ext cx="173736" cy="0"/>
          </a:xfrm>
          <a:prstGeom prst="line">
            <a:avLst/>
          </a:prstGeom>
          <a:noFill/>
          <a:ln w="31750">
            <a:solidFill>
              <a:srgbClr val="1B2A3A"/>
            </a:solidFill>
            <a:prstDash val="solid"/>
            <a:tailEnd type="triangle"/>
          </a:ln>
        </p:spPr>
      </p:sp>
      <p:sp>
        <p:nvSpPr>
          <p:cNvPr id="15" name="Shape 12"/>
          <p:cNvSpPr/>
          <p:nvPr/>
        </p:nvSpPr>
        <p:spPr>
          <a:xfrm>
            <a:off x="6199632" y="1783080"/>
            <a:ext cx="2697480" cy="822960"/>
          </a:xfrm>
          <a:prstGeom prst="roundRect">
            <a:avLst>
              <a:gd name="adj" fmla="val 13333"/>
            </a:avLst>
          </a:prstGeom>
          <a:solidFill>
            <a:srgbClr val="5B46B8"/>
          </a:solidFill>
          <a:ln/>
        </p:spPr>
      </p:sp>
      <p:sp>
        <p:nvSpPr>
          <p:cNvPr id="16" name="Text 13"/>
          <p:cNvSpPr txBox="1"/>
          <p:nvPr/>
        </p:nvSpPr>
        <p:spPr>
          <a:xfrm>
            <a:off x="6291072" y="1783080"/>
            <a:ext cx="2514600" cy="8229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③ OS</a:t>
            </a:r>
            <a:endParaRPr lang="en-US" sz="2000" dirty="0"/>
          </a:p>
        </p:txBody>
      </p:sp>
      <p:sp>
        <p:nvSpPr>
          <p:cNvPr id="17" name="Shape 14"/>
          <p:cNvSpPr/>
          <p:nvPr/>
        </p:nvSpPr>
        <p:spPr>
          <a:xfrm>
            <a:off x="8897112" y="2194560"/>
            <a:ext cx="173736" cy="0"/>
          </a:xfrm>
          <a:prstGeom prst="line">
            <a:avLst/>
          </a:prstGeom>
          <a:noFill/>
          <a:ln w="31750">
            <a:solidFill>
              <a:srgbClr val="1B2A3A"/>
            </a:solidFill>
            <a:prstDash val="solid"/>
            <a:tailEnd type="triangle"/>
          </a:ln>
        </p:spPr>
      </p:sp>
      <p:sp>
        <p:nvSpPr>
          <p:cNvPr id="18" name="Shape 15"/>
          <p:cNvSpPr/>
          <p:nvPr/>
        </p:nvSpPr>
        <p:spPr>
          <a:xfrm>
            <a:off x="9070848" y="1783080"/>
            <a:ext cx="2697480" cy="822960"/>
          </a:xfrm>
          <a:prstGeom prst="roundRect">
            <a:avLst>
              <a:gd name="adj" fmla="val 13333"/>
            </a:avLst>
          </a:prstGeom>
          <a:solidFill>
            <a:srgbClr val="237A48"/>
          </a:solidFill>
          <a:ln/>
        </p:spPr>
      </p:sp>
      <p:sp>
        <p:nvSpPr>
          <p:cNvPr id="19" name="Text 16"/>
          <p:cNvSpPr txBox="1"/>
          <p:nvPr/>
        </p:nvSpPr>
        <p:spPr>
          <a:xfrm>
            <a:off x="9162288" y="1783080"/>
            <a:ext cx="2514600" cy="82296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④ データベース</a:t>
            </a:r>
            <a:endParaRPr lang="en-US" sz="2000" dirty="0"/>
          </a:p>
        </p:txBody>
      </p:sp>
      <p:sp>
        <p:nvSpPr>
          <p:cNvPr id="20" name="Shape 17"/>
          <p:cNvSpPr/>
          <p:nvPr/>
        </p:nvSpPr>
        <p:spPr>
          <a:xfrm>
            <a:off x="457200" y="2880360"/>
            <a:ext cx="2697480" cy="1280160"/>
          </a:xfrm>
          <a:prstGeom prst="roundRect">
            <a:avLst>
              <a:gd name="adj" fmla="val 8571"/>
            </a:avLst>
          </a:prstGeom>
          <a:solidFill>
            <a:srgbClr val="DCE8F8"/>
          </a:solidFill>
          <a:ln w="25400">
            <a:solidFill>
              <a:srgbClr val="2F6BC2"/>
            </a:solidFill>
            <a:prstDash val="solid"/>
          </a:ln>
        </p:spPr>
      </p:sp>
      <p:sp>
        <p:nvSpPr>
          <p:cNvPr id="21" name="Text 18"/>
          <p:cNvSpPr txBox="1"/>
          <p:nvPr/>
        </p:nvSpPr>
        <p:spPr>
          <a:xfrm>
            <a:off x="548640" y="2880360"/>
            <a:ext cx="2514600" cy="128016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① キタミ式IT塾</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基本情報</a:t>
            </a:r>
            <a:endParaRPr lang="en-US" sz="1800" dirty="0"/>
          </a:p>
        </p:txBody>
      </p:sp>
      <p:sp>
        <p:nvSpPr>
          <p:cNvPr id="22" name="Shape 19"/>
          <p:cNvSpPr/>
          <p:nvPr/>
        </p:nvSpPr>
        <p:spPr>
          <a:xfrm>
            <a:off x="3328416" y="2880360"/>
            <a:ext cx="2697480" cy="1280160"/>
          </a:xfrm>
          <a:prstGeom prst="roundRect">
            <a:avLst>
              <a:gd name="adj" fmla="val 8571"/>
            </a:avLst>
          </a:prstGeom>
          <a:solidFill>
            <a:srgbClr val="D9F2F1"/>
          </a:solidFill>
          <a:ln w="25400">
            <a:solidFill>
              <a:srgbClr val="0B7A7A"/>
            </a:solidFill>
            <a:prstDash val="solid"/>
          </a:ln>
        </p:spPr>
      </p:sp>
      <p:sp>
        <p:nvSpPr>
          <p:cNvPr id="23" name="Text 20"/>
          <p:cNvSpPr txBox="1"/>
          <p:nvPr/>
        </p:nvSpPr>
        <p:spPr>
          <a:xfrm>
            <a:off x="3419856" y="2880360"/>
            <a:ext cx="2514600" cy="128016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② マスタリング</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TCP/IP 入門編</a:t>
            </a:r>
            <a:endParaRPr lang="en-US" sz="1800" dirty="0"/>
          </a:p>
        </p:txBody>
      </p:sp>
      <p:sp>
        <p:nvSpPr>
          <p:cNvPr id="24" name="Shape 21"/>
          <p:cNvSpPr/>
          <p:nvPr/>
        </p:nvSpPr>
        <p:spPr>
          <a:xfrm>
            <a:off x="3328416" y="4297680"/>
            <a:ext cx="2697480" cy="1280160"/>
          </a:xfrm>
          <a:prstGeom prst="roundRect">
            <a:avLst>
              <a:gd name="adj" fmla="val 8571"/>
            </a:avLst>
          </a:prstGeom>
          <a:solidFill>
            <a:srgbClr val="D9F2F1"/>
          </a:solidFill>
          <a:ln w="25400">
            <a:solidFill>
              <a:srgbClr val="0B7A7A"/>
            </a:solidFill>
            <a:prstDash val="solid"/>
          </a:ln>
        </p:spPr>
      </p:sp>
      <p:sp>
        <p:nvSpPr>
          <p:cNvPr id="25" name="Text 22"/>
          <p:cNvSpPr txBox="1"/>
          <p:nvPr/>
        </p:nvSpPr>
        <p:spPr>
          <a:xfrm>
            <a:off x="3419856" y="4297680"/>
            <a:ext cx="2514600" cy="128016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③ スラスラわかる</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ネットワーク&amp;TCP/IP</a:t>
            </a:r>
            <a:endParaRPr lang="en-US" sz="1800" dirty="0"/>
          </a:p>
        </p:txBody>
      </p:sp>
      <p:sp>
        <p:nvSpPr>
          <p:cNvPr id="26" name="Shape 23"/>
          <p:cNvSpPr/>
          <p:nvPr/>
        </p:nvSpPr>
        <p:spPr>
          <a:xfrm>
            <a:off x="6199632" y="2880360"/>
            <a:ext cx="2697480" cy="1280160"/>
          </a:xfrm>
          <a:prstGeom prst="roundRect">
            <a:avLst>
              <a:gd name="adj" fmla="val 8571"/>
            </a:avLst>
          </a:prstGeom>
          <a:solidFill>
            <a:srgbClr val="E6E1F7"/>
          </a:solidFill>
          <a:ln w="25400">
            <a:solidFill>
              <a:srgbClr val="5B46B8"/>
            </a:solidFill>
            <a:prstDash val="solid"/>
          </a:ln>
        </p:spPr>
      </p:sp>
      <p:sp>
        <p:nvSpPr>
          <p:cNvPr id="27" name="Text 24"/>
          <p:cNvSpPr txBox="1"/>
          <p:nvPr/>
        </p:nvSpPr>
        <p:spPr>
          <a:xfrm>
            <a:off x="6291072" y="2880360"/>
            <a:ext cx="2514600" cy="128016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④ Linux標準教科書</a:t>
            </a:r>
            <a:endParaRPr lang="en-US" sz="1800" dirty="0"/>
          </a:p>
        </p:txBody>
      </p:sp>
      <p:sp>
        <p:nvSpPr>
          <p:cNvPr id="28" name="Shape 25"/>
          <p:cNvSpPr/>
          <p:nvPr/>
        </p:nvSpPr>
        <p:spPr>
          <a:xfrm>
            <a:off x="9070848" y="2880360"/>
            <a:ext cx="2697480" cy="1280160"/>
          </a:xfrm>
          <a:prstGeom prst="roundRect">
            <a:avLst>
              <a:gd name="adj" fmla="val 8571"/>
            </a:avLst>
          </a:prstGeom>
          <a:solidFill>
            <a:srgbClr val="DDF1E4"/>
          </a:solidFill>
          <a:ln w="25400">
            <a:solidFill>
              <a:srgbClr val="237A48"/>
            </a:solidFill>
            <a:prstDash val="solid"/>
          </a:ln>
        </p:spPr>
      </p:sp>
      <p:sp>
        <p:nvSpPr>
          <p:cNvPr id="29" name="Text 26"/>
          <p:cNvSpPr txBox="1"/>
          <p:nvPr/>
        </p:nvSpPr>
        <p:spPr>
          <a:xfrm>
            <a:off x="9162288" y="2880360"/>
            <a:ext cx="2514600" cy="128016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⑤ おうちで学べる</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データベースのきほん</a:t>
            </a:r>
            <a:endParaRPr lang="en-US" sz="1800" dirty="0"/>
          </a:p>
        </p:txBody>
      </p:sp>
      <p:sp>
        <p:nvSpPr>
          <p:cNvPr id="30" name="Shape 27"/>
          <p:cNvSpPr/>
          <p:nvPr/>
        </p:nvSpPr>
        <p:spPr>
          <a:xfrm>
            <a:off x="6199632" y="4297680"/>
            <a:ext cx="5394960" cy="1280160"/>
          </a:xfrm>
          <a:prstGeom prst="roundRect">
            <a:avLst>
              <a:gd name="adj" fmla="val 8571"/>
            </a:avLst>
          </a:prstGeom>
          <a:solidFill>
            <a:srgbClr val="FDEBD0"/>
          </a:solidFill>
          <a:ln w="25400">
            <a:solidFill>
              <a:srgbClr val="B45309"/>
            </a:solidFill>
            <a:prstDash val="solid"/>
          </a:ln>
        </p:spPr>
      </p:sp>
      <p:sp>
        <p:nvSpPr>
          <p:cNvPr id="31" name="Text 28"/>
          <p:cNvSpPr txBox="1"/>
          <p:nvPr/>
        </p:nvSpPr>
        <p:spPr>
          <a:xfrm>
            <a:off x="6291072" y="4297680"/>
            <a:ext cx="5212080" cy="128016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⑥ 英会話ペラペラビジネス100（並行）</a:t>
            </a:r>
            <a:endParaRPr lang="en-US" sz="1800" dirty="0"/>
          </a:p>
        </p:txBody>
      </p:sp>
      <p:sp>
        <p:nvSpPr>
          <p:cNvPr id="32" name="Shape 29"/>
          <p:cNvSpPr/>
          <p:nvPr/>
        </p:nvSpPr>
        <p:spPr>
          <a:xfrm>
            <a:off x="457200" y="5760720"/>
            <a:ext cx="11274552" cy="548640"/>
          </a:xfrm>
          <a:prstGeom prst="roundRect">
            <a:avLst>
              <a:gd name="adj" fmla="val 20000"/>
            </a:avLst>
          </a:prstGeom>
          <a:solidFill>
            <a:srgbClr val="DCE8F8"/>
          </a:solidFill>
          <a:ln w="19050">
            <a:solidFill>
              <a:srgbClr val="2F6BC2"/>
            </a:solidFill>
            <a:prstDash val="solid"/>
          </a:ln>
        </p:spPr>
      </p:sp>
      <p:sp>
        <p:nvSpPr>
          <p:cNvPr id="33" name="Shape 30"/>
          <p:cNvSpPr/>
          <p:nvPr/>
        </p:nvSpPr>
        <p:spPr>
          <a:xfrm>
            <a:off x="594360" y="5852160"/>
            <a:ext cx="365760" cy="365760"/>
          </a:xfrm>
          <a:prstGeom prst="ellipse">
            <a:avLst/>
          </a:prstGeom>
          <a:solidFill>
            <a:srgbClr val="2F6BC2"/>
          </a:solidFill>
          <a:ln/>
        </p:spPr>
      </p:sp>
      <p:pic>
        <p:nvPicPr>
          <p:cNvPr id="34" name="Image 0" descr="preencoded.png">    </p:cNvPr>
          <p:cNvPicPr>
            <a:picLocks noChangeAspect="1"/>
          </p:cNvPicPr>
          <p:nvPr/>
        </p:nvPicPr>
        <p:blipFill>
          <a:blip r:embed="rId1"/>
          <a:stretch>
            <a:fillRect/>
          </a:stretch>
        </p:blipFill>
        <p:spPr>
          <a:xfrm>
            <a:off x="674827" y="5932627"/>
            <a:ext cx="204826" cy="204826"/>
          </a:xfrm>
          <a:prstGeom prst="rect">
            <a:avLst/>
          </a:prstGeom>
        </p:spPr>
      </p:pic>
      <p:sp>
        <p:nvSpPr>
          <p:cNvPr id="35" name="Text 31"/>
          <p:cNvSpPr txBox="1"/>
          <p:nvPr/>
        </p:nvSpPr>
        <p:spPr>
          <a:xfrm>
            <a:off x="1097280" y="5806440"/>
            <a:ext cx="10497312" cy="4572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「やや内容が多い」②で挫折しそうなら、やさしい③から始める（ブログの助言）</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書籍ガイド</a:t>
            </a:r>
            <a:endParaRPr lang="ja-JP" sz="1400" dirty="0"/>
          </a:p>
        </p:txBody>
      </p:sp>
      <p:sp>
        <p:nvSpPr>
          <p:cNvPr id="3" name="Text 1"/>
          <p:cNvSpPr txBox="1"/>
          <p:nvPr/>
        </p:nvSpPr>
        <p:spPr>
          <a:xfrm>
            <a:off x="9011615" y="237744"/>
            <a:ext cx="2722880" cy="310896"/>
          </a:xfrm>
          <a:prstGeom prst="roundRect">
            <a:avLst>
              <a:gd name="adj" fmla="val 50000"/>
            </a:avLst>
          </a:prstGeom>
          <a:solidFill>
            <a:srgbClr val="FDEBD0"/>
          </a:solidFill>
          <a:ln w="9525">
            <a:solidFill>
              <a:srgbClr val="7C2D12"/>
            </a:solidFill>
          </a:ln>
        </p:spPr>
        <p:txBody>
          <a:bodyPr wrap="square" lIns="0" tIns="0" rIns="0" bIns="0" rtlCol="0" anchor="ctr"/>
          <a:lstStyle/>
          <a:p>
            <a:pPr algn="ctr" indent="0" marL="0">
              <a:buNone/>
            </a:pPr>
            <a:r>
              <a:rPr lang="ja-JP" altLang="en-US" sz="1400" b="1" dirty="0">
                <a:solidFill>
                  <a:srgbClr val="7C2D12"/>
                </a:solidFill>
                <a:latin typeface="Yu Gothic" pitchFamily="34" charset="0"/>
                <a:ea typeface="Yu Gothic" pitchFamily="34" charset="-122"/>
                <a:cs typeface="Yu Gothic" pitchFamily="34" charset="-120"/>
              </a:rPr>
              <a:t>書籍情報（検索結果で確認）</a:t>
            </a:r>
            <a:endParaRPr lang="ja-JP" sz="1400" dirty="0"/>
          </a:p>
        </p:txBody>
      </p:sp>
      <p:sp>
        <p:nvSpPr>
          <p:cNvPr id="4" name="Text 2"/>
          <p:cNvSpPr txBox="1"/>
          <p:nvPr/>
        </p:nvSpPr>
        <p:spPr>
          <a:xfrm>
            <a:off x="6737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① キタミ式イラストIT塾 基本情報技術者</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イラストが多く、初心者でも読みやすい基本情報技術者試験の対策書です。基本情報を学習済みなら、辞書のように必要な章だけ開く使い方が効率的です。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[K05]</a:t>
            </a:r>
            <a:endParaRPr lang="ja-JP" sz="1200" dirty="0"/>
          </a:p>
        </p:txBody>
      </p:sp>
      <p:sp>
        <p:nvSpPr>
          <p:cNvPr id="9" name="Shape 6"/>
          <p:cNvSpPr/>
          <p:nvPr/>
        </p:nvSpPr>
        <p:spPr>
          <a:xfrm>
            <a:off x="457200" y="1783080"/>
            <a:ext cx="5120640" cy="2377440"/>
          </a:xfrm>
          <a:prstGeom prst="roundRect">
            <a:avLst>
              <a:gd name="adj" fmla="val 5385"/>
            </a:avLst>
          </a:prstGeom>
          <a:solidFill>
            <a:srgbClr val="DCE8F8"/>
          </a:solidFill>
          <a:ln/>
        </p:spPr>
      </p:sp>
      <p:sp>
        <p:nvSpPr>
          <p:cNvPr id="10" name="Text 7"/>
          <p:cNvSpPr txBox="1"/>
          <p:nvPr/>
        </p:nvSpPr>
        <p:spPr>
          <a:xfrm>
            <a:off x="640080" y="1911096"/>
            <a:ext cx="475488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書誌（検索で確認）</a:t>
            </a:r>
            <a:endParaRPr lang="en-US" sz="2000" dirty="0"/>
          </a:p>
        </p:txBody>
      </p:sp>
      <p:sp>
        <p:nvSpPr>
          <p:cNvPr id="11" name="Text 8"/>
          <p:cNvSpPr txBox="1"/>
          <p:nvPr/>
        </p:nvSpPr>
        <p:spPr>
          <a:xfrm>
            <a:off x="640080" y="2337816"/>
            <a:ext cx="4754880" cy="1731264"/>
          </a:xfrm>
          <a:prstGeom prst="rect">
            <a:avLst/>
          </a:prstGeom>
          <a:noFill/>
          <a:ln/>
        </p:spPr>
        <p:txBody>
          <a:bodyPr wrap="square" lIns="0" tIns="0" rIns="0" bIns="0" rtlCol="0" anchor="t"/>
          <a:lstStyle/>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著者：きたみりゅうじ</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出版社：技術評論社</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令和08年版：2025年12月3日発売</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888ページ・2,420円（税込）</a:t>
            </a:r>
            <a:endParaRPr lang="en-US" sz="1800" dirty="0"/>
          </a:p>
        </p:txBody>
      </p:sp>
      <p:sp>
        <p:nvSpPr>
          <p:cNvPr id="12" name="Shape 9"/>
          <p:cNvSpPr/>
          <p:nvPr/>
        </p:nvSpPr>
        <p:spPr>
          <a:xfrm>
            <a:off x="457200" y="4297680"/>
            <a:ext cx="5120640" cy="2011680"/>
          </a:xfrm>
          <a:prstGeom prst="roundRect">
            <a:avLst>
              <a:gd name="adj" fmla="val 6364"/>
            </a:avLst>
          </a:prstGeom>
          <a:solidFill>
            <a:srgbClr val="DDF1E4"/>
          </a:solidFill>
          <a:ln/>
        </p:spPr>
      </p:sp>
      <p:sp>
        <p:nvSpPr>
          <p:cNvPr id="13" name="Text 10"/>
          <p:cNvSpPr txBox="1"/>
          <p:nvPr/>
        </p:nvSpPr>
        <p:spPr>
          <a:xfrm>
            <a:off x="640080" y="4425696"/>
            <a:ext cx="475488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ブログの紹介</a:t>
            </a:r>
            <a:endParaRPr lang="en-US" sz="2000" dirty="0"/>
          </a:p>
        </p:txBody>
      </p:sp>
      <p:sp>
        <p:nvSpPr>
          <p:cNvPr id="14" name="Text 11"/>
          <p:cNvSpPr txBox="1"/>
          <p:nvPr/>
        </p:nvSpPr>
        <p:spPr>
          <a:xfrm>
            <a:off x="640080" y="4852416"/>
            <a:ext cx="4754880" cy="1365504"/>
          </a:xfrm>
          <a:prstGeom prst="rect">
            <a:avLst/>
          </a:prstGeom>
          <a:noFill/>
          <a:ln/>
        </p:spPr>
        <p:txBody>
          <a:bodyPr wrap="square" lIns="0" tIns="0" rIns="0" bIns="0" rtlCol="0" anchor="t"/>
          <a:lstStyle/>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基本情報試験対策の「バイブル」</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イラストが多く初心者向き</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1〜17章を勉強するとよい（当時の版）</a:t>
            </a:r>
            <a:endParaRPr lang="en-US" sz="18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806440" y="1783080"/>
          <a:ext cx="5925312" cy="914400"/>
        </p:xfrm>
        <a:graphic>
          <a:graphicData uri="http://schemas.openxmlformats.org/drawingml/2006/table">
            <a:tbl>
              <a:tblPr/>
              <a:tblGrid>
                <a:gridCol w="822960"/>
                <a:gridCol w="510235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 </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F6BC2"/>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基本情報の範囲（ブログの記述）</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F6BC2"/>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コンピュータを構成する要素</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データ表現</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論理演算</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4</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セキュリティ</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5</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開発の流れ</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6</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マネジメント</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6" name="Shape 12"/>
          <p:cNvSpPr/>
          <p:nvPr/>
        </p:nvSpPr>
        <p:spPr>
          <a:xfrm>
            <a:off x="5806440" y="4465320"/>
            <a:ext cx="5925312" cy="1005840"/>
          </a:xfrm>
          <a:prstGeom prst="roundRect">
            <a:avLst>
              <a:gd name="adj" fmla="val 10909"/>
            </a:avLst>
          </a:prstGeom>
          <a:solidFill>
            <a:srgbClr val="DDF1E4"/>
          </a:solidFill>
          <a:ln w="19050">
            <a:solidFill>
              <a:srgbClr val="237A48"/>
            </a:solidFill>
            <a:prstDash val="solid"/>
          </a:ln>
        </p:spPr>
      </p:sp>
      <p:sp>
        <p:nvSpPr>
          <p:cNvPr id="17" name="Shape 13"/>
          <p:cNvSpPr/>
          <p:nvPr/>
        </p:nvSpPr>
        <p:spPr>
          <a:xfrm>
            <a:off x="5943600" y="4739640"/>
            <a:ext cx="457200" cy="457200"/>
          </a:xfrm>
          <a:prstGeom prst="ellipse">
            <a:avLst/>
          </a:prstGeom>
          <a:solidFill>
            <a:srgbClr val="237A48"/>
          </a:solidFill>
          <a:ln/>
        </p:spPr>
      </p:sp>
      <p:pic>
        <p:nvPicPr>
          <p:cNvPr id="18" name="Image 0" descr="preencoded.png">    </p:cNvPr>
          <p:cNvPicPr>
            <a:picLocks noChangeAspect="1"/>
          </p:cNvPicPr>
          <p:nvPr/>
        </p:nvPicPr>
        <p:blipFill>
          <a:blip r:embed="rId1"/>
          <a:stretch>
            <a:fillRect/>
          </a:stretch>
        </p:blipFill>
        <p:spPr>
          <a:xfrm>
            <a:off x="6044184" y="4840224"/>
            <a:ext cx="256032" cy="256032"/>
          </a:xfrm>
          <a:prstGeom prst="rect">
            <a:avLst/>
          </a:prstGeom>
        </p:spPr>
      </p:pic>
      <p:sp>
        <p:nvSpPr>
          <p:cNvPr id="19" name="Text 14"/>
          <p:cNvSpPr txBox="1"/>
          <p:nvPr/>
        </p:nvSpPr>
        <p:spPr>
          <a:xfrm>
            <a:off x="6537960" y="4511040"/>
            <a:ext cx="5056632" cy="9144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学習済みなら、用語の確認に使う。章立ては版ごとに変わるので、目次で探す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書籍ガイド</a:t>
            </a:r>
            <a:endParaRPr lang="ja-JP" sz="1400" dirty="0"/>
          </a:p>
        </p:txBody>
      </p:sp>
      <p:sp>
        <p:nvSpPr>
          <p:cNvPr id="3" name="Text 1"/>
          <p:cNvSpPr txBox="1"/>
          <p:nvPr/>
        </p:nvSpPr>
        <p:spPr>
          <a:xfrm>
            <a:off x="9011615" y="237744"/>
            <a:ext cx="2722880" cy="310896"/>
          </a:xfrm>
          <a:prstGeom prst="roundRect">
            <a:avLst>
              <a:gd name="adj" fmla="val 50000"/>
            </a:avLst>
          </a:prstGeom>
          <a:solidFill>
            <a:srgbClr val="FDEBD0"/>
          </a:solidFill>
          <a:ln w="9525">
            <a:solidFill>
              <a:srgbClr val="7C2D12"/>
            </a:solidFill>
          </a:ln>
        </p:spPr>
        <p:txBody>
          <a:bodyPr wrap="square" lIns="0" tIns="0" rIns="0" bIns="0" rtlCol="0" anchor="ctr"/>
          <a:lstStyle/>
          <a:p>
            <a:pPr algn="ctr" indent="0" marL="0">
              <a:buNone/>
            </a:pPr>
            <a:r>
              <a:rPr lang="ja-JP" altLang="en-US" sz="1400" b="1" dirty="0">
                <a:solidFill>
                  <a:srgbClr val="7C2D12"/>
                </a:solidFill>
                <a:latin typeface="Yu Gothic" pitchFamily="34" charset="0"/>
                <a:ea typeface="Yu Gothic" pitchFamily="34" charset="-122"/>
                <a:cs typeface="Yu Gothic" pitchFamily="34" charset="-120"/>
              </a:rPr>
              <a:t>書籍情報（検索結果で確認）</a:t>
            </a:r>
            <a:endParaRPr lang="ja-JP" sz="1400" dirty="0"/>
          </a:p>
        </p:txBody>
      </p:sp>
      <p:sp>
        <p:nvSpPr>
          <p:cNvPr id="4" name="Text 2"/>
          <p:cNvSpPr txBox="1"/>
          <p:nvPr/>
        </p:nvSpPr>
        <p:spPr>
          <a:xfrm>
            <a:off x="6737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② マスタリングTCP/IP 入門編（第6版）</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TCP/IPの基本を体系的に学べる定番書で、単語の説明と図が豊富です。ただしブログも「やや内容が多い」と注意しています。研修の内容とリンクする点が推薦理由です。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[K01]</a:t>
            </a:r>
            <a:endParaRPr lang="ja-JP" sz="1200" dirty="0"/>
          </a:p>
        </p:txBody>
      </p:sp>
      <p:sp>
        <p:nvSpPr>
          <p:cNvPr id="9" name="Shape 6"/>
          <p:cNvSpPr/>
          <p:nvPr/>
        </p:nvSpPr>
        <p:spPr>
          <a:xfrm>
            <a:off x="457200" y="1783080"/>
            <a:ext cx="5120640" cy="2377440"/>
          </a:xfrm>
          <a:prstGeom prst="roundRect">
            <a:avLst>
              <a:gd name="adj" fmla="val 5385"/>
            </a:avLst>
          </a:prstGeom>
          <a:solidFill>
            <a:srgbClr val="D9F2F1"/>
          </a:solidFill>
          <a:ln/>
        </p:spPr>
      </p:sp>
      <p:sp>
        <p:nvSpPr>
          <p:cNvPr id="10" name="Text 7"/>
          <p:cNvSpPr txBox="1"/>
          <p:nvPr/>
        </p:nvSpPr>
        <p:spPr>
          <a:xfrm>
            <a:off x="640080" y="1911096"/>
            <a:ext cx="475488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書誌（検索で確認）</a:t>
            </a:r>
            <a:endParaRPr lang="en-US" sz="2000" dirty="0"/>
          </a:p>
        </p:txBody>
      </p:sp>
      <p:sp>
        <p:nvSpPr>
          <p:cNvPr id="11" name="Text 8"/>
          <p:cNvSpPr txBox="1"/>
          <p:nvPr/>
        </p:nvSpPr>
        <p:spPr>
          <a:xfrm>
            <a:off x="640080" y="2337816"/>
            <a:ext cx="4754880" cy="1731264"/>
          </a:xfrm>
          <a:prstGeom prst="rect">
            <a:avLst/>
          </a:prstGeom>
          <a:noFill/>
          <a:ln/>
        </p:spPr>
        <p:txBody>
          <a:bodyPr wrap="square" lIns="0" tIns="0" rIns="0" bIns="0" rtlCol="0" anchor="t"/>
          <a:lstStyle/>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著者：井上直也ほか4名</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出版社：オーム社</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第6版：2019年12月発行</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約400ページ・2,420円（税込）</a:t>
            </a:r>
            <a:endParaRPr lang="en-US" sz="1800" dirty="0"/>
          </a:p>
        </p:txBody>
      </p:sp>
      <p:sp>
        <p:nvSpPr>
          <p:cNvPr id="12" name="Shape 9"/>
          <p:cNvSpPr/>
          <p:nvPr/>
        </p:nvSpPr>
        <p:spPr>
          <a:xfrm>
            <a:off x="457200" y="4297680"/>
            <a:ext cx="5120640" cy="2011680"/>
          </a:xfrm>
          <a:prstGeom prst="roundRect">
            <a:avLst>
              <a:gd name="adj" fmla="val 6364"/>
            </a:avLst>
          </a:prstGeom>
          <a:solidFill>
            <a:srgbClr val="DDF1E4"/>
          </a:solidFill>
          <a:ln/>
        </p:spPr>
      </p:sp>
      <p:sp>
        <p:nvSpPr>
          <p:cNvPr id="13" name="Text 10"/>
          <p:cNvSpPr txBox="1"/>
          <p:nvPr/>
        </p:nvSpPr>
        <p:spPr>
          <a:xfrm>
            <a:off x="640080" y="4425696"/>
            <a:ext cx="475488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ブログの紹介</a:t>
            </a:r>
            <a:endParaRPr lang="en-US" sz="2000" dirty="0"/>
          </a:p>
        </p:txBody>
      </p:sp>
      <p:sp>
        <p:nvSpPr>
          <p:cNvPr id="14" name="Text 11"/>
          <p:cNvSpPr txBox="1"/>
          <p:nvPr/>
        </p:nvSpPr>
        <p:spPr>
          <a:xfrm>
            <a:off x="640080" y="4852416"/>
            <a:ext cx="4754880" cy="1365504"/>
          </a:xfrm>
          <a:prstGeom prst="rect">
            <a:avLst/>
          </a:prstGeom>
          <a:noFill/>
          <a:ln/>
        </p:spPr>
        <p:txBody>
          <a:bodyPr wrap="square" lIns="0" tIns="0" rIns="0" bIns="0" rtlCol="0" anchor="t"/>
          <a:lstStyle/>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研修の内容とリンクし体系的</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単語の説明と図が多い</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やや内容が多い→挫折しそうなら③</a:t>
            </a:r>
            <a:endParaRPr lang="en-US" sz="18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806440" y="1783080"/>
          <a:ext cx="5925312" cy="914400"/>
        </p:xfrm>
        <a:graphic>
          <a:graphicData uri="http://schemas.openxmlformats.org/drawingml/2006/table">
            <a:tbl>
              <a:tblPr/>
              <a:tblGrid>
                <a:gridCol w="822960"/>
                <a:gridCol w="510235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章</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7A7A"/>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題名（第6版）</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7A7A"/>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ネットワーク基礎知識</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TCP/IP基礎知識</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データリンク</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4</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IPプロトコル</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5</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IPに関連する技術</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6</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TCPとUDP</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7</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ルーティングプロトコル</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8</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アプリケーションプロトコル</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9</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セキュリティ</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6" name="Shape 12"/>
          <p:cNvSpPr/>
          <p:nvPr/>
        </p:nvSpPr>
        <p:spPr>
          <a:xfrm>
            <a:off x="5806440" y="5522976"/>
            <a:ext cx="5925312" cy="804672"/>
          </a:xfrm>
          <a:prstGeom prst="roundRect">
            <a:avLst>
              <a:gd name="adj" fmla="val 13636"/>
            </a:avLst>
          </a:prstGeom>
          <a:solidFill>
            <a:srgbClr val="DDF1E4"/>
          </a:solidFill>
          <a:ln w="19050">
            <a:solidFill>
              <a:srgbClr val="237A48"/>
            </a:solidFill>
            <a:prstDash val="solid"/>
          </a:ln>
        </p:spPr>
      </p:sp>
      <p:sp>
        <p:nvSpPr>
          <p:cNvPr id="17" name="Shape 13"/>
          <p:cNvSpPr/>
          <p:nvPr/>
        </p:nvSpPr>
        <p:spPr>
          <a:xfrm>
            <a:off x="5943600" y="5696712"/>
            <a:ext cx="457200" cy="457200"/>
          </a:xfrm>
          <a:prstGeom prst="ellipse">
            <a:avLst/>
          </a:prstGeom>
          <a:solidFill>
            <a:srgbClr val="237A48"/>
          </a:solidFill>
          <a:ln/>
        </p:spPr>
      </p:sp>
      <p:pic>
        <p:nvPicPr>
          <p:cNvPr id="18" name="Image 0" descr="preencoded.png">    </p:cNvPr>
          <p:cNvPicPr>
            <a:picLocks noChangeAspect="1"/>
          </p:cNvPicPr>
          <p:nvPr/>
        </p:nvPicPr>
        <p:blipFill>
          <a:blip r:embed="rId1"/>
          <a:stretch>
            <a:fillRect/>
          </a:stretch>
        </p:blipFill>
        <p:spPr>
          <a:xfrm>
            <a:off x="6044184" y="5797296"/>
            <a:ext cx="256032" cy="256032"/>
          </a:xfrm>
          <a:prstGeom prst="rect">
            <a:avLst/>
          </a:prstGeom>
        </p:spPr>
      </p:pic>
      <p:sp>
        <p:nvSpPr>
          <p:cNvPr id="19" name="Text 14"/>
          <p:cNvSpPr txBox="1"/>
          <p:nvPr/>
        </p:nvSpPr>
        <p:spPr>
          <a:xfrm>
            <a:off x="6537960" y="5568696"/>
            <a:ext cx="5056632" cy="713232"/>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提案：1〜2章で全体像→3〜6章をヘッダー図と対応させる。7〜9章は後回しでも可</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書籍ガイド</a:t>
            </a:r>
            <a:endParaRPr lang="ja-JP" sz="1400" dirty="0"/>
          </a:p>
        </p:txBody>
      </p:sp>
      <p:sp>
        <p:nvSpPr>
          <p:cNvPr id="3" name="Text 1"/>
          <p:cNvSpPr txBox="1"/>
          <p:nvPr/>
        </p:nvSpPr>
        <p:spPr>
          <a:xfrm>
            <a:off x="9011615" y="237744"/>
            <a:ext cx="2722880" cy="310896"/>
          </a:xfrm>
          <a:prstGeom prst="roundRect">
            <a:avLst>
              <a:gd name="adj" fmla="val 50000"/>
            </a:avLst>
          </a:prstGeom>
          <a:solidFill>
            <a:srgbClr val="FDEBD0"/>
          </a:solidFill>
          <a:ln w="9525">
            <a:solidFill>
              <a:srgbClr val="7C2D12"/>
            </a:solidFill>
          </a:ln>
        </p:spPr>
        <p:txBody>
          <a:bodyPr wrap="square" lIns="0" tIns="0" rIns="0" bIns="0" rtlCol="0" anchor="ctr"/>
          <a:lstStyle/>
          <a:p>
            <a:pPr algn="ctr" indent="0" marL="0">
              <a:buNone/>
            </a:pPr>
            <a:r>
              <a:rPr lang="ja-JP" altLang="en-US" sz="1400" b="1" dirty="0">
                <a:solidFill>
                  <a:srgbClr val="7C2D12"/>
                </a:solidFill>
                <a:latin typeface="Yu Gothic" pitchFamily="34" charset="0"/>
                <a:ea typeface="Yu Gothic" pitchFamily="34" charset="-122"/>
                <a:cs typeface="Yu Gothic" pitchFamily="34" charset="-120"/>
              </a:rPr>
              <a:t>書籍情報（検索結果で確認）</a:t>
            </a:r>
            <a:endParaRPr lang="ja-JP" sz="1400" dirty="0"/>
          </a:p>
        </p:txBody>
      </p:sp>
      <p:sp>
        <p:nvSpPr>
          <p:cNvPr id="4" name="Text 2"/>
          <p:cNvSpPr txBox="1"/>
          <p:nvPr/>
        </p:nvSpPr>
        <p:spPr>
          <a:xfrm>
            <a:off x="6737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③ スラスラわかるネットワーク＆TCP/IPのきほん</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イラストと図が中心で、ネットワークの部品のイメージがつかみやすい入門書です。分量もちょうどよく、初心者向きなので、ネットワークが初めてなら最初の1冊に向きます。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[K02]</a:t>
            </a:r>
            <a:endParaRPr lang="ja-JP" sz="1200" dirty="0"/>
          </a:p>
        </p:txBody>
      </p:sp>
      <p:sp>
        <p:nvSpPr>
          <p:cNvPr id="9" name="Shape 6"/>
          <p:cNvSpPr/>
          <p:nvPr/>
        </p:nvSpPr>
        <p:spPr>
          <a:xfrm>
            <a:off x="457200" y="1783080"/>
            <a:ext cx="5120640" cy="2377440"/>
          </a:xfrm>
          <a:prstGeom prst="roundRect">
            <a:avLst>
              <a:gd name="adj" fmla="val 5385"/>
            </a:avLst>
          </a:prstGeom>
          <a:solidFill>
            <a:srgbClr val="D9F2F1"/>
          </a:solidFill>
          <a:ln/>
        </p:spPr>
      </p:sp>
      <p:sp>
        <p:nvSpPr>
          <p:cNvPr id="10" name="Text 7"/>
          <p:cNvSpPr txBox="1"/>
          <p:nvPr/>
        </p:nvSpPr>
        <p:spPr>
          <a:xfrm>
            <a:off x="640080" y="1911096"/>
            <a:ext cx="475488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0B7A7A"/>
                </a:solidFill>
                <a:latin typeface="Yu Gothic" pitchFamily="34" charset="0"/>
                <a:ea typeface="Yu Gothic" pitchFamily="34" charset="-122"/>
                <a:cs typeface="Yu Gothic" pitchFamily="34" charset="-120"/>
              </a:rPr>
              <a:t>書誌（検索で確認）</a:t>
            </a:r>
            <a:endParaRPr lang="en-US" sz="2000" dirty="0"/>
          </a:p>
        </p:txBody>
      </p:sp>
      <p:sp>
        <p:nvSpPr>
          <p:cNvPr id="11" name="Text 8"/>
          <p:cNvSpPr txBox="1"/>
          <p:nvPr/>
        </p:nvSpPr>
        <p:spPr>
          <a:xfrm>
            <a:off x="640080" y="2337816"/>
            <a:ext cx="4754880" cy="1731264"/>
          </a:xfrm>
          <a:prstGeom prst="rect">
            <a:avLst/>
          </a:prstGeom>
          <a:noFill/>
          <a:ln/>
        </p:spPr>
        <p:txBody>
          <a:bodyPr wrap="square" lIns="0" tIns="0" rIns="0" bIns="0" rtlCol="0" anchor="t"/>
          <a:lstStyle/>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著者：リブロワークス</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出版社：SBクリエイティブ</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第3版：2023年12月26日発売</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200ページ・2,200円（税込）</a:t>
            </a:r>
            <a:endParaRPr lang="en-US" sz="1800" dirty="0"/>
          </a:p>
        </p:txBody>
      </p:sp>
      <p:sp>
        <p:nvSpPr>
          <p:cNvPr id="12" name="Shape 9"/>
          <p:cNvSpPr/>
          <p:nvPr/>
        </p:nvSpPr>
        <p:spPr>
          <a:xfrm>
            <a:off x="457200" y="4297680"/>
            <a:ext cx="5120640" cy="2011680"/>
          </a:xfrm>
          <a:prstGeom prst="roundRect">
            <a:avLst>
              <a:gd name="adj" fmla="val 6364"/>
            </a:avLst>
          </a:prstGeom>
          <a:solidFill>
            <a:srgbClr val="DDF1E4"/>
          </a:solidFill>
          <a:ln/>
        </p:spPr>
      </p:sp>
      <p:sp>
        <p:nvSpPr>
          <p:cNvPr id="13" name="Text 10"/>
          <p:cNvSpPr txBox="1"/>
          <p:nvPr/>
        </p:nvSpPr>
        <p:spPr>
          <a:xfrm>
            <a:off x="640080" y="4425696"/>
            <a:ext cx="475488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ブログの紹介</a:t>
            </a:r>
            <a:endParaRPr lang="en-US" sz="2000" dirty="0"/>
          </a:p>
        </p:txBody>
      </p:sp>
      <p:sp>
        <p:nvSpPr>
          <p:cNvPr id="14" name="Text 11"/>
          <p:cNvSpPr txBox="1"/>
          <p:nvPr/>
        </p:nvSpPr>
        <p:spPr>
          <a:xfrm>
            <a:off x="640080" y="4852416"/>
            <a:ext cx="4754880" cy="1365504"/>
          </a:xfrm>
          <a:prstGeom prst="rect">
            <a:avLst/>
          </a:prstGeom>
          <a:noFill/>
          <a:ln/>
        </p:spPr>
        <p:txBody>
          <a:bodyPr wrap="square" lIns="0" tIns="0" rIns="0" bIns="0" rtlCol="0" anchor="t"/>
          <a:lstStyle/>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図とイラストが中心で、要素のイメージがしやすい</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分量がちょうどよく初心者向き</a:t>
            </a:r>
            <a:endParaRPr lang="en-US" sz="18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806440" y="1783080"/>
          <a:ext cx="5925312" cy="914400"/>
        </p:xfrm>
        <a:graphic>
          <a:graphicData uri="http://schemas.openxmlformats.org/drawingml/2006/table">
            <a:tbl>
              <a:tblPr/>
              <a:tblGrid>
                <a:gridCol w="822960"/>
                <a:gridCol w="510235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章</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7A7A"/>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題名（第3版）</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7A7A"/>
                    </a:solidFill>
                  </a:tcPr>
                </a:tc>
              </a:tr>
              <a:tr h="654304">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コンピューターネットワークの世界を探索しよう</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ネットワークのサービスとアプリケーション層</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トランスポート層</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4</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インターネット層とルーティング</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654304">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5</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ネットワークインターフェース層とハードウェア</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6</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セキュリティ</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6" name="Shape 12"/>
          <p:cNvSpPr/>
          <p:nvPr/>
        </p:nvSpPr>
        <p:spPr>
          <a:xfrm>
            <a:off x="5806440" y="5068824"/>
            <a:ext cx="5925312" cy="1005840"/>
          </a:xfrm>
          <a:prstGeom prst="roundRect">
            <a:avLst>
              <a:gd name="adj" fmla="val 10909"/>
            </a:avLst>
          </a:prstGeom>
          <a:solidFill>
            <a:srgbClr val="DDF1E4"/>
          </a:solidFill>
          <a:ln w="19050">
            <a:solidFill>
              <a:srgbClr val="237A48"/>
            </a:solidFill>
            <a:prstDash val="solid"/>
          </a:ln>
        </p:spPr>
      </p:sp>
      <p:sp>
        <p:nvSpPr>
          <p:cNvPr id="17" name="Shape 13"/>
          <p:cNvSpPr/>
          <p:nvPr/>
        </p:nvSpPr>
        <p:spPr>
          <a:xfrm>
            <a:off x="5943600" y="5343144"/>
            <a:ext cx="457200" cy="457200"/>
          </a:xfrm>
          <a:prstGeom prst="ellipse">
            <a:avLst/>
          </a:prstGeom>
          <a:solidFill>
            <a:srgbClr val="237A48"/>
          </a:solidFill>
          <a:ln/>
        </p:spPr>
      </p:sp>
      <p:pic>
        <p:nvPicPr>
          <p:cNvPr id="18" name="Image 0" descr="preencoded.png">    </p:cNvPr>
          <p:cNvPicPr>
            <a:picLocks noChangeAspect="1"/>
          </p:cNvPicPr>
          <p:nvPr/>
        </p:nvPicPr>
        <p:blipFill>
          <a:blip r:embed="rId1"/>
          <a:stretch>
            <a:fillRect/>
          </a:stretch>
        </p:blipFill>
        <p:spPr>
          <a:xfrm>
            <a:off x="6044184" y="5443728"/>
            <a:ext cx="256032" cy="256032"/>
          </a:xfrm>
          <a:prstGeom prst="rect">
            <a:avLst/>
          </a:prstGeom>
        </p:spPr>
      </p:pic>
      <p:sp>
        <p:nvSpPr>
          <p:cNvPr id="19" name="Text 14"/>
          <p:cNvSpPr txBox="1"/>
          <p:nvPr/>
        </p:nvSpPr>
        <p:spPr>
          <a:xfrm>
            <a:off x="6537960" y="5114544"/>
            <a:ext cx="5056632" cy="9144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最初の1冊向き。読みながらデベロッパーツールやnetstatで観察する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書籍ガイド</a:t>
            </a:r>
            <a:endParaRPr lang="ja-JP" sz="1400" dirty="0"/>
          </a:p>
        </p:txBody>
      </p:sp>
      <p:sp>
        <p:nvSpPr>
          <p:cNvPr id="3" name="Text 1"/>
          <p:cNvSpPr txBox="1"/>
          <p:nvPr/>
        </p:nvSpPr>
        <p:spPr>
          <a:xfrm>
            <a:off x="9011615" y="237744"/>
            <a:ext cx="2722880" cy="310896"/>
          </a:xfrm>
          <a:prstGeom prst="roundRect">
            <a:avLst>
              <a:gd name="adj" fmla="val 50000"/>
            </a:avLst>
          </a:prstGeom>
          <a:solidFill>
            <a:srgbClr val="FDEBD0"/>
          </a:solidFill>
          <a:ln w="9525">
            <a:solidFill>
              <a:srgbClr val="7C2D12"/>
            </a:solidFill>
          </a:ln>
        </p:spPr>
        <p:txBody>
          <a:bodyPr wrap="square" lIns="0" tIns="0" rIns="0" bIns="0" rtlCol="0" anchor="ctr"/>
          <a:lstStyle/>
          <a:p>
            <a:pPr algn="ctr" indent="0" marL="0">
              <a:buNone/>
            </a:pPr>
            <a:r>
              <a:rPr lang="ja-JP" altLang="en-US" sz="1400" b="1" dirty="0">
                <a:solidFill>
                  <a:srgbClr val="7C2D12"/>
                </a:solidFill>
                <a:latin typeface="Yu Gothic" pitchFamily="34" charset="0"/>
                <a:ea typeface="Yu Gothic" pitchFamily="34" charset="-122"/>
                <a:cs typeface="Yu Gothic" pitchFamily="34" charset="-120"/>
              </a:rPr>
              <a:t>書籍情報（検索結果で確認）</a:t>
            </a:r>
            <a:endParaRPr lang="ja-JP" sz="1400" dirty="0"/>
          </a:p>
        </p:txBody>
      </p:sp>
      <p:sp>
        <p:nvSpPr>
          <p:cNvPr id="4" name="Text 2"/>
          <p:cNvSpPr txBox="1"/>
          <p:nvPr/>
        </p:nvSpPr>
        <p:spPr>
          <a:xfrm>
            <a:off x="6737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④ Linux標準教科書（LPI-Japan・無料）</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Linuxの基本操作を1冊で学べる、無料のPDF教材です。viエディタ、ユーザーと権限、ネットワーク設定、プロセス管理までが、この1冊の章立てに入っています。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[K03]</a:t>
            </a:r>
            <a:endParaRPr lang="ja-JP" sz="1200" dirty="0"/>
          </a:p>
        </p:txBody>
      </p:sp>
      <p:sp>
        <p:nvSpPr>
          <p:cNvPr id="9" name="Shape 6"/>
          <p:cNvSpPr/>
          <p:nvPr/>
        </p:nvSpPr>
        <p:spPr>
          <a:xfrm>
            <a:off x="457200" y="1783080"/>
            <a:ext cx="5120640" cy="2377440"/>
          </a:xfrm>
          <a:prstGeom prst="roundRect">
            <a:avLst>
              <a:gd name="adj" fmla="val 5385"/>
            </a:avLst>
          </a:prstGeom>
          <a:solidFill>
            <a:srgbClr val="E6E1F7"/>
          </a:solidFill>
          <a:ln/>
        </p:spPr>
      </p:sp>
      <p:sp>
        <p:nvSpPr>
          <p:cNvPr id="10" name="Text 7"/>
          <p:cNvSpPr txBox="1"/>
          <p:nvPr/>
        </p:nvSpPr>
        <p:spPr>
          <a:xfrm>
            <a:off x="640080" y="1911096"/>
            <a:ext cx="475488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5B46B8"/>
                </a:solidFill>
                <a:latin typeface="Yu Gothic" pitchFamily="34" charset="0"/>
                <a:ea typeface="Yu Gothic" pitchFamily="34" charset="-122"/>
                <a:cs typeface="Yu Gothic" pitchFamily="34" charset="-120"/>
              </a:rPr>
              <a:t>書誌（検索で確認）</a:t>
            </a:r>
            <a:endParaRPr lang="en-US" sz="2000" dirty="0"/>
          </a:p>
        </p:txBody>
      </p:sp>
      <p:sp>
        <p:nvSpPr>
          <p:cNvPr id="11" name="Text 8"/>
          <p:cNvSpPr txBox="1"/>
          <p:nvPr/>
        </p:nvSpPr>
        <p:spPr>
          <a:xfrm>
            <a:off x="640080" y="2337816"/>
            <a:ext cx="4754880" cy="1731264"/>
          </a:xfrm>
          <a:prstGeom prst="rect">
            <a:avLst/>
          </a:prstGeom>
          <a:noFill/>
          <a:ln/>
        </p:spPr>
        <p:txBody>
          <a:bodyPr wrap="square" lIns="0" tIns="0" rIns="0" bIns="0" rtlCol="0" anchor="t"/>
          <a:lstStyle/>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発行：LPI-Japan</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現行：Ver.4.0.1（2026年2月18日）</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85ページ</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PDF・EPUBは無料（CC BY-NC-ND 4.0）</a:t>
            </a:r>
            <a:endParaRPr lang="en-US" sz="1800" dirty="0"/>
          </a:p>
        </p:txBody>
      </p:sp>
      <p:sp>
        <p:nvSpPr>
          <p:cNvPr id="12" name="Shape 9"/>
          <p:cNvSpPr/>
          <p:nvPr/>
        </p:nvSpPr>
        <p:spPr>
          <a:xfrm>
            <a:off x="457200" y="4297680"/>
            <a:ext cx="5120640" cy="2011680"/>
          </a:xfrm>
          <a:prstGeom prst="roundRect">
            <a:avLst>
              <a:gd name="adj" fmla="val 6364"/>
            </a:avLst>
          </a:prstGeom>
          <a:solidFill>
            <a:srgbClr val="DDF1E4"/>
          </a:solidFill>
          <a:ln/>
        </p:spPr>
      </p:sp>
      <p:sp>
        <p:nvSpPr>
          <p:cNvPr id="13" name="Text 10"/>
          <p:cNvSpPr txBox="1"/>
          <p:nvPr/>
        </p:nvSpPr>
        <p:spPr>
          <a:xfrm>
            <a:off x="640080" y="4425696"/>
            <a:ext cx="475488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ブログの紹介</a:t>
            </a:r>
            <a:endParaRPr lang="en-US" sz="2000" dirty="0"/>
          </a:p>
        </p:txBody>
      </p:sp>
      <p:sp>
        <p:nvSpPr>
          <p:cNvPr id="14" name="Text 11"/>
          <p:cNvSpPr txBox="1"/>
          <p:nvPr/>
        </p:nvSpPr>
        <p:spPr>
          <a:xfrm>
            <a:off x="640080" y="4852416"/>
            <a:ext cx="4754880" cy="1365504"/>
          </a:xfrm>
          <a:prstGeom prst="rect">
            <a:avLst/>
          </a:prstGeom>
          <a:noFill/>
          <a:ln/>
        </p:spPr>
        <p:txBody>
          <a:bodyPr wrap="square" lIns="0" tIns="0" rIns="0" bIns="0" rtlCol="0" anchor="t"/>
          <a:lstStyle/>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OSの基礎知識に推奨。PDFは無料</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IPアドレスやネットワーク管理コマンドも載り、復習になる</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LinuC レベル1試験対策に最適</a:t>
            </a:r>
            <a:endParaRPr lang="en-US" sz="18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806440" y="1783080"/>
          <a:ext cx="5925312" cy="914400"/>
        </p:xfrm>
        <a:graphic>
          <a:graphicData uri="http://schemas.openxmlformats.org/drawingml/2006/table">
            <a:tbl>
              <a:tblPr/>
              <a:tblGrid>
                <a:gridCol w="822960"/>
                <a:gridCol w="510235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章</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5B46B8"/>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題名（Ver.4.0.1）</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5B46B8"/>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Linuxを学ぶ</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VirtualBoxの導入と仮想マシン作成</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Linuxのインストールと設定</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4</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Linuxを操作してみよう</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5</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基本的なコマンド</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6</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標準入出力とフィルタコマンド</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7</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viエディタ</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8</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ユーザーとグループの管理</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9</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ファイルやディレクトリのアクセス制御</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10</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ネットワークの設定と管理</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11</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プロセス管理</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書籍ガイド</a:t>
            </a:r>
            <a:endParaRPr lang="ja-JP" sz="1400" dirty="0"/>
          </a:p>
        </p:txBody>
      </p:sp>
      <p:sp>
        <p:nvSpPr>
          <p:cNvPr id="3" name="Text 1"/>
          <p:cNvSpPr txBox="1"/>
          <p:nvPr/>
        </p:nvSpPr>
        <p:spPr>
          <a:xfrm>
            <a:off x="9011615" y="237744"/>
            <a:ext cx="2722880" cy="310896"/>
          </a:xfrm>
          <a:prstGeom prst="roundRect">
            <a:avLst>
              <a:gd name="adj" fmla="val 50000"/>
            </a:avLst>
          </a:prstGeom>
          <a:solidFill>
            <a:srgbClr val="FDEBD0"/>
          </a:solidFill>
          <a:ln w="9525">
            <a:solidFill>
              <a:srgbClr val="7C2D12"/>
            </a:solidFill>
          </a:ln>
        </p:spPr>
        <p:txBody>
          <a:bodyPr wrap="square" lIns="0" tIns="0" rIns="0" bIns="0" rtlCol="0" anchor="ctr"/>
          <a:lstStyle/>
          <a:p>
            <a:pPr algn="ctr" indent="0" marL="0">
              <a:buNone/>
            </a:pPr>
            <a:r>
              <a:rPr lang="ja-JP" altLang="en-US" sz="1400" b="1" dirty="0">
                <a:solidFill>
                  <a:srgbClr val="7C2D12"/>
                </a:solidFill>
                <a:latin typeface="Yu Gothic" pitchFamily="34" charset="0"/>
                <a:ea typeface="Yu Gothic" pitchFamily="34" charset="-122"/>
                <a:cs typeface="Yu Gothic" pitchFamily="34" charset="-120"/>
              </a:rPr>
              <a:t>書籍情報（検索結果で確認）</a:t>
            </a:r>
            <a:endParaRPr lang="ja-JP" sz="1400" dirty="0"/>
          </a:p>
        </p:txBody>
      </p:sp>
      <p:sp>
        <p:nvSpPr>
          <p:cNvPr id="4" name="Text 2"/>
          <p:cNvSpPr txBox="1"/>
          <p:nvPr/>
        </p:nvSpPr>
        <p:spPr>
          <a:xfrm>
            <a:off x="6737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⑤ おうちで学べるデータベースのきほん（第2版）</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SQLの書き方だけでなく、トランザクション、バックアップ、可用性、コストまで、データベースの必須知識を体系的に学べる本です。手を動かす実習つきです。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[K04]</a:t>
            </a:r>
            <a:endParaRPr lang="ja-JP" sz="1200" dirty="0"/>
          </a:p>
        </p:txBody>
      </p:sp>
      <p:sp>
        <p:nvSpPr>
          <p:cNvPr id="9" name="Shape 6"/>
          <p:cNvSpPr/>
          <p:nvPr/>
        </p:nvSpPr>
        <p:spPr>
          <a:xfrm>
            <a:off x="457200" y="1783080"/>
            <a:ext cx="5120640" cy="2377440"/>
          </a:xfrm>
          <a:prstGeom prst="roundRect">
            <a:avLst>
              <a:gd name="adj" fmla="val 5385"/>
            </a:avLst>
          </a:prstGeom>
          <a:solidFill>
            <a:srgbClr val="DDF1E4"/>
          </a:solidFill>
          <a:ln/>
        </p:spPr>
      </p:sp>
      <p:sp>
        <p:nvSpPr>
          <p:cNvPr id="10" name="Text 7"/>
          <p:cNvSpPr txBox="1"/>
          <p:nvPr/>
        </p:nvSpPr>
        <p:spPr>
          <a:xfrm>
            <a:off x="640080" y="1911096"/>
            <a:ext cx="475488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書誌（検索で確認）</a:t>
            </a:r>
            <a:endParaRPr lang="en-US" sz="2000" dirty="0"/>
          </a:p>
        </p:txBody>
      </p:sp>
      <p:sp>
        <p:nvSpPr>
          <p:cNvPr id="11" name="Text 8"/>
          <p:cNvSpPr txBox="1"/>
          <p:nvPr/>
        </p:nvSpPr>
        <p:spPr>
          <a:xfrm>
            <a:off x="640080" y="2337816"/>
            <a:ext cx="4754880" cy="1731264"/>
          </a:xfrm>
          <a:prstGeom prst="rect">
            <a:avLst/>
          </a:prstGeom>
          <a:noFill/>
          <a:ln/>
        </p:spPr>
        <p:txBody>
          <a:bodyPr wrap="square" lIns="0" tIns="0" rIns="0" bIns="0" rtlCol="0" anchor="t"/>
          <a:lstStyle/>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著者：ミック・木村明治</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出版社：翔泳社</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第2版：2024年8月26日発売</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416ページ・2,640円（税込）</a:t>
            </a:r>
            <a:endParaRPr lang="en-US" sz="1800" dirty="0"/>
          </a:p>
        </p:txBody>
      </p:sp>
      <p:sp>
        <p:nvSpPr>
          <p:cNvPr id="12" name="Shape 9"/>
          <p:cNvSpPr/>
          <p:nvPr/>
        </p:nvSpPr>
        <p:spPr>
          <a:xfrm>
            <a:off x="457200" y="4297680"/>
            <a:ext cx="5120640" cy="2011680"/>
          </a:xfrm>
          <a:prstGeom prst="roundRect">
            <a:avLst>
              <a:gd name="adj" fmla="val 6364"/>
            </a:avLst>
          </a:prstGeom>
          <a:solidFill>
            <a:srgbClr val="DDF1E4"/>
          </a:solidFill>
          <a:ln/>
        </p:spPr>
      </p:sp>
      <p:sp>
        <p:nvSpPr>
          <p:cNvPr id="13" name="Text 10"/>
          <p:cNvSpPr txBox="1"/>
          <p:nvPr/>
        </p:nvSpPr>
        <p:spPr>
          <a:xfrm>
            <a:off x="640080" y="4425696"/>
            <a:ext cx="475488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ブログの紹介</a:t>
            </a:r>
            <a:endParaRPr lang="en-US" sz="2000" dirty="0"/>
          </a:p>
        </p:txBody>
      </p:sp>
      <p:sp>
        <p:nvSpPr>
          <p:cNvPr id="14" name="Text 11"/>
          <p:cNvSpPr txBox="1"/>
          <p:nvPr/>
        </p:nvSpPr>
        <p:spPr>
          <a:xfrm>
            <a:off x="640080" y="4852416"/>
            <a:ext cx="4754880" cy="1365504"/>
          </a:xfrm>
          <a:prstGeom prst="rect">
            <a:avLst/>
          </a:prstGeom>
          <a:noFill/>
          <a:ln/>
        </p:spPr>
        <p:txBody>
          <a:bodyPr wrap="square" lIns="0" tIns="0" rIns="0" bIns="0" rtlCol="0" anchor="t"/>
          <a:lstStyle/>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DBMSの操作とSQLだけでなく、トランザクション・バックアップ・可用性・コストまで体系的に学べる</a:t>
            </a:r>
            <a:endParaRPr lang="en-US" sz="18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806440" y="1783080"/>
          <a:ext cx="5925312" cy="914400"/>
        </p:xfrm>
        <a:graphic>
          <a:graphicData uri="http://schemas.openxmlformats.org/drawingml/2006/table">
            <a:tbl>
              <a:tblPr/>
              <a:tblGrid>
                <a:gridCol w="822960"/>
                <a:gridCol w="510235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章</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題名（第2版）</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データベースって何だろう</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リレーショナルデータベース</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データベースにまつわるお金の話</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4</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アーキテクチャ構成</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5</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DBMSを操作する際の基本知識</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6</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SQL文の基本（SELECT）</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7</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トランザクションと同時実行制御</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8</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テーブル設計の基礎（正規形）</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9</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バックアップとリカバリ</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52552">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10</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パフォーマンス</a:t>
                      </a:r>
                      <a:endParaRPr lang="en-US" sz="1200" dirty="0"/>
                    </a:p>
                  </a:txBody>
                  <a:tcPr marL="114300" marR="114300" marT="25400" marB="254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書籍ガイド</a:t>
            </a:r>
            <a:endParaRPr lang="ja-JP" sz="1400" dirty="0"/>
          </a:p>
        </p:txBody>
      </p:sp>
      <p:sp>
        <p:nvSpPr>
          <p:cNvPr id="3" name="Text 1"/>
          <p:cNvSpPr txBox="1"/>
          <p:nvPr/>
        </p:nvSpPr>
        <p:spPr>
          <a:xfrm>
            <a:off x="9011615" y="237744"/>
            <a:ext cx="2722880" cy="310896"/>
          </a:xfrm>
          <a:prstGeom prst="roundRect">
            <a:avLst>
              <a:gd name="adj" fmla="val 50000"/>
            </a:avLst>
          </a:prstGeom>
          <a:solidFill>
            <a:srgbClr val="FDEBD0"/>
          </a:solidFill>
          <a:ln w="9525">
            <a:solidFill>
              <a:srgbClr val="7C2D12"/>
            </a:solidFill>
          </a:ln>
        </p:spPr>
        <p:txBody>
          <a:bodyPr wrap="square" lIns="0" tIns="0" rIns="0" bIns="0" rtlCol="0" anchor="ctr"/>
          <a:lstStyle/>
          <a:p>
            <a:pPr algn="ctr" indent="0" marL="0">
              <a:buNone/>
            </a:pPr>
            <a:r>
              <a:rPr lang="ja-JP" altLang="en-US" sz="1400" b="1" dirty="0">
                <a:solidFill>
                  <a:srgbClr val="7C2D12"/>
                </a:solidFill>
                <a:latin typeface="Yu Gothic" pitchFamily="34" charset="0"/>
                <a:ea typeface="Yu Gothic" pitchFamily="34" charset="-122"/>
                <a:cs typeface="Yu Gothic" pitchFamily="34" charset="-120"/>
              </a:rPr>
              <a:t>書籍情報（検索結果で確認）</a:t>
            </a:r>
            <a:endParaRPr lang="ja-JP" sz="1400" dirty="0"/>
          </a:p>
        </p:txBody>
      </p:sp>
      <p:sp>
        <p:nvSpPr>
          <p:cNvPr id="4" name="Text 2"/>
          <p:cNvSpPr txBox="1"/>
          <p:nvPr/>
        </p:nvSpPr>
        <p:spPr>
          <a:xfrm>
            <a:off x="67372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⑥ 英会話ペラペラビジネス100</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外資系企業らしく、ブログが1冊だけ紹介した英語の本です。やさしい単語の定番フレーズ100個を使って、止まらずに話す練習をする構成です。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[K06]</a:t>
            </a:r>
            <a:endParaRPr lang="ja-JP" sz="1200" dirty="0"/>
          </a:p>
        </p:txBody>
      </p:sp>
      <p:sp>
        <p:nvSpPr>
          <p:cNvPr id="9" name="Shape 6"/>
          <p:cNvSpPr/>
          <p:nvPr/>
        </p:nvSpPr>
        <p:spPr>
          <a:xfrm>
            <a:off x="457200" y="1783080"/>
            <a:ext cx="5120640" cy="2377440"/>
          </a:xfrm>
          <a:prstGeom prst="roundRect">
            <a:avLst>
              <a:gd name="adj" fmla="val 5385"/>
            </a:avLst>
          </a:prstGeom>
          <a:solidFill>
            <a:srgbClr val="FDEBD0"/>
          </a:solidFill>
          <a:ln/>
        </p:spPr>
      </p:sp>
      <p:sp>
        <p:nvSpPr>
          <p:cNvPr id="10" name="Text 7"/>
          <p:cNvSpPr txBox="1"/>
          <p:nvPr/>
        </p:nvSpPr>
        <p:spPr>
          <a:xfrm>
            <a:off x="640080" y="1911096"/>
            <a:ext cx="475488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B45309"/>
                </a:solidFill>
                <a:latin typeface="Yu Gothic" pitchFamily="34" charset="0"/>
                <a:ea typeface="Yu Gothic" pitchFamily="34" charset="-122"/>
                <a:cs typeface="Yu Gothic" pitchFamily="34" charset="-120"/>
              </a:rPr>
              <a:t>書誌（検索で確認）</a:t>
            </a:r>
            <a:endParaRPr lang="en-US" sz="2000" dirty="0"/>
          </a:p>
        </p:txBody>
      </p:sp>
      <p:sp>
        <p:nvSpPr>
          <p:cNvPr id="11" name="Text 8"/>
          <p:cNvSpPr txBox="1"/>
          <p:nvPr/>
        </p:nvSpPr>
        <p:spPr>
          <a:xfrm>
            <a:off x="640080" y="2337816"/>
            <a:ext cx="4754880" cy="1731264"/>
          </a:xfrm>
          <a:prstGeom prst="rect">
            <a:avLst/>
          </a:prstGeom>
          <a:noFill/>
          <a:ln/>
        </p:spPr>
        <p:txBody>
          <a:bodyPr wrap="square" lIns="0" tIns="0" rIns="0" bIns="0" rtlCol="0" anchor="t"/>
          <a:lstStyle/>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著者：スティーブ・ソレイシィ、ロビン・ソレイシィ</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出版社：アルク（改訂版）</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A5判・256ページ・2,200円（税込）</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音声ダウンロード付き</a:t>
            </a:r>
            <a:endParaRPr lang="en-US" sz="1800" dirty="0"/>
          </a:p>
        </p:txBody>
      </p:sp>
      <p:sp>
        <p:nvSpPr>
          <p:cNvPr id="12" name="Shape 9"/>
          <p:cNvSpPr/>
          <p:nvPr/>
        </p:nvSpPr>
        <p:spPr>
          <a:xfrm>
            <a:off x="457200" y="4297680"/>
            <a:ext cx="5120640" cy="2011680"/>
          </a:xfrm>
          <a:prstGeom prst="roundRect">
            <a:avLst>
              <a:gd name="adj" fmla="val 6364"/>
            </a:avLst>
          </a:prstGeom>
          <a:solidFill>
            <a:srgbClr val="DDF1E4"/>
          </a:solidFill>
          <a:ln/>
        </p:spPr>
      </p:sp>
      <p:sp>
        <p:nvSpPr>
          <p:cNvPr id="13" name="Text 10"/>
          <p:cNvSpPr txBox="1"/>
          <p:nvPr/>
        </p:nvSpPr>
        <p:spPr>
          <a:xfrm>
            <a:off x="640080" y="4425696"/>
            <a:ext cx="4754880" cy="335280"/>
          </a:xfrm>
          <a:prstGeom prst="rect">
            <a:avLst/>
          </a:prstGeom>
          <a:noFill/>
          <a:ln/>
        </p:spPr>
        <p:txBody>
          <a:bodyPr wrap="square" lIns="0" tIns="0" rIns="0" bIns="0" rtlCol="0" anchor="t"/>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ブログの紹介</a:t>
            </a:r>
            <a:endParaRPr lang="en-US" sz="2000" dirty="0"/>
          </a:p>
        </p:txBody>
      </p:sp>
      <p:sp>
        <p:nvSpPr>
          <p:cNvPr id="14" name="Text 11"/>
          <p:cNvSpPr txBox="1"/>
          <p:nvPr/>
        </p:nvSpPr>
        <p:spPr>
          <a:xfrm>
            <a:off x="640080" y="4852416"/>
            <a:ext cx="4754880" cy="1365504"/>
          </a:xfrm>
          <a:prstGeom prst="rect">
            <a:avLst/>
          </a:prstGeom>
          <a:noFill/>
          <a:ln/>
        </p:spPr>
        <p:txBody>
          <a:bodyPr wrap="square" lIns="0" tIns="0" rIns="0" bIns="0" rtlCol="0" anchor="t"/>
          <a:lstStyle/>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やさしい単語の定番フレーズ100</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止まらず連続で話せるようになる</a:t>
            </a:r>
            <a:endParaRPr lang="en-US" sz="1800" dirty="0"/>
          </a:p>
          <a:p>
            <a:pPr algn="l" marL="279400" indent="-279400">
              <a:lnSpc>
                <a:spcPts val="2400"/>
              </a:lnSpc>
              <a:spcAft>
                <a:spcPts val="3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失礼のない「通じる英語」を学べる</a:t>
            </a:r>
            <a:endParaRPr lang="en-US" sz="1800" dirty="0"/>
          </a:p>
        </p:txBody>
      </p:sp>
      <p:sp>
        <p:nvSpPr>
          <p:cNvPr id="15" name="Shape 12"/>
          <p:cNvSpPr/>
          <p:nvPr/>
        </p:nvSpPr>
        <p:spPr>
          <a:xfrm>
            <a:off x="5806440" y="1783080"/>
            <a:ext cx="5925312" cy="457200"/>
          </a:xfrm>
          <a:prstGeom prst="roundRect">
            <a:avLst>
              <a:gd name="adj" fmla="val 20000"/>
            </a:avLst>
          </a:prstGeom>
          <a:solidFill>
            <a:srgbClr val="B45309"/>
          </a:solidFill>
          <a:ln/>
        </p:spPr>
      </p:sp>
      <p:sp>
        <p:nvSpPr>
          <p:cNvPr id="16" name="Text 13"/>
          <p:cNvSpPr txBox="1"/>
          <p:nvPr/>
        </p:nvSpPr>
        <p:spPr>
          <a:xfrm>
            <a:off x="5897880" y="1783080"/>
            <a:ext cx="5742432"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使い方の提案</a:t>
            </a:r>
            <a:endParaRPr lang="en-US" sz="2000" dirty="0"/>
          </a:p>
        </p:txBody>
      </p:sp>
      <p:sp>
        <p:nvSpPr>
          <p:cNvPr id="17" name="Shape 14"/>
          <p:cNvSpPr/>
          <p:nvPr/>
        </p:nvSpPr>
        <p:spPr>
          <a:xfrm>
            <a:off x="5824728" y="2601468"/>
            <a:ext cx="420624" cy="420624"/>
          </a:xfrm>
          <a:prstGeom prst="ellipse">
            <a:avLst/>
          </a:prstGeom>
          <a:solidFill>
            <a:srgbClr val="B45309"/>
          </a:solidFill>
          <a:ln w="19050">
            <a:solidFill>
              <a:srgbClr val="FFFFFF"/>
            </a:solidFill>
            <a:prstDash val="solid"/>
          </a:ln>
        </p:spPr>
      </p:sp>
      <p:sp>
        <p:nvSpPr>
          <p:cNvPr id="18" name="Text 15"/>
          <p:cNvSpPr txBox="1"/>
          <p:nvPr/>
        </p:nvSpPr>
        <p:spPr>
          <a:xfrm>
            <a:off x="5824728" y="260146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19" name="Text 16"/>
          <p:cNvSpPr txBox="1"/>
          <p:nvPr/>
        </p:nvSpPr>
        <p:spPr>
          <a:xfrm>
            <a:off x="6400800" y="2377440"/>
            <a:ext cx="5330952" cy="83210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音声を聞いて、フレーズを声に出して真似する</a:t>
            </a:r>
            <a:endParaRPr lang="en-US" sz="1800" dirty="0"/>
          </a:p>
        </p:txBody>
      </p:sp>
      <p:sp>
        <p:nvSpPr>
          <p:cNvPr id="20" name="Shape 17"/>
          <p:cNvSpPr/>
          <p:nvPr/>
        </p:nvSpPr>
        <p:spPr>
          <a:xfrm>
            <a:off x="5824728" y="3470148"/>
            <a:ext cx="420624" cy="420624"/>
          </a:xfrm>
          <a:prstGeom prst="ellipse">
            <a:avLst/>
          </a:prstGeom>
          <a:solidFill>
            <a:srgbClr val="B45309"/>
          </a:solidFill>
          <a:ln w="19050">
            <a:solidFill>
              <a:srgbClr val="FFFFFF"/>
            </a:solidFill>
            <a:prstDash val="solid"/>
          </a:ln>
        </p:spPr>
      </p:sp>
      <p:sp>
        <p:nvSpPr>
          <p:cNvPr id="21" name="Text 18"/>
          <p:cNvSpPr txBox="1"/>
          <p:nvPr/>
        </p:nvSpPr>
        <p:spPr>
          <a:xfrm>
            <a:off x="5824728" y="34701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22" name="Text 19"/>
          <p:cNvSpPr txBox="1"/>
          <p:nvPr/>
        </p:nvSpPr>
        <p:spPr>
          <a:xfrm>
            <a:off x="6400800" y="3246120"/>
            <a:ext cx="5330952" cy="83210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日本語から英語へ変換する練習をする</a:t>
            </a:r>
            <a:endParaRPr lang="en-US" sz="1800" dirty="0"/>
          </a:p>
        </p:txBody>
      </p:sp>
      <p:sp>
        <p:nvSpPr>
          <p:cNvPr id="23" name="Shape 20"/>
          <p:cNvSpPr/>
          <p:nvPr/>
        </p:nvSpPr>
        <p:spPr>
          <a:xfrm>
            <a:off x="5824728" y="4338828"/>
            <a:ext cx="420624" cy="420624"/>
          </a:xfrm>
          <a:prstGeom prst="ellipse">
            <a:avLst/>
          </a:prstGeom>
          <a:solidFill>
            <a:srgbClr val="B45309"/>
          </a:solidFill>
          <a:ln w="19050">
            <a:solidFill>
              <a:srgbClr val="FFFFFF"/>
            </a:solidFill>
            <a:prstDash val="solid"/>
          </a:ln>
        </p:spPr>
      </p:sp>
      <p:sp>
        <p:nvSpPr>
          <p:cNvPr id="24" name="Text 21"/>
          <p:cNvSpPr txBox="1"/>
          <p:nvPr/>
        </p:nvSpPr>
        <p:spPr>
          <a:xfrm>
            <a:off x="5824728" y="433882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25" name="Text 22"/>
          <p:cNvSpPr txBox="1"/>
          <p:nvPr/>
        </p:nvSpPr>
        <p:spPr>
          <a:xfrm>
            <a:off x="6400800" y="4114800"/>
            <a:ext cx="5330952" cy="83210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毎日10分、1〜3フレーズを自分の言葉で言い換える</a:t>
            </a:r>
            <a:endParaRPr lang="en-US" sz="1800" dirty="0"/>
          </a:p>
        </p:txBody>
      </p:sp>
      <p:sp>
        <p:nvSpPr>
          <p:cNvPr id="26" name="Shape 23"/>
          <p:cNvSpPr/>
          <p:nvPr/>
        </p:nvSpPr>
        <p:spPr>
          <a:xfrm>
            <a:off x="5824728" y="5207508"/>
            <a:ext cx="420624" cy="420624"/>
          </a:xfrm>
          <a:prstGeom prst="ellipse">
            <a:avLst/>
          </a:prstGeom>
          <a:solidFill>
            <a:srgbClr val="B45309"/>
          </a:solidFill>
          <a:ln w="19050">
            <a:solidFill>
              <a:srgbClr val="FFFFFF"/>
            </a:solidFill>
            <a:prstDash val="solid"/>
          </a:ln>
        </p:spPr>
      </p:sp>
      <p:sp>
        <p:nvSpPr>
          <p:cNvPr id="27" name="Text 24"/>
          <p:cNvSpPr txBox="1"/>
          <p:nvPr/>
        </p:nvSpPr>
        <p:spPr>
          <a:xfrm>
            <a:off x="5824728" y="520750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28" name="Text 25"/>
          <p:cNvSpPr txBox="1"/>
          <p:nvPr/>
        </p:nvSpPr>
        <p:spPr>
          <a:xfrm>
            <a:off x="6400800" y="4983480"/>
            <a:ext cx="5330952" cy="83210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マニュアル・エラーメッセージを読む練習と並行する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書籍ガイド</a:t>
            </a:r>
            <a:endParaRPr lang="ja-JP" sz="1400" dirty="0"/>
          </a:p>
        </p:txBody>
      </p:sp>
      <p:sp>
        <p:nvSpPr>
          <p:cNvPr id="3" name="Text 1"/>
          <p:cNvSpPr txBox="1"/>
          <p:nvPr/>
        </p:nvSpPr>
        <p:spPr>
          <a:xfrm>
            <a:off x="9011615" y="237744"/>
            <a:ext cx="2722880" cy="310896"/>
          </a:xfrm>
          <a:prstGeom prst="roundRect">
            <a:avLst>
              <a:gd name="adj" fmla="val 50000"/>
            </a:avLst>
          </a:prstGeom>
          <a:solidFill>
            <a:srgbClr val="FDEBD0"/>
          </a:solidFill>
          <a:ln w="9525">
            <a:solidFill>
              <a:srgbClr val="7C2D12"/>
            </a:solidFill>
          </a:ln>
        </p:spPr>
        <p:txBody>
          <a:bodyPr wrap="square" lIns="0" tIns="0" rIns="0" bIns="0" rtlCol="0" anchor="ctr"/>
          <a:lstStyle/>
          <a:p>
            <a:pPr algn="ctr" indent="0" marL="0">
              <a:buNone/>
            </a:pPr>
            <a:r>
              <a:rPr lang="ja-JP" altLang="en-US" sz="1400" b="1" dirty="0">
                <a:solidFill>
                  <a:srgbClr val="7C2D12"/>
                </a:solidFill>
                <a:latin typeface="Yu Gothic" pitchFamily="34" charset="0"/>
                <a:ea typeface="Yu Gothic" pitchFamily="34" charset="-122"/>
                <a:cs typeface="Yu Gothic" pitchFamily="34" charset="-120"/>
              </a:rPr>
              <a:t>書籍情報（検索結果で確認）</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6冊の比較：分野・規模・価格・形式</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本の規模と価格を並べると、どれを先に・どこまで読むかを決めやすくなります。版・価格は検索結果で確認した時点（2026年9月30日）のもので、変わる場合があります。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出典：[K01] [K02] [K03] [K04] [K05] [K06]</a:t>
            </a:r>
            <a:endParaRPr lang="ja-JP" sz="1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4754880"/>
                <a:gridCol w="2651760"/>
                <a:gridCol w="1645920"/>
                <a:gridCol w="222199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本</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分野</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ページ</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価格（税込）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548640">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① キタミ式 基本情報</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CS基礎</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888</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2,420円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② マスタリングTCP/IP</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9F2F1"/>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ネットワーク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約400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2,420円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48640">
                <a:tc>
                  <a:txBody>
                    <a:bodyPr/>
                    <a:lstStyle/>
                    <a:p>
                      <a:pPr algn="l"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③ スラスラわかる NW&amp;TCP/IP</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9F2F1"/>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ネットワーク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200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2,200円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④ Linux標準教科書</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85</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無料（PDF）</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548640">
                <a:tc>
                  <a:txBody>
                    <a:bodyPr/>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⑤ おうちで学べるDB</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1E4"/>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データベース</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416</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2,640円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⑥ 英会話ペラペラ100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英語</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256</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2,200円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9" name="Shape 5"/>
          <p:cNvSpPr/>
          <p:nvPr/>
        </p:nvSpPr>
        <p:spPr>
          <a:xfrm>
            <a:off x="457200" y="5760720"/>
            <a:ext cx="11274552" cy="548640"/>
          </a:xfrm>
          <a:prstGeom prst="roundRect">
            <a:avLst>
              <a:gd name="adj" fmla="val 20000"/>
            </a:avLst>
          </a:prstGeom>
          <a:solidFill>
            <a:srgbClr val="DDF1E4"/>
          </a:solidFill>
          <a:ln w="19050">
            <a:solidFill>
              <a:srgbClr val="237A48"/>
            </a:solidFill>
            <a:prstDash val="solid"/>
          </a:ln>
        </p:spPr>
      </p:sp>
      <p:sp>
        <p:nvSpPr>
          <p:cNvPr id="10" name="Shape 6"/>
          <p:cNvSpPr/>
          <p:nvPr/>
        </p:nvSpPr>
        <p:spPr>
          <a:xfrm>
            <a:off x="594360" y="5852160"/>
            <a:ext cx="365760" cy="365760"/>
          </a:xfrm>
          <a:prstGeom prst="ellipse">
            <a:avLst/>
          </a:prstGeom>
          <a:solidFill>
            <a:srgbClr val="237A48"/>
          </a:solidFill>
          <a:ln/>
        </p:spPr>
      </p:sp>
      <p:pic>
        <p:nvPicPr>
          <p:cNvPr id="11" name="Image 0" descr="preencoded.png">    </p:cNvPr>
          <p:cNvPicPr>
            <a:picLocks noChangeAspect="1"/>
          </p:cNvPicPr>
          <p:nvPr/>
        </p:nvPicPr>
        <p:blipFill>
          <a:blip r:embed="rId1"/>
          <a:stretch>
            <a:fillRect/>
          </a:stretch>
        </p:blipFill>
        <p:spPr>
          <a:xfrm>
            <a:off x="674827" y="5932627"/>
            <a:ext cx="204826" cy="204826"/>
          </a:xfrm>
          <a:prstGeom prst="rect">
            <a:avLst/>
          </a:prstGeom>
        </p:spPr>
      </p:pic>
      <p:sp>
        <p:nvSpPr>
          <p:cNvPr id="12" name="Text 7"/>
          <p:cNvSpPr txBox="1"/>
          <p:nvPr/>
        </p:nvSpPr>
        <p:spPr>
          <a:xfrm>
            <a:off x="1097280" y="5806440"/>
            <a:ext cx="10497312" cy="45720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④（85ページ・無料）と③（200ページ）は、最初の一歩として軽い</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書籍ガイド</a:t>
            </a:r>
            <a:endParaRPr lang="ja-JP" sz="1400" dirty="0"/>
          </a:p>
        </p:txBody>
      </p:sp>
      <p:sp>
        <p:nvSpPr>
          <p:cNvPr id="3" name="Text 1"/>
          <p:cNvSpPr txBox="1"/>
          <p:nvPr/>
        </p:nvSpPr>
        <p:spPr>
          <a:xfrm>
            <a:off x="9011615" y="237744"/>
            <a:ext cx="2722880" cy="310896"/>
          </a:xfrm>
          <a:prstGeom prst="roundRect">
            <a:avLst>
              <a:gd name="adj" fmla="val 50000"/>
            </a:avLst>
          </a:prstGeom>
          <a:solidFill>
            <a:srgbClr val="FDEBD0"/>
          </a:solidFill>
          <a:ln w="9525">
            <a:solidFill>
              <a:srgbClr val="7C2D12"/>
            </a:solidFill>
          </a:ln>
        </p:spPr>
        <p:txBody>
          <a:bodyPr wrap="square" lIns="0" tIns="0" rIns="0" bIns="0" rtlCol="0" anchor="ctr"/>
          <a:lstStyle/>
          <a:p>
            <a:pPr algn="ctr" indent="0" marL="0">
              <a:buNone/>
            </a:pPr>
            <a:r>
              <a:rPr lang="ja-JP" altLang="en-US" sz="1400" b="1" dirty="0">
                <a:solidFill>
                  <a:srgbClr val="7C2D12"/>
                </a:solidFill>
                <a:latin typeface="Yu Gothic" pitchFamily="34" charset="0"/>
                <a:ea typeface="Yu Gothic" pitchFamily="34" charset="-122"/>
                <a:cs typeface="Yu Gothic" pitchFamily="34" charset="-120"/>
              </a:rPr>
              <a:t>書籍情報（検索結果で確認）</a:t>
            </a:r>
            <a:endParaRPr lang="ja-JP" sz="1400" dirty="0"/>
          </a:p>
        </p:txBody>
      </p:sp>
      <p:sp>
        <p:nvSpPr>
          <p:cNvPr id="4" name="Text 2"/>
          <p:cNvSpPr txBox="1"/>
          <p:nvPr/>
        </p:nvSpPr>
        <p:spPr>
          <a:xfrm>
            <a:off x="7601407"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学ぶ項目ごとに、読む本と章を決める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ブログの学習ポイントごとに、どの本のどの章を読めばよいかを対応させました。全部を通読せず、必要な章だけを読む前提の提案です。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出典：[K01] [K02] [K03] [K04]</a:t>
            </a:r>
            <a:endParaRPr lang="ja-JP" sz="12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5029200"/>
                <a:gridCol w="624535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学ぶ項目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読む本と章（提案）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75488">
                <a:tc>
                  <a:txBody>
                    <a:bodyPr/>
                    <a:lstStyle/>
                    <a:p>
                      <a:pPr algn="l"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OSI・TCP/IPの全体像</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9F2F1"/>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③ 第1章　／　② 第1〜2章</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Ethernet・IP・TCP/UDPのヘッダー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9F2F1"/>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② 第3〜6章　／　③ 第3〜5章</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アプリ層・ポート番号</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9F2F1"/>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③ 第2〜3章　／　② 第8章</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Linuxのコマンド・viエディタ</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④ 第4〜7章</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705104">
                <a:tc>
                  <a:txBody>
                    <a:bodyPr/>
                    <a:lstStyle/>
                    <a:p>
                      <a:pPr algn="l"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ユーザー・権限・プロセス・ネットワーク設定</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1F7"/>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④ 第8〜11章</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RDBMS・SQLの基本</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1E4"/>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⑤ 第1〜2章・第5〜6章</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75488">
                <a:tc>
                  <a:txBody>
                    <a:bodyPr/>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トランザクション（ACID）・バックアップ</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1E4"/>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⑤ 第7章・第9章</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CS基礎（復習）</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① 必要な章だけ</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英語と結び</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8159699"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英語：外資系で使う力を、少しずつ育てる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ブログは「外資系企業らしく」英語の本を1冊だけ紹介しています。完璧な会話を目指すより、やさしい表現で止まらずに伝える力と、技術文書を読む力を並行して育てます。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 [K06]</a:t>
            </a:r>
            <a:endParaRPr lang="ja-JP" sz="1200" dirty="0"/>
          </a:p>
        </p:txBody>
      </p:sp>
      <p:sp>
        <p:nvSpPr>
          <p:cNvPr id="9" name="Shape 6"/>
          <p:cNvSpPr/>
          <p:nvPr/>
        </p:nvSpPr>
        <p:spPr>
          <a:xfrm>
            <a:off x="457200" y="1783080"/>
            <a:ext cx="5532120" cy="457200"/>
          </a:xfrm>
          <a:prstGeom prst="roundRect">
            <a:avLst>
              <a:gd name="adj" fmla="val 20000"/>
            </a:avLst>
          </a:prstGeom>
          <a:solidFill>
            <a:srgbClr val="237A48"/>
          </a:solidFill>
          <a:ln/>
        </p:spPr>
      </p:sp>
      <p:sp>
        <p:nvSpPr>
          <p:cNvPr id="10" name="Text 7"/>
          <p:cNvSpPr txBox="1"/>
          <p:nvPr/>
        </p:nvSpPr>
        <p:spPr>
          <a:xfrm>
            <a:off x="548640" y="1783080"/>
            <a:ext cx="5349240"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ブログの考え方</a:t>
            </a:r>
            <a:endParaRPr lang="en-US" sz="2000" dirty="0"/>
          </a:p>
        </p:txBody>
      </p:sp>
      <p:sp>
        <p:nvSpPr>
          <p:cNvPr id="11" name="Shape 8"/>
          <p:cNvSpPr/>
          <p:nvPr/>
        </p:nvSpPr>
        <p:spPr>
          <a:xfrm>
            <a:off x="457200" y="2377440"/>
            <a:ext cx="5532120" cy="1051560"/>
          </a:xfrm>
          <a:prstGeom prst="roundRect">
            <a:avLst>
              <a:gd name="adj" fmla="val 10435"/>
            </a:avLst>
          </a:prstGeom>
          <a:solidFill>
            <a:srgbClr val="DDF1E4"/>
          </a:solidFill>
          <a:ln w="25400">
            <a:solidFill>
              <a:srgbClr val="237A48"/>
            </a:solidFill>
            <a:prstDash val="solid"/>
          </a:ln>
        </p:spPr>
      </p:sp>
      <p:sp>
        <p:nvSpPr>
          <p:cNvPr id="12" name="Text 9"/>
          <p:cNvSpPr txBox="1"/>
          <p:nvPr/>
        </p:nvSpPr>
        <p:spPr>
          <a:xfrm>
            <a:off x="548640" y="2377440"/>
            <a:ext cx="5349240" cy="10515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外資系らしく、英語の本も1冊</a:t>
            </a:r>
            <a:endParaRPr lang="en-US" sz="2000" dirty="0"/>
          </a:p>
        </p:txBody>
      </p:sp>
      <p:sp>
        <p:nvSpPr>
          <p:cNvPr id="13" name="Shape 10"/>
          <p:cNvSpPr/>
          <p:nvPr/>
        </p:nvSpPr>
        <p:spPr>
          <a:xfrm>
            <a:off x="457200" y="3566160"/>
            <a:ext cx="5532120" cy="1051560"/>
          </a:xfrm>
          <a:prstGeom prst="roundRect">
            <a:avLst>
              <a:gd name="adj" fmla="val 10435"/>
            </a:avLst>
          </a:prstGeom>
          <a:solidFill>
            <a:srgbClr val="DDF1E4"/>
          </a:solidFill>
          <a:ln w="25400">
            <a:solidFill>
              <a:srgbClr val="237A48"/>
            </a:solidFill>
            <a:prstDash val="solid"/>
          </a:ln>
        </p:spPr>
      </p:sp>
      <p:sp>
        <p:nvSpPr>
          <p:cNvPr id="14" name="Text 11"/>
          <p:cNvSpPr txBox="1"/>
          <p:nvPr/>
        </p:nvSpPr>
        <p:spPr>
          <a:xfrm>
            <a:off x="548640" y="3566160"/>
            <a:ext cx="5349240" cy="10515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やさしい単語で、止まらず話す</a:t>
            </a:r>
            <a:endParaRPr lang="en-US" sz="2000" dirty="0"/>
          </a:p>
        </p:txBody>
      </p:sp>
      <p:sp>
        <p:nvSpPr>
          <p:cNvPr id="15" name="Shape 12"/>
          <p:cNvSpPr/>
          <p:nvPr/>
        </p:nvSpPr>
        <p:spPr>
          <a:xfrm>
            <a:off x="457200" y="4754880"/>
            <a:ext cx="5532120" cy="1051560"/>
          </a:xfrm>
          <a:prstGeom prst="roundRect">
            <a:avLst>
              <a:gd name="adj" fmla="val 10435"/>
            </a:avLst>
          </a:prstGeom>
          <a:solidFill>
            <a:srgbClr val="DDF1E4"/>
          </a:solidFill>
          <a:ln w="25400">
            <a:solidFill>
              <a:srgbClr val="237A48"/>
            </a:solidFill>
            <a:prstDash val="solid"/>
          </a:ln>
        </p:spPr>
      </p:sp>
      <p:sp>
        <p:nvSpPr>
          <p:cNvPr id="16" name="Text 13"/>
          <p:cNvSpPr txBox="1"/>
          <p:nvPr/>
        </p:nvSpPr>
        <p:spPr>
          <a:xfrm>
            <a:off x="548640" y="4754880"/>
            <a:ext cx="5349240" cy="10515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失礼のない、通じる英語</a:t>
            </a:r>
            <a:endParaRPr lang="en-US" sz="2000" dirty="0"/>
          </a:p>
        </p:txBody>
      </p:sp>
      <p:sp>
        <p:nvSpPr>
          <p:cNvPr id="17" name="Shape 14"/>
          <p:cNvSpPr/>
          <p:nvPr/>
        </p:nvSpPr>
        <p:spPr>
          <a:xfrm>
            <a:off x="6199632" y="1783080"/>
            <a:ext cx="5532120" cy="457200"/>
          </a:xfrm>
          <a:prstGeom prst="roundRect">
            <a:avLst>
              <a:gd name="adj" fmla="val 20000"/>
            </a:avLst>
          </a:prstGeom>
          <a:solidFill>
            <a:srgbClr val="B45309"/>
          </a:solidFill>
          <a:ln/>
        </p:spPr>
      </p:sp>
      <p:sp>
        <p:nvSpPr>
          <p:cNvPr id="18" name="Text 15"/>
          <p:cNvSpPr txBox="1"/>
          <p:nvPr/>
        </p:nvSpPr>
        <p:spPr>
          <a:xfrm>
            <a:off x="6291072" y="1783080"/>
            <a:ext cx="5349240"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技術職としての提案</a:t>
            </a:r>
            <a:endParaRPr lang="en-US" sz="2000" dirty="0"/>
          </a:p>
        </p:txBody>
      </p:sp>
      <p:sp>
        <p:nvSpPr>
          <p:cNvPr id="19" name="Shape 16"/>
          <p:cNvSpPr/>
          <p:nvPr/>
        </p:nvSpPr>
        <p:spPr>
          <a:xfrm>
            <a:off x="6199632" y="2377440"/>
            <a:ext cx="5532120" cy="1051560"/>
          </a:xfrm>
          <a:prstGeom prst="roundRect">
            <a:avLst>
              <a:gd name="adj" fmla="val 10435"/>
            </a:avLst>
          </a:prstGeom>
          <a:solidFill>
            <a:srgbClr val="FDEBD0"/>
          </a:solidFill>
          <a:ln w="25400">
            <a:solidFill>
              <a:srgbClr val="B45309"/>
            </a:solidFill>
            <a:prstDash val="solid"/>
          </a:ln>
        </p:spPr>
      </p:sp>
      <p:sp>
        <p:nvSpPr>
          <p:cNvPr id="20" name="Text 17"/>
          <p:cNvSpPr txBox="1"/>
          <p:nvPr/>
        </p:nvSpPr>
        <p:spPr>
          <a:xfrm>
            <a:off x="6291072" y="2377440"/>
            <a:ext cx="5349240" cy="10515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マニュアル・エラーを読む</a:t>
            </a:r>
            <a:endParaRPr lang="en-US" sz="2000" dirty="0"/>
          </a:p>
        </p:txBody>
      </p:sp>
      <p:sp>
        <p:nvSpPr>
          <p:cNvPr id="21" name="Shape 18"/>
          <p:cNvSpPr/>
          <p:nvPr/>
        </p:nvSpPr>
        <p:spPr>
          <a:xfrm>
            <a:off x="6199632" y="3566160"/>
            <a:ext cx="5532120" cy="1051560"/>
          </a:xfrm>
          <a:prstGeom prst="roundRect">
            <a:avLst>
              <a:gd name="adj" fmla="val 10435"/>
            </a:avLst>
          </a:prstGeom>
          <a:solidFill>
            <a:srgbClr val="FDEBD0"/>
          </a:solidFill>
          <a:ln w="25400">
            <a:solidFill>
              <a:srgbClr val="B45309"/>
            </a:solidFill>
            <a:prstDash val="solid"/>
          </a:ln>
        </p:spPr>
      </p:sp>
      <p:sp>
        <p:nvSpPr>
          <p:cNvPr id="22" name="Text 19"/>
          <p:cNvSpPr txBox="1"/>
          <p:nvPr/>
        </p:nvSpPr>
        <p:spPr>
          <a:xfrm>
            <a:off x="6291072" y="3566160"/>
            <a:ext cx="5349240" cy="10515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事実・時刻・再現条件を書く</a:t>
            </a:r>
            <a:endParaRPr lang="en-US" sz="2000" dirty="0"/>
          </a:p>
        </p:txBody>
      </p:sp>
      <p:sp>
        <p:nvSpPr>
          <p:cNvPr id="23" name="Shape 20"/>
          <p:cNvSpPr/>
          <p:nvPr/>
        </p:nvSpPr>
        <p:spPr>
          <a:xfrm>
            <a:off x="6199632" y="4754880"/>
            <a:ext cx="5532120" cy="1051560"/>
          </a:xfrm>
          <a:prstGeom prst="roundRect">
            <a:avLst>
              <a:gd name="adj" fmla="val 10435"/>
            </a:avLst>
          </a:prstGeom>
          <a:solidFill>
            <a:srgbClr val="FDEBD0"/>
          </a:solidFill>
          <a:ln w="25400">
            <a:solidFill>
              <a:srgbClr val="B45309"/>
            </a:solidFill>
            <a:prstDash val="solid"/>
          </a:ln>
        </p:spPr>
      </p:sp>
      <p:sp>
        <p:nvSpPr>
          <p:cNvPr id="24" name="Text 21"/>
          <p:cNvSpPr txBox="1"/>
          <p:nvPr/>
        </p:nvSpPr>
        <p:spPr>
          <a:xfrm>
            <a:off x="6291072" y="4754880"/>
            <a:ext cx="5349240" cy="105156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短い報告を英語で書く練習</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英語と結び</a:t>
            </a:r>
            <a:endParaRPr lang="ja-JP" sz="1400" dirty="0"/>
          </a:p>
        </p:txBody>
      </p:sp>
      <p:sp>
        <p:nvSpPr>
          <p:cNvPr id="3" name="Text 1"/>
          <p:cNvSpPr txBox="1"/>
          <p:nvPr/>
        </p:nvSpPr>
        <p:spPr>
          <a:xfrm>
            <a:off x="9569907"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結び：研修はスタート。本番は配属後のキャリア</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ブログの結びは「新入社員研修はスタートに過ぎない」です。予習はつまずかないための準備で、大切なのは配属後の経験と、キャリアを自分で考えることだと述べています。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a:t>
            </a:r>
            <a:endParaRPr lang="ja-JP" sz="1200" dirty="0"/>
          </a:p>
        </p:txBody>
      </p:sp>
      <p:sp>
        <p:nvSpPr>
          <p:cNvPr id="8" name="Shape 5"/>
          <p:cNvSpPr/>
          <p:nvPr/>
        </p:nvSpPr>
        <p:spPr>
          <a:xfrm>
            <a:off x="457200" y="1783080"/>
            <a:ext cx="5760720" cy="1280160"/>
          </a:xfrm>
          <a:prstGeom prst="roundRect">
            <a:avLst>
              <a:gd name="adj" fmla="val 8571"/>
            </a:avLst>
          </a:prstGeom>
          <a:solidFill>
            <a:srgbClr val="237A48"/>
          </a:solidFill>
          <a:ln/>
        </p:spPr>
      </p:sp>
      <p:sp>
        <p:nvSpPr>
          <p:cNvPr id="9" name="Text 6"/>
          <p:cNvSpPr txBox="1"/>
          <p:nvPr/>
        </p:nvSpPr>
        <p:spPr>
          <a:xfrm>
            <a:off x="548640" y="1783080"/>
            <a:ext cx="5577840" cy="1280160"/>
          </a:xfrm>
          <a:prstGeom prst="rect">
            <a:avLst/>
          </a:prstGeom>
          <a:noFill/>
          <a:ln/>
        </p:spPr>
        <p:txBody>
          <a:bodyPr wrap="square" lIns="0" tIns="0" rIns="0" bIns="0" rtlCol="0" anchor="ctr"/>
          <a:lstStyle/>
          <a:p>
            <a:pPr algn="ctr" indent="0" marL="0">
              <a:lnSpc>
                <a:spcPts val="2900"/>
              </a:lnSpc>
              <a:buNone/>
            </a:pPr>
            <a:r>
              <a:rPr lang="ja-JP" altLang="en-US" sz="2200" b="1" dirty="0">
                <a:solidFill>
                  <a:srgbClr val="FFFFFF"/>
                </a:solidFill>
                <a:latin typeface="Yu Gothic" pitchFamily="34" charset="0"/>
                <a:ea typeface="Yu Gothic" pitchFamily="34" charset="-122"/>
                <a:cs typeface="Yu Gothic" pitchFamily="34" charset="-120"/>
              </a:rPr>
              <a:t>研修はスタートに過ぎない</a:t>
            </a:r>
            <a:endParaRPr lang="en-US" sz="2200" dirty="0"/>
          </a:p>
        </p:txBody>
      </p:sp>
      <p:sp>
        <p:nvSpPr>
          <p:cNvPr id="10" name="Shape 7"/>
          <p:cNvSpPr/>
          <p:nvPr/>
        </p:nvSpPr>
        <p:spPr>
          <a:xfrm>
            <a:off x="457200" y="3246120"/>
            <a:ext cx="5760720" cy="1280160"/>
          </a:xfrm>
          <a:prstGeom prst="roundRect">
            <a:avLst>
              <a:gd name="adj" fmla="val 8571"/>
            </a:avLst>
          </a:prstGeom>
          <a:solidFill>
            <a:srgbClr val="2F6BC2"/>
          </a:solidFill>
          <a:ln/>
        </p:spPr>
      </p:sp>
      <p:sp>
        <p:nvSpPr>
          <p:cNvPr id="11" name="Text 8"/>
          <p:cNvSpPr txBox="1"/>
          <p:nvPr/>
        </p:nvSpPr>
        <p:spPr>
          <a:xfrm>
            <a:off x="548640" y="3246120"/>
            <a:ext cx="5577840" cy="1280160"/>
          </a:xfrm>
          <a:prstGeom prst="rect">
            <a:avLst/>
          </a:prstGeom>
          <a:noFill/>
          <a:ln/>
        </p:spPr>
        <p:txBody>
          <a:bodyPr wrap="square" lIns="0" tIns="0" rIns="0" bIns="0" rtlCol="0" anchor="ctr"/>
          <a:lstStyle/>
          <a:p>
            <a:pPr algn="ctr" indent="0" marL="0">
              <a:lnSpc>
                <a:spcPts val="2900"/>
              </a:lnSpc>
              <a:buNone/>
            </a:pPr>
            <a:r>
              <a:rPr lang="ja-JP" altLang="en-US" sz="2200" b="1" dirty="0">
                <a:solidFill>
                  <a:srgbClr val="FFFFFF"/>
                </a:solidFill>
                <a:latin typeface="Yu Gothic" pitchFamily="34" charset="0"/>
                <a:ea typeface="Yu Gothic" pitchFamily="34" charset="-122"/>
                <a:cs typeface="Yu Gothic" pitchFamily="34" charset="-120"/>
              </a:rPr>
              <a:t>本番は、仕事にアサインされてから</a:t>
            </a:r>
            <a:endParaRPr lang="en-US" sz="2200" dirty="0"/>
          </a:p>
        </p:txBody>
      </p:sp>
      <p:sp>
        <p:nvSpPr>
          <p:cNvPr id="12" name="Shape 9"/>
          <p:cNvSpPr/>
          <p:nvPr/>
        </p:nvSpPr>
        <p:spPr>
          <a:xfrm>
            <a:off x="457200" y="4709160"/>
            <a:ext cx="5760720" cy="1280160"/>
          </a:xfrm>
          <a:prstGeom prst="roundRect">
            <a:avLst>
              <a:gd name="adj" fmla="val 8571"/>
            </a:avLst>
          </a:prstGeom>
          <a:solidFill>
            <a:srgbClr val="B45309"/>
          </a:solidFill>
          <a:ln/>
        </p:spPr>
      </p:sp>
      <p:sp>
        <p:nvSpPr>
          <p:cNvPr id="13" name="Text 10"/>
          <p:cNvSpPr txBox="1"/>
          <p:nvPr/>
        </p:nvSpPr>
        <p:spPr>
          <a:xfrm>
            <a:off x="548640" y="4709160"/>
            <a:ext cx="5577840" cy="1280160"/>
          </a:xfrm>
          <a:prstGeom prst="rect">
            <a:avLst/>
          </a:prstGeom>
          <a:noFill/>
          <a:ln/>
        </p:spPr>
        <p:txBody>
          <a:bodyPr wrap="square" lIns="0" tIns="0" rIns="0" bIns="0" rtlCol="0" anchor="ctr"/>
          <a:lstStyle/>
          <a:p>
            <a:pPr algn="ctr" indent="0" marL="0">
              <a:lnSpc>
                <a:spcPts val="2900"/>
              </a:lnSpc>
              <a:buNone/>
            </a:pPr>
            <a:r>
              <a:rPr lang="ja-JP" altLang="en-US" sz="2200" b="1" dirty="0">
                <a:solidFill>
                  <a:srgbClr val="FFFFFF"/>
                </a:solidFill>
                <a:latin typeface="Yu Gothic" pitchFamily="34" charset="0"/>
                <a:ea typeface="Yu Gothic" pitchFamily="34" charset="-122"/>
                <a:cs typeface="Yu Gothic" pitchFamily="34" charset="-120"/>
              </a:rPr>
              <a:t>社員の話を聞く機会は豊富。活かす</a:t>
            </a:r>
            <a:endParaRPr lang="en-US" sz="2200" dirty="0"/>
          </a:p>
        </p:txBody>
      </p:sp>
      <p:sp>
        <p:nvSpPr>
          <p:cNvPr id="14" name="Shape 11"/>
          <p:cNvSpPr/>
          <p:nvPr/>
        </p:nvSpPr>
        <p:spPr>
          <a:xfrm>
            <a:off x="6675120" y="1783080"/>
            <a:ext cx="5056632" cy="868680"/>
          </a:xfrm>
          <a:prstGeom prst="roundRect">
            <a:avLst>
              <a:gd name="adj" fmla="val 12632"/>
            </a:avLst>
          </a:prstGeom>
          <a:solidFill>
            <a:srgbClr val="DCE8F8"/>
          </a:solidFill>
          <a:ln w="25400">
            <a:solidFill>
              <a:srgbClr val="2F6BC2"/>
            </a:solidFill>
            <a:prstDash val="solid"/>
          </a:ln>
        </p:spPr>
      </p:sp>
      <p:sp>
        <p:nvSpPr>
          <p:cNvPr id="15" name="Text 12"/>
          <p:cNvSpPr txBox="1"/>
          <p:nvPr/>
        </p:nvSpPr>
        <p:spPr>
          <a:xfrm>
            <a:off x="6766560" y="1783080"/>
            <a:ext cx="4873752" cy="8686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予習</a:t>
            </a:r>
            <a:endParaRPr lang="en-US" sz="2000" dirty="0"/>
          </a:p>
        </p:txBody>
      </p:sp>
      <p:sp>
        <p:nvSpPr>
          <p:cNvPr id="16" name="Shape 13"/>
          <p:cNvSpPr/>
          <p:nvPr/>
        </p:nvSpPr>
        <p:spPr>
          <a:xfrm>
            <a:off x="9203436" y="2651760"/>
            <a:ext cx="0" cy="228600"/>
          </a:xfrm>
          <a:prstGeom prst="line">
            <a:avLst/>
          </a:prstGeom>
          <a:noFill/>
          <a:ln w="31750">
            <a:solidFill>
              <a:srgbClr val="1B2A3A"/>
            </a:solidFill>
            <a:prstDash val="solid"/>
            <a:tailEnd type="triangle"/>
          </a:ln>
        </p:spPr>
      </p:sp>
      <p:sp>
        <p:nvSpPr>
          <p:cNvPr id="17" name="Shape 14"/>
          <p:cNvSpPr/>
          <p:nvPr/>
        </p:nvSpPr>
        <p:spPr>
          <a:xfrm>
            <a:off x="6675120" y="2880360"/>
            <a:ext cx="5056632" cy="868680"/>
          </a:xfrm>
          <a:prstGeom prst="roundRect">
            <a:avLst>
              <a:gd name="adj" fmla="val 12632"/>
            </a:avLst>
          </a:prstGeom>
          <a:solidFill>
            <a:srgbClr val="D9F2F1"/>
          </a:solidFill>
          <a:ln w="25400">
            <a:solidFill>
              <a:srgbClr val="0B7A7A"/>
            </a:solidFill>
            <a:prstDash val="solid"/>
          </a:ln>
        </p:spPr>
      </p:sp>
      <p:sp>
        <p:nvSpPr>
          <p:cNvPr id="18" name="Text 15"/>
          <p:cNvSpPr txBox="1"/>
          <p:nvPr/>
        </p:nvSpPr>
        <p:spPr>
          <a:xfrm>
            <a:off x="6766560" y="2880360"/>
            <a:ext cx="4873752" cy="8686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研修</a:t>
            </a:r>
            <a:endParaRPr lang="en-US" sz="2000" dirty="0"/>
          </a:p>
        </p:txBody>
      </p:sp>
      <p:sp>
        <p:nvSpPr>
          <p:cNvPr id="19" name="Shape 16"/>
          <p:cNvSpPr/>
          <p:nvPr/>
        </p:nvSpPr>
        <p:spPr>
          <a:xfrm>
            <a:off x="9203436" y="3749040"/>
            <a:ext cx="0" cy="228600"/>
          </a:xfrm>
          <a:prstGeom prst="line">
            <a:avLst/>
          </a:prstGeom>
          <a:noFill/>
          <a:ln w="31750">
            <a:solidFill>
              <a:srgbClr val="1B2A3A"/>
            </a:solidFill>
            <a:prstDash val="solid"/>
            <a:tailEnd type="triangle"/>
          </a:ln>
        </p:spPr>
      </p:sp>
      <p:sp>
        <p:nvSpPr>
          <p:cNvPr id="20" name="Shape 17"/>
          <p:cNvSpPr/>
          <p:nvPr/>
        </p:nvSpPr>
        <p:spPr>
          <a:xfrm>
            <a:off x="6675120" y="3977640"/>
            <a:ext cx="5056632" cy="868680"/>
          </a:xfrm>
          <a:prstGeom prst="roundRect">
            <a:avLst>
              <a:gd name="adj" fmla="val 12632"/>
            </a:avLst>
          </a:prstGeom>
          <a:solidFill>
            <a:srgbClr val="E6E1F7"/>
          </a:solidFill>
          <a:ln w="25400">
            <a:solidFill>
              <a:srgbClr val="5B46B8"/>
            </a:solidFill>
            <a:prstDash val="solid"/>
          </a:ln>
        </p:spPr>
      </p:sp>
      <p:sp>
        <p:nvSpPr>
          <p:cNvPr id="21" name="Text 18"/>
          <p:cNvSpPr txBox="1"/>
          <p:nvPr/>
        </p:nvSpPr>
        <p:spPr>
          <a:xfrm>
            <a:off x="6766560" y="3977640"/>
            <a:ext cx="4873752" cy="8686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配属・実務</a:t>
            </a:r>
            <a:endParaRPr lang="en-US" sz="2000" dirty="0"/>
          </a:p>
        </p:txBody>
      </p:sp>
      <p:sp>
        <p:nvSpPr>
          <p:cNvPr id="22" name="Shape 19"/>
          <p:cNvSpPr/>
          <p:nvPr/>
        </p:nvSpPr>
        <p:spPr>
          <a:xfrm>
            <a:off x="9203436" y="4846320"/>
            <a:ext cx="0" cy="228600"/>
          </a:xfrm>
          <a:prstGeom prst="line">
            <a:avLst/>
          </a:prstGeom>
          <a:noFill/>
          <a:ln w="31750">
            <a:solidFill>
              <a:srgbClr val="1B2A3A"/>
            </a:solidFill>
            <a:prstDash val="solid"/>
            <a:tailEnd type="triangle"/>
          </a:ln>
        </p:spPr>
      </p:sp>
      <p:sp>
        <p:nvSpPr>
          <p:cNvPr id="23" name="Shape 20"/>
          <p:cNvSpPr/>
          <p:nvPr/>
        </p:nvSpPr>
        <p:spPr>
          <a:xfrm>
            <a:off x="6675120" y="5074920"/>
            <a:ext cx="5056632" cy="868680"/>
          </a:xfrm>
          <a:prstGeom prst="roundRect">
            <a:avLst>
              <a:gd name="adj" fmla="val 12632"/>
            </a:avLst>
          </a:prstGeom>
          <a:solidFill>
            <a:srgbClr val="DDF1E4"/>
          </a:solidFill>
          <a:ln w="25400">
            <a:solidFill>
              <a:srgbClr val="237A48"/>
            </a:solidFill>
            <a:prstDash val="solid"/>
          </a:ln>
        </p:spPr>
      </p:sp>
      <p:sp>
        <p:nvSpPr>
          <p:cNvPr id="24" name="Text 21"/>
          <p:cNvSpPr txBox="1"/>
          <p:nvPr/>
        </p:nvSpPr>
        <p:spPr>
          <a:xfrm>
            <a:off x="6766560" y="5074920"/>
            <a:ext cx="4873752" cy="86868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1B2A3A"/>
                </a:solidFill>
                <a:latin typeface="Yu Gothic" pitchFamily="34" charset="0"/>
                <a:ea typeface="Yu Gothic" pitchFamily="34" charset="-122"/>
                <a:cs typeface="Yu Gothic" pitchFamily="34" charset="-120"/>
              </a:rPr>
              <a:t>キャリア</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計画・確認</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12週間の学習計画例：段階を重ねて進める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ブログの順序に沿い、重なりを持たせて12週間で進める計画例です。時間が足りなければ、ネットワークとOSを優先します。週5〜8時間を目安にした提案です。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a:t>
            </a:r>
            <a:endParaRPr lang="ja-JP" sz="1200" dirty="0"/>
          </a:p>
        </p:txBody>
      </p:sp>
      <p:sp>
        <p:nvSpPr>
          <p:cNvPr id="8" name="Text 5"/>
          <p:cNvSpPr txBox="1"/>
          <p:nvPr/>
        </p:nvSpPr>
        <p:spPr>
          <a:xfrm>
            <a:off x="3017520" y="1783080"/>
            <a:ext cx="722376"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1</a:t>
            </a:r>
            <a:endParaRPr lang="en-US" sz="1800" dirty="0"/>
          </a:p>
        </p:txBody>
      </p:sp>
      <p:sp>
        <p:nvSpPr>
          <p:cNvPr id="9" name="Text 6"/>
          <p:cNvSpPr txBox="1"/>
          <p:nvPr/>
        </p:nvSpPr>
        <p:spPr>
          <a:xfrm>
            <a:off x="3739896" y="1783080"/>
            <a:ext cx="722376"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2</a:t>
            </a:r>
            <a:endParaRPr lang="en-US" sz="1800" dirty="0"/>
          </a:p>
        </p:txBody>
      </p:sp>
      <p:sp>
        <p:nvSpPr>
          <p:cNvPr id="10" name="Text 7"/>
          <p:cNvSpPr txBox="1"/>
          <p:nvPr/>
        </p:nvSpPr>
        <p:spPr>
          <a:xfrm>
            <a:off x="4462272" y="1783080"/>
            <a:ext cx="722376"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3</a:t>
            </a:r>
            <a:endParaRPr lang="en-US" sz="1800" dirty="0"/>
          </a:p>
        </p:txBody>
      </p:sp>
      <p:sp>
        <p:nvSpPr>
          <p:cNvPr id="11" name="Text 8"/>
          <p:cNvSpPr txBox="1"/>
          <p:nvPr/>
        </p:nvSpPr>
        <p:spPr>
          <a:xfrm>
            <a:off x="5184648" y="1783080"/>
            <a:ext cx="722376"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4</a:t>
            </a:r>
            <a:endParaRPr lang="en-US" sz="1800" dirty="0"/>
          </a:p>
        </p:txBody>
      </p:sp>
      <p:sp>
        <p:nvSpPr>
          <p:cNvPr id="12" name="Text 9"/>
          <p:cNvSpPr txBox="1"/>
          <p:nvPr/>
        </p:nvSpPr>
        <p:spPr>
          <a:xfrm>
            <a:off x="5907024" y="1783080"/>
            <a:ext cx="722376"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5</a:t>
            </a:r>
            <a:endParaRPr lang="en-US" sz="1800" dirty="0"/>
          </a:p>
        </p:txBody>
      </p:sp>
      <p:sp>
        <p:nvSpPr>
          <p:cNvPr id="13" name="Text 10"/>
          <p:cNvSpPr txBox="1"/>
          <p:nvPr/>
        </p:nvSpPr>
        <p:spPr>
          <a:xfrm>
            <a:off x="6629400" y="1783080"/>
            <a:ext cx="722376"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6</a:t>
            </a:r>
            <a:endParaRPr lang="en-US" sz="1800" dirty="0"/>
          </a:p>
        </p:txBody>
      </p:sp>
      <p:sp>
        <p:nvSpPr>
          <p:cNvPr id="14" name="Text 11"/>
          <p:cNvSpPr txBox="1"/>
          <p:nvPr/>
        </p:nvSpPr>
        <p:spPr>
          <a:xfrm>
            <a:off x="7351776" y="1783080"/>
            <a:ext cx="722376"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7</a:t>
            </a:r>
            <a:endParaRPr lang="en-US" sz="1800" dirty="0"/>
          </a:p>
        </p:txBody>
      </p:sp>
      <p:sp>
        <p:nvSpPr>
          <p:cNvPr id="15" name="Text 12"/>
          <p:cNvSpPr txBox="1"/>
          <p:nvPr/>
        </p:nvSpPr>
        <p:spPr>
          <a:xfrm>
            <a:off x="8074152" y="1783080"/>
            <a:ext cx="722376"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8</a:t>
            </a:r>
            <a:endParaRPr lang="en-US" sz="1800" dirty="0"/>
          </a:p>
        </p:txBody>
      </p:sp>
      <p:sp>
        <p:nvSpPr>
          <p:cNvPr id="16" name="Text 13"/>
          <p:cNvSpPr txBox="1"/>
          <p:nvPr/>
        </p:nvSpPr>
        <p:spPr>
          <a:xfrm>
            <a:off x="8796528" y="1783080"/>
            <a:ext cx="722376"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9</a:t>
            </a:r>
            <a:endParaRPr lang="en-US" sz="1800" dirty="0"/>
          </a:p>
        </p:txBody>
      </p:sp>
      <p:sp>
        <p:nvSpPr>
          <p:cNvPr id="17" name="Text 14"/>
          <p:cNvSpPr txBox="1"/>
          <p:nvPr/>
        </p:nvSpPr>
        <p:spPr>
          <a:xfrm>
            <a:off x="9518904" y="1783080"/>
            <a:ext cx="722376"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10</a:t>
            </a:r>
            <a:endParaRPr lang="en-US" sz="1800" dirty="0"/>
          </a:p>
        </p:txBody>
      </p:sp>
      <p:sp>
        <p:nvSpPr>
          <p:cNvPr id="18" name="Text 15"/>
          <p:cNvSpPr txBox="1"/>
          <p:nvPr/>
        </p:nvSpPr>
        <p:spPr>
          <a:xfrm>
            <a:off x="10241280" y="1783080"/>
            <a:ext cx="722376"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11</a:t>
            </a:r>
            <a:endParaRPr lang="en-US" sz="1800" dirty="0"/>
          </a:p>
        </p:txBody>
      </p:sp>
      <p:sp>
        <p:nvSpPr>
          <p:cNvPr id="19" name="Text 16"/>
          <p:cNvSpPr txBox="1"/>
          <p:nvPr/>
        </p:nvSpPr>
        <p:spPr>
          <a:xfrm>
            <a:off x="10963656" y="1783080"/>
            <a:ext cx="722376" cy="365760"/>
          </a:xfrm>
          <a:prstGeom prst="rect">
            <a:avLst/>
          </a:prstGeom>
          <a:noFill/>
          <a:ln/>
        </p:spPr>
        <p:txBody>
          <a:bodyPr wrap="square" lIns="0" tIns="0" rIns="0" bIns="0" rtlCol="0" anchor="t"/>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12</a:t>
            </a:r>
            <a:endParaRPr lang="en-US" sz="1800" dirty="0"/>
          </a:p>
        </p:txBody>
      </p:sp>
      <p:sp>
        <p:nvSpPr>
          <p:cNvPr id="20" name="Text 17"/>
          <p:cNvSpPr txBox="1"/>
          <p:nvPr/>
        </p:nvSpPr>
        <p:spPr>
          <a:xfrm>
            <a:off x="457200" y="2240280"/>
            <a:ext cx="2514600" cy="51206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CS基礎（軽く）</a:t>
            </a:r>
            <a:endParaRPr lang="en-US" sz="1800" dirty="0"/>
          </a:p>
        </p:txBody>
      </p:sp>
      <p:sp>
        <p:nvSpPr>
          <p:cNvPr id="21" name="Shape 18"/>
          <p:cNvSpPr/>
          <p:nvPr/>
        </p:nvSpPr>
        <p:spPr>
          <a:xfrm>
            <a:off x="3017520" y="2240280"/>
            <a:ext cx="8668512" cy="512064"/>
          </a:xfrm>
          <a:prstGeom prst="roundRect">
            <a:avLst>
              <a:gd name="adj" fmla="val 14286"/>
            </a:avLst>
          </a:prstGeom>
          <a:solidFill>
            <a:srgbClr val="F1F5F9"/>
          </a:solidFill>
          <a:ln/>
        </p:spPr>
      </p:sp>
      <p:sp>
        <p:nvSpPr>
          <p:cNvPr id="22" name="Shape 19"/>
          <p:cNvSpPr/>
          <p:nvPr/>
        </p:nvSpPr>
        <p:spPr>
          <a:xfrm>
            <a:off x="3017520" y="2240280"/>
            <a:ext cx="1444752" cy="512064"/>
          </a:xfrm>
          <a:prstGeom prst="roundRect">
            <a:avLst>
              <a:gd name="adj" fmla="val 14286"/>
            </a:avLst>
          </a:prstGeom>
          <a:solidFill>
            <a:srgbClr val="2F6BC2"/>
          </a:solidFill>
          <a:ln/>
        </p:spPr>
      </p:sp>
      <p:sp>
        <p:nvSpPr>
          <p:cNvPr id="23" name="Text 20"/>
          <p:cNvSpPr txBox="1"/>
          <p:nvPr/>
        </p:nvSpPr>
        <p:spPr>
          <a:xfrm>
            <a:off x="457200" y="2843784"/>
            <a:ext cx="2514600" cy="51206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ネットワーク</a:t>
            </a:r>
            <a:endParaRPr lang="en-US" sz="1800" dirty="0"/>
          </a:p>
        </p:txBody>
      </p:sp>
      <p:sp>
        <p:nvSpPr>
          <p:cNvPr id="24" name="Shape 21"/>
          <p:cNvSpPr/>
          <p:nvPr/>
        </p:nvSpPr>
        <p:spPr>
          <a:xfrm>
            <a:off x="3017520" y="2843784"/>
            <a:ext cx="8668512" cy="512064"/>
          </a:xfrm>
          <a:prstGeom prst="roundRect">
            <a:avLst>
              <a:gd name="adj" fmla="val 14286"/>
            </a:avLst>
          </a:prstGeom>
          <a:solidFill>
            <a:srgbClr val="F1F5F9"/>
          </a:solidFill>
          <a:ln/>
        </p:spPr>
      </p:sp>
      <p:sp>
        <p:nvSpPr>
          <p:cNvPr id="25" name="Shape 22"/>
          <p:cNvSpPr/>
          <p:nvPr/>
        </p:nvSpPr>
        <p:spPr>
          <a:xfrm>
            <a:off x="3739896" y="2843784"/>
            <a:ext cx="3611880" cy="512064"/>
          </a:xfrm>
          <a:prstGeom prst="roundRect">
            <a:avLst>
              <a:gd name="adj" fmla="val 14286"/>
            </a:avLst>
          </a:prstGeom>
          <a:solidFill>
            <a:srgbClr val="0B7A7A"/>
          </a:solidFill>
          <a:ln/>
        </p:spPr>
      </p:sp>
      <p:sp>
        <p:nvSpPr>
          <p:cNvPr id="26" name="Text 23"/>
          <p:cNvSpPr txBox="1"/>
          <p:nvPr/>
        </p:nvSpPr>
        <p:spPr>
          <a:xfrm>
            <a:off x="457200" y="3447288"/>
            <a:ext cx="2514600" cy="51206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OS（Linux）</a:t>
            </a:r>
            <a:endParaRPr lang="en-US" sz="1800" dirty="0"/>
          </a:p>
        </p:txBody>
      </p:sp>
      <p:sp>
        <p:nvSpPr>
          <p:cNvPr id="27" name="Shape 24"/>
          <p:cNvSpPr/>
          <p:nvPr/>
        </p:nvSpPr>
        <p:spPr>
          <a:xfrm>
            <a:off x="3017520" y="3447288"/>
            <a:ext cx="8668512" cy="512064"/>
          </a:xfrm>
          <a:prstGeom prst="roundRect">
            <a:avLst>
              <a:gd name="adj" fmla="val 14286"/>
            </a:avLst>
          </a:prstGeom>
          <a:solidFill>
            <a:srgbClr val="F1F5F9"/>
          </a:solidFill>
          <a:ln/>
        </p:spPr>
      </p:sp>
      <p:sp>
        <p:nvSpPr>
          <p:cNvPr id="28" name="Shape 25"/>
          <p:cNvSpPr/>
          <p:nvPr/>
        </p:nvSpPr>
        <p:spPr>
          <a:xfrm>
            <a:off x="6629400" y="3447288"/>
            <a:ext cx="2889504" cy="512064"/>
          </a:xfrm>
          <a:prstGeom prst="roundRect">
            <a:avLst>
              <a:gd name="adj" fmla="val 14286"/>
            </a:avLst>
          </a:prstGeom>
          <a:solidFill>
            <a:srgbClr val="5B46B8"/>
          </a:solidFill>
          <a:ln/>
        </p:spPr>
      </p:sp>
      <p:sp>
        <p:nvSpPr>
          <p:cNvPr id="29" name="Text 26"/>
          <p:cNvSpPr txBox="1"/>
          <p:nvPr/>
        </p:nvSpPr>
        <p:spPr>
          <a:xfrm>
            <a:off x="457200" y="4050792"/>
            <a:ext cx="2514600" cy="51206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データベース</a:t>
            </a:r>
            <a:endParaRPr lang="en-US" sz="1800" dirty="0"/>
          </a:p>
        </p:txBody>
      </p:sp>
      <p:sp>
        <p:nvSpPr>
          <p:cNvPr id="30" name="Shape 27"/>
          <p:cNvSpPr/>
          <p:nvPr/>
        </p:nvSpPr>
        <p:spPr>
          <a:xfrm>
            <a:off x="3017520" y="4050792"/>
            <a:ext cx="8668512" cy="512064"/>
          </a:xfrm>
          <a:prstGeom prst="roundRect">
            <a:avLst>
              <a:gd name="adj" fmla="val 14286"/>
            </a:avLst>
          </a:prstGeom>
          <a:solidFill>
            <a:srgbClr val="F1F5F9"/>
          </a:solidFill>
          <a:ln/>
        </p:spPr>
      </p:sp>
      <p:sp>
        <p:nvSpPr>
          <p:cNvPr id="31" name="Shape 28"/>
          <p:cNvSpPr/>
          <p:nvPr/>
        </p:nvSpPr>
        <p:spPr>
          <a:xfrm>
            <a:off x="8796528" y="4050792"/>
            <a:ext cx="2167128" cy="512064"/>
          </a:xfrm>
          <a:prstGeom prst="roundRect">
            <a:avLst>
              <a:gd name="adj" fmla="val 14286"/>
            </a:avLst>
          </a:prstGeom>
          <a:solidFill>
            <a:srgbClr val="237A48"/>
          </a:solidFill>
          <a:ln/>
        </p:spPr>
      </p:sp>
      <p:sp>
        <p:nvSpPr>
          <p:cNvPr id="32" name="Text 29"/>
          <p:cNvSpPr txBox="1"/>
          <p:nvPr/>
        </p:nvSpPr>
        <p:spPr>
          <a:xfrm>
            <a:off x="457200" y="4654296"/>
            <a:ext cx="2514600" cy="51206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制作物</a:t>
            </a:r>
            <a:endParaRPr lang="en-US" sz="1800" dirty="0"/>
          </a:p>
        </p:txBody>
      </p:sp>
      <p:sp>
        <p:nvSpPr>
          <p:cNvPr id="33" name="Shape 30"/>
          <p:cNvSpPr/>
          <p:nvPr/>
        </p:nvSpPr>
        <p:spPr>
          <a:xfrm>
            <a:off x="3017520" y="4654296"/>
            <a:ext cx="8668512" cy="512064"/>
          </a:xfrm>
          <a:prstGeom prst="roundRect">
            <a:avLst>
              <a:gd name="adj" fmla="val 14286"/>
            </a:avLst>
          </a:prstGeom>
          <a:solidFill>
            <a:srgbClr val="F1F5F9"/>
          </a:solidFill>
          <a:ln/>
        </p:spPr>
      </p:sp>
      <p:sp>
        <p:nvSpPr>
          <p:cNvPr id="34" name="Shape 31"/>
          <p:cNvSpPr/>
          <p:nvPr/>
        </p:nvSpPr>
        <p:spPr>
          <a:xfrm>
            <a:off x="9518904" y="4654296"/>
            <a:ext cx="2167128" cy="512064"/>
          </a:xfrm>
          <a:prstGeom prst="roundRect">
            <a:avLst>
              <a:gd name="adj" fmla="val 14286"/>
            </a:avLst>
          </a:prstGeom>
          <a:solidFill>
            <a:srgbClr val="B45309"/>
          </a:solidFill>
          <a:ln/>
        </p:spPr>
      </p:sp>
      <p:sp>
        <p:nvSpPr>
          <p:cNvPr id="35" name="Text 32"/>
          <p:cNvSpPr txBox="1"/>
          <p:nvPr/>
        </p:nvSpPr>
        <p:spPr>
          <a:xfrm>
            <a:off x="457200" y="5257800"/>
            <a:ext cx="2514600" cy="512064"/>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英語（毎日10分）</a:t>
            </a:r>
            <a:endParaRPr lang="en-US" sz="1800" dirty="0"/>
          </a:p>
        </p:txBody>
      </p:sp>
      <p:sp>
        <p:nvSpPr>
          <p:cNvPr id="36" name="Shape 33"/>
          <p:cNvSpPr/>
          <p:nvPr/>
        </p:nvSpPr>
        <p:spPr>
          <a:xfrm>
            <a:off x="3017520" y="5257800"/>
            <a:ext cx="8668512" cy="512064"/>
          </a:xfrm>
          <a:prstGeom prst="roundRect">
            <a:avLst>
              <a:gd name="adj" fmla="val 14286"/>
            </a:avLst>
          </a:prstGeom>
          <a:solidFill>
            <a:srgbClr val="F1F5F9"/>
          </a:solidFill>
          <a:ln/>
        </p:spPr>
      </p:sp>
      <p:sp>
        <p:nvSpPr>
          <p:cNvPr id="37" name="Shape 34"/>
          <p:cNvSpPr/>
          <p:nvPr/>
        </p:nvSpPr>
        <p:spPr>
          <a:xfrm>
            <a:off x="3017520" y="5257800"/>
            <a:ext cx="8668512" cy="512064"/>
          </a:xfrm>
          <a:prstGeom prst="roundRect">
            <a:avLst>
              <a:gd name="adj" fmla="val 14286"/>
            </a:avLst>
          </a:prstGeom>
          <a:solidFill>
            <a:srgbClr val="475569"/>
          </a:solidFill>
          <a:ln/>
        </p:spPr>
      </p:sp>
      <p:sp>
        <p:nvSpPr>
          <p:cNvPr id="38" name="Text 35"/>
          <p:cNvSpPr txBox="1"/>
          <p:nvPr/>
        </p:nvSpPr>
        <p:spPr>
          <a:xfrm>
            <a:off x="457200" y="1783080"/>
            <a:ext cx="2514600" cy="365760"/>
          </a:xfrm>
          <a:prstGeom prst="rect">
            <a:avLst/>
          </a:prstGeom>
          <a:noFill/>
          <a:ln/>
        </p:spPr>
        <p:txBody>
          <a:bodyPr wrap="square" lIns="0" tIns="0" rIns="0" bIns="0" rtlCol="0" anchor="t"/>
          <a:lstStyle/>
          <a:p>
            <a:pPr algn="l"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週</a:t>
            </a:r>
            <a:endParaRPr lang="en-US" sz="1800" dirty="0"/>
          </a:p>
        </p:txBody>
      </p:sp>
      <p:sp>
        <p:nvSpPr>
          <p:cNvPr id="39" name="Shape 36"/>
          <p:cNvSpPr/>
          <p:nvPr/>
        </p:nvSpPr>
        <p:spPr>
          <a:xfrm>
            <a:off x="457200" y="5870448"/>
            <a:ext cx="11274552" cy="457200"/>
          </a:xfrm>
          <a:prstGeom prst="roundRect">
            <a:avLst>
              <a:gd name="adj" fmla="val 24000"/>
            </a:avLst>
          </a:prstGeom>
          <a:solidFill>
            <a:srgbClr val="DCE8F8"/>
          </a:solidFill>
          <a:ln w="19050">
            <a:solidFill>
              <a:srgbClr val="2F6BC2"/>
            </a:solidFill>
            <a:prstDash val="solid"/>
          </a:ln>
        </p:spPr>
      </p:sp>
      <p:sp>
        <p:nvSpPr>
          <p:cNvPr id="40" name="Shape 37"/>
          <p:cNvSpPr/>
          <p:nvPr/>
        </p:nvSpPr>
        <p:spPr>
          <a:xfrm>
            <a:off x="594360" y="5961888"/>
            <a:ext cx="274320" cy="274320"/>
          </a:xfrm>
          <a:prstGeom prst="ellipse">
            <a:avLst/>
          </a:prstGeom>
          <a:solidFill>
            <a:srgbClr val="2F6BC2"/>
          </a:solidFill>
          <a:ln/>
        </p:spPr>
      </p:sp>
      <p:pic>
        <p:nvPicPr>
          <p:cNvPr id="41" name="Image 0" descr="preencoded.png">    </p:cNvPr>
          <p:cNvPicPr>
            <a:picLocks noChangeAspect="1"/>
          </p:cNvPicPr>
          <p:nvPr/>
        </p:nvPicPr>
        <p:blipFill>
          <a:blip r:embed="rId1"/>
          <a:stretch>
            <a:fillRect/>
          </a:stretch>
        </p:blipFill>
        <p:spPr>
          <a:xfrm>
            <a:off x="654710" y="6022238"/>
            <a:ext cx="153619" cy="153619"/>
          </a:xfrm>
          <a:prstGeom prst="rect">
            <a:avLst/>
          </a:prstGeom>
        </p:spPr>
      </p:pic>
      <p:sp>
        <p:nvSpPr>
          <p:cNvPr id="42" name="Text 38"/>
          <p:cNvSpPr txBox="1"/>
          <p:nvPr/>
        </p:nvSpPr>
        <p:spPr>
          <a:xfrm>
            <a:off x="1005840" y="5916168"/>
            <a:ext cx="10588752" cy="36576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週5〜8時間の目安。余裕がなければ、ネットワークとOSを優先する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計画・確認</a:t>
            </a:r>
            <a:endParaRPr lang="ja-JP" sz="1400" dirty="0"/>
          </a:p>
        </p:txBody>
      </p:sp>
      <p:sp>
        <p:nvSpPr>
          <p:cNvPr id="3" name="Text 1"/>
          <p:cNvSpPr txBox="1"/>
          <p:nvPr/>
        </p:nvSpPr>
        <p:spPr>
          <a:xfrm>
            <a:off x="9569907" y="237744"/>
            <a:ext cx="2164588"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HPE社員ブログの内容</a:t>
            </a:r>
            <a:endParaRPr lang="ja-JP" sz="1400" dirty="0"/>
          </a:p>
        </p:txBody>
      </p:sp>
      <p:sp>
        <p:nvSpPr>
          <p:cNvPr id="4" name="Text 2"/>
          <p:cNvSpPr txBox="1"/>
          <p:nvPr/>
        </p:nvSpPr>
        <p:spPr>
          <a:xfrm>
            <a:off x="8159699"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つまずいたときの対策：読むだけにしない</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新しい分野は、用語が多くて挫折しがちです。読み方を工夫すれば続けやすくなります。ブログの「挫折しそうなら、やさしい本へ」という助言も同じ考え方です。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a:t>
            </a:r>
            <a:endParaRPr lang="ja-JP" sz="1200" dirty="0"/>
          </a:p>
        </p:txBody>
      </p:sp>
      <p:sp>
        <p:nvSpPr>
          <p:cNvPr id="9" name="Shape 6"/>
          <p:cNvSpPr/>
          <p:nvPr/>
        </p:nvSpPr>
        <p:spPr>
          <a:xfrm>
            <a:off x="457200" y="1783080"/>
            <a:ext cx="3657600" cy="2103120"/>
          </a:xfrm>
          <a:prstGeom prst="roundRect">
            <a:avLst>
              <a:gd name="adj" fmla="val 6087"/>
            </a:avLst>
          </a:prstGeom>
          <a:solidFill>
            <a:srgbClr val="E6E1F7"/>
          </a:solidFill>
          <a:ln/>
        </p:spPr>
      </p:sp>
      <p:sp>
        <p:nvSpPr>
          <p:cNvPr id="10" name="Text 7"/>
          <p:cNvSpPr txBox="1"/>
          <p:nvPr/>
        </p:nvSpPr>
        <p:spPr>
          <a:xfrm>
            <a:off x="640080" y="1911096"/>
            <a:ext cx="329184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5B46B8"/>
                </a:solidFill>
                <a:latin typeface="Yu Gothic" pitchFamily="34" charset="0"/>
                <a:ea typeface="Yu Gothic" pitchFamily="34" charset="-122"/>
                <a:cs typeface="Yu Gothic" pitchFamily="34" charset="-120"/>
              </a:rPr>
              <a:t>用語が多い</a:t>
            </a:r>
            <a:endParaRPr lang="en-US" sz="2200" dirty="0"/>
          </a:p>
        </p:txBody>
      </p:sp>
      <p:sp>
        <p:nvSpPr>
          <p:cNvPr id="11" name="Text 8"/>
          <p:cNvSpPr txBox="1"/>
          <p:nvPr/>
        </p:nvSpPr>
        <p:spPr>
          <a:xfrm>
            <a:off x="640080" y="2371344"/>
            <a:ext cx="3291840" cy="1423416"/>
          </a:xfrm>
          <a:prstGeom prst="rect">
            <a:avLst/>
          </a:prstGeom>
          <a:noFill/>
          <a:ln/>
        </p:spPr>
        <p:txBody>
          <a:bodyPr wrap="square" lIns="0" tIns="0" rIns="0" bIns="0" rtlCol="0" anchor="t"/>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図を自分で描く</a:t>
            </a:r>
            <a:endParaRPr lang="en-US" sz="2000" dirty="0"/>
          </a:p>
        </p:txBody>
      </p:sp>
      <p:sp>
        <p:nvSpPr>
          <p:cNvPr id="12" name="Shape 9"/>
          <p:cNvSpPr/>
          <p:nvPr/>
        </p:nvSpPr>
        <p:spPr>
          <a:xfrm>
            <a:off x="4265676" y="1783080"/>
            <a:ext cx="3657600" cy="2103120"/>
          </a:xfrm>
          <a:prstGeom prst="roundRect">
            <a:avLst>
              <a:gd name="adj" fmla="val 6087"/>
            </a:avLst>
          </a:prstGeom>
          <a:solidFill>
            <a:srgbClr val="D9F2F1"/>
          </a:solidFill>
          <a:ln/>
        </p:spPr>
      </p:sp>
      <p:sp>
        <p:nvSpPr>
          <p:cNvPr id="13" name="Text 10"/>
          <p:cNvSpPr txBox="1"/>
          <p:nvPr/>
        </p:nvSpPr>
        <p:spPr>
          <a:xfrm>
            <a:off x="4448556" y="1911096"/>
            <a:ext cx="329184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難しい</a:t>
            </a:r>
            <a:endParaRPr lang="en-US" sz="2200" dirty="0"/>
          </a:p>
        </p:txBody>
      </p:sp>
      <p:sp>
        <p:nvSpPr>
          <p:cNvPr id="14" name="Text 11"/>
          <p:cNvSpPr txBox="1"/>
          <p:nvPr/>
        </p:nvSpPr>
        <p:spPr>
          <a:xfrm>
            <a:off x="4448556" y="2371344"/>
            <a:ext cx="3291840" cy="1423416"/>
          </a:xfrm>
          <a:prstGeom prst="rect">
            <a:avLst/>
          </a:prstGeom>
          <a:noFill/>
          <a:ln/>
        </p:spPr>
        <p:txBody>
          <a:bodyPr wrap="square" lIns="0" tIns="0" rIns="0" bIns="0" rtlCol="0" anchor="t"/>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やさしい本へ戻ってから再挑戦</a:t>
            </a:r>
            <a:endParaRPr lang="en-US" sz="2000" dirty="0"/>
          </a:p>
        </p:txBody>
      </p:sp>
      <p:sp>
        <p:nvSpPr>
          <p:cNvPr id="15" name="Shape 12"/>
          <p:cNvSpPr/>
          <p:nvPr/>
        </p:nvSpPr>
        <p:spPr>
          <a:xfrm>
            <a:off x="8074152" y="1783080"/>
            <a:ext cx="3657600" cy="2103120"/>
          </a:xfrm>
          <a:prstGeom prst="roundRect">
            <a:avLst>
              <a:gd name="adj" fmla="val 6087"/>
            </a:avLst>
          </a:prstGeom>
          <a:solidFill>
            <a:srgbClr val="DDF1E4"/>
          </a:solidFill>
          <a:ln/>
        </p:spPr>
      </p:sp>
      <p:sp>
        <p:nvSpPr>
          <p:cNvPr id="16" name="Text 13"/>
          <p:cNvSpPr txBox="1"/>
          <p:nvPr/>
        </p:nvSpPr>
        <p:spPr>
          <a:xfrm>
            <a:off x="8257032" y="1911096"/>
            <a:ext cx="329184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頭に残らない</a:t>
            </a:r>
            <a:endParaRPr lang="en-US" sz="2200" dirty="0"/>
          </a:p>
        </p:txBody>
      </p:sp>
      <p:sp>
        <p:nvSpPr>
          <p:cNvPr id="17" name="Text 14"/>
          <p:cNvSpPr txBox="1"/>
          <p:nvPr/>
        </p:nvSpPr>
        <p:spPr>
          <a:xfrm>
            <a:off x="8257032" y="2371344"/>
            <a:ext cx="3291840" cy="1423416"/>
          </a:xfrm>
          <a:prstGeom prst="rect">
            <a:avLst/>
          </a:prstGeom>
          <a:noFill/>
          <a:ln/>
        </p:spPr>
        <p:txBody>
          <a:bodyPr wrap="square" lIns="0" tIns="0" rIns="0" bIns="0" rtlCol="0" anchor="t"/>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コマンドやSQLを実際に打つ</a:t>
            </a:r>
            <a:endParaRPr lang="en-US" sz="2000" dirty="0"/>
          </a:p>
        </p:txBody>
      </p:sp>
      <p:sp>
        <p:nvSpPr>
          <p:cNvPr id="18" name="Shape 15"/>
          <p:cNvSpPr/>
          <p:nvPr/>
        </p:nvSpPr>
        <p:spPr>
          <a:xfrm>
            <a:off x="457200" y="4023360"/>
            <a:ext cx="3657600" cy="2103120"/>
          </a:xfrm>
          <a:prstGeom prst="roundRect">
            <a:avLst>
              <a:gd name="adj" fmla="val 6087"/>
            </a:avLst>
          </a:prstGeom>
          <a:solidFill>
            <a:srgbClr val="DCE8F8"/>
          </a:solidFill>
          <a:ln/>
        </p:spPr>
      </p:sp>
      <p:sp>
        <p:nvSpPr>
          <p:cNvPr id="19" name="Text 16"/>
          <p:cNvSpPr txBox="1"/>
          <p:nvPr/>
        </p:nvSpPr>
        <p:spPr>
          <a:xfrm>
            <a:off x="640080" y="4151376"/>
            <a:ext cx="329184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分かった気がする</a:t>
            </a:r>
            <a:endParaRPr lang="en-US" sz="2200" dirty="0"/>
          </a:p>
        </p:txBody>
      </p:sp>
      <p:sp>
        <p:nvSpPr>
          <p:cNvPr id="20" name="Text 17"/>
          <p:cNvSpPr txBox="1"/>
          <p:nvPr/>
        </p:nvSpPr>
        <p:spPr>
          <a:xfrm>
            <a:off x="640080" y="4611624"/>
            <a:ext cx="3291840" cy="1423416"/>
          </a:xfrm>
          <a:prstGeom prst="rect">
            <a:avLst/>
          </a:prstGeom>
          <a:noFill/>
          <a:ln/>
        </p:spPr>
        <p:txBody>
          <a:bodyPr wrap="square" lIns="0" tIns="0" rIns="0" bIns="0" rtlCol="0" anchor="t"/>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自分の言葉で説明してみる</a:t>
            </a:r>
            <a:endParaRPr lang="en-US" sz="2000" dirty="0"/>
          </a:p>
        </p:txBody>
      </p:sp>
      <p:sp>
        <p:nvSpPr>
          <p:cNvPr id="21" name="Shape 18"/>
          <p:cNvSpPr/>
          <p:nvPr/>
        </p:nvSpPr>
        <p:spPr>
          <a:xfrm>
            <a:off x="4265676" y="4023360"/>
            <a:ext cx="3657600" cy="2103120"/>
          </a:xfrm>
          <a:prstGeom prst="roundRect">
            <a:avLst>
              <a:gd name="adj" fmla="val 6087"/>
            </a:avLst>
          </a:prstGeom>
          <a:solidFill>
            <a:srgbClr val="FDEBD0"/>
          </a:solidFill>
          <a:ln/>
        </p:spPr>
      </p:sp>
      <p:sp>
        <p:nvSpPr>
          <p:cNvPr id="22" name="Text 19"/>
          <p:cNvSpPr txBox="1"/>
          <p:nvPr/>
        </p:nvSpPr>
        <p:spPr>
          <a:xfrm>
            <a:off x="4448556" y="4151376"/>
            <a:ext cx="329184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時間がない</a:t>
            </a:r>
            <a:endParaRPr lang="en-US" sz="2200" dirty="0"/>
          </a:p>
        </p:txBody>
      </p:sp>
      <p:sp>
        <p:nvSpPr>
          <p:cNvPr id="23" name="Text 20"/>
          <p:cNvSpPr txBox="1"/>
          <p:nvPr/>
        </p:nvSpPr>
        <p:spPr>
          <a:xfrm>
            <a:off x="4448556" y="4611624"/>
            <a:ext cx="3291840" cy="1423416"/>
          </a:xfrm>
          <a:prstGeom prst="rect">
            <a:avLst/>
          </a:prstGeom>
          <a:noFill/>
          <a:ln/>
        </p:spPr>
        <p:txBody>
          <a:bodyPr wrap="square" lIns="0" tIns="0" rIns="0" bIns="0" rtlCol="0" anchor="t"/>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優先順位を決め、完璧を目指さない</a:t>
            </a:r>
            <a:endParaRPr lang="en-US" sz="2000" dirty="0"/>
          </a:p>
        </p:txBody>
      </p:sp>
      <p:sp>
        <p:nvSpPr>
          <p:cNvPr id="24" name="Shape 21"/>
          <p:cNvSpPr/>
          <p:nvPr/>
        </p:nvSpPr>
        <p:spPr>
          <a:xfrm>
            <a:off x="8074152" y="4023360"/>
            <a:ext cx="3657600" cy="2103120"/>
          </a:xfrm>
          <a:prstGeom prst="roundRect">
            <a:avLst>
              <a:gd name="adj" fmla="val 6087"/>
            </a:avLst>
          </a:prstGeom>
          <a:solidFill>
            <a:srgbClr val="E2E8F0"/>
          </a:solidFill>
          <a:ln/>
        </p:spPr>
      </p:sp>
      <p:sp>
        <p:nvSpPr>
          <p:cNvPr id="25" name="Text 22"/>
          <p:cNvSpPr txBox="1"/>
          <p:nvPr/>
        </p:nvSpPr>
        <p:spPr>
          <a:xfrm>
            <a:off x="8257032" y="4151376"/>
            <a:ext cx="3291840" cy="368808"/>
          </a:xfrm>
          <a:prstGeom prst="rect">
            <a:avLst/>
          </a:prstGeom>
          <a:noFill/>
          <a:ln/>
        </p:spPr>
        <p:txBody>
          <a:bodyPr wrap="square" lIns="0" tIns="0" rIns="0" bIns="0" rtlCol="0" anchor="t"/>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記録する</a:t>
            </a:r>
            <a:endParaRPr lang="en-US" sz="2200" dirty="0"/>
          </a:p>
        </p:txBody>
      </p:sp>
      <p:sp>
        <p:nvSpPr>
          <p:cNvPr id="26" name="Text 23"/>
          <p:cNvSpPr txBox="1"/>
          <p:nvPr/>
        </p:nvSpPr>
        <p:spPr>
          <a:xfrm>
            <a:off x="8257032" y="4611624"/>
            <a:ext cx="3291840" cy="1423416"/>
          </a:xfrm>
          <a:prstGeom prst="rect">
            <a:avLst/>
          </a:prstGeom>
          <a:noFill/>
          <a:ln/>
        </p:spPr>
        <p:txBody>
          <a:bodyPr wrap="square" lIns="0" tIns="0" rIns="0" bIns="0" rtlCol="0" anchor="t"/>
          <a:lstStyle/>
          <a:p>
            <a:pPr algn="l" indent="0" marL="0">
              <a:lnSpc>
                <a:spcPts val="2600"/>
              </a:lnSpc>
              <a:buNone/>
            </a:pPr>
            <a:r>
              <a:rPr lang="ja-JP" altLang="en-US" sz="2000" dirty="0">
                <a:solidFill>
                  <a:srgbClr val="1B2A3A"/>
                </a:solidFill>
                <a:latin typeface="Yu Gothic" pitchFamily="34" charset="0"/>
                <a:ea typeface="Yu Gothic" pitchFamily="34" charset="-122"/>
                <a:cs typeface="Yu Gothic" pitchFamily="34" charset="-120"/>
              </a:rPr>
              <a:t>分かったこと・詰まったことをメモに残す</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計画・確認</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8490407"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セルフチェック①：ネットワークの7問</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ネットワークの章の理解確認です。左の問いに声に出して答えてから、右の答えで確認してください。</a:t>
            </a:r>
            <a:endParaRPr lang="en-US" sz="18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4846320"/>
                <a:gridCol w="642823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問い</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答え</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679704">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OSI参照モデルの7層を上から言える？</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アプリ・プレゼン・セッション・トランスポート・ネットワーク・データリンク・物理</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79704">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TCP/IPの4階層は？</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アプリ・トランスポート・インターネット・ネットワークインターフェース</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ルーターは第何層の機器？</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第3層（IPで経路を選ぶ）</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TCPとUDPの大きな違いは？</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TCPは確認・順序・再送あり、UDPはなし</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3ウェイハンドシェイクの順は？</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SYN → SYN＋ACK → ACK</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192.168.1.0/24のホスト数は？</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254台（.1〜.254）</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IPヘッダーのTTLは何のため？</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転送の回数制限（ループ防止）。1ホップごとに1減る</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計画・確認</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8490407"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セルフチェック②：OS・データベースの8問</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OSとデータベースの章の理解確認です。答えに詰まった問いは、前のスライドに戻って復習します。</a:t>
            </a:r>
            <a:endParaRPr lang="en-US" sz="18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4846320"/>
                <a:gridCol w="642823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問い</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答え</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HTTPS・DNS・SSHのポートは？</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443・53・22</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chmod 640の意味は？</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所有者rw-、グループr--、その他---</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パイプ「|」とリダイレクト「&gt;」の違いは？</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次のコマンドへ渡す／ファイルへ保存</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viで保存して終了するには？</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:wq（保存せず終了は :q!）</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シェルスクリプトの終了コード0の意味は？</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成功（直前の終了コードは$?）</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主キーと外部キーの違いは？</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行を特定する値／他の表の主キーを参照</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ACIDの4つは？</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原子性・一貫性・独立性・永続性</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トランザクションで失敗したら？</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ROLLBACKで全部取り消す</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計画・確認</a:t>
            </a:r>
            <a:endParaRPr lang="ja-JP" sz="1400" dirty="0"/>
          </a:p>
        </p:txBody>
      </p:sp>
      <p:sp>
        <p:nvSpPr>
          <p:cNvPr id="3" name="Text 1"/>
          <p:cNvSpPr txBox="1"/>
          <p:nvPr/>
        </p:nvSpPr>
        <p:spPr>
          <a:xfrm>
            <a:off x="10434015" y="237744"/>
            <a:ext cx="1300480" cy="310896"/>
          </a:xfrm>
          <a:prstGeom prst="roundRect">
            <a:avLst>
              <a:gd name="adj" fmla="val 50000"/>
            </a:avLst>
          </a:prstGeom>
          <a:solidFill>
            <a:srgbClr val="D9F2F1"/>
          </a:solidFill>
          <a:ln w="9525">
            <a:solidFill>
              <a:srgbClr val="0F4C4C"/>
            </a:solidFill>
          </a:ln>
        </p:spPr>
        <p:txBody>
          <a:bodyPr wrap="square" lIns="0" tIns="0" rIns="0" bIns="0" rtlCol="0" anchor="ctr"/>
          <a:lstStyle/>
          <a:p>
            <a:pPr algn="ctr" indent="0" marL="0">
              <a:buNone/>
            </a:pPr>
            <a:r>
              <a:rPr lang="ja-JP" altLang="en-US" sz="1400" b="1" dirty="0">
                <a:solidFill>
                  <a:srgbClr val="0F4C4C"/>
                </a:solidFill>
                <a:latin typeface="Yu Gothic" pitchFamily="34" charset="0"/>
                <a:ea typeface="Yu Gothic" pitchFamily="34" charset="-122"/>
                <a:cs typeface="Yu Gothic" pitchFamily="34" charset="-120"/>
              </a:rPr>
              <a:t>教材の提案</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確認できたこと、できていないこと</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この資料の情報には、確認方法の限界があります。ブログ本文、書籍情報、技術解説で、確認の仕方が違うため、最初に明示します。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出典：[H01]</a:t>
            </a:r>
            <a:endParaRPr lang="ja-JP" sz="1200" dirty="0"/>
          </a:p>
        </p:txBody>
      </p:sp>
      <p:sp>
        <p:nvSpPr>
          <p:cNvPr id="8" name="Shape 5"/>
          <p:cNvSpPr/>
          <p:nvPr/>
        </p:nvSpPr>
        <p:spPr>
          <a:xfrm>
            <a:off x="457200" y="1783080"/>
            <a:ext cx="5532120" cy="457200"/>
          </a:xfrm>
          <a:prstGeom prst="roundRect">
            <a:avLst>
              <a:gd name="adj" fmla="val 20000"/>
            </a:avLst>
          </a:prstGeom>
          <a:solidFill>
            <a:srgbClr val="237A48"/>
          </a:solidFill>
          <a:ln/>
        </p:spPr>
      </p:sp>
      <p:sp>
        <p:nvSpPr>
          <p:cNvPr id="9" name="Text 6"/>
          <p:cNvSpPr txBox="1"/>
          <p:nvPr/>
        </p:nvSpPr>
        <p:spPr>
          <a:xfrm>
            <a:off x="548640" y="1783080"/>
            <a:ext cx="5349240"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確認できたこと</a:t>
            </a:r>
            <a:endParaRPr lang="en-US" sz="2000" dirty="0"/>
          </a:p>
        </p:txBody>
      </p:sp>
      <p:sp>
        <p:nvSpPr>
          <p:cNvPr id="10" name="Shape 7"/>
          <p:cNvSpPr/>
          <p:nvPr/>
        </p:nvSpPr>
        <p:spPr>
          <a:xfrm>
            <a:off x="457200" y="2377440"/>
            <a:ext cx="5532120" cy="1051560"/>
          </a:xfrm>
          <a:prstGeom prst="roundRect">
            <a:avLst>
              <a:gd name="adj" fmla="val 10435"/>
            </a:avLst>
          </a:prstGeom>
          <a:solidFill>
            <a:srgbClr val="DDF1E4"/>
          </a:solidFill>
          <a:ln w="25400">
            <a:solidFill>
              <a:srgbClr val="237A48"/>
            </a:solidFill>
            <a:prstDash val="solid"/>
          </a:ln>
        </p:spPr>
      </p:sp>
      <p:sp>
        <p:nvSpPr>
          <p:cNvPr id="11" name="Text 8"/>
          <p:cNvSpPr txBox="1"/>
          <p:nvPr/>
        </p:nvSpPr>
        <p:spPr>
          <a:xfrm>
            <a:off x="548640" y="2377440"/>
            <a:ext cx="5349240" cy="105156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ブログの内容（貼り付けた本文）</a:t>
            </a:r>
            <a:endParaRPr lang="en-US" sz="1800" dirty="0"/>
          </a:p>
        </p:txBody>
      </p:sp>
      <p:sp>
        <p:nvSpPr>
          <p:cNvPr id="12" name="Shape 9"/>
          <p:cNvSpPr/>
          <p:nvPr/>
        </p:nvSpPr>
        <p:spPr>
          <a:xfrm>
            <a:off x="457200" y="3566160"/>
            <a:ext cx="5532120" cy="1051560"/>
          </a:xfrm>
          <a:prstGeom prst="roundRect">
            <a:avLst>
              <a:gd name="adj" fmla="val 10435"/>
            </a:avLst>
          </a:prstGeom>
          <a:solidFill>
            <a:srgbClr val="DDF1E4"/>
          </a:solidFill>
          <a:ln w="25400">
            <a:solidFill>
              <a:srgbClr val="237A48"/>
            </a:solidFill>
            <a:prstDash val="solid"/>
          </a:ln>
        </p:spPr>
      </p:sp>
      <p:sp>
        <p:nvSpPr>
          <p:cNvPr id="13" name="Text 10"/>
          <p:cNvSpPr txBox="1"/>
          <p:nvPr/>
        </p:nvSpPr>
        <p:spPr>
          <a:xfrm>
            <a:off x="548640" y="3566160"/>
            <a:ext cx="5349240" cy="105156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書籍6冊の版・ページ・価格・目次（検索結果）</a:t>
            </a:r>
            <a:endParaRPr lang="en-US" sz="1800" dirty="0"/>
          </a:p>
        </p:txBody>
      </p:sp>
      <p:sp>
        <p:nvSpPr>
          <p:cNvPr id="14" name="Shape 11"/>
          <p:cNvSpPr/>
          <p:nvPr/>
        </p:nvSpPr>
        <p:spPr>
          <a:xfrm>
            <a:off x="457200" y="4754880"/>
            <a:ext cx="5532120" cy="1051560"/>
          </a:xfrm>
          <a:prstGeom prst="roundRect">
            <a:avLst>
              <a:gd name="adj" fmla="val 10435"/>
            </a:avLst>
          </a:prstGeom>
          <a:solidFill>
            <a:srgbClr val="DDF1E4"/>
          </a:solidFill>
          <a:ln w="25400">
            <a:solidFill>
              <a:srgbClr val="237A48"/>
            </a:solidFill>
            <a:prstDash val="solid"/>
          </a:ln>
        </p:spPr>
      </p:sp>
      <p:sp>
        <p:nvSpPr>
          <p:cNvPr id="15" name="Text 12"/>
          <p:cNvSpPr txBox="1"/>
          <p:nvPr/>
        </p:nvSpPr>
        <p:spPr>
          <a:xfrm>
            <a:off x="548640" y="4754880"/>
            <a:ext cx="5349240" cy="105156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技術の標準（RFCなど）に沿った解説</a:t>
            </a:r>
            <a:endParaRPr lang="en-US" sz="1800" dirty="0"/>
          </a:p>
        </p:txBody>
      </p:sp>
      <p:sp>
        <p:nvSpPr>
          <p:cNvPr id="16" name="Shape 13"/>
          <p:cNvSpPr/>
          <p:nvPr/>
        </p:nvSpPr>
        <p:spPr>
          <a:xfrm>
            <a:off x="6199632" y="1783080"/>
            <a:ext cx="5532120" cy="457200"/>
          </a:xfrm>
          <a:prstGeom prst="roundRect">
            <a:avLst>
              <a:gd name="adj" fmla="val 20000"/>
            </a:avLst>
          </a:prstGeom>
          <a:solidFill>
            <a:srgbClr val="C0392B"/>
          </a:solidFill>
          <a:ln/>
        </p:spPr>
      </p:sp>
      <p:sp>
        <p:nvSpPr>
          <p:cNvPr id="17" name="Text 14"/>
          <p:cNvSpPr txBox="1"/>
          <p:nvPr/>
        </p:nvSpPr>
        <p:spPr>
          <a:xfrm>
            <a:off x="6291072" y="1783080"/>
            <a:ext cx="5349240"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確認できていないこと</a:t>
            </a:r>
            <a:endParaRPr lang="en-US" sz="2000" dirty="0"/>
          </a:p>
        </p:txBody>
      </p:sp>
      <p:sp>
        <p:nvSpPr>
          <p:cNvPr id="18" name="Shape 15"/>
          <p:cNvSpPr/>
          <p:nvPr/>
        </p:nvSpPr>
        <p:spPr>
          <a:xfrm>
            <a:off x="6199632" y="2377440"/>
            <a:ext cx="5532120" cy="1051560"/>
          </a:xfrm>
          <a:prstGeom prst="roundRect">
            <a:avLst>
              <a:gd name="adj" fmla="val 10435"/>
            </a:avLst>
          </a:prstGeom>
          <a:solidFill>
            <a:srgbClr val="FBE3E0"/>
          </a:solidFill>
          <a:ln w="25400">
            <a:solidFill>
              <a:srgbClr val="C0392B"/>
            </a:solidFill>
            <a:prstDash val="solid"/>
          </a:ln>
        </p:spPr>
      </p:sp>
      <p:sp>
        <p:nvSpPr>
          <p:cNvPr id="19" name="Text 16"/>
          <p:cNvSpPr txBox="1"/>
          <p:nvPr/>
        </p:nvSpPr>
        <p:spPr>
          <a:xfrm>
            <a:off x="6291072" y="2377440"/>
            <a:ext cx="5349240" cy="105156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出版社の公式ページの直接確認（接続できず）</a:t>
            </a:r>
            <a:endParaRPr lang="en-US" sz="1800" dirty="0"/>
          </a:p>
        </p:txBody>
      </p:sp>
      <p:sp>
        <p:nvSpPr>
          <p:cNvPr id="20" name="Shape 17"/>
          <p:cNvSpPr/>
          <p:nvPr/>
        </p:nvSpPr>
        <p:spPr>
          <a:xfrm>
            <a:off x="6199632" y="3566160"/>
            <a:ext cx="5532120" cy="1051560"/>
          </a:xfrm>
          <a:prstGeom prst="roundRect">
            <a:avLst>
              <a:gd name="adj" fmla="val 10435"/>
            </a:avLst>
          </a:prstGeom>
          <a:solidFill>
            <a:srgbClr val="FBE3E0"/>
          </a:solidFill>
          <a:ln w="25400">
            <a:solidFill>
              <a:srgbClr val="C0392B"/>
            </a:solidFill>
            <a:prstDash val="solid"/>
          </a:ln>
        </p:spPr>
      </p:sp>
      <p:sp>
        <p:nvSpPr>
          <p:cNvPr id="21" name="Text 18"/>
          <p:cNvSpPr txBox="1"/>
          <p:nvPr/>
        </p:nvSpPr>
        <p:spPr>
          <a:xfrm>
            <a:off x="6291072" y="3566160"/>
            <a:ext cx="5349240" cy="105156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各本の本文の詳しい内容（目次以上）</a:t>
            </a:r>
            <a:endParaRPr lang="en-US" sz="1800" dirty="0"/>
          </a:p>
        </p:txBody>
      </p:sp>
      <p:sp>
        <p:nvSpPr>
          <p:cNvPr id="22" name="Shape 19"/>
          <p:cNvSpPr/>
          <p:nvPr/>
        </p:nvSpPr>
        <p:spPr>
          <a:xfrm>
            <a:off x="6199632" y="4754880"/>
            <a:ext cx="5532120" cy="1051560"/>
          </a:xfrm>
          <a:prstGeom prst="roundRect">
            <a:avLst>
              <a:gd name="adj" fmla="val 10435"/>
            </a:avLst>
          </a:prstGeom>
          <a:solidFill>
            <a:srgbClr val="FBE3E0"/>
          </a:solidFill>
          <a:ln w="25400">
            <a:solidFill>
              <a:srgbClr val="C0392B"/>
            </a:solidFill>
            <a:prstDash val="solid"/>
          </a:ln>
        </p:spPr>
      </p:sp>
      <p:sp>
        <p:nvSpPr>
          <p:cNvPr id="23" name="Text 20"/>
          <p:cNvSpPr txBox="1"/>
          <p:nvPr/>
        </p:nvSpPr>
        <p:spPr>
          <a:xfrm>
            <a:off x="6291072" y="4754880"/>
            <a:ext cx="5349240" cy="105156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当時と現在で版が違う可能性（ブログは2023年）</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計画・確認</a:t>
            </a:r>
            <a:endParaRPr lang="ja-JP" sz="1400" dirty="0"/>
          </a:p>
        </p:txBody>
      </p:sp>
      <p:sp>
        <p:nvSpPr>
          <p:cNvPr id="3" name="Text 1"/>
          <p:cNvSpPr txBox="1"/>
          <p:nvPr/>
        </p:nvSpPr>
        <p:spPr>
          <a:xfrm>
            <a:off x="9900615" y="237744"/>
            <a:ext cx="18338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一般的な技術説明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出典一覧</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本文の[H01]・[K01]などの番号と、資料名の対応表です。完全なURLは、このスライドと各スライドのノートに載せています。</a:t>
            </a:r>
            <a:endParaRPr lang="en-US" sz="18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822960"/>
                <a:gridCol w="10451592"/>
              </a:tblGrid>
              <a:tr h="457200">
                <a:tc>
                  <a:txBody>
                    <a:bodyP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ID</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100"/>
                        </a:lnSpc>
                        <a:buNone/>
                      </a:pPr>
                      <a:r>
                        <a:rPr lang="ja-JP" altLang="en-US" sz="1600" b="1" dirty="0">
                          <a:solidFill>
                            <a:srgbClr val="FFFFFF"/>
                          </a:solidFill>
                          <a:latin typeface="Yu Gothic" pitchFamily="34" charset="0"/>
                          <a:ea typeface="Yu Gothic" pitchFamily="34" charset="-122"/>
                          <a:cs typeface="Yu Gothic" pitchFamily="34" charset="-120"/>
                        </a:rPr>
                        <a:t>資料名</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612648">
                <a:tc>
                  <a:txBody>
                    <a:bodyPr/>
                    <a:lstStyle/>
                    <a:p>
                      <a:pPr algn="l"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H01</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100"/>
                        </a:lnSpc>
                        <a:buNone/>
                      </a:pPr>
                      <a:r>
                        <a:rPr lang="ja-JP" altLang="en-US" sz="1600" dirty="0">
                          <a:solidFill>
                            <a:srgbClr val="1B2A3A"/>
                          </a:solidFill>
                          <a:latin typeface="Yu Gothic" pitchFamily="34" charset="0"/>
                          <a:ea typeface="Yu Gothic" pitchFamily="34" charset="-122"/>
                          <a:cs typeface="Yu Gothic" pitchFamily="34" charset="-120"/>
                        </a:rPr>
                        <a:t>HPE新卒ブログ 第4回 ＜入社までに勉強しておくと楽になること＞（HPE Community、FY23 HPE 有志活動ブログ、関根有希氏）（本文は貼り付けた転載を使用）</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algn="l"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K01</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100"/>
                        </a:lnSpc>
                        <a:buNone/>
                      </a:pPr>
                      <a:r>
                        <a:rPr lang="ja-JP" altLang="en-US" sz="1600" dirty="0">
                          <a:solidFill>
                            <a:srgbClr val="1B2A3A"/>
                          </a:solidFill>
                          <a:latin typeface="Yu Gothic" pitchFamily="34" charset="0"/>
                          <a:ea typeface="Yu Gothic" pitchFamily="34" charset="-122"/>
                          <a:cs typeface="Yu Gothic" pitchFamily="34" charset="-120"/>
                        </a:rPr>
                        <a:t>オーム社：マスタリングTCP/IP 入門編（第6版）</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65760">
                <a:tc>
                  <a:txBody>
                    <a:bodyPr/>
                    <a:lstStyle/>
                    <a:p>
                      <a:pPr algn="l"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K02</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100"/>
                        </a:lnSpc>
                        <a:buNone/>
                      </a:pPr>
                      <a:r>
                        <a:rPr lang="ja-JP" altLang="en-US" sz="1600" dirty="0">
                          <a:solidFill>
                            <a:srgbClr val="1B2A3A"/>
                          </a:solidFill>
                          <a:latin typeface="Yu Gothic" pitchFamily="34" charset="0"/>
                          <a:ea typeface="Yu Gothic" pitchFamily="34" charset="-122"/>
                          <a:cs typeface="Yu Gothic" pitchFamily="34" charset="-120"/>
                        </a:rPr>
                        <a:t>SBクリエイティブ：スラスラわかるネットワーク＆TCP/IPのきほん 第3版</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algn="l"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K03</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100"/>
                        </a:lnSpc>
                        <a:buNone/>
                      </a:pPr>
                      <a:r>
                        <a:rPr lang="ja-JP" altLang="en-US" sz="1600" dirty="0">
                          <a:solidFill>
                            <a:srgbClr val="1B2A3A"/>
                          </a:solidFill>
                          <a:latin typeface="Yu Gothic" pitchFamily="34" charset="0"/>
                          <a:ea typeface="Yu Gothic" pitchFamily="34" charset="-122"/>
                          <a:cs typeface="Yu Gothic" pitchFamily="34" charset="-120"/>
                        </a:rPr>
                        <a:t>LPI-Japan：Linux標準教科書（無償配布）</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65760">
                <a:tc>
                  <a:txBody>
                    <a:bodyPr/>
                    <a:lstStyle/>
                    <a:p>
                      <a:pPr algn="l"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K04</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100"/>
                        </a:lnSpc>
                        <a:buNone/>
                      </a:pPr>
                      <a:r>
                        <a:rPr lang="ja-JP" altLang="en-US" sz="1600" dirty="0">
                          <a:solidFill>
                            <a:srgbClr val="1B2A3A"/>
                          </a:solidFill>
                          <a:latin typeface="Yu Gothic" pitchFamily="34" charset="0"/>
                          <a:ea typeface="Yu Gothic" pitchFamily="34" charset="-122"/>
                          <a:cs typeface="Yu Gothic" pitchFamily="34" charset="-120"/>
                        </a:rPr>
                        <a:t>翔泳社：おうちで学べるデータベースのきほん 第2版（CodeZine紹介記事ほか）</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algn="l"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K05</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100"/>
                        </a:lnSpc>
                        <a:buNone/>
                      </a:pPr>
                      <a:r>
                        <a:rPr lang="ja-JP" altLang="en-US" sz="1600" dirty="0">
                          <a:solidFill>
                            <a:srgbClr val="1B2A3A"/>
                          </a:solidFill>
                          <a:latin typeface="Yu Gothic" pitchFamily="34" charset="0"/>
                          <a:ea typeface="Yu Gothic" pitchFamily="34" charset="-122"/>
                          <a:cs typeface="Yu Gothic" pitchFamily="34" charset="-120"/>
                        </a:rPr>
                        <a:t>技術評論社：キタミ式イラストIT塾 基本情報技術者 令和08年</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65760">
                <a:tc>
                  <a:txBody>
                    <a:bodyPr/>
                    <a:lstStyle/>
                    <a:p>
                      <a:pPr algn="l"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K06</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100"/>
                        </a:lnSpc>
                        <a:buNone/>
                      </a:pPr>
                      <a:r>
                        <a:rPr lang="ja-JP" altLang="en-US" sz="1600" dirty="0">
                          <a:solidFill>
                            <a:srgbClr val="1B2A3A"/>
                          </a:solidFill>
                          <a:latin typeface="Yu Gothic" pitchFamily="34" charset="0"/>
                          <a:ea typeface="Yu Gothic" pitchFamily="34" charset="-122"/>
                          <a:cs typeface="Yu Gothic" pitchFamily="34" charset="-120"/>
                        </a:rPr>
                        <a:t>アルク：改訂版 英会話ペラペラビジネス100</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algn="l"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R01</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100"/>
                        </a:lnSpc>
                        <a:buNone/>
                      </a:pPr>
                      <a:r>
                        <a:rPr lang="ja-JP" altLang="en-US" sz="1600" dirty="0">
                          <a:solidFill>
                            <a:srgbClr val="1B2A3A"/>
                          </a:solidFill>
                          <a:latin typeface="Yu Gothic" pitchFamily="34" charset="0"/>
                          <a:ea typeface="Yu Gothic" pitchFamily="34" charset="-122"/>
                          <a:cs typeface="Yu Gothic" pitchFamily="34" charset="-120"/>
                        </a:rPr>
                        <a:t>IETF：RFC 791（IPv4）、RFC 9293（TCP）、RFC 768（UDP）</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365760">
                <a:tc>
                  <a:txBody>
                    <a:bodyPr/>
                    <a:lstStyle/>
                    <a:p>
                      <a:pPr algn="l"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I01</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100"/>
                        </a:lnSpc>
                        <a:buNone/>
                      </a:pPr>
                      <a:r>
                        <a:rPr lang="ja-JP" altLang="en-US" sz="1600" dirty="0">
                          <a:solidFill>
                            <a:srgbClr val="1B2A3A"/>
                          </a:solidFill>
                          <a:latin typeface="Yu Gothic" pitchFamily="34" charset="0"/>
                          <a:ea typeface="Yu Gothic" pitchFamily="34" charset="-122"/>
                          <a:cs typeface="Yu Gothic" pitchFamily="34" charset="-120"/>
                        </a:rPr>
                        <a:t>IANA：サービス名とポート番号の登録簿</a:t>
                      </a:r>
                      <a:endParaRPr lang="en-US" sz="1200" dirty="0"/>
                    </a:p>
                  </a:txBody>
                  <a:tcPr marL="114300" marR="1143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ITインフラ・AI・HPEのSEに向けた統合学習資料</dc:title>
  <dc:subject>PptxGenJS Presentation</dc:subject>
  <dc:creator>学習教材（未経験者向け）</dc:creator>
  <cp:lastModifiedBy>学習教材（未経験者向け）</cp:lastModifiedBy>
  <cp:revision>1</cp:revision>
  <dcterms:created xsi:type="dcterms:W3CDTF">2026-09-30T19:20:36Z</dcterms:created>
  <dcterms:modified xsi:type="dcterms:W3CDTF">2026-09-30T19:20:36Z</dcterms:modified>
</cp:coreProperties>
</file>