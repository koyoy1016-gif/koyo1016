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notesMasterIdLst>
    <p:notesMasterId r:id="rId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notesMaster" Target="notesMasters/notesMaster1.xml"/><Relationship Id="rId92" Type="http://schemas.openxmlformats.org/officeDocument/2006/relationships/presProps" Target="presProps.xml"/><Relationship Id="rId93" Type="http://schemas.openxmlformats.org/officeDocument/2006/relationships/viewProps" Target="viewProps.xml"/><Relationship Id="rId94" Type="http://schemas.openxmlformats.org/officeDocument/2006/relationships/theme" Target="theme/theme1.xml"/><Relationship Id="rId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この資料は、IT経験を尋ねる質問票に出てくる用語を、初めての人にも分かるように、図・表・たとえ話で説明するものです。
【補足】
・用語の意味・用途・最初の学び方は、貼り付けていただいた質問票の解説を土台にしています。
・「たとえ」や図、前後の用語の補足は、一般的な技術知識で足しました（「補足」ラベル）。
・パソコン版（横長・本ファイル）と、スマホ版（縦長）の2種類があります。
【情報の区分】
一般的な技術説明・教材上の整理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（スライド1／資料の該当箇所：表紙）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色付きの10個のチップが、この資料のテーマです。ストレージは貼り付けの途中から（ファイルシステムの行の途中から）始まっています。
【処理の詳細】
・質問12・13：データベース／質問14・15：アプリケーションサーバー／質問16・17：仮想化・コンテナ・プライベートクラウド／質問18・19：クラウド／質問20・21：研究・独学での取り組み／質問22・23：プレゼン・学会発表／質問24：IT系の資格／質問25：その他のIT経験／質問26：リモート就業のネットワーク環境。
・ストレージの質問番号は、貼り付け範囲に含まれていないため、この資料では番号を示しません。
【成立条件・例外】
貼り付けは、ストレージの表の途中（「FAT、ext4、APFSなど」の行）から始まり、質問26の「Wi-Fi」の行の途中で終わっています。範囲外（それより前後）の用語は、この資料に含まれていません。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（スライド2／資料の該当箇所：貼り付け全体）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左がテーマ、右が主な用語です。同じテーマの用語は、同じ色のカードで説明します。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（スライド3／資料の該当箇所：貼り付け全体）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研究・独学から、リモート就業のネットワーク環境までの用語です。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（スライド4／資料の該当箇所：貼り付け全体）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4つの項目を、この順に読みます。「たとえ」は、初めて聞く言葉を身近なものに置き換えるための項目です。
【処理の詳細】
「補足」ラベル：貼り付けた資料の表にはなく、一般的な説明で補った用語に付けています。
【補足】
「確認方法」は、リモート就業環境の用語で、契約や機器をどう確かめるかを示す項目です。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（スライド5／資料の該当箇所：資料の読み方）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中央のメモリが「作業机」、右のストレージが「倉庫」です。CPUは、作業机の上のデータで計算します。
【用語】
・メモリ：作業中の一時的な置き場（貼り付けの記載）。速いが小さく、電源を切ると消える。
・ストレージ：長期保存の置き場（貼り付けの記載）。大きく、電源を切っても残る。
【よくある誤解】
メモリとストレージは「どちらもデータを置く」ので混同されます。「速さと一時性」か「容量と長期保存」かで区別します。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3つのカードが、データの扱い方の違いです。貼り付けの説明では、NASは主に共有ファイル、SANは主にディスクに相当する保存領域、Amazon S3はオブジェクトストレージとされています。
【処理の詳細】
・ファイル方式：フォルダー階層の中の「ファイル」を、名前で出し入れする。
・ブロック方式：ディスクを一定の大きさの区画（ブロック）として扱う。上にファイルシステムやデータベースを作る。
・オブジェクト方式：データに名前（キー）と付加情報を付けて「オブジェクト」として保存する[D04]。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（スライド7／資料の該当箇所：ストレージ（NAS・SAN・S3の説明））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上がNAS（共有フォルダーとして使う）、下がSAN（ディスクとして使う）です。
【処理の詳細】
・NAS：PCやサーバーが「フォルダーを開く」操作で使う。
・SAN：サーバーが「自分のディスク」のように認識して使う。接続はFibre Channelなどの専用方式や、iSCSI・FCoEのようにEthernet上の方式がある。
・FCoEは、Fibre Channelの通信をEthernetに載せる技術で、対応した機器やネットワークが必要（貼り付けの記載）。
【よくある誤解】
NASとSANは「どちらも保存装置」ですが、使う側から見える形（共有フォルダーかディスクか）が違います。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（スライド8／資料の該当箇所：ストレージ（NAS・SANの説明））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・メモリ（RAM・主記憶）：計算中のデータを一時的に置く、速くて小さな置き場。電源を切ると消える。　【補足】「メモリは作業中の一時的な置き場」という説明は貼り付けにあります。
・ストレージ（記憶装置（SSD・HDDなど））：データを長期に保存する置き場。電源を切っても残る。　【補足】「ストレージは長期保存の置き場」という説明は貼り付けにあります。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・ファイルシステム（FAT・ext4・APFSなど）：ストレージの中で、データをファイルとフォルダーの形に整理して出し入れするための決まり（形式）。　【補足】貼り付けは、この行の途中（「FAT、ext4、APFSなど」と学び方）から始まっているため、意味・たとえは補足です。FAT32は1ファイル4GBまで、のような制限もあります。
・ブロックストレージ（ディスクのような領域）：ストレージを一定の大きさの区画（ブロック）に分け、ディスクとして扱う方式。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・オブジェクトストレージ：データを、識別する名前や付加情報と一緒に「オブジェクト」として保存する仕組み。
・Amazon S3（エス・スリー）：AmazonのクラウドAWSで使える、オブジェクトストレージのサービス。　【補足】S3では、データ（オブジェクト）をバケットという入れ物に入れ、キーで識別します[D04]。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（スライド11／資料の該当箇所：ご提供の用語解説（用語の表））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・NAS（Network Attached Storage）：ネットワークにつなぎ、共有フォルダーとして使える保存装置。　【補足】貼り付けの説明：NASは主に共有ファイルとして使う。
・SAN（Storage Area Network）：サーバーに「ディスク」として見える保存領域を、専用のネットワークで提供する仕組み。　【補足】貼り付けの説明：SANは主にディスクに相当する保存領域として使う。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・FCoE（Fibre Channel over Ethernet）：Fibre Channelの通信を、Ethernetに載せて運ぶ技術。　【補足】貼り付けの説明：対応した機器・ネットワークが必要。
・RAID（レイド）：複数のドライブを組み合わせ、速さや故障への強さを高める技術。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・NVMe（エヌブイエムイー）：SSDを高速に使うために作られた、通信・制御の規格。　【補足】貼り付けの説明：NVMeはSSD向けに設計された規格。
・M.2（エムドットツー）：小さな基板状の部品の形状と接続の規格。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表は代表的なRAIDの種類です。「1台故障」列で、1台壊れたときにデータが残るかを示します。
【用語】
・RAID 0：複数のドライブに分けて書く（ストライピング）。速いが冗長性がない。
・RAID 1：同じデータを2台に書く（ミラーリング）。
・RAID 5：データと「パリティ（誤り訂正の情報）」を分散して書く。3台以上。
・RAID 6：パリティを2種類書く。2台の故障まで耐える。4台以上。
・RAID 10：ミラーリングとストライピングの組み合わせ。
【よくある誤解】
RAIDを組んでいれば「バックアップ不要」ではありません。誤って消した、ウイルスで壊された、といった変更は、すべてのドライブに同じように反映されます（貼り付けの記載：バックアップは別に必要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（スライド15／資料の該当箇所：ストレージ「混同しやすい点：RAIDとバックアップ」）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左が混同しやすい組、右が違いです。本文は貼り付けの記載のとおりです。
【身近な例】
・メモリとストレージ：作業机と倉庫
・RAIDとバックアップ：「壊れても動く」と「消しても戻せる」
・NVMeとM.2：道路の種類と、コンセントの形
・ストレージとデータベース：倉庫と、倉庫の中の整理棚
【なぜ重要か】
この4組は、質問票の回答や面談で聞かれたときに、取り違えやすい用語です。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（スライド16／資料の該当箇所：ストレージ「混同しやすい点」）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左から右へ、利用者の依頼が下の層へ進みます。注文表のデータは、最後にSSDなどのストレージにファイルとして保存されます。
【よくある誤解】
「データベースを使う」と「ストレージに保存する」は同じではありません。データベースは、保存の上に「整理・検索・更新の仕組み」を足したものです。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（スライド17／資料の該当箇所：ストレージ「ストレージとデータベース」）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上の表が、注文情報を管理する例（貼り付けの例）です。下の3つが、データベースでできることです。
【処理の詳細】
・注文番号101は田中さんがノートを2個、102は鈴木さんがペンを1個、という情報です。
・「田中さんの注文だけを取り出す」「商品ごとの売上を集計する」は、貼り付けにある処理の例です。
【よくある誤解】
Excelの表との違い：データベースは、多人数が同時に使う・大量のデータを扱う・間違いを防ぐ、といった仕組みを備えています。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（スライド18／資料の該当箇所：データベース「質問12・13」）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表の横一列（行）が1件のデータ、縦の並び（列）が項目です。
【用語】
・行（レコード）：1件分のデータ。
・列（カラム）：データの項目（購入者、商品など）。
・主キー：行を1つに特定できる値。注文番号のように重複しない。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（スライド19／資料の該当箇所：データベース「質問12・13」）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左のアプリが、SQLでDBMSにお願いします。DBMSがデータベース（表）を読み書きします。DBMSが動くコンピューターを、データベースサーバーと呼びます。
【用語】
・DB：データのまとまり。
・DBMS：データベースを管理するソフトウェア（貼り付けの記載）。
・DBサーバー：データベースの機能を他のアプリやPCに提供するサーバー（貼り付けの記載）。
・SQL：データベースの検索・登録・更新などに使う言語（貼り付けの記載）。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（スライド20／資料の該当箇所：データベース「用語」）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・DB（データベース）：Databaseの略。データベース。整理して蓄積した情報のまとまり。
・DBMS：データベースを管理するソフトウェア。質問にある製品名の多くは、これに当たります。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・リレーショナルデータベース（RDB）：行と列のある表を中心に、複数の表の関係を使って情報を管理する方式。
・SQL（エスキューエル）：データベースの検索・登録・更新などに使う言語。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・データベースサーバー：データベースの機能を他のアプリやPCに提供するサーバー。
・Oracle Database（オラクル）：Oracle社のリレーショナルデータベース製品。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・PostgreSQL（ポストグレスキューエル）：オープンソースのリレーショナルデータベース。　【補足】公式の入門には、表の作成、データの登録、検索、複数の表を組み合わせる操作などが含まれます（貼り付けの記載）[D01]。
・DB2／Db2（ディービーツー）：IBMのデータベース製品。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確認時点：原資料の記載は2026年9月30日〜10月1日（日本時間）。変わりやすい情報（価格・製品・採用条件）は最新の公式ページで再確認してください。
（スライド24／資料の該当箇所：ご提供の用語解説（用語の表））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・Microsoft SQL Server（エスキューエル サーバー）：Microsoftのリレーショナルデータベース製品。
・MySQL（マイエスキューエル）：広く使われるオープンソースのリレーショナルデータベース。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 Database：一つの製品名ではなく、AWS上のデータベースサービスを指すと考えられる表記。
・MongoDB（モンゴディービー）：表形式とは異なり、まとまりのある「ドキュメント」を中心に情報を保存するデータベース。　【補足】MongoDBはドキュメントモデルを基盤とするデータベースです（貼り付けの記載）。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表は、質問票に出てくる製品を種類ごとに並べたものです。
【処理の詳細】
・商用RDB：企業が販売する、表形式（RDB）の製品。
・オープンソースRDB：無料で使える、表形式の製品。
・クラウドのRDB：Amazon RDS・Auroraなど、AWS上で運用の一部を事業者が担当する表形式のサービス。
・クラウドの非RDB：DynamoDBなど、表の関係を使わない方式のサービス。
・ドキュメントDB：MongoDBのように、まとまりのある文書を保存する方式。
【成立条件・例外】
「AWS Database」は製品名ではなく、AWS上のデータベースサービスの総称と考えられます（貼り付けの記載）。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（スライド27／資料の該当箇所：データベース「用語の表」）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黒い枠がSQL、下の3つのカードが読み方です。
【身近な例】
意味は「商品という表から、価格が1,000円未満の商品名と価格を取り出す」です（貼り付けの記載）。
【処理の詳細】
・SELECT：取り出す項目（列）を選ぶ。
・FROM：どの表から取り出すか。
・WHERE：どの条件の行だけを取り出すか。「価格 &lt; 1000」は、価格が1,000未満。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（スライド28／資料の該当箇所：データベース「SQLの例」）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左が元の商品表、右が結果です。価格が1,000円未満の2行だけが残ります。商品名・価格は説明用の例です。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（スライド29／資料の該当箇所：データベース「SQLの例」）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貼り付けは、SQLの学び方として「SELECT、INSERT、UPDATE、DELETEから学ぶ」としています。右の例は説明用です。
【よくある誤解】
UPDATEやDELETEは、WHEREを付け忘れると「すべての行」が対象になります。実行前に、同じ条件のSELECTで対象を確認する習慣が安全です。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（スライド30／資料の該当箇所：データベース「SQLの学び方」）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左が顧客表、右が注文表です。注文表の「顧客番号」が、顧客表の番号を指しています。貼り付けの学び方：顧客表と注文表を、顧客番号で結び付ける練習をする。
【用語】
・外部キー：他の表の主キーを参照する列。ここでは注文表の「顧客番号」。
【処理の詳細】
・田中さん（顧客番号1）の注文は、注文101（ノート）と103（定規）です。
・このように、情報を表に分けて、番号で結び付けることで、同じ情報（顧客の名前など）を何度も書かずに済みます。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（スライド31／資料の該当箇所：データベース「リレーショナルデータベース」）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上の図が3つの層の流れ、下の4つがログインの例です。
【用語】
・Webサーバー：要求を受け、Webページやデータを返す（貼り付けの記載）。
・アプリケーションサーバー：ログイン、予約、注文などの処理を動かす実行基盤（貼り付けの記載）。
【成立条件・例外】
小さな構成では、1つのソフトが両方の役を兼ねることもあります（例：Tomcatには簡単なWebサーバー機能もあります）。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（スライド32／資料の該当箇所：アプリケーションサーバー「質問14・15」）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左の列が項目、真ん中がWebサーバー、右がアプリケーションサーバーです。
【身近な例】
お店にたとえると、Webサーバーは「受付カウンター」、アプリケーションサーバーは「厨房」です。
【よくある誤解】
呼び名は違っても、実際には1つの製品が両方の働きを持つ場合があります。役割で考えると整理できます。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（スライド33／資料の該当箇所：アプリケーションサーバー「用語の表」）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・Webサーバー：ブラウザーなどからの要求を受け、Webページやデータを返すソフトウェア。
・アプリケーションサーバー：Webアプリなどの処理を動かす実行基盤。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・Tomcat（トムキャット）：JavaのWebアプリを動かすためのソフトウェア。厳密にはサーブレットコンテナです。
・WebLogic（ウェブロジック）：Oracleの企業向けJavaアプリケーションサーバー。　【補足】貼り付けの記載：TomcatはJavaのWeb関連仕様を実装するソフトウェア。質問ではアプリケーションサーバーの欄にまとめられているが、WebLogicとは機能の範囲が異なる。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・Jetty（ジェッティ）：JavaのWebサーバー・サーブレットコンテナ。アプリに組み込んで使うこともできます。
・サーブレット：サーバー側でWebからの要求を処理するJavaの仕組み。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・デプロイ（配置）：作ったアプリを、動かす環境に配置して使える状態にすること。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5つの段階を左から右へ進みます。
【処理の詳細】
・作る：プログラムを書く。
・まとめる：サーバーで動かせる形（ファイルのまとまり）にする。
・配置する：サーバーの決められた場所に置く（デプロイ）。
・起動する：アプリを動かす。
・確認する：ブラウザーなどから操作し、動作を確かめる。
【成立条件・例外】
デプロイは、公開だけでなく更新のときにも行います。失敗したとき前の状態へ戻す手順（切り戻し）も大切です。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（スライド38／資料の該当箇所：アプリケーションサーバー「デプロイ」）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表は貼り付けの記載のとおりです。右の「例」が、イメージをつかむ手がかりです。
【処理の詳細】
・仮想化：1台の物理コンピューターの上に、ソフトウェアで複数の仮想コンピューターを作る技術。
・コンテナ：アプリと必要な部品をまとめ、隔離した環境で動かす仕組み。通常はOSの中心部分を共有する。
・プライベートクラウド：特定の組織専用のクラウド環境。自社設備や外部の専用環境などに構築する。
【よくある誤解】
仮想マシンは通常、それぞれにOSを持ちます。コンテナはOSの中心部分を共有する方式なので、構成や起動の仕方が異なります（貼り付けの記載）。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（スライド39／資料の該当箇所：仮想化・コンテナ・プライベートクラウド「質問16・17」）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左がVM、右がコンテナです。下から上へ、土台→実行基盤→アプリの順に積み重なります。
【処理の詳細】
・VM：ハイパーバイザーの上に、OSを持つ仮想マシンを複数動かす。OSを丸ごと持つぶん、分離が強い一方で大きい。
・コンテナ：1つのOSの上に、コンテナエンジン（Dockerなど）を置き、アプリごとの隔離した環境を動かす。OSの中心部分（カーネル）を共有するため軽い。
・Dockerは、アプリを隔離した環境（コンテナ）で動かす仕組みを提供します[D02]。
【よくある誤解】
コンテナは「小さなVM」ではありません。OSの中心部分を共有している点が根本的に違います。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[D02] Docker公式ドキュメント：What is Docker?
    https://docs.docker.com/get-started/docker-overview/
確認時点：原資料の記載は2026年9月30日〜10月1日（日本時間）。変わりやすい情報（価格・製品・採用条件）は最新の公式ページで再確認してください。
（スライド40／資料の該当箇所：仮想化・コンテナ「仮想マシンとコンテナの違い」）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・仮想マシン／VM：仮想化で作ったコンピューター。
・ハイパーバイザー：仮想マシンを作り、CPUやメモリなどを割り当てる仕組み。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・Docker（ドッカー）：コンテナを作成・実行するための製品・ツール群。　【補足】Dockerは、コンテナによるアプリの開発・実行を支えます（貼り付けの記載）[D02]。
・Kubernetes（クバネティス）：多数のコンテナの配置や運用を管理・自動化する仕組み。　【補足】Kubernetesは、コンテナ化したアプリの管理を担います（貼り付けの記載）。公式資料では、スケーリングや障害時の復旧（フェイルオーバー）を扱うと説明されています[D03]。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[D02] Docker公式ドキュメント：What is Docker?
    https://docs.docker.com/get-started/docker-overview/
[D03] Kubernetes公式ドキュメント：Overview
    https://kubernetes.io/docs/concepts/overview/
確認時点：原資料の記載は2026年9月30日〜10月1日（日本時間）。変わりやすい情報（価格・製品・採用条件）は最新の公式ページで再確認してください。
（スライド42／資料の該当箇所：ご提供の用語解説（用語の表））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・VMware（ヴイエムウェア）：仮想化関連の製品群として知られる名称。ESXiやvSphereなどがあります。
・OpenStack（オープンスタック）：サーバー・ストレージ・ネットワークをまとめて管理し、クラウド環境を構築するソフトウェア群。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・KVM（ケーブイエム）：Linuxに組み込まれた仮想化技術。
・Hyper-V（ハイパーブイ）：Microsoftの仮想化技術。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左の列が種類、真ん中が製品名、右が役割です。
【処理の詳細】
・ハイパーバイザー系：VMware（ESXi・vSphere）、KVM、Hyper-V。
・コンテナ：Docker。コンテナ管理：Kubernetes。
・クラウド基盤ソフト：OpenStack。
【成立条件・例外】
1つの製品が複数の役割を持つ場合もあります。ここでは代表的な役割で分けています。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（スライド45／資料の該当箇所：仮想化・コンテナ「用語の表」）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左から右へ、下の設備から利用者へ向かう流れです。
【処理の詳細】
・物理サーバーを用意する。
・KVMなどで仮想化し、VMを作れるようにする。
・OpenStackなどで、サーバー・保存・ネットワークをまとめて管理する。
・社員が必要な仮想サーバーを申し込んで使う（貼り付けの記載）。
【成立条件・例外】
これは構成の一例です。VMwareなどの製品を使う構成もあります。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（スライド46／資料の該当箇所：仮想化・コンテナ「プライベートクラウド」）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3つのカードが代表的なクラウドです。どれも、一つのアプリの名前ではなく、さまざまなIT機能を提供するサービス群です（貼り付けの記載）。
【処理の詳細】
・AWS：サーバー、保存設備、データベース、AIなど。
・Azure：サーバー、データベース、企業の認証、AIなど。
・Google Cloud：サーバー、データ分析、データベース、AIなど。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（スライド47／資料の該当箇所：クラウド「質問18・19」）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左の列が比べる観点です。貼り付けの学び方：プライベートクラウドとの設備・利用者・管理の違いを学ぶ。
【処理の詳細】
・パブリッククラウド：提供会社が、多数の顧客向けに提供するクラウド。
・プライベートクラウド：特定の組織専用のクラウド環境。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（スライド48／資料の該当箇所：クラウド「パブリッククラウド」＋仮想化「プライベートクラウド」）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表は、4つの利用形態で「自分が管理するもの」と「提供会社が管理するもの」を比べた一般的な目安です。
【用語】
・マネージドサービス：運用作業の一部を提供会社が担当するサービス。担当範囲はサービスによって違う（貼り付けの記載）。
【よくある誤解】
提供会社が設備を管理してくれても、利用者側の権限設定や公開設定を誤れば問題が起こります。データの扱いと設定は、どの形態でも自分の責任が残ります。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（スライド49／資料の該当箇所：クラウド「マネージドサービス」）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・AWS（エーダブリューエス）：Amazon Web Services。Amazonのクラウド。
・Azure（アジュール）：Microsoftのクラウド。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・Google Cloud：Googleのクラウド。
・クラウドの仮想サーバー：クラウド上で利用する仮想コンピューター。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・クラウドストレージ：クラウド上の保存機能。
・マネージドサービス：運用作業の一部を提供会社が担当するサービス。担当範囲はサービスによって違います。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・パブリッククラウド：提供会社が、多数の顧客向けに提供するクラウド。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4つの手順が、安全に練習するための習慣です。
【処理の詳細】
・無料枠でも料金が発生する条件がある。期間・対象のサービス・利用量の上限を確認する。
・予算の通知は、必ずしも利用や課金を自動停止する機能ではない（貼り付けの記載）。
・練習後は不要な資源（仮想サーバー、保存したデータ、ネットワーク設定など）を削除する。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（スライド54／資料の該当箇所：クラウド「個人でクラウドを操作する場合」）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貼り付けの記載：この質問の文脈では、Google Driveにファイルを保存した経験だけより、仮想サーバーやクラウドサービスを設定・利用した経験が主に想定されていると考えられる。
【成立条件・例外】
「考えられる」という表現のとおり、質問の意図の推測です。質問票の正式な文面や注記が確認できる場合は、それに従ってください。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（スライド55／資料の該当箇所：クラウド「質問の文脈」）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外側の枠が広い分野（AI）、内側が一部（機械学習）、さらにその例です。
【用語】
・AI／人工知能：認識、予測、文章生成など、知的な処理をコンピューターで実現する技術分野。
・Machine Learning／機械学習：データからパターンを学び、予測や分類を行う方法。AIの一分野（貼り付けの記載）。
【よくある誤解】
AIは「ChatGPTのようなもの」だけを指す言葉ではありません。画像認識や予測など、さまざまな技術を含みます。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（スライド56／資料の該当箇所：研究・独学「AI・機械学習」）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・AI／人工知能：認識、予測、文章生成など、知的な処理をコンピューターで実現する技術分野。
・機械学習（Machine Learning）：データからパターンを学び、予測や分類を行う方法。AIの一分野です。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・自動化：人が繰り返している作業を、プログラムなどに実行させること。
・スマートフォン用アプリ開発（iPhone／Android）：スマートフォンで動くアプリを作ること。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・Windows用アプリ開発：Windowsで動くアプリを作ること。
・Linux用アプリ開発：Linuxで動くプログラムを作ること。画面付きに限りません。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・IoT（アイオーティー）：Internet of Things。「モノ」をネットワークにつなぎ、情報取得や制御を行う仕組み。
・PCを自作して使用：CPU、メモリ、保存装置などを選び、PCを組み立てて使うこと。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左から右へ、情報が流れる順です。貼り付けの学び方：センサー付きの小さな機器で温度などを取得し、PCに表示する。
【処理の詳細】
・センサー：温度・明るさなどを測る部品。
・小型コンピューター：センサーの値を読み取り、通信できる形にする（マイコン・Raspberry Piなど）。
・通信：Wi-Fiなどで送る。
・保存・表示：PCやクラウドで保存し、グラフなどで見る。
【成立条件・例外】
経験を書くときは、機器・センサー、取得した情報、通信や表示の仕組みを分けて書きます（貼り付けの記載）。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（スライド61／資料の該当箇所：研究・独学「IoT」）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表は、PCの主な部品と役割です。貼り付けの学び方：部品の役割と互換性を学び、構成を考えて組み立て、OSを導入する。
【処理の詳細】
・互換性の例：CPUとマザーボードの接続部の形が合うか。メモリの規格がマザーボードに合うか。電源の容量が足りるか。
【補足】
ストレージの部品（SSD・M.2・NVMeなど）は、ストレージの章を参照してください。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（スライド62／資料の該当箇所：研究・独学「PCを自作して使用」）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左が活動、右が書くとよい内容です。本文は貼り付けの記載のとおりです。
【なぜ重要か】
「何を使ったか」だけでなく「どう確認したか」「どこを担当したか」まで書くと、経験の中身が伝わります。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（スライド63／資料の該当箇所：研究・独学「経験の記述」）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左が「場」、右が「形」です。たとえば「国内学会でポスター発表をした」のように組み合わせます。
【処理の詳細】
・場：学内で発表／国内学会発表／海外学会発表。
・形：口頭発表（話して説明）／ポスター発表（紙面で説明）。
【成立条件・例外】
質問には「卒業までの予定・見込み」も含まれています。例えば、卒業研究発表が予定されているなら、その予定を書けます（貼り付けの記載）。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（スライド64／資料の該当箇所：プレゼン・学会発表「質問22・23」）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・プレゼンテーション：考えや成果を、資料や口頭説明で相手に伝えること。
・学内で発表：学校内で行う発表。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・国内学会発表：日本国内の学会や研究集会で、研究成果を発表すること。
・海外学会発表：海外開催の学会などで研究成果を発表すること。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・学会：特定の学問分野について、研究者などが成果を共有・議論する団体や、その集まり。
・口頭発表：聴衆の前で、話して説明する発表形式。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・ポスター発表：大きな紙面などに研究をまとめ、来場者に説明する形式。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左から右へ、4つの段階です。貼り付けの学び方：「目的・方法・結果・考察」の順に整理し、時間内で説明する練習をする。
【処理の詳細】
・目的：何を明らかにしたいか。
・方法：どうやって調べたか。
・結果：何が分かったか。
・考察：結果から何が言えるか、次に何をするか。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（スライド69／資料の該当箇所：プレゼン「学び方・準備方法」）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左の列が観点です。貼り付けの学び方（口頭：制限時間を計って練習／ポスター：要点を図や表で整理し、短い説明と詳しい説明を準備）を軸に整理しました。
【よくある誤解】
「向く場面」は一般的な目安で、学会ごとに運営方法が違います。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（スライド70／資料の該当箇所：プレゼン「口頭発表・ポスター発表」）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上が国家試験の段階、下がMOSです。IPAの区分では、ITパスポートがレベル1、基本情報がレベル2、応用情報がレベル3とされています[D05]。
【成立条件・例外】
試験の制度・名称・内容は変更されることがあります。受験前に必ず公式の案内を確認してください。
【よくある誤解】
IPAの国家試験と、Officeの操作技能を測るMOSでは、対象となる能力が異なります（貼り付けの記載）。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（スライド71／資料の該当箇所：IT系の資格「質問24」）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・ITパスポート：IT、経営、管理などの基礎知識を扱う国家試験。
・基本情報技術者：IT技術者向けの基礎知識・技能を扱う国家試験。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（スライド72／資料の該当箇所：ご提供の用語解説（用語の表））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・応用情報技術者：基本より広く、深い技術・管理・経営の知識を扱う国家試験。
・MOS（Microsoft Office Specialist）：WordやExcelなどの操作スキルを証明する資格。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（スライド73／資料の該当箇所：ご提供の用語解説（用語の表））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3つの注意点は、貼り付けの記載のとおりです。
【処理の詳細】
・フォームの「基本情報処理技術者」「応用情報処理技術者」は、通常、正式名称の基本情報技術者試験・応用情報技術者試験を指していると考えられる。
・勉強中であることと、資格を取得していることは別なので、取得資格の欄では区別する。
・IPAの国家試験と、Officeの操作技能を測るMOSでは、対象となる能力が異なる。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（スライド74／資料の該当箇所：IT系の資格「質問24」）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・Excelでの集計：表計算ソフトでデータを整理・計算する。
・HTML（エイチティーエムエル）：Webページの文章や見出しなどの構造を書く言語。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・CSS（シーエスエス）：Webページの色、文字、配置などを指定する言語。
・Git（ギット）：ファイルやプログラムの変更履歴を管理する仕組み。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・GitHub（ギットハブ）：Gitを使うプロジェクトを共有・共同作業するサービス。
・データ分析：データを整理し、傾向や関係を調べること。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・ログ：システムの動作やエラーなどの記録。
・バックアップ：データを失った場合に戻せるよう、別のコピーを保存すること。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左がHTML（見出しと段落の構造）、右がCSS（見出しの色と大きさ）です。
【処理の詳細】
・HTML：&lt;h1&gt;は見出し、&lt;p&gt;は段落を表す印（タグ）。
・CSS：「h1の文字色を青にする」のような見た目の指示。
【自分でやってみる】
自己紹介ページをHTMLで作り、CSSで色や文字の大きさを変えてみます（貼り付けの学び方）。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（スライド79／資料の該当箇所：その他のIT経験「HTML・CSS」）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左から右へ、変更を記録して共有する流れです。
【処理の詳細】
・編集する：ファイルやプログラムを変更する。
・記録する（commit）：その時点の状態をGitに保存する。
・送る（push）：記録をGitHubへ送る。
・共有・共同作業：他の人も同じ履歴を見て、続きの作業ができる。
【自分でやってみる】
自分の小さな制作物をGitHubに登録し、変更履歴を管理します（貼り付けの学び方）。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（スライド80／資料の該当箇所：その他のIT経験「Git・GitHub」）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左のPCから右の会社へ、自宅の機器と回線を通る道すじです。矢印の上が、つなぎ方・回線の種類です。
【処理の詳細】
・PC→ルーター：有線LAN（LANケーブル）またはWi-Fi（電波）。
・ルーター→インターネット：固定回線（光回線・ケーブルテレビ回線など）。
・インターネット→会社：オンライン会議や社内システムへの接続。
【成立条件・例外】
貼り付けの記載：リモート就業の用語は、技術力ではなく、自宅から仕事に使える接続環境があるかを聞いています。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（スライド81／資料の該当箇所：リモート就業のネットワーク環境「質問26」）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・リモート就業：自宅など、勤務先のオフィス以外から働くこと。
・固定回線：自宅など特定の場所に引いて利用する通信回線。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・光回線：光ファイバーを使う通信回線。
・ケーブルテレビ回線：ケーブルテレビ事業者が提供するインターネット回線。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・有線LAN：LANケーブルでPCとルーターなどをつなぐ方式。
・Wi-Fi：電波を使って機器をネットワークにつなぐ方式。　【補足】貼り付けは、この行の「電波を使って機器をネットワークにつなぐ」の途中で終わっているため、残りは補足です。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左が確認する項目、右が確認の方法です。Wi-Fiの行は、貼り付けが途中で終わっているため補足です。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（スライド85／資料の該当箇所：リモート就業「確認方法」）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左が問い、右が答えのヒントです。先に右を隠して答えてから確認すると効果的です。
【なぜ重要か】
用語は、他の人に説明できて初めて「分かった」といえます。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（スライド86／資料の該当箇所：理解の確認）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（スライド87／資料の該当箇所：理解の確認）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左が確認できたこと、右が確認できていないことです。
【処理の詳細】
・確認できた：貼り付けられた用語の意味・用途・学び方・表・注意点。公式資料でも、PostgreSQLの入門、Dockerの概要、Kubernetesの概要、Amazon S3の概要、IPAの試験レベルの区分を確認した。
・確認できていない：貼り付けの範囲外（ストレージの表の前半、質問26の最後のWi-Fiの続きなど）。質問票そのものの正式な文面。各製品の最新の版・機能・料金。
【成立条件・例外】
貼り付けられた文章は、本人が貼り付けたものをそのまま使っており、元の文書との照合はしていません。
【情報の区分】
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（スライド88／資料の該当箇所：確認状況）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【出典の読み方】
U＝貼り付けられた質問票用語解説、G＝編集者による補足、D＝公式ドキュメントなど。本文のスライド下部の[U01]などの番号に対応します。
URLは各出典のURL欄にあります。公式ページの一部は、制作環境から直接開けず、検索結果の概要で確認しました。製品・試験の内容は変わることがあります。
【情報の区分】
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[D02] Docker公式ドキュメント：What is Docker?
    https://docs.docker.com/get-started/docker-overview/
[D03] Kubernetes公式ドキュメント：Overview
    https://kubernetes.io/docs/concepts/overview/
[D04] AWS公式ドキュメント：What is Amazon S3?
    https://docs.aws.amazon.com/AmazonS3/latest/userguide/Welcome.html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（スライド89／資料の該当箇所：出典）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9FB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IT用語のやさしい解説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234440"/>
            <a:ext cx="7589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ja-JP" alt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ITスキル質問票の</a:t>
            </a:r>
            <a:endParaRPr lang="en-US" sz="4400" dirty="0"/>
          </a:p>
          <a:p>
            <a:pPr algn="l" indent="0" marL="0">
              <a:lnSpc>
                <a:spcPts val="5800"/>
              </a:lnSpc>
              <a:buNone/>
            </a:pPr>
            <a:r>
              <a:rPr lang="ja-JP" alt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用語ガイド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77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質問12〜26の用語を、図と表で「意味・たとえ・使いどころ・学び方」まで解説します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0292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9FB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本文は貼り付けていただいた質問票の解説に基づきます。貼り付けは途中から始まり途中で終わるため、範囲外の部分は含みません。学習用の独自教材です。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732520" y="50292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2F6BC2"/>
          </a:solidFill>
          <a:ln/>
        </p:spPr>
      </p:sp>
      <p:sp>
        <p:nvSpPr>
          <p:cNvPr id="8" name="Shape 5"/>
          <p:cNvSpPr/>
          <p:nvPr/>
        </p:nvSpPr>
        <p:spPr>
          <a:xfrm>
            <a:off x="8860536" y="640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1237" y="7607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500616" y="5029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8732520" y="150876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237A48"/>
          </a:solidFill>
          <a:ln/>
        </p:spPr>
      </p:sp>
      <p:sp>
        <p:nvSpPr>
          <p:cNvPr id="12" name="Shape 8"/>
          <p:cNvSpPr/>
          <p:nvPr/>
        </p:nvSpPr>
        <p:spPr>
          <a:xfrm>
            <a:off x="8860536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1237" y="17666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00616" y="150876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732520" y="251460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5B46B8"/>
          </a:solidFill>
          <a:ln/>
        </p:spPr>
      </p:sp>
      <p:sp>
        <p:nvSpPr>
          <p:cNvPr id="16" name="Shape 11"/>
          <p:cNvSpPr/>
          <p:nvPr/>
        </p:nvSpPr>
        <p:spPr>
          <a:xfrm>
            <a:off x="8860536" y="2651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237" y="27724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500616" y="25146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8732520" y="352044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0B7A7A"/>
          </a:solidFill>
          <a:ln/>
        </p:spPr>
      </p:sp>
      <p:sp>
        <p:nvSpPr>
          <p:cNvPr id="20" name="Shape 14"/>
          <p:cNvSpPr/>
          <p:nvPr/>
        </p:nvSpPr>
        <p:spPr>
          <a:xfrm>
            <a:off x="8860536" y="36576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237" y="377830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500616" y="3520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8732520" y="452628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0369A1"/>
          </a:solidFill>
          <a:ln/>
        </p:spPr>
      </p:sp>
      <p:sp>
        <p:nvSpPr>
          <p:cNvPr id="24" name="Shape 17"/>
          <p:cNvSpPr/>
          <p:nvPr/>
        </p:nvSpPr>
        <p:spPr>
          <a:xfrm>
            <a:off x="8860536" y="4663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237" y="478414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500616" y="452628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8732520" y="5532120"/>
            <a:ext cx="3017520" cy="822960"/>
          </a:xfrm>
          <a:prstGeom prst="roundRect">
            <a:avLst>
              <a:gd name="adj" fmla="val 13333"/>
            </a:avLst>
          </a:prstGeom>
          <a:solidFill>
            <a:srgbClr val="4D7C0F"/>
          </a:solidFill>
          <a:ln/>
        </p:spPr>
      </p:sp>
      <p:sp>
        <p:nvSpPr>
          <p:cNvPr id="28" name="Shape 20"/>
          <p:cNvSpPr/>
          <p:nvPr/>
        </p:nvSpPr>
        <p:spPr>
          <a:xfrm>
            <a:off x="8860536" y="5669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1237" y="5789981"/>
            <a:ext cx="307238" cy="30723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500616" y="553212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この資料で学ぶ10のテーマ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質問票に出てくる用語を、10のテーマに分けて説明します。色はテーマごとに変わります。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2F6BC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67128" y="178308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237A4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258568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05656" y="178308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5B46B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97096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415784" y="178308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0B7A7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07224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811512" y="1783080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0369A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902952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57200" y="2350008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研究・独学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167128" y="2350008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A21C5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258568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発表・学会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877056" y="2350008"/>
            <a:ext cx="1197864" cy="457200"/>
          </a:xfrm>
          <a:prstGeom prst="roundRect">
            <a:avLst>
              <a:gd name="adj" fmla="val 24000"/>
            </a:avLst>
          </a:prstGeom>
          <a:solidFill>
            <a:srgbClr val="4D7C0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968496" y="2350008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184648" y="2350008"/>
            <a:ext cx="2112264" cy="457200"/>
          </a:xfrm>
          <a:prstGeom prst="roundRect">
            <a:avLst>
              <a:gd name="adj" fmla="val 24000"/>
            </a:avLst>
          </a:prstGeom>
          <a:solidFill>
            <a:srgbClr val="47556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276088" y="23500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その他のIT経験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406640" y="2350008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7C4A1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98080" y="23500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リモート就業環境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57200" y="2962656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273552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188720" y="3008376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貼り付けは途中から途中までです。ストレージの前半や、質問26の最後（Wi-Fiの続き）は含まれていません。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457200" y="3995928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188720" y="4041648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各用語は「意味」だけでなく、「たとえ」「主な用途」「最初の学び方」まで書き、図や表で補います。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テーマ①〜⑤の用語マップ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前半の5テーマと、そこで説明する主な用語です。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933930"/>
                <a:gridCol w="834336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ストレージ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メモリ・ストレージ・ファイルシステム・NAS・SAN・RAID・NVMe・S3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データベース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DB・DBMS・RDB・SQL・Oracle・PostgreSQL・MySQL・MongoDB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アプリケーションサーバー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Webサーバー・アプリケーションサーバー・Tomcat・デプロイ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仮想化・コンテナ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VM・ハイパーバイザー・Docker・Kubernetes・VMware・KVM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AWS・Azure・Google Cloud・仮想サーバー・マネージドサービス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テーマ⑥〜⑩の用語マップ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後半の5テーマと、そこで説明する主な用語です。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933930"/>
                <a:gridCol w="834336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主な用語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研究・独学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AI・機械学習・自動化・アプリ開発・IoT・PC自作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発表・学会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プレゼン・学会・口頭発表・ポスター発表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IT資格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ITパスポート・基本情報・応用情報・MOS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その他のIT経験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Excel・HTML・CSS・Git・GitHub・データ分析・ログ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リモート就業環境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固定回線・光回線・有線LAN・Wi-Fi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用語カードの読み方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各用語は同じ形のカードで説明します。上から順に読むと、イメージから実際の使い方までつながります。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2682164" cy="2249424"/>
          </a:xfrm>
          <a:prstGeom prst="roundRect">
            <a:avLst>
              <a:gd name="adj" fmla="val 5691"/>
            </a:avLst>
          </a:prstGeom>
          <a:solidFill>
            <a:srgbClr val="DCE8F8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29384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587752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その言葉が何のことか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短く正確に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322244" y="1783080"/>
            <a:ext cx="2682164" cy="2249424"/>
          </a:xfrm>
          <a:prstGeom prst="roundRect">
            <a:avLst>
              <a:gd name="adj" fmla="val 5691"/>
            </a:avLst>
          </a:prstGeom>
          <a:solidFill>
            <a:srgbClr val="FDEBD0"/>
          </a:solidFill>
          <a:ln/>
        </p:spPr>
      </p:sp>
      <p:sp>
        <p:nvSpPr>
          <p:cNvPr id="14" name="Shape 10"/>
          <p:cNvSpPr/>
          <p:nvPr/>
        </p:nvSpPr>
        <p:spPr>
          <a:xfrm>
            <a:off x="3505124" y="192938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48" y="20541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90924" y="1929384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505124" y="2587752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身近なものに置き換える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倉庫・机・窓口など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6187288" y="1783080"/>
            <a:ext cx="2682164" cy="2249424"/>
          </a:xfrm>
          <a:prstGeom prst="roundRect">
            <a:avLst>
              <a:gd name="adj" fmla="val 5691"/>
            </a:avLst>
          </a:prstGeom>
          <a:solidFill>
            <a:srgbClr val="DDF1E4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0168" y="192938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892" y="2054108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55968" y="1929384"/>
            <a:ext cx="16306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6370168" y="2587752"/>
            <a:ext cx="23164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どんな場面で使うか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具体的な使い道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9052331" y="1783080"/>
            <a:ext cx="2682164" cy="2249424"/>
          </a:xfrm>
          <a:prstGeom prst="roundRect">
            <a:avLst>
              <a:gd name="adj" fmla="val 5691"/>
            </a:avLst>
          </a:prstGeom>
          <a:solidFill>
            <a:srgbClr val="D9F2F1"/>
          </a:solidFill>
          <a:ln/>
        </p:spPr>
      </p:sp>
      <p:sp>
        <p:nvSpPr>
          <p:cNvPr id="24" name="Shape 18"/>
          <p:cNvSpPr/>
          <p:nvPr/>
        </p:nvSpPr>
        <p:spPr>
          <a:xfrm>
            <a:off x="9235211" y="192938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936" y="2054108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921011" y="1929384"/>
            <a:ext cx="1630604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235211" y="2758440"/>
            <a:ext cx="2316404" cy="120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まず何をすればよいか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小さな実習の例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457200" y="4187952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94360" y="4279392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379976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88720" y="4233672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「補足」ラベルは、貼り付けた資料の表にはなく、一般的な説明で補った用語や項目です。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メモリは作業机、ストレージは倉庫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データを置く場所は2種類あります。役割が違うので、最初に区別します。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16324F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543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25296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計算する頭脳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91759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69229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作業中のデータ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383938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6" name="Shape 12"/>
          <p:cNvSpPr/>
          <p:nvPr/>
        </p:nvSpPr>
        <p:spPr>
          <a:xfrm>
            <a:off x="4511954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55" y="25438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52034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作業机（一時）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844333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6619037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出し入れ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8310677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22" name="Shape 17"/>
          <p:cNvSpPr/>
          <p:nvPr/>
        </p:nvSpPr>
        <p:spPr>
          <a:xfrm>
            <a:off x="8438693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94" y="254386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78773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倉庫（長期保存）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55848"/>
          <a:ext cx="11277295" cy="914400"/>
        </p:xfrm>
        <a:graphic>
          <a:graphicData uri="http://schemas.openxmlformats.org/drawingml/2006/table">
            <a:tbl>
              <a:tblPr/>
              <a:tblGrid>
                <a:gridCol w="2017077"/>
                <a:gridCol w="4584266"/>
                <a:gridCol w="46759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ストレージ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作業中のデータを一時的に置く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データを長期に保存する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速さと容量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速い・容量は小さめ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遅め・容量は大きい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電源を切ると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消える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DRAM（PCのメモリ）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SSD・HDD・USBメモリ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データの保存は3つのやり方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保存の方式は、ファイル・ブロック・オブジェクトの3つで整理できます。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3637178" cy="2313432"/>
          </a:xfrm>
          <a:prstGeom prst="roundRect">
            <a:avLst>
              <a:gd name="adj" fmla="val 5534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587752"/>
            <a:ext cx="327141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フォルダーの中のファイル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名前で出し入れ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例：PCのフォルダー・NASの共有フォルダー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277258" y="1783080"/>
            <a:ext cx="3637178" cy="2313432"/>
          </a:xfrm>
          <a:prstGeom prst="roundRect">
            <a:avLst>
              <a:gd name="adj" fmla="val 5534"/>
            </a:avLst>
          </a:prstGeom>
          <a:solidFill>
            <a:srgbClr val="D9F2F1"/>
          </a:solidFill>
          <a:ln/>
        </p:spPr>
      </p:sp>
      <p:sp>
        <p:nvSpPr>
          <p:cNvPr id="15" name="Shape 11"/>
          <p:cNvSpPr/>
          <p:nvPr/>
        </p:nvSpPr>
        <p:spPr>
          <a:xfrm>
            <a:off x="4460138" y="192938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2054108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45938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460138" y="2587752"/>
            <a:ext cx="327141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ディスクの区画として扱う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上にOS・DBが仕組みを作る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例：SANのディスク領域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097317" y="1783080"/>
            <a:ext cx="3637178" cy="2313432"/>
          </a:xfrm>
          <a:prstGeom prst="roundRect">
            <a:avLst>
              <a:gd name="adj" fmla="val 5534"/>
            </a:avLst>
          </a:prstGeom>
          <a:solidFill>
            <a:srgbClr val="FDEBD0"/>
          </a:solidFill>
          <a:ln/>
        </p:spPr>
      </p:sp>
      <p:sp>
        <p:nvSpPr>
          <p:cNvPr id="20" name="Shape 15"/>
          <p:cNvSpPr/>
          <p:nvPr/>
        </p:nvSpPr>
        <p:spPr>
          <a:xfrm>
            <a:off x="8280197" y="192938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2054108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5997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8280197" y="2587752"/>
            <a:ext cx="327141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名前＋付加情報つきで保存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大量データ向け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例：Amazon S3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57200" y="4251960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4462272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5628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4297680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貼り付けの説明：NASは主に共有ファイル、SANは主にディスクに相当する保存領域、S3はオブジェクトストレージ。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NASとSANの違いを図で見る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どちらも「ネットワークでつなぐ保存装置」です。サーバーから見える姿が違います。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" y="18745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944929"/>
            <a:ext cx="179222" cy="1792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96696" y="1783080"/>
            <a:ext cx="10646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NAS：共有フォルダーとして使う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48640" y="2441448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PC・サーバー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フォルダーを開く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917594" y="2944368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383938" y="2441448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47556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475378" y="2441448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普通のLAN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844333" y="2944368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310677" y="2441448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402117" y="2441448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共有フォルダーを提供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57200" y="3602736"/>
            <a:ext cx="11277295" cy="502920"/>
          </a:xfrm>
          <a:prstGeom prst="roundRect">
            <a:avLst>
              <a:gd name="adj" fmla="val 18182"/>
            </a:avLst>
          </a:prstGeom>
          <a:solidFill>
            <a:srgbClr val="0B7A7A"/>
          </a:solidFill>
          <a:ln/>
        </p:spPr>
      </p:sp>
      <p:sp>
        <p:nvSpPr>
          <p:cNvPr id="22" name="Shape 18"/>
          <p:cNvSpPr/>
          <p:nvPr/>
        </p:nvSpPr>
        <p:spPr>
          <a:xfrm>
            <a:off x="585216" y="3694176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5" y="3764585"/>
            <a:ext cx="179222" cy="17922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96696" y="3602736"/>
            <a:ext cx="106463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SAN：ディスクとして使う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457200" y="4261104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548640" y="4261104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自分のディスクとして認識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3917594" y="4764024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4383938" y="4261104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47556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475378" y="4261104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保存用のネットワーク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844333" y="4764024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8310677" y="4261104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402117" y="4261104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ストレージ装置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ディスク領域を提供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用語カード①：メモリとストレージ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まず基本の2つ。この区別が、ほかの用語の土台になります。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RAM・主記憶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67148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計算中のデータを一時的に置く、速くて小さな置き場。電源を切ると消える。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作業机。広いほど、一度に広げて作業できる。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アプリやOSが動くとき、読み込んだデータを置く。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タスクマネージャーで使用中のメモリ量を見る。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記憶装置（SSD・HDDなど）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93028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データを長期に保存する置き場。電源を切っても残る。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倉庫。たくさんしまえるが、出し入れは作業机より遅い。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写真・文書・アプリ・OSの保存。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自分のPCのストレージの種類（SSD／HDD）と空き容量を確認する。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用語カード②：ファイルシステムとブロック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「データの整理のルール」と「ディスクの区画」。どちらも、保存の土台の用語です。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4548632"/>
          </a:xfrm>
          <a:prstGeom prst="roundRect">
            <a:avLst>
              <a:gd name="adj" fmla="val 2814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FAT・ext4・APFSなど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67148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16352"/>
            <a:ext cx="5158588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ストレージの中で、データをファイルとフォルダーの形に整理して出し入れするための決まり（形式）。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図書館の本棚のルール。FATは多くの機器、ext4はLinux、APFSはApple製品で使われる。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USBメモリやSSDを使える状態にする（初期化・フォーマット）。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USBメモリなどの形式を確認し、容量・権限・対応OSの違いを学ぶ。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0148" y="1783080"/>
            <a:ext cx="5524348" cy="4548632"/>
          </a:xfrm>
          <a:prstGeom prst="roundRect">
            <a:avLst>
              <a:gd name="adj" fmla="val 2814"/>
            </a:avLst>
          </a:prstGeom>
          <a:solidFill>
            <a:srgbClr val="DCE8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ブロックストレージ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ディスクのような領域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ストレージを一定の大きさの区画（ブロック）に分け、ディスクとして扱う方式。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空っぽの倉庫の区画を借りる。何をどう並べるかは借りた側（OS・DB）が決める。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SANが提供するディスク領域。データベースや仮想マシンの保存。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仮想マシンにディスクを追加し、ファイルシステムを作って使う。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用語カード③：オブジェクトとS3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名前を付けて大量に預ける方式と、その代表的なサービスです。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データを、識別する名前や付加情報と一緒に「オブジェクト」として保存する仕組み。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荷物に名札（名前とメモ）を付けて、巨大な倉庫に預ける。名札で取り出す。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大量の写真、動画、バックアップ、分析用データ。Amazon S3など。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学習用環境で保存場所を作り、ファイルの保存・取得・権限設定を試す。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エス・スリー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AmazonのクラウドAWSで使える、オブジェクトストレージのサービス。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「バケット」という入れ物を作り、名前（キー）を付けてデータを入れる。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写真・動画・バックアップ・分析用データの保存。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バケットを作り、保存・取得・公開範囲（権限）の設定を試す。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用語カード④：NASとSAN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名前が似た2つ。「共有フォルダー」と「ディスクのような領域」で区別します。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Network Attached Storage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67148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ネットワークにつなぎ、共有フォルダーとして使える保存装置。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会社の共有フォルダー。みんなが同じフォルダーを開ける。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部署のファイル共有、写真やバックアップの置き場。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共有フォルダーを作り、別のPCからネットワーク経由で開く。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CE8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Area Network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サーバーに「ディスク」として見える保存領域を、専用のネットワークで提供する仕組み。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サーバー内のディスクのように見えるが、実体は別の保存装置。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データベースや仮想化基盤など、速さと信頼性が必要な保存。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図で「サーバー→SAN→ストレージ装置」を描き、NASとの違いを説明する。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用語カード⑤：FCoEとRAID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どちらも「対応や仕組みの違い」に注意する用語です。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4348480"/>
          </a:xfrm>
          <a:prstGeom prst="roundRect">
            <a:avLst>
              <a:gd name="adj" fmla="val 2944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FCoE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Fibre Channel over Ethernet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67148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Fibre Channelの通信を、Ethernetに載せて運ぶ技術。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専用の高速道路の車を、一般道にも走らせる。対応した道路が必要。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SANの配線を一本化したい場面。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「対応した機器が必要」と覚え、Fibre Channelの用語を調べる。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0148" y="1783080"/>
            <a:ext cx="5524348" cy="4348480"/>
          </a:xfrm>
          <a:prstGeom prst="roundRect">
            <a:avLst>
              <a:gd name="adj" fmla="val 2944"/>
            </a:avLst>
          </a:prstGeom>
          <a:solidFill>
            <a:srgbClr val="DCE8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レイド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93028" y="2816352"/>
            <a:ext cx="5158588" cy="322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複数のドライブを組み合わせ、速さや故障への強さを高める技術。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同じ本を2冊持てば、1冊なくしても読める。ただし落書きは両方に付く。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サーバーやNASで、ドライブ故障に備える。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図でRAID 0・1・5の違いを描く。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バックアップの代わりにならない。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用語カード⑥：NVMeとM.2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名前が似て混同しやすい2つ。「通信の規格」と「部品の形」の違いです。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4046728"/>
          </a:xfrm>
          <a:prstGeom prst="roundRect">
            <a:avLst>
              <a:gd name="adj" fmla="val 3163"/>
            </a:avLst>
          </a:prstGeom>
          <a:solidFill>
            <a:srgbClr val="DCE8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エヌブイエムイー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067148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SSDを高速に使うために作られた、通信・制御の規格。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SSD専用の高速道路。従来の道路（SATA）より多くの車が同時に走れる。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高速なSSD、サーバー、AI基盤など。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自分のSSDがNVMeかSATAかを確認し、速度の違いを調べる。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0148" y="1783080"/>
            <a:ext cx="5524348" cy="4046728"/>
          </a:xfrm>
          <a:prstGeom prst="roundRect">
            <a:avLst>
              <a:gd name="adj" fmla="val 3163"/>
            </a:avLst>
          </a:prstGeom>
          <a:solidFill>
            <a:srgbClr val="DCE8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78828" y="1947672"/>
            <a:ext cx="36041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M.2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エムドットツー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93028" y="2816352"/>
            <a:ext cx="5158588" cy="292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小さな基板状の部品の形状と接続の規格。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コンセントの形。形が同じM.2でも、中身がNVMeのものとSATAのものがある。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ノートPCや小型PCのSSD取り付け。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PC説明書で、M.2スロットがNVMe・SATAのどちらに対応か確認する。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M.2だからといって、必ずNVMeとは限らない。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RAIDは故障対策、バックアップは別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RAIDはドライブが壊れても動き続ける仕組みです。誤って消したデータは戻せません。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1466965"/>
                <a:gridCol w="3850784"/>
                <a:gridCol w="2567189"/>
                <a:gridCol w="339235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しくみ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1台故障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ひとこと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複数台に分けて書く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✕ 全部失う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速いが耐性なし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同じデータを2台に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残る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容量は半分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5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分散＋誤り訂正情報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残る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3台以上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6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誤り訂正情報を2種類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2台まで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4台以上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 10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ミラー＋分散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組ごとに1台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4台以上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68172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47731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8737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72744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誤って消した・壊されたデータは、RAIDでは戻せません。バックアップは別に必要です。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混同しやすい4組を整理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似た名前の用語を並べると、違いがはっきりします。貼り付けの注意点をそのまま表にしました。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933930"/>
                <a:gridCol w="834336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混同しやすいもの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違い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メモリとストレージ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メモリは作業中の一時的な置き場、ストレージは長期保存の置き場です。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685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RAIDとバックアップ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RAIDは主にドライブ故障などへの対策。誤って消したデータや、破壊されたデータを戻すためのバックアップは別に必要です。RAID 0には故障への耐性もありません。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NVMeとM.2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NVMeは通信・制御の規格、M.2は部品の形状や接続形式の規格です。M.2だから必ずNVMeとは限りません。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ストレージとデータベース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ストレージはデータを保存する土台。データベースは、その上で情報を整理・検索・更新する仕組みです。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データベースはストレージの上で動く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データを保存する土台がストレージ、その上で情報を整理・検索するのがデータベースです。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注文を登録する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1710614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02254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3694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表として整理・検索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8096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65566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47308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38748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ファイルとして管理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826017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600721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292361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47556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383801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SSD・HDDに保存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335584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54787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88720" y="340156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例：注文表のデータは、データベースが整理して、最後はストレージ（SSDなど）に保存されます。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データベースは情報の整理棚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大量の情報を決まった形で整理し、必要なものを素早く取り出せるようにした仕組みです。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55459"/>
                <a:gridCol w="3383189"/>
                <a:gridCol w="338318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購入者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DF1E4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3456432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3581156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取り出す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田中さんの注文だけ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4277258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CE8F8"/>
          </a:solidFill>
          <a:ln/>
        </p:spPr>
      </p:sp>
      <p:sp>
        <p:nvSpPr>
          <p:cNvPr id="16" name="Shape 11"/>
          <p:cNvSpPr/>
          <p:nvPr/>
        </p:nvSpPr>
        <p:spPr>
          <a:xfrm>
            <a:off x="4460138" y="345643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3581156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45938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集計する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4460138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商品ごとの売上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8097317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FDEBD0"/>
          </a:solidFill>
          <a:ln/>
        </p:spPr>
      </p:sp>
      <p:sp>
        <p:nvSpPr>
          <p:cNvPr id="21" name="Shape 15"/>
          <p:cNvSpPr/>
          <p:nvPr/>
        </p:nvSpPr>
        <p:spPr>
          <a:xfrm>
            <a:off x="8280197" y="345643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3581156"/>
            <a:ext cx="317480" cy="317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5997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追加・変更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8280197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新しい注文を登録する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個数を変更する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表の見方：行は1件、列は項目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注文表を例に、データベースの「表」の読み方を確認します。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55459"/>
                <a:gridCol w="3383189"/>
                <a:gridCol w="338318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購入者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DF1E4"/>
          </a:solidFill>
          <a:ln/>
        </p:spPr>
      </p:sp>
      <p:sp>
        <p:nvSpPr>
          <p:cNvPr id="10" name="Shape 6"/>
          <p:cNvSpPr/>
          <p:nvPr/>
        </p:nvSpPr>
        <p:spPr>
          <a:xfrm>
            <a:off x="640080" y="3456432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3581156"/>
            <a:ext cx="317480" cy="3174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行（1件）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横の一並びが、1件の注文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4277258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CE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4460138" y="345643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3581156"/>
            <a:ext cx="317480" cy="317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45938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列（項目）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4460138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縦の並びが、同じ種類の項目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8097317" y="331012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FDEBD0"/>
          </a:solidFill>
          <a:ln/>
        </p:spPr>
      </p:sp>
      <p:sp>
        <p:nvSpPr>
          <p:cNvPr id="20" name="Shape 14"/>
          <p:cNvSpPr/>
          <p:nvPr/>
        </p:nvSpPr>
        <p:spPr>
          <a:xfrm>
            <a:off x="8280197" y="345643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3581156"/>
            <a:ext cx="317480" cy="317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65997" y="345643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8280197" y="411480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行を1つに決める値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例：注文番号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用語のつながりを図で見る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DB・DBMS・DBサーバー・SQLが、どうつながるかを1つの流れで整理します。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7" y="2543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25296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アプリ・利用者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依頼する側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91759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69229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SQLで依頼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383938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11954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55" y="25438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52034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管理ソフト（受付）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844333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6619037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読み書き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8310677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22" name="Shape 17"/>
          <p:cNvSpPr/>
          <p:nvPr/>
        </p:nvSpPr>
        <p:spPr>
          <a:xfrm>
            <a:off x="8438693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394" y="254386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78773" y="2194560"/>
            <a:ext cx="25642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表のデータ本体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57200" y="335584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54787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88720" y="340156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DBMSが動いているコンピューターを「データベースサーバー」と呼びます。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457200" y="4151376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FDEBD0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94360" y="4242816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3434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188720" y="4197096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質問票の製品名（Oracle・PostgreSQL・MySQLなど）の多くは、DBMSにあたります。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用語カード①：DBとDBMS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まず「データのまとまり」と「それを管理するソフト」を区別します。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Databaseの略。データベース。整理して蓄積した情報のまとまり。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住所録や在庫表を、何人が同時に使っても壊れないよう管理した「情報の整理棚」。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情報の蓄積・検索・更新。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簡単な商品表や注文表を設計する。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データベースを管理するソフトウェア。質問にある製品名の多くは、これに当たります。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整理棚の管理人。出し入れの受付、鍵（権限）、順番待ちを担当する。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データの保存、検索、権限、同時利用などを管理する。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一つの製品を使い、データを登録して取り出す。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用語カード②：RDBとSQL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「表で管理する方式」と「そのお願いの書き方」の2つです。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リレーショナルデータベース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行と列のある表を中心に、複数の表の関係を使って情報を管理する方式。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顧客表と注文表を、顧客番号という共通の番号でつなぐ。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顧客、注文、在庫などの管理。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顧客表と注文表を、顧客番号で結び付ける練習をする。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エスキューエル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データベースの検索・登録・更新などに使う言語。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データベースへのお願いの書き方。「価格が1,000円未満の商品を見せて」を決まった形で書く。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必要なデータの抽出、集計、変更。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SELECT、INSERT、UPDATE、DELETEから学ぶ。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用語カード③：DBサーバーとOracle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「データベースの窓口になるサーバー」と、代表的な商用製品です。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データベースサーバー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データベースの機能を他のアプリやPCに提供するサーバー。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図書館の窓口。利用者は窓口に頼み、書庫には直接入らない。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複数の利用者が同じ情報を使うシステム。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学習用環境でDBを起動し、別のプログラムから接続する。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 Database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オラクル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Oracle社のリレーショナルデータベース製品。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企業の基幹システムなどで使われる、代表的な商用のデータベース。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企業の業務システム、大規模なデータ管理など。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学習用環境でSQLを練習し、表の作成や権限管理を学ぶ。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用語カード④：PostgreSQLとDb2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オープンソースの代表と、IBMの商用製品です。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ポストグレスキューエル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オープンソースのリレーショナルデータベース。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無料で使え、公式の入門（チュートリアル）が充実している。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Webサービス、業務システム、データ分析など。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自分のPCなどに導入し、商品表を作ってSQLを実行する。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DB2／Db2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ディービーツー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IBMのデータベース製品。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大規模なシステムで使われる、IBMの商用データベース。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企業の基幹業務、データ管理・分析。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学習環境や教材でSQLと管理方法を学ぶ。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用語カード⑤：SQL ServerとMySQL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Microsoftの商用製品と、Webでよく使われるオープンソースです。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SQL Server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エスキューエル サーバー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Microsoftのリレーショナルデータベース製品。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WindowsやExcelなど、Microsoft製品とのつながりが強い商用データベース。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企業の業務システム、分析など。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学習用の環境と管理ツールで、表作成・検索・集計を行う。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マイエスキューエル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広く使われるオープンソースのリレーショナルデータベース。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ブログのWordPressなど、身近なWebサイトの裏側でよく使われる。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Webサイト、Webアプリ、WordPressなど。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導入してSQLを練習し、小さなWebアプリと接続する。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用語カード⑥：AWS DatabaseとMongoDB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「クラウド上のDBサービス」と、表とは違う形式のデータベースです。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4246880"/>
          </a:xfrm>
          <a:prstGeom prst="roundRect">
            <a:avLst>
              <a:gd name="adj" fmla="val 3014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Database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312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一つの製品名ではなく、AWS上のデータベースサービスを指すと考えられる表記。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「AWSのデータベース」という分類名。実際のサービス名は別にある。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クラウド上でデータベースを利用する。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実際に利用したサービス名を確認する。例：Amazon RDS、Aurora、DynamoDB。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4246880"/>
          </a:xfrm>
          <a:prstGeom prst="roundRect">
            <a:avLst>
              <a:gd name="adj" fmla="val 3014"/>
            </a:avLst>
          </a:prstGeom>
          <a:solidFill>
            <a:srgbClr val="DDF1E4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モンゴディービー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312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表形式とは異なり、まとまりのある「ドキュメント」を中心に情報を保存するデータベース。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商品1つ分の情報を、項目つきの1枚のカード（文書）として保存する。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Webアプリ、項目が多様なデータの管理など。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商品情報などを登録し、条件検索や更新を行う。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データベース製品を種類で分ける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製品名は多く見えますが、「方式」と「提供形態」で分けると整理できます。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750560"/>
                <a:gridCol w="4584266"/>
                <a:gridCol w="394246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製品の例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ひとこと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商用のRDB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Oracle Database・Db2・SQL Server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企業の基幹業務で多い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オープンソースのRDB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PostgreSQL・MySQL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無料で学習しやすい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クラウドのRDB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Amazon RDS・Aurora（AWS）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運用の一部を事業者が担当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クラウドの非RDB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DynamoDB（AWS）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表の関係を使わない方式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ドキュメント型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MongoDB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表ではなく文書の形で保存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SQLは「何を・どこから・条件は」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貼り付けの例の1文を、3つの部分に分けて読みます。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11277295" cy="1200150"/>
          </a:xfrm>
          <a:prstGeom prst="roundRect">
            <a:avLst>
              <a:gd name="adj" fmla="val 9143"/>
            </a:avLst>
          </a:prstGeom>
          <a:solidFill>
            <a:srgbClr val="0F24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892808"/>
            <a:ext cx="10911535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商品名, 価格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商品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価格 &lt; 1000;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13867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DF1E4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3284982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340970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328498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94335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何を取り出す？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商品名と価格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277258" y="313867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DCE8F8"/>
          </a:solidFill>
          <a:ln/>
        </p:spPr>
      </p:sp>
      <p:sp>
        <p:nvSpPr>
          <p:cNvPr id="17" name="Shape 13"/>
          <p:cNvSpPr/>
          <p:nvPr/>
        </p:nvSpPr>
        <p:spPr>
          <a:xfrm>
            <a:off x="4460138" y="328498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3409706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5938" y="328498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FROM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4460138" y="394335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どの表から？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商品の表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8097317" y="3138678"/>
            <a:ext cx="3637178" cy="1645920"/>
          </a:xfrm>
          <a:prstGeom prst="roundRect">
            <a:avLst>
              <a:gd name="adj" fmla="val 7778"/>
            </a:avLst>
          </a:prstGeom>
          <a:solidFill>
            <a:srgbClr val="FDEBD0"/>
          </a:solidFill>
          <a:ln/>
        </p:spPr>
      </p:sp>
      <p:sp>
        <p:nvSpPr>
          <p:cNvPr id="22" name="Shape 17"/>
          <p:cNvSpPr/>
          <p:nvPr/>
        </p:nvSpPr>
        <p:spPr>
          <a:xfrm>
            <a:off x="8280197" y="328498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3409706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965997" y="3284982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8280197" y="3943350"/>
            <a:ext cx="327141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どんな条件で？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価格が1,000円未満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457200" y="4940046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503148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13207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985766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意味：「商品」という表から、価格が1,000円未満の商品名と価格を取り出す。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SQLの結果を表で確かめる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元の表にSQLを当てると、条件に合う行だけが取り出されます。（数字は例示用）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78308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元の表：商品</a:t>
            </a:r>
            <a:endParaRPr lang="en-US" sz="2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41448"/>
          <a:ext cx="5501488" cy="914400"/>
        </p:xfrm>
        <a:graphic>
          <a:graphicData uri="http://schemas.openxmlformats.org/drawingml/2006/table">
            <a:tbl>
              <a:tblPr/>
              <a:tblGrid>
                <a:gridCol w="3300893"/>
                <a:gridCol w="22005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万年筆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3,500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233008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237A4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324448" y="178308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結果：1,000円未満</a:t>
            </a:r>
            <a:endParaRPr lang="en-US" sz="20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441448"/>
          <a:ext cx="5501488" cy="914400"/>
        </p:xfrm>
        <a:graphic>
          <a:graphicData uri="http://schemas.openxmlformats.org/drawingml/2006/table">
            <a:tbl>
              <a:tblPr/>
              <a:tblGrid>
                <a:gridCol w="3300893"/>
                <a:gridCol w="22005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457200" y="4425696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6177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471416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「万年筆（3,500円）」は条件に合わないので、結果に出ません。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SQLの基本4操作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取り出すだけでなく、追加・変更・削除もSQLで行います。まず、この4つから学びます。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1466965"/>
                <a:gridCol w="1650336"/>
                <a:gridCol w="815999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操作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例（説明用）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2F6BC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SELECT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取り出す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商品;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237A4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INSERT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追加する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INSERT INTO 商品 VALUES ('消しゴム', 120);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B4530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UPDATE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変更する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 商品 SET 価格 = 160 WHERE 商品名 = 'ペン';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C0392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DELETE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削除する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FROM 商品 WHERE 商品名 = '消しゴム';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22452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43159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4165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27024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UPDATEとDELETEは、WHEREを付け忘れると全部の行が対象になります。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表を結ぶ：顧客表と注文表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リレーショナルデータベースは、複数の表を「共通の番号」でつないで使います。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41448"/>
          <a:ext cx="5501488" cy="914400"/>
        </p:xfrm>
        <a:graphic>
          <a:graphicData uri="http://schemas.openxmlformats.org/drawingml/2006/table">
            <a:tbl>
              <a:tblPr/>
              <a:tblGrid>
                <a:gridCol w="2200595"/>
                <a:gridCol w="330089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名前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233008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237A48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24448" y="178308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注文表</a:t>
            </a:r>
            <a:endParaRPr lang="en-US" sz="20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2441448"/>
          <a:ext cx="5501488" cy="914400"/>
        </p:xfrm>
        <a:graphic>
          <a:graphicData uri="http://schemas.openxmlformats.org/drawingml/2006/table">
            <a:tbl>
              <a:tblPr/>
              <a:tblGrid>
                <a:gridCol w="1500406"/>
                <a:gridCol w="2000541"/>
                <a:gridCol w="2000541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103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" y="4425696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451713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61772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71416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顧客番号1（田中さん）の注文は、101（ノート）と103（定規）。番号で結ぶと探せます。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Webアプリは役割を分けて動く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ブラウザーでページを開くとき、裏ではWebサーバー・アプリケーションサーバー・DBが分担します。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利用者のPC・スマホ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1710614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02254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5B46B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3694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受付・ページ配信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8096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65566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中継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47308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5B46B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38748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ログイン・注文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826017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600721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照合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292361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383801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情報の保存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75488" y="3419856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488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3355848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利用者がIDとパスワードを送る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75488" y="4005072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5488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3941064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Webサーバーが受け取り、アプリへ渡す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75488" y="4590288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5488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097280" y="45262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アプリがデータベースで照合する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475488" y="5175504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5488" y="5175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511149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結果が返り、画面が表示される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WebサーバーとAPサーバーの違い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「ページを渡す」役と、「処理して結果を作る」役の違いです。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00448"/>
                <a:gridCol w="4492581"/>
                <a:gridCol w="458426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Webサーバー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アプリケーションサーバー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主な仕事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HTMLや画像の配信、アプリへの要求の中継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ログイン判定、注文処理などの実行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返すもの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用意済みのページやファイル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処理して作った結果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たとえ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受付カウンター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厨房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最初の学び方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簡単なページを自分のPCで配信する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小さなWebアプリを配置して操作する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用語カード①：Webサーバーとアプリサーバー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最初に覚える2つ。「受付」と「処理」の役割分担です。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6E1F7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ブラウザーなどからの要求を受け、Webページやデータを返すソフトウェア。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お店の受付カウンター。注文を聞き、用意済みの商品（ページ）を渡す。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HTML、画像などの配信、アプリへの要求の中継。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簡単なページを自分のPCで配信する。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6E1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Webアプリなどの処理を動かす実行基盤。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お店の厨房。注文を受けて調理（処理）し、結果を作る。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ログイン判定、注文処理、データベースとの連携。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小さなWebアプリを配置し、ブラウザーから操作する。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用語カード②：TomcatとWebLogic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どちらもJavaのアプリを動かす製品ですが、備える機能の範囲が違います。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4046728"/>
          </a:xfrm>
          <a:prstGeom prst="roundRect">
            <a:avLst>
              <a:gd name="adj" fmla="val 3163"/>
            </a:avLst>
          </a:prstGeom>
          <a:solidFill>
            <a:srgbClr val="E6E1F7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Tomcat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トムキャット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92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JavaのWebアプリを動かすためのソフトウェア。厳密にはサーブレットコンテナです。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Javaで作ったWebアプリを置いて動かす「実行台」。学習にも使いやすい。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Java製のWebサイトや業務アプリ。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Javaの基礎を学び、文字を返す小さなWebアプリを配置する。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WebLogicとは機能の範囲が異なる。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4046728"/>
          </a:xfrm>
          <a:prstGeom prst="roundRect">
            <a:avLst>
              <a:gd name="adj" fmla="val 3163"/>
            </a:avLst>
          </a:prstGeom>
          <a:solidFill>
            <a:srgbClr val="E6E1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WebLogic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ウェブロジック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Oracleの企業向けJavaアプリケーションサーバー。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大規模な業務システム向けの、機能が多い実行基盤。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大規模な業務アプリなど。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JavaのWeb開発を理解してから、配置、設定、ログ確認を学ぶ。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用語カード③：Jettyとサーブレット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軽くて組み込める製品と、JavaのWeb処理の仕組みです。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E6E1F7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Jetty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ジェッティ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JavaのWebサーバー・サーブレットコンテナ。アプリに組み込んで使うこともできます。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アプリの中に内蔵できる、小型のWeb受付。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JavaのWebサービス、組み込み型のWeb機能。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小さなJavaアプリから起動し、ブラウザーで応答を確認する。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E6E1F7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サーブレット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サーバー側でWebからの要求を処理するJavaの仕組み。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注文書（フォーム）を受け取って処理する、窓口の担当者プログラム。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フォーム入力の処理やページ生成。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要求を受けて文字を返すプログラムを書く。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用語カード④：デプロイ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作ったアプリを使える状態にする作業です。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E6E1F7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作ったアプリを、動かす環境に配置して使える状態にすること。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作った料理をメニューに載せて、お客様に出せる状態にする。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Webアプリの公開や更新。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学習用サーバーにアプリを配置し、起動・動作確認を行う。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25400">
            <a:solidFill>
              <a:srgbClr val="5B46B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393028" y="3330448"/>
            <a:ext cx="548640" cy="548640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28" y="3451149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892808"/>
            <a:ext cx="4472788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ここまでを1行で言うと：Webサーバーが受け付け、アプリケーションサーバーが処理し、データベースが保存する。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デプロイは配置して使える状態に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アプリは「作っただけ」では使えません。サーバーに置いて起動し、動作を確認して初めて使えます。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1853123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コードを書く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346899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3243" y="1783080"/>
            <a:ext cx="1853123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04683" y="178308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実行できる形に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702942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69286" y="1783080"/>
            <a:ext cx="1853123" cy="1005840"/>
          </a:xfrm>
          <a:prstGeom prst="roundRect">
            <a:avLst>
              <a:gd name="adj" fmla="val 10909"/>
            </a:avLst>
          </a:prstGeom>
          <a:solidFill>
            <a:srgbClr val="5B46B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60726" y="178308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サーバーに置く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058985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25329" y="1783080"/>
            <a:ext cx="1853123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16769" y="178308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アプリを動かす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415028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81372" y="1783080"/>
            <a:ext cx="1853123" cy="100584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972812" y="1783080"/>
            <a:ext cx="16702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画面で動作確認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2944368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25526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88720" y="2990088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この「配置して使える状態にする」ことを、デプロイといいます。公開だけでなく、更新のときにも行います。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仮想化・コンテナ・プライベートクラウド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似て見える3つの言葉は、「何を分けるか・何をまとめるか」が違います。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842245"/>
                <a:gridCol w="4767637"/>
                <a:gridCol w="366741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意味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100685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仮想化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1台の物理コンピューター上に、ソフトウェアで複数の仮想コンピューターを作る技術。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WindowsのPCの中で、別のLinuxを動かす。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6856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アプリと必要な部品をまとめ、隔離した環境で動かす仕組み。通常はOSの中心部分を共有する。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Webアプリとデータベースを、それぞれ別のコンテナで動かす。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プライベートクラウド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特定の組織専用のクラウド環境。自社設備や外部の専用環境などに構築する。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社員が必要な仮想サーバーを申し込み、利用できる社内基盤。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VMはOSごと、コンテナはアプリごと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VMは「OSつきの仮想コンピューター」、コンテナは「OSを共有する小さな箱」です。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[D02]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457200"/>
          </a:xfrm>
          <a:prstGeom prst="roundRect">
            <a:avLst>
              <a:gd name="adj" fmla="val 20000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534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仮想マシン（VM）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331720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アプリ＋OS（VM①）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" y="2990088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90088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アプリ＋OS（VM②）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648456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0B7A7A"/>
          </a:solidFill>
          <a:ln w="25400">
            <a:solidFill>
              <a:srgbClr val="0B7A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648456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ハイパーバイザー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57200" y="4306824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475569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306824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210148" y="1783080"/>
            <a:ext cx="5524348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01588" y="1783080"/>
            <a:ext cx="5341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10148" y="2331720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1588" y="2331720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コンテナA（アプリ）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10148" y="2990088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1588" y="2990088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コンテナB（アプリ）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210148" y="3648456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B45309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1588" y="3648456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コンテナ実行基盤（Dockerなど）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6210148" y="4306824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0B7A7A"/>
          </a:solidFill>
          <a:ln w="25400">
            <a:solidFill>
              <a:srgbClr val="0B7A7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1588" y="4306824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OS（共通）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210148" y="4965192"/>
            <a:ext cx="5524348" cy="566928"/>
          </a:xfrm>
          <a:prstGeom prst="roundRect">
            <a:avLst>
              <a:gd name="adj" fmla="val 19355"/>
            </a:avLst>
          </a:prstGeom>
          <a:solidFill>
            <a:srgbClr val="475569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1588" y="4965192"/>
            <a:ext cx="53414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用語カード①：VMとハイパーバイザー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仮想化の「作られるもの」と「作る仕組み」です。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9F2F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仮想マシン／VM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仮想化で作ったコンピューター。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1台のパソコンの中に作る「もう1台のパソコン」。本物の機械ではなく、ソフトで作る。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検証環境、サーバーの集約、異なるOSの利用。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学習用のLinux VMを作り、起動・停止する。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9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ハイパーバイザー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仮想マシンを作り、CPUやメモリなどを割り当てる仕組み。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大きな部屋を仕切って、複数の部屋（VM）に分けて貸す管理人。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複数のVMを動かす。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VMのCPU・メモリ設定を変更して、役割を理解する。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用語カード②：DockerとKubernetes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コンテナを「作る・動かす」道具と、「たくさん管理する」仕組みです。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[D02] [D03]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9F2F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ドッカー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コンテナを作成・実行するための製品・ツール群。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アプリと必要な部品を1つの箱に詰めて、どこでも同じように動かす。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開発環境の統一、アプリの実行・配布。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既存のコンテナを起動し、その後に自分の小さなアプリをコンテナ化する。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9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Kubernetes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クバネティス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多数のコンテナの配置や運用を管理・自動化する仕組み。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たくさんの箱を、倉庫で自動で並べ替え・補充する管理システム。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コンテナの増減、停止時の復旧、サービス運用。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Dockerなどでコンテナを理解したあと、学習用環境に小さなアプリを配置する。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用語カード③：VMwareとOpenStack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仮想化の代表的な製品名と、クラウド基盤を作るソフトです。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9F2F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VMware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ヴイエムウェア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仮想化関連の製品群として知られる名称。ESXiやvSphereなどがあります。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企業の仮想サーバー基盤でよく名前が挙がる、仮想化の代表的な製品名。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企業の仮想サーバー基盤。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実際に使う製品を確認し、VM作成やネットワーク設定を学ぶ。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9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OpenStack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オープンスタック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サーバー・ストレージ・ネットワークをまとめて管理し、クラウド環境を構築するソフトウェア群。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設備をまとめて管理し、「申し込めばVMが出てくる」窓口を作る道具。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Linuxと仮想化を学んだあと、学習用の小規模構成でVM作成を試す。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用語カード④：KVMとHyper-V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OSに組み込まれた仮想化技術。LinuxとWindowsで使い分けます。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D9F2F1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KVM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ケーブイエム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Linuxに組み込まれた仮想化技術。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Linuxそのものが「VMを動かす土台」になる仕組み。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Linux上での仮想マシン実行。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対応するLinux環境でVMを作る。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D9F2F1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Hyper-V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ハイパーブイ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Microsoftの仮想化技術。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Windowsに用意された「VMを動かす土台」。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Windows環境でのVM実行、企業の仮想サーバー。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対応環境でLinuxなどのVMを作り、起動・接続する。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VM・コンテナ製品を種類で整理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製品名は、「何をする製品か」で分けると覚えやすくなります。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567189"/>
                <a:gridCol w="4767637"/>
                <a:gridCol w="394246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製品の例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仮想化の土台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VMware（ESXi・vSphere）・KVM・Hyper-V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VMを作り、CPUやメモリを割り当てる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コンテナを動かす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コンテナを作成・実行する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コンテナを管理する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Kubernetes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多数のコンテナの配置や運用を自動化する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10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クラウド基盤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OpenStack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サーバー・保存・ネットワークをまとめて管理する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プライベートクラウドの作り方の例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組織専用のクラウドは、仮想化とクラウド基盤ソフトを組み合わせて作ることがあります。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4755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物理サーバー群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自社設備など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2254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93694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KVMなど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880964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47308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38748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クラウド基盤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OpenStackなど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826017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292361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83801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社員が利用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申し込みでVMを使う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57200" y="2944368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255264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88720" y="2990088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プライベートクラウドは、特定の組織専用のクラウド。社員が必要な仮想サーバーを申し込んで使えます。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クラウドは「借りるIT」の総称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AWS・Azure・Google Cloudは、サーバー・保存・DB・AIなど多くの機能を貸すサービス群です。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3637178" cy="1947672"/>
          </a:xfrm>
          <a:prstGeom prst="roundRect">
            <a:avLst>
              <a:gd name="adj" fmla="val 6573"/>
            </a:avLst>
          </a:prstGeom>
          <a:solidFill>
            <a:srgbClr val="FDEBD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587752"/>
            <a:ext cx="327141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Amazonのクラウド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サーバー・保存・DB・AI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277258" y="1783080"/>
            <a:ext cx="3637178" cy="1947672"/>
          </a:xfrm>
          <a:prstGeom prst="roundRect">
            <a:avLst>
              <a:gd name="adj" fmla="val 6573"/>
            </a:avLst>
          </a:prstGeom>
          <a:solidFill>
            <a:srgbClr val="DCE8F8"/>
          </a:solidFill>
          <a:ln/>
        </p:spPr>
      </p:sp>
      <p:sp>
        <p:nvSpPr>
          <p:cNvPr id="15" name="Shape 11"/>
          <p:cNvSpPr/>
          <p:nvPr/>
        </p:nvSpPr>
        <p:spPr>
          <a:xfrm>
            <a:off x="4460138" y="192938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2054108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45938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460138" y="2587752"/>
            <a:ext cx="327141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Microsoftのクラウド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サーバー・DB・企業の認証・AI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097317" y="1783080"/>
            <a:ext cx="3637178" cy="1947672"/>
          </a:xfrm>
          <a:prstGeom prst="roundRect">
            <a:avLst>
              <a:gd name="adj" fmla="val 6573"/>
            </a:avLst>
          </a:prstGeom>
          <a:solidFill>
            <a:srgbClr val="DDF1E4"/>
          </a:solidFill>
          <a:ln/>
        </p:spPr>
      </p:sp>
      <p:sp>
        <p:nvSpPr>
          <p:cNvPr id="20" name="Shape 15"/>
          <p:cNvSpPr/>
          <p:nvPr/>
        </p:nvSpPr>
        <p:spPr>
          <a:xfrm>
            <a:off x="8280197" y="192938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2054108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5997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Cloud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8280197" y="2587752"/>
            <a:ext cx="327141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Googleのクラウド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サーバー・データ分析・DB・AI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57200" y="3886200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782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88720" y="393192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どれも「一つのアプリの名前」ではなく、さまざまなIT機能を提供するサービス群です。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パブリックとプライベートの違い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誰が使うか・設備を誰が持つか・誰が管理するかの3点で比べます。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00448"/>
                <a:gridCol w="4584266"/>
                <a:gridCol w="4492581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パブリッククラウド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プライベートクラウド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誰が使う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多数の顧客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特定の組織だけ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設備は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提供会社が持つ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自社設備や専用の外部環境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管理は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提供会社と利用者で分担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組織が主に構築・運用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AWS・Azure・Google Cloud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社内の仮想サーバー基盤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誰が何を管理するか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借りる範囲が広いほど、自分で管理するものは減ります。担当範囲はサービスごとに違います。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00448"/>
                <a:gridCol w="1833707"/>
                <a:gridCol w="2017077"/>
                <a:gridCol w="2200448"/>
                <a:gridCol w="302561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管理する対象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自前で運用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仮想サーバー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マネージドDB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SaaS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建物・機器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OS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アプリ・DB製品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提供会社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データ・設定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自分（設定・権限）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22452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43159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41655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27024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担当範囲はサービスごとに違います。「自分が設定・管理する部分」を必ず確認します。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用語カード①：AWSとAzure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代表的な2つのクラウド。名前だけでなく「何ができるか」を押さえます。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FF1F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エーダブリューエス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Web Services。Amazonのクラウド。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ITの機器を「必要な分だけ借りる」巨大なレンタルサービスの一つ。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サーバー、保存設備、データベース、AIなど。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基礎教材で全体像を学び、学習用環境で一つのサーバーや保存場所を作る。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DF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アジュール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Microsoftのクラウド。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WindowsやOffice製品を使う企業で、連携先として使われやすいクラウド。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サーバー、データベース、企業の認証、AIなど。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基礎教材を読み、学習用環境で仮想マシンやストレージを操作する。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用語カード②：Google Cloudと仮想サーバー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クラウドの代表例と、最もよく使う「借りるコンピューター」です。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FF1F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Cloud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Googleのクラウド。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データ分析などの機能が充実したクラウドの一つ。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サーバー、データ分析、データベース、AIなど。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基礎教材と学習用環境で、サービスの作成・操作を経験する。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F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クラウドの仮想サーバー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クラウド上で利用する仮想コンピューター。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必要なときだけ借りるレンタルのパソコン。使い終えたら返す（削除する）。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Webアプリの実行、研究計算、開発環境。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作成、接続、停止、削除を一通り経験する。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用語カード③：クラウドストレージとマネージド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「借りる保存場所」と「運用を任せられるサービス」です。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FF1F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クラウドストレージ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クラウド上の保存機能。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ネット上の貸し倉庫。どこからでも出し入れできる。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写真、バックアップ、アプリのデータ保存。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保存・取得と、誰がアクセスできるかの設定を学ぶ。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DF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マネージドサービス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運用作業の一部を提供会社が担当するサービス。担当範囲はサービスによって違います。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掃除や点検つきの賃貸。住む（使う）ことに集中できる。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データベース管理などの負担を減らす。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自分が設定・管理する部分と、提供会社が担当する部分を調べる。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用語カード④：パブリッククラウド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多数の顧客向けのクラウド。プライベートとの違いを意識します。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DFF1F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提供会社が、多数の顧客向けに提供するクラウド。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誰でも利用できる公共のレンタル倉庫。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AWSなどの一般的なクラウド利用。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プライベートクラウドとの設備・利用者・管理の違いを学ぶ。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393028" y="3252724"/>
            <a:ext cx="548640" cy="548640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28" y="3373425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892808"/>
            <a:ext cx="4472788" cy="326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クラウドの練習は「作る→使う→削除する」まで一通り行います。削除を忘れると料金が発生することがあります。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練習するときの料金の注意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個人でクラウドを試すときは、課金のしくみを先に確認します。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75488" y="1847088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7830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無料枠の条件（期間・対象・上限）を確認する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5488" y="2432304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368296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予算の通知（アラート）を設定する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75488" y="3017520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295351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練習後は、不要な資源を削除する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" y="3602736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54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538728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請求・利用状況の画面を定期的に確認する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4334256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45445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64515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88720" y="4379976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予算の通知は、必ずしも利用や課金を自動で止める機能ではありません。無料枠でも課金される条件があります。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質問が聞いている経験とは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質問は、ファイル保存の経験より、サーバーなどを設定・利用した経験を想定していると考えられます。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47208" cy="2011680"/>
          </a:xfrm>
          <a:prstGeom prst="roundRect">
            <a:avLst>
              <a:gd name="adj" fmla="val 6364"/>
            </a:avLst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一般の利用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587752"/>
            <a:ext cx="5181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Driveにファイルを保存する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クラウドを「使う側」の経験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87288" y="1783080"/>
            <a:ext cx="5547208" cy="2011680"/>
          </a:xfrm>
          <a:prstGeom prst="roundRect">
            <a:avLst>
              <a:gd name="adj" fmla="val 6364"/>
            </a:avLst>
          </a:prstGeom>
          <a:solidFill>
            <a:srgbClr val="DF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0168" y="1929384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892" y="20541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55968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設定・構築の経験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2587752"/>
            <a:ext cx="5181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仮想サーバーを作って接続する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クラウドのサービスを設定して使う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質問が主に想定する経験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57200" y="395020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" y="404164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4223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99592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「どのサービスで、何を作り、どう設定したか」を具体的に書けるように準備します。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AIは広く、機械学習はその一部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AIの中に機械学習があります。機械学習は、データからパターンを学ぶ方法です。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11277295" cy="2468880"/>
          </a:xfrm>
          <a:prstGeom prst="roundRect">
            <a:avLst>
              <a:gd name="adj" fmla="val 5185"/>
            </a:avLst>
          </a:prstGeom>
          <a:solidFill>
            <a:srgbClr val="FDEBD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874520"/>
            <a:ext cx="109481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AI（人工知能）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31520" y="2468880"/>
            <a:ext cx="10728655" cy="1600200"/>
          </a:xfrm>
          <a:prstGeom prst="roundRect">
            <a:avLst>
              <a:gd name="adj" fmla="val 8000"/>
            </a:avLst>
          </a:prstGeom>
          <a:solidFill>
            <a:srgbClr val="DCE8F8"/>
          </a:solidFill>
          <a:ln w="25400">
            <a:solidFill>
              <a:srgbClr val="2F6B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2560320"/>
            <a:ext cx="103994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05840" y="3154680"/>
            <a:ext cx="10180015" cy="731520"/>
          </a:xfrm>
          <a:prstGeom prst="roundRect">
            <a:avLst>
              <a:gd name="adj" fmla="val 17500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70432" y="3246120"/>
            <a:ext cx="98508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例：売上予測・画像分類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57200" y="440740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449884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59943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8720" y="445312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経験を書くときは、「何に使い、結果をどう確認したか」まで書くと伝わります。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用語カード①：AIと機械学習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最初の2つ。「何ができるか」と「どう学ぶか」の違いです。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FDEBD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AI／人工知能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認識、予測、文章生成など、知的な処理をコンピューターで実現する技術分野。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写真に写っているものを見分ける、質問に文章で答える、など。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画像認識、問い合わせ対応、予測など。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基本概念を学び、小さなデータや既存のモデルを使って結果を検証する。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FDEBD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データからパターンを学び、予測や分類を行う方法。AIの一分野です。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大量の迷惑メールの特徴を学び、新しいメールが迷惑か判定する。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売上予測、迷惑メール分類、画像分類。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Python、データ処理、統計の基礎を学び、簡単な予測モデルを作る。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用語カード②：自動化とスマホアプリ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作業を楽にする自動化と、スマートフォン向けの開発です。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DEBD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人が繰り返している作業を、プログラムなどに実行させること。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毎日同じ時刻に行うファイル整理や集計を、自動で行うようにする。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ファイル整理、集計、定期処理、データ転記。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自分の繰り返し作業を一つ選び、Pythonなどで自動化する。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DEBD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スマートフォン用アプリ開発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iPhone／Android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スマートフォンで動くアプリを作ること。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メモ帳アプリを自分で作る、など。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メモ、地図、家計簿、ゲームなど。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iPhone向けかAndroid向けかを決め、小さな画面と保存機能を作る。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用語カード③：WindowsとLinuxのアプリ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動かすOSによって、使う道具が変わります。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DEBD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Windows用アプリ開発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Windowsで動くアプリを作ること。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ボタンと入力欄がある、小さな計算アプリ。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社内ツール、文書処理、管理アプリ。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C#などを学び、ボタンや入力欄のある小さなアプリを作る。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DEBD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Linux用アプリ開発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Linuxで動くプログラムを作ること。画面付きに限りません。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文字を入力すると結果を出す、コマンドのような小さなツール。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サーバー処理、計算ツール、管理ツール。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Linux上でPythonやCなどのプログラムを作り、実行する。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用語カード④：IoTとPC自作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「モノをつなぐ」経験と、「機器の構成を理解する」経験です。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FDEBD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アイオーティー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Internet of Things。「モノ」をネットワークにつなぎ、情報取得や制御を行う仕組み。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部屋の温度計がネットにつながり、スマホで温度を見られる。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温度監視、工場設備の監視、スマート家電。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センサー付きの小さな機器で温度などを取得し、PCに表示する。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FDEBD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PCを自作して使用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CPU、メモリ、保存装置などを選び、PCを組み立てて使うこと。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部品を選んで組み立てる、オーダーメイドのパソコン。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必要な性能のPCを作る、機器構成を理解する。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部品の役割と互換性を学び、構成を考えて組み立て、OSを導入する。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IoTは「モノ」をつなぐ仕組み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センサーで測った情報を、ネットワークを通して集め、見える形にします。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1853123" cy="1246632"/>
          </a:xfrm>
          <a:prstGeom prst="roundRect">
            <a:avLst>
              <a:gd name="adj" fmla="val 8802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1670243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温度などを測る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346899" y="2406396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13243" y="1783080"/>
            <a:ext cx="1853123" cy="1246632"/>
          </a:xfrm>
          <a:prstGeom prst="roundRect">
            <a:avLst>
              <a:gd name="adj" fmla="val 8802"/>
            </a:avLst>
          </a:prstGeom>
          <a:solidFill>
            <a:srgbClr val="2F6BC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04683" y="1783080"/>
            <a:ext cx="1670243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小型の機器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値を読み取る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702942" y="2406396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69286" y="1783080"/>
            <a:ext cx="1853123" cy="1246632"/>
          </a:xfrm>
          <a:prstGeom prst="roundRect">
            <a:avLst>
              <a:gd name="adj" fmla="val 8802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60726" y="1783080"/>
            <a:ext cx="1670243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Wi-Fiなど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058985" y="2406396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25329" y="1783080"/>
            <a:ext cx="1853123" cy="1246632"/>
          </a:xfrm>
          <a:prstGeom prst="roundRect">
            <a:avLst>
              <a:gd name="adj" fmla="val 8802"/>
            </a:avLst>
          </a:prstGeom>
          <a:solidFill>
            <a:srgbClr val="5B46B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16769" y="1783080"/>
            <a:ext cx="1670243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PC・クラウド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保存する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415028" y="2406396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81372" y="1783080"/>
            <a:ext cx="1853123" cy="1246632"/>
          </a:xfrm>
          <a:prstGeom prst="roundRect">
            <a:avLst>
              <a:gd name="adj" fmla="val 8802"/>
            </a:avLst>
          </a:prstGeom>
          <a:solidFill>
            <a:srgbClr val="237A4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972812" y="1783080"/>
            <a:ext cx="1670243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グラフで見る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3185160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327660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37718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88720" y="3230880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例：温度センサーで部屋の温度を測り、PCの画面にグラフで表示する。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PC自作で学ぶ部品の役割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自作では、各部品の役割と「組み合わせて使えるか（互換性）」を理解します。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750560"/>
                <a:gridCol w="5042693"/>
                <a:gridCol w="348404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たとえ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CPU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計算・制御をする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頭脳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作業中のデータを置く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作業机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ストレージ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データを保存する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倉庫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マザーボード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部品どうしをつなぐ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道路と土台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電源ユニット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各部品に電気を送る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心臓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681728"/>
            <a:ext cx="11277295" cy="877824"/>
          </a:xfrm>
          <a:prstGeom prst="roundRect">
            <a:avLst>
              <a:gd name="adj" fmla="val 12500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4360" y="48920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9926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727448"/>
            <a:ext cx="104086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互換性の確認が大切：CPUとマザーボードの形が合うか、メモリの規格が合うか、電源の容量は足りるか。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経験は中身を分けて書く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同じ「経験あり」でも、活動ごとに書くとよい内容が違います。貼り付けの表を整理しました。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3667413"/>
                <a:gridCol w="760988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書くとよい内容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ChatGPTなどのAIを使った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何に利用したか、結果をどう確認したか。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AIを研究・開発した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使ったデータ、作ったモデル、評価方法、結果。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アプリを作った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対象OS、言語、機能、担当した範囲。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作業を自動化した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元の作業、作った仕組み、削減できた時間など。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IoTに取り組んだ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機器・センサー、取得した情報、通信や表示の仕組み。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発表は「場」と「形」で呼び分ける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発表は、どこで行うか（場）と、どんな形で行うか（形）の組み合わせで呼ばれます。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47208" cy="2011680"/>
          </a:xfrm>
          <a:prstGeom prst="roundRect">
            <a:avLst>
              <a:gd name="adj" fmla="val 6364"/>
            </a:avLst>
          </a:prstGeom>
          <a:solidFill>
            <a:srgbClr val="FCE4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発表の「場」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587752"/>
            <a:ext cx="5181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学内で発表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国内学会発表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海外学会発表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187288" y="1783080"/>
            <a:ext cx="5547208" cy="2011680"/>
          </a:xfrm>
          <a:prstGeom prst="roundRect">
            <a:avLst>
              <a:gd name="adj" fmla="val 6364"/>
            </a:avLst>
          </a:prstGeom>
          <a:solidFill>
            <a:srgbClr val="FDEBD0"/>
          </a:solidFill>
          <a:ln/>
        </p:spPr>
      </p:sp>
      <p:sp>
        <p:nvSpPr>
          <p:cNvPr id="15" name="Shape 11"/>
          <p:cNvSpPr/>
          <p:nvPr/>
        </p:nvSpPr>
        <p:spPr>
          <a:xfrm>
            <a:off x="6370168" y="192938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892" y="2054108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55968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発表の「形」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6370168" y="2587752"/>
            <a:ext cx="51814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口頭発表（話して説明）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ポスター発表（紙面で説明）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57200" y="395020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94360" y="404164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4223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99592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予定でも書けます：卒業研究発表が予定されているなら、その予定・見込みを書けます。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用語カード①：プレゼンと学内発表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発表の基本と、いちばん身近な発表の場です。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CE4E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プレゼンテーション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考えや成果を、資料や口頭説明で相手に伝えること。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友人に、自分の研究を5分で説明する。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授業発表、研究発表、提案説明。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「目的・方法・結果・考察」の順に整理し、時間内で説明する練習をする。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CE4EE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学内で発表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学校内で行う発表。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ゼミで進み具合を発表する、卒業研究の発表会など。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授業、ゼミ、卒業研究の発表。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スライド作成、発表練習、質問への回答を準備する。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用語カード②：国内学会と海外学会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学外で行う発表。海外では、使用言語での説明も加わります。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CE4E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国内学会発表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日本国内の学会や研究集会で、研究成果を発表すること。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全国から研究者が集まる会で、自分の研究を紹介する。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口頭発表、ポスター発表。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指導教員などと相談し、研究を整理して発表要旨や資料を作る。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CE4EE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海外学会発表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海外開催の学会などで研究成果を発表すること。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外国の研究者に向けて、英語などで発表し質問に答える。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国際会議での口頭・ポスター発表。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研究内容の整理に加え、使用言語での説明と質疑応答を練習する。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用語カード③：学会と口頭発表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発表の「場そのもの」と「話して伝える形」です。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CE4E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学会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特定の学問分野について、研究者などが成果を共有・議論する団体や、その集まり。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同じ分野の研究者が集まる「研究の発表会・交流会」。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情報、物理、機械、社会学などの学会。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自分の分野の学会を調べ、発表資料や開催内容を読む。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CE4EE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聴衆の前で、話して説明する発表形式。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ステージでスライドを映しながら、時間内に話す。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スライドを使った研究発表。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制限時間を計って練習する。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用語カード④：ポスター発表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紙面を見せながら、来場者に説明する形式です。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CE4EE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大きな紙面などに研究をまとめ、来場者に説明する形式。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研究の「大きな掲示物」の前に立ち、見に来た人に説明する。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学会のポスターセッション。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要点を図や表で整理し、短い説明と詳しい説明を準備する。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5400">
            <a:solidFill>
              <a:srgbClr val="A21C5B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393028" y="3252724"/>
            <a:ext cx="548640" cy="548640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28" y="3373425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892808"/>
            <a:ext cx="4472788" cy="326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「短い説明（30秒）」と「詳しい説明（3分）」の2つを用意すると、通りがかりの人にも対応できます。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発表は目的・方法・結果・考察の順に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発表を組み立てる基本の型です。この順に整理すると、聞く人が追いやすくなります。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A21C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何を明らかにする？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2254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93694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どう調べた？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880964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47308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38748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何が分かった？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826017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292361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83801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考察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だから何が言える？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57200" y="294436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88720" y="299008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準備の3点：スライド作成、発表練習（時間を計る）、質問への回答の用意。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口頭発表とポスター発表の違い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同じ研究でも、伝え方と準備のしかたが変わります。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2200448"/>
                <a:gridCol w="4492581"/>
                <a:gridCol w="458426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口頭発表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ポスター発表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伝え方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聴衆の前で話して説明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紙面を見せて来場者に説明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準備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スライドと、制限時間の練習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図や表で要点を整理、説明を2種類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向く場面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多くの人に順番に伝える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少人数と対話しながら深める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IT資格は段階と系統が違う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IPAの国家試験には段階があります。MOSはOfficeの操作を測る、別系統の資格です。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4D7C0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1945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ITの基礎知識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91759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69229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次の段階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83938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4D7C0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75378" y="21945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基本情報技術者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技術者の基礎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844333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6619037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次の段階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10677" y="2194560"/>
            <a:ext cx="3423818" cy="1005840"/>
          </a:xfrm>
          <a:prstGeom prst="roundRect">
            <a:avLst>
              <a:gd name="adj" fmla="val 10909"/>
            </a:avLst>
          </a:prstGeom>
          <a:solidFill>
            <a:srgbClr val="4D7C0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02117" y="219456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応用情報技術者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広く深い技術・管理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57200" y="335584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54787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88720" y="340156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MOS：WordやExcelの操作スキルを証明する、別系統の資格です。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用語カード①：ITパスポートと基本情報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最初の一歩の資格と、技術者向けの基礎の資格です。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CF5D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IT、経営、管理などの基礎知識を扱う国家試験。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ITの「共通の基礎知識」を幅広く確認する、最初の一歩の資格。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IT用語の理解、業務でのIT活用の土台。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入門教材で全体を学び、公式の公開問題などを解く。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CF5D5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基本情報技術者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IT技術者向けの基礎知識・技能を扱う国家試験。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プログラミング、ネットワーク、DBなど、技術の基礎力を問う。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プログラミング、ネットワーク、DBなどの基礎固め。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基礎教材と演習に加え、アルゴリズムやプログラミングの問題に取り組む。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用語カード②：応用情報とMOS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より広く深い国家試験と、操作スキルの資格です。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CF5D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応用情報技術者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基本より広く、深い技術・管理・経営の知識を扱う国家試験。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基本情報の次の段階。技術だけでなく、管理や経営の視点も問われる。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設計、運用、管理などを幅広く理解する。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基礎を固めてから、事例を読んで判断する問題などを練習する。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ECF5D5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Office Specialist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WordやExcelなどの操作スキルを証明する資格。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Excelで表や関数を使いこなせることを示す、操作の資格。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文書作成、表計算、資料作成。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対象のOfficeアプリを実際に操作し、課題や模擬問題を解く。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資格欄に書くときの注意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資格の名称と、「取得済み」か「勉強中」かを、はっきり分けて書きます。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3637178" cy="2249424"/>
          </a:xfrm>
          <a:prstGeom prst="roundRect">
            <a:avLst>
              <a:gd name="adj" fmla="val 5691"/>
            </a:avLst>
          </a:prstGeom>
          <a:solidFill>
            <a:srgbClr val="ECF5D5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名称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587752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「基本情報処理技術者」は、通常は「基本情報技術者試験」のこと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応用情報も同様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277258" y="1783080"/>
            <a:ext cx="3637178" cy="2249424"/>
          </a:xfrm>
          <a:prstGeom prst="roundRect">
            <a:avLst>
              <a:gd name="adj" fmla="val 5691"/>
            </a:avLst>
          </a:prstGeom>
          <a:solidFill>
            <a:srgbClr val="FBE3E0"/>
          </a:solidFill>
          <a:ln/>
        </p:spPr>
      </p:sp>
      <p:sp>
        <p:nvSpPr>
          <p:cNvPr id="14" name="Shape 10"/>
          <p:cNvSpPr/>
          <p:nvPr/>
        </p:nvSpPr>
        <p:spPr>
          <a:xfrm>
            <a:off x="4460138" y="192938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63" y="20541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45938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取得と勉強中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4460138" y="2587752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勉強中と取得済みは別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取得資格の欄では区別する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8097317" y="1783080"/>
            <a:ext cx="3637178" cy="2249424"/>
          </a:xfrm>
          <a:prstGeom prst="roundRect">
            <a:avLst>
              <a:gd name="adj" fmla="val 5691"/>
            </a:avLst>
          </a:prstGeom>
          <a:solidFill>
            <a:srgbClr val="DCE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8280197" y="192938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921" y="2054108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65997" y="1929384"/>
            <a:ext cx="2585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測る能力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280197" y="2587752"/>
            <a:ext cx="32714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IPAの国家試験：IT全般の知識・技能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MOS：Officeの操作スキル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用語カード①：Excel集計とHTML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データの整理と、Webページの土台になる言語です。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Excelでの集計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表計算ソフトでデータを整理・計算する。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売上の一覧から、月ごとの合計をひとまとめにする。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売上や成績などの一覧から、合計・平均・件数を出す。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関数、並べ替え、絞り込み、ピボットテーブルを使う。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487928"/>
          </a:xfrm>
          <a:prstGeom prst="roundRect">
            <a:avLst>
              <a:gd name="adj" fmla="val 3670"/>
            </a:avLst>
          </a:prstGeom>
          <a:solidFill>
            <a:srgbClr val="E2E8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エイチティーエムエル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Webページの文章や見出しなどの構造を書く言語。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文章に「ここは見出し」「ここは段落」と印を付けるルール。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Webページの作成。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自己紹介ページを作る。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用語カード②：CSSとGit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見た目を整える言語と、変更履歴を管理する仕組みです。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シーエスエス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Webページの色、文字、配置などを指定する言語。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HTMLで作った文書に、色や飾り付けをする指示書。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Webページの見た目の調整。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作ったページの見た目を整える。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945128"/>
          </a:xfrm>
          <a:prstGeom prst="roundRect">
            <a:avLst>
              <a:gd name="adj" fmla="val 3245"/>
            </a:avLst>
          </a:prstGeom>
          <a:solidFill>
            <a:srgbClr val="E2E8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ギット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816352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ファイルやプログラムの変更履歴を管理する仕組み。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ゲームのセーブデータのように、各時点の状態を残して戻れる。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プログラムや文書の変更の記録、共同作業。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変更の記録、以前の状態への復元を練習する。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用語カード③：GitHubとデータ分析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共同作業のサービスと、データから傾向を読む作業です。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ギットハブ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816352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Gitを使うプロジェクトを共有・共同作業するサービス。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セーブデータを共有できる、ネット上の共同作業ルーム。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制作物の公開・共有、共同開発。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自分の小さな制作物を登録し、変更履歴を管理する。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643376"/>
          </a:xfrm>
          <a:prstGeom prst="roundRect">
            <a:avLst>
              <a:gd name="adj" fmla="val 3514"/>
            </a:avLst>
          </a:prstGeom>
          <a:solidFill>
            <a:srgbClr val="E2E8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データを整理し、傾向や関係を調べること。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アンケート結果から「どの年代がよく買うか」を調べる。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売上や利用状況の傾向を知る。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ExcelやPythonで集計し、グラフを作って考察する。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用語カード④：ログとバックアップ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不具合の調査と、データを失ったときの備えです。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4193032"/>
          </a:xfrm>
          <a:prstGeom prst="roundRect">
            <a:avLst>
              <a:gd name="adj" fmla="val 3053"/>
            </a:avLst>
          </a:prstGeom>
          <a:solidFill>
            <a:srgbClr val="E2E8F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システムの動作やエラーなどの記録。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飛行機のフライトレコーダーのように、起きたことの記録。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不具合の原因調査、動作の確認。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エラー発生時の記録を読み、原因を探す練習をする。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4193032"/>
          </a:xfrm>
          <a:prstGeom prst="roundRect">
            <a:avLst>
              <a:gd name="adj" fmla="val 3053"/>
            </a:avLst>
          </a:prstGeom>
          <a:solidFill>
            <a:srgbClr val="E2E8F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322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データを失った場合に戻せるよう、別のコピーを保存すること。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大事な書類のコピーを、別の場所に保管する。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故障・誤削除・攻撃からの復旧。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コピーを作るだけでなく、復元できるか確認する。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RAIDなどの冗長化とは別。誤って消したデータは、バックアップで戻す。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HTMLは構造、CSSは見た目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同じページでも、「中身の構造」と「見た目の飾り」を別々に書きます。（例は説明用）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475569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" y="18745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1944929"/>
            <a:ext cx="179222" cy="1792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96696" y="1783080"/>
            <a:ext cx="487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HTML：構造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5501488" cy="891540"/>
          </a:xfrm>
          <a:prstGeom prst="roundRect">
            <a:avLst>
              <a:gd name="adj" fmla="val 12308"/>
            </a:avLst>
          </a:prstGeom>
          <a:solidFill>
            <a:srgbClr val="0F2438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0080" y="2551176"/>
            <a:ext cx="513572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&lt;h1&gt;自己紹介&lt;/h1&gt;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&lt;p&gt;はじめまして。&lt;/p&gt;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33008" y="1783080"/>
            <a:ext cx="5501488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61024" y="18745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432" y="1944929"/>
            <a:ext cx="179222" cy="1792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72504" y="1783080"/>
            <a:ext cx="487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CSS：見た目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233008" y="2441448"/>
            <a:ext cx="5501488" cy="1200150"/>
          </a:xfrm>
          <a:prstGeom prst="roundRect">
            <a:avLst>
              <a:gd name="adj" fmla="val 9143"/>
            </a:avLst>
          </a:prstGeom>
          <a:solidFill>
            <a:srgbClr val="0F243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415888" y="2551176"/>
            <a:ext cx="5135728" cy="980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457200" y="3797046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388848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8907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3842766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HTMLで「何を載せるか」を決め、CSSで「どう見せるか」を決めます。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GitとGitHubの関係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Gitは自分のPCで変更履歴を記録する仕組み、GitHubはそれをネット上で共有するサービスです。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4755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ファイルを変更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02254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493694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Gitで履歴を保存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880964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347308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38748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GitHubへ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826017" y="228600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292361" y="178308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83801" y="178308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ほかの人と作業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57200" y="294436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03580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88720" y="299008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Git＝記録の仕組み、GitHub＝共有のサービス。名前は似ていますが別のものです。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自宅からつながる道すじ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質問26が聞いているのは、技術力ではなく「自宅から仕事に使える接続環境があるか」です。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0B7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自宅の端末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35910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1710614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有線LAN／Wi-Fi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402254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F6BC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3694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自宅の機器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80964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655668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契約した回線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47308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7C4A1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38748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光・ケーブルテレビ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826017" y="2697480"/>
            <a:ext cx="429768" cy="0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600721" y="17830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292361" y="2194560"/>
            <a:ext cx="2442134" cy="1005840"/>
          </a:xfrm>
          <a:prstGeom prst="roundRect">
            <a:avLst>
              <a:gd name="adj" fmla="val 10909"/>
            </a:avLst>
          </a:prstGeom>
          <a:solidFill>
            <a:srgbClr val="237A4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383801" y="219456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会社・会議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社内システムなど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57200" y="3355848"/>
            <a:ext cx="11277295" cy="640080"/>
          </a:xfrm>
          <a:prstGeom prst="roundRect">
            <a:avLst>
              <a:gd name="adj" fmla="val 17143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" y="344728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547872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188720" y="3401568"/>
            <a:ext cx="10408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確認するのは「契約している回線の種類」と「PCをつなぐ方法（有線LAN・Wi-Fi）」です。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用語カード①：リモート就業と固定回線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働き方の名前と、その土台になる回線です。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3E7D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リモート就業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211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自宅など、勤務先のオフィス以外から働くこと。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自宅のPCから、オンライン会議や社内システムを使って働く。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オンライン会議、社内システムへの接続。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3E7DC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自宅など特定の場所に引いて利用する通信回線。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家に引いた水道管のように、場所に結び付いた回線。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自宅のインターネット接続、リモート就業の土台。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契約書や請求書で、光回線・ケーブルテレビ回線などの契約を確認する。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用語カード②：光回線とケーブルテレビ回線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固定回線の代表的な2種類です。契約内容で確認します。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24348" cy="3186176"/>
          </a:xfrm>
          <a:prstGeom prst="roundRect">
            <a:avLst>
              <a:gd name="adj" fmla="val 4018"/>
            </a:avLst>
          </a:prstGeom>
          <a:solidFill>
            <a:srgbClr val="F3E7DC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光回線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660904"/>
            <a:ext cx="5158588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光ファイバーを使う通信回線。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光の信号で大量のデータを運ぶ、太くて速い道。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契約サービス名を確認する。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210148" y="1783080"/>
            <a:ext cx="5524348" cy="3186176"/>
          </a:xfrm>
          <a:prstGeom prst="roundRect">
            <a:avLst>
              <a:gd name="adj" fmla="val 4018"/>
            </a:avLst>
          </a:prstGeom>
          <a:solidFill>
            <a:srgbClr val="F3E7DC"/>
          </a:solidFill>
          <a:ln/>
        </p:spPr>
      </p:sp>
      <p:sp>
        <p:nvSpPr>
          <p:cNvPr id="14" name="Shape 10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78828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ケーブルテレビ回線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93028" y="2660904"/>
            <a:ext cx="5158588" cy="221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ケーブルテレビ事業者が提供するインターネット回線。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ケーブルテレビ会社が提供する、インターネットの接続サービス。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契約内容や設置機器を確認する。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用語カード③：LANとWi-Fi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機器をつなぐ2つの方法。電波か、ケーブルかの違いです。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3E7DC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906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1947672"/>
            <a:ext cx="447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有線LAN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660904"/>
            <a:ext cx="5158588" cy="282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LANケーブルでPCとルーターなどをつなぐ方式。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機器どうしを直接ケーブルで結ぶ。電波の影響を受けにくい。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安定した接続が必要なオンライン会議など。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PCの差し込み口、ケーブル、必要なら変換アダプターを確認する。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10148" y="1783080"/>
            <a:ext cx="5524348" cy="3789680"/>
          </a:xfrm>
          <a:prstGeom prst="roundRect">
            <a:avLst>
              <a:gd name="adj" fmla="val 3378"/>
            </a:avLst>
          </a:prstGeom>
          <a:solidFill>
            <a:srgbClr val="F3E7DC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3028" y="196596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2" y="209068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78828" y="1947672"/>
            <a:ext cx="36041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10820095" y="198424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93028" y="2660904"/>
            <a:ext cx="5158588" cy="2518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電波を使って機器をネットワークにつなぐ方式。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ケーブルなしで、ルーターの電波を介してつなぐ。壁や距離、混雑で速度が変わる。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ノートPC・スマホなどの無線接続。</a:t>
            </a:r>
            <a:endParaRPr lang="en-US" sz="180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ルーターとの距離、電波の強さ、混雑を確認する。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245807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契約と機器の確認チェック</a:t>
            </a:r>
            <a:endParaRPr lang="ja-JP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質問に答える前に、自宅の回線と機器を確認します。どこを見るかを表にしました。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3117301"/>
                <a:gridCol w="815999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確認する項目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確認の方法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固定回線の種類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契約書や請求書で、光回線・ケーブルテレビ回線などの契約を確認する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光回線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契約サービス名を確認する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ケーブルテレビ回線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契約内容や設置機器を確認する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有線LAN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PCの差し込み口、ケーブル、必要なら変換アダプターを確認する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Wi-Fi（補足）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ルーターとの距離、電波の強さ、混雑を確認する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セルフチェック①：前半の用語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答えのヒントを隠して、声に出して説明できるか試します。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4767637"/>
                <a:gridCol w="650965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答えのヒント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メモリとストレージの違いは？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作業机（一時的）／倉庫（長期保存）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NASとSANの違いは？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共有フォルダー／ディスクのような領域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RAIDとバックアップの違いは？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故障への対策／消した・壊れたデータを戻す備え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DBとDBMSの違いは？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情報のまとまり／それを管理するソフト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WebサーバーとAPサーバーは？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受付・配信／処理の実行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VMとコンテナの違いは？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OSごとの仮想コンピューター／OSを共有する小さな箱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セルフチェック②：後半の用語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後半の用語も、1文で説明できるか確かめます。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4767637"/>
                <a:gridCol w="650965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答えのヒント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パブリックとプライベートクラウドは？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多数の顧客向け／特定の組織専用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マネージドサービスとは？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運用の一部を提供会社が担当するサービス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AIと機械学習の関係は？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AIの一分野が機械学習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口頭発表とポスター発表は？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話して説明／紙面を見せて説明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ITパスポートと基本情報の違いは？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基礎知識の入口／技術者向けの基礎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固定回線と有線LANの違いは？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自宅に引く回線／機器をケーブルでつなぐ方式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確認できたこと・できていないこと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この資料の情報の確かさを、最初に整理します。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47208" cy="2313432"/>
          </a:xfrm>
          <a:prstGeom prst="roundRect">
            <a:avLst>
              <a:gd name="adj" fmla="val 5534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92938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2054108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587752"/>
            <a:ext cx="51814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貼り付けた用語の意味・用途・学び方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公式資料での概要（PostgreSQL・Docker・Kubernetes・S3）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IPA試験のレベルの区分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87288" y="1783080"/>
            <a:ext cx="5547208" cy="2313432"/>
          </a:xfrm>
          <a:prstGeom prst="roundRect">
            <a:avLst>
              <a:gd name="adj" fmla="val 5534"/>
            </a:avLst>
          </a:prstGeom>
          <a:solidFill>
            <a:srgbClr val="FBE3E0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0168" y="1929384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892" y="2054108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55968" y="1929384"/>
            <a:ext cx="449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確認できていないこと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370168" y="2587752"/>
            <a:ext cx="51814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貼り付けの範囲外（ストレージの前半、Wi-Fiの続き）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質問票の正式な文面</a:t>
            </a:r>
            <a:endParaRPr lang="en-US" sz="1800" dirty="0"/>
          </a:p>
          <a:p>
            <a:pPr algn="l" marL="279400" indent="-279400">
              <a:lnSpc>
                <a:spcPts val="24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18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各製品の最新の版・機能・料金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545015" y="237744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ja-JP" altLang="en-US" sz="3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出典と情報の区分</a:t>
            </a:r>
            <a:endParaRPr lang="ja-JP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24128"/>
            <a:ext cx="11277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各スライドの右上には、情報の区分ラベルが付いています。出典は次のとおりです。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 [D02] [D03] [D04] [D05]</a:t>
            </a:r>
            <a:endParaRPr lang="ja-JP" sz="12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1100224"/>
                <a:gridCol w="10177071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貼り付けられた質問票用語解説（質問12〜26ほか）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編集者による補足（一般的な技術知識・たとえ）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PostgreSQL公式：Tutorial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Docker公式：What is Docker?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D03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Kubernetes公式：Overview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D04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AWS公式：What is Amazon S3?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D05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IPA試験のレベル区分の解説（二次資料）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89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ITインフラ・AI・HPEのSEに向けた統合学習資料</dc:title>
  <dc:subject>PptxGenJS Presentation</dc:subject>
  <dc:creator>学習教材（未経験者向け）</dc:creator>
  <cp:lastModifiedBy>学習教材（未経験者向け）</cp:lastModifiedBy>
  <cp:revision>1</cp:revision>
  <dcterms:created xsi:type="dcterms:W3CDTF">2026-10-02T00:22:57Z</dcterms:created>
  <dcterms:modified xsi:type="dcterms:W3CDTF">2026-10-02T00:22:57Z</dcterms:modified>
</cp:coreProperties>
</file>